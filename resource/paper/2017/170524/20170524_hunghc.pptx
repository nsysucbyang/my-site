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57" r:id="rId3"/>
    <p:sldId id="258" r:id="rId4"/>
    <p:sldId id="259" r:id="rId5"/>
    <p:sldId id="269" r:id="rId6"/>
    <p:sldId id="270" r:id="rId7"/>
    <p:sldId id="271" r:id="rId8"/>
    <p:sldId id="272" r:id="rId9"/>
    <p:sldId id="261" r:id="rId10"/>
    <p:sldId id="273" r:id="rId11"/>
    <p:sldId id="262" r:id="rId12"/>
    <p:sldId id="264" r:id="rId13"/>
    <p:sldId id="265" r:id="rId14"/>
    <p:sldId id="266" r:id="rId15"/>
    <p:sldId id="275" r:id="rId16"/>
    <p:sldId id="267" r:id="rId17"/>
    <p:sldId id="274" r:id="rId18"/>
    <p:sldId id="268" r:id="rId19"/>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67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BDFE98-DDC9-412A-95F0-0EB9C7737332}" type="datetimeFigureOut">
              <a:rPr lang="zh-TW" altLang="en-US" smtClean="0"/>
              <a:t>2017/5/24</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8EA0F0-067E-44F0-AA79-FF3719E3AC63}" type="slidenum">
              <a:rPr lang="zh-TW" altLang="en-US" smtClean="0"/>
              <a:t>‹#›</a:t>
            </a:fld>
            <a:endParaRPr lang="zh-TW" altLang="en-US"/>
          </a:p>
        </p:txBody>
      </p:sp>
    </p:spTree>
    <p:extLst>
      <p:ext uri="{BB962C8B-B14F-4D97-AF65-F5344CB8AC3E}">
        <p14:creationId xmlns:p14="http://schemas.microsoft.com/office/powerpoint/2010/main" val="35793348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EF8EA0F0-067E-44F0-AA79-FF3719E3AC63}" type="slidenum">
              <a:rPr lang="zh-TW" altLang="en-US" smtClean="0"/>
              <a:t>2</a:t>
            </a:fld>
            <a:endParaRPr lang="zh-TW" altLang="en-US"/>
          </a:p>
        </p:txBody>
      </p:sp>
    </p:spTree>
    <p:extLst>
      <p:ext uri="{BB962C8B-B14F-4D97-AF65-F5344CB8AC3E}">
        <p14:creationId xmlns:p14="http://schemas.microsoft.com/office/powerpoint/2010/main" val="24826713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8178BF64-1FC6-41E5-BC7D-790DB71A3777}" type="datetimeFigureOut">
              <a:rPr lang="zh-TW" altLang="en-US" smtClean="0"/>
              <a:t>2017/5/24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11043DC-5C69-495F-BFB5-54EB25DFEAB2}" type="slidenum">
              <a:rPr lang="zh-TW" altLang="en-US" smtClean="0"/>
              <a:t>‹#›</a:t>
            </a:fld>
            <a:endParaRPr lang="zh-TW" altLang="en-US"/>
          </a:p>
        </p:txBody>
      </p:sp>
    </p:spTree>
    <p:extLst>
      <p:ext uri="{BB962C8B-B14F-4D97-AF65-F5344CB8AC3E}">
        <p14:creationId xmlns:p14="http://schemas.microsoft.com/office/powerpoint/2010/main" val="15149262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8178BF64-1FC6-41E5-BC7D-790DB71A3777}" type="datetimeFigureOut">
              <a:rPr lang="zh-TW" altLang="en-US" smtClean="0"/>
              <a:t>2017/5/24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11043DC-5C69-495F-BFB5-54EB25DFEAB2}" type="slidenum">
              <a:rPr lang="zh-TW" altLang="en-US" smtClean="0"/>
              <a:t>‹#›</a:t>
            </a:fld>
            <a:endParaRPr lang="zh-TW" altLang="en-US"/>
          </a:p>
        </p:txBody>
      </p:sp>
    </p:spTree>
    <p:extLst>
      <p:ext uri="{BB962C8B-B14F-4D97-AF65-F5344CB8AC3E}">
        <p14:creationId xmlns:p14="http://schemas.microsoft.com/office/powerpoint/2010/main" val="32558084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p:cNvSpPr>
            <a:spLocks noGrp="1"/>
          </p:cNvSpPr>
          <p:nvPr>
            <p:ph type="dt" sz="half" idx="10"/>
          </p:nvPr>
        </p:nvSpPr>
        <p:spPr/>
        <p:txBody>
          <a:bodyPr/>
          <a:lstStyle/>
          <a:p>
            <a:fld id="{8178BF64-1FC6-41E5-BC7D-790DB71A3777}" type="datetimeFigureOut">
              <a:rPr lang="zh-TW" altLang="en-US" smtClean="0"/>
              <a:t>2017/5/24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11043DC-5C69-495F-BFB5-54EB25DFEAB2}" type="slidenum">
              <a:rPr lang="zh-TW" altLang="en-US" smtClean="0"/>
              <a:t>‹#›</a:t>
            </a:fld>
            <a:endParaRPr lang="zh-TW" altLang="en-US"/>
          </a:p>
        </p:txBody>
      </p:sp>
    </p:spTree>
    <p:extLst>
      <p:ext uri="{BB962C8B-B14F-4D97-AF65-F5344CB8AC3E}">
        <p14:creationId xmlns:p14="http://schemas.microsoft.com/office/powerpoint/2010/main" val="3437862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8178BF64-1FC6-41E5-BC7D-790DB71A3777}" type="datetimeFigureOut">
              <a:rPr lang="zh-TW" altLang="en-US" smtClean="0"/>
              <a:t>2017/5/24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611043DC-5C69-495F-BFB5-54EB25DFEAB2}" type="slidenum">
              <a:rPr lang="zh-TW" altLang="en-US" smtClean="0"/>
              <a:t>‹#›</a:t>
            </a:fld>
            <a:endParaRPr lang="zh-TW" altLang="en-US"/>
          </a:p>
        </p:txBody>
      </p:sp>
    </p:spTree>
    <p:extLst>
      <p:ext uri="{BB962C8B-B14F-4D97-AF65-F5344CB8AC3E}">
        <p14:creationId xmlns:p14="http://schemas.microsoft.com/office/powerpoint/2010/main" val="24483179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8178BF64-1FC6-41E5-BC7D-790DB71A3777}" type="datetimeFigureOut">
              <a:rPr lang="zh-TW" altLang="en-US" smtClean="0"/>
              <a:t>2017/5/24</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611043DC-5C69-495F-BFB5-54EB25DFEAB2}" type="slidenum">
              <a:rPr lang="zh-TW" altLang="en-US" smtClean="0"/>
              <a:t>‹#›</a:t>
            </a:fld>
            <a:endParaRPr lang="zh-TW" altLang="en-US"/>
          </a:p>
        </p:txBody>
      </p:sp>
    </p:spTree>
    <p:extLst>
      <p:ext uri="{BB962C8B-B14F-4D97-AF65-F5344CB8AC3E}">
        <p14:creationId xmlns:p14="http://schemas.microsoft.com/office/powerpoint/2010/main" val="8758908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8178BF64-1FC6-41E5-BC7D-790DB71A3777}" type="datetimeFigureOut">
              <a:rPr lang="zh-TW" altLang="en-US" smtClean="0"/>
              <a:t>2017/5/24</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611043DC-5C69-495F-BFB5-54EB25DFEAB2}" type="slidenum">
              <a:rPr lang="zh-TW" altLang="en-US" smtClean="0"/>
              <a:t>‹#›</a:t>
            </a:fld>
            <a:endParaRPr lang="zh-TW" altLang="en-US"/>
          </a:p>
        </p:txBody>
      </p:sp>
    </p:spTree>
    <p:extLst>
      <p:ext uri="{BB962C8B-B14F-4D97-AF65-F5344CB8AC3E}">
        <p14:creationId xmlns:p14="http://schemas.microsoft.com/office/powerpoint/2010/main" val="3522095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8178BF64-1FC6-41E5-BC7D-790DB71A3777}" type="datetimeFigureOut">
              <a:rPr lang="zh-TW" altLang="en-US" smtClean="0"/>
              <a:t>2017/5/24</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611043DC-5C69-495F-BFB5-54EB25DFEAB2}" type="slidenum">
              <a:rPr lang="zh-TW" altLang="en-US" smtClean="0"/>
              <a:t>‹#›</a:t>
            </a:fld>
            <a:endParaRPr lang="zh-TW" altLang="en-US"/>
          </a:p>
        </p:txBody>
      </p:sp>
    </p:spTree>
    <p:extLst>
      <p:ext uri="{BB962C8B-B14F-4D97-AF65-F5344CB8AC3E}">
        <p14:creationId xmlns:p14="http://schemas.microsoft.com/office/powerpoint/2010/main" val="29435277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fld id="{8178BF64-1FC6-41E5-BC7D-790DB71A3777}" type="datetimeFigureOut">
              <a:rPr lang="zh-TW" altLang="en-US" smtClean="0"/>
              <a:t>2017/5/24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611043DC-5C69-495F-BFB5-54EB25DFEAB2}" type="slidenum">
              <a:rPr lang="zh-TW" altLang="en-US" smtClean="0"/>
              <a:t>‹#›</a:t>
            </a:fld>
            <a:endParaRPr lang="zh-TW" altLang="en-US"/>
          </a:p>
        </p:txBody>
      </p:sp>
    </p:spTree>
    <p:extLst>
      <p:ext uri="{BB962C8B-B14F-4D97-AF65-F5344CB8AC3E}">
        <p14:creationId xmlns:p14="http://schemas.microsoft.com/office/powerpoint/2010/main" val="7937062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fld id="{8178BF64-1FC6-41E5-BC7D-790DB71A3777}" type="datetimeFigureOut">
              <a:rPr lang="zh-TW" altLang="en-US" smtClean="0"/>
              <a:t>2017/5/24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611043DC-5C69-495F-BFB5-54EB25DFEAB2}" type="slidenum">
              <a:rPr lang="zh-TW" altLang="en-US" smtClean="0"/>
              <a:t>‹#›</a:t>
            </a:fld>
            <a:endParaRPr lang="zh-TW" altLang="en-US"/>
          </a:p>
        </p:txBody>
      </p:sp>
    </p:spTree>
    <p:extLst>
      <p:ext uri="{BB962C8B-B14F-4D97-AF65-F5344CB8AC3E}">
        <p14:creationId xmlns:p14="http://schemas.microsoft.com/office/powerpoint/2010/main" val="26403537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8178BF64-1FC6-41E5-BC7D-790DB71A3777}" type="datetimeFigureOut">
              <a:rPr lang="zh-TW" altLang="en-US" smtClean="0"/>
              <a:t>2017/5/24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11043DC-5C69-495F-BFB5-54EB25DFEAB2}" type="slidenum">
              <a:rPr lang="zh-TW" altLang="en-US" smtClean="0"/>
              <a:t>‹#›</a:t>
            </a:fld>
            <a:endParaRPr lang="zh-TW" altLang="en-US"/>
          </a:p>
        </p:txBody>
      </p:sp>
    </p:spTree>
    <p:extLst>
      <p:ext uri="{BB962C8B-B14F-4D97-AF65-F5344CB8AC3E}">
        <p14:creationId xmlns:p14="http://schemas.microsoft.com/office/powerpoint/2010/main" val="29056962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8178BF64-1FC6-41E5-BC7D-790DB71A3777}" type="datetimeFigureOut">
              <a:rPr lang="zh-TW" altLang="en-US" smtClean="0"/>
              <a:t>2017/5/24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11043DC-5C69-495F-BFB5-54EB25DFEAB2}" type="slidenum">
              <a:rPr lang="zh-TW" altLang="en-US" smtClean="0"/>
              <a:t>‹#›</a:t>
            </a:fld>
            <a:endParaRPr lang="zh-TW" altLang="en-US"/>
          </a:p>
        </p:txBody>
      </p:sp>
    </p:spTree>
    <p:extLst>
      <p:ext uri="{BB962C8B-B14F-4D97-AF65-F5344CB8AC3E}">
        <p14:creationId xmlns:p14="http://schemas.microsoft.com/office/powerpoint/2010/main" val="19698351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78BF64-1FC6-41E5-BC7D-790DB71A3777}" type="datetimeFigureOut">
              <a:rPr lang="zh-TW" altLang="en-US" smtClean="0"/>
              <a:t>2017/5/24</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1043DC-5C69-495F-BFB5-54EB25DFEAB2}" type="slidenum">
              <a:rPr lang="zh-TW" altLang="en-US" smtClean="0"/>
              <a:t>‹#›</a:t>
            </a:fld>
            <a:endParaRPr lang="zh-TW" altLang="en-US"/>
          </a:p>
        </p:txBody>
      </p:sp>
    </p:spTree>
    <p:extLst>
      <p:ext uri="{BB962C8B-B14F-4D97-AF65-F5344CB8AC3E}">
        <p14:creationId xmlns:p14="http://schemas.microsoft.com/office/powerpoint/2010/main" val="27603071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2.JPG"/><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475013"/>
            <a:ext cx="9144000" cy="2334306"/>
          </a:xfrm>
        </p:spPr>
        <p:txBody>
          <a:bodyPr>
            <a:noAutofit/>
          </a:bodyPr>
          <a:lstStyle/>
          <a:p>
            <a:r>
              <a:rPr lang="en-US" altLang="zh-TW" sz="3600" dirty="0">
                <a:latin typeface="Times New Roman" panose="02020603050405020304" pitchFamily="18" charset="0"/>
                <a:cs typeface="Times New Roman" panose="02020603050405020304" pitchFamily="18" charset="0"/>
              </a:rPr>
              <a:t>Efficient Searches for Similar Subsequences of Different Lengths</a:t>
            </a:r>
            <a:r>
              <a:rPr lang="zh-TW" altLang="en-US" sz="3600" dirty="0">
                <a:latin typeface="Times New Roman" panose="02020603050405020304" pitchFamily="18" charset="0"/>
                <a:cs typeface="Times New Roman" panose="02020603050405020304" pitchFamily="18" charset="0"/>
              </a:rPr>
              <a:t> </a:t>
            </a:r>
            <a:r>
              <a:rPr lang="en-US" altLang="zh-TW" sz="3600" dirty="0">
                <a:latin typeface="Times New Roman" panose="02020603050405020304" pitchFamily="18" charset="0"/>
                <a:cs typeface="Times New Roman" panose="02020603050405020304" pitchFamily="18" charset="0"/>
              </a:rPr>
              <a:t>in Sequence Databases</a:t>
            </a:r>
            <a:br>
              <a:rPr lang="en-US" altLang="zh-TW" sz="3600" dirty="0">
                <a:latin typeface="Times New Roman" panose="02020603050405020304" pitchFamily="18" charset="0"/>
                <a:cs typeface="Times New Roman" panose="02020603050405020304" pitchFamily="18" charset="0"/>
              </a:rPr>
            </a:br>
            <a:endParaRPr lang="zh-TW" altLang="en-US" sz="3600" dirty="0">
              <a:latin typeface="Times New Roman" panose="02020603050405020304" pitchFamily="18" charset="0"/>
              <a:cs typeface="Times New Roman" panose="02020603050405020304" pitchFamily="18" charset="0"/>
            </a:endParaRPr>
          </a:p>
        </p:txBody>
      </p:sp>
      <p:sp>
        <p:nvSpPr>
          <p:cNvPr id="3" name="副標題 2"/>
          <p:cNvSpPr>
            <a:spLocks noGrp="1"/>
          </p:cNvSpPr>
          <p:nvPr>
            <p:ph type="subTitle" idx="1"/>
          </p:nvPr>
        </p:nvSpPr>
        <p:spPr>
          <a:xfrm>
            <a:off x="1524000" y="2536186"/>
            <a:ext cx="9144000" cy="2677082"/>
          </a:xfrm>
        </p:spPr>
        <p:txBody>
          <a:bodyPr>
            <a:noAutofit/>
          </a:bodyPr>
          <a:lstStyle/>
          <a:p>
            <a:r>
              <a:rPr lang="en-US" altLang="zh-TW" dirty="0" err="1">
                <a:latin typeface="Times New Roman" panose="02020603050405020304" pitchFamily="18" charset="0"/>
                <a:cs typeface="Times New Roman" panose="02020603050405020304" pitchFamily="18" charset="0"/>
              </a:rPr>
              <a:t>Sanghyun</a:t>
            </a:r>
            <a:r>
              <a:rPr lang="en-US" altLang="zh-TW" dirty="0">
                <a:latin typeface="Times New Roman" panose="02020603050405020304" pitchFamily="18" charset="0"/>
                <a:cs typeface="Times New Roman" panose="02020603050405020304" pitchFamily="18" charset="0"/>
              </a:rPr>
              <a:t> Park</a:t>
            </a:r>
          </a:p>
          <a:p>
            <a:r>
              <a:rPr lang="en-US" altLang="zh-TW" dirty="0">
                <a:latin typeface="Times New Roman" panose="02020603050405020304" pitchFamily="18" charset="0"/>
                <a:cs typeface="Times New Roman" panose="02020603050405020304" pitchFamily="18" charset="0"/>
              </a:rPr>
              <a:t>Wesley W. Chu</a:t>
            </a:r>
          </a:p>
          <a:p>
            <a:r>
              <a:rPr lang="en-US" altLang="zh-TW" dirty="0" err="1">
                <a:latin typeface="Times New Roman" panose="02020603050405020304" pitchFamily="18" charset="0"/>
                <a:cs typeface="Times New Roman" panose="02020603050405020304" pitchFamily="18" charset="0"/>
              </a:rPr>
              <a:t>Jeehee</a:t>
            </a:r>
            <a:r>
              <a:rPr lang="en-US" altLang="zh-TW" dirty="0">
                <a:latin typeface="Times New Roman" panose="02020603050405020304" pitchFamily="18" charset="0"/>
                <a:cs typeface="Times New Roman" panose="02020603050405020304" pitchFamily="18" charset="0"/>
              </a:rPr>
              <a:t> Yoon </a:t>
            </a:r>
          </a:p>
          <a:p>
            <a:r>
              <a:rPr lang="en-US" altLang="zh-TW" dirty="0" err="1">
                <a:latin typeface="Times New Roman" panose="02020603050405020304" pitchFamily="18" charset="0"/>
                <a:cs typeface="Times New Roman" panose="02020603050405020304" pitchFamily="18" charset="0"/>
              </a:rPr>
              <a:t>ChihCheng</a:t>
            </a:r>
            <a:r>
              <a:rPr lang="en-US" altLang="zh-TW" dirty="0">
                <a:latin typeface="Times New Roman" panose="02020603050405020304" pitchFamily="18" charset="0"/>
                <a:cs typeface="Times New Roman" panose="02020603050405020304" pitchFamily="18" charset="0"/>
              </a:rPr>
              <a:t> Hsu</a:t>
            </a:r>
          </a:p>
          <a:p>
            <a:br>
              <a:rPr lang="en-US" altLang="zh-TW" dirty="0">
                <a:latin typeface="Times New Roman" panose="02020603050405020304" pitchFamily="18" charset="0"/>
                <a:cs typeface="Times New Roman" panose="02020603050405020304" pitchFamily="18" charset="0"/>
              </a:rPr>
            </a:br>
            <a:r>
              <a:rPr lang="en-US" altLang="zh-TW" sz="1800" dirty="0">
                <a:latin typeface="Times New Roman" panose="02020603050405020304" pitchFamily="18" charset="0"/>
                <a:cs typeface="Times New Roman" panose="02020603050405020304" pitchFamily="18" charset="0"/>
              </a:rPr>
              <a:t>Proceedings of 16th International Conference on Data Engineering, San Diego, USA, 2000</a:t>
            </a:r>
            <a:endParaRPr lang="zh-TW" altLang="en-US" sz="1800" dirty="0">
              <a:latin typeface="Times New Roman" panose="02020603050405020304" pitchFamily="18" charset="0"/>
              <a:cs typeface="Times New Roman" panose="02020603050405020304" pitchFamily="18" charset="0"/>
            </a:endParaRPr>
          </a:p>
        </p:txBody>
      </p:sp>
      <p:sp>
        <p:nvSpPr>
          <p:cNvPr id="4" name="文字方塊 3"/>
          <p:cNvSpPr txBox="1"/>
          <p:nvPr/>
        </p:nvSpPr>
        <p:spPr>
          <a:xfrm>
            <a:off x="4260401" y="5330483"/>
            <a:ext cx="3671198"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Presenter: Hsiu-</a:t>
            </a:r>
            <a:r>
              <a:rPr lang="en-US" altLang="zh-TW" sz="2400" dirty="0" err="1">
                <a:latin typeface="Times New Roman" panose="02020603050405020304" pitchFamily="18" charset="0"/>
                <a:cs typeface="Times New Roman" panose="02020603050405020304" pitchFamily="18" charset="0"/>
              </a:rPr>
              <a:t>Chieh</a:t>
            </a:r>
            <a:r>
              <a:rPr lang="en-US" altLang="zh-TW" sz="2400" dirty="0">
                <a:latin typeface="Times New Roman" panose="02020603050405020304" pitchFamily="18" charset="0"/>
                <a:cs typeface="Times New Roman" panose="02020603050405020304" pitchFamily="18" charset="0"/>
              </a:rPr>
              <a:t> Hung</a:t>
            </a:r>
            <a:endParaRPr lang="zh-TW" altLang="en-US" sz="2400" dirty="0">
              <a:latin typeface="Times New Roman" panose="02020603050405020304" pitchFamily="18" charset="0"/>
              <a:cs typeface="Times New Roman" panose="02020603050405020304" pitchFamily="18" charset="0"/>
            </a:endParaRPr>
          </a:p>
        </p:txBody>
      </p:sp>
      <p:sp>
        <p:nvSpPr>
          <p:cNvPr id="5" name="文字方塊 4"/>
          <p:cNvSpPr txBox="1"/>
          <p:nvPr/>
        </p:nvSpPr>
        <p:spPr>
          <a:xfrm>
            <a:off x="9719732" y="6175021"/>
            <a:ext cx="1678665" cy="369332"/>
          </a:xfrm>
          <a:prstGeom prst="rect">
            <a:avLst/>
          </a:prstGeom>
          <a:noFill/>
        </p:spPr>
        <p:txBody>
          <a:bodyPr wrap="none" rtlCol="0">
            <a:spAutoFit/>
          </a:bodyPr>
          <a:lstStyle/>
          <a:p>
            <a:r>
              <a:rPr lang="en-US" altLang="zh-TW" dirty="0">
                <a:latin typeface="Times New Roman" panose="02020603050405020304" pitchFamily="18" charset="0"/>
                <a:cs typeface="Times New Roman" panose="02020603050405020304" pitchFamily="18" charset="0"/>
              </a:rPr>
              <a:t>Date: 2017/5/24</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28790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Abstract</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normAutofit fontScale="92500" lnSpcReduction="10000"/>
          </a:bodyPr>
          <a:lstStyle/>
          <a:p>
            <a:pPr marL="0" indent="0">
              <a:buNone/>
            </a:pPr>
            <a:r>
              <a:rPr lang="en-US" altLang="zh-TW" dirty="0">
                <a:latin typeface="Times New Roman" panose="02020603050405020304" pitchFamily="18" charset="0"/>
                <a:cs typeface="Times New Roman" panose="02020603050405020304" pitchFamily="18" charset="0"/>
              </a:rPr>
              <a:t>	We propose an indexing technique for fast retrieval of similar subsequences using time warping distances. A time warping distance is a more suitable similarity measure than the Euclidean distance in many applications, where sequences may be of different lengths or different sampling rates. Our indexing technique uses a disk-based suffix tree as an index structure and employs lower-bound distance functions to filter out dissimilar subsequences without false dismissals. To make the index structure compact and thus accelerate the query processing, we convert sequences of continuous values to sequences of discrete values via a categorization method and store only a subset of suffixes whose first values are different from their preceding values. The experimental results reveal that our proposed technique can be a few orders of magnitude faster than sequential scanning.</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42064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DTW</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588818" y="1690688"/>
                <a:ext cx="9904588" cy="1947554"/>
              </a:xfrm>
            </p:spPr>
            <p:txBody>
              <a:bodyPr>
                <a:normAutofit/>
              </a:bodyPr>
              <a:lstStyle/>
              <a:p>
                <a:pPr marL="0" indent="0">
                  <a:buNone/>
                </a:pPr>
                <a14:m>
                  <m:oMathPara xmlns:m="http://schemas.openxmlformats.org/officeDocument/2006/math">
                    <m:oMathParaPr>
                      <m:jc m:val="left"/>
                    </m:oMathParaPr>
                    <m:oMath xmlns:m="http://schemas.openxmlformats.org/officeDocument/2006/math">
                      <m:sSub>
                        <m:sSubPr>
                          <m:ctrlPr>
                            <a:rPr lang="en-US" altLang="zh-TW" sz="2200" b="0" i="1" smtClean="0">
                              <a:latin typeface="Cambria Math" panose="02040503050406030204" pitchFamily="18" charset="0"/>
                            </a:rPr>
                          </m:ctrlPr>
                        </m:sSubPr>
                        <m:e>
                          <m:r>
                            <a:rPr lang="en-US" altLang="zh-TW" sz="2200" b="0" i="1" smtClean="0">
                              <a:latin typeface="Cambria Math" panose="02040503050406030204" pitchFamily="18" charset="0"/>
                            </a:rPr>
                            <m:t>𝐷</m:t>
                          </m:r>
                        </m:e>
                        <m:sub>
                          <m:r>
                            <a:rPr lang="en-US" altLang="zh-TW" sz="2200" b="0" i="1" smtClean="0">
                              <a:latin typeface="Cambria Math" panose="02040503050406030204" pitchFamily="18" charset="0"/>
                            </a:rPr>
                            <m:t>𝑡𝑤</m:t>
                          </m:r>
                        </m:sub>
                      </m:sSub>
                      <m:d>
                        <m:dPr>
                          <m:ctrlPr>
                            <a:rPr lang="en-US" altLang="zh-TW" sz="2200" b="0" i="1" smtClean="0">
                              <a:latin typeface="Cambria Math" panose="02040503050406030204" pitchFamily="18" charset="0"/>
                            </a:rPr>
                          </m:ctrlPr>
                        </m:dPr>
                        <m:e>
                          <m:sSub>
                            <m:sSubPr>
                              <m:ctrlPr>
                                <a:rPr lang="en-US" altLang="zh-TW" sz="2200" b="0" i="1" smtClean="0">
                                  <a:latin typeface="Cambria Math" panose="02040503050406030204" pitchFamily="18" charset="0"/>
                                </a:rPr>
                              </m:ctrlPr>
                            </m:sSubPr>
                            <m:e>
                              <m:r>
                                <a:rPr lang="en-US" altLang="zh-TW" sz="2200" b="0" i="1" smtClean="0">
                                  <a:latin typeface="Cambria Math" panose="02040503050406030204" pitchFamily="18" charset="0"/>
                                </a:rPr>
                                <m:t>𝑆</m:t>
                              </m:r>
                            </m:e>
                            <m:sub>
                              <m:r>
                                <a:rPr lang="en-US" altLang="zh-TW" sz="2200" b="0" i="1" smtClean="0">
                                  <a:latin typeface="Cambria Math" panose="02040503050406030204" pitchFamily="18" charset="0"/>
                                </a:rPr>
                                <m:t>𝑖</m:t>
                              </m:r>
                            </m:sub>
                          </m:sSub>
                          <m:r>
                            <a:rPr lang="en-US" altLang="zh-TW" sz="2200" b="0" i="1" smtClean="0">
                              <a:latin typeface="Cambria Math" panose="02040503050406030204" pitchFamily="18" charset="0"/>
                            </a:rPr>
                            <m:t>[</m:t>
                          </m:r>
                          <m:r>
                            <a:rPr lang="en-US" altLang="zh-TW" sz="2200" b="0" i="1" smtClean="0">
                              <a:latin typeface="Cambria Math" panose="02040503050406030204" pitchFamily="18" charset="0"/>
                            </a:rPr>
                            <m:t>𝑥</m:t>
                          </m:r>
                          <m:r>
                            <a:rPr lang="en-US" altLang="zh-TW" sz="2200" b="0" i="1" smtClean="0">
                              <a:latin typeface="Cambria Math" panose="02040503050406030204" pitchFamily="18" charset="0"/>
                            </a:rPr>
                            <m:t>], </m:t>
                          </m:r>
                          <m:sSub>
                            <m:sSubPr>
                              <m:ctrlPr>
                                <a:rPr lang="en-US" altLang="zh-TW" sz="2200" b="0" i="1" smtClean="0">
                                  <a:latin typeface="Cambria Math" panose="02040503050406030204" pitchFamily="18" charset="0"/>
                                </a:rPr>
                              </m:ctrlPr>
                            </m:sSubPr>
                            <m:e>
                              <m:r>
                                <a:rPr lang="en-US" altLang="zh-TW" sz="2200" b="0" i="1" smtClean="0">
                                  <a:latin typeface="Cambria Math" panose="02040503050406030204" pitchFamily="18" charset="0"/>
                                </a:rPr>
                                <m:t>𝑆</m:t>
                              </m:r>
                            </m:e>
                            <m:sub>
                              <m:r>
                                <a:rPr lang="en-US" altLang="zh-TW" sz="2200" b="0" i="1" smtClean="0">
                                  <a:latin typeface="Cambria Math" panose="02040503050406030204" pitchFamily="18" charset="0"/>
                                </a:rPr>
                                <m:t>𝑗</m:t>
                              </m:r>
                            </m:sub>
                          </m:sSub>
                          <m:r>
                            <a:rPr lang="en-US" altLang="zh-TW" sz="2200" b="0" i="1" smtClean="0">
                              <a:latin typeface="Cambria Math" panose="02040503050406030204" pitchFamily="18" charset="0"/>
                            </a:rPr>
                            <m:t>[</m:t>
                          </m:r>
                          <m:r>
                            <a:rPr lang="en-US" altLang="zh-TW" sz="2200" b="0" i="1" smtClean="0">
                              <a:latin typeface="Cambria Math" panose="02040503050406030204" pitchFamily="18" charset="0"/>
                            </a:rPr>
                            <m:t>𝑦</m:t>
                          </m:r>
                          <m:r>
                            <a:rPr lang="en-US" altLang="zh-TW" sz="2200" b="0" i="1" smtClean="0">
                              <a:latin typeface="Cambria Math" panose="02040503050406030204" pitchFamily="18" charset="0"/>
                            </a:rPr>
                            <m:t>]</m:t>
                          </m:r>
                        </m:e>
                      </m:d>
                      <m:r>
                        <a:rPr lang="en-US" altLang="zh-TW" sz="2200" b="0" i="1" smtClean="0">
                          <a:latin typeface="Cambria Math" panose="02040503050406030204" pitchFamily="18" charset="0"/>
                        </a:rPr>
                        <m:t>=</m:t>
                      </m:r>
                      <m:sSub>
                        <m:sSubPr>
                          <m:ctrlPr>
                            <a:rPr lang="en-US" altLang="zh-TW" sz="2200" b="0" i="1" smtClean="0">
                              <a:latin typeface="Cambria Math" panose="02040503050406030204" pitchFamily="18" charset="0"/>
                            </a:rPr>
                          </m:ctrlPr>
                        </m:sSubPr>
                        <m:e>
                          <m:r>
                            <a:rPr lang="en-US" altLang="zh-TW" sz="2200" b="0" i="1" smtClean="0">
                              <a:latin typeface="Cambria Math" panose="02040503050406030204" pitchFamily="18" charset="0"/>
                            </a:rPr>
                            <m:t>𝐷</m:t>
                          </m:r>
                        </m:e>
                        <m:sub>
                          <m:r>
                            <a:rPr lang="en-US" altLang="zh-TW" sz="2200" b="0" i="1" smtClean="0">
                              <a:latin typeface="Cambria Math" panose="02040503050406030204" pitchFamily="18" charset="0"/>
                            </a:rPr>
                            <m:t>𝑏𝑎𝑠𝑒</m:t>
                          </m:r>
                        </m:sub>
                      </m:sSub>
                      <m:d>
                        <m:dPr>
                          <m:ctrlPr>
                            <a:rPr lang="en-US" altLang="zh-TW" sz="2200" b="0" i="1" smtClean="0">
                              <a:latin typeface="Cambria Math" panose="02040503050406030204" pitchFamily="18" charset="0"/>
                            </a:rPr>
                          </m:ctrlPr>
                        </m:dPr>
                        <m:e>
                          <m:sSub>
                            <m:sSubPr>
                              <m:ctrlPr>
                                <a:rPr lang="en-US" altLang="zh-TW" sz="2200" b="0" i="1" smtClean="0">
                                  <a:latin typeface="Cambria Math" panose="02040503050406030204" pitchFamily="18" charset="0"/>
                                </a:rPr>
                              </m:ctrlPr>
                            </m:sSubPr>
                            <m:e>
                              <m:r>
                                <a:rPr lang="en-US" altLang="zh-TW" sz="2200" b="0" i="1" smtClean="0">
                                  <a:latin typeface="Cambria Math" panose="02040503050406030204" pitchFamily="18" charset="0"/>
                                </a:rPr>
                                <m:t>𝑆</m:t>
                              </m:r>
                            </m:e>
                            <m:sub>
                              <m:r>
                                <a:rPr lang="en-US" altLang="zh-TW" sz="2200" b="0" i="1" smtClean="0">
                                  <a:latin typeface="Cambria Math" panose="02040503050406030204" pitchFamily="18" charset="0"/>
                                </a:rPr>
                                <m:t>𝑖</m:t>
                              </m:r>
                            </m:sub>
                          </m:sSub>
                          <m:d>
                            <m:dPr>
                              <m:begChr m:val="["/>
                              <m:endChr m:val="]"/>
                              <m:ctrlPr>
                                <a:rPr lang="en-US" altLang="zh-TW" sz="2200" b="0" i="1" smtClean="0">
                                  <a:latin typeface="Cambria Math" panose="02040503050406030204" pitchFamily="18" charset="0"/>
                                </a:rPr>
                              </m:ctrlPr>
                            </m:dPr>
                            <m:e>
                              <m:r>
                                <a:rPr lang="en-US" altLang="zh-TW" sz="2200" b="0" i="1" smtClean="0">
                                  <a:latin typeface="Cambria Math" panose="02040503050406030204" pitchFamily="18" charset="0"/>
                                </a:rPr>
                                <m:t>𝑥</m:t>
                              </m:r>
                            </m:e>
                          </m:d>
                          <m:r>
                            <a:rPr lang="en-US" altLang="zh-TW" sz="2200" b="0" i="1" smtClean="0">
                              <a:latin typeface="Cambria Math" panose="02040503050406030204" pitchFamily="18" charset="0"/>
                            </a:rPr>
                            <m:t>,</m:t>
                          </m:r>
                          <m:sSub>
                            <m:sSubPr>
                              <m:ctrlPr>
                                <a:rPr lang="en-US" altLang="zh-TW" sz="2200" b="0" i="1" smtClean="0">
                                  <a:latin typeface="Cambria Math" panose="02040503050406030204" pitchFamily="18" charset="0"/>
                                </a:rPr>
                              </m:ctrlPr>
                            </m:sSubPr>
                            <m:e>
                              <m:r>
                                <a:rPr lang="en-US" altLang="zh-TW" sz="2200" b="0" i="1" smtClean="0">
                                  <a:latin typeface="Cambria Math" panose="02040503050406030204" pitchFamily="18" charset="0"/>
                                </a:rPr>
                                <m:t>𝑆</m:t>
                              </m:r>
                            </m:e>
                            <m:sub>
                              <m:r>
                                <a:rPr lang="en-US" altLang="zh-TW" sz="2200" b="0" i="1" smtClean="0">
                                  <a:latin typeface="Cambria Math" panose="02040503050406030204" pitchFamily="18" charset="0"/>
                                </a:rPr>
                                <m:t>𝑗</m:t>
                              </m:r>
                            </m:sub>
                          </m:sSub>
                          <m:d>
                            <m:dPr>
                              <m:begChr m:val="["/>
                              <m:endChr m:val="]"/>
                              <m:ctrlPr>
                                <a:rPr lang="en-US" altLang="zh-TW" sz="2200" b="0" i="1" smtClean="0">
                                  <a:latin typeface="Cambria Math" panose="02040503050406030204" pitchFamily="18" charset="0"/>
                                </a:rPr>
                              </m:ctrlPr>
                            </m:dPr>
                            <m:e>
                              <m:r>
                                <a:rPr lang="en-US" altLang="zh-TW" sz="2200" b="0" i="1" smtClean="0">
                                  <a:latin typeface="Cambria Math" panose="02040503050406030204" pitchFamily="18" charset="0"/>
                                </a:rPr>
                                <m:t>𝑦</m:t>
                              </m:r>
                            </m:e>
                          </m:d>
                        </m:e>
                      </m:d>
                      <m:r>
                        <a:rPr lang="en-US" altLang="zh-TW" sz="2200" b="0" i="1" smtClean="0">
                          <a:latin typeface="Cambria Math" panose="02040503050406030204" pitchFamily="18" charset="0"/>
                        </a:rPr>
                        <m:t>+</m:t>
                      </m:r>
                      <m:r>
                        <a:rPr lang="en-US" altLang="zh-TW" sz="2200" b="0" i="1" smtClean="0">
                          <a:latin typeface="Cambria Math" panose="02040503050406030204" pitchFamily="18" charset="0"/>
                        </a:rPr>
                        <m:t>𝑚𝑖𝑛</m:t>
                      </m:r>
                      <m:d>
                        <m:dPr>
                          <m:begChr m:val="{"/>
                          <m:endChr m:val=""/>
                          <m:ctrlPr>
                            <a:rPr lang="en-US" altLang="zh-TW" sz="2200" b="0" i="1" smtClean="0">
                              <a:latin typeface="Cambria Math" panose="02040503050406030204" pitchFamily="18" charset="0"/>
                            </a:rPr>
                          </m:ctrlPr>
                        </m:dPr>
                        <m:e>
                          <m:eqArr>
                            <m:eqArrPr>
                              <m:ctrlPr>
                                <a:rPr lang="en-US" altLang="zh-TW" sz="2200" b="0" i="1" smtClean="0">
                                  <a:latin typeface="Cambria Math" panose="02040503050406030204" pitchFamily="18" charset="0"/>
                                </a:rPr>
                              </m:ctrlPr>
                            </m:eqArrPr>
                            <m:e>
                              <m:sSub>
                                <m:sSubPr>
                                  <m:ctrlPr>
                                    <a:rPr lang="en-US" altLang="zh-TW" sz="2200" b="0" i="1" smtClean="0">
                                      <a:latin typeface="Cambria Math" panose="02040503050406030204" pitchFamily="18" charset="0"/>
                                    </a:rPr>
                                  </m:ctrlPr>
                                </m:sSubPr>
                                <m:e>
                                  <m:r>
                                    <a:rPr lang="en-US" altLang="zh-TW" sz="2200" b="0" i="1" smtClean="0">
                                      <a:latin typeface="Cambria Math" panose="02040503050406030204" pitchFamily="18" charset="0"/>
                                    </a:rPr>
                                    <m:t>𝐷</m:t>
                                  </m:r>
                                </m:e>
                                <m:sub>
                                  <m:r>
                                    <a:rPr lang="en-US" altLang="zh-TW" sz="2200" b="0" i="1" smtClean="0">
                                      <a:latin typeface="Cambria Math" panose="02040503050406030204" pitchFamily="18" charset="0"/>
                                    </a:rPr>
                                    <m:t>𝑡𝑤</m:t>
                                  </m:r>
                                </m:sub>
                              </m:sSub>
                              <m:d>
                                <m:dPr>
                                  <m:ctrlPr>
                                    <a:rPr lang="en-US" altLang="zh-TW" sz="2200" b="0" i="1" smtClean="0">
                                      <a:latin typeface="Cambria Math" panose="02040503050406030204" pitchFamily="18" charset="0"/>
                                    </a:rPr>
                                  </m:ctrlPr>
                                </m:dPr>
                                <m:e>
                                  <m:sSub>
                                    <m:sSubPr>
                                      <m:ctrlPr>
                                        <a:rPr lang="en-US" altLang="zh-TW" sz="2200" b="0" i="1" smtClean="0">
                                          <a:latin typeface="Cambria Math" panose="02040503050406030204" pitchFamily="18" charset="0"/>
                                        </a:rPr>
                                      </m:ctrlPr>
                                    </m:sSubPr>
                                    <m:e>
                                      <m:r>
                                        <a:rPr lang="en-US" altLang="zh-TW" sz="2200" b="0" i="1" smtClean="0">
                                          <a:latin typeface="Cambria Math" panose="02040503050406030204" pitchFamily="18" charset="0"/>
                                        </a:rPr>
                                        <m:t>𝑆</m:t>
                                      </m:r>
                                    </m:e>
                                    <m:sub>
                                      <m:r>
                                        <a:rPr lang="en-US" altLang="zh-TW" sz="2200" b="0" i="1" smtClean="0">
                                          <a:latin typeface="Cambria Math" panose="02040503050406030204" pitchFamily="18" charset="0"/>
                                        </a:rPr>
                                        <m:t>𝑖</m:t>
                                      </m:r>
                                    </m:sub>
                                  </m:sSub>
                                  <m:r>
                                    <a:rPr lang="en-US" altLang="zh-TW" sz="2200" b="0" i="1" smtClean="0">
                                      <a:latin typeface="Cambria Math" panose="02040503050406030204" pitchFamily="18" charset="0"/>
                                    </a:rPr>
                                    <m:t>,</m:t>
                                  </m:r>
                                  <m:sSub>
                                    <m:sSubPr>
                                      <m:ctrlPr>
                                        <a:rPr lang="en-US" altLang="zh-TW" sz="2200" b="0" i="1" smtClean="0">
                                          <a:latin typeface="Cambria Math" panose="02040503050406030204" pitchFamily="18" charset="0"/>
                                        </a:rPr>
                                      </m:ctrlPr>
                                    </m:sSubPr>
                                    <m:e>
                                      <m:r>
                                        <a:rPr lang="en-US" altLang="zh-TW" sz="2200" b="0" i="1" smtClean="0">
                                          <a:latin typeface="Cambria Math" panose="02040503050406030204" pitchFamily="18" charset="0"/>
                                        </a:rPr>
                                        <m:t>𝑆</m:t>
                                      </m:r>
                                    </m:e>
                                    <m:sub>
                                      <m:r>
                                        <a:rPr lang="en-US" altLang="zh-TW" sz="2200" b="0" i="1" smtClean="0">
                                          <a:latin typeface="Cambria Math" panose="02040503050406030204" pitchFamily="18" charset="0"/>
                                        </a:rPr>
                                        <m:t>𝑗</m:t>
                                      </m:r>
                                    </m:sub>
                                  </m:sSub>
                                  <m:d>
                                    <m:dPr>
                                      <m:begChr m:val="["/>
                                      <m:endChr m:val="]"/>
                                      <m:ctrlPr>
                                        <a:rPr lang="en-US" altLang="zh-TW" sz="2200" b="0" i="1" smtClean="0">
                                          <a:latin typeface="Cambria Math" panose="02040503050406030204" pitchFamily="18" charset="0"/>
                                        </a:rPr>
                                      </m:ctrlPr>
                                    </m:dPr>
                                    <m:e>
                                      <m:r>
                                        <a:rPr lang="en-US" altLang="zh-TW" sz="2200" b="0" i="1" smtClean="0">
                                          <a:latin typeface="Cambria Math" panose="02040503050406030204" pitchFamily="18" charset="0"/>
                                        </a:rPr>
                                        <m:t>𝑦</m:t>
                                      </m:r>
                                      <m:r>
                                        <a:rPr lang="en-US" altLang="zh-TW" sz="2200" b="0" i="1" smtClean="0">
                                          <a:latin typeface="Cambria Math" panose="02040503050406030204" pitchFamily="18" charset="0"/>
                                        </a:rPr>
                                        <m:t>−1:−</m:t>
                                      </m:r>
                                    </m:e>
                                  </m:d>
                                </m:e>
                              </m:d>
                              <m:r>
                                <a:rPr lang="en-US" altLang="zh-TW" sz="2200" b="0" i="1" smtClean="0">
                                  <a:latin typeface="Cambria Math" panose="02040503050406030204" pitchFamily="18" charset="0"/>
                                </a:rPr>
                                <m:t>                  </m:t>
                              </m:r>
                            </m:e>
                            <m:e>
                              <m:sSub>
                                <m:sSubPr>
                                  <m:ctrlPr>
                                    <a:rPr lang="en-US" altLang="zh-TW" sz="2200" b="0" i="1" smtClean="0">
                                      <a:latin typeface="Cambria Math" panose="02040503050406030204" pitchFamily="18" charset="0"/>
                                    </a:rPr>
                                  </m:ctrlPr>
                                </m:sSubPr>
                                <m:e>
                                  <m:r>
                                    <a:rPr lang="en-US" altLang="zh-TW" sz="2200" b="0" i="1" smtClean="0">
                                      <a:latin typeface="Cambria Math" panose="02040503050406030204" pitchFamily="18" charset="0"/>
                                    </a:rPr>
                                    <m:t>𝐷</m:t>
                                  </m:r>
                                </m:e>
                                <m:sub>
                                  <m:r>
                                    <a:rPr lang="en-US" altLang="zh-TW" sz="2200" b="0" i="1" smtClean="0">
                                      <a:latin typeface="Cambria Math" panose="02040503050406030204" pitchFamily="18" charset="0"/>
                                    </a:rPr>
                                    <m:t>𝑡𝑤</m:t>
                                  </m:r>
                                </m:sub>
                              </m:sSub>
                              <m:d>
                                <m:dPr>
                                  <m:ctrlPr>
                                    <a:rPr lang="en-US" altLang="zh-TW" sz="2200" b="0" i="1" smtClean="0">
                                      <a:latin typeface="Cambria Math" panose="02040503050406030204" pitchFamily="18" charset="0"/>
                                    </a:rPr>
                                  </m:ctrlPr>
                                </m:dPr>
                                <m:e>
                                  <m:sSub>
                                    <m:sSubPr>
                                      <m:ctrlPr>
                                        <a:rPr lang="en-US" altLang="zh-TW" sz="2200" b="0" i="1" smtClean="0">
                                          <a:latin typeface="Cambria Math" panose="02040503050406030204" pitchFamily="18" charset="0"/>
                                        </a:rPr>
                                      </m:ctrlPr>
                                    </m:sSubPr>
                                    <m:e>
                                      <m:r>
                                        <a:rPr lang="en-US" altLang="zh-TW" sz="2200" b="0" i="1" smtClean="0">
                                          <a:latin typeface="Cambria Math" panose="02040503050406030204" pitchFamily="18" charset="0"/>
                                        </a:rPr>
                                        <m:t>𝑆</m:t>
                                      </m:r>
                                    </m:e>
                                    <m:sub>
                                      <m:r>
                                        <a:rPr lang="en-US" altLang="zh-TW" sz="2200" b="0" i="1" smtClean="0">
                                          <a:latin typeface="Cambria Math" panose="02040503050406030204" pitchFamily="18" charset="0"/>
                                        </a:rPr>
                                        <m:t>𝑖</m:t>
                                      </m:r>
                                    </m:sub>
                                  </m:sSub>
                                  <m:d>
                                    <m:dPr>
                                      <m:begChr m:val="["/>
                                      <m:endChr m:val="]"/>
                                      <m:ctrlPr>
                                        <a:rPr lang="en-US" altLang="zh-TW" sz="2200" b="0" i="1" smtClean="0">
                                          <a:latin typeface="Cambria Math" panose="02040503050406030204" pitchFamily="18" charset="0"/>
                                        </a:rPr>
                                      </m:ctrlPr>
                                    </m:dPr>
                                    <m:e>
                                      <m:r>
                                        <a:rPr lang="en-US" altLang="zh-TW" sz="2200" b="0" i="1" smtClean="0">
                                          <a:latin typeface="Cambria Math" panose="02040503050406030204" pitchFamily="18" charset="0"/>
                                        </a:rPr>
                                        <m:t>𝑥</m:t>
                                      </m:r>
                                      <m:r>
                                        <a:rPr lang="en-US" altLang="zh-TW" sz="2200" b="0" i="1" smtClean="0">
                                          <a:latin typeface="Cambria Math" panose="02040503050406030204" pitchFamily="18" charset="0"/>
                                        </a:rPr>
                                        <m:t>−1:−</m:t>
                                      </m:r>
                                    </m:e>
                                  </m:d>
                                  <m:r>
                                    <a:rPr lang="en-US" altLang="zh-TW" sz="2200" b="0" i="1" smtClean="0">
                                      <a:latin typeface="Cambria Math" panose="02040503050406030204" pitchFamily="18" charset="0"/>
                                    </a:rPr>
                                    <m:t>,</m:t>
                                  </m:r>
                                  <m:sSub>
                                    <m:sSubPr>
                                      <m:ctrlPr>
                                        <a:rPr lang="en-US" altLang="zh-TW" sz="2200" b="0" i="1" smtClean="0">
                                          <a:latin typeface="Cambria Math" panose="02040503050406030204" pitchFamily="18" charset="0"/>
                                        </a:rPr>
                                      </m:ctrlPr>
                                    </m:sSubPr>
                                    <m:e>
                                      <m:r>
                                        <a:rPr lang="en-US" altLang="zh-TW" sz="2200" b="0" i="1" smtClean="0">
                                          <a:latin typeface="Cambria Math" panose="02040503050406030204" pitchFamily="18" charset="0"/>
                                        </a:rPr>
                                        <m:t>𝑆</m:t>
                                      </m:r>
                                    </m:e>
                                    <m:sub>
                                      <m:r>
                                        <a:rPr lang="en-US" altLang="zh-TW" sz="2200" b="0" i="1" smtClean="0">
                                          <a:latin typeface="Cambria Math" panose="02040503050406030204" pitchFamily="18" charset="0"/>
                                        </a:rPr>
                                        <m:t>𝑗</m:t>
                                      </m:r>
                                    </m:sub>
                                  </m:sSub>
                                </m:e>
                              </m:d>
                              <m:r>
                                <a:rPr lang="en-US" altLang="zh-TW" sz="2200" b="0" i="1" smtClean="0">
                                  <a:latin typeface="Cambria Math" panose="02040503050406030204" pitchFamily="18" charset="0"/>
                                </a:rPr>
                                <m:t>                  </m:t>
                              </m:r>
                            </m:e>
                            <m:e>
                              <m:sSub>
                                <m:sSubPr>
                                  <m:ctrlPr>
                                    <a:rPr lang="en-US" altLang="zh-TW" sz="2200" b="0" i="1" smtClean="0">
                                      <a:latin typeface="Cambria Math" panose="02040503050406030204" pitchFamily="18" charset="0"/>
                                    </a:rPr>
                                  </m:ctrlPr>
                                </m:sSubPr>
                                <m:e>
                                  <m:r>
                                    <a:rPr lang="en-US" altLang="zh-TW" sz="2200" b="0" i="1" smtClean="0">
                                      <a:latin typeface="Cambria Math" panose="02040503050406030204" pitchFamily="18" charset="0"/>
                                    </a:rPr>
                                    <m:t>𝐷</m:t>
                                  </m:r>
                                </m:e>
                                <m:sub>
                                  <m:r>
                                    <a:rPr lang="en-US" altLang="zh-TW" sz="2200" b="0" i="1" smtClean="0">
                                      <a:latin typeface="Cambria Math" panose="02040503050406030204" pitchFamily="18" charset="0"/>
                                    </a:rPr>
                                    <m:t>𝑡𝑤</m:t>
                                  </m:r>
                                </m:sub>
                              </m:sSub>
                              <m:r>
                                <a:rPr lang="en-US" altLang="zh-TW" sz="2200" b="0" i="1" smtClean="0">
                                  <a:latin typeface="Cambria Math" panose="02040503050406030204" pitchFamily="18" charset="0"/>
                                </a:rPr>
                                <m:t>(</m:t>
                              </m:r>
                              <m:sSub>
                                <m:sSubPr>
                                  <m:ctrlPr>
                                    <a:rPr lang="en-US" altLang="zh-TW" sz="2200" b="0" i="1" smtClean="0">
                                      <a:latin typeface="Cambria Math" panose="02040503050406030204" pitchFamily="18" charset="0"/>
                                    </a:rPr>
                                  </m:ctrlPr>
                                </m:sSubPr>
                                <m:e>
                                  <m:r>
                                    <a:rPr lang="en-US" altLang="zh-TW" sz="2200" b="0" i="1" smtClean="0">
                                      <a:latin typeface="Cambria Math" panose="02040503050406030204" pitchFamily="18" charset="0"/>
                                    </a:rPr>
                                    <m:t>𝑆</m:t>
                                  </m:r>
                                </m:e>
                                <m:sub>
                                  <m:r>
                                    <a:rPr lang="en-US" altLang="zh-TW" sz="2200" b="0" i="1" smtClean="0">
                                      <a:latin typeface="Cambria Math" panose="02040503050406030204" pitchFamily="18" charset="0"/>
                                    </a:rPr>
                                    <m:t>𝑖</m:t>
                                  </m:r>
                                </m:sub>
                              </m:sSub>
                              <m:r>
                                <a:rPr lang="en-US" altLang="zh-TW" sz="2200" b="0" i="1" smtClean="0">
                                  <a:latin typeface="Cambria Math" panose="02040503050406030204" pitchFamily="18" charset="0"/>
                                </a:rPr>
                                <m:t>[</m:t>
                              </m:r>
                              <m:r>
                                <a:rPr lang="en-US" altLang="zh-TW" sz="2200" b="0" i="1" smtClean="0">
                                  <a:latin typeface="Cambria Math" panose="02040503050406030204" pitchFamily="18" charset="0"/>
                                </a:rPr>
                                <m:t>𝑥</m:t>
                              </m:r>
                              <m:r>
                                <a:rPr lang="en-US" altLang="zh-TW" sz="2200" b="0" i="1" smtClean="0">
                                  <a:latin typeface="Cambria Math" panose="02040503050406030204" pitchFamily="18" charset="0"/>
                                </a:rPr>
                                <m:t>−1:−],</m:t>
                              </m:r>
                              <m:sSub>
                                <m:sSubPr>
                                  <m:ctrlPr>
                                    <a:rPr lang="en-US" altLang="zh-TW" sz="2200" b="0" i="1" smtClean="0">
                                      <a:latin typeface="Cambria Math" panose="02040503050406030204" pitchFamily="18" charset="0"/>
                                    </a:rPr>
                                  </m:ctrlPr>
                                </m:sSubPr>
                                <m:e>
                                  <m:r>
                                    <a:rPr lang="en-US" altLang="zh-TW" sz="2200" b="0" i="1" smtClean="0">
                                      <a:latin typeface="Cambria Math" panose="02040503050406030204" pitchFamily="18" charset="0"/>
                                    </a:rPr>
                                    <m:t>𝑆</m:t>
                                  </m:r>
                                </m:e>
                                <m:sub>
                                  <m:r>
                                    <a:rPr lang="en-US" altLang="zh-TW" sz="2200" b="0" i="1" smtClean="0">
                                      <a:latin typeface="Cambria Math" panose="02040503050406030204" pitchFamily="18" charset="0"/>
                                    </a:rPr>
                                    <m:t>𝑗</m:t>
                                  </m:r>
                                </m:sub>
                              </m:sSub>
                              <m:r>
                                <a:rPr lang="en-US" altLang="zh-TW" sz="2200" b="0" i="1" smtClean="0">
                                  <a:latin typeface="Cambria Math" panose="02040503050406030204" pitchFamily="18" charset="0"/>
                                </a:rPr>
                                <m:t>[</m:t>
                              </m:r>
                              <m:r>
                                <a:rPr lang="en-US" altLang="zh-TW" sz="2200" b="0" i="1" smtClean="0">
                                  <a:latin typeface="Cambria Math" panose="02040503050406030204" pitchFamily="18" charset="0"/>
                                </a:rPr>
                                <m:t>𝑦</m:t>
                              </m:r>
                              <m:r>
                                <a:rPr lang="en-US" altLang="zh-TW" sz="2200" b="0" i="1" smtClean="0">
                                  <a:latin typeface="Cambria Math" panose="02040503050406030204" pitchFamily="18" charset="0"/>
                                </a:rPr>
                                <m:t>−1:−])</m:t>
                              </m:r>
                            </m:e>
                          </m:eqArr>
                        </m:e>
                      </m:d>
                    </m:oMath>
                  </m:oMathPara>
                </a14:m>
                <a:endParaRPr lang="en-US" altLang="zh-TW" sz="2200" dirty="0"/>
              </a:p>
              <a:p>
                <a:pPr marL="0" indent="0">
                  <a:buNone/>
                </a:pPr>
                <a14:m>
                  <m:oMathPara xmlns:m="http://schemas.openxmlformats.org/officeDocument/2006/math">
                    <m:oMathParaPr>
                      <m:jc m:val="left"/>
                    </m:oMathParaPr>
                    <m:oMath xmlns:m="http://schemas.openxmlformats.org/officeDocument/2006/math">
                      <m:sSub>
                        <m:sSubPr>
                          <m:ctrlPr>
                            <a:rPr lang="en-US" altLang="zh-TW" sz="2200" i="1" smtClean="0">
                              <a:latin typeface="Cambria Math" panose="02040503050406030204" pitchFamily="18" charset="0"/>
                            </a:rPr>
                          </m:ctrlPr>
                        </m:sSubPr>
                        <m:e>
                          <m:r>
                            <a:rPr lang="en-US" altLang="zh-TW" sz="2200" b="0" i="1" smtClean="0">
                              <a:latin typeface="Cambria Math" panose="02040503050406030204" pitchFamily="18" charset="0"/>
                            </a:rPr>
                            <m:t>𝐷</m:t>
                          </m:r>
                        </m:e>
                        <m:sub>
                          <m:r>
                            <a:rPr lang="en-US" altLang="zh-TW" sz="2200" b="0" i="1" smtClean="0">
                              <a:latin typeface="Cambria Math" panose="02040503050406030204" pitchFamily="18" charset="0"/>
                            </a:rPr>
                            <m:t>𝑏𝑎𝑠𝑒</m:t>
                          </m:r>
                        </m:sub>
                      </m:sSub>
                      <m:d>
                        <m:dPr>
                          <m:ctrlPr>
                            <a:rPr lang="en-US" altLang="zh-TW" sz="2200" b="0" i="1" smtClean="0">
                              <a:latin typeface="Cambria Math" panose="02040503050406030204" pitchFamily="18" charset="0"/>
                            </a:rPr>
                          </m:ctrlPr>
                        </m:dPr>
                        <m:e>
                          <m:r>
                            <a:rPr lang="en-US" altLang="zh-TW" sz="2200" b="0" i="1" smtClean="0">
                              <a:latin typeface="Cambria Math" panose="02040503050406030204" pitchFamily="18" charset="0"/>
                            </a:rPr>
                            <m:t>𝑎</m:t>
                          </m:r>
                          <m:r>
                            <a:rPr lang="en-US" altLang="zh-TW" sz="2200" b="0" i="1" smtClean="0">
                              <a:latin typeface="Cambria Math" panose="02040503050406030204" pitchFamily="18" charset="0"/>
                            </a:rPr>
                            <m:t>,</m:t>
                          </m:r>
                          <m:r>
                            <a:rPr lang="en-US" altLang="zh-TW" sz="2200" b="0" i="1" smtClean="0">
                              <a:latin typeface="Cambria Math" panose="02040503050406030204" pitchFamily="18" charset="0"/>
                            </a:rPr>
                            <m:t>𝑏</m:t>
                          </m:r>
                        </m:e>
                      </m:d>
                      <m:r>
                        <a:rPr lang="en-US" altLang="zh-TW" sz="2200" b="0" i="1" smtClean="0">
                          <a:latin typeface="Cambria Math" panose="02040503050406030204" pitchFamily="18" charset="0"/>
                        </a:rPr>
                        <m:t>=|</m:t>
                      </m:r>
                      <m:r>
                        <a:rPr lang="en-US" altLang="zh-TW" sz="2200" b="0" i="1" smtClean="0">
                          <a:latin typeface="Cambria Math" panose="02040503050406030204" pitchFamily="18" charset="0"/>
                        </a:rPr>
                        <m:t>𝑎</m:t>
                      </m:r>
                      <m:r>
                        <a:rPr lang="en-US" altLang="zh-TW" sz="2200" b="0" i="1" smtClean="0">
                          <a:latin typeface="Cambria Math" panose="02040503050406030204" pitchFamily="18" charset="0"/>
                        </a:rPr>
                        <m:t>−</m:t>
                      </m:r>
                      <m:r>
                        <a:rPr lang="en-US" altLang="zh-TW" sz="2200" b="0" i="1" smtClean="0">
                          <a:latin typeface="Cambria Math" panose="02040503050406030204" pitchFamily="18" charset="0"/>
                        </a:rPr>
                        <m:t>𝑏</m:t>
                      </m:r>
                      <m:r>
                        <a:rPr lang="en-US" altLang="zh-TW" sz="2200" b="0" i="1" smtClean="0">
                          <a:latin typeface="Cambria Math" panose="02040503050406030204" pitchFamily="18" charset="0"/>
                        </a:rPr>
                        <m:t>|</m:t>
                      </m:r>
                    </m:oMath>
                  </m:oMathPara>
                </a14:m>
                <a:endParaRPr lang="zh-TW" altLang="en-US" sz="2200"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588818" y="1690688"/>
                <a:ext cx="9904588" cy="1947554"/>
              </a:xfrm>
              <a:blipFill>
                <a:blip r:embed="rId2"/>
                <a:stretch>
                  <a:fillRect l="-62" t="-938"/>
                </a:stretch>
              </a:blipFill>
            </p:spPr>
            <p:txBody>
              <a:bodyPr/>
              <a:lstStyle/>
              <a:p>
                <a:r>
                  <a:rPr lang="zh-TW" altLang="en-US">
                    <a:noFill/>
                  </a:rPr>
                  <a:t> </a:t>
                </a:r>
              </a:p>
            </p:txBody>
          </p:sp>
        </mc:Fallback>
      </mc:AlternateContent>
      <p:graphicFrame>
        <p:nvGraphicFramePr>
          <p:cNvPr id="6" name="表格 5"/>
          <p:cNvGraphicFramePr>
            <a:graphicFrameLocks noGrp="1"/>
          </p:cNvGraphicFramePr>
          <p:nvPr>
            <p:extLst>
              <p:ext uri="{D42A27DB-BD31-4B8C-83A1-F6EECF244321}">
                <p14:modId xmlns:p14="http://schemas.microsoft.com/office/powerpoint/2010/main" val="2455589309"/>
              </p:ext>
            </p:extLst>
          </p:nvPr>
        </p:nvGraphicFramePr>
        <p:xfrm>
          <a:off x="5683155" y="3712031"/>
          <a:ext cx="3628572" cy="2595880"/>
        </p:xfrm>
        <a:graphic>
          <a:graphicData uri="http://schemas.openxmlformats.org/drawingml/2006/table">
            <a:tbl>
              <a:tblPr firstRow="1" bandRow="1">
                <a:tableStyleId>{5C22544A-7EE6-4342-B048-85BDC9FD1C3A}</a:tableStyleId>
              </a:tblPr>
              <a:tblGrid>
                <a:gridCol w="907143">
                  <a:extLst>
                    <a:ext uri="{9D8B030D-6E8A-4147-A177-3AD203B41FA5}">
                      <a16:colId xmlns:a16="http://schemas.microsoft.com/office/drawing/2014/main" val="4237493260"/>
                    </a:ext>
                  </a:extLst>
                </a:gridCol>
                <a:gridCol w="907143">
                  <a:extLst>
                    <a:ext uri="{9D8B030D-6E8A-4147-A177-3AD203B41FA5}">
                      <a16:colId xmlns:a16="http://schemas.microsoft.com/office/drawing/2014/main" val="613382575"/>
                    </a:ext>
                  </a:extLst>
                </a:gridCol>
                <a:gridCol w="907143">
                  <a:extLst>
                    <a:ext uri="{9D8B030D-6E8A-4147-A177-3AD203B41FA5}">
                      <a16:colId xmlns:a16="http://schemas.microsoft.com/office/drawing/2014/main" val="2789463043"/>
                    </a:ext>
                  </a:extLst>
                </a:gridCol>
                <a:gridCol w="907143">
                  <a:extLst>
                    <a:ext uri="{9D8B030D-6E8A-4147-A177-3AD203B41FA5}">
                      <a16:colId xmlns:a16="http://schemas.microsoft.com/office/drawing/2014/main" val="821627557"/>
                    </a:ext>
                  </a:extLst>
                </a:gridCol>
              </a:tblGrid>
              <a:tr h="370840">
                <a:tc>
                  <a:txBody>
                    <a:bodyPr/>
                    <a:lstStyle/>
                    <a:p>
                      <a:pPr algn="ctr"/>
                      <a:r>
                        <a:rPr lang="en-US" altLang="zh-TW" b="0" dirty="0">
                          <a:solidFill>
                            <a:schemeClr val="tx1"/>
                          </a:solidFill>
                        </a:rPr>
                        <a:t>6</a:t>
                      </a:r>
                      <a:endParaRPr lang="zh-TW" altLang="en-US"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11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rgbClr val="FF0000"/>
                          </a:solidFill>
                        </a:rPr>
                        <a:t>11</a:t>
                      </a:r>
                      <a:endParaRPr lang="zh-TW" altLang="en-US" b="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15881590"/>
                  </a:ext>
                </a:extLst>
              </a:tr>
              <a:tr h="370840">
                <a:tc>
                  <a:txBody>
                    <a:bodyPr/>
                    <a:lstStyle/>
                    <a:p>
                      <a:pPr algn="ctr"/>
                      <a:r>
                        <a:rPr lang="en-US" altLang="zh-TW" b="0" dirty="0">
                          <a:solidFill>
                            <a:schemeClr val="tx1"/>
                          </a:solidFill>
                        </a:rPr>
                        <a:t>6</a:t>
                      </a:r>
                      <a:endParaRPr lang="zh-TW" altLang="en-US"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13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rgbClr val="FF0000"/>
                          </a:solidFill>
                        </a:rPr>
                        <a:t>9</a:t>
                      </a:r>
                      <a:endParaRPr lang="zh-TW" altLang="en-US" b="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69545818"/>
                  </a:ext>
                </a:extLst>
              </a:tr>
              <a:tr h="370840">
                <a:tc>
                  <a:txBody>
                    <a:bodyPr/>
                    <a:lstStyle/>
                    <a:p>
                      <a:pPr algn="ctr"/>
                      <a:r>
                        <a:rPr lang="en-US" altLang="zh-TW" b="0" dirty="0">
                          <a:solidFill>
                            <a:schemeClr val="tx1"/>
                          </a:solidFill>
                        </a:rPr>
                        <a:t>7</a:t>
                      </a:r>
                      <a:endParaRPr lang="zh-TW" altLang="en-US"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10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rgbClr val="FF0000"/>
                          </a:solidFill>
                        </a:rPr>
                        <a:t>7</a:t>
                      </a:r>
                      <a:endParaRPr lang="zh-TW" altLang="en-US" b="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2614461"/>
                  </a:ext>
                </a:extLst>
              </a:tr>
              <a:tr h="370840">
                <a:tc>
                  <a:txBody>
                    <a:bodyPr/>
                    <a:lstStyle/>
                    <a:p>
                      <a:pPr algn="ctr"/>
                      <a:r>
                        <a:rPr lang="en-US" altLang="zh-TW" b="0" dirty="0">
                          <a:solidFill>
                            <a:schemeClr val="tx1"/>
                          </a:solidFill>
                        </a:rPr>
                        <a:t>6</a:t>
                      </a:r>
                      <a:endParaRPr lang="zh-TW" altLang="en-US"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rgbClr val="FF0000"/>
                          </a:solidFill>
                        </a:rPr>
                        <a:t>4</a:t>
                      </a:r>
                      <a:endParaRPr lang="zh-TW" altLang="en-US" b="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2135287"/>
                  </a:ext>
                </a:extLst>
              </a:tr>
              <a:tr h="370840">
                <a:tc>
                  <a:txBody>
                    <a:bodyPr/>
                    <a:lstStyle/>
                    <a:p>
                      <a:pPr algn="ctr"/>
                      <a:r>
                        <a:rPr lang="en-US" altLang="zh-TW" b="0" dirty="0">
                          <a:solidFill>
                            <a:schemeClr val="tx1"/>
                          </a:solidFill>
                        </a:rPr>
                        <a:t>5</a:t>
                      </a:r>
                      <a:endParaRPr lang="zh-TW" altLang="en-US"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rgbClr val="FF0000"/>
                          </a:solidFill>
                        </a:rPr>
                        <a:t>2</a:t>
                      </a:r>
                      <a:endParaRPr lang="zh-TW" altLang="en-US" b="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7455025"/>
                  </a:ext>
                </a:extLst>
              </a:tr>
              <a:tr h="370840">
                <a:tc>
                  <a:txBody>
                    <a:bodyPr/>
                    <a:lstStyle/>
                    <a:p>
                      <a:pPr algn="ctr"/>
                      <a:r>
                        <a:rPr lang="en-US" altLang="zh-TW" b="0" dirty="0">
                          <a:solidFill>
                            <a:schemeClr val="tx1"/>
                          </a:solidFill>
                        </a:rPr>
                        <a:t>4</a:t>
                      </a:r>
                      <a:endParaRPr lang="zh-TW" altLang="en-US"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rgbClr val="FF0000"/>
                          </a:solidFill>
                        </a:rPr>
                        <a:t>1</a:t>
                      </a:r>
                      <a:endParaRPr lang="zh-TW" altLang="en-US" b="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308628"/>
                  </a:ext>
                </a:extLst>
              </a:tr>
              <a:tr h="370840">
                <a:tc>
                  <a:txBody>
                    <a:bodyPr/>
                    <a:lstStyle/>
                    <a:p>
                      <a:pPr algn="ctr"/>
                      <a:endParaRPr lang="zh-TW" altLang="en-US"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3</a:t>
                      </a:r>
                      <a:endParaRPr lang="zh-TW" altLang="en-US"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4</a:t>
                      </a:r>
                      <a:endParaRPr lang="zh-TW" altLang="en-US"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4</a:t>
                      </a:r>
                      <a:endParaRPr lang="zh-TW" altLang="en-US"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73932831"/>
                  </a:ext>
                </a:extLst>
              </a:tr>
            </a:tbl>
          </a:graphicData>
        </a:graphic>
      </p:graphicFrame>
      <mc:AlternateContent xmlns:mc="http://schemas.openxmlformats.org/markup-compatibility/2006" xmlns:a14="http://schemas.microsoft.com/office/drawing/2010/main">
        <mc:Choice Requires="a14">
          <p:sp>
            <p:nvSpPr>
              <p:cNvPr id="7" name="文字方塊 6"/>
              <p:cNvSpPr txBox="1"/>
              <p:nvPr/>
            </p:nvSpPr>
            <p:spPr>
              <a:xfrm>
                <a:off x="588818" y="4080864"/>
                <a:ext cx="2474780"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ea typeface="Cambria Math" panose="02040503050406030204" pitchFamily="18" charset="0"/>
                        </a:rPr>
                        <m:t>&lt;4, 5, 6, 7, 6, 6&gt;</m:t>
                      </m:r>
                    </m:oMath>
                  </m:oMathPara>
                </a14:m>
                <a:endParaRPr lang="zh-TW" altLang="en-US" sz="2400" dirty="0"/>
              </a:p>
            </p:txBody>
          </p:sp>
        </mc:Choice>
        <mc:Fallback xmlns="">
          <p:sp>
            <p:nvSpPr>
              <p:cNvPr id="7" name="文字方塊 6"/>
              <p:cNvSpPr txBox="1">
                <a:spLocks noRot="1" noChangeAspect="1" noMove="1" noResize="1" noEditPoints="1" noAdjustHandles="1" noChangeArrowheads="1" noChangeShapeType="1" noTextEdit="1"/>
              </p:cNvSpPr>
              <p:nvPr/>
            </p:nvSpPr>
            <p:spPr>
              <a:xfrm>
                <a:off x="588818" y="4080864"/>
                <a:ext cx="2474780" cy="461665"/>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文字方塊 7"/>
              <p:cNvSpPr txBox="1"/>
              <p:nvPr/>
            </p:nvSpPr>
            <p:spPr>
              <a:xfrm>
                <a:off x="588818" y="4779139"/>
                <a:ext cx="1623586"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ea typeface="Cambria Math" panose="02040503050406030204" pitchFamily="18" charset="0"/>
                        </a:rPr>
                        <m:t>&lt;3, 4, 4&gt;</m:t>
                      </m:r>
                    </m:oMath>
                  </m:oMathPara>
                </a14:m>
                <a:endParaRPr lang="zh-TW" altLang="en-US" sz="2400" dirty="0"/>
              </a:p>
            </p:txBody>
          </p:sp>
        </mc:Choice>
        <mc:Fallback xmlns="">
          <p:sp>
            <p:nvSpPr>
              <p:cNvPr id="8" name="文字方塊 7"/>
              <p:cNvSpPr txBox="1">
                <a:spLocks noRot="1" noChangeAspect="1" noMove="1" noResize="1" noEditPoints="1" noAdjustHandles="1" noChangeArrowheads="1" noChangeShapeType="1" noTextEdit="1"/>
              </p:cNvSpPr>
              <p:nvPr/>
            </p:nvSpPr>
            <p:spPr>
              <a:xfrm>
                <a:off x="588818" y="4779139"/>
                <a:ext cx="1623586" cy="461665"/>
              </a:xfrm>
              <a:prstGeom prst="rect">
                <a:avLst/>
              </a:prstGeom>
              <a:blipFill>
                <a:blip r:embed="rId4"/>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3041793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Suffix Tree</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 name="文字方塊 5"/>
              <p:cNvSpPr txBox="1"/>
              <p:nvPr/>
            </p:nvSpPr>
            <p:spPr>
              <a:xfrm>
                <a:off x="1033153" y="1690688"/>
                <a:ext cx="3172535"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𝑆</m:t>
                          </m:r>
                        </m:e>
                        <m:sub>
                          <m:r>
                            <a:rPr lang="en-US" altLang="zh-TW" sz="2400" b="0" i="1" smtClean="0">
                              <a:latin typeface="Cambria Math" panose="02040503050406030204" pitchFamily="18" charset="0"/>
                            </a:rPr>
                            <m:t>1</m:t>
                          </m:r>
                        </m:sub>
                      </m:sSub>
                      <m:r>
                        <a:rPr lang="en-US" altLang="zh-TW" sz="2400" b="0" i="1" smtClean="0">
                          <a:latin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&lt;4, 5, 6, 7, 6, 6&gt;</m:t>
                      </m:r>
                    </m:oMath>
                  </m:oMathPara>
                </a14:m>
                <a:endParaRPr lang="zh-TW" altLang="en-US" sz="2400" dirty="0"/>
              </a:p>
            </p:txBody>
          </p:sp>
        </mc:Choice>
        <mc:Fallback xmlns="">
          <p:sp>
            <p:nvSpPr>
              <p:cNvPr id="6" name="文字方塊 5"/>
              <p:cNvSpPr txBox="1">
                <a:spLocks noRot="1" noChangeAspect="1" noMove="1" noResize="1" noEditPoints="1" noAdjustHandles="1" noChangeArrowheads="1" noChangeShapeType="1" noTextEdit="1"/>
              </p:cNvSpPr>
              <p:nvPr/>
            </p:nvSpPr>
            <p:spPr>
              <a:xfrm>
                <a:off x="1033153" y="1690688"/>
                <a:ext cx="3172535" cy="461665"/>
              </a:xfrm>
              <a:prstGeom prst="rect">
                <a:avLst/>
              </a:prstGeom>
              <a:blipFill>
                <a:blip r:embed="rId2"/>
                <a:stretch>
                  <a:fillRect b="-131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文字方塊 6"/>
              <p:cNvSpPr txBox="1"/>
              <p:nvPr/>
            </p:nvSpPr>
            <p:spPr>
              <a:xfrm>
                <a:off x="1033152" y="2318101"/>
                <a:ext cx="2605072"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𝑆</m:t>
                          </m:r>
                        </m:e>
                        <m:sub>
                          <m:r>
                            <a:rPr lang="en-US" altLang="zh-TW" sz="2400" b="0" i="1" smtClean="0">
                              <a:latin typeface="Cambria Math" panose="02040503050406030204" pitchFamily="18" charset="0"/>
                            </a:rPr>
                            <m:t>2</m:t>
                          </m:r>
                        </m:sub>
                      </m:sSub>
                      <m:r>
                        <a:rPr lang="en-US" altLang="zh-TW" sz="2400" b="0" i="1" smtClean="0">
                          <a:latin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&lt;4, 6, 7, 8&gt;</m:t>
                      </m:r>
                    </m:oMath>
                  </m:oMathPara>
                </a14:m>
                <a:endParaRPr lang="zh-TW" altLang="en-US" sz="2400" dirty="0"/>
              </a:p>
            </p:txBody>
          </p:sp>
        </mc:Choice>
        <mc:Fallback xmlns="">
          <p:sp>
            <p:nvSpPr>
              <p:cNvPr id="7" name="文字方塊 6"/>
              <p:cNvSpPr txBox="1">
                <a:spLocks noRot="1" noChangeAspect="1" noMove="1" noResize="1" noEditPoints="1" noAdjustHandles="1" noChangeArrowheads="1" noChangeShapeType="1" noTextEdit="1"/>
              </p:cNvSpPr>
              <p:nvPr/>
            </p:nvSpPr>
            <p:spPr>
              <a:xfrm>
                <a:off x="1033152" y="2318101"/>
                <a:ext cx="2605072" cy="461665"/>
              </a:xfrm>
              <a:prstGeom prst="rect">
                <a:avLst/>
              </a:prstGeom>
              <a:blipFill>
                <a:blip r:embed="rId3"/>
                <a:stretch>
                  <a:fillRect b="-1316"/>
                </a:stretch>
              </a:blipFill>
            </p:spPr>
            <p:txBody>
              <a:bodyPr/>
              <a:lstStyle/>
              <a:p>
                <a:r>
                  <a:rPr lang="zh-TW" altLang="en-US">
                    <a:noFill/>
                  </a:rPr>
                  <a:t> </a:t>
                </a:r>
              </a:p>
            </p:txBody>
          </p:sp>
        </mc:Fallback>
      </mc:AlternateContent>
      <p:pic>
        <p:nvPicPr>
          <p:cNvPr id="4" name="圖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15215" y="1690688"/>
            <a:ext cx="7347184" cy="4364879"/>
          </a:xfrm>
          <a:prstGeom prst="rect">
            <a:avLst/>
          </a:prstGeom>
        </p:spPr>
      </p:pic>
    </p:spTree>
    <p:extLst>
      <p:ext uri="{BB962C8B-B14F-4D97-AF65-F5344CB8AC3E}">
        <p14:creationId xmlns:p14="http://schemas.microsoft.com/office/powerpoint/2010/main" val="32746283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76429" y="1143930"/>
            <a:ext cx="3289544" cy="400110"/>
          </a:xfrm>
          <a:prstGeom prst="rect">
            <a:avLst/>
          </a:prstGeom>
        </p:spPr>
        <p:txBody>
          <a:bodyPr wrap="square">
            <a:spAutoFit/>
          </a:bodyPr>
          <a:lstStyle/>
          <a:p>
            <a:r>
              <a:rPr lang="en-US" altLang="zh-TW" sz="2000" dirty="0">
                <a:latin typeface="Times New Roman" panose="02020603050405020304" pitchFamily="18" charset="0"/>
                <a:cs typeface="Times New Roman" panose="02020603050405020304" pitchFamily="18" charset="0"/>
              </a:rPr>
              <a:t>user-given threshold</a:t>
            </a:r>
            <a:r>
              <a:rPr lang="zh-TW" altLang="en-US" sz="2000" dirty="0">
                <a:latin typeface="Times New Roman" panose="02020603050405020304" pitchFamily="18" charset="0"/>
                <a:cs typeface="Times New Roman" panose="02020603050405020304" pitchFamily="18" charset="0"/>
              </a:rPr>
              <a:t>：</a:t>
            </a:r>
            <a:r>
              <a:rPr lang="en-US" altLang="zh-TW" sz="2000" dirty="0">
                <a:latin typeface="Times New Roman" panose="02020603050405020304" pitchFamily="18" charset="0"/>
                <a:cs typeface="Times New Roman" panose="02020603050405020304" pitchFamily="18" charset="0"/>
              </a:rPr>
              <a:t>Ɛ = 2</a:t>
            </a:r>
            <a:endParaRPr lang="zh-TW" altLang="en-US" sz="2000" dirty="0"/>
          </a:p>
        </p:txBody>
      </p:sp>
      <mc:AlternateContent xmlns:mc="http://schemas.openxmlformats.org/markup-compatibility/2006" xmlns:a14="http://schemas.microsoft.com/office/drawing/2010/main">
        <mc:Choice Requires="a14">
          <p:sp>
            <p:nvSpPr>
              <p:cNvPr id="5" name="文字方塊 4"/>
              <p:cNvSpPr txBox="1"/>
              <p:nvPr/>
            </p:nvSpPr>
            <p:spPr>
              <a:xfrm>
                <a:off x="776429" y="1747319"/>
                <a:ext cx="1773627" cy="400110"/>
              </a:xfrm>
              <a:prstGeom prst="rect">
                <a:avLst/>
              </a:prstGeom>
              <a:noFill/>
            </p:spPr>
            <p:txBody>
              <a:bodyPr wrap="none" rtlCol="0">
                <a:spAutoFit/>
              </a:bodyPr>
              <a:lstStyle/>
              <a:p>
                <a:r>
                  <a:rPr lang="en-US" altLang="zh-TW" sz="2000" dirty="0">
                    <a:latin typeface="Times New Roman" panose="02020603050405020304" pitchFamily="18" charset="0"/>
                    <a:cs typeface="Times New Roman" panose="02020603050405020304" pitchFamily="18" charset="0"/>
                  </a:rPr>
                  <a:t>Q</a:t>
                </a:r>
                <a:r>
                  <a:rPr lang="zh-TW" altLang="en-US" sz="2000" dirty="0">
                    <a:latin typeface="Times New Roman" panose="02020603050405020304" pitchFamily="18" charset="0"/>
                    <a:cs typeface="Times New Roman" panose="02020603050405020304" pitchFamily="18" charset="0"/>
                  </a:rPr>
                  <a:t>：</a:t>
                </a:r>
                <a14:m>
                  <m:oMath xmlns:m="http://schemas.openxmlformats.org/officeDocument/2006/math">
                    <m:r>
                      <a:rPr lang="en-US" altLang="zh-TW" sz="2000" i="1">
                        <a:latin typeface="Cambria Math" panose="02040503050406030204" pitchFamily="18" charset="0"/>
                        <a:ea typeface="Cambria Math" panose="02040503050406030204" pitchFamily="18" charset="0"/>
                      </a:rPr>
                      <m:t>&lt;3, 4, </m:t>
                    </m:r>
                    <m:r>
                      <a:rPr lang="en-US" altLang="zh-TW" sz="2000" b="0" i="1" smtClean="0">
                        <a:latin typeface="Cambria Math" panose="02040503050406030204" pitchFamily="18" charset="0"/>
                        <a:ea typeface="Cambria Math" panose="02040503050406030204" pitchFamily="18" charset="0"/>
                      </a:rPr>
                      <m:t>4</m:t>
                    </m:r>
                    <m:r>
                      <a:rPr lang="en-US" altLang="zh-TW" sz="2000" i="1">
                        <a:latin typeface="Cambria Math" panose="02040503050406030204" pitchFamily="18" charset="0"/>
                        <a:ea typeface="Cambria Math" panose="02040503050406030204" pitchFamily="18" charset="0"/>
                      </a:rPr>
                      <m:t>&gt;</m:t>
                    </m:r>
                  </m:oMath>
                </a14:m>
                <a:endParaRPr lang="zh-TW" altLang="en-US" sz="2000" dirty="0">
                  <a:latin typeface="Times New Roman" panose="02020603050405020304" pitchFamily="18" charset="0"/>
                  <a:cs typeface="Times New Roman" panose="02020603050405020304" pitchFamily="18" charset="0"/>
                </a:endParaRPr>
              </a:p>
            </p:txBody>
          </p:sp>
        </mc:Choice>
        <mc:Fallback xmlns="">
          <p:sp>
            <p:nvSpPr>
              <p:cNvPr id="5" name="文字方塊 4"/>
              <p:cNvSpPr txBox="1">
                <a:spLocks noRot="1" noChangeAspect="1" noMove="1" noResize="1" noEditPoints="1" noAdjustHandles="1" noChangeArrowheads="1" noChangeShapeType="1" noTextEdit="1"/>
              </p:cNvSpPr>
              <p:nvPr/>
            </p:nvSpPr>
            <p:spPr>
              <a:xfrm>
                <a:off x="776429" y="1747319"/>
                <a:ext cx="1773627" cy="400110"/>
              </a:xfrm>
              <a:prstGeom prst="rect">
                <a:avLst/>
              </a:prstGeom>
              <a:blipFill>
                <a:blip r:embed="rId2"/>
                <a:stretch>
                  <a:fillRect l="-3436" t="-9231" b="-27692"/>
                </a:stretch>
              </a:blipFill>
            </p:spPr>
            <p:txBody>
              <a:bodyPr/>
              <a:lstStyle/>
              <a:p>
                <a:r>
                  <a:rPr lang="zh-TW" altLang="en-US">
                    <a:noFill/>
                  </a:rPr>
                  <a:t> </a:t>
                </a:r>
              </a:p>
            </p:txBody>
          </p:sp>
        </mc:Fallback>
      </mc:AlternateContent>
      <p:pic>
        <p:nvPicPr>
          <p:cNvPr id="6" name="圖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10523" y="772357"/>
            <a:ext cx="7347184" cy="5283210"/>
          </a:xfrm>
          <a:prstGeom prst="rect">
            <a:avLst/>
          </a:prstGeom>
        </p:spPr>
      </p:pic>
      <p:sp>
        <p:nvSpPr>
          <p:cNvPr id="7" name="箭號: 向右 6"/>
          <p:cNvSpPr/>
          <p:nvPr/>
        </p:nvSpPr>
        <p:spPr>
          <a:xfrm>
            <a:off x="7146524" y="1322098"/>
            <a:ext cx="417250" cy="221942"/>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13" name="群組 12"/>
          <p:cNvGrpSpPr/>
          <p:nvPr/>
        </p:nvGrpSpPr>
        <p:grpSpPr>
          <a:xfrm>
            <a:off x="5610577" y="1949147"/>
            <a:ext cx="5477752" cy="2327920"/>
            <a:chOff x="5610577" y="1949147"/>
            <a:chExt cx="5477752" cy="2327920"/>
          </a:xfrm>
        </p:grpSpPr>
        <p:sp>
          <p:nvSpPr>
            <p:cNvPr id="8" name="橢圓 7"/>
            <p:cNvSpPr/>
            <p:nvPr/>
          </p:nvSpPr>
          <p:spPr>
            <a:xfrm>
              <a:off x="5610577" y="1949147"/>
              <a:ext cx="772468" cy="76742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橢圓 8"/>
            <p:cNvSpPr/>
            <p:nvPr/>
          </p:nvSpPr>
          <p:spPr>
            <a:xfrm>
              <a:off x="5996811" y="3509647"/>
              <a:ext cx="772468" cy="76742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橢圓 9"/>
            <p:cNvSpPr/>
            <p:nvPr/>
          </p:nvSpPr>
          <p:spPr>
            <a:xfrm>
              <a:off x="7770102" y="2009321"/>
              <a:ext cx="772468" cy="76742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橢圓 10"/>
            <p:cNvSpPr/>
            <p:nvPr/>
          </p:nvSpPr>
          <p:spPr>
            <a:xfrm>
              <a:off x="9251901" y="2009321"/>
              <a:ext cx="772468" cy="76742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橢圓 11"/>
            <p:cNvSpPr/>
            <p:nvPr/>
          </p:nvSpPr>
          <p:spPr>
            <a:xfrm>
              <a:off x="10315861" y="1949147"/>
              <a:ext cx="772468" cy="76742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Tree>
    <p:extLst>
      <p:ext uri="{BB962C8B-B14F-4D97-AF65-F5344CB8AC3E}">
        <p14:creationId xmlns:p14="http://schemas.microsoft.com/office/powerpoint/2010/main" val="1655119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randombar(horizontal)">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76429" y="1143930"/>
            <a:ext cx="3271788" cy="400110"/>
          </a:xfrm>
          <a:prstGeom prst="rect">
            <a:avLst/>
          </a:prstGeom>
        </p:spPr>
        <p:txBody>
          <a:bodyPr wrap="square">
            <a:spAutoFit/>
          </a:bodyPr>
          <a:lstStyle/>
          <a:p>
            <a:r>
              <a:rPr lang="en-US" altLang="zh-TW" sz="2000" dirty="0">
                <a:latin typeface="Times New Roman" panose="02020603050405020304" pitchFamily="18" charset="0"/>
                <a:cs typeface="Times New Roman" panose="02020603050405020304" pitchFamily="18" charset="0"/>
              </a:rPr>
              <a:t>user-given threshold</a:t>
            </a:r>
            <a:r>
              <a:rPr lang="zh-TW" altLang="en-US" sz="2000" dirty="0">
                <a:latin typeface="Times New Roman" panose="02020603050405020304" pitchFamily="18" charset="0"/>
                <a:cs typeface="Times New Roman" panose="02020603050405020304" pitchFamily="18" charset="0"/>
              </a:rPr>
              <a:t>：</a:t>
            </a:r>
            <a:r>
              <a:rPr lang="en-US" altLang="zh-TW" sz="2000" dirty="0">
                <a:latin typeface="Times New Roman" panose="02020603050405020304" pitchFamily="18" charset="0"/>
                <a:cs typeface="Times New Roman" panose="02020603050405020304" pitchFamily="18" charset="0"/>
              </a:rPr>
              <a:t>Ɛ = 2</a:t>
            </a:r>
            <a:endParaRPr lang="zh-TW" altLang="en-US" sz="2000" dirty="0"/>
          </a:p>
        </p:txBody>
      </p:sp>
      <mc:AlternateContent xmlns:mc="http://schemas.openxmlformats.org/markup-compatibility/2006" xmlns:a14="http://schemas.microsoft.com/office/drawing/2010/main">
        <mc:Choice Requires="a14">
          <p:sp>
            <p:nvSpPr>
              <p:cNvPr id="5" name="文字方塊 4"/>
              <p:cNvSpPr txBox="1"/>
              <p:nvPr/>
            </p:nvSpPr>
            <p:spPr>
              <a:xfrm>
                <a:off x="776429" y="1747319"/>
                <a:ext cx="1760803" cy="707886"/>
              </a:xfrm>
              <a:prstGeom prst="rect">
                <a:avLst/>
              </a:prstGeom>
              <a:noFill/>
            </p:spPr>
            <p:txBody>
              <a:bodyPr wrap="none" rtlCol="0">
                <a:spAutoFit/>
              </a:bodyPr>
              <a:lstStyle/>
              <a:p>
                <a:r>
                  <a:rPr lang="en-US" altLang="zh-TW" sz="2000" dirty="0">
                    <a:latin typeface="Times New Roman" panose="02020603050405020304" pitchFamily="18" charset="0"/>
                    <a:cs typeface="Times New Roman" panose="02020603050405020304" pitchFamily="18" charset="0"/>
                  </a:rPr>
                  <a:t>Q</a:t>
                </a:r>
                <a:r>
                  <a:rPr lang="zh-TW" altLang="en-US" sz="2000" dirty="0">
                    <a:latin typeface="Times New Roman" panose="02020603050405020304" pitchFamily="18" charset="0"/>
                    <a:cs typeface="Times New Roman" panose="02020603050405020304" pitchFamily="18" charset="0"/>
                  </a:rPr>
                  <a:t>：</a:t>
                </a:r>
                <a14:m>
                  <m:oMath xmlns:m="http://schemas.openxmlformats.org/officeDocument/2006/math">
                    <m:r>
                      <a:rPr lang="en-US" altLang="zh-TW" sz="2000" i="1">
                        <a:latin typeface="Cambria Math" panose="02040503050406030204" pitchFamily="18" charset="0"/>
                        <a:ea typeface="Cambria Math" panose="02040503050406030204" pitchFamily="18" charset="0"/>
                      </a:rPr>
                      <m:t>&lt;3, 4, </m:t>
                    </m:r>
                    <m:r>
                      <a:rPr lang="en-US" altLang="zh-TW" sz="2000" b="0" i="1" smtClean="0">
                        <a:latin typeface="Cambria Math" panose="02040503050406030204" pitchFamily="18" charset="0"/>
                        <a:ea typeface="Cambria Math" panose="02040503050406030204" pitchFamily="18" charset="0"/>
                      </a:rPr>
                      <m:t>4</m:t>
                    </m:r>
                    <m:r>
                      <a:rPr lang="en-US" altLang="zh-TW" sz="2000" i="1">
                        <a:latin typeface="Cambria Math" panose="02040503050406030204" pitchFamily="18" charset="0"/>
                        <a:ea typeface="Cambria Math" panose="02040503050406030204" pitchFamily="18" charset="0"/>
                      </a:rPr>
                      <m:t>&gt;</m:t>
                    </m:r>
                  </m:oMath>
                </a14:m>
                <a:endParaRPr lang="zh-TW" altLang="en-US" sz="2000" dirty="0">
                  <a:latin typeface="Times New Roman" panose="02020603050405020304" pitchFamily="18" charset="0"/>
                  <a:cs typeface="Times New Roman" panose="02020603050405020304" pitchFamily="18" charset="0"/>
                </a:endParaRPr>
              </a:p>
              <a:p>
                <a:endParaRPr lang="zh-TW" altLang="en-US" sz="2000" dirty="0">
                  <a:latin typeface="Times New Roman" panose="02020603050405020304" pitchFamily="18" charset="0"/>
                  <a:cs typeface="Times New Roman" panose="02020603050405020304" pitchFamily="18" charset="0"/>
                </a:endParaRPr>
              </a:p>
            </p:txBody>
          </p:sp>
        </mc:Choice>
        <mc:Fallback xmlns="">
          <p:sp>
            <p:nvSpPr>
              <p:cNvPr id="5" name="文字方塊 4"/>
              <p:cNvSpPr txBox="1">
                <a:spLocks noRot="1" noChangeAspect="1" noMove="1" noResize="1" noEditPoints="1" noAdjustHandles="1" noChangeArrowheads="1" noChangeShapeType="1" noTextEdit="1"/>
              </p:cNvSpPr>
              <p:nvPr/>
            </p:nvSpPr>
            <p:spPr>
              <a:xfrm>
                <a:off x="776429" y="1747319"/>
                <a:ext cx="1760803" cy="707886"/>
              </a:xfrm>
              <a:prstGeom prst="rect">
                <a:avLst/>
              </a:prstGeom>
              <a:blipFill>
                <a:blip r:embed="rId2"/>
                <a:stretch>
                  <a:fillRect l="-3460" t="-5172"/>
                </a:stretch>
              </a:blipFill>
            </p:spPr>
            <p:txBody>
              <a:bodyPr/>
              <a:lstStyle/>
              <a:p>
                <a:r>
                  <a:rPr lang="zh-TW" altLang="en-US">
                    <a:noFill/>
                  </a:rPr>
                  <a:t> </a:t>
                </a:r>
              </a:p>
            </p:txBody>
          </p:sp>
        </mc:Fallback>
      </mc:AlternateContent>
      <p:pic>
        <p:nvPicPr>
          <p:cNvPr id="6" name="圖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10523" y="772357"/>
            <a:ext cx="7347184" cy="5283210"/>
          </a:xfrm>
          <a:prstGeom prst="rect">
            <a:avLst/>
          </a:prstGeom>
        </p:spPr>
      </p:pic>
      <p:sp>
        <p:nvSpPr>
          <p:cNvPr id="7" name="箭號: 向右 6"/>
          <p:cNvSpPr/>
          <p:nvPr/>
        </p:nvSpPr>
        <p:spPr>
          <a:xfrm>
            <a:off x="7146524" y="1322098"/>
            <a:ext cx="417250" cy="221942"/>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橢圓 13"/>
          <p:cNvSpPr/>
          <p:nvPr/>
        </p:nvSpPr>
        <p:spPr>
          <a:xfrm>
            <a:off x="5610583" y="1950484"/>
            <a:ext cx="772468" cy="76742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15" name="表格 14"/>
          <p:cNvGraphicFramePr>
            <a:graphicFrameLocks noGrp="1"/>
          </p:cNvGraphicFramePr>
          <p:nvPr>
            <p:extLst>
              <p:ext uri="{D42A27DB-BD31-4B8C-83A1-F6EECF244321}">
                <p14:modId xmlns:p14="http://schemas.microsoft.com/office/powerpoint/2010/main" val="901976949"/>
              </p:ext>
            </p:extLst>
          </p:nvPr>
        </p:nvGraphicFramePr>
        <p:xfrm>
          <a:off x="4818384" y="1072188"/>
          <a:ext cx="1700340" cy="736600"/>
        </p:xfrm>
        <a:graphic>
          <a:graphicData uri="http://schemas.openxmlformats.org/drawingml/2006/table">
            <a:tbl>
              <a:tblPr firstRow="1" bandRow="1">
                <a:tableStyleId>{5C22544A-7EE6-4342-B048-85BDC9FD1C3A}</a:tableStyleId>
              </a:tblPr>
              <a:tblGrid>
                <a:gridCol w="425085">
                  <a:extLst>
                    <a:ext uri="{9D8B030D-6E8A-4147-A177-3AD203B41FA5}">
                      <a16:colId xmlns:a16="http://schemas.microsoft.com/office/drawing/2014/main" val="3309848897"/>
                    </a:ext>
                  </a:extLst>
                </a:gridCol>
                <a:gridCol w="425085">
                  <a:extLst>
                    <a:ext uri="{9D8B030D-6E8A-4147-A177-3AD203B41FA5}">
                      <a16:colId xmlns:a16="http://schemas.microsoft.com/office/drawing/2014/main" val="3254637770"/>
                    </a:ext>
                  </a:extLst>
                </a:gridCol>
                <a:gridCol w="425085">
                  <a:extLst>
                    <a:ext uri="{9D8B030D-6E8A-4147-A177-3AD203B41FA5}">
                      <a16:colId xmlns:a16="http://schemas.microsoft.com/office/drawing/2014/main" val="4243929150"/>
                    </a:ext>
                  </a:extLst>
                </a:gridCol>
                <a:gridCol w="425085">
                  <a:extLst>
                    <a:ext uri="{9D8B030D-6E8A-4147-A177-3AD203B41FA5}">
                      <a16:colId xmlns:a16="http://schemas.microsoft.com/office/drawing/2014/main" val="1047457791"/>
                    </a:ext>
                  </a:extLst>
                </a:gridCol>
              </a:tblGrid>
              <a:tr h="370840">
                <a:tc>
                  <a:txBody>
                    <a:bodyPr/>
                    <a:lstStyle/>
                    <a:p>
                      <a:pPr algn="ctr"/>
                      <a:r>
                        <a:rPr lang="en-US" altLang="zh-TW" b="0" dirty="0">
                          <a:solidFill>
                            <a:schemeClr val="tx1"/>
                          </a:solidFill>
                        </a:rPr>
                        <a:t>4</a:t>
                      </a:r>
                      <a:endParaRPr lang="zh-TW" altLang="en-US"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53062115"/>
                  </a:ext>
                </a:extLst>
              </a:tr>
              <a:tr h="143961">
                <a:tc>
                  <a:txBody>
                    <a:bodyPr/>
                    <a:lstStyle/>
                    <a:p>
                      <a:pPr algn="ctr"/>
                      <a:endParaRPr lang="zh-TW" altLang="en-US"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3</a:t>
                      </a:r>
                      <a:endParaRPr lang="zh-TW" altLang="en-US"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4</a:t>
                      </a:r>
                      <a:endParaRPr lang="zh-TW" altLang="en-US"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4</a:t>
                      </a:r>
                      <a:endParaRPr lang="zh-TW" altLang="en-US"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8136128"/>
                  </a:ext>
                </a:extLst>
              </a:tr>
            </a:tbl>
          </a:graphicData>
        </a:graphic>
      </p:graphicFrame>
      <mc:AlternateContent xmlns:mc="http://schemas.openxmlformats.org/markup-compatibility/2006" xmlns:a14="http://schemas.microsoft.com/office/drawing/2010/main">
        <mc:Choice Requires="a14">
          <p:sp>
            <p:nvSpPr>
              <p:cNvPr id="16" name="文字方塊 15"/>
              <p:cNvSpPr txBox="1"/>
              <p:nvPr/>
            </p:nvSpPr>
            <p:spPr>
              <a:xfrm>
                <a:off x="541779" y="5686235"/>
                <a:ext cx="2425061" cy="369332"/>
              </a:xfrm>
              <a:prstGeom prst="rect">
                <a:avLst/>
              </a:prstGeom>
              <a:noFill/>
            </p:spPr>
            <p:txBody>
              <a:bodyPr wrap="square" rtlCol="0">
                <a:spAutoFit/>
              </a:bodyPr>
              <a:lstStyle/>
              <a:p>
                <a:pPr algn="ctr"/>
                <a:r>
                  <a:rPr lang="en-US" altLang="zh-TW" dirty="0"/>
                  <a:t>answer set</a:t>
                </a:r>
                <a:r>
                  <a:rPr lang="zh-TW" altLang="en-US" dirty="0"/>
                  <a:t>：</a:t>
                </a:r>
                <a14:m>
                  <m:oMath xmlns:m="http://schemas.openxmlformats.org/officeDocument/2006/math">
                    <m:r>
                      <a:rPr lang="en-US" altLang="zh-TW" i="1">
                        <a:latin typeface="Cambria Math" panose="02040503050406030204" pitchFamily="18" charset="0"/>
                        <a:ea typeface="Cambria Math" panose="02040503050406030204" pitchFamily="18" charset="0"/>
                      </a:rPr>
                      <m:t>&lt;4&gt;</m:t>
                    </m:r>
                  </m:oMath>
                </a14:m>
                <a:endParaRPr lang="zh-TW" altLang="en-US" dirty="0">
                  <a:latin typeface="Times New Roman" panose="02020603050405020304" pitchFamily="18" charset="0"/>
                  <a:cs typeface="Times New Roman" panose="02020603050405020304" pitchFamily="18" charset="0"/>
                </a:endParaRPr>
              </a:p>
            </p:txBody>
          </p:sp>
        </mc:Choice>
        <mc:Fallback xmlns="">
          <p:sp>
            <p:nvSpPr>
              <p:cNvPr id="16" name="文字方塊 15"/>
              <p:cNvSpPr txBox="1">
                <a:spLocks noRot="1" noChangeAspect="1" noMove="1" noResize="1" noEditPoints="1" noAdjustHandles="1" noChangeArrowheads="1" noChangeShapeType="1" noTextEdit="1"/>
              </p:cNvSpPr>
              <p:nvPr/>
            </p:nvSpPr>
            <p:spPr>
              <a:xfrm>
                <a:off x="541779" y="5686235"/>
                <a:ext cx="2425061" cy="369332"/>
              </a:xfrm>
              <a:prstGeom prst="rect">
                <a:avLst/>
              </a:prstGeom>
              <a:blipFill>
                <a:blip r:embed="rId4"/>
                <a:stretch>
                  <a:fillRect t="-10000" b="-26667"/>
                </a:stretch>
              </a:blipFill>
            </p:spPr>
            <p:txBody>
              <a:bodyPr/>
              <a:lstStyle/>
              <a:p>
                <a:r>
                  <a:rPr lang="zh-TW" altLang="en-US">
                    <a:noFill/>
                  </a:rPr>
                  <a:t> </a:t>
                </a:r>
              </a:p>
            </p:txBody>
          </p:sp>
        </mc:Fallback>
      </mc:AlternateContent>
      <p:graphicFrame>
        <p:nvGraphicFramePr>
          <p:cNvPr id="17" name="表格 16"/>
          <p:cNvGraphicFramePr>
            <a:graphicFrameLocks noGrp="1"/>
          </p:cNvGraphicFramePr>
          <p:nvPr>
            <p:extLst>
              <p:ext uri="{D42A27DB-BD31-4B8C-83A1-F6EECF244321}">
                <p14:modId xmlns:p14="http://schemas.microsoft.com/office/powerpoint/2010/main" val="2823787132"/>
              </p:ext>
            </p:extLst>
          </p:nvPr>
        </p:nvGraphicFramePr>
        <p:xfrm>
          <a:off x="4818384" y="1072188"/>
          <a:ext cx="1700340" cy="736600"/>
        </p:xfrm>
        <a:graphic>
          <a:graphicData uri="http://schemas.openxmlformats.org/drawingml/2006/table">
            <a:tbl>
              <a:tblPr firstRow="1" bandRow="1">
                <a:tableStyleId>{5C22544A-7EE6-4342-B048-85BDC9FD1C3A}</a:tableStyleId>
              </a:tblPr>
              <a:tblGrid>
                <a:gridCol w="425085">
                  <a:extLst>
                    <a:ext uri="{9D8B030D-6E8A-4147-A177-3AD203B41FA5}">
                      <a16:colId xmlns:a16="http://schemas.microsoft.com/office/drawing/2014/main" val="3309848897"/>
                    </a:ext>
                  </a:extLst>
                </a:gridCol>
                <a:gridCol w="425085">
                  <a:extLst>
                    <a:ext uri="{9D8B030D-6E8A-4147-A177-3AD203B41FA5}">
                      <a16:colId xmlns:a16="http://schemas.microsoft.com/office/drawing/2014/main" val="3254637770"/>
                    </a:ext>
                  </a:extLst>
                </a:gridCol>
                <a:gridCol w="425085">
                  <a:extLst>
                    <a:ext uri="{9D8B030D-6E8A-4147-A177-3AD203B41FA5}">
                      <a16:colId xmlns:a16="http://schemas.microsoft.com/office/drawing/2014/main" val="4243929150"/>
                    </a:ext>
                  </a:extLst>
                </a:gridCol>
                <a:gridCol w="425085">
                  <a:extLst>
                    <a:ext uri="{9D8B030D-6E8A-4147-A177-3AD203B41FA5}">
                      <a16:colId xmlns:a16="http://schemas.microsoft.com/office/drawing/2014/main" val="1047457791"/>
                    </a:ext>
                  </a:extLst>
                </a:gridCol>
              </a:tblGrid>
              <a:tr h="370840">
                <a:tc>
                  <a:txBody>
                    <a:bodyPr/>
                    <a:lstStyle/>
                    <a:p>
                      <a:pPr algn="ctr"/>
                      <a:r>
                        <a:rPr lang="en-US" altLang="zh-TW" b="0" dirty="0">
                          <a:solidFill>
                            <a:schemeClr val="tx1"/>
                          </a:solidFill>
                        </a:rPr>
                        <a:t>4</a:t>
                      </a:r>
                      <a:endParaRPr lang="zh-TW" altLang="en-US"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53062115"/>
                  </a:ext>
                </a:extLst>
              </a:tr>
              <a:tr h="143961">
                <a:tc>
                  <a:txBody>
                    <a:bodyPr/>
                    <a:lstStyle/>
                    <a:p>
                      <a:pPr algn="ctr"/>
                      <a:endParaRPr lang="zh-TW" altLang="en-US"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3</a:t>
                      </a:r>
                      <a:endParaRPr lang="zh-TW" altLang="en-US"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4</a:t>
                      </a:r>
                      <a:endParaRPr lang="zh-TW" altLang="en-US"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4</a:t>
                      </a:r>
                      <a:endParaRPr lang="zh-TW" altLang="en-US"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8136128"/>
                  </a:ext>
                </a:extLst>
              </a:tr>
            </a:tbl>
          </a:graphicData>
        </a:graphic>
      </p:graphicFrame>
      <p:sp>
        <p:nvSpPr>
          <p:cNvPr id="18" name="橢圓 17"/>
          <p:cNvSpPr/>
          <p:nvPr/>
        </p:nvSpPr>
        <p:spPr>
          <a:xfrm>
            <a:off x="4626639" y="3548467"/>
            <a:ext cx="772468" cy="76742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4036890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4"/>
                                        </p:tgtEl>
                                      </p:cBhvr>
                                    </p:animEffect>
                                    <p:set>
                                      <p:cBhvr>
                                        <p:cTn id="7" dur="1" fill="hold">
                                          <p:stCondLst>
                                            <p:cond delay="499"/>
                                          </p:stCondLst>
                                        </p:cTn>
                                        <p:tgtEl>
                                          <p:spTgt spid="14"/>
                                        </p:tgtEl>
                                        <p:attrNameLst>
                                          <p:attrName>style.visibility</p:attrName>
                                        </p:attrNameLst>
                                      </p:cBhvr>
                                      <p:to>
                                        <p:strVal val="hidden"/>
                                      </p:to>
                                    </p:se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500"/>
                                        <p:tgtEl>
                                          <p:spTgt spid="18"/>
                                        </p:tgtEl>
                                      </p:cBhvr>
                                    </p:animEffect>
                                  </p:childTnLst>
                                </p:cTn>
                              </p:par>
                            </p:childTnLst>
                          </p:cTn>
                        </p:par>
                      </p:childTnLst>
                    </p:cTn>
                  </p:par>
                  <p:par>
                    <p:cTn id="12" fill="hold">
                      <p:stCondLst>
                        <p:cond delay="indefinite"/>
                      </p:stCondLst>
                      <p:childTnLst>
                        <p:par>
                          <p:cTn id="13" fill="hold">
                            <p:stCondLst>
                              <p:cond delay="0"/>
                            </p:stCondLst>
                            <p:childTnLst>
                              <p:par>
                                <p:cTn id="14" presetID="42" presetClass="path" presetSubtype="0" accel="50000" decel="50000" fill="hold" nodeType="clickEffect">
                                  <p:stCondLst>
                                    <p:cond delay="0"/>
                                  </p:stCondLst>
                                  <p:childTnLst>
                                    <p:animMotion origin="layout" path="M -3.75E-6 -3.7037E-6 L -0.14153 0.28982 " pathEditMode="relative" rAng="0" ptsTypes="AA">
                                      <p:cBhvr>
                                        <p:cTn id="15" dur="2000" fill="hold"/>
                                        <p:tgtEl>
                                          <p:spTgt spid="17"/>
                                        </p:tgtEl>
                                        <p:attrNameLst>
                                          <p:attrName>ppt_x</p:attrName>
                                          <p:attrName>ppt_y</p:attrName>
                                        </p:attrNameLst>
                                      </p:cBhvr>
                                      <p:rCtr x="-7083" y="1449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76429" y="1143930"/>
            <a:ext cx="3271788" cy="400110"/>
          </a:xfrm>
          <a:prstGeom prst="rect">
            <a:avLst/>
          </a:prstGeom>
        </p:spPr>
        <p:txBody>
          <a:bodyPr wrap="square">
            <a:spAutoFit/>
          </a:bodyPr>
          <a:lstStyle/>
          <a:p>
            <a:r>
              <a:rPr lang="en-US" altLang="zh-TW" sz="2000" dirty="0">
                <a:latin typeface="Times New Roman" panose="02020603050405020304" pitchFamily="18" charset="0"/>
                <a:cs typeface="Times New Roman" panose="02020603050405020304" pitchFamily="18" charset="0"/>
              </a:rPr>
              <a:t>user-given threshold</a:t>
            </a:r>
            <a:r>
              <a:rPr lang="zh-TW" altLang="en-US" sz="2000" dirty="0">
                <a:latin typeface="Times New Roman" panose="02020603050405020304" pitchFamily="18" charset="0"/>
                <a:cs typeface="Times New Roman" panose="02020603050405020304" pitchFamily="18" charset="0"/>
              </a:rPr>
              <a:t>：</a:t>
            </a:r>
            <a:r>
              <a:rPr lang="en-US" altLang="zh-TW" sz="2000" dirty="0">
                <a:latin typeface="Times New Roman" panose="02020603050405020304" pitchFamily="18" charset="0"/>
                <a:cs typeface="Times New Roman" panose="02020603050405020304" pitchFamily="18" charset="0"/>
              </a:rPr>
              <a:t>Ɛ = 2</a:t>
            </a:r>
            <a:endParaRPr lang="zh-TW" altLang="en-US" sz="2000" dirty="0"/>
          </a:p>
        </p:txBody>
      </p:sp>
      <mc:AlternateContent xmlns:mc="http://schemas.openxmlformats.org/markup-compatibility/2006" xmlns:a14="http://schemas.microsoft.com/office/drawing/2010/main">
        <mc:Choice Requires="a14">
          <p:sp>
            <p:nvSpPr>
              <p:cNvPr id="5" name="文字方塊 4"/>
              <p:cNvSpPr txBox="1"/>
              <p:nvPr/>
            </p:nvSpPr>
            <p:spPr>
              <a:xfrm>
                <a:off x="776429" y="1747319"/>
                <a:ext cx="1760803" cy="707886"/>
              </a:xfrm>
              <a:prstGeom prst="rect">
                <a:avLst/>
              </a:prstGeom>
              <a:noFill/>
            </p:spPr>
            <p:txBody>
              <a:bodyPr wrap="none" rtlCol="0">
                <a:spAutoFit/>
              </a:bodyPr>
              <a:lstStyle/>
              <a:p>
                <a:r>
                  <a:rPr lang="en-US" altLang="zh-TW" sz="2000" dirty="0">
                    <a:latin typeface="Times New Roman" panose="02020603050405020304" pitchFamily="18" charset="0"/>
                    <a:cs typeface="Times New Roman" panose="02020603050405020304" pitchFamily="18" charset="0"/>
                  </a:rPr>
                  <a:t>Q</a:t>
                </a:r>
                <a:r>
                  <a:rPr lang="zh-TW" altLang="en-US" sz="2000" dirty="0">
                    <a:latin typeface="Times New Roman" panose="02020603050405020304" pitchFamily="18" charset="0"/>
                    <a:cs typeface="Times New Roman" panose="02020603050405020304" pitchFamily="18" charset="0"/>
                  </a:rPr>
                  <a:t>：</a:t>
                </a:r>
                <a14:m>
                  <m:oMath xmlns:m="http://schemas.openxmlformats.org/officeDocument/2006/math">
                    <m:r>
                      <a:rPr lang="en-US" altLang="zh-TW" sz="2000" i="1">
                        <a:latin typeface="Cambria Math" panose="02040503050406030204" pitchFamily="18" charset="0"/>
                        <a:ea typeface="Cambria Math" panose="02040503050406030204" pitchFamily="18" charset="0"/>
                      </a:rPr>
                      <m:t>&lt;3, 4, </m:t>
                    </m:r>
                    <m:r>
                      <a:rPr lang="en-US" altLang="zh-TW" sz="2000" b="0" i="1" smtClean="0">
                        <a:latin typeface="Cambria Math" panose="02040503050406030204" pitchFamily="18" charset="0"/>
                        <a:ea typeface="Cambria Math" panose="02040503050406030204" pitchFamily="18" charset="0"/>
                      </a:rPr>
                      <m:t>4</m:t>
                    </m:r>
                    <m:r>
                      <a:rPr lang="en-US" altLang="zh-TW" sz="2000" i="1">
                        <a:latin typeface="Cambria Math" panose="02040503050406030204" pitchFamily="18" charset="0"/>
                        <a:ea typeface="Cambria Math" panose="02040503050406030204" pitchFamily="18" charset="0"/>
                      </a:rPr>
                      <m:t>&gt;</m:t>
                    </m:r>
                  </m:oMath>
                </a14:m>
                <a:endParaRPr lang="zh-TW" altLang="en-US" sz="2000" dirty="0">
                  <a:latin typeface="Times New Roman" panose="02020603050405020304" pitchFamily="18" charset="0"/>
                  <a:cs typeface="Times New Roman" panose="02020603050405020304" pitchFamily="18" charset="0"/>
                </a:endParaRPr>
              </a:p>
              <a:p>
                <a:endParaRPr lang="zh-TW" altLang="en-US" sz="2000" dirty="0">
                  <a:latin typeface="Times New Roman" panose="02020603050405020304" pitchFamily="18" charset="0"/>
                  <a:cs typeface="Times New Roman" panose="02020603050405020304" pitchFamily="18" charset="0"/>
                </a:endParaRPr>
              </a:p>
            </p:txBody>
          </p:sp>
        </mc:Choice>
        <mc:Fallback xmlns="">
          <p:sp>
            <p:nvSpPr>
              <p:cNvPr id="5" name="文字方塊 4"/>
              <p:cNvSpPr txBox="1">
                <a:spLocks noRot="1" noChangeAspect="1" noMove="1" noResize="1" noEditPoints="1" noAdjustHandles="1" noChangeArrowheads="1" noChangeShapeType="1" noTextEdit="1"/>
              </p:cNvSpPr>
              <p:nvPr/>
            </p:nvSpPr>
            <p:spPr>
              <a:xfrm>
                <a:off x="776429" y="1747319"/>
                <a:ext cx="1760803" cy="707886"/>
              </a:xfrm>
              <a:prstGeom prst="rect">
                <a:avLst/>
              </a:prstGeom>
              <a:blipFill>
                <a:blip r:embed="rId2"/>
                <a:stretch>
                  <a:fillRect l="-3460" t="-5172"/>
                </a:stretch>
              </a:blipFill>
            </p:spPr>
            <p:txBody>
              <a:bodyPr/>
              <a:lstStyle/>
              <a:p>
                <a:r>
                  <a:rPr lang="zh-TW" altLang="en-US">
                    <a:noFill/>
                  </a:rPr>
                  <a:t> </a:t>
                </a:r>
              </a:p>
            </p:txBody>
          </p:sp>
        </mc:Fallback>
      </mc:AlternateContent>
      <p:pic>
        <p:nvPicPr>
          <p:cNvPr id="6" name="圖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10523" y="772357"/>
            <a:ext cx="7347184" cy="5283210"/>
          </a:xfrm>
          <a:prstGeom prst="rect">
            <a:avLst/>
          </a:prstGeom>
        </p:spPr>
      </p:pic>
      <p:sp>
        <p:nvSpPr>
          <p:cNvPr id="7" name="箭號: 向右 6"/>
          <p:cNvSpPr/>
          <p:nvPr/>
        </p:nvSpPr>
        <p:spPr>
          <a:xfrm>
            <a:off x="7146524" y="1322098"/>
            <a:ext cx="417250" cy="221942"/>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9" name="表格 8"/>
          <p:cNvGraphicFramePr>
            <a:graphicFrameLocks noGrp="1"/>
          </p:cNvGraphicFramePr>
          <p:nvPr>
            <p:extLst>
              <p:ext uri="{D42A27DB-BD31-4B8C-83A1-F6EECF244321}">
                <p14:modId xmlns:p14="http://schemas.microsoft.com/office/powerpoint/2010/main" val="3878861526"/>
              </p:ext>
            </p:extLst>
          </p:nvPr>
        </p:nvGraphicFramePr>
        <p:xfrm>
          <a:off x="4818384" y="1072188"/>
          <a:ext cx="1700340" cy="736600"/>
        </p:xfrm>
        <a:graphic>
          <a:graphicData uri="http://schemas.openxmlformats.org/drawingml/2006/table">
            <a:tbl>
              <a:tblPr firstRow="1" bandRow="1">
                <a:tableStyleId>{5C22544A-7EE6-4342-B048-85BDC9FD1C3A}</a:tableStyleId>
              </a:tblPr>
              <a:tblGrid>
                <a:gridCol w="425085">
                  <a:extLst>
                    <a:ext uri="{9D8B030D-6E8A-4147-A177-3AD203B41FA5}">
                      <a16:colId xmlns:a16="http://schemas.microsoft.com/office/drawing/2014/main" val="3309848897"/>
                    </a:ext>
                  </a:extLst>
                </a:gridCol>
                <a:gridCol w="425085">
                  <a:extLst>
                    <a:ext uri="{9D8B030D-6E8A-4147-A177-3AD203B41FA5}">
                      <a16:colId xmlns:a16="http://schemas.microsoft.com/office/drawing/2014/main" val="3254637770"/>
                    </a:ext>
                  </a:extLst>
                </a:gridCol>
                <a:gridCol w="425085">
                  <a:extLst>
                    <a:ext uri="{9D8B030D-6E8A-4147-A177-3AD203B41FA5}">
                      <a16:colId xmlns:a16="http://schemas.microsoft.com/office/drawing/2014/main" val="4243929150"/>
                    </a:ext>
                  </a:extLst>
                </a:gridCol>
                <a:gridCol w="425085">
                  <a:extLst>
                    <a:ext uri="{9D8B030D-6E8A-4147-A177-3AD203B41FA5}">
                      <a16:colId xmlns:a16="http://schemas.microsoft.com/office/drawing/2014/main" val="1047457791"/>
                    </a:ext>
                  </a:extLst>
                </a:gridCol>
              </a:tblGrid>
              <a:tr h="370840">
                <a:tc>
                  <a:txBody>
                    <a:bodyPr/>
                    <a:lstStyle/>
                    <a:p>
                      <a:pPr algn="ctr"/>
                      <a:r>
                        <a:rPr lang="en-US" altLang="zh-TW" b="0" dirty="0">
                          <a:solidFill>
                            <a:schemeClr val="tx1"/>
                          </a:solidFill>
                        </a:rPr>
                        <a:t>4</a:t>
                      </a:r>
                      <a:endParaRPr lang="zh-TW" altLang="en-US"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53062115"/>
                  </a:ext>
                </a:extLst>
              </a:tr>
              <a:tr h="143961">
                <a:tc>
                  <a:txBody>
                    <a:bodyPr/>
                    <a:lstStyle/>
                    <a:p>
                      <a:pPr algn="ctr"/>
                      <a:endParaRPr lang="zh-TW" altLang="en-US"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3</a:t>
                      </a:r>
                      <a:endParaRPr lang="zh-TW" altLang="en-US"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4</a:t>
                      </a:r>
                      <a:endParaRPr lang="zh-TW" altLang="en-US"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4</a:t>
                      </a:r>
                      <a:endParaRPr lang="zh-TW" altLang="en-US"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8136128"/>
                  </a:ext>
                </a:extLst>
              </a:tr>
            </a:tbl>
          </a:graphicData>
        </a:graphic>
      </p:graphicFrame>
      <p:graphicFrame>
        <p:nvGraphicFramePr>
          <p:cNvPr id="11" name="表格 10"/>
          <p:cNvGraphicFramePr>
            <a:graphicFrameLocks noGrp="1"/>
          </p:cNvGraphicFramePr>
          <p:nvPr>
            <p:extLst>
              <p:ext uri="{D42A27DB-BD31-4B8C-83A1-F6EECF244321}">
                <p14:modId xmlns:p14="http://schemas.microsoft.com/office/powerpoint/2010/main" val="540357897"/>
              </p:ext>
            </p:extLst>
          </p:nvPr>
        </p:nvGraphicFramePr>
        <p:xfrm>
          <a:off x="1493767" y="2628320"/>
          <a:ext cx="3132872" cy="2560320"/>
        </p:xfrm>
        <a:graphic>
          <a:graphicData uri="http://schemas.openxmlformats.org/drawingml/2006/table">
            <a:tbl>
              <a:tblPr firstRow="1" bandRow="1">
                <a:tableStyleId>{5C22544A-7EE6-4342-B048-85BDC9FD1C3A}</a:tableStyleId>
              </a:tblPr>
              <a:tblGrid>
                <a:gridCol w="783218">
                  <a:extLst>
                    <a:ext uri="{9D8B030D-6E8A-4147-A177-3AD203B41FA5}">
                      <a16:colId xmlns:a16="http://schemas.microsoft.com/office/drawing/2014/main" val="4237493260"/>
                    </a:ext>
                  </a:extLst>
                </a:gridCol>
                <a:gridCol w="783218">
                  <a:extLst>
                    <a:ext uri="{9D8B030D-6E8A-4147-A177-3AD203B41FA5}">
                      <a16:colId xmlns:a16="http://schemas.microsoft.com/office/drawing/2014/main" val="613382575"/>
                    </a:ext>
                  </a:extLst>
                </a:gridCol>
                <a:gridCol w="783218">
                  <a:extLst>
                    <a:ext uri="{9D8B030D-6E8A-4147-A177-3AD203B41FA5}">
                      <a16:colId xmlns:a16="http://schemas.microsoft.com/office/drawing/2014/main" val="2789463043"/>
                    </a:ext>
                  </a:extLst>
                </a:gridCol>
                <a:gridCol w="783218">
                  <a:extLst>
                    <a:ext uri="{9D8B030D-6E8A-4147-A177-3AD203B41FA5}">
                      <a16:colId xmlns:a16="http://schemas.microsoft.com/office/drawing/2014/main" val="821627557"/>
                    </a:ext>
                  </a:extLst>
                </a:gridCol>
              </a:tblGrid>
              <a:tr h="260410">
                <a:tc>
                  <a:txBody>
                    <a:bodyPr/>
                    <a:lstStyle/>
                    <a:p>
                      <a:pPr algn="ctr"/>
                      <a:r>
                        <a:rPr lang="en-US" altLang="zh-TW" b="0" dirty="0">
                          <a:solidFill>
                            <a:schemeClr val="tx1"/>
                          </a:solidFill>
                        </a:rPr>
                        <a:t>6</a:t>
                      </a:r>
                      <a:endParaRPr lang="zh-TW" altLang="en-US"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11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11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15881590"/>
                  </a:ext>
                </a:extLst>
              </a:tr>
              <a:tr h="260410">
                <a:tc>
                  <a:txBody>
                    <a:bodyPr/>
                    <a:lstStyle/>
                    <a:p>
                      <a:pPr algn="ctr"/>
                      <a:r>
                        <a:rPr lang="en-US" altLang="zh-TW" b="0" dirty="0">
                          <a:solidFill>
                            <a:schemeClr val="tx1"/>
                          </a:solidFill>
                        </a:rPr>
                        <a:t>6</a:t>
                      </a:r>
                      <a:endParaRPr lang="zh-TW" altLang="en-US"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13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69545818"/>
                  </a:ext>
                </a:extLst>
              </a:tr>
              <a:tr h="260410">
                <a:tc>
                  <a:txBody>
                    <a:bodyPr/>
                    <a:lstStyle/>
                    <a:p>
                      <a:pPr algn="ctr"/>
                      <a:r>
                        <a:rPr lang="en-US" altLang="zh-TW" b="0" dirty="0">
                          <a:solidFill>
                            <a:schemeClr val="tx1"/>
                          </a:solidFill>
                        </a:rPr>
                        <a:t>7</a:t>
                      </a:r>
                      <a:endParaRPr lang="zh-TW" altLang="en-US"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10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2614461"/>
                  </a:ext>
                </a:extLst>
              </a:tr>
              <a:tr h="260410">
                <a:tc>
                  <a:txBody>
                    <a:bodyPr/>
                    <a:lstStyle/>
                    <a:p>
                      <a:pPr algn="ctr"/>
                      <a:r>
                        <a:rPr lang="en-US" altLang="zh-TW" b="0" dirty="0">
                          <a:solidFill>
                            <a:schemeClr val="tx1"/>
                          </a:solidFill>
                        </a:rPr>
                        <a:t>6</a:t>
                      </a:r>
                      <a:endParaRPr lang="zh-TW" altLang="en-US"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2135287"/>
                  </a:ext>
                </a:extLst>
              </a:tr>
              <a:tr h="260410">
                <a:tc>
                  <a:txBody>
                    <a:bodyPr/>
                    <a:lstStyle/>
                    <a:p>
                      <a:pPr algn="ctr"/>
                      <a:r>
                        <a:rPr lang="en-US" altLang="zh-TW" b="0" dirty="0">
                          <a:solidFill>
                            <a:schemeClr val="tx1"/>
                          </a:solidFill>
                        </a:rPr>
                        <a:t>5</a:t>
                      </a:r>
                      <a:endParaRPr lang="zh-TW" altLang="en-US"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rgbClr val="FF0000"/>
                          </a:solidFill>
                        </a:rPr>
                        <a:t>2</a:t>
                      </a:r>
                      <a:endParaRPr lang="zh-TW" altLang="en-US" b="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7455025"/>
                  </a:ext>
                </a:extLst>
              </a:tr>
              <a:tr h="260410">
                <a:tc>
                  <a:txBody>
                    <a:bodyPr/>
                    <a:lstStyle/>
                    <a:p>
                      <a:pPr algn="ctr"/>
                      <a:r>
                        <a:rPr lang="en-US" altLang="zh-TW" b="0" dirty="0">
                          <a:solidFill>
                            <a:schemeClr val="tx1"/>
                          </a:solidFill>
                        </a:rPr>
                        <a:t>4</a:t>
                      </a:r>
                      <a:endParaRPr lang="zh-TW" altLang="en-US"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308628"/>
                  </a:ext>
                </a:extLst>
              </a:tr>
              <a:tr h="260410">
                <a:tc>
                  <a:txBody>
                    <a:bodyPr/>
                    <a:lstStyle/>
                    <a:p>
                      <a:pPr algn="ctr"/>
                      <a:endParaRPr lang="zh-TW" altLang="en-US"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3</a:t>
                      </a:r>
                      <a:endParaRPr lang="zh-TW" altLang="en-US"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4</a:t>
                      </a:r>
                      <a:endParaRPr lang="zh-TW" altLang="en-US"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4</a:t>
                      </a:r>
                      <a:endParaRPr lang="zh-TW" altLang="en-US"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73932831"/>
                  </a:ext>
                </a:extLst>
              </a:tr>
            </a:tbl>
          </a:graphicData>
        </a:graphic>
      </p:graphicFrame>
      <p:sp>
        <p:nvSpPr>
          <p:cNvPr id="12" name="橢圓 11"/>
          <p:cNvSpPr/>
          <p:nvPr/>
        </p:nvSpPr>
        <p:spPr>
          <a:xfrm>
            <a:off x="4626639" y="3548467"/>
            <a:ext cx="772468" cy="76742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4" name="文字方塊 13"/>
              <p:cNvSpPr txBox="1"/>
              <p:nvPr/>
            </p:nvSpPr>
            <p:spPr>
              <a:xfrm>
                <a:off x="541779" y="5686235"/>
                <a:ext cx="2425061" cy="646331"/>
              </a:xfrm>
              <a:prstGeom prst="rect">
                <a:avLst/>
              </a:prstGeom>
              <a:noFill/>
            </p:spPr>
            <p:txBody>
              <a:bodyPr wrap="square" rtlCol="0">
                <a:spAutoFit/>
              </a:bodyPr>
              <a:lstStyle/>
              <a:p>
                <a:r>
                  <a:rPr lang="en-US" altLang="zh-TW" dirty="0"/>
                  <a:t>answer set</a:t>
                </a:r>
                <a:r>
                  <a:rPr lang="zh-TW" altLang="en-US" dirty="0"/>
                  <a:t>：</a:t>
                </a:r>
                <a14:m>
                  <m:oMath xmlns:m="http://schemas.openxmlformats.org/officeDocument/2006/math">
                    <m:r>
                      <a:rPr lang="en-US" altLang="zh-TW" i="1">
                        <a:latin typeface="Cambria Math" panose="02040503050406030204" pitchFamily="18" charset="0"/>
                        <a:ea typeface="Cambria Math" panose="02040503050406030204" pitchFamily="18" charset="0"/>
                      </a:rPr>
                      <m:t>&lt;4&gt;</m:t>
                    </m:r>
                  </m:oMath>
                </a14:m>
                <a:endParaRPr lang="en-US" altLang="zh-TW" dirty="0">
                  <a:ea typeface="Cambria Math" panose="02040503050406030204" pitchFamily="18" charset="0"/>
                </a:endParaRPr>
              </a:p>
              <a:p>
                <a:r>
                  <a:rPr lang="en-US" altLang="zh-TW" dirty="0">
                    <a:ea typeface="Cambria Math" panose="02040503050406030204" pitchFamily="18" charset="0"/>
                  </a:rPr>
                  <a:t>                       </a:t>
                </a:r>
                <a14:m>
                  <m:oMath xmlns:m="http://schemas.openxmlformats.org/officeDocument/2006/math">
                    <m:r>
                      <a:rPr lang="en-US" altLang="zh-TW" i="1">
                        <a:latin typeface="Cambria Math" panose="02040503050406030204" pitchFamily="18" charset="0"/>
                        <a:ea typeface="Cambria Math" panose="02040503050406030204" pitchFamily="18" charset="0"/>
                      </a:rPr>
                      <m:t>&lt;4</m:t>
                    </m:r>
                    <m:r>
                      <a:rPr lang="en-US" altLang="zh-TW" b="0" i="1" smtClean="0">
                        <a:latin typeface="Cambria Math" panose="02040503050406030204" pitchFamily="18" charset="0"/>
                        <a:ea typeface="Cambria Math" panose="02040503050406030204" pitchFamily="18" charset="0"/>
                      </a:rPr>
                      <m:t>, 5</m:t>
                    </m:r>
                    <m:r>
                      <a:rPr lang="en-US" altLang="zh-TW" i="1">
                        <a:latin typeface="Cambria Math" panose="02040503050406030204" pitchFamily="18" charset="0"/>
                        <a:ea typeface="Cambria Math" panose="02040503050406030204" pitchFamily="18" charset="0"/>
                      </a:rPr>
                      <m:t>&gt;</m:t>
                    </m:r>
                  </m:oMath>
                </a14:m>
                <a:endParaRPr lang="en-US" altLang="zh-TW" dirty="0">
                  <a:ea typeface="Cambria Math" panose="02040503050406030204" pitchFamily="18" charset="0"/>
                </a:endParaRPr>
              </a:p>
            </p:txBody>
          </p:sp>
        </mc:Choice>
        <mc:Fallback xmlns="">
          <p:sp>
            <p:nvSpPr>
              <p:cNvPr id="14" name="文字方塊 13"/>
              <p:cNvSpPr txBox="1">
                <a:spLocks noRot="1" noChangeAspect="1" noMove="1" noResize="1" noEditPoints="1" noAdjustHandles="1" noChangeArrowheads="1" noChangeShapeType="1" noTextEdit="1"/>
              </p:cNvSpPr>
              <p:nvPr/>
            </p:nvSpPr>
            <p:spPr>
              <a:xfrm>
                <a:off x="541779" y="5686235"/>
                <a:ext cx="2425061" cy="646331"/>
              </a:xfrm>
              <a:prstGeom prst="rect">
                <a:avLst/>
              </a:prstGeom>
              <a:blipFill>
                <a:blip r:embed="rId4"/>
                <a:stretch>
                  <a:fillRect l="-2261" t="-566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5927266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76429" y="1143930"/>
            <a:ext cx="3271788" cy="400110"/>
          </a:xfrm>
          <a:prstGeom prst="rect">
            <a:avLst/>
          </a:prstGeom>
        </p:spPr>
        <p:txBody>
          <a:bodyPr wrap="square">
            <a:spAutoFit/>
          </a:bodyPr>
          <a:lstStyle/>
          <a:p>
            <a:r>
              <a:rPr lang="en-US" altLang="zh-TW" sz="2000" dirty="0">
                <a:latin typeface="Times New Roman" panose="02020603050405020304" pitchFamily="18" charset="0"/>
                <a:cs typeface="Times New Roman" panose="02020603050405020304" pitchFamily="18" charset="0"/>
              </a:rPr>
              <a:t>user-given threshold</a:t>
            </a:r>
            <a:r>
              <a:rPr lang="zh-TW" altLang="en-US" sz="2000" dirty="0">
                <a:latin typeface="Times New Roman" panose="02020603050405020304" pitchFamily="18" charset="0"/>
                <a:cs typeface="Times New Roman" panose="02020603050405020304" pitchFamily="18" charset="0"/>
              </a:rPr>
              <a:t>：</a:t>
            </a:r>
            <a:r>
              <a:rPr lang="en-US" altLang="zh-TW" sz="2000" dirty="0">
                <a:latin typeface="Times New Roman" panose="02020603050405020304" pitchFamily="18" charset="0"/>
                <a:cs typeface="Times New Roman" panose="02020603050405020304" pitchFamily="18" charset="0"/>
              </a:rPr>
              <a:t>Ɛ = 2</a:t>
            </a:r>
            <a:endParaRPr lang="zh-TW" altLang="en-US" sz="2000" dirty="0"/>
          </a:p>
        </p:txBody>
      </p:sp>
      <mc:AlternateContent xmlns:mc="http://schemas.openxmlformats.org/markup-compatibility/2006" xmlns:a14="http://schemas.microsoft.com/office/drawing/2010/main">
        <mc:Choice Requires="a14">
          <p:sp>
            <p:nvSpPr>
              <p:cNvPr id="5" name="文字方塊 4"/>
              <p:cNvSpPr txBox="1"/>
              <p:nvPr/>
            </p:nvSpPr>
            <p:spPr>
              <a:xfrm>
                <a:off x="776429" y="1747319"/>
                <a:ext cx="1760803" cy="707886"/>
              </a:xfrm>
              <a:prstGeom prst="rect">
                <a:avLst/>
              </a:prstGeom>
              <a:noFill/>
            </p:spPr>
            <p:txBody>
              <a:bodyPr wrap="none" rtlCol="0">
                <a:spAutoFit/>
              </a:bodyPr>
              <a:lstStyle/>
              <a:p>
                <a:r>
                  <a:rPr lang="en-US" altLang="zh-TW" sz="2000" dirty="0">
                    <a:latin typeface="Times New Roman" panose="02020603050405020304" pitchFamily="18" charset="0"/>
                    <a:cs typeface="Times New Roman" panose="02020603050405020304" pitchFamily="18" charset="0"/>
                  </a:rPr>
                  <a:t>Q</a:t>
                </a:r>
                <a:r>
                  <a:rPr lang="zh-TW" altLang="en-US" sz="2000" dirty="0">
                    <a:latin typeface="Times New Roman" panose="02020603050405020304" pitchFamily="18" charset="0"/>
                    <a:cs typeface="Times New Roman" panose="02020603050405020304" pitchFamily="18" charset="0"/>
                  </a:rPr>
                  <a:t>：</a:t>
                </a:r>
                <a14:m>
                  <m:oMath xmlns:m="http://schemas.openxmlformats.org/officeDocument/2006/math">
                    <m:r>
                      <a:rPr lang="en-US" altLang="zh-TW" sz="2000" i="1">
                        <a:latin typeface="Cambria Math" panose="02040503050406030204" pitchFamily="18" charset="0"/>
                        <a:ea typeface="Cambria Math" panose="02040503050406030204" pitchFamily="18" charset="0"/>
                      </a:rPr>
                      <m:t>&lt;3, 4, </m:t>
                    </m:r>
                    <m:r>
                      <a:rPr lang="en-US" altLang="zh-TW" sz="2000" b="0" i="1" smtClean="0">
                        <a:latin typeface="Cambria Math" panose="02040503050406030204" pitchFamily="18" charset="0"/>
                        <a:ea typeface="Cambria Math" panose="02040503050406030204" pitchFamily="18" charset="0"/>
                      </a:rPr>
                      <m:t>4</m:t>
                    </m:r>
                    <m:r>
                      <a:rPr lang="en-US" altLang="zh-TW" sz="2000" i="1">
                        <a:latin typeface="Cambria Math" panose="02040503050406030204" pitchFamily="18" charset="0"/>
                        <a:ea typeface="Cambria Math" panose="02040503050406030204" pitchFamily="18" charset="0"/>
                      </a:rPr>
                      <m:t>&gt;</m:t>
                    </m:r>
                  </m:oMath>
                </a14:m>
                <a:endParaRPr lang="zh-TW" altLang="en-US" sz="2000" dirty="0">
                  <a:latin typeface="Times New Roman" panose="02020603050405020304" pitchFamily="18" charset="0"/>
                  <a:cs typeface="Times New Roman" panose="02020603050405020304" pitchFamily="18" charset="0"/>
                </a:endParaRPr>
              </a:p>
              <a:p>
                <a:endParaRPr lang="zh-TW" altLang="en-US" sz="2000" dirty="0">
                  <a:latin typeface="Times New Roman" panose="02020603050405020304" pitchFamily="18" charset="0"/>
                  <a:cs typeface="Times New Roman" panose="02020603050405020304" pitchFamily="18" charset="0"/>
                </a:endParaRPr>
              </a:p>
            </p:txBody>
          </p:sp>
        </mc:Choice>
        <mc:Fallback xmlns="">
          <p:sp>
            <p:nvSpPr>
              <p:cNvPr id="5" name="文字方塊 4"/>
              <p:cNvSpPr txBox="1">
                <a:spLocks noRot="1" noChangeAspect="1" noMove="1" noResize="1" noEditPoints="1" noAdjustHandles="1" noChangeArrowheads="1" noChangeShapeType="1" noTextEdit="1"/>
              </p:cNvSpPr>
              <p:nvPr/>
            </p:nvSpPr>
            <p:spPr>
              <a:xfrm>
                <a:off x="776429" y="1747319"/>
                <a:ext cx="1760803" cy="707886"/>
              </a:xfrm>
              <a:prstGeom prst="rect">
                <a:avLst/>
              </a:prstGeom>
              <a:blipFill>
                <a:blip r:embed="rId2"/>
                <a:stretch>
                  <a:fillRect l="-3460" t="-5172"/>
                </a:stretch>
              </a:blipFill>
            </p:spPr>
            <p:txBody>
              <a:bodyPr/>
              <a:lstStyle/>
              <a:p>
                <a:r>
                  <a:rPr lang="zh-TW" altLang="en-US">
                    <a:noFill/>
                  </a:rPr>
                  <a:t> </a:t>
                </a:r>
              </a:p>
            </p:txBody>
          </p:sp>
        </mc:Fallback>
      </mc:AlternateContent>
      <p:pic>
        <p:nvPicPr>
          <p:cNvPr id="6" name="圖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10523" y="772357"/>
            <a:ext cx="7347184" cy="5283210"/>
          </a:xfrm>
          <a:prstGeom prst="rect">
            <a:avLst/>
          </a:prstGeom>
        </p:spPr>
      </p:pic>
      <p:sp>
        <p:nvSpPr>
          <p:cNvPr id="7" name="箭號: 向右 6"/>
          <p:cNvSpPr/>
          <p:nvPr/>
        </p:nvSpPr>
        <p:spPr>
          <a:xfrm>
            <a:off x="7146524" y="1322098"/>
            <a:ext cx="417250" cy="221942"/>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8" name="表格 7"/>
          <p:cNvGraphicFramePr>
            <a:graphicFrameLocks noGrp="1"/>
          </p:cNvGraphicFramePr>
          <p:nvPr>
            <p:extLst>
              <p:ext uri="{D42A27DB-BD31-4B8C-83A1-F6EECF244321}">
                <p14:modId xmlns:p14="http://schemas.microsoft.com/office/powerpoint/2010/main" val="2142150550"/>
              </p:ext>
            </p:extLst>
          </p:nvPr>
        </p:nvGraphicFramePr>
        <p:xfrm>
          <a:off x="4818384" y="1072188"/>
          <a:ext cx="1700340" cy="736600"/>
        </p:xfrm>
        <a:graphic>
          <a:graphicData uri="http://schemas.openxmlformats.org/drawingml/2006/table">
            <a:tbl>
              <a:tblPr firstRow="1" bandRow="1">
                <a:tableStyleId>{5C22544A-7EE6-4342-B048-85BDC9FD1C3A}</a:tableStyleId>
              </a:tblPr>
              <a:tblGrid>
                <a:gridCol w="425085">
                  <a:extLst>
                    <a:ext uri="{9D8B030D-6E8A-4147-A177-3AD203B41FA5}">
                      <a16:colId xmlns:a16="http://schemas.microsoft.com/office/drawing/2014/main" val="3309848897"/>
                    </a:ext>
                  </a:extLst>
                </a:gridCol>
                <a:gridCol w="425085">
                  <a:extLst>
                    <a:ext uri="{9D8B030D-6E8A-4147-A177-3AD203B41FA5}">
                      <a16:colId xmlns:a16="http://schemas.microsoft.com/office/drawing/2014/main" val="3254637770"/>
                    </a:ext>
                  </a:extLst>
                </a:gridCol>
                <a:gridCol w="425085">
                  <a:extLst>
                    <a:ext uri="{9D8B030D-6E8A-4147-A177-3AD203B41FA5}">
                      <a16:colId xmlns:a16="http://schemas.microsoft.com/office/drawing/2014/main" val="4243929150"/>
                    </a:ext>
                  </a:extLst>
                </a:gridCol>
                <a:gridCol w="425085">
                  <a:extLst>
                    <a:ext uri="{9D8B030D-6E8A-4147-A177-3AD203B41FA5}">
                      <a16:colId xmlns:a16="http://schemas.microsoft.com/office/drawing/2014/main" val="1047457791"/>
                    </a:ext>
                  </a:extLst>
                </a:gridCol>
              </a:tblGrid>
              <a:tr h="370840">
                <a:tc>
                  <a:txBody>
                    <a:bodyPr/>
                    <a:lstStyle/>
                    <a:p>
                      <a:pPr algn="ctr"/>
                      <a:r>
                        <a:rPr lang="en-US" altLang="zh-TW" b="0" dirty="0">
                          <a:solidFill>
                            <a:schemeClr val="tx1"/>
                          </a:solidFill>
                        </a:rPr>
                        <a:t>4</a:t>
                      </a:r>
                      <a:endParaRPr lang="zh-TW" altLang="en-US"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53062115"/>
                  </a:ext>
                </a:extLst>
              </a:tr>
              <a:tr h="143961">
                <a:tc>
                  <a:txBody>
                    <a:bodyPr/>
                    <a:lstStyle/>
                    <a:p>
                      <a:pPr algn="ctr"/>
                      <a:endParaRPr lang="zh-TW" altLang="en-US"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3</a:t>
                      </a:r>
                      <a:endParaRPr lang="zh-TW" altLang="en-US"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4</a:t>
                      </a:r>
                      <a:endParaRPr lang="zh-TW" altLang="en-US"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4</a:t>
                      </a:r>
                      <a:endParaRPr lang="zh-TW" altLang="en-US"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8136128"/>
                  </a:ext>
                </a:extLst>
              </a:tr>
            </a:tbl>
          </a:graphicData>
        </a:graphic>
      </p:graphicFrame>
      <p:graphicFrame>
        <p:nvGraphicFramePr>
          <p:cNvPr id="9" name="表格 8"/>
          <p:cNvGraphicFramePr>
            <a:graphicFrameLocks noGrp="1"/>
          </p:cNvGraphicFramePr>
          <p:nvPr>
            <p:extLst>
              <p:ext uri="{D42A27DB-BD31-4B8C-83A1-F6EECF244321}">
                <p14:modId xmlns:p14="http://schemas.microsoft.com/office/powerpoint/2010/main" val="1410159618"/>
              </p:ext>
            </p:extLst>
          </p:nvPr>
        </p:nvGraphicFramePr>
        <p:xfrm>
          <a:off x="2653260" y="2255374"/>
          <a:ext cx="1970844" cy="2133600"/>
        </p:xfrm>
        <a:graphic>
          <a:graphicData uri="http://schemas.openxmlformats.org/drawingml/2006/table">
            <a:tbl>
              <a:tblPr firstRow="1" bandRow="1">
                <a:tableStyleId>{5C22544A-7EE6-4342-B048-85BDC9FD1C3A}</a:tableStyleId>
              </a:tblPr>
              <a:tblGrid>
                <a:gridCol w="492711">
                  <a:extLst>
                    <a:ext uri="{9D8B030D-6E8A-4147-A177-3AD203B41FA5}">
                      <a16:colId xmlns:a16="http://schemas.microsoft.com/office/drawing/2014/main" val="4237493260"/>
                    </a:ext>
                  </a:extLst>
                </a:gridCol>
                <a:gridCol w="492711">
                  <a:extLst>
                    <a:ext uri="{9D8B030D-6E8A-4147-A177-3AD203B41FA5}">
                      <a16:colId xmlns:a16="http://schemas.microsoft.com/office/drawing/2014/main" val="613382575"/>
                    </a:ext>
                  </a:extLst>
                </a:gridCol>
                <a:gridCol w="492711">
                  <a:extLst>
                    <a:ext uri="{9D8B030D-6E8A-4147-A177-3AD203B41FA5}">
                      <a16:colId xmlns:a16="http://schemas.microsoft.com/office/drawing/2014/main" val="2789463043"/>
                    </a:ext>
                  </a:extLst>
                </a:gridCol>
                <a:gridCol w="492711">
                  <a:extLst>
                    <a:ext uri="{9D8B030D-6E8A-4147-A177-3AD203B41FA5}">
                      <a16:colId xmlns:a16="http://schemas.microsoft.com/office/drawing/2014/main" val="821627557"/>
                    </a:ext>
                  </a:extLst>
                </a:gridCol>
              </a:tblGrid>
              <a:tr h="253046">
                <a:tc>
                  <a:txBody>
                    <a:bodyPr/>
                    <a:lstStyle/>
                    <a:p>
                      <a:pPr algn="ctr"/>
                      <a:r>
                        <a:rPr lang="en-US" altLang="zh-TW" sz="1400" b="0" dirty="0">
                          <a:solidFill>
                            <a:schemeClr val="tx1"/>
                          </a:solidFill>
                        </a:rPr>
                        <a:t>6</a:t>
                      </a:r>
                      <a:endParaRPr lang="zh-TW" altLang="en-US" sz="1400"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400" b="0" dirty="0">
                          <a:solidFill>
                            <a:schemeClr val="tx1"/>
                          </a:solidFill>
                        </a:rPr>
                        <a:t>16</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400" b="0" dirty="0">
                          <a:solidFill>
                            <a:schemeClr val="tx1"/>
                          </a:solidFill>
                        </a:rPr>
                        <a:t>11</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400" b="0" dirty="0">
                          <a:solidFill>
                            <a:schemeClr val="tx1"/>
                          </a:solidFill>
                        </a:rPr>
                        <a:t>11</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15881590"/>
                  </a:ext>
                </a:extLst>
              </a:tr>
              <a:tr h="253046">
                <a:tc>
                  <a:txBody>
                    <a:bodyPr/>
                    <a:lstStyle/>
                    <a:p>
                      <a:pPr algn="ctr"/>
                      <a:r>
                        <a:rPr lang="en-US" altLang="zh-TW" sz="1400" b="0" dirty="0">
                          <a:solidFill>
                            <a:schemeClr val="tx1"/>
                          </a:solidFill>
                        </a:rPr>
                        <a:t>6</a:t>
                      </a:r>
                      <a:endParaRPr lang="zh-TW" altLang="en-US" sz="1400"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400" b="0" dirty="0">
                          <a:solidFill>
                            <a:schemeClr val="tx1"/>
                          </a:solidFill>
                        </a:rPr>
                        <a:t>13</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400" b="0" dirty="0">
                          <a:solidFill>
                            <a:schemeClr val="tx1"/>
                          </a:solidFill>
                        </a:rPr>
                        <a:t>9</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400" b="0" dirty="0">
                          <a:solidFill>
                            <a:schemeClr val="tx1"/>
                          </a:solidFill>
                        </a:rPr>
                        <a:t>9</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69545818"/>
                  </a:ext>
                </a:extLst>
              </a:tr>
              <a:tr h="253046">
                <a:tc>
                  <a:txBody>
                    <a:bodyPr/>
                    <a:lstStyle/>
                    <a:p>
                      <a:pPr algn="ctr"/>
                      <a:r>
                        <a:rPr lang="en-US" altLang="zh-TW" sz="1400" b="0" dirty="0">
                          <a:solidFill>
                            <a:schemeClr val="tx1"/>
                          </a:solidFill>
                        </a:rPr>
                        <a:t>7</a:t>
                      </a:r>
                      <a:endParaRPr lang="zh-TW" altLang="en-US" sz="1400"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400" b="0" dirty="0">
                          <a:solidFill>
                            <a:schemeClr val="tx1"/>
                          </a:solidFill>
                        </a:rPr>
                        <a:t>10</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400" b="0" dirty="0">
                          <a:solidFill>
                            <a:schemeClr val="tx1"/>
                          </a:solidFill>
                        </a:rPr>
                        <a:t>7</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400" b="0" dirty="0">
                          <a:solidFill>
                            <a:schemeClr val="tx1"/>
                          </a:solidFill>
                        </a:rPr>
                        <a:t>7</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2614461"/>
                  </a:ext>
                </a:extLst>
              </a:tr>
              <a:tr h="253046">
                <a:tc>
                  <a:txBody>
                    <a:bodyPr/>
                    <a:lstStyle/>
                    <a:p>
                      <a:pPr algn="ctr"/>
                      <a:r>
                        <a:rPr lang="en-US" altLang="zh-TW" sz="1400" b="0" dirty="0">
                          <a:solidFill>
                            <a:schemeClr val="tx1"/>
                          </a:solidFill>
                        </a:rPr>
                        <a:t>6</a:t>
                      </a:r>
                      <a:endParaRPr lang="zh-TW" altLang="en-US" sz="1400"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400" b="0" dirty="0">
                          <a:solidFill>
                            <a:schemeClr val="tx1"/>
                          </a:solidFill>
                        </a:rPr>
                        <a:t>6</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400" b="0" dirty="0">
                          <a:solidFill>
                            <a:schemeClr val="tx1"/>
                          </a:solidFill>
                        </a:rPr>
                        <a:t>4</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400" b="0" dirty="0">
                          <a:solidFill>
                            <a:schemeClr val="tx1"/>
                          </a:solidFill>
                        </a:rPr>
                        <a:t>4</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2135287"/>
                  </a:ext>
                </a:extLst>
              </a:tr>
              <a:tr h="253046">
                <a:tc>
                  <a:txBody>
                    <a:bodyPr/>
                    <a:lstStyle/>
                    <a:p>
                      <a:pPr algn="ctr"/>
                      <a:r>
                        <a:rPr lang="en-US" altLang="zh-TW" sz="1400" b="0" dirty="0">
                          <a:solidFill>
                            <a:schemeClr val="tx1"/>
                          </a:solidFill>
                        </a:rPr>
                        <a:t>5</a:t>
                      </a:r>
                      <a:endParaRPr lang="zh-TW" altLang="en-US" sz="1400"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400" b="0" dirty="0">
                          <a:solidFill>
                            <a:schemeClr val="tx1"/>
                          </a:solidFill>
                        </a:rPr>
                        <a:t>2</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400" b="0" dirty="0">
                          <a:solidFill>
                            <a:srgbClr val="FF0000"/>
                          </a:solidFill>
                        </a:rPr>
                        <a:t>2</a:t>
                      </a:r>
                      <a:endParaRPr lang="zh-TW" altLang="en-US" sz="1400" b="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7455025"/>
                  </a:ext>
                </a:extLst>
              </a:tr>
              <a:tr h="253046">
                <a:tc>
                  <a:txBody>
                    <a:bodyPr/>
                    <a:lstStyle/>
                    <a:p>
                      <a:pPr algn="ctr"/>
                      <a:r>
                        <a:rPr lang="en-US" altLang="zh-TW" sz="1400" b="0" dirty="0">
                          <a:solidFill>
                            <a:schemeClr val="tx1"/>
                          </a:solidFill>
                        </a:rPr>
                        <a:t>4</a:t>
                      </a:r>
                      <a:endParaRPr lang="zh-TW" altLang="en-US" sz="1400"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400" b="0" dirty="0">
                          <a:solidFill>
                            <a:schemeClr val="tx1"/>
                          </a:solidFill>
                        </a:rPr>
                        <a:t>1</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400" b="0" dirty="0">
                          <a:solidFill>
                            <a:schemeClr val="tx1"/>
                          </a:solidFill>
                        </a:rPr>
                        <a:t>1</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400" b="0" dirty="0">
                          <a:solidFill>
                            <a:schemeClr val="tx1"/>
                          </a:solidFill>
                        </a:rPr>
                        <a:t>1</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308628"/>
                  </a:ext>
                </a:extLst>
              </a:tr>
              <a:tr h="253046">
                <a:tc>
                  <a:txBody>
                    <a:bodyPr/>
                    <a:lstStyle/>
                    <a:p>
                      <a:pPr algn="ctr"/>
                      <a:endParaRPr lang="zh-TW" altLang="en-US" sz="14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400" b="0" dirty="0">
                          <a:solidFill>
                            <a:schemeClr val="tx1"/>
                          </a:solidFill>
                        </a:rPr>
                        <a:t>4</a:t>
                      </a:r>
                      <a:endParaRPr lang="zh-TW" altLang="en-US" sz="14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400" b="0" dirty="0">
                          <a:solidFill>
                            <a:schemeClr val="tx1"/>
                          </a:solidFill>
                        </a:rPr>
                        <a:t>4</a:t>
                      </a:r>
                      <a:endParaRPr lang="zh-TW" altLang="en-US" sz="14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73932831"/>
                  </a:ext>
                </a:extLst>
              </a:tr>
            </a:tbl>
          </a:graphicData>
        </a:graphic>
      </p:graphicFrame>
      <p:sp>
        <p:nvSpPr>
          <p:cNvPr id="10" name="橢圓 9"/>
          <p:cNvSpPr/>
          <p:nvPr/>
        </p:nvSpPr>
        <p:spPr>
          <a:xfrm>
            <a:off x="5327974" y="3548467"/>
            <a:ext cx="772468" cy="76742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1" name="文字方塊 10"/>
              <p:cNvSpPr txBox="1"/>
              <p:nvPr/>
            </p:nvSpPr>
            <p:spPr>
              <a:xfrm>
                <a:off x="541779" y="5686235"/>
                <a:ext cx="2425061" cy="646331"/>
              </a:xfrm>
              <a:prstGeom prst="rect">
                <a:avLst/>
              </a:prstGeom>
              <a:noFill/>
            </p:spPr>
            <p:txBody>
              <a:bodyPr wrap="square" rtlCol="0">
                <a:spAutoFit/>
              </a:bodyPr>
              <a:lstStyle/>
              <a:p>
                <a:r>
                  <a:rPr lang="en-US" altLang="zh-TW" dirty="0"/>
                  <a:t>answer set</a:t>
                </a:r>
                <a:r>
                  <a:rPr lang="zh-TW" altLang="en-US" dirty="0"/>
                  <a:t>：</a:t>
                </a:r>
                <a14:m>
                  <m:oMath xmlns:m="http://schemas.openxmlformats.org/officeDocument/2006/math">
                    <m:r>
                      <a:rPr lang="en-US" altLang="zh-TW" i="1">
                        <a:latin typeface="Cambria Math" panose="02040503050406030204" pitchFamily="18" charset="0"/>
                        <a:ea typeface="Cambria Math" panose="02040503050406030204" pitchFamily="18" charset="0"/>
                      </a:rPr>
                      <m:t>&lt;4&gt;</m:t>
                    </m:r>
                  </m:oMath>
                </a14:m>
                <a:endParaRPr lang="en-US" altLang="zh-TW" dirty="0">
                  <a:ea typeface="Cambria Math" panose="02040503050406030204" pitchFamily="18" charset="0"/>
                </a:endParaRPr>
              </a:p>
              <a:p>
                <a:r>
                  <a:rPr lang="en-US" altLang="zh-TW" dirty="0">
                    <a:ea typeface="Cambria Math" panose="02040503050406030204" pitchFamily="18" charset="0"/>
                  </a:rPr>
                  <a:t>                       </a:t>
                </a:r>
                <a14:m>
                  <m:oMath xmlns:m="http://schemas.openxmlformats.org/officeDocument/2006/math">
                    <m:r>
                      <a:rPr lang="en-US" altLang="zh-TW" i="1">
                        <a:latin typeface="Cambria Math" panose="02040503050406030204" pitchFamily="18" charset="0"/>
                        <a:ea typeface="Cambria Math" panose="02040503050406030204" pitchFamily="18" charset="0"/>
                      </a:rPr>
                      <m:t>&lt;4</m:t>
                    </m:r>
                    <m:r>
                      <a:rPr lang="en-US" altLang="zh-TW" b="0" i="1" smtClean="0">
                        <a:latin typeface="Cambria Math" panose="02040503050406030204" pitchFamily="18" charset="0"/>
                        <a:ea typeface="Cambria Math" panose="02040503050406030204" pitchFamily="18" charset="0"/>
                      </a:rPr>
                      <m:t>, 5</m:t>
                    </m:r>
                    <m:r>
                      <a:rPr lang="en-US" altLang="zh-TW" i="1">
                        <a:latin typeface="Cambria Math" panose="02040503050406030204" pitchFamily="18" charset="0"/>
                        <a:ea typeface="Cambria Math" panose="02040503050406030204" pitchFamily="18" charset="0"/>
                      </a:rPr>
                      <m:t>&gt;</m:t>
                    </m:r>
                  </m:oMath>
                </a14:m>
                <a:endParaRPr lang="en-US" altLang="zh-TW" dirty="0">
                  <a:ea typeface="Cambria Math" panose="02040503050406030204" pitchFamily="18" charset="0"/>
                </a:endParaRPr>
              </a:p>
            </p:txBody>
          </p:sp>
        </mc:Choice>
        <mc:Fallback xmlns="">
          <p:sp>
            <p:nvSpPr>
              <p:cNvPr id="11" name="文字方塊 10"/>
              <p:cNvSpPr txBox="1">
                <a:spLocks noRot="1" noChangeAspect="1" noMove="1" noResize="1" noEditPoints="1" noAdjustHandles="1" noChangeArrowheads="1" noChangeShapeType="1" noTextEdit="1"/>
              </p:cNvSpPr>
              <p:nvPr/>
            </p:nvSpPr>
            <p:spPr>
              <a:xfrm>
                <a:off x="541779" y="5686235"/>
                <a:ext cx="2425061" cy="646331"/>
              </a:xfrm>
              <a:prstGeom prst="rect">
                <a:avLst/>
              </a:prstGeom>
              <a:blipFill>
                <a:blip r:embed="rId4"/>
                <a:stretch>
                  <a:fillRect l="-2261" t="-5660"/>
                </a:stretch>
              </a:blipFill>
            </p:spPr>
            <p:txBody>
              <a:bodyPr/>
              <a:lstStyle/>
              <a:p>
                <a:r>
                  <a:rPr lang="zh-TW" altLang="en-US">
                    <a:noFill/>
                  </a:rPr>
                  <a:t> </a:t>
                </a:r>
              </a:p>
            </p:txBody>
          </p:sp>
        </mc:Fallback>
      </mc:AlternateContent>
      <p:graphicFrame>
        <p:nvGraphicFramePr>
          <p:cNvPr id="12" name="表格 11"/>
          <p:cNvGraphicFramePr>
            <a:graphicFrameLocks noGrp="1"/>
          </p:cNvGraphicFramePr>
          <p:nvPr>
            <p:extLst>
              <p:ext uri="{D42A27DB-BD31-4B8C-83A1-F6EECF244321}">
                <p14:modId xmlns:p14="http://schemas.microsoft.com/office/powerpoint/2010/main" val="1002932748"/>
              </p:ext>
            </p:extLst>
          </p:nvPr>
        </p:nvGraphicFramePr>
        <p:xfrm>
          <a:off x="4818384" y="1072188"/>
          <a:ext cx="1700340" cy="736600"/>
        </p:xfrm>
        <a:graphic>
          <a:graphicData uri="http://schemas.openxmlformats.org/drawingml/2006/table">
            <a:tbl>
              <a:tblPr firstRow="1" bandRow="1">
                <a:tableStyleId>{5C22544A-7EE6-4342-B048-85BDC9FD1C3A}</a:tableStyleId>
              </a:tblPr>
              <a:tblGrid>
                <a:gridCol w="425085">
                  <a:extLst>
                    <a:ext uri="{9D8B030D-6E8A-4147-A177-3AD203B41FA5}">
                      <a16:colId xmlns:a16="http://schemas.microsoft.com/office/drawing/2014/main" val="3309848897"/>
                    </a:ext>
                  </a:extLst>
                </a:gridCol>
                <a:gridCol w="425085">
                  <a:extLst>
                    <a:ext uri="{9D8B030D-6E8A-4147-A177-3AD203B41FA5}">
                      <a16:colId xmlns:a16="http://schemas.microsoft.com/office/drawing/2014/main" val="3254637770"/>
                    </a:ext>
                  </a:extLst>
                </a:gridCol>
                <a:gridCol w="425085">
                  <a:extLst>
                    <a:ext uri="{9D8B030D-6E8A-4147-A177-3AD203B41FA5}">
                      <a16:colId xmlns:a16="http://schemas.microsoft.com/office/drawing/2014/main" val="4243929150"/>
                    </a:ext>
                  </a:extLst>
                </a:gridCol>
                <a:gridCol w="425085">
                  <a:extLst>
                    <a:ext uri="{9D8B030D-6E8A-4147-A177-3AD203B41FA5}">
                      <a16:colId xmlns:a16="http://schemas.microsoft.com/office/drawing/2014/main" val="1047457791"/>
                    </a:ext>
                  </a:extLst>
                </a:gridCol>
              </a:tblGrid>
              <a:tr h="370840">
                <a:tc>
                  <a:txBody>
                    <a:bodyPr/>
                    <a:lstStyle/>
                    <a:p>
                      <a:pPr algn="ctr"/>
                      <a:r>
                        <a:rPr lang="en-US" altLang="zh-TW" b="0" dirty="0">
                          <a:solidFill>
                            <a:schemeClr val="tx1"/>
                          </a:solidFill>
                        </a:rPr>
                        <a:t>4</a:t>
                      </a:r>
                      <a:endParaRPr lang="zh-TW" altLang="en-US"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53062115"/>
                  </a:ext>
                </a:extLst>
              </a:tr>
              <a:tr h="143961">
                <a:tc>
                  <a:txBody>
                    <a:bodyPr/>
                    <a:lstStyle/>
                    <a:p>
                      <a:pPr algn="ctr"/>
                      <a:endParaRPr lang="zh-TW" altLang="en-US"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3</a:t>
                      </a:r>
                      <a:endParaRPr lang="zh-TW" altLang="en-US"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4</a:t>
                      </a:r>
                      <a:endParaRPr lang="zh-TW" altLang="en-US"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4</a:t>
                      </a:r>
                      <a:endParaRPr lang="zh-TW" altLang="en-US"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8136128"/>
                  </a:ext>
                </a:extLst>
              </a:tr>
            </a:tbl>
          </a:graphicData>
        </a:graphic>
      </p:graphicFrame>
    </p:spTree>
    <p:extLst>
      <p:ext uri="{BB962C8B-B14F-4D97-AF65-F5344CB8AC3E}">
        <p14:creationId xmlns:p14="http://schemas.microsoft.com/office/powerpoint/2010/main" val="3309479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3.75E-6 -3.7037E-6 L 0.01263 0.52524 " pathEditMode="relative" rAng="0" ptsTypes="AA">
                                      <p:cBhvr>
                                        <p:cTn id="6" dur="2000" fill="hold"/>
                                        <p:tgtEl>
                                          <p:spTgt spid="12"/>
                                        </p:tgtEl>
                                        <p:attrNameLst>
                                          <p:attrName>ppt_x</p:attrName>
                                          <p:attrName>ppt_y</p:attrName>
                                        </p:attrNameLst>
                                      </p:cBhvr>
                                      <p:rCtr x="625" y="2625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文字方塊 5"/>
              <p:cNvSpPr txBox="1"/>
              <p:nvPr/>
            </p:nvSpPr>
            <p:spPr>
              <a:xfrm>
                <a:off x="1033153" y="1690688"/>
                <a:ext cx="3172535"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𝑆</m:t>
                          </m:r>
                        </m:e>
                        <m:sub>
                          <m:r>
                            <a:rPr lang="en-US" altLang="zh-TW" sz="2400" b="0" i="1" smtClean="0">
                              <a:latin typeface="Cambria Math" panose="02040503050406030204" pitchFamily="18" charset="0"/>
                            </a:rPr>
                            <m:t>1</m:t>
                          </m:r>
                        </m:sub>
                      </m:sSub>
                      <m:r>
                        <a:rPr lang="en-US" altLang="zh-TW" sz="2400" b="0" i="1" smtClean="0">
                          <a:latin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&lt;4, 5, 6, 7, 6, 6&gt;</m:t>
                      </m:r>
                    </m:oMath>
                  </m:oMathPara>
                </a14:m>
                <a:endParaRPr lang="zh-TW" altLang="en-US" sz="2400" dirty="0"/>
              </a:p>
            </p:txBody>
          </p:sp>
        </mc:Choice>
        <mc:Fallback xmlns="">
          <p:sp>
            <p:nvSpPr>
              <p:cNvPr id="6" name="文字方塊 5"/>
              <p:cNvSpPr txBox="1">
                <a:spLocks noRot="1" noChangeAspect="1" noMove="1" noResize="1" noEditPoints="1" noAdjustHandles="1" noChangeArrowheads="1" noChangeShapeType="1" noTextEdit="1"/>
              </p:cNvSpPr>
              <p:nvPr/>
            </p:nvSpPr>
            <p:spPr>
              <a:xfrm>
                <a:off x="1033153" y="1690688"/>
                <a:ext cx="3172535" cy="461665"/>
              </a:xfrm>
              <a:prstGeom prst="rect">
                <a:avLst/>
              </a:prstGeom>
              <a:blipFill>
                <a:blip r:embed="rId2"/>
                <a:stretch>
                  <a:fillRect b="-131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文字方塊 6"/>
              <p:cNvSpPr txBox="1"/>
              <p:nvPr/>
            </p:nvSpPr>
            <p:spPr>
              <a:xfrm>
                <a:off x="1033152" y="2318101"/>
                <a:ext cx="2605072"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𝑆</m:t>
                          </m:r>
                        </m:e>
                        <m:sub>
                          <m:r>
                            <a:rPr lang="en-US" altLang="zh-TW" sz="2400" b="0" i="1" smtClean="0">
                              <a:latin typeface="Cambria Math" panose="02040503050406030204" pitchFamily="18" charset="0"/>
                            </a:rPr>
                            <m:t>2</m:t>
                          </m:r>
                        </m:sub>
                      </m:sSub>
                      <m:r>
                        <a:rPr lang="en-US" altLang="zh-TW" sz="2400" b="0" i="1" smtClean="0">
                          <a:latin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&lt;4, 6, 7, 8&gt;</m:t>
                      </m:r>
                    </m:oMath>
                  </m:oMathPara>
                </a14:m>
                <a:endParaRPr lang="zh-TW" altLang="en-US" sz="2400" dirty="0"/>
              </a:p>
            </p:txBody>
          </p:sp>
        </mc:Choice>
        <mc:Fallback xmlns="">
          <p:sp>
            <p:nvSpPr>
              <p:cNvPr id="7" name="文字方塊 6"/>
              <p:cNvSpPr txBox="1">
                <a:spLocks noRot="1" noChangeAspect="1" noMove="1" noResize="1" noEditPoints="1" noAdjustHandles="1" noChangeArrowheads="1" noChangeShapeType="1" noTextEdit="1"/>
              </p:cNvSpPr>
              <p:nvPr/>
            </p:nvSpPr>
            <p:spPr>
              <a:xfrm>
                <a:off x="1033152" y="2318101"/>
                <a:ext cx="2605072" cy="461665"/>
              </a:xfrm>
              <a:prstGeom prst="rect">
                <a:avLst/>
              </a:prstGeom>
              <a:blipFill>
                <a:blip r:embed="rId3"/>
                <a:stretch>
                  <a:fillRect b="-131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 name="文字方塊 9"/>
              <p:cNvSpPr txBox="1"/>
              <p:nvPr/>
            </p:nvSpPr>
            <p:spPr>
              <a:xfrm>
                <a:off x="6303818" y="3529878"/>
                <a:ext cx="415985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𝐶𝑆</m:t>
                          </m:r>
                        </m:e>
                        <m:sub>
                          <m:r>
                            <a:rPr lang="en-US" altLang="zh-TW" sz="2400" b="0" i="1" smtClean="0">
                              <a:latin typeface="Cambria Math" panose="02040503050406030204" pitchFamily="18" charset="0"/>
                            </a:rPr>
                            <m:t>1</m:t>
                          </m:r>
                        </m:sub>
                      </m:sSub>
                      <m:r>
                        <a:rPr lang="en-US" altLang="zh-TW" sz="2400" b="0" i="1" smtClean="0">
                          <a:latin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&lt;</m:t>
                      </m:r>
                      <m:sSub>
                        <m:sSubPr>
                          <m:ctrlPr>
                            <a:rPr lang="en-US" altLang="zh-TW" sz="2400" b="0" i="1" smtClean="0">
                              <a:latin typeface="Cambria Math" panose="02040503050406030204" pitchFamily="18" charset="0"/>
                              <a:ea typeface="Cambria Math" panose="02040503050406030204" pitchFamily="18" charset="0"/>
                            </a:rPr>
                          </m:ctrlPr>
                        </m:sSubPr>
                        <m:e>
                          <m:r>
                            <a:rPr lang="en-US" altLang="zh-TW" sz="2400" b="0" i="1" smtClean="0">
                              <a:latin typeface="Cambria Math" panose="02040503050406030204" pitchFamily="18" charset="0"/>
                              <a:ea typeface="Cambria Math" panose="02040503050406030204" pitchFamily="18" charset="0"/>
                            </a:rPr>
                            <m:t>𝐶</m:t>
                          </m:r>
                        </m:e>
                        <m:sub>
                          <m:r>
                            <a:rPr lang="en-US" altLang="zh-TW" sz="2400" b="0" i="1" smtClean="0">
                              <a:latin typeface="Cambria Math" panose="02040503050406030204" pitchFamily="18" charset="0"/>
                              <a:ea typeface="Cambria Math" panose="02040503050406030204" pitchFamily="18" charset="0"/>
                            </a:rPr>
                            <m:t>1</m:t>
                          </m:r>
                        </m:sub>
                      </m:sSub>
                      <m:r>
                        <a:rPr lang="en-US" altLang="zh-TW" sz="2400" b="0" i="1" smtClean="0">
                          <a:latin typeface="Cambria Math" panose="02040503050406030204" pitchFamily="18" charset="0"/>
                          <a:ea typeface="Cambria Math" panose="02040503050406030204" pitchFamily="18" charset="0"/>
                        </a:rPr>
                        <m:t>,</m:t>
                      </m:r>
                      <m:sSub>
                        <m:sSubPr>
                          <m:ctrlPr>
                            <a:rPr lang="en-US" altLang="zh-TW" sz="2400" b="0" i="1" smtClean="0">
                              <a:latin typeface="Cambria Math" panose="02040503050406030204" pitchFamily="18" charset="0"/>
                              <a:ea typeface="Cambria Math" panose="02040503050406030204" pitchFamily="18" charset="0"/>
                            </a:rPr>
                          </m:ctrlPr>
                        </m:sSubPr>
                        <m:e>
                          <m:r>
                            <a:rPr lang="en-US" altLang="zh-TW" sz="2400" b="0" i="1" smtClean="0">
                              <a:latin typeface="Cambria Math" panose="02040503050406030204" pitchFamily="18" charset="0"/>
                              <a:ea typeface="Cambria Math" panose="02040503050406030204" pitchFamily="18" charset="0"/>
                            </a:rPr>
                            <m:t>𝐶</m:t>
                          </m:r>
                        </m:e>
                        <m:sub>
                          <m:r>
                            <a:rPr lang="en-US" altLang="zh-TW" sz="2400" b="0" i="1" smtClean="0">
                              <a:latin typeface="Cambria Math" panose="02040503050406030204" pitchFamily="18" charset="0"/>
                              <a:ea typeface="Cambria Math" panose="02040503050406030204" pitchFamily="18" charset="0"/>
                            </a:rPr>
                            <m:t>1</m:t>
                          </m:r>
                        </m:sub>
                      </m:sSub>
                      <m:r>
                        <a:rPr lang="en-US" altLang="zh-TW" sz="2400" b="0" i="1" smtClean="0">
                          <a:latin typeface="Cambria Math" panose="02040503050406030204" pitchFamily="18" charset="0"/>
                          <a:ea typeface="Cambria Math" panose="02040503050406030204" pitchFamily="18" charset="0"/>
                        </a:rPr>
                        <m:t>,</m:t>
                      </m:r>
                      <m:sSub>
                        <m:sSubPr>
                          <m:ctrlPr>
                            <a:rPr lang="en-US" altLang="zh-TW" sz="2400" b="0" i="1" smtClean="0">
                              <a:latin typeface="Cambria Math" panose="02040503050406030204" pitchFamily="18" charset="0"/>
                              <a:ea typeface="Cambria Math" panose="02040503050406030204" pitchFamily="18" charset="0"/>
                            </a:rPr>
                          </m:ctrlPr>
                        </m:sSubPr>
                        <m:e>
                          <m:r>
                            <a:rPr lang="en-US" altLang="zh-TW" sz="2400" b="0" i="1" smtClean="0">
                              <a:latin typeface="Cambria Math" panose="02040503050406030204" pitchFamily="18" charset="0"/>
                              <a:ea typeface="Cambria Math" panose="02040503050406030204" pitchFamily="18" charset="0"/>
                            </a:rPr>
                            <m:t>𝐶</m:t>
                          </m:r>
                        </m:e>
                        <m:sub>
                          <m:r>
                            <a:rPr lang="en-US" altLang="zh-TW" sz="2400" b="0" i="1" smtClean="0">
                              <a:latin typeface="Cambria Math" panose="02040503050406030204" pitchFamily="18" charset="0"/>
                              <a:ea typeface="Cambria Math" panose="02040503050406030204" pitchFamily="18" charset="0"/>
                            </a:rPr>
                            <m:t>2</m:t>
                          </m:r>
                        </m:sub>
                      </m:sSub>
                      <m:r>
                        <a:rPr lang="en-US" altLang="zh-TW" sz="2400" b="0" i="1" smtClean="0">
                          <a:latin typeface="Cambria Math" panose="02040503050406030204" pitchFamily="18" charset="0"/>
                          <a:ea typeface="Cambria Math" panose="02040503050406030204" pitchFamily="18" charset="0"/>
                        </a:rPr>
                        <m:t>,</m:t>
                      </m:r>
                      <m:sSub>
                        <m:sSubPr>
                          <m:ctrlPr>
                            <a:rPr lang="en-US" altLang="zh-TW" sz="2400" b="0" i="1" smtClean="0">
                              <a:latin typeface="Cambria Math" panose="02040503050406030204" pitchFamily="18" charset="0"/>
                              <a:ea typeface="Cambria Math" panose="02040503050406030204" pitchFamily="18" charset="0"/>
                            </a:rPr>
                          </m:ctrlPr>
                        </m:sSubPr>
                        <m:e>
                          <m:r>
                            <a:rPr lang="en-US" altLang="zh-TW" sz="2400" b="0" i="1" smtClean="0">
                              <a:latin typeface="Cambria Math" panose="02040503050406030204" pitchFamily="18" charset="0"/>
                              <a:ea typeface="Cambria Math" panose="02040503050406030204" pitchFamily="18" charset="0"/>
                            </a:rPr>
                            <m:t>𝐶</m:t>
                          </m:r>
                        </m:e>
                        <m:sub>
                          <m:r>
                            <a:rPr lang="en-US" altLang="zh-TW" sz="2400" b="0" i="1" smtClean="0">
                              <a:latin typeface="Cambria Math" panose="02040503050406030204" pitchFamily="18" charset="0"/>
                              <a:ea typeface="Cambria Math" panose="02040503050406030204" pitchFamily="18" charset="0"/>
                            </a:rPr>
                            <m:t>3</m:t>
                          </m:r>
                        </m:sub>
                      </m:sSub>
                      <m:r>
                        <a:rPr lang="en-US" altLang="zh-TW" sz="2400" b="0" i="1" smtClean="0">
                          <a:latin typeface="Cambria Math" panose="02040503050406030204" pitchFamily="18" charset="0"/>
                          <a:ea typeface="Cambria Math" panose="02040503050406030204" pitchFamily="18" charset="0"/>
                        </a:rPr>
                        <m:t>,</m:t>
                      </m:r>
                      <m:sSub>
                        <m:sSubPr>
                          <m:ctrlPr>
                            <a:rPr lang="en-US" altLang="zh-TW" sz="2400" b="0" i="1" smtClean="0">
                              <a:latin typeface="Cambria Math" panose="02040503050406030204" pitchFamily="18" charset="0"/>
                              <a:ea typeface="Cambria Math" panose="02040503050406030204" pitchFamily="18" charset="0"/>
                            </a:rPr>
                          </m:ctrlPr>
                        </m:sSubPr>
                        <m:e>
                          <m:r>
                            <a:rPr lang="en-US" altLang="zh-TW" sz="2400" b="0" i="1" smtClean="0">
                              <a:latin typeface="Cambria Math" panose="02040503050406030204" pitchFamily="18" charset="0"/>
                              <a:ea typeface="Cambria Math" panose="02040503050406030204" pitchFamily="18" charset="0"/>
                            </a:rPr>
                            <m:t>𝐶</m:t>
                          </m:r>
                        </m:e>
                        <m:sub>
                          <m:r>
                            <a:rPr lang="en-US" altLang="zh-TW" sz="2400" b="0" i="1" smtClean="0">
                              <a:latin typeface="Cambria Math" panose="02040503050406030204" pitchFamily="18" charset="0"/>
                              <a:ea typeface="Cambria Math" panose="02040503050406030204" pitchFamily="18" charset="0"/>
                            </a:rPr>
                            <m:t>2</m:t>
                          </m:r>
                        </m:sub>
                      </m:sSub>
                      <m:r>
                        <a:rPr lang="en-US" altLang="zh-TW" sz="2400" b="0" i="1" smtClean="0">
                          <a:latin typeface="Cambria Math" panose="02040503050406030204" pitchFamily="18" charset="0"/>
                          <a:ea typeface="Cambria Math" panose="02040503050406030204" pitchFamily="18" charset="0"/>
                        </a:rPr>
                        <m:t>,</m:t>
                      </m:r>
                      <m:sSub>
                        <m:sSubPr>
                          <m:ctrlPr>
                            <a:rPr lang="en-US" altLang="zh-TW" sz="2400" b="0" i="1" smtClean="0">
                              <a:latin typeface="Cambria Math" panose="02040503050406030204" pitchFamily="18" charset="0"/>
                              <a:ea typeface="Cambria Math" panose="02040503050406030204" pitchFamily="18" charset="0"/>
                            </a:rPr>
                          </m:ctrlPr>
                        </m:sSubPr>
                        <m:e>
                          <m:r>
                            <a:rPr lang="en-US" altLang="zh-TW" sz="2400" b="0" i="1" smtClean="0">
                              <a:latin typeface="Cambria Math" panose="02040503050406030204" pitchFamily="18" charset="0"/>
                              <a:ea typeface="Cambria Math" panose="02040503050406030204" pitchFamily="18" charset="0"/>
                            </a:rPr>
                            <m:t>𝐶</m:t>
                          </m:r>
                        </m:e>
                        <m:sub>
                          <m:r>
                            <a:rPr lang="en-US" altLang="zh-TW" sz="2400" b="0" i="1" smtClean="0">
                              <a:latin typeface="Cambria Math" panose="02040503050406030204" pitchFamily="18" charset="0"/>
                              <a:ea typeface="Cambria Math" panose="02040503050406030204" pitchFamily="18" charset="0"/>
                            </a:rPr>
                            <m:t>2</m:t>
                          </m:r>
                        </m:sub>
                      </m:sSub>
                      <m:r>
                        <a:rPr lang="en-US" altLang="zh-TW" sz="2400" b="0" i="1" smtClean="0">
                          <a:latin typeface="Cambria Math" panose="02040503050406030204" pitchFamily="18" charset="0"/>
                          <a:ea typeface="Cambria Math" panose="02040503050406030204" pitchFamily="18" charset="0"/>
                        </a:rPr>
                        <m:t>&gt;</m:t>
                      </m:r>
                    </m:oMath>
                  </m:oMathPara>
                </a14:m>
                <a:endParaRPr lang="zh-TW" altLang="en-US" sz="2400" dirty="0"/>
              </a:p>
            </p:txBody>
          </p:sp>
        </mc:Choice>
        <mc:Fallback xmlns="">
          <p:sp>
            <p:nvSpPr>
              <p:cNvPr id="10" name="文字方塊 9"/>
              <p:cNvSpPr txBox="1">
                <a:spLocks noRot="1" noChangeAspect="1" noMove="1" noResize="1" noEditPoints="1" noAdjustHandles="1" noChangeArrowheads="1" noChangeShapeType="1" noTextEdit="1"/>
              </p:cNvSpPr>
              <p:nvPr/>
            </p:nvSpPr>
            <p:spPr>
              <a:xfrm>
                <a:off x="6303818" y="3529878"/>
                <a:ext cx="4159857" cy="461665"/>
              </a:xfrm>
              <a:prstGeom prst="rect">
                <a:avLst/>
              </a:prstGeom>
              <a:blipFill>
                <a:blip r:embed="rId4"/>
                <a:stretch>
                  <a:fillRect b="-131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文字方塊 10"/>
              <p:cNvSpPr txBox="1"/>
              <p:nvPr/>
            </p:nvSpPr>
            <p:spPr>
              <a:xfrm>
                <a:off x="6303817" y="4157291"/>
                <a:ext cx="3342838"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𝐶𝑆</m:t>
                          </m:r>
                        </m:e>
                        <m:sub>
                          <m:r>
                            <a:rPr lang="en-US" altLang="zh-TW" sz="2400" b="0" i="1" smtClean="0">
                              <a:latin typeface="Cambria Math" panose="02040503050406030204" pitchFamily="18" charset="0"/>
                            </a:rPr>
                            <m:t>2</m:t>
                          </m:r>
                        </m:sub>
                      </m:sSub>
                      <m:r>
                        <a:rPr lang="en-US" altLang="zh-TW" sz="2400" b="0" i="1" smtClean="0">
                          <a:latin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&lt;</m:t>
                      </m:r>
                      <m:sSub>
                        <m:sSubPr>
                          <m:ctrlPr>
                            <a:rPr lang="en-US" altLang="zh-TW" sz="2400" b="0" i="1" smtClean="0">
                              <a:latin typeface="Cambria Math" panose="02040503050406030204" pitchFamily="18" charset="0"/>
                              <a:ea typeface="Cambria Math" panose="02040503050406030204" pitchFamily="18" charset="0"/>
                            </a:rPr>
                          </m:ctrlPr>
                        </m:sSubPr>
                        <m:e>
                          <m:r>
                            <a:rPr lang="en-US" altLang="zh-TW" sz="2400" b="0" i="1" smtClean="0">
                              <a:latin typeface="Cambria Math" panose="02040503050406030204" pitchFamily="18" charset="0"/>
                              <a:ea typeface="Cambria Math" panose="02040503050406030204" pitchFamily="18" charset="0"/>
                            </a:rPr>
                            <m:t>𝐶</m:t>
                          </m:r>
                        </m:e>
                        <m:sub>
                          <m:r>
                            <a:rPr lang="en-US" altLang="zh-TW" sz="2400" b="0" i="1" smtClean="0">
                              <a:latin typeface="Cambria Math" panose="02040503050406030204" pitchFamily="18" charset="0"/>
                              <a:ea typeface="Cambria Math" panose="02040503050406030204" pitchFamily="18" charset="0"/>
                            </a:rPr>
                            <m:t>1</m:t>
                          </m:r>
                        </m:sub>
                      </m:sSub>
                      <m:r>
                        <a:rPr lang="en-US" altLang="zh-TW" sz="2400" b="0" i="1" smtClean="0">
                          <a:latin typeface="Cambria Math" panose="02040503050406030204" pitchFamily="18" charset="0"/>
                          <a:ea typeface="Cambria Math" panose="02040503050406030204" pitchFamily="18" charset="0"/>
                        </a:rPr>
                        <m:t>,</m:t>
                      </m:r>
                      <m:sSub>
                        <m:sSubPr>
                          <m:ctrlPr>
                            <a:rPr lang="en-US" altLang="zh-TW" sz="2400" b="0" i="1" smtClean="0">
                              <a:latin typeface="Cambria Math" panose="02040503050406030204" pitchFamily="18" charset="0"/>
                              <a:ea typeface="Cambria Math" panose="02040503050406030204" pitchFamily="18" charset="0"/>
                            </a:rPr>
                          </m:ctrlPr>
                        </m:sSubPr>
                        <m:e>
                          <m:r>
                            <a:rPr lang="en-US" altLang="zh-TW" sz="2400" b="0" i="1" smtClean="0">
                              <a:latin typeface="Cambria Math" panose="02040503050406030204" pitchFamily="18" charset="0"/>
                              <a:ea typeface="Cambria Math" panose="02040503050406030204" pitchFamily="18" charset="0"/>
                            </a:rPr>
                            <m:t>𝐶</m:t>
                          </m:r>
                        </m:e>
                        <m:sub>
                          <m:r>
                            <a:rPr lang="en-US" altLang="zh-TW" sz="2400" b="0" i="1" smtClean="0">
                              <a:latin typeface="Cambria Math" panose="02040503050406030204" pitchFamily="18" charset="0"/>
                              <a:ea typeface="Cambria Math" panose="02040503050406030204" pitchFamily="18" charset="0"/>
                            </a:rPr>
                            <m:t>2</m:t>
                          </m:r>
                        </m:sub>
                      </m:sSub>
                      <m:r>
                        <a:rPr lang="en-US" altLang="zh-TW" sz="2400" b="0" i="1" smtClean="0">
                          <a:latin typeface="Cambria Math" panose="02040503050406030204" pitchFamily="18" charset="0"/>
                          <a:ea typeface="Cambria Math" panose="02040503050406030204" pitchFamily="18" charset="0"/>
                        </a:rPr>
                        <m:t>,</m:t>
                      </m:r>
                      <m:sSub>
                        <m:sSubPr>
                          <m:ctrlPr>
                            <a:rPr lang="en-US" altLang="zh-TW" sz="2400" b="0" i="1" smtClean="0">
                              <a:latin typeface="Cambria Math" panose="02040503050406030204" pitchFamily="18" charset="0"/>
                              <a:ea typeface="Cambria Math" panose="02040503050406030204" pitchFamily="18" charset="0"/>
                            </a:rPr>
                          </m:ctrlPr>
                        </m:sSubPr>
                        <m:e>
                          <m:r>
                            <a:rPr lang="en-US" altLang="zh-TW" sz="2400" b="0" i="1" smtClean="0">
                              <a:latin typeface="Cambria Math" panose="02040503050406030204" pitchFamily="18" charset="0"/>
                              <a:ea typeface="Cambria Math" panose="02040503050406030204" pitchFamily="18" charset="0"/>
                            </a:rPr>
                            <m:t>𝐶</m:t>
                          </m:r>
                        </m:e>
                        <m:sub>
                          <m:r>
                            <a:rPr lang="en-US" altLang="zh-TW" sz="2400" b="0" i="1" smtClean="0">
                              <a:latin typeface="Cambria Math" panose="02040503050406030204" pitchFamily="18" charset="0"/>
                              <a:ea typeface="Cambria Math" panose="02040503050406030204" pitchFamily="18" charset="0"/>
                            </a:rPr>
                            <m:t>3</m:t>
                          </m:r>
                        </m:sub>
                      </m:sSub>
                      <m:r>
                        <a:rPr lang="en-US" altLang="zh-TW" sz="2400" b="0" i="1" smtClean="0">
                          <a:latin typeface="Cambria Math" panose="02040503050406030204" pitchFamily="18" charset="0"/>
                          <a:ea typeface="Cambria Math" panose="02040503050406030204" pitchFamily="18" charset="0"/>
                        </a:rPr>
                        <m:t>,</m:t>
                      </m:r>
                      <m:sSub>
                        <m:sSubPr>
                          <m:ctrlPr>
                            <a:rPr lang="en-US" altLang="zh-TW" sz="2400" b="0" i="1" smtClean="0">
                              <a:latin typeface="Cambria Math" panose="02040503050406030204" pitchFamily="18" charset="0"/>
                              <a:ea typeface="Cambria Math" panose="02040503050406030204" pitchFamily="18" charset="0"/>
                            </a:rPr>
                          </m:ctrlPr>
                        </m:sSubPr>
                        <m:e>
                          <m:r>
                            <a:rPr lang="en-US" altLang="zh-TW" sz="2400" b="0" i="1" smtClean="0">
                              <a:latin typeface="Cambria Math" panose="02040503050406030204" pitchFamily="18" charset="0"/>
                              <a:ea typeface="Cambria Math" panose="02040503050406030204" pitchFamily="18" charset="0"/>
                            </a:rPr>
                            <m:t>𝐶</m:t>
                          </m:r>
                        </m:e>
                        <m:sub>
                          <m:r>
                            <a:rPr lang="en-US" altLang="zh-TW" sz="2400" b="0" i="1" smtClean="0">
                              <a:latin typeface="Cambria Math" panose="02040503050406030204" pitchFamily="18" charset="0"/>
                              <a:ea typeface="Cambria Math" panose="02040503050406030204" pitchFamily="18" charset="0"/>
                            </a:rPr>
                            <m:t>3</m:t>
                          </m:r>
                        </m:sub>
                      </m:sSub>
                      <m:r>
                        <a:rPr lang="en-US" altLang="zh-TW" sz="2400" b="0" i="1" smtClean="0">
                          <a:latin typeface="Cambria Math" panose="02040503050406030204" pitchFamily="18" charset="0"/>
                          <a:ea typeface="Cambria Math" panose="02040503050406030204" pitchFamily="18" charset="0"/>
                        </a:rPr>
                        <m:t>&gt;</m:t>
                      </m:r>
                    </m:oMath>
                  </m:oMathPara>
                </a14:m>
                <a:endParaRPr lang="zh-TW" altLang="en-US" sz="2400" dirty="0"/>
              </a:p>
            </p:txBody>
          </p:sp>
        </mc:Choice>
        <mc:Fallback xmlns="">
          <p:sp>
            <p:nvSpPr>
              <p:cNvPr id="11" name="文字方塊 10"/>
              <p:cNvSpPr txBox="1">
                <a:spLocks noRot="1" noChangeAspect="1" noMove="1" noResize="1" noEditPoints="1" noAdjustHandles="1" noChangeArrowheads="1" noChangeShapeType="1" noTextEdit="1"/>
              </p:cNvSpPr>
              <p:nvPr/>
            </p:nvSpPr>
            <p:spPr>
              <a:xfrm>
                <a:off x="6303817" y="4157291"/>
                <a:ext cx="3342838" cy="461665"/>
              </a:xfrm>
              <a:prstGeom prst="rect">
                <a:avLst/>
              </a:prstGeom>
              <a:blipFill>
                <a:blip r:embed="rId5"/>
                <a:stretch>
                  <a:fillRect/>
                </a:stretch>
              </a:blipFill>
            </p:spPr>
            <p:txBody>
              <a:bodyPr/>
              <a:lstStyle/>
              <a:p>
                <a:r>
                  <a:rPr lang="zh-TW" altLang="en-US">
                    <a:noFill/>
                  </a:rPr>
                  <a:t> </a:t>
                </a:r>
              </a:p>
            </p:txBody>
          </p:sp>
        </mc:Fallback>
      </mc:AlternateContent>
      <p:sp>
        <p:nvSpPr>
          <p:cNvPr id="12" name="標題 1"/>
          <p:cNvSpPr>
            <a:spLocks noGrp="1"/>
          </p:cNvSpPr>
          <p:nvPr>
            <p:ph type="title"/>
          </p:nvPr>
        </p:nvSpPr>
        <p:spPr>
          <a:xfrm>
            <a:off x="838200" y="365125"/>
            <a:ext cx="10515600" cy="1325563"/>
          </a:xfrm>
        </p:spPr>
        <p:txBody>
          <a:bodyPr/>
          <a:lstStyle/>
          <a:p>
            <a:pPr algn="ctr"/>
            <a:r>
              <a:rPr lang="en-US" altLang="zh-TW" dirty="0">
                <a:latin typeface="Times New Roman" panose="02020603050405020304" pitchFamily="18" charset="0"/>
                <a:cs typeface="Times New Roman" panose="02020603050405020304" pitchFamily="18" charset="0"/>
              </a:rPr>
              <a:t>Categorization</a:t>
            </a:r>
            <a:endParaRPr lang="zh-TW" altLang="en-US" dirty="0">
              <a:latin typeface="Times New Roman" panose="02020603050405020304" pitchFamily="18" charset="0"/>
              <a:cs typeface="Times New Roman" panose="02020603050405020304" pitchFamily="18" charset="0"/>
            </a:endParaRPr>
          </a:p>
        </p:txBody>
      </p:sp>
      <p:pic>
        <p:nvPicPr>
          <p:cNvPr id="3" name="圖片 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8200" y="3407179"/>
            <a:ext cx="4772857" cy="1527314"/>
          </a:xfrm>
          <a:prstGeom prst="rect">
            <a:avLst/>
          </a:prstGeom>
        </p:spPr>
      </p:pic>
    </p:spTree>
    <p:extLst>
      <p:ext uri="{BB962C8B-B14F-4D97-AF65-F5344CB8AC3E}">
        <p14:creationId xmlns:p14="http://schemas.microsoft.com/office/powerpoint/2010/main" val="29291075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62795" y="1069542"/>
            <a:ext cx="8835695" cy="5249186"/>
          </a:xfrm>
          <a:prstGeom prst="rect">
            <a:avLst/>
          </a:prstGeom>
        </p:spPr>
      </p:pic>
      <p:sp>
        <p:nvSpPr>
          <p:cNvPr id="7" name="文字方塊 6"/>
          <p:cNvSpPr txBox="1"/>
          <p:nvPr/>
        </p:nvSpPr>
        <p:spPr>
          <a:xfrm>
            <a:off x="942415" y="3045040"/>
            <a:ext cx="1504130" cy="369332"/>
          </a:xfrm>
          <a:prstGeom prst="rect">
            <a:avLst/>
          </a:prstGeom>
          <a:noFill/>
        </p:spPr>
        <p:txBody>
          <a:bodyPr wrap="none" rtlCol="0">
            <a:spAutoFit/>
          </a:bodyPr>
          <a:lstStyle/>
          <a:p>
            <a:r>
              <a:rPr lang="en-US" altLang="zh-TW" dirty="0"/>
              <a:t>Internal node </a:t>
            </a:r>
            <a:endParaRPr lang="zh-TW" altLang="en-US" dirty="0"/>
          </a:p>
        </p:txBody>
      </p:sp>
      <p:sp>
        <p:nvSpPr>
          <p:cNvPr id="8" name="箭號: 向上 7"/>
          <p:cNvSpPr/>
          <p:nvPr/>
        </p:nvSpPr>
        <p:spPr>
          <a:xfrm>
            <a:off x="2308940" y="3079667"/>
            <a:ext cx="221942" cy="282321"/>
          </a:xfrm>
          <a:prstGeom prst="up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7617629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內容版面配置區 2"/>
              <p:cNvSpPr>
                <a:spLocks noGrp="1"/>
              </p:cNvSpPr>
              <p:nvPr>
                <p:ph idx="1"/>
              </p:nvPr>
            </p:nvSpPr>
            <p:spPr>
              <a:xfrm>
                <a:off x="588818" y="966292"/>
                <a:ext cx="9280896" cy="2513177"/>
              </a:xfrm>
            </p:spPr>
            <p:txBody>
              <a:bodyPr>
                <a:noAutofit/>
              </a:bodyPr>
              <a:lstStyle/>
              <a:p>
                <a:pPr marL="0" indent="0">
                  <a:buNone/>
                </a:pPr>
                <a14:m>
                  <m:oMathPara xmlns:m="http://schemas.openxmlformats.org/officeDocument/2006/math">
                    <m:oMathParaPr>
                      <m:jc m:val="left"/>
                    </m:oMathParaPr>
                    <m:oMath xmlns:m="http://schemas.openxmlformats.org/officeDocument/2006/math">
                      <m:sSub>
                        <m:sSubPr>
                          <m:ctrlPr>
                            <a:rPr lang="en-US" altLang="zh-TW" sz="1800" b="0" i="1" smtClean="0">
                              <a:latin typeface="Cambria Math" panose="02040503050406030204" pitchFamily="18" charset="0"/>
                            </a:rPr>
                          </m:ctrlPr>
                        </m:sSubPr>
                        <m:e>
                          <m:r>
                            <a:rPr lang="en-US" altLang="zh-TW" sz="1800" b="0" i="1" smtClean="0">
                              <a:latin typeface="Cambria Math" panose="02040503050406030204" pitchFamily="18" charset="0"/>
                            </a:rPr>
                            <m:t>𝐷</m:t>
                          </m:r>
                        </m:e>
                        <m:sub>
                          <m:r>
                            <a:rPr lang="en-US" altLang="zh-TW" sz="1800" b="0" i="1" smtClean="0">
                              <a:latin typeface="Cambria Math" panose="02040503050406030204" pitchFamily="18" charset="0"/>
                            </a:rPr>
                            <m:t>𝑡𝑤</m:t>
                          </m:r>
                          <m:r>
                            <a:rPr lang="en-US" altLang="zh-TW" sz="1800" b="0" i="1" smtClean="0">
                              <a:latin typeface="Cambria Math" panose="02040503050406030204" pitchFamily="18" charset="0"/>
                            </a:rPr>
                            <m:t>−</m:t>
                          </m:r>
                          <m:r>
                            <a:rPr lang="en-US" altLang="zh-TW" sz="1800" b="0" i="1" smtClean="0">
                              <a:latin typeface="Cambria Math" panose="02040503050406030204" pitchFamily="18" charset="0"/>
                            </a:rPr>
                            <m:t>𝑙𝑏</m:t>
                          </m:r>
                        </m:sub>
                      </m:sSub>
                      <m:d>
                        <m:dPr>
                          <m:ctrlPr>
                            <a:rPr lang="en-US" altLang="zh-TW" sz="1800" b="0" i="1" smtClean="0">
                              <a:latin typeface="Cambria Math" panose="02040503050406030204" pitchFamily="18" charset="0"/>
                            </a:rPr>
                          </m:ctrlPr>
                        </m:dPr>
                        <m:e>
                          <m:sSub>
                            <m:sSubPr>
                              <m:ctrlPr>
                                <a:rPr lang="en-US" altLang="zh-TW" sz="1800" b="0" i="1" smtClean="0">
                                  <a:latin typeface="Cambria Math" panose="02040503050406030204" pitchFamily="18" charset="0"/>
                                </a:rPr>
                              </m:ctrlPr>
                            </m:sSubPr>
                            <m:e>
                              <m:r>
                                <a:rPr lang="en-US" altLang="zh-TW" sz="1800" b="0" i="1" smtClean="0">
                                  <a:latin typeface="Cambria Math" panose="02040503050406030204" pitchFamily="18" charset="0"/>
                                </a:rPr>
                                <m:t>𝑆</m:t>
                              </m:r>
                            </m:e>
                            <m:sub>
                              <m:r>
                                <a:rPr lang="en-US" altLang="zh-TW" sz="1800" b="0" i="1" smtClean="0">
                                  <a:latin typeface="Cambria Math" panose="02040503050406030204" pitchFamily="18" charset="0"/>
                                </a:rPr>
                                <m:t>𝑖</m:t>
                              </m:r>
                            </m:sub>
                          </m:sSub>
                          <m:r>
                            <a:rPr lang="en-US" altLang="zh-TW" sz="1800" b="0" i="1" smtClean="0">
                              <a:latin typeface="Cambria Math" panose="02040503050406030204" pitchFamily="18" charset="0"/>
                            </a:rPr>
                            <m:t>[</m:t>
                          </m:r>
                          <m:r>
                            <a:rPr lang="en-US" altLang="zh-TW" sz="1800" b="0" i="1" smtClean="0">
                              <a:latin typeface="Cambria Math" panose="02040503050406030204" pitchFamily="18" charset="0"/>
                            </a:rPr>
                            <m:t>𝑥</m:t>
                          </m:r>
                          <m:r>
                            <a:rPr lang="en-US" altLang="zh-TW" sz="1800" b="0" i="1" smtClean="0">
                              <a:latin typeface="Cambria Math" panose="02040503050406030204" pitchFamily="18" charset="0"/>
                            </a:rPr>
                            <m:t>], </m:t>
                          </m:r>
                          <m:sSub>
                            <m:sSubPr>
                              <m:ctrlPr>
                                <a:rPr lang="en-US" altLang="zh-TW" sz="1800" b="0" i="1" smtClean="0">
                                  <a:latin typeface="Cambria Math" panose="02040503050406030204" pitchFamily="18" charset="0"/>
                                </a:rPr>
                              </m:ctrlPr>
                            </m:sSubPr>
                            <m:e>
                              <m:r>
                                <a:rPr lang="en-US" altLang="zh-TW" sz="1800" b="0" i="1" smtClean="0">
                                  <a:latin typeface="Cambria Math" panose="02040503050406030204" pitchFamily="18" charset="0"/>
                                </a:rPr>
                                <m:t>𝐶𝑆</m:t>
                              </m:r>
                            </m:e>
                            <m:sub>
                              <m:r>
                                <a:rPr lang="en-US" altLang="zh-TW" sz="1800" b="0" i="1" smtClean="0">
                                  <a:latin typeface="Cambria Math" panose="02040503050406030204" pitchFamily="18" charset="0"/>
                                </a:rPr>
                                <m:t>𝑗</m:t>
                              </m:r>
                            </m:sub>
                          </m:sSub>
                          <m:r>
                            <a:rPr lang="en-US" altLang="zh-TW" sz="1800" b="0" i="1" smtClean="0">
                              <a:latin typeface="Cambria Math" panose="02040503050406030204" pitchFamily="18" charset="0"/>
                            </a:rPr>
                            <m:t>[</m:t>
                          </m:r>
                          <m:r>
                            <a:rPr lang="en-US" altLang="zh-TW" sz="1800" b="0" i="1" smtClean="0">
                              <a:latin typeface="Cambria Math" panose="02040503050406030204" pitchFamily="18" charset="0"/>
                            </a:rPr>
                            <m:t>𝑦</m:t>
                          </m:r>
                          <m:r>
                            <a:rPr lang="en-US" altLang="zh-TW" sz="1800" b="0" i="1" smtClean="0">
                              <a:latin typeface="Cambria Math" panose="02040503050406030204" pitchFamily="18" charset="0"/>
                            </a:rPr>
                            <m:t>]</m:t>
                          </m:r>
                        </m:e>
                      </m:d>
                      <m:r>
                        <a:rPr lang="en-US" altLang="zh-TW" sz="1800" b="0" i="1" smtClean="0">
                          <a:latin typeface="Cambria Math" panose="02040503050406030204" pitchFamily="18" charset="0"/>
                        </a:rPr>
                        <m:t>=</m:t>
                      </m:r>
                      <m:sSub>
                        <m:sSubPr>
                          <m:ctrlPr>
                            <a:rPr lang="en-US" altLang="zh-TW" sz="1800" b="0" i="1" smtClean="0">
                              <a:latin typeface="Cambria Math" panose="02040503050406030204" pitchFamily="18" charset="0"/>
                            </a:rPr>
                          </m:ctrlPr>
                        </m:sSubPr>
                        <m:e>
                          <m:r>
                            <a:rPr lang="en-US" altLang="zh-TW" sz="1800" b="0" i="1" smtClean="0">
                              <a:latin typeface="Cambria Math" panose="02040503050406030204" pitchFamily="18" charset="0"/>
                            </a:rPr>
                            <m:t>𝐷</m:t>
                          </m:r>
                        </m:e>
                        <m:sub>
                          <m:r>
                            <a:rPr lang="en-US" altLang="zh-TW" sz="1800" b="0" i="1" smtClean="0">
                              <a:latin typeface="Cambria Math" panose="02040503050406030204" pitchFamily="18" charset="0"/>
                            </a:rPr>
                            <m:t>𝑏𝑎𝑠𝑒</m:t>
                          </m:r>
                          <m:r>
                            <a:rPr lang="en-US" altLang="zh-TW" sz="1800" b="0" i="1" smtClean="0">
                              <a:latin typeface="Cambria Math" panose="02040503050406030204" pitchFamily="18" charset="0"/>
                            </a:rPr>
                            <m:t>−</m:t>
                          </m:r>
                          <m:r>
                            <a:rPr lang="en-US" altLang="zh-TW" sz="1800" b="0" i="1" smtClean="0">
                              <a:latin typeface="Cambria Math" panose="02040503050406030204" pitchFamily="18" charset="0"/>
                            </a:rPr>
                            <m:t>𝑙𝑏</m:t>
                          </m:r>
                        </m:sub>
                      </m:sSub>
                      <m:d>
                        <m:dPr>
                          <m:ctrlPr>
                            <a:rPr lang="en-US" altLang="zh-TW" sz="1800" b="0" i="1" smtClean="0">
                              <a:latin typeface="Cambria Math" panose="02040503050406030204" pitchFamily="18" charset="0"/>
                            </a:rPr>
                          </m:ctrlPr>
                        </m:dPr>
                        <m:e>
                          <m:sSub>
                            <m:sSubPr>
                              <m:ctrlPr>
                                <a:rPr lang="en-US" altLang="zh-TW" sz="1800" b="0" i="1" smtClean="0">
                                  <a:latin typeface="Cambria Math" panose="02040503050406030204" pitchFamily="18" charset="0"/>
                                </a:rPr>
                              </m:ctrlPr>
                            </m:sSubPr>
                            <m:e>
                              <m:r>
                                <a:rPr lang="en-US" altLang="zh-TW" sz="1800" b="0" i="1" smtClean="0">
                                  <a:latin typeface="Cambria Math" panose="02040503050406030204" pitchFamily="18" charset="0"/>
                                </a:rPr>
                                <m:t>𝑆</m:t>
                              </m:r>
                            </m:e>
                            <m:sub>
                              <m:r>
                                <a:rPr lang="en-US" altLang="zh-TW" sz="1800" b="0" i="1" smtClean="0">
                                  <a:latin typeface="Cambria Math" panose="02040503050406030204" pitchFamily="18" charset="0"/>
                                </a:rPr>
                                <m:t>𝑖</m:t>
                              </m:r>
                            </m:sub>
                          </m:sSub>
                          <m:d>
                            <m:dPr>
                              <m:begChr m:val="["/>
                              <m:endChr m:val="]"/>
                              <m:ctrlPr>
                                <a:rPr lang="en-US" altLang="zh-TW" sz="1800" b="0" i="1" smtClean="0">
                                  <a:latin typeface="Cambria Math" panose="02040503050406030204" pitchFamily="18" charset="0"/>
                                </a:rPr>
                              </m:ctrlPr>
                            </m:dPr>
                            <m:e>
                              <m:r>
                                <a:rPr lang="en-US" altLang="zh-TW" sz="1800" b="0" i="1" smtClean="0">
                                  <a:latin typeface="Cambria Math" panose="02040503050406030204" pitchFamily="18" charset="0"/>
                                </a:rPr>
                                <m:t>𝑥</m:t>
                              </m:r>
                            </m:e>
                          </m:d>
                          <m:r>
                            <a:rPr lang="en-US" altLang="zh-TW" sz="1800" b="0" i="1" smtClean="0">
                              <a:latin typeface="Cambria Math" panose="02040503050406030204" pitchFamily="18" charset="0"/>
                            </a:rPr>
                            <m:t>,</m:t>
                          </m:r>
                          <m:sSub>
                            <m:sSubPr>
                              <m:ctrlPr>
                                <a:rPr lang="en-US" altLang="zh-TW" sz="1800" b="0" i="1" smtClean="0">
                                  <a:latin typeface="Cambria Math" panose="02040503050406030204" pitchFamily="18" charset="0"/>
                                </a:rPr>
                              </m:ctrlPr>
                            </m:sSubPr>
                            <m:e>
                              <m:r>
                                <a:rPr lang="en-US" altLang="zh-TW" sz="1800" b="0" i="1" smtClean="0">
                                  <a:latin typeface="Cambria Math" panose="02040503050406030204" pitchFamily="18" charset="0"/>
                                </a:rPr>
                                <m:t>𝐶𝑆</m:t>
                              </m:r>
                            </m:e>
                            <m:sub>
                              <m:r>
                                <a:rPr lang="en-US" altLang="zh-TW" sz="1800" b="0" i="1" smtClean="0">
                                  <a:latin typeface="Cambria Math" panose="02040503050406030204" pitchFamily="18" charset="0"/>
                                </a:rPr>
                                <m:t>𝑗</m:t>
                              </m:r>
                            </m:sub>
                          </m:sSub>
                          <m:d>
                            <m:dPr>
                              <m:begChr m:val="["/>
                              <m:endChr m:val="]"/>
                              <m:ctrlPr>
                                <a:rPr lang="en-US" altLang="zh-TW" sz="1800" b="0" i="1" smtClean="0">
                                  <a:latin typeface="Cambria Math" panose="02040503050406030204" pitchFamily="18" charset="0"/>
                                </a:rPr>
                              </m:ctrlPr>
                            </m:dPr>
                            <m:e>
                              <m:r>
                                <a:rPr lang="en-US" altLang="zh-TW" sz="1800" b="0" i="1" smtClean="0">
                                  <a:latin typeface="Cambria Math" panose="02040503050406030204" pitchFamily="18" charset="0"/>
                                </a:rPr>
                                <m:t>𝑦</m:t>
                              </m:r>
                            </m:e>
                          </m:d>
                        </m:e>
                      </m:d>
                      <m:r>
                        <a:rPr lang="en-US" altLang="zh-TW" sz="1800" b="0" i="1" smtClean="0">
                          <a:latin typeface="Cambria Math" panose="02040503050406030204" pitchFamily="18" charset="0"/>
                        </a:rPr>
                        <m:t>+</m:t>
                      </m:r>
                      <m:r>
                        <a:rPr lang="en-US" altLang="zh-TW" sz="1800" b="0" i="1" smtClean="0">
                          <a:latin typeface="Cambria Math" panose="02040503050406030204" pitchFamily="18" charset="0"/>
                        </a:rPr>
                        <m:t>𝑚𝑖𝑛</m:t>
                      </m:r>
                      <m:d>
                        <m:dPr>
                          <m:begChr m:val="{"/>
                          <m:endChr m:val=""/>
                          <m:ctrlPr>
                            <a:rPr lang="en-US" altLang="zh-TW" sz="1800" b="0" i="1" smtClean="0">
                              <a:latin typeface="Cambria Math" panose="02040503050406030204" pitchFamily="18" charset="0"/>
                            </a:rPr>
                          </m:ctrlPr>
                        </m:dPr>
                        <m:e>
                          <m:eqArr>
                            <m:eqArrPr>
                              <m:ctrlPr>
                                <a:rPr lang="en-US" altLang="zh-TW" sz="1800" b="0" i="1" smtClean="0">
                                  <a:latin typeface="Cambria Math" panose="02040503050406030204" pitchFamily="18" charset="0"/>
                                </a:rPr>
                              </m:ctrlPr>
                            </m:eqArrPr>
                            <m:e>
                              <m:sSub>
                                <m:sSubPr>
                                  <m:ctrlPr>
                                    <a:rPr lang="en-US" altLang="zh-TW" sz="1800" b="0" i="1" smtClean="0">
                                      <a:latin typeface="Cambria Math" panose="02040503050406030204" pitchFamily="18" charset="0"/>
                                    </a:rPr>
                                  </m:ctrlPr>
                                </m:sSubPr>
                                <m:e>
                                  <m:r>
                                    <a:rPr lang="en-US" altLang="zh-TW" sz="1800" b="0" i="1" smtClean="0">
                                      <a:latin typeface="Cambria Math" panose="02040503050406030204" pitchFamily="18" charset="0"/>
                                    </a:rPr>
                                    <m:t>𝐷</m:t>
                                  </m:r>
                                </m:e>
                                <m:sub>
                                  <m:r>
                                    <a:rPr lang="en-US" altLang="zh-TW" sz="1800" b="0" i="1" smtClean="0">
                                      <a:latin typeface="Cambria Math" panose="02040503050406030204" pitchFamily="18" charset="0"/>
                                    </a:rPr>
                                    <m:t>𝑡𝑤</m:t>
                                  </m:r>
                                </m:sub>
                              </m:sSub>
                              <m:d>
                                <m:dPr>
                                  <m:ctrlPr>
                                    <a:rPr lang="en-US" altLang="zh-TW" sz="1800" b="0" i="1" smtClean="0">
                                      <a:latin typeface="Cambria Math" panose="02040503050406030204" pitchFamily="18" charset="0"/>
                                    </a:rPr>
                                  </m:ctrlPr>
                                </m:dPr>
                                <m:e>
                                  <m:sSub>
                                    <m:sSubPr>
                                      <m:ctrlPr>
                                        <a:rPr lang="en-US" altLang="zh-TW" sz="1800" b="0" i="1" smtClean="0">
                                          <a:latin typeface="Cambria Math" panose="02040503050406030204" pitchFamily="18" charset="0"/>
                                        </a:rPr>
                                      </m:ctrlPr>
                                    </m:sSubPr>
                                    <m:e>
                                      <m:r>
                                        <a:rPr lang="en-US" altLang="zh-TW" sz="1800" b="0" i="1" smtClean="0">
                                          <a:latin typeface="Cambria Math" panose="02040503050406030204" pitchFamily="18" charset="0"/>
                                        </a:rPr>
                                        <m:t>𝑆</m:t>
                                      </m:r>
                                    </m:e>
                                    <m:sub>
                                      <m:r>
                                        <a:rPr lang="en-US" altLang="zh-TW" sz="1800" b="0" i="1" smtClean="0">
                                          <a:latin typeface="Cambria Math" panose="02040503050406030204" pitchFamily="18" charset="0"/>
                                        </a:rPr>
                                        <m:t>𝑖</m:t>
                                      </m:r>
                                    </m:sub>
                                  </m:sSub>
                                  <m:r>
                                    <a:rPr lang="en-US" altLang="zh-TW" sz="1800" b="0" i="1" smtClean="0">
                                      <a:latin typeface="Cambria Math" panose="02040503050406030204" pitchFamily="18" charset="0"/>
                                    </a:rPr>
                                    <m:t>,</m:t>
                                  </m:r>
                                  <m:sSub>
                                    <m:sSubPr>
                                      <m:ctrlPr>
                                        <a:rPr lang="en-US" altLang="zh-TW" sz="1800" b="0" i="1" smtClean="0">
                                          <a:latin typeface="Cambria Math" panose="02040503050406030204" pitchFamily="18" charset="0"/>
                                        </a:rPr>
                                      </m:ctrlPr>
                                    </m:sSubPr>
                                    <m:e>
                                      <m:r>
                                        <a:rPr lang="en-US" altLang="zh-TW" sz="1800" b="0" i="1" smtClean="0">
                                          <a:latin typeface="Cambria Math" panose="02040503050406030204" pitchFamily="18" charset="0"/>
                                        </a:rPr>
                                        <m:t>𝐶𝑆</m:t>
                                      </m:r>
                                    </m:e>
                                    <m:sub>
                                      <m:r>
                                        <a:rPr lang="en-US" altLang="zh-TW" sz="1800" b="0" i="1" smtClean="0">
                                          <a:latin typeface="Cambria Math" panose="02040503050406030204" pitchFamily="18" charset="0"/>
                                        </a:rPr>
                                        <m:t>𝑗</m:t>
                                      </m:r>
                                    </m:sub>
                                  </m:sSub>
                                  <m:d>
                                    <m:dPr>
                                      <m:begChr m:val="["/>
                                      <m:endChr m:val="]"/>
                                      <m:ctrlPr>
                                        <a:rPr lang="en-US" altLang="zh-TW" sz="1800" b="0" i="1" smtClean="0">
                                          <a:latin typeface="Cambria Math" panose="02040503050406030204" pitchFamily="18" charset="0"/>
                                        </a:rPr>
                                      </m:ctrlPr>
                                    </m:dPr>
                                    <m:e>
                                      <m:r>
                                        <a:rPr lang="en-US" altLang="zh-TW" sz="1800" b="0" i="1" smtClean="0">
                                          <a:latin typeface="Cambria Math" panose="02040503050406030204" pitchFamily="18" charset="0"/>
                                        </a:rPr>
                                        <m:t>𝑦</m:t>
                                      </m:r>
                                      <m:r>
                                        <a:rPr lang="en-US" altLang="zh-TW" sz="1800" b="0" i="1" smtClean="0">
                                          <a:latin typeface="Cambria Math" panose="02040503050406030204" pitchFamily="18" charset="0"/>
                                        </a:rPr>
                                        <m:t>−1:−</m:t>
                                      </m:r>
                                    </m:e>
                                  </m:d>
                                </m:e>
                              </m:d>
                              <m:r>
                                <a:rPr lang="en-US" altLang="zh-TW" sz="1800" b="0" i="1" smtClean="0">
                                  <a:latin typeface="Cambria Math" panose="02040503050406030204" pitchFamily="18" charset="0"/>
                                </a:rPr>
                                <m:t>                  </m:t>
                              </m:r>
                            </m:e>
                            <m:e>
                              <m:sSub>
                                <m:sSubPr>
                                  <m:ctrlPr>
                                    <a:rPr lang="en-US" altLang="zh-TW" sz="1800" b="0" i="1" smtClean="0">
                                      <a:latin typeface="Cambria Math" panose="02040503050406030204" pitchFamily="18" charset="0"/>
                                    </a:rPr>
                                  </m:ctrlPr>
                                </m:sSubPr>
                                <m:e>
                                  <m:r>
                                    <a:rPr lang="en-US" altLang="zh-TW" sz="1800" b="0" i="1" smtClean="0">
                                      <a:latin typeface="Cambria Math" panose="02040503050406030204" pitchFamily="18" charset="0"/>
                                    </a:rPr>
                                    <m:t>𝐷</m:t>
                                  </m:r>
                                </m:e>
                                <m:sub>
                                  <m:r>
                                    <a:rPr lang="en-US" altLang="zh-TW" sz="1800" b="0" i="1" smtClean="0">
                                      <a:latin typeface="Cambria Math" panose="02040503050406030204" pitchFamily="18" charset="0"/>
                                    </a:rPr>
                                    <m:t>𝑡𝑤</m:t>
                                  </m:r>
                                </m:sub>
                              </m:sSub>
                              <m:d>
                                <m:dPr>
                                  <m:ctrlPr>
                                    <a:rPr lang="en-US" altLang="zh-TW" sz="1800" b="0" i="1" smtClean="0">
                                      <a:latin typeface="Cambria Math" panose="02040503050406030204" pitchFamily="18" charset="0"/>
                                    </a:rPr>
                                  </m:ctrlPr>
                                </m:dPr>
                                <m:e>
                                  <m:sSub>
                                    <m:sSubPr>
                                      <m:ctrlPr>
                                        <a:rPr lang="en-US" altLang="zh-TW" sz="1800" b="0" i="1" smtClean="0">
                                          <a:latin typeface="Cambria Math" panose="02040503050406030204" pitchFamily="18" charset="0"/>
                                        </a:rPr>
                                      </m:ctrlPr>
                                    </m:sSubPr>
                                    <m:e>
                                      <m:r>
                                        <a:rPr lang="en-US" altLang="zh-TW" sz="1800" b="0" i="1" smtClean="0">
                                          <a:latin typeface="Cambria Math" panose="02040503050406030204" pitchFamily="18" charset="0"/>
                                        </a:rPr>
                                        <m:t>𝑆</m:t>
                                      </m:r>
                                    </m:e>
                                    <m:sub>
                                      <m:r>
                                        <a:rPr lang="en-US" altLang="zh-TW" sz="1800" b="0" i="1" smtClean="0">
                                          <a:latin typeface="Cambria Math" panose="02040503050406030204" pitchFamily="18" charset="0"/>
                                        </a:rPr>
                                        <m:t>𝑖</m:t>
                                      </m:r>
                                    </m:sub>
                                  </m:sSub>
                                  <m:d>
                                    <m:dPr>
                                      <m:begChr m:val="["/>
                                      <m:endChr m:val="]"/>
                                      <m:ctrlPr>
                                        <a:rPr lang="en-US" altLang="zh-TW" sz="1800" b="0" i="1" smtClean="0">
                                          <a:latin typeface="Cambria Math" panose="02040503050406030204" pitchFamily="18" charset="0"/>
                                        </a:rPr>
                                      </m:ctrlPr>
                                    </m:dPr>
                                    <m:e>
                                      <m:r>
                                        <a:rPr lang="en-US" altLang="zh-TW" sz="1800" b="0" i="1" smtClean="0">
                                          <a:latin typeface="Cambria Math" panose="02040503050406030204" pitchFamily="18" charset="0"/>
                                        </a:rPr>
                                        <m:t>𝑥</m:t>
                                      </m:r>
                                      <m:r>
                                        <a:rPr lang="en-US" altLang="zh-TW" sz="1800" b="0" i="1" smtClean="0">
                                          <a:latin typeface="Cambria Math" panose="02040503050406030204" pitchFamily="18" charset="0"/>
                                        </a:rPr>
                                        <m:t>−1:−</m:t>
                                      </m:r>
                                    </m:e>
                                  </m:d>
                                  <m:r>
                                    <a:rPr lang="en-US" altLang="zh-TW" sz="1800" b="0" i="1" smtClean="0">
                                      <a:latin typeface="Cambria Math" panose="02040503050406030204" pitchFamily="18" charset="0"/>
                                    </a:rPr>
                                    <m:t>,</m:t>
                                  </m:r>
                                  <m:sSub>
                                    <m:sSubPr>
                                      <m:ctrlPr>
                                        <a:rPr lang="en-US" altLang="zh-TW" sz="1800" b="0" i="1" smtClean="0">
                                          <a:latin typeface="Cambria Math" panose="02040503050406030204" pitchFamily="18" charset="0"/>
                                        </a:rPr>
                                      </m:ctrlPr>
                                    </m:sSubPr>
                                    <m:e>
                                      <m:r>
                                        <a:rPr lang="en-US" altLang="zh-TW" sz="1800" b="0" i="1" smtClean="0">
                                          <a:latin typeface="Cambria Math" panose="02040503050406030204" pitchFamily="18" charset="0"/>
                                        </a:rPr>
                                        <m:t>𝐶𝑆</m:t>
                                      </m:r>
                                    </m:e>
                                    <m:sub>
                                      <m:r>
                                        <a:rPr lang="en-US" altLang="zh-TW" sz="1800" b="0" i="1" smtClean="0">
                                          <a:latin typeface="Cambria Math" panose="02040503050406030204" pitchFamily="18" charset="0"/>
                                        </a:rPr>
                                        <m:t>𝑗</m:t>
                                      </m:r>
                                    </m:sub>
                                  </m:sSub>
                                </m:e>
                              </m:d>
                              <m:r>
                                <a:rPr lang="en-US" altLang="zh-TW" sz="1800" b="0" i="1" smtClean="0">
                                  <a:latin typeface="Cambria Math" panose="02040503050406030204" pitchFamily="18" charset="0"/>
                                </a:rPr>
                                <m:t>                  </m:t>
                              </m:r>
                            </m:e>
                            <m:e>
                              <m:sSub>
                                <m:sSubPr>
                                  <m:ctrlPr>
                                    <a:rPr lang="en-US" altLang="zh-TW" sz="1800" b="0" i="1" smtClean="0">
                                      <a:latin typeface="Cambria Math" panose="02040503050406030204" pitchFamily="18" charset="0"/>
                                    </a:rPr>
                                  </m:ctrlPr>
                                </m:sSubPr>
                                <m:e>
                                  <m:r>
                                    <a:rPr lang="en-US" altLang="zh-TW" sz="1800" b="0" i="1" smtClean="0">
                                      <a:latin typeface="Cambria Math" panose="02040503050406030204" pitchFamily="18" charset="0"/>
                                    </a:rPr>
                                    <m:t>𝐷</m:t>
                                  </m:r>
                                </m:e>
                                <m:sub>
                                  <m:r>
                                    <a:rPr lang="en-US" altLang="zh-TW" sz="1800" b="0" i="1" smtClean="0">
                                      <a:latin typeface="Cambria Math" panose="02040503050406030204" pitchFamily="18" charset="0"/>
                                    </a:rPr>
                                    <m:t>𝑡𝑤</m:t>
                                  </m:r>
                                </m:sub>
                              </m:sSub>
                              <m:r>
                                <a:rPr lang="en-US" altLang="zh-TW" sz="1800" b="0" i="1" smtClean="0">
                                  <a:latin typeface="Cambria Math" panose="02040503050406030204" pitchFamily="18" charset="0"/>
                                </a:rPr>
                                <m:t>(</m:t>
                              </m:r>
                              <m:sSub>
                                <m:sSubPr>
                                  <m:ctrlPr>
                                    <a:rPr lang="en-US" altLang="zh-TW" sz="1800" b="0" i="1" smtClean="0">
                                      <a:latin typeface="Cambria Math" panose="02040503050406030204" pitchFamily="18" charset="0"/>
                                    </a:rPr>
                                  </m:ctrlPr>
                                </m:sSubPr>
                                <m:e>
                                  <m:r>
                                    <a:rPr lang="en-US" altLang="zh-TW" sz="1800" b="0" i="1" smtClean="0">
                                      <a:latin typeface="Cambria Math" panose="02040503050406030204" pitchFamily="18" charset="0"/>
                                    </a:rPr>
                                    <m:t>𝑆</m:t>
                                  </m:r>
                                </m:e>
                                <m:sub>
                                  <m:r>
                                    <a:rPr lang="en-US" altLang="zh-TW" sz="1800" b="0" i="1" smtClean="0">
                                      <a:latin typeface="Cambria Math" panose="02040503050406030204" pitchFamily="18" charset="0"/>
                                    </a:rPr>
                                    <m:t>𝑖</m:t>
                                  </m:r>
                                </m:sub>
                              </m:sSub>
                              <m:r>
                                <a:rPr lang="en-US" altLang="zh-TW" sz="1800" b="0" i="1" smtClean="0">
                                  <a:latin typeface="Cambria Math" panose="02040503050406030204" pitchFamily="18" charset="0"/>
                                </a:rPr>
                                <m:t>[</m:t>
                              </m:r>
                              <m:r>
                                <a:rPr lang="en-US" altLang="zh-TW" sz="1800" b="0" i="1" smtClean="0">
                                  <a:latin typeface="Cambria Math" panose="02040503050406030204" pitchFamily="18" charset="0"/>
                                </a:rPr>
                                <m:t>𝑥</m:t>
                              </m:r>
                              <m:r>
                                <a:rPr lang="en-US" altLang="zh-TW" sz="1800" b="0" i="1" smtClean="0">
                                  <a:latin typeface="Cambria Math" panose="02040503050406030204" pitchFamily="18" charset="0"/>
                                </a:rPr>
                                <m:t>−1:−],</m:t>
                              </m:r>
                              <m:sSub>
                                <m:sSubPr>
                                  <m:ctrlPr>
                                    <a:rPr lang="en-US" altLang="zh-TW" sz="1800" b="0" i="1" smtClean="0">
                                      <a:latin typeface="Cambria Math" panose="02040503050406030204" pitchFamily="18" charset="0"/>
                                    </a:rPr>
                                  </m:ctrlPr>
                                </m:sSubPr>
                                <m:e>
                                  <m:r>
                                    <a:rPr lang="en-US" altLang="zh-TW" sz="1800" b="0" i="1" smtClean="0">
                                      <a:latin typeface="Cambria Math" panose="02040503050406030204" pitchFamily="18" charset="0"/>
                                    </a:rPr>
                                    <m:t>𝐶𝑆</m:t>
                                  </m:r>
                                </m:e>
                                <m:sub>
                                  <m:r>
                                    <a:rPr lang="en-US" altLang="zh-TW" sz="1800" b="0" i="1" smtClean="0">
                                      <a:latin typeface="Cambria Math" panose="02040503050406030204" pitchFamily="18" charset="0"/>
                                    </a:rPr>
                                    <m:t>𝑗</m:t>
                                  </m:r>
                                </m:sub>
                              </m:sSub>
                              <m:r>
                                <a:rPr lang="en-US" altLang="zh-TW" sz="1800" b="0" i="1" smtClean="0">
                                  <a:latin typeface="Cambria Math" panose="02040503050406030204" pitchFamily="18" charset="0"/>
                                </a:rPr>
                                <m:t>[</m:t>
                              </m:r>
                              <m:r>
                                <a:rPr lang="en-US" altLang="zh-TW" sz="1800" b="0" i="1" smtClean="0">
                                  <a:latin typeface="Cambria Math" panose="02040503050406030204" pitchFamily="18" charset="0"/>
                                </a:rPr>
                                <m:t>𝑦</m:t>
                              </m:r>
                              <m:r>
                                <a:rPr lang="en-US" altLang="zh-TW" sz="1800" b="0" i="1" smtClean="0">
                                  <a:latin typeface="Cambria Math" panose="02040503050406030204" pitchFamily="18" charset="0"/>
                                </a:rPr>
                                <m:t>−1:−])</m:t>
                              </m:r>
                            </m:e>
                          </m:eqArr>
                        </m:e>
                      </m:d>
                    </m:oMath>
                  </m:oMathPara>
                </a14:m>
                <a:endParaRPr lang="en-US" altLang="zh-TW" sz="1800" dirty="0"/>
              </a:p>
              <a:p>
                <a:pPr marL="0" indent="0">
                  <a:buNone/>
                </a:pPr>
                <a:endParaRPr lang="en-US" altLang="zh-TW" sz="1800" dirty="0"/>
              </a:p>
              <a:p>
                <a:pPr marL="0" indent="0">
                  <a:buNone/>
                </a:pPr>
                <a14:m>
                  <m:oMathPara xmlns:m="http://schemas.openxmlformats.org/officeDocument/2006/math">
                    <m:oMathParaPr>
                      <m:jc m:val="left"/>
                    </m:oMathParaPr>
                    <m:oMath xmlns:m="http://schemas.openxmlformats.org/officeDocument/2006/math">
                      <m:sSub>
                        <m:sSubPr>
                          <m:ctrlPr>
                            <a:rPr lang="en-US" altLang="zh-TW" sz="1800" b="0" i="1" smtClean="0">
                              <a:latin typeface="Cambria Math" panose="02040503050406030204" pitchFamily="18" charset="0"/>
                            </a:rPr>
                          </m:ctrlPr>
                        </m:sSubPr>
                        <m:e>
                          <m:r>
                            <a:rPr lang="en-US" altLang="zh-TW" sz="1800" b="0" i="1" smtClean="0">
                              <a:latin typeface="Cambria Math" panose="02040503050406030204" pitchFamily="18" charset="0"/>
                            </a:rPr>
                            <m:t>𝐷</m:t>
                          </m:r>
                        </m:e>
                        <m:sub>
                          <m:r>
                            <a:rPr lang="en-US" altLang="zh-TW" sz="1800" b="0" i="1" smtClean="0">
                              <a:latin typeface="Cambria Math" panose="02040503050406030204" pitchFamily="18" charset="0"/>
                            </a:rPr>
                            <m:t>𝑏𝑎𝑠𝑒</m:t>
                          </m:r>
                          <m:r>
                            <a:rPr lang="en-US" altLang="zh-TW" sz="1800" b="0" i="1" smtClean="0">
                              <a:latin typeface="Cambria Math" panose="02040503050406030204" pitchFamily="18" charset="0"/>
                            </a:rPr>
                            <m:t>−</m:t>
                          </m:r>
                          <m:r>
                            <a:rPr lang="en-US" altLang="zh-TW" sz="1800" b="0" i="1" smtClean="0">
                              <a:latin typeface="Cambria Math" panose="02040503050406030204" pitchFamily="18" charset="0"/>
                            </a:rPr>
                            <m:t>𝑙𝑏</m:t>
                          </m:r>
                        </m:sub>
                      </m:sSub>
                      <m:d>
                        <m:dPr>
                          <m:ctrlPr>
                            <a:rPr lang="en-US" altLang="zh-TW" sz="1800" b="0" i="1" smtClean="0">
                              <a:latin typeface="Cambria Math" panose="02040503050406030204" pitchFamily="18" charset="0"/>
                            </a:rPr>
                          </m:ctrlPr>
                        </m:dPr>
                        <m:e>
                          <m:r>
                            <a:rPr lang="en-US" altLang="zh-TW" sz="1800" b="0" i="1" smtClean="0">
                              <a:latin typeface="Cambria Math" panose="02040503050406030204" pitchFamily="18" charset="0"/>
                            </a:rPr>
                            <m:t>𝑎</m:t>
                          </m:r>
                          <m:r>
                            <a:rPr lang="en-US" altLang="zh-TW" sz="1800" b="0" i="1" smtClean="0">
                              <a:latin typeface="Cambria Math" panose="02040503050406030204" pitchFamily="18" charset="0"/>
                            </a:rPr>
                            <m:t>,</m:t>
                          </m:r>
                          <m:r>
                            <a:rPr lang="en-US" altLang="zh-TW" sz="1800" b="0" i="1" smtClean="0">
                              <a:latin typeface="Cambria Math" panose="02040503050406030204" pitchFamily="18" charset="0"/>
                            </a:rPr>
                            <m:t>𝐵</m:t>
                          </m:r>
                        </m:e>
                      </m:d>
                      <m:r>
                        <a:rPr lang="en-US" altLang="zh-TW" sz="1800" b="0" i="1" smtClean="0">
                          <a:latin typeface="Cambria Math" panose="02040503050406030204" pitchFamily="18" charset="0"/>
                        </a:rPr>
                        <m:t>=</m:t>
                      </m:r>
                      <m:d>
                        <m:dPr>
                          <m:begChr m:val="{"/>
                          <m:endChr m:val=""/>
                          <m:ctrlPr>
                            <a:rPr lang="en-US" altLang="zh-TW" sz="1800" b="0" i="1" smtClean="0">
                              <a:latin typeface="Cambria Math" panose="02040503050406030204" pitchFamily="18" charset="0"/>
                            </a:rPr>
                          </m:ctrlPr>
                        </m:dPr>
                        <m:e>
                          <m:eqArr>
                            <m:eqArrPr>
                              <m:ctrlPr>
                                <a:rPr lang="en-US" altLang="zh-TW" sz="1800" b="0" i="1" smtClean="0">
                                  <a:latin typeface="Cambria Math" panose="02040503050406030204" pitchFamily="18" charset="0"/>
                                </a:rPr>
                              </m:ctrlPr>
                            </m:eqArrPr>
                            <m:e>
                              <m:r>
                                <a:rPr lang="en-US" altLang="zh-TW" sz="1800" b="0" i="1" smtClean="0">
                                  <a:latin typeface="Cambria Math" panose="02040503050406030204" pitchFamily="18" charset="0"/>
                                </a:rPr>
                                <m:t>0                                    </m:t>
                              </m:r>
                              <m:d>
                                <m:dPr>
                                  <m:ctrlPr>
                                    <a:rPr lang="en-US" altLang="zh-TW" sz="1800" b="0" i="1" smtClean="0">
                                      <a:latin typeface="Cambria Math" panose="02040503050406030204" pitchFamily="18" charset="0"/>
                                    </a:rPr>
                                  </m:ctrlPr>
                                </m:dPr>
                                <m:e>
                                  <m:r>
                                    <a:rPr lang="en-US" altLang="zh-TW" sz="1800" b="0" i="1" smtClean="0">
                                      <a:latin typeface="Cambria Math" panose="02040503050406030204" pitchFamily="18" charset="0"/>
                                    </a:rPr>
                                    <m:t>𝑖𝑓</m:t>
                                  </m:r>
                                  <m:r>
                                    <a:rPr lang="en-US" altLang="zh-TW" sz="1800" b="0" i="1" smtClean="0">
                                      <a:latin typeface="Cambria Math" panose="02040503050406030204" pitchFamily="18" charset="0"/>
                                    </a:rPr>
                                    <m:t> </m:t>
                                  </m:r>
                                  <m:r>
                                    <a:rPr lang="en-US" altLang="zh-TW" sz="1800" b="0" i="1" smtClean="0">
                                      <a:latin typeface="Cambria Math" panose="02040503050406030204" pitchFamily="18" charset="0"/>
                                    </a:rPr>
                                    <m:t>𝐵</m:t>
                                  </m:r>
                                  <m:r>
                                    <a:rPr lang="en-US" altLang="zh-TW" sz="1800" b="0" i="1" smtClean="0">
                                      <a:latin typeface="Cambria Math" panose="02040503050406030204" pitchFamily="18" charset="0"/>
                                    </a:rPr>
                                    <m:t>.</m:t>
                                  </m:r>
                                  <m:r>
                                    <a:rPr lang="en-US" altLang="zh-TW" sz="1800" b="0" i="1" smtClean="0">
                                      <a:latin typeface="Cambria Math" panose="02040503050406030204" pitchFamily="18" charset="0"/>
                                    </a:rPr>
                                    <m:t>𝑙𝑏</m:t>
                                  </m:r>
                                  <m:r>
                                    <a:rPr lang="en-US" altLang="zh-TW" sz="1800" b="0" i="1" smtClean="0">
                                      <a:latin typeface="Cambria Math" panose="02040503050406030204" pitchFamily="18" charset="0"/>
                                      <a:ea typeface="Cambria Math" panose="02040503050406030204" pitchFamily="18" charset="0"/>
                                    </a:rPr>
                                    <m:t>≤</m:t>
                                  </m:r>
                                  <m:r>
                                    <a:rPr lang="en-US" altLang="zh-TW" sz="1800" b="0" i="1" smtClean="0">
                                      <a:latin typeface="Cambria Math" panose="02040503050406030204" pitchFamily="18" charset="0"/>
                                      <a:ea typeface="Cambria Math" panose="02040503050406030204" pitchFamily="18" charset="0"/>
                                    </a:rPr>
                                    <m:t>𝑎</m:t>
                                  </m:r>
                                  <m:r>
                                    <a:rPr lang="en-US" altLang="zh-TW" sz="1800" b="0" i="1" smtClean="0">
                                      <a:latin typeface="Cambria Math" panose="02040503050406030204" pitchFamily="18" charset="0"/>
                                      <a:ea typeface="Cambria Math" panose="02040503050406030204" pitchFamily="18" charset="0"/>
                                    </a:rPr>
                                    <m:t>≤</m:t>
                                  </m:r>
                                  <m:r>
                                    <a:rPr lang="en-US" altLang="zh-TW" sz="1800" b="0" i="1" smtClean="0">
                                      <a:latin typeface="Cambria Math" panose="02040503050406030204" pitchFamily="18" charset="0"/>
                                    </a:rPr>
                                    <m:t>𝐵</m:t>
                                  </m:r>
                                  <m:r>
                                    <a:rPr lang="en-US" altLang="zh-TW" sz="1800" b="0" i="1" smtClean="0">
                                      <a:latin typeface="Cambria Math" panose="02040503050406030204" pitchFamily="18" charset="0"/>
                                    </a:rPr>
                                    <m:t>.</m:t>
                                  </m:r>
                                  <m:r>
                                    <a:rPr lang="en-US" altLang="zh-TW" sz="1800" b="0" i="1" smtClean="0">
                                      <a:latin typeface="Cambria Math" panose="02040503050406030204" pitchFamily="18" charset="0"/>
                                    </a:rPr>
                                    <m:t>𝑢𝑏</m:t>
                                  </m:r>
                                </m:e>
                              </m:d>
                              <m:r>
                                <a:rPr lang="en-US" altLang="zh-TW" sz="1800" b="0" i="1" smtClean="0">
                                  <a:latin typeface="Cambria Math" panose="02040503050406030204" pitchFamily="18" charset="0"/>
                                </a:rPr>
                                <m:t>              </m:t>
                              </m:r>
                            </m:e>
                            <m:e>
                              <m:r>
                                <a:rPr lang="en-US" altLang="zh-TW" sz="1800" b="0" i="1" smtClean="0">
                                  <a:latin typeface="Cambria Math" panose="02040503050406030204" pitchFamily="18" charset="0"/>
                                </a:rPr>
                                <m:t>𝑎</m:t>
                              </m:r>
                              <m:r>
                                <a:rPr lang="en-US" altLang="zh-TW" sz="1800" b="0" i="1" smtClean="0">
                                  <a:latin typeface="Cambria Math" panose="02040503050406030204" pitchFamily="18" charset="0"/>
                                </a:rPr>
                                <m:t>−</m:t>
                              </m:r>
                              <m:r>
                                <a:rPr lang="en-US" altLang="zh-TW" sz="1800" b="0" i="1" smtClean="0">
                                  <a:latin typeface="Cambria Math" panose="02040503050406030204" pitchFamily="18" charset="0"/>
                                </a:rPr>
                                <m:t>𝐵</m:t>
                              </m:r>
                              <m:r>
                                <a:rPr lang="en-US" altLang="zh-TW" sz="1800" b="0" i="1" smtClean="0">
                                  <a:latin typeface="Cambria Math" panose="02040503050406030204" pitchFamily="18" charset="0"/>
                                </a:rPr>
                                <m:t>.</m:t>
                              </m:r>
                              <m:r>
                                <a:rPr lang="en-US" altLang="zh-TW" sz="1800" b="0" i="1" smtClean="0">
                                  <a:latin typeface="Cambria Math" panose="02040503050406030204" pitchFamily="18" charset="0"/>
                                </a:rPr>
                                <m:t>𝑢𝑏</m:t>
                              </m:r>
                              <m:r>
                                <a:rPr lang="en-US" altLang="zh-TW" sz="1800" b="0" i="1" smtClean="0">
                                  <a:latin typeface="Cambria Math" panose="02040503050406030204" pitchFamily="18" charset="0"/>
                                </a:rPr>
                                <m:t>                     </m:t>
                              </m:r>
                              <m:d>
                                <m:dPr>
                                  <m:ctrlPr>
                                    <a:rPr lang="en-US" altLang="zh-TW" sz="1800" b="0" i="1" smtClean="0">
                                      <a:latin typeface="Cambria Math" panose="02040503050406030204" pitchFamily="18" charset="0"/>
                                    </a:rPr>
                                  </m:ctrlPr>
                                </m:dPr>
                                <m:e>
                                  <m:r>
                                    <a:rPr lang="en-US" altLang="zh-TW" sz="1800" b="0" i="1" smtClean="0">
                                      <a:latin typeface="Cambria Math" panose="02040503050406030204" pitchFamily="18" charset="0"/>
                                    </a:rPr>
                                    <m:t>𝑖𝑓</m:t>
                                  </m:r>
                                  <m:r>
                                    <a:rPr lang="en-US" altLang="zh-TW" sz="1800" b="0" i="1" smtClean="0">
                                      <a:latin typeface="Cambria Math" panose="02040503050406030204" pitchFamily="18" charset="0"/>
                                    </a:rPr>
                                    <m:t> </m:t>
                                  </m:r>
                                  <m:r>
                                    <a:rPr lang="en-US" altLang="zh-TW" sz="1800" b="0" i="1" smtClean="0">
                                      <a:latin typeface="Cambria Math" panose="02040503050406030204" pitchFamily="18" charset="0"/>
                                    </a:rPr>
                                    <m:t>𝑎</m:t>
                                  </m:r>
                                  <m:r>
                                    <a:rPr lang="en-US" altLang="zh-TW" sz="1800" b="0" i="1" smtClean="0">
                                      <a:latin typeface="Cambria Math" panose="02040503050406030204" pitchFamily="18" charset="0"/>
                                    </a:rPr>
                                    <m:t>&gt;</m:t>
                                  </m:r>
                                  <m:r>
                                    <a:rPr lang="en-US" altLang="zh-TW" sz="1800" b="0" i="1" smtClean="0">
                                      <a:latin typeface="Cambria Math" panose="02040503050406030204" pitchFamily="18" charset="0"/>
                                    </a:rPr>
                                    <m:t>𝐵</m:t>
                                  </m:r>
                                  <m:r>
                                    <a:rPr lang="en-US" altLang="zh-TW" sz="1800" b="0" i="1" smtClean="0">
                                      <a:latin typeface="Cambria Math" panose="02040503050406030204" pitchFamily="18" charset="0"/>
                                    </a:rPr>
                                    <m:t>.</m:t>
                                  </m:r>
                                  <m:r>
                                    <a:rPr lang="en-US" altLang="zh-TW" sz="1800" b="0" i="1" smtClean="0">
                                      <a:latin typeface="Cambria Math" panose="02040503050406030204" pitchFamily="18" charset="0"/>
                                    </a:rPr>
                                    <m:t>𝑢𝑏</m:t>
                                  </m:r>
                                </m:e>
                              </m:d>
                              <m:r>
                                <a:rPr lang="en-US" altLang="zh-TW" sz="1800" b="0" i="1" smtClean="0">
                                  <a:latin typeface="Cambria Math" panose="02040503050406030204" pitchFamily="18" charset="0"/>
                                </a:rPr>
                                <m:t>                             </m:t>
                              </m:r>
                            </m:e>
                            <m:e>
                              <m:r>
                                <a:rPr lang="en-US" altLang="zh-TW" sz="1800" b="0" i="1" smtClean="0">
                                  <a:latin typeface="Cambria Math" panose="02040503050406030204" pitchFamily="18" charset="0"/>
                                </a:rPr>
                                <m:t>𝐵</m:t>
                              </m:r>
                              <m:r>
                                <a:rPr lang="en-US" altLang="zh-TW" sz="1800" b="0" i="1" smtClean="0">
                                  <a:latin typeface="Cambria Math" panose="02040503050406030204" pitchFamily="18" charset="0"/>
                                </a:rPr>
                                <m:t>.</m:t>
                              </m:r>
                              <m:r>
                                <a:rPr lang="en-US" altLang="zh-TW" sz="1800" b="0" i="1" smtClean="0">
                                  <a:latin typeface="Cambria Math" panose="02040503050406030204" pitchFamily="18" charset="0"/>
                                </a:rPr>
                                <m:t>𝑙𝑏</m:t>
                              </m:r>
                              <m:r>
                                <a:rPr lang="en-US" altLang="zh-TW" sz="1800" b="0" i="1" smtClean="0">
                                  <a:latin typeface="Cambria Math" panose="02040503050406030204" pitchFamily="18" charset="0"/>
                                </a:rPr>
                                <m:t>−</m:t>
                              </m:r>
                              <m:r>
                                <a:rPr lang="en-US" altLang="zh-TW" sz="1800" b="0" i="1" smtClean="0">
                                  <a:latin typeface="Cambria Math" panose="02040503050406030204" pitchFamily="18" charset="0"/>
                                </a:rPr>
                                <m:t>𝑎</m:t>
                              </m:r>
                              <m:r>
                                <a:rPr lang="en-US" altLang="zh-TW" sz="1800" b="0" i="1" smtClean="0">
                                  <a:latin typeface="Cambria Math" panose="02040503050406030204" pitchFamily="18" charset="0"/>
                                </a:rPr>
                                <m:t>                      </m:t>
                              </m:r>
                              <m:d>
                                <m:dPr>
                                  <m:ctrlPr>
                                    <a:rPr lang="en-US" altLang="zh-TW" sz="1800" b="0" i="1" smtClean="0">
                                      <a:latin typeface="Cambria Math" panose="02040503050406030204" pitchFamily="18" charset="0"/>
                                    </a:rPr>
                                  </m:ctrlPr>
                                </m:dPr>
                                <m:e>
                                  <m:r>
                                    <a:rPr lang="en-US" altLang="zh-TW" sz="1800" b="0" i="1" smtClean="0">
                                      <a:latin typeface="Cambria Math" panose="02040503050406030204" pitchFamily="18" charset="0"/>
                                    </a:rPr>
                                    <m:t>𝑖𝑓</m:t>
                                  </m:r>
                                  <m:r>
                                    <a:rPr lang="en-US" altLang="zh-TW" sz="1800" b="0" i="1" smtClean="0">
                                      <a:latin typeface="Cambria Math" panose="02040503050406030204" pitchFamily="18" charset="0"/>
                                    </a:rPr>
                                    <m:t> </m:t>
                                  </m:r>
                                  <m:r>
                                    <a:rPr lang="en-US" altLang="zh-TW" sz="1800" b="0" i="1" smtClean="0">
                                      <a:latin typeface="Cambria Math" panose="02040503050406030204" pitchFamily="18" charset="0"/>
                                    </a:rPr>
                                    <m:t>𝑎</m:t>
                                  </m:r>
                                  <m:r>
                                    <a:rPr lang="en-US" altLang="zh-TW" sz="1800" b="0" i="1" smtClean="0">
                                      <a:latin typeface="Cambria Math" panose="02040503050406030204" pitchFamily="18" charset="0"/>
                                    </a:rPr>
                                    <m:t>&lt;</m:t>
                                  </m:r>
                                  <m:r>
                                    <a:rPr lang="en-US" altLang="zh-TW" sz="1800" b="0" i="1" smtClean="0">
                                      <a:latin typeface="Cambria Math" panose="02040503050406030204" pitchFamily="18" charset="0"/>
                                    </a:rPr>
                                    <m:t>𝐵</m:t>
                                  </m:r>
                                  <m:r>
                                    <a:rPr lang="en-US" altLang="zh-TW" sz="1800" b="0" i="1" smtClean="0">
                                      <a:latin typeface="Cambria Math" panose="02040503050406030204" pitchFamily="18" charset="0"/>
                                    </a:rPr>
                                    <m:t>.</m:t>
                                  </m:r>
                                  <m:r>
                                    <a:rPr lang="en-US" altLang="zh-TW" sz="1800" b="0" i="1" smtClean="0">
                                      <a:latin typeface="Cambria Math" panose="02040503050406030204" pitchFamily="18" charset="0"/>
                                    </a:rPr>
                                    <m:t>𝑙𝑏</m:t>
                                  </m:r>
                                </m:e>
                              </m:d>
                              <m:r>
                                <a:rPr lang="en-US" altLang="zh-TW" sz="1800" b="0" i="1" smtClean="0">
                                  <a:latin typeface="Cambria Math" panose="02040503050406030204" pitchFamily="18" charset="0"/>
                                </a:rPr>
                                <m:t>                              </m:t>
                              </m:r>
                            </m:e>
                          </m:eqArr>
                        </m:e>
                      </m:d>
                    </m:oMath>
                  </m:oMathPara>
                </a14:m>
                <a:endParaRPr lang="zh-TW" altLang="en-US" sz="1800" dirty="0"/>
              </a:p>
            </p:txBody>
          </p:sp>
        </mc:Choice>
        <mc:Fallback xmlns="">
          <p:sp>
            <p:nvSpPr>
              <p:cNvPr id="4" name="內容版面配置區 2"/>
              <p:cNvSpPr>
                <a:spLocks noGrp="1" noRot="1" noChangeAspect="1" noMove="1" noResize="1" noEditPoints="1" noAdjustHandles="1" noChangeArrowheads="1" noChangeShapeType="1" noTextEdit="1"/>
              </p:cNvSpPr>
              <p:nvPr>
                <p:ph idx="1"/>
              </p:nvPr>
            </p:nvSpPr>
            <p:spPr>
              <a:xfrm>
                <a:off x="588818" y="966292"/>
                <a:ext cx="9280896" cy="2513177"/>
              </a:xfrm>
              <a:blipFill>
                <a:blip r:embed="rId2"/>
                <a:stretch>
                  <a:fillRect t="-485"/>
                </a:stretch>
              </a:blipFill>
            </p:spPr>
            <p:txBody>
              <a:bodyPr/>
              <a:lstStyle/>
              <a:p>
                <a:r>
                  <a:rPr lang="zh-TW" altLang="en-US">
                    <a:noFill/>
                  </a:rPr>
                  <a:t> </a:t>
                </a:r>
              </a:p>
            </p:txBody>
          </p:sp>
        </mc:Fallback>
      </mc:AlternateContent>
      <p:pic>
        <p:nvPicPr>
          <p:cNvPr id="6" name="圖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44179" y="2222880"/>
            <a:ext cx="4553888" cy="3858565"/>
          </a:xfrm>
          <a:prstGeom prst="rect">
            <a:avLst/>
          </a:prstGeom>
        </p:spPr>
      </p:pic>
      <mc:AlternateContent xmlns:mc="http://schemas.openxmlformats.org/markup-compatibility/2006" xmlns:a14="http://schemas.microsoft.com/office/drawing/2010/main">
        <mc:Choice Requires="a14">
          <p:sp>
            <p:nvSpPr>
              <p:cNvPr id="7" name="文字方塊 6"/>
              <p:cNvSpPr txBox="1"/>
              <p:nvPr/>
            </p:nvSpPr>
            <p:spPr>
              <a:xfrm>
                <a:off x="2376219" y="5134859"/>
                <a:ext cx="4208140" cy="41139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i="1">
                              <a:latin typeface="Cambria Math" panose="02040503050406030204" pitchFamily="18" charset="0"/>
                            </a:rPr>
                            <m:t>𝐷</m:t>
                          </m:r>
                        </m:e>
                        <m:sub>
                          <m:r>
                            <a:rPr lang="en-US" altLang="zh-TW" i="1">
                              <a:latin typeface="Cambria Math" panose="02040503050406030204" pitchFamily="18" charset="0"/>
                            </a:rPr>
                            <m:t>𝑡𝑤</m:t>
                          </m:r>
                          <m:r>
                            <a:rPr lang="en-US" altLang="zh-TW" i="1">
                              <a:latin typeface="Cambria Math" panose="02040503050406030204" pitchFamily="18" charset="0"/>
                            </a:rPr>
                            <m:t>−</m:t>
                          </m:r>
                          <m:r>
                            <a:rPr lang="en-US" altLang="zh-TW" i="1">
                              <a:latin typeface="Cambria Math" panose="02040503050406030204" pitchFamily="18" charset="0"/>
                            </a:rPr>
                            <m:t>𝑙𝑏</m:t>
                          </m:r>
                        </m:sub>
                      </m:sSub>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𝑆</m:t>
                              </m:r>
                            </m:e>
                            <m:sub>
                              <m:r>
                                <a:rPr lang="en-US" altLang="zh-TW" i="1">
                                  <a:latin typeface="Cambria Math" panose="02040503050406030204" pitchFamily="18" charset="0"/>
                                </a:rPr>
                                <m:t>𝑖</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𝑥</m:t>
                          </m:r>
                          <m:r>
                            <a:rPr lang="en-US" altLang="zh-TW" b="0" i="1" smtClean="0">
                              <a:latin typeface="Cambria Math" panose="02040503050406030204" pitchFamily="18" charset="0"/>
                            </a:rPr>
                            <m:t>], </m:t>
                          </m:r>
                          <m:sSub>
                            <m:sSubPr>
                              <m:ctrlPr>
                                <a:rPr lang="en-US" altLang="zh-TW" i="1">
                                  <a:latin typeface="Cambria Math" panose="02040503050406030204" pitchFamily="18" charset="0"/>
                                </a:rPr>
                              </m:ctrlPr>
                            </m:sSubPr>
                            <m:e>
                              <m:r>
                                <a:rPr lang="en-US" altLang="zh-TW" i="1">
                                  <a:latin typeface="Cambria Math" panose="02040503050406030204" pitchFamily="18" charset="0"/>
                                </a:rPr>
                                <m:t>𝐶𝑆</m:t>
                              </m:r>
                            </m:e>
                            <m:sub>
                              <m:r>
                                <a:rPr lang="en-US" altLang="zh-TW" i="1">
                                  <a:latin typeface="Cambria Math" panose="02040503050406030204" pitchFamily="18" charset="0"/>
                                </a:rPr>
                                <m:t>𝑗</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𝑦</m:t>
                          </m:r>
                          <m:r>
                            <a:rPr lang="en-US" altLang="zh-TW" b="0" i="1" smtClean="0">
                              <a:latin typeface="Cambria Math" panose="02040503050406030204" pitchFamily="18" charset="0"/>
                            </a:rPr>
                            <m:t>]</m:t>
                          </m:r>
                        </m:e>
                      </m:d>
                      <m:r>
                        <a:rPr lang="en-US" altLang="zh-TW" i="1" smtClean="0">
                          <a:latin typeface="Cambria Math" panose="02040503050406030204" pitchFamily="18" charset="0"/>
                          <a:ea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𝐷</m:t>
                          </m:r>
                        </m:e>
                        <m:sub>
                          <m:r>
                            <a:rPr lang="en-US" altLang="zh-TW" i="1">
                              <a:latin typeface="Cambria Math" panose="02040503050406030204" pitchFamily="18" charset="0"/>
                            </a:rPr>
                            <m:t>𝑡𝑤</m:t>
                          </m:r>
                        </m:sub>
                      </m:sSub>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𝑆</m:t>
                              </m:r>
                            </m:e>
                            <m:sub>
                              <m:r>
                                <a:rPr lang="en-US" altLang="zh-TW" i="1">
                                  <a:latin typeface="Cambria Math" panose="02040503050406030204" pitchFamily="18" charset="0"/>
                                </a:rPr>
                                <m:t>𝑖</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𝑥</m:t>
                          </m:r>
                          <m:r>
                            <a:rPr lang="en-US" altLang="zh-TW" b="0" i="1" smtClean="0">
                              <a:latin typeface="Cambria Math" panose="02040503050406030204" pitchFamily="18" charset="0"/>
                            </a:rPr>
                            <m:t>], </m:t>
                          </m:r>
                          <m:sSub>
                            <m:sSubPr>
                              <m:ctrlPr>
                                <a:rPr lang="en-US" altLang="zh-TW" i="1">
                                  <a:latin typeface="Cambria Math" panose="02040503050406030204" pitchFamily="18" charset="0"/>
                                </a:rPr>
                              </m:ctrlPr>
                            </m:sSubPr>
                            <m:e>
                              <m:r>
                                <a:rPr lang="en-US" altLang="zh-TW" i="1">
                                  <a:latin typeface="Cambria Math" panose="02040503050406030204" pitchFamily="18" charset="0"/>
                                </a:rPr>
                                <m:t>𝑆</m:t>
                              </m:r>
                            </m:e>
                            <m:sub>
                              <m:r>
                                <a:rPr lang="en-US" altLang="zh-TW" i="1">
                                  <a:latin typeface="Cambria Math" panose="02040503050406030204" pitchFamily="18" charset="0"/>
                                </a:rPr>
                                <m:t>𝑗</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𝑦</m:t>
                          </m:r>
                          <m:r>
                            <a:rPr lang="en-US" altLang="zh-TW" b="0" i="1" smtClean="0">
                              <a:latin typeface="Cambria Math" panose="02040503050406030204" pitchFamily="18" charset="0"/>
                            </a:rPr>
                            <m:t>]</m:t>
                          </m:r>
                        </m:e>
                      </m:d>
                    </m:oMath>
                  </m:oMathPara>
                </a14:m>
                <a:endParaRPr lang="zh-TW" altLang="en-US" dirty="0"/>
              </a:p>
            </p:txBody>
          </p:sp>
        </mc:Choice>
        <mc:Fallback xmlns="">
          <p:sp>
            <p:nvSpPr>
              <p:cNvPr id="7" name="文字方塊 6"/>
              <p:cNvSpPr txBox="1">
                <a:spLocks noRot="1" noChangeAspect="1" noMove="1" noResize="1" noEditPoints="1" noAdjustHandles="1" noChangeArrowheads="1" noChangeShapeType="1" noTextEdit="1"/>
              </p:cNvSpPr>
              <p:nvPr/>
            </p:nvSpPr>
            <p:spPr>
              <a:xfrm>
                <a:off x="2376219" y="5134859"/>
                <a:ext cx="4208140" cy="411395"/>
              </a:xfrm>
              <a:prstGeom prst="rect">
                <a:avLst/>
              </a:prstGeom>
              <a:blipFill>
                <a:blip r:embed="rId4"/>
                <a:stretch>
                  <a:fillRect b="-8824"/>
                </a:stretch>
              </a:blipFill>
            </p:spPr>
            <p:txBody>
              <a:bodyPr/>
              <a:lstStyle/>
              <a:p>
                <a:r>
                  <a:rPr lang="zh-TW" altLang="en-US">
                    <a:noFill/>
                  </a:rPr>
                  <a:t> </a:t>
                </a:r>
              </a:p>
            </p:txBody>
          </p:sp>
        </mc:Fallback>
      </mc:AlternateContent>
      <p:sp>
        <p:nvSpPr>
          <p:cNvPr id="2" name="文字方塊 1"/>
          <p:cNvSpPr txBox="1"/>
          <p:nvPr/>
        </p:nvSpPr>
        <p:spPr>
          <a:xfrm>
            <a:off x="846011" y="5749481"/>
            <a:ext cx="7268555" cy="461665"/>
          </a:xfrm>
          <a:prstGeom prst="rect">
            <a:avLst/>
          </a:prstGeom>
          <a:noFill/>
        </p:spPr>
        <p:txBody>
          <a:bodyPr wrap="square" rtlCol="0">
            <a:spAutoFit/>
          </a:bodyPr>
          <a:lstStyle/>
          <a:p>
            <a:r>
              <a:rPr lang="en-US" altLang="zh-TW" sz="2400" dirty="0">
                <a:solidFill>
                  <a:srgbClr val="FF0000"/>
                </a:solidFill>
                <a:latin typeface="Times New Roman" panose="02020603050405020304" pitchFamily="18" charset="0"/>
                <a:cs typeface="Times New Roman" panose="02020603050405020304" pitchFamily="18" charset="0"/>
              </a:rPr>
              <a:t>Do the DTW for every sequence in answer set with Q !</a:t>
            </a:r>
            <a:endParaRPr lang="zh-TW" altLang="en-US" sz="24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38493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圖片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84330" y="1254613"/>
            <a:ext cx="8835695" cy="5249186"/>
          </a:xfrm>
          <a:prstGeom prst="rect">
            <a:avLst/>
          </a:prstGeom>
        </p:spPr>
      </p:pic>
      <p:sp>
        <p:nvSpPr>
          <p:cNvPr id="4" name="標題 1"/>
          <p:cNvSpPr>
            <a:spLocks noGrp="1"/>
          </p:cNvSpPr>
          <p:nvPr>
            <p:ph type="title"/>
          </p:nvPr>
        </p:nvSpPr>
        <p:spPr>
          <a:xfrm>
            <a:off x="838200" y="365125"/>
            <a:ext cx="10515600" cy="1325563"/>
          </a:xfrm>
        </p:spPr>
        <p:txBody>
          <a:bodyPr/>
          <a:lstStyle/>
          <a:p>
            <a:pPr algn="ctr"/>
            <a:r>
              <a:rPr lang="en-US" altLang="zh-TW" dirty="0">
                <a:latin typeface="Times New Roman" panose="02020603050405020304" pitchFamily="18" charset="0"/>
                <a:cs typeface="Times New Roman" panose="02020603050405020304" pitchFamily="18" charset="0"/>
              </a:rPr>
              <a:t>Sparse Suffix Tree</a:t>
            </a:r>
            <a:endParaRPr lang="zh-TW" altLang="en-US" dirty="0">
              <a:latin typeface="Times New Roman" panose="02020603050405020304" pitchFamily="18" charset="0"/>
              <a:cs typeface="Times New Roman" panose="02020603050405020304" pitchFamily="18" charset="0"/>
            </a:endParaRPr>
          </a:p>
        </p:txBody>
      </p:sp>
      <p:sp>
        <p:nvSpPr>
          <p:cNvPr id="6" name="加號 5"/>
          <p:cNvSpPr/>
          <p:nvPr/>
        </p:nvSpPr>
        <p:spPr>
          <a:xfrm rot="8098220">
            <a:off x="4105543" y="3460579"/>
            <a:ext cx="510639" cy="534390"/>
          </a:xfrm>
          <a:prstGeom prst="mathPl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加號 6"/>
          <p:cNvSpPr/>
          <p:nvPr/>
        </p:nvSpPr>
        <p:spPr>
          <a:xfrm rot="8098220">
            <a:off x="8301891" y="3903558"/>
            <a:ext cx="510639" cy="534390"/>
          </a:xfrm>
          <a:prstGeom prst="mathPl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加號 7"/>
          <p:cNvSpPr/>
          <p:nvPr/>
        </p:nvSpPr>
        <p:spPr>
          <a:xfrm rot="8098220">
            <a:off x="7237835" y="3690492"/>
            <a:ext cx="510639" cy="534390"/>
          </a:xfrm>
          <a:prstGeom prst="mathPl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加號 8"/>
          <p:cNvSpPr/>
          <p:nvPr/>
        </p:nvSpPr>
        <p:spPr>
          <a:xfrm rot="8098220">
            <a:off x="5169600" y="3534088"/>
            <a:ext cx="510639" cy="534390"/>
          </a:xfrm>
          <a:prstGeom prst="mathPlus">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4087196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文字方塊 3"/>
              <p:cNvSpPr txBox="1"/>
              <p:nvPr/>
            </p:nvSpPr>
            <p:spPr>
              <a:xfrm>
                <a:off x="1149927" y="2366096"/>
                <a:ext cx="415985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𝐶𝑆</m:t>
                          </m:r>
                        </m:e>
                        <m:sub>
                          <m:r>
                            <a:rPr lang="en-US" altLang="zh-TW" sz="2400" b="0" i="1" smtClean="0">
                              <a:latin typeface="Cambria Math" panose="02040503050406030204" pitchFamily="18" charset="0"/>
                            </a:rPr>
                            <m:t>1</m:t>
                          </m:r>
                        </m:sub>
                      </m:sSub>
                      <m:r>
                        <a:rPr lang="en-US" altLang="zh-TW" sz="2400" b="0" i="1" smtClean="0">
                          <a:latin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&lt;</m:t>
                      </m:r>
                      <m:sSub>
                        <m:sSubPr>
                          <m:ctrlPr>
                            <a:rPr lang="en-US" altLang="zh-TW" sz="2400" b="0" i="1" smtClean="0">
                              <a:latin typeface="Cambria Math" panose="02040503050406030204" pitchFamily="18" charset="0"/>
                              <a:ea typeface="Cambria Math" panose="02040503050406030204" pitchFamily="18" charset="0"/>
                            </a:rPr>
                          </m:ctrlPr>
                        </m:sSubPr>
                        <m:e>
                          <m:r>
                            <a:rPr lang="en-US" altLang="zh-TW" sz="2400" b="0" i="1" smtClean="0">
                              <a:latin typeface="Cambria Math" panose="02040503050406030204" pitchFamily="18" charset="0"/>
                              <a:ea typeface="Cambria Math" panose="02040503050406030204" pitchFamily="18" charset="0"/>
                            </a:rPr>
                            <m:t>𝐶</m:t>
                          </m:r>
                        </m:e>
                        <m:sub>
                          <m:r>
                            <a:rPr lang="en-US" altLang="zh-TW" sz="2400" b="0" i="1" smtClean="0">
                              <a:latin typeface="Cambria Math" panose="02040503050406030204" pitchFamily="18" charset="0"/>
                              <a:ea typeface="Cambria Math" panose="02040503050406030204" pitchFamily="18" charset="0"/>
                            </a:rPr>
                            <m:t>1</m:t>
                          </m:r>
                        </m:sub>
                      </m:sSub>
                      <m:r>
                        <a:rPr lang="en-US" altLang="zh-TW" sz="2400" b="0" i="1" smtClean="0">
                          <a:latin typeface="Cambria Math" panose="02040503050406030204" pitchFamily="18" charset="0"/>
                          <a:ea typeface="Cambria Math" panose="02040503050406030204" pitchFamily="18" charset="0"/>
                        </a:rPr>
                        <m:t>,</m:t>
                      </m:r>
                      <m:sSub>
                        <m:sSubPr>
                          <m:ctrlPr>
                            <a:rPr lang="en-US" altLang="zh-TW" sz="2400" b="0" i="1" smtClean="0">
                              <a:latin typeface="Cambria Math" panose="02040503050406030204" pitchFamily="18" charset="0"/>
                              <a:ea typeface="Cambria Math" panose="02040503050406030204" pitchFamily="18" charset="0"/>
                            </a:rPr>
                          </m:ctrlPr>
                        </m:sSubPr>
                        <m:e>
                          <m:r>
                            <a:rPr lang="en-US" altLang="zh-TW" sz="2400" b="0" i="1" smtClean="0">
                              <a:latin typeface="Cambria Math" panose="02040503050406030204" pitchFamily="18" charset="0"/>
                              <a:ea typeface="Cambria Math" panose="02040503050406030204" pitchFamily="18" charset="0"/>
                            </a:rPr>
                            <m:t>𝐶</m:t>
                          </m:r>
                        </m:e>
                        <m:sub>
                          <m:r>
                            <a:rPr lang="en-US" altLang="zh-TW" sz="2400" b="0" i="1" smtClean="0">
                              <a:latin typeface="Cambria Math" panose="02040503050406030204" pitchFamily="18" charset="0"/>
                              <a:ea typeface="Cambria Math" panose="02040503050406030204" pitchFamily="18" charset="0"/>
                            </a:rPr>
                            <m:t>1</m:t>
                          </m:r>
                        </m:sub>
                      </m:sSub>
                      <m:r>
                        <a:rPr lang="en-US" altLang="zh-TW" sz="2400" b="0" i="1" smtClean="0">
                          <a:latin typeface="Cambria Math" panose="02040503050406030204" pitchFamily="18" charset="0"/>
                          <a:ea typeface="Cambria Math" panose="02040503050406030204" pitchFamily="18" charset="0"/>
                        </a:rPr>
                        <m:t>,</m:t>
                      </m:r>
                      <m:sSub>
                        <m:sSubPr>
                          <m:ctrlPr>
                            <a:rPr lang="en-US" altLang="zh-TW" sz="2400" b="0" i="1" smtClean="0">
                              <a:latin typeface="Cambria Math" panose="02040503050406030204" pitchFamily="18" charset="0"/>
                              <a:ea typeface="Cambria Math" panose="02040503050406030204" pitchFamily="18" charset="0"/>
                            </a:rPr>
                          </m:ctrlPr>
                        </m:sSubPr>
                        <m:e>
                          <m:r>
                            <a:rPr lang="en-US" altLang="zh-TW" sz="2400" b="0" i="1" smtClean="0">
                              <a:latin typeface="Cambria Math" panose="02040503050406030204" pitchFamily="18" charset="0"/>
                              <a:ea typeface="Cambria Math" panose="02040503050406030204" pitchFamily="18" charset="0"/>
                            </a:rPr>
                            <m:t>𝐶</m:t>
                          </m:r>
                        </m:e>
                        <m:sub>
                          <m:r>
                            <a:rPr lang="en-US" altLang="zh-TW" sz="2400" b="0" i="1" smtClean="0">
                              <a:latin typeface="Cambria Math" panose="02040503050406030204" pitchFamily="18" charset="0"/>
                              <a:ea typeface="Cambria Math" panose="02040503050406030204" pitchFamily="18" charset="0"/>
                            </a:rPr>
                            <m:t>2</m:t>
                          </m:r>
                        </m:sub>
                      </m:sSub>
                      <m:r>
                        <a:rPr lang="en-US" altLang="zh-TW" sz="2400" b="0" i="1" smtClean="0">
                          <a:latin typeface="Cambria Math" panose="02040503050406030204" pitchFamily="18" charset="0"/>
                          <a:ea typeface="Cambria Math" panose="02040503050406030204" pitchFamily="18" charset="0"/>
                        </a:rPr>
                        <m:t>,</m:t>
                      </m:r>
                      <m:sSub>
                        <m:sSubPr>
                          <m:ctrlPr>
                            <a:rPr lang="en-US" altLang="zh-TW" sz="2400" b="0" i="1" smtClean="0">
                              <a:latin typeface="Cambria Math" panose="02040503050406030204" pitchFamily="18" charset="0"/>
                              <a:ea typeface="Cambria Math" panose="02040503050406030204" pitchFamily="18" charset="0"/>
                            </a:rPr>
                          </m:ctrlPr>
                        </m:sSubPr>
                        <m:e>
                          <m:r>
                            <a:rPr lang="en-US" altLang="zh-TW" sz="2400" b="0" i="1" smtClean="0">
                              <a:latin typeface="Cambria Math" panose="02040503050406030204" pitchFamily="18" charset="0"/>
                              <a:ea typeface="Cambria Math" panose="02040503050406030204" pitchFamily="18" charset="0"/>
                            </a:rPr>
                            <m:t>𝐶</m:t>
                          </m:r>
                        </m:e>
                        <m:sub>
                          <m:r>
                            <a:rPr lang="en-US" altLang="zh-TW" sz="2400" b="0" i="1" smtClean="0">
                              <a:latin typeface="Cambria Math" panose="02040503050406030204" pitchFamily="18" charset="0"/>
                              <a:ea typeface="Cambria Math" panose="02040503050406030204" pitchFamily="18" charset="0"/>
                            </a:rPr>
                            <m:t>3</m:t>
                          </m:r>
                        </m:sub>
                      </m:sSub>
                      <m:r>
                        <a:rPr lang="en-US" altLang="zh-TW" sz="2400" b="0" i="1" smtClean="0">
                          <a:latin typeface="Cambria Math" panose="02040503050406030204" pitchFamily="18" charset="0"/>
                          <a:ea typeface="Cambria Math" panose="02040503050406030204" pitchFamily="18" charset="0"/>
                        </a:rPr>
                        <m:t>,</m:t>
                      </m:r>
                      <m:sSub>
                        <m:sSubPr>
                          <m:ctrlPr>
                            <a:rPr lang="en-US" altLang="zh-TW" sz="2400" b="0" i="1" smtClean="0">
                              <a:latin typeface="Cambria Math" panose="02040503050406030204" pitchFamily="18" charset="0"/>
                              <a:ea typeface="Cambria Math" panose="02040503050406030204" pitchFamily="18" charset="0"/>
                            </a:rPr>
                          </m:ctrlPr>
                        </m:sSubPr>
                        <m:e>
                          <m:r>
                            <a:rPr lang="en-US" altLang="zh-TW" sz="2400" b="0" i="1" smtClean="0">
                              <a:latin typeface="Cambria Math" panose="02040503050406030204" pitchFamily="18" charset="0"/>
                              <a:ea typeface="Cambria Math" panose="02040503050406030204" pitchFamily="18" charset="0"/>
                            </a:rPr>
                            <m:t>𝐶</m:t>
                          </m:r>
                        </m:e>
                        <m:sub>
                          <m:r>
                            <a:rPr lang="en-US" altLang="zh-TW" sz="2400" b="0" i="1" smtClean="0">
                              <a:latin typeface="Cambria Math" panose="02040503050406030204" pitchFamily="18" charset="0"/>
                              <a:ea typeface="Cambria Math" panose="02040503050406030204" pitchFamily="18" charset="0"/>
                            </a:rPr>
                            <m:t>2</m:t>
                          </m:r>
                        </m:sub>
                      </m:sSub>
                      <m:r>
                        <a:rPr lang="en-US" altLang="zh-TW" sz="2400" b="0" i="1" smtClean="0">
                          <a:latin typeface="Cambria Math" panose="02040503050406030204" pitchFamily="18" charset="0"/>
                          <a:ea typeface="Cambria Math" panose="02040503050406030204" pitchFamily="18" charset="0"/>
                        </a:rPr>
                        <m:t>,</m:t>
                      </m:r>
                      <m:sSub>
                        <m:sSubPr>
                          <m:ctrlPr>
                            <a:rPr lang="en-US" altLang="zh-TW" sz="2400" b="0" i="1" smtClean="0">
                              <a:latin typeface="Cambria Math" panose="02040503050406030204" pitchFamily="18" charset="0"/>
                              <a:ea typeface="Cambria Math" panose="02040503050406030204" pitchFamily="18" charset="0"/>
                            </a:rPr>
                          </m:ctrlPr>
                        </m:sSubPr>
                        <m:e>
                          <m:r>
                            <a:rPr lang="en-US" altLang="zh-TW" sz="2400" b="0" i="1" smtClean="0">
                              <a:latin typeface="Cambria Math" panose="02040503050406030204" pitchFamily="18" charset="0"/>
                              <a:ea typeface="Cambria Math" panose="02040503050406030204" pitchFamily="18" charset="0"/>
                            </a:rPr>
                            <m:t>𝐶</m:t>
                          </m:r>
                        </m:e>
                        <m:sub>
                          <m:r>
                            <a:rPr lang="en-US" altLang="zh-TW" sz="2400" b="0" i="1" smtClean="0">
                              <a:latin typeface="Cambria Math" panose="02040503050406030204" pitchFamily="18" charset="0"/>
                              <a:ea typeface="Cambria Math" panose="02040503050406030204" pitchFamily="18" charset="0"/>
                            </a:rPr>
                            <m:t>2</m:t>
                          </m:r>
                        </m:sub>
                      </m:sSub>
                      <m:r>
                        <a:rPr lang="en-US" altLang="zh-TW" sz="2400" b="0" i="1" smtClean="0">
                          <a:latin typeface="Cambria Math" panose="02040503050406030204" pitchFamily="18" charset="0"/>
                          <a:ea typeface="Cambria Math" panose="02040503050406030204" pitchFamily="18" charset="0"/>
                        </a:rPr>
                        <m:t>&gt;</m:t>
                      </m:r>
                    </m:oMath>
                  </m:oMathPara>
                </a14:m>
                <a:endParaRPr lang="zh-TW" altLang="en-US" sz="2400" dirty="0"/>
              </a:p>
            </p:txBody>
          </p:sp>
        </mc:Choice>
        <mc:Fallback xmlns="">
          <p:sp>
            <p:nvSpPr>
              <p:cNvPr id="4" name="文字方塊 3"/>
              <p:cNvSpPr txBox="1">
                <a:spLocks noRot="1" noChangeAspect="1" noMove="1" noResize="1" noEditPoints="1" noAdjustHandles="1" noChangeArrowheads="1" noChangeShapeType="1" noTextEdit="1"/>
              </p:cNvSpPr>
              <p:nvPr/>
            </p:nvSpPr>
            <p:spPr>
              <a:xfrm>
                <a:off x="1149927" y="2366096"/>
                <a:ext cx="4159857" cy="461665"/>
              </a:xfrm>
              <a:prstGeom prst="rect">
                <a:avLst/>
              </a:prstGeom>
              <a:blipFill>
                <a:blip r:embed="rId2"/>
                <a:stretch>
                  <a:fillRect b="-131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 name="文字方塊 4"/>
              <p:cNvSpPr txBox="1"/>
              <p:nvPr/>
            </p:nvSpPr>
            <p:spPr>
              <a:xfrm>
                <a:off x="1149927" y="1599328"/>
                <a:ext cx="5618526" cy="458011"/>
              </a:xfrm>
              <a:prstGeom prst="rect">
                <a:avLst/>
              </a:prstGeom>
              <a:noFill/>
            </p:spPr>
            <p:txBody>
              <a:bodyPr wrap="none" rtlCol="0">
                <a:spAutoFit/>
              </a:bodyPr>
              <a:lstStyle/>
              <a:p>
                <a:r>
                  <a:rPr lang="en-US" altLang="zh-TW" sz="2200" dirty="0">
                    <a:latin typeface="Times New Roman" panose="02020603050405020304" pitchFamily="18" charset="0"/>
                    <a:cs typeface="Times New Roman" panose="02020603050405020304" pitchFamily="18" charset="0"/>
                  </a:rPr>
                  <a:t>The suffix is stored only if </a:t>
                </a:r>
                <a14:m>
                  <m:oMath xmlns:m="http://schemas.openxmlformats.org/officeDocument/2006/math">
                    <m:sSub>
                      <m:sSubPr>
                        <m:ctrlPr>
                          <a:rPr lang="en-US" altLang="zh-TW" sz="2200" i="1">
                            <a:latin typeface="Cambria Math" panose="02040503050406030204" pitchFamily="18" charset="0"/>
                          </a:rPr>
                        </m:ctrlPr>
                      </m:sSubPr>
                      <m:e>
                        <m:r>
                          <a:rPr lang="en-US" altLang="zh-TW" sz="2200" i="1">
                            <a:latin typeface="Cambria Math" panose="02040503050406030204" pitchFamily="18" charset="0"/>
                          </a:rPr>
                          <m:t>𝐶𝑆</m:t>
                        </m:r>
                      </m:e>
                      <m:sub>
                        <m:r>
                          <a:rPr lang="en-US" altLang="zh-TW" sz="2200" b="0" i="1" smtClean="0">
                            <a:latin typeface="Cambria Math" panose="02040503050406030204" pitchFamily="18" charset="0"/>
                          </a:rPr>
                          <m:t>𝑗</m:t>
                        </m:r>
                      </m:sub>
                    </m:sSub>
                    <m:r>
                      <a:rPr lang="en-US" altLang="zh-TW" sz="2200" b="0" i="1" smtClean="0">
                        <a:latin typeface="Cambria Math" panose="02040503050406030204" pitchFamily="18" charset="0"/>
                      </a:rPr>
                      <m:t>[</m:t>
                    </m:r>
                    <m:r>
                      <a:rPr lang="en-US" altLang="zh-TW" sz="2200" b="0" i="1" smtClean="0">
                        <a:latin typeface="Cambria Math" panose="02040503050406030204" pitchFamily="18" charset="0"/>
                      </a:rPr>
                      <m:t>𝑝</m:t>
                    </m:r>
                    <m:r>
                      <a:rPr lang="en-US" altLang="zh-TW" sz="2200" b="0" i="1" smtClean="0">
                        <a:latin typeface="Cambria Math" panose="02040503050406030204" pitchFamily="18" charset="0"/>
                      </a:rPr>
                      <m:t>]≠</m:t>
                    </m:r>
                    <m:sSub>
                      <m:sSubPr>
                        <m:ctrlPr>
                          <a:rPr lang="en-US" altLang="zh-TW" sz="2200" i="1" smtClean="0">
                            <a:latin typeface="Cambria Math" panose="02040503050406030204" pitchFamily="18" charset="0"/>
                          </a:rPr>
                        </m:ctrlPr>
                      </m:sSubPr>
                      <m:e>
                        <m:r>
                          <a:rPr lang="en-US" altLang="zh-TW" sz="2200" i="1">
                            <a:latin typeface="Cambria Math" panose="02040503050406030204" pitchFamily="18" charset="0"/>
                          </a:rPr>
                          <m:t>𝐶𝑆</m:t>
                        </m:r>
                      </m:e>
                      <m:sub>
                        <m:r>
                          <a:rPr lang="en-US" altLang="zh-TW" sz="2200" b="0" i="1" smtClean="0">
                            <a:latin typeface="Cambria Math" panose="02040503050406030204" pitchFamily="18" charset="0"/>
                          </a:rPr>
                          <m:t>𝑗</m:t>
                        </m:r>
                      </m:sub>
                    </m:sSub>
                    <m:r>
                      <a:rPr lang="en-US" altLang="zh-TW" sz="2200" b="0" i="1" smtClean="0">
                        <a:latin typeface="Cambria Math" panose="02040503050406030204" pitchFamily="18" charset="0"/>
                      </a:rPr>
                      <m:t>[</m:t>
                    </m:r>
                    <m:r>
                      <a:rPr lang="en-US" altLang="zh-TW" sz="2200" b="0" i="1" smtClean="0">
                        <a:latin typeface="Cambria Math" panose="02040503050406030204" pitchFamily="18" charset="0"/>
                      </a:rPr>
                      <m:t>𝑝</m:t>
                    </m:r>
                    <m:r>
                      <a:rPr lang="en-US" altLang="zh-TW" sz="2200" b="0" i="1" smtClean="0">
                        <a:latin typeface="Cambria Math" panose="02040503050406030204" pitchFamily="18" charset="0"/>
                      </a:rPr>
                      <m:t>−1]</m:t>
                    </m:r>
                  </m:oMath>
                </a14:m>
                <a:endParaRPr lang="zh-TW" altLang="en-US" sz="2200" dirty="0">
                  <a:latin typeface="Times New Roman" panose="02020603050405020304" pitchFamily="18" charset="0"/>
                  <a:cs typeface="Times New Roman" panose="02020603050405020304" pitchFamily="18" charset="0"/>
                </a:endParaRPr>
              </a:p>
            </p:txBody>
          </p:sp>
        </mc:Choice>
        <mc:Fallback xmlns="">
          <p:sp>
            <p:nvSpPr>
              <p:cNvPr id="5" name="文字方塊 4"/>
              <p:cNvSpPr txBox="1">
                <a:spLocks noRot="1" noChangeAspect="1" noMove="1" noResize="1" noEditPoints="1" noAdjustHandles="1" noChangeArrowheads="1" noChangeShapeType="1" noTextEdit="1"/>
              </p:cNvSpPr>
              <p:nvPr/>
            </p:nvSpPr>
            <p:spPr>
              <a:xfrm>
                <a:off x="1149927" y="1599328"/>
                <a:ext cx="5618526" cy="458011"/>
              </a:xfrm>
              <a:prstGeom prst="rect">
                <a:avLst/>
              </a:prstGeom>
              <a:blipFill>
                <a:blip r:embed="rId3"/>
                <a:stretch>
                  <a:fillRect l="-1412" t="-8000" b="-213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文字方塊 5"/>
              <p:cNvSpPr txBox="1"/>
              <p:nvPr/>
            </p:nvSpPr>
            <p:spPr>
              <a:xfrm>
                <a:off x="1149927" y="3926458"/>
                <a:ext cx="11512832" cy="830997"/>
              </a:xfrm>
              <a:prstGeom prst="rect">
                <a:avLst/>
              </a:prstGeom>
              <a:noFill/>
            </p:spPr>
            <p:txBody>
              <a:bodyPr wrap="none" rtlCol="0">
                <a:spAutoFit/>
              </a:bodyPr>
              <a:lstStyle/>
              <a:p>
                <a:r>
                  <a:rPr lang="en-US" altLang="zh-TW" sz="2400" dirty="0"/>
                  <a:t>Only seven suffixes are stored : </a:t>
                </a:r>
                <a:endParaRPr lang="en-US" altLang="zh-TW" sz="24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𝐶𝑆</m:t>
                          </m:r>
                        </m:e>
                        <m:sub>
                          <m:r>
                            <a:rPr lang="en-US" altLang="zh-TW" sz="2400" b="0" i="1" smtClean="0">
                              <a:latin typeface="Cambria Math" panose="02040503050406030204" pitchFamily="18" charset="0"/>
                            </a:rPr>
                            <m:t>1</m:t>
                          </m:r>
                        </m:sub>
                      </m:sSub>
                      <m:d>
                        <m:dPr>
                          <m:begChr m:val="["/>
                          <m:endChr m:val="]"/>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1:−</m:t>
                          </m:r>
                        </m:e>
                      </m:d>
                      <m:r>
                        <a:rPr lang="en-US" altLang="zh-TW" sz="2400" b="0" i="1" smtClean="0">
                          <a:latin typeface="Cambria Math" panose="02040503050406030204" pitchFamily="18" charset="0"/>
                        </a:rPr>
                        <m:t>,</m:t>
                      </m:r>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𝐶𝑆</m:t>
                          </m:r>
                        </m:e>
                        <m:sub>
                          <m:r>
                            <a:rPr lang="en-US" altLang="zh-TW" sz="2400" b="0" i="1" smtClean="0">
                              <a:latin typeface="Cambria Math" panose="02040503050406030204" pitchFamily="18" charset="0"/>
                            </a:rPr>
                            <m:t>1</m:t>
                          </m:r>
                        </m:sub>
                      </m:sSub>
                      <m:d>
                        <m:dPr>
                          <m:begChr m:val="["/>
                          <m:endChr m:val="]"/>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3:−</m:t>
                          </m:r>
                        </m:e>
                      </m:d>
                      <m:r>
                        <a:rPr lang="en-US" altLang="zh-TW" sz="2400" b="0" i="1" smtClean="0">
                          <a:latin typeface="Cambria Math" panose="02040503050406030204" pitchFamily="18" charset="0"/>
                        </a:rPr>
                        <m:t>,</m:t>
                      </m:r>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𝐶𝑆</m:t>
                          </m:r>
                        </m:e>
                        <m:sub>
                          <m:r>
                            <a:rPr lang="en-US" altLang="zh-TW" sz="2400" b="0" i="1" smtClean="0">
                              <a:latin typeface="Cambria Math" panose="02040503050406030204" pitchFamily="18" charset="0"/>
                            </a:rPr>
                            <m:t>1</m:t>
                          </m:r>
                        </m:sub>
                      </m:sSub>
                      <m:d>
                        <m:dPr>
                          <m:begChr m:val="["/>
                          <m:endChr m:val="]"/>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4:−</m:t>
                          </m:r>
                        </m:e>
                      </m:d>
                      <m:r>
                        <a:rPr lang="en-US" altLang="zh-TW" sz="2400" b="0" i="1" smtClean="0">
                          <a:latin typeface="Cambria Math" panose="02040503050406030204" pitchFamily="18" charset="0"/>
                        </a:rPr>
                        <m:t>,</m:t>
                      </m:r>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𝐶𝑆</m:t>
                          </m:r>
                        </m:e>
                        <m:sub>
                          <m:r>
                            <a:rPr lang="en-US" altLang="zh-TW" sz="2400" b="0" i="1" smtClean="0">
                              <a:latin typeface="Cambria Math" panose="02040503050406030204" pitchFamily="18" charset="0"/>
                            </a:rPr>
                            <m:t>1</m:t>
                          </m:r>
                        </m:sub>
                      </m:sSub>
                      <m:d>
                        <m:dPr>
                          <m:begChr m:val="["/>
                          <m:endChr m:val="]"/>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5:−</m:t>
                          </m:r>
                        </m:e>
                      </m:d>
                      <m:r>
                        <a:rPr lang="en-US" altLang="zh-TW" sz="2400" b="0" i="1" smtClean="0">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𝐶𝑆</m:t>
                          </m:r>
                        </m:e>
                        <m:sub>
                          <m:r>
                            <a:rPr lang="en-US" altLang="zh-TW" sz="2400" b="0" i="1" smtClean="0">
                              <a:latin typeface="Cambria Math" panose="02040503050406030204" pitchFamily="18" charset="0"/>
                            </a:rPr>
                            <m:t>2</m:t>
                          </m:r>
                        </m:sub>
                      </m:sSub>
                      <m:d>
                        <m:dPr>
                          <m:begChr m:val="["/>
                          <m:endChr m:val="]"/>
                          <m:ctrlPr>
                            <a:rPr lang="en-US" altLang="zh-TW" sz="2400" i="1">
                              <a:latin typeface="Cambria Math" panose="02040503050406030204" pitchFamily="18" charset="0"/>
                            </a:rPr>
                          </m:ctrlPr>
                        </m:dPr>
                        <m:e>
                          <m:r>
                            <a:rPr lang="en-US" altLang="zh-TW" sz="2400" i="1">
                              <a:latin typeface="Cambria Math" panose="02040503050406030204" pitchFamily="18" charset="0"/>
                            </a:rPr>
                            <m:t>1:−</m:t>
                          </m:r>
                        </m:e>
                      </m:d>
                      <m:r>
                        <a:rPr lang="en-US" altLang="zh-TW" sz="2400" b="0" i="1" smtClean="0">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𝐶𝑆</m:t>
                          </m:r>
                        </m:e>
                        <m:sub>
                          <m:r>
                            <a:rPr lang="en-US" altLang="zh-TW" sz="2400" b="0" i="1" smtClean="0">
                              <a:latin typeface="Cambria Math" panose="02040503050406030204" pitchFamily="18" charset="0"/>
                            </a:rPr>
                            <m:t>2</m:t>
                          </m:r>
                        </m:sub>
                      </m:sSub>
                      <m:d>
                        <m:dPr>
                          <m:begChr m:val="["/>
                          <m:endChr m:val="]"/>
                          <m:ctrlPr>
                            <a:rPr lang="en-US" altLang="zh-TW" sz="2400" i="1">
                              <a:latin typeface="Cambria Math" panose="02040503050406030204" pitchFamily="18" charset="0"/>
                            </a:rPr>
                          </m:ctrlPr>
                        </m:dPr>
                        <m:e>
                          <m:r>
                            <a:rPr lang="en-US" altLang="zh-TW" sz="2400" b="0" i="1" smtClean="0">
                              <a:latin typeface="Cambria Math" panose="02040503050406030204" pitchFamily="18" charset="0"/>
                            </a:rPr>
                            <m:t>2</m:t>
                          </m:r>
                          <m:r>
                            <a:rPr lang="en-US" altLang="zh-TW" sz="2400" i="1">
                              <a:latin typeface="Cambria Math" panose="02040503050406030204" pitchFamily="18" charset="0"/>
                            </a:rPr>
                            <m:t>:−</m:t>
                          </m:r>
                        </m:e>
                      </m:d>
                      <m:r>
                        <a:rPr lang="en-US" altLang="zh-TW" sz="2400" b="0" i="1" smtClean="0">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𝐶𝑆</m:t>
                          </m:r>
                        </m:e>
                        <m:sub>
                          <m:r>
                            <a:rPr lang="en-US" altLang="zh-TW" sz="2400" b="0" i="1" smtClean="0">
                              <a:latin typeface="Cambria Math" panose="02040503050406030204" pitchFamily="18" charset="0"/>
                            </a:rPr>
                            <m:t>2</m:t>
                          </m:r>
                        </m:sub>
                      </m:sSub>
                      <m:d>
                        <m:dPr>
                          <m:begChr m:val="["/>
                          <m:endChr m:val="]"/>
                          <m:ctrlPr>
                            <a:rPr lang="en-US" altLang="zh-TW" sz="2400" i="1">
                              <a:latin typeface="Cambria Math" panose="02040503050406030204" pitchFamily="18" charset="0"/>
                            </a:rPr>
                          </m:ctrlPr>
                        </m:dPr>
                        <m:e>
                          <m:r>
                            <a:rPr lang="en-US" altLang="zh-TW" sz="2400" b="0" i="1" smtClean="0">
                              <a:latin typeface="Cambria Math" panose="02040503050406030204" pitchFamily="18" charset="0"/>
                            </a:rPr>
                            <m:t>3</m:t>
                          </m:r>
                          <m:r>
                            <a:rPr lang="en-US" altLang="zh-TW" sz="2400" i="1">
                              <a:latin typeface="Cambria Math" panose="02040503050406030204" pitchFamily="18" charset="0"/>
                            </a:rPr>
                            <m:t>:−</m:t>
                          </m:r>
                        </m:e>
                      </m:d>
                    </m:oMath>
                  </m:oMathPara>
                </a14:m>
                <a:endParaRPr lang="zh-TW" altLang="en-US" sz="2400" dirty="0"/>
              </a:p>
            </p:txBody>
          </p:sp>
        </mc:Choice>
        <mc:Fallback xmlns="">
          <p:sp>
            <p:nvSpPr>
              <p:cNvPr id="6" name="文字方塊 5"/>
              <p:cNvSpPr txBox="1">
                <a:spLocks noRot="1" noChangeAspect="1" noMove="1" noResize="1" noEditPoints="1" noAdjustHandles="1" noChangeArrowheads="1" noChangeShapeType="1" noTextEdit="1"/>
              </p:cNvSpPr>
              <p:nvPr/>
            </p:nvSpPr>
            <p:spPr>
              <a:xfrm>
                <a:off x="1149927" y="3926458"/>
                <a:ext cx="11512832" cy="830997"/>
              </a:xfrm>
              <a:prstGeom prst="rect">
                <a:avLst/>
              </a:prstGeom>
              <a:blipFill>
                <a:blip r:embed="rId4"/>
                <a:stretch>
                  <a:fillRect l="-847" t="-5882" b="-73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文字方塊 6"/>
              <p:cNvSpPr txBox="1"/>
              <p:nvPr/>
            </p:nvSpPr>
            <p:spPr>
              <a:xfrm>
                <a:off x="1149927" y="2925203"/>
                <a:ext cx="3342838"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𝐶𝑆</m:t>
                          </m:r>
                        </m:e>
                        <m:sub>
                          <m:r>
                            <a:rPr lang="en-US" altLang="zh-TW" sz="2400" b="0" i="1" smtClean="0">
                              <a:latin typeface="Cambria Math" panose="02040503050406030204" pitchFamily="18" charset="0"/>
                            </a:rPr>
                            <m:t>2</m:t>
                          </m:r>
                        </m:sub>
                      </m:sSub>
                      <m:r>
                        <a:rPr lang="en-US" altLang="zh-TW" sz="2400" b="0" i="1" smtClean="0">
                          <a:latin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&lt;</m:t>
                      </m:r>
                      <m:sSub>
                        <m:sSubPr>
                          <m:ctrlPr>
                            <a:rPr lang="en-US" altLang="zh-TW" sz="2400" b="0" i="1" smtClean="0">
                              <a:latin typeface="Cambria Math" panose="02040503050406030204" pitchFamily="18" charset="0"/>
                              <a:ea typeface="Cambria Math" panose="02040503050406030204" pitchFamily="18" charset="0"/>
                            </a:rPr>
                          </m:ctrlPr>
                        </m:sSubPr>
                        <m:e>
                          <m:r>
                            <a:rPr lang="en-US" altLang="zh-TW" sz="2400" b="0" i="1" smtClean="0">
                              <a:latin typeface="Cambria Math" panose="02040503050406030204" pitchFamily="18" charset="0"/>
                              <a:ea typeface="Cambria Math" panose="02040503050406030204" pitchFamily="18" charset="0"/>
                            </a:rPr>
                            <m:t>𝐶</m:t>
                          </m:r>
                        </m:e>
                        <m:sub>
                          <m:r>
                            <a:rPr lang="en-US" altLang="zh-TW" sz="2400" b="0" i="1" smtClean="0">
                              <a:latin typeface="Cambria Math" panose="02040503050406030204" pitchFamily="18" charset="0"/>
                              <a:ea typeface="Cambria Math" panose="02040503050406030204" pitchFamily="18" charset="0"/>
                            </a:rPr>
                            <m:t>1</m:t>
                          </m:r>
                        </m:sub>
                      </m:sSub>
                      <m:r>
                        <a:rPr lang="en-US" altLang="zh-TW" sz="2400" b="0" i="1" smtClean="0">
                          <a:latin typeface="Cambria Math" panose="02040503050406030204" pitchFamily="18" charset="0"/>
                          <a:ea typeface="Cambria Math" panose="02040503050406030204" pitchFamily="18" charset="0"/>
                        </a:rPr>
                        <m:t>,</m:t>
                      </m:r>
                      <m:sSub>
                        <m:sSubPr>
                          <m:ctrlPr>
                            <a:rPr lang="en-US" altLang="zh-TW" sz="2400" b="0" i="1" smtClean="0">
                              <a:latin typeface="Cambria Math" panose="02040503050406030204" pitchFamily="18" charset="0"/>
                              <a:ea typeface="Cambria Math" panose="02040503050406030204" pitchFamily="18" charset="0"/>
                            </a:rPr>
                          </m:ctrlPr>
                        </m:sSubPr>
                        <m:e>
                          <m:r>
                            <a:rPr lang="en-US" altLang="zh-TW" sz="2400" b="0" i="1" smtClean="0">
                              <a:latin typeface="Cambria Math" panose="02040503050406030204" pitchFamily="18" charset="0"/>
                              <a:ea typeface="Cambria Math" panose="02040503050406030204" pitchFamily="18" charset="0"/>
                            </a:rPr>
                            <m:t>𝐶</m:t>
                          </m:r>
                        </m:e>
                        <m:sub>
                          <m:r>
                            <a:rPr lang="en-US" altLang="zh-TW" sz="2400" b="0" i="1" smtClean="0">
                              <a:latin typeface="Cambria Math" panose="02040503050406030204" pitchFamily="18" charset="0"/>
                              <a:ea typeface="Cambria Math" panose="02040503050406030204" pitchFamily="18" charset="0"/>
                            </a:rPr>
                            <m:t>2</m:t>
                          </m:r>
                        </m:sub>
                      </m:sSub>
                      <m:r>
                        <a:rPr lang="en-US" altLang="zh-TW" sz="2400" b="0" i="1" smtClean="0">
                          <a:latin typeface="Cambria Math" panose="02040503050406030204" pitchFamily="18" charset="0"/>
                          <a:ea typeface="Cambria Math" panose="02040503050406030204" pitchFamily="18" charset="0"/>
                        </a:rPr>
                        <m:t>,</m:t>
                      </m:r>
                      <m:sSub>
                        <m:sSubPr>
                          <m:ctrlPr>
                            <a:rPr lang="en-US" altLang="zh-TW" sz="2400" b="0" i="1" smtClean="0">
                              <a:latin typeface="Cambria Math" panose="02040503050406030204" pitchFamily="18" charset="0"/>
                              <a:ea typeface="Cambria Math" panose="02040503050406030204" pitchFamily="18" charset="0"/>
                            </a:rPr>
                          </m:ctrlPr>
                        </m:sSubPr>
                        <m:e>
                          <m:r>
                            <a:rPr lang="en-US" altLang="zh-TW" sz="2400" b="0" i="1" smtClean="0">
                              <a:latin typeface="Cambria Math" panose="02040503050406030204" pitchFamily="18" charset="0"/>
                              <a:ea typeface="Cambria Math" panose="02040503050406030204" pitchFamily="18" charset="0"/>
                            </a:rPr>
                            <m:t>𝐶</m:t>
                          </m:r>
                        </m:e>
                        <m:sub>
                          <m:r>
                            <a:rPr lang="en-US" altLang="zh-TW" sz="2400" b="0" i="1" smtClean="0">
                              <a:latin typeface="Cambria Math" panose="02040503050406030204" pitchFamily="18" charset="0"/>
                              <a:ea typeface="Cambria Math" panose="02040503050406030204" pitchFamily="18" charset="0"/>
                            </a:rPr>
                            <m:t>3</m:t>
                          </m:r>
                        </m:sub>
                      </m:sSub>
                      <m:r>
                        <a:rPr lang="en-US" altLang="zh-TW" sz="2400" b="0" i="1" smtClean="0">
                          <a:latin typeface="Cambria Math" panose="02040503050406030204" pitchFamily="18" charset="0"/>
                          <a:ea typeface="Cambria Math" panose="02040503050406030204" pitchFamily="18" charset="0"/>
                        </a:rPr>
                        <m:t>,</m:t>
                      </m:r>
                      <m:sSub>
                        <m:sSubPr>
                          <m:ctrlPr>
                            <a:rPr lang="en-US" altLang="zh-TW" sz="2400" b="0" i="1" smtClean="0">
                              <a:latin typeface="Cambria Math" panose="02040503050406030204" pitchFamily="18" charset="0"/>
                              <a:ea typeface="Cambria Math" panose="02040503050406030204" pitchFamily="18" charset="0"/>
                            </a:rPr>
                          </m:ctrlPr>
                        </m:sSubPr>
                        <m:e>
                          <m:r>
                            <a:rPr lang="en-US" altLang="zh-TW" sz="2400" b="0" i="1" smtClean="0">
                              <a:latin typeface="Cambria Math" panose="02040503050406030204" pitchFamily="18" charset="0"/>
                              <a:ea typeface="Cambria Math" panose="02040503050406030204" pitchFamily="18" charset="0"/>
                            </a:rPr>
                            <m:t>𝐶</m:t>
                          </m:r>
                        </m:e>
                        <m:sub>
                          <m:r>
                            <a:rPr lang="en-US" altLang="zh-TW" sz="2400" b="0" i="1" smtClean="0">
                              <a:latin typeface="Cambria Math" panose="02040503050406030204" pitchFamily="18" charset="0"/>
                              <a:ea typeface="Cambria Math" panose="02040503050406030204" pitchFamily="18" charset="0"/>
                            </a:rPr>
                            <m:t>3</m:t>
                          </m:r>
                        </m:sub>
                      </m:sSub>
                      <m:r>
                        <a:rPr lang="en-US" altLang="zh-TW" sz="2400" b="0" i="1" smtClean="0">
                          <a:latin typeface="Cambria Math" panose="02040503050406030204" pitchFamily="18" charset="0"/>
                          <a:ea typeface="Cambria Math" panose="02040503050406030204" pitchFamily="18" charset="0"/>
                        </a:rPr>
                        <m:t>&gt;</m:t>
                      </m:r>
                    </m:oMath>
                  </m:oMathPara>
                </a14:m>
                <a:endParaRPr lang="zh-TW" altLang="en-US" sz="2400" dirty="0"/>
              </a:p>
            </p:txBody>
          </p:sp>
        </mc:Choice>
        <mc:Fallback xmlns="">
          <p:sp>
            <p:nvSpPr>
              <p:cNvPr id="7" name="文字方塊 6"/>
              <p:cNvSpPr txBox="1">
                <a:spLocks noRot="1" noChangeAspect="1" noMove="1" noResize="1" noEditPoints="1" noAdjustHandles="1" noChangeArrowheads="1" noChangeShapeType="1" noTextEdit="1"/>
              </p:cNvSpPr>
              <p:nvPr/>
            </p:nvSpPr>
            <p:spPr>
              <a:xfrm>
                <a:off x="1149927" y="2925203"/>
                <a:ext cx="3342838" cy="461665"/>
              </a:xfrm>
              <a:prstGeom prst="rect">
                <a:avLst/>
              </a:prstGeom>
              <a:blipFill>
                <a:blip r:embed="rId5"/>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7655529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文字方塊 4"/>
              <p:cNvSpPr txBox="1"/>
              <p:nvPr/>
            </p:nvSpPr>
            <p:spPr>
              <a:xfrm>
                <a:off x="462827" y="4013859"/>
                <a:ext cx="11729173" cy="1159420"/>
              </a:xfrm>
              <a:prstGeom prst="rect">
                <a:avLst/>
              </a:prstGeom>
              <a:noFill/>
            </p:spPr>
            <p:txBody>
              <a:bodyPr wrap="none" rtlCol="0">
                <a:spAutoFit/>
              </a:bodyPr>
              <a:lstStyle/>
              <a:p>
                <a:r>
                  <a:rPr lang="en-US" altLang="zh-TW" sz="2200" dirty="0">
                    <a:latin typeface="Times New Roman" panose="02020603050405020304" pitchFamily="18" charset="0"/>
                    <a:cs typeface="Times New Roman" panose="02020603050405020304" pitchFamily="18" charset="0"/>
                  </a:rPr>
                  <a:t>  If the first N elements of CS have the same value : </a:t>
                </a:r>
              </a:p>
              <a:p>
                <a:endParaRPr lang="en-US" altLang="zh-TW" sz="2200"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US" altLang="zh-TW" sz="2200" i="1" smtClean="0">
                              <a:latin typeface="Cambria Math" panose="02040503050406030204" pitchFamily="18" charset="0"/>
                            </a:rPr>
                          </m:ctrlPr>
                        </m:sSubPr>
                        <m:e>
                          <m:r>
                            <a:rPr lang="en-US" altLang="zh-TW" sz="2200" i="1">
                              <a:latin typeface="Cambria Math" panose="02040503050406030204" pitchFamily="18" charset="0"/>
                            </a:rPr>
                            <m:t>𝐷</m:t>
                          </m:r>
                        </m:e>
                        <m:sub>
                          <m:r>
                            <a:rPr lang="en-US" altLang="zh-TW" sz="2200" i="1">
                              <a:latin typeface="Cambria Math" panose="02040503050406030204" pitchFamily="18" charset="0"/>
                            </a:rPr>
                            <m:t>𝑡𝑤</m:t>
                          </m:r>
                          <m:r>
                            <a:rPr lang="en-US" altLang="zh-TW" sz="2200" b="0" i="1" smtClean="0">
                              <a:latin typeface="Cambria Math" panose="02040503050406030204" pitchFamily="18" charset="0"/>
                            </a:rPr>
                            <m:t>−</m:t>
                          </m:r>
                          <m:r>
                            <a:rPr lang="en-US" altLang="zh-TW" sz="2200" b="0" i="1" smtClean="0">
                              <a:latin typeface="Cambria Math" panose="02040503050406030204" pitchFamily="18" charset="0"/>
                            </a:rPr>
                            <m:t>𝑙𝑏</m:t>
                          </m:r>
                          <m:r>
                            <a:rPr lang="en-US" altLang="zh-TW" sz="2200" b="0" i="1" smtClean="0">
                              <a:latin typeface="Cambria Math" panose="02040503050406030204" pitchFamily="18" charset="0"/>
                            </a:rPr>
                            <m:t>2</m:t>
                          </m:r>
                        </m:sub>
                      </m:sSub>
                      <m:d>
                        <m:dPr>
                          <m:ctrlPr>
                            <a:rPr lang="en-US" altLang="zh-TW" sz="2200" i="1">
                              <a:latin typeface="Cambria Math" panose="02040503050406030204" pitchFamily="18" charset="0"/>
                            </a:rPr>
                          </m:ctrlPr>
                        </m:dPr>
                        <m:e>
                          <m:sSub>
                            <m:sSubPr>
                              <m:ctrlPr>
                                <a:rPr lang="en-US" altLang="zh-TW" sz="2200" i="1">
                                  <a:latin typeface="Cambria Math" panose="02040503050406030204" pitchFamily="18" charset="0"/>
                                </a:rPr>
                              </m:ctrlPr>
                            </m:sSubPr>
                            <m:e>
                              <m:r>
                                <a:rPr lang="en-US" altLang="zh-TW" sz="2200" i="1">
                                  <a:latin typeface="Cambria Math" panose="02040503050406030204" pitchFamily="18" charset="0"/>
                                </a:rPr>
                                <m:t>𝑆</m:t>
                              </m:r>
                            </m:e>
                            <m:sub>
                              <m:r>
                                <a:rPr lang="en-US" altLang="zh-TW" sz="2200" i="1">
                                  <a:latin typeface="Cambria Math" panose="02040503050406030204" pitchFamily="18" charset="0"/>
                                </a:rPr>
                                <m:t>𝑖</m:t>
                              </m:r>
                            </m:sub>
                          </m:sSub>
                          <m:r>
                            <a:rPr lang="en-US" altLang="zh-TW" sz="2200" i="1">
                              <a:latin typeface="Cambria Math" panose="02040503050406030204" pitchFamily="18" charset="0"/>
                            </a:rPr>
                            <m:t>, </m:t>
                          </m:r>
                          <m:sSub>
                            <m:sSubPr>
                              <m:ctrlPr>
                                <a:rPr lang="en-US" altLang="zh-TW" sz="2200" i="1">
                                  <a:latin typeface="Cambria Math" panose="02040503050406030204" pitchFamily="18" charset="0"/>
                                </a:rPr>
                              </m:ctrlPr>
                            </m:sSubPr>
                            <m:e>
                              <m:r>
                                <a:rPr lang="en-US" altLang="zh-TW" sz="2200" b="0" i="1" smtClean="0">
                                  <a:latin typeface="Cambria Math" panose="02040503050406030204" pitchFamily="18" charset="0"/>
                                </a:rPr>
                                <m:t>𝐶</m:t>
                              </m:r>
                              <m:r>
                                <a:rPr lang="en-US" altLang="zh-TW" sz="2200" i="1">
                                  <a:latin typeface="Cambria Math" panose="02040503050406030204" pitchFamily="18" charset="0"/>
                                </a:rPr>
                                <m:t>𝑆</m:t>
                              </m:r>
                            </m:e>
                            <m:sub>
                              <m:r>
                                <a:rPr lang="en-US" altLang="zh-TW" sz="2200" i="1">
                                  <a:latin typeface="Cambria Math" panose="02040503050406030204" pitchFamily="18" charset="0"/>
                                </a:rPr>
                                <m:t>𝑗</m:t>
                              </m:r>
                            </m:sub>
                          </m:sSub>
                          <m:r>
                            <a:rPr lang="en-US" altLang="zh-TW" sz="2200" b="0" i="1" smtClean="0">
                              <a:latin typeface="Cambria Math" panose="02040503050406030204" pitchFamily="18" charset="0"/>
                            </a:rPr>
                            <m:t>[</m:t>
                          </m:r>
                          <m:r>
                            <a:rPr lang="en-US" altLang="zh-TW" sz="2200" b="0" i="1" smtClean="0">
                              <a:latin typeface="Cambria Math" panose="02040503050406030204" pitchFamily="18" charset="0"/>
                            </a:rPr>
                            <m:t>𝑝</m:t>
                          </m:r>
                          <m:r>
                            <a:rPr lang="en-US" altLang="zh-TW" sz="2200" b="0" i="1" smtClean="0">
                              <a:latin typeface="Cambria Math" panose="02040503050406030204" pitchFamily="18" charset="0"/>
                            </a:rPr>
                            <m:t>:−]</m:t>
                          </m:r>
                        </m:e>
                      </m:d>
                      <m:r>
                        <a:rPr lang="en-US" altLang="zh-TW" sz="2200" i="1">
                          <a:latin typeface="Cambria Math" panose="02040503050406030204" pitchFamily="18" charset="0"/>
                        </a:rPr>
                        <m:t>=</m:t>
                      </m:r>
                      <m:sSub>
                        <m:sSubPr>
                          <m:ctrlPr>
                            <a:rPr lang="en-US" altLang="zh-TW" sz="2200" i="1">
                              <a:latin typeface="Cambria Math" panose="02040503050406030204" pitchFamily="18" charset="0"/>
                            </a:rPr>
                          </m:ctrlPr>
                        </m:sSubPr>
                        <m:e>
                          <m:r>
                            <a:rPr lang="en-US" altLang="zh-TW" sz="2200" i="1">
                              <a:latin typeface="Cambria Math" panose="02040503050406030204" pitchFamily="18" charset="0"/>
                            </a:rPr>
                            <m:t>𝐷</m:t>
                          </m:r>
                        </m:e>
                        <m:sub>
                          <m:r>
                            <a:rPr lang="en-US" altLang="zh-TW" sz="2200" b="0" i="1" smtClean="0">
                              <a:latin typeface="Cambria Math" panose="02040503050406030204" pitchFamily="18" charset="0"/>
                            </a:rPr>
                            <m:t>𝑡𝑤</m:t>
                          </m:r>
                          <m:r>
                            <a:rPr lang="en-US" altLang="zh-TW" sz="2200" b="0" i="1" smtClean="0">
                              <a:latin typeface="Cambria Math" panose="02040503050406030204" pitchFamily="18" charset="0"/>
                            </a:rPr>
                            <m:t>−</m:t>
                          </m:r>
                          <m:r>
                            <a:rPr lang="en-US" altLang="zh-TW" sz="2200" b="0" i="1" smtClean="0">
                              <a:latin typeface="Cambria Math" panose="02040503050406030204" pitchFamily="18" charset="0"/>
                            </a:rPr>
                            <m:t>𝑙𝑏</m:t>
                          </m:r>
                        </m:sub>
                      </m:sSub>
                      <m:d>
                        <m:dPr>
                          <m:ctrlPr>
                            <a:rPr lang="en-US" altLang="zh-TW" sz="2200" i="1">
                              <a:latin typeface="Cambria Math" panose="02040503050406030204" pitchFamily="18" charset="0"/>
                            </a:rPr>
                          </m:ctrlPr>
                        </m:dPr>
                        <m:e>
                          <m:sSub>
                            <m:sSubPr>
                              <m:ctrlPr>
                                <a:rPr lang="en-US" altLang="zh-TW" sz="2200" i="1">
                                  <a:latin typeface="Cambria Math" panose="02040503050406030204" pitchFamily="18" charset="0"/>
                                </a:rPr>
                              </m:ctrlPr>
                            </m:sSubPr>
                            <m:e>
                              <m:r>
                                <a:rPr lang="en-US" altLang="zh-TW" sz="2200" i="1">
                                  <a:latin typeface="Cambria Math" panose="02040503050406030204" pitchFamily="18" charset="0"/>
                                </a:rPr>
                                <m:t>𝑆</m:t>
                              </m:r>
                            </m:e>
                            <m:sub>
                              <m:r>
                                <a:rPr lang="en-US" altLang="zh-TW" sz="2200" i="1">
                                  <a:latin typeface="Cambria Math" panose="02040503050406030204" pitchFamily="18" charset="0"/>
                                </a:rPr>
                                <m:t>𝑖</m:t>
                              </m:r>
                            </m:sub>
                          </m:sSub>
                          <m:r>
                            <a:rPr lang="en-US" altLang="zh-TW" sz="2200" i="1">
                              <a:latin typeface="Cambria Math" panose="02040503050406030204" pitchFamily="18" charset="0"/>
                            </a:rPr>
                            <m:t>,</m:t>
                          </m:r>
                          <m:sSub>
                            <m:sSubPr>
                              <m:ctrlPr>
                                <a:rPr lang="en-US" altLang="zh-TW" sz="2200" i="1">
                                  <a:latin typeface="Cambria Math" panose="02040503050406030204" pitchFamily="18" charset="0"/>
                                </a:rPr>
                              </m:ctrlPr>
                            </m:sSubPr>
                            <m:e>
                              <m:r>
                                <a:rPr lang="en-US" altLang="zh-TW" sz="2200" b="0" i="1" smtClean="0">
                                  <a:latin typeface="Cambria Math" panose="02040503050406030204" pitchFamily="18" charset="0"/>
                                </a:rPr>
                                <m:t>𝐶</m:t>
                              </m:r>
                              <m:r>
                                <a:rPr lang="en-US" altLang="zh-TW" sz="2200" i="1">
                                  <a:latin typeface="Cambria Math" panose="02040503050406030204" pitchFamily="18" charset="0"/>
                                </a:rPr>
                                <m:t>𝑆</m:t>
                              </m:r>
                            </m:e>
                            <m:sub>
                              <m:r>
                                <a:rPr lang="en-US" altLang="zh-TW" sz="2200" i="1">
                                  <a:latin typeface="Cambria Math" panose="02040503050406030204" pitchFamily="18" charset="0"/>
                                </a:rPr>
                                <m:t>𝑗</m:t>
                              </m:r>
                            </m:sub>
                          </m:sSub>
                        </m:e>
                      </m:d>
                      <m:r>
                        <a:rPr lang="en-US" altLang="zh-TW" sz="2200" b="0" i="1" smtClean="0">
                          <a:latin typeface="Cambria Math" panose="02040503050406030204" pitchFamily="18" charset="0"/>
                        </a:rPr>
                        <m:t>−</m:t>
                      </m:r>
                      <m:d>
                        <m:dPr>
                          <m:ctrlPr>
                            <a:rPr lang="en-US" altLang="zh-TW" sz="2200" b="0" i="1" smtClean="0">
                              <a:latin typeface="Cambria Math" panose="02040503050406030204" pitchFamily="18" charset="0"/>
                            </a:rPr>
                          </m:ctrlPr>
                        </m:dPr>
                        <m:e>
                          <m:r>
                            <a:rPr lang="en-US" altLang="zh-TW" sz="2200" b="0" i="1" smtClean="0">
                              <a:latin typeface="Cambria Math" panose="02040503050406030204" pitchFamily="18" charset="0"/>
                            </a:rPr>
                            <m:t>𝑝</m:t>
                          </m:r>
                          <m:r>
                            <a:rPr lang="en-US" altLang="zh-TW" sz="2200" b="0" i="1" smtClean="0">
                              <a:latin typeface="Cambria Math" panose="02040503050406030204" pitchFamily="18" charset="0"/>
                            </a:rPr>
                            <m:t>−1</m:t>
                          </m:r>
                        </m:e>
                      </m:d>
                      <m:r>
                        <a:rPr lang="en-US" altLang="zh-TW" sz="2200" b="0" i="1" smtClean="0">
                          <a:latin typeface="Cambria Math" panose="02040503050406030204" pitchFamily="18" charset="0"/>
                        </a:rPr>
                        <m:t>∗</m:t>
                      </m:r>
                      <m:sSub>
                        <m:sSubPr>
                          <m:ctrlPr>
                            <a:rPr lang="en-US" altLang="zh-TW" sz="2200" i="1" smtClean="0">
                              <a:latin typeface="Cambria Math" panose="02040503050406030204" pitchFamily="18" charset="0"/>
                            </a:rPr>
                          </m:ctrlPr>
                        </m:sSubPr>
                        <m:e>
                          <m:r>
                            <a:rPr lang="en-US" altLang="zh-TW" sz="2200" i="1">
                              <a:latin typeface="Cambria Math" panose="02040503050406030204" pitchFamily="18" charset="0"/>
                            </a:rPr>
                            <m:t>𝐷</m:t>
                          </m:r>
                        </m:e>
                        <m:sub>
                          <m:r>
                            <a:rPr lang="en-US" altLang="zh-TW" sz="2200" b="0" i="1" smtClean="0">
                              <a:latin typeface="Cambria Math" panose="02040503050406030204" pitchFamily="18" charset="0"/>
                            </a:rPr>
                            <m:t>𝑏𝑎𝑠𝑒</m:t>
                          </m:r>
                          <m:r>
                            <a:rPr lang="en-US" altLang="zh-TW" sz="2200" b="0" i="1" smtClean="0">
                              <a:latin typeface="Cambria Math" panose="02040503050406030204" pitchFamily="18" charset="0"/>
                            </a:rPr>
                            <m:t>−</m:t>
                          </m:r>
                          <m:r>
                            <a:rPr lang="en-US" altLang="zh-TW" sz="2200" b="0" i="1" smtClean="0">
                              <a:latin typeface="Cambria Math" panose="02040503050406030204" pitchFamily="18" charset="0"/>
                            </a:rPr>
                            <m:t>𝑙𝑏</m:t>
                          </m:r>
                        </m:sub>
                      </m:sSub>
                      <m:d>
                        <m:dPr>
                          <m:ctrlPr>
                            <a:rPr lang="en-US" altLang="zh-TW" sz="2200" i="1">
                              <a:latin typeface="Cambria Math" panose="02040503050406030204" pitchFamily="18" charset="0"/>
                            </a:rPr>
                          </m:ctrlPr>
                        </m:dPr>
                        <m:e>
                          <m:sSub>
                            <m:sSubPr>
                              <m:ctrlPr>
                                <a:rPr lang="en-US" altLang="zh-TW" sz="2200" i="1">
                                  <a:latin typeface="Cambria Math" panose="02040503050406030204" pitchFamily="18" charset="0"/>
                                </a:rPr>
                              </m:ctrlPr>
                            </m:sSubPr>
                            <m:e>
                              <m:r>
                                <a:rPr lang="en-US" altLang="zh-TW" sz="2200" i="1">
                                  <a:latin typeface="Cambria Math" panose="02040503050406030204" pitchFamily="18" charset="0"/>
                                </a:rPr>
                                <m:t>𝑆</m:t>
                              </m:r>
                            </m:e>
                            <m:sub>
                              <m:r>
                                <a:rPr lang="en-US" altLang="zh-TW" sz="2200" i="1">
                                  <a:latin typeface="Cambria Math" panose="02040503050406030204" pitchFamily="18" charset="0"/>
                                </a:rPr>
                                <m:t>𝑖</m:t>
                              </m:r>
                            </m:sub>
                          </m:sSub>
                          <m:d>
                            <m:dPr>
                              <m:begChr m:val="["/>
                              <m:endChr m:val="]"/>
                              <m:ctrlPr>
                                <a:rPr lang="en-US" altLang="zh-TW" sz="2200" b="0" i="1" smtClean="0">
                                  <a:latin typeface="Cambria Math" panose="02040503050406030204" pitchFamily="18" charset="0"/>
                                </a:rPr>
                              </m:ctrlPr>
                            </m:dPr>
                            <m:e>
                              <m:r>
                                <a:rPr lang="en-US" altLang="zh-TW" sz="2200" b="0" i="1" smtClean="0">
                                  <a:latin typeface="Cambria Math" panose="02040503050406030204" pitchFamily="18" charset="0"/>
                                </a:rPr>
                                <m:t>1</m:t>
                              </m:r>
                            </m:e>
                          </m:d>
                          <m:r>
                            <a:rPr lang="en-US" altLang="zh-TW" sz="2200" i="1">
                              <a:latin typeface="Cambria Math" panose="02040503050406030204" pitchFamily="18" charset="0"/>
                            </a:rPr>
                            <m:t>,</m:t>
                          </m:r>
                          <m:sSub>
                            <m:sSubPr>
                              <m:ctrlPr>
                                <a:rPr lang="en-US" altLang="zh-TW" sz="2200" i="1">
                                  <a:latin typeface="Cambria Math" panose="02040503050406030204" pitchFamily="18" charset="0"/>
                                </a:rPr>
                              </m:ctrlPr>
                            </m:sSubPr>
                            <m:e>
                              <m:r>
                                <a:rPr lang="en-US" altLang="zh-TW" sz="2200" b="0" i="1" smtClean="0">
                                  <a:latin typeface="Cambria Math" panose="02040503050406030204" pitchFamily="18" charset="0"/>
                                </a:rPr>
                                <m:t>𝐶</m:t>
                              </m:r>
                              <m:r>
                                <a:rPr lang="en-US" altLang="zh-TW" sz="2200" i="1">
                                  <a:latin typeface="Cambria Math" panose="02040503050406030204" pitchFamily="18" charset="0"/>
                                </a:rPr>
                                <m:t>𝑆</m:t>
                              </m:r>
                            </m:e>
                            <m:sub>
                              <m:r>
                                <a:rPr lang="en-US" altLang="zh-TW" sz="2200" i="1">
                                  <a:latin typeface="Cambria Math" panose="02040503050406030204" pitchFamily="18" charset="0"/>
                                </a:rPr>
                                <m:t>𝑗</m:t>
                              </m:r>
                            </m:sub>
                          </m:sSub>
                          <m:d>
                            <m:dPr>
                              <m:begChr m:val="["/>
                              <m:endChr m:val="]"/>
                              <m:ctrlPr>
                                <a:rPr lang="en-US" altLang="zh-TW" sz="2200" b="0" i="1" smtClean="0">
                                  <a:latin typeface="Cambria Math" panose="02040503050406030204" pitchFamily="18" charset="0"/>
                                </a:rPr>
                              </m:ctrlPr>
                            </m:dPr>
                            <m:e>
                              <m:r>
                                <a:rPr lang="en-US" altLang="zh-TW" sz="2200" b="0" i="1" smtClean="0">
                                  <a:latin typeface="Cambria Math" panose="02040503050406030204" pitchFamily="18" charset="0"/>
                                </a:rPr>
                                <m:t>1</m:t>
                              </m:r>
                            </m:e>
                          </m:d>
                        </m:e>
                      </m:d>
                      <m:r>
                        <a:rPr lang="en-US" altLang="zh-TW" sz="2200" b="0" i="1" smtClean="0">
                          <a:latin typeface="Cambria Math" panose="02040503050406030204" pitchFamily="18" charset="0"/>
                        </a:rPr>
                        <m:t>      , </m:t>
                      </m:r>
                      <m:r>
                        <a:rPr lang="en-US" altLang="zh-TW" sz="2200" b="0" i="1" smtClean="0">
                          <a:latin typeface="Cambria Math" panose="02040503050406030204" pitchFamily="18" charset="0"/>
                        </a:rPr>
                        <m:t>𝑝</m:t>
                      </m:r>
                      <m:r>
                        <a:rPr lang="en-US" altLang="zh-TW" sz="2200" b="0" i="1" smtClean="0">
                          <a:latin typeface="Cambria Math" panose="02040503050406030204" pitchFamily="18" charset="0"/>
                        </a:rPr>
                        <m:t>=2, 3, …, </m:t>
                      </m:r>
                      <m:r>
                        <a:rPr lang="en-US" altLang="zh-TW" sz="2200" b="0" i="1" smtClean="0">
                          <a:latin typeface="Cambria Math" panose="02040503050406030204" pitchFamily="18" charset="0"/>
                        </a:rPr>
                        <m:t>𝑁</m:t>
                      </m:r>
                      <m:r>
                        <a:rPr lang="en-US" altLang="zh-TW" sz="2200" b="0" i="1" smtClean="0">
                          <a:latin typeface="Cambria Math" panose="02040503050406030204" pitchFamily="18" charset="0"/>
                        </a:rPr>
                        <m:t>        </m:t>
                      </m:r>
                    </m:oMath>
                  </m:oMathPara>
                </a14:m>
                <a:endParaRPr lang="zh-TW" altLang="en-US" sz="2200" dirty="0"/>
              </a:p>
            </p:txBody>
          </p:sp>
        </mc:Choice>
        <mc:Fallback xmlns="">
          <p:sp>
            <p:nvSpPr>
              <p:cNvPr id="5" name="文字方塊 4"/>
              <p:cNvSpPr txBox="1">
                <a:spLocks noRot="1" noChangeAspect="1" noMove="1" noResize="1" noEditPoints="1" noAdjustHandles="1" noChangeArrowheads="1" noChangeShapeType="1" noTextEdit="1"/>
              </p:cNvSpPr>
              <p:nvPr/>
            </p:nvSpPr>
            <p:spPr>
              <a:xfrm>
                <a:off x="462827" y="4013859"/>
                <a:ext cx="11729173" cy="1159420"/>
              </a:xfrm>
              <a:prstGeom prst="rect">
                <a:avLst/>
              </a:prstGeom>
              <a:blipFill>
                <a:blip r:embed="rId2"/>
                <a:stretch>
                  <a:fillRect t="-3141" b="-314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內容版面配置區 2"/>
              <p:cNvSpPr>
                <a:spLocks noGrp="1"/>
              </p:cNvSpPr>
              <p:nvPr>
                <p:ph idx="1"/>
              </p:nvPr>
            </p:nvSpPr>
            <p:spPr>
              <a:xfrm>
                <a:off x="588818" y="966292"/>
                <a:ext cx="9280896" cy="2513177"/>
              </a:xfrm>
            </p:spPr>
            <p:txBody>
              <a:bodyPr>
                <a:noAutofit/>
              </a:bodyPr>
              <a:lstStyle/>
              <a:p>
                <a:pPr marL="0" indent="0">
                  <a:buNone/>
                </a:pPr>
                <a14:m>
                  <m:oMathPara xmlns:m="http://schemas.openxmlformats.org/officeDocument/2006/math">
                    <m:oMathParaPr>
                      <m:jc m:val="left"/>
                    </m:oMathParaPr>
                    <m:oMath xmlns:m="http://schemas.openxmlformats.org/officeDocument/2006/math">
                      <m:sSub>
                        <m:sSubPr>
                          <m:ctrlPr>
                            <a:rPr lang="en-US" altLang="zh-TW" sz="1800" b="0" i="1" smtClean="0">
                              <a:latin typeface="Cambria Math" panose="02040503050406030204" pitchFamily="18" charset="0"/>
                            </a:rPr>
                          </m:ctrlPr>
                        </m:sSubPr>
                        <m:e>
                          <m:r>
                            <a:rPr lang="en-US" altLang="zh-TW" sz="1800" b="0" i="1" smtClean="0">
                              <a:latin typeface="Cambria Math" panose="02040503050406030204" pitchFamily="18" charset="0"/>
                            </a:rPr>
                            <m:t>𝐷</m:t>
                          </m:r>
                        </m:e>
                        <m:sub>
                          <m:r>
                            <a:rPr lang="en-US" altLang="zh-TW" sz="1800" b="0" i="1" smtClean="0">
                              <a:latin typeface="Cambria Math" panose="02040503050406030204" pitchFamily="18" charset="0"/>
                            </a:rPr>
                            <m:t>𝑡𝑤</m:t>
                          </m:r>
                          <m:r>
                            <a:rPr lang="en-US" altLang="zh-TW" sz="1800" b="0" i="1" smtClean="0">
                              <a:latin typeface="Cambria Math" panose="02040503050406030204" pitchFamily="18" charset="0"/>
                            </a:rPr>
                            <m:t>−</m:t>
                          </m:r>
                          <m:r>
                            <a:rPr lang="en-US" altLang="zh-TW" sz="1800" b="0" i="1" smtClean="0">
                              <a:latin typeface="Cambria Math" panose="02040503050406030204" pitchFamily="18" charset="0"/>
                            </a:rPr>
                            <m:t>𝑙𝑏</m:t>
                          </m:r>
                        </m:sub>
                      </m:sSub>
                      <m:d>
                        <m:dPr>
                          <m:ctrlPr>
                            <a:rPr lang="en-US" altLang="zh-TW" sz="1800" b="0" i="1" smtClean="0">
                              <a:latin typeface="Cambria Math" panose="02040503050406030204" pitchFamily="18" charset="0"/>
                            </a:rPr>
                          </m:ctrlPr>
                        </m:dPr>
                        <m:e>
                          <m:sSub>
                            <m:sSubPr>
                              <m:ctrlPr>
                                <a:rPr lang="en-US" altLang="zh-TW" sz="1800" b="0" i="1" smtClean="0">
                                  <a:latin typeface="Cambria Math" panose="02040503050406030204" pitchFamily="18" charset="0"/>
                                </a:rPr>
                              </m:ctrlPr>
                            </m:sSubPr>
                            <m:e>
                              <m:r>
                                <a:rPr lang="en-US" altLang="zh-TW" sz="1800" b="0" i="1" smtClean="0">
                                  <a:latin typeface="Cambria Math" panose="02040503050406030204" pitchFamily="18" charset="0"/>
                                </a:rPr>
                                <m:t>𝑆</m:t>
                              </m:r>
                            </m:e>
                            <m:sub>
                              <m:r>
                                <a:rPr lang="en-US" altLang="zh-TW" sz="1800" b="0" i="1" smtClean="0">
                                  <a:latin typeface="Cambria Math" panose="02040503050406030204" pitchFamily="18" charset="0"/>
                                </a:rPr>
                                <m:t>𝑖</m:t>
                              </m:r>
                            </m:sub>
                          </m:sSub>
                          <m:r>
                            <a:rPr lang="en-US" altLang="zh-TW" sz="1800" b="0" i="1" smtClean="0">
                              <a:latin typeface="Cambria Math" panose="02040503050406030204" pitchFamily="18" charset="0"/>
                            </a:rPr>
                            <m:t>[</m:t>
                          </m:r>
                          <m:r>
                            <a:rPr lang="en-US" altLang="zh-TW" sz="1800" b="0" i="1" smtClean="0">
                              <a:latin typeface="Cambria Math" panose="02040503050406030204" pitchFamily="18" charset="0"/>
                            </a:rPr>
                            <m:t>𝑥</m:t>
                          </m:r>
                          <m:r>
                            <a:rPr lang="en-US" altLang="zh-TW" sz="1800" b="0" i="1" smtClean="0">
                              <a:latin typeface="Cambria Math" panose="02040503050406030204" pitchFamily="18" charset="0"/>
                            </a:rPr>
                            <m:t>], </m:t>
                          </m:r>
                          <m:sSub>
                            <m:sSubPr>
                              <m:ctrlPr>
                                <a:rPr lang="en-US" altLang="zh-TW" sz="1800" b="0" i="1" smtClean="0">
                                  <a:latin typeface="Cambria Math" panose="02040503050406030204" pitchFamily="18" charset="0"/>
                                </a:rPr>
                              </m:ctrlPr>
                            </m:sSubPr>
                            <m:e>
                              <m:r>
                                <a:rPr lang="en-US" altLang="zh-TW" sz="1800" b="0" i="1" smtClean="0">
                                  <a:latin typeface="Cambria Math" panose="02040503050406030204" pitchFamily="18" charset="0"/>
                                </a:rPr>
                                <m:t>𝐶𝑆</m:t>
                              </m:r>
                            </m:e>
                            <m:sub>
                              <m:r>
                                <a:rPr lang="en-US" altLang="zh-TW" sz="1800" b="0" i="1" smtClean="0">
                                  <a:latin typeface="Cambria Math" panose="02040503050406030204" pitchFamily="18" charset="0"/>
                                </a:rPr>
                                <m:t>𝑗</m:t>
                              </m:r>
                            </m:sub>
                          </m:sSub>
                          <m:r>
                            <a:rPr lang="en-US" altLang="zh-TW" sz="1800" b="0" i="1" smtClean="0">
                              <a:latin typeface="Cambria Math" panose="02040503050406030204" pitchFamily="18" charset="0"/>
                            </a:rPr>
                            <m:t>[</m:t>
                          </m:r>
                          <m:r>
                            <a:rPr lang="en-US" altLang="zh-TW" sz="1800" b="0" i="1" smtClean="0">
                              <a:latin typeface="Cambria Math" panose="02040503050406030204" pitchFamily="18" charset="0"/>
                            </a:rPr>
                            <m:t>𝑦</m:t>
                          </m:r>
                          <m:r>
                            <a:rPr lang="en-US" altLang="zh-TW" sz="1800" b="0" i="1" smtClean="0">
                              <a:latin typeface="Cambria Math" panose="02040503050406030204" pitchFamily="18" charset="0"/>
                            </a:rPr>
                            <m:t>]</m:t>
                          </m:r>
                        </m:e>
                      </m:d>
                      <m:r>
                        <a:rPr lang="en-US" altLang="zh-TW" sz="1800" b="0" i="1" smtClean="0">
                          <a:latin typeface="Cambria Math" panose="02040503050406030204" pitchFamily="18" charset="0"/>
                        </a:rPr>
                        <m:t>=</m:t>
                      </m:r>
                      <m:sSub>
                        <m:sSubPr>
                          <m:ctrlPr>
                            <a:rPr lang="en-US" altLang="zh-TW" sz="1800" b="0" i="1" smtClean="0">
                              <a:latin typeface="Cambria Math" panose="02040503050406030204" pitchFamily="18" charset="0"/>
                            </a:rPr>
                          </m:ctrlPr>
                        </m:sSubPr>
                        <m:e>
                          <m:r>
                            <a:rPr lang="en-US" altLang="zh-TW" sz="1800" b="0" i="1" smtClean="0">
                              <a:latin typeface="Cambria Math" panose="02040503050406030204" pitchFamily="18" charset="0"/>
                            </a:rPr>
                            <m:t>𝐷</m:t>
                          </m:r>
                        </m:e>
                        <m:sub>
                          <m:r>
                            <a:rPr lang="en-US" altLang="zh-TW" sz="1800" b="0" i="1" smtClean="0">
                              <a:latin typeface="Cambria Math" panose="02040503050406030204" pitchFamily="18" charset="0"/>
                            </a:rPr>
                            <m:t>𝑏𝑎𝑠𝑒</m:t>
                          </m:r>
                          <m:r>
                            <a:rPr lang="en-US" altLang="zh-TW" sz="1800" b="0" i="1" smtClean="0">
                              <a:latin typeface="Cambria Math" panose="02040503050406030204" pitchFamily="18" charset="0"/>
                            </a:rPr>
                            <m:t>−</m:t>
                          </m:r>
                          <m:r>
                            <a:rPr lang="en-US" altLang="zh-TW" sz="1800" b="0" i="1" smtClean="0">
                              <a:latin typeface="Cambria Math" panose="02040503050406030204" pitchFamily="18" charset="0"/>
                            </a:rPr>
                            <m:t>𝑙𝑏</m:t>
                          </m:r>
                        </m:sub>
                      </m:sSub>
                      <m:d>
                        <m:dPr>
                          <m:ctrlPr>
                            <a:rPr lang="en-US" altLang="zh-TW" sz="1800" b="0" i="1" smtClean="0">
                              <a:latin typeface="Cambria Math" panose="02040503050406030204" pitchFamily="18" charset="0"/>
                            </a:rPr>
                          </m:ctrlPr>
                        </m:dPr>
                        <m:e>
                          <m:sSub>
                            <m:sSubPr>
                              <m:ctrlPr>
                                <a:rPr lang="en-US" altLang="zh-TW" sz="1800" b="0" i="1" smtClean="0">
                                  <a:latin typeface="Cambria Math" panose="02040503050406030204" pitchFamily="18" charset="0"/>
                                </a:rPr>
                              </m:ctrlPr>
                            </m:sSubPr>
                            <m:e>
                              <m:r>
                                <a:rPr lang="en-US" altLang="zh-TW" sz="1800" b="0" i="1" smtClean="0">
                                  <a:latin typeface="Cambria Math" panose="02040503050406030204" pitchFamily="18" charset="0"/>
                                </a:rPr>
                                <m:t>𝑆</m:t>
                              </m:r>
                            </m:e>
                            <m:sub>
                              <m:r>
                                <a:rPr lang="en-US" altLang="zh-TW" sz="1800" b="0" i="1" smtClean="0">
                                  <a:latin typeface="Cambria Math" panose="02040503050406030204" pitchFamily="18" charset="0"/>
                                </a:rPr>
                                <m:t>𝑖</m:t>
                              </m:r>
                            </m:sub>
                          </m:sSub>
                          <m:d>
                            <m:dPr>
                              <m:begChr m:val="["/>
                              <m:endChr m:val="]"/>
                              <m:ctrlPr>
                                <a:rPr lang="en-US" altLang="zh-TW" sz="1800" b="0" i="1" smtClean="0">
                                  <a:latin typeface="Cambria Math" panose="02040503050406030204" pitchFamily="18" charset="0"/>
                                </a:rPr>
                              </m:ctrlPr>
                            </m:dPr>
                            <m:e>
                              <m:r>
                                <a:rPr lang="en-US" altLang="zh-TW" sz="1800" b="0" i="1" smtClean="0">
                                  <a:latin typeface="Cambria Math" panose="02040503050406030204" pitchFamily="18" charset="0"/>
                                </a:rPr>
                                <m:t>𝑥</m:t>
                              </m:r>
                            </m:e>
                          </m:d>
                          <m:r>
                            <a:rPr lang="en-US" altLang="zh-TW" sz="1800" b="0" i="1" smtClean="0">
                              <a:latin typeface="Cambria Math" panose="02040503050406030204" pitchFamily="18" charset="0"/>
                            </a:rPr>
                            <m:t>,</m:t>
                          </m:r>
                          <m:sSub>
                            <m:sSubPr>
                              <m:ctrlPr>
                                <a:rPr lang="en-US" altLang="zh-TW" sz="1800" b="0" i="1" smtClean="0">
                                  <a:latin typeface="Cambria Math" panose="02040503050406030204" pitchFamily="18" charset="0"/>
                                </a:rPr>
                              </m:ctrlPr>
                            </m:sSubPr>
                            <m:e>
                              <m:r>
                                <a:rPr lang="en-US" altLang="zh-TW" sz="1800" b="0" i="1" smtClean="0">
                                  <a:latin typeface="Cambria Math" panose="02040503050406030204" pitchFamily="18" charset="0"/>
                                </a:rPr>
                                <m:t>𝐶𝑆</m:t>
                              </m:r>
                            </m:e>
                            <m:sub>
                              <m:r>
                                <a:rPr lang="en-US" altLang="zh-TW" sz="1800" b="0" i="1" smtClean="0">
                                  <a:latin typeface="Cambria Math" panose="02040503050406030204" pitchFamily="18" charset="0"/>
                                </a:rPr>
                                <m:t>𝑗</m:t>
                              </m:r>
                            </m:sub>
                          </m:sSub>
                          <m:d>
                            <m:dPr>
                              <m:begChr m:val="["/>
                              <m:endChr m:val="]"/>
                              <m:ctrlPr>
                                <a:rPr lang="en-US" altLang="zh-TW" sz="1800" b="0" i="1" smtClean="0">
                                  <a:latin typeface="Cambria Math" panose="02040503050406030204" pitchFamily="18" charset="0"/>
                                </a:rPr>
                              </m:ctrlPr>
                            </m:dPr>
                            <m:e>
                              <m:r>
                                <a:rPr lang="en-US" altLang="zh-TW" sz="1800" b="0" i="1" smtClean="0">
                                  <a:latin typeface="Cambria Math" panose="02040503050406030204" pitchFamily="18" charset="0"/>
                                </a:rPr>
                                <m:t>𝑦</m:t>
                              </m:r>
                            </m:e>
                          </m:d>
                        </m:e>
                      </m:d>
                      <m:r>
                        <a:rPr lang="en-US" altLang="zh-TW" sz="1800" b="0" i="1" smtClean="0">
                          <a:latin typeface="Cambria Math" panose="02040503050406030204" pitchFamily="18" charset="0"/>
                        </a:rPr>
                        <m:t>+</m:t>
                      </m:r>
                      <m:r>
                        <a:rPr lang="en-US" altLang="zh-TW" sz="1800" b="0" i="1" smtClean="0">
                          <a:latin typeface="Cambria Math" panose="02040503050406030204" pitchFamily="18" charset="0"/>
                        </a:rPr>
                        <m:t>𝑚𝑖𝑛</m:t>
                      </m:r>
                      <m:d>
                        <m:dPr>
                          <m:begChr m:val="{"/>
                          <m:endChr m:val=""/>
                          <m:ctrlPr>
                            <a:rPr lang="en-US" altLang="zh-TW" sz="1800" b="0" i="1" smtClean="0">
                              <a:latin typeface="Cambria Math" panose="02040503050406030204" pitchFamily="18" charset="0"/>
                            </a:rPr>
                          </m:ctrlPr>
                        </m:dPr>
                        <m:e>
                          <m:eqArr>
                            <m:eqArrPr>
                              <m:ctrlPr>
                                <a:rPr lang="en-US" altLang="zh-TW" sz="1800" b="0" i="1" smtClean="0">
                                  <a:latin typeface="Cambria Math" panose="02040503050406030204" pitchFamily="18" charset="0"/>
                                </a:rPr>
                              </m:ctrlPr>
                            </m:eqArrPr>
                            <m:e>
                              <m:sSub>
                                <m:sSubPr>
                                  <m:ctrlPr>
                                    <a:rPr lang="en-US" altLang="zh-TW" sz="1800" b="0" i="1" smtClean="0">
                                      <a:latin typeface="Cambria Math" panose="02040503050406030204" pitchFamily="18" charset="0"/>
                                    </a:rPr>
                                  </m:ctrlPr>
                                </m:sSubPr>
                                <m:e>
                                  <m:r>
                                    <a:rPr lang="en-US" altLang="zh-TW" sz="1800" b="0" i="1" smtClean="0">
                                      <a:latin typeface="Cambria Math" panose="02040503050406030204" pitchFamily="18" charset="0"/>
                                    </a:rPr>
                                    <m:t>𝐷</m:t>
                                  </m:r>
                                </m:e>
                                <m:sub>
                                  <m:r>
                                    <a:rPr lang="en-US" altLang="zh-TW" sz="1800" b="0" i="1" smtClean="0">
                                      <a:latin typeface="Cambria Math" panose="02040503050406030204" pitchFamily="18" charset="0"/>
                                    </a:rPr>
                                    <m:t>𝑡𝑤</m:t>
                                  </m:r>
                                </m:sub>
                              </m:sSub>
                              <m:d>
                                <m:dPr>
                                  <m:ctrlPr>
                                    <a:rPr lang="en-US" altLang="zh-TW" sz="1800" b="0" i="1" smtClean="0">
                                      <a:latin typeface="Cambria Math" panose="02040503050406030204" pitchFamily="18" charset="0"/>
                                    </a:rPr>
                                  </m:ctrlPr>
                                </m:dPr>
                                <m:e>
                                  <m:sSub>
                                    <m:sSubPr>
                                      <m:ctrlPr>
                                        <a:rPr lang="en-US" altLang="zh-TW" sz="1800" b="0" i="1" smtClean="0">
                                          <a:latin typeface="Cambria Math" panose="02040503050406030204" pitchFamily="18" charset="0"/>
                                        </a:rPr>
                                      </m:ctrlPr>
                                    </m:sSubPr>
                                    <m:e>
                                      <m:r>
                                        <a:rPr lang="en-US" altLang="zh-TW" sz="1800" b="0" i="1" smtClean="0">
                                          <a:latin typeface="Cambria Math" panose="02040503050406030204" pitchFamily="18" charset="0"/>
                                        </a:rPr>
                                        <m:t>𝑆</m:t>
                                      </m:r>
                                    </m:e>
                                    <m:sub>
                                      <m:r>
                                        <a:rPr lang="en-US" altLang="zh-TW" sz="1800" b="0" i="1" smtClean="0">
                                          <a:latin typeface="Cambria Math" panose="02040503050406030204" pitchFamily="18" charset="0"/>
                                        </a:rPr>
                                        <m:t>𝑖</m:t>
                                      </m:r>
                                    </m:sub>
                                  </m:sSub>
                                  <m:r>
                                    <a:rPr lang="en-US" altLang="zh-TW" sz="1800" b="0" i="1" smtClean="0">
                                      <a:latin typeface="Cambria Math" panose="02040503050406030204" pitchFamily="18" charset="0"/>
                                    </a:rPr>
                                    <m:t>,</m:t>
                                  </m:r>
                                  <m:sSub>
                                    <m:sSubPr>
                                      <m:ctrlPr>
                                        <a:rPr lang="en-US" altLang="zh-TW" sz="1800" b="0" i="1" smtClean="0">
                                          <a:latin typeface="Cambria Math" panose="02040503050406030204" pitchFamily="18" charset="0"/>
                                        </a:rPr>
                                      </m:ctrlPr>
                                    </m:sSubPr>
                                    <m:e>
                                      <m:r>
                                        <a:rPr lang="en-US" altLang="zh-TW" sz="1800" b="0" i="1" smtClean="0">
                                          <a:latin typeface="Cambria Math" panose="02040503050406030204" pitchFamily="18" charset="0"/>
                                        </a:rPr>
                                        <m:t>𝐶𝑆</m:t>
                                      </m:r>
                                    </m:e>
                                    <m:sub>
                                      <m:r>
                                        <a:rPr lang="en-US" altLang="zh-TW" sz="1800" b="0" i="1" smtClean="0">
                                          <a:latin typeface="Cambria Math" panose="02040503050406030204" pitchFamily="18" charset="0"/>
                                        </a:rPr>
                                        <m:t>𝑗</m:t>
                                      </m:r>
                                    </m:sub>
                                  </m:sSub>
                                  <m:d>
                                    <m:dPr>
                                      <m:begChr m:val="["/>
                                      <m:endChr m:val="]"/>
                                      <m:ctrlPr>
                                        <a:rPr lang="en-US" altLang="zh-TW" sz="1800" b="0" i="1" smtClean="0">
                                          <a:latin typeface="Cambria Math" panose="02040503050406030204" pitchFamily="18" charset="0"/>
                                        </a:rPr>
                                      </m:ctrlPr>
                                    </m:dPr>
                                    <m:e>
                                      <m:r>
                                        <a:rPr lang="en-US" altLang="zh-TW" sz="1800" b="0" i="1" smtClean="0">
                                          <a:latin typeface="Cambria Math" panose="02040503050406030204" pitchFamily="18" charset="0"/>
                                        </a:rPr>
                                        <m:t>𝑦</m:t>
                                      </m:r>
                                      <m:r>
                                        <a:rPr lang="en-US" altLang="zh-TW" sz="1800" b="0" i="1" smtClean="0">
                                          <a:latin typeface="Cambria Math" panose="02040503050406030204" pitchFamily="18" charset="0"/>
                                        </a:rPr>
                                        <m:t>−1:−</m:t>
                                      </m:r>
                                    </m:e>
                                  </m:d>
                                </m:e>
                              </m:d>
                              <m:r>
                                <a:rPr lang="en-US" altLang="zh-TW" sz="1800" b="0" i="1" smtClean="0">
                                  <a:latin typeface="Cambria Math" panose="02040503050406030204" pitchFamily="18" charset="0"/>
                                </a:rPr>
                                <m:t>                  </m:t>
                              </m:r>
                            </m:e>
                            <m:e>
                              <m:sSub>
                                <m:sSubPr>
                                  <m:ctrlPr>
                                    <a:rPr lang="en-US" altLang="zh-TW" sz="1800" b="0" i="1" smtClean="0">
                                      <a:latin typeface="Cambria Math" panose="02040503050406030204" pitchFamily="18" charset="0"/>
                                    </a:rPr>
                                  </m:ctrlPr>
                                </m:sSubPr>
                                <m:e>
                                  <m:r>
                                    <a:rPr lang="en-US" altLang="zh-TW" sz="1800" b="0" i="1" smtClean="0">
                                      <a:latin typeface="Cambria Math" panose="02040503050406030204" pitchFamily="18" charset="0"/>
                                    </a:rPr>
                                    <m:t>𝐷</m:t>
                                  </m:r>
                                </m:e>
                                <m:sub>
                                  <m:r>
                                    <a:rPr lang="en-US" altLang="zh-TW" sz="1800" b="0" i="1" smtClean="0">
                                      <a:latin typeface="Cambria Math" panose="02040503050406030204" pitchFamily="18" charset="0"/>
                                    </a:rPr>
                                    <m:t>𝑡𝑤</m:t>
                                  </m:r>
                                </m:sub>
                              </m:sSub>
                              <m:d>
                                <m:dPr>
                                  <m:ctrlPr>
                                    <a:rPr lang="en-US" altLang="zh-TW" sz="1800" b="0" i="1" smtClean="0">
                                      <a:latin typeface="Cambria Math" panose="02040503050406030204" pitchFamily="18" charset="0"/>
                                    </a:rPr>
                                  </m:ctrlPr>
                                </m:dPr>
                                <m:e>
                                  <m:sSub>
                                    <m:sSubPr>
                                      <m:ctrlPr>
                                        <a:rPr lang="en-US" altLang="zh-TW" sz="1800" b="0" i="1" smtClean="0">
                                          <a:latin typeface="Cambria Math" panose="02040503050406030204" pitchFamily="18" charset="0"/>
                                        </a:rPr>
                                      </m:ctrlPr>
                                    </m:sSubPr>
                                    <m:e>
                                      <m:r>
                                        <a:rPr lang="en-US" altLang="zh-TW" sz="1800" b="0" i="1" smtClean="0">
                                          <a:latin typeface="Cambria Math" panose="02040503050406030204" pitchFamily="18" charset="0"/>
                                        </a:rPr>
                                        <m:t>𝑆</m:t>
                                      </m:r>
                                    </m:e>
                                    <m:sub>
                                      <m:r>
                                        <a:rPr lang="en-US" altLang="zh-TW" sz="1800" b="0" i="1" smtClean="0">
                                          <a:latin typeface="Cambria Math" panose="02040503050406030204" pitchFamily="18" charset="0"/>
                                        </a:rPr>
                                        <m:t>𝑖</m:t>
                                      </m:r>
                                    </m:sub>
                                  </m:sSub>
                                  <m:d>
                                    <m:dPr>
                                      <m:begChr m:val="["/>
                                      <m:endChr m:val="]"/>
                                      <m:ctrlPr>
                                        <a:rPr lang="en-US" altLang="zh-TW" sz="1800" b="0" i="1" smtClean="0">
                                          <a:latin typeface="Cambria Math" panose="02040503050406030204" pitchFamily="18" charset="0"/>
                                        </a:rPr>
                                      </m:ctrlPr>
                                    </m:dPr>
                                    <m:e>
                                      <m:r>
                                        <a:rPr lang="en-US" altLang="zh-TW" sz="1800" b="0" i="1" smtClean="0">
                                          <a:latin typeface="Cambria Math" panose="02040503050406030204" pitchFamily="18" charset="0"/>
                                        </a:rPr>
                                        <m:t>𝑥</m:t>
                                      </m:r>
                                      <m:r>
                                        <a:rPr lang="en-US" altLang="zh-TW" sz="1800" b="0" i="1" smtClean="0">
                                          <a:latin typeface="Cambria Math" panose="02040503050406030204" pitchFamily="18" charset="0"/>
                                        </a:rPr>
                                        <m:t>−1:−</m:t>
                                      </m:r>
                                    </m:e>
                                  </m:d>
                                  <m:r>
                                    <a:rPr lang="en-US" altLang="zh-TW" sz="1800" b="0" i="1" smtClean="0">
                                      <a:latin typeface="Cambria Math" panose="02040503050406030204" pitchFamily="18" charset="0"/>
                                    </a:rPr>
                                    <m:t>,</m:t>
                                  </m:r>
                                  <m:sSub>
                                    <m:sSubPr>
                                      <m:ctrlPr>
                                        <a:rPr lang="en-US" altLang="zh-TW" sz="1800" b="0" i="1" smtClean="0">
                                          <a:latin typeface="Cambria Math" panose="02040503050406030204" pitchFamily="18" charset="0"/>
                                        </a:rPr>
                                      </m:ctrlPr>
                                    </m:sSubPr>
                                    <m:e>
                                      <m:r>
                                        <a:rPr lang="en-US" altLang="zh-TW" sz="1800" b="0" i="1" smtClean="0">
                                          <a:latin typeface="Cambria Math" panose="02040503050406030204" pitchFamily="18" charset="0"/>
                                        </a:rPr>
                                        <m:t>𝐶𝑆</m:t>
                                      </m:r>
                                    </m:e>
                                    <m:sub>
                                      <m:r>
                                        <a:rPr lang="en-US" altLang="zh-TW" sz="1800" b="0" i="1" smtClean="0">
                                          <a:latin typeface="Cambria Math" panose="02040503050406030204" pitchFamily="18" charset="0"/>
                                        </a:rPr>
                                        <m:t>𝑗</m:t>
                                      </m:r>
                                    </m:sub>
                                  </m:sSub>
                                </m:e>
                              </m:d>
                              <m:r>
                                <a:rPr lang="en-US" altLang="zh-TW" sz="1800" b="0" i="1" smtClean="0">
                                  <a:latin typeface="Cambria Math" panose="02040503050406030204" pitchFamily="18" charset="0"/>
                                </a:rPr>
                                <m:t>                  </m:t>
                              </m:r>
                            </m:e>
                            <m:e>
                              <m:sSub>
                                <m:sSubPr>
                                  <m:ctrlPr>
                                    <a:rPr lang="en-US" altLang="zh-TW" sz="1800" b="0" i="1" smtClean="0">
                                      <a:latin typeface="Cambria Math" panose="02040503050406030204" pitchFamily="18" charset="0"/>
                                    </a:rPr>
                                  </m:ctrlPr>
                                </m:sSubPr>
                                <m:e>
                                  <m:r>
                                    <a:rPr lang="en-US" altLang="zh-TW" sz="1800" b="0" i="1" smtClean="0">
                                      <a:latin typeface="Cambria Math" panose="02040503050406030204" pitchFamily="18" charset="0"/>
                                    </a:rPr>
                                    <m:t>𝐷</m:t>
                                  </m:r>
                                </m:e>
                                <m:sub>
                                  <m:r>
                                    <a:rPr lang="en-US" altLang="zh-TW" sz="1800" b="0" i="1" smtClean="0">
                                      <a:latin typeface="Cambria Math" panose="02040503050406030204" pitchFamily="18" charset="0"/>
                                    </a:rPr>
                                    <m:t>𝑡𝑤</m:t>
                                  </m:r>
                                </m:sub>
                              </m:sSub>
                              <m:r>
                                <a:rPr lang="en-US" altLang="zh-TW" sz="1800" b="0" i="1" smtClean="0">
                                  <a:latin typeface="Cambria Math" panose="02040503050406030204" pitchFamily="18" charset="0"/>
                                </a:rPr>
                                <m:t>(</m:t>
                              </m:r>
                              <m:sSub>
                                <m:sSubPr>
                                  <m:ctrlPr>
                                    <a:rPr lang="en-US" altLang="zh-TW" sz="1800" b="0" i="1" smtClean="0">
                                      <a:latin typeface="Cambria Math" panose="02040503050406030204" pitchFamily="18" charset="0"/>
                                    </a:rPr>
                                  </m:ctrlPr>
                                </m:sSubPr>
                                <m:e>
                                  <m:r>
                                    <a:rPr lang="en-US" altLang="zh-TW" sz="1800" b="0" i="1" smtClean="0">
                                      <a:latin typeface="Cambria Math" panose="02040503050406030204" pitchFamily="18" charset="0"/>
                                    </a:rPr>
                                    <m:t>𝑆</m:t>
                                  </m:r>
                                </m:e>
                                <m:sub>
                                  <m:r>
                                    <a:rPr lang="en-US" altLang="zh-TW" sz="1800" b="0" i="1" smtClean="0">
                                      <a:latin typeface="Cambria Math" panose="02040503050406030204" pitchFamily="18" charset="0"/>
                                    </a:rPr>
                                    <m:t>𝑖</m:t>
                                  </m:r>
                                </m:sub>
                              </m:sSub>
                              <m:r>
                                <a:rPr lang="en-US" altLang="zh-TW" sz="1800" b="0" i="1" smtClean="0">
                                  <a:latin typeface="Cambria Math" panose="02040503050406030204" pitchFamily="18" charset="0"/>
                                </a:rPr>
                                <m:t>[</m:t>
                              </m:r>
                              <m:r>
                                <a:rPr lang="en-US" altLang="zh-TW" sz="1800" b="0" i="1" smtClean="0">
                                  <a:latin typeface="Cambria Math" panose="02040503050406030204" pitchFamily="18" charset="0"/>
                                </a:rPr>
                                <m:t>𝑥</m:t>
                              </m:r>
                              <m:r>
                                <a:rPr lang="en-US" altLang="zh-TW" sz="1800" b="0" i="1" smtClean="0">
                                  <a:latin typeface="Cambria Math" panose="02040503050406030204" pitchFamily="18" charset="0"/>
                                </a:rPr>
                                <m:t>−1:−],</m:t>
                              </m:r>
                              <m:sSub>
                                <m:sSubPr>
                                  <m:ctrlPr>
                                    <a:rPr lang="en-US" altLang="zh-TW" sz="1800" b="0" i="1" smtClean="0">
                                      <a:latin typeface="Cambria Math" panose="02040503050406030204" pitchFamily="18" charset="0"/>
                                    </a:rPr>
                                  </m:ctrlPr>
                                </m:sSubPr>
                                <m:e>
                                  <m:r>
                                    <a:rPr lang="en-US" altLang="zh-TW" sz="1800" b="0" i="1" smtClean="0">
                                      <a:latin typeface="Cambria Math" panose="02040503050406030204" pitchFamily="18" charset="0"/>
                                    </a:rPr>
                                    <m:t>𝐶𝑆</m:t>
                                  </m:r>
                                </m:e>
                                <m:sub>
                                  <m:r>
                                    <a:rPr lang="en-US" altLang="zh-TW" sz="1800" b="0" i="1" smtClean="0">
                                      <a:latin typeface="Cambria Math" panose="02040503050406030204" pitchFamily="18" charset="0"/>
                                    </a:rPr>
                                    <m:t>𝑗</m:t>
                                  </m:r>
                                </m:sub>
                              </m:sSub>
                              <m:r>
                                <a:rPr lang="en-US" altLang="zh-TW" sz="1800" b="0" i="1" smtClean="0">
                                  <a:latin typeface="Cambria Math" panose="02040503050406030204" pitchFamily="18" charset="0"/>
                                </a:rPr>
                                <m:t>[</m:t>
                              </m:r>
                              <m:r>
                                <a:rPr lang="en-US" altLang="zh-TW" sz="1800" b="0" i="1" smtClean="0">
                                  <a:latin typeface="Cambria Math" panose="02040503050406030204" pitchFamily="18" charset="0"/>
                                </a:rPr>
                                <m:t>𝑦</m:t>
                              </m:r>
                              <m:r>
                                <a:rPr lang="en-US" altLang="zh-TW" sz="1800" b="0" i="1" smtClean="0">
                                  <a:latin typeface="Cambria Math" panose="02040503050406030204" pitchFamily="18" charset="0"/>
                                </a:rPr>
                                <m:t>−1:−])</m:t>
                              </m:r>
                            </m:e>
                          </m:eqArr>
                        </m:e>
                      </m:d>
                    </m:oMath>
                  </m:oMathPara>
                </a14:m>
                <a:endParaRPr lang="en-US" altLang="zh-TW" sz="1800" dirty="0"/>
              </a:p>
              <a:p>
                <a:pPr marL="0" indent="0">
                  <a:buNone/>
                </a:pPr>
                <a:endParaRPr lang="en-US" altLang="zh-TW" sz="1800" dirty="0"/>
              </a:p>
              <a:p>
                <a:pPr marL="0" indent="0">
                  <a:buNone/>
                </a:pPr>
                <a14:m>
                  <m:oMathPara xmlns:m="http://schemas.openxmlformats.org/officeDocument/2006/math">
                    <m:oMathParaPr>
                      <m:jc m:val="left"/>
                    </m:oMathParaPr>
                    <m:oMath xmlns:m="http://schemas.openxmlformats.org/officeDocument/2006/math">
                      <m:sSub>
                        <m:sSubPr>
                          <m:ctrlPr>
                            <a:rPr lang="en-US" altLang="zh-TW" sz="1800" b="0" i="1" smtClean="0">
                              <a:latin typeface="Cambria Math" panose="02040503050406030204" pitchFamily="18" charset="0"/>
                            </a:rPr>
                          </m:ctrlPr>
                        </m:sSubPr>
                        <m:e>
                          <m:r>
                            <a:rPr lang="en-US" altLang="zh-TW" sz="1800" b="0" i="1" smtClean="0">
                              <a:latin typeface="Cambria Math" panose="02040503050406030204" pitchFamily="18" charset="0"/>
                            </a:rPr>
                            <m:t>𝐷</m:t>
                          </m:r>
                        </m:e>
                        <m:sub>
                          <m:r>
                            <a:rPr lang="en-US" altLang="zh-TW" sz="1800" b="0" i="1" smtClean="0">
                              <a:latin typeface="Cambria Math" panose="02040503050406030204" pitchFamily="18" charset="0"/>
                            </a:rPr>
                            <m:t>𝑏𝑎𝑠𝑒</m:t>
                          </m:r>
                          <m:r>
                            <a:rPr lang="en-US" altLang="zh-TW" sz="1800" b="0" i="1" smtClean="0">
                              <a:latin typeface="Cambria Math" panose="02040503050406030204" pitchFamily="18" charset="0"/>
                            </a:rPr>
                            <m:t>−</m:t>
                          </m:r>
                          <m:r>
                            <a:rPr lang="en-US" altLang="zh-TW" sz="1800" b="0" i="1" smtClean="0">
                              <a:latin typeface="Cambria Math" panose="02040503050406030204" pitchFamily="18" charset="0"/>
                            </a:rPr>
                            <m:t>𝑙𝑏</m:t>
                          </m:r>
                        </m:sub>
                      </m:sSub>
                      <m:d>
                        <m:dPr>
                          <m:ctrlPr>
                            <a:rPr lang="en-US" altLang="zh-TW" sz="1800" b="0" i="1" smtClean="0">
                              <a:latin typeface="Cambria Math" panose="02040503050406030204" pitchFamily="18" charset="0"/>
                            </a:rPr>
                          </m:ctrlPr>
                        </m:dPr>
                        <m:e>
                          <m:r>
                            <a:rPr lang="en-US" altLang="zh-TW" sz="1800" b="0" i="1" smtClean="0">
                              <a:latin typeface="Cambria Math" panose="02040503050406030204" pitchFamily="18" charset="0"/>
                            </a:rPr>
                            <m:t>𝑎</m:t>
                          </m:r>
                          <m:r>
                            <a:rPr lang="en-US" altLang="zh-TW" sz="1800" b="0" i="1" smtClean="0">
                              <a:latin typeface="Cambria Math" panose="02040503050406030204" pitchFamily="18" charset="0"/>
                            </a:rPr>
                            <m:t>,</m:t>
                          </m:r>
                          <m:r>
                            <a:rPr lang="en-US" altLang="zh-TW" sz="1800" b="0" i="1" smtClean="0">
                              <a:latin typeface="Cambria Math" panose="02040503050406030204" pitchFamily="18" charset="0"/>
                            </a:rPr>
                            <m:t>𝐵</m:t>
                          </m:r>
                        </m:e>
                      </m:d>
                      <m:r>
                        <a:rPr lang="en-US" altLang="zh-TW" sz="1800" b="0" i="1" smtClean="0">
                          <a:latin typeface="Cambria Math" panose="02040503050406030204" pitchFamily="18" charset="0"/>
                        </a:rPr>
                        <m:t>=</m:t>
                      </m:r>
                      <m:d>
                        <m:dPr>
                          <m:begChr m:val="{"/>
                          <m:endChr m:val=""/>
                          <m:ctrlPr>
                            <a:rPr lang="en-US" altLang="zh-TW" sz="1800" b="0" i="1" smtClean="0">
                              <a:latin typeface="Cambria Math" panose="02040503050406030204" pitchFamily="18" charset="0"/>
                            </a:rPr>
                          </m:ctrlPr>
                        </m:dPr>
                        <m:e>
                          <m:eqArr>
                            <m:eqArrPr>
                              <m:ctrlPr>
                                <a:rPr lang="en-US" altLang="zh-TW" sz="1800" b="0" i="1" smtClean="0">
                                  <a:latin typeface="Cambria Math" panose="02040503050406030204" pitchFamily="18" charset="0"/>
                                </a:rPr>
                              </m:ctrlPr>
                            </m:eqArrPr>
                            <m:e>
                              <m:r>
                                <a:rPr lang="en-US" altLang="zh-TW" sz="1800" b="0" i="1" smtClean="0">
                                  <a:latin typeface="Cambria Math" panose="02040503050406030204" pitchFamily="18" charset="0"/>
                                </a:rPr>
                                <m:t>0                                    </m:t>
                              </m:r>
                              <m:d>
                                <m:dPr>
                                  <m:ctrlPr>
                                    <a:rPr lang="en-US" altLang="zh-TW" sz="1800" b="0" i="1" smtClean="0">
                                      <a:latin typeface="Cambria Math" panose="02040503050406030204" pitchFamily="18" charset="0"/>
                                    </a:rPr>
                                  </m:ctrlPr>
                                </m:dPr>
                                <m:e>
                                  <m:r>
                                    <a:rPr lang="en-US" altLang="zh-TW" sz="1800" b="0" i="1" smtClean="0">
                                      <a:latin typeface="Cambria Math" panose="02040503050406030204" pitchFamily="18" charset="0"/>
                                    </a:rPr>
                                    <m:t>𝑖𝑓</m:t>
                                  </m:r>
                                  <m:r>
                                    <a:rPr lang="en-US" altLang="zh-TW" sz="1800" b="0" i="1" smtClean="0">
                                      <a:latin typeface="Cambria Math" panose="02040503050406030204" pitchFamily="18" charset="0"/>
                                    </a:rPr>
                                    <m:t> </m:t>
                                  </m:r>
                                  <m:r>
                                    <a:rPr lang="en-US" altLang="zh-TW" sz="1800" b="0" i="1" smtClean="0">
                                      <a:latin typeface="Cambria Math" panose="02040503050406030204" pitchFamily="18" charset="0"/>
                                    </a:rPr>
                                    <m:t>𝐵</m:t>
                                  </m:r>
                                  <m:r>
                                    <a:rPr lang="en-US" altLang="zh-TW" sz="1800" b="0" i="1" smtClean="0">
                                      <a:latin typeface="Cambria Math" panose="02040503050406030204" pitchFamily="18" charset="0"/>
                                    </a:rPr>
                                    <m:t>.</m:t>
                                  </m:r>
                                  <m:r>
                                    <a:rPr lang="en-US" altLang="zh-TW" sz="1800" b="0" i="1" smtClean="0">
                                      <a:latin typeface="Cambria Math" panose="02040503050406030204" pitchFamily="18" charset="0"/>
                                    </a:rPr>
                                    <m:t>𝑙𝑏</m:t>
                                  </m:r>
                                  <m:r>
                                    <a:rPr lang="en-US" altLang="zh-TW" sz="1800" b="0" i="1" smtClean="0">
                                      <a:latin typeface="Cambria Math" panose="02040503050406030204" pitchFamily="18" charset="0"/>
                                      <a:ea typeface="Cambria Math" panose="02040503050406030204" pitchFamily="18" charset="0"/>
                                    </a:rPr>
                                    <m:t>≤</m:t>
                                  </m:r>
                                  <m:r>
                                    <a:rPr lang="en-US" altLang="zh-TW" sz="1800" b="0" i="1" smtClean="0">
                                      <a:latin typeface="Cambria Math" panose="02040503050406030204" pitchFamily="18" charset="0"/>
                                      <a:ea typeface="Cambria Math" panose="02040503050406030204" pitchFamily="18" charset="0"/>
                                    </a:rPr>
                                    <m:t>𝑎</m:t>
                                  </m:r>
                                  <m:r>
                                    <a:rPr lang="en-US" altLang="zh-TW" sz="1800" b="0" i="1" smtClean="0">
                                      <a:latin typeface="Cambria Math" panose="02040503050406030204" pitchFamily="18" charset="0"/>
                                      <a:ea typeface="Cambria Math" panose="02040503050406030204" pitchFamily="18" charset="0"/>
                                    </a:rPr>
                                    <m:t>≤</m:t>
                                  </m:r>
                                  <m:r>
                                    <a:rPr lang="en-US" altLang="zh-TW" sz="1800" b="0" i="1" smtClean="0">
                                      <a:latin typeface="Cambria Math" panose="02040503050406030204" pitchFamily="18" charset="0"/>
                                    </a:rPr>
                                    <m:t>𝐵</m:t>
                                  </m:r>
                                  <m:r>
                                    <a:rPr lang="en-US" altLang="zh-TW" sz="1800" b="0" i="1" smtClean="0">
                                      <a:latin typeface="Cambria Math" panose="02040503050406030204" pitchFamily="18" charset="0"/>
                                    </a:rPr>
                                    <m:t>.</m:t>
                                  </m:r>
                                  <m:r>
                                    <a:rPr lang="en-US" altLang="zh-TW" sz="1800" b="0" i="1" smtClean="0">
                                      <a:latin typeface="Cambria Math" panose="02040503050406030204" pitchFamily="18" charset="0"/>
                                    </a:rPr>
                                    <m:t>𝑢𝑏</m:t>
                                  </m:r>
                                </m:e>
                              </m:d>
                              <m:r>
                                <a:rPr lang="en-US" altLang="zh-TW" sz="1800" b="0" i="1" smtClean="0">
                                  <a:latin typeface="Cambria Math" panose="02040503050406030204" pitchFamily="18" charset="0"/>
                                </a:rPr>
                                <m:t>              </m:t>
                              </m:r>
                            </m:e>
                            <m:e>
                              <m:r>
                                <a:rPr lang="en-US" altLang="zh-TW" sz="1800" b="0" i="1" smtClean="0">
                                  <a:latin typeface="Cambria Math" panose="02040503050406030204" pitchFamily="18" charset="0"/>
                                </a:rPr>
                                <m:t>𝑎</m:t>
                              </m:r>
                              <m:r>
                                <a:rPr lang="en-US" altLang="zh-TW" sz="1800" b="0" i="1" smtClean="0">
                                  <a:latin typeface="Cambria Math" panose="02040503050406030204" pitchFamily="18" charset="0"/>
                                </a:rPr>
                                <m:t>−</m:t>
                              </m:r>
                              <m:r>
                                <a:rPr lang="en-US" altLang="zh-TW" sz="1800" b="0" i="1" smtClean="0">
                                  <a:latin typeface="Cambria Math" panose="02040503050406030204" pitchFamily="18" charset="0"/>
                                </a:rPr>
                                <m:t>𝐵</m:t>
                              </m:r>
                              <m:r>
                                <a:rPr lang="en-US" altLang="zh-TW" sz="1800" b="0" i="1" smtClean="0">
                                  <a:latin typeface="Cambria Math" panose="02040503050406030204" pitchFamily="18" charset="0"/>
                                </a:rPr>
                                <m:t>.</m:t>
                              </m:r>
                              <m:r>
                                <a:rPr lang="en-US" altLang="zh-TW" sz="1800" b="0" i="1" smtClean="0">
                                  <a:latin typeface="Cambria Math" panose="02040503050406030204" pitchFamily="18" charset="0"/>
                                </a:rPr>
                                <m:t>𝑢𝑏</m:t>
                              </m:r>
                              <m:r>
                                <a:rPr lang="en-US" altLang="zh-TW" sz="1800" b="0" i="1" smtClean="0">
                                  <a:latin typeface="Cambria Math" panose="02040503050406030204" pitchFamily="18" charset="0"/>
                                </a:rPr>
                                <m:t>                     </m:t>
                              </m:r>
                              <m:d>
                                <m:dPr>
                                  <m:ctrlPr>
                                    <a:rPr lang="en-US" altLang="zh-TW" sz="1800" b="0" i="1" smtClean="0">
                                      <a:latin typeface="Cambria Math" panose="02040503050406030204" pitchFamily="18" charset="0"/>
                                    </a:rPr>
                                  </m:ctrlPr>
                                </m:dPr>
                                <m:e>
                                  <m:r>
                                    <a:rPr lang="en-US" altLang="zh-TW" sz="1800" b="0" i="1" smtClean="0">
                                      <a:latin typeface="Cambria Math" panose="02040503050406030204" pitchFamily="18" charset="0"/>
                                    </a:rPr>
                                    <m:t>𝑖𝑓</m:t>
                                  </m:r>
                                  <m:r>
                                    <a:rPr lang="en-US" altLang="zh-TW" sz="1800" b="0" i="1" smtClean="0">
                                      <a:latin typeface="Cambria Math" panose="02040503050406030204" pitchFamily="18" charset="0"/>
                                    </a:rPr>
                                    <m:t> </m:t>
                                  </m:r>
                                  <m:r>
                                    <a:rPr lang="en-US" altLang="zh-TW" sz="1800" b="0" i="1" smtClean="0">
                                      <a:latin typeface="Cambria Math" panose="02040503050406030204" pitchFamily="18" charset="0"/>
                                    </a:rPr>
                                    <m:t>𝑎</m:t>
                                  </m:r>
                                  <m:r>
                                    <a:rPr lang="en-US" altLang="zh-TW" sz="1800" b="0" i="1" smtClean="0">
                                      <a:latin typeface="Cambria Math" panose="02040503050406030204" pitchFamily="18" charset="0"/>
                                    </a:rPr>
                                    <m:t>&gt;</m:t>
                                  </m:r>
                                  <m:r>
                                    <a:rPr lang="en-US" altLang="zh-TW" sz="1800" b="0" i="1" smtClean="0">
                                      <a:latin typeface="Cambria Math" panose="02040503050406030204" pitchFamily="18" charset="0"/>
                                    </a:rPr>
                                    <m:t>𝐵</m:t>
                                  </m:r>
                                  <m:r>
                                    <a:rPr lang="en-US" altLang="zh-TW" sz="1800" b="0" i="1" smtClean="0">
                                      <a:latin typeface="Cambria Math" panose="02040503050406030204" pitchFamily="18" charset="0"/>
                                    </a:rPr>
                                    <m:t>.</m:t>
                                  </m:r>
                                  <m:r>
                                    <a:rPr lang="en-US" altLang="zh-TW" sz="1800" b="0" i="1" smtClean="0">
                                      <a:latin typeface="Cambria Math" panose="02040503050406030204" pitchFamily="18" charset="0"/>
                                    </a:rPr>
                                    <m:t>𝑢𝑏</m:t>
                                  </m:r>
                                </m:e>
                              </m:d>
                              <m:r>
                                <a:rPr lang="en-US" altLang="zh-TW" sz="1800" b="0" i="1" smtClean="0">
                                  <a:latin typeface="Cambria Math" panose="02040503050406030204" pitchFamily="18" charset="0"/>
                                </a:rPr>
                                <m:t>                             </m:t>
                              </m:r>
                            </m:e>
                            <m:e>
                              <m:r>
                                <a:rPr lang="en-US" altLang="zh-TW" sz="1800" b="0" i="1" smtClean="0">
                                  <a:latin typeface="Cambria Math" panose="02040503050406030204" pitchFamily="18" charset="0"/>
                                </a:rPr>
                                <m:t>𝐵</m:t>
                              </m:r>
                              <m:r>
                                <a:rPr lang="en-US" altLang="zh-TW" sz="1800" b="0" i="1" smtClean="0">
                                  <a:latin typeface="Cambria Math" panose="02040503050406030204" pitchFamily="18" charset="0"/>
                                </a:rPr>
                                <m:t>.</m:t>
                              </m:r>
                              <m:r>
                                <a:rPr lang="en-US" altLang="zh-TW" sz="1800" b="0" i="1" smtClean="0">
                                  <a:latin typeface="Cambria Math" panose="02040503050406030204" pitchFamily="18" charset="0"/>
                                </a:rPr>
                                <m:t>𝑙𝑏</m:t>
                              </m:r>
                              <m:r>
                                <a:rPr lang="en-US" altLang="zh-TW" sz="1800" b="0" i="1" smtClean="0">
                                  <a:latin typeface="Cambria Math" panose="02040503050406030204" pitchFamily="18" charset="0"/>
                                </a:rPr>
                                <m:t>−</m:t>
                              </m:r>
                              <m:r>
                                <a:rPr lang="en-US" altLang="zh-TW" sz="1800" b="0" i="1" smtClean="0">
                                  <a:latin typeface="Cambria Math" panose="02040503050406030204" pitchFamily="18" charset="0"/>
                                </a:rPr>
                                <m:t>𝑎</m:t>
                              </m:r>
                              <m:r>
                                <a:rPr lang="en-US" altLang="zh-TW" sz="1800" b="0" i="1" smtClean="0">
                                  <a:latin typeface="Cambria Math" panose="02040503050406030204" pitchFamily="18" charset="0"/>
                                </a:rPr>
                                <m:t>                      </m:t>
                              </m:r>
                              <m:d>
                                <m:dPr>
                                  <m:ctrlPr>
                                    <a:rPr lang="en-US" altLang="zh-TW" sz="1800" b="0" i="1" smtClean="0">
                                      <a:latin typeface="Cambria Math" panose="02040503050406030204" pitchFamily="18" charset="0"/>
                                    </a:rPr>
                                  </m:ctrlPr>
                                </m:dPr>
                                <m:e>
                                  <m:r>
                                    <a:rPr lang="en-US" altLang="zh-TW" sz="1800" b="0" i="1" smtClean="0">
                                      <a:latin typeface="Cambria Math" panose="02040503050406030204" pitchFamily="18" charset="0"/>
                                    </a:rPr>
                                    <m:t>𝑖𝑓</m:t>
                                  </m:r>
                                  <m:r>
                                    <a:rPr lang="en-US" altLang="zh-TW" sz="1800" b="0" i="1" smtClean="0">
                                      <a:latin typeface="Cambria Math" panose="02040503050406030204" pitchFamily="18" charset="0"/>
                                    </a:rPr>
                                    <m:t> </m:t>
                                  </m:r>
                                  <m:r>
                                    <a:rPr lang="en-US" altLang="zh-TW" sz="1800" b="0" i="1" smtClean="0">
                                      <a:latin typeface="Cambria Math" panose="02040503050406030204" pitchFamily="18" charset="0"/>
                                    </a:rPr>
                                    <m:t>𝑎</m:t>
                                  </m:r>
                                  <m:r>
                                    <a:rPr lang="en-US" altLang="zh-TW" sz="1800" b="0" i="1" smtClean="0">
                                      <a:latin typeface="Cambria Math" panose="02040503050406030204" pitchFamily="18" charset="0"/>
                                    </a:rPr>
                                    <m:t>&lt;</m:t>
                                  </m:r>
                                  <m:r>
                                    <a:rPr lang="en-US" altLang="zh-TW" sz="1800" b="0" i="1" smtClean="0">
                                      <a:latin typeface="Cambria Math" panose="02040503050406030204" pitchFamily="18" charset="0"/>
                                    </a:rPr>
                                    <m:t>𝐵</m:t>
                                  </m:r>
                                  <m:r>
                                    <a:rPr lang="en-US" altLang="zh-TW" sz="1800" b="0" i="1" smtClean="0">
                                      <a:latin typeface="Cambria Math" panose="02040503050406030204" pitchFamily="18" charset="0"/>
                                    </a:rPr>
                                    <m:t>.</m:t>
                                  </m:r>
                                  <m:r>
                                    <a:rPr lang="en-US" altLang="zh-TW" sz="1800" b="0" i="1" smtClean="0">
                                      <a:latin typeface="Cambria Math" panose="02040503050406030204" pitchFamily="18" charset="0"/>
                                    </a:rPr>
                                    <m:t>𝑙𝑏</m:t>
                                  </m:r>
                                </m:e>
                              </m:d>
                              <m:r>
                                <a:rPr lang="en-US" altLang="zh-TW" sz="1800" b="0" i="1" smtClean="0">
                                  <a:latin typeface="Cambria Math" panose="02040503050406030204" pitchFamily="18" charset="0"/>
                                </a:rPr>
                                <m:t>                              </m:t>
                              </m:r>
                            </m:e>
                          </m:eqArr>
                        </m:e>
                      </m:d>
                    </m:oMath>
                  </m:oMathPara>
                </a14:m>
                <a:endParaRPr lang="zh-TW" altLang="en-US" sz="1800" dirty="0"/>
              </a:p>
            </p:txBody>
          </p:sp>
        </mc:Choice>
        <mc:Fallback xmlns="">
          <p:sp>
            <p:nvSpPr>
              <p:cNvPr id="7" name="內容版面配置區 2"/>
              <p:cNvSpPr>
                <a:spLocks noGrp="1" noRot="1" noChangeAspect="1" noMove="1" noResize="1" noEditPoints="1" noAdjustHandles="1" noChangeArrowheads="1" noChangeShapeType="1" noTextEdit="1"/>
              </p:cNvSpPr>
              <p:nvPr>
                <p:ph idx="1"/>
              </p:nvPr>
            </p:nvSpPr>
            <p:spPr>
              <a:xfrm>
                <a:off x="588818" y="966292"/>
                <a:ext cx="9280896" cy="2513177"/>
              </a:xfrm>
              <a:blipFill>
                <a:blip r:embed="rId3"/>
                <a:stretch>
                  <a:fillRect t="-485"/>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2729897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文字方塊 3"/>
              <p:cNvSpPr txBox="1"/>
              <p:nvPr/>
            </p:nvSpPr>
            <p:spPr>
              <a:xfrm>
                <a:off x="462827" y="950720"/>
                <a:ext cx="11729173" cy="1159420"/>
              </a:xfrm>
              <a:prstGeom prst="rect">
                <a:avLst/>
              </a:prstGeom>
              <a:noFill/>
            </p:spPr>
            <p:txBody>
              <a:bodyPr wrap="none" rtlCol="0">
                <a:spAutoFit/>
              </a:bodyPr>
              <a:lstStyle/>
              <a:p>
                <a:r>
                  <a:rPr lang="en-US" altLang="zh-TW" sz="2200" dirty="0">
                    <a:latin typeface="Times New Roman" panose="02020603050405020304" pitchFamily="18" charset="0"/>
                    <a:cs typeface="Times New Roman" panose="02020603050405020304" pitchFamily="18" charset="0"/>
                  </a:rPr>
                  <a:t>  If the first N elements of CS have the same value : </a:t>
                </a:r>
              </a:p>
              <a:p>
                <a:endParaRPr lang="en-US" altLang="zh-TW" sz="2200"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US" altLang="zh-TW" sz="2200" i="1" smtClean="0">
                              <a:latin typeface="Cambria Math" panose="02040503050406030204" pitchFamily="18" charset="0"/>
                            </a:rPr>
                          </m:ctrlPr>
                        </m:sSubPr>
                        <m:e>
                          <m:r>
                            <a:rPr lang="en-US" altLang="zh-TW" sz="2200" i="1">
                              <a:latin typeface="Cambria Math" panose="02040503050406030204" pitchFamily="18" charset="0"/>
                            </a:rPr>
                            <m:t>𝐷</m:t>
                          </m:r>
                        </m:e>
                        <m:sub>
                          <m:r>
                            <a:rPr lang="en-US" altLang="zh-TW" sz="2200" i="1">
                              <a:latin typeface="Cambria Math" panose="02040503050406030204" pitchFamily="18" charset="0"/>
                            </a:rPr>
                            <m:t>𝑡𝑤</m:t>
                          </m:r>
                          <m:r>
                            <a:rPr lang="en-US" altLang="zh-TW" sz="2200" b="0" i="1" smtClean="0">
                              <a:latin typeface="Cambria Math" panose="02040503050406030204" pitchFamily="18" charset="0"/>
                            </a:rPr>
                            <m:t>−</m:t>
                          </m:r>
                          <m:r>
                            <a:rPr lang="en-US" altLang="zh-TW" sz="2200" b="0" i="1" smtClean="0">
                              <a:latin typeface="Cambria Math" panose="02040503050406030204" pitchFamily="18" charset="0"/>
                            </a:rPr>
                            <m:t>𝑙𝑏</m:t>
                          </m:r>
                          <m:r>
                            <a:rPr lang="en-US" altLang="zh-TW" sz="2200" b="0" i="1" smtClean="0">
                              <a:latin typeface="Cambria Math" panose="02040503050406030204" pitchFamily="18" charset="0"/>
                            </a:rPr>
                            <m:t>2</m:t>
                          </m:r>
                        </m:sub>
                      </m:sSub>
                      <m:d>
                        <m:dPr>
                          <m:ctrlPr>
                            <a:rPr lang="en-US" altLang="zh-TW" sz="2200" i="1">
                              <a:latin typeface="Cambria Math" panose="02040503050406030204" pitchFamily="18" charset="0"/>
                            </a:rPr>
                          </m:ctrlPr>
                        </m:dPr>
                        <m:e>
                          <m:sSub>
                            <m:sSubPr>
                              <m:ctrlPr>
                                <a:rPr lang="en-US" altLang="zh-TW" sz="2200" i="1">
                                  <a:latin typeface="Cambria Math" panose="02040503050406030204" pitchFamily="18" charset="0"/>
                                </a:rPr>
                              </m:ctrlPr>
                            </m:sSubPr>
                            <m:e>
                              <m:r>
                                <a:rPr lang="en-US" altLang="zh-TW" sz="2200" i="1">
                                  <a:latin typeface="Cambria Math" panose="02040503050406030204" pitchFamily="18" charset="0"/>
                                </a:rPr>
                                <m:t>𝑆</m:t>
                              </m:r>
                            </m:e>
                            <m:sub>
                              <m:r>
                                <a:rPr lang="en-US" altLang="zh-TW" sz="2200" i="1">
                                  <a:latin typeface="Cambria Math" panose="02040503050406030204" pitchFamily="18" charset="0"/>
                                </a:rPr>
                                <m:t>𝑖</m:t>
                              </m:r>
                            </m:sub>
                          </m:sSub>
                          <m:r>
                            <a:rPr lang="en-US" altLang="zh-TW" sz="2200" i="1">
                              <a:latin typeface="Cambria Math" panose="02040503050406030204" pitchFamily="18" charset="0"/>
                            </a:rPr>
                            <m:t>, </m:t>
                          </m:r>
                          <m:sSub>
                            <m:sSubPr>
                              <m:ctrlPr>
                                <a:rPr lang="en-US" altLang="zh-TW" sz="2200" i="1">
                                  <a:latin typeface="Cambria Math" panose="02040503050406030204" pitchFamily="18" charset="0"/>
                                </a:rPr>
                              </m:ctrlPr>
                            </m:sSubPr>
                            <m:e>
                              <m:r>
                                <a:rPr lang="en-US" altLang="zh-TW" sz="2200" b="0" i="1" smtClean="0">
                                  <a:latin typeface="Cambria Math" panose="02040503050406030204" pitchFamily="18" charset="0"/>
                                </a:rPr>
                                <m:t>𝐶</m:t>
                              </m:r>
                              <m:r>
                                <a:rPr lang="en-US" altLang="zh-TW" sz="2200" i="1">
                                  <a:latin typeface="Cambria Math" panose="02040503050406030204" pitchFamily="18" charset="0"/>
                                </a:rPr>
                                <m:t>𝑆</m:t>
                              </m:r>
                            </m:e>
                            <m:sub>
                              <m:r>
                                <a:rPr lang="en-US" altLang="zh-TW" sz="2200" i="1">
                                  <a:latin typeface="Cambria Math" panose="02040503050406030204" pitchFamily="18" charset="0"/>
                                </a:rPr>
                                <m:t>𝑗</m:t>
                              </m:r>
                            </m:sub>
                          </m:sSub>
                          <m:r>
                            <a:rPr lang="en-US" altLang="zh-TW" sz="2200" b="0" i="1" smtClean="0">
                              <a:latin typeface="Cambria Math" panose="02040503050406030204" pitchFamily="18" charset="0"/>
                            </a:rPr>
                            <m:t>[</m:t>
                          </m:r>
                          <m:r>
                            <a:rPr lang="en-US" altLang="zh-TW" sz="2200" b="0" i="1" smtClean="0">
                              <a:latin typeface="Cambria Math" panose="02040503050406030204" pitchFamily="18" charset="0"/>
                            </a:rPr>
                            <m:t>𝑝</m:t>
                          </m:r>
                          <m:r>
                            <a:rPr lang="en-US" altLang="zh-TW" sz="2200" b="0" i="1" smtClean="0">
                              <a:latin typeface="Cambria Math" panose="02040503050406030204" pitchFamily="18" charset="0"/>
                            </a:rPr>
                            <m:t>:−]</m:t>
                          </m:r>
                        </m:e>
                      </m:d>
                      <m:r>
                        <a:rPr lang="en-US" altLang="zh-TW" sz="2200" i="1">
                          <a:latin typeface="Cambria Math" panose="02040503050406030204" pitchFamily="18" charset="0"/>
                        </a:rPr>
                        <m:t>=</m:t>
                      </m:r>
                      <m:sSub>
                        <m:sSubPr>
                          <m:ctrlPr>
                            <a:rPr lang="en-US" altLang="zh-TW" sz="2200" i="1">
                              <a:latin typeface="Cambria Math" panose="02040503050406030204" pitchFamily="18" charset="0"/>
                            </a:rPr>
                          </m:ctrlPr>
                        </m:sSubPr>
                        <m:e>
                          <m:r>
                            <a:rPr lang="en-US" altLang="zh-TW" sz="2200" i="1">
                              <a:latin typeface="Cambria Math" panose="02040503050406030204" pitchFamily="18" charset="0"/>
                            </a:rPr>
                            <m:t>𝐷</m:t>
                          </m:r>
                        </m:e>
                        <m:sub>
                          <m:r>
                            <a:rPr lang="en-US" altLang="zh-TW" sz="2200" b="0" i="1" smtClean="0">
                              <a:latin typeface="Cambria Math" panose="02040503050406030204" pitchFamily="18" charset="0"/>
                            </a:rPr>
                            <m:t>𝑡𝑤</m:t>
                          </m:r>
                          <m:r>
                            <a:rPr lang="en-US" altLang="zh-TW" sz="2200" b="0" i="1" smtClean="0">
                              <a:latin typeface="Cambria Math" panose="02040503050406030204" pitchFamily="18" charset="0"/>
                            </a:rPr>
                            <m:t>−</m:t>
                          </m:r>
                          <m:r>
                            <a:rPr lang="en-US" altLang="zh-TW" sz="2200" b="0" i="1" smtClean="0">
                              <a:latin typeface="Cambria Math" panose="02040503050406030204" pitchFamily="18" charset="0"/>
                            </a:rPr>
                            <m:t>𝑙𝑏</m:t>
                          </m:r>
                        </m:sub>
                      </m:sSub>
                      <m:d>
                        <m:dPr>
                          <m:ctrlPr>
                            <a:rPr lang="en-US" altLang="zh-TW" sz="2200" i="1">
                              <a:latin typeface="Cambria Math" panose="02040503050406030204" pitchFamily="18" charset="0"/>
                            </a:rPr>
                          </m:ctrlPr>
                        </m:dPr>
                        <m:e>
                          <m:sSub>
                            <m:sSubPr>
                              <m:ctrlPr>
                                <a:rPr lang="en-US" altLang="zh-TW" sz="2200" i="1">
                                  <a:latin typeface="Cambria Math" panose="02040503050406030204" pitchFamily="18" charset="0"/>
                                </a:rPr>
                              </m:ctrlPr>
                            </m:sSubPr>
                            <m:e>
                              <m:r>
                                <a:rPr lang="en-US" altLang="zh-TW" sz="2200" i="1">
                                  <a:latin typeface="Cambria Math" panose="02040503050406030204" pitchFamily="18" charset="0"/>
                                </a:rPr>
                                <m:t>𝑆</m:t>
                              </m:r>
                            </m:e>
                            <m:sub>
                              <m:r>
                                <a:rPr lang="en-US" altLang="zh-TW" sz="2200" i="1">
                                  <a:latin typeface="Cambria Math" panose="02040503050406030204" pitchFamily="18" charset="0"/>
                                </a:rPr>
                                <m:t>𝑖</m:t>
                              </m:r>
                            </m:sub>
                          </m:sSub>
                          <m:r>
                            <a:rPr lang="en-US" altLang="zh-TW" sz="2200" i="1">
                              <a:latin typeface="Cambria Math" panose="02040503050406030204" pitchFamily="18" charset="0"/>
                            </a:rPr>
                            <m:t>,</m:t>
                          </m:r>
                          <m:sSub>
                            <m:sSubPr>
                              <m:ctrlPr>
                                <a:rPr lang="en-US" altLang="zh-TW" sz="2200" i="1">
                                  <a:latin typeface="Cambria Math" panose="02040503050406030204" pitchFamily="18" charset="0"/>
                                </a:rPr>
                              </m:ctrlPr>
                            </m:sSubPr>
                            <m:e>
                              <m:r>
                                <a:rPr lang="en-US" altLang="zh-TW" sz="2200" b="0" i="1" smtClean="0">
                                  <a:latin typeface="Cambria Math" panose="02040503050406030204" pitchFamily="18" charset="0"/>
                                </a:rPr>
                                <m:t>𝐶</m:t>
                              </m:r>
                              <m:r>
                                <a:rPr lang="en-US" altLang="zh-TW" sz="2200" i="1">
                                  <a:latin typeface="Cambria Math" panose="02040503050406030204" pitchFamily="18" charset="0"/>
                                </a:rPr>
                                <m:t>𝑆</m:t>
                              </m:r>
                            </m:e>
                            <m:sub>
                              <m:r>
                                <a:rPr lang="en-US" altLang="zh-TW" sz="2200" i="1">
                                  <a:latin typeface="Cambria Math" panose="02040503050406030204" pitchFamily="18" charset="0"/>
                                </a:rPr>
                                <m:t>𝑗</m:t>
                              </m:r>
                            </m:sub>
                          </m:sSub>
                        </m:e>
                      </m:d>
                      <m:r>
                        <a:rPr lang="en-US" altLang="zh-TW" sz="2200" b="0" i="1" smtClean="0">
                          <a:latin typeface="Cambria Math" panose="02040503050406030204" pitchFamily="18" charset="0"/>
                        </a:rPr>
                        <m:t>−</m:t>
                      </m:r>
                      <m:d>
                        <m:dPr>
                          <m:ctrlPr>
                            <a:rPr lang="en-US" altLang="zh-TW" sz="2200" b="0" i="1" smtClean="0">
                              <a:latin typeface="Cambria Math" panose="02040503050406030204" pitchFamily="18" charset="0"/>
                            </a:rPr>
                          </m:ctrlPr>
                        </m:dPr>
                        <m:e>
                          <m:r>
                            <a:rPr lang="en-US" altLang="zh-TW" sz="2200" b="0" i="1" smtClean="0">
                              <a:latin typeface="Cambria Math" panose="02040503050406030204" pitchFamily="18" charset="0"/>
                            </a:rPr>
                            <m:t>𝑝</m:t>
                          </m:r>
                          <m:r>
                            <a:rPr lang="en-US" altLang="zh-TW" sz="2200" b="0" i="1" smtClean="0">
                              <a:latin typeface="Cambria Math" panose="02040503050406030204" pitchFamily="18" charset="0"/>
                            </a:rPr>
                            <m:t>−1</m:t>
                          </m:r>
                        </m:e>
                      </m:d>
                      <m:r>
                        <a:rPr lang="en-US" altLang="zh-TW" sz="2200" b="0" i="1" smtClean="0">
                          <a:latin typeface="Cambria Math" panose="02040503050406030204" pitchFamily="18" charset="0"/>
                        </a:rPr>
                        <m:t>∗</m:t>
                      </m:r>
                      <m:sSub>
                        <m:sSubPr>
                          <m:ctrlPr>
                            <a:rPr lang="en-US" altLang="zh-TW" sz="2200" i="1" smtClean="0">
                              <a:latin typeface="Cambria Math" panose="02040503050406030204" pitchFamily="18" charset="0"/>
                            </a:rPr>
                          </m:ctrlPr>
                        </m:sSubPr>
                        <m:e>
                          <m:r>
                            <a:rPr lang="en-US" altLang="zh-TW" sz="2200" i="1">
                              <a:latin typeface="Cambria Math" panose="02040503050406030204" pitchFamily="18" charset="0"/>
                            </a:rPr>
                            <m:t>𝐷</m:t>
                          </m:r>
                        </m:e>
                        <m:sub>
                          <m:r>
                            <a:rPr lang="en-US" altLang="zh-TW" sz="2200" b="0" i="1" smtClean="0">
                              <a:latin typeface="Cambria Math" panose="02040503050406030204" pitchFamily="18" charset="0"/>
                            </a:rPr>
                            <m:t>𝑏𝑎𝑠𝑒</m:t>
                          </m:r>
                          <m:r>
                            <a:rPr lang="en-US" altLang="zh-TW" sz="2200" b="0" i="1" smtClean="0">
                              <a:latin typeface="Cambria Math" panose="02040503050406030204" pitchFamily="18" charset="0"/>
                            </a:rPr>
                            <m:t>−</m:t>
                          </m:r>
                          <m:r>
                            <a:rPr lang="en-US" altLang="zh-TW" sz="2200" b="0" i="1" smtClean="0">
                              <a:latin typeface="Cambria Math" panose="02040503050406030204" pitchFamily="18" charset="0"/>
                            </a:rPr>
                            <m:t>𝑙𝑏</m:t>
                          </m:r>
                        </m:sub>
                      </m:sSub>
                      <m:d>
                        <m:dPr>
                          <m:ctrlPr>
                            <a:rPr lang="en-US" altLang="zh-TW" sz="2200" i="1">
                              <a:latin typeface="Cambria Math" panose="02040503050406030204" pitchFamily="18" charset="0"/>
                            </a:rPr>
                          </m:ctrlPr>
                        </m:dPr>
                        <m:e>
                          <m:sSub>
                            <m:sSubPr>
                              <m:ctrlPr>
                                <a:rPr lang="en-US" altLang="zh-TW" sz="2200" i="1">
                                  <a:latin typeface="Cambria Math" panose="02040503050406030204" pitchFamily="18" charset="0"/>
                                </a:rPr>
                              </m:ctrlPr>
                            </m:sSubPr>
                            <m:e>
                              <m:r>
                                <a:rPr lang="en-US" altLang="zh-TW" sz="2200" i="1">
                                  <a:latin typeface="Cambria Math" panose="02040503050406030204" pitchFamily="18" charset="0"/>
                                </a:rPr>
                                <m:t>𝑆</m:t>
                              </m:r>
                            </m:e>
                            <m:sub>
                              <m:r>
                                <a:rPr lang="en-US" altLang="zh-TW" sz="2200" i="1">
                                  <a:latin typeface="Cambria Math" panose="02040503050406030204" pitchFamily="18" charset="0"/>
                                </a:rPr>
                                <m:t>𝑖</m:t>
                              </m:r>
                            </m:sub>
                          </m:sSub>
                          <m:d>
                            <m:dPr>
                              <m:begChr m:val="["/>
                              <m:endChr m:val="]"/>
                              <m:ctrlPr>
                                <a:rPr lang="en-US" altLang="zh-TW" sz="2200" b="0" i="1" smtClean="0">
                                  <a:latin typeface="Cambria Math" panose="02040503050406030204" pitchFamily="18" charset="0"/>
                                </a:rPr>
                              </m:ctrlPr>
                            </m:dPr>
                            <m:e>
                              <m:r>
                                <a:rPr lang="en-US" altLang="zh-TW" sz="2200" b="0" i="1" smtClean="0">
                                  <a:latin typeface="Cambria Math" panose="02040503050406030204" pitchFamily="18" charset="0"/>
                                </a:rPr>
                                <m:t>1</m:t>
                              </m:r>
                            </m:e>
                          </m:d>
                          <m:r>
                            <a:rPr lang="en-US" altLang="zh-TW" sz="2200" i="1">
                              <a:latin typeface="Cambria Math" panose="02040503050406030204" pitchFamily="18" charset="0"/>
                            </a:rPr>
                            <m:t>,</m:t>
                          </m:r>
                          <m:sSub>
                            <m:sSubPr>
                              <m:ctrlPr>
                                <a:rPr lang="en-US" altLang="zh-TW" sz="2200" i="1">
                                  <a:latin typeface="Cambria Math" panose="02040503050406030204" pitchFamily="18" charset="0"/>
                                </a:rPr>
                              </m:ctrlPr>
                            </m:sSubPr>
                            <m:e>
                              <m:r>
                                <a:rPr lang="en-US" altLang="zh-TW" sz="2200" b="0" i="1" smtClean="0">
                                  <a:latin typeface="Cambria Math" panose="02040503050406030204" pitchFamily="18" charset="0"/>
                                </a:rPr>
                                <m:t>𝐶</m:t>
                              </m:r>
                              <m:r>
                                <a:rPr lang="en-US" altLang="zh-TW" sz="2200" i="1">
                                  <a:latin typeface="Cambria Math" panose="02040503050406030204" pitchFamily="18" charset="0"/>
                                </a:rPr>
                                <m:t>𝑆</m:t>
                              </m:r>
                            </m:e>
                            <m:sub>
                              <m:r>
                                <a:rPr lang="en-US" altLang="zh-TW" sz="2200" i="1">
                                  <a:latin typeface="Cambria Math" panose="02040503050406030204" pitchFamily="18" charset="0"/>
                                </a:rPr>
                                <m:t>𝑗</m:t>
                              </m:r>
                            </m:sub>
                          </m:sSub>
                          <m:d>
                            <m:dPr>
                              <m:begChr m:val="["/>
                              <m:endChr m:val="]"/>
                              <m:ctrlPr>
                                <a:rPr lang="en-US" altLang="zh-TW" sz="2200" b="0" i="1" smtClean="0">
                                  <a:latin typeface="Cambria Math" panose="02040503050406030204" pitchFamily="18" charset="0"/>
                                </a:rPr>
                              </m:ctrlPr>
                            </m:dPr>
                            <m:e>
                              <m:r>
                                <a:rPr lang="en-US" altLang="zh-TW" sz="2200" b="0" i="1" smtClean="0">
                                  <a:latin typeface="Cambria Math" panose="02040503050406030204" pitchFamily="18" charset="0"/>
                                </a:rPr>
                                <m:t>1</m:t>
                              </m:r>
                            </m:e>
                          </m:d>
                        </m:e>
                      </m:d>
                      <m:r>
                        <a:rPr lang="en-US" altLang="zh-TW" sz="2200" b="0" i="1" smtClean="0">
                          <a:latin typeface="Cambria Math" panose="02040503050406030204" pitchFamily="18" charset="0"/>
                        </a:rPr>
                        <m:t>      , </m:t>
                      </m:r>
                      <m:r>
                        <a:rPr lang="en-US" altLang="zh-TW" sz="2200" b="0" i="1" smtClean="0">
                          <a:latin typeface="Cambria Math" panose="02040503050406030204" pitchFamily="18" charset="0"/>
                        </a:rPr>
                        <m:t>𝑝</m:t>
                      </m:r>
                      <m:r>
                        <a:rPr lang="en-US" altLang="zh-TW" sz="2200" b="0" i="1" smtClean="0">
                          <a:latin typeface="Cambria Math" panose="02040503050406030204" pitchFamily="18" charset="0"/>
                        </a:rPr>
                        <m:t>=2, 3, …, </m:t>
                      </m:r>
                      <m:r>
                        <a:rPr lang="en-US" altLang="zh-TW" sz="2200" b="0" i="1" smtClean="0">
                          <a:latin typeface="Cambria Math" panose="02040503050406030204" pitchFamily="18" charset="0"/>
                        </a:rPr>
                        <m:t>𝑁</m:t>
                      </m:r>
                      <m:r>
                        <a:rPr lang="en-US" altLang="zh-TW" sz="2200" b="0" i="1" smtClean="0">
                          <a:latin typeface="Cambria Math" panose="02040503050406030204" pitchFamily="18" charset="0"/>
                        </a:rPr>
                        <m:t>        </m:t>
                      </m:r>
                    </m:oMath>
                  </m:oMathPara>
                </a14:m>
                <a:endParaRPr lang="zh-TW" altLang="en-US" sz="2200" dirty="0"/>
              </a:p>
            </p:txBody>
          </p:sp>
        </mc:Choice>
        <mc:Fallback xmlns="">
          <p:sp>
            <p:nvSpPr>
              <p:cNvPr id="4" name="文字方塊 3"/>
              <p:cNvSpPr txBox="1">
                <a:spLocks noRot="1" noChangeAspect="1" noMove="1" noResize="1" noEditPoints="1" noAdjustHandles="1" noChangeArrowheads="1" noChangeShapeType="1" noTextEdit="1"/>
              </p:cNvSpPr>
              <p:nvPr/>
            </p:nvSpPr>
            <p:spPr>
              <a:xfrm>
                <a:off x="462827" y="950720"/>
                <a:ext cx="11729173" cy="1159420"/>
              </a:xfrm>
              <a:prstGeom prst="rect">
                <a:avLst/>
              </a:prstGeom>
              <a:blipFill>
                <a:blip r:embed="rId2"/>
                <a:stretch>
                  <a:fillRect t="-3684" b="-315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 name="文字方塊 4"/>
              <p:cNvSpPr txBox="1"/>
              <p:nvPr/>
            </p:nvSpPr>
            <p:spPr>
              <a:xfrm>
                <a:off x="572879" y="4478982"/>
                <a:ext cx="415985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𝐶𝑆</m:t>
                          </m:r>
                        </m:e>
                        <m:sub>
                          <m:r>
                            <a:rPr lang="en-US" altLang="zh-TW" sz="2400" b="0" i="1" smtClean="0">
                              <a:latin typeface="Cambria Math" panose="02040503050406030204" pitchFamily="18" charset="0"/>
                            </a:rPr>
                            <m:t>1</m:t>
                          </m:r>
                        </m:sub>
                      </m:sSub>
                      <m:r>
                        <a:rPr lang="en-US" altLang="zh-TW" sz="2400" b="0" i="1" smtClean="0">
                          <a:latin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&lt;</m:t>
                      </m:r>
                      <m:sSub>
                        <m:sSubPr>
                          <m:ctrlPr>
                            <a:rPr lang="en-US" altLang="zh-TW" sz="2400" b="0" i="1" smtClean="0">
                              <a:latin typeface="Cambria Math" panose="02040503050406030204" pitchFamily="18" charset="0"/>
                              <a:ea typeface="Cambria Math" panose="02040503050406030204" pitchFamily="18" charset="0"/>
                            </a:rPr>
                          </m:ctrlPr>
                        </m:sSubPr>
                        <m:e>
                          <m:r>
                            <a:rPr lang="en-US" altLang="zh-TW" sz="2400" b="0" i="1" smtClean="0">
                              <a:latin typeface="Cambria Math" panose="02040503050406030204" pitchFamily="18" charset="0"/>
                              <a:ea typeface="Cambria Math" panose="02040503050406030204" pitchFamily="18" charset="0"/>
                            </a:rPr>
                            <m:t>𝐶</m:t>
                          </m:r>
                        </m:e>
                        <m:sub>
                          <m:r>
                            <a:rPr lang="en-US" altLang="zh-TW" sz="2400" b="0" i="1" smtClean="0">
                              <a:latin typeface="Cambria Math" panose="02040503050406030204" pitchFamily="18" charset="0"/>
                              <a:ea typeface="Cambria Math" panose="02040503050406030204" pitchFamily="18" charset="0"/>
                            </a:rPr>
                            <m:t>1</m:t>
                          </m:r>
                        </m:sub>
                      </m:sSub>
                      <m:r>
                        <a:rPr lang="en-US" altLang="zh-TW" sz="2400" b="0" i="1" smtClean="0">
                          <a:latin typeface="Cambria Math" panose="02040503050406030204" pitchFamily="18" charset="0"/>
                          <a:ea typeface="Cambria Math" panose="02040503050406030204" pitchFamily="18" charset="0"/>
                        </a:rPr>
                        <m:t>,</m:t>
                      </m:r>
                      <m:sSub>
                        <m:sSubPr>
                          <m:ctrlPr>
                            <a:rPr lang="en-US" altLang="zh-TW" sz="2400" b="0" i="1" smtClean="0">
                              <a:latin typeface="Cambria Math" panose="02040503050406030204" pitchFamily="18" charset="0"/>
                              <a:ea typeface="Cambria Math" panose="02040503050406030204" pitchFamily="18" charset="0"/>
                            </a:rPr>
                          </m:ctrlPr>
                        </m:sSubPr>
                        <m:e>
                          <m:r>
                            <a:rPr lang="en-US" altLang="zh-TW" sz="2400" b="0" i="1" smtClean="0">
                              <a:latin typeface="Cambria Math" panose="02040503050406030204" pitchFamily="18" charset="0"/>
                              <a:ea typeface="Cambria Math" panose="02040503050406030204" pitchFamily="18" charset="0"/>
                            </a:rPr>
                            <m:t>𝐶</m:t>
                          </m:r>
                        </m:e>
                        <m:sub>
                          <m:r>
                            <a:rPr lang="en-US" altLang="zh-TW" sz="2400" b="0" i="1" smtClean="0">
                              <a:latin typeface="Cambria Math" panose="02040503050406030204" pitchFamily="18" charset="0"/>
                              <a:ea typeface="Cambria Math" panose="02040503050406030204" pitchFamily="18" charset="0"/>
                            </a:rPr>
                            <m:t>1</m:t>
                          </m:r>
                        </m:sub>
                      </m:sSub>
                      <m:r>
                        <a:rPr lang="en-US" altLang="zh-TW" sz="2400" b="0" i="1" smtClean="0">
                          <a:latin typeface="Cambria Math" panose="02040503050406030204" pitchFamily="18" charset="0"/>
                          <a:ea typeface="Cambria Math" panose="02040503050406030204" pitchFamily="18" charset="0"/>
                        </a:rPr>
                        <m:t>,</m:t>
                      </m:r>
                      <m:sSub>
                        <m:sSubPr>
                          <m:ctrlPr>
                            <a:rPr lang="en-US" altLang="zh-TW" sz="2400" b="0" i="1" smtClean="0">
                              <a:latin typeface="Cambria Math" panose="02040503050406030204" pitchFamily="18" charset="0"/>
                              <a:ea typeface="Cambria Math" panose="02040503050406030204" pitchFamily="18" charset="0"/>
                            </a:rPr>
                          </m:ctrlPr>
                        </m:sSubPr>
                        <m:e>
                          <m:r>
                            <a:rPr lang="en-US" altLang="zh-TW" sz="2400" b="0" i="1" smtClean="0">
                              <a:latin typeface="Cambria Math" panose="02040503050406030204" pitchFamily="18" charset="0"/>
                              <a:ea typeface="Cambria Math" panose="02040503050406030204" pitchFamily="18" charset="0"/>
                            </a:rPr>
                            <m:t>𝐶</m:t>
                          </m:r>
                        </m:e>
                        <m:sub>
                          <m:r>
                            <a:rPr lang="en-US" altLang="zh-TW" sz="2400" b="0" i="1" smtClean="0">
                              <a:latin typeface="Cambria Math" panose="02040503050406030204" pitchFamily="18" charset="0"/>
                              <a:ea typeface="Cambria Math" panose="02040503050406030204" pitchFamily="18" charset="0"/>
                            </a:rPr>
                            <m:t>2</m:t>
                          </m:r>
                        </m:sub>
                      </m:sSub>
                      <m:r>
                        <a:rPr lang="en-US" altLang="zh-TW" sz="2400" b="0" i="1" smtClean="0">
                          <a:latin typeface="Cambria Math" panose="02040503050406030204" pitchFamily="18" charset="0"/>
                          <a:ea typeface="Cambria Math" panose="02040503050406030204" pitchFamily="18" charset="0"/>
                        </a:rPr>
                        <m:t>,</m:t>
                      </m:r>
                      <m:sSub>
                        <m:sSubPr>
                          <m:ctrlPr>
                            <a:rPr lang="en-US" altLang="zh-TW" sz="2400" b="0" i="1" smtClean="0">
                              <a:latin typeface="Cambria Math" panose="02040503050406030204" pitchFamily="18" charset="0"/>
                              <a:ea typeface="Cambria Math" panose="02040503050406030204" pitchFamily="18" charset="0"/>
                            </a:rPr>
                          </m:ctrlPr>
                        </m:sSubPr>
                        <m:e>
                          <m:r>
                            <a:rPr lang="en-US" altLang="zh-TW" sz="2400" b="0" i="1" smtClean="0">
                              <a:latin typeface="Cambria Math" panose="02040503050406030204" pitchFamily="18" charset="0"/>
                              <a:ea typeface="Cambria Math" panose="02040503050406030204" pitchFamily="18" charset="0"/>
                            </a:rPr>
                            <m:t>𝐶</m:t>
                          </m:r>
                        </m:e>
                        <m:sub>
                          <m:r>
                            <a:rPr lang="en-US" altLang="zh-TW" sz="2400" b="0" i="1" smtClean="0">
                              <a:latin typeface="Cambria Math" panose="02040503050406030204" pitchFamily="18" charset="0"/>
                              <a:ea typeface="Cambria Math" panose="02040503050406030204" pitchFamily="18" charset="0"/>
                            </a:rPr>
                            <m:t>3</m:t>
                          </m:r>
                        </m:sub>
                      </m:sSub>
                      <m:r>
                        <a:rPr lang="en-US" altLang="zh-TW" sz="2400" b="0" i="1" smtClean="0">
                          <a:latin typeface="Cambria Math" panose="02040503050406030204" pitchFamily="18" charset="0"/>
                          <a:ea typeface="Cambria Math" panose="02040503050406030204" pitchFamily="18" charset="0"/>
                        </a:rPr>
                        <m:t>,</m:t>
                      </m:r>
                      <m:sSub>
                        <m:sSubPr>
                          <m:ctrlPr>
                            <a:rPr lang="en-US" altLang="zh-TW" sz="2400" b="0" i="1" smtClean="0">
                              <a:latin typeface="Cambria Math" panose="02040503050406030204" pitchFamily="18" charset="0"/>
                              <a:ea typeface="Cambria Math" panose="02040503050406030204" pitchFamily="18" charset="0"/>
                            </a:rPr>
                          </m:ctrlPr>
                        </m:sSubPr>
                        <m:e>
                          <m:r>
                            <a:rPr lang="en-US" altLang="zh-TW" sz="2400" b="0" i="1" smtClean="0">
                              <a:latin typeface="Cambria Math" panose="02040503050406030204" pitchFamily="18" charset="0"/>
                              <a:ea typeface="Cambria Math" panose="02040503050406030204" pitchFamily="18" charset="0"/>
                            </a:rPr>
                            <m:t>𝐶</m:t>
                          </m:r>
                        </m:e>
                        <m:sub>
                          <m:r>
                            <a:rPr lang="en-US" altLang="zh-TW" sz="2400" b="0" i="1" smtClean="0">
                              <a:latin typeface="Cambria Math" panose="02040503050406030204" pitchFamily="18" charset="0"/>
                              <a:ea typeface="Cambria Math" panose="02040503050406030204" pitchFamily="18" charset="0"/>
                            </a:rPr>
                            <m:t>2</m:t>
                          </m:r>
                        </m:sub>
                      </m:sSub>
                      <m:r>
                        <a:rPr lang="en-US" altLang="zh-TW" sz="2400" b="0" i="1" smtClean="0">
                          <a:latin typeface="Cambria Math" panose="02040503050406030204" pitchFamily="18" charset="0"/>
                          <a:ea typeface="Cambria Math" panose="02040503050406030204" pitchFamily="18" charset="0"/>
                        </a:rPr>
                        <m:t>,</m:t>
                      </m:r>
                      <m:sSub>
                        <m:sSubPr>
                          <m:ctrlPr>
                            <a:rPr lang="en-US" altLang="zh-TW" sz="2400" b="0" i="1" smtClean="0">
                              <a:latin typeface="Cambria Math" panose="02040503050406030204" pitchFamily="18" charset="0"/>
                              <a:ea typeface="Cambria Math" panose="02040503050406030204" pitchFamily="18" charset="0"/>
                            </a:rPr>
                          </m:ctrlPr>
                        </m:sSubPr>
                        <m:e>
                          <m:r>
                            <a:rPr lang="en-US" altLang="zh-TW" sz="2400" b="0" i="1" smtClean="0">
                              <a:latin typeface="Cambria Math" panose="02040503050406030204" pitchFamily="18" charset="0"/>
                              <a:ea typeface="Cambria Math" panose="02040503050406030204" pitchFamily="18" charset="0"/>
                            </a:rPr>
                            <m:t>𝐶</m:t>
                          </m:r>
                        </m:e>
                        <m:sub>
                          <m:r>
                            <a:rPr lang="en-US" altLang="zh-TW" sz="2400" b="0" i="1" smtClean="0">
                              <a:latin typeface="Cambria Math" panose="02040503050406030204" pitchFamily="18" charset="0"/>
                              <a:ea typeface="Cambria Math" panose="02040503050406030204" pitchFamily="18" charset="0"/>
                            </a:rPr>
                            <m:t>2</m:t>
                          </m:r>
                        </m:sub>
                      </m:sSub>
                      <m:r>
                        <a:rPr lang="en-US" altLang="zh-TW" sz="2400" b="0" i="1" smtClean="0">
                          <a:latin typeface="Cambria Math" panose="02040503050406030204" pitchFamily="18" charset="0"/>
                          <a:ea typeface="Cambria Math" panose="02040503050406030204" pitchFamily="18" charset="0"/>
                        </a:rPr>
                        <m:t>&gt;</m:t>
                      </m:r>
                    </m:oMath>
                  </m:oMathPara>
                </a14:m>
                <a:endParaRPr lang="zh-TW" altLang="en-US" sz="2400" dirty="0"/>
              </a:p>
            </p:txBody>
          </p:sp>
        </mc:Choice>
        <mc:Fallback xmlns="">
          <p:sp>
            <p:nvSpPr>
              <p:cNvPr id="5" name="文字方塊 4"/>
              <p:cNvSpPr txBox="1">
                <a:spLocks noRot="1" noChangeAspect="1" noMove="1" noResize="1" noEditPoints="1" noAdjustHandles="1" noChangeArrowheads="1" noChangeShapeType="1" noTextEdit="1"/>
              </p:cNvSpPr>
              <p:nvPr/>
            </p:nvSpPr>
            <p:spPr>
              <a:xfrm>
                <a:off x="572879" y="4478982"/>
                <a:ext cx="4159857" cy="461665"/>
              </a:xfrm>
              <a:prstGeom prst="rect">
                <a:avLst/>
              </a:prstGeom>
              <a:blipFill>
                <a:blip r:embed="rId3"/>
                <a:stretch>
                  <a:fillRect b="-13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文字方塊 5"/>
              <p:cNvSpPr txBox="1"/>
              <p:nvPr/>
            </p:nvSpPr>
            <p:spPr>
              <a:xfrm>
                <a:off x="740919" y="3771096"/>
                <a:ext cx="1760803" cy="707886"/>
              </a:xfrm>
              <a:prstGeom prst="rect">
                <a:avLst/>
              </a:prstGeom>
              <a:noFill/>
            </p:spPr>
            <p:txBody>
              <a:bodyPr wrap="none" rtlCol="0">
                <a:spAutoFit/>
              </a:bodyPr>
              <a:lstStyle/>
              <a:p>
                <a:r>
                  <a:rPr lang="en-US" altLang="zh-TW" sz="2000" dirty="0">
                    <a:latin typeface="Times New Roman" panose="02020603050405020304" pitchFamily="18" charset="0"/>
                    <a:cs typeface="Times New Roman" panose="02020603050405020304" pitchFamily="18" charset="0"/>
                  </a:rPr>
                  <a:t>Q</a:t>
                </a:r>
                <a:r>
                  <a:rPr lang="zh-TW" altLang="en-US" sz="2000" dirty="0">
                    <a:latin typeface="Times New Roman" panose="02020603050405020304" pitchFamily="18" charset="0"/>
                    <a:cs typeface="Times New Roman" panose="02020603050405020304" pitchFamily="18" charset="0"/>
                  </a:rPr>
                  <a:t>：</a:t>
                </a:r>
                <a14:m>
                  <m:oMath xmlns:m="http://schemas.openxmlformats.org/officeDocument/2006/math">
                    <m:r>
                      <a:rPr lang="en-US" altLang="zh-TW" sz="2000" i="1">
                        <a:latin typeface="Cambria Math" panose="02040503050406030204" pitchFamily="18" charset="0"/>
                        <a:ea typeface="Cambria Math" panose="02040503050406030204" pitchFamily="18" charset="0"/>
                      </a:rPr>
                      <m:t>&lt;3, 4, </m:t>
                    </m:r>
                    <m:r>
                      <a:rPr lang="en-US" altLang="zh-TW" sz="2000" b="0" i="1" smtClean="0">
                        <a:latin typeface="Cambria Math" panose="02040503050406030204" pitchFamily="18" charset="0"/>
                        <a:ea typeface="Cambria Math" panose="02040503050406030204" pitchFamily="18" charset="0"/>
                      </a:rPr>
                      <m:t>4</m:t>
                    </m:r>
                    <m:r>
                      <a:rPr lang="en-US" altLang="zh-TW" sz="2000" i="1">
                        <a:latin typeface="Cambria Math" panose="02040503050406030204" pitchFamily="18" charset="0"/>
                        <a:ea typeface="Cambria Math" panose="02040503050406030204" pitchFamily="18" charset="0"/>
                      </a:rPr>
                      <m:t>&gt;</m:t>
                    </m:r>
                  </m:oMath>
                </a14:m>
                <a:endParaRPr lang="zh-TW" altLang="en-US" sz="2000" dirty="0">
                  <a:latin typeface="Times New Roman" panose="02020603050405020304" pitchFamily="18" charset="0"/>
                  <a:cs typeface="Times New Roman" panose="02020603050405020304" pitchFamily="18" charset="0"/>
                </a:endParaRPr>
              </a:p>
              <a:p>
                <a:endParaRPr lang="zh-TW" altLang="en-US" sz="2000" dirty="0">
                  <a:latin typeface="Times New Roman" panose="02020603050405020304" pitchFamily="18" charset="0"/>
                  <a:cs typeface="Times New Roman" panose="02020603050405020304" pitchFamily="18" charset="0"/>
                </a:endParaRPr>
              </a:p>
            </p:txBody>
          </p:sp>
        </mc:Choice>
        <mc:Fallback xmlns="">
          <p:sp>
            <p:nvSpPr>
              <p:cNvPr id="6" name="文字方塊 5"/>
              <p:cNvSpPr txBox="1">
                <a:spLocks noRot="1" noChangeAspect="1" noMove="1" noResize="1" noEditPoints="1" noAdjustHandles="1" noChangeArrowheads="1" noChangeShapeType="1" noTextEdit="1"/>
              </p:cNvSpPr>
              <p:nvPr/>
            </p:nvSpPr>
            <p:spPr>
              <a:xfrm>
                <a:off x="740919" y="3771096"/>
                <a:ext cx="1760803" cy="707886"/>
              </a:xfrm>
              <a:prstGeom prst="rect">
                <a:avLst/>
              </a:prstGeom>
              <a:blipFill>
                <a:blip r:embed="rId4"/>
                <a:stretch>
                  <a:fillRect l="-3819" t="-5172"/>
                </a:stretch>
              </a:blipFill>
            </p:spPr>
            <p:txBody>
              <a:bodyPr/>
              <a:lstStyle/>
              <a:p>
                <a:r>
                  <a:rPr lang="zh-TW" altLang="en-US">
                    <a:noFill/>
                  </a:rPr>
                  <a:t> </a:t>
                </a:r>
              </a:p>
            </p:txBody>
          </p:sp>
        </mc:Fallback>
      </mc:AlternateContent>
      <p:sp>
        <p:nvSpPr>
          <p:cNvPr id="7" name="文字方塊 6"/>
          <p:cNvSpPr txBox="1"/>
          <p:nvPr/>
        </p:nvSpPr>
        <p:spPr>
          <a:xfrm>
            <a:off x="462827" y="5622733"/>
            <a:ext cx="7268555" cy="461665"/>
          </a:xfrm>
          <a:prstGeom prst="rect">
            <a:avLst/>
          </a:prstGeom>
          <a:noFill/>
        </p:spPr>
        <p:txBody>
          <a:bodyPr wrap="square" rtlCol="0">
            <a:spAutoFit/>
          </a:bodyPr>
          <a:lstStyle/>
          <a:p>
            <a:r>
              <a:rPr lang="en-US" altLang="zh-TW" sz="2400" dirty="0">
                <a:solidFill>
                  <a:srgbClr val="FF0000"/>
                </a:solidFill>
                <a:latin typeface="Times New Roman" panose="02020603050405020304" pitchFamily="18" charset="0"/>
                <a:cs typeface="Times New Roman" panose="02020603050405020304" pitchFamily="18" charset="0"/>
              </a:rPr>
              <a:t>Do the DTW for every sequence in answer set with Q !</a:t>
            </a:r>
            <a:endParaRPr lang="zh-TW" altLang="en-US" sz="24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5610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Experimental results</a:t>
            </a:r>
            <a:endParaRPr lang="zh-TW" altLang="en-US" dirty="0">
              <a:latin typeface="Times New Roman" panose="02020603050405020304" pitchFamily="18" charset="0"/>
              <a:cs typeface="Times New Roman" panose="02020603050405020304" pitchFamily="18" charset="0"/>
            </a:endParaRPr>
          </a:p>
        </p:txBody>
      </p:sp>
      <p:sp>
        <p:nvSpPr>
          <p:cNvPr id="6" name="文字方塊 5"/>
          <p:cNvSpPr txBox="1"/>
          <p:nvPr/>
        </p:nvSpPr>
        <p:spPr>
          <a:xfrm>
            <a:off x="651769" y="2067429"/>
            <a:ext cx="6411307" cy="830997"/>
          </a:xfrm>
          <a:prstGeom prst="rect">
            <a:avLst/>
          </a:prstGeom>
          <a:noFill/>
        </p:spPr>
        <p:txBody>
          <a:bodyPr wrap="none" rtlCol="0">
            <a:spAutoFit/>
          </a:bodyPr>
          <a:lstStyle/>
          <a:p>
            <a:r>
              <a:rPr lang="en-US" altLang="zh-TW" sz="2400" dirty="0"/>
              <a:t>545 stock data sequences extracted from S&amp;P 500</a:t>
            </a:r>
          </a:p>
          <a:p>
            <a:r>
              <a:rPr lang="en-US" altLang="zh-TW" sz="2400" dirty="0"/>
              <a:t>Average length</a:t>
            </a:r>
            <a:r>
              <a:rPr lang="zh-TW" altLang="en-US" sz="2400" dirty="0"/>
              <a:t>：</a:t>
            </a:r>
            <a:r>
              <a:rPr lang="en-US" altLang="zh-TW" sz="2400" dirty="0"/>
              <a:t>232</a:t>
            </a:r>
            <a:endParaRPr lang="zh-TW" altLang="en-US" sz="2400" dirty="0"/>
          </a:p>
        </p:txBody>
      </p:sp>
      <p:graphicFrame>
        <p:nvGraphicFramePr>
          <p:cNvPr id="7" name="表格 6"/>
          <p:cNvGraphicFramePr>
            <a:graphicFrameLocks noGrp="1"/>
          </p:cNvGraphicFramePr>
          <p:nvPr>
            <p:extLst>
              <p:ext uri="{D42A27DB-BD31-4B8C-83A1-F6EECF244321}">
                <p14:modId xmlns:p14="http://schemas.microsoft.com/office/powerpoint/2010/main" val="1928095717"/>
              </p:ext>
            </p:extLst>
          </p:nvPr>
        </p:nvGraphicFramePr>
        <p:xfrm>
          <a:off x="3888419" y="3583558"/>
          <a:ext cx="4305672" cy="1574367"/>
        </p:xfrm>
        <a:graphic>
          <a:graphicData uri="http://schemas.openxmlformats.org/drawingml/2006/table">
            <a:tbl>
              <a:tblPr firstRow="1" bandRow="1">
                <a:tableStyleId>{5C22544A-7EE6-4342-B048-85BDC9FD1C3A}</a:tableStyleId>
              </a:tblPr>
              <a:tblGrid>
                <a:gridCol w="2152836">
                  <a:extLst>
                    <a:ext uri="{9D8B030D-6E8A-4147-A177-3AD203B41FA5}">
                      <a16:colId xmlns:a16="http://schemas.microsoft.com/office/drawing/2014/main" val="569032010"/>
                    </a:ext>
                  </a:extLst>
                </a:gridCol>
                <a:gridCol w="2152836">
                  <a:extLst>
                    <a:ext uri="{9D8B030D-6E8A-4147-A177-3AD203B41FA5}">
                      <a16:colId xmlns:a16="http://schemas.microsoft.com/office/drawing/2014/main" val="1656426834"/>
                    </a:ext>
                  </a:extLst>
                </a:gridCol>
              </a:tblGrid>
              <a:tr h="524789">
                <a:tc>
                  <a:txBody>
                    <a:bodyPr/>
                    <a:lstStyle/>
                    <a:p>
                      <a:pPr algn="ctr"/>
                      <a:r>
                        <a:rPr lang="en-US" altLang="zh-TW" b="0" dirty="0">
                          <a:solidFill>
                            <a:schemeClr val="tx1"/>
                          </a:solidFill>
                        </a:rPr>
                        <a:t>20%</a:t>
                      </a:r>
                      <a:endParaRPr lang="zh-TW"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$0 </a:t>
                      </a:r>
                      <a:r>
                        <a:rPr lang="zh-TW" altLang="en-US" b="0" dirty="0">
                          <a:solidFill>
                            <a:schemeClr val="tx1"/>
                          </a:solidFill>
                        </a:rPr>
                        <a:t>～ </a:t>
                      </a:r>
                      <a:r>
                        <a:rPr lang="en-US" altLang="zh-TW" b="0" dirty="0">
                          <a:solidFill>
                            <a:schemeClr val="tx1"/>
                          </a:solidFill>
                        </a:rPr>
                        <a:t>$30</a:t>
                      </a:r>
                      <a:endParaRPr lang="zh-TW"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01186815"/>
                  </a:ext>
                </a:extLst>
              </a:tr>
              <a:tr h="524789">
                <a:tc>
                  <a:txBody>
                    <a:bodyPr/>
                    <a:lstStyle/>
                    <a:p>
                      <a:pPr algn="ctr"/>
                      <a:r>
                        <a:rPr lang="en-US" altLang="zh-TW" b="0" dirty="0">
                          <a:solidFill>
                            <a:schemeClr val="tx1"/>
                          </a:solidFill>
                        </a:rPr>
                        <a:t>50%</a:t>
                      </a:r>
                      <a:endParaRPr lang="zh-TW"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$30</a:t>
                      </a:r>
                      <a:r>
                        <a:rPr lang="zh-TW" altLang="en-US" b="0" dirty="0">
                          <a:solidFill>
                            <a:schemeClr val="tx1"/>
                          </a:solidFill>
                        </a:rPr>
                        <a:t> ～ </a:t>
                      </a:r>
                      <a:r>
                        <a:rPr lang="en-US" altLang="zh-TW" b="0" dirty="0">
                          <a:solidFill>
                            <a:schemeClr val="tx1"/>
                          </a:solidFill>
                        </a:rPr>
                        <a:t>$60</a:t>
                      </a:r>
                      <a:endParaRPr lang="zh-TW"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47982282"/>
                  </a:ext>
                </a:extLst>
              </a:tr>
              <a:tr h="524789">
                <a:tc>
                  <a:txBody>
                    <a:bodyPr/>
                    <a:lstStyle/>
                    <a:p>
                      <a:pPr algn="ctr"/>
                      <a:r>
                        <a:rPr lang="en-US" altLang="zh-TW" b="0" dirty="0">
                          <a:solidFill>
                            <a:schemeClr val="tx1"/>
                          </a:solidFill>
                        </a:rPr>
                        <a:t>30%</a:t>
                      </a:r>
                      <a:endParaRPr lang="zh-TW"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$60</a:t>
                      </a:r>
                      <a:r>
                        <a:rPr lang="zh-TW" altLang="en-US" b="0" dirty="0">
                          <a:solidFill>
                            <a:schemeClr val="tx1"/>
                          </a:solidFill>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4703286"/>
                  </a:ext>
                </a:extLst>
              </a:tr>
            </a:tbl>
          </a:graphicData>
        </a:graphic>
      </p:graphicFrame>
    </p:spTree>
    <p:extLst>
      <p:ext uri="{BB962C8B-B14F-4D97-AF65-F5344CB8AC3E}">
        <p14:creationId xmlns:p14="http://schemas.microsoft.com/office/powerpoint/2010/main" val="15163739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Experimental results</a:t>
            </a:r>
            <a:endParaRPr lang="zh-TW" altLang="en-US" dirty="0">
              <a:latin typeface="Times New Roman" panose="02020603050405020304" pitchFamily="18" charset="0"/>
              <a:cs typeface="Times New Roman" panose="02020603050405020304" pitchFamily="18" charset="0"/>
            </a:endParaRPr>
          </a:p>
        </p:txBody>
      </p:sp>
      <p:pic>
        <p:nvPicPr>
          <p:cNvPr id="5" name="圖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56366" y="2095733"/>
            <a:ext cx="6272963" cy="3466234"/>
          </a:xfrm>
          <a:prstGeom prst="rect">
            <a:avLst/>
          </a:prstGeom>
        </p:spPr>
      </p:pic>
    </p:spTree>
    <p:extLst>
      <p:ext uri="{BB962C8B-B14F-4D97-AF65-F5344CB8AC3E}">
        <p14:creationId xmlns:p14="http://schemas.microsoft.com/office/powerpoint/2010/main" val="495356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Experimental results</a:t>
            </a:r>
            <a:endParaRPr lang="zh-TW" altLang="en-US" dirty="0">
              <a:latin typeface="Times New Roman" panose="02020603050405020304" pitchFamily="18" charset="0"/>
              <a:cs typeface="Times New Roman" panose="02020603050405020304" pitchFamily="18" charset="0"/>
            </a:endParaRPr>
          </a:p>
        </p:txBody>
      </p:sp>
      <p:pic>
        <p:nvPicPr>
          <p:cNvPr id="7" name="圖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3764" y="2264351"/>
            <a:ext cx="5222236" cy="3378336"/>
          </a:xfrm>
          <a:prstGeom prst="rect">
            <a:avLst/>
          </a:prstGeom>
        </p:spPr>
      </p:pic>
      <p:pic>
        <p:nvPicPr>
          <p:cNvPr id="9" name="圖片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2264351"/>
            <a:ext cx="5410867" cy="3378336"/>
          </a:xfrm>
          <a:prstGeom prst="rect">
            <a:avLst/>
          </a:prstGeom>
        </p:spPr>
      </p:pic>
    </p:spTree>
    <p:extLst>
      <p:ext uri="{BB962C8B-B14F-4D97-AF65-F5344CB8AC3E}">
        <p14:creationId xmlns:p14="http://schemas.microsoft.com/office/powerpoint/2010/main" val="19283794"/>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492</TotalTime>
  <Words>598</Words>
  <Application>Microsoft Office PowerPoint</Application>
  <PresentationFormat>寬螢幕</PresentationFormat>
  <Paragraphs>188</Paragraphs>
  <Slides>18</Slides>
  <Notes>1</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18</vt:i4>
      </vt:variant>
    </vt:vector>
  </HeadingPairs>
  <TitlesOfParts>
    <vt:vector size="25" baseType="lpstr">
      <vt:lpstr>新細明體</vt:lpstr>
      <vt:lpstr>Arial</vt:lpstr>
      <vt:lpstr>Calibri</vt:lpstr>
      <vt:lpstr>Calibri Light</vt:lpstr>
      <vt:lpstr>Cambria Math</vt:lpstr>
      <vt:lpstr>Times New Roman</vt:lpstr>
      <vt:lpstr>Office 佈景主題</vt:lpstr>
      <vt:lpstr>Efficient Searches for Similar Subsequences of Different Lengths in Sequence Databases </vt:lpstr>
      <vt:lpstr>Abstract</vt:lpstr>
      <vt:lpstr>DTW</vt:lpstr>
      <vt:lpstr>Suffix Tree</vt:lpstr>
      <vt:lpstr>PowerPoint 簡報</vt:lpstr>
      <vt:lpstr>PowerPoint 簡報</vt:lpstr>
      <vt:lpstr>PowerPoint 簡報</vt:lpstr>
      <vt:lpstr>PowerPoint 簡報</vt:lpstr>
      <vt:lpstr>Categorization</vt:lpstr>
      <vt:lpstr>PowerPoint 簡報</vt:lpstr>
      <vt:lpstr>PowerPoint 簡報</vt:lpstr>
      <vt:lpstr>Sparse Suffix Tree</vt:lpstr>
      <vt:lpstr>PowerPoint 簡報</vt:lpstr>
      <vt:lpstr>PowerPoint 簡報</vt:lpstr>
      <vt:lpstr>PowerPoint 簡報</vt:lpstr>
      <vt:lpstr>Experimental results</vt:lpstr>
      <vt:lpstr>Experimental results</vt:lpstr>
      <vt:lpstr>Experimental results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Efficient Searches for Similar Subsequences of Different Lengths in Sequence Databases </dc:title>
  <dc:creator>Caros</dc:creator>
  <cp:lastModifiedBy>Caros</cp:lastModifiedBy>
  <cp:revision>79</cp:revision>
  <dcterms:created xsi:type="dcterms:W3CDTF">2017-05-17T08:05:29Z</dcterms:created>
  <dcterms:modified xsi:type="dcterms:W3CDTF">2017-05-24T09:35:49Z</dcterms:modified>
</cp:coreProperties>
</file>