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92" r:id="rId4"/>
    <p:sldId id="293" r:id="rId5"/>
    <p:sldId id="310" r:id="rId6"/>
    <p:sldId id="299" r:id="rId7"/>
    <p:sldId id="295" r:id="rId8"/>
    <p:sldId id="300" r:id="rId9"/>
    <p:sldId id="309" r:id="rId10"/>
    <p:sldId id="298" r:id="rId11"/>
    <p:sldId id="301" r:id="rId12"/>
    <p:sldId id="302" r:id="rId13"/>
    <p:sldId id="303" r:id="rId14"/>
    <p:sldId id="304" r:id="rId15"/>
    <p:sldId id="305" r:id="rId16"/>
    <p:sldId id="306" r:id="rId17"/>
    <p:sldId id="307" r:id="rId18"/>
    <p:sldId id="311" r:id="rId19"/>
    <p:sldId id="308" r:id="rId20"/>
    <p:sldId id="312" r:id="rId21"/>
    <p:sldId id="314" r:id="rId22"/>
    <p:sldId id="313" r:id="rId23"/>
    <p:sldId id="315" r:id="rId24"/>
    <p:sldId id="316" r:id="rId25"/>
    <p:sldId id="317" r:id="rId26"/>
    <p:sldId id="318" r:id="rId27"/>
    <p:sldId id="320" r:id="rId28"/>
    <p:sldId id="325" r:id="rId29"/>
    <p:sldId id="324" r:id="rId30"/>
    <p:sldId id="327" r:id="rId31"/>
    <p:sldId id="328" r:id="rId32"/>
    <p:sldId id="326" r:id="rId33"/>
    <p:sldId id="329" r:id="rId3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99CC"/>
    <a:srgbClr val="00FFFF"/>
    <a:srgbClr val="C5C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39" autoAdjust="0"/>
    <p:restoredTop sz="94660"/>
  </p:normalViewPr>
  <p:slideViewPr>
    <p:cSldViewPr snapToGrid="0">
      <p:cViewPr varScale="1">
        <p:scale>
          <a:sx n="79" d="100"/>
          <a:sy n="79" d="100"/>
        </p:scale>
        <p:origin x="8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118B5-9F64-4BCF-B1EE-1FDC52667EE1}" type="datetimeFigureOut">
              <a:rPr lang="zh-TW" altLang="en-US" smtClean="0"/>
              <a:t>2017/5/24</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C9B0B-B10D-49AA-966C-9C58E0B863DF}" type="slidenum">
              <a:rPr lang="zh-TW" altLang="en-US" smtClean="0"/>
              <a:t>‹#›</a:t>
            </a:fld>
            <a:endParaRPr lang="zh-TW" altLang="en-US"/>
          </a:p>
        </p:txBody>
      </p:sp>
    </p:spTree>
    <p:extLst>
      <p:ext uri="{BB962C8B-B14F-4D97-AF65-F5344CB8AC3E}">
        <p14:creationId xmlns:p14="http://schemas.microsoft.com/office/powerpoint/2010/main" val="2609497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669385C0-1FCA-4A75-9F23-6295E7490FEE}" type="datetime1">
              <a:rPr lang="zh-TW" altLang="en-US" smtClean="0"/>
              <a:t>2017/5/24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7867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42E0020-C82E-415B-9299-1A25D7552E73}" type="datetime1">
              <a:rPr lang="zh-TW" altLang="en-US" smtClean="0"/>
              <a:t>2017/5/24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61508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05E9755A-A3D0-49B7-B750-A84F0F8C3152}" type="datetime1">
              <a:rPr lang="zh-TW" altLang="en-US" smtClean="0"/>
              <a:t>2017/5/24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31904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177FF536-6844-4449-BA87-F2BF5DABF104}" type="datetime1">
              <a:rPr lang="zh-TW" altLang="en-US" smtClean="0"/>
              <a:t>2017/5/24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3935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ACF50BCE-4D5B-445D-9EBF-D040FF475579}" type="datetime1">
              <a:rPr lang="zh-TW" altLang="en-US" smtClean="0"/>
              <a:t>2017/5/24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37118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A9293B6D-3892-4D58-A340-8C410260F3D7}" type="datetime1">
              <a:rPr lang="zh-TW" altLang="en-US" smtClean="0"/>
              <a:t>2017/5/24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06012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B735E-8418-4C4A-BC7E-83B7EA882B5A}" type="datetime1">
              <a:rPr lang="zh-TW" altLang="en-US" smtClean="0"/>
              <a:t>2017/5/24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01649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1C2C0A7B-C3EA-46E9-832E-F519368F0FB0}" type="datetime1">
              <a:rPr lang="zh-TW" altLang="en-US" smtClean="0"/>
              <a:t>2017/5/24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81941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8CACC982-7446-446B-8F17-73F2858A31F6}" type="datetime1">
              <a:rPr lang="zh-TW" altLang="en-US" smtClean="0"/>
              <a:t>2017/5/24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2618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7A87670E-D1D9-4108-B311-ADAABD8B0D32}" type="datetime1">
              <a:rPr lang="zh-TW" altLang="en-US" smtClean="0"/>
              <a:t>2017/5/24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412352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646D0F84-786D-4EF2-8481-140225BF3227}" type="datetime1">
              <a:rPr lang="zh-TW" altLang="en-US" smtClean="0"/>
              <a:t>2017/5/24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0009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FEB57B-0D0F-41CB-A932-683E565E4EE2}" type="datetime1">
              <a:rPr lang="zh-TW" altLang="en-US" smtClean="0"/>
              <a:t>2017/5/24</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8030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720722" y="1230178"/>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200" dirty="0" smtClean="0">
                <a:latin typeface="Times New Roman" panose="02020603050405020304" pitchFamily="18" charset="0"/>
                <a:ea typeface="Arial Unicode MS" pitchFamily="34" charset="-120"/>
                <a:cs typeface="Times New Roman" panose="02020603050405020304" pitchFamily="18" charset="0"/>
              </a:rPr>
              <a:t>A New Data Structure for Cumulative Frequency Tables</a:t>
            </a:r>
            <a:endParaRPr lang="zh-TW" altLang="en-US" sz="3200" dirty="0">
              <a:latin typeface="Times New Roman" panose="02020603050405020304" pitchFamily="18" charset="0"/>
              <a:ea typeface="Arial Unicode MS" pitchFamily="34" charset="-120"/>
              <a:cs typeface="Times New Roman" panose="02020603050405020304" pitchFamily="18" charset="0"/>
            </a:endParaRPr>
          </a:p>
        </p:txBody>
      </p:sp>
      <p:sp>
        <p:nvSpPr>
          <p:cNvPr id="5" name="副標題 2"/>
          <p:cNvSpPr txBox="1">
            <a:spLocks/>
          </p:cNvSpPr>
          <p:nvPr/>
        </p:nvSpPr>
        <p:spPr>
          <a:xfrm>
            <a:off x="1406522" y="3019431"/>
            <a:ext cx="6400800" cy="479425"/>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000" dirty="0" smtClean="0"/>
              <a:t>Peter M. Fenwick</a:t>
            </a:r>
            <a:endParaRPr lang="en-US" altLang="zh-TW" sz="2000" dirty="0"/>
          </a:p>
        </p:txBody>
      </p:sp>
      <p:graphicFrame>
        <p:nvGraphicFramePr>
          <p:cNvPr id="6" name="表格 5"/>
          <p:cNvGraphicFramePr>
            <a:graphicFrameLocks noGrp="1"/>
          </p:cNvGraphicFramePr>
          <p:nvPr>
            <p:extLst>
              <p:ext uri="{D42A27DB-BD31-4B8C-83A1-F6EECF244321}">
                <p14:modId xmlns:p14="http://schemas.microsoft.com/office/powerpoint/2010/main" val="72127864"/>
              </p:ext>
            </p:extLst>
          </p:nvPr>
        </p:nvGraphicFramePr>
        <p:xfrm>
          <a:off x="2312119" y="3818084"/>
          <a:ext cx="4589606" cy="846860"/>
        </p:xfrm>
        <a:graphic>
          <a:graphicData uri="http://schemas.openxmlformats.org/drawingml/2006/table">
            <a:tbl>
              <a:tblPr/>
              <a:tblGrid>
                <a:gridCol w="4589606"/>
              </a:tblGrid>
              <a:tr h="846860">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en-US" altLang="zh-TW" sz="1800" b="0" i="0" kern="1200" dirty="0" smtClean="0">
                          <a:solidFill>
                            <a:schemeClr val="tx1"/>
                          </a:solidFill>
                          <a:effectLst/>
                          <a:latin typeface="+mn-lt"/>
                          <a:ea typeface="+mn-ea"/>
                          <a:cs typeface="+mn-cs"/>
                        </a:rPr>
                        <a:t>Journal of Software:</a:t>
                      </a:r>
                      <a:r>
                        <a:rPr lang="en-US" altLang="zh-TW" sz="1800" b="0" i="0" kern="1200" baseline="0" dirty="0" smtClean="0">
                          <a:solidFill>
                            <a:schemeClr val="tx1"/>
                          </a:solidFill>
                          <a:effectLst/>
                          <a:latin typeface="+mn-lt"/>
                          <a:ea typeface="+mn-ea"/>
                          <a:cs typeface="+mn-cs"/>
                        </a:rPr>
                        <a:t> </a:t>
                      </a:r>
                      <a:r>
                        <a:rPr lang="en-US" altLang="zh-TW" sz="1800" b="0" i="0" kern="1200" dirty="0" smtClean="0">
                          <a:solidFill>
                            <a:schemeClr val="tx1"/>
                          </a:solidFill>
                          <a:effectLst/>
                          <a:latin typeface="+mn-lt"/>
                          <a:ea typeface="+mn-ea"/>
                          <a:cs typeface="+mn-cs"/>
                        </a:rPr>
                        <a:t>Practice </a:t>
                      </a:r>
                      <a:r>
                        <a:rPr lang="en-US" altLang="zh-TW" sz="1800" b="0" i="0" kern="1200" dirty="0" smtClean="0">
                          <a:solidFill>
                            <a:schemeClr val="tx1"/>
                          </a:solidFill>
                          <a:effectLst/>
                          <a:latin typeface="+mn-lt"/>
                          <a:ea typeface="+mn-ea"/>
                          <a:cs typeface="+mn-cs"/>
                        </a:rPr>
                        <a:t>&amp; </a:t>
                      </a:r>
                      <a:r>
                        <a:rPr lang="en-US" altLang="zh-TW" sz="1800" b="0" i="0" kern="1200" dirty="0" smtClean="0">
                          <a:solidFill>
                            <a:schemeClr val="tx1"/>
                          </a:solidFill>
                          <a:effectLst/>
                          <a:latin typeface="+mn-lt"/>
                          <a:ea typeface="+mn-ea"/>
                          <a:cs typeface="+mn-cs"/>
                        </a:rPr>
                        <a:t>Experience</a:t>
                      </a:r>
                      <a:r>
                        <a:rPr lang="en-US" altLang="zh-TW" sz="1800" b="0" i="0" kern="1200" baseline="0" dirty="0" smtClean="0">
                          <a:solidFill>
                            <a:schemeClr val="tx1"/>
                          </a:solidFill>
                          <a:effectLst/>
                          <a:latin typeface="+mn-lt"/>
                          <a:ea typeface="+mn-ea"/>
                          <a:cs typeface="+mn-cs"/>
                        </a:rPr>
                        <a:t>, </a:t>
                      </a:r>
                      <a:r>
                        <a:rPr lang="en-US" altLang="zh-TW" sz="1800" b="0" i="0" kern="1200" dirty="0" smtClean="0">
                          <a:solidFill>
                            <a:schemeClr val="tx1"/>
                          </a:solidFill>
                          <a:effectLst/>
                          <a:latin typeface="+mn-lt"/>
                          <a:ea typeface="+mn-ea"/>
                          <a:cs typeface="+mn-cs"/>
                        </a:rPr>
                        <a:t>Volume </a:t>
                      </a:r>
                      <a:r>
                        <a:rPr lang="en-US" altLang="zh-TW" sz="1800" b="0" i="0" kern="1200" dirty="0" smtClean="0">
                          <a:solidFill>
                            <a:schemeClr val="tx1"/>
                          </a:solidFill>
                          <a:effectLst/>
                          <a:latin typeface="+mn-lt"/>
                          <a:ea typeface="+mn-ea"/>
                          <a:cs typeface="+mn-cs"/>
                        </a:rPr>
                        <a:t>24,</a:t>
                      </a:r>
                      <a:r>
                        <a:rPr lang="en-US" altLang="zh-TW" sz="1800" b="0" i="0" kern="1200" baseline="0" dirty="0" smtClean="0">
                          <a:solidFill>
                            <a:schemeClr val="tx1"/>
                          </a:solidFill>
                          <a:effectLst/>
                          <a:latin typeface="+mn-lt"/>
                          <a:ea typeface="+mn-ea"/>
                          <a:cs typeface="+mn-cs"/>
                        </a:rPr>
                        <a:t> </a:t>
                      </a:r>
                      <a:r>
                        <a:rPr lang="en-US" altLang="zh-TW" sz="1800" b="0" i="0" kern="1200" dirty="0" smtClean="0">
                          <a:solidFill>
                            <a:schemeClr val="tx1"/>
                          </a:solidFill>
                          <a:effectLst/>
                          <a:latin typeface="+mn-lt"/>
                          <a:ea typeface="+mn-ea"/>
                          <a:cs typeface="+mn-cs"/>
                        </a:rPr>
                        <a:t>Issue </a:t>
                      </a:r>
                      <a:r>
                        <a:rPr lang="en-US" altLang="zh-TW" sz="1800" b="0" i="0" kern="1200" dirty="0" smtClean="0">
                          <a:solidFill>
                            <a:schemeClr val="tx1"/>
                          </a:solidFill>
                          <a:effectLst/>
                          <a:latin typeface="+mn-lt"/>
                          <a:ea typeface="+mn-ea"/>
                          <a:cs typeface="+mn-cs"/>
                        </a:rPr>
                        <a:t>3,</a:t>
                      </a:r>
                      <a:r>
                        <a:rPr lang="en-US" altLang="zh-TW" sz="1800" b="0" i="0" kern="1200" baseline="0" dirty="0" smtClean="0">
                          <a:solidFill>
                            <a:schemeClr val="tx1"/>
                          </a:solidFill>
                          <a:effectLst/>
                          <a:latin typeface="+mn-lt"/>
                          <a:ea typeface="+mn-ea"/>
                          <a:cs typeface="+mn-cs"/>
                        </a:rPr>
                        <a:t> </a:t>
                      </a:r>
                      <a:r>
                        <a:rPr lang="en-US" altLang="zh-TW" sz="1800" b="0" i="0" kern="1200" dirty="0" smtClean="0">
                          <a:solidFill>
                            <a:schemeClr val="tx1"/>
                          </a:solidFill>
                          <a:effectLst/>
                          <a:latin typeface="+mn-lt"/>
                          <a:ea typeface="+mn-ea"/>
                          <a:cs typeface="+mn-cs"/>
                        </a:rPr>
                        <a:t>pp</a:t>
                      </a:r>
                      <a:r>
                        <a:rPr lang="en-US" altLang="zh-TW" sz="1800" b="0" i="0" kern="1200" dirty="0" smtClean="0">
                          <a:solidFill>
                            <a:schemeClr val="tx1"/>
                          </a:solidFill>
                          <a:effectLst/>
                          <a:latin typeface="+mn-lt"/>
                          <a:ea typeface="+mn-ea"/>
                          <a:cs typeface="+mn-cs"/>
                        </a:rPr>
                        <a:t>. 327 </a:t>
                      </a:r>
                      <a:r>
                        <a:rPr lang="en-US" altLang="zh-TW" sz="1800" b="0" i="0" kern="1200" dirty="0" smtClean="0">
                          <a:solidFill>
                            <a:schemeClr val="tx1"/>
                          </a:solidFill>
                          <a:effectLst/>
                          <a:latin typeface="+mn-lt"/>
                          <a:ea typeface="+mn-ea"/>
                          <a:cs typeface="+mn-cs"/>
                        </a:rPr>
                        <a:t>– 336, March, 1994. </a:t>
                      </a:r>
                      <a:endParaRPr lang="en-US" altLang="zh-TW" sz="1800" b="0" i="0" kern="1200" dirty="0" smtClean="0">
                        <a:solidFill>
                          <a:schemeClr val="tx1"/>
                        </a:solidFill>
                        <a:effectLst/>
                        <a:latin typeface="+mn-lt"/>
                        <a:ea typeface="+mn-ea"/>
                        <a:cs typeface="+mn-cs"/>
                      </a:endParaRPr>
                    </a:p>
                  </a:txBody>
                  <a:tcPr marL="95251" marR="9525" marT="9523" marB="9523">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2982910" y="525363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spcBef>
                <a:spcPct val="0"/>
              </a:spcBef>
              <a:buFontTx/>
              <a:buNone/>
            </a:pPr>
            <a:r>
              <a:rPr lang="en-US" altLang="zh-TW" sz="1800" dirty="0"/>
              <a:t>Presenter:  </a:t>
            </a:r>
            <a:r>
              <a:rPr lang="en-US" altLang="zh-TW" sz="1800" dirty="0" smtClean="0"/>
              <a:t>Bi-</a:t>
            </a:r>
            <a:r>
              <a:rPr lang="en-US" altLang="zh-TW" sz="1800" dirty="0" err="1" smtClean="0"/>
              <a:t>Shiang</a:t>
            </a:r>
            <a:r>
              <a:rPr lang="en-US" altLang="zh-TW" sz="1800" dirty="0" smtClean="0"/>
              <a:t> Lin</a:t>
            </a:r>
            <a:endParaRPr lang="en-US" altLang="zh-TW" sz="1800" dirty="0"/>
          </a:p>
          <a:p>
            <a:pPr algn="ctr" eaLnBrk="1" hangingPunct="1">
              <a:spcBef>
                <a:spcPct val="0"/>
              </a:spcBef>
              <a:buFontTx/>
              <a:buNone/>
            </a:pPr>
            <a:r>
              <a:rPr lang="en-US" altLang="zh-TW" sz="1800" dirty="0"/>
              <a:t>Date:</a:t>
            </a:r>
            <a:fld id="{F3590F60-3E7B-48AD-979A-345F224951B5}" type="datetime1">
              <a:rPr lang="zh-TW" altLang="en-US" sz="1800"/>
              <a:pPr algn="ctr" eaLnBrk="1" hangingPunct="1">
                <a:spcBef>
                  <a:spcPct val="0"/>
                </a:spcBef>
                <a:buFontTx/>
                <a:buNone/>
              </a:pPr>
              <a:t>2017/5/24</a:t>
            </a:fld>
            <a:endParaRPr lang="zh-TW" altLang="en-US" sz="1800" dirty="0"/>
          </a:p>
        </p:txBody>
      </p:sp>
      <p:sp>
        <p:nvSpPr>
          <p:cNvPr id="2" name="投影片編號版面配置區 1"/>
          <p:cNvSpPr>
            <a:spLocks noGrp="1"/>
          </p:cNvSpPr>
          <p:nvPr>
            <p:ph type="sldNum" sz="quarter" idx="12"/>
          </p:nvPr>
        </p:nvSpPr>
        <p:spPr/>
        <p:txBody>
          <a:bodyPr/>
          <a:lstStyle/>
          <a:p>
            <a:fld id="{0C029359-40AB-419B-8FBB-45C7471E1ED3}" type="slidenum">
              <a:rPr lang="zh-TW" altLang="en-US" smtClean="0"/>
              <a:t>1</a:t>
            </a:fld>
            <a:endParaRPr lang="zh-TW" altLang="en-US"/>
          </a:p>
        </p:txBody>
      </p:sp>
    </p:spTree>
    <p:extLst>
      <p:ext uri="{BB962C8B-B14F-4D97-AF65-F5344CB8AC3E}">
        <p14:creationId xmlns:p14="http://schemas.microsoft.com/office/powerpoint/2010/main" val="1494669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Abstract(1/2)</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a:xfrm>
            <a:off x="628650" y="1825625"/>
            <a:ext cx="7886700" cy="4713720"/>
          </a:xfrm>
        </p:spPr>
        <p:txBody>
          <a:bodyPr anchor="t" anchorCtr="0">
            <a:normAutofit/>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A new method (the ‘binary indexed tree’) is presented for maintaining the cumulative frequencies which are needed to support dynamic arithmetic data compression. It is based on a decomposition of the cumulative frequencies into portions which parallel the binary representation of the index of the table element (or symbol).</a:t>
            </a: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a:t>
            </a:fld>
            <a:endParaRPr lang="zh-TW" altLang="en-US"/>
          </a:p>
        </p:txBody>
      </p:sp>
    </p:spTree>
    <p:extLst>
      <p:ext uri="{BB962C8B-B14F-4D97-AF65-F5344CB8AC3E}">
        <p14:creationId xmlns:p14="http://schemas.microsoft.com/office/powerpoint/2010/main" val="12975597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Abstract(2/2)</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a:xfrm>
            <a:off x="628650" y="1825625"/>
            <a:ext cx="7886700" cy="4713720"/>
          </a:xfrm>
        </p:spPr>
        <p:txBody>
          <a:bodyPr anchor="t" anchorCtr="0">
            <a:normAutofit lnSpcReduction="10000"/>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The operations to traverse the data structure are based on the binary coding of the index. In comparison with previous methods, the binary indexed tree is faster, using more compact data and simpler code. The access time for all operations is either constant or proportional to the logarithm of the table size. In conjunction with the compact data structure, this makes the new method particularly suitable for large symbol alphabets.</a:t>
            </a: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a:t>
            </a:fld>
            <a:endParaRPr lang="zh-TW" altLang="en-US"/>
          </a:p>
        </p:txBody>
      </p:sp>
    </p:spTree>
    <p:extLst>
      <p:ext uri="{BB962C8B-B14F-4D97-AF65-F5344CB8AC3E}">
        <p14:creationId xmlns:p14="http://schemas.microsoft.com/office/powerpoint/2010/main" val="4010467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Cumulative frequency tables</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4</a:t>
            </a:fld>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1200665124"/>
              </p:ext>
            </p:extLst>
          </p:nvPr>
        </p:nvGraphicFramePr>
        <p:xfrm>
          <a:off x="927100" y="1783240"/>
          <a:ext cx="7289796" cy="118872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c>
                  <a:txBody>
                    <a:bodyPr/>
                    <a:lstStyle/>
                    <a:p>
                      <a:pPr algn="ctr"/>
                      <a:r>
                        <a:rPr lang="en-US" altLang="zh-TW" sz="2000" dirty="0" smtClean="0"/>
                        <a:t>4</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6</a:t>
                      </a:r>
                      <a:endParaRPr lang="zh-TW" altLang="en-US" sz="2000" dirty="0"/>
                    </a:p>
                  </a:txBody>
                  <a:tcPr anchor="ctr">
                    <a:solidFill>
                      <a:schemeClr val="bg1">
                        <a:lumMod val="75000"/>
                      </a:schemeClr>
                    </a:solidFill>
                  </a:tcPr>
                </a:tc>
                <a:tc>
                  <a:txBody>
                    <a:bodyPr/>
                    <a:lstStyle/>
                    <a:p>
                      <a:pPr algn="ctr"/>
                      <a:r>
                        <a:rPr lang="en-US" altLang="zh-TW" sz="2000" dirty="0" smtClean="0"/>
                        <a:t>7</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tc>
                <a:tc>
                  <a:txBody>
                    <a:bodyPr/>
                    <a:lstStyle/>
                    <a:p>
                      <a:pPr algn="ctr"/>
                      <a:r>
                        <a:rPr lang="en-US" altLang="zh-TW" sz="2000" dirty="0" smtClean="0"/>
                        <a:t>5</a:t>
                      </a:r>
                      <a:endParaRPr lang="zh-TW" altLang="en-US" sz="2000" dirty="0"/>
                    </a:p>
                  </a:txBody>
                  <a:tcPr anchor="ctr"/>
                </a:tc>
                <a:tc>
                  <a:txBody>
                    <a:bodyPr/>
                    <a:lstStyle/>
                    <a:p>
                      <a:pPr algn="ctr"/>
                      <a:r>
                        <a:rPr lang="en-US" altLang="zh-TW" sz="2000" dirty="0" smtClean="0"/>
                        <a:t>8</a:t>
                      </a:r>
                      <a:endParaRPr lang="zh-TW" altLang="en-US" sz="2000" dirty="0"/>
                    </a:p>
                  </a:txBody>
                  <a:tcPr anchor="ctr"/>
                </a:tc>
                <a:tc>
                  <a:txBody>
                    <a:bodyPr/>
                    <a:lstStyle/>
                    <a:p>
                      <a:pPr algn="ctr"/>
                      <a:r>
                        <a:rPr lang="en-US" altLang="zh-TW" sz="2000" dirty="0" smtClean="0"/>
                        <a:t>4</a:t>
                      </a:r>
                      <a:endParaRPr lang="zh-TW" altLang="en-US" sz="2000" dirty="0"/>
                    </a:p>
                  </a:txBody>
                  <a:tcPr anchor="ctr"/>
                </a:tc>
                <a:tc>
                  <a:txBody>
                    <a:bodyPr/>
                    <a:lstStyle/>
                    <a:p>
                      <a:pPr algn="ctr"/>
                      <a:r>
                        <a:rPr lang="en-US" altLang="zh-TW" sz="2000" dirty="0" smtClean="0"/>
                        <a:t>7</a:t>
                      </a:r>
                      <a:endParaRPr lang="zh-TW" altLang="en-US" sz="2000" dirty="0"/>
                    </a:p>
                  </a:txBody>
                  <a:tcPr anchor="ctr"/>
                </a:tc>
                <a:tc>
                  <a:txBody>
                    <a:bodyPr/>
                    <a:lstStyle/>
                    <a:p>
                      <a:pPr algn="ctr"/>
                      <a:r>
                        <a:rPr lang="en-US" altLang="zh-TW" sz="2000" dirty="0" smtClean="0"/>
                        <a:t>2</a:t>
                      </a:r>
                      <a:endParaRPr lang="zh-TW" altLang="en-US" sz="2000" dirty="0"/>
                    </a:p>
                  </a:txBody>
                  <a:tcPr anchor="ctr"/>
                </a:tc>
                <a:tc>
                  <a:txBody>
                    <a:bodyPr/>
                    <a:lstStyle/>
                    <a:p>
                      <a:pPr algn="ctr"/>
                      <a:r>
                        <a:rPr lang="en-US" altLang="zh-TW" sz="2000" dirty="0" smtClean="0"/>
                        <a:t>1</a:t>
                      </a:r>
                      <a:endParaRPr lang="zh-TW" altLang="en-US" sz="2000" dirty="0"/>
                    </a:p>
                  </a:txBody>
                  <a:tcPr anchor="ctr"/>
                </a:tc>
                <a:tc>
                  <a:txBody>
                    <a:bodyPr/>
                    <a:lstStyle/>
                    <a:p>
                      <a:pPr algn="ctr"/>
                      <a:r>
                        <a:rPr lang="en-US" altLang="zh-TW" sz="2000" dirty="0" smtClean="0"/>
                        <a:t>5</a:t>
                      </a:r>
                      <a:endParaRPr lang="zh-TW" altLang="en-US" sz="2000" dirty="0"/>
                    </a:p>
                  </a:txBody>
                  <a:tcPr anchor="ctr"/>
                </a:tc>
                <a:tc>
                  <a:txBody>
                    <a:bodyPr/>
                    <a:lstStyle/>
                    <a:p>
                      <a:pPr algn="ctr"/>
                      <a:r>
                        <a:rPr lang="en-US" altLang="zh-TW" sz="2000" dirty="0" smtClean="0"/>
                        <a:t>3</a:t>
                      </a:r>
                      <a:endParaRPr lang="zh-TW" altLang="en-US" sz="2000" dirty="0"/>
                    </a:p>
                  </a:txBody>
                  <a:tcPr anchor="ctr"/>
                </a:tc>
              </a:tr>
              <a:tr h="370840">
                <a:tc>
                  <a:txBody>
                    <a:bodyPr/>
                    <a:lstStyle/>
                    <a:p>
                      <a:pPr algn="ctr"/>
                      <a:r>
                        <a:rPr lang="en-US" altLang="zh-TW" sz="2000" dirty="0" smtClean="0"/>
                        <a:t>Prefix sum</a:t>
                      </a:r>
                      <a:endParaRPr lang="zh-TW" altLang="en-US" sz="2000" dirty="0"/>
                    </a:p>
                  </a:txBody>
                  <a:tcPr anchor="ctr"/>
                </a:tc>
                <a:tc>
                  <a:txBody>
                    <a:bodyPr/>
                    <a:lstStyle/>
                    <a:p>
                      <a:pPr algn="ctr"/>
                      <a:r>
                        <a:rPr lang="en-US" altLang="zh-TW" sz="2000" dirty="0" smtClean="0"/>
                        <a:t>5</a:t>
                      </a:r>
                      <a:endParaRPr lang="zh-TW" altLang="en-US" sz="2000" dirty="0"/>
                    </a:p>
                  </a:txBody>
                  <a:tcPr anchor="ctr"/>
                </a:tc>
                <a:tc>
                  <a:txBody>
                    <a:bodyPr/>
                    <a:lstStyle/>
                    <a:p>
                      <a:pPr algn="ctr"/>
                      <a:r>
                        <a:rPr lang="en-US" altLang="zh-TW" sz="2000" dirty="0" smtClean="0"/>
                        <a:t>13</a:t>
                      </a:r>
                      <a:endParaRPr lang="zh-TW" altLang="en-US" sz="2000" dirty="0"/>
                    </a:p>
                  </a:txBody>
                  <a:tcPr anchor="ctr"/>
                </a:tc>
                <a:tc>
                  <a:txBody>
                    <a:bodyPr/>
                    <a:lstStyle/>
                    <a:p>
                      <a:pPr algn="ctr"/>
                      <a:r>
                        <a:rPr lang="en-US" altLang="zh-TW" sz="2000" dirty="0" smtClean="0"/>
                        <a:t>17</a:t>
                      </a:r>
                      <a:endParaRPr lang="zh-TW" altLang="en-US" sz="2000" dirty="0"/>
                    </a:p>
                  </a:txBody>
                  <a:tcPr anchor="ctr"/>
                </a:tc>
                <a:tc>
                  <a:txBody>
                    <a:bodyPr/>
                    <a:lstStyle/>
                    <a:p>
                      <a:pPr algn="ctr"/>
                      <a:r>
                        <a:rPr lang="en-US" altLang="zh-TW" sz="2000" dirty="0" smtClean="0"/>
                        <a:t>24</a:t>
                      </a:r>
                      <a:endParaRPr lang="zh-TW" altLang="en-US" sz="2000" dirty="0"/>
                    </a:p>
                  </a:txBody>
                  <a:tcPr anchor="ctr"/>
                </a:tc>
                <a:tc>
                  <a:txBody>
                    <a:bodyPr/>
                    <a:lstStyle/>
                    <a:p>
                      <a:pPr algn="ctr"/>
                      <a:r>
                        <a:rPr lang="en-US" altLang="zh-TW" sz="2000" dirty="0" smtClean="0"/>
                        <a:t>26</a:t>
                      </a:r>
                      <a:endParaRPr lang="zh-TW" altLang="en-US" sz="2000" dirty="0"/>
                    </a:p>
                  </a:txBody>
                  <a:tcPr anchor="ctr"/>
                </a:tc>
                <a:tc>
                  <a:txBody>
                    <a:bodyPr/>
                    <a:lstStyle/>
                    <a:p>
                      <a:pPr algn="ctr"/>
                      <a:r>
                        <a:rPr lang="en-US" altLang="zh-TW" sz="2000" dirty="0" smtClean="0"/>
                        <a:t>27</a:t>
                      </a:r>
                      <a:endParaRPr lang="zh-TW" altLang="en-US" sz="2000" dirty="0"/>
                    </a:p>
                  </a:txBody>
                  <a:tcPr anchor="ctr"/>
                </a:tc>
                <a:tc>
                  <a:txBody>
                    <a:bodyPr/>
                    <a:lstStyle/>
                    <a:p>
                      <a:pPr algn="ctr"/>
                      <a:r>
                        <a:rPr lang="en-US" altLang="zh-TW" sz="2000" dirty="0" smtClean="0"/>
                        <a:t>32</a:t>
                      </a:r>
                      <a:endParaRPr lang="zh-TW" altLang="en-US" sz="2000" dirty="0"/>
                    </a:p>
                  </a:txBody>
                  <a:tcPr anchor="ctr"/>
                </a:tc>
                <a:tc>
                  <a:txBody>
                    <a:bodyPr/>
                    <a:lstStyle/>
                    <a:p>
                      <a:pPr algn="ctr"/>
                      <a:r>
                        <a:rPr lang="en-US" altLang="zh-TW" sz="2000" dirty="0" smtClean="0"/>
                        <a:t>35</a:t>
                      </a:r>
                      <a:endParaRPr lang="zh-TW" altLang="en-US" sz="2000" dirty="0"/>
                    </a:p>
                  </a:txBody>
                  <a:tcPr anchor="ctr"/>
                </a:tc>
              </a:tr>
            </a:tbl>
          </a:graphicData>
        </a:graphic>
      </p:graphicFrame>
      <mc:AlternateContent xmlns:mc="http://schemas.openxmlformats.org/markup-compatibility/2006" xmlns:a14="http://schemas.microsoft.com/office/drawing/2010/main">
        <mc:Choice Requires="a14">
          <p:graphicFrame>
            <p:nvGraphicFramePr>
              <p:cNvPr id="10" name="表格 9"/>
              <p:cNvGraphicFramePr>
                <a:graphicFrameLocks noGrp="1"/>
              </p:cNvGraphicFramePr>
              <p:nvPr>
                <p:extLst>
                  <p:ext uri="{D42A27DB-BD31-4B8C-83A1-F6EECF244321}">
                    <p14:modId xmlns:p14="http://schemas.microsoft.com/office/powerpoint/2010/main" val="2566610926"/>
                  </p:ext>
                </p:extLst>
              </p:nvPr>
            </p:nvGraphicFramePr>
            <p:xfrm>
              <a:off x="927100" y="3369311"/>
              <a:ext cx="7294033" cy="1188720"/>
            </p:xfrm>
            <a:graphic>
              <a:graphicData uri="http://schemas.openxmlformats.org/drawingml/2006/table">
                <a:tbl>
                  <a:tblPr firstRow="1" bandRow="1">
                    <a:tableStyleId>{5940675A-B579-460E-94D1-54222C63F5DA}</a:tableStyleId>
                  </a:tblPr>
                  <a:tblGrid>
                    <a:gridCol w="1587500"/>
                    <a:gridCol w="2133600"/>
                    <a:gridCol w="702733"/>
                    <a:gridCol w="2159000"/>
                    <a:gridCol w="711200"/>
                  </a:tblGrid>
                  <a:tr h="370840">
                    <a:tc>
                      <a:txBody>
                        <a:bodyPr/>
                        <a:lstStyle/>
                        <a:p>
                          <a:pPr algn="ctr"/>
                          <a:endParaRPr lang="zh-TW" altLang="en-US" sz="2000" dirty="0"/>
                        </a:p>
                      </a:txBody>
                      <a:tcPr anchor="ctr"/>
                    </a:tc>
                    <a:tc>
                      <a:txBody>
                        <a:bodyPr/>
                        <a:lstStyle/>
                        <a:p>
                          <a:pPr algn="ctr"/>
                          <a:r>
                            <a:rPr lang="en-US" altLang="zh-TW" sz="2000" dirty="0" smtClean="0"/>
                            <a:t>Query(3,5)</a:t>
                          </a:r>
                          <a:endParaRPr lang="zh-TW" altLang="en-US" sz="2000" dirty="0"/>
                        </a:p>
                      </a:txBody>
                      <a:tcPr anchor="ctr"/>
                    </a:tc>
                    <a:tc>
                      <a:txBody>
                        <a:bodyPr/>
                        <a:lstStyle/>
                        <a:p>
                          <a:pPr algn="ctr"/>
                          <a:r>
                            <a:rPr lang="en-US" altLang="zh-TW" sz="2000" dirty="0" smtClean="0"/>
                            <a:t>Time</a:t>
                          </a:r>
                          <a:endParaRPr lang="zh-TW" altLang="en-US" sz="2000" dirty="0"/>
                        </a:p>
                      </a:txBody>
                      <a:tcPr anchor="ctr">
                        <a:lnR w="38100" cap="flat" cmpd="sng" algn="ctr">
                          <a:solidFill>
                            <a:schemeClr val="tx1"/>
                          </a:solidFill>
                          <a:prstDash val="solid"/>
                          <a:round/>
                          <a:headEnd type="none" w="med" len="med"/>
                          <a:tailEnd type="none" w="med" len="med"/>
                        </a:lnR>
                      </a:tcPr>
                    </a:tc>
                    <a:tc>
                      <a:txBody>
                        <a:bodyPr/>
                        <a:lstStyle/>
                        <a:p>
                          <a:pPr algn="ctr"/>
                          <a:r>
                            <a:rPr lang="en-US" altLang="zh-TW" sz="2000" dirty="0" smtClean="0"/>
                            <a:t>Update(3,2)</a:t>
                          </a:r>
                          <a:endParaRPr lang="zh-TW" altLang="en-US" sz="2000" dirty="0"/>
                        </a:p>
                      </a:txBody>
                      <a:tcPr anchor="ctr">
                        <a:lnL w="38100" cap="flat" cmpd="sng" algn="ctr">
                          <a:solidFill>
                            <a:schemeClr val="tx1"/>
                          </a:solidFill>
                          <a:prstDash val="solid"/>
                          <a:round/>
                          <a:headEnd type="none" w="med" len="med"/>
                          <a:tailEnd type="none" w="med" len="med"/>
                        </a:lnL>
                      </a:tcPr>
                    </a:tc>
                    <a:tc>
                      <a:txBody>
                        <a:bodyPr/>
                        <a:lstStyle/>
                        <a:p>
                          <a:pPr algn="ctr"/>
                          <a:r>
                            <a:rPr lang="en-US" altLang="zh-TW" sz="2000" dirty="0" smtClean="0"/>
                            <a:t>Time</a:t>
                          </a:r>
                          <a:endParaRPr lang="zh-TW" altLang="en-US" sz="2000" dirty="0"/>
                        </a:p>
                      </a:txBody>
                      <a:tcPr anchor="ctr"/>
                    </a:tc>
                  </a:tr>
                  <a:tr h="370840">
                    <a:tc>
                      <a:txBody>
                        <a:bodyPr/>
                        <a:lstStyle/>
                        <a:p>
                          <a:pPr algn="ctr"/>
                          <a:r>
                            <a:rPr lang="en-US" altLang="zh-TW" sz="2000" dirty="0" smtClean="0"/>
                            <a:t>Original data</a:t>
                          </a:r>
                          <a:endParaRPr lang="zh-TW" altLang="en-US" sz="2000" dirty="0"/>
                        </a:p>
                      </a:txBody>
                      <a:tcPr anchor="ctr"/>
                    </a:tc>
                    <a:tc>
                      <a:txBody>
                        <a:bodyPr/>
                        <a:lstStyle/>
                        <a:p>
                          <a:pPr algn="ctr"/>
                          <a:r>
                            <a:rPr lang="en-US" altLang="zh-TW" sz="2000" dirty="0" smtClean="0"/>
                            <a:t>4+7+2</a:t>
                          </a:r>
                          <a:r>
                            <a:rPr lang="en-US" altLang="zh-TW" sz="2000" baseline="0" dirty="0" smtClean="0"/>
                            <a:t> = 13</a:t>
                          </a:r>
                          <a:endParaRPr lang="zh-TW"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𝑂</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r>
                                  <a:rPr lang="en-US" altLang="zh-TW" sz="2000" b="0" i="1" smtClean="0">
                                    <a:latin typeface="Cambria Math" panose="02040503050406030204" pitchFamily="18" charset="0"/>
                                  </a:rPr>
                                  <m:t>)</m:t>
                                </m:r>
                              </m:oMath>
                            </m:oMathPara>
                          </a14:m>
                          <a:endParaRPr lang="zh-TW" altLang="en-US" sz="2000" dirty="0"/>
                        </a:p>
                      </a:txBody>
                      <a:tcPr anchor="ctr">
                        <a:lnR w="38100" cap="flat" cmpd="sng" algn="ctr">
                          <a:solidFill>
                            <a:schemeClr val="tx1"/>
                          </a:solidFill>
                          <a:prstDash val="solid"/>
                          <a:round/>
                          <a:headEnd type="none" w="med" len="med"/>
                          <a:tailEnd type="none" w="med" len="med"/>
                        </a:lnR>
                      </a:tcPr>
                    </a:tc>
                    <a:tc>
                      <a:txBody>
                        <a:bodyPr/>
                        <a:lstStyle/>
                        <a:p>
                          <a:pPr algn="ctr"/>
                          <a:r>
                            <a:rPr lang="en-US" altLang="zh-TW" sz="2000" dirty="0" smtClean="0"/>
                            <a:t>Array[3]</a:t>
                          </a:r>
                          <a:r>
                            <a:rPr lang="en-US" altLang="zh-TW" sz="2000" baseline="0" dirty="0" smtClean="0"/>
                            <a:t> += 2</a:t>
                          </a:r>
                          <a:endParaRPr lang="zh-TW" altLang="en-US" sz="2000" dirty="0"/>
                        </a:p>
                      </a:txBody>
                      <a:tcPr anchor="ctr">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𝑂</m:t>
                                </m:r>
                                <m:r>
                                  <a:rPr lang="en-US" altLang="zh-TW" sz="2000" b="0" i="1" smtClean="0">
                                    <a:latin typeface="Cambria Math" panose="02040503050406030204" pitchFamily="18" charset="0"/>
                                  </a:rPr>
                                  <m:t>(1)</m:t>
                                </m:r>
                              </m:oMath>
                            </m:oMathPara>
                          </a14:m>
                          <a:endParaRPr lang="zh-TW" altLang="en-US" sz="2000" dirty="0"/>
                        </a:p>
                      </a:txBody>
                      <a:tcPr anchor="ctr"/>
                    </a:tc>
                  </a:tr>
                  <a:tr h="370840">
                    <a:tc>
                      <a:txBody>
                        <a:bodyPr/>
                        <a:lstStyle/>
                        <a:p>
                          <a:pPr algn="ctr"/>
                          <a:r>
                            <a:rPr lang="en-US" altLang="zh-TW" sz="2000" dirty="0" smtClean="0"/>
                            <a:t>Prefix sum</a:t>
                          </a:r>
                          <a:endParaRPr lang="zh-TW" altLang="en-US" sz="2000" dirty="0"/>
                        </a:p>
                      </a:txBody>
                      <a:tcPr anchor="ctr"/>
                    </a:tc>
                    <a:tc>
                      <a:txBody>
                        <a:bodyPr/>
                        <a:lstStyle/>
                        <a:p>
                          <a:pPr algn="ctr"/>
                          <a:r>
                            <a:rPr lang="en-US" altLang="zh-TW" sz="2000" dirty="0" smtClean="0"/>
                            <a:t>26-13=13</a:t>
                          </a:r>
                          <a:endParaRPr lang="zh-TW"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𝑂</m:t>
                                </m:r>
                                <m:r>
                                  <a:rPr lang="en-US" altLang="zh-TW" sz="2000" b="0" i="1" smtClean="0">
                                    <a:latin typeface="Cambria Math" panose="02040503050406030204" pitchFamily="18" charset="0"/>
                                  </a:rPr>
                                  <m:t>(1)</m:t>
                                </m:r>
                              </m:oMath>
                            </m:oMathPara>
                          </a14:m>
                          <a:endParaRPr lang="zh-TW" altLang="en-US" sz="2000" dirty="0"/>
                        </a:p>
                      </a:txBody>
                      <a:tcPr anchor="ctr">
                        <a:lnR w="38100" cap="flat" cmpd="sng" algn="ctr">
                          <a:solidFill>
                            <a:schemeClr val="tx1"/>
                          </a:solidFill>
                          <a:prstDash val="solid"/>
                          <a:round/>
                          <a:headEnd type="none" w="med" len="med"/>
                          <a:tailEnd type="none" w="med" len="med"/>
                        </a:lnR>
                      </a:tcPr>
                    </a:tc>
                    <a:tc>
                      <a:txBody>
                        <a:bodyPr/>
                        <a:lstStyle/>
                        <a:p>
                          <a:pPr algn="ctr"/>
                          <a:r>
                            <a:rPr lang="en-US" altLang="zh-TW" sz="2000" dirty="0" smtClean="0"/>
                            <a:t>Array[3~8]</a:t>
                          </a:r>
                          <a:r>
                            <a:rPr lang="en-US" altLang="zh-TW" sz="2000" baseline="0" dirty="0" smtClean="0"/>
                            <a:t> += 2</a:t>
                          </a:r>
                          <a:endParaRPr lang="zh-TW" altLang="en-US" sz="2000" dirty="0"/>
                        </a:p>
                      </a:txBody>
                      <a:tcPr anchor="ctr">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𝑂</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r>
                                  <a:rPr lang="en-US" altLang="zh-TW" sz="2000" b="0" i="1" smtClean="0">
                                    <a:latin typeface="Cambria Math" panose="02040503050406030204" pitchFamily="18" charset="0"/>
                                  </a:rPr>
                                  <m:t>)</m:t>
                                </m:r>
                              </m:oMath>
                            </m:oMathPara>
                          </a14:m>
                          <a:endParaRPr lang="zh-TW" altLang="en-US" sz="2000" dirty="0"/>
                        </a:p>
                      </a:txBody>
                      <a:tcPr anchor="ctr"/>
                    </a:tc>
                  </a:tr>
                </a:tbl>
              </a:graphicData>
            </a:graphic>
          </p:graphicFrame>
        </mc:Choice>
        <mc:Fallback xmlns="">
          <p:graphicFrame>
            <p:nvGraphicFramePr>
              <p:cNvPr id="10" name="表格 9"/>
              <p:cNvGraphicFramePr>
                <a:graphicFrameLocks noGrp="1"/>
              </p:cNvGraphicFramePr>
              <p:nvPr>
                <p:extLst>
                  <p:ext uri="{D42A27DB-BD31-4B8C-83A1-F6EECF244321}">
                    <p14:modId xmlns:p14="http://schemas.microsoft.com/office/powerpoint/2010/main" val="2566610926"/>
                  </p:ext>
                </p:extLst>
              </p:nvPr>
            </p:nvGraphicFramePr>
            <p:xfrm>
              <a:off x="927100" y="3369311"/>
              <a:ext cx="7294033" cy="1188720"/>
            </p:xfrm>
            <a:graphic>
              <a:graphicData uri="http://schemas.openxmlformats.org/drawingml/2006/table">
                <a:tbl>
                  <a:tblPr firstRow="1" bandRow="1">
                    <a:tableStyleId>{5940675A-B579-460E-94D1-54222C63F5DA}</a:tableStyleId>
                  </a:tblPr>
                  <a:tblGrid>
                    <a:gridCol w="1587500"/>
                    <a:gridCol w="2133600"/>
                    <a:gridCol w="702733"/>
                    <a:gridCol w="2159000"/>
                    <a:gridCol w="711200"/>
                  </a:tblGrid>
                  <a:tr h="396240">
                    <a:tc>
                      <a:txBody>
                        <a:bodyPr/>
                        <a:lstStyle/>
                        <a:p>
                          <a:pPr algn="ctr"/>
                          <a:endParaRPr lang="zh-TW" altLang="en-US" sz="2000" dirty="0"/>
                        </a:p>
                      </a:txBody>
                      <a:tcPr anchor="ctr"/>
                    </a:tc>
                    <a:tc>
                      <a:txBody>
                        <a:bodyPr/>
                        <a:lstStyle/>
                        <a:p>
                          <a:pPr algn="ctr"/>
                          <a:r>
                            <a:rPr lang="en-US" altLang="zh-TW" sz="2000" dirty="0" smtClean="0"/>
                            <a:t>Query(3,5</a:t>
                          </a:r>
                          <a:r>
                            <a:rPr lang="en-US" altLang="zh-TW" sz="2000" dirty="0" smtClean="0"/>
                            <a:t>)</a:t>
                          </a:r>
                          <a:endParaRPr lang="zh-TW" altLang="en-US" sz="2000" dirty="0"/>
                        </a:p>
                      </a:txBody>
                      <a:tcPr anchor="ctr"/>
                    </a:tc>
                    <a:tc>
                      <a:txBody>
                        <a:bodyPr/>
                        <a:lstStyle/>
                        <a:p>
                          <a:pPr algn="ctr"/>
                          <a:r>
                            <a:rPr lang="en-US" altLang="zh-TW" sz="2000" dirty="0" smtClean="0"/>
                            <a:t>Time</a:t>
                          </a:r>
                          <a:endParaRPr lang="zh-TW" altLang="en-US" sz="2000" dirty="0"/>
                        </a:p>
                      </a:txBody>
                      <a:tcPr anchor="ctr">
                        <a:lnR w="38100" cap="flat" cmpd="sng" algn="ctr">
                          <a:solidFill>
                            <a:schemeClr val="tx1"/>
                          </a:solidFill>
                          <a:prstDash val="solid"/>
                          <a:round/>
                          <a:headEnd type="none" w="med" len="med"/>
                          <a:tailEnd type="none" w="med" len="med"/>
                        </a:lnR>
                      </a:tcPr>
                    </a:tc>
                    <a:tc>
                      <a:txBody>
                        <a:bodyPr/>
                        <a:lstStyle/>
                        <a:p>
                          <a:pPr algn="ctr"/>
                          <a:r>
                            <a:rPr lang="en-US" altLang="zh-TW" sz="2000" dirty="0" smtClean="0"/>
                            <a:t>Update(3,2)</a:t>
                          </a:r>
                          <a:endParaRPr lang="zh-TW" altLang="en-US" sz="2000" dirty="0"/>
                        </a:p>
                      </a:txBody>
                      <a:tcPr anchor="ctr">
                        <a:lnL w="38100" cap="flat" cmpd="sng" algn="ctr">
                          <a:solidFill>
                            <a:schemeClr val="tx1"/>
                          </a:solidFill>
                          <a:prstDash val="solid"/>
                          <a:round/>
                          <a:headEnd type="none" w="med" len="med"/>
                          <a:tailEnd type="none" w="med" len="med"/>
                        </a:lnL>
                      </a:tcPr>
                    </a:tc>
                    <a:tc>
                      <a:txBody>
                        <a:bodyPr/>
                        <a:lstStyle/>
                        <a:p>
                          <a:pPr algn="ctr"/>
                          <a:r>
                            <a:rPr lang="en-US" altLang="zh-TW" sz="2000" dirty="0" smtClean="0"/>
                            <a:t>Time</a:t>
                          </a:r>
                          <a:endParaRPr lang="zh-TW" altLang="en-US" sz="2000" dirty="0"/>
                        </a:p>
                      </a:txBody>
                      <a:tcPr anchor="ctr"/>
                    </a:tc>
                  </a:tr>
                  <a:tr h="396240">
                    <a:tc>
                      <a:txBody>
                        <a:bodyPr/>
                        <a:lstStyle/>
                        <a:p>
                          <a:pPr algn="ctr"/>
                          <a:r>
                            <a:rPr lang="en-US" altLang="zh-TW" sz="2000" dirty="0" smtClean="0"/>
                            <a:t>Original data</a:t>
                          </a:r>
                          <a:endParaRPr lang="zh-TW" altLang="en-US" sz="2000" dirty="0"/>
                        </a:p>
                      </a:txBody>
                      <a:tcPr anchor="ctr"/>
                    </a:tc>
                    <a:tc>
                      <a:txBody>
                        <a:bodyPr/>
                        <a:lstStyle/>
                        <a:p>
                          <a:pPr algn="ctr"/>
                          <a:r>
                            <a:rPr lang="en-US" altLang="zh-TW" sz="2000" dirty="0" smtClean="0"/>
                            <a:t>4+7+2</a:t>
                          </a:r>
                          <a:r>
                            <a:rPr lang="en-US" altLang="zh-TW" sz="2000" baseline="0" dirty="0" smtClean="0"/>
                            <a:t> </a:t>
                          </a:r>
                          <a:r>
                            <a:rPr lang="en-US" altLang="zh-TW" sz="2000" baseline="0" dirty="0" smtClean="0"/>
                            <a:t>= </a:t>
                          </a:r>
                          <a:r>
                            <a:rPr lang="en-US" altLang="zh-TW" sz="2000" baseline="0" dirty="0" smtClean="0"/>
                            <a:t>13</a:t>
                          </a:r>
                          <a:endParaRPr lang="zh-TW" altLang="en-US" sz="2000" dirty="0"/>
                        </a:p>
                      </a:txBody>
                      <a:tcPr anchor="ctr"/>
                    </a:tc>
                    <a:tc>
                      <a:txBody>
                        <a:bodyPr/>
                        <a:lstStyle/>
                        <a:p>
                          <a:endParaRPr lang="zh-TW"/>
                        </a:p>
                      </a:txBody>
                      <a:tcPr anchor="ctr">
                        <a:lnR w="38100" cap="flat" cmpd="sng" algn="ctr">
                          <a:solidFill>
                            <a:schemeClr val="tx1"/>
                          </a:solidFill>
                          <a:prstDash val="solid"/>
                          <a:round/>
                          <a:headEnd type="none" w="med" len="med"/>
                          <a:tailEnd type="none" w="med" len="med"/>
                        </a:lnR>
                        <a:blipFill rotWithShape="0">
                          <a:blip r:embed="rId2"/>
                          <a:stretch>
                            <a:fillRect l="-532174" t="-106061" r="-411304" b="-125758"/>
                          </a:stretch>
                        </a:blipFill>
                      </a:tcPr>
                    </a:tc>
                    <a:tc>
                      <a:txBody>
                        <a:bodyPr/>
                        <a:lstStyle/>
                        <a:p>
                          <a:pPr algn="ctr"/>
                          <a:r>
                            <a:rPr lang="en-US" altLang="zh-TW" sz="2000" dirty="0" smtClean="0"/>
                            <a:t>Array[3]</a:t>
                          </a:r>
                          <a:r>
                            <a:rPr lang="en-US" altLang="zh-TW" sz="2000" baseline="0" dirty="0" smtClean="0"/>
                            <a:t> += 2</a:t>
                          </a:r>
                          <a:endParaRPr lang="zh-TW" altLang="en-US" sz="2000" dirty="0"/>
                        </a:p>
                      </a:txBody>
                      <a:tcPr anchor="ctr">
                        <a:lnL w="38100" cap="flat" cmpd="sng" algn="ctr">
                          <a:solidFill>
                            <a:schemeClr val="tx1"/>
                          </a:solidFill>
                          <a:prstDash val="solid"/>
                          <a:round/>
                          <a:headEnd type="none" w="med" len="med"/>
                          <a:tailEnd type="none" w="med" len="med"/>
                        </a:lnL>
                      </a:tcPr>
                    </a:tc>
                    <a:tc>
                      <a:txBody>
                        <a:bodyPr/>
                        <a:lstStyle/>
                        <a:p>
                          <a:endParaRPr lang="zh-TW"/>
                        </a:p>
                      </a:txBody>
                      <a:tcPr anchor="ctr">
                        <a:blipFill rotWithShape="0">
                          <a:blip r:embed="rId2"/>
                          <a:stretch>
                            <a:fillRect l="-923932" t="-106061" r="-1709" b="-125758"/>
                          </a:stretch>
                        </a:blipFill>
                      </a:tcPr>
                    </a:tc>
                  </a:tr>
                  <a:tr h="396240">
                    <a:tc>
                      <a:txBody>
                        <a:bodyPr/>
                        <a:lstStyle/>
                        <a:p>
                          <a:pPr algn="ctr"/>
                          <a:r>
                            <a:rPr lang="en-US" altLang="zh-TW" sz="2000" dirty="0" smtClean="0"/>
                            <a:t>Prefix sum</a:t>
                          </a:r>
                          <a:endParaRPr lang="zh-TW" altLang="en-US" sz="2000" dirty="0"/>
                        </a:p>
                      </a:txBody>
                      <a:tcPr anchor="ctr"/>
                    </a:tc>
                    <a:tc>
                      <a:txBody>
                        <a:bodyPr/>
                        <a:lstStyle/>
                        <a:p>
                          <a:pPr algn="ctr"/>
                          <a:r>
                            <a:rPr lang="en-US" altLang="zh-TW" sz="2000" dirty="0" smtClean="0"/>
                            <a:t>26-13=13</a:t>
                          </a:r>
                          <a:endParaRPr lang="zh-TW" altLang="en-US" sz="2000" dirty="0"/>
                        </a:p>
                      </a:txBody>
                      <a:tcPr anchor="ctr"/>
                    </a:tc>
                    <a:tc>
                      <a:txBody>
                        <a:bodyPr/>
                        <a:lstStyle/>
                        <a:p>
                          <a:endParaRPr lang="zh-TW"/>
                        </a:p>
                      </a:txBody>
                      <a:tcPr anchor="ctr">
                        <a:lnR w="38100" cap="flat" cmpd="sng" algn="ctr">
                          <a:solidFill>
                            <a:schemeClr val="tx1"/>
                          </a:solidFill>
                          <a:prstDash val="solid"/>
                          <a:round/>
                          <a:headEnd type="none" w="med" len="med"/>
                          <a:tailEnd type="none" w="med" len="med"/>
                        </a:lnR>
                        <a:blipFill rotWithShape="0">
                          <a:blip r:embed="rId2"/>
                          <a:stretch>
                            <a:fillRect l="-532174" t="-209231" r="-411304" b="-27692"/>
                          </a:stretch>
                        </a:blipFill>
                      </a:tcPr>
                    </a:tc>
                    <a:tc>
                      <a:txBody>
                        <a:bodyPr/>
                        <a:lstStyle/>
                        <a:p>
                          <a:pPr algn="ctr"/>
                          <a:r>
                            <a:rPr lang="en-US" altLang="zh-TW" sz="2000" dirty="0" smtClean="0"/>
                            <a:t>Array[3~8]</a:t>
                          </a:r>
                          <a:r>
                            <a:rPr lang="en-US" altLang="zh-TW" sz="2000" baseline="0" dirty="0" smtClean="0"/>
                            <a:t> += 2</a:t>
                          </a:r>
                          <a:endParaRPr lang="zh-TW" altLang="en-US" sz="2000" dirty="0"/>
                        </a:p>
                      </a:txBody>
                      <a:tcPr anchor="ctr">
                        <a:lnL w="38100" cap="flat" cmpd="sng" algn="ctr">
                          <a:solidFill>
                            <a:schemeClr val="tx1"/>
                          </a:solidFill>
                          <a:prstDash val="solid"/>
                          <a:round/>
                          <a:headEnd type="none" w="med" len="med"/>
                          <a:tailEnd type="none" w="med" len="med"/>
                        </a:lnL>
                      </a:tcPr>
                    </a:tc>
                    <a:tc>
                      <a:txBody>
                        <a:bodyPr/>
                        <a:lstStyle/>
                        <a:p>
                          <a:endParaRPr lang="zh-TW"/>
                        </a:p>
                      </a:txBody>
                      <a:tcPr anchor="ctr">
                        <a:blipFill rotWithShape="0">
                          <a:blip r:embed="rId2"/>
                          <a:stretch>
                            <a:fillRect l="-923932" t="-209231" r="-1709" b="-27692"/>
                          </a:stretch>
                        </a:blipFill>
                      </a:tcPr>
                    </a:tc>
                  </a:tr>
                </a:tbl>
              </a:graphicData>
            </a:graphic>
          </p:graphicFrame>
        </mc:Fallback>
      </mc:AlternateContent>
      <mc:AlternateContent xmlns:mc="http://schemas.openxmlformats.org/markup-compatibility/2006" xmlns:a14="http://schemas.microsoft.com/office/drawing/2010/main">
        <mc:Choice Requires="a14">
          <p:sp>
            <p:nvSpPr>
              <p:cNvPr id="11" name="文字方塊 10"/>
              <p:cNvSpPr txBox="1"/>
              <p:nvPr/>
            </p:nvSpPr>
            <p:spPr>
              <a:xfrm>
                <a:off x="2839506" y="5486401"/>
                <a:ext cx="3735190" cy="400110"/>
              </a:xfrm>
              <a:prstGeom prst="rect">
                <a:avLst/>
              </a:prstGeom>
              <a:noFill/>
            </p:spPr>
            <p:txBody>
              <a:bodyPr wrap="none" rtlCol="0">
                <a:spAutoFit/>
              </a:bodyPr>
              <a:lstStyle/>
              <a:p>
                <a:r>
                  <a:rPr lang="en-US" altLang="zh-TW" sz="2000" dirty="0" smtClean="0"/>
                  <a:t>…. query and update in </a:t>
                </a:r>
                <a14:m>
                  <m:oMath xmlns:m="http://schemas.openxmlformats.org/officeDocument/2006/math">
                    <m:r>
                      <a:rPr lang="en-US" altLang="zh-TW" sz="2000" i="1" dirty="0" smtClean="0">
                        <a:latin typeface="Cambria Math" panose="02040503050406030204" pitchFamily="18" charset="0"/>
                      </a:rPr>
                      <m:t>𝑂</m:t>
                    </m:r>
                    <m:r>
                      <a:rPr lang="en-US" altLang="zh-TW" sz="2000" i="1" dirty="0" smtClean="0">
                        <a:latin typeface="Cambria Math" panose="02040503050406030204" pitchFamily="18" charset="0"/>
                      </a:rPr>
                      <m:t>(</m:t>
                    </m:r>
                    <m:func>
                      <m:funcPr>
                        <m:ctrlPr>
                          <a:rPr lang="en-US" altLang="zh-TW" sz="2000" i="1" dirty="0" smtClean="0">
                            <a:latin typeface="Cambria Math" panose="02040503050406030204" pitchFamily="18" charset="0"/>
                          </a:rPr>
                        </m:ctrlPr>
                      </m:funcPr>
                      <m:fName>
                        <m:r>
                          <m:rPr>
                            <m:sty m:val="p"/>
                          </m:rPr>
                          <a:rPr lang="en-US" altLang="zh-TW" sz="2000" i="0" dirty="0" smtClean="0">
                            <a:latin typeface="Cambria Math" panose="02040503050406030204" pitchFamily="18" charset="0"/>
                          </a:rPr>
                          <m:t>log</m:t>
                        </m:r>
                      </m:fName>
                      <m:e>
                        <m:r>
                          <a:rPr lang="en-US" altLang="zh-TW" sz="2000" b="0" i="1" dirty="0" smtClean="0">
                            <a:latin typeface="Cambria Math" panose="02040503050406030204" pitchFamily="18" charset="0"/>
                          </a:rPr>
                          <m:t>𝑛</m:t>
                        </m:r>
                      </m:e>
                    </m:func>
                    <m:r>
                      <a:rPr lang="en-US" altLang="zh-TW" sz="2000" i="1" dirty="0" smtClean="0">
                        <a:latin typeface="Cambria Math" panose="02040503050406030204" pitchFamily="18" charset="0"/>
                      </a:rPr>
                      <m:t>)</m:t>
                    </m:r>
                  </m:oMath>
                </a14:m>
                <a:r>
                  <a:rPr lang="en-US" altLang="zh-TW" sz="2000" dirty="0" smtClean="0"/>
                  <a:t> ?</a:t>
                </a:r>
                <a:endParaRPr lang="zh-TW" altLang="en-US" sz="20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2839506" y="5486401"/>
                <a:ext cx="3735190" cy="400110"/>
              </a:xfrm>
              <a:prstGeom prst="rect">
                <a:avLst/>
              </a:prstGeom>
              <a:blipFill rotWithShape="0">
                <a:blip r:embed="rId3"/>
                <a:stretch>
                  <a:fillRect l="-1794" t="-7576" r="-653" b="-257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058709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Range Query</a:t>
            </a:r>
            <a:br>
              <a:rPr lang="en-US" altLang="zh-TW" dirty="0" smtClean="0">
                <a:latin typeface="Times New Roman" panose="02020603050405020304" pitchFamily="18" charset="0"/>
                <a:cs typeface="Times New Roman" panose="02020603050405020304" pitchFamily="18" charset="0"/>
              </a:rPr>
            </a:br>
            <a:r>
              <a:rPr lang="en-US" altLang="zh-TW" dirty="0" smtClean="0">
                <a:latin typeface="Times New Roman" panose="02020603050405020304" pitchFamily="18" charset="0"/>
                <a:cs typeface="Times New Roman" panose="02020603050405020304" pitchFamily="18" charset="0"/>
              </a:rPr>
              <a:t>&amp;</a:t>
            </a:r>
            <a:br>
              <a:rPr lang="en-US" altLang="zh-TW" dirty="0" smtClean="0">
                <a:latin typeface="Times New Roman" panose="02020603050405020304" pitchFamily="18" charset="0"/>
                <a:cs typeface="Times New Roman" panose="02020603050405020304" pitchFamily="18" charset="0"/>
              </a:rPr>
            </a:br>
            <a:r>
              <a:rPr lang="en-US" altLang="zh-TW" dirty="0" smtClean="0">
                <a:latin typeface="Times New Roman" panose="02020603050405020304" pitchFamily="18" charset="0"/>
                <a:cs typeface="Times New Roman" panose="02020603050405020304" pitchFamily="18" charset="0"/>
              </a:rPr>
              <a:t>Point Update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5</a:t>
            </a:fld>
            <a:endParaRPr lang="zh-TW" altLang="en-US"/>
          </a:p>
        </p:txBody>
      </p:sp>
    </p:spTree>
    <p:extLst>
      <p:ext uri="{BB962C8B-B14F-4D97-AF65-F5344CB8AC3E}">
        <p14:creationId xmlns:p14="http://schemas.microsoft.com/office/powerpoint/2010/main" val="8799085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Query(1/3)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6</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219471132"/>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c>
                  <a:txBody>
                    <a:bodyPr/>
                    <a:lstStyle/>
                    <a:p>
                      <a:pPr algn="ctr"/>
                      <a:r>
                        <a:rPr lang="en-US" altLang="zh-TW" sz="2000" dirty="0" smtClean="0"/>
                        <a:t>4</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t>7</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c>
                  <a:txBody>
                    <a:bodyPr/>
                    <a:lstStyle/>
                    <a:p>
                      <a:pPr algn="ctr"/>
                      <a:r>
                        <a:rPr lang="en-US" altLang="zh-TW" sz="2000" dirty="0" smtClean="0"/>
                        <a:t>4</a:t>
                      </a:r>
                      <a:endParaRPr lang="zh-TW" altLang="en-US" sz="2000" dirty="0"/>
                    </a:p>
                  </a:txBody>
                  <a:tcPr anchor="ctr">
                    <a:solidFill>
                      <a:schemeClr val="bg1">
                        <a:lumMod val="75000"/>
                      </a:schemeClr>
                    </a:solidFill>
                  </a:tcPr>
                </a:tc>
                <a:tc>
                  <a:txBody>
                    <a:bodyPr/>
                    <a:lstStyle/>
                    <a:p>
                      <a:pPr algn="ctr"/>
                      <a:r>
                        <a:rPr lang="en-US" altLang="zh-TW" sz="2000" dirty="0" smtClean="0"/>
                        <a:t>7</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13</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24</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35</a:t>
                      </a:r>
                      <a:endParaRPr lang="zh-TW" altLang="en-US" sz="2000" dirty="0"/>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0001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0100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00B050"/>
                          </a:solidFill>
                        </a:rPr>
                        <a:t>0101</a:t>
                      </a:r>
                      <a:endParaRPr lang="zh-TW" altLang="en-US" sz="2000"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01</a:t>
                      </a:r>
                      <a:r>
                        <a:rPr lang="en-US" altLang="zh-TW" sz="2000" u="sng" dirty="0" smtClean="0">
                          <a:solidFill>
                            <a:srgbClr val="FF0000"/>
                          </a:solidFill>
                        </a:rPr>
                        <a:t>1</a:t>
                      </a:r>
                      <a:r>
                        <a:rPr lang="en-US" altLang="zh-TW" sz="2000" dirty="0" smtClean="0">
                          <a:solidFill>
                            <a:srgbClr val="FF0000"/>
                          </a:solidFill>
                        </a:rPr>
                        <a:t>0</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0111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1000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t>[1,8]</a:t>
                      </a:r>
                      <a:endParaRPr lang="zh-TW" altLang="en-US" sz="20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t>[1,4]</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t>[1,2]</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rgbClr val="FF0000"/>
                          </a:solidFill>
                        </a:rPr>
                        <a:t>[5,6]</a:t>
                      </a:r>
                      <a:endParaRPr lang="zh-TW" altLang="en-US" sz="2000" dirty="0">
                        <a:solidFill>
                          <a:srgbClr val="FF0000"/>
                        </a:solidFill>
                      </a:endParaRPr>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t>[1,1]</a:t>
                      </a:r>
                      <a:endParaRPr lang="zh-TW" altLang="en-US" sz="2000" dirty="0"/>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[3,3]</a:t>
                      </a:r>
                      <a:endParaRPr lang="zh-TW" altLang="en-US" sz="2000" dirty="0"/>
                    </a:p>
                  </a:txBody>
                  <a:tcPr anchor="ctr"/>
                </a:tc>
                <a:tc>
                  <a:txBody>
                    <a:bodyPr/>
                    <a:lstStyle/>
                    <a:p>
                      <a:pPr algn="r"/>
                      <a:endParaRPr lang="zh-TW" altLang="en-US" sz="2000" dirty="0"/>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t>[5,5]</a:t>
                      </a:r>
                      <a:endParaRPr lang="zh-TW" altLang="en-US" sz="2000" dirty="0"/>
                    </a:p>
                  </a:txBody>
                  <a:tcPr anchor="ct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[7,7]</a:t>
                      </a: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5" name="文字方塊 4"/>
              <p:cNvSpPr txBox="1"/>
              <p:nvPr/>
            </p:nvSpPr>
            <p:spPr>
              <a:xfrm>
                <a:off x="2704403" y="5850940"/>
                <a:ext cx="4052200" cy="707886"/>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TW" sz="2000" i="1" dirty="0" smtClean="0">
                          <a:solidFill>
                            <a:srgbClr val="FF0000"/>
                          </a:solidFill>
                          <a:latin typeface="Cambria Math" panose="02040503050406030204" pitchFamily="18" charset="0"/>
                        </a:rPr>
                        <m:t>0110</m:t>
                      </m:r>
                      <m:r>
                        <a:rPr lang="en-US" altLang="zh-TW" sz="2000" i="1" dirty="0" smtClean="0">
                          <a:latin typeface="Cambria Math" panose="02040503050406030204" pitchFamily="18" charset="0"/>
                        </a:rPr>
                        <m:t>–</m:t>
                      </m:r>
                      <m:r>
                        <a:rPr lang="en-US" altLang="zh-TW" sz="2000" i="1" dirty="0" err="1" smtClean="0">
                          <a:latin typeface="Cambria Math" panose="02040503050406030204" pitchFamily="18" charset="0"/>
                        </a:rPr>
                        <m:t>𝑙𝑜𝑤𝑏𝑖𝑡</m:t>
                      </m:r>
                      <m:d>
                        <m:dPr>
                          <m:ctrlPr>
                            <a:rPr lang="en-US" altLang="zh-TW" sz="2000" i="1" dirty="0" smtClean="0">
                              <a:latin typeface="Cambria Math" panose="02040503050406030204" pitchFamily="18" charset="0"/>
                            </a:rPr>
                          </m:ctrlPr>
                        </m:dPr>
                        <m:e>
                          <m:r>
                            <a:rPr lang="en-US" altLang="zh-TW" sz="2000" i="1" dirty="0" smtClean="0">
                              <a:latin typeface="Cambria Math" panose="02040503050406030204" pitchFamily="18" charset="0"/>
                            </a:rPr>
                            <m:t>01</m:t>
                          </m:r>
                          <m:r>
                            <a:rPr lang="en-US" altLang="zh-TW" sz="2000" i="1" dirty="0" smtClean="0">
                              <a:solidFill>
                                <a:srgbClr val="FF0000"/>
                              </a:solidFill>
                              <a:latin typeface="Cambria Math" panose="02040503050406030204" pitchFamily="18" charset="0"/>
                            </a:rPr>
                            <m:t>1</m:t>
                          </m:r>
                          <m:r>
                            <a:rPr lang="en-US" altLang="zh-TW" sz="2000" i="1" dirty="0" smtClean="0">
                              <a:latin typeface="Cambria Math" panose="02040503050406030204" pitchFamily="18" charset="0"/>
                            </a:rPr>
                            <m:t>0</m:t>
                          </m:r>
                        </m:e>
                      </m:d>
                      <m:r>
                        <a:rPr lang="en-US" altLang="zh-TW" sz="2000" i="1" dirty="0" smtClean="0">
                          <a:latin typeface="Cambria Math" panose="02040503050406030204" pitchFamily="18" charset="0"/>
                        </a:rPr>
                        <m:t>+1 = </m:t>
                      </m:r>
                      <m:r>
                        <a:rPr lang="en-US" altLang="zh-TW" sz="2000" i="1" dirty="0" smtClean="0">
                          <a:solidFill>
                            <a:srgbClr val="00B050"/>
                          </a:solidFill>
                          <a:latin typeface="Cambria Math" panose="02040503050406030204" pitchFamily="18" charset="0"/>
                        </a:rPr>
                        <m:t>0101</m:t>
                      </m:r>
                    </m:oMath>
                  </m:oMathPara>
                </a14:m>
                <a:endParaRPr lang="en-US" altLang="zh-TW" sz="2000" dirty="0" smtClean="0">
                  <a:solidFill>
                    <a:srgbClr val="00B050"/>
                  </a:solidFill>
                </a:endParaRPr>
              </a:p>
              <a:p>
                <a:pPr algn="ctr"/>
                <a:r>
                  <a:rPr lang="en-US" altLang="zh-TW" sz="2000" dirty="0" smtClean="0"/>
                  <a:t>BIT[x] = Range[x-</a:t>
                </a:r>
                <a:r>
                  <a:rPr lang="en-US" altLang="zh-TW" sz="2000" dirty="0" err="1" smtClean="0"/>
                  <a:t>lowbit</a:t>
                </a:r>
                <a:r>
                  <a:rPr lang="en-US" altLang="zh-TW" sz="2000" dirty="0" smtClean="0"/>
                  <a:t>(x)+1,x]</a:t>
                </a:r>
              </a:p>
            </p:txBody>
          </p:sp>
        </mc:Choice>
        <mc:Fallback xmlns="">
          <p:sp>
            <p:nvSpPr>
              <p:cNvPr id="5" name="文字方塊 4"/>
              <p:cNvSpPr txBox="1">
                <a:spLocks noRot="1" noChangeAspect="1" noMove="1" noResize="1" noEditPoints="1" noAdjustHandles="1" noChangeArrowheads="1" noChangeShapeType="1" noTextEdit="1"/>
              </p:cNvSpPr>
              <p:nvPr/>
            </p:nvSpPr>
            <p:spPr>
              <a:xfrm>
                <a:off x="2704403" y="5850940"/>
                <a:ext cx="4052200" cy="707886"/>
              </a:xfrm>
              <a:prstGeom prst="rect">
                <a:avLst/>
              </a:prstGeom>
              <a:blipFill rotWithShape="0">
                <a:blip r:embed="rId2"/>
                <a:stretch>
                  <a:fillRect b="-146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20311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ea typeface="KaiTi" panose="02010609060101010101" pitchFamily="49" charset="-122"/>
                <a:cs typeface="Times New Roman" panose="02020603050405020304" pitchFamily="18" charset="0"/>
              </a:rPr>
              <a:t>Range </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Query(2/3</a:t>
            </a:r>
            <a:r>
              <a:rPr lang="en-US" altLang="zh-TW" dirty="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7</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152119508"/>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00"/>
                          </a:solidFill>
                        </a:rPr>
                        <a:t>7</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c>
                  <a:txBody>
                    <a:bodyPr/>
                    <a:lstStyle/>
                    <a:p>
                      <a:pPr algn="ctr"/>
                      <a:r>
                        <a:rPr lang="en-US" altLang="zh-TW" sz="2000" dirty="0" smtClean="0"/>
                        <a:t>4</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13</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35</a:t>
                      </a:r>
                      <a:endParaRPr lang="zh-TW" altLang="en-US" sz="2000" dirty="0"/>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0001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r>
                        <a:rPr lang="en-US" altLang="zh-TW" sz="2000" dirty="0" smtClean="0">
                          <a:solidFill>
                            <a:srgbClr val="00B050"/>
                          </a:solidFill>
                        </a:rPr>
                        <a:t>1</a:t>
                      </a:r>
                      <a:r>
                        <a:rPr lang="en-US" altLang="zh-TW" sz="2000" dirty="0" smtClean="0">
                          <a:solidFill>
                            <a:schemeClr val="tx1"/>
                          </a:solidFill>
                        </a:rPr>
                        <a:t>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a:t>
                      </a:r>
                      <a:r>
                        <a:rPr lang="en-US" altLang="zh-TW" sz="2000" dirty="0" smtClean="0">
                          <a:solidFill>
                            <a:srgbClr val="00B0F0"/>
                          </a:solidFill>
                        </a:rPr>
                        <a:t>1</a:t>
                      </a:r>
                      <a:r>
                        <a:rPr lang="en-US" altLang="zh-TW" sz="2000" dirty="0" smtClean="0">
                          <a:solidFill>
                            <a:schemeClr val="tx1"/>
                          </a:solidFill>
                        </a:rPr>
                        <a:t>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011</a:t>
                      </a:r>
                      <a:r>
                        <a:rPr lang="en-US" altLang="zh-TW" sz="2000" dirty="0" smtClean="0">
                          <a:solidFill>
                            <a:srgbClr val="FF0000"/>
                          </a:solidFill>
                        </a:rPr>
                        <a:t>1</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1000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t>[1,8]</a:t>
                      </a:r>
                      <a:endParaRPr lang="zh-TW" altLang="en-US" sz="20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rgbClr val="00B050"/>
                          </a:solidFill>
                        </a:rPr>
                        <a:t>[1,4]</a:t>
                      </a:r>
                      <a:endParaRPr lang="zh-TW" altLang="en-US" sz="2000" dirty="0">
                        <a:solidFill>
                          <a:srgbClr val="00B050"/>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rgbClr val="00B050"/>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t>[1,2]</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rgbClr val="00B0F0"/>
                          </a:solidFill>
                        </a:rPr>
                        <a:t>[5,6]</a:t>
                      </a:r>
                      <a:endParaRPr lang="zh-TW" altLang="en-US" sz="2000" dirty="0">
                        <a:solidFill>
                          <a:srgbClr val="00B0F0"/>
                        </a:solidFill>
                      </a:endParaRPr>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t>[1,1]</a:t>
                      </a:r>
                      <a:endParaRPr lang="zh-TW" altLang="en-US" sz="2000" dirty="0"/>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[3,3]</a:t>
                      </a:r>
                      <a:endParaRPr lang="zh-TW" altLang="en-US" sz="2000" dirty="0"/>
                    </a:p>
                  </a:txBody>
                  <a:tcPr anchor="ctr"/>
                </a:tc>
                <a:tc>
                  <a:txBody>
                    <a:bodyPr/>
                    <a:lstStyle/>
                    <a:p>
                      <a:pPr algn="r"/>
                      <a:endParaRPr lang="zh-TW" altLang="en-US" sz="2000" dirty="0"/>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t>[5,5]</a:t>
                      </a:r>
                      <a:endParaRPr lang="zh-TW" altLang="en-US" sz="2000" dirty="0"/>
                    </a:p>
                  </a:txBody>
                  <a:tcPr anchor="ct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rgbClr val="FF0000"/>
                          </a:solidFill>
                        </a:rPr>
                        <a:t>[7,7]</a:t>
                      </a:r>
                      <a:endParaRPr lang="zh-TW" altLang="en-US" sz="2000" dirty="0">
                        <a:solidFill>
                          <a:srgbClr val="FF0000"/>
                        </a:solidFill>
                      </a:endParaRPr>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
        <p:nvSpPr>
          <p:cNvPr id="5" name="文字方塊 4"/>
          <p:cNvSpPr txBox="1"/>
          <p:nvPr/>
        </p:nvSpPr>
        <p:spPr>
          <a:xfrm>
            <a:off x="1426941" y="5745640"/>
            <a:ext cx="6290120" cy="1015663"/>
          </a:xfrm>
          <a:prstGeom prst="rect">
            <a:avLst/>
          </a:prstGeom>
          <a:noFill/>
        </p:spPr>
        <p:txBody>
          <a:bodyPr wrap="none" rtlCol="0">
            <a:spAutoFit/>
          </a:bodyPr>
          <a:lstStyle/>
          <a:p>
            <a:pPr algn="ctr"/>
            <a:r>
              <a:rPr lang="en-US" altLang="zh-TW" sz="2000" dirty="0" smtClean="0"/>
              <a:t>Range[1,x] = Range[1,x-lowbit(x)] + Range[x-</a:t>
            </a:r>
            <a:r>
              <a:rPr lang="en-US" altLang="zh-TW" sz="2000" dirty="0" err="1" smtClean="0"/>
              <a:t>lowbit</a:t>
            </a:r>
            <a:r>
              <a:rPr lang="en-US" altLang="zh-TW" sz="2000" dirty="0" smtClean="0"/>
              <a:t>(x)+1, x]</a:t>
            </a:r>
          </a:p>
          <a:p>
            <a:pPr algn="ctr"/>
            <a:r>
              <a:rPr lang="en-US" altLang="zh-TW" sz="2000" dirty="0" smtClean="0"/>
              <a:t>= Range[1,x-lowbit(x)] + BIT[x]</a:t>
            </a:r>
          </a:p>
          <a:p>
            <a:pPr algn="ctr"/>
            <a:r>
              <a:rPr lang="en-US" altLang="zh-TW" sz="2000" dirty="0" smtClean="0"/>
              <a:t>Range[1,7] = Range[1,6] + BIT[7]</a:t>
            </a:r>
            <a:endParaRPr lang="en-US" altLang="zh-TW" sz="2000" dirty="0"/>
          </a:p>
        </p:txBody>
      </p:sp>
    </p:spTree>
    <p:extLst>
      <p:ext uri="{BB962C8B-B14F-4D97-AF65-F5344CB8AC3E}">
        <p14:creationId xmlns:p14="http://schemas.microsoft.com/office/powerpoint/2010/main" val="28489667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ea typeface="KaiTi" panose="02010609060101010101" pitchFamily="49" charset="-122"/>
                <a:cs typeface="Times New Roman" panose="02020603050405020304" pitchFamily="18" charset="0"/>
              </a:rPr>
              <a:t>Range </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Query(3/3</a:t>
            </a:r>
            <a:r>
              <a:rPr lang="en-US" altLang="zh-TW" dirty="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8</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507857167"/>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5" name="文字方塊 4"/>
              <p:cNvSpPr txBox="1"/>
              <p:nvPr/>
            </p:nvSpPr>
            <p:spPr>
              <a:xfrm>
                <a:off x="1796018" y="5927614"/>
                <a:ext cx="5551969" cy="707886"/>
              </a:xfrm>
              <a:prstGeom prst="rect">
                <a:avLst/>
              </a:prstGeom>
              <a:noFill/>
            </p:spPr>
            <p:txBody>
              <a:bodyPr wrap="none" rtlCol="0">
                <a:spAutoFit/>
              </a:bodyPr>
              <a:lstStyle/>
              <a:p>
                <a:pPr algn="ctr"/>
                <a:r>
                  <a:rPr lang="en-US" altLang="zh-TW" sz="2000" dirty="0" smtClean="0"/>
                  <a:t>Range Query : </a:t>
                </a:r>
                <a14:m>
                  <m:oMath xmlns:m="http://schemas.openxmlformats.org/officeDocument/2006/math">
                    <m:r>
                      <a:rPr lang="en-US" altLang="zh-TW" sz="2000" b="0" i="1" smtClean="0">
                        <a:latin typeface="Cambria Math" panose="02040503050406030204" pitchFamily="18" charset="0"/>
                      </a:rPr>
                      <m:t>𝑂</m:t>
                    </m:r>
                    <m:d>
                      <m:dPr>
                        <m:ctrlPr>
                          <a:rPr lang="en-US" altLang="zh-TW" sz="2000" b="0" i="1" smtClean="0">
                            <a:latin typeface="Cambria Math" panose="02040503050406030204" pitchFamily="18" charset="0"/>
                          </a:rPr>
                        </m:ctrlPr>
                      </m:dPr>
                      <m:e>
                        <m:func>
                          <m:funcPr>
                            <m:ctrlPr>
                              <a:rPr lang="en-US" altLang="zh-TW" sz="2000" b="0" i="1" smtClean="0">
                                <a:latin typeface="Cambria Math" panose="02040503050406030204" pitchFamily="18" charset="0"/>
                              </a:rPr>
                            </m:ctrlPr>
                          </m:funcPr>
                          <m:fName>
                            <m:r>
                              <m:rPr>
                                <m:sty m:val="p"/>
                              </m:rPr>
                              <a:rPr lang="en-US" altLang="zh-TW" sz="2000" b="0" i="0" smtClean="0">
                                <a:latin typeface="Cambria Math" panose="02040503050406030204" pitchFamily="18" charset="0"/>
                              </a:rPr>
                              <m:t>log</m:t>
                            </m:r>
                          </m:fName>
                          <m:e>
                            <m:r>
                              <a:rPr lang="en-US" altLang="zh-TW" sz="2000" b="0" i="1" smtClean="0">
                                <a:latin typeface="Cambria Math" panose="02040503050406030204" pitchFamily="18" charset="0"/>
                              </a:rPr>
                              <m:t>𝑛</m:t>
                            </m:r>
                          </m:e>
                        </m:func>
                      </m:e>
                    </m:d>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𝑡𝑖𝑚𝑒</m:t>
                    </m:r>
                  </m:oMath>
                </a14:m>
                <a:endParaRPr lang="en-US" altLang="zh-TW" sz="2000" b="0" dirty="0" smtClean="0"/>
              </a:p>
              <a:p>
                <a:pPr algn="ctr"/>
                <a:r>
                  <a:rPr lang="en-US" altLang="zh-TW" sz="2000" dirty="0" err="1"/>
                  <a:t>l</a:t>
                </a:r>
                <a:r>
                  <a:rPr lang="en-US" altLang="zh-TW" sz="2000" dirty="0" err="1" smtClean="0"/>
                  <a:t>owbit</a:t>
                </a:r>
                <a:r>
                  <a:rPr lang="en-US" altLang="zh-TW" sz="2000" dirty="0" smtClean="0"/>
                  <a:t>(x) = x&amp;(-x), ex </a:t>
                </a:r>
                <a:r>
                  <a:rPr lang="en-US" altLang="zh-TW" sz="2000" dirty="0" err="1" smtClean="0"/>
                  <a:t>lowbit</a:t>
                </a:r>
                <a:r>
                  <a:rPr lang="en-US" altLang="zh-TW" sz="2000" dirty="0" smtClean="0"/>
                  <a:t>(10</a:t>
                </a:r>
                <a:r>
                  <a:rPr lang="en-US" altLang="zh-TW" sz="2000" dirty="0" smtClean="0">
                    <a:solidFill>
                      <a:srgbClr val="FF0000"/>
                    </a:solidFill>
                  </a:rPr>
                  <a:t>1</a:t>
                </a:r>
                <a:r>
                  <a:rPr lang="en-US" altLang="zh-TW" sz="2000" dirty="0" smtClean="0"/>
                  <a:t>0) = (10</a:t>
                </a:r>
                <a:r>
                  <a:rPr lang="en-US" altLang="zh-TW" sz="2000" dirty="0" smtClean="0">
                    <a:solidFill>
                      <a:srgbClr val="FF0000"/>
                    </a:solidFill>
                  </a:rPr>
                  <a:t>1</a:t>
                </a:r>
                <a:r>
                  <a:rPr lang="en-US" altLang="zh-TW" sz="2000" dirty="0" smtClean="0"/>
                  <a:t>0)&amp;(01</a:t>
                </a:r>
                <a:r>
                  <a:rPr lang="en-US" altLang="zh-TW" sz="2000" dirty="0" smtClean="0">
                    <a:solidFill>
                      <a:srgbClr val="FF0000"/>
                    </a:solidFill>
                  </a:rPr>
                  <a:t>1</a:t>
                </a:r>
                <a:r>
                  <a:rPr lang="en-US" altLang="zh-TW" sz="2000" dirty="0" smtClean="0"/>
                  <a:t>0)</a:t>
                </a:r>
                <a:endParaRPr lang="en-US" altLang="zh-TW" sz="20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796018" y="5927614"/>
                <a:ext cx="5551969" cy="707886"/>
              </a:xfrm>
              <a:prstGeom prst="rect">
                <a:avLst/>
              </a:prstGeom>
              <a:blipFill rotWithShape="0">
                <a:blip r:embed="rId2"/>
                <a:stretch>
                  <a:fillRect l="-330" t="-4274" r="-330" b="-136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53177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945466" y="4953702"/>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2" name="矩形 11"/>
          <p:cNvSpPr/>
          <p:nvPr/>
        </p:nvSpPr>
        <p:spPr>
          <a:xfrm>
            <a:off x="3937000" y="3761514"/>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3" name="矩形 12"/>
          <p:cNvSpPr/>
          <p:nvPr/>
        </p:nvSpPr>
        <p:spPr>
          <a:xfrm>
            <a:off x="3937000" y="4159448"/>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Point Update(1/3)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9</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1963692975"/>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7</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13</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solidFill>
                            <a:schemeClr val="tx1"/>
                          </a:solidFill>
                        </a:rPr>
                        <a:t>24</a:t>
                      </a:r>
                      <a:r>
                        <a:rPr lang="en-US" altLang="zh-TW" sz="2000" dirty="0" smtClean="0">
                          <a:solidFill>
                            <a:srgbClr val="FF0000"/>
                          </a:solidFill>
                        </a:rPr>
                        <a:t>26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solidFill>
                            <a:schemeClr val="tx1"/>
                          </a:solidFill>
                        </a:rPr>
                        <a:t>35</a:t>
                      </a:r>
                      <a:r>
                        <a:rPr lang="en-US" altLang="zh-TW" sz="2000" dirty="0" smtClean="0">
                          <a:solidFill>
                            <a:srgbClr val="FF0000"/>
                          </a:solidFill>
                        </a:rPr>
                        <a:t>37</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t>[1,8]</a:t>
                      </a:r>
                      <a:endParaRPr lang="zh-TW" altLang="en-US" sz="20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t>[1,4]</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t>[1,2]</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t>[5,6]</a:t>
                      </a: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t>[1,1]</a:t>
                      </a:r>
                      <a:endParaRPr lang="zh-TW" altLang="en-US" sz="2000" dirty="0"/>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[3,3]</a:t>
                      </a:r>
                      <a:endParaRPr lang="zh-TW" altLang="en-US" sz="2000" dirty="0"/>
                    </a:p>
                  </a:txBody>
                  <a:tcPr anchor="ctr"/>
                </a:tc>
                <a:tc>
                  <a:txBody>
                    <a:bodyPr/>
                    <a:lstStyle/>
                    <a:p>
                      <a:pPr algn="r"/>
                      <a:endParaRPr lang="zh-TW" altLang="en-US" sz="2000" dirty="0"/>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t>[5,5]</a:t>
                      </a:r>
                      <a:endParaRPr lang="zh-TW" altLang="en-US" sz="2000" dirty="0"/>
                    </a:p>
                  </a:txBody>
                  <a:tcPr anchor="ct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[7,7]</a:t>
                      </a: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60097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945466" y="4961132"/>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Point Update(2/3)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10</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218225911"/>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7</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13</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solidFill>
                            <a:schemeClr val="tx1"/>
                          </a:solidFill>
                        </a:rPr>
                        <a:t>24</a:t>
                      </a:r>
                      <a:r>
                        <a:rPr lang="en-US" altLang="zh-TW" sz="2000" dirty="0" smtClean="0">
                          <a:solidFill>
                            <a:srgbClr val="FF0000"/>
                          </a:solidFill>
                        </a:rPr>
                        <a:t>26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solidFill>
                            <a:schemeClr val="tx1"/>
                          </a:solidFill>
                        </a:rPr>
                        <a:t>35</a:t>
                      </a:r>
                      <a:r>
                        <a:rPr lang="en-US" altLang="zh-TW" sz="2000" dirty="0" smtClean="0">
                          <a:solidFill>
                            <a:srgbClr val="FF0000"/>
                          </a:solidFill>
                        </a:rPr>
                        <a:t>37</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00B0F0"/>
                          </a:solidFill>
                        </a:rPr>
                        <a:t>0011</a:t>
                      </a:r>
                      <a:endParaRPr lang="zh-TW" altLang="en-US" sz="2000" dirty="0">
                        <a:solidFill>
                          <a:srgbClr val="00B0F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00B050"/>
                          </a:solidFill>
                        </a:rPr>
                        <a:t>0100</a:t>
                      </a:r>
                      <a:endParaRPr lang="zh-TW" altLang="en-US" sz="2000"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0111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C000"/>
                          </a:solidFill>
                        </a:rPr>
                        <a:t>1000</a:t>
                      </a:r>
                      <a:endParaRPr lang="zh-TW" altLang="en-US" sz="2000" dirty="0">
                        <a:solidFill>
                          <a:srgbClr val="FFC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t>[1,8]</a:t>
                      </a:r>
                      <a:endParaRPr lang="zh-TW" altLang="en-US" sz="20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t>[1,4]</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t>[1,2]</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t>[5,6]</a:t>
                      </a: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t>[1,1]</a:t>
                      </a:r>
                      <a:endParaRPr lang="zh-TW" altLang="en-US" sz="2000" dirty="0"/>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[3,3]</a:t>
                      </a:r>
                      <a:endParaRPr lang="zh-TW" altLang="en-US" sz="2000" dirty="0"/>
                    </a:p>
                  </a:txBody>
                  <a:tcPr anchor="ctr"/>
                </a:tc>
                <a:tc>
                  <a:txBody>
                    <a:bodyPr/>
                    <a:lstStyle/>
                    <a:p>
                      <a:pPr algn="r"/>
                      <a:endParaRPr lang="zh-TW" altLang="en-US" sz="2000" dirty="0"/>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t>[5,5]</a:t>
                      </a:r>
                      <a:endParaRPr lang="zh-TW" altLang="en-US" sz="2000" dirty="0"/>
                    </a:p>
                  </a:txBody>
                  <a:tcPr anchor="ct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[7,7]</a:t>
                      </a: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
        <p:nvSpPr>
          <p:cNvPr id="6" name="矩形 5"/>
          <p:cNvSpPr/>
          <p:nvPr/>
        </p:nvSpPr>
        <p:spPr>
          <a:xfrm>
            <a:off x="3937000" y="3768944"/>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9" name="矩形 8"/>
          <p:cNvSpPr/>
          <p:nvPr/>
        </p:nvSpPr>
        <p:spPr>
          <a:xfrm>
            <a:off x="3937000" y="4166878"/>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p:cNvSpPr txBox="1"/>
              <p:nvPr/>
            </p:nvSpPr>
            <p:spPr>
              <a:xfrm>
                <a:off x="2847680" y="5850940"/>
                <a:ext cx="3765646" cy="707886"/>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TW" sz="2000" i="1" dirty="0" smtClean="0">
                          <a:solidFill>
                            <a:srgbClr val="00B0F0"/>
                          </a:solidFill>
                          <a:latin typeface="Cambria Math" panose="02040503050406030204" pitchFamily="18" charset="0"/>
                        </a:rPr>
                        <m:t>0</m:t>
                      </m:r>
                      <m:r>
                        <a:rPr lang="en-US" altLang="zh-TW" sz="2000" b="0" i="1" dirty="0" smtClean="0">
                          <a:solidFill>
                            <a:srgbClr val="00B0F0"/>
                          </a:solidFill>
                          <a:latin typeface="Cambria Math" panose="02040503050406030204" pitchFamily="18" charset="0"/>
                        </a:rPr>
                        <m:t>011 </m:t>
                      </m:r>
                      <m:r>
                        <a:rPr lang="en-US" altLang="zh-TW" sz="2000" b="0" i="1" dirty="0" smtClean="0">
                          <a:solidFill>
                            <a:schemeClr val="tx1"/>
                          </a:solidFill>
                          <a:latin typeface="Cambria Math" panose="02040503050406030204" pitchFamily="18" charset="0"/>
                        </a:rPr>
                        <m:t>+ </m:t>
                      </m:r>
                      <m:r>
                        <a:rPr lang="en-US" altLang="zh-TW" sz="2000" i="1" dirty="0" err="1" smtClean="0">
                          <a:latin typeface="Cambria Math" panose="02040503050406030204" pitchFamily="18" charset="0"/>
                        </a:rPr>
                        <m:t>𝑙𝑜𝑤𝑏𝑖𝑡</m:t>
                      </m:r>
                      <m:d>
                        <m:dPr>
                          <m:ctrlPr>
                            <a:rPr lang="en-US" altLang="zh-TW" sz="2000" i="1" dirty="0" smtClean="0">
                              <a:latin typeface="Cambria Math" panose="02040503050406030204" pitchFamily="18" charset="0"/>
                            </a:rPr>
                          </m:ctrlPr>
                        </m:dPr>
                        <m:e>
                          <m:r>
                            <a:rPr lang="en-US" altLang="zh-TW" sz="2000" i="1" dirty="0" smtClean="0">
                              <a:latin typeface="Cambria Math" panose="02040503050406030204" pitchFamily="18" charset="0"/>
                            </a:rPr>
                            <m:t>0</m:t>
                          </m:r>
                          <m:r>
                            <a:rPr lang="en-US" altLang="zh-TW" sz="2000" b="0" i="1" dirty="0" smtClean="0">
                              <a:latin typeface="Cambria Math" panose="02040503050406030204" pitchFamily="18" charset="0"/>
                            </a:rPr>
                            <m:t>01</m:t>
                          </m:r>
                          <m:r>
                            <a:rPr lang="en-US" altLang="zh-TW" sz="2000" b="0" i="1" dirty="0" smtClean="0">
                              <a:solidFill>
                                <a:srgbClr val="FF0000"/>
                              </a:solidFill>
                              <a:latin typeface="Cambria Math" panose="02040503050406030204" pitchFamily="18" charset="0"/>
                            </a:rPr>
                            <m:t>1</m:t>
                          </m:r>
                        </m:e>
                      </m:d>
                      <m:r>
                        <a:rPr lang="en-US" altLang="zh-TW" sz="2000" i="1" dirty="0" smtClean="0">
                          <a:latin typeface="Cambria Math" panose="02040503050406030204" pitchFamily="18" charset="0"/>
                        </a:rPr>
                        <m:t> = </m:t>
                      </m:r>
                      <m:r>
                        <a:rPr lang="en-US" altLang="zh-TW" sz="2000" i="1" dirty="0" smtClean="0">
                          <a:solidFill>
                            <a:srgbClr val="00B050"/>
                          </a:solidFill>
                          <a:latin typeface="Cambria Math" panose="02040503050406030204" pitchFamily="18" charset="0"/>
                        </a:rPr>
                        <m:t>010</m:t>
                      </m:r>
                      <m:r>
                        <a:rPr lang="en-US" altLang="zh-TW" sz="2000" b="0" i="1" dirty="0" smtClean="0">
                          <a:solidFill>
                            <a:srgbClr val="00B050"/>
                          </a:solidFill>
                          <a:latin typeface="Cambria Math" panose="02040503050406030204" pitchFamily="18" charset="0"/>
                        </a:rPr>
                        <m:t>0</m:t>
                      </m:r>
                    </m:oMath>
                  </m:oMathPara>
                </a14:m>
                <a:endParaRPr lang="en-US" altLang="zh-TW" sz="2000" b="0" dirty="0" smtClean="0">
                  <a:solidFill>
                    <a:srgbClr val="00B050"/>
                  </a:solidFill>
                </a:endParaRPr>
              </a:p>
              <a:p>
                <a:pPr algn="ctr"/>
                <a14:m>
                  <m:oMathPara xmlns:m="http://schemas.openxmlformats.org/officeDocument/2006/math">
                    <m:oMathParaPr>
                      <m:jc m:val="centerGroup"/>
                    </m:oMathParaPr>
                    <m:oMath xmlns:m="http://schemas.openxmlformats.org/officeDocument/2006/math">
                      <m:r>
                        <a:rPr lang="en-US" altLang="zh-TW" sz="2000" i="1" dirty="0" smtClean="0">
                          <a:solidFill>
                            <a:srgbClr val="00B050"/>
                          </a:solidFill>
                          <a:latin typeface="Cambria Math" panose="02040503050406030204" pitchFamily="18" charset="0"/>
                        </a:rPr>
                        <m:t>0100</m:t>
                      </m:r>
                      <m:r>
                        <a:rPr lang="en-US" altLang="zh-TW" sz="2000" b="0" i="1" dirty="0" smtClean="0">
                          <a:solidFill>
                            <a:srgbClr val="00B050"/>
                          </a:solidFill>
                          <a:latin typeface="Cambria Math" panose="02040503050406030204" pitchFamily="18" charset="0"/>
                        </a:rPr>
                        <m:t> </m:t>
                      </m:r>
                      <m:r>
                        <a:rPr lang="en-US" altLang="zh-TW" sz="2000" i="1" dirty="0" smtClean="0">
                          <a:solidFill>
                            <a:schemeClr val="tx1"/>
                          </a:solidFill>
                          <a:latin typeface="Cambria Math" panose="02040503050406030204" pitchFamily="18" charset="0"/>
                        </a:rPr>
                        <m:t>+ </m:t>
                      </m:r>
                      <m:r>
                        <a:rPr lang="en-US" altLang="zh-TW" sz="2000" i="1" dirty="0" err="1" smtClean="0">
                          <a:solidFill>
                            <a:schemeClr val="tx1"/>
                          </a:solidFill>
                          <a:latin typeface="Cambria Math" panose="02040503050406030204" pitchFamily="18" charset="0"/>
                        </a:rPr>
                        <m:t>𝑙𝑜𝑤𝑏𝑖𝑡</m:t>
                      </m:r>
                      <m:d>
                        <m:dPr>
                          <m:ctrlPr>
                            <a:rPr lang="en-US" altLang="zh-TW" sz="2000" i="1" dirty="0" smtClean="0">
                              <a:solidFill>
                                <a:schemeClr val="tx1"/>
                              </a:solidFill>
                              <a:latin typeface="Cambria Math" panose="02040503050406030204" pitchFamily="18" charset="0"/>
                            </a:rPr>
                          </m:ctrlPr>
                        </m:dPr>
                        <m:e>
                          <m:r>
                            <a:rPr lang="en-US" altLang="zh-TW" sz="2000" i="1" dirty="0" smtClean="0">
                              <a:solidFill>
                                <a:schemeClr val="tx1"/>
                              </a:solidFill>
                              <a:latin typeface="Cambria Math" panose="02040503050406030204" pitchFamily="18" charset="0"/>
                            </a:rPr>
                            <m:t>0</m:t>
                          </m:r>
                          <m:r>
                            <a:rPr lang="en-US" altLang="zh-TW" sz="2000" i="1" dirty="0" smtClean="0">
                              <a:solidFill>
                                <a:srgbClr val="FF0000"/>
                              </a:solidFill>
                              <a:latin typeface="Cambria Math" panose="02040503050406030204" pitchFamily="18" charset="0"/>
                            </a:rPr>
                            <m:t>1</m:t>
                          </m:r>
                          <m:r>
                            <a:rPr lang="en-US" altLang="zh-TW" sz="2000" i="1" dirty="0" smtClean="0">
                              <a:solidFill>
                                <a:schemeClr val="tx1"/>
                              </a:solidFill>
                              <a:latin typeface="Cambria Math" panose="02040503050406030204" pitchFamily="18" charset="0"/>
                            </a:rPr>
                            <m:t>00</m:t>
                          </m:r>
                        </m:e>
                      </m:d>
                      <m:r>
                        <a:rPr lang="en-US" altLang="zh-TW" sz="2000" i="1" dirty="0" smtClean="0">
                          <a:solidFill>
                            <a:schemeClr val="tx1"/>
                          </a:solidFill>
                          <a:latin typeface="Cambria Math" panose="02040503050406030204" pitchFamily="18" charset="0"/>
                        </a:rPr>
                        <m:t>=</m:t>
                      </m:r>
                      <m:r>
                        <a:rPr lang="en-US" altLang="zh-TW" sz="2000" b="0" i="1" dirty="0" smtClean="0">
                          <a:solidFill>
                            <a:schemeClr val="tx1"/>
                          </a:solidFill>
                          <a:latin typeface="Cambria Math" panose="02040503050406030204" pitchFamily="18" charset="0"/>
                        </a:rPr>
                        <m:t> </m:t>
                      </m:r>
                      <m:r>
                        <a:rPr lang="en-US" altLang="zh-TW" sz="2000" i="1" dirty="0" smtClean="0">
                          <a:solidFill>
                            <a:srgbClr val="FFC000"/>
                          </a:solidFill>
                          <a:latin typeface="Cambria Math" panose="02040503050406030204" pitchFamily="18" charset="0"/>
                        </a:rPr>
                        <m:t>1000</m:t>
                      </m:r>
                    </m:oMath>
                  </m:oMathPara>
                </a14:m>
                <a:endParaRPr lang="en-US" altLang="zh-TW" sz="2000" dirty="0" smtClean="0">
                  <a:solidFill>
                    <a:srgbClr val="FFC000"/>
                  </a:solidFill>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2847680" y="5850940"/>
                <a:ext cx="3765646" cy="707886"/>
              </a:xfrm>
              <a:prstGeom prst="rect">
                <a:avLst/>
              </a:prstGeom>
              <a:blipFill rotWithShape="0">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23006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Point Update(3/3)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11</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331636061"/>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t>1</a:t>
                      </a:r>
                      <a:endParaRPr lang="zh-TW" altLang="en-US" sz="2000" dirty="0"/>
                    </a:p>
                  </a:txBody>
                  <a:tcPr anchor="ctr">
                    <a:solidFill>
                      <a:schemeClr val="bg1">
                        <a:lumMod val="75000"/>
                      </a:schemeClr>
                    </a:solidFill>
                  </a:tcPr>
                </a:tc>
                <a:tc>
                  <a:txBody>
                    <a:bodyPr/>
                    <a:lstStyle/>
                    <a:p>
                      <a:pPr algn="ctr"/>
                      <a:r>
                        <a:rPr lang="en-US" altLang="zh-TW" sz="2000" dirty="0" smtClean="0"/>
                        <a:t>2</a:t>
                      </a:r>
                      <a:endParaRPr lang="zh-TW" altLang="en-US" sz="2000" dirty="0"/>
                    </a:p>
                  </a:txBody>
                  <a:tcPr anchor="ctr">
                    <a:solidFill>
                      <a:schemeClr val="bg1">
                        <a:lumMod val="75000"/>
                      </a:schemeClr>
                    </a:solidFill>
                  </a:tcPr>
                </a:tc>
                <a:tc>
                  <a:txBody>
                    <a:bodyPr/>
                    <a:lstStyle/>
                    <a:p>
                      <a:pPr algn="ctr"/>
                      <a:r>
                        <a:rPr lang="en-US" altLang="zh-TW" sz="2000" dirty="0" smtClean="0"/>
                        <a:t>3</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7</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t>8</a:t>
                      </a:r>
                      <a:endParaRPr lang="zh-TW" altLang="en-US" sz="2000" dirty="0"/>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t>5</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13</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solidFill>
                            <a:schemeClr val="tx1"/>
                          </a:solidFill>
                        </a:rPr>
                        <a:t>24</a:t>
                      </a:r>
                      <a:r>
                        <a:rPr lang="en-US" altLang="zh-TW" sz="2000" dirty="0" smtClean="0">
                          <a:solidFill>
                            <a:srgbClr val="FF0000"/>
                          </a:solidFill>
                        </a:rPr>
                        <a:t>26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trike="sngStrike" dirty="0" smtClean="0">
                          <a:solidFill>
                            <a:schemeClr val="tx1"/>
                          </a:solidFill>
                        </a:rPr>
                        <a:t>35</a:t>
                      </a:r>
                      <a:r>
                        <a:rPr lang="en-US" altLang="zh-TW" sz="2000" dirty="0" smtClean="0">
                          <a:solidFill>
                            <a:srgbClr val="FF0000"/>
                          </a:solidFill>
                        </a:rPr>
                        <a:t>37</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0010</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0011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t>0111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rgbClr val="FF0000"/>
                          </a:solidFill>
                        </a:rPr>
                        <a:t>[1,8]</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rgbClr val="FF0000"/>
                          </a:solidFill>
                        </a:rPr>
                        <a:t>[1,4]</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t>[1,2]</a:t>
                      </a:r>
                      <a:endParaRPr lang="zh-TW" altLang="en-US" sz="2000" dirty="0"/>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t>[5,6]</a:t>
                      </a: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t>[1,1]</a:t>
                      </a:r>
                      <a:endParaRPr lang="zh-TW" altLang="en-US" sz="2000" dirty="0"/>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rgbClr val="FF0000"/>
                          </a:solidFill>
                        </a:rPr>
                        <a:t>[3,3]</a:t>
                      </a:r>
                      <a:endParaRPr lang="zh-TW" altLang="en-US" sz="2000" dirty="0">
                        <a:solidFill>
                          <a:srgbClr val="FF0000"/>
                        </a:solidFill>
                      </a:endParaRPr>
                    </a:p>
                  </a:txBody>
                  <a:tcPr anchor="ctr"/>
                </a:tc>
                <a:tc>
                  <a:txBody>
                    <a:bodyPr/>
                    <a:lstStyle/>
                    <a:p>
                      <a:pPr algn="r"/>
                      <a:endParaRPr lang="zh-TW" altLang="en-US" sz="2000" dirty="0"/>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t>[5,5]</a:t>
                      </a:r>
                      <a:endParaRPr lang="zh-TW" altLang="en-US" sz="2000" dirty="0"/>
                    </a:p>
                  </a:txBody>
                  <a:tcPr anchor="ctr"/>
                </a:tc>
                <a:tc>
                  <a:txBody>
                    <a:bodyPr/>
                    <a:lstStyle/>
                    <a:p>
                      <a:pPr algn="r"/>
                      <a:endParaRPr lang="zh-TW" altLang="en-US" sz="2000" dirty="0"/>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t>[7,7]</a:t>
                      </a:r>
                      <a:endParaRPr lang="zh-TW" altLang="en-US" sz="2000" dirty="0"/>
                    </a:p>
                  </a:txBody>
                  <a:tcPr anchor="ctr"/>
                </a:tc>
                <a:tc>
                  <a:txBody>
                    <a:bodyPr/>
                    <a:lstStyle/>
                    <a:p>
                      <a:pPr algn="r"/>
                      <a:endParaRPr lang="zh-TW" altLang="en-US" sz="2000" dirty="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6" name="文字方塊 5"/>
              <p:cNvSpPr txBox="1"/>
              <p:nvPr/>
            </p:nvSpPr>
            <p:spPr>
              <a:xfrm>
                <a:off x="2952196" y="5927614"/>
                <a:ext cx="3239606" cy="400110"/>
              </a:xfrm>
              <a:prstGeom prst="rect">
                <a:avLst/>
              </a:prstGeom>
              <a:noFill/>
            </p:spPr>
            <p:txBody>
              <a:bodyPr wrap="none" rtlCol="0">
                <a:spAutoFit/>
              </a:bodyPr>
              <a:lstStyle/>
              <a:p>
                <a:pPr algn="ctr"/>
                <a:r>
                  <a:rPr lang="en-US" altLang="zh-TW" sz="2000" dirty="0" smtClean="0"/>
                  <a:t>Point Update : </a:t>
                </a:r>
                <a14:m>
                  <m:oMath xmlns:m="http://schemas.openxmlformats.org/officeDocument/2006/math">
                    <m:r>
                      <a:rPr lang="en-US" altLang="zh-TW" sz="2000" b="0" i="1" smtClean="0">
                        <a:latin typeface="Cambria Math" panose="02040503050406030204" pitchFamily="18" charset="0"/>
                      </a:rPr>
                      <m:t>𝑂</m:t>
                    </m:r>
                    <m:d>
                      <m:dPr>
                        <m:ctrlPr>
                          <a:rPr lang="en-US" altLang="zh-TW" sz="2000" b="0" i="1" smtClean="0">
                            <a:latin typeface="Cambria Math" panose="02040503050406030204" pitchFamily="18" charset="0"/>
                          </a:rPr>
                        </m:ctrlPr>
                      </m:dPr>
                      <m:e>
                        <m:func>
                          <m:funcPr>
                            <m:ctrlPr>
                              <a:rPr lang="en-US" altLang="zh-TW" sz="2000" b="0" i="1" smtClean="0">
                                <a:latin typeface="Cambria Math" panose="02040503050406030204" pitchFamily="18" charset="0"/>
                              </a:rPr>
                            </m:ctrlPr>
                          </m:funcPr>
                          <m:fName>
                            <m:r>
                              <m:rPr>
                                <m:sty m:val="p"/>
                              </m:rPr>
                              <a:rPr lang="en-US" altLang="zh-TW" sz="2000" b="0" i="0" smtClean="0">
                                <a:latin typeface="Cambria Math" panose="02040503050406030204" pitchFamily="18" charset="0"/>
                              </a:rPr>
                              <m:t>log</m:t>
                            </m:r>
                          </m:fName>
                          <m:e>
                            <m:r>
                              <a:rPr lang="en-US" altLang="zh-TW" sz="2000" b="0" i="1" smtClean="0">
                                <a:latin typeface="Cambria Math" panose="02040503050406030204" pitchFamily="18" charset="0"/>
                              </a:rPr>
                              <m:t>𝑛</m:t>
                            </m:r>
                          </m:e>
                        </m:func>
                      </m:e>
                    </m:d>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𝑡𝑖𝑚𝑒</m:t>
                    </m:r>
                  </m:oMath>
                </a14:m>
                <a:endParaRPr lang="en-US" altLang="zh-TW"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952196" y="5927614"/>
                <a:ext cx="3239606" cy="400110"/>
              </a:xfrm>
              <a:prstGeom prst="rect">
                <a:avLst/>
              </a:prstGeom>
              <a:blipFill rotWithShape="0">
                <a:blip r:embed="rId2"/>
                <a:stretch>
                  <a:fillRect l="-1504" t="-7576" b="-257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186878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Initialization(1/6)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12</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530753381"/>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rgbClr val="FF0000"/>
                          </a:solidFill>
                        </a:rPr>
                        <a:t>5</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89333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Initialization(2/6)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13</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129395054"/>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00"/>
                          </a:solidFill>
                        </a:rPr>
                        <a:t>8</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5</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748962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Initialization(3/6)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14</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793093683"/>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00"/>
                          </a:solidFill>
                        </a:rPr>
                        <a:t>4</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367954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Initialization(4/6)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15</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363818299"/>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00"/>
                          </a:solidFill>
                        </a:rPr>
                        <a:t>7</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13</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4</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solidFill>
                      <a:srgbClr val="FFFF00"/>
                    </a:solid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1982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Initialization(5/6)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16</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1047538878"/>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00"/>
                          </a:solidFill>
                        </a:rPr>
                        <a:t>1</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2</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rgbClr val="FFFF00"/>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654062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Initialization(6/6)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17</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3183611" y="5927614"/>
                <a:ext cx="2776787" cy="400110"/>
              </a:xfrm>
              <a:prstGeom prst="rect">
                <a:avLst/>
              </a:prstGeom>
              <a:noFill/>
            </p:spPr>
            <p:txBody>
              <a:bodyPr wrap="none" rtlCol="0">
                <a:spAutoFit/>
              </a:bodyPr>
              <a:lstStyle/>
              <a:p>
                <a:pPr algn="ctr"/>
                <a:r>
                  <a:rPr lang="en-US" altLang="zh-TW" sz="2000" dirty="0" smtClean="0"/>
                  <a:t>Initialization : </a:t>
                </a:r>
                <a14:m>
                  <m:oMath xmlns:m="http://schemas.openxmlformats.org/officeDocument/2006/math">
                    <m:r>
                      <a:rPr lang="en-US" altLang="zh-TW" sz="2000" i="1" dirty="0" smtClean="0">
                        <a:latin typeface="Cambria Math" panose="02040503050406030204" pitchFamily="18" charset="0"/>
                      </a:rPr>
                      <m:t>𝑂</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𝑛</m:t>
                    </m:r>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𝑡𝑖𝑚𝑒</m:t>
                    </m:r>
                  </m:oMath>
                </a14:m>
                <a:endParaRPr lang="en-US" altLang="zh-TW"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3183611" y="5927614"/>
                <a:ext cx="2776787" cy="400110"/>
              </a:xfrm>
              <a:prstGeom prst="rect">
                <a:avLst/>
              </a:prstGeom>
              <a:blipFill rotWithShape="0">
                <a:blip r:embed="rId2"/>
                <a:stretch>
                  <a:fillRect l="-1754" t="-7576" b="-25758"/>
                </a:stretch>
              </a:blipFill>
            </p:spPr>
            <p:txBody>
              <a:bodyPr/>
              <a:lstStyle/>
              <a:p>
                <a:r>
                  <a:rPr lang="zh-TW" altLang="en-US">
                    <a:noFill/>
                  </a:rPr>
                  <a:t> </a:t>
                </a:r>
              </a:p>
            </p:txBody>
          </p:sp>
        </mc:Fallback>
      </mc:AlternateContent>
      <p:graphicFrame>
        <p:nvGraphicFramePr>
          <p:cNvPr id="8" name="表格 7"/>
          <p:cNvGraphicFramePr>
            <a:graphicFrameLocks noGrp="1"/>
          </p:cNvGraphicFramePr>
          <p:nvPr>
            <p:extLst>
              <p:ext uri="{D42A27DB-BD31-4B8C-83A1-F6EECF244321}">
                <p14:modId xmlns:p14="http://schemas.microsoft.com/office/powerpoint/2010/main" val="3690308649"/>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00"/>
                          </a:solidFill>
                        </a:rPr>
                        <a:t>3</a:t>
                      </a:r>
                      <a:endParaRPr lang="zh-TW" altLang="en-US" sz="2000" dirty="0">
                        <a:solidFill>
                          <a:srgbClr val="FF0000"/>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24</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3</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rgbClr val="FF0000"/>
                          </a:solidFill>
                        </a:rPr>
                        <a:t>5</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rgbClr val="FFFF00"/>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rgbClr val="FFFF00"/>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149468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Range Update</a:t>
            </a:r>
            <a:br>
              <a:rPr lang="en-US" altLang="zh-TW" dirty="0" smtClean="0">
                <a:latin typeface="Times New Roman" panose="02020603050405020304" pitchFamily="18" charset="0"/>
                <a:cs typeface="Times New Roman" panose="02020603050405020304" pitchFamily="18" charset="0"/>
              </a:rPr>
            </a:br>
            <a:r>
              <a:rPr lang="en-US" altLang="zh-TW" dirty="0" smtClean="0">
                <a:latin typeface="Times New Roman" panose="02020603050405020304" pitchFamily="18" charset="0"/>
                <a:cs typeface="Times New Roman" panose="02020603050405020304" pitchFamily="18" charset="0"/>
              </a:rPr>
              <a:t>&amp;</a:t>
            </a:r>
            <a:br>
              <a:rPr lang="en-US" altLang="zh-TW" dirty="0" smtClean="0">
                <a:latin typeface="Times New Roman" panose="02020603050405020304" pitchFamily="18" charset="0"/>
                <a:cs typeface="Times New Roman" panose="02020603050405020304" pitchFamily="18" charset="0"/>
              </a:rPr>
            </a:br>
            <a:r>
              <a:rPr lang="en-US" altLang="zh-TW" dirty="0" smtClean="0">
                <a:latin typeface="Times New Roman" panose="02020603050405020304" pitchFamily="18" charset="0"/>
                <a:cs typeface="Times New Roman" panose="02020603050405020304" pitchFamily="18" charset="0"/>
              </a:rPr>
              <a:t>Point Query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18</a:t>
            </a:fld>
            <a:endParaRPr lang="zh-TW" altLang="en-US"/>
          </a:p>
        </p:txBody>
      </p:sp>
    </p:spTree>
    <p:extLst>
      <p:ext uri="{BB962C8B-B14F-4D97-AF65-F5344CB8AC3E}">
        <p14:creationId xmlns:p14="http://schemas.microsoft.com/office/powerpoint/2010/main" val="956648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951868" y="3761509"/>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9" name="矩形 8"/>
          <p:cNvSpPr/>
          <p:nvPr/>
        </p:nvSpPr>
        <p:spPr>
          <a:xfrm>
            <a:off x="3951868" y="4158636"/>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0" name="矩形 9"/>
          <p:cNvSpPr/>
          <p:nvPr/>
        </p:nvSpPr>
        <p:spPr>
          <a:xfrm>
            <a:off x="3951868" y="4953697"/>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1" name="矩形 10"/>
          <p:cNvSpPr/>
          <p:nvPr/>
        </p:nvSpPr>
        <p:spPr>
          <a:xfrm>
            <a:off x="4654601" y="3760702"/>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2" name="矩形 11"/>
          <p:cNvSpPr/>
          <p:nvPr/>
        </p:nvSpPr>
        <p:spPr>
          <a:xfrm>
            <a:off x="4654601" y="4157829"/>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3" name="矩形 12"/>
          <p:cNvSpPr/>
          <p:nvPr/>
        </p:nvSpPr>
        <p:spPr>
          <a:xfrm>
            <a:off x="5357334" y="3759895"/>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4" name="矩形 13"/>
          <p:cNvSpPr/>
          <p:nvPr/>
        </p:nvSpPr>
        <p:spPr>
          <a:xfrm>
            <a:off x="5363063" y="4156415"/>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5" name="矩形 14"/>
          <p:cNvSpPr/>
          <p:nvPr/>
        </p:nvSpPr>
        <p:spPr>
          <a:xfrm>
            <a:off x="5363916" y="4559658"/>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16" name="矩形 15"/>
          <p:cNvSpPr/>
          <p:nvPr/>
        </p:nvSpPr>
        <p:spPr>
          <a:xfrm>
            <a:off x="5364767" y="4962901"/>
            <a:ext cx="702733" cy="397934"/>
          </a:xfrm>
          <a:prstGeom prst="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Query(1/7)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19</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1576893782"/>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strike="sngStrike" dirty="0" smtClean="0">
                          <a:solidFill>
                            <a:schemeClr val="tx1"/>
                          </a:solidFill>
                        </a:rPr>
                        <a:t>4</a:t>
                      </a:r>
                      <a:r>
                        <a:rPr lang="en-US" altLang="zh-TW" sz="2000" dirty="0" smtClean="0">
                          <a:solidFill>
                            <a:srgbClr val="FF0000"/>
                          </a:solidFill>
                        </a:rPr>
                        <a:t>6</a:t>
                      </a:r>
                      <a:endParaRPr lang="zh-TW" altLang="en-US" sz="2000" dirty="0">
                        <a:solidFill>
                          <a:srgbClr val="FF0000"/>
                        </a:solidFill>
                      </a:endParaRPr>
                    </a:p>
                  </a:txBody>
                  <a:tcPr anchor="ctr">
                    <a:solidFill>
                      <a:schemeClr val="bg1"/>
                    </a:solidFill>
                  </a:tcPr>
                </a:tc>
                <a:tc>
                  <a:txBody>
                    <a:bodyPr/>
                    <a:lstStyle/>
                    <a:p>
                      <a:pPr algn="ctr"/>
                      <a:r>
                        <a:rPr lang="en-US" altLang="zh-TW" sz="2000" strike="sngStrike" dirty="0" smtClean="0">
                          <a:solidFill>
                            <a:schemeClr val="tx1"/>
                          </a:solidFill>
                        </a:rPr>
                        <a:t>7</a:t>
                      </a:r>
                      <a:r>
                        <a:rPr lang="en-US" altLang="zh-TW" sz="2000" dirty="0" smtClean="0">
                          <a:solidFill>
                            <a:srgbClr val="FF0000"/>
                          </a:solidFill>
                        </a:rPr>
                        <a:t>9</a:t>
                      </a:r>
                      <a:endParaRPr lang="zh-TW" altLang="en-US" sz="2000" dirty="0">
                        <a:solidFill>
                          <a:srgbClr val="FF0000"/>
                        </a:solidFill>
                      </a:endParaRPr>
                    </a:p>
                  </a:txBody>
                  <a:tcPr anchor="ctr">
                    <a:solidFill>
                      <a:schemeClr val="bg1"/>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mtClean="0">
                          <a:solidFill>
                            <a:schemeClr val="tx1"/>
                          </a:solidFill>
                        </a:rPr>
                        <a:t>13</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trike="sngStrike" dirty="0" smtClean="0">
                          <a:solidFill>
                            <a:schemeClr val="tx1"/>
                          </a:solidFill>
                        </a:rPr>
                        <a:t>4</a:t>
                      </a:r>
                      <a:r>
                        <a:rPr lang="en-US" altLang="zh-TW" sz="2000" dirty="0" smtClean="0">
                          <a:solidFill>
                            <a:srgbClr val="FF0000"/>
                          </a:solidFill>
                        </a:rPr>
                        <a:t>6</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trike="sngStrike" dirty="0" smtClean="0">
                          <a:solidFill>
                            <a:schemeClr val="tx1"/>
                          </a:solidFill>
                        </a:rPr>
                        <a:t>24</a:t>
                      </a:r>
                      <a:r>
                        <a:rPr lang="en-US" altLang="zh-TW" sz="2000" dirty="0" smtClean="0">
                          <a:solidFill>
                            <a:srgbClr val="FF0000"/>
                          </a:solidFill>
                        </a:rPr>
                        <a:t>28</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trike="sngStrike" dirty="0" smtClean="0">
                          <a:solidFill>
                            <a:schemeClr val="tx1"/>
                          </a:solidFill>
                        </a:rPr>
                        <a:t>3</a:t>
                      </a:r>
                      <a:r>
                        <a:rPr lang="en-US" altLang="zh-TW" sz="2000" dirty="0" smtClean="0">
                          <a:solidFill>
                            <a:srgbClr val="FF0000"/>
                          </a:solidFill>
                        </a:rPr>
                        <a:t>5</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trike="sngStrike" dirty="0" smtClean="0">
                          <a:solidFill>
                            <a:schemeClr val="tx1"/>
                          </a:solidFill>
                        </a:rPr>
                        <a:t>35</a:t>
                      </a:r>
                      <a:r>
                        <a:rPr lang="en-US" altLang="zh-TW" sz="2000" dirty="0" smtClean="0">
                          <a:solidFill>
                            <a:srgbClr val="FF0000"/>
                          </a:solidFill>
                        </a:rPr>
                        <a:t>41</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18547370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Query(2/7)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20</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488118450"/>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strike="sngStrike" dirty="0" smtClean="0">
                          <a:solidFill>
                            <a:schemeClr val="tx1"/>
                          </a:solidFill>
                        </a:rPr>
                        <a:t>4</a:t>
                      </a:r>
                      <a:r>
                        <a:rPr lang="en-US" altLang="zh-TW" sz="2000" dirty="0" smtClean="0">
                          <a:solidFill>
                            <a:srgbClr val="FF0000"/>
                          </a:solidFill>
                        </a:rPr>
                        <a:t>6</a:t>
                      </a:r>
                      <a:endParaRPr lang="zh-TW" altLang="en-US" sz="2000" dirty="0">
                        <a:solidFill>
                          <a:srgbClr val="FF0000"/>
                        </a:solidFill>
                      </a:endParaRPr>
                    </a:p>
                  </a:txBody>
                  <a:tcPr anchor="ctr">
                    <a:solidFill>
                      <a:schemeClr val="bg1"/>
                    </a:solidFill>
                  </a:tcPr>
                </a:tc>
                <a:tc>
                  <a:txBody>
                    <a:bodyPr/>
                    <a:lstStyle/>
                    <a:p>
                      <a:pPr algn="ctr"/>
                      <a:r>
                        <a:rPr lang="en-US" altLang="zh-TW" sz="2000" strike="sngStrike" dirty="0" smtClean="0">
                          <a:solidFill>
                            <a:schemeClr val="tx1"/>
                          </a:solidFill>
                        </a:rPr>
                        <a:t>7</a:t>
                      </a:r>
                      <a:r>
                        <a:rPr lang="en-US" altLang="zh-TW" sz="2000" dirty="0" smtClean="0">
                          <a:solidFill>
                            <a:srgbClr val="FF0000"/>
                          </a:solidFill>
                        </a:rPr>
                        <a:t>9</a:t>
                      </a:r>
                      <a:endParaRPr lang="zh-TW" altLang="en-US" sz="2000" dirty="0">
                        <a:solidFill>
                          <a:srgbClr val="FF0000"/>
                        </a:solidFill>
                      </a:endParaRPr>
                    </a:p>
                  </a:txBody>
                  <a:tcPr anchor="ctr">
                    <a:solidFill>
                      <a:schemeClr val="bg1"/>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3432662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Query(3/7)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21</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3183611" y="5927614"/>
                <a:ext cx="2776787" cy="400110"/>
              </a:xfrm>
              <a:prstGeom prst="rect">
                <a:avLst/>
              </a:prstGeom>
              <a:noFill/>
            </p:spPr>
            <p:txBody>
              <a:bodyPr wrap="none" rtlCol="0">
                <a:spAutoFit/>
              </a:bodyPr>
              <a:lstStyle/>
              <a:p>
                <a:pPr algn="ctr"/>
                <a:r>
                  <a:rPr lang="en-US" altLang="zh-TW" sz="2000" dirty="0" smtClean="0"/>
                  <a:t>Initialization : </a:t>
                </a:r>
                <a14:m>
                  <m:oMath xmlns:m="http://schemas.openxmlformats.org/officeDocument/2006/math">
                    <m:r>
                      <a:rPr lang="en-US" altLang="zh-TW" sz="2000" i="1" dirty="0" smtClean="0">
                        <a:latin typeface="Cambria Math" panose="02040503050406030204" pitchFamily="18" charset="0"/>
                      </a:rPr>
                      <m:t>𝑂</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𝑛</m:t>
                    </m:r>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𝑡𝑖𝑚𝑒</m:t>
                    </m:r>
                  </m:oMath>
                </a14:m>
                <a:endParaRPr lang="en-US" altLang="zh-TW"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3183611" y="5927614"/>
                <a:ext cx="2776787" cy="400110"/>
              </a:xfrm>
              <a:prstGeom prst="rect">
                <a:avLst/>
              </a:prstGeom>
              <a:blipFill rotWithShape="0">
                <a:blip r:embed="rId2"/>
                <a:stretch>
                  <a:fillRect l="-1754" t="-7576" b="-25758"/>
                </a:stretch>
              </a:blipFill>
            </p:spPr>
            <p:txBody>
              <a:bodyPr/>
              <a:lstStyle/>
              <a:p>
                <a:r>
                  <a:rPr lang="zh-TW" altLang="en-US">
                    <a:noFill/>
                  </a:rPr>
                  <a:t> </a:t>
                </a:r>
              </a:p>
            </p:txBody>
          </p:sp>
        </mc:Fallback>
      </mc:AlternateContent>
      <p:graphicFrame>
        <p:nvGraphicFramePr>
          <p:cNvPr id="8" name="表格 7"/>
          <p:cNvGraphicFramePr>
            <a:graphicFrameLocks noGrp="1"/>
          </p:cNvGraphicFramePr>
          <p:nvPr>
            <p:extLst>
              <p:ext uri="{D42A27DB-BD31-4B8C-83A1-F6EECF244321}">
                <p14:modId xmlns:p14="http://schemas.microsoft.com/office/powerpoint/2010/main" val="326019966"/>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rgbClr val="FFFF00"/>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t>4</a:t>
                      </a:r>
                      <a:endParaRPr lang="zh-TW" altLang="en-US" sz="2000" dirty="0"/>
                    </a:p>
                  </a:txBody>
                  <a:tcPr anchor="ctr">
                    <a:solidFill>
                      <a:schemeClr val="bg1"/>
                    </a:solidFill>
                  </a:tcPr>
                </a:tc>
                <a:tc>
                  <a:txBody>
                    <a:bodyPr/>
                    <a:lstStyle/>
                    <a:p>
                      <a:pPr algn="ctr"/>
                      <a:r>
                        <a:rPr lang="en-US" altLang="zh-TW" sz="2000" dirty="0" smtClean="0"/>
                        <a:t>7</a:t>
                      </a:r>
                      <a:endParaRPr lang="zh-TW" altLang="en-US" sz="2000" dirty="0"/>
                    </a:p>
                  </a:txBody>
                  <a:tcPr anchor="ctr">
                    <a:solidFill>
                      <a:schemeClr val="bg1"/>
                    </a:solidFill>
                  </a:tcPr>
                </a:tc>
                <a:tc>
                  <a:txBody>
                    <a:bodyPr/>
                    <a:lstStyle/>
                    <a:p>
                      <a:pPr algn="ctr"/>
                      <a:r>
                        <a:rPr lang="en-US" altLang="zh-TW" sz="2000" dirty="0" smtClean="0"/>
                        <a:t>2</a:t>
                      </a:r>
                      <a:endParaRPr lang="zh-TW" altLang="en-US" sz="2000" dirty="0"/>
                    </a:p>
                  </a:txBody>
                  <a:tcPr anchor="ctr">
                    <a:solidFill>
                      <a:schemeClr val="bg1"/>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rgbClr val="FF0000"/>
                          </a:solidFill>
                        </a:rPr>
                        <a:t>[1,8]</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rgbClr val="FF0000"/>
                          </a:solidFill>
                        </a:rPr>
                        <a:t>[1,4]</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rgbClr val="FF0000"/>
                          </a:solidFill>
                        </a:rPr>
                        <a:t>[3,3]</a:t>
                      </a:r>
                      <a:endParaRPr lang="zh-TW" altLang="en-US" sz="2000" dirty="0">
                        <a:solidFill>
                          <a:srgbClr val="FF0000"/>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8570035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Query(4/7)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22</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3183611" y="5927614"/>
                <a:ext cx="2776787" cy="400110"/>
              </a:xfrm>
              <a:prstGeom prst="rect">
                <a:avLst/>
              </a:prstGeom>
              <a:noFill/>
            </p:spPr>
            <p:txBody>
              <a:bodyPr wrap="none" rtlCol="0">
                <a:spAutoFit/>
              </a:bodyPr>
              <a:lstStyle/>
              <a:p>
                <a:pPr algn="ctr"/>
                <a:r>
                  <a:rPr lang="en-US" altLang="zh-TW" sz="2000" dirty="0" smtClean="0"/>
                  <a:t>Initialization : </a:t>
                </a:r>
                <a14:m>
                  <m:oMath xmlns:m="http://schemas.openxmlformats.org/officeDocument/2006/math">
                    <m:r>
                      <a:rPr lang="en-US" altLang="zh-TW" sz="2000" i="1" dirty="0" smtClean="0">
                        <a:latin typeface="Cambria Math" panose="02040503050406030204" pitchFamily="18" charset="0"/>
                      </a:rPr>
                      <m:t>𝑂</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𝑛</m:t>
                    </m:r>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𝑡𝑖𝑚𝑒</m:t>
                    </m:r>
                  </m:oMath>
                </a14:m>
                <a:endParaRPr lang="en-US" altLang="zh-TW"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3183611" y="5927614"/>
                <a:ext cx="2776787" cy="400110"/>
              </a:xfrm>
              <a:prstGeom prst="rect">
                <a:avLst/>
              </a:prstGeom>
              <a:blipFill rotWithShape="0">
                <a:blip r:embed="rId2"/>
                <a:stretch>
                  <a:fillRect l="-1754" t="-7576" b="-25758"/>
                </a:stretch>
              </a:blipFill>
            </p:spPr>
            <p:txBody>
              <a:bodyPr/>
              <a:lstStyle/>
              <a:p>
                <a:r>
                  <a:rPr lang="zh-TW" altLang="en-US">
                    <a:noFill/>
                  </a:rPr>
                  <a:t> </a:t>
                </a:r>
              </a:p>
            </p:txBody>
          </p:sp>
        </mc:Fallback>
      </mc:AlternateContent>
      <p:graphicFrame>
        <p:nvGraphicFramePr>
          <p:cNvPr id="8" name="表格 7"/>
          <p:cNvGraphicFramePr>
            <a:graphicFrameLocks noGrp="1"/>
          </p:cNvGraphicFramePr>
          <p:nvPr>
            <p:extLst>
              <p:ext uri="{D42A27DB-BD31-4B8C-83A1-F6EECF244321}">
                <p14:modId xmlns:p14="http://schemas.microsoft.com/office/powerpoint/2010/main" val="953733976"/>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rgbClr val="FFFF00"/>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t>4</a:t>
                      </a:r>
                      <a:endParaRPr lang="zh-TW" altLang="en-US" sz="2000" dirty="0"/>
                    </a:p>
                  </a:txBody>
                  <a:tcPr anchor="ctr">
                    <a:solidFill>
                      <a:schemeClr val="bg1"/>
                    </a:solidFill>
                  </a:tcPr>
                </a:tc>
                <a:tc>
                  <a:txBody>
                    <a:bodyPr/>
                    <a:lstStyle/>
                    <a:p>
                      <a:pPr algn="ctr"/>
                      <a:r>
                        <a:rPr lang="en-US" altLang="zh-TW" sz="2000" dirty="0" smtClean="0"/>
                        <a:t>7</a:t>
                      </a:r>
                      <a:endParaRPr lang="zh-TW" altLang="en-US" sz="2000" dirty="0"/>
                    </a:p>
                  </a:txBody>
                  <a:tcPr anchor="ctr">
                    <a:solidFill>
                      <a:schemeClr val="bg1"/>
                    </a:solidFill>
                  </a:tcPr>
                </a:tc>
                <a:tc>
                  <a:txBody>
                    <a:bodyPr/>
                    <a:lstStyle/>
                    <a:p>
                      <a:pPr algn="ctr"/>
                      <a:r>
                        <a:rPr lang="en-US" altLang="zh-TW" sz="2000" dirty="0" smtClean="0"/>
                        <a:t>2</a:t>
                      </a:r>
                      <a:endParaRPr lang="zh-TW" altLang="en-US" sz="2000" dirty="0"/>
                    </a:p>
                  </a:txBody>
                  <a:tcPr anchor="ctr">
                    <a:solidFill>
                      <a:schemeClr val="bg1"/>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strike="sngStrike" dirty="0" smtClean="0">
                          <a:solidFill>
                            <a:schemeClr val="tx1"/>
                          </a:solidFill>
                        </a:rPr>
                        <a:t>2</a:t>
                      </a: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rgbClr val="FFFF00"/>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rgbClr val="FF0000"/>
                          </a:solidFill>
                        </a:rPr>
                        <a:t>[1,8]</a:t>
                      </a:r>
                      <a:endParaRPr lang="zh-TW" altLang="en-US" sz="2000"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rgbClr val="FF0000"/>
                          </a:solidFill>
                        </a:rPr>
                        <a:t>[5,6]</a:t>
                      </a:r>
                      <a:endParaRPr lang="zh-TW" altLang="en-US" sz="2000" dirty="0">
                        <a:solidFill>
                          <a:srgbClr val="FF0000"/>
                        </a:solidFill>
                      </a:endParaRPr>
                    </a:p>
                  </a:txBody>
                  <a:tcPr anchor="ctr">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14092501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Query(5/7)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23</a:t>
            </a:fld>
            <a:endParaRPr lang="zh-TW" altLang="en-US"/>
          </a:p>
        </p:txBody>
      </p:sp>
      <p:sp>
        <p:nvSpPr>
          <p:cNvPr id="6" name="文字方塊 5"/>
          <p:cNvSpPr txBox="1"/>
          <p:nvPr/>
        </p:nvSpPr>
        <p:spPr>
          <a:xfrm>
            <a:off x="3115137" y="5927614"/>
            <a:ext cx="2913746" cy="707886"/>
          </a:xfrm>
          <a:prstGeom prst="rect">
            <a:avLst/>
          </a:prstGeom>
          <a:noFill/>
        </p:spPr>
        <p:txBody>
          <a:bodyPr wrap="none" rtlCol="0">
            <a:spAutoFit/>
          </a:bodyPr>
          <a:lstStyle/>
          <a:p>
            <a:pPr algn="ctr"/>
            <a:r>
              <a:rPr lang="en-US" altLang="zh-TW" sz="2000" dirty="0" smtClean="0"/>
              <a:t>Query [5] = </a:t>
            </a:r>
            <a:r>
              <a:rPr lang="en-US" altLang="zh-TW" sz="2000" dirty="0" smtClean="0">
                <a:solidFill>
                  <a:srgbClr val="FF0000"/>
                </a:solidFill>
              </a:rPr>
              <a:t>2</a:t>
            </a:r>
            <a:r>
              <a:rPr lang="en-US" altLang="zh-TW" sz="2000" dirty="0" smtClean="0"/>
              <a:t> + Range[1,5]</a:t>
            </a:r>
          </a:p>
          <a:p>
            <a:pPr algn="ctr"/>
            <a:r>
              <a:rPr lang="en-US" altLang="zh-TW" sz="2000" dirty="0" smtClean="0"/>
              <a:t>= 2 + BIT[4] + BIT[5] = 4</a:t>
            </a:r>
            <a:endParaRPr lang="en-US" altLang="zh-TW" sz="2000" dirty="0"/>
          </a:p>
        </p:txBody>
      </p:sp>
      <p:graphicFrame>
        <p:nvGraphicFramePr>
          <p:cNvPr id="8" name="表格 7"/>
          <p:cNvGraphicFramePr>
            <a:graphicFrameLocks noGrp="1"/>
          </p:cNvGraphicFramePr>
          <p:nvPr>
            <p:extLst>
              <p:ext uri="{D42A27DB-BD31-4B8C-83A1-F6EECF244321}">
                <p14:modId xmlns:p14="http://schemas.microsoft.com/office/powerpoint/2010/main" val="1494335980"/>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t>4</a:t>
                      </a:r>
                      <a:endParaRPr lang="zh-TW" altLang="en-US" sz="2000" dirty="0"/>
                    </a:p>
                  </a:txBody>
                  <a:tcPr anchor="ctr">
                    <a:solidFill>
                      <a:schemeClr val="bg1"/>
                    </a:solidFill>
                  </a:tcPr>
                </a:tc>
                <a:tc>
                  <a:txBody>
                    <a:bodyPr/>
                    <a:lstStyle/>
                    <a:p>
                      <a:pPr algn="ctr"/>
                      <a:r>
                        <a:rPr lang="en-US" altLang="zh-TW" sz="2000" dirty="0" smtClean="0"/>
                        <a:t>7</a:t>
                      </a:r>
                      <a:endParaRPr lang="zh-TW" altLang="en-US" sz="2000" dirty="0"/>
                    </a:p>
                  </a:txBody>
                  <a:tcPr anchor="ctr">
                    <a:solidFill>
                      <a:schemeClr val="bg1"/>
                    </a:solidFill>
                  </a:tcPr>
                </a:tc>
                <a:tc>
                  <a:txBody>
                    <a:bodyPr/>
                    <a:lstStyle/>
                    <a:p>
                      <a:pPr algn="ctr"/>
                      <a:r>
                        <a:rPr lang="en-US" altLang="zh-TW" sz="2000" dirty="0" smtClean="0">
                          <a:solidFill>
                            <a:srgbClr val="FF0000"/>
                          </a:solidFill>
                        </a:rPr>
                        <a:t>2</a:t>
                      </a:r>
                      <a:endParaRPr lang="zh-TW" altLang="en-US" sz="2000" dirty="0">
                        <a:solidFill>
                          <a:srgbClr val="FF0000"/>
                        </a:solidFill>
                      </a:endParaRPr>
                    </a:p>
                  </a:txBody>
                  <a:tcPr anchor="ctr">
                    <a:solidFill>
                      <a:schemeClr val="bg1"/>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rgbClr val="FF0000"/>
                          </a:solidFill>
                        </a:rPr>
                        <a:t>2</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rgbClr val="FF0000"/>
                          </a:solidFill>
                        </a:rPr>
                        <a:t>0</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rgbClr val="FFFF00"/>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27527009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Query(6/7)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24</a:t>
            </a:fld>
            <a:endParaRPr lang="zh-TW" altLang="en-US"/>
          </a:p>
        </p:txBody>
      </p:sp>
      <p:sp>
        <p:nvSpPr>
          <p:cNvPr id="6" name="文字方塊 5"/>
          <p:cNvSpPr txBox="1"/>
          <p:nvPr/>
        </p:nvSpPr>
        <p:spPr>
          <a:xfrm>
            <a:off x="3115137" y="5927614"/>
            <a:ext cx="2913746" cy="707886"/>
          </a:xfrm>
          <a:prstGeom prst="rect">
            <a:avLst/>
          </a:prstGeom>
          <a:noFill/>
        </p:spPr>
        <p:txBody>
          <a:bodyPr wrap="none" rtlCol="0">
            <a:spAutoFit/>
          </a:bodyPr>
          <a:lstStyle/>
          <a:p>
            <a:pPr algn="ctr"/>
            <a:r>
              <a:rPr lang="en-US" altLang="zh-TW" sz="2000" dirty="0" smtClean="0"/>
              <a:t>Query [6] = </a:t>
            </a:r>
            <a:r>
              <a:rPr lang="en-US" altLang="zh-TW" sz="2000" dirty="0" smtClean="0">
                <a:solidFill>
                  <a:srgbClr val="FF0000"/>
                </a:solidFill>
              </a:rPr>
              <a:t>1</a:t>
            </a:r>
            <a:r>
              <a:rPr lang="en-US" altLang="zh-TW" sz="2000" dirty="0" smtClean="0"/>
              <a:t> + Range[1,6]</a:t>
            </a:r>
          </a:p>
          <a:p>
            <a:pPr algn="ctr"/>
            <a:r>
              <a:rPr lang="en-US" altLang="zh-TW" sz="2000" dirty="0" smtClean="0"/>
              <a:t>= 1 + BIT[4] + BIT[6] = 1</a:t>
            </a:r>
            <a:endParaRPr lang="en-US" altLang="zh-TW" sz="2000" dirty="0"/>
          </a:p>
        </p:txBody>
      </p:sp>
      <p:graphicFrame>
        <p:nvGraphicFramePr>
          <p:cNvPr id="8" name="表格 7"/>
          <p:cNvGraphicFramePr>
            <a:graphicFrameLocks noGrp="1"/>
          </p:cNvGraphicFramePr>
          <p:nvPr>
            <p:extLst>
              <p:ext uri="{D42A27DB-BD31-4B8C-83A1-F6EECF244321}">
                <p14:modId xmlns:p14="http://schemas.microsoft.com/office/powerpoint/2010/main" val="3831088078"/>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t>4</a:t>
                      </a:r>
                      <a:endParaRPr lang="zh-TW" altLang="en-US" sz="2000" dirty="0"/>
                    </a:p>
                  </a:txBody>
                  <a:tcPr anchor="ctr">
                    <a:solidFill>
                      <a:schemeClr val="bg1"/>
                    </a:solidFill>
                  </a:tcPr>
                </a:tc>
                <a:tc>
                  <a:txBody>
                    <a:bodyPr/>
                    <a:lstStyle/>
                    <a:p>
                      <a:pPr algn="ctr"/>
                      <a:r>
                        <a:rPr lang="en-US" altLang="zh-TW" sz="2000" dirty="0" smtClean="0"/>
                        <a:t>7</a:t>
                      </a:r>
                      <a:endParaRPr lang="zh-TW" altLang="en-US" sz="2000" dirty="0"/>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rgbClr val="FF0000"/>
                          </a:solidFill>
                        </a:rPr>
                        <a:t>1</a:t>
                      </a:r>
                      <a:endParaRPr lang="zh-TW" altLang="en-US" sz="2000" dirty="0">
                        <a:solidFill>
                          <a:srgbClr val="FF0000"/>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rgbClr val="FF0000"/>
                          </a:solidFill>
                        </a:rPr>
                        <a:t>2</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rgbClr val="FF0000"/>
                          </a:solidFill>
                        </a:rPr>
                        <a:t>-2</a:t>
                      </a:r>
                      <a:endParaRPr lang="zh-TW" altLang="en-US" sz="2000" dirty="0">
                        <a:solidFill>
                          <a:srgbClr val="FF0000"/>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rgbClr val="FFFF00"/>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4399213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Point Query(7/7)</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25</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2790629" y="5927614"/>
                <a:ext cx="3562771" cy="400110"/>
              </a:xfrm>
              <a:prstGeom prst="rect">
                <a:avLst/>
              </a:prstGeom>
              <a:noFill/>
            </p:spPr>
            <p:txBody>
              <a:bodyPr wrap="none" rtlCol="0">
                <a:spAutoFit/>
              </a:bodyPr>
              <a:lstStyle/>
              <a:p>
                <a:pPr algn="ctr"/>
                <a:r>
                  <a:rPr lang="en-US" altLang="zh-TW" sz="2000" dirty="0" smtClean="0"/>
                  <a:t>Both Operation : </a:t>
                </a:r>
                <a14:m>
                  <m:oMath xmlns:m="http://schemas.openxmlformats.org/officeDocument/2006/math">
                    <m:r>
                      <a:rPr lang="en-US" altLang="zh-TW" sz="2000" i="1" dirty="0" smtClean="0">
                        <a:latin typeface="Cambria Math" panose="02040503050406030204" pitchFamily="18" charset="0"/>
                      </a:rPr>
                      <m:t>𝑂</m:t>
                    </m:r>
                    <m:r>
                      <a:rPr lang="en-US" altLang="zh-TW" sz="2000" i="1" dirty="0" smtClean="0">
                        <a:latin typeface="Cambria Math" panose="02040503050406030204" pitchFamily="18" charset="0"/>
                      </a:rPr>
                      <m:t>(</m:t>
                    </m:r>
                    <m:func>
                      <m:funcPr>
                        <m:ctrlPr>
                          <a:rPr lang="en-US" altLang="zh-TW" sz="2000" i="1" dirty="0" smtClean="0">
                            <a:latin typeface="Cambria Math" panose="02040503050406030204" pitchFamily="18" charset="0"/>
                          </a:rPr>
                        </m:ctrlPr>
                      </m:funcPr>
                      <m:fName>
                        <m:r>
                          <m:rPr>
                            <m:sty m:val="p"/>
                          </m:rPr>
                          <a:rPr lang="en-US" altLang="zh-TW" sz="2000" i="0" dirty="0" smtClean="0">
                            <a:latin typeface="Cambria Math" panose="02040503050406030204" pitchFamily="18" charset="0"/>
                          </a:rPr>
                          <m:t>log</m:t>
                        </m:r>
                      </m:fName>
                      <m:e>
                        <m:r>
                          <a:rPr lang="en-US" altLang="zh-TW" sz="2000" b="0" i="1" dirty="0" smtClean="0">
                            <a:latin typeface="Cambria Math" panose="02040503050406030204" pitchFamily="18" charset="0"/>
                          </a:rPr>
                          <m:t>𝑛</m:t>
                        </m:r>
                      </m:e>
                    </m:func>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𝑡𝑖𝑚𝑒</m:t>
                    </m:r>
                  </m:oMath>
                </a14:m>
                <a:endParaRPr lang="en-US" altLang="zh-TW"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790629" y="5927614"/>
                <a:ext cx="3562771" cy="400110"/>
              </a:xfrm>
              <a:prstGeom prst="rect">
                <a:avLst/>
              </a:prstGeom>
              <a:blipFill rotWithShape="0">
                <a:blip r:embed="rId2"/>
                <a:stretch>
                  <a:fillRect l="-342" t="-7576" b="-25758"/>
                </a:stretch>
              </a:blipFill>
            </p:spPr>
            <p:txBody>
              <a:bodyPr/>
              <a:lstStyle/>
              <a:p>
                <a:r>
                  <a:rPr lang="zh-TW" altLang="en-US">
                    <a:noFill/>
                  </a:rPr>
                  <a:t> </a:t>
                </a:r>
              </a:p>
            </p:txBody>
          </p:sp>
        </mc:Fallback>
      </mc:AlternateContent>
      <p:graphicFrame>
        <p:nvGraphicFramePr>
          <p:cNvPr id="8" name="表格 7"/>
          <p:cNvGraphicFramePr>
            <a:graphicFrameLocks noGrp="1"/>
          </p:cNvGraphicFramePr>
          <p:nvPr>
            <p:extLst>
              <p:ext uri="{D42A27DB-BD31-4B8C-83A1-F6EECF244321}">
                <p14:modId xmlns:p14="http://schemas.microsoft.com/office/powerpoint/2010/main" val="382570807"/>
              </p:ext>
            </p:extLst>
          </p:nvPr>
        </p:nvGraphicFramePr>
        <p:xfrm>
          <a:off x="927100" y="1783240"/>
          <a:ext cx="7289796" cy="356616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t>4</a:t>
                      </a:r>
                      <a:endParaRPr lang="zh-TW" altLang="en-US" sz="2000" dirty="0"/>
                    </a:p>
                  </a:txBody>
                  <a:tcPr anchor="ctr">
                    <a:solidFill>
                      <a:schemeClr val="bg1"/>
                    </a:solidFill>
                  </a:tcPr>
                </a:tc>
                <a:tc>
                  <a:txBody>
                    <a:bodyPr/>
                    <a:lstStyle/>
                    <a:p>
                      <a:pPr algn="ctr"/>
                      <a:r>
                        <a:rPr lang="en-US" altLang="zh-TW" sz="2000" dirty="0" smtClean="0"/>
                        <a:t>7</a:t>
                      </a:r>
                      <a:endParaRPr lang="zh-TW" altLang="en-US" sz="2000" dirty="0"/>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rgbClr val="FF0000"/>
                          </a:solidFill>
                        </a:rPr>
                        <a:t>1</a:t>
                      </a:r>
                      <a:endParaRPr lang="zh-TW" altLang="en-US" sz="2000" dirty="0">
                        <a:solidFill>
                          <a:srgbClr val="FF0000"/>
                        </a:solidFill>
                      </a:endParaRPr>
                    </a:p>
                  </a:txBody>
                  <a:tcPr anchor="ctr">
                    <a:solidFill>
                      <a:schemeClr val="bg1"/>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a:t>
                      </a:r>
                      <a:endParaRPr lang="zh-TW" altLang="en-US" sz="20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TW" sz="2000" dirty="0" smtClean="0"/>
                        <a:t>Binary Code</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smtClean="0">
                          <a:solidFill>
                            <a:schemeClr val="tx1"/>
                          </a:solidFill>
                        </a:rPr>
                        <a:t>0001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0011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0101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0111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dirty="0" smtClean="0">
                          <a:solidFill>
                            <a:schemeClr val="tx1"/>
                          </a:solidFill>
                        </a:rPr>
                        <a:t>1000</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rgbClr val="FFFF00"/>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4248244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Range Update</a:t>
            </a:r>
            <a:br>
              <a:rPr lang="en-US" altLang="zh-TW" dirty="0" smtClean="0">
                <a:latin typeface="Times New Roman" panose="02020603050405020304" pitchFamily="18" charset="0"/>
                <a:cs typeface="Times New Roman" panose="02020603050405020304" pitchFamily="18" charset="0"/>
              </a:rPr>
            </a:br>
            <a:r>
              <a:rPr lang="en-US" altLang="zh-TW" dirty="0" smtClean="0">
                <a:latin typeface="Times New Roman" panose="02020603050405020304" pitchFamily="18" charset="0"/>
                <a:cs typeface="Times New Roman" panose="02020603050405020304" pitchFamily="18" charset="0"/>
              </a:rPr>
              <a:t>&amp;</a:t>
            </a:r>
            <a:br>
              <a:rPr lang="en-US" altLang="zh-TW" dirty="0" smtClean="0">
                <a:latin typeface="Times New Roman" panose="02020603050405020304" pitchFamily="18" charset="0"/>
                <a:cs typeface="Times New Roman" panose="02020603050405020304" pitchFamily="18" charset="0"/>
              </a:rPr>
            </a:br>
            <a:r>
              <a:rPr lang="en-US" altLang="zh-TW" dirty="0" smtClean="0">
                <a:latin typeface="Times New Roman" panose="02020603050405020304" pitchFamily="18" charset="0"/>
                <a:cs typeface="Times New Roman" panose="02020603050405020304" pitchFamily="18" charset="0"/>
              </a:rPr>
              <a:t>Range Query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26</a:t>
            </a:fld>
            <a:endParaRPr lang="zh-TW" altLang="en-US"/>
          </a:p>
        </p:txBody>
      </p:sp>
    </p:spTree>
    <p:extLst>
      <p:ext uri="{BB962C8B-B14F-4D97-AF65-F5344CB8AC3E}">
        <p14:creationId xmlns:p14="http://schemas.microsoft.com/office/powerpoint/2010/main" val="33248607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Range Query(1/6)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27</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136079945"/>
              </p:ext>
            </p:extLst>
          </p:nvPr>
        </p:nvGraphicFramePr>
        <p:xfrm>
          <a:off x="927100" y="1783240"/>
          <a:ext cx="7289796" cy="316992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t>7</a:t>
                      </a:r>
                      <a:r>
                        <a:rPr lang="en-US" altLang="zh-TW" sz="2000" dirty="0" smtClean="0">
                          <a:solidFill>
                            <a:srgbClr val="FF0000"/>
                          </a:solidFill>
                        </a:rPr>
                        <a:t>9</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solidFill>
                      <a:schemeClr val="bg1">
                        <a:lumMod val="75000"/>
                      </a:schemeClr>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chemeClr val="bg1"/>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chemeClr val="bg1"/>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9740803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Range Query(2/6)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28</a:t>
            </a:fld>
            <a:endParaRPr lang="zh-TW" altLang="en-US"/>
          </a:p>
        </p:txBody>
      </p:sp>
      <p:cxnSp>
        <p:nvCxnSpPr>
          <p:cNvPr id="5" name="直線接點 4"/>
          <p:cNvCxnSpPr/>
          <p:nvPr/>
        </p:nvCxnSpPr>
        <p:spPr>
          <a:xfrm flipV="1">
            <a:off x="1234068" y="2995961"/>
            <a:ext cx="5991922" cy="7434"/>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3337933" y="2665141"/>
            <a:ext cx="0" cy="67650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5140713" y="2665141"/>
            <a:ext cx="0" cy="67650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3190296" y="2158659"/>
            <a:ext cx="298480"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a</a:t>
            </a:r>
            <a:endParaRPr lang="zh-TW" altLang="en-US" sz="2000" dirty="0">
              <a:latin typeface="Times New Roman" panose="02020603050405020304" pitchFamily="18" charset="0"/>
              <a:cs typeface="Times New Roman" panose="02020603050405020304" pitchFamily="18" charset="0"/>
            </a:endParaRPr>
          </a:p>
        </p:txBody>
      </p:sp>
      <p:sp>
        <p:nvSpPr>
          <p:cNvPr id="11" name="文字方塊 10"/>
          <p:cNvSpPr txBox="1"/>
          <p:nvPr/>
        </p:nvSpPr>
        <p:spPr>
          <a:xfrm>
            <a:off x="4984260" y="2179436"/>
            <a:ext cx="312906" cy="40011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b</a:t>
            </a:r>
            <a:endParaRPr lang="zh-TW" altLang="en-US" sz="2000" dirty="0">
              <a:latin typeface="Times New Roman" panose="02020603050405020304" pitchFamily="18" charset="0"/>
              <a:cs typeface="Times New Roman" panose="02020603050405020304" pitchFamily="18" charset="0"/>
            </a:endParaRPr>
          </a:p>
        </p:txBody>
      </p:sp>
      <p:sp>
        <p:nvSpPr>
          <p:cNvPr id="12" name="文字方塊 11"/>
          <p:cNvSpPr txBox="1"/>
          <p:nvPr/>
        </p:nvSpPr>
        <p:spPr>
          <a:xfrm>
            <a:off x="2136761" y="2582120"/>
            <a:ext cx="377026"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p:txBody>
      </p:sp>
      <p:sp>
        <p:nvSpPr>
          <p:cNvPr id="13" name="文字方塊 12"/>
          <p:cNvSpPr txBox="1"/>
          <p:nvPr/>
        </p:nvSpPr>
        <p:spPr>
          <a:xfrm>
            <a:off x="4192059" y="2588986"/>
            <a:ext cx="377026"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p:txBody>
      </p:sp>
      <p:sp>
        <p:nvSpPr>
          <p:cNvPr id="14" name="文字方塊 13"/>
          <p:cNvSpPr txBox="1"/>
          <p:nvPr/>
        </p:nvSpPr>
        <p:spPr>
          <a:xfrm>
            <a:off x="6371864" y="2595851"/>
            <a:ext cx="377026" cy="40011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3</a:t>
            </a:r>
            <a:r>
              <a:rPr lang="en-US" altLang="zh-TW" sz="2000" dirty="0" smtClean="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p:sp>
        <p:nvSpPr>
          <p:cNvPr id="15" name="文字方塊 14"/>
          <p:cNvSpPr txBox="1"/>
          <p:nvPr/>
        </p:nvSpPr>
        <p:spPr>
          <a:xfrm>
            <a:off x="2317346" y="4646921"/>
            <a:ext cx="4126451" cy="1938992"/>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Update v to [</a:t>
            </a:r>
            <a:r>
              <a:rPr lang="en-US" altLang="zh-TW" sz="2000" dirty="0" err="1" smtClean="0">
                <a:latin typeface="Times New Roman" panose="02020603050405020304" pitchFamily="18" charset="0"/>
                <a:cs typeface="Times New Roman" panose="02020603050405020304" pitchFamily="18" charset="0"/>
              </a:rPr>
              <a:t>a,b</a:t>
            </a:r>
            <a:r>
              <a:rPr lang="en-US" altLang="zh-TW" sz="2000" dirty="0" smtClean="0">
                <a:latin typeface="Times New Roman" panose="02020603050405020304" pitchFamily="18" charset="0"/>
                <a:cs typeface="Times New Roman" panose="02020603050405020304" pitchFamily="18" charset="0"/>
              </a:rPr>
              <a:t>] and query range[1,p]</a:t>
            </a: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Case 1. 0</a:t>
            </a:r>
          </a:p>
          <a:p>
            <a:r>
              <a:rPr lang="en-US" altLang="zh-TW" sz="2000" dirty="0" smtClean="0">
                <a:latin typeface="Times New Roman" panose="02020603050405020304" pitchFamily="18" charset="0"/>
                <a:cs typeface="Times New Roman" panose="02020603050405020304" pitchFamily="18" charset="0"/>
              </a:rPr>
              <a:t>Case 2. v*(p-(a-1)) = </a:t>
            </a:r>
            <a:r>
              <a:rPr lang="en-US" altLang="zh-TW" sz="2000" dirty="0" smtClean="0">
                <a:solidFill>
                  <a:srgbClr val="00B050"/>
                </a:solidFill>
                <a:latin typeface="Times New Roman" panose="02020603050405020304" pitchFamily="18" charset="0"/>
                <a:cs typeface="Times New Roman" panose="02020603050405020304" pitchFamily="18" charset="0"/>
              </a:rPr>
              <a:t>v*p</a:t>
            </a:r>
            <a:r>
              <a:rPr lang="en-US" altLang="zh-TW" sz="2000" dirty="0" smtClean="0">
                <a:solidFill>
                  <a:schemeClr val="accent5"/>
                </a:solidFill>
                <a:latin typeface="Times New Roman" panose="02020603050405020304" pitchFamily="18" charset="0"/>
                <a:cs typeface="Times New Roman" panose="02020603050405020304" pitchFamily="18" charset="0"/>
              </a:rPr>
              <a:t>-v*(a-1)</a:t>
            </a:r>
          </a:p>
          <a:p>
            <a:r>
              <a:rPr lang="en-US" altLang="zh-TW" sz="2000" dirty="0" smtClean="0">
                <a:latin typeface="Times New Roman" panose="02020603050405020304" pitchFamily="18" charset="0"/>
                <a:cs typeface="Times New Roman" panose="02020603050405020304" pitchFamily="18" charset="0"/>
              </a:rPr>
              <a:t>Case 3. v*(b-(a-1)) = </a:t>
            </a:r>
            <a:r>
              <a:rPr lang="en-US" altLang="zh-TW" sz="2000" dirty="0" smtClean="0">
                <a:solidFill>
                  <a:schemeClr val="accent5"/>
                </a:solidFill>
                <a:latin typeface="Times New Roman" panose="02020603050405020304" pitchFamily="18" charset="0"/>
                <a:cs typeface="Times New Roman" panose="02020603050405020304" pitchFamily="18" charset="0"/>
              </a:rPr>
              <a:t>v*b-v*(a-1)</a:t>
            </a:r>
          </a:p>
          <a:p>
            <a:endParaRPr lang="en-US" altLang="zh-TW" sz="2000" dirty="0" smtClean="0">
              <a:latin typeface="Times New Roman" panose="02020603050405020304" pitchFamily="18" charset="0"/>
              <a:cs typeface="Times New Roman" panose="02020603050405020304" pitchFamily="18" charset="0"/>
            </a:endParaRPr>
          </a:p>
        </p:txBody>
      </p:sp>
      <p:cxnSp>
        <p:nvCxnSpPr>
          <p:cNvPr id="16" name="直線接點 15"/>
          <p:cNvCxnSpPr/>
          <p:nvPr/>
        </p:nvCxnSpPr>
        <p:spPr>
          <a:xfrm>
            <a:off x="3271024" y="3507059"/>
            <a:ext cx="3954966"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7328579" y="3307004"/>
            <a:ext cx="938077" cy="400110"/>
          </a:xfrm>
          <a:prstGeom prst="rect">
            <a:avLst/>
          </a:prstGeom>
          <a:noFill/>
        </p:spPr>
        <p:txBody>
          <a:bodyPr wrap="none" rtlCol="0">
            <a:spAutoFit/>
          </a:bodyPr>
          <a:lstStyle/>
          <a:p>
            <a:r>
              <a:rPr lang="en-US" altLang="zh-TW" sz="2000" dirty="0">
                <a:solidFill>
                  <a:schemeClr val="accent5"/>
                </a:solidFill>
                <a:latin typeface="Times New Roman" panose="02020603050405020304" pitchFamily="18" charset="0"/>
                <a:cs typeface="Times New Roman" panose="02020603050405020304" pitchFamily="18" charset="0"/>
              </a:rPr>
              <a:t>v</a:t>
            </a:r>
            <a:r>
              <a:rPr lang="en-US" altLang="zh-TW" sz="2000" dirty="0" smtClean="0">
                <a:solidFill>
                  <a:schemeClr val="accent5"/>
                </a:solidFill>
                <a:latin typeface="Times New Roman" panose="02020603050405020304" pitchFamily="18" charset="0"/>
                <a:cs typeface="Times New Roman" panose="02020603050405020304" pitchFamily="18" charset="0"/>
              </a:rPr>
              <a:t>*(a-1)</a:t>
            </a:r>
            <a:endParaRPr lang="zh-TW" altLang="en-US" sz="2000" dirty="0">
              <a:solidFill>
                <a:schemeClr val="accent5"/>
              </a:solidFill>
              <a:latin typeface="Times New Roman" panose="02020603050405020304" pitchFamily="18" charset="0"/>
              <a:cs typeface="Times New Roman" panose="02020603050405020304" pitchFamily="18" charset="0"/>
            </a:endParaRPr>
          </a:p>
        </p:txBody>
      </p:sp>
      <p:cxnSp>
        <p:nvCxnSpPr>
          <p:cNvPr id="19" name="直線接點 18"/>
          <p:cNvCxnSpPr/>
          <p:nvPr/>
        </p:nvCxnSpPr>
        <p:spPr>
          <a:xfrm>
            <a:off x="5163015" y="3809360"/>
            <a:ext cx="2062975" cy="8973"/>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7328579" y="3609305"/>
            <a:ext cx="654346" cy="400110"/>
          </a:xfrm>
          <a:prstGeom prst="rect">
            <a:avLst/>
          </a:prstGeom>
          <a:noFill/>
        </p:spPr>
        <p:txBody>
          <a:bodyPr wrap="none" rtlCol="0">
            <a:spAutoFit/>
          </a:bodyPr>
          <a:lstStyle/>
          <a:p>
            <a:r>
              <a:rPr lang="en-US" altLang="zh-TW" sz="2000" dirty="0" smtClean="0">
                <a:solidFill>
                  <a:schemeClr val="accent5"/>
                </a:solidFill>
                <a:latin typeface="Times New Roman" panose="02020603050405020304" pitchFamily="18" charset="0"/>
                <a:cs typeface="Times New Roman" panose="02020603050405020304" pitchFamily="18" charset="0"/>
              </a:rPr>
              <a:t>-v*b</a:t>
            </a:r>
            <a:endParaRPr lang="zh-TW" altLang="en-US" sz="2000" dirty="0">
              <a:solidFill>
                <a:schemeClr val="accent5"/>
              </a:solidFill>
              <a:latin typeface="Times New Roman" panose="02020603050405020304" pitchFamily="18" charset="0"/>
              <a:cs typeface="Times New Roman" panose="02020603050405020304" pitchFamily="18" charset="0"/>
            </a:endParaRPr>
          </a:p>
        </p:txBody>
      </p:sp>
      <p:cxnSp>
        <p:nvCxnSpPr>
          <p:cNvPr id="26" name="直線接點 25"/>
          <p:cNvCxnSpPr/>
          <p:nvPr/>
        </p:nvCxnSpPr>
        <p:spPr>
          <a:xfrm>
            <a:off x="3271024" y="4142678"/>
            <a:ext cx="3954966"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7425223" y="3939816"/>
            <a:ext cx="312906" cy="400110"/>
          </a:xfrm>
          <a:prstGeom prst="rect">
            <a:avLst/>
          </a:prstGeom>
          <a:noFill/>
        </p:spPr>
        <p:txBody>
          <a:bodyPr wrap="none" rtlCol="0">
            <a:spAutoFit/>
          </a:bodyPr>
          <a:lstStyle/>
          <a:p>
            <a:r>
              <a:rPr lang="en-US" altLang="zh-TW" sz="2000" dirty="0" smtClean="0">
                <a:solidFill>
                  <a:srgbClr val="00B050"/>
                </a:solidFill>
                <a:latin typeface="Times New Roman" panose="02020603050405020304" pitchFamily="18" charset="0"/>
                <a:cs typeface="Times New Roman" panose="02020603050405020304" pitchFamily="18" charset="0"/>
              </a:rPr>
              <a:t>v</a:t>
            </a:r>
            <a:endParaRPr lang="zh-TW" altLang="en-US" sz="2000" dirty="0">
              <a:solidFill>
                <a:srgbClr val="00B050"/>
              </a:solidFill>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5163015" y="4467024"/>
            <a:ext cx="2062975" cy="8973"/>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7425223" y="4266969"/>
            <a:ext cx="397866" cy="400110"/>
          </a:xfrm>
          <a:prstGeom prst="rect">
            <a:avLst/>
          </a:prstGeom>
          <a:noFill/>
        </p:spPr>
        <p:txBody>
          <a:bodyPr wrap="none" rtlCol="0">
            <a:spAutoFit/>
          </a:bodyPr>
          <a:lstStyle/>
          <a:p>
            <a:r>
              <a:rPr lang="en-US" altLang="zh-TW" sz="2000" dirty="0" smtClean="0">
                <a:solidFill>
                  <a:srgbClr val="00B050"/>
                </a:solidFill>
                <a:latin typeface="Times New Roman" panose="02020603050405020304" pitchFamily="18" charset="0"/>
                <a:cs typeface="Times New Roman" panose="02020603050405020304" pitchFamily="18" charset="0"/>
              </a:rPr>
              <a:t>-v</a:t>
            </a:r>
            <a:endParaRPr lang="zh-TW" altLang="en-US" sz="20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4481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Range Query(3/6)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29</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1999020413"/>
              </p:ext>
            </p:extLst>
          </p:nvPr>
        </p:nvGraphicFramePr>
        <p:xfrm>
          <a:off x="927100" y="1783240"/>
          <a:ext cx="7289796" cy="435864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rgbClr val="FFFF00"/>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rgbClr val="FFFF00"/>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t>7</a:t>
                      </a:r>
                      <a:r>
                        <a:rPr lang="en-US" altLang="zh-TW" sz="2000" dirty="0" smtClean="0">
                          <a:solidFill>
                            <a:srgbClr val="FF0000"/>
                          </a:solidFill>
                        </a:rPr>
                        <a:t>9</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Prefix</a:t>
                      </a:r>
                      <a:r>
                        <a:rPr lang="en-US" altLang="zh-TW" sz="2000" baseline="0" dirty="0" smtClean="0"/>
                        <a:t> Sum</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New PS</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19</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41</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BIT1</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BIT2</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-10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chemeClr val="bg1"/>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chemeClr val="bg1"/>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0118550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Range Query(4/6)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30</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1194858012"/>
              </p:ext>
            </p:extLst>
          </p:nvPr>
        </p:nvGraphicFramePr>
        <p:xfrm>
          <a:off x="927100" y="1783240"/>
          <a:ext cx="7289796" cy="435864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rgbClr val="FFFF00"/>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t>7</a:t>
                      </a:r>
                      <a:r>
                        <a:rPr lang="en-US" altLang="zh-TW" sz="2000" dirty="0" smtClean="0">
                          <a:solidFill>
                            <a:srgbClr val="FF0000"/>
                          </a:solidFill>
                        </a:rPr>
                        <a:t>9</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Prefix</a:t>
                      </a:r>
                      <a:r>
                        <a:rPr lang="en-US" altLang="zh-TW" sz="2000" baseline="0" dirty="0" smtClean="0"/>
                        <a:t> Sum</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FF"/>
                          </a:solidFill>
                        </a:rPr>
                        <a:t>26</a:t>
                      </a:r>
                      <a:endParaRPr lang="zh-TW" altLang="en-US" sz="2000" dirty="0">
                        <a:solidFill>
                          <a:srgbClr val="FF00FF"/>
                        </a:solidFill>
                      </a:endParaRPr>
                    </a:p>
                  </a:txBody>
                  <a:tcPr anchor="ctr">
                    <a:solidFill>
                      <a:schemeClr val="bg1">
                        <a:lumMod val="75000"/>
                      </a:schemeClr>
                    </a:solidFill>
                  </a:tcPr>
                </a:tc>
                <a:tc>
                  <a:txBody>
                    <a:bodyPr/>
                    <a:lstStyle/>
                    <a:p>
                      <a:pPr algn="ctr"/>
                      <a:r>
                        <a:rPr lang="en-US" altLang="zh-TW" sz="2000" dirty="0" smtClean="0">
                          <a:solidFill>
                            <a:schemeClr val="tx1"/>
                          </a:solidFill>
                        </a:rPr>
                        <a:t>27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New PS</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19</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41</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BIT1</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rgbClr val="00B0F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rgbClr val="00B0F0"/>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BIT2</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rgbClr val="92D05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rgbClr val="92D050"/>
                    </a:solidFill>
                  </a:tcPr>
                </a:tc>
                <a:tc>
                  <a:txBody>
                    <a:bodyPr/>
                    <a:lstStyle/>
                    <a:p>
                      <a:pPr algn="ctr"/>
                      <a:r>
                        <a:rPr lang="en-US" altLang="zh-TW" sz="2000" dirty="0" smtClean="0">
                          <a:solidFill>
                            <a:schemeClr val="tx1"/>
                          </a:solidFill>
                        </a:rPr>
                        <a:t>-10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chemeClr val="bg1"/>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rgbClr val="FFFF00"/>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
        <p:nvSpPr>
          <p:cNvPr id="3" name="文字方塊 2"/>
          <p:cNvSpPr txBox="1"/>
          <p:nvPr/>
        </p:nvSpPr>
        <p:spPr>
          <a:xfrm>
            <a:off x="2525604" y="6321366"/>
            <a:ext cx="4092787"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Query Range[1,5] = </a:t>
            </a:r>
            <a:r>
              <a:rPr lang="en-US" altLang="zh-TW" sz="2000" dirty="0" smtClean="0">
                <a:solidFill>
                  <a:srgbClr val="FF00FF"/>
                </a:solidFill>
                <a:latin typeface="Times New Roman" panose="02020603050405020304" pitchFamily="18" charset="0"/>
                <a:cs typeface="Times New Roman" panose="02020603050405020304" pitchFamily="18" charset="0"/>
              </a:rPr>
              <a:t>26</a:t>
            </a:r>
            <a:r>
              <a:rPr lang="en-US" altLang="zh-TW" sz="2000" dirty="0" smtClean="0">
                <a:latin typeface="Times New Roman" panose="02020603050405020304" pitchFamily="18" charset="0"/>
                <a:cs typeface="Times New Roman" panose="02020603050405020304" pitchFamily="18" charset="0"/>
              </a:rPr>
              <a:t> + </a:t>
            </a:r>
            <a:r>
              <a:rPr lang="en-US" altLang="zh-TW" sz="2000" dirty="0" smtClean="0">
                <a:solidFill>
                  <a:srgbClr val="00B0F0"/>
                </a:solidFill>
                <a:latin typeface="Times New Roman" panose="02020603050405020304" pitchFamily="18" charset="0"/>
                <a:cs typeface="Times New Roman" panose="02020603050405020304" pitchFamily="18" charset="0"/>
              </a:rPr>
              <a:t>2</a:t>
            </a:r>
            <a:r>
              <a:rPr lang="en-US" altLang="zh-TW" sz="2000" dirty="0" smtClean="0">
                <a:latin typeface="Times New Roman" panose="02020603050405020304" pitchFamily="18" charset="0"/>
                <a:cs typeface="Times New Roman" panose="02020603050405020304" pitchFamily="18" charset="0"/>
              </a:rPr>
              <a:t>*5 - </a:t>
            </a:r>
            <a:r>
              <a:rPr lang="en-US" altLang="zh-TW" sz="2000" dirty="0" smtClean="0">
                <a:solidFill>
                  <a:srgbClr val="92D050"/>
                </a:solidFill>
                <a:latin typeface="Times New Roman" panose="02020603050405020304" pitchFamily="18" charset="0"/>
                <a:cs typeface="Times New Roman" panose="02020603050405020304" pitchFamily="18" charset="0"/>
              </a:rPr>
              <a:t>4</a:t>
            </a:r>
            <a:r>
              <a:rPr lang="en-US" altLang="zh-TW" sz="2000" dirty="0" smtClean="0">
                <a:latin typeface="Times New Roman" panose="02020603050405020304" pitchFamily="18" charset="0"/>
                <a:cs typeface="Times New Roman" panose="02020603050405020304" pitchFamily="18" charset="0"/>
              </a:rPr>
              <a:t> = 32</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2941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Range Query(5/6)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31</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2580737459"/>
              </p:ext>
            </p:extLst>
          </p:nvPr>
        </p:nvGraphicFramePr>
        <p:xfrm>
          <a:off x="927100" y="1783240"/>
          <a:ext cx="7289796" cy="435864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rgbClr val="FFFF00"/>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t>7</a:t>
                      </a:r>
                      <a:r>
                        <a:rPr lang="en-US" altLang="zh-TW" sz="2000" dirty="0" smtClean="0">
                          <a:solidFill>
                            <a:srgbClr val="FF0000"/>
                          </a:solidFill>
                        </a:rPr>
                        <a:t>9</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Prefix</a:t>
                      </a:r>
                      <a:r>
                        <a:rPr lang="en-US" altLang="zh-TW" sz="2000" baseline="0" dirty="0" smtClean="0"/>
                        <a:t> Sum</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rgbClr val="FF00FF"/>
                          </a:solidFill>
                        </a:rPr>
                        <a:t>27</a:t>
                      </a:r>
                      <a:endParaRPr lang="zh-TW" altLang="en-US" sz="2000" dirty="0">
                        <a:solidFill>
                          <a:srgbClr val="FF00FF"/>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New PS</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19</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41</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BIT1</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rgbClr val="00B0F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rgbClr val="00B0F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BIT2</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rgbClr val="92D05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-10</a:t>
                      </a:r>
                      <a:endParaRPr lang="zh-TW" altLang="en-US" sz="2000" dirty="0">
                        <a:solidFill>
                          <a:schemeClr val="tx1"/>
                        </a:solidFill>
                      </a:endParaRPr>
                    </a:p>
                  </a:txBody>
                  <a:tcPr anchor="ctr">
                    <a:solidFill>
                      <a:srgbClr val="92D050"/>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solidFill>
                  </a:tcPr>
                </a:tc>
              </a:tr>
              <a:tr h="370840">
                <a:tc>
                  <a:txBody>
                    <a:bodyPr/>
                    <a:lstStyle/>
                    <a:p>
                      <a:pPr algn="ctr"/>
                      <a:endParaRPr lang="zh-TW"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ap="flat" cmpd="sng" algn="ctr">
                      <a:noFill/>
                      <a:prstDash val="solid"/>
                      <a:round/>
                      <a:headEnd type="none" w="med" len="med"/>
                      <a:tailEnd type="none" w="med" len="med"/>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92693">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8">
                  <a:txBody>
                    <a:bodyPr/>
                    <a:lstStyle/>
                    <a:p>
                      <a:pPr algn="r"/>
                      <a:r>
                        <a:rPr lang="en-US" altLang="zh-TW" sz="2000" dirty="0" smtClean="0">
                          <a:solidFill>
                            <a:schemeClr val="tx1"/>
                          </a:solidFill>
                        </a:rPr>
                        <a:t>[1,8]</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4">
                  <a:txBody>
                    <a:bodyPr/>
                    <a:lstStyle/>
                    <a:p>
                      <a:pPr algn="r"/>
                      <a:r>
                        <a:rPr lang="en-US" altLang="zh-TW" sz="2000" dirty="0" smtClean="0">
                          <a:solidFill>
                            <a:schemeClr val="tx1"/>
                          </a:solidFill>
                        </a:rPr>
                        <a:t>[1,4]</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solidFill>
                      <a:srgbClr val="FFFF00"/>
                    </a:solidFill>
                  </a:tcPr>
                </a:tc>
                <a:tc hMerge="1">
                  <a:txBody>
                    <a:bodyPr/>
                    <a:lstStyle/>
                    <a:p>
                      <a:pPr algn="ctr"/>
                      <a:endParaRPr lang="zh-TW" altLang="en-US" sz="2000" dirty="0"/>
                    </a:p>
                  </a:txBody>
                  <a:tcPr anchor="ctr"/>
                </a:tc>
                <a:tc hMerge="1">
                  <a:txBody>
                    <a:bodyPr/>
                    <a:lstStyle/>
                    <a:p>
                      <a:pPr algn="ctr"/>
                      <a:endParaRPr lang="zh-TW" altLang="en-US" sz="2000" dirty="0"/>
                    </a:p>
                  </a:txBody>
                  <a:tcPr anchor="ct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r"/>
                      <a:r>
                        <a:rPr lang="en-US" altLang="zh-TW" sz="2000" dirty="0" smtClean="0">
                          <a:solidFill>
                            <a:schemeClr val="tx1"/>
                          </a:solidFill>
                        </a:rPr>
                        <a:t>[1,2]</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gridSpan="2">
                  <a:txBody>
                    <a:bodyPr/>
                    <a:lstStyle/>
                    <a:p>
                      <a:pPr algn="r"/>
                      <a:r>
                        <a:rPr lang="en-US" altLang="zh-TW" sz="2000" dirty="0" smtClean="0">
                          <a:solidFill>
                            <a:schemeClr val="tx1"/>
                          </a:solidFill>
                        </a:rPr>
                        <a:t>[5,6]</a:t>
                      </a:r>
                      <a:endParaRPr lang="zh-TW" altLang="en-US" sz="2000" dirty="0">
                        <a:solidFill>
                          <a:schemeClr val="tx1"/>
                        </a:solidFill>
                      </a:endParaRPr>
                    </a:p>
                  </a:txBody>
                  <a:tcPr anchor="ctr">
                    <a:solidFill>
                      <a:srgbClr val="FFFF00"/>
                    </a:solidFill>
                  </a:tcPr>
                </a:tc>
                <a:tc hMerge="1">
                  <a:txBody>
                    <a:bodyPr/>
                    <a:lstStyle/>
                    <a:p>
                      <a:pPr algn="ctr"/>
                      <a:endParaRPr lang="zh-TW" altLang="en-US" sz="2000" dirty="0"/>
                    </a:p>
                  </a:txBody>
                  <a:tcPr anchor="ct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r"/>
                      <a:endParaRPr lang="zh-TW" altLang="en-US" sz="20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370840">
                <a:tc>
                  <a:txBody>
                    <a:bodyPr/>
                    <a:lstStyle/>
                    <a:p>
                      <a:pPr algn="ctr"/>
                      <a:endParaRPr lang="zh-TW" alt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TW" sz="2000" dirty="0" smtClean="0">
                          <a:solidFill>
                            <a:schemeClr val="tx1"/>
                          </a:solidFill>
                        </a:rPr>
                        <a:t>[1,1]</a:t>
                      </a:r>
                      <a:endParaRPr lang="zh-TW" altLang="en-US" sz="2000"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[3,3]</a:t>
                      </a:r>
                      <a:endParaRPr lang="zh-TW" altLang="en-US" sz="2000" dirty="0">
                        <a:solidFill>
                          <a:schemeClr val="tx1"/>
                        </a:solidFill>
                      </a:endParaRPr>
                    </a:p>
                  </a:txBody>
                  <a:tcPr anchor="ctr">
                    <a:noFill/>
                  </a:tcPr>
                </a:tc>
                <a:tc>
                  <a:txBody>
                    <a:bodyPr/>
                    <a:lstStyle/>
                    <a:p>
                      <a:pPr algn="r"/>
                      <a:endParaRPr lang="zh-TW" altLang="en-US" sz="2000" dirty="0">
                        <a:solidFill>
                          <a:schemeClr val="tx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[5,5]</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B w="12700" cap="flat" cmpd="sng" algn="ctr">
                      <a:solidFill>
                        <a:schemeClr val="bg1"/>
                      </a:solidFill>
                      <a:prstDash val="solid"/>
                      <a:round/>
                      <a:headEnd type="none" w="med" len="med"/>
                      <a:tailEnd type="none" w="med" len="med"/>
                    </a:lnB>
                    <a:noFill/>
                  </a:tcPr>
                </a:tc>
                <a:tc>
                  <a:txBody>
                    <a:bodyPr/>
                    <a:lstStyle/>
                    <a:p>
                      <a:pPr algn="r"/>
                      <a:r>
                        <a:rPr lang="en-US" altLang="zh-TW" sz="2000" dirty="0" smtClean="0">
                          <a:solidFill>
                            <a:schemeClr val="tx1"/>
                          </a:solidFill>
                        </a:rPr>
                        <a:t>[7,7]</a:t>
                      </a:r>
                      <a:endParaRPr lang="zh-TW" altLang="en-US" sz="2000" dirty="0">
                        <a:solidFill>
                          <a:schemeClr val="tx1"/>
                        </a:solidFill>
                      </a:endParaRPr>
                    </a:p>
                  </a:txBody>
                  <a:tcPr anchor="ctr">
                    <a:solidFill>
                      <a:schemeClr val="bg1"/>
                    </a:solidFill>
                  </a:tcPr>
                </a:tc>
                <a:tc>
                  <a:txBody>
                    <a:bodyPr/>
                    <a:lstStyle/>
                    <a:p>
                      <a:pPr algn="r"/>
                      <a:endParaRPr lang="zh-TW" altLang="en-US" sz="200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
        <p:nvSpPr>
          <p:cNvPr id="3" name="文字方塊 2"/>
          <p:cNvSpPr txBox="1"/>
          <p:nvPr/>
        </p:nvSpPr>
        <p:spPr>
          <a:xfrm>
            <a:off x="2365163" y="6338858"/>
            <a:ext cx="4347665"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Query Range[1,6] = </a:t>
            </a:r>
            <a:r>
              <a:rPr lang="en-US" altLang="zh-TW" sz="2000" dirty="0" smtClean="0">
                <a:solidFill>
                  <a:srgbClr val="FF00FF"/>
                </a:solidFill>
                <a:latin typeface="Times New Roman" panose="02020603050405020304" pitchFamily="18" charset="0"/>
                <a:cs typeface="Times New Roman" panose="02020603050405020304" pitchFamily="18" charset="0"/>
              </a:rPr>
              <a:t>27</a:t>
            </a:r>
            <a:r>
              <a:rPr lang="en-US" altLang="zh-TW" sz="2000" dirty="0" smtClean="0">
                <a:latin typeface="Times New Roman" panose="02020603050405020304" pitchFamily="18" charset="0"/>
                <a:cs typeface="Times New Roman" panose="02020603050405020304" pitchFamily="18" charset="0"/>
              </a:rPr>
              <a:t> + </a:t>
            </a:r>
            <a:r>
              <a:rPr lang="en-US" altLang="zh-TW" sz="2000" dirty="0" smtClean="0">
                <a:solidFill>
                  <a:srgbClr val="00B0F0"/>
                </a:solidFill>
                <a:latin typeface="Times New Roman" panose="02020603050405020304" pitchFamily="18" charset="0"/>
                <a:cs typeface="Times New Roman" panose="02020603050405020304" pitchFamily="18" charset="0"/>
              </a:rPr>
              <a:t>0</a:t>
            </a:r>
            <a:r>
              <a:rPr lang="en-US" altLang="zh-TW" sz="2000" dirty="0" smtClean="0">
                <a:latin typeface="Times New Roman" panose="02020603050405020304" pitchFamily="18" charset="0"/>
                <a:cs typeface="Times New Roman" panose="02020603050405020304" pitchFamily="18" charset="0"/>
              </a:rPr>
              <a:t>*6 - (</a:t>
            </a:r>
            <a:r>
              <a:rPr lang="en-US" altLang="zh-TW" sz="2000" dirty="0" smtClean="0">
                <a:solidFill>
                  <a:srgbClr val="92D050"/>
                </a:solidFill>
                <a:latin typeface="Times New Roman" panose="02020603050405020304" pitchFamily="18" charset="0"/>
                <a:cs typeface="Times New Roman" panose="02020603050405020304" pitchFamily="18" charset="0"/>
              </a:rPr>
              <a:t>-6</a:t>
            </a:r>
            <a:r>
              <a:rPr lang="en-US" altLang="zh-TW" sz="2000" dirty="0" smtClean="0">
                <a:latin typeface="Times New Roman" panose="02020603050405020304" pitchFamily="18" charset="0"/>
                <a:cs typeface="Times New Roman" panose="02020603050405020304" pitchFamily="18" charset="0"/>
              </a:rPr>
              <a:t>) = 33</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34625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Range Update, Range Query(6/6)</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32</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4038553853"/>
              </p:ext>
            </p:extLst>
          </p:nvPr>
        </p:nvGraphicFramePr>
        <p:xfrm>
          <a:off x="927100" y="1783240"/>
          <a:ext cx="7289796" cy="2377440"/>
        </p:xfrm>
        <a:graphic>
          <a:graphicData uri="http://schemas.openxmlformats.org/drawingml/2006/table">
            <a:tbl>
              <a:tblPr firstRow="1" bandRow="1">
                <a:tableStyleId>{5940675A-B579-460E-94D1-54222C63F5DA}</a:tableStyleId>
              </a:tblPr>
              <a:tblGrid>
                <a:gridCol w="1587500"/>
                <a:gridCol w="712787"/>
                <a:gridCol w="712787"/>
                <a:gridCol w="712787"/>
                <a:gridCol w="712787"/>
                <a:gridCol w="712787"/>
                <a:gridCol w="712787"/>
                <a:gridCol w="712787"/>
                <a:gridCol w="712787"/>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Original data</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strike="sngStrike" dirty="0" smtClean="0"/>
                        <a:t>4</a:t>
                      </a:r>
                      <a:r>
                        <a:rPr lang="en-US" altLang="zh-TW" sz="2000" dirty="0" smtClean="0">
                          <a:solidFill>
                            <a:srgbClr val="FF0000"/>
                          </a:solidFill>
                        </a:rPr>
                        <a:t>6</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t>7</a:t>
                      </a:r>
                      <a:r>
                        <a:rPr lang="en-US" altLang="zh-TW" sz="2000" dirty="0" smtClean="0">
                          <a:solidFill>
                            <a:srgbClr val="FF0000"/>
                          </a:solidFill>
                        </a:rPr>
                        <a:t>9</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strike="sngStrike" dirty="0" smtClean="0">
                          <a:solidFill>
                            <a:schemeClr val="tx1"/>
                          </a:solidFill>
                        </a:rPr>
                        <a:t>2</a:t>
                      </a:r>
                      <a:r>
                        <a:rPr lang="en-US" altLang="zh-TW" sz="2000" dirty="0" smtClean="0">
                          <a:solidFill>
                            <a:srgbClr val="FF0000"/>
                          </a:solidFill>
                        </a:rPr>
                        <a:t>4</a:t>
                      </a:r>
                      <a:endParaRPr lang="zh-TW" altLang="en-US" sz="2000" dirty="0">
                        <a:solidFill>
                          <a:srgbClr val="FF0000"/>
                        </a:solidFill>
                      </a:endParaRPr>
                    </a:p>
                  </a:txBody>
                  <a:tcPr anchor="ctr">
                    <a:solidFill>
                      <a:schemeClr val="bg1">
                        <a:lumMod val="75000"/>
                      </a:schemeClr>
                    </a:solidFill>
                  </a:tcPr>
                </a:tc>
                <a:tc>
                  <a:txBody>
                    <a:bodyPr/>
                    <a:lstStyle/>
                    <a:p>
                      <a:pPr algn="ctr"/>
                      <a:r>
                        <a:rPr lang="en-US" altLang="zh-TW" sz="2000" dirty="0" smtClean="0">
                          <a:solidFill>
                            <a:schemeClr val="tx1"/>
                          </a:solidFill>
                        </a:rPr>
                        <a:t>1</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Prefix</a:t>
                      </a:r>
                      <a:r>
                        <a:rPr lang="en-US" altLang="zh-TW" sz="2000" baseline="0" dirty="0" smtClean="0"/>
                        <a:t> Sum</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24</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26</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27</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35</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New PS</a:t>
                      </a:r>
                      <a:endParaRPr lang="zh-TW" altLang="en-US" sz="2000" dirty="0"/>
                    </a:p>
                  </a:txBody>
                  <a:tcPr anchor="ctr">
                    <a:solidFill>
                      <a:schemeClr val="bg1">
                        <a:lumMod val="75000"/>
                      </a:schemeClr>
                    </a:solidFill>
                  </a:tcPr>
                </a:tc>
                <a:tc>
                  <a:txBody>
                    <a:bodyPr/>
                    <a:lstStyle/>
                    <a:p>
                      <a:pPr algn="ctr"/>
                      <a:r>
                        <a:rPr lang="en-US" altLang="zh-TW" sz="2000" dirty="0" smtClean="0">
                          <a:solidFill>
                            <a:schemeClr val="tx1"/>
                          </a:solidFill>
                        </a:rPr>
                        <a:t>5</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19</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28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32</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33</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38</a:t>
                      </a:r>
                      <a:endParaRPr lang="zh-TW" altLang="en-US" sz="2000" dirty="0">
                        <a:solidFill>
                          <a:schemeClr val="tx1"/>
                        </a:solidFill>
                      </a:endParaRPr>
                    </a:p>
                  </a:txBody>
                  <a:tcPr anchor="ctr">
                    <a:solidFill>
                      <a:schemeClr val="bg1">
                        <a:lumMod val="75000"/>
                      </a:schemeClr>
                    </a:solidFill>
                  </a:tcPr>
                </a:tc>
                <a:tc>
                  <a:txBody>
                    <a:bodyPr/>
                    <a:lstStyle/>
                    <a:p>
                      <a:pPr algn="ctr"/>
                      <a:r>
                        <a:rPr lang="en-US" altLang="zh-TW" sz="2000" dirty="0" smtClean="0">
                          <a:solidFill>
                            <a:schemeClr val="tx1"/>
                          </a:solidFill>
                        </a:rPr>
                        <a:t>41</a:t>
                      </a:r>
                      <a:endParaRPr lang="zh-TW" altLang="en-US" sz="2000" dirty="0">
                        <a:solidFill>
                          <a:schemeClr val="tx1"/>
                        </a:solidFill>
                      </a:endParaRPr>
                    </a:p>
                  </a:txBody>
                  <a:tcPr anchor="ctr">
                    <a:solidFill>
                      <a:schemeClr val="bg1">
                        <a:lumMod val="75000"/>
                      </a:schemeClr>
                    </a:solidFill>
                  </a:tcPr>
                </a:tc>
              </a:tr>
              <a:tr h="370840">
                <a:tc>
                  <a:txBody>
                    <a:bodyPr/>
                    <a:lstStyle/>
                    <a:p>
                      <a:pPr algn="ctr"/>
                      <a:r>
                        <a:rPr lang="en-US" altLang="zh-TW" sz="2000" dirty="0" smtClean="0"/>
                        <a:t>BIT1</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-2</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r>
              <a:tr h="370840">
                <a:tc>
                  <a:txBody>
                    <a:bodyPr/>
                    <a:lstStyle/>
                    <a:p>
                      <a:pPr algn="ctr"/>
                      <a:r>
                        <a:rPr lang="en-US" altLang="zh-TW" sz="2000" dirty="0" smtClean="0"/>
                        <a:t>BIT2</a:t>
                      </a:r>
                      <a:endParaRPr lang="zh-TW" altLang="en-US" sz="2000" dirty="0"/>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4</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-10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0</a:t>
                      </a:r>
                      <a:endParaRPr lang="zh-TW" altLang="en-US" sz="2000" dirty="0">
                        <a:solidFill>
                          <a:schemeClr val="tx1"/>
                        </a:solidFill>
                      </a:endParaRPr>
                    </a:p>
                  </a:txBody>
                  <a:tcPr anchor="ctr">
                    <a:solidFill>
                      <a:schemeClr val="bg1"/>
                    </a:solidFill>
                  </a:tcPr>
                </a:tc>
                <a:tc>
                  <a:txBody>
                    <a:bodyPr/>
                    <a:lstStyle/>
                    <a:p>
                      <a:pPr algn="ctr"/>
                      <a:r>
                        <a:rPr lang="en-US" altLang="zh-TW" sz="2000" dirty="0" smtClean="0">
                          <a:solidFill>
                            <a:schemeClr val="tx1"/>
                          </a:solidFill>
                        </a:rPr>
                        <a:t>-6</a:t>
                      </a:r>
                      <a:endParaRPr lang="zh-TW" altLang="en-US" sz="2000" dirty="0">
                        <a:solidFill>
                          <a:schemeClr val="tx1"/>
                        </a:solidFill>
                      </a:endParaRPr>
                    </a:p>
                  </a:txBody>
                  <a:tcPr anchor="ctr">
                    <a:solidFill>
                      <a:schemeClr val="bg1"/>
                    </a:solidFill>
                  </a:tcPr>
                </a:tc>
              </a:tr>
            </a:tbl>
          </a:graphicData>
        </a:graphic>
      </p:graphicFrame>
      <mc:AlternateContent xmlns:mc="http://schemas.openxmlformats.org/markup-compatibility/2006" xmlns:a14="http://schemas.microsoft.com/office/drawing/2010/main">
        <mc:Choice Requires="a14">
          <p:sp>
            <p:nvSpPr>
              <p:cNvPr id="5" name="文字方塊 4"/>
              <p:cNvSpPr txBox="1"/>
              <p:nvPr/>
            </p:nvSpPr>
            <p:spPr>
              <a:xfrm>
                <a:off x="2767786" y="5003180"/>
                <a:ext cx="3416063" cy="1015663"/>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Both operation : </a:t>
                </a:r>
                <a14:m>
                  <m:oMath xmlns:m="http://schemas.openxmlformats.org/officeDocument/2006/math">
                    <m:r>
                      <a:rPr lang="en-US" altLang="zh-TW" sz="2000" i="1" dirty="0" smtClean="0">
                        <a:latin typeface="Cambria Math" panose="02040503050406030204" pitchFamily="18" charset="0"/>
                      </a:rPr>
                      <m:t>𝑂</m:t>
                    </m:r>
                    <m:r>
                      <a:rPr lang="en-US" altLang="zh-TW" sz="2000" i="1" dirty="0" smtClean="0">
                        <a:latin typeface="Cambria Math" panose="02040503050406030204" pitchFamily="18" charset="0"/>
                      </a:rPr>
                      <m:t>(</m:t>
                    </m:r>
                    <m:func>
                      <m:funcPr>
                        <m:ctrlPr>
                          <a:rPr lang="en-US" altLang="zh-TW" sz="2000" i="1" dirty="0" smtClean="0">
                            <a:latin typeface="Cambria Math" panose="02040503050406030204" pitchFamily="18" charset="0"/>
                          </a:rPr>
                        </m:ctrlPr>
                      </m:funcPr>
                      <m:fName>
                        <m:r>
                          <m:rPr>
                            <m:sty m:val="p"/>
                          </m:rPr>
                          <a:rPr lang="en-US" altLang="zh-TW" sz="2000" i="0" dirty="0" smtClean="0">
                            <a:latin typeface="Cambria Math" panose="02040503050406030204" pitchFamily="18" charset="0"/>
                          </a:rPr>
                          <m:t>log</m:t>
                        </m:r>
                      </m:fName>
                      <m:e>
                        <m:r>
                          <a:rPr lang="en-US" altLang="zh-TW" sz="2000" b="0" i="1" dirty="0" smtClean="0">
                            <a:latin typeface="Cambria Math" panose="02040503050406030204" pitchFamily="18" charset="0"/>
                          </a:rPr>
                          <m:t>𝑛</m:t>
                        </m:r>
                      </m:e>
                    </m:func>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𝑡𝑖𝑚𝑒</m:t>
                    </m:r>
                  </m:oMath>
                </a14:m>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BITs : </a:t>
                </a:r>
                <a14:m>
                  <m:oMath xmlns:m="http://schemas.openxmlformats.org/officeDocument/2006/math">
                    <m:r>
                      <a:rPr lang="en-US" altLang="zh-TW" sz="2000" i="1" dirty="0" smtClean="0">
                        <a:latin typeface="Cambria Math" panose="02040503050406030204" pitchFamily="18" charset="0"/>
                      </a:rPr>
                      <m:t>𝑂</m:t>
                    </m:r>
                    <m:d>
                      <m:dPr>
                        <m:ctrlPr>
                          <a:rPr lang="en-US" altLang="zh-TW" sz="2000" i="1" dirty="0" smtClean="0">
                            <a:latin typeface="Cambria Math" panose="02040503050406030204" pitchFamily="18" charset="0"/>
                          </a:rPr>
                        </m:ctrlPr>
                      </m:dPr>
                      <m:e>
                        <m:r>
                          <a:rPr lang="en-US" altLang="zh-TW" sz="2000" i="1" dirty="0" smtClean="0">
                            <a:latin typeface="Cambria Math" panose="02040503050406030204" pitchFamily="18" charset="0"/>
                          </a:rPr>
                          <m:t>3</m:t>
                        </m:r>
                        <m:r>
                          <a:rPr lang="en-US" altLang="zh-TW" sz="2000" i="1" dirty="0" smtClean="0">
                            <a:latin typeface="Cambria Math" panose="02040503050406030204" pitchFamily="18" charset="0"/>
                          </a:rPr>
                          <m:t>𝑛</m:t>
                        </m:r>
                      </m:e>
                    </m:d>
                    <m:r>
                      <a:rPr lang="en-US" altLang="zh-TW" sz="2000" b="0" i="1" dirty="0" smtClean="0">
                        <a:latin typeface="Cambria Math" panose="02040503050406030204" pitchFamily="18" charset="0"/>
                      </a:rPr>
                      <m:t> </m:t>
                    </m:r>
                    <m:r>
                      <a:rPr lang="en-US" altLang="zh-TW" sz="2000" i="1" dirty="0" smtClean="0">
                        <a:latin typeface="Cambria Math" panose="02040503050406030204" pitchFamily="18" charset="0"/>
                      </a:rPr>
                      <m:t>𝑠𝑝𝑎𝑐𝑒</m:t>
                    </m:r>
                  </m:oMath>
                </a14:m>
                <a:endParaRPr lang="en-US" altLang="zh-TW" sz="2000" dirty="0" smtClean="0">
                  <a:latin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Build BIT :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𝑂</m:t>
                    </m:r>
                    <m:r>
                      <a:rPr lang="en-US" altLang="zh-TW" sz="2000" i="1" dirty="0" smtClean="0">
                        <a:latin typeface="Cambria Math" panose="02040503050406030204" pitchFamily="18" charset="0"/>
                        <a:cs typeface="Times New Roman" panose="02020603050405020304" pitchFamily="18" charset="0"/>
                      </a:rPr>
                      <m:t>(</m:t>
                    </m:r>
                    <m:r>
                      <a:rPr lang="en-US" altLang="zh-TW" sz="2000" i="1" dirty="0" smtClean="0">
                        <a:latin typeface="Cambria Math" panose="02040503050406030204" pitchFamily="18" charset="0"/>
                        <a:cs typeface="Times New Roman" panose="02020603050405020304" pitchFamily="18" charset="0"/>
                      </a:rPr>
                      <m:t>𝑛</m:t>
                    </m:r>
                    <m:r>
                      <a:rPr lang="en-US" altLang="zh-TW" sz="2000" i="1" dirty="0" smtClean="0">
                        <a:latin typeface="Cambria Math" panose="02040503050406030204" pitchFamily="18" charset="0"/>
                        <a:cs typeface="Times New Roman" panose="02020603050405020304" pitchFamily="18" charset="0"/>
                      </a:rPr>
                      <m:t>) </m:t>
                    </m:r>
                    <m:r>
                      <a:rPr lang="en-US" altLang="zh-TW" sz="2000" i="1" dirty="0" smtClean="0">
                        <a:latin typeface="Cambria Math" panose="02040503050406030204" pitchFamily="18" charset="0"/>
                        <a:cs typeface="Times New Roman" panose="02020603050405020304" pitchFamily="18" charset="0"/>
                      </a:rPr>
                      <m:t>𝑡𝑖𝑚𝑒</m:t>
                    </m:r>
                  </m:oMath>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2767786" y="5003180"/>
                <a:ext cx="3416063" cy="1015663"/>
              </a:xfrm>
              <a:prstGeom prst="rect">
                <a:avLst/>
              </a:prstGeom>
              <a:blipFill rotWithShape="0">
                <a:blip r:embed="rId2"/>
                <a:stretch>
                  <a:fillRect l="-1786" t="-3614" b="-10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403631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BIT V.S. RMQ &amp; PU?</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33</a:t>
            </a:fld>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005106468"/>
              </p:ext>
            </p:extLst>
          </p:nvPr>
        </p:nvGraphicFramePr>
        <p:xfrm>
          <a:off x="312236" y="1946791"/>
          <a:ext cx="8153707" cy="1584960"/>
        </p:xfrm>
        <a:graphic>
          <a:graphicData uri="http://schemas.openxmlformats.org/drawingml/2006/table">
            <a:tbl>
              <a:tblPr firstRow="1" bandRow="1">
                <a:tableStyleId>{5940675A-B579-460E-94D1-54222C63F5DA}</a:tableStyleId>
              </a:tblPr>
              <a:tblGrid>
                <a:gridCol w="944483"/>
                <a:gridCol w="424072"/>
                <a:gridCol w="424072"/>
                <a:gridCol w="424072"/>
                <a:gridCol w="424072"/>
                <a:gridCol w="424072"/>
                <a:gridCol w="424072"/>
                <a:gridCol w="424072"/>
                <a:gridCol w="424072"/>
                <a:gridCol w="424072"/>
                <a:gridCol w="424072"/>
                <a:gridCol w="424072"/>
                <a:gridCol w="424072"/>
                <a:gridCol w="424072"/>
                <a:gridCol w="424072"/>
                <a:gridCol w="424072"/>
                <a:gridCol w="424072"/>
                <a:gridCol w="424072"/>
              </a:tblGrid>
              <a:tr h="370840">
                <a:tc>
                  <a:txBody>
                    <a:bodyPr/>
                    <a:lstStyle/>
                    <a:p>
                      <a:pPr algn="ctr"/>
                      <a:endParaRPr lang="zh-TW" altLang="en-US" sz="2000" dirty="0"/>
                    </a:p>
                  </a:txBody>
                  <a:tcPr anchor="ctr">
                    <a:solidFill>
                      <a:schemeClr val="bg1">
                        <a:lumMod val="75000"/>
                      </a:schemeClr>
                    </a:solidFill>
                  </a:tcPr>
                </a:tc>
                <a:tc>
                  <a:txBody>
                    <a:bodyPr/>
                    <a:lstStyle/>
                    <a:p>
                      <a:pPr algn="ctr"/>
                      <a:r>
                        <a:rPr lang="en-US" altLang="zh-TW" sz="1800" dirty="0" smtClean="0">
                          <a:solidFill>
                            <a:schemeClr val="bg1">
                              <a:lumMod val="65000"/>
                            </a:schemeClr>
                          </a:solidFill>
                        </a:rPr>
                        <a:t>0</a:t>
                      </a:r>
                      <a:endParaRPr lang="zh-TW" altLang="en-US" sz="1800" dirty="0">
                        <a:solidFill>
                          <a:schemeClr val="bg1">
                            <a:lumMod val="65000"/>
                          </a:schemeClr>
                        </a:solidFill>
                      </a:endParaRPr>
                    </a:p>
                  </a:txBody>
                  <a:tcPr anchor="ctr">
                    <a:solidFill>
                      <a:schemeClr val="bg1">
                        <a:lumMod val="75000"/>
                      </a:schemeClr>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solidFill>
                      <a:schemeClr val="bg1">
                        <a:lumMod val="75000"/>
                      </a:schemeClr>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solidFill>
                      <a:schemeClr val="bg1">
                        <a:lumMod val="75000"/>
                      </a:schemeClr>
                    </a:solidFill>
                  </a:tcP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solidFill>
                      <a:schemeClr val="bg1">
                        <a:lumMod val="75000"/>
                      </a:schemeClr>
                    </a:solidFill>
                  </a:tcPr>
                </a:tc>
                <a:tc>
                  <a:txBody>
                    <a:bodyPr/>
                    <a:lstStyle/>
                    <a:p>
                      <a:pPr algn="ctr"/>
                      <a:r>
                        <a:rPr lang="en-US" altLang="zh-TW" sz="1800" dirty="0" smtClean="0">
                          <a:solidFill>
                            <a:schemeClr val="tx1"/>
                          </a:solidFill>
                        </a:rPr>
                        <a:t>4</a:t>
                      </a:r>
                      <a:endParaRPr lang="zh-TW" altLang="en-US" sz="1800" dirty="0">
                        <a:solidFill>
                          <a:schemeClr val="tx1"/>
                        </a:solidFill>
                      </a:endParaRPr>
                    </a:p>
                  </a:txBody>
                  <a:tcPr anchor="ctr">
                    <a:solidFill>
                      <a:schemeClr val="bg1">
                        <a:lumMod val="75000"/>
                      </a:schemeClr>
                    </a:solidFill>
                  </a:tcPr>
                </a:tc>
                <a:tc>
                  <a:txBody>
                    <a:bodyPr/>
                    <a:lstStyle/>
                    <a:p>
                      <a:pPr algn="ctr"/>
                      <a:r>
                        <a:rPr lang="en-US" altLang="zh-TW" sz="1800" dirty="0" smtClean="0">
                          <a:solidFill>
                            <a:schemeClr val="tx1"/>
                          </a:solidFill>
                        </a:rPr>
                        <a:t>5</a:t>
                      </a:r>
                      <a:endParaRPr lang="zh-TW" altLang="en-US" sz="1800" dirty="0">
                        <a:solidFill>
                          <a:schemeClr val="tx1"/>
                        </a:solidFill>
                      </a:endParaRPr>
                    </a:p>
                  </a:txBody>
                  <a:tcPr anchor="ctr">
                    <a:solidFill>
                      <a:srgbClr val="FFFF00"/>
                    </a:solidFill>
                  </a:tcPr>
                </a:tc>
                <a:tc>
                  <a:txBody>
                    <a:bodyPr/>
                    <a:lstStyle/>
                    <a:p>
                      <a:pPr algn="ctr"/>
                      <a:r>
                        <a:rPr lang="en-US" altLang="zh-TW" sz="1800" dirty="0" smtClean="0">
                          <a:solidFill>
                            <a:schemeClr val="tx1"/>
                          </a:solidFill>
                        </a:rPr>
                        <a:t>6</a:t>
                      </a:r>
                      <a:endParaRPr lang="zh-TW" altLang="en-US" sz="1800" dirty="0">
                        <a:solidFill>
                          <a:schemeClr val="tx1"/>
                        </a:solidFill>
                      </a:endParaRPr>
                    </a:p>
                  </a:txBody>
                  <a:tcPr anchor="ctr">
                    <a:solidFill>
                      <a:srgbClr val="92D050"/>
                    </a:solidFill>
                  </a:tcPr>
                </a:tc>
                <a:tc>
                  <a:txBody>
                    <a:bodyPr/>
                    <a:lstStyle/>
                    <a:p>
                      <a:pPr algn="ctr"/>
                      <a:r>
                        <a:rPr lang="en-US" altLang="zh-TW" sz="1800" dirty="0" smtClean="0">
                          <a:solidFill>
                            <a:schemeClr val="tx1"/>
                          </a:solidFill>
                        </a:rPr>
                        <a:t>7</a:t>
                      </a:r>
                      <a:endParaRPr lang="zh-TW" altLang="en-US" sz="1800" dirty="0">
                        <a:solidFill>
                          <a:schemeClr val="tx1"/>
                        </a:solidFill>
                      </a:endParaRPr>
                    </a:p>
                  </a:txBody>
                  <a:tcPr anchor="ctr">
                    <a:solidFill>
                      <a:srgbClr val="92D050"/>
                    </a:solidFill>
                  </a:tcPr>
                </a:tc>
                <a:tc>
                  <a:txBody>
                    <a:bodyPr/>
                    <a:lstStyle/>
                    <a:p>
                      <a:pPr algn="ctr"/>
                      <a:r>
                        <a:rPr lang="en-US" altLang="zh-TW" sz="1800" dirty="0" smtClean="0">
                          <a:solidFill>
                            <a:schemeClr val="tx1"/>
                          </a:solidFill>
                        </a:rPr>
                        <a:t>8</a:t>
                      </a:r>
                      <a:endParaRPr lang="zh-TW" altLang="en-US" sz="1800" dirty="0">
                        <a:solidFill>
                          <a:schemeClr val="tx1"/>
                        </a:solidFill>
                      </a:endParaRPr>
                    </a:p>
                  </a:txBody>
                  <a:tcPr anchor="ctr">
                    <a:solidFill>
                      <a:srgbClr val="FFFF00"/>
                    </a:solidFill>
                  </a:tcPr>
                </a:tc>
                <a:tc>
                  <a:txBody>
                    <a:bodyPr/>
                    <a:lstStyle/>
                    <a:p>
                      <a:pPr algn="ctr"/>
                      <a:r>
                        <a:rPr lang="en-US" altLang="zh-TW" sz="1800" dirty="0" smtClean="0">
                          <a:solidFill>
                            <a:schemeClr val="tx1"/>
                          </a:solidFill>
                        </a:rPr>
                        <a:t>9</a:t>
                      </a:r>
                      <a:endParaRPr lang="zh-TW" altLang="en-US" sz="1800" dirty="0">
                        <a:solidFill>
                          <a:schemeClr val="tx1"/>
                        </a:solidFill>
                      </a:endParaRPr>
                    </a:p>
                  </a:txBody>
                  <a:tcPr anchor="ctr">
                    <a:solidFill>
                      <a:srgbClr val="92D050"/>
                    </a:solidFill>
                  </a:tcPr>
                </a:tc>
                <a:tc>
                  <a:txBody>
                    <a:bodyPr/>
                    <a:lstStyle/>
                    <a:p>
                      <a:pPr algn="ctr"/>
                      <a:r>
                        <a:rPr lang="en-US" altLang="zh-TW" sz="1800" dirty="0" smtClean="0">
                          <a:solidFill>
                            <a:schemeClr val="tx1"/>
                          </a:solidFill>
                        </a:rPr>
                        <a:t>10</a:t>
                      </a:r>
                      <a:endParaRPr lang="zh-TW" altLang="en-US" sz="1800" dirty="0">
                        <a:solidFill>
                          <a:schemeClr val="tx1"/>
                        </a:solidFill>
                      </a:endParaRPr>
                    </a:p>
                  </a:txBody>
                  <a:tcPr anchor="ctr">
                    <a:solidFill>
                      <a:srgbClr val="92D050"/>
                    </a:solidFill>
                  </a:tcPr>
                </a:tc>
                <a:tc>
                  <a:txBody>
                    <a:bodyPr/>
                    <a:lstStyle/>
                    <a:p>
                      <a:pPr algn="ctr"/>
                      <a:r>
                        <a:rPr lang="en-US" altLang="zh-TW" sz="1800" dirty="0" smtClean="0">
                          <a:solidFill>
                            <a:schemeClr val="tx1"/>
                          </a:solidFill>
                        </a:rPr>
                        <a:t>11</a:t>
                      </a:r>
                      <a:endParaRPr lang="zh-TW" altLang="en-US" sz="1800" dirty="0">
                        <a:solidFill>
                          <a:schemeClr val="tx1"/>
                        </a:solidFill>
                      </a:endParaRPr>
                    </a:p>
                  </a:txBody>
                  <a:tcPr anchor="ctr">
                    <a:solidFill>
                      <a:srgbClr val="92D050"/>
                    </a:solidFill>
                  </a:tcPr>
                </a:tc>
                <a:tc>
                  <a:txBody>
                    <a:bodyPr/>
                    <a:lstStyle/>
                    <a:p>
                      <a:pPr algn="ctr"/>
                      <a:r>
                        <a:rPr lang="en-US" altLang="zh-TW" sz="1800" dirty="0" smtClean="0">
                          <a:solidFill>
                            <a:schemeClr val="tx1"/>
                          </a:solidFill>
                        </a:rPr>
                        <a:t>12</a:t>
                      </a:r>
                      <a:endParaRPr lang="zh-TW" altLang="en-US" sz="1800" dirty="0">
                        <a:solidFill>
                          <a:schemeClr val="tx1"/>
                        </a:solidFill>
                      </a:endParaRPr>
                    </a:p>
                  </a:txBody>
                  <a:tcPr anchor="ctr">
                    <a:solidFill>
                      <a:srgbClr val="92D050"/>
                    </a:solidFill>
                  </a:tcPr>
                </a:tc>
                <a:tc>
                  <a:txBody>
                    <a:bodyPr/>
                    <a:lstStyle/>
                    <a:p>
                      <a:pPr algn="ctr"/>
                      <a:r>
                        <a:rPr lang="en-US" altLang="zh-TW" sz="1800" dirty="0" smtClean="0">
                          <a:solidFill>
                            <a:schemeClr val="tx1"/>
                          </a:solidFill>
                        </a:rPr>
                        <a:t>13</a:t>
                      </a:r>
                      <a:endParaRPr lang="zh-TW" altLang="en-US" sz="1800" dirty="0">
                        <a:solidFill>
                          <a:schemeClr val="tx1"/>
                        </a:solidFill>
                      </a:endParaRPr>
                    </a:p>
                  </a:txBody>
                  <a:tcPr anchor="ctr">
                    <a:solidFill>
                      <a:srgbClr val="FFFF00"/>
                    </a:solidFill>
                  </a:tcPr>
                </a:tc>
                <a:tc>
                  <a:txBody>
                    <a:bodyPr/>
                    <a:lstStyle/>
                    <a:p>
                      <a:pPr algn="ctr"/>
                      <a:r>
                        <a:rPr lang="en-US" altLang="zh-TW" sz="1800" dirty="0" smtClean="0">
                          <a:solidFill>
                            <a:schemeClr val="tx1"/>
                          </a:solidFill>
                        </a:rPr>
                        <a:t>14</a:t>
                      </a:r>
                      <a:endParaRPr lang="zh-TW" altLang="en-US" sz="1800" dirty="0">
                        <a:solidFill>
                          <a:schemeClr val="tx1"/>
                        </a:solidFill>
                      </a:endParaRPr>
                    </a:p>
                  </a:txBody>
                  <a:tcPr anchor="ctr">
                    <a:solidFill>
                      <a:schemeClr val="bg1">
                        <a:lumMod val="75000"/>
                      </a:schemeClr>
                    </a:solidFill>
                  </a:tcPr>
                </a:tc>
                <a:tc>
                  <a:txBody>
                    <a:bodyPr/>
                    <a:lstStyle/>
                    <a:p>
                      <a:pPr algn="ctr"/>
                      <a:r>
                        <a:rPr lang="en-US" altLang="zh-TW" sz="1800" dirty="0" smtClean="0">
                          <a:solidFill>
                            <a:schemeClr val="tx1"/>
                          </a:solidFill>
                        </a:rPr>
                        <a:t>15</a:t>
                      </a:r>
                      <a:endParaRPr lang="zh-TW" altLang="en-US" sz="1800" dirty="0">
                        <a:solidFill>
                          <a:schemeClr val="tx1"/>
                        </a:solidFill>
                      </a:endParaRPr>
                    </a:p>
                  </a:txBody>
                  <a:tcPr anchor="ctr">
                    <a:solidFill>
                      <a:schemeClr val="bg1">
                        <a:lumMod val="75000"/>
                      </a:schemeClr>
                    </a:solidFill>
                  </a:tcPr>
                </a:tc>
                <a:tc>
                  <a:txBody>
                    <a:bodyPr/>
                    <a:lstStyle/>
                    <a:p>
                      <a:pPr algn="ctr"/>
                      <a:r>
                        <a:rPr lang="en-US" altLang="zh-TW" sz="1800" dirty="0" smtClean="0">
                          <a:solidFill>
                            <a:schemeClr val="bg1">
                              <a:lumMod val="65000"/>
                            </a:schemeClr>
                          </a:solidFill>
                        </a:rPr>
                        <a:t>16</a:t>
                      </a:r>
                      <a:endParaRPr lang="zh-TW" altLang="en-US" sz="1800" dirty="0">
                        <a:solidFill>
                          <a:schemeClr val="bg1">
                            <a:lumMod val="65000"/>
                          </a:schemeClr>
                        </a:solidFill>
                      </a:endParaRPr>
                    </a:p>
                  </a:txBody>
                  <a:tcPr anchor="ctr">
                    <a:solidFill>
                      <a:schemeClr val="bg1">
                        <a:lumMod val="75000"/>
                      </a:schemeClr>
                    </a:solidFill>
                  </a:tcPr>
                </a:tc>
              </a:tr>
              <a:tr h="370840">
                <a:tc>
                  <a:txBody>
                    <a:bodyPr/>
                    <a:lstStyle/>
                    <a:p>
                      <a:pPr algn="ctr"/>
                      <a:r>
                        <a:rPr lang="en-US" altLang="zh-TW" sz="2000" dirty="0" smtClean="0"/>
                        <a:t>data</a:t>
                      </a:r>
                      <a:endParaRPr lang="zh-TW" altLang="en-US" sz="2000" dirty="0"/>
                    </a:p>
                  </a:txBody>
                  <a:tcPr anchor="ctr">
                    <a:solidFill>
                      <a:schemeClr val="bg1">
                        <a:lumMod val="75000"/>
                      </a:schemeClr>
                    </a:solidFill>
                  </a:tcPr>
                </a:tc>
                <a:tc>
                  <a:txBody>
                    <a:bodyPr/>
                    <a:lstStyle/>
                    <a:p>
                      <a:pPr algn="ctr"/>
                      <a:endParaRPr lang="zh-TW" altLang="en-US" sz="1800" dirty="0">
                        <a:solidFill>
                          <a:schemeClr val="bg1">
                            <a:lumMod val="65000"/>
                          </a:schemeClr>
                        </a:solidFill>
                      </a:endParaRPr>
                    </a:p>
                  </a:txBody>
                  <a:tcPr anchor="ct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rgbClr val="FF0000"/>
                          </a:solidFill>
                        </a:rPr>
                        <a:t>0</a:t>
                      </a:r>
                      <a:endParaRPr lang="zh-TW" altLang="en-US" sz="1800" dirty="0">
                        <a:solidFill>
                          <a:srgbClr val="FF0000"/>
                        </a:solidFill>
                      </a:endParaRPr>
                    </a:p>
                  </a:txBody>
                  <a:tcPr anchor="ctr">
                    <a:solidFill>
                      <a:schemeClr val="bg1"/>
                    </a:solidFill>
                  </a:tcPr>
                </a:tc>
                <a:tc>
                  <a:txBody>
                    <a:bodyPr/>
                    <a:lstStyle/>
                    <a:p>
                      <a:pPr algn="ctr"/>
                      <a:r>
                        <a:rPr lang="en-US" altLang="zh-TW" sz="1800" dirty="0" smtClean="0">
                          <a:solidFill>
                            <a:schemeClr val="tx1"/>
                          </a:solidFill>
                        </a:rPr>
                        <a:t>4</a:t>
                      </a:r>
                      <a:endParaRPr lang="zh-TW" altLang="en-US" sz="1800" dirty="0">
                        <a:solidFill>
                          <a:schemeClr val="tx1"/>
                        </a:solidFill>
                      </a:endParaRPr>
                    </a:p>
                  </a:txBody>
                  <a:tcPr anchor="ctr">
                    <a:solidFill>
                      <a:srgbClr val="FFFF00"/>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5</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solidFill>
                      <a:schemeClr val="bg1"/>
                    </a:solidFill>
                  </a:tcPr>
                </a:tc>
                <a:tc>
                  <a:txBody>
                    <a:bodyPr/>
                    <a:lstStyle/>
                    <a:p>
                      <a:pPr algn="ctr"/>
                      <a:endParaRPr lang="zh-TW" altLang="en-US" sz="1800" dirty="0">
                        <a:solidFill>
                          <a:schemeClr val="bg1">
                            <a:lumMod val="65000"/>
                          </a:schemeClr>
                        </a:solidFill>
                      </a:endParaRPr>
                    </a:p>
                  </a:txBody>
                  <a:tcPr anchor="ctr">
                    <a:solidFill>
                      <a:schemeClr val="bg1"/>
                    </a:solidFill>
                  </a:tcPr>
                </a:tc>
              </a:tr>
              <a:tr h="370840">
                <a:tc>
                  <a:txBody>
                    <a:bodyPr/>
                    <a:lstStyle/>
                    <a:p>
                      <a:pPr algn="ctr"/>
                      <a:r>
                        <a:rPr lang="en-US" altLang="zh-TW" sz="2000" dirty="0" smtClean="0"/>
                        <a:t>BIT1</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zh-TW" altLang="en-US" sz="1800" dirty="0">
                        <a:solidFill>
                          <a:schemeClr val="bg1">
                            <a:lumMod val="6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92D050"/>
                    </a:solidFill>
                  </a:tcP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bg1">
                              <a:lumMod val="65000"/>
                            </a:schemeClr>
                          </a:solidFill>
                        </a:rPr>
                        <a:t>0</a:t>
                      </a:r>
                      <a:endParaRPr lang="zh-TW" altLang="en-US" sz="1800" dirty="0">
                        <a:solidFill>
                          <a:schemeClr val="bg1">
                            <a:lumMod val="6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370840">
                <a:tc>
                  <a:txBody>
                    <a:bodyPr/>
                    <a:lstStyle/>
                    <a:p>
                      <a:pPr algn="ctr"/>
                      <a:r>
                        <a:rPr lang="en-US" altLang="zh-TW" sz="2000" dirty="0" smtClean="0"/>
                        <a:t>BIT2</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sz="1800" dirty="0" smtClean="0">
                          <a:solidFill>
                            <a:schemeClr val="bg1">
                              <a:lumMod val="65000"/>
                            </a:schemeClr>
                          </a:solidFill>
                        </a:rPr>
                        <a:t>0</a:t>
                      </a:r>
                      <a:endParaRPr lang="zh-TW" altLang="en-US" sz="1800" dirty="0">
                        <a:solidFill>
                          <a:schemeClr val="bg1">
                            <a:lumMod val="6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pPr algn="ctr"/>
                      <a:r>
                        <a:rPr lang="en-US" altLang="zh-TW" sz="1800" dirty="0" smtClean="0">
                          <a:solidFill>
                            <a:srgbClr val="FF0000"/>
                          </a:solidFill>
                        </a:rPr>
                        <a:t>0</a:t>
                      </a:r>
                      <a:endParaRPr lang="zh-TW" altLang="en-US" sz="18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92D050"/>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ltLang="zh-TW" sz="1800" dirty="0" smtClean="0">
                          <a:solidFill>
                            <a:schemeClr val="tx1"/>
                          </a:solidFill>
                        </a:rPr>
                        <a:t>0</a:t>
                      </a:r>
                      <a:endParaRPr lang="zh-TW"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endParaRPr lang="zh-TW" altLang="en-US" sz="1800" dirty="0">
                        <a:solidFill>
                          <a:schemeClr val="bg1">
                            <a:lumMod val="6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bl>
          </a:graphicData>
        </a:graphic>
      </p:graphicFrame>
      <mc:AlternateContent xmlns:mc="http://schemas.openxmlformats.org/markup-compatibility/2006" xmlns:a14="http://schemas.microsoft.com/office/drawing/2010/main">
        <mc:Choice Requires="a14">
          <p:sp>
            <p:nvSpPr>
              <p:cNvPr id="3" name="文字方塊 2"/>
              <p:cNvSpPr txBox="1"/>
              <p:nvPr/>
            </p:nvSpPr>
            <p:spPr>
              <a:xfrm>
                <a:off x="97760" y="4191008"/>
                <a:ext cx="9050619" cy="1200329"/>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RMQ and point </a:t>
                </a:r>
                <a:r>
                  <a:rPr lang="en-US" altLang="zh-TW" sz="2400" dirty="0">
                    <a:latin typeface="Times New Roman" panose="02020603050405020304" pitchFamily="18" charset="0"/>
                    <a:cs typeface="Times New Roman" panose="02020603050405020304" pitchFamily="18" charset="0"/>
                  </a:rPr>
                  <a:t>u</a:t>
                </a:r>
                <a:r>
                  <a:rPr lang="en-US" altLang="zh-TW" sz="2400" dirty="0" smtClean="0">
                    <a:latin typeface="Times New Roman" panose="02020603050405020304" pitchFamily="18" charset="0"/>
                    <a:cs typeface="Times New Roman" panose="02020603050405020304" pitchFamily="18" charset="0"/>
                  </a:rPr>
                  <a:t>pdate can be solved in </a:t>
                </a:r>
                <a14:m>
                  <m:oMath xmlns:m="http://schemas.openxmlformats.org/officeDocument/2006/math">
                    <m:r>
                      <a:rPr lang="en-US" altLang="zh-TW" sz="2400" i="1" dirty="0" smtClean="0">
                        <a:latin typeface="Cambria Math" panose="02040503050406030204" pitchFamily="18" charset="0"/>
                      </a:rPr>
                      <m:t>𝑂</m:t>
                    </m:r>
                    <m:d>
                      <m:dPr>
                        <m:ctrlPr>
                          <a:rPr lang="en-US" altLang="zh-TW" sz="2400" i="1" dirty="0" smtClean="0">
                            <a:latin typeface="Cambria Math" panose="02040503050406030204" pitchFamily="18" charset="0"/>
                          </a:rPr>
                        </m:ctrlPr>
                      </m:dPr>
                      <m:e>
                        <m:func>
                          <m:funcPr>
                            <m:ctrlPr>
                              <a:rPr lang="en-US" altLang="zh-TW" sz="2400" i="1" dirty="0" smtClean="0">
                                <a:latin typeface="Cambria Math" panose="02040503050406030204" pitchFamily="18" charset="0"/>
                              </a:rPr>
                            </m:ctrlPr>
                          </m:funcPr>
                          <m:fName>
                            <m:r>
                              <m:rPr>
                                <m:sty m:val="p"/>
                              </m:rPr>
                              <a:rPr lang="en-US" altLang="zh-TW" sz="2400" i="0" dirty="0" smtClean="0">
                                <a:latin typeface="Cambria Math" panose="02040503050406030204" pitchFamily="18" charset="0"/>
                              </a:rPr>
                              <m:t>log</m:t>
                            </m:r>
                          </m:fName>
                          <m:e>
                            <m:r>
                              <a:rPr lang="en-US" altLang="zh-TW" sz="2400" b="0" i="1" dirty="0" smtClean="0">
                                <a:latin typeface="Cambria Math" panose="02040503050406030204" pitchFamily="18" charset="0"/>
                              </a:rPr>
                              <m:t>𝑛</m:t>
                            </m:r>
                          </m:e>
                        </m:func>
                      </m:e>
                    </m:d>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𝑡𝑖𝑚𝑒</m:t>
                    </m:r>
                    <m:r>
                      <a:rPr lang="en-US" altLang="zh-TW" sz="2400" b="0" i="1" dirty="0" smtClean="0">
                        <a:latin typeface="Cambria Math" panose="02040503050406030204" pitchFamily="18" charset="0"/>
                      </a:rPr>
                      <m:t> </m:t>
                    </m:r>
                  </m:oMath>
                </a14:m>
                <a:r>
                  <a:rPr lang="en-US" altLang="zh-TW" sz="2400" dirty="0" smtClean="0">
                    <a:latin typeface="Times New Roman" panose="02020603050405020304" pitchFamily="18" charset="0"/>
                    <a:cs typeface="Times New Roman" panose="02020603050405020304" pitchFamily="18" charset="0"/>
                  </a:rPr>
                  <a:t>with two BITs.</a:t>
                </a:r>
              </a:p>
              <a:p>
                <a:endParaRPr lang="it-IT" altLang="zh-TW" sz="1600" dirty="0" smtClean="0">
                  <a:latin typeface="Times New Roman" panose="02020603050405020304" pitchFamily="18" charset="0"/>
                  <a:cs typeface="Times New Roman" panose="02020603050405020304" pitchFamily="18" charset="0"/>
                </a:endParaRPr>
              </a:p>
              <a:p>
                <a:r>
                  <a:rPr lang="it-IT" altLang="zh-TW" sz="1600" dirty="0" smtClean="0">
                    <a:latin typeface="Times New Roman" panose="02020603050405020304" pitchFamily="18" charset="0"/>
                    <a:cs typeface="Times New Roman" panose="02020603050405020304" pitchFamily="18" charset="0"/>
                  </a:rPr>
                  <a:t>Mircea DIMA and Rodica CETERCHI, </a:t>
                </a:r>
                <a:r>
                  <a:rPr lang="en-US" altLang="zh-TW" sz="1600" dirty="0">
                    <a:latin typeface="Times New Roman" panose="02020603050405020304" pitchFamily="18" charset="0"/>
                    <a:cs typeface="Times New Roman" panose="02020603050405020304" pitchFamily="18" charset="0"/>
                  </a:rPr>
                  <a:t>Efficient Range Minimum Queries using Binary Indexed </a:t>
                </a:r>
                <a:r>
                  <a:rPr lang="en-US" altLang="zh-TW" sz="1600" dirty="0" smtClean="0">
                    <a:latin typeface="Times New Roman" panose="02020603050405020304" pitchFamily="18" charset="0"/>
                    <a:cs typeface="Times New Roman" panose="02020603050405020304" pitchFamily="18" charset="0"/>
                  </a:rPr>
                  <a:t>Trees,</a:t>
                </a:r>
              </a:p>
              <a:p>
                <a:r>
                  <a:rPr lang="en-US" altLang="zh-TW" sz="1600" dirty="0" smtClean="0">
                    <a:latin typeface="Times New Roman" panose="02020603050405020304" pitchFamily="18" charset="0"/>
                    <a:cs typeface="Times New Roman" panose="02020603050405020304" pitchFamily="18" charset="0"/>
                  </a:rPr>
                  <a:t>Olympiads </a:t>
                </a:r>
                <a:r>
                  <a:rPr lang="en-US" altLang="zh-TW" sz="1600" dirty="0">
                    <a:latin typeface="Times New Roman" panose="02020603050405020304" pitchFamily="18" charset="0"/>
                    <a:cs typeface="Times New Roman" panose="02020603050405020304" pitchFamily="18" charset="0"/>
                  </a:rPr>
                  <a:t>in </a:t>
                </a:r>
                <a:r>
                  <a:rPr lang="en-US" altLang="zh-TW" sz="1600" dirty="0" smtClean="0">
                    <a:latin typeface="Times New Roman" panose="02020603050405020304" pitchFamily="18" charset="0"/>
                    <a:cs typeface="Times New Roman" panose="02020603050405020304" pitchFamily="18" charset="0"/>
                  </a:rPr>
                  <a:t>Informatics, 2015, pp. 39-44</a:t>
                </a:r>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97760" y="4191008"/>
                <a:ext cx="9050619" cy="1200329"/>
              </a:xfrm>
              <a:prstGeom prst="rect">
                <a:avLst/>
              </a:prstGeom>
              <a:blipFill rotWithShape="0">
                <a:blip r:embed="rId2"/>
                <a:stretch>
                  <a:fillRect l="-1010" t="-4082" b="-61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809237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10923</TotalTime>
  <Words>2180</Words>
  <Application>Microsoft Office PowerPoint</Application>
  <PresentationFormat>如螢幕大小 (4:3)</PresentationFormat>
  <Paragraphs>1284</Paragraphs>
  <Slides>33</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33</vt:i4>
      </vt:variant>
    </vt:vector>
  </HeadingPairs>
  <TitlesOfParts>
    <vt:vector size="42" baseType="lpstr">
      <vt:lpstr>Arial Unicode MS</vt:lpstr>
      <vt:lpstr>KaiTi</vt:lpstr>
      <vt:lpstr>新細明體</vt:lpstr>
      <vt:lpstr>Arial</vt:lpstr>
      <vt:lpstr>Calibri</vt:lpstr>
      <vt:lpstr>Calibri Light</vt:lpstr>
      <vt:lpstr>Cambria Math</vt:lpstr>
      <vt:lpstr>Times New Roman</vt:lpstr>
      <vt:lpstr>Office 佈景主題</vt:lpstr>
      <vt:lpstr>PowerPoint 簡報</vt:lpstr>
      <vt:lpstr>Abstract(1/2)</vt:lpstr>
      <vt:lpstr>Abstract(2/2)</vt:lpstr>
      <vt:lpstr>Cumulative frequency tables</vt:lpstr>
      <vt:lpstr>Range Query &amp; Point Update</vt:lpstr>
      <vt:lpstr>Range Query(1/3)</vt:lpstr>
      <vt:lpstr>Range Query(2/3)</vt:lpstr>
      <vt:lpstr>Range Query(3/3)</vt:lpstr>
      <vt:lpstr>Point Update(1/3)</vt:lpstr>
      <vt:lpstr>Point Update(2/3)</vt:lpstr>
      <vt:lpstr>Point Update(3/3)</vt:lpstr>
      <vt:lpstr>Initialization(1/6)</vt:lpstr>
      <vt:lpstr>Initialization(2/6)</vt:lpstr>
      <vt:lpstr>Initialization(3/6)</vt:lpstr>
      <vt:lpstr>Initialization(4/6)</vt:lpstr>
      <vt:lpstr>Initialization(5/6)</vt:lpstr>
      <vt:lpstr>Initialization(6/6)</vt:lpstr>
      <vt:lpstr>Range Update &amp; Point Query</vt:lpstr>
      <vt:lpstr>Range Update, Point Query(1/7)</vt:lpstr>
      <vt:lpstr>Range Update, Point Query(2/7)</vt:lpstr>
      <vt:lpstr>Range Update, Point Query(3/7)</vt:lpstr>
      <vt:lpstr>Range Update, Point Query(4/7)</vt:lpstr>
      <vt:lpstr>Range Update, Point Query(5/7)</vt:lpstr>
      <vt:lpstr>Range Update, Point Query(6/7)</vt:lpstr>
      <vt:lpstr>Range Update, Point Query(7/7)</vt:lpstr>
      <vt:lpstr>Range Update &amp; Range Query</vt:lpstr>
      <vt:lpstr>Range Update, Range Query(1/6)</vt:lpstr>
      <vt:lpstr>Range Update, Range Query(2/6)</vt:lpstr>
      <vt:lpstr>Range Update, Range Query(3/6)</vt:lpstr>
      <vt:lpstr>Range Update, Range Query(4/6)</vt:lpstr>
      <vt:lpstr>Range Update, Range Query(5/6)</vt:lpstr>
      <vt:lpstr>Range Update, Range Query(6/6)</vt:lpstr>
      <vt:lpstr>BIT V.S. RMQ &amp; PU?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Bebe</dc:creator>
  <cp:lastModifiedBy>pplab-class</cp:lastModifiedBy>
  <cp:revision>1209</cp:revision>
  <dcterms:created xsi:type="dcterms:W3CDTF">2015-06-30T03:57:49Z</dcterms:created>
  <dcterms:modified xsi:type="dcterms:W3CDTF">2017-05-24T12:32:48Z</dcterms:modified>
</cp:coreProperties>
</file>