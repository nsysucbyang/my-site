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handoutMasterIdLst>
    <p:handoutMasterId r:id="rId27"/>
  </p:handoutMasterIdLst>
  <p:sldIdLst>
    <p:sldId id="256" r:id="rId2"/>
    <p:sldId id="260" r:id="rId3"/>
    <p:sldId id="259" r:id="rId4"/>
    <p:sldId id="261" r:id="rId5"/>
    <p:sldId id="262" r:id="rId6"/>
    <p:sldId id="263" r:id="rId7"/>
    <p:sldId id="264" r:id="rId8"/>
    <p:sldId id="265" r:id="rId9"/>
    <p:sldId id="267" r:id="rId10"/>
    <p:sldId id="266" r:id="rId11"/>
    <p:sldId id="268" r:id="rId12"/>
    <p:sldId id="271" r:id="rId13"/>
    <p:sldId id="269" r:id="rId14"/>
    <p:sldId id="270" r:id="rId15"/>
    <p:sldId id="272" r:id="rId16"/>
    <p:sldId id="273" r:id="rId17"/>
    <p:sldId id="274" r:id="rId18"/>
    <p:sldId id="275" r:id="rId19"/>
    <p:sldId id="277" r:id="rId20"/>
    <p:sldId id="276" r:id="rId21"/>
    <p:sldId id="279" r:id="rId22"/>
    <p:sldId id="280" r:id="rId23"/>
    <p:sldId id="278" r:id="rId24"/>
    <p:sldId id="281" r:id="rId2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0" autoAdjust="0"/>
    <p:restoredTop sz="88876" autoAdjust="0"/>
  </p:normalViewPr>
  <p:slideViewPr>
    <p:cSldViewPr snapToGrid="0">
      <p:cViewPr varScale="1">
        <p:scale>
          <a:sx n="78" d="100"/>
          <a:sy n="78" d="100"/>
        </p:scale>
        <p:origin x="60" y="900"/>
      </p:cViewPr>
      <p:guideLst/>
    </p:cSldViewPr>
  </p:slideViewPr>
  <p:notesTextViewPr>
    <p:cViewPr>
      <p:scale>
        <a:sx n="150" d="100"/>
        <a:sy n="150" d="100"/>
      </p:scale>
      <p:origin x="0" y="0"/>
    </p:cViewPr>
  </p:notesTextViewPr>
  <p:sorterViewPr>
    <p:cViewPr>
      <p:scale>
        <a:sx n="100" d="100"/>
        <a:sy n="100" d="100"/>
      </p:scale>
      <p:origin x="0" y="-193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BCB409-2DA1-4BCA-B435-C6D650D60C53}" type="datetimeFigureOut">
              <a:rPr lang="zh-TW" altLang="en-US" smtClean="0"/>
              <a:t>2017/9/25</a:t>
            </a:fld>
            <a:endParaRPr lang="zh-TW" altLang="en-US"/>
          </a:p>
        </p:txBody>
      </p:sp>
      <p:sp>
        <p:nvSpPr>
          <p:cNvPr id="4" name="頁尾版面配置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6F0565-5FB6-414C-A160-5E7695D65A9B}" type="slidenum">
              <a:rPr lang="zh-TW" altLang="en-US" smtClean="0"/>
              <a:t>‹#›</a:t>
            </a:fld>
            <a:endParaRPr lang="zh-TW" altLang="en-US"/>
          </a:p>
        </p:txBody>
      </p:sp>
    </p:spTree>
    <p:extLst>
      <p:ext uri="{BB962C8B-B14F-4D97-AF65-F5344CB8AC3E}">
        <p14:creationId xmlns:p14="http://schemas.microsoft.com/office/powerpoint/2010/main" val="41654234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CDEB75-3589-4D32-B44A-E0772C0D15C5}" type="datetimeFigureOut">
              <a:rPr lang="zh-TW" altLang="en-US" smtClean="0"/>
              <a:t>2017/9/25</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F0D5DF-B2A2-41B1-A94F-55B40B4E12BA}" type="slidenum">
              <a:rPr lang="zh-TW" altLang="en-US" smtClean="0"/>
              <a:t>‹#›</a:t>
            </a:fld>
            <a:endParaRPr lang="zh-TW" altLang="en-US"/>
          </a:p>
        </p:txBody>
      </p:sp>
    </p:spTree>
    <p:extLst>
      <p:ext uri="{BB962C8B-B14F-4D97-AF65-F5344CB8AC3E}">
        <p14:creationId xmlns:p14="http://schemas.microsoft.com/office/powerpoint/2010/main" val="30957097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a:t>
            </a:fld>
            <a:endParaRPr lang="zh-TW" altLang="en-US"/>
          </a:p>
        </p:txBody>
      </p:sp>
    </p:spTree>
    <p:extLst>
      <p:ext uri="{BB962C8B-B14F-4D97-AF65-F5344CB8AC3E}">
        <p14:creationId xmlns:p14="http://schemas.microsoft.com/office/powerpoint/2010/main" val="949795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2</a:t>
            </a:fld>
            <a:endParaRPr lang="zh-TW" altLang="en-US"/>
          </a:p>
        </p:txBody>
      </p:sp>
    </p:spTree>
    <p:extLst>
      <p:ext uri="{BB962C8B-B14F-4D97-AF65-F5344CB8AC3E}">
        <p14:creationId xmlns:p14="http://schemas.microsoft.com/office/powerpoint/2010/main" val="2046074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3</a:t>
            </a:fld>
            <a:endParaRPr lang="zh-TW" altLang="en-US"/>
          </a:p>
        </p:txBody>
      </p:sp>
    </p:spTree>
    <p:extLst>
      <p:ext uri="{BB962C8B-B14F-4D97-AF65-F5344CB8AC3E}">
        <p14:creationId xmlns:p14="http://schemas.microsoft.com/office/powerpoint/2010/main" val="2041258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4</a:t>
            </a:fld>
            <a:endParaRPr lang="zh-TW" altLang="en-US"/>
          </a:p>
        </p:txBody>
      </p:sp>
    </p:spTree>
    <p:extLst>
      <p:ext uri="{BB962C8B-B14F-4D97-AF65-F5344CB8AC3E}">
        <p14:creationId xmlns:p14="http://schemas.microsoft.com/office/powerpoint/2010/main" val="782181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5</a:t>
            </a:fld>
            <a:endParaRPr lang="zh-TW" altLang="en-US"/>
          </a:p>
        </p:txBody>
      </p:sp>
    </p:spTree>
    <p:extLst>
      <p:ext uri="{BB962C8B-B14F-4D97-AF65-F5344CB8AC3E}">
        <p14:creationId xmlns:p14="http://schemas.microsoft.com/office/powerpoint/2010/main" val="230893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6</a:t>
            </a:fld>
            <a:endParaRPr lang="zh-TW" altLang="en-US"/>
          </a:p>
        </p:txBody>
      </p:sp>
    </p:spTree>
    <p:extLst>
      <p:ext uri="{BB962C8B-B14F-4D97-AF65-F5344CB8AC3E}">
        <p14:creationId xmlns:p14="http://schemas.microsoft.com/office/powerpoint/2010/main" val="20464802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7</a:t>
            </a:fld>
            <a:endParaRPr lang="zh-TW" altLang="en-US"/>
          </a:p>
        </p:txBody>
      </p:sp>
    </p:spTree>
    <p:extLst>
      <p:ext uri="{BB962C8B-B14F-4D97-AF65-F5344CB8AC3E}">
        <p14:creationId xmlns:p14="http://schemas.microsoft.com/office/powerpoint/2010/main" val="3193892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8</a:t>
            </a:fld>
            <a:endParaRPr lang="zh-TW" altLang="en-US"/>
          </a:p>
        </p:txBody>
      </p:sp>
    </p:spTree>
    <p:extLst>
      <p:ext uri="{BB962C8B-B14F-4D97-AF65-F5344CB8AC3E}">
        <p14:creationId xmlns:p14="http://schemas.microsoft.com/office/powerpoint/2010/main" val="173849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9</a:t>
            </a:fld>
            <a:endParaRPr lang="zh-TW" altLang="en-US"/>
          </a:p>
        </p:txBody>
      </p:sp>
    </p:spTree>
    <p:extLst>
      <p:ext uri="{BB962C8B-B14F-4D97-AF65-F5344CB8AC3E}">
        <p14:creationId xmlns:p14="http://schemas.microsoft.com/office/powerpoint/2010/main" val="254712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10</a:t>
            </a:fld>
            <a:endParaRPr lang="zh-TW" altLang="en-US"/>
          </a:p>
        </p:txBody>
      </p:sp>
    </p:spTree>
    <p:extLst>
      <p:ext uri="{BB962C8B-B14F-4D97-AF65-F5344CB8AC3E}">
        <p14:creationId xmlns:p14="http://schemas.microsoft.com/office/powerpoint/2010/main" val="3460586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11</a:t>
            </a:fld>
            <a:endParaRPr lang="zh-TW" altLang="en-US"/>
          </a:p>
        </p:txBody>
      </p:sp>
    </p:spTree>
    <p:extLst>
      <p:ext uri="{BB962C8B-B14F-4D97-AF65-F5344CB8AC3E}">
        <p14:creationId xmlns:p14="http://schemas.microsoft.com/office/powerpoint/2010/main" val="2168035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12</a:t>
            </a:fld>
            <a:endParaRPr lang="zh-TW" altLang="en-US"/>
          </a:p>
        </p:txBody>
      </p:sp>
    </p:spTree>
    <p:extLst>
      <p:ext uri="{BB962C8B-B14F-4D97-AF65-F5344CB8AC3E}">
        <p14:creationId xmlns:p14="http://schemas.microsoft.com/office/powerpoint/2010/main" val="19527933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13</a:t>
            </a:fld>
            <a:endParaRPr lang="zh-TW" altLang="en-US"/>
          </a:p>
        </p:txBody>
      </p:sp>
    </p:spTree>
    <p:extLst>
      <p:ext uri="{BB962C8B-B14F-4D97-AF65-F5344CB8AC3E}">
        <p14:creationId xmlns:p14="http://schemas.microsoft.com/office/powerpoint/2010/main" val="4192300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14</a:t>
            </a:fld>
            <a:endParaRPr lang="zh-TW" altLang="en-US"/>
          </a:p>
        </p:txBody>
      </p:sp>
    </p:spTree>
    <p:extLst>
      <p:ext uri="{BB962C8B-B14F-4D97-AF65-F5344CB8AC3E}">
        <p14:creationId xmlns:p14="http://schemas.microsoft.com/office/powerpoint/2010/main" val="1244746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15</a:t>
            </a:fld>
            <a:endParaRPr lang="zh-TW" altLang="en-US"/>
          </a:p>
        </p:txBody>
      </p:sp>
    </p:spTree>
    <p:extLst>
      <p:ext uri="{BB962C8B-B14F-4D97-AF65-F5344CB8AC3E}">
        <p14:creationId xmlns:p14="http://schemas.microsoft.com/office/powerpoint/2010/main" val="32204229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16</a:t>
            </a:fld>
            <a:endParaRPr lang="zh-TW" altLang="en-US"/>
          </a:p>
        </p:txBody>
      </p:sp>
    </p:spTree>
    <p:extLst>
      <p:ext uri="{BB962C8B-B14F-4D97-AF65-F5344CB8AC3E}">
        <p14:creationId xmlns:p14="http://schemas.microsoft.com/office/powerpoint/2010/main" val="1943468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17</a:t>
            </a:fld>
            <a:endParaRPr lang="zh-TW" altLang="en-US"/>
          </a:p>
        </p:txBody>
      </p:sp>
    </p:spTree>
    <p:extLst>
      <p:ext uri="{BB962C8B-B14F-4D97-AF65-F5344CB8AC3E}">
        <p14:creationId xmlns:p14="http://schemas.microsoft.com/office/powerpoint/2010/main" val="1223283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18</a:t>
            </a:fld>
            <a:endParaRPr lang="zh-TW" altLang="en-US"/>
          </a:p>
        </p:txBody>
      </p:sp>
    </p:spTree>
    <p:extLst>
      <p:ext uri="{BB962C8B-B14F-4D97-AF65-F5344CB8AC3E}">
        <p14:creationId xmlns:p14="http://schemas.microsoft.com/office/powerpoint/2010/main" val="36944161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19</a:t>
            </a:fld>
            <a:endParaRPr lang="zh-TW" altLang="en-US"/>
          </a:p>
        </p:txBody>
      </p:sp>
    </p:spTree>
    <p:extLst>
      <p:ext uri="{BB962C8B-B14F-4D97-AF65-F5344CB8AC3E}">
        <p14:creationId xmlns:p14="http://schemas.microsoft.com/office/powerpoint/2010/main" val="3778318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20</a:t>
            </a:fld>
            <a:endParaRPr lang="zh-TW" altLang="en-US"/>
          </a:p>
        </p:txBody>
      </p:sp>
    </p:spTree>
    <p:extLst>
      <p:ext uri="{BB962C8B-B14F-4D97-AF65-F5344CB8AC3E}">
        <p14:creationId xmlns:p14="http://schemas.microsoft.com/office/powerpoint/2010/main" val="1610760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21</a:t>
            </a:fld>
            <a:endParaRPr lang="zh-TW" altLang="en-US"/>
          </a:p>
        </p:txBody>
      </p:sp>
    </p:spTree>
    <p:extLst>
      <p:ext uri="{BB962C8B-B14F-4D97-AF65-F5344CB8AC3E}">
        <p14:creationId xmlns:p14="http://schemas.microsoft.com/office/powerpoint/2010/main" val="22230911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22</a:t>
            </a:fld>
            <a:endParaRPr lang="zh-TW" altLang="en-US"/>
          </a:p>
        </p:txBody>
      </p:sp>
    </p:spTree>
    <p:extLst>
      <p:ext uri="{BB962C8B-B14F-4D97-AF65-F5344CB8AC3E}">
        <p14:creationId xmlns:p14="http://schemas.microsoft.com/office/powerpoint/2010/main" val="24950465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23</a:t>
            </a:fld>
            <a:endParaRPr lang="zh-TW" altLang="en-US"/>
          </a:p>
        </p:txBody>
      </p:sp>
    </p:spTree>
    <p:extLst>
      <p:ext uri="{BB962C8B-B14F-4D97-AF65-F5344CB8AC3E}">
        <p14:creationId xmlns:p14="http://schemas.microsoft.com/office/powerpoint/2010/main" val="34879772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24</a:t>
            </a:fld>
            <a:endParaRPr lang="zh-TW" altLang="en-US"/>
          </a:p>
        </p:txBody>
      </p:sp>
    </p:spTree>
    <p:extLst>
      <p:ext uri="{BB962C8B-B14F-4D97-AF65-F5344CB8AC3E}">
        <p14:creationId xmlns:p14="http://schemas.microsoft.com/office/powerpoint/2010/main" val="1599707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0A9F874B-C395-47F4-9570-4C8CF7D45370}" type="datetime1">
              <a:rPr lang="zh-TW" altLang="en-US" smtClean="0"/>
              <a:t>2017/9/25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699006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15D2DEDB-5F5E-44FA-B831-E90F058DB6F4}" type="datetime1">
              <a:rPr lang="zh-TW" altLang="en-US" smtClean="0"/>
              <a:t>2017/9/25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795238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60281630-F4D6-4EBF-9C74-8617157AD5D6}" type="datetime1">
              <a:rPr lang="zh-TW" altLang="en-US" smtClean="0"/>
              <a:t>2017/9/25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097132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C5A7D3DE-8CFB-4129-96E2-08988034C732}" type="datetime1">
              <a:rPr lang="zh-TW" altLang="en-US" smtClean="0"/>
              <a:t>2017/9/25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3484120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05EBCE5E-A50E-4314-8E1B-4CDA583A915B}" type="datetime1">
              <a:rPr lang="zh-TW" altLang="en-US" smtClean="0"/>
              <a:t>2017/9/25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753329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B6E3D8EC-D88C-48B5-B26B-F86C173BA82F}" type="datetime1">
              <a:rPr lang="zh-TW" altLang="en-US" smtClean="0"/>
              <a:t>2017/9/25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58534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02FB5D-05F3-4856-AB9D-B8A7C57C895A}" type="datetime1">
              <a:rPr lang="zh-TW" altLang="en-US" smtClean="0"/>
              <a:t>2017/9/25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30512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067A97A6-071E-4A76-B85B-D424C755E7DF}" type="datetime1">
              <a:rPr lang="zh-TW" altLang="en-US" smtClean="0"/>
              <a:t>2017/9/25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04895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F36F83EC-5F79-4973-9855-BCC29F5B863A}" type="datetime1">
              <a:rPr lang="zh-TW" altLang="en-US" smtClean="0"/>
              <a:t>2017/9/25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615642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8A363B9F-CBD6-4321-983D-C2EF11BDF098}" type="datetime1">
              <a:rPr lang="zh-TW" altLang="en-US" smtClean="0"/>
              <a:t>2017/9/25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294415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96E04472-345F-406F-9172-EFF7C92DEB6F}" type="datetime1">
              <a:rPr lang="zh-TW" altLang="en-US" smtClean="0"/>
              <a:t>2017/9/25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1995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CA1D2B-8465-443F-AA03-EF1EA2D4A471}" type="datetime1">
              <a:rPr lang="zh-TW" altLang="en-US" smtClean="0"/>
              <a:t>2017/9/25</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1235553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5903" y="224732"/>
            <a:ext cx="8905101" cy="1496976"/>
          </a:xfrm>
        </p:spPr>
        <p:txBody>
          <a:bodyPr>
            <a:normAutofit/>
          </a:bodyPr>
          <a:lstStyle/>
          <a:p>
            <a:r>
              <a:rPr lang="en-US" altLang="zh-TW" sz="3600" dirty="0">
                <a:latin typeface="Times New Roman" panose="02020603050405020304" pitchFamily="18" charset="0"/>
                <a:cs typeface="Times New Roman" panose="02020603050405020304" pitchFamily="18" charset="0"/>
              </a:rPr>
              <a:t>A </a:t>
            </a:r>
            <a:r>
              <a:rPr lang="en-US" altLang="zh-TW" sz="3600" dirty="0" err="1" smtClean="0">
                <a:latin typeface="Times New Roman" panose="02020603050405020304" pitchFamily="18" charset="0"/>
                <a:cs typeface="Times New Roman" panose="02020603050405020304" pitchFamily="18" charset="0"/>
              </a:rPr>
              <a:t>Subquadratic</a:t>
            </a:r>
            <a:r>
              <a:rPr lang="en-US" altLang="zh-TW" sz="3600" dirty="0" smtClean="0">
                <a:latin typeface="Times New Roman" panose="02020603050405020304" pitchFamily="18" charset="0"/>
                <a:cs typeface="Times New Roman" panose="02020603050405020304" pitchFamily="18" charset="0"/>
              </a:rPr>
              <a:t> Sequence Alignment Algorithm </a:t>
            </a:r>
            <a:r>
              <a:rPr lang="en-US" altLang="zh-TW" sz="3600" dirty="0">
                <a:latin typeface="Times New Roman" panose="02020603050405020304" pitchFamily="18" charset="0"/>
                <a:cs typeface="Times New Roman" panose="02020603050405020304" pitchFamily="18" charset="0"/>
              </a:rPr>
              <a:t>for </a:t>
            </a:r>
            <a:r>
              <a:rPr lang="en-US" altLang="zh-TW" sz="3600" dirty="0" smtClean="0">
                <a:latin typeface="Times New Roman" panose="02020603050405020304" pitchFamily="18" charset="0"/>
                <a:cs typeface="Times New Roman" panose="02020603050405020304" pitchFamily="18" charset="0"/>
              </a:rPr>
              <a:t>Unrestricted Scoring Matrices</a:t>
            </a:r>
            <a:endParaRPr lang="zh-TW" altLang="en-US" sz="36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419895" y="2060448"/>
            <a:ext cx="8353402" cy="4111751"/>
          </a:xfrm>
        </p:spPr>
        <p:txBody>
          <a:bodyPr>
            <a:noAutofit/>
          </a:bodyPr>
          <a:lstStyle/>
          <a:p>
            <a:endParaRPr lang="en-US" altLang="zh-TW" dirty="0">
              <a:latin typeface="Times New Roman" panose="02020603050405020304" pitchFamily="18" charset="0"/>
              <a:cs typeface="Times New Roman" panose="02020603050405020304" pitchFamily="18" charset="0"/>
            </a:endParaRPr>
          </a:p>
          <a:p>
            <a:endParaRPr lang="en-US" altLang="zh-TW" dirty="0" smtClean="0">
              <a:latin typeface="Times New Roman" panose="02020603050405020304" pitchFamily="18" charset="0"/>
              <a:cs typeface="Times New Roman" panose="02020603050405020304" pitchFamily="18" charset="0"/>
            </a:endParaRPr>
          </a:p>
          <a:p>
            <a:r>
              <a:rPr lang="en-US" altLang="zh-TW" dirty="0" err="1">
                <a:latin typeface="Times New Roman" panose="02020603050405020304" pitchFamily="18" charset="0"/>
                <a:cs typeface="Times New Roman" panose="02020603050405020304" pitchFamily="18" charset="0"/>
              </a:rPr>
              <a:t>Maxime</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Crochemore</a:t>
            </a:r>
            <a:r>
              <a:rPr lang="en-US" altLang="zh-TW" dirty="0">
                <a:latin typeface="Times New Roman" panose="02020603050405020304" pitchFamily="18" charset="0"/>
                <a:cs typeface="Times New Roman" panose="02020603050405020304" pitchFamily="18" charset="0"/>
              </a:rPr>
              <a:t>, Gad M. Landau, and Michal </a:t>
            </a:r>
            <a:r>
              <a:rPr lang="en-US" altLang="zh-TW" dirty="0" err="1" smtClean="0">
                <a:latin typeface="Times New Roman" panose="02020603050405020304" pitchFamily="18" charset="0"/>
                <a:cs typeface="Times New Roman" panose="02020603050405020304" pitchFamily="18" charset="0"/>
              </a:rPr>
              <a:t>Ziv-Ukelson</a:t>
            </a:r>
            <a:endParaRPr lang="en-US" altLang="zh-TW" dirty="0" smtClean="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Society for </a:t>
            </a:r>
            <a:r>
              <a:rPr lang="en-US" altLang="zh-TW" dirty="0" smtClean="0">
                <a:latin typeface="Times New Roman" panose="02020603050405020304" pitchFamily="18" charset="0"/>
                <a:cs typeface="Times New Roman" panose="02020603050405020304" pitchFamily="18" charset="0"/>
              </a:rPr>
              <a:t>Industrial </a:t>
            </a:r>
            <a:r>
              <a:rPr lang="en-US" altLang="zh-TW" dirty="0">
                <a:latin typeface="Times New Roman" panose="02020603050405020304" pitchFamily="18" charset="0"/>
                <a:cs typeface="Times New Roman" panose="02020603050405020304" pitchFamily="18" charset="0"/>
              </a:rPr>
              <a:t>and Applied Mathematics, Vol. 32, No. 6, </a:t>
            </a:r>
            <a:endParaRPr lang="en-US" altLang="zh-TW"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pp</a:t>
            </a:r>
            <a:r>
              <a:rPr lang="en-US" altLang="zh-TW" dirty="0">
                <a:latin typeface="Times New Roman" panose="02020603050405020304" pitchFamily="18" charset="0"/>
                <a:cs typeface="Times New Roman" panose="02020603050405020304" pitchFamily="18" charset="0"/>
              </a:rPr>
              <a:t>. 1654–1673 (2003</a:t>
            </a:r>
            <a:r>
              <a:rPr lang="en-US" altLang="zh-TW" dirty="0" smtClean="0">
                <a:latin typeface="Times New Roman" panose="02020603050405020304" pitchFamily="18" charset="0"/>
                <a:cs typeface="Times New Roman" panose="02020603050405020304" pitchFamily="18" charset="0"/>
              </a:rPr>
              <a:t>)</a:t>
            </a:r>
          </a:p>
          <a:p>
            <a:endParaRPr lang="en-US" altLang="zh-TW" dirty="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ea typeface="+mj-ea"/>
                <a:cs typeface="Times New Roman" panose="02020603050405020304" pitchFamily="18" charset="0"/>
              </a:rPr>
              <a:t>Presenter</a:t>
            </a:r>
            <a:r>
              <a:rPr lang="en-US" altLang="zh-TW" dirty="0">
                <a:latin typeface="Times New Roman" panose="02020603050405020304" pitchFamily="18" charset="0"/>
                <a:ea typeface="+mj-ea"/>
                <a:cs typeface="Times New Roman" panose="02020603050405020304" pitchFamily="18" charset="0"/>
              </a:rPr>
              <a:t>: </a:t>
            </a:r>
            <a:r>
              <a:rPr lang="en-US" altLang="zh-TW" dirty="0" err="1" smtClean="0">
                <a:latin typeface="Times New Roman" panose="02020603050405020304" pitchFamily="18" charset="0"/>
                <a:ea typeface="+mj-ea"/>
                <a:cs typeface="Times New Roman" panose="02020603050405020304" pitchFamily="18" charset="0"/>
              </a:rPr>
              <a:t>Shou</a:t>
            </a:r>
            <a:r>
              <a:rPr lang="en-US" altLang="zh-TW" dirty="0" smtClean="0">
                <a:latin typeface="Times New Roman" panose="02020603050405020304" pitchFamily="18" charset="0"/>
                <a:ea typeface="+mj-ea"/>
                <a:cs typeface="Times New Roman" panose="02020603050405020304" pitchFamily="18" charset="0"/>
              </a:rPr>
              <a:t>-Fu </a:t>
            </a:r>
            <a:r>
              <a:rPr lang="en-US" altLang="zh-TW" dirty="0">
                <a:latin typeface="Times New Roman" panose="02020603050405020304" pitchFamily="18" charset="0"/>
                <a:ea typeface="+mj-ea"/>
                <a:cs typeface="Times New Roman" panose="02020603050405020304" pitchFamily="18" charset="0"/>
              </a:rPr>
              <a:t>Lo</a:t>
            </a:r>
          </a:p>
          <a:p>
            <a:r>
              <a:rPr lang="en-US" altLang="zh-TW" dirty="0" smtClean="0">
                <a:latin typeface="Times New Roman" panose="02020603050405020304" pitchFamily="18" charset="0"/>
                <a:ea typeface="+mj-ea"/>
                <a:cs typeface="Times New Roman" panose="02020603050405020304" pitchFamily="18" charset="0"/>
              </a:rPr>
              <a:t>Date:2017/09/27</a:t>
            </a:r>
            <a:endParaRPr lang="zh-TW" altLang="en-US" dirty="0">
              <a:latin typeface="Times New Roman" panose="02020603050405020304" pitchFamily="18" charset="0"/>
              <a:ea typeface="+mj-ea"/>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B9CF4E80-5859-4E39-A40B-ED9B772D8B0F}" type="slidenum">
              <a:rPr lang="zh-TW" altLang="en-US" smtClean="0">
                <a:latin typeface="Times New Roman" panose="02020603050405020304" pitchFamily="18" charset="0"/>
                <a:cs typeface="Times New Roman" panose="02020603050405020304" pitchFamily="18" charset="0"/>
              </a:rPr>
              <a:t>1</a:t>
            </a:fld>
            <a:endParaRPr lang="zh-TW"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20002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101639"/>
            <a:ext cx="7886700" cy="1325563"/>
          </a:xfrm>
        </p:spPr>
        <p:txBody>
          <a:bodyPr/>
          <a:lstStyle/>
          <a:p>
            <a:pPr algn="ctr"/>
            <a:r>
              <a:rPr lang="en-US" altLang="zh-TW" dirty="0" smtClean="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628650" y="1223924"/>
                <a:ext cx="7886700" cy="4351338"/>
              </a:xfrm>
            </p:spPr>
            <p:txBody>
              <a:bodyPr>
                <a:noAutofit/>
              </a:bodyPr>
              <a:lstStyle/>
              <a:p>
                <a:pPr>
                  <a:buNone/>
                </a:pPr>
                <a:r>
                  <a:rPr lang="en-US" altLang="zh-TW" sz="2400" dirty="0" smtClean="0">
                    <a:latin typeface="Times New Roman" panose="02020603050405020304" pitchFamily="18" charset="0"/>
                    <a:cs typeface="Times New Roman" panose="02020603050405020304" pitchFamily="18" charset="0"/>
                  </a:rPr>
                  <a:t>Given two strings of size n over a constant alphabet, the</a:t>
                </a:r>
              </a:p>
              <a:p>
                <a:pPr>
                  <a:buNone/>
                </a:pPr>
                <a:r>
                  <a:rPr lang="en-US" altLang="zh-TW" sz="2400" dirty="0" smtClean="0">
                    <a:latin typeface="Times New Roman" panose="02020603050405020304" pitchFamily="18" charset="0"/>
                    <a:cs typeface="Times New Roman" panose="02020603050405020304" pitchFamily="18" charset="0"/>
                  </a:rPr>
                  <a:t>classical </a:t>
                </a:r>
                <a:r>
                  <a:rPr lang="en-US" altLang="zh-TW" sz="2400" dirty="0">
                    <a:latin typeface="Times New Roman" panose="02020603050405020304" pitchFamily="18" charset="0"/>
                    <a:cs typeface="Times New Roman" panose="02020603050405020304" pitchFamily="18" charset="0"/>
                  </a:rPr>
                  <a:t>algorithm </a:t>
                </a:r>
                <a:r>
                  <a:rPr lang="en-US" altLang="zh-TW" sz="2400" dirty="0" smtClean="0">
                    <a:latin typeface="Times New Roman" panose="02020603050405020304" pitchFamily="18" charset="0"/>
                    <a:cs typeface="Times New Roman" panose="02020603050405020304" pitchFamily="18" charset="0"/>
                  </a:rPr>
                  <a:t>for computing </a:t>
                </a:r>
                <a:r>
                  <a:rPr lang="en-US" altLang="zh-TW" sz="2400" dirty="0">
                    <a:latin typeface="Times New Roman" panose="02020603050405020304" pitchFamily="18" charset="0"/>
                    <a:cs typeface="Times New Roman" panose="02020603050405020304" pitchFamily="18" charset="0"/>
                  </a:rPr>
                  <a:t>the similarity between </a:t>
                </a:r>
                <a:r>
                  <a:rPr lang="en-US" altLang="zh-TW" sz="2400" dirty="0" smtClean="0">
                    <a:latin typeface="Times New Roman" panose="02020603050405020304" pitchFamily="18" charset="0"/>
                    <a:cs typeface="Times New Roman" panose="02020603050405020304" pitchFamily="18" charset="0"/>
                  </a:rPr>
                  <a:t>two</a:t>
                </a:r>
              </a:p>
              <a:p>
                <a:pPr>
                  <a:buNone/>
                </a:pPr>
                <a:r>
                  <a:rPr lang="en-US" altLang="zh-TW" sz="2400" dirty="0" smtClean="0">
                    <a:latin typeface="Times New Roman" panose="02020603050405020304" pitchFamily="18" charset="0"/>
                    <a:cs typeface="Times New Roman" panose="02020603050405020304" pitchFamily="18" charset="0"/>
                  </a:rPr>
                  <a:t>sequences uses </a:t>
                </a:r>
                <a:r>
                  <a:rPr lang="en-US" altLang="zh-TW" sz="2400" dirty="0">
                    <a:latin typeface="Times New Roman" panose="02020603050405020304" pitchFamily="18" charset="0"/>
                    <a:cs typeface="Times New Roman" panose="02020603050405020304" pitchFamily="18" charset="0"/>
                  </a:rPr>
                  <a:t>a dynamic programming matrix </a:t>
                </a:r>
                <a:r>
                  <a:rPr lang="en-US" altLang="zh-TW" sz="2400" dirty="0" smtClean="0">
                    <a:latin typeface="Times New Roman" panose="02020603050405020304" pitchFamily="18" charset="0"/>
                    <a:cs typeface="Times New Roman" panose="02020603050405020304" pitchFamily="18" charset="0"/>
                  </a:rPr>
                  <a:t>and compares </a:t>
                </a:r>
              </a:p>
              <a:p>
                <a:pPr>
                  <a:buNone/>
                </a:pPr>
                <a:r>
                  <a:rPr lang="en-US" altLang="zh-TW" sz="2400" dirty="0" smtClean="0">
                    <a:latin typeface="Times New Roman" panose="02020603050405020304" pitchFamily="18" charset="0"/>
                    <a:cs typeface="Times New Roman" panose="02020603050405020304" pitchFamily="18" charset="0"/>
                  </a:rPr>
                  <a:t>the </a:t>
                </a:r>
                <a:r>
                  <a:rPr lang="en-US" altLang="zh-TW" sz="2400" dirty="0">
                    <a:latin typeface="Times New Roman" panose="02020603050405020304" pitchFamily="18" charset="0"/>
                    <a:cs typeface="Times New Roman" panose="02020603050405020304" pitchFamily="18" charset="0"/>
                  </a:rPr>
                  <a:t>two strings in</a:t>
                </a:r>
                <a:r>
                  <a:rPr lang="en-US" altLang="zh-TW" sz="2400" i="1" dirty="0">
                    <a:latin typeface="Times New Roman" panose="02020603050405020304" pitchFamily="18" charset="0"/>
                    <a:cs typeface="Times New Roman" panose="02020603050405020304" pitchFamily="18" charset="0"/>
                  </a:rPr>
                  <a:t> </a:t>
                </a:r>
                <a:r>
                  <a:rPr lang="en-US" altLang="zh-TW" sz="2400" i="1" dirty="0" smtClean="0">
                    <a:latin typeface="Times New Roman" panose="02020603050405020304" pitchFamily="18" charset="0"/>
                    <a:cs typeface="Times New Roman" panose="02020603050405020304" pitchFamily="18" charset="0"/>
                  </a:rPr>
                  <a:t>O</a:t>
                </a:r>
                <a:r>
                  <a:rPr lang="en-US" altLang="zh-TW" sz="2400" dirty="0" smtClean="0">
                    <a:latin typeface="Times New Roman" panose="02020603050405020304" pitchFamily="18" charset="0"/>
                    <a:cs typeface="Times New Roman" panose="02020603050405020304" pitchFamily="18" charset="0"/>
                  </a:rPr>
                  <a:t>(</a:t>
                </a:r>
                <a14:m>
                  <m:oMath xmlns:m="http://schemas.openxmlformats.org/officeDocument/2006/math">
                    <m:sSup>
                      <m:sSupPr>
                        <m:ctrlPr>
                          <a:rPr lang="en-US" altLang="zh-TW" sz="2400" i="1" smtClean="0">
                            <a:latin typeface="Cambria Math" panose="02040503050406030204" pitchFamily="18" charset="0"/>
                            <a:cs typeface="Times New Roman" panose="02020603050405020304" pitchFamily="18" charset="0"/>
                          </a:rPr>
                        </m:ctrlPr>
                      </m:sSupPr>
                      <m:e>
                        <m:r>
                          <a:rPr lang="en-US" altLang="zh-TW" sz="2400" b="0" i="1" smtClean="0">
                            <a:latin typeface="Cambria Math" panose="02040503050406030204" pitchFamily="18" charset="0"/>
                            <a:cs typeface="Times New Roman" panose="02020603050405020304" pitchFamily="18" charset="0"/>
                          </a:rPr>
                          <m:t>𝑛</m:t>
                        </m:r>
                      </m:e>
                      <m:sup>
                        <m:r>
                          <a:rPr lang="en-US" altLang="zh-TW" sz="2400" b="0" i="1" smtClean="0">
                            <a:latin typeface="Cambria Math" panose="02040503050406030204" pitchFamily="18" charset="0"/>
                            <a:cs typeface="Times New Roman" panose="02020603050405020304" pitchFamily="18" charset="0"/>
                          </a:rPr>
                          <m:t>2</m:t>
                        </m:r>
                      </m:sup>
                    </m:sSup>
                  </m:oMath>
                </a14:m>
                <a:r>
                  <a:rPr lang="en-US" altLang="zh-TW" sz="2400" dirty="0" smtClean="0">
                    <a:latin typeface="Times New Roman" panose="02020603050405020304" pitchFamily="18" charset="0"/>
                    <a:cs typeface="Times New Roman" panose="02020603050405020304" pitchFamily="18" charset="0"/>
                  </a:rPr>
                  <a:t>)</a:t>
                </a:r>
                <a:r>
                  <a:rPr lang="en-US" altLang="zh-TW" sz="2400" i="1"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time. We address the challenge </a:t>
                </a:r>
                <a:r>
                  <a:rPr lang="en-US" altLang="zh-TW" sz="2400" dirty="0" smtClean="0">
                    <a:latin typeface="Times New Roman" panose="02020603050405020304" pitchFamily="18" charset="0"/>
                    <a:cs typeface="Times New Roman" panose="02020603050405020304" pitchFamily="18" charset="0"/>
                  </a:rPr>
                  <a:t>of</a:t>
                </a:r>
              </a:p>
              <a:p>
                <a:pPr>
                  <a:buNone/>
                </a:pPr>
                <a:r>
                  <a:rPr lang="en-US" altLang="zh-TW" sz="2400" dirty="0" smtClean="0">
                    <a:latin typeface="Times New Roman" panose="02020603050405020304" pitchFamily="18" charset="0"/>
                    <a:cs typeface="Times New Roman" panose="02020603050405020304" pitchFamily="18" charset="0"/>
                  </a:rPr>
                  <a:t>computing </a:t>
                </a:r>
                <a:r>
                  <a:rPr lang="en-US" altLang="zh-TW" sz="2400" dirty="0">
                    <a:latin typeface="Times New Roman" panose="02020603050405020304" pitchFamily="18" charset="0"/>
                    <a:cs typeface="Times New Roman" panose="02020603050405020304" pitchFamily="18" charset="0"/>
                  </a:rPr>
                  <a:t>the similarity </a:t>
                </a:r>
                <a:r>
                  <a:rPr lang="en-US" altLang="zh-TW" sz="2400" dirty="0" smtClean="0">
                    <a:latin typeface="Times New Roman" panose="02020603050405020304" pitchFamily="18" charset="0"/>
                    <a:cs typeface="Times New Roman" panose="02020603050405020304" pitchFamily="18" charset="0"/>
                  </a:rPr>
                  <a:t>of two </a:t>
                </a:r>
                <a:r>
                  <a:rPr lang="en-US" altLang="zh-TW" sz="2400" dirty="0">
                    <a:latin typeface="Times New Roman" panose="02020603050405020304" pitchFamily="18" charset="0"/>
                    <a:cs typeface="Times New Roman" panose="02020603050405020304" pitchFamily="18" charset="0"/>
                  </a:rPr>
                  <a:t>strings in </a:t>
                </a:r>
                <a:r>
                  <a:rPr lang="en-US" altLang="zh-TW" sz="2400" dirty="0" err="1">
                    <a:latin typeface="Times New Roman" panose="02020603050405020304" pitchFamily="18" charset="0"/>
                    <a:cs typeface="Times New Roman" panose="02020603050405020304" pitchFamily="18" charset="0"/>
                  </a:rPr>
                  <a:t>subquadratic</a:t>
                </a:r>
                <a:r>
                  <a:rPr lang="en-US" altLang="zh-TW" sz="2400" dirty="0">
                    <a:latin typeface="Times New Roman" panose="02020603050405020304" pitchFamily="18" charset="0"/>
                    <a:cs typeface="Times New Roman" panose="02020603050405020304" pitchFamily="18" charset="0"/>
                  </a:rPr>
                  <a:t> time </a:t>
                </a:r>
                <a:endParaRPr lang="en-US" altLang="zh-TW" sz="2400" dirty="0" smtClean="0">
                  <a:latin typeface="Times New Roman" panose="02020603050405020304" pitchFamily="18" charset="0"/>
                  <a:cs typeface="Times New Roman" panose="02020603050405020304" pitchFamily="18" charset="0"/>
                </a:endParaRPr>
              </a:p>
              <a:p>
                <a:pPr>
                  <a:buNone/>
                </a:pPr>
                <a:r>
                  <a:rPr lang="en-US" altLang="zh-TW" sz="2400" dirty="0" smtClean="0">
                    <a:latin typeface="Times New Roman" panose="02020603050405020304" pitchFamily="18" charset="0"/>
                    <a:cs typeface="Times New Roman" panose="02020603050405020304" pitchFamily="18" charset="0"/>
                  </a:rPr>
                  <a:t>for </a:t>
                </a:r>
                <a:r>
                  <a:rPr lang="en-US" altLang="zh-TW" sz="2400" dirty="0" err="1" smtClean="0">
                    <a:latin typeface="Times New Roman" panose="02020603050405020304" pitchFamily="18" charset="0"/>
                    <a:cs typeface="Times New Roman" panose="02020603050405020304" pitchFamily="18" charset="0"/>
                  </a:rPr>
                  <a:t>metrices</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which use a scoring matrix of unrestricted weights.</a:t>
                </a:r>
              </a:p>
              <a:p>
                <a:pPr>
                  <a:buNone/>
                </a:pPr>
                <a:r>
                  <a:rPr lang="en-US" altLang="zh-TW" sz="2400" dirty="0">
                    <a:latin typeface="Times New Roman" panose="02020603050405020304" pitchFamily="18" charset="0"/>
                    <a:cs typeface="Times New Roman" panose="02020603050405020304" pitchFamily="18" charset="0"/>
                  </a:rPr>
                  <a:t>Our algorithm applies to both local and global </a:t>
                </a:r>
                <a:r>
                  <a:rPr lang="en-US" altLang="zh-TW" sz="2400" dirty="0" smtClean="0">
                    <a:latin typeface="Times New Roman" panose="02020603050405020304" pitchFamily="18" charset="0"/>
                    <a:cs typeface="Times New Roman" panose="02020603050405020304" pitchFamily="18" charset="0"/>
                  </a:rPr>
                  <a:t>similarity</a:t>
                </a:r>
              </a:p>
              <a:p>
                <a:pPr>
                  <a:buNone/>
                </a:pPr>
                <a:r>
                  <a:rPr lang="en-US" altLang="zh-TW" sz="2400" dirty="0" smtClean="0">
                    <a:latin typeface="Times New Roman" panose="02020603050405020304" pitchFamily="18" charset="0"/>
                    <a:cs typeface="Times New Roman" panose="02020603050405020304" pitchFamily="18" charset="0"/>
                  </a:rPr>
                  <a:t>computations</a:t>
                </a:r>
                <a:r>
                  <a:rPr lang="en-US" altLang="zh-TW" sz="2400" dirty="0">
                    <a:latin typeface="Times New Roman" panose="02020603050405020304" pitchFamily="18" charset="0"/>
                    <a:cs typeface="Times New Roman" panose="02020603050405020304" pitchFamily="18" charset="0"/>
                  </a:rPr>
                  <a:t>. The speed-up is </a:t>
                </a:r>
                <a:r>
                  <a:rPr lang="en-US" altLang="zh-TW" sz="2400" dirty="0" smtClean="0">
                    <a:latin typeface="Times New Roman" panose="02020603050405020304" pitchFamily="18" charset="0"/>
                    <a:cs typeface="Times New Roman" panose="02020603050405020304" pitchFamily="18" charset="0"/>
                  </a:rPr>
                  <a:t>achieved by </a:t>
                </a:r>
                <a:r>
                  <a:rPr lang="en-US" altLang="zh-TW" sz="2400" dirty="0">
                    <a:latin typeface="Times New Roman" panose="02020603050405020304" pitchFamily="18" charset="0"/>
                    <a:cs typeface="Times New Roman" panose="02020603050405020304" pitchFamily="18" charset="0"/>
                  </a:rPr>
                  <a:t>dividing the </a:t>
                </a:r>
                <a:endParaRPr lang="en-US" altLang="zh-TW" sz="2400" dirty="0" smtClean="0">
                  <a:latin typeface="Times New Roman" panose="02020603050405020304" pitchFamily="18" charset="0"/>
                  <a:cs typeface="Times New Roman" panose="02020603050405020304" pitchFamily="18" charset="0"/>
                </a:endParaRPr>
              </a:p>
              <a:p>
                <a:pPr>
                  <a:buNone/>
                </a:pPr>
                <a:r>
                  <a:rPr lang="en-US" altLang="zh-TW" sz="2400" dirty="0" smtClean="0">
                    <a:latin typeface="Times New Roman" panose="02020603050405020304" pitchFamily="18" charset="0"/>
                    <a:cs typeface="Times New Roman" panose="02020603050405020304" pitchFamily="18" charset="0"/>
                  </a:rPr>
                  <a:t>dynamic </a:t>
                </a:r>
                <a:r>
                  <a:rPr lang="en-US" altLang="zh-TW" sz="2400" dirty="0">
                    <a:latin typeface="Times New Roman" panose="02020603050405020304" pitchFamily="18" charset="0"/>
                    <a:cs typeface="Times New Roman" panose="02020603050405020304" pitchFamily="18" charset="0"/>
                  </a:rPr>
                  <a:t>programming matrix into variable sized blocks, </a:t>
                </a:r>
                <a:r>
                  <a:rPr lang="en-US" altLang="zh-TW" sz="2400" dirty="0" smtClean="0">
                    <a:latin typeface="Times New Roman" panose="02020603050405020304" pitchFamily="18" charset="0"/>
                    <a:cs typeface="Times New Roman" panose="02020603050405020304" pitchFamily="18" charset="0"/>
                  </a:rPr>
                  <a:t>as</a:t>
                </a:r>
              </a:p>
              <a:p>
                <a:pPr>
                  <a:buNone/>
                </a:pPr>
                <a:r>
                  <a:rPr lang="en-US" altLang="zh-TW" sz="2400" dirty="0" smtClean="0">
                    <a:latin typeface="Times New Roman" panose="02020603050405020304" pitchFamily="18" charset="0"/>
                    <a:cs typeface="Times New Roman" panose="02020603050405020304" pitchFamily="18" charset="0"/>
                  </a:rPr>
                  <a:t>induced </a:t>
                </a:r>
                <a:r>
                  <a:rPr lang="en-US" altLang="zh-TW" sz="2400" dirty="0">
                    <a:latin typeface="Times New Roman" panose="02020603050405020304" pitchFamily="18" charset="0"/>
                    <a:cs typeface="Times New Roman" panose="02020603050405020304" pitchFamily="18" charset="0"/>
                  </a:rPr>
                  <a:t>by </a:t>
                </a:r>
                <a:r>
                  <a:rPr lang="en-US" altLang="zh-TW" sz="2400" dirty="0" smtClean="0">
                    <a:latin typeface="Times New Roman" panose="02020603050405020304" pitchFamily="18" charset="0"/>
                    <a:cs typeface="Times New Roman" panose="02020603050405020304" pitchFamily="18" charset="0"/>
                  </a:rPr>
                  <a:t>Lempel–</a:t>
                </a:r>
                <a:r>
                  <a:rPr lang="en-US" altLang="zh-TW" sz="2400" dirty="0" err="1" smtClean="0">
                    <a:latin typeface="Times New Roman" panose="02020603050405020304" pitchFamily="18" charset="0"/>
                    <a:cs typeface="Times New Roman" panose="02020603050405020304" pitchFamily="18" charset="0"/>
                  </a:rPr>
                  <a:t>Ziv</a:t>
                </a:r>
                <a:r>
                  <a:rPr lang="en-US" altLang="zh-TW" sz="2400" dirty="0" smtClean="0">
                    <a:latin typeface="Times New Roman" panose="02020603050405020304" pitchFamily="18" charset="0"/>
                    <a:cs typeface="Times New Roman" panose="02020603050405020304" pitchFamily="18" charset="0"/>
                  </a:rPr>
                  <a:t> parsing </a:t>
                </a:r>
                <a:r>
                  <a:rPr lang="en-US" altLang="zh-TW" sz="2400" dirty="0">
                    <a:latin typeface="Times New Roman" panose="02020603050405020304" pitchFamily="18" charset="0"/>
                    <a:cs typeface="Times New Roman" panose="02020603050405020304" pitchFamily="18" charset="0"/>
                  </a:rPr>
                  <a:t>of both strings, and </a:t>
                </a:r>
                <a:r>
                  <a:rPr lang="en-US" altLang="zh-TW" sz="2400" dirty="0" smtClean="0">
                    <a:latin typeface="Times New Roman" panose="02020603050405020304" pitchFamily="18" charset="0"/>
                    <a:cs typeface="Times New Roman" panose="02020603050405020304" pitchFamily="18" charset="0"/>
                  </a:rPr>
                  <a:t>utilizing</a:t>
                </a:r>
              </a:p>
              <a:p>
                <a:pPr>
                  <a:buNone/>
                </a:pPr>
                <a:r>
                  <a:rPr lang="en-US" altLang="zh-TW" sz="2400" dirty="0" smtClean="0">
                    <a:latin typeface="Times New Roman" panose="02020603050405020304" pitchFamily="18" charset="0"/>
                    <a:cs typeface="Times New Roman" panose="02020603050405020304" pitchFamily="18" charset="0"/>
                  </a:rPr>
                  <a:t>the </a:t>
                </a:r>
                <a:r>
                  <a:rPr lang="en-US" altLang="zh-TW" sz="2400" dirty="0">
                    <a:latin typeface="Times New Roman" panose="02020603050405020304" pitchFamily="18" charset="0"/>
                    <a:cs typeface="Times New Roman" panose="02020603050405020304" pitchFamily="18" charset="0"/>
                  </a:rPr>
                  <a:t>inherent periodic nature of both strings. </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628650" y="1223924"/>
                <a:ext cx="7886700" cy="4351338"/>
              </a:xfrm>
              <a:blipFill rotWithShape="0">
                <a:blip r:embed="rId3"/>
                <a:stretch>
                  <a:fillRect l="-1159" t="-1961" r="-2009" b="-17787"/>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2</a:t>
            </a:fld>
            <a:endParaRPr lang="zh-TW"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9177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101639"/>
            <a:ext cx="7886700" cy="1325563"/>
          </a:xfrm>
        </p:spPr>
        <p:txBody>
          <a:bodyPr/>
          <a:lstStyle/>
          <a:p>
            <a:pPr algn="ctr"/>
            <a:r>
              <a:rPr lang="en-US" altLang="zh-TW" dirty="0" smtClean="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223924"/>
                <a:ext cx="7886700" cy="4351338"/>
              </a:xfrm>
            </p:spPr>
            <p:txBody>
              <a:bodyPr>
                <a:noAutofit/>
              </a:bodyPr>
              <a:lstStyle/>
              <a:p>
                <a:pPr>
                  <a:buNone/>
                </a:pPr>
                <a:r>
                  <a:rPr lang="en-US" altLang="zh-TW" sz="2400" dirty="0" smtClean="0">
                    <a:latin typeface="Times New Roman" panose="02020603050405020304" pitchFamily="18" charset="0"/>
                    <a:cs typeface="Times New Roman" panose="02020603050405020304" pitchFamily="18" charset="0"/>
                  </a:rPr>
                  <a:t>This </a:t>
                </a:r>
                <a:r>
                  <a:rPr lang="en-US" altLang="zh-TW" sz="2400" dirty="0">
                    <a:latin typeface="Times New Roman" panose="02020603050405020304" pitchFamily="18" charset="0"/>
                    <a:cs typeface="Times New Roman" panose="02020603050405020304" pitchFamily="18" charset="0"/>
                  </a:rPr>
                  <a:t>leads to </a:t>
                </a:r>
                <a:r>
                  <a:rPr lang="en-US" altLang="zh-TW" sz="2400" dirty="0" smtClean="0">
                    <a:latin typeface="Times New Roman" panose="02020603050405020304" pitchFamily="18" charset="0"/>
                    <a:cs typeface="Times New Roman" panose="02020603050405020304" pitchFamily="18" charset="0"/>
                  </a:rPr>
                  <a:t>an </a:t>
                </a:r>
                <a:r>
                  <a:rPr lang="en-US" altLang="zh-TW" sz="2400" i="1" dirty="0" smtClean="0">
                    <a:latin typeface="Times New Roman" panose="02020603050405020304" pitchFamily="18" charset="0"/>
                    <a:cs typeface="Times New Roman" panose="02020603050405020304" pitchFamily="18" charset="0"/>
                  </a:rPr>
                  <a:t>O</a:t>
                </a:r>
                <a:r>
                  <a:rPr lang="en-US" altLang="zh-TW" sz="2400" dirty="0" smtClean="0">
                    <a:latin typeface="Times New Roman" panose="02020603050405020304" pitchFamily="18" charset="0"/>
                    <a:cs typeface="Times New Roman" panose="02020603050405020304" pitchFamily="18" charset="0"/>
                  </a:rPr>
                  <a:t>(</a:t>
                </a:r>
                <a14:m>
                  <m:oMath xmlns:m="http://schemas.openxmlformats.org/officeDocument/2006/math">
                    <m:sSup>
                      <m:sSupPr>
                        <m:ctrlPr>
                          <a:rPr lang="en-US" altLang="zh-TW" sz="2400" i="1">
                            <a:latin typeface="Cambria Math" panose="02040503050406030204" pitchFamily="18" charset="0"/>
                            <a:cs typeface="Times New Roman" panose="02020603050405020304" pitchFamily="18" charset="0"/>
                          </a:rPr>
                        </m:ctrlPr>
                      </m:sSupPr>
                      <m:e>
                        <m:r>
                          <a:rPr lang="en-US" altLang="zh-TW" sz="2400" i="1">
                            <a:latin typeface="Cambria Math" panose="02040503050406030204" pitchFamily="18" charset="0"/>
                            <a:cs typeface="Times New Roman" panose="02020603050405020304" pitchFamily="18" charset="0"/>
                          </a:rPr>
                          <m:t>𝑛</m:t>
                        </m:r>
                      </m:e>
                      <m:sup>
                        <m:r>
                          <a:rPr lang="en-US" altLang="zh-TW" sz="2400" i="1">
                            <a:latin typeface="Cambria Math" panose="02040503050406030204" pitchFamily="18" charset="0"/>
                            <a:cs typeface="Times New Roman" panose="02020603050405020304" pitchFamily="18" charset="0"/>
                          </a:rPr>
                          <m:t>2</m:t>
                        </m:r>
                      </m:sup>
                    </m:sSup>
                  </m:oMath>
                </a14:m>
                <a:r>
                  <a:rPr lang="en-US" altLang="zh-TW" sz="2400" i="1" dirty="0" smtClean="0">
                    <a:latin typeface="Times New Roman" panose="02020603050405020304" pitchFamily="18" charset="0"/>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rPr>
                  <a:t>/ log n</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algorithm for an input </a:t>
                </a:r>
                <a:r>
                  <a:rPr lang="en-US" altLang="zh-TW" sz="2400" dirty="0" smtClean="0">
                    <a:latin typeface="Times New Roman" panose="02020603050405020304" pitchFamily="18" charset="0"/>
                    <a:cs typeface="Times New Roman" panose="02020603050405020304" pitchFamily="18" charset="0"/>
                  </a:rPr>
                  <a:t>of</a:t>
                </a:r>
              </a:p>
              <a:p>
                <a:pPr>
                  <a:buNone/>
                </a:pPr>
                <a:r>
                  <a:rPr lang="en-US" altLang="zh-TW" sz="2400" dirty="0" smtClean="0">
                    <a:latin typeface="Times New Roman" panose="02020603050405020304" pitchFamily="18" charset="0"/>
                    <a:cs typeface="Times New Roman" panose="02020603050405020304" pitchFamily="18" charset="0"/>
                  </a:rPr>
                  <a:t>constant </a:t>
                </a:r>
                <a:r>
                  <a:rPr lang="en-US" altLang="zh-TW" sz="2400" dirty="0">
                    <a:latin typeface="Times New Roman" panose="02020603050405020304" pitchFamily="18" charset="0"/>
                    <a:cs typeface="Times New Roman" panose="02020603050405020304" pitchFamily="18" charset="0"/>
                  </a:rPr>
                  <a:t>alphabet size. For most texts, the time </a:t>
                </a:r>
                <a:r>
                  <a:rPr lang="en-US" altLang="zh-TW" sz="2400" dirty="0" smtClean="0">
                    <a:latin typeface="Times New Roman" panose="02020603050405020304" pitchFamily="18" charset="0"/>
                    <a:cs typeface="Times New Roman" panose="02020603050405020304" pitchFamily="18" charset="0"/>
                  </a:rPr>
                  <a:t>complexity</a:t>
                </a:r>
              </a:p>
              <a:p>
                <a:pPr>
                  <a:buNone/>
                </a:pPr>
                <a:r>
                  <a:rPr lang="en-US" altLang="zh-TW" sz="2400" dirty="0" smtClean="0">
                    <a:latin typeface="Times New Roman" panose="02020603050405020304" pitchFamily="18" charset="0"/>
                    <a:cs typeface="Times New Roman" panose="02020603050405020304" pitchFamily="18" charset="0"/>
                  </a:rPr>
                  <a:t>is </a:t>
                </a:r>
                <a:r>
                  <a:rPr lang="en-US" altLang="zh-TW" sz="2400" dirty="0">
                    <a:latin typeface="Times New Roman" panose="02020603050405020304" pitchFamily="18" charset="0"/>
                    <a:cs typeface="Times New Roman" panose="02020603050405020304" pitchFamily="18" charset="0"/>
                  </a:rPr>
                  <a:t>actually </a:t>
                </a:r>
                <a:r>
                  <a:rPr lang="en-US" altLang="zh-TW" sz="2400" i="1" dirty="0">
                    <a:latin typeface="Times New Roman" panose="02020603050405020304" pitchFamily="18" charset="0"/>
                    <a:cs typeface="Times New Roman" panose="02020603050405020304" pitchFamily="18" charset="0"/>
                  </a:rPr>
                  <a:t>O</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anose="02020603050405020304" pitchFamily="18" charset="0"/>
                    <a:cs typeface="Times New Roman" panose="02020603050405020304" pitchFamily="18" charset="0"/>
                  </a:rPr>
                  <a:t>h</a:t>
                </a:r>
                <a14:m>
                  <m:oMath xmlns:m="http://schemas.openxmlformats.org/officeDocument/2006/math">
                    <m:sSup>
                      <m:sSupPr>
                        <m:ctrlPr>
                          <a:rPr lang="en-US" altLang="zh-TW" sz="2400" i="1">
                            <a:latin typeface="Cambria Math" panose="02040503050406030204" pitchFamily="18" charset="0"/>
                            <a:cs typeface="Times New Roman" panose="02020603050405020304" pitchFamily="18" charset="0"/>
                          </a:rPr>
                        </m:ctrlPr>
                      </m:sSupPr>
                      <m:e>
                        <m:r>
                          <a:rPr lang="en-US" altLang="zh-TW" sz="2400" i="1">
                            <a:latin typeface="Cambria Math" panose="02040503050406030204" pitchFamily="18" charset="0"/>
                            <a:cs typeface="Times New Roman" panose="02020603050405020304" pitchFamily="18" charset="0"/>
                          </a:rPr>
                          <m:t>𝑛</m:t>
                        </m:r>
                      </m:e>
                      <m:sup>
                        <m:r>
                          <a:rPr lang="en-US" altLang="zh-TW" sz="2400" i="1">
                            <a:latin typeface="Cambria Math" panose="02040503050406030204" pitchFamily="18" charset="0"/>
                            <a:cs typeface="Times New Roman" panose="02020603050405020304" pitchFamily="18" charset="0"/>
                          </a:rPr>
                          <m:t>2</m:t>
                        </m:r>
                      </m:sup>
                    </m:sSup>
                  </m:oMath>
                </a14:m>
                <a:r>
                  <a:rPr lang="en-US" altLang="zh-TW" sz="2400" i="1" dirty="0">
                    <a:latin typeface="Times New Roman" panose="02020603050405020304" pitchFamily="18" charset="0"/>
                    <a:cs typeface="Times New Roman" panose="02020603050405020304" pitchFamily="18" charset="0"/>
                  </a:rPr>
                  <a:t> / log n</a:t>
                </a:r>
                <a:r>
                  <a:rPr lang="en-US" altLang="zh-TW" sz="2400" dirty="0">
                    <a:latin typeface="Times New Roman" panose="02020603050405020304" pitchFamily="18" charset="0"/>
                    <a:cs typeface="Times New Roman" panose="02020603050405020304" pitchFamily="18" charset="0"/>
                  </a:rPr>
                  <a:t>), where </a:t>
                </a:r>
                <a:r>
                  <a:rPr lang="en-US" altLang="zh-TW" sz="2400" i="1" dirty="0">
                    <a:latin typeface="Times New Roman" panose="02020603050405020304" pitchFamily="18" charset="0"/>
                    <a:cs typeface="Times New Roman" panose="02020603050405020304" pitchFamily="18" charset="0"/>
                  </a:rPr>
                  <a:t>h</a:t>
                </a:r>
                <a:r>
                  <a:rPr lang="en-US" altLang="zh-TW" sz="2400" dirty="0">
                    <a:latin typeface="Times New Roman" panose="02020603050405020304" pitchFamily="18" charset="0"/>
                    <a:cs typeface="Times New Roman" panose="02020603050405020304" pitchFamily="18" charset="0"/>
                  </a:rPr>
                  <a:t> ≤ 1 is the entropy of </a:t>
                </a:r>
                <a:r>
                  <a:rPr lang="en-US" altLang="zh-TW" sz="2400" dirty="0" smtClean="0">
                    <a:latin typeface="Times New Roman" panose="02020603050405020304" pitchFamily="18" charset="0"/>
                    <a:cs typeface="Times New Roman" panose="02020603050405020304" pitchFamily="18" charset="0"/>
                  </a:rPr>
                  <a:t>the</a:t>
                </a:r>
              </a:p>
              <a:p>
                <a:pPr>
                  <a:buNone/>
                </a:pPr>
                <a:r>
                  <a:rPr lang="en-US" altLang="zh-TW" sz="2400" dirty="0" smtClean="0">
                    <a:latin typeface="Times New Roman" panose="02020603050405020304" pitchFamily="18" charset="0"/>
                    <a:cs typeface="Times New Roman" panose="02020603050405020304" pitchFamily="18" charset="0"/>
                  </a:rPr>
                  <a:t>text. We </a:t>
                </a:r>
                <a:r>
                  <a:rPr lang="en-US" altLang="zh-TW" sz="2400" dirty="0">
                    <a:latin typeface="Times New Roman" panose="02020603050405020304" pitchFamily="18" charset="0"/>
                    <a:cs typeface="Times New Roman" panose="02020603050405020304" pitchFamily="18" charset="0"/>
                  </a:rPr>
                  <a:t>also present an </a:t>
                </a:r>
                <a:r>
                  <a:rPr lang="en-US" altLang="zh-TW" sz="2400" dirty="0" smtClean="0">
                    <a:latin typeface="Times New Roman" panose="02020603050405020304" pitchFamily="18" charset="0"/>
                    <a:cs typeface="Times New Roman" panose="02020603050405020304" pitchFamily="18" charset="0"/>
                  </a:rPr>
                  <a:t>algorithm for </a:t>
                </a:r>
                <a:r>
                  <a:rPr lang="en-US" altLang="zh-TW" sz="2400" dirty="0">
                    <a:latin typeface="Times New Roman" panose="02020603050405020304" pitchFamily="18" charset="0"/>
                    <a:cs typeface="Times New Roman" panose="02020603050405020304" pitchFamily="18" charset="0"/>
                  </a:rPr>
                  <a:t>comparing two </a:t>
                </a:r>
                <a:r>
                  <a:rPr lang="en-US" altLang="zh-TW" sz="2400" dirty="0" smtClean="0">
                    <a:latin typeface="Times New Roman" panose="02020603050405020304" pitchFamily="18" charset="0"/>
                    <a:cs typeface="Times New Roman" panose="02020603050405020304" pitchFamily="18" charset="0"/>
                  </a:rPr>
                  <a:t>run-</a:t>
                </a:r>
              </a:p>
              <a:p>
                <a:pPr>
                  <a:buNone/>
                </a:pPr>
                <a:r>
                  <a:rPr lang="en-US" altLang="zh-TW" sz="2400" dirty="0" smtClean="0">
                    <a:latin typeface="Times New Roman" panose="02020603050405020304" pitchFamily="18" charset="0"/>
                    <a:cs typeface="Times New Roman" panose="02020603050405020304" pitchFamily="18" charset="0"/>
                  </a:rPr>
                  <a:t>length encoded </a:t>
                </a:r>
                <a:r>
                  <a:rPr lang="en-US" altLang="zh-TW" sz="2400" dirty="0">
                    <a:latin typeface="Times New Roman" panose="02020603050405020304" pitchFamily="18" charset="0"/>
                    <a:cs typeface="Times New Roman" panose="02020603050405020304" pitchFamily="18" charset="0"/>
                  </a:rPr>
                  <a:t>strings of length </a:t>
                </a:r>
                <a:r>
                  <a:rPr lang="en-US" altLang="zh-TW" sz="2400" i="1" dirty="0">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 and </a:t>
                </a:r>
                <a:r>
                  <a:rPr lang="en-US" altLang="zh-TW" sz="2400" i="1" dirty="0">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 compressed into </a:t>
                </a:r>
                <a:r>
                  <a:rPr lang="en-US" altLang="zh-TW" sz="2400" i="1" dirty="0" smtClean="0">
                    <a:latin typeface="Times New Roman" panose="02020603050405020304" pitchFamily="18" charset="0"/>
                    <a:cs typeface="Times New Roman" panose="02020603050405020304" pitchFamily="18" charset="0"/>
                  </a:rPr>
                  <a:t>m</a:t>
                </a:r>
                <a:r>
                  <a:rPr lang="en-US" altLang="zh-TW" sz="2400"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smtClean="0">
                    <a:latin typeface="Times New Roman" panose="02020603050405020304" pitchFamily="18" charset="0"/>
                    <a:cs typeface="Times New Roman" panose="02020603050405020304" pitchFamily="18" charset="0"/>
                  </a:rPr>
                  <a:t> </a:t>
                </a:r>
              </a:p>
              <a:p>
                <a:pPr>
                  <a:buNone/>
                </a:pPr>
                <a:r>
                  <a:rPr lang="en-US" altLang="zh-TW" sz="2400" dirty="0" smtClean="0">
                    <a:latin typeface="Times New Roman" panose="02020603050405020304" pitchFamily="18" charset="0"/>
                    <a:cs typeface="Times New Roman" panose="02020603050405020304" pitchFamily="18" charset="0"/>
                  </a:rPr>
                  <a:t>and </a:t>
                </a:r>
                <a:r>
                  <a:rPr lang="en-US" altLang="zh-TW" sz="2400" i="1" dirty="0" smtClean="0">
                    <a:latin typeface="Times New Roman" panose="02020603050405020304" pitchFamily="18" charset="0"/>
                    <a:cs typeface="Times New Roman" panose="02020603050405020304" pitchFamily="18" charset="0"/>
                  </a:rPr>
                  <a:t>n</a:t>
                </a:r>
                <a:r>
                  <a:rPr lang="en-US" altLang="zh-TW" sz="2400" i="1"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smtClean="0">
                    <a:latin typeface="Times New Roman" panose="02020603050405020304" pitchFamily="18" charset="0"/>
                    <a:cs typeface="Times New Roman" panose="02020603050405020304" pitchFamily="18" charset="0"/>
                  </a:rPr>
                  <a:t>runs, respectively</a:t>
                </a:r>
                <a:r>
                  <a:rPr lang="en-US" altLang="zh-TW" sz="2400" dirty="0">
                    <a:latin typeface="Times New Roman" panose="02020603050405020304" pitchFamily="18" charset="0"/>
                    <a:cs typeface="Times New Roman" panose="02020603050405020304" pitchFamily="18" charset="0"/>
                  </a:rPr>
                  <a:t>, in </a:t>
                </a:r>
                <a:r>
                  <a:rPr lang="en-US" altLang="zh-TW" sz="2400" i="1" dirty="0" smtClean="0">
                    <a:latin typeface="Times New Roman" panose="02020603050405020304" pitchFamily="18" charset="0"/>
                    <a:cs typeface="Times New Roman" panose="02020603050405020304" pitchFamily="18" charset="0"/>
                  </a:rPr>
                  <a:t>O</a:t>
                </a:r>
                <a:r>
                  <a:rPr lang="en-US" altLang="zh-TW" sz="2400" dirty="0" smtClean="0">
                    <a:latin typeface="Times New Roman" panose="02020603050405020304" pitchFamily="18" charset="0"/>
                    <a:cs typeface="Times New Roman" panose="02020603050405020304" pitchFamily="18" charset="0"/>
                  </a:rPr>
                  <a:t>(</a:t>
                </a:r>
                <a:r>
                  <a:rPr lang="en-US" altLang="zh-TW" sz="2400" i="1" dirty="0" smtClean="0">
                    <a:latin typeface="Times New Roman" panose="02020603050405020304" pitchFamily="18" charset="0"/>
                    <a:cs typeface="Times New Roman" panose="02020603050405020304" pitchFamily="18" charset="0"/>
                  </a:rPr>
                  <a:t>m</a:t>
                </a:r>
                <a:r>
                  <a:rPr lang="en-US" altLang="zh-TW" sz="2400"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dirty="0" smtClean="0">
                    <a:latin typeface="Times New Roman" panose="02020603050405020304" pitchFamily="18" charset="0"/>
                    <a:cs typeface="Times New Roman" panose="02020603050405020304" pitchFamily="18" charset="0"/>
                  </a:rPr>
                  <a:t>n </a:t>
                </a:r>
                <a:r>
                  <a:rPr lang="en-US" altLang="zh-TW" sz="2400" i="1" dirty="0">
                    <a:latin typeface="Times New Roman" panose="02020603050405020304" pitchFamily="18" charset="0"/>
                    <a:cs typeface="Times New Roman" panose="02020603050405020304" pitchFamily="18" charset="0"/>
                  </a:rPr>
                  <a:t>+ </a:t>
                </a:r>
                <a:r>
                  <a:rPr lang="en-US" altLang="zh-TW" sz="2400" i="1" dirty="0" smtClean="0">
                    <a:latin typeface="Times New Roman" panose="02020603050405020304" pitchFamily="18" charset="0"/>
                    <a:cs typeface="Times New Roman" panose="02020603050405020304" pitchFamily="18" charset="0"/>
                  </a:rPr>
                  <a:t>n</a:t>
                </a:r>
                <a:r>
                  <a:rPr lang="en-US" altLang="zh-TW" sz="2400" i="1"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i="1" dirty="0" smtClean="0">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 complexity. This </a:t>
                </a:r>
                <a:endParaRPr lang="en-US" altLang="zh-TW" sz="2400" dirty="0" smtClean="0">
                  <a:latin typeface="Times New Roman" panose="02020603050405020304" pitchFamily="18" charset="0"/>
                  <a:cs typeface="Times New Roman" panose="02020603050405020304" pitchFamily="18" charset="0"/>
                </a:endParaRPr>
              </a:p>
              <a:p>
                <a:pPr>
                  <a:buNone/>
                </a:pPr>
                <a:r>
                  <a:rPr lang="en-US" altLang="zh-TW" sz="2400" dirty="0">
                    <a:latin typeface="Times New Roman" panose="02020603050405020304" pitchFamily="18" charset="0"/>
                    <a:cs typeface="Times New Roman" panose="02020603050405020304" pitchFamily="18" charset="0"/>
                  </a:rPr>
                  <a:t>r</a:t>
                </a:r>
                <a:r>
                  <a:rPr lang="en-US" altLang="zh-TW" sz="2400" dirty="0" smtClean="0">
                    <a:latin typeface="Times New Roman" panose="02020603050405020304" pitchFamily="18" charset="0"/>
                    <a:cs typeface="Times New Roman" panose="02020603050405020304" pitchFamily="18" charset="0"/>
                  </a:rPr>
                  <a:t>esult extends </a:t>
                </a:r>
                <a:r>
                  <a:rPr lang="en-US" altLang="zh-TW" sz="2400" dirty="0">
                    <a:latin typeface="Times New Roman" panose="02020603050405020304" pitchFamily="18" charset="0"/>
                    <a:cs typeface="Times New Roman" panose="02020603050405020304" pitchFamily="18" charset="0"/>
                  </a:rPr>
                  <a:t>to all distance or similarity </a:t>
                </a:r>
                <a:r>
                  <a:rPr lang="en-US" altLang="zh-TW" sz="2400" dirty="0" smtClean="0">
                    <a:latin typeface="Times New Roman" panose="02020603050405020304" pitchFamily="18" charset="0"/>
                    <a:cs typeface="Times New Roman" panose="02020603050405020304" pitchFamily="18" charset="0"/>
                  </a:rPr>
                  <a:t>scoring schemes </a:t>
                </a:r>
              </a:p>
              <a:p>
                <a:pPr>
                  <a:buNone/>
                </a:pPr>
                <a:r>
                  <a:rPr lang="en-US" altLang="zh-TW" sz="2400" dirty="0" smtClean="0">
                    <a:latin typeface="Times New Roman" panose="02020603050405020304" pitchFamily="18" charset="0"/>
                    <a:cs typeface="Times New Roman" panose="02020603050405020304" pitchFamily="18" charset="0"/>
                  </a:rPr>
                  <a:t>that </a:t>
                </a:r>
                <a:r>
                  <a:rPr lang="en-US" altLang="zh-TW" sz="2400" dirty="0">
                    <a:latin typeface="Times New Roman" panose="02020603050405020304" pitchFamily="18" charset="0"/>
                    <a:cs typeface="Times New Roman" panose="02020603050405020304" pitchFamily="18" charset="0"/>
                  </a:rPr>
                  <a:t>use </a:t>
                </a:r>
                <a:r>
                  <a:rPr lang="en-US" altLang="zh-TW" sz="2400" dirty="0" smtClean="0">
                    <a:latin typeface="Times New Roman" panose="02020603050405020304" pitchFamily="18" charset="0"/>
                    <a:cs typeface="Times New Roman" panose="02020603050405020304" pitchFamily="18" charset="0"/>
                  </a:rPr>
                  <a:t>an </a:t>
                </a:r>
                <a:r>
                  <a:rPr lang="en-US" altLang="zh-TW" sz="2400" dirty="0">
                    <a:latin typeface="Times New Roman" panose="02020603050405020304" pitchFamily="18" charset="0"/>
                    <a:cs typeface="Times New Roman" panose="02020603050405020304" pitchFamily="18" charset="0"/>
                  </a:rPr>
                  <a:t>additive gap penalty.</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223924"/>
                <a:ext cx="7886700" cy="4351338"/>
              </a:xfrm>
              <a:blipFill rotWithShape="0">
                <a:blip r:embed="rId3"/>
                <a:stretch>
                  <a:fillRect l="-1159" t="-196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3</a:t>
            </a:fld>
            <a:endParaRPr lang="zh-TW"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78435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101639"/>
            <a:ext cx="7886700" cy="1325563"/>
          </a:xfrm>
        </p:spPr>
        <p:txBody>
          <a:bodyPr/>
          <a:lstStyle/>
          <a:p>
            <a:pPr algn="ctr"/>
            <a:r>
              <a:rPr lang="en-US" altLang="zh-TW" dirty="0">
                <a:latin typeface="Times New Roman" panose="02020603050405020304" pitchFamily="18" charset="0"/>
                <a:cs typeface="Times New Roman" panose="02020603050405020304" pitchFamily="18" charset="0"/>
              </a:rPr>
              <a:t>Global alignment via dynamic programming</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607000"/>
                <a:ext cx="7886700" cy="4351338"/>
              </a:xfrm>
            </p:spPr>
            <p:txBody>
              <a:bodyPr>
                <a:noAutofit/>
              </a:bodyPr>
              <a:lstStyle/>
              <a:p>
                <a:pPr>
                  <a:buNone/>
                </a:pPr>
                <a:r>
                  <a:rPr lang="en-US" altLang="zh-TW" sz="2400" dirty="0" smtClean="0">
                    <a:latin typeface="Times New Roman" panose="02020603050405020304" pitchFamily="18" charset="0"/>
                    <a:cs typeface="Times New Roman" panose="02020603050405020304" pitchFamily="18" charset="0"/>
                  </a:rPr>
                  <a:t>The classical dynamic programming algorithm creates the </a:t>
                </a:r>
              </a:p>
              <a:p>
                <a:pPr>
                  <a:buNone/>
                </a:pPr>
                <a:r>
                  <a:rPr lang="en-US" altLang="zh-TW" sz="2400" dirty="0" smtClean="0">
                    <a:latin typeface="Times New Roman" panose="02020603050405020304" pitchFamily="18" charset="0"/>
                    <a:cs typeface="Times New Roman" panose="02020603050405020304" pitchFamily="18" charset="0"/>
                  </a:rPr>
                  <a:t>alignment </a:t>
                </a:r>
                <a:r>
                  <a:rPr lang="en-US" altLang="zh-TW" sz="2400" dirty="0">
                    <a:latin typeface="Times New Roman" panose="02020603050405020304" pitchFamily="18" charset="0"/>
                    <a:cs typeface="Times New Roman" panose="02020603050405020304" pitchFamily="18" charset="0"/>
                  </a:rPr>
                  <a:t>graph, row by row in a left to right order </a:t>
                </a:r>
                <a:r>
                  <a:rPr lang="en-US" altLang="zh-TW" sz="2400" dirty="0" smtClean="0">
                    <a:latin typeface="Times New Roman" panose="02020603050405020304" pitchFamily="18" charset="0"/>
                    <a:cs typeface="Times New Roman" panose="02020603050405020304" pitchFamily="18" charset="0"/>
                  </a:rPr>
                  <a:t>:</a:t>
                </a:r>
              </a:p>
              <a:p>
                <a:pPr>
                  <a:buNone/>
                </a:pPr>
                <a:endParaRPr lang="en-US" altLang="zh-TW" sz="2400" dirty="0">
                  <a:latin typeface="Times New Roman" panose="02020603050405020304" pitchFamily="18" charset="0"/>
                  <a:cs typeface="Times New Roman" panose="02020603050405020304" pitchFamily="18" charset="0"/>
                </a:endParaRPr>
              </a:p>
              <a:p>
                <a:pPr marL="0" indent="0">
                  <a:spcBef>
                    <a:spcPct val="50000"/>
                  </a:spcBef>
                  <a:buNone/>
                </a:pPr>
                <a:r>
                  <a:rPr lang="en-US" altLang="zh-TW" sz="2400" dirty="0" smtClean="0"/>
                  <a:t>V(</a:t>
                </a:r>
                <a:r>
                  <a:rPr lang="en-US" altLang="zh-TW" sz="2400" dirty="0" err="1" smtClean="0"/>
                  <a:t>i</a:t>
                </a:r>
                <a:r>
                  <a:rPr lang="en-US" altLang="zh-TW" sz="2400" dirty="0" smtClean="0"/>
                  <a:t>, j</a:t>
                </a:r>
                <a:r>
                  <a:rPr lang="en-US" altLang="zh-TW" sz="2400" dirty="0"/>
                  <a:t>)= </a:t>
                </a:r>
                <a:r>
                  <a:rPr lang="en-US" altLang="zh-TW" sz="2400" dirty="0" smtClean="0"/>
                  <a:t>max [V(</a:t>
                </a:r>
                <a:r>
                  <a:rPr lang="en-US" altLang="zh-TW" sz="2400" dirty="0" err="1" smtClean="0"/>
                  <a:t>i</a:t>
                </a:r>
                <a:r>
                  <a:rPr lang="en-US" altLang="zh-TW" sz="2400" dirty="0" smtClean="0"/>
                  <a:t>, j - 1) + </a:t>
                </a:r>
                <a:r>
                  <a:rPr lang="en-US" altLang="zh-TW" sz="2400" dirty="0" smtClean="0">
                    <a:sym typeface="Symbol" panose="05050102010706020507" pitchFamily="18" charset="2"/>
                  </a:rPr>
                  <a:t>(, </a:t>
                </a:r>
                <a14:m>
                  <m:oMath xmlns:m="http://schemas.openxmlformats.org/officeDocument/2006/math">
                    <m:sSub>
                      <m:sSubPr>
                        <m:ctrlPr>
                          <a:rPr lang="en-US" altLang="zh-TW" sz="2400" i="1" smtClean="0">
                            <a:latin typeface="Cambria Math" panose="02040503050406030204" pitchFamily="18" charset="0"/>
                            <a:sym typeface="Symbol" panose="05050102010706020507" pitchFamily="18" charset="2"/>
                          </a:rPr>
                        </m:ctrlPr>
                      </m:sSubPr>
                      <m:e>
                        <m:r>
                          <a:rPr lang="en-US" altLang="zh-TW" sz="2400" b="0" i="1" smtClean="0">
                            <a:latin typeface="Cambria Math" panose="02040503050406030204" pitchFamily="18" charset="0"/>
                            <a:sym typeface="Symbol" panose="05050102010706020507" pitchFamily="18" charset="2"/>
                          </a:rPr>
                          <m:t>𝐵</m:t>
                        </m:r>
                      </m:e>
                      <m:sub>
                        <m:r>
                          <a:rPr lang="en-US" altLang="zh-TW" sz="2400" b="0" i="1" smtClean="0">
                            <a:latin typeface="Cambria Math" panose="02040503050406030204" pitchFamily="18" charset="0"/>
                            <a:sym typeface="Symbol" panose="05050102010706020507" pitchFamily="18" charset="2"/>
                          </a:rPr>
                          <m:t>𝑗</m:t>
                        </m:r>
                      </m:sub>
                    </m:sSub>
                  </m:oMath>
                </a14:m>
                <a:r>
                  <a:rPr lang="en-US" altLang="zh-TW" sz="2400" dirty="0" smtClean="0">
                    <a:sym typeface="Symbol" panose="05050102010706020507" pitchFamily="18" charset="2"/>
                  </a:rPr>
                  <a:t>),</a:t>
                </a:r>
              </a:p>
              <a:p>
                <a:pPr marL="0" indent="0">
                  <a:spcBef>
                    <a:spcPct val="50000"/>
                  </a:spcBef>
                  <a:buNone/>
                </a:pPr>
                <a:r>
                  <a:rPr lang="en-US" altLang="zh-TW" sz="2400" dirty="0" smtClean="0"/>
                  <a:t>	        V(</a:t>
                </a:r>
                <a:r>
                  <a:rPr lang="en-US" altLang="zh-TW" sz="2400" dirty="0" err="1" smtClean="0"/>
                  <a:t>i</a:t>
                </a:r>
                <a:r>
                  <a:rPr lang="en-US" altLang="zh-TW" sz="2400" dirty="0" smtClean="0"/>
                  <a:t> - 1, j) </a:t>
                </a:r>
                <a:r>
                  <a:rPr lang="en-US" altLang="zh-TW" sz="2400" dirty="0"/>
                  <a:t>+ </a:t>
                </a:r>
                <a:r>
                  <a:rPr lang="en-US" altLang="zh-TW" sz="2400" dirty="0">
                    <a:sym typeface="Symbol" panose="05050102010706020507" pitchFamily="18" charset="2"/>
                  </a:rPr>
                  <a:t></a:t>
                </a:r>
                <a:r>
                  <a:rPr lang="en-US" altLang="zh-TW" sz="2400" dirty="0" smtClean="0">
                    <a:sym typeface="Symbol" panose="05050102010706020507" pitchFamily="18" charset="2"/>
                  </a:rPr>
                  <a:t>(</a:t>
                </a:r>
                <a14:m>
                  <m:oMath xmlns:m="http://schemas.openxmlformats.org/officeDocument/2006/math">
                    <m:sSub>
                      <m:sSubPr>
                        <m:ctrlPr>
                          <a:rPr lang="en-US" altLang="zh-TW" sz="2400" i="1">
                            <a:latin typeface="Cambria Math" panose="02040503050406030204" pitchFamily="18" charset="0"/>
                            <a:sym typeface="Symbol" panose="05050102010706020507" pitchFamily="18" charset="2"/>
                          </a:rPr>
                        </m:ctrlPr>
                      </m:sSubPr>
                      <m:e>
                        <m:r>
                          <a:rPr lang="en-US" altLang="zh-TW" sz="2400" b="0" i="1" smtClean="0">
                            <a:latin typeface="Cambria Math" panose="02040503050406030204" pitchFamily="18" charset="0"/>
                            <a:sym typeface="Symbol" panose="05050102010706020507" pitchFamily="18" charset="2"/>
                          </a:rPr>
                          <m:t>𝐴</m:t>
                        </m:r>
                      </m:e>
                      <m:sub>
                        <m:r>
                          <a:rPr lang="en-US" altLang="zh-TW" sz="2400" b="0" i="1" smtClean="0">
                            <a:latin typeface="Cambria Math" panose="02040503050406030204" pitchFamily="18" charset="0"/>
                            <a:sym typeface="Symbol" panose="05050102010706020507" pitchFamily="18" charset="2"/>
                          </a:rPr>
                          <m:t>𝑖</m:t>
                        </m:r>
                      </m:sub>
                    </m:sSub>
                  </m:oMath>
                </a14:m>
                <a:r>
                  <a:rPr lang="en-US" altLang="zh-TW" sz="2400" dirty="0" smtClean="0">
                    <a:sym typeface="Symbol" panose="05050102010706020507" pitchFamily="18" charset="2"/>
                  </a:rPr>
                  <a:t>, ),</a:t>
                </a:r>
                <a:endParaRPr lang="en-US" altLang="zh-TW" sz="2400" dirty="0">
                  <a:sym typeface="Symbol" panose="05050102010706020507" pitchFamily="18" charset="2"/>
                </a:endParaRPr>
              </a:p>
              <a:p>
                <a:pPr marL="0" indent="0">
                  <a:spcBef>
                    <a:spcPct val="50000"/>
                  </a:spcBef>
                  <a:buNone/>
                </a:pPr>
                <a:r>
                  <a:rPr lang="en-US" altLang="zh-TW" sz="2400" dirty="0" smtClean="0"/>
                  <a:t>                     V(</a:t>
                </a:r>
                <a:r>
                  <a:rPr lang="en-US" altLang="zh-TW" sz="2400" dirty="0" err="1" smtClean="0"/>
                  <a:t>i</a:t>
                </a:r>
                <a:r>
                  <a:rPr lang="en-US" altLang="zh-TW" sz="2400" dirty="0" smtClean="0"/>
                  <a:t> - 1, j - 1</a:t>
                </a:r>
                <a:r>
                  <a:rPr lang="en-US" altLang="zh-TW" sz="2400" dirty="0"/>
                  <a:t>) + </a:t>
                </a:r>
                <a:r>
                  <a:rPr lang="en-US" altLang="zh-TW" sz="2400" dirty="0">
                    <a:sym typeface="Symbol" panose="05050102010706020507" pitchFamily="18" charset="2"/>
                  </a:rPr>
                  <a:t>(</a:t>
                </a:r>
                <a14:m>
                  <m:oMath xmlns:m="http://schemas.openxmlformats.org/officeDocument/2006/math">
                    <m:sSub>
                      <m:sSubPr>
                        <m:ctrlPr>
                          <a:rPr lang="en-US" altLang="zh-TW" sz="2400" i="1">
                            <a:latin typeface="Cambria Math" panose="02040503050406030204" pitchFamily="18" charset="0"/>
                            <a:sym typeface="Symbol" panose="05050102010706020507" pitchFamily="18" charset="2"/>
                          </a:rPr>
                        </m:ctrlPr>
                      </m:sSubPr>
                      <m:e>
                        <m:r>
                          <a:rPr lang="en-US" altLang="zh-TW" sz="2400" i="1">
                            <a:latin typeface="Cambria Math" panose="02040503050406030204" pitchFamily="18" charset="0"/>
                            <a:sym typeface="Symbol" panose="05050102010706020507" pitchFamily="18" charset="2"/>
                          </a:rPr>
                          <m:t>𝐴</m:t>
                        </m:r>
                      </m:e>
                      <m:sub>
                        <m:r>
                          <a:rPr lang="en-US" altLang="zh-TW" sz="2400" i="1">
                            <a:latin typeface="Cambria Math" panose="02040503050406030204" pitchFamily="18" charset="0"/>
                            <a:sym typeface="Symbol" panose="05050102010706020507" pitchFamily="18" charset="2"/>
                          </a:rPr>
                          <m:t>𝑖</m:t>
                        </m:r>
                      </m:sub>
                    </m:sSub>
                  </m:oMath>
                </a14:m>
                <a:r>
                  <a:rPr lang="en-US" altLang="zh-TW" sz="2400" dirty="0">
                    <a:sym typeface="Symbol" panose="05050102010706020507" pitchFamily="18" charset="2"/>
                  </a:rPr>
                  <a:t>,</a:t>
                </a:r>
                <a14:m>
                  <m:oMath xmlns:m="http://schemas.openxmlformats.org/officeDocument/2006/math">
                    <m:sSub>
                      <m:sSubPr>
                        <m:ctrlPr>
                          <a:rPr lang="en-US" altLang="zh-TW" sz="2400" i="1">
                            <a:latin typeface="Cambria Math" panose="02040503050406030204" pitchFamily="18" charset="0"/>
                            <a:sym typeface="Symbol" panose="05050102010706020507" pitchFamily="18" charset="2"/>
                          </a:rPr>
                        </m:ctrlPr>
                      </m:sSubPr>
                      <m:e>
                        <m:r>
                          <a:rPr lang="en-US" altLang="zh-TW" sz="2400" b="0" i="1" smtClean="0">
                            <a:latin typeface="Cambria Math" panose="02040503050406030204" pitchFamily="18" charset="0"/>
                            <a:sym typeface="Symbol" panose="05050102010706020507" pitchFamily="18" charset="2"/>
                          </a:rPr>
                          <m:t> </m:t>
                        </m:r>
                        <m:r>
                          <a:rPr lang="en-US" altLang="zh-TW" sz="2400" i="1">
                            <a:latin typeface="Cambria Math" panose="02040503050406030204" pitchFamily="18" charset="0"/>
                            <a:sym typeface="Symbol" panose="05050102010706020507" pitchFamily="18" charset="2"/>
                          </a:rPr>
                          <m:t>𝐵</m:t>
                        </m:r>
                      </m:e>
                      <m:sub>
                        <m:r>
                          <a:rPr lang="en-US" altLang="zh-TW" sz="2400" i="1">
                            <a:latin typeface="Cambria Math" panose="02040503050406030204" pitchFamily="18" charset="0"/>
                            <a:sym typeface="Symbol" panose="05050102010706020507" pitchFamily="18" charset="2"/>
                          </a:rPr>
                          <m:t>𝑗</m:t>
                        </m:r>
                      </m:sub>
                    </m:sSub>
                  </m:oMath>
                </a14:m>
                <a:r>
                  <a:rPr lang="en-US" altLang="zh-TW" sz="2400" dirty="0" smtClean="0">
                    <a:sym typeface="Symbol" panose="05050102010706020507" pitchFamily="18" charset="2"/>
                  </a:rPr>
                  <a:t>)].</a:t>
                </a:r>
                <a:endParaRPr lang="en-US" altLang="zh-TW" sz="2400" dirty="0">
                  <a:sym typeface="Symbol" panose="05050102010706020507" pitchFamily="18" charset="2"/>
                </a:endParaRPr>
              </a:p>
              <a:p>
                <a:pPr marL="0" indent="0">
                  <a:spcBef>
                    <a:spcPct val="50000"/>
                  </a:spcBef>
                  <a:buNone/>
                </a:pPr>
                <a:endParaRPr lang="en-US" altLang="zh-TW" sz="2400" dirty="0" smtClean="0"/>
              </a:p>
              <a:p>
                <a:pPr marL="0" indent="0">
                  <a:spcBef>
                    <a:spcPct val="50000"/>
                  </a:spcBef>
                  <a:buNone/>
                </a:pPr>
                <a:endParaRPr lang="en-US" altLang="zh-TW" sz="2400" dirty="0"/>
              </a:p>
              <a:p>
                <a:pPr marL="0" indent="0">
                  <a:spcBef>
                    <a:spcPct val="50000"/>
                  </a:spcBef>
                  <a:buNone/>
                </a:pPr>
                <a:r>
                  <a:rPr lang="en-US" altLang="zh-TW" sz="2400" dirty="0" smtClean="0"/>
                  <a:t>Time Complexity</a:t>
                </a:r>
                <a:r>
                  <a:rPr lang="en-US" altLang="zh-TW" sz="2400" dirty="0"/>
                  <a:t>: </a:t>
                </a:r>
                <a:r>
                  <a:rPr lang="en-US" altLang="zh-TW" sz="2400" dirty="0" smtClean="0"/>
                  <a:t>O(</a:t>
                </a:r>
                <a14:m>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𝑛</m:t>
                        </m:r>
                      </m:e>
                      <m:sup>
                        <m:r>
                          <a:rPr lang="en-US" altLang="zh-TW" sz="2400" b="0" i="1" smtClean="0">
                            <a:latin typeface="Cambria Math" panose="02040503050406030204" pitchFamily="18" charset="0"/>
                          </a:rPr>
                          <m:t>2</m:t>
                        </m:r>
                      </m:sup>
                    </m:sSup>
                  </m:oMath>
                </a14:m>
                <a:r>
                  <a:rPr lang="en-US" altLang="zh-TW" sz="2400" dirty="0" smtClean="0">
                    <a:cs typeface="Times New Roman" panose="02020603050405020304" pitchFamily="18" charset="0"/>
                  </a:rPr>
                  <a:t>).</a:t>
                </a:r>
                <a:endParaRPr lang="en-US" altLang="zh-TW" sz="2400" dirty="0">
                  <a:cs typeface="Times New Roman" panose="02020603050405020304" pitchFamily="18" charset="0"/>
                </a:endParaRPr>
              </a:p>
              <a:p>
                <a:pPr>
                  <a:buNone/>
                </a:pPr>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607000"/>
                <a:ext cx="7886700" cy="4351338"/>
              </a:xfrm>
              <a:blipFill rotWithShape="0">
                <a:blip r:embed="rId3"/>
                <a:stretch>
                  <a:fillRect l="-1159" t="-1964" b="-6452"/>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4</a:t>
            </a:fld>
            <a:endParaRPr lang="zh-TW"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8151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57671"/>
            <a:ext cx="7886700" cy="1325563"/>
          </a:xfrm>
        </p:spPr>
        <p:txBody>
          <a:bodyPr/>
          <a:lstStyle/>
          <a:p>
            <a:pPr algn="ctr"/>
            <a:r>
              <a:rPr lang="en-US" altLang="zh-TW" dirty="0">
                <a:latin typeface="Times New Roman" panose="02020603050405020304" pitchFamily="18" charset="0"/>
                <a:cs typeface="Times New Roman" panose="02020603050405020304" pitchFamily="18" charset="0"/>
              </a:rPr>
              <a:t>Alignment graph</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5</a:t>
            </a:fld>
            <a:endParaRPr lang="zh-TW" altLang="en-US">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3"/>
          <a:stretch>
            <a:fillRect/>
          </a:stretch>
        </p:blipFill>
        <p:spPr>
          <a:xfrm>
            <a:off x="-219456" y="616006"/>
            <a:ext cx="5205984" cy="6241994"/>
          </a:xfrm>
          <a:prstGeom prst="rect">
            <a:avLst/>
          </a:prstGeom>
        </p:spPr>
      </p:pic>
      <p:sp>
        <p:nvSpPr>
          <p:cNvPr id="3" name="內容版面配置區 2"/>
          <p:cNvSpPr>
            <a:spLocks noGrp="1"/>
          </p:cNvSpPr>
          <p:nvPr>
            <p:ph idx="1"/>
          </p:nvPr>
        </p:nvSpPr>
        <p:spPr>
          <a:xfrm>
            <a:off x="4596384" y="838504"/>
            <a:ext cx="4551998" cy="3161360"/>
          </a:xfrm>
        </p:spPr>
        <p:txBody>
          <a:bodyPr>
            <a:noAutofit/>
          </a:bodyPr>
          <a:lstStyle/>
          <a:p>
            <a:pPr>
              <a:buNone/>
            </a:pPr>
            <a:r>
              <a:rPr lang="en-US" altLang="zh-TW" sz="2400" dirty="0" smtClean="0">
                <a:latin typeface="Times New Roman" panose="02020603050405020304" pitchFamily="18" charset="0"/>
                <a:cs typeface="Times New Roman" panose="02020603050405020304" pitchFamily="18" charset="0"/>
              </a:rPr>
              <a:t>A=</a:t>
            </a:r>
            <a:r>
              <a:rPr lang="en-US" altLang="zh-TW" sz="2400" dirty="0" err="1" smtClean="0">
                <a:latin typeface="Times New Roman" panose="02020603050405020304" pitchFamily="18" charset="0"/>
                <a:cs typeface="Times New Roman" panose="02020603050405020304" pitchFamily="18" charset="0"/>
              </a:rPr>
              <a:t>ctacgaga</a:t>
            </a:r>
            <a:r>
              <a:rPr lang="en-US" altLang="zh-TW" sz="2400" dirty="0" smtClean="0">
                <a:latin typeface="Times New Roman" panose="02020603050405020304" pitchFamily="18" charset="0"/>
                <a:cs typeface="Times New Roman" panose="02020603050405020304" pitchFamily="18" charset="0"/>
              </a:rPr>
              <a:t>   B=</a:t>
            </a:r>
            <a:r>
              <a:rPr lang="en-US" altLang="zh-TW" sz="2400" dirty="0" err="1" smtClean="0">
                <a:latin typeface="Times New Roman" panose="02020603050405020304" pitchFamily="18" charset="0"/>
                <a:cs typeface="Times New Roman" panose="02020603050405020304" pitchFamily="18" charset="0"/>
              </a:rPr>
              <a:t>aacgacga</a:t>
            </a:r>
            <a:endParaRPr lang="en-US" altLang="zh-TW" sz="2400" dirty="0">
              <a:latin typeface="Times New Roman" panose="02020603050405020304" pitchFamily="18" charset="0"/>
              <a:cs typeface="Times New Roman" panose="02020603050405020304" pitchFamily="18" charset="0"/>
            </a:endParaRPr>
          </a:p>
          <a:p>
            <a:pPr>
              <a:buNone/>
            </a:pPr>
            <a:endParaRPr lang="en-US" altLang="zh-TW" sz="2400" dirty="0" smtClean="0">
              <a:latin typeface="Times New Roman" panose="02020603050405020304" pitchFamily="18" charset="0"/>
              <a:cs typeface="Times New Roman" panose="02020603050405020304" pitchFamily="18" charset="0"/>
            </a:endParaRPr>
          </a:p>
          <a:p>
            <a:pPr>
              <a:buNone/>
            </a:pPr>
            <a:r>
              <a:rPr lang="en-US" altLang="zh-TW" sz="2400" dirty="0">
                <a:latin typeface="Times New Roman" panose="02020603050405020304" pitchFamily="18" charset="0"/>
                <a:cs typeface="Times New Roman" panose="02020603050405020304" pitchFamily="18" charset="0"/>
              </a:rPr>
              <a:t>The scoring scheme matrix δ </a:t>
            </a:r>
            <a:r>
              <a:rPr lang="en-US" altLang="zh-TW" sz="2400" dirty="0" smtClean="0">
                <a:latin typeface="Times New Roman" panose="02020603050405020304" pitchFamily="18" charset="0"/>
                <a:cs typeface="Times New Roman" panose="02020603050405020304" pitchFamily="18" charset="0"/>
              </a:rPr>
              <a:t>is</a:t>
            </a:r>
          </a:p>
          <a:p>
            <a:pPr>
              <a:buNone/>
            </a:pPr>
            <a:r>
              <a:rPr lang="en-US" altLang="zh-TW" sz="2400" dirty="0" smtClean="0">
                <a:latin typeface="Times New Roman" panose="02020603050405020304" pitchFamily="18" charset="0"/>
                <a:cs typeface="Times New Roman" panose="02020603050405020304" pitchFamily="18" charset="0"/>
              </a:rPr>
              <a:t>shown </a:t>
            </a:r>
            <a:r>
              <a:rPr lang="en-US" altLang="zh-TW" sz="2400" dirty="0">
                <a:latin typeface="Times New Roman" panose="02020603050405020304" pitchFamily="18" charset="0"/>
                <a:cs typeface="Times New Roman" panose="02020603050405020304" pitchFamily="18" charset="0"/>
              </a:rPr>
              <a:t>in the lower left corner </a:t>
            </a:r>
            <a:r>
              <a:rPr lang="en-US" altLang="zh-TW" sz="2400" dirty="0" smtClean="0">
                <a:latin typeface="Times New Roman" panose="02020603050405020304" pitchFamily="18" charset="0"/>
                <a:cs typeface="Times New Roman" panose="02020603050405020304" pitchFamily="18" charset="0"/>
              </a:rPr>
              <a:t>of</a:t>
            </a:r>
          </a:p>
          <a:p>
            <a:pPr>
              <a:buNone/>
            </a:pPr>
            <a:r>
              <a:rPr lang="en-US" altLang="zh-TW" sz="2400" dirty="0" smtClean="0">
                <a:latin typeface="Times New Roman" panose="02020603050405020304" pitchFamily="18" charset="0"/>
                <a:cs typeface="Times New Roman" panose="02020603050405020304" pitchFamily="18" charset="0"/>
              </a:rPr>
              <a:t>the ﬁgure.</a:t>
            </a:r>
          </a:p>
          <a:p>
            <a:pPr>
              <a:buNone/>
            </a:pPr>
            <a:endParaRPr lang="en-US" altLang="zh-TW" sz="2400" dirty="0">
              <a:latin typeface="Times New Roman" panose="02020603050405020304" pitchFamily="18" charset="0"/>
              <a:cs typeface="Times New Roman" panose="02020603050405020304" pitchFamily="18" charset="0"/>
            </a:endParaRPr>
          </a:p>
          <a:p>
            <a:pPr>
              <a:buNone/>
            </a:pPr>
            <a:r>
              <a:rPr lang="en-US" altLang="zh-TW" sz="2400" dirty="0">
                <a:latin typeface="Times New Roman" panose="02020603050405020304" pitchFamily="18" charset="0"/>
                <a:cs typeface="Times New Roman" panose="02020603050405020304" pitchFamily="18" charset="0"/>
              </a:rPr>
              <a:t>Also speciﬁed are the values I </a:t>
            </a:r>
            <a:r>
              <a:rPr lang="en-US" altLang="zh-TW" sz="2400" dirty="0" smtClean="0">
                <a:latin typeface="Times New Roman" panose="02020603050405020304" pitchFamily="18" charset="0"/>
                <a:cs typeface="Times New Roman" panose="02020603050405020304" pitchFamily="18" charset="0"/>
              </a:rPr>
              <a:t>for</a:t>
            </a:r>
          </a:p>
          <a:p>
            <a:pPr>
              <a:buNone/>
            </a:pPr>
            <a:r>
              <a:rPr lang="en-US" altLang="zh-TW" sz="2400" dirty="0" smtClean="0">
                <a:latin typeface="Times New Roman" panose="02020603050405020304" pitchFamily="18" charset="0"/>
                <a:cs typeface="Times New Roman" panose="02020603050405020304" pitchFamily="18" charset="0"/>
              </a:rPr>
              <a:t>the entries of the input border for G </a:t>
            </a:r>
          </a:p>
          <a:p>
            <a:pPr>
              <a:buNone/>
            </a:pPr>
            <a:r>
              <a:rPr lang="en-US" altLang="zh-TW" sz="2400" dirty="0" smtClean="0">
                <a:latin typeface="Times New Roman" panose="02020603050405020304" pitchFamily="18" charset="0"/>
                <a:cs typeface="Times New Roman" panose="02020603050405020304" pitchFamily="18" charset="0"/>
              </a:rPr>
              <a:t>(in white-shaded </a:t>
            </a:r>
            <a:r>
              <a:rPr lang="en-US" altLang="zh-TW" sz="2400" dirty="0">
                <a:latin typeface="Times New Roman" panose="02020603050405020304" pitchFamily="18" charset="0"/>
                <a:cs typeface="Times New Roman" panose="02020603050405020304" pitchFamily="18" charset="0"/>
              </a:rPr>
              <a:t>rectangles), and </a:t>
            </a:r>
            <a:endParaRPr lang="en-US" altLang="zh-TW" sz="2400" dirty="0" smtClean="0">
              <a:latin typeface="Times New Roman" panose="02020603050405020304" pitchFamily="18" charset="0"/>
              <a:cs typeface="Times New Roman" panose="02020603050405020304" pitchFamily="18" charset="0"/>
            </a:endParaRPr>
          </a:p>
          <a:p>
            <a:pPr>
              <a:buNone/>
            </a:pPr>
            <a:r>
              <a:rPr lang="en-US" altLang="zh-TW" sz="2400" dirty="0" smtClean="0">
                <a:latin typeface="Times New Roman" panose="02020603050405020304" pitchFamily="18" charset="0"/>
                <a:cs typeface="Times New Roman" panose="02020603050405020304" pitchFamily="18" charset="0"/>
              </a:rPr>
              <a:t>the values </a:t>
            </a:r>
            <a:r>
              <a:rPr lang="en-US" altLang="zh-TW" sz="2400" dirty="0">
                <a:latin typeface="Times New Roman" panose="02020603050405020304" pitchFamily="18" charset="0"/>
                <a:cs typeface="Times New Roman" panose="02020603050405020304" pitchFamily="18" charset="0"/>
              </a:rPr>
              <a:t>O of the output border of </a:t>
            </a:r>
            <a:endParaRPr lang="en-US" altLang="zh-TW" sz="2400" dirty="0" smtClean="0">
              <a:latin typeface="Times New Roman" panose="02020603050405020304" pitchFamily="18" charset="0"/>
              <a:cs typeface="Times New Roman" panose="02020603050405020304" pitchFamily="18" charset="0"/>
            </a:endParaRPr>
          </a:p>
          <a:p>
            <a:pPr>
              <a:buNone/>
            </a:pPr>
            <a:r>
              <a:rPr lang="en-US" altLang="zh-TW" sz="2400" dirty="0" smtClean="0">
                <a:latin typeface="Times New Roman" panose="02020603050405020304" pitchFamily="18" charset="0"/>
                <a:cs typeface="Times New Roman" panose="02020603050405020304" pitchFamily="18" charset="0"/>
              </a:rPr>
              <a:t>G (in grey-shaded </a:t>
            </a:r>
            <a:r>
              <a:rPr lang="en-US" altLang="zh-TW" sz="2400" dirty="0">
                <a:latin typeface="Times New Roman" panose="02020603050405020304" pitchFamily="18" charset="0"/>
                <a:cs typeface="Times New Roman" panose="02020603050405020304" pitchFamily="18" charset="0"/>
              </a:rPr>
              <a:t>rectangles), as </a:t>
            </a:r>
            <a:endParaRPr lang="en-US" altLang="zh-TW" sz="2400" dirty="0" smtClean="0">
              <a:latin typeface="Times New Roman" panose="02020603050405020304" pitchFamily="18" charset="0"/>
              <a:cs typeface="Times New Roman" panose="02020603050405020304" pitchFamily="18" charset="0"/>
            </a:endParaRPr>
          </a:p>
          <a:p>
            <a:pPr>
              <a:buNone/>
            </a:pPr>
            <a:r>
              <a:rPr lang="en-US" altLang="zh-TW" sz="2400" dirty="0" smtClean="0">
                <a:latin typeface="Times New Roman" panose="02020603050405020304" pitchFamily="18" charset="0"/>
                <a:cs typeface="Times New Roman" panose="02020603050405020304" pitchFamily="18" charset="0"/>
              </a:rPr>
              <a:t>set during </a:t>
            </a:r>
            <a:r>
              <a:rPr lang="en-US" altLang="zh-TW" sz="2400" dirty="0">
                <a:latin typeface="Times New Roman" panose="02020603050405020304" pitchFamily="18" charset="0"/>
                <a:cs typeface="Times New Roman" panose="02020603050405020304" pitchFamily="18" charset="0"/>
              </a:rPr>
              <a:t>a local </a:t>
            </a:r>
            <a:r>
              <a:rPr lang="en-US" altLang="zh-TW" sz="2400" dirty="0" smtClean="0">
                <a:latin typeface="Times New Roman" panose="02020603050405020304" pitchFamily="18" charset="0"/>
                <a:cs typeface="Times New Roman" panose="02020603050405020304" pitchFamily="18" charset="0"/>
              </a:rPr>
              <a:t>alignment</a:t>
            </a:r>
          </a:p>
          <a:p>
            <a:pPr>
              <a:buNone/>
            </a:pPr>
            <a:r>
              <a:rPr lang="en-US" altLang="zh-TW" sz="2400" dirty="0" smtClean="0">
                <a:latin typeface="Times New Roman" panose="02020603050405020304" pitchFamily="18" charset="0"/>
                <a:cs typeface="Times New Roman" panose="02020603050405020304" pitchFamily="18" charset="0"/>
              </a:rPr>
              <a:t>computation</a:t>
            </a:r>
            <a:r>
              <a:rPr lang="en-US" altLang="zh-TW"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70436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101639"/>
            <a:ext cx="7886700" cy="1325563"/>
          </a:xfrm>
        </p:spPr>
        <p:txBody>
          <a:bodyPr>
            <a:normAutofit fontScale="90000"/>
          </a:bodyPr>
          <a:lstStyle/>
          <a:p>
            <a:pPr algn="ctr"/>
            <a:r>
              <a:rPr lang="en-US" altLang="zh-TW" dirty="0">
                <a:latin typeface="Times New Roman" panose="02020603050405020304" pitchFamily="18" charset="0"/>
                <a:cs typeface="Times New Roman" panose="02020603050405020304" pitchFamily="18" charset="0"/>
              </a:rPr>
              <a:t>A block partition of the alignment graph based on </a:t>
            </a:r>
            <a:r>
              <a:rPr lang="en-US" altLang="zh-TW" dirty="0" smtClean="0">
                <a:latin typeface="Times New Roman" panose="02020603050405020304" pitchFamily="18" charset="0"/>
                <a:cs typeface="Times New Roman" panose="02020603050405020304" pitchFamily="18" charset="0"/>
              </a:rPr>
              <a:t>LZ78 factorization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628650" y="1607000"/>
            <a:ext cx="7886700" cy="4351338"/>
          </a:xfrm>
        </p:spPr>
        <p:txBody>
          <a:bodyPr>
            <a:noAutofit/>
          </a:bodyPr>
          <a:lstStyle/>
          <a:p>
            <a:pPr marL="0" indent="0">
              <a:spcBef>
                <a:spcPct val="50000"/>
              </a:spcBef>
              <a:buNone/>
            </a:pPr>
            <a:r>
              <a:rPr lang="en-US" altLang="zh-TW" sz="2400" dirty="0"/>
              <a:t>Example:</a:t>
            </a:r>
          </a:p>
          <a:p>
            <a:pPr marL="0" indent="0">
              <a:spcBef>
                <a:spcPct val="50000"/>
              </a:spcBef>
              <a:buNone/>
            </a:pPr>
            <a:r>
              <a:rPr lang="en-US" altLang="zh-TW" sz="2400" dirty="0"/>
              <a:t>S=“</a:t>
            </a:r>
            <a:r>
              <a:rPr lang="en-US" altLang="zh-TW" sz="2400" dirty="0" err="1"/>
              <a:t>aacgacga</a:t>
            </a:r>
            <a:r>
              <a:rPr lang="en-US" altLang="zh-TW" sz="2400" dirty="0"/>
              <a:t>” is divided into four phrases: </a:t>
            </a:r>
          </a:p>
          <a:p>
            <a:pPr marL="0" indent="0">
              <a:spcBef>
                <a:spcPct val="50000"/>
              </a:spcBef>
              <a:buNone/>
            </a:pPr>
            <a:r>
              <a:rPr lang="en-US" altLang="zh-TW" sz="2400" dirty="0"/>
              <a:t>a, ac, g, acg.  </a:t>
            </a:r>
          </a:p>
          <a:p>
            <a:pPr marL="0" indent="0">
              <a:spcBef>
                <a:spcPct val="50000"/>
              </a:spcBef>
              <a:buNone/>
            </a:pPr>
            <a:r>
              <a:rPr lang="en-US" altLang="zh-TW" sz="2400" dirty="0"/>
              <a:t>The </a:t>
            </a:r>
            <a:r>
              <a:rPr lang="en-US" altLang="zh-TW" sz="2400" dirty="0" err="1"/>
              <a:t>trie</a:t>
            </a:r>
            <a:r>
              <a:rPr lang="en-US" altLang="zh-TW" sz="2400" dirty="0"/>
              <a:t> for S: </a:t>
            </a:r>
          </a:p>
          <a:p>
            <a:pPr>
              <a:buNone/>
            </a:pPr>
            <a:endParaRPr lang="en-US" altLang="zh-TW"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6</a:t>
            </a:fld>
            <a:endParaRPr lang="zh-TW" altLang="en-US">
              <a:latin typeface="Times New Roman" panose="02020603050405020304" pitchFamily="18" charset="0"/>
              <a:cs typeface="Times New Roman" panose="02020603050405020304" pitchFamily="18" charset="0"/>
            </a:endParaRPr>
          </a:p>
        </p:txBody>
      </p:sp>
      <p:pic>
        <p:nvPicPr>
          <p:cNvPr id="18" name="圖片 17"/>
          <p:cNvPicPr>
            <a:picLocks noChangeAspect="1"/>
          </p:cNvPicPr>
          <p:nvPr/>
        </p:nvPicPr>
        <p:blipFill>
          <a:blip r:embed="rId3"/>
          <a:stretch>
            <a:fillRect/>
          </a:stretch>
        </p:blipFill>
        <p:spPr>
          <a:xfrm>
            <a:off x="3124200" y="2965894"/>
            <a:ext cx="3800856" cy="3088196"/>
          </a:xfrm>
          <a:prstGeom prst="rect">
            <a:avLst/>
          </a:prstGeom>
        </p:spPr>
      </p:pic>
    </p:spTree>
    <p:extLst>
      <p:ext uri="{BB962C8B-B14F-4D97-AF65-F5344CB8AC3E}">
        <p14:creationId xmlns:p14="http://schemas.microsoft.com/office/powerpoint/2010/main" val="11139331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101639"/>
            <a:ext cx="7886700" cy="1325563"/>
          </a:xfrm>
        </p:spPr>
        <p:txBody>
          <a:bodyPr>
            <a:normAutofit fontScale="90000"/>
          </a:bodyPr>
          <a:lstStyle/>
          <a:p>
            <a:pPr algn="ctr"/>
            <a:r>
              <a:rPr lang="en-US" altLang="zh-TW" dirty="0">
                <a:latin typeface="Times New Roman" panose="02020603050405020304" pitchFamily="18" charset="0"/>
                <a:cs typeface="Times New Roman" panose="02020603050405020304" pitchFamily="18" charset="0"/>
              </a:rPr>
              <a:t>A block partition of the alignment graph based on </a:t>
            </a:r>
            <a:r>
              <a:rPr lang="en-US" altLang="zh-TW" dirty="0" smtClean="0">
                <a:latin typeface="Times New Roman" panose="02020603050405020304" pitchFamily="18" charset="0"/>
                <a:cs typeface="Times New Roman" panose="02020603050405020304" pitchFamily="18" charset="0"/>
              </a:rPr>
              <a:t>LZ78 factorization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628650" y="1607000"/>
            <a:ext cx="7886700" cy="4351338"/>
          </a:xfrm>
        </p:spPr>
        <p:txBody>
          <a:bodyPr>
            <a:noAutofit/>
          </a:bodyPr>
          <a:lstStyle/>
          <a:p>
            <a:pPr marL="0" indent="0">
              <a:spcBef>
                <a:spcPct val="50000"/>
              </a:spcBef>
              <a:buNone/>
            </a:pPr>
            <a:r>
              <a:rPr lang="en-US" altLang="zh-TW" sz="2400" dirty="0">
                <a:latin typeface="Times New Roman" panose="02020603050405020304" pitchFamily="18" charset="0"/>
                <a:cs typeface="Times New Roman" panose="02020603050405020304" pitchFamily="18" charset="0"/>
              </a:rPr>
              <a:t>Theorem (Lempel and </a:t>
            </a:r>
            <a:r>
              <a:rPr lang="en-US" altLang="zh-TW" sz="2400" dirty="0" err="1">
                <a:latin typeface="Times New Roman" panose="02020603050405020304" pitchFamily="18" charset="0"/>
                <a:cs typeface="Times New Roman" panose="02020603050405020304" pitchFamily="18" charset="0"/>
              </a:rPr>
              <a:t>Ziv</a:t>
            </a:r>
            <a:r>
              <a:rPr lang="en-US" altLang="zh-TW" sz="2400" dirty="0">
                <a:latin typeface="Times New Roman" panose="02020603050405020304" pitchFamily="18" charset="0"/>
                <a:cs typeface="Times New Roman" panose="02020603050405020304" pitchFamily="18" charset="0"/>
              </a:rPr>
              <a:t>): given a sequence S of size n over a </a:t>
            </a:r>
            <a:r>
              <a:rPr lang="en-US" altLang="zh-TW" sz="2400" dirty="0">
                <a:solidFill>
                  <a:srgbClr val="FF0000"/>
                </a:solidFill>
                <a:latin typeface="Times New Roman" panose="02020603050405020304" pitchFamily="18" charset="0"/>
                <a:cs typeface="Times New Roman" panose="02020603050405020304" pitchFamily="18" charset="0"/>
              </a:rPr>
              <a:t>constant alphabet</a:t>
            </a:r>
            <a:r>
              <a:rPr lang="en-US" altLang="zh-TW" sz="2400" dirty="0">
                <a:latin typeface="Times New Roman" panose="02020603050405020304" pitchFamily="18" charset="0"/>
                <a:cs typeface="Times New Roman" panose="02020603050405020304" pitchFamily="18" charset="0"/>
              </a:rPr>
              <a:t>. The maximal number of distinct phrases in S is  </a:t>
            </a:r>
            <a:r>
              <a:rPr lang="en-US" altLang="zh-TW" sz="2400" dirty="0">
                <a:solidFill>
                  <a:srgbClr val="FF0000"/>
                </a:solidFill>
                <a:latin typeface="Times New Roman" panose="02020603050405020304" pitchFamily="18" charset="0"/>
                <a:cs typeface="Times New Roman" panose="02020603050405020304" pitchFamily="18" charset="0"/>
              </a:rPr>
              <a:t>O(n/log n)</a:t>
            </a:r>
            <a:r>
              <a:rPr lang="en-US" altLang="zh-TW" sz="2400" dirty="0">
                <a:latin typeface="Times New Roman" panose="02020603050405020304" pitchFamily="18" charset="0"/>
                <a:cs typeface="Times New Roman" panose="02020603050405020304" pitchFamily="18" charset="0"/>
              </a:rPr>
              <a:t>.</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A tighter upper bound will be O(</a:t>
            </a:r>
            <a:r>
              <a:rPr lang="en-US" altLang="zh-TW" sz="2400" dirty="0" err="1">
                <a:latin typeface="Times New Roman" panose="02020603050405020304" pitchFamily="18" charset="0"/>
                <a:cs typeface="Times New Roman" panose="02020603050405020304" pitchFamily="18" charset="0"/>
              </a:rPr>
              <a:t>hn</a:t>
            </a:r>
            <a:r>
              <a:rPr lang="en-US" altLang="zh-TW" sz="2400" dirty="0">
                <a:latin typeface="Times New Roman" panose="02020603050405020304" pitchFamily="18" charset="0"/>
                <a:cs typeface="Times New Roman" panose="02020603050405020304" pitchFamily="18" charset="0"/>
              </a:rPr>
              <a:t>/log n) where </a:t>
            </a:r>
            <a:r>
              <a:rPr lang="en-US" altLang="zh-TW" sz="2400" dirty="0">
                <a:solidFill>
                  <a:srgbClr val="FF0000"/>
                </a:solidFill>
                <a:latin typeface="Times New Roman" panose="02020603050405020304" pitchFamily="18" charset="0"/>
                <a:cs typeface="Times New Roman" panose="02020603050405020304" pitchFamily="18" charset="0"/>
              </a:rPr>
              <a:t>h is the entropy factor</a:t>
            </a:r>
            <a:r>
              <a:rPr lang="en-US" altLang="zh-TW" sz="2400" dirty="0">
                <a:latin typeface="Times New Roman" panose="02020603050405020304" pitchFamily="18" charset="0"/>
                <a:cs typeface="Times New Roman" panose="02020603050405020304" pitchFamily="18" charset="0"/>
              </a:rPr>
              <a:t> – a real number, 0 &lt; h </a:t>
            </a:r>
            <a:r>
              <a:rPr lang="en-US" altLang="zh-TW"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smtClean="0">
                <a:latin typeface="Times New Roman" panose="02020603050405020304" pitchFamily="18" charset="0"/>
                <a:cs typeface="Times New Roman" panose="02020603050405020304" pitchFamily="18" charset="0"/>
              </a:rPr>
              <a:t>1</a:t>
            </a:r>
            <a:r>
              <a:rPr lang="en-US" altLang="zh-TW" sz="2400" dirty="0">
                <a:latin typeface="Times New Roman" panose="02020603050405020304" pitchFamily="18" charset="0"/>
                <a:cs typeface="Times New Roman" panose="02020603050405020304" pitchFamily="18" charset="0"/>
              </a:rPr>
              <a:t>, which measures the amount of disorder in a sequence. Entropy is small when there is a lot of order </a:t>
            </a:r>
            <a:r>
              <a:rPr lang="en-US" altLang="zh-TW" sz="2400" dirty="0" smtClean="0">
                <a:latin typeface="Times New Roman" panose="02020603050405020304" pitchFamily="18" charset="0"/>
                <a:cs typeface="Times New Roman" panose="02020603050405020304" pitchFamily="18" charset="0"/>
              </a:rPr>
              <a:t>(</a:t>
            </a:r>
            <a:r>
              <a:rPr lang="en-US" altLang="zh-TW" sz="2400" dirty="0" err="1" smtClean="0">
                <a:latin typeface="Times New Roman" panose="02020603050405020304" pitchFamily="18" charset="0"/>
                <a:cs typeface="Times New Roman" panose="02020603050405020304" pitchFamily="18" charset="0"/>
              </a:rPr>
              <a:t>i.e</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the sequence is repetitive) and large when there is a lot of disorder.</a:t>
            </a:r>
          </a:p>
          <a:p>
            <a:pPr>
              <a:buNone/>
            </a:pPr>
            <a:endParaRPr lang="en-US" altLang="zh-TW" sz="2400" dirty="0" smtClean="0">
              <a:latin typeface="Times New Roman" panose="02020603050405020304" pitchFamily="18" charset="0"/>
              <a:cs typeface="Times New Roman" panose="02020603050405020304" pitchFamily="18" charset="0"/>
            </a:endParaRPr>
          </a:p>
          <a:p>
            <a:pPr>
              <a:buNone/>
            </a:pP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在資訊理論中，熵是接收的每條消息中包含的資訊的</a:t>
            </a:r>
            <a:r>
              <a:rPr lang="zh-TW" altLang="en-US" sz="2400" dirty="0" smtClean="0">
                <a:latin typeface="標楷體" panose="03000509000000000000" pitchFamily="65" charset="-120"/>
                <a:ea typeface="標楷體" panose="03000509000000000000" pitchFamily="65" charset="-120"/>
                <a:cs typeface="Times New Roman" panose="02020603050405020304" pitchFamily="18" charset="0"/>
              </a:rPr>
              <a:t>平均</a:t>
            </a:r>
            <a:endParaRPr lang="en-US" altLang="zh-TW" sz="2400" dirty="0" smtClean="0">
              <a:latin typeface="標楷體" panose="03000509000000000000" pitchFamily="65" charset="-120"/>
              <a:ea typeface="標楷體" panose="03000509000000000000" pitchFamily="65" charset="-120"/>
              <a:cs typeface="Times New Roman" panose="02020603050405020304" pitchFamily="18" charset="0"/>
            </a:endParaRPr>
          </a:p>
          <a:p>
            <a:pPr>
              <a:buNone/>
            </a:pPr>
            <a:r>
              <a:rPr lang="zh-TW" altLang="en-US" sz="2400" dirty="0" smtClean="0">
                <a:latin typeface="標楷體" panose="03000509000000000000" pitchFamily="65" charset="-120"/>
                <a:ea typeface="標楷體" panose="03000509000000000000" pitchFamily="65" charset="-120"/>
                <a:cs typeface="Times New Roman" panose="02020603050405020304" pitchFamily="18" charset="0"/>
              </a:rPr>
              <a:t>量</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，又被稱為資訊熵、信源熵、平均資訊本體量。</a:t>
            </a: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7</a:t>
            </a:fld>
            <a:endParaRPr lang="zh-TW"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5925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87680" y="-101639"/>
            <a:ext cx="8229600" cy="1325563"/>
          </a:xfrm>
        </p:spPr>
        <p:txBody>
          <a:bodyPr>
            <a:normAutofit/>
          </a:bodyPr>
          <a:lstStyle/>
          <a:p>
            <a:pPr algn="ctr"/>
            <a:r>
              <a:rPr lang="en-US" altLang="zh-TW" dirty="0" smtClean="0">
                <a:latin typeface="Times New Roman" panose="02020603050405020304" pitchFamily="18" charset="0"/>
                <a:cs typeface="Times New Roman" panose="02020603050405020304" pitchFamily="18" charset="0"/>
              </a:rPr>
              <a:t>LZ78 – partitioned </a:t>
            </a:r>
            <a:r>
              <a:rPr lang="en-US" altLang="zh-TW" dirty="0">
                <a:latin typeface="Times New Roman" panose="02020603050405020304" pitchFamily="18" charset="0"/>
                <a:cs typeface="Times New Roman" panose="02020603050405020304" pitchFamily="18" charset="0"/>
              </a:rPr>
              <a:t>alignment graph</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8</a:t>
            </a:fld>
            <a:endParaRPr lang="zh-TW" altLang="en-US">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3"/>
          <a:stretch>
            <a:fillRect/>
          </a:stretch>
        </p:blipFill>
        <p:spPr>
          <a:xfrm>
            <a:off x="766763" y="997771"/>
            <a:ext cx="6560630" cy="5788791"/>
          </a:xfrm>
          <a:prstGeom prst="rect">
            <a:avLst/>
          </a:prstGeom>
        </p:spPr>
      </p:pic>
    </p:spTree>
    <p:extLst>
      <p:ext uri="{BB962C8B-B14F-4D97-AF65-F5344CB8AC3E}">
        <p14:creationId xmlns:p14="http://schemas.microsoft.com/office/powerpoint/2010/main" val="41887821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9</a:t>
            </a:fld>
            <a:endParaRPr lang="zh-TW" altLang="en-US">
              <a:latin typeface="Times New Roman" panose="02020603050405020304" pitchFamily="18" charset="0"/>
              <a:cs typeface="Times New Roman" panose="02020603050405020304" pitchFamily="18" charset="0"/>
            </a:endParaRPr>
          </a:p>
        </p:txBody>
      </p:sp>
      <p:sp>
        <p:nvSpPr>
          <p:cNvPr id="96" name="Text Box 95"/>
          <p:cNvSpPr txBox="1">
            <a:spLocks noChangeArrowheads="1"/>
          </p:cNvSpPr>
          <p:nvPr/>
        </p:nvSpPr>
        <p:spPr bwMode="auto">
          <a:xfrm>
            <a:off x="452882" y="1072640"/>
            <a:ext cx="8372475" cy="12025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spcBef>
                <a:spcPct val="50000"/>
              </a:spcBef>
            </a:pPr>
            <a:r>
              <a:rPr lang="en-US" sz="2400" dirty="0" smtClean="0">
                <a:solidFill>
                  <a:srgbClr val="FF0000"/>
                </a:solidFill>
                <a:latin typeface="Times New Roman" panose="02020603050405020304" pitchFamily="18" charset="0"/>
                <a:cs typeface="Times New Roman" panose="02020603050405020304" pitchFamily="18" charset="0"/>
              </a:rPr>
              <a:t>The </a:t>
            </a:r>
            <a:r>
              <a:rPr lang="en-US" sz="2400" dirty="0">
                <a:solidFill>
                  <a:srgbClr val="FF0000"/>
                </a:solidFill>
                <a:latin typeface="Times New Roman" panose="02020603050405020304" pitchFamily="18" charset="0"/>
                <a:cs typeface="Times New Roman" panose="02020603050405020304" pitchFamily="18" charset="0"/>
              </a:rPr>
              <a:t>only new cell in G</a:t>
            </a:r>
            <a:r>
              <a:rPr lang="en-US" sz="2400" dirty="0">
                <a:latin typeface="Times New Roman" panose="02020603050405020304" pitchFamily="18" charset="0"/>
                <a:cs typeface="Times New Roman" panose="02020603050405020304" pitchFamily="18" charset="0"/>
              </a:rPr>
              <a:t>, which doesn’t appear in any of it’s prefix blocks is the cell for comparing a and b. </a:t>
            </a:r>
            <a:r>
              <a:rPr lang="en-US" sz="2400" dirty="0">
                <a:solidFill>
                  <a:srgbClr val="FF0000"/>
                </a:solidFill>
                <a:latin typeface="Times New Roman" panose="02020603050405020304" pitchFamily="18" charset="0"/>
                <a:cs typeface="Times New Roman" panose="02020603050405020304" pitchFamily="18" charset="0"/>
              </a:rPr>
              <a:t>This cell consists of one new vertex and three new edges.</a:t>
            </a:r>
            <a:endParaRPr lang="en-US" altLang="zh-TW" sz="2400" dirty="0">
              <a:solidFill>
                <a:srgbClr val="FF0000"/>
              </a:solidFill>
              <a:latin typeface="Times New Roman" panose="02020603050405020304" pitchFamily="18" charset="0"/>
              <a:ea typeface="新細明體" panose="02020500000000000000" pitchFamily="18" charset="-120"/>
              <a:cs typeface="Times New Roman" panose="02020603050405020304" pitchFamily="18" charset="0"/>
            </a:endParaRPr>
          </a:p>
        </p:txBody>
      </p:sp>
      <p:grpSp>
        <p:nvGrpSpPr>
          <p:cNvPr id="97" name="Group 150"/>
          <p:cNvGrpSpPr>
            <a:grpSpLocks/>
          </p:cNvGrpSpPr>
          <p:nvPr/>
        </p:nvGrpSpPr>
        <p:grpSpPr bwMode="auto">
          <a:xfrm>
            <a:off x="4752150" y="2275150"/>
            <a:ext cx="1828800" cy="1008062"/>
            <a:chOff x="3802" y="3564"/>
            <a:chExt cx="1152" cy="635"/>
          </a:xfrm>
        </p:grpSpPr>
        <p:sp>
          <p:nvSpPr>
            <p:cNvPr id="98" name="Rectangle 105"/>
            <p:cNvSpPr>
              <a:spLocks noChangeArrowheads="1"/>
            </p:cNvSpPr>
            <p:nvPr/>
          </p:nvSpPr>
          <p:spPr bwMode="auto">
            <a:xfrm>
              <a:off x="4666" y="3564"/>
              <a:ext cx="288"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g</a:t>
              </a:r>
              <a:endParaRPr lang="en-US" altLang="zh-TW" sz="2000" b="1">
                <a:ea typeface="新細明體" panose="02020500000000000000" pitchFamily="18" charset="-120"/>
                <a:cs typeface="Times New Roman" panose="02020603050405020304" pitchFamily="18" charset="0"/>
              </a:endParaRPr>
            </a:p>
          </p:txBody>
        </p:sp>
        <p:sp>
          <p:nvSpPr>
            <p:cNvPr id="99" name="Rectangle 106"/>
            <p:cNvSpPr>
              <a:spLocks noChangeArrowheads="1"/>
            </p:cNvSpPr>
            <p:nvPr/>
          </p:nvSpPr>
          <p:spPr bwMode="auto">
            <a:xfrm>
              <a:off x="4379" y="3564"/>
              <a:ext cx="287"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c</a:t>
              </a:r>
              <a:endParaRPr lang="en-US" altLang="zh-TW" sz="2000" b="1">
                <a:ea typeface="新細明體" panose="02020500000000000000" pitchFamily="18" charset="-120"/>
                <a:cs typeface="Times New Roman" panose="02020603050405020304" pitchFamily="18" charset="0"/>
              </a:endParaRPr>
            </a:p>
          </p:txBody>
        </p:sp>
        <p:sp>
          <p:nvSpPr>
            <p:cNvPr id="100" name="Rectangle 107"/>
            <p:cNvSpPr>
              <a:spLocks noChangeArrowheads="1"/>
            </p:cNvSpPr>
            <p:nvPr/>
          </p:nvSpPr>
          <p:spPr bwMode="auto">
            <a:xfrm>
              <a:off x="4090" y="3564"/>
              <a:ext cx="289"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a</a:t>
              </a:r>
              <a:endParaRPr lang="en-US" altLang="zh-TW" sz="2000" b="1">
                <a:ea typeface="新細明體" panose="02020500000000000000" pitchFamily="18" charset="-120"/>
                <a:cs typeface="Times New Roman" panose="02020603050405020304" pitchFamily="18" charset="0"/>
              </a:endParaRPr>
            </a:p>
          </p:txBody>
        </p:sp>
        <p:sp>
          <p:nvSpPr>
            <p:cNvPr id="101" name="Rectangle 108"/>
            <p:cNvSpPr>
              <a:spLocks noChangeArrowheads="1"/>
            </p:cNvSpPr>
            <p:nvPr/>
          </p:nvSpPr>
          <p:spPr bwMode="auto">
            <a:xfrm>
              <a:off x="3802" y="3564"/>
              <a:ext cx="288"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grpSp>
          <p:nvGrpSpPr>
            <p:cNvPr id="102" name="Group 149"/>
            <p:cNvGrpSpPr>
              <a:grpSpLocks/>
            </p:cNvGrpSpPr>
            <p:nvPr/>
          </p:nvGrpSpPr>
          <p:grpSpPr bwMode="auto">
            <a:xfrm>
              <a:off x="3802" y="3775"/>
              <a:ext cx="1152" cy="424"/>
              <a:chOff x="3802" y="3775"/>
              <a:chExt cx="1152" cy="424"/>
            </a:xfrm>
          </p:grpSpPr>
          <p:sp>
            <p:nvSpPr>
              <p:cNvPr id="103" name="Rectangle 97"/>
              <p:cNvSpPr>
                <a:spLocks noChangeArrowheads="1"/>
              </p:cNvSpPr>
              <p:nvPr/>
            </p:nvSpPr>
            <p:spPr bwMode="auto">
              <a:xfrm>
                <a:off x="4666" y="3985"/>
                <a:ext cx="288" cy="214"/>
              </a:xfrm>
              <a:prstGeom prst="rect">
                <a:avLst/>
              </a:prstGeom>
              <a:solidFill>
                <a:srgbClr val="FF0000">
                  <a:alpha val="5000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04" name="Rectangle 98"/>
              <p:cNvSpPr>
                <a:spLocks noChangeArrowheads="1"/>
              </p:cNvSpPr>
              <p:nvPr/>
            </p:nvSpPr>
            <p:spPr bwMode="auto">
              <a:xfrm>
                <a:off x="4379" y="3985"/>
                <a:ext cx="287" cy="214"/>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05" name="Rectangle 99"/>
              <p:cNvSpPr>
                <a:spLocks noChangeArrowheads="1"/>
              </p:cNvSpPr>
              <p:nvPr/>
            </p:nvSpPr>
            <p:spPr bwMode="auto">
              <a:xfrm>
                <a:off x="4090" y="3985"/>
                <a:ext cx="289" cy="214"/>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06" name="Rectangle 100"/>
              <p:cNvSpPr>
                <a:spLocks noChangeArrowheads="1"/>
              </p:cNvSpPr>
              <p:nvPr/>
            </p:nvSpPr>
            <p:spPr bwMode="auto">
              <a:xfrm>
                <a:off x="3802" y="3985"/>
                <a:ext cx="288"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g</a:t>
                </a:r>
                <a:endParaRPr lang="en-US" altLang="zh-TW" sz="2000" b="1">
                  <a:ea typeface="新細明體" panose="02020500000000000000" pitchFamily="18" charset="-120"/>
                  <a:cs typeface="Times New Roman" panose="02020603050405020304" pitchFamily="18" charset="0"/>
                </a:endParaRPr>
              </a:p>
            </p:txBody>
          </p:sp>
          <p:sp>
            <p:nvSpPr>
              <p:cNvPr id="107" name="Rectangle 101"/>
              <p:cNvSpPr>
                <a:spLocks noChangeArrowheads="1"/>
              </p:cNvSpPr>
              <p:nvPr/>
            </p:nvSpPr>
            <p:spPr bwMode="auto">
              <a:xfrm>
                <a:off x="4666" y="3775"/>
                <a:ext cx="288"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08" name="Rectangle 102"/>
              <p:cNvSpPr>
                <a:spLocks noChangeArrowheads="1"/>
              </p:cNvSpPr>
              <p:nvPr/>
            </p:nvSpPr>
            <p:spPr bwMode="auto">
              <a:xfrm>
                <a:off x="4379" y="3775"/>
                <a:ext cx="287" cy="210"/>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09" name="Rectangle 103"/>
              <p:cNvSpPr>
                <a:spLocks noChangeArrowheads="1"/>
              </p:cNvSpPr>
              <p:nvPr/>
            </p:nvSpPr>
            <p:spPr bwMode="auto">
              <a:xfrm>
                <a:off x="4090" y="3775"/>
                <a:ext cx="289" cy="210"/>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10" name="Rectangle 104"/>
              <p:cNvSpPr>
                <a:spLocks noChangeArrowheads="1"/>
              </p:cNvSpPr>
              <p:nvPr/>
            </p:nvSpPr>
            <p:spPr bwMode="auto">
              <a:xfrm>
                <a:off x="3802" y="3775"/>
                <a:ext cx="288"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a</a:t>
                </a:r>
                <a:endParaRPr lang="en-US" altLang="zh-TW" sz="2000" b="1">
                  <a:ea typeface="新細明體" panose="02020500000000000000" pitchFamily="18" charset="-120"/>
                  <a:cs typeface="Times New Roman" panose="02020603050405020304" pitchFamily="18" charset="0"/>
                </a:endParaRPr>
              </a:p>
            </p:txBody>
          </p:sp>
          <p:sp>
            <p:nvSpPr>
              <p:cNvPr id="111" name="Line 109"/>
              <p:cNvSpPr>
                <a:spLocks noChangeShapeType="1"/>
              </p:cNvSpPr>
              <p:nvPr/>
            </p:nvSpPr>
            <p:spPr bwMode="auto">
              <a:xfrm>
                <a:off x="4090" y="3775"/>
                <a:ext cx="289" cy="21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12" name="Line 110"/>
              <p:cNvSpPr>
                <a:spLocks noChangeShapeType="1"/>
              </p:cNvSpPr>
              <p:nvPr/>
            </p:nvSpPr>
            <p:spPr bwMode="auto">
              <a:xfrm>
                <a:off x="4379" y="3775"/>
                <a:ext cx="287" cy="21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13" name="Line 111"/>
              <p:cNvSpPr>
                <a:spLocks noChangeShapeType="1"/>
              </p:cNvSpPr>
              <p:nvPr/>
            </p:nvSpPr>
            <p:spPr bwMode="auto">
              <a:xfrm>
                <a:off x="4666" y="3775"/>
                <a:ext cx="288" cy="21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14" name="Line 112"/>
              <p:cNvSpPr>
                <a:spLocks noChangeShapeType="1"/>
              </p:cNvSpPr>
              <p:nvPr/>
            </p:nvSpPr>
            <p:spPr bwMode="auto">
              <a:xfrm>
                <a:off x="4090" y="3985"/>
                <a:ext cx="289" cy="2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15" name="Line 113"/>
              <p:cNvSpPr>
                <a:spLocks noChangeShapeType="1"/>
              </p:cNvSpPr>
              <p:nvPr/>
            </p:nvSpPr>
            <p:spPr bwMode="auto">
              <a:xfrm>
                <a:off x="4379" y="3985"/>
                <a:ext cx="287" cy="2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16" name="Line 114"/>
              <p:cNvSpPr>
                <a:spLocks noChangeShapeType="1"/>
              </p:cNvSpPr>
              <p:nvPr/>
            </p:nvSpPr>
            <p:spPr bwMode="auto">
              <a:xfrm>
                <a:off x="4666" y="3985"/>
                <a:ext cx="288" cy="2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17" name="Line 115"/>
              <p:cNvSpPr>
                <a:spLocks noChangeShapeType="1"/>
              </p:cNvSpPr>
              <p:nvPr/>
            </p:nvSpPr>
            <p:spPr bwMode="auto">
              <a:xfrm>
                <a:off x="4090" y="3775"/>
                <a:ext cx="0" cy="21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18" name="Line 116"/>
              <p:cNvSpPr>
                <a:spLocks noChangeShapeType="1"/>
              </p:cNvSpPr>
              <p:nvPr/>
            </p:nvSpPr>
            <p:spPr bwMode="auto">
              <a:xfrm>
                <a:off x="4379" y="3775"/>
                <a:ext cx="0" cy="4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19" name="Line 117"/>
              <p:cNvSpPr>
                <a:spLocks noChangeShapeType="1"/>
              </p:cNvSpPr>
              <p:nvPr/>
            </p:nvSpPr>
            <p:spPr bwMode="auto">
              <a:xfrm>
                <a:off x="4666" y="3775"/>
                <a:ext cx="0" cy="4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20" name="Line 118"/>
              <p:cNvSpPr>
                <a:spLocks noChangeShapeType="1"/>
              </p:cNvSpPr>
              <p:nvPr/>
            </p:nvSpPr>
            <p:spPr bwMode="auto">
              <a:xfrm>
                <a:off x="4954" y="3775"/>
                <a:ext cx="0" cy="21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21" name="Line 119"/>
              <p:cNvSpPr>
                <a:spLocks noChangeShapeType="1"/>
              </p:cNvSpPr>
              <p:nvPr/>
            </p:nvSpPr>
            <p:spPr bwMode="auto">
              <a:xfrm>
                <a:off x="4090" y="3775"/>
                <a:ext cx="864"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22" name="Line 120"/>
              <p:cNvSpPr>
                <a:spLocks noChangeShapeType="1"/>
              </p:cNvSpPr>
              <p:nvPr/>
            </p:nvSpPr>
            <p:spPr bwMode="auto">
              <a:xfrm>
                <a:off x="4090" y="3985"/>
                <a:ext cx="0" cy="214"/>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23" name="Line 121"/>
              <p:cNvSpPr>
                <a:spLocks noChangeShapeType="1"/>
              </p:cNvSpPr>
              <p:nvPr/>
            </p:nvSpPr>
            <p:spPr bwMode="auto">
              <a:xfrm>
                <a:off x="4090" y="3985"/>
                <a:ext cx="289"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24" name="Line 122"/>
              <p:cNvSpPr>
                <a:spLocks noChangeShapeType="1"/>
              </p:cNvSpPr>
              <p:nvPr/>
            </p:nvSpPr>
            <p:spPr bwMode="auto">
              <a:xfrm>
                <a:off x="4090" y="4199"/>
                <a:ext cx="864"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25" name="Line 123"/>
              <p:cNvSpPr>
                <a:spLocks noChangeShapeType="1"/>
              </p:cNvSpPr>
              <p:nvPr/>
            </p:nvSpPr>
            <p:spPr bwMode="auto">
              <a:xfrm>
                <a:off x="4954" y="3985"/>
                <a:ext cx="0" cy="214"/>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26" name="Line 124"/>
              <p:cNvSpPr>
                <a:spLocks noChangeShapeType="1"/>
              </p:cNvSpPr>
              <p:nvPr/>
            </p:nvSpPr>
            <p:spPr bwMode="auto">
              <a:xfrm>
                <a:off x="4379" y="3985"/>
                <a:ext cx="575"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cxnSp>
            <p:nvCxnSpPr>
              <p:cNvPr id="127" name="AutoShape 125"/>
              <p:cNvCxnSpPr>
                <a:cxnSpLocks noChangeShapeType="1"/>
                <a:stCxn id="111" idx="0"/>
                <a:endCxn id="112" idx="0"/>
              </p:cNvCxnSpPr>
              <p:nvPr/>
            </p:nvCxnSpPr>
            <p:spPr bwMode="auto">
              <a:xfrm>
                <a:off x="4090" y="3775"/>
                <a:ext cx="289"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8" name="AutoShape 126"/>
              <p:cNvCxnSpPr>
                <a:cxnSpLocks noChangeShapeType="1"/>
                <a:stCxn id="112" idx="0"/>
                <a:endCxn id="113" idx="0"/>
              </p:cNvCxnSpPr>
              <p:nvPr/>
            </p:nvCxnSpPr>
            <p:spPr bwMode="auto">
              <a:xfrm>
                <a:off x="4379" y="3775"/>
                <a:ext cx="287"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 name="AutoShape 127"/>
              <p:cNvCxnSpPr>
                <a:cxnSpLocks noChangeShapeType="1"/>
                <a:stCxn id="113" idx="0"/>
                <a:endCxn id="120" idx="0"/>
              </p:cNvCxnSpPr>
              <p:nvPr/>
            </p:nvCxnSpPr>
            <p:spPr bwMode="auto">
              <a:xfrm>
                <a:off x="4666" y="3775"/>
                <a:ext cx="288"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AutoShape 128"/>
              <p:cNvCxnSpPr>
                <a:cxnSpLocks noChangeShapeType="1"/>
                <a:stCxn id="114" idx="0"/>
                <a:endCxn id="126" idx="0"/>
              </p:cNvCxnSpPr>
              <p:nvPr/>
            </p:nvCxnSpPr>
            <p:spPr bwMode="auto">
              <a:xfrm>
                <a:off x="4090" y="3985"/>
                <a:ext cx="289"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AutoShape 129"/>
              <p:cNvCxnSpPr>
                <a:cxnSpLocks noChangeShapeType="1"/>
                <a:stCxn id="115" idx="0"/>
                <a:endCxn id="126" idx="1"/>
              </p:cNvCxnSpPr>
              <p:nvPr/>
            </p:nvCxnSpPr>
            <p:spPr bwMode="auto">
              <a:xfrm>
                <a:off x="4379" y="3985"/>
                <a:ext cx="575"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2" name="AutoShape 130"/>
              <p:cNvCxnSpPr>
                <a:cxnSpLocks noChangeShapeType="1"/>
                <a:stCxn id="115" idx="0"/>
                <a:endCxn id="115" idx="1"/>
              </p:cNvCxnSpPr>
              <p:nvPr/>
            </p:nvCxnSpPr>
            <p:spPr bwMode="auto">
              <a:xfrm>
                <a:off x="4379" y="3985"/>
                <a:ext cx="287" cy="2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AutoShape 131"/>
              <p:cNvCxnSpPr>
                <a:cxnSpLocks noChangeShapeType="1"/>
                <a:stCxn id="111" idx="0"/>
                <a:endCxn id="123" idx="0"/>
              </p:cNvCxnSpPr>
              <p:nvPr/>
            </p:nvCxnSpPr>
            <p:spPr bwMode="auto">
              <a:xfrm>
                <a:off x="4090" y="3775"/>
                <a:ext cx="0" cy="21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AutoShape 132"/>
              <p:cNvCxnSpPr>
                <a:cxnSpLocks noChangeShapeType="1"/>
                <a:stCxn id="114" idx="0"/>
                <a:endCxn id="122" idx="1"/>
              </p:cNvCxnSpPr>
              <p:nvPr/>
            </p:nvCxnSpPr>
            <p:spPr bwMode="auto">
              <a:xfrm>
                <a:off x="4090" y="3985"/>
                <a:ext cx="0" cy="2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 name="AutoShape 133"/>
              <p:cNvCxnSpPr>
                <a:cxnSpLocks noChangeShapeType="1"/>
                <a:stCxn id="112" idx="0"/>
                <a:endCxn id="126" idx="0"/>
              </p:cNvCxnSpPr>
              <p:nvPr/>
            </p:nvCxnSpPr>
            <p:spPr bwMode="auto">
              <a:xfrm>
                <a:off x="4379" y="3775"/>
                <a:ext cx="0" cy="21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AutoShape 134"/>
              <p:cNvCxnSpPr>
                <a:cxnSpLocks noChangeShapeType="1"/>
                <a:stCxn id="113" idx="0"/>
                <a:endCxn id="112" idx="1"/>
              </p:cNvCxnSpPr>
              <p:nvPr/>
            </p:nvCxnSpPr>
            <p:spPr bwMode="auto">
              <a:xfrm>
                <a:off x="4666" y="3775"/>
                <a:ext cx="0" cy="21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AutoShape 135"/>
              <p:cNvCxnSpPr>
                <a:cxnSpLocks noChangeShapeType="1"/>
                <a:stCxn id="116" idx="0"/>
                <a:endCxn id="119" idx="1"/>
              </p:cNvCxnSpPr>
              <p:nvPr/>
            </p:nvCxnSpPr>
            <p:spPr bwMode="auto">
              <a:xfrm>
                <a:off x="4666" y="3985"/>
                <a:ext cx="0" cy="2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AutoShape 136"/>
              <p:cNvCxnSpPr>
                <a:cxnSpLocks noChangeShapeType="1"/>
                <a:stCxn id="118" idx="0"/>
                <a:endCxn id="118" idx="1"/>
              </p:cNvCxnSpPr>
              <p:nvPr/>
            </p:nvCxnSpPr>
            <p:spPr bwMode="auto">
              <a:xfrm>
                <a:off x="4379" y="3775"/>
                <a:ext cx="0" cy="42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 name="AutoShape 137"/>
              <p:cNvCxnSpPr>
                <a:cxnSpLocks noChangeShapeType="1"/>
                <a:stCxn id="123" idx="0"/>
                <a:endCxn id="114" idx="1"/>
              </p:cNvCxnSpPr>
              <p:nvPr/>
            </p:nvCxnSpPr>
            <p:spPr bwMode="auto">
              <a:xfrm>
                <a:off x="4090" y="3985"/>
                <a:ext cx="289" cy="2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AutoShape 138"/>
              <p:cNvCxnSpPr>
                <a:cxnSpLocks noChangeShapeType="1"/>
                <a:stCxn id="121" idx="0"/>
                <a:endCxn id="111" idx="1"/>
              </p:cNvCxnSpPr>
              <p:nvPr/>
            </p:nvCxnSpPr>
            <p:spPr bwMode="auto">
              <a:xfrm>
                <a:off x="4090" y="3775"/>
                <a:ext cx="289" cy="21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AutoShape 139"/>
              <p:cNvCxnSpPr>
                <a:cxnSpLocks noChangeShapeType="1"/>
                <a:stCxn id="112" idx="0"/>
                <a:endCxn id="112" idx="1"/>
              </p:cNvCxnSpPr>
              <p:nvPr/>
            </p:nvCxnSpPr>
            <p:spPr bwMode="auto">
              <a:xfrm>
                <a:off x="4379" y="3775"/>
                <a:ext cx="287" cy="21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AutoShape 140"/>
              <p:cNvCxnSpPr>
                <a:cxnSpLocks noChangeShapeType="1"/>
                <a:stCxn id="116" idx="0"/>
                <a:endCxn id="116" idx="1"/>
              </p:cNvCxnSpPr>
              <p:nvPr/>
            </p:nvCxnSpPr>
            <p:spPr bwMode="auto">
              <a:xfrm>
                <a:off x="4666" y="3985"/>
                <a:ext cx="288" cy="2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AutoShape 141"/>
              <p:cNvCxnSpPr>
                <a:cxnSpLocks noChangeShapeType="1"/>
                <a:stCxn id="115" idx="1"/>
                <a:endCxn id="124" idx="1"/>
              </p:cNvCxnSpPr>
              <p:nvPr/>
            </p:nvCxnSpPr>
            <p:spPr bwMode="auto">
              <a:xfrm>
                <a:off x="4666" y="4199"/>
                <a:ext cx="288"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AutoShape 142"/>
              <p:cNvCxnSpPr>
                <a:cxnSpLocks noChangeShapeType="1"/>
                <a:stCxn id="126" idx="1"/>
                <a:endCxn id="116" idx="1"/>
              </p:cNvCxnSpPr>
              <p:nvPr/>
            </p:nvCxnSpPr>
            <p:spPr bwMode="auto">
              <a:xfrm>
                <a:off x="4954" y="3985"/>
                <a:ext cx="0" cy="2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AutoShape 143"/>
              <p:cNvCxnSpPr>
                <a:cxnSpLocks noChangeShapeType="1"/>
                <a:stCxn id="121" idx="1"/>
                <a:endCxn id="113" idx="1"/>
              </p:cNvCxnSpPr>
              <p:nvPr/>
            </p:nvCxnSpPr>
            <p:spPr bwMode="auto">
              <a:xfrm>
                <a:off x="4954" y="3775"/>
                <a:ext cx="0" cy="21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144"/>
              <p:cNvCxnSpPr>
                <a:cxnSpLocks noChangeShapeType="1"/>
                <a:stCxn id="113" idx="0"/>
                <a:endCxn id="113" idx="1"/>
              </p:cNvCxnSpPr>
              <p:nvPr/>
            </p:nvCxnSpPr>
            <p:spPr bwMode="auto">
              <a:xfrm>
                <a:off x="4666" y="3775"/>
                <a:ext cx="288" cy="21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145"/>
              <p:cNvCxnSpPr>
                <a:cxnSpLocks noChangeShapeType="1"/>
                <a:stCxn id="115" idx="0"/>
                <a:endCxn id="112" idx="1"/>
              </p:cNvCxnSpPr>
              <p:nvPr/>
            </p:nvCxnSpPr>
            <p:spPr bwMode="auto">
              <a:xfrm>
                <a:off x="4379" y="3985"/>
                <a:ext cx="287"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AutoShape 146"/>
              <p:cNvCxnSpPr>
                <a:cxnSpLocks noChangeShapeType="1"/>
                <a:stCxn id="122" idx="1"/>
                <a:endCxn id="118" idx="1"/>
              </p:cNvCxnSpPr>
              <p:nvPr/>
            </p:nvCxnSpPr>
            <p:spPr bwMode="auto">
              <a:xfrm>
                <a:off x="4090" y="4199"/>
                <a:ext cx="289"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AutoShape 147"/>
              <p:cNvCxnSpPr>
                <a:cxnSpLocks noChangeShapeType="1"/>
                <a:stCxn id="118" idx="1"/>
                <a:endCxn id="119" idx="1"/>
              </p:cNvCxnSpPr>
              <p:nvPr/>
            </p:nvCxnSpPr>
            <p:spPr bwMode="auto">
              <a:xfrm>
                <a:off x="4379" y="4199"/>
                <a:ext cx="287"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Tree>
    <p:extLst>
      <p:ext uri="{BB962C8B-B14F-4D97-AF65-F5344CB8AC3E}">
        <p14:creationId xmlns:p14="http://schemas.microsoft.com/office/powerpoint/2010/main" val="33543836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101639"/>
            <a:ext cx="7886700" cy="1325563"/>
          </a:xfrm>
        </p:spPr>
        <p:txBody>
          <a:bodyPr>
            <a:normAutofit/>
          </a:bodyPr>
          <a:lstStyle/>
          <a:p>
            <a:pPr algn="ctr"/>
            <a:r>
              <a:rPr lang="en-US" altLang="zh-TW" dirty="0">
                <a:latin typeface="Times New Roman" panose="02020603050405020304" pitchFamily="18" charset="0"/>
                <a:cs typeface="Times New Roman" panose="02020603050405020304" pitchFamily="18" charset="0"/>
              </a:rPr>
              <a:t>Computing the optimal global similarity value </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9140" y="1591912"/>
            <a:ext cx="8710422" cy="4351338"/>
          </a:xfrm>
        </p:spPr>
        <p:txBody>
          <a:bodyPr>
            <a:noAutofit/>
          </a:bodyPr>
          <a:lstStyle/>
          <a:p>
            <a:pPr marL="0" indent="0">
              <a:spcBef>
                <a:spcPct val="50000"/>
              </a:spcBef>
              <a:buNone/>
            </a:pPr>
            <a:r>
              <a:rPr lang="en-US" altLang="zh-TW" sz="2400" dirty="0" smtClean="0">
                <a:solidFill>
                  <a:schemeClr val="accent2"/>
                </a:solidFill>
                <a:latin typeface="Times New Roman" panose="02020603050405020304" pitchFamily="18" charset="0"/>
                <a:cs typeface="Times New Roman" panose="02020603050405020304" pitchFamily="18" charset="0"/>
              </a:rPr>
              <a:t>• </a:t>
            </a:r>
            <a:r>
              <a:rPr lang="en-US" altLang="zh-TW" sz="2400" dirty="0">
                <a:solidFill>
                  <a:schemeClr val="accent2"/>
                </a:solidFill>
                <a:latin typeface="Times New Roman" panose="02020603050405020304" pitchFamily="18" charset="0"/>
                <a:cs typeface="Times New Roman" panose="02020603050405020304" pitchFamily="18" charset="0"/>
              </a:rPr>
              <a:t>input border I </a:t>
            </a:r>
            <a:r>
              <a:rPr lang="en-US" altLang="zh-TW" sz="2400" dirty="0">
                <a:latin typeface="Times New Roman" panose="02020603050405020304" pitchFamily="18" charset="0"/>
                <a:cs typeface="Times New Roman" panose="02020603050405020304" pitchFamily="18" charset="0"/>
              </a:rPr>
              <a:t>– the left and top borders of G.</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 </a:t>
            </a:r>
            <a:r>
              <a:rPr lang="en-US" altLang="zh-TW" sz="2400" dirty="0">
                <a:solidFill>
                  <a:srgbClr val="00B050"/>
                </a:solidFill>
                <a:latin typeface="Times New Roman" panose="02020603050405020304" pitchFamily="18" charset="0"/>
                <a:cs typeface="Times New Roman" panose="02020603050405020304" pitchFamily="18" charset="0"/>
              </a:rPr>
              <a:t>output border O </a:t>
            </a:r>
            <a:r>
              <a:rPr lang="en-US" altLang="zh-TW" sz="2400" dirty="0">
                <a:latin typeface="Times New Roman" panose="02020603050405020304" pitchFamily="18" charset="0"/>
                <a:cs typeface="Times New Roman" panose="02020603050405020304" pitchFamily="18" charset="0"/>
              </a:rPr>
              <a:t>– the bottom and right borders of G</a:t>
            </a:r>
            <a:r>
              <a:rPr lang="en-US" altLang="zh-TW" sz="2400" dirty="0" smtClean="0">
                <a:latin typeface="Times New Roman" panose="02020603050405020304" pitchFamily="18" charset="0"/>
                <a:cs typeface="Times New Roman" panose="02020603050405020304" pitchFamily="18" charset="0"/>
              </a:rPr>
              <a:t>.</a:t>
            </a:r>
          </a:p>
          <a:p>
            <a:pPr>
              <a:spcBef>
                <a:spcPct val="50000"/>
              </a:spcBef>
            </a:pPr>
            <a:r>
              <a:rPr lang="en-US" altLang="zh-TW" sz="2400" dirty="0">
                <a:latin typeface="Times New Roman" panose="02020603050405020304" pitchFamily="18" charset="0"/>
                <a:cs typeface="Times New Roman" panose="02020603050405020304" pitchFamily="18" charset="0"/>
              </a:rPr>
              <a:t>Let </a:t>
            </a:r>
            <a:r>
              <a:rPr lang="en-US" altLang="zh-TW" sz="2400" dirty="0" err="1" smtClean="0">
                <a:latin typeface="Times New Roman" panose="02020603050405020304" pitchFamily="18" charset="0"/>
                <a:cs typeface="Times New Roman" panose="02020603050405020304" pitchFamily="18" charset="0"/>
              </a:rPr>
              <a:t>lr</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denote the number of rows in G, </a:t>
            </a:r>
            <a:r>
              <a:rPr lang="en-US" altLang="zh-TW" sz="2400" dirty="0" err="1">
                <a:latin typeface="Times New Roman" panose="02020603050405020304" pitchFamily="18" charset="0"/>
                <a:cs typeface="Times New Roman" panose="02020603050405020304" pitchFamily="18" charset="0"/>
              </a:rPr>
              <a:t>l</a:t>
            </a:r>
            <a:r>
              <a:rPr lang="en-US" altLang="zh-TW" sz="2400" dirty="0" err="1" smtClean="0">
                <a:latin typeface="Times New Roman" panose="02020603050405020304" pitchFamily="18" charset="0"/>
                <a:cs typeface="Times New Roman" panose="02020603050405020304" pitchFamily="18" charset="0"/>
              </a:rPr>
              <a:t>r</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xa</a:t>
            </a:r>
            <a:r>
              <a:rPr lang="en-US" altLang="zh-TW" sz="2400" dirty="0">
                <a:latin typeface="Times New Roman" panose="02020603050405020304" pitchFamily="18" charset="0"/>
                <a:cs typeface="Times New Roman" panose="02020603050405020304" pitchFamily="18" charset="0"/>
              </a:rPr>
              <a:t>|. Let </a:t>
            </a:r>
            <a:r>
              <a:rPr lang="en-US" altLang="zh-TW" sz="2400" dirty="0" err="1">
                <a:latin typeface="Times New Roman" panose="02020603050405020304" pitchFamily="18" charset="0"/>
                <a:cs typeface="Times New Roman" panose="02020603050405020304" pitchFamily="18" charset="0"/>
              </a:rPr>
              <a:t>l</a:t>
            </a:r>
            <a:r>
              <a:rPr lang="en-US" altLang="zh-TW" sz="2400" dirty="0" err="1" smtClean="0">
                <a:latin typeface="Times New Roman" panose="02020603050405020304" pitchFamily="18" charset="0"/>
                <a:cs typeface="Times New Roman" panose="02020603050405020304" pitchFamily="18" charset="0"/>
              </a:rPr>
              <a:t>c</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denote </a:t>
            </a:r>
            <a:r>
              <a:rPr lang="en-US" altLang="zh-TW" sz="2400" dirty="0" smtClean="0">
                <a:latin typeface="Times New Roman" panose="02020603050405020304" pitchFamily="18" charset="0"/>
                <a:cs typeface="Times New Roman" panose="02020603050405020304" pitchFamily="18" charset="0"/>
              </a:rPr>
              <a:t>the number of columns </a:t>
            </a:r>
            <a:r>
              <a:rPr lang="en-US" altLang="zh-TW" sz="2400" dirty="0">
                <a:latin typeface="Times New Roman" panose="02020603050405020304" pitchFamily="18" charset="0"/>
                <a:cs typeface="Times New Roman" panose="02020603050405020304" pitchFamily="18" charset="0"/>
              </a:rPr>
              <a:t>in G, </a:t>
            </a:r>
            <a:r>
              <a:rPr lang="en-US" altLang="zh-TW" sz="2400" dirty="0" err="1">
                <a:latin typeface="Times New Roman" panose="02020603050405020304" pitchFamily="18" charset="0"/>
                <a:cs typeface="Times New Roman" panose="02020603050405020304" pitchFamily="18" charset="0"/>
              </a:rPr>
              <a:t>l</a:t>
            </a:r>
            <a:r>
              <a:rPr lang="en-US" altLang="zh-TW" sz="2400" dirty="0" err="1" smtClean="0">
                <a:latin typeface="Times New Roman" panose="02020603050405020304" pitchFamily="18" charset="0"/>
                <a:cs typeface="Times New Roman" panose="02020603050405020304" pitchFamily="18" charset="0"/>
              </a:rPr>
              <a:t>c</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yb</a:t>
            </a:r>
            <a:r>
              <a:rPr lang="en-US" altLang="zh-TW" sz="2400" dirty="0">
                <a:latin typeface="Times New Roman" panose="02020603050405020304" pitchFamily="18" charset="0"/>
                <a:cs typeface="Times New Roman" panose="02020603050405020304" pitchFamily="18" charset="0"/>
              </a:rPr>
              <a:t>|. Let t = </a:t>
            </a:r>
            <a:r>
              <a:rPr lang="en-US" altLang="zh-TW" sz="2400" dirty="0" err="1">
                <a:latin typeface="Times New Roman" panose="02020603050405020304" pitchFamily="18" charset="0"/>
                <a:cs typeface="Times New Roman" panose="02020603050405020304" pitchFamily="18" charset="0"/>
              </a:rPr>
              <a:t>l</a:t>
            </a:r>
            <a:r>
              <a:rPr lang="en-US" altLang="zh-TW" sz="2400" dirty="0" err="1" smtClean="0">
                <a:latin typeface="Times New Roman" panose="02020603050405020304" pitchFamily="18" charset="0"/>
                <a:cs typeface="Times New Roman" panose="02020603050405020304" pitchFamily="18" charset="0"/>
              </a:rPr>
              <a:t>r</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l</a:t>
            </a:r>
            <a:r>
              <a:rPr lang="en-US" altLang="zh-TW" sz="2400" dirty="0" err="1" smtClean="0">
                <a:latin typeface="Times New Roman" panose="02020603050405020304" pitchFamily="18" charset="0"/>
                <a:cs typeface="Times New Roman" panose="02020603050405020304" pitchFamily="18" charset="0"/>
              </a:rPr>
              <a:t>c</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a:t>
            </a:r>
            <a:r>
              <a:rPr lang="en-US" altLang="zh-TW" sz="2400" dirty="0" smtClean="0">
                <a:latin typeface="Times New Roman" panose="02020603050405020304" pitchFamily="18" charset="0"/>
                <a:cs typeface="Times New Roman" panose="02020603050405020304" pitchFamily="18" charset="0"/>
              </a:rPr>
              <a:t>                  </a:t>
            </a:r>
            <a:r>
              <a:rPr lang="en-US" altLang="zh-TW" sz="2400" dirty="0" smtClean="0">
                <a:solidFill>
                  <a:srgbClr val="FF0000"/>
                </a:solidFill>
                <a:latin typeface="Times New Roman" panose="02020603050405020304" pitchFamily="18" charset="0"/>
                <a:cs typeface="Times New Roman" panose="02020603050405020304" pitchFamily="18" charset="0"/>
              </a:rPr>
              <a:t>Clearly</a:t>
            </a:r>
            <a:r>
              <a:rPr lang="en-US" altLang="zh-TW" sz="2400" dirty="0">
                <a:solidFill>
                  <a:srgbClr val="FF0000"/>
                </a:solidFill>
                <a:latin typeface="Times New Roman" panose="02020603050405020304" pitchFamily="18" charset="0"/>
                <a:cs typeface="Times New Roman" panose="02020603050405020304" pitchFamily="18" charset="0"/>
              </a:rPr>
              <a:t>, |I | = |O| = t</a:t>
            </a:r>
            <a:r>
              <a:rPr lang="en-US" altLang="zh-TW" sz="2400" dirty="0" smtClean="0">
                <a:solidFill>
                  <a:srgbClr val="FF0000"/>
                </a:solidFill>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10</a:t>
            </a:fld>
            <a:endParaRPr lang="zh-TW" altLang="en-US">
              <a:latin typeface="Times New Roman" panose="02020603050405020304" pitchFamily="18" charset="0"/>
              <a:cs typeface="Times New Roman" panose="02020603050405020304" pitchFamily="18" charset="0"/>
            </a:endParaRPr>
          </a:p>
        </p:txBody>
      </p:sp>
      <p:grpSp>
        <p:nvGrpSpPr>
          <p:cNvPr id="5" name="Group 182"/>
          <p:cNvGrpSpPr>
            <a:grpSpLocks/>
          </p:cNvGrpSpPr>
          <p:nvPr/>
        </p:nvGrpSpPr>
        <p:grpSpPr bwMode="auto">
          <a:xfrm>
            <a:off x="2877313" y="4260410"/>
            <a:ext cx="2718816" cy="2095941"/>
            <a:chOff x="3568" y="743"/>
            <a:chExt cx="2056" cy="1440"/>
          </a:xfrm>
        </p:grpSpPr>
        <p:sp>
          <p:nvSpPr>
            <p:cNvPr id="6" name="Text Box 76"/>
            <p:cNvSpPr txBox="1">
              <a:spLocks noChangeArrowheads="1"/>
            </p:cNvSpPr>
            <p:nvPr/>
          </p:nvSpPr>
          <p:spPr bwMode="auto">
            <a:xfrm>
              <a:off x="3958" y="1880"/>
              <a:ext cx="259"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sz="2000" b="1">
                  <a:solidFill>
                    <a:srgbClr val="00B050"/>
                  </a:solidFill>
                </a:rPr>
                <a:t>O</a:t>
              </a:r>
              <a:endParaRPr lang="en-US" altLang="zh-TW" sz="2000" b="1">
                <a:solidFill>
                  <a:srgbClr val="00B050"/>
                </a:solidFill>
                <a:ea typeface="新細明體" panose="02020500000000000000" pitchFamily="18" charset="-120"/>
              </a:endParaRPr>
            </a:p>
          </p:txBody>
        </p:sp>
        <p:grpSp>
          <p:nvGrpSpPr>
            <p:cNvPr id="7" name="Group 56"/>
            <p:cNvGrpSpPr>
              <a:grpSpLocks/>
            </p:cNvGrpSpPr>
            <p:nvPr/>
          </p:nvGrpSpPr>
          <p:grpSpPr bwMode="auto">
            <a:xfrm>
              <a:off x="3661" y="743"/>
              <a:ext cx="1694" cy="1236"/>
              <a:chOff x="3435" y="825"/>
              <a:chExt cx="1694" cy="1236"/>
            </a:xfrm>
          </p:grpSpPr>
          <p:sp>
            <p:nvSpPr>
              <p:cNvPr id="25" name="Rectangle 4"/>
              <p:cNvSpPr>
                <a:spLocks noChangeArrowheads="1"/>
              </p:cNvSpPr>
              <p:nvPr/>
            </p:nvSpPr>
            <p:spPr bwMode="auto">
              <a:xfrm>
                <a:off x="4705" y="1454"/>
                <a:ext cx="42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p>
            </p:txBody>
          </p:sp>
          <p:sp>
            <p:nvSpPr>
              <p:cNvPr id="26" name="Rectangle 5"/>
              <p:cNvSpPr>
                <a:spLocks noChangeArrowheads="1"/>
              </p:cNvSpPr>
              <p:nvPr/>
            </p:nvSpPr>
            <p:spPr bwMode="auto">
              <a:xfrm>
                <a:off x="4283" y="1454"/>
                <a:ext cx="422" cy="320"/>
              </a:xfrm>
              <a:prstGeom prst="rect">
                <a:avLst/>
              </a:prstGeom>
              <a:noFill/>
              <a:ln>
                <a:noFill/>
              </a:ln>
              <a:effectLst/>
              <a:extLst>
                <a:ext uri="{909E8E84-426E-40DD-AFC4-6F175D3DCCD1}">
                  <a14:hiddenFill xmlns:a14="http://schemas.microsoft.com/office/drawing/2010/main">
                    <a:solidFill>
                      <a:srgbClr val="00CCFF">
                        <a:alpha val="5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p>
            </p:txBody>
          </p:sp>
          <p:sp>
            <p:nvSpPr>
              <p:cNvPr id="27" name="Rectangle 6"/>
              <p:cNvSpPr>
                <a:spLocks noChangeArrowheads="1"/>
              </p:cNvSpPr>
              <p:nvPr/>
            </p:nvSpPr>
            <p:spPr bwMode="auto">
              <a:xfrm>
                <a:off x="3859" y="1454"/>
                <a:ext cx="424" cy="320"/>
              </a:xfrm>
              <a:prstGeom prst="rect">
                <a:avLst/>
              </a:prstGeom>
              <a:noFill/>
              <a:ln>
                <a:noFill/>
              </a:ln>
              <a:effectLst/>
              <a:extLst>
                <a:ext uri="{909E8E84-426E-40DD-AFC4-6F175D3DCCD1}">
                  <a14:hiddenFill xmlns:a14="http://schemas.microsoft.com/office/drawing/2010/main">
                    <a:solidFill>
                      <a:srgbClr val="00CCFF">
                        <a:alpha val="5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p>
            </p:txBody>
          </p:sp>
          <p:sp>
            <p:nvSpPr>
              <p:cNvPr id="28" name="Rectangle 7"/>
              <p:cNvSpPr>
                <a:spLocks noChangeArrowheads="1"/>
              </p:cNvSpPr>
              <p:nvPr/>
            </p:nvSpPr>
            <p:spPr bwMode="auto">
              <a:xfrm>
                <a:off x="3435" y="1454"/>
                <a:ext cx="42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t>g</a:t>
                </a:r>
                <a:endParaRPr lang="en-US" altLang="zh-TW" sz="2000" b="1">
                  <a:ea typeface="新細明體" panose="02020500000000000000" pitchFamily="18" charset="-120"/>
                </a:endParaRPr>
              </a:p>
            </p:txBody>
          </p:sp>
          <p:sp>
            <p:nvSpPr>
              <p:cNvPr id="29" name="Rectangle 8"/>
              <p:cNvSpPr>
                <a:spLocks noChangeArrowheads="1"/>
              </p:cNvSpPr>
              <p:nvPr/>
            </p:nvSpPr>
            <p:spPr bwMode="auto">
              <a:xfrm>
                <a:off x="4705" y="1140"/>
                <a:ext cx="424"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p>
            </p:txBody>
          </p:sp>
          <p:sp>
            <p:nvSpPr>
              <p:cNvPr id="30" name="Rectangle 9"/>
              <p:cNvSpPr>
                <a:spLocks noChangeArrowheads="1"/>
              </p:cNvSpPr>
              <p:nvPr/>
            </p:nvSpPr>
            <p:spPr bwMode="auto">
              <a:xfrm>
                <a:off x="4283" y="1140"/>
                <a:ext cx="422" cy="314"/>
              </a:xfrm>
              <a:prstGeom prst="rect">
                <a:avLst/>
              </a:prstGeom>
              <a:noFill/>
              <a:ln>
                <a:noFill/>
              </a:ln>
              <a:effectLst/>
              <a:extLst>
                <a:ext uri="{909E8E84-426E-40DD-AFC4-6F175D3DCCD1}">
                  <a14:hiddenFill xmlns:a14="http://schemas.microsoft.com/office/drawing/2010/main">
                    <a:solidFill>
                      <a:srgbClr val="00CCFF">
                        <a:alpha val="5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p>
            </p:txBody>
          </p:sp>
          <p:sp>
            <p:nvSpPr>
              <p:cNvPr id="31" name="Rectangle 10"/>
              <p:cNvSpPr>
                <a:spLocks noChangeArrowheads="1"/>
              </p:cNvSpPr>
              <p:nvPr/>
            </p:nvSpPr>
            <p:spPr bwMode="auto">
              <a:xfrm>
                <a:off x="3859" y="1140"/>
                <a:ext cx="424" cy="314"/>
              </a:xfrm>
              <a:prstGeom prst="rect">
                <a:avLst/>
              </a:prstGeom>
              <a:noFill/>
              <a:ln>
                <a:noFill/>
              </a:ln>
              <a:effectLst/>
              <a:extLst>
                <a:ext uri="{909E8E84-426E-40DD-AFC4-6F175D3DCCD1}">
                  <a14:hiddenFill xmlns:a14="http://schemas.microsoft.com/office/drawing/2010/main">
                    <a:solidFill>
                      <a:srgbClr val="00CCFF">
                        <a:alpha val="5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p>
            </p:txBody>
          </p:sp>
          <p:sp>
            <p:nvSpPr>
              <p:cNvPr id="32" name="Rectangle 11"/>
              <p:cNvSpPr>
                <a:spLocks noChangeArrowheads="1"/>
              </p:cNvSpPr>
              <p:nvPr/>
            </p:nvSpPr>
            <p:spPr bwMode="auto">
              <a:xfrm>
                <a:off x="3435" y="1140"/>
                <a:ext cx="424"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t>a</a:t>
                </a:r>
                <a:endParaRPr lang="en-US" altLang="zh-TW" sz="2000" b="1">
                  <a:ea typeface="新細明體" panose="02020500000000000000" pitchFamily="18" charset="-120"/>
                </a:endParaRPr>
              </a:p>
            </p:txBody>
          </p:sp>
          <p:sp>
            <p:nvSpPr>
              <p:cNvPr id="33" name="Rectangle 12"/>
              <p:cNvSpPr>
                <a:spLocks noChangeArrowheads="1"/>
              </p:cNvSpPr>
              <p:nvPr/>
            </p:nvSpPr>
            <p:spPr bwMode="auto">
              <a:xfrm>
                <a:off x="4705"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t>g</a:t>
                </a:r>
                <a:endParaRPr lang="en-US" altLang="zh-TW" sz="2000" b="1">
                  <a:ea typeface="新細明體" panose="02020500000000000000" pitchFamily="18" charset="-120"/>
                </a:endParaRPr>
              </a:p>
            </p:txBody>
          </p:sp>
          <p:sp>
            <p:nvSpPr>
              <p:cNvPr id="34" name="Rectangle 13"/>
              <p:cNvSpPr>
                <a:spLocks noChangeArrowheads="1"/>
              </p:cNvSpPr>
              <p:nvPr/>
            </p:nvSpPr>
            <p:spPr bwMode="auto">
              <a:xfrm>
                <a:off x="4283" y="825"/>
                <a:ext cx="422"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t>c</a:t>
                </a:r>
                <a:endParaRPr lang="en-US" altLang="zh-TW" sz="2000" b="1">
                  <a:ea typeface="新細明體" panose="02020500000000000000" pitchFamily="18" charset="-120"/>
                </a:endParaRPr>
              </a:p>
            </p:txBody>
          </p:sp>
          <p:sp>
            <p:nvSpPr>
              <p:cNvPr id="35" name="Rectangle 14"/>
              <p:cNvSpPr>
                <a:spLocks noChangeArrowheads="1"/>
              </p:cNvSpPr>
              <p:nvPr/>
            </p:nvSpPr>
            <p:spPr bwMode="auto">
              <a:xfrm>
                <a:off x="3859"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t>a</a:t>
                </a:r>
                <a:endParaRPr lang="en-US" altLang="zh-TW" sz="2000" b="1">
                  <a:ea typeface="新細明體" panose="02020500000000000000" pitchFamily="18" charset="-120"/>
                </a:endParaRPr>
              </a:p>
            </p:txBody>
          </p:sp>
          <p:sp>
            <p:nvSpPr>
              <p:cNvPr id="36" name="Rectangle 15"/>
              <p:cNvSpPr>
                <a:spLocks noChangeArrowheads="1"/>
              </p:cNvSpPr>
              <p:nvPr/>
            </p:nvSpPr>
            <p:spPr bwMode="auto">
              <a:xfrm>
                <a:off x="3435"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p>
            </p:txBody>
          </p:sp>
          <p:sp>
            <p:nvSpPr>
              <p:cNvPr id="37" name="Line 16"/>
              <p:cNvSpPr>
                <a:spLocks noChangeShapeType="1"/>
              </p:cNvSpPr>
              <p:nvPr/>
            </p:nvSpPr>
            <p:spPr bwMode="auto">
              <a:xfrm>
                <a:off x="3859" y="1140"/>
                <a:ext cx="424"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38" name="Line 17"/>
              <p:cNvSpPr>
                <a:spLocks noChangeShapeType="1"/>
              </p:cNvSpPr>
              <p:nvPr/>
            </p:nvSpPr>
            <p:spPr bwMode="auto">
              <a:xfrm>
                <a:off x="4283" y="1140"/>
                <a:ext cx="422"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39" name="Line 18"/>
              <p:cNvSpPr>
                <a:spLocks noChangeShapeType="1"/>
              </p:cNvSpPr>
              <p:nvPr/>
            </p:nvSpPr>
            <p:spPr bwMode="auto">
              <a:xfrm>
                <a:off x="4705" y="1140"/>
                <a:ext cx="424"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40" name="Line 19"/>
              <p:cNvSpPr>
                <a:spLocks noChangeShapeType="1"/>
              </p:cNvSpPr>
              <p:nvPr/>
            </p:nvSpPr>
            <p:spPr bwMode="auto">
              <a:xfrm>
                <a:off x="3859" y="1454"/>
                <a:ext cx="424"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41" name="Line 20"/>
              <p:cNvSpPr>
                <a:spLocks noChangeShapeType="1"/>
              </p:cNvSpPr>
              <p:nvPr/>
            </p:nvSpPr>
            <p:spPr bwMode="auto">
              <a:xfrm>
                <a:off x="4283" y="1454"/>
                <a:ext cx="422"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42" name="Line 21"/>
              <p:cNvSpPr>
                <a:spLocks noChangeShapeType="1"/>
              </p:cNvSpPr>
              <p:nvPr/>
            </p:nvSpPr>
            <p:spPr bwMode="auto">
              <a:xfrm>
                <a:off x="4705" y="1454"/>
                <a:ext cx="424"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43" name="Line 22"/>
              <p:cNvSpPr>
                <a:spLocks noChangeShapeType="1"/>
              </p:cNvSpPr>
              <p:nvPr/>
            </p:nvSpPr>
            <p:spPr bwMode="auto">
              <a:xfrm>
                <a:off x="3859" y="1140"/>
                <a:ext cx="0" cy="31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44" name="Line 23"/>
              <p:cNvSpPr>
                <a:spLocks noChangeShapeType="1"/>
              </p:cNvSpPr>
              <p:nvPr/>
            </p:nvSpPr>
            <p:spPr bwMode="auto">
              <a:xfrm>
                <a:off x="4283" y="1140"/>
                <a:ext cx="0" cy="63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45" name="Line 24"/>
              <p:cNvSpPr>
                <a:spLocks noChangeShapeType="1"/>
              </p:cNvSpPr>
              <p:nvPr/>
            </p:nvSpPr>
            <p:spPr bwMode="auto">
              <a:xfrm>
                <a:off x="4705" y="1140"/>
                <a:ext cx="0" cy="63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46" name="Line 25"/>
              <p:cNvSpPr>
                <a:spLocks noChangeShapeType="1"/>
              </p:cNvSpPr>
              <p:nvPr/>
            </p:nvSpPr>
            <p:spPr bwMode="auto">
              <a:xfrm>
                <a:off x="5129" y="1140"/>
                <a:ext cx="0" cy="31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47" name="Line 26"/>
              <p:cNvSpPr>
                <a:spLocks noChangeShapeType="1"/>
              </p:cNvSpPr>
              <p:nvPr/>
            </p:nvSpPr>
            <p:spPr bwMode="auto">
              <a:xfrm>
                <a:off x="3859" y="1140"/>
                <a:ext cx="127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48" name="Line 27"/>
              <p:cNvSpPr>
                <a:spLocks noChangeShapeType="1"/>
              </p:cNvSpPr>
              <p:nvPr/>
            </p:nvSpPr>
            <p:spPr bwMode="auto">
              <a:xfrm>
                <a:off x="3859" y="1454"/>
                <a:ext cx="0" cy="32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49" name="Line 28"/>
              <p:cNvSpPr>
                <a:spLocks noChangeShapeType="1"/>
              </p:cNvSpPr>
              <p:nvPr/>
            </p:nvSpPr>
            <p:spPr bwMode="auto">
              <a:xfrm>
                <a:off x="3859" y="1454"/>
                <a:ext cx="424"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50" name="Line 29"/>
              <p:cNvSpPr>
                <a:spLocks noChangeShapeType="1"/>
              </p:cNvSpPr>
              <p:nvPr/>
            </p:nvSpPr>
            <p:spPr bwMode="auto">
              <a:xfrm>
                <a:off x="3859" y="1774"/>
                <a:ext cx="1270"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51" name="Line 30"/>
              <p:cNvSpPr>
                <a:spLocks noChangeShapeType="1"/>
              </p:cNvSpPr>
              <p:nvPr/>
            </p:nvSpPr>
            <p:spPr bwMode="auto">
              <a:xfrm>
                <a:off x="5129" y="1454"/>
                <a:ext cx="0" cy="32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52" name="Line 31"/>
              <p:cNvSpPr>
                <a:spLocks noChangeShapeType="1"/>
              </p:cNvSpPr>
              <p:nvPr/>
            </p:nvSpPr>
            <p:spPr bwMode="auto">
              <a:xfrm>
                <a:off x="4283" y="1454"/>
                <a:ext cx="846"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cxnSp>
            <p:nvCxnSpPr>
              <p:cNvPr id="53" name="AutoShape 32"/>
              <p:cNvCxnSpPr>
                <a:cxnSpLocks noChangeShapeType="1"/>
                <a:stCxn id="37" idx="0"/>
                <a:endCxn id="38" idx="0"/>
              </p:cNvCxnSpPr>
              <p:nvPr/>
            </p:nvCxnSpPr>
            <p:spPr bwMode="auto">
              <a:xfrm>
                <a:off x="3859" y="1140"/>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33"/>
              <p:cNvCxnSpPr>
                <a:cxnSpLocks noChangeShapeType="1"/>
                <a:stCxn id="38" idx="0"/>
                <a:endCxn id="39" idx="0"/>
              </p:cNvCxnSpPr>
              <p:nvPr/>
            </p:nvCxnSpPr>
            <p:spPr bwMode="auto">
              <a:xfrm>
                <a:off x="4283" y="1140"/>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34"/>
              <p:cNvCxnSpPr>
                <a:cxnSpLocks noChangeShapeType="1"/>
                <a:stCxn id="39" idx="0"/>
                <a:endCxn id="46" idx="0"/>
              </p:cNvCxnSpPr>
              <p:nvPr/>
            </p:nvCxnSpPr>
            <p:spPr bwMode="auto">
              <a:xfrm>
                <a:off x="4705" y="1140"/>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35"/>
              <p:cNvCxnSpPr>
                <a:cxnSpLocks noChangeShapeType="1"/>
                <a:stCxn id="40" idx="0"/>
                <a:endCxn id="52" idx="0"/>
              </p:cNvCxnSpPr>
              <p:nvPr/>
            </p:nvCxnSpPr>
            <p:spPr bwMode="auto">
              <a:xfrm>
                <a:off x="3859" y="145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36"/>
              <p:cNvCxnSpPr>
                <a:cxnSpLocks noChangeShapeType="1"/>
                <a:stCxn id="41" idx="0"/>
                <a:endCxn id="52" idx="1"/>
              </p:cNvCxnSpPr>
              <p:nvPr/>
            </p:nvCxnSpPr>
            <p:spPr bwMode="auto">
              <a:xfrm>
                <a:off x="4283" y="1454"/>
                <a:ext cx="846"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AutoShape 37"/>
              <p:cNvCxnSpPr>
                <a:cxnSpLocks noChangeShapeType="1"/>
                <a:stCxn id="41" idx="0"/>
                <a:endCxn id="41" idx="1"/>
              </p:cNvCxnSpPr>
              <p:nvPr/>
            </p:nvCxnSpPr>
            <p:spPr bwMode="auto">
              <a:xfrm>
                <a:off x="4283" y="1454"/>
                <a:ext cx="422" cy="32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AutoShape 38"/>
              <p:cNvCxnSpPr>
                <a:cxnSpLocks noChangeShapeType="1"/>
                <a:stCxn id="37" idx="0"/>
                <a:endCxn id="49" idx="0"/>
              </p:cNvCxnSpPr>
              <p:nvPr/>
            </p:nvCxnSpPr>
            <p:spPr bwMode="auto">
              <a:xfrm>
                <a:off x="3859"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AutoShape 39"/>
              <p:cNvCxnSpPr>
                <a:cxnSpLocks noChangeShapeType="1"/>
                <a:stCxn id="40" idx="0"/>
                <a:endCxn id="48" idx="1"/>
              </p:cNvCxnSpPr>
              <p:nvPr/>
            </p:nvCxnSpPr>
            <p:spPr bwMode="auto">
              <a:xfrm>
                <a:off x="3859"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AutoShape 40"/>
              <p:cNvCxnSpPr>
                <a:cxnSpLocks noChangeShapeType="1"/>
                <a:stCxn id="38" idx="0"/>
                <a:endCxn id="52" idx="0"/>
              </p:cNvCxnSpPr>
              <p:nvPr/>
            </p:nvCxnSpPr>
            <p:spPr bwMode="auto">
              <a:xfrm>
                <a:off x="4283"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AutoShape 41"/>
              <p:cNvCxnSpPr>
                <a:cxnSpLocks noChangeShapeType="1"/>
                <a:stCxn id="39" idx="0"/>
                <a:endCxn id="38" idx="1"/>
              </p:cNvCxnSpPr>
              <p:nvPr/>
            </p:nvCxnSpPr>
            <p:spPr bwMode="auto">
              <a:xfrm>
                <a:off x="4705"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AutoShape 42"/>
              <p:cNvCxnSpPr>
                <a:cxnSpLocks noChangeShapeType="1"/>
                <a:stCxn id="42" idx="0"/>
                <a:endCxn id="45" idx="1"/>
              </p:cNvCxnSpPr>
              <p:nvPr/>
            </p:nvCxnSpPr>
            <p:spPr bwMode="auto">
              <a:xfrm>
                <a:off x="4705"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AutoShape 43"/>
              <p:cNvCxnSpPr>
                <a:cxnSpLocks noChangeShapeType="1"/>
                <a:stCxn id="44" idx="0"/>
                <a:endCxn id="44" idx="1"/>
              </p:cNvCxnSpPr>
              <p:nvPr/>
            </p:nvCxnSpPr>
            <p:spPr bwMode="auto">
              <a:xfrm>
                <a:off x="4283" y="1140"/>
                <a:ext cx="0" cy="63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AutoShape 44"/>
              <p:cNvCxnSpPr>
                <a:cxnSpLocks noChangeShapeType="1"/>
                <a:stCxn id="49" idx="0"/>
                <a:endCxn id="40" idx="1"/>
              </p:cNvCxnSpPr>
              <p:nvPr/>
            </p:nvCxnSpPr>
            <p:spPr bwMode="auto">
              <a:xfrm>
                <a:off x="3859" y="1454"/>
                <a:ext cx="424" cy="32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AutoShape 45"/>
              <p:cNvCxnSpPr>
                <a:cxnSpLocks noChangeShapeType="1"/>
                <a:stCxn id="47" idx="0"/>
                <a:endCxn id="37" idx="1"/>
              </p:cNvCxnSpPr>
              <p:nvPr/>
            </p:nvCxnSpPr>
            <p:spPr bwMode="auto">
              <a:xfrm>
                <a:off x="3859" y="1140"/>
                <a:ext cx="424" cy="314"/>
              </a:xfrm>
              <a:prstGeom prst="straightConnector1">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AutoShape 46"/>
              <p:cNvCxnSpPr>
                <a:cxnSpLocks noChangeShapeType="1"/>
                <a:stCxn id="38" idx="0"/>
                <a:endCxn id="38" idx="1"/>
              </p:cNvCxnSpPr>
              <p:nvPr/>
            </p:nvCxnSpPr>
            <p:spPr bwMode="auto">
              <a:xfrm>
                <a:off x="4283" y="1140"/>
                <a:ext cx="422" cy="3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AutoShape 47"/>
              <p:cNvCxnSpPr>
                <a:cxnSpLocks noChangeShapeType="1"/>
                <a:stCxn id="42" idx="0"/>
                <a:endCxn id="42" idx="1"/>
              </p:cNvCxnSpPr>
              <p:nvPr/>
            </p:nvCxnSpPr>
            <p:spPr bwMode="auto">
              <a:xfrm>
                <a:off x="4705" y="1454"/>
                <a:ext cx="424" cy="320"/>
              </a:xfrm>
              <a:prstGeom prst="straightConnector1">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AutoShape 48"/>
              <p:cNvCxnSpPr>
                <a:cxnSpLocks noChangeShapeType="1"/>
                <a:stCxn id="41" idx="1"/>
                <a:endCxn id="50" idx="1"/>
              </p:cNvCxnSpPr>
              <p:nvPr/>
            </p:nvCxnSpPr>
            <p:spPr bwMode="auto">
              <a:xfrm>
                <a:off x="4705" y="177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AutoShape 49"/>
              <p:cNvCxnSpPr>
                <a:cxnSpLocks noChangeShapeType="1"/>
                <a:stCxn id="52" idx="1"/>
                <a:endCxn id="42" idx="1"/>
              </p:cNvCxnSpPr>
              <p:nvPr/>
            </p:nvCxnSpPr>
            <p:spPr bwMode="auto">
              <a:xfrm>
                <a:off x="5129"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AutoShape 50"/>
              <p:cNvCxnSpPr>
                <a:cxnSpLocks noChangeShapeType="1"/>
                <a:stCxn id="47" idx="1"/>
                <a:endCxn id="39" idx="1"/>
              </p:cNvCxnSpPr>
              <p:nvPr/>
            </p:nvCxnSpPr>
            <p:spPr bwMode="auto">
              <a:xfrm>
                <a:off x="5129"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AutoShape 51"/>
              <p:cNvCxnSpPr>
                <a:cxnSpLocks noChangeShapeType="1"/>
                <a:stCxn id="39" idx="0"/>
                <a:endCxn id="39" idx="1"/>
              </p:cNvCxnSpPr>
              <p:nvPr/>
            </p:nvCxnSpPr>
            <p:spPr bwMode="auto">
              <a:xfrm>
                <a:off x="4705" y="1140"/>
                <a:ext cx="424" cy="3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AutoShape 52"/>
              <p:cNvCxnSpPr>
                <a:cxnSpLocks noChangeShapeType="1"/>
                <a:stCxn id="41" idx="0"/>
                <a:endCxn id="38" idx="1"/>
              </p:cNvCxnSpPr>
              <p:nvPr/>
            </p:nvCxnSpPr>
            <p:spPr bwMode="auto">
              <a:xfrm>
                <a:off x="4283" y="1454"/>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AutoShape 53"/>
              <p:cNvCxnSpPr>
                <a:cxnSpLocks noChangeShapeType="1"/>
                <a:stCxn id="48" idx="1"/>
                <a:endCxn id="44" idx="1"/>
              </p:cNvCxnSpPr>
              <p:nvPr/>
            </p:nvCxnSpPr>
            <p:spPr bwMode="auto">
              <a:xfrm>
                <a:off x="3859" y="177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AutoShape 54"/>
              <p:cNvCxnSpPr>
                <a:cxnSpLocks noChangeShapeType="1"/>
                <a:stCxn id="44" idx="1"/>
                <a:endCxn id="45" idx="1"/>
              </p:cNvCxnSpPr>
              <p:nvPr/>
            </p:nvCxnSpPr>
            <p:spPr bwMode="auto">
              <a:xfrm>
                <a:off x="4283" y="1774"/>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Text Box 55"/>
              <p:cNvSpPr txBox="1">
                <a:spLocks noChangeArrowheads="1"/>
              </p:cNvSpPr>
              <p:nvPr/>
            </p:nvSpPr>
            <p:spPr bwMode="auto">
              <a:xfrm>
                <a:off x="4371" y="1773"/>
                <a:ext cx="33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spcBef>
                    <a:spcPct val="50000"/>
                  </a:spcBef>
                </a:pPr>
                <a:r>
                  <a:rPr lang="en-US" sz="2400" b="1"/>
                  <a:t>G</a:t>
                </a:r>
                <a:endParaRPr lang="en-US" altLang="zh-TW" sz="2400" b="1">
                  <a:ea typeface="新細明體" panose="02020500000000000000" pitchFamily="18" charset="-120"/>
                </a:endParaRPr>
              </a:p>
            </p:txBody>
          </p:sp>
        </p:grpSp>
        <p:sp>
          <p:nvSpPr>
            <p:cNvPr id="8" name="Text Box 58"/>
            <p:cNvSpPr txBox="1">
              <a:spLocks noChangeArrowheads="1"/>
            </p:cNvSpPr>
            <p:nvPr/>
          </p:nvSpPr>
          <p:spPr bwMode="auto">
            <a:xfrm>
              <a:off x="3889" y="1587"/>
              <a:ext cx="19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chemeClr val="accent2"/>
                  </a:solidFill>
                </a:rPr>
                <a:t>0</a:t>
              </a:r>
              <a:endParaRPr lang="en-US" altLang="zh-TW">
                <a:solidFill>
                  <a:schemeClr val="accent2"/>
                </a:solidFill>
                <a:ea typeface="新細明體" panose="02020500000000000000" pitchFamily="18" charset="-120"/>
              </a:endParaRPr>
            </a:p>
          </p:txBody>
        </p:sp>
        <p:sp>
          <p:nvSpPr>
            <p:cNvPr id="9" name="Text Box 63"/>
            <p:cNvSpPr txBox="1">
              <a:spLocks noChangeArrowheads="1"/>
            </p:cNvSpPr>
            <p:nvPr/>
          </p:nvSpPr>
          <p:spPr bwMode="auto">
            <a:xfrm>
              <a:off x="4855" y="1723"/>
              <a:ext cx="20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rgbClr val="00B050"/>
                  </a:solidFill>
                </a:rPr>
                <a:t>2</a:t>
              </a:r>
              <a:endParaRPr lang="en-US" altLang="zh-TW">
                <a:solidFill>
                  <a:srgbClr val="00B050"/>
                </a:solidFill>
                <a:ea typeface="新細明體" panose="02020500000000000000" pitchFamily="18" charset="-120"/>
              </a:endParaRPr>
            </a:p>
          </p:txBody>
        </p:sp>
        <p:sp>
          <p:nvSpPr>
            <p:cNvPr id="10" name="Text Box 65"/>
            <p:cNvSpPr txBox="1">
              <a:spLocks noChangeArrowheads="1"/>
            </p:cNvSpPr>
            <p:nvPr/>
          </p:nvSpPr>
          <p:spPr bwMode="auto">
            <a:xfrm>
              <a:off x="4007" y="1727"/>
              <a:ext cx="19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rgbClr val="00B050"/>
                  </a:solidFill>
                </a:rPr>
                <a:t>0</a:t>
              </a:r>
              <a:endParaRPr lang="en-US" altLang="zh-TW">
                <a:solidFill>
                  <a:srgbClr val="00B050"/>
                </a:solidFill>
                <a:ea typeface="新細明體" panose="02020500000000000000" pitchFamily="18" charset="-120"/>
              </a:endParaRPr>
            </a:p>
          </p:txBody>
        </p:sp>
        <p:sp>
          <p:nvSpPr>
            <p:cNvPr id="11" name="Text Box 66"/>
            <p:cNvSpPr txBox="1">
              <a:spLocks noChangeArrowheads="1"/>
            </p:cNvSpPr>
            <p:nvPr/>
          </p:nvSpPr>
          <p:spPr bwMode="auto">
            <a:xfrm>
              <a:off x="3878" y="1226"/>
              <a:ext cx="19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chemeClr val="accent2"/>
                  </a:solidFill>
                </a:rPr>
                <a:t>1</a:t>
              </a:r>
              <a:endParaRPr lang="en-US" altLang="zh-TW">
                <a:solidFill>
                  <a:schemeClr val="accent2"/>
                </a:solidFill>
                <a:ea typeface="新細明體" panose="02020500000000000000" pitchFamily="18" charset="-120"/>
              </a:endParaRPr>
            </a:p>
          </p:txBody>
        </p:sp>
        <p:sp>
          <p:nvSpPr>
            <p:cNvPr id="12" name="Text Box 67"/>
            <p:cNvSpPr txBox="1">
              <a:spLocks noChangeArrowheads="1"/>
            </p:cNvSpPr>
            <p:nvPr/>
          </p:nvSpPr>
          <p:spPr bwMode="auto">
            <a:xfrm>
              <a:off x="3974" y="835"/>
              <a:ext cx="19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chemeClr val="accent2"/>
                  </a:solidFill>
                </a:rPr>
                <a:t>2</a:t>
              </a:r>
              <a:endParaRPr lang="en-US" altLang="zh-TW">
                <a:solidFill>
                  <a:schemeClr val="accent2"/>
                </a:solidFill>
                <a:ea typeface="新細明體" panose="02020500000000000000" pitchFamily="18" charset="-120"/>
              </a:endParaRPr>
            </a:p>
          </p:txBody>
        </p:sp>
        <p:sp>
          <p:nvSpPr>
            <p:cNvPr id="13" name="Text Box 68"/>
            <p:cNvSpPr txBox="1">
              <a:spLocks noChangeArrowheads="1"/>
            </p:cNvSpPr>
            <p:nvPr/>
          </p:nvSpPr>
          <p:spPr bwMode="auto">
            <a:xfrm>
              <a:off x="4420" y="852"/>
              <a:ext cx="19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chemeClr val="accent2"/>
                  </a:solidFill>
                </a:rPr>
                <a:t>3</a:t>
              </a:r>
              <a:endParaRPr lang="en-US" altLang="zh-TW">
                <a:solidFill>
                  <a:schemeClr val="accent2"/>
                </a:solidFill>
                <a:ea typeface="新細明體" panose="02020500000000000000" pitchFamily="18" charset="-120"/>
              </a:endParaRPr>
            </a:p>
          </p:txBody>
        </p:sp>
        <p:sp>
          <p:nvSpPr>
            <p:cNvPr id="14" name="Text Box 69"/>
            <p:cNvSpPr txBox="1">
              <a:spLocks noChangeArrowheads="1"/>
            </p:cNvSpPr>
            <p:nvPr/>
          </p:nvSpPr>
          <p:spPr bwMode="auto">
            <a:xfrm>
              <a:off x="4844" y="846"/>
              <a:ext cx="19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chemeClr val="accent2"/>
                  </a:solidFill>
                </a:rPr>
                <a:t>4</a:t>
              </a:r>
              <a:endParaRPr lang="en-US" altLang="zh-TW">
                <a:solidFill>
                  <a:schemeClr val="accent2"/>
                </a:solidFill>
                <a:ea typeface="新細明體" panose="02020500000000000000" pitchFamily="18" charset="-120"/>
              </a:endParaRPr>
            </a:p>
          </p:txBody>
        </p:sp>
        <p:sp>
          <p:nvSpPr>
            <p:cNvPr id="15" name="Text Box 70"/>
            <p:cNvSpPr txBox="1">
              <a:spLocks noChangeArrowheads="1"/>
            </p:cNvSpPr>
            <p:nvPr/>
          </p:nvSpPr>
          <p:spPr bwMode="auto">
            <a:xfrm>
              <a:off x="4442" y="1723"/>
              <a:ext cx="19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rgbClr val="00B050"/>
                  </a:solidFill>
                </a:rPr>
                <a:t>1</a:t>
              </a:r>
              <a:endParaRPr lang="en-US" altLang="zh-TW">
                <a:solidFill>
                  <a:srgbClr val="00B050"/>
                </a:solidFill>
                <a:ea typeface="新細明體" panose="02020500000000000000" pitchFamily="18" charset="-120"/>
              </a:endParaRPr>
            </a:p>
          </p:txBody>
        </p:sp>
        <p:sp>
          <p:nvSpPr>
            <p:cNvPr id="16" name="Text Box 71"/>
            <p:cNvSpPr txBox="1">
              <a:spLocks noChangeArrowheads="1"/>
            </p:cNvSpPr>
            <p:nvPr/>
          </p:nvSpPr>
          <p:spPr bwMode="auto">
            <a:xfrm>
              <a:off x="5385" y="1616"/>
              <a:ext cx="19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rgbClr val="00B050"/>
                  </a:solidFill>
                </a:rPr>
                <a:t>3</a:t>
              </a:r>
              <a:endParaRPr lang="en-US" altLang="zh-TW">
                <a:solidFill>
                  <a:srgbClr val="00B050"/>
                </a:solidFill>
                <a:ea typeface="新細明體" panose="02020500000000000000" pitchFamily="18" charset="-120"/>
              </a:endParaRPr>
            </a:p>
          </p:txBody>
        </p:sp>
        <p:sp>
          <p:nvSpPr>
            <p:cNvPr id="17" name="Text Box 72"/>
            <p:cNvSpPr txBox="1">
              <a:spLocks noChangeArrowheads="1"/>
            </p:cNvSpPr>
            <p:nvPr/>
          </p:nvSpPr>
          <p:spPr bwMode="auto">
            <a:xfrm>
              <a:off x="5391" y="1271"/>
              <a:ext cx="19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rgbClr val="00B050"/>
                  </a:solidFill>
                </a:rPr>
                <a:t>4</a:t>
              </a:r>
              <a:endParaRPr lang="en-US" altLang="zh-TW">
                <a:solidFill>
                  <a:srgbClr val="00B050"/>
                </a:solidFill>
                <a:ea typeface="新細明體" panose="02020500000000000000" pitchFamily="18" charset="-120"/>
              </a:endParaRPr>
            </a:p>
          </p:txBody>
        </p:sp>
        <p:sp>
          <p:nvSpPr>
            <p:cNvPr id="18" name="Text Box 73"/>
            <p:cNvSpPr txBox="1">
              <a:spLocks noChangeArrowheads="1"/>
            </p:cNvSpPr>
            <p:nvPr/>
          </p:nvSpPr>
          <p:spPr bwMode="auto">
            <a:xfrm>
              <a:off x="5226" y="858"/>
              <a:ext cx="19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chemeClr val="accent2"/>
                  </a:solidFill>
                </a:rPr>
                <a:t>5</a:t>
              </a:r>
              <a:endParaRPr lang="en-US" altLang="zh-TW">
                <a:solidFill>
                  <a:schemeClr val="accent2"/>
                </a:solidFill>
                <a:ea typeface="新細明體" panose="02020500000000000000" pitchFamily="18" charset="-120"/>
              </a:endParaRPr>
            </a:p>
          </p:txBody>
        </p:sp>
        <p:sp>
          <p:nvSpPr>
            <p:cNvPr id="19" name="Text Box 74"/>
            <p:cNvSpPr txBox="1">
              <a:spLocks noChangeArrowheads="1"/>
            </p:cNvSpPr>
            <p:nvPr/>
          </p:nvSpPr>
          <p:spPr bwMode="auto">
            <a:xfrm>
              <a:off x="5402" y="1011"/>
              <a:ext cx="19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rgbClr val="00B050"/>
                  </a:solidFill>
                </a:rPr>
                <a:t>5</a:t>
              </a:r>
              <a:endParaRPr lang="en-US" altLang="zh-TW">
                <a:solidFill>
                  <a:srgbClr val="00B050"/>
                </a:solidFill>
                <a:ea typeface="新細明體" panose="02020500000000000000" pitchFamily="18" charset="-120"/>
              </a:endParaRPr>
            </a:p>
          </p:txBody>
        </p:sp>
        <p:sp>
          <p:nvSpPr>
            <p:cNvPr id="20" name="Text Box 79"/>
            <p:cNvSpPr txBox="1">
              <a:spLocks noChangeArrowheads="1"/>
            </p:cNvSpPr>
            <p:nvPr/>
          </p:nvSpPr>
          <p:spPr bwMode="auto">
            <a:xfrm>
              <a:off x="3568" y="1566"/>
              <a:ext cx="25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sz="2000" b="1">
                  <a:solidFill>
                    <a:schemeClr val="accent2"/>
                  </a:solidFill>
                </a:rPr>
                <a:t>I</a:t>
              </a:r>
              <a:endParaRPr lang="en-US" altLang="zh-TW" sz="2000" b="1">
                <a:solidFill>
                  <a:schemeClr val="accent2"/>
                </a:solidFill>
                <a:ea typeface="新細明體" panose="02020500000000000000" pitchFamily="18" charset="-120"/>
              </a:endParaRPr>
            </a:p>
          </p:txBody>
        </p:sp>
        <p:sp>
          <p:nvSpPr>
            <p:cNvPr id="21" name="Line 81"/>
            <p:cNvSpPr>
              <a:spLocks noChangeShapeType="1"/>
            </p:cNvSpPr>
            <p:nvPr/>
          </p:nvSpPr>
          <p:spPr bwMode="auto">
            <a:xfrm flipV="1">
              <a:off x="3726" y="780"/>
              <a:ext cx="0" cy="801"/>
            </a:xfrm>
            <a:prstGeom prst="line">
              <a:avLst/>
            </a:prstGeom>
            <a:noFill/>
            <a:ln w="127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22" name="Line 82"/>
            <p:cNvSpPr>
              <a:spLocks noChangeShapeType="1"/>
            </p:cNvSpPr>
            <p:nvPr/>
          </p:nvSpPr>
          <p:spPr bwMode="auto">
            <a:xfrm>
              <a:off x="3749" y="757"/>
              <a:ext cx="1547" cy="0"/>
            </a:xfrm>
            <a:prstGeom prst="line">
              <a:avLst/>
            </a:prstGeom>
            <a:noFill/>
            <a:ln w="127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23" name="Line 84"/>
            <p:cNvSpPr>
              <a:spLocks noChangeShapeType="1"/>
            </p:cNvSpPr>
            <p:nvPr/>
          </p:nvSpPr>
          <p:spPr bwMode="auto">
            <a:xfrm>
              <a:off x="4190" y="1979"/>
              <a:ext cx="1389" cy="0"/>
            </a:xfrm>
            <a:prstGeom prst="line">
              <a:avLst/>
            </a:prstGeom>
            <a:noFill/>
            <a:ln w="127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solidFill>
                  <a:srgbClr val="00B050"/>
                </a:solidFill>
              </a:endParaRPr>
            </a:p>
          </p:txBody>
        </p:sp>
        <p:sp>
          <p:nvSpPr>
            <p:cNvPr id="24" name="Line 85"/>
            <p:cNvSpPr>
              <a:spLocks noChangeShapeType="1"/>
            </p:cNvSpPr>
            <p:nvPr/>
          </p:nvSpPr>
          <p:spPr bwMode="auto">
            <a:xfrm flipV="1">
              <a:off x="5624" y="1073"/>
              <a:ext cx="0" cy="906"/>
            </a:xfrm>
            <a:prstGeom prst="line">
              <a:avLst/>
            </a:prstGeom>
            <a:noFill/>
            <a:ln w="127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solidFill>
                  <a:srgbClr val="00B050"/>
                </a:solidFill>
              </a:endParaRPr>
            </a:p>
          </p:txBody>
        </p:sp>
      </p:grpSp>
    </p:spTree>
    <p:extLst>
      <p:ext uri="{BB962C8B-B14F-4D97-AF65-F5344CB8AC3E}">
        <p14:creationId xmlns:p14="http://schemas.microsoft.com/office/powerpoint/2010/main" val="10631488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101639"/>
            <a:ext cx="7886700" cy="1325563"/>
          </a:xfrm>
        </p:spPr>
        <p:txBody>
          <a:bodyPr>
            <a:normAutofit/>
          </a:bodyPr>
          <a:lstStyle/>
          <a:p>
            <a:pPr algn="ctr"/>
            <a:r>
              <a:rPr lang="en-US" altLang="zh-TW" dirty="0">
                <a:latin typeface="Times New Roman" panose="02020603050405020304" pitchFamily="18" charset="0"/>
                <a:cs typeface="Times New Roman" panose="02020603050405020304" pitchFamily="18" charset="0"/>
              </a:rPr>
              <a:t>I/O propagation Across G</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11</a:t>
            </a:fld>
            <a:endParaRPr lang="zh-TW" altLang="en-US">
              <a:latin typeface="Times New Roman" panose="02020603050405020304" pitchFamily="18" charset="0"/>
              <a:cs typeface="Times New Roman" panose="02020603050405020304" pitchFamily="18" charset="0"/>
            </a:endParaRPr>
          </a:p>
        </p:txBody>
      </p:sp>
      <p:pic>
        <p:nvPicPr>
          <p:cNvPr id="77" name="圖片 76"/>
          <p:cNvPicPr>
            <a:picLocks noChangeAspect="1"/>
          </p:cNvPicPr>
          <p:nvPr/>
        </p:nvPicPr>
        <p:blipFill>
          <a:blip r:embed="rId3"/>
          <a:stretch>
            <a:fillRect/>
          </a:stretch>
        </p:blipFill>
        <p:spPr>
          <a:xfrm>
            <a:off x="99140" y="1223924"/>
            <a:ext cx="4485052" cy="2379659"/>
          </a:xfrm>
          <a:prstGeom prst="rect">
            <a:avLst/>
          </a:prstGeom>
        </p:spPr>
      </p:pic>
      <p:pic>
        <p:nvPicPr>
          <p:cNvPr id="78" name="圖片 77"/>
          <p:cNvPicPr>
            <a:picLocks noChangeAspect="1"/>
          </p:cNvPicPr>
          <p:nvPr/>
        </p:nvPicPr>
        <p:blipFill>
          <a:blip r:embed="rId4"/>
          <a:stretch>
            <a:fillRect/>
          </a:stretch>
        </p:blipFill>
        <p:spPr>
          <a:xfrm>
            <a:off x="5048250" y="1058799"/>
            <a:ext cx="4095750" cy="4667250"/>
          </a:xfrm>
          <a:prstGeom prst="rect">
            <a:avLst/>
          </a:prstGeom>
        </p:spPr>
      </p:pic>
      <p:sp>
        <p:nvSpPr>
          <p:cNvPr id="79" name="向右箭號 78"/>
          <p:cNvSpPr/>
          <p:nvPr/>
        </p:nvSpPr>
        <p:spPr>
          <a:xfrm>
            <a:off x="4584192" y="2292096"/>
            <a:ext cx="597408" cy="43891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pSp>
        <p:nvGrpSpPr>
          <p:cNvPr id="80" name="Group 182"/>
          <p:cNvGrpSpPr>
            <a:grpSpLocks/>
          </p:cNvGrpSpPr>
          <p:nvPr/>
        </p:nvGrpSpPr>
        <p:grpSpPr bwMode="auto">
          <a:xfrm>
            <a:off x="982258" y="4260410"/>
            <a:ext cx="2718816" cy="2095941"/>
            <a:chOff x="3568" y="743"/>
            <a:chExt cx="2056" cy="1440"/>
          </a:xfrm>
        </p:grpSpPr>
        <p:sp>
          <p:nvSpPr>
            <p:cNvPr id="81" name="Text Box 76"/>
            <p:cNvSpPr txBox="1">
              <a:spLocks noChangeArrowheads="1"/>
            </p:cNvSpPr>
            <p:nvPr/>
          </p:nvSpPr>
          <p:spPr bwMode="auto">
            <a:xfrm>
              <a:off x="3958" y="1880"/>
              <a:ext cx="259"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sz="2000" b="1">
                  <a:solidFill>
                    <a:srgbClr val="00B050"/>
                  </a:solidFill>
                </a:rPr>
                <a:t>O</a:t>
              </a:r>
              <a:endParaRPr lang="en-US" altLang="zh-TW" sz="2000" b="1">
                <a:solidFill>
                  <a:srgbClr val="00B050"/>
                </a:solidFill>
                <a:ea typeface="新細明體" panose="02020500000000000000" pitchFamily="18" charset="-120"/>
              </a:endParaRPr>
            </a:p>
          </p:txBody>
        </p:sp>
        <p:grpSp>
          <p:nvGrpSpPr>
            <p:cNvPr id="82" name="Group 56"/>
            <p:cNvGrpSpPr>
              <a:grpSpLocks/>
            </p:cNvGrpSpPr>
            <p:nvPr/>
          </p:nvGrpSpPr>
          <p:grpSpPr bwMode="auto">
            <a:xfrm>
              <a:off x="3661" y="743"/>
              <a:ext cx="1694" cy="1236"/>
              <a:chOff x="3435" y="825"/>
              <a:chExt cx="1694" cy="1236"/>
            </a:xfrm>
          </p:grpSpPr>
          <p:sp>
            <p:nvSpPr>
              <p:cNvPr id="100" name="Rectangle 4"/>
              <p:cNvSpPr>
                <a:spLocks noChangeArrowheads="1"/>
              </p:cNvSpPr>
              <p:nvPr/>
            </p:nvSpPr>
            <p:spPr bwMode="auto">
              <a:xfrm>
                <a:off x="4705" y="1454"/>
                <a:ext cx="42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p>
            </p:txBody>
          </p:sp>
          <p:sp>
            <p:nvSpPr>
              <p:cNvPr id="101" name="Rectangle 5"/>
              <p:cNvSpPr>
                <a:spLocks noChangeArrowheads="1"/>
              </p:cNvSpPr>
              <p:nvPr/>
            </p:nvSpPr>
            <p:spPr bwMode="auto">
              <a:xfrm>
                <a:off x="4283" y="1454"/>
                <a:ext cx="422" cy="320"/>
              </a:xfrm>
              <a:prstGeom prst="rect">
                <a:avLst/>
              </a:prstGeom>
              <a:noFill/>
              <a:ln>
                <a:noFill/>
              </a:ln>
              <a:effectLst/>
              <a:extLst>
                <a:ext uri="{909E8E84-426E-40DD-AFC4-6F175D3DCCD1}">
                  <a14:hiddenFill xmlns:a14="http://schemas.microsoft.com/office/drawing/2010/main">
                    <a:solidFill>
                      <a:srgbClr val="00CCFF">
                        <a:alpha val="5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p>
            </p:txBody>
          </p:sp>
          <p:sp>
            <p:nvSpPr>
              <p:cNvPr id="102" name="Rectangle 6"/>
              <p:cNvSpPr>
                <a:spLocks noChangeArrowheads="1"/>
              </p:cNvSpPr>
              <p:nvPr/>
            </p:nvSpPr>
            <p:spPr bwMode="auto">
              <a:xfrm>
                <a:off x="3859" y="1454"/>
                <a:ext cx="424" cy="320"/>
              </a:xfrm>
              <a:prstGeom prst="rect">
                <a:avLst/>
              </a:prstGeom>
              <a:noFill/>
              <a:ln>
                <a:noFill/>
              </a:ln>
              <a:effectLst/>
              <a:extLst>
                <a:ext uri="{909E8E84-426E-40DD-AFC4-6F175D3DCCD1}">
                  <a14:hiddenFill xmlns:a14="http://schemas.microsoft.com/office/drawing/2010/main">
                    <a:solidFill>
                      <a:srgbClr val="00CCFF">
                        <a:alpha val="5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p>
            </p:txBody>
          </p:sp>
          <p:sp>
            <p:nvSpPr>
              <p:cNvPr id="103" name="Rectangle 7"/>
              <p:cNvSpPr>
                <a:spLocks noChangeArrowheads="1"/>
              </p:cNvSpPr>
              <p:nvPr/>
            </p:nvSpPr>
            <p:spPr bwMode="auto">
              <a:xfrm>
                <a:off x="3435" y="1454"/>
                <a:ext cx="42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t>g</a:t>
                </a:r>
                <a:endParaRPr lang="en-US" altLang="zh-TW" sz="2000" b="1">
                  <a:ea typeface="新細明體" panose="02020500000000000000" pitchFamily="18" charset="-120"/>
                </a:endParaRPr>
              </a:p>
            </p:txBody>
          </p:sp>
          <p:sp>
            <p:nvSpPr>
              <p:cNvPr id="104" name="Rectangle 8"/>
              <p:cNvSpPr>
                <a:spLocks noChangeArrowheads="1"/>
              </p:cNvSpPr>
              <p:nvPr/>
            </p:nvSpPr>
            <p:spPr bwMode="auto">
              <a:xfrm>
                <a:off x="4705" y="1140"/>
                <a:ext cx="424"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p>
            </p:txBody>
          </p:sp>
          <p:sp>
            <p:nvSpPr>
              <p:cNvPr id="105" name="Rectangle 9"/>
              <p:cNvSpPr>
                <a:spLocks noChangeArrowheads="1"/>
              </p:cNvSpPr>
              <p:nvPr/>
            </p:nvSpPr>
            <p:spPr bwMode="auto">
              <a:xfrm>
                <a:off x="4283" y="1140"/>
                <a:ext cx="422" cy="314"/>
              </a:xfrm>
              <a:prstGeom prst="rect">
                <a:avLst/>
              </a:prstGeom>
              <a:noFill/>
              <a:ln>
                <a:noFill/>
              </a:ln>
              <a:effectLst/>
              <a:extLst>
                <a:ext uri="{909E8E84-426E-40DD-AFC4-6F175D3DCCD1}">
                  <a14:hiddenFill xmlns:a14="http://schemas.microsoft.com/office/drawing/2010/main">
                    <a:solidFill>
                      <a:srgbClr val="00CCFF">
                        <a:alpha val="5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p>
            </p:txBody>
          </p:sp>
          <p:sp>
            <p:nvSpPr>
              <p:cNvPr id="106" name="Rectangle 10"/>
              <p:cNvSpPr>
                <a:spLocks noChangeArrowheads="1"/>
              </p:cNvSpPr>
              <p:nvPr/>
            </p:nvSpPr>
            <p:spPr bwMode="auto">
              <a:xfrm>
                <a:off x="3859" y="1140"/>
                <a:ext cx="424" cy="314"/>
              </a:xfrm>
              <a:prstGeom prst="rect">
                <a:avLst/>
              </a:prstGeom>
              <a:noFill/>
              <a:ln>
                <a:noFill/>
              </a:ln>
              <a:effectLst/>
              <a:extLst>
                <a:ext uri="{909E8E84-426E-40DD-AFC4-6F175D3DCCD1}">
                  <a14:hiddenFill xmlns:a14="http://schemas.microsoft.com/office/drawing/2010/main">
                    <a:solidFill>
                      <a:srgbClr val="00CCFF">
                        <a:alpha val="5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p>
            </p:txBody>
          </p:sp>
          <p:sp>
            <p:nvSpPr>
              <p:cNvPr id="107" name="Rectangle 11"/>
              <p:cNvSpPr>
                <a:spLocks noChangeArrowheads="1"/>
              </p:cNvSpPr>
              <p:nvPr/>
            </p:nvSpPr>
            <p:spPr bwMode="auto">
              <a:xfrm>
                <a:off x="3435" y="1140"/>
                <a:ext cx="424"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t>a</a:t>
                </a:r>
                <a:endParaRPr lang="en-US" altLang="zh-TW" sz="2000" b="1">
                  <a:ea typeface="新細明體" panose="02020500000000000000" pitchFamily="18" charset="-120"/>
                </a:endParaRPr>
              </a:p>
            </p:txBody>
          </p:sp>
          <p:sp>
            <p:nvSpPr>
              <p:cNvPr id="108" name="Rectangle 12"/>
              <p:cNvSpPr>
                <a:spLocks noChangeArrowheads="1"/>
              </p:cNvSpPr>
              <p:nvPr/>
            </p:nvSpPr>
            <p:spPr bwMode="auto">
              <a:xfrm>
                <a:off x="4705"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t>g</a:t>
                </a:r>
                <a:endParaRPr lang="en-US" altLang="zh-TW" sz="2000" b="1">
                  <a:ea typeface="新細明體" panose="02020500000000000000" pitchFamily="18" charset="-120"/>
                </a:endParaRPr>
              </a:p>
            </p:txBody>
          </p:sp>
          <p:sp>
            <p:nvSpPr>
              <p:cNvPr id="109" name="Rectangle 13"/>
              <p:cNvSpPr>
                <a:spLocks noChangeArrowheads="1"/>
              </p:cNvSpPr>
              <p:nvPr/>
            </p:nvSpPr>
            <p:spPr bwMode="auto">
              <a:xfrm>
                <a:off x="4283" y="825"/>
                <a:ext cx="422"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t>c</a:t>
                </a:r>
                <a:endParaRPr lang="en-US" altLang="zh-TW" sz="2000" b="1">
                  <a:ea typeface="新細明體" panose="02020500000000000000" pitchFamily="18" charset="-120"/>
                </a:endParaRPr>
              </a:p>
            </p:txBody>
          </p:sp>
          <p:sp>
            <p:nvSpPr>
              <p:cNvPr id="110" name="Rectangle 14"/>
              <p:cNvSpPr>
                <a:spLocks noChangeArrowheads="1"/>
              </p:cNvSpPr>
              <p:nvPr/>
            </p:nvSpPr>
            <p:spPr bwMode="auto">
              <a:xfrm>
                <a:off x="3859"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t>a</a:t>
                </a:r>
                <a:endParaRPr lang="en-US" altLang="zh-TW" sz="2000" b="1">
                  <a:ea typeface="新細明體" panose="02020500000000000000" pitchFamily="18" charset="-120"/>
                </a:endParaRPr>
              </a:p>
            </p:txBody>
          </p:sp>
          <p:sp>
            <p:nvSpPr>
              <p:cNvPr id="111" name="Rectangle 15"/>
              <p:cNvSpPr>
                <a:spLocks noChangeArrowheads="1"/>
              </p:cNvSpPr>
              <p:nvPr/>
            </p:nvSpPr>
            <p:spPr bwMode="auto">
              <a:xfrm>
                <a:off x="3435"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p>
            </p:txBody>
          </p:sp>
          <p:sp>
            <p:nvSpPr>
              <p:cNvPr id="112" name="Line 16"/>
              <p:cNvSpPr>
                <a:spLocks noChangeShapeType="1"/>
              </p:cNvSpPr>
              <p:nvPr/>
            </p:nvSpPr>
            <p:spPr bwMode="auto">
              <a:xfrm>
                <a:off x="3859" y="1140"/>
                <a:ext cx="424"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13" name="Line 17"/>
              <p:cNvSpPr>
                <a:spLocks noChangeShapeType="1"/>
              </p:cNvSpPr>
              <p:nvPr/>
            </p:nvSpPr>
            <p:spPr bwMode="auto">
              <a:xfrm>
                <a:off x="4283" y="1140"/>
                <a:ext cx="422"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14" name="Line 18"/>
              <p:cNvSpPr>
                <a:spLocks noChangeShapeType="1"/>
              </p:cNvSpPr>
              <p:nvPr/>
            </p:nvSpPr>
            <p:spPr bwMode="auto">
              <a:xfrm>
                <a:off x="4705" y="1140"/>
                <a:ext cx="424"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15" name="Line 19"/>
              <p:cNvSpPr>
                <a:spLocks noChangeShapeType="1"/>
              </p:cNvSpPr>
              <p:nvPr/>
            </p:nvSpPr>
            <p:spPr bwMode="auto">
              <a:xfrm>
                <a:off x="3859" y="1454"/>
                <a:ext cx="424"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16" name="Line 20"/>
              <p:cNvSpPr>
                <a:spLocks noChangeShapeType="1"/>
              </p:cNvSpPr>
              <p:nvPr/>
            </p:nvSpPr>
            <p:spPr bwMode="auto">
              <a:xfrm>
                <a:off x="4283" y="1454"/>
                <a:ext cx="422"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17" name="Line 21"/>
              <p:cNvSpPr>
                <a:spLocks noChangeShapeType="1"/>
              </p:cNvSpPr>
              <p:nvPr/>
            </p:nvSpPr>
            <p:spPr bwMode="auto">
              <a:xfrm>
                <a:off x="4705" y="1454"/>
                <a:ext cx="424"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18" name="Line 22"/>
              <p:cNvSpPr>
                <a:spLocks noChangeShapeType="1"/>
              </p:cNvSpPr>
              <p:nvPr/>
            </p:nvSpPr>
            <p:spPr bwMode="auto">
              <a:xfrm>
                <a:off x="3859" y="1140"/>
                <a:ext cx="0" cy="31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19" name="Line 23"/>
              <p:cNvSpPr>
                <a:spLocks noChangeShapeType="1"/>
              </p:cNvSpPr>
              <p:nvPr/>
            </p:nvSpPr>
            <p:spPr bwMode="auto">
              <a:xfrm>
                <a:off x="4283" y="1140"/>
                <a:ext cx="0" cy="63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20" name="Line 24"/>
              <p:cNvSpPr>
                <a:spLocks noChangeShapeType="1"/>
              </p:cNvSpPr>
              <p:nvPr/>
            </p:nvSpPr>
            <p:spPr bwMode="auto">
              <a:xfrm>
                <a:off x="4705" y="1140"/>
                <a:ext cx="0" cy="63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21" name="Line 25"/>
              <p:cNvSpPr>
                <a:spLocks noChangeShapeType="1"/>
              </p:cNvSpPr>
              <p:nvPr/>
            </p:nvSpPr>
            <p:spPr bwMode="auto">
              <a:xfrm>
                <a:off x="5129" y="1140"/>
                <a:ext cx="0" cy="31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22" name="Line 26"/>
              <p:cNvSpPr>
                <a:spLocks noChangeShapeType="1"/>
              </p:cNvSpPr>
              <p:nvPr/>
            </p:nvSpPr>
            <p:spPr bwMode="auto">
              <a:xfrm>
                <a:off x="3859" y="1140"/>
                <a:ext cx="127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23" name="Line 27"/>
              <p:cNvSpPr>
                <a:spLocks noChangeShapeType="1"/>
              </p:cNvSpPr>
              <p:nvPr/>
            </p:nvSpPr>
            <p:spPr bwMode="auto">
              <a:xfrm>
                <a:off x="3859" y="1454"/>
                <a:ext cx="0" cy="32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24" name="Line 28"/>
              <p:cNvSpPr>
                <a:spLocks noChangeShapeType="1"/>
              </p:cNvSpPr>
              <p:nvPr/>
            </p:nvSpPr>
            <p:spPr bwMode="auto">
              <a:xfrm>
                <a:off x="3859" y="1454"/>
                <a:ext cx="424"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25" name="Line 29"/>
              <p:cNvSpPr>
                <a:spLocks noChangeShapeType="1"/>
              </p:cNvSpPr>
              <p:nvPr/>
            </p:nvSpPr>
            <p:spPr bwMode="auto">
              <a:xfrm>
                <a:off x="3859" y="1774"/>
                <a:ext cx="1270"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26" name="Line 30"/>
              <p:cNvSpPr>
                <a:spLocks noChangeShapeType="1"/>
              </p:cNvSpPr>
              <p:nvPr/>
            </p:nvSpPr>
            <p:spPr bwMode="auto">
              <a:xfrm>
                <a:off x="5129" y="1454"/>
                <a:ext cx="0" cy="32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127" name="Line 31"/>
              <p:cNvSpPr>
                <a:spLocks noChangeShapeType="1"/>
              </p:cNvSpPr>
              <p:nvPr/>
            </p:nvSpPr>
            <p:spPr bwMode="auto">
              <a:xfrm>
                <a:off x="4283" y="1454"/>
                <a:ext cx="846"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cxnSp>
            <p:nvCxnSpPr>
              <p:cNvPr id="128" name="AutoShape 32"/>
              <p:cNvCxnSpPr>
                <a:cxnSpLocks noChangeShapeType="1"/>
                <a:stCxn id="112" idx="0"/>
                <a:endCxn id="113" idx="0"/>
              </p:cNvCxnSpPr>
              <p:nvPr/>
            </p:nvCxnSpPr>
            <p:spPr bwMode="auto">
              <a:xfrm>
                <a:off x="3859" y="1140"/>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 name="AutoShape 33"/>
              <p:cNvCxnSpPr>
                <a:cxnSpLocks noChangeShapeType="1"/>
                <a:stCxn id="113" idx="0"/>
                <a:endCxn id="114" idx="0"/>
              </p:cNvCxnSpPr>
              <p:nvPr/>
            </p:nvCxnSpPr>
            <p:spPr bwMode="auto">
              <a:xfrm>
                <a:off x="4283" y="1140"/>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AutoShape 34"/>
              <p:cNvCxnSpPr>
                <a:cxnSpLocks noChangeShapeType="1"/>
                <a:stCxn id="114" idx="0"/>
                <a:endCxn id="121" idx="0"/>
              </p:cNvCxnSpPr>
              <p:nvPr/>
            </p:nvCxnSpPr>
            <p:spPr bwMode="auto">
              <a:xfrm>
                <a:off x="4705" y="1140"/>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AutoShape 35"/>
              <p:cNvCxnSpPr>
                <a:cxnSpLocks noChangeShapeType="1"/>
                <a:stCxn id="115" idx="0"/>
                <a:endCxn id="127" idx="0"/>
              </p:cNvCxnSpPr>
              <p:nvPr/>
            </p:nvCxnSpPr>
            <p:spPr bwMode="auto">
              <a:xfrm>
                <a:off x="3859" y="145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2" name="AutoShape 36"/>
              <p:cNvCxnSpPr>
                <a:cxnSpLocks noChangeShapeType="1"/>
                <a:stCxn id="116" idx="0"/>
                <a:endCxn id="127" idx="1"/>
              </p:cNvCxnSpPr>
              <p:nvPr/>
            </p:nvCxnSpPr>
            <p:spPr bwMode="auto">
              <a:xfrm>
                <a:off x="4283" y="1454"/>
                <a:ext cx="846"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AutoShape 37"/>
              <p:cNvCxnSpPr>
                <a:cxnSpLocks noChangeShapeType="1"/>
                <a:stCxn id="116" idx="0"/>
                <a:endCxn id="116" idx="1"/>
              </p:cNvCxnSpPr>
              <p:nvPr/>
            </p:nvCxnSpPr>
            <p:spPr bwMode="auto">
              <a:xfrm>
                <a:off x="4283" y="1454"/>
                <a:ext cx="422" cy="32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AutoShape 38"/>
              <p:cNvCxnSpPr>
                <a:cxnSpLocks noChangeShapeType="1"/>
                <a:stCxn id="112" idx="0"/>
                <a:endCxn id="124" idx="0"/>
              </p:cNvCxnSpPr>
              <p:nvPr/>
            </p:nvCxnSpPr>
            <p:spPr bwMode="auto">
              <a:xfrm>
                <a:off x="3859"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 name="AutoShape 39"/>
              <p:cNvCxnSpPr>
                <a:cxnSpLocks noChangeShapeType="1"/>
                <a:stCxn id="115" idx="0"/>
                <a:endCxn id="123" idx="1"/>
              </p:cNvCxnSpPr>
              <p:nvPr/>
            </p:nvCxnSpPr>
            <p:spPr bwMode="auto">
              <a:xfrm>
                <a:off x="3859"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AutoShape 40"/>
              <p:cNvCxnSpPr>
                <a:cxnSpLocks noChangeShapeType="1"/>
                <a:stCxn id="113" idx="0"/>
                <a:endCxn id="127" idx="0"/>
              </p:cNvCxnSpPr>
              <p:nvPr/>
            </p:nvCxnSpPr>
            <p:spPr bwMode="auto">
              <a:xfrm>
                <a:off x="4283"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AutoShape 41"/>
              <p:cNvCxnSpPr>
                <a:cxnSpLocks noChangeShapeType="1"/>
                <a:stCxn id="114" idx="0"/>
                <a:endCxn id="113" idx="1"/>
              </p:cNvCxnSpPr>
              <p:nvPr/>
            </p:nvCxnSpPr>
            <p:spPr bwMode="auto">
              <a:xfrm>
                <a:off x="4705"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AutoShape 42"/>
              <p:cNvCxnSpPr>
                <a:cxnSpLocks noChangeShapeType="1"/>
                <a:stCxn id="117" idx="0"/>
                <a:endCxn id="120" idx="1"/>
              </p:cNvCxnSpPr>
              <p:nvPr/>
            </p:nvCxnSpPr>
            <p:spPr bwMode="auto">
              <a:xfrm>
                <a:off x="4705"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 name="AutoShape 43"/>
              <p:cNvCxnSpPr>
                <a:cxnSpLocks noChangeShapeType="1"/>
                <a:stCxn id="119" idx="0"/>
                <a:endCxn id="119" idx="1"/>
              </p:cNvCxnSpPr>
              <p:nvPr/>
            </p:nvCxnSpPr>
            <p:spPr bwMode="auto">
              <a:xfrm>
                <a:off x="4283" y="1140"/>
                <a:ext cx="0" cy="63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AutoShape 44"/>
              <p:cNvCxnSpPr>
                <a:cxnSpLocks noChangeShapeType="1"/>
                <a:stCxn id="124" idx="0"/>
                <a:endCxn id="115" idx="1"/>
              </p:cNvCxnSpPr>
              <p:nvPr/>
            </p:nvCxnSpPr>
            <p:spPr bwMode="auto">
              <a:xfrm>
                <a:off x="3859" y="1454"/>
                <a:ext cx="424" cy="32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AutoShape 45"/>
              <p:cNvCxnSpPr>
                <a:cxnSpLocks noChangeShapeType="1"/>
                <a:stCxn id="122" idx="0"/>
                <a:endCxn id="112" idx="1"/>
              </p:cNvCxnSpPr>
              <p:nvPr/>
            </p:nvCxnSpPr>
            <p:spPr bwMode="auto">
              <a:xfrm>
                <a:off x="3859" y="1140"/>
                <a:ext cx="424" cy="314"/>
              </a:xfrm>
              <a:prstGeom prst="straightConnector1">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AutoShape 46"/>
              <p:cNvCxnSpPr>
                <a:cxnSpLocks noChangeShapeType="1"/>
                <a:stCxn id="113" idx="0"/>
                <a:endCxn id="113" idx="1"/>
              </p:cNvCxnSpPr>
              <p:nvPr/>
            </p:nvCxnSpPr>
            <p:spPr bwMode="auto">
              <a:xfrm>
                <a:off x="4283" y="1140"/>
                <a:ext cx="422" cy="3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AutoShape 47"/>
              <p:cNvCxnSpPr>
                <a:cxnSpLocks noChangeShapeType="1"/>
                <a:stCxn id="117" idx="0"/>
                <a:endCxn id="117" idx="1"/>
              </p:cNvCxnSpPr>
              <p:nvPr/>
            </p:nvCxnSpPr>
            <p:spPr bwMode="auto">
              <a:xfrm>
                <a:off x="4705" y="1454"/>
                <a:ext cx="424" cy="320"/>
              </a:xfrm>
              <a:prstGeom prst="straightConnector1">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AutoShape 48"/>
              <p:cNvCxnSpPr>
                <a:cxnSpLocks noChangeShapeType="1"/>
                <a:stCxn id="116" idx="1"/>
                <a:endCxn id="125" idx="1"/>
              </p:cNvCxnSpPr>
              <p:nvPr/>
            </p:nvCxnSpPr>
            <p:spPr bwMode="auto">
              <a:xfrm>
                <a:off x="4705" y="177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AutoShape 49"/>
              <p:cNvCxnSpPr>
                <a:cxnSpLocks noChangeShapeType="1"/>
                <a:stCxn id="127" idx="1"/>
                <a:endCxn id="117" idx="1"/>
              </p:cNvCxnSpPr>
              <p:nvPr/>
            </p:nvCxnSpPr>
            <p:spPr bwMode="auto">
              <a:xfrm>
                <a:off x="5129"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50"/>
              <p:cNvCxnSpPr>
                <a:cxnSpLocks noChangeShapeType="1"/>
                <a:stCxn id="122" idx="1"/>
                <a:endCxn id="114" idx="1"/>
              </p:cNvCxnSpPr>
              <p:nvPr/>
            </p:nvCxnSpPr>
            <p:spPr bwMode="auto">
              <a:xfrm>
                <a:off x="5129"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51"/>
              <p:cNvCxnSpPr>
                <a:cxnSpLocks noChangeShapeType="1"/>
                <a:stCxn id="114" idx="0"/>
                <a:endCxn id="114" idx="1"/>
              </p:cNvCxnSpPr>
              <p:nvPr/>
            </p:nvCxnSpPr>
            <p:spPr bwMode="auto">
              <a:xfrm>
                <a:off x="4705" y="1140"/>
                <a:ext cx="424" cy="3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AutoShape 52"/>
              <p:cNvCxnSpPr>
                <a:cxnSpLocks noChangeShapeType="1"/>
                <a:stCxn id="116" idx="0"/>
                <a:endCxn id="113" idx="1"/>
              </p:cNvCxnSpPr>
              <p:nvPr/>
            </p:nvCxnSpPr>
            <p:spPr bwMode="auto">
              <a:xfrm>
                <a:off x="4283" y="1454"/>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AutoShape 53"/>
              <p:cNvCxnSpPr>
                <a:cxnSpLocks noChangeShapeType="1"/>
                <a:stCxn id="123" idx="1"/>
                <a:endCxn id="119" idx="1"/>
              </p:cNvCxnSpPr>
              <p:nvPr/>
            </p:nvCxnSpPr>
            <p:spPr bwMode="auto">
              <a:xfrm>
                <a:off x="3859" y="177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AutoShape 54"/>
              <p:cNvCxnSpPr>
                <a:cxnSpLocks noChangeShapeType="1"/>
                <a:stCxn id="119" idx="1"/>
                <a:endCxn id="120" idx="1"/>
              </p:cNvCxnSpPr>
              <p:nvPr/>
            </p:nvCxnSpPr>
            <p:spPr bwMode="auto">
              <a:xfrm>
                <a:off x="4283" y="1774"/>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Text Box 55"/>
              <p:cNvSpPr txBox="1">
                <a:spLocks noChangeArrowheads="1"/>
              </p:cNvSpPr>
              <p:nvPr/>
            </p:nvSpPr>
            <p:spPr bwMode="auto">
              <a:xfrm>
                <a:off x="4371" y="1773"/>
                <a:ext cx="33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spcBef>
                    <a:spcPct val="50000"/>
                  </a:spcBef>
                </a:pPr>
                <a:r>
                  <a:rPr lang="en-US" sz="2400" b="1"/>
                  <a:t>G</a:t>
                </a:r>
                <a:endParaRPr lang="en-US" altLang="zh-TW" sz="2400" b="1">
                  <a:ea typeface="新細明體" panose="02020500000000000000" pitchFamily="18" charset="-120"/>
                </a:endParaRPr>
              </a:p>
            </p:txBody>
          </p:sp>
        </p:grpSp>
        <p:sp>
          <p:nvSpPr>
            <p:cNvPr id="83" name="Text Box 58"/>
            <p:cNvSpPr txBox="1">
              <a:spLocks noChangeArrowheads="1"/>
            </p:cNvSpPr>
            <p:nvPr/>
          </p:nvSpPr>
          <p:spPr bwMode="auto">
            <a:xfrm>
              <a:off x="3889" y="1587"/>
              <a:ext cx="19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chemeClr val="accent2"/>
                  </a:solidFill>
                </a:rPr>
                <a:t>0</a:t>
              </a:r>
              <a:endParaRPr lang="en-US" altLang="zh-TW">
                <a:solidFill>
                  <a:schemeClr val="accent2"/>
                </a:solidFill>
                <a:ea typeface="新細明體" panose="02020500000000000000" pitchFamily="18" charset="-120"/>
              </a:endParaRPr>
            </a:p>
          </p:txBody>
        </p:sp>
        <p:sp>
          <p:nvSpPr>
            <p:cNvPr id="84" name="Text Box 63"/>
            <p:cNvSpPr txBox="1">
              <a:spLocks noChangeArrowheads="1"/>
            </p:cNvSpPr>
            <p:nvPr/>
          </p:nvSpPr>
          <p:spPr bwMode="auto">
            <a:xfrm>
              <a:off x="4855" y="1723"/>
              <a:ext cx="20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rgbClr val="00B050"/>
                  </a:solidFill>
                </a:rPr>
                <a:t>2</a:t>
              </a:r>
              <a:endParaRPr lang="en-US" altLang="zh-TW">
                <a:solidFill>
                  <a:srgbClr val="00B050"/>
                </a:solidFill>
                <a:ea typeface="新細明體" panose="02020500000000000000" pitchFamily="18" charset="-120"/>
              </a:endParaRPr>
            </a:p>
          </p:txBody>
        </p:sp>
        <p:sp>
          <p:nvSpPr>
            <p:cNvPr id="85" name="Text Box 65"/>
            <p:cNvSpPr txBox="1">
              <a:spLocks noChangeArrowheads="1"/>
            </p:cNvSpPr>
            <p:nvPr/>
          </p:nvSpPr>
          <p:spPr bwMode="auto">
            <a:xfrm>
              <a:off x="4007" y="1727"/>
              <a:ext cx="19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rgbClr val="00B050"/>
                  </a:solidFill>
                </a:rPr>
                <a:t>0</a:t>
              </a:r>
              <a:endParaRPr lang="en-US" altLang="zh-TW">
                <a:solidFill>
                  <a:srgbClr val="00B050"/>
                </a:solidFill>
                <a:ea typeface="新細明體" panose="02020500000000000000" pitchFamily="18" charset="-120"/>
              </a:endParaRPr>
            </a:p>
          </p:txBody>
        </p:sp>
        <p:sp>
          <p:nvSpPr>
            <p:cNvPr id="86" name="Text Box 66"/>
            <p:cNvSpPr txBox="1">
              <a:spLocks noChangeArrowheads="1"/>
            </p:cNvSpPr>
            <p:nvPr/>
          </p:nvSpPr>
          <p:spPr bwMode="auto">
            <a:xfrm>
              <a:off x="3878" y="1226"/>
              <a:ext cx="19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chemeClr val="accent2"/>
                  </a:solidFill>
                </a:rPr>
                <a:t>1</a:t>
              </a:r>
              <a:endParaRPr lang="en-US" altLang="zh-TW">
                <a:solidFill>
                  <a:schemeClr val="accent2"/>
                </a:solidFill>
                <a:ea typeface="新細明體" panose="02020500000000000000" pitchFamily="18" charset="-120"/>
              </a:endParaRPr>
            </a:p>
          </p:txBody>
        </p:sp>
        <p:sp>
          <p:nvSpPr>
            <p:cNvPr id="87" name="Text Box 67"/>
            <p:cNvSpPr txBox="1">
              <a:spLocks noChangeArrowheads="1"/>
            </p:cNvSpPr>
            <p:nvPr/>
          </p:nvSpPr>
          <p:spPr bwMode="auto">
            <a:xfrm>
              <a:off x="3974" y="835"/>
              <a:ext cx="19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chemeClr val="accent2"/>
                  </a:solidFill>
                </a:rPr>
                <a:t>2</a:t>
              </a:r>
              <a:endParaRPr lang="en-US" altLang="zh-TW">
                <a:solidFill>
                  <a:schemeClr val="accent2"/>
                </a:solidFill>
                <a:ea typeface="新細明體" panose="02020500000000000000" pitchFamily="18" charset="-120"/>
              </a:endParaRPr>
            </a:p>
          </p:txBody>
        </p:sp>
        <p:sp>
          <p:nvSpPr>
            <p:cNvPr id="88" name="Text Box 68"/>
            <p:cNvSpPr txBox="1">
              <a:spLocks noChangeArrowheads="1"/>
            </p:cNvSpPr>
            <p:nvPr/>
          </p:nvSpPr>
          <p:spPr bwMode="auto">
            <a:xfrm>
              <a:off x="4420" y="852"/>
              <a:ext cx="19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chemeClr val="accent2"/>
                  </a:solidFill>
                </a:rPr>
                <a:t>3</a:t>
              </a:r>
              <a:endParaRPr lang="en-US" altLang="zh-TW">
                <a:solidFill>
                  <a:schemeClr val="accent2"/>
                </a:solidFill>
                <a:ea typeface="新細明體" panose="02020500000000000000" pitchFamily="18" charset="-120"/>
              </a:endParaRPr>
            </a:p>
          </p:txBody>
        </p:sp>
        <p:sp>
          <p:nvSpPr>
            <p:cNvPr id="89" name="Text Box 69"/>
            <p:cNvSpPr txBox="1">
              <a:spLocks noChangeArrowheads="1"/>
            </p:cNvSpPr>
            <p:nvPr/>
          </p:nvSpPr>
          <p:spPr bwMode="auto">
            <a:xfrm>
              <a:off x="4844" y="846"/>
              <a:ext cx="19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chemeClr val="accent2"/>
                  </a:solidFill>
                </a:rPr>
                <a:t>4</a:t>
              </a:r>
              <a:endParaRPr lang="en-US" altLang="zh-TW">
                <a:solidFill>
                  <a:schemeClr val="accent2"/>
                </a:solidFill>
                <a:ea typeface="新細明體" panose="02020500000000000000" pitchFamily="18" charset="-120"/>
              </a:endParaRPr>
            </a:p>
          </p:txBody>
        </p:sp>
        <p:sp>
          <p:nvSpPr>
            <p:cNvPr id="90" name="Text Box 70"/>
            <p:cNvSpPr txBox="1">
              <a:spLocks noChangeArrowheads="1"/>
            </p:cNvSpPr>
            <p:nvPr/>
          </p:nvSpPr>
          <p:spPr bwMode="auto">
            <a:xfrm>
              <a:off x="4442" y="1723"/>
              <a:ext cx="19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rgbClr val="00B050"/>
                  </a:solidFill>
                </a:rPr>
                <a:t>1</a:t>
              </a:r>
              <a:endParaRPr lang="en-US" altLang="zh-TW">
                <a:solidFill>
                  <a:srgbClr val="00B050"/>
                </a:solidFill>
                <a:ea typeface="新細明體" panose="02020500000000000000" pitchFamily="18" charset="-120"/>
              </a:endParaRPr>
            </a:p>
          </p:txBody>
        </p:sp>
        <p:sp>
          <p:nvSpPr>
            <p:cNvPr id="91" name="Text Box 71"/>
            <p:cNvSpPr txBox="1">
              <a:spLocks noChangeArrowheads="1"/>
            </p:cNvSpPr>
            <p:nvPr/>
          </p:nvSpPr>
          <p:spPr bwMode="auto">
            <a:xfrm>
              <a:off x="5385" y="1616"/>
              <a:ext cx="19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rgbClr val="00B050"/>
                  </a:solidFill>
                </a:rPr>
                <a:t>3</a:t>
              </a:r>
              <a:endParaRPr lang="en-US" altLang="zh-TW">
                <a:solidFill>
                  <a:srgbClr val="00B050"/>
                </a:solidFill>
                <a:ea typeface="新細明體" panose="02020500000000000000" pitchFamily="18" charset="-120"/>
              </a:endParaRPr>
            </a:p>
          </p:txBody>
        </p:sp>
        <p:sp>
          <p:nvSpPr>
            <p:cNvPr id="92" name="Text Box 72"/>
            <p:cNvSpPr txBox="1">
              <a:spLocks noChangeArrowheads="1"/>
            </p:cNvSpPr>
            <p:nvPr/>
          </p:nvSpPr>
          <p:spPr bwMode="auto">
            <a:xfrm>
              <a:off x="5391" y="1271"/>
              <a:ext cx="19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rgbClr val="00B050"/>
                  </a:solidFill>
                </a:rPr>
                <a:t>4</a:t>
              </a:r>
              <a:endParaRPr lang="en-US" altLang="zh-TW">
                <a:solidFill>
                  <a:srgbClr val="00B050"/>
                </a:solidFill>
                <a:ea typeface="新細明體" panose="02020500000000000000" pitchFamily="18" charset="-120"/>
              </a:endParaRPr>
            </a:p>
          </p:txBody>
        </p:sp>
        <p:sp>
          <p:nvSpPr>
            <p:cNvPr id="93" name="Text Box 73"/>
            <p:cNvSpPr txBox="1">
              <a:spLocks noChangeArrowheads="1"/>
            </p:cNvSpPr>
            <p:nvPr/>
          </p:nvSpPr>
          <p:spPr bwMode="auto">
            <a:xfrm>
              <a:off x="5226" y="858"/>
              <a:ext cx="19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chemeClr val="accent2"/>
                  </a:solidFill>
                </a:rPr>
                <a:t>5</a:t>
              </a:r>
              <a:endParaRPr lang="en-US" altLang="zh-TW">
                <a:solidFill>
                  <a:schemeClr val="accent2"/>
                </a:solidFill>
                <a:ea typeface="新細明體" panose="02020500000000000000" pitchFamily="18" charset="-120"/>
              </a:endParaRPr>
            </a:p>
          </p:txBody>
        </p:sp>
        <p:sp>
          <p:nvSpPr>
            <p:cNvPr id="94" name="Text Box 74"/>
            <p:cNvSpPr txBox="1">
              <a:spLocks noChangeArrowheads="1"/>
            </p:cNvSpPr>
            <p:nvPr/>
          </p:nvSpPr>
          <p:spPr bwMode="auto">
            <a:xfrm>
              <a:off x="5402" y="1011"/>
              <a:ext cx="19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solidFill>
                    <a:srgbClr val="00B050"/>
                  </a:solidFill>
                </a:rPr>
                <a:t>5</a:t>
              </a:r>
              <a:endParaRPr lang="en-US" altLang="zh-TW">
                <a:solidFill>
                  <a:srgbClr val="00B050"/>
                </a:solidFill>
                <a:ea typeface="新細明體" panose="02020500000000000000" pitchFamily="18" charset="-120"/>
              </a:endParaRPr>
            </a:p>
          </p:txBody>
        </p:sp>
        <p:sp>
          <p:nvSpPr>
            <p:cNvPr id="95" name="Text Box 79"/>
            <p:cNvSpPr txBox="1">
              <a:spLocks noChangeArrowheads="1"/>
            </p:cNvSpPr>
            <p:nvPr/>
          </p:nvSpPr>
          <p:spPr bwMode="auto">
            <a:xfrm>
              <a:off x="3568" y="1566"/>
              <a:ext cx="25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sz="2000" b="1">
                  <a:solidFill>
                    <a:schemeClr val="accent2"/>
                  </a:solidFill>
                </a:rPr>
                <a:t>I</a:t>
              </a:r>
              <a:endParaRPr lang="en-US" altLang="zh-TW" sz="2000" b="1">
                <a:solidFill>
                  <a:schemeClr val="accent2"/>
                </a:solidFill>
                <a:ea typeface="新細明體" panose="02020500000000000000" pitchFamily="18" charset="-120"/>
              </a:endParaRPr>
            </a:p>
          </p:txBody>
        </p:sp>
        <p:sp>
          <p:nvSpPr>
            <p:cNvPr id="96" name="Line 81"/>
            <p:cNvSpPr>
              <a:spLocks noChangeShapeType="1"/>
            </p:cNvSpPr>
            <p:nvPr/>
          </p:nvSpPr>
          <p:spPr bwMode="auto">
            <a:xfrm flipV="1">
              <a:off x="3726" y="780"/>
              <a:ext cx="0" cy="801"/>
            </a:xfrm>
            <a:prstGeom prst="line">
              <a:avLst/>
            </a:prstGeom>
            <a:noFill/>
            <a:ln w="127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97" name="Line 82"/>
            <p:cNvSpPr>
              <a:spLocks noChangeShapeType="1"/>
            </p:cNvSpPr>
            <p:nvPr/>
          </p:nvSpPr>
          <p:spPr bwMode="auto">
            <a:xfrm>
              <a:off x="3749" y="757"/>
              <a:ext cx="1547" cy="0"/>
            </a:xfrm>
            <a:prstGeom prst="line">
              <a:avLst/>
            </a:prstGeom>
            <a:noFill/>
            <a:ln w="127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p>
          </p:txBody>
        </p:sp>
        <p:sp>
          <p:nvSpPr>
            <p:cNvPr id="98" name="Line 84"/>
            <p:cNvSpPr>
              <a:spLocks noChangeShapeType="1"/>
            </p:cNvSpPr>
            <p:nvPr/>
          </p:nvSpPr>
          <p:spPr bwMode="auto">
            <a:xfrm>
              <a:off x="4190" y="1979"/>
              <a:ext cx="1389" cy="0"/>
            </a:xfrm>
            <a:prstGeom prst="line">
              <a:avLst/>
            </a:prstGeom>
            <a:noFill/>
            <a:ln w="127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solidFill>
                  <a:srgbClr val="00B050"/>
                </a:solidFill>
              </a:endParaRPr>
            </a:p>
          </p:txBody>
        </p:sp>
        <p:sp>
          <p:nvSpPr>
            <p:cNvPr id="99" name="Line 85"/>
            <p:cNvSpPr>
              <a:spLocks noChangeShapeType="1"/>
            </p:cNvSpPr>
            <p:nvPr/>
          </p:nvSpPr>
          <p:spPr bwMode="auto">
            <a:xfrm flipV="1">
              <a:off x="5624" y="1073"/>
              <a:ext cx="0" cy="906"/>
            </a:xfrm>
            <a:prstGeom prst="line">
              <a:avLst/>
            </a:prstGeom>
            <a:noFill/>
            <a:ln w="127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solidFill>
                  <a:srgbClr val="00B050"/>
                </a:solidFill>
              </a:endParaRPr>
            </a:p>
          </p:txBody>
        </p:sp>
      </p:grpSp>
    </p:spTree>
    <p:extLst>
      <p:ext uri="{BB962C8B-B14F-4D97-AF65-F5344CB8AC3E}">
        <p14:creationId xmlns:p14="http://schemas.microsoft.com/office/powerpoint/2010/main" val="33489450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101639"/>
            <a:ext cx="7886700" cy="1325563"/>
          </a:xfrm>
        </p:spPr>
        <p:txBody>
          <a:bodyPr>
            <a:normAutofit/>
          </a:bodyPr>
          <a:lstStyle/>
          <a:p>
            <a:pPr algn="ctr"/>
            <a:r>
              <a:rPr lang="en-US" altLang="zh-TW" dirty="0">
                <a:latin typeface="Times New Roman" panose="02020603050405020304" pitchFamily="18" charset="0"/>
                <a:cs typeface="Times New Roman" panose="02020603050405020304" pitchFamily="18" charset="0"/>
              </a:rPr>
              <a:t>DIST and OUT properties</a:t>
            </a:r>
            <a:endParaRPr lang="zh-TW" altLang="en-US" dirty="0">
              <a:latin typeface="Times New Roman" panose="02020603050405020304" pitchFamily="18" charset="0"/>
              <a:cs typeface="Times New Roman" panose="02020603050405020304" pitchFamily="18" charset="0"/>
            </a:endParaRPr>
          </a:p>
        </p:txBody>
      </p:sp>
      <p:sp>
        <p:nvSpPr>
          <p:cNvPr id="152" name="內容版面配置區 2"/>
          <p:cNvSpPr>
            <a:spLocks noGrp="1"/>
          </p:cNvSpPr>
          <p:nvPr>
            <p:ph idx="1"/>
          </p:nvPr>
        </p:nvSpPr>
        <p:spPr>
          <a:xfrm>
            <a:off x="216789" y="1223924"/>
            <a:ext cx="8710422" cy="4351338"/>
          </a:xfrm>
        </p:spPr>
        <p:txBody>
          <a:bodyPr>
            <a:noAutofit/>
          </a:bodyPr>
          <a:lstStyle/>
          <a:p>
            <a:pPr marL="0" indent="0">
              <a:spcBef>
                <a:spcPct val="50000"/>
              </a:spcBef>
              <a:buNone/>
            </a:pPr>
            <a:r>
              <a:rPr lang="en-US" altLang="zh-TW" sz="2400" dirty="0">
                <a:latin typeface="Times New Roman" panose="02020603050405020304" pitchFamily="18" charset="0"/>
                <a:cs typeface="Times New Roman" panose="02020603050405020304" pitchFamily="18" charset="0"/>
              </a:rPr>
              <a:t>Definition: a matrix M[0…m,0…n] is </a:t>
            </a:r>
            <a:r>
              <a:rPr lang="en-US" altLang="zh-TW" sz="2400" dirty="0" err="1">
                <a:solidFill>
                  <a:srgbClr val="FF0000"/>
                </a:solidFill>
                <a:latin typeface="Times New Roman" panose="02020603050405020304" pitchFamily="18" charset="0"/>
                <a:cs typeface="Times New Roman" panose="02020603050405020304" pitchFamily="18" charset="0"/>
              </a:rPr>
              <a:t>Monge</a:t>
            </a:r>
            <a:r>
              <a:rPr lang="en-US" altLang="zh-TW" sz="2400" dirty="0">
                <a:solidFill>
                  <a:srgbClr val="FF0000"/>
                </a:solidFill>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if either condition 1                     or 2 below holds for all </a:t>
            </a:r>
            <a:r>
              <a:rPr lang="en-US" altLang="zh-TW" sz="2400" dirty="0" err="1">
                <a:latin typeface="Times New Roman" panose="02020603050405020304" pitchFamily="18" charset="0"/>
                <a:cs typeface="Times New Roman" panose="02020603050405020304" pitchFamily="18" charset="0"/>
              </a:rPr>
              <a:t>a,b</a:t>
            </a:r>
            <a:r>
              <a:rPr lang="en-US" altLang="zh-TW" sz="2400" dirty="0">
                <a:latin typeface="Times New Roman" panose="02020603050405020304" pitchFamily="18" charset="0"/>
                <a:cs typeface="Times New Roman" panose="02020603050405020304" pitchFamily="18" charset="0"/>
              </a:rPr>
              <a:t>=0…m; </a:t>
            </a:r>
            <a:r>
              <a:rPr lang="en-US" altLang="zh-TW" sz="2400" dirty="0" err="1">
                <a:latin typeface="Times New Roman" panose="02020603050405020304" pitchFamily="18" charset="0"/>
                <a:cs typeface="Times New Roman" panose="02020603050405020304" pitchFamily="18" charset="0"/>
              </a:rPr>
              <a:t>c,d</a:t>
            </a:r>
            <a:r>
              <a:rPr lang="en-US" altLang="zh-TW" sz="2400" dirty="0">
                <a:latin typeface="Times New Roman" panose="02020603050405020304" pitchFamily="18" charset="0"/>
                <a:cs typeface="Times New Roman" panose="02020603050405020304" pitchFamily="18" charset="0"/>
              </a:rPr>
              <a:t>=0…n:</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1. Convex condition: M[</a:t>
            </a:r>
            <a:r>
              <a:rPr lang="en-US" altLang="zh-TW" sz="2400" dirty="0" err="1">
                <a:latin typeface="Times New Roman" panose="02020603050405020304" pitchFamily="18" charset="0"/>
                <a:cs typeface="Times New Roman" panose="02020603050405020304" pitchFamily="18" charset="0"/>
              </a:rPr>
              <a:t>a,c</a:t>
            </a:r>
            <a:r>
              <a:rPr lang="en-US" altLang="zh-TW" sz="2400" dirty="0">
                <a:latin typeface="Times New Roman" panose="02020603050405020304" pitchFamily="18" charset="0"/>
                <a:cs typeface="Times New Roman" panose="02020603050405020304" pitchFamily="18" charset="0"/>
              </a:rPr>
              <a:t>] + M[</a:t>
            </a:r>
            <a:r>
              <a:rPr lang="en-US" altLang="zh-TW" sz="2400" dirty="0" err="1">
                <a:latin typeface="Times New Roman" panose="02020603050405020304" pitchFamily="18" charset="0"/>
                <a:cs typeface="Times New Roman" panose="02020603050405020304" pitchFamily="18" charset="0"/>
              </a:rPr>
              <a:t>b,d</a:t>
            </a:r>
            <a:r>
              <a:rPr lang="en-US" altLang="zh-TW"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b,c</a:t>
            </a:r>
            <a:r>
              <a:rPr lang="en-US" altLang="zh-TW" sz="2400" dirty="0">
                <a:latin typeface="Times New Roman" panose="02020603050405020304" pitchFamily="18" charset="0"/>
                <a:cs typeface="Times New Roman" panose="02020603050405020304" pitchFamily="18" charset="0"/>
              </a:rPr>
              <a:t>] + M[</a:t>
            </a:r>
            <a:r>
              <a:rPr lang="en-US" altLang="zh-TW" sz="2400" dirty="0" err="1">
                <a:latin typeface="Times New Roman" panose="02020603050405020304" pitchFamily="18" charset="0"/>
                <a:cs typeface="Times New Roman" panose="02020603050405020304" pitchFamily="18" charset="0"/>
              </a:rPr>
              <a:t>a,d</a:t>
            </a:r>
            <a:r>
              <a:rPr lang="en-US" altLang="zh-TW" sz="2400" dirty="0">
                <a:latin typeface="Times New Roman" panose="02020603050405020304" pitchFamily="18" charset="0"/>
                <a:cs typeface="Times New Roman" panose="02020603050405020304" pitchFamily="18" charset="0"/>
              </a:rPr>
              <a:t>] for all                                         a&lt;b and c&lt;d.</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2. Concave condition: M[</a:t>
            </a:r>
            <a:r>
              <a:rPr lang="en-US" altLang="zh-TW" sz="2400" dirty="0" err="1">
                <a:latin typeface="Times New Roman" panose="02020603050405020304" pitchFamily="18" charset="0"/>
                <a:cs typeface="Times New Roman" panose="02020603050405020304" pitchFamily="18" charset="0"/>
              </a:rPr>
              <a:t>a,c</a:t>
            </a:r>
            <a:r>
              <a:rPr lang="en-US" altLang="zh-TW" sz="2400" dirty="0">
                <a:latin typeface="Times New Roman" panose="02020603050405020304" pitchFamily="18" charset="0"/>
                <a:cs typeface="Times New Roman" panose="02020603050405020304" pitchFamily="18" charset="0"/>
              </a:rPr>
              <a:t>] + M[</a:t>
            </a:r>
            <a:r>
              <a:rPr lang="en-US" altLang="zh-TW" sz="2400" dirty="0" err="1">
                <a:latin typeface="Times New Roman" panose="02020603050405020304" pitchFamily="18" charset="0"/>
                <a:cs typeface="Times New Roman" panose="02020603050405020304" pitchFamily="18" charset="0"/>
              </a:rPr>
              <a:t>b,d</a:t>
            </a:r>
            <a:r>
              <a:rPr lang="en-US" altLang="zh-TW"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b,c</a:t>
            </a:r>
            <a:r>
              <a:rPr lang="en-US" altLang="zh-TW" sz="2400" dirty="0">
                <a:latin typeface="Times New Roman" panose="02020603050405020304" pitchFamily="18" charset="0"/>
                <a:cs typeface="Times New Roman" panose="02020603050405020304" pitchFamily="18" charset="0"/>
              </a:rPr>
              <a:t>] + M[</a:t>
            </a:r>
            <a:r>
              <a:rPr lang="en-US" altLang="zh-TW" sz="2400" dirty="0" err="1">
                <a:latin typeface="Times New Roman" panose="02020603050405020304" pitchFamily="18" charset="0"/>
                <a:cs typeface="Times New Roman" panose="02020603050405020304" pitchFamily="18" charset="0"/>
              </a:rPr>
              <a:t>a,d</a:t>
            </a:r>
            <a:r>
              <a:rPr lang="en-US" altLang="zh-TW" sz="2400" dirty="0">
                <a:latin typeface="Times New Roman" panose="02020603050405020304" pitchFamily="18" charset="0"/>
                <a:cs typeface="Times New Roman" panose="02020603050405020304" pitchFamily="18" charset="0"/>
              </a:rPr>
              <a:t>] for all                                          a&lt;b and c&lt;d.</a:t>
            </a:r>
          </a:p>
          <a:p>
            <a:pPr marL="0" indent="0">
              <a:spcBef>
                <a:spcPct val="50000"/>
              </a:spcBef>
              <a:buNone/>
            </a:pPr>
            <a:endParaRPr lang="en-US" altLang="zh-TW" sz="2400" dirty="0">
              <a:latin typeface="Times New Roman" panose="02020603050405020304" pitchFamily="18" charset="0"/>
              <a:cs typeface="Times New Roman" panose="02020603050405020304" pitchFamily="18" charset="0"/>
            </a:endParaRP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Previous researches observed that DIST matrices are </a:t>
            </a:r>
            <a:r>
              <a:rPr lang="en-US" altLang="zh-TW" sz="2400" dirty="0" err="1">
                <a:latin typeface="Times New Roman" panose="02020603050405020304" pitchFamily="18" charset="0"/>
                <a:cs typeface="Times New Roman" panose="02020603050405020304" pitchFamily="18" charset="0"/>
              </a:rPr>
              <a:t>Monge</a:t>
            </a:r>
            <a:r>
              <a:rPr lang="en-US" altLang="zh-TW" sz="2400" dirty="0">
                <a:latin typeface="Times New Roman" panose="02020603050405020304" pitchFamily="18" charset="0"/>
                <a:cs typeface="Times New Roman" panose="02020603050405020304" pitchFamily="18" charset="0"/>
              </a:rPr>
              <a:t> arrays.</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Since DIST is </a:t>
            </a:r>
            <a:r>
              <a:rPr lang="en-US" altLang="zh-TW" sz="2400" dirty="0" err="1">
                <a:latin typeface="Times New Roman" panose="02020603050405020304" pitchFamily="18" charset="0"/>
                <a:cs typeface="Times New Roman" panose="02020603050405020304" pitchFamily="18" charset="0"/>
              </a:rPr>
              <a:t>Monge</a:t>
            </a:r>
            <a:r>
              <a:rPr lang="en-US" altLang="zh-TW" sz="2400" dirty="0">
                <a:latin typeface="Times New Roman" panose="02020603050405020304" pitchFamily="18" charset="0"/>
                <a:cs typeface="Times New Roman" panose="02020603050405020304" pitchFamily="18" charset="0"/>
              </a:rPr>
              <a:t>, so is OUT, which is a DIST with constants added to its rows.</a:t>
            </a:r>
          </a:p>
          <a:p>
            <a:pPr marL="0" indent="0">
              <a:spcBef>
                <a:spcPct val="50000"/>
              </a:spcBef>
              <a:buNone/>
            </a:pPr>
            <a:r>
              <a:rPr lang="en-US" altLang="zh-TW" sz="2400" dirty="0">
                <a:solidFill>
                  <a:srgbClr val="FF0000"/>
                </a:solidFill>
                <a:latin typeface="Times New Roman" panose="02020603050405020304" pitchFamily="18" charset="0"/>
                <a:cs typeface="Times New Roman" panose="02020603050405020304" pitchFamily="18" charset="0"/>
              </a:rPr>
              <a:t>An important property of </a:t>
            </a:r>
            <a:r>
              <a:rPr lang="en-US" altLang="zh-TW" sz="2400" dirty="0" err="1">
                <a:solidFill>
                  <a:srgbClr val="FF0000"/>
                </a:solidFill>
                <a:latin typeface="Times New Roman" panose="02020603050405020304" pitchFamily="18" charset="0"/>
                <a:cs typeface="Times New Roman" panose="02020603050405020304" pitchFamily="18" charset="0"/>
              </a:rPr>
              <a:t>Monge</a:t>
            </a:r>
            <a:r>
              <a:rPr lang="en-US" altLang="zh-TW" sz="2400" dirty="0">
                <a:solidFill>
                  <a:srgbClr val="FF0000"/>
                </a:solidFill>
                <a:latin typeface="Times New Roman" panose="02020603050405020304" pitchFamily="18" charset="0"/>
                <a:cs typeface="Times New Roman" panose="02020603050405020304" pitchFamily="18" charset="0"/>
              </a:rPr>
              <a:t> arrays is that of being totally monotone.</a:t>
            </a:r>
          </a:p>
          <a:p>
            <a:pPr marL="0" indent="0">
              <a:spcBef>
                <a:spcPct val="50000"/>
              </a:spcBef>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6561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101639"/>
            <a:ext cx="7886700" cy="1325563"/>
          </a:xfrm>
        </p:spPr>
        <p:txBody>
          <a:bodyPr>
            <a:normAutofit/>
          </a:bodyPr>
          <a:lstStyle/>
          <a:p>
            <a:pPr algn="ctr"/>
            <a:r>
              <a:rPr lang="en-US" altLang="zh-TW" dirty="0">
                <a:latin typeface="Times New Roman" panose="02020603050405020304" pitchFamily="18" charset="0"/>
                <a:cs typeface="Times New Roman" panose="02020603050405020304" pitchFamily="18" charset="0"/>
              </a:rPr>
              <a:t>DIST and OUT properties</a:t>
            </a:r>
            <a:endParaRPr lang="zh-TW" altLang="en-US" dirty="0">
              <a:latin typeface="Times New Roman" panose="02020603050405020304" pitchFamily="18" charset="0"/>
              <a:cs typeface="Times New Roman" panose="02020603050405020304" pitchFamily="18" charset="0"/>
            </a:endParaRPr>
          </a:p>
        </p:txBody>
      </p:sp>
      <p:sp>
        <p:nvSpPr>
          <p:cNvPr id="152" name="內容版面配置區 2"/>
          <p:cNvSpPr>
            <a:spLocks noGrp="1"/>
          </p:cNvSpPr>
          <p:nvPr>
            <p:ph idx="1"/>
          </p:nvPr>
        </p:nvSpPr>
        <p:spPr>
          <a:xfrm>
            <a:off x="99140" y="1591912"/>
            <a:ext cx="8710422" cy="4351338"/>
          </a:xfrm>
        </p:spPr>
        <p:txBody>
          <a:bodyPr>
            <a:noAutofit/>
          </a:bodyPr>
          <a:lstStyle/>
          <a:p>
            <a:pPr marL="0" indent="0">
              <a:spcBef>
                <a:spcPct val="50000"/>
              </a:spcBef>
              <a:buNone/>
            </a:pPr>
            <a:r>
              <a:rPr lang="en-US" altLang="zh-TW" sz="2400" dirty="0">
                <a:latin typeface="Times New Roman" panose="02020603050405020304" pitchFamily="18" charset="0"/>
                <a:cs typeface="Times New Roman" panose="02020603050405020304" pitchFamily="18" charset="0"/>
              </a:rPr>
              <a:t>Definition: a matrix M[0…m,0…n] is </a:t>
            </a:r>
            <a:r>
              <a:rPr lang="en-US" altLang="zh-TW" sz="2400" dirty="0">
                <a:solidFill>
                  <a:srgbClr val="FF0000"/>
                </a:solidFill>
                <a:latin typeface="Times New Roman" panose="02020603050405020304" pitchFamily="18" charset="0"/>
                <a:cs typeface="Times New Roman" panose="02020603050405020304" pitchFamily="18" charset="0"/>
              </a:rPr>
              <a:t>totally monotone </a:t>
            </a:r>
            <a:r>
              <a:rPr lang="en-US" altLang="zh-TW" sz="2400" dirty="0">
                <a:latin typeface="Times New Roman" panose="02020603050405020304" pitchFamily="18" charset="0"/>
                <a:cs typeface="Times New Roman" panose="02020603050405020304" pitchFamily="18" charset="0"/>
              </a:rPr>
              <a:t>if either                condition 1 or 2 below holds for all </a:t>
            </a:r>
            <a:r>
              <a:rPr lang="en-US" altLang="zh-TW" sz="2400" dirty="0" err="1">
                <a:latin typeface="Times New Roman" panose="02020603050405020304" pitchFamily="18" charset="0"/>
                <a:cs typeface="Times New Roman" panose="02020603050405020304" pitchFamily="18" charset="0"/>
              </a:rPr>
              <a:t>a,b</a:t>
            </a:r>
            <a:r>
              <a:rPr lang="en-US" altLang="zh-TW" sz="2400" dirty="0">
                <a:latin typeface="Times New Roman" panose="02020603050405020304" pitchFamily="18" charset="0"/>
                <a:cs typeface="Times New Roman" panose="02020603050405020304" pitchFamily="18" charset="0"/>
              </a:rPr>
              <a:t>=0…m; </a:t>
            </a:r>
            <a:r>
              <a:rPr lang="en-US" altLang="zh-TW" sz="2400" dirty="0" err="1">
                <a:latin typeface="Times New Roman" panose="02020603050405020304" pitchFamily="18" charset="0"/>
                <a:cs typeface="Times New Roman" panose="02020603050405020304" pitchFamily="18" charset="0"/>
              </a:rPr>
              <a:t>c,d</a:t>
            </a:r>
            <a:r>
              <a:rPr lang="en-US" altLang="zh-TW" sz="2400" dirty="0">
                <a:latin typeface="Times New Roman" panose="02020603050405020304" pitchFamily="18" charset="0"/>
                <a:cs typeface="Times New Roman" panose="02020603050405020304" pitchFamily="18" charset="0"/>
              </a:rPr>
              <a:t>=0…n: </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1. Convex condition: M[</a:t>
            </a:r>
            <a:r>
              <a:rPr lang="en-US" altLang="zh-TW" sz="2400" dirty="0" err="1">
                <a:latin typeface="Times New Roman" panose="02020603050405020304" pitchFamily="18" charset="0"/>
                <a:cs typeface="Times New Roman" panose="02020603050405020304" pitchFamily="18" charset="0"/>
              </a:rPr>
              <a:t>a,c</a:t>
            </a:r>
            <a:r>
              <a:rPr lang="en-US" altLang="zh-TW" sz="2400" dirty="0">
                <a:latin typeface="Times New Roman" panose="02020603050405020304" pitchFamily="18" charset="0"/>
                <a:cs typeface="Times New Roman" panose="02020603050405020304" pitchFamily="18" charset="0"/>
              </a:rPr>
              <a:t>] </a:t>
            </a:r>
            <a:r>
              <a:rPr lang="en-US" altLang="zh-TW" sz="2400"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b,c</a:t>
            </a:r>
            <a:r>
              <a:rPr lang="en-US" altLang="zh-TW" sz="2400" dirty="0" smtClean="0">
                <a:latin typeface="Times New Roman" panose="02020603050405020304" pitchFamily="18" charset="0"/>
                <a:cs typeface="Times New Roman" panose="02020603050405020304" pitchFamily="18" charset="0"/>
              </a:rPr>
              <a:t>]</a:t>
            </a:r>
            <a:r>
              <a:rPr lang="en-US" altLang="zh-TW" sz="2400"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a,d</a:t>
            </a:r>
            <a:r>
              <a:rPr lang="en-US" altLang="zh-TW"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b,d</a:t>
            </a:r>
            <a:r>
              <a:rPr lang="en-US" altLang="zh-TW" sz="2400" dirty="0">
                <a:latin typeface="Times New Roman" panose="02020603050405020304" pitchFamily="18" charset="0"/>
                <a:cs typeface="Times New Roman" panose="02020603050405020304" pitchFamily="18" charset="0"/>
              </a:rPr>
              <a:t>] for all                                        a&lt;b and c&lt;d.</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2. Concave condition: M[</a:t>
            </a:r>
            <a:r>
              <a:rPr lang="en-US" altLang="zh-TW" sz="2400" dirty="0" err="1">
                <a:latin typeface="Times New Roman" panose="02020603050405020304" pitchFamily="18" charset="0"/>
                <a:cs typeface="Times New Roman" panose="02020603050405020304" pitchFamily="18" charset="0"/>
              </a:rPr>
              <a:t>a,c</a:t>
            </a:r>
            <a:r>
              <a:rPr lang="en-US" altLang="zh-TW"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b,c</a:t>
            </a:r>
            <a:r>
              <a:rPr lang="en-US" altLang="zh-TW"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a,d</a:t>
            </a:r>
            <a:r>
              <a:rPr lang="en-US" altLang="zh-TW"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b,d</a:t>
            </a:r>
            <a:r>
              <a:rPr lang="en-US" altLang="zh-TW" sz="2400" dirty="0">
                <a:latin typeface="Times New Roman" panose="02020603050405020304" pitchFamily="18" charset="0"/>
                <a:cs typeface="Times New Roman" panose="02020603050405020304" pitchFamily="18" charset="0"/>
              </a:rPr>
              <a:t>] for all                                      a&lt;b and c&lt;d.</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Note that the </a:t>
            </a:r>
            <a:r>
              <a:rPr lang="en-US" altLang="zh-TW" sz="2400" dirty="0" err="1">
                <a:latin typeface="Times New Roman" panose="02020603050405020304" pitchFamily="18" charset="0"/>
                <a:cs typeface="Times New Roman" panose="02020603050405020304" pitchFamily="18" charset="0"/>
              </a:rPr>
              <a:t>Monge</a:t>
            </a:r>
            <a:r>
              <a:rPr lang="en-US" altLang="zh-TW" sz="2400" dirty="0">
                <a:latin typeface="Times New Roman" panose="02020603050405020304" pitchFamily="18" charset="0"/>
                <a:cs typeface="Times New Roman" panose="02020603050405020304" pitchFamily="18" charset="0"/>
              </a:rPr>
              <a:t> property implies total monotonicity, but the converse is </a:t>
            </a:r>
            <a:r>
              <a:rPr lang="en-US" altLang="zh-TW" sz="2400" dirty="0" smtClean="0">
                <a:latin typeface="Times New Roman" panose="02020603050405020304" pitchFamily="18" charset="0"/>
                <a:cs typeface="Times New Roman" panose="02020603050405020304" pitchFamily="18" charset="0"/>
              </a:rPr>
              <a:t>not true</a:t>
            </a:r>
            <a:r>
              <a:rPr lang="en-US" altLang="zh-TW" sz="2400" dirty="0">
                <a:latin typeface="Times New Roman" panose="02020603050405020304" pitchFamily="18" charset="0"/>
                <a:cs typeface="Times New Roman" panose="02020603050405020304" pitchFamily="18" charset="0"/>
              </a:rPr>
              <a:t>. </a:t>
            </a:r>
            <a:r>
              <a:rPr lang="en-US" altLang="zh-TW" sz="2400" dirty="0">
                <a:solidFill>
                  <a:srgbClr val="FF0000"/>
                </a:solidFill>
                <a:latin typeface="Times New Roman" panose="02020603050405020304" pitchFamily="18" charset="0"/>
                <a:cs typeface="Times New Roman" panose="02020603050405020304" pitchFamily="18" charset="0"/>
              </a:rPr>
              <a:t>Therefore, Both </a:t>
            </a:r>
            <a:r>
              <a:rPr lang="en-US" altLang="zh-TW" sz="2400" dirty="0">
                <a:solidFill>
                  <a:srgbClr val="FF0000"/>
                </a:solidFill>
                <a:latin typeface="Times New Roman" panose="02020603050405020304" pitchFamily="18" charset="0"/>
                <a:cs typeface="Times New Roman" panose="02020603050405020304" pitchFamily="18" charset="0"/>
              </a:rPr>
              <a:t>DIST and OUT are totally monotone by the concave condition.</a:t>
            </a:r>
          </a:p>
          <a:p>
            <a:pPr marL="0" indent="0">
              <a:spcBef>
                <a:spcPct val="50000"/>
              </a:spcBef>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79150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101639"/>
            <a:ext cx="7886700" cy="1325563"/>
          </a:xfrm>
        </p:spPr>
        <p:txBody>
          <a:bodyPr>
            <a:normAutofit/>
          </a:bodyPr>
          <a:lstStyle/>
          <a:p>
            <a:pPr algn="ctr"/>
            <a:r>
              <a:rPr lang="en-US" altLang="zh-TW" dirty="0">
                <a:latin typeface="Times New Roman" panose="02020603050405020304" pitchFamily="18" charset="0"/>
                <a:cs typeface="Times New Roman" panose="02020603050405020304" pitchFamily="18" charset="0"/>
              </a:rPr>
              <a:t>Computing O</a:t>
            </a:r>
            <a:endParaRPr lang="zh-TW" altLang="en-US" dirty="0">
              <a:latin typeface="Times New Roman" panose="02020603050405020304" pitchFamily="18" charset="0"/>
              <a:cs typeface="Times New Roman" panose="02020603050405020304" pitchFamily="18" charset="0"/>
            </a:endParaRPr>
          </a:p>
        </p:txBody>
      </p:sp>
      <p:sp>
        <p:nvSpPr>
          <p:cNvPr id="152" name="內容版面配置區 2"/>
          <p:cNvSpPr>
            <a:spLocks noGrp="1"/>
          </p:cNvSpPr>
          <p:nvPr>
            <p:ph idx="1"/>
          </p:nvPr>
        </p:nvSpPr>
        <p:spPr>
          <a:xfrm>
            <a:off x="99140" y="1591912"/>
            <a:ext cx="8710422" cy="4351338"/>
          </a:xfrm>
        </p:spPr>
        <p:txBody>
          <a:bodyPr>
            <a:noAutofit/>
          </a:bodyPr>
          <a:lstStyle/>
          <a:p>
            <a:pPr marL="0" indent="0">
              <a:spcBef>
                <a:spcPct val="50000"/>
              </a:spcBef>
              <a:buNone/>
            </a:pPr>
            <a:r>
              <a:rPr lang="en-US" altLang="zh-TW" sz="2400" dirty="0" smtClean="0">
                <a:latin typeface="Times New Roman" panose="02020603050405020304" pitchFamily="18" charset="0"/>
                <a:cs typeface="Times New Roman" panose="02020603050405020304" pitchFamily="18" charset="0"/>
              </a:rPr>
              <a:t>	An </a:t>
            </a:r>
            <a:r>
              <a:rPr lang="en-US" altLang="zh-TW" sz="2400" dirty="0">
                <a:latin typeface="Times New Roman" panose="02020603050405020304" pitchFamily="18" charset="0"/>
                <a:cs typeface="Times New Roman" panose="02020603050405020304" pitchFamily="18" charset="0"/>
              </a:rPr>
              <a:t>algorithm called </a:t>
            </a:r>
            <a:r>
              <a:rPr lang="en-US" altLang="zh-TW" sz="2400" dirty="0">
                <a:solidFill>
                  <a:srgbClr val="FF0000"/>
                </a:solidFill>
                <a:latin typeface="Times New Roman" panose="02020603050405020304" pitchFamily="18" charset="0"/>
                <a:cs typeface="Times New Roman" panose="02020603050405020304" pitchFamily="18" charset="0"/>
              </a:rPr>
              <a:t>SMAWK</a:t>
            </a:r>
            <a:r>
              <a:rPr lang="en-US" altLang="zh-TW" sz="2400" dirty="0">
                <a:latin typeface="Times New Roman" panose="02020603050405020304" pitchFamily="18" charset="0"/>
                <a:cs typeface="Times New Roman" panose="02020603050405020304" pitchFamily="18" charset="0"/>
              </a:rPr>
              <a:t> can compute in O(</a:t>
            </a:r>
            <a:r>
              <a:rPr lang="en-US" altLang="zh-TW" sz="2400" i="1" dirty="0">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 time all row and column maximum of an </a:t>
            </a:r>
            <a:r>
              <a:rPr lang="en-US" altLang="zh-TW" sz="2400" i="1" dirty="0">
                <a:latin typeface="Times New Roman" panose="02020603050405020304" pitchFamily="18" charset="0"/>
                <a:cs typeface="Times New Roman" panose="02020603050405020304" pitchFamily="18" charset="0"/>
              </a:rPr>
              <a:t>n x n </a:t>
            </a:r>
            <a:r>
              <a:rPr lang="en-US" altLang="zh-TW" sz="2400" dirty="0">
                <a:latin typeface="Times New Roman" panose="02020603050405020304" pitchFamily="18" charset="0"/>
                <a:cs typeface="Times New Roman" panose="02020603050405020304" pitchFamily="18" charset="0"/>
              </a:rPr>
              <a:t>totally monotone matrix, by querying only O(</a:t>
            </a:r>
            <a:r>
              <a:rPr lang="en-US" altLang="zh-TW" sz="2400" i="1" dirty="0">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 elements of the array. Hence we can use SMAWK on OUT to compute output row O. clearly, if both the full DIST and I are available, </a:t>
            </a:r>
            <a:r>
              <a:rPr lang="en-US" altLang="zh-TW" sz="2400" dirty="0" smtClean="0">
                <a:latin typeface="Times New Roman" panose="02020603050405020304" pitchFamily="18" charset="0"/>
                <a:cs typeface="Times New Roman" panose="02020603050405020304" pitchFamily="18" charset="0"/>
              </a:rPr>
              <a:t>then </a:t>
            </a:r>
            <a:r>
              <a:rPr lang="en-US" altLang="zh-TW" sz="2400" dirty="0">
                <a:latin typeface="Times New Roman" panose="02020603050405020304" pitchFamily="18" charset="0"/>
                <a:cs typeface="Times New Roman" panose="02020603050405020304" pitchFamily="18" charset="0"/>
              </a:rPr>
              <a:t>computing an element of OUT is O(1) work. Thus, there is no need to compute and store the full matrix OUT but only the entries of OUT which are needed by SMAWK.</a:t>
            </a:r>
          </a:p>
          <a:p>
            <a:pPr marL="0" indent="0">
              <a:spcBef>
                <a:spcPct val="50000"/>
              </a:spcBef>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54071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101639"/>
            <a:ext cx="7886700" cy="1325563"/>
          </a:xfrm>
        </p:spPr>
        <p:txBody>
          <a:bodyPr>
            <a:normAutofit/>
          </a:bodyPr>
          <a:lstStyle/>
          <a:p>
            <a:pPr algn="ctr"/>
            <a:r>
              <a:rPr lang="en-US" altLang="zh-TW" dirty="0">
                <a:latin typeface="Times New Roman" panose="02020603050405020304" pitchFamily="18" charset="0"/>
                <a:cs typeface="Times New Roman" panose="02020603050405020304" pitchFamily="18" charset="0"/>
              </a:rPr>
              <a:t>Computing O</a:t>
            </a:r>
            <a:endParaRPr lang="zh-TW" altLang="en-US" dirty="0">
              <a:latin typeface="Times New Roman" panose="02020603050405020304" pitchFamily="18" charset="0"/>
              <a:cs typeface="Times New Roman" panose="02020603050405020304" pitchFamily="18" charset="0"/>
            </a:endParaRPr>
          </a:p>
        </p:txBody>
      </p:sp>
      <p:sp>
        <p:nvSpPr>
          <p:cNvPr id="152" name="內容版面配置區 2"/>
          <p:cNvSpPr>
            <a:spLocks noGrp="1"/>
          </p:cNvSpPr>
          <p:nvPr>
            <p:ph idx="1"/>
          </p:nvPr>
        </p:nvSpPr>
        <p:spPr>
          <a:xfrm>
            <a:off x="99140" y="1591912"/>
            <a:ext cx="8710422" cy="4351338"/>
          </a:xfrm>
        </p:spPr>
        <p:txBody>
          <a:bodyPr>
            <a:noAutofit/>
          </a:bodyPr>
          <a:lstStyle/>
          <a:p>
            <a:pPr marL="0" indent="0">
              <a:spcBef>
                <a:spcPct val="50000"/>
              </a:spcBef>
              <a:buNone/>
            </a:pPr>
            <a:r>
              <a:rPr lang="en-US" altLang="zh-TW" sz="2400" dirty="0">
                <a:latin typeface="Times New Roman" panose="02020603050405020304" pitchFamily="18" charset="0"/>
                <a:cs typeface="Times New Roman" panose="02020603050405020304" pitchFamily="18" charset="0"/>
              </a:rPr>
              <a:t>	In order to efficiently utilize </a:t>
            </a:r>
            <a:r>
              <a:rPr lang="en-US" altLang="zh-TW" sz="2400" dirty="0" err="1">
                <a:latin typeface="Times New Roman" panose="02020603050405020304" pitchFamily="18" charset="0"/>
                <a:cs typeface="Times New Roman" panose="02020603050405020304" pitchFamily="18" charset="0"/>
              </a:rPr>
              <a:t>Monge</a:t>
            </a:r>
            <a:r>
              <a:rPr lang="en-US" altLang="zh-TW" sz="2400" dirty="0">
                <a:latin typeface="Times New Roman" panose="02020603050405020304" pitchFamily="18" charset="0"/>
                <a:cs typeface="Times New Roman" panose="02020603050405020304" pitchFamily="18" charset="0"/>
              </a:rPr>
              <a:t> and Monotonicity properties, we need to </a:t>
            </a:r>
            <a:r>
              <a:rPr lang="en-US" altLang="zh-TW" sz="2400" dirty="0" smtClean="0">
                <a:latin typeface="Times New Roman" panose="02020603050405020304" pitchFamily="18" charset="0"/>
                <a:cs typeface="Times New Roman" panose="02020603050405020304" pitchFamily="18" charset="0"/>
              </a:rPr>
              <a:t>address the </a:t>
            </a:r>
            <a:r>
              <a:rPr lang="en-US" altLang="zh-TW" sz="2400" dirty="0" smtClean="0">
                <a:latin typeface="Times New Roman" panose="02020603050405020304" pitchFamily="18" charset="0"/>
                <a:cs typeface="Times New Roman" panose="02020603050405020304" pitchFamily="18" charset="0"/>
              </a:rPr>
              <a:t>following problem:</a:t>
            </a:r>
            <a:endParaRPr lang="en-US" altLang="zh-TW" sz="2400" dirty="0">
              <a:latin typeface="Times New Roman" panose="02020603050405020304" pitchFamily="18" charset="0"/>
              <a:cs typeface="Times New Roman" panose="02020603050405020304" pitchFamily="18" charset="0"/>
            </a:endParaRP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1. </a:t>
            </a:r>
            <a:r>
              <a:rPr lang="en-US" altLang="zh-TW" sz="2400" dirty="0" smtClean="0">
                <a:latin typeface="Times New Roman" panose="02020603050405020304" pitchFamily="18" charset="0"/>
                <a:cs typeface="Times New Roman" panose="02020603050405020304" pitchFamily="18" charset="0"/>
              </a:rPr>
              <a:t>How </a:t>
            </a:r>
            <a:r>
              <a:rPr lang="en-US" altLang="zh-TW" sz="2400" dirty="0">
                <a:latin typeface="Times New Roman" panose="02020603050405020304" pitchFamily="18" charset="0"/>
                <a:cs typeface="Times New Roman" panose="02020603050405020304" pitchFamily="18" charset="0"/>
              </a:rPr>
              <a:t>to efficiently compute DIST and represent it in a                 format which allows direct access to its entries</a:t>
            </a:r>
            <a:r>
              <a:rPr lang="en-US" altLang="zh-TW" sz="2400" dirty="0" smtClean="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37369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101639"/>
            <a:ext cx="7886700" cy="1325563"/>
          </a:xfrm>
        </p:spPr>
        <p:txBody>
          <a:bodyPr>
            <a:normAutofit/>
          </a:bodyPr>
          <a:lstStyle/>
          <a:p>
            <a:pPr algn="ctr"/>
            <a:r>
              <a:rPr lang="en-US" altLang="zh-TW" dirty="0">
                <a:latin typeface="Times New Roman" panose="02020603050405020304" pitchFamily="18" charset="0"/>
                <a:cs typeface="Times New Roman" panose="02020603050405020304" pitchFamily="18" charset="0"/>
              </a:rPr>
              <a:t>Incremental update of the new DIST information for G</a:t>
            </a:r>
            <a:endParaRPr lang="zh-TW" altLang="en-US" dirty="0">
              <a:latin typeface="Times New Roman" panose="02020603050405020304" pitchFamily="18" charset="0"/>
              <a:cs typeface="Times New Roman" panose="02020603050405020304" pitchFamily="18" charset="0"/>
            </a:endParaRPr>
          </a:p>
        </p:txBody>
      </p:sp>
      <p:sp>
        <p:nvSpPr>
          <p:cNvPr id="152" name="內容版面配置區 2"/>
          <p:cNvSpPr>
            <a:spLocks noGrp="1"/>
          </p:cNvSpPr>
          <p:nvPr>
            <p:ph idx="1"/>
          </p:nvPr>
        </p:nvSpPr>
        <p:spPr>
          <a:xfrm>
            <a:off x="99140" y="1591912"/>
            <a:ext cx="8710422" cy="4351338"/>
          </a:xfrm>
        </p:spPr>
        <p:txBody>
          <a:bodyPr>
            <a:noAutofit/>
          </a:bodyPr>
          <a:lstStyle/>
          <a:p>
            <a:pPr marL="0" indent="0">
              <a:spcBef>
                <a:spcPct val="50000"/>
              </a:spcBef>
              <a:buNone/>
            </a:pPr>
            <a:r>
              <a:rPr lang="en-US" altLang="zh-TW" sz="2400" dirty="0">
                <a:latin typeface="Times New Roman" panose="02020603050405020304" pitchFamily="18" charset="0"/>
                <a:cs typeface="Times New Roman" panose="02020603050405020304" pitchFamily="18" charset="0"/>
              </a:rPr>
              <a:t>	As shown, in block G, </a:t>
            </a:r>
            <a:r>
              <a:rPr lang="en-US" altLang="zh-TW" sz="2400" dirty="0">
                <a:solidFill>
                  <a:srgbClr val="FF0000"/>
                </a:solidFill>
                <a:latin typeface="Times New Roman" panose="02020603050405020304" pitchFamily="18" charset="0"/>
                <a:cs typeface="Times New Roman" panose="02020603050405020304" pitchFamily="18" charset="0"/>
              </a:rPr>
              <a:t>there is only one “new” cell, in its lowest – rightmost corner</a:t>
            </a:r>
            <a:r>
              <a:rPr lang="en-US" altLang="zh-TW" sz="2400" dirty="0">
                <a:latin typeface="Times New Roman" panose="02020603050405020304" pitchFamily="18" charset="0"/>
                <a:cs typeface="Times New Roman" panose="02020603050405020304" pitchFamily="18" charset="0"/>
              </a:rPr>
              <a:t>. When processing G, we compute the scores of  t (t= |I|) new optimal paths, leading from input border </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to the new vertex (</a:t>
            </a:r>
            <a:r>
              <a:rPr lang="en-US" altLang="zh-TW" sz="2400" dirty="0" err="1">
                <a:latin typeface="Times New Roman" panose="02020603050405020304" pitchFamily="18" charset="0"/>
                <a:cs typeface="Times New Roman" panose="02020603050405020304" pitchFamily="18" charset="0"/>
              </a:rPr>
              <a:t>lr,lc</a:t>
            </a:r>
            <a:r>
              <a:rPr lang="en-US" altLang="zh-TW" sz="2400" dirty="0">
                <a:latin typeface="Times New Roman" panose="02020603050405020304" pitchFamily="18" charset="0"/>
                <a:cs typeface="Times New Roman" panose="02020603050405020304" pitchFamily="18" charset="0"/>
              </a:rPr>
              <a:t>). This values correspond to column </a:t>
            </a:r>
            <a:r>
              <a:rPr lang="en-US" altLang="zh-TW" sz="2400" dirty="0" err="1">
                <a:latin typeface="Times New Roman" panose="02020603050405020304" pitchFamily="18" charset="0"/>
                <a:cs typeface="Times New Roman" panose="02020603050405020304" pitchFamily="18" charset="0"/>
              </a:rPr>
              <a:t>lc</a:t>
            </a:r>
            <a:r>
              <a:rPr lang="en-US" altLang="zh-TW" sz="2400" dirty="0">
                <a:latin typeface="Times New Roman" panose="02020603050405020304" pitchFamily="18" charset="0"/>
                <a:cs typeface="Times New Roman" panose="02020603050405020304" pitchFamily="18" charset="0"/>
              </a:rPr>
              <a:t> of the DIST matrix for G and can be computed as follows:</a:t>
            </a:r>
          </a:p>
        </p:txBody>
      </p:sp>
      <p:grpSp>
        <p:nvGrpSpPr>
          <p:cNvPr id="4" name="Group 152"/>
          <p:cNvGrpSpPr>
            <a:grpSpLocks/>
          </p:cNvGrpSpPr>
          <p:nvPr/>
        </p:nvGrpSpPr>
        <p:grpSpPr bwMode="auto">
          <a:xfrm>
            <a:off x="-216217" y="4235768"/>
            <a:ext cx="2689225" cy="1968500"/>
            <a:chOff x="3435" y="825"/>
            <a:chExt cx="1694" cy="1240"/>
          </a:xfrm>
        </p:grpSpPr>
        <p:sp>
          <p:nvSpPr>
            <p:cNvPr id="5" name="Rectangle 4"/>
            <p:cNvSpPr>
              <a:spLocks noChangeArrowheads="1"/>
            </p:cNvSpPr>
            <p:nvPr/>
          </p:nvSpPr>
          <p:spPr bwMode="auto">
            <a:xfrm>
              <a:off x="4705" y="1454"/>
              <a:ext cx="42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6" name="Rectangle 5"/>
            <p:cNvSpPr>
              <a:spLocks noChangeArrowheads="1"/>
            </p:cNvSpPr>
            <p:nvPr/>
          </p:nvSpPr>
          <p:spPr bwMode="auto">
            <a:xfrm>
              <a:off x="4283" y="1454"/>
              <a:ext cx="422" cy="320"/>
            </a:xfrm>
            <a:prstGeom prst="rect">
              <a:avLst/>
            </a:prstGeom>
            <a:solidFill>
              <a:srgbClr val="FFFF00">
                <a:alpha val="5000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7" name="Rectangle 6"/>
            <p:cNvSpPr>
              <a:spLocks noChangeArrowheads="1"/>
            </p:cNvSpPr>
            <p:nvPr/>
          </p:nvSpPr>
          <p:spPr bwMode="auto">
            <a:xfrm>
              <a:off x="3859" y="1454"/>
              <a:ext cx="424" cy="320"/>
            </a:xfrm>
            <a:prstGeom prst="rect">
              <a:avLst/>
            </a:prstGeom>
            <a:solidFill>
              <a:srgbClr val="FFFF00">
                <a:alpha val="5000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8" name="Rectangle 7"/>
            <p:cNvSpPr>
              <a:spLocks noChangeArrowheads="1"/>
            </p:cNvSpPr>
            <p:nvPr/>
          </p:nvSpPr>
          <p:spPr bwMode="auto">
            <a:xfrm>
              <a:off x="3435" y="1454"/>
              <a:ext cx="42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g</a:t>
              </a:r>
              <a:endParaRPr lang="en-US" altLang="zh-TW" sz="2000" b="1">
                <a:ea typeface="新細明體" panose="02020500000000000000" pitchFamily="18" charset="-120"/>
                <a:cs typeface="Times New Roman" panose="02020603050405020304" pitchFamily="18" charset="0"/>
              </a:endParaRPr>
            </a:p>
          </p:txBody>
        </p:sp>
        <p:sp>
          <p:nvSpPr>
            <p:cNvPr id="9" name="Rectangle 8"/>
            <p:cNvSpPr>
              <a:spLocks noChangeArrowheads="1"/>
            </p:cNvSpPr>
            <p:nvPr/>
          </p:nvSpPr>
          <p:spPr bwMode="auto">
            <a:xfrm>
              <a:off x="4705" y="1140"/>
              <a:ext cx="424"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0" name="Rectangle 9"/>
            <p:cNvSpPr>
              <a:spLocks noChangeArrowheads="1"/>
            </p:cNvSpPr>
            <p:nvPr/>
          </p:nvSpPr>
          <p:spPr bwMode="auto">
            <a:xfrm>
              <a:off x="4283" y="1140"/>
              <a:ext cx="422" cy="314"/>
            </a:xfrm>
            <a:prstGeom prst="rect">
              <a:avLst/>
            </a:prstGeom>
            <a:solidFill>
              <a:srgbClr val="FFFF00">
                <a:alpha val="5000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1" name="Rectangle 10"/>
            <p:cNvSpPr>
              <a:spLocks noChangeArrowheads="1"/>
            </p:cNvSpPr>
            <p:nvPr/>
          </p:nvSpPr>
          <p:spPr bwMode="auto">
            <a:xfrm>
              <a:off x="3859" y="1140"/>
              <a:ext cx="424" cy="314"/>
            </a:xfrm>
            <a:prstGeom prst="rect">
              <a:avLst/>
            </a:prstGeom>
            <a:solidFill>
              <a:srgbClr val="FFFF00">
                <a:alpha val="5000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2" name="Rectangle 11"/>
            <p:cNvSpPr>
              <a:spLocks noChangeArrowheads="1"/>
            </p:cNvSpPr>
            <p:nvPr/>
          </p:nvSpPr>
          <p:spPr bwMode="auto">
            <a:xfrm>
              <a:off x="3435" y="1140"/>
              <a:ext cx="424"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a</a:t>
              </a:r>
              <a:endParaRPr lang="en-US" altLang="zh-TW" sz="2000" b="1">
                <a:ea typeface="新細明體" panose="02020500000000000000" pitchFamily="18" charset="-120"/>
                <a:cs typeface="Times New Roman" panose="02020603050405020304" pitchFamily="18" charset="0"/>
              </a:endParaRPr>
            </a:p>
          </p:txBody>
        </p:sp>
        <p:sp>
          <p:nvSpPr>
            <p:cNvPr id="13" name="Rectangle 12"/>
            <p:cNvSpPr>
              <a:spLocks noChangeArrowheads="1"/>
            </p:cNvSpPr>
            <p:nvPr/>
          </p:nvSpPr>
          <p:spPr bwMode="auto">
            <a:xfrm>
              <a:off x="4705"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g</a:t>
              </a:r>
              <a:endParaRPr lang="en-US" altLang="zh-TW" sz="2000" b="1">
                <a:ea typeface="新細明體" panose="02020500000000000000" pitchFamily="18" charset="-120"/>
                <a:cs typeface="Times New Roman" panose="02020603050405020304" pitchFamily="18" charset="0"/>
              </a:endParaRPr>
            </a:p>
          </p:txBody>
        </p:sp>
        <p:sp>
          <p:nvSpPr>
            <p:cNvPr id="14" name="Rectangle 13"/>
            <p:cNvSpPr>
              <a:spLocks noChangeArrowheads="1"/>
            </p:cNvSpPr>
            <p:nvPr/>
          </p:nvSpPr>
          <p:spPr bwMode="auto">
            <a:xfrm>
              <a:off x="4283" y="825"/>
              <a:ext cx="422"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c</a:t>
              </a:r>
              <a:endParaRPr lang="en-US" altLang="zh-TW" sz="2000" b="1">
                <a:ea typeface="新細明體" panose="02020500000000000000" pitchFamily="18" charset="-120"/>
                <a:cs typeface="Times New Roman" panose="02020603050405020304" pitchFamily="18" charset="0"/>
              </a:endParaRPr>
            </a:p>
          </p:txBody>
        </p:sp>
        <p:sp>
          <p:nvSpPr>
            <p:cNvPr id="15" name="Rectangle 14"/>
            <p:cNvSpPr>
              <a:spLocks noChangeArrowheads="1"/>
            </p:cNvSpPr>
            <p:nvPr/>
          </p:nvSpPr>
          <p:spPr bwMode="auto">
            <a:xfrm>
              <a:off x="3859"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a</a:t>
              </a:r>
              <a:endParaRPr lang="en-US" altLang="zh-TW" sz="2000" b="1">
                <a:ea typeface="新細明體" panose="02020500000000000000" pitchFamily="18" charset="-120"/>
                <a:cs typeface="Times New Roman" panose="02020603050405020304" pitchFamily="18" charset="0"/>
              </a:endParaRPr>
            </a:p>
          </p:txBody>
        </p:sp>
        <p:sp>
          <p:nvSpPr>
            <p:cNvPr id="16" name="Rectangle 15"/>
            <p:cNvSpPr>
              <a:spLocks noChangeArrowheads="1"/>
            </p:cNvSpPr>
            <p:nvPr/>
          </p:nvSpPr>
          <p:spPr bwMode="auto">
            <a:xfrm>
              <a:off x="3435"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7" name="Line 16"/>
            <p:cNvSpPr>
              <a:spLocks noChangeShapeType="1"/>
            </p:cNvSpPr>
            <p:nvPr/>
          </p:nvSpPr>
          <p:spPr bwMode="auto">
            <a:xfrm>
              <a:off x="3859" y="1140"/>
              <a:ext cx="424"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8" name="Line 17"/>
            <p:cNvSpPr>
              <a:spLocks noChangeShapeType="1"/>
            </p:cNvSpPr>
            <p:nvPr/>
          </p:nvSpPr>
          <p:spPr bwMode="auto">
            <a:xfrm>
              <a:off x="4283" y="1140"/>
              <a:ext cx="422"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9" name="Line 18"/>
            <p:cNvSpPr>
              <a:spLocks noChangeShapeType="1"/>
            </p:cNvSpPr>
            <p:nvPr/>
          </p:nvSpPr>
          <p:spPr bwMode="auto">
            <a:xfrm>
              <a:off x="4705" y="1140"/>
              <a:ext cx="424"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0" name="Line 19"/>
            <p:cNvSpPr>
              <a:spLocks noChangeShapeType="1"/>
            </p:cNvSpPr>
            <p:nvPr/>
          </p:nvSpPr>
          <p:spPr bwMode="auto">
            <a:xfrm>
              <a:off x="3859" y="1454"/>
              <a:ext cx="424"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1" name="Line 20"/>
            <p:cNvSpPr>
              <a:spLocks noChangeShapeType="1"/>
            </p:cNvSpPr>
            <p:nvPr/>
          </p:nvSpPr>
          <p:spPr bwMode="auto">
            <a:xfrm>
              <a:off x="4283" y="1454"/>
              <a:ext cx="422"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2" name="Line 21"/>
            <p:cNvSpPr>
              <a:spLocks noChangeShapeType="1"/>
            </p:cNvSpPr>
            <p:nvPr/>
          </p:nvSpPr>
          <p:spPr bwMode="auto">
            <a:xfrm>
              <a:off x="4705" y="1454"/>
              <a:ext cx="424"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3" name="Line 22"/>
            <p:cNvSpPr>
              <a:spLocks noChangeShapeType="1"/>
            </p:cNvSpPr>
            <p:nvPr/>
          </p:nvSpPr>
          <p:spPr bwMode="auto">
            <a:xfrm>
              <a:off x="3859" y="1140"/>
              <a:ext cx="0" cy="31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4" name="Line 23"/>
            <p:cNvSpPr>
              <a:spLocks noChangeShapeType="1"/>
            </p:cNvSpPr>
            <p:nvPr/>
          </p:nvSpPr>
          <p:spPr bwMode="auto">
            <a:xfrm>
              <a:off x="4283" y="1140"/>
              <a:ext cx="0" cy="63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5" name="Line 24"/>
            <p:cNvSpPr>
              <a:spLocks noChangeShapeType="1"/>
            </p:cNvSpPr>
            <p:nvPr/>
          </p:nvSpPr>
          <p:spPr bwMode="auto">
            <a:xfrm>
              <a:off x="4705" y="1140"/>
              <a:ext cx="0" cy="63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6" name="Line 25"/>
            <p:cNvSpPr>
              <a:spLocks noChangeShapeType="1"/>
            </p:cNvSpPr>
            <p:nvPr/>
          </p:nvSpPr>
          <p:spPr bwMode="auto">
            <a:xfrm>
              <a:off x="5129" y="1140"/>
              <a:ext cx="0" cy="31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7" name="Line 26"/>
            <p:cNvSpPr>
              <a:spLocks noChangeShapeType="1"/>
            </p:cNvSpPr>
            <p:nvPr/>
          </p:nvSpPr>
          <p:spPr bwMode="auto">
            <a:xfrm>
              <a:off x="3859" y="1140"/>
              <a:ext cx="127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8" name="Line 27"/>
            <p:cNvSpPr>
              <a:spLocks noChangeShapeType="1"/>
            </p:cNvSpPr>
            <p:nvPr/>
          </p:nvSpPr>
          <p:spPr bwMode="auto">
            <a:xfrm>
              <a:off x="3859" y="1454"/>
              <a:ext cx="0" cy="32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9" name="Line 28"/>
            <p:cNvSpPr>
              <a:spLocks noChangeShapeType="1"/>
            </p:cNvSpPr>
            <p:nvPr/>
          </p:nvSpPr>
          <p:spPr bwMode="auto">
            <a:xfrm>
              <a:off x="3859" y="1454"/>
              <a:ext cx="424"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30" name="Line 29"/>
            <p:cNvSpPr>
              <a:spLocks noChangeShapeType="1"/>
            </p:cNvSpPr>
            <p:nvPr/>
          </p:nvSpPr>
          <p:spPr bwMode="auto">
            <a:xfrm>
              <a:off x="3859" y="1774"/>
              <a:ext cx="1270"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31" name="Line 30"/>
            <p:cNvSpPr>
              <a:spLocks noChangeShapeType="1"/>
            </p:cNvSpPr>
            <p:nvPr/>
          </p:nvSpPr>
          <p:spPr bwMode="auto">
            <a:xfrm>
              <a:off x="5129" y="1454"/>
              <a:ext cx="0" cy="32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32" name="Line 31"/>
            <p:cNvSpPr>
              <a:spLocks noChangeShapeType="1"/>
            </p:cNvSpPr>
            <p:nvPr/>
          </p:nvSpPr>
          <p:spPr bwMode="auto">
            <a:xfrm>
              <a:off x="4283" y="1454"/>
              <a:ext cx="846"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cxnSp>
          <p:nvCxnSpPr>
            <p:cNvPr id="33" name="AutoShape 32"/>
            <p:cNvCxnSpPr>
              <a:cxnSpLocks noChangeShapeType="1"/>
              <a:stCxn id="17" idx="0"/>
              <a:endCxn id="18" idx="0"/>
            </p:cNvCxnSpPr>
            <p:nvPr/>
          </p:nvCxnSpPr>
          <p:spPr bwMode="auto">
            <a:xfrm>
              <a:off x="3859" y="1140"/>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AutoShape 33"/>
            <p:cNvCxnSpPr>
              <a:cxnSpLocks noChangeShapeType="1"/>
              <a:stCxn id="18" idx="0"/>
              <a:endCxn id="19" idx="0"/>
            </p:cNvCxnSpPr>
            <p:nvPr/>
          </p:nvCxnSpPr>
          <p:spPr bwMode="auto">
            <a:xfrm>
              <a:off x="4283" y="1140"/>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AutoShape 34"/>
            <p:cNvCxnSpPr>
              <a:cxnSpLocks noChangeShapeType="1"/>
              <a:stCxn id="19" idx="0"/>
              <a:endCxn id="26" idx="0"/>
            </p:cNvCxnSpPr>
            <p:nvPr/>
          </p:nvCxnSpPr>
          <p:spPr bwMode="auto">
            <a:xfrm>
              <a:off x="4705" y="1140"/>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AutoShape 35"/>
            <p:cNvCxnSpPr>
              <a:cxnSpLocks noChangeShapeType="1"/>
              <a:stCxn id="20" idx="0"/>
              <a:endCxn id="32" idx="0"/>
            </p:cNvCxnSpPr>
            <p:nvPr/>
          </p:nvCxnSpPr>
          <p:spPr bwMode="auto">
            <a:xfrm>
              <a:off x="3859" y="145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AutoShape 36"/>
            <p:cNvCxnSpPr>
              <a:cxnSpLocks noChangeShapeType="1"/>
              <a:stCxn id="21" idx="0"/>
              <a:endCxn id="32" idx="1"/>
            </p:cNvCxnSpPr>
            <p:nvPr/>
          </p:nvCxnSpPr>
          <p:spPr bwMode="auto">
            <a:xfrm>
              <a:off x="4283" y="1454"/>
              <a:ext cx="846"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AutoShape 37"/>
            <p:cNvCxnSpPr>
              <a:cxnSpLocks noChangeShapeType="1"/>
              <a:stCxn id="21" idx="0"/>
              <a:endCxn id="21" idx="1"/>
            </p:cNvCxnSpPr>
            <p:nvPr/>
          </p:nvCxnSpPr>
          <p:spPr bwMode="auto">
            <a:xfrm>
              <a:off x="4283" y="1454"/>
              <a:ext cx="422" cy="32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38"/>
            <p:cNvCxnSpPr>
              <a:cxnSpLocks noChangeShapeType="1"/>
              <a:stCxn id="17" idx="0"/>
              <a:endCxn id="29" idx="0"/>
            </p:cNvCxnSpPr>
            <p:nvPr/>
          </p:nvCxnSpPr>
          <p:spPr bwMode="auto">
            <a:xfrm>
              <a:off x="3859"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39"/>
            <p:cNvCxnSpPr>
              <a:cxnSpLocks noChangeShapeType="1"/>
              <a:stCxn id="20" idx="0"/>
              <a:endCxn id="28" idx="1"/>
            </p:cNvCxnSpPr>
            <p:nvPr/>
          </p:nvCxnSpPr>
          <p:spPr bwMode="auto">
            <a:xfrm>
              <a:off x="3859"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40"/>
            <p:cNvCxnSpPr>
              <a:cxnSpLocks noChangeShapeType="1"/>
              <a:stCxn id="18" idx="0"/>
              <a:endCxn id="32" idx="0"/>
            </p:cNvCxnSpPr>
            <p:nvPr/>
          </p:nvCxnSpPr>
          <p:spPr bwMode="auto">
            <a:xfrm>
              <a:off x="4283"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AutoShape 41"/>
            <p:cNvCxnSpPr>
              <a:cxnSpLocks noChangeShapeType="1"/>
              <a:stCxn id="19" idx="0"/>
              <a:endCxn id="18" idx="1"/>
            </p:cNvCxnSpPr>
            <p:nvPr/>
          </p:nvCxnSpPr>
          <p:spPr bwMode="auto">
            <a:xfrm>
              <a:off x="4705"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AutoShape 42"/>
            <p:cNvCxnSpPr>
              <a:cxnSpLocks noChangeShapeType="1"/>
              <a:stCxn id="22" idx="0"/>
              <a:endCxn id="25" idx="1"/>
            </p:cNvCxnSpPr>
            <p:nvPr/>
          </p:nvCxnSpPr>
          <p:spPr bwMode="auto">
            <a:xfrm>
              <a:off x="4705"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AutoShape 43"/>
            <p:cNvCxnSpPr>
              <a:cxnSpLocks noChangeShapeType="1"/>
              <a:stCxn id="24" idx="0"/>
              <a:endCxn id="24" idx="1"/>
            </p:cNvCxnSpPr>
            <p:nvPr/>
          </p:nvCxnSpPr>
          <p:spPr bwMode="auto">
            <a:xfrm>
              <a:off x="4283" y="1140"/>
              <a:ext cx="0" cy="63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AutoShape 44"/>
            <p:cNvCxnSpPr>
              <a:cxnSpLocks noChangeShapeType="1"/>
              <a:stCxn id="29" idx="0"/>
              <a:endCxn id="20" idx="1"/>
            </p:cNvCxnSpPr>
            <p:nvPr/>
          </p:nvCxnSpPr>
          <p:spPr bwMode="auto">
            <a:xfrm>
              <a:off x="3859" y="1454"/>
              <a:ext cx="424" cy="32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AutoShape 45"/>
            <p:cNvCxnSpPr>
              <a:cxnSpLocks noChangeShapeType="1"/>
              <a:stCxn id="27" idx="0"/>
              <a:endCxn id="17" idx="1"/>
            </p:cNvCxnSpPr>
            <p:nvPr/>
          </p:nvCxnSpPr>
          <p:spPr bwMode="auto">
            <a:xfrm>
              <a:off x="3859" y="1140"/>
              <a:ext cx="424" cy="314"/>
            </a:xfrm>
            <a:prstGeom prst="straightConnector1">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AutoShape 46"/>
            <p:cNvCxnSpPr>
              <a:cxnSpLocks noChangeShapeType="1"/>
              <a:stCxn id="18" idx="0"/>
              <a:endCxn id="18" idx="1"/>
            </p:cNvCxnSpPr>
            <p:nvPr/>
          </p:nvCxnSpPr>
          <p:spPr bwMode="auto">
            <a:xfrm>
              <a:off x="4283" y="1140"/>
              <a:ext cx="422" cy="3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AutoShape 47"/>
            <p:cNvCxnSpPr>
              <a:cxnSpLocks noChangeShapeType="1"/>
              <a:stCxn id="22" idx="0"/>
              <a:endCxn id="22" idx="1"/>
            </p:cNvCxnSpPr>
            <p:nvPr/>
          </p:nvCxnSpPr>
          <p:spPr bwMode="auto">
            <a:xfrm>
              <a:off x="4705" y="1454"/>
              <a:ext cx="424" cy="320"/>
            </a:xfrm>
            <a:prstGeom prst="straightConnector1">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48"/>
            <p:cNvCxnSpPr>
              <a:cxnSpLocks noChangeShapeType="1"/>
              <a:stCxn id="21" idx="1"/>
              <a:endCxn id="30" idx="1"/>
            </p:cNvCxnSpPr>
            <p:nvPr/>
          </p:nvCxnSpPr>
          <p:spPr bwMode="auto">
            <a:xfrm>
              <a:off x="4705" y="177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49"/>
            <p:cNvCxnSpPr>
              <a:cxnSpLocks noChangeShapeType="1"/>
              <a:stCxn id="32" idx="1"/>
              <a:endCxn id="22" idx="1"/>
            </p:cNvCxnSpPr>
            <p:nvPr/>
          </p:nvCxnSpPr>
          <p:spPr bwMode="auto">
            <a:xfrm>
              <a:off x="5129"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50"/>
            <p:cNvCxnSpPr>
              <a:cxnSpLocks noChangeShapeType="1"/>
              <a:stCxn id="27" idx="1"/>
              <a:endCxn id="19" idx="1"/>
            </p:cNvCxnSpPr>
            <p:nvPr/>
          </p:nvCxnSpPr>
          <p:spPr bwMode="auto">
            <a:xfrm>
              <a:off x="5129"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51"/>
            <p:cNvCxnSpPr>
              <a:cxnSpLocks noChangeShapeType="1"/>
              <a:stCxn id="19" idx="0"/>
              <a:endCxn id="19" idx="1"/>
            </p:cNvCxnSpPr>
            <p:nvPr/>
          </p:nvCxnSpPr>
          <p:spPr bwMode="auto">
            <a:xfrm>
              <a:off x="4705" y="1140"/>
              <a:ext cx="424" cy="3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52"/>
            <p:cNvCxnSpPr>
              <a:cxnSpLocks noChangeShapeType="1"/>
              <a:stCxn id="21" idx="0"/>
              <a:endCxn id="18" idx="1"/>
            </p:cNvCxnSpPr>
            <p:nvPr/>
          </p:nvCxnSpPr>
          <p:spPr bwMode="auto">
            <a:xfrm>
              <a:off x="4283" y="1454"/>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53"/>
            <p:cNvCxnSpPr>
              <a:cxnSpLocks noChangeShapeType="1"/>
              <a:stCxn id="28" idx="1"/>
              <a:endCxn id="24" idx="1"/>
            </p:cNvCxnSpPr>
            <p:nvPr/>
          </p:nvCxnSpPr>
          <p:spPr bwMode="auto">
            <a:xfrm>
              <a:off x="3859" y="177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54"/>
            <p:cNvCxnSpPr>
              <a:cxnSpLocks noChangeShapeType="1"/>
              <a:stCxn id="24" idx="1"/>
              <a:endCxn id="25" idx="1"/>
            </p:cNvCxnSpPr>
            <p:nvPr/>
          </p:nvCxnSpPr>
          <p:spPr bwMode="auto">
            <a:xfrm>
              <a:off x="4283" y="1774"/>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Text Box 55"/>
            <p:cNvSpPr txBox="1">
              <a:spLocks noChangeArrowheads="1"/>
            </p:cNvSpPr>
            <p:nvPr/>
          </p:nvSpPr>
          <p:spPr bwMode="auto">
            <a:xfrm>
              <a:off x="4371" y="1773"/>
              <a:ext cx="339"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sz="2400" b="1">
                  <a:latin typeface="Times New Roman" panose="02020603050405020304" pitchFamily="18" charset="0"/>
                  <a:cs typeface="Times New Roman" panose="02020603050405020304" pitchFamily="18" charset="0"/>
                </a:rPr>
                <a:t>G</a:t>
              </a:r>
              <a:endParaRPr lang="en-US" altLang="zh-TW" sz="2400" b="1">
                <a:latin typeface="Times New Roman" panose="02020603050405020304" pitchFamily="18" charset="0"/>
                <a:ea typeface="新細明體" panose="02020500000000000000" pitchFamily="18" charset="-120"/>
                <a:cs typeface="Times New Roman" panose="02020603050405020304" pitchFamily="18" charset="0"/>
              </a:endParaRPr>
            </a:p>
          </p:txBody>
        </p:sp>
      </p:grpSp>
      <p:grpSp>
        <p:nvGrpSpPr>
          <p:cNvPr id="57" name="Group 152"/>
          <p:cNvGrpSpPr>
            <a:grpSpLocks/>
          </p:cNvGrpSpPr>
          <p:nvPr/>
        </p:nvGrpSpPr>
        <p:grpSpPr bwMode="auto">
          <a:xfrm>
            <a:off x="2830751" y="4235768"/>
            <a:ext cx="2689225" cy="1968500"/>
            <a:chOff x="3435" y="825"/>
            <a:chExt cx="1694" cy="1240"/>
          </a:xfrm>
        </p:grpSpPr>
        <p:sp>
          <p:nvSpPr>
            <p:cNvPr id="58" name="Rectangle 4"/>
            <p:cNvSpPr>
              <a:spLocks noChangeArrowheads="1"/>
            </p:cNvSpPr>
            <p:nvPr/>
          </p:nvSpPr>
          <p:spPr bwMode="auto">
            <a:xfrm>
              <a:off x="4705" y="1454"/>
              <a:ext cx="42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59" name="Rectangle 5"/>
            <p:cNvSpPr>
              <a:spLocks noChangeArrowheads="1"/>
            </p:cNvSpPr>
            <p:nvPr/>
          </p:nvSpPr>
          <p:spPr bwMode="auto">
            <a:xfrm>
              <a:off x="4283" y="1454"/>
              <a:ext cx="422" cy="320"/>
            </a:xfrm>
            <a:prstGeom prst="rect">
              <a:avLst/>
            </a:prstGeom>
            <a:solidFill>
              <a:schemeClr val="bg1">
                <a:alpha val="5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60" name="Rectangle 6"/>
            <p:cNvSpPr>
              <a:spLocks noChangeArrowheads="1"/>
            </p:cNvSpPr>
            <p:nvPr/>
          </p:nvSpPr>
          <p:spPr bwMode="auto">
            <a:xfrm>
              <a:off x="3859" y="1454"/>
              <a:ext cx="424" cy="320"/>
            </a:xfrm>
            <a:prstGeom prst="rect">
              <a:avLst/>
            </a:prstGeom>
            <a:solidFill>
              <a:schemeClr val="bg1">
                <a:alpha val="5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61" name="Rectangle 7"/>
            <p:cNvSpPr>
              <a:spLocks noChangeArrowheads="1"/>
            </p:cNvSpPr>
            <p:nvPr/>
          </p:nvSpPr>
          <p:spPr bwMode="auto">
            <a:xfrm>
              <a:off x="3435" y="1454"/>
              <a:ext cx="42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g</a:t>
              </a:r>
              <a:endParaRPr lang="en-US" altLang="zh-TW" sz="2000" b="1">
                <a:ea typeface="新細明體" panose="02020500000000000000" pitchFamily="18" charset="-120"/>
                <a:cs typeface="Times New Roman" panose="02020603050405020304" pitchFamily="18" charset="0"/>
              </a:endParaRPr>
            </a:p>
          </p:txBody>
        </p:sp>
        <p:sp>
          <p:nvSpPr>
            <p:cNvPr id="62" name="Rectangle 8"/>
            <p:cNvSpPr>
              <a:spLocks noChangeArrowheads="1"/>
            </p:cNvSpPr>
            <p:nvPr/>
          </p:nvSpPr>
          <p:spPr bwMode="auto">
            <a:xfrm>
              <a:off x="4705" y="1140"/>
              <a:ext cx="424"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63" name="Rectangle 9"/>
            <p:cNvSpPr>
              <a:spLocks noChangeArrowheads="1"/>
            </p:cNvSpPr>
            <p:nvPr/>
          </p:nvSpPr>
          <p:spPr bwMode="auto">
            <a:xfrm>
              <a:off x="4283" y="1140"/>
              <a:ext cx="422" cy="314"/>
            </a:xfrm>
            <a:prstGeom prst="rect">
              <a:avLst/>
            </a:prstGeom>
            <a:solidFill>
              <a:srgbClr val="FFFF00">
                <a:alpha val="5000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64" name="Rectangle 10"/>
            <p:cNvSpPr>
              <a:spLocks noChangeArrowheads="1"/>
            </p:cNvSpPr>
            <p:nvPr/>
          </p:nvSpPr>
          <p:spPr bwMode="auto">
            <a:xfrm>
              <a:off x="3859" y="1140"/>
              <a:ext cx="424" cy="314"/>
            </a:xfrm>
            <a:prstGeom prst="rect">
              <a:avLst/>
            </a:prstGeom>
            <a:solidFill>
              <a:srgbClr val="FFFF00">
                <a:alpha val="5000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65" name="Rectangle 11"/>
            <p:cNvSpPr>
              <a:spLocks noChangeArrowheads="1"/>
            </p:cNvSpPr>
            <p:nvPr/>
          </p:nvSpPr>
          <p:spPr bwMode="auto">
            <a:xfrm>
              <a:off x="3435" y="1140"/>
              <a:ext cx="424"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a</a:t>
              </a:r>
              <a:endParaRPr lang="en-US" altLang="zh-TW" sz="2000" b="1">
                <a:ea typeface="新細明體" panose="02020500000000000000" pitchFamily="18" charset="-120"/>
                <a:cs typeface="Times New Roman" panose="02020603050405020304" pitchFamily="18" charset="0"/>
              </a:endParaRPr>
            </a:p>
          </p:txBody>
        </p:sp>
        <p:sp>
          <p:nvSpPr>
            <p:cNvPr id="66" name="Rectangle 12"/>
            <p:cNvSpPr>
              <a:spLocks noChangeArrowheads="1"/>
            </p:cNvSpPr>
            <p:nvPr/>
          </p:nvSpPr>
          <p:spPr bwMode="auto">
            <a:xfrm>
              <a:off x="4705"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g</a:t>
              </a:r>
              <a:endParaRPr lang="en-US" altLang="zh-TW" sz="2000" b="1">
                <a:ea typeface="新細明體" panose="02020500000000000000" pitchFamily="18" charset="-120"/>
                <a:cs typeface="Times New Roman" panose="02020603050405020304" pitchFamily="18" charset="0"/>
              </a:endParaRPr>
            </a:p>
          </p:txBody>
        </p:sp>
        <p:sp>
          <p:nvSpPr>
            <p:cNvPr id="67" name="Rectangle 13"/>
            <p:cNvSpPr>
              <a:spLocks noChangeArrowheads="1"/>
            </p:cNvSpPr>
            <p:nvPr/>
          </p:nvSpPr>
          <p:spPr bwMode="auto">
            <a:xfrm>
              <a:off x="4283" y="825"/>
              <a:ext cx="422"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c</a:t>
              </a:r>
              <a:endParaRPr lang="en-US" altLang="zh-TW" sz="2000" b="1">
                <a:ea typeface="新細明體" panose="02020500000000000000" pitchFamily="18" charset="-120"/>
                <a:cs typeface="Times New Roman" panose="02020603050405020304" pitchFamily="18" charset="0"/>
              </a:endParaRPr>
            </a:p>
          </p:txBody>
        </p:sp>
        <p:sp>
          <p:nvSpPr>
            <p:cNvPr id="68" name="Rectangle 14"/>
            <p:cNvSpPr>
              <a:spLocks noChangeArrowheads="1"/>
            </p:cNvSpPr>
            <p:nvPr/>
          </p:nvSpPr>
          <p:spPr bwMode="auto">
            <a:xfrm>
              <a:off x="3859"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a</a:t>
              </a:r>
              <a:endParaRPr lang="en-US" altLang="zh-TW" sz="2000" b="1">
                <a:ea typeface="新細明體" panose="02020500000000000000" pitchFamily="18" charset="-120"/>
                <a:cs typeface="Times New Roman" panose="02020603050405020304" pitchFamily="18" charset="0"/>
              </a:endParaRPr>
            </a:p>
          </p:txBody>
        </p:sp>
        <p:sp>
          <p:nvSpPr>
            <p:cNvPr id="69" name="Rectangle 15"/>
            <p:cNvSpPr>
              <a:spLocks noChangeArrowheads="1"/>
            </p:cNvSpPr>
            <p:nvPr/>
          </p:nvSpPr>
          <p:spPr bwMode="auto">
            <a:xfrm>
              <a:off x="3435"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70" name="Line 16"/>
            <p:cNvSpPr>
              <a:spLocks noChangeShapeType="1"/>
            </p:cNvSpPr>
            <p:nvPr/>
          </p:nvSpPr>
          <p:spPr bwMode="auto">
            <a:xfrm>
              <a:off x="3859" y="1140"/>
              <a:ext cx="424"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71" name="Line 17"/>
            <p:cNvSpPr>
              <a:spLocks noChangeShapeType="1"/>
            </p:cNvSpPr>
            <p:nvPr/>
          </p:nvSpPr>
          <p:spPr bwMode="auto">
            <a:xfrm>
              <a:off x="4283" y="1140"/>
              <a:ext cx="422"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72" name="Line 18"/>
            <p:cNvSpPr>
              <a:spLocks noChangeShapeType="1"/>
            </p:cNvSpPr>
            <p:nvPr/>
          </p:nvSpPr>
          <p:spPr bwMode="auto">
            <a:xfrm>
              <a:off x="4705" y="1140"/>
              <a:ext cx="424"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73" name="Line 19"/>
            <p:cNvSpPr>
              <a:spLocks noChangeShapeType="1"/>
            </p:cNvSpPr>
            <p:nvPr/>
          </p:nvSpPr>
          <p:spPr bwMode="auto">
            <a:xfrm>
              <a:off x="3859" y="1454"/>
              <a:ext cx="424"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74" name="Line 20"/>
            <p:cNvSpPr>
              <a:spLocks noChangeShapeType="1"/>
            </p:cNvSpPr>
            <p:nvPr/>
          </p:nvSpPr>
          <p:spPr bwMode="auto">
            <a:xfrm>
              <a:off x="4283" y="1454"/>
              <a:ext cx="422"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75" name="Line 21"/>
            <p:cNvSpPr>
              <a:spLocks noChangeShapeType="1"/>
            </p:cNvSpPr>
            <p:nvPr/>
          </p:nvSpPr>
          <p:spPr bwMode="auto">
            <a:xfrm>
              <a:off x="4705" y="1454"/>
              <a:ext cx="424"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76" name="Line 22"/>
            <p:cNvSpPr>
              <a:spLocks noChangeShapeType="1"/>
            </p:cNvSpPr>
            <p:nvPr/>
          </p:nvSpPr>
          <p:spPr bwMode="auto">
            <a:xfrm>
              <a:off x="3859" y="1140"/>
              <a:ext cx="0" cy="31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77" name="Line 23"/>
            <p:cNvSpPr>
              <a:spLocks noChangeShapeType="1"/>
            </p:cNvSpPr>
            <p:nvPr/>
          </p:nvSpPr>
          <p:spPr bwMode="auto">
            <a:xfrm>
              <a:off x="4283" y="1140"/>
              <a:ext cx="0" cy="63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78" name="Line 24"/>
            <p:cNvSpPr>
              <a:spLocks noChangeShapeType="1"/>
            </p:cNvSpPr>
            <p:nvPr/>
          </p:nvSpPr>
          <p:spPr bwMode="auto">
            <a:xfrm>
              <a:off x="4705" y="1140"/>
              <a:ext cx="0" cy="63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79" name="Line 25"/>
            <p:cNvSpPr>
              <a:spLocks noChangeShapeType="1"/>
            </p:cNvSpPr>
            <p:nvPr/>
          </p:nvSpPr>
          <p:spPr bwMode="auto">
            <a:xfrm>
              <a:off x="5129" y="1140"/>
              <a:ext cx="0" cy="31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80" name="Line 26"/>
            <p:cNvSpPr>
              <a:spLocks noChangeShapeType="1"/>
            </p:cNvSpPr>
            <p:nvPr/>
          </p:nvSpPr>
          <p:spPr bwMode="auto">
            <a:xfrm>
              <a:off x="3859" y="1140"/>
              <a:ext cx="127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81" name="Line 27"/>
            <p:cNvSpPr>
              <a:spLocks noChangeShapeType="1"/>
            </p:cNvSpPr>
            <p:nvPr/>
          </p:nvSpPr>
          <p:spPr bwMode="auto">
            <a:xfrm>
              <a:off x="3859" y="1454"/>
              <a:ext cx="0" cy="32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82" name="Line 28"/>
            <p:cNvSpPr>
              <a:spLocks noChangeShapeType="1"/>
            </p:cNvSpPr>
            <p:nvPr/>
          </p:nvSpPr>
          <p:spPr bwMode="auto">
            <a:xfrm>
              <a:off x="3859" y="1454"/>
              <a:ext cx="424"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83" name="Line 29"/>
            <p:cNvSpPr>
              <a:spLocks noChangeShapeType="1"/>
            </p:cNvSpPr>
            <p:nvPr/>
          </p:nvSpPr>
          <p:spPr bwMode="auto">
            <a:xfrm>
              <a:off x="3859" y="1774"/>
              <a:ext cx="1270"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84" name="Line 30"/>
            <p:cNvSpPr>
              <a:spLocks noChangeShapeType="1"/>
            </p:cNvSpPr>
            <p:nvPr/>
          </p:nvSpPr>
          <p:spPr bwMode="auto">
            <a:xfrm>
              <a:off x="5129" y="1454"/>
              <a:ext cx="0" cy="32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85" name="Line 31"/>
            <p:cNvSpPr>
              <a:spLocks noChangeShapeType="1"/>
            </p:cNvSpPr>
            <p:nvPr/>
          </p:nvSpPr>
          <p:spPr bwMode="auto">
            <a:xfrm>
              <a:off x="4283" y="1454"/>
              <a:ext cx="846"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cxnSp>
          <p:nvCxnSpPr>
            <p:cNvPr id="86" name="AutoShape 32"/>
            <p:cNvCxnSpPr>
              <a:cxnSpLocks noChangeShapeType="1"/>
              <a:stCxn id="70" idx="0"/>
              <a:endCxn id="71" idx="0"/>
            </p:cNvCxnSpPr>
            <p:nvPr/>
          </p:nvCxnSpPr>
          <p:spPr bwMode="auto">
            <a:xfrm>
              <a:off x="3859" y="1140"/>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AutoShape 33"/>
            <p:cNvCxnSpPr>
              <a:cxnSpLocks noChangeShapeType="1"/>
              <a:stCxn id="71" idx="0"/>
              <a:endCxn id="72" idx="0"/>
            </p:cNvCxnSpPr>
            <p:nvPr/>
          </p:nvCxnSpPr>
          <p:spPr bwMode="auto">
            <a:xfrm>
              <a:off x="4283" y="1140"/>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AutoShape 34"/>
            <p:cNvCxnSpPr>
              <a:cxnSpLocks noChangeShapeType="1"/>
              <a:stCxn id="72" idx="0"/>
              <a:endCxn id="79" idx="0"/>
            </p:cNvCxnSpPr>
            <p:nvPr/>
          </p:nvCxnSpPr>
          <p:spPr bwMode="auto">
            <a:xfrm>
              <a:off x="4705" y="1140"/>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AutoShape 35"/>
            <p:cNvCxnSpPr>
              <a:cxnSpLocks noChangeShapeType="1"/>
              <a:stCxn id="73" idx="0"/>
              <a:endCxn id="85" idx="0"/>
            </p:cNvCxnSpPr>
            <p:nvPr/>
          </p:nvCxnSpPr>
          <p:spPr bwMode="auto">
            <a:xfrm>
              <a:off x="3859" y="145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AutoShape 36"/>
            <p:cNvCxnSpPr>
              <a:cxnSpLocks noChangeShapeType="1"/>
              <a:stCxn id="74" idx="0"/>
              <a:endCxn id="85" idx="1"/>
            </p:cNvCxnSpPr>
            <p:nvPr/>
          </p:nvCxnSpPr>
          <p:spPr bwMode="auto">
            <a:xfrm>
              <a:off x="4283" y="1454"/>
              <a:ext cx="846"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AutoShape 37"/>
            <p:cNvCxnSpPr>
              <a:cxnSpLocks noChangeShapeType="1"/>
              <a:stCxn id="74" idx="0"/>
              <a:endCxn id="74" idx="1"/>
            </p:cNvCxnSpPr>
            <p:nvPr/>
          </p:nvCxnSpPr>
          <p:spPr bwMode="auto">
            <a:xfrm>
              <a:off x="4283" y="1454"/>
              <a:ext cx="422" cy="32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AutoShape 38"/>
            <p:cNvCxnSpPr>
              <a:cxnSpLocks noChangeShapeType="1"/>
              <a:stCxn id="70" idx="0"/>
              <a:endCxn id="82" idx="0"/>
            </p:cNvCxnSpPr>
            <p:nvPr/>
          </p:nvCxnSpPr>
          <p:spPr bwMode="auto">
            <a:xfrm>
              <a:off x="3859"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AutoShape 39"/>
            <p:cNvCxnSpPr>
              <a:cxnSpLocks noChangeShapeType="1"/>
              <a:stCxn id="73" idx="0"/>
              <a:endCxn id="81" idx="1"/>
            </p:cNvCxnSpPr>
            <p:nvPr/>
          </p:nvCxnSpPr>
          <p:spPr bwMode="auto">
            <a:xfrm>
              <a:off x="3859"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AutoShape 40"/>
            <p:cNvCxnSpPr>
              <a:cxnSpLocks noChangeShapeType="1"/>
              <a:stCxn id="71" idx="0"/>
              <a:endCxn id="85" idx="0"/>
            </p:cNvCxnSpPr>
            <p:nvPr/>
          </p:nvCxnSpPr>
          <p:spPr bwMode="auto">
            <a:xfrm>
              <a:off x="4283"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AutoShape 41"/>
            <p:cNvCxnSpPr>
              <a:cxnSpLocks noChangeShapeType="1"/>
              <a:stCxn id="72" idx="0"/>
              <a:endCxn id="71" idx="1"/>
            </p:cNvCxnSpPr>
            <p:nvPr/>
          </p:nvCxnSpPr>
          <p:spPr bwMode="auto">
            <a:xfrm>
              <a:off x="4705"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AutoShape 42"/>
            <p:cNvCxnSpPr>
              <a:cxnSpLocks noChangeShapeType="1"/>
              <a:stCxn id="75" idx="0"/>
              <a:endCxn id="78" idx="1"/>
            </p:cNvCxnSpPr>
            <p:nvPr/>
          </p:nvCxnSpPr>
          <p:spPr bwMode="auto">
            <a:xfrm>
              <a:off x="4705"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AutoShape 43"/>
            <p:cNvCxnSpPr>
              <a:cxnSpLocks noChangeShapeType="1"/>
              <a:stCxn id="77" idx="0"/>
              <a:endCxn id="77" idx="1"/>
            </p:cNvCxnSpPr>
            <p:nvPr/>
          </p:nvCxnSpPr>
          <p:spPr bwMode="auto">
            <a:xfrm>
              <a:off x="4283" y="1140"/>
              <a:ext cx="0" cy="63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AutoShape 44"/>
            <p:cNvCxnSpPr>
              <a:cxnSpLocks noChangeShapeType="1"/>
              <a:stCxn id="82" idx="0"/>
              <a:endCxn id="73" idx="1"/>
            </p:cNvCxnSpPr>
            <p:nvPr/>
          </p:nvCxnSpPr>
          <p:spPr bwMode="auto">
            <a:xfrm>
              <a:off x="3859" y="1454"/>
              <a:ext cx="424" cy="32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AutoShape 45"/>
            <p:cNvCxnSpPr>
              <a:cxnSpLocks noChangeShapeType="1"/>
              <a:stCxn id="80" idx="0"/>
              <a:endCxn id="70" idx="1"/>
            </p:cNvCxnSpPr>
            <p:nvPr/>
          </p:nvCxnSpPr>
          <p:spPr bwMode="auto">
            <a:xfrm>
              <a:off x="3859" y="1140"/>
              <a:ext cx="424" cy="314"/>
            </a:xfrm>
            <a:prstGeom prst="straightConnector1">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AutoShape 46"/>
            <p:cNvCxnSpPr>
              <a:cxnSpLocks noChangeShapeType="1"/>
              <a:stCxn id="71" idx="0"/>
              <a:endCxn id="71" idx="1"/>
            </p:cNvCxnSpPr>
            <p:nvPr/>
          </p:nvCxnSpPr>
          <p:spPr bwMode="auto">
            <a:xfrm>
              <a:off x="4283" y="1140"/>
              <a:ext cx="422" cy="3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AutoShape 47"/>
            <p:cNvCxnSpPr>
              <a:cxnSpLocks noChangeShapeType="1"/>
              <a:stCxn id="75" idx="0"/>
              <a:endCxn id="75" idx="1"/>
            </p:cNvCxnSpPr>
            <p:nvPr/>
          </p:nvCxnSpPr>
          <p:spPr bwMode="auto">
            <a:xfrm>
              <a:off x="4705" y="1454"/>
              <a:ext cx="424" cy="320"/>
            </a:xfrm>
            <a:prstGeom prst="straightConnector1">
              <a:avLst/>
            </a:prstGeom>
            <a:noFill/>
            <a:ln w="317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AutoShape 48"/>
            <p:cNvCxnSpPr>
              <a:cxnSpLocks noChangeShapeType="1"/>
              <a:stCxn id="74" idx="1"/>
              <a:endCxn id="83" idx="1"/>
            </p:cNvCxnSpPr>
            <p:nvPr/>
          </p:nvCxnSpPr>
          <p:spPr bwMode="auto">
            <a:xfrm>
              <a:off x="4705" y="177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 name="AutoShape 49"/>
            <p:cNvCxnSpPr>
              <a:cxnSpLocks noChangeShapeType="1"/>
              <a:stCxn id="85" idx="1"/>
              <a:endCxn id="75" idx="1"/>
            </p:cNvCxnSpPr>
            <p:nvPr/>
          </p:nvCxnSpPr>
          <p:spPr bwMode="auto">
            <a:xfrm>
              <a:off x="5129"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 name="AutoShape 50"/>
            <p:cNvCxnSpPr>
              <a:cxnSpLocks noChangeShapeType="1"/>
              <a:stCxn id="80" idx="1"/>
              <a:endCxn id="72" idx="1"/>
            </p:cNvCxnSpPr>
            <p:nvPr/>
          </p:nvCxnSpPr>
          <p:spPr bwMode="auto">
            <a:xfrm>
              <a:off x="5129"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AutoShape 51"/>
            <p:cNvCxnSpPr>
              <a:cxnSpLocks noChangeShapeType="1"/>
              <a:stCxn id="72" idx="0"/>
              <a:endCxn id="72" idx="1"/>
            </p:cNvCxnSpPr>
            <p:nvPr/>
          </p:nvCxnSpPr>
          <p:spPr bwMode="auto">
            <a:xfrm>
              <a:off x="4705" y="1140"/>
              <a:ext cx="424" cy="3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AutoShape 52"/>
            <p:cNvCxnSpPr>
              <a:cxnSpLocks noChangeShapeType="1"/>
              <a:stCxn id="74" idx="0"/>
              <a:endCxn id="71" idx="1"/>
            </p:cNvCxnSpPr>
            <p:nvPr/>
          </p:nvCxnSpPr>
          <p:spPr bwMode="auto">
            <a:xfrm>
              <a:off x="4283" y="1454"/>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AutoShape 53"/>
            <p:cNvCxnSpPr>
              <a:cxnSpLocks noChangeShapeType="1"/>
              <a:stCxn id="81" idx="1"/>
              <a:endCxn id="77" idx="1"/>
            </p:cNvCxnSpPr>
            <p:nvPr/>
          </p:nvCxnSpPr>
          <p:spPr bwMode="auto">
            <a:xfrm>
              <a:off x="3859" y="177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AutoShape 54"/>
            <p:cNvCxnSpPr>
              <a:cxnSpLocks noChangeShapeType="1"/>
              <a:stCxn id="77" idx="1"/>
              <a:endCxn id="78" idx="1"/>
            </p:cNvCxnSpPr>
            <p:nvPr/>
          </p:nvCxnSpPr>
          <p:spPr bwMode="auto">
            <a:xfrm>
              <a:off x="4283" y="1774"/>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Text Box 55"/>
            <p:cNvSpPr txBox="1">
              <a:spLocks noChangeArrowheads="1"/>
            </p:cNvSpPr>
            <p:nvPr/>
          </p:nvSpPr>
          <p:spPr bwMode="auto">
            <a:xfrm>
              <a:off x="4371" y="1773"/>
              <a:ext cx="339"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sz="2400" b="1">
                  <a:latin typeface="Times New Roman" panose="02020603050405020304" pitchFamily="18" charset="0"/>
                  <a:cs typeface="Times New Roman" panose="02020603050405020304" pitchFamily="18" charset="0"/>
                </a:rPr>
                <a:t>G</a:t>
              </a:r>
              <a:endParaRPr lang="en-US" altLang="zh-TW" sz="2400" b="1">
                <a:latin typeface="Times New Roman" panose="02020603050405020304" pitchFamily="18" charset="0"/>
                <a:ea typeface="新細明體" panose="02020500000000000000" pitchFamily="18" charset="-120"/>
                <a:cs typeface="Times New Roman" panose="02020603050405020304" pitchFamily="18" charset="0"/>
              </a:endParaRPr>
            </a:p>
          </p:txBody>
        </p:sp>
      </p:grpSp>
      <p:grpSp>
        <p:nvGrpSpPr>
          <p:cNvPr id="110" name="Group 152"/>
          <p:cNvGrpSpPr>
            <a:grpSpLocks/>
          </p:cNvGrpSpPr>
          <p:nvPr/>
        </p:nvGrpSpPr>
        <p:grpSpPr bwMode="auto">
          <a:xfrm>
            <a:off x="5960277" y="4252684"/>
            <a:ext cx="2689225" cy="1968500"/>
            <a:chOff x="3435" y="825"/>
            <a:chExt cx="1694" cy="1240"/>
          </a:xfrm>
        </p:grpSpPr>
        <p:sp>
          <p:nvSpPr>
            <p:cNvPr id="111" name="Rectangle 4"/>
            <p:cNvSpPr>
              <a:spLocks noChangeArrowheads="1"/>
            </p:cNvSpPr>
            <p:nvPr/>
          </p:nvSpPr>
          <p:spPr bwMode="auto">
            <a:xfrm>
              <a:off x="4705" y="1454"/>
              <a:ext cx="42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12" name="Rectangle 5"/>
            <p:cNvSpPr>
              <a:spLocks noChangeArrowheads="1"/>
            </p:cNvSpPr>
            <p:nvPr/>
          </p:nvSpPr>
          <p:spPr bwMode="auto">
            <a:xfrm>
              <a:off x="4283" y="1454"/>
              <a:ext cx="422" cy="320"/>
            </a:xfrm>
            <a:prstGeom prst="rect">
              <a:avLst/>
            </a:prstGeom>
            <a:solidFill>
              <a:schemeClr val="bg1">
                <a:alpha val="5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13" name="Rectangle 6"/>
            <p:cNvSpPr>
              <a:spLocks noChangeArrowheads="1"/>
            </p:cNvSpPr>
            <p:nvPr/>
          </p:nvSpPr>
          <p:spPr bwMode="auto">
            <a:xfrm>
              <a:off x="3859" y="1454"/>
              <a:ext cx="424" cy="320"/>
            </a:xfrm>
            <a:prstGeom prst="rect">
              <a:avLst/>
            </a:prstGeom>
            <a:solidFill>
              <a:schemeClr val="bg1">
                <a:alpha val="5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14" name="Rectangle 7"/>
            <p:cNvSpPr>
              <a:spLocks noChangeArrowheads="1"/>
            </p:cNvSpPr>
            <p:nvPr/>
          </p:nvSpPr>
          <p:spPr bwMode="auto">
            <a:xfrm>
              <a:off x="3435" y="1454"/>
              <a:ext cx="42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g</a:t>
              </a:r>
              <a:endParaRPr lang="en-US" altLang="zh-TW" sz="2000" b="1">
                <a:ea typeface="新細明體" panose="02020500000000000000" pitchFamily="18" charset="-120"/>
                <a:cs typeface="Times New Roman" panose="02020603050405020304" pitchFamily="18" charset="0"/>
              </a:endParaRPr>
            </a:p>
          </p:txBody>
        </p:sp>
        <p:sp>
          <p:nvSpPr>
            <p:cNvPr id="115" name="Rectangle 8"/>
            <p:cNvSpPr>
              <a:spLocks noChangeArrowheads="1"/>
            </p:cNvSpPr>
            <p:nvPr/>
          </p:nvSpPr>
          <p:spPr bwMode="auto">
            <a:xfrm>
              <a:off x="4705" y="1140"/>
              <a:ext cx="424" cy="314"/>
            </a:xfrm>
            <a:prstGeom prst="rect">
              <a:avLst/>
            </a:prstGeom>
            <a:solidFill>
              <a:srgbClr val="FFFF00">
                <a:alpha val="5000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en-US" sz="1600">
                <a:latin typeface="Times New Roman" panose="02020603050405020304" pitchFamily="18" charset="0"/>
                <a:cs typeface="Times New Roman" panose="02020603050405020304" pitchFamily="18" charset="0"/>
              </a:endParaRPr>
            </a:p>
          </p:txBody>
        </p:sp>
        <p:sp>
          <p:nvSpPr>
            <p:cNvPr id="116" name="Rectangle 9"/>
            <p:cNvSpPr>
              <a:spLocks noChangeArrowheads="1"/>
            </p:cNvSpPr>
            <p:nvPr/>
          </p:nvSpPr>
          <p:spPr bwMode="auto">
            <a:xfrm>
              <a:off x="4283" y="1140"/>
              <a:ext cx="422" cy="314"/>
            </a:xfrm>
            <a:prstGeom prst="rect">
              <a:avLst/>
            </a:prstGeom>
            <a:solidFill>
              <a:srgbClr val="FFFF00">
                <a:alpha val="5000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17" name="Rectangle 10"/>
            <p:cNvSpPr>
              <a:spLocks noChangeArrowheads="1"/>
            </p:cNvSpPr>
            <p:nvPr/>
          </p:nvSpPr>
          <p:spPr bwMode="auto">
            <a:xfrm>
              <a:off x="3859" y="1140"/>
              <a:ext cx="424" cy="314"/>
            </a:xfrm>
            <a:prstGeom prst="rect">
              <a:avLst/>
            </a:prstGeom>
            <a:solidFill>
              <a:srgbClr val="FFFF00">
                <a:alpha val="5000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18" name="Rectangle 11"/>
            <p:cNvSpPr>
              <a:spLocks noChangeArrowheads="1"/>
            </p:cNvSpPr>
            <p:nvPr/>
          </p:nvSpPr>
          <p:spPr bwMode="auto">
            <a:xfrm>
              <a:off x="3435" y="1140"/>
              <a:ext cx="424"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a</a:t>
              </a:r>
              <a:endParaRPr lang="en-US" altLang="zh-TW" sz="2000" b="1">
                <a:ea typeface="新細明體" panose="02020500000000000000" pitchFamily="18" charset="-120"/>
                <a:cs typeface="Times New Roman" panose="02020603050405020304" pitchFamily="18" charset="0"/>
              </a:endParaRPr>
            </a:p>
          </p:txBody>
        </p:sp>
        <p:sp>
          <p:nvSpPr>
            <p:cNvPr id="119" name="Rectangle 12"/>
            <p:cNvSpPr>
              <a:spLocks noChangeArrowheads="1"/>
            </p:cNvSpPr>
            <p:nvPr/>
          </p:nvSpPr>
          <p:spPr bwMode="auto">
            <a:xfrm>
              <a:off x="4705"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g</a:t>
              </a:r>
              <a:endParaRPr lang="en-US" altLang="zh-TW" sz="2000" b="1">
                <a:ea typeface="新細明體" panose="02020500000000000000" pitchFamily="18" charset="-120"/>
                <a:cs typeface="Times New Roman" panose="02020603050405020304" pitchFamily="18" charset="0"/>
              </a:endParaRPr>
            </a:p>
          </p:txBody>
        </p:sp>
        <p:sp>
          <p:nvSpPr>
            <p:cNvPr id="120" name="Rectangle 13"/>
            <p:cNvSpPr>
              <a:spLocks noChangeArrowheads="1"/>
            </p:cNvSpPr>
            <p:nvPr/>
          </p:nvSpPr>
          <p:spPr bwMode="auto">
            <a:xfrm>
              <a:off x="4283" y="825"/>
              <a:ext cx="422"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c</a:t>
              </a:r>
              <a:endParaRPr lang="en-US" altLang="zh-TW" sz="2000" b="1">
                <a:ea typeface="新細明體" panose="02020500000000000000" pitchFamily="18" charset="-120"/>
                <a:cs typeface="Times New Roman" panose="02020603050405020304" pitchFamily="18" charset="0"/>
              </a:endParaRPr>
            </a:p>
          </p:txBody>
        </p:sp>
        <p:sp>
          <p:nvSpPr>
            <p:cNvPr id="121" name="Rectangle 14"/>
            <p:cNvSpPr>
              <a:spLocks noChangeArrowheads="1"/>
            </p:cNvSpPr>
            <p:nvPr/>
          </p:nvSpPr>
          <p:spPr bwMode="auto">
            <a:xfrm>
              <a:off x="3859"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a</a:t>
              </a:r>
              <a:endParaRPr lang="en-US" altLang="zh-TW" sz="2000" b="1">
                <a:ea typeface="新細明體" panose="02020500000000000000" pitchFamily="18" charset="-120"/>
                <a:cs typeface="Times New Roman" panose="02020603050405020304" pitchFamily="18" charset="0"/>
              </a:endParaRPr>
            </a:p>
          </p:txBody>
        </p:sp>
        <p:sp>
          <p:nvSpPr>
            <p:cNvPr id="122" name="Rectangle 15"/>
            <p:cNvSpPr>
              <a:spLocks noChangeArrowheads="1"/>
            </p:cNvSpPr>
            <p:nvPr/>
          </p:nvSpPr>
          <p:spPr bwMode="auto">
            <a:xfrm>
              <a:off x="3435"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23" name="Line 16"/>
            <p:cNvSpPr>
              <a:spLocks noChangeShapeType="1"/>
            </p:cNvSpPr>
            <p:nvPr/>
          </p:nvSpPr>
          <p:spPr bwMode="auto">
            <a:xfrm>
              <a:off x="3859" y="1140"/>
              <a:ext cx="424"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24" name="Line 17"/>
            <p:cNvSpPr>
              <a:spLocks noChangeShapeType="1"/>
            </p:cNvSpPr>
            <p:nvPr/>
          </p:nvSpPr>
          <p:spPr bwMode="auto">
            <a:xfrm>
              <a:off x="4283" y="1140"/>
              <a:ext cx="422"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25" name="Line 18"/>
            <p:cNvSpPr>
              <a:spLocks noChangeShapeType="1"/>
            </p:cNvSpPr>
            <p:nvPr/>
          </p:nvSpPr>
          <p:spPr bwMode="auto">
            <a:xfrm>
              <a:off x="4705" y="1140"/>
              <a:ext cx="424"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26" name="Line 19"/>
            <p:cNvSpPr>
              <a:spLocks noChangeShapeType="1"/>
            </p:cNvSpPr>
            <p:nvPr/>
          </p:nvSpPr>
          <p:spPr bwMode="auto">
            <a:xfrm>
              <a:off x="3859" y="1454"/>
              <a:ext cx="424"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27" name="Line 20"/>
            <p:cNvSpPr>
              <a:spLocks noChangeShapeType="1"/>
            </p:cNvSpPr>
            <p:nvPr/>
          </p:nvSpPr>
          <p:spPr bwMode="auto">
            <a:xfrm>
              <a:off x="4283" y="1454"/>
              <a:ext cx="422"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28" name="Line 21"/>
            <p:cNvSpPr>
              <a:spLocks noChangeShapeType="1"/>
            </p:cNvSpPr>
            <p:nvPr/>
          </p:nvSpPr>
          <p:spPr bwMode="auto">
            <a:xfrm>
              <a:off x="4705" y="1454"/>
              <a:ext cx="424"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29" name="Line 22"/>
            <p:cNvSpPr>
              <a:spLocks noChangeShapeType="1"/>
            </p:cNvSpPr>
            <p:nvPr/>
          </p:nvSpPr>
          <p:spPr bwMode="auto">
            <a:xfrm>
              <a:off x="3859" y="1140"/>
              <a:ext cx="0" cy="31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30" name="Line 23"/>
            <p:cNvSpPr>
              <a:spLocks noChangeShapeType="1"/>
            </p:cNvSpPr>
            <p:nvPr/>
          </p:nvSpPr>
          <p:spPr bwMode="auto">
            <a:xfrm>
              <a:off x="4283" y="1140"/>
              <a:ext cx="0" cy="63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31" name="Line 24"/>
            <p:cNvSpPr>
              <a:spLocks noChangeShapeType="1"/>
            </p:cNvSpPr>
            <p:nvPr/>
          </p:nvSpPr>
          <p:spPr bwMode="auto">
            <a:xfrm>
              <a:off x="4705" y="1140"/>
              <a:ext cx="0" cy="63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32" name="Line 25"/>
            <p:cNvSpPr>
              <a:spLocks noChangeShapeType="1"/>
            </p:cNvSpPr>
            <p:nvPr/>
          </p:nvSpPr>
          <p:spPr bwMode="auto">
            <a:xfrm>
              <a:off x="5129" y="1140"/>
              <a:ext cx="0" cy="31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33" name="Line 26"/>
            <p:cNvSpPr>
              <a:spLocks noChangeShapeType="1"/>
            </p:cNvSpPr>
            <p:nvPr/>
          </p:nvSpPr>
          <p:spPr bwMode="auto">
            <a:xfrm>
              <a:off x="3859" y="1140"/>
              <a:ext cx="127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34" name="Line 27"/>
            <p:cNvSpPr>
              <a:spLocks noChangeShapeType="1"/>
            </p:cNvSpPr>
            <p:nvPr/>
          </p:nvSpPr>
          <p:spPr bwMode="auto">
            <a:xfrm>
              <a:off x="3859" y="1454"/>
              <a:ext cx="0" cy="32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35" name="Line 28"/>
            <p:cNvSpPr>
              <a:spLocks noChangeShapeType="1"/>
            </p:cNvSpPr>
            <p:nvPr/>
          </p:nvSpPr>
          <p:spPr bwMode="auto">
            <a:xfrm>
              <a:off x="3859" y="1454"/>
              <a:ext cx="424"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36" name="Line 29"/>
            <p:cNvSpPr>
              <a:spLocks noChangeShapeType="1"/>
            </p:cNvSpPr>
            <p:nvPr/>
          </p:nvSpPr>
          <p:spPr bwMode="auto">
            <a:xfrm>
              <a:off x="3859" y="1774"/>
              <a:ext cx="1270"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37" name="Line 30"/>
            <p:cNvSpPr>
              <a:spLocks noChangeShapeType="1"/>
            </p:cNvSpPr>
            <p:nvPr/>
          </p:nvSpPr>
          <p:spPr bwMode="auto">
            <a:xfrm>
              <a:off x="5129" y="1454"/>
              <a:ext cx="0" cy="32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38" name="Line 31"/>
            <p:cNvSpPr>
              <a:spLocks noChangeShapeType="1"/>
            </p:cNvSpPr>
            <p:nvPr/>
          </p:nvSpPr>
          <p:spPr bwMode="auto">
            <a:xfrm>
              <a:off x="4283" y="1454"/>
              <a:ext cx="846"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cxnSp>
          <p:nvCxnSpPr>
            <p:cNvPr id="139" name="AutoShape 32"/>
            <p:cNvCxnSpPr>
              <a:cxnSpLocks noChangeShapeType="1"/>
              <a:stCxn id="123" idx="0"/>
              <a:endCxn id="124" idx="0"/>
            </p:cNvCxnSpPr>
            <p:nvPr/>
          </p:nvCxnSpPr>
          <p:spPr bwMode="auto">
            <a:xfrm>
              <a:off x="3859" y="1140"/>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AutoShape 33"/>
            <p:cNvCxnSpPr>
              <a:cxnSpLocks noChangeShapeType="1"/>
              <a:stCxn id="124" idx="0"/>
              <a:endCxn id="125" idx="0"/>
            </p:cNvCxnSpPr>
            <p:nvPr/>
          </p:nvCxnSpPr>
          <p:spPr bwMode="auto">
            <a:xfrm>
              <a:off x="4283" y="1140"/>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AutoShape 34"/>
            <p:cNvCxnSpPr>
              <a:cxnSpLocks noChangeShapeType="1"/>
              <a:stCxn id="125" idx="0"/>
              <a:endCxn id="132" idx="0"/>
            </p:cNvCxnSpPr>
            <p:nvPr/>
          </p:nvCxnSpPr>
          <p:spPr bwMode="auto">
            <a:xfrm>
              <a:off x="4705" y="1140"/>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AutoShape 35"/>
            <p:cNvCxnSpPr>
              <a:cxnSpLocks noChangeShapeType="1"/>
              <a:stCxn id="126" idx="0"/>
              <a:endCxn id="138" idx="0"/>
            </p:cNvCxnSpPr>
            <p:nvPr/>
          </p:nvCxnSpPr>
          <p:spPr bwMode="auto">
            <a:xfrm>
              <a:off x="3859" y="145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AutoShape 36"/>
            <p:cNvCxnSpPr>
              <a:cxnSpLocks noChangeShapeType="1"/>
              <a:stCxn id="127" idx="0"/>
              <a:endCxn id="138" idx="1"/>
            </p:cNvCxnSpPr>
            <p:nvPr/>
          </p:nvCxnSpPr>
          <p:spPr bwMode="auto">
            <a:xfrm>
              <a:off x="4283" y="1454"/>
              <a:ext cx="846"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AutoShape 37"/>
            <p:cNvCxnSpPr>
              <a:cxnSpLocks noChangeShapeType="1"/>
              <a:stCxn id="127" idx="0"/>
              <a:endCxn id="127" idx="1"/>
            </p:cNvCxnSpPr>
            <p:nvPr/>
          </p:nvCxnSpPr>
          <p:spPr bwMode="auto">
            <a:xfrm>
              <a:off x="4283" y="1454"/>
              <a:ext cx="422" cy="32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AutoShape 38"/>
            <p:cNvCxnSpPr>
              <a:cxnSpLocks noChangeShapeType="1"/>
              <a:stCxn id="123" idx="0"/>
              <a:endCxn id="135" idx="0"/>
            </p:cNvCxnSpPr>
            <p:nvPr/>
          </p:nvCxnSpPr>
          <p:spPr bwMode="auto">
            <a:xfrm>
              <a:off x="3859"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39"/>
            <p:cNvCxnSpPr>
              <a:cxnSpLocks noChangeShapeType="1"/>
              <a:stCxn id="126" idx="0"/>
              <a:endCxn id="134" idx="1"/>
            </p:cNvCxnSpPr>
            <p:nvPr/>
          </p:nvCxnSpPr>
          <p:spPr bwMode="auto">
            <a:xfrm>
              <a:off x="3859"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40"/>
            <p:cNvCxnSpPr>
              <a:cxnSpLocks noChangeShapeType="1"/>
              <a:stCxn id="124" idx="0"/>
              <a:endCxn id="138" idx="0"/>
            </p:cNvCxnSpPr>
            <p:nvPr/>
          </p:nvCxnSpPr>
          <p:spPr bwMode="auto">
            <a:xfrm>
              <a:off x="4283"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AutoShape 41"/>
            <p:cNvCxnSpPr>
              <a:cxnSpLocks noChangeShapeType="1"/>
              <a:stCxn id="125" idx="0"/>
              <a:endCxn id="124" idx="1"/>
            </p:cNvCxnSpPr>
            <p:nvPr/>
          </p:nvCxnSpPr>
          <p:spPr bwMode="auto">
            <a:xfrm>
              <a:off x="4705"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AutoShape 42"/>
            <p:cNvCxnSpPr>
              <a:cxnSpLocks noChangeShapeType="1"/>
              <a:stCxn id="128" idx="0"/>
              <a:endCxn id="131" idx="1"/>
            </p:cNvCxnSpPr>
            <p:nvPr/>
          </p:nvCxnSpPr>
          <p:spPr bwMode="auto">
            <a:xfrm>
              <a:off x="4705"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AutoShape 43"/>
            <p:cNvCxnSpPr>
              <a:cxnSpLocks noChangeShapeType="1"/>
              <a:stCxn id="130" idx="0"/>
              <a:endCxn id="130" idx="1"/>
            </p:cNvCxnSpPr>
            <p:nvPr/>
          </p:nvCxnSpPr>
          <p:spPr bwMode="auto">
            <a:xfrm>
              <a:off x="4283" y="1140"/>
              <a:ext cx="0" cy="63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1" name="AutoShape 44"/>
            <p:cNvCxnSpPr>
              <a:cxnSpLocks noChangeShapeType="1"/>
              <a:stCxn id="135" idx="0"/>
              <a:endCxn id="126" idx="1"/>
            </p:cNvCxnSpPr>
            <p:nvPr/>
          </p:nvCxnSpPr>
          <p:spPr bwMode="auto">
            <a:xfrm>
              <a:off x="3859" y="1454"/>
              <a:ext cx="424" cy="32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AutoShape 45"/>
            <p:cNvCxnSpPr>
              <a:cxnSpLocks noChangeShapeType="1"/>
              <a:stCxn id="133" idx="0"/>
              <a:endCxn id="123" idx="1"/>
            </p:cNvCxnSpPr>
            <p:nvPr/>
          </p:nvCxnSpPr>
          <p:spPr bwMode="auto">
            <a:xfrm>
              <a:off x="3859" y="1140"/>
              <a:ext cx="424" cy="314"/>
            </a:xfrm>
            <a:prstGeom prst="straightConnector1">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AutoShape 46"/>
            <p:cNvCxnSpPr>
              <a:cxnSpLocks noChangeShapeType="1"/>
              <a:stCxn id="124" idx="0"/>
              <a:endCxn id="124" idx="1"/>
            </p:cNvCxnSpPr>
            <p:nvPr/>
          </p:nvCxnSpPr>
          <p:spPr bwMode="auto">
            <a:xfrm>
              <a:off x="4283" y="1140"/>
              <a:ext cx="422" cy="3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5" name="AutoShape 47"/>
            <p:cNvCxnSpPr>
              <a:cxnSpLocks noChangeShapeType="1"/>
              <a:stCxn id="128" idx="0"/>
              <a:endCxn id="128" idx="1"/>
            </p:cNvCxnSpPr>
            <p:nvPr/>
          </p:nvCxnSpPr>
          <p:spPr bwMode="auto">
            <a:xfrm>
              <a:off x="4705" y="1454"/>
              <a:ext cx="424" cy="320"/>
            </a:xfrm>
            <a:prstGeom prst="straightConnector1">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6" name="AutoShape 48"/>
            <p:cNvCxnSpPr>
              <a:cxnSpLocks noChangeShapeType="1"/>
              <a:stCxn id="127" idx="1"/>
              <a:endCxn id="136" idx="1"/>
            </p:cNvCxnSpPr>
            <p:nvPr/>
          </p:nvCxnSpPr>
          <p:spPr bwMode="auto">
            <a:xfrm>
              <a:off x="4705" y="177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AutoShape 49"/>
            <p:cNvCxnSpPr>
              <a:cxnSpLocks noChangeShapeType="1"/>
              <a:stCxn id="138" idx="1"/>
              <a:endCxn id="128" idx="1"/>
            </p:cNvCxnSpPr>
            <p:nvPr/>
          </p:nvCxnSpPr>
          <p:spPr bwMode="auto">
            <a:xfrm>
              <a:off x="5129"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AutoShape 50"/>
            <p:cNvCxnSpPr>
              <a:cxnSpLocks noChangeShapeType="1"/>
              <a:stCxn id="133" idx="1"/>
              <a:endCxn id="125" idx="1"/>
            </p:cNvCxnSpPr>
            <p:nvPr/>
          </p:nvCxnSpPr>
          <p:spPr bwMode="auto">
            <a:xfrm>
              <a:off x="5129"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9" name="AutoShape 51"/>
            <p:cNvCxnSpPr>
              <a:cxnSpLocks noChangeShapeType="1"/>
              <a:stCxn id="125" idx="0"/>
              <a:endCxn id="125" idx="1"/>
            </p:cNvCxnSpPr>
            <p:nvPr/>
          </p:nvCxnSpPr>
          <p:spPr bwMode="auto">
            <a:xfrm>
              <a:off x="4705" y="1140"/>
              <a:ext cx="424" cy="3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0" name="AutoShape 52"/>
            <p:cNvCxnSpPr>
              <a:cxnSpLocks noChangeShapeType="1"/>
              <a:stCxn id="127" idx="0"/>
              <a:endCxn id="124" idx="1"/>
            </p:cNvCxnSpPr>
            <p:nvPr/>
          </p:nvCxnSpPr>
          <p:spPr bwMode="auto">
            <a:xfrm>
              <a:off x="4283" y="1454"/>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AutoShape 53"/>
            <p:cNvCxnSpPr>
              <a:cxnSpLocks noChangeShapeType="1"/>
              <a:stCxn id="134" idx="1"/>
              <a:endCxn id="130" idx="1"/>
            </p:cNvCxnSpPr>
            <p:nvPr/>
          </p:nvCxnSpPr>
          <p:spPr bwMode="auto">
            <a:xfrm>
              <a:off x="3859" y="177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AutoShape 54"/>
            <p:cNvCxnSpPr>
              <a:cxnSpLocks noChangeShapeType="1"/>
              <a:stCxn id="130" idx="1"/>
              <a:endCxn id="131" idx="1"/>
            </p:cNvCxnSpPr>
            <p:nvPr/>
          </p:nvCxnSpPr>
          <p:spPr bwMode="auto">
            <a:xfrm>
              <a:off x="4283" y="1774"/>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3" name="Text Box 55"/>
            <p:cNvSpPr txBox="1">
              <a:spLocks noChangeArrowheads="1"/>
            </p:cNvSpPr>
            <p:nvPr/>
          </p:nvSpPr>
          <p:spPr bwMode="auto">
            <a:xfrm>
              <a:off x="4371" y="1773"/>
              <a:ext cx="339"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sz="2400" b="1">
                  <a:latin typeface="Times New Roman" panose="02020603050405020304" pitchFamily="18" charset="0"/>
                  <a:cs typeface="Times New Roman" panose="02020603050405020304" pitchFamily="18" charset="0"/>
                </a:rPr>
                <a:t>G</a:t>
              </a:r>
              <a:endParaRPr lang="en-US" altLang="zh-TW" sz="2400" b="1">
                <a:latin typeface="Times New Roman" panose="02020603050405020304" pitchFamily="18" charset="0"/>
                <a:ea typeface="新細明體" panose="02020500000000000000" pitchFamily="18" charset="-120"/>
                <a:cs typeface="Times New Roman" panose="02020603050405020304" pitchFamily="18" charset="0"/>
              </a:endParaRPr>
            </a:p>
          </p:txBody>
        </p:sp>
      </p:grpSp>
      <p:sp>
        <p:nvSpPr>
          <p:cNvPr id="164" name="Oval 59"/>
          <p:cNvSpPr>
            <a:spLocks noChangeArrowheads="1"/>
          </p:cNvSpPr>
          <p:nvPr/>
        </p:nvSpPr>
        <p:spPr bwMode="auto">
          <a:xfrm>
            <a:off x="1611789" y="5601937"/>
            <a:ext cx="360362" cy="341313"/>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TW" altLang="en-US"/>
          </a:p>
        </p:txBody>
      </p:sp>
      <p:sp>
        <p:nvSpPr>
          <p:cNvPr id="165" name="Oval 59"/>
          <p:cNvSpPr>
            <a:spLocks noChangeArrowheads="1"/>
          </p:cNvSpPr>
          <p:nvPr/>
        </p:nvSpPr>
        <p:spPr bwMode="auto">
          <a:xfrm>
            <a:off x="8443921" y="5048876"/>
            <a:ext cx="360362" cy="341313"/>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TW" altLang="en-US"/>
          </a:p>
        </p:txBody>
      </p:sp>
      <p:sp>
        <p:nvSpPr>
          <p:cNvPr id="166" name="Oval 59"/>
          <p:cNvSpPr>
            <a:spLocks noChangeArrowheads="1"/>
          </p:cNvSpPr>
          <p:nvPr/>
        </p:nvSpPr>
        <p:spPr bwMode="auto">
          <a:xfrm>
            <a:off x="4658758" y="5014212"/>
            <a:ext cx="360362" cy="341313"/>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TW" altLang="en-US"/>
          </a:p>
        </p:txBody>
      </p:sp>
      <p:cxnSp>
        <p:nvCxnSpPr>
          <p:cNvPr id="167" name="AutoShape 49"/>
          <p:cNvCxnSpPr>
            <a:cxnSpLocks noChangeShapeType="1"/>
          </p:cNvCxnSpPr>
          <p:nvPr/>
        </p:nvCxnSpPr>
        <p:spPr bwMode="auto">
          <a:xfrm>
            <a:off x="1791970" y="5836030"/>
            <a:ext cx="673100" cy="0"/>
          </a:xfrm>
          <a:prstGeom prst="straightConnector1">
            <a:avLst/>
          </a:prstGeom>
          <a:noFill/>
          <a:ln w="317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0" name="AutoShape 50"/>
          <p:cNvCxnSpPr>
            <a:cxnSpLocks noChangeShapeType="1"/>
          </p:cNvCxnSpPr>
          <p:nvPr/>
        </p:nvCxnSpPr>
        <p:spPr bwMode="auto">
          <a:xfrm>
            <a:off x="8757174" y="5251222"/>
            <a:ext cx="0" cy="508000"/>
          </a:xfrm>
          <a:prstGeom prst="straightConnector1">
            <a:avLst/>
          </a:prstGeom>
          <a:noFill/>
          <a:ln w="317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8520061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72618" y="-101639"/>
            <a:ext cx="8381238" cy="1325563"/>
          </a:xfrm>
        </p:spPr>
        <p:txBody>
          <a:bodyPr>
            <a:normAutofit fontScale="90000"/>
          </a:bodyPr>
          <a:lstStyle/>
          <a:p>
            <a:pPr algn="ctr"/>
            <a:r>
              <a:rPr lang="en-US" altLang="zh-TW" dirty="0">
                <a:latin typeface="Times New Roman" panose="02020603050405020304" pitchFamily="18" charset="0"/>
                <a:cs typeface="Times New Roman" panose="02020603050405020304" pitchFamily="18" charset="0"/>
              </a:rPr>
              <a:t>Querying a prefix block </a:t>
            </a:r>
            <a:r>
              <a:rPr lang="en-US" altLang="zh-TW" dirty="0" smtClean="0">
                <a:latin typeface="Times New Roman" panose="02020603050405020304" pitchFamily="18" charset="0"/>
                <a:cs typeface="Times New Roman" panose="02020603050405020304" pitchFamily="18" charset="0"/>
              </a:rPr>
              <a:t>and obtaining </a:t>
            </a:r>
            <a:r>
              <a:rPr lang="en-US" altLang="zh-TW" dirty="0">
                <a:latin typeface="Times New Roman" panose="02020603050405020304" pitchFamily="18" charset="0"/>
                <a:cs typeface="Times New Roman" panose="02020603050405020304" pitchFamily="18" charset="0"/>
              </a:rPr>
              <a:t>its DIST column in constant time</a:t>
            </a:r>
            <a:endParaRPr lang="zh-TW" altLang="en-US" dirty="0">
              <a:latin typeface="Times New Roman" panose="02020603050405020304" pitchFamily="18" charset="0"/>
              <a:cs typeface="Times New Roman" panose="02020603050405020304" pitchFamily="18" charset="0"/>
            </a:endParaRPr>
          </a:p>
        </p:txBody>
      </p:sp>
      <p:sp>
        <p:nvSpPr>
          <p:cNvPr id="171" name="Text Box 3"/>
          <p:cNvSpPr txBox="1">
            <a:spLocks noChangeArrowheads="1"/>
          </p:cNvSpPr>
          <p:nvPr/>
        </p:nvSpPr>
        <p:spPr bwMode="auto">
          <a:xfrm>
            <a:off x="372618" y="1223924"/>
            <a:ext cx="8264715" cy="5495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lgn="l">
              <a:spcBef>
                <a:spcPct val="50000"/>
              </a:spcBef>
            </a:pPr>
            <a:r>
              <a:rPr lang="en-US" sz="2400" dirty="0">
                <a:solidFill>
                  <a:srgbClr val="FF0000"/>
                </a:solidFill>
                <a:latin typeface="Times New Roman" panose="02020603050405020304" pitchFamily="18" charset="0"/>
                <a:cs typeface="Times New Roman" panose="02020603050405020304" pitchFamily="18" charset="0"/>
              </a:rPr>
              <a:t>Each block will be identified by a pair of numbers</a:t>
            </a:r>
            <a:r>
              <a:rPr lang="en-US" sz="2400" dirty="0">
                <a:latin typeface="Times New Roman" panose="02020603050405020304" pitchFamily="18" charset="0"/>
                <a:cs typeface="Times New Roman" panose="02020603050405020304" pitchFamily="18" charset="0"/>
              </a:rPr>
              <a:t>, composed of the serial numbers for its corresponding phrases in the LZ tries for A and B.</a:t>
            </a:r>
          </a:p>
          <a:p>
            <a:pPr algn="l">
              <a:spcBef>
                <a:spcPct val="50000"/>
              </a:spcBef>
            </a:pPr>
            <a:r>
              <a:rPr lang="en-US" sz="2400" dirty="0">
                <a:latin typeface="Times New Roman" panose="02020603050405020304" pitchFamily="18" charset="0"/>
                <a:cs typeface="Times New Roman" panose="02020603050405020304" pitchFamily="18" charset="0"/>
              </a:rPr>
              <a:t>For example: </a:t>
            </a:r>
          </a:p>
          <a:p>
            <a:pPr algn="l">
              <a:spcBef>
                <a:spcPct val="50000"/>
              </a:spcBef>
            </a:pPr>
            <a:r>
              <a:rPr lang="en-US" sz="2400" dirty="0">
                <a:latin typeface="Times New Roman" panose="02020603050405020304" pitchFamily="18" charset="0"/>
                <a:cs typeface="Times New Roman" panose="02020603050405020304" pitchFamily="18" charset="0"/>
              </a:rPr>
              <a:t>Comparison of “</a:t>
            </a:r>
            <a:r>
              <a:rPr lang="en-US" sz="2400" dirty="0" err="1">
                <a:latin typeface="Times New Roman" panose="02020603050405020304" pitchFamily="18" charset="0"/>
                <a:cs typeface="Times New Roman" panose="02020603050405020304" pitchFamily="18" charset="0"/>
              </a:rPr>
              <a:t>ag</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acg</a:t>
            </a:r>
            <a:r>
              <a:rPr lang="en-US" sz="2400" dirty="0">
                <a:latin typeface="Times New Roman" panose="02020603050405020304" pitchFamily="18" charset="0"/>
                <a:cs typeface="Times New Roman" panose="02020603050405020304" pitchFamily="18" charset="0"/>
              </a:rPr>
              <a:t>” – (5,4).</a:t>
            </a:r>
          </a:p>
          <a:p>
            <a:pPr algn="l">
              <a:spcBef>
                <a:spcPct val="50000"/>
              </a:spcBef>
            </a:pPr>
            <a:endParaRPr lang="en-US" sz="1000" dirty="0">
              <a:latin typeface="Times New Roman" panose="02020603050405020304" pitchFamily="18" charset="0"/>
              <a:cs typeface="Times New Roman" panose="02020603050405020304" pitchFamily="18" charset="0"/>
            </a:endParaRPr>
          </a:p>
          <a:p>
            <a:pPr algn="l">
              <a:spcBef>
                <a:spcPct val="50000"/>
              </a:spcBef>
            </a:pPr>
            <a:r>
              <a:rPr lang="en-US" sz="2400" dirty="0">
                <a:latin typeface="Times New Roman" panose="02020603050405020304" pitchFamily="18" charset="0"/>
                <a:cs typeface="Times New Roman" panose="02020603050405020304" pitchFamily="18" charset="0"/>
              </a:rPr>
              <a:t>The left prefix of G can be identified in constant time as </a:t>
            </a:r>
            <a:r>
              <a:rPr lang="en-US" sz="2400" dirty="0" smtClean="0">
                <a:latin typeface="Times New Roman" panose="02020603050405020304" pitchFamily="18" charset="0"/>
                <a:cs typeface="Times New Roman" panose="02020603050405020304" pitchFamily="18" charset="0"/>
              </a:rPr>
              <a:t>follows:</a:t>
            </a:r>
          </a:p>
          <a:p>
            <a:pPr algn="l">
              <a:spcBef>
                <a:spcPct val="50000"/>
              </a:spcBef>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first number identical to the serial number of </a:t>
            </a:r>
            <a:r>
              <a:rPr lang="en-US" sz="2400" i="1" dirty="0" err="1">
                <a:latin typeface="Times New Roman" panose="02020603050405020304" pitchFamily="18" charset="0"/>
                <a:cs typeface="Times New Roman" panose="02020603050405020304" pitchFamily="18" charset="0"/>
              </a:rPr>
              <a:t>Xa</a:t>
            </a:r>
            <a:r>
              <a:rPr lang="en-US" sz="2400" dirty="0">
                <a:latin typeface="Times New Roman" panose="02020603050405020304" pitchFamily="18" charset="0"/>
                <a:cs typeface="Times New Roman" panose="02020603050405020304" pitchFamily="18" charset="0"/>
              </a:rPr>
              <a:t>, and the second corresponding to the serial number of </a:t>
            </a:r>
            <a:r>
              <a:rPr lang="en-US" sz="2400" i="1" dirty="0" smtClean="0">
                <a:latin typeface="Times New Roman" panose="02020603050405020304" pitchFamily="18" charset="0"/>
                <a:cs typeface="Times New Roman" panose="02020603050405020304" pitchFamily="18" charset="0"/>
              </a:rPr>
              <a:t>Y</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which is the </a:t>
            </a:r>
            <a:r>
              <a:rPr lang="en-US" sz="2400" dirty="0">
                <a:solidFill>
                  <a:srgbClr val="FF0000"/>
                </a:solidFill>
                <a:latin typeface="Times New Roman" panose="02020603050405020304" pitchFamily="18" charset="0"/>
                <a:cs typeface="Times New Roman" panose="02020603050405020304" pitchFamily="18" charset="0"/>
              </a:rPr>
              <a:t>direct ancestor of </a:t>
            </a:r>
            <a:r>
              <a:rPr lang="en-US" sz="2400" i="1" dirty="0" err="1">
                <a:solidFill>
                  <a:srgbClr val="FF0000"/>
                </a:solidFill>
                <a:latin typeface="Times New Roman" panose="02020603050405020304" pitchFamily="18" charset="0"/>
                <a:cs typeface="Times New Roman" panose="02020603050405020304" pitchFamily="18" charset="0"/>
              </a:rPr>
              <a:t>Yb</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the </a:t>
            </a:r>
            <a:r>
              <a:rPr lang="en-US" sz="2400" dirty="0" err="1">
                <a:latin typeface="Times New Roman" panose="02020603050405020304" pitchFamily="18" charset="0"/>
                <a:cs typeface="Times New Roman" panose="02020603050405020304" pitchFamily="18" charset="0"/>
              </a:rPr>
              <a:t>trie</a:t>
            </a:r>
            <a:r>
              <a:rPr lang="en-US" sz="2400" dirty="0">
                <a:latin typeface="Times New Roman" panose="02020603050405020304" pitchFamily="18" charset="0"/>
                <a:cs typeface="Times New Roman" panose="02020603050405020304" pitchFamily="18" charset="0"/>
              </a:rPr>
              <a:t> for B.</a:t>
            </a:r>
          </a:p>
          <a:p>
            <a:pPr algn="l">
              <a:spcBef>
                <a:spcPct val="50000"/>
              </a:spcBef>
            </a:pPr>
            <a:r>
              <a:rPr lang="en-US" sz="2400" dirty="0">
                <a:latin typeface="Times New Roman" panose="02020603050405020304" pitchFamily="18" charset="0"/>
                <a:cs typeface="Times New Roman" panose="02020603050405020304" pitchFamily="18" charset="0"/>
              </a:rPr>
              <a:t>Example: left prefix of G (5,4) will be: (5,2).</a:t>
            </a:r>
          </a:p>
          <a:p>
            <a:pPr algn="l">
              <a:spcBef>
                <a:spcPct val="50000"/>
              </a:spcBef>
            </a:pPr>
            <a:r>
              <a:rPr lang="en-US" sz="2400" dirty="0">
                <a:latin typeface="Times New Roman" panose="02020603050405020304" pitchFamily="18" charset="0"/>
                <a:cs typeface="Times New Roman" panose="02020603050405020304" pitchFamily="18" charset="0"/>
              </a:rPr>
              <a:t>Similarly, Top prefix (3,4) can be identified in constant time.</a:t>
            </a:r>
            <a:endParaRPr lang="en-US" altLang="zh-TW" sz="2400" dirty="0">
              <a:latin typeface="Times New Roman" panose="02020603050405020304" pitchFamily="18" charset="0"/>
              <a:ea typeface="新細明體" panose="02020500000000000000" pitchFamily="18" charset="-120"/>
              <a:cs typeface="Times New Roman" panose="02020603050405020304" pitchFamily="18" charset="0"/>
            </a:endParaRPr>
          </a:p>
        </p:txBody>
      </p:sp>
      <p:pic>
        <p:nvPicPr>
          <p:cNvPr id="172" name="圖片 171"/>
          <p:cNvPicPr>
            <a:picLocks noChangeAspect="1"/>
          </p:cNvPicPr>
          <p:nvPr/>
        </p:nvPicPr>
        <p:blipFill>
          <a:blip r:embed="rId3"/>
          <a:stretch>
            <a:fillRect/>
          </a:stretch>
        </p:blipFill>
        <p:spPr>
          <a:xfrm>
            <a:off x="5488445" y="1987296"/>
            <a:ext cx="3148888" cy="1825942"/>
          </a:xfrm>
          <a:prstGeom prst="rect">
            <a:avLst/>
          </a:prstGeom>
        </p:spPr>
      </p:pic>
      <p:grpSp>
        <p:nvGrpSpPr>
          <p:cNvPr id="173" name="Group 152"/>
          <p:cNvGrpSpPr>
            <a:grpSpLocks/>
          </p:cNvGrpSpPr>
          <p:nvPr/>
        </p:nvGrpSpPr>
        <p:grpSpPr bwMode="auto">
          <a:xfrm>
            <a:off x="6623495" y="5138801"/>
            <a:ext cx="2130361" cy="1290892"/>
            <a:chOff x="3435" y="825"/>
            <a:chExt cx="1694" cy="1240"/>
          </a:xfrm>
        </p:grpSpPr>
        <p:sp>
          <p:nvSpPr>
            <p:cNvPr id="174" name="Rectangle 4"/>
            <p:cNvSpPr>
              <a:spLocks noChangeArrowheads="1"/>
            </p:cNvSpPr>
            <p:nvPr/>
          </p:nvSpPr>
          <p:spPr bwMode="auto">
            <a:xfrm>
              <a:off x="4705" y="1454"/>
              <a:ext cx="42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75" name="Rectangle 5"/>
            <p:cNvSpPr>
              <a:spLocks noChangeArrowheads="1"/>
            </p:cNvSpPr>
            <p:nvPr/>
          </p:nvSpPr>
          <p:spPr bwMode="auto">
            <a:xfrm>
              <a:off x="4283" y="1454"/>
              <a:ext cx="422" cy="320"/>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76" name="Rectangle 6"/>
            <p:cNvSpPr>
              <a:spLocks noChangeArrowheads="1"/>
            </p:cNvSpPr>
            <p:nvPr/>
          </p:nvSpPr>
          <p:spPr bwMode="auto">
            <a:xfrm>
              <a:off x="3859" y="1454"/>
              <a:ext cx="424" cy="320"/>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77" name="Rectangle 7"/>
            <p:cNvSpPr>
              <a:spLocks noChangeArrowheads="1"/>
            </p:cNvSpPr>
            <p:nvPr/>
          </p:nvSpPr>
          <p:spPr bwMode="auto">
            <a:xfrm>
              <a:off x="3435" y="1454"/>
              <a:ext cx="42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g</a:t>
              </a:r>
              <a:endParaRPr lang="en-US" altLang="zh-TW" sz="2000" b="1">
                <a:ea typeface="新細明體" panose="02020500000000000000" pitchFamily="18" charset="-120"/>
                <a:cs typeface="Times New Roman" panose="02020603050405020304" pitchFamily="18" charset="0"/>
              </a:endParaRPr>
            </a:p>
          </p:txBody>
        </p:sp>
        <p:sp>
          <p:nvSpPr>
            <p:cNvPr id="178" name="Rectangle 8"/>
            <p:cNvSpPr>
              <a:spLocks noChangeArrowheads="1"/>
            </p:cNvSpPr>
            <p:nvPr/>
          </p:nvSpPr>
          <p:spPr bwMode="auto">
            <a:xfrm>
              <a:off x="4705" y="1140"/>
              <a:ext cx="424"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79" name="Rectangle 9"/>
            <p:cNvSpPr>
              <a:spLocks noChangeArrowheads="1"/>
            </p:cNvSpPr>
            <p:nvPr/>
          </p:nvSpPr>
          <p:spPr bwMode="auto">
            <a:xfrm>
              <a:off x="4283" y="1140"/>
              <a:ext cx="422" cy="31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80" name="Rectangle 10"/>
            <p:cNvSpPr>
              <a:spLocks noChangeArrowheads="1"/>
            </p:cNvSpPr>
            <p:nvPr/>
          </p:nvSpPr>
          <p:spPr bwMode="auto">
            <a:xfrm>
              <a:off x="3859" y="1140"/>
              <a:ext cx="424" cy="31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81" name="Rectangle 11"/>
            <p:cNvSpPr>
              <a:spLocks noChangeArrowheads="1"/>
            </p:cNvSpPr>
            <p:nvPr/>
          </p:nvSpPr>
          <p:spPr bwMode="auto">
            <a:xfrm>
              <a:off x="3435" y="1140"/>
              <a:ext cx="424"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a</a:t>
              </a:r>
              <a:endParaRPr lang="en-US" altLang="zh-TW" sz="2000" b="1">
                <a:ea typeface="新細明體" panose="02020500000000000000" pitchFamily="18" charset="-120"/>
                <a:cs typeface="Times New Roman" panose="02020603050405020304" pitchFamily="18" charset="0"/>
              </a:endParaRPr>
            </a:p>
          </p:txBody>
        </p:sp>
        <p:sp>
          <p:nvSpPr>
            <p:cNvPr id="182" name="Rectangle 12"/>
            <p:cNvSpPr>
              <a:spLocks noChangeArrowheads="1"/>
            </p:cNvSpPr>
            <p:nvPr/>
          </p:nvSpPr>
          <p:spPr bwMode="auto">
            <a:xfrm>
              <a:off x="4705"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g</a:t>
              </a:r>
              <a:endParaRPr lang="en-US" altLang="zh-TW" sz="2000" b="1">
                <a:ea typeface="新細明體" panose="02020500000000000000" pitchFamily="18" charset="-120"/>
                <a:cs typeface="Times New Roman" panose="02020603050405020304" pitchFamily="18" charset="0"/>
              </a:endParaRPr>
            </a:p>
          </p:txBody>
        </p:sp>
        <p:sp>
          <p:nvSpPr>
            <p:cNvPr id="183" name="Rectangle 13"/>
            <p:cNvSpPr>
              <a:spLocks noChangeArrowheads="1"/>
            </p:cNvSpPr>
            <p:nvPr/>
          </p:nvSpPr>
          <p:spPr bwMode="auto">
            <a:xfrm>
              <a:off x="4283" y="825"/>
              <a:ext cx="422"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c</a:t>
              </a:r>
              <a:endParaRPr lang="en-US" altLang="zh-TW" sz="2000" b="1">
                <a:ea typeface="新細明體" panose="02020500000000000000" pitchFamily="18" charset="-120"/>
                <a:cs typeface="Times New Roman" panose="02020603050405020304" pitchFamily="18" charset="0"/>
              </a:endParaRPr>
            </a:p>
          </p:txBody>
        </p:sp>
        <p:sp>
          <p:nvSpPr>
            <p:cNvPr id="184" name="Rectangle 14"/>
            <p:cNvSpPr>
              <a:spLocks noChangeArrowheads="1"/>
            </p:cNvSpPr>
            <p:nvPr/>
          </p:nvSpPr>
          <p:spPr bwMode="auto">
            <a:xfrm>
              <a:off x="3859"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a</a:t>
              </a:r>
              <a:endParaRPr lang="en-US" altLang="zh-TW" sz="2000" b="1">
                <a:ea typeface="新細明體" panose="02020500000000000000" pitchFamily="18" charset="-120"/>
                <a:cs typeface="Times New Roman" panose="02020603050405020304" pitchFamily="18" charset="0"/>
              </a:endParaRPr>
            </a:p>
          </p:txBody>
        </p:sp>
        <p:sp>
          <p:nvSpPr>
            <p:cNvPr id="185" name="Rectangle 15"/>
            <p:cNvSpPr>
              <a:spLocks noChangeArrowheads="1"/>
            </p:cNvSpPr>
            <p:nvPr/>
          </p:nvSpPr>
          <p:spPr bwMode="auto">
            <a:xfrm>
              <a:off x="3435"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86" name="Line 16"/>
            <p:cNvSpPr>
              <a:spLocks noChangeShapeType="1"/>
            </p:cNvSpPr>
            <p:nvPr/>
          </p:nvSpPr>
          <p:spPr bwMode="auto">
            <a:xfrm>
              <a:off x="3859" y="1140"/>
              <a:ext cx="424"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87" name="Line 17"/>
            <p:cNvSpPr>
              <a:spLocks noChangeShapeType="1"/>
            </p:cNvSpPr>
            <p:nvPr/>
          </p:nvSpPr>
          <p:spPr bwMode="auto">
            <a:xfrm>
              <a:off x="4283" y="1140"/>
              <a:ext cx="422"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88" name="Line 18"/>
            <p:cNvSpPr>
              <a:spLocks noChangeShapeType="1"/>
            </p:cNvSpPr>
            <p:nvPr/>
          </p:nvSpPr>
          <p:spPr bwMode="auto">
            <a:xfrm>
              <a:off x="4705" y="1140"/>
              <a:ext cx="424"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89" name="Line 19"/>
            <p:cNvSpPr>
              <a:spLocks noChangeShapeType="1"/>
            </p:cNvSpPr>
            <p:nvPr/>
          </p:nvSpPr>
          <p:spPr bwMode="auto">
            <a:xfrm>
              <a:off x="3859" y="1454"/>
              <a:ext cx="424"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90" name="Line 20"/>
            <p:cNvSpPr>
              <a:spLocks noChangeShapeType="1"/>
            </p:cNvSpPr>
            <p:nvPr/>
          </p:nvSpPr>
          <p:spPr bwMode="auto">
            <a:xfrm>
              <a:off x="4283" y="1454"/>
              <a:ext cx="422"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91" name="Line 21"/>
            <p:cNvSpPr>
              <a:spLocks noChangeShapeType="1"/>
            </p:cNvSpPr>
            <p:nvPr/>
          </p:nvSpPr>
          <p:spPr bwMode="auto">
            <a:xfrm>
              <a:off x="4705" y="1454"/>
              <a:ext cx="424"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92" name="Line 22"/>
            <p:cNvSpPr>
              <a:spLocks noChangeShapeType="1"/>
            </p:cNvSpPr>
            <p:nvPr/>
          </p:nvSpPr>
          <p:spPr bwMode="auto">
            <a:xfrm>
              <a:off x="3859" y="1140"/>
              <a:ext cx="0" cy="31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93" name="Line 23"/>
            <p:cNvSpPr>
              <a:spLocks noChangeShapeType="1"/>
            </p:cNvSpPr>
            <p:nvPr/>
          </p:nvSpPr>
          <p:spPr bwMode="auto">
            <a:xfrm>
              <a:off x="4283" y="1140"/>
              <a:ext cx="0" cy="63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94" name="Line 24"/>
            <p:cNvSpPr>
              <a:spLocks noChangeShapeType="1"/>
            </p:cNvSpPr>
            <p:nvPr/>
          </p:nvSpPr>
          <p:spPr bwMode="auto">
            <a:xfrm>
              <a:off x="4705" y="1140"/>
              <a:ext cx="0" cy="63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95" name="Line 25"/>
            <p:cNvSpPr>
              <a:spLocks noChangeShapeType="1"/>
            </p:cNvSpPr>
            <p:nvPr/>
          </p:nvSpPr>
          <p:spPr bwMode="auto">
            <a:xfrm>
              <a:off x="5129" y="1140"/>
              <a:ext cx="0" cy="31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96" name="Line 26"/>
            <p:cNvSpPr>
              <a:spLocks noChangeShapeType="1"/>
            </p:cNvSpPr>
            <p:nvPr/>
          </p:nvSpPr>
          <p:spPr bwMode="auto">
            <a:xfrm>
              <a:off x="3859" y="1140"/>
              <a:ext cx="127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97" name="Line 27"/>
            <p:cNvSpPr>
              <a:spLocks noChangeShapeType="1"/>
            </p:cNvSpPr>
            <p:nvPr/>
          </p:nvSpPr>
          <p:spPr bwMode="auto">
            <a:xfrm>
              <a:off x="3859" y="1454"/>
              <a:ext cx="0" cy="32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98" name="Line 28"/>
            <p:cNvSpPr>
              <a:spLocks noChangeShapeType="1"/>
            </p:cNvSpPr>
            <p:nvPr/>
          </p:nvSpPr>
          <p:spPr bwMode="auto">
            <a:xfrm>
              <a:off x="3859" y="1454"/>
              <a:ext cx="424"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199" name="Line 29"/>
            <p:cNvSpPr>
              <a:spLocks noChangeShapeType="1"/>
            </p:cNvSpPr>
            <p:nvPr/>
          </p:nvSpPr>
          <p:spPr bwMode="auto">
            <a:xfrm>
              <a:off x="3859" y="1774"/>
              <a:ext cx="1270"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00" name="Line 30"/>
            <p:cNvSpPr>
              <a:spLocks noChangeShapeType="1"/>
            </p:cNvSpPr>
            <p:nvPr/>
          </p:nvSpPr>
          <p:spPr bwMode="auto">
            <a:xfrm>
              <a:off x="5129" y="1454"/>
              <a:ext cx="0" cy="32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01" name="Line 31"/>
            <p:cNvSpPr>
              <a:spLocks noChangeShapeType="1"/>
            </p:cNvSpPr>
            <p:nvPr/>
          </p:nvSpPr>
          <p:spPr bwMode="auto">
            <a:xfrm>
              <a:off x="4283" y="1454"/>
              <a:ext cx="846"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cxnSp>
          <p:nvCxnSpPr>
            <p:cNvPr id="202" name="AutoShape 32"/>
            <p:cNvCxnSpPr>
              <a:cxnSpLocks noChangeShapeType="1"/>
              <a:stCxn id="186" idx="0"/>
              <a:endCxn id="187" idx="0"/>
            </p:cNvCxnSpPr>
            <p:nvPr/>
          </p:nvCxnSpPr>
          <p:spPr bwMode="auto">
            <a:xfrm>
              <a:off x="3859" y="1140"/>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3" name="AutoShape 33"/>
            <p:cNvCxnSpPr>
              <a:cxnSpLocks noChangeShapeType="1"/>
              <a:stCxn id="187" idx="0"/>
              <a:endCxn id="188" idx="0"/>
            </p:cNvCxnSpPr>
            <p:nvPr/>
          </p:nvCxnSpPr>
          <p:spPr bwMode="auto">
            <a:xfrm>
              <a:off x="4283" y="1140"/>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4" name="AutoShape 34"/>
            <p:cNvCxnSpPr>
              <a:cxnSpLocks noChangeShapeType="1"/>
              <a:stCxn id="188" idx="0"/>
              <a:endCxn id="195" idx="0"/>
            </p:cNvCxnSpPr>
            <p:nvPr/>
          </p:nvCxnSpPr>
          <p:spPr bwMode="auto">
            <a:xfrm>
              <a:off x="4705" y="1140"/>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 name="AutoShape 35"/>
            <p:cNvCxnSpPr>
              <a:cxnSpLocks noChangeShapeType="1"/>
              <a:stCxn id="189" idx="0"/>
              <a:endCxn id="201" idx="0"/>
            </p:cNvCxnSpPr>
            <p:nvPr/>
          </p:nvCxnSpPr>
          <p:spPr bwMode="auto">
            <a:xfrm>
              <a:off x="3859" y="145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 name="AutoShape 36"/>
            <p:cNvCxnSpPr>
              <a:cxnSpLocks noChangeShapeType="1"/>
              <a:stCxn id="190" idx="0"/>
              <a:endCxn id="201" idx="1"/>
            </p:cNvCxnSpPr>
            <p:nvPr/>
          </p:nvCxnSpPr>
          <p:spPr bwMode="auto">
            <a:xfrm>
              <a:off x="4283" y="1454"/>
              <a:ext cx="846"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 name="AutoShape 37"/>
            <p:cNvCxnSpPr>
              <a:cxnSpLocks noChangeShapeType="1"/>
              <a:stCxn id="190" idx="0"/>
              <a:endCxn id="190" idx="1"/>
            </p:cNvCxnSpPr>
            <p:nvPr/>
          </p:nvCxnSpPr>
          <p:spPr bwMode="auto">
            <a:xfrm>
              <a:off x="4283" y="1454"/>
              <a:ext cx="422" cy="32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 name="AutoShape 38"/>
            <p:cNvCxnSpPr>
              <a:cxnSpLocks noChangeShapeType="1"/>
              <a:stCxn id="186" idx="0"/>
              <a:endCxn id="198" idx="0"/>
            </p:cNvCxnSpPr>
            <p:nvPr/>
          </p:nvCxnSpPr>
          <p:spPr bwMode="auto">
            <a:xfrm>
              <a:off x="3859"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 name="AutoShape 39"/>
            <p:cNvCxnSpPr>
              <a:cxnSpLocks noChangeShapeType="1"/>
              <a:stCxn id="189" idx="0"/>
              <a:endCxn id="197" idx="1"/>
            </p:cNvCxnSpPr>
            <p:nvPr/>
          </p:nvCxnSpPr>
          <p:spPr bwMode="auto">
            <a:xfrm>
              <a:off x="3859"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0" name="AutoShape 40"/>
            <p:cNvCxnSpPr>
              <a:cxnSpLocks noChangeShapeType="1"/>
              <a:stCxn id="187" idx="0"/>
              <a:endCxn id="201" idx="0"/>
            </p:cNvCxnSpPr>
            <p:nvPr/>
          </p:nvCxnSpPr>
          <p:spPr bwMode="auto">
            <a:xfrm>
              <a:off x="4283"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1" name="AutoShape 41"/>
            <p:cNvCxnSpPr>
              <a:cxnSpLocks noChangeShapeType="1"/>
              <a:stCxn id="188" idx="0"/>
              <a:endCxn id="187" idx="1"/>
            </p:cNvCxnSpPr>
            <p:nvPr/>
          </p:nvCxnSpPr>
          <p:spPr bwMode="auto">
            <a:xfrm>
              <a:off x="4705"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2" name="AutoShape 42"/>
            <p:cNvCxnSpPr>
              <a:cxnSpLocks noChangeShapeType="1"/>
              <a:stCxn id="191" idx="0"/>
              <a:endCxn id="194" idx="1"/>
            </p:cNvCxnSpPr>
            <p:nvPr/>
          </p:nvCxnSpPr>
          <p:spPr bwMode="auto">
            <a:xfrm>
              <a:off x="4705"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3" name="AutoShape 43"/>
            <p:cNvCxnSpPr>
              <a:cxnSpLocks noChangeShapeType="1"/>
              <a:stCxn id="193" idx="0"/>
              <a:endCxn id="193" idx="1"/>
            </p:cNvCxnSpPr>
            <p:nvPr/>
          </p:nvCxnSpPr>
          <p:spPr bwMode="auto">
            <a:xfrm>
              <a:off x="4283" y="1140"/>
              <a:ext cx="0" cy="63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 name="AutoShape 44"/>
            <p:cNvCxnSpPr>
              <a:cxnSpLocks noChangeShapeType="1"/>
              <a:stCxn id="198" idx="0"/>
              <a:endCxn id="189" idx="1"/>
            </p:cNvCxnSpPr>
            <p:nvPr/>
          </p:nvCxnSpPr>
          <p:spPr bwMode="auto">
            <a:xfrm>
              <a:off x="3859" y="1454"/>
              <a:ext cx="424" cy="32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5" name="AutoShape 45"/>
            <p:cNvCxnSpPr>
              <a:cxnSpLocks noChangeShapeType="1"/>
              <a:stCxn id="196" idx="0"/>
              <a:endCxn id="186" idx="1"/>
            </p:cNvCxnSpPr>
            <p:nvPr/>
          </p:nvCxnSpPr>
          <p:spPr bwMode="auto">
            <a:xfrm>
              <a:off x="3859" y="1140"/>
              <a:ext cx="424" cy="314"/>
            </a:xfrm>
            <a:prstGeom prst="straightConnector1">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6" name="AutoShape 46"/>
            <p:cNvCxnSpPr>
              <a:cxnSpLocks noChangeShapeType="1"/>
              <a:stCxn id="187" idx="0"/>
              <a:endCxn id="187" idx="1"/>
            </p:cNvCxnSpPr>
            <p:nvPr/>
          </p:nvCxnSpPr>
          <p:spPr bwMode="auto">
            <a:xfrm>
              <a:off x="4283" y="1140"/>
              <a:ext cx="422" cy="3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7" name="AutoShape 47"/>
            <p:cNvCxnSpPr>
              <a:cxnSpLocks noChangeShapeType="1"/>
              <a:stCxn id="191" idx="0"/>
              <a:endCxn id="191" idx="1"/>
            </p:cNvCxnSpPr>
            <p:nvPr/>
          </p:nvCxnSpPr>
          <p:spPr bwMode="auto">
            <a:xfrm>
              <a:off x="4705" y="1454"/>
              <a:ext cx="424" cy="320"/>
            </a:xfrm>
            <a:prstGeom prst="straightConnector1">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8" name="AutoShape 48"/>
            <p:cNvCxnSpPr>
              <a:cxnSpLocks noChangeShapeType="1"/>
              <a:stCxn id="190" idx="1"/>
              <a:endCxn id="199" idx="1"/>
            </p:cNvCxnSpPr>
            <p:nvPr/>
          </p:nvCxnSpPr>
          <p:spPr bwMode="auto">
            <a:xfrm>
              <a:off x="4705" y="177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9" name="AutoShape 49"/>
            <p:cNvCxnSpPr>
              <a:cxnSpLocks noChangeShapeType="1"/>
              <a:stCxn id="201" idx="1"/>
              <a:endCxn id="191" idx="1"/>
            </p:cNvCxnSpPr>
            <p:nvPr/>
          </p:nvCxnSpPr>
          <p:spPr bwMode="auto">
            <a:xfrm>
              <a:off x="5129"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0" name="AutoShape 50"/>
            <p:cNvCxnSpPr>
              <a:cxnSpLocks noChangeShapeType="1"/>
              <a:stCxn id="196" idx="1"/>
              <a:endCxn id="188" idx="1"/>
            </p:cNvCxnSpPr>
            <p:nvPr/>
          </p:nvCxnSpPr>
          <p:spPr bwMode="auto">
            <a:xfrm>
              <a:off x="5129"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1" name="AutoShape 51"/>
            <p:cNvCxnSpPr>
              <a:cxnSpLocks noChangeShapeType="1"/>
              <a:stCxn id="188" idx="0"/>
              <a:endCxn id="188" idx="1"/>
            </p:cNvCxnSpPr>
            <p:nvPr/>
          </p:nvCxnSpPr>
          <p:spPr bwMode="auto">
            <a:xfrm>
              <a:off x="4705" y="1140"/>
              <a:ext cx="424" cy="3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2" name="AutoShape 52"/>
            <p:cNvCxnSpPr>
              <a:cxnSpLocks noChangeShapeType="1"/>
              <a:stCxn id="190" idx="0"/>
              <a:endCxn id="187" idx="1"/>
            </p:cNvCxnSpPr>
            <p:nvPr/>
          </p:nvCxnSpPr>
          <p:spPr bwMode="auto">
            <a:xfrm>
              <a:off x="4283" y="1454"/>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3" name="AutoShape 53"/>
            <p:cNvCxnSpPr>
              <a:cxnSpLocks noChangeShapeType="1"/>
              <a:stCxn id="197" idx="1"/>
              <a:endCxn id="193" idx="1"/>
            </p:cNvCxnSpPr>
            <p:nvPr/>
          </p:nvCxnSpPr>
          <p:spPr bwMode="auto">
            <a:xfrm>
              <a:off x="3859" y="177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4" name="AutoShape 54"/>
            <p:cNvCxnSpPr>
              <a:cxnSpLocks noChangeShapeType="1"/>
              <a:stCxn id="193" idx="1"/>
              <a:endCxn id="194" idx="1"/>
            </p:cNvCxnSpPr>
            <p:nvPr/>
          </p:nvCxnSpPr>
          <p:spPr bwMode="auto">
            <a:xfrm>
              <a:off x="4283" y="1774"/>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 name="Text Box 55"/>
            <p:cNvSpPr txBox="1">
              <a:spLocks noChangeArrowheads="1"/>
            </p:cNvSpPr>
            <p:nvPr/>
          </p:nvSpPr>
          <p:spPr bwMode="auto">
            <a:xfrm>
              <a:off x="4371" y="1773"/>
              <a:ext cx="339"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sz="2400" b="1">
                  <a:latin typeface="Times New Roman" panose="02020603050405020304" pitchFamily="18" charset="0"/>
                  <a:cs typeface="Times New Roman" panose="02020603050405020304" pitchFamily="18" charset="0"/>
                </a:rPr>
                <a:t>G</a:t>
              </a:r>
              <a:endParaRPr lang="en-US" altLang="zh-TW" sz="2400" b="1">
                <a:latin typeface="Times New Roman" panose="02020603050405020304" pitchFamily="18" charset="0"/>
                <a:ea typeface="新細明體" panose="02020500000000000000" pitchFamily="18" charset="-120"/>
                <a:cs typeface="Times New Roman" panose="02020603050405020304" pitchFamily="18" charset="0"/>
              </a:endParaRPr>
            </a:p>
          </p:txBody>
        </p:sp>
      </p:grpSp>
      <p:sp>
        <p:nvSpPr>
          <p:cNvPr id="228" name="Oval 59"/>
          <p:cNvSpPr>
            <a:spLocks noChangeArrowheads="1"/>
          </p:cNvSpPr>
          <p:nvPr/>
        </p:nvSpPr>
        <p:spPr bwMode="auto">
          <a:xfrm>
            <a:off x="7524470" y="5953968"/>
            <a:ext cx="259347" cy="2676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TW" altLang="en-US"/>
          </a:p>
        </p:txBody>
      </p:sp>
      <p:sp>
        <p:nvSpPr>
          <p:cNvPr id="229" name="Oval 59"/>
          <p:cNvSpPr>
            <a:spLocks noChangeArrowheads="1"/>
          </p:cNvSpPr>
          <p:nvPr/>
        </p:nvSpPr>
        <p:spPr bwMode="auto">
          <a:xfrm>
            <a:off x="8045676" y="5953968"/>
            <a:ext cx="259347" cy="2676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TW" altLang="en-US"/>
          </a:p>
        </p:txBody>
      </p:sp>
      <p:sp>
        <p:nvSpPr>
          <p:cNvPr id="230" name="Oval 59"/>
          <p:cNvSpPr>
            <a:spLocks noChangeArrowheads="1"/>
          </p:cNvSpPr>
          <p:nvPr/>
        </p:nvSpPr>
        <p:spPr bwMode="auto">
          <a:xfrm>
            <a:off x="8586333" y="5331956"/>
            <a:ext cx="259347" cy="2676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TW" altLang="en-US"/>
          </a:p>
        </p:txBody>
      </p:sp>
      <p:sp>
        <p:nvSpPr>
          <p:cNvPr id="231" name="Oval 59"/>
          <p:cNvSpPr>
            <a:spLocks noChangeArrowheads="1"/>
          </p:cNvSpPr>
          <p:nvPr/>
        </p:nvSpPr>
        <p:spPr bwMode="auto">
          <a:xfrm>
            <a:off x="8586333" y="5659884"/>
            <a:ext cx="259347" cy="2676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TW" altLang="en-US"/>
          </a:p>
        </p:txBody>
      </p:sp>
      <p:sp>
        <p:nvSpPr>
          <p:cNvPr id="62" name="Oval 59"/>
          <p:cNvSpPr>
            <a:spLocks noChangeArrowheads="1"/>
          </p:cNvSpPr>
          <p:nvPr/>
        </p:nvSpPr>
        <p:spPr bwMode="auto">
          <a:xfrm>
            <a:off x="7020178" y="5956384"/>
            <a:ext cx="259347" cy="2676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TW" altLang="en-US"/>
          </a:p>
        </p:txBody>
      </p:sp>
    </p:spTree>
    <p:extLst>
      <p:ext uri="{BB962C8B-B14F-4D97-AF65-F5344CB8AC3E}">
        <p14:creationId xmlns:p14="http://schemas.microsoft.com/office/powerpoint/2010/main" val="25649375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3"/>
          <a:stretch>
            <a:fillRect/>
          </a:stretch>
        </p:blipFill>
        <p:spPr>
          <a:xfrm>
            <a:off x="0" y="1004467"/>
            <a:ext cx="7285406" cy="5540351"/>
          </a:xfrm>
          <a:prstGeom prst="rect">
            <a:avLst/>
          </a:prstGeom>
        </p:spPr>
      </p:pic>
      <p:sp>
        <p:nvSpPr>
          <p:cNvPr id="2" name="標題 1"/>
          <p:cNvSpPr>
            <a:spLocks noGrp="1"/>
          </p:cNvSpPr>
          <p:nvPr>
            <p:ph type="title"/>
          </p:nvPr>
        </p:nvSpPr>
        <p:spPr>
          <a:xfrm>
            <a:off x="628650" y="-101639"/>
            <a:ext cx="7886700" cy="1325563"/>
          </a:xfrm>
        </p:spPr>
        <p:txBody>
          <a:bodyPr>
            <a:normAutofit/>
          </a:bodyPr>
          <a:lstStyle/>
          <a:p>
            <a:pPr algn="ctr"/>
            <a:r>
              <a:rPr lang="en-US" altLang="zh-TW" dirty="0">
                <a:latin typeface="Times New Roman" panose="02020603050405020304" pitchFamily="18" charset="0"/>
                <a:cs typeface="Times New Roman" panose="02020603050405020304" pitchFamily="18" charset="0"/>
              </a:rPr>
              <a:t>Maintaining direct access scheme</a:t>
            </a:r>
            <a:endParaRPr lang="zh-TW" altLang="en-US" dirty="0">
              <a:latin typeface="Times New Roman" panose="02020603050405020304" pitchFamily="18" charset="0"/>
              <a:cs typeface="Times New Roman" panose="02020603050405020304" pitchFamily="18" charset="0"/>
            </a:endParaRPr>
          </a:p>
        </p:txBody>
      </p:sp>
      <p:sp>
        <p:nvSpPr>
          <p:cNvPr id="169" name="橢圓 168"/>
          <p:cNvSpPr/>
          <p:nvPr/>
        </p:nvSpPr>
        <p:spPr>
          <a:xfrm>
            <a:off x="1832817" y="4492818"/>
            <a:ext cx="731520" cy="20520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Text Box 194"/>
          <p:cNvSpPr txBox="1">
            <a:spLocks noChangeArrowheads="1"/>
          </p:cNvSpPr>
          <p:nvPr/>
        </p:nvSpPr>
        <p:spPr bwMode="auto">
          <a:xfrm>
            <a:off x="1832817" y="6510097"/>
            <a:ext cx="2760662"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pPr>
            <a:r>
              <a:rPr lang="en-US" sz="1800" dirty="0">
                <a:latin typeface="Times New Roman" panose="02020603050405020304" pitchFamily="18" charset="0"/>
                <a:cs typeface="Times New Roman" panose="02020603050405020304" pitchFamily="18" charset="0"/>
              </a:rPr>
              <a:t>New DIST column for (5,4)</a:t>
            </a:r>
            <a:endParaRPr lang="en-US" altLang="zh-TW" sz="1800" dirty="0">
              <a:latin typeface="Times New Roman" panose="02020603050405020304" pitchFamily="18" charset="0"/>
              <a:ea typeface="新細明體" panose="02020500000000000000" pitchFamily="18" charset="-120"/>
              <a:cs typeface="Times New Roman" panose="02020603050405020304" pitchFamily="18"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3326716540"/>
              </p:ext>
            </p:extLst>
          </p:nvPr>
        </p:nvGraphicFramePr>
        <p:xfrm>
          <a:off x="6425184" y="4547616"/>
          <a:ext cx="2529078" cy="2248410"/>
        </p:xfrm>
        <a:graphic>
          <a:graphicData uri="http://schemas.openxmlformats.org/drawingml/2006/table">
            <a:tbl>
              <a:tblPr firstRow="1" bandRow="1">
                <a:tableStyleId>{5940675A-B579-460E-94D1-54222C63F5DA}</a:tableStyleId>
              </a:tblPr>
              <a:tblGrid>
                <a:gridCol w="843026"/>
                <a:gridCol w="843026"/>
                <a:gridCol w="843026"/>
              </a:tblGrid>
              <a:tr h="374735">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endParaRPr lang="zh-TW" altLang="en-US"/>
                    </a:p>
                  </a:txBody>
                  <a:tcPr/>
                </a:tc>
                <a:tc>
                  <a:txBody>
                    <a:bodyPr/>
                    <a:lstStyle/>
                    <a:p>
                      <a:pPr algn="ctr"/>
                      <a:endParaRPr lang="zh-TW" altLang="en-US" dirty="0"/>
                    </a:p>
                  </a:txBody>
                  <a:tcPr/>
                </a:tc>
              </a:tr>
              <a:tr h="374735">
                <a:tc>
                  <a:txBody>
                    <a:bodyPr/>
                    <a:lstStyle/>
                    <a:p>
                      <a:pPr algn="ctr"/>
                      <a:r>
                        <a:rPr lang="en-US" altLang="zh-TW" dirty="0" smtClean="0"/>
                        <a:t>-3</a:t>
                      </a: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r>
              <a:tr h="374735">
                <a:tc>
                  <a:txBody>
                    <a:bodyPr/>
                    <a:lstStyle/>
                    <a:p>
                      <a:pPr algn="ctr"/>
                      <a:r>
                        <a:rPr lang="en-US" altLang="zh-TW" dirty="0" smtClean="0"/>
                        <a:t>-1</a:t>
                      </a:r>
                      <a:endParaRPr lang="zh-TW" altLang="en-US" dirty="0"/>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r>
              <a:tr h="374735">
                <a:tc>
                  <a:txBody>
                    <a:bodyPr/>
                    <a:lstStyle/>
                    <a:p>
                      <a:pPr algn="ctr"/>
                      <a:r>
                        <a:rPr lang="en-US" altLang="zh-TW" dirty="0" smtClean="0"/>
                        <a:t>-3</a:t>
                      </a:r>
                      <a:endParaRPr lang="zh-TW" altLang="en-US" dirty="0"/>
                    </a:p>
                  </a:txBody>
                  <a:tcPr/>
                </a:tc>
                <a:tc>
                  <a:txBody>
                    <a:bodyPr/>
                    <a:lstStyle/>
                    <a:p>
                      <a:pPr algn="ctr"/>
                      <a:r>
                        <a:rPr lang="en-US" altLang="zh-TW" dirty="0" smtClean="0">
                          <a:solidFill>
                            <a:srgbClr val="FF0000"/>
                          </a:solidFill>
                        </a:rPr>
                        <a:t>0</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r>
              <a:tr h="374735">
                <a:tc>
                  <a:txBody>
                    <a:bodyPr/>
                    <a:lstStyle/>
                    <a:p>
                      <a:pPr algn="ctr"/>
                      <a:r>
                        <a:rPr lang="en-US" altLang="zh-TW" dirty="0" smtClean="0"/>
                        <a:t>-3</a:t>
                      </a:r>
                      <a:endParaRPr lang="zh-TW" altLang="en-US" dirty="0"/>
                    </a:p>
                  </a:txBody>
                  <a:tcPr/>
                </a:tc>
                <a:tc>
                  <a:txBody>
                    <a:bodyPr/>
                    <a:lstStyle/>
                    <a:p>
                      <a:pPr algn="ctr"/>
                      <a:r>
                        <a:rPr lang="en-US" altLang="zh-TW" dirty="0" smtClean="0">
                          <a:solidFill>
                            <a:srgbClr val="FF0000"/>
                          </a:solidFill>
                        </a:rPr>
                        <a:t>0</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r>
              <a:tr h="374735">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r>
            </a:tbl>
          </a:graphicData>
        </a:graphic>
      </p:graphicFrame>
      <p:grpSp>
        <p:nvGrpSpPr>
          <p:cNvPr id="6" name="群組 5"/>
          <p:cNvGrpSpPr/>
          <p:nvPr/>
        </p:nvGrpSpPr>
        <p:grpSpPr>
          <a:xfrm>
            <a:off x="6789286" y="2771180"/>
            <a:ext cx="2222185" cy="1290892"/>
            <a:chOff x="4172903" y="4992497"/>
            <a:chExt cx="2222185" cy="1290892"/>
          </a:xfrm>
        </p:grpSpPr>
        <p:grpSp>
          <p:nvGrpSpPr>
            <p:cNvPr id="7" name="Group 152"/>
            <p:cNvGrpSpPr>
              <a:grpSpLocks/>
            </p:cNvGrpSpPr>
            <p:nvPr/>
          </p:nvGrpSpPr>
          <p:grpSpPr bwMode="auto">
            <a:xfrm>
              <a:off x="4172903" y="4992497"/>
              <a:ext cx="2130361" cy="1290892"/>
              <a:chOff x="3435" y="825"/>
              <a:chExt cx="1694" cy="1240"/>
            </a:xfrm>
          </p:grpSpPr>
          <p:sp>
            <p:nvSpPr>
              <p:cNvPr id="8" name="Rectangle 4"/>
              <p:cNvSpPr>
                <a:spLocks noChangeArrowheads="1"/>
              </p:cNvSpPr>
              <p:nvPr/>
            </p:nvSpPr>
            <p:spPr bwMode="auto">
              <a:xfrm>
                <a:off x="4705" y="1454"/>
                <a:ext cx="42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9" name="Rectangle 5"/>
              <p:cNvSpPr>
                <a:spLocks noChangeArrowheads="1"/>
              </p:cNvSpPr>
              <p:nvPr/>
            </p:nvSpPr>
            <p:spPr bwMode="auto">
              <a:xfrm>
                <a:off x="4283" y="1454"/>
                <a:ext cx="422" cy="320"/>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0" name="Rectangle 6"/>
              <p:cNvSpPr>
                <a:spLocks noChangeArrowheads="1"/>
              </p:cNvSpPr>
              <p:nvPr/>
            </p:nvSpPr>
            <p:spPr bwMode="auto">
              <a:xfrm>
                <a:off x="3859" y="1454"/>
                <a:ext cx="424" cy="320"/>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1" name="Rectangle 7"/>
              <p:cNvSpPr>
                <a:spLocks noChangeArrowheads="1"/>
              </p:cNvSpPr>
              <p:nvPr/>
            </p:nvSpPr>
            <p:spPr bwMode="auto">
              <a:xfrm>
                <a:off x="3435" y="1454"/>
                <a:ext cx="42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g</a:t>
                </a:r>
                <a:endParaRPr lang="en-US" altLang="zh-TW" sz="2000" b="1">
                  <a:ea typeface="新細明體" panose="02020500000000000000" pitchFamily="18" charset="-120"/>
                  <a:cs typeface="Times New Roman" panose="02020603050405020304" pitchFamily="18" charset="0"/>
                </a:endParaRPr>
              </a:p>
            </p:txBody>
          </p:sp>
          <p:sp>
            <p:nvSpPr>
              <p:cNvPr id="12" name="Rectangle 8"/>
              <p:cNvSpPr>
                <a:spLocks noChangeArrowheads="1"/>
              </p:cNvSpPr>
              <p:nvPr/>
            </p:nvSpPr>
            <p:spPr bwMode="auto">
              <a:xfrm>
                <a:off x="4705" y="1140"/>
                <a:ext cx="424"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3" name="Rectangle 9"/>
              <p:cNvSpPr>
                <a:spLocks noChangeArrowheads="1"/>
              </p:cNvSpPr>
              <p:nvPr/>
            </p:nvSpPr>
            <p:spPr bwMode="auto">
              <a:xfrm>
                <a:off x="4283" y="1140"/>
                <a:ext cx="422" cy="31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4" name="Rectangle 10"/>
              <p:cNvSpPr>
                <a:spLocks noChangeArrowheads="1"/>
              </p:cNvSpPr>
              <p:nvPr/>
            </p:nvSpPr>
            <p:spPr bwMode="auto">
              <a:xfrm>
                <a:off x="3859" y="1140"/>
                <a:ext cx="424" cy="31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15" name="Rectangle 11"/>
              <p:cNvSpPr>
                <a:spLocks noChangeArrowheads="1"/>
              </p:cNvSpPr>
              <p:nvPr/>
            </p:nvSpPr>
            <p:spPr bwMode="auto">
              <a:xfrm>
                <a:off x="3435" y="1140"/>
                <a:ext cx="424"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a</a:t>
                </a:r>
                <a:endParaRPr lang="en-US" altLang="zh-TW" sz="2000" b="1">
                  <a:ea typeface="新細明體" panose="02020500000000000000" pitchFamily="18" charset="-120"/>
                  <a:cs typeface="Times New Roman" panose="02020603050405020304" pitchFamily="18" charset="0"/>
                </a:endParaRPr>
              </a:p>
            </p:txBody>
          </p:sp>
          <p:sp>
            <p:nvSpPr>
              <p:cNvPr id="16" name="Rectangle 12"/>
              <p:cNvSpPr>
                <a:spLocks noChangeArrowheads="1"/>
              </p:cNvSpPr>
              <p:nvPr/>
            </p:nvSpPr>
            <p:spPr bwMode="auto">
              <a:xfrm>
                <a:off x="4705"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g</a:t>
                </a:r>
                <a:endParaRPr lang="en-US" altLang="zh-TW" sz="2000" b="1">
                  <a:ea typeface="新細明體" panose="02020500000000000000" pitchFamily="18" charset="-120"/>
                  <a:cs typeface="Times New Roman" panose="02020603050405020304" pitchFamily="18" charset="0"/>
                </a:endParaRPr>
              </a:p>
            </p:txBody>
          </p:sp>
          <p:sp>
            <p:nvSpPr>
              <p:cNvPr id="17" name="Rectangle 13"/>
              <p:cNvSpPr>
                <a:spLocks noChangeArrowheads="1"/>
              </p:cNvSpPr>
              <p:nvPr/>
            </p:nvSpPr>
            <p:spPr bwMode="auto">
              <a:xfrm>
                <a:off x="4283" y="825"/>
                <a:ext cx="422"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c</a:t>
                </a:r>
                <a:endParaRPr lang="en-US" altLang="zh-TW" sz="2000" b="1">
                  <a:ea typeface="新細明體" panose="02020500000000000000" pitchFamily="18" charset="-120"/>
                  <a:cs typeface="Times New Roman" panose="02020603050405020304" pitchFamily="18" charset="0"/>
                </a:endParaRPr>
              </a:p>
            </p:txBody>
          </p:sp>
          <p:sp>
            <p:nvSpPr>
              <p:cNvPr id="18" name="Rectangle 14"/>
              <p:cNvSpPr>
                <a:spLocks noChangeArrowheads="1"/>
              </p:cNvSpPr>
              <p:nvPr/>
            </p:nvSpPr>
            <p:spPr bwMode="auto">
              <a:xfrm>
                <a:off x="3859"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lgn="ctr">
                  <a:buFontTx/>
                  <a:buNone/>
                </a:pPr>
                <a:r>
                  <a:rPr lang="en-US" sz="2000" b="1">
                    <a:cs typeface="Times New Roman" panose="02020603050405020304" pitchFamily="18" charset="0"/>
                  </a:rPr>
                  <a:t>a</a:t>
                </a:r>
                <a:endParaRPr lang="en-US" altLang="zh-TW" sz="2000" b="1">
                  <a:ea typeface="新細明體" panose="02020500000000000000" pitchFamily="18" charset="-120"/>
                  <a:cs typeface="Times New Roman" panose="02020603050405020304" pitchFamily="18" charset="0"/>
                </a:endParaRPr>
              </a:p>
            </p:txBody>
          </p:sp>
          <p:sp>
            <p:nvSpPr>
              <p:cNvPr id="19" name="Rectangle 15"/>
              <p:cNvSpPr>
                <a:spLocks noChangeArrowheads="1"/>
              </p:cNvSpPr>
              <p:nvPr/>
            </p:nvSpPr>
            <p:spPr bwMode="auto">
              <a:xfrm>
                <a:off x="3435" y="825"/>
                <a:ext cx="424"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buChar char="•"/>
                  <a:defRPr sz="2800">
                    <a:solidFill>
                      <a:schemeClr val="tx1"/>
                    </a:solidFill>
                    <a:latin typeface="Times New Roman" panose="02020603050405020304" pitchFamily="18" charset="0"/>
                    <a:cs typeface="Times New Roman (Hebrew)" charset="-79"/>
                  </a:defRPr>
                </a:lvl1pPr>
                <a:lvl2pPr>
                  <a:buChar char="–"/>
                  <a:defRPr sz="2400">
                    <a:solidFill>
                      <a:schemeClr val="tx1"/>
                    </a:solidFill>
                    <a:latin typeface="Times New Roman" panose="02020603050405020304" pitchFamily="18" charset="0"/>
                    <a:cs typeface="Times New Roman (Hebrew)" charset="-79"/>
                  </a:defRPr>
                </a:lvl2pPr>
                <a:lvl3pPr>
                  <a:buChar char="•"/>
                  <a:defRPr sz="2000">
                    <a:solidFill>
                      <a:schemeClr val="tx1"/>
                    </a:solidFill>
                    <a:latin typeface="Times New Roman" panose="02020603050405020304" pitchFamily="18" charset="0"/>
                    <a:cs typeface="Times New Roman (Hebrew)" charset="-79"/>
                  </a:defRPr>
                </a:lvl3pPr>
                <a:lvl4pPr>
                  <a:buChar char="–"/>
                  <a:defRPr>
                    <a:solidFill>
                      <a:schemeClr val="tx1"/>
                    </a:solidFill>
                    <a:latin typeface="Times New Roman" panose="02020603050405020304" pitchFamily="18" charset="0"/>
                    <a:cs typeface="Times New Roman (Hebrew)" charset="-79"/>
                  </a:defRPr>
                </a:lvl4pPr>
                <a:lvl5pPr>
                  <a:buChar cha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buChar char="»"/>
                  <a:defRPr>
                    <a:solidFill>
                      <a:schemeClr val="tx1"/>
                    </a:solidFill>
                    <a:latin typeface="Times New Roman" panose="02020603050405020304" pitchFamily="18" charset="0"/>
                    <a:cs typeface="Times New Roman (Hebrew)" charset="-79"/>
                  </a:defRPr>
                </a:lvl9pPr>
              </a:lstStyle>
              <a:p>
                <a:pPr>
                  <a:buFontTx/>
                  <a:buNone/>
                </a:pPr>
                <a:endParaRPr lang="en-US" sz="1600">
                  <a:cs typeface="Times New Roman" panose="02020603050405020304" pitchFamily="18" charset="0"/>
                </a:endParaRPr>
              </a:p>
            </p:txBody>
          </p:sp>
          <p:sp>
            <p:nvSpPr>
              <p:cNvPr id="20" name="Line 16"/>
              <p:cNvSpPr>
                <a:spLocks noChangeShapeType="1"/>
              </p:cNvSpPr>
              <p:nvPr/>
            </p:nvSpPr>
            <p:spPr bwMode="auto">
              <a:xfrm>
                <a:off x="3859" y="1140"/>
                <a:ext cx="424"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1" name="Line 17"/>
              <p:cNvSpPr>
                <a:spLocks noChangeShapeType="1"/>
              </p:cNvSpPr>
              <p:nvPr/>
            </p:nvSpPr>
            <p:spPr bwMode="auto">
              <a:xfrm>
                <a:off x="4283" y="1140"/>
                <a:ext cx="422"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2" name="Line 18"/>
              <p:cNvSpPr>
                <a:spLocks noChangeShapeType="1"/>
              </p:cNvSpPr>
              <p:nvPr/>
            </p:nvSpPr>
            <p:spPr bwMode="auto">
              <a:xfrm>
                <a:off x="4705" y="1140"/>
                <a:ext cx="424" cy="314"/>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3" name="Line 19"/>
              <p:cNvSpPr>
                <a:spLocks noChangeShapeType="1"/>
              </p:cNvSpPr>
              <p:nvPr/>
            </p:nvSpPr>
            <p:spPr bwMode="auto">
              <a:xfrm>
                <a:off x="3859" y="1454"/>
                <a:ext cx="424"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4" name="Line 20"/>
              <p:cNvSpPr>
                <a:spLocks noChangeShapeType="1"/>
              </p:cNvSpPr>
              <p:nvPr/>
            </p:nvSpPr>
            <p:spPr bwMode="auto">
              <a:xfrm>
                <a:off x="4283" y="1454"/>
                <a:ext cx="422"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5" name="Line 21"/>
              <p:cNvSpPr>
                <a:spLocks noChangeShapeType="1"/>
              </p:cNvSpPr>
              <p:nvPr/>
            </p:nvSpPr>
            <p:spPr bwMode="auto">
              <a:xfrm>
                <a:off x="4705" y="1454"/>
                <a:ext cx="424" cy="320"/>
              </a:xfrm>
              <a:prstGeom prst="line">
                <a:avLst/>
              </a:prstGeom>
              <a:noFill/>
              <a:ln w="12700" cap="rnd">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6" name="Line 22"/>
              <p:cNvSpPr>
                <a:spLocks noChangeShapeType="1"/>
              </p:cNvSpPr>
              <p:nvPr/>
            </p:nvSpPr>
            <p:spPr bwMode="auto">
              <a:xfrm>
                <a:off x="3859" y="1140"/>
                <a:ext cx="0" cy="31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7" name="Line 23"/>
              <p:cNvSpPr>
                <a:spLocks noChangeShapeType="1"/>
              </p:cNvSpPr>
              <p:nvPr/>
            </p:nvSpPr>
            <p:spPr bwMode="auto">
              <a:xfrm>
                <a:off x="4283" y="1140"/>
                <a:ext cx="0" cy="63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8" name="Line 24"/>
              <p:cNvSpPr>
                <a:spLocks noChangeShapeType="1"/>
              </p:cNvSpPr>
              <p:nvPr/>
            </p:nvSpPr>
            <p:spPr bwMode="auto">
              <a:xfrm>
                <a:off x="4705" y="1140"/>
                <a:ext cx="0" cy="63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29" name="Line 25"/>
              <p:cNvSpPr>
                <a:spLocks noChangeShapeType="1"/>
              </p:cNvSpPr>
              <p:nvPr/>
            </p:nvSpPr>
            <p:spPr bwMode="auto">
              <a:xfrm>
                <a:off x="5129" y="1140"/>
                <a:ext cx="0" cy="31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30" name="Line 26"/>
              <p:cNvSpPr>
                <a:spLocks noChangeShapeType="1"/>
              </p:cNvSpPr>
              <p:nvPr/>
            </p:nvSpPr>
            <p:spPr bwMode="auto">
              <a:xfrm>
                <a:off x="3859" y="1140"/>
                <a:ext cx="127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31" name="Line 27"/>
              <p:cNvSpPr>
                <a:spLocks noChangeShapeType="1"/>
              </p:cNvSpPr>
              <p:nvPr/>
            </p:nvSpPr>
            <p:spPr bwMode="auto">
              <a:xfrm>
                <a:off x="3859" y="1454"/>
                <a:ext cx="0" cy="32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32" name="Line 28"/>
              <p:cNvSpPr>
                <a:spLocks noChangeShapeType="1"/>
              </p:cNvSpPr>
              <p:nvPr/>
            </p:nvSpPr>
            <p:spPr bwMode="auto">
              <a:xfrm>
                <a:off x="3859" y="1454"/>
                <a:ext cx="424"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33" name="Line 29"/>
              <p:cNvSpPr>
                <a:spLocks noChangeShapeType="1"/>
              </p:cNvSpPr>
              <p:nvPr/>
            </p:nvSpPr>
            <p:spPr bwMode="auto">
              <a:xfrm>
                <a:off x="3859" y="1774"/>
                <a:ext cx="1270"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34" name="Line 30"/>
              <p:cNvSpPr>
                <a:spLocks noChangeShapeType="1"/>
              </p:cNvSpPr>
              <p:nvPr/>
            </p:nvSpPr>
            <p:spPr bwMode="auto">
              <a:xfrm>
                <a:off x="5129" y="1454"/>
                <a:ext cx="0" cy="32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sp>
            <p:nvSpPr>
              <p:cNvPr id="35" name="Line 31"/>
              <p:cNvSpPr>
                <a:spLocks noChangeShapeType="1"/>
              </p:cNvSpPr>
              <p:nvPr/>
            </p:nvSpPr>
            <p:spPr bwMode="auto">
              <a:xfrm>
                <a:off x="4283" y="1454"/>
                <a:ext cx="846" cy="0"/>
              </a:xfrm>
              <a:prstGeom prst="line">
                <a:avLst/>
              </a:prstGeom>
              <a:noFill/>
              <a:ln w="127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TW" altLang="en-US">
                  <a:latin typeface="Times New Roman" panose="02020603050405020304" pitchFamily="18" charset="0"/>
                  <a:cs typeface="Times New Roman" panose="02020603050405020304" pitchFamily="18" charset="0"/>
                </a:endParaRPr>
              </a:p>
            </p:txBody>
          </p:sp>
          <p:cxnSp>
            <p:nvCxnSpPr>
              <p:cNvPr id="36" name="AutoShape 32"/>
              <p:cNvCxnSpPr>
                <a:cxnSpLocks noChangeShapeType="1"/>
                <a:stCxn id="20" idx="0"/>
                <a:endCxn id="21" idx="0"/>
              </p:cNvCxnSpPr>
              <p:nvPr/>
            </p:nvCxnSpPr>
            <p:spPr bwMode="auto">
              <a:xfrm>
                <a:off x="3859" y="1140"/>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AutoShape 33"/>
              <p:cNvCxnSpPr>
                <a:cxnSpLocks noChangeShapeType="1"/>
                <a:stCxn id="21" idx="0"/>
                <a:endCxn id="22" idx="0"/>
              </p:cNvCxnSpPr>
              <p:nvPr/>
            </p:nvCxnSpPr>
            <p:spPr bwMode="auto">
              <a:xfrm>
                <a:off x="4283" y="1140"/>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AutoShape 34"/>
              <p:cNvCxnSpPr>
                <a:cxnSpLocks noChangeShapeType="1"/>
                <a:stCxn id="22" idx="0"/>
                <a:endCxn id="29" idx="0"/>
              </p:cNvCxnSpPr>
              <p:nvPr/>
            </p:nvCxnSpPr>
            <p:spPr bwMode="auto">
              <a:xfrm>
                <a:off x="4705" y="1140"/>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35"/>
              <p:cNvCxnSpPr>
                <a:cxnSpLocks noChangeShapeType="1"/>
                <a:stCxn id="23" idx="0"/>
                <a:endCxn id="35" idx="0"/>
              </p:cNvCxnSpPr>
              <p:nvPr/>
            </p:nvCxnSpPr>
            <p:spPr bwMode="auto">
              <a:xfrm>
                <a:off x="3859" y="145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36"/>
              <p:cNvCxnSpPr>
                <a:cxnSpLocks noChangeShapeType="1"/>
                <a:stCxn id="24" idx="0"/>
                <a:endCxn id="35" idx="1"/>
              </p:cNvCxnSpPr>
              <p:nvPr/>
            </p:nvCxnSpPr>
            <p:spPr bwMode="auto">
              <a:xfrm>
                <a:off x="4283" y="1454"/>
                <a:ext cx="846"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37"/>
              <p:cNvCxnSpPr>
                <a:cxnSpLocks noChangeShapeType="1"/>
                <a:stCxn id="24" idx="0"/>
                <a:endCxn id="24" idx="1"/>
              </p:cNvCxnSpPr>
              <p:nvPr/>
            </p:nvCxnSpPr>
            <p:spPr bwMode="auto">
              <a:xfrm>
                <a:off x="4283" y="1454"/>
                <a:ext cx="422" cy="32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AutoShape 38"/>
              <p:cNvCxnSpPr>
                <a:cxnSpLocks noChangeShapeType="1"/>
                <a:stCxn id="20" idx="0"/>
                <a:endCxn id="32" idx="0"/>
              </p:cNvCxnSpPr>
              <p:nvPr/>
            </p:nvCxnSpPr>
            <p:spPr bwMode="auto">
              <a:xfrm>
                <a:off x="3859"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AutoShape 39"/>
              <p:cNvCxnSpPr>
                <a:cxnSpLocks noChangeShapeType="1"/>
                <a:stCxn id="23" idx="0"/>
                <a:endCxn id="31" idx="1"/>
              </p:cNvCxnSpPr>
              <p:nvPr/>
            </p:nvCxnSpPr>
            <p:spPr bwMode="auto">
              <a:xfrm>
                <a:off x="3859"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AutoShape 40"/>
              <p:cNvCxnSpPr>
                <a:cxnSpLocks noChangeShapeType="1"/>
                <a:stCxn id="21" idx="0"/>
                <a:endCxn id="35" idx="0"/>
              </p:cNvCxnSpPr>
              <p:nvPr/>
            </p:nvCxnSpPr>
            <p:spPr bwMode="auto">
              <a:xfrm>
                <a:off x="4283"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AutoShape 41"/>
              <p:cNvCxnSpPr>
                <a:cxnSpLocks noChangeShapeType="1"/>
                <a:stCxn id="22" idx="0"/>
                <a:endCxn id="21" idx="1"/>
              </p:cNvCxnSpPr>
              <p:nvPr/>
            </p:nvCxnSpPr>
            <p:spPr bwMode="auto">
              <a:xfrm>
                <a:off x="4705"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AutoShape 42"/>
              <p:cNvCxnSpPr>
                <a:cxnSpLocks noChangeShapeType="1"/>
                <a:stCxn id="25" idx="0"/>
                <a:endCxn id="28" idx="1"/>
              </p:cNvCxnSpPr>
              <p:nvPr/>
            </p:nvCxnSpPr>
            <p:spPr bwMode="auto">
              <a:xfrm>
                <a:off x="4705"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AutoShape 43"/>
              <p:cNvCxnSpPr>
                <a:cxnSpLocks noChangeShapeType="1"/>
                <a:stCxn id="27" idx="0"/>
                <a:endCxn id="27" idx="1"/>
              </p:cNvCxnSpPr>
              <p:nvPr/>
            </p:nvCxnSpPr>
            <p:spPr bwMode="auto">
              <a:xfrm>
                <a:off x="4283" y="1140"/>
                <a:ext cx="0" cy="63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AutoShape 44"/>
              <p:cNvCxnSpPr>
                <a:cxnSpLocks noChangeShapeType="1"/>
                <a:stCxn id="32" idx="0"/>
                <a:endCxn id="23" idx="1"/>
              </p:cNvCxnSpPr>
              <p:nvPr/>
            </p:nvCxnSpPr>
            <p:spPr bwMode="auto">
              <a:xfrm>
                <a:off x="3859" y="1454"/>
                <a:ext cx="424" cy="320"/>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45"/>
              <p:cNvCxnSpPr>
                <a:cxnSpLocks noChangeShapeType="1"/>
                <a:stCxn id="30" idx="0"/>
                <a:endCxn id="20" idx="1"/>
              </p:cNvCxnSpPr>
              <p:nvPr/>
            </p:nvCxnSpPr>
            <p:spPr bwMode="auto">
              <a:xfrm>
                <a:off x="3859" y="1140"/>
                <a:ext cx="424" cy="314"/>
              </a:xfrm>
              <a:prstGeom prst="straightConnector1">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46"/>
              <p:cNvCxnSpPr>
                <a:cxnSpLocks noChangeShapeType="1"/>
                <a:stCxn id="21" idx="0"/>
                <a:endCxn id="21" idx="1"/>
              </p:cNvCxnSpPr>
              <p:nvPr/>
            </p:nvCxnSpPr>
            <p:spPr bwMode="auto">
              <a:xfrm>
                <a:off x="4283" y="1140"/>
                <a:ext cx="422" cy="3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47"/>
              <p:cNvCxnSpPr>
                <a:cxnSpLocks noChangeShapeType="1"/>
                <a:stCxn id="25" idx="0"/>
                <a:endCxn id="25" idx="1"/>
              </p:cNvCxnSpPr>
              <p:nvPr/>
            </p:nvCxnSpPr>
            <p:spPr bwMode="auto">
              <a:xfrm>
                <a:off x="4705" y="1454"/>
                <a:ext cx="424" cy="320"/>
              </a:xfrm>
              <a:prstGeom prst="straightConnector1">
                <a:avLst/>
              </a:prstGeom>
              <a:noFill/>
              <a:ln w="317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48"/>
              <p:cNvCxnSpPr>
                <a:cxnSpLocks noChangeShapeType="1"/>
                <a:stCxn id="24" idx="1"/>
                <a:endCxn id="33" idx="1"/>
              </p:cNvCxnSpPr>
              <p:nvPr/>
            </p:nvCxnSpPr>
            <p:spPr bwMode="auto">
              <a:xfrm>
                <a:off x="4705" y="177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49"/>
              <p:cNvCxnSpPr>
                <a:cxnSpLocks noChangeShapeType="1"/>
                <a:stCxn id="35" idx="1"/>
                <a:endCxn id="25" idx="1"/>
              </p:cNvCxnSpPr>
              <p:nvPr/>
            </p:nvCxnSpPr>
            <p:spPr bwMode="auto">
              <a:xfrm>
                <a:off x="5129" y="1454"/>
                <a:ext cx="0" cy="32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50"/>
              <p:cNvCxnSpPr>
                <a:cxnSpLocks noChangeShapeType="1"/>
                <a:stCxn id="30" idx="1"/>
                <a:endCxn id="22" idx="1"/>
              </p:cNvCxnSpPr>
              <p:nvPr/>
            </p:nvCxnSpPr>
            <p:spPr bwMode="auto">
              <a:xfrm>
                <a:off x="5129" y="1140"/>
                <a:ext cx="0" cy="314"/>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51"/>
              <p:cNvCxnSpPr>
                <a:cxnSpLocks noChangeShapeType="1"/>
                <a:stCxn id="22" idx="0"/>
                <a:endCxn id="22" idx="1"/>
              </p:cNvCxnSpPr>
              <p:nvPr/>
            </p:nvCxnSpPr>
            <p:spPr bwMode="auto">
              <a:xfrm>
                <a:off x="4705" y="1140"/>
                <a:ext cx="424" cy="314"/>
              </a:xfrm>
              <a:prstGeom prst="straightConnector1">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52"/>
              <p:cNvCxnSpPr>
                <a:cxnSpLocks noChangeShapeType="1"/>
                <a:stCxn id="24" idx="0"/>
                <a:endCxn id="21" idx="1"/>
              </p:cNvCxnSpPr>
              <p:nvPr/>
            </p:nvCxnSpPr>
            <p:spPr bwMode="auto">
              <a:xfrm>
                <a:off x="4283" y="1454"/>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53"/>
              <p:cNvCxnSpPr>
                <a:cxnSpLocks noChangeShapeType="1"/>
                <a:stCxn id="31" idx="1"/>
                <a:endCxn id="27" idx="1"/>
              </p:cNvCxnSpPr>
              <p:nvPr/>
            </p:nvCxnSpPr>
            <p:spPr bwMode="auto">
              <a:xfrm>
                <a:off x="3859" y="1774"/>
                <a:ext cx="424"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AutoShape 54"/>
              <p:cNvCxnSpPr>
                <a:cxnSpLocks noChangeShapeType="1"/>
                <a:stCxn id="27" idx="1"/>
                <a:endCxn id="28" idx="1"/>
              </p:cNvCxnSpPr>
              <p:nvPr/>
            </p:nvCxnSpPr>
            <p:spPr bwMode="auto">
              <a:xfrm>
                <a:off x="4283" y="1774"/>
                <a:ext cx="422"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Text Box 55"/>
              <p:cNvSpPr txBox="1">
                <a:spLocks noChangeArrowheads="1"/>
              </p:cNvSpPr>
              <p:nvPr/>
            </p:nvSpPr>
            <p:spPr bwMode="auto">
              <a:xfrm>
                <a:off x="4371" y="1773"/>
                <a:ext cx="339"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sz="2400" b="1">
                    <a:latin typeface="Times New Roman" panose="02020603050405020304" pitchFamily="18" charset="0"/>
                    <a:cs typeface="Times New Roman" panose="02020603050405020304" pitchFamily="18" charset="0"/>
                  </a:rPr>
                  <a:t>G</a:t>
                </a:r>
                <a:endParaRPr lang="en-US" altLang="zh-TW" sz="2400" b="1">
                  <a:latin typeface="Times New Roman" panose="02020603050405020304" pitchFamily="18" charset="0"/>
                  <a:ea typeface="新細明體" panose="02020500000000000000" pitchFamily="18" charset="-120"/>
                  <a:cs typeface="Times New Roman" panose="02020603050405020304" pitchFamily="18" charset="0"/>
                </a:endParaRPr>
              </a:p>
            </p:txBody>
          </p:sp>
        </p:grpSp>
        <p:sp>
          <p:nvSpPr>
            <p:cNvPr id="60" name="Oval 59"/>
            <p:cNvSpPr>
              <a:spLocks noChangeArrowheads="1"/>
            </p:cNvSpPr>
            <p:nvPr/>
          </p:nvSpPr>
          <p:spPr bwMode="auto">
            <a:xfrm>
              <a:off x="5073878" y="5807664"/>
              <a:ext cx="259347" cy="2676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TW" altLang="en-US"/>
            </a:p>
          </p:txBody>
        </p:sp>
        <p:sp>
          <p:nvSpPr>
            <p:cNvPr id="61" name="Oval 59"/>
            <p:cNvSpPr>
              <a:spLocks noChangeArrowheads="1"/>
            </p:cNvSpPr>
            <p:nvPr/>
          </p:nvSpPr>
          <p:spPr bwMode="auto">
            <a:xfrm>
              <a:off x="5595084" y="5807664"/>
              <a:ext cx="259347" cy="2676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TW" altLang="en-US"/>
            </a:p>
          </p:txBody>
        </p:sp>
        <p:sp>
          <p:nvSpPr>
            <p:cNvPr id="62" name="Oval 59"/>
            <p:cNvSpPr>
              <a:spLocks noChangeArrowheads="1"/>
            </p:cNvSpPr>
            <p:nvPr/>
          </p:nvSpPr>
          <p:spPr bwMode="auto">
            <a:xfrm>
              <a:off x="6135741" y="5185652"/>
              <a:ext cx="259347" cy="2676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TW" altLang="en-US"/>
            </a:p>
          </p:txBody>
        </p:sp>
        <p:sp>
          <p:nvSpPr>
            <p:cNvPr id="63" name="Oval 59"/>
            <p:cNvSpPr>
              <a:spLocks noChangeArrowheads="1"/>
            </p:cNvSpPr>
            <p:nvPr/>
          </p:nvSpPr>
          <p:spPr bwMode="auto">
            <a:xfrm>
              <a:off x="6135741" y="5513580"/>
              <a:ext cx="259347" cy="2676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TW" altLang="en-US"/>
            </a:p>
          </p:txBody>
        </p:sp>
        <p:sp>
          <p:nvSpPr>
            <p:cNvPr id="64" name="Oval 59"/>
            <p:cNvSpPr>
              <a:spLocks noChangeArrowheads="1"/>
            </p:cNvSpPr>
            <p:nvPr/>
          </p:nvSpPr>
          <p:spPr bwMode="auto">
            <a:xfrm>
              <a:off x="4569586" y="5810080"/>
              <a:ext cx="259347" cy="2676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TW" altLang="en-US"/>
            </a:p>
          </p:txBody>
        </p:sp>
      </p:grpSp>
    </p:spTree>
    <p:extLst>
      <p:ext uri="{BB962C8B-B14F-4D97-AF65-F5344CB8AC3E}">
        <p14:creationId xmlns:p14="http://schemas.microsoft.com/office/powerpoint/2010/main" val="25232585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835658" y="-430823"/>
            <a:ext cx="7113270" cy="1325563"/>
          </a:xfrm>
        </p:spPr>
        <p:txBody>
          <a:bodyPr>
            <a:normAutofit/>
          </a:bodyPr>
          <a:lstStyle/>
          <a:p>
            <a:pPr algn="ctr"/>
            <a:r>
              <a:rPr lang="en-US" altLang="zh-TW" dirty="0" smtClean="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2" name="內容版面配置區 2"/>
              <p:cNvSpPr>
                <a:spLocks noGrp="1"/>
              </p:cNvSpPr>
              <p:nvPr>
                <p:ph idx="1"/>
              </p:nvPr>
            </p:nvSpPr>
            <p:spPr>
              <a:xfrm>
                <a:off x="107061" y="421480"/>
                <a:ext cx="8710422" cy="4351338"/>
              </a:xfrm>
            </p:spPr>
            <p:txBody>
              <a:bodyPr>
                <a:noAutofit/>
              </a:bodyPr>
              <a:lstStyle/>
              <a:p>
                <a:pPr marL="0" indent="0">
                  <a:spcBef>
                    <a:spcPct val="50000"/>
                  </a:spcBef>
                  <a:buNone/>
                </a:pPr>
                <a:r>
                  <a:rPr lang="en-US" altLang="zh-TW" sz="2400" dirty="0" smtClean="0">
                    <a:latin typeface="Times New Roman" panose="02020603050405020304" pitchFamily="18" charset="0"/>
                    <a:cs typeface="Times New Roman" panose="02020603050405020304" pitchFamily="18" charset="0"/>
                  </a:rPr>
                  <a:t>LZ78 factorization </a:t>
                </a:r>
                <a:r>
                  <a:rPr lang="en-US" altLang="zh-TW" sz="2400" dirty="0">
                    <a:latin typeface="Times New Roman" panose="02020603050405020304" pitchFamily="18" charset="0"/>
                    <a:cs typeface="Times New Roman" panose="02020603050405020304" pitchFamily="18" charset="0"/>
                  </a:rPr>
                  <a:t>algorithm – O(n).</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Number of phrases in both A and B – O(</a:t>
                </a:r>
                <a:r>
                  <a:rPr lang="en-US" altLang="zh-TW" sz="2400" dirty="0" err="1">
                    <a:latin typeface="Times New Roman" panose="02020603050405020304" pitchFamily="18" charset="0"/>
                    <a:cs typeface="Times New Roman" panose="02020603050405020304" pitchFamily="18" charset="0"/>
                  </a:rPr>
                  <a:t>hn</a:t>
                </a:r>
                <a:r>
                  <a:rPr lang="en-US" altLang="zh-TW" sz="2400" dirty="0">
                    <a:latin typeface="Times New Roman" panose="02020603050405020304" pitchFamily="18" charset="0"/>
                    <a:cs typeface="Times New Roman" panose="02020603050405020304" pitchFamily="18" charset="0"/>
                  </a:rPr>
                  <a:t>/log n).</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Number of blocks in the alignment graph – </a:t>
                </a:r>
                <a:r>
                  <a:rPr lang="en-US" altLang="zh-TW" sz="2400" dirty="0" smtClean="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altLang="zh-TW" sz="2400" i="1">
                            <a:latin typeface="Cambria Math" panose="02040503050406030204" pitchFamily="18" charset="0"/>
                            <a:cs typeface="Times New Roman" panose="02020603050405020304" pitchFamily="18" charset="0"/>
                          </a:rPr>
                        </m:ctrlPr>
                      </m:sSupPr>
                      <m:e>
                        <m:r>
                          <a:rPr lang="en-US" altLang="zh-TW" sz="2400" i="1">
                            <a:latin typeface="Cambria Math" panose="02040503050406030204" pitchFamily="18" charset="0"/>
                            <a:cs typeface="Times New Roman" panose="02020603050405020304" pitchFamily="18" charset="0"/>
                          </a:rPr>
                          <m:t>h</m:t>
                        </m:r>
                      </m:e>
                      <m:sup>
                        <m:r>
                          <a:rPr lang="en-US" altLang="zh-TW" sz="2400" i="1">
                            <a:latin typeface="Cambria Math" panose="02040503050406030204" pitchFamily="18" charset="0"/>
                            <a:cs typeface="Times New Roman" panose="02020603050405020304" pitchFamily="18" charset="0"/>
                          </a:rPr>
                          <m:t>2</m:t>
                        </m:r>
                      </m:sup>
                    </m:sSup>
                    <m:sSup>
                      <m:sSupPr>
                        <m:ctrlPr>
                          <a:rPr lang="en-US" altLang="zh-TW" sz="2400" i="1">
                            <a:latin typeface="Cambria Math" panose="02040503050406030204" pitchFamily="18" charset="0"/>
                            <a:cs typeface="Times New Roman" panose="02020603050405020304" pitchFamily="18" charset="0"/>
                          </a:rPr>
                        </m:ctrlPr>
                      </m:sSupPr>
                      <m:e>
                        <m:r>
                          <a:rPr lang="en-US" altLang="zh-TW" sz="2400" b="0" i="1" smtClean="0">
                            <a:latin typeface="Cambria Math" panose="02040503050406030204" pitchFamily="18" charset="0"/>
                            <a:cs typeface="Times New Roman" panose="02020603050405020304" pitchFamily="18" charset="0"/>
                          </a:rPr>
                          <m:t>𝑛</m:t>
                        </m:r>
                      </m:e>
                      <m:sup>
                        <m:r>
                          <a:rPr lang="en-US" altLang="zh-TW" sz="2400" i="1">
                            <a:latin typeface="Cambria Math" panose="02040503050406030204" pitchFamily="18" charset="0"/>
                            <a:cs typeface="Times New Roman" panose="02020603050405020304" pitchFamily="18" charset="0"/>
                          </a:rPr>
                          <m:t>2</m:t>
                        </m:r>
                      </m:sup>
                    </m:sSup>
                  </m:oMath>
                </a14:m>
                <a:r>
                  <a:rPr lang="en-US" altLang="zh-TW" sz="2400" dirty="0" smtClean="0">
                    <a:latin typeface="Times New Roman" panose="02020603050405020304" pitchFamily="18" charset="0"/>
                    <a:cs typeface="Times New Roman" panose="02020603050405020304" pitchFamily="18" charset="0"/>
                  </a:rPr>
                  <a:t>/</a:t>
                </a:r>
                <a14:m>
                  <m:oMath xmlns:m="http://schemas.openxmlformats.org/officeDocument/2006/math">
                    <m:sSup>
                      <m:sSupPr>
                        <m:ctrlPr>
                          <a:rPr lang="en-US" altLang="zh-TW" sz="2400" i="1">
                            <a:latin typeface="Cambria Math" panose="02040503050406030204" pitchFamily="18" charset="0"/>
                            <a:cs typeface="Times New Roman" panose="02020603050405020304" pitchFamily="18" charset="0"/>
                          </a:rPr>
                        </m:ctrlPr>
                      </m:sSupPr>
                      <m:e>
                        <m:r>
                          <m:rPr>
                            <m:nor/>
                          </m:rPr>
                          <a:rPr lang="en-US" altLang="zh-TW" sz="2400" dirty="0">
                            <a:latin typeface="Times New Roman" panose="02020603050405020304" pitchFamily="18" charset="0"/>
                            <a:cs typeface="Times New Roman" panose="02020603050405020304" pitchFamily="18" charset="0"/>
                          </a:rPr>
                          <m:t>(</m:t>
                        </m:r>
                        <m:r>
                          <m:rPr>
                            <m:nor/>
                          </m:rPr>
                          <a:rPr lang="en-US" altLang="zh-TW" sz="2400" dirty="0">
                            <a:latin typeface="Times New Roman" panose="02020603050405020304" pitchFamily="18" charset="0"/>
                            <a:cs typeface="Times New Roman" panose="02020603050405020304" pitchFamily="18" charset="0"/>
                          </a:rPr>
                          <m:t>log</m:t>
                        </m:r>
                        <m:r>
                          <m:rPr>
                            <m:nor/>
                          </m:rPr>
                          <a:rPr lang="en-US" altLang="zh-TW" sz="2400" dirty="0">
                            <a:latin typeface="Times New Roman" panose="02020603050405020304" pitchFamily="18" charset="0"/>
                            <a:cs typeface="Times New Roman" panose="02020603050405020304" pitchFamily="18" charset="0"/>
                          </a:rPr>
                          <m:t> </m:t>
                        </m:r>
                        <m:r>
                          <m:rPr>
                            <m:nor/>
                          </m:rPr>
                          <a:rPr lang="en-US" altLang="zh-TW" sz="2400" dirty="0">
                            <a:latin typeface="Times New Roman" panose="02020603050405020304" pitchFamily="18" charset="0"/>
                            <a:cs typeface="Times New Roman" panose="02020603050405020304" pitchFamily="18" charset="0"/>
                          </a:rPr>
                          <m:t>n</m:t>
                        </m:r>
                        <m:r>
                          <m:rPr>
                            <m:nor/>
                          </m:rPr>
                          <a:rPr lang="en-US" altLang="zh-TW" sz="2400" dirty="0">
                            <a:latin typeface="Times New Roman" panose="02020603050405020304" pitchFamily="18" charset="0"/>
                            <a:cs typeface="Times New Roman" panose="02020603050405020304" pitchFamily="18" charset="0"/>
                          </a:rPr>
                          <m:t>)</m:t>
                        </m:r>
                      </m:e>
                      <m:sup>
                        <m:r>
                          <a:rPr lang="en-US" altLang="zh-TW" sz="2400" i="1">
                            <a:latin typeface="Cambria Math" panose="02040503050406030204" pitchFamily="18" charset="0"/>
                            <a:cs typeface="Times New Roman" panose="02020603050405020304" pitchFamily="18" charset="0"/>
                          </a:rPr>
                          <m:t>2</m:t>
                        </m:r>
                      </m:sup>
                    </m:sSup>
                  </m:oMath>
                </a14:m>
                <a:r>
                  <a:rPr lang="en-US" altLang="zh-TW" sz="2400" dirty="0">
                    <a:latin typeface="Times New Roman" panose="02020603050405020304" pitchFamily="18" charset="0"/>
                    <a:cs typeface="Times New Roman" panose="02020603050405020304" pitchFamily="18" charset="0"/>
                  </a:rPr>
                  <a:t>)</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For each block:</a:t>
                </a:r>
              </a:p>
              <a:p>
                <a:pPr marL="457200" indent="-457200">
                  <a:spcBef>
                    <a:spcPct val="50000"/>
                  </a:spcBef>
                  <a:buAutoNum type="arabicPeriod"/>
                </a:pPr>
                <a:r>
                  <a:rPr lang="en-US" altLang="zh-TW" sz="2400" dirty="0" smtClean="0">
                    <a:solidFill>
                      <a:srgbClr val="FF0000"/>
                    </a:solidFill>
                    <a:latin typeface="Times New Roman" panose="02020603050405020304" pitchFamily="18" charset="0"/>
                    <a:cs typeface="Times New Roman" panose="02020603050405020304" pitchFamily="18" charset="0"/>
                  </a:rPr>
                  <a:t>Updating </a:t>
                </a:r>
                <a:r>
                  <a:rPr lang="en-US" altLang="zh-TW" sz="2400" dirty="0">
                    <a:solidFill>
                      <a:srgbClr val="FF0000"/>
                    </a:solidFill>
                    <a:latin typeface="Times New Roman" panose="02020603050405020304" pitchFamily="18" charset="0"/>
                    <a:cs typeface="Times New Roman" panose="02020603050405020304" pitchFamily="18" charset="0"/>
                  </a:rPr>
                  <a:t>the encoding structure for G </a:t>
                </a:r>
                <a:r>
                  <a:rPr lang="en-US" altLang="zh-TW" sz="2400" dirty="0">
                    <a:latin typeface="Times New Roman" panose="02020603050405020304" pitchFamily="18" charset="0"/>
                    <a:cs typeface="Times New Roman" panose="02020603050405020304" pitchFamily="18" charset="0"/>
                  </a:rPr>
                  <a:t>– Since each entry of the new DIST column for G is set to </a:t>
                </a:r>
                <a:r>
                  <a:rPr lang="en-US" altLang="zh-TW" sz="2400" dirty="0" smtClean="0">
                    <a:latin typeface="Times New Roman" panose="02020603050405020304" pitchFamily="18" charset="0"/>
                    <a:cs typeface="Times New Roman" panose="02020603050405020304" pitchFamily="18" charset="0"/>
                  </a:rPr>
                  <a:t>the maximum </a:t>
                </a:r>
                <a:r>
                  <a:rPr lang="en-US" altLang="zh-TW" sz="2400" dirty="0">
                    <a:latin typeface="Times New Roman" panose="02020603050405020304" pitchFamily="18" charset="0"/>
                    <a:cs typeface="Times New Roman" panose="02020603050405020304" pitchFamily="18" charset="0"/>
                  </a:rPr>
                  <a:t>among up to three sums of pairs, the new DIST column for G </a:t>
                </a:r>
                <a:r>
                  <a:rPr lang="en-US" altLang="zh-TW" sz="2400" dirty="0" smtClean="0">
                    <a:latin typeface="Times New Roman" panose="02020603050405020304" pitchFamily="18" charset="0"/>
                    <a:cs typeface="Times New Roman" panose="02020603050405020304" pitchFamily="18" charset="0"/>
                  </a:rPr>
                  <a:t>can be </a:t>
                </a:r>
                <a:r>
                  <a:rPr lang="en-US" altLang="zh-TW" sz="2400" dirty="0">
                    <a:latin typeface="Times New Roman" panose="02020603050405020304" pitchFamily="18" charset="0"/>
                    <a:cs typeface="Times New Roman" panose="02020603050405020304" pitchFamily="18" charset="0"/>
                  </a:rPr>
                  <a:t>constructed in O(t) time and space</a:t>
                </a:r>
                <a:r>
                  <a:rPr lang="en-US" altLang="zh-TW" sz="2400" dirty="0" smtClean="0">
                    <a:latin typeface="Times New Roman" panose="02020603050405020304" pitchFamily="18" charset="0"/>
                    <a:cs typeface="Times New Roman" panose="02020603050405020304" pitchFamily="18" charset="0"/>
                  </a:rPr>
                  <a:t>. </a:t>
                </a:r>
              </a:p>
              <a:p>
                <a:pPr marL="457200" indent="-457200">
                  <a:spcBef>
                    <a:spcPct val="50000"/>
                  </a:spcBef>
                  <a:buAutoNum type="arabicPeriod"/>
                </a:pPr>
                <a:r>
                  <a:rPr lang="en-US" altLang="zh-TW" sz="2400" dirty="0" smtClean="0">
                    <a:solidFill>
                      <a:srgbClr val="FF0000"/>
                    </a:solidFill>
                    <a:latin typeface="Times New Roman" panose="02020603050405020304" pitchFamily="18" charset="0"/>
                    <a:cs typeface="Times New Roman" panose="02020603050405020304" pitchFamily="18" charset="0"/>
                  </a:rPr>
                  <a:t>Maintaining direct access to DIST columns </a:t>
                </a:r>
                <a:r>
                  <a:rPr lang="en-US" altLang="zh-TW" sz="2400" dirty="0">
                    <a:latin typeface="Times New Roman" panose="02020603050405020304" pitchFamily="18" charset="0"/>
                    <a:cs typeface="Times New Roman" panose="02020603050405020304" pitchFamily="18" charset="0"/>
                  </a:rPr>
                  <a:t>– Since preﬁx blocks </a:t>
                </a:r>
                <a:r>
                  <a:rPr lang="en-US" altLang="zh-TW" sz="2400" dirty="0" smtClean="0">
                    <a:latin typeface="Times New Roman" panose="02020603050405020304" pitchFamily="18" charset="0"/>
                    <a:cs typeface="Times New Roman" panose="02020603050405020304" pitchFamily="18" charset="0"/>
                  </a:rPr>
                  <a:t> and their DIST </a:t>
                </a:r>
                <a:r>
                  <a:rPr lang="en-US" altLang="zh-TW" sz="2400" dirty="0">
                    <a:latin typeface="Times New Roman" panose="02020603050405020304" pitchFamily="18" charset="0"/>
                    <a:cs typeface="Times New Roman" panose="02020603050405020304" pitchFamily="18" charset="0"/>
                  </a:rPr>
                  <a:t>columns can be accessed in constant time, the </a:t>
                </a:r>
                <a:r>
                  <a:rPr lang="en-US" altLang="zh-TW" sz="2400" dirty="0" smtClean="0">
                    <a:latin typeface="Times New Roman" panose="02020603050405020304" pitchFamily="18" charset="0"/>
                    <a:cs typeface="Times New Roman" panose="02020603050405020304" pitchFamily="18" charset="0"/>
                  </a:rPr>
                  <a:t>vector with pointers to columns of the DIST for G can be set in O(t).</a:t>
                </a:r>
              </a:p>
              <a:p>
                <a:pPr marL="457200" indent="-457200">
                  <a:spcBef>
                    <a:spcPct val="50000"/>
                  </a:spcBef>
                  <a:buAutoNum type="arabicPeriod"/>
                </a:pPr>
                <a:r>
                  <a:rPr lang="en-US" altLang="zh-TW" sz="2400" dirty="0" smtClean="0">
                    <a:solidFill>
                      <a:srgbClr val="FF0000"/>
                    </a:solidFill>
                    <a:latin typeface="Times New Roman" panose="02020603050405020304" pitchFamily="18" charset="0"/>
                    <a:cs typeface="Times New Roman" panose="02020603050405020304" pitchFamily="18" charset="0"/>
                  </a:rPr>
                  <a:t>Propagating </a:t>
                </a:r>
                <a:r>
                  <a:rPr lang="en-US" altLang="zh-TW" sz="2400" dirty="0">
                    <a:solidFill>
                      <a:srgbClr val="FF0000"/>
                    </a:solidFill>
                    <a:latin typeface="Times New Roman" panose="02020603050405020304" pitchFamily="18" charset="0"/>
                    <a:cs typeface="Times New Roman" panose="02020603050405020304" pitchFamily="18" charset="0"/>
                  </a:rPr>
                  <a:t>I/O values across the block </a:t>
                </a:r>
                <a:r>
                  <a:rPr lang="en-US" altLang="zh-TW" sz="2400" dirty="0">
                    <a:latin typeface="Times New Roman" panose="02020603050405020304" pitchFamily="18" charset="0"/>
                    <a:cs typeface="Times New Roman" panose="02020603050405020304" pitchFamily="18" charset="0"/>
                  </a:rPr>
                  <a:t>– </a:t>
                </a:r>
                <a:r>
                  <a:rPr lang="en-US" altLang="zh-TW" sz="2400" dirty="0" smtClean="0">
                    <a:latin typeface="Times New Roman" panose="02020603050405020304" pitchFamily="18" charset="0"/>
                    <a:cs typeface="Times New Roman" panose="02020603050405020304" pitchFamily="18" charset="0"/>
                  </a:rPr>
                  <a:t>Given the </a:t>
                </a:r>
                <a:r>
                  <a:rPr lang="en-US" altLang="zh-TW" sz="2400" dirty="0">
                    <a:latin typeface="Times New Roman" panose="02020603050405020304" pitchFamily="18" charset="0"/>
                    <a:cs typeface="Times New Roman" panose="02020603050405020304" pitchFamily="18" charset="0"/>
                  </a:rPr>
                  <a:t>I for G obtained from the O vectors for the block </a:t>
                </a:r>
                <a:r>
                  <a:rPr lang="en-US" altLang="zh-TW" sz="2400" dirty="0" smtClean="0">
                    <a:latin typeface="Times New Roman" panose="02020603050405020304" pitchFamily="18" charset="0"/>
                    <a:cs typeface="Times New Roman" panose="02020603050405020304" pitchFamily="18" charset="0"/>
                  </a:rPr>
                  <a:t>above G </a:t>
                </a:r>
                <a:r>
                  <a:rPr lang="en-US" altLang="zh-TW" sz="2400" dirty="0">
                    <a:latin typeface="Times New Roman" panose="02020603050405020304" pitchFamily="18" charset="0"/>
                    <a:cs typeface="Times New Roman" panose="02020603050405020304" pitchFamily="18" charset="0"/>
                  </a:rPr>
                  <a:t>and the block to its left, the values of O for G are computed via </a:t>
                </a:r>
                <a:r>
                  <a:rPr lang="en-US" altLang="zh-TW" sz="2400" dirty="0" smtClean="0">
                    <a:latin typeface="Times New Roman" panose="02020603050405020304" pitchFamily="18" charset="0"/>
                    <a:cs typeface="Times New Roman" panose="02020603050405020304" pitchFamily="18" charset="0"/>
                  </a:rPr>
                  <a:t>SMAWK matrix </a:t>
                </a:r>
                <a:r>
                  <a:rPr lang="en-US" altLang="zh-TW" sz="2400" dirty="0">
                    <a:latin typeface="Times New Roman" panose="02020603050405020304" pitchFamily="18" charset="0"/>
                    <a:cs typeface="Times New Roman" panose="02020603050405020304" pitchFamily="18" charset="0"/>
                  </a:rPr>
                  <a:t>searching in O(t) time.</a:t>
                </a:r>
              </a:p>
            </p:txBody>
          </p:sp>
        </mc:Choice>
        <mc:Fallback xmlns="">
          <p:sp>
            <p:nvSpPr>
              <p:cNvPr id="152" name="內容版面配置區 2"/>
              <p:cNvSpPr>
                <a:spLocks noGrp="1" noRot="1" noChangeAspect="1" noMove="1" noResize="1" noEditPoints="1" noAdjustHandles="1" noChangeArrowheads="1" noChangeShapeType="1" noTextEdit="1"/>
              </p:cNvSpPr>
              <p:nvPr>
                <p:ph idx="1"/>
              </p:nvPr>
            </p:nvSpPr>
            <p:spPr>
              <a:xfrm>
                <a:off x="107061" y="421480"/>
                <a:ext cx="8710422" cy="4351338"/>
              </a:xfrm>
              <a:blipFill rotWithShape="0">
                <a:blip r:embed="rId3"/>
                <a:stretch>
                  <a:fillRect l="-1120" t="-1961" r="-1401" b="-5252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791893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57671"/>
            <a:ext cx="7886700" cy="1325563"/>
          </a:xfrm>
        </p:spPr>
        <p:txBody>
          <a:bodyPr>
            <a:normAutofit/>
          </a:bodyPr>
          <a:lstStyle/>
          <a:p>
            <a:pPr algn="ctr"/>
            <a:r>
              <a:rPr lang="en-US" altLang="zh-TW" dirty="0" smtClean="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52" name="內容版面配置區 2"/>
              <p:cNvSpPr>
                <a:spLocks noGrp="1"/>
              </p:cNvSpPr>
              <p:nvPr>
                <p:ph idx="1"/>
              </p:nvPr>
            </p:nvSpPr>
            <p:spPr>
              <a:xfrm>
                <a:off x="216789" y="677512"/>
                <a:ext cx="8710422" cy="4351338"/>
              </a:xfrm>
            </p:spPr>
            <p:txBody>
              <a:bodyPr>
                <a:noAutofit/>
              </a:bodyPr>
              <a:lstStyle/>
              <a:p>
                <a:pPr marL="0" indent="0">
                  <a:spcBef>
                    <a:spcPct val="50000"/>
                  </a:spcBef>
                  <a:buNone/>
                </a:pPr>
                <a:r>
                  <a:rPr lang="en-US" altLang="zh-TW" sz="2400" dirty="0" smtClean="0">
                    <a:latin typeface="Times New Roman" panose="02020603050405020304" pitchFamily="18" charset="0"/>
                    <a:cs typeface="Times New Roman" panose="02020603050405020304" pitchFamily="18" charset="0"/>
                  </a:rPr>
                  <a:t>Total </a:t>
                </a:r>
                <a:r>
                  <a:rPr lang="en-US" altLang="zh-TW" sz="2400" dirty="0">
                    <a:latin typeface="Times New Roman" panose="02020603050405020304" pitchFamily="18" charset="0"/>
                    <a:cs typeface="Times New Roman" panose="02020603050405020304" pitchFamily="18" charset="0"/>
                  </a:rPr>
                  <a:t>complexity – since the work for every block is linear with its I/O borders, the total complexity is linear with the total size of the borders of the blocks. In the alignment graph there are O(</a:t>
                </a:r>
                <a:r>
                  <a:rPr lang="en-US" altLang="zh-TW" sz="2400" dirty="0" err="1">
                    <a:latin typeface="Times New Roman" panose="02020603050405020304" pitchFamily="18" charset="0"/>
                    <a:cs typeface="Times New Roman" panose="02020603050405020304" pitchFamily="18" charset="0"/>
                  </a:rPr>
                  <a:t>hn</a:t>
                </a:r>
                <a:r>
                  <a:rPr lang="en-US" altLang="zh-TW" sz="2400" dirty="0">
                    <a:latin typeface="Times New Roman" panose="02020603050405020304" pitchFamily="18" charset="0"/>
                    <a:cs typeface="Times New Roman" panose="02020603050405020304" pitchFamily="18" charset="0"/>
                  </a:rPr>
                  <a:t>/log n) rows of size |B|, and O(</a:t>
                </a:r>
                <a:r>
                  <a:rPr lang="en-US" altLang="zh-TW" sz="2400" dirty="0" err="1">
                    <a:latin typeface="Times New Roman" panose="02020603050405020304" pitchFamily="18" charset="0"/>
                    <a:cs typeface="Times New Roman" panose="02020603050405020304" pitchFamily="18" charset="0"/>
                  </a:rPr>
                  <a:t>hn</a:t>
                </a:r>
                <a:r>
                  <a:rPr lang="en-US" altLang="zh-TW" sz="2400" dirty="0">
                    <a:latin typeface="Times New Roman" panose="02020603050405020304" pitchFamily="18" charset="0"/>
                    <a:cs typeface="Times New Roman" panose="02020603050405020304" pitchFamily="18" charset="0"/>
                  </a:rPr>
                  <a:t>/log n) columns of size |A</a:t>
                </a:r>
                <a:r>
                  <a:rPr lang="en-US" altLang="zh-TW" sz="2400" dirty="0" smtClean="0">
                    <a:latin typeface="Times New Roman" panose="02020603050405020304" pitchFamily="18" charset="0"/>
                    <a:cs typeface="Times New Roman" panose="02020603050405020304" pitchFamily="18" charset="0"/>
                  </a:rPr>
                  <a:t>|.</a:t>
                </a:r>
              </a:p>
              <a:p>
                <a:pPr marL="0" indent="0">
                  <a:spcBef>
                    <a:spcPct val="50000"/>
                  </a:spcBef>
                  <a:buNone/>
                </a:pPr>
                <a:r>
                  <a:rPr lang="en-US" altLang="zh-TW" sz="2400" dirty="0" smtClean="0">
                    <a:latin typeface="Times New Roman" panose="02020603050405020304" pitchFamily="18" charset="0"/>
                    <a:cs typeface="Times New Roman" panose="02020603050405020304" pitchFamily="18" charset="0"/>
                  </a:rPr>
                  <a:t>Therefore</a:t>
                </a:r>
                <a:r>
                  <a:rPr lang="en-US" altLang="zh-TW" sz="2400" dirty="0">
                    <a:latin typeface="Times New Roman" panose="02020603050405020304" pitchFamily="18" charset="0"/>
                    <a:cs typeface="Times New Roman" panose="02020603050405020304" pitchFamily="18" charset="0"/>
                  </a:rPr>
                  <a:t>, the total complexity is </a:t>
                </a:r>
                <a:r>
                  <a:rPr lang="en-US" altLang="zh-TW" sz="2400" dirty="0" smtClean="0">
                    <a:solidFill>
                      <a:srgbClr val="FF0000"/>
                    </a:solidFill>
                    <a:latin typeface="Times New Roman" panose="02020603050405020304" pitchFamily="18" charset="0"/>
                    <a:cs typeface="Times New Roman" panose="02020603050405020304" pitchFamily="18" charset="0"/>
                  </a:rPr>
                  <a:t>O(h</a:t>
                </a:r>
                <a14:m>
                  <m:oMath xmlns:m="http://schemas.openxmlformats.org/officeDocument/2006/math">
                    <m:sSup>
                      <m:sSupPr>
                        <m:ctrlPr>
                          <a:rPr lang="en-US" altLang="zh-TW" sz="2400" i="1">
                            <a:solidFill>
                              <a:srgbClr val="FF0000"/>
                            </a:solidFill>
                            <a:latin typeface="Cambria Math" panose="02040503050406030204" pitchFamily="18" charset="0"/>
                            <a:cs typeface="Times New Roman" panose="02020603050405020304" pitchFamily="18" charset="0"/>
                          </a:rPr>
                        </m:ctrlPr>
                      </m:sSupPr>
                      <m:e>
                        <m:r>
                          <a:rPr lang="en-US" altLang="zh-TW" sz="2400" i="1">
                            <a:solidFill>
                              <a:srgbClr val="FF0000"/>
                            </a:solidFill>
                            <a:latin typeface="Cambria Math" panose="02040503050406030204" pitchFamily="18" charset="0"/>
                            <a:cs typeface="Times New Roman" panose="02020603050405020304" pitchFamily="18" charset="0"/>
                          </a:rPr>
                          <m:t>𝑛</m:t>
                        </m:r>
                      </m:e>
                      <m:sup>
                        <m:r>
                          <a:rPr lang="en-US" altLang="zh-TW" sz="2400" i="1">
                            <a:solidFill>
                              <a:srgbClr val="FF0000"/>
                            </a:solidFill>
                            <a:latin typeface="Cambria Math" panose="02040503050406030204" pitchFamily="18" charset="0"/>
                            <a:cs typeface="Times New Roman" panose="02020603050405020304" pitchFamily="18" charset="0"/>
                          </a:rPr>
                          <m:t>2</m:t>
                        </m:r>
                      </m:sup>
                    </m:sSup>
                  </m:oMath>
                </a14:m>
                <a:r>
                  <a:rPr lang="en-US" altLang="zh-TW" sz="2400" dirty="0">
                    <a:solidFill>
                      <a:srgbClr val="FF0000"/>
                    </a:solidFill>
                    <a:latin typeface="Times New Roman" panose="02020603050405020304" pitchFamily="18" charset="0"/>
                    <a:cs typeface="Times New Roman" panose="02020603050405020304" pitchFamily="18" charset="0"/>
                  </a:rPr>
                  <a:t>/(log n)).</a:t>
                </a:r>
              </a:p>
            </p:txBody>
          </p:sp>
        </mc:Choice>
        <mc:Fallback>
          <p:sp>
            <p:nvSpPr>
              <p:cNvPr id="152" name="內容版面配置區 2"/>
              <p:cNvSpPr>
                <a:spLocks noGrp="1" noRot="1" noChangeAspect="1" noMove="1" noResize="1" noEditPoints="1" noAdjustHandles="1" noChangeArrowheads="1" noChangeShapeType="1" noTextEdit="1"/>
              </p:cNvSpPr>
              <p:nvPr>
                <p:ph idx="1"/>
              </p:nvPr>
            </p:nvSpPr>
            <p:spPr>
              <a:xfrm>
                <a:off x="216789" y="677512"/>
                <a:ext cx="8710422" cy="4351338"/>
              </a:xfrm>
              <a:blipFill rotWithShape="0">
                <a:blip r:embed="rId3"/>
                <a:stretch>
                  <a:fillRect l="-1120" t="-196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 name="文字方塊 4"/>
              <p:cNvSpPr txBox="1"/>
              <p:nvPr/>
            </p:nvSpPr>
            <p:spPr>
              <a:xfrm>
                <a:off x="3767329" y="4203613"/>
                <a:ext cx="5803392" cy="1299074"/>
              </a:xfrm>
              <a:prstGeom prst="rect">
                <a:avLst/>
              </a:prstGeom>
              <a:noFill/>
            </p:spPr>
            <p:txBody>
              <a:bodyPr wrap="square" rtlCol="0">
                <a:spAutoFit/>
              </a:bodyPr>
              <a:lstStyle/>
              <a:p>
                <a:r>
                  <a:rPr lang="zh-TW" altLang="en-US" sz="4000" dirty="0" smtClean="0">
                    <a:latin typeface="Times New Roman" panose="02020603050405020304" pitchFamily="18" charset="0"/>
                    <a:cs typeface="Times New Roman" panose="02020603050405020304" pitchFamily="18" charset="0"/>
                  </a:rPr>
                  <a:t> </a:t>
                </a:r>
                <a14:m>
                  <m:oMath xmlns:m="http://schemas.openxmlformats.org/officeDocument/2006/math">
                    <m:f>
                      <m:fPr>
                        <m:ctrlPr>
                          <a:rPr lang="en-US" altLang="zh-TW" sz="4000" i="1" dirty="0" smtClean="0">
                            <a:latin typeface="Cambria Math" panose="02040503050406030204" pitchFamily="18" charset="0"/>
                          </a:rPr>
                        </m:ctrlPr>
                      </m:fPr>
                      <m:num>
                        <m:sSup>
                          <m:sSupPr>
                            <m:ctrlPr>
                              <a:rPr lang="en-US" altLang="zh-TW" sz="4000" i="1">
                                <a:latin typeface="Cambria Math" panose="02040503050406030204" pitchFamily="18" charset="0"/>
                                <a:cs typeface="Times New Roman" panose="02020603050405020304" pitchFamily="18" charset="0"/>
                              </a:rPr>
                            </m:ctrlPr>
                          </m:sSupPr>
                          <m:e>
                            <m:r>
                              <a:rPr lang="en-US" altLang="zh-TW" sz="4000" i="1">
                                <a:latin typeface="Cambria Math" panose="02040503050406030204" pitchFamily="18" charset="0"/>
                                <a:cs typeface="Times New Roman" panose="02020603050405020304" pitchFamily="18" charset="0"/>
                              </a:rPr>
                              <m:t>h</m:t>
                            </m:r>
                          </m:e>
                          <m:sup>
                            <m:r>
                              <a:rPr lang="en-US" altLang="zh-TW" sz="4000" i="1">
                                <a:latin typeface="Cambria Math" panose="02040503050406030204" pitchFamily="18" charset="0"/>
                                <a:cs typeface="Times New Roman" panose="02020603050405020304" pitchFamily="18" charset="0"/>
                              </a:rPr>
                              <m:t>2</m:t>
                            </m:r>
                          </m:sup>
                        </m:sSup>
                        <m:sSup>
                          <m:sSupPr>
                            <m:ctrlPr>
                              <a:rPr lang="en-US" altLang="zh-TW" sz="4000" i="1">
                                <a:latin typeface="Cambria Math" panose="02040503050406030204" pitchFamily="18" charset="0"/>
                                <a:cs typeface="Times New Roman" panose="02020603050405020304" pitchFamily="18" charset="0"/>
                              </a:rPr>
                            </m:ctrlPr>
                          </m:sSupPr>
                          <m:e>
                            <m:r>
                              <a:rPr lang="en-US" altLang="zh-TW" sz="4000" i="1">
                                <a:latin typeface="Cambria Math" panose="02040503050406030204" pitchFamily="18" charset="0"/>
                                <a:cs typeface="Times New Roman" panose="02020603050405020304" pitchFamily="18" charset="0"/>
                              </a:rPr>
                              <m:t>𝑛</m:t>
                            </m:r>
                          </m:e>
                          <m:sup>
                            <m:r>
                              <a:rPr lang="en-US" altLang="zh-TW" sz="4000" i="1">
                                <a:latin typeface="Cambria Math" panose="02040503050406030204" pitchFamily="18" charset="0"/>
                                <a:cs typeface="Times New Roman" panose="02020603050405020304" pitchFamily="18" charset="0"/>
                              </a:rPr>
                              <m:t>2</m:t>
                            </m:r>
                          </m:sup>
                        </m:sSup>
                      </m:num>
                      <m:den>
                        <m:sSup>
                          <m:sSupPr>
                            <m:ctrlPr>
                              <a:rPr lang="en-US" altLang="zh-TW" sz="4000" i="1">
                                <a:latin typeface="Cambria Math" panose="02040503050406030204" pitchFamily="18" charset="0"/>
                                <a:cs typeface="Times New Roman" panose="02020603050405020304" pitchFamily="18" charset="0"/>
                              </a:rPr>
                            </m:ctrlPr>
                          </m:sSupPr>
                          <m:e>
                            <m:r>
                              <a:rPr lang="en-US" altLang="zh-TW" sz="4000" b="0" i="1" smtClean="0">
                                <a:latin typeface="Cambria Math" panose="02040503050406030204" pitchFamily="18" charset="0"/>
                                <a:cs typeface="Times New Roman" panose="02020603050405020304" pitchFamily="18" charset="0"/>
                              </a:rPr>
                              <m:t>(</m:t>
                            </m:r>
                            <m:r>
                              <a:rPr lang="en-US" altLang="zh-TW" sz="4000" i="1">
                                <a:latin typeface="Cambria Math" panose="02040503050406030204" pitchFamily="18" charset="0"/>
                              </a:rPr>
                              <m:t>𝑙𝑜𝑔𝑛</m:t>
                            </m:r>
                            <m:r>
                              <a:rPr lang="en-US" altLang="zh-TW" sz="4000" b="0" i="1" smtClean="0">
                                <a:latin typeface="Cambria Math" panose="02040503050406030204" pitchFamily="18" charset="0"/>
                              </a:rPr>
                              <m:t>)</m:t>
                            </m:r>
                          </m:e>
                          <m:sup>
                            <m:r>
                              <a:rPr lang="en-US" altLang="zh-TW" sz="4000" i="1">
                                <a:latin typeface="Cambria Math" panose="02040503050406030204" pitchFamily="18" charset="0"/>
                                <a:cs typeface="Times New Roman" panose="02020603050405020304" pitchFamily="18" charset="0"/>
                              </a:rPr>
                              <m:t>2</m:t>
                            </m:r>
                          </m:sup>
                        </m:sSup>
                      </m:den>
                    </m:f>
                  </m:oMath>
                </a14:m>
                <a:r>
                  <a:rPr lang="en-US" altLang="zh-TW" sz="4000" dirty="0" smtClean="0">
                    <a:latin typeface="Times New Roman" panose="02020603050405020304" pitchFamily="18" charset="0"/>
                    <a:cs typeface="Times New Roman" panose="02020603050405020304" pitchFamily="18" charset="0"/>
                  </a:rPr>
                  <a:t>   x  </a:t>
                </a:r>
                <a14:m>
                  <m:oMath xmlns:m="http://schemas.openxmlformats.org/officeDocument/2006/math">
                    <m:f>
                      <m:fPr>
                        <m:ctrlPr>
                          <a:rPr lang="en-US" altLang="zh-TW" sz="4000" i="1" smtClean="0">
                            <a:latin typeface="Cambria Math" panose="02040503050406030204" pitchFamily="18" charset="0"/>
                          </a:rPr>
                        </m:ctrlPr>
                      </m:fPr>
                      <m:num>
                        <m:r>
                          <a:rPr lang="en-US" altLang="zh-TW" sz="4000" b="0" i="1" smtClean="0">
                            <a:latin typeface="Cambria Math" panose="02040503050406030204" pitchFamily="18" charset="0"/>
                          </a:rPr>
                          <m:t>2</m:t>
                        </m:r>
                        <m:r>
                          <a:rPr lang="en-US" altLang="zh-TW" sz="4000" b="0" i="1" smtClean="0">
                            <a:latin typeface="Cambria Math" panose="02040503050406030204" pitchFamily="18" charset="0"/>
                          </a:rPr>
                          <m:t>𝑛</m:t>
                        </m:r>
                      </m:num>
                      <m:den>
                        <m:r>
                          <a:rPr lang="en-US" altLang="zh-TW" sz="4000" b="0" i="1" smtClean="0">
                            <a:latin typeface="Cambria Math" panose="02040503050406030204" pitchFamily="18" charset="0"/>
                          </a:rPr>
                          <m:t>(</m:t>
                        </m:r>
                        <m:f>
                          <m:fPr>
                            <m:ctrlPr>
                              <a:rPr lang="en-US" altLang="zh-TW" sz="4000" i="1" smtClean="0">
                                <a:latin typeface="Cambria Math" panose="02040503050406030204" pitchFamily="18" charset="0"/>
                              </a:rPr>
                            </m:ctrlPr>
                          </m:fPr>
                          <m:num>
                            <m:r>
                              <a:rPr lang="en-US" altLang="zh-TW" sz="4000" b="0" i="1" smtClean="0">
                                <a:latin typeface="Cambria Math" panose="02040503050406030204" pitchFamily="18" charset="0"/>
                              </a:rPr>
                              <m:t>h𝑛</m:t>
                            </m:r>
                          </m:num>
                          <m:den>
                            <m:r>
                              <a:rPr lang="en-US" altLang="zh-TW" sz="4000" b="0" i="1" smtClean="0">
                                <a:latin typeface="Cambria Math" panose="02040503050406030204" pitchFamily="18" charset="0"/>
                              </a:rPr>
                              <m:t>𝑙𝑜𝑔𝑛</m:t>
                            </m:r>
                          </m:den>
                        </m:f>
                        <m:r>
                          <a:rPr lang="en-US" altLang="zh-TW" sz="4000" b="0" i="1" smtClean="0">
                            <a:latin typeface="Cambria Math" panose="02040503050406030204" pitchFamily="18" charset="0"/>
                          </a:rPr>
                          <m:t>)</m:t>
                        </m:r>
                      </m:den>
                    </m:f>
                  </m:oMath>
                </a14:m>
                <a:r>
                  <a:rPr lang="zh-TW" altLang="en-US" sz="4000" dirty="0" smtClean="0">
                    <a:latin typeface="Times New Roman" panose="02020603050405020304" pitchFamily="18" charset="0"/>
                    <a:cs typeface="Times New Roman" panose="02020603050405020304" pitchFamily="18" charset="0"/>
                  </a:rPr>
                  <a:t>  </a:t>
                </a:r>
                <a:r>
                  <a:rPr lang="en-US" altLang="zh-TW" sz="4000" dirty="0" smtClean="0">
                    <a:latin typeface="Times New Roman" panose="02020603050405020304" pitchFamily="18" charset="0"/>
                    <a:cs typeface="Times New Roman" panose="02020603050405020304" pitchFamily="18" charset="0"/>
                  </a:rPr>
                  <a:t>= </a:t>
                </a:r>
                <a14:m>
                  <m:oMath xmlns:m="http://schemas.openxmlformats.org/officeDocument/2006/math">
                    <m:f>
                      <m:fPr>
                        <m:ctrlPr>
                          <a:rPr lang="en-US" altLang="zh-TW" sz="4000" i="1" smtClean="0">
                            <a:latin typeface="Cambria Math" panose="02040503050406030204" pitchFamily="18" charset="0"/>
                          </a:rPr>
                        </m:ctrlPr>
                      </m:fPr>
                      <m:num>
                        <m:r>
                          <a:rPr lang="en-US" altLang="zh-TW" sz="4000" b="0" i="1" smtClean="0">
                            <a:latin typeface="Cambria Math" panose="02040503050406030204" pitchFamily="18" charset="0"/>
                          </a:rPr>
                          <m:t>2</m:t>
                        </m:r>
                        <m:r>
                          <a:rPr lang="en-US" altLang="zh-TW" sz="4000" b="0" i="1" smtClean="0">
                            <a:latin typeface="Cambria Math" panose="02040503050406030204" pitchFamily="18" charset="0"/>
                          </a:rPr>
                          <m:t>h</m:t>
                        </m:r>
                        <m:sSup>
                          <m:sSupPr>
                            <m:ctrlPr>
                              <a:rPr lang="en-US" altLang="zh-TW" sz="4000" i="1">
                                <a:latin typeface="Cambria Math" panose="02040503050406030204" pitchFamily="18" charset="0"/>
                                <a:cs typeface="Times New Roman" panose="02020603050405020304" pitchFamily="18" charset="0"/>
                              </a:rPr>
                            </m:ctrlPr>
                          </m:sSupPr>
                          <m:e>
                            <m:r>
                              <a:rPr lang="en-US" altLang="zh-TW" sz="4000" i="1">
                                <a:latin typeface="Cambria Math" panose="02040503050406030204" pitchFamily="18" charset="0"/>
                                <a:cs typeface="Times New Roman" panose="02020603050405020304" pitchFamily="18" charset="0"/>
                              </a:rPr>
                              <m:t>𝑛</m:t>
                            </m:r>
                          </m:e>
                          <m:sup>
                            <m:r>
                              <a:rPr lang="en-US" altLang="zh-TW" sz="4000" i="1">
                                <a:latin typeface="Cambria Math" panose="02040503050406030204" pitchFamily="18" charset="0"/>
                                <a:cs typeface="Times New Roman" panose="02020603050405020304" pitchFamily="18" charset="0"/>
                              </a:rPr>
                              <m:t>2</m:t>
                            </m:r>
                          </m:sup>
                        </m:sSup>
                      </m:num>
                      <m:den>
                        <m:r>
                          <a:rPr lang="en-US" altLang="zh-TW" sz="4000" i="1">
                            <a:latin typeface="Cambria Math" panose="02040503050406030204" pitchFamily="18" charset="0"/>
                            <a:cs typeface="Times New Roman" panose="02020603050405020304" pitchFamily="18" charset="0"/>
                          </a:rPr>
                          <m:t>(</m:t>
                        </m:r>
                        <m:r>
                          <a:rPr lang="en-US" altLang="zh-TW" sz="4000" i="1">
                            <a:latin typeface="Cambria Math" panose="02040503050406030204" pitchFamily="18" charset="0"/>
                          </a:rPr>
                          <m:t>𝑙𝑜𝑔𝑛</m:t>
                        </m:r>
                        <m:r>
                          <a:rPr lang="en-US" altLang="zh-TW" sz="4000" i="1">
                            <a:latin typeface="Cambria Math" panose="02040503050406030204" pitchFamily="18" charset="0"/>
                          </a:rPr>
                          <m:t>)</m:t>
                        </m:r>
                      </m:den>
                    </m:f>
                  </m:oMath>
                </a14:m>
                <a:endParaRPr lang="zh-TW" altLang="en-US" sz="4000" dirty="0">
                  <a:latin typeface="Times New Roman" panose="02020603050405020304" pitchFamily="18" charset="0"/>
                  <a:cs typeface="Times New Roman" panose="02020603050405020304" pitchFamily="18" charset="0"/>
                </a:endParaRPr>
              </a:p>
            </p:txBody>
          </p:sp>
        </mc:Choice>
        <mc:Fallback>
          <p:sp>
            <p:nvSpPr>
              <p:cNvPr id="5" name="文字方塊 4"/>
              <p:cNvSpPr txBox="1">
                <a:spLocks noRot="1" noChangeAspect="1" noMove="1" noResize="1" noEditPoints="1" noAdjustHandles="1" noChangeArrowheads="1" noChangeShapeType="1" noTextEdit="1"/>
              </p:cNvSpPr>
              <p:nvPr/>
            </p:nvSpPr>
            <p:spPr>
              <a:xfrm>
                <a:off x="3767329" y="4203613"/>
                <a:ext cx="5803392" cy="1299074"/>
              </a:xfrm>
              <a:prstGeom prst="rect">
                <a:avLst/>
              </a:prstGeom>
              <a:blipFill rotWithShape="0">
                <a:blip r:embed="rId4"/>
                <a:stretch>
                  <a:fillRect/>
                </a:stretch>
              </a:blipFill>
            </p:spPr>
            <p:txBody>
              <a:bodyPr/>
              <a:lstStyle/>
              <a:p>
                <a:r>
                  <a:rPr lang="zh-TW" altLang="en-US">
                    <a:noFill/>
                  </a:rPr>
                  <a:t> </a:t>
                </a:r>
              </a:p>
            </p:txBody>
          </p:sp>
        </mc:Fallback>
      </mc:AlternateContent>
      <p:graphicFrame>
        <p:nvGraphicFramePr>
          <p:cNvPr id="29" name="Group 172"/>
          <p:cNvGraphicFramePr>
            <a:graphicFrameLocks noGrp="1"/>
          </p:cNvGraphicFramePr>
          <p:nvPr>
            <p:extLst>
              <p:ext uri="{D42A27DB-BD31-4B8C-83A1-F6EECF244321}">
                <p14:modId xmlns:p14="http://schemas.microsoft.com/office/powerpoint/2010/main" val="1426765431"/>
              </p:ext>
            </p:extLst>
          </p:nvPr>
        </p:nvGraphicFramePr>
        <p:xfrm>
          <a:off x="628650" y="3160677"/>
          <a:ext cx="3341688" cy="3553972"/>
        </p:xfrm>
        <a:graphic>
          <a:graphicData uri="http://schemas.openxmlformats.org/drawingml/2006/table">
            <a:tbl>
              <a:tblPr rtl="1"/>
              <a:tblGrid>
                <a:gridCol w="538163"/>
                <a:gridCol w="896937"/>
                <a:gridCol w="430213"/>
                <a:gridCol w="806450"/>
                <a:gridCol w="392112"/>
                <a:gridCol w="277813"/>
              </a:tblGrid>
              <a:tr h="404813">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Hebrew)" charset="-79"/>
                        </a:rPr>
                        <a:t>a</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Hebrew)" charset="-79"/>
                        </a:rPr>
                        <a:t>acg</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rPr>
                        <a:t>g</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rPr>
                        <a:t>ac</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rPr>
                        <a:t>a</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4813">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Hebrew)" charset="-79"/>
                        </a:rPr>
                        <a:t>c</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rPr>
                        <a:t>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4813">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rPr>
                        <a:t>a</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1025">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rPr>
                        <a:t>c</a:t>
                      </a:r>
                    </a:p>
                    <a:p>
                      <a:pPr marL="0" marR="0" lvl="0" indent="0" algn="ctr" defTabSz="914400" rtl="1"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rPr>
                        <a:t>g</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9438">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rPr>
                        <a:t>a</a:t>
                      </a:r>
                    </a:p>
                    <a:p>
                      <a:pPr marL="0" marR="0" lvl="0" indent="0" algn="ctr" defTabSz="914400" rtl="1"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rPr>
                        <a:t>g</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4813">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Times New Roman" panose="02020603050405020304" pitchFamily="18" charset="0"/>
                        <a:cs typeface="Times New Roman (Hebrew)" charset="-79"/>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800">
                          <a:solidFill>
                            <a:schemeClr val="tx1"/>
                          </a:solidFill>
                          <a:latin typeface="Times New Roman" panose="02020603050405020304" pitchFamily="18" charset="0"/>
                          <a:cs typeface="Times New Roman (Hebrew)" charset="-79"/>
                        </a:defRPr>
                      </a:lvl1pPr>
                      <a:lvl2pPr>
                        <a:defRPr sz="2400">
                          <a:solidFill>
                            <a:schemeClr val="tx1"/>
                          </a:solidFill>
                          <a:latin typeface="Times New Roman" panose="02020603050405020304" pitchFamily="18" charset="0"/>
                          <a:cs typeface="Times New Roman (Hebrew)" charset="-79"/>
                        </a:defRPr>
                      </a:lvl2pPr>
                      <a:lvl3pPr>
                        <a:defRPr sz="2000">
                          <a:solidFill>
                            <a:schemeClr val="tx1"/>
                          </a:solidFill>
                          <a:latin typeface="Times New Roman" panose="02020603050405020304" pitchFamily="18" charset="0"/>
                          <a:cs typeface="Times New Roman (Hebrew)" charset="-79"/>
                        </a:defRPr>
                      </a:lvl3pPr>
                      <a:lvl4pPr>
                        <a:defRPr>
                          <a:solidFill>
                            <a:schemeClr val="tx1"/>
                          </a:solidFill>
                          <a:latin typeface="Times New Roman" panose="02020603050405020304" pitchFamily="18" charset="0"/>
                          <a:cs typeface="Times New Roman (Hebrew)" charset="-79"/>
                        </a:defRPr>
                      </a:lvl4pPr>
                      <a:lvl5pPr>
                        <a:defRPr>
                          <a:solidFill>
                            <a:schemeClr val="tx1"/>
                          </a:solidFill>
                          <a:latin typeface="Times New Roman" panose="02020603050405020304" pitchFamily="18" charset="0"/>
                          <a:cs typeface="Times New Roman (Hebrew)" charset="-79"/>
                        </a:defRPr>
                      </a:lvl5pPr>
                      <a:lvl6pPr algn="r" rtl="1" fontAlgn="base">
                        <a:spcBef>
                          <a:spcPct val="20000"/>
                        </a:spcBef>
                        <a:spcAft>
                          <a:spcPct val="0"/>
                        </a:spcAft>
                        <a:defRPr>
                          <a:solidFill>
                            <a:schemeClr val="tx1"/>
                          </a:solidFill>
                          <a:latin typeface="Times New Roman" panose="02020603050405020304" pitchFamily="18" charset="0"/>
                          <a:cs typeface="Times New Roman (Hebrew)" charset="-79"/>
                        </a:defRPr>
                      </a:lvl6pPr>
                      <a:lvl7pPr algn="r" rtl="1" fontAlgn="base">
                        <a:spcBef>
                          <a:spcPct val="20000"/>
                        </a:spcBef>
                        <a:spcAft>
                          <a:spcPct val="0"/>
                        </a:spcAft>
                        <a:defRPr>
                          <a:solidFill>
                            <a:schemeClr val="tx1"/>
                          </a:solidFill>
                          <a:latin typeface="Times New Roman" panose="02020603050405020304" pitchFamily="18" charset="0"/>
                          <a:cs typeface="Times New Roman (Hebrew)" charset="-79"/>
                        </a:defRPr>
                      </a:lvl7pPr>
                      <a:lvl8pPr algn="r" rtl="1" fontAlgn="base">
                        <a:spcBef>
                          <a:spcPct val="20000"/>
                        </a:spcBef>
                        <a:spcAft>
                          <a:spcPct val="0"/>
                        </a:spcAft>
                        <a:defRPr>
                          <a:solidFill>
                            <a:schemeClr val="tx1"/>
                          </a:solidFill>
                          <a:latin typeface="Times New Roman" panose="02020603050405020304" pitchFamily="18" charset="0"/>
                          <a:cs typeface="Times New Roman (Hebrew)" charset="-79"/>
                        </a:defRPr>
                      </a:lvl8pPr>
                      <a:lvl9pPr algn="r" rtl="1" fontAlgn="base">
                        <a:spcBef>
                          <a:spcPct val="20000"/>
                        </a:spcBef>
                        <a:spcAft>
                          <a:spcPct val="0"/>
                        </a:spcAft>
                        <a:defRPr>
                          <a:solidFill>
                            <a:schemeClr val="tx1"/>
                          </a:solidFill>
                          <a:latin typeface="Times New Roman" panose="02020603050405020304" pitchFamily="18" charset="0"/>
                          <a:cs typeface="Times New Roman (Hebrew)" charset="-79"/>
                        </a:defRPr>
                      </a:lvl9pPr>
                    </a:lstStyle>
                    <a:p>
                      <a:pPr marL="0" marR="0" lvl="0" indent="0" algn="ctr" defTabSz="914400" rtl="1"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Hebrew)" charset="-79"/>
                        </a:rPr>
                        <a:t>a</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 name="AutoShape 173"/>
          <p:cNvSpPr>
            <a:spLocks noChangeArrowheads="1"/>
          </p:cNvSpPr>
          <p:nvPr/>
        </p:nvSpPr>
        <p:spPr bwMode="auto">
          <a:xfrm>
            <a:off x="1551991" y="2691316"/>
            <a:ext cx="307975" cy="301625"/>
          </a:xfrm>
          <a:prstGeom prst="flowChartConnector">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sz="1800">
                <a:latin typeface="Times New Roman" panose="02020603050405020304" pitchFamily="18" charset="0"/>
                <a:cs typeface="Times New Roman" panose="02020603050405020304" pitchFamily="18" charset="0"/>
              </a:rPr>
              <a:t>2</a:t>
            </a:r>
            <a:endParaRPr lang="en-US" altLang="zh-TW" sz="1800">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31" name="AutoShape 174"/>
          <p:cNvSpPr>
            <a:spLocks noChangeArrowheads="1"/>
          </p:cNvSpPr>
          <p:nvPr/>
        </p:nvSpPr>
        <p:spPr bwMode="auto">
          <a:xfrm>
            <a:off x="2177841" y="2692704"/>
            <a:ext cx="307975" cy="319088"/>
          </a:xfrm>
          <a:prstGeom prst="flowChartConnector">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sz="1800" dirty="0">
                <a:latin typeface="Times New Roman" panose="02020603050405020304" pitchFamily="18" charset="0"/>
                <a:cs typeface="Times New Roman" panose="02020603050405020304" pitchFamily="18" charset="0"/>
              </a:rPr>
              <a:t>3</a:t>
            </a:r>
            <a:endParaRPr lang="en-US" altLang="zh-TW" sz="1800" dirty="0">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32" name="AutoShape 175"/>
          <p:cNvSpPr>
            <a:spLocks noChangeArrowheads="1"/>
          </p:cNvSpPr>
          <p:nvPr/>
        </p:nvSpPr>
        <p:spPr bwMode="auto">
          <a:xfrm>
            <a:off x="2880493" y="2713590"/>
            <a:ext cx="344488" cy="303212"/>
          </a:xfrm>
          <a:prstGeom prst="flowChartConnector">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sz="1800" dirty="0">
                <a:latin typeface="Times New Roman" panose="02020603050405020304" pitchFamily="18" charset="0"/>
                <a:cs typeface="Times New Roman" panose="02020603050405020304" pitchFamily="18" charset="0"/>
              </a:rPr>
              <a:t>4</a:t>
            </a:r>
            <a:endParaRPr lang="en-US" altLang="zh-TW" sz="1800" dirty="0">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33" name="AutoShape 177"/>
          <p:cNvSpPr>
            <a:spLocks noChangeArrowheads="1"/>
          </p:cNvSpPr>
          <p:nvPr/>
        </p:nvSpPr>
        <p:spPr bwMode="auto">
          <a:xfrm>
            <a:off x="87102" y="3559283"/>
            <a:ext cx="344488" cy="303213"/>
          </a:xfrm>
          <a:prstGeom prst="flowChartConnector">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sz="1800">
                <a:latin typeface="Times New Roman" panose="02020603050405020304" pitchFamily="18" charset="0"/>
                <a:cs typeface="Times New Roman" panose="02020603050405020304" pitchFamily="18" charset="0"/>
              </a:rPr>
              <a:t>1</a:t>
            </a:r>
            <a:endParaRPr lang="en-US" altLang="zh-TW" sz="1800">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34" name="AutoShape 178"/>
          <p:cNvSpPr>
            <a:spLocks noChangeArrowheads="1"/>
          </p:cNvSpPr>
          <p:nvPr/>
        </p:nvSpPr>
        <p:spPr bwMode="auto">
          <a:xfrm>
            <a:off x="99219" y="4034821"/>
            <a:ext cx="309562" cy="301625"/>
          </a:xfrm>
          <a:prstGeom prst="flowChartConnector">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sz="1800" dirty="0">
                <a:latin typeface="Times New Roman" panose="02020603050405020304" pitchFamily="18" charset="0"/>
                <a:cs typeface="Times New Roman" panose="02020603050405020304" pitchFamily="18" charset="0"/>
              </a:rPr>
              <a:t>2</a:t>
            </a:r>
            <a:endParaRPr lang="en-US" altLang="zh-TW" sz="1800" dirty="0">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35" name="AutoShape 179"/>
          <p:cNvSpPr>
            <a:spLocks noChangeArrowheads="1"/>
          </p:cNvSpPr>
          <p:nvPr/>
        </p:nvSpPr>
        <p:spPr bwMode="auto">
          <a:xfrm>
            <a:off x="119856" y="4407009"/>
            <a:ext cx="288925" cy="319088"/>
          </a:xfrm>
          <a:prstGeom prst="flowChartConnector">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sz="1800">
                <a:latin typeface="Times New Roman" panose="02020603050405020304" pitchFamily="18" charset="0"/>
                <a:cs typeface="Times New Roman" panose="02020603050405020304" pitchFamily="18" charset="0"/>
              </a:rPr>
              <a:t>3</a:t>
            </a:r>
            <a:endParaRPr lang="en-US" altLang="zh-TW" sz="1800">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36" name="AutoShape 180"/>
          <p:cNvSpPr>
            <a:spLocks noChangeArrowheads="1"/>
          </p:cNvSpPr>
          <p:nvPr/>
        </p:nvSpPr>
        <p:spPr bwMode="auto">
          <a:xfrm>
            <a:off x="119856" y="5050028"/>
            <a:ext cx="290513" cy="301625"/>
          </a:xfrm>
          <a:prstGeom prst="flowChartConnector">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sz="1800">
                <a:latin typeface="Times New Roman" panose="02020603050405020304" pitchFamily="18" charset="0"/>
                <a:cs typeface="Times New Roman" panose="02020603050405020304" pitchFamily="18" charset="0"/>
              </a:rPr>
              <a:t>4</a:t>
            </a:r>
            <a:endParaRPr lang="en-US" altLang="zh-TW" sz="1800">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37" name="AutoShape 181"/>
          <p:cNvSpPr>
            <a:spLocks noChangeArrowheads="1"/>
          </p:cNvSpPr>
          <p:nvPr/>
        </p:nvSpPr>
        <p:spPr bwMode="auto">
          <a:xfrm>
            <a:off x="100806" y="5876240"/>
            <a:ext cx="307975" cy="301625"/>
          </a:xfrm>
          <a:prstGeom prst="flowChartConnector">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sz="1800" dirty="0">
                <a:latin typeface="Times New Roman" panose="02020603050405020304" pitchFamily="18" charset="0"/>
                <a:cs typeface="Times New Roman" panose="02020603050405020304" pitchFamily="18" charset="0"/>
              </a:rPr>
              <a:t>5</a:t>
            </a:r>
            <a:endParaRPr lang="en-US" altLang="zh-TW" sz="1800" dirty="0">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38" name="AutoShape 183"/>
          <p:cNvSpPr>
            <a:spLocks noChangeArrowheads="1"/>
          </p:cNvSpPr>
          <p:nvPr/>
        </p:nvSpPr>
        <p:spPr bwMode="auto">
          <a:xfrm>
            <a:off x="150242" y="2782298"/>
            <a:ext cx="325437" cy="284163"/>
          </a:xfrm>
          <a:prstGeom prst="flowChartConnector">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sz="1800">
                <a:latin typeface="Times New Roman" panose="02020603050405020304" pitchFamily="18" charset="0"/>
                <a:cs typeface="Times New Roman" panose="02020603050405020304" pitchFamily="18" charset="0"/>
              </a:rPr>
              <a:t>0</a:t>
            </a:r>
            <a:endParaRPr lang="en-US" altLang="zh-TW" sz="1800">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39" name="AutoShape 184"/>
          <p:cNvSpPr>
            <a:spLocks noChangeArrowheads="1"/>
          </p:cNvSpPr>
          <p:nvPr/>
        </p:nvSpPr>
        <p:spPr bwMode="auto">
          <a:xfrm>
            <a:off x="946229" y="2696706"/>
            <a:ext cx="290513" cy="301625"/>
          </a:xfrm>
          <a:prstGeom prst="flowChartConnector">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sz="1800">
                <a:latin typeface="Times New Roman" panose="02020603050405020304" pitchFamily="18" charset="0"/>
                <a:cs typeface="Times New Roman" panose="02020603050405020304" pitchFamily="18" charset="0"/>
              </a:rPr>
              <a:t>1</a:t>
            </a:r>
            <a:endParaRPr lang="en-US" altLang="zh-TW" sz="1800">
              <a:latin typeface="Times New Roman" panose="02020603050405020304" pitchFamily="18" charset="0"/>
              <a:ea typeface="新細明體" panose="02020500000000000000" pitchFamily="18" charset="-120"/>
              <a:cs typeface="Times New Roman" panose="02020603050405020304" pitchFamily="18" charset="0"/>
            </a:endParaRPr>
          </a:p>
        </p:txBody>
      </p:sp>
      <p:cxnSp>
        <p:nvCxnSpPr>
          <p:cNvPr id="40" name="直線接點 39"/>
          <p:cNvCxnSpPr/>
          <p:nvPr/>
        </p:nvCxnSpPr>
        <p:spPr>
          <a:xfrm>
            <a:off x="900000" y="3960000"/>
            <a:ext cx="394891"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直線接點 41"/>
          <p:cNvCxnSpPr/>
          <p:nvPr/>
        </p:nvCxnSpPr>
        <p:spPr>
          <a:xfrm rot="-60000" flipH="1">
            <a:off x="1298422" y="3555266"/>
            <a:ext cx="6978" cy="404704"/>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97106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0"/>
            <a:ext cx="9256395" cy="1325563"/>
          </a:xfrm>
        </p:spPr>
        <p:txBody>
          <a:bodyPr>
            <a:normAutofit/>
          </a:bodyPr>
          <a:lstStyle/>
          <a:p>
            <a:pPr algn="ctr"/>
            <a:r>
              <a:rPr lang="en-US" altLang="zh-TW" dirty="0">
                <a:latin typeface="Times New Roman" panose="02020603050405020304" pitchFamily="18" charset="0"/>
                <a:cs typeface="Times New Roman" panose="02020603050405020304" pitchFamily="18" charset="0"/>
              </a:rPr>
              <a:t>Comparing run length encoded strings</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52" name="內容版面配置區 2"/>
              <p:cNvSpPr>
                <a:spLocks noGrp="1"/>
              </p:cNvSpPr>
              <p:nvPr>
                <p:ph idx="1"/>
              </p:nvPr>
            </p:nvSpPr>
            <p:spPr>
              <a:xfrm>
                <a:off x="326517" y="1482184"/>
                <a:ext cx="8710422" cy="4351338"/>
              </a:xfrm>
            </p:spPr>
            <p:txBody>
              <a:bodyPr>
                <a:noAutofit/>
              </a:bodyPr>
              <a:lstStyle/>
              <a:p>
                <a:pPr>
                  <a:spcBef>
                    <a:spcPct val="50000"/>
                  </a:spcBef>
                </a:pPr>
                <a:r>
                  <a:rPr lang="en-US" altLang="zh-TW" sz="2400" dirty="0" smtClean="0">
                    <a:latin typeface="Times New Roman" panose="02020603050405020304" pitchFamily="18" charset="0"/>
                    <a:cs typeface="Times New Roman" panose="02020603050405020304" pitchFamily="18" charset="0"/>
                  </a:rPr>
                  <a:t>A string S is run-length encoded if it is described as an ordered sequence of pairs </a:t>
                </a:r>
                <a:r>
                  <a:rPr lang="en-US" altLang="zh-TW" sz="2400" dirty="0" smtClean="0">
                    <a:latin typeface="Times New Roman" panose="02020603050405020304" pitchFamily="18" charset="0"/>
                    <a:cs typeface="Times New Roman" panose="02020603050405020304" pitchFamily="18" charset="0"/>
                  </a:rPr>
                  <a:t>(</a:t>
                </a:r>
                <a:r>
                  <a:rPr lang="el-GR" altLang="zh-TW" sz="2400" dirty="0">
                    <a:latin typeface="Times New Roman" panose="02020603050405020304" pitchFamily="18" charset="0"/>
                    <a:cs typeface="Times New Roman" panose="02020603050405020304" pitchFamily="18" charset="0"/>
                    <a:sym typeface="Symbol" panose="05050102010706020507" pitchFamily="18" charset="2"/>
                  </a:rPr>
                  <a:t>σ</a:t>
                </a:r>
                <a:r>
                  <a:rPr lang="en-US" altLang="zh-TW" sz="2400" dirty="0" smtClean="0">
                    <a:latin typeface="Times New Roman" panose="02020603050405020304" pitchFamily="18" charset="0"/>
                    <a:cs typeface="Times New Roman" panose="02020603050405020304" pitchFamily="18" charset="0"/>
                  </a:rPr>
                  <a:t>,</a:t>
                </a:r>
                <a:r>
                  <a:rPr lang="en-US" altLang="zh-TW" sz="2400" dirty="0" err="1" smtClean="0">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a:t>
                </a:r>
              </a:p>
              <a:p>
                <a:pPr marL="0" indent="0">
                  <a:spcBef>
                    <a:spcPct val="50000"/>
                  </a:spcBef>
                  <a:buNone/>
                </a:pPr>
                <a:r>
                  <a:rPr lang="en-US" altLang="zh-TW" sz="2400" dirty="0" err="1" smtClean="0">
                    <a:latin typeface="Times New Roman" panose="02020603050405020304" pitchFamily="18" charset="0"/>
                    <a:cs typeface="Times New Roman" panose="02020603050405020304" pitchFamily="18" charset="0"/>
                  </a:rPr>
                  <a:t>aabbbbbccc</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a:t>
                </a:r>
                <a:r>
                  <a:rPr lang="en-US" altLang="zh-TW" sz="2400" dirty="0" smtClean="0">
                    <a:latin typeface="Times New Roman" panose="02020603050405020304" pitchFamily="18" charset="0"/>
                    <a:cs typeface="Times New Roman" panose="02020603050405020304" pitchFamily="18" charset="0"/>
                  </a:rPr>
                  <a:t>a,2),(b,5),(c,3) or  </a:t>
                </a:r>
                <a14:m>
                  <m:oMath xmlns:m="http://schemas.openxmlformats.org/officeDocument/2006/math">
                    <m:sSup>
                      <m:sSupPr>
                        <m:ctrlPr>
                          <a:rPr lang="en-US" altLang="zh-TW" sz="2400" i="1" smtClean="0">
                            <a:latin typeface="Cambria Math" panose="02040503050406030204" pitchFamily="18" charset="0"/>
                            <a:cs typeface="Times New Roman" panose="02020603050405020304" pitchFamily="18" charset="0"/>
                          </a:rPr>
                        </m:ctrlPr>
                      </m:sSupPr>
                      <m:e>
                        <m:r>
                          <a:rPr lang="en-US" altLang="zh-TW" sz="2400" b="0" i="1" smtClean="0">
                            <a:latin typeface="Cambria Math" panose="02040503050406030204" pitchFamily="18" charset="0"/>
                            <a:cs typeface="Times New Roman" panose="02020603050405020304" pitchFamily="18" charset="0"/>
                          </a:rPr>
                          <m:t>𝑎</m:t>
                        </m:r>
                      </m:e>
                      <m:sup>
                        <m:r>
                          <a:rPr lang="en-US" altLang="zh-TW" sz="2400" b="0" i="1" smtClean="0">
                            <a:latin typeface="Cambria Math" panose="02040503050406030204" pitchFamily="18" charset="0"/>
                            <a:cs typeface="Times New Roman" panose="02020603050405020304" pitchFamily="18" charset="0"/>
                          </a:rPr>
                          <m:t>2</m:t>
                        </m:r>
                      </m:sup>
                    </m:sSup>
                    <m:sSup>
                      <m:sSupPr>
                        <m:ctrlPr>
                          <a:rPr lang="en-US" altLang="zh-TW" sz="2400" i="1">
                            <a:latin typeface="Cambria Math" panose="02040503050406030204" pitchFamily="18" charset="0"/>
                            <a:cs typeface="Times New Roman" panose="02020603050405020304" pitchFamily="18" charset="0"/>
                          </a:rPr>
                        </m:ctrlPr>
                      </m:sSupPr>
                      <m:e>
                        <m:r>
                          <a:rPr lang="en-US" altLang="zh-TW" sz="2400" b="0" i="1" smtClean="0">
                            <a:latin typeface="Cambria Math" panose="02040503050406030204" pitchFamily="18" charset="0"/>
                            <a:cs typeface="Times New Roman" panose="02020603050405020304" pitchFamily="18" charset="0"/>
                          </a:rPr>
                          <m:t>𝑏</m:t>
                        </m:r>
                      </m:e>
                      <m:sup>
                        <m:r>
                          <a:rPr lang="en-US" altLang="zh-TW" sz="2400" b="0" i="1" smtClean="0">
                            <a:latin typeface="Cambria Math" panose="02040503050406030204" pitchFamily="18" charset="0"/>
                            <a:cs typeface="Times New Roman" panose="02020603050405020304" pitchFamily="18" charset="0"/>
                          </a:rPr>
                          <m:t>5</m:t>
                        </m:r>
                      </m:sup>
                    </m:sSup>
                    <m:sSup>
                      <m:sSupPr>
                        <m:ctrlPr>
                          <a:rPr lang="en-US" altLang="zh-TW" sz="2400" i="1">
                            <a:latin typeface="Cambria Math" panose="02040503050406030204" pitchFamily="18" charset="0"/>
                            <a:cs typeface="Times New Roman" panose="02020603050405020304" pitchFamily="18" charset="0"/>
                          </a:rPr>
                        </m:ctrlPr>
                      </m:sSupPr>
                      <m:e>
                        <m:r>
                          <a:rPr lang="en-US" altLang="zh-TW" sz="2400" b="0" i="1" smtClean="0">
                            <a:latin typeface="Cambria Math" panose="02040503050406030204" pitchFamily="18" charset="0"/>
                            <a:cs typeface="Times New Roman" panose="02020603050405020304" pitchFamily="18" charset="0"/>
                          </a:rPr>
                          <m:t>𝑐</m:t>
                        </m:r>
                      </m:e>
                      <m:sup>
                        <m:r>
                          <a:rPr lang="en-US" altLang="zh-TW" sz="2400" b="0" i="1" smtClean="0">
                            <a:latin typeface="Cambria Math" panose="02040503050406030204" pitchFamily="18" charset="0"/>
                            <a:cs typeface="Times New Roman" panose="02020603050405020304" pitchFamily="18" charset="0"/>
                          </a:rPr>
                          <m:t>3</m:t>
                        </m:r>
                      </m:sup>
                    </m:sSup>
                  </m:oMath>
                </a14:m>
                <a:endParaRPr lang="en-US" altLang="zh-TW" sz="2400" dirty="0">
                  <a:latin typeface="Times New Roman" panose="02020603050405020304" pitchFamily="18" charset="0"/>
                  <a:cs typeface="Times New Roman" panose="02020603050405020304" pitchFamily="18" charset="0"/>
                </a:endParaRPr>
              </a:p>
              <a:p>
                <a:pPr>
                  <a:spcBef>
                    <a:spcPct val="50000"/>
                  </a:spcBef>
                </a:pPr>
                <a:r>
                  <a:rPr lang="en-US" altLang="zh-TW" sz="2400" dirty="0">
                    <a:latin typeface="Times New Roman" panose="02020603050405020304" pitchFamily="18" charset="0"/>
                    <a:cs typeface="Times New Roman" panose="02020603050405020304" pitchFamily="18" charset="0"/>
                  </a:rPr>
                  <a:t>Let m and n be the lengths of two run-length encoded strings X and Y, of encoded length </a:t>
                </a:r>
                <a:r>
                  <a:rPr lang="en-US" altLang="zh-TW" sz="2400" dirty="0" smtClean="0">
                    <a:latin typeface="Times New Roman" panose="02020603050405020304" pitchFamily="18" charset="0"/>
                    <a:cs typeface="Times New Roman" panose="02020603050405020304" pitchFamily="18" charset="0"/>
                  </a:rPr>
                  <a:t>m</a:t>
                </a:r>
                <a:r>
                  <a:rPr lang="en-US" altLang="zh-TW" sz="2400"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and </a:t>
                </a:r>
                <a:r>
                  <a:rPr lang="en-US" altLang="zh-TW" sz="2400" dirty="0" smtClean="0">
                    <a:latin typeface="Times New Roman" panose="02020603050405020304" pitchFamily="18" charset="0"/>
                    <a:cs typeface="Times New Roman" panose="02020603050405020304" pitchFamily="18" charset="0"/>
                  </a:rPr>
                  <a:t>n</a:t>
                </a:r>
                <a:r>
                  <a:rPr lang="en-US" altLang="zh-TW" sz="2400"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smtClean="0">
                    <a:latin typeface="Times New Roman" panose="02020603050405020304" pitchFamily="18" charset="0"/>
                    <a:cs typeface="Times New Roman" panose="02020603050405020304" pitchFamily="18" charset="0"/>
                  </a:rPr>
                  <a:t>, respectively.</a:t>
                </a:r>
              </a:p>
              <a:p>
                <a:pPr>
                  <a:spcBef>
                    <a:spcPct val="50000"/>
                  </a:spcBef>
                </a:pPr>
                <a:r>
                  <a:rPr lang="en-US" altLang="zh-TW" sz="2400" dirty="0">
                    <a:latin typeface="Times New Roman" panose="02020603050405020304" pitchFamily="18" charset="0"/>
                    <a:cs typeface="Times New Roman" panose="02020603050405020304" pitchFamily="18" charset="0"/>
                  </a:rPr>
                  <a:t>The alignment graph is partitioned into blocks, each block consists of two runs – one of X and one of Y. therefore the alignment graph is partitioned into </a:t>
                </a:r>
                <a:r>
                  <a:rPr lang="en-US" altLang="zh-TW" sz="2400" dirty="0" err="1" smtClean="0">
                    <a:solidFill>
                      <a:srgbClr val="FF0000"/>
                    </a:solidFill>
                    <a:latin typeface="Times New Roman" panose="02020603050405020304" pitchFamily="18" charset="0"/>
                    <a:cs typeface="Times New Roman" panose="02020603050405020304" pitchFamily="18" charset="0"/>
                  </a:rPr>
                  <a:t>m</a:t>
                </a:r>
                <a:r>
                  <a:rPr lang="en-US" altLang="zh-TW" sz="2400" dirty="0" err="1" smtClean="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err="1" smtClean="0">
                    <a:solidFill>
                      <a:srgbClr val="FF0000"/>
                    </a:solidFill>
                    <a:latin typeface="Times New Roman" panose="02020603050405020304" pitchFamily="18" charset="0"/>
                    <a:cs typeface="Times New Roman" panose="02020603050405020304" pitchFamily="18" charset="0"/>
                  </a:rPr>
                  <a:t>n</a:t>
                </a:r>
                <a:r>
                  <a:rPr lang="en-US" altLang="zh-TW" sz="2400" dirty="0" smtClean="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TW" sz="2400" dirty="0" smtClean="0">
                    <a:solidFill>
                      <a:srgbClr val="FF0000"/>
                    </a:solidFill>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blocks.</a:t>
                </a:r>
              </a:p>
              <a:p>
                <a:pPr>
                  <a:spcBef>
                    <a:spcPct val="50000"/>
                  </a:spcBef>
                </a:pPr>
                <a:endParaRPr lang="en-US" altLang="zh-TW" sz="2400" dirty="0">
                  <a:latin typeface="Times New Roman" panose="02020603050405020304" pitchFamily="18" charset="0"/>
                  <a:cs typeface="Times New Roman" panose="02020603050405020304" pitchFamily="18" charset="0"/>
                </a:endParaRPr>
              </a:p>
              <a:p>
                <a:pPr marL="0" indent="0">
                  <a:spcBef>
                    <a:spcPct val="50000"/>
                  </a:spcBef>
                  <a:buNone/>
                </a:pPr>
                <a:endParaRPr lang="en-US" altLang="zh-TW" sz="2400" dirty="0" smtClean="0">
                  <a:latin typeface="Times New Roman" panose="02020603050405020304" pitchFamily="18" charset="0"/>
                  <a:cs typeface="Times New Roman" panose="02020603050405020304" pitchFamily="18" charset="0"/>
                </a:endParaRPr>
              </a:p>
            </p:txBody>
          </p:sp>
        </mc:Choice>
        <mc:Fallback>
          <p:sp>
            <p:nvSpPr>
              <p:cNvPr id="152" name="內容版面配置區 2"/>
              <p:cNvSpPr>
                <a:spLocks noGrp="1" noRot="1" noChangeAspect="1" noMove="1" noResize="1" noEditPoints="1" noAdjustHandles="1" noChangeArrowheads="1" noChangeShapeType="1" noTextEdit="1"/>
              </p:cNvSpPr>
              <p:nvPr>
                <p:ph idx="1"/>
              </p:nvPr>
            </p:nvSpPr>
            <p:spPr>
              <a:xfrm>
                <a:off x="326517" y="1482184"/>
                <a:ext cx="8710422" cy="4351338"/>
              </a:xfrm>
              <a:blipFill rotWithShape="0">
                <a:blip r:embed="rId3"/>
                <a:stretch>
                  <a:fillRect l="-1120" t="-1961" r="-1261"/>
                </a:stretch>
              </a:blipFill>
            </p:spPr>
            <p:txBody>
              <a:bodyPr/>
              <a:lstStyle/>
              <a:p>
                <a:r>
                  <a:rPr lang="zh-TW" altLang="en-US">
                    <a:noFill/>
                  </a:rPr>
                  <a:t> </a:t>
                </a:r>
              </a:p>
            </p:txBody>
          </p:sp>
        </mc:Fallback>
      </mc:AlternateContent>
      <p:pic>
        <p:nvPicPr>
          <p:cNvPr id="6" name="圖片 5"/>
          <p:cNvPicPr>
            <a:picLocks noChangeAspect="1"/>
          </p:cNvPicPr>
          <p:nvPr/>
        </p:nvPicPr>
        <p:blipFill>
          <a:blip r:embed="rId4"/>
          <a:stretch>
            <a:fillRect/>
          </a:stretch>
        </p:blipFill>
        <p:spPr>
          <a:xfrm>
            <a:off x="5120640" y="4574280"/>
            <a:ext cx="1792224" cy="2283720"/>
          </a:xfrm>
          <a:prstGeom prst="rect">
            <a:avLst/>
          </a:prstGeom>
        </p:spPr>
      </p:pic>
    </p:spTree>
    <p:extLst>
      <p:ext uri="{BB962C8B-B14F-4D97-AF65-F5344CB8AC3E}">
        <p14:creationId xmlns:p14="http://schemas.microsoft.com/office/powerpoint/2010/main" val="42913557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0"/>
            <a:ext cx="9256395" cy="1325563"/>
          </a:xfrm>
        </p:spPr>
        <p:txBody>
          <a:bodyPr>
            <a:normAutofit/>
          </a:bodyPr>
          <a:lstStyle/>
          <a:p>
            <a:pPr algn="ctr"/>
            <a:r>
              <a:rPr lang="en-US" altLang="zh-TW" dirty="0">
                <a:latin typeface="Times New Roman" panose="02020603050405020304" pitchFamily="18" charset="0"/>
                <a:cs typeface="Times New Roman" panose="02020603050405020304" pitchFamily="18" charset="0"/>
              </a:rPr>
              <a:t>Comparing run length encoded strings</a:t>
            </a:r>
            <a:endParaRPr lang="zh-TW" altLang="en-US" dirty="0">
              <a:latin typeface="Times New Roman" panose="02020603050405020304" pitchFamily="18" charset="0"/>
              <a:cs typeface="Times New Roman" panose="02020603050405020304" pitchFamily="18" charset="0"/>
            </a:endParaRPr>
          </a:p>
        </p:txBody>
      </p:sp>
      <p:sp>
        <p:nvSpPr>
          <p:cNvPr id="152" name="內容版面配置區 2"/>
          <p:cNvSpPr>
            <a:spLocks noGrp="1"/>
          </p:cNvSpPr>
          <p:nvPr>
            <p:ph idx="1"/>
          </p:nvPr>
        </p:nvSpPr>
        <p:spPr>
          <a:xfrm>
            <a:off x="272986" y="1325563"/>
            <a:ext cx="8710422" cy="4351338"/>
          </a:xfrm>
        </p:spPr>
        <p:txBody>
          <a:bodyPr>
            <a:noAutofit/>
          </a:bodyPr>
          <a:lstStyle/>
          <a:p>
            <a:pPr>
              <a:spcBef>
                <a:spcPct val="50000"/>
              </a:spcBef>
            </a:pPr>
            <a:endParaRPr lang="en-US" altLang="zh-TW" sz="2400" dirty="0">
              <a:latin typeface="Times New Roman" panose="02020603050405020304" pitchFamily="18" charset="0"/>
              <a:cs typeface="Times New Roman" panose="02020603050405020304" pitchFamily="18" charset="0"/>
            </a:endParaRPr>
          </a:p>
          <a:p>
            <a:pPr marL="0" indent="0">
              <a:spcBef>
                <a:spcPct val="50000"/>
              </a:spcBef>
              <a:buNone/>
            </a:pPr>
            <a:endParaRPr lang="en-US" altLang="zh-TW" sz="2400" dirty="0" smtClean="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內容版面配置區 2"/>
              <p:cNvSpPr txBox="1">
                <a:spLocks/>
              </p:cNvSpPr>
              <p:nvPr/>
            </p:nvSpPr>
            <p:spPr>
              <a:xfrm>
                <a:off x="272986" y="1325562"/>
                <a:ext cx="8554022" cy="49289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50000"/>
                  </a:spcBef>
                </a:pPr>
                <a:r>
                  <a:rPr lang="en-US" altLang="zh-TW" sz="2400" dirty="0" smtClean="0">
                    <a:latin typeface="Times New Roman" panose="02020603050405020304" pitchFamily="18" charset="0"/>
                    <a:cs typeface="Times New Roman" panose="02020603050405020304" pitchFamily="18" charset="0"/>
                  </a:rPr>
                  <a:t>The algorithm also propagates accumulated scores from the left-upper borders to the bottom-right borders of each block.</a:t>
                </a:r>
              </a:p>
              <a:p>
                <a:pPr>
                  <a:spcBef>
                    <a:spcPct val="50000"/>
                  </a:spcBef>
                </a:pPr>
                <a:r>
                  <a:rPr lang="en-US" altLang="zh-TW" sz="2400" dirty="0">
                    <a:latin typeface="Times New Roman" panose="02020603050405020304" pitchFamily="18" charset="0"/>
                    <a:cs typeface="Times New Roman" panose="02020603050405020304" pitchFamily="18" charset="0"/>
                  </a:rPr>
                  <a:t>Consider the block R for comparing </a:t>
                </a:r>
                <a14:m>
                  <m:oMath xmlns:m="http://schemas.openxmlformats.org/officeDocument/2006/math">
                    <m:sSup>
                      <m:sSupPr>
                        <m:ctrlPr>
                          <a:rPr lang="en-US" altLang="zh-TW" sz="2400" i="1" dirty="0" smtClean="0">
                            <a:latin typeface="Cambria Math" panose="02040503050406030204" pitchFamily="18" charset="0"/>
                            <a:cs typeface="Times New Roman" panose="02020603050405020304" pitchFamily="18" charset="0"/>
                            <a:sym typeface="Math A" pitchFamily="18" charset="2"/>
                          </a:rPr>
                        </m:ctrlPr>
                      </m:sSupPr>
                      <m:e>
                        <m:r>
                          <a:rPr lang="en-US" altLang="zh-TW" sz="2400" i="1" dirty="0">
                            <a:latin typeface="Cambria Math" panose="02040503050406030204" pitchFamily="18" charset="0"/>
                            <a:cs typeface="Times New Roman" panose="02020603050405020304" pitchFamily="18" charset="0"/>
                            <a:sym typeface="Math A" pitchFamily="18" charset="2"/>
                          </a:rPr>
                          <m:t></m:t>
                        </m:r>
                      </m:e>
                      <m:sup>
                        <m:r>
                          <a:rPr lang="en-US" altLang="zh-TW" sz="2400" b="0" i="1" dirty="0" smtClean="0">
                            <a:latin typeface="Cambria Math" panose="02040503050406030204" pitchFamily="18" charset="0"/>
                            <a:cs typeface="Times New Roman" panose="02020603050405020304" pitchFamily="18" charset="0"/>
                            <a:sym typeface="Math A" pitchFamily="18" charset="2"/>
                          </a:rPr>
                          <m:t>𝑖</m:t>
                        </m:r>
                      </m:sup>
                    </m:sSup>
                  </m:oMath>
                </a14:m>
                <a:r>
                  <a:rPr lang="en-US" altLang="zh-TW" sz="2400" i="1" baseline="40000" dirty="0">
                    <a:latin typeface="Times New Roman" panose="02020603050405020304" pitchFamily="18" charset="0"/>
                    <a:cs typeface="Times New Roman" panose="02020603050405020304" pitchFamily="18" charset="0"/>
                    <a:sym typeface="Math A" pitchFamily="18" charset="2"/>
                  </a:rPr>
                  <a:t> </a:t>
                </a:r>
                <a:r>
                  <a:rPr lang="en-US" altLang="zh-TW" sz="2400" dirty="0">
                    <a:latin typeface="Times New Roman" panose="02020603050405020304" pitchFamily="18" charset="0"/>
                    <a:cs typeface="Times New Roman" panose="02020603050405020304" pitchFamily="18" charset="0"/>
                    <a:sym typeface="Math A" pitchFamily="18" charset="2"/>
                  </a:rPr>
                  <a:t>of X and </a:t>
                </a:r>
                <a14:m>
                  <m:oMath xmlns:m="http://schemas.openxmlformats.org/officeDocument/2006/math">
                    <m:sSup>
                      <m:sSupPr>
                        <m:ctrlPr>
                          <a:rPr lang="en-US" altLang="zh-TW" sz="2400" i="1" dirty="0">
                            <a:latin typeface="Cambria Math" panose="02040503050406030204" pitchFamily="18" charset="0"/>
                            <a:cs typeface="Times New Roman" panose="02020603050405020304" pitchFamily="18" charset="0"/>
                            <a:sym typeface="Math A" pitchFamily="18" charset="2"/>
                          </a:rPr>
                        </m:ctrlPr>
                      </m:sSupPr>
                      <m:e>
                        <m:r>
                          <m:rPr>
                            <m:nor/>
                          </m:rPr>
                          <a:rPr lang="en-US" altLang="zh-TW" sz="2400" dirty="0">
                            <a:latin typeface="Times New Roman" panose="02020603050405020304" pitchFamily="18" charset="0"/>
                            <a:cs typeface="Times New Roman" panose="02020603050405020304" pitchFamily="18" charset="0"/>
                            <a:sym typeface="Math A" pitchFamily="18" charset="2"/>
                          </a:rPr>
                          <m:t></m:t>
                        </m:r>
                      </m:e>
                      <m:sup>
                        <m:r>
                          <a:rPr lang="en-US" altLang="zh-TW" sz="2400" b="0" i="1" dirty="0" smtClean="0">
                            <a:latin typeface="Cambria Math" panose="02040503050406030204" pitchFamily="18" charset="0"/>
                            <a:cs typeface="Times New Roman" panose="02020603050405020304" pitchFamily="18" charset="0"/>
                            <a:sym typeface="Math A" pitchFamily="18" charset="2"/>
                          </a:rPr>
                          <m:t>𝑗</m:t>
                        </m:r>
                      </m:sup>
                    </m:sSup>
                  </m:oMath>
                </a14:m>
                <a:r>
                  <a:rPr lang="en-US" altLang="zh-TW" sz="2400" dirty="0">
                    <a:latin typeface="Times New Roman" panose="02020603050405020304" pitchFamily="18" charset="0"/>
                    <a:cs typeface="Times New Roman" panose="02020603050405020304" pitchFamily="18" charset="0"/>
                    <a:sym typeface="Math A" pitchFamily="18" charset="2"/>
                  </a:rPr>
                  <a:t> </a:t>
                </a:r>
                <a:r>
                  <a:rPr lang="en-US" altLang="zh-TW" sz="2400" i="1" baseline="40000" dirty="0">
                    <a:latin typeface="Times New Roman" panose="02020603050405020304" pitchFamily="18" charset="0"/>
                    <a:cs typeface="Times New Roman" panose="02020603050405020304" pitchFamily="18" charset="0"/>
                    <a:sym typeface="Math A" pitchFamily="18" charset="2"/>
                  </a:rPr>
                  <a:t> </a:t>
                </a:r>
                <a:r>
                  <a:rPr lang="en-US" altLang="zh-TW" sz="2400" dirty="0">
                    <a:latin typeface="Times New Roman" panose="02020603050405020304" pitchFamily="18" charset="0"/>
                    <a:cs typeface="Times New Roman" panose="02020603050405020304" pitchFamily="18" charset="0"/>
                    <a:sym typeface="Math A" pitchFamily="18" charset="2"/>
                  </a:rPr>
                  <a:t>of </a:t>
                </a:r>
                <a:r>
                  <a:rPr lang="en-US" altLang="zh-TW" sz="2400" dirty="0" smtClean="0">
                    <a:latin typeface="Times New Roman" panose="02020603050405020304" pitchFamily="18" charset="0"/>
                    <a:cs typeface="Times New Roman" panose="02020603050405020304" pitchFamily="18" charset="0"/>
                    <a:sym typeface="Math A" pitchFamily="18" charset="2"/>
                  </a:rPr>
                  <a:t>Y. An </a:t>
                </a:r>
                <a:r>
                  <a:rPr lang="en-US" altLang="zh-TW" sz="2400" dirty="0">
                    <a:latin typeface="Times New Roman" panose="02020603050405020304" pitchFamily="18" charset="0"/>
                    <a:cs typeface="Times New Roman" panose="02020603050405020304" pitchFamily="18" charset="0"/>
                    <a:sym typeface="Math A" pitchFamily="18" charset="2"/>
                  </a:rPr>
                  <a:t>edge in R could be assigned one of </a:t>
                </a:r>
                <a:r>
                  <a:rPr lang="en-US" altLang="zh-TW" sz="2400" dirty="0">
                    <a:solidFill>
                      <a:srgbClr val="FF0000"/>
                    </a:solidFill>
                    <a:latin typeface="Times New Roman" panose="02020603050405020304" pitchFamily="18" charset="0"/>
                    <a:cs typeface="Times New Roman" panose="02020603050405020304" pitchFamily="18" charset="0"/>
                    <a:sym typeface="Math A" pitchFamily="18" charset="2"/>
                  </a:rPr>
                  <a:t>three values: </a:t>
                </a:r>
                <a:r>
                  <a:rPr lang="en-US" altLang="zh-TW" sz="2400" b="1" dirty="0">
                    <a:solidFill>
                      <a:srgbClr val="FF0000"/>
                    </a:solidFill>
                    <a:latin typeface="Times New Roman" panose="02020603050405020304" pitchFamily="18" charset="0"/>
                    <a:cs typeface="Times New Roman" panose="02020603050405020304" pitchFamily="18" charset="0"/>
                    <a:sym typeface="Math A" pitchFamily="18" charset="2"/>
                  </a:rPr>
                  <a:t>D</a:t>
                </a:r>
                <a:r>
                  <a:rPr lang="en-US" altLang="zh-TW" sz="2400" dirty="0">
                    <a:solidFill>
                      <a:srgbClr val="FF0000"/>
                    </a:solidFill>
                    <a:latin typeface="Times New Roman" panose="02020603050405020304" pitchFamily="18" charset="0"/>
                    <a:cs typeface="Times New Roman" panose="02020603050405020304" pitchFamily="18" charset="0"/>
                    <a:sym typeface="Math A" pitchFamily="18" charset="2"/>
                  </a:rPr>
                  <a:t>(diagonal), </a:t>
                </a:r>
                <a:r>
                  <a:rPr lang="en-US" altLang="zh-TW" sz="2400" b="1" dirty="0">
                    <a:solidFill>
                      <a:srgbClr val="FF0000"/>
                    </a:solidFill>
                    <a:latin typeface="Times New Roman" panose="02020603050405020304" pitchFamily="18" charset="0"/>
                    <a:cs typeface="Times New Roman" panose="02020603050405020304" pitchFamily="18" charset="0"/>
                    <a:sym typeface="Math A" pitchFamily="18" charset="2"/>
                  </a:rPr>
                  <a:t>H </a:t>
                </a:r>
                <a:r>
                  <a:rPr lang="en-US" altLang="zh-TW" sz="2400" dirty="0">
                    <a:solidFill>
                      <a:srgbClr val="FF0000"/>
                    </a:solidFill>
                    <a:latin typeface="Times New Roman" panose="02020603050405020304" pitchFamily="18" charset="0"/>
                    <a:cs typeface="Times New Roman" panose="02020603050405020304" pitchFamily="18" charset="0"/>
                    <a:sym typeface="Math A" pitchFamily="18" charset="2"/>
                  </a:rPr>
                  <a:t>(horizontal) and </a:t>
                </a:r>
                <a:r>
                  <a:rPr lang="en-US" altLang="zh-TW" sz="2400" b="1" dirty="0">
                    <a:solidFill>
                      <a:srgbClr val="FF0000"/>
                    </a:solidFill>
                    <a:latin typeface="Times New Roman" panose="02020603050405020304" pitchFamily="18" charset="0"/>
                    <a:cs typeface="Times New Roman" panose="02020603050405020304" pitchFamily="18" charset="0"/>
                    <a:sym typeface="Math A" pitchFamily="18" charset="2"/>
                  </a:rPr>
                  <a:t>V </a:t>
                </a:r>
                <a:r>
                  <a:rPr lang="en-US" altLang="zh-TW" sz="2400" dirty="0">
                    <a:solidFill>
                      <a:srgbClr val="FF0000"/>
                    </a:solidFill>
                    <a:latin typeface="Times New Roman" panose="02020603050405020304" pitchFamily="18" charset="0"/>
                    <a:cs typeface="Times New Roman" panose="02020603050405020304" pitchFamily="18" charset="0"/>
                    <a:sym typeface="Math A" pitchFamily="18" charset="2"/>
                  </a:rPr>
                  <a:t>(vertical)</a:t>
                </a:r>
                <a:r>
                  <a:rPr lang="en-US" altLang="zh-TW" sz="2400" dirty="0">
                    <a:latin typeface="Times New Roman" panose="02020603050405020304" pitchFamily="18" charset="0"/>
                    <a:cs typeface="Times New Roman" panose="02020603050405020304" pitchFamily="18" charset="0"/>
                    <a:sym typeface="Math A" pitchFamily="18" charset="2"/>
                  </a:rPr>
                  <a:t> according to scoring scheme.</a:t>
                </a:r>
              </a:p>
              <a:p>
                <a:pPr>
                  <a:spcBef>
                    <a:spcPct val="50000"/>
                  </a:spcBef>
                </a:pPr>
                <a:r>
                  <a:rPr lang="en-US" altLang="zh-TW" sz="2400" dirty="0" smtClean="0">
                    <a:latin typeface="Times New Roman" panose="02020603050405020304" pitchFamily="18" charset="0"/>
                    <a:cs typeface="Times New Roman" panose="02020603050405020304" pitchFamily="18" charset="0"/>
                    <a:sym typeface="Math A" pitchFamily="18" charset="2"/>
                  </a:rPr>
                  <a:t>Let </a:t>
                </a:r>
                <a:r>
                  <a:rPr lang="en-US" altLang="zh-TW" sz="2400" dirty="0">
                    <a:solidFill>
                      <a:srgbClr val="FF0000"/>
                    </a:solidFill>
                    <a:latin typeface="Times New Roman" panose="02020603050405020304" pitchFamily="18" charset="0"/>
                    <a:cs typeface="Times New Roman" panose="02020603050405020304" pitchFamily="18" charset="0"/>
                    <a:sym typeface="Math A" pitchFamily="18" charset="2"/>
                  </a:rPr>
                  <a:t>∆h and ∆w denote the diﬀerence in row index values and column </a:t>
                </a:r>
                <a:r>
                  <a:rPr lang="en-US" altLang="zh-TW" sz="2400" dirty="0" smtClean="0">
                    <a:solidFill>
                      <a:srgbClr val="FF0000"/>
                    </a:solidFill>
                    <a:latin typeface="Times New Roman" panose="02020603050405020304" pitchFamily="18" charset="0"/>
                    <a:cs typeface="Times New Roman" panose="02020603050405020304" pitchFamily="18" charset="0"/>
                    <a:sym typeface="Math A" pitchFamily="18" charset="2"/>
                  </a:rPr>
                  <a:t>index values</a:t>
                </a:r>
                <a:r>
                  <a:rPr lang="en-US" altLang="zh-TW" sz="2400" dirty="0">
                    <a:latin typeface="Times New Roman" panose="02020603050405020304" pitchFamily="18" charset="0"/>
                    <a:cs typeface="Times New Roman" panose="02020603050405020304" pitchFamily="18" charset="0"/>
                    <a:sym typeface="Math A" pitchFamily="18" charset="2"/>
                  </a:rPr>
                  <a:t>, respectively, between entry </a:t>
                </a:r>
                <a:r>
                  <a:rPr lang="en-US" altLang="zh-TW" sz="2400" dirty="0" err="1">
                    <a:latin typeface="Times New Roman" panose="02020603050405020304" pitchFamily="18" charset="0"/>
                    <a:cs typeface="Times New Roman" panose="02020603050405020304" pitchFamily="18" charset="0"/>
                    <a:sym typeface="Math A" pitchFamily="18" charset="2"/>
                  </a:rPr>
                  <a:t>i</a:t>
                </a:r>
                <a:r>
                  <a:rPr lang="en-US" altLang="zh-TW" sz="2400" dirty="0">
                    <a:latin typeface="Times New Roman" panose="02020603050405020304" pitchFamily="18" charset="0"/>
                    <a:cs typeface="Times New Roman" panose="02020603050405020304" pitchFamily="18" charset="0"/>
                    <a:sym typeface="Math A" pitchFamily="18" charset="2"/>
                  </a:rPr>
                  <a:t> on the input border of R and entry j on </a:t>
                </a:r>
                <a:r>
                  <a:rPr lang="en-US" altLang="zh-TW" sz="2400" dirty="0" smtClean="0">
                    <a:latin typeface="Times New Roman" panose="02020603050405020304" pitchFamily="18" charset="0"/>
                    <a:cs typeface="Times New Roman" panose="02020603050405020304" pitchFamily="18" charset="0"/>
                    <a:sym typeface="Math A" pitchFamily="18" charset="2"/>
                  </a:rPr>
                  <a:t>the output </a:t>
                </a:r>
                <a:r>
                  <a:rPr lang="en-US" altLang="zh-TW" sz="2400" dirty="0">
                    <a:latin typeface="Times New Roman" panose="02020603050405020304" pitchFamily="18" charset="0"/>
                    <a:cs typeface="Times New Roman" panose="02020603050405020304" pitchFamily="18" charset="0"/>
                    <a:sym typeface="Math A" pitchFamily="18" charset="2"/>
                  </a:rPr>
                  <a:t>border of R</a:t>
                </a:r>
                <a:r>
                  <a:rPr lang="en-US" altLang="zh-TW" sz="2400" dirty="0" smtClean="0">
                    <a:latin typeface="Times New Roman" panose="02020603050405020304" pitchFamily="18" charset="0"/>
                    <a:cs typeface="Times New Roman" panose="02020603050405020304" pitchFamily="18" charset="0"/>
                    <a:sym typeface="Math A" pitchFamily="18" charset="2"/>
                  </a:rPr>
                  <a:t>.</a:t>
                </a:r>
              </a:p>
              <a:p>
                <a:pPr>
                  <a:spcBef>
                    <a:spcPct val="50000"/>
                  </a:spcBef>
                </a:pPr>
                <a:r>
                  <a:rPr lang="en-US" altLang="zh-TW" sz="2400" dirty="0">
                    <a:latin typeface="Times New Roman" panose="02020603050405020304" pitchFamily="18" charset="0"/>
                    <a:cs typeface="Times New Roman" panose="02020603050405020304" pitchFamily="18" charset="0"/>
                    <a:sym typeface="Math A" pitchFamily="18" charset="2"/>
                  </a:rPr>
                  <a:t>We show how to compute DIST [</a:t>
                </a:r>
                <a:r>
                  <a:rPr lang="en-US" altLang="zh-TW" sz="2400" dirty="0" err="1">
                    <a:latin typeface="Times New Roman" panose="02020603050405020304" pitchFamily="18" charset="0"/>
                    <a:cs typeface="Times New Roman" panose="02020603050405020304" pitchFamily="18" charset="0"/>
                    <a:sym typeface="Math A" pitchFamily="18" charset="2"/>
                  </a:rPr>
                  <a:t>i</a:t>
                </a:r>
                <a:r>
                  <a:rPr lang="en-US" altLang="zh-TW" sz="2400" dirty="0">
                    <a:latin typeface="Times New Roman" panose="02020603050405020304" pitchFamily="18" charset="0"/>
                    <a:cs typeface="Times New Roman" panose="02020603050405020304" pitchFamily="18" charset="0"/>
                    <a:sym typeface="Math A" pitchFamily="18" charset="2"/>
                  </a:rPr>
                  <a:t>, j] (which is the </a:t>
                </a:r>
                <a:r>
                  <a:rPr lang="en-US" altLang="zh-TW" sz="2400" dirty="0">
                    <a:solidFill>
                      <a:srgbClr val="FF0000"/>
                    </a:solidFill>
                    <a:latin typeface="Times New Roman" panose="02020603050405020304" pitchFamily="18" charset="0"/>
                    <a:cs typeface="Times New Roman" panose="02020603050405020304" pitchFamily="18" charset="0"/>
                    <a:sym typeface="Math A" pitchFamily="18" charset="2"/>
                  </a:rPr>
                  <a:t>cost of the best scoring </a:t>
                </a:r>
                <a:r>
                  <a:rPr lang="en-US" altLang="zh-TW" sz="2400" dirty="0" smtClean="0">
                    <a:solidFill>
                      <a:srgbClr val="FF0000"/>
                    </a:solidFill>
                    <a:latin typeface="Times New Roman" panose="02020603050405020304" pitchFamily="18" charset="0"/>
                    <a:cs typeface="Times New Roman" panose="02020603050405020304" pitchFamily="18" charset="0"/>
                    <a:sym typeface="Math A" pitchFamily="18" charset="2"/>
                  </a:rPr>
                  <a:t>path</a:t>
                </a:r>
                <a:r>
                  <a:rPr lang="en-US" altLang="zh-TW" sz="2400" dirty="0" smtClean="0">
                    <a:latin typeface="Times New Roman" panose="02020603050405020304" pitchFamily="18" charset="0"/>
                    <a:cs typeface="Times New Roman" panose="02020603050405020304" pitchFamily="18" charset="0"/>
                    <a:sym typeface="Math A" pitchFamily="18" charset="2"/>
                  </a:rPr>
                  <a:t> from </a:t>
                </a:r>
                <a:r>
                  <a:rPr lang="en-US" altLang="zh-TW" sz="2400" dirty="0">
                    <a:latin typeface="Times New Roman" panose="02020603050405020304" pitchFamily="18" charset="0"/>
                    <a:cs typeface="Times New Roman" panose="02020603050405020304" pitchFamily="18" charset="0"/>
                    <a:sym typeface="Math A" pitchFamily="18" charset="2"/>
                  </a:rPr>
                  <a:t>entry </a:t>
                </a:r>
                <a:r>
                  <a:rPr lang="en-US" altLang="zh-TW" sz="2400" dirty="0" err="1">
                    <a:latin typeface="Times New Roman" panose="02020603050405020304" pitchFamily="18" charset="0"/>
                    <a:cs typeface="Times New Roman" panose="02020603050405020304" pitchFamily="18" charset="0"/>
                    <a:sym typeface="Math A" pitchFamily="18" charset="2"/>
                  </a:rPr>
                  <a:t>i</a:t>
                </a:r>
                <a:r>
                  <a:rPr lang="en-US" altLang="zh-TW" sz="2400" dirty="0">
                    <a:latin typeface="Times New Roman" panose="02020603050405020304" pitchFamily="18" charset="0"/>
                    <a:cs typeface="Times New Roman" panose="02020603050405020304" pitchFamily="18" charset="0"/>
                    <a:sym typeface="Math A" pitchFamily="18" charset="2"/>
                  </a:rPr>
                  <a:t> in the input border of the block to entry j in the output border of </a:t>
                </a:r>
                <a:r>
                  <a:rPr lang="en-US" altLang="zh-TW" sz="2400" dirty="0" smtClean="0">
                    <a:latin typeface="Times New Roman" panose="02020603050405020304" pitchFamily="18" charset="0"/>
                    <a:cs typeface="Times New Roman" panose="02020603050405020304" pitchFamily="18" charset="0"/>
                    <a:sym typeface="Math A" pitchFamily="18" charset="2"/>
                  </a:rPr>
                  <a:t>the block</a:t>
                </a:r>
                <a:r>
                  <a:rPr lang="en-US" altLang="zh-TW" sz="2400" dirty="0">
                    <a:latin typeface="Times New Roman" panose="02020603050405020304" pitchFamily="18" charset="0"/>
                    <a:cs typeface="Times New Roman" panose="02020603050405020304" pitchFamily="18" charset="0"/>
                    <a:sym typeface="Math A" pitchFamily="18" charset="2"/>
                  </a:rPr>
                  <a:t>) in constant time, given ∆h and ∆w for the input and output entries, and </a:t>
                </a:r>
                <a:r>
                  <a:rPr lang="en-US" altLang="zh-TW" sz="2400" dirty="0" smtClean="0">
                    <a:latin typeface="Times New Roman" panose="02020603050405020304" pitchFamily="18" charset="0"/>
                    <a:cs typeface="Times New Roman" panose="02020603050405020304" pitchFamily="18" charset="0"/>
                    <a:sym typeface="Math A" pitchFamily="18" charset="2"/>
                  </a:rPr>
                  <a:t>the values </a:t>
                </a:r>
                <a:r>
                  <a:rPr lang="en-US" altLang="zh-TW" sz="2400" dirty="0">
                    <a:latin typeface="Times New Roman" panose="02020603050405020304" pitchFamily="18" charset="0"/>
                    <a:cs typeface="Times New Roman" panose="02020603050405020304" pitchFamily="18" charset="0"/>
                    <a:sym typeface="Math A" pitchFamily="18" charset="2"/>
                  </a:rPr>
                  <a:t>D, H , and V .</a:t>
                </a:r>
                <a:endParaRPr lang="en-US" altLang="zh-TW" sz="2400" dirty="0" smtClean="0">
                  <a:latin typeface="Times New Roman" panose="02020603050405020304" pitchFamily="18" charset="0"/>
                  <a:cs typeface="Times New Roman" panose="02020603050405020304" pitchFamily="18" charset="0"/>
                </a:endParaRPr>
              </a:p>
            </p:txBody>
          </p:sp>
        </mc:Choice>
        <mc:Fallback xmlns="">
          <p:sp>
            <p:nvSpPr>
              <p:cNvPr id="5" name="內容版面配置區 2"/>
              <p:cNvSpPr txBox="1">
                <a:spLocks noRot="1" noChangeAspect="1" noMove="1" noResize="1" noEditPoints="1" noAdjustHandles="1" noChangeArrowheads="1" noChangeShapeType="1" noTextEdit="1"/>
              </p:cNvSpPr>
              <p:nvPr/>
            </p:nvSpPr>
            <p:spPr>
              <a:xfrm>
                <a:off x="272986" y="1325562"/>
                <a:ext cx="8554022" cy="4928933"/>
              </a:xfrm>
              <a:prstGeom prst="rect">
                <a:avLst/>
              </a:prstGeom>
              <a:blipFill rotWithShape="0">
                <a:blip r:embed="rId3"/>
                <a:stretch>
                  <a:fillRect l="-998" t="-1731" r="-114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422178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57671"/>
            <a:ext cx="7886700" cy="1325563"/>
          </a:xfrm>
        </p:spPr>
        <p:txBody>
          <a:bodyPr>
            <a:normAutofit/>
          </a:bodyPr>
          <a:lstStyle/>
          <a:p>
            <a:pPr algn="ctr"/>
            <a:r>
              <a:rPr lang="en-US" altLang="zh-TW" dirty="0">
                <a:latin typeface="Times New Roman" panose="02020603050405020304" pitchFamily="18" charset="0"/>
                <a:cs typeface="Times New Roman" panose="02020603050405020304" pitchFamily="18" charset="0"/>
              </a:rPr>
              <a:t>Computing DIST[</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152" name="內容版面配置區 2"/>
          <p:cNvSpPr>
            <a:spLocks noGrp="1"/>
          </p:cNvSpPr>
          <p:nvPr>
            <p:ph idx="1"/>
          </p:nvPr>
        </p:nvSpPr>
        <p:spPr>
          <a:xfrm>
            <a:off x="0" y="567784"/>
            <a:ext cx="8710422" cy="4351338"/>
          </a:xfrm>
        </p:spPr>
        <p:txBody>
          <a:bodyPr>
            <a:noAutofit/>
          </a:bodyPr>
          <a:lstStyle/>
          <a:p>
            <a:pPr>
              <a:spcBef>
                <a:spcPct val="50000"/>
              </a:spcBef>
            </a:pPr>
            <a:r>
              <a:rPr lang="en-US" altLang="zh-TW" sz="2400" dirty="0">
                <a:latin typeface="Times New Roman" panose="02020603050405020304" pitchFamily="18" charset="0"/>
                <a:cs typeface="Times New Roman" panose="02020603050405020304" pitchFamily="18" charset="0"/>
              </a:rPr>
              <a:t>H + V ≤ D. Clearly, an optimal path from </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to j can use all </a:t>
            </a:r>
            <a:r>
              <a:rPr lang="en-US" altLang="zh-TW" sz="2400" dirty="0" smtClean="0">
                <a:latin typeface="Times New Roman" panose="02020603050405020304" pitchFamily="18" charset="0"/>
                <a:cs typeface="Times New Roman" panose="02020603050405020304" pitchFamily="18" charset="0"/>
              </a:rPr>
              <a:t>possible diagonal </a:t>
            </a:r>
            <a:r>
              <a:rPr lang="en-US" altLang="zh-TW" sz="2400" dirty="0">
                <a:latin typeface="Times New Roman" panose="02020603050405020304" pitchFamily="18" charset="0"/>
                <a:cs typeface="Times New Roman" panose="02020603050405020304" pitchFamily="18" charset="0"/>
              </a:rPr>
              <a:t>edges and only then the minimal number of remaining H and </a:t>
            </a:r>
            <a:r>
              <a:rPr lang="en-US" altLang="zh-TW" sz="2400" dirty="0" smtClean="0">
                <a:latin typeface="Times New Roman" panose="02020603050405020304" pitchFamily="18" charset="0"/>
                <a:cs typeface="Times New Roman" panose="02020603050405020304" pitchFamily="18" charset="0"/>
              </a:rPr>
              <a:t>V edges </a:t>
            </a:r>
            <a:r>
              <a:rPr lang="en-US" altLang="zh-TW" sz="2400" dirty="0">
                <a:latin typeface="Times New Roman" panose="02020603050405020304" pitchFamily="18" charset="0"/>
                <a:cs typeface="Times New Roman" panose="02020603050405020304" pitchFamily="18" charset="0"/>
              </a:rPr>
              <a:t>necessary to reach j.</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Therefore, DIST [</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j] obtains one of three values:</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1. If ∆w = ∆h , then DIST [</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j] = D × ∆h .</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2. If ∆w &gt; ∆h , then DIST [</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j] = </a:t>
            </a:r>
            <a:r>
              <a:rPr lang="en-US" altLang="zh-TW" sz="2400" dirty="0" smtClean="0">
                <a:latin typeface="Times New Roman" panose="02020603050405020304" pitchFamily="18" charset="0"/>
                <a:cs typeface="Times New Roman" panose="02020603050405020304" pitchFamily="18" charset="0"/>
              </a:rPr>
              <a:t>D </a:t>
            </a:r>
            <a:r>
              <a:rPr lang="en-US" altLang="zh-TW" sz="2400" dirty="0">
                <a:latin typeface="Times New Roman" panose="02020603050405020304" pitchFamily="18" charset="0"/>
                <a:cs typeface="Times New Roman" panose="02020603050405020304" pitchFamily="18" charset="0"/>
              </a:rPr>
              <a:t>× ∆h + H × (∆w − ∆h ).</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3. If ∆w &lt; ∆h , then DIST [</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j] = </a:t>
            </a:r>
            <a:r>
              <a:rPr lang="en-US" altLang="zh-TW" sz="2400" dirty="0" smtClean="0">
                <a:latin typeface="Times New Roman" panose="02020603050405020304" pitchFamily="18" charset="0"/>
                <a:cs typeface="Times New Roman" panose="02020603050405020304" pitchFamily="18" charset="0"/>
              </a:rPr>
              <a:t>D </a:t>
            </a:r>
            <a:r>
              <a:rPr lang="en-US" altLang="zh-TW" sz="2400" dirty="0">
                <a:latin typeface="Times New Roman" panose="02020603050405020304" pitchFamily="18" charset="0"/>
                <a:cs typeface="Times New Roman" panose="02020603050405020304" pitchFamily="18" charset="0"/>
              </a:rPr>
              <a:t>× ∆w + V × (∆h − ∆w </a:t>
            </a:r>
            <a:r>
              <a:rPr lang="en-US" altLang="zh-TW" sz="2400" dirty="0" smtClean="0">
                <a:latin typeface="Times New Roman" panose="02020603050405020304" pitchFamily="18" charset="0"/>
                <a:cs typeface="Times New Roman" panose="02020603050405020304" pitchFamily="18" charset="0"/>
              </a:rPr>
              <a:t>).</a:t>
            </a:r>
          </a:p>
          <a:p>
            <a:pPr marL="0" indent="0">
              <a:spcBef>
                <a:spcPct val="50000"/>
              </a:spcBef>
              <a:buNone/>
            </a:pPr>
            <a:endParaRPr lang="en-US" altLang="zh-TW" sz="2400" dirty="0">
              <a:latin typeface="Times New Roman" panose="02020603050405020304" pitchFamily="18" charset="0"/>
              <a:cs typeface="Times New Roman" panose="02020603050405020304" pitchFamily="18" charset="0"/>
            </a:endParaRP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 H + V &gt; D. In this case, an optimal path never uses any diagonal edge</a:t>
            </a:r>
            <a:r>
              <a:rPr lang="en-US" altLang="zh-TW" sz="2400" dirty="0" smtClean="0">
                <a:latin typeface="Times New Roman" panose="02020603050405020304" pitchFamily="18" charset="0"/>
                <a:cs typeface="Times New Roman" panose="02020603050405020304" pitchFamily="18" charset="0"/>
              </a:rPr>
              <a:t>.</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DIST[</a:t>
            </a:r>
            <a:r>
              <a:rPr lang="en-US" altLang="zh-TW" sz="2400" dirty="0" err="1">
                <a:latin typeface="Times New Roman" panose="02020603050405020304" pitchFamily="18" charset="0"/>
                <a:cs typeface="Times New Roman" panose="02020603050405020304" pitchFamily="18" charset="0"/>
              </a:rPr>
              <a:t>i,j</a:t>
            </a:r>
            <a:r>
              <a:rPr lang="en-US" altLang="zh-TW" sz="2400" dirty="0" smtClean="0">
                <a:latin typeface="Times New Roman" panose="02020603050405020304" pitchFamily="18" charset="0"/>
                <a:cs typeface="Times New Roman" panose="02020603050405020304" pitchFamily="18" charset="0"/>
              </a:rPr>
              <a:t>] = H </a:t>
            </a:r>
            <a:r>
              <a:rPr lang="en-US" altLang="zh-TW" sz="2400" dirty="0">
                <a:latin typeface="Times New Roman" panose="02020603050405020304" pitchFamily="18" charset="0"/>
                <a:cs typeface="Times New Roman" panose="02020603050405020304" pitchFamily="18" charset="0"/>
              </a:rPr>
              <a:t>× ∆w + V × ∆h </a:t>
            </a:r>
            <a:endParaRPr lang="en-US" altLang="zh-TW" sz="2400" dirty="0" smtClean="0">
              <a:latin typeface="Times New Roman" panose="02020603050405020304" pitchFamily="18" charset="0"/>
              <a:cs typeface="Times New Roman" panose="02020603050405020304" pitchFamily="18" charset="0"/>
            </a:endParaRPr>
          </a:p>
          <a:p>
            <a:pPr marL="0" indent="0">
              <a:spcBef>
                <a:spcPct val="50000"/>
              </a:spcBef>
              <a:buNone/>
            </a:pPr>
            <a:endParaRPr lang="en-US" altLang="zh-TW" sz="2400" dirty="0">
              <a:latin typeface="Times New Roman" panose="02020603050405020304" pitchFamily="18" charset="0"/>
              <a:cs typeface="Times New Roman" panose="02020603050405020304" pitchFamily="18" charset="0"/>
            </a:endParaRPr>
          </a:p>
          <a:p>
            <a:pPr marL="0" indent="0">
              <a:spcBef>
                <a:spcPct val="50000"/>
              </a:spcBef>
              <a:buNone/>
            </a:pPr>
            <a:r>
              <a:rPr lang="en-US" altLang="zh-TW" sz="2400" dirty="0" smtClean="0">
                <a:latin typeface="Times New Roman" panose="02020603050405020304" pitchFamily="18" charset="0"/>
                <a:cs typeface="Times New Roman" panose="02020603050405020304" pitchFamily="18" charset="0"/>
              </a:rPr>
              <a:t>Therefore </a:t>
            </a:r>
            <a:r>
              <a:rPr lang="en-US" altLang="zh-TW" sz="2400" dirty="0">
                <a:latin typeface="Times New Roman" panose="02020603050405020304" pitchFamily="18" charset="0"/>
                <a:cs typeface="Times New Roman" panose="02020603050405020304" pitchFamily="18" charset="0"/>
              </a:rPr>
              <a:t>DIST[</a:t>
            </a:r>
            <a:r>
              <a:rPr lang="en-US" altLang="zh-TW" sz="2400" dirty="0" err="1">
                <a:latin typeface="Times New Roman" panose="02020603050405020304" pitchFamily="18" charset="0"/>
                <a:cs typeface="Times New Roman" panose="02020603050405020304" pitchFamily="18" charset="0"/>
              </a:rPr>
              <a:t>i,j</a:t>
            </a:r>
            <a:r>
              <a:rPr lang="en-US" altLang="zh-TW" sz="2400" dirty="0">
                <a:latin typeface="Times New Roman" panose="02020603050405020304" pitchFamily="18" charset="0"/>
                <a:cs typeface="Times New Roman" panose="02020603050405020304" pitchFamily="18" charset="0"/>
              </a:rPr>
              <a:t>] can be easily computed in </a:t>
            </a:r>
            <a:r>
              <a:rPr lang="en-US" altLang="zh-TW" sz="2400" dirty="0">
                <a:solidFill>
                  <a:srgbClr val="FF0000"/>
                </a:solidFill>
                <a:latin typeface="Times New Roman" panose="02020603050405020304" pitchFamily="18" charset="0"/>
                <a:cs typeface="Times New Roman" panose="02020603050405020304" pitchFamily="18" charset="0"/>
              </a:rPr>
              <a:t>constant time </a:t>
            </a:r>
            <a:r>
              <a:rPr lang="en-US" altLang="zh-TW" sz="2400" dirty="0">
                <a:latin typeface="Times New Roman" panose="02020603050405020304" pitchFamily="18" charset="0"/>
                <a:cs typeface="Times New Roman" panose="02020603050405020304" pitchFamily="18" charset="0"/>
              </a:rPr>
              <a:t>given a scoring scheme.</a:t>
            </a:r>
          </a:p>
        </p:txBody>
      </p:sp>
      <p:pic>
        <p:nvPicPr>
          <p:cNvPr id="3" name="圖片 2"/>
          <p:cNvPicPr>
            <a:picLocks noChangeAspect="1"/>
          </p:cNvPicPr>
          <p:nvPr/>
        </p:nvPicPr>
        <p:blipFill>
          <a:blip r:embed="rId3"/>
          <a:stretch>
            <a:fillRect/>
          </a:stretch>
        </p:blipFill>
        <p:spPr>
          <a:xfrm>
            <a:off x="7351776" y="1456464"/>
            <a:ext cx="1792224" cy="2283720"/>
          </a:xfrm>
          <a:prstGeom prst="rect">
            <a:avLst/>
          </a:prstGeom>
        </p:spPr>
      </p:pic>
      <p:cxnSp>
        <p:nvCxnSpPr>
          <p:cNvPr id="6" name="直線單箭頭接點 5"/>
          <p:cNvCxnSpPr/>
          <p:nvPr/>
        </p:nvCxnSpPr>
        <p:spPr>
          <a:xfrm>
            <a:off x="7545859" y="1754659"/>
            <a:ext cx="593125" cy="691979"/>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a:off x="8138984" y="2446638"/>
            <a:ext cx="271848"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a:off x="8336692" y="2446638"/>
            <a:ext cx="741405" cy="766119"/>
          </a:xfrm>
          <a:prstGeom prst="straightConnector1">
            <a:avLst/>
          </a:prstGeom>
          <a:ln w="317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a:off x="9078097" y="3212757"/>
            <a:ext cx="0" cy="444843"/>
          </a:xfrm>
          <a:prstGeom prst="straightConnector1">
            <a:avLst/>
          </a:prstGeom>
          <a:ln w="317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402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57671"/>
            <a:ext cx="7886700" cy="1325563"/>
          </a:xfrm>
        </p:spPr>
        <p:txBody>
          <a:bodyPr>
            <a:normAutofit/>
          </a:bodyPr>
          <a:lstStyle/>
          <a:p>
            <a:pPr algn="ctr"/>
            <a:r>
              <a:rPr lang="en-US" altLang="zh-TW" dirty="0" smtClean="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p:txBody>
      </p:sp>
      <p:sp>
        <p:nvSpPr>
          <p:cNvPr id="152" name="內容版面配置區 2"/>
          <p:cNvSpPr>
            <a:spLocks noGrp="1"/>
          </p:cNvSpPr>
          <p:nvPr>
            <p:ph idx="1"/>
          </p:nvPr>
        </p:nvSpPr>
        <p:spPr>
          <a:xfrm>
            <a:off x="216789" y="677512"/>
            <a:ext cx="8710422" cy="4351338"/>
          </a:xfrm>
        </p:spPr>
        <p:txBody>
          <a:bodyPr>
            <a:noAutofit/>
          </a:bodyPr>
          <a:lstStyle/>
          <a:p>
            <a:pPr marL="0" indent="0">
              <a:spcBef>
                <a:spcPct val="50000"/>
              </a:spcBef>
              <a:buNone/>
            </a:pPr>
            <a:r>
              <a:rPr lang="en-US" altLang="zh-TW" sz="2400" dirty="0">
                <a:latin typeface="Times New Roman" panose="02020603050405020304" pitchFamily="18" charset="0"/>
                <a:cs typeface="Times New Roman" panose="02020603050405020304" pitchFamily="18" charset="0"/>
              </a:rPr>
              <a:t>The O vector for each block is computed using SMAWK.</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Vector I for block R can be obtained from the O vectors for the blocks above R and the block in its left.</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Any value OUT[</a:t>
            </a:r>
            <a:r>
              <a:rPr lang="en-US" altLang="zh-TW" sz="2400" dirty="0" err="1">
                <a:latin typeface="Times New Roman" panose="02020603050405020304" pitchFamily="18" charset="0"/>
                <a:cs typeface="Times New Roman" panose="02020603050405020304" pitchFamily="18" charset="0"/>
              </a:rPr>
              <a:t>i,j</a:t>
            </a:r>
            <a:r>
              <a:rPr lang="en-US" altLang="zh-TW" sz="2400" dirty="0">
                <a:latin typeface="Times New Roman" panose="02020603050405020304" pitchFamily="18" charset="0"/>
                <a:cs typeface="Times New Roman" panose="02020603050405020304" pitchFamily="18" charset="0"/>
              </a:rPr>
              <a:t>]= I[</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 DIST[</a:t>
            </a:r>
            <a:r>
              <a:rPr lang="en-US" altLang="zh-TW" sz="2400" dirty="0" err="1">
                <a:latin typeface="Times New Roman" panose="02020603050405020304" pitchFamily="18" charset="0"/>
                <a:cs typeface="Times New Roman" panose="02020603050405020304" pitchFamily="18" charset="0"/>
              </a:rPr>
              <a:t>i,j</a:t>
            </a:r>
            <a:r>
              <a:rPr lang="en-US" altLang="zh-TW" sz="2400" dirty="0">
                <a:latin typeface="Times New Roman" panose="02020603050405020304" pitchFamily="18" charset="0"/>
                <a:cs typeface="Times New Roman" panose="02020603050405020304" pitchFamily="18" charset="0"/>
              </a:rPr>
              <a:t>], needed by SMAWK, can be computed in constant time.</a:t>
            </a:r>
          </a:p>
          <a:p>
            <a:pPr marL="0" indent="0">
              <a:spcBef>
                <a:spcPct val="50000"/>
              </a:spcBef>
              <a:buNone/>
            </a:pPr>
            <a:r>
              <a:rPr lang="en-US" altLang="zh-TW" sz="2400" dirty="0">
                <a:latin typeface="Times New Roman" panose="02020603050405020304" pitchFamily="18" charset="0"/>
                <a:cs typeface="Times New Roman" panose="02020603050405020304" pitchFamily="18" charset="0"/>
              </a:rPr>
              <a:t>Since The work for each block is linear with its I/O borders, the total time complexity is linear with the total size of the borders of the blocks – </a:t>
            </a:r>
            <a:r>
              <a:rPr lang="en-US" altLang="zh-TW" sz="2400" i="1" dirty="0" smtClean="0">
                <a:latin typeface="Times New Roman" panose="02020603050405020304" pitchFamily="18" charset="0"/>
                <a:cs typeface="Times New Roman" panose="02020603050405020304" pitchFamily="18" charset="0"/>
              </a:rPr>
              <a:t>O</a:t>
            </a:r>
            <a:r>
              <a:rPr lang="en-US" altLang="zh-TW" sz="2400" dirty="0" smtClean="0">
                <a:latin typeface="Times New Roman" panose="02020603050405020304" pitchFamily="18" charset="0"/>
                <a:cs typeface="Times New Roman" panose="02020603050405020304" pitchFamily="18" charset="0"/>
              </a:rPr>
              <a:t>(</a:t>
            </a:r>
            <a:r>
              <a:rPr lang="en-US" altLang="zh-TW" sz="2400" i="1" dirty="0" err="1" smtClean="0">
                <a:latin typeface="Times New Roman" panose="02020603050405020304" pitchFamily="18" charset="0"/>
                <a:cs typeface="Times New Roman" panose="02020603050405020304" pitchFamily="18" charset="0"/>
              </a:rPr>
              <a:t>m</a:t>
            </a:r>
            <a:r>
              <a:rPr lang="en-US" altLang="zh-TW" sz="2400" dirty="0" err="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dirty="0" err="1" smtClean="0">
                <a:latin typeface="Times New Roman" panose="02020603050405020304" pitchFamily="18" charset="0"/>
                <a:cs typeface="Times New Roman" panose="02020603050405020304" pitchFamily="18" charset="0"/>
              </a:rPr>
              <a:t>n</a:t>
            </a:r>
            <a:r>
              <a:rPr lang="en-US" altLang="zh-TW" sz="2400" i="1" dirty="0" smtClean="0">
                <a:latin typeface="Times New Roman" panose="02020603050405020304" pitchFamily="18" charset="0"/>
                <a:cs typeface="Times New Roman" panose="02020603050405020304" pitchFamily="18" charset="0"/>
              </a:rPr>
              <a:t> </a:t>
            </a:r>
            <a:r>
              <a:rPr lang="en-US" altLang="zh-TW" sz="2400" i="1" dirty="0">
                <a:latin typeface="Times New Roman" panose="02020603050405020304" pitchFamily="18" charset="0"/>
                <a:cs typeface="Times New Roman" panose="02020603050405020304" pitchFamily="18" charset="0"/>
              </a:rPr>
              <a:t>+ </a:t>
            </a:r>
            <a:r>
              <a:rPr lang="en-US" altLang="zh-TW" sz="2400" i="1" dirty="0" err="1" smtClean="0">
                <a:latin typeface="Times New Roman" panose="02020603050405020304" pitchFamily="18" charset="0"/>
                <a:cs typeface="Times New Roman" panose="02020603050405020304" pitchFamily="18" charset="0"/>
              </a:rPr>
              <a:t>n</a:t>
            </a:r>
            <a:r>
              <a:rPr lang="en-US" altLang="zh-TW" sz="2400" dirty="0" err="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TW" sz="2400" i="1" dirty="0" err="1" smtClean="0">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5" name="文字方塊 4"/>
              <p:cNvSpPr txBox="1"/>
              <p:nvPr/>
            </p:nvSpPr>
            <p:spPr>
              <a:xfrm>
                <a:off x="2459448" y="4570840"/>
                <a:ext cx="6684552" cy="916020"/>
              </a:xfrm>
              <a:prstGeom prst="rect">
                <a:avLst/>
              </a:prstGeom>
              <a:noFill/>
            </p:spPr>
            <p:txBody>
              <a:bodyPr wrap="square" rtlCol="0">
                <a:spAutoFit/>
              </a:bodyPr>
              <a:lstStyle/>
              <a:p>
                <a:r>
                  <a:rPr lang="en-US" altLang="zh-TW" sz="4000" i="1" dirty="0" err="1" smtClean="0">
                    <a:latin typeface="Times New Roman" panose="02020603050405020304" pitchFamily="18" charset="0"/>
                    <a:cs typeface="Times New Roman" panose="02020603050405020304" pitchFamily="18" charset="0"/>
                  </a:rPr>
                  <a:t>m</a:t>
                </a:r>
                <a:r>
                  <a:rPr lang="en-US" altLang="zh-TW" sz="4000" dirty="0" err="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TW" sz="4000" i="1" dirty="0" err="1" smtClean="0">
                    <a:latin typeface="Times New Roman" panose="02020603050405020304" pitchFamily="18" charset="0"/>
                    <a:cs typeface="Times New Roman" panose="02020603050405020304" pitchFamily="18" charset="0"/>
                    <a:sym typeface="Symbol" panose="05050102010706020507" pitchFamily="18" charset="2"/>
                  </a:rPr>
                  <a:t>n</a:t>
                </a:r>
                <a:r>
                  <a:rPr lang="en-US" altLang="zh-TW" sz="4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altLang="zh-TW" sz="4000" dirty="0" smtClean="0">
                    <a:latin typeface="Times New Roman" panose="02020603050405020304" pitchFamily="18" charset="0"/>
                    <a:cs typeface="Times New Roman" panose="02020603050405020304" pitchFamily="18" charset="0"/>
                  </a:rPr>
                  <a:t> x  (</a:t>
                </a:r>
                <a14:m>
                  <m:oMath xmlns:m="http://schemas.openxmlformats.org/officeDocument/2006/math">
                    <m:f>
                      <m:fPr>
                        <m:ctrlPr>
                          <a:rPr lang="en-US" altLang="zh-TW" sz="4000" i="1" smtClean="0">
                            <a:latin typeface="Cambria Math" panose="02040503050406030204" pitchFamily="18" charset="0"/>
                          </a:rPr>
                        </m:ctrlPr>
                      </m:fPr>
                      <m:num>
                        <m:r>
                          <a:rPr lang="en-US" altLang="zh-TW" sz="4000" b="0" i="1" smtClean="0">
                            <a:latin typeface="Cambria Math" panose="02040503050406030204" pitchFamily="18" charset="0"/>
                          </a:rPr>
                          <m:t>𝑛</m:t>
                        </m:r>
                      </m:num>
                      <m:den>
                        <m:r>
                          <a:rPr lang="en-US" altLang="zh-TW" sz="4000" b="0" i="1" smtClean="0">
                            <a:latin typeface="Cambria Math" panose="02040503050406030204" pitchFamily="18" charset="0"/>
                          </a:rPr>
                          <m:t>𝑛</m:t>
                        </m:r>
                        <m:r>
                          <m:rPr>
                            <m:nor/>
                          </m:rPr>
                          <a:rPr lang="en-US" altLang="zh-TW" sz="4000" dirty="0">
                            <a:latin typeface="Times New Roman" panose="02020603050405020304" pitchFamily="18" charset="0"/>
                            <a:cs typeface="Times New Roman" panose="02020603050405020304" pitchFamily="18" charset="0"/>
                            <a:sym typeface="Symbol" panose="05050102010706020507" pitchFamily="18" charset="2"/>
                          </a:rPr>
                          <m:t></m:t>
                        </m:r>
                      </m:den>
                    </m:f>
                  </m:oMath>
                </a14:m>
                <a:r>
                  <a:rPr lang="en-US" altLang="zh-TW" sz="4000" dirty="0" smtClean="0">
                    <a:latin typeface="Times New Roman" panose="02020603050405020304" pitchFamily="18" charset="0"/>
                    <a:cs typeface="Times New Roman" panose="02020603050405020304" pitchFamily="18" charset="0"/>
                  </a:rPr>
                  <a:t> + </a:t>
                </a:r>
                <a14:m>
                  <m:oMath xmlns:m="http://schemas.openxmlformats.org/officeDocument/2006/math">
                    <m:f>
                      <m:fPr>
                        <m:ctrlPr>
                          <a:rPr lang="en-US" altLang="zh-TW" sz="4000" i="1">
                            <a:latin typeface="Cambria Math" panose="02040503050406030204" pitchFamily="18" charset="0"/>
                          </a:rPr>
                        </m:ctrlPr>
                      </m:fPr>
                      <m:num>
                        <m:r>
                          <a:rPr lang="en-US" altLang="zh-TW" sz="4000" b="0" i="1" smtClean="0">
                            <a:latin typeface="Cambria Math" panose="02040503050406030204" pitchFamily="18" charset="0"/>
                          </a:rPr>
                          <m:t>𝑚</m:t>
                        </m:r>
                      </m:num>
                      <m:den>
                        <m:r>
                          <a:rPr lang="en-US" altLang="zh-TW" sz="4000" b="0" i="1" smtClean="0">
                            <a:latin typeface="Cambria Math" panose="02040503050406030204" pitchFamily="18" charset="0"/>
                          </a:rPr>
                          <m:t>𝑚</m:t>
                        </m:r>
                        <m:r>
                          <m:rPr>
                            <m:nor/>
                          </m:rPr>
                          <a:rPr lang="en-US" altLang="zh-TW" sz="4000" dirty="0" smtClean="0">
                            <a:latin typeface="Times New Roman" panose="02020603050405020304" pitchFamily="18" charset="0"/>
                            <a:cs typeface="Times New Roman" panose="02020603050405020304" pitchFamily="18" charset="0"/>
                            <a:sym typeface="Symbol" panose="05050102010706020507" pitchFamily="18" charset="2"/>
                          </a:rPr>
                          <m:t></m:t>
                        </m:r>
                      </m:den>
                    </m:f>
                  </m:oMath>
                </a14:m>
                <a:r>
                  <a:rPr lang="en-US" altLang="zh-TW" sz="4000" dirty="0" smtClean="0">
                    <a:latin typeface="Times New Roman" panose="02020603050405020304" pitchFamily="18" charset="0"/>
                    <a:cs typeface="Times New Roman" panose="02020603050405020304" pitchFamily="18" charset="0"/>
                  </a:rPr>
                  <a:t>)</a:t>
                </a:r>
                <a:r>
                  <a:rPr lang="zh-TW" altLang="en-US" sz="4000" dirty="0" smtClean="0">
                    <a:latin typeface="Times New Roman" panose="02020603050405020304" pitchFamily="18" charset="0"/>
                    <a:cs typeface="Times New Roman" panose="02020603050405020304" pitchFamily="18" charset="0"/>
                  </a:rPr>
                  <a:t>  </a:t>
                </a:r>
                <a:r>
                  <a:rPr lang="en-US" altLang="zh-TW" sz="4000" dirty="0" smtClean="0">
                    <a:latin typeface="Times New Roman" panose="02020603050405020304" pitchFamily="18" charset="0"/>
                    <a:cs typeface="Times New Roman" panose="02020603050405020304" pitchFamily="18" charset="0"/>
                  </a:rPr>
                  <a:t>=</a:t>
                </a:r>
                <a:r>
                  <a:rPr lang="en-US" altLang="zh-TW" sz="4000" dirty="0">
                    <a:latin typeface="Times New Roman" panose="02020603050405020304" pitchFamily="18" charset="0"/>
                    <a:cs typeface="Times New Roman" panose="02020603050405020304" pitchFamily="18" charset="0"/>
                  </a:rPr>
                  <a:t> </a:t>
                </a:r>
                <a:r>
                  <a:rPr lang="en-US" altLang="zh-TW" sz="4000" i="1" dirty="0" err="1">
                    <a:latin typeface="Times New Roman" panose="02020603050405020304" pitchFamily="18" charset="0"/>
                    <a:cs typeface="Times New Roman" panose="02020603050405020304" pitchFamily="18" charset="0"/>
                  </a:rPr>
                  <a:t>m</a:t>
                </a:r>
                <a:r>
                  <a:rPr lang="en-US" altLang="zh-TW" sz="4000" dirty="0" err="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TW" sz="4000" i="1" dirty="0" err="1" smtClean="0">
                    <a:latin typeface="Times New Roman" panose="02020603050405020304" pitchFamily="18" charset="0"/>
                    <a:cs typeface="Times New Roman" panose="02020603050405020304" pitchFamily="18" charset="0"/>
                  </a:rPr>
                  <a:t>n</a:t>
                </a:r>
                <a:r>
                  <a:rPr lang="en-US" altLang="zh-TW" sz="4000" dirty="0" smtClean="0">
                    <a:latin typeface="Times New Roman" panose="02020603050405020304" pitchFamily="18" charset="0"/>
                    <a:cs typeface="Times New Roman" panose="02020603050405020304" pitchFamily="18" charset="0"/>
                  </a:rPr>
                  <a:t> </a:t>
                </a:r>
                <a:r>
                  <a:rPr lang="en-US" altLang="zh-TW" sz="4000" dirty="0">
                    <a:latin typeface="Times New Roman" panose="02020603050405020304" pitchFamily="18" charset="0"/>
                    <a:cs typeface="Times New Roman" panose="02020603050405020304" pitchFamily="18" charset="0"/>
                  </a:rPr>
                  <a:t>+ </a:t>
                </a:r>
                <a:r>
                  <a:rPr lang="en-US" altLang="zh-TW" sz="4000" i="1" dirty="0" err="1" smtClean="0">
                    <a:latin typeface="Times New Roman" panose="02020603050405020304" pitchFamily="18" charset="0"/>
                    <a:cs typeface="Times New Roman" panose="02020603050405020304" pitchFamily="18" charset="0"/>
                    <a:sym typeface="Symbol" panose="05050102010706020507" pitchFamily="18" charset="2"/>
                  </a:rPr>
                  <a:t>n</a:t>
                </a:r>
                <a:r>
                  <a:rPr lang="en-US" altLang="zh-TW" sz="4000" dirty="0" err="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TW" sz="4000" i="1" dirty="0" err="1" smtClean="0">
                    <a:latin typeface="Times New Roman" panose="02020603050405020304" pitchFamily="18" charset="0"/>
                    <a:cs typeface="Times New Roman" panose="02020603050405020304" pitchFamily="18" charset="0"/>
                  </a:rPr>
                  <a:t>m</a:t>
                </a:r>
                <a:endParaRPr lang="zh-TW" altLang="en-US" sz="4000" i="1" dirty="0">
                  <a:latin typeface="Times New Roman" panose="02020603050405020304" pitchFamily="18" charset="0"/>
                  <a:cs typeface="Times New Roman" panose="02020603050405020304" pitchFamily="18" charset="0"/>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2459448" y="4570840"/>
                <a:ext cx="6684552" cy="916020"/>
              </a:xfrm>
              <a:prstGeom prst="rect">
                <a:avLst/>
              </a:prstGeom>
              <a:blipFill rotWithShape="0">
                <a:blip r:embed="rId3"/>
                <a:stretch>
                  <a:fillRect l="-3191" t="-6000" b="-12667"/>
                </a:stretch>
              </a:blipFill>
            </p:spPr>
            <p:txBody>
              <a:bodyPr/>
              <a:lstStyle/>
              <a:p>
                <a:r>
                  <a:rPr lang="zh-TW" altLang="en-US">
                    <a:noFill/>
                  </a:rPr>
                  <a:t> </a:t>
                </a:r>
              </a:p>
            </p:txBody>
          </p:sp>
        </mc:Fallback>
      </mc:AlternateContent>
      <p:pic>
        <p:nvPicPr>
          <p:cNvPr id="19" name="圖片 18"/>
          <p:cNvPicPr>
            <a:picLocks noChangeAspect="1"/>
          </p:cNvPicPr>
          <p:nvPr/>
        </p:nvPicPr>
        <p:blipFill>
          <a:blip r:embed="rId4"/>
          <a:stretch>
            <a:fillRect/>
          </a:stretch>
        </p:blipFill>
        <p:spPr>
          <a:xfrm>
            <a:off x="0" y="3832826"/>
            <a:ext cx="2374104" cy="3025174"/>
          </a:xfrm>
          <a:prstGeom prst="rect">
            <a:avLst/>
          </a:prstGeom>
        </p:spPr>
      </p:pic>
      <p:cxnSp>
        <p:nvCxnSpPr>
          <p:cNvPr id="6" name="直線接點 5"/>
          <p:cNvCxnSpPr/>
          <p:nvPr/>
        </p:nvCxnSpPr>
        <p:spPr>
          <a:xfrm flipH="1">
            <a:off x="1365504" y="4219382"/>
            <a:ext cx="9516" cy="986602"/>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216789" y="5203584"/>
            <a:ext cx="1148715" cy="240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99530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57337</TotalTime>
  <Words>1458</Words>
  <Application>Microsoft Office PowerPoint</Application>
  <PresentationFormat>如螢幕大小 (4:3)</PresentationFormat>
  <Paragraphs>289</Paragraphs>
  <Slides>24</Slides>
  <Notes>24</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24</vt:i4>
      </vt:variant>
    </vt:vector>
  </HeadingPairs>
  <TitlesOfParts>
    <vt:vector size="35" baseType="lpstr">
      <vt:lpstr>新細明體</vt:lpstr>
      <vt:lpstr>標楷體</vt:lpstr>
      <vt:lpstr>Arial</vt:lpstr>
      <vt:lpstr>Calibri</vt:lpstr>
      <vt:lpstr>Calibri Light</vt:lpstr>
      <vt:lpstr>Cambria Math</vt:lpstr>
      <vt:lpstr>Math A</vt:lpstr>
      <vt:lpstr>Symbol</vt:lpstr>
      <vt:lpstr>Times New Roman</vt:lpstr>
      <vt:lpstr>Times New Roman (Hebrew)</vt:lpstr>
      <vt:lpstr>Office 佈景主題</vt:lpstr>
      <vt:lpstr>A Subquadratic Sequence Alignment Algorithm for Unrestricted Scoring Matrices</vt:lpstr>
      <vt:lpstr>Abstract(1/2)</vt:lpstr>
      <vt:lpstr>Abstract(2/2)</vt:lpstr>
      <vt:lpstr>Global alignment via dynamic programming</vt:lpstr>
      <vt:lpstr>Alignment graph</vt:lpstr>
      <vt:lpstr>A block partition of the alignment graph based on LZ78 factorization</vt:lpstr>
      <vt:lpstr>A block partition of the alignment graph based on LZ78 factorization</vt:lpstr>
      <vt:lpstr>LZ78 – partitioned alignment graph</vt:lpstr>
      <vt:lpstr>PowerPoint 簡報</vt:lpstr>
      <vt:lpstr>Computing the optimal global similarity value </vt:lpstr>
      <vt:lpstr>I/O propagation Across G</vt:lpstr>
      <vt:lpstr>DIST and OUT properties</vt:lpstr>
      <vt:lpstr>DIST and OUT properties</vt:lpstr>
      <vt:lpstr>Computing O</vt:lpstr>
      <vt:lpstr>Computing O</vt:lpstr>
      <vt:lpstr>Incremental update of the new DIST information for G</vt:lpstr>
      <vt:lpstr>Querying a prefix block and obtaining its DIST column in constant time</vt:lpstr>
      <vt:lpstr>Maintaining direct access scheme</vt:lpstr>
      <vt:lpstr>Time complexity</vt:lpstr>
      <vt:lpstr>Time complexity</vt:lpstr>
      <vt:lpstr>Comparing run length encoded strings</vt:lpstr>
      <vt:lpstr>Comparing run length encoded strings</vt:lpstr>
      <vt:lpstr>Computing DIST[i,j]</vt:lpstr>
      <vt:lpstr>Time complexity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Association Rules in Big Data for E-healthcare Information System</dc:title>
  <dc:creator>muchmuch</dc:creator>
  <cp:lastModifiedBy>much</cp:lastModifiedBy>
  <cp:revision>550</cp:revision>
  <dcterms:created xsi:type="dcterms:W3CDTF">2016-04-23T07:31:56Z</dcterms:created>
  <dcterms:modified xsi:type="dcterms:W3CDTF">2017-09-27T07:34:33Z</dcterms:modified>
</cp:coreProperties>
</file>