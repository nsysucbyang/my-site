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2" r:id="rId4"/>
    <p:sldId id="263" r:id="rId5"/>
    <p:sldId id="259" r:id="rId6"/>
    <p:sldId id="260" r:id="rId7"/>
    <p:sldId id="261" r:id="rId8"/>
    <p:sldId id="264" r:id="rId9"/>
    <p:sldId id="265" r:id="rId10"/>
    <p:sldId id="267" r:id="rId11"/>
    <p:sldId id="266" r:id="rId12"/>
    <p:sldId id="269" r:id="rId13"/>
    <p:sldId id="268" r:id="rId14"/>
    <p:sldId id="277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0" autoAdjust="0"/>
    <p:restoredTop sz="88876" autoAdjust="0"/>
  </p:normalViewPr>
  <p:slideViewPr>
    <p:cSldViewPr snapToGrid="0">
      <p:cViewPr varScale="1">
        <p:scale>
          <a:sx n="79" d="100"/>
          <a:sy n="79" d="100"/>
        </p:scale>
        <p:origin x="858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1204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F8584C9-1AA3-4AAD-84E6-F49D7929E889}" type="slidenum">
              <a:rPr lang="ja-JP" altLang="en-US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0413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41050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748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411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823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65159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8372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754395DC-2F9D-4DD1-95B0-D5E85D2BAF58}" type="slidenum">
              <a:rPr lang="ja-JP" altLang="en-US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17264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19784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8372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754395DC-2F9D-4DD1-95B0-D5E85D2BAF58}" type="slidenum">
              <a:rPr lang="ja-JP" altLang="en-US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0232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8372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754395DC-2F9D-4DD1-95B0-D5E85D2BAF58}" type="slidenum">
              <a:rPr lang="ja-JP" altLang="en-US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399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8372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754395DC-2F9D-4DD1-95B0-D5E85D2BAF58}" type="slidenum">
              <a:rPr lang="ja-JP" altLang="en-US"/>
              <a:pPr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2845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8372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754395DC-2F9D-4DD1-95B0-D5E85D2BAF58}" type="slidenum">
              <a:rPr lang="ja-JP" altLang="en-US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61080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8372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754395DC-2F9D-4DD1-95B0-D5E85D2BAF58}" type="slidenum">
              <a:rPr lang="ja-JP" altLang="en-US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7574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2847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96080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22108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31832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0319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ノート プレースホル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ja-JP" smtClean="0"/>
          </a:p>
        </p:txBody>
      </p:sp>
      <p:sp>
        <p:nvSpPr>
          <p:cNvPr id="52228" name="スライド番号プレースホル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5E8C2750-8784-4887-91D8-59BC6676BD40}" type="slidenum">
              <a:rPr lang="ja-JP" altLang="en-US"/>
              <a:pPr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42488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2017/5/2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Common Substring and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Palindromes from Compressed Strings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Wataru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Matsubara,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Inenaga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Akira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Ishino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Ayumi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Shinohara,Tomoyuki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Nakamura,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 Kazuo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Hashimoto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34th </a:t>
            </a:r>
            <a:r>
              <a:rPr lang="en-US" altLang="zh-TW" dirty="0"/>
              <a:t>Conference on Current Trends in Theory and Practice of Computer Science, </a:t>
            </a:r>
            <a:r>
              <a:rPr lang="en-US" altLang="zh-TW" dirty="0" err="1"/>
              <a:t>Nový</a:t>
            </a:r>
            <a:r>
              <a:rPr lang="en-US" altLang="zh-TW" dirty="0"/>
              <a:t> </a:t>
            </a:r>
            <a:r>
              <a:rPr lang="en-US" altLang="zh-TW" dirty="0" err="1"/>
              <a:t>Smokovec</a:t>
            </a:r>
            <a:r>
              <a:rPr lang="en-US" altLang="zh-TW" dirty="0"/>
              <a:t>, Slovakia, 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SOFSEM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2008: Theory and Practice of Computer Science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pp.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364-375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Date:2017/05/02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This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paper studies two problems on compressed strings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described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terms of straight line programs (SLPs). One is to compute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longest common substring of two given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SLP-compressed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other is to compute all palindromes of a given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SLP-compressed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string. In order to solve these problems eﬃciently (in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w.r.t. the compressed size) decompression is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never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feasible,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decompressed size can be exponentially large. We develop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combinatorial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algorithms that solve these problems in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n) time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space, and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with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space, respectively, where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size of the input SLP-compressed strings.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961" r="-3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algorithms for </a:t>
            </a:r>
            <a:b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SLP-compressed strings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2042073"/>
            <a:ext cx="8153400" cy="5043487"/>
          </a:xfrm>
        </p:spPr>
        <p:txBody>
          <a:bodyPr/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matching</a:t>
            </a: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Karpinski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 (1996)	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lvl="1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Miyazaki et al (1997)	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altLang="ja-JP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Lifshits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(2006)		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altLang="ja-JP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period</a:t>
            </a: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Karpinski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 (1996)	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altLang="ja-JP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Lifshits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(2006)		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altLang="ja-JP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squares</a:t>
            </a: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Gasieniec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 (1994) 	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ja-JP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altLang="ja-JP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08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Hardness results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pattern matching</a:t>
            </a: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Lifshits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Lohrey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(2006)	        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NP-hard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Lifshits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Lohrey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(2006)	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NP-hard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Hamming distance</a:t>
            </a:r>
          </a:p>
          <a:p>
            <a:pPr lvl="1"/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Lifshits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(2007)		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ja-JP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#P-complete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76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Program   (SLP)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:  sequence of assignments </a:t>
                </a:r>
                <a:endParaRPr lang="en-US" altLang="zh-TW" sz="3200" dirty="0" smtClean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en-US" altLang="zh-TW" sz="3200" baseline="-250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1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expr</a:t>
                </a:r>
                <a:r>
                  <a:rPr lang="en-US" altLang="zh-TW" sz="3200" baseline="-250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1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en-US" altLang="zh-TW" sz="3200" baseline="-250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2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expr</a:t>
                </a:r>
                <a:r>
                  <a:rPr lang="en-US" altLang="zh-TW" sz="3200" baseline="-250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2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…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err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en-US" altLang="zh-TW" sz="3200" baseline="-25000" dirty="0" err="1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n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=</a:t>
                </a:r>
                <a:r>
                  <a:rPr lang="en-US" altLang="zh-TW" sz="32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expr</a:t>
                </a:r>
                <a:r>
                  <a:rPr lang="en-US" altLang="zh-TW" sz="3200" baseline="-250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n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</a:t>
                </a:r>
                <a:endParaRPr lang="en-US" altLang="zh-TW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en-US" altLang="zh-TW" sz="3200" baseline="-250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: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variable</a:t>
                </a:r>
              </a:p>
              <a:p>
                <a:pPr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32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expr</a:t>
                </a:r>
                <a:r>
                  <a:rPr lang="en-US" altLang="zh-TW" sz="3200" baseline="-250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200" baseline="-250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= a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	    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	( a  </a:t>
                </a:r>
                <a:r>
                  <a:rPr lang="zh-TW" altLang="en-US" sz="3200" dirty="0" smtClean="0"/>
                  <a:t>∈ </a:t>
                </a:r>
                <a:r>
                  <a:rPr lang="zh-TW" altLang="en-US" sz="3200" dirty="0"/>
                  <a:t>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TW" altLang="en-US" sz="3200"/>
                      <m:t>∑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)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endParaRPr lang="en-US" altLang="zh-TW" sz="32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32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expr</a:t>
                </a:r>
                <a:r>
                  <a:rPr lang="en-US" altLang="zh-TW" sz="3200" baseline="-250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= X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32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X</a:t>
                </a:r>
                <a:r>
                  <a:rPr lang="en-US" altLang="zh-TW" sz="3200" baseline="-250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r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	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32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r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&lt; </a:t>
                </a:r>
                <a:r>
                  <a:rPr lang="en-US" altLang="zh-TW" sz="3200" dirty="0" err="1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).</a:t>
                </a:r>
              </a:p>
              <a:p>
                <a:pPr>
                  <a:buNone/>
                </a:pP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932" t="-3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8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Program   (SLP)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SLP: </a:t>
            </a:r>
          </a:p>
          <a:p>
            <a:pPr marL="342900" indent="-342900">
              <a:spcBef>
                <a:spcPct val="20000"/>
              </a:spcBef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a</a:t>
            </a:r>
          </a:p>
          <a:p>
            <a:pPr marL="342900" indent="-342900">
              <a:spcBef>
                <a:spcPct val="20000"/>
              </a:spcBef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b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ja-JP" sz="2400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6 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683" y="1252537"/>
            <a:ext cx="6670417" cy="3992563"/>
          </a:xfrm>
          <a:prstGeom prst="rect">
            <a:avLst/>
          </a:prstGeom>
        </p:spPr>
      </p:pic>
      <p:cxnSp>
        <p:nvCxnSpPr>
          <p:cNvPr id="6" name="直線矢印コネクタ 7"/>
          <p:cNvCxnSpPr/>
          <p:nvPr/>
        </p:nvCxnSpPr>
        <p:spPr>
          <a:xfrm rot="5400000">
            <a:off x="-1006476" y="4000499"/>
            <a:ext cx="2928937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正方形/長方形 5"/>
          <p:cNvSpPr/>
          <p:nvPr/>
        </p:nvSpPr>
        <p:spPr>
          <a:xfrm>
            <a:off x="15079" y="3644105"/>
            <a:ext cx="357187" cy="357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ja-JP" alt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直線矢印コネクタ 8"/>
          <p:cNvCxnSpPr/>
          <p:nvPr/>
        </p:nvCxnSpPr>
        <p:spPr>
          <a:xfrm rot="10800000" flipV="1">
            <a:off x="3514725" y="5376861"/>
            <a:ext cx="5286375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正方形/長方形 12"/>
          <p:cNvSpPr/>
          <p:nvPr/>
        </p:nvSpPr>
        <p:spPr>
          <a:xfrm>
            <a:off x="5391279" y="5398291"/>
            <a:ext cx="328612" cy="43973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ja-JP" alt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正方形/長方形 13"/>
          <p:cNvSpPr/>
          <p:nvPr/>
        </p:nvSpPr>
        <p:spPr>
          <a:xfrm>
            <a:off x="6800850" y="5519736"/>
            <a:ext cx="1714500" cy="8572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28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ja-JP" sz="2800" dirty="0"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en-US" altLang="ja-JP" sz="28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2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ja-JP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22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Program   (SLP)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SLP: </a:t>
            </a:r>
          </a:p>
          <a:p>
            <a:pPr marL="342900" indent="-342900">
              <a:spcBef>
                <a:spcPct val="20000"/>
              </a:spcBef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a</a:t>
            </a:r>
          </a:p>
          <a:p>
            <a:pPr marL="342900" indent="-342900">
              <a:spcBef>
                <a:spcPct val="20000"/>
              </a:spcBef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b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ja-JP" sz="2400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6 </a:t>
            </a:r>
          </a:p>
          <a:p>
            <a:pPr marL="0" indent="0" fontAlgn="auto"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 = 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ja-JP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4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矢印コネクタ 7"/>
          <p:cNvCxnSpPr/>
          <p:nvPr/>
        </p:nvCxnSpPr>
        <p:spPr>
          <a:xfrm rot="5400000">
            <a:off x="-1006476" y="4000499"/>
            <a:ext cx="2928937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正方形/長方形 5"/>
          <p:cNvSpPr/>
          <p:nvPr/>
        </p:nvSpPr>
        <p:spPr>
          <a:xfrm>
            <a:off x="15079" y="3644105"/>
            <a:ext cx="357187" cy="357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ja-JP" alt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直線矢印コネクタ 8"/>
          <p:cNvCxnSpPr/>
          <p:nvPr/>
        </p:nvCxnSpPr>
        <p:spPr>
          <a:xfrm rot="10800000" flipV="1">
            <a:off x="3514725" y="5376861"/>
            <a:ext cx="5286375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正方形/長方形 12"/>
          <p:cNvSpPr/>
          <p:nvPr/>
        </p:nvSpPr>
        <p:spPr>
          <a:xfrm>
            <a:off x="5391279" y="5398291"/>
            <a:ext cx="328612" cy="43973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N</a:t>
            </a:r>
            <a:endParaRPr lang="ja-JP" alt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正方形/長方形 13"/>
          <p:cNvSpPr/>
          <p:nvPr/>
        </p:nvSpPr>
        <p:spPr>
          <a:xfrm>
            <a:off x="6800850" y="5519736"/>
            <a:ext cx="1714500" cy="8572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28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ja-JP" sz="2800" i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ja-JP" sz="2800" dirty="0"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en-US" altLang="ja-JP" sz="28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2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ja-JP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450" y="4756912"/>
            <a:ext cx="6566881" cy="465096"/>
          </a:xfrm>
          <a:prstGeom prst="rect">
            <a:avLst/>
          </a:prstGeom>
        </p:spPr>
      </p:pic>
      <p:sp>
        <p:nvSpPr>
          <p:cNvPr id="13" name="二等辺三角形 26"/>
          <p:cNvSpPr/>
          <p:nvPr/>
        </p:nvSpPr>
        <p:spPr>
          <a:xfrm>
            <a:off x="3373678" y="1970849"/>
            <a:ext cx="5427422" cy="2786063"/>
          </a:xfrm>
          <a:prstGeom prst="triangl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 dirty="0"/>
          </a:p>
        </p:txBody>
      </p:sp>
      <p:sp>
        <p:nvSpPr>
          <p:cNvPr id="14" name="二等辺三角形 27"/>
          <p:cNvSpPr/>
          <p:nvPr/>
        </p:nvSpPr>
        <p:spPr>
          <a:xfrm>
            <a:off x="3373678" y="3317448"/>
            <a:ext cx="3609013" cy="1418035"/>
          </a:xfrm>
          <a:prstGeom prst="triangle">
            <a:avLst>
              <a:gd name="adj" fmla="val 38283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 dirty="0"/>
          </a:p>
        </p:txBody>
      </p:sp>
      <p:sp>
        <p:nvSpPr>
          <p:cNvPr id="15" name="二等辺三角形 28"/>
          <p:cNvSpPr/>
          <p:nvPr/>
        </p:nvSpPr>
        <p:spPr>
          <a:xfrm>
            <a:off x="6973404" y="3305173"/>
            <a:ext cx="1827696" cy="1430309"/>
          </a:xfrm>
          <a:prstGeom prst="triangle">
            <a:avLst>
              <a:gd name="adj" fmla="val 22175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 dirty="0"/>
          </a:p>
        </p:txBody>
      </p:sp>
      <p:sp>
        <p:nvSpPr>
          <p:cNvPr id="16" name="テキスト ボックス 30"/>
          <p:cNvSpPr txBox="1">
            <a:spLocks noChangeArrowheads="1"/>
          </p:cNvSpPr>
          <p:nvPr/>
        </p:nvSpPr>
        <p:spPr bwMode="auto">
          <a:xfrm>
            <a:off x="4490814" y="3955946"/>
            <a:ext cx="857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ja-JP" altLang="en-US" sz="3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31"/>
          <p:cNvSpPr txBox="1">
            <a:spLocks noChangeArrowheads="1"/>
          </p:cNvSpPr>
          <p:nvPr/>
        </p:nvSpPr>
        <p:spPr bwMode="auto">
          <a:xfrm>
            <a:off x="7514993" y="4000500"/>
            <a:ext cx="857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ja-JP" altLang="en-US" sz="3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9"/>
          <p:cNvSpPr txBox="1">
            <a:spLocks noChangeArrowheads="1"/>
          </p:cNvSpPr>
          <p:nvPr/>
        </p:nvSpPr>
        <p:spPr bwMode="auto">
          <a:xfrm>
            <a:off x="5719890" y="2852352"/>
            <a:ext cx="857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ja-JP" altLang="en-US" sz="3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91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コンテンツ プレースホルダ 2"/>
          <p:cNvSpPr>
            <a:spLocks noGrp="1"/>
          </p:cNvSpPr>
          <p:nvPr>
            <p:ph idx="1"/>
          </p:nvPr>
        </p:nvSpPr>
        <p:spPr>
          <a:xfrm>
            <a:off x="628650" y="2174759"/>
            <a:ext cx="7886700" cy="4351338"/>
          </a:xfrm>
        </p:spPr>
        <p:txBody>
          <a:bodyPr/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ja-JP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the SLPs of sizes n and m, which describe strings T and S</a:t>
            </a:r>
          </a:p>
          <a:p>
            <a:pPr marL="0" indent="0">
              <a:buNone/>
            </a:pP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1: </a:t>
            </a:r>
          </a:p>
          <a:p>
            <a:pPr marL="0" indent="0">
              <a:buNone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Given two SLPs </a:t>
            </a:r>
            <a:r>
              <a:rPr lang="en-US" altLang="ja-JP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compute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LCStr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(T,S)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64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031" y="1413669"/>
            <a:ext cx="8686800" cy="2500312"/>
          </a:xfrm>
        </p:spPr>
        <p:txBody>
          <a:bodyPr/>
          <a:lstStyle/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common substring 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string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always exists a variable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Y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that:</a:t>
            </a:r>
          </a:p>
          <a:p>
            <a:pPr lvl="1"/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common substring of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an </a:t>
            </a:r>
            <a:r>
              <a:rPr lang="en-US" altLang="ja-JP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ja-JP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タイトル 1"/>
          <p:cNvSpPr>
            <a:spLocks noGrp="1"/>
          </p:cNvSpPr>
          <p:nvPr>
            <p:ph type="title"/>
          </p:nvPr>
        </p:nvSpPr>
        <p:spPr>
          <a:xfrm>
            <a:off x="421481" y="-105570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77" y="3428612"/>
            <a:ext cx="5016818" cy="3429388"/>
          </a:xfrm>
          <a:prstGeom prst="rect">
            <a:avLst/>
          </a:prstGeom>
        </p:spPr>
      </p:pic>
      <p:sp>
        <p:nvSpPr>
          <p:cNvPr id="30" name="テキスト ボックス 24"/>
          <p:cNvSpPr txBox="1">
            <a:spLocks noChangeArrowheads="1"/>
          </p:cNvSpPr>
          <p:nvPr/>
        </p:nvSpPr>
        <p:spPr bwMode="auto">
          <a:xfrm>
            <a:off x="2714626" y="421471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22"/>
          <p:cNvSpPr txBox="1">
            <a:spLocks noChangeArrowheads="1"/>
          </p:cNvSpPr>
          <p:nvPr/>
        </p:nvSpPr>
        <p:spPr bwMode="auto">
          <a:xfrm>
            <a:off x="3786188" y="3857590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25"/>
          <p:cNvSpPr txBox="1">
            <a:spLocks noChangeArrowheads="1"/>
          </p:cNvSpPr>
          <p:nvPr/>
        </p:nvSpPr>
        <p:spPr bwMode="auto">
          <a:xfrm>
            <a:off x="4929188" y="4214718"/>
            <a:ext cx="571500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28"/>
          <p:cNvSpPr txBox="1">
            <a:spLocks noChangeArrowheads="1"/>
          </p:cNvSpPr>
          <p:nvPr/>
        </p:nvSpPr>
        <p:spPr bwMode="auto">
          <a:xfrm>
            <a:off x="1846465" y="5667359"/>
            <a:ext cx="571500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テキスト ボックス 27"/>
          <p:cNvSpPr txBox="1">
            <a:spLocks noChangeArrowheads="1"/>
          </p:cNvSpPr>
          <p:nvPr/>
        </p:nvSpPr>
        <p:spPr bwMode="auto">
          <a:xfrm flipH="1">
            <a:off x="3079954" y="6068291"/>
            <a:ext cx="1206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テキスト ボックス 29"/>
          <p:cNvSpPr txBox="1">
            <a:spLocks noChangeArrowheads="1"/>
          </p:cNvSpPr>
          <p:nvPr/>
        </p:nvSpPr>
        <p:spPr bwMode="auto">
          <a:xfrm flipH="1">
            <a:off x="4056611" y="5667359"/>
            <a:ext cx="1301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テキスト ボックス 22"/>
          <p:cNvSpPr txBox="1">
            <a:spLocks noChangeArrowheads="1"/>
          </p:cNvSpPr>
          <p:nvPr/>
        </p:nvSpPr>
        <p:spPr bwMode="auto">
          <a:xfrm>
            <a:off x="1712423" y="5124380"/>
            <a:ext cx="605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9118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コンテンツ プレースホルダ 2"/>
          <p:cNvSpPr>
            <a:spLocks noGrp="1"/>
          </p:cNvSpPr>
          <p:nvPr>
            <p:ph idx="1"/>
          </p:nvPr>
        </p:nvSpPr>
        <p:spPr>
          <a:xfrm>
            <a:off x="628650" y="2174758"/>
            <a:ext cx="7886700" cy="4683241"/>
          </a:xfrm>
        </p:spPr>
        <p:txBody>
          <a:bodyPr>
            <a:normAutofit fontScale="85000" lnSpcReduction="20000"/>
          </a:bodyPr>
          <a:lstStyle/>
          <a:p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Karpinski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[9] gave the following results for computation of OL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strings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 by SLPs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[9]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variables </a:t>
            </a:r>
            <a:r>
              <a:rPr lang="en-US" altLang="ja-JP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b="1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SLP </a:t>
            </a:r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b="1" i="1" dirty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b="1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ja-JP" b="1" i="1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arithmetic progressions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  <a:defRPr/>
            </a:pP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[9]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variables X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integer k, FM (X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k) can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O(n log n) time, provided that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OL(X</a:t>
            </a:r>
            <a:r>
              <a:rPr lang="en-US" altLang="ja-JP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/>
              <a:t>′</a:t>
            </a:r>
            <a:r>
              <a:rPr lang="en-US" altLang="zh-TW" dirty="0"/>
              <a:t> 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baseline="-25000" dirty="0"/>
              <a:t>′</a:t>
            </a:r>
            <a:r>
              <a:rPr lang="en-US" altLang="zh-TW" dirty="0"/>
              <a:t> 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>
              <a:buNone/>
              <a:defRPr/>
            </a:pP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already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any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≤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/>
              <a:t>′ 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 ≤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/>
              <a:t>′ </a:t>
            </a:r>
            <a:r>
              <a:rPr lang="zh-TW" altLang="en-US" dirty="0" smtClean="0"/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</a:t>
            </a:r>
          </a:p>
          <a:p>
            <a:pPr marL="0" indent="0">
              <a:buNone/>
            </a:pP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ja-JP" sz="1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Karpinski</a:t>
            </a:r>
            <a:r>
              <a:rPr lang="en-US" altLang="ja-JP" sz="1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altLang="ja-JP" sz="1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Rytter</a:t>
            </a:r>
            <a:r>
              <a:rPr lang="en-US" altLang="ja-JP" sz="1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W., Shinohara, A.: An eﬃcient pattern-matching </a:t>
            </a:r>
            <a:r>
              <a:rPr lang="en-US" altLang="ja-JP" sz="1800" dirty="0" err="1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algorithmfor</a:t>
            </a:r>
            <a:r>
              <a:rPr lang="en-US" altLang="ja-JP" sz="1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with short descriptions. Nordic Journal of Computing 4, 172–186 (1997)</a:t>
            </a:r>
            <a:endParaRPr lang="en-US" altLang="ja-JP" sz="1800" dirty="0" smtClean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65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031" y="1562792"/>
            <a:ext cx="8686800" cy="3557848"/>
          </a:xfrm>
        </p:spPr>
        <p:txBody>
          <a:bodyPr/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any two strings X and Y, we define the set OL(X, Y) </a:t>
            </a:r>
          </a:p>
          <a:p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Namely, OL(X, Y) is the set of lengths of overlaps of suffixes of X and prefixes of Y</a:t>
            </a:r>
          </a:p>
          <a:p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ja-JP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aabaaba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abaababb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= {1, 3, 6}</a:t>
            </a:r>
          </a:p>
        </p:txBody>
      </p:sp>
      <p:sp>
        <p:nvSpPr>
          <p:cNvPr id="26" name="タイトル 1"/>
          <p:cNvSpPr>
            <a:spLocks noGrp="1"/>
          </p:cNvSpPr>
          <p:nvPr>
            <p:ph type="title"/>
          </p:nvPr>
        </p:nvSpPr>
        <p:spPr>
          <a:xfrm>
            <a:off x="421481" y="-105570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94" y="2069783"/>
            <a:ext cx="7217613" cy="420964"/>
          </a:xfrm>
          <a:prstGeom prst="rect">
            <a:avLst/>
          </a:prstGeom>
        </p:spPr>
      </p:pic>
      <p:sp>
        <p:nvSpPr>
          <p:cNvPr id="51" name="テキスト ボックス 10"/>
          <p:cNvSpPr txBox="1">
            <a:spLocks noChangeArrowheads="1"/>
          </p:cNvSpPr>
          <p:nvPr/>
        </p:nvSpPr>
        <p:spPr bwMode="auto">
          <a:xfrm>
            <a:off x="4007643" y="3342640"/>
            <a:ext cx="3000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200">
                <a:latin typeface="Times New Roman" panose="02020603050405020304" pitchFamily="18" charset="0"/>
                <a:cs typeface="Times New Roman" panose="02020603050405020304" pitchFamily="18" charset="0"/>
              </a:rPr>
              <a:t>a a b a a b a</a:t>
            </a:r>
            <a:endParaRPr lang="ja-JP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二等辺三角形 3"/>
          <p:cNvSpPr/>
          <p:nvPr/>
        </p:nvSpPr>
        <p:spPr>
          <a:xfrm>
            <a:off x="3221831" y="2914015"/>
            <a:ext cx="2852737" cy="563562"/>
          </a:xfrm>
          <a:prstGeom prst="triangle">
            <a:avLst>
              <a:gd name="adj" fmla="val 38147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線コネクタ 5"/>
          <p:cNvCxnSpPr/>
          <p:nvPr/>
        </p:nvCxnSpPr>
        <p:spPr>
          <a:xfrm rot="16200000" flipH="1">
            <a:off x="4572793" y="4979352"/>
            <a:ext cx="3008313" cy="4763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正方形/長方形 16"/>
          <p:cNvSpPr/>
          <p:nvPr/>
        </p:nvSpPr>
        <p:spPr>
          <a:xfrm>
            <a:off x="5222081" y="4771390"/>
            <a:ext cx="857250" cy="3571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グループ化 21"/>
          <p:cNvGrpSpPr>
            <a:grpSpLocks/>
          </p:cNvGrpSpPr>
          <p:nvPr/>
        </p:nvGrpSpPr>
        <p:grpSpPr bwMode="auto">
          <a:xfrm>
            <a:off x="4293393" y="5842952"/>
            <a:ext cx="1785938" cy="750888"/>
            <a:chOff x="3571868" y="3929066"/>
            <a:chExt cx="1785950" cy="751606"/>
          </a:xfrm>
        </p:grpSpPr>
        <p:cxnSp>
          <p:nvCxnSpPr>
            <p:cNvPr id="56" name="直線コネクタ 22"/>
            <p:cNvCxnSpPr/>
            <p:nvPr/>
          </p:nvCxnSpPr>
          <p:spPr>
            <a:xfrm rot="16200000" flipV="1">
              <a:off x="3198447" y="4302487"/>
              <a:ext cx="751606" cy="4763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57" name="正方形/長方形 23"/>
            <p:cNvSpPr/>
            <p:nvPr/>
          </p:nvSpPr>
          <p:spPr>
            <a:xfrm>
              <a:off x="3571868" y="3929066"/>
              <a:ext cx="1785950" cy="3575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テキスト ボックス 28"/>
          <p:cNvSpPr txBox="1">
            <a:spLocks noChangeArrowheads="1"/>
          </p:cNvSpPr>
          <p:nvPr/>
        </p:nvSpPr>
        <p:spPr bwMode="auto">
          <a:xfrm>
            <a:off x="4150518" y="2914015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グループ化 35"/>
          <p:cNvGrpSpPr>
            <a:grpSpLocks/>
          </p:cNvGrpSpPr>
          <p:nvPr/>
        </p:nvGrpSpPr>
        <p:grpSpPr bwMode="auto">
          <a:xfrm>
            <a:off x="5793581" y="3842702"/>
            <a:ext cx="3143250" cy="1277938"/>
            <a:chOff x="4071934" y="3143248"/>
            <a:chExt cx="3143272" cy="1277800"/>
          </a:xfrm>
        </p:grpSpPr>
        <p:grpSp>
          <p:nvGrpSpPr>
            <p:cNvPr id="60" name="グループ化 13"/>
            <p:cNvGrpSpPr>
              <a:grpSpLocks/>
            </p:cNvGrpSpPr>
            <p:nvPr/>
          </p:nvGrpSpPr>
          <p:grpSpPr bwMode="auto">
            <a:xfrm>
              <a:off x="4071934" y="3143248"/>
              <a:ext cx="3143272" cy="1277800"/>
              <a:chOff x="3571868" y="3929066"/>
              <a:chExt cx="3143272" cy="1277800"/>
            </a:xfrm>
          </p:grpSpPr>
          <p:cxnSp>
            <p:nvCxnSpPr>
              <p:cNvPr id="62" name="直線コネクタ 6"/>
              <p:cNvCxnSpPr/>
              <p:nvPr/>
            </p:nvCxnSpPr>
            <p:spPr>
              <a:xfrm rot="16200000" flipV="1">
                <a:off x="3198052" y="4302882"/>
                <a:ext cx="752394" cy="476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" name="正方形/長方形 7"/>
              <p:cNvSpPr/>
              <p:nvPr/>
            </p:nvSpPr>
            <p:spPr>
              <a:xfrm>
                <a:off x="3571868" y="3929066"/>
                <a:ext cx="285752" cy="35714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二等辺三角形 4"/>
              <p:cNvSpPr/>
              <p:nvPr/>
            </p:nvSpPr>
            <p:spPr>
              <a:xfrm flipH="1" flipV="1">
                <a:off x="3643305" y="4714794"/>
                <a:ext cx="2852758" cy="492072"/>
              </a:xfrm>
              <a:prstGeom prst="triangle">
                <a:avLst>
                  <a:gd name="adj" fmla="val 38147"/>
                </a:avLst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テキスト ボックス 11"/>
              <p:cNvSpPr txBox="1">
                <a:spLocks noChangeArrowheads="1"/>
              </p:cNvSpPr>
              <p:nvPr/>
            </p:nvSpPr>
            <p:spPr bwMode="auto">
              <a:xfrm>
                <a:off x="3571868" y="4143380"/>
                <a:ext cx="3143272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ja-JP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 a a b a a b a b</a:t>
                </a:r>
                <a:endParaRPr lang="ja-JP" altLang="en-US" sz="3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テキスト ボックス 29"/>
            <p:cNvSpPr txBox="1">
              <a:spLocks noChangeArrowheads="1"/>
            </p:cNvSpPr>
            <p:nvPr/>
          </p:nvSpPr>
          <p:spPr bwMode="auto">
            <a:xfrm>
              <a:off x="5572132" y="3857628"/>
              <a:ext cx="5715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ja-JP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ja-JP" sz="28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ja-JP" altLang="en-US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グループ化 36"/>
          <p:cNvGrpSpPr>
            <a:grpSpLocks/>
          </p:cNvGrpSpPr>
          <p:nvPr/>
        </p:nvGrpSpPr>
        <p:grpSpPr bwMode="auto">
          <a:xfrm>
            <a:off x="5222081" y="4779327"/>
            <a:ext cx="3143250" cy="1277938"/>
            <a:chOff x="4071934" y="3143250"/>
            <a:chExt cx="3143272" cy="1277798"/>
          </a:xfrm>
        </p:grpSpPr>
        <p:grpSp>
          <p:nvGrpSpPr>
            <p:cNvPr id="67" name="グループ化 13"/>
            <p:cNvGrpSpPr>
              <a:grpSpLocks/>
            </p:cNvGrpSpPr>
            <p:nvPr/>
          </p:nvGrpSpPr>
          <p:grpSpPr bwMode="auto">
            <a:xfrm>
              <a:off x="4071934" y="3143250"/>
              <a:ext cx="3143272" cy="1277798"/>
              <a:chOff x="3571868" y="3929068"/>
              <a:chExt cx="3143272" cy="1277798"/>
            </a:xfrm>
          </p:grpSpPr>
          <p:cxnSp>
            <p:nvCxnSpPr>
              <p:cNvPr id="69" name="直線コネクタ 39"/>
              <p:cNvCxnSpPr/>
              <p:nvPr/>
            </p:nvCxnSpPr>
            <p:spPr>
              <a:xfrm rot="16200000" flipV="1">
                <a:off x="3198052" y="4302884"/>
                <a:ext cx="752393" cy="476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二等辺三角形 41"/>
              <p:cNvSpPr/>
              <p:nvPr/>
            </p:nvSpPr>
            <p:spPr>
              <a:xfrm flipH="1" flipV="1">
                <a:off x="3643305" y="4714795"/>
                <a:ext cx="2852758" cy="492071"/>
              </a:xfrm>
              <a:prstGeom prst="triangle">
                <a:avLst>
                  <a:gd name="adj" fmla="val 38147"/>
                </a:avLst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テキスト ボックス 42"/>
              <p:cNvSpPr txBox="1">
                <a:spLocks noChangeArrowheads="1"/>
              </p:cNvSpPr>
              <p:nvPr/>
            </p:nvSpPr>
            <p:spPr bwMode="auto">
              <a:xfrm>
                <a:off x="3571868" y="4143380"/>
                <a:ext cx="3143272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ja-JP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 a </a:t>
                </a:r>
                <a:r>
                  <a:rPr lang="en-US" altLang="ja-JP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a </a:t>
                </a:r>
                <a:r>
                  <a:rPr lang="en-US" altLang="ja-JP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 a b</a:t>
                </a:r>
                <a:endParaRPr lang="ja-JP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テキスト ボックス 38"/>
            <p:cNvSpPr txBox="1">
              <a:spLocks noChangeArrowheads="1"/>
            </p:cNvSpPr>
            <p:nvPr/>
          </p:nvSpPr>
          <p:spPr bwMode="auto">
            <a:xfrm>
              <a:off x="5572132" y="3857628"/>
              <a:ext cx="5715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ja-JP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ja-JP" sz="28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ja-JP" alt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8" name="テキスト ボックス 42"/>
          <p:cNvSpPr txBox="1">
            <a:spLocks noChangeArrowheads="1"/>
          </p:cNvSpPr>
          <p:nvPr/>
        </p:nvSpPr>
        <p:spPr bwMode="auto">
          <a:xfrm>
            <a:off x="4293393" y="6043926"/>
            <a:ext cx="3143250" cy="5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 a </a:t>
            </a:r>
            <a:r>
              <a:rPr lang="en-US" altLang="ja-JP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a </a:t>
            </a:r>
            <a:r>
              <a:rPr lang="en-US" altLang="ja-JP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a b</a:t>
            </a:r>
            <a:endParaRPr lang="ja-JP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7259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031" y="1562792"/>
            <a:ext cx="8686800" cy="3557848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US" altLang="ja-JP" sz="3200" dirty="0"/>
              <a:t>First-mismatch </a:t>
            </a:r>
            <a:r>
              <a:rPr lang="en-US" altLang="ja-JP" sz="3200" dirty="0" smtClean="0"/>
              <a:t>function</a:t>
            </a:r>
            <a:endParaRPr lang="en-US" altLang="ja-JP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en-US" altLang="ja-JP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ja-JP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 variables </a:t>
            </a:r>
            <a:r>
              <a:rPr lang="en-US" altLang="ja-JP" sz="3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3200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3200" b="1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ja-JP" sz="3200" b="1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ja-JP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integer </a:t>
            </a:r>
            <a:r>
              <a:rPr lang="en-US" altLang="ja-JP" sz="3200" b="1" i="1" dirty="0">
                <a:latin typeface="Times New Roman" pitchFamily="18" charset="0"/>
                <a:cs typeface="Times New Roman" pitchFamily="18" charset="0"/>
              </a:rPr>
              <a:t>k</a:t>
            </a:r>
          </a:p>
          <a:p>
            <a:pPr>
              <a:buNone/>
              <a:defRPr/>
            </a:pP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ja-JP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of  first mismatch</a:t>
            </a:r>
          </a:p>
        </p:txBody>
      </p:sp>
      <p:sp>
        <p:nvSpPr>
          <p:cNvPr id="26" name="タイトル 1"/>
          <p:cNvSpPr>
            <a:spLocks noGrp="1"/>
          </p:cNvSpPr>
          <p:nvPr>
            <p:ph type="title"/>
          </p:nvPr>
        </p:nvSpPr>
        <p:spPr>
          <a:xfrm>
            <a:off x="421481" y="-105570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二等辺三角形 31"/>
          <p:cNvSpPr/>
          <p:nvPr/>
        </p:nvSpPr>
        <p:spPr>
          <a:xfrm flipV="1">
            <a:off x="2880360" y="6140450"/>
            <a:ext cx="3143250" cy="717550"/>
          </a:xfrm>
          <a:prstGeom prst="triangle">
            <a:avLst>
              <a:gd name="adj" fmla="val 82329"/>
            </a:avLst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30" name="テキスト ボックス 20"/>
          <p:cNvSpPr txBox="1">
            <a:spLocks noChangeArrowheads="1"/>
          </p:cNvSpPr>
          <p:nvPr/>
        </p:nvSpPr>
        <p:spPr bwMode="auto">
          <a:xfrm>
            <a:off x="1891869" y="5330484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ja-JP" alt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22"/>
          <p:cNvSpPr txBox="1">
            <a:spLocks noChangeArrowheads="1"/>
          </p:cNvSpPr>
          <p:nvPr/>
        </p:nvSpPr>
        <p:spPr bwMode="auto">
          <a:xfrm>
            <a:off x="4952048" y="6143625"/>
            <a:ext cx="642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ja-JP" altLang="en-US" sz="20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16"/>
          <p:cNvSpPr txBox="1">
            <a:spLocks noChangeArrowheads="1"/>
          </p:cNvSpPr>
          <p:nvPr/>
        </p:nvSpPr>
        <p:spPr bwMode="auto">
          <a:xfrm>
            <a:off x="1308735" y="4786313"/>
            <a:ext cx="4143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200" dirty="0"/>
              <a:t>a b a b a </a:t>
            </a:r>
            <a:r>
              <a:rPr lang="en-US" altLang="ja-JP" sz="3200" dirty="0" err="1"/>
              <a:t>a</a:t>
            </a:r>
            <a:r>
              <a:rPr lang="en-US" altLang="ja-JP" sz="3200" dirty="0"/>
              <a:t> b a b a </a:t>
            </a:r>
            <a:r>
              <a:rPr lang="en-US" altLang="ja-JP" sz="3200" dirty="0" err="1"/>
              <a:t>a</a:t>
            </a:r>
            <a:r>
              <a:rPr lang="en-US" altLang="ja-JP" sz="3200" dirty="0"/>
              <a:t> b  </a:t>
            </a:r>
            <a:endParaRPr lang="ja-JP" altLang="en-US" sz="3200" dirty="0"/>
          </a:p>
        </p:txBody>
      </p:sp>
      <p:cxnSp>
        <p:nvCxnSpPr>
          <p:cNvPr id="33" name="直線矢印コネクタ 23"/>
          <p:cNvCxnSpPr/>
          <p:nvPr/>
        </p:nvCxnSpPr>
        <p:spPr>
          <a:xfrm rot="5400000">
            <a:off x="3631248" y="4392613"/>
            <a:ext cx="642937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二等辺三角形 25"/>
          <p:cNvSpPr/>
          <p:nvPr/>
        </p:nvSpPr>
        <p:spPr>
          <a:xfrm>
            <a:off x="1380173" y="3929063"/>
            <a:ext cx="3786187" cy="877887"/>
          </a:xfrm>
          <a:prstGeom prst="triangle">
            <a:avLst>
              <a:gd name="adj" fmla="val 7924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35" name="テキスト ボックス 30"/>
          <p:cNvSpPr txBox="1">
            <a:spLocks noChangeArrowheads="1"/>
          </p:cNvSpPr>
          <p:nvPr/>
        </p:nvSpPr>
        <p:spPr bwMode="auto">
          <a:xfrm>
            <a:off x="3809048" y="4071938"/>
            <a:ext cx="857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2"/>
          <p:cNvSpPr txBox="1">
            <a:spLocks noChangeArrowheads="1"/>
          </p:cNvSpPr>
          <p:nvPr/>
        </p:nvSpPr>
        <p:spPr bwMode="auto">
          <a:xfrm>
            <a:off x="2808923" y="5643563"/>
            <a:ext cx="3714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3200"/>
              <a:t>a b a b a b a a b a</a:t>
            </a:r>
            <a:endParaRPr lang="ja-JP" altLang="en-US" sz="3200"/>
          </a:p>
        </p:txBody>
      </p:sp>
      <p:sp>
        <p:nvSpPr>
          <p:cNvPr id="37" name="上下矢印 33"/>
          <p:cNvSpPr/>
          <p:nvPr/>
        </p:nvSpPr>
        <p:spPr>
          <a:xfrm>
            <a:off x="4380548" y="5214938"/>
            <a:ext cx="115887" cy="623887"/>
          </a:xfrm>
          <a:prstGeom prst="upDownArrow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>
              <a:solidFill>
                <a:srgbClr val="92D050"/>
              </a:solidFill>
            </a:endParaRPr>
          </a:p>
        </p:txBody>
      </p:sp>
      <p:cxnSp>
        <p:nvCxnSpPr>
          <p:cNvPr id="38" name="直線矢印コネクタ 34"/>
          <p:cNvCxnSpPr/>
          <p:nvPr/>
        </p:nvCxnSpPr>
        <p:spPr>
          <a:xfrm>
            <a:off x="1354066" y="5390659"/>
            <a:ext cx="1384300" cy="1588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7" y="3375102"/>
            <a:ext cx="8781535" cy="514198"/>
          </a:xfrm>
          <a:prstGeom prst="rect">
            <a:avLst/>
          </a:prstGeom>
        </p:spPr>
      </p:pic>
      <p:cxnSp>
        <p:nvCxnSpPr>
          <p:cNvPr id="49" name="直線矢印コネクタ 34"/>
          <p:cNvCxnSpPr/>
          <p:nvPr/>
        </p:nvCxnSpPr>
        <p:spPr>
          <a:xfrm>
            <a:off x="2853373" y="5390659"/>
            <a:ext cx="1384300" cy="1588"/>
          </a:xfrm>
          <a:prstGeom prst="straightConnector1">
            <a:avLst/>
          </a:prstGeom>
          <a:ln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テキスト ボックス 20"/>
          <p:cNvSpPr txBox="1">
            <a:spLocks noChangeArrowheads="1"/>
          </p:cNvSpPr>
          <p:nvPr/>
        </p:nvSpPr>
        <p:spPr bwMode="auto">
          <a:xfrm>
            <a:off x="3445583" y="5331139"/>
            <a:ext cx="6429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ja-JP" alt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1312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250031" y="1413669"/>
                <a:ext cx="8686800" cy="2500312"/>
              </a:xfrm>
            </p:spPr>
            <p:txBody>
              <a:bodyPr/>
              <a:lstStyle/>
              <a:p>
                <a:r>
                  <a:rPr lang="en-US" altLang="ja-JP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</a:t>
                </a:r>
                <a:r>
                  <a:rPr lang="en-US" altLang="ja-JP" sz="28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Xi,Yj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= k + h</a:t>
                </a:r>
                <a:r>
                  <a:rPr lang="en-US" altLang="ja-JP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h</a:t>
                </a:r>
                <a:r>
                  <a:rPr lang="en-US" altLang="ja-JP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h1 = </a:t>
                </a:r>
                <a:r>
                  <a:rPr lang="en-US" altLang="ja-JP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LCSuf</a:t>
                </a:r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 : | X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altLang="ja-JP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| − k], 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US" altLang="ja-JP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</a:t>
                </a:r>
                <a:endParaRPr lang="en-US" altLang="ja-JP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h2 = </a:t>
                </a:r>
                <a:r>
                  <a:rPr lang="en-US" altLang="ja-JP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LCPref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altLang="ja-JP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ja-JP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rj</a:t>
                </a:r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[k + 1 : 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</a:t>
                </a:r>
                <a:r>
                  <a:rPr lang="en-US" altLang="ja-JP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ja-JP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rj</a:t>
                </a:r>
                <a:r>
                  <a:rPr lang="en-US" altLang="ja-JP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|]) </a:t>
                </a:r>
                <a:endPara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3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031" y="1413669"/>
                <a:ext cx="8686800" cy="2500312"/>
              </a:xfrm>
              <a:blipFill rotWithShape="0">
                <a:blip r:embed="rId3"/>
                <a:stretch>
                  <a:fillRect l="-1263" t="-4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タイトル 1"/>
          <p:cNvSpPr>
            <a:spLocks noGrp="1"/>
          </p:cNvSpPr>
          <p:nvPr>
            <p:ph type="title"/>
          </p:nvPr>
        </p:nvSpPr>
        <p:spPr>
          <a:xfrm>
            <a:off x="421481" y="-105570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477" y="3428612"/>
            <a:ext cx="5016818" cy="3429388"/>
          </a:xfrm>
          <a:prstGeom prst="rect">
            <a:avLst/>
          </a:prstGeom>
        </p:spPr>
      </p:pic>
      <p:sp>
        <p:nvSpPr>
          <p:cNvPr id="30" name="テキスト ボックス 24"/>
          <p:cNvSpPr txBox="1">
            <a:spLocks noChangeArrowheads="1"/>
          </p:cNvSpPr>
          <p:nvPr/>
        </p:nvSpPr>
        <p:spPr bwMode="auto">
          <a:xfrm>
            <a:off x="2714626" y="421471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22"/>
          <p:cNvSpPr txBox="1">
            <a:spLocks noChangeArrowheads="1"/>
          </p:cNvSpPr>
          <p:nvPr/>
        </p:nvSpPr>
        <p:spPr bwMode="auto">
          <a:xfrm>
            <a:off x="3786188" y="3857590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25"/>
          <p:cNvSpPr txBox="1">
            <a:spLocks noChangeArrowheads="1"/>
          </p:cNvSpPr>
          <p:nvPr/>
        </p:nvSpPr>
        <p:spPr bwMode="auto">
          <a:xfrm>
            <a:off x="4929188" y="4214718"/>
            <a:ext cx="571500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28"/>
          <p:cNvSpPr txBox="1">
            <a:spLocks noChangeArrowheads="1"/>
          </p:cNvSpPr>
          <p:nvPr/>
        </p:nvSpPr>
        <p:spPr bwMode="auto">
          <a:xfrm>
            <a:off x="1846465" y="5667359"/>
            <a:ext cx="571500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テキスト ボックス 27"/>
          <p:cNvSpPr txBox="1">
            <a:spLocks noChangeArrowheads="1"/>
          </p:cNvSpPr>
          <p:nvPr/>
        </p:nvSpPr>
        <p:spPr bwMode="auto">
          <a:xfrm flipH="1">
            <a:off x="3079954" y="6068291"/>
            <a:ext cx="1206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テキスト ボックス 29"/>
          <p:cNvSpPr txBox="1">
            <a:spLocks noChangeArrowheads="1"/>
          </p:cNvSpPr>
          <p:nvPr/>
        </p:nvSpPr>
        <p:spPr bwMode="auto">
          <a:xfrm flipH="1">
            <a:off x="4056611" y="5667359"/>
            <a:ext cx="1301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テキスト ボックス 22"/>
          <p:cNvSpPr txBox="1">
            <a:spLocks noChangeArrowheads="1"/>
          </p:cNvSpPr>
          <p:nvPr/>
        </p:nvSpPr>
        <p:spPr bwMode="auto">
          <a:xfrm>
            <a:off x="1712423" y="5124380"/>
            <a:ext cx="605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36267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1"/>
          <p:cNvSpPr>
            <a:spLocks noGrp="1"/>
          </p:cNvSpPr>
          <p:nvPr>
            <p:ph type="title"/>
          </p:nvPr>
        </p:nvSpPr>
        <p:spPr>
          <a:xfrm>
            <a:off x="421481" y="-105570"/>
            <a:ext cx="851535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 Common 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Subsrting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Two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3669"/>
            <a:ext cx="8727195" cy="90259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63" y="2062295"/>
            <a:ext cx="5560595" cy="263892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42" y="4701221"/>
            <a:ext cx="7750594" cy="21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972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1"/>
          <p:cNvSpPr>
            <a:spLocks noGrp="1"/>
          </p:cNvSpPr>
          <p:nvPr>
            <p:ph type="title"/>
          </p:nvPr>
        </p:nvSpPr>
        <p:spPr>
          <a:xfrm>
            <a:off x="421481" y="-105570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4186"/>
            <a:ext cx="3987339" cy="1709639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95513"/>
            <a:ext cx="4851862" cy="4139904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 flipV="1">
            <a:off x="4075098" y="2111433"/>
            <a:ext cx="1208116" cy="276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563697" y="1809005"/>
                <a:ext cx="15288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𝑙𝑜𝑔𝑛</m:t>
                    </m:r>
                  </m:oMath>
                </a14:m>
                <a:r>
                  <a:rPr lang="en-US" altLang="zh-TW" sz="2400" dirty="0" smtClean="0"/>
                  <a:t>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97" y="1809005"/>
                <a:ext cx="152881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6400" t="-10667" r="-5200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/>
          <p:cNvCxnSpPr/>
          <p:nvPr/>
        </p:nvCxnSpPr>
        <p:spPr>
          <a:xfrm flipV="1">
            <a:off x="2425931" y="2833141"/>
            <a:ext cx="1454727" cy="138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4576633" y="5904808"/>
            <a:ext cx="1208116" cy="276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4087454" y="2663825"/>
                <a:ext cx="8983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454" y="2663825"/>
                <a:ext cx="89838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0884" t="-10526" r="-9524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6015355" y="5581397"/>
                <a:ext cx="15288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𝑙𝑜𝑔𝑛</m:t>
                    </m:r>
                  </m:oMath>
                </a14:m>
                <a:r>
                  <a:rPr lang="en-US" altLang="zh-TW" sz="2400" dirty="0" smtClean="0"/>
                  <a:t>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55" y="5581397"/>
                <a:ext cx="152881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6375" t="-10667" r="-4781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コンテンツ プレースホルダ 2"/>
          <p:cNvSpPr>
            <a:spLocks noGrp="1"/>
          </p:cNvSpPr>
          <p:nvPr>
            <p:ph idx="1"/>
          </p:nvPr>
        </p:nvSpPr>
        <p:spPr>
          <a:xfrm>
            <a:off x="4449985" y="3457609"/>
            <a:ext cx="5231469" cy="1907771"/>
          </a:xfrm>
        </p:spPr>
        <p:txBody>
          <a:bodyPr>
            <a:normAutofit fontScale="92500"/>
          </a:bodyPr>
          <a:lstStyle/>
          <a:p>
            <a:r>
              <a:rPr lang="en-US" altLang="ja-JP" dirty="0" smtClean="0"/>
              <a:t>Computing longest common substring from compressed string</a:t>
            </a:r>
          </a:p>
          <a:p>
            <a:pPr marL="457200" lvl="1" indent="0">
              <a:buNone/>
            </a:pPr>
            <a:r>
              <a:rPr lang="en-US" altLang="ja-JP" dirty="0" smtClean="0"/>
              <a:t> </a:t>
            </a:r>
            <a:r>
              <a:rPr lang="en-US" altLang="ja-JP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ja-JP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32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ja-JP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ja-JP" sz="3200" dirty="0" smtClean="0"/>
              <a:t> time and </a:t>
            </a:r>
            <a:r>
              <a:rPr lang="en-US" altLang="ja-JP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ja-JP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3200" b="1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ja-JP" sz="3200" dirty="0" smtClean="0"/>
              <a:t> space</a:t>
            </a:r>
            <a:endParaRPr lang="en-US" altLang="ja-JP" dirty="0" smtClean="0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2649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Palindromes of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</p:spPr>
            <p:txBody>
              <a:bodyPr/>
              <a:lstStyle/>
              <a:p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be the set of pairs of beginning and ending positions of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maximal palindromes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cover or touch the boundary between 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39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  <a:blipFill rotWithShape="0">
                <a:blip r:embed="rId3"/>
                <a:stretch>
                  <a:fillRect l="-1391" t="-1401" r="-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89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Palindromes of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{(p, q) ∈ Pals 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| 1 ≤ p ≤ | 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r>
                      <a:rPr lang="en-US" altLang="ja-JP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+ 1, 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q ≤ |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|,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≤ q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buNone/>
                </a:pP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PPals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{(1, q) ∈ Pals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1 ≤ q ≤ |T |}, and</a:t>
                </a:r>
              </a:p>
              <a:p>
                <a:pPr marL="0" indent="0">
                  <a:buNone/>
                </a:pP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 ) = {(p, |T |) ∈ Pals (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1 ≤ p ≤ |T |}.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39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  <a:blipFill rotWithShape="0">
                <a:blip r:embed="rId3"/>
                <a:stretch>
                  <a:fillRect l="-1546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295" y="5077075"/>
            <a:ext cx="4352925" cy="1323975"/>
          </a:xfrm>
          <a:prstGeom prst="rect">
            <a:avLst/>
          </a:prstGeom>
        </p:spPr>
      </p:pic>
      <p:sp>
        <p:nvSpPr>
          <p:cNvPr id="5" name="テキスト ボックス 24"/>
          <p:cNvSpPr txBox="1">
            <a:spLocks noChangeArrowheads="1"/>
          </p:cNvSpPr>
          <p:nvPr/>
        </p:nvSpPr>
        <p:spPr bwMode="auto">
          <a:xfrm>
            <a:off x="3629026" y="5803927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24"/>
          <p:cNvSpPr txBox="1">
            <a:spLocks noChangeArrowheads="1"/>
          </p:cNvSpPr>
          <p:nvPr/>
        </p:nvSpPr>
        <p:spPr bwMode="auto">
          <a:xfrm>
            <a:off x="4572000" y="528079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24"/>
          <p:cNvSpPr txBox="1">
            <a:spLocks noChangeArrowheads="1"/>
          </p:cNvSpPr>
          <p:nvPr/>
        </p:nvSpPr>
        <p:spPr bwMode="auto">
          <a:xfrm>
            <a:off x="5697579" y="576210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684295" y="6286904"/>
            <a:ext cx="4711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p                  q          |T|  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03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Palindromes of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</p:spPr>
            <p:txBody>
              <a:bodyPr/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2 :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an SLP </a:t>
                </a:r>
                <a:r>
                  <a:rPr lang="en-US" altLang="ja-JP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size n, 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ja-JP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Pals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l-GR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PPals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SPals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from </a:t>
                </a:r>
                <a:r>
                  <a:rPr lang="en-US" altLang="ja-JP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PPals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39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  <a:blipFill rotWithShape="0">
                <a:blip r:embed="rId3"/>
                <a:stretch>
                  <a:fillRect l="-1391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295" y="5077075"/>
            <a:ext cx="4352925" cy="1323975"/>
          </a:xfrm>
          <a:prstGeom prst="rect">
            <a:avLst/>
          </a:prstGeom>
        </p:spPr>
      </p:pic>
      <p:sp>
        <p:nvSpPr>
          <p:cNvPr id="5" name="テキスト ボックス 24"/>
          <p:cNvSpPr txBox="1">
            <a:spLocks noChangeArrowheads="1"/>
          </p:cNvSpPr>
          <p:nvPr/>
        </p:nvSpPr>
        <p:spPr bwMode="auto">
          <a:xfrm>
            <a:off x="3629026" y="5803927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24"/>
          <p:cNvSpPr txBox="1">
            <a:spLocks noChangeArrowheads="1"/>
          </p:cNvSpPr>
          <p:nvPr/>
        </p:nvSpPr>
        <p:spPr bwMode="auto">
          <a:xfrm>
            <a:off x="4572000" y="528079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24"/>
          <p:cNvSpPr txBox="1">
            <a:spLocks noChangeArrowheads="1"/>
          </p:cNvSpPr>
          <p:nvPr/>
        </p:nvSpPr>
        <p:spPr bwMode="auto">
          <a:xfrm>
            <a:off x="5697579" y="576210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90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Palindromes of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</p:spPr>
            <p:txBody>
              <a:bodyPr/>
              <a:lstStyle/>
              <a:p>
                <a:r>
                  <a:rPr lang="en-US" altLang="ja-JP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i="1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Recursive </a:t>
                </a:r>
                <a:r>
                  <a:rPr lang="en-US" altLang="ja-JP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procedure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𝛥</m:t>
                        </m:r>
                      </m:sup>
                    </m:sSup>
                    <m: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i="1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ja-JP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Ext 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∪ Ext 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ja-JP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a:rPr lang="zh-TW" alt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a:rPr lang="zh-TW" alt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{(|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+ 1, |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Pals(X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| 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TW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buNone/>
                </a:pP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ja-JP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efe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refer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r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a:rPr lang="zh-TW" alt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</a:t>
                </a:r>
                <a:r>
                  <a:rPr lang="en-US" altLang="ja-JP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39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74759"/>
                <a:ext cx="7886700" cy="4351338"/>
              </a:xfrm>
              <a:blipFill rotWithShape="0">
                <a:blip r:embed="rId3"/>
                <a:stretch>
                  <a:fillRect l="-1546" t="-1821" r="-17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348" y="5154246"/>
            <a:ext cx="4352925" cy="1323975"/>
          </a:xfrm>
          <a:prstGeom prst="rect">
            <a:avLst/>
          </a:prstGeom>
        </p:spPr>
      </p:pic>
      <p:sp>
        <p:nvSpPr>
          <p:cNvPr id="5" name="テキスト ボックス 24"/>
          <p:cNvSpPr txBox="1">
            <a:spLocks noChangeArrowheads="1"/>
          </p:cNvSpPr>
          <p:nvPr/>
        </p:nvSpPr>
        <p:spPr bwMode="auto">
          <a:xfrm>
            <a:off x="5554079" y="588109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24"/>
          <p:cNvSpPr txBox="1">
            <a:spLocks noChangeArrowheads="1"/>
          </p:cNvSpPr>
          <p:nvPr/>
        </p:nvSpPr>
        <p:spPr bwMode="auto">
          <a:xfrm>
            <a:off x="6497053" y="5357969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24"/>
          <p:cNvSpPr txBox="1">
            <a:spLocks noChangeArrowheads="1"/>
          </p:cNvSpPr>
          <p:nvPr/>
        </p:nvSpPr>
        <p:spPr bwMode="auto">
          <a:xfrm>
            <a:off x="7622632" y="5839279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11719" y="6411951"/>
            <a:ext cx="15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 e f e r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向右箭號 2"/>
          <p:cNvSpPr/>
          <p:nvPr/>
        </p:nvSpPr>
        <p:spPr>
          <a:xfrm>
            <a:off x="3368842" y="4817362"/>
            <a:ext cx="673769" cy="3368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59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500062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Palindromes of SLP-Compress Strings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2174759"/>
                <a:ext cx="8515351" cy="4351338"/>
              </a:xfrm>
            </p:spPr>
            <p:txBody>
              <a:bodyPr/>
              <a:lstStyle/>
              <a:p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PPals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and </a:t>
                </a:r>
                <a:r>
                  <a:rPr lang="en-US" altLang="ja-JP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can be computed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  <m: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as follows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altLang="ja-JP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ja-JP" dirty="0" err="1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PPals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ja-JP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PPals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∪ {(1, q)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  <m: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)} and</a:t>
                </a:r>
              </a:p>
              <a:p>
                <a:pPr marL="0" indent="0">
                  <a:buNone/>
                </a:pPr>
                <a:r>
                  <a:rPr lang="en-US" altLang="ja-JP" dirty="0" err="1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= (</a:t>
                </a:r>
                <a:r>
                  <a:rPr lang="en-US" altLang="ja-JP" dirty="0" err="1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SPals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ja-JP" dirty="0" err="1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baseline="-25000" dirty="0" err="1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⊕ 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ja-JP" dirty="0" smtClean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|) 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∪ {(p, |X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|)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Pals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sup>
                    </m:sSup>
                    <m:r>
                      <a:rPr lang="el-GR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(X</a:t>
                </a:r>
                <a:r>
                  <a:rPr lang="en-US" altLang="ja-JP" baseline="-25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)}.</a:t>
                </a:r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39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2174759"/>
                <a:ext cx="8515351" cy="4351338"/>
              </a:xfrm>
              <a:blipFill rotWithShape="0">
                <a:blip r:embed="rId3"/>
                <a:stretch>
                  <a:fillRect l="-1432" t="-2521" r="-12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348" y="5154246"/>
            <a:ext cx="4352925" cy="1323975"/>
          </a:xfrm>
          <a:prstGeom prst="rect">
            <a:avLst/>
          </a:prstGeom>
        </p:spPr>
      </p:pic>
      <p:sp>
        <p:nvSpPr>
          <p:cNvPr id="5" name="テキスト ボックス 24"/>
          <p:cNvSpPr txBox="1">
            <a:spLocks noChangeArrowheads="1"/>
          </p:cNvSpPr>
          <p:nvPr/>
        </p:nvSpPr>
        <p:spPr bwMode="auto">
          <a:xfrm>
            <a:off x="5554079" y="5881098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24"/>
          <p:cNvSpPr txBox="1">
            <a:spLocks noChangeArrowheads="1"/>
          </p:cNvSpPr>
          <p:nvPr/>
        </p:nvSpPr>
        <p:spPr bwMode="auto">
          <a:xfrm>
            <a:off x="6497053" y="5357969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24"/>
          <p:cNvSpPr txBox="1">
            <a:spLocks noChangeArrowheads="1"/>
          </p:cNvSpPr>
          <p:nvPr/>
        </p:nvSpPr>
        <p:spPr bwMode="auto">
          <a:xfrm>
            <a:off x="7622632" y="5839279"/>
            <a:ext cx="500063" cy="52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ja-JP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11719" y="6411951"/>
            <a:ext cx="156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 e f e r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53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タイトル 1"/>
          <p:cNvSpPr>
            <a:spLocks noGrp="1"/>
          </p:cNvSpPr>
          <p:nvPr>
            <p:ph type="title"/>
          </p:nvPr>
        </p:nvSpPr>
        <p:spPr>
          <a:xfrm>
            <a:off x="314325" y="24715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</a:t>
            </a:r>
            <a:endParaRPr lang="ja-JP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4" y="1350278"/>
            <a:ext cx="3948612" cy="144165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30897"/>
            <a:ext cx="5360570" cy="3927103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>
            <a:off x="2375190" y="3056630"/>
            <a:ext cx="1148308" cy="21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5197642" y="6256421"/>
            <a:ext cx="1138739" cy="24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6590023" y="5881209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O(n)</a:t>
            </a:r>
            <a:endParaRPr lang="zh-TW" altLang="en-US" sz="2400" dirty="0"/>
          </a:p>
        </p:txBody>
      </p:sp>
      <p:cxnSp>
        <p:nvCxnSpPr>
          <p:cNvPr id="16" name="直線單箭頭接點 15"/>
          <p:cNvCxnSpPr/>
          <p:nvPr/>
        </p:nvCxnSpPr>
        <p:spPr>
          <a:xfrm flipV="1">
            <a:off x="5165432" y="4981074"/>
            <a:ext cx="1170949" cy="9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508878" y="4798367"/>
                <a:ext cx="8983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878" y="4798367"/>
                <a:ext cx="89838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0884" t="-10526" r="-9524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コンテンツ プレースホルダ 2"/>
              <p:cNvSpPr>
                <a:spLocks noGrp="1"/>
              </p:cNvSpPr>
              <p:nvPr>
                <p:ph idx="1"/>
              </p:nvPr>
            </p:nvSpPr>
            <p:spPr>
              <a:xfrm>
                <a:off x="4125077" y="1721955"/>
                <a:ext cx="5018924" cy="171968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ja-JP" dirty="0" smtClean="0"/>
                  <a:t>Computing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ja-JP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Pals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l-GR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PPals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ja-JP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SPals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altLang="ja-JP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/>
                  <a:t>from compressed string</a:t>
                </a:r>
              </a:p>
              <a:p>
                <a:pPr marL="457200" lvl="1" indent="0">
                  <a:buNone/>
                </a:pPr>
                <a:r>
                  <a:rPr lang="en-US" altLang="ja-JP" dirty="0" smtClean="0"/>
                  <a:t> </a:t>
                </a:r>
                <a:r>
                  <a:rPr lang="en-US" altLang="ja-JP" sz="3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:r>
                  <a:rPr lang="en-US" altLang="ja-JP" sz="3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ja-JP" sz="3200" b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ja-JP" sz="3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ja-JP" sz="3200" dirty="0" smtClean="0"/>
                  <a:t> time and </a:t>
                </a:r>
                <a:r>
                  <a:rPr lang="en-US" altLang="ja-JP" sz="3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ja-JP" sz="3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ja-JP" sz="3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ja-JP" sz="32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ja-JP" sz="3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ja-JP" sz="3200" dirty="0" smtClean="0"/>
                  <a:t> space</a:t>
                </a:r>
                <a:endParaRPr lang="en-US" altLang="ja-JP" dirty="0" smtClean="0"/>
              </a:p>
            </p:txBody>
          </p:sp>
        </mc:Choice>
        <mc:Fallback xmlns="">
          <p:sp>
            <p:nvSpPr>
              <p:cNvPr id="20" name="コンテンツ プレースホル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25077" y="1721955"/>
                <a:ext cx="5018924" cy="1719685"/>
              </a:xfrm>
              <a:blipFill rotWithShape="0">
                <a:blip r:embed="rId6"/>
                <a:stretch>
                  <a:fillRect l="-1701" t="-24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21</a:t>
            </a:fld>
            <a:endParaRPr lang="zh-TW" altLang="en-US"/>
          </a:p>
        </p:txBody>
      </p:sp>
      <p:cxnSp>
        <p:nvCxnSpPr>
          <p:cNvPr id="23" name="直線單箭頭接點 22"/>
          <p:cNvCxnSpPr/>
          <p:nvPr/>
        </p:nvCxnSpPr>
        <p:spPr>
          <a:xfrm>
            <a:off x="4826988" y="5751704"/>
            <a:ext cx="1148308" cy="21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3518378" y="3008504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O(n)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678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39242</TotalTime>
  <Words>723</Words>
  <Application>Microsoft Office PowerPoint</Application>
  <PresentationFormat>如螢幕大小 (4:3)</PresentationFormat>
  <Paragraphs>221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9" baseType="lpstr">
      <vt:lpstr>ＭＳ Ｐゴシック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Computing Longest Common Substring and All Palindromes from Compressed Strings</vt:lpstr>
      <vt:lpstr>Abstract</vt:lpstr>
      <vt:lpstr> Efficient algorithms for  SLP-compressed strings</vt:lpstr>
      <vt:lpstr>Hardness results</vt:lpstr>
      <vt:lpstr>Straight Line Program   (SLP) </vt:lpstr>
      <vt:lpstr>Straight Line Program   (SLP) </vt:lpstr>
      <vt:lpstr>Straight Line Program   (SLP) </vt:lpstr>
      <vt:lpstr>Algorithm for Longest Common Subsrting of Two SLP-Compress Strings</vt:lpstr>
      <vt:lpstr>Algorithm for Longest Common Subsrting of Two SLP-Compress Strings</vt:lpstr>
      <vt:lpstr>Algorithm for Longest Common Subsrting of Two SLP-Compress Strings</vt:lpstr>
      <vt:lpstr>Algorithm for Longest Common Subsrting of Two SLP-Compress Strings</vt:lpstr>
      <vt:lpstr>Algorithm for Longest Common Subsrting of Two SLP-Compress Strings</vt:lpstr>
      <vt:lpstr>Algorithm for Longest Common Subsrting of Two SLP-Compress Strings</vt:lpstr>
      <vt:lpstr>Algorithm for Longest Common Subsrting of Two SLP-Compress Strings</vt:lpstr>
      <vt:lpstr>Pseudo code</vt:lpstr>
      <vt:lpstr>Algorithm for Palindromes of SLP-Compress Strings</vt:lpstr>
      <vt:lpstr>Algorithm for Palindromes of SLP-Compress Strings</vt:lpstr>
      <vt:lpstr>Algorithm for Palindromes of SLP-Compress Strings</vt:lpstr>
      <vt:lpstr>Algorithm for Palindromes of SLP-Compress Strings</vt:lpstr>
      <vt:lpstr>Algorithm for Palindromes of SLP-Compress Strings</vt:lpstr>
      <vt:lpstr>Pseudo code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412</cp:revision>
  <dcterms:created xsi:type="dcterms:W3CDTF">2016-04-23T07:31:56Z</dcterms:created>
  <dcterms:modified xsi:type="dcterms:W3CDTF">2017-05-02T13:16:47Z</dcterms:modified>
</cp:coreProperties>
</file>