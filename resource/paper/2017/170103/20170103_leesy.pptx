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70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4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9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48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94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3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80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60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1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20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8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010FB-2E68-4D6F-963D-E2C0D8E7433A}" type="datetimeFigureOut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70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A </a:t>
            </a:r>
            <a:r>
              <a:rPr lang="en-US" altLang="zh-TW" b="1" dirty="0"/>
              <a:t>Genetic Algorithm for the</a:t>
            </a:r>
            <a:br>
              <a:rPr lang="en-US" altLang="zh-TW" b="1" dirty="0"/>
            </a:br>
            <a:r>
              <a:rPr lang="en-US" altLang="zh-TW" b="1" dirty="0"/>
              <a:t>Longest Common Subsequence Problem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2999" y="3602038"/>
            <a:ext cx="7134225" cy="1655762"/>
          </a:xfrm>
        </p:spPr>
        <p:txBody>
          <a:bodyPr>
            <a:normAutofit lnSpcReduction="10000"/>
          </a:bodyPr>
          <a:lstStyle/>
          <a:p>
            <a:r>
              <a:rPr lang="fr-FR" altLang="zh-TW" b="1" dirty="0"/>
              <a:t>Brenda Hinkemeyer and Bryant A. </a:t>
            </a:r>
            <a:r>
              <a:rPr lang="fr-FR" altLang="zh-TW" b="1" dirty="0" smtClean="0"/>
              <a:t>Julstrom</a:t>
            </a:r>
          </a:p>
          <a:p>
            <a:r>
              <a:rPr lang="en-US" altLang="zh-TW" b="1" dirty="0"/>
              <a:t>GECCO '06 Proceedings of the 8th annual conference on Genetic and evolutionary computation</a:t>
            </a:r>
          </a:p>
          <a:p>
            <a:r>
              <a:rPr lang="en-US" altLang="zh-TW" b="1" dirty="0"/>
              <a:t>Pages </a:t>
            </a:r>
            <a:r>
              <a:rPr lang="en-US" altLang="zh-TW" b="1" dirty="0" smtClean="0"/>
              <a:t>609-610, Seattle</a:t>
            </a:r>
            <a:r>
              <a:rPr lang="en-US" altLang="zh-TW" b="1" dirty="0"/>
              <a:t>, Washington, USA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479634" y="44849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281111" y="5312807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 smtClean="0"/>
              <a:t>Presenter : </a:t>
            </a:r>
            <a:r>
              <a:rPr lang="en-US" altLang="zh-TW" b="1" dirty="0" err="1" smtClean="0"/>
              <a:t>Shie</a:t>
            </a:r>
            <a:r>
              <a:rPr lang="en-US" altLang="zh-TW" b="1" dirty="0" smtClean="0"/>
              <a:t>-Yan </a:t>
            </a:r>
            <a:r>
              <a:rPr lang="en-US" altLang="zh-TW" b="1" dirty="0" smtClean="0"/>
              <a:t>Lee</a:t>
            </a:r>
          </a:p>
          <a:p>
            <a:r>
              <a:rPr lang="en-US" altLang="zh-TW" b="1" dirty="0" smtClean="0"/>
              <a:t>2017/1/3</a:t>
            </a:r>
            <a:endParaRPr lang="en-US" altLang="zh-TW" b="1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752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/>
          <a:lstStyle/>
          <a:p>
            <a:r>
              <a:rPr lang="en-US" altLang="zh-TW" sz="6000" dirty="0" smtClean="0"/>
              <a:t>Abstract</a:t>
            </a:r>
            <a:endParaRPr lang="zh-TW" altLang="en-US" sz="6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95275" y="1825625"/>
            <a:ext cx="87153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 genetic algorithm for the longest </a:t>
            </a:r>
            <a:r>
              <a:rPr lang="en-US" altLang="zh-TW" dirty="0" smtClean="0"/>
              <a:t>common subsequence problem </a:t>
            </a:r>
            <a:r>
              <a:rPr lang="en-US" altLang="zh-TW" dirty="0"/>
              <a:t>encodes candidate sequences </a:t>
            </a:r>
            <a:r>
              <a:rPr lang="en-US" altLang="zh-TW" dirty="0" smtClean="0"/>
              <a:t>as binary </a:t>
            </a:r>
            <a:r>
              <a:rPr lang="en-US" altLang="zh-TW" dirty="0"/>
              <a:t>strings </a:t>
            </a:r>
            <a:r>
              <a:rPr lang="en-US" altLang="zh-TW" dirty="0" smtClean="0"/>
              <a:t>that indicate </a:t>
            </a:r>
            <a:r>
              <a:rPr lang="en-US" altLang="zh-TW" dirty="0"/>
              <a:t>subsequences of </a:t>
            </a:r>
            <a:r>
              <a:rPr lang="en-US" altLang="zh-TW" dirty="0" smtClean="0"/>
              <a:t>the shortest </a:t>
            </a:r>
            <a:r>
              <a:rPr lang="en-US" altLang="zh-TW" dirty="0"/>
              <a:t>or first string. </a:t>
            </a:r>
            <a:r>
              <a:rPr lang="en-US" altLang="zh-TW" dirty="0" smtClean="0"/>
              <a:t>Its fitness </a:t>
            </a:r>
            <a:r>
              <a:rPr lang="en-US" altLang="zh-TW" dirty="0"/>
              <a:t>function penalizes sequences not found in all </a:t>
            </a:r>
            <a:r>
              <a:rPr lang="en-US" altLang="zh-TW" dirty="0" smtClean="0"/>
              <a:t>the strings. In </a:t>
            </a:r>
            <a:r>
              <a:rPr lang="en-US" altLang="zh-TW" dirty="0"/>
              <a:t>tests on </a:t>
            </a:r>
            <a:r>
              <a:rPr lang="en-US" altLang="zh-TW" dirty="0" smtClean="0"/>
              <a:t>84 sets </a:t>
            </a:r>
            <a:r>
              <a:rPr lang="en-US" altLang="zh-TW" dirty="0"/>
              <a:t>of three strings, a </a:t>
            </a:r>
            <a:r>
              <a:rPr lang="en-US" altLang="zh-TW" dirty="0" smtClean="0"/>
              <a:t>dynamic programming algorithm </a:t>
            </a:r>
            <a:r>
              <a:rPr lang="en-US" altLang="zh-TW" dirty="0"/>
              <a:t>returns optimum solutions quickly </a:t>
            </a:r>
            <a:r>
              <a:rPr lang="en-US" altLang="zh-TW" dirty="0" smtClean="0"/>
              <a:t>on smaller </a:t>
            </a:r>
            <a:r>
              <a:rPr lang="en-US" altLang="zh-TW" dirty="0"/>
              <a:t>instances and increasingly slowly on larger </a:t>
            </a:r>
            <a:r>
              <a:rPr lang="en-US" altLang="zh-TW" dirty="0" smtClean="0"/>
              <a:t>instances. Repeated </a:t>
            </a:r>
            <a:r>
              <a:rPr lang="en-US" altLang="zh-TW" dirty="0"/>
              <a:t>trials of the GA always identify optimum </a:t>
            </a:r>
            <a:r>
              <a:rPr lang="en-US" altLang="zh-TW" dirty="0" smtClean="0"/>
              <a:t>subsequences, and </a:t>
            </a:r>
            <a:r>
              <a:rPr lang="en-US" altLang="zh-TW" dirty="0"/>
              <a:t>it runs in reasonable </a:t>
            </a:r>
            <a:r>
              <a:rPr lang="en-US" altLang="zh-TW" dirty="0" smtClean="0"/>
              <a:t>times even </a:t>
            </a:r>
            <a:r>
              <a:rPr lang="en-US" altLang="zh-TW" dirty="0"/>
              <a:t>on the </a:t>
            </a:r>
            <a:r>
              <a:rPr lang="en-US" altLang="zh-TW" dirty="0" smtClean="0"/>
              <a:t>largest instances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629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6000" dirty="0" smtClean="0"/>
              <a:t>Genetic Algorithm</a:t>
            </a:r>
            <a:endParaRPr lang="zh-TW" altLang="en-US" sz="6000" dirty="0"/>
          </a:p>
        </p:txBody>
      </p:sp>
      <p:sp>
        <p:nvSpPr>
          <p:cNvPr id="6" name="橢圓 5"/>
          <p:cNvSpPr/>
          <p:nvPr/>
        </p:nvSpPr>
        <p:spPr>
          <a:xfrm>
            <a:off x="1704975" y="27347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>
            <a:off x="523875" y="37253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>
            <a:off x="2867025" y="43349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4124325" y="3051430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橢圓 9"/>
          <p:cNvSpPr/>
          <p:nvPr/>
        </p:nvSpPr>
        <p:spPr>
          <a:xfrm>
            <a:off x="771525" y="51350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3181350" y="57446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5210175" y="4061080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5514975" y="52874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「達爾文」的圖片搜尋結果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100" y="79376"/>
            <a:ext cx="2176513" cy="2655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2228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/>
          <p:cNvSpPr/>
          <p:nvPr/>
        </p:nvSpPr>
        <p:spPr>
          <a:xfrm>
            <a:off x="1704975" y="27347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>
            <a:off x="523875" y="37253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>
            <a:off x="2867025" y="43349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4124325" y="3051430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橢圓 9"/>
          <p:cNvSpPr/>
          <p:nvPr/>
        </p:nvSpPr>
        <p:spPr>
          <a:xfrm>
            <a:off x="771525" y="51350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3181350" y="57446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5210175" y="4061080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5514975" y="52874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1704975" y="27347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523875" y="37253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200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2867025" y="43349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-50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4124325" y="3051430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771525" y="51350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3181350" y="57446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350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5210175" y="4061080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35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5514975" y="52874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6000" dirty="0" smtClean="0"/>
              <a:t>Genetic Algorithm</a:t>
            </a:r>
            <a:endParaRPr lang="zh-TW" altLang="en-US" sz="6000" dirty="0"/>
          </a:p>
        </p:txBody>
      </p:sp>
      <p:sp>
        <p:nvSpPr>
          <p:cNvPr id="14" name="內容版面配置區 2"/>
          <p:cNvSpPr>
            <a:spLocks noGrp="1"/>
          </p:cNvSpPr>
          <p:nvPr>
            <p:ph idx="1"/>
          </p:nvPr>
        </p:nvSpPr>
        <p:spPr>
          <a:xfrm>
            <a:off x="266700" y="1692275"/>
            <a:ext cx="6829425" cy="616205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/>
              <a:t>Use a fitness function to evaluate the solutions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41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/>
          <p:cNvSpPr/>
          <p:nvPr/>
        </p:nvSpPr>
        <p:spPr>
          <a:xfrm>
            <a:off x="1704975" y="27347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>
            <a:off x="523875" y="37253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>
            <a:off x="2867025" y="43349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4124325" y="3051430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橢圓 9"/>
          <p:cNvSpPr/>
          <p:nvPr/>
        </p:nvSpPr>
        <p:spPr>
          <a:xfrm>
            <a:off x="771525" y="51350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3181350" y="57446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5210175" y="4061080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5514975" y="52874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1704975" y="27347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523875" y="37253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200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2867025" y="43349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-50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4124325" y="3051430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771525" y="51350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3181350" y="57446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350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5210175" y="4061080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35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5514975" y="52874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6000" dirty="0" smtClean="0"/>
              <a:t>Genetic Algorithm</a:t>
            </a:r>
            <a:endParaRPr lang="zh-TW" altLang="en-US" sz="6000" dirty="0"/>
          </a:p>
        </p:txBody>
      </p:sp>
      <p:sp>
        <p:nvSpPr>
          <p:cNvPr id="23" name="橢圓 22"/>
          <p:cNvSpPr/>
          <p:nvPr/>
        </p:nvSpPr>
        <p:spPr>
          <a:xfrm>
            <a:off x="523875" y="37253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200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3181350" y="57446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350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內容版面配置區 2"/>
          <p:cNvSpPr txBox="1">
            <a:spLocks/>
          </p:cNvSpPr>
          <p:nvPr/>
        </p:nvSpPr>
        <p:spPr>
          <a:xfrm>
            <a:off x="266700" y="1692275"/>
            <a:ext cx="6829425" cy="6162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mtClean="0"/>
              <a:t>Choose the best chromosomes to be parents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7136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橢圓 14"/>
          <p:cNvSpPr/>
          <p:nvPr/>
        </p:nvSpPr>
        <p:spPr>
          <a:xfrm>
            <a:off x="1704975" y="27347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2867025" y="43349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-50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4124325" y="3051430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771525" y="51350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5210175" y="4061080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35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5514975" y="52874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/>
          <p:cNvSpPr/>
          <p:nvPr/>
        </p:nvSpPr>
        <p:spPr>
          <a:xfrm>
            <a:off x="523875" y="37253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200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3181350" y="57446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350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6000" dirty="0" smtClean="0"/>
              <a:t>Genetic Algorithm</a:t>
            </a:r>
            <a:endParaRPr lang="zh-TW" altLang="en-US" sz="6000" dirty="0"/>
          </a:p>
        </p:txBody>
      </p:sp>
      <p:sp>
        <p:nvSpPr>
          <p:cNvPr id="25" name="內容版面配置區 2"/>
          <p:cNvSpPr txBox="1">
            <a:spLocks/>
          </p:cNvSpPr>
          <p:nvPr/>
        </p:nvSpPr>
        <p:spPr>
          <a:xfrm>
            <a:off x="266700" y="1692275"/>
            <a:ext cx="6829425" cy="6162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mtClean="0"/>
              <a:t>Choose the best chromosomes to be parents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3454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0.00139 L 0.67708 -0.31945 " pathEditMode="fixed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54" y="-1590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4.07407E-6 L 0.57813 0.03055 " pathEditMode="fixed" rAng="0" ptsTypes="AA">
                                      <p:cBhvr>
                                        <p:cTn id="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06" y="152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7.40741E-7 L 0.44376 -0.20278 " pathEditMode="fixed" rAng="0" ptsTypes="AA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87" y="-1013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7.40741E-7 L 0.31042 -0.01551 " pathEditMode="fixed" rAng="0" ptsTypes="AA">
                                      <p:cBhvr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21" y="-78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96296E-6 L 0.19063 -0.16018 " pathEditMode="fixed" rAng="0" ptsTypes="AA">
                                      <p:cBhvr>
                                        <p:cTn id="1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31" y="-800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85185E-6 L 0.15625 -0.33634 " pathEditMode="fixed" rAng="0" ptsTypes="AA">
                                      <p:cBhvr>
                                        <p:cTn id="1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3" y="-1682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7037E-7 L -0.0125 -0.22106 " pathEditMode="fixed" rAng="0" ptsTypes="AA">
                                      <p:cBhvr>
                                        <p:cTn id="1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5" y="-11065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81481E-6 L -0.01979 -0.50995 " pathEditMode="fixed" rAng="0" ptsTypes="AA">
                                      <p:cBhvr>
                                        <p:cTn id="2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0" y="-2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橢圓 14"/>
          <p:cNvSpPr/>
          <p:nvPr/>
        </p:nvSpPr>
        <p:spPr>
          <a:xfrm>
            <a:off x="6896100" y="2940537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6896100" y="2943386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-50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6896100" y="2947320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896100" y="2949084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6896100" y="2946235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35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6896100" y="2950848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6000" dirty="0" smtClean="0"/>
              <a:t>Genetic Algorithm</a:t>
            </a:r>
            <a:endParaRPr lang="zh-TW" altLang="en-US" sz="6000" dirty="0"/>
          </a:p>
        </p:txBody>
      </p:sp>
      <p:sp>
        <p:nvSpPr>
          <p:cNvPr id="23" name="橢圓 22"/>
          <p:cNvSpPr/>
          <p:nvPr/>
        </p:nvSpPr>
        <p:spPr>
          <a:xfrm>
            <a:off x="438150" y="2213089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200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3028950" y="2250141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350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內容版面配置區 2"/>
          <p:cNvSpPr>
            <a:spLocks noGrp="1"/>
          </p:cNvSpPr>
          <p:nvPr>
            <p:ph idx="1"/>
          </p:nvPr>
        </p:nvSpPr>
        <p:spPr>
          <a:xfrm>
            <a:off x="266700" y="1692275"/>
            <a:ext cx="6829425" cy="616205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Crossover to generate new chromosomes</a:t>
            </a:r>
            <a:endParaRPr lang="zh-TW" altLang="en-US" dirty="0"/>
          </a:p>
        </p:txBody>
      </p:sp>
      <p:sp>
        <p:nvSpPr>
          <p:cNvPr id="2" name="＞形箭號 1"/>
          <p:cNvSpPr/>
          <p:nvPr/>
        </p:nvSpPr>
        <p:spPr>
          <a:xfrm rot="5400000">
            <a:off x="2154120" y="2278012"/>
            <a:ext cx="1254360" cy="2881313"/>
          </a:xfrm>
          <a:prstGeom prst="chevron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29193" y="3718668"/>
            <a:ext cx="1104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Crossover</a:t>
            </a:r>
            <a:endParaRPr lang="zh-TW" altLang="en-US" dirty="0"/>
          </a:p>
        </p:txBody>
      </p:sp>
      <p:sp>
        <p:nvSpPr>
          <p:cNvPr id="26" name="橢圓 25"/>
          <p:cNvSpPr/>
          <p:nvPr/>
        </p:nvSpPr>
        <p:spPr>
          <a:xfrm>
            <a:off x="3014662" y="4424148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438150" y="4424148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82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6000" dirty="0" smtClean="0"/>
              <a:t>Genetic Algorithm</a:t>
            </a:r>
            <a:endParaRPr lang="zh-TW" altLang="en-US" sz="6000" dirty="0"/>
          </a:p>
        </p:txBody>
      </p:sp>
      <p:sp>
        <p:nvSpPr>
          <p:cNvPr id="25" name="內容版面配置區 2"/>
          <p:cNvSpPr>
            <a:spLocks noGrp="1"/>
          </p:cNvSpPr>
          <p:nvPr>
            <p:ph idx="1"/>
          </p:nvPr>
        </p:nvSpPr>
        <p:spPr>
          <a:xfrm>
            <a:off x="628650" y="1690689"/>
            <a:ext cx="6829425" cy="616205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Mutation </a:t>
            </a:r>
            <a:endParaRPr lang="zh-TW" altLang="en-US" dirty="0"/>
          </a:p>
        </p:txBody>
      </p:sp>
      <p:sp>
        <p:nvSpPr>
          <p:cNvPr id="20" name="橢圓 19"/>
          <p:cNvSpPr/>
          <p:nvPr/>
        </p:nvSpPr>
        <p:spPr>
          <a:xfrm>
            <a:off x="1638300" y="26620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3819525" y="31573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1381125" y="38431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676650" y="44908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1381125" y="5276421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3676650" y="58243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6200775" y="3747981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4" name="橢圓 33"/>
          <p:cNvSpPr/>
          <p:nvPr/>
        </p:nvSpPr>
        <p:spPr>
          <a:xfrm>
            <a:off x="5895975" y="50242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5772150" y="2471739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5772150" y="2471739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75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6000" dirty="0" smtClean="0"/>
              <a:t>Genetic Algorithm</a:t>
            </a:r>
            <a:endParaRPr lang="zh-TW" altLang="en-US" sz="6000" dirty="0"/>
          </a:p>
        </p:txBody>
      </p:sp>
      <p:sp>
        <p:nvSpPr>
          <p:cNvPr id="25" name="內容版面配置區 2"/>
          <p:cNvSpPr>
            <a:spLocks noGrp="1"/>
          </p:cNvSpPr>
          <p:nvPr>
            <p:ph idx="1"/>
          </p:nvPr>
        </p:nvSpPr>
        <p:spPr>
          <a:xfrm>
            <a:off x="628649" y="1690689"/>
            <a:ext cx="7743825" cy="685584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Repeat this generational process until a termination condition has been reached.</a:t>
            </a:r>
            <a:endParaRPr lang="zh-TW" altLang="en-US" dirty="0"/>
          </a:p>
        </p:txBody>
      </p:sp>
      <p:sp>
        <p:nvSpPr>
          <p:cNvPr id="20" name="橢圓 19"/>
          <p:cNvSpPr/>
          <p:nvPr/>
        </p:nvSpPr>
        <p:spPr>
          <a:xfrm>
            <a:off x="1638300" y="26620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8" name="橢圓 27"/>
          <p:cNvSpPr/>
          <p:nvPr/>
        </p:nvSpPr>
        <p:spPr>
          <a:xfrm>
            <a:off x="3819525" y="31573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9" name="橢圓 28"/>
          <p:cNvSpPr/>
          <p:nvPr/>
        </p:nvSpPr>
        <p:spPr>
          <a:xfrm>
            <a:off x="1381125" y="38431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676650" y="44908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1381125" y="5276421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3676650" y="58243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6200775" y="3747981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4" name="橢圓 33"/>
          <p:cNvSpPr/>
          <p:nvPr/>
        </p:nvSpPr>
        <p:spPr>
          <a:xfrm>
            <a:off x="5895975" y="5024223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5772150" y="2471739"/>
            <a:ext cx="2095500" cy="8001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Chromosome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07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6000" dirty="0" smtClean="0"/>
              <a:t>Genetic Algorithm for LCS</a:t>
            </a:r>
            <a:endParaRPr lang="zh-TW" altLang="en-US" sz="6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690688"/>
                <a:ext cx="7743825" cy="4748211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Find the LCS of given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 smtClean="0"/>
                  <a:t> strings :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…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en-US" altLang="zh-TW" dirty="0" smtClean="0"/>
                  <a:t>Each chromosome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 is a bit string as long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25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690688"/>
                <a:ext cx="7743825" cy="4748211"/>
              </a:xfrm>
              <a:blipFill rotWithShape="0">
                <a:blip r:embed="rId2"/>
                <a:stretch>
                  <a:fillRect l="-1417" t="-20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0879852"/>
                  </p:ext>
                </p:extLst>
              </p:nvPr>
            </p:nvGraphicFramePr>
            <p:xfrm>
              <a:off x="1171575" y="3749675"/>
              <a:ext cx="6096000" cy="2407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48000"/>
                    <a:gridCol w="30480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4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4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4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4000" dirty="0" smtClean="0"/>
                            <a:t>ACTCTGA</a:t>
                          </a:r>
                          <a:endParaRPr lang="zh-TW" altLang="en-US" sz="40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4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4000" b="0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TW" sz="40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4000" dirty="0" smtClean="0"/>
                            <a:t>1001101</a:t>
                          </a:r>
                          <a:endParaRPr lang="zh-TW" altLang="en-US" sz="40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b="0" dirty="0" smtClean="0"/>
                            <a:t>Subsequence</a:t>
                          </a:r>
                          <a:r>
                            <a:rPr lang="en-US" altLang="zh-TW" sz="3000" b="0" baseline="0" dirty="0" smtClean="0"/>
                            <a:t> that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3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000" b="0" i="1" dirty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30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TW" altLang="en-US" sz="3000" dirty="0" smtClean="0"/>
                            <a:t> </a:t>
                          </a:r>
                          <a:r>
                            <a:rPr lang="en-US" altLang="zh-TW" sz="3000" dirty="0" smtClean="0"/>
                            <a:t>represents</a:t>
                          </a:r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4000" dirty="0" smtClean="0"/>
                            <a:t>ACTA</a:t>
                          </a:r>
                          <a:endParaRPr lang="zh-TW" altLang="en-US" sz="40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0879852"/>
                  </p:ext>
                </p:extLst>
              </p:nvPr>
            </p:nvGraphicFramePr>
            <p:xfrm>
              <a:off x="1171575" y="3749675"/>
              <a:ext cx="6096000" cy="2407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48000"/>
                    <a:gridCol w="3048000"/>
                  </a:tblGrid>
                  <a:tr h="7010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" t="-15652" r="-100200" b="-271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4000" dirty="0" smtClean="0"/>
                            <a:t>ACTCTGA</a:t>
                          </a:r>
                          <a:endParaRPr lang="zh-TW" altLang="en-US" sz="4000" dirty="0"/>
                        </a:p>
                      </a:txBody>
                      <a:tcPr/>
                    </a:tc>
                  </a:tr>
                  <a:tr h="7010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" t="-114655" r="-100200" b="-168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4000" dirty="0" smtClean="0"/>
                            <a:t>1001101</a:t>
                          </a:r>
                          <a:endParaRPr lang="zh-TW" altLang="en-US" sz="4000" dirty="0"/>
                        </a:p>
                      </a:txBody>
                      <a:tcPr/>
                    </a:tc>
                  </a:tr>
                  <a:tr h="1005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" t="-150909" r="-100200" b="-187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4000" dirty="0" smtClean="0"/>
                            <a:t>ACTA</a:t>
                          </a:r>
                          <a:endParaRPr lang="zh-TW" altLang="en-US" sz="40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2648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6000" dirty="0" smtClean="0"/>
              <a:t>Genetic Algorithm for LCS</a:t>
            </a:r>
            <a:endParaRPr lang="zh-TW" altLang="en-US" sz="6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690688"/>
                <a:ext cx="7743825" cy="4748211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Fitness function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)</a:t>
                </a:r>
                <a:endParaRPr lang="en-US" altLang="zh-TW" dirty="0" smtClean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 smtClean="0"/>
                  <a:t>: length of the subsequence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 represents</a:t>
                </a:r>
              </a:p>
              <a:p>
                <a:pPr marL="457200" lvl="1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 smtClean="0"/>
                  <a:t>(the number of 1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)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dirty="0" smtClean="0"/>
                  <a:t> : number of strings that the subsequence matches</a:t>
                </a:r>
                <a:endParaRPr lang="en-US" altLang="zh-TW" b="0" dirty="0" smtClean="0"/>
              </a:p>
              <a:p>
                <a:pPr marL="457200" lvl="1" indent="0">
                  <a:buNone/>
                </a:pPr>
                <a:r>
                  <a:rPr lang="zh-TW" altLang="en-US" dirty="0" smtClean="0"/>
                  <a:t>  </a:t>
                </a:r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25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690688"/>
                <a:ext cx="7743825" cy="4748211"/>
              </a:xfrm>
              <a:blipFill rotWithShape="0">
                <a:blip r:embed="rId2"/>
                <a:stretch>
                  <a:fillRect l="-1417" t="-20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/>
              <p:cNvSpPr txBox="1"/>
              <p:nvPr/>
            </p:nvSpPr>
            <p:spPr>
              <a:xfrm>
                <a:off x="628648" y="3279395"/>
                <a:ext cx="4626395" cy="36017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1"/>
                <a:r>
                  <a:rPr lang="en-US" altLang="zh-TW" sz="25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TW" altLang="en-US" sz="2500" i="1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</a:rPr>
                      <m:t>+30∗</m:t>
                    </m:r>
                    <m:r>
                      <a:rPr lang="en-US" altLang="zh-TW" sz="25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zh-TW" sz="25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500" dirty="0"/>
              </a:p>
              <a:p>
                <a:pPr lvl="1"/>
                <a:r>
                  <a:rPr lang="en-US" altLang="zh-TW" sz="2500" dirty="0"/>
                  <a:t>	</a:t>
                </a:r>
                <a14:m>
                  <m:oMath xmlns:m="http://schemas.openxmlformats.org/officeDocument/2006/math"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TW" altLang="en-US" sz="25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+50</m:t>
                    </m:r>
                  </m:oMath>
                </a14:m>
                <a:endParaRPr lang="en-US" altLang="zh-TW" sz="25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altLang="zh-TW" sz="2500" dirty="0"/>
              </a:p>
              <a:p>
                <a:pPr lvl="1"/>
                <a:r>
                  <a:rPr lang="en-US" altLang="zh-TW" sz="2500" dirty="0"/>
                  <a:t>	</a:t>
                </a:r>
                <a14:m>
                  <m:oMath xmlns:m="http://schemas.openxmlformats.org/officeDocument/2006/math"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TW" altLang="en-US" sz="25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300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altLang="zh-TW" sz="25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n-US" altLang="zh-TW" sz="2500" dirty="0"/>
              </a:p>
              <a:p>
                <a:pPr lvl="1"/>
                <a:r>
                  <a:rPr lang="en-US" altLang="zh-TW" sz="2500" dirty="0" smtClean="0"/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500" dirty="0"/>
                      <m:t>	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TW" altLang="en-US" sz="25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−1000∗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5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5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500" dirty="0" smtClean="0"/>
                  <a:t>)</a:t>
                </a:r>
                <a14:m>
                  <m:oMath xmlns:m="http://schemas.openxmlformats.org/officeDocument/2006/math">
                    <m:r>
                      <a:rPr lang="zh-TW" altLang="en-US" sz="2500" i="1" dirty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altLang="zh-TW" sz="2500" dirty="0"/>
              </a:p>
              <a:p>
                <a:pPr lvl="1"/>
                <a:endParaRPr lang="en-US" altLang="zh-TW" sz="2500" dirty="0"/>
              </a:p>
            </p:txBody>
          </p:sp>
        </mc:Choice>
        <mc:Fallback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8" y="3279395"/>
                <a:ext cx="4626395" cy="360175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722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6000" dirty="0" smtClean="0"/>
              <a:t>Genetic Algorithm for LCS</a:t>
            </a:r>
            <a:endParaRPr lang="zh-TW" altLang="en-US" sz="6000" dirty="0"/>
          </a:p>
        </p:txBody>
      </p:sp>
      <p:sp>
        <p:nvSpPr>
          <p:cNvPr id="25" name="內容版面配置區 2"/>
          <p:cNvSpPr>
            <a:spLocks noGrp="1"/>
          </p:cNvSpPr>
          <p:nvPr>
            <p:ph idx="1"/>
          </p:nvPr>
        </p:nvSpPr>
        <p:spPr>
          <a:xfrm>
            <a:off x="628649" y="1690688"/>
            <a:ext cx="7743825" cy="4748211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K-point crossover</a:t>
            </a:r>
          </a:p>
          <a:p>
            <a:pPr marL="457200" lvl="1" indent="0">
              <a:buNone/>
            </a:pPr>
            <a:r>
              <a:rPr lang="zh-TW" altLang="en-US" dirty="0" smtClean="0"/>
              <a:t>  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927291" y="2334754"/>
            <a:ext cx="1591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Parents</a:t>
            </a:r>
            <a:endParaRPr lang="zh-TW" altLang="en-US" sz="36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927291" y="4085126"/>
            <a:ext cx="1752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Children</a:t>
            </a:r>
            <a:endParaRPr lang="zh-TW" altLang="en-US" sz="3600" dirty="0"/>
          </a:p>
        </p:txBody>
      </p:sp>
      <p:sp>
        <p:nvSpPr>
          <p:cNvPr id="5" name="矩形 4"/>
          <p:cNvSpPr/>
          <p:nvPr/>
        </p:nvSpPr>
        <p:spPr>
          <a:xfrm>
            <a:off x="2540824" y="5452657"/>
            <a:ext cx="954730" cy="36066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2546430" y="4767673"/>
            <a:ext cx="949124" cy="3606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010848" y="4767673"/>
            <a:ext cx="535582" cy="36066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2010848" y="5452658"/>
            <a:ext cx="535582" cy="3606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2010848" y="3674420"/>
            <a:ext cx="5903088" cy="3606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2010848" y="3019141"/>
            <a:ext cx="5903088" cy="36066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495554" y="5452657"/>
            <a:ext cx="529976" cy="3606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495554" y="4767672"/>
            <a:ext cx="535582" cy="36066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4025530" y="4767672"/>
            <a:ext cx="1387805" cy="3606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4025530" y="5446154"/>
            <a:ext cx="1382199" cy="36066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5409356" y="4767672"/>
            <a:ext cx="771525" cy="36066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5407729" y="5446154"/>
            <a:ext cx="784727" cy="3606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6192456" y="5452656"/>
            <a:ext cx="1721480" cy="36066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6180881" y="4767671"/>
            <a:ext cx="1733055" cy="3541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/>
              <p:cNvSpPr txBox="1"/>
              <p:nvPr/>
            </p:nvSpPr>
            <p:spPr>
              <a:xfrm>
                <a:off x="1454295" y="2931850"/>
                <a:ext cx="537006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295" y="2931850"/>
                <a:ext cx="537006" cy="477054"/>
              </a:xfrm>
              <a:prstGeom prst="rect">
                <a:avLst/>
              </a:prstGeom>
              <a:blipFill rotWithShape="0">
                <a:blip r:embed="rId2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/>
              <p:cNvSpPr txBox="1"/>
              <p:nvPr/>
            </p:nvSpPr>
            <p:spPr>
              <a:xfrm>
                <a:off x="1454295" y="3521817"/>
                <a:ext cx="544444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295" y="3521817"/>
                <a:ext cx="544444" cy="477054"/>
              </a:xfrm>
              <a:prstGeom prst="rect">
                <a:avLst/>
              </a:prstGeom>
              <a:blipFill rotWithShape="0">
                <a:blip r:embed="rId3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/>
              <p:cNvSpPr txBox="1"/>
              <p:nvPr/>
            </p:nvSpPr>
            <p:spPr>
              <a:xfrm>
                <a:off x="1483875" y="4678273"/>
                <a:ext cx="544444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875" y="4678273"/>
                <a:ext cx="544444" cy="477054"/>
              </a:xfrm>
              <a:prstGeom prst="rect">
                <a:avLst/>
              </a:prstGeom>
              <a:blipFill rotWithShape="0">
                <a:blip r:embed="rId4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/>
              <p:cNvSpPr txBox="1"/>
              <p:nvPr/>
            </p:nvSpPr>
            <p:spPr>
              <a:xfrm>
                <a:off x="1472300" y="5326115"/>
                <a:ext cx="544444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300" y="5326115"/>
                <a:ext cx="544444" cy="477054"/>
              </a:xfrm>
              <a:prstGeom prst="rect">
                <a:avLst/>
              </a:prstGeom>
              <a:blipFill rotWithShape="0">
                <a:blip r:embed="rId5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55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6000" dirty="0" smtClean="0"/>
              <a:t>Genetic Algorithm for LCS</a:t>
            </a:r>
            <a:endParaRPr lang="zh-TW" altLang="en-US" sz="6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690688"/>
                <a:ext cx="7743825" cy="4748211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Mutation with </a:t>
                </a:r>
                <a:r>
                  <a:rPr lang="en-US" altLang="zh-TW" dirty="0"/>
                  <a:t>probability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zh-TW" dirty="0" smtClean="0"/>
              </a:p>
              <a:p>
                <a:pPr marL="457200" lvl="1" indent="0">
                  <a:buNone/>
                </a:pPr>
                <a:r>
                  <a:rPr lang="zh-TW" altLang="en-US" dirty="0" smtClean="0"/>
                  <a:t>  </a:t>
                </a:r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25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690688"/>
                <a:ext cx="7743825" cy="4748211"/>
              </a:xfrm>
              <a:blipFill rotWithShape="0">
                <a:blip r:embed="rId2"/>
                <a:stretch>
                  <a:fillRect l="-1417" t="-2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2010848" y="3019141"/>
            <a:ext cx="5903088" cy="3606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 smtClean="0">
                <a:solidFill>
                  <a:schemeClr val="tx1"/>
                </a:solidFill>
              </a:rPr>
              <a:t>0 1 0 1 0 1 1 0 1 0 1 1 0 1</a:t>
            </a:r>
            <a:endParaRPr lang="zh-TW" altLang="en-US" sz="4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/>
              <p:cNvSpPr txBox="1"/>
              <p:nvPr/>
            </p:nvSpPr>
            <p:spPr>
              <a:xfrm>
                <a:off x="1454295" y="2931850"/>
                <a:ext cx="537006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295" y="2931850"/>
                <a:ext cx="537006" cy="477054"/>
              </a:xfrm>
              <a:prstGeom prst="rect">
                <a:avLst/>
              </a:prstGeom>
              <a:blipFill rotWithShape="0">
                <a:blip r:embed="rId3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37"/>
              <p:cNvSpPr txBox="1"/>
              <p:nvPr/>
            </p:nvSpPr>
            <p:spPr>
              <a:xfrm>
                <a:off x="1454295" y="4737356"/>
                <a:ext cx="537006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295" y="4737356"/>
                <a:ext cx="537006" cy="477054"/>
              </a:xfrm>
              <a:prstGeom prst="rect">
                <a:avLst/>
              </a:prstGeom>
              <a:blipFill rotWithShape="0">
                <a:blip r:embed="rId4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矩形 38"/>
          <p:cNvSpPr/>
          <p:nvPr/>
        </p:nvSpPr>
        <p:spPr>
          <a:xfrm>
            <a:off x="2030395" y="4737356"/>
            <a:ext cx="5903088" cy="3606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 smtClean="0">
                <a:solidFill>
                  <a:schemeClr val="tx1"/>
                </a:solidFill>
              </a:rPr>
              <a:t>0 1 0 1 0 1 1 0 1 0 1 1 0 1</a:t>
            </a:r>
            <a:endParaRPr lang="zh-TW" altLang="en-US" sz="4000" dirty="0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962392" y="3035813"/>
            <a:ext cx="398977" cy="3606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 smtClean="0">
                <a:solidFill>
                  <a:schemeClr val="tx1"/>
                </a:solidFill>
              </a:rPr>
              <a:t>0</a:t>
            </a:r>
            <a:endParaRPr lang="zh-TW" altLang="en-US" sz="4000" dirty="0">
              <a:solidFill>
                <a:schemeClr val="tx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981269" y="4738545"/>
            <a:ext cx="398977" cy="3606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>
                <a:solidFill>
                  <a:schemeClr val="tx1"/>
                </a:solidFill>
              </a:rPr>
              <a:t>1</a:t>
            </a:r>
            <a:endParaRPr lang="zh-TW" altLang="en-US" sz="4000" dirty="0">
              <a:solidFill>
                <a:schemeClr val="tx1"/>
              </a:solidFill>
            </a:endParaRPr>
          </a:p>
        </p:txBody>
      </p:sp>
      <p:sp>
        <p:nvSpPr>
          <p:cNvPr id="2" name="向下箭號 1"/>
          <p:cNvSpPr/>
          <p:nvPr/>
        </p:nvSpPr>
        <p:spPr>
          <a:xfrm>
            <a:off x="4733924" y="3619500"/>
            <a:ext cx="371475" cy="809625"/>
          </a:xfrm>
          <a:prstGeom prst="downArrow">
            <a:avLst>
              <a:gd name="adj1" fmla="val 34615"/>
              <a:gd name="adj2" fmla="val 11037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883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6000" dirty="0" smtClean="0"/>
              <a:t>Tests</a:t>
            </a:r>
            <a:endParaRPr lang="zh-TW" altLang="en-US" sz="6000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635" y="209550"/>
            <a:ext cx="4900501" cy="6448425"/>
          </a:xfrm>
          <a:prstGeom prst="rect">
            <a:avLst/>
          </a:prstGeom>
        </p:spPr>
      </p:pic>
      <p:sp>
        <p:nvSpPr>
          <p:cNvPr id="27" name="內容版面配置區 2"/>
          <p:cNvSpPr>
            <a:spLocks noGrp="1"/>
          </p:cNvSpPr>
          <p:nvPr>
            <p:ph idx="1"/>
          </p:nvPr>
        </p:nvSpPr>
        <p:spPr>
          <a:xfrm>
            <a:off x="85724" y="1831979"/>
            <a:ext cx="7743825" cy="4748211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TW" dirty="0" smtClean="0"/>
              <a:t>Size of alphabet = 4</a:t>
            </a:r>
            <a:r>
              <a:rPr lang="zh-TW" altLang="en-US" dirty="0" smtClean="0"/>
              <a:t>  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514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6000" dirty="0" smtClean="0"/>
              <a:t>Tests</a:t>
            </a:r>
            <a:endParaRPr lang="zh-TW" altLang="en-US" sz="6000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885950"/>
            <a:ext cx="7848600" cy="506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6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1057</TotalTime>
  <Words>356</Words>
  <Application>Microsoft Office PowerPoint</Application>
  <PresentationFormat>如螢幕大小 (4:3)</PresentationFormat>
  <Paragraphs>146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新細明體</vt:lpstr>
      <vt:lpstr>Arial</vt:lpstr>
      <vt:lpstr>Calibri</vt:lpstr>
      <vt:lpstr>Calibri Light</vt:lpstr>
      <vt:lpstr>Cambria Math</vt:lpstr>
      <vt:lpstr>Office 佈景主題</vt:lpstr>
      <vt:lpstr>A Genetic Algorithm for the Longest Common Subsequence Problem</vt:lpstr>
      <vt:lpstr>Abstract</vt:lpstr>
      <vt:lpstr>Genetic Algorithm</vt:lpstr>
      <vt:lpstr>Genetic Algorithm</vt:lpstr>
      <vt:lpstr>Genetic Algorithm</vt:lpstr>
      <vt:lpstr>Genetic Algorithm</vt:lpstr>
      <vt:lpstr>Genetic Algorithm</vt:lpstr>
      <vt:lpstr>Genetic Algorithm</vt:lpstr>
      <vt:lpstr>Genetic Algorithm</vt:lpstr>
      <vt:lpstr>Genetic Algorithm for LCS</vt:lpstr>
      <vt:lpstr>Genetic Algorithm for LCS</vt:lpstr>
      <vt:lpstr>Genetic Algorithm for LCS</vt:lpstr>
      <vt:lpstr>Genetic Algorithm for LCS</vt:lpstr>
      <vt:lpstr>Tests</vt:lpstr>
      <vt:lpstr>Tests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Bit-String Longest-Common-Subsequence Algorithm</dc:title>
  <dc:creator>YanLee</dc:creator>
  <cp:lastModifiedBy>YanLee</cp:lastModifiedBy>
  <cp:revision>59</cp:revision>
  <dcterms:created xsi:type="dcterms:W3CDTF">2016-10-24T04:50:56Z</dcterms:created>
  <dcterms:modified xsi:type="dcterms:W3CDTF">2017-01-03T09:22:58Z</dcterms:modified>
</cp:coreProperties>
</file>