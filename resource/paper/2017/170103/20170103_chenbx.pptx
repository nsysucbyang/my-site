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7"/>
  </p:notesMasterIdLst>
  <p:sldIdLst>
    <p:sldId id="256" r:id="rId2"/>
    <p:sldId id="276" r:id="rId3"/>
    <p:sldId id="277" r:id="rId4"/>
    <p:sldId id="279" r:id="rId5"/>
    <p:sldId id="280" r:id="rId6"/>
    <p:sldId id="281" r:id="rId7"/>
    <p:sldId id="283" r:id="rId8"/>
    <p:sldId id="298" r:id="rId9"/>
    <p:sldId id="284" r:id="rId10"/>
    <p:sldId id="299" r:id="rId11"/>
    <p:sldId id="296" r:id="rId12"/>
    <p:sldId id="300" r:id="rId13"/>
    <p:sldId id="302" r:id="rId14"/>
    <p:sldId id="303" r:id="rId15"/>
    <p:sldId id="301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0080"/>
    <a:srgbClr val="FFA500"/>
    <a:srgbClr val="0000FF"/>
    <a:srgbClr val="8B00FF"/>
    <a:srgbClr val="00FF00"/>
    <a:srgbClr val="6600FF"/>
    <a:srgbClr val="0652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835" autoAdjust="0"/>
  </p:normalViewPr>
  <p:slideViewPr>
    <p:cSldViewPr snapToGrid="0">
      <p:cViewPr varScale="1">
        <p:scale>
          <a:sx n="103" d="100"/>
          <a:sy n="103" d="100"/>
        </p:scale>
        <p:origin x="870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7986E-2186-42F2-A1F5-4424A07DD94D}" type="datetimeFigureOut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14D64-E656-4722-AF7D-B3D63D1F5D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973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http://infocomp.dcc.ufla.br/index.php/INFOCOMP/about</a:t>
            </a:r>
            <a:br>
              <a:rPr lang="en-US" altLang="zh-TW" dirty="0" smtClean="0"/>
            </a:br>
            <a:r>
              <a:rPr lang="en-US" altLang="zh-TW" dirty="0" smtClean="0"/>
              <a:t>http://infocomp.dcc.ufla.br/index.php/INFOCOMP/issue/view/14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9810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3378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 smtClean="0"/>
              <a:t>List_of_mathematical_symbols</a:t>
            </a:r>
            <a:endParaRPr lang="en-US" altLang="zh-TW" dirty="0" smtClean="0"/>
          </a:p>
          <a:p>
            <a:r>
              <a:rPr lang="en-US" altLang="zh-TW" dirty="0" smtClean="0"/>
              <a:t>https://en.wikipedia.org/wiki/List_of_mathematical_symbols</a:t>
            </a:r>
            <a:br>
              <a:rPr lang="en-US" altLang="zh-TW" dirty="0" smtClean="0"/>
            </a:br>
            <a:r>
              <a:rPr lang="zh-TW" altLang="en-US" dirty="0" smtClean="0"/>
              <a:t>色彩表</a:t>
            </a:r>
            <a:r>
              <a:rPr lang="en-US" altLang="zh-TW" dirty="0" smtClean="0"/>
              <a:t>RGB</a:t>
            </a:r>
          </a:p>
          <a:p>
            <a:r>
              <a:rPr lang="en-US" altLang="zh-TW" dirty="0" smtClean="0"/>
              <a:t>http://www.ebaomonthly.com/window/photo/lesson/colorList.htm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193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54839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254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3924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20430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6039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3571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014D64-E656-4722-AF7D-B3D63D1F5DC9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4151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346F-159C-4E5E-A9BC-B4FAF4B8F4AD}" type="datetime1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646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45FE-5976-4612-A121-9F7FA6C65956}" type="datetime1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248955" y="6363658"/>
            <a:ext cx="2743200" cy="365125"/>
          </a:xfrm>
        </p:spPr>
        <p:txBody>
          <a:bodyPr/>
          <a:lstStyle>
            <a:lvl1pPr>
              <a:defRPr sz="14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837517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E126F-36C8-4C5A-8698-9E4A53D999E5}" type="datetime1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596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8B67-291F-45ED-BF8F-60129A7CAFCF}" type="datetime1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85235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5E44-883D-47F1-80F2-BBD83A64BF20}" type="datetime1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006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DBBE2-5504-4D7F-9CC4-F2C58F132876}" type="datetime1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99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0DA84-72B1-4070-A970-AE6E5670C53F}" type="datetime1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298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BC297-F23E-49C2-9FD2-1DB5A3D63A00}" type="datetime1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46121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0853A-160A-4D81-8E79-297A6811D44C}" type="datetime1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72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FD68B-4BF6-411C-BDB8-9879BE85A868}" type="datetime1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8019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9472C-E7F7-4061-8A6B-A2FC31C7A013}" type="datetime1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3835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A8E3B-251A-4826-B76B-2ED6FD8BECB3}" type="datetime1">
              <a:rPr lang="zh-TW" altLang="en-US" smtClean="0"/>
              <a:t>2017/1/3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4543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A97ABC-EF3A-4183-AE2C-72E330AF58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578900"/>
            <a:ext cx="9144000" cy="1395816"/>
          </a:xfrm>
        </p:spPr>
        <p:txBody>
          <a:bodyPr>
            <a:normAutofit/>
          </a:bodyPr>
          <a:lstStyle/>
          <a:p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Mastermind is NP-Complete</a:t>
            </a:r>
            <a:endParaRPr lang="zh-TW" alt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959305" y="5620621"/>
            <a:ext cx="3893389" cy="935455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Bo-Xian Chen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Date : </a:t>
            </a:r>
            <a:fld id="{DA00540B-99AF-4B5E-9AEF-55C0985778C8}" type="datetime1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2017/1/3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1981185" y="3447219"/>
            <a:ext cx="8229630" cy="144911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Jeff </a:t>
            </a:r>
            <a:r>
              <a:rPr lang="en-US" altLang="zh-TW" sz="2449" b="1" dirty="0" err="1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Stuckman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, </a:t>
            </a:r>
            <a:r>
              <a:rPr lang="en-US" altLang="zh-TW" sz="2449" b="1" dirty="0" err="1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Guo-Qiang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 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Zhang</a:t>
            </a:r>
            <a:endParaRPr lang="en-US" altLang="zh-TW" sz="2449" b="1" dirty="0" smtClean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Times New Roman" panose="02020603050405020304" pitchFamily="18" charset="0"/>
              <a:ea typeface="新細明體" pitchFamily="2"/>
              <a:cs typeface="Times New Roman" panose="02020603050405020304" pitchFamily="18" charset="0"/>
            </a:endParaRPr>
          </a:p>
          <a:p>
            <a:pPr algn="ctr"/>
            <a:endParaRPr lang="en-US" altLang="zh-TW" sz="2449" b="1" dirty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Times New Roman" panose="02020603050405020304" pitchFamily="18" charset="0"/>
              <a:ea typeface="新細明體" pitchFamily="2"/>
              <a:cs typeface="Times New Roman" panose="02020603050405020304" pitchFamily="18" charset="0"/>
            </a:endParaRPr>
          </a:p>
          <a:p>
            <a:pPr algn="ctr"/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INFOCOMP Journal of Computer Science, [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S..], </a:t>
            </a:r>
            <a:endParaRPr lang="en-US" altLang="zh-TW" sz="2449" b="1" dirty="0" smtClean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Times New Roman" panose="02020603050405020304" pitchFamily="18" charset="0"/>
              <a:ea typeface="新細明體" pitchFamily="2"/>
              <a:cs typeface="Times New Roman" panose="02020603050405020304" pitchFamily="18" charset="0"/>
            </a:endParaRPr>
          </a:p>
          <a:p>
            <a:pPr algn="ctr"/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Vol 5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,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No 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2,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pp. 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25-28, </a:t>
            </a:r>
            <a:r>
              <a:rPr lang="en-US" altLang="zh-TW" sz="2449" b="1" dirty="0" smtClean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June </a:t>
            </a:r>
            <a:r>
              <a:rPr lang="en-US" altLang="zh-TW" sz="2449" b="1" dirty="0">
                <a:solidFill>
                  <a:srgbClr val="898989"/>
                </a:solidFill>
                <a:highlight>
                  <a:scrgbClr r="0" g="0" b="0">
                    <a:alpha val="0"/>
                  </a:scrgbClr>
                </a:highlight>
                <a:latin typeface="Times New Roman" panose="02020603050405020304" pitchFamily="18" charset="0"/>
                <a:ea typeface="新細明體" pitchFamily="2"/>
                <a:cs typeface="Times New Roman" panose="02020603050405020304" pitchFamily="18" charset="0"/>
              </a:rPr>
              <a:t>2006</a:t>
            </a:r>
            <a:endParaRPr lang="en-US" altLang="zh-TW" sz="2449" b="1" dirty="0" smtClean="0">
              <a:solidFill>
                <a:srgbClr val="898989"/>
              </a:solidFill>
              <a:highlight>
                <a:scrgbClr r="0" g="0" b="0">
                  <a:alpha val="0"/>
                </a:scrgbClr>
              </a:highlight>
              <a:latin typeface="Times New Roman" panose="02020603050405020304" pitchFamily="18" charset="0"/>
              <a:ea typeface="新細明體" pitchFamily="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7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51005"/>
            <a:ext cx="10515600" cy="482595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 we show that the Mastermind Satisfiability Problem (MSP) is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NP-complete. Mastermind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popular game which can be turned into a logical puzzle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called the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Mastermind Satisfiability Problem in a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 </a:t>
            </a: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spirit to the Minesweeper puzzle [5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]. By proving that MSP is NP-complete, we reveal its intrinsic computational property that makes it challenging and interesting. 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458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51005"/>
            <a:ext cx="10515600" cy="482595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serves as an addition to our knowledge about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host of other puzzles, such as Minesweeper [5], Mah-Jongg [1], and the 15-puzzle [6].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957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Mastermind Game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5485799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Goal : 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 the player determine the colors of each peg in a sequence of concealed locations(solution).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442" y="2723744"/>
            <a:ext cx="2859932" cy="3813243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085" y="3128659"/>
            <a:ext cx="3810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39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Mastermind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Game(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Con’t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71272" y="1235676"/>
                <a:ext cx="10515600" cy="49900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parameters (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determine a specific Mastermind game</a:t>
                </a: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≔</m:t>
                    </m:r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[1, 2, …, k]  represent the colors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≔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l-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tuple guesses</a:t>
                </a: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e.g.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(7, 4)</a:t>
                </a:r>
                <a:endParaRPr lang="en-US" altLang="zh-TW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1272" y="1235676"/>
                <a:ext cx="10515600" cy="4990026"/>
              </a:xfrm>
              <a:blipFill rotWithShape="0">
                <a:blip r:embed="rId3"/>
                <a:stretch>
                  <a:fillRect l="-1217" t="-22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4</a:t>
            </a:fld>
            <a:endParaRPr lang="zh-TW" altLang="en-US" dirty="0"/>
          </a:p>
        </p:txBody>
      </p:sp>
      <p:grpSp>
        <p:nvGrpSpPr>
          <p:cNvPr id="18" name="群組 17"/>
          <p:cNvGrpSpPr/>
          <p:nvPr/>
        </p:nvGrpSpPr>
        <p:grpSpPr>
          <a:xfrm>
            <a:off x="838200" y="4990290"/>
            <a:ext cx="3140480" cy="360273"/>
            <a:chOff x="2511357" y="5068112"/>
            <a:chExt cx="3140480" cy="360273"/>
          </a:xfrm>
        </p:grpSpPr>
        <p:sp>
          <p:nvSpPr>
            <p:cNvPr id="7" name="橢圓 6"/>
            <p:cNvSpPr/>
            <p:nvPr/>
          </p:nvSpPr>
          <p:spPr>
            <a:xfrm>
              <a:off x="2511357" y="5068112"/>
              <a:ext cx="359924" cy="36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2974783" y="5068112"/>
              <a:ext cx="359924" cy="360000"/>
            </a:xfrm>
            <a:prstGeom prst="ellipse">
              <a:avLst/>
            </a:prstGeom>
            <a:solidFill>
              <a:srgbClr val="FFA500"/>
            </a:solidFill>
            <a:ln>
              <a:solidFill>
                <a:srgbClr val="FFA5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3438209" y="5068385"/>
              <a:ext cx="359924" cy="360000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3901635" y="5068112"/>
              <a:ext cx="359924" cy="360000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4365061" y="5068112"/>
              <a:ext cx="359924" cy="360000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4828487" y="5068112"/>
              <a:ext cx="359924" cy="360000"/>
            </a:xfrm>
            <a:prstGeom prst="ellipse">
              <a:avLst/>
            </a:prstGeom>
            <a:solidFill>
              <a:srgbClr val="4B0080"/>
            </a:solidFill>
            <a:ln>
              <a:solidFill>
                <a:srgbClr val="4B0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5291913" y="5068112"/>
              <a:ext cx="359924" cy="360000"/>
            </a:xfrm>
            <a:prstGeom prst="ellipse">
              <a:avLst/>
            </a:prstGeom>
            <a:solidFill>
              <a:srgbClr val="8B00FF"/>
            </a:solidFill>
            <a:ln>
              <a:solidFill>
                <a:srgbClr val="8B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23" name="群組 22"/>
          <p:cNvGrpSpPr/>
          <p:nvPr/>
        </p:nvGrpSpPr>
        <p:grpSpPr>
          <a:xfrm>
            <a:off x="4597940" y="4990290"/>
            <a:ext cx="1817516" cy="360000"/>
            <a:chOff x="4597940" y="4990290"/>
            <a:chExt cx="1817516" cy="360000"/>
          </a:xfrm>
        </p:grpSpPr>
        <p:sp>
          <p:nvSpPr>
            <p:cNvPr id="19" name="橢圓 18"/>
            <p:cNvSpPr/>
            <p:nvPr/>
          </p:nvSpPr>
          <p:spPr>
            <a:xfrm>
              <a:off x="4597940" y="4990290"/>
              <a:ext cx="359924" cy="36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5083804" y="4990290"/>
              <a:ext cx="359924" cy="36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5569668" y="4990290"/>
              <a:ext cx="359924" cy="36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6055532" y="4990290"/>
              <a:ext cx="359924" cy="3600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3" name="群組 42"/>
          <p:cNvGrpSpPr/>
          <p:nvPr/>
        </p:nvGrpSpPr>
        <p:grpSpPr>
          <a:xfrm>
            <a:off x="8551929" y="3735592"/>
            <a:ext cx="1817516" cy="2880209"/>
            <a:chOff x="8803039" y="3433912"/>
            <a:chExt cx="1817516" cy="2880209"/>
          </a:xfrm>
        </p:grpSpPr>
        <p:grpSp>
          <p:nvGrpSpPr>
            <p:cNvPr id="39" name="群組 38"/>
            <p:cNvGrpSpPr/>
            <p:nvPr/>
          </p:nvGrpSpPr>
          <p:grpSpPr>
            <a:xfrm>
              <a:off x="8803039" y="3820969"/>
              <a:ext cx="1817516" cy="2114672"/>
              <a:chOff x="7941012" y="4111030"/>
              <a:chExt cx="1817516" cy="2114672"/>
            </a:xfrm>
          </p:grpSpPr>
          <p:grpSp>
            <p:nvGrpSpPr>
              <p:cNvPr id="24" name="群組 23"/>
              <p:cNvGrpSpPr/>
              <p:nvPr/>
            </p:nvGrpSpPr>
            <p:grpSpPr>
              <a:xfrm>
                <a:off x="7941012" y="4111030"/>
                <a:ext cx="1817516" cy="360000"/>
                <a:chOff x="4597940" y="4990290"/>
                <a:chExt cx="1817516" cy="360000"/>
              </a:xfrm>
            </p:grpSpPr>
            <p:sp>
              <p:nvSpPr>
                <p:cNvPr id="25" name="橢圓 24"/>
                <p:cNvSpPr/>
                <p:nvPr/>
              </p:nvSpPr>
              <p:spPr>
                <a:xfrm>
                  <a:off x="4597940" y="4990290"/>
                  <a:ext cx="359924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6" name="橢圓 25"/>
                <p:cNvSpPr/>
                <p:nvPr/>
              </p:nvSpPr>
              <p:spPr>
                <a:xfrm>
                  <a:off x="5083804" y="4990290"/>
                  <a:ext cx="359924" cy="36000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7" name="橢圓 26"/>
                <p:cNvSpPr/>
                <p:nvPr/>
              </p:nvSpPr>
              <p:spPr>
                <a:xfrm>
                  <a:off x="5569668" y="4990290"/>
                  <a:ext cx="359924" cy="360000"/>
                </a:xfrm>
                <a:prstGeom prst="ellipse">
                  <a:avLst/>
                </a:prstGeom>
                <a:solidFill>
                  <a:srgbClr val="8B00FF"/>
                </a:solidFill>
                <a:ln>
                  <a:solidFill>
                    <a:srgbClr val="8B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8" name="橢圓 27"/>
                <p:cNvSpPr/>
                <p:nvPr/>
              </p:nvSpPr>
              <p:spPr>
                <a:xfrm>
                  <a:off x="6055532" y="4990290"/>
                  <a:ext cx="359924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29" name="群組 28"/>
              <p:cNvGrpSpPr/>
              <p:nvPr/>
            </p:nvGrpSpPr>
            <p:grpSpPr>
              <a:xfrm>
                <a:off x="7941012" y="4990290"/>
                <a:ext cx="1817516" cy="360000"/>
                <a:chOff x="4597940" y="4990290"/>
                <a:chExt cx="1817516" cy="360000"/>
              </a:xfrm>
            </p:grpSpPr>
            <p:sp>
              <p:nvSpPr>
                <p:cNvPr id="30" name="橢圓 29"/>
                <p:cNvSpPr/>
                <p:nvPr/>
              </p:nvSpPr>
              <p:spPr>
                <a:xfrm>
                  <a:off x="4597940" y="4990290"/>
                  <a:ext cx="359924" cy="360000"/>
                </a:xfrm>
                <a:prstGeom prst="ellipse">
                  <a:avLst/>
                </a:prstGeom>
                <a:solidFill>
                  <a:srgbClr val="4B0080"/>
                </a:solidFill>
                <a:ln>
                  <a:solidFill>
                    <a:srgbClr val="4B008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1" name="橢圓 30"/>
                <p:cNvSpPr/>
                <p:nvPr/>
              </p:nvSpPr>
              <p:spPr>
                <a:xfrm>
                  <a:off x="5083804" y="4990290"/>
                  <a:ext cx="359924" cy="36000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2" name="橢圓 31"/>
                <p:cNvSpPr/>
                <p:nvPr/>
              </p:nvSpPr>
              <p:spPr>
                <a:xfrm>
                  <a:off x="5569668" y="4990290"/>
                  <a:ext cx="359924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3" name="橢圓 32"/>
                <p:cNvSpPr/>
                <p:nvPr/>
              </p:nvSpPr>
              <p:spPr>
                <a:xfrm>
                  <a:off x="6055532" y="4990290"/>
                  <a:ext cx="359924" cy="360000"/>
                </a:xfrm>
                <a:prstGeom prst="ellipse">
                  <a:avLst/>
                </a:prstGeom>
                <a:solidFill>
                  <a:srgbClr val="FFA500"/>
                </a:solidFill>
                <a:ln>
                  <a:solidFill>
                    <a:srgbClr val="FFA5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34" name="群組 33"/>
              <p:cNvGrpSpPr/>
              <p:nvPr/>
            </p:nvGrpSpPr>
            <p:grpSpPr>
              <a:xfrm>
                <a:off x="7941012" y="5865702"/>
                <a:ext cx="1817516" cy="360000"/>
                <a:chOff x="4597940" y="4990290"/>
                <a:chExt cx="1817516" cy="360000"/>
              </a:xfrm>
            </p:grpSpPr>
            <p:sp>
              <p:nvSpPr>
                <p:cNvPr id="35" name="橢圓 34"/>
                <p:cNvSpPr/>
                <p:nvPr/>
              </p:nvSpPr>
              <p:spPr>
                <a:xfrm>
                  <a:off x="4597940" y="4990290"/>
                  <a:ext cx="359924" cy="360000"/>
                </a:xfrm>
                <a:prstGeom prst="ellipse">
                  <a:avLst/>
                </a:prstGeom>
                <a:solidFill>
                  <a:srgbClr val="00FF00"/>
                </a:solidFill>
                <a:ln>
                  <a:solidFill>
                    <a:srgbClr val="00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6" name="橢圓 35"/>
                <p:cNvSpPr/>
                <p:nvPr/>
              </p:nvSpPr>
              <p:spPr>
                <a:xfrm>
                  <a:off x="5083804" y="4990290"/>
                  <a:ext cx="359924" cy="36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7" name="橢圓 36"/>
                <p:cNvSpPr/>
                <p:nvPr/>
              </p:nvSpPr>
              <p:spPr>
                <a:xfrm>
                  <a:off x="5569668" y="4990290"/>
                  <a:ext cx="359924" cy="360000"/>
                </a:xfrm>
                <a:prstGeom prst="ellipse">
                  <a:avLst/>
                </a:prstGeom>
                <a:solidFill>
                  <a:srgbClr val="FFA500"/>
                </a:solidFill>
                <a:ln>
                  <a:solidFill>
                    <a:srgbClr val="FFA5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8" name="橢圓 37"/>
                <p:cNvSpPr/>
                <p:nvPr/>
              </p:nvSpPr>
              <p:spPr>
                <a:xfrm>
                  <a:off x="6055532" y="4990290"/>
                  <a:ext cx="359924" cy="360000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sp>
          <p:nvSpPr>
            <p:cNvPr id="41" name="文字方塊 40"/>
            <p:cNvSpPr txBox="1"/>
            <p:nvPr/>
          </p:nvSpPr>
          <p:spPr>
            <a:xfrm>
              <a:off x="9543934" y="3433912"/>
              <a:ext cx="461665" cy="240040"/>
            </a:xfrm>
            <a:prstGeom prst="rect">
              <a:avLst/>
            </a:prstGeom>
            <a:noFill/>
          </p:spPr>
          <p:txBody>
            <a:bodyPr vert="eaVert" wrap="square" rtlCol="0" anchor="ctr">
              <a:spAutoFit/>
            </a:bodyPr>
            <a:lstStyle/>
            <a:p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9543933" y="6074081"/>
              <a:ext cx="461665" cy="240040"/>
            </a:xfrm>
            <a:prstGeom prst="rect">
              <a:avLst/>
            </a:prstGeom>
            <a:noFill/>
          </p:spPr>
          <p:txBody>
            <a:bodyPr vert="eaVert" wrap="square" rtlCol="0" anchor="ctr">
              <a:spAutoFit/>
            </a:bodyPr>
            <a:lstStyle/>
            <a:p>
              <a:r>
                <a: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5" name="向右箭號 44"/>
          <p:cNvSpPr/>
          <p:nvPr/>
        </p:nvSpPr>
        <p:spPr>
          <a:xfrm rot="19796230">
            <a:off x="7240880" y="4509511"/>
            <a:ext cx="903052" cy="28014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向右箭號 46"/>
          <p:cNvSpPr/>
          <p:nvPr/>
        </p:nvSpPr>
        <p:spPr>
          <a:xfrm>
            <a:off x="7231451" y="5081763"/>
            <a:ext cx="903052" cy="28014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向右箭號 47"/>
          <p:cNvSpPr/>
          <p:nvPr/>
        </p:nvSpPr>
        <p:spPr>
          <a:xfrm rot="1800000">
            <a:off x="7221906" y="5653663"/>
            <a:ext cx="903052" cy="28014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89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7" grpId="0" animBg="1"/>
      <p:bldP spid="4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Mastermind Game(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Con’t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71271" y="1235675"/>
                <a:ext cx="11557871" cy="541633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 y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∈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Mastermind score between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 y </a:t>
                </a:r>
              </a:p>
              <a:p>
                <a:pPr marL="0" indent="0" algn="just">
                  <a:buNone/>
                </a:pPr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a guess and </a:t>
                </a:r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the hidden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solution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)≔(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</a:t>
                </a: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𝑏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≔</m:t>
                      </m:r>
                      <m:d>
                        <m:dPr>
                          <m:begChr m:val=""/>
                          <m:endChr m:val="}"/>
                          <m:ctrlPr>
                            <a:rPr lang="en-US" altLang="zh-TW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#</m:t>
                          </m:r>
                          <m:d>
                            <m:dPr>
                              <m:begChr m:val="{"/>
                              <m:endChr m:val="|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zh-TW" alt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∃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zh-TW" alt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altLang="zh-TW" i="1" baseline="-25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TW" i="1" baseline="-25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, 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altLang="zh-TW" i="1" baseline="-25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TW" b="0" i="1" baseline="-2500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𝑤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≔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zh-TW" alt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altLang="zh-TW" i="1" baseline="-25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endChr m:val="}"/>
                                  <m:ctrlP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#</m:t>
                                  </m:r>
                                  <m:d>
                                    <m:dPr>
                                      <m:begChr m:val="{"/>
                                      <m:endChr m:val="|"/>
                                      <m:ctrlPr>
                                        <a:rPr lang="en-US" altLang="zh-TW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</m:e>
                                  </m:d>
                                  <m:r>
                                    <m:rPr>
                                      <m:nor/>
                                    </m:rPr>
                                    <a:rPr lang="en-US" altLang="zh-TW" dirty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zh-TW" altLang="en-US" dirty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∃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zh-TW" dirty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zh-TW" altLang="en-US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∈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TW" i="1" baseline="-25000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𝑙</m:t>
                                  </m:r>
                                  <m:r>
                                    <a:rPr lang="en-US" altLang="zh-TW" i="1" baseline="-25000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, 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i="1" baseline="-25000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=</m:t>
                                  </m:r>
                                  <m:r>
                                    <a:rPr lang="en-US" altLang="zh-TW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#</m:t>
                          </m:r>
                          <m:d>
                            <m:dPr>
                              <m:begChr m:val="{"/>
                              <m:endChr m:val="|"/>
                              <m:ctrlP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zh-TW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zh-TW" alt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∃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zh-TW" alt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en-US" altLang="zh-TW" i="1" baseline="-25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TW" i="1" baseline="-25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, 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TW" i="1" baseline="-25000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TW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}</m:t>
                          </m:r>
                          <m:r>
                            <a:rPr lang="en-US" altLang="zh-TW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#A denote the number of elements of a set A, and x</a:t>
                </a:r>
                <a:r>
                  <a:rPr lang="en-US" altLang="zh-TW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the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i-th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element of a tuple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1271" y="1235675"/>
                <a:ext cx="11557871" cy="5416333"/>
              </a:xfrm>
              <a:blipFill rotWithShape="0">
                <a:blip r:embed="rId2"/>
                <a:stretch>
                  <a:fillRect l="-1055" t="-1689" b="-12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5</a:t>
            </a:fld>
            <a:endParaRPr lang="zh-TW" altLang="en-US"/>
          </a:p>
        </p:txBody>
      </p:sp>
      <p:grpSp>
        <p:nvGrpSpPr>
          <p:cNvPr id="26" name="群組 25"/>
          <p:cNvGrpSpPr/>
          <p:nvPr/>
        </p:nvGrpSpPr>
        <p:grpSpPr>
          <a:xfrm>
            <a:off x="8938731" y="2063634"/>
            <a:ext cx="2415069" cy="1673769"/>
            <a:chOff x="8938731" y="2063634"/>
            <a:chExt cx="2415069" cy="1673769"/>
          </a:xfrm>
        </p:grpSpPr>
        <p:grpSp>
          <p:nvGrpSpPr>
            <p:cNvPr id="10" name="群組 9"/>
            <p:cNvGrpSpPr/>
            <p:nvPr/>
          </p:nvGrpSpPr>
          <p:grpSpPr>
            <a:xfrm>
              <a:off x="9536284" y="2188803"/>
              <a:ext cx="1817516" cy="360000"/>
              <a:chOff x="4597940" y="4990290"/>
              <a:chExt cx="1817516" cy="360000"/>
            </a:xfrm>
          </p:grpSpPr>
          <p:sp>
            <p:nvSpPr>
              <p:cNvPr id="21" name="橢圓 20"/>
              <p:cNvSpPr/>
              <p:nvPr/>
            </p:nvSpPr>
            <p:spPr>
              <a:xfrm>
                <a:off x="4597940" y="4990290"/>
                <a:ext cx="359924" cy="360000"/>
              </a:xfrm>
              <a:prstGeom prst="ellipse">
                <a:avLst/>
              </a:prstGeom>
              <a:solidFill>
                <a:srgbClr val="00FF00"/>
              </a:solidFill>
              <a:ln>
                <a:solidFill>
                  <a:srgbClr val="00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n>
                    <a:solidFill>
                      <a:srgbClr val="00FF00"/>
                    </a:solidFill>
                  </a:ln>
                  <a:solidFill>
                    <a:srgbClr val="00FF00"/>
                  </a:solidFill>
                </a:endParaRPr>
              </a:p>
            </p:txBody>
          </p:sp>
          <p:sp>
            <p:nvSpPr>
              <p:cNvPr id="22" name="橢圓 21"/>
              <p:cNvSpPr/>
              <p:nvPr/>
            </p:nvSpPr>
            <p:spPr>
              <a:xfrm>
                <a:off x="5083804" y="4990290"/>
                <a:ext cx="359924" cy="360000"/>
              </a:xfrm>
              <a:prstGeom prst="ellipse">
                <a:avLst/>
              </a:prstGeom>
              <a:solidFill>
                <a:srgbClr val="FFA500"/>
              </a:solidFill>
              <a:ln>
                <a:solidFill>
                  <a:srgbClr val="FFA5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橢圓 22"/>
              <p:cNvSpPr/>
              <p:nvPr/>
            </p:nvSpPr>
            <p:spPr>
              <a:xfrm>
                <a:off x="5569668" y="4990290"/>
                <a:ext cx="359924" cy="36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4" name="橢圓 23"/>
              <p:cNvSpPr/>
              <p:nvPr/>
            </p:nvSpPr>
            <p:spPr>
              <a:xfrm>
                <a:off x="6055532" y="4990290"/>
                <a:ext cx="359924" cy="360000"/>
              </a:xfrm>
              <a:prstGeom prst="ellipse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2" name="群組 11"/>
            <p:cNvGrpSpPr/>
            <p:nvPr/>
          </p:nvGrpSpPr>
          <p:grpSpPr>
            <a:xfrm>
              <a:off x="9536284" y="3377403"/>
              <a:ext cx="1817516" cy="360000"/>
              <a:chOff x="4597940" y="4990290"/>
              <a:chExt cx="1817516" cy="360000"/>
            </a:xfrm>
          </p:grpSpPr>
          <p:sp>
            <p:nvSpPr>
              <p:cNvPr id="13" name="橢圓 12"/>
              <p:cNvSpPr/>
              <p:nvPr/>
            </p:nvSpPr>
            <p:spPr>
              <a:xfrm>
                <a:off x="4597940" y="4990290"/>
                <a:ext cx="359924" cy="360000"/>
              </a:xfrm>
              <a:prstGeom prst="ellipse">
                <a:avLst/>
              </a:prstGeom>
              <a:solidFill>
                <a:srgbClr val="00FF00"/>
              </a:solidFill>
              <a:ln>
                <a:solidFill>
                  <a:srgbClr val="00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" name="橢圓 13"/>
              <p:cNvSpPr/>
              <p:nvPr/>
            </p:nvSpPr>
            <p:spPr>
              <a:xfrm>
                <a:off x="5083804" y="4990290"/>
                <a:ext cx="359924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橢圓 14"/>
              <p:cNvSpPr/>
              <p:nvPr/>
            </p:nvSpPr>
            <p:spPr>
              <a:xfrm>
                <a:off x="5569668" y="4990290"/>
                <a:ext cx="359924" cy="360000"/>
              </a:xfrm>
              <a:prstGeom prst="ellipse">
                <a:avLst/>
              </a:prstGeom>
              <a:solidFill>
                <a:srgbClr val="4B0080"/>
              </a:solidFill>
              <a:ln>
                <a:solidFill>
                  <a:srgbClr val="4B0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橢圓 15"/>
              <p:cNvSpPr/>
              <p:nvPr/>
            </p:nvSpPr>
            <p:spPr>
              <a:xfrm>
                <a:off x="6055532" y="4990290"/>
                <a:ext cx="359924" cy="360000"/>
              </a:xfrm>
              <a:prstGeom prst="ellipse">
                <a:avLst/>
              </a:prstGeom>
              <a:solidFill>
                <a:srgbClr val="0000FF"/>
              </a:solidFill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4" name="文字方塊 3"/>
            <p:cNvSpPr txBox="1"/>
            <p:nvPr/>
          </p:nvSpPr>
          <p:spPr>
            <a:xfrm>
              <a:off x="8942461" y="2063634"/>
              <a:ext cx="306494" cy="420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2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TW" alt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8938731" y="3312220"/>
              <a:ext cx="306494" cy="420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3200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TW" altLang="en-US" sz="3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418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Mastermind Satisfiability Problem(MSP)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71271" y="1235676"/>
                <a:ext cx="11557871" cy="51206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3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:r>
                  <a:rPr lang="en-US" altLang="zh-TW" sz="3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 subset of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sz="3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for each </a:t>
                </a:r>
                <a:r>
                  <a:rPr lang="en-US" altLang="zh-TW" sz="3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sz="3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G, 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Mastermind </a:t>
                </a:r>
              </a:p>
              <a:p>
                <a:pPr marL="0" indent="0">
                  <a:buNone/>
                </a:pP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score(</a:t>
                </a:r>
                <a:r>
                  <a:rPr lang="en-US" altLang="zh-TW" sz="36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36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TW" sz="3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6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altLang="zh-TW" sz="3600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0" indent="0">
                  <a:buNone/>
                </a:pPr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36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YES if there exists an element s </a:t>
                </a:r>
                <a14:m>
                  <m:oMath xmlns:m="http://schemas.openxmlformats.org/officeDocument/2006/math">
                    <m:r>
                      <a:rPr lang="zh-TW" altLang="en-US" sz="3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TW" sz="3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i.e. for each</a:t>
                </a:r>
              </a:p>
              <a:p>
                <a:pPr marL="0" indent="0">
                  <a:buNone/>
                </a:pP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</a:t>
                </a:r>
                <a:r>
                  <a:rPr lang="en-US" altLang="zh-TW" sz="3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sz="3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</m:oMath>
                </a14:m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G, </a:t>
                </a:r>
                <a14:m>
                  <m:oMath xmlns:m="http://schemas.openxmlformats.org/officeDocument/2006/math">
                    <m:r>
                      <a:rPr lang="en-US" altLang="zh-TW" sz="3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3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g,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</a:t>
                </a:r>
                <a:r>
                  <a:rPr lang="en-US" altLang="zh-TW" sz="3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36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TW" sz="3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altLang="zh-TW" sz="36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TW" sz="36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NO otherwise.</a:t>
                </a:r>
              </a:p>
              <a:p>
                <a:pPr marL="0" indent="0">
                  <a:buNone/>
                </a:pPr>
                <a:endParaRPr lang="en-US" altLang="zh-TW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36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1271" y="1235676"/>
                <a:ext cx="11557871" cy="5120674"/>
              </a:xfrm>
              <a:blipFill rotWithShape="0">
                <a:blip r:embed="rId3"/>
                <a:stretch>
                  <a:fillRect l="-1582" t="-2500" r="-5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6751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MSP(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Con’t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1271" y="1235676"/>
            <a:ext cx="11557871" cy="5120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proof ?</a:t>
            </a:r>
          </a:p>
          <a:p>
            <a:pPr marL="0" indent="0">
              <a:buNone/>
            </a:pPr>
            <a:r>
              <a:rPr lang="en-US" altLang="zh-TW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MSP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an NP problem (obviously)</a:t>
            </a:r>
            <a:endParaRPr lang="en-US" altLang="zh-TW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Vertex-Cover </a:t>
            </a:r>
            <a:r>
              <a:rPr lang="en-US" altLang="zh-TW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reduces to </a:t>
            </a:r>
            <a:r>
              <a:rPr lang="en-US" altLang="zh-TW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MSP</a:t>
            </a:r>
            <a:endParaRPr lang="en-US" altLang="zh-TW" sz="3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3600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Vertex-Cover Problem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(node cover problem)</a:t>
            </a:r>
          </a:p>
          <a:p>
            <a:pPr marL="0" indent="0">
              <a:buNone/>
            </a:pP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Given a graph G=(V, E),</a:t>
            </a:r>
          </a:p>
          <a:p>
            <a:pPr marL="0" indent="0">
              <a:buNone/>
            </a:pP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is the node cover if S</a:t>
            </a:r>
            <a:r>
              <a:rPr lang="zh-TW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⊆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 and for every edge (u, v) </a:t>
            </a:r>
            <a:r>
              <a:rPr lang="zh-TW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E, either u </a:t>
            </a:r>
            <a:r>
              <a:rPr lang="zh-TW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or v </a:t>
            </a:r>
            <a:r>
              <a:rPr lang="zh-TW" alt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lang="en-US" altLang="zh-TW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2831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MSP(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Con’t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1271" y="1235675"/>
            <a:ext cx="11771572" cy="5485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 G=(V, E) be a graph and n&gt;1, and for its corresponding MSP instance, set</a:t>
            </a:r>
          </a:p>
          <a:p>
            <a:pPr marL="0" indent="0">
              <a:buNone/>
            </a:pP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#V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#E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+ 2</a:t>
            </a:r>
            <a:r>
              <a:rPr lang="zh-TW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(encodes each edge and vertex as a distinct color, plus two control colors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{v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#V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</a:t>
            </a:r>
            <a:r>
              <a:rPr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#E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3 + 2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#V</a:t>
            </a:r>
            <a:r>
              <a:rPr lang="zh-TW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TW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#E</a:t>
            </a:r>
          </a:p>
          <a:p>
            <a:pPr marL="0" indent="0"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(first three positions for encoding edges, #V for vertex selection, #E for edge selection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9758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MSP(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Con’t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1271" y="1235675"/>
            <a:ext cx="11771572" cy="54857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guesses can be given as follows:</a:t>
            </a:r>
          </a:p>
          <a:p>
            <a:pPr marL="514350" indent="-514350">
              <a:buFont typeface="Wingdings" panose="05000000000000000000" pitchFamily="2" charset="2"/>
              <a:buAutoNum type="circleNumWdWhitePlain"/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N, N,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N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with score (0, 0) → prevent N from appearing in the solution.</a:t>
            </a:r>
          </a:p>
          <a:p>
            <a:pPr marL="514350" indent="-514350">
              <a:buFont typeface="+mj-lt"/>
              <a:buAutoNum type="circleNumWdWhitePlain"/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Y, Y,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Y, N,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N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with score(3, 0) →force the first three are 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Y.</a:t>
            </a:r>
          </a:p>
          <a:p>
            <a:pPr marL="514350" indent="-514350">
              <a:buFont typeface="+mj-lt"/>
              <a:buAutoNum type="circleNumWdWhitePlain"/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</a:t>
            </a:r>
            <a:r>
              <a:rPr lang="en-US" altLang="zh-TW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i-th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edge (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 b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in E, (</a:t>
            </a:r>
            <a:r>
              <a:rPr lang="en-US" altLang="zh-TW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32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a, b, N, N, …, N) with score (0, 2)</a:t>
            </a:r>
          </a:p>
          <a:p>
            <a:pPr marL="514350" indent="-514350">
              <a:buFont typeface="+mj-lt"/>
              <a:buAutoNum type="circleNumWdWhitePlain"/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Y, Y, Y, v</a:t>
            </a:r>
            <a:r>
              <a:rPr lang="en-US" altLang="zh-TW" sz="32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TW" sz="32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TW" sz="32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…, </a:t>
            </a:r>
            <a:r>
              <a:rPr lang="en-US" altLang="zh-TW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32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#V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N, N,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…, 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with score(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3, n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606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MSP(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Con’t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71271" y="1235675"/>
            <a:ext cx="11771572" cy="54857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Vertex-Cover Problem(G, n) has a solution </a:t>
            </a:r>
            <a:r>
              <a:rPr lang="en-US" altLang="zh-TW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iff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instance of MSP above has 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solution.</a:t>
            </a:r>
          </a:p>
          <a:p>
            <a:pPr marL="0" indent="0">
              <a:buNone/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⇐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indent="-742950">
              <a:buFont typeface="+mj-lt"/>
              <a:buAutoNum type="arabicParenR"/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color N doesn’t appear in the solution - </a:t>
            </a:r>
            <a:r>
              <a:rPr lang="zh-TW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indent="-742950">
              <a:buFont typeface="+mj-lt"/>
              <a:buAutoNum type="arabicParenR"/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vertices 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32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</a:t>
            </a:r>
            <a:r>
              <a:rPr lang="en-US" altLang="zh-TW" sz="32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…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3200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from 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appear as part of solution -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②</a:t>
            </a:r>
            <a:r>
              <a:rPr lang="zh-TW" alt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④</a:t>
            </a:r>
            <a:endParaRPr lang="en-US" altLang="zh-TW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that for each edge in E, at least one vertex in W is adjacent to it.</a:t>
            </a:r>
          </a:p>
          <a:p>
            <a:pPr marL="742950" indent="-742950">
              <a:buFont typeface="+mj-lt"/>
              <a:buAutoNum type="arabicParenR" startAt="3"/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edge has a corresponding guess, i.e. at least one vertex among a and b must be in W to receive a score (</a:t>
            </a:r>
            <a:r>
              <a:rPr lang="en-US" altLang="zh-TW" sz="3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0, 2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zh-TW" altLang="en-US" sz="3200" b="1" dirty="0" smtClean="0"/>
              <a:t>③</a:t>
            </a:r>
            <a:endParaRPr lang="en-US" altLang="zh-TW" sz="3200" b="1" dirty="0" smtClean="0"/>
          </a:p>
          <a:p>
            <a:pPr marL="0" indent="0">
              <a:buNone/>
            </a:pP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Thus, W is a size-n vertex-cover for G.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951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MSP(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Con’t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71271" y="1235675"/>
                <a:ext cx="11771572" cy="548579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TW" alt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⇒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W={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altLang="zh-TW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</a:t>
                </a:r>
                <a:r>
                  <a:rPr lang="en-US" altLang="zh-TW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…, </a:t>
                </a:r>
                <a:r>
                  <a:rPr lang="en-US" altLang="zh-TW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altLang="zh-TW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 is a size-n vertex-cover for G. Then the corresponding MSP solution can be given as</a:t>
                </a:r>
              </a:p>
              <a:p>
                <a:pPr marL="0" indent="0" algn="ctr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Y, Y, Y;Y,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…,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Y;w</a:t>
                </a:r>
                <a:r>
                  <a:rPr lang="en-US" altLang="zh-TW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</a:t>
                </a:r>
                <a:r>
                  <a:rPr lang="en-US" altLang="zh-TW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…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altLang="zh-TW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Y,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…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Y;e</a:t>
                </a:r>
                <a:r>
                  <a:rPr lang="en-US" altLang="zh-TW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i1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e</a:t>
                </a:r>
                <a:r>
                  <a:rPr lang="en-US" altLang="zh-TW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i2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…</a:t>
                </a:r>
                <a:r>
                  <a:rPr lang="en-US" altLang="zh-TW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zh-TW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</a:t>
                </a:r>
                <a:r>
                  <a:rPr lang="en-US" altLang="zh-TW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Y,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…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:r>
                  <a:rPr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zh-TW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(a, b) in the solution </a:t>
                </a:r>
                <a:r>
                  <a:rPr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iff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{a, b}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⊈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W, i.e. </a:t>
                </a:r>
                <a:r>
                  <a:rPr lang="en-US" altLang="zh-TW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altLang="zh-TW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altLang="zh-TW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an edge using 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vertex </a:t>
                </a:r>
                <a:r>
                  <a:rPr lang="en-US" altLang="zh-TW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altLang="zh-TW" i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</a:t>
                </a:r>
              </a:p>
              <a:p>
                <a:pPr marL="0" indent="0">
                  <a:buNone/>
                </a:pPr>
                <a:endParaRPr lang="en-US" altLang="zh-TW" i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first three are reserved for edge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former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#V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reserved for guesses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latter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#V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where the selected edge set is located</a:t>
                </a:r>
              </a:p>
              <a:p>
                <a:pPr marL="514350" indent="-514350">
                  <a:buFont typeface="+mj-lt"/>
                  <a:buAutoNum type="arabicParenR"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remaining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Ys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used as padding</a:t>
                </a:r>
              </a:p>
              <a:p>
                <a:pPr marL="0" indent="0">
                  <a:buNone/>
                </a:pPr>
                <a:endParaRPr lang="en-US" altLang="zh-TW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1271" y="1235675"/>
                <a:ext cx="11771572" cy="5485799"/>
              </a:xfrm>
              <a:blipFill rotWithShape="0">
                <a:blip r:embed="rId3"/>
                <a:stretch>
                  <a:fillRect l="-1294" t="-2444" b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1816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84959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83736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Uniqueness of Solution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71271" y="1235675"/>
                <a:ext cx="11771572" cy="548579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TW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(</a:t>
                </a:r>
                <a:r>
                  <a:rPr lang="en-US" altLang="zh-TW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32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</a:t>
                </a:r>
                <a:r>
                  <a:rPr lang="en-US" altLang="zh-TW" sz="32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</a:t>
                </a:r>
                <a:r>
                  <a:rPr lang="en-US" altLang="zh-TW" sz="32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TW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…) for a Static Mastermind instance </a:t>
                </a:r>
                <a:r>
                  <a:rPr lang="en-US" altLang="zh-TW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G,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for each pair (</a:t>
                </a:r>
                <a:r>
                  <a:rPr lang="en-US" altLang="zh-TW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w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≠ (</a:t>
                </a:r>
                <a:r>
                  <a:rPr lang="en-US" altLang="zh-TW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l, 0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where (</a:t>
                </a:r>
                <a:r>
                  <a:rPr lang="en-US" altLang="zh-TW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w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the score for s.</a:t>
                </a:r>
              </a:p>
              <a:p>
                <a:pPr marL="0" indent="0">
                  <a:buNone/>
                </a:pP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i.e. </a:t>
                </a:r>
              </a:p>
              <a:p>
                <a:pPr marL="0" indent="0">
                  <a:buNone/>
                </a:pP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solution s to the original input G is unique </a:t>
                </a:r>
                <a:r>
                  <a:rPr lang="en-US" altLang="zh-TW" sz="32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iff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new instances with score 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w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≠ (</a:t>
                </a:r>
                <a:r>
                  <a:rPr lang="en-US" altLang="zh-TW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l, 0</a:t>
                </a:r>
                <a:r>
                  <a:rPr lang="en-US" altLang="zh-TW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has a solution.</a:t>
                </a:r>
              </a:p>
              <a:p>
                <a:pPr marL="0" indent="0">
                  <a:buNone/>
                </a:pP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total number of score pairs(</a:t>
                </a:r>
                <a:r>
                  <a:rPr lang="en-US" altLang="zh-TW" sz="32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b, w</a:t>
                </a:r>
                <a:r>
                  <a:rPr lang="en-US" altLang="zh-TW" sz="32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</a:t>
                </a:r>
              </a:p>
              <a:p>
                <a:pPr marL="0" indent="0">
                  <a:buNone/>
                </a:pPr>
                <a:endParaRPr lang="en-US" altLang="zh-TW" sz="32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+1)</m:t>
                          </m:r>
                        </m:e>
                      </m:nary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=(</m:t>
                      </m:r>
                      <m:nary>
                        <m:naryPr>
                          <m:chr m:val="∑"/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)+</m:t>
                          </m:r>
                        </m:e>
                      </m:nary>
                      <m:sSup>
                        <m:sSupPr>
                          <m:ctrlPr>
                            <a:rPr lang="en-US" altLang="zh-TW" sz="32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32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𝑙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+3)</m:t>
                          </m:r>
                        </m:num>
                        <m:den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TW" sz="3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1271" y="1235675"/>
                <a:ext cx="11771572" cy="5485799"/>
              </a:xfrm>
              <a:blipFill rotWithShape="0">
                <a:blip r:embed="rId3"/>
                <a:stretch>
                  <a:fillRect l="-1294" t="-2444" r="-12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97ABC-EF3A-4183-AE2C-72E330AF586D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9821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4139</TotalTime>
  <Words>840</Words>
  <Application>Microsoft Office PowerPoint</Application>
  <PresentationFormat>寬螢幕</PresentationFormat>
  <Paragraphs>118</Paragraphs>
  <Slides>15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3" baseType="lpstr">
      <vt:lpstr>新細明體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Mastermind is NP-Complete</vt:lpstr>
      <vt:lpstr>Abstract(1/2)</vt:lpstr>
      <vt:lpstr>Abstract(2/2)</vt:lpstr>
      <vt:lpstr>The Mastermind Game</vt:lpstr>
      <vt:lpstr>The Mastermind Game(Con’t)</vt:lpstr>
      <vt:lpstr>The Mastermind Game(Con’t)</vt:lpstr>
      <vt:lpstr>Mastermind Satisfiability Problem(MSP)</vt:lpstr>
      <vt:lpstr>MSP(Con’t)</vt:lpstr>
      <vt:lpstr>MSP(Con’t)</vt:lpstr>
      <vt:lpstr>MSP(Con’t)</vt:lpstr>
      <vt:lpstr>MSP(Con’t)</vt:lpstr>
      <vt:lpstr>MSP(Con’t)</vt:lpstr>
      <vt:lpstr>PowerPoint 簡報</vt:lpstr>
      <vt:lpstr>PowerPoint 簡報</vt:lpstr>
      <vt:lpstr>Uniqueness of Solution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 for Computing  Maximal Common Subsequences</dc:title>
  <dc:creator>BX CHEN</dc:creator>
  <cp:lastModifiedBy>User</cp:lastModifiedBy>
  <cp:revision>229</cp:revision>
  <dcterms:created xsi:type="dcterms:W3CDTF">2016-10-10T16:56:48Z</dcterms:created>
  <dcterms:modified xsi:type="dcterms:W3CDTF">2017-01-03T10:04:03Z</dcterms:modified>
</cp:coreProperties>
</file>