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73" r:id="rId8"/>
    <p:sldId id="262" r:id="rId9"/>
    <p:sldId id="263" r:id="rId10"/>
    <p:sldId id="264" r:id="rId11"/>
    <p:sldId id="265" r:id="rId12"/>
    <p:sldId id="266" r:id="rId13"/>
    <p:sldId id="269" r:id="rId14"/>
    <p:sldId id="270" r:id="rId15"/>
    <p:sldId id="267" r:id="rId16"/>
    <p:sldId id="268" r:id="rId17"/>
    <p:sldId id="271" r:id="rId18"/>
    <p:sldId id="272"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34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C40B0E-5CAC-4C71-BE52-EF28C720F42B}" type="datetimeFigureOut">
              <a:rPr lang="zh-TW" altLang="en-US" smtClean="0"/>
              <a:t>2017/1/3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D98C4D-69AD-4F5C-9092-E433665CE0AD}" type="slidenum">
              <a:rPr lang="zh-TW" altLang="en-US" smtClean="0"/>
              <a:t>‹#›</a:t>
            </a:fld>
            <a:endParaRPr lang="zh-TW" altLang="en-US"/>
          </a:p>
        </p:txBody>
      </p:sp>
    </p:spTree>
    <p:extLst>
      <p:ext uri="{BB962C8B-B14F-4D97-AF65-F5344CB8AC3E}">
        <p14:creationId xmlns:p14="http://schemas.microsoft.com/office/powerpoint/2010/main" val="2666866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01D98C4D-69AD-4F5C-9092-E433665CE0AD}" type="slidenum">
              <a:rPr lang="zh-TW" altLang="en-US" smtClean="0"/>
              <a:t>8</a:t>
            </a:fld>
            <a:endParaRPr lang="zh-TW" altLang="en-US"/>
          </a:p>
        </p:txBody>
      </p:sp>
    </p:spTree>
    <p:extLst>
      <p:ext uri="{BB962C8B-B14F-4D97-AF65-F5344CB8AC3E}">
        <p14:creationId xmlns:p14="http://schemas.microsoft.com/office/powerpoint/2010/main" val="670787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01D98C4D-69AD-4F5C-9092-E433665CE0AD}" type="slidenum">
              <a:rPr lang="zh-TW" altLang="en-US" smtClean="0"/>
              <a:t>10</a:t>
            </a:fld>
            <a:endParaRPr lang="zh-TW" altLang="en-US"/>
          </a:p>
        </p:txBody>
      </p:sp>
    </p:spTree>
    <p:extLst>
      <p:ext uri="{BB962C8B-B14F-4D97-AF65-F5344CB8AC3E}">
        <p14:creationId xmlns:p14="http://schemas.microsoft.com/office/powerpoint/2010/main" val="2669186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162696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3393542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2365963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1692343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3181333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3294162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2959735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178320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2288080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838134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C5C8741A-892F-4F7C-842A-421F11AA7748}" type="datetimeFigureOut">
              <a:rPr lang="zh-TW" altLang="en-US" smtClean="0"/>
              <a:t>2017/1/3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312741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C8741A-892F-4F7C-842A-421F11AA7748}" type="datetimeFigureOut">
              <a:rPr lang="zh-TW" altLang="en-US" smtClean="0"/>
              <a:t>2017/1/3</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B3C37-4F9A-4152-9B2A-1CD27702E59C}" type="slidenum">
              <a:rPr lang="zh-TW" altLang="en-US" smtClean="0"/>
              <a:t>‹#›</a:t>
            </a:fld>
            <a:endParaRPr lang="zh-TW" altLang="en-US"/>
          </a:p>
        </p:txBody>
      </p:sp>
    </p:spTree>
    <p:extLst>
      <p:ext uri="{BB962C8B-B14F-4D97-AF65-F5344CB8AC3E}">
        <p14:creationId xmlns:p14="http://schemas.microsoft.com/office/powerpoint/2010/main" val="119026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869244"/>
            <a:ext cx="9144000" cy="823207"/>
          </a:xfrm>
        </p:spPr>
        <p:txBody>
          <a:bodyPr>
            <a:normAutofit/>
          </a:bodyPr>
          <a:lstStyle/>
          <a:p>
            <a:r>
              <a:rPr lang="en-US" altLang="zh-TW" sz="4600" dirty="0"/>
              <a:t>Derivative Dynamic Time Warping</a:t>
            </a:r>
            <a:endParaRPr lang="zh-TW" altLang="en-US" sz="4600" dirty="0"/>
          </a:p>
        </p:txBody>
      </p:sp>
      <p:sp>
        <p:nvSpPr>
          <p:cNvPr id="3" name="副標題 2"/>
          <p:cNvSpPr>
            <a:spLocks noGrp="1"/>
          </p:cNvSpPr>
          <p:nvPr>
            <p:ph type="subTitle" idx="1"/>
          </p:nvPr>
        </p:nvSpPr>
        <p:spPr>
          <a:xfrm>
            <a:off x="1524000" y="2642483"/>
            <a:ext cx="9144000" cy="1060273"/>
          </a:xfrm>
        </p:spPr>
        <p:txBody>
          <a:bodyPr/>
          <a:lstStyle/>
          <a:p>
            <a:r>
              <a:rPr lang="en-US" altLang="zh-TW" dirty="0" err="1"/>
              <a:t>Eamonn</a:t>
            </a:r>
            <a:r>
              <a:rPr lang="en-US" altLang="zh-TW" dirty="0"/>
              <a:t> J. Keogh </a:t>
            </a:r>
          </a:p>
          <a:p>
            <a:r>
              <a:rPr lang="en-US" altLang="zh-TW" dirty="0"/>
              <a:t>Michael J. </a:t>
            </a:r>
            <a:r>
              <a:rPr lang="en-US" altLang="zh-TW" dirty="0" err="1"/>
              <a:t>Pazzani</a:t>
            </a:r>
            <a:endParaRPr lang="en-US" altLang="zh-TW" dirty="0"/>
          </a:p>
          <a:p>
            <a:endParaRPr lang="zh-TW" altLang="en-US" dirty="0"/>
          </a:p>
        </p:txBody>
      </p:sp>
      <p:sp>
        <p:nvSpPr>
          <p:cNvPr id="4" name="文字方塊 3"/>
          <p:cNvSpPr txBox="1"/>
          <p:nvPr/>
        </p:nvSpPr>
        <p:spPr>
          <a:xfrm>
            <a:off x="4205111" y="4723930"/>
            <a:ext cx="3781777" cy="461665"/>
          </a:xfrm>
          <a:prstGeom prst="rect">
            <a:avLst/>
          </a:prstGeom>
          <a:noFill/>
        </p:spPr>
        <p:txBody>
          <a:bodyPr wrap="square" rtlCol="0">
            <a:spAutoFit/>
          </a:bodyPr>
          <a:lstStyle/>
          <a:p>
            <a:pPr algn="ctr"/>
            <a:r>
              <a:rPr lang="en-US" altLang="zh-TW" sz="2400" dirty="0"/>
              <a:t>Speaker: Hsiu-</a:t>
            </a:r>
            <a:r>
              <a:rPr lang="en-US" altLang="zh-TW" sz="2400" dirty="0" err="1"/>
              <a:t>Chieh</a:t>
            </a:r>
            <a:r>
              <a:rPr lang="en-US" altLang="zh-TW" sz="2400" dirty="0"/>
              <a:t> Hung</a:t>
            </a:r>
            <a:endParaRPr lang="zh-TW" altLang="en-US" sz="2400" dirty="0"/>
          </a:p>
        </p:txBody>
      </p:sp>
      <p:sp>
        <p:nvSpPr>
          <p:cNvPr id="5" name="文字方塊 4"/>
          <p:cNvSpPr txBox="1"/>
          <p:nvPr/>
        </p:nvSpPr>
        <p:spPr>
          <a:xfrm>
            <a:off x="2294464" y="3889167"/>
            <a:ext cx="7921979" cy="646331"/>
          </a:xfrm>
          <a:prstGeom prst="rect">
            <a:avLst/>
          </a:prstGeom>
          <a:noFill/>
        </p:spPr>
        <p:txBody>
          <a:bodyPr wrap="square" rtlCol="0">
            <a:spAutoFit/>
          </a:bodyPr>
          <a:lstStyle/>
          <a:p>
            <a:pPr algn="ctr"/>
            <a:r>
              <a:rPr lang="en-US" altLang="zh-TW" dirty="0"/>
              <a:t>First SIAM International Conference on Data Mining (SDM 2001), Chicago, IL, USA, April 5-7, 2001.</a:t>
            </a:r>
            <a:endParaRPr lang="zh-TW" altLang="en-US" dirty="0"/>
          </a:p>
        </p:txBody>
      </p:sp>
      <p:sp>
        <p:nvSpPr>
          <p:cNvPr id="6" name="文字方塊 5"/>
          <p:cNvSpPr txBox="1"/>
          <p:nvPr/>
        </p:nvSpPr>
        <p:spPr>
          <a:xfrm>
            <a:off x="8811210" y="6118578"/>
            <a:ext cx="1622752" cy="369332"/>
          </a:xfrm>
          <a:prstGeom prst="rect">
            <a:avLst/>
          </a:prstGeom>
          <a:noFill/>
        </p:spPr>
        <p:txBody>
          <a:bodyPr wrap="none" rtlCol="0">
            <a:spAutoFit/>
          </a:bodyPr>
          <a:lstStyle/>
          <a:p>
            <a:r>
              <a:rPr lang="en-US" altLang="zh-TW" dirty="0"/>
              <a:t>Date: 2017/1/3</a:t>
            </a:r>
            <a:endParaRPr lang="zh-TW" altLang="en-US" dirty="0"/>
          </a:p>
        </p:txBody>
      </p:sp>
    </p:spTree>
    <p:extLst>
      <p:ext uri="{BB962C8B-B14F-4D97-AF65-F5344CB8AC3E}">
        <p14:creationId xmlns:p14="http://schemas.microsoft.com/office/powerpoint/2010/main" val="3675166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838200" y="1913109"/>
            <a:ext cx="10476662" cy="3293209"/>
          </a:xfrm>
          <a:prstGeom prst="rect">
            <a:avLst/>
          </a:prstGeom>
          <a:noFill/>
        </p:spPr>
        <p:txBody>
          <a:bodyPr wrap="square" rtlCol="0">
            <a:spAutoFit/>
          </a:bodyPr>
          <a:lstStyle/>
          <a:p>
            <a:r>
              <a:rPr lang="en-US" altLang="zh-TW" sz="2600" dirty="0"/>
              <a:t>	</a:t>
            </a:r>
            <a:r>
              <a:rPr lang="en-US" altLang="zh-TW" sz="2600" dirty="0">
                <a:latin typeface="Times New Roman" panose="02020603050405020304" pitchFamily="18" charset="0"/>
                <a:cs typeface="Times New Roman" panose="02020603050405020304" pitchFamily="18" charset="0"/>
              </a:rPr>
              <a:t>A common task with time series data is comparing one sequence with another. In some domains a very simple distance measure, such as Euclidean distance will suffice. However, it is often the case that two sequences have the approximately the same overall component shapes, but these shapes do not line up in X-axis. In order to find the similarity between such sequences, or as a preprocessing step before averaging them, we must "warp" the time axis of one (or both) sequences to achieve a better alignment. Dynamic time warping (DTW), is a technique for efficiently achieving this warping.</a:t>
            </a:r>
          </a:p>
        </p:txBody>
      </p:sp>
      <p:sp>
        <p:nvSpPr>
          <p:cNvPr id="6" name="標題 1"/>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Abstract(1/3)</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3305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0" indent="0">
              <a:buNone/>
            </a:pPr>
            <a:r>
              <a:rPr lang="en-US" altLang="zh-TW" sz="2600" dirty="0"/>
              <a:t>	</a:t>
            </a:r>
            <a:r>
              <a:rPr lang="en-US" altLang="zh-TW" sz="2600" dirty="0">
                <a:latin typeface="Times New Roman" panose="02020603050405020304" pitchFamily="18" charset="0"/>
                <a:cs typeface="Times New Roman" panose="02020603050405020304" pitchFamily="18" charset="0"/>
              </a:rPr>
              <a:t>Although DTW has been successfully used in many domains, it can produce pathological results. The crucial observation is that the algorithm may try to explain variability in the Y-axis by warping the X-axis. This can lead to unintuitive alignments where a single point on one time series maps onto a large subsection of another time series. We call examples of this undesirable behavior "singularities".</a:t>
            </a:r>
          </a:p>
          <a:p>
            <a:pPr marL="0" indent="0">
              <a:buNone/>
            </a:pPr>
            <a:r>
              <a:rPr lang="en-US" altLang="zh-TW" sz="2600" dirty="0">
                <a:latin typeface="Times New Roman" panose="02020603050405020304" pitchFamily="18" charset="0"/>
                <a:cs typeface="Times New Roman" panose="02020603050405020304" pitchFamily="18" charset="0"/>
              </a:rPr>
              <a:t>	An additional problem with DTW is that the algorithm may fail to find obvious, natural alignments in two sequences simply because a feature (</a:t>
            </a:r>
            <a:r>
              <a:rPr lang="en-US" altLang="zh-TW" sz="2600" dirty="0" err="1">
                <a:latin typeface="Times New Roman" panose="02020603050405020304" pitchFamily="18" charset="0"/>
                <a:cs typeface="Times New Roman" panose="02020603050405020304" pitchFamily="18" charset="0"/>
              </a:rPr>
              <a:t>i.e</a:t>
            </a:r>
            <a:r>
              <a:rPr lang="en-US" altLang="zh-TW" sz="2600" dirty="0">
                <a:latin typeface="Times New Roman" panose="02020603050405020304" pitchFamily="18" charset="0"/>
                <a:cs typeface="Times New Roman" panose="02020603050405020304" pitchFamily="18" charset="0"/>
              </a:rPr>
              <a:t> peak, valley, inflection point, plateau etc.) in one sequence is slightly higher or lower than its corresponding feature in the other sequence.</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85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Abstract(3/3)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0" indent="0">
              <a:buNone/>
            </a:pPr>
            <a:r>
              <a:rPr lang="en-US" altLang="zh-TW" sz="2600" dirty="0"/>
              <a:t>	</a:t>
            </a:r>
            <a:r>
              <a:rPr lang="en-US" altLang="zh-TW" sz="2600" dirty="0">
                <a:latin typeface="Times New Roman" panose="02020603050405020304" pitchFamily="18" charset="0"/>
                <a:cs typeface="Times New Roman" panose="02020603050405020304" pitchFamily="18" charset="0"/>
              </a:rPr>
              <a:t>In this paper we address both these problems by introducing a modification of DTW. The crucial difference is in the features we consider when attempting to find the correct warping. Then we introduce and demonstrate our extension, which we call Derivative Dynamic Time Warping (DDTW).</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726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0362" y="3029038"/>
            <a:ext cx="10310263" cy="2231583"/>
          </a:xfrm>
          <a:prstGeom prst="rect">
            <a:avLst/>
          </a:prstGeom>
        </p:spPr>
      </p:pic>
      <p:sp>
        <p:nvSpPr>
          <p:cNvPr id="3" name="標題 1"/>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Dynamic Time Warping (DTW)</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49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690157"/>
                <a:ext cx="10515600" cy="2148064"/>
              </a:xfrm>
            </p:spPr>
            <p:txBody>
              <a:bodyPr/>
              <a:lstStyle/>
              <a:p>
                <a:pPr marL="0" indent="0">
                  <a:buNone/>
                </a:pPr>
                <a14:m>
                  <m:oMath xmlns:m="http://schemas.openxmlformats.org/officeDocument/2006/math">
                    <m:r>
                      <a:rPr lang="en-US" altLang="zh-TW" b="0" i="1" smtClean="0">
                        <a:latin typeface="Cambria Math" panose="02040503050406030204" pitchFamily="18" charset="0"/>
                      </a:rPr>
                      <m:t>𝑄</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𝑞</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 ⋯,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𝑞</m:t>
                        </m:r>
                      </m:e>
                      <m:sub>
                        <m:r>
                          <a:rPr lang="en-US" altLang="zh-TW" b="0" i="1" smtClean="0">
                            <a:latin typeface="Cambria Math" panose="02040503050406030204" pitchFamily="18" charset="0"/>
                            <a:ea typeface="Cambria Math" panose="02040503050406030204" pitchFamily="18" charset="0"/>
                          </a:rPr>
                          <m:t>𝑛</m:t>
                        </m:r>
                      </m:sub>
                    </m:sSub>
                  </m:oMath>
                </a14:m>
                <a:r>
                  <a:rPr lang="en-US" altLang="zh-TW" b="0" dirty="0">
                    <a:latin typeface="Times New Roman" panose="02020603050405020304" pitchFamily="18" charset="0"/>
                    <a:cs typeface="Times New Roman" panose="02020603050405020304" pitchFamily="18" charset="0"/>
                  </a:rPr>
                  <a:t>	</a:t>
                </a:r>
              </a:p>
              <a:p>
                <a:pPr marL="0" indent="0">
                  <a:buNone/>
                </a:pPr>
                <a14:m>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𝑐</m:t>
                        </m:r>
                      </m:e>
                      <m:sub>
                        <m:r>
                          <a:rPr lang="en-US" altLang="zh-TW" b="0" i="1" smtClean="0">
                            <a:latin typeface="Cambria Math" panose="02040503050406030204" pitchFamily="18" charset="0"/>
                            <a:ea typeface="Cambria Math" panose="02040503050406030204" pitchFamily="18" charset="0"/>
                          </a:rPr>
                          <m:t>𝑗</m:t>
                        </m:r>
                      </m:sub>
                    </m:sSub>
                    <m:r>
                      <a:rPr lang="en-US" altLang="zh-TW" b="0" i="1" smtClean="0">
                        <a:latin typeface="Cambria Math" panose="02040503050406030204" pitchFamily="18" charset="0"/>
                        <a:ea typeface="Cambria Math" panose="02040503050406030204" pitchFamily="18" charset="0"/>
                      </a:rPr>
                      <m:t>, ⋯,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𝑐</m:t>
                        </m:r>
                      </m:e>
                      <m:sub>
                        <m:r>
                          <a:rPr lang="en-US" altLang="zh-TW" b="0" i="1" smtClean="0">
                            <a:latin typeface="Cambria Math" panose="02040503050406030204" pitchFamily="18" charset="0"/>
                            <a:ea typeface="Cambria Math" panose="02040503050406030204" pitchFamily="18" charset="0"/>
                          </a:rPr>
                          <m:t>𝑚</m:t>
                        </m:r>
                      </m:sub>
                    </m:sSub>
                  </m:oMath>
                </a14:m>
                <a:r>
                  <a:rPr lang="en-US" altLang="zh-TW" dirty="0">
                    <a:latin typeface="Times New Roman" panose="02020603050405020304" pitchFamily="18" charset="0"/>
                    <a:cs typeface="Times New Roman" panose="02020603050405020304" pitchFamily="18" charset="0"/>
                  </a:rPr>
                  <a:t>	</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lang="en-US" altLang="zh-TW" b="0" i="1" smtClean="0">
                        <a:latin typeface="Cambria Math" panose="02040503050406030204" pitchFamily="18" charset="0"/>
                      </a:rPr>
                      <m:t>𝑊</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𝑤</m:t>
                        </m:r>
                      </m:e>
                      <m:sub>
                        <m:r>
                          <a:rPr lang="en-US" altLang="zh-TW" b="0" i="1" smtClean="0">
                            <a:latin typeface="Cambria Math" panose="02040503050406030204" pitchFamily="18" charset="0"/>
                            <a:ea typeface="Cambria Math" panose="02040503050406030204" pitchFamily="18" charset="0"/>
                          </a:rPr>
                          <m:t>𝑘</m:t>
                        </m:r>
                      </m:sub>
                    </m:sSub>
                    <m:r>
                      <a:rPr lang="en-US" altLang="zh-TW" b="0" i="1" smtClean="0">
                        <a:latin typeface="Cambria Math" panose="02040503050406030204" pitchFamily="18" charset="0"/>
                        <a:ea typeface="Cambria Math" panose="02040503050406030204" pitchFamily="18" charset="0"/>
                      </a:rPr>
                      <m:t>, ⋯,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𝑤</m:t>
                        </m:r>
                      </m:e>
                      <m:sub>
                        <m:r>
                          <a:rPr lang="en-US" altLang="zh-TW" b="0" i="1" smtClean="0">
                            <a:latin typeface="Cambria Math" panose="02040503050406030204" pitchFamily="18" charset="0"/>
                            <a:ea typeface="Cambria Math" panose="02040503050406030204" pitchFamily="18" charset="0"/>
                          </a:rPr>
                          <m:t>𝐾</m:t>
                        </m:r>
                      </m:sub>
                    </m:sSub>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𝑚𝑎𝑥</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𝑚</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𝑛</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𝐾</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690157"/>
                <a:ext cx="10515600" cy="2148064"/>
              </a:xfrm>
              <a:blipFill>
                <a:blip r:embed="rId2"/>
                <a:stretch>
                  <a:fillRect/>
                </a:stretch>
              </a:blipFill>
            </p:spPr>
            <p:txBody>
              <a:bodyPr/>
              <a:lstStyle/>
              <a:p>
                <a:r>
                  <a:rPr lang="zh-TW" altLang="en-US">
                    <a:noFill/>
                  </a:rPr>
                  <a:t> </a:t>
                </a:r>
              </a:p>
            </p:txBody>
          </p:sp>
        </mc:Fallback>
      </mc:AlternateContent>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Dynamic Time Warping (DTW)</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4105973184"/>
                  </p:ext>
                </p:extLst>
              </p:nvPr>
            </p:nvGraphicFramePr>
            <p:xfrm>
              <a:off x="2319867" y="4029603"/>
              <a:ext cx="7552265" cy="2612898"/>
            </p:xfrm>
            <a:graphic>
              <a:graphicData uri="http://schemas.openxmlformats.org/drawingml/2006/table">
                <a:tbl>
                  <a:tblPr firstRow="1" bandRow="1">
                    <a:tableStyleId>{5C22544A-7EE6-4342-B048-85BDC9FD1C3A}</a:tableStyleId>
                  </a:tblPr>
                  <a:tblGrid>
                    <a:gridCol w="1078895">
                      <a:extLst>
                        <a:ext uri="{9D8B030D-6E8A-4147-A177-3AD203B41FA5}">
                          <a16:colId xmlns:a16="http://schemas.microsoft.com/office/drawing/2014/main" val="5841019"/>
                        </a:ext>
                      </a:extLst>
                    </a:gridCol>
                    <a:gridCol w="1078895">
                      <a:extLst>
                        <a:ext uri="{9D8B030D-6E8A-4147-A177-3AD203B41FA5}">
                          <a16:colId xmlns:a16="http://schemas.microsoft.com/office/drawing/2014/main" val="3397640074"/>
                        </a:ext>
                      </a:extLst>
                    </a:gridCol>
                    <a:gridCol w="1078895">
                      <a:extLst>
                        <a:ext uri="{9D8B030D-6E8A-4147-A177-3AD203B41FA5}">
                          <a16:colId xmlns:a16="http://schemas.microsoft.com/office/drawing/2014/main" val="1101645064"/>
                        </a:ext>
                      </a:extLst>
                    </a:gridCol>
                    <a:gridCol w="1078895">
                      <a:extLst>
                        <a:ext uri="{9D8B030D-6E8A-4147-A177-3AD203B41FA5}">
                          <a16:colId xmlns:a16="http://schemas.microsoft.com/office/drawing/2014/main" val="655401607"/>
                        </a:ext>
                      </a:extLst>
                    </a:gridCol>
                    <a:gridCol w="1078895">
                      <a:extLst>
                        <a:ext uri="{9D8B030D-6E8A-4147-A177-3AD203B41FA5}">
                          <a16:colId xmlns:a16="http://schemas.microsoft.com/office/drawing/2014/main" val="2403778679"/>
                        </a:ext>
                      </a:extLst>
                    </a:gridCol>
                    <a:gridCol w="1078895">
                      <a:extLst>
                        <a:ext uri="{9D8B030D-6E8A-4147-A177-3AD203B41FA5}">
                          <a16:colId xmlns:a16="http://schemas.microsoft.com/office/drawing/2014/main" val="2143618955"/>
                        </a:ext>
                      </a:extLst>
                    </a:gridCol>
                    <a:gridCol w="1078895">
                      <a:extLst>
                        <a:ext uri="{9D8B030D-6E8A-4147-A177-3AD203B41FA5}">
                          <a16:colId xmlns:a16="http://schemas.microsoft.com/office/drawing/2014/main" val="158077226"/>
                        </a:ext>
                      </a:extLst>
                    </a:gridCol>
                  </a:tblGrid>
                  <a:tr h="370840">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𝑞</m:t>
                                    </m:r>
                                  </m:e>
                                  <m:sub>
                                    <m:r>
                                      <a:rPr lang="en-US" altLang="zh-TW" b="0" i="1" smtClean="0">
                                        <a:solidFill>
                                          <a:schemeClr val="tx1"/>
                                        </a:solidFill>
                                        <a:latin typeface="Cambria Math" panose="02040503050406030204" pitchFamily="18" charset="0"/>
                                      </a:rPr>
                                      <m:t>1</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𝑞</m:t>
                                    </m:r>
                                  </m:e>
                                  <m:sub>
                                    <m:r>
                                      <a:rPr lang="en-US" altLang="zh-TW" b="0" i="1" smtClean="0">
                                        <a:solidFill>
                                          <a:schemeClr val="tx1"/>
                                        </a:solidFill>
                                        <a:latin typeface="Cambria Math" panose="02040503050406030204" pitchFamily="18" charset="0"/>
                                      </a:rPr>
                                      <m:t>2</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ea typeface="Cambria Math" panose="02040503050406030204" pitchFamily="18" charset="0"/>
                                  </a:rPr>
                                  <m:t>⋯</m:t>
                                </m:r>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Cambria Math" panose="02040503050406030204" pitchFamily="18" charset="0"/>
                                      </a:rPr>
                                    </m:ctrlPr>
                                  </m:sSubPr>
                                  <m:e>
                                    <m:r>
                                      <a:rPr lang="en-US" altLang="zh-TW" b="0" i="1" smtClean="0">
                                        <a:solidFill>
                                          <a:schemeClr val="tx1"/>
                                        </a:solidFill>
                                        <a:latin typeface="Cambria Math" panose="02040503050406030204" pitchFamily="18" charset="0"/>
                                        <a:ea typeface="Cambria Math" panose="02040503050406030204" pitchFamily="18" charset="0"/>
                                      </a:rPr>
                                      <m:t>𝑞</m:t>
                                    </m:r>
                                  </m:e>
                                  <m:sub>
                                    <m:r>
                                      <a:rPr lang="en-US" altLang="zh-TW" b="0" i="1" smtClean="0">
                                        <a:solidFill>
                                          <a:schemeClr val="tx1"/>
                                        </a:solidFill>
                                        <a:latin typeface="Cambria Math" panose="02040503050406030204" pitchFamily="18" charset="0"/>
                                        <a:ea typeface="Cambria Math" panose="02040503050406030204" pitchFamily="18" charset="0"/>
                                      </a:rPr>
                                      <m:t>𝑖</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ea typeface="Cambria Math" panose="02040503050406030204" pitchFamily="18" charset="0"/>
                                  </a:rPr>
                                  <m:t>⋯</m:t>
                                </m:r>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Cambria Math" panose="02040503050406030204" pitchFamily="18" charset="0"/>
                                      </a:rPr>
                                    </m:ctrlPr>
                                  </m:sSubPr>
                                  <m:e>
                                    <m:r>
                                      <a:rPr lang="en-US" altLang="zh-TW" b="0" i="1" smtClean="0">
                                        <a:solidFill>
                                          <a:schemeClr val="tx1"/>
                                        </a:solidFill>
                                        <a:latin typeface="Cambria Math" panose="02040503050406030204" pitchFamily="18" charset="0"/>
                                        <a:ea typeface="Cambria Math" panose="02040503050406030204" pitchFamily="18" charset="0"/>
                                      </a:rPr>
                                      <m:t>𝑞</m:t>
                                    </m:r>
                                  </m:e>
                                  <m:sub>
                                    <m:r>
                                      <a:rPr lang="en-US" altLang="zh-TW" b="0" i="1" smtClean="0">
                                        <a:solidFill>
                                          <a:schemeClr val="tx1"/>
                                        </a:solidFill>
                                        <a:latin typeface="Cambria Math" panose="02040503050406030204" pitchFamily="18" charset="0"/>
                                        <a:ea typeface="Cambria Math" panose="02040503050406030204" pitchFamily="18" charset="0"/>
                                      </a:rPr>
                                      <m:t>𝑛</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604059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𝑐</m:t>
                                    </m:r>
                                  </m:e>
                                  <m:sub>
                                    <m:r>
                                      <a:rPr lang="en-US" altLang="zh-TW" b="0" i="1" smtClean="0">
                                        <a:latin typeface="Cambria Math" panose="02040503050406030204" pitchFamily="18" charset="0"/>
                                        <a:ea typeface="Cambria Math" panose="02040503050406030204" pitchFamily="18" charset="0"/>
                                      </a:rPr>
                                      <m:t>𝑚</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8093926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i="1" smtClean="0">
                                    <a:solidFill>
                                      <a:schemeClr val="tx1"/>
                                    </a:solidFill>
                                    <a:latin typeface="Cambria Math" panose="02040503050406030204" pitchFamily="18" charset="0"/>
                                  </a:rPr>
                                  <m:t>⋮</m:t>
                                </m:r>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758626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Cambria Math" panose="02040503050406030204" pitchFamily="18" charset="0"/>
                                      </a:rPr>
                                    </m:ctrlPr>
                                  </m:sSubPr>
                                  <m:e>
                                    <m:r>
                                      <a:rPr lang="en-US" altLang="zh-TW" b="0" i="1" smtClean="0">
                                        <a:solidFill>
                                          <a:schemeClr val="tx1"/>
                                        </a:solidFill>
                                        <a:latin typeface="Cambria Math" panose="02040503050406030204" pitchFamily="18" charset="0"/>
                                        <a:ea typeface="Cambria Math" panose="02040503050406030204" pitchFamily="18" charset="0"/>
                                      </a:rPr>
                                      <m:t>𝑐</m:t>
                                    </m:r>
                                  </m:e>
                                  <m:sub>
                                    <m:r>
                                      <a:rPr lang="en-US" altLang="zh-TW" b="0" i="1" smtClean="0">
                                        <a:solidFill>
                                          <a:schemeClr val="tx1"/>
                                        </a:solidFill>
                                        <a:latin typeface="Cambria Math" panose="02040503050406030204" pitchFamily="18" charset="0"/>
                                        <a:ea typeface="Cambria Math" panose="02040503050406030204" pitchFamily="18" charset="0"/>
                                      </a:rPr>
                                      <m:t>𝑗</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78647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i="1" smtClean="0">
                                    <a:solidFill>
                                      <a:schemeClr val="tx1"/>
                                    </a:solidFill>
                                    <a:latin typeface="Cambria Math" panose="02040503050406030204" pitchFamily="18" charset="0"/>
                                  </a:rPr>
                                  <m:t>⋮</m:t>
                                </m:r>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7582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r>
                                      <a:rPr lang="en-US" altLang="zh-TW" b="0" i="1" smtClean="0">
                                        <a:solidFill>
                                          <a:schemeClr val="tx1"/>
                                        </a:solidFill>
                                        <a:latin typeface="Cambria Math" panose="02040503050406030204" pitchFamily="18" charset="0"/>
                                      </a:rPr>
                                      <m:t>2</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787421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𝑐</m:t>
                                    </m:r>
                                  </m:e>
                                  <m:sub>
                                    <m:r>
                                      <a:rPr lang="en-US" altLang="zh-TW" b="0" i="1" smtClean="0">
                                        <a:solidFill>
                                          <a:schemeClr val="tx1"/>
                                        </a:solidFill>
                                        <a:latin typeface="Cambria Math" panose="02040503050406030204" pitchFamily="18" charset="0"/>
                                      </a:rPr>
                                      <m:t>1</m:t>
                                    </m:r>
                                  </m:sub>
                                </m:sSub>
                              </m:oMath>
                            </m:oMathPara>
                          </a14:m>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296427"/>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4105973184"/>
                  </p:ext>
                </p:extLst>
              </p:nvPr>
            </p:nvGraphicFramePr>
            <p:xfrm>
              <a:off x="2319867" y="4029603"/>
              <a:ext cx="7552265" cy="2612898"/>
            </p:xfrm>
            <a:graphic>
              <a:graphicData uri="http://schemas.openxmlformats.org/drawingml/2006/table">
                <a:tbl>
                  <a:tblPr firstRow="1" bandRow="1">
                    <a:tableStyleId>{5C22544A-7EE6-4342-B048-85BDC9FD1C3A}</a:tableStyleId>
                  </a:tblPr>
                  <a:tblGrid>
                    <a:gridCol w="1078895">
                      <a:extLst>
                        <a:ext uri="{9D8B030D-6E8A-4147-A177-3AD203B41FA5}">
                          <a16:colId xmlns:a16="http://schemas.microsoft.com/office/drawing/2014/main" val="5841019"/>
                        </a:ext>
                      </a:extLst>
                    </a:gridCol>
                    <a:gridCol w="1078895">
                      <a:extLst>
                        <a:ext uri="{9D8B030D-6E8A-4147-A177-3AD203B41FA5}">
                          <a16:colId xmlns:a16="http://schemas.microsoft.com/office/drawing/2014/main" val="3397640074"/>
                        </a:ext>
                      </a:extLst>
                    </a:gridCol>
                    <a:gridCol w="1078895">
                      <a:extLst>
                        <a:ext uri="{9D8B030D-6E8A-4147-A177-3AD203B41FA5}">
                          <a16:colId xmlns:a16="http://schemas.microsoft.com/office/drawing/2014/main" val="1101645064"/>
                        </a:ext>
                      </a:extLst>
                    </a:gridCol>
                    <a:gridCol w="1078895">
                      <a:extLst>
                        <a:ext uri="{9D8B030D-6E8A-4147-A177-3AD203B41FA5}">
                          <a16:colId xmlns:a16="http://schemas.microsoft.com/office/drawing/2014/main" val="655401607"/>
                        </a:ext>
                      </a:extLst>
                    </a:gridCol>
                    <a:gridCol w="1078895">
                      <a:extLst>
                        <a:ext uri="{9D8B030D-6E8A-4147-A177-3AD203B41FA5}">
                          <a16:colId xmlns:a16="http://schemas.microsoft.com/office/drawing/2014/main" val="2403778679"/>
                        </a:ext>
                      </a:extLst>
                    </a:gridCol>
                    <a:gridCol w="1078895">
                      <a:extLst>
                        <a:ext uri="{9D8B030D-6E8A-4147-A177-3AD203B41FA5}">
                          <a16:colId xmlns:a16="http://schemas.microsoft.com/office/drawing/2014/main" val="2143618955"/>
                        </a:ext>
                      </a:extLst>
                    </a:gridCol>
                    <a:gridCol w="1078895">
                      <a:extLst>
                        <a:ext uri="{9D8B030D-6E8A-4147-A177-3AD203B41FA5}">
                          <a16:colId xmlns:a16="http://schemas.microsoft.com/office/drawing/2014/main" val="158077226"/>
                        </a:ext>
                      </a:extLst>
                    </a:gridCol>
                  </a:tblGrid>
                  <a:tr h="370840">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565" t="-3279" r="-501695" b="-60655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565" t="-3279" r="-401695" b="-60655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8876" t="-3279" r="-299438" b="-60655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130" t="-3279" r="-201130" b="-60655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130" t="-3279" r="-101130" b="-60655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130" t="-3279" r="-1130" b="-606557"/>
                          </a:stretch>
                        </a:blipFill>
                      </a:tcPr>
                    </a:tc>
                    <a:extLst>
                      <a:ext uri="{0D108BD9-81ED-4DB2-BD59-A6C34878D82A}">
                        <a16:rowId xmlns:a16="http://schemas.microsoft.com/office/drawing/2014/main" val="1336040592"/>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5" t="-103279" r="-601695" b="-506557"/>
                          </a:stretch>
                        </a:blip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809392664"/>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5" t="-203279" r="-601695" b="-406557"/>
                          </a:stretch>
                        </a:blip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7586269"/>
                      </a:ext>
                    </a:extLst>
                  </a:tr>
                  <a:tr h="387858">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5" t="-293651" r="-601695" b="-293651"/>
                          </a:stretch>
                        </a:blip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7864713"/>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5" t="-406557" r="-601695" b="-203279"/>
                          </a:stretch>
                        </a:blip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758246"/>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5" t="-506557" r="-601695" b="-103279"/>
                          </a:stretch>
                        </a:blip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7874218"/>
                      </a:ext>
                    </a:extLst>
                  </a:tr>
                  <a:tr h="3708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5" t="-606557" r="-601695" b="-3279"/>
                          </a:stretch>
                        </a:blip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296427"/>
                      </a:ext>
                    </a:extLst>
                  </a:tr>
                </a:tbl>
              </a:graphicData>
            </a:graphic>
          </p:graphicFrame>
        </mc:Fallback>
      </mc:AlternateContent>
      <mc:AlternateContent xmlns:mc="http://schemas.openxmlformats.org/markup-compatibility/2006" xmlns:a14="http://schemas.microsoft.com/office/drawing/2010/main">
        <mc:Choice Requires="a14">
          <p:sp>
            <p:nvSpPr>
              <p:cNvPr id="6" name="文字方塊 5"/>
              <p:cNvSpPr txBox="1"/>
              <p:nvPr/>
            </p:nvSpPr>
            <p:spPr>
              <a:xfrm>
                <a:off x="10460996" y="5604754"/>
                <a:ext cx="1040541" cy="4113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𝑑</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e>
                      </m:d>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460996" y="5604754"/>
                <a:ext cx="1040541" cy="411395"/>
              </a:xfrm>
              <a:prstGeom prst="rect">
                <a:avLst/>
              </a:prstGeom>
              <a:blipFill>
                <a:blip r:embed="rId4"/>
                <a:stretch>
                  <a:fillRect b="-7353"/>
                </a:stretch>
              </a:blipFill>
            </p:spPr>
            <p:txBody>
              <a:bodyPr/>
              <a:lstStyle/>
              <a:p>
                <a:r>
                  <a:rPr lang="zh-TW" altLang="en-US">
                    <a:noFill/>
                  </a:rPr>
                  <a:t> </a:t>
                </a:r>
              </a:p>
            </p:txBody>
          </p:sp>
        </mc:Fallback>
      </mc:AlternateContent>
      <p:cxnSp>
        <p:nvCxnSpPr>
          <p:cNvPr id="8" name="直線單箭頭接點 7"/>
          <p:cNvCxnSpPr>
            <a:cxnSpLocks/>
            <a:stCxn id="6" idx="1"/>
          </p:cNvCxnSpPr>
          <p:nvPr/>
        </p:nvCxnSpPr>
        <p:spPr>
          <a:xfrm flipH="1" flipV="1">
            <a:off x="7382933" y="5373511"/>
            <a:ext cx="3078063" cy="436941"/>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675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765586371"/>
              </p:ext>
            </p:extLst>
          </p:nvPr>
        </p:nvGraphicFramePr>
        <p:xfrm>
          <a:off x="2032000" y="2980268"/>
          <a:ext cx="8128000" cy="3239911"/>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993693893"/>
                    </a:ext>
                  </a:extLst>
                </a:gridCol>
                <a:gridCol w="1625600">
                  <a:extLst>
                    <a:ext uri="{9D8B030D-6E8A-4147-A177-3AD203B41FA5}">
                      <a16:colId xmlns:a16="http://schemas.microsoft.com/office/drawing/2014/main" val="520922493"/>
                    </a:ext>
                  </a:extLst>
                </a:gridCol>
                <a:gridCol w="1625600">
                  <a:extLst>
                    <a:ext uri="{9D8B030D-6E8A-4147-A177-3AD203B41FA5}">
                      <a16:colId xmlns:a16="http://schemas.microsoft.com/office/drawing/2014/main" val="3215919893"/>
                    </a:ext>
                  </a:extLst>
                </a:gridCol>
                <a:gridCol w="1625600">
                  <a:extLst>
                    <a:ext uri="{9D8B030D-6E8A-4147-A177-3AD203B41FA5}">
                      <a16:colId xmlns:a16="http://schemas.microsoft.com/office/drawing/2014/main" val="2972262594"/>
                    </a:ext>
                  </a:extLst>
                </a:gridCol>
                <a:gridCol w="1625600">
                  <a:extLst>
                    <a:ext uri="{9D8B030D-6E8A-4147-A177-3AD203B41FA5}">
                      <a16:colId xmlns:a16="http://schemas.microsoft.com/office/drawing/2014/main" val="4234832874"/>
                    </a:ext>
                  </a:extLst>
                </a:gridCol>
              </a:tblGrid>
              <a:tr h="419044">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rPr>
                        <a:t>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rPr>
                        <a:t>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7948792"/>
                  </a:ext>
                </a:extLst>
              </a:tr>
              <a:tr h="402981">
                <a:tc>
                  <a:txBody>
                    <a:bodyPr/>
                    <a:lstStyle/>
                    <a:p>
                      <a:pPr algn="ctr"/>
                      <a:r>
                        <a:rPr lang="zh-TW" altLang="en-US" b="0" dirty="0">
                          <a:solidFill>
                            <a:sysClr val="windowText" lastClr="000000"/>
                          </a:solidFill>
                        </a:rPr>
                        <a:t>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1453573"/>
                  </a:ext>
                </a:extLst>
              </a:tr>
              <a:tr h="402981">
                <a:tc>
                  <a:txBody>
                    <a:bodyPr/>
                    <a:lstStyle/>
                    <a:p>
                      <a:pPr algn="ctr"/>
                      <a:r>
                        <a:rPr lang="zh-TW" altLang="en-US" b="0" dirty="0">
                          <a:solidFill>
                            <a:sysClr val="windowText" lastClr="000000"/>
                          </a:solidFill>
                        </a:rPr>
                        <a:t>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75619"/>
                  </a:ext>
                </a:extLst>
              </a:tr>
              <a:tr h="402981">
                <a:tc>
                  <a:txBody>
                    <a:bodyPr/>
                    <a:lstStyle/>
                    <a:p>
                      <a:pPr algn="ctr"/>
                      <a:r>
                        <a:rPr lang="zh-TW" altLang="en-US" b="0" dirty="0">
                          <a:solidFill>
                            <a:sysClr val="windowText" lastClr="000000"/>
                          </a:solidFill>
                        </a:rPr>
                        <a:t>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6535705"/>
                  </a:ext>
                </a:extLst>
              </a:tr>
              <a:tr h="402981">
                <a:tc>
                  <a:txBody>
                    <a:bodyPr/>
                    <a:lstStyle/>
                    <a:p>
                      <a:pPr algn="ctr"/>
                      <a:r>
                        <a:rPr lang="zh-TW" altLang="en-US" b="0" dirty="0">
                          <a:solidFill>
                            <a:sysClr val="windowText" lastClr="000000"/>
                          </a:solidFill>
                        </a:rPr>
                        <a:t>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1585605"/>
                  </a:ext>
                </a:extLst>
              </a:tr>
              <a:tr h="402981">
                <a:tc>
                  <a:txBody>
                    <a:bodyPr/>
                    <a:lstStyle/>
                    <a:p>
                      <a:pPr algn="ctr"/>
                      <a:r>
                        <a:rPr lang="zh-TW" altLang="en-US" b="0" dirty="0">
                          <a:solidFill>
                            <a:sysClr val="windowText" lastClr="000000"/>
                          </a:solidFill>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038654"/>
                  </a:ext>
                </a:extLst>
              </a:tr>
              <a:tr h="402981">
                <a:tc>
                  <a:txBody>
                    <a:bodyPr/>
                    <a:lstStyle/>
                    <a:p>
                      <a:pPr algn="ctr"/>
                      <a:r>
                        <a:rPr lang="zh-TW" altLang="en-US" b="0" dirty="0">
                          <a:solidFill>
                            <a:sysClr val="windowText" lastClr="000000"/>
                          </a:solidFill>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2263981"/>
                  </a:ext>
                </a:extLst>
              </a:tr>
              <a:tr h="402981">
                <a:tc>
                  <a:txBody>
                    <a:bodyPr/>
                    <a:lstStyle/>
                    <a:p>
                      <a:pPr algn="ctr"/>
                      <a:r>
                        <a:rPr lang="zh-TW" altLang="en-US" b="0" dirty="0">
                          <a:solidFill>
                            <a:sysClr val="windowText" lastClr="000000"/>
                          </a:solidFill>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rPr>
                        <a:t>1</a:t>
                      </a: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895984"/>
                  </a:ext>
                </a:extLst>
              </a:tr>
            </a:tbl>
          </a:graphicData>
        </a:graphic>
      </p:graphicFrame>
      <p:sp>
        <p:nvSpPr>
          <p:cNvPr id="5"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Dynamic Time Warping (DTW)</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文字方塊 5"/>
              <p:cNvSpPr txBox="1"/>
              <p:nvPr/>
            </p:nvSpPr>
            <p:spPr>
              <a:xfrm>
                <a:off x="3769850" y="1668112"/>
                <a:ext cx="4652299" cy="91614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𝐷𝑇𝑊</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𝑄</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𝐶</m:t>
                          </m:r>
                        </m:e>
                      </m:d>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min</m:t>
                      </m:r>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nary>
                            <m:naryPr>
                              <m:chr m:val="∑"/>
                              <m:limLoc m:val="subSup"/>
                              <m:ctrlPr>
                                <a:rPr lang="en-US" altLang="zh-TW" sz="2400" i="1">
                                  <a:latin typeface="Cambria Math" panose="02040503050406030204" pitchFamily="18" charset="0"/>
                                </a:rPr>
                              </m:ctrlPr>
                            </m:naryPr>
                            <m:sub>
                              <m:r>
                                <m:rPr>
                                  <m:brk m:alnAt="25"/>
                                </m:rPr>
                                <a:rPr lang="en-US" altLang="zh-TW" sz="2400" i="1">
                                  <a:latin typeface="Cambria Math" panose="02040503050406030204" pitchFamily="18" charset="0"/>
                                </a:rPr>
                                <m:t>𝑘</m:t>
                              </m:r>
                              <m:r>
                                <a:rPr lang="en-US" altLang="zh-TW" sz="2400" i="1">
                                  <a:latin typeface="Cambria Math" panose="02040503050406030204" pitchFamily="18" charset="0"/>
                                </a:rPr>
                                <m:t>=1</m:t>
                              </m:r>
                            </m:sub>
                            <m:sup>
                              <m:r>
                                <a:rPr lang="en-US" altLang="zh-TW" sz="2400" i="1">
                                  <a:latin typeface="Cambria Math" panose="02040503050406030204" pitchFamily="18" charset="0"/>
                                </a:rPr>
                                <m:t>𝐾</m:t>
                              </m:r>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𝑘</m:t>
                                  </m:r>
                                </m:sub>
                              </m:sSub>
                            </m:e>
                          </m:nary>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𝐾</m:t>
                          </m:r>
                        </m:e>
                      </m:d>
                    </m:oMath>
                  </m:oMathPara>
                </a14:m>
                <a:endParaRPr lang="zh-TW" altLang="en-US" sz="2400" dirty="0"/>
              </a:p>
            </p:txBody>
          </p:sp>
        </mc:Choice>
        <mc:Fallback>
          <p:sp>
            <p:nvSpPr>
              <p:cNvPr id="6" name="文字方塊 5"/>
              <p:cNvSpPr txBox="1">
                <a:spLocks noRot="1" noChangeAspect="1" noMove="1" noResize="1" noEditPoints="1" noAdjustHandles="1" noChangeArrowheads="1" noChangeShapeType="1" noTextEdit="1"/>
              </p:cNvSpPr>
              <p:nvPr/>
            </p:nvSpPr>
            <p:spPr>
              <a:xfrm>
                <a:off x="3769850" y="1668112"/>
                <a:ext cx="4652299" cy="916148"/>
              </a:xfrm>
              <a:prstGeom prst="rect">
                <a:avLst/>
              </a:prstGeom>
              <a:blipFill>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16975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Dynamic Time Warping (DTW)</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2295032172"/>
              </p:ext>
            </p:extLst>
          </p:nvPr>
        </p:nvGraphicFramePr>
        <p:xfrm>
          <a:off x="2032000" y="3206043"/>
          <a:ext cx="8128000" cy="326249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993693893"/>
                    </a:ext>
                  </a:extLst>
                </a:gridCol>
                <a:gridCol w="1625600">
                  <a:extLst>
                    <a:ext uri="{9D8B030D-6E8A-4147-A177-3AD203B41FA5}">
                      <a16:colId xmlns:a16="http://schemas.microsoft.com/office/drawing/2014/main" val="520922493"/>
                    </a:ext>
                  </a:extLst>
                </a:gridCol>
                <a:gridCol w="1625600">
                  <a:extLst>
                    <a:ext uri="{9D8B030D-6E8A-4147-A177-3AD203B41FA5}">
                      <a16:colId xmlns:a16="http://schemas.microsoft.com/office/drawing/2014/main" val="3215919893"/>
                    </a:ext>
                  </a:extLst>
                </a:gridCol>
                <a:gridCol w="1625600">
                  <a:extLst>
                    <a:ext uri="{9D8B030D-6E8A-4147-A177-3AD203B41FA5}">
                      <a16:colId xmlns:a16="http://schemas.microsoft.com/office/drawing/2014/main" val="2972262594"/>
                    </a:ext>
                  </a:extLst>
                </a:gridCol>
                <a:gridCol w="1625600">
                  <a:extLst>
                    <a:ext uri="{9D8B030D-6E8A-4147-A177-3AD203B41FA5}">
                      <a16:colId xmlns:a16="http://schemas.microsoft.com/office/drawing/2014/main" val="4234832874"/>
                    </a:ext>
                  </a:extLst>
                </a:gridCol>
              </a:tblGrid>
              <a:tr h="441623">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7948792"/>
                  </a:ext>
                </a:extLst>
              </a:tr>
              <a:tr h="402981">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4</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2</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531453573"/>
                  </a:ext>
                </a:extLst>
              </a:tr>
              <a:tr h="402981">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3</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75619"/>
                  </a:ext>
                </a:extLst>
              </a:tr>
              <a:tr h="402981">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2</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2</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6535705"/>
                  </a:ext>
                </a:extLst>
              </a:tr>
              <a:tr h="402981">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2</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1585605"/>
                  </a:ext>
                </a:extLst>
              </a:tr>
              <a:tr h="402981">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2</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038654"/>
                  </a:ext>
                </a:extLst>
              </a:tr>
              <a:tr h="402981">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2</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2263981"/>
                  </a:ext>
                </a:extLst>
              </a:tr>
              <a:tr h="402981">
                <a:tc>
                  <a:txBody>
                    <a:bodyPr/>
                    <a:lstStyle/>
                    <a:p>
                      <a:pPr algn="ctr"/>
                      <a:r>
                        <a:rPr lang="zh-TW" altLang="en-US" b="0" dirty="0">
                          <a:solidFill>
                            <a:sysClr val="windowText" lastClr="000000"/>
                          </a:solidFill>
                          <a:latin typeface="Times New Roman" panose="02020603050405020304" pitchFamily="18" charset="0"/>
                          <a:cs typeface="Times New Roman" panose="02020603050405020304" pitchFamily="18" charset="0"/>
                        </a:rPr>
                        <a:t>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1</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ysClr val="windowText" lastClr="000000"/>
                          </a:solidFill>
                          <a:latin typeface="Times New Roman" panose="02020603050405020304" pitchFamily="18" charset="0"/>
                          <a:cs typeface="Times New Roman" panose="02020603050405020304" pitchFamily="18" charset="0"/>
                        </a:rPr>
                        <a:t>2</a:t>
                      </a: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895984"/>
                  </a:ext>
                </a:extLst>
              </a:tr>
            </a:tbl>
          </a:graphicData>
        </a:graphic>
      </p:graphicFrame>
      <mc:AlternateContent xmlns:mc="http://schemas.openxmlformats.org/markup-compatibility/2006">
        <mc:Choice xmlns:a14="http://schemas.microsoft.com/office/drawing/2010/main" Requires="a14">
          <p:sp>
            <p:nvSpPr>
              <p:cNvPr id="12" name="文字方塊 11"/>
              <p:cNvSpPr txBox="1"/>
              <p:nvPr/>
            </p:nvSpPr>
            <p:spPr>
              <a:xfrm>
                <a:off x="1815566" y="1908469"/>
                <a:ext cx="8555227" cy="5178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𝑑</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𝑞</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𝑗</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𝑚𝑖𝑛</m:t>
                      </m:r>
                      <m:r>
                        <a:rPr lang="en-US" altLang="zh-TW" sz="2400" b="0" i="1" smtClean="0">
                          <a:latin typeface="Cambria Math" panose="02040503050406030204" pitchFamily="18" charset="0"/>
                        </a:rPr>
                        <m:t>⁡{ </m:t>
                      </m:r>
                      <m:r>
                        <a:rPr lang="zh-TW" altLang="en-US" sz="2400" b="0" i="1" smtClean="0">
                          <a:latin typeface="Cambria Math" panose="02040503050406030204" pitchFamily="18" charset="0"/>
                        </a:rPr>
                        <m:t>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 ,</m:t>
                      </m:r>
                      <m:r>
                        <a:rPr lang="zh-TW" altLang="en-US" sz="2400" b="0" i="1" smtClean="0">
                          <a:latin typeface="Cambria Math" panose="02040503050406030204" pitchFamily="18" charset="0"/>
                        </a:rPr>
                        <m:t>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 ,</m:t>
                      </m:r>
                      <m:r>
                        <a:rPr lang="zh-TW" altLang="en-US" sz="2400" b="0" i="1" smtClean="0">
                          <a:latin typeface="Cambria Math" panose="02040503050406030204" pitchFamily="18" charset="0"/>
                        </a:rPr>
                        <m:t>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 }</m:t>
                      </m:r>
                    </m:oMath>
                  </m:oMathPara>
                </a14:m>
                <a:endParaRPr lang="zh-TW" altLang="en-US" sz="2400" i="1" dirty="0"/>
              </a:p>
            </p:txBody>
          </p:sp>
        </mc:Choice>
        <mc:Fallback>
          <p:sp>
            <p:nvSpPr>
              <p:cNvPr id="12" name="文字方塊 11"/>
              <p:cNvSpPr txBox="1">
                <a:spLocks noRot="1" noChangeAspect="1" noMove="1" noResize="1" noEditPoints="1" noAdjustHandles="1" noChangeArrowheads="1" noChangeShapeType="1" noTextEdit="1"/>
              </p:cNvSpPr>
              <p:nvPr/>
            </p:nvSpPr>
            <p:spPr>
              <a:xfrm>
                <a:off x="1815566" y="1908469"/>
                <a:ext cx="8555227" cy="517834"/>
              </a:xfrm>
              <a:prstGeom prst="rect">
                <a:avLst/>
              </a:prstGeom>
              <a:blipFill>
                <a:blip r:embed="rId3"/>
                <a:stretch>
                  <a:fillRect/>
                </a:stretch>
              </a:blipFill>
            </p:spPr>
            <p:txBody>
              <a:bodyPr/>
              <a:lstStyle/>
              <a:p>
                <a:r>
                  <a:rPr lang="zh-TW" altLang="en-US">
                    <a:noFill/>
                  </a:rPr>
                  <a:t> </a:t>
                </a:r>
              </a:p>
            </p:txBody>
          </p:sp>
        </mc:Fallback>
      </mc:AlternateContent>
      <p:sp>
        <p:nvSpPr>
          <p:cNvPr id="13" name="箭號: 向右 12"/>
          <p:cNvSpPr/>
          <p:nvPr/>
        </p:nvSpPr>
        <p:spPr>
          <a:xfrm rot="16200000">
            <a:off x="4258736" y="6019800"/>
            <a:ext cx="293511" cy="17497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向右 13"/>
          <p:cNvSpPr/>
          <p:nvPr/>
        </p:nvSpPr>
        <p:spPr>
          <a:xfrm rot="16200000">
            <a:off x="4258737" y="5573006"/>
            <a:ext cx="293511" cy="17497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箭號: 向右 14"/>
          <p:cNvSpPr/>
          <p:nvPr/>
        </p:nvSpPr>
        <p:spPr>
          <a:xfrm rot="18899520">
            <a:off x="5133624" y="5194828"/>
            <a:ext cx="293511" cy="17497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右 15"/>
          <p:cNvSpPr/>
          <p:nvPr/>
        </p:nvSpPr>
        <p:spPr>
          <a:xfrm rot="16200000">
            <a:off x="5946425" y="4777140"/>
            <a:ext cx="293511" cy="17497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箭號: 向右 16"/>
          <p:cNvSpPr/>
          <p:nvPr/>
        </p:nvSpPr>
        <p:spPr>
          <a:xfrm rot="18920991">
            <a:off x="6747938" y="4404608"/>
            <a:ext cx="293511" cy="17497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右 17"/>
          <p:cNvSpPr/>
          <p:nvPr/>
        </p:nvSpPr>
        <p:spPr>
          <a:xfrm>
            <a:off x="8384832" y="3772427"/>
            <a:ext cx="293511" cy="17497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箭號: 向右 10"/>
          <p:cNvSpPr/>
          <p:nvPr/>
        </p:nvSpPr>
        <p:spPr>
          <a:xfrm rot="16200000">
            <a:off x="7577668" y="3958689"/>
            <a:ext cx="293511" cy="17497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61262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Derivative Dynamic Time Warping (DDTW)</a:t>
            </a:r>
            <a:endParaRPr lang="zh-TW" altLang="en-US"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050" y="2576580"/>
            <a:ext cx="10279900" cy="2661463"/>
          </a:xfrm>
          <a:prstGeom prst="rect">
            <a:avLst/>
          </a:prstGeom>
        </p:spPr>
      </p:pic>
    </p:spTree>
    <p:extLst>
      <p:ext uri="{BB962C8B-B14F-4D97-AF65-F5344CB8AC3E}">
        <p14:creationId xmlns:p14="http://schemas.microsoft.com/office/powerpoint/2010/main" val="37195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Derivative Dynamic Time Warping (DDTW)</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4875" y="2161265"/>
            <a:ext cx="9127018" cy="977045"/>
          </a:xfrm>
          <a:prstGeom prst="rect">
            <a:avLst/>
          </a:prstGeom>
        </p:spPr>
      </p:pic>
      <p:sp>
        <p:nvSpPr>
          <p:cNvPr id="6" name="文字方塊 5"/>
          <p:cNvSpPr txBox="1"/>
          <p:nvPr/>
        </p:nvSpPr>
        <p:spPr>
          <a:xfrm>
            <a:off x="1095021" y="3747912"/>
            <a:ext cx="6502400"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First element : use the estimate of second element</a:t>
            </a:r>
          </a:p>
          <a:p>
            <a:r>
              <a:rPr lang="en-US" altLang="zh-TW" sz="2000" dirty="0">
                <a:latin typeface="Times New Roman" panose="02020603050405020304" pitchFamily="18" charset="0"/>
                <a:cs typeface="Times New Roman" panose="02020603050405020304" pitchFamily="18" charset="0"/>
              </a:rPr>
              <a:t>Last element : use the estimate of penultimate element</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8307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p:cNvGrpSpPr/>
          <p:nvPr/>
        </p:nvGrpSpPr>
        <p:grpSpPr>
          <a:xfrm>
            <a:off x="4183578" y="5373513"/>
            <a:ext cx="3824842" cy="461665"/>
            <a:chOff x="2360564" y="5396089"/>
            <a:chExt cx="3824842" cy="461665"/>
          </a:xfrm>
        </p:grpSpPr>
        <p:sp>
          <p:nvSpPr>
            <p:cNvPr id="5" name="文字方塊 4"/>
            <p:cNvSpPr txBox="1"/>
            <p:nvPr/>
          </p:nvSpPr>
          <p:spPr>
            <a:xfrm>
              <a:off x="5196033" y="5396089"/>
              <a:ext cx="98937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mn</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p:cNvSpPr txBox="1"/>
            <p:nvPr/>
          </p:nvSpPr>
          <p:spPr>
            <a:xfrm>
              <a:off x="2360564" y="5396089"/>
              <a:ext cx="163538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Complexity</a:t>
              </a:r>
              <a:endParaRPr lang="zh-TW" altLang="en-US" sz="2400" dirty="0">
                <a:latin typeface="Times New Roman" panose="02020603050405020304" pitchFamily="18" charset="0"/>
                <a:cs typeface="Times New Roman" panose="02020603050405020304" pitchFamily="18" charset="0"/>
              </a:endParaRPr>
            </a:p>
          </p:txBody>
        </p:sp>
        <p:sp>
          <p:nvSpPr>
            <p:cNvPr id="7" name="箭號: 向右 6"/>
            <p:cNvSpPr/>
            <p:nvPr/>
          </p:nvSpPr>
          <p:spPr>
            <a:xfrm>
              <a:off x="4258737" y="5550427"/>
              <a:ext cx="674507" cy="19241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Derivative Dynamic Time Warping (DDTW)</a:t>
            </a:r>
            <a:endParaRPr lang="zh-TW" altLang="en-US"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7172" y="1690688"/>
            <a:ext cx="9197655" cy="2966451"/>
          </a:xfrm>
          <a:prstGeom prst="rect">
            <a:avLst/>
          </a:prstGeom>
        </p:spPr>
      </p:pic>
    </p:spTree>
    <p:extLst>
      <p:ext uri="{BB962C8B-B14F-4D97-AF65-F5344CB8AC3E}">
        <p14:creationId xmlns:p14="http://schemas.microsoft.com/office/powerpoint/2010/main" val="285526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838200" y="2062006"/>
            <a:ext cx="4540025" cy="954107"/>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1. Spurious warping</a:t>
            </a:r>
          </a:p>
          <a:p>
            <a:r>
              <a:rPr lang="en-US" altLang="zh-TW" sz="2800" dirty="0">
                <a:latin typeface="Times New Roman" panose="02020603050405020304" pitchFamily="18" charset="0"/>
                <a:cs typeface="Times New Roman" panose="02020603050405020304" pitchFamily="18" charset="0"/>
              </a:rPr>
              <a:t>2. Finding the correct warping</a:t>
            </a:r>
          </a:p>
        </p:txBody>
      </p:sp>
    </p:spTree>
    <p:extLst>
      <p:ext uri="{BB962C8B-B14F-4D97-AF65-F5344CB8AC3E}">
        <p14:creationId xmlns:p14="http://schemas.microsoft.com/office/powerpoint/2010/main" val="1463227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660537" y="1400537"/>
            <a:ext cx="11390298" cy="5232202"/>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Dataset:</a:t>
            </a:r>
          </a:p>
          <a:p>
            <a:r>
              <a:rPr lang="en-US" altLang="zh-TW"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1. Space Shuttle</a:t>
            </a:r>
            <a:r>
              <a:rPr lang="en-US" altLang="zh-TW" sz="2400" dirty="0">
                <a:latin typeface="Times New Roman" panose="02020603050405020304" pitchFamily="18" charset="0"/>
                <a:cs typeface="Times New Roman" panose="02020603050405020304" pitchFamily="18" charset="0"/>
              </a:rPr>
              <a:t>: </a:t>
            </a:r>
          </a:p>
          <a:p>
            <a:r>
              <a:rPr lang="en-US" altLang="zh-TW" sz="2400" dirty="0">
                <a:latin typeface="Times New Roman" panose="02020603050405020304" pitchFamily="18" charset="0"/>
                <a:cs typeface="Times New Roman" panose="02020603050405020304" pitchFamily="18" charset="0"/>
              </a:rPr>
              <a:t>			A set of 9 sequences from sensors that measured acceleration in </a:t>
            </a:r>
          </a:p>
          <a:p>
            <a:r>
              <a:rPr lang="en-US" altLang="zh-TW" sz="2400" dirty="0">
                <a:latin typeface="Times New Roman" panose="02020603050405020304" pitchFamily="18" charset="0"/>
                <a:cs typeface="Times New Roman" panose="02020603050405020304" pitchFamily="18" charset="0"/>
              </a:rPr>
              <a:t>			a particular direction during the first eight hours of Shuttle </a:t>
            </a:r>
          </a:p>
          <a:p>
            <a:r>
              <a:rPr lang="en-US" altLang="zh-TW" sz="2400" dirty="0">
                <a:latin typeface="Times New Roman" panose="02020603050405020304" pitchFamily="18" charset="0"/>
                <a:cs typeface="Times New Roman" panose="02020603050405020304" pitchFamily="18" charset="0"/>
              </a:rPr>
              <a:t>			Mission STS-57.</a:t>
            </a:r>
          </a:p>
          <a:p>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2. Exchange rate: </a:t>
            </a:r>
          </a:p>
          <a:p>
            <a:r>
              <a:rPr lang="en-US" altLang="zh-TW" sz="2400" dirty="0">
                <a:solidFill>
                  <a:srgbClr val="FF0000"/>
                </a:solidFill>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 set of 5 sequences containing the exchange rate between the </a:t>
            </a:r>
          </a:p>
          <a:p>
            <a:r>
              <a:rPr lang="en-US" altLang="zh-TW" sz="2400" dirty="0">
                <a:latin typeface="Times New Roman" panose="02020603050405020304" pitchFamily="18" charset="0"/>
                <a:cs typeface="Times New Roman" panose="02020603050405020304" pitchFamily="18" charset="0"/>
              </a:rPr>
              <a:t>			Deutsche Mark and five other European currencies over a six </a:t>
            </a:r>
          </a:p>
          <a:p>
            <a:r>
              <a:rPr lang="en-US" altLang="zh-TW" sz="2400" dirty="0">
                <a:latin typeface="Times New Roman" panose="02020603050405020304" pitchFamily="18" charset="0"/>
                <a:cs typeface="Times New Roman" panose="02020603050405020304" pitchFamily="18" charset="0"/>
              </a:rPr>
              <a:t>			month period.</a:t>
            </a:r>
          </a:p>
          <a:p>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3.EEG:</a:t>
            </a:r>
          </a:p>
          <a:p>
            <a:r>
              <a:rPr lang="en-US" altLang="zh-TW" sz="2400" dirty="0">
                <a:latin typeface="Times New Roman" panose="02020603050405020304" pitchFamily="18" charset="0"/>
                <a:cs typeface="Times New Roman" panose="02020603050405020304" pitchFamily="18" charset="0"/>
              </a:rPr>
              <a:t>			A set of 9 </a:t>
            </a:r>
            <a:r>
              <a:rPr lang="en-US" altLang="zh-TW" sz="2400" dirty="0" err="1">
                <a:latin typeface="Times New Roman" panose="02020603050405020304" pitchFamily="18" charset="0"/>
                <a:cs typeface="Times New Roman" panose="02020603050405020304" pitchFamily="18" charset="0"/>
              </a:rPr>
              <a:t>Electroencephalograghy</a:t>
            </a:r>
            <a:r>
              <a:rPr lang="en-US" altLang="zh-TW" sz="2400" dirty="0">
                <a:latin typeface="Times New Roman" panose="02020603050405020304" pitchFamily="18" charset="0"/>
                <a:cs typeface="Times New Roman" panose="02020603050405020304" pitchFamily="18" charset="0"/>
              </a:rPr>
              <a:t> measurements that were a subset </a:t>
            </a:r>
          </a:p>
          <a:p>
            <a:r>
              <a:rPr lang="en-US" altLang="zh-TW" sz="2400" dirty="0">
                <a:latin typeface="Times New Roman" panose="02020603050405020304" pitchFamily="18" charset="0"/>
                <a:cs typeface="Times New Roman" panose="02020603050405020304" pitchFamily="18" charset="0"/>
              </a:rPr>
              <a:t>			of sensors from 21-lead reading. Each sequence contains 514 </a:t>
            </a:r>
          </a:p>
          <a:p>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datapoints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5"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083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Spurious warping</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字方塊 3"/>
              <p:cNvSpPr txBox="1"/>
              <p:nvPr/>
            </p:nvSpPr>
            <p:spPr>
              <a:xfrm>
                <a:off x="838200" y="1817511"/>
                <a:ext cx="832631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All the sequences within a dataset have the same length :  </a:t>
                </a:r>
                <a14:m>
                  <m:oMath xmlns:m="http://schemas.openxmlformats.org/officeDocument/2006/math">
                    <m:r>
                      <a:rPr lang="en-US" altLang="zh-TW" sz="2400" b="0" i="1" smtClean="0">
                        <a:solidFill>
                          <a:srgbClr val="FF0000"/>
                        </a:solidFill>
                        <a:latin typeface="Cambria Math" panose="02040503050406030204" pitchFamily="18" charset="0"/>
                      </a:rPr>
                      <m:t>𝑚</m:t>
                    </m:r>
                    <m:r>
                      <a:rPr lang="en-US" altLang="zh-TW" sz="2400" b="0" i="1" smtClean="0">
                        <a:solidFill>
                          <a:srgbClr val="FF0000"/>
                        </a:solidFill>
                        <a:latin typeface="Cambria Math" panose="02040503050406030204" pitchFamily="18" charset="0"/>
                      </a:rPr>
                      <m:t>=</m:t>
                    </m:r>
                    <m:r>
                      <a:rPr lang="en-US" altLang="zh-TW" sz="2400" b="0" i="1" smtClean="0">
                        <a:solidFill>
                          <a:srgbClr val="FF0000"/>
                        </a:solidFill>
                        <a:latin typeface="Cambria Math" panose="02040503050406030204" pitchFamily="18" charset="0"/>
                      </a:rPr>
                      <m:t>𝑛</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838200" y="1817511"/>
                <a:ext cx="8326318" cy="461665"/>
              </a:xfrm>
              <a:prstGeom prst="rect">
                <a:avLst/>
              </a:prstGeom>
              <a:blipFill>
                <a:blip r:embed="rId2"/>
                <a:stretch>
                  <a:fillRect l="-1172" t="-10526" b="-28947"/>
                </a:stretch>
              </a:blipFill>
            </p:spPr>
            <p:txBody>
              <a:bodyPr/>
              <a:lstStyle/>
              <a:p>
                <a:r>
                  <a:rPr lang="zh-TW" altLang="en-US">
                    <a:noFill/>
                  </a:rPr>
                  <a:t> </a:t>
                </a:r>
              </a:p>
            </p:txBody>
          </p:sp>
        </mc:Fallback>
      </mc:AlternateContent>
      <p:grpSp>
        <p:nvGrpSpPr>
          <p:cNvPr id="8" name="群組 7"/>
          <p:cNvGrpSpPr/>
          <p:nvPr/>
        </p:nvGrpSpPr>
        <p:grpSpPr>
          <a:xfrm>
            <a:off x="2216020" y="2513965"/>
            <a:ext cx="7759960" cy="461667"/>
            <a:chOff x="590226" y="3131443"/>
            <a:chExt cx="7759960" cy="461667"/>
          </a:xfrm>
        </p:grpSpPr>
        <mc:AlternateContent xmlns:mc="http://schemas.openxmlformats.org/markup-compatibility/2006" xmlns:a14="http://schemas.microsoft.com/office/drawing/2010/main">
          <mc:Choice Requires="a14">
            <p:sp>
              <p:nvSpPr>
                <p:cNvPr id="5" name="矩形 4"/>
                <p:cNvSpPr/>
                <p:nvPr/>
              </p:nvSpPr>
              <p:spPr>
                <a:xfrm>
                  <a:off x="590226" y="3131445"/>
                  <a:ext cx="4411133"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cs typeface="Times New Roman" panose="02020603050405020304" pitchFamily="18" charset="0"/>
                          </a:rPr>
                          <m:t>𝑚𝑎𝑥</m:t>
                        </m:r>
                        <m:d>
                          <m:dPr>
                            <m:ctrlPr>
                              <a:rPr lang="en-US" altLang="zh-TW" sz="2400" i="1">
                                <a:latin typeface="Cambria Math" panose="02040503050406030204" pitchFamily="18" charset="0"/>
                                <a:cs typeface="Times New Roman" panose="02020603050405020304" pitchFamily="18" charset="0"/>
                              </a:rPr>
                            </m:ctrlPr>
                          </m:dPr>
                          <m:e>
                            <m:r>
                              <a:rPr lang="en-US" altLang="zh-TW" sz="2400" i="1">
                                <a:latin typeface="Cambria Math" panose="02040503050406030204" pitchFamily="18" charset="0"/>
                                <a:cs typeface="Times New Roman" panose="02020603050405020304" pitchFamily="18" charset="0"/>
                              </a:rPr>
                              <m:t>𝑚</m:t>
                            </m:r>
                            <m:r>
                              <a:rPr lang="en-US" altLang="zh-TW" sz="2400" i="1">
                                <a:latin typeface="Cambria Math" panose="02040503050406030204" pitchFamily="18" charset="0"/>
                                <a:cs typeface="Times New Roman" panose="02020603050405020304" pitchFamily="18" charset="0"/>
                              </a:rPr>
                              <m:t>,</m:t>
                            </m:r>
                            <m:r>
                              <a:rPr lang="en-US" altLang="zh-TW" sz="2400" i="1">
                                <a:latin typeface="Cambria Math" panose="02040503050406030204" pitchFamily="18" charset="0"/>
                                <a:cs typeface="Times New Roman" panose="02020603050405020304" pitchFamily="18" charset="0"/>
                              </a:rPr>
                              <m:t>𝑛</m:t>
                            </m:r>
                          </m:e>
                        </m:d>
                        <m:r>
                          <a:rPr lang="en-US" altLang="zh-TW" sz="24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𝐾</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𝑚</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𝑛</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zh-TW"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590226" y="3131445"/>
                  <a:ext cx="4411133" cy="461665"/>
                </a:xfrm>
                <a:prstGeom prst="rect">
                  <a:avLst/>
                </a:prstGeom>
                <a:blipFill>
                  <a:blip r:embed="rId3"/>
                  <a:stretch>
                    <a:fillRect/>
                  </a:stretch>
                </a:blipFill>
              </p:spPr>
              <p:txBody>
                <a:bodyPr/>
                <a:lstStyle/>
                <a:p>
                  <a:r>
                    <a:rPr lang="zh-TW" altLang="en-US">
                      <a:noFill/>
                    </a:rPr>
                    <a:t> </a:t>
                  </a:r>
                </a:p>
              </p:txBody>
            </p:sp>
          </mc:Fallback>
        </mc:AlternateContent>
        <p:sp>
          <p:nvSpPr>
            <p:cNvPr id="6" name="箭號: 向右 5"/>
            <p:cNvSpPr/>
            <p:nvPr/>
          </p:nvSpPr>
          <p:spPr>
            <a:xfrm>
              <a:off x="5001359" y="3266069"/>
              <a:ext cx="674507" cy="19241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 name="文字方塊 6"/>
                <p:cNvSpPr txBox="1"/>
                <p:nvPr/>
              </p:nvSpPr>
              <p:spPr>
                <a:xfrm>
                  <a:off x="5836356" y="3131443"/>
                  <a:ext cx="251383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𝑚</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𝐾</m:t>
                        </m:r>
                        <m:r>
                          <a:rPr lang="en-US" altLang="zh-TW" sz="2400" b="0" i="1" smtClean="0">
                            <a:latin typeface="Cambria Math" panose="02040503050406030204" pitchFamily="18" charset="0"/>
                            <a:ea typeface="Cambria Math" panose="02040503050406030204" pitchFamily="18" charset="0"/>
                          </a:rPr>
                          <m:t>&lt;2</m:t>
                        </m:r>
                        <m:r>
                          <a:rPr lang="en-US" altLang="zh-TW" sz="2400" b="0" i="1" smtClean="0">
                            <a:latin typeface="Cambria Math" panose="02040503050406030204" pitchFamily="18" charset="0"/>
                            <a:ea typeface="Cambria Math" panose="02040503050406030204" pitchFamily="18" charset="0"/>
                          </a:rPr>
                          <m:t>𝑚</m:t>
                        </m:r>
                        <m:r>
                          <a:rPr lang="en-US" altLang="zh-TW" sz="2400" b="0" i="1" smtClean="0">
                            <a:latin typeface="Cambria Math" panose="02040503050406030204" pitchFamily="18" charset="0"/>
                            <a:ea typeface="Cambria Math" panose="02040503050406030204" pitchFamily="18" charset="0"/>
                          </a:rPr>
                          <m:t>−1</m:t>
                        </m:r>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836356" y="3131443"/>
                  <a:ext cx="2513830" cy="461665"/>
                </a:xfrm>
                <a:prstGeom prst="rect">
                  <a:avLst/>
                </a:prstGeom>
                <a:blipFill>
                  <a:blip r:embed="rId4"/>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1" name="文字方塊 10"/>
              <p:cNvSpPr txBox="1"/>
              <p:nvPr/>
            </p:nvSpPr>
            <p:spPr>
              <a:xfrm>
                <a:off x="4244622" y="3182071"/>
                <a:ext cx="3702756" cy="616836"/>
              </a:xfrm>
              <a:prstGeom prst="rect">
                <a:avLst/>
              </a:prstGeom>
              <a:noFill/>
            </p:spPr>
            <p:txBody>
              <a:bodyPr wrap="square" rtlCol="0">
                <a:spAutoFit/>
              </a:bodyPr>
              <a:lstStyle/>
              <a:p>
                <a14:m>
                  <m:oMath xmlns:m="http://schemas.openxmlformats.org/officeDocument/2006/math">
                    <m:r>
                      <a:rPr lang="en-US" altLang="zh-TW" sz="2400" b="0" i="1" smtClean="0">
                        <a:latin typeface="Cambria Math" panose="02040503050406030204" pitchFamily="18" charset="0"/>
                      </a:rPr>
                      <m:t>𝑊</m:t>
                    </m:r>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𝐾</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m:t>
                        </m:r>
                      </m:num>
                      <m:den>
                        <m:r>
                          <a:rPr lang="en-US" altLang="zh-TW" sz="2400" b="0" i="1" smtClean="0">
                            <a:latin typeface="Cambria Math" panose="02040503050406030204" pitchFamily="18" charset="0"/>
                          </a:rPr>
                          <m:t>𝑚</m:t>
                        </m:r>
                      </m:den>
                    </m:f>
                  </m:oMath>
                </a14:m>
                <a:r>
                  <a:rPr lang="zh-TW" altLang="en-US" sz="2400" dirty="0"/>
                  <a:t>   </a:t>
                </a:r>
                <a:r>
                  <a:rPr lang="en-US" altLang="zh-TW" sz="2400" dirty="0"/>
                  <a:t>	</a:t>
                </a:r>
                <a14:m>
                  <m:oMath xmlns:m="http://schemas.openxmlformats.org/officeDocument/2006/math">
                    <m:r>
                      <a:rPr lang="en-US" altLang="zh-TW" sz="2400" b="0" i="1" smtClean="0">
                        <a:latin typeface="Cambria Math" panose="02040503050406030204" pitchFamily="18" charset="0"/>
                      </a:rPr>
                      <m:t>0</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𝑊</m:t>
                    </m:r>
                    <m:r>
                      <a:rPr lang="en-US" altLang="zh-TW" sz="2400" b="0" i="1" smtClean="0">
                        <a:latin typeface="Cambria Math" panose="02040503050406030204" pitchFamily="18" charset="0"/>
                        <a:ea typeface="Cambria Math" panose="02040503050406030204" pitchFamily="18" charset="0"/>
                      </a:rPr>
                      <m:t>&lt;1</m:t>
                    </m:r>
                  </m:oMath>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4244622" y="3182071"/>
                <a:ext cx="3702756" cy="616836"/>
              </a:xfrm>
              <a:prstGeom prst="rect">
                <a:avLst/>
              </a:prstGeom>
              <a:blipFill>
                <a:blip r:embed="rId5"/>
                <a:stretch>
                  <a:fillRect/>
                </a:stretch>
              </a:blipFill>
            </p:spPr>
            <p:txBody>
              <a:bodyPr/>
              <a:lstStyle/>
              <a:p>
                <a:r>
                  <a:rPr lang="zh-TW" altLang="en-US">
                    <a:noFill/>
                  </a:rPr>
                  <a:t> </a:t>
                </a:r>
              </a:p>
            </p:txBody>
          </p:sp>
        </mc:Fallback>
      </mc:AlternateContent>
      <p:pic>
        <p:nvPicPr>
          <p:cNvPr id="12" name="圖片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1293" y="4005346"/>
            <a:ext cx="8184687" cy="2564787"/>
          </a:xfrm>
          <a:prstGeom prst="rect">
            <a:avLst/>
          </a:prstGeom>
        </p:spPr>
      </p:pic>
    </p:spTree>
    <p:extLst>
      <p:ext uri="{BB962C8B-B14F-4D97-AF65-F5344CB8AC3E}">
        <p14:creationId xmlns:p14="http://schemas.microsoft.com/office/powerpoint/2010/main" val="29340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Spurious warping</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8396" y="1521353"/>
            <a:ext cx="9035207" cy="5106191"/>
          </a:xfrm>
          <a:prstGeom prst="rect">
            <a:avLst/>
          </a:prstGeom>
        </p:spPr>
      </p:pic>
    </p:spTree>
    <p:extLst>
      <p:ext uri="{BB962C8B-B14F-4D97-AF65-F5344CB8AC3E}">
        <p14:creationId xmlns:p14="http://schemas.microsoft.com/office/powerpoint/2010/main" val="2956362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Finding the correct warping</a:t>
            </a:r>
            <a:endParaRPr lang="zh-TW" altLang="en-US" dirty="0">
              <a:latin typeface="Times New Roman" panose="02020603050405020304" pitchFamily="18" charset="0"/>
              <a:cs typeface="Times New Roman" panose="02020603050405020304" pitchFamily="18" charset="0"/>
            </a:endParaRPr>
          </a:p>
        </p:txBody>
      </p:sp>
      <p:sp>
        <p:nvSpPr>
          <p:cNvPr id="5" name="文字方塊 4"/>
          <p:cNvSpPr txBox="1"/>
          <p:nvPr/>
        </p:nvSpPr>
        <p:spPr>
          <a:xfrm>
            <a:off x="838200" y="2201333"/>
            <a:ext cx="9626600" cy="1938992"/>
          </a:xfrm>
          <a:prstGeom prst="rect">
            <a:avLst/>
          </a:prstGeom>
          <a:noFill/>
        </p:spPr>
        <p:txBody>
          <a:bodyPr wrap="square" rtlCol="0">
            <a:spAutoFit/>
          </a:bodyPr>
          <a:lstStyle/>
          <a:p>
            <a:pPr marL="342900" indent="-342900">
              <a:buFontTx/>
              <a:buChar char="-"/>
            </a:pPr>
            <a:r>
              <a:rPr lang="en-US" altLang="zh-TW" sz="2400" dirty="0">
                <a:latin typeface="Times New Roman" panose="02020603050405020304" pitchFamily="18" charset="0"/>
                <a:cs typeface="Times New Roman" panose="02020603050405020304" pitchFamily="18" charset="0"/>
              </a:rPr>
              <a:t>Copy a sequence </a:t>
            </a:r>
            <a:r>
              <a:rPr lang="en-US" altLang="zh-TW" sz="2400" i="1" dirty="0">
                <a:latin typeface="Times New Roman" panose="02020603050405020304" pitchFamily="18" charset="0"/>
                <a:cs typeface="Times New Roman" panose="02020603050405020304" pitchFamily="18" charset="0"/>
              </a:rPr>
              <a:t>Q</a:t>
            </a:r>
            <a:r>
              <a:rPr lang="en-US" altLang="zh-TW" sz="2400" dirty="0">
                <a:latin typeface="Times New Roman" panose="02020603050405020304" pitchFamily="18" charset="0"/>
                <a:cs typeface="Times New Roman" panose="02020603050405020304" pitchFamily="18" charset="0"/>
              </a:rPr>
              <a:t> to make </a:t>
            </a:r>
            <a:r>
              <a:rPr lang="en-US" altLang="zh-TW" sz="2400" i="1" dirty="0">
                <a:latin typeface="Times New Roman" panose="02020603050405020304" pitchFamily="18" charset="0"/>
                <a:cs typeface="Times New Roman" panose="02020603050405020304" pitchFamily="18" charset="0"/>
              </a:rPr>
              <a:t>Q’</a:t>
            </a:r>
          </a:p>
          <a:p>
            <a:pPr marL="342900" indent="-342900">
              <a:buFontTx/>
              <a:buChar char="-"/>
            </a:pPr>
            <a:r>
              <a:rPr lang="en-US" altLang="zh-TW" sz="2400" dirty="0">
                <a:latin typeface="Times New Roman" panose="02020603050405020304" pitchFamily="18" charset="0"/>
                <a:cs typeface="Times New Roman" panose="02020603050405020304" pitchFamily="18" charset="0"/>
              </a:rPr>
              <a:t>Randomly choose an anchor point in </a:t>
            </a:r>
            <a:r>
              <a:rPr lang="en-US" altLang="zh-TW" sz="2400" i="1" dirty="0">
                <a:latin typeface="Times New Roman" panose="02020603050405020304" pitchFamily="18" charset="0"/>
                <a:cs typeface="Times New Roman" panose="02020603050405020304" pitchFamily="18" charset="0"/>
              </a:rPr>
              <a:t>Q’</a:t>
            </a:r>
            <a:endParaRPr lang="en-US" altLang="zh-TW" sz="2400" dirty="0">
              <a:latin typeface="Times New Roman" panose="02020603050405020304" pitchFamily="18" charset="0"/>
              <a:cs typeface="Times New Roman" panose="02020603050405020304" pitchFamily="18" charset="0"/>
            </a:endParaRPr>
          </a:p>
          <a:p>
            <a:pPr marL="342900" indent="-342900">
              <a:buFontTx/>
              <a:buChar char="-"/>
            </a:pPr>
            <a:r>
              <a:rPr lang="en-US" altLang="zh-TW" sz="2400" dirty="0">
                <a:latin typeface="Times New Roman" panose="02020603050405020304" pitchFamily="18" charset="0"/>
                <a:cs typeface="Times New Roman" panose="02020603050405020304" pitchFamily="18" charset="0"/>
              </a:rPr>
              <a:t>Distort the Y-axis by adding or subtracting 0.0 , 0.1 and 0.2</a:t>
            </a:r>
          </a:p>
          <a:p>
            <a:pPr marL="342900" indent="-342900">
              <a:buFontTx/>
              <a:buChar char="-"/>
            </a:pPr>
            <a:r>
              <a:rPr lang="en-US" altLang="zh-TW" sz="2400" dirty="0">
                <a:latin typeface="Times New Roman" panose="02020603050405020304" pitchFamily="18" charset="0"/>
                <a:cs typeface="Times New Roman" panose="02020603050405020304" pitchFamily="18" charset="0"/>
              </a:rPr>
              <a:t>Randomly shifted the anchor point 15 time-units left or right (</a:t>
            </a:r>
            <a:r>
              <a:rPr lang="en-US" altLang="zh-TW" sz="2400" dirty="0">
                <a:solidFill>
                  <a:srgbClr val="FF0000"/>
                </a:solidFill>
                <a:latin typeface="Times New Roman" panose="02020603050405020304" pitchFamily="18" charset="0"/>
                <a:cs typeface="Times New Roman" panose="02020603050405020304" pitchFamily="18" charset="0"/>
              </a:rPr>
              <a:t>inverse distance interpolation</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6061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Finding the correct warping</a:t>
            </a:r>
            <a:endParaRPr lang="zh-TW" altLang="en-US"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995" y="2056475"/>
            <a:ext cx="9452009" cy="1149569"/>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104" y="3206044"/>
            <a:ext cx="8687790" cy="2930569"/>
          </a:xfrm>
          <a:prstGeom prst="rect">
            <a:avLst/>
          </a:prstGeom>
        </p:spPr>
      </p:pic>
    </p:spTree>
    <p:extLst>
      <p:ext uri="{BB962C8B-B14F-4D97-AF65-F5344CB8AC3E}">
        <p14:creationId xmlns:p14="http://schemas.microsoft.com/office/powerpoint/2010/main" val="4089978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Finding the correct warping</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4788" y="1589088"/>
            <a:ext cx="9802424" cy="4396550"/>
          </a:xfrm>
          <a:prstGeom prst="rect">
            <a:avLst/>
          </a:prstGeom>
        </p:spPr>
      </p:pic>
    </p:spTree>
    <p:extLst>
      <p:ext uri="{BB962C8B-B14F-4D97-AF65-F5344CB8AC3E}">
        <p14:creationId xmlns:p14="http://schemas.microsoft.com/office/powerpoint/2010/main" val="133550978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446</Words>
  <Application>Microsoft Office PowerPoint</Application>
  <PresentationFormat>寬螢幕</PresentationFormat>
  <Paragraphs>133</Paragraphs>
  <Slides>18</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18</vt:i4>
      </vt:variant>
    </vt:vector>
  </HeadingPairs>
  <TitlesOfParts>
    <vt:vector size="25" baseType="lpstr">
      <vt:lpstr>新細明體</vt:lpstr>
      <vt:lpstr>Arial</vt:lpstr>
      <vt:lpstr>Calibri</vt:lpstr>
      <vt:lpstr>Calibri Light</vt:lpstr>
      <vt:lpstr>Cambria Math</vt:lpstr>
      <vt:lpstr>Times New Roman</vt:lpstr>
      <vt:lpstr>Office 佈景主題</vt:lpstr>
      <vt:lpstr>Derivative Dynamic Time Warping</vt:lpstr>
      <vt:lpstr>Abstract(1/3)</vt:lpstr>
      <vt:lpstr>Abstract(2/3)</vt:lpstr>
      <vt:lpstr>Abstract(3/3)</vt:lpstr>
      <vt:lpstr>Dynamic Time Warping (DTW)</vt:lpstr>
      <vt:lpstr>Dynamic Time Warping (DTW)</vt:lpstr>
      <vt:lpstr>Dynamic Time Warping (DTW)</vt:lpstr>
      <vt:lpstr>Dynamic Time Warping (DTW)</vt:lpstr>
      <vt:lpstr>Derivative Dynamic Time Warping (DDTW)</vt:lpstr>
      <vt:lpstr>Derivative Dynamic Time Warping (DDTW)</vt:lpstr>
      <vt:lpstr>Derivative Dynamic Time Warping (DDTW)</vt:lpstr>
      <vt:lpstr>Experiment</vt:lpstr>
      <vt:lpstr>Experiment</vt:lpstr>
      <vt:lpstr>Spurious warping</vt:lpstr>
      <vt:lpstr>Spurious warping</vt:lpstr>
      <vt:lpstr>Finding the correct warping</vt:lpstr>
      <vt:lpstr>Finding the correct warping</vt:lpstr>
      <vt:lpstr>Finding the correct warping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Derivative Dynamic Time Warping</dc:title>
  <dc:creator>Caros</dc:creator>
  <cp:lastModifiedBy>Caros</cp:lastModifiedBy>
  <cp:revision>70</cp:revision>
  <dcterms:created xsi:type="dcterms:W3CDTF">2016-12-31T06:46:22Z</dcterms:created>
  <dcterms:modified xsi:type="dcterms:W3CDTF">2017-01-03T08:01:44Z</dcterms:modified>
</cp:coreProperties>
</file>