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0" r:id="rId3"/>
    <p:sldId id="261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0" autoAdjust="0"/>
    <p:restoredTop sz="88876" autoAdjust="0"/>
  </p:normalViewPr>
  <p:slideViewPr>
    <p:cSldViewPr snapToGrid="0">
      <p:cViewPr varScale="1">
        <p:scale>
          <a:sx n="75" d="100"/>
          <a:sy n="75" d="100"/>
        </p:scale>
        <p:origin x="948" y="1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074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442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373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7161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528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727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255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802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08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263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algorithm for 3-letter longest common weakly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subsequence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060448"/>
            <a:ext cx="8353402" cy="4111751"/>
          </a:xfrm>
        </p:spPr>
        <p:txBody>
          <a:bodyPr>
            <a:noAutofit/>
          </a:bodyPr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Lech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Duraj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113 (2013)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94–99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 2017/12/20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of ﬁnding a longest weakly increasing common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(LCWIS)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sequences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variant of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popular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subsequence (LCS) problem. While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no known methods to ﬁnd LCS in truly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subquadratic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there are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faster algorithms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compute LCWIS if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alphabet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is small enough. We present a linear-time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ﬁnding LCWIS over 3-letter alphabet. Up to now,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fastest known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was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(min{m + n log n, m log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m}), where m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 lengths of the sequences.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Add_Algorithm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1581665"/>
                <a:ext cx="7886700" cy="424073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1 1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1 0 1 0 1 2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1 1 1 1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0 1 2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(k, s, p) = (Z[k], score(k, T[j]), surplus(k, T[j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]))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maintain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invariants surplus(t) &lt; surplus(next(t)) and score(t) &gt; score(next(t)) for every possible iterator t .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maintain the invariants surplus(t) &gt; surplus(next(t)) and score(t) &gt; score(next(t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)).</a:t>
                </a:r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{(1, 4, -1)}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1581665"/>
                <a:ext cx="7886700" cy="4240732"/>
              </a:xfrm>
              <a:blipFill rotWithShape="0">
                <a:blip r:embed="rId3"/>
                <a:stretch>
                  <a:fillRect l="-1546" t="-2443" r="-2473" b="-267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/>
          <p:nvPr/>
        </p:nvCxnSpPr>
        <p:spPr>
          <a:xfrm flipH="1" flipV="1">
            <a:off x="2866768" y="1475324"/>
            <a:ext cx="531341" cy="106207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 flipV="1">
            <a:off x="1665331" y="1407363"/>
            <a:ext cx="12357" cy="13000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79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84023" y="1581665"/>
                <a:ext cx="7886700" cy="424073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1 1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1 0 1 0 1 2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1 1 1 1</a:t>
                </a:r>
                <a:r>
                  <a:rPr lang="en-US" altLang="zh-TW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0 1 2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(k, s, p) = (Z[k], score(k, T[j]), surplus(k, T[j]))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{(2, 1, 2)}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{(1, 4, -1)}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4023" y="1581665"/>
                <a:ext cx="7886700" cy="4240732"/>
              </a:xfrm>
              <a:blipFill rotWithShape="0">
                <a:blip r:embed="rId3"/>
                <a:stretch>
                  <a:fillRect l="-1546" t="-24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/>
          <p:nvPr/>
        </p:nvCxnSpPr>
        <p:spPr>
          <a:xfrm flipH="1" flipV="1">
            <a:off x="2866768" y="1475324"/>
            <a:ext cx="531341" cy="106207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 flipV="1">
            <a:off x="1853514" y="1471060"/>
            <a:ext cx="1371600" cy="10663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99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Update_Algorithm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70985" y="1581665"/>
                <a:ext cx="8199738" cy="4572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0 1 1 2 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0 1 0 1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0 1 1 1 1</a:t>
                </a:r>
                <a:r>
                  <a:rPr lang="en-US" altLang="zh-TW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0 1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{(2, 1, 2)}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{(1, 4, -1)}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{}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985" y="1581665"/>
                <a:ext cx="8199738" cy="4572000"/>
              </a:xfrm>
              <a:blipFill rotWithShape="0">
                <a:blip r:embed="rId3"/>
                <a:stretch>
                  <a:fillRect l="-1561" t="-22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>
            <a:endCxn id="2" idx="2"/>
          </p:cNvCxnSpPr>
          <p:nvPr/>
        </p:nvCxnSpPr>
        <p:spPr>
          <a:xfrm flipV="1">
            <a:off x="3535450" y="1471059"/>
            <a:ext cx="978885" cy="11047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2529020" y="1404220"/>
            <a:ext cx="554766" cy="11716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514335" y="3604463"/>
                <a:ext cx="2451761" cy="1512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{(2, 1,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{}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{(1,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335" y="3604463"/>
                <a:ext cx="2451761" cy="1512209"/>
              </a:xfrm>
              <a:prstGeom prst="rect">
                <a:avLst/>
              </a:prstGeom>
              <a:blipFill rotWithShape="0">
                <a:blip r:embed="rId4"/>
                <a:stretch>
                  <a:fillRect t="-6855" r="-3731" b="-104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向右箭號 17"/>
          <p:cNvSpPr/>
          <p:nvPr/>
        </p:nvSpPr>
        <p:spPr>
          <a:xfrm>
            <a:off x="3535450" y="4079042"/>
            <a:ext cx="632212" cy="3845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20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70985" y="1581665"/>
                <a:ext cx="8199738" cy="4572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0 1 1 2 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0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0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0 1 1 1 1</a:t>
                </a:r>
                <a:r>
                  <a:rPr lang="en-US" altLang="zh-TW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0 1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{(2, 1,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{}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{(1,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985" y="1581665"/>
                <a:ext cx="8199738" cy="4572000"/>
              </a:xfrm>
              <a:blipFill rotWithShape="0">
                <a:blip r:embed="rId3"/>
                <a:stretch>
                  <a:fillRect l="-1561" t="-22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>
            <a:endCxn id="2" idx="2"/>
          </p:cNvCxnSpPr>
          <p:nvPr/>
        </p:nvCxnSpPr>
        <p:spPr>
          <a:xfrm flipV="1">
            <a:off x="3535450" y="1471059"/>
            <a:ext cx="978885" cy="11047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 flipV="1">
            <a:off x="2529020" y="1404220"/>
            <a:ext cx="554766" cy="11716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514335" y="3604461"/>
                <a:ext cx="3748847" cy="1512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{(1, 5,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(2, 1,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{}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{}</a:t>
                </a: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335" y="3604461"/>
                <a:ext cx="3748847" cy="1512209"/>
              </a:xfrm>
              <a:prstGeom prst="rect">
                <a:avLst/>
              </a:prstGeom>
              <a:blipFill rotWithShape="0">
                <a:blip r:embed="rId4"/>
                <a:stretch>
                  <a:fillRect t="-6855" r="-2602" b="-104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向右箭號 10"/>
          <p:cNvSpPr/>
          <p:nvPr/>
        </p:nvSpPr>
        <p:spPr>
          <a:xfrm>
            <a:off x="3535450" y="4079042"/>
            <a:ext cx="632212" cy="3845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63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0985" y="14549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70985" y="1581665"/>
                <a:ext cx="8199738" cy="4572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0 1 1 2 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0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0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0 1 1 1 1</a:t>
                </a:r>
                <a:r>
                  <a:rPr lang="en-US" altLang="zh-TW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(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the total time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 of all Update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calls is O (m + n).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985" y="1581665"/>
                <a:ext cx="8199738" cy="4572000"/>
              </a:xfrm>
              <a:blipFill rotWithShape="0">
                <a:blip r:embed="rId3"/>
                <a:stretch>
                  <a:fillRect l="-1561" t="-2267" b="-148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>
            <a:endCxn id="2" idx="2"/>
          </p:cNvCxnSpPr>
          <p:nvPr/>
        </p:nvCxnSpPr>
        <p:spPr>
          <a:xfrm flipV="1">
            <a:off x="3535450" y="1471059"/>
            <a:ext cx="978885" cy="11047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54" y="1144815"/>
            <a:ext cx="4619061" cy="2315219"/>
          </a:xfrm>
          <a:prstGeom prst="rect">
            <a:avLst/>
          </a:prstGeom>
        </p:spPr>
      </p:pic>
      <p:cxnSp>
        <p:nvCxnSpPr>
          <p:cNvPr id="9" name="直線接點 8"/>
          <p:cNvCxnSpPr/>
          <p:nvPr/>
        </p:nvCxnSpPr>
        <p:spPr>
          <a:xfrm flipH="1" flipV="1">
            <a:off x="2529020" y="1404220"/>
            <a:ext cx="554766" cy="11716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854" y="3460034"/>
            <a:ext cx="4466428" cy="29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9492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Add_Algorithm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631092"/>
                <a:ext cx="8199738" cy="4572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0 1 1 2 1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0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0 1 1 1 1</a:t>
                </a:r>
                <a:r>
                  <a:rPr lang="en-US" altLang="zh-TW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strike="sngStrik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(3, 2, 1)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 6, 1), (2, 2, 4)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 + 1 = 7</a:t>
                </a: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31092"/>
                <a:ext cx="8199738" cy="4572000"/>
              </a:xfrm>
              <a:blipFill rotWithShape="0">
                <a:blip r:embed="rId3"/>
                <a:stretch>
                  <a:fillRect l="-1487" t="-2400" b="-36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/>
          <p:cNvCxnSpPr>
            <a:endCxn id="2" idx="2"/>
          </p:cNvCxnSpPr>
          <p:nvPr/>
        </p:nvCxnSpPr>
        <p:spPr>
          <a:xfrm flipV="1">
            <a:off x="2964465" y="1520486"/>
            <a:ext cx="978885" cy="110476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655546" y="1520486"/>
            <a:ext cx="0" cy="12558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107" y="1198605"/>
            <a:ext cx="4075533" cy="5004487"/>
          </a:xfrm>
          <a:prstGeom prst="rect">
            <a:avLst/>
          </a:prstGeom>
        </p:spPr>
      </p:pic>
      <p:cxnSp>
        <p:nvCxnSpPr>
          <p:cNvPr id="11" name="直線接點 10"/>
          <p:cNvCxnSpPr/>
          <p:nvPr/>
        </p:nvCxnSpPr>
        <p:spPr>
          <a:xfrm flipH="1" flipV="1">
            <a:off x="1910190" y="1453647"/>
            <a:ext cx="554766" cy="11716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06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6649" y="-163747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20130" y="939115"/>
                <a:ext cx="8199738" cy="56717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3.2.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|surplus(k, T[j]) − surplus(k − 1, T[j])|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d( Z[k − 1], Z[k]);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|surplus(k, T[j]) − surplus(k − 1, T[j − 1])|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d(T[j − 1], T[j]) + d( Z[k − 1], Z[k]).</a:t>
                </a:r>
              </a:p>
              <a:p>
                <a:pPr marL="0" indent="0">
                  <a:buNone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1 1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1 0 1 0 1 2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0 1 1 1 1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0 1 2 </a:t>
                </a:r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lphaLcParenR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2 – (-1) |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+ 5   =&gt;  3 &lt; 7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看</a:t>
                </a:r>
                <a:r>
                  <a:rPr lang="zh-TW" altLang="en-US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移動</a:t>
                </a:r>
                <a:r>
                  <a:rPr lang="zh-TW" altLang="en-US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位置的次</a:t>
                </a:r>
                <a:r>
                  <a:rPr lang="zh-TW" altLang="en-US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數</a:t>
                </a:r>
                <a:r>
                  <a:rPr lang="zh-TW" altLang="en-US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那就是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surplus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最多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移動的次數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130" y="939115"/>
                <a:ext cx="8199738" cy="5671750"/>
              </a:xfrm>
              <a:blipFill rotWithShape="0">
                <a:blip r:embed="rId3"/>
                <a:stretch>
                  <a:fillRect l="-1561" t="-1828" r="-1338" b="-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/>
          <p:cNvCxnSpPr/>
          <p:nvPr/>
        </p:nvCxnSpPr>
        <p:spPr>
          <a:xfrm flipH="1" flipV="1">
            <a:off x="2408602" y="3772335"/>
            <a:ext cx="606610" cy="11381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1213663" y="3772335"/>
            <a:ext cx="0" cy="12558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2066789" y="3403003"/>
            <a:ext cx="543739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T[j]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57001" y="3349260"/>
            <a:ext cx="825867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Z[k–1]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 flipH="1" flipV="1">
            <a:off x="1553874" y="3862168"/>
            <a:ext cx="1201683" cy="8581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1319739" y="3397101"/>
            <a:ext cx="59503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Z[k]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04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6649" y="-163747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20130" y="939115"/>
                <a:ext cx="8199738" cy="528530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3.2.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|surplus(k, T[j]) − surplus(k − 1, T[j])|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d( Z[k − 1], Z[k]);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|surplus(k, T[j]) − surplus(k − 1, T[j − 1])|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d(T[j − 1], T[j]) + d( Z[k − 1], Z[k]).</a:t>
                </a:r>
              </a:p>
              <a:p>
                <a:pPr marL="0" indent="0">
                  <a:buNone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0 1 1 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1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1 0 1 </m:t>
                    </m:r>
                    <m:r>
                      <m:rPr>
                        <m:nor/>
                      </m:rPr>
                      <a:rPr lang="en-US" altLang="zh-TW" dirty="0" smtClean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0 1 1 1 1 0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zh-TW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| 1 – 2 |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9 + 7   =&gt;  1 &lt; 16</a:t>
                </a: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130" y="939115"/>
                <a:ext cx="8199738" cy="5285304"/>
              </a:xfrm>
              <a:blipFill rotWithShape="0">
                <a:blip r:embed="rId3"/>
                <a:stretch>
                  <a:fillRect l="-1561" t="-1961" r="-10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/>
          <p:cNvCxnSpPr/>
          <p:nvPr/>
        </p:nvCxnSpPr>
        <p:spPr>
          <a:xfrm flipH="1" flipV="1">
            <a:off x="2408602" y="3772335"/>
            <a:ext cx="606610" cy="11381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 flipV="1">
            <a:off x="1469320" y="3735042"/>
            <a:ext cx="1284312" cy="9234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2066789" y="3403003"/>
            <a:ext cx="736099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T[j-1]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856397" y="3323785"/>
            <a:ext cx="825867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Z[k–1]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 flipV="1">
            <a:off x="3078868" y="3718592"/>
            <a:ext cx="51397" cy="10655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919755" y="3265169"/>
            <a:ext cx="59503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Z[k]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899315" y="3349260"/>
            <a:ext cx="543739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T[j]</a:t>
            </a:r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 flipV="1">
            <a:off x="3296716" y="3766433"/>
            <a:ext cx="976213" cy="10550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65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6649" y="-163747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20130" y="939115"/>
                <a:ext cx="8199738" cy="528530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moves is then bounded by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− 1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TW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− 1], 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])</m:t>
                          </m:r>
                        </m:e>
                      </m:nary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zh-TW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− 1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zh-TW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TW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TW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e>
                    </m:nary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zh-TW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,−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zh-TW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,−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total complexity of the algorithm does not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exceed O (m + n).</a:t>
                </a: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130" y="939115"/>
                <a:ext cx="8199738" cy="5285304"/>
              </a:xfrm>
              <a:blipFill rotWithShape="0">
                <a:blip r:embed="rId3"/>
                <a:stretch>
                  <a:fillRect l="-1561" t="-1961" b="-140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28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81377</TotalTime>
  <Words>417</Words>
  <Application>Microsoft Office PowerPoint</Application>
  <PresentationFormat>如螢幕大小 (4:3)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 linear algorithm for 3-letter longest common weakly increasing subsequence</vt:lpstr>
      <vt:lpstr>Abstract</vt:lpstr>
      <vt:lpstr>Add_Algorithm</vt:lpstr>
      <vt:lpstr>Add_Algorithm</vt:lpstr>
      <vt:lpstr>Update_Algorithm</vt:lpstr>
      <vt:lpstr>Update_Algorithm</vt:lpstr>
      <vt:lpstr>Update_Algorithm</vt:lpstr>
      <vt:lpstr>Add_Algorithm</vt:lpstr>
      <vt:lpstr>Time complexity</vt:lpstr>
      <vt:lpstr>Time complexity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663</cp:revision>
  <dcterms:created xsi:type="dcterms:W3CDTF">2016-04-23T07:31:56Z</dcterms:created>
  <dcterms:modified xsi:type="dcterms:W3CDTF">2017-12-20T08:34:39Z</dcterms:modified>
</cp:coreProperties>
</file>