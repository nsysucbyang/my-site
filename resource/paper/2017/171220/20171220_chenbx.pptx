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76" r:id="rId3"/>
    <p:sldId id="294" r:id="rId4"/>
    <p:sldId id="296" r:id="rId5"/>
    <p:sldId id="299" r:id="rId6"/>
    <p:sldId id="297" r:id="rId7"/>
    <p:sldId id="298" r:id="rId8"/>
    <p:sldId id="277" r:id="rId9"/>
    <p:sldId id="295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88835" autoAdjust="0"/>
  </p:normalViewPr>
  <p:slideViewPr>
    <p:cSldViewPr snapToGrid="0">
      <p:cViewPr varScale="1">
        <p:scale>
          <a:sx n="75" d="100"/>
          <a:sy n="75" d="100"/>
        </p:scale>
        <p:origin x="2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7986E-2186-42F2-A1F5-4424A07DD94D}" type="datetimeFigureOut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14D64-E656-4722-AF7D-B3D63D1F5D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1973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9810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dirty="0" err="1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Neighbour</a:t>
            </a:r>
            <a:r>
              <a:rPr lang="en-US" altLang="zh-TW" sz="12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TW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英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】= neighbor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4517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0652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71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124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8750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7539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346F-159C-4E5E-A9BC-B4FAF4B8F4AD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56464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45FE-5976-4612-A121-9F7FA6C65956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37517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E126F-36C8-4C5A-8698-9E4A53D999E5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5964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8B67-291F-45ED-BF8F-60129A7CAFCF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85235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5E44-883D-47F1-80F2-BBD83A64BF20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0060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DBBE2-5504-4D7F-9CC4-F2C58F132876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99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0DA84-72B1-4070-A970-AE6E5670C53F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298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C297-F23E-49C2-9FD2-1DB5A3D63A00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46121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853A-160A-4D81-8E79-297A6811D44C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726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D68B-4BF6-411C-BDB8-9879BE85A868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801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472C-E7F7-4061-8A6B-A2FC31C7A013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3835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A8E3B-251A-4826-B76B-2ED6FD8BECB3}" type="datetime1">
              <a:rPr lang="zh-TW" altLang="en-US" smtClean="0"/>
              <a:t>2017/12/20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628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18681" y="559444"/>
            <a:ext cx="9954638" cy="1819245"/>
          </a:xfrm>
        </p:spPr>
        <p:txBody>
          <a:bodyPr anchor="ctr">
            <a:normAutofit fontScale="90000"/>
          </a:bodyPr>
          <a:lstStyle/>
          <a:p>
            <a:r>
              <a:rPr lang="en-US" altLang="zh-TW" sz="48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Dynamic time warping-based imputation for univariate time series data</a:t>
            </a:r>
            <a:endParaRPr lang="zh-TW" altLang="en-US" sz="4800" b="1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959305" y="5620621"/>
            <a:ext cx="3893389" cy="935455"/>
          </a:xfrm>
        </p:spPr>
        <p:txBody>
          <a:bodyPr/>
          <a:lstStyle/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 smtClean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Bo-Xian Chen</a:t>
            </a:r>
          </a:p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Date : </a:t>
            </a:r>
            <a:fld id="{DA00540B-99AF-4B5E-9AEF-55C0985778C8}" type="datetime1">
              <a:rPr lang="zh-TW" altLang="en-US" smtClean="0">
                <a:latin typeface="Cambria Math" panose="02040503050406030204" pitchFamily="18" charset="0"/>
                <a:cs typeface="Times New Roman" panose="02020603050405020304" pitchFamily="18" charset="0"/>
              </a:rPr>
              <a:t>2017/12/20</a:t>
            </a:fld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991843" y="3616817"/>
            <a:ext cx="10208313" cy="110991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449" b="1" dirty="0" err="1" smtClean="0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Thi</a:t>
            </a:r>
            <a:r>
              <a:rPr lang="en-US" altLang="zh-TW" sz="2449" b="1" dirty="0" smtClean="0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-Thu-Hong Phan, </a:t>
            </a:r>
            <a:r>
              <a:rPr lang="en-US" altLang="zh-TW" sz="2449" b="1" dirty="0" err="1" smtClean="0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Émilie</a:t>
            </a:r>
            <a:r>
              <a:rPr lang="en-US" altLang="zh-TW" sz="2449" b="1" dirty="0" smtClean="0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Poisson </a:t>
            </a:r>
            <a:r>
              <a:rPr lang="en-US" altLang="zh-TW" sz="2449" b="1" dirty="0" err="1" smtClean="0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Caillault</a:t>
            </a:r>
            <a:r>
              <a:rPr lang="en-US" altLang="zh-TW" sz="2449" b="1" dirty="0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Alain </a:t>
            </a:r>
            <a:r>
              <a:rPr lang="en-US" altLang="zh-TW" sz="2449" b="1" dirty="0" smtClean="0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Lefebvre</a:t>
            </a:r>
            <a:r>
              <a:rPr lang="en-US" altLang="zh-TW" sz="2449" b="1" dirty="0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49" b="1" dirty="0" smtClean="0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André</a:t>
            </a:r>
            <a:r>
              <a:rPr lang="zh-TW" altLang="en-US" sz="2449" b="1" dirty="0" smtClean="0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49" b="1" dirty="0" err="1" smtClean="0">
                <a:solidFill>
                  <a:srgbClr val="898989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Bigand</a:t>
            </a:r>
            <a:endParaRPr lang="en-US" altLang="zh-TW" sz="2449" b="1" dirty="0" smtClean="0">
              <a:solidFill>
                <a:srgbClr val="898989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algn="ctr"/>
            <a:endParaRPr lang="en-US" altLang="zh-TW" sz="2449" b="1" dirty="0" smtClean="0"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Pattern Recognition 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Letters, 2017</a:t>
            </a:r>
            <a:endParaRPr lang="en-US" altLang="zh-TW" sz="2449" b="1" dirty="0" smtClean="0"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70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0695" y="972044"/>
            <a:ext cx="11110609" cy="538905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Time series with missing values occur in almost any domain of applied sciences. Ignoring missing values can lead to a loss of efficiency and unreliable results, especially for large missing sub-sequence(s). This paper proposes an approach to fill in large gap(s) within time series data under the assumption of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effective 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information. To obtain the imputation of missing values, we find the most similar sub-sequence to the sub-sequence before (resp. after) the missing values, then complete the gap by the next (resp. previous) sub-sequence of the most similar one. Dynamic Time Warping algorithm is applied to compare sub-sequences, and combined with the shape-feature extraction algorithm for reducing insignificant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solutions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Eight well-known and real-world data sets are used for evaluating the performance of the proposed approach in comparison with five other methods on different indicators. </a:t>
            </a:r>
            <a:endParaRPr lang="zh-TW" altLang="en-US" sz="26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458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Abstract(2/2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0695" y="972044"/>
            <a:ext cx="11110609" cy="538905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obtained results proved that the performance of our approach is the most robust one in case of time series data having high </a:t>
            </a:r>
            <a:r>
              <a:rPr lang="en-US" altLang="zh-TW" sz="26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auto-correlation </a:t>
            </a:r>
            <a:r>
              <a:rPr lang="en-US" altLang="zh-TW" sz="2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and cross-correlation, strong seasonality, large gap(s), and complex distribution.</a:t>
            </a:r>
            <a:endParaRPr lang="zh-TW" altLang="en-US" sz="26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150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Dynamic Time Warping(DTW)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11015" y="972044"/>
                <a:ext cx="11440289" cy="5761379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−1, 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   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=2, …, 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𝑀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=2, …, 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𝑁</m:t>
                                  </m:r>
                                </m:e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&amp;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−1, 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en-US" altLang="zh-TW" b="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altLang="zh-TW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Warping Path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1;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</m:d>
                              <m:r>
                                <a:rPr lang="en-US" altLang="zh-TW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→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1;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𝑀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[1;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=(</m:t>
                              </m:r>
                              <m:sSubSup>
                                <m:sSubSup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𝑥𝑦</m:t>
                                  </m:r>
                                </m:sub>
                                <m: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𝑥𝑦</m:t>
                                  </m:r>
                                </m:sub>
                                <m: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r>
                  <a:rPr lang="en-US" altLang="zh-TW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TW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altLang="zh-TW" b="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en-US" altLang="zh-TW" b="0" i="1" dirty="0" smtClean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e>
                          </m:d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1015" y="972044"/>
                <a:ext cx="11440289" cy="5761379"/>
              </a:xfrm>
              <a:blipFill rotWithShape="0">
                <a:blip r:embed="rId3"/>
                <a:stretch>
                  <a:fillRect l="-11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4</a:t>
            </a:fld>
            <a:endParaRPr lang="zh-TW" alt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7028270" y="3215150"/>
            <a:ext cx="4829748" cy="2761765"/>
            <a:chOff x="7115818" y="3215151"/>
            <a:chExt cx="5334837" cy="27617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內容版面配置區 2"/>
                <p:cNvSpPr txBox="1">
                  <a:spLocks/>
                </p:cNvSpPr>
                <p:nvPr/>
              </p:nvSpPr>
              <p:spPr>
                <a:xfrm>
                  <a:off x="7115818" y="3690916"/>
                  <a:ext cx="5334837" cy="2286000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just">
                    <a:lnSpc>
                      <a:spcPct val="100000"/>
                    </a:lnSpc>
                    <a:buFont typeface="Arial" panose="020B0604020202020204" pitchFamily="34" charset="0"/>
                    <a:buNone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𝐷𝑇𝑊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𝑄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eqArr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nary>
                                      <m:naryPr>
                                        <m:chr m:val="∑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US" altLang="zh-TW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𝐾</m:t>
                                        </m:r>
                                      </m:sup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TW" altLang="en-US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𝜙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rad>
                              </m:e>
                            </m:eqArr>
                          </m:e>
                        </m:d>
                      </m:oMath>
                    </m:oMathPara>
                  </a14:m>
                  <a:r>
                    <a:rPr lang="en-US" altLang="zh-TW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/>
                  </a:r>
                  <a:br>
                    <a:rPr lang="en-US" altLang="zh-TW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</a:br>
                  <a:endParaRPr lang="en-US" altLang="zh-TW" i="1" dirty="0" smtClean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  <a:p>
                  <a:pPr marL="0" indent="0" algn="just">
                    <a:lnSpc>
                      <a:spcPct val="100000"/>
                    </a:lnSpc>
                    <a:buFont typeface="Arial" panose="020B0604020202020204" pitchFamily="34" charset="0"/>
                    <a:buNone/>
                  </a:pPr>
                  <a:endParaRPr lang="en-US" altLang="zh-TW" i="1" dirty="0" smtClean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內容版面配置區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5818" y="3690916"/>
                  <a:ext cx="5334837" cy="228600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矩形 3"/>
            <p:cNvSpPr/>
            <p:nvPr/>
          </p:nvSpPr>
          <p:spPr>
            <a:xfrm>
              <a:off x="7115818" y="3215151"/>
              <a:ext cx="150554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lang="en-US" altLang="zh-TW" sz="2800" dirty="0" smtClean="0">
                  <a:latin typeface="Cambria Math" panose="02040503050406030204" pitchFamily="18" charset="0"/>
                  <a:cs typeface="Times New Roman" panose="02020603050405020304" pitchFamily="18" charset="0"/>
                </a:rPr>
                <a:t>Distance</a:t>
              </a:r>
              <a:endParaRPr lang="en-US" altLang="zh-TW" sz="2800" dirty="0">
                <a:latin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34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0 4 5 6</a:t>
            </a:r>
          </a:p>
          <a:p>
            <a:r>
              <a:rPr lang="en-US" altLang="zh-TW" dirty="0" smtClean="0"/>
              <a:t>1 2 4 5</a:t>
            </a:r>
          </a:p>
          <a:p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5697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Dynamic Time Warping(DTW)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6</a:t>
            </a:fld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67" y="1245850"/>
            <a:ext cx="6449082" cy="4026542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5269" y="1999564"/>
            <a:ext cx="38481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722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Derivative Dynamic Time Warping(DDTW)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7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554113" y="1495264"/>
                <a:ext cx="315137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113" y="1495264"/>
                <a:ext cx="3151376" cy="52322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/>
          <p:nvPr/>
        </p:nvSpPr>
        <p:spPr>
          <a:xfrm>
            <a:off x="361158" y="972044"/>
            <a:ext cx="11929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TW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Series </a:t>
            </a:r>
            <a:endParaRPr lang="en-US" altLang="zh-TW" sz="2800" i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554113" y="2621763"/>
                <a:ext cx="385753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′={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113" y="2621763"/>
                <a:ext cx="3857531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1554113" y="3452454"/>
                <a:ext cx="964642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𝑖𝑠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𝑎𝑣𝑒𝑟𝑎𝑔𝑒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𝑜𝑓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𝑡h𝑒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𝑠𝑙𝑜𝑝𝑒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𝑏𝑒𝑡𝑤𝑒𝑒𝑛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𝑎𝑛𝑑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𝑎𝑛𝑑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113" y="3452454"/>
                <a:ext cx="9646423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554113" y="5275997"/>
                <a:ext cx="583929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𝐷𝑒𝑟𝑖𝑣𝑎𝑡𝑖𝑣𝑒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𝐷𝑇𝑊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𝑚𝑖𝑡𝑖𝑔𝑎𝑡𝑒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𝑛𝑜𝑖𝑠𝑒</m:t>
                      </m:r>
                    </m:oMath>
                  </m:oMathPara>
                </a14:m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113" y="5275997"/>
                <a:ext cx="5839291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3129801" y="3975674"/>
                <a:ext cx="5602816" cy="9257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TW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/2</m:t>
                          </m:r>
                        </m:num>
                        <m:den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801" y="3975674"/>
                <a:ext cx="5602816" cy="92570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群組 35"/>
          <p:cNvGrpSpPr/>
          <p:nvPr/>
        </p:nvGrpSpPr>
        <p:grpSpPr>
          <a:xfrm>
            <a:off x="8793728" y="4041012"/>
            <a:ext cx="2958657" cy="2638341"/>
            <a:chOff x="8793728" y="4041012"/>
            <a:chExt cx="2958657" cy="2638341"/>
          </a:xfrm>
        </p:grpSpPr>
        <p:grpSp>
          <p:nvGrpSpPr>
            <p:cNvPr id="25" name="群組 24"/>
            <p:cNvGrpSpPr/>
            <p:nvPr/>
          </p:nvGrpSpPr>
          <p:grpSpPr>
            <a:xfrm>
              <a:off x="8793728" y="4041012"/>
              <a:ext cx="2958657" cy="2357739"/>
              <a:chOff x="8053053" y="4406137"/>
              <a:chExt cx="2958657" cy="2357739"/>
            </a:xfrm>
          </p:grpSpPr>
          <p:sp>
            <p:nvSpPr>
              <p:cNvPr id="16" name="手繪多邊形 15"/>
              <p:cNvSpPr/>
              <p:nvPr/>
            </p:nvSpPr>
            <p:spPr>
              <a:xfrm>
                <a:off x="8053053" y="4845935"/>
                <a:ext cx="2958657" cy="1887488"/>
              </a:xfrm>
              <a:custGeom>
                <a:avLst/>
                <a:gdLst>
                  <a:gd name="connsiteX0" fmla="*/ 0 w 2081719"/>
                  <a:gd name="connsiteY0" fmla="*/ 1107099 h 1887488"/>
                  <a:gd name="connsiteX1" fmla="*/ 447472 w 2081719"/>
                  <a:gd name="connsiteY1" fmla="*/ 17601 h 1887488"/>
                  <a:gd name="connsiteX2" fmla="*/ 933855 w 2081719"/>
                  <a:gd name="connsiteY2" fmla="*/ 1885311 h 1887488"/>
                  <a:gd name="connsiteX3" fmla="*/ 1498059 w 2081719"/>
                  <a:gd name="connsiteY3" fmla="*/ 406707 h 1887488"/>
                  <a:gd name="connsiteX4" fmla="*/ 2081719 w 2081719"/>
                  <a:gd name="connsiteY4" fmla="*/ 1048733 h 18874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81719" h="1887488">
                    <a:moveTo>
                      <a:pt x="0" y="1107099"/>
                    </a:moveTo>
                    <a:cubicBezTo>
                      <a:pt x="145915" y="497499"/>
                      <a:pt x="291830" y="-112101"/>
                      <a:pt x="447472" y="17601"/>
                    </a:cubicBezTo>
                    <a:cubicBezTo>
                      <a:pt x="603114" y="147303"/>
                      <a:pt x="758757" y="1820460"/>
                      <a:pt x="933855" y="1885311"/>
                    </a:cubicBezTo>
                    <a:cubicBezTo>
                      <a:pt x="1108953" y="1950162"/>
                      <a:pt x="1306748" y="546137"/>
                      <a:pt x="1498059" y="406707"/>
                    </a:cubicBezTo>
                    <a:cubicBezTo>
                      <a:pt x="1689370" y="267277"/>
                      <a:pt x="1885544" y="658005"/>
                      <a:pt x="2081719" y="1048733"/>
                    </a:cubicBezTo>
                  </a:path>
                </a:pathLst>
              </a:custGeom>
              <a:noFill/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橢圓 17"/>
              <p:cNvSpPr/>
              <p:nvPr/>
            </p:nvSpPr>
            <p:spPr>
              <a:xfrm>
                <a:off x="8550613" y="4794373"/>
                <a:ext cx="107004" cy="10700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9" name="橢圓 18"/>
              <p:cNvSpPr/>
              <p:nvPr/>
            </p:nvSpPr>
            <p:spPr>
              <a:xfrm>
                <a:off x="8967453" y="5732873"/>
                <a:ext cx="107004" cy="10700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橢圓 19"/>
              <p:cNvSpPr/>
              <p:nvPr/>
            </p:nvSpPr>
            <p:spPr>
              <a:xfrm>
                <a:off x="9290754" y="6656872"/>
                <a:ext cx="107004" cy="10700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矩形 21"/>
                  <p:cNvSpPr/>
                  <p:nvPr/>
                </p:nvSpPr>
                <p:spPr>
                  <a:xfrm>
                    <a:off x="8604115" y="4406137"/>
                    <a:ext cx="764505" cy="4308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200" b="0" dirty="0" smtClean="0"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2" name="矩形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04115" y="4406137"/>
                    <a:ext cx="764505" cy="430887"/>
                  </a:xfrm>
                  <a:prstGeom prst="rect">
                    <a:avLst/>
                  </a:prstGeom>
                  <a:blipFill rotWithShape="0">
                    <a:blip r:embed="rId8"/>
                    <a:stretch>
                      <a:fillRect b="-140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矩形 22"/>
                  <p:cNvSpPr/>
                  <p:nvPr/>
                </p:nvSpPr>
                <p:spPr>
                  <a:xfrm>
                    <a:off x="9020955" y="5253219"/>
                    <a:ext cx="496803" cy="4308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200" b="0" dirty="0" smtClean="0"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3" name="矩形 2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20955" y="5253219"/>
                    <a:ext cx="496803" cy="430887"/>
                  </a:xfrm>
                  <a:prstGeom prst="rect">
                    <a:avLst/>
                  </a:prstGeom>
                  <a:blipFill rotWithShape="0">
                    <a:blip r:embed="rId9"/>
                    <a:stretch>
                      <a:fillRect b="-140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矩形 23"/>
                  <p:cNvSpPr/>
                  <p:nvPr/>
                </p:nvSpPr>
                <p:spPr>
                  <a:xfrm>
                    <a:off x="9222161" y="6219312"/>
                    <a:ext cx="764505" cy="43088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200" b="0" dirty="0" smtClean="0">
                      <a:ea typeface="Cambria Math" panose="020405030504060302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4" name="矩形 2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22161" y="6219312"/>
                    <a:ext cx="764505" cy="430887"/>
                  </a:xfrm>
                  <a:prstGeom prst="rect">
                    <a:avLst/>
                  </a:prstGeom>
                  <a:blipFill rotWithShape="0">
                    <a:blip r:embed="rId10"/>
                    <a:stretch>
                      <a:fillRect b="-140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7" name="直線接點 26"/>
            <p:cNvCxnSpPr/>
            <p:nvPr/>
          </p:nvCxnSpPr>
          <p:spPr>
            <a:xfrm>
              <a:off x="9389295" y="5423686"/>
              <a:ext cx="320320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/>
            <p:nvPr/>
          </p:nvCxnSpPr>
          <p:spPr>
            <a:xfrm>
              <a:off x="9389295" y="6345249"/>
              <a:ext cx="648000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矩形 33"/>
                <p:cNvSpPr/>
                <p:nvPr/>
              </p:nvSpPr>
              <p:spPr>
                <a:xfrm>
                  <a:off x="9395825" y="5400346"/>
                  <a:ext cx="36580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altLang="zh-TW" b="0" dirty="0" smtClean="0"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" name="矩形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5825" y="5400346"/>
                  <a:ext cx="365805" cy="369332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矩形 34"/>
                <p:cNvSpPr/>
                <p:nvPr/>
              </p:nvSpPr>
              <p:spPr>
                <a:xfrm>
                  <a:off x="9549455" y="6310021"/>
                  <a:ext cx="36580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altLang="zh-TW" b="0" dirty="0" smtClean="0">
                    <a:ea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5" name="矩形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49455" y="6310021"/>
                  <a:ext cx="365805" cy="369332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84777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DTWBI(DTW-Based Imputation)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內容版面配置區 7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b="1072"/>
          <a:stretch/>
        </p:blipFill>
        <p:spPr>
          <a:xfrm>
            <a:off x="838199" y="2193175"/>
            <a:ext cx="5543550" cy="3194371"/>
          </a:xfrm>
          <a:prstGeom prst="rect">
            <a:avLst/>
          </a:prstGeom>
        </p:spPr>
      </p:pic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8</a:t>
            </a:fld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4"/>
          <a:srcRect t="1328"/>
          <a:stretch/>
        </p:blipFill>
        <p:spPr>
          <a:xfrm>
            <a:off x="6381749" y="1928341"/>
            <a:ext cx="4924425" cy="357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75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199" y="189279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Experimental Result</a:t>
            </a:r>
            <a:endParaRPr lang="zh-TW" altLang="en-US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9009185" y="6368298"/>
            <a:ext cx="2743200" cy="365125"/>
          </a:xfrm>
        </p:spPr>
        <p:txBody>
          <a:bodyPr/>
          <a:lstStyle/>
          <a:p>
            <a:fld id="{C8A97ABC-EF3A-4183-AE2C-72E330AF586D}" type="slidenum">
              <a:rPr lang="zh-TW" altLang="en-US" smtClean="0"/>
              <a:t>9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059830"/>
            <a:ext cx="5191806" cy="537137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185" y="845299"/>
            <a:ext cx="5191200" cy="558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28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13984</TotalTime>
  <Words>291</Words>
  <Application>Microsoft Office PowerPoint</Application>
  <PresentationFormat>寬螢幕</PresentationFormat>
  <Paragraphs>52</Paragraphs>
  <Slides>9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Dynamic time warping-based imputation for univariate time series data</vt:lpstr>
      <vt:lpstr>Abstract(1/2)</vt:lpstr>
      <vt:lpstr>Abstract(2/2)</vt:lpstr>
      <vt:lpstr>Dynamic Time Warping(DTW)</vt:lpstr>
      <vt:lpstr>PowerPoint 簡報</vt:lpstr>
      <vt:lpstr>Dynamic Time Warping(DTW)</vt:lpstr>
      <vt:lpstr>Derivative Dynamic Time Warping(DDTW)</vt:lpstr>
      <vt:lpstr>DTWBI(DTW-Based Imputation)</vt:lpstr>
      <vt:lpstr>Experimental Result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Linear Space Algorithm  for Computing  Maximal Common Subsequences</dc:title>
  <dc:creator>BX CHEN</dc:creator>
  <cp:lastModifiedBy>pplab-class</cp:lastModifiedBy>
  <cp:revision>379</cp:revision>
  <dcterms:created xsi:type="dcterms:W3CDTF">2016-10-10T16:56:48Z</dcterms:created>
  <dcterms:modified xsi:type="dcterms:W3CDTF">2017-12-20T08:34:45Z</dcterms:modified>
</cp:coreProperties>
</file>