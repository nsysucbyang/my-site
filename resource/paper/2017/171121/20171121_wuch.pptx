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62" r:id="rId5"/>
    <p:sldId id="264" r:id="rId6"/>
    <p:sldId id="273" r:id="rId7"/>
    <p:sldId id="274" r:id="rId8"/>
    <p:sldId id="275" r:id="rId9"/>
    <p:sldId id="276" r:id="rId10"/>
    <p:sldId id="278" r:id="rId11"/>
    <p:sldId id="281" r:id="rId12"/>
    <p:sldId id="267" r:id="rId13"/>
    <p:sldId id="280" r:id="rId14"/>
    <p:sldId id="268" r:id="rId15"/>
    <p:sldId id="27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7" autoAdjust="0"/>
    <p:restoredTop sz="95048" autoAdjust="0"/>
  </p:normalViewPr>
  <p:slideViewPr>
    <p:cSldViewPr snapToGrid="0">
      <p:cViewPr varScale="1">
        <p:scale>
          <a:sx n="70" d="100"/>
          <a:sy n="70" d="100"/>
        </p:scale>
        <p:origin x="3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D822E-287D-49A6-BB7D-CFD94BDB4C78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6E11E-5ACF-409F-8557-659632981D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97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DP,O(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),the cells on the same diagonal in the score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doesn’t depend on each other, so that they can be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computed in parallel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548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rearranging the entries in the score matrix for greater parallelism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881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83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i="0" dirty="0" smtClean="0"/>
              <a:t>In order to compute the same row data or column data in parallel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798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438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i="0" dirty="0" smtClean="0"/>
              <a:t>In order to compute the same row data or column data in parallel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S[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can be made independent of the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ith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row data as S[i,j-1]</a:t>
            </a:r>
            <a:endParaRPr lang="zh-TW" altLang="en-US" i="0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8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i="0" dirty="0" smtClean="0"/>
              <a:t>In order to compute the same row data or column data in parallel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S[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can be made independent of the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ith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row data as S[i,j-1]</a:t>
            </a:r>
            <a:endParaRPr lang="zh-TW" altLang="en-US" i="0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931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i="0" dirty="0" smtClean="0"/>
              <a:t>In order to compute the same row data or column data in parallel</a:t>
            </a:r>
          </a:p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S[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i,j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can be made independent of the </a:t>
            </a:r>
            <a:r>
              <a:rPr lang="en-US" altLang="zh-TW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ith</a:t>
            </a:r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row data as S[i,j-1]</a:t>
            </a:r>
            <a:endParaRPr lang="zh-TW" altLang="en-US" i="0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522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CUDA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217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10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95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61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91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47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97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09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7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14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38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40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1F2B-1D51-40D0-A135-9C9D0A35B8E2}" type="datetimeFigureOut">
              <a:rPr lang="zh-TW" altLang="en-US" smtClean="0"/>
              <a:t>2017/11/21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11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53623" y="783697"/>
            <a:ext cx="12299245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Longest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Subsequence Problem on GPUs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19740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Jiaoyun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Yang(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陽嬌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云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Yun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許云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Shang(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商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伊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World Congress on Engineering 2010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 WCE 2010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June 30 -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2010,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London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U.K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Wu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Date:2017/11/21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68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071578" cy="4595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is an important problem in computational biology and finding the longest common subsequence 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of multiple biological sequences is an essential and effective technique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sequence alignment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approach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solving the LCS problem is dynamic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programming.  Several dynamic 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 have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proposed to have reduced time and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complexity. As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of biological sequences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become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larger, parallel algorithms become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increasingly important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tackle large size problems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mean-time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general-purpose computing on graphics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 (GPGPU) has emerged as a promising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cost-effective high performance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66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199" y="1825625"/>
            <a:ext cx="11139311" cy="4595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develop an efficient parallel algorithm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GPUs for the LCS problem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We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new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that changes the data dependency in the score table used by dynamic programming algorithms to enable higher degrees of parallelism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takes advantage of the large number of processing units and the unique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memory-accessing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GPUs to achieve high performance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was implemented 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Nvidia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9800GT GPUs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tested on randomly generated sequences of different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results show that the new algorithm is about 6 times faster on GPUs than on typical CPUs and is 3 times faster than an existing efficient parallel algorithm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diagonal parallel algorithm.</a:t>
            </a:r>
          </a:p>
        </p:txBody>
      </p:sp>
    </p:spTree>
    <p:extLst>
      <p:ext uri="{BB962C8B-B14F-4D97-AF65-F5344CB8AC3E}">
        <p14:creationId xmlns:p14="http://schemas.microsoft.com/office/powerpoint/2010/main" val="132466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subsequence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769555" y="3149706"/>
                <a:ext cx="784295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eqAr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  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𝑜𝑟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69555" y="3149706"/>
                <a:ext cx="7842956" cy="4351338"/>
              </a:xfrm>
              <a:blipFill rotWithShape="0">
                <a:blip r:embed="rId3"/>
                <a:stretch>
                  <a:fillRect t="-2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174837"/>
              </p:ext>
            </p:extLst>
          </p:nvPr>
        </p:nvGraphicFramePr>
        <p:xfrm>
          <a:off x="383824" y="1444979"/>
          <a:ext cx="4820360" cy="519289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02545"/>
                <a:gridCol w="602545"/>
                <a:gridCol w="602545"/>
                <a:gridCol w="602545"/>
                <a:gridCol w="602545"/>
                <a:gridCol w="602545"/>
                <a:gridCol w="602545"/>
                <a:gridCol w="602545"/>
              </a:tblGrid>
              <a:tr h="576988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6988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698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698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698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698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698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698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6988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V="1">
            <a:off x="1761066" y="27432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V="1">
            <a:off x="2319867" y="27432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V="1">
            <a:off x="2940755" y="27432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 flipV="1">
            <a:off x="3465688" y="2743200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3984978" y="2856089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 flipV="1">
            <a:off x="4617158" y="2743200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1648177" y="3302000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 flipV="1">
            <a:off x="2206978" y="4422245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1648177" y="3860800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 flipV="1">
            <a:off x="2840566" y="5020575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 flipV="1">
            <a:off x="4617158" y="6220177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H="1" flipV="1">
            <a:off x="3459339" y="6220177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1744132" y="442224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V="1">
            <a:off x="1744132" y="502057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V="1">
            <a:off x="1744132" y="560493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V="1">
            <a:off x="1744132" y="6220177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V="1">
            <a:off x="2359378" y="502057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V="1">
            <a:off x="2348089" y="560493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2359378" y="6220177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flipV="1">
            <a:off x="2325511" y="3860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2953454" y="3860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V="1">
            <a:off x="3572227" y="3860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4735691" y="3860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V="1">
            <a:off x="3572227" y="33020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4170539" y="5585019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 flipV="1">
            <a:off x="2888897" y="5604933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V="1">
            <a:off x="2959100" y="6220176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3532716" y="560493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4735692" y="560493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>
            <a:off x="3408538" y="5172975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>
            <a:off x="3984978" y="5172975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H="1">
            <a:off x="4588936" y="5172975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H="1">
            <a:off x="2812344" y="4574645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H="1">
            <a:off x="2184400" y="3426178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2777066" y="3454400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H="1">
            <a:off x="4566357" y="3454400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 flipV="1">
            <a:off x="4046539" y="3324577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 flipV="1">
            <a:off x="4046539" y="3869267"/>
            <a:ext cx="22577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4740629" y="4439178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4148666" y="442224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/>
          <p:nvPr/>
        </p:nvCxnSpPr>
        <p:spPr>
          <a:xfrm flipH="1">
            <a:off x="3381728" y="4577290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H="1">
            <a:off x="3984977" y="6310487"/>
            <a:ext cx="3273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橢圓 52"/>
          <p:cNvSpPr/>
          <p:nvPr/>
        </p:nvSpPr>
        <p:spPr>
          <a:xfrm>
            <a:off x="4662313" y="6088654"/>
            <a:ext cx="462842" cy="4967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橢圓 53"/>
          <p:cNvSpPr/>
          <p:nvPr/>
        </p:nvSpPr>
        <p:spPr>
          <a:xfrm>
            <a:off x="4046539" y="5512281"/>
            <a:ext cx="462842" cy="4967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橢圓 54"/>
          <p:cNvSpPr/>
          <p:nvPr/>
        </p:nvSpPr>
        <p:spPr>
          <a:xfrm>
            <a:off x="4046539" y="4937560"/>
            <a:ext cx="462842" cy="4967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橢圓 55"/>
          <p:cNvSpPr/>
          <p:nvPr/>
        </p:nvSpPr>
        <p:spPr>
          <a:xfrm>
            <a:off x="3426886" y="4937559"/>
            <a:ext cx="462842" cy="4967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橢圓 56"/>
          <p:cNvSpPr/>
          <p:nvPr/>
        </p:nvSpPr>
        <p:spPr>
          <a:xfrm>
            <a:off x="2840566" y="4947531"/>
            <a:ext cx="462842" cy="4967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>
            <a:off x="2274006" y="4351865"/>
            <a:ext cx="462842" cy="4967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>
            <a:off x="1665113" y="3785755"/>
            <a:ext cx="462842" cy="4967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23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LCS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be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two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strings over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 finite alphabet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Σ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Definition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1: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b="0" i="0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𝑠𝑢𝑏𝑠𝑒𝑞𝑢𝑒𝑛𝑐𝑒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𝑖𝑓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1 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:1≤ 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Definition 2: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𝑗𝑘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𝑐𝑜𝑚𝑚𝑜𝑚𝑛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𝑠𝑢𝑏𝑠𝑒𝑞𝑢𝑒𝑛𝑐𝑒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altLang="zh-TW" b="0" i="1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b="0" dirty="0" smtClean="0">
                    <a:ea typeface="標楷體" panose="03000509000000000000" pitchFamily="65" charset="-12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𝑖𝑓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𝑠𝑢𝑏𝑠𝑒𝑞𝑢𝑒𝑛𝑐𝑒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𝑠𝑢𝑏𝑠𝑞𝑢𝑒𝑛𝑐𝑒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68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Definition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𝑗𝑘</m:t>
                        </m:r>
                        <m:r>
                          <m:rPr>
                            <m:nor/>
                          </m:rPr>
                          <a:rPr lang="en-US" altLang="zh-TW" b="0" i="0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𝑡h𝑒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𝑙𝑜𝑛𝑔𝑒𝑠𝑡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𝑐𝑜𝑚𝑚𝑜𝑛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𝑠𝑢𝑏𝑠𝑒𝑞𝑢𝑒𝑛𝑐𝑒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𝑖𝑓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zh-TW" b="0" i="1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1.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𝑐𝑜𝑚𝑚𝑜𝑛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𝑠𝑢𝑏𝑠𝑒𝑞𝑢𝑒𝑛𝑐𝑒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b="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2.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𝑇h𝑒𝑠𝑒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𝑛𝑜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𝑐𝑜𝑚𝑚𝑜𝑛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𝑠𝑢𝑏𝑠𝑒𝑞𝑢𝑒𝑛𝑐𝑒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𝑡h𝑒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b="0" i="1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𝑙𝑒𝑛𝑡h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𝑖𝑓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𝑙𝑎𝑟𝑔𝑒𝑟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𝑡h𝑎𝑛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Definition 4: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𝐼𝑛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𝑡h𝑒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𝑑𝑦𝑛𝑎𝑚𝑖𝑐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𝑡𝑎𝑏𝑙𝑒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𝑖𝑓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𝑡h𝑒𝑛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𝑡h𝑒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𝑝𝑜𝑖𝑛𝑡𝑠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𝑚𝑎𝑡𝑐h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𝑝𝑜𝑖𝑛𝑡</m:t>
                    </m:r>
                  </m:oMath>
                </a14:m>
                <a:endParaRPr lang="en-US" altLang="zh-TW" b="0" i="1" dirty="0" smtClean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  <a:blipFill rotWithShape="0">
                <a:blip r:embed="rId3"/>
                <a:stretch>
                  <a:fillRect l="-91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44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Dependency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eqAr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   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𝑜𝑟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b="0" i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can be made independent of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𝑖𝑡h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row data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can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be replaced by the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following recurrence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equation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  <a:blipFill rotWithShape="0">
                <a:blip r:embed="rId3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55" y="1290553"/>
            <a:ext cx="2447408" cy="245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7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4740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−1,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−2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eqAr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  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=0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𝑜𝑟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−1=0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i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b="0" i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−1]</m:t>
                    </m:r>
                  </m:oMath>
                </a14:m>
                <a:r>
                  <a:rPr lang="en-US" altLang="zh-TW" b="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depends on the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𝑖𝑡h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row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data, 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𝑆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𝑖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𝑗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−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2] can be reformulated in a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similar way. This process ends when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0 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at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𝑘𝑡h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step,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or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at the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𝑘𝑡h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step</a:t>
                </a:r>
                <a:endParaRPr lang="en-US" altLang="zh-TW" b="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47401" cy="4351338"/>
              </a:xfrm>
              <a:blipFill rotWithShape="0">
                <a:blip r:embed="rId3"/>
                <a:stretch>
                  <a:fillRect l="-11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07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124"/>
                <a:ext cx="10947401" cy="61372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Assume that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the process stops at the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𝑘𝑡h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step, and the k must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be the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minimum number that makes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zh-TW" b="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                                                                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𝑖𝑓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=0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𝑜𝑟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=0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−1,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                                                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𝑖𝑓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−1,</m:t>
                                              </m:r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−1</m:t>
                                              </m:r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   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𝑖𝑓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Times New Roman" panose="020206030504050203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−1,</m:t>
                                              </m:r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  <a:ea typeface="標楷體" panose="03000509000000000000" pitchFamily="65" charset="-12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標楷體" panose="03000509000000000000" pitchFamily="65" charset="-12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altLang="zh-TW" b="0" i="1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                                        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𝑖𝑓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=0</m:t>
                                  </m:r>
                                </m:den>
                              </m:f>
                            </m:e>
                          </m:eqAr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124"/>
                <a:ext cx="10947401" cy="6137275"/>
              </a:xfrm>
              <a:blipFill rotWithShape="0">
                <a:blip r:embed="rId3"/>
                <a:stretch>
                  <a:fillRect l="-1170" t="-1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內容版面配置區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42" y="3759200"/>
            <a:ext cx="4173504" cy="2945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463823" y="4787568"/>
                <a:ext cx="6548120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800" i="1" dirty="0" err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is a match point if the process ends at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800" i="1" dirty="0" err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and is 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the first match point before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800" i="1" dirty="0" err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 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in the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𝑖𝑡h</m:t>
                    </m:r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row.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823" y="4787568"/>
                <a:ext cx="6548120" cy="1384995"/>
              </a:xfrm>
              <a:prstGeom prst="rect">
                <a:avLst/>
              </a:prstGeom>
              <a:blipFill rotWithShape="0">
                <a:blip r:embed="rId5"/>
                <a:stretch>
                  <a:fillRect l="-1862" t="-4386" b="-109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88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reprocessing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4740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Table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 size: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∗(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+1)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the size of the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finite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alphabet </a:t>
                </a:r>
                <a:r>
                  <a:rPr lang="el-GR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Σ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[1…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be the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finite alphabet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represent the maximum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number before j that makes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altLang="zh-TW" b="0" i="0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]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zh-TW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b="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47401" cy="4351338"/>
              </a:xfrm>
              <a:blipFill rotWithShape="0">
                <a:blip r:embed="rId3"/>
                <a:stretch>
                  <a:fillRect l="-1114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44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549981"/>
                <a:ext cx="10947401" cy="15949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−1]</m:t>
                              </m:r>
                            </m:e>
                          </m:eqArr>
                          <m: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   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b="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549981"/>
                <a:ext cx="10947401" cy="1594908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364527"/>
              </p:ext>
            </p:extLst>
          </p:nvPr>
        </p:nvGraphicFramePr>
        <p:xfrm>
          <a:off x="1491186" y="2401889"/>
          <a:ext cx="9122571" cy="390532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013619"/>
                <a:gridCol w="1013619"/>
                <a:gridCol w="1013619"/>
                <a:gridCol w="1013619"/>
                <a:gridCol w="1013619"/>
                <a:gridCol w="1013619"/>
                <a:gridCol w="1013619"/>
                <a:gridCol w="1013619"/>
                <a:gridCol w="1013619"/>
              </a:tblGrid>
              <a:tr h="650887"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A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T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T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G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C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C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A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0887">
                <a:tc>
                  <a:txBody>
                    <a:bodyPr/>
                    <a:lstStyle/>
                    <a:p>
                      <a:endParaRPr lang="zh-TW" altLang="en-US" sz="320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0887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A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0887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T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0887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C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0887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G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51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re-formulate replacing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is the number of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in array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0                                                                 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=0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𝑜𝑟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num>
                              <m:den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−1,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+1                              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                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−1,</m:t>
                                            </m:r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,0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                                      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]=0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−1,</m:t>
                                            </m:r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−1,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[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]−1</m:t>
                                            </m:r>
                                          </m:e>
                                        </m:d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b="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                   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</m:e>
                                </m:func>
                              </m:den>
                            </m:f>
                          </m:e>
                        </m:eqArr>
                        <m: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92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2558" y="0"/>
            <a:ext cx="6881925" cy="961697"/>
          </a:xfrm>
        </p:spPr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878217"/>
              </p:ext>
            </p:extLst>
          </p:nvPr>
        </p:nvGraphicFramePr>
        <p:xfrm>
          <a:off x="457201" y="1179099"/>
          <a:ext cx="5775160" cy="5201091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721895"/>
                <a:gridCol w="721895"/>
                <a:gridCol w="721895"/>
                <a:gridCol w="721895"/>
                <a:gridCol w="721895"/>
                <a:gridCol w="721895"/>
                <a:gridCol w="721895"/>
                <a:gridCol w="721895"/>
              </a:tblGrid>
              <a:tr h="57789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789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78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78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78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78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78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78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7789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15192" marR="115192" marT="57596" marB="57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9533265"/>
              </p:ext>
            </p:extLst>
          </p:nvPr>
        </p:nvGraphicFramePr>
        <p:xfrm>
          <a:off x="6665491" y="3249032"/>
          <a:ext cx="4958919" cy="3157512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50991"/>
                <a:gridCol w="550991"/>
                <a:gridCol w="550991"/>
                <a:gridCol w="550991"/>
                <a:gridCol w="550991"/>
                <a:gridCol w="550991"/>
                <a:gridCol w="550991"/>
                <a:gridCol w="550991"/>
                <a:gridCol w="550991"/>
              </a:tblGrid>
              <a:tr h="325979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5979"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5979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5979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T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5979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C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5979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marL="160493" marR="160493" marT="80246" marB="8024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381621" y="1540606"/>
                <a:ext cx="5496441" cy="10749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type m:val="noBar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0                                                                 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=0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𝑜𝑟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−1,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+1                                                  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f>
                              <m:fPr>
                                <m:type m:val="noBar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−1,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,0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                                      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𝑖𝑓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[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]=0</m:t>
                                </m:r>
                              </m:num>
                              <m:den>
                                <m:func>
                                  <m:func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000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−1,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𝑆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−1,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𝑃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[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  <a:ea typeface="標楷體" panose="03000509000000000000" pitchFamily="65" charset="-120"/>
                                                <a:cs typeface="Times New Roman" panose="02020603050405020304" pitchFamily="18" charset="0"/>
                                              </a:rPr>
                                              <m:t>]−1</m:t>
                                            </m:r>
                                          </m:e>
                                        </m:d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  <a:ea typeface="標楷體" panose="03000509000000000000" pitchFamily="65" charset="-120"/>
                                            <a:cs typeface="Times New Roman" panose="020206030504050203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                      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</m:e>
                                </m:func>
                              </m:den>
                            </m:f>
                          </m:e>
                        </m:eqArr>
                        <m:r>
                          <a:rPr lang="en-US" altLang="zh-TW" sz="2000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621" y="1540606"/>
                <a:ext cx="5496441" cy="10749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單箭頭接點 16"/>
          <p:cNvCxnSpPr/>
          <p:nvPr/>
        </p:nvCxnSpPr>
        <p:spPr>
          <a:xfrm rot="-600000" flipH="1" flipV="1">
            <a:off x="1958037" y="3573836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rot="-600000" flipH="1" flipV="1">
            <a:off x="1989147" y="2987857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rot="-600000" flipH="1" flipV="1">
            <a:off x="4867081" y="2987856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rot="-600000" flipH="1" flipV="1">
            <a:off x="4190421" y="2408228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rot="-600000" flipH="1" flipV="1">
            <a:off x="5610382" y="2408227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rot="-600000" flipH="1" flipV="1">
            <a:off x="4905491" y="3573836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rot="-600000" flipH="1" flipV="1">
            <a:off x="2693762" y="4144049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rot="-600000" flipH="1" flipV="1">
            <a:off x="3418975" y="4750994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rot="-600000" flipH="1" flipV="1">
            <a:off x="4190420" y="5886112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rot="-600000" flipH="1" flipV="1">
            <a:off x="5610381" y="5886111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rot="-600000" flipH="1" flipV="1">
            <a:off x="3418975" y="5357938"/>
            <a:ext cx="236483" cy="34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線單箭頭接點 3"/>
          <p:cNvCxnSpPr/>
          <p:nvPr/>
        </p:nvCxnSpPr>
        <p:spPr>
          <a:xfrm flipH="1">
            <a:off x="1929719" y="2581649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H="1">
            <a:off x="2665444" y="2581649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H="1">
            <a:off x="3390657" y="2561209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flipH="1">
            <a:off x="4789905" y="2563347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H="1">
            <a:off x="2665444" y="3140449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H="1">
            <a:off x="3390657" y="3140449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 flipV="1">
            <a:off x="3980927" y="2086342"/>
            <a:ext cx="485961" cy="1083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flipH="1">
            <a:off x="4092410" y="3171884"/>
            <a:ext cx="379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 flipH="1" flipV="1">
            <a:off x="5401984" y="2119116"/>
            <a:ext cx="481709" cy="1031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>
            <a:off x="5503758" y="3157771"/>
            <a:ext cx="379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H="1">
            <a:off x="2665444" y="3709884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H="1">
            <a:off x="3390656" y="3721173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 flipV="1">
            <a:off x="3980927" y="2078061"/>
            <a:ext cx="473042" cy="1689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H="1">
            <a:off x="4092409" y="3767309"/>
            <a:ext cx="379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H="1" flipV="1">
            <a:off x="5401984" y="2119116"/>
            <a:ext cx="500190" cy="1648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H="1">
            <a:off x="5522237" y="3767309"/>
            <a:ext cx="379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H="1">
            <a:off x="1929719" y="4303204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>
            <a:off x="3390656" y="4303204"/>
            <a:ext cx="3803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H="1" flipV="1">
            <a:off x="3980927" y="2078061"/>
            <a:ext cx="473044" cy="2240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>
            <a:off x="4074030" y="4318203"/>
            <a:ext cx="379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/>
          <p:nvPr/>
        </p:nvCxnSpPr>
        <p:spPr>
          <a:xfrm flipH="1" flipV="1">
            <a:off x="4703319" y="3170277"/>
            <a:ext cx="503476" cy="1157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/>
          <p:nvPr/>
        </p:nvCxnSpPr>
        <p:spPr>
          <a:xfrm flipH="1">
            <a:off x="4826854" y="4327696"/>
            <a:ext cx="379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 flipH="1">
            <a:off x="5522237" y="4327696"/>
            <a:ext cx="3799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/>
          <p:nvPr/>
        </p:nvCxnSpPr>
        <p:spPr>
          <a:xfrm flipH="1" flipV="1">
            <a:off x="5410649" y="2116907"/>
            <a:ext cx="494725" cy="2210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 flipH="1" flipV="1">
            <a:off x="1812837" y="3157771"/>
            <a:ext cx="527307" cy="115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/>
          <p:nvPr/>
        </p:nvCxnSpPr>
        <p:spPr>
          <a:xfrm flipH="1">
            <a:off x="1911311" y="4910464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/>
          <p:nvPr/>
        </p:nvCxnSpPr>
        <p:spPr>
          <a:xfrm flipH="1" flipV="1">
            <a:off x="1818295" y="3157772"/>
            <a:ext cx="495098" cy="1752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/>
          <p:nvPr/>
        </p:nvCxnSpPr>
        <p:spPr>
          <a:xfrm flipH="1">
            <a:off x="1929718" y="5453389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 flipH="1" flipV="1">
            <a:off x="1825116" y="3157771"/>
            <a:ext cx="484990" cy="229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/>
          <p:nvPr/>
        </p:nvCxnSpPr>
        <p:spPr>
          <a:xfrm flipH="1">
            <a:off x="1929718" y="6043939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H="1" flipV="1">
            <a:off x="1821830" y="3157771"/>
            <a:ext cx="476721" cy="2886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 flipH="1">
            <a:off x="2665443" y="4886978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 flipH="1">
            <a:off x="2665443" y="5453389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/>
          <p:nvPr/>
        </p:nvCxnSpPr>
        <p:spPr>
          <a:xfrm flipH="1">
            <a:off x="2665443" y="6043938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/>
          <p:nvPr/>
        </p:nvCxnSpPr>
        <p:spPr>
          <a:xfrm flipH="1">
            <a:off x="3390656" y="6043938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單箭頭接點 127"/>
          <p:cNvCxnSpPr/>
          <p:nvPr/>
        </p:nvCxnSpPr>
        <p:spPr>
          <a:xfrm flipH="1">
            <a:off x="4092409" y="4886978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/>
          <p:nvPr/>
        </p:nvCxnSpPr>
        <p:spPr>
          <a:xfrm flipH="1">
            <a:off x="4073578" y="5453389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單箭頭接點 129"/>
          <p:cNvCxnSpPr/>
          <p:nvPr/>
        </p:nvCxnSpPr>
        <p:spPr>
          <a:xfrm flipH="1">
            <a:off x="4826402" y="4886978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單箭頭接點 130"/>
          <p:cNvCxnSpPr/>
          <p:nvPr/>
        </p:nvCxnSpPr>
        <p:spPr>
          <a:xfrm flipH="1">
            <a:off x="4826402" y="5453389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單箭頭接點 131"/>
          <p:cNvCxnSpPr/>
          <p:nvPr/>
        </p:nvCxnSpPr>
        <p:spPr>
          <a:xfrm flipH="1">
            <a:off x="4838763" y="6049027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/>
          <p:nvPr/>
        </p:nvCxnSpPr>
        <p:spPr>
          <a:xfrm flipH="1">
            <a:off x="5582063" y="4886978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單箭頭接點 133"/>
          <p:cNvCxnSpPr/>
          <p:nvPr/>
        </p:nvCxnSpPr>
        <p:spPr>
          <a:xfrm flipH="1">
            <a:off x="5582063" y="5453389"/>
            <a:ext cx="3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/>
          <p:cNvCxnSpPr/>
          <p:nvPr/>
        </p:nvCxnSpPr>
        <p:spPr>
          <a:xfrm flipH="1" flipV="1">
            <a:off x="2530244" y="3867151"/>
            <a:ext cx="497676" cy="1019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/>
          <p:nvPr/>
        </p:nvCxnSpPr>
        <p:spPr>
          <a:xfrm flipH="1" flipV="1">
            <a:off x="2526216" y="3867151"/>
            <a:ext cx="501704" cy="1610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/>
          <p:nvPr/>
        </p:nvCxnSpPr>
        <p:spPr>
          <a:xfrm flipH="1" flipV="1">
            <a:off x="2543998" y="3867151"/>
            <a:ext cx="492587" cy="2176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/>
          <p:nvPr/>
        </p:nvCxnSpPr>
        <p:spPr>
          <a:xfrm flipH="1" flipV="1">
            <a:off x="3275690" y="4955545"/>
            <a:ext cx="461134" cy="1088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/>
          <p:cNvCxnSpPr/>
          <p:nvPr/>
        </p:nvCxnSpPr>
        <p:spPr>
          <a:xfrm flipH="1" flipV="1">
            <a:off x="4725323" y="3157771"/>
            <a:ext cx="493828" cy="2886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線單箭頭接點 153"/>
          <p:cNvCxnSpPr/>
          <p:nvPr/>
        </p:nvCxnSpPr>
        <p:spPr>
          <a:xfrm flipH="1" flipV="1">
            <a:off x="3992483" y="2096881"/>
            <a:ext cx="483070" cy="279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單箭頭接點 156"/>
          <p:cNvCxnSpPr/>
          <p:nvPr/>
        </p:nvCxnSpPr>
        <p:spPr>
          <a:xfrm flipH="1" flipV="1">
            <a:off x="3990173" y="2084735"/>
            <a:ext cx="467026" cy="3392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/>
          <p:cNvCxnSpPr/>
          <p:nvPr/>
        </p:nvCxnSpPr>
        <p:spPr>
          <a:xfrm flipH="1" flipV="1">
            <a:off x="4703316" y="3171886"/>
            <a:ext cx="489865" cy="1738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/>
          <p:cNvCxnSpPr/>
          <p:nvPr/>
        </p:nvCxnSpPr>
        <p:spPr>
          <a:xfrm flipH="1" flipV="1">
            <a:off x="4713366" y="3171884"/>
            <a:ext cx="479815" cy="2305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單箭頭接點 166"/>
          <p:cNvCxnSpPr/>
          <p:nvPr/>
        </p:nvCxnSpPr>
        <p:spPr>
          <a:xfrm flipH="1" flipV="1">
            <a:off x="5419895" y="2116907"/>
            <a:ext cx="542556" cy="277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單箭頭接點 169"/>
          <p:cNvCxnSpPr/>
          <p:nvPr/>
        </p:nvCxnSpPr>
        <p:spPr>
          <a:xfrm flipH="1" flipV="1">
            <a:off x="5416695" y="2116763"/>
            <a:ext cx="545756" cy="3360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64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1.Calculate table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takes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O(m)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 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2.Calculate table S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takes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O(n) time 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Overall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algorithm’s time complex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is O(max(m,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))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30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969" y="1547692"/>
            <a:ext cx="7162905" cy="5310308"/>
          </a:xfrm>
        </p:spPr>
      </p:pic>
    </p:spTree>
    <p:extLst>
      <p:ext uri="{BB962C8B-B14F-4D97-AF65-F5344CB8AC3E}">
        <p14:creationId xmlns:p14="http://schemas.microsoft.com/office/powerpoint/2010/main" val="145290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5294</TotalTime>
  <Words>846</Words>
  <Application>Microsoft Office PowerPoint</Application>
  <PresentationFormat>寬螢幕</PresentationFormat>
  <Paragraphs>315</Paragraphs>
  <Slides>15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An Efficient Parallel Algorithm for Longest Common Subsequence Problem on GPUs</vt:lpstr>
      <vt:lpstr>Abstract(1/2)</vt:lpstr>
      <vt:lpstr>Abstract(2/2)</vt:lpstr>
      <vt:lpstr>longest common subsequence</vt:lpstr>
      <vt:lpstr>New Parallel LCS algorithm</vt:lpstr>
      <vt:lpstr>PowerPoint 簡報</vt:lpstr>
      <vt:lpstr>Data Dependency</vt:lpstr>
      <vt:lpstr>PowerPoint 簡報</vt:lpstr>
      <vt:lpstr>PowerPoint 簡報</vt:lpstr>
      <vt:lpstr>Preprocessing</vt:lpstr>
      <vt:lpstr>PowerPoint 簡報</vt:lpstr>
      <vt:lpstr>PowerPoint 簡報</vt:lpstr>
      <vt:lpstr>PowerPoint 簡報</vt:lpstr>
      <vt:lpstr>Time Complexity</vt:lpstr>
      <vt:lpstr>Experimental Results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Selectivity and Backup Operators in Monte-Carlo Tree Search</dc:title>
  <dc:creator>Trixie</dc:creator>
  <cp:lastModifiedBy>pplab-class</cp:lastModifiedBy>
  <cp:revision>227</cp:revision>
  <dcterms:created xsi:type="dcterms:W3CDTF">2017-09-07T05:36:32Z</dcterms:created>
  <dcterms:modified xsi:type="dcterms:W3CDTF">2017-11-21T13:06:14Z</dcterms:modified>
</cp:coreProperties>
</file>