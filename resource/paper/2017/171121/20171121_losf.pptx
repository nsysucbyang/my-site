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56" r:id="rId2"/>
    <p:sldId id="260" r:id="rId3"/>
    <p:sldId id="261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92" r:id="rId25"/>
    <p:sldId id="283" r:id="rId26"/>
    <p:sldId id="285" r:id="rId27"/>
    <p:sldId id="286" r:id="rId28"/>
    <p:sldId id="287" r:id="rId29"/>
    <p:sldId id="288" r:id="rId30"/>
    <p:sldId id="289" r:id="rId3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0" autoAdjust="0"/>
    <p:restoredTop sz="88876" autoAdjust="0"/>
  </p:normalViewPr>
  <p:slideViewPr>
    <p:cSldViewPr snapToGrid="0">
      <p:cViewPr varScale="1">
        <p:scale>
          <a:sx n="116" d="100"/>
          <a:sy n="116" d="100"/>
        </p:scale>
        <p:origin x="1368" y="10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6074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5470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0149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2476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183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512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3808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5634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163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49694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4628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98192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0795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74817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15162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9713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099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05220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52631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03432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44738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05696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01214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19380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20623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10219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03754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17081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4594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874B-C395-47F4-9570-4C8CF7D45370}" type="datetime1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DEDB-5F5E-44FA-B831-E90F058DB6F4}" type="datetime1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1630-F4D6-4EBF-9C74-8617157AD5D6}" type="datetime1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D3DE-8CFB-4129-96E2-08988034C732}" type="datetime1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CE5E-A50E-4314-8E1B-4CDA583A915B}" type="datetime1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D8EC-D88C-48B5-B26B-F86C173BA82F}" type="datetime1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FB5D-05F3-4856-AB9D-B8A7C57C895A}" type="datetime1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97A6-071E-4A76-B85B-D424C755E7DF}" type="datetime1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83EC-5F79-4973-9855-BCC29F5B863A}" type="datetime1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3B9F-CBD6-4321-983D-C2EF11BDF098}" type="datetime1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04472-345F-406F-9172-EFF7C92DEB6F}" type="datetime1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A1D2B-8465-443F-AA03-EF1EA2D4A471}" type="datetime1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903" y="224732"/>
            <a:ext cx="8905101" cy="1496976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algorithms for computing longest common increasing subsequences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060448"/>
            <a:ext cx="8353402" cy="4111751"/>
          </a:xfrm>
        </p:spPr>
        <p:txBody>
          <a:bodyPr>
            <a:noAutofit/>
          </a:bodyPr>
          <a:lstStyle/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Martin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Kutz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Gerth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Stølting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Brodal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Kanela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Kaligosi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Irit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Katriel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Discrete Algorithms 9 (2011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pp. 314–325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Shou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-Fu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</a:t>
            </a:r>
          </a:p>
          <a:p>
            <a:r>
              <a:rPr lang="en-US" altLang="zh-TW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</a:t>
            </a:r>
            <a:r>
              <a:rPr lang="en-US" altLang="zh-TW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2017/11/21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present algorithms for ﬁnding a longest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common</a:t>
                </a: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increasing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subsequence of two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more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sequences. For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sequences of lengths n and m, where m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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n, we present an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with an output-dependent expected running time of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((m +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loglog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 +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Sort)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(m) space, where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an LCIS, σ is the size of the alphabet,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Sort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sort each input sequence. For k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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length-n sequences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present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which improves the previous best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more than a factor k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many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inputs. In both cases,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algorithms are conceptually quite simple but rely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existing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sophisticated data structures. 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  <a:blipFill rotWithShape="0">
                <a:blip r:embed="rId3"/>
                <a:stretch>
                  <a:fillRect l="-1159" t="-1961" r="-773" b="-177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1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223924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Finally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introduce the problem of longest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weakly-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 non-decreasing) subsequences (LCWIS), for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present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(min{m +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nlogn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mloglogm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})-time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alphabet case. For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extensively 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studied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 problem, comparable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speedups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been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for small alphabets.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572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Bounded heaps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56801" y="2311319"/>
                <a:ext cx="7886700" cy="4351338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Insert(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𝓗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s, p, d):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Insert into the BH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ℋ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key s with priority p and associated data d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DecreasePriority</a:t>
                </a:r>
                <a:r>
                  <a:rPr lang="en-US" altLang="zh-TW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𝓗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s, p, d):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BH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ℋ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does not already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contain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key s, perform Insert(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ℋ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s, p, d). Otherwise,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key’s priority to min{p,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},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its previous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priority.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BoundedMin</a:t>
                </a:r>
                <a:r>
                  <a:rPr lang="en-US" altLang="zh-TW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𝓗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s):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 the item that has minimum priority among all items in ℋ with key smaller than s. If ℋ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does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contain any items with key smaller than s, return “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invalid”.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6801" y="2311319"/>
                <a:ext cx="7886700" cy="4351338"/>
              </a:xfrm>
              <a:blipFill rotWithShape="0">
                <a:blip r:embed="rId3"/>
                <a:stretch>
                  <a:fillRect l="-1083" t="-1961" r="-11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481" y="1117650"/>
            <a:ext cx="5477390" cy="11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35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Bounded heaps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6801" y="2311319"/>
            <a:ext cx="78867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Emde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Boas tree 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Lemma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1.There exists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implementation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bounded heaps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O (n)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 and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each of the above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in 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loglogn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amortized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time, where keys are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drawn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set {1, . . . , n}.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481" y="1117650"/>
            <a:ext cx="5477390" cy="11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897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LCIS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396563" y="4371638"/>
            <a:ext cx="5014269" cy="17546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131941"/>
              </p:ext>
            </p:extLst>
          </p:nvPr>
        </p:nvGraphicFramePr>
        <p:xfrm>
          <a:off x="752217" y="1063322"/>
          <a:ext cx="3264072" cy="8231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012"/>
                <a:gridCol w="544012"/>
                <a:gridCol w="544012"/>
                <a:gridCol w="544012"/>
                <a:gridCol w="544012"/>
                <a:gridCol w="544012"/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320714"/>
              </p:ext>
            </p:extLst>
          </p:nvPr>
        </p:nvGraphicFramePr>
        <p:xfrm>
          <a:off x="4786694" y="1032738"/>
          <a:ext cx="4000504" cy="799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0063"/>
                <a:gridCol w="500063"/>
                <a:gridCol w="500063"/>
                <a:gridCol w="500063"/>
                <a:gridCol w="500063"/>
                <a:gridCol w="500063"/>
                <a:gridCol w="500063"/>
                <a:gridCol w="500063"/>
              </a:tblGrid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向右箭號 4"/>
          <p:cNvSpPr/>
          <p:nvPr/>
        </p:nvSpPr>
        <p:spPr>
          <a:xfrm>
            <a:off x="2100650" y="2721999"/>
            <a:ext cx="373277" cy="22242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959851"/>
              </p:ext>
            </p:extLst>
          </p:nvPr>
        </p:nvGraphicFramePr>
        <p:xfrm>
          <a:off x="706909" y="3130699"/>
          <a:ext cx="3264072" cy="8231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012"/>
                <a:gridCol w="544012"/>
                <a:gridCol w="544012"/>
                <a:gridCol w="544012"/>
                <a:gridCol w="544012"/>
                <a:gridCol w="544012"/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098730"/>
              </p:ext>
            </p:extLst>
          </p:nvPr>
        </p:nvGraphicFramePr>
        <p:xfrm>
          <a:off x="4643309" y="3142630"/>
          <a:ext cx="3000378" cy="799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0063"/>
                <a:gridCol w="500063"/>
                <a:gridCol w="500063"/>
                <a:gridCol w="500063"/>
                <a:gridCol w="500063"/>
                <a:gridCol w="500063"/>
              </a:tblGrid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2" name="直線接點 11"/>
          <p:cNvCxnSpPr/>
          <p:nvPr/>
        </p:nvCxnSpPr>
        <p:spPr>
          <a:xfrm>
            <a:off x="0" y="2331307"/>
            <a:ext cx="914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329514" y="4173930"/>
            <a:ext cx="23972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en-US" altLang="zh-TW" sz="2400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[j] = k</a:t>
            </a: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= LCIS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長度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  =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的位置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 =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出現在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最小的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index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19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LCIS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2666406"/>
            <a:ext cx="1653231" cy="17546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向右箭號 4"/>
          <p:cNvSpPr/>
          <p:nvPr/>
        </p:nvSpPr>
        <p:spPr>
          <a:xfrm>
            <a:off x="2203622" y="760372"/>
            <a:ext cx="373277" cy="22242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744956"/>
              </p:ext>
            </p:extLst>
          </p:nvPr>
        </p:nvGraphicFramePr>
        <p:xfrm>
          <a:off x="904617" y="1153618"/>
          <a:ext cx="3264072" cy="8231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012"/>
                <a:gridCol w="544012"/>
                <a:gridCol w="544012"/>
                <a:gridCol w="544012"/>
                <a:gridCol w="544012"/>
                <a:gridCol w="544012"/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006880"/>
              </p:ext>
            </p:extLst>
          </p:nvPr>
        </p:nvGraphicFramePr>
        <p:xfrm>
          <a:off x="4841017" y="1165549"/>
          <a:ext cx="3000378" cy="799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0063"/>
                <a:gridCol w="500063"/>
                <a:gridCol w="500063"/>
                <a:gridCol w="500063"/>
                <a:gridCol w="500063"/>
                <a:gridCol w="500063"/>
              </a:tblGrid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2" name="直線接點 11"/>
          <p:cNvCxnSpPr/>
          <p:nvPr/>
        </p:nvCxnSpPr>
        <p:spPr>
          <a:xfrm>
            <a:off x="0" y="2331307"/>
            <a:ext cx="914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內容版面配置區 2"/>
              <p:cNvSpPr txBox="1">
                <a:spLocks/>
              </p:cNvSpPr>
              <p:nvPr/>
            </p:nvSpPr>
            <p:spPr>
              <a:xfrm>
                <a:off x="7137824" y="3634050"/>
                <a:ext cx="1653231" cy="17546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 =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 =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[3] =</a:t>
                </a: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[4] =</a:t>
                </a: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[5] =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7824" y="3634050"/>
                <a:ext cx="1653231" cy="1754658"/>
              </a:xfrm>
              <a:prstGeom prst="rect">
                <a:avLst/>
              </a:prstGeom>
              <a:blipFill rotWithShape="0">
                <a:blip r:embed="rId3"/>
                <a:stretch>
                  <a:fillRect l="-5904" t="-4861" b="-36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內容版面配置區 2"/>
              <p:cNvSpPr txBox="1">
                <a:spLocks/>
              </p:cNvSpPr>
              <p:nvPr/>
            </p:nvSpPr>
            <p:spPr>
              <a:xfrm>
                <a:off x="2105803" y="2331307"/>
                <a:ext cx="471102" cy="48354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ℋ</m:t>
                      </m:r>
                    </m:oMath>
                  </m:oMathPara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803" y="2331307"/>
                <a:ext cx="471102" cy="483543"/>
              </a:xfrm>
              <a:prstGeom prst="rect">
                <a:avLst/>
              </a:prstGeom>
              <a:blipFill rotWithShape="0">
                <a:blip r:embed="rId4"/>
                <a:stretch>
                  <a:fillRect l="-2564" r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013094"/>
              </p:ext>
            </p:extLst>
          </p:nvPr>
        </p:nvGraphicFramePr>
        <p:xfrm>
          <a:off x="2510995" y="2419064"/>
          <a:ext cx="4128702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117"/>
                <a:gridCol w="688117"/>
                <a:gridCol w="688117"/>
                <a:gridCol w="688117"/>
                <a:gridCol w="688117"/>
                <a:gridCol w="688117"/>
              </a:tblGrid>
              <a:tr h="230493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altLang="zh-TW" sz="200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9976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0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內容版面配置區 2"/>
          <p:cNvSpPr txBox="1">
            <a:spLocks/>
          </p:cNvSpPr>
          <p:nvPr/>
        </p:nvSpPr>
        <p:spPr>
          <a:xfrm>
            <a:off x="6010534" y="2421622"/>
            <a:ext cx="1653231" cy="1754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TW" sz="24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285951"/>
              </p:ext>
            </p:extLst>
          </p:nvPr>
        </p:nvGraphicFramePr>
        <p:xfrm>
          <a:off x="2507649" y="3321615"/>
          <a:ext cx="4128702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117"/>
                <a:gridCol w="688117"/>
                <a:gridCol w="688117"/>
                <a:gridCol w="688117"/>
                <a:gridCol w="688117"/>
                <a:gridCol w="688117"/>
              </a:tblGrid>
              <a:tr h="230493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altLang="zh-TW" sz="200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9976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0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809313"/>
              </p:ext>
            </p:extLst>
          </p:nvPr>
        </p:nvGraphicFramePr>
        <p:xfrm>
          <a:off x="2507649" y="4225404"/>
          <a:ext cx="4128702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117"/>
                <a:gridCol w="688117"/>
                <a:gridCol w="688117"/>
                <a:gridCol w="688117"/>
                <a:gridCol w="688117"/>
                <a:gridCol w="688117"/>
              </a:tblGrid>
              <a:tr h="230493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altLang="zh-TW" sz="200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9976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0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637493"/>
              </p:ext>
            </p:extLst>
          </p:nvPr>
        </p:nvGraphicFramePr>
        <p:xfrm>
          <a:off x="2507649" y="5110268"/>
          <a:ext cx="4128702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117"/>
                <a:gridCol w="688117"/>
                <a:gridCol w="688117"/>
                <a:gridCol w="688117"/>
                <a:gridCol w="688117"/>
                <a:gridCol w="688117"/>
              </a:tblGrid>
              <a:tr h="230493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altLang="zh-TW" sz="200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9976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0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21634"/>
              </p:ext>
            </p:extLst>
          </p:nvPr>
        </p:nvGraphicFramePr>
        <p:xfrm>
          <a:off x="2507649" y="5996322"/>
          <a:ext cx="4128702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117"/>
                <a:gridCol w="688117"/>
                <a:gridCol w="688117"/>
                <a:gridCol w="688117"/>
                <a:gridCol w="688117"/>
                <a:gridCol w="688117"/>
              </a:tblGrid>
              <a:tr h="398966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altLang="zh-TW" sz="200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4577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0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454876" y="2331307"/>
            <a:ext cx="2891481" cy="9676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2380735" y="3253794"/>
            <a:ext cx="840260" cy="9676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2359638" y="4176280"/>
            <a:ext cx="1553335" cy="9676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295136" y="2007133"/>
                <a:ext cx="21248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BoundedMin(</a:t>
                </a:r>
                <a14:m>
                  <m:oMath xmlns:m="http://schemas.openxmlformats.org/officeDocument/2006/math">
                    <m:r>
                      <a:rPr lang="en-US" altLang="zh-TW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𝓗</m:t>
                    </m:r>
                  </m:oMath>
                </a14:m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b="1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="1" baseline="-25000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136" y="2007133"/>
                <a:ext cx="2124898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586" t="-9836" r="-6034" b="-229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/>
              <p:cNvSpPr txBox="1"/>
              <p:nvPr/>
            </p:nvSpPr>
            <p:spPr>
              <a:xfrm>
                <a:off x="7164961" y="2757664"/>
                <a:ext cx="212489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DecreasePriority(</a:t>
                </a:r>
                <a14:m>
                  <m:oMath xmlns:m="http://schemas.openxmlformats.org/officeDocument/2006/math">
                    <m:r>
                      <a:rPr lang="en-US" altLang="zh-TW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𝓗</m:t>
                    </m:r>
                  </m:oMath>
                </a14:m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="1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</a:t>
                </a:r>
                <a:r>
                  <a:rPr lang="en-US" altLang="zh-TW" b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i-1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[j],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d)</a:t>
                </a:r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961" y="2757664"/>
                <a:ext cx="2124898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2292" t="-4717" b="-132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單箭頭接點 27"/>
          <p:cNvCxnSpPr/>
          <p:nvPr/>
        </p:nvCxnSpPr>
        <p:spPr>
          <a:xfrm>
            <a:off x="5741773" y="3072714"/>
            <a:ext cx="1252948" cy="7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2281881" y="5053609"/>
            <a:ext cx="2347784" cy="9676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2281880" y="5921943"/>
            <a:ext cx="3728653" cy="8577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8064413" y="4508423"/>
                <a:ext cx="5148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413" y="4508423"/>
                <a:ext cx="514885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8124210" y="4514145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210" y="4514145"/>
                <a:ext cx="423513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/>
              <p:cNvSpPr txBox="1"/>
              <p:nvPr/>
            </p:nvSpPr>
            <p:spPr>
              <a:xfrm>
                <a:off x="8064413" y="4975812"/>
                <a:ext cx="5148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413" y="4975812"/>
                <a:ext cx="514885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8064412" y="5435248"/>
                <a:ext cx="5148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412" y="5435248"/>
                <a:ext cx="514885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/>
              <p:cNvSpPr txBox="1"/>
              <p:nvPr/>
            </p:nvSpPr>
            <p:spPr>
              <a:xfrm>
                <a:off x="8124210" y="4987260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210" y="4987260"/>
                <a:ext cx="423513" cy="461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8127308" y="5436363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7308" y="5436363"/>
                <a:ext cx="423513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42"/>
          <p:cNvSpPr txBox="1"/>
          <p:nvPr/>
        </p:nvSpPr>
        <p:spPr>
          <a:xfrm>
            <a:off x="5465077" y="288804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92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4" grpId="0" animBg="1"/>
      <p:bldP spid="25" grpId="0" animBg="1"/>
      <p:bldP spid="11" grpId="0"/>
      <p:bldP spid="26" grpId="0"/>
      <p:bldP spid="29" grpId="0" animBg="1"/>
      <p:bldP spid="30" grpId="0" animBg="1"/>
      <p:bldP spid="32" grpId="0"/>
      <p:bldP spid="33" grpId="0"/>
      <p:bldP spid="39" grpId="0"/>
      <p:bldP spid="40" grpId="0"/>
      <p:bldP spid="41" grpId="0"/>
      <p:bldP spid="42" grpId="0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LCIS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666406"/>
                <a:ext cx="1653231" cy="175465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 =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 =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[3]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5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[4]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2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[5]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4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666406"/>
                <a:ext cx="1653231" cy="1754658"/>
              </a:xfrm>
              <a:blipFill rotWithShape="0">
                <a:blip r:embed="rId3"/>
                <a:stretch>
                  <a:fillRect l="-5535" t="-4861" b="-36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向右箭號 4"/>
          <p:cNvSpPr/>
          <p:nvPr/>
        </p:nvSpPr>
        <p:spPr>
          <a:xfrm>
            <a:off x="2203622" y="760372"/>
            <a:ext cx="373277" cy="22242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904617" y="1153618"/>
          <a:ext cx="3264072" cy="8231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012"/>
                <a:gridCol w="544012"/>
                <a:gridCol w="544012"/>
                <a:gridCol w="544012"/>
                <a:gridCol w="544012"/>
                <a:gridCol w="544012"/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4841017" y="1165549"/>
          <a:ext cx="3000378" cy="799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0063"/>
                <a:gridCol w="500063"/>
                <a:gridCol w="500063"/>
                <a:gridCol w="500063"/>
                <a:gridCol w="500063"/>
                <a:gridCol w="500063"/>
              </a:tblGrid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2" name="直線接點 11"/>
          <p:cNvCxnSpPr/>
          <p:nvPr/>
        </p:nvCxnSpPr>
        <p:spPr>
          <a:xfrm>
            <a:off x="0" y="2331307"/>
            <a:ext cx="914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內容版面配置區 2"/>
              <p:cNvSpPr txBox="1">
                <a:spLocks/>
              </p:cNvSpPr>
              <p:nvPr/>
            </p:nvSpPr>
            <p:spPr>
              <a:xfrm>
                <a:off x="7137824" y="3634050"/>
                <a:ext cx="1653231" cy="17546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 =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 =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[3] =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[4] =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[5] =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7824" y="3634050"/>
                <a:ext cx="1653231" cy="1754658"/>
              </a:xfrm>
              <a:prstGeom prst="rect">
                <a:avLst/>
              </a:prstGeom>
              <a:blipFill rotWithShape="0">
                <a:blip r:embed="rId4"/>
                <a:stretch>
                  <a:fillRect l="-5904" t="-4861" b="-36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內容版面配置區 2"/>
              <p:cNvSpPr txBox="1">
                <a:spLocks/>
              </p:cNvSpPr>
              <p:nvPr/>
            </p:nvSpPr>
            <p:spPr>
              <a:xfrm>
                <a:off x="2105803" y="2331307"/>
                <a:ext cx="471102" cy="48354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ℋ</m:t>
                      </m:r>
                    </m:oMath>
                  </m:oMathPara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803" y="2331307"/>
                <a:ext cx="471102" cy="483543"/>
              </a:xfrm>
              <a:prstGeom prst="rect">
                <a:avLst/>
              </a:prstGeom>
              <a:blipFill rotWithShape="0">
                <a:blip r:embed="rId5"/>
                <a:stretch>
                  <a:fillRect l="-2564" r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572549"/>
              </p:ext>
            </p:extLst>
          </p:nvPr>
        </p:nvGraphicFramePr>
        <p:xfrm>
          <a:off x="2510995" y="2419064"/>
          <a:ext cx="4128702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117"/>
                <a:gridCol w="688117"/>
                <a:gridCol w="688117"/>
                <a:gridCol w="688117"/>
                <a:gridCol w="688117"/>
                <a:gridCol w="688117"/>
              </a:tblGrid>
              <a:tr h="230493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altLang="zh-TW" sz="200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9976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0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內容版面配置區 2"/>
          <p:cNvSpPr txBox="1">
            <a:spLocks/>
          </p:cNvSpPr>
          <p:nvPr/>
        </p:nvSpPr>
        <p:spPr>
          <a:xfrm>
            <a:off x="6010534" y="2421622"/>
            <a:ext cx="1653231" cy="1754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TW" sz="24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099330"/>
              </p:ext>
            </p:extLst>
          </p:nvPr>
        </p:nvGraphicFramePr>
        <p:xfrm>
          <a:off x="2507649" y="3321615"/>
          <a:ext cx="4128702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117"/>
                <a:gridCol w="688117"/>
                <a:gridCol w="688117"/>
                <a:gridCol w="688117"/>
                <a:gridCol w="688117"/>
                <a:gridCol w="688117"/>
              </a:tblGrid>
              <a:tr h="230493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altLang="zh-TW" sz="200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9976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0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209365"/>
              </p:ext>
            </p:extLst>
          </p:nvPr>
        </p:nvGraphicFramePr>
        <p:xfrm>
          <a:off x="2507649" y="4225404"/>
          <a:ext cx="4128702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117"/>
                <a:gridCol w="688117"/>
                <a:gridCol w="688117"/>
                <a:gridCol w="688117"/>
                <a:gridCol w="688117"/>
                <a:gridCol w="688117"/>
              </a:tblGrid>
              <a:tr h="230493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altLang="zh-TW" sz="200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9976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0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905003"/>
              </p:ext>
            </p:extLst>
          </p:nvPr>
        </p:nvGraphicFramePr>
        <p:xfrm>
          <a:off x="2507649" y="5110268"/>
          <a:ext cx="4128702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117"/>
                <a:gridCol w="688117"/>
                <a:gridCol w="688117"/>
                <a:gridCol w="688117"/>
                <a:gridCol w="688117"/>
                <a:gridCol w="688117"/>
              </a:tblGrid>
              <a:tr h="230493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altLang="zh-TW" sz="200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9976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0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79723"/>
              </p:ext>
            </p:extLst>
          </p:nvPr>
        </p:nvGraphicFramePr>
        <p:xfrm>
          <a:off x="2507649" y="5996322"/>
          <a:ext cx="4128702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117"/>
                <a:gridCol w="688117"/>
                <a:gridCol w="688117"/>
                <a:gridCol w="688117"/>
                <a:gridCol w="688117"/>
                <a:gridCol w="688117"/>
              </a:tblGrid>
              <a:tr h="398966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altLang="zh-TW" sz="200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4577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0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454876" y="2331307"/>
            <a:ext cx="2891481" cy="9676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2380735" y="3253794"/>
            <a:ext cx="840260" cy="9676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2359638" y="4176280"/>
            <a:ext cx="1553335" cy="9676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2281881" y="5053609"/>
            <a:ext cx="2347784" cy="9676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2281881" y="5930938"/>
            <a:ext cx="3728653" cy="9049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8064412" y="5435248"/>
                <a:ext cx="5148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412" y="5435248"/>
                <a:ext cx="514885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8127308" y="5436363"/>
                <a:ext cx="423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7308" y="5436363"/>
                <a:ext cx="423513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017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4" grpId="0" animBg="1"/>
      <p:bldP spid="25" grpId="0" animBg="1"/>
      <p:bldP spid="29" grpId="0" animBg="1"/>
      <p:bldP spid="30" grpId="0" animBg="1"/>
      <p:bldP spid="40" grpId="0"/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298" y="1309497"/>
            <a:ext cx="4497859" cy="55485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628650" y="-101639"/>
                <a:ext cx="7886700" cy="1325563"/>
              </a:xfrm>
            </p:spPr>
            <p:txBody>
              <a:bodyPr>
                <a:normAutofit fontScale="90000"/>
              </a:bodyPr>
              <a:lstStyle/>
              <a:p>
                <a:pPr algn="ctr"/>
                <a:r>
                  <a:rPr lang="pt-B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((m + n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</m:oMath>
                </a14:m>
                <a:r>
                  <a:rPr lang="pt-B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log log σ + SortΣ (m)) time algorithm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28650" y="-101639"/>
                <a:ext cx="7886700" cy="1325563"/>
              </a:xfrm>
              <a:blipFill rotWithShape="0">
                <a:blip r:embed="rId4"/>
                <a:stretch>
                  <a:fillRect t="-7339" r="-696" b="-146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252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Longest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non-decreasing or weakly-increasing subsequences (LCWIS)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925212" y="2005013"/>
            <a:ext cx="7886700" cy="4351338"/>
          </a:xfrm>
        </p:spPr>
        <p:txBody>
          <a:bodyPr>
            <a:no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= {α, β, γ } in their standard order: α &lt; β &lt; γ .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 =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β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 α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β   B =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 β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 α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β</a:t>
            </a:r>
            <a:endParaRPr lang="en-US" altLang="zh-TW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how to solve LCWIS for the 2-letter alphabet in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time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for the 3-letter alphabet in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(min{m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nlog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 log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m}) time</a:t>
            </a:r>
          </a:p>
        </p:txBody>
      </p:sp>
    </p:spTree>
    <p:extLst>
      <p:ext uri="{BB962C8B-B14F-4D97-AF65-F5344CB8AC3E}">
        <p14:creationId xmlns:p14="http://schemas.microsoft.com/office/powerpoint/2010/main" val="416512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2-letter case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884023" y="1471059"/>
            <a:ext cx="7886700" cy="4351338"/>
          </a:xfrm>
        </p:spPr>
        <p:txBody>
          <a:bodyPr>
            <a:no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= {α, β, γ } in their standard order: α &lt; β &lt; γ .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 =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β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 α α β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β   B = β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 α α α β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</a:p>
          <a:p>
            <a:pPr lvl="1"/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Arrays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,α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,α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,β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. . . ,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B,γ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count the number of αs, βs and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γs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</a:t>
            </a:r>
          </a:p>
          <a:p>
            <a:pPr marL="457200" lvl="1" indent="0"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e.g.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,α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zh-TW" alt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β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zh-TW" alt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/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create arrays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,α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B,γ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provide us with the position of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ith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occurrence of α, β, or γ in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or B. </a:t>
            </a:r>
          </a:p>
          <a:p>
            <a:pPr marL="457200" lvl="1" indent="0"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e.g.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,α</a:t>
            </a:r>
            <a:r>
              <a:rPr lang="zh-TW" alt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=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5,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,β</a:t>
            </a:r>
            <a:r>
              <a:rPr lang="zh-TW" alt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 =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6;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45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2-letter case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84023" y="1471059"/>
                <a:ext cx="7886700" cy="4351338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 = {α, β, γ } in their standard order: α &lt; β &lt; γ .</a:t>
                </a: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A =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β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α α β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β   B = β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α α α β</a:t>
                </a:r>
              </a:p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 </m:t>
                    </m:r>
                  </m:oMath>
                </a14:m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min{</a:t>
                </a:r>
                <a:r>
                  <a:rPr lang="en-US" altLang="zh-TW" sz="2400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A,α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[n], </a:t>
                </a:r>
                <a:r>
                  <a:rPr lang="en-US" altLang="zh-TW" sz="2400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</a:t>
                </a:r>
                <a:r>
                  <a:rPr lang="en-US" altLang="zh-TW" sz="2400" baseline="-25000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baseline="-25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,α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[m]}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determine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position of the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α in A and B and then the number of βs that come after those positions in the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sequences.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α</m:t>
                        </m:r>
                      </m:e>
                      <m:sup>
                        <m: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sSup>
                      <m:sSupPr>
                        <m:ctrlP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β</m:t>
                        </m:r>
                      </m:e>
                      <m:sup>
                        <m:r>
                          <a:rPr lang="en-US" altLang="zh-TW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 ,  LCWIS =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{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,β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[n] -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,β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</a:t>
                </a:r>
                <a:r>
                  <a:rPr lang="en-US" altLang="zh-TW" sz="2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,α</a:t>
                </a:r>
                <a:r>
                  <a:rPr lang="zh-TW" alt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[1]] ,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,β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[m]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,β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,α</a:t>
                </a:r>
                <a:r>
                  <a:rPr lang="zh-TW" altLang="en-US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[1]]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 marL="0" indent="0">
                  <a:buNone/>
                </a:pPr>
                <a:endParaRPr lang="en-US" altLang="zh-TW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				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⋮</m:t>
                    </m:r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total time is O (m).</a:t>
                </a: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4023" y="1471059"/>
                <a:ext cx="7886700" cy="4351338"/>
              </a:xfrm>
              <a:blipFill rotWithShape="0">
                <a:blip r:embed="rId3"/>
                <a:stretch>
                  <a:fillRect l="-1159" t="-1961" r="-1623" b="-135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343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 +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nlogn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84023" y="2092411"/>
                <a:ext cx="7886700" cy="3729986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naïve extension of the above approach to three letters would have to deal with a quadratic number of tentative exponent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pairs (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 for subsequences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type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α</m:t>
                        </m:r>
                      </m:e>
                      <m:sup>
                        <m: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sSup>
                      <m:sSupPr>
                        <m:ctrlP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β</m:t>
                        </m:r>
                      </m:e>
                      <m:sup>
                        <m:r>
                          <a:rPr lang="en-US" altLang="zh-TW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  <m:sSup>
                      <m:sSupPr>
                        <m:ctrlP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γ</m:t>
                        </m:r>
                      </m:e>
                      <m:sup>
                        <m:r>
                          <a:rPr lang="en-US" altLang="zh-TW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4023" y="2092411"/>
                <a:ext cx="7886700" cy="3729986"/>
              </a:xfrm>
              <a:blipFill rotWithShape="0">
                <a:blip r:embed="rId3"/>
                <a:stretch>
                  <a:fillRect l="-1005" t="-22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2735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 +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nlogn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determine the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ith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pair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αs from the left and then count the number of βs in A and B up to the split (s, t). 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p =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,β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[s]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,β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,α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]] such βs in A and q =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,β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[t] −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,β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,α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]] 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794" y="3869000"/>
            <a:ext cx="5220215" cy="2397657"/>
          </a:xfrm>
          <a:prstGeom prst="rect">
            <a:avLst/>
          </a:prstGeom>
        </p:spPr>
      </p:pic>
      <p:sp>
        <p:nvSpPr>
          <p:cNvPr id="10" name="內容版面配置區 4"/>
          <p:cNvSpPr txBox="1">
            <a:spLocks/>
          </p:cNvSpPr>
          <p:nvPr/>
        </p:nvSpPr>
        <p:spPr>
          <a:xfrm>
            <a:off x="5497213" y="4140849"/>
            <a:ext cx="3103090" cy="1238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left-aligned α-part 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right-aligned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 -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8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 +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nlogn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p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moment. For the three values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p, q, we deﬁne a piecewise-linear function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consisting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slope-1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segment from (0,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p) to (q − p,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q) and a horizontal extension from that point to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inﬁnity.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55" y="3696710"/>
            <a:ext cx="3730219" cy="171329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6216" y="3347506"/>
            <a:ext cx="3396692" cy="327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54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 +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nlogn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example, with no extra βs from the right, we only get min(p, q) = p many pairs of βs, which together with the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αs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yield a sequence of length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(0) =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p. 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we have q − p free βs on the right, we could get a sequence of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 f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(q − p) =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q.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55" y="4116840"/>
            <a:ext cx="3730219" cy="1713298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0195" y="3748216"/>
            <a:ext cx="3016576" cy="291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1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 +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nlogn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Assuming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y, The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 - y)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tells us exactly how long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subsequence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build to the left of the split if we throw in a surplus of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 - y)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βs into A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now use our function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obtain the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 of an LCWIS of type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α</m:t>
                        </m:r>
                      </m:e>
                      <m:sup>
                        <m: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  <m:sSup>
                      <m:sSupPr>
                        <m:ctrlP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β</m:t>
                        </m:r>
                      </m:e>
                      <m:sup>
                        <m:r>
                          <a:rPr lang="zh-TW" alt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γ</m:t>
                        </m:r>
                      </m:e>
                      <m:sup>
                        <m: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That would cost quadratic time and space.</a:t>
                </a:r>
              </a:p>
              <a:p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05" t="-1401" r="-1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55" y="4116840"/>
            <a:ext cx="3730219" cy="1713298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0195" y="3748216"/>
            <a:ext cx="3016576" cy="291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 +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nlogn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trick is now to draw the functions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into one diagram. Their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pointwise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maximum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upper envelope of their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plots.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05" t="-14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982" y="3813568"/>
            <a:ext cx="5511114" cy="290790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2994" y="4634872"/>
            <a:ext cx="2847717" cy="130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23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 +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nlogn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particular, any such subsequence with exactly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many αs has all its αs to the left of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cut (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A,α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,α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]) and all its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γs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the right of that cut.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982" y="3813568"/>
            <a:ext cx="5511114" cy="290790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2994" y="4634872"/>
            <a:ext cx="2847717" cy="130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258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 +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nlogn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789359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assign levels to the splits in S : let the level of the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ith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split (counting from left) be the index of the least signiﬁcant bit equal to one in the binary representation of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β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β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α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 min(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,α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[n],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,α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[m]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4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size of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Split )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≔</m:t>
                        </m:r>
                      </m:e>
                    </m:box>
                    <m:d>
                      <m:dPr>
                        <m:begChr m:val="⌊"/>
                        <m:endChr m:val="⌋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TW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400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TW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func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     (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highest level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789359"/>
              </a:xfrm>
              <a:blipFill rotWithShape="0">
                <a:blip r:embed="rId3"/>
                <a:stretch>
                  <a:fillRect l="-1159" t="-1781" r="-4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接點 6"/>
          <p:cNvCxnSpPr/>
          <p:nvPr/>
        </p:nvCxnSpPr>
        <p:spPr>
          <a:xfrm>
            <a:off x="1309816" y="3772930"/>
            <a:ext cx="0" cy="197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808205" y="3772930"/>
            <a:ext cx="0" cy="197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H="1">
            <a:off x="2047103" y="3748216"/>
            <a:ext cx="144162" cy="197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2500183" y="3764692"/>
            <a:ext cx="0" cy="197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380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7614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 +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nlogn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7893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β α β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 smtClean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α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TW" sz="2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β</a:t>
                </a:r>
                <a:r>
                  <a:rPr lang="en-US" altLang="zh-TW" sz="2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α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TW" sz="2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endPara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evel-r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p>
                    <m:r>
                      <a:rPr lang="zh-TW" alt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、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789359"/>
              </a:xfrm>
              <a:blipFill rotWithShape="0">
                <a:blip r:embed="rId3"/>
                <a:stretch>
                  <a:fillRect l="-1159" t="-19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116" y="1471059"/>
            <a:ext cx="4339667" cy="5386941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4349578" y="2465644"/>
            <a:ext cx="4108107" cy="17546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接點 14"/>
          <p:cNvCxnSpPr/>
          <p:nvPr/>
        </p:nvCxnSpPr>
        <p:spPr>
          <a:xfrm flipH="1">
            <a:off x="2421924" y="1582607"/>
            <a:ext cx="98855" cy="130887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4749113" y="3064476"/>
            <a:ext cx="3134498" cy="36911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單箭頭接點 18"/>
          <p:cNvCxnSpPr/>
          <p:nvPr/>
        </p:nvCxnSpPr>
        <p:spPr>
          <a:xfrm flipH="1">
            <a:off x="3347340" y="3212757"/>
            <a:ext cx="1323515" cy="321275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1482811" y="1805188"/>
            <a:ext cx="815546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1507524" y="2817341"/>
            <a:ext cx="741406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1740543" y="145945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TW" alt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748339" y="269514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TW" alt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271883" y="289148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向右箭號 27"/>
          <p:cNvSpPr/>
          <p:nvPr/>
        </p:nvSpPr>
        <p:spPr>
          <a:xfrm>
            <a:off x="1235676" y="1401703"/>
            <a:ext cx="1186248" cy="1034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向左箭號 28"/>
          <p:cNvSpPr/>
          <p:nvPr/>
        </p:nvSpPr>
        <p:spPr>
          <a:xfrm>
            <a:off x="2728269" y="1401704"/>
            <a:ext cx="963827" cy="10346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08" y="4260551"/>
            <a:ext cx="2409825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50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7614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 +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nlogn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7893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α β α β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 smtClean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α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TW" sz="2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β</a:t>
                </a:r>
                <a:r>
                  <a:rPr lang="en-US" altLang="zh-TW" sz="2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α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α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TW" sz="2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endPara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E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 </a:t>
                </a:r>
                <a:r>
                  <a:rPr lang="es-E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endParaRPr lang="es-E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E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s-E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s-E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s-E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s-E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(x, y),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s-E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s-E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 y, x))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E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min(x</a:t>
                </a:r>
                <a:r>
                  <a:rPr lang="es-E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y)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E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i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789359"/>
              </a:xfrm>
              <a:blipFill rotWithShape="0">
                <a:blip r:embed="rId3"/>
                <a:stretch>
                  <a:fillRect l="-1159" t="-19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116" y="1471059"/>
            <a:ext cx="4339667" cy="5386941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4288116" y="4265312"/>
            <a:ext cx="4108107" cy="23695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接點 14"/>
          <p:cNvCxnSpPr/>
          <p:nvPr/>
        </p:nvCxnSpPr>
        <p:spPr>
          <a:xfrm flipH="1">
            <a:off x="2421924" y="1582607"/>
            <a:ext cx="98855" cy="130887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2271883" y="289148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向右箭號 27"/>
          <p:cNvSpPr/>
          <p:nvPr/>
        </p:nvSpPr>
        <p:spPr>
          <a:xfrm>
            <a:off x="1235676" y="1401703"/>
            <a:ext cx="1186248" cy="1034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向左箭號 28"/>
          <p:cNvSpPr/>
          <p:nvPr/>
        </p:nvSpPr>
        <p:spPr>
          <a:xfrm>
            <a:off x="2728269" y="1401704"/>
            <a:ext cx="963827" cy="10346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/>
          <p:cNvCxnSpPr/>
          <p:nvPr/>
        </p:nvCxnSpPr>
        <p:spPr>
          <a:xfrm flipV="1">
            <a:off x="2575288" y="1805188"/>
            <a:ext cx="686896" cy="601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2592169" y="2817341"/>
            <a:ext cx="401686" cy="602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2791830" y="146005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TW" alt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670820" y="272329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TW" alt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直線單箭頭接點 29"/>
          <p:cNvCxnSpPr/>
          <p:nvPr/>
        </p:nvCxnSpPr>
        <p:spPr>
          <a:xfrm flipH="1" flipV="1">
            <a:off x="3435178" y="4909751"/>
            <a:ext cx="1309818" cy="93087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01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(m log log m)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98141"/>
                <a:ext cx="7886700" cy="3729986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Assuming that such a procedure for the 2-letter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exists, For each k, where k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min{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A,γ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[n],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B,γ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[m]} down to 0.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r>
                  <a:rPr lang="el-G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r>
                  <a:rPr lang="el-GR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n] −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r>
                  <a:rPr lang="el-G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k] + 1]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r>
                  <a:rPr lang="el-G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r>
                  <a:rPr lang="el-G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m]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r>
                  <a:rPr lang="el-G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k] + 1]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l-PL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A[1 . . . a</a:t>
                </a:r>
                <a:r>
                  <a:rPr lang="pl-PL" altLang="zh-TW" sz="2400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pl-PL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], B [1 . . . b</a:t>
                </a:r>
                <a:r>
                  <a:rPr lang="pl-PL" altLang="zh-TW" sz="2400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pl-PL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l-PL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])</a:t>
                </a:r>
                <a:endParaRPr lang="en-US" altLang="zh-TW" sz="2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way we obtain for every k the length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a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CWIS of type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α</m:t>
                        </m:r>
                      </m:e>
                      <m:sup>
                        <m:r>
                          <a:rPr lang="en-US" altLang="zh-TW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β</m:t>
                        </m:r>
                      </m:e>
                      <m:sup>
                        <m:r>
                          <a:rPr lang="en-US" altLang="zh-TW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γ</m:t>
                        </m:r>
                      </m:e>
                      <m:sup>
                        <m:r>
                          <a:rPr lang="en-US" altLang="zh-TW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98141"/>
                <a:ext cx="7886700" cy="3729986"/>
              </a:xfrm>
              <a:blipFill rotWithShape="0">
                <a:blip r:embed="rId3"/>
                <a:stretch>
                  <a:fillRect l="-1159" t="-2288" r="-1932" b="-29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390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(m log log m)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84023" y="2092411"/>
                <a:ext cx="7886700" cy="372998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α β α β α α β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 smtClean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α β α α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 β β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 smtClean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endParaRPr lang="en-US" altLang="zh-TW" sz="24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solve the 2-letter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subproblem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</a:t>
                </a:r>
                <a:r>
                  <a:rPr lang="en-US" altLang="zh-TW" sz="24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A[1 . . . </a:t>
                </a:r>
                <a:r>
                  <a:rPr lang="en-US" altLang="zh-TW" sz="24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baseline="-250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4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], B [1 . . . </a:t>
                </a:r>
                <a:r>
                  <a:rPr lang="en-US" altLang="zh-TW" sz="24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baseline="-250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4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])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using the 2-letter online procedure.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the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 to the 2-letter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subproblem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A[1 . . . a</a:t>
                </a:r>
                <a:r>
                  <a:rPr lang="en-US" altLang="zh-TW" sz="2400" baseline="-250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k+1</a:t>
                </a:r>
                <a:r>
                  <a:rPr lang="en-US" altLang="zh-TW" sz="24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], B [1 . . . b</a:t>
                </a:r>
                <a:r>
                  <a:rPr lang="en-US" altLang="zh-TW" sz="2400" baseline="-250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k+1</a:t>
                </a:r>
                <a:r>
                  <a:rPr lang="en-US" altLang="zh-TW" sz="24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])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we solved in the previous iteration, we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reveal to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procedure the symbols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[b</a:t>
                </a:r>
                <a:r>
                  <a:rPr lang="en-US" altLang="zh-TW" sz="2400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k+1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1],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. . , B [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] and A[a</a:t>
                </a:r>
                <a:r>
                  <a:rPr lang="en-US" altLang="zh-TW" sz="2400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k+1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+ 1], . . . , A[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]</a:t>
                </a: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4023" y="2092411"/>
                <a:ext cx="7886700" cy="3729986"/>
              </a:xfrm>
              <a:blipFill rotWithShape="0">
                <a:blip r:embed="rId3"/>
                <a:stretch>
                  <a:fillRect l="-1159" t="-2451" r="-13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接點 4"/>
          <p:cNvCxnSpPr/>
          <p:nvPr/>
        </p:nvCxnSpPr>
        <p:spPr>
          <a:xfrm flipV="1">
            <a:off x="2174790" y="2092411"/>
            <a:ext cx="1210962" cy="88968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3113903" y="2092411"/>
            <a:ext cx="667265" cy="9967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5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(m log log m)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884023" y="2092411"/>
            <a:ext cx="7886700" cy="37299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the 2-letter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case:</a:t>
            </a:r>
          </a:p>
          <a:p>
            <a:pPr marL="0" indent="0">
              <a:buNone/>
            </a:pP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a] −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]])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b] −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l-G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]])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050" y="3786998"/>
            <a:ext cx="5260504" cy="242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2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(m log log m)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884023" y="2092411"/>
            <a:ext cx="7886700" cy="3729986"/>
          </a:xfrm>
        </p:spPr>
        <p:txBody>
          <a:bodyPr>
            <a:no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Keep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EX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L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EX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described and a variable that holds the current solution, i.e., the currently best CWIS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priority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keeping CWISs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&gt;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EX</a:t>
            </a:r>
            <a:r>
              <a:rPr lang="en-US" altLang="zh-TW" sz="2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holds the CWISs of L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sorted by their excess of βs in A .</a:t>
            </a: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14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(m log log m)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84023" y="2092411"/>
                <a:ext cx="7886700" cy="372998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β α β α α β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β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β α α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Create a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CWIS with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zero αs,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e.g.  CWIS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α</m:t>
                        </m:r>
                      </m:e>
                      <m:sup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Insert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L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set it to be the current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solution.</a:t>
                </a:r>
                <a:endPara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new α is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revealed in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or B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it is the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one in its sequence, check whether there are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αs in the other sequence and if so, create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new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CWIS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α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CWIS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α</m:t>
                        </m:r>
                      </m:e>
                      <m:sup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4023" y="2092411"/>
                <a:ext cx="7886700" cy="3729986"/>
              </a:xfrm>
              <a:blipFill rotWithShape="0">
                <a:blip r:embed="rId3"/>
                <a:stretch>
                  <a:fillRect l="-1159" t="-2451" b="-274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接點 4"/>
          <p:cNvCxnSpPr/>
          <p:nvPr/>
        </p:nvCxnSpPr>
        <p:spPr>
          <a:xfrm flipV="1">
            <a:off x="2174790" y="2092411"/>
            <a:ext cx="1210962" cy="88968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77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(m log log m)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84023" y="2092411"/>
                <a:ext cx="7886700" cy="372998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β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β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α β</a:t>
                </a:r>
                <a:r>
                  <a:rPr lang="en-US" altLang="zh-TW" sz="2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 smtClean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β</a:t>
                </a:r>
                <a:r>
                  <a:rPr lang="en-US" altLang="zh-TW" sz="2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β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 smtClean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TW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 β β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endParaRPr lang="en-US" altLang="zh-TW" sz="24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its excess in A and if it is non-negative insert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into L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excess in A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negative, then the excess in B is positive, so, insert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into L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EX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marL="0" indent="0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</a:t>
                </a:r>
                <a:r>
                  <a:rPr lang="en-US" altLang="zh-TW" sz="2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= 3 – 1 = 2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 =&gt; 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insert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into L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EX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CWIS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 +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l-G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b] −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l-G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l-G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1]]) = 1 + 1 = 2</a:t>
                </a: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4023" y="2092411"/>
                <a:ext cx="7886700" cy="3729986"/>
              </a:xfrm>
              <a:blipFill rotWithShape="0">
                <a:blip r:embed="rId3"/>
                <a:stretch>
                  <a:fillRect l="-1159" t="-2451" r="-773" b="-60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接點 4"/>
          <p:cNvCxnSpPr/>
          <p:nvPr/>
        </p:nvCxnSpPr>
        <p:spPr>
          <a:xfrm flipV="1">
            <a:off x="2174790" y="2092411"/>
            <a:ext cx="1210962" cy="88968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1779373" y="1977081"/>
            <a:ext cx="121096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1754659" y="2982098"/>
            <a:ext cx="5931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851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(m log log m)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29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84023" y="2092411"/>
                <a:ext cx="7886700" cy="372998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α β α β α α β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α β α α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 β β</a:t>
                </a:r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a new β is revealed in A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check whether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minimum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has negative excess and if so, delete it from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insert it into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Next,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check whether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maximum between the maximum in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the maximum in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 length greater than the current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 and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so, set it to be the current solution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4023" y="2092411"/>
                <a:ext cx="7886700" cy="3729986"/>
              </a:xfrm>
              <a:blipFill rotWithShape="0">
                <a:blip r:embed="rId3"/>
                <a:stretch>
                  <a:fillRect l="-1159" t="-2451" r="-20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接點 4"/>
          <p:cNvCxnSpPr/>
          <p:nvPr/>
        </p:nvCxnSpPr>
        <p:spPr>
          <a:xfrm flipV="1">
            <a:off x="2174790" y="2092411"/>
            <a:ext cx="1210962" cy="88968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4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LCWIS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3-letter case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(m log log m) time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30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84023" y="2092411"/>
                <a:ext cx="7886700" cy="3729986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use as a priority queue a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van </a:t>
                </a:r>
                <a:r>
                  <a:rPr lang="en-US" altLang="zh-TW" sz="2400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Emde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Boas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which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supports each operation in O (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loglog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m) time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we spent in the above algorithm each time we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encounter a new symbol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O (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loglog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m), so we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have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We can ﬁnd an LCWIS of two 3-letter sequences of lengths m and n, with m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n, in O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((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m+n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m)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=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(m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m) time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4023" y="2092411"/>
                <a:ext cx="7886700" cy="3729986"/>
              </a:xfrm>
              <a:blipFill rotWithShape="0">
                <a:blip r:embed="rId3"/>
                <a:stretch>
                  <a:fillRect l="-1005" t="-2288" r="-17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821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78564</TotalTime>
  <Words>1940</Words>
  <Application>Microsoft Office PowerPoint</Application>
  <PresentationFormat>如螢幕大小 (4:3)</PresentationFormat>
  <Paragraphs>445</Paragraphs>
  <Slides>30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9" baseType="lpstr">
      <vt:lpstr>新細明體</vt:lpstr>
      <vt:lpstr>標楷體</vt:lpstr>
      <vt:lpstr>Arial</vt:lpstr>
      <vt:lpstr>Calibri</vt:lpstr>
      <vt:lpstr>Calibri Light</vt:lpstr>
      <vt:lpstr>Cambria Math</vt:lpstr>
      <vt:lpstr>Symbol</vt:lpstr>
      <vt:lpstr>Times New Roman</vt:lpstr>
      <vt:lpstr>Office 佈景主題</vt:lpstr>
      <vt:lpstr>Faster algorithms for computing longest common increasing subsequences</vt:lpstr>
      <vt:lpstr>Abstract(1/2)</vt:lpstr>
      <vt:lpstr>Abstract(2/2)</vt:lpstr>
      <vt:lpstr>Bounded heaps</vt:lpstr>
      <vt:lpstr>Bounded heaps</vt:lpstr>
      <vt:lpstr>LCIS</vt:lpstr>
      <vt:lpstr>LCIS</vt:lpstr>
      <vt:lpstr>LCIS</vt:lpstr>
      <vt:lpstr>O ((m + nℓ) log log σ + SortΣ (m)) time algorithm</vt:lpstr>
      <vt:lpstr>Longest common non-decreasing or weakly-increasing subsequences (LCWIS)</vt:lpstr>
      <vt:lpstr>LCWIS for the 2-letter case</vt:lpstr>
      <vt:lpstr>LCWIS for the 2-letter case</vt:lpstr>
      <vt:lpstr>LCWIS for the 3-letter case in  O (m + nlogn) time</vt:lpstr>
      <vt:lpstr>LCWIS for the 3-letter case in  O (m + nlogn) time</vt:lpstr>
      <vt:lpstr>LCWIS for the 3-letter case in  O (m + nlogn) time</vt:lpstr>
      <vt:lpstr>LCWIS for the 3-letter case in  O (m + nlogn) time</vt:lpstr>
      <vt:lpstr>LCWIS for the 3-letter case in  O (m + nlogn) time</vt:lpstr>
      <vt:lpstr>LCWIS for the 3-letter case in  O (m + nlogn) time</vt:lpstr>
      <vt:lpstr>LCWIS for the 3-letter case in  O (m + nlogn) time</vt:lpstr>
      <vt:lpstr>LCWIS for the 3-letter case in  O (m + nlogn) time</vt:lpstr>
      <vt:lpstr>LCWIS for the 3-letter case in  O (m + nlogn) time</vt:lpstr>
      <vt:lpstr>LCWIS for the 3-letter case in  O (m + nlogn) time</vt:lpstr>
      <vt:lpstr>LCWIS for the 3-letter case in  O (m log log m) time</vt:lpstr>
      <vt:lpstr>LCWIS for the 3-letter case in  O (m log log m) time</vt:lpstr>
      <vt:lpstr>LCWIS for the 3-letter case in  O (m log log m) time</vt:lpstr>
      <vt:lpstr>LCWIS for the 3-letter case in  O (m log log m) time</vt:lpstr>
      <vt:lpstr>LCWIS for the 3-letter case in  O (m log log m) time</vt:lpstr>
      <vt:lpstr>LCWIS for the 3-letter case in  O (m log log m) time</vt:lpstr>
      <vt:lpstr>LCWIS for the 3-letter case in  O (m log log m) time</vt:lpstr>
      <vt:lpstr>LCWIS for the 3-letter case in  O (m log log m) time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much</cp:lastModifiedBy>
  <cp:revision>639</cp:revision>
  <dcterms:created xsi:type="dcterms:W3CDTF">2016-04-23T07:31:56Z</dcterms:created>
  <dcterms:modified xsi:type="dcterms:W3CDTF">2017-11-21T09:08:08Z</dcterms:modified>
</cp:coreProperties>
</file>