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9" r:id="rId3"/>
    <p:sldId id="260" r:id="rId4"/>
    <p:sldId id="263" r:id="rId5"/>
    <p:sldId id="261" r:id="rId6"/>
    <p:sldId id="262" r:id="rId7"/>
    <p:sldId id="264" r:id="rId8"/>
    <p:sldId id="265" r:id="rId9"/>
    <p:sldId id="266" r:id="rId10"/>
    <p:sldId id="267" r:id="rId11"/>
    <p:sldId id="270" r:id="rId12"/>
    <p:sldId id="269" r:id="rId13"/>
    <p:sldId id="268" r:id="rId14"/>
    <p:sldId id="271" r:id="rId15"/>
    <p:sldId id="272" r:id="rId16"/>
    <p:sldId id="273" r:id="rId17"/>
    <p:sldId id="274" r:id="rId18"/>
    <p:sldId id="275" r:id="rId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0" autoAdjust="0"/>
    <p:restoredTop sz="88876" autoAdjust="0"/>
  </p:normalViewPr>
  <p:slideViewPr>
    <p:cSldViewPr snapToGrid="0">
      <p:cViewPr varScale="1">
        <p:scale>
          <a:sx n="79" d="100"/>
          <a:sy n="79" d="100"/>
        </p:scale>
        <p:origin x="858" y="9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2017/8/29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2017/8/29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1258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0798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230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1331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8516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4878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6727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44697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95145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915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51366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2982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84839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21488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90868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4388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1810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874B-C395-47F4-9570-4C8CF7D45370}" type="datetime1">
              <a:rPr lang="zh-TW" altLang="en-US" smtClean="0"/>
              <a:t>2017/8/29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DEDB-5F5E-44FA-B831-E90F058DB6F4}" type="datetime1">
              <a:rPr lang="zh-TW" altLang="en-US" smtClean="0"/>
              <a:t>2017/8/29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1630-F4D6-4EBF-9C74-8617157AD5D6}" type="datetime1">
              <a:rPr lang="zh-TW" altLang="en-US" smtClean="0"/>
              <a:t>2017/8/29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D3DE-8CFB-4129-96E2-08988034C732}" type="datetime1">
              <a:rPr lang="zh-TW" altLang="en-US" smtClean="0"/>
              <a:t>2017/8/29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CE5E-A50E-4314-8E1B-4CDA583A915B}" type="datetime1">
              <a:rPr lang="zh-TW" altLang="en-US" smtClean="0"/>
              <a:t>2017/8/29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D8EC-D88C-48B5-B26B-F86C173BA82F}" type="datetime1">
              <a:rPr lang="zh-TW" altLang="en-US" smtClean="0"/>
              <a:t>2017/8/29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FB5D-05F3-4856-AB9D-B8A7C57C895A}" type="datetime1">
              <a:rPr lang="zh-TW" altLang="en-US" smtClean="0"/>
              <a:t>2017/8/29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97A6-071E-4A76-B85B-D424C755E7DF}" type="datetime1">
              <a:rPr lang="zh-TW" altLang="en-US" smtClean="0"/>
              <a:t>2017/8/29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83EC-5F79-4973-9855-BCC29F5B863A}" type="datetime1">
              <a:rPr lang="zh-TW" altLang="en-US" smtClean="0"/>
              <a:t>2017/8/29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3B9F-CBD6-4321-983D-C2EF11BDF098}" type="datetime1">
              <a:rPr lang="zh-TW" altLang="en-US" smtClean="0"/>
              <a:t>2017/8/29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04472-345F-406F-9172-EFF7C92DEB6F}" type="datetime1">
              <a:rPr lang="zh-TW" altLang="en-US" smtClean="0"/>
              <a:t>2017/8/29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A1D2B-8465-443F-AA03-EF1EA2D4A471}" type="datetime1">
              <a:rPr lang="zh-TW" altLang="en-US" smtClean="0"/>
              <a:t>2017/8/29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903" y="224732"/>
            <a:ext cx="8905101" cy="1496976"/>
          </a:xfrm>
        </p:spPr>
        <p:txBody>
          <a:bodyPr>
            <a:normAutofit fontScale="90000"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Stock Market Price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of </a:t>
            </a:r>
            <a:b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Wavelet Transform and Artificial Neural Network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060448"/>
            <a:ext cx="8353402" cy="4111751"/>
          </a:xfrm>
        </p:spPr>
        <p:txBody>
          <a:bodyPr>
            <a:noAutofit/>
          </a:bodyPr>
          <a:lstStyle/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S</a:t>
            </a:r>
            <a:r>
              <a:rPr lang="en-US" altLang="zh-TW" dirty="0"/>
              <a:t>. Kumar </a:t>
            </a:r>
            <a:r>
              <a:rPr lang="en-US" altLang="zh-TW" dirty="0" err="1" smtClean="0"/>
              <a:t>Chandar</a:t>
            </a:r>
            <a:r>
              <a:rPr lang="en-US" altLang="zh-TW" dirty="0" smtClean="0"/>
              <a:t>, </a:t>
            </a:r>
            <a:r>
              <a:rPr lang="en-US" altLang="zh-TW" dirty="0"/>
              <a:t>M. </a:t>
            </a:r>
            <a:r>
              <a:rPr lang="en-US" altLang="zh-TW" dirty="0" err="1" smtClean="0"/>
              <a:t>Sumathi</a:t>
            </a:r>
            <a:r>
              <a:rPr lang="en-US" altLang="zh-TW" dirty="0" smtClean="0"/>
              <a:t> </a:t>
            </a:r>
            <a:r>
              <a:rPr lang="en-US" altLang="zh-TW" dirty="0"/>
              <a:t>and S. N. </a:t>
            </a:r>
            <a:r>
              <a:rPr lang="en-US" altLang="zh-TW" dirty="0" err="1"/>
              <a:t>Sivanandam</a:t>
            </a:r>
            <a:endParaRPr lang="en-US" altLang="zh-TW" dirty="0" smtClean="0"/>
          </a:p>
          <a:p>
            <a:r>
              <a:rPr lang="en-US" altLang="zh-TW" dirty="0"/>
              <a:t> Indian Journal of Science and Technology, </a:t>
            </a:r>
            <a:r>
              <a:rPr lang="en-US" altLang="zh-TW" dirty="0" smtClean="0"/>
              <a:t>Vol. </a:t>
            </a:r>
            <a:r>
              <a:rPr lang="en-US" altLang="zh-TW" dirty="0"/>
              <a:t>9(8) </a:t>
            </a:r>
            <a:r>
              <a:rPr lang="en-US" altLang="zh-TW" dirty="0" smtClean="0"/>
              <a:t>,</a:t>
            </a:r>
          </a:p>
          <a:p>
            <a:r>
              <a:rPr lang="en-US" altLang="zh-TW" dirty="0" smtClean="0"/>
              <a:t> </a:t>
            </a:r>
            <a:r>
              <a:rPr lang="en-US" altLang="zh-TW" dirty="0"/>
              <a:t>February 2016</a:t>
            </a:r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Shou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-Fu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2017/08/29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223924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Background/Objectives: Accurate prediction of stock market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highly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challenging. This paper presents a forecasting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Discrete Wavelet Transform (DWT) 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Neural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(ANN) for predicting financial time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series.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Methods/Statistical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 The idea of forecasting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stock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market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prices with discrete wavelet transform is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central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element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this paper. The proposed forecasting model uses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Wavelet Transform to decompose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time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series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 The obtained approximation and detail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 of the original time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series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are used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of back propagation neural network to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forecast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84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2509" y="1001502"/>
            <a:ext cx="8254312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prices. Approximation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 can characterize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coarse structure of the data and detail coefficients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capture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ruptures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discontinuities 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singularities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original data,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long-term trends in the original data.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Findings: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 was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five datasets. For all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accuracy measures showed that the presented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model. It also proved that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has achieved better results compared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not using the wavelet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transform.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Applications/Improvements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accuracy of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hybrid 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improved by developing a model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with Adaptive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Fuzzy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352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Wavelet Transform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51936" y="1372205"/>
            <a:ext cx="7710615" cy="4351338"/>
          </a:xfrm>
        </p:spPr>
        <p:txBody>
          <a:bodyPr>
            <a:no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定義一些需要用到的訊號及濾波器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O(t)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：離散的輸入訊號，長度為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A(t)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low pass filter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低通濾波器，可以將輸入訊號的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高頻部份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濾掉而輸出低頻部份。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D(t)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high pass filter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高通濾波器，與低通濾波器相反，濾掉低頻部份而輸出高頻部份。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382" y="4111626"/>
            <a:ext cx="629602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73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Wavelet Transform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51936" y="1372205"/>
            <a:ext cx="7710615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fundamental and novel contribution of the paper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is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 use 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Discrete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Wavelet Transform (DWT) to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decompose the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historical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 series into a set of well-behaved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coefficients 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AC and DC). 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Approximation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coefficients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(low frequency)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used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 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characterize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coarse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structure of data to identify long term 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trends.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Detail coefficients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(high frequency)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used to capture rupture, 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singularities and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discontinuities.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17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Wavelet Transform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51936" y="1372205"/>
            <a:ext cx="8254312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小波轉換的基底，是由一組既代表頻率又代表位置的基底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所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構成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，這些基底之間彼此互相存在著放大、縮小和平移的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關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係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 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而</a:t>
            </a:r>
            <a:r>
              <a:rPr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任意的一個信號亦皆可由小波轉換的基底的線性</a:t>
            </a:r>
            <a:r>
              <a:rPr lang="zh-TW" altLang="en-US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組合所合</a:t>
            </a:r>
            <a:endParaRPr lang="en-US" altLang="zh-TW" sz="24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en-US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成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 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小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波轉換即是算出此信號所含有每一個基底的分量。 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小波轉換的基底在一維時，具有時間與頻率的資訊，在二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維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，具有空間位置和頻率的資訊。 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55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Wavelet Transform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51936" y="1372205"/>
            <a:ext cx="8254312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常見的小波基底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400" b="1" u="sng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Haar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Daubechies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Biorthogonal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Coiflets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</a:p>
          <a:p>
            <a:pPr>
              <a:buNone/>
            </a:pP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Symlets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Morlet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Mexican Hat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Meyer,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Gaus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Dmeyer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</a:p>
          <a:p>
            <a:pPr>
              <a:buNone/>
            </a:pP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ReverseBior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Cgau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Cmor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Fbsp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Shan.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666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Wavelet Transform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51936" y="1372205"/>
            <a:ext cx="8254312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Ψ(t)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代表小波信號的母函數，利用此函數，可以產生小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波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轉換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的所有基底，以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Ψ(t-T / a) </a:t>
            </a:r>
            <a:r>
              <a:rPr lang="zh-TW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示</a:t>
            </a:r>
            <a:r>
              <a:rPr lang="zh-TW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函數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Ψ(t) 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在時間軸上</a:t>
            </a:r>
            <a:r>
              <a:rPr lang="zh-TW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放</a:t>
            </a:r>
            <a:endParaRPr lang="en-US" altLang="zh-TW" sz="2400" dirty="0" smtClean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或縮小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 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倍</a:t>
            </a:r>
            <a:r>
              <a:rPr lang="zh-TW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平移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 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時間的信號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，這些信號將構成小波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換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的基底。 </a:t>
            </a:r>
            <a:b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 &gt; 1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，此函數在時間軸放大，即此信號的頻率變低。 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 &lt; 1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，此函數在時間軸縮小，即此信號的頻率變高。 </a:t>
            </a:r>
            <a:b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Haar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小波定義為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((t-T) / a)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，其中： 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(k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= 1, if 0 &lt; k &lt; 1/2 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(k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= -1, if 1/2 &lt;= k &lt; 1 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(k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= 0, others 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301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Wavelet Transform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22421" y="202578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= 2, T = 0 </a:t>
            </a:r>
            <a:r>
              <a:rPr kumimoji="0" lang="zh-TW" altLang="zh-TW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TW" altLang="zh-TW" sz="8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3" name="Picture 7" descr="wavelet_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6" y="1446345"/>
            <a:ext cx="3143250" cy="1400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22421" y="422781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= 4, T = 0 </a:t>
            </a:r>
            <a:r>
              <a:rPr kumimoji="0" lang="zh-TW" altLang="zh-TW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TW" altLang="zh-TW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TW" altLang="zh-TW" sz="8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5" name="Picture 9" descr="wavelet_00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6" y="3648380"/>
            <a:ext cx="3143250" cy="1400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3781167" y="201634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= 2, T = 2 </a:t>
            </a:r>
            <a:r>
              <a:rPr kumimoji="0" lang="zh-TW" altLang="zh-TW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TW" altLang="zh-TW" sz="88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zh-TW" altLang="zh-TW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7" name="Picture 11" descr="wavelet_00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742" y="1436906"/>
            <a:ext cx="3143250" cy="1400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3781167" y="422781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= 2, T = 4 </a:t>
            </a:r>
            <a:r>
              <a:rPr kumimoji="0" lang="zh-TW" altLang="zh-TW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zh-TW" altLang="zh-TW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TW" altLang="zh-TW" sz="88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zh-TW" altLang="zh-TW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11" name="Picture 15" descr="wavelet_00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742" y="3648380"/>
            <a:ext cx="3143250" cy="1400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10"/>
          <p:cNvSpPr txBox="1"/>
          <p:nvPr/>
        </p:nvSpPr>
        <p:spPr>
          <a:xfrm>
            <a:off x="1157681" y="59645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222421" y="5364407"/>
            <a:ext cx="43973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由圖可以發現 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Haar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小波的特性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這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些小波在時間的延展上有一定的範圍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這些小波的頻率並非完全相同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這些小波兩兩正交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805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Wavelet Transform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98388" y="1223924"/>
            <a:ext cx="735571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Haar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小波而言，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(t/2)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可視為離散信號能表示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最高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頻率成為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的一個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Haar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小波信號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，因為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((t-T) / a) 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中，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1/a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的最大值是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1/2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，可以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的次方值，將此頻率變小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，即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1/a 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取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1/2, 1/4, 1/8 …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，同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理，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的值可取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0, 2, 4, 8 ...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如此，可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重新定義一組離散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Haar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小波基底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，這些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基底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之間彼此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兩兩正交： </a:t>
            </a:r>
            <a:b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(k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= Ψ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</a:t>
            </a:r>
            <a:r>
              <a:rPr lang="en-US" altLang="zh-TW" sz="2400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 -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m);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-1, ..., -∞;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0, ..., ∞ 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5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Wavelet Transform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98388" y="1223924"/>
            <a:ext cx="735571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o(t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為一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維信號，則此信號可以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(k)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線性組合表示成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o(t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= </a:t>
            </a:r>
            <a:r>
              <a:rPr lang="el-GR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ΣΣ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* </a:t>
            </a:r>
            <a:r>
              <a:rPr lang="el-GR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(t),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其中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-1, ..., -∞; m = 0, ...,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∞</a:t>
            </a: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o(t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之一維小波轉換之係數， </a:t>
            </a:r>
            <a:b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接著將上式的兩邊信號和 </a:t>
            </a:r>
            <a:r>
              <a:rPr lang="el-GR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(t)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作內積： </a:t>
            </a:r>
            <a:b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∫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o(t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* </a:t>
            </a:r>
            <a:r>
              <a:rPr lang="el-GR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(t)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dt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</a:t>
            </a:r>
            <a:r>
              <a:rPr lang="el-GR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ΣΣ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* </a:t>
            </a:r>
            <a:r>
              <a:rPr lang="el-GR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(t) * </a:t>
            </a:r>
            <a:r>
              <a:rPr lang="el-GR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(t) </a:t>
            </a:r>
            <a:b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由於 </a:t>
            </a:r>
            <a:r>
              <a:rPr lang="el-GR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(t)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中的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基底彼此正交的關係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內積為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，接著會變成： </a:t>
            </a:r>
            <a:b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=&gt;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∫ o(t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* </a:t>
            </a:r>
            <a:r>
              <a:rPr lang="el-GR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(t)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dt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* </a:t>
            </a:r>
            <a:r>
              <a:rPr lang="el-GR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(t) * </a:t>
            </a:r>
            <a:r>
              <a:rPr lang="el-GR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(t) </a:t>
            </a:r>
            <a:b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=&gt;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∫ o(t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* </a:t>
            </a:r>
            <a:r>
              <a:rPr lang="el-GR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(t)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dt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* 2 </a:t>
            </a:r>
            <a:r>
              <a:rPr lang="en-US" altLang="zh-TW" sz="2400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en-US" altLang="zh-TW" sz="2400" baseline="30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b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所以： </a:t>
            </a:r>
            <a:b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=&gt;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= 2 </a:t>
            </a:r>
            <a:r>
              <a:rPr lang="en-US" altLang="zh-TW" sz="2400" baseline="30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*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∫o(t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* </a:t>
            </a:r>
            <a:r>
              <a:rPr lang="el-GR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Ψ</a:t>
            </a:r>
            <a:r>
              <a:rPr lang="en-US" altLang="zh-TW" sz="2400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i,m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(t)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dt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b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836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Wavelet Transform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40" y="1569913"/>
            <a:ext cx="672465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0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Wavelet Transform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556" y="1077681"/>
            <a:ext cx="5034478" cy="56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35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Wavelet Transform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799071" y="1342767"/>
            <a:ext cx="66700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Data collection: Historical data of stock market </a:t>
            </a:r>
            <a:r>
              <a:rPr lang="en-US" altLang="zh-TW" sz="2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collected from authorized source</a:t>
            </a:r>
            <a:r>
              <a:rPr lang="en-US" altLang="zh-TW" sz="2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TW" sz="2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Decomposition: The original data series is </a:t>
            </a:r>
          </a:p>
          <a:p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decomposed using 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Haar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wavelet transform up to </a:t>
            </a:r>
          </a:p>
          <a:p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levels</a:t>
            </a:r>
            <a:r>
              <a:rPr lang="en-US" altLang="zh-TW" sz="2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Developing prediction system using BPNN to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closing price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Measure the performance of the proposed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56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123568" y="-101639"/>
            <a:ext cx="9020433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 Propagation Neural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236980" y="1359617"/>
            <a:ext cx="66700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BPNN consists of three layers. The first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is an input layer and corresponds to the problem’s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variables. The second layer is the hidden layer is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capture the non-linear relationships among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third layer is the output layer used to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forecasted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values.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屬於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「監督式學習」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271" y="4172966"/>
            <a:ext cx="3476625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521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236980" y="1359617"/>
            <a:ext cx="66700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technique considers the data for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period from January 1, 2010 to June, 2015 with a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1414 observations. The first 80% of the total data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 as the training sample, while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of the total sample data points are used as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sample.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99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488" y="1115696"/>
            <a:ext cx="5652162" cy="515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63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2" y="1312965"/>
            <a:ext cx="9055128" cy="367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88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50562</TotalTime>
  <Words>1052</Words>
  <Application>Microsoft Office PowerPoint</Application>
  <PresentationFormat>如螢幕大小 (4:3)</PresentationFormat>
  <Paragraphs>150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5" baseType="lpstr">
      <vt:lpstr>新細明體</vt:lpstr>
      <vt:lpstr>標楷體</vt:lpstr>
      <vt:lpstr>Arial</vt:lpstr>
      <vt:lpstr>Calibri</vt:lpstr>
      <vt:lpstr>Calibri Light</vt:lpstr>
      <vt:lpstr>Times New Roman</vt:lpstr>
      <vt:lpstr>Office 佈景主題</vt:lpstr>
      <vt:lpstr>Prediction of Stock Market Price Using Hybrid of  Wavelet Transform and Artificial Neural Network</vt:lpstr>
      <vt:lpstr>Abstract(1/2)</vt:lpstr>
      <vt:lpstr>Abstract(2/2)</vt:lpstr>
      <vt:lpstr>Discrete Wavelet Transform</vt:lpstr>
      <vt:lpstr>Discrete Wavelet Transform</vt:lpstr>
      <vt:lpstr>Discrete Wavelet Transform</vt:lpstr>
      <vt:lpstr>Discrete Wavelet Transform</vt:lpstr>
      <vt:lpstr>Discrete Wavelet Transform</vt:lpstr>
      <vt:lpstr>Discrete Wavelet Transform</vt:lpstr>
      <vt:lpstr>Discrete Wavelet Transform</vt:lpstr>
      <vt:lpstr>Discrete Wavelet Transform</vt:lpstr>
      <vt:lpstr>Discrete Wavelet Transform</vt:lpstr>
      <vt:lpstr>Discrete Wavelet Transform</vt:lpstr>
      <vt:lpstr>Discrete Wavelet Transform</vt:lpstr>
      <vt:lpstr> Back Propagation Neural Networks</vt:lpstr>
      <vt:lpstr> Experimental Results</vt:lpstr>
      <vt:lpstr> Experimental Results</vt:lpstr>
      <vt:lpstr> Experimental Results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pplab-class</cp:lastModifiedBy>
  <cp:revision>505</cp:revision>
  <dcterms:created xsi:type="dcterms:W3CDTF">2016-04-23T07:31:56Z</dcterms:created>
  <dcterms:modified xsi:type="dcterms:W3CDTF">2017-08-29T11:03:43Z</dcterms:modified>
</cp:coreProperties>
</file>