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319863970741474E-2"/>
          <c:y val="2.8972074397903683E-2"/>
          <c:w val="0.94583058562992128"/>
          <c:h val="0.76169748021053885"/>
        </c:manualLayout>
      </c:layout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x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工作表1!$B$2:$B$6</c:f>
              <c:numCache>
                <c:formatCode>General</c:formatCode>
                <c:ptCount val="5"/>
                <c:pt idx="0">
                  <c:v>3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DA-494C-8324-980A78E2455E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smooth x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工作表1!$C$2:$C$6</c:f>
              <c:numCache>
                <c:formatCode>General</c:formatCode>
                <c:ptCount val="5"/>
                <c:pt idx="0">
                  <c:v>2.4</c:v>
                </c:pt>
                <c:pt idx="1">
                  <c:v>1.6</c:v>
                </c:pt>
                <c:pt idx="2">
                  <c:v>2.4</c:v>
                </c:pt>
                <c:pt idx="3">
                  <c:v>3.9</c:v>
                </c:pt>
                <c:pt idx="4">
                  <c:v>4.8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9DA-494C-8324-980A78E245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8177376"/>
        <c:axId val="168177768"/>
      </c:lineChart>
      <c:catAx>
        <c:axId val="168177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68177768"/>
        <c:crosses val="autoZero"/>
        <c:auto val="1"/>
        <c:lblAlgn val="ctr"/>
        <c:lblOffset val="100"/>
        <c:noMultiLvlLbl val="0"/>
      </c:catAx>
      <c:valAx>
        <c:axId val="168177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68177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8F974-2B49-4FEC-ADC8-61464ACF1B27}" type="datetimeFigureOut">
              <a:rPr lang="zh-TW" altLang="en-US" smtClean="0"/>
              <a:t>2017/1/22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6607E-7F63-4937-9FE4-2DF35FDE4A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8195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8F974-2B49-4FEC-ADC8-61464ACF1B27}" type="datetimeFigureOut">
              <a:rPr lang="zh-TW" altLang="en-US" smtClean="0"/>
              <a:t>2017/1/22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6607E-7F63-4937-9FE4-2DF35FDE4A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8526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8F974-2B49-4FEC-ADC8-61464ACF1B27}" type="datetimeFigureOut">
              <a:rPr lang="zh-TW" altLang="en-US" smtClean="0"/>
              <a:t>2017/1/22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6607E-7F63-4937-9FE4-2DF35FDE4A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8335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8F974-2B49-4FEC-ADC8-61464ACF1B27}" type="datetimeFigureOut">
              <a:rPr lang="zh-TW" altLang="en-US" smtClean="0"/>
              <a:t>2017/1/22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6607E-7F63-4937-9FE4-2DF35FDE4A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1286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8F974-2B49-4FEC-ADC8-61464ACF1B27}" type="datetimeFigureOut">
              <a:rPr lang="zh-TW" altLang="en-US" smtClean="0"/>
              <a:t>2017/1/22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6607E-7F63-4937-9FE4-2DF35FDE4A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5906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8F974-2B49-4FEC-ADC8-61464ACF1B27}" type="datetimeFigureOut">
              <a:rPr lang="zh-TW" altLang="en-US" smtClean="0"/>
              <a:t>2017/1/22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6607E-7F63-4937-9FE4-2DF35FDE4A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51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8F974-2B49-4FEC-ADC8-61464ACF1B27}" type="datetimeFigureOut">
              <a:rPr lang="zh-TW" altLang="en-US" smtClean="0"/>
              <a:t>2017/1/22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6607E-7F63-4937-9FE4-2DF35FDE4A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0176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8F974-2B49-4FEC-ADC8-61464ACF1B27}" type="datetimeFigureOut">
              <a:rPr lang="zh-TW" altLang="en-US" smtClean="0"/>
              <a:t>2017/1/22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6607E-7F63-4937-9FE4-2DF35FDE4A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1415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8F974-2B49-4FEC-ADC8-61464ACF1B27}" type="datetimeFigureOut">
              <a:rPr lang="zh-TW" altLang="en-US" smtClean="0"/>
              <a:t>2017/1/22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6607E-7F63-4937-9FE4-2DF35FDE4A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3089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8F974-2B49-4FEC-ADC8-61464ACF1B27}" type="datetimeFigureOut">
              <a:rPr lang="zh-TW" altLang="en-US" smtClean="0"/>
              <a:t>2017/1/22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6607E-7F63-4937-9FE4-2DF35FDE4A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021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8F974-2B49-4FEC-ADC8-61464ACF1B27}" type="datetimeFigureOut">
              <a:rPr lang="zh-TW" altLang="en-US" smtClean="0"/>
              <a:t>2017/1/22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6607E-7F63-4937-9FE4-2DF35FDE4A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386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38F974-2B49-4FEC-ADC8-61464ACF1B27}" type="datetimeFigureOut">
              <a:rPr lang="zh-TW" altLang="en-US" smtClean="0"/>
              <a:t>2017/1/22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16607E-7F63-4937-9FE4-2DF35FDE4A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1181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.tw/maps/place/Johann+Heinrich+von+Th%C3%BCnen-Institut/@52.2141497,10.3474138,11.25z/data=!4m5!3m4!1s0x47aff70cb8f21517:0x11fa1f5fbc89e105!8m2!3d52.2896844!4d10.4340345?hl=zh-TW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Optimal Filtering for Time Series Classification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30290" y="3702342"/>
            <a:ext cx="11131420" cy="1903023"/>
          </a:xfrm>
        </p:spPr>
        <p:txBody>
          <a:bodyPr>
            <a:normAutofit/>
          </a:bodyPr>
          <a:lstStyle/>
          <a:p>
            <a:r>
              <a:rPr lang="en-US" altLang="zh-TW" dirty="0"/>
              <a:t>Frank </a:t>
            </a:r>
            <a:r>
              <a:rPr lang="en-US" altLang="zh-TW" dirty="0" err="1"/>
              <a:t>Höppner</a:t>
            </a:r>
            <a:endParaRPr lang="en-US" altLang="zh-TW" dirty="0"/>
          </a:p>
          <a:p>
            <a:r>
              <a:rPr lang="en-US" altLang="zh-TW" dirty="0"/>
              <a:t>Proceeding of 16th International Conference, Wroclaw, Poland, October 14-16, 2015</a:t>
            </a:r>
          </a:p>
          <a:p>
            <a:r>
              <a:rPr lang="en-US" altLang="zh-TW" u="sng" dirty="0">
                <a:hlinkClick r:id="rId2"/>
              </a:rPr>
              <a:t>map</a:t>
            </a:r>
            <a:endParaRPr lang="en-US" altLang="zh-TW" u="sng" dirty="0"/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524000" y="5797745"/>
            <a:ext cx="9144000" cy="1459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Presenter : Shu-Kai, Hung</a:t>
            </a:r>
          </a:p>
          <a:p>
            <a:r>
              <a:rPr lang="en-US" altLang="zh-TW" dirty="0"/>
              <a:t>Date : 2017/1/17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4622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9993"/>
          </a:xfrm>
        </p:spPr>
        <p:txBody>
          <a:bodyPr/>
          <a:lstStyle/>
          <a:p>
            <a:r>
              <a:rPr lang="en-US" altLang="zh-TW" b="1" dirty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225118"/>
            <a:ext cx="10515600" cy="49518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/>
              <a:t>The application of a (smoothing) filter is common practice in applications where time series are involved. The literature on time series similarity measures, however, seems to completely ignore the possibility of applying a filter first. In this paper, we investigate to what extent the benefit obtained by more complex distance measures may be achieved by simply applying a filter to the original series (while sticking to Euclidean distance). We propose two ways of deriving an optimized filter from classified time series to adopt the similarity measure to a given application. The empirical evaluation shows not only that in many cases a substantial fraction of the performance improvement can also be achieved by filtering, but also that for certain types of time series this simple approach outperforms more complex measures.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11761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4483"/>
          </a:xfrm>
        </p:spPr>
        <p:txBody>
          <a:bodyPr/>
          <a:lstStyle/>
          <a:p>
            <a:r>
              <a:rPr lang="en-US" altLang="zh-TW" b="1" dirty="0"/>
              <a:t>Similarity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89608"/>
                <a:ext cx="10515600" cy="4987355"/>
              </a:xfrm>
            </p:spPr>
            <p:txBody>
              <a:bodyPr/>
              <a:lstStyle/>
              <a:p>
                <a:r>
                  <a:rPr lang="en-US" altLang="zh-TW" i="1" dirty="0"/>
                  <a:t>Lock-step measures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directly compare corresponding values of two time series, that is,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altLang="zh-TW" dirty="0"/>
                  <a:t>value of </a:t>
                </a:r>
                <a:r>
                  <a:rPr lang="en-US" altLang="zh-TW" b="1" dirty="0"/>
                  <a:t>x </a:t>
                </a:r>
                <a:r>
                  <a:rPr lang="en-US" altLang="zh-TW" dirty="0"/>
                  <a:t>with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altLang="zh-TW" i="1" dirty="0"/>
                  <a:t> </a:t>
                </a:r>
                <a:r>
                  <a:rPr lang="en-US" altLang="zh-TW" dirty="0"/>
                  <a:t>value of </a:t>
                </a:r>
                <a:r>
                  <a:rPr lang="en-US" altLang="zh-TW" b="1" dirty="0"/>
                  <a:t>y </a:t>
                </a:r>
                <a:r>
                  <a:rPr lang="en-US" altLang="zh-TW" dirty="0"/>
                  <a:t>such as Euclidean distance</a:t>
                </a:r>
                <a:endParaRPr lang="en-US" altLang="zh-TW" b="1" dirty="0"/>
              </a:p>
              <a:p>
                <a:pPr marL="0" indent="0">
                  <a:buNone/>
                </a:pPr>
                <a:endParaRPr lang="en-US" altLang="zh-TW" b="1" dirty="0"/>
              </a:p>
              <a:p>
                <a:r>
                  <a:rPr lang="en-US" altLang="zh-TW" dirty="0"/>
                  <a:t>Elastic measure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identify a </a:t>
                </a:r>
                <a:r>
                  <a:rPr lang="en-US" altLang="zh-TW" i="1" dirty="0"/>
                  <a:t>warping path</a:t>
                </a:r>
                <a:r>
                  <a:rPr lang="en-US" altLang="zh-TW" dirty="0"/>
                  <a:t>, series </a:t>
                </a:r>
                <a:r>
                  <a:rPr lang="en-US" altLang="zh-TW" b="1" dirty="0"/>
                  <a:t>x </a:t>
                </a:r>
                <a:r>
                  <a:rPr lang="en-US" altLang="zh-TW" dirty="0"/>
                  <a:t>corresponds best to the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warped series </a:t>
                </a:r>
                <a:r>
                  <a:rPr lang="en-US" altLang="zh-TW" b="1" dirty="0"/>
                  <a:t>y </a:t>
                </a:r>
                <a:r>
                  <a:rPr lang="en-US" altLang="zh-TW" dirty="0"/>
                  <a:t>such as Dynamic time warping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89608"/>
                <a:ext cx="10515600" cy="4987355"/>
              </a:xfrm>
              <a:blipFill>
                <a:blip r:embed="rId3"/>
                <a:stretch>
                  <a:fillRect l="-1217" t="-19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6073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1015"/>
          </a:xfrm>
        </p:spPr>
        <p:txBody>
          <a:bodyPr/>
          <a:lstStyle/>
          <a:p>
            <a:r>
              <a:rPr lang="en-US" altLang="zh-TW" b="1" dirty="0"/>
              <a:t>Filtering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49928" y="1145220"/>
                <a:ext cx="10515600" cy="4960722"/>
              </a:xfrm>
            </p:spPr>
            <p:txBody>
              <a:bodyPr/>
              <a:lstStyle/>
              <a:p>
                <a:r>
                  <a:rPr lang="en-US" altLang="zh-TW" dirty="0"/>
                  <a:t>“prevent minimum distance distortion by outliers” by giving different weights depending on the temporal offsets</a:t>
                </a:r>
              </a:p>
              <a:p>
                <a:r>
                  <a:rPr lang="en-US" altLang="zh-TW" dirty="0"/>
                  <a:t>Filters =&gt; smooth series =&gt;remove noise, impute missing observations</a:t>
                </a:r>
              </a:p>
              <a:p>
                <a:endParaRPr lang="en-US" altLang="zh-TW" dirty="0"/>
              </a:p>
              <a:p>
                <a:r>
                  <a:rPr lang="en-US" altLang="zh-TW" dirty="0"/>
                  <a:t>linear time-invariant (LTI)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Series length = n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a vector of coefficients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,….,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dirty="0"/>
                  <a:t>)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Smooth series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zh-TW" altLang="en-US" i="1"/>
                          <m:t>∗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 </m:t>
                    </m:r>
                    <m:sSubSup>
                      <m:sSub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∑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𝐼𝑓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&gt;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9928" y="1145220"/>
                <a:ext cx="10515600" cy="4960722"/>
              </a:xfrm>
              <a:blipFill>
                <a:blip r:embed="rId4"/>
                <a:stretch>
                  <a:fillRect l="-1159" t="-2088" r="-1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3015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24631" y="754603"/>
                <a:ext cx="10515600" cy="5484504"/>
              </a:xfrm>
            </p:spPr>
            <p:txBody>
              <a:bodyPr/>
              <a:lstStyle/>
              <a:p>
                <a:r>
                  <a:rPr lang="en-US" altLang="zh-TW" dirty="0"/>
                  <a:t>a vector of coefficients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0.2,0.5,0.3</m:t>
                        </m:r>
                      </m:e>
                    </m:d>
                  </m:oMath>
                </a14:m>
                <a:endParaRPr lang="en-US" altLang="zh-TW" b="0" dirty="0"/>
              </a:p>
              <a:p>
                <a:r>
                  <a:rPr lang="en-US" altLang="zh-TW" dirty="0"/>
                  <a:t>X series (3 ,1 ,2 ,4 ,5)</a:t>
                </a:r>
              </a:p>
              <a:p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zh-TW" altLang="en-US" i="1"/>
                          <m:t>∗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dirty="0"/>
                  <a:t>.2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+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dirty="0"/>
                  <a:t>.5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+1</a:t>
                </a:r>
                <a:r>
                  <a:rPr lang="en-US" altLang="zh-TW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zh-TW" dirty="0"/>
                  <a:t>0.3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=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2.4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zh-TW" altLang="en-US" i="1"/>
                          <m:t>∗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=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dirty="0"/>
                  <a:t>.2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+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dirty="0"/>
                  <a:t>.5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+2</a:t>
                </a:r>
                <a:r>
                  <a:rPr lang="en-US" altLang="zh-TW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zh-TW" dirty="0"/>
                  <a:t>0.3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=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1.6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zh-TW" altLang="en-US" i="1"/>
                          <m:t>∗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dirty="0"/>
                  <a:t>.2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+</a:t>
                </a:r>
                <a14:m>
                  <m:oMath xmlns:m="http://schemas.openxmlformats.org/officeDocument/2006/math">
                    <m:r>
                      <a:rPr lang="en-US" altLang="zh-TW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dirty="0"/>
                  <a:t>.5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+4</a:t>
                </a:r>
                <a:r>
                  <a:rPr lang="en-US" altLang="zh-TW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zh-TW" dirty="0"/>
                  <a:t>0.3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=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2.4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zh-TW" altLang="en-US" i="1"/>
                          <m:t>∗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=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TW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dirty="0"/>
                  <a:t>.2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+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dirty="0"/>
                  <a:t>.5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+5</a:t>
                </a:r>
                <a:r>
                  <a:rPr lang="en-US" altLang="zh-TW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zh-TW" dirty="0"/>
                  <a:t>0.3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=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3.9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zh-TW" altLang="en-US" i="1"/>
                          <m:t>∗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dirty="0"/>
                  <a:t>.2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+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dirty="0"/>
                  <a:t>.5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+5</a:t>
                </a:r>
                <a:r>
                  <a:rPr lang="en-US" altLang="zh-TW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zh-TW" dirty="0"/>
                  <a:t>0.3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=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4.8</a:t>
                </a:r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4631" y="754603"/>
                <a:ext cx="10515600" cy="5484504"/>
              </a:xfrm>
              <a:blipFill>
                <a:blip r:embed="rId3"/>
                <a:stretch>
                  <a:fillRect l="-1043" t="-18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圖表 6"/>
          <p:cNvGraphicFramePr/>
          <p:nvPr>
            <p:extLst>
              <p:ext uri="{D42A27DB-BD31-4B8C-83A1-F6EECF244321}">
                <p14:modId xmlns:p14="http://schemas.microsoft.com/office/powerpoint/2010/main" val="3649700487"/>
              </p:ext>
            </p:extLst>
          </p:nvPr>
        </p:nvGraphicFramePr>
        <p:xfrm>
          <a:off x="6892583" y="1895761"/>
          <a:ext cx="4774267" cy="32021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530065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40838"/>
            <a:ext cx="10515600" cy="1179590"/>
          </a:xfrm>
        </p:spPr>
        <p:txBody>
          <a:bodyPr/>
          <a:lstStyle/>
          <a:p>
            <a:r>
              <a:rPr lang="en-US" altLang="zh-TW" b="1" dirty="0"/>
              <a:t>Optimized Filter for Time Series Similarity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1751"/>
                <a:ext cx="10515600" cy="492521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TW" i="1" dirty="0"/>
                  <a:t>important differences </a:t>
                </a:r>
                <a:r>
                  <a:rPr lang="en-US" altLang="zh-TW" dirty="0"/>
                  <a:t>(between series from different classes) and ignore </a:t>
                </a:r>
              </a:p>
              <a:p>
                <a:r>
                  <a:rPr lang="en-US" altLang="zh-TW" dirty="0"/>
                  <a:t>Attenuate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the less important ones (between series from the same class).</a:t>
                </a:r>
              </a:p>
              <a:p>
                <a:pPr marL="0" indent="0">
                  <a:buNone/>
                </a:pPr>
                <a:r>
                  <a:rPr lang="en-US" altLang="zh-TW" b="1" dirty="0"/>
                  <a:t>A Filter Derived from Pairwise Comparison</a:t>
                </a:r>
                <a:endParaRPr lang="en-US" altLang="zh-TW" dirty="0"/>
              </a:p>
              <a:p>
                <a:r>
                  <a:rPr lang="en-US" altLang="zh-TW" i="1" dirty="0"/>
                  <a:t>N </a:t>
                </a:r>
                <a:r>
                  <a:rPr lang="en-US" altLang="zh-TW" dirty="0"/>
                  <a:t>series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, 1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≤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 of length </a:t>
                </a:r>
                <a:r>
                  <a:rPr lang="en-US" altLang="zh-TW" i="1" dirty="0"/>
                  <a:t>n </a:t>
                </a:r>
                <a:r>
                  <a:rPr lang="en-US" altLang="zh-TW" dirty="0"/>
                  <a:t>are given label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∈|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zh-TW" i="1" dirty="0"/>
                  <a:t>,</a:t>
                </a:r>
                <a:r>
                  <a:rPr lang="zh-TW" altLang="en-US" i="1" dirty="0"/>
                  <a:t> </a:t>
                </a:r>
                <a:r>
                  <a:rPr lang="en-US" altLang="zh-TW" i="1" dirty="0"/>
                  <a:t>L </a:t>
                </a:r>
                <a:r>
                  <a:rPr lang="en-US" altLang="zh-TW" dirty="0"/>
                  <a:t>is number of classes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denote the filtered version of </a:t>
                </a:r>
                <a:r>
                  <a:rPr lang="en-US" altLang="zh-TW" i="1" dirty="0"/>
                  <a:t>x</a:t>
                </a:r>
                <a:r>
                  <a:rPr lang="en-US" altLang="zh-TW" dirty="0"/>
                  <a:t> 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a vector of coefficients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,….,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dirty="0"/>
                  <a:t>)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Smooth series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zh-TW" altLang="en-US" i="1"/>
                          <m:t>∗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 </m:t>
                    </m:r>
                    <m:sSubSup>
                      <m:sSub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∑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𝐼𝑓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&gt;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1751"/>
                <a:ext cx="10515600" cy="4925212"/>
              </a:xfrm>
              <a:blipFill>
                <a:blip r:embed="rId2"/>
                <a:stretch>
                  <a:fillRect l="-1217" t="-2723" r="-870" b="-6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7989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62992" y="1327731"/>
                <a:ext cx="10515600" cy="5312765"/>
              </a:xfrm>
            </p:spPr>
            <p:txBody>
              <a:bodyPr/>
              <a:lstStyle/>
              <a:p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𝛽𝜖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is necessary scaling factor for the first sum ,chosen to ensure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that </a:t>
                </a:r>
                <a:r>
                  <a:rPr lang="en-US" altLang="zh-TW" i="1" dirty="0"/>
                  <a:t>f </a:t>
                </a:r>
                <a:r>
                  <a:rPr lang="en-US" altLang="zh-TW" dirty="0"/>
                  <a:t>is a convex function(have global minimum)</a:t>
                </a:r>
              </a:p>
              <a:p>
                <a:r>
                  <a:rPr lang="en-US" altLang="zh-TW" dirty="0"/>
                  <a:t>Without any constraint on 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/>
                  <a:t>  </a:t>
                </a:r>
                <a:r>
                  <a:rPr lang="en-US" altLang="zh-TW" dirty="0"/>
                  <a:t>,obvious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 0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, but this is apparently an undesired solution because all series would look identical.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	we require the sum of all filter coefficients to be 1</a:t>
                </a:r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2992" y="1327731"/>
                <a:ext cx="10515600" cy="5312765"/>
              </a:xfrm>
              <a:blipFill>
                <a:blip r:embed="rId5"/>
                <a:stretch>
                  <a:fillRect l="-1159" r="-18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482" y="-1"/>
            <a:ext cx="11242610" cy="132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359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49423" y="400636"/>
            <a:ext cx="10515600" cy="815605"/>
          </a:xfrm>
        </p:spPr>
        <p:txBody>
          <a:bodyPr>
            <a:noAutofit/>
          </a:bodyPr>
          <a:lstStyle/>
          <a:p>
            <a:r>
              <a:rPr lang="en-US" altLang="zh-TW" sz="3200" b="1" dirty="0"/>
              <a:t>Proposition 1.</a:t>
            </a:r>
            <a:r>
              <a:rPr lang="en-US" altLang="zh-TW" sz="3200" dirty="0"/>
              <a:t> Euclidean distance -obtained from sum constraint(ED-FS)</a:t>
            </a:r>
            <a:endParaRPr lang="zh-TW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83076"/>
                <a:ext cx="10515600" cy="5681708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i="1" dirty="0"/>
                  <a:t>linear equation system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zh-TW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l-GR" altLang="zh-TW" i="1" dirty="0"/>
                  <a:t> </a:t>
                </a:r>
                <a:r>
                  <a:rPr lang="el-GR" altLang="zh-TW" dirty="0"/>
                  <a:t>= </a:t>
                </a:r>
                <a:r>
                  <a:rPr lang="en-US" altLang="zh-TW" i="1" dirty="0"/>
                  <a:t>b</a:t>
                </a:r>
              </a:p>
              <a:p>
                <a:r>
                  <a:rPr lang="en-US" altLang="zh-TW" dirty="0"/>
                  <a:t>Optimal filter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,….,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dirty="0"/>
                  <a:t>)</a:t>
                </a:r>
                <a14:m>
                  <m:oMath xmlns:m="http://schemas.openxmlformats.org/officeDocument/2006/math">
                    <m:r>
                      <a:rPr lang="zh-TW" altLang="en-US" i="1" dirty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US" altLang="zh-TW" i="1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l-GR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zh-TW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l-GR" altLang="zh-TW" i="1" dirty="0"/>
                  <a:t> </a:t>
                </a:r>
                <a:r>
                  <a:rPr lang="el-GR" altLang="zh-TW" dirty="0"/>
                  <a:t>= 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,….,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dirty="0"/>
                  <a:t>,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TW" dirty="0"/>
                  <a:t>)</a:t>
                </a:r>
              </a:p>
              <a:p>
                <a:r>
                  <a:rPr lang="en-US" altLang="zh-TW" i="1" dirty="0"/>
                  <a:t>A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+2×2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+2</m:t>
                        </m:r>
                      </m:sup>
                    </m:sSup>
                  </m:oMath>
                </a14:m>
                <a:endParaRPr lang="en-US" altLang="zh-TW" i="1" dirty="0"/>
              </a:p>
              <a:p>
                <a:r>
                  <a:rPr lang="en-US" altLang="zh-TW" i="1" dirty="0"/>
                  <a:t>b </a:t>
                </a:r>
                <a:r>
                  <a:rPr lang="en-US" altLang="zh-TW" dirty="0"/>
                  <a:t>= (0</a:t>
                </a:r>
                <a:r>
                  <a:rPr lang="en-US" altLang="zh-TW" i="1" dirty="0"/>
                  <a:t>, . . . , </a:t>
                </a:r>
                <a:r>
                  <a:rPr lang="en-US" altLang="zh-TW" dirty="0"/>
                  <a:t>0</a:t>
                </a:r>
                <a:r>
                  <a:rPr lang="en-US" altLang="zh-TW" i="1" dirty="0"/>
                  <a:t>, </a:t>
                </a:r>
                <a:r>
                  <a:rPr lang="en-US" altLang="zh-TW" dirty="0"/>
                  <a:t>1)</a:t>
                </a:r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𝑓𝑜𝑟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=−1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𝑓𝑜𝑟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83076"/>
                <a:ext cx="10515600" cy="5681708"/>
              </a:xfrm>
              <a:blipFill>
                <a:blip r:embed="rId2"/>
                <a:stretch>
                  <a:fillRect l="-1043" t="-1824" b="-16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04" y="3174422"/>
            <a:ext cx="8339028" cy="246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350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27171"/>
                <a:ext cx="10515600" cy="584979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b="1" dirty="0"/>
                  <a:t>A Filter Derived from </a:t>
                </a:r>
                <a:r>
                  <a:rPr lang="en-US" altLang="zh-TW" b="1" dirty="0" err="1"/>
                  <a:t>Groupwise</a:t>
                </a:r>
                <a:r>
                  <a:rPr lang="en-US" altLang="zh-TW" b="1" dirty="0"/>
                  <a:t> Comparisons</a:t>
                </a:r>
                <a:endParaRPr lang="en-US" altLang="zh-TW" dirty="0"/>
              </a:p>
              <a:p>
                <a:r>
                  <a:rPr lang="en-US" altLang="zh-TW" dirty="0"/>
                  <a:t>we assume that all time series from the same class label are similar</a:t>
                </a:r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𝑑𝑒𝑓𝑖𝑛𝑒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𝑚𝑒𝑎𝑛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𝑠𝑚𝑜𝑜𝑡h𝑒𝑑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𝑠𝑒𝑟𝑖𝑒𝑠</m:t>
                    </m:r>
                  </m:oMath>
                </a14:m>
                <a:r>
                  <a:rPr lang="en-US" altLang="zh-TW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acc>
                              <m:accPr>
                                <m:chr m:val="̃"/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acc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𝑐𝑙𝑎𝑠𝑠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𝑙𝑎𝑏𝑒𝑙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/>
                  <a:t>The rationale for finding a filter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27171"/>
                <a:ext cx="10515600" cy="5849792"/>
              </a:xfrm>
              <a:blipFill>
                <a:blip r:embed="rId2"/>
                <a:stretch>
                  <a:fillRect l="-1217" t="-17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699" y="1878757"/>
            <a:ext cx="2800350" cy="104775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176" y="4383832"/>
            <a:ext cx="7475376" cy="117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683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0945"/>
          </a:xfrm>
        </p:spPr>
        <p:txBody>
          <a:bodyPr>
            <a:normAutofit/>
          </a:bodyPr>
          <a:lstStyle/>
          <a:p>
            <a:r>
              <a:rPr lang="en-US" altLang="zh-TW" sz="3200" b="1" dirty="0"/>
              <a:t>Proposition 2. </a:t>
            </a:r>
            <a:r>
              <a:rPr lang="en-US" altLang="zh-TW" sz="3200" dirty="0"/>
              <a:t>filter constraint “</a:t>
            </a:r>
            <a:r>
              <a:rPr lang="en-US" altLang="zh-TW" sz="3200" b="1" dirty="0"/>
              <a:t>n</a:t>
            </a:r>
            <a:r>
              <a:rPr lang="en-US" altLang="zh-TW" sz="3200" dirty="0"/>
              <a:t>orm=1” (ED-FN)</a:t>
            </a:r>
            <a:endParaRPr lang="zh-TW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50628"/>
                <a:ext cx="10515600" cy="4826335"/>
              </a:xfrm>
            </p:spPr>
            <p:txBody>
              <a:bodyPr/>
              <a:lstStyle/>
              <a:p>
                <a:r>
                  <a:rPr lang="en-US" altLang="zh-TW" dirty="0"/>
                  <a:t>Optimal filter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,….,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dirty="0"/>
                  <a:t>)</a:t>
                </a:r>
                <a14:m>
                  <m:oMath xmlns:m="http://schemas.openxmlformats.org/officeDocument/2006/math">
                    <m:r>
                      <a:rPr lang="zh-TW" altLang="en-US" i="1" dirty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maximizing is the eigenvector with the largest eigenvalue of </a:t>
                </a:r>
                <a:r>
                  <a:rPr lang="en-US" altLang="zh-TW" dirty="0" err="1"/>
                  <a:t>th</a:t>
                </a:r>
                <a:r>
                  <a:rPr lang="en-US" altLang="zh-TW" dirty="0"/>
                  <a:t>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𝑃</m:t>
                    </m:r>
                    <m:sSup>
                      <m:s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+1×2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50628"/>
                <a:ext cx="10515600" cy="4826335"/>
              </a:xfrm>
              <a:blipFill rotWithShape="0">
                <a:blip r:embed="rId2"/>
                <a:stretch>
                  <a:fillRect l="-1043" t="-2149" r="-17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709" y="3209498"/>
            <a:ext cx="8463328" cy="164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404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5169"/>
          </a:xfrm>
        </p:spPr>
        <p:txBody>
          <a:bodyPr/>
          <a:lstStyle/>
          <a:p>
            <a:r>
              <a:rPr lang="en-US" altLang="zh-TW" b="1" dirty="0"/>
              <a:t>Computational Complexity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0018"/>
                <a:ext cx="10515600" cy="4666945"/>
              </a:xfrm>
            </p:spPr>
            <p:txBody>
              <a:bodyPr/>
              <a:lstStyle/>
              <a:p>
                <a:r>
                  <a:rPr lang="en-US" altLang="zh-TW" dirty="0"/>
                  <a:t>Lock-step measures such as Euclidean distance are computationally inexpensive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for the comparison of two series of length </a:t>
                </a:r>
                <a:r>
                  <a:rPr lang="en-US" altLang="zh-TW" i="1" dirty="0"/>
                  <a:t>n</a:t>
                </a:r>
              </a:p>
              <a:p>
                <a:r>
                  <a:rPr lang="en-US" altLang="zh-TW" dirty="0"/>
                  <a:t>The nature of most elastic measures, such as dynamic time warping, calls for a quadratic complexity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altLang="zh-TW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/>
                  <a:t>).</a:t>
                </a:r>
              </a:p>
              <a:p>
                <a:r>
                  <a:rPr lang="en-US" altLang="zh-TW" dirty="0"/>
                  <a:t>Proposition 1 requires to combine all series with the same or different label (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altLang="zh-TW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/>
                  <a:t>))</a:t>
                </a:r>
              </a:p>
              <a:p>
                <a:r>
                  <a:rPr lang="en-US" altLang="zh-TW" dirty="0"/>
                  <a:t>Proposition 2 we combine only mean series for each class label which drastically reduces the computational effort (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altLang="zh-TW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/>
                  <a:t>) with </a:t>
                </a:r>
                <a:r>
                  <a:rPr lang="en-US" altLang="zh-TW" i="1" dirty="0"/>
                  <a:t>|L| </a:t>
                </a:r>
                <a:r>
                  <a:rPr lang="en-US" altLang="zh-TW" dirty="0"/>
                  <a:t>being much smaller than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0018"/>
                <a:ext cx="10515600" cy="4666945"/>
              </a:xfrm>
              <a:blipFill>
                <a:blip r:embed="rId2"/>
                <a:stretch>
                  <a:fillRect l="-1043" t="-2222" r="-18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1120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3892"/>
          </a:xfrm>
        </p:spPr>
        <p:txBody>
          <a:bodyPr/>
          <a:lstStyle/>
          <a:p>
            <a:r>
              <a:rPr lang="en-US" altLang="zh-TW" b="1" dirty="0"/>
              <a:t>Experimental Evaluation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258349"/>
            <a:ext cx="10515600" cy="4918614"/>
          </a:xfrm>
        </p:spPr>
        <p:txBody>
          <a:bodyPr/>
          <a:lstStyle/>
          <a:p>
            <a:r>
              <a:rPr lang="en-US" altLang="zh-TW" b="1" dirty="0"/>
              <a:t>Filter Width : </a:t>
            </a:r>
            <a:r>
              <a:rPr lang="en-US" altLang="zh-TW" dirty="0"/>
              <a:t>chosen 2</a:t>
            </a:r>
            <a:r>
              <a:rPr lang="en-US" altLang="zh-TW" i="1" dirty="0"/>
              <a:t>m </a:t>
            </a:r>
            <a:r>
              <a:rPr lang="en-US" altLang="zh-TW" dirty="0"/>
              <a:t>to be 10% of the time series length but not larger than </a:t>
            </a:r>
            <a:r>
              <a:rPr lang="en-US" altLang="zh-TW" i="1" dirty="0"/>
              <a:t>m </a:t>
            </a:r>
            <a:r>
              <a:rPr lang="en-US" altLang="zh-TW" dirty="0"/>
              <a:t>= 7.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47369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5918" y="84316"/>
            <a:ext cx="6279502" cy="6773684"/>
          </a:xfrm>
          <a:prstGeom prst="rect">
            <a:avLst/>
          </a:prstGeom>
        </p:spPr>
      </p:pic>
      <p:cxnSp>
        <p:nvCxnSpPr>
          <p:cNvPr id="6" name="直線接點 5"/>
          <p:cNvCxnSpPr/>
          <p:nvPr/>
        </p:nvCxnSpPr>
        <p:spPr>
          <a:xfrm flipV="1">
            <a:off x="6031684" y="679508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4430785" y="915798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6031683" y="1185098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 flipV="1">
            <a:off x="6818848" y="1485663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 flipV="1">
            <a:off x="6846813" y="1708634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V="1">
            <a:off x="6846812" y="1971497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V="1">
            <a:off x="7653553" y="1971497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 flipV="1">
            <a:off x="4430784" y="2241361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 flipV="1">
            <a:off x="6047063" y="2510661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 flipV="1">
            <a:off x="4430783" y="2792035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7653552" y="3087048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 flipV="1">
            <a:off x="4419595" y="3342709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5234725" y="3339608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 flipV="1">
            <a:off x="6846812" y="3339608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4440568" y="3643010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 flipV="1">
            <a:off x="5234725" y="3643010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6047063" y="3921387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 flipV="1">
            <a:off x="6846812" y="4181303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 flipV="1">
            <a:off x="5220739" y="4441362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 flipV="1">
            <a:off x="5237517" y="4667865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6846811" y="4944702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 flipV="1">
            <a:off x="5234725" y="4944702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 flipV="1">
            <a:off x="7660538" y="4972523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 flipV="1">
            <a:off x="5234724" y="5221538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 flipV="1">
            <a:off x="5234724" y="5523249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 flipV="1">
            <a:off x="5237516" y="5811574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5234723" y="6046462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 flipV="1">
            <a:off x="6047062" y="6312107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 flipV="1">
            <a:off x="5234723" y="6324257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直線接點 35"/>
          <p:cNvCxnSpPr/>
          <p:nvPr/>
        </p:nvCxnSpPr>
        <p:spPr>
          <a:xfrm flipV="1">
            <a:off x="5220738" y="6591127"/>
            <a:ext cx="27683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204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1405</TotalTime>
  <Words>1137</Words>
  <Application>Microsoft Office PowerPoint</Application>
  <PresentationFormat>寬螢幕</PresentationFormat>
  <Paragraphs>80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9" baseType="lpstr">
      <vt:lpstr>新細明體</vt:lpstr>
      <vt:lpstr>Arial</vt:lpstr>
      <vt:lpstr>Calibri</vt:lpstr>
      <vt:lpstr>Calibri Light</vt:lpstr>
      <vt:lpstr>Cambria Math</vt:lpstr>
      <vt:lpstr>Office 佈景主題</vt:lpstr>
      <vt:lpstr>Optimal Filtering for Time Series Classification</vt:lpstr>
      <vt:lpstr>Abstract</vt:lpstr>
      <vt:lpstr>Similarity</vt:lpstr>
      <vt:lpstr>Filtering</vt:lpstr>
      <vt:lpstr>PowerPoint 簡報</vt:lpstr>
      <vt:lpstr>Optimized Filter for Time Series Similarity</vt:lpstr>
      <vt:lpstr>PowerPoint 簡報</vt:lpstr>
      <vt:lpstr>Proposition 1. Euclidean distance -obtained from sum constraint(ED-FS)</vt:lpstr>
      <vt:lpstr>PowerPoint 簡報</vt:lpstr>
      <vt:lpstr>Proposition 2. filter constraint “norm=1” (ED-FN)</vt:lpstr>
      <vt:lpstr>Computational Complexity</vt:lpstr>
      <vt:lpstr>Experimental Evaluation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Optimal Filtering for Time Series Classification</dc:title>
  <dc:creator>andy</dc:creator>
  <cp:lastModifiedBy>jhan</cp:lastModifiedBy>
  <cp:revision>27</cp:revision>
  <dcterms:created xsi:type="dcterms:W3CDTF">2017-01-15T05:14:16Z</dcterms:created>
  <dcterms:modified xsi:type="dcterms:W3CDTF">2017-01-21T16:11:05Z</dcterms:modified>
</cp:coreProperties>
</file>