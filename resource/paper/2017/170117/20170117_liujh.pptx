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6"/>
  </p:normalViewPr>
  <p:slideViewPr>
    <p:cSldViewPr snapToGrid="0" snapToObjects="1">
      <p:cViewPr varScale="1">
        <p:scale>
          <a:sx n="94" d="100"/>
          <a:sy n="94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BD22E-3D89-804F-A9E1-47A3CFCE3948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6AFC3-DBC1-7045-9D17-673BF04D2B8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699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6AFC3-DBC1-7045-9D17-673BF04D2B8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0386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smtClean="0"/>
              <a:t>按一下以編輯母片副標題樣式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6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4990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609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85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352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6972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271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4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50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756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320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81DBC-137C-5C49-ABB4-0883FC179FE4}" type="datetimeFigureOut">
              <a:rPr kumimoji="1" lang="zh-TW" altLang="en-US" smtClean="0"/>
              <a:t>2017/1/17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76416-C6EA-C942-B8B1-84BD3129C1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642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Robust Real-Time Face Detection </a:t>
            </a:r>
            <a:endParaRPr kumimoji="1"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PAUL VIOLA </a:t>
            </a:r>
            <a:r>
              <a:rPr lang="en-US" altLang="zh-TW" dirty="0" smtClean="0"/>
              <a:t>,</a:t>
            </a:r>
            <a:r>
              <a:rPr lang="en-US" altLang="zh-TW" dirty="0"/>
              <a:t> MICHAEL J. JONES </a:t>
            </a:r>
            <a:endParaRPr lang="en-US" altLang="zh-TW" dirty="0" smtClean="0"/>
          </a:p>
          <a:p>
            <a:r>
              <a:rPr lang="en-US" altLang="zh-TW" dirty="0" smtClean="0"/>
              <a:t>International </a:t>
            </a:r>
            <a:r>
              <a:rPr lang="en-US" altLang="zh-TW" dirty="0"/>
              <a:t>Journal of Computer Vision 57(2), 137–154, 2004 </a:t>
            </a:r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4" name="矩形 3"/>
          <p:cNvSpPr/>
          <p:nvPr/>
        </p:nvSpPr>
        <p:spPr>
          <a:xfrm>
            <a:off x="6714698" y="5849210"/>
            <a:ext cx="4189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457200">
              <a:defRPr sz="3200"/>
            </a:pPr>
            <a:r>
              <a:rPr lang="de-DE" altLang="zh-TW" sz="2400" dirty="0" err="1"/>
              <a:t>Presenter</a:t>
            </a:r>
            <a:r>
              <a:rPr lang="zh-TW" altLang="de-DE" sz="2400" dirty="0">
                <a:latin typeface="微軟正黑體"/>
                <a:ea typeface="微軟正黑體"/>
                <a:cs typeface="微軟正黑體"/>
                <a:sym typeface="微軟正黑體"/>
              </a:rPr>
              <a:t>：</a:t>
            </a:r>
            <a:r>
              <a:rPr lang="de-DE" altLang="zh-TW" sz="2400" dirty="0" err="1">
                <a:sym typeface="微軟正黑體"/>
              </a:rPr>
              <a:t>Jia</a:t>
            </a:r>
            <a:r>
              <a:rPr lang="de-DE" altLang="zh-TW" sz="2400" dirty="0"/>
              <a:t>-Hong Liu</a:t>
            </a:r>
            <a:endParaRPr lang="de-DE" altLang="zh-TW" sz="2400" dirty="0">
              <a:latin typeface="Liberation Sans Narrow"/>
              <a:ea typeface="Liberation Sans Narrow"/>
              <a:cs typeface="Liberation Sans Narrow"/>
              <a:sym typeface="Liberation Sans Narrow"/>
            </a:endParaRPr>
          </a:p>
          <a:p>
            <a:pPr lvl="1" indent="457200">
              <a:defRPr sz="3200"/>
            </a:pPr>
            <a:r>
              <a:rPr lang="de-DE" altLang="zh-TW" sz="2400" dirty="0"/>
              <a:t>Date</a:t>
            </a:r>
            <a:r>
              <a:rPr lang="zh-TW" altLang="de-DE" sz="2400" dirty="0">
                <a:latin typeface="微軟正黑體"/>
                <a:ea typeface="微軟正黑體"/>
                <a:cs typeface="微軟正黑體"/>
                <a:sym typeface="微軟正黑體"/>
              </a:rPr>
              <a:t>：</a:t>
            </a:r>
            <a:r>
              <a:rPr lang="de-DE" altLang="zh-TW" sz="2400" dirty="0" smtClean="0"/>
              <a:t>2017/ 1/ 17</a:t>
            </a:r>
            <a:endParaRPr lang="de-DE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7618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Abstract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This paper describes a face detection framework that is capable of processing images extremely rapidly while achieving high detection rates. There are three key contributions. The first is the introduction of a new image representation called the “Integral Image” which allows the features used by our detector to be computed very quickly. The second is a simple and efficient classifier which is built using the </a:t>
            </a:r>
            <a:r>
              <a:rPr lang="en-US" altLang="zh-TW" dirty="0" err="1"/>
              <a:t>AdaBoost</a:t>
            </a:r>
            <a:r>
              <a:rPr lang="en-US" altLang="zh-TW" dirty="0"/>
              <a:t> learning </a:t>
            </a:r>
            <a:r>
              <a:rPr lang="en-US" altLang="zh-TW" dirty="0" smtClean="0"/>
              <a:t>algorithm </a:t>
            </a:r>
            <a:r>
              <a:rPr lang="en-US" altLang="zh-TW" dirty="0"/>
              <a:t>(Freund and </a:t>
            </a:r>
            <a:r>
              <a:rPr lang="en-US" altLang="zh-TW" dirty="0" err="1"/>
              <a:t>Schapire</a:t>
            </a:r>
            <a:r>
              <a:rPr lang="en-US" altLang="zh-TW" dirty="0"/>
              <a:t>, 1995) to select a small number of critical visual features from a very large set of potential features. The third contribution is a method for combining classifiers in a “cascade” which allows </a:t>
            </a:r>
            <a:r>
              <a:rPr lang="en-US" altLang="zh-TW" dirty="0" smtClean="0"/>
              <a:t>background </a:t>
            </a:r>
            <a:r>
              <a:rPr lang="en-US" altLang="zh-TW" dirty="0"/>
              <a:t>regions of the image to be quickly discarded while spending more computation on promising face-like regions. A set of experiments in the domain of face detection is presented. The system yields face detection </a:t>
            </a:r>
            <a:r>
              <a:rPr lang="en-US" altLang="zh-TW" dirty="0" smtClean="0"/>
              <a:t>performance </a:t>
            </a:r>
            <a:r>
              <a:rPr lang="en-US" altLang="zh-TW" dirty="0"/>
              <a:t>comparable to the best previous systems (Sung and </a:t>
            </a:r>
            <a:r>
              <a:rPr lang="en-US" altLang="zh-TW" dirty="0" err="1"/>
              <a:t>Poggio</a:t>
            </a:r>
            <a:r>
              <a:rPr lang="en-US" altLang="zh-TW" dirty="0"/>
              <a:t>, 1998; Rowley et al., 1998; </a:t>
            </a:r>
            <a:r>
              <a:rPr lang="en-US" altLang="zh-TW" dirty="0" err="1"/>
              <a:t>Schneiderman</a:t>
            </a:r>
            <a:r>
              <a:rPr lang="en-US" altLang="zh-TW" dirty="0"/>
              <a:t> and </a:t>
            </a:r>
            <a:r>
              <a:rPr lang="en-US" altLang="zh-TW" dirty="0" err="1"/>
              <a:t>Kanade</a:t>
            </a:r>
            <a:r>
              <a:rPr lang="en-US" altLang="zh-TW" dirty="0"/>
              <a:t>, 2000; Roth et al., 2000). Implemented on a conventional desktop, face detection proceeds at 15 frames per second. 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57316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Outline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Integral Image </a:t>
            </a:r>
            <a:endParaRPr lang="en-US" altLang="zh-TW" dirty="0" smtClean="0"/>
          </a:p>
          <a:p>
            <a:r>
              <a:rPr lang="en-US" altLang="zh-TW" dirty="0" err="1"/>
              <a:t>AdaBoost</a:t>
            </a:r>
            <a:r>
              <a:rPr lang="en-US" altLang="zh-TW" dirty="0"/>
              <a:t> learning </a:t>
            </a:r>
            <a:r>
              <a:rPr lang="en-US" altLang="zh-TW" dirty="0" smtClean="0"/>
              <a:t>algorithm </a:t>
            </a:r>
          </a:p>
          <a:p>
            <a:r>
              <a:rPr kumimoji="1" lang="en-US" altLang="zh-TW" dirty="0" smtClean="0"/>
              <a:t>Cascade Classifier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183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Integral Image </a:t>
            </a:r>
            <a:endParaRPr kumimoji="1"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8780"/>
            <a:ext cx="5651500" cy="1778000"/>
          </a:xfr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667" y="4804703"/>
            <a:ext cx="3133725" cy="18764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654507"/>
            <a:ext cx="3048000" cy="3048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156"/>
            <a:ext cx="4762500" cy="298450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25" y="1591007"/>
            <a:ext cx="4572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3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 smtClean="0"/>
              <a:t>AdaBoost</a:t>
            </a:r>
            <a:r>
              <a:rPr lang="en-US" altLang="zh-TW" dirty="0" smtClean="0"/>
              <a:t> learning algorithm 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5" y="1825625"/>
            <a:ext cx="8801289" cy="4351338"/>
          </a:xfrm>
        </p:spPr>
      </p:pic>
    </p:spTree>
    <p:extLst>
      <p:ext uri="{BB962C8B-B14F-4D97-AF65-F5344CB8AC3E}">
        <p14:creationId xmlns:p14="http://schemas.microsoft.com/office/powerpoint/2010/main" val="129387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 smtClean="0"/>
              <a:t>AdaBoost</a:t>
            </a:r>
            <a:r>
              <a:rPr lang="en-US" altLang="zh-TW" dirty="0" smtClean="0"/>
              <a:t> learning algorithm </a:t>
            </a:r>
            <a:endParaRPr kumimoji="1"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300" y="2255044"/>
            <a:ext cx="4851400" cy="3492500"/>
          </a:xfrm>
        </p:spPr>
      </p:pic>
    </p:spTree>
    <p:extLst>
      <p:ext uri="{BB962C8B-B14F-4D97-AF65-F5344CB8AC3E}">
        <p14:creationId xmlns:p14="http://schemas.microsoft.com/office/powerpoint/2010/main" val="119991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884" y="147708"/>
            <a:ext cx="5022376" cy="5412120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68" y="5655363"/>
            <a:ext cx="4917491" cy="91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5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Cascade Classifier</a:t>
            </a:r>
            <a:endParaRPr kumimoji="1"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2123810"/>
            <a:ext cx="5905500" cy="3721100"/>
          </a:xfrm>
        </p:spPr>
      </p:pic>
    </p:spTree>
    <p:extLst>
      <p:ext uri="{BB962C8B-B14F-4D97-AF65-F5344CB8AC3E}">
        <p14:creationId xmlns:p14="http://schemas.microsoft.com/office/powerpoint/2010/main" val="135721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Example</a:t>
            </a:r>
            <a:endParaRPr kumimoji="1"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55" y="1825625"/>
            <a:ext cx="7556889" cy="4351338"/>
          </a:xfrm>
        </p:spPr>
      </p:pic>
    </p:spTree>
    <p:extLst>
      <p:ext uri="{BB962C8B-B14F-4D97-AF65-F5344CB8AC3E}">
        <p14:creationId xmlns:p14="http://schemas.microsoft.com/office/powerpoint/2010/main" val="7144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1233"/>
            <a:ext cx="5778500" cy="65151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268" y="4067208"/>
            <a:ext cx="4781550" cy="2579125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60429"/>
              </p:ext>
            </p:extLst>
          </p:nvPr>
        </p:nvGraphicFramePr>
        <p:xfrm>
          <a:off x="7044268" y="131233"/>
          <a:ext cx="4961465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347"/>
                <a:gridCol w="1314319"/>
                <a:gridCol w="1271922"/>
                <a:gridCol w="1484877"/>
              </a:tblGrid>
              <a:tr h="370840">
                <a:tc rowSpan="2" gridSpan="2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 smtClean="0">
                          <a:effectLst/>
                        </a:rPr>
                        <a:t>Predicted</a:t>
                      </a:r>
                      <a:endParaRPr lang="en-US" altLang="zh-TW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Positive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Negative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zh-TW" dirty="0" smtClean="0"/>
                        <a:t>True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Positive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TP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FN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Negative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FP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TN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7687712" y="1708718"/>
            <a:ext cx="3130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Helvetica" charset="0"/>
              </a:rPr>
              <a:t>Detection </a:t>
            </a:r>
            <a:r>
              <a:rPr lang="en-US" altLang="zh-TW" dirty="0" smtClean="0">
                <a:latin typeface="Helvetica" charset="0"/>
              </a:rPr>
              <a:t>rate = TP/(TP+FN)</a:t>
            </a:r>
            <a:endParaRPr lang="en-US" altLang="zh-TW" dirty="0">
              <a:effectLst/>
              <a:latin typeface="Helvetica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47783" y="2037043"/>
            <a:ext cx="3570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Helvetica" charset="0"/>
              </a:rPr>
              <a:t>False positive rate = FP/(FP+TN)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7247783" y="2415387"/>
                <a:ext cx="509238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 dirty="0" smtClean="0"/>
                  <a:t>Example:</a:t>
                </a:r>
              </a:p>
              <a:p>
                <a:r>
                  <a:rPr lang="en-US" altLang="zh-TW" dirty="0" smtClean="0">
                    <a:latin typeface="Helvetica" charset="0"/>
                  </a:rPr>
                  <a:t>  Detection rate per layer: 0.99</a:t>
                </a:r>
              </a:p>
              <a:p>
                <a:r>
                  <a:rPr lang="en-US" altLang="zh-TW" dirty="0" smtClean="0">
                    <a:latin typeface="Helvetica" charset="0"/>
                  </a:rPr>
                  <a:t>  False positive rate per layer: 0.3</a:t>
                </a:r>
              </a:p>
              <a:p>
                <a:r>
                  <a:rPr lang="en-US" altLang="zh-TW" dirty="0" smtClean="0">
                    <a:latin typeface="Helvetica" charset="0"/>
                  </a:rPr>
                  <a:t>  Detection rate of 10 layer: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charset="0"/>
                          </a:rPr>
                          <m:t>0.99</m:t>
                        </m:r>
                      </m:e>
                      <m:sup>
                        <m:r>
                          <a:rPr lang="en-US" altLang="zh-TW" b="0" i="1" smtClean="0">
                            <a:latin typeface="Cambria Math" charset="0"/>
                          </a:rPr>
                          <m:t>10</m:t>
                        </m:r>
                      </m:sup>
                    </m:sSup>
                    <m:r>
                      <a:rPr lang="en-US" altLang="zh-TW" b="0" i="1" smtClean="0">
                        <a:latin typeface="Cambria Math" charset="0"/>
                      </a:rPr>
                      <m:t>=0.904…</m:t>
                    </m:r>
                  </m:oMath>
                </a14:m>
                <a:endParaRPr lang="en-US" altLang="zh-TW" b="0" dirty="0" smtClean="0">
                  <a:latin typeface="Helvetica" charset="0"/>
                </a:endParaRPr>
              </a:p>
              <a:p>
                <a:r>
                  <a:rPr lang="en-US" altLang="zh-TW" dirty="0" smtClean="0">
                    <a:latin typeface="Helvetica" charset="0"/>
                  </a:rPr>
                  <a:t>  False </a:t>
                </a:r>
                <a:r>
                  <a:rPr lang="en-US" altLang="zh-TW" dirty="0">
                    <a:latin typeface="Helvetica" charset="0"/>
                  </a:rPr>
                  <a:t>positive </a:t>
                </a:r>
                <a:r>
                  <a:rPr lang="en-US" altLang="zh-TW" dirty="0" smtClean="0">
                    <a:latin typeface="Helvetica" charset="0"/>
                  </a:rPr>
                  <a:t>rate of 10 layer: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charset="0"/>
                          </a:rPr>
                          <m:t>0.3</m:t>
                        </m:r>
                      </m:e>
                      <m:sup>
                        <m:r>
                          <a:rPr lang="en-US" altLang="zh-TW" b="0" i="1" smtClean="0">
                            <a:latin typeface="Cambria Math" charset="0"/>
                          </a:rPr>
                          <m:t>10</m:t>
                        </m:r>
                      </m:sup>
                    </m:sSup>
                    <m:r>
                      <a:rPr lang="en-US" altLang="zh-TW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kumimoji="1" lang="en-US" altLang="zh-TW" dirty="0" smtClean="0"/>
                  <a:t> 0.000</a:t>
                </a:r>
                <a:r>
                  <a:rPr kumimoji="1" lang="mr-IN" altLang="zh-TW" dirty="0" smtClean="0"/>
                  <a:t>…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83" y="2415387"/>
                <a:ext cx="5092384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1916" t="-3101" b="-50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57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/>
              <a:t>Result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71" y="2174610"/>
            <a:ext cx="9539857" cy="3701256"/>
          </a:xfrm>
        </p:spPr>
      </p:pic>
    </p:spTree>
    <p:extLst>
      <p:ext uri="{BB962C8B-B14F-4D97-AF65-F5344CB8AC3E}">
        <p14:creationId xmlns:p14="http://schemas.microsoft.com/office/powerpoint/2010/main" val="86459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7341</TotalTime>
  <Words>322</Words>
  <Application>Microsoft Macintosh PowerPoint</Application>
  <PresentationFormat>寬螢幕</PresentationFormat>
  <Paragraphs>35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Calibri</vt:lpstr>
      <vt:lpstr>Calibri Light</vt:lpstr>
      <vt:lpstr>Cambria Math</vt:lpstr>
      <vt:lpstr>Helvetica</vt:lpstr>
      <vt:lpstr>Liberation Sans Narrow</vt:lpstr>
      <vt:lpstr>Mangal</vt:lpstr>
      <vt:lpstr>微軟正黑體</vt:lpstr>
      <vt:lpstr>新細明體</vt:lpstr>
      <vt:lpstr>Arial</vt:lpstr>
      <vt:lpstr>Office 佈景主題</vt:lpstr>
      <vt:lpstr>Robust Real-Time Face Detection </vt:lpstr>
      <vt:lpstr>Abstract</vt:lpstr>
      <vt:lpstr>Outline</vt:lpstr>
      <vt:lpstr>Integral Image </vt:lpstr>
      <vt:lpstr>AdaBoost learning algorithm </vt:lpstr>
      <vt:lpstr>AdaBoost learning algorithm </vt:lpstr>
      <vt:lpstr>PowerPoint 簡報</vt:lpstr>
      <vt:lpstr>Cascade Classifier</vt:lpstr>
      <vt:lpstr>Example</vt:lpstr>
      <vt:lpstr>PowerPoint 簡報</vt:lpstr>
      <vt:lpstr>Result</vt:lpstr>
    </vt:vector>
  </TitlesOfParts>
  <Company/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Real-Time Face Detection </dc:title>
  <dc:creator>M053040058</dc:creator>
  <cp:lastModifiedBy>M053040058</cp:lastModifiedBy>
  <cp:revision>32</cp:revision>
  <dcterms:created xsi:type="dcterms:W3CDTF">2016-12-31T14:56:56Z</dcterms:created>
  <dcterms:modified xsi:type="dcterms:W3CDTF">2017-01-17T11:31:05Z</dcterms:modified>
</cp:coreProperties>
</file>