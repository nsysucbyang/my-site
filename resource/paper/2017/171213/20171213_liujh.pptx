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61" r:id="rId5"/>
    <p:sldId id="259" r:id="rId6"/>
    <p:sldId id="262" r:id="rId7"/>
    <p:sldId id="263" r:id="rId8"/>
    <p:sldId id="265" r:id="rId9"/>
    <p:sldId id="260" r:id="rId10"/>
    <p:sldId id="266" r:id="rId11"/>
    <p:sldId id="264" r:id="rId12"/>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71330"/>
  </p:normalViewPr>
  <p:slideViewPr>
    <p:cSldViewPr snapToGrid="0" snapToObjects="1">
      <p:cViewPr varScale="1">
        <p:scale>
          <a:sx n="69" d="100"/>
          <a:sy n="69" d="100"/>
        </p:scale>
        <p:origin x="1696" y="176"/>
      </p:cViewPr>
      <p:guideLst/>
    </p:cSldViewPr>
  </p:slideViewPr>
  <p:outlineViewPr>
    <p:cViewPr>
      <p:scale>
        <a:sx n="33" d="100"/>
        <a:sy n="33" d="100"/>
      </p:scale>
      <p:origin x="0" y="-240"/>
    </p:cViewPr>
  </p:outlineViewPr>
  <p:notesTextViewPr>
    <p:cViewPr>
      <p:scale>
        <a:sx n="1" d="1"/>
        <a:sy n="1" d="1"/>
      </p:scale>
      <p:origin x="0" y="-360"/>
    </p:cViewPr>
  </p:notesTextViewPr>
  <p:gridSpacing cx="72008" cy="72008"/>
</p:viewPr>
</file>

<file path=ppt/_rels/presentation.xml.rels><?xml version="1.0" encoding="UTF-8" standalone="yes"?>
<Relationships xmlns="http://schemas.openxmlformats.org/package/2006/relationships"><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FD82EB-86BF-A14D-80A6-793A99AC92A1}" type="datetimeFigureOut">
              <a:rPr kumimoji="1" lang="zh-TW" altLang="en-US" smtClean="0"/>
              <a:t>2017/12/13</a:t>
            </a:fld>
            <a:endParaRPr kumimoji="1"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TW" altLang="en-US" smtClean="0"/>
              <a:t>按一下以編輯母片文字樣式</a:t>
            </a:r>
          </a:p>
          <a:p>
            <a:pPr lvl="1"/>
            <a:r>
              <a:rPr kumimoji="1" lang="zh-TW" altLang="en-US" smtClean="0"/>
              <a:t>第二層</a:t>
            </a:r>
          </a:p>
          <a:p>
            <a:pPr lvl="2"/>
            <a:r>
              <a:rPr kumimoji="1" lang="zh-TW" altLang="en-US" smtClean="0"/>
              <a:t>第三層</a:t>
            </a:r>
          </a:p>
          <a:p>
            <a:pPr lvl="3"/>
            <a:r>
              <a:rPr kumimoji="1" lang="zh-TW" altLang="en-US" smtClean="0"/>
              <a:t>第四層</a:t>
            </a:r>
          </a:p>
          <a:p>
            <a:pPr lvl="4"/>
            <a:r>
              <a:rPr kumimoji="1" lang="zh-TW" altLang="en-US" smtClean="0"/>
              <a:t>第五層</a:t>
            </a:r>
            <a:endParaRPr kumimoji="1" lang="zh-TW" altLang="en-US"/>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8F2BA8-1043-3B42-A61A-4497A47439F9}" type="slidenum">
              <a:rPr kumimoji="1" lang="zh-TW" altLang="en-US" smtClean="0"/>
              <a:t>‹#›</a:t>
            </a:fld>
            <a:endParaRPr kumimoji="1" lang="zh-TW" altLang="en-US"/>
          </a:p>
        </p:txBody>
      </p:sp>
    </p:spTree>
    <p:extLst>
      <p:ext uri="{BB962C8B-B14F-4D97-AF65-F5344CB8AC3E}">
        <p14:creationId xmlns:p14="http://schemas.microsoft.com/office/powerpoint/2010/main" val="10041234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is-IS" altLang="zh-TW" sz="1200" kern="1200" dirty="0" smtClean="0">
                <a:solidFill>
                  <a:schemeClr val="tx1"/>
                </a:solidFill>
                <a:effectLst/>
                <a:latin typeface="+mn-lt"/>
                <a:ea typeface="+mn-ea"/>
                <a:cs typeface="+mn-cs"/>
              </a:rPr>
              <a:t>2004 to 2013</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smtClean="0"/>
              <a:t>capital gain</a:t>
            </a:r>
            <a:r>
              <a:rPr lang="zh-TW" altLang="en-US" dirty="0" smtClean="0"/>
              <a:t>資本利得</a:t>
            </a:r>
            <a:endParaRPr lang="en-US" altLang="zh-TW"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smtClean="0"/>
              <a:t>Dividend yield</a:t>
            </a:r>
            <a:r>
              <a:rPr lang="en-US" altLang="zh-TW" baseline="0" dirty="0" smtClean="0"/>
              <a:t> </a:t>
            </a:r>
            <a:r>
              <a:rPr lang="zh-TW" altLang="en-US" baseline="0" dirty="0" smtClean="0"/>
              <a:t>股利率</a:t>
            </a:r>
            <a:endParaRPr lang="en-US" altLang="zh-TW" dirty="0" smtClean="0"/>
          </a:p>
        </p:txBody>
      </p:sp>
      <p:sp>
        <p:nvSpPr>
          <p:cNvPr id="4" name="投影片編號版面配置區 3"/>
          <p:cNvSpPr>
            <a:spLocks noGrp="1"/>
          </p:cNvSpPr>
          <p:nvPr>
            <p:ph type="sldNum" sz="quarter" idx="10"/>
          </p:nvPr>
        </p:nvSpPr>
        <p:spPr/>
        <p:txBody>
          <a:bodyPr/>
          <a:lstStyle/>
          <a:p>
            <a:fld id="{3B8F2BA8-1043-3B42-A61A-4497A47439F9}" type="slidenum">
              <a:rPr kumimoji="1" lang="zh-TW" altLang="en-US" smtClean="0"/>
              <a:t>5</a:t>
            </a:fld>
            <a:endParaRPr kumimoji="1" lang="zh-TW" altLang="en-US"/>
          </a:p>
        </p:txBody>
      </p:sp>
    </p:spTree>
    <p:extLst>
      <p:ext uri="{BB962C8B-B14F-4D97-AF65-F5344CB8AC3E}">
        <p14:creationId xmlns:p14="http://schemas.microsoft.com/office/powerpoint/2010/main" val="13764436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200" i="1" dirty="0" err="1" smtClean="0">
                <a:solidFill>
                  <a:srgbClr val="111111"/>
                </a:solidFill>
                <a:effectLst/>
                <a:latin typeface="LfjpmwTimes" charset="0"/>
              </a:rPr>
              <a:t>M</a:t>
            </a:r>
            <a:r>
              <a:rPr lang="en-US" altLang="zh-TW" sz="1050" baseline="-25000" dirty="0" err="1" smtClean="0">
                <a:solidFill>
                  <a:srgbClr val="111111"/>
                </a:solidFill>
                <a:effectLst/>
                <a:latin typeface="WqclydMTMI" charset="0"/>
              </a:rPr>
              <a:t>v</a:t>
            </a:r>
            <a:r>
              <a:rPr lang="en-US" altLang="zh-TW" sz="1050" dirty="0" smtClean="0">
                <a:solidFill>
                  <a:srgbClr val="111111"/>
                </a:solidFill>
                <a:effectLst/>
                <a:latin typeface="WqclydMTMI" charset="0"/>
              </a:rPr>
              <a:t> </a:t>
            </a:r>
            <a:r>
              <a:rPr lang="en-US" altLang="zh-TW" sz="1200" dirty="0" smtClean="0">
                <a:solidFill>
                  <a:srgbClr val="111111"/>
                </a:solidFill>
                <a:effectLst/>
                <a:latin typeface="BdlbynTimes" charset="0"/>
              </a:rPr>
              <a:t>is the market value per share </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i="1" kern="1200" dirty="0" smtClean="0">
                <a:solidFill>
                  <a:schemeClr val="tx1"/>
                </a:solidFill>
                <a:effectLst/>
                <a:latin typeface="+mn-lt"/>
                <a:ea typeface="+mn-ea"/>
                <a:cs typeface="+mn-cs"/>
              </a:rPr>
              <a:t>E P S </a:t>
            </a:r>
            <a:r>
              <a:rPr lang="en-US" altLang="zh-TW" sz="1200" kern="1200" dirty="0" smtClean="0">
                <a:solidFill>
                  <a:schemeClr val="tx1"/>
                </a:solidFill>
                <a:effectLst/>
                <a:latin typeface="+mn-lt"/>
                <a:ea typeface="+mn-ea"/>
                <a:cs typeface="+mn-cs"/>
              </a:rPr>
              <a:t>is the earnings per share </a:t>
            </a:r>
            <a:endParaRPr lang="en-US" altLang="zh-TW" dirty="0" smtClean="0"/>
          </a:p>
          <a:p>
            <a:endParaRPr lang="en-US" altLang="zh-TW"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i="1" kern="1200" dirty="0" smtClean="0">
                <a:solidFill>
                  <a:schemeClr val="tx1"/>
                </a:solidFill>
                <a:effectLst/>
                <a:latin typeface="+mn-lt"/>
                <a:ea typeface="+mn-ea"/>
                <a:cs typeface="+mn-cs"/>
              </a:rPr>
              <a:t>Tot </a:t>
            </a:r>
            <a:r>
              <a:rPr lang="en-US" altLang="zh-TW" sz="1200" i="1" kern="1200" baseline="-25000" dirty="0" smtClean="0">
                <a:solidFill>
                  <a:schemeClr val="tx1"/>
                </a:solidFill>
                <a:effectLst/>
                <a:latin typeface="+mn-lt"/>
                <a:ea typeface="+mn-ea"/>
                <a:cs typeface="+mn-cs"/>
              </a:rPr>
              <a:t>E</a:t>
            </a:r>
            <a:r>
              <a:rPr lang="en-US" altLang="zh-TW" sz="1200" i="1" kern="1200" dirty="0" smtClean="0">
                <a:solidFill>
                  <a:schemeClr val="tx1"/>
                </a:solidFill>
                <a:effectLst/>
                <a:latin typeface="+mn-lt"/>
                <a:ea typeface="+mn-ea"/>
                <a:cs typeface="+mn-cs"/>
              </a:rPr>
              <a:t> </a:t>
            </a:r>
            <a:r>
              <a:rPr lang="en-US" altLang="zh-TW" sz="1200" kern="1200" dirty="0" smtClean="0">
                <a:solidFill>
                  <a:schemeClr val="tx1"/>
                </a:solidFill>
                <a:effectLst/>
                <a:latin typeface="+mn-lt"/>
                <a:ea typeface="+mn-ea"/>
                <a:cs typeface="+mn-cs"/>
              </a:rPr>
              <a:t>is the total shareholder equity </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i="1" kern="1200" dirty="0" smtClean="0">
                <a:solidFill>
                  <a:schemeClr val="tx1"/>
                </a:solidFill>
                <a:effectLst/>
                <a:latin typeface="+mn-lt"/>
                <a:ea typeface="+mn-ea"/>
                <a:cs typeface="+mn-cs"/>
              </a:rPr>
              <a:t>P</a:t>
            </a:r>
            <a:r>
              <a:rPr lang="en-US" altLang="zh-TW" sz="1200" i="1" kern="1200" baseline="-25000" dirty="0" smtClean="0">
                <a:solidFill>
                  <a:schemeClr val="tx1"/>
                </a:solidFill>
                <a:effectLst/>
                <a:latin typeface="+mn-lt"/>
                <a:ea typeface="+mn-ea"/>
                <a:cs typeface="+mn-cs"/>
              </a:rPr>
              <a:t>E</a:t>
            </a:r>
            <a:r>
              <a:rPr lang="en-US" altLang="zh-TW" sz="1200" i="1" kern="1200" dirty="0" smtClean="0">
                <a:solidFill>
                  <a:schemeClr val="tx1"/>
                </a:solidFill>
                <a:effectLst/>
                <a:latin typeface="+mn-lt"/>
                <a:ea typeface="+mn-ea"/>
                <a:cs typeface="+mn-cs"/>
              </a:rPr>
              <a:t> is the pre</a:t>
            </a:r>
            <a:r>
              <a:rPr lang="en-US" altLang="zh-TW" sz="1200" kern="1200" dirty="0" smtClean="0">
                <a:solidFill>
                  <a:schemeClr val="tx1"/>
                </a:solidFill>
                <a:effectLst/>
                <a:latin typeface="+mn-lt"/>
                <a:ea typeface="+mn-ea"/>
                <a:cs typeface="+mn-cs"/>
              </a:rPr>
              <a:t>ferred equity</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i="1" kern="1200" dirty="0" smtClean="0">
                <a:solidFill>
                  <a:schemeClr val="tx1"/>
                </a:solidFill>
                <a:effectLst/>
                <a:latin typeface="+mn-lt"/>
                <a:ea typeface="+mn-ea"/>
                <a:cs typeface="+mn-cs"/>
              </a:rPr>
              <a:t>Tot </a:t>
            </a:r>
            <a:r>
              <a:rPr lang="en-US" altLang="zh-TW" sz="1200" i="1" kern="1200" baseline="-25000" dirty="0" smtClean="0">
                <a:solidFill>
                  <a:schemeClr val="tx1"/>
                </a:solidFill>
                <a:effectLst/>
                <a:latin typeface="+mn-lt"/>
                <a:ea typeface="+mn-ea"/>
                <a:cs typeface="+mn-cs"/>
              </a:rPr>
              <a:t>s</a:t>
            </a:r>
            <a:r>
              <a:rPr lang="en-US" altLang="zh-TW" sz="1200" i="1" kern="1200" dirty="0" smtClean="0">
                <a:solidFill>
                  <a:schemeClr val="tx1"/>
                </a:solidFill>
                <a:effectLst/>
                <a:latin typeface="+mn-lt"/>
                <a:ea typeface="+mn-ea"/>
                <a:cs typeface="+mn-cs"/>
              </a:rPr>
              <a:t> </a:t>
            </a:r>
            <a:r>
              <a:rPr lang="en-US" altLang="zh-TW" sz="1200" kern="1200" dirty="0" smtClean="0">
                <a:solidFill>
                  <a:schemeClr val="tx1"/>
                </a:solidFill>
                <a:effectLst/>
                <a:latin typeface="+mn-lt"/>
                <a:ea typeface="+mn-ea"/>
                <a:cs typeface="+mn-cs"/>
              </a:rPr>
              <a:t>is the total outstanding shares</a:t>
            </a: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sz="120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i="1" dirty="0" smtClean="0">
                <a:solidFill>
                  <a:srgbClr val="111111"/>
                </a:solidFill>
                <a:latin typeface="LfjpmwTimes" charset="0"/>
              </a:rPr>
              <a:t>Book value per share </a:t>
            </a:r>
            <a:r>
              <a:rPr lang="zh-TW" altLang="en-US" i="0" baseline="0" dirty="0" smtClean="0">
                <a:solidFill>
                  <a:schemeClr val="tx1"/>
                </a:solidFill>
                <a:latin typeface="+mn-lt"/>
              </a:rPr>
              <a:t>每股帳面價值</a:t>
            </a:r>
            <a:endParaRPr lang="en-US" altLang="zh-TW" i="0" baseline="0" dirty="0" smtClean="0">
              <a:solidFill>
                <a:schemeClr val="tx1"/>
              </a:solidFill>
              <a:latin typeface="+mn-lt"/>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b="0" i="0" kern="1200" dirty="0" smtClean="0">
                <a:solidFill>
                  <a:schemeClr val="tx1"/>
                </a:solidFill>
                <a:effectLst/>
                <a:latin typeface="+mn-lt"/>
                <a:ea typeface="+mn-ea"/>
                <a:cs typeface="+mn-cs"/>
              </a:rPr>
              <a:t>Shareholders Equity</a:t>
            </a:r>
            <a:r>
              <a:rPr lang="zh-TW" altLang="en-US" sz="1200" b="0" i="0" kern="1200" dirty="0" smtClean="0">
                <a:solidFill>
                  <a:schemeClr val="tx1"/>
                </a:solidFill>
                <a:effectLst/>
                <a:latin typeface="+mn-lt"/>
                <a:ea typeface="+mn-ea"/>
                <a:cs typeface="+mn-cs"/>
              </a:rPr>
              <a:t> 股東權益</a:t>
            </a:r>
            <a:endParaRPr lang="en-US" altLang="zh-TW" sz="1200" b="0" i="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i="1" dirty="0" smtClean="0"/>
              <a:t>pre</a:t>
            </a:r>
            <a:r>
              <a:rPr lang="en-US" altLang="zh-TW" dirty="0" smtClean="0"/>
              <a:t>ferred equity</a:t>
            </a:r>
            <a:r>
              <a:rPr lang="zh-TW" altLang="en-US" dirty="0" smtClean="0"/>
              <a:t> 優先股股權</a:t>
            </a:r>
            <a:endParaRPr lang="en-US" altLang="zh-TW"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smtClean="0"/>
              <a:t>total outstanding shares</a:t>
            </a:r>
            <a:r>
              <a:rPr lang="zh-TW" altLang="zh-TW" dirty="0" smtClean="0"/>
              <a:t>已發行股份總數</a:t>
            </a:r>
            <a:r>
              <a:rPr lang="zh-TW" altLang="en-US" dirty="0" smtClean="0"/>
              <a:t>，</a:t>
            </a:r>
            <a:r>
              <a:rPr lang="zh-TW" altLang="en-US" sz="1200" b="0" i="0" kern="1200" dirty="0" smtClean="0">
                <a:solidFill>
                  <a:schemeClr val="tx1"/>
                </a:solidFill>
                <a:effectLst/>
                <a:latin typeface="+mn-lt"/>
                <a:ea typeface="+mn-ea"/>
                <a:cs typeface="+mn-cs"/>
              </a:rPr>
              <a:t>在外股票；流通股票</a:t>
            </a:r>
            <a:endParaRPr lang="en-US" altLang="zh-TW"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sz="1200" kern="1200" dirty="0" smtClean="0">
              <a:solidFill>
                <a:schemeClr val="tx1"/>
              </a:solidFill>
              <a:effectLst/>
              <a:latin typeface="+mn-lt"/>
              <a:ea typeface="+mn-ea"/>
              <a:cs typeface="+mn-cs"/>
            </a:endParaRPr>
          </a:p>
          <a:p>
            <a:r>
              <a:rPr lang="en-US" altLang="zh-TW" sz="1200" i="1" kern="1200" dirty="0" err="1" smtClean="0">
                <a:solidFill>
                  <a:schemeClr val="tx1"/>
                </a:solidFill>
                <a:effectLst/>
                <a:latin typeface="+mn-lt"/>
                <a:ea typeface="+mn-ea"/>
                <a:cs typeface="+mn-cs"/>
              </a:rPr>
              <a:t>Net</a:t>
            </a:r>
            <a:r>
              <a:rPr lang="en-US" altLang="zh-TW" sz="1200" i="1" kern="1200" baseline="-25000" dirty="0" err="1" smtClean="0">
                <a:solidFill>
                  <a:schemeClr val="tx1"/>
                </a:solidFill>
                <a:effectLst/>
                <a:latin typeface="+mn-lt"/>
                <a:ea typeface="+mn-ea"/>
                <a:cs typeface="+mn-cs"/>
              </a:rPr>
              <a:t>in</a:t>
            </a:r>
            <a:r>
              <a:rPr lang="en-US" altLang="zh-TW" sz="1200" i="1" kern="1200" dirty="0" smtClean="0">
                <a:solidFill>
                  <a:schemeClr val="tx1"/>
                </a:solidFill>
                <a:effectLst/>
                <a:latin typeface="+mn-lt"/>
                <a:ea typeface="+mn-ea"/>
                <a:cs typeface="+mn-cs"/>
              </a:rPr>
              <a:t> </a:t>
            </a:r>
            <a:r>
              <a:rPr lang="en-US" altLang="zh-TW" sz="1200" kern="1200" dirty="0" smtClean="0">
                <a:solidFill>
                  <a:schemeClr val="tx1"/>
                </a:solidFill>
                <a:effectLst/>
                <a:latin typeface="+mn-lt"/>
                <a:ea typeface="+mn-ea"/>
                <a:cs typeface="+mn-cs"/>
              </a:rPr>
              <a:t>is the net income for the full fiscal year, before paying dividends to the common stock holder but after dividends to the preferred stock</a:t>
            </a:r>
            <a:endParaRPr lang="en-US" altLang="zh-TW"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i="1" kern="1200" dirty="0" smtClean="0">
                <a:solidFill>
                  <a:schemeClr val="tx1"/>
                </a:solidFill>
                <a:effectLst/>
                <a:latin typeface="+mn-lt"/>
                <a:ea typeface="+mn-ea"/>
                <a:cs typeface="+mn-cs"/>
              </a:rPr>
              <a:t>S</a:t>
            </a:r>
            <a:r>
              <a:rPr lang="en-US" altLang="zh-TW" sz="1200" i="1" kern="1200" baseline="-25000" dirty="0" smtClean="0">
                <a:solidFill>
                  <a:schemeClr val="tx1"/>
                </a:solidFill>
                <a:effectLst/>
                <a:latin typeface="+mn-lt"/>
                <a:ea typeface="+mn-ea"/>
                <a:cs typeface="+mn-cs"/>
              </a:rPr>
              <a:t>E</a:t>
            </a:r>
            <a:r>
              <a:rPr lang="en-US" altLang="zh-TW" sz="1200" i="1" kern="1200" dirty="0" smtClean="0">
                <a:solidFill>
                  <a:schemeClr val="tx1"/>
                </a:solidFill>
                <a:effectLst/>
                <a:latin typeface="+mn-lt"/>
                <a:ea typeface="+mn-ea"/>
                <a:cs typeface="+mn-cs"/>
              </a:rPr>
              <a:t> </a:t>
            </a:r>
            <a:r>
              <a:rPr lang="en-US" altLang="zh-TW" sz="1200" kern="1200" dirty="0" smtClean="0">
                <a:solidFill>
                  <a:schemeClr val="tx1"/>
                </a:solidFill>
                <a:effectLst/>
                <a:latin typeface="+mn-lt"/>
                <a:ea typeface="+mn-ea"/>
                <a:cs typeface="+mn-cs"/>
              </a:rPr>
              <a:t>is the equity of shareholders, not include preferred shares</a:t>
            </a: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i="1" kern="1200" dirty="0" smtClean="0">
                <a:solidFill>
                  <a:schemeClr val="tx1"/>
                </a:solidFill>
                <a:effectLst/>
                <a:latin typeface="+mn-lt"/>
                <a:ea typeface="+mn-ea"/>
                <a:cs typeface="+mn-cs"/>
              </a:rPr>
              <a:t>DPS </a:t>
            </a:r>
            <a:r>
              <a:rPr lang="en-US" altLang="zh-TW" sz="1200" kern="1200" dirty="0" smtClean="0">
                <a:solidFill>
                  <a:schemeClr val="tx1"/>
                </a:solidFill>
                <a:effectLst/>
                <a:latin typeface="+mn-lt"/>
                <a:ea typeface="+mn-ea"/>
                <a:cs typeface="+mn-cs"/>
              </a:rPr>
              <a:t>is the annual dividends per common share </a:t>
            </a:r>
            <a:endParaRPr lang="en-US" altLang="zh-TW"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i="1" kern="1200" dirty="0" smtClean="0">
                <a:solidFill>
                  <a:schemeClr val="tx1"/>
                </a:solidFill>
                <a:effectLst/>
                <a:latin typeface="+mn-lt"/>
                <a:ea typeface="+mn-ea"/>
                <a:cs typeface="+mn-cs"/>
              </a:rPr>
              <a:t>EPS </a:t>
            </a:r>
            <a:r>
              <a:rPr lang="en-US" altLang="zh-TW" sz="1200" kern="1200" dirty="0" smtClean="0">
                <a:solidFill>
                  <a:schemeClr val="tx1"/>
                </a:solidFill>
                <a:effectLst/>
                <a:latin typeface="+mn-lt"/>
                <a:ea typeface="+mn-ea"/>
                <a:cs typeface="+mn-cs"/>
              </a:rPr>
              <a:t>is the earnings per share</a:t>
            </a: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sz="120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dirty="0" smtClean="0"/>
          </a:p>
          <a:p>
            <a:endParaRPr lang="en-US" altLang="zh-TW" dirty="0" smtClean="0"/>
          </a:p>
          <a:p>
            <a:endParaRPr kumimoji="1" lang="zh-TW" altLang="en-US" dirty="0"/>
          </a:p>
        </p:txBody>
      </p:sp>
      <p:sp>
        <p:nvSpPr>
          <p:cNvPr id="4" name="投影片編號版面配置區 3"/>
          <p:cNvSpPr>
            <a:spLocks noGrp="1"/>
          </p:cNvSpPr>
          <p:nvPr>
            <p:ph type="sldNum" sz="quarter" idx="10"/>
          </p:nvPr>
        </p:nvSpPr>
        <p:spPr/>
        <p:txBody>
          <a:bodyPr/>
          <a:lstStyle/>
          <a:p>
            <a:fld id="{3B8F2BA8-1043-3B42-A61A-4497A47439F9}" type="slidenum">
              <a:rPr kumimoji="1" lang="zh-TW" altLang="en-US" smtClean="0"/>
              <a:t>6</a:t>
            </a:fld>
            <a:endParaRPr kumimoji="1" lang="zh-TW" altLang="en-US"/>
          </a:p>
        </p:txBody>
      </p:sp>
    </p:spTree>
    <p:extLst>
      <p:ext uri="{BB962C8B-B14F-4D97-AF65-F5344CB8AC3E}">
        <p14:creationId xmlns:p14="http://schemas.microsoft.com/office/powerpoint/2010/main" val="14821957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i="1" kern="1200" dirty="0" smtClean="0">
                <a:solidFill>
                  <a:schemeClr val="tx1"/>
                </a:solidFill>
                <a:effectLst/>
                <a:latin typeface="+mn-lt"/>
                <a:ea typeface="+mn-ea"/>
                <a:cs typeface="+mn-cs"/>
              </a:rPr>
              <a:t>DPS </a:t>
            </a:r>
            <a:r>
              <a:rPr lang="en-US" altLang="zh-TW" sz="1200" kern="1200" dirty="0" smtClean="0">
                <a:solidFill>
                  <a:schemeClr val="tx1"/>
                </a:solidFill>
                <a:effectLst/>
                <a:latin typeface="+mn-lt"/>
                <a:ea typeface="+mn-ea"/>
                <a:cs typeface="+mn-cs"/>
              </a:rPr>
              <a:t>is the annual dividends per common share </a:t>
            </a:r>
            <a:endParaRPr lang="en-US" altLang="zh-TW"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i="1" kern="1200" dirty="0" smtClean="0">
                <a:solidFill>
                  <a:schemeClr val="tx1"/>
                </a:solidFill>
                <a:effectLst/>
                <a:latin typeface="+mn-lt"/>
                <a:ea typeface="+mn-ea"/>
                <a:cs typeface="+mn-cs"/>
              </a:rPr>
              <a:t>PPS </a:t>
            </a:r>
            <a:r>
              <a:rPr lang="en-US" altLang="zh-TW" sz="1200" kern="1200" dirty="0" smtClean="0">
                <a:solidFill>
                  <a:schemeClr val="tx1"/>
                </a:solidFill>
                <a:effectLst/>
                <a:latin typeface="+mn-lt"/>
                <a:ea typeface="+mn-ea"/>
                <a:cs typeface="+mn-cs"/>
              </a:rPr>
              <a:t>is the price per share </a:t>
            </a:r>
            <a:endParaRPr lang="en-US" altLang="zh-TW"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zh-TW" sz="1200" i="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i="1" dirty="0" smtClean="0">
                <a:solidFill>
                  <a:srgbClr val="111111"/>
                </a:solidFill>
                <a:latin typeface="LfjpmwTimes" charset="0"/>
              </a:rPr>
              <a:t>Dividend yield</a:t>
            </a:r>
            <a:r>
              <a:rPr lang="zh-TW" altLang="en-US" i="1" dirty="0" smtClean="0">
                <a:solidFill>
                  <a:srgbClr val="111111"/>
                </a:solidFill>
                <a:latin typeface="LfjpmwTimes" charset="0"/>
              </a:rPr>
              <a:t> </a:t>
            </a:r>
            <a:r>
              <a:rPr lang="zh-TW" altLang="en-US" sz="1200" b="1" i="0" kern="1200" dirty="0" smtClean="0">
                <a:solidFill>
                  <a:schemeClr val="tx1"/>
                </a:solidFill>
                <a:effectLst/>
                <a:latin typeface="+mn-lt"/>
                <a:ea typeface="+mn-ea"/>
                <a:cs typeface="+mn-cs"/>
              </a:rPr>
              <a:t>現金殖利率</a:t>
            </a:r>
            <a:endParaRPr kumimoji="1" lang="en-US" altLang="zh-TW" sz="1200" i="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kern="1200" dirty="0" smtClean="0">
                <a:solidFill>
                  <a:schemeClr val="tx1"/>
                </a:solidFill>
                <a:effectLst/>
                <a:latin typeface="+mn-lt"/>
                <a:ea typeface="+mn-ea"/>
                <a:cs typeface="+mn-cs"/>
              </a:rPr>
              <a:t>annual dividends per common share </a:t>
            </a:r>
            <a:r>
              <a:rPr lang="zh-TW" altLang="en-US" sz="1200" kern="1200" dirty="0" smtClean="0">
                <a:solidFill>
                  <a:schemeClr val="tx1"/>
                </a:solidFill>
                <a:effectLst/>
                <a:latin typeface="+mn-lt"/>
                <a:ea typeface="+mn-ea"/>
                <a:cs typeface="+mn-cs"/>
              </a:rPr>
              <a:t>每股股息</a:t>
            </a:r>
            <a:endParaRPr lang="en-US" altLang="zh-TW" sz="120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kern="1200" dirty="0" smtClean="0">
                <a:solidFill>
                  <a:schemeClr val="tx1"/>
                </a:solidFill>
                <a:effectLst/>
                <a:latin typeface="+mn-lt"/>
                <a:ea typeface="+mn-ea"/>
                <a:cs typeface="+mn-cs"/>
              </a:rPr>
              <a:t>price per share </a:t>
            </a:r>
            <a:r>
              <a:rPr lang="zh-TW" altLang="en-US" sz="1200" kern="1200" dirty="0" smtClean="0">
                <a:solidFill>
                  <a:schemeClr val="tx1"/>
                </a:solidFill>
                <a:effectLst/>
                <a:latin typeface="+mn-lt"/>
                <a:ea typeface="+mn-ea"/>
                <a:cs typeface="+mn-cs"/>
              </a:rPr>
              <a:t>每股價錢</a:t>
            </a:r>
            <a:endParaRPr lang="en-US" altLang="zh-TW" sz="120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zh-TW" sz="1200" i="0" kern="1200" dirty="0" smtClean="0">
              <a:solidFill>
                <a:schemeClr val="tx1"/>
              </a:solidFill>
              <a:effectLst/>
              <a:latin typeface="+mn-lt"/>
              <a:ea typeface="+mn-ea"/>
              <a:cs typeface="+mn-cs"/>
            </a:endParaRPr>
          </a:p>
          <a:p>
            <a:r>
              <a:rPr lang="en-US" altLang="zh-TW" sz="1200" i="1" kern="1200" dirty="0" smtClean="0">
                <a:solidFill>
                  <a:schemeClr val="tx1"/>
                </a:solidFill>
                <a:effectLst/>
                <a:latin typeface="+mn-lt"/>
                <a:ea typeface="+mn-ea"/>
                <a:cs typeface="+mn-cs"/>
              </a:rPr>
              <a:t>P </a:t>
            </a:r>
            <a:r>
              <a:rPr lang="en-US" altLang="zh-TW" sz="1200" kern="1200" dirty="0" smtClean="0">
                <a:solidFill>
                  <a:schemeClr val="tx1"/>
                </a:solidFill>
                <a:effectLst/>
                <a:latin typeface="+mn-lt"/>
                <a:ea typeface="+mn-ea"/>
                <a:cs typeface="+mn-cs"/>
              </a:rPr>
              <a:t>is the stock price</a:t>
            </a:r>
            <a:br>
              <a:rPr lang="en-US" altLang="zh-TW" sz="1200" kern="1200" dirty="0" smtClean="0">
                <a:solidFill>
                  <a:schemeClr val="tx1"/>
                </a:solidFill>
                <a:effectLst/>
                <a:latin typeface="+mn-lt"/>
                <a:ea typeface="+mn-ea"/>
                <a:cs typeface="+mn-cs"/>
              </a:rPr>
            </a:br>
            <a:r>
              <a:rPr lang="en-US" altLang="zh-TW" sz="1200" i="1" kern="1200" dirty="0" err="1" smtClean="0">
                <a:solidFill>
                  <a:schemeClr val="tx1"/>
                </a:solidFill>
                <a:effectLst/>
                <a:latin typeface="+mn-lt"/>
                <a:ea typeface="+mn-ea"/>
                <a:cs typeface="+mn-cs"/>
              </a:rPr>
              <a:t>Tot</a:t>
            </a:r>
            <a:r>
              <a:rPr lang="en-US" altLang="zh-TW" sz="1200" i="1" kern="1200" baseline="-25000" dirty="0" err="1" smtClean="0">
                <a:solidFill>
                  <a:schemeClr val="tx1"/>
                </a:solidFill>
                <a:effectLst/>
                <a:latin typeface="+mn-lt"/>
                <a:ea typeface="+mn-ea"/>
                <a:cs typeface="+mn-cs"/>
              </a:rPr>
              <a:t>a</a:t>
            </a:r>
            <a:r>
              <a:rPr lang="en-US" altLang="zh-TW" sz="1200" i="1" kern="1200" baseline="0" dirty="0" smtClean="0">
                <a:solidFill>
                  <a:schemeClr val="tx1"/>
                </a:solidFill>
                <a:effectLst/>
                <a:latin typeface="+mn-lt"/>
                <a:ea typeface="+mn-ea"/>
                <a:cs typeface="+mn-cs"/>
              </a:rPr>
              <a:t> </a:t>
            </a:r>
            <a:r>
              <a:rPr lang="en-US" altLang="zh-TW" sz="1200" kern="1200" dirty="0" smtClean="0">
                <a:solidFill>
                  <a:schemeClr val="tx1"/>
                </a:solidFill>
                <a:effectLst/>
                <a:latin typeface="+mn-lt"/>
                <a:ea typeface="+mn-ea"/>
                <a:cs typeface="+mn-cs"/>
              </a:rPr>
              <a:t>is the total asset</a:t>
            </a:r>
            <a:r>
              <a:rPr lang="en-US" altLang="zh-TW" sz="1200" kern="1200" baseline="0" dirty="0" smtClean="0">
                <a:solidFill>
                  <a:schemeClr val="tx1"/>
                </a:solidFill>
                <a:effectLst/>
                <a:latin typeface="+mn-lt"/>
                <a:ea typeface="+mn-ea"/>
                <a:cs typeface="+mn-cs"/>
              </a:rPr>
              <a:t> </a:t>
            </a:r>
          </a:p>
          <a:p>
            <a:r>
              <a:rPr lang="en-US" altLang="zh-TW" sz="1200" i="1" kern="1200" baseline="0" dirty="0" err="1" smtClean="0">
                <a:solidFill>
                  <a:schemeClr val="tx1"/>
                </a:solidFill>
                <a:effectLst/>
                <a:latin typeface="+mn-lt"/>
                <a:ea typeface="+mn-ea"/>
                <a:cs typeface="+mn-cs"/>
              </a:rPr>
              <a:t>Int</a:t>
            </a:r>
            <a:r>
              <a:rPr lang="en-US" altLang="zh-TW" sz="1200" i="1" kern="1200" baseline="-25000" dirty="0" err="1" smtClean="0">
                <a:solidFill>
                  <a:schemeClr val="tx1"/>
                </a:solidFill>
                <a:effectLst/>
                <a:latin typeface="+mn-lt"/>
                <a:ea typeface="+mn-ea"/>
                <a:cs typeface="+mn-cs"/>
              </a:rPr>
              <a:t>a</a:t>
            </a:r>
            <a:r>
              <a:rPr lang="en-US" altLang="zh-TW" sz="1200" kern="1200" baseline="0" dirty="0" smtClean="0">
                <a:solidFill>
                  <a:schemeClr val="tx1"/>
                </a:solidFill>
                <a:effectLst/>
                <a:latin typeface="+mn-lt"/>
                <a:ea typeface="+mn-ea"/>
                <a:cs typeface="+mn-cs"/>
              </a:rPr>
              <a:t> </a:t>
            </a:r>
            <a:r>
              <a:rPr lang="en-US" altLang="zh-TW" sz="1200" kern="1200" dirty="0" smtClean="0">
                <a:solidFill>
                  <a:schemeClr val="tx1"/>
                </a:solidFill>
                <a:effectLst/>
                <a:latin typeface="+mn-lt"/>
                <a:ea typeface="+mn-ea"/>
                <a:cs typeface="+mn-cs"/>
              </a:rPr>
              <a:t>intangible assets and liabilities.</a:t>
            </a:r>
            <a:endParaRPr lang="en-US" altLang="zh-TW" dirty="0" smtClean="0"/>
          </a:p>
          <a:p>
            <a:endParaRPr kumimoji="1" lang="en-US" altLang="zh-TW" sz="1200" i="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i="1" dirty="0" smtClean="0">
                <a:solidFill>
                  <a:srgbClr val="111111"/>
                </a:solidFill>
                <a:latin typeface="LfjpmwTimes" charset="0"/>
              </a:rPr>
              <a:t>Price to book ratio</a:t>
            </a:r>
            <a:r>
              <a:rPr lang="zh-TW" altLang="en-US" i="1" dirty="0" smtClean="0">
                <a:solidFill>
                  <a:srgbClr val="111111"/>
                </a:solidFill>
                <a:latin typeface="LfjpmwTimes" charset="0"/>
              </a:rPr>
              <a:t> </a:t>
            </a:r>
            <a:r>
              <a:rPr lang="zh-TW" altLang="en-US" i="1" baseline="0" dirty="0" smtClean="0">
                <a:solidFill>
                  <a:srgbClr val="111111"/>
                </a:solidFill>
                <a:latin typeface="LfjpmwTimes" charset="0"/>
              </a:rPr>
              <a:t>股價淨值比</a:t>
            </a:r>
            <a:endParaRPr kumimoji="1" lang="en-US" altLang="zh-TW" sz="1200" i="0" kern="1200" dirty="0" smtClean="0">
              <a:solidFill>
                <a:schemeClr val="tx1"/>
              </a:solidFill>
              <a:effectLst/>
              <a:latin typeface="+mn-lt"/>
              <a:ea typeface="+mn-ea"/>
              <a:cs typeface="+mn-cs"/>
            </a:endParaRPr>
          </a:p>
          <a:p>
            <a:r>
              <a:rPr lang="en-US" altLang="zh-TW" sz="1200" kern="1200" dirty="0" smtClean="0">
                <a:solidFill>
                  <a:schemeClr val="tx1"/>
                </a:solidFill>
                <a:effectLst/>
                <a:latin typeface="+mn-lt"/>
                <a:ea typeface="+mn-ea"/>
                <a:cs typeface="+mn-cs"/>
              </a:rPr>
              <a:t>intangible assets </a:t>
            </a:r>
            <a:r>
              <a:rPr lang="zh-TW" altLang="en-US" sz="1200" kern="1200" dirty="0" smtClean="0">
                <a:solidFill>
                  <a:schemeClr val="tx1"/>
                </a:solidFill>
                <a:effectLst/>
                <a:latin typeface="+mn-lt"/>
                <a:ea typeface="+mn-ea"/>
                <a:cs typeface="+mn-cs"/>
              </a:rPr>
              <a:t>無形資產</a:t>
            </a:r>
            <a:endParaRPr kumimoji="1" lang="en-US" altLang="zh-TW" sz="1200" i="0" kern="1200" dirty="0" smtClean="0">
              <a:solidFill>
                <a:schemeClr val="tx1"/>
              </a:solidFill>
              <a:effectLst/>
              <a:latin typeface="+mn-lt"/>
              <a:ea typeface="+mn-ea"/>
              <a:cs typeface="+mn-cs"/>
            </a:endParaRPr>
          </a:p>
          <a:p>
            <a:r>
              <a:rPr lang="en-US" altLang="zh-TW" sz="1200" kern="1200" dirty="0" smtClean="0">
                <a:solidFill>
                  <a:schemeClr val="tx1"/>
                </a:solidFill>
                <a:effectLst/>
                <a:latin typeface="+mn-lt"/>
                <a:ea typeface="+mn-ea"/>
                <a:cs typeface="+mn-cs"/>
              </a:rPr>
              <a:t>Liabilities</a:t>
            </a:r>
            <a:r>
              <a:rPr lang="zh-TW" altLang="en-US" sz="1200" kern="1200" dirty="0" smtClean="0">
                <a:solidFill>
                  <a:schemeClr val="tx1"/>
                </a:solidFill>
                <a:effectLst/>
                <a:latin typeface="+mn-lt"/>
                <a:ea typeface="+mn-ea"/>
                <a:cs typeface="+mn-cs"/>
              </a:rPr>
              <a:t> 負債</a:t>
            </a:r>
            <a:endParaRPr lang="en-US" altLang="zh-TW" sz="1200" kern="1200" dirty="0" smtClean="0">
              <a:solidFill>
                <a:schemeClr val="tx1"/>
              </a:solidFill>
              <a:effectLst/>
              <a:latin typeface="+mn-lt"/>
              <a:ea typeface="+mn-ea"/>
              <a:cs typeface="+mn-cs"/>
            </a:endParaRPr>
          </a:p>
          <a:p>
            <a:endParaRPr kumimoji="1" lang="en-US" altLang="zh-TW" sz="1200" i="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i="1" kern="1200" dirty="0" smtClean="0">
                <a:solidFill>
                  <a:schemeClr val="tx1"/>
                </a:solidFill>
                <a:effectLst/>
                <a:latin typeface="+mn-lt"/>
                <a:ea typeface="+mn-ea"/>
                <a:cs typeface="+mn-cs"/>
              </a:rPr>
              <a:t>C </a:t>
            </a:r>
            <a:r>
              <a:rPr lang="en-US" altLang="zh-TW" sz="1200" kern="1200" dirty="0" smtClean="0">
                <a:solidFill>
                  <a:schemeClr val="tx1"/>
                </a:solidFill>
                <a:effectLst/>
                <a:latin typeface="+mn-lt"/>
                <a:ea typeface="+mn-ea"/>
                <a:cs typeface="+mn-cs"/>
              </a:rPr>
              <a:t>is the cash </a:t>
            </a:r>
            <a:endParaRPr lang="en-US" altLang="zh-TW"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i="1" kern="1200" dirty="0" err="1" smtClean="0">
                <a:solidFill>
                  <a:schemeClr val="tx1"/>
                </a:solidFill>
                <a:effectLst/>
                <a:latin typeface="+mn-lt"/>
                <a:ea typeface="+mn-ea"/>
                <a:cs typeface="+mn-cs"/>
              </a:rPr>
              <a:t>C</a:t>
            </a:r>
            <a:r>
              <a:rPr lang="en-US" altLang="zh-TW" sz="1200" i="1" kern="1200" baseline="-25000" dirty="0" err="1" smtClean="0">
                <a:solidFill>
                  <a:schemeClr val="tx1"/>
                </a:solidFill>
                <a:effectLst/>
                <a:latin typeface="+mn-lt"/>
                <a:ea typeface="+mn-ea"/>
                <a:cs typeface="+mn-cs"/>
              </a:rPr>
              <a:t>eq</a:t>
            </a:r>
            <a:r>
              <a:rPr lang="en-US" altLang="zh-TW" sz="1200" i="1" kern="1200" dirty="0" smtClean="0">
                <a:solidFill>
                  <a:schemeClr val="tx1"/>
                </a:solidFill>
                <a:effectLst/>
                <a:latin typeface="+mn-lt"/>
                <a:ea typeface="+mn-ea"/>
                <a:cs typeface="+mn-cs"/>
              </a:rPr>
              <a:t> </a:t>
            </a:r>
            <a:r>
              <a:rPr lang="en-US" altLang="zh-TW" sz="1200" kern="1200" dirty="0" smtClean="0">
                <a:solidFill>
                  <a:schemeClr val="tx1"/>
                </a:solidFill>
                <a:effectLst/>
                <a:latin typeface="+mn-lt"/>
                <a:ea typeface="+mn-ea"/>
                <a:cs typeface="+mn-cs"/>
              </a:rPr>
              <a:t>is the cash equivalents </a:t>
            </a:r>
            <a:endParaRPr lang="en-US" altLang="zh-TW"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i="1" kern="1200" dirty="0" err="1" smtClean="0">
                <a:solidFill>
                  <a:schemeClr val="tx1"/>
                </a:solidFill>
                <a:effectLst/>
                <a:latin typeface="+mn-lt"/>
                <a:ea typeface="+mn-ea"/>
                <a:cs typeface="+mn-cs"/>
              </a:rPr>
              <a:t>Acc</a:t>
            </a:r>
            <a:r>
              <a:rPr lang="en-US" altLang="zh-TW" sz="1200" i="1" kern="1200" baseline="-25000" dirty="0" err="1" smtClean="0">
                <a:solidFill>
                  <a:schemeClr val="tx1"/>
                </a:solidFill>
                <a:effectLst/>
                <a:latin typeface="+mn-lt"/>
                <a:ea typeface="+mn-ea"/>
                <a:cs typeface="+mn-cs"/>
              </a:rPr>
              <a:t>rec</a:t>
            </a:r>
            <a:r>
              <a:rPr lang="en-US" altLang="zh-TW" sz="1200" i="1" kern="1200" dirty="0" smtClean="0">
                <a:solidFill>
                  <a:schemeClr val="tx1"/>
                </a:solidFill>
                <a:effectLst/>
                <a:latin typeface="+mn-lt"/>
                <a:ea typeface="+mn-ea"/>
                <a:cs typeface="+mn-cs"/>
              </a:rPr>
              <a:t> </a:t>
            </a:r>
            <a:r>
              <a:rPr lang="en-US" altLang="zh-TW" sz="1200" kern="1200" dirty="0" smtClean="0">
                <a:solidFill>
                  <a:schemeClr val="tx1"/>
                </a:solidFill>
                <a:effectLst/>
                <a:latin typeface="+mn-lt"/>
                <a:ea typeface="+mn-ea"/>
                <a:cs typeface="+mn-cs"/>
              </a:rPr>
              <a:t>is the accounts receivable </a:t>
            </a:r>
            <a:endParaRPr lang="en-US" altLang="zh-TW"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i="1" kern="1200" dirty="0" err="1" smtClean="0">
                <a:solidFill>
                  <a:schemeClr val="tx1"/>
                </a:solidFill>
                <a:effectLst/>
                <a:latin typeface="+mn-lt"/>
                <a:ea typeface="+mn-ea"/>
                <a:cs typeface="+mn-cs"/>
              </a:rPr>
              <a:t>In</a:t>
            </a:r>
            <a:r>
              <a:rPr lang="en-US" altLang="zh-TW" sz="1200" kern="1200" dirty="0" err="1" smtClean="0">
                <a:solidFill>
                  <a:schemeClr val="tx1"/>
                </a:solidFill>
                <a:effectLst/>
                <a:latin typeface="+mn-lt"/>
                <a:ea typeface="+mn-ea"/>
                <a:cs typeface="+mn-cs"/>
              </a:rPr>
              <a:t>v</a:t>
            </a:r>
            <a:r>
              <a:rPr lang="en-US" altLang="zh-TW" sz="1200" kern="1200" dirty="0" smtClean="0">
                <a:solidFill>
                  <a:schemeClr val="tx1"/>
                </a:solidFill>
                <a:effectLst/>
                <a:latin typeface="+mn-lt"/>
                <a:ea typeface="+mn-ea"/>
                <a:cs typeface="+mn-cs"/>
              </a:rPr>
              <a:t> is the inventory </a:t>
            </a:r>
            <a:endParaRPr lang="en-US" altLang="zh-TW"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i="1" kern="1200" dirty="0" err="1" smtClean="0">
                <a:solidFill>
                  <a:schemeClr val="tx1"/>
                </a:solidFill>
                <a:effectLst/>
                <a:latin typeface="+mn-lt"/>
                <a:ea typeface="+mn-ea"/>
                <a:cs typeface="+mn-cs"/>
              </a:rPr>
              <a:t>S</a:t>
            </a:r>
            <a:r>
              <a:rPr lang="en-US" altLang="zh-TW" sz="1200" i="1" kern="1200" baseline="-25000" dirty="0" err="1" smtClean="0">
                <a:solidFill>
                  <a:schemeClr val="tx1"/>
                </a:solidFill>
                <a:effectLst/>
                <a:latin typeface="+mn-lt"/>
                <a:ea typeface="+mn-ea"/>
                <a:cs typeface="+mn-cs"/>
              </a:rPr>
              <a:t>markis</a:t>
            </a:r>
            <a:r>
              <a:rPr lang="en-US" altLang="zh-TW" sz="1200" i="1" kern="1200" dirty="0" smtClean="0">
                <a:solidFill>
                  <a:schemeClr val="tx1"/>
                </a:solidFill>
                <a:effectLst/>
                <a:latin typeface="+mn-lt"/>
                <a:ea typeface="+mn-ea"/>
                <a:cs typeface="+mn-cs"/>
              </a:rPr>
              <a:t> </a:t>
            </a:r>
            <a:r>
              <a:rPr lang="en-US" altLang="zh-TW" sz="1200" kern="1200" dirty="0" smtClean="0">
                <a:solidFill>
                  <a:schemeClr val="tx1"/>
                </a:solidFill>
                <a:effectLst/>
                <a:latin typeface="+mn-lt"/>
                <a:ea typeface="+mn-ea"/>
                <a:cs typeface="+mn-cs"/>
              </a:rPr>
              <a:t>the marketable</a:t>
            </a:r>
            <a:r>
              <a:rPr lang="zh-TW" altLang="en-US" sz="1200" kern="1200" dirty="0" smtClean="0">
                <a:solidFill>
                  <a:schemeClr val="tx1"/>
                </a:solidFill>
                <a:effectLst/>
                <a:latin typeface="+mn-lt"/>
                <a:ea typeface="+mn-ea"/>
                <a:cs typeface="+mn-cs"/>
              </a:rPr>
              <a:t> </a:t>
            </a:r>
            <a:r>
              <a:rPr lang="en-US" altLang="zh-TW" sz="1200" kern="1200" dirty="0" smtClean="0">
                <a:solidFill>
                  <a:schemeClr val="tx1"/>
                </a:solidFill>
                <a:effectLst/>
                <a:latin typeface="+mn-lt"/>
                <a:ea typeface="+mn-ea"/>
                <a:cs typeface="+mn-cs"/>
              </a:rPr>
              <a:t>securities </a:t>
            </a:r>
            <a:endParaRPr lang="en-US" altLang="zh-TW"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i="1" kern="1200" dirty="0" err="1" smtClean="0">
                <a:solidFill>
                  <a:schemeClr val="tx1"/>
                </a:solidFill>
                <a:effectLst/>
                <a:latin typeface="+mn-lt"/>
                <a:ea typeface="+mn-ea"/>
                <a:cs typeface="+mn-cs"/>
              </a:rPr>
              <a:t>Ex</a:t>
            </a:r>
            <a:r>
              <a:rPr lang="en-US" altLang="zh-TW" sz="1200" i="1" kern="1200" baseline="-25000" dirty="0" err="1" smtClean="0">
                <a:solidFill>
                  <a:schemeClr val="tx1"/>
                </a:solidFill>
                <a:effectLst/>
                <a:latin typeface="+mn-lt"/>
                <a:ea typeface="+mn-ea"/>
                <a:cs typeface="+mn-cs"/>
              </a:rPr>
              <a:t>pre</a:t>
            </a:r>
            <a:r>
              <a:rPr lang="en-US" altLang="zh-TW" sz="1200" i="1" kern="1200" dirty="0" smtClean="0">
                <a:solidFill>
                  <a:schemeClr val="tx1"/>
                </a:solidFill>
                <a:effectLst/>
                <a:latin typeface="+mn-lt"/>
                <a:ea typeface="+mn-ea"/>
                <a:cs typeface="+mn-cs"/>
              </a:rPr>
              <a:t> </a:t>
            </a:r>
            <a:r>
              <a:rPr lang="en-US" altLang="zh-TW" sz="1200" kern="1200" dirty="0" smtClean="0">
                <a:solidFill>
                  <a:schemeClr val="tx1"/>
                </a:solidFill>
                <a:effectLst/>
                <a:latin typeface="+mn-lt"/>
                <a:ea typeface="+mn-ea"/>
                <a:cs typeface="+mn-cs"/>
              </a:rPr>
              <a:t>is the prepaid expenses </a:t>
            </a:r>
          </a:p>
          <a:p>
            <a:r>
              <a:rPr lang="en-US" altLang="zh-TW" sz="1200" i="1" dirty="0" err="1" smtClean="0">
                <a:solidFill>
                  <a:srgbClr val="111111"/>
                </a:solidFill>
                <a:effectLst/>
                <a:latin typeface="LfjpmwTimes" charset="0"/>
              </a:rPr>
              <a:t>Liq</a:t>
            </a:r>
            <a:r>
              <a:rPr lang="en-US" altLang="zh-TW" sz="1050" i="1" baseline="-25000" dirty="0" err="1" smtClean="0">
                <a:solidFill>
                  <a:srgbClr val="111111"/>
                </a:solidFill>
                <a:effectLst/>
                <a:latin typeface="LfjpmwTimes" charset="0"/>
              </a:rPr>
              <a:t>con</a:t>
            </a:r>
            <a:r>
              <a:rPr lang="en-US" altLang="zh-TW" sz="1050" baseline="-25000" dirty="0" err="1" smtClean="0">
                <a:solidFill>
                  <a:srgbClr val="111111"/>
                </a:solidFill>
                <a:effectLst/>
                <a:latin typeface="WqclydMTMI" charset="0"/>
              </a:rPr>
              <a:t>v</a:t>
            </a:r>
            <a:r>
              <a:rPr lang="en-US" altLang="zh-TW" sz="1050" dirty="0" smtClean="0">
                <a:solidFill>
                  <a:srgbClr val="111111"/>
                </a:solidFill>
                <a:effectLst/>
                <a:latin typeface="WqclydMTMI" charset="0"/>
              </a:rPr>
              <a:t> </a:t>
            </a:r>
            <a:r>
              <a:rPr lang="en-US" altLang="zh-TW" sz="1200" dirty="0" smtClean="0">
                <a:solidFill>
                  <a:srgbClr val="111111"/>
                </a:solidFill>
                <a:effectLst/>
                <a:latin typeface="BdlbynTimes" charset="0"/>
              </a:rPr>
              <a:t>is the other liquid assets that can be readily converted to cash </a:t>
            </a:r>
            <a:endParaRPr lang="en-US" altLang="zh-TW"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i="1" dirty="0" smtClean="0">
                <a:solidFill>
                  <a:srgbClr val="111111"/>
                </a:solidFill>
                <a:latin typeface="LfjpmwTimes" charset="0"/>
              </a:rPr>
              <a:t>Total current asset</a:t>
            </a:r>
            <a:r>
              <a:rPr lang="zh-TW" altLang="en-US" i="1" baseline="0" dirty="0" smtClean="0">
                <a:solidFill>
                  <a:srgbClr val="111111"/>
                </a:solidFill>
                <a:latin typeface="LfjpmwTimes" charset="0"/>
              </a:rPr>
              <a:t> </a:t>
            </a:r>
            <a:r>
              <a:rPr lang="zh-TW" altLang="en-US" sz="1200" b="0" i="0" kern="1200" dirty="0" smtClean="0">
                <a:solidFill>
                  <a:schemeClr val="tx1"/>
                </a:solidFill>
                <a:effectLst/>
                <a:latin typeface="+mn-lt"/>
                <a:ea typeface="+mn-ea"/>
                <a:cs typeface="+mn-cs"/>
              </a:rPr>
              <a:t>流動資產</a:t>
            </a:r>
            <a:endParaRPr lang="en-US" altLang="zh-TW" sz="1200" b="0" i="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kern="1200" dirty="0" smtClean="0">
                <a:solidFill>
                  <a:schemeClr val="tx1"/>
                </a:solidFill>
                <a:effectLst/>
                <a:latin typeface="+mn-lt"/>
                <a:ea typeface="+mn-ea"/>
                <a:cs typeface="+mn-cs"/>
              </a:rPr>
              <a:t>Cash</a:t>
            </a:r>
            <a:r>
              <a:rPr lang="zh-TW" altLang="en-US" sz="1200" kern="1200" dirty="0" smtClean="0">
                <a:solidFill>
                  <a:schemeClr val="tx1"/>
                </a:solidFill>
                <a:effectLst/>
                <a:latin typeface="+mn-lt"/>
                <a:ea typeface="+mn-ea"/>
                <a:cs typeface="+mn-cs"/>
              </a:rPr>
              <a:t> </a:t>
            </a:r>
            <a:r>
              <a:rPr lang="zh-TW" altLang="en-US" dirty="0" smtClean="0"/>
              <a:t>現金</a:t>
            </a:r>
            <a:endParaRPr lang="en-US" altLang="zh-TW"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kern="1200" dirty="0" smtClean="0">
                <a:solidFill>
                  <a:schemeClr val="tx1"/>
                </a:solidFill>
                <a:effectLst/>
                <a:latin typeface="+mn-lt"/>
                <a:ea typeface="+mn-ea"/>
                <a:cs typeface="+mn-cs"/>
              </a:rPr>
              <a:t>cash equivalents </a:t>
            </a:r>
            <a:r>
              <a:rPr lang="zh-TW" altLang="en-US" dirty="0" smtClean="0"/>
              <a:t>現金等價物</a:t>
            </a:r>
            <a:endParaRPr lang="en-US" altLang="zh-TW"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kern="1200" dirty="0" smtClean="0">
                <a:solidFill>
                  <a:schemeClr val="tx1"/>
                </a:solidFill>
                <a:effectLst/>
                <a:latin typeface="+mn-lt"/>
                <a:ea typeface="+mn-ea"/>
                <a:cs typeface="+mn-cs"/>
              </a:rPr>
              <a:t>accounts receivable </a:t>
            </a:r>
            <a:r>
              <a:rPr lang="zh-TW" altLang="en-US" sz="1200" b="0" i="0" kern="1200" dirty="0" smtClean="0">
                <a:solidFill>
                  <a:schemeClr val="tx1"/>
                </a:solidFill>
                <a:effectLst/>
                <a:latin typeface="+mn-lt"/>
                <a:ea typeface="+mn-ea"/>
                <a:cs typeface="+mn-cs"/>
              </a:rPr>
              <a:t>應收帳款</a:t>
            </a:r>
            <a:endParaRPr lang="en-US" altLang="zh-TW" dirty="0" smtClean="0"/>
          </a:p>
          <a:p>
            <a:r>
              <a:rPr lang="en-US" altLang="zh-TW" sz="1200" kern="1200" dirty="0" smtClean="0">
                <a:solidFill>
                  <a:schemeClr val="tx1"/>
                </a:solidFill>
                <a:effectLst/>
                <a:latin typeface="+mn-lt"/>
                <a:ea typeface="+mn-ea"/>
                <a:cs typeface="+mn-cs"/>
              </a:rPr>
              <a:t>Inventory</a:t>
            </a:r>
            <a:r>
              <a:rPr lang="zh-TW" altLang="en-US" sz="1200" kern="1200" dirty="0" smtClean="0">
                <a:solidFill>
                  <a:schemeClr val="tx1"/>
                </a:solidFill>
                <a:effectLst/>
                <a:latin typeface="+mn-lt"/>
                <a:ea typeface="+mn-ea"/>
                <a:cs typeface="+mn-cs"/>
              </a:rPr>
              <a:t> </a:t>
            </a:r>
            <a:r>
              <a:rPr lang="zh-TW" altLang="en-US" sz="1200" b="1" i="0" kern="1200" dirty="0" smtClean="0">
                <a:solidFill>
                  <a:schemeClr val="tx1"/>
                </a:solidFill>
                <a:effectLst/>
                <a:latin typeface="+mn-lt"/>
                <a:ea typeface="+mn-ea"/>
                <a:cs typeface="+mn-cs"/>
              </a:rPr>
              <a:t>存貨</a:t>
            </a:r>
            <a:endParaRPr lang="en-US" altLang="zh-TW" sz="1200" b="1" i="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kern="1200" dirty="0" smtClean="0">
                <a:solidFill>
                  <a:schemeClr val="tx1"/>
                </a:solidFill>
                <a:effectLst/>
                <a:latin typeface="+mn-lt"/>
                <a:ea typeface="+mn-ea"/>
                <a:cs typeface="+mn-cs"/>
              </a:rPr>
              <a:t>marketable</a:t>
            </a:r>
            <a:r>
              <a:rPr lang="zh-TW" altLang="en-US" sz="1200" kern="1200" dirty="0" smtClean="0">
                <a:solidFill>
                  <a:schemeClr val="tx1"/>
                </a:solidFill>
                <a:effectLst/>
                <a:latin typeface="+mn-lt"/>
                <a:ea typeface="+mn-ea"/>
                <a:cs typeface="+mn-cs"/>
              </a:rPr>
              <a:t> </a:t>
            </a:r>
            <a:r>
              <a:rPr lang="en-US" altLang="zh-TW" sz="1200" kern="1200" dirty="0" smtClean="0">
                <a:solidFill>
                  <a:schemeClr val="tx1"/>
                </a:solidFill>
                <a:effectLst/>
                <a:latin typeface="+mn-lt"/>
                <a:ea typeface="+mn-ea"/>
                <a:cs typeface="+mn-cs"/>
              </a:rPr>
              <a:t>securities </a:t>
            </a:r>
            <a:r>
              <a:rPr lang="zh-TW" altLang="zh-TW" dirty="0" smtClean="0"/>
              <a:t>有價證券</a:t>
            </a:r>
            <a:endParaRPr lang="en-US" altLang="zh-TW" dirty="0" smtClean="0"/>
          </a:p>
          <a:p>
            <a:r>
              <a:rPr lang="en-US" altLang="zh-TW" sz="1200" kern="1200" dirty="0" smtClean="0">
                <a:solidFill>
                  <a:schemeClr val="tx1"/>
                </a:solidFill>
                <a:effectLst/>
                <a:latin typeface="+mn-lt"/>
                <a:ea typeface="+mn-ea"/>
                <a:cs typeface="+mn-cs"/>
              </a:rPr>
              <a:t>prepaid expenses</a:t>
            </a:r>
            <a:r>
              <a:rPr lang="zh-TW" altLang="en-US" sz="1200" kern="1200" dirty="0" smtClean="0">
                <a:solidFill>
                  <a:schemeClr val="tx1"/>
                </a:solidFill>
                <a:effectLst/>
                <a:latin typeface="+mn-lt"/>
                <a:ea typeface="+mn-ea"/>
                <a:cs typeface="+mn-cs"/>
              </a:rPr>
              <a:t> </a:t>
            </a:r>
            <a:r>
              <a:rPr lang="zh-TW" altLang="en-US" sz="1200" b="0" i="0" kern="1200" dirty="0" smtClean="0">
                <a:solidFill>
                  <a:schemeClr val="tx1"/>
                </a:solidFill>
                <a:effectLst/>
                <a:latin typeface="+mn-lt"/>
                <a:ea typeface="+mn-ea"/>
                <a:cs typeface="+mn-cs"/>
              </a:rPr>
              <a:t>預付費用</a:t>
            </a:r>
            <a:endParaRPr kumimoji="1" lang="zh-TW" altLang="en-US" dirty="0"/>
          </a:p>
        </p:txBody>
      </p:sp>
      <p:sp>
        <p:nvSpPr>
          <p:cNvPr id="4" name="投影片編號版面配置區 3"/>
          <p:cNvSpPr>
            <a:spLocks noGrp="1"/>
          </p:cNvSpPr>
          <p:nvPr>
            <p:ph type="sldNum" sz="quarter" idx="10"/>
          </p:nvPr>
        </p:nvSpPr>
        <p:spPr/>
        <p:txBody>
          <a:bodyPr/>
          <a:lstStyle/>
          <a:p>
            <a:fld id="{3B8F2BA8-1043-3B42-A61A-4497A47439F9}" type="slidenum">
              <a:rPr kumimoji="1" lang="zh-TW" altLang="en-US" smtClean="0"/>
              <a:t>7</a:t>
            </a:fld>
            <a:endParaRPr kumimoji="1" lang="zh-TW" altLang="en-US"/>
          </a:p>
        </p:txBody>
      </p:sp>
    </p:spTree>
    <p:extLst>
      <p:ext uri="{BB962C8B-B14F-4D97-AF65-F5344CB8AC3E}">
        <p14:creationId xmlns:p14="http://schemas.microsoft.com/office/powerpoint/2010/main" val="1817696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200" i="1" kern="1200" dirty="0" smtClean="0">
                <a:solidFill>
                  <a:schemeClr val="tx1"/>
                </a:solidFill>
                <a:effectLst/>
                <a:latin typeface="+mn-lt"/>
                <a:ea typeface="+mn-ea"/>
                <a:cs typeface="+mn-cs"/>
              </a:rPr>
              <a:t>P</a:t>
            </a:r>
            <a:r>
              <a:rPr lang="en-US" altLang="zh-TW" sz="1200" i="1" kern="1200" baseline="-25000" dirty="0" smtClean="0">
                <a:solidFill>
                  <a:schemeClr val="tx1"/>
                </a:solidFill>
                <a:effectLst/>
                <a:latin typeface="+mn-lt"/>
                <a:ea typeface="+mn-ea"/>
                <a:cs typeface="+mn-cs"/>
              </a:rPr>
              <a:t>AM</a:t>
            </a:r>
            <a:r>
              <a:rPr lang="en-US" altLang="zh-TW" sz="1200" i="1" kern="1200" dirty="0" smtClean="0">
                <a:solidFill>
                  <a:schemeClr val="tx1"/>
                </a:solidFill>
                <a:effectLst/>
                <a:latin typeface="+mn-lt"/>
                <a:ea typeface="+mn-ea"/>
                <a:cs typeface="+mn-cs"/>
              </a:rPr>
              <a:t> </a:t>
            </a:r>
            <a:r>
              <a:rPr lang="en-US" altLang="zh-TW" sz="1200" kern="1200" dirty="0" smtClean="0">
                <a:solidFill>
                  <a:schemeClr val="tx1"/>
                </a:solidFill>
                <a:effectLst/>
                <a:latin typeface="+mn-lt"/>
                <a:ea typeface="+mn-ea"/>
                <a:cs typeface="+mn-cs"/>
              </a:rPr>
              <a:t>is the annual mortgage payments</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i="1" kern="1200" dirty="0" err="1" smtClean="0">
                <a:solidFill>
                  <a:schemeClr val="tx1"/>
                </a:solidFill>
                <a:effectLst/>
                <a:latin typeface="+mn-lt"/>
                <a:ea typeface="+mn-ea"/>
                <a:cs typeface="+mn-cs"/>
              </a:rPr>
              <a:t>P</a:t>
            </a:r>
            <a:r>
              <a:rPr lang="en-US" altLang="zh-TW" sz="1200" i="1" kern="1200" baseline="-25000" dirty="0" err="1" smtClean="0">
                <a:solidFill>
                  <a:schemeClr val="tx1"/>
                </a:solidFill>
                <a:effectLst/>
                <a:latin typeface="+mn-lt"/>
                <a:ea typeface="+mn-ea"/>
                <a:cs typeface="+mn-cs"/>
              </a:rPr>
              <a:t>tax</a:t>
            </a:r>
            <a:r>
              <a:rPr lang="en-US" altLang="zh-TW" sz="1200" i="1" kern="1200" dirty="0" smtClean="0">
                <a:solidFill>
                  <a:schemeClr val="tx1"/>
                </a:solidFill>
                <a:effectLst/>
                <a:latin typeface="+mn-lt"/>
                <a:ea typeface="+mn-ea"/>
                <a:cs typeface="+mn-cs"/>
              </a:rPr>
              <a:t> </a:t>
            </a:r>
            <a:r>
              <a:rPr lang="en-US" altLang="zh-TW" sz="1200" kern="1200" dirty="0" smtClean="0">
                <a:solidFill>
                  <a:schemeClr val="tx1"/>
                </a:solidFill>
                <a:effectLst/>
                <a:latin typeface="+mn-lt"/>
                <a:ea typeface="+mn-ea"/>
                <a:cs typeface="+mn-cs"/>
              </a:rPr>
              <a:t>is the property taxes </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i="1" kern="1200" dirty="0" err="1" smtClean="0">
                <a:solidFill>
                  <a:schemeClr val="tx1"/>
                </a:solidFill>
                <a:effectLst/>
                <a:latin typeface="+mn-lt"/>
                <a:ea typeface="+mn-ea"/>
                <a:cs typeface="+mn-cs"/>
              </a:rPr>
              <a:t>In</a:t>
            </a:r>
            <a:r>
              <a:rPr lang="en-US" altLang="zh-TW" sz="1200" i="1" kern="1200" baseline="-25000" dirty="0" err="1" smtClean="0">
                <a:solidFill>
                  <a:schemeClr val="tx1"/>
                </a:solidFill>
                <a:effectLst/>
                <a:latin typeface="+mn-lt"/>
                <a:ea typeface="+mn-ea"/>
                <a:cs typeface="+mn-cs"/>
              </a:rPr>
              <a:t>Gross</a:t>
            </a:r>
            <a:r>
              <a:rPr lang="en-US" altLang="zh-TW" sz="1200" i="1" kern="1200" dirty="0" smtClean="0">
                <a:solidFill>
                  <a:schemeClr val="tx1"/>
                </a:solidFill>
                <a:effectLst/>
                <a:latin typeface="+mn-lt"/>
                <a:ea typeface="+mn-ea"/>
                <a:cs typeface="+mn-cs"/>
              </a:rPr>
              <a:t> </a:t>
            </a:r>
            <a:r>
              <a:rPr lang="en-US" altLang="zh-TW" sz="1200" kern="1200" dirty="0" smtClean="0">
                <a:solidFill>
                  <a:schemeClr val="tx1"/>
                </a:solidFill>
                <a:effectLst/>
                <a:latin typeface="+mn-lt"/>
                <a:ea typeface="+mn-ea"/>
                <a:cs typeface="+mn-cs"/>
              </a:rPr>
              <a:t>is the gross family income </a:t>
            </a:r>
            <a:endParaRPr lang="en-US" altLang="zh-TW"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i="1" dirty="0" smtClean="0">
                <a:solidFill>
                  <a:srgbClr val="111111"/>
                </a:solidFill>
                <a:latin typeface="LfjpmwTimes" charset="0"/>
              </a:rPr>
              <a:t>Gross debt service ratio</a:t>
            </a:r>
            <a:r>
              <a:rPr lang="zh-TW" altLang="en-US" i="1" dirty="0" smtClean="0">
                <a:solidFill>
                  <a:srgbClr val="111111"/>
                </a:solidFill>
                <a:latin typeface="LfjpmwTimes" charset="0"/>
              </a:rPr>
              <a:t> </a:t>
            </a:r>
            <a:r>
              <a:rPr lang="zh-TW" altLang="en-US" sz="1200" b="1" i="0" kern="1200" dirty="0" smtClean="0">
                <a:solidFill>
                  <a:schemeClr val="tx1"/>
                </a:solidFill>
                <a:effectLst/>
                <a:latin typeface="+mn-lt"/>
                <a:ea typeface="+mn-ea"/>
                <a:cs typeface="+mn-cs"/>
              </a:rPr>
              <a:t>償債保障比率</a:t>
            </a:r>
            <a:endParaRPr lang="en-US" altLang="zh-TW" sz="1200" b="1" i="0" kern="1200" dirty="0" smtClean="0">
              <a:solidFill>
                <a:schemeClr val="tx1"/>
              </a:solidFill>
              <a:effectLst/>
              <a:latin typeface="+mn-lt"/>
              <a:ea typeface="+mn-ea"/>
              <a:cs typeface="+mn-cs"/>
            </a:endParaRPr>
          </a:p>
          <a:p>
            <a:r>
              <a:rPr lang="en-US" altLang="zh-TW" sz="1200" kern="1200" dirty="0" smtClean="0">
                <a:solidFill>
                  <a:schemeClr val="tx1"/>
                </a:solidFill>
                <a:effectLst/>
                <a:latin typeface="+mn-lt"/>
                <a:ea typeface="+mn-ea"/>
                <a:cs typeface="+mn-cs"/>
              </a:rPr>
              <a:t>annual mortgage payments</a:t>
            </a:r>
            <a:r>
              <a:rPr lang="zh-TW" altLang="en-US" sz="1200" kern="1200" dirty="0" smtClean="0">
                <a:solidFill>
                  <a:schemeClr val="tx1"/>
                </a:solidFill>
                <a:effectLst/>
                <a:latin typeface="+mn-lt"/>
                <a:ea typeface="+mn-ea"/>
                <a:cs typeface="+mn-cs"/>
              </a:rPr>
              <a:t> 年抵押貸款</a:t>
            </a:r>
            <a:endParaRPr lang="en-US" altLang="zh-TW" sz="120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kern="1200" dirty="0" smtClean="0">
                <a:solidFill>
                  <a:schemeClr val="tx1"/>
                </a:solidFill>
                <a:effectLst/>
                <a:latin typeface="+mn-lt"/>
                <a:ea typeface="+mn-ea"/>
                <a:cs typeface="+mn-cs"/>
              </a:rPr>
              <a:t>property taxes </a:t>
            </a:r>
            <a:r>
              <a:rPr lang="zh-TW" altLang="zh-TW" dirty="0" smtClean="0"/>
              <a:t>財產稅</a:t>
            </a:r>
            <a:endParaRPr lang="en-US" altLang="zh-TW" sz="120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kern="1200" dirty="0" smtClean="0">
                <a:solidFill>
                  <a:schemeClr val="tx1"/>
                </a:solidFill>
                <a:effectLst/>
                <a:latin typeface="+mn-lt"/>
                <a:ea typeface="+mn-ea"/>
                <a:cs typeface="+mn-cs"/>
              </a:rPr>
              <a:t>gross family income </a:t>
            </a:r>
            <a:r>
              <a:rPr lang="zh-TW" altLang="en-US" sz="1200" kern="1200" dirty="0" smtClean="0">
                <a:solidFill>
                  <a:schemeClr val="tx1"/>
                </a:solidFill>
                <a:effectLst/>
                <a:latin typeface="+mn-lt"/>
                <a:ea typeface="+mn-ea"/>
                <a:cs typeface="+mn-cs"/>
              </a:rPr>
              <a:t>毛利</a:t>
            </a:r>
            <a:endParaRPr lang="en-US" altLang="zh-TW" dirty="0" smtClean="0"/>
          </a:p>
          <a:p>
            <a:endParaRPr lang="en-US" altLang="zh-TW" sz="120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i="1" kern="1200" dirty="0" err="1" smtClean="0">
                <a:solidFill>
                  <a:schemeClr val="tx1"/>
                </a:solidFill>
                <a:effectLst/>
                <a:latin typeface="+mn-lt"/>
                <a:ea typeface="+mn-ea"/>
                <a:cs typeface="+mn-cs"/>
              </a:rPr>
              <a:t>Cur</a:t>
            </a:r>
            <a:r>
              <a:rPr lang="en-US" altLang="zh-TW" sz="1200" i="1" kern="1200" baseline="-25000" dirty="0" err="1" smtClean="0">
                <a:solidFill>
                  <a:schemeClr val="tx1"/>
                </a:solidFill>
                <a:effectLst/>
                <a:latin typeface="+mn-lt"/>
                <a:ea typeface="+mn-ea"/>
                <a:cs typeface="+mn-cs"/>
              </a:rPr>
              <a:t>A</a:t>
            </a:r>
            <a:r>
              <a:rPr lang="en-US" altLang="zh-TW" sz="1200" i="1" kern="1200" dirty="0" smtClean="0">
                <a:solidFill>
                  <a:schemeClr val="tx1"/>
                </a:solidFill>
                <a:effectLst/>
                <a:latin typeface="+mn-lt"/>
                <a:ea typeface="+mn-ea"/>
                <a:cs typeface="+mn-cs"/>
              </a:rPr>
              <a:t> </a:t>
            </a:r>
            <a:r>
              <a:rPr lang="en-US" altLang="zh-TW" sz="1200" kern="1200" dirty="0" smtClean="0">
                <a:solidFill>
                  <a:schemeClr val="tx1"/>
                </a:solidFill>
                <a:effectLst/>
                <a:latin typeface="+mn-lt"/>
                <a:ea typeface="+mn-ea"/>
                <a:cs typeface="+mn-cs"/>
              </a:rPr>
              <a:t>is the current assets </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i="1" kern="1200" dirty="0" err="1" smtClean="0">
                <a:solidFill>
                  <a:schemeClr val="tx1"/>
                </a:solidFill>
                <a:effectLst/>
                <a:latin typeface="+mn-lt"/>
                <a:ea typeface="+mn-ea"/>
                <a:cs typeface="+mn-cs"/>
              </a:rPr>
              <a:t>Cur</a:t>
            </a:r>
            <a:r>
              <a:rPr lang="en-US" altLang="zh-TW" sz="1200" i="1" kern="1200" baseline="-25000" dirty="0" err="1" smtClean="0">
                <a:solidFill>
                  <a:schemeClr val="tx1"/>
                </a:solidFill>
                <a:effectLst/>
                <a:latin typeface="+mn-lt"/>
                <a:ea typeface="+mn-ea"/>
                <a:cs typeface="+mn-cs"/>
              </a:rPr>
              <a:t>lia</a:t>
            </a:r>
            <a:r>
              <a:rPr lang="en-US" altLang="zh-TW" sz="1200" i="1" kern="1200" dirty="0" smtClean="0">
                <a:solidFill>
                  <a:schemeClr val="tx1"/>
                </a:solidFill>
                <a:effectLst/>
                <a:latin typeface="+mn-lt"/>
                <a:ea typeface="+mn-ea"/>
                <a:cs typeface="+mn-cs"/>
              </a:rPr>
              <a:t> </a:t>
            </a:r>
            <a:r>
              <a:rPr lang="en-US" altLang="zh-TW" sz="1200" kern="1200" dirty="0" smtClean="0">
                <a:solidFill>
                  <a:schemeClr val="tx1"/>
                </a:solidFill>
                <a:effectLst/>
                <a:latin typeface="+mn-lt"/>
                <a:ea typeface="+mn-ea"/>
                <a:cs typeface="+mn-cs"/>
              </a:rPr>
              <a:t>is the current liabilities </a:t>
            </a: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sz="120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b="0" i="0" kern="1200" dirty="0" smtClean="0">
                <a:solidFill>
                  <a:schemeClr val="tx1"/>
                </a:solidFill>
                <a:effectLst/>
                <a:latin typeface="+mn-lt"/>
                <a:ea typeface="+mn-ea"/>
                <a:cs typeface="+mn-cs"/>
              </a:rPr>
              <a:t>current ratio</a:t>
            </a:r>
            <a:r>
              <a:rPr lang="zh-TW" altLang="en-US" sz="1200" b="0" i="0" kern="1200" dirty="0" smtClean="0">
                <a:solidFill>
                  <a:schemeClr val="tx1"/>
                </a:solidFill>
                <a:effectLst/>
                <a:latin typeface="+mn-lt"/>
                <a:ea typeface="+mn-ea"/>
                <a:cs typeface="+mn-cs"/>
              </a:rPr>
              <a:t>流動比率</a:t>
            </a:r>
            <a:endParaRPr lang="en-US" altLang="zh-TW" sz="120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kern="1200" dirty="0" smtClean="0">
                <a:solidFill>
                  <a:schemeClr val="tx1"/>
                </a:solidFill>
                <a:effectLst/>
                <a:latin typeface="+mn-lt"/>
                <a:ea typeface="+mn-ea"/>
                <a:cs typeface="+mn-cs"/>
              </a:rPr>
              <a:t>current assets </a:t>
            </a:r>
            <a:r>
              <a:rPr lang="zh-TW" altLang="en-US" sz="1200" kern="1200" dirty="0" smtClean="0">
                <a:solidFill>
                  <a:schemeClr val="tx1"/>
                </a:solidFill>
                <a:effectLst/>
                <a:latin typeface="+mn-lt"/>
                <a:ea typeface="+mn-ea"/>
                <a:cs typeface="+mn-cs"/>
              </a:rPr>
              <a:t>流動資產</a:t>
            </a:r>
            <a:endParaRPr lang="en-US" altLang="zh-TW" sz="120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kern="1200" dirty="0" smtClean="0">
                <a:solidFill>
                  <a:schemeClr val="tx1"/>
                </a:solidFill>
                <a:effectLst/>
                <a:latin typeface="+mn-lt"/>
                <a:ea typeface="+mn-ea"/>
                <a:cs typeface="+mn-cs"/>
              </a:rPr>
              <a:t>current liabilities </a:t>
            </a:r>
            <a:r>
              <a:rPr lang="zh-TW" altLang="en-US" sz="1200" kern="1200" dirty="0" smtClean="0">
                <a:solidFill>
                  <a:schemeClr val="tx1"/>
                </a:solidFill>
                <a:effectLst/>
                <a:latin typeface="+mn-lt"/>
                <a:ea typeface="+mn-ea"/>
                <a:cs typeface="+mn-cs"/>
              </a:rPr>
              <a:t>流動負債</a:t>
            </a:r>
            <a:endParaRPr lang="en-US" altLang="zh-TW" sz="120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sz="120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i="1" kern="1200" dirty="0" err="1" smtClean="0">
                <a:solidFill>
                  <a:schemeClr val="tx1"/>
                </a:solidFill>
                <a:effectLst/>
                <a:latin typeface="+mn-lt"/>
                <a:ea typeface="+mn-ea"/>
                <a:cs typeface="+mn-cs"/>
              </a:rPr>
              <a:t>I</a:t>
            </a:r>
            <a:r>
              <a:rPr lang="en-US" altLang="zh-TW" sz="1200" i="1" kern="1200" baseline="-25000" dirty="0" err="1" smtClean="0">
                <a:solidFill>
                  <a:schemeClr val="tx1"/>
                </a:solidFill>
                <a:effectLst/>
                <a:latin typeface="+mn-lt"/>
                <a:ea typeface="+mn-ea"/>
                <a:cs typeface="+mn-cs"/>
              </a:rPr>
              <a:t>net</a:t>
            </a:r>
            <a:r>
              <a:rPr lang="en-US" altLang="zh-TW" sz="1200" i="1" kern="1200" baseline="-25000" dirty="0" smtClean="0">
                <a:solidFill>
                  <a:schemeClr val="tx1"/>
                </a:solidFill>
                <a:effectLst/>
                <a:latin typeface="+mn-lt"/>
                <a:ea typeface="+mn-ea"/>
                <a:cs typeface="+mn-cs"/>
              </a:rPr>
              <a:t> </a:t>
            </a:r>
            <a:r>
              <a:rPr lang="en-US" altLang="zh-TW" sz="1200" kern="1200" dirty="0" smtClean="0">
                <a:solidFill>
                  <a:schemeClr val="tx1"/>
                </a:solidFill>
                <a:effectLst/>
                <a:latin typeface="+mn-lt"/>
                <a:ea typeface="+mn-ea"/>
                <a:cs typeface="+mn-cs"/>
              </a:rPr>
              <a:t>is</a:t>
            </a:r>
            <a:r>
              <a:rPr lang="zh-TW" altLang="en-US" sz="1200" kern="1200" dirty="0" smtClean="0">
                <a:solidFill>
                  <a:schemeClr val="tx1"/>
                </a:solidFill>
                <a:effectLst/>
                <a:latin typeface="+mn-lt"/>
                <a:ea typeface="+mn-ea"/>
                <a:cs typeface="+mn-cs"/>
              </a:rPr>
              <a:t> </a:t>
            </a:r>
            <a:r>
              <a:rPr lang="en-US" altLang="zh-TW" sz="1200" kern="1200" dirty="0" smtClean="0">
                <a:solidFill>
                  <a:schemeClr val="tx1"/>
                </a:solidFill>
                <a:effectLst/>
                <a:latin typeface="+mn-lt"/>
                <a:ea typeface="+mn-ea"/>
                <a:cs typeface="+mn-cs"/>
              </a:rPr>
              <a:t>the</a:t>
            </a:r>
            <a:r>
              <a:rPr lang="zh-TW" altLang="en-US" sz="1200" kern="1200" dirty="0" smtClean="0">
                <a:solidFill>
                  <a:schemeClr val="tx1"/>
                </a:solidFill>
                <a:effectLst/>
                <a:latin typeface="+mn-lt"/>
                <a:ea typeface="+mn-ea"/>
                <a:cs typeface="+mn-cs"/>
              </a:rPr>
              <a:t> </a:t>
            </a:r>
            <a:r>
              <a:rPr lang="en-US" altLang="zh-TW" sz="1200" kern="1200" dirty="0" smtClean="0">
                <a:solidFill>
                  <a:schemeClr val="tx1"/>
                </a:solidFill>
                <a:effectLst/>
                <a:latin typeface="+mn-lt"/>
                <a:ea typeface="+mn-ea"/>
                <a:cs typeface="+mn-cs"/>
              </a:rPr>
              <a:t>net</a:t>
            </a:r>
            <a:r>
              <a:rPr lang="zh-TW" altLang="en-US" sz="1200" kern="1200" dirty="0" smtClean="0">
                <a:solidFill>
                  <a:schemeClr val="tx1"/>
                </a:solidFill>
                <a:effectLst/>
                <a:latin typeface="+mn-lt"/>
                <a:ea typeface="+mn-ea"/>
                <a:cs typeface="+mn-cs"/>
              </a:rPr>
              <a:t> </a:t>
            </a:r>
            <a:r>
              <a:rPr lang="en-US" altLang="zh-TW" sz="1200" kern="1200" dirty="0" smtClean="0">
                <a:solidFill>
                  <a:schemeClr val="tx1"/>
                </a:solidFill>
                <a:effectLst/>
                <a:latin typeface="+mn-lt"/>
                <a:ea typeface="+mn-ea"/>
                <a:cs typeface="+mn-cs"/>
              </a:rPr>
              <a:t>income </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i="1" kern="1200" dirty="0" err="1" smtClean="0">
                <a:solidFill>
                  <a:schemeClr val="tx1"/>
                </a:solidFill>
                <a:effectLst/>
                <a:latin typeface="+mn-lt"/>
                <a:ea typeface="+mn-ea"/>
                <a:cs typeface="+mn-cs"/>
              </a:rPr>
              <a:t>D</a:t>
            </a:r>
            <a:r>
              <a:rPr lang="en-US" altLang="zh-TW" sz="1200" i="1" kern="1200" baseline="-25000" dirty="0" err="1" smtClean="0">
                <a:solidFill>
                  <a:schemeClr val="tx1"/>
                </a:solidFill>
                <a:effectLst/>
                <a:latin typeface="+mn-lt"/>
                <a:ea typeface="+mn-ea"/>
                <a:cs typeface="+mn-cs"/>
              </a:rPr>
              <a:t>ps</a:t>
            </a:r>
            <a:r>
              <a:rPr lang="en-US" altLang="zh-TW" sz="1200" i="1" kern="1200" dirty="0" smtClean="0">
                <a:solidFill>
                  <a:schemeClr val="tx1"/>
                </a:solidFill>
                <a:effectLst/>
                <a:latin typeface="+mn-lt"/>
                <a:ea typeface="+mn-ea"/>
                <a:cs typeface="+mn-cs"/>
              </a:rPr>
              <a:t> </a:t>
            </a:r>
            <a:r>
              <a:rPr lang="en-US" altLang="zh-TW" sz="1200" kern="1200" dirty="0" smtClean="0">
                <a:solidFill>
                  <a:schemeClr val="tx1"/>
                </a:solidFill>
                <a:effectLst/>
                <a:latin typeface="+mn-lt"/>
                <a:ea typeface="+mn-ea"/>
                <a:cs typeface="+mn-cs"/>
              </a:rPr>
              <a:t>is</a:t>
            </a:r>
            <a:r>
              <a:rPr lang="zh-TW" altLang="en-US" sz="1200" kern="1200" dirty="0" smtClean="0">
                <a:solidFill>
                  <a:schemeClr val="tx1"/>
                </a:solidFill>
                <a:effectLst/>
                <a:latin typeface="+mn-lt"/>
                <a:ea typeface="+mn-ea"/>
                <a:cs typeface="+mn-cs"/>
              </a:rPr>
              <a:t> </a:t>
            </a:r>
            <a:r>
              <a:rPr lang="en-US" altLang="zh-TW" sz="1200" kern="1200" dirty="0" smtClean="0">
                <a:solidFill>
                  <a:schemeClr val="tx1"/>
                </a:solidFill>
                <a:effectLst/>
                <a:latin typeface="+mn-lt"/>
                <a:ea typeface="+mn-ea"/>
                <a:cs typeface="+mn-cs"/>
              </a:rPr>
              <a:t>the</a:t>
            </a:r>
            <a:r>
              <a:rPr lang="zh-TW" altLang="en-US" sz="1200" kern="1200" dirty="0" smtClean="0">
                <a:solidFill>
                  <a:schemeClr val="tx1"/>
                </a:solidFill>
                <a:effectLst/>
                <a:latin typeface="+mn-lt"/>
                <a:ea typeface="+mn-ea"/>
                <a:cs typeface="+mn-cs"/>
              </a:rPr>
              <a:t> </a:t>
            </a:r>
            <a:r>
              <a:rPr lang="en-US" altLang="zh-TW" sz="1200" kern="1200" dirty="0" smtClean="0">
                <a:solidFill>
                  <a:schemeClr val="tx1"/>
                </a:solidFill>
                <a:effectLst/>
                <a:latin typeface="+mn-lt"/>
                <a:ea typeface="+mn-ea"/>
                <a:cs typeface="+mn-cs"/>
              </a:rPr>
              <a:t>dividends</a:t>
            </a:r>
            <a:r>
              <a:rPr lang="zh-TW" altLang="en-US" sz="1200" kern="1200" dirty="0" smtClean="0">
                <a:solidFill>
                  <a:schemeClr val="tx1"/>
                </a:solidFill>
                <a:effectLst/>
                <a:latin typeface="+mn-lt"/>
                <a:ea typeface="+mn-ea"/>
                <a:cs typeface="+mn-cs"/>
              </a:rPr>
              <a:t> </a:t>
            </a:r>
            <a:r>
              <a:rPr lang="en-US" altLang="zh-TW" sz="1200" kern="1200" dirty="0" smtClean="0">
                <a:solidFill>
                  <a:schemeClr val="tx1"/>
                </a:solidFill>
                <a:effectLst/>
                <a:latin typeface="+mn-lt"/>
                <a:ea typeface="+mn-ea"/>
                <a:cs typeface="+mn-cs"/>
              </a:rPr>
              <a:t>on</a:t>
            </a:r>
            <a:r>
              <a:rPr lang="zh-TW" altLang="en-US" sz="1200" kern="1200" dirty="0" smtClean="0">
                <a:solidFill>
                  <a:schemeClr val="tx1"/>
                </a:solidFill>
                <a:effectLst/>
                <a:latin typeface="+mn-lt"/>
                <a:ea typeface="+mn-ea"/>
                <a:cs typeface="+mn-cs"/>
              </a:rPr>
              <a:t> </a:t>
            </a:r>
            <a:r>
              <a:rPr lang="en-US" altLang="zh-TW" sz="1200" kern="1200" dirty="0" smtClean="0">
                <a:solidFill>
                  <a:schemeClr val="tx1"/>
                </a:solidFill>
                <a:effectLst/>
                <a:latin typeface="+mn-lt"/>
                <a:ea typeface="+mn-ea"/>
                <a:cs typeface="+mn-cs"/>
              </a:rPr>
              <a:t>preferred stock </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i="1" kern="1200" dirty="0" err="1" smtClean="0">
                <a:solidFill>
                  <a:schemeClr val="tx1"/>
                </a:solidFill>
                <a:effectLst/>
                <a:latin typeface="+mn-lt"/>
                <a:ea typeface="+mn-ea"/>
                <a:cs typeface="+mn-cs"/>
              </a:rPr>
              <a:t>A</a:t>
            </a:r>
            <a:r>
              <a:rPr lang="en-US" altLang="zh-TW" sz="1200" kern="1200" dirty="0" err="1" smtClean="0">
                <a:solidFill>
                  <a:schemeClr val="tx1"/>
                </a:solidFill>
                <a:effectLst/>
                <a:latin typeface="+mn-lt"/>
                <a:ea typeface="+mn-ea"/>
                <a:cs typeface="+mn-cs"/>
              </a:rPr>
              <a:t>v</a:t>
            </a:r>
            <a:r>
              <a:rPr lang="en-US" altLang="zh-TW" sz="1200" i="1" kern="1200" dirty="0" err="1" smtClean="0">
                <a:solidFill>
                  <a:schemeClr val="tx1"/>
                </a:solidFill>
                <a:effectLst/>
                <a:latin typeface="+mn-lt"/>
                <a:ea typeface="+mn-ea"/>
                <a:cs typeface="+mn-cs"/>
              </a:rPr>
              <a:t>g</a:t>
            </a:r>
            <a:r>
              <a:rPr lang="en-US" altLang="zh-TW" sz="1200" i="1" kern="1200" baseline="-25000" dirty="0" err="1" smtClean="0">
                <a:solidFill>
                  <a:schemeClr val="tx1"/>
                </a:solidFill>
                <a:effectLst/>
                <a:latin typeface="+mn-lt"/>
                <a:ea typeface="+mn-ea"/>
                <a:cs typeface="+mn-cs"/>
              </a:rPr>
              <a:t>S</a:t>
            </a:r>
            <a:r>
              <a:rPr lang="en-US" altLang="zh-TW" sz="1200" i="1" kern="1200" dirty="0" smtClean="0">
                <a:solidFill>
                  <a:schemeClr val="tx1"/>
                </a:solidFill>
                <a:effectLst/>
                <a:latin typeface="+mn-lt"/>
                <a:ea typeface="+mn-ea"/>
                <a:cs typeface="+mn-cs"/>
              </a:rPr>
              <a:t> </a:t>
            </a:r>
            <a:r>
              <a:rPr lang="en-US" altLang="zh-TW" sz="1200" kern="1200" dirty="0" smtClean="0">
                <a:solidFill>
                  <a:schemeClr val="tx1"/>
                </a:solidFill>
                <a:effectLst/>
                <a:latin typeface="+mn-lt"/>
                <a:ea typeface="+mn-ea"/>
                <a:cs typeface="+mn-cs"/>
              </a:rPr>
              <a:t>is the average outstanding shares </a:t>
            </a:r>
            <a:endParaRPr lang="en-US" altLang="zh-TW"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i="1" dirty="0" smtClean="0">
                <a:solidFill>
                  <a:srgbClr val="111111"/>
                </a:solidFill>
                <a:latin typeface="LfjpmwTimes" charset="0"/>
              </a:rPr>
              <a:t>Earnings per share</a:t>
            </a:r>
            <a:r>
              <a:rPr lang="zh-TW" altLang="en-US" sz="1200" b="0" i="0" kern="1200" baseline="0" dirty="0" smtClean="0">
                <a:solidFill>
                  <a:schemeClr val="tx1"/>
                </a:solidFill>
                <a:effectLst/>
                <a:latin typeface="+mn-lt"/>
                <a:ea typeface="+mn-ea"/>
                <a:cs typeface="+mn-cs"/>
              </a:rPr>
              <a:t> </a:t>
            </a:r>
            <a:r>
              <a:rPr lang="zh-TW" altLang="en-US" sz="1200" b="0" i="0" kern="1200" dirty="0" smtClean="0">
                <a:solidFill>
                  <a:schemeClr val="tx1"/>
                </a:solidFill>
                <a:effectLst/>
                <a:latin typeface="+mn-lt"/>
                <a:ea typeface="+mn-ea"/>
                <a:cs typeface="+mn-cs"/>
              </a:rPr>
              <a:t>每股盈餘</a:t>
            </a:r>
            <a:endParaRPr lang="en-US" altLang="zh-TW" sz="1200" b="0" i="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kern="1200" dirty="0" smtClean="0">
                <a:solidFill>
                  <a:schemeClr val="tx1"/>
                </a:solidFill>
                <a:effectLst/>
                <a:latin typeface="+mn-lt"/>
                <a:ea typeface="+mn-ea"/>
                <a:cs typeface="+mn-cs"/>
              </a:rPr>
              <a:t>net</a:t>
            </a:r>
            <a:r>
              <a:rPr lang="zh-TW" altLang="en-US" sz="1200" kern="1200" dirty="0" smtClean="0">
                <a:solidFill>
                  <a:schemeClr val="tx1"/>
                </a:solidFill>
                <a:effectLst/>
                <a:latin typeface="+mn-lt"/>
                <a:ea typeface="+mn-ea"/>
                <a:cs typeface="+mn-cs"/>
              </a:rPr>
              <a:t> </a:t>
            </a:r>
            <a:r>
              <a:rPr lang="en-US" altLang="zh-TW" sz="1200" kern="1200" dirty="0" smtClean="0">
                <a:solidFill>
                  <a:schemeClr val="tx1"/>
                </a:solidFill>
                <a:effectLst/>
                <a:latin typeface="+mn-lt"/>
                <a:ea typeface="+mn-ea"/>
                <a:cs typeface="+mn-cs"/>
              </a:rPr>
              <a:t>income</a:t>
            </a:r>
            <a:r>
              <a:rPr lang="zh-TW" altLang="en-US" sz="1200" kern="1200" dirty="0" smtClean="0">
                <a:solidFill>
                  <a:schemeClr val="tx1"/>
                </a:solidFill>
                <a:effectLst/>
                <a:latin typeface="+mn-lt"/>
                <a:ea typeface="+mn-ea"/>
                <a:cs typeface="+mn-cs"/>
              </a:rPr>
              <a:t> </a:t>
            </a:r>
            <a:r>
              <a:rPr lang="zh-TW" altLang="en-US" sz="1200" b="1" i="0" kern="1200" dirty="0" smtClean="0">
                <a:solidFill>
                  <a:schemeClr val="tx1"/>
                </a:solidFill>
                <a:effectLst/>
                <a:latin typeface="+mn-lt"/>
                <a:ea typeface="+mn-ea"/>
                <a:cs typeface="+mn-cs"/>
              </a:rPr>
              <a:t>稅後淨利</a:t>
            </a:r>
            <a:endParaRPr lang="en-US" altLang="zh-TW" sz="1200" b="1" i="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smtClean="0"/>
              <a:t>dividends</a:t>
            </a:r>
            <a:r>
              <a:rPr lang="zh-TW" altLang="en-US" dirty="0" smtClean="0"/>
              <a:t> 分紅</a:t>
            </a:r>
            <a:endParaRPr lang="en-US" altLang="zh-TW" sz="1200" b="1" i="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b="1" i="0" kern="1200" dirty="0" smtClean="0">
                <a:solidFill>
                  <a:schemeClr val="tx1"/>
                </a:solidFill>
                <a:effectLst/>
                <a:latin typeface="+mn-lt"/>
                <a:ea typeface="+mn-ea"/>
                <a:cs typeface="+mn-cs"/>
              </a:rPr>
              <a:t>Preferred Stock</a:t>
            </a:r>
            <a:r>
              <a:rPr lang="zh-TW" altLang="en-US" sz="1200" b="1" i="0" kern="1200" dirty="0" smtClean="0">
                <a:solidFill>
                  <a:schemeClr val="tx1"/>
                </a:solidFill>
                <a:effectLst/>
                <a:latin typeface="+mn-lt"/>
                <a:ea typeface="+mn-ea"/>
                <a:cs typeface="+mn-cs"/>
              </a:rPr>
              <a:t> 優先股</a:t>
            </a:r>
            <a:endParaRPr lang="en-US" altLang="zh-TW" sz="1200" b="1" i="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smtClean="0"/>
              <a:t>average outstanding shares </a:t>
            </a:r>
            <a:r>
              <a:rPr lang="zh-TW" altLang="en-US" dirty="0" smtClean="0"/>
              <a:t>流通在外平均股數</a:t>
            </a:r>
            <a:endParaRPr lang="en-US" altLang="zh-TW" sz="1200" b="1" i="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dirty="0" smtClean="0"/>
          </a:p>
          <a:p>
            <a:endParaRPr lang="en-US" altLang="zh-TW" dirty="0" smtClean="0"/>
          </a:p>
          <a:p>
            <a:endParaRPr kumimoji="1" lang="zh-TW" altLang="en-US" dirty="0"/>
          </a:p>
        </p:txBody>
      </p:sp>
      <p:sp>
        <p:nvSpPr>
          <p:cNvPr id="4" name="投影片編號版面配置區 3"/>
          <p:cNvSpPr>
            <a:spLocks noGrp="1"/>
          </p:cNvSpPr>
          <p:nvPr>
            <p:ph type="sldNum" sz="quarter" idx="10"/>
          </p:nvPr>
        </p:nvSpPr>
        <p:spPr/>
        <p:txBody>
          <a:bodyPr/>
          <a:lstStyle/>
          <a:p>
            <a:fld id="{3B8F2BA8-1043-3B42-A61A-4497A47439F9}" type="slidenum">
              <a:rPr kumimoji="1" lang="zh-TW" altLang="en-US" smtClean="0"/>
              <a:t>8</a:t>
            </a:fld>
            <a:endParaRPr kumimoji="1" lang="zh-TW" altLang="en-US"/>
          </a:p>
        </p:txBody>
      </p:sp>
    </p:spTree>
    <p:extLst>
      <p:ext uri="{BB962C8B-B14F-4D97-AF65-F5344CB8AC3E}">
        <p14:creationId xmlns:p14="http://schemas.microsoft.com/office/powerpoint/2010/main" val="10669894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10"/>
          </p:nvPr>
        </p:nvSpPr>
        <p:spPr/>
        <p:txBody>
          <a:bodyPr/>
          <a:lstStyle/>
          <a:p>
            <a:fld id="{3B8F2BA8-1043-3B42-A61A-4497A47439F9}" type="slidenum">
              <a:rPr kumimoji="1" lang="zh-TW" altLang="en-US" smtClean="0"/>
              <a:t>9</a:t>
            </a:fld>
            <a:endParaRPr kumimoji="1" lang="zh-TW" altLang="en-US"/>
          </a:p>
        </p:txBody>
      </p:sp>
    </p:spTree>
    <p:extLst>
      <p:ext uri="{BB962C8B-B14F-4D97-AF65-F5344CB8AC3E}">
        <p14:creationId xmlns:p14="http://schemas.microsoft.com/office/powerpoint/2010/main" val="6028213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kumimoji="1" lang="zh-TW" altLang="en-US" smtClean="0"/>
              <a:t>按一下以編輯母片標題樣式</a:t>
            </a:r>
            <a:endParaRPr kumimoji="1" lang="zh-TW" altLang="en-US"/>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TW" altLang="en-US" smtClean="0"/>
              <a:t>按一下以編輯母片副標題樣式</a:t>
            </a:r>
            <a:endParaRPr kumimoji="1" lang="zh-TW" altLang="en-US"/>
          </a:p>
        </p:txBody>
      </p:sp>
      <p:sp>
        <p:nvSpPr>
          <p:cNvPr id="4" name="日期版面配置區 3"/>
          <p:cNvSpPr>
            <a:spLocks noGrp="1"/>
          </p:cNvSpPr>
          <p:nvPr>
            <p:ph type="dt" sz="half" idx="10"/>
          </p:nvPr>
        </p:nvSpPr>
        <p:spPr/>
        <p:txBody>
          <a:bodyPr/>
          <a:lstStyle/>
          <a:p>
            <a:fld id="{C6F958E6-1DF8-D34C-957F-F5FB8416DD13}" type="datetimeFigureOut">
              <a:rPr kumimoji="1" lang="zh-TW" altLang="en-US" smtClean="0"/>
              <a:t>2017/12/13</a:t>
            </a:fld>
            <a:endParaRPr kumimoji="1" lang="zh-TW" altLang="en-US"/>
          </a:p>
        </p:txBody>
      </p:sp>
      <p:sp>
        <p:nvSpPr>
          <p:cNvPr id="5" name="頁尾版面配置區 4"/>
          <p:cNvSpPr>
            <a:spLocks noGrp="1"/>
          </p:cNvSpPr>
          <p:nvPr>
            <p:ph type="ftr" sz="quarter" idx="11"/>
          </p:nvPr>
        </p:nvSpPr>
        <p:spPr/>
        <p:txBody>
          <a:bodyPr/>
          <a:lstStyle/>
          <a:p>
            <a:endParaRPr kumimoji="1" lang="zh-TW" altLang="en-US"/>
          </a:p>
        </p:txBody>
      </p:sp>
      <p:sp>
        <p:nvSpPr>
          <p:cNvPr id="6" name="投影片編號版面配置區 5"/>
          <p:cNvSpPr>
            <a:spLocks noGrp="1"/>
          </p:cNvSpPr>
          <p:nvPr>
            <p:ph type="sldNum" sz="quarter" idx="12"/>
          </p:nvPr>
        </p:nvSpPr>
        <p:spPr/>
        <p:txBody>
          <a:bodyPr/>
          <a:lstStyle/>
          <a:p>
            <a:fld id="{D0B58A7E-276F-7A49-AC65-EB1BD28AE5CF}" type="slidenum">
              <a:rPr kumimoji="1" lang="zh-TW" altLang="en-US" smtClean="0"/>
              <a:t>‹#›</a:t>
            </a:fld>
            <a:endParaRPr kumimoji="1" lang="zh-TW" altLang="en-US"/>
          </a:p>
        </p:txBody>
      </p:sp>
    </p:spTree>
    <p:extLst>
      <p:ext uri="{BB962C8B-B14F-4D97-AF65-F5344CB8AC3E}">
        <p14:creationId xmlns:p14="http://schemas.microsoft.com/office/powerpoint/2010/main" val="15191324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zh-TW" altLang="en-US" smtClean="0"/>
              <a:t>按一下以編輯母片標題樣式</a:t>
            </a:r>
            <a:endParaRPr kumimoji="1" lang="zh-TW" altLang="en-US"/>
          </a:p>
        </p:txBody>
      </p:sp>
      <p:sp>
        <p:nvSpPr>
          <p:cNvPr id="3" name="內容版面配置區 2"/>
          <p:cNvSpPr>
            <a:spLocks noGrp="1"/>
          </p:cNvSpPr>
          <p:nvPr>
            <p:ph idx="1"/>
          </p:nvPr>
        </p:nvSpPr>
        <p:spPr/>
        <p:txBody>
          <a:bodyPr/>
          <a:lstStyle/>
          <a:p>
            <a:pPr lvl="0"/>
            <a:r>
              <a:rPr kumimoji="1" lang="zh-TW" altLang="en-US" smtClean="0"/>
              <a:t>按一下以編輯母片文字樣式</a:t>
            </a:r>
          </a:p>
          <a:p>
            <a:pPr lvl="1"/>
            <a:r>
              <a:rPr kumimoji="1" lang="zh-TW" altLang="en-US" smtClean="0"/>
              <a:t>第二層</a:t>
            </a:r>
          </a:p>
          <a:p>
            <a:pPr lvl="2"/>
            <a:r>
              <a:rPr kumimoji="1" lang="zh-TW" altLang="en-US" smtClean="0"/>
              <a:t>第三層</a:t>
            </a:r>
          </a:p>
          <a:p>
            <a:pPr lvl="3"/>
            <a:r>
              <a:rPr kumimoji="1" lang="zh-TW" altLang="en-US" smtClean="0"/>
              <a:t>第四層</a:t>
            </a:r>
          </a:p>
          <a:p>
            <a:pPr lvl="4"/>
            <a:r>
              <a:rPr kumimoji="1" lang="zh-TW" altLang="en-US" smtClean="0"/>
              <a:t>第五層</a:t>
            </a:r>
            <a:endParaRPr kumimoji="1" lang="zh-TW" altLang="en-US"/>
          </a:p>
        </p:txBody>
      </p:sp>
      <p:sp>
        <p:nvSpPr>
          <p:cNvPr id="4" name="日期版面配置區 3"/>
          <p:cNvSpPr>
            <a:spLocks noGrp="1"/>
          </p:cNvSpPr>
          <p:nvPr>
            <p:ph type="dt" sz="half" idx="10"/>
          </p:nvPr>
        </p:nvSpPr>
        <p:spPr/>
        <p:txBody>
          <a:bodyPr/>
          <a:lstStyle/>
          <a:p>
            <a:fld id="{C6F958E6-1DF8-D34C-957F-F5FB8416DD13}" type="datetimeFigureOut">
              <a:rPr kumimoji="1" lang="zh-TW" altLang="en-US" smtClean="0"/>
              <a:t>2017/12/13</a:t>
            </a:fld>
            <a:endParaRPr kumimoji="1" lang="zh-TW" altLang="en-US"/>
          </a:p>
        </p:txBody>
      </p:sp>
      <p:sp>
        <p:nvSpPr>
          <p:cNvPr id="5" name="頁尾版面配置區 4"/>
          <p:cNvSpPr>
            <a:spLocks noGrp="1"/>
          </p:cNvSpPr>
          <p:nvPr>
            <p:ph type="ftr" sz="quarter" idx="11"/>
          </p:nvPr>
        </p:nvSpPr>
        <p:spPr/>
        <p:txBody>
          <a:bodyPr/>
          <a:lstStyle/>
          <a:p>
            <a:endParaRPr kumimoji="1" lang="zh-TW" altLang="en-US"/>
          </a:p>
        </p:txBody>
      </p:sp>
      <p:sp>
        <p:nvSpPr>
          <p:cNvPr id="6" name="投影片編號版面配置區 5"/>
          <p:cNvSpPr>
            <a:spLocks noGrp="1"/>
          </p:cNvSpPr>
          <p:nvPr>
            <p:ph type="sldNum" sz="quarter" idx="12"/>
          </p:nvPr>
        </p:nvSpPr>
        <p:spPr/>
        <p:txBody>
          <a:bodyPr/>
          <a:lstStyle/>
          <a:p>
            <a:fld id="{D0B58A7E-276F-7A49-AC65-EB1BD28AE5CF}" type="slidenum">
              <a:rPr kumimoji="1" lang="zh-TW" altLang="en-US" smtClean="0"/>
              <a:t>‹#›</a:t>
            </a:fld>
            <a:endParaRPr kumimoji="1" lang="zh-TW" altLang="en-US"/>
          </a:p>
        </p:txBody>
      </p:sp>
    </p:spTree>
    <p:extLst>
      <p:ext uri="{BB962C8B-B14F-4D97-AF65-F5344CB8AC3E}">
        <p14:creationId xmlns:p14="http://schemas.microsoft.com/office/powerpoint/2010/main" val="6253861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kumimoji="1" lang="zh-TW" altLang="en-US" smtClean="0"/>
              <a:t>按一下以編輯母片標題樣式</a:t>
            </a:r>
            <a:endParaRPr kumimoji="1" lang="zh-TW" altLang="en-US"/>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TW" altLang="en-US" smtClean="0"/>
              <a:t>按一下以編輯母片文字樣式</a:t>
            </a:r>
          </a:p>
        </p:txBody>
      </p:sp>
      <p:sp>
        <p:nvSpPr>
          <p:cNvPr id="4" name="日期版面配置區 3"/>
          <p:cNvSpPr>
            <a:spLocks noGrp="1"/>
          </p:cNvSpPr>
          <p:nvPr>
            <p:ph type="dt" sz="half" idx="10"/>
          </p:nvPr>
        </p:nvSpPr>
        <p:spPr/>
        <p:txBody>
          <a:bodyPr/>
          <a:lstStyle/>
          <a:p>
            <a:fld id="{C6F958E6-1DF8-D34C-957F-F5FB8416DD13}" type="datetimeFigureOut">
              <a:rPr kumimoji="1" lang="zh-TW" altLang="en-US" smtClean="0"/>
              <a:t>2017/12/13</a:t>
            </a:fld>
            <a:endParaRPr kumimoji="1" lang="zh-TW" altLang="en-US"/>
          </a:p>
        </p:txBody>
      </p:sp>
      <p:sp>
        <p:nvSpPr>
          <p:cNvPr id="5" name="頁尾版面配置區 4"/>
          <p:cNvSpPr>
            <a:spLocks noGrp="1"/>
          </p:cNvSpPr>
          <p:nvPr>
            <p:ph type="ftr" sz="quarter" idx="11"/>
          </p:nvPr>
        </p:nvSpPr>
        <p:spPr/>
        <p:txBody>
          <a:bodyPr/>
          <a:lstStyle/>
          <a:p>
            <a:endParaRPr kumimoji="1" lang="zh-TW" altLang="en-US"/>
          </a:p>
        </p:txBody>
      </p:sp>
      <p:sp>
        <p:nvSpPr>
          <p:cNvPr id="6" name="投影片編號版面配置區 5"/>
          <p:cNvSpPr>
            <a:spLocks noGrp="1"/>
          </p:cNvSpPr>
          <p:nvPr>
            <p:ph type="sldNum" sz="quarter" idx="12"/>
          </p:nvPr>
        </p:nvSpPr>
        <p:spPr/>
        <p:txBody>
          <a:bodyPr/>
          <a:lstStyle/>
          <a:p>
            <a:fld id="{D0B58A7E-276F-7A49-AC65-EB1BD28AE5CF}" type="slidenum">
              <a:rPr kumimoji="1" lang="zh-TW" altLang="en-US" smtClean="0"/>
              <a:t>‹#›</a:t>
            </a:fld>
            <a:endParaRPr kumimoji="1" lang="zh-TW" altLang="en-US"/>
          </a:p>
        </p:txBody>
      </p:sp>
    </p:spTree>
    <p:extLst>
      <p:ext uri="{BB962C8B-B14F-4D97-AF65-F5344CB8AC3E}">
        <p14:creationId xmlns:p14="http://schemas.microsoft.com/office/powerpoint/2010/main" val="10793487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zh-TW" altLang="en-US" smtClean="0"/>
              <a:t>按一下以編輯母片標題樣式</a:t>
            </a:r>
            <a:endParaRPr kumimoji="1" lang="zh-TW" altLang="en-US"/>
          </a:p>
        </p:txBody>
      </p:sp>
      <p:sp>
        <p:nvSpPr>
          <p:cNvPr id="3" name="內容版面配置區 2"/>
          <p:cNvSpPr>
            <a:spLocks noGrp="1"/>
          </p:cNvSpPr>
          <p:nvPr>
            <p:ph sz="half" idx="1"/>
          </p:nvPr>
        </p:nvSpPr>
        <p:spPr>
          <a:xfrm>
            <a:off x="838200" y="1825625"/>
            <a:ext cx="5181600" cy="4351338"/>
          </a:xfrm>
        </p:spPr>
        <p:txBody>
          <a:bodyPr/>
          <a:lstStyle/>
          <a:p>
            <a:pPr lvl="0"/>
            <a:r>
              <a:rPr kumimoji="1" lang="zh-TW" altLang="en-US" smtClean="0"/>
              <a:t>按一下以編輯母片文字樣式</a:t>
            </a:r>
          </a:p>
          <a:p>
            <a:pPr lvl="1"/>
            <a:r>
              <a:rPr kumimoji="1" lang="zh-TW" altLang="en-US" smtClean="0"/>
              <a:t>第二層</a:t>
            </a:r>
          </a:p>
          <a:p>
            <a:pPr lvl="2"/>
            <a:r>
              <a:rPr kumimoji="1" lang="zh-TW" altLang="en-US" smtClean="0"/>
              <a:t>第三層</a:t>
            </a:r>
          </a:p>
          <a:p>
            <a:pPr lvl="3"/>
            <a:r>
              <a:rPr kumimoji="1" lang="zh-TW" altLang="en-US" smtClean="0"/>
              <a:t>第四層</a:t>
            </a:r>
          </a:p>
          <a:p>
            <a:pPr lvl="4"/>
            <a:r>
              <a:rPr kumimoji="1" lang="zh-TW" altLang="en-US" smtClean="0"/>
              <a:t>第五層</a:t>
            </a:r>
            <a:endParaRPr kumimoji="1" lang="zh-TW" altLang="en-US"/>
          </a:p>
        </p:txBody>
      </p:sp>
      <p:sp>
        <p:nvSpPr>
          <p:cNvPr id="4" name="內容版面配置區 3"/>
          <p:cNvSpPr>
            <a:spLocks noGrp="1"/>
          </p:cNvSpPr>
          <p:nvPr>
            <p:ph sz="half" idx="2"/>
          </p:nvPr>
        </p:nvSpPr>
        <p:spPr>
          <a:xfrm>
            <a:off x="6172200" y="1825625"/>
            <a:ext cx="5181600" cy="4351338"/>
          </a:xfrm>
        </p:spPr>
        <p:txBody>
          <a:bodyPr/>
          <a:lstStyle/>
          <a:p>
            <a:pPr lvl="0"/>
            <a:r>
              <a:rPr kumimoji="1" lang="zh-TW" altLang="en-US" smtClean="0"/>
              <a:t>按一下以編輯母片文字樣式</a:t>
            </a:r>
          </a:p>
          <a:p>
            <a:pPr lvl="1"/>
            <a:r>
              <a:rPr kumimoji="1" lang="zh-TW" altLang="en-US" smtClean="0"/>
              <a:t>第二層</a:t>
            </a:r>
          </a:p>
          <a:p>
            <a:pPr lvl="2"/>
            <a:r>
              <a:rPr kumimoji="1" lang="zh-TW" altLang="en-US" smtClean="0"/>
              <a:t>第三層</a:t>
            </a:r>
          </a:p>
          <a:p>
            <a:pPr lvl="3"/>
            <a:r>
              <a:rPr kumimoji="1" lang="zh-TW" altLang="en-US" smtClean="0"/>
              <a:t>第四層</a:t>
            </a:r>
          </a:p>
          <a:p>
            <a:pPr lvl="4"/>
            <a:r>
              <a:rPr kumimoji="1" lang="zh-TW" altLang="en-US" smtClean="0"/>
              <a:t>第五層</a:t>
            </a:r>
            <a:endParaRPr kumimoji="1" lang="zh-TW" altLang="en-US"/>
          </a:p>
        </p:txBody>
      </p:sp>
      <p:sp>
        <p:nvSpPr>
          <p:cNvPr id="5" name="日期版面配置區 4"/>
          <p:cNvSpPr>
            <a:spLocks noGrp="1"/>
          </p:cNvSpPr>
          <p:nvPr>
            <p:ph type="dt" sz="half" idx="10"/>
          </p:nvPr>
        </p:nvSpPr>
        <p:spPr/>
        <p:txBody>
          <a:bodyPr/>
          <a:lstStyle/>
          <a:p>
            <a:fld id="{C6F958E6-1DF8-D34C-957F-F5FB8416DD13}" type="datetimeFigureOut">
              <a:rPr kumimoji="1" lang="zh-TW" altLang="en-US" smtClean="0"/>
              <a:t>2017/12/13</a:t>
            </a:fld>
            <a:endParaRPr kumimoji="1" lang="zh-TW" altLang="en-US"/>
          </a:p>
        </p:txBody>
      </p:sp>
      <p:sp>
        <p:nvSpPr>
          <p:cNvPr id="6" name="頁尾版面配置區 5"/>
          <p:cNvSpPr>
            <a:spLocks noGrp="1"/>
          </p:cNvSpPr>
          <p:nvPr>
            <p:ph type="ftr" sz="quarter" idx="11"/>
          </p:nvPr>
        </p:nvSpPr>
        <p:spPr/>
        <p:txBody>
          <a:bodyPr/>
          <a:lstStyle/>
          <a:p>
            <a:endParaRPr kumimoji="1" lang="zh-TW" altLang="en-US"/>
          </a:p>
        </p:txBody>
      </p:sp>
      <p:sp>
        <p:nvSpPr>
          <p:cNvPr id="7" name="投影片編號版面配置區 6"/>
          <p:cNvSpPr>
            <a:spLocks noGrp="1"/>
          </p:cNvSpPr>
          <p:nvPr>
            <p:ph type="sldNum" sz="quarter" idx="12"/>
          </p:nvPr>
        </p:nvSpPr>
        <p:spPr/>
        <p:txBody>
          <a:bodyPr/>
          <a:lstStyle/>
          <a:p>
            <a:fld id="{D0B58A7E-276F-7A49-AC65-EB1BD28AE5CF}" type="slidenum">
              <a:rPr kumimoji="1" lang="zh-TW" altLang="en-US" smtClean="0"/>
              <a:t>‹#›</a:t>
            </a:fld>
            <a:endParaRPr kumimoji="1" lang="zh-TW" altLang="en-US"/>
          </a:p>
        </p:txBody>
      </p:sp>
    </p:spTree>
    <p:extLst>
      <p:ext uri="{BB962C8B-B14F-4D97-AF65-F5344CB8AC3E}">
        <p14:creationId xmlns:p14="http://schemas.microsoft.com/office/powerpoint/2010/main" val="8198733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kumimoji="1" lang="zh-TW" altLang="en-US" smtClean="0"/>
              <a:t>按一下以編輯母片標題樣式</a:t>
            </a:r>
            <a:endParaRPr kumimoji="1" lang="zh-TW" altLang="en-US"/>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smtClean="0"/>
              <a:t>按一下以編輯母片文字樣式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kumimoji="1" lang="zh-TW" altLang="en-US" smtClean="0"/>
              <a:t>按一下以編輯母片文字樣式</a:t>
            </a:r>
          </a:p>
          <a:p>
            <a:pPr lvl="1"/>
            <a:r>
              <a:rPr kumimoji="1" lang="zh-TW" altLang="en-US" smtClean="0"/>
              <a:t>第二層</a:t>
            </a:r>
          </a:p>
          <a:p>
            <a:pPr lvl="2"/>
            <a:r>
              <a:rPr kumimoji="1" lang="zh-TW" altLang="en-US" smtClean="0"/>
              <a:t>第三層</a:t>
            </a:r>
          </a:p>
          <a:p>
            <a:pPr lvl="3"/>
            <a:r>
              <a:rPr kumimoji="1" lang="zh-TW" altLang="en-US" smtClean="0"/>
              <a:t>第四層</a:t>
            </a:r>
          </a:p>
          <a:p>
            <a:pPr lvl="4"/>
            <a:r>
              <a:rPr kumimoji="1" lang="zh-TW" altLang="en-US" smtClean="0"/>
              <a:t>第五層</a:t>
            </a:r>
            <a:endParaRPr kumimoji="1" lang="zh-TW" altLang="en-US"/>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smtClean="0"/>
              <a:t>按一下以編輯母片文字樣式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kumimoji="1" lang="zh-TW" altLang="en-US" smtClean="0"/>
              <a:t>按一下以編輯母片文字樣式</a:t>
            </a:r>
          </a:p>
          <a:p>
            <a:pPr lvl="1"/>
            <a:r>
              <a:rPr kumimoji="1" lang="zh-TW" altLang="en-US" smtClean="0"/>
              <a:t>第二層</a:t>
            </a:r>
          </a:p>
          <a:p>
            <a:pPr lvl="2"/>
            <a:r>
              <a:rPr kumimoji="1" lang="zh-TW" altLang="en-US" smtClean="0"/>
              <a:t>第三層</a:t>
            </a:r>
          </a:p>
          <a:p>
            <a:pPr lvl="3"/>
            <a:r>
              <a:rPr kumimoji="1" lang="zh-TW" altLang="en-US" smtClean="0"/>
              <a:t>第四層</a:t>
            </a:r>
          </a:p>
          <a:p>
            <a:pPr lvl="4"/>
            <a:r>
              <a:rPr kumimoji="1" lang="zh-TW" altLang="en-US" smtClean="0"/>
              <a:t>第五層</a:t>
            </a:r>
            <a:endParaRPr kumimoji="1" lang="zh-TW" altLang="en-US"/>
          </a:p>
        </p:txBody>
      </p:sp>
      <p:sp>
        <p:nvSpPr>
          <p:cNvPr id="7" name="日期版面配置區 6"/>
          <p:cNvSpPr>
            <a:spLocks noGrp="1"/>
          </p:cNvSpPr>
          <p:nvPr>
            <p:ph type="dt" sz="half" idx="10"/>
          </p:nvPr>
        </p:nvSpPr>
        <p:spPr/>
        <p:txBody>
          <a:bodyPr/>
          <a:lstStyle/>
          <a:p>
            <a:fld id="{C6F958E6-1DF8-D34C-957F-F5FB8416DD13}" type="datetimeFigureOut">
              <a:rPr kumimoji="1" lang="zh-TW" altLang="en-US" smtClean="0"/>
              <a:t>2017/12/13</a:t>
            </a:fld>
            <a:endParaRPr kumimoji="1" lang="zh-TW" altLang="en-US"/>
          </a:p>
        </p:txBody>
      </p:sp>
      <p:sp>
        <p:nvSpPr>
          <p:cNvPr id="8" name="頁尾版面配置區 7"/>
          <p:cNvSpPr>
            <a:spLocks noGrp="1"/>
          </p:cNvSpPr>
          <p:nvPr>
            <p:ph type="ftr" sz="quarter" idx="11"/>
          </p:nvPr>
        </p:nvSpPr>
        <p:spPr/>
        <p:txBody>
          <a:bodyPr/>
          <a:lstStyle/>
          <a:p>
            <a:endParaRPr kumimoji="1" lang="zh-TW" altLang="en-US"/>
          </a:p>
        </p:txBody>
      </p:sp>
      <p:sp>
        <p:nvSpPr>
          <p:cNvPr id="9" name="投影片編號版面配置區 8"/>
          <p:cNvSpPr>
            <a:spLocks noGrp="1"/>
          </p:cNvSpPr>
          <p:nvPr>
            <p:ph type="sldNum" sz="quarter" idx="12"/>
          </p:nvPr>
        </p:nvSpPr>
        <p:spPr/>
        <p:txBody>
          <a:bodyPr/>
          <a:lstStyle/>
          <a:p>
            <a:fld id="{D0B58A7E-276F-7A49-AC65-EB1BD28AE5CF}" type="slidenum">
              <a:rPr kumimoji="1" lang="zh-TW" altLang="en-US" smtClean="0"/>
              <a:t>‹#›</a:t>
            </a:fld>
            <a:endParaRPr kumimoji="1" lang="zh-TW" altLang="en-US"/>
          </a:p>
        </p:txBody>
      </p:sp>
    </p:spTree>
    <p:extLst>
      <p:ext uri="{BB962C8B-B14F-4D97-AF65-F5344CB8AC3E}">
        <p14:creationId xmlns:p14="http://schemas.microsoft.com/office/powerpoint/2010/main" val="13564319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zh-TW" altLang="en-US" smtClean="0"/>
              <a:t>按一下以編輯母片標題樣式</a:t>
            </a:r>
            <a:endParaRPr kumimoji="1" lang="zh-TW" altLang="en-US"/>
          </a:p>
        </p:txBody>
      </p:sp>
      <p:sp>
        <p:nvSpPr>
          <p:cNvPr id="3" name="日期版面配置區 2"/>
          <p:cNvSpPr>
            <a:spLocks noGrp="1"/>
          </p:cNvSpPr>
          <p:nvPr>
            <p:ph type="dt" sz="half" idx="10"/>
          </p:nvPr>
        </p:nvSpPr>
        <p:spPr/>
        <p:txBody>
          <a:bodyPr/>
          <a:lstStyle/>
          <a:p>
            <a:fld id="{C6F958E6-1DF8-D34C-957F-F5FB8416DD13}" type="datetimeFigureOut">
              <a:rPr kumimoji="1" lang="zh-TW" altLang="en-US" smtClean="0"/>
              <a:t>2017/12/13</a:t>
            </a:fld>
            <a:endParaRPr kumimoji="1" lang="zh-TW" altLang="en-US"/>
          </a:p>
        </p:txBody>
      </p:sp>
      <p:sp>
        <p:nvSpPr>
          <p:cNvPr id="4" name="頁尾版面配置區 3"/>
          <p:cNvSpPr>
            <a:spLocks noGrp="1"/>
          </p:cNvSpPr>
          <p:nvPr>
            <p:ph type="ftr" sz="quarter" idx="11"/>
          </p:nvPr>
        </p:nvSpPr>
        <p:spPr/>
        <p:txBody>
          <a:bodyPr/>
          <a:lstStyle/>
          <a:p>
            <a:endParaRPr kumimoji="1" lang="zh-TW" altLang="en-US"/>
          </a:p>
        </p:txBody>
      </p:sp>
      <p:sp>
        <p:nvSpPr>
          <p:cNvPr id="5" name="投影片編號版面配置區 4"/>
          <p:cNvSpPr>
            <a:spLocks noGrp="1"/>
          </p:cNvSpPr>
          <p:nvPr>
            <p:ph type="sldNum" sz="quarter" idx="12"/>
          </p:nvPr>
        </p:nvSpPr>
        <p:spPr/>
        <p:txBody>
          <a:bodyPr/>
          <a:lstStyle/>
          <a:p>
            <a:fld id="{D0B58A7E-276F-7A49-AC65-EB1BD28AE5CF}" type="slidenum">
              <a:rPr kumimoji="1" lang="zh-TW" altLang="en-US" smtClean="0"/>
              <a:t>‹#›</a:t>
            </a:fld>
            <a:endParaRPr kumimoji="1" lang="zh-TW" altLang="en-US"/>
          </a:p>
        </p:txBody>
      </p:sp>
    </p:spTree>
    <p:extLst>
      <p:ext uri="{BB962C8B-B14F-4D97-AF65-F5344CB8AC3E}">
        <p14:creationId xmlns:p14="http://schemas.microsoft.com/office/powerpoint/2010/main" val="20128203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C6F958E6-1DF8-D34C-957F-F5FB8416DD13}" type="datetimeFigureOut">
              <a:rPr kumimoji="1" lang="zh-TW" altLang="en-US" smtClean="0"/>
              <a:t>2017/12/13</a:t>
            </a:fld>
            <a:endParaRPr kumimoji="1" lang="zh-TW" altLang="en-US"/>
          </a:p>
        </p:txBody>
      </p:sp>
      <p:sp>
        <p:nvSpPr>
          <p:cNvPr id="3" name="頁尾版面配置區 2"/>
          <p:cNvSpPr>
            <a:spLocks noGrp="1"/>
          </p:cNvSpPr>
          <p:nvPr>
            <p:ph type="ftr" sz="quarter" idx="11"/>
          </p:nvPr>
        </p:nvSpPr>
        <p:spPr/>
        <p:txBody>
          <a:bodyPr/>
          <a:lstStyle/>
          <a:p>
            <a:endParaRPr kumimoji="1" lang="zh-TW" altLang="en-US"/>
          </a:p>
        </p:txBody>
      </p:sp>
      <p:sp>
        <p:nvSpPr>
          <p:cNvPr id="4" name="投影片編號版面配置區 3"/>
          <p:cNvSpPr>
            <a:spLocks noGrp="1"/>
          </p:cNvSpPr>
          <p:nvPr>
            <p:ph type="sldNum" sz="quarter" idx="12"/>
          </p:nvPr>
        </p:nvSpPr>
        <p:spPr/>
        <p:txBody>
          <a:bodyPr/>
          <a:lstStyle/>
          <a:p>
            <a:fld id="{D0B58A7E-276F-7A49-AC65-EB1BD28AE5CF}" type="slidenum">
              <a:rPr kumimoji="1" lang="zh-TW" altLang="en-US" smtClean="0"/>
              <a:t>‹#›</a:t>
            </a:fld>
            <a:endParaRPr kumimoji="1" lang="zh-TW" altLang="en-US"/>
          </a:p>
        </p:txBody>
      </p:sp>
    </p:spTree>
    <p:extLst>
      <p:ext uri="{BB962C8B-B14F-4D97-AF65-F5344CB8AC3E}">
        <p14:creationId xmlns:p14="http://schemas.microsoft.com/office/powerpoint/2010/main" val="1612942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kumimoji="1" lang="zh-TW" altLang="en-US" smtClean="0"/>
              <a:t>按一下以編輯母片標題樣式</a:t>
            </a:r>
            <a:endParaRPr kumimoji="1" lang="zh-TW" altLang="en-US"/>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TW" altLang="en-US" smtClean="0"/>
              <a:t>按一下以編輯母片文字樣式</a:t>
            </a:r>
          </a:p>
          <a:p>
            <a:pPr lvl="1"/>
            <a:r>
              <a:rPr kumimoji="1" lang="zh-TW" altLang="en-US" smtClean="0"/>
              <a:t>第二層</a:t>
            </a:r>
          </a:p>
          <a:p>
            <a:pPr lvl="2"/>
            <a:r>
              <a:rPr kumimoji="1" lang="zh-TW" altLang="en-US" smtClean="0"/>
              <a:t>第三層</a:t>
            </a:r>
          </a:p>
          <a:p>
            <a:pPr lvl="3"/>
            <a:r>
              <a:rPr kumimoji="1" lang="zh-TW" altLang="en-US" smtClean="0"/>
              <a:t>第四層</a:t>
            </a:r>
          </a:p>
          <a:p>
            <a:pPr lvl="4"/>
            <a:r>
              <a:rPr kumimoji="1" lang="zh-TW" altLang="en-US" smtClean="0"/>
              <a:t>第五層</a:t>
            </a:r>
            <a:endParaRPr kumimoji="1"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smtClean="0"/>
              <a:t>按一下以編輯母片文字樣式</a:t>
            </a:r>
          </a:p>
        </p:txBody>
      </p:sp>
      <p:sp>
        <p:nvSpPr>
          <p:cNvPr id="5" name="日期版面配置區 4"/>
          <p:cNvSpPr>
            <a:spLocks noGrp="1"/>
          </p:cNvSpPr>
          <p:nvPr>
            <p:ph type="dt" sz="half" idx="10"/>
          </p:nvPr>
        </p:nvSpPr>
        <p:spPr/>
        <p:txBody>
          <a:bodyPr/>
          <a:lstStyle/>
          <a:p>
            <a:fld id="{C6F958E6-1DF8-D34C-957F-F5FB8416DD13}" type="datetimeFigureOut">
              <a:rPr kumimoji="1" lang="zh-TW" altLang="en-US" smtClean="0"/>
              <a:t>2017/12/13</a:t>
            </a:fld>
            <a:endParaRPr kumimoji="1" lang="zh-TW" altLang="en-US"/>
          </a:p>
        </p:txBody>
      </p:sp>
      <p:sp>
        <p:nvSpPr>
          <p:cNvPr id="6" name="頁尾版面配置區 5"/>
          <p:cNvSpPr>
            <a:spLocks noGrp="1"/>
          </p:cNvSpPr>
          <p:nvPr>
            <p:ph type="ftr" sz="quarter" idx="11"/>
          </p:nvPr>
        </p:nvSpPr>
        <p:spPr/>
        <p:txBody>
          <a:bodyPr/>
          <a:lstStyle/>
          <a:p>
            <a:endParaRPr kumimoji="1" lang="zh-TW" altLang="en-US"/>
          </a:p>
        </p:txBody>
      </p:sp>
      <p:sp>
        <p:nvSpPr>
          <p:cNvPr id="7" name="投影片編號版面配置區 6"/>
          <p:cNvSpPr>
            <a:spLocks noGrp="1"/>
          </p:cNvSpPr>
          <p:nvPr>
            <p:ph type="sldNum" sz="quarter" idx="12"/>
          </p:nvPr>
        </p:nvSpPr>
        <p:spPr/>
        <p:txBody>
          <a:bodyPr/>
          <a:lstStyle/>
          <a:p>
            <a:fld id="{D0B58A7E-276F-7A49-AC65-EB1BD28AE5CF}" type="slidenum">
              <a:rPr kumimoji="1" lang="zh-TW" altLang="en-US" smtClean="0"/>
              <a:t>‹#›</a:t>
            </a:fld>
            <a:endParaRPr kumimoji="1" lang="zh-TW" altLang="en-US"/>
          </a:p>
        </p:txBody>
      </p:sp>
    </p:spTree>
    <p:extLst>
      <p:ext uri="{BB962C8B-B14F-4D97-AF65-F5344CB8AC3E}">
        <p14:creationId xmlns:p14="http://schemas.microsoft.com/office/powerpoint/2010/main" val="7485510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kumimoji="1" lang="zh-TW" altLang="en-US" smtClean="0"/>
              <a:t>按一下以編輯母片標題樣式</a:t>
            </a:r>
            <a:endParaRPr kumimoji="1" lang="zh-TW" altLang="en-US"/>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smtClean="0"/>
              <a:t>按一下以編輯母片文字樣式</a:t>
            </a:r>
          </a:p>
        </p:txBody>
      </p:sp>
      <p:sp>
        <p:nvSpPr>
          <p:cNvPr id="5" name="日期版面配置區 4"/>
          <p:cNvSpPr>
            <a:spLocks noGrp="1"/>
          </p:cNvSpPr>
          <p:nvPr>
            <p:ph type="dt" sz="half" idx="10"/>
          </p:nvPr>
        </p:nvSpPr>
        <p:spPr/>
        <p:txBody>
          <a:bodyPr/>
          <a:lstStyle/>
          <a:p>
            <a:fld id="{C6F958E6-1DF8-D34C-957F-F5FB8416DD13}" type="datetimeFigureOut">
              <a:rPr kumimoji="1" lang="zh-TW" altLang="en-US" smtClean="0"/>
              <a:t>2017/12/13</a:t>
            </a:fld>
            <a:endParaRPr kumimoji="1" lang="zh-TW" altLang="en-US"/>
          </a:p>
        </p:txBody>
      </p:sp>
      <p:sp>
        <p:nvSpPr>
          <p:cNvPr id="6" name="頁尾版面配置區 5"/>
          <p:cNvSpPr>
            <a:spLocks noGrp="1"/>
          </p:cNvSpPr>
          <p:nvPr>
            <p:ph type="ftr" sz="quarter" idx="11"/>
          </p:nvPr>
        </p:nvSpPr>
        <p:spPr/>
        <p:txBody>
          <a:bodyPr/>
          <a:lstStyle/>
          <a:p>
            <a:endParaRPr kumimoji="1" lang="zh-TW" altLang="en-US"/>
          </a:p>
        </p:txBody>
      </p:sp>
      <p:sp>
        <p:nvSpPr>
          <p:cNvPr id="7" name="投影片編號版面配置區 6"/>
          <p:cNvSpPr>
            <a:spLocks noGrp="1"/>
          </p:cNvSpPr>
          <p:nvPr>
            <p:ph type="sldNum" sz="quarter" idx="12"/>
          </p:nvPr>
        </p:nvSpPr>
        <p:spPr/>
        <p:txBody>
          <a:bodyPr/>
          <a:lstStyle/>
          <a:p>
            <a:fld id="{D0B58A7E-276F-7A49-AC65-EB1BD28AE5CF}" type="slidenum">
              <a:rPr kumimoji="1" lang="zh-TW" altLang="en-US" smtClean="0"/>
              <a:t>‹#›</a:t>
            </a:fld>
            <a:endParaRPr kumimoji="1" lang="zh-TW" altLang="en-US"/>
          </a:p>
        </p:txBody>
      </p:sp>
    </p:spTree>
    <p:extLst>
      <p:ext uri="{BB962C8B-B14F-4D97-AF65-F5344CB8AC3E}">
        <p14:creationId xmlns:p14="http://schemas.microsoft.com/office/powerpoint/2010/main" val="9378730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zh-TW" altLang="en-US" smtClean="0"/>
              <a:t>按一下以編輯母片標題樣式</a:t>
            </a:r>
            <a:endParaRPr kumimoji="1" lang="zh-TW" altLang="en-US"/>
          </a:p>
        </p:txBody>
      </p:sp>
      <p:sp>
        <p:nvSpPr>
          <p:cNvPr id="3" name="直排文字版面配置區 2"/>
          <p:cNvSpPr>
            <a:spLocks noGrp="1"/>
          </p:cNvSpPr>
          <p:nvPr>
            <p:ph type="body" orient="vert" idx="1"/>
          </p:nvPr>
        </p:nvSpPr>
        <p:spPr/>
        <p:txBody>
          <a:bodyPr vert="eaVert"/>
          <a:lstStyle/>
          <a:p>
            <a:pPr lvl="0"/>
            <a:r>
              <a:rPr kumimoji="1" lang="zh-TW" altLang="en-US" smtClean="0"/>
              <a:t>按一下以編輯母片文字樣式</a:t>
            </a:r>
          </a:p>
          <a:p>
            <a:pPr lvl="1"/>
            <a:r>
              <a:rPr kumimoji="1" lang="zh-TW" altLang="en-US" smtClean="0"/>
              <a:t>第二層</a:t>
            </a:r>
          </a:p>
          <a:p>
            <a:pPr lvl="2"/>
            <a:r>
              <a:rPr kumimoji="1" lang="zh-TW" altLang="en-US" smtClean="0"/>
              <a:t>第三層</a:t>
            </a:r>
          </a:p>
          <a:p>
            <a:pPr lvl="3"/>
            <a:r>
              <a:rPr kumimoji="1" lang="zh-TW" altLang="en-US" smtClean="0"/>
              <a:t>第四層</a:t>
            </a:r>
          </a:p>
          <a:p>
            <a:pPr lvl="4"/>
            <a:r>
              <a:rPr kumimoji="1" lang="zh-TW" altLang="en-US" smtClean="0"/>
              <a:t>第五層</a:t>
            </a:r>
            <a:endParaRPr kumimoji="1" lang="zh-TW" altLang="en-US"/>
          </a:p>
        </p:txBody>
      </p:sp>
      <p:sp>
        <p:nvSpPr>
          <p:cNvPr id="4" name="日期版面配置區 3"/>
          <p:cNvSpPr>
            <a:spLocks noGrp="1"/>
          </p:cNvSpPr>
          <p:nvPr>
            <p:ph type="dt" sz="half" idx="10"/>
          </p:nvPr>
        </p:nvSpPr>
        <p:spPr/>
        <p:txBody>
          <a:bodyPr/>
          <a:lstStyle/>
          <a:p>
            <a:fld id="{C6F958E6-1DF8-D34C-957F-F5FB8416DD13}" type="datetimeFigureOut">
              <a:rPr kumimoji="1" lang="zh-TW" altLang="en-US" smtClean="0"/>
              <a:t>2017/12/13</a:t>
            </a:fld>
            <a:endParaRPr kumimoji="1" lang="zh-TW" altLang="en-US"/>
          </a:p>
        </p:txBody>
      </p:sp>
      <p:sp>
        <p:nvSpPr>
          <p:cNvPr id="5" name="頁尾版面配置區 4"/>
          <p:cNvSpPr>
            <a:spLocks noGrp="1"/>
          </p:cNvSpPr>
          <p:nvPr>
            <p:ph type="ftr" sz="quarter" idx="11"/>
          </p:nvPr>
        </p:nvSpPr>
        <p:spPr/>
        <p:txBody>
          <a:bodyPr/>
          <a:lstStyle/>
          <a:p>
            <a:endParaRPr kumimoji="1" lang="zh-TW" altLang="en-US"/>
          </a:p>
        </p:txBody>
      </p:sp>
      <p:sp>
        <p:nvSpPr>
          <p:cNvPr id="6" name="投影片編號版面配置區 5"/>
          <p:cNvSpPr>
            <a:spLocks noGrp="1"/>
          </p:cNvSpPr>
          <p:nvPr>
            <p:ph type="sldNum" sz="quarter" idx="12"/>
          </p:nvPr>
        </p:nvSpPr>
        <p:spPr/>
        <p:txBody>
          <a:bodyPr/>
          <a:lstStyle/>
          <a:p>
            <a:fld id="{D0B58A7E-276F-7A49-AC65-EB1BD28AE5CF}" type="slidenum">
              <a:rPr kumimoji="1" lang="zh-TW" altLang="en-US" smtClean="0"/>
              <a:t>‹#›</a:t>
            </a:fld>
            <a:endParaRPr kumimoji="1" lang="zh-TW" altLang="en-US"/>
          </a:p>
        </p:txBody>
      </p:sp>
    </p:spTree>
    <p:extLst>
      <p:ext uri="{BB962C8B-B14F-4D97-AF65-F5344CB8AC3E}">
        <p14:creationId xmlns:p14="http://schemas.microsoft.com/office/powerpoint/2010/main" val="3023655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垂直標題 1"/>
          <p:cNvSpPr>
            <a:spLocks noGrp="1"/>
          </p:cNvSpPr>
          <p:nvPr>
            <p:ph type="title" orient="vert"/>
          </p:nvPr>
        </p:nvSpPr>
        <p:spPr>
          <a:xfrm>
            <a:off x="8724900" y="365125"/>
            <a:ext cx="2628900" cy="5811838"/>
          </a:xfrm>
        </p:spPr>
        <p:txBody>
          <a:bodyPr vert="eaVert"/>
          <a:lstStyle/>
          <a:p>
            <a:r>
              <a:rPr kumimoji="1" lang="zh-TW" altLang="en-US" smtClean="0"/>
              <a:t>按一下以編輯母片標題樣式</a:t>
            </a:r>
            <a:endParaRPr kumimoji="1" lang="zh-TW" altLang="en-US"/>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kumimoji="1" lang="zh-TW" altLang="en-US" smtClean="0"/>
              <a:t>按一下以編輯母片文字樣式</a:t>
            </a:r>
          </a:p>
          <a:p>
            <a:pPr lvl="1"/>
            <a:r>
              <a:rPr kumimoji="1" lang="zh-TW" altLang="en-US" smtClean="0"/>
              <a:t>第二層</a:t>
            </a:r>
          </a:p>
          <a:p>
            <a:pPr lvl="2"/>
            <a:r>
              <a:rPr kumimoji="1" lang="zh-TW" altLang="en-US" smtClean="0"/>
              <a:t>第三層</a:t>
            </a:r>
          </a:p>
          <a:p>
            <a:pPr lvl="3"/>
            <a:r>
              <a:rPr kumimoji="1" lang="zh-TW" altLang="en-US" smtClean="0"/>
              <a:t>第四層</a:t>
            </a:r>
          </a:p>
          <a:p>
            <a:pPr lvl="4"/>
            <a:r>
              <a:rPr kumimoji="1" lang="zh-TW" altLang="en-US" smtClean="0"/>
              <a:t>第五層</a:t>
            </a:r>
            <a:endParaRPr kumimoji="1" lang="zh-TW" altLang="en-US"/>
          </a:p>
        </p:txBody>
      </p:sp>
      <p:sp>
        <p:nvSpPr>
          <p:cNvPr id="4" name="日期版面配置區 3"/>
          <p:cNvSpPr>
            <a:spLocks noGrp="1"/>
          </p:cNvSpPr>
          <p:nvPr>
            <p:ph type="dt" sz="half" idx="10"/>
          </p:nvPr>
        </p:nvSpPr>
        <p:spPr/>
        <p:txBody>
          <a:bodyPr/>
          <a:lstStyle/>
          <a:p>
            <a:fld id="{C6F958E6-1DF8-D34C-957F-F5FB8416DD13}" type="datetimeFigureOut">
              <a:rPr kumimoji="1" lang="zh-TW" altLang="en-US" smtClean="0"/>
              <a:t>2017/12/13</a:t>
            </a:fld>
            <a:endParaRPr kumimoji="1" lang="zh-TW" altLang="en-US"/>
          </a:p>
        </p:txBody>
      </p:sp>
      <p:sp>
        <p:nvSpPr>
          <p:cNvPr id="5" name="頁尾版面配置區 4"/>
          <p:cNvSpPr>
            <a:spLocks noGrp="1"/>
          </p:cNvSpPr>
          <p:nvPr>
            <p:ph type="ftr" sz="quarter" idx="11"/>
          </p:nvPr>
        </p:nvSpPr>
        <p:spPr/>
        <p:txBody>
          <a:bodyPr/>
          <a:lstStyle/>
          <a:p>
            <a:endParaRPr kumimoji="1" lang="zh-TW" altLang="en-US"/>
          </a:p>
        </p:txBody>
      </p:sp>
      <p:sp>
        <p:nvSpPr>
          <p:cNvPr id="6" name="投影片編號版面配置區 5"/>
          <p:cNvSpPr>
            <a:spLocks noGrp="1"/>
          </p:cNvSpPr>
          <p:nvPr>
            <p:ph type="sldNum" sz="quarter" idx="12"/>
          </p:nvPr>
        </p:nvSpPr>
        <p:spPr/>
        <p:txBody>
          <a:bodyPr/>
          <a:lstStyle/>
          <a:p>
            <a:fld id="{D0B58A7E-276F-7A49-AC65-EB1BD28AE5CF}" type="slidenum">
              <a:rPr kumimoji="1" lang="zh-TW" altLang="en-US" smtClean="0"/>
              <a:t>‹#›</a:t>
            </a:fld>
            <a:endParaRPr kumimoji="1" lang="zh-TW" altLang="en-US"/>
          </a:p>
        </p:txBody>
      </p:sp>
    </p:spTree>
    <p:extLst>
      <p:ext uri="{BB962C8B-B14F-4D97-AF65-F5344CB8AC3E}">
        <p14:creationId xmlns:p14="http://schemas.microsoft.com/office/powerpoint/2010/main" val="911708539"/>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TW" altLang="en-US" smtClean="0"/>
              <a:t>按一下以編輯母片標題樣式</a:t>
            </a:r>
            <a:endParaRPr kumimoji="1" lang="zh-TW" altLang="en-US"/>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TW" altLang="en-US" smtClean="0"/>
              <a:t>按一下以編輯母片文字樣式</a:t>
            </a:r>
          </a:p>
          <a:p>
            <a:pPr lvl="1"/>
            <a:r>
              <a:rPr kumimoji="1" lang="zh-TW" altLang="en-US" smtClean="0"/>
              <a:t>第二層</a:t>
            </a:r>
          </a:p>
          <a:p>
            <a:pPr lvl="2"/>
            <a:r>
              <a:rPr kumimoji="1" lang="zh-TW" altLang="en-US" smtClean="0"/>
              <a:t>第三層</a:t>
            </a:r>
          </a:p>
          <a:p>
            <a:pPr lvl="3"/>
            <a:r>
              <a:rPr kumimoji="1" lang="zh-TW" altLang="en-US" smtClean="0"/>
              <a:t>第四層</a:t>
            </a:r>
          </a:p>
          <a:p>
            <a:pPr lvl="4"/>
            <a:r>
              <a:rPr kumimoji="1" lang="zh-TW" altLang="en-US" smtClean="0"/>
              <a:t>第五層</a:t>
            </a:r>
            <a:endParaRPr kumimoji="1" lang="zh-TW" altLang="en-US"/>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F958E6-1DF8-D34C-957F-F5FB8416DD13}" type="datetimeFigureOut">
              <a:rPr kumimoji="1" lang="zh-TW" altLang="en-US" smtClean="0"/>
              <a:t>2017/12/13</a:t>
            </a:fld>
            <a:endParaRPr kumimoji="1"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B58A7E-276F-7A49-AC65-EB1BD28AE5CF}" type="slidenum">
              <a:rPr kumimoji="1" lang="zh-TW" altLang="en-US" smtClean="0"/>
              <a:t>‹#›</a:t>
            </a:fld>
            <a:endParaRPr kumimoji="1" lang="zh-TW" altLang="en-US"/>
          </a:p>
        </p:txBody>
      </p:sp>
    </p:spTree>
    <p:extLst>
      <p:ext uri="{BB962C8B-B14F-4D97-AF65-F5344CB8AC3E}">
        <p14:creationId xmlns:p14="http://schemas.microsoft.com/office/powerpoint/2010/main" val="3666716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 Id="rId3"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 Id="rId3"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normAutofit fontScale="90000"/>
          </a:bodyPr>
          <a:lstStyle/>
          <a:p>
            <a:r>
              <a:rPr lang="en-US" altLang="zh-TW" b="1" dirty="0"/>
              <a:t>Fundamental analysis and technical analysis integrated system for stock </a:t>
            </a:r>
            <a:r>
              <a:rPr lang="en-US" altLang="zh-TW" b="1" dirty="0" smtClean="0"/>
              <a:t>filtration</a:t>
            </a:r>
            <a:endParaRPr kumimoji="1" lang="zh-TW" altLang="en-US" dirty="0"/>
          </a:p>
        </p:txBody>
      </p:sp>
      <p:sp>
        <p:nvSpPr>
          <p:cNvPr id="3" name="副標題 2"/>
          <p:cNvSpPr>
            <a:spLocks noGrp="1"/>
          </p:cNvSpPr>
          <p:nvPr>
            <p:ph type="subTitle" idx="1"/>
          </p:nvPr>
        </p:nvSpPr>
        <p:spPr/>
        <p:txBody>
          <a:bodyPr>
            <a:normAutofit/>
          </a:bodyPr>
          <a:lstStyle/>
          <a:p>
            <a:r>
              <a:rPr lang="fi-FI" altLang="zh-TW" b="1" dirty="0" smtClean="0"/>
              <a:t>Cluster Computing,</a:t>
            </a:r>
            <a:r>
              <a:rPr lang="en-US" altLang="zh-TW" b="1" dirty="0" smtClean="0"/>
              <a:t> March 2017, Volume 20, Issue 1, pp 883–894</a:t>
            </a:r>
            <a:endParaRPr lang="fi-FI" altLang="zh-TW" b="1" dirty="0"/>
          </a:p>
          <a:p>
            <a:r>
              <a:rPr lang="fi-FI" altLang="zh-TW" b="1" dirty="0" err="1" smtClean="0"/>
              <a:t>Narissara</a:t>
            </a:r>
            <a:r>
              <a:rPr lang="fi-FI" altLang="zh-TW" b="1" dirty="0" smtClean="0"/>
              <a:t> </a:t>
            </a:r>
            <a:r>
              <a:rPr lang="fi-FI" altLang="zh-TW" b="1" dirty="0" err="1" smtClean="0"/>
              <a:t>Eiamkanitchat</a:t>
            </a:r>
            <a:r>
              <a:rPr lang="fi-FI" altLang="zh-TW" b="1" dirty="0" smtClean="0"/>
              <a:t>, </a:t>
            </a:r>
            <a:r>
              <a:rPr lang="fi-FI" altLang="zh-TW" b="1" dirty="0" err="1" smtClean="0"/>
              <a:t>Theerasak</a:t>
            </a:r>
            <a:r>
              <a:rPr lang="fi-FI" altLang="zh-TW" b="1" dirty="0" smtClean="0"/>
              <a:t> </a:t>
            </a:r>
            <a:r>
              <a:rPr lang="fi-FI" altLang="zh-TW" b="1" dirty="0" err="1" smtClean="0"/>
              <a:t>Moontuy</a:t>
            </a:r>
            <a:r>
              <a:rPr lang="fi-FI" altLang="zh-TW" b="1" dirty="0" smtClean="0"/>
              <a:t>, </a:t>
            </a:r>
            <a:r>
              <a:rPr lang="fi-FI" altLang="zh-TW" b="1" dirty="0" err="1" smtClean="0"/>
              <a:t>Sakgasit</a:t>
            </a:r>
            <a:r>
              <a:rPr lang="fi-FI" altLang="zh-TW" b="1" dirty="0" smtClean="0"/>
              <a:t> </a:t>
            </a:r>
            <a:r>
              <a:rPr lang="fi-FI" altLang="zh-TW" b="1" dirty="0"/>
              <a:t>Ramingwong1 </a:t>
            </a:r>
            <a:endParaRPr kumimoji="1" lang="en-US" altLang="zh-TW" dirty="0" smtClean="0"/>
          </a:p>
        </p:txBody>
      </p:sp>
    </p:spTree>
    <p:extLst>
      <p:ext uri="{BB962C8B-B14F-4D97-AF65-F5344CB8AC3E}">
        <p14:creationId xmlns:p14="http://schemas.microsoft.com/office/powerpoint/2010/main" val="78959362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smtClean="0"/>
              <a:t>Abstract(1/2)</a:t>
            </a:r>
            <a:endParaRPr kumimoji="1" lang="zh-TW" altLang="en-US" dirty="0"/>
          </a:p>
        </p:txBody>
      </p:sp>
      <p:sp>
        <p:nvSpPr>
          <p:cNvPr id="3" name="內容版面配置區 2"/>
          <p:cNvSpPr>
            <a:spLocks noGrp="1"/>
          </p:cNvSpPr>
          <p:nvPr>
            <p:ph idx="1"/>
          </p:nvPr>
        </p:nvSpPr>
        <p:spPr/>
        <p:txBody>
          <a:bodyPr>
            <a:normAutofit fontScale="92500" lnSpcReduction="10000"/>
          </a:bodyPr>
          <a:lstStyle/>
          <a:p>
            <a:pPr marL="0" indent="0">
              <a:buNone/>
            </a:pPr>
            <a:r>
              <a:rPr lang="en-US" altLang="zh-TW" dirty="0"/>
              <a:t>Fundamentals and technical investigation is a technique which enhances decision making for stock investors. The fundamental analysis includes looking at any information, other than the trading patterns of the stock itself, which can affect the cost and the perceived value of a stock. Technical analysis is an exchanging apparatus utilized to assess securities and endeavor to forecast their future development by breaking down insights accumulated from exchanging action, such as price movement and volume. This system utilizes data mining techniques to analyze various stock information and the factors to create a logical decision model. This helps new and inexperienced investors to make less errors as well as make the stock market more approachable to the general community. This research focuses on a high performance stock selection using the fundamental analysis of individual stocks, which is reflected in the financial statements.</a:t>
            </a:r>
            <a:endParaRPr kumimoji="1" lang="zh-TW" altLang="en-US" dirty="0"/>
          </a:p>
        </p:txBody>
      </p:sp>
    </p:spTree>
    <p:extLst>
      <p:ext uri="{BB962C8B-B14F-4D97-AF65-F5344CB8AC3E}">
        <p14:creationId xmlns:p14="http://schemas.microsoft.com/office/powerpoint/2010/main" val="32007457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smtClean="0"/>
              <a:t>Abstract(2/2)</a:t>
            </a:r>
            <a:endParaRPr kumimoji="1" lang="zh-TW" altLang="en-US" dirty="0"/>
          </a:p>
        </p:txBody>
      </p:sp>
      <p:sp>
        <p:nvSpPr>
          <p:cNvPr id="3" name="內容版面配置區 2"/>
          <p:cNvSpPr>
            <a:spLocks noGrp="1"/>
          </p:cNvSpPr>
          <p:nvPr>
            <p:ph idx="1"/>
          </p:nvPr>
        </p:nvSpPr>
        <p:spPr/>
        <p:txBody>
          <a:bodyPr>
            <a:normAutofit fontScale="92500" lnSpcReduction="20000"/>
          </a:bodyPr>
          <a:lstStyle/>
          <a:p>
            <a:pPr marL="0" indent="0">
              <a:buNone/>
            </a:pPr>
            <a:r>
              <a:rPr lang="en-US" altLang="zh-TW" dirty="0"/>
              <a:t>Ten criteria calculated from stock financial statement reports are proposed for the analysis. The 10  years of historical fundamental information on organizations recorded in Thailand stock exchange were clustered into three groups and used the fundamental criteria to classify the interesting return stocks selection. The multilayer perceptron neural network is used in the training process to verify the clustering results. For the technical analysis, experimental results reveal that the exponential moving average technique is the most favorable and thus being selected to apply in our system. To affirm the productivity of the suggested stocks, an experiment using information from the system’s decision model based on the Stock Exchange of Thailand data in the year 2015 is conducted. After the activities from 5000 simulated portfolios, the average returns of the ports are positive. In fact, the ports gain almost three times higher than the average market yield. This indicates the efficiency of the system’s stock filtering and decision making capabilities.</a:t>
            </a:r>
            <a:endParaRPr kumimoji="1" lang="zh-TW" altLang="en-US" dirty="0"/>
          </a:p>
        </p:txBody>
      </p:sp>
    </p:spTree>
    <p:extLst>
      <p:ext uri="{BB962C8B-B14F-4D97-AF65-F5344CB8AC3E}">
        <p14:creationId xmlns:p14="http://schemas.microsoft.com/office/powerpoint/2010/main" val="99682719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內容版面配置區 3"/>
          <p:cNvPicPr>
            <a:picLocks noGrp="1" noChangeAspect="1"/>
          </p:cNvPicPr>
          <p:nvPr>
            <p:ph idx="1"/>
          </p:nvPr>
        </p:nvPicPr>
        <p:blipFill>
          <a:blip r:embed="rId2"/>
          <a:stretch>
            <a:fillRect/>
          </a:stretch>
        </p:blipFill>
        <p:spPr>
          <a:xfrm>
            <a:off x="3277676" y="183091"/>
            <a:ext cx="5591748" cy="6505575"/>
          </a:xfrm>
          <a:prstGeom prst="rect">
            <a:avLst/>
          </a:prstGeom>
        </p:spPr>
      </p:pic>
    </p:spTree>
    <p:extLst>
      <p:ext uri="{BB962C8B-B14F-4D97-AF65-F5344CB8AC3E}">
        <p14:creationId xmlns:p14="http://schemas.microsoft.com/office/powerpoint/2010/main" val="12434844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b="1" dirty="0"/>
              <a:t>Fundamental analysis </a:t>
            </a:r>
            <a:endParaRPr lang="en-US" altLang="zh-TW" dirty="0"/>
          </a:p>
        </p:txBody>
      </p:sp>
      <p:pic>
        <p:nvPicPr>
          <p:cNvPr id="4" name="內容版面配置區 3"/>
          <p:cNvPicPr>
            <a:picLocks noGrp="1" noChangeAspect="1"/>
          </p:cNvPicPr>
          <p:nvPr>
            <p:ph idx="1"/>
          </p:nvPr>
        </p:nvPicPr>
        <p:blipFill>
          <a:blip r:embed="rId3"/>
          <a:stretch>
            <a:fillRect/>
          </a:stretch>
        </p:blipFill>
        <p:spPr>
          <a:xfrm>
            <a:off x="3035102" y="1945217"/>
            <a:ext cx="6121796" cy="4351338"/>
          </a:xfrm>
          <a:prstGeom prst="rect">
            <a:avLst/>
          </a:prstGeom>
        </p:spPr>
      </p:pic>
    </p:spTree>
    <p:extLst>
      <p:ext uri="{BB962C8B-B14F-4D97-AF65-F5344CB8AC3E}">
        <p14:creationId xmlns:p14="http://schemas.microsoft.com/office/powerpoint/2010/main" val="21402751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內容版面配置區 3"/>
          <p:cNvPicPr>
            <a:picLocks noGrp="1" noChangeAspect="1"/>
          </p:cNvPicPr>
          <p:nvPr>
            <p:ph idx="1"/>
          </p:nvPr>
        </p:nvPicPr>
        <p:blipFill>
          <a:blip r:embed="rId3"/>
          <a:stretch>
            <a:fillRect/>
          </a:stretch>
        </p:blipFill>
        <p:spPr>
          <a:xfrm>
            <a:off x="2930081" y="1690688"/>
            <a:ext cx="1473200" cy="787400"/>
          </a:xfrm>
          <a:prstGeom prst="rect">
            <a:avLst/>
          </a:prstGeom>
        </p:spPr>
      </p:pic>
      <p:sp>
        <p:nvSpPr>
          <p:cNvPr id="5" name="標題 1"/>
          <p:cNvSpPr>
            <a:spLocks noGrp="1"/>
          </p:cNvSpPr>
          <p:nvPr>
            <p:ph type="title"/>
          </p:nvPr>
        </p:nvSpPr>
        <p:spPr/>
        <p:txBody>
          <a:bodyPr/>
          <a:lstStyle/>
          <a:p>
            <a:pPr algn="ctr"/>
            <a:r>
              <a:rPr lang="en-US" altLang="zh-TW" dirty="0"/>
              <a:t>10 financial ratio values </a:t>
            </a:r>
            <a:r>
              <a:rPr lang="en-US" altLang="zh-TW" dirty="0" smtClean="0"/>
              <a:t>(1/3)</a:t>
            </a:r>
            <a:endParaRPr lang="en-US" altLang="zh-TW" dirty="0"/>
          </a:p>
        </p:txBody>
      </p:sp>
      <p:pic>
        <p:nvPicPr>
          <p:cNvPr id="6" name="圖片 5"/>
          <p:cNvPicPr>
            <a:picLocks noChangeAspect="1"/>
          </p:cNvPicPr>
          <p:nvPr/>
        </p:nvPicPr>
        <p:blipFill>
          <a:blip r:embed="rId4"/>
          <a:stretch>
            <a:fillRect/>
          </a:stretch>
        </p:blipFill>
        <p:spPr>
          <a:xfrm>
            <a:off x="2930081" y="2689175"/>
            <a:ext cx="2692400" cy="889000"/>
          </a:xfrm>
          <a:prstGeom prst="rect">
            <a:avLst/>
          </a:prstGeom>
        </p:spPr>
      </p:pic>
      <p:pic>
        <p:nvPicPr>
          <p:cNvPr id="11" name="圖片 10"/>
          <p:cNvPicPr>
            <a:picLocks noChangeAspect="1"/>
          </p:cNvPicPr>
          <p:nvPr/>
        </p:nvPicPr>
        <p:blipFill>
          <a:blip r:embed="rId5"/>
          <a:stretch>
            <a:fillRect/>
          </a:stretch>
        </p:blipFill>
        <p:spPr>
          <a:xfrm>
            <a:off x="2834951" y="3948114"/>
            <a:ext cx="1803400" cy="787400"/>
          </a:xfrm>
          <a:prstGeom prst="rect">
            <a:avLst/>
          </a:prstGeom>
        </p:spPr>
      </p:pic>
      <mc:AlternateContent xmlns:mc="http://schemas.openxmlformats.org/markup-compatibility/2006" xmlns:a14="http://schemas.microsoft.com/office/drawing/2010/main">
        <mc:Choice Requires="a14">
          <p:sp>
            <p:nvSpPr>
              <p:cNvPr id="13" name="文字方塊 12"/>
              <p:cNvSpPr txBox="1"/>
              <p:nvPr/>
            </p:nvSpPr>
            <p:spPr>
              <a:xfrm>
                <a:off x="3025211" y="5512259"/>
                <a:ext cx="1378070" cy="5783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zh-TW" sz="2000" b="0" i="1" smtClean="0">
                          <a:latin typeface="Cambria Math" charset="0"/>
                        </a:rPr>
                        <m:t>𝐷𝑃𝑅</m:t>
                      </m:r>
                      <m:r>
                        <a:rPr kumimoji="1" lang="en-US" altLang="zh-TW" sz="2000" b="0" i="1" smtClean="0">
                          <a:latin typeface="Cambria Math" charset="0"/>
                        </a:rPr>
                        <m:t>=</m:t>
                      </m:r>
                      <m:f>
                        <m:fPr>
                          <m:ctrlPr>
                            <a:rPr kumimoji="1" lang="mr-IN" altLang="zh-TW" sz="2000" b="0" i="1" smtClean="0">
                              <a:latin typeface="Cambria Math" charset="0"/>
                            </a:rPr>
                          </m:ctrlPr>
                        </m:fPr>
                        <m:num>
                          <m:r>
                            <a:rPr kumimoji="1" lang="en-US" altLang="zh-TW" sz="2000" b="0" i="1" smtClean="0">
                              <a:latin typeface="Cambria Math" charset="0"/>
                            </a:rPr>
                            <m:t>𝐷𝑃𝑆</m:t>
                          </m:r>
                        </m:num>
                        <m:den>
                          <m:r>
                            <a:rPr kumimoji="1" lang="en-US" altLang="zh-TW" sz="2000" b="0" i="1" smtClean="0">
                              <a:latin typeface="Cambria Math" charset="0"/>
                            </a:rPr>
                            <m:t>𝐸𝑃𝑆</m:t>
                          </m:r>
                        </m:den>
                      </m:f>
                    </m:oMath>
                  </m:oMathPara>
                </a14:m>
                <a:endParaRPr kumimoji="1" lang="zh-TW" altLang="en-US" sz="2000" dirty="0"/>
              </a:p>
            </p:txBody>
          </p:sp>
        </mc:Choice>
        <mc:Fallback xmlns="">
          <p:sp>
            <p:nvSpPr>
              <p:cNvPr id="13" name="文字方塊 12"/>
              <p:cNvSpPr txBox="1">
                <a:spLocks noRot="1" noChangeAspect="1" noMove="1" noResize="1" noEditPoints="1" noAdjustHandles="1" noChangeArrowheads="1" noChangeShapeType="1" noTextEdit="1"/>
              </p:cNvSpPr>
              <p:nvPr/>
            </p:nvSpPr>
            <p:spPr>
              <a:xfrm>
                <a:off x="3025211" y="5512259"/>
                <a:ext cx="1378070" cy="578300"/>
              </a:xfrm>
              <a:prstGeom prst="rect">
                <a:avLst/>
              </a:prstGeom>
              <a:blipFill rotWithShape="0">
                <a:blip r:embed="rId6"/>
                <a:stretch>
                  <a:fillRect/>
                </a:stretch>
              </a:blipFill>
            </p:spPr>
            <p:txBody>
              <a:bodyPr/>
              <a:lstStyle/>
              <a:p>
                <a:r>
                  <a:rPr lang="zh-TW" altLang="en-US">
                    <a:noFill/>
                  </a:rPr>
                  <a:t> </a:t>
                </a:r>
              </a:p>
            </p:txBody>
          </p:sp>
        </mc:Fallback>
      </mc:AlternateContent>
      <p:sp>
        <p:nvSpPr>
          <p:cNvPr id="17" name="矩形 16"/>
          <p:cNvSpPr/>
          <p:nvPr/>
        </p:nvSpPr>
        <p:spPr>
          <a:xfrm>
            <a:off x="6226629" y="1810710"/>
            <a:ext cx="6096000" cy="646331"/>
          </a:xfrm>
          <a:prstGeom prst="rect">
            <a:avLst/>
          </a:prstGeom>
        </p:spPr>
        <p:txBody>
          <a:bodyPr>
            <a:spAutoFit/>
          </a:bodyPr>
          <a:lstStyle/>
          <a:p>
            <a:r>
              <a:rPr lang="en-US" altLang="zh-TW" i="1" dirty="0" err="1">
                <a:solidFill>
                  <a:srgbClr val="111111"/>
                </a:solidFill>
                <a:latin typeface="LfjpmwTimes" charset="0"/>
              </a:rPr>
              <a:t>M</a:t>
            </a:r>
            <a:r>
              <a:rPr lang="en-US" altLang="zh-TW" sz="1400" baseline="-25000" dirty="0" err="1">
                <a:solidFill>
                  <a:srgbClr val="111111"/>
                </a:solidFill>
                <a:latin typeface="WqclydMTMI" charset="0"/>
              </a:rPr>
              <a:t>v</a:t>
            </a:r>
            <a:r>
              <a:rPr lang="en-US" altLang="zh-TW" sz="1400" dirty="0">
                <a:solidFill>
                  <a:srgbClr val="111111"/>
                </a:solidFill>
                <a:latin typeface="WqclydMTMI" charset="0"/>
              </a:rPr>
              <a:t> </a:t>
            </a:r>
            <a:r>
              <a:rPr lang="en-US" altLang="zh-TW" dirty="0">
                <a:solidFill>
                  <a:srgbClr val="111111"/>
                </a:solidFill>
                <a:latin typeface="BdlbynTimes" charset="0"/>
              </a:rPr>
              <a:t>is the market value per share </a:t>
            </a:r>
          </a:p>
          <a:p>
            <a:pPr>
              <a:defRPr/>
            </a:pPr>
            <a:r>
              <a:rPr lang="en-US" altLang="zh-TW" i="1" dirty="0"/>
              <a:t>E P S </a:t>
            </a:r>
            <a:r>
              <a:rPr lang="en-US" altLang="zh-TW" dirty="0"/>
              <a:t>is the earnings per share </a:t>
            </a:r>
          </a:p>
        </p:txBody>
      </p:sp>
      <p:sp>
        <p:nvSpPr>
          <p:cNvPr id="18" name="矩形 17"/>
          <p:cNvSpPr/>
          <p:nvPr/>
        </p:nvSpPr>
        <p:spPr>
          <a:xfrm>
            <a:off x="6226629" y="2672009"/>
            <a:ext cx="6096000" cy="923330"/>
          </a:xfrm>
          <a:prstGeom prst="rect">
            <a:avLst/>
          </a:prstGeom>
        </p:spPr>
        <p:txBody>
          <a:bodyPr>
            <a:spAutoFit/>
          </a:bodyPr>
          <a:lstStyle/>
          <a:p>
            <a:pPr>
              <a:defRPr/>
            </a:pPr>
            <a:r>
              <a:rPr lang="en-US" altLang="zh-TW" i="1" dirty="0"/>
              <a:t>Tot </a:t>
            </a:r>
            <a:r>
              <a:rPr lang="en-US" altLang="zh-TW" i="1" baseline="-25000" dirty="0"/>
              <a:t>E</a:t>
            </a:r>
            <a:r>
              <a:rPr lang="en-US" altLang="zh-TW" i="1" dirty="0"/>
              <a:t> </a:t>
            </a:r>
            <a:r>
              <a:rPr lang="en-US" altLang="zh-TW" dirty="0"/>
              <a:t>is the total shareholder equity </a:t>
            </a:r>
          </a:p>
          <a:p>
            <a:pPr>
              <a:defRPr/>
            </a:pPr>
            <a:r>
              <a:rPr lang="en-US" altLang="zh-TW" i="1" dirty="0"/>
              <a:t>P</a:t>
            </a:r>
            <a:r>
              <a:rPr lang="en-US" altLang="zh-TW" i="1" baseline="-25000" dirty="0"/>
              <a:t>E</a:t>
            </a:r>
            <a:r>
              <a:rPr lang="en-US" altLang="zh-TW" i="1" dirty="0"/>
              <a:t> is the pre</a:t>
            </a:r>
            <a:r>
              <a:rPr lang="en-US" altLang="zh-TW" dirty="0"/>
              <a:t>ferred equity</a:t>
            </a:r>
          </a:p>
          <a:p>
            <a:pPr>
              <a:defRPr/>
            </a:pPr>
            <a:r>
              <a:rPr lang="en-US" altLang="zh-TW" i="1" dirty="0"/>
              <a:t>Tot </a:t>
            </a:r>
            <a:r>
              <a:rPr lang="en-US" altLang="zh-TW" i="1" baseline="-25000" dirty="0"/>
              <a:t>s</a:t>
            </a:r>
            <a:r>
              <a:rPr lang="en-US" altLang="zh-TW" i="1" dirty="0"/>
              <a:t> </a:t>
            </a:r>
            <a:r>
              <a:rPr lang="en-US" altLang="zh-TW" dirty="0"/>
              <a:t>is the total outstanding shares</a:t>
            </a:r>
          </a:p>
        </p:txBody>
      </p:sp>
      <p:sp>
        <p:nvSpPr>
          <p:cNvPr id="20" name="矩形 19"/>
          <p:cNvSpPr/>
          <p:nvPr/>
        </p:nvSpPr>
        <p:spPr>
          <a:xfrm>
            <a:off x="5425751" y="3810307"/>
            <a:ext cx="6096000" cy="1200329"/>
          </a:xfrm>
          <a:prstGeom prst="rect">
            <a:avLst/>
          </a:prstGeom>
        </p:spPr>
        <p:txBody>
          <a:bodyPr>
            <a:spAutoFit/>
          </a:bodyPr>
          <a:lstStyle/>
          <a:p>
            <a:r>
              <a:rPr lang="en-US" altLang="zh-TW" i="1" dirty="0" err="1"/>
              <a:t>Net</a:t>
            </a:r>
            <a:r>
              <a:rPr lang="en-US" altLang="zh-TW" i="1" baseline="-25000" dirty="0" err="1"/>
              <a:t>in</a:t>
            </a:r>
            <a:r>
              <a:rPr lang="en-US" altLang="zh-TW" i="1" dirty="0"/>
              <a:t> </a:t>
            </a:r>
            <a:r>
              <a:rPr lang="en-US" altLang="zh-TW" dirty="0"/>
              <a:t>is the net income for the full fiscal year, before paying dividends to the common stock holder but after dividends to the preferred stock</a:t>
            </a:r>
          </a:p>
          <a:p>
            <a:pPr>
              <a:defRPr/>
            </a:pPr>
            <a:r>
              <a:rPr lang="en-US" altLang="zh-TW" i="1" dirty="0"/>
              <a:t>S</a:t>
            </a:r>
            <a:r>
              <a:rPr lang="en-US" altLang="zh-TW" i="1" baseline="-25000" dirty="0"/>
              <a:t>E</a:t>
            </a:r>
            <a:r>
              <a:rPr lang="en-US" altLang="zh-TW" i="1" dirty="0"/>
              <a:t> </a:t>
            </a:r>
            <a:r>
              <a:rPr lang="en-US" altLang="zh-TW" dirty="0"/>
              <a:t>is the equity of shareholders, not include preferred shares</a:t>
            </a:r>
          </a:p>
        </p:txBody>
      </p:sp>
      <p:sp>
        <p:nvSpPr>
          <p:cNvPr id="21" name="矩形 20"/>
          <p:cNvSpPr/>
          <p:nvPr/>
        </p:nvSpPr>
        <p:spPr>
          <a:xfrm>
            <a:off x="5425751" y="5512259"/>
            <a:ext cx="6096000" cy="646331"/>
          </a:xfrm>
          <a:prstGeom prst="rect">
            <a:avLst/>
          </a:prstGeom>
        </p:spPr>
        <p:txBody>
          <a:bodyPr>
            <a:spAutoFit/>
          </a:bodyPr>
          <a:lstStyle/>
          <a:p>
            <a:pPr>
              <a:defRPr/>
            </a:pPr>
            <a:r>
              <a:rPr lang="en-US" altLang="zh-TW" i="1" dirty="0"/>
              <a:t>DPS </a:t>
            </a:r>
            <a:r>
              <a:rPr lang="en-US" altLang="zh-TW" dirty="0"/>
              <a:t>is the annual dividends per common share </a:t>
            </a:r>
          </a:p>
          <a:p>
            <a:pPr>
              <a:defRPr/>
            </a:pPr>
            <a:r>
              <a:rPr lang="en-US" altLang="zh-TW" i="1" dirty="0"/>
              <a:t>EPS </a:t>
            </a:r>
            <a:r>
              <a:rPr lang="en-US" altLang="zh-TW" dirty="0"/>
              <a:t>is the earnings per share</a:t>
            </a:r>
          </a:p>
        </p:txBody>
      </p:sp>
      <p:sp>
        <p:nvSpPr>
          <p:cNvPr id="22" name="矩形 21"/>
          <p:cNvSpPr/>
          <p:nvPr/>
        </p:nvSpPr>
        <p:spPr>
          <a:xfrm>
            <a:off x="425673" y="2949008"/>
            <a:ext cx="2202334" cy="369332"/>
          </a:xfrm>
          <a:prstGeom prst="rect">
            <a:avLst/>
          </a:prstGeom>
        </p:spPr>
        <p:txBody>
          <a:bodyPr wrap="none">
            <a:spAutoFit/>
          </a:bodyPr>
          <a:lstStyle/>
          <a:p>
            <a:r>
              <a:rPr lang="en-US" altLang="zh-TW" i="1" dirty="0">
                <a:solidFill>
                  <a:srgbClr val="111111"/>
                </a:solidFill>
                <a:latin typeface="LfjpmwTimes" charset="0"/>
              </a:rPr>
              <a:t>Book value per share </a:t>
            </a:r>
            <a:endParaRPr lang="en-US" altLang="zh-TW" dirty="0"/>
          </a:p>
        </p:txBody>
      </p:sp>
      <p:sp>
        <p:nvSpPr>
          <p:cNvPr id="23" name="矩形 22"/>
          <p:cNvSpPr/>
          <p:nvPr/>
        </p:nvSpPr>
        <p:spPr>
          <a:xfrm>
            <a:off x="425673" y="1899722"/>
            <a:ext cx="2351926" cy="369332"/>
          </a:xfrm>
          <a:prstGeom prst="rect">
            <a:avLst/>
          </a:prstGeom>
        </p:spPr>
        <p:txBody>
          <a:bodyPr wrap="none">
            <a:spAutoFit/>
          </a:bodyPr>
          <a:lstStyle/>
          <a:p>
            <a:r>
              <a:rPr lang="en-US" altLang="zh-TW" i="1">
                <a:solidFill>
                  <a:srgbClr val="111111"/>
                </a:solidFill>
                <a:latin typeface="LfjpmwTimes" charset="0"/>
              </a:rPr>
              <a:t>Price to earnings ratio </a:t>
            </a:r>
            <a:endParaRPr lang="en-US" altLang="zh-TW"/>
          </a:p>
        </p:txBody>
      </p:sp>
      <p:sp>
        <p:nvSpPr>
          <p:cNvPr id="24" name="矩形 23"/>
          <p:cNvSpPr/>
          <p:nvPr/>
        </p:nvSpPr>
        <p:spPr>
          <a:xfrm>
            <a:off x="425673" y="4157148"/>
            <a:ext cx="1781257" cy="369332"/>
          </a:xfrm>
          <a:prstGeom prst="rect">
            <a:avLst/>
          </a:prstGeom>
        </p:spPr>
        <p:txBody>
          <a:bodyPr wrap="none">
            <a:spAutoFit/>
          </a:bodyPr>
          <a:lstStyle/>
          <a:p>
            <a:r>
              <a:rPr lang="en-US" altLang="zh-TW" i="1">
                <a:solidFill>
                  <a:srgbClr val="111111"/>
                </a:solidFill>
                <a:latin typeface="LfjpmwTimes" charset="0"/>
              </a:rPr>
              <a:t>Return on equity </a:t>
            </a:r>
            <a:endParaRPr lang="en-US" altLang="zh-TW"/>
          </a:p>
        </p:txBody>
      </p:sp>
      <p:sp>
        <p:nvSpPr>
          <p:cNvPr id="25" name="矩形 24"/>
          <p:cNvSpPr/>
          <p:nvPr/>
        </p:nvSpPr>
        <p:spPr>
          <a:xfrm>
            <a:off x="425673" y="5616743"/>
            <a:ext cx="2281394" cy="369332"/>
          </a:xfrm>
          <a:prstGeom prst="rect">
            <a:avLst/>
          </a:prstGeom>
        </p:spPr>
        <p:txBody>
          <a:bodyPr wrap="none">
            <a:spAutoFit/>
          </a:bodyPr>
          <a:lstStyle/>
          <a:p>
            <a:r>
              <a:rPr lang="en-US" altLang="zh-TW" i="1">
                <a:solidFill>
                  <a:srgbClr val="111111"/>
                </a:solidFill>
                <a:latin typeface="LfjpmwTimes" charset="0"/>
              </a:rPr>
              <a:t>Dividend payout ratio </a:t>
            </a:r>
            <a:endParaRPr lang="en-US" altLang="zh-TW"/>
          </a:p>
        </p:txBody>
      </p:sp>
    </p:spTree>
    <p:extLst>
      <p:ext uri="{BB962C8B-B14F-4D97-AF65-F5344CB8AC3E}">
        <p14:creationId xmlns:p14="http://schemas.microsoft.com/office/powerpoint/2010/main" val="21383242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內容版面配置區 3"/>
          <p:cNvPicPr>
            <a:picLocks noGrp="1" noChangeAspect="1"/>
          </p:cNvPicPr>
          <p:nvPr>
            <p:ph idx="1"/>
          </p:nvPr>
        </p:nvPicPr>
        <p:blipFill>
          <a:blip r:embed="rId3"/>
          <a:stretch>
            <a:fillRect/>
          </a:stretch>
        </p:blipFill>
        <p:spPr>
          <a:xfrm>
            <a:off x="2563975" y="2908414"/>
            <a:ext cx="2463800" cy="863600"/>
          </a:xfrm>
          <a:prstGeom prst="rect">
            <a:avLst/>
          </a:prstGeom>
        </p:spPr>
      </p:pic>
      <p:pic>
        <p:nvPicPr>
          <p:cNvPr id="5" name="圖片 4"/>
          <p:cNvPicPr>
            <a:picLocks noChangeAspect="1"/>
          </p:cNvPicPr>
          <p:nvPr/>
        </p:nvPicPr>
        <p:blipFill>
          <a:blip r:embed="rId4"/>
          <a:stretch>
            <a:fillRect/>
          </a:stretch>
        </p:blipFill>
        <p:spPr>
          <a:xfrm>
            <a:off x="2563975" y="1874101"/>
            <a:ext cx="1587500" cy="850900"/>
          </a:xfrm>
          <a:prstGeom prst="rect">
            <a:avLst/>
          </a:prstGeom>
        </p:spPr>
      </p:pic>
      <p:pic>
        <p:nvPicPr>
          <p:cNvPr id="6" name="圖片 5"/>
          <p:cNvPicPr>
            <a:picLocks noChangeAspect="1"/>
          </p:cNvPicPr>
          <p:nvPr/>
        </p:nvPicPr>
        <p:blipFill>
          <a:blip r:embed="rId5"/>
          <a:stretch>
            <a:fillRect/>
          </a:stretch>
        </p:blipFill>
        <p:spPr>
          <a:xfrm>
            <a:off x="2563975" y="4128274"/>
            <a:ext cx="6299200" cy="495300"/>
          </a:xfrm>
          <a:prstGeom prst="rect">
            <a:avLst/>
          </a:prstGeom>
        </p:spPr>
      </p:pic>
      <p:sp>
        <p:nvSpPr>
          <p:cNvPr id="8" name="矩形 7"/>
          <p:cNvSpPr/>
          <p:nvPr/>
        </p:nvSpPr>
        <p:spPr>
          <a:xfrm>
            <a:off x="5257800" y="1976385"/>
            <a:ext cx="6096000" cy="646331"/>
          </a:xfrm>
          <a:prstGeom prst="rect">
            <a:avLst/>
          </a:prstGeom>
        </p:spPr>
        <p:txBody>
          <a:bodyPr>
            <a:spAutoFit/>
          </a:bodyPr>
          <a:lstStyle/>
          <a:p>
            <a:pPr>
              <a:defRPr/>
            </a:pPr>
            <a:r>
              <a:rPr lang="en-US" altLang="zh-TW" i="1"/>
              <a:t>DPS </a:t>
            </a:r>
            <a:r>
              <a:rPr lang="en-US" altLang="zh-TW"/>
              <a:t>is the annual dividends per common share </a:t>
            </a:r>
          </a:p>
          <a:p>
            <a:pPr>
              <a:defRPr/>
            </a:pPr>
            <a:r>
              <a:rPr lang="en-US" altLang="zh-TW" i="1" dirty="0"/>
              <a:t>PPS </a:t>
            </a:r>
            <a:r>
              <a:rPr lang="en-US" altLang="zh-TW" dirty="0"/>
              <a:t>is the price per share </a:t>
            </a:r>
          </a:p>
        </p:txBody>
      </p:sp>
      <p:sp>
        <p:nvSpPr>
          <p:cNvPr id="9" name="標題 1"/>
          <p:cNvSpPr>
            <a:spLocks noGrp="1"/>
          </p:cNvSpPr>
          <p:nvPr>
            <p:ph type="title"/>
          </p:nvPr>
        </p:nvSpPr>
        <p:spPr/>
        <p:txBody>
          <a:bodyPr/>
          <a:lstStyle/>
          <a:p>
            <a:pPr algn="ctr"/>
            <a:r>
              <a:rPr lang="en-US" altLang="zh-TW" dirty="0"/>
              <a:t>10 financial ratio values </a:t>
            </a:r>
            <a:r>
              <a:rPr lang="en-US" altLang="zh-TW" dirty="0" smtClean="0"/>
              <a:t>(2/3)</a:t>
            </a:r>
            <a:endParaRPr lang="en-US" altLang="zh-TW" dirty="0"/>
          </a:p>
        </p:txBody>
      </p:sp>
      <p:sp>
        <p:nvSpPr>
          <p:cNvPr id="10" name="矩形 9"/>
          <p:cNvSpPr/>
          <p:nvPr/>
        </p:nvSpPr>
        <p:spPr>
          <a:xfrm>
            <a:off x="415503" y="2114884"/>
            <a:ext cx="1595309" cy="369332"/>
          </a:xfrm>
          <a:prstGeom prst="rect">
            <a:avLst/>
          </a:prstGeom>
        </p:spPr>
        <p:txBody>
          <a:bodyPr wrap="none">
            <a:spAutoFit/>
          </a:bodyPr>
          <a:lstStyle/>
          <a:p>
            <a:r>
              <a:rPr lang="en-US" altLang="zh-TW" i="1" dirty="0">
                <a:solidFill>
                  <a:srgbClr val="111111"/>
                </a:solidFill>
                <a:latin typeface="LfjpmwTimes" charset="0"/>
              </a:rPr>
              <a:t>Dividend yield </a:t>
            </a:r>
            <a:endParaRPr lang="en-US" altLang="zh-TW" dirty="0"/>
          </a:p>
        </p:txBody>
      </p:sp>
      <p:sp>
        <p:nvSpPr>
          <p:cNvPr id="11" name="矩形 10"/>
          <p:cNvSpPr/>
          <p:nvPr/>
        </p:nvSpPr>
        <p:spPr>
          <a:xfrm>
            <a:off x="262451" y="3155548"/>
            <a:ext cx="1992853" cy="369332"/>
          </a:xfrm>
          <a:prstGeom prst="rect">
            <a:avLst/>
          </a:prstGeom>
        </p:spPr>
        <p:txBody>
          <a:bodyPr wrap="none">
            <a:spAutoFit/>
          </a:bodyPr>
          <a:lstStyle/>
          <a:p>
            <a:r>
              <a:rPr lang="en-US" altLang="zh-TW" i="1" dirty="0">
                <a:solidFill>
                  <a:srgbClr val="111111"/>
                </a:solidFill>
                <a:latin typeface="LfjpmwTimes" charset="0"/>
              </a:rPr>
              <a:t>Price to book ratio </a:t>
            </a:r>
            <a:endParaRPr lang="en-US" altLang="zh-TW" dirty="0"/>
          </a:p>
        </p:txBody>
      </p:sp>
      <p:sp>
        <p:nvSpPr>
          <p:cNvPr id="12" name="矩形 11"/>
          <p:cNvSpPr/>
          <p:nvPr/>
        </p:nvSpPr>
        <p:spPr>
          <a:xfrm>
            <a:off x="5257800" y="2806129"/>
            <a:ext cx="6096000" cy="923330"/>
          </a:xfrm>
          <a:prstGeom prst="rect">
            <a:avLst/>
          </a:prstGeom>
        </p:spPr>
        <p:txBody>
          <a:bodyPr>
            <a:spAutoFit/>
          </a:bodyPr>
          <a:lstStyle/>
          <a:p>
            <a:r>
              <a:rPr lang="en-US" altLang="zh-TW" i="1" dirty="0"/>
              <a:t>P </a:t>
            </a:r>
            <a:r>
              <a:rPr lang="en-US" altLang="zh-TW" dirty="0"/>
              <a:t>is the stock price</a:t>
            </a:r>
            <a:br>
              <a:rPr lang="en-US" altLang="zh-TW" dirty="0"/>
            </a:br>
            <a:r>
              <a:rPr lang="en-US" altLang="zh-TW" i="1" dirty="0" err="1"/>
              <a:t>Tot</a:t>
            </a:r>
            <a:r>
              <a:rPr lang="en-US" altLang="zh-TW" i="1" baseline="-25000" dirty="0" err="1"/>
              <a:t>a</a:t>
            </a:r>
            <a:r>
              <a:rPr lang="en-US" altLang="zh-TW" i="1" dirty="0"/>
              <a:t> </a:t>
            </a:r>
            <a:r>
              <a:rPr lang="en-US" altLang="zh-TW" dirty="0"/>
              <a:t>is the total asset </a:t>
            </a:r>
          </a:p>
          <a:p>
            <a:r>
              <a:rPr lang="en-US" altLang="zh-TW" i="1" dirty="0" err="1"/>
              <a:t>Int</a:t>
            </a:r>
            <a:r>
              <a:rPr lang="en-US" altLang="zh-TW" i="1" baseline="-25000" dirty="0" err="1"/>
              <a:t>a</a:t>
            </a:r>
            <a:r>
              <a:rPr lang="en-US" altLang="zh-TW" dirty="0"/>
              <a:t> intangible assets and </a:t>
            </a:r>
            <a:r>
              <a:rPr lang="en-US" altLang="zh-TW" dirty="0" smtClean="0"/>
              <a:t>liabilities</a:t>
            </a:r>
            <a:endParaRPr lang="en-US" altLang="zh-TW" dirty="0"/>
          </a:p>
        </p:txBody>
      </p:sp>
      <p:sp>
        <p:nvSpPr>
          <p:cNvPr id="13" name="矩形 12"/>
          <p:cNvSpPr/>
          <p:nvPr/>
        </p:nvSpPr>
        <p:spPr>
          <a:xfrm>
            <a:off x="234716" y="4191258"/>
            <a:ext cx="1956882" cy="369332"/>
          </a:xfrm>
          <a:prstGeom prst="rect">
            <a:avLst/>
          </a:prstGeom>
        </p:spPr>
        <p:txBody>
          <a:bodyPr wrap="none">
            <a:spAutoFit/>
          </a:bodyPr>
          <a:lstStyle/>
          <a:p>
            <a:r>
              <a:rPr lang="en-US" altLang="zh-TW" i="1" dirty="0">
                <a:solidFill>
                  <a:srgbClr val="111111"/>
                </a:solidFill>
                <a:latin typeface="LfjpmwTimes" charset="0"/>
              </a:rPr>
              <a:t>Total current asset </a:t>
            </a:r>
            <a:endParaRPr lang="en-US" altLang="zh-TW" dirty="0"/>
          </a:p>
        </p:txBody>
      </p:sp>
      <p:sp>
        <p:nvSpPr>
          <p:cNvPr id="14" name="矩形 13"/>
          <p:cNvSpPr/>
          <p:nvPr/>
        </p:nvSpPr>
        <p:spPr>
          <a:xfrm>
            <a:off x="5257800" y="4654324"/>
            <a:ext cx="6096000" cy="2308324"/>
          </a:xfrm>
          <a:prstGeom prst="rect">
            <a:avLst/>
          </a:prstGeom>
        </p:spPr>
        <p:txBody>
          <a:bodyPr>
            <a:spAutoFit/>
          </a:bodyPr>
          <a:lstStyle/>
          <a:p>
            <a:pPr>
              <a:defRPr/>
            </a:pPr>
            <a:r>
              <a:rPr lang="en-US" altLang="zh-TW" i="1" dirty="0"/>
              <a:t>C </a:t>
            </a:r>
            <a:r>
              <a:rPr lang="en-US" altLang="zh-TW" dirty="0"/>
              <a:t>is the cash </a:t>
            </a:r>
          </a:p>
          <a:p>
            <a:pPr>
              <a:defRPr/>
            </a:pPr>
            <a:r>
              <a:rPr lang="en-US" altLang="zh-TW" i="1" dirty="0" err="1"/>
              <a:t>C</a:t>
            </a:r>
            <a:r>
              <a:rPr lang="en-US" altLang="zh-TW" i="1" baseline="-25000" dirty="0" err="1"/>
              <a:t>eq</a:t>
            </a:r>
            <a:r>
              <a:rPr lang="en-US" altLang="zh-TW" i="1" dirty="0"/>
              <a:t> </a:t>
            </a:r>
            <a:r>
              <a:rPr lang="en-US" altLang="zh-TW" dirty="0"/>
              <a:t>is the cash equivalents </a:t>
            </a:r>
          </a:p>
          <a:p>
            <a:pPr>
              <a:defRPr/>
            </a:pPr>
            <a:r>
              <a:rPr lang="en-US" altLang="zh-TW" i="1" dirty="0" err="1"/>
              <a:t>Acc</a:t>
            </a:r>
            <a:r>
              <a:rPr lang="en-US" altLang="zh-TW" i="1" baseline="-25000" dirty="0" err="1"/>
              <a:t>rec</a:t>
            </a:r>
            <a:r>
              <a:rPr lang="en-US" altLang="zh-TW" i="1" dirty="0"/>
              <a:t> </a:t>
            </a:r>
            <a:r>
              <a:rPr lang="en-US" altLang="zh-TW" dirty="0"/>
              <a:t>is the accounts receivable </a:t>
            </a:r>
          </a:p>
          <a:p>
            <a:pPr>
              <a:defRPr/>
            </a:pPr>
            <a:r>
              <a:rPr lang="en-US" altLang="zh-TW" i="1" dirty="0" err="1"/>
              <a:t>In</a:t>
            </a:r>
            <a:r>
              <a:rPr lang="en-US" altLang="zh-TW" dirty="0" err="1"/>
              <a:t>v</a:t>
            </a:r>
            <a:r>
              <a:rPr lang="en-US" altLang="zh-TW" dirty="0"/>
              <a:t> is the inventory </a:t>
            </a:r>
          </a:p>
          <a:p>
            <a:pPr>
              <a:defRPr/>
            </a:pPr>
            <a:r>
              <a:rPr lang="en-US" altLang="zh-TW" i="1" dirty="0" err="1"/>
              <a:t>S</a:t>
            </a:r>
            <a:r>
              <a:rPr lang="en-US" altLang="zh-TW" i="1" baseline="-25000" dirty="0" err="1"/>
              <a:t>markis</a:t>
            </a:r>
            <a:r>
              <a:rPr lang="en-US" altLang="zh-TW" i="1" dirty="0"/>
              <a:t> </a:t>
            </a:r>
            <a:r>
              <a:rPr lang="en-US" altLang="zh-TW" dirty="0"/>
              <a:t>the </a:t>
            </a:r>
            <a:r>
              <a:rPr lang="en-US" altLang="zh-TW" dirty="0" smtClean="0"/>
              <a:t>marketable</a:t>
            </a:r>
            <a:r>
              <a:rPr lang="zh-TW" altLang="en-US" dirty="0" smtClean="0"/>
              <a:t> </a:t>
            </a:r>
            <a:r>
              <a:rPr lang="en-US" altLang="zh-TW" dirty="0" smtClean="0"/>
              <a:t>securities </a:t>
            </a:r>
            <a:endParaRPr lang="en-US" altLang="zh-TW" dirty="0"/>
          </a:p>
          <a:p>
            <a:pPr>
              <a:defRPr/>
            </a:pPr>
            <a:r>
              <a:rPr lang="en-US" altLang="zh-TW" i="1" dirty="0" err="1"/>
              <a:t>Ex</a:t>
            </a:r>
            <a:r>
              <a:rPr lang="en-US" altLang="zh-TW" i="1" baseline="-25000" dirty="0" err="1"/>
              <a:t>pre</a:t>
            </a:r>
            <a:r>
              <a:rPr lang="en-US" altLang="zh-TW" i="1" dirty="0"/>
              <a:t> </a:t>
            </a:r>
            <a:r>
              <a:rPr lang="en-US" altLang="zh-TW" dirty="0"/>
              <a:t>is the prepaid expenses </a:t>
            </a:r>
          </a:p>
          <a:p>
            <a:r>
              <a:rPr lang="en-US" altLang="zh-TW" i="1" dirty="0" err="1">
                <a:solidFill>
                  <a:srgbClr val="111111"/>
                </a:solidFill>
                <a:latin typeface="LfjpmwTimes" charset="0"/>
              </a:rPr>
              <a:t>Liq</a:t>
            </a:r>
            <a:r>
              <a:rPr lang="en-US" altLang="zh-TW" sz="1400" i="1" baseline="-25000" dirty="0" err="1">
                <a:solidFill>
                  <a:srgbClr val="111111"/>
                </a:solidFill>
                <a:latin typeface="LfjpmwTimes" charset="0"/>
              </a:rPr>
              <a:t>con</a:t>
            </a:r>
            <a:r>
              <a:rPr lang="en-US" altLang="zh-TW" sz="1400" baseline="-25000" dirty="0" err="1">
                <a:solidFill>
                  <a:srgbClr val="111111"/>
                </a:solidFill>
                <a:latin typeface="WqclydMTMI" charset="0"/>
              </a:rPr>
              <a:t>v</a:t>
            </a:r>
            <a:r>
              <a:rPr lang="en-US" altLang="zh-TW" sz="1400" dirty="0">
                <a:solidFill>
                  <a:srgbClr val="111111"/>
                </a:solidFill>
                <a:latin typeface="WqclydMTMI" charset="0"/>
              </a:rPr>
              <a:t> </a:t>
            </a:r>
            <a:r>
              <a:rPr lang="en-US" altLang="zh-TW" dirty="0">
                <a:solidFill>
                  <a:srgbClr val="111111"/>
                </a:solidFill>
                <a:latin typeface="BdlbynTimes" charset="0"/>
              </a:rPr>
              <a:t>is the other liquid assets that can be readily converted to cash </a:t>
            </a:r>
            <a:endParaRPr lang="en-US" altLang="zh-TW" dirty="0"/>
          </a:p>
        </p:txBody>
      </p:sp>
    </p:spTree>
    <p:extLst>
      <p:ext uri="{BB962C8B-B14F-4D97-AF65-F5344CB8AC3E}">
        <p14:creationId xmlns:p14="http://schemas.microsoft.com/office/powerpoint/2010/main" val="4777868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p:cNvSpPr>
            <a:spLocks noGrp="1"/>
          </p:cNvSpPr>
          <p:nvPr>
            <p:ph type="title"/>
          </p:nvPr>
        </p:nvSpPr>
        <p:spPr/>
        <p:txBody>
          <a:bodyPr/>
          <a:lstStyle/>
          <a:p>
            <a:pPr algn="ctr"/>
            <a:r>
              <a:rPr lang="en-US" altLang="zh-TW" dirty="0"/>
              <a:t>10 financial ratio values </a:t>
            </a:r>
            <a:r>
              <a:rPr lang="en-US" altLang="zh-TW" dirty="0" smtClean="0"/>
              <a:t>(3/3)</a:t>
            </a:r>
            <a:endParaRPr lang="en-US" altLang="zh-TW" dirty="0"/>
          </a:p>
        </p:txBody>
      </p:sp>
      <p:pic>
        <p:nvPicPr>
          <p:cNvPr id="5" name="內容版面配置區 4"/>
          <p:cNvPicPr>
            <a:picLocks noGrp="1" noChangeAspect="1"/>
          </p:cNvPicPr>
          <p:nvPr>
            <p:ph idx="1"/>
          </p:nvPr>
        </p:nvPicPr>
        <p:blipFill>
          <a:blip r:embed="rId3"/>
          <a:stretch>
            <a:fillRect/>
          </a:stretch>
        </p:blipFill>
        <p:spPr>
          <a:xfrm>
            <a:off x="3104373" y="2462910"/>
            <a:ext cx="2400300" cy="800100"/>
          </a:xfrm>
          <a:prstGeom prst="rect">
            <a:avLst/>
          </a:prstGeom>
        </p:spPr>
      </p:pic>
      <p:sp>
        <p:nvSpPr>
          <p:cNvPr id="6" name="矩形 5"/>
          <p:cNvSpPr/>
          <p:nvPr/>
        </p:nvSpPr>
        <p:spPr>
          <a:xfrm>
            <a:off x="530870" y="2603649"/>
            <a:ext cx="2458815" cy="369332"/>
          </a:xfrm>
          <a:prstGeom prst="rect">
            <a:avLst/>
          </a:prstGeom>
        </p:spPr>
        <p:txBody>
          <a:bodyPr wrap="none">
            <a:spAutoFit/>
          </a:bodyPr>
          <a:lstStyle/>
          <a:p>
            <a:r>
              <a:rPr lang="en-US" altLang="zh-TW" i="1" dirty="0">
                <a:solidFill>
                  <a:srgbClr val="111111"/>
                </a:solidFill>
                <a:latin typeface="LfjpmwTimes" charset="0"/>
              </a:rPr>
              <a:t>Gross debt service ratio </a:t>
            </a:r>
            <a:endParaRPr lang="en-US" altLang="zh-TW" dirty="0"/>
          </a:p>
        </p:txBody>
      </p:sp>
      <p:pic>
        <p:nvPicPr>
          <p:cNvPr id="7" name="圖片 6"/>
          <p:cNvPicPr>
            <a:picLocks noChangeAspect="1"/>
          </p:cNvPicPr>
          <p:nvPr/>
        </p:nvPicPr>
        <p:blipFill>
          <a:blip r:embed="rId4"/>
          <a:stretch>
            <a:fillRect/>
          </a:stretch>
        </p:blipFill>
        <p:spPr>
          <a:xfrm>
            <a:off x="3104373" y="3622482"/>
            <a:ext cx="1600200" cy="825500"/>
          </a:xfrm>
          <a:prstGeom prst="rect">
            <a:avLst/>
          </a:prstGeom>
        </p:spPr>
      </p:pic>
      <p:pic>
        <p:nvPicPr>
          <p:cNvPr id="9" name="圖片 8"/>
          <p:cNvPicPr>
            <a:picLocks noChangeAspect="1"/>
          </p:cNvPicPr>
          <p:nvPr/>
        </p:nvPicPr>
        <p:blipFill>
          <a:blip r:embed="rId5"/>
          <a:stretch>
            <a:fillRect/>
          </a:stretch>
        </p:blipFill>
        <p:spPr>
          <a:xfrm>
            <a:off x="3104373" y="4807454"/>
            <a:ext cx="2413000" cy="990600"/>
          </a:xfrm>
          <a:prstGeom prst="rect">
            <a:avLst/>
          </a:prstGeom>
        </p:spPr>
      </p:pic>
      <p:sp>
        <p:nvSpPr>
          <p:cNvPr id="10" name="矩形 9"/>
          <p:cNvSpPr/>
          <p:nvPr/>
        </p:nvSpPr>
        <p:spPr>
          <a:xfrm>
            <a:off x="539713" y="3885942"/>
            <a:ext cx="1471365" cy="369332"/>
          </a:xfrm>
          <a:prstGeom prst="rect">
            <a:avLst/>
          </a:prstGeom>
        </p:spPr>
        <p:txBody>
          <a:bodyPr wrap="none">
            <a:spAutoFit/>
          </a:bodyPr>
          <a:lstStyle/>
          <a:p>
            <a:r>
              <a:rPr lang="en-US" altLang="zh-TW" i="1" dirty="0">
                <a:solidFill>
                  <a:srgbClr val="111111"/>
                </a:solidFill>
                <a:latin typeface="LfjpmwTimes" charset="0"/>
              </a:rPr>
              <a:t>Current ratio </a:t>
            </a:r>
            <a:endParaRPr lang="en-US" altLang="zh-TW" dirty="0"/>
          </a:p>
        </p:txBody>
      </p:sp>
      <p:sp>
        <p:nvSpPr>
          <p:cNvPr id="11" name="矩形 10"/>
          <p:cNvSpPr/>
          <p:nvPr/>
        </p:nvSpPr>
        <p:spPr>
          <a:xfrm>
            <a:off x="530870" y="5097483"/>
            <a:ext cx="2016386" cy="369332"/>
          </a:xfrm>
          <a:prstGeom prst="rect">
            <a:avLst/>
          </a:prstGeom>
        </p:spPr>
        <p:txBody>
          <a:bodyPr wrap="none">
            <a:spAutoFit/>
          </a:bodyPr>
          <a:lstStyle/>
          <a:p>
            <a:r>
              <a:rPr lang="en-US" altLang="zh-TW" i="1" dirty="0">
                <a:solidFill>
                  <a:srgbClr val="111111"/>
                </a:solidFill>
                <a:latin typeface="LfjpmwTimes" charset="0"/>
              </a:rPr>
              <a:t>Earnings per share </a:t>
            </a:r>
            <a:endParaRPr lang="en-US" altLang="zh-TW" dirty="0"/>
          </a:p>
        </p:txBody>
      </p:sp>
      <p:sp>
        <p:nvSpPr>
          <p:cNvPr id="13" name="矩形 12"/>
          <p:cNvSpPr/>
          <p:nvPr/>
        </p:nvSpPr>
        <p:spPr>
          <a:xfrm>
            <a:off x="6096000" y="2325177"/>
            <a:ext cx="6096000" cy="923330"/>
          </a:xfrm>
          <a:prstGeom prst="rect">
            <a:avLst/>
          </a:prstGeom>
        </p:spPr>
        <p:txBody>
          <a:bodyPr>
            <a:spAutoFit/>
          </a:bodyPr>
          <a:lstStyle/>
          <a:p>
            <a:r>
              <a:rPr lang="en-US" altLang="zh-TW" i="1" dirty="0"/>
              <a:t>P</a:t>
            </a:r>
            <a:r>
              <a:rPr lang="en-US" altLang="zh-TW" i="1" baseline="-25000" dirty="0"/>
              <a:t>AM</a:t>
            </a:r>
            <a:r>
              <a:rPr lang="en-US" altLang="zh-TW" i="1" dirty="0"/>
              <a:t> </a:t>
            </a:r>
            <a:r>
              <a:rPr lang="en-US" altLang="zh-TW" dirty="0"/>
              <a:t>is the annual mortgage payments</a:t>
            </a:r>
          </a:p>
          <a:p>
            <a:pPr>
              <a:defRPr/>
            </a:pPr>
            <a:r>
              <a:rPr lang="en-US" altLang="zh-TW" i="1" dirty="0" err="1"/>
              <a:t>P</a:t>
            </a:r>
            <a:r>
              <a:rPr lang="en-US" altLang="zh-TW" i="1" baseline="-25000" dirty="0" err="1"/>
              <a:t>tax</a:t>
            </a:r>
            <a:r>
              <a:rPr lang="en-US" altLang="zh-TW" i="1" dirty="0"/>
              <a:t> </a:t>
            </a:r>
            <a:r>
              <a:rPr lang="en-US" altLang="zh-TW" dirty="0"/>
              <a:t>is the property taxes </a:t>
            </a:r>
          </a:p>
          <a:p>
            <a:pPr>
              <a:defRPr/>
            </a:pPr>
            <a:r>
              <a:rPr lang="en-US" altLang="zh-TW" i="1" dirty="0" err="1"/>
              <a:t>In</a:t>
            </a:r>
            <a:r>
              <a:rPr lang="en-US" altLang="zh-TW" i="1" baseline="-25000" dirty="0" err="1"/>
              <a:t>Gross</a:t>
            </a:r>
            <a:r>
              <a:rPr lang="en-US" altLang="zh-TW" i="1" dirty="0"/>
              <a:t> </a:t>
            </a:r>
            <a:r>
              <a:rPr lang="en-US" altLang="zh-TW" dirty="0"/>
              <a:t>is the gross family income </a:t>
            </a:r>
          </a:p>
        </p:txBody>
      </p:sp>
      <p:sp>
        <p:nvSpPr>
          <p:cNvPr id="14" name="矩形 13"/>
          <p:cNvSpPr/>
          <p:nvPr/>
        </p:nvSpPr>
        <p:spPr>
          <a:xfrm>
            <a:off x="6096000" y="3712066"/>
            <a:ext cx="6096000" cy="646331"/>
          </a:xfrm>
          <a:prstGeom prst="rect">
            <a:avLst/>
          </a:prstGeom>
        </p:spPr>
        <p:txBody>
          <a:bodyPr>
            <a:spAutoFit/>
          </a:bodyPr>
          <a:lstStyle/>
          <a:p>
            <a:pPr>
              <a:defRPr/>
            </a:pPr>
            <a:r>
              <a:rPr lang="en-US" altLang="zh-TW" i="1"/>
              <a:t>Cur</a:t>
            </a:r>
            <a:r>
              <a:rPr lang="en-US" altLang="zh-TW" i="1" baseline="-25000"/>
              <a:t>A</a:t>
            </a:r>
            <a:r>
              <a:rPr lang="en-US" altLang="zh-TW" i="1" dirty="0"/>
              <a:t> </a:t>
            </a:r>
            <a:r>
              <a:rPr lang="en-US" altLang="zh-TW" dirty="0"/>
              <a:t>is the current assets </a:t>
            </a:r>
          </a:p>
          <a:p>
            <a:pPr>
              <a:defRPr/>
            </a:pPr>
            <a:r>
              <a:rPr lang="en-US" altLang="zh-TW" i="1" dirty="0" err="1"/>
              <a:t>Cur</a:t>
            </a:r>
            <a:r>
              <a:rPr lang="en-US" altLang="zh-TW" i="1" baseline="-25000" dirty="0" err="1"/>
              <a:t>lia</a:t>
            </a:r>
            <a:r>
              <a:rPr lang="en-US" altLang="zh-TW" i="1" dirty="0"/>
              <a:t> </a:t>
            </a:r>
            <a:r>
              <a:rPr lang="en-US" altLang="zh-TW" dirty="0"/>
              <a:t>is the current liabilities </a:t>
            </a:r>
          </a:p>
        </p:txBody>
      </p:sp>
      <p:sp>
        <p:nvSpPr>
          <p:cNvPr id="15" name="矩形 14"/>
          <p:cNvSpPr/>
          <p:nvPr/>
        </p:nvSpPr>
        <p:spPr>
          <a:xfrm>
            <a:off x="6096000" y="4807454"/>
            <a:ext cx="6096000" cy="923330"/>
          </a:xfrm>
          <a:prstGeom prst="rect">
            <a:avLst/>
          </a:prstGeom>
        </p:spPr>
        <p:txBody>
          <a:bodyPr>
            <a:spAutoFit/>
          </a:bodyPr>
          <a:lstStyle/>
          <a:p>
            <a:pPr>
              <a:defRPr/>
            </a:pPr>
            <a:r>
              <a:rPr lang="en-US" altLang="zh-TW" i="1" dirty="0" err="1"/>
              <a:t>I</a:t>
            </a:r>
            <a:r>
              <a:rPr lang="en-US" altLang="zh-TW" i="1" baseline="-25000" dirty="0" err="1"/>
              <a:t>net</a:t>
            </a:r>
            <a:r>
              <a:rPr lang="en-US" altLang="zh-TW" i="1" baseline="-25000" dirty="0"/>
              <a:t> </a:t>
            </a:r>
            <a:r>
              <a:rPr lang="en-US" altLang="zh-TW" dirty="0"/>
              <a:t>is</a:t>
            </a:r>
            <a:r>
              <a:rPr lang="zh-TW" altLang="en-US" dirty="0"/>
              <a:t> </a:t>
            </a:r>
            <a:r>
              <a:rPr lang="en-US" altLang="zh-TW" dirty="0"/>
              <a:t>the</a:t>
            </a:r>
            <a:r>
              <a:rPr lang="zh-TW" altLang="en-US" dirty="0"/>
              <a:t> </a:t>
            </a:r>
            <a:r>
              <a:rPr lang="en-US" altLang="zh-TW" dirty="0"/>
              <a:t>net</a:t>
            </a:r>
            <a:r>
              <a:rPr lang="zh-TW" altLang="en-US" dirty="0"/>
              <a:t> </a:t>
            </a:r>
            <a:r>
              <a:rPr lang="en-US" altLang="zh-TW" dirty="0"/>
              <a:t>income </a:t>
            </a:r>
          </a:p>
          <a:p>
            <a:pPr>
              <a:defRPr/>
            </a:pPr>
            <a:r>
              <a:rPr lang="en-US" altLang="zh-TW" i="1" dirty="0" err="1"/>
              <a:t>D</a:t>
            </a:r>
            <a:r>
              <a:rPr lang="en-US" altLang="zh-TW" i="1" baseline="-25000" dirty="0" err="1"/>
              <a:t>ps</a:t>
            </a:r>
            <a:r>
              <a:rPr lang="en-US" altLang="zh-TW" i="1" dirty="0"/>
              <a:t> </a:t>
            </a:r>
            <a:r>
              <a:rPr lang="en-US" altLang="zh-TW" dirty="0"/>
              <a:t>is</a:t>
            </a:r>
            <a:r>
              <a:rPr lang="zh-TW" altLang="en-US" dirty="0"/>
              <a:t> </a:t>
            </a:r>
            <a:r>
              <a:rPr lang="en-US" altLang="zh-TW" dirty="0"/>
              <a:t>the</a:t>
            </a:r>
            <a:r>
              <a:rPr lang="zh-TW" altLang="en-US" dirty="0"/>
              <a:t> </a:t>
            </a:r>
            <a:r>
              <a:rPr lang="en-US" altLang="zh-TW" dirty="0"/>
              <a:t>dividends</a:t>
            </a:r>
            <a:r>
              <a:rPr lang="zh-TW" altLang="en-US" dirty="0"/>
              <a:t> </a:t>
            </a:r>
            <a:r>
              <a:rPr lang="en-US" altLang="zh-TW" dirty="0"/>
              <a:t>on</a:t>
            </a:r>
            <a:r>
              <a:rPr lang="zh-TW" altLang="en-US" dirty="0"/>
              <a:t> </a:t>
            </a:r>
            <a:r>
              <a:rPr lang="en-US" altLang="zh-TW" dirty="0"/>
              <a:t>preferred stock </a:t>
            </a:r>
          </a:p>
          <a:p>
            <a:pPr>
              <a:defRPr/>
            </a:pPr>
            <a:r>
              <a:rPr lang="en-US" altLang="zh-TW" i="1" dirty="0" err="1"/>
              <a:t>A</a:t>
            </a:r>
            <a:r>
              <a:rPr lang="en-US" altLang="zh-TW" dirty="0" err="1"/>
              <a:t>v</a:t>
            </a:r>
            <a:r>
              <a:rPr lang="en-US" altLang="zh-TW" i="1" dirty="0" err="1"/>
              <a:t>g</a:t>
            </a:r>
            <a:r>
              <a:rPr lang="en-US" altLang="zh-TW" i="1" baseline="-25000" dirty="0" err="1"/>
              <a:t>S</a:t>
            </a:r>
            <a:r>
              <a:rPr lang="en-US" altLang="zh-TW" i="1" dirty="0"/>
              <a:t> </a:t>
            </a:r>
            <a:r>
              <a:rPr lang="en-US" altLang="zh-TW" dirty="0"/>
              <a:t>is the average outstanding shares </a:t>
            </a:r>
          </a:p>
        </p:txBody>
      </p:sp>
    </p:spTree>
    <p:extLst>
      <p:ext uri="{BB962C8B-B14F-4D97-AF65-F5344CB8AC3E}">
        <p14:creationId xmlns:p14="http://schemas.microsoft.com/office/powerpoint/2010/main" val="12812153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內容版面配置區 3"/>
          <p:cNvPicPr>
            <a:picLocks noGrp="1" noChangeAspect="1"/>
          </p:cNvPicPr>
          <p:nvPr>
            <p:ph idx="1"/>
          </p:nvPr>
        </p:nvPicPr>
        <p:blipFill>
          <a:blip r:embed="rId3"/>
          <a:stretch>
            <a:fillRect/>
          </a:stretch>
        </p:blipFill>
        <p:spPr>
          <a:xfrm>
            <a:off x="2665022" y="1690688"/>
            <a:ext cx="6588669" cy="4811081"/>
          </a:xfrm>
          <a:prstGeom prst="rect">
            <a:avLst/>
          </a:prstGeom>
        </p:spPr>
      </p:pic>
      <p:sp>
        <p:nvSpPr>
          <p:cNvPr id="6" name="標題 1"/>
          <p:cNvSpPr>
            <a:spLocks noGrp="1"/>
          </p:cNvSpPr>
          <p:nvPr>
            <p:ph type="title"/>
          </p:nvPr>
        </p:nvSpPr>
        <p:spPr/>
        <p:txBody>
          <a:bodyPr/>
          <a:lstStyle/>
          <a:p>
            <a:pPr algn="ctr"/>
            <a:r>
              <a:rPr lang="en-US" altLang="zh-TW" dirty="0"/>
              <a:t>The 3-layer neural network </a:t>
            </a:r>
          </a:p>
        </p:txBody>
      </p:sp>
    </p:spTree>
    <p:extLst>
      <p:ext uri="{BB962C8B-B14F-4D97-AF65-F5344CB8AC3E}">
        <p14:creationId xmlns:p14="http://schemas.microsoft.com/office/powerpoint/2010/main" val="6555661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b="1" dirty="0"/>
              <a:t>Experimental method and </a:t>
            </a:r>
            <a:r>
              <a:rPr lang="en-US" altLang="zh-TW" b="1" dirty="0" smtClean="0"/>
              <a:t>results(1/2) </a:t>
            </a:r>
            <a:endParaRPr kumimoji="1" lang="zh-TW" altLang="en-US" dirty="0"/>
          </a:p>
        </p:txBody>
      </p:sp>
      <p:pic>
        <p:nvPicPr>
          <p:cNvPr id="4" name="圖片 3"/>
          <p:cNvPicPr>
            <a:picLocks noChangeAspect="1"/>
          </p:cNvPicPr>
          <p:nvPr/>
        </p:nvPicPr>
        <p:blipFill>
          <a:blip r:embed="rId2"/>
          <a:stretch>
            <a:fillRect/>
          </a:stretch>
        </p:blipFill>
        <p:spPr>
          <a:xfrm>
            <a:off x="838200" y="1997399"/>
            <a:ext cx="6210300" cy="4356100"/>
          </a:xfrm>
          <a:prstGeom prst="rect">
            <a:avLst/>
          </a:prstGeom>
        </p:spPr>
      </p:pic>
      <p:pic>
        <p:nvPicPr>
          <p:cNvPr id="5" name="圖片 4"/>
          <p:cNvPicPr>
            <a:picLocks noChangeAspect="1"/>
          </p:cNvPicPr>
          <p:nvPr/>
        </p:nvPicPr>
        <p:blipFill>
          <a:blip r:embed="rId3"/>
          <a:stretch>
            <a:fillRect/>
          </a:stretch>
        </p:blipFill>
        <p:spPr>
          <a:xfrm>
            <a:off x="7588379" y="2719226"/>
            <a:ext cx="3098800" cy="2501900"/>
          </a:xfrm>
          <a:prstGeom prst="rect">
            <a:avLst/>
          </a:prstGeom>
        </p:spPr>
      </p:pic>
    </p:spTree>
    <p:extLst>
      <p:ext uri="{BB962C8B-B14F-4D97-AF65-F5344CB8AC3E}">
        <p14:creationId xmlns:p14="http://schemas.microsoft.com/office/powerpoint/2010/main" val="3491566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b="1" dirty="0"/>
              <a:t>Experimental method and </a:t>
            </a:r>
            <a:r>
              <a:rPr lang="en-US" altLang="zh-TW" b="1" dirty="0" smtClean="0"/>
              <a:t>results(2/2</a:t>
            </a:r>
            <a:r>
              <a:rPr lang="en-US" altLang="zh-TW" b="1" dirty="0"/>
              <a:t>) </a:t>
            </a:r>
            <a:endParaRPr kumimoji="1" lang="zh-TW" altLang="en-US" dirty="0"/>
          </a:p>
        </p:txBody>
      </p:sp>
      <p:pic>
        <p:nvPicPr>
          <p:cNvPr id="6" name="內容版面配置區 5"/>
          <p:cNvPicPr>
            <a:picLocks noGrp="1" noChangeAspect="1"/>
          </p:cNvPicPr>
          <p:nvPr>
            <p:ph idx="1"/>
          </p:nvPr>
        </p:nvPicPr>
        <p:blipFill>
          <a:blip r:embed="rId2"/>
          <a:stretch>
            <a:fillRect/>
          </a:stretch>
        </p:blipFill>
        <p:spPr>
          <a:xfrm>
            <a:off x="6550092" y="3204797"/>
            <a:ext cx="5492619" cy="2267494"/>
          </a:xfrm>
          <a:prstGeom prst="rect">
            <a:avLst/>
          </a:prstGeom>
        </p:spPr>
      </p:pic>
      <p:pic>
        <p:nvPicPr>
          <p:cNvPr id="7" name="圖片 6"/>
          <p:cNvPicPr>
            <a:picLocks noChangeAspect="1"/>
          </p:cNvPicPr>
          <p:nvPr/>
        </p:nvPicPr>
        <p:blipFill>
          <a:blip r:embed="rId3"/>
          <a:stretch>
            <a:fillRect/>
          </a:stretch>
        </p:blipFill>
        <p:spPr>
          <a:xfrm>
            <a:off x="146829" y="1690688"/>
            <a:ext cx="6235310" cy="4770388"/>
          </a:xfrm>
          <a:prstGeom prst="rect">
            <a:avLst/>
          </a:prstGeom>
        </p:spPr>
      </p:pic>
    </p:spTree>
    <p:extLst>
      <p:ext uri="{BB962C8B-B14F-4D97-AF65-F5344CB8AC3E}">
        <p14:creationId xmlns:p14="http://schemas.microsoft.com/office/powerpoint/2010/main" val="1390182891"/>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2829</TotalTime>
  <Words>737</Words>
  <Application>Microsoft Macintosh PowerPoint</Application>
  <PresentationFormat>寬螢幕</PresentationFormat>
  <Paragraphs>144</Paragraphs>
  <Slides>11</Slides>
  <Notes>5</Notes>
  <HiddenSlides>0</HiddenSlides>
  <MMClips>0</MMClips>
  <ScaleCrop>false</ScaleCrop>
  <HeadingPairs>
    <vt:vector size="6" baseType="variant">
      <vt:variant>
        <vt:lpstr>使用字型</vt:lpstr>
      </vt:variant>
      <vt:variant>
        <vt:i4>9</vt:i4>
      </vt:variant>
      <vt:variant>
        <vt:lpstr>佈景主題</vt:lpstr>
      </vt:variant>
      <vt:variant>
        <vt:i4>1</vt:i4>
      </vt:variant>
      <vt:variant>
        <vt:lpstr>投影片標題</vt:lpstr>
      </vt:variant>
      <vt:variant>
        <vt:i4>11</vt:i4>
      </vt:variant>
    </vt:vector>
  </HeadingPairs>
  <TitlesOfParts>
    <vt:vector size="21" baseType="lpstr">
      <vt:lpstr>Arial</vt:lpstr>
      <vt:lpstr>BdlbynTimes</vt:lpstr>
      <vt:lpstr>Calibri</vt:lpstr>
      <vt:lpstr>Calibri Light</vt:lpstr>
      <vt:lpstr>Cambria Math</vt:lpstr>
      <vt:lpstr>LfjpmwTimes</vt:lpstr>
      <vt:lpstr>Mangal</vt:lpstr>
      <vt:lpstr>WqclydMTMI</vt:lpstr>
      <vt:lpstr>新細明體</vt:lpstr>
      <vt:lpstr>Office 佈景主題</vt:lpstr>
      <vt:lpstr>Fundamental analysis and technical analysis integrated system for stock filtration</vt:lpstr>
      <vt:lpstr>Abstract(1/2)</vt:lpstr>
      <vt:lpstr>Abstract(2/2)</vt:lpstr>
      <vt:lpstr>PowerPoint 簡報</vt:lpstr>
      <vt:lpstr>Fundamental analysis </vt:lpstr>
      <vt:lpstr>10 financial ratio values (1/3)</vt:lpstr>
      <vt:lpstr>10 financial ratio values (2/3)</vt:lpstr>
      <vt:lpstr>10 financial ratio values (3/3)</vt:lpstr>
      <vt:lpstr>The 3-layer neural network </vt:lpstr>
      <vt:lpstr>Experimental method and results(1/2) </vt:lpstr>
      <vt:lpstr>Experimental method and results(2/2) </vt:lpstr>
    </vt:vector>
  </TitlesOfParts>
  <Company/>
  <LinksUpToDate>false</LinksUpToDate>
  <SharedDoc>false</SharedDoc>
  <HyperlinksChanged>false</HyperlinksChanged>
  <AppVersion>15.0028</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Fundamental analysis and technical analysis integrated system for stock filtration</dc:title>
  <dc:creator>M053040058</dc:creator>
  <cp:lastModifiedBy>M053040058</cp:lastModifiedBy>
  <cp:revision>30</cp:revision>
  <dcterms:created xsi:type="dcterms:W3CDTF">2017-12-08T08:28:53Z</dcterms:created>
  <dcterms:modified xsi:type="dcterms:W3CDTF">2017-12-13T07:05:23Z</dcterms:modified>
</cp:coreProperties>
</file>