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58" r:id="rId4"/>
    <p:sldId id="259" r:id="rId5"/>
    <p:sldId id="264"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60" r:id="rId21"/>
    <p:sldId id="261" r:id="rId22"/>
    <p:sldId id="279" r:id="rId23"/>
    <p:sldId id="280" r:id="rId24"/>
    <p:sldId id="263" r:id="rId25"/>
    <p:sldId id="281" r:id="rId26"/>
    <p:sldId id="282" r:id="rId27"/>
    <p:sldId id="283" r:id="rId28"/>
    <p:sldId id="284" r:id="rId2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ED9DAA-4E8F-4071-80E2-467EC951AA16}" type="datetimeFigureOut">
              <a:rPr lang="zh-TW" altLang="en-US" smtClean="0"/>
              <a:t>2017/12/13</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7BD866-ADE9-4F38-9B45-C02B5FC1100E}" type="slidenum">
              <a:rPr lang="zh-TW" altLang="en-US" smtClean="0"/>
              <a:t>‹#›</a:t>
            </a:fld>
            <a:endParaRPr lang="zh-TW" altLang="en-US"/>
          </a:p>
        </p:txBody>
      </p:sp>
    </p:spTree>
    <p:extLst>
      <p:ext uri="{BB962C8B-B14F-4D97-AF65-F5344CB8AC3E}">
        <p14:creationId xmlns:p14="http://schemas.microsoft.com/office/powerpoint/2010/main" val="4142818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8D7BD866-ADE9-4F38-9B45-C02B5FC1100E}" type="slidenum">
              <a:rPr lang="zh-TW" altLang="en-US" smtClean="0"/>
              <a:t>17</a:t>
            </a:fld>
            <a:endParaRPr lang="zh-TW" altLang="en-US"/>
          </a:p>
        </p:txBody>
      </p:sp>
    </p:spTree>
    <p:extLst>
      <p:ext uri="{BB962C8B-B14F-4D97-AF65-F5344CB8AC3E}">
        <p14:creationId xmlns:p14="http://schemas.microsoft.com/office/powerpoint/2010/main" val="35414172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8D7BD866-ADE9-4F38-9B45-C02B5FC1100E}" type="slidenum">
              <a:rPr lang="zh-TW" altLang="en-US" smtClean="0"/>
              <a:t>18</a:t>
            </a:fld>
            <a:endParaRPr lang="zh-TW" altLang="en-US"/>
          </a:p>
        </p:txBody>
      </p:sp>
    </p:spTree>
    <p:extLst>
      <p:ext uri="{BB962C8B-B14F-4D97-AF65-F5344CB8AC3E}">
        <p14:creationId xmlns:p14="http://schemas.microsoft.com/office/powerpoint/2010/main" val="8792844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8D7BD866-ADE9-4F38-9B45-C02B5FC1100E}" type="slidenum">
              <a:rPr lang="zh-TW" altLang="en-US" smtClean="0"/>
              <a:t>19</a:t>
            </a:fld>
            <a:endParaRPr lang="zh-TW" altLang="en-US"/>
          </a:p>
        </p:txBody>
      </p:sp>
    </p:spTree>
    <p:extLst>
      <p:ext uri="{BB962C8B-B14F-4D97-AF65-F5344CB8AC3E}">
        <p14:creationId xmlns:p14="http://schemas.microsoft.com/office/powerpoint/2010/main" val="3189631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BFB4A9-D69F-4D79-BA8A-1635C414986D}"/>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42953E4B-AAE3-4E31-B8EF-C75E50B49C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7F0B2721-D869-4531-B2A3-218212ED4D7C}"/>
              </a:ext>
            </a:extLst>
          </p:cNvPr>
          <p:cNvSpPr>
            <a:spLocks noGrp="1"/>
          </p:cNvSpPr>
          <p:nvPr>
            <p:ph type="dt" sz="half" idx="10"/>
          </p:nvPr>
        </p:nvSpPr>
        <p:spPr/>
        <p:txBody>
          <a:bodyPr/>
          <a:lstStyle/>
          <a:p>
            <a:fld id="{23AC14DA-D01D-4D0A-8215-83C08FCFAC8B}" type="datetimeFigureOut">
              <a:rPr lang="zh-TW" altLang="en-US" smtClean="0"/>
              <a:t>2017/12/13</a:t>
            </a:fld>
            <a:endParaRPr lang="zh-TW" altLang="en-US"/>
          </a:p>
        </p:txBody>
      </p:sp>
      <p:sp>
        <p:nvSpPr>
          <p:cNvPr id="5" name="頁尾版面配置區 4">
            <a:extLst>
              <a:ext uri="{FF2B5EF4-FFF2-40B4-BE49-F238E27FC236}">
                <a16:creationId xmlns:a16="http://schemas.microsoft.com/office/drawing/2014/main" id="{673B122E-B8F9-498E-AC2C-6A911A27C91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80D10A3-2748-4201-839B-559DC6280D65}"/>
              </a:ext>
            </a:extLst>
          </p:cNvPr>
          <p:cNvSpPr>
            <a:spLocks noGrp="1"/>
          </p:cNvSpPr>
          <p:nvPr>
            <p:ph type="sldNum" sz="quarter" idx="12"/>
          </p:nvPr>
        </p:nvSpPr>
        <p:spPr/>
        <p:txBody>
          <a:bodyPr/>
          <a:lstStyle/>
          <a:p>
            <a:fld id="{30EB4EB3-2F7A-40BD-9679-408F93734211}" type="slidenum">
              <a:rPr lang="zh-TW" altLang="en-US" smtClean="0"/>
              <a:t>‹#›</a:t>
            </a:fld>
            <a:endParaRPr lang="zh-TW" altLang="en-US"/>
          </a:p>
        </p:txBody>
      </p:sp>
    </p:spTree>
    <p:extLst>
      <p:ext uri="{BB962C8B-B14F-4D97-AF65-F5344CB8AC3E}">
        <p14:creationId xmlns:p14="http://schemas.microsoft.com/office/powerpoint/2010/main" val="2338280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A19A40-2DE8-4412-B3BD-513E6A580911}"/>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80AB4065-F420-4463-B127-70C6094EC9A9}"/>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BE9178C-0207-412B-AF50-740247BF6C18}"/>
              </a:ext>
            </a:extLst>
          </p:cNvPr>
          <p:cNvSpPr>
            <a:spLocks noGrp="1"/>
          </p:cNvSpPr>
          <p:nvPr>
            <p:ph type="dt" sz="half" idx="10"/>
          </p:nvPr>
        </p:nvSpPr>
        <p:spPr/>
        <p:txBody>
          <a:bodyPr/>
          <a:lstStyle/>
          <a:p>
            <a:fld id="{23AC14DA-D01D-4D0A-8215-83C08FCFAC8B}" type="datetimeFigureOut">
              <a:rPr lang="zh-TW" altLang="en-US" smtClean="0"/>
              <a:t>2017/12/13</a:t>
            </a:fld>
            <a:endParaRPr lang="zh-TW" altLang="en-US"/>
          </a:p>
        </p:txBody>
      </p:sp>
      <p:sp>
        <p:nvSpPr>
          <p:cNvPr id="5" name="頁尾版面配置區 4">
            <a:extLst>
              <a:ext uri="{FF2B5EF4-FFF2-40B4-BE49-F238E27FC236}">
                <a16:creationId xmlns:a16="http://schemas.microsoft.com/office/drawing/2014/main" id="{A9A91A53-4705-4990-8777-3D3F4FC5CA2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7A0EB0F-203E-4880-AC37-FD7BA9BA00B9}"/>
              </a:ext>
            </a:extLst>
          </p:cNvPr>
          <p:cNvSpPr>
            <a:spLocks noGrp="1"/>
          </p:cNvSpPr>
          <p:nvPr>
            <p:ph type="sldNum" sz="quarter" idx="12"/>
          </p:nvPr>
        </p:nvSpPr>
        <p:spPr/>
        <p:txBody>
          <a:bodyPr/>
          <a:lstStyle/>
          <a:p>
            <a:fld id="{30EB4EB3-2F7A-40BD-9679-408F93734211}" type="slidenum">
              <a:rPr lang="zh-TW" altLang="en-US" smtClean="0"/>
              <a:t>‹#›</a:t>
            </a:fld>
            <a:endParaRPr lang="zh-TW" altLang="en-US"/>
          </a:p>
        </p:txBody>
      </p:sp>
    </p:spTree>
    <p:extLst>
      <p:ext uri="{BB962C8B-B14F-4D97-AF65-F5344CB8AC3E}">
        <p14:creationId xmlns:p14="http://schemas.microsoft.com/office/powerpoint/2010/main" val="1976912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270E56B-9634-4256-9A15-67548053BB4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9B9B7FC7-7814-4B58-B092-45EDB39E8E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7C622981-D7F1-45CD-9127-08C36FA64A81}"/>
              </a:ext>
            </a:extLst>
          </p:cNvPr>
          <p:cNvSpPr>
            <a:spLocks noGrp="1"/>
          </p:cNvSpPr>
          <p:nvPr>
            <p:ph type="dt" sz="half" idx="10"/>
          </p:nvPr>
        </p:nvSpPr>
        <p:spPr/>
        <p:txBody>
          <a:bodyPr/>
          <a:lstStyle/>
          <a:p>
            <a:fld id="{23AC14DA-D01D-4D0A-8215-83C08FCFAC8B}" type="datetimeFigureOut">
              <a:rPr lang="zh-TW" altLang="en-US" smtClean="0"/>
              <a:t>2017/12/13</a:t>
            </a:fld>
            <a:endParaRPr lang="zh-TW" altLang="en-US"/>
          </a:p>
        </p:txBody>
      </p:sp>
      <p:sp>
        <p:nvSpPr>
          <p:cNvPr id="5" name="頁尾版面配置區 4">
            <a:extLst>
              <a:ext uri="{FF2B5EF4-FFF2-40B4-BE49-F238E27FC236}">
                <a16:creationId xmlns:a16="http://schemas.microsoft.com/office/drawing/2014/main" id="{193D5267-A394-4473-805B-9623409DA3C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9942781-0640-4BE6-86AD-3E1A26B8DDAE}"/>
              </a:ext>
            </a:extLst>
          </p:cNvPr>
          <p:cNvSpPr>
            <a:spLocks noGrp="1"/>
          </p:cNvSpPr>
          <p:nvPr>
            <p:ph type="sldNum" sz="quarter" idx="12"/>
          </p:nvPr>
        </p:nvSpPr>
        <p:spPr/>
        <p:txBody>
          <a:bodyPr/>
          <a:lstStyle/>
          <a:p>
            <a:fld id="{30EB4EB3-2F7A-40BD-9679-408F93734211}" type="slidenum">
              <a:rPr lang="zh-TW" altLang="en-US" smtClean="0"/>
              <a:t>‹#›</a:t>
            </a:fld>
            <a:endParaRPr lang="zh-TW" altLang="en-US"/>
          </a:p>
        </p:txBody>
      </p:sp>
    </p:spTree>
    <p:extLst>
      <p:ext uri="{BB962C8B-B14F-4D97-AF65-F5344CB8AC3E}">
        <p14:creationId xmlns:p14="http://schemas.microsoft.com/office/powerpoint/2010/main" val="18646017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3254EF-33DB-45CD-BBA8-011C5D5889B1}"/>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A575F49-3C86-4304-ADE4-2D9934C89FB9}"/>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B4E272C-C61A-4D29-AAC6-A01FDCFA2C25}"/>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1C31FF6D-ACC8-445F-9CBC-5059C6E0E139}"/>
              </a:ext>
            </a:extLst>
          </p:cNvPr>
          <p:cNvSpPr>
            <a:spLocks noGrp="1"/>
          </p:cNvSpPr>
          <p:nvPr>
            <p:ph type="dt" sz="half" idx="10"/>
          </p:nvPr>
        </p:nvSpPr>
        <p:spPr/>
        <p:txBody>
          <a:bodyPr/>
          <a:lstStyle/>
          <a:p>
            <a:fld id="{23AC14DA-D01D-4D0A-8215-83C08FCFAC8B}" type="datetimeFigureOut">
              <a:rPr lang="zh-TW" altLang="en-US" smtClean="0"/>
              <a:t>2017/12/13</a:t>
            </a:fld>
            <a:endParaRPr lang="zh-TW" altLang="en-US"/>
          </a:p>
        </p:txBody>
      </p:sp>
      <p:sp>
        <p:nvSpPr>
          <p:cNvPr id="6" name="頁尾版面配置區 5">
            <a:extLst>
              <a:ext uri="{FF2B5EF4-FFF2-40B4-BE49-F238E27FC236}">
                <a16:creationId xmlns:a16="http://schemas.microsoft.com/office/drawing/2014/main" id="{327EF583-4300-4F28-A503-42BD26F6571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64525C8F-D14B-4044-B743-AD11A1169494}"/>
              </a:ext>
            </a:extLst>
          </p:cNvPr>
          <p:cNvSpPr>
            <a:spLocks noGrp="1"/>
          </p:cNvSpPr>
          <p:nvPr>
            <p:ph type="sldNum" sz="quarter" idx="12"/>
          </p:nvPr>
        </p:nvSpPr>
        <p:spPr/>
        <p:txBody>
          <a:bodyPr/>
          <a:lstStyle/>
          <a:p>
            <a:fld id="{30EB4EB3-2F7A-40BD-9679-408F93734211}" type="slidenum">
              <a:rPr lang="zh-TW" altLang="en-US" smtClean="0"/>
              <a:t>‹#›</a:t>
            </a:fld>
            <a:endParaRPr lang="zh-TW" altLang="en-US"/>
          </a:p>
        </p:txBody>
      </p:sp>
    </p:spTree>
    <p:extLst>
      <p:ext uri="{BB962C8B-B14F-4D97-AF65-F5344CB8AC3E}">
        <p14:creationId xmlns:p14="http://schemas.microsoft.com/office/powerpoint/2010/main" val="4031497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153F737-68B1-4C98-B752-E75FB16750A7}"/>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1DAA8776-E7BD-4F40-97B9-506E957D62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7A100A50-C789-4E22-89B4-8DD3273640E9}"/>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5666C7CD-C27B-421E-B8B5-CD84DE0756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00AE378D-ECF1-4753-B112-317B028FA52C}"/>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577E06E2-D497-47B3-9F98-83895F137CFA}"/>
              </a:ext>
            </a:extLst>
          </p:cNvPr>
          <p:cNvSpPr>
            <a:spLocks noGrp="1"/>
          </p:cNvSpPr>
          <p:nvPr>
            <p:ph type="dt" sz="half" idx="10"/>
          </p:nvPr>
        </p:nvSpPr>
        <p:spPr/>
        <p:txBody>
          <a:bodyPr/>
          <a:lstStyle/>
          <a:p>
            <a:fld id="{23AC14DA-D01D-4D0A-8215-83C08FCFAC8B}" type="datetimeFigureOut">
              <a:rPr lang="zh-TW" altLang="en-US" smtClean="0"/>
              <a:t>2017/12/13</a:t>
            </a:fld>
            <a:endParaRPr lang="zh-TW" altLang="en-US"/>
          </a:p>
        </p:txBody>
      </p:sp>
      <p:sp>
        <p:nvSpPr>
          <p:cNvPr id="8" name="頁尾版面配置區 7">
            <a:extLst>
              <a:ext uri="{FF2B5EF4-FFF2-40B4-BE49-F238E27FC236}">
                <a16:creationId xmlns:a16="http://schemas.microsoft.com/office/drawing/2014/main" id="{79C297EC-A9B3-410B-8019-41674C40F1C0}"/>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E831FB05-9727-469E-80C9-A9A420C649FE}"/>
              </a:ext>
            </a:extLst>
          </p:cNvPr>
          <p:cNvSpPr>
            <a:spLocks noGrp="1"/>
          </p:cNvSpPr>
          <p:nvPr>
            <p:ph type="sldNum" sz="quarter" idx="12"/>
          </p:nvPr>
        </p:nvSpPr>
        <p:spPr/>
        <p:txBody>
          <a:bodyPr/>
          <a:lstStyle/>
          <a:p>
            <a:fld id="{30EB4EB3-2F7A-40BD-9679-408F93734211}" type="slidenum">
              <a:rPr lang="zh-TW" altLang="en-US" smtClean="0"/>
              <a:t>‹#›</a:t>
            </a:fld>
            <a:endParaRPr lang="zh-TW" altLang="en-US"/>
          </a:p>
        </p:txBody>
      </p:sp>
    </p:spTree>
    <p:extLst>
      <p:ext uri="{BB962C8B-B14F-4D97-AF65-F5344CB8AC3E}">
        <p14:creationId xmlns:p14="http://schemas.microsoft.com/office/powerpoint/2010/main" val="8136472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60C976-D153-4067-B502-1BF1CEEEC70A}"/>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28C378B1-49E3-428F-AD10-0AE764F789B1}"/>
              </a:ext>
            </a:extLst>
          </p:cNvPr>
          <p:cNvSpPr>
            <a:spLocks noGrp="1"/>
          </p:cNvSpPr>
          <p:nvPr>
            <p:ph type="dt" sz="half" idx="10"/>
          </p:nvPr>
        </p:nvSpPr>
        <p:spPr/>
        <p:txBody>
          <a:bodyPr/>
          <a:lstStyle/>
          <a:p>
            <a:fld id="{23AC14DA-D01D-4D0A-8215-83C08FCFAC8B}" type="datetimeFigureOut">
              <a:rPr lang="zh-TW" altLang="en-US" smtClean="0"/>
              <a:t>2017/12/13</a:t>
            </a:fld>
            <a:endParaRPr lang="zh-TW" altLang="en-US"/>
          </a:p>
        </p:txBody>
      </p:sp>
      <p:sp>
        <p:nvSpPr>
          <p:cNvPr id="4" name="頁尾版面配置區 3">
            <a:extLst>
              <a:ext uri="{FF2B5EF4-FFF2-40B4-BE49-F238E27FC236}">
                <a16:creationId xmlns:a16="http://schemas.microsoft.com/office/drawing/2014/main" id="{140FF72F-C56A-4752-A402-830239CCDA71}"/>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DBA6ED0A-6962-49B1-89FE-A4F798BA208C}"/>
              </a:ext>
            </a:extLst>
          </p:cNvPr>
          <p:cNvSpPr>
            <a:spLocks noGrp="1"/>
          </p:cNvSpPr>
          <p:nvPr>
            <p:ph type="sldNum" sz="quarter" idx="12"/>
          </p:nvPr>
        </p:nvSpPr>
        <p:spPr/>
        <p:txBody>
          <a:bodyPr/>
          <a:lstStyle/>
          <a:p>
            <a:fld id="{30EB4EB3-2F7A-40BD-9679-408F93734211}" type="slidenum">
              <a:rPr lang="zh-TW" altLang="en-US" smtClean="0"/>
              <a:t>‹#›</a:t>
            </a:fld>
            <a:endParaRPr lang="zh-TW" altLang="en-US"/>
          </a:p>
        </p:txBody>
      </p:sp>
    </p:spTree>
    <p:extLst>
      <p:ext uri="{BB962C8B-B14F-4D97-AF65-F5344CB8AC3E}">
        <p14:creationId xmlns:p14="http://schemas.microsoft.com/office/powerpoint/2010/main" val="1651219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E2BF8AC-6301-40BB-A3F9-23B7DA3C8D22}"/>
              </a:ext>
            </a:extLst>
          </p:cNvPr>
          <p:cNvSpPr>
            <a:spLocks noGrp="1"/>
          </p:cNvSpPr>
          <p:nvPr>
            <p:ph type="dt" sz="half" idx="10"/>
          </p:nvPr>
        </p:nvSpPr>
        <p:spPr/>
        <p:txBody>
          <a:bodyPr/>
          <a:lstStyle/>
          <a:p>
            <a:fld id="{23AC14DA-D01D-4D0A-8215-83C08FCFAC8B}" type="datetimeFigureOut">
              <a:rPr lang="zh-TW" altLang="en-US" smtClean="0"/>
              <a:t>2017/12/13</a:t>
            </a:fld>
            <a:endParaRPr lang="zh-TW" altLang="en-US"/>
          </a:p>
        </p:txBody>
      </p:sp>
      <p:sp>
        <p:nvSpPr>
          <p:cNvPr id="3" name="頁尾版面配置區 2">
            <a:extLst>
              <a:ext uri="{FF2B5EF4-FFF2-40B4-BE49-F238E27FC236}">
                <a16:creationId xmlns:a16="http://schemas.microsoft.com/office/drawing/2014/main" id="{6DEE3016-3109-49FC-805F-DDFCE285CD9B}"/>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FFA4477D-E164-45BE-B281-BE74079E66AF}"/>
              </a:ext>
            </a:extLst>
          </p:cNvPr>
          <p:cNvSpPr>
            <a:spLocks noGrp="1"/>
          </p:cNvSpPr>
          <p:nvPr>
            <p:ph type="sldNum" sz="quarter" idx="12"/>
          </p:nvPr>
        </p:nvSpPr>
        <p:spPr/>
        <p:txBody>
          <a:bodyPr/>
          <a:lstStyle/>
          <a:p>
            <a:fld id="{30EB4EB3-2F7A-40BD-9679-408F93734211}" type="slidenum">
              <a:rPr lang="zh-TW" altLang="en-US" smtClean="0"/>
              <a:t>‹#›</a:t>
            </a:fld>
            <a:endParaRPr lang="zh-TW" altLang="en-US"/>
          </a:p>
        </p:txBody>
      </p:sp>
    </p:spTree>
    <p:extLst>
      <p:ext uri="{BB962C8B-B14F-4D97-AF65-F5344CB8AC3E}">
        <p14:creationId xmlns:p14="http://schemas.microsoft.com/office/powerpoint/2010/main" val="1569206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F48A033-37EC-41EB-83F9-E20AA81D3EF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EA5C0A26-9607-4543-92D6-C4C79013F7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12C58B2C-F917-4001-9E38-5DCF80BCA9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78229F69-1B31-410F-A9AE-D4E5B747EFD5}"/>
              </a:ext>
            </a:extLst>
          </p:cNvPr>
          <p:cNvSpPr>
            <a:spLocks noGrp="1"/>
          </p:cNvSpPr>
          <p:nvPr>
            <p:ph type="dt" sz="half" idx="10"/>
          </p:nvPr>
        </p:nvSpPr>
        <p:spPr/>
        <p:txBody>
          <a:bodyPr/>
          <a:lstStyle/>
          <a:p>
            <a:fld id="{23AC14DA-D01D-4D0A-8215-83C08FCFAC8B}" type="datetimeFigureOut">
              <a:rPr lang="zh-TW" altLang="en-US" smtClean="0"/>
              <a:t>2017/12/13</a:t>
            </a:fld>
            <a:endParaRPr lang="zh-TW" altLang="en-US"/>
          </a:p>
        </p:txBody>
      </p:sp>
      <p:sp>
        <p:nvSpPr>
          <p:cNvPr id="6" name="頁尾版面配置區 5">
            <a:extLst>
              <a:ext uri="{FF2B5EF4-FFF2-40B4-BE49-F238E27FC236}">
                <a16:creationId xmlns:a16="http://schemas.microsoft.com/office/drawing/2014/main" id="{B2089BB1-26D6-43C9-824A-CD81EB877A65}"/>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7E7143B-8C2B-4F59-A78F-207D1DF5918E}"/>
              </a:ext>
            </a:extLst>
          </p:cNvPr>
          <p:cNvSpPr>
            <a:spLocks noGrp="1"/>
          </p:cNvSpPr>
          <p:nvPr>
            <p:ph type="sldNum" sz="quarter" idx="12"/>
          </p:nvPr>
        </p:nvSpPr>
        <p:spPr/>
        <p:txBody>
          <a:bodyPr/>
          <a:lstStyle/>
          <a:p>
            <a:fld id="{30EB4EB3-2F7A-40BD-9679-408F93734211}" type="slidenum">
              <a:rPr lang="zh-TW" altLang="en-US" smtClean="0"/>
              <a:t>‹#›</a:t>
            </a:fld>
            <a:endParaRPr lang="zh-TW" altLang="en-US"/>
          </a:p>
        </p:txBody>
      </p:sp>
    </p:spTree>
    <p:extLst>
      <p:ext uri="{BB962C8B-B14F-4D97-AF65-F5344CB8AC3E}">
        <p14:creationId xmlns:p14="http://schemas.microsoft.com/office/powerpoint/2010/main" val="2551451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702C2F-1985-4477-A7B2-2CCEFAD486AF}"/>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509D232E-98EF-4941-A3DB-2B2B16BC85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E0DFEFDA-8868-4C19-95B6-31E69F83C9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9523BA38-19A1-485D-9316-97EEECEBD4BC}"/>
              </a:ext>
            </a:extLst>
          </p:cNvPr>
          <p:cNvSpPr>
            <a:spLocks noGrp="1"/>
          </p:cNvSpPr>
          <p:nvPr>
            <p:ph type="dt" sz="half" idx="10"/>
          </p:nvPr>
        </p:nvSpPr>
        <p:spPr/>
        <p:txBody>
          <a:bodyPr/>
          <a:lstStyle/>
          <a:p>
            <a:fld id="{23AC14DA-D01D-4D0A-8215-83C08FCFAC8B}" type="datetimeFigureOut">
              <a:rPr lang="zh-TW" altLang="en-US" smtClean="0"/>
              <a:t>2017/12/13</a:t>
            </a:fld>
            <a:endParaRPr lang="zh-TW" altLang="en-US"/>
          </a:p>
        </p:txBody>
      </p:sp>
      <p:sp>
        <p:nvSpPr>
          <p:cNvPr id="6" name="頁尾版面配置區 5">
            <a:extLst>
              <a:ext uri="{FF2B5EF4-FFF2-40B4-BE49-F238E27FC236}">
                <a16:creationId xmlns:a16="http://schemas.microsoft.com/office/drawing/2014/main" id="{05C1B473-8BC4-441C-BFA5-B3DEBF109D1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7CAF766-BF98-45EE-9A1E-CAC3189C59E5}"/>
              </a:ext>
            </a:extLst>
          </p:cNvPr>
          <p:cNvSpPr>
            <a:spLocks noGrp="1"/>
          </p:cNvSpPr>
          <p:nvPr>
            <p:ph type="sldNum" sz="quarter" idx="12"/>
          </p:nvPr>
        </p:nvSpPr>
        <p:spPr/>
        <p:txBody>
          <a:bodyPr/>
          <a:lstStyle/>
          <a:p>
            <a:fld id="{30EB4EB3-2F7A-40BD-9679-408F93734211}" type="slidenum">
              <a:rPr lang="zh-TW" altLang="en-US" smtClean="0"/>
              <a:t>‹#›</a:t>
            </a:fld>
            <a:endParaRPr lang="zh-TW" altLang="en-US"/>
          </a:p>
        </p:txBody>
      </p:sp>
    </p:spTree>
    <p:extLst>
      <p:ext uri="{BB962C8B-B14F-4D97-AF65-F5344CB8AC3E}">
        <p14:creationId xmlns:p14="http://schemas.microsoft.com/office/powerpoint/2010/main" val="3655786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547F4B-8F39-4FC4-A331-C0A09839449B}"/>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6940B617-D2A0-4FC9-BE05-F2632AACDE1F}"/>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760B8B0-D87F-4BDC-B623-F981B62AC34E}"/>
              </a:ext>
            </a:extLst>
          </p:cNvPr>
          <p:cNvSpPr>
            <a:spLocks noGrp="1"/>
          </p:cNvSpPr>
          <p:nvPr>
            <p:ph type="dt" sz="half" idx="10"/>
          </p:nvPr>
        </p:nvSpPr>
        <p:spPr/>
        <p:txBody>
          <a:bodyPr/>
          <a:lstStyle/>
          <a:p>
            <a:fld id="{23AC14DA-D01D-4D0A-8215-83C08FCFAC8B}" type="datetimeFigureOut">
              <a:rPr lang="zh-TW" altLang="en-US" smtClean="0"/>
              <a:t>2017/12/13</a:t>
            </a:fld>
            <a:endParaRPr lang="zh-TW" altLang="en-US"/>
          </a:p>
        </p:txBody>
      </p:sp>
      <p:sp>
        <p:nvSpPr>
          <p:cNvPr id="5" name="頁尾版面配置區 4">
            <a:extLst>
              <a:ext uri="{FF2B5EF4-FFF2-40B4-BE49-F238E27FC236}">
                <a16:creationId xmlns:a16="http://schemas.microsoft.com/office/drawing/2014/main" id="{675882E5-7F18-4E12-BD2C-44ECB882418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B58E110-CE11-4CFD-AEB7-89A645D740EF}"/>
              </a:ext>
            </a:extLst>
          </p:cNvPr>
          <p:cNvSpPr>
            <a:spLocks noGrp="1"/>
          </p:cNvSpPr>
          <p:nvPr>
            <p:ph type="sldNum" sz="quarter" idx="12"/>
          </p:nvPr>
        </p:nvSpPr>
        <p:spPr/>
        <p:txBody>
          <a:bodyPr/>
          <a:lstStyle/>
          <a:p>
            <a:fld id="{30EB4EB3-2F7A-40BD-9679-408F93734211}" type="slidenum">
              <a:rPr lang="zh-TW" altLang="en-US" smtClean="0"/>
              <a:t>‹#›</a:t>
            </a:fld>
            <a:endParaRPr lang="zh-TW" altLang="en-US"/>
          </a:p>
        </p:txBody>
      </p:sp>
    </p:spTree>
    <p:extLst>
      <p:ext uri="{BB962C8B-B14F-4D97-AF65-F5344CB8AC3E}">
        <p14:creationId xmlns:p14="http://schemas.microsoft.com/office/powerpoint/2010/main" val="20418926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0D3BA710-9233-4258-B46E-89BC050B83ED}"/>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852639D3-48DF-4DB6-A30A-DF7313FF258A}"/>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6DFC70D-8711-44C2-9787-8641B24EDCF9}"/>
              </a:ext>
            </a:extLst>
          </p:cNvPr>
          <p:cNvSpPr>
            <a:spLocks noGrp="1"/>
          </p:cNvSpPr>
          <p:nvPr>
            <p:ph type="dt" sz="half" idx="10"/>
          </p:nvPr>
        </p:nvSpPr>
        <p:spPr/>
        <p:txBody>
          <a:bodyPr/>
          <a:lstStyle/>
          <a:p>
            <a:fld id="{23AC14DA-D01D-4D0A-8215-83C08FCFAC8B}" type="datetimeFigureOut">
              <a:rPr lang="zh-TW" altLang="en-US" smtClean="0"/>
              <a:t>2017/12/13</a:t>
            </a:fld>
            <a:endParaRPr lang="zh-TW" altLang="en-US"/>
          </a:p>
        </p:txBody>
      </p:sp>
      <p:sp>
        <p:nvSpPr>
          <p:cNvPr id="5" name="頁尾版面配置區 4">
            <a:extLst>
              <a:ext uri="{FF2B5EF4-FFF2-40B4-BE49-F238E27FC236}">
                <a16:creationId xmlns:a16="http://schemas.microsoft.com/office/drawing/2014/main" id="{C7CACE65-978B-4387-9224-08AC561FFCE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8386818-A066-4703-9E13-4FD99D868ADF}"/>
              </a:ext>
            </a:extLst>
          </p:cNvPr>
          <p:cNvSpPr>
            <a:spLocks noGrp="1"/>
          </p:cNvSpPr>
          <p:nvPr>
            <p:ph type="sldNum" sz="quarter" idx="12"/>
          </p:nvPr>
        </p:nvSpPr>
        <p:spPr/>
        <p:txBody>
          <a:bodyPr/>
          <a:lstStyle/>
          <a:p>
            <a:fld id="{30EB4EB3-2F7A-40BD-9679-408F93734211}" type="slidenum">
              <a:rPr lang="zh-TW" altLang="en-US" smtClean="0"/>
              <a:t>‹#›</a:t>
            </a:fld>
            <a:endParaRPr lang="zh-TW" altLang="en-US"/>
          </a:p>
        </p:txBody>
      </p:sp>
    </p:spTree>
    <p:extLst>
      <p:ext uri="{BB962C8B-B14F-4D97-AF65-F5344CB8AC3E}">
        <p14:creationId xmlns:p14="http://schemas.microsoft.com/office/powerpoint/2010/main" val="562019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7745243E-1244-4229-AD9B-509AC6E887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903ABA6B-41EB-44F7-B052-559D494EB5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04000BC-5053-4972-9FF5-761CBF8936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AC14DA-D01D-4D0A-8215-83C08FCFAC8B}" type="datetimeFigureOut">
              <a:rPr lang="zh-TW" altLang="en-US" smtClean="0"/>
              <a:t>2017/12/13</a:t>
            </a:fld>
            <a:endParaRPr lang="zh-TW" altLang="en-US"/>
          </a:p>
        </p:txBody>
      </p:sp>
      <p:sp>
        <p:nvSpPr>
          <p:cNvPr id="5" name="頁尾版面配置區 4">
            <a:extLst>
              <a:ext uri="{FF2B5EF4-FFF2-40B4-BE49-F238E27FC236}">
                <a16:creationId xmlns:a16="http://schemas.microsoft.com/office/drawing/2014/main" id="{D817295E-813D-4535-9C20-5A99331757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1D6F14F-ECA2-4576-9D65-F5F761DFA3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EB4EB3-2F7A-40BD-9679-408F93734211}" type="slidenum">
              <a:rPr lang="zh-TW" altLang="en-US" smtClean="0"/>
              <a:t>‹#›</a:t>
            </a:fld>
            <a:endParaRPr lang="zh-TW" altLang="en-US"/>
          </a:p>
        </p:txBody>
      </p:sp>
    </p:spTree>
    <p:extLst>
      <p:ext uri="{BB962C8B-B14F-4D97-AF65-F5344CB8AC3E}">
        <p14:creationId xmlns:p14="http://schemas.microsoft.com/office/powerpoint/2010/main" val="39590826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D36933-5AF8-4B80-BDE3-CF788D61BB2A}"/>
              </a:ext>
            </a:extLst>
          </p:cNvPr>
          <p:cNvSpPr>
            <a:spLocks noGrp="1"/>
          </p:cNvSpPr>
          <p:nvPr>
            <p:ph type="ctrTitle"/>
          </p:nvPr>
        </p:nvSpPr>
        <p:spPr>
          <a:xfrm>
            <a:off x="511946" y="1109707"/>
            <a:ext cx="11168108" cy="1574631"/>
          </a:xfrm>
        </p:spPr>
        <p:txBody>
          <a:bodyPr>
            <a:normAutofit fontScale="90000"/>
          </a:bodyPr>
          <a:lstStyle/>
          <a:p>
            <a:r>
              <a:rPr lang="en-US" altLang="zh-TW" dirty="0"/>
              <a:t>Iterative Dictionary Construction for Compression of Large DNA Data Sets</a:t>
            </a:r>
            <a:endParaRPr lang="zh-TW" altLang="en-US" dirty="0"/>
          </a:p>
        </p:txBody>
      </p:sp>
      <p:sp>
        <p:nvSpPr>
          <p:cNvPr id="3" name="副標題 2">
            <a:extLst>
              <a:ext uri="{FF2B5EF4-FFF2-40B4-BE49-F238E27FC236}">
                <a16:creationId xmlns:a16="http://schemas.microsoft.com/office/drawing/2014/main" id="{89E2F622-E41F-43BC-8F55-EFCBB9B1FD1E}"/>
              </a:ext>
            </a:extLst>
          </p:cNvPr>
          <p:cNvSpPr>
            <a:spLocks noGrp="1"/>
          </p:cNvSpPr>
          <p:nvPr>
            <p:ph type="subTitle" idx="1"/>
          </p:nvPr>
        </p:nvSpPr>
        <p:spPr>
          <a:xfrm>
            <a:off x="1524000" y="2944238"/>
            <a:ext cx="9144000" cy="1655762"/>
          </a:xfrm>
        </p:spPr>
        <p:txBody>
          <a:bodyPr>
            <a:normAutofit lnSpcReduction="10000"/>
          </a:bodyPr>
          <a:lstStyle/>
          <a:p>
            <a:r>
              <a:rPr lang="en-US" altLang="zh-TW" dirty="0"/>
              <a:t>Shanika </a:t>
            </a:r>
            <a:r>
              <a:rPr lang="en-US" altLang="zh-TW" dirty="0" err="1"/>
              <a:t>Kuruppu</a:t>
            </a:r>
            <a:endParaRPr lang="en-US" altLang="zh-TW" dirty="0"/>
          </a:p>
          <a:p>
            <a:r>
              <a:rPr lang="en-US" altLang="zh-TW" dirty="0"/>
              <a:t>Bryan Beresford-Smith</a:t>
            </a:r>
          </a:p>
          <a:p>
            <a:r>
              <a:rPr lang="en-US" altLang="zh-TW" dirty="0"/>
              <a:t>Thomas Conway</a:t>
            </a:r>
          </a:p>
          <a:p>
            <a:r>
              <a:rPr lang="en-US" altLang="zh-TW" dirty="0"/>
              <a:t>Justin Zobel</a:t>
            </a:r>
            <a:endParaRPr lang="zh-TW" altLang="en-US" dirty="0"/>
          </a:p>
        </p:txBody>
      </p:sp>
      <p:sp>
        <p:nvSpPr>
          <p:cNvPr id="4" name="文字方塊 3">
            <a:extLst>
              <a:ext uri="{FF2B5EF4-FFF2-40B4-BE49-F238E27FC236}">
                <a16:creationId xmlns:a16="http://schemas.microsoft.com/office/drawing/2014/main" id="{36ECB723-02DC-448E-92D0-45004140ACBF}"/>
              </a:ext>
            </a:extLst>
          </p:cNvPr>
          <p:cNvSpPr txBox="1"/>
          <p:nvPr/>
        </p:nvSpPr>
        <p:spPr>
          <a:xfrm>
            <a:off x="4260400" y="5517460"/>
            <a:ext cx="3671198"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Hsiu-</a:t>
            </a:r>
            <a:r>
              <a:rPr lang="en-US" altLang="zh-TW" sz="2400" dirty="0" err="1">
                <a:latin typeface="Times New Roman" panose="02020603050405020304" pitchFamily="18" charset="0"/>
                <a:cs typeface="Times New Roman" panose="02020603050405020304" pitchFamily="18" charset="0"/>
              </a:rPr>
              <a:t>Chieh</a:t>
            </a:r>
            <a:r>
              <a:rPr lang="en-US" altLang="zh-TW" sz="2400" dirty="0">
                <a:latin typeface="Times New Roman" panose="02020603050405020304" pitchFamily="18" charset="0"/>
                <a:cs typeface="Times New Roman" panose="02020603050405020304" pitchFamily="18" charset="0"/>
              </a:rPr>
              <a:t> Hung</a:t>
            </a:r>
            <a:endParaRPr lang="zh-TW" altLang="en-US" sz="2400"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E28A0423-87AB-447E-8170-58ED8227CE53}"/>
              </a:ext>
            </a:extLst>
          </p:cNvPr>
          <p:cNvSpPr txBox="1"/>
          <p:nvPr/>
        </p:nvSpPr>
        <p:spPr>
          <a:xfrm>
            <a:off x="9719732" y="6175021"/>
            <a:ext cx="1794081"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Date: 2017/12/13</a:t>
            </a:r>
            <a:endParaRPr lang="zh-TW" altLang="en-US"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FCA2B44B-4A90-4E01-8F06-D820ADBF9C49}"/>
              </a:ext>
            </a:extLst>
          </p:cNvPr>
          <p:cNvSpPr txBox="1"/>
          <p:nvPr/>
        </p:nvSpPr>
        <p:spPr>
          <a:xfrm>
            <a:off x="831160" y="4833512"/>
            <a:ext cx="10529677" cy="369332"/>
          </a:xfrm>
          <a:prstGeom prst="rect">
            <a:avLst/>
          </a:prstGeom>
          <a:noFill/>
        </p:spPr>
        <p:txBody>
          <a:bodyPr wrap="none" rtlCol="0">
            <a:spAutoFit/>
          </a:bodyPr>
          <a:lstStyle/>
          <a:p>
            <a:r>
              <a:rPr lang="en-US" altLang="zh-TW" dirty="0"/>
              <a:t>IEEE/ACM Transactions on Computational Biology and Bioinformatics, VOL. 9, NO. 1, JANUARY/FEBRUARY 2012</a:t>
            </a:r>
            <a:endParaRPr lang="zh-TW" altLang="en-US" dirty="0"/>
          </a:p>
        </p:txBody>
      </p:sp>
    </p:spTree>
    <p:extLst>
      <p:ext uri="{BB962C8B-B14F-4D97-AF65-F5344CB8AC3E}">
        <p14:creationId xmlns:p14="http://schemas.microsoft.com/office/powerpoint/2010/main" val="1802666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E22EFF5-0B32-4C43-91BF-07B97D0088F8}"/>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Abstract(1/2)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8594AB04-DCAE-4BB7-8F2B-41AB66A470D4}"/>
              </a:ext>
            </a:extLst>
          </p:cNvPr>
          <p:cNvSpPr>
            <a:spLocks noGrp="1"/>
          </p:cNvSpPr>
          <p:nvPr>
            <p:ph idx="1"/>
          </p:nvPr>
        </p:nvSpPr>
        <p:spPr>
          <a:xfrm>
            <a:off x="838200" y="1825625"/>
            <a:ext cx="10515600" cy="4667250"/>
          </a:xfrm>
        </p:spPr>
        <p:txBody>
          <a:bodyPr>
            <a:noAutofit/>
          </a:bodyPr>
          <a:lstStyle/>
          <a:p>
            <a:pPr marL="0" indent="0">
              <a:buNone/>
            </a:pPr>
            <a:r>
              <a:rPr lang="en-US" altLang="zh-TW" dirty="0"/>
              <a:t>Genomic repositories increasingly include individual as well as reference sequences, which tend to share long identical and near-identical strings of nucleotides. However, the sequential processing used by most compression algorithms, and the volumes of data involved, mean that these long-range repetitions are not detected. An order-insensitive, disk-based dictionary construction method can detect this repeated content and use it to compress collections of sequences. We explore a dictionary construction method that improves repeat identification in large DNA data sets. Our adaptation, COMRAD, of an existing disk-based method identifies exact repeated content in collections of sequences with similarities within and across the set of input sequences. </a:t>
            </a:r>
            <a:endParaRPr lang="zh-TW" altLang="en-US" dirty="0"/>
          </a:p>
        </p:txBody>
      </p:sp>
    </p:spTree>
    <p:extLst>
      <p:ext uri="{BB962C8B-B14F-4D97-AF65-F5344CB8AC3E}">
        <p14:creationId xmlns:p14="http://schemas.microsoft.com/office/powerpoint/2010/main" val="1122987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83772FD7-7E66-4F5B-A03A-CA21B3AAFA3D}"/>
              </a:ext>
            </a:extLst>
          </p:cNvPr>
          <p:cNvSpPr>
            <a:spLocks noGrp="1"/>
          </p:cNvSpPr>
          <p:nvPr>
            <p:ph idx="1"/>
          </p:nvPr>
        </p:nvSpPr>
        <p:spPr/>
        <p:txBody>
          <a:bodyPr/>
          <a:lstStyle/>
          <a:p>
            <a:pPr marL="0" indent="0">
              <a:buNone/>
            </a:pPr>
            <a:r>
              <a:rPr lang="en-US" altLang="zh-TW" dirty="0"/>
              <a:t>COMRAD compresses the data over multiple passes, which is an expensive process, but allows COMRAD to compress large data sets within reasonable time and space. COMRAD allows for random access to individual sequences and subsequences without decompressing the whole data set. COMRAD has no competitor in terms of the size of data sets that it can compress (extending to many hundreds of gigabytes) and, even for smaller data sets, the results are competitive compared to alternatives; as an example, 39 S. cerevisiae genomes compressed to 0.25 bits per base.</a:t>
            </a:r>
            <a:endParaRPr lang="zh-TW" altLang="en-US" dirty="0"/>
          </a:p>
        </p:txBody>
      </p:sp>
      <p:sp>
        <p:nvSpPr>
          <p:cNvPr id="4" name="標題 1">
            <a:extLst>
              <a:ext uri="{FF2B5EF4-FFF2-40B4-BE49-F238E27FC236}">
                <a16:creationId xmlns:a16="http://schemas.microsoft.com/office/drawing/2014/main" id="{1FDBE1BE-390F-4686-87BC-3B44FD196314}"/>
              </a:ext>
            </a:extLst>
          </p:cNvPr>
          <p:cNvSpPr>
            <a:spLocks noGrp="1"/>
          </p:cNvSpPr>
          <p:nvPr>
            <p:ph type="title"/>
          </p:nvPr>
        </p:nvSpPr>
        <p:spPr>
          <a:xfrm>
            <a:off x="838200" y="365125"/>
            <a:ext cx="10515600" cy="1325563"/>
          </a:xfrm>
        </p:spPr>
        <p:txBody>
          <a:bodyPr/>
          <a:lstStyle/>
          <a:p>
            <a:pPr algn="ctr"/>
            <a:r>
              <a:rPr lang="en-US" altLang="zh-TW" dirty="0">
                <a:latin typeface="Times New Roman" panose="02020603050405020304" pitchFamily="18" charset="0"/>
                <a:cs typeface="Times New Roman" panose="02020603050405020304" pitchFamily="18" charset="0"/>
              </a:rPr>
              <a:t>Abstract(2/2)</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0488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D910460-8B4D-42BE-9B55-5748A13E3F5F}"/>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RAY</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F46FA8F5-360F-4ADD-B9AD-99C5C2F7EA62}"/>
              </a:ext>
            </a:extLst>
          </p:cNvPr>
          <p:cNvSpPr txBox="1"/>
          <p:nvPr/>
        </p:nvSpPr>
        <p:spPr>
          <a:xfrm>
            <a:off x="4604245" y="1690688"/>
            <a:ext cx="2983509"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Input</a:t>
            </a:r>
            <a:r>
              <a:rPr lang="zh-TW" altLang="en-US"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aabcbcaabcabc</a:t>
            </a:r>
            <a:endParaRPr lang="zh-TW" altLang="en-US" sz="2400" dirty="0">
              <a:latin typeface="Times New Roman" panose="02020603050405020304" pitchFamily="18" charset="0"/>
              <a:cs typeface="Times New Roman" panose="02020603050405020304" pitchFamily="18" charset="0"/>
            </a:endParaRPr>
          </a:p>
        </p:txBody>
      </p:sp>
      <p:sp>
        <p:nvSpPr>
          <p:cNvPr id="6" name="矩形: 圓角 5">
            <a:extLst>
              <a:ext uri="{FF2B5EF4-FFF2-40B4-BE49-F238E27FC236}">
                <a16:creationId xmlns:a16="http://schemas.microsoft.com/office/drawing/2014/main" id="{477221E2-910C-4DF6-9976-6187E213B8E5}"/>
              </a:ext>
            </a:extLst>
          </p:cNvPr>
          <p:cNvSpPr/>
          <p:nvPr/>
        </p:nvSpPr>
        <p:spPr>
          <a:xfrm>
            <a:off x="5619565" y="1766657"/>
            <a:ext cx="292963" cy="32847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7850600E-9964-41F4-AD53-458FED2D649A}"/>
              </a:ext>
            </a:extLst>
          </p:cNvPr>
          <p:cNvSpPr txBox="1"/>
          <p:nvPr/>
        </p:nvSpPr>
        <p:spPr>
          <a:xfrm>
            <a:off x="838199" y="1304992"/>
            <a:ext cx="96212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Step 1</a:t>
            </a:r>
            <a:endParaRPr lang="zh-TW" altLang="en-US" sz="2400"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D52A45B5-E70E-4FE0-9CD7-C48A7EF09EB7}"/>
              </a:ext>
            </a:extLst>
          </p:cNvPr>
          <p:cNvSpPr txBox="1"/>
          <p:nvPr/>
        </p:nvSpPr>
        <p:spPr>
          <a:xfrm>
            <a:off x="4604245" y="2317072"/>
            <a:ext cx="696024"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aa:1</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0556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1" animBg="1"/>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D910460-8B4D-42BE-9B55-5748A13E3F5F}"/>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RAY</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F46FA8F5-360F-4ADD-B9AD-99C5C2F7EA62}"/>
              </a:ext>
            </a:extLst>
          </p:cNvPr>
          <p:cNvSpPr txBox="1"/>
          <p:nvPr/>
        </p:nvSpPr>
        <p:spPr>
          <a:xfrm>
            <a:off x="4604245" y="1690688"/>
            <a:ext cx="2983509"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Input</a:t>
            </a:r>
            <a:r>
              <a:rPr lang="zh-TW" altLang="en-US"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aabcbcaabcabc</a:t>
            </a:r>
            <a:endParaRPr lang="zh-TW" altLang="en-US" sz="2400" dirty="0">
              <a:latin typeface="Times New Roman" panose="02020603050405020304" pitchFamily="18" charset="0"/>
              <a:cs typeface="Times New Roman" panose="02020603050405020304" pitchFamily="18" charset="0"/>
            </a:endParaRPr>
          </a:p>
        </p:txBody>
      </p:sp>
      <p:sp>
        <p:nvSpPr>
          <p:cNvPr id="6" name="矩形: 圓角 5">
            <a:extLst>
              <a:ext uri="{FF2B5EF4-FFF2-40B4-BE49-F238E27FC236}">
                <a16:creationId xmlns:a16="http://schemas.microsoft.com/office/drawing/2014/main" id="{477221E2-910C-4DF6-9976-6187E213B8E5}"/>
              </a:ext>
            </a:extLst>
          </p:cNvPr>
          <p:cNvSpPr/>
          <p:nvPr/>
        </p:nvSpPr>
        <p:spPr>
          <a:xfrm>
            <a:off x="5776322" y="1766657"/>
            <a:ext cx="292963" cy="32847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7850600E-9964-41F4-AD53-458FED2D649A}"/>
              </a:ext>
            </a:extLst>
          </p:cNvPr>
          <p:cNvSpPr txBox="1"/>
          <p:nvPr/>
        </p:nvSpPr>
        <p:spPr>
          <a:xfrm>
            <a:off x="838199" y="1304992"/>
            <a:ext cx="96212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Step 1</a:t>
            </a:r>
            <a:endParaRPr lang="zh-TW" altLang="en-US" sz="2400"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D52A45B5-E70E-4FE0-9CD7-C48A7EF09EB7}"/>
              </a:ext>
            </a:extLst>
          </p:cNvPr>
          <p:cNvSpPr txBox="1"/>
          <p:nvPr/>
        </p:nvSpPr>
        <p:spPr>
          <a:xfrm>
            <a:off x="4604245" y="2317072"/>
            <a:ext cx="696024"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aa:1</a:t>
            </a:r>
            <a:endParaRPr lang="zh-TW" altLang="en-US" sz="2400"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084729DC-79DB-4E66-A85E-3A6B27E9469E}"/>
              </a:ext>
            </a:extLst>
          </p:cNvPr>
          <p:cNvSpPr txBox="1"/>
          <p:nvPr/>
        </p:nvSpPr>
        <p:spPr>
          <a:xfrm>
            <a:off x="5255228"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ab:1</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1247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D910460-8B4D-42BE-9B55-5748A13E3F5F}"/>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RAY</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F46FA8F5-360F-4ADD-B9AD-99C5C2F7EA62}"/>
              </a:ext>
            </a:extLst>
          </p:cNvPr>
          <p:cNvSpPr txBox="1"/>
          <p:nvPr/>
        </p:nvSpPr>
        <p:spPr>
          <a:xfrm>
            <a:off x="4604245" y="1690688"/>
            <a:ext cx="2983509"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Input</a:t>
            </a:r>
            <a:r>
              <a:rPr lang="zh-TW" altLang="en-US"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aabcbcaabcabc</a:t>
            </a:r>
            <a:endParaRPr lang="zh-TW" altLang="en-US" sz="2400" dirty="0">
              <a:latin typeface="Times New Roman" panose="02020603050405020304" pitchFamily="18" charset="0"/>
              <a:cs typeface="Times New Roman" panose="02020603050405020304" pitchFamily="18" charset="0"/>
            </a:endParaRPr>
          </a:p>
        </p:txBody>
      </p:sp>
      <p:sp>
        <p:nvSpPr>
          <p:cNvPr id="6" name="矩形: 圓角 5">
            <a:extLst>
              <a:ext uri="{FF2B5EF4-FFF2-40B4-BE49-F238E27FC236}">
                <a16:creationId xmlns:a16="http://schemas.microsoft.com/office/drawing/2014/main" id="{477221E2-910C-4DF6-9976-6187E213B8E5}"/>
              </a:ext>
            </a:extLst>
          </p:cNvPr>
          <p:cNvSpPr/>
          <p:nvPr/>
        </p:nvSpPr>
        <p:spPr>
          <a:xfrm>
            <a:off x="5915660" y="1766657"/>
            <a:ext cx="292963" cy="32847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7850600E-9964-41F4-AD53-458FED2D649A}"/>
              </a:ext>
            </a:extLst>
          </p:cNvPr>
          <p:cNvSpPr txBox="1"/>
          <p:nvPr/>
        </p:nvSpPr>
        <p:spPr>
          <a:xfrm>
            <a:off x="838199" y="1304992"/>
            <a:ext cx="96212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Step 1</a:t>
            </a:r>
            <a:endParaRPr lang="zh-TW" altLang="en-US" sz="2400"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D52A45B5-E70E-4FE0-9CD7-C48A7EF09EB7}"/>
              </a:ext>
            </a:extLst>
          </p:cNvPr>
          <p:cNvSpPr txBox="1"/>
          <p:nvPr/>
        </p:nvSpPr>
        <p:spPr>
          <a:xfrm>
            <a:off x="4604245" y="2317072"/>
            <a:ext cx="696024"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aa:1</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2A469D28-84E6-4464-A9F4-62BB7C814C9B}"/>
              </a:ext>
            </a:extLst>
          </p:cNvPr>
          <p:cNvSpPr txBox="1"/>
          <p:nvPr/>
        </p:nvSpPr>
        <p:spPr>
          <a:xfrm>
            <a:off x="5951252"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bc:1</a:t>
            </a:r>
            <a:endParaRPr lang="zh-TW" altLang="en-US" sz="2400" dirty="0">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575C656A-AF75-4346-A6D2-E82632697C6B}"/>
              </a:ext>
            </a:extLst>
          </p:cNvPr>
          <p:cNvSpPr txBox="1"/>
          <p:nvPr/>
        </p:nvSpPr>
        <p:spPr>
          <a:xfrm>
            <a:off x="5255228"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ab:1</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1398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D910460-8B4D-42BE-9B55-5748A13E3F5F}"/>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RAY</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F46FA8F5-360F-4ADD-B9AD-99C5C2F7EA62}"/>
              </a:ext>
            </a:extLst>
          </p:cNvPr>
          <p:cNvSpPr txBox="1"/>
          <p:nvPr/>
        </p:nvSpPr>
        <p:spPr>
          <a:xfrm>
            <a:off x="4604245" y="1690688"/>
            <a:ext cx="2983509"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Input</a:t>
            </a:r>
            <a:r>
              <a:rPr lang="zh-TW" altLang="en-US"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aabcbcaabcabc</a:t>
            </a:r>
            <a:endParaRPr lang="zh-TW" altLang="en-US" sz="2400" dirty="0">
              <a:latin typeface="Times New Roman" panose="02020603050405020304" pitchFamily="18" charset="0"/>
              <a:cs typeface="Times New Roman" panose="02020603050405020304" pitchFamily="18" charset="0"/>
            </a:endParaRPr>
          </a:p>
        </p:txBody>
      </p:sp>
      <p:sp>
        <p:nvSpPr>
          <p:cNvPr id="6" name="矩形: 圓角 5">
            <a:extLst>
              <a:ext uri="{FF2B5EF4-FFF2-40B4-BE49-F238E27FC236}">
                <a16:creationId xmlns:a16="http://schemas.microsoft.com/office/drawing/2014/main" id="{477221E2-910C-4DF6-9976-6187E213B8E5}"/>
              </a:ext>
            </a:extLst>
          </p:cNvPr>
          <p:cNvSpPr/>
          <p:nvPr/>
        </p:nvSpPr>
        <p:spPr>
          <a:xfrm>
            <a:off x="6072418" y="1766657"/>
            <a:ext cx="292963" cy="32847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7850600E-9964-41F4-AD53-458FED2D649A}"/>
              </a:ext>
            </a:extLst>
          </p:cNvPr>
          <p:cNvSpPr txBox="1"/>
          <p:nvPr/>
        </p:nvSpPr>
        <p:spPr>
          <a:xfrm>
            <a:off x="838199" y="1304992"/>
            <a:ext cx="96212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Step 1</a:t>
            </a:r>
            <a:endParaRPr lang="zh-TW" altLang="en-US" sz="2400"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D52A45B5-E70E-4FE0-9CD7-C48A7EF09EB7}"/>
              </a:ext>
            </a:extLst>
          </p:cNvPr>
          <p:cNvSpPr txBox="1"/>
          <p:nvPr/>
        </p:nvSpPr>
        <p:spPr>
          <a:xfrm>
            <a:off x="4604245" y="2317072"/>
            <a:ext cx="696024"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aa:1</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2A469D28-84E6-4464-A9F4-62BB7C814C9B}"/>
              </a:ext>
            </a:extLst>
          </p:cNvPr>
          <p:cNvSpPr txBox="1"/>
          <p:nvPr/>
        </p:nvSpPr>
        <p:spPr>
          <a:xfrm>
            <a:off x="5951252"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bc:1</a:t>
            </a:r>
            <a:endParaRPr lang="zh-TW" altLang="en-US" sz="2400" dirty="0">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575C656A-AF75-4346-A6D2-E82632697C6B}"/>
              </a:ext>
            </a:extLst>
          </p:cNvPr>
          <p:cNvSpPr txBox="1"/>
          <p:nvPr/>
        </p:nvSpPr>
        <p:spPr>
          <a:xfrm>
            <a:off x="5255228"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ab:1</a:t>
            </a:r>
            <a:endParaRPr lang="zh-TW" altLang="en-US" sz="2400"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E31B0A87-A380-469B-9582-BE7751A5D00B}"/>
              </a:ext>
            </a:extLst>
          </p:cNvPr>
          <p:cNvSpPr txBox="1"/>
          <p:nvPr/>
        </p:nvSpPr>
        <p:spPr>
          <a:xfrm>
            <a:off x="6664909"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cb:1</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0949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D910460-8B4D-42BE-9B55-5748A13E3F5F}"/>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RAY</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F46FA8F5-360F-4ADD-B9AD-99C5C2F7EA62}"/>
              </a:ext>
            </a:extLst>
          </p:cNvPr>
          <p:cNvSpPr txBox="1"/>
          <p:nvPr/>
        </p:nvSpPr>
        <p:spPr>
          <a:xfrm>
            <a:off x="4604245" y="1690688"/>
            <a:ext cx="2983509"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Input</a:t>
            </a:r>
            <a:r>
              <a:rPr lang="zh-TW" altLang="en-US"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aabcbcaabcabc</a:t>
            </a:r>
            <a:endParaRPr lang="zh-TW" altLang="en-US" sz="2400" dirty="0">
              <a:latin typeface="Times New Roman" panose="02020603050405020304" pitchFamily="18" charset="0"/>
              <a:cs typeface="Times New Roman" panose="02020603050405020304" pitchFamily="18" charset="0"/>
            </a:endParaRPr>
          </a:p>
        </p:txBody>
      </p:sp>
      <p:sp>
        <p:nvSpPr>
          <p:cNvPr id="6" name="矩形: 圓角 5">
            <a:extLst>
              <a:ext uri="{FF2B5EF4-FFF2-40B4-BE49-F238E27FC236}">
                <a16:creationId xmlns:a16="http://schemas.microsoft.com/office/drawing/2014/main" id="{477221E2-910C-4DF6-9976-6187E213B8E5}"/>
              </a:ext>
            </a:extLst>
          </p:cNvPr>
          <p:cNvSpPr/>
          <p:nvPr/>
        </p:nvSpPr>
        <p:spPr>
          <a:xfrm>
            <a:off x="6196434" y="1757284"/>
            <a:ext cx="292963" cy="32847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7850600E-9964-41F4-AD53-458FED2D649A}"/>
              </a:ext>
            </a:extLst>
          </p:cNvPr>
          <p:cNvSpPr txBox="1"/>
          <p:nvPr/>
        </p:nvSpPr>
        <p:spPr>
          <a:xfrm>
            <a:off x="838199" y="1304992"/>
            <a:ext cx="96212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Step 1</a:t>
            </a:r>
            <a:endParaRPr lang="zh-TW" altLang="en-US" sz="2400"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D52A45B5-E70E-4FE0-9CD7-C48A7EF09EB7}"/>
              </a:ext>
            </a:extLst>
          </p:cNvPr>
          <p:cNvSpPr txBox="1"/>
          <p:nvPr/>
        </p:nvSpPr>
        <p:spPr>
          <a:xfrm>
            <a:off x="4604245" y="2317072"/>
            <a:ext cx="696024"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aa:1</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2A469D28-84E6-4464-A9F4-62BB7C814C9B}"/>
              </a:ext>
            </a:extLst>
          </p:cNvPr>
          <p:cNvSpPr txBox="1"/>
          <p:nvPr/>
        </p:nvSpPr>
        <p:spPr>
          <a:xfrm>
            <a:off x="5951252"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bc:2</a:t>
            </a:r>
            <a:endParaRPr lang="zh-TW" altLang="en-US" sz="2400" dirty="0">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575C656A-AF75-4346-A6D2-E82632697C6B}"/>
              </a:ext>
            </a:extLst>
          </p:cNvPr>
          <p:cNvSpPr txBox="1"/>
          <p:nvPr/>
        </p:nvSpPr>
        <p:spPr>
          <a:xfrm>
            <a:off x="5255228"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ab:1</a:t>
            </a:r>
            <a:endParaRPr lang="zh-TW" altLang="en-US" sz="2400"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E31B0A87-A380-469B-9582-BE7751A5D00B}"/>
              </a:ext>
            </a:extLst>
          </p:cNvPr>
          <p:cNvSpPr txBox="1"/>
          <p:nvPr/>
        </p:nvSpPr>
        <p:spPr>
          <a:xfrm>
            <a:off x="6664909"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cb:1</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4941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D910460-8B4D-42BE-9B55-5748A13E3F5F}"/>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RAY</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F46FA8F5-360F-4ADD-B9AD-99C5C2F7EA62}"/>
              </a:ext>
            </a:extLst>
          </p:cNvPr>
          <p:cNvSpPr txBox="1"/>
          <p:nvPr/>
        </p:nvSpPr>
        <p:spPr>
          <a:xfrm>
            <a:off x="4604245" y="1690688"/>
            <a:ext cx="2983509"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Input</a:t>
            </a:r>
            <a:r>
              <a:rPr lang="zh-TW" altLang="en-US"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aabcbcaabcabc</a:t>
            </a:r>
            <a:endParaRPr lang="zh-TW" altLang="en-US" sz="2400" dirty="0">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7850600E-9964-41F4-AD53-458FED2D649A}"/>
              </a:ext>
            </a:extLst>
          </p:cNvPr>
          <p:cNvSpPr txBox="1"/>
          <p:nvPr/>
        </p:nvSpPr>
        <p:spPr>
          <a:xfrm>
            <a:off x="838199" y="1304992"/>
            <a:ext cx="96212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Step 1</a:t>
            </a:r>
            <a:endParaRPr lang="zh-TW" altLang="en-US" sz="2400"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D52A45B5-E70E-4FE0-9CD7-C48A7EF09EB7}"/>
              </a:ext>
            </a:extLst>
          </p:cNvPr>
          <p:cNvSpPr txBox="1"/>
          <p:nvPr/>
        </p:nvSpPr>
        <p:spPr>
          <a:xfrm>
            <a:off x="4604245" y="2317072"/>
            <a:ext cx="696024"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aa:2</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2A469D28-84E6-4464-A9F4-62BB7C814C9B}"/>
              </a:ext>
            </a:extLst>
          </p:cNvPr>
          <p:cNvSpPr txBox="1"/>
          <p:nvPr/>
        </p:nvSpPr>
        <p:spPr>
          <a:xfrm>
            <a:off x="5951252"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bc:4</a:t>
            </a:r>
            <a:endParaRPr lang="zh-TW" altLang="en-US" sz="2400" dirty="0">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575C656A-AF75-4346-A6D2-E82632697C6B}"/>
              </a:ext>
            </a:extLst>
          </p:cNvPr>
          <p:cNvSpPr txBox="1"/>
          <p:nvPr/>
        </p:nvSpPr>
        <p:spPr>
          <a:xfrm>
            <a:off x="5255228"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ab:3</a:t>
            </a:r>
            <a:endParaRPr lang="zh-TW" altLang="en-US" sz="2400"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E31B0A87-A380-469B-9582-BE7751A5D00B}"/>
              </a:ext>
            </a:extLst>
          </p:cNvPr>
          <p:cNvSpPr txBox="1"/>
          <p:nvPr/>
        </p:nvSpPr>
        <p:spPr>
          <a:xfrm>
            <a:off x="6664909"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cb:1</a:t>
            </a:r>
            <a:endParaRPr lang="zh-TW" altLang="en-US" sz="2400" dirty="0">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FB82AE50-4EF8-491C-98AB-39D048A4EAA2}"/>
              </a:ext>
            </a:extLst>
          </p:cNvPr>
          <p:cNvSpPr txBox="1"/>
          <p:nvPr/>
        </p:nvSpPr>
        <p:spPr>
          <a:xfrm>
            <a:off x="7315892" y="2317071"/>
            <a:ext cx="696024"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ca:2</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8883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D910460-8B4D-42BE-9B55-5748A13E3F5F}"/>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RAY</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F46FA8F5-360F-4ADD-B9AD-99C5C2F7EA62}"/>
              </a:ext>
            </a:extLst>
          </p:cNvPr>
          <p:cNvSpPr txBox="1"/>
          <p:nvPr/>
        </p:nvSpPr>
        <p:spPr>
          <a:xfrm>
            <a:off x="4604245" y="1690688"/>
            <a:ext cx="2983509"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Input</a:t>
            </a:r>
            <a:r>
              <a:rPr lang="zh-TW" altLang="en-US"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aabcbcaabcabc</a:t>
            </a:r>
            <a:endParaRPr lang="zh-TW" altLang="en-US" sz="2400" dirty="0">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7850600E-9964-41F4-AD53-458FED2D649A}"/>
              </a:ext>
            </a:extLst>
          </p:cNvPr>
          <p:cNvSpPr txBox="1"/>
          <p:nvPr/>
        </p:nvSpPr>
        <p:spPr>
          <a:xfrm>
            <a:off x="838199" y="1304992"/>
            <a:ext cx="96212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Step 2</a:t>
            </a:r>
            <a:endParaRPr lang="zh-TW" altLang="en-US" sz="2400"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D52A45B5-E70E-4FE0-9CD7-C48A7EF09EB7}"/>
              </a:ext>
            </a:extLst>
          </p:cNvPr>
          <p:cNvSpPr txBox="1"/>
          <p:nvPr/>
        </p:nvSpPr>
        <p:spPr>
          <a:xfrm>
            <a:off x="4604245" y="2317072"/>
            <a:ext cx="696024"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aa:2</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2A469D28-84E6-4464-A9F4-62BB7C814C9B}"/>
              </a:ext>
            </a:extLst>
          </p:cNvPr>
          <p:cNvSpPr txBox="1"/>
          <p:nvPr/>
        </p:nvSpPr>
        <p:spPr>
          <a:xfrm>
            <a:off x="5951252"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bc:4</a:t>
            </a:r>
            <a:endParaRPr lang="zh-TW" altLang="en-US" sz="2400" dirty="0">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575C656A-AF75-4346-A6D2-E82632697C6B}"/>
              </a:ext>
            </a:extLst>
          </p:cNvPr>
          <p:cNvSpPr txBox="1"/>
          <p:nvPr/>
        </p:nvSpPr>
        <p:spPr>
          <a:xfrm>
            <a:off x="5255228"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ab:3</a:t>
            </a:r>
            <a:endParaRPr lang="zh-TW" altLang="en-US" sz="2400"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E31B0A87-A380-469B-9582-BE7751A5D00B}"/>
              </a:ext>
            </a:extLst>
          </p:cNvPr>
          <p:cNvSpPr txBox="1"/>
          <p:nvPr/>
        </p:nvSpPr>
        <p:spPr>
          <a:xfrm>
            <a:off x="6664909"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cb:1</a:t>
            </a:r>
            <a:endParaRPr lang="zh-TW" altLang="en-US" sz="2400" dirty="0">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FB82AE50-4EF8-491C-98AB-39D048A4EAA2}"/>
              </a:ext>
            </a:extLst>
          </p:cNvPr>
          <p:cNvSpPr txBox="1"/>
          <p:nvPr/>
        </p:nvSpPr>
        <p:spPr>
          <a:xfrm>
            <a:off x="7315892" y="2317071"/>
            <a:ext cx="696024"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ca:2</a:t>
            </a:r>
            <a:endParaRPr lang="zh-TW" altLang="en-US" sz="2400" dirty="0">
              <a:latin typeface="Times New Roman" panose="02020603050405020304" pitchFamily="18" charset="0"/>
              <a:cs typeface="Times New Roman" panose="02020603050405020304" pitchFamily="18" charset="0"/>
            </a:endParaRPr>
          </a:p>
        </p:txBody>
      </p:sp>
      <p:sp>
        <p:nvSpPr>
          <p:cNvPr id="3" name="文字方塊 2">
            <a:extLst>
              <a:ext uri="{FF2B5EF4-FFF2-40B4-BE49-F238E27FC236}">
                <a16:creationId xmlns:a16="http://schemas.microsoft.com/office/drawing/2014/main" id="{730166B6-FD2D-40CC-B362-983295C37440}"/>
              </a:ext>
            </a:extLst>
          </p:cNvPr>
          <p:cNvSpPr txBox="1"/>
          <p:nvPr/>
        </p:nvSpPr>
        <p:spPr>
          <a:xfrm>
            <a:off x="4604245" y="3198167"/>
            <a:ext cx="3946914" cy="461665"/>
          </a:xfrm>
          <a:prstGeom prst="rect">
            <a:avLst/>
          </a:prstGeom>
          <a:noFill/>
        </p:spPr>
        <p:txBody>
          <a:bodyPr wrap="none" rtlCol="0">
            <a:spAutoFit/>
          </a:bodyPr>
          <a:lstStyle/>
          <a:p>
            <a:r>
              <a:rPr lang="en-US" altLang="zh-TW" sz="2400" dirty="0" err="1">
                <a:solidFill>
                  <a:srgbClr val="FF0000"/>
                </a:solidFill>
                <a:latin typeface="Times New Roman" panose="02020603050405020304" pitchFamily="18" charset="0"/>
                <a:cs typeface="Times New Roman" panose="02020603050405020304" pitchFamily="18" charset="0"/>
              </a:rPr>
              <a:t>aab</a:t>
            </a:r>
            <a:r>
              <a:rPr lang="en-US" altLang="zh-TW" sz="2400" dirty="0" err="1">
                <a:latin typeface="Times New Roman" panose="02020603050405020304" pitchFamily="18" charset="0"/>
                <a:cs typeface="Times New Roman" panose="02020603050405020304" pitchFamily="18" charset="0"/>
              </a:rPr>
              <a:t>cbcaabcabc</a:t>
            </a:r>
            <a:r>
              <a:rPr lang="en-US" altLang="zh-TW" sz="2400" dirty="0">
                <a:latin typeface="Times New Roman" panose="02020603050405020304" pitchFamily="18" charset="0"/>
                <a:cs typeface="Times New Roman" panose="02020603050405020304" pitchFamily="18" charset="0"/>
              </a:rPr>
              <a:t>  (no candidate)</a:t>
            </a:r>
            <a:endParaRPr lang="zh-TW" altLang="en-US" sz="2400"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11873063-7060-4AE0-9B48-A5E63FDEC3B7}"/>
              </a:ext>
            </a:extLst>
          </p:cNvPr>
          <p:cNvSpPr txBox="1"/>
          <p:nvPr/>
        </p:nvSpPr>
        <p:spPr>
          <a:xfrm>
            <a:off x="803510" y="1855406"/>
            <a:ext cx="199362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threshold f = 2</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2372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D910460-8B4D-42BE-9B55-5748A13E3F5F}"/>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RAY</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F46FA8F5-360F-4ADD-B9AD-99C5C2F7EA62}"/>
              </a:ext>
            </a:extLst>
          </p:cNvPr>
          <p:cNvSpPr txBox="1"/>
          <p:nvPr/>
        </p:nvSpPr>
        <p:spPr>
          <a:xfrm>
            <a:off x="4604245" y="1690688"/>
            <a:ext cx="2983509"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Input</a:t>
            </a:r>
            <a:r>
              <a:rPr lang="zh-TW" altLang="en-US"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aabcbcaabcabc</a:t>
            </a:r>
            <a:endParaRPr lang="zh-TW" altLang="en-US" sz="2400" dirty="0">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7850600E-9964-41F4-AD53-458FED2D649A}"/>
              </a:ext>
            </a:extLst>
          </p:cNvPr>
          <p:cNvSpPr txBox="1"/>
          <p:nvPr/>
        </p:nvSpPr>
        <p:spPr>
          <a:xfrm>
            <a:off x="838199" y="1304992"/>
            <a:ext cx="96212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Step 2</a:t>
            </a:r>
            <a:endParaRPr lang="zh-TW" altLang="en-US" sz="2400"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D52A45B5-E70E-4FE0-9CD7-C48A7EF09EB7}"/>
              </a:ext>
            </a:extLst>
          </p:cNvPr>
          <p:cNvSpPr txBox="1"/>
          <p:nvPr/>
        </p:nvSpPr>
        <p:spPr>
          <a:xfrm>
            <a:off x="4604245" y="2317072"/>
            <a:ext cx="696024"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aa:2</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2A469D28-84E6-4464-A9F4-62BB7C814C9B}"/>
              </a:ext>
            </a:extLst>
          </p:cNvPr>
          <p:cNvSpPr txBox="1"/>
          <p:nvPr/>
        </p:nvSpPr>
        <p:spPr>
          <a:xfrm>
            <a:off x="5951252"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bc:4</a:t>
            </a:r>
            <a:endParaRPr lang="zh-TW" altLang="en-US" sz="2400" dirty="0">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575C656A-AF75-4346-A6D2-E82632697C6B}"/>
              </a:ext>
            </a:extLst>
          </p:cNvPr>
          <p:cNvSpPr txBox="1"/>
          <p:nvPr/>
        </p:nvSpPr>
        <p:spPr>
          <a:xfrm>
            <a:off x="5255228"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ab:3</a:t>
            </a:r>
            <a:endParaRPr lang="zh-TW" altLang="en-US" sz="2400"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E31B0A87-A380-469B-9582-BE7751A5D00B}"/>
              </a:ext>
            </a:extLst>
          </p:cNvPr>
          <p:cNvSpPr txBox="1"/>
          <p:nvPr/>
        </p:nvSpPr>
        <p:spPr>
          <a:xfrm>
            <a:off x="6664909"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cb:1</a:t>
            </a:r>
            <a:endParaRPr lang="zh-TW" altLang="en-US" sz="2400" dirty="0">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FB82AE50-4EF8-491C-98AB-39D048A4EAA2}"/>
              </a:ext>
            </a:extLst>
          </p:cNvPr>
          <p:cNvSpPr txBox="1"/>
          <p:nvPr/>
        </p:nvSpPr>
        <p:spPr>
          <a:xfrm>
            <a:off x="7315892" y="2317071"/>
            <a:ext cx="696024"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ca:2</a:t>
            </a:r>
            <a:endParaRPr lang="zh-TW" altLang="en-US" sz="2400" dirty="0">
              <a:latin typeface="Times New Roman" panose="02020603050405020304" pitchFamily="18" charset="0"/>
              <a:cs typeface="Times New Roman" panose="02020603050405020304" pitchFamily="18" charset="0"/>
            </a:endParaRPr>
          </a:p>
        </p:txBody>
      </p:sp>
      <p:sp>
        <p:nvSpPr>
          <p:cNvPr id="3" name="文字方塊 2">
            <a:extLst>
              <a:ext uri="{FF2B5EF4-FFF2-40B4-BE49-F238E27FC236}">
                <a16:creationId xmlns:a16="http://schemas.microsoft.com/office/drawing/2014/main" id="{730166B6-FD2D-40CC-B362-983295C37440}"/>
              </a:ext>
            </a:extLst>
          </p:cNvPr>
          <p:cNvSpPr txBox="1"/>
          <p:nvPr/>
        </p:nvSpPr>
        <p:spPr>
          <a:xfrm>
            <a:off x="4604245" y="3198167"/>
            <a:ext cx="3946914" cy="461665"/>
          </a:xfrm>
          <a:prstGeom prst="rect">
            <a:avLst/>
          </a:prstGeom>
          <a:noFill/>
        </p:spPr>
        <p:txBody>
          <a:bodyPr wrap="none" rtlCol="0">
            <a:spAutoFit/>
          </a:bodyPr>
          <a:lstStyle/>
          <a:p>
            <a:r>
              <a:rPr lang="en-US" altLang="zh-TW" sz="2400" dirty="0" err="1">
                <a:latin typeface="Times New Roman" panose="02020603050405020304" pitchFamily="18" charset="0"/>
                <a:cs typeface="Times New Roman" panose="02020603050405020304" pitchFamily="18" charset="0"/>
              </a:rPr>
              <a:t>a</a:t>
            </a:r>
            <a:r>
              <a:rPr lang="en-US" altLang="zh-TW" sz="2400" dirty="0" err="1">
                <a:solidFill>
                  <a:srgbClr val="FF0000"/>
                </a:solidFill>
                <a:latin typeface="Times New Roman" panose="02020603050405020304" pitchFamily="18" charset="0"/>
                <a:cs typeface="Times New Roman" panose="02020603050405020304" pitchFamily="18" charset="0"/>
              </a:rPr>
              <a:t>abc</a:t>
            </a:r>
            <a:r>
              <a:rPr lang="en-US" altLang="zh-TW" sz="2400" dirty="0" err="1">
                <a:latin typeface="Times New Roman" panose="02020603050405020304" pitchFamily="18" charset="0"/>
                <a:cs typeface="Times New Roman" panose="02020603050405020304" pitchFamily="18" charset="0"/>
              </a:rPr>
              <a:t>bcaabcabc</a:t>
            </a:r>
            <a:r>
              <a:rPr lang="en-US" altLang="zh-TW" sz="2400" dirty="0">
                <a:latin typeface="Times New Roman" panose="02020603050405020304" pitchFamily="18" charset="0"/>
                <a:cs typeface="Times New Roman" panose="02020603050405020304" pitchFamily="18" charset="0"/>
              </a:rPr>
              <a:t>  (no candidate)</a:t>
            </a:r>
            <a:endParaRPr lang="zh-TW" altLang="en-US"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FB9E9685-E2B7-4571-94FA-AE40E106C7EE}"/>
              </a:ext>
            </a:extLst>
          </p:cNvPr>
          <p:cNvSpPr txBox="1"/>
          <p:nvPr/>
        </p:nvSpPr>
        <p:spPr>
          <a:xfrm>
            <a:off x="803510" y="1855406"/>
            <a:ext cx="199362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threshold f = 2</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14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D910460-8B4D-42BE-9B55-5748A13E3F5F}"/>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RAY</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F46FA8F5-360F-4ADD-B9AD-99C5C2F7EA62}"/>
              </a:ext>
            </a:extLst>
          </p:cNvPr>
          <p:cNvSpPr txBox="1"/>
          <p:nvPr/>
        </p:nvSpPr>
        <p:spPr>
          <a:xfrm>
            <a:off x="4604245" y="1690688"/>
            <a:ext cx="2983509"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Input</a:t>
            </a:r>
            <a:r>
              <a:rPr lang="zh-TW" altLang="en-US"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aabcbcaabcabc</a:t>
            </a:r>
            <a:endParaRPr lang="zh-TW" altLang="en-US" sz="2400" dirty="0">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7850600E-9964-41F4-AD53-458FED2D649A}"/>
              </a:ext>
            </a:extLst>
          </p:cNvPr>
          <p:cNvSpPr txBox="1"/>
          <p:nvPr/>
        </p:nvSpPr>
        <p:spPr>
          <a:xfrm>
            <a:off x="838199" y="1304992"/>
            <a:ext cx="96212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Step 2</a:t>
            </a:r>
            <a:endParaRPr lang="zh-TW" altLang="en-US" sz="2400"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D52A45B5-E70E-4FE0-9CD7-C48A7EF09EB7}"/>
              </a:ext>
            </a:extLst>
          </p:cNvPr>
          <p:cNvSpPr txBox="1"/>
          <p:nvPr/>
        </p:nvSpPr>
        <p:spPr>
          <a:xfrm>
            <a:off x="4604245" y="2317072"/>
            <a:ext cx="696024"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aa:2</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2A469D28-84E6-4464-A9F4-62BB7C814C9B}"/>
              </a:ext>
            </a:extLst>
          </p:cNvPr>
          <p:cNvSpPr txBox="1"/>
          <p:nvPr/>
        </p:nvSpPr>
        <p:spPr>
          <a:xfrm>
            <a:off x="5951252"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bc:4</a:t>
            </a:r>
            <a:endParaRPr lang="zh-TW" altLang="en-US" sz="2400" dirty="0">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575C656A-AF75-4346-A6D2-E82632697C6B}"/>
              </a:ext>
            </a:extLst>
          </p:cNvPr>
          <p:cNvSpPr txBox="1"/>
          <p:nvPr/>
        </p:nvSpPr>
        <p:spPr>
          <a:xfrm>
            <a:off x="5255228"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ab:3</a:t>
            </a:r>
            <a:endParaRPr lang="zh-TW" altLang="en-US" sz="2400"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E31B0A87-A380-469B-9582-BE7751A5D00B}"/>
              </a:ext>
            </a:extLst>
          </p:cNvPr>
          <p:cNvSpPr txBox="1"/>
          <p:nvPr/>
        </p:nvSpPr>
        <p:spPr>
          <a:xfrm>
            <a:off x="6664909"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cb:1</a:t>
            </a:r>
            <a:endParaRPr lang="zh-TW" altLang="en-US" sz="2400" dirty="0">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FB82AE50-4EF8-491C-98AB-39D048A4EAA2}"/>
              </a:ext>
            </a:extLst>
          </p:cNvPr>
          <p:cNvSpPr txBox="1"/>
          <p:nvPr/>
        </p:nvSpPr>
        <p:spPr>
          <a:xfrm>
            <a:off x="7315892" y="2317071"/>
            <a:ext cx="696024"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ca:2</a:t>
            </a:r>
            <a:endParaRPr lang="zh-TW" altLang="en-US" sz="2400" dirty="0">
              <a:latin typeface="Times New Roman" panose="02020603050405020304" pitchFamily="18" charset="0"/>
              <a:cs typeface="Times New Roman" panose="02020603050405020304" pitchFamily="18" charset="0"/>
            </a:endParaRPr>
          </a:p>
        </p:txBody>
      </p:sp>
      <p:sp>
        <p:nvSpPr>
          <p:cNvPr id="3" name="文字方塊 2">
            <a:extLst>
              <a:ext uri="{FF2B5EF4-FFF2-40B4-BE49-F238E27FC236}">
                <a16:creationId xmlns:a16="http://schemas.microsoft.com/office/drawing/2014/main" id="{730166B6-FD2D-40CC-B362-983295C37440}"/>
              </a:ext>
            </a:extLst>
          </p:cNvPr>
          <p:cNvSpPr txBox="1"/>
          <p:nvPr/>
        </p:nvSpPr>
        <p:spPr>
          <a:xfrm>
            <a:off x="4604245" y="3198167"/>
            <a:ext cx="4168129" cy="461665"/>
          </a:xfrm>
          <a:prstGeom prst="rect">
            <a:avLst/>
          </a:prstGeom>
          <a:noFill/>
        </p:spPr>
        <p:txBody>
          <a:bodyPr wrap="none" rtlCol="0">
            <a:spAutoFit/>
          </a:bodyPr>
          <a:lstStyle/>
          <a:p>
            <a:r>
              <a:rPr lang="en-US" altLang="zh-TW" sz="2400" dirty="0" err="1">
                <a:latin typeface="Times New Roman" panose="02020603050405020304" pitchFamily="18" charset="0"/>
                <a:cs typeface="Times New Roman" panose="02020603050405020304" pitchFamily="18" charset="0"/>
              </a:rPr>
              <a:t>aa</a:t>
            </a:r>
            <a:r>
              <a:rPr lang="en-US" altLang="zh-TW" sz="2400" dirty="0" err="1">
                <a:solidFill>
                  <a:srgbClr val="FF0000"/>
                </a:solidFill>
                <a:latin typeface="Times New Roman" panose="02020603050405020304" pitchFamily="18" charset="0"/>
                <a:cs typeface="Times New Roman" panose="02020603050405020304" pitchFamily="18" charset="0"/>
              </a:rPr>
              <a:t>bcb</a:t>
            </a:r>
            <a:r>
              <a:rPr lang="en-US" altLang="zh-TW" sz="2400" dirty="0" err="1">
                <a:latin typeface="Times New Roman" panose="02020603050405020304" pitchFamily="18" charset="0"/>
                <a:cs typeface="Times New Roman" panose="02020603050405020304" pitchFamily="18" charset="0"/>
              </a:rPr>
              <a:t>caabcabc</a:t>
            </a:r>
            <a:r>
              <a:rPr lang="en-US" altLang="zh-TW" sz="2400" dirty="0">
                <a:latin typeface="Times New Roman" panose="02020603050405020304" pitchFamily="18" charset="0"/>
                <a:cs typeface="Times New Roman" panose="02020603050405020304" pitchFamily="18" charset="0"/>
              </a:rPr>
              <a:t>  (candidate bc:1)</a:t>
            </a:r>
            <a:endParaRPr lang="zh-TW" altLang="en-US" sz="2400"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565360D6-13B5-4C12-89AE-F0C12DF73308}"/>
              </a:ext>
            </a:extLst>
          </p:cNvPr>
          <p:cNvSpPr txBox="1"/>
          <p:nvPr/>
        </p:nvSpPr>
        <p:spPr>
          <a:xfrm>
            <a:off x="4604245" y="4079262"/>
            <a:ext cx="2605200"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Count: </a:t>
            </a:r>
            <a:r>
              <a:rPr lang="en-US" altLang="zh-TW" dirty="0" err="1">
                <a:latin typeface="Times New Roman" panose="02020603050405020304" pitchFamily="18" charset="0"/>
                <a:cs typeface="Times New Roman" panose="02020603050405020304" pitchFamily="18" charset="0"/>
              </a:rPr>
              <a:t>bc</a:t>
            </a:r>
            <a:r>
              <a:rPr lang="en-US" altLang="zh-TW" dirty="0">
                <a:latin typeface="Times New Roman" panose="02020603050405020304" pitchFamily="18" charset="0"/>
                <a:cs typeface="Times New Roman" panose="02020603050405020304" pitchFamily="18" charset="0"/>
              </a:rPr>
              <a:t> &gt; </a:t>
            </a:r>
            <a:r>
              <a:rPr lang="en-US" altLang="zh-TW" dirty="0" err="1">
                <a:latin typeface="Times New Roman" panose="02020603050405020304" pitchFamily="18" charset="0"/>
                <a:cs typeface="Times New Roman" panose="02020603050405020304" pitchFamily="18" charset="0"/>
              </a:rPr>
              <a:t>cb</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&amp;&amp;</a:t>
            </a:r>
            <a:r>
              <a:rPr lang="zh-TW" altLang="en-US"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bc</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&gt;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2</a:t>
            </a:r>
          </a:p>
        </p:txBody>
      </p:sp>
      <p:sp>
        <p:nvSpPr>
          <p:cNvPr id="13" name="文字方塊 12">
            <a:extLst>
              <a:ext uri="{FF2B5EF4-FFF2-40B4-BE49-F238E27FC236}">
                <a16:creationId xmlns:a16="http://schemas.microsoft.com/office/drawing/2014/main" id="{9BBE95EC-998D-4F11-9663-6789BA5FE6B6}"/>
              </a:ext>
            </a:extLst>
          </p:cNvPr>
          <p:cNvSpPr txBox="1"/>
          <p:nvPr/>
        </p:nvSpPr>
        <p:spPr>
          <a:xfrm>
            <a:off x="803510" y="1855406"/>
            <a:ext cx="199362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threshold f = 2</a:t>
            </a:r>
            <a:endParaRPr lang="zh-TW" altLang="en-US" sz="2400"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63D857B4-9AB8-4E29-B9AE-7DE55AD5D3AB}"/>
              </a:ext>
            </a:extLst>
          </p:cNvPr>
          <p:cNvSpPr txBox="1"/>
          <p:nvPr/>
        </p:nvSpPr>
        <p:spPr>
          <a:xfrm>
            <a:off x="9631679" y="3206876"/>
            <a:ext cx="1430200"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Candidate</a:t>
            </a:r>
            <a:endParaRPr lang="zh-TW" altLang="en-US" sz="2400" dirty="0"/>
          </a:p>
        </p:txBody>
      </p:sp>
      <p:sp>
        <p:nvSpPr>
          <p:cNvPr id="14" name="文字方塊 13">
            <a:extLst>
              <a:ext uri="{FF2B5EF4-FFF2-40B4-BE49-F238E27FC236}">
                <a16:creationId xmlns:a16="http://schemas.microsoft.com/office/drawing/2014/main" id="{DA7F8BBB-08E6-4352-88CE-4B72B91FA653}"/>
              </a:ext>
            </a:extLst>
          </p:cNvPr>
          <p:cNvSpPr txBox="1"/>
          <p:nvPr/>
        </p:nvSpPr>
        <p:spPr>
          <a:xfrm>
            <a:off x="10053429" y="3668541"/>
            <a:ext cx="583814"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bc:1</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9181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D910460-8B4D-42BE-9B55-5748A13E3F5F}"/>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RAY</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F46FA8F5-360F-4ADD-B9AD-99C5C2F7EA62}"/>
              </a:ext>
            </a:extLst>
          </p:cNvPr>
          <p:cNvSpPr txBox="1"/>
          <p:nvPr/>
        </p:nvSpPr>
        <p:spPr>
          <a:xfrm>
            <a:off x="4604245" y="1690688"/>
            <a:ext cx="2983509"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Input</a:t>
            </a:r>
            <a:r>
              <a:rPr lang="zh-TW" altLang="en-US"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aabcbcaabcabc</a:t>
            </a:r>
            <a:endParaRPr lang="zh-TW" altLang="en-US" sz="2400" dirty="0">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7850600E-9964-41F4-AD53-458FED2D649A}"/>
              </a:ext>
            </a:extLst>
          </p:cNvPr>
          <p:cNvSpPr txBox="1"/>
          <p:nvPr/>
        </p:nvSpPr>
        <p:spPr>
          <a:xfrm>
            <a:off x="838199" y="1304992"/>
            <a:ext cx="96212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Step 2</a:t>
            </a:r>
            <a:endParaRPr lang="zh-TW" altLang="en-US" sz="2400"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D52A45B5-E70E-4FE0-9CD7-C48A7EF09EB7}"/>
              </a:ext>
            </a:extLst>
          </p:cNvPr>
          <p:cNvSpPr txBox="1"/>
          <p:nvPr/>
        </p:nvSpPr>
        <p:spPr>
          <a:xfrm>
            <a:off x="4604245" y="2317072"/>
            <a:ext cx="696024"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aa:2</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2A469D28-84E6-4464-A9F4-62BB7C814C9B}"/>
              </a:ext>
            </a:extLst>
          </p:cNvPr>
          <p:cNvSpPr txBox="1"/>
          <p:nvPr/>
        </p:nvSpPr>
        <p:spPr>
          <a:xfrm>
            <a:off x="5951252"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bc:4</a:t>
            </a:r>
            <a:endParaRPr lang="zh-TW" altLang="en-US" sz="2400" dirty="0">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575C656A-AF75-4346-A6D2-E82632697C6B}"/>
              </a:ext>
            </a:extLst>
          </p:cNvPr>
          <p:cNvSpPr txBox="1"/>
          <p:nvPr/>
        </p:nvSpPr>
        <p:spPr>
          <a:xfrm>
            <a:off x="5255228"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ab:3</a:t>
            </a:r>
            <a:endParaRPr lang="zh-TW" altLang="en-US" sz="2400"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E31B0A87-A380-469B-9582-BE7751A5D00B}"/>
              </a:ext>
            </a:extLst>
          </p:cNvPr>
          <p:cNvSpPr txBox="1"/>
          <p:nvPr/>
        </p:nvSpPr>
        <p:spPr>
          <a:xfrm>
            <a:off x="6664909"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cb:1</a:t>
            </a:r>
            <a:endParaRPr lang="zh-TW" altLang="en-US" sz="2400" dirty="0">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FB82AE50-4EF8-491C-98AB-39D048A4EAA2}"/>
              </a:ext>
            </a:extLst>
          </p:cNvPr>
          <p:cNvSpPr txBox="1"/>
          <p:nvPr/>
        </p:nvSpPr>
        <p:spPr>
          <a:xfrm>
            <a:off x="7315892" y="2317071"/>
            <a:ext cx="696024"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ca:2</a:t>
            </a:r>
            <a:endParaRPr lang="zh-TW" altLang="en-US" sz="2400" dirty="0">
              <a:latin typeface="Times New Roman" panose="02020603050405020304" pitchFamily="18" charset="0"/>
              <a:cs typeface="Times New Roman" panose="02020603050405020304" pitchFamily="18" charset="0"/>
            </a:endParaRPr>
          </a:p>
        </p:txBody>
      </p:sp>
      <p:sp>
        <p:nvSpPr>
          <p:cNvPr id="3" name="文字方塊 2">
            <a:extLst>
              <a:ext uri="{FF2B5EF4-FFF2-40B4-BE49-F238E27FC236}">
                <a16:creationId xmlns:a16="http://schemas.microsoft.com/office/drawing/2014/main" id="{730166B6-FD2D-40CC-B362-983295C37440}"/>
              </a:ext>
            </a:extLst>
          </p:cNvPr>
          <p:cNvSpPr txBox="1"/>
          <p:nvPr/>
        </p:nvSpPr>
        <p:spPr>
          <a:xfrm>
            <a:off x="4604245" y="3198167"/>
            <a:ext cx="4168129" cy="461665"/>
          </a:xfrm>
          <a:prstGeom prst="rect">
            <a:avLst/>
          </a:prstGeom>
          <a:noFill/>
        </p:spPr>
        <p:txBody>
          <a:bodyPr wrap="none" rtlCol="0">
            <a:spAutoFit/>
          </a:bodyPr>
          <a:lstStyle/>
          <a:p>
            <a:r>
              <a:rPr lang="en-US" altLang="zh-TW" sz="2400" dirty="0" err="1">
                <a:latin typeface="Times New Roman" panose="02020603050405020304" pitchFamily="18" charset="0"/>
                <a:cs typeface="Times New Roman" panose="02020603050405020304" pitchFamily="18" charset="0"/>
              </a:rPr>
              <a:t>aabc</a:t>
            </a:r>
            <a:r>
              <a:rPr lang="en-US" altLang="zh-TW" sz="2400" dirty="0" err="1">
                <a:solidFill>
                  <a:srgbClr val="FF0000"/>
                </a:solidFill>
                <a:latin typeface="Times New Roman" panose="02020603050405020304" pitchFamily="18" charset="0"/>
                <a:cs typeface="Times New Roman" panose="02020603050405020304" pitchFamily="18" charset="0"/>
              </a:rPr>
              <a:t>bca</a:t>
            </a:r>
            <a:r>
              <a:rPr lang="en-US" altLang="zh-TW" sz="2400" dirty="0" err="1">
                <a:latin typeface="Times New Roman" panose="02020603050405020304" pitchFamily="18" charset="0"/>
                <a:cs typeface="Times New Roman" panose="02020603050405020304" pitchFamily="18" charset="0"/>
              </a:rPr>
              <a:t>abcabc</a:t>
            </a:r>
            <a:r>
              <a:rPr lang="en-US" altLang="zh-TW" sz="2400" dirty="0">
                <a:latin typeface="Times New Roman" panose="02020603050405020304" pitchFamily="18" charset="0"/>
                <a:cs typeface="Times New Roman" panose="02020603050405020304" pitchFamily="18" charset="0"/>
              </a:rPr>
              <a:t>  (candidate bc:2)</a:t>
            </a:r>
            <a:endParaRPr lang="zh-TW" altLang="en-US" sz="2400"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565360D6-13B5-4C12-89AE-F0C12DF73308}"/>
              </a:ext>
            </a:extLst>
          </p:cNvPr>
          <p:cNvSpPr txBox="1"/>
          <p:nvPr/>
        </p:nvSpPr>
        <p:spPr>
          <a:xfrm>
            <a:off x="4604245" y="4079262"/>
            <a:ext cx="2592376"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Count: </a:t>
            </a:r>
            <a:r>
              <a:rPr lang="en-US" altLang="zh-TW" dirty="0" err="1">
                <a:latin typeface="Times New Roman" panose="02020603050405020304" pitchFamily="18" charset="0"/>
                <a:cs typeface="Times New Roman" panose="02020603050405020304" pitchFamily="18" charset="0"/>
              </a:rPr>
              <a:t>bc</a:t>
            </a:r>
            <a:r>
              <a:rPr lang="en-US" altLang="zh-TW" dirty="0">
                <a:latin typeface="Times New Roman" panose="02020603050405020304" pitchFamily="18" charset="0"/>
                <a:cs typeface="Times New Roman" panose="02020603050405020304" pitchFamily="18" charset="0"/>
              </a:rPr>
              <a:t> &gt; ca</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&amp;&amp;</a:t>
            </a:r>
            <a:r>
              <a:rPr lang="zh-TW" altLang="en-US"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bc</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&gt;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2</a:t>
            </a:r>
          </a:p>
        </p:txBody>
      </p:sp>
      <p:sp>
        <p:nvSpPr>
          <p:cNvPr id="13" name="文字方塊 12">
            <a:extLst>
              <a:ext uri="{FF2B5EF4-FFF2-40B4-BE49-F238E27FC236}">
                <a16:creationId xmlns:a16="http://schemas.microsoft.com/office/drawing/2014/main" id="{9BBE95EC-998D-4F11-9663-6789BA5FE6B6}"/>
              </a:ext>
            </a:extLst>
          </p:cNvPr>
          <p:cNvSpPr txBox="1"/>
          <p:nvPr/>
        </p:nvSpPr>
        <p:spPr>
          <a:xfrm>
            <a:off x="803510" y="1855406"/>
            <a:ext cx="199362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threshold f = 2</a:t>
            </a:r>
            <a:endParaRPr lang="zh-TW" altLang="en-US" sz="2400" dirty="0">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05F9A94C-E53D-4F6A-B0C9-A79EA9B59AB4}"/>
              </a:ext>
            </a:extLst>
          </p:cNvPr>
          <p:cNvSpPr txBox="1"/>
          <p:nvPr/>
        </p:nvSpPr>
        <p:spPr>
          <a:xfrm>
            <a:off x="9631679" y="3206876"/>
            <a:ext cx="1430200"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Candidate</a:t>
            </a:r>
            <a:endParaRPr lang="zh-TW" altLang="en-US" sz="2400" dirty="0"/>
          </a:p>
        </p:txBody>
      </p:sp>
      <p:sp>
        <p:nvSpPr>
          <p:cNvPr id="16" name="文字方塊 15">
            <a:extLst>
              <a:ext uri="{FF2B5EF4-FFF2-40B4-BE49-F238E27FC236}">
                <a16:creationId xmlns:a16="http://schemas.microsoft.com/office/drawing/2014/main" id="{5D09F9F5-92B5-4FE7-9BE3-B0D43839A149}"/>
              </a:ext>
            </a:extLst>
          </p:cNvPr>
          <p:cNvSpPr txBox="1"/>
          <p:nvPr/>
        </p:nvSpPr>
        <p:spPr>
          <a:xfrm>
            <a:off x="10053429" y="3668541"/>
            <a:ext cx="582211"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bc:2</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9190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D910460-8B4D-42BE-9B55-5748A13E3F5F}"/>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RAY</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F46FA8F5-360F-4ADD-B9AD-99C5C2F7EA62}"/>
              </a:ext>
            </a:extLst>
          </p:cNvPr>
          <p:cNvSpPr txBox="1"/>
          <p:nvPr/>
        </p:nvSpPr>
        <p:spPr>
          <a:xfrm>
            <a:off x="4604245" y="1690688"/>
            <a:ext cx="2983509"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Input</a:t>
            </a:r>
            <a:r>
              <a:rPr lang="zh-TW" altLang="en-US"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aabcbcaabcabc</a:t>
            </a:r>
            <a:endParaRPr lang="zh-TW" altLang="en-US" sz="2400" dirty="0">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7850600E-9964-41F4-AD53-458FED2D649A}"/>
              </a:ext>
            </a:extLst>
          </p:cNvPr>
          <p:cNvSpPr txBox="1"/>
          <p:nvPr/>
        </p:nvSpPr>
        <p:spPr>
          <a:xfrm>
            <a:off x="838199" y="1304992"/>
            <a:ext cx="96212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Step 2</a:t>
            </a:r>
            <a:endParaRPr lang="zh-TW" altLang="en-US" sz="2400"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D52A45B5-E70E-4FE0-9CD7-C48A7EF09EB7}"/>
              </a:ext>
            </a:extLst>
          </p:cNvPr>
          <p:cNvSpPr txBox="1"/>
          <p:nvPr/>
        </p:nvSpPr>
        <p:spPr>
          <a:xfrm>
            <a:off x="4604245" y="2317072"/>
            <a:ext cx="696024"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aa:2</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2A469D28-84E6-4464-A9F4-62BB7C814C9B}"/>
              </a:ext>
            </a:extLst>
          </p:cNvPr>
          <p:cNvSpPr txBox="1"/>
          <p:nvPr/>
        </p:nvSpPr>
        <p:spPr>
          <a:xfrm>
            <a:off x="5951252"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bc:4</a:t>
            </a:r>
            <a:endParaRPr lang="zh-TW" altLang="en-US" sz="2400" dirty="0">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575C656A-AF75-4346-A6D2-E82632697C6B}"/>
              </a:ext>
            </a:extLst>
          </p:cNvPr>
          <p:cNvSpPr txBox="1"/>
          <p:nvPr/>
        </p:nvSpPr>
        <p:spPr>
          <a:xfrm>
            <a:off x="5255228"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ab:3</a:t>
            </a:r>
            <a:endParaRPr lang="zh-TW" altLang="en-US" sz="2400"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E31B0A87-A380-469B-9582-BE7751A5D00B}"/>
              </a:ext>
            </a:extLst>
          </p:cNvPr>
          <p:cNvSpPr txBox="1"/>
          <p:nvPr/>
        </p:nvSpPr>
        <p:spPr>
          <a:xfrm>
            <a:off x="6664909"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cb:1</a:t>
            </a:r>
            <a:endParaRPr lang="zh-TW" altLang="en-US" sz="2400" dirty="0">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FB82AE50-4EF8-491C-98AB-39D048A4EAA2}"/>
              </a:ext>
            </a:extLst>
          </p:cNvPr>
          <p:cNvSpPr txBox="1"/>
          <p:nvPr/>
        </p:nvSpPr>
        <p:spPr>
          <a:xfrm>
            <a:off x="7315892" y="2317071"/>
            <a:ext cx="696024"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ca:2</a:t>
            </a:r>
            <a:endParaRPr lang="zh-TW" altLang="en-US" sz="2400" dirty="0">
              <a:latin typeface="Times New Roman" panose="02020603050405020304" pitchFamily="18" charset="0"/>
              <a:cs typeface="Times New Roman" panose="02020603050405020304" pitchFamily="18" charset="0"/>
            </a:endParaRPr>
          </a:p>
        </p:txBody>
      </p:sp>
      <p:sp>
        <p:nvSpPr>
          <p:cNvPr id="3" name="文字方塊 2">
            <a:extLst>
              <a:ext uri="{FF2B5EF4-FFF2-40B4-BE49-F238E27FC236}">
                <a16:creationId xmlns:a16="http://schemas.microsoft.com/office/drawing/2014/main" id="{730166B6-FD2D-40CC-B362-983295C37440}"/>
              </a:ext>
            </a:extLst>
          </p:cNvPr>
          <p:cNvSpPr txBox="1"/>
          <p:nvPr/>
        </p:nvSpPr>
        <p:spPr>
          <a:xfrm>
            <a:off x="4604245" y="3198167"/>
            <a:ext cx="4023858" cy="461665"/>
          </a:xfrm>
          <a:prstGeom prst="rect">
            <a:avLst/>
          </a:prstGeom>
          <a:noFill/>
        </p:spPr>
        <p:txBody>
          <a:bodyPr wrap="none" rtlCol="0">
            <a:spAutoFit/>
          </a:bodyPr>
          <a:lstStyle/>
          <a:p>
            <a:r>
              <a:rPr lang="en-US" altLang="zh-TW" sz="2400" dirty="0" err="1">
                <a:latin typeface="Times New Roman" panose="02020603050405020304" pitchFamily="18" charset="0"/>
                <a:cs typeface="Times New Roman" panose="02020603050405020304" pitchFamily="18" charset="0"/>
              </a:rPr>
              <a:t>aabcbc</a:t>
            </a:r>
            <a:r>
              <a:rPr lang="en-US" altLang="zh-TW" sz="2400" dirty="0" err="1">
                <a:solidFill>
                  <a:srgbClr val="FF0000"/>
                </a:solidFill>
                <a:latin typeface="Times New Roman" panose="02020603050405020304" pitchFamily="18" charset="0"/>
                <a:cs typeface="Times New Roman" panose="02020603050405020304" pitchFamily="18" charset="0"/>
              </a:rPr>
              <a:t>aab</a:t>
            </a:r>
            <a:r>
              <a:rPr lang="en-US" altLang="zh-TW" sz="2400" dirty="0" err="1">
                <a:latin typeface="Times New Roman" panose="02020603050405020304" pitchFamily="18" charset="0"/>
                <a:cs typeface="Times New Roman" panose="02020603050405020304" pitchFamily="18" charset="0"/>
              </a:rPr>
              <a:t>cabc</a:t>
            </a:r>
            <a:r>
              <a:rPr lang="en-US" altLang="zh-TW" sz="2400" dirty="0">
                <a:latin typeface="Times New Roman" panose="02020603050405020304" pitchFamily="18" charset="0"/>
                <a:cs typeface="Times New Roman" panose="02020603050405020304" pitchFamily="18" charset="0"/>
              </a:rPr>
              <a:t>  (no candidate)</a:t>
            </a:r>
            <a:endParaRPr lang="zh-TW" altLang="en-US"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9BBE95EC-998D-4F11-9663-6789BA5FE6B6}"/>
              </a:ext>
            </a:extLst>
          </p:cNvPr>
          <p:cNvSpPr txBox="1"/>
          <p:nvPr/>
        </p:nvSpPr>
        <p:spPr>
          <a:xfrm>
            <a:off x="803510" y="1855406"/>
            <a:ext cx="199362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threshold f = 2</a:t>
            </a:r>
            <a:endParaRPr lang="zh-TW" altLang="en-US" sz="2400" dirty="0">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39ADD238-B5B7-4CD1-B581-65AD1F7335F9}"/>
              </a:ext>
            </a:extLst>
          </p:cNvPr>
          <p:cNvSpPr txBox="1"/>
          <p:nvPr/>
        </p:nvSpPr>
        <p:spPr>
          <a:xfrm>
            <a:off x="9631679" y="3206876"/>
            <a:ext cx="1430200"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Candidate</a:t>
            </a:r>
            <a:endParaRPr lang="zh-TW" altLang="en-US" sz="2400" dirty="0"/>
          </a:p>
        </p:txBody>
      </p:sp>
      <p:sp>
        <p:nvSpPr>
          <p:cNvPr id="16" name="文字方塊 15">
            <a:extLst>
              <a:ext uri="{FF2B5EF4-FFF2-40B4-BE49-F238E27FC236}">
                <a16:creationId xmlns:a16="http://schemas.microsoft.com/office/drawing/2014/main" id="{D80AE1FB-E400-4C72-8F31-86B49B969F5B}"/>
              </a:ext>
            </a:extLst>
          </p:cNvPr>
          <p:cNvSpPr txBox="1"/>
          <p:nvPr/>
        </p:nvSpPr>
        <p:spPr>
          <a:xfrm>
            <a:off x="10053429" y="3668541"/>
            <a:ext cx="582211"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bc:2</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79224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D910460-8B4D-42BE-9B55-5748A13E3F5F}"/>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RAY</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F46FA8F5-360F-4ADD-B9AD-99C5C2F7EA62}"/>
              </a:ext>
            </a:extLst>
          </p:cNvPr>
          <p:cNvSpPr txBox="1"/>
          <p:nvPr/>
        </p:nvSpPr>
        <p:spPr>
          <a:xfrm>
            <a:off x="4604245" y="1690688"/>
            <a:ext cx="2983509"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Input</a:t>
            </a:r>
            <a:r>
              <a:rPr lang="zh-TW" altLang="en-US"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aabcbcaabcabc</a:t>
            </a:r>
            <a:endParaRPr lang="zh-TW" altLang="en-US" sz="2400" dirty="0">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7850600E-9964-41F4-AD53-458FED2D649A}"/>
              </a:ext>
            </a:extLst>
          </p:cNvPr>
          <p:cNvSpPr txBox="1"/>
          <p:nvPr/>
        </p:nvSpPr>
        <p:spPr>
          <a:xfrm>
            <a:off x="838199" y="1304992"/>
            <a:ext cx="96212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Step 2</a:t>
            </a:r>
            <a:endParaRPr lang="zh-TW" altLang="en-US" sz="2400"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D52A45B5-E70E-4FE0-9CD7-C48A7EF09EB7}"/>
              </a:ext>
            </a:extLst>
          </p:cNvPr>
          <p:cNvSpPr txBox="1"/>
          <p:nvPr/>
        </p:nvSpPr>
        <p:spPr>
          <a:xfrm>
            <a:off x="4604245" y="2317072"/>
            <a:ext cx="696024"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aa:2</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2A469D28-84E6-4464-A9F4-62BB7C814C9B}"/>
              </a:ext>
            </a:extLst>
          </p:cNvPr>
          <p:cNvSpPr txBox="1"/>
          <p:nvPr/>
        </p:nvSpPr>
        <p:spPr>
          <a:xfrm>
            <a:off x="5951252"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bc:4</a:t>
            </a:r>
            <a:endParaRPr lang="zh-TW" altLang="en-US" sz="2400" dirty="0">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575C656A-AF75-4346-A6D2-E82632697C6B}"/>
              </a:ext>
            </a:extLst>
          </p:cNvPr>
          <p:cNvSpPr txBox="1"/>
          <p:nvPr/>
        </p:nvSpPr>
        <p:spPr>
          <a:xfrm>
            <a:off x="5255228"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ab:3</a:t>
            </a:r>
            <a:endParaRPr lang="zh-TW" altLang="en-US" sz="2400"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E31B0A87-A380-469B-9582-BE7751A5D00B}"/>
              </a:ext>
            </a:extLst>
          </p:cNvPr>
          <p:cNvSpPr txBox="1"/>
          <p:nvPr/>
        </p:nvSpPr>
        <p:spPr>
          <a:xfrm>
            <a:off x="6664909"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cb:1</a:t>
            </a:r>
            <a:endParaRPr lang="zh-TW" altLang="en-US" sz="2400" dirty="0">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FB82AE50-4EF8-491C-98AB-39D048A4EAA2}"/>
              </a:ext>
            </a:extLst>
          </p:cNvPr>
          <p:cNvSpPr txBox="1"/>
          <p:nvPr/>
        </p:nvSpPr>
        <p:spPr>
          <a:xfrm>
            <a:off x="7315892" y="2317071"/>
            <a:ext cx="696024"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ca:2</a:t>
            </a:r>
            <a:endParaRPr lang="zh-TW" altLang="en-US" sz="2400" dirty="0">
              <a:latin typeface="Times New Roman" panose="02020603050405020304" pitchFamily="18" charset="0"/>
              <a:cs typeface="Times New Roman" panose="02020603050405020304" pitchFamily="18" charset="0"/>
            </a:endParaRPr>
          </a:p>
        </p:txBody>
      </p:sp>
      <p:sp>
        <p:nvSpPr>
          <p:cNvPr id="3" name="文字方塊 2">
            <a:extLst>
              <a:ext uri="{FF2B5EF4-FFF2-40B4-BE49-F238E27FC236}">
                <a16:creationId xmlns:a16="http://schemas.microsoft.com/office/drawing/2014/main" id="{730166B6-FD2D-40CC-B362-983295C37440}"/>
              </a:ext>
            </a:extLst>
          </p:cNvPr>
          <p:cNvSpPr txBox="1"/>
          <p:nvPr/>
        </p:nvSpPr>
        <p:spPr>
          <a:xfrm>
            <a:off x="4604245" y="3198167"/>
            <a:ext cx="2026517" cy="461665"/>
          </a:xfrm>
          <a:prstGeom prst="rect">
            <a:avLst/>
          </a:prstGeom>
          <a:noFill/>
        </p:spPr>
        <p:txBody>
          <a:bodyPr wrap="none" rtlCol="0">
            <a:spAutoFit/>
          </a:bodyPr>
          <a:lstStyle/>
          <a:p>
            <a:r>
              <a:rPr lang="en-US" altLang="zh-TW" sz="2400" dirty="0" err="1">
                <a:latin typeface="Times New Roman" panose="02020603050405020304" pitchFamily="18" charset="0"/>
                <a:cs typeface="Times New Roman" panose="02020603050405020304" pitchFamily="18" charset="0"/>
              </a:rPr>
              <a:t>aabcbcaabcabc</a:t>
            </a:r>
            <a:endParaRPr lang="zh-TW" altLang="en-US"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9BBE95EC-998D-4F11-9663-6789BA5FE6B6}"/>
              </a:ext>
            </a:extLst>
          </p:cNvPr>
          <p:cNvSpPr txBox="1"/>
          <p:nvPr/>
        </p:nvSpPr>
        <p:spPr>
          <a:xfrm>
            <a:off x="803510" y="1855406"/>
            <a:ext cx="199362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threshold f = 2</a:t>
            </a:r>
            <a:endParaRPr lang="zh-TW" altLang="en-US" sz="2400" dirty="0">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E885A763-E417-4E92-B596-8A1E060688AD}"/>
              </a:ext>
            </a:extLst>
          </p:cNvPr>
          <p:cNvSpPr txBox="1"/>
          <p:nvPr/>
        </p:nvSpPr>
        <p:spPr>
          <a:xfrm>
            <a:off x="9631679" y="3206876"/>
            <a:ext cx="1430200"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Candidate</a:t>
            </a:r>
            <a:endParaRPr lang="zh-TW" altLang="en-US" sz="2400" dirty="0"/>
          </a:p>
        </p:txBody>
      </p:sp>
      <p:sp>
        <p:nvSpPr>
          <p:cNvPr id="16" name="文字方塊 15">
            <a:extLst>
              <a:ext uri="{FF2B5EF4-FFF2-40B4-BE49-F238E27FC236}">
                <a16:creationId xmlns:a16="http://schemas.microsoft.com/office/drawing/2014/main" id="{F287EF1B-FA9A-48B0-B94B-552DFCFE281E}"/>
              </a:ext>
            </a:extLst>
          </p:cNvPr>
          <p:cNvSpPr txBox="1"/>
          <p:nvPr/>
        </p:nvSpPr>
        <p:spPr>
          <a:xfrm>
            <a:off x="10053429" y="3668541"/>
            <a:ext cx="582211"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bc:4</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8192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D910460-8B4D-42BE-9B55-5748A13E3F5F}"/>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RAY</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F46FA8F5-360F-4ADD-B9AD-99C5C2F7EA62}"/>
              </a:ext>
            </a:extLst>
          </p:cNvPr>
          <p:cNvSpPr txBox="1"/>
          <p:nvPr/>
        </p:nvSpPr>
        <p:spPr>
          <a:xfrm>
            <a:off x="4604245" y="1690688"/>
            <a:ext cx="2983509"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Input</a:t>
            </a:r>
            <a:r>
              <a:rPr lang="zh-TW" altLang="en-US"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aabcbcaabcabc</a:t>
            </a:r>
            <a:endParaRPr lang="zh-TW" altLang="en-US" sz="2400" dirty="0">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7850600E-9964-41F4-AD53-458FED2D649A}"/>
              </a:ext>
            </a:extLst>
          </p:cNvPr>
          <p:cNvSpPr txBox="1"/>
          <p:nvPr/>
        </p:nvSpPr>
        <p:spPr>
          <a:xfrm>
            <a:off x="838199" y="1304992"/>
            <a:ext cx="96212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Step 3</a:t>
            </a:r>
            <a:endParaRPr lang="zh-TW" altLang="en-US" sz="2400"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D52A45B5-E70E-4FE0-9CD7-C48A7EF09EB7}"/>
              </a:ext>
            </a:extLst>
          </p:cNvPr>
          <p:cNvSpPr txBox="1"/>
          <p:nvPr/>
        </p:nvSpPr>
        <p:spPr>
          <a:xfrm>
            <a:off x="4604245" y="2317072"/>
            <a:ext cx="696024"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aa:2</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2A469D28-84E6-4464-A9F4-62BB7C814C9B}"/>
              </a:ext>
            </a:extLst>
          </p:cNvPr>
          <p:cNvSpPr txBox="1"/>
          <p:nvPr/>
        </p:nvSpPr>
        <p:spPr>
          <a:xfrm>
            <a:off x="5951252"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bc:4</a:t>
            </a:r>
            <a:endParaRPr lang="zh-TW" altLang="en-US" sz="2400" dirty="0">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575C656A-AF75-4346-A6D2-E82632697C6B}"/>
              </a:ext>
            </a:extLst>
          </p:cNvPr>
          <p:cNvSpPr txBox="1"/>
          <p:nvPr/>
        </p:nvSpPr>
        <p:spPr>
          <a:xfrm>
            <a:off x="5255228"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ab:3</a:t>
            </a:r>
            <a:endParaRPr lang="zh-TW" altLang="en-US" sz="2400"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E31B0A87-A380-469B-9582-BE7751A5D00B}"/>
              </a:ext>
            </a:extLst>
          </p:cNvPr>
          <p:cNvSpPr txBox="1"/>
          <p:nvPr/>
        </p:nvSpPr>
        <p:spPr>
          <a:xfrm>
            <a:off x="6664909" y="2317071"/>
            <a:ext cx="713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cb:1</a:t>
            </a:r>
            <a:endParaRPr lang="zh-TW" altLang="en-US" sz="2400" dirty="0">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FB82AE50-4EF8-491C-98AB-39D048A4EAA2}"/>
              </a:ext>
            </a:extLst>
          </p:cNvPr>
          <p:cNvSpPr txBox="1"/>
          <p:nvPr/>
        </p:nvSpPr>
        <p:spPr>
          <a:xfrm>
            <a:off x="7315892" y="2317071"/>
            <a:ext cx="696024"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ca:2</a:t>
            </a:r>
            <a:endParaRPr lang="zh-TW" altLang="en-US" sz="2400" dirty="0">
              <a:latin typeface="Times New Roman" panose="02020603050405020304" pitchFamily="18" charset="0"/>
              <a:cs typeface="Times New Roman" panose="02020603050405020304" pitchFamily="18" charset="0"/>
            </a:endParaRPr>
          </a:p>
        </p:txBody>
      </p:sp>
      <p:sp>
        <p:nvSpPr>
          <p:cNvPr id="3" name="文字方塊 2">
            <a:extLst>
              <a:ext uri="{FF2B5EF4-FFF2-40B4-BE49-F238E27FC236}">
                <a16:creationId xmlns:a16="http://schemas.microsoft.com/office/drawing/2014/main" id="{730166B6-FD2D-40CC-B362-983295C37440}"/>
              </a:ext>
            </a:extLst>
          </p:cNvPr>
          <p:cNvSpPr txBox="1"/>
          <p:nvPr/>
        </p:nvSpPr>
        <p:spPr>
          <a:xfrm>
            <a:off x="4604245" y="3198167"/>
            <a:ext cx="2026517" cy="461665"/>
          </a:xfrm>
          <a:prstGeom prst="rect">
            <a:avLst/>
          </a:prstGeom>
          <a:noFill/>
        </p:spPr>
        <p:txBody>
          <a:bodyPr wrap="none" rtlCol="0">
            <a:spAutoFit/>
          </a:bodyPr>
          <a:lstStyle/>
          <a:p>
            <a:r>
              <a:rPr lang="en-US" altLang="zh-TW" sz="2400" dirty="0" err="1">
                <a:latin typeface="Times New Roman" panose="02020603050405020304" pitchFamily="18" charset="0"/>
                <a:cs typeface="Times New Roman" panose="02020603050405020304" pitchFamily="18" charset="0"/>
              </a:rPr>
              <a:t>aabcbcaabcabc</a:t>
            </a:r>
            <a:endParaRPr lang="zh-TW" altLang="en-US"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9BBE95EC-998D-4F11-9663-6789BA5FE6B6}"/>
              </a:ext>
            </a:extLst>
          </p:cNvPr>
          <p:cNvSpPr txBox="1"/>
          <p:nvPr/>
        </p:nvSpPr>
        <p:spPr>
          <a:xfrm>
            <a:off x="803510" y="1855406"/>
            <a:ext cx="199362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threshold f = 2</a:t>
            </a:r>
            <a:endParaRPr lang="zh-TW" altLang="en-US" sz="2400"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2D64D402-2118-4A9D-9A22-1A9E78096AEA}"/>
              </a:ext>
            </a:extLst>
          </p:cNvPr>
          <p:cNvSpPr txBox="1"/>
          <p:nvPr/>
        </p:nvSpPr>
        <p:spPr>
          <a:xfrm>
            <a:off x="977682" y="3198167"/>
            <a:ext cx="1499128"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Dictionary</a:t>
            </a:r>
            <a:endParaRPr lang="zh-TW" altLang="en-US" sz="2400" dirty="0">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E885A763-E417-4E92-B596-8A1E060688AD}"/>
              </a:ext>
            </a:extLst>
          </p:cNvPr>
          <p:cNvSpPr txBox="1"/>
          <p:nvPr/>
        </p:nvSpPr>
        <p:spPr>
          <a:xfrm>
            <a:off x="9631679" y="3206876"/>
            <a:ext cx="1430200"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Candidate</a:t>
            </a:r>
            <a:endParaRPr lang="zh-TW" altLang="en-US" sz="2400" dirty="0"/>
          </a:p>
        </p:txBody>
      </p:sp>
      <p:sp>
        <p:nvSpPr>
          <p:cNvPr id="16" name="文字方塊 15">
            <a:extLst>
              <a:ext uri="{FF2B5EF4-FFF2-40B4-BE49-F238E27FC236}">
                <a16:creationId xmlns:a16="http://schemas.microsoft.com/office/drawing/2014/main" id="{F287EF1B-FA9A-48B0-B94B-552DFCFE281E}"/>
              </a:ext>
            </a:extLst>
          </p:cNvPr>
          <p:cNvSpPr txBox="1"/>
          <p:nvPr/>
        </p:nvSpPr>
        <p:spPr>
          <a:xfrm>
            <a:off x="10053429" y="3668541"/>
            <a:ext cx="582211"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bc:4</a:t>
            </a:r>
            <a:endParaRPr lang="zh-TW" altLang="en-US" dirty="0">
              <a:latin typeface="Times New Roman" panose="02020603050405020304" pitchFamily="18" charset="0"/>
              <a:cs typeface="Times New Roman" panose="02020603050405020304" pitchFamily="18" charset="0"/>
            </a:endParaRPr>
          </a:p>
        </p:txBody>
      </p:sp>
      <p:sp>
        <p:nvSpPr>
          <p:cNvPr id="17" name="文字方塊 16">
            <a:extLst>
              <a:ext uri="{FF2B5EF4-FFF2-40B4-BE49-F238E27FC236}">
                <a16:creationId xmlns:a16="http://schemas.microsoft.com/office/drawing/2014/main" id="{60F548E5-20FD-49CE-886A-663F26233A7A}"/>
              </a:ext>
            </a:extLst>
          </p:cNvPr>
          <p:cNvSpPr txBox="1"/>
          <p:nvPr/>
        </p:nvSpPr>
        <p:spPr>
          <a:xfrm>
            <a:off x="1177979" y="3668541"/>
            <a:ext cx="902876" cy="369332"/>
          </a:xfrm>
          <a:prstGeom prst="rect">
            <a:avLst/>
          </a:prstGeom>
          <a:noFill/>
        </p:spPr>
        <p:txBody>
          <a:bodyPr wrap="none" rtlCol="0">
            <a:spAutoFit/>
          </a:bodyPr>
          <a:lstStyle/>
          <a:p>
            <a:r>
              <a:rPr lang="en-US" altLang="zh-TW" dirty="0" err="1">
                <a:latin typeface="Times New Roman" panose="02020603050405020304" pitchFamily="18" charset="0"/>
                <a:cs typeface="Times New Roman" panose="02020603050405020304" pitchFamily="18" charset="0"/>
              </a:rPr>
              <a:t>bc</a:t>
            </a:r>
            <a:r>
              <a:rPr lang="en-US" altLang="zh-TW" dirty="0">
                <a:latin typeface="Times New Roman" panose="02020603050405020304" pitchFamily="18" charset="0"/>
                <a:cs typeface="Times New Roman" panose="02020603050405020304" pitchFamily="18" charset="0"/>
              </a:rPr>
              <a:t> → A</a:t>
            </a:r>
            <a:endParaRPr lang="zh-TW" altLang="en-US" dirty="0">
              <a:latin typeface="Times New Roman" panose="02020603050405020304" pitchFamily="18" charset="0"/>
              <a:cs typeface="Times New Roman" panose="02020603050405020304" pitchFamily="18" charset="0"/>
            </a:endParaRPr>
          </a:p>
        </p:txBody>
      </p:sp>
      <p:sp>
        <p:nvSpPr>
          <p:cNvPr id="6" name="箭號: 向下 5">
            <a:extLst>
              <a:ext uri="{FF2B5EF4-FFF2-40B4-BE49-F238E27FC236}">
                <a16:creationId xmlns:a16="http://schemas.microsoft.com/office/drawing/2014/main" id="{753C1F65-60D9-4A15-B38D-2AC265292B9D}"/>
              </a:ext>
            </a:extLst>
          </p:cNvPr>
          <p:cNvSpPr/>
          <p:nvPr/>
        </p:nvSpPr>
        <p:spPr>
          <a:xfrm>
            <a:off x="5373189" y="3668541"/>
            <a:ext cx="296091" cy="5464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文字方塊 17">
            <a:extLst>
              <a:ext uri="{FF2B5EF4-FFF2-40B4-BE49-F238E27FC236}">
                <a16:creationId xmlns:a16="http://schemas.microsoft.com/office/drawing/2014/main" id="{89AD8F79-1CD4-48A9-8F47-96143036DCE5}"/>
              </a:ext>
            </a:extLst>
          </p:cNvPr>
          <p:cNvSpPr txBox="1"/>
          <p:nvPr/>
        </p:nvSpPr>
        <p:spPr>
          <a:xfrm>
            <a:off x="4578567" y="4223658"/>
            <a:ext cx="1757212" cy="461665"/>
          </a:xfrm>
          <a:prstGeom prst="rect">
            <a:avLst/>
          </a:prstGeom>
          <a:noFill/>
        </p:spPr>
        <p:txBody>
          <a:bodyPr wrap="none" rtlCol="0">
            <a:spAutoFit/>
          </a:bodyPr>
          <a:lstStyle/>
          <a:p>
            <a:r>
              <a:rPr lang="en-US" altLang="zh-TW" sz="2400" dirty="0" err="1">
                <a:latin typeface="Times New Roman" panose="02020603050405020304" pitchFamily="18" charset="0"/>
                <a:cs typeface="Times New Roman" panose="02020603050405020304" pitchFamily="18" charset="0"/>
              </a:rPr>
              <a:t>aaAAaaAaA</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8965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D910460-8B4D-42BE-9B55-5748A13E3F5F}"/>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RAY</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F46FA8F5-360F-4ADD-B9AD-99C5C2F7EA62}"/>
              </a:ext>
            </a:extLst>
          </p:cNvPr>
          <p:cNvSpPr txBox="1"/>
          <p:nvPr/>
        </p:nvSpPr>
        <p:spPr>
          <a:xfrm>
            <a:off x="4604245" y="1690688"/>
            <a:ext cx="2714205"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Input</a:t>
            </a:r>
            <a:r>
              <a:rPr lang="zh-TW" altLang="en-US"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aaAAaaAaA</a:t>
            </a:r>
            <a:endParaRPr lang="zh-TW" altLang="en-US" sz="2400" dirty="0">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7850600E-9964-41F4-AD53-458FED2D649A}"/>
              </a:ext>
            </a:extLst>
          </p:cNvPr>
          <p:cNvSpPr txBox="1"/>
          <p:nvPr/>
        </p:nvSpPr>
        <p:spPr>
          <a:xfrm>
            <a:off x="838199" y="1304992"/>
            <a:ext cx="3716082"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Step 4</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repeat step1 ~ step3</a:t>
            </a:r>
            <a:endParaRPr lang="zh-TW" altLang="en-US" sz="2400"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D52A45B5-E70E-4FE0-9CD7-C48A7EF09EB7}"/>
              </a:ext>
            </a:extLst>
          </p:cNvPr>
          <p:cNvSpPr txBox="1"/>
          <p:nvPr/>
        </p:nvSpPr>
        <p:spPr>
          <a:xfrm>
            <a:off x="4604245" y="2317072"/>
            <a:ext cx="696024"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aa:2</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2A469D28-84E6-4464-A9F4-62BB7C814C9B}"/>
              </a:ext>
            </a:extLst>
          </p:cNvPr>
          <p:cNvSpPr txBox="1"/>
          <p:nvPr/>
        </p:nvSpPr>
        <p:spPr>
          <a:xfrm>
            <a:off x="6047911" y="2317071"/>
            <a:ext cx="869149"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AA:1</a:t>
            </a:r>
            <a:endParaRPr lang="zh-TW" altLang="en-US" sz="2400" dirty="0">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575C656A-AF75-4346-A6D2-E82632697C6B}"/>
              </a:ext>
            </a:extLst>
          </p:cNvPr>
          <p:cNvSpPr txBox="1"/>
          <p:nvPr/>
        </p:nvSpPr>
        <p:spPr>
          <a:xfrm>
            <a:off x="5272646" y="2317071"/>
            <a:ext cx="78258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aA:3</a:t>
            </a:r>
            <a:endParaRPr lang="zh-TW" altLang="en-US" sz="2400"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E31B0A87-A380-469B-9582-BE7751A5D00B}"/>
              </a:ext>
            </a:extLst>
          </p:cNvPr>
          <p:cNvSpPr txBox="1"/>
          <p:nvPr/>
        </p:nvSpPr>
        <p:spPr>
          <a:xfrm>
            <a:off x="6927156" y="2317071"/>
            <a:ext cx="78258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Aa:2</a:t>
            </a:r>
            <a:endParaRPr lang="zh-TW" altLang="en-US"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9BBE95EC-998D-4F11-9663-6789BA5FE6B6}"/>
              </a:ext>
            </a:extLst>
          </p:cNvPr>
          <p:cNvSpPr txBox="1"/>
          <p:nvPr/>
        </p:nvSpPr>
        <p:spPr>
          <a:xfrm>
            <a:off x="803510" y="1855406"/>
            <a:ext cx="199362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threshold f = 2</a:t>
            </a:r>
            <a:endParaRPr lang="zh-TW" altLang="en-US" sz="2400"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2D64D402-2118-4A9D-9A22-1A9E78096AEA}"/>
              </a:ext>
            </a:extLst>
          </p:cNvPr>
          <p:cNvSpPr txBox="1"/>
          <p:nvPr/>
        </p:nvSpPr>
        <p:spPr>
          <a:xfrm>
            <a:off x="977682" y="3198167"/>
            <a:ext cx="1499128"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Dictionary</a:t>
            </a:r>
            <a:endParaRPr lang="zh-TW" altLang="en-US" sz="2400" dirty="0">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E885A763-E417-4E92-B596-8A1E060688AD}"/>
              </a:ext>
            </a:extLst>
          </p:cNvPr>
          <p:cNvSpPr txBox="1"/>
          <p:nvPr/>
        </p:nvSpPr>
        <p:spPr>
          <a:xfrm>
            <a:off x="9631679" y="3206876"/>
            <a:ext cx="1430200"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Candidate</a:t>
            </a:r>
            <a:endParaRPr lang="zh-TW" altLang="en-US" sz="2400" dirty="0"/>
          </a:p>
        </p:txBody>
      </p:sp>
      <p:sp>
        <p:nvSpPr>
          <p:cNvPr id="16" name="文字方塊 15">
            <a:extLst>
              <a:ext uri="{FF2B5EF4-FFF2-40B4-BE49-F238E27FC236}">
                <a16:creationId xmlns:a16="http://schemas.microsoft.com/office/drawing/2014/main" id="{F287EF1B-FA9A-48B0-B94B-552DFCFE281E}"/>
              </a:ext>
            </a:extLst>
          </p:cNvPr>
          <p:cNvSpPr txBox="1"/>
          <p:nvPr/>
        </p:nvSpPr>
        <p:spPr>
          <a:xfrm>
            <a:off x="10053429" y="3668541"/>
            <a:ext cx="633507"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aA:3</a:t>
            </a:r>
            <a:endParaRPr lang="zh-TW" altLang="en-US" dirty="0">
              <a:latin typeface="Times New Roman" panose="02020603050405020304" pitchFamily="18" charset="0"/>
              <a:cs typeface="Times New Roman" panose="02020603050405020304" pitchFamily="18" charset="0"/>
            </a:endParaRPr>
          </a:p>
        </p:txBody>
      </p:sp>
      <p:sp>
        <p:nvSpPr>
          <p:cNvPr id="17" name="文字方塊 16">
            <a:extLst>
              <a:ext uri="{FF2B5EF4-FFF2-40B4-BE49-F238E27FC236}">
                <a16:creationId xmlns:a16="http://schemas.microsoft.com/office/drawing/2014/main" id="{60F548E5-20FD-49CE-886A-663F26233A7A}"/>
              </a:ext>
            </a:extLst>
          </p:cNvPr>
          <p:cNvSpPr txBox="1"/>
          <p:nvPr/>
        </p:nvSpPr>
        <p:spPr>
          <a:xfrm>
            <a:off x="1177979" y="3668541"/>
            <a:ext cx="902876" cy="369332"/>
          </a:xfrm>
          <a:prstGeom prst="rect">
            <a:avLst/>
          </a:prstGeom>
          <a:noFill/>
        </p:spPr>
        <p:txBody>
          <a:bodyPr wrap="none" rtlCol="0">
            <a:spAutoFit/>
          </a:bodyPr>
          <a:lstStyle/>
          <a:p>
            <a:r>
              <a:rPr lang="en-US" altLang="zh-TW" dirty="0" err="1">
                <a:latin typeface="Times New Roman" panose="02020603050405020304" pitchFamily="18" charset="0"/>
                <a:cs typeface="Times New Roman" panose="02020603050405020304" pitchFamily="18" charset="0"/>
              </a:rPr>
              <a:t>bc</a:t>
            </a:r>
            <a:r>
              <a:rPr lang="en-US" altLang="zh-TW" dirty="0">
                <a:latin typeface="Times New Roman" panose="02020603050405020304" pitchFamily="18" charset="0"/>
                <a:cs typeface="Times New Roman" panose="02020603050405020304" pitchFamily="18" charset="0"/>
              </a:rPr>
              <a:t> → A</a:t>
            </a:r>
            <a:endParaRPr lang="zh-TW" altLang="en-US" dirty="0">
              <a:latin typeface="Times New Roman" panose="02020603050405020304" pitchFamily="18" charset="0"/>
              <a:cs typeface="Times New Roman" panose="02020603050405020304" pitchFamily="18" charset="0"/>
            </a:endParaRPr>
          </a:p>
        </p:txBody>
      </p:sp>
      <p:sp>
        <p:nvSpPr>
          <p:cNvPr id="19" name="文字方塊 18">
            <a:extLst>
              <a:ext uri="{FF2B5EF4-FFF2-40B4-BE49-F238E27FC236}">
                <a16:creationId xmlns:a16="http://schemas.microsoft.com/office/drawing/2014/main" id="{E08BD004-0B7A-4CEA-B006-E607FDB09ED9}"/>
              </a:ext>
            </a:extLst>
          </p:cNvPr>
          <p:cNvSpPr txBox="1"/>
          <p:nvPr/>
        </p:nvSpPr>
        <p:spPr>
          <a:xfrm>
            <a:off x="1177979" y="4037873"/>
            <a:ext cx="941348" cy="369332"/>
          </a:xfrm>
          <a:prstGeom prst="rect">
            <a:avLst/>
          </a:prstGeom>
          <a:noFill/>
        </p:spPr>
        <p:txBody>
          <a:bodyPr wrap="none" rtlCol="0">
            <a:spAutoFit/>
          </a:bodyPr>
          <a:lstStyle/>
          <a:p>
            <a:r>
              <a:rPr lang="en-US" altLang="zh-TW" dirty="0" err="1">
                <a:latin typeface="Times New Roman" panose="02020603050405020304" pitchFamily="18" charset="0"/>
                <a:cs typeface="Times New Roman" panose="02020603050405020304" pitchFamily="18" charset="0"/>
              </a:rPr>
              <a:t>aA</a:t>
            </a:r>
            <a:r>
              <a:rPr lang="en-US" altLang="zh-TW" dirty="0">
                <a:latin typeface="Times New Roman" panose="02020603050405020304" pitchFamily="18" charset="0"/>
                <a:cs typeface="Times New Roman" panose="02020603050405020304" pitchFamily="18" charset="0"/>
              </a:rPr>
              <a:t> → B</a:t>
            </a:r>
            <a:endParaRPr lang="zh-TW" altLang="en-US" dirty="0">
              <a:latin typeface="Times New Roman" panose="02020603050405020304" pitchFamily="18" charset="0"/>
              <a:cs typeface="Times New Roman" panose="02020603050405020304" pitchFamily="18" charset="0"/>
            </a:endParaRPr>
          </a:p>
        </p:txBody>
      </p:sp>
      <p:sp>
        <p:nvSpPr>
          <p:cNvPr id="20" name="箭號: 向下 19">
            <a:extLst>
              <a:ext uri="{FF2B5EF4-FFF2-40B4-BE49-F238E27FC236}">
                <a16:creationId xmlns:a16="http://schemas.microsoft.com/office/drawing/2014/main" id="{DE0237C1-F1D1-43EB-A48E-36C01F98C2C7}"/>
              </a:ext>
            </a:extLst>
          </p:cNvPr>
          <p:cNvSpPr/>
          <p:nvPr/>
        </p:nvSpPr>
        <p:spPr>
          <a:xfrm>
            <a:off x="5721061" y="3206876"/>
            <a:ext cx="633507" cy="84618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文字方塊 20">
            <a:extLst>
              <a:ext uri="{FF2B5EF4-FFF2-40B4-BE49-F238E27FC236}">
                <a16:creationId xmlns:a16="http://schemas.microsoft.com/office/drawing/2014/main" id="{1EEA065F-AFB3-4316-951A-3089D5B9BC52}"/>
              </a:ext>
            </a:extLst>
          </p:cNvPr>
          <p:cNvSpPr txBox="1"/>
          <p:nvPr/>
        </p:nvSpPr>
        <p:spPr>
          <a:xfrm>
            <a:off x="5390040" y="4176372"/>
            <a:ext cx="1295547" cy="461665"/>
          </a:xfrm>
          <a:prstGeom prst="rect">
            <a:avLst/>
          </a:prstGeom>
          <a:noFill/>
        </p:spPr>
        <p:txBody>
          <a:bodyPr wrap="none" rtlCol="0">
            <a:spAutoFit/>
          </a:bodyPr>
          <a:lstStyle/>
          <a:p>
            <a:r>
              <a:rPr lang="en-US" altLang="zh-TW" sz="2400" dirty="0" err="1">
                <a:latin typeface="Times New Roman" panose="02020603050405020304" pitchFamily="18" charset="0"/>
                <a:cs typeface="Times New Roman" panose="02020603050405020304" pitchFamily="18" charset="0"/>
              </a:rPr>
              <a:t>aBAaBB</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5864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D910460-8B4D-42BE-9B55-5748A13E3F5F}"/>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RAY</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F46FA8F5-360F-4ADD-B9AD-99C5C2F7EA62}"/>
              </a:ext>
            </a:extLst>
          </p:cNvPr>
          <p:cNvSpPr txBox="1"/>
          <p:nvPr/>
        </p:nvSpPr>
        <p:spPr>
          <a:xfrm>
            <a:off x="4604245" y="1690688"/>
            <a:ext cx="2252540"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Input</a:t>
            </a:r>
            <a:r>
              <a:rPr lang="zh-TW" altLang="en-US"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aBAaBB</a:t>
            </a:r>
            <a:endParaRPr lang="zh-TW" altLang="en-US" sz="2400" dirty="0">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7850600E-9964-41F4-AD53-458FED2D649A}"/>
              </a:ext>
            </a:extLst>
          </p:cNvPr>
          <p:cNvSpPr txBox="1"/>
          <p:nvPr/>
        </p:nvSpPr>
        <p:spPr>
          <a:xfrm>
            <a:off x="838199" y="1304992"/>
            <a:ext cx="3716082"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Step 4</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repeat step1 ~ step3</a:t>
            </a:r>
            <a:endParaRPr lang="zh-TW" altLang="en-US" sz="2400"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D52A45B5-E70E-4FE0-9CD7-C48A7EF09EB7}"/>
              </a:ext>
            </a:extLst>
          </p:cNvPr>
          <p:cNvSpPr txBox="1"/>
          <p:nvPr/>
        </p:nvSpPr>
        <p:spPr>
          <a:xfrm>
            <a:off x="4604245" y="2317072"/>
            <a:ext cx="76495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aB:2</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2A469D28-84E6-4464-A9F4-62BB7C814C9B}"/>
              </a:ext>
            </a:extLst>
          </p:cNvPr>
          <p:cNvSpPr txBox="1"/>
          <p:nvPr/>
        </p:nvSpPr>
        <p:spPr>
          <a:xfrm>
            <a:off x="6074198" y="2317071"/>
            <a:ext cx="78258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Aa:1</a:t>
            </a:r>
            <a:endParaRPr lang="zh-TW" altLang="en-US" sz="2400" dirty="0">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575C656A-AF75-4346-A6D2-E82632697C6B}"/>
              </a:ext>
            </a:extLst>
          </p:cNvPr>
          <p:cNvSpPr txBox="1"/>
          <p:nvPr/>
        </p:nvSpPr>
        <p:spPr>
          <a:xfrm>
            <a:off x="5290064" y="2317071"/>
            <a:ext cx="851515"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BA:1</a:t>
            </a:r>
            <a:endParaRPr lang="zh-TW" altLang="en-US" sz="2400"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E31B0A87-A380-469B-9582-BE7751A5D00B}"/>
              </a:ext>
            </a:extLst>
          </p:cNvPr>
          <p:cNvSpPr txBox="1"/>
          <p:nvPr/>
        </p:nvSpPr>
        <p:spPr>
          <a:xfrm>
            <a:off x="6802767" y="2317071"/>
            <a:ext cx="83388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BB:1</a:t>
            </a:r>
            <a:endParaRPr lang="zh-TW" altLang="en-US"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9BBE95EC-998D-4F11-9663-6789BA5FE6B6}"/>
              </a:ext>
            </a:extLst>
          </p:cNvPr>
          <p:cNvSpPr txBox="1"/>
          <p:nvPr/>
        </p:nvSpPr>
        <p:spPr>
          <a:xfrm>
            <a:off x="803510" y="1855406"/>
            <a:ext cx="199362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threshold f = 2</a:t>
            </a:r>
            <a:endParaRPr lang="zh-TW" altLang="en-US" sz="2400"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2D64D402-2118-4A9D-9A22-1A9E78096AEA}"/>
              </a:ext>
            </a:extLst>
          </p:cNvPr>
          <p:cNvSpPr txBox="1"/>
          <p:nvPr/>
        </p:nvSpPr>
        <p:spPr>
          <a:xfrm>
            <a:off x="977682" y="3198167"/>
            <a:ext cx="1499128"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Dictionary</a:t>
            </a:r>
            <a:endParaRPr lang="zh-TW" altLang="en-US" sz="2400" dirty="0">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E885A763-E417-4E92-B596-8A1E060688AD}"/>
              </a:ext>
            </a:extLst>
          </p:cNvPr>
          <p:cNvSpPr txBox="1"/>
          <p:nvPr/>
        </p:nvSpPr>
        <p:spPr>
          <a:xfrm>
            <a:off x="9631679" y="3206876"/>
            <a:ext cx="1430200"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Candidate</a:t>
            </a:r>
            <a:endParaRPr lang="zh-TW" altLang="en-US" sz="2400" dirty="0"/>
          </a:p>
        </p:txBody>
      </p:sp>
      <p:sp>
        <p:nvSpPr>
          <p:cNvPr id="16" name="文字方塊 15">
            <a:extLst>
              <a:ext uri="{FF2B5EF4-FFF2-40B4-BE49-F238E27FC236}">
                <a16:creationId xmlns:a16="http://schemas.microsoft.com/office/drawing/2014/main" id="{F287EF1B-FA9A-48B0-B94B-552DFCFE281E}"/>
              </a:ext>
            </a:extLst>
          </p:cNvPr>
          <p:cNvSpPr txBox="1"/>
          <p:nvPr/>
        </p:nvSpPr>
        <p:spPr>
          <a:xfrm>
            <a:off x="10053429" y="3668541"/>
            <a:ext cx="620683"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aB:2</a:t>
            </a:r>
            <a:endParaRPr lang="zh-TW" altLang="en-US" dirty="0">
              <a:latin typeface="Times New Roman" panose="02020603050405020304" pitchFamily="18" charset="0"/>
              <a:cs typeface="Times New Roman" panose="02020603050405020304" pitchFamily="18" charset="0"/>
            </a:endParaRPr>
          </a:p>
        </p:txBody>
      </p:sp>
      <p:sp>
        <p:nvSpPr>
          <p:cNvPr id="17" name="文字方塊 16">
            <a:extLst>
              <a:ext uri="{FF2B5EF4-FFF2-40B4-BE49-F238E27FC236}">
                <a16:creationId xmlns:a16="http://schemas.microsoft.com/office/drawing/2014/main" id="{60F548E5-20FD-49CE-886A-663F26233A7A}"/>
              </a:ext>
            </a:extLst>
          </p:cNvPr>
          <p:cNvSpPr txBox="1"/>
          <p:nvPr/>
        </p:nvSpPr>
        <p:spPr>
          <a:xfrm>
            <a:off x="1177979" y="3668541"/>
            <a:ext cx="902876" cy="369332"/>
          </a:xfrm>
          <a:prstGeom prst="rect">
            <a:avLst/>
          </a:prstGeom>
          <a:noFill/>
        </p:spPr>
        <p:txBody>
          <a:bodyPr wrap="none" rtlCol="0">
            <a:spAutoFit/>
          </a:bodyPr>
          <a:lstStyle/>
          <a:p>
            <a:r>
              <a:rPr lang="en-US" altLang="zh-TW" dirty="0" err="1">
                <a:latin typeface="Times New Roman" panose="02020603050405020304" pitchFamily="18" charset="0"/>
                <a:cs typeface="Times New Roman" panose="02020603050405020304" pitchFamily="18" charset="0"/>
              </a:rPr>
              <a:t>bc</a:t>
            </a:r>
            <a:r>
              <a:rPr lang="en-US" altLang="zh-TW" dirty="0">
                <a:latin typeface="Times New Roman" panose="02020603050405020304" pitchFamily="18" charset="0"/>
                <a:cs typeface="Times New Roman" panose="02020603050405020304" pitchFamily="18" charset="0"/>
              </a:rPr>
              <a:t> → A</a:t>
            </a:r>
            <a:endParaRPr lang="zh-TW" altLang="en-US" dirty="0">
              <a:latin typeface="Times New Roman" panose="02020603050405020304" pitchFamily="18" charset="0"/>
              <a:cs typeface="Times New Roman" panose="02020603050405020304" pitchFamily="18" charset="0"/>
            </a:endParaRPr>
          </a:p>
        </p:txBody>
      </p:sp>
      <p:sp>
        <p:nvSpPr>
          <p:cNvPr id="19" name="文字方塊 18">
            <a:extLst>
              <a:ext uri="{FF2B5EF4-FFF2-40B4-BE49-F238E27FC236}">
                <a16:creationId xmlns:a16="http://schemas.microsoft.com/office/drawing/2014/main" id="{E08BD004-0B7A-4CEA-B006-E607FDB09ED9}"/>
              </a:ext>
            </a:extLst>
          </p:cNvPr>
          <p:cNvSpPr txBox="1"/>
          <p:nvPr/>
        </p:nvSpPr>
        <p:spPr>
          <a:xfrm>
            <a:off x="1177979" y="4037873"/>
            <a:ext cx="941348" cy="369332"/>
          </a:xfrm>
          <a:prstGeom prst="rect">
            <a:avLst/>
          </a:prstGeom>
          <a:noFill/>
        </p:spPr>
        <p:txBody>
          <a:bodyPr wrap="none" rtlCol="0">
            <a:spAutoFit/>
          </a:bodyPr>
          <a:lstStyle/>
          <a:p>
            <a:r>
              <a:rPr lang="en-US" altLang="zh-TW" dirty="0" err="1">
                <a:latin typeface="Times New Roman" panose="02020603050405020304" pitchFamily="18" charset="0"/>
                <a:cs typeface="Times New Roman" panose="02020603050405020304" pitchFamily="18" charset="0"/>
              </a:rPr>
              <a:t>aA</a:t>
            </a:r>
            <a:r>
              <a:rPr lang="en-US" altLang="zh-TW" dirty="0">
                <a:latin typeface="Times New Roman" panose="02020603050405020304" pitchFamily="18" charset="0"/>
                <a:cs typeface="Times New Roman" panose="02020603050405020304" pitchFamily="18" charset="0"/>
              </a:rPr>
              <a:t> → B</a:t>
            </a:r>
            <a:endParaRPr lang="zh-TW" altLang="en-US" dirty="0">
              <a:latin typeface="Times New Roman" panose="02020603050405020304" pitchFamily="18" charset="0"/>
              <a:cs typeface="Times New Roman" panose="02020603050405020304" pitchFamily="18" charset="0"/>
            </a:endParaRPr>
          </a:p>
        </p:txBody>
      </p:sp>
      <p:sp>
        <p:nvSpPr>
          <p:cNvPr id="20" name="箭號: 向下 19">
            <a:extLst>
              <a:ext uri="{FF2B5EF4-FFF2-40B4-BE49-F238E27FC236}">
                <a16:creationId xmlns:a16="http://schemas.microsoft.com/office/drawing/2014/main" id="{DE0237C1-F1D1-43EB-A48E-36C01F98C2C7}"/>
              </a:ext>
            </a:extLst>
          </p:cNvPr>
          <p:cNvSpPr/>
          <p:nvPr/>
        </p:nvSpPr>
        <p:spPr>
          <a:xfrm>
            <a:off x="5721061" y="3206876"/>
            <a:ext cx="633507" cy="84618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文字方塊 20">
            <a:extLst>
              <a:ext uri="{FF2B5EF4-FFF2-40B4-BE49-F238E27FC236}">
                <a16:creationId xmlns:a16="http://schemas.microsoft.com/office/drawing/2014/main" id="{1EEA065F-AFB3-4316-951A-3089D5B9BC52}"/>
              </a:ext>
            </a:extLst>
          </p:cNvPr>
          <p:cNvSpPr txBox="1"/>
          <p:nvPr/>
        </p:nvSpPr>
        <p:spPr>
          <a:xfrm>
            <a:off x="5526295" y="4176372"/>
            <a:ext cx="102303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CACB</a:t>
            </a:r>
            <a:endParaRPr lang="zh-TW" altLang="en-US" sz="2400" dirty="0">
              <a:latin typeface="Times New Roman" panose="02020603050405020304" pitchFamily="18" charset="0"/>
              <a:cs typeface="Times New Roman" panose="02020603050405020304" pitchFamily="18" charset="0"/>
            </a:endParaRPr>
          </a:p>
        </p:txBody>
      </p:sp>
      <p:sp>
        <p:nvSpPr>
          <p:cNvPr id="18" name="文字方塊 17">
            <a:extLst>
              <a:ext uri="{FF2B5EF4-FFF2-40B4-BE49-F238E27FC236}">
                <a16:creationId xmlns:a16="http://schemas.microsoft.com/office/drawing/2014/main" id="{65A5FD5E-EDD1-441B-B639-39249BE54BF9}"/>
              </a:ext>
            </a:extLst>
          </p:cNvPr>
          <p:cNvSpPr txBox="1"/>
          <p:nvPr/>
        </p:nvSpPr>
        <p:spPr>
          <a:xfrm>
            <a:off x="1177979" y="4356262"/>
            <a:ext cx="941283" cy="369332"/>
          </a:xfrm>
          <a:prstGeom prst="rect">
            <a:avLst/>
          </a:prstGeom>
          <a:noFill/>
        </p:spPr>
        <p:txBody>
          <a:bodyPr wrap="none" rtlCol="0">
            <a:spAutoFit/>
          </a:bodyPr>
          <a:lstStyle/>
          <a:p>
            <a:r>
              <a:rPr lang="en-US" altLang="zh-TW" dirty="0" err="1">
                <a:latin typeface="Times New Roman" panose="02020603050405020304" pitchFamily="18" charset="0"/>
                <a:cs typeface="Times New Roman" panose="02020603050405020304" pitchFamily="18" charset="0"/>
              </a:rPr>
              <a:t>aB</a:t>
            </a:r>
            <a:r>
              <a:rPr lang="en-US" altLang="zh-TW" dirty="0">
                <a:latin typeface="Times New Roman" panose="02020603050405020304" pitchFamily="18" charset="0"/>
                <a:cs typeface="Times New Roman" panose="02020603050405020304" pitchFamily="18" charset="0"/>
              </a:rPr>
              <a:t> → C</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52815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D910460-8B4D-42BE-9B55-5748A13E3F5F}"/>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RAY</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F46FA8F5-360F-4ADD-B9AD-99C5C2F7EA62}"/>
              </a:ext>
            </a:extLst>
          </p:cNvPr>
          <p:cNvSpPr txBox="1"/>
          <p:nvPr/>
        </p:nvSpPr>
        <p:spPr>
          <a:xfrm>
            <a:off x="4604245" y="1690688"/>
            <a:ext cx="1980029"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Input</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CACB</a:t>
            </a:r>
            <a:endParaRPr lang="zh-TW" altLang="en-US" sz="2400" dirty="0">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7850600E-9964-41F4-AD53-458FED2D649A}"/>
              </a:ext>
            </a:extLst>
          </p:cNvPr>
          <p:cNvSpPr txBox="1"/>
          <p:nvPr/>
        </p:nvSpPr>
        <p:spPr>
          <a:xfrm>
            <a:off x="838199" y="1304992"/>
            <a:ext cx="3716082"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Step 4</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repeat step1 ~ step3</a:t>
            </a:r>
            <a:endParaRPr lang="zh-TW" altLang="en-US" sz="2400"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D52A45B5-E70E-4FE0-9CD7-C48A7EF09EB7}"/>
              </a:ext>
            </a:extLst>
          </p:cNvPr>
          <p:cNvSpPr txBox="1"/>
          <p:nvPr/>
        </p:nvSpPr>
        <p:spPr>
          <a:xfrm>
            <a:off x="4586827" y="2317072"/>
            <a:ext cx="851515"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CA:1</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2A469D28-84E6-4464-A9F4-62BB7C814C9B}"/>
              </a:ext>
            </a:extLst>
          </p:cNvPr>
          <p:cNvSpPr txBox="1"/>
          <p:nvPr/>
        </p:nvSpPr>
        <p:spPr>
          <a:xfrm>
            <a:off x="6167332" y="2317070"/>
            <a:ext cx="83388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CB:1</a:t>
            </a:r>
            <a:endParaRPr lang="zh-TW" altLang="en-US" sz="2400" dirty="0">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575C656A-AF75-4346-A6D2-E82632697C6B}"/>
              </a:ext>
            </a:extLst>
          </p:cNvPr>
          <p:cNvSpPr txBox="1"/>
          <p:nvPr/>
        </p:nvSpPr>
        <p:spPr>
          <a:xfrm>
            <a:off x="5377080" y="2317070"/>
            <a:ext cx="851515"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AC:1</a:t>
            </a:r>
            <a:endParaRPr lang="zh-TW" altLang="en-US"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9BBE95EC-998D-4F11-9663-6789BA5FE6B6}"/>
              </a:ext>
            </a:extLst>
          </p:cNvPr>
          <p:cNvSpPr txBox="1"/>
          <p:nvPr/>
        </p:nvSpPr>
        <p:spPr>
          <a:xfrm>
            <a:off x="803510" y="1855406"/>
            <a:ext cx="199362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threshold f = 2</a:t>
            </a:r>
            <a:endParaRPr lang="zh-TW" altLang="en-US" sz="2400"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2D64D402-2118-4A9D-9A22-1A9E78096AEA}"/>
              </a:ext>
            </a:extLst>
          </p:cNvPr>
          <p:cNvSpPr txBox="1"/>
          <p:nvPr/>
        </p:nvSpPr>
        <p:spPr>
          <a:xfrm>
            <a:off x="977682" y="3198167"/>
            <a:ext cx="1499128"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Dictionary</a:t>
            </a:r>
            <a:endParaRPr lang="zh-TW" altLang="en-US" sz="2400" dirty="0">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E885A763-E417-4E92-B596-8A1E060688AD}"/>
              </a:ext>
            </a:extLst>
          </p:cNvPr>
          <p:cNvSpPr txBox="1"/>
          <p:nvPr/>
        </p:nvSpPr>
        <p:spPr>
          <a:xfrm>
            <a:off x="9631679" y="3206876"/>
            <a:ext cx="1430200"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Candidate</a:t>
            </a:r>
            <a:endParaRPr lang="zh-TW" altLang="en-US" sz="2400" dirty="0"/>
          </a:p>
        </p:txBody>
      </p:sp>
      <p:sp>
        <p:nvSpPr>
          <p:cNvPr id="17" name="文字方塊 16">
            <a:extLst>
              <a:ext uri="{FF2B5EF4-FFF2-40B4-BE49-F238E27FC236}">
                <a16:creationId xmlns:a16="http://schemas.microsoft.com/office/drawing/2014/main" id="{60F548E5-20FD-49CE-886A-663F26233A7A}"/>
              </a:ext>
            </a:extLst>
          </p:cNvPr>
          <p:cNvSpPr txBox="1"/>
          <p:nvPr/>
        </p:nvSpPr>
        <p:spPr>
          <a:xfrm>
            <a:off x="1177979" y="3668541"/>
            <a:ext cx="902876" cy="369332"/>
          </a:xfrm>
          <a:prstGeom prst="rect">
            <a:avLst/>
          </a:prstGeom>
          <a:noFill/>
        </p:spPr>
        <p:txBody>
          <a:bodyPr wrap="none" rtlCol="0">
            <a:spAutoFit/>
          </a:bodyPr>
          <a:lstStyle/>
          <a:p>
            <a:r>
              <a:rPr lang="en-US" altLang="zh-TW" dirty="0" err="1">
                <a:latin typeface="Times New Roman" panose="02020603050405020304" pitchFamily="18" charset="0"/>
                <a:cs typeface="Times New Roman" panose="02020603050405020304" pitchFamily="18" charset="0"/>
              </a:rPr>
              <a:t>bc</a:t>
            </a:r>
            <a:r>
              <a:rPr lang="en-US" altLang="zh-TW" dirty="0">
                <a:latin typeface="Times New Roman" panose="02020603050405020304" pitchFamily="18" charset="0"/>
                <a:cs typeface="Times New Roman" panose="02020603050405020304" pitchFamily="18" charset="0"/>
              </a:rPr>
              <a:t> → A</a:t>
            </a:r>
            <a:endParaRPr lang="zh-TW" altLang="en-US" dirty="0">
              <a:latin typeface="Times New Roman" panose="02020603050405020304" pitchFamily="18" charset="0"/>
              <a:cs typeface="Times New Roman" panose="02020603050405020304" pitchFamily="18" charset="0"/>
            </a:endParaRPr>
          </a:p>
        </p:txBody>
      </p:sp>
      <p:sp>
        <p:nvSpPr>
          <p:cNvPr id="19" name="文字方塊 18">
            <a:extLst>
              <a:ext uri="{FF2B5EF4-FFF2-40B4-BE49-F238E27FC236}">
                <a16:creationId xmlns:a16="http://schemas.microsoft.com/office/drawing/2014/main" id="{E08BD004-0B7A-4CEA-B006-E607FDB09ED9}"/>
              </a:ext>
            </a:extLst>
          </p:cNvPr>
          <p:cNvSpPr txBox="1"/>
          <p:nvPr/>
        </p:nvSpPr>
        <p:spPr>
          <a:xfrm>
            <a:off x="1177979" y="4037873"/>
            <a:ext cx="941348" cy="369332"/>
          </a:xfrm>
          <a:prstGeom prst="rect">
            <a:avLst/>
          </a:prstGeom>
          <a:noFill/>
        </p:spPr>
        <p:txBody>
          <a:bodyPr wrap="none" rtlCol="0">
            <a:spAutoFit/>
          </a:bodyPr>
          <a:lstStyle/>
          <a:p>
            <a:r>
              <a:rPr lang="en-US" altLang="zh-TW" dirty="0" err="1">
                <a:latin typeface="Times New Roman" panose="02020603050405020304" pitchFamily="18" charset="0"/>
                <a:cs typeface="Times New Roman" panose="02020603050405020304" pitchFamily="18" charset="0"/>
              </a:rPr>
              <a:t>aA</a:t>
            </a:r>
            <a:r>
              <a:rPr lang="en-US" altLang="zh-TW" dirty="0">
                <a:latin typeface="Times New Roman" panose="02020603050405020304" pitchFamily="18" charset="0"/>
                <a:cs typeface="Times New Roman" panose="02020603050405020304" pitchFamily="18" charset="0"/>
              </a:rPr>
              <a:t> → B</a:t>
            </a:r>
            <a:endParaRPr lang="zh-TW" altLang="en-US" dirty="0">
              <a:latin typeface="Times New Roman" panose="02020603050405020304" pitchFamily="18" charset="0"/>
              <a:cs typeface="Times New Roman" panose="02020603050405020304" pitchFamily="18" charset="0"/>
            </a:endParaRPr>
          </a:p>
        </p:txBody>
      </p:sp>
      <p:sp>
        <p:nvSpPr>
          <p:cNvPr id="18" name="文字方塊 17">
            <a:extLst>
              <a:ext uri="{FF2B5EF4-FFF2-40B4-BE49-F238E27FC236}">
                <a16:creationId xmlns:a16="http://schemas.microsoft.com/office/drawing/2014/main" id="{65A5FD5E-EDD1-441B-B639-39249BE54BF9}"/>
              </a:ext>
            </a:extLst>
          </p:cNvPr>
          <p:cNvSpPr txBox="1"/>
          <p:nvPr/>
        </p:nvSpPr>
        <p:spPr>
          <a:xfrm>
            <a:off x="1177979" y="4356262"/>
            <a:ext cx="941283" cy="369332"/>
          </a:xfrm>
          <a:prstGeom prst="rect">
            <a:avLst/>
          </a:prstGeom>
          <a:noFill/>
        </p:spPr>
        <p:txBody>
          <a:bodyPr wrap="none" rtlCol="0">
            <a:spAutoFit/>
          </a:bodyPr>
          <a:lstStyle/>
          <a:p>
            <a:r>
              <a:rPr lang="en-US" altLang="zh-TW" dirty="0" err="1">
                <a:latin typeface="Times New Roman" panose="02020603050405020304" pitchFamily="18" charset="0"/>
                <a:cs typeface="Times New Roman" panose="02020603050405020304" pitchFamily="18" charset="0"/>
              </a:rPr>
              <a:t>aB</a:t>
            </a:r>
            <a:r>
              <a:rPr lang="en-US" altLang="zh-TW" dirty="0">
                <a:latin typeface="Times New Roman" panose="02020603050405020304" pitchFamily="18" charset="0"/>
                <a:cs typeface="Times New Roman" panose="02020603050405020304" pitchFamily="18" charset="0"/>
              </a:rPr>
              <a:t> → C</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46489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43953D-7E43-4130-A993-B1FC2DAE7469}"/>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COMRAD</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50D77152-49BB-4698-9FAA-153E7058DCA7}"/>
              </a:ext>
            </a:extLst>
          </p:cNvPr>
          <p:cNvSpPr txBox="1"/>
          <p:nvPr/>
        </p:nvSpPr>
        <p:spPr>
          <a:xfrm>
            <a:off x="838200" y="1229023"/>
            <a:ext cx="184858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First iteration</a:t>
            </a:r>
            <a:endParaRPr lang="zh-TW" altLang="en-US" sz="2400"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58CF55FF-2FEB-41E9-954D-DFDC45E2FBFF}"/>
              </a:ext>
            </a:extLst>
          </p:cNvPr>
          <p:cNvSpPr txBox="1"/>
          <p:nvPr/>
        </p:nvSpPr>
        <p:spPr>
          <a:xfrm>
            <a:off x="1524000" y="2459504"/>
            <a:ext cx="8695457" cy="1938992"/>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Step 1</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Count all substrings of length L and it’s reverse complement</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Step 2</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Create frequency dictionary</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Step 3</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Substitution</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27721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CB9AF2-6A48-4ADF-8003-593FFB2F8CE0}"/>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Reverse Complement</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1A23CAF4-42E9-4E8E-9743-EF10999E8217}"/>
              </a:ext>
            </a:extLst>
          </p:cNvPr>
          <p:cNvSpPr txBox="1"/>
          <p:nvPr/>
        </p:nvSpPr>
        <p:spPr>
          <a:xfrm>
            <a:off x="5373189" y="1948433"/>
            <a:ext cx="988925"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ATGC</a:t>
            </a:r>
            <a:endParaRPr lang="zh-TW" altLang="en-US" sz="2400"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2864BE07-579E-4172-8950-253561F9B5C0}"/>
              </a:ext>
            </a:extLst>
          </p:cNvPr>
          <p:cNvSpPr txBox="1"/>
          <p:nvPr/>
        </p:nvSpPr>
        <p:spPr>
          <a:xfrm>
            <a:off x="3283131" y="2410098"/>
            <a:ext cx="1472775"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Reverse</a:t>
            </a:r>
            <a:r>
              <a:rPr lang="zh-TW" altLang="en-US" sz="2400" dirty="0">
                <a:latin typeface="Times New Roman" panose="02020603050405020304" pitchFamily="18" charset="0"/>
                <a:cs typeface="Times New Roman" panose="02020603050405020304" pitchFamily="18" charset="0"/>
              </a:rPr>
              <a:t>：</a:t>
            </a:r>
          </a:p>
        </p:txBody>
      </p:sp>
      <p:sp>
        <p:nvSpPr>
          <p:cNvPr id="6" name="文字方塊 5">
            <a:extLst>
              <a:ext uri="{FF2B5EF4-FFF2-40B4-BE49-F238E27FC236}">
                <a16:creationId xmlns:a16="http://schemas.microsoft.com/office/drawing/2014/main" id="{58AA6C3C-AF25-4A0E-8B26-204C739A08B3}"/>
              </a:ext>
            </a:extLst>
          </p:cNvPr>
          <p:cNvSpPr txBox="1"/>
          <p:nvPr/>
        </p:nvSpPr>
        <p:spPr>
          <a:xfrm>
            <a:off x="1721517" y="2913129"/>
            <a:ext cx="312322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Reverse</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complement</a:t>
            </a:r>
            <a:r>
              <a:rPr lang="zh-TW" altLang="en-US" sz="2400" dirty="0">
                <a:latin typeface="Times New Roman" panose="02020603050405020304" pitchFamily="18" charset="0"/>
                <a:cs typeface="Times New Roman" panose="02020603050405020304" pitchFamily="18" charset="0"/>
              </a:rPr>
              <a:t>：</a:t>
            </a:r>
          </a:p>
        </p:txBody>
      </p:sp>
      <p:sp>
        <p:nvSpPr>
          <p:cNvPr id="7" name="文字方塊 6">
            <a:extLst>
              <a:ext uri="{FF2B5EF4-FFF2-40B4-BE49-F238E27FC236}">
                <a16:creationId xmlns:a16="http://schemas.microsoft.com/office/drawing/2014/main" id="{EFCAB1C3-F0C9-4298-A0F3-653859892E06}"/>
              </a:ext>
            </a:extLst>
          </p:cNvPr>
          <p:cNvSpPr txBox="1"/>
          <p:nvPr/>
        </p:nvSpPr>
        <p:spPr>
          <a:xfrm>
            <a:off x="5373188" y="2451464"/>
            <a:ext cx="998415"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CGTA</a:t>
            </a:r>
            <a:endParaRPr lang="zh-TW" altLang="en-US" sz="2400"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FC74B012-2AE8-4CA7-B79A-5944D04D1BBD}"/>
              </a:ext>
            </a:extLst>
          </p:cNvPr>
          <p:cNvSpPr txBox="1"/>
          <p:nvPr/>
        </p:nvSpPr>
        <p:spPr>
          <a:xfrm>
            <a:off x="5373188" y="2967335"/>
            <a:ext cx="988925"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GCAT</a:t>
            </a:r>
            <a:endParaRPr lang="zh-TW" altLang="en-US" sz="2400"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98CA2EBC-3416-42D9-8070-36561ABBE4DB}"/>
              </a:ext>
            </a:extLst>
          </p:cNvPr>
          <p:cNvSpPr txBox="1"/>
          <p:nvPr/>
        </p:nvSpPr>
        <p:spPr>
          <a:xfrm>
            <a:off x="7345680" y="3894798"/>
            <a:ext cx="1707070"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5’-ATGC-3’</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77EC218B-CC30-4389-8326-C4EE1E17AFD4}"/>
              </a:ext>
            </a:extLst>
          </p:cNvPr>
          <p:cNvSpPr txBox="1"/>
          <p:nvPr/>
        </p:nvSpPr>
        <p:spPr>
          <a:xfrm>
            <a:off x="7345680" y="4439084"/>
            <a:ext cx="1716560"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3’-TACG-5’</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36483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43953D-7E43-4130-A993-B1FC2DAE7469}"/>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COMRAD</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50D77152-49BB-4698-9FAA-153E7058DCA7}"/>
              </a:ext>
            </a:extLst>
          </p:cNvPr>
          <p:cNvSpPr txBox="1"/>
          <p:nvPr/>
        </p:nvSpPr>
        <p:spPr>
          <a:xfrm>
            <a:off x="838200" y="1229023"/>
            <a:ext cx="184858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First iteration</a:t>
            </a:r>
            <a:endParaRPr lang="zh-TW" altLang="en-US" sz="2400"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58CF55FF-2FEB-41E9-954D-DFDC45E2FBFF}"/>
              </a:ext>
            </a:extLst>
          </p:cNvPr>
          <p:cNvSpPr txBox="1"/>
          <p:nvPr/>
        </p:nvSpPr>
        <p:spPr>
          <a:xfrm>
            <a:off x="1524000" y="2459504"/>
            <a:ext cx="8695457" cy="1938992"/>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Step 1</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Count all substrings of length L and it’s reverse complement</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Step 2</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Create frequency dictionary</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Step 3</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Substitution</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46830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43953D-7E43-4130-A993-B1FC2DAE7469}"/>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COMRAD</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50D77152-49BB-4698-9FAA-153E7058DCA7}"/>
              </a:ext>
            </a:extLst>
          </p:cNvPr>
          <p:cNvSpPr txBox="1"/>
          <p:nvPr/>
        </p:nvSpPr>
        <p:spPr>
          <a:xfrm>
            <a:off x="838200" y="1229023"/>
            <a:ext cx="4326826"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Second and Subsequent iterations</a:t>
            </a:r>
            <a:endParaRPr lang="zh-TW" altLang="en-US" sz="2400"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58CF55FF-2FEB-41E9-954D-DFDC45E2FBFF}"/>
              </a:ext>
            </a:extLst>
          </p:cNvPr>
          <p:cNvSpPr txBox="1"/>
          <p:nvPr/>
        </p:nvSpPr>
        <p:spPr>
          <a:xfrm>
            <a:off x="1524000" y="2459504"/>
            <a:ext cx="8419741" cy="1938992"/>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Step 1</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Count all patterns of length h and it’s reverse complement</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Step 2</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Create frequency dictionary</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Step 3</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Substitution</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71270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81E909DE-8D46-42D7-8DE6-9383E94CDD3C}"/>
              </a:ext>
            </a:extLst>
          </p:cNvPr>
          <p:cNvSpPr txBox="1"/>
          <p:nvPr/>
        </p:nvSpPr>
        <p:spPr>
          <a:xfrm>
            <a:off x="3927565" y="1739090"/>
            <a:ext cx="1175322"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Patterns</a:t>
            </a:r>
            <a:endParaRPr lang="zh-TW" alt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B5D3EB1C-E7D2-4F05-9D40-10CF8FFE7E17}"/>
                  </a:ext>
                </a:extLst>
              </p:cNvPr>
              <p:cNvSpPr txBox="1"/>
              <p:nvPr/>
            </p:nvSpPr>
            <p:spPr>
              <a:xfrm>
                <a:off x="975360" y="1785257"/>
                <a:ext cx="122892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5</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h</m:t>
                      </m:r>
                      <m:r>
                        <a:rPr lang="en-US" altLang="zh-TW" b="0" i="1" smtClean="0">
                          <a:latin typeface="Cambria Math" panose="02040503050406030204" pitchFamily="18" charset="0"/>
                          <a:ea typeface="Cambria Math" panose="02040503050406030204" pitchFamily="18" charset="0"/>
                        </a:rPr>
                        <m:t>&lt;</m:t>
                      </m:r>
                      <m:r>
                        <a:rPr lang="en-US" altLang="zh-TW" b="0" i="1" smtClean="0">
                          <a:latin typeface="Cambria Math" panose="02040503050406030204" pitchFamily="18" charset="0"/>
                          <a:ea typeface="Cambria Math" panose="02040503050406030204" pitchFamily="18" charset="0"/>
                        </a:rPr>
                        <m:t>𝐿</m:t>
                      </m:r>
                    </m:oMath>
                  </m:oMathPara>
                </a14:m>
                <a:endParaRPr lang="zh-TW" altLang="en-US" dirty="0"/>
              </a:p>
            </p:txBody>
          </p:sp>
        </mc:Choice>
        <mc:Fallback xmlns="">
          <p:sp>
            <p:nvSpPr>
              <p:cNvPr id="5" name="文字方塊 4">
                <a:extLst>
                  <a:ext uri="{FF2B5EF4-FFF2-40B4-BE49-F238E27FC236}">
                    <a16:creationId xmlns:a16="http://schemas.microsoft.com/office/drawing/2014/main" id="{B5D3EB1C-E7D2-4F05-9D40-10CF8FFE7E17}"/>
                  </a:ext>
                </a:extLst>
              </p:cNvPr>
              <p:cNvSpPr txBox="1">
                <a:spLocks noRot="1" noChangeAspect="1" noMove="1" noResize="1" noEditPoints="1" noAdjustHandles="1" noChangeArrowheads="1" noChangeShapeType="1" noTextEdit="1"/>
              </p:cNvSpPr>
              <p:nvPr/>
            </p:nvSpPr>
            <p:spPr>
              <a:xfrm>
                <a:off x="975360" y="1785257"/>
                <a:ext cx="1228926" cy="369332"/>
              </a:xfrm>
              <a:prstGeom prst="rect">
                <a:avLst/>
              </a:prstGeom>
              <a:blipFill>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347B6E91-67A7-4F95-A0DE-D3AB29CC2B0F}"/>
                  </a:ext>
                </a:extLst>
              </p:cNvPr>
              <p:cNvSpPr txBox="1"/>
              <p:nvPr/>
            </p:nvSpPr>
            <p:spPr>
              <a:xfrm>
                <a:off x="975360" y="2307771"/>
                <a:ext cx="79938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h</m:t>
                      </m:r>
                      <m:r>
                        <a:rPr lang="en-US" altLang="zh-TW" b="0" i="1" smtClean="0">
                          <a:latin typeface="Cambria Math" panose="02040503050406030204" pitchFamily="18" charset="0"/>
                        </a:rPr>
                        <m:t>=6</m:t>
                      </m:r>
                    </m:oMath>
                  </m:oMathPara>
                </a14:m>
                <a:endParaRPr lang="zh-TW" altLang="en-US" dirty="0"/>
              </a:p>
            </p:txBody>
          </p:sp>
        </mc:Choice>
        <mc:Fallback xmlns="">
          <p:sp>
            <p:nvSpPr>
              <p:cNvPr id="7" name="文字方塊 6">
                <a:extLst>
                  <a:ext uri="{FF2B5EF4-FFF2-40B4-BE49-F238E27FC236}">
                    <a16:creationId xmlns:a16="http://schemas.microsoft.com/office/drawing/2014/main" id="{347B6E91-67A7-4F95-A0DE-D3AB29CC2B0F}"/>
                  </a:ext>
                </a:extLst>
              </p:cNvPr>
              <p:cNvSpPr txBox="1">
                <a:spLocks noRot="1" noChangeAspect="1" noMove="1" noResize="1" noEditPoints="1" noAdjustHandles="1" noChangeArrowheads="1" noChangeShapeType="1" noTextEdit="1"/>
              </p:cNvSpPr>
              <p:nvPr/>
            </p:nvSpPr>
            <p:spPr>
              <a:xfrm>
                <a:off x="975360" y="2307771"/>
                <a:ext cx="799386" cy="369332"/>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BE79A99C-4A9C-4B5D-9FBB-AE0AE418DFB5}"/>
                  </a:ext>
                </a:extLst>
              </p:cNvPr>
              <p:cNvSpPr txBox="1"/>
              <p:nvPr/>
            </p:nvSpPr>
            <p:spPr>
              <a:xfrm>
                <a:off x="5486400" y="1785257"/>
                <a:ext cx="1972207" cy="2677656"/>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rPr>
                        <m:t>𝐴𝐵</m:t>
                      </m:r>
                    </m:oMath>
                  </m:oMathPara>
                </a14:m>
                <a:endParaRPr lang="en-US" altLang="zh-TW" sz="2400"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rPr>
                        <m:t>𝐴</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𝐵</m:t>
                      </m:r>
                    </m:oMath>
                  </m:oMathPara>
                </a14:m>
                <a:endParaRPr lang="en-US" altLang="zh-TW" sz="2400"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rPr>
                        <m:t>𝐴</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1</m:t>
                          </m:r>
                        </m:sub>
                      </m:sSub>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2</m:t>
                          </m:r>
                        </m:sub>
                      </m:sSub>
                      <m:r>
                        <a:rPr lang="en-US" altLang="zh-TW" sz="2400" b="0" i="1" smtClean="0">
                          <a:latin typeface="Cambria Math" panose="02040503050406030204" pitchFamily="18" charset="0"/>
                        </a:rPr>
                        <m:t>𝐵</m:t>
                      </m:r>
                    </m:oMath>
                  </m:oMathPara>
                </a14:m>
                <a:endParaRPr lang="en-US" altLang="zh-TW" sz="2400"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rPr>
                        <m:t>𝐴</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1</m:t>
                          </m:r>
                        </m:sub>
                      </m:sSub>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2</m:t>
                          </m:r>
                        </m:sub>
                      </m:sSub>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3</m:t>
                          </m:r>
                        </m:sub>
                      </m:sSub>
                      <m:r>
                        <a:rPr lang="en-US" altLang="zh-TW" sz="2400" b="0" i="1" smtClean="0">
                          <a:latin typeface="Cambria Math" panose="02040503050406030204" pitchFamily="18" charset="0"/>
                        </a:rPr>
                        <m:t>𝐵</m:t>
                      </m:r>
                    </m:oMath>
                  </m:oMathPara>
                </a14:m>
                <a:endParaRPr lang="en-US" altLang="zh-TW" sz="2400"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rPr>
                        <m:t>𝐴</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1</m:t>
                          </m:r>
                        </m:sub>
                      </m:sSub>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2</m:t>
                          </m:r>
                        </m:sub>
                      </m:sSub>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3</m:t>
                          </m:r>
                        </m:sub>
                      </m:sSub>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4</m:t>
                          </m:r>
                        </m:sub>
                      </m:sSub>
                      <m:r>
                        <a:rPr lang="en-US" altLang="zh-TW" sz="2400" b="0" i="1" smtClean="0">
                          <a:latin typeface="Cambria Math" panose="02040503050406030204" pitchFamily="18" charset="0"/>
                        </a:rPr>
                        <m:t>𝐵</m:t>
                      </m:r>
                    </m:oMath>
                  </m:oMathPara>
                </a14:m>
                <a:endParaRPr lang="en-US" altLang="zh-TW" sz="2400" b="0" dirty="0"/>
              </a:p>
              <a:p>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rPr>
                        <m:t>𝐴</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1</m:t>
                          </m:r>
                        </m:sub>
                      </m:sSub>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2</m:t>
                          </m:r>
                        </m:sub>
                      </m:sSub>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3</m:t>
                          </m:r>
                        </m:sub>
                      </m:sSub>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4</m:t>
                          </m:r>
                        </m:sub>
                      </m:sSub>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5</m:t>
                          </m:r>
                        </m:sub>
                      </m:sSub>
                    </m:oMath>
                  </m:oMathPara>
                </a14:m>
                <a:endParaRPr lang="en-US" altLang="zh-TW" sz="2400" b="0" dirty="0"/>
              </a:p>
              <a:p>
                <a:pPr/>
                <a14:m>
                  <m:oMathPara xmlns:m="http://schemas.openxmlformats.org/officeDocument/2006/math">
                    <m:oMathParaPr>
                      <m:jc m:val="left"/>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1</m:t>
                          </m:r>
                        </m:sub>
                      </m:sSub>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2</m:t>
                          </m:r>
                        </m:sub>
                      </m:sSub>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3</m:t>
                          </m:r>
                        </m:sub>
                      </m:sSub>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4</m:t>
                          </m:r>
                        </m:sub>
                      </m:sSub>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5</m:t>
                          </m:r>
                        </m:sub>
                      </m:sSub>
                      <m:r>
                        <a:rPr lang="en-US" altLang="zh-TW" sz="2400" b="0" i="1" smtClean="0">
                          <a:latin typeface="Cambria Math" panose="02040503050406030204" pitchFamily="18" charset="0"/>
                        </a:rPr>
                        <m:t>𝐵</m:t>
                      </m:r>
                    </m:oMath>
                  </m:oMathPara>
                </a14:m>
                <a:endParaRPr lang="en-US" altLang="zh-TW" sz="2400" b="0" dirty="0"/>
              </a:p>
            </p:txBody>
          </p:sp>
        </mc:Choice>
        <mc:Fallback xmlns="">
          <p:sp>
            <p:nvSpPr>
              <p:cNvPr id="8" name="文字方塊 7">
                <a:extLst>
                  <a:ext uri="{FF2B5EF4-FFF2-40B4-BE49-F238E27FC236}">
                    <a16:creationId xmlns:a16="http://schemas.microsoft.com/office/drawing/2014/main" id="{BE79A99C-4A9C-4B5D-9FBB-AE0AE418DFB5}"/>
                  </a:ext>
                </a:extLst>
              </p:cNvPr>
              <p:cNvSpPr txBox="1">
                <a:spLocks noRot="1" noChangeAspect="1" noMove="1" noResize="1" noEditPoints="1" noAdjustHandles="1" noChangeArrowheads="1" noChangeShapeType="1" noTextEdit="1"/>
              </p:cNvSpPr>
              <p:nvPr/>
            </p:nvSpPr>
            <p:spPr>
              <a:xfrm>
                <a:off x="5486400" y="1785257"/>
                <a:ext cx="1972207" cy="2677656"/>
              </a:xfrm>
              <a:prstGeom prst="rect">
                <a:avLst/>
              </a:prstGeom>
              <a:blipFill>
                <a:blip r:embed="rId4"/>
                <a:stretch>
                  <a:fillRect l="-61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3406747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43953D-7E43-4130-A993-B1FC2DAE7469}"/>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COMRAD</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50D77152-49BB-4698-9FAA-153E7058DCA7}"/>
              </a:ext>
            </a:extLst>
          </p:cNvPr>
          <p:cNvSpPr txBox="1"/>
          <p:nvPr/>
        </p:nvSpPr>
        <p:spPr>
          <a:xfrm>
            <a:off x="838200" y="1229023"/>
            <a:ext cx="4326826"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Second and Subsequent iterations</a:t>
            </a:r>
            <a:endParaRPr lang="zh-TW" altLang="en-US" sz="2400"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58CF55FF-2FEB-41E9-954D-DFDC45E2FBFF}"/>
              </a:ext>
            </a:extLst>
          </p:cNvPr>
          <p:cNvSpPr txBox="1"/>
          <p:nvPr/>
        </p:nvSpPr>
        <p:spPr>
          <a:xfrm>
            <a:off x="1524000" y="2459504"/>
            <a:ext cx="8419741" cy="1938992"/>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Step 1</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Count all patterns of length h and it’s reverse complement</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Step 2</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Create frequency dictionary</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Step 3</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Substitution</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9502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343617A-ADF5-47B9-978A-C6712601D49D}"/>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Experiment</a:t>
            </a: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8B36B4BA-7D86-40F8-8E08-6F638746B291}"/>
              </a:ext>
            </a:extLst>
          </p:cNvPr>
          <p:cNvPicPr>
            <a:picLocks noChangeAspect="1"/>
          </p:cNvPicPr>
          <p:nvPr/>
        </p:nvPicPr>
        <p:blipFill>
          <a:blip r:embed="rId2"/>
          <a:stretch>
            <a:fillRect/>
          </a:stretch>
        </p:blipFill>
        <p:spPr>
          <a:xfrm>
            <a:off x="-19733" y="1800225"/>
            <a:ext cx="12144375" cy="3642632"/>
          </a:xfrm>
          <a:prstGeom prst="rect">
            <a:avLst/>
          </a:prstGeom>
        </p:spPr>
      </p:pic>
    </p:spTree>
    <p:extLst>
      <p:ext uri="{BB962C8B-B14F-4D97-AF65-F5344CB8AC3E}">
        <p14:creationId xmlns:p14="http://schemas.microsoft.com/office/powerpoint/2010/main" val="25880199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991AD3B-2182-432D-97D1-1C8659961647}"/>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Experiment</a:t>
            </a:r>
            <a:endParaRPr lang="zh-TW" altLang="en-US" dirty="0"/>
          </a:p>
        </p:txBody>
      </p:sp>
      <p:pic>
        <p:nvPicPr>
          <p:cNvPr id="4" name="圖片 3">
            <a:extLst>
              <a:ext uri="{FF2B5EF4-FFF2-40B4-BE49-F238E27FC236}">
                <a16:creationId xmlns:a16="http://schemas.microsoft.com/office/drawing/2014/main" id="{D7B41DFF-8488-4A30-A615-B6B25010674C}"/>
              </a:ext>
            </a:extLst>
          </p:cNvPr>
          <p:cNvPicPr>
            <a:picLocks noChangeAspect="1"/>
          </p:cNvPicPr>
          <p:nvPr/>
        </p:nvPicPr>
        <p:blipFill>
          <a:blip r:embed="rId2"/>
          <a:stretch>
            <a:fillRect/>
          </a:stretch>
        </p:blipFill>
        <p:spPr>
          <a:xfrm>
            <a:off x="0" y="2315778"/>
            <a:ext cx="12192000" cy="2587148"/>
          </a:xfrm>
          <a:prstGeom prst="rect">
            <a:avLst/>
          </a:prstGeom>
        </p:spPr>
      </p:pic>
    </p:spTree>
    <p:extLst>
      <p:ext uri="{BB962C8B-B14F-4D97-AF65-F5344CB8AC3E}">
        <p14:creationId xmlns:p14="http://schemas.microsoft.com/office/powerpoint/2010/main" val="6827026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DD420CD-1C5E-450E-A5FA-B2A844C7FEF9}"/>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Experiment</a:t>
            </a:r>
            <a:endParaRPr lang="zh-TW" altLang="en-US" dirty="0"/>
          </a:p>
        </p:txBody>
      </p:sp>
      <p:pic>
        <p:nvPicPr>
          <p:cNvPr id="4" name="圖片 3">
            <a:extLst>
              <a:ext uri="{FF2B5EF4-FFF2-40B4-BE49-F238E27FC236}">
                <a16:creationId xmlns:a16="http://schemas.microsoft.com/office/drawing/2014/main" id="{EB86ECD2-EC7A-418B-9229-0005DC05ACD3}"/>
              </a:ext>
            </a:extLst>
          </p:cNvPr>
          <p:cNvPicPr>
            <a:picLocks noChangeAspect="1"/>
          </p:cNvPicPr>
          <p:nvPr/>
        </p:nvPicPr>
        <p:blipFill>
          <a:blip r:embed="rId2"/>
          <a:stretch>
            <a:fillRect/>
          </a:stretch>
        </p:blipFill>
        <p:spPr>
          <a:xfrm>
            <a:off x="168455" y="1778861"/>
            <a:ext cx="11855090" cy="3437573"/>
          </a:xfrm>
          <a:prstGeom prst="rect">
            <a:avLst/>
          </a:prstGeom>
        </p:spPr>
      </p:pic>
    </p:spTree>
    <p:extLst>
      <p:ext uri="{BB962C8B-B14F-4D97-AF65-F5344CB8AC3E}">
        <p14:creationId xmlns:p14="http://schemas.microsoft.com/office/powerpoint/2010/main" val="3220998857"/>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283</TotalTime>
  <Words>902</Words>
  <Application>Microsoft Office PowerPoint</Application>
  <PresentationFormat>寬螢幕</PresentationFormat>
  <Paragraphs>227</Paragraphs>
  <Slides>28</Slides>
  <Notes>3</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28</vt:i4>
      </vt:variant>
    </vt:vector>
  </HeadingPairs>
  <TitlesOfParts>
    <vt:vector size="35" baseType="lpstr">
      <vt:lpstr>新細明體</vt:lpstr>
      <vt:lpstr>Arial</vt:lpstr>
      <vt:lpstr>Calibri</vt:lpstr>
      <vt:lpstr>Calibri Light</vt:lpstr>
      <vt:lpstr>Cambria Math</vt:lpstr>
      <vt:lpstr>Times New Roman</vt:lpstr>
      <vt:lpstr>Office 佈景主題</vt:lpstr>
      <vt:lpstr>Iterative Dictionary Construction for Compression of Large DNA Data Sets</vt:lpstr>
      <vt:lpstr>Abstract(1/2)</vt:lpstr>
      <vt:lpstr>Abstract(2/2)</vt:lpstr>
      <vt:lpstr>RAY</vt:lpstr>
      <vt:lpstr>RAY</vt:lpstr>
      <vt:lpstr>RAY</vt:lpstr>
      <vt:lpstr>RAY</vt:lpstr>
      <vt:lpstr>RAY</vt:lpstr>
      <vt:lpstr>RAY</vt:lpstr>
      <vt:lpstr>RAY</vt:lpstr>
      <vt:lpstr>RAY</vt:lpstr>
      <vt:lpstr>RAY</vt:lpstr>
      <vt:lpstr>RAY</vt:lpstr>
      <vt:lpstr>RAY</vt:lpstr>
      <vt:lpstr>RAY</vt:lpstr>
      <vt:lpstr>RAY</vt:lpstr>
      <vt:lpstr>RAY</vt:lpstr>
      <vt:lpstr>RAY</vt:lpstr>
      <vt:lpstr>RAY</vt:lpstr>
      <vt:lpstr>COMRAD</vt:lpstr>
      <vt:lpstr>Reverse Complement</vt:lpstr>
      <vt:lpstr>COMRAD</vt:lpstr>
      <vt:lpstr>COMRAD</vt:lpstr>
      <vt:lpstr>PowerPoint 簡報</vt:lpstr>
      <vt:lpstr>COMRAD</vt:lpstr>
      <vt:lpstr>Experiment</vt:lpstr>
      <vt:lpstr>Experiment</vt:lpstr>
      <vt:lpstr>Experiment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Iterative Dictionary Construction for Compression of Large DNA Data Sets</dc:title>
  <dc:creator>Caros</dc:creator>
  <cp:lastModifiedBy>Caros</cp:lastModifiedBy>
  <cp:revision>44</cp:revision>
  <dcterms:created xsi:type="dcterms:W3CDTF">2017-12-05T02:35:46Z</dcterms:created>
  <dcterms:modified xsi:type="dcterms:W3CDTF">2017-12-13T08:41:53Z</dcterms:modified>
</cp:coreProperties>
</file>