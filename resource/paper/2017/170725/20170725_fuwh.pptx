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handoutMasterIdLst>
    <p:handoutMasterId r:id="rId26"/>
  </p:handoutMasterIdLst>
  <p:sldIdLst>
    <p:sldId id="256" r:id="rId2"/>
    <p:sldId id="258" r:id="rId3"/>
    <p:sldId id="259" r:id="rId4"/>
    <p:sldId id="275" r:id="rId5"/>
    <p:sldId id="276" r:id="rId6"/>
    <p:sldId id="260" r:id="rId7"/>
    <p:sldId id="270" r:id="rId8"/>
    <p:sldId id="266" r:id="rId9"/>
    <p:sldId id="269" r:id="rId10"/>
    <p:sldId id="261" r:id="rId11"/>
    <p:sldId id="267" r:id="rId12"/>
    <p:sldId id="268" r:id="rId13"/>
    <p:sldId id="271" r:id="rId14"/>
    <p:sldId id="262" r:id="rId15"/>
    <p:sldId id="272" r:id="rId16"/>
    <p:sldId id="277" r:id="rId17"/>
    <p:sldId id="274" r:id="rId18"/>
    <p:sldId id="273" r:id="rId19"/>
    <p:sldId id="263" r:id="rId20"/>
    <p:sldId id="264" r:id="rId21"/>
    <p:sldId id="278" r:id="rId22"/>
    <p:sldId id="279" r:id="rId23"/>
    <p:sldId id="265" r:id="rId24"/>
  </p:sldIdLst>
  <p:sldSz cx="10080625" cy="7559675"/>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fu" initials="w"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5B9BD5"/>
              </a:solidFill>
              <a:prstDash val="solid"/>
              <a:round/>
              <a:headEnd type="none" w="med" len="med"/>
              <a:tailEnd type="none" w="med" len="med"/>
            </a:ln>
          </a:left>
          <a:right>
            <a:ln w="12701" cap="flat" cmpd="sng" algn="ctr">
              <a:solidFill>
                <a:srgbClr val="5B9BD5"/>
              </a:solidFill>
              <a:prstDash val="solid"/>
              <a:round/>
              <a:headEnd type="none" w="med" len="med"/>
              <a:tailEnd type="none" w="med" len="med"/>
            </a:ln>
          </a:right>
          <a:top>
            <a:ln w="12701" cap="flat" cmpd="sng" algn="ctr">
              <a:solidFill>
                <a:srgbClr val="5B9BD5"/>
              </a:solidFill>
              <a:prstDash val="solid"/>
              <a:round/>
              <a:headEnd type="none" w="med" len="med"/>
              <a:tailEnd type="none" w="med" len="med"/>
            </a:ln>
          </a:top>
          <a:bottom>
            <a:ln w="12701" cap="flat" cmpd="sng" algn="ctr">
              <a:solidFill>
                <a:srgbClr val="5B9BD5"/>
              </a:solidFill>
              <a:prstDash val="solid"/>
              <a:round/>
              <a:headEnd type="none" w="med" len="med"/>
              <a:tailEnd type="none" w="med" len="med"/>
            </a:ln>
          </a:bottom>
        </a:tcBdr>
      </a:tcStyle>
    </a:wholeTbl>
    <a:band1H>
      <a:tcStyle>
        <a:tcBdr/>
        <a:fill>
          <a:solidFill>
            <a:srgbClr val="5B9BD5"/>
          </a:solidFill>
        </a:fill>
      </a:tcStyle>
    </a:band1H>
    <a:band1V>
      <a:tcStyle>
        <a:tcBdr/>
        <a:fill>
          <a:solidFill>
            <a:srgbClr val="5B9BD5"/>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5B9BD5"/>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5B9BD5"/>
              </a:solidFill>
              <a:prstDash val="solid"/>
              <a:round/>
              <a:headEnd type="none" w="med" len="med"/>
              <a:tailEnd type="none" w="med" len="med"/>
            </a:ln>
          </a:bottom>
        </a:tcBdr>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E8B1032C-EA38-4F05-BA0D-38AFFFC7BED3}" styleName="">
    <a:wholeTbl>
      <a:tcTxStyle>
        <a:font>
          <a:latin typeface="+mn-lt"/>
          <a:ea typeface="+mn-ea"/>
          <a:cs typeface="+mn-cs"/>
        </a:font>
        <a:srgbClr val="000000"/>
      </a:tcTxStyle>
      <a:tcStyle>
        <a:tcBdr>
          <a:left>
            <a:ln w="12701" cap="flat" cmpd="sng" algn="ctr">
              <a:solidFill>
                <a:srgbClr val="70AD47"/>
              </a:solidFill>
              <a:prstDash val="solid"/>
              <a:round/>
              <a:headEnd type="none" w="med" len="med"/>
              <a:tailEnd type="none" w="med" len="med"/>
            </a:ln>
          </a:left>
          <a:right>
            <a:ln w="12701" cap="flat" cmpd="sng" algn="ctr">
              <a:solidFill>
                <a:srgbClr val="70AD47"/>
              </a:solidFill>
              <a:prstDash val="solid"/>
              <a:round/>
              <a:headEnd type="none" w="med" len="med"/>
              <a:tailEnd type="none" w="med" len="med"/>
            </a:ln>
          </a:right>
          <a:top>
            <a:ln w="12701" cap="flat" cmpd="sng" algn="ctr">
              <a:solidFill>
                <a:srgbClr val="70AD47"/>
              </a:solidFill>
              <a:prstDash val="solid"/>
              <a:round/>
              <a:headEnd type="none" w="med" len="med"/>
              <a:tailEnd type="none" w="med" len="med"/>
            </a:ln>
          </a:top>
          <a:bottom>
            <a:ln w="12701" cap="flat" cmpd="sng" algn="ctr">
              <a:solidFill>
                <a:srgbClr val="70AD47"/>
              </a:solidFill>
              <a:prstDash val="solid"/>
              <a:round/>
              <a:headEnd type="none" w="med" len="med"/>
              <a:tailEnd type="none" w="med" len="med"/>
            </a:ln>
          </a:bottom>
        </a:tcBdr>
      </a:tcStyle>
    </a:wholeTbl>
    <a:band1H>
      <a:tcStyle>
        <a:tcBdr/>
        <a:fill>
          <a:solidFill>
            <a:srgbClr val="70AD47"/>
          </a:solidFill>
        </a:fill>
      </a:tcStyle>
    </a:band1H>
    <a:band1V>
      <a:tcStyle>
        <a:tcBdr/>
        <a:fill>
          <a:solidFill>
            <a:srgbClr val="70AD47"/>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70AD47"/>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70AD47"/>
              </a:solidFill>
              <a:prstDash val="solid"/>
              <a:round/>
              <a:headEnd type="none" w="med" len="med"/>
              <a:tailEnd type="none" w="med" len="med"/>
            </a:ln>
          </a:bottom>
        </a:tcBdr>
      </a:tcStyle>
    </a:firstRow>
  </a:tblStyle>
  <a:tblStyle styleId="{5DA37D80-6434-44D0-A028-1B22A696006F}" styleName="">
    <a:wholeTbl>
      <a:tcTxStyle>
        <a:font>
          <a:latin typeface="+mn-lt"/>
          <a:ea typeface="+mn-ea"/>
          <a:cs typeface="+mn-cs"/>
        </a:font>
        <a:srgbClr val="000000"/>
      </a:tcTxStyle>
      <a:tcStyle>
        <a:tcBdr>
          <a:left>
            <a:ln w="12701" cap="flat" cmpd="sng" algn="ctr">
              <a:solidFill>
                <a:srgbClr val="ED7D31"/>
              </a:solidFill>
              <a:prstDash val="solid"/>
              <a:round/>
              <a:headEnd type="none" w="med" len="med"/>
              <a:tailEnd type="none" w="med" len="med"/>
            </a:ln>
          </a:left>
          <a:right>
            <a:ln w="12701" cap="flat" cmpd="sng" algn="ctr">
              <a:solidFill>
                <a:srgbClr val="ED7D31"/>
              </a:solidFill>
              <a:prstDash val="solid"/>
              <a:round/>
              <a:headEnd type="none" w="med" len="med"/>
              <a:tailEnd type="none" w="med" len="med"/>
            </a:ln>
          </a:right>
          <a:top>
            <a:ln w="12701" cap="flat" cmpd="sng" algn="ctr">
              <a:solidFill>
                <a:srgbClr val="ED7D31"/>
              </a:solidFill>
              <a:prstDash val="solid"/>
              <a:round/>
              <a:headEnd type="none" w="med" len="med"/>
              <a:tailEnd type="none" w="med" len="med"/>
            </a:ln>
          </a:top>
          <a:bottom>
            <a:ln w="12701" cap="flat" cmpd="sng" algn="ctr">
              <a:solidFill>
                <a:srgbClr val="ED7D31"/>
              </a:solidFill>
              <a:prstDash val="solid"/>
              <a:round/>
              <a:headEnd type="none" w="med" len="med"/>
              <a:tailEnd type="none" w="med" len="med"/>
            </a:ln>
          </a:bottom>
        </a:tcBdr>
      </a:tcStyle>
    </a:wholeTbl>
    <a:band1H>
      <a:tcStyle>
        <a:tcBdr/>
        <a:fill>
          <a:solidFill>
            <a:srgbClr val="ED7D31"/>
          </a:solidFill>
        </a:fill>
      </a:tcStyle>
    </a:band1H>
    <a:band1V>
      <a:tcStyle>
        <a:tcBdr/>
        <a:fill>
          <a:solidFill>
            <a:srgbClr val="ED7D31"/>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ED7D31"/>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ED7D31"/>
              </a:solidFill>
              <a:prstDash val="solid"/>
              <a:round/>
              <a:headEnd type="none" w="med" len="med"/>
              <a:tailEnd type="none" w="med" len="med"/>
            </a:ln>
          </a:bottom>
        </a:tcBdr>
      </a:tcStyle>
    </a:firstRow>
  </a:tblStyle>
  <a:tblStyle styleId="{EB344D84-9AFB-497E-A393-DC336BA19D2E}"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A5A5A5"/>
          </a:solidFill>
        </a:fill>
      </a:tcStyle>
    </a:lastCol>
    <a:firstCol>
      <a:tcTxStyle b="on">
        <a:font>
          <a:latin typeface="+mn-lt"/>
          <a:ea typeface="+mn-ea"/>
          <a:cs typeface="+mn-cs"/>
        </a:font>
        <a:srgbClr val="FFFFFF"/>
      </a:tcTxStyle>
      <a:tcStyle>
        <a:tcBdr/>
        <a:fill>
          <a:solidFill>
            <a:srgbClr val="A5A5A5"/>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A5A5A5"/>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92545" autoAdjust="0"/>
  </p:normalViewPr>
  <p:slideViewPr>
    <p:cSldViewPr snapToGrid="0">
      <p:cViewPr>
        <p:scale>
          <a:sx n="50" d="100"/>
          <a:sy n="50" d="100"/>
        </p:scale>
        <p:origin x="1704" y="1026"/>
      </p:cViewPr>
      <p:guideLst>
        <p:guide orient="horz" pos="2381"/>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頁首版面配置區 1"/>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3" name="日期版面配置區 2"/>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4" name="頁尾版面配置區 3"/>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5" name="投影片編號版面配置區 4"/>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50227E8C-9554-460F-B633-51D5AD774E1F}" type="slidenum">
              <a:t>‹#›</a:t>
            </a:fld>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Tree>
    <p:extLst>
      <p:ext uri="{BB962C8B-B14F-4D97-AF65-F5344CB8AC3E}">
        <p14:creationId xmlns:p14="http://schemas.microsoft.com/office/powerpoint/2010/main" val="15513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idx="2"/>
          </p:nvPr>
        </p:nvSpPr>
        <p:spPr>
          <a:xfrm>
            <a:off x="1107000" y="812517"/>
            <a:ext cx="5345280" cy="4008958"/>
          </a:xfrm>
          <a:prstGeom prst="rect">
            <a:avLst/>
          </a:prstGeom>
          <a:noFill/>
          <a:ln>
            <a:noFill/>
            <a:prstDash val="solid"/>
          </a:ln>
        </p:spPr>
      </p:sp>
      <p:sp>
        <p:nvSpPr>
          <p:cNvPr id="3" name="備忘稿版面配置區 2"/>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n-US"/>
          </a:p>
        </p:txBody>
      </p:sp>
      <p:sp>
        <p:nvSpPr>
          <p:cNvPr id="4" name="頁首版面配置區 3"/>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日期版面配置區 4"/>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頁尾版面配置區 5"/>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7" name="投影片編號版面配置區 6"/>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78A57073-AB8B-4F7A-BB5E-FAEF8A970D70}" type="slidenum">
              <a:t>‹#›</a:t>
            </a:fld>
            <a:endParaRPr lang="en-US"/>
          </a:p>
        </p:txBody>
      </p:sp>
    </p:spTree>
    <p:extLst>
      <p:ext uri="{BB962C8B-B14F-4D97-AF65-F5344CB8AC3E}">
        <p14:creationId xmlns:p14="http://schemas.microsoft.com/office/powerpoint/2010/main" val="1409133388"/>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44E8A48-0BB3-4429-A23E-981E055DBE4D}" type="slidenum">
              <a:t>1</a:t>
            </a:fld>
            <a:endParaRPr lang="en-US" sz="1400" b="0" i="0" u="none" strike="noStrike" kern="1200" cap="none" spc="0" baseline="0">
              <a:solidFill>
                <a:srgbClr val="000000"/>
              </a:solidFill>
              <a:uFillTx/>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1574662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txBox="1">
            <a:spLocks noGrp="1"/>
          </p:cNvSpPr>
          <p:nvPr>
            <p:ph type="ctrTitle"/>
          </p:nvPr>
        </p:nvSpPr>
        <p:spPr>
          <a:xfrm>
            <a:off x="1260472" y="1236661"/>
            <a:ext cx="7559673" cy="2632072"/>
          </a:xfrm>
        </p:spPr>
        <p:txBody>
          <a:bodyPr anchor="b"/>
          <a:lstStyle>
            <a:lvl1pPr>
              <a:defRPr lang="zh-TW" sz="6000"/>
            </a:lvl1pPr>
          </a:lstStyle>
          <a:p>
            <a:pPr lvl="0"/>
            <a:r>
              <a:rPr lang="zh-TW"/>
              <a:t>按一下以編輯母片標題樣式</a:t>
            </a:r>
            <a:endParaRPr lang="en-US"/>
          </a:p>
        </p:txBody>
      </p:sp>
      <p:sp>
        <p:nvSpPr>
          <p:cNvPr id="3" name="副標題 2"/>
          <p:cNvSpPr txBox="1">
            <a:spLocks noGrp="1"/>
          </p:cNvSpPr>
          <p:nvPr>
            <p:ph type="subTitle" idx="1"/>
          </p:nvPr>
        </p:nvSpPr>
        <p:spPr>
          <a:xfrm>
            <a:off x="1260472" y="3970333"/>
            <a:ext cx="7559673" cy="1825627"/>
          </a:xfrm>
        </p:spPr>
        <p:txBody>
          <a:bodyPr anchorCtr="1"/>
          <a:lstStyle>
            <a:lvl1pPr algn="ctr">
              <a:defRPr sz="2400"/>
            </a:lvl1pPr>
          </a:lstStyle>
          <a:p>
            <a:pPr lvl="0"/>
            <a:r>
              <a:rPr lang="zh-TW"/>
              <a:t>按一下以編輯母片副標題樣式</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AE6BFC27-068B-4B72-92F7-9C821F0A3E7B}" type="slidenum">
              <a:t>‹#›</a:t>
            </a:fld>
            <a:endParaRPr lang="en-US"/>
          </a:p>
        </p:txBody>
      </p:sp>
    </p:spTree>
    <p:extLst>
      <p:ext uri="{BB962C8B-B14F-4D97-AF65-F5344CB8AC3E}">
        <p14:creationId xmlns:p14="http://schemas.microsoft.com/office/powerpoint/2010/main" val="34534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68842836-F473-4F88-8FC5-E6506225DA8A}" type="slidenum">
              <a:t>‹#›</a:t>
            </a:fld>
            <a:endParaRPr lang="en-US"/>
          </a:p>
        </p:txBody>
      </p:sp>
    </p:spTree>
    <p:extLst>
      <p:ext uri="{BB962C8B-B14F-4D97-AF65-F5344CB8AC3E}">
        <p14:creationId xmlns:p14="http://schemas.microsoft.com/office/powerpoint/2010/main" val="228269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txBox="1">
            <a:spLocks noGrp="1"/>
          </p:cNvSpPr>
          <p:nvPr>
            <p:ph type="title"/>
          </p:nvPr>
        </p:nvSpPr>
        <p:spPr>
          <a:xfrm>
            <a:off x="687391" y="1884358"/>
            <a:ext cx="8694736" cy="3144841"/>
          </a:xfrm>
        </p:spPr>
        <p:txBody>
          <a:bodyPr anchor="b"/>
          <a:lstStyle>
            <a:lvl1pPr>
              <a:defRPr lang="zh-TW" sz="6000"/>
            </a:lvl1pPr>
          </a:lstStyle>
          <a:p>
            <a:pPr lvl="0"/>
            <a:r>
              <a:rPr lang="zh-TW"/>
              <a:t>按一下以編輯母片標題樣式</a:t>
            </a:r>
            <a:endParaRPr lang="en-US"/>
          </a:p>
        </p:txBody>
      </p:sp>
      <p:sp>
        <p:nvSpPr>
          <p:cNvPr id="3" name="文字版面配置區 2"/>
          <p:cNvSpPr txBox="1">
            <a:spLocks noGrp="1"/>
          </p:cNvSpPr>
          <p:nvPr>
            <p:ph type="body" idx="1"/>
          </p:nvPr>
        </p:nvSpPr>
        <p:spPr>
          <a:xfrm>
            <a:off x="687391" y="5059366"/>
            <a:ext cx="8694736" cy="1652585"/>
          </a:xfrm>
        </p:spPr>
        <p:txBody>
          <a:bodyPr/>
          <a:lstStyle>
            <a:lvl1pPr>
              <a:defRPr sz="2400">
                <a:solidFill>
                  <a:srgbClr val="898989"/>
                </a:solidFill>
              </a:defRPr>
            </a:lvl1pPr>
          </a:lstStyle>
          <a:p>
            <a:pPr lvl="0"/>
            <a:r>
              <a:rPr lang="zh-TW"/>
              <a:t>按一下以編輯母片文字樣式</a:t>
            </a:r>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F06D477E-DD58-4DE2-94A6-FBA23A92454D}" type="slidenum">
              <a:t>‹#›</a:t>
            </a:fld>
            <a:endParaRPr lang="en-US"/>
          </a:p>
        </p:txBody>
      </p:sp>
    </p:spTree>
    <p:extLst>
      <p:ext uri="{BB962C8B-B14F-4D97-AF65-F5344CB8AC3E}">
        <p14:creationId xmlns:p14="http://schemas.microsoft.com/office/powerpoint/2010/main" val="138122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a:xfrm>
            <a:off x="503240" y="1768477"/>
            <a:ext cx="4459291"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內容版面配置區 3"/>
          <p:cNvSpPr txBox="1">
            <a:spLocks noGrp="1"/>
          </p:cNvSpPr>
          <p:nvPr>
            <p:ph idx="2"/>
          </p:nvPr>
        </p:nvSpPr>
        <p:spPr>
          <a:xfrm>
            <a:off x="5114925" y="1768477"/>
            <a:ext cx="4460872"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A72D141D-6966-43C1-8EB1-BB4818DFA3BC}" type="slidenum">
              <a:t>‹#›</a:t>
            </a:fld>
            <a:endParaRPr lang="en-US"/>
          </a:p>
        </p:txBody>
      </p:sp>
    </p:spTree>
    <p:extLst>
      <p:ext uri="{BB962C8B-B14F-4D97-AF65-F5344CB8AC3E}">
        <p14:creationId xmlns:p14="http://schemas.microsoft.com/office/powerpoint/2010/main" val="115698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403222"/>
            <a:ext cx="8694736" cy="1460497"/>
          </a:xfrm>
        </p:spPr>
        <p:txBody>
          <a:bodyPr/>
          <a:lstStyle>
            <a:lvl1pPr>
              <a:defRPr lang="zh-TW"/>
            </a:lvl1pPr>
          </a:lstStyle>
          <a:p>
            <a:pPr lvl="0"/>
            <a:r>
              <a:rPr lang="zh-TW"/>
              <a:t>按一下以編輯母片標題樣式</a:t>
            </a:r>
            <a:endParaRPr lang="en-US"/>
          </a:p>
        </p:txBody>
      </p:sp>
      <p:sp>
        <p:nvSpPr>
          <p:cNvPr id="3" name="文字版面配置區 2"/>
          <p:cNvSpPr txBox="1">
            <a:spLocks noGrp="1"/>
          </p:cNvSpPr>
          <p:nvPr>
            <p:ph type="body" idx="1"/>
          </p:nvPr>
        </p:nvSpPr>
        <p:spPr>
          <a:xfrm>
            <a:off x="693736" y="1852610"/>
            <a:ext cx="4265611" cy="908054"/>
          </a:xfrm>
        </p:spPr>
        <p:txBody>
          <a:bodyPr anchor="b"/>
          <a:lstStyle>
            <a:lvl1pPr>
              <a:defRPr sz="2400" b="1"/>
            </a:lvl1pPr>
          </a:lstStyle>
          <a:p>
            <a:pPr lvl="0"/>
            <a:r>
              <a:rPr lang="zh-TW"/>
              <a:t>按一下以編輯母片文字樣式</a:t>
            </a:r>
          </a:p>
        </p:txBody>
      </p:sp>
      <p:sp>
        <p:nvSpPr>
          <p:cNvPr id="4" name="內容版面配置區 3"/>
          <p:cNvSpPr txBox="1">
            <a:spLocks noGrp="1"/>
          </p:cNvSpPr>
          <p:nvPr>
            <p:ph idx="2"/>
          </p:nvPr>
        </p:nvSpPr>
        <p:spPr>
          <a:xfrm>
            <a:off x="693736" y="2760665"/>
            <a:ext cx="4265611"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文字版面配置區 4"/>
          <p:cNvSpPr txBox="1">
            <a:spLocks noGrp="1"/>
          </p:cNvSpPr>
          <p:nvPr>
            <p:ph type="body" idx="3"/>
          </p:nvPr>
        </p:nvSpPr>
        <p:spPr>
          <a:xfrm>
            <a:off x="5103815" y="1852610"/>
            <a:ext cx="4284658" cy="908054"/>
          </a:xfrm>
        </p:spPr>
        <p:txBody>
          <a:bodyPr anchor="b"/>
          <a:lstStyle>
            <a:lvl1pPr>
              <a:defRPr sz="2400" b="1"/>
            </a:lvl1pPr>
          </a:lstStyle>
          <a:p>
            <a:pPr lvl="0"/>
            <a:r>
              <a:rPr lang="zh-TW"/>
              <a:t>按一下以編輯母片文字樣式</a:t>
            </a:r>
          </a:p>
        </p:txBody>
      </p:sp>
      <p:sp>
        <p:nvSpPr>
          <p:cNvPr id="6" name="內容版面配置區 5"/>
          <p:cNvSpPr txBox="1">
            <a:spLocks noGrp="1"/>
          </p:cNvSpPr>
          <p:nvPr>
            <p:ph idx="4"/>
          </p:nvPr>
        </p:nvSpPr>
        <p:spPr>
          <a:xfrm>
            <a:off x="5103815" y="2760665"/>
            <a:ext cx="4284658"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7" name="日期版面配置區 6"/>
          <p:cNvSpPr txBox="1">
            <a:spLocks noGrp="1"/>
          </p:cNvSpPr>
          <p:nvPr>
            <p:ph type="dt" sz="half" idx="7"/>
          </p:nvPr>
        </p:nvSpPr>
        <p:spPr/>
        <p:txBody>
          <a:bodyPr/>
          <a:lstStyle>
            <a:lvl1pPr>
              <a:defRPr/>
            </a:lvl1pPr>
          </a:lstStyle>
          <a:p>
            <a:pPr lvl="0"/>
            <a:endParaRPr lang="en-US"/>
          </a:p>
        </p:txBody>
      </p:sp>
      <p:sp>
        <p:nvSpPr>
          <p:cNvPr id="8" name="頁尾版面配置區 7"/>
          <p:cNvSpPr txBox="1">
            <a:spLocks noGrp="1"/>
          </p:cNvSpPr>
          <p:nvPr>
            <p:ph type="ftr" sz="quarter" idx="9"/>
          </p:nvPr>
        </p:nvSpPr>
        <p:spPr/>
        <p:txBody>
          <a:bodyPr/>
          <a:lstStyle>
            <a:lvl1pPr>
              <a:defRPr/>
            </a:lvl1pPr>
          </a:lstStyle>
          <a:p>
            <a:pPr lvl="0"/>
            <a:endParaRPr lang="en-US"/>
          </a:p>
        </p:txBody>
      </p:sp>
      <p:sp>
        <p:nvSpPr>
          <p:cNvPr id="9" name="投影片編號版面配置區 8"/>
          <p:cNvSpPr txBox="1">
            <a:spLocks noGrp="1"/>
          </p:cNvSpPr>
          <p:nvPr>
            <p:ph type="sldNum" sz="quarter" idx="8"/>
          </p:nvPr>
        </p:nvSpPr>
        <p:spPr/>
        <p:txBody>
          <a:bodyPr/>
          <a:lstStyle>
            <a:lvl1pPr>
              <a:defRPr/>
            </a:lvl1pPr>
          </a:lstStyle>
          <a:p>
            <a:pPr lvl="0"/>
            <a:fld id="{4D382990-A4FF-4906-9C3D-CE47CFC3DCA5}" type="slidenum">
              <a:t>‹#›</a:t>
            </a:fld>
            <a:endParaRPr lang="en-US"/>
          </a:p>
        </p:txBody>
      </p:sp>
    </p:spTree>
    <p:extLst>
      <p:ext uri="{BB962C8B-B14F-4D97-AF65-F5344CB8AC3E}">
        <p14:creationId xmlns:p14="http://schemas.microsoft.com/office/powerpoint/2010/main" val="340341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日期版面配置區 2"/>
          <p:cNvSpPr txBox="1">
            <a:spLocks noGrp="1"/>
          </p:cNvSpPr>
          <p:nvPr>
            <p:ph type="dt" sz="half" idx="7"/>
          </p:nvPr>
        </p:nvSpPr>
        <p:spPr/>
        <p:txBody>
          <a:bodyPr/>
          <a:lstStyle>
            <a:lvl1pPr>
              <a:defRPr/>
            </a:lvl1pPr>
          </a:lstStyle>
          <a:p>
            <a:pPr lvl="0"/>
            <a:endParaRPr lang="en-US"/>
          </a:p>
        </p:txBody>
      </p:sp>
      <p:sp>
        <p:nvSpPr>
          <p:cNvPr id="4" name="頁尾版面配置區 3"/>
          <p:cNvSpPr txBox="1">
            <a:spLocks noGrp="1"/>
          </p:cNvSpPr>
          <p:nvPr>
            <p:ph type="ftr" sz="quarter" idx="9"/>
          </p:nvPr>
        </p:nvSpPr>
        <p:spPr/>
        <p:txBody>
          <a:bodyPr/>
          <a:lstStyle>
            <a:lvl1pPr>
              <a:defRPr/>
            </a:lvl1pPr>
          </a:lstStyle>
          <a:p>
            <a:pPr lvl="0"/>
            <a:endParaRPr lang="en-US"/>
          </a:p>
        </p:txBody>
      </p:sp>
      <p:sp>
        <p:nvSpPr>
          <p:cNvPr id="5" name="投影片編號版面配置區 4"/>
          <p:cNvSpPr txBox="1">
            <a:spLocks noGrp="1"/>
          </p:cNvSpPr>
          <p:nvPr>
            <p:ph type="sldNum" sz="quarter" idx="8"/>
          </p:nvPr>
        </p:nvSpPr>
        <p:spPr/>
        <p:txBody>
          <a:bodyPr/>
          <a:lstStyle>
            <a:lvl1pPr>
              <a:defRPr/>
            </a:lvl1pPr>
          </a:lstStyle>
          <a:p>
            <a:pPr lvl="0"/>
            <a:fld id="{C73CCA10-4506-4689-B9C6-7A25C650BAFF}" type="slidenum">
              <a:t>‹#›</a:t>
            </a:fld>
            <a:endParaRPr lang="en-US"/>
          </a:p>
        </p:txBody>
      </p:sp>
    </p:spTree>
    <p:extLst>
      <p:ext uri="{BB962C8B-B14F-4D97-AF65-F5344CB8AC3E}">
        <p14:creationId xmlns:p14="http://schemas.microsoft.com/office/powerpoint/2010/main" val="205626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txBox="1">
            <a:spLocks noGrp="1"/>
          </p:cNvSpPr>
          <p:nvPr>
            <p:ph type="dt" sz="half" idx="7"/>
          </p:nvPr>
        </p:nvSpPr>
        <p:spPr/>
        <p:txBody>
          <a:bodyPr/>
          <a:lstStyle>
            <a:lvl1pPr>
              <a:defRPr/>
            </a:lvl1pPr>
          </a:lstStyle>
          <a:p>
            <a:pPr lvl="0"/>
            <a:endParaRPr lang="en-US"/>
          </a:p>
        </p:txBody>
      </p:sp>
      <p:sp>
        <p:nvSpPr>
          <p:cNvPr id="3" name="頁尾版面配置區 2"/>
          <p:cNvSpPr txBox="1">
            <a:spLocks noGrp="1"/>
          </p:cNvSpPr>
          <p:nvPr>
            <p:ph type="ftr" sz="quarter" idx="9"/>
          </p:nvPr>
        </p:nvSpPr>
        <p:spPr/>
        <p:txBody>
          <a:bodyPr/>
          <a:lstStyle>
            <a:lvl1pPr>
              <a:defRPr/>
            </a:lvl1pPr>
          </a:lstStyle>
          <a:p>
            <a:pPr lvl="0"/>
            <a:endParaRPr lang="en-US"/>
          </a:p>
        </p:txBody>
      </p:sp>
      <p:sp>
        <p:nvSpPr>
          <p:cNvPr id="4" name="投影片編號版面配置區 3"/>
          <p:cNvSpPr txBox="1">
            <a:spLocks noGrp="1"/>
          </p:cNvSpPr>
          <p:nvPr>
            <p:ph type="sldNum" sz="quarter" idx="8"/>
          </p:nvPr>
        </p:nvSpPr>
        <p:spPr/>
        <p:txBody>
          <a:bodyPr/>
          <a:lstStyle>
            <a:lvl1pPr>
              <a:defRPr/>
            </a:lvl1pPr>
          </a:lstStyle>
          <a:p>
            <a:pPr lvl="0"/>
            <a:fld id="{DA413963-2284-408C-A1F3-BA9C90A14B4D}" type="slidenum">
              <a:t>‹#›</a:t>
            </a:fld>
            <a:endParaRPr lang="en-US"/>
          </a:p>
        </p:txBody>
      </p:sp>
    </p:spTree>
    <p:extLst>
      <p:ext uri="{BB962C8B-B14F-4D97-AF65-F5344CB8AC3E}">
        <p14:creationId xmlns:p14="http://schemas.microsoft.com/office/powerpoint/2010/main" val="356610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內容版面配置區 2"/>
          <p:cNvSpPr txBox="1">
            <a:spLocks noGrp="1"/>
          </p:cNvSpPr>
          <p:nvPr>
            <p:ph idx="1"/>
          </p:nvPr>
        </p:nvSpPr>
        <p:spPr>
          <a:xfrm>
            <a:off x="4286249" y="1089022"/>
            <a:ext cx="5102223" cy="5372100"/>
          </a:xfrm>
        </p:spPr>
        <p:txBody>
          <a:bodyPr/>
          <a:lstStyle>
            <a:lvl1pPr>
              <a:defRPr/>
            </a:lvl1pPr>
            <a:lvl2pPr>
              <a:defRPr sz="2800"/>
            </a:lvl2pPr>
            <a:lvl3pPr>
              <a:defRPr sz="2400"/>
            </a:lvl3pPr>
            <a:lvl4pPr>
              <a:defRPr sz="2000"/>
            </a:lvl4pPr>
            <a:lvl5pPr>
              <a:defRPr sz="2000"/>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8059FB30-6DA3-498A-B3E4-39789FBB385A}" type="slidenum">
              <a:t>‹#›</a:t>
            </a:fld>
            <a:endParaRPr lang="en-US"/>
          </a:p>
        </p:txBody>
      </p:sp>
    </p:spTree>
    <p:extLst>
      <p:ext uri="{BB962C8B-B14F-4D97-AF65-F5344CB8AC3E}">
        <p14:creationId xmlns:p14="http://schemas.microsoft.com/office/powerpoint/2010/main" val="2952677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圖片版面配置區 2"/>
          <p:cNvSpPr txBox="1">
            <a:spLocks noGrp="1"/>
          </p:cNvSpPr>
          <p:nvPr>
            <p:ph type="pic" idx="1"/>
          </p:nvPr>
        </p:nvSpPr>
        <p:spPr>
          <a:xfrm>
            <a:off x="4286249" y="1089022"/>
            <a:ext cx="5102223" cy="5372100"/>
          </a:xfrm>
        </p:spPr>
        <p:txBody>
          <a:bodyPr/>
          <a:lstStyle>
            <a:lvl1pPr>
              <a:defRPr lang="en-US"/>
            </a:lvl1pPr>
          </a:lstStyle>
          <a:p>
            <a:pPr lvl="0"/>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62DDE591-0FAF-4F51-A0C1-3BEDC4250AEC}" type="slidenum">
              <a:t>‹#›</a:t>
            </a:fld>
            <a:endParaRPr lang="en-US"/>
          </a:p>
        </p:txBody>
      </p:sp>
    </p:spTree>
    <p:extLst>
      <p:ext uri="{BB962C8B-B14F-4D97-AF65-F5344CB8AC3E}">
        <p14:creationId xmlns:p14="http://schemas.microsoft.com/office/powerpoint/2010/main" val="124761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30523178-8C3C-4D5B-987E-9C6DE9B05220}" type="slidenum">
              <a:t>‹#›</a:t>
            </a:fld>
            <a:endParaRPr lang="en-US"/>
          </a:p>
        </p:txBody>
      </p:sp>
    </p:spTree>
    <p:extLst>
      <p:ext uri="{BB962C8B-B14F-4D97-AF65-F5344CB8AC3E}">
        <p14:creationId xmlns:p14="http://schemas.microsoft.com/office/powerpoint/2010/main" val="3461704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txBox="1">
            <a:spLocks noGrp="1"/>
          </p:cNvSpPr>
          <p:nvPr>
            <p:ph type="title" orient="vert"/>
          </p:nvPr>
        </p:nvSpPr>
        <p:spPr>
          <a:xfrm>
            <a:off x="7308854" y="301623"/>
            <a:ext cx="2266953" cy="5851529"/>
          </a:xfrm>
        </p:spPr>
        <p:txBody>
          <a:bodyPr vert="eaVert"/>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a:xfrm>
            <a:off x="503240" y="301623"/>
            <a:ext cx="6653210" cy="5851529"/>
          </a:xfrm>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0683D96B-BEA4-46BB-A345-50D7E40AC1BE}" type="slidenum">
              <a:t>‹#›</a:t>
            </a:fld>
            <a:endParaRPr lang="en-US"/>
          </a:p>
        </p:txBody>
      </p:sp>
    </p:spTree>
    <p:extLst>
      <p:ext uri="{BB962C8B-B14F-4D97-AF65-F5344CB8AC3E}">
        <p14:creationId xmlns:p14="http://schemas.microsoft.com/office/powerpoint/2010/main" val="307590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txBox="1">
            <a:spLocks noGrp="1"/>
          </p:cNvSpPr>
          <p:nvPr>
            <p:ph type="title"/>
          </p:nvPr>
        </p:nvSpPr>
        <p:spPr>
          <a:xfrm>
            <a:off x="503998" y="301322"/>
            <a:ext cx="9071643" cy="1262155"/>
          </a:xfrm>
          <a:prstGeom prst="rect">
            <a:avLst/>
          </a:prstGeom>
          <a:noFill/>
          <a:ln>
            <a:noFill/>
          </a:ln>
        </p:spPr>
        <p:txBody>
          <a:bodyPr vert="horz" wrap="square" lIns="0" tIns="0" rIns="0" bIns="0" anchor="ctr" anchorCtr="1" compatLnSpc="1">
            <a:noAutofit/>
          </a:bodyPr>
          <a:lstStyle/>
          <a:p>
            <a:pPr lvl="0"/>
            <a:endParaRPr lang="en-US"/>
          </a:p>
        </p:txBody>
      </p:sp>
      <p:sp>
        <p:nvSpPr>
          <p:cNvPr id="3" name="文字版面配置區 2"/>
          <p:cNvSpPr txBox="1">
            <a:spLocks noGrp="1"/>
          </p:cNvSpPr>
          <p:nvPr>
            <p:ph type="body" idx="1"/>
          </p:nvPr>
        </p:nvSpPr>
        <p:spPr>
          <a:xfrm>
            <a:off x="503998" y="1769043"/>
            <a:ext cx="9071643" cy="4384438"/>
          </a:xfrm>
          <a:prstGeom prst="rect">
            <a:avLst/>
          </a:prstGeom>
          <a:noFill/>
          <a:ln>
            <a:noFill/>
          </a:ln>
        </p:spPr>
        <p:txBody>
          <a:bodyPr vert="horz" wrap="square" lIns="0" tIns="0" rIns="0" bIns="0" anchor="t" anchorCtr="0" compatLnSpc="1">
            <a:no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2"/>
          </p:nvPr>
        </p:nvSpPr>
        <p:spPr>
          <a:xfrm>
            <a:off x="503998" y="6887160"/>
            <a:ext cx="2348279" cy="521281"/>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頁尾版面配置區 4"/>
          <p:cNvSpPr txBox="1">
            <a:spLocks noGrp="1"/>
          </p:cNvSpPr>
          <p:nvPr>
            <p:ph type="ftr" sz="quarter" idx="3"/>
          </p:nvPr>
        </p:nvSpPr>
        <p:spPr>
          <a:xfrm>
            <a:off x="3447361" y="6887160"/>
            <a:ext cx="3194995" cy="521281"/>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投影片編號版面配置區 5"/>
          <p:cNvSpPr txBox="1">
            <a:spLocks noGrp="1"/>
          </p:cNvSpPr>
          <p:nvPr>
            <p:ph type="sldNum" sz="quarter" idx="4"/>
          </p:nvPr>
        </p:nvSpPr>
        <p:spPr>
          <a:xfrm>
            <a:off x="7227362" y="6887160"/>
            <a:ext cx="2348279" cy="521281"/>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FA3188D1-A64F-4C0D-9118-94DC8B17CC66}"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ctr" defTabSz="914400" rtl="0" fontAlgn="auto" hangingPunct="0">
        <a:lnSpc>
          <a:spcPct val="100000"/>
        </a:lnSpc>
        <a:spcBef>
          <a:spcPts val="0"/>
        </a:spcBef>
        <a:spcAft>
          <a:spcPts val="0"/>
        </a:spcAft>
        <a:buNone/>
        <a:tabLst/>
        <a:defRPr lang="en-US" sz="44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p:titleStyle>
    <p:bodyStyle>
      <a:lvl1pPr marL="0" marR="0" lvl="0" indent="0" defTabSz="914400" rtl="0" fontAlgn="auto" hangingPunct="0">
        <a:lnSpc>
          <a:spcPct val="100000"/>
        </a:lnSpc>
        <a:spcBef>
          <a:spcPts val="1415"/>
        </a:spcBef>
        <a:spcAft>
          <a:spcPts val="0"/>
        </a:spcAft>
        <a:buNone/>
        <a:tabLst/>
        <a:defRPr lang="zh-TW" sz="32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zh-TW" sz="2400" b="0" i="0" u="none" strike="noStrike" kern="1200" cap="none" spc="0" baseline="0">
          <a:solidFill>
            <a:srgbClr val="000000"/>
          </a:solidFill>
          <a:uFillTx/>
          <a:latin typeface="Calibri"/>
          <a:ea typeface="新細明體" pitchFamily="18"/>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zh-TW" sz="2000" b="0" i="0" u="none" strike="noStrike" kern="1200" cap="none" spc="0" baseline="0">
          <a:solidFill>
            <a:srgbClr val="000000"/>
          </a:solidFill>
          <a:uFillTx/>
          <a:latin typeface="Calibri"/>
          <a:ea typeface="新細明體" pitchFamily="18"/>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576355" y="3197342"/>
            <a:ext cx="9071643" cy="1246495"/>
          </a:xfrm>
        </p:spPr>
        <p:txBody>
          <a:bodyPr>
            <a:spAutoFit/>
          </a:bodyPr>
          <a:lstStyle/>
          <a:p>
            <a:pPr lvl="0"/>
            <a:r>
              <a:rPr lang="en-US" altLang="zh-TW" sz="2700" b="1" dirty="0">
                <a:solidFill>
                  <a:srgbClr val="898989"/>
                </a:solidFill>
                <a:latin typeface="Sitka Subheading" panose="02000505000000020004" pitchFamily="2" charset="0"/>
                <a:ea typeface="新細明體" pitchFamily="2"/>
              </a:rPr>
              <a:t>International Conference of the Biometrics Special Interest Group (BIOSIG), Darmstadt, Germany, 2015</a:t>
            </a:r>
            <a:br>
              <a:rPr lang="en-US" altLang="zh-TW" sz="2700" b="1" dirty="0">
                <a:solidFill>
                  <a:srgbClr val="898989"/>
                </a:solidFill>
                <a:latin typeface="Sitka Subheading" panose="02000505000000020004" pitchFamily="2" charset="0"/>
                <a:ea typeface="新細明體" pitchFamily="2"/>
              </a:rPr>
            </a:br>
            <a:r>
              <a:rPr lang="en-US" altLang="zh-TW" sz="2700" b="1" dirty="0">
                <a:solidFill>
                  <a:srgbClr val="898989"/>
                </a:solidFill>
                <a:latin typeface="Sitka Subheading" panose="02000505000000020004" pitchFamily="2" charset="0"/>
                <a:ea typeface="新細明體" pitchFamily="2"/>
              </a:rPr>
              <a:t>N. </a:t>
            </a:r>
            <a:r>
              <a:rPr lang="en-US" altLang="zh-TW" sz="2700" b="1" dirty="0" err="1">
                <a:solidFill>
                  <a:srgbClr val="898989"/>
                </a:solidFill>
                <a:latin typeface="Sitka Subheading" panose="02000505000000020004" pitchFamily="2" charset="0"/>
                <a:ea typeface="新細明體" pitchFamily="2"/>
              </a:rPr>
              <a:t>Pattabhi</a:t>
            </a:r>
            <a:r>
              <a:rPr lang="en-US" altLang="zh-TW" sz="2700" b="1" dirty="0">
                <a:solidFill>
                  <a:srgbClr val="898989"/>
                </a:solidFill>
                <a:latin typeface="Sitka Subheading" panose="02000505000000020004" pitchFamily="2" charset="0"/>
                <a:ea typeface="新細明體" pitchFamily="2"/>
              </a:rPr>
              <a:t> </a:t>
            </a:r>
            <a:r>
              <a:rPr lang="en-US" altLang="zh-TW" sz="2700" b="1" dirty="0" err="1">
                <a:solidFill>
                  <a:srgbClr val="898989"/>
                </a:solidFill>
                <a:latin typeface="Sitka Subheading" panose="02000505000000020004" pitchFamily="2" charset="0"/>
                <a:ea typeface="新細明體" pitchFamily="2"/>
              </a:rPr>
              <a:t>Ramaiah</a:t>
            </a:r>
            <a:r>
              <a:rPr lang="en-US" altLang="zh-TW" sz="2700" b="1" dirty="0">
                <a:solidFill>
                  <a:srgbClr val="898989"/>
                </a:solidFill>
                <a:latin typeface="Sitka Subheading" panose="02000505000000020004" pitchFamily="2" charset="0"/>
                <a:ea typeface="新細明體" pitchFamily="2"/>
              </a:rPr>
              <a:t>, C. Krishna Mohan, and N. Srilatha</a:t>
            </a:r>
            <a:endParaRPr lang="en-US" sz="2700" b="1" dirty="0">
              <a:solidFill>
                <a:srgbClr val="898989"/>
              </a:solidFill>
              <a:latin typeface="Sitka Subheading" panose="02000505000000020004" pitchFamily="2" charset="0"/>
              <a:ea typeface="新細明體" pitchFamily="2"/>
            </a:endParaRPr>
          </a:p>
        </p:txBody>
      </p:sp>
      <p:sp>
        <p:nvSpPr>
          <p:cNvPr id="3" name="文字版面配置區 2"/>
          <p:cNvSpPr txBox="1">
            <a:spLocks noGrp="1"/>
          </p:cNvSpPr>
          <p:nvPr>
            <p:ph type="body" idx="4294967295"/>
          </p:nvPr>
        </p:nvSpPr>
        <p:spPr>
          <a:xfrm>
            <a:off x="576355" y="935998"/>
            <a:ext cx="9071643" cy="1491891"/>
          </a:xfrm>
        </p:spPr>
        <p:txBody>
          <a:bodyPr anchorCtr="1"/>
          <a:lstStyle/>
          <a:p>
            <a:r>
              <a:rPr lang="en-US" sz="4000" b="1" dirty="0">
                <a:latin typeface="Cambria Math" panose="02040503050406030204" pitchFamily="18" charset="0"/>
                <a:ea typeface="Cambria Math" panose="02040503050406030204" pitchFamily="18" charset="0"/>
                <a:cs typeface="Ebrima" panose="02000000000000000000" pitchFamily="2" charset="0"/>
              </a:rPr>
              <a:t>Sparsity-based Iris Classification using Iris Fiber Structures</a:t>
            </a:r>
          </a:p>
        </p:txBody>
      </p:sp>
      <p:sp>
        <p:nvSpPr>
          <p:cNvPr id="4" name="文字版面配置區 3"/>
          <p:cNvSpPr txBox="1">
            <a:spLocks noGrp="1"/>
          </p:cNvSpPr>
          <p:nvPr>
            <p:ph type="body" idx="4294967295"/>
          </p:nvPr>
        </p:nvSpPr>
        <p:spPr>
          <a:xfrm>
            <a:off x="704380" y="5920800"/>
            <a:ext cx="9071643" cy="1159806"/>
          </a:xfrm>
        </p:spPr>
        <p:txBody>
          <a:bodyPr/>
          <a:lstStyle/>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Wei-</a:t>
            </a:r>
            <a:r>
              <a:rPr lang="en-US" altLang="zh-TW" dirty="0" err="1">
                <a:highlight>
                  <a:scrgbClr r="0" g="0" b="0">
                    <a:alpha val="0"/>
                  </a:scrgbClr>
                </a:highlight>
                <a:latin typeface="Liberation Sans Narrow" pitchFamily="34"/>
                <a:ea typeface="微軟正黑體" pitchFamily="34"/>
                <a:cs typeface="Mangal" pitchFamily="2"/>
              </a:rPr>
              <a:t>Hao</a:t>
            </a:r>
            <a:r>
              <a:rPr lang="en-US" altLang="zh-TW" dirty="0">
                <a:highlight>
                  <a:scrgbClr r="0" g="0" b="0">
                    <a:alpha val="0"/>
                  </a:scrgbClr>
                </a:highlight>
                <a:latin typeface="Liberation Sans Narrow" pitchFamily="34"/>
                <a:ea typeface="微軟正黑體" pitchFamily="34"/>
                <a:cs typeface="Mangal" pitchFamily="2"/>
              </a:rPr>
              <a:t> Fu</a:t>
            </a:r>
            <a:endParaRPr lang="en-US" dirty="0">
              <a:highlight>
                <a:scrgbClr r="0" g="0" b="0">
                  <a:alpha val="0"/>
                </a:scrgbClr>
              </a:highlight>
              <a:latin typeface="Liberation Sans Narrow" pitchFamily="34"/>
              <a:ea typeface="微軟正黑體" pitchFamily="34"/>
              <a:cs typeface="Mangal" pitchFamily="2"/>
            </a:endParaRPr>
          </a:p>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2017</a:t>
            </a:r>
            <a:r>
              <a:rPr lang="en-US" dirty="0">
                <a:highlight>
                  <a:scrgbClr r="0" g="0" b="0">
                    <a:alpha val="0"/>
                  </a:scrgbClr>
                </a:highlight>
                <a:latin typeface="Liberation Sans Narrow" pitchFamily="34"/>
                <a:ea typeface="微軟正黑體" pitchFamily="34"/>
                <a:cs typeface="Mangal" pitchFamily="2"/>
              </a:rPr>
              <a:t>/07/25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 (1/2)</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a:spcBef>
                <a:spcPts val="0"/>
              </a:spcBef>
            </a:pPr>
            <a:r>
              <a:rPr lang="en-US" altLang="zh-TW" sz="3100" dirty="0">
                <a:latin typeface="Cambria Math" panose="02040503050406030204" pitchFamily="18" charset="0"/>
                <a:ea typeface="Cambria Math" panose="02040503050406030204" pitchFamily="18" charset="0"/>
              </a:rPr>
              <a:t>As there is a growing demand for biometrics usage</a:t>
            </a:r>
          </a:p>
          <a:p>
            <a:pPr>
              <a:spcBef>
                <a:spcPts val="0"/>
              </a:spcBef>
            </a:pPr>
            <a:r>
              <a:rPr lang="en-US" altLang="zh-TW" sz="3100" dirty="0">
                <a:latin typeface="Cambria Math" panose="02040503050406030204" pitchFamily="18" charset="0"/>
                <a:ea typeface="Cambria Math" panose="02040503050406030204" pitchFamily="18" charset="0"/>
              </a:rPr>
              <a:t>in e-Society, the biometric recognition system faces the scalability issue as the number of people to be enrolled into the system runs into billions. In this paper, we propose an approach for iris classification using three different iris classes based on iris fiber structures, namely, stream, flower, jewel and shaker for faster retrieval of identities in large scale biometric system. </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a:t>
            </a:fld>
            <a:endParaRPr lang="zh-TW" altLang="en-US" dirty="0"/>
          </a:p>
        </p:txBody>
      </p:sp>
    </p:spTree>
    <p:extLst>
      <p:ext uri="{BB962C8B-B14F-4D97-AF65-F5344CB8AC3E}">
        <p14:creationId xmlns:p14="http://schemas.microsoft.com/office/powerpoint/2010/main" val="1141205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 (2/2)</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A sparsity based on-line dictionary learning (ODL) algorithm is used in the proposed classification approach where dictionaries are developed for each class using log-Gabor wavelet features. Also, a method for iris adjudication process is illustrated using the iris classification to reduce the search space. The efficacy of the proposed classification approach is demonstrated on the standard UPOL iris database.</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3</a:t>
            </a:fld>
            <a:endParaRPr lang="zh-TW" altLang="en-US" dirty="0"/>
          </a:p>
        </p:txBody>
      </p:sp>
    </p:spTree>
    <p:extLst>
      <p:ext uri="{BB962C8B-B14F-4D97-AF65-F5344CB8AC3E}">
        <p14:creationId xmlns:p14="http://schemas.microsoft.com/office/powerpoint/2010/main" val="1030784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Introduction</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endParaRPr lang="en-US" altLang="zh-TW" sz="31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4</a:t>
            </a:fld>
            <a:endParaRPr lang="zh-TW" altLang="en-US" dirty="0"/>
          </a:p>
        </p:txBody>
      </p:sp>
      <p:pic>
        <p:nvPicPr>
          <p:cNvPr id="5" name="圖片 4"/>
          <p:cNvPicPr>
            <a:picLocks noChangeAspect="1"/>
          </p:cNvPicPr>
          <p:nvPr/>
        </p:nvPicPr>
        <p:blipFill>
          <a:blip r:embed="rId2"/>
          <a:stretch>
            <a:fillRect/>
          </a:stretch>
        </p:blipFill>
        <p:spPr>
          <a:xfrm>
            <a:off x="152401" y="2350450"/>
            <a:ext cx="9772650" cy="3768708"/>
          </a:xfrm>
          <a:prstGeom prst="rect">
            <a:avLst/>
          </a:prstGeom>
        </p:spPr>
      </p:pic>
    </p:spTree>
    <p:extLst>
      <p:ext uri="{BB962C8B-B14F-4D97-AF65-F5344CB8AC3E}">
        <p14:creationId xmlns:p14="http://schemas.microsoft.com/office/powerpoint/2010/main" val="367645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Introduction</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endParaRPr lang="en-US" altLang="zh-TW" sz="31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5</a:t>
            </a:fld>
            <a:endParaRPr lang="zh-TW" altLang="en-US" dirty="0"/>
          </a:p>
        </p:txBody>
      </p:sp>
      <p:pic>
        <p:nvPicPr>
          <p:cNvPr id="5" name="圖片 4"/>
          <p:cNvPicPr>
            <a:picLocks noChangeAspect="1"/>
          </p:cNvPicPr>
          <p:nvPr/>
        </p:nvPicPr>
        <p:blipFill>
          <a:blip r:embed="rId2"/>
          <a:stretch>
            <a:fillRect/>
          </a:stretch>
        </p:blipFill>
        <p:spPr>
          <a:xfrm>
            <a:off x="152401" y="2350450"/>
            <a:ext cx="9772650" cy="3768708"/>
          </a:xfrm>
          <a:prstGeom prst="rect">
            <a:avLst/>
          </a:prstGeom>
        </p:spPr>
      </p:pic>
      <p:sp>
        <p:nvSpPr>
          <p:cNvPr id="6" name="橢圓 5"/>
          <p:cNvSpPr/>
          <p:nvPr/>
        </p:nvSpPr>
        <p:spPr>
          <a:xfrm>
            <a:off x="2838450" y="3619500"/>
            <a:ext cx="1390650" cy="1333500"/>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48386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1.	Iris Segmentation and normalization</a:t>
            </a:r>
          </a:p>
          <a:p>
            <a:r>
              <a:rPr lang="en-US" altLang="zh-TW" sz="3100" dirty="0">
                <a:latin typeface="Cambria Math" panose="02040503050406030204" pitchFamily="18" charset="0"/>
                <a:ea typeface="Cambria Math" panose="02040503050406030204" pitchFamily="18" charset="0"/>
              </a:rPr>
              <a:t>Step 2.	Feature extraction</a:t>
            </a:r>
          </a:p>
          <a:p>
            <a:r>
              <a:rPr lang="en-US" altLang="zh-TW" sz="3100" dirty="0">
                <a:latin typeface="Cambria Math" panose="02040503050406030204" pitchFamily="18" charset="0"/>
                <a:ea typeface="Cambria Math" panose="02040503050406030204" pitchFamily="18" charset="0"/>
              </a:rPr>
              <a:t>Step 3.	Iris classification using ODL</a:t>
            </a:r>
          </a:p>
          <a:p>
            <a:r>
              <a:rPr lang="en-US" altLang="zh-TW" sz="3100" dirty="0">
                <a:latin typeface="Cambria Math" panose="02040503050406030204" pitchFamily="18" charset="0"/>
                <a:ea typeface="Cambria Math" panose="02040503050406030204" pitchFamily="18" charset="0"/>
              </a:rPr>
              <a:t>Step 4.	Iris Adjudication</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6</a:t>
            </a:fld>
            <a:endParaRPr lang="zh-TW" altLang="en-US" dirty="0"/>
          </a:p>
        </p:txBody>
      </p:sp>
    </p:spTree>
    <p:extLst>
      <p:ext uri="{BB962C8B-B14F-4D97-AF65-F5344CB8AC3E}">
        <p14:creationId xmlns:p14="http://schemas.microsoft.com/office/powerpoint/2010/main" val="154545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1.	Iris Segmentation and normalization</a:t>
                </a:r>
              </a:p>
              <a:p>
                <a14:m>
                  <m:oMathPara xmlns:m="http://schemas.openxmlformats.org/officeDocument/2006/math">
                    <m:oMathParaPr>
                      <m:jc m:val="centerGroup"/>
                    </m:oMathParaPr>
                    <m:oMath xmlns:m="http://schemas.openxmlformats.org/officeDocument/2006/math">
                      <m:func>
                        <m:funcPr>
                          <m:ctrlPr>
                            <a:rPr lang="en-US" altLang="zh-TW" sz="3100" b="0" i="1" smtClean="0">
                              <a:latin typeface="Cambria Math" panose="02040503050406030204" pitchFamily="18" charset="0"/>
                              <a:ea typeface="Cambria Math" panose="02040503050406030204" pitchFamily="18" charset="0"/>
                            </a:rPr>
                          </m:ctrlPr>
                        </m:funcPr>
                        <m:fName>
                          <m:r>
                            <m:rPr>
                              <m:sty m:val="p"/>
                            </m:rPr>
                            <a:rPr lang="en-US" altLang="zh-TW" sz="3100" b="0" i="0" smtClean="0">
                              <a:latin typeface="Cambria Math" panose="02040503050406030204" pitchFamily="18" charset="0"/>
                              <a:ea typeface="Cambria Math" panose="02040503050406030204" pitchFamily="18" charset="0"/>
                            </a:rPr>
                            <m:t>max</m:t>
                          </m:r>
                        </m:fName>
                        <m:e>
                          <m:d>
                            <m:dPr>
                              <m:ctrlPr>
                                <a:rPr lang="en-US" altLang="zh-TW" sz="3100" b="0" i="1" smtClean="0">
                                  <a:latin typeface="Cambria Math" panose="02040503050406030204" pitchFamily="18" charset="0"/>
                                  <a:ea typeface="Cambria Math" panose="02040503050406030204" pitchFamily="18" charset="0"/>
                                </a:rPr>
                              </m:ctrlPr>
                            </m:dPr>
                            <m:e>
                              <m:r>
                                <a:rPr lang="en-US" altLang="zh-TW" sz="3100" b="0" i="1" smtClean="0">
                                  <a:latin typeface="Cambria Math" panose="02040503050406030204" pitchFamily="18" charset="0"/>
                                  <a:ea typeface="Cambria Math" panose="02040503050406030204" pitchFamily="18" charset="0"/>
                                </a:rPr>
                                <m:t>𝑟</m:t>
                              </m:r>
                              <m:r>
                                <a:rPr lang="en-US" altLang="zh-TW" sz="3100" b="0" i="1" smtClean="0">
                                  <a:latin typeface="Cambria Math" panose="02040503050406030204" pitchFamily="18" charset="0"/>
                                  <a:ea typeface="Cambria Math" panose="02040503050406030204" pitchFamily="18" charset="0"/>
                                </a:rPr>
                                <m:t>, </m:t>
                              </m:r>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𝑥</m:t>
                                  </m:r>
                                </m:e>
                                <m:sub>
                                  <m:r>
                                    <a:rPr lang="en-US" altLang="zh-TW" sz="3100" b="0" i="1" smtClean="0">
                                      <a:latin typeface="Cambria Math" panose="02040503050406030204" pitchFamily="18" charset="0"/>
                                      <a:ea typeface="Cambria Math" panose="02040503050406030204" pitchFamily="18" charset="0"/>
                                    </a:rPr>
                                    <m:t>0</m:t>
                                  </m:r>
                                </m:sub>
                              </m:sSub>
                              <m:r>
                                <a:rPr lang="en-US" altLang="zh-TW" sz="3100" b="0" i="1" smtClean="0">
                                  <a:latin typeface="Cambria Math" panose="02040503050406030204" pitchFamily="18" charset="0"/>
                                  <a:ea typeface="Cambria Math" panose="02040503050406030204" pitchFamily="18" charset="0"/>
                                </a:rPr>
                                <m:t>, </m:t>
                              </m:r>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𝑦</m:t>
                                  </m:r>
                                </m:e>
                                <m:sub>
                                  <m:r>
                                    <a:rPr lang="en-US" altLang="zh-TW" sz="3100" b="0" i="1" smtClean="0">
                                      <a:latin typeface="Cambria Math" panose="02040503050406030204" pitchFamily="18" charset="0"/>
                                      <a:ea typeface="Cambria Math" panose="02040503050406030204" pitchFamily="18" charset="0"/>
                                    </a:rPr>
                                    <m:t>0</m:t>
                                  </m:r>
                                </m:sub>
                              </m:sSub>
                            </m:e>
                          </m:d>
                        </m:e>
                      </m:func>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𝐺</m:t>
                          </m:r>
                        </m:e>
                        <m:sub>
                          <m:r>
                            <a:rPr lang="en-US" altLang="zh-TW" sz="3100" b="0" i="1" smtClean="0">
                              <a:latin typeface="Cambria Math" panose="02040503050406030204" pitchFamily="18" charset="0"/>
                              <a:ea typeface="Cambria Math" panose="02040503050406030204" pitchFamily="18" charset="0"/>
                            </a:rPr>
                            <m:t>𝜎</m:t>
                          </m:r>
                        </m:sub>
                      </m:sSub>
                      <m:d>
                        <m:dPr>
                          <m:ctrlPr>
                            <a:rPr lang="en-US" altLang="zh-TW" sz="3100" b="0" i="1" smtClean="0">
                              <a:latin typeface="Cambria Math" panose="02040503050406030204" pitchFamily="18" charset="0"/>
                              <a:ea typeface="Cambria Math" panose="02040503050406030204" pitchFamily="18" charset="0"/>
                            </a:rPr>
                          </m:ctrlPr>
                        </m:dPr>
                        <m:e>
                          <m:r>
                            <a:rPr lang="en-US" altLang="zh-TW" sz="3100" b="0" i="1" smtClean="0">
                              <a:latin typeface="Cambria Math" panose="02040503050406030204" pitchFamily="18" charset="0"/>
                              <a:ea typeface="Cambria Math" panose="02040503050406030204" pitchFamily="18" charset="0"/>
                            </a:rPr>
                            <m:t>𝑟</m:t>
                          </m:r>
                        </m:e>
                      </m:d>
                      <m:r>
                        <a:rPr lang="en-US" altLang="zh-TW" sz="3100" b="0" i="1" smtClean="0">
                          <a:latin typeface="Cambria Math" panose="02040503050406030204" pitchFamily="18" charset="0"/>
                          <a:ea typeface="Cambria Math" panose="02040503050406030204" pitchFamily="18" charset="0"/>
                        </a:rPr>
                        <m:t>∗</m:t>
                      </m:r>
                      <m:f>
                        <m:fPr>
                          <m:ctrlPr>
                            <a:rPr lang="en-US" altLang="zh-TW" sz="3100" b="0" i="1" smtClean="0">
                              <a:latin typeface="Cambria Math" panose="02040503050406030204" pitchFamily="18" charset="0"/>
                              <a:ea typeface="Cambria Math" panose="02040503050406030204" pitchFamily="18" charset="0"/>
                            </a:rPr>
                          </m:ctrlPr>
                        </m:fPr>
                        <m:num>
                          <m:r>
                            <a:rPr lang="en-US" altLang="zh-TW" sz="3100" b="0" i="1" smtClean="0">
                              <a:latin typeface="Cambria Math" panose="02040503050406030204" pitchFamily="18" charset="0"/>
                              <a:ea typeface="Cambria Math" panose="02040503050406030204" pitchFamily="18" charset="0"/>
                            </a:rPr>
                            <m:t>𝛿</m:t>
                          </m:r>
                        </m:num>
                        <m:den>
                          <m:r>
                            <a:rPr lang="en-US" altLang="zh-TW" sz="3100" b="0" i="1" smtClean="0">
                              <a:latin typeface="Cambria Math" panose="02040503050406030204" pitchFamily="18" charset="0"/>
                              <a:ea typeface="Cambria Math" panose="02040503050406030204" pitchFamily="18" charset="0"/>
                            </a:rPr>
                            <m:t>𝛿</m:t>
                          </m:r>
                          <m:r>
                            <a:rPr lang="en-US" altLang="zh-TW" sz="3100" b="0" i="1" smtClean="0">
                              <a:latin typeface="Cambria Math" panose="02040503050406030204" pitchFamily="18" charset="0"/>
                              <a:ea typeface="Cambria Math" panose="02040503050406030204" pitchFamily="18" charset="0"/>
                            </a:rPr>
                            <m:t>𝑟</m:t>
                          </m:r>
                        </m:den>
                      </m:f>
                      <m:nary>
                        <m:naryPr>
                          <m:limLoc m:val="undOvr"/>
                          <m:ctrlPr>
                            <a:rPr lang="en-US" altLang="zh-TW" sz="3100" b="0" i="1" smtClean="0">
                              <a:latin typeface="Cambria Math" panose="02040503050406030204" pitchFamily="18" charset="0"/>
                              <a:ea typeface="Cambria Math" panose="02040503050406030204" pitchFamily="18" charset="0"/>
                            </a:rPr>
                          </m:ctrlPr>
                        </m:naryPr>
                        <m:sub>
                          <m:r>
                            <m:rPr>
                              <m:brk m:alnAt="24"/>
                            </m:rPr>
                            <a:rPr lang="en-US" altLang="zh-TW" sz="3100" b="0" i="1" smtClean="0">
                              <a:latin typeface="Cambria Math" panose="02040503050406030204" pitchFamily="18" charset="0"/>
                              <a:ea typeface="Cambria Math" panose="02040503050406030204" pitchFamily="18" charset="0"/>
                            </a:rPr>
                            <m:t>𝑟</m:t>
                          </m:r>
                          <m:r>
                            <a:rPr lang="en-US" altLang="zh-TW" sz="3100" b="0" i="1" smtClean="0">
                              <a:latin typeface="Cambria Math" panose="02040503050406030204" pitchFamily="18" charset="0"/>
                              <a:ea typeface="Cambria Math" panose="02040503050406030204" pitchFamily="18" charset="0"/>
                            </a:rPr>
                            <m:t>, </m:t>
                          </m:r>
                          <m:sSub>
                            <m:sSubPr>
                              <m:ctrlPr>
                                <a:rPr lang="en-US" altLang="zh-TW" sz="3100" b="0" i="1" smtClean="0">
                                  <a:latin typeface="Cambria Math" panose="02040503050406030204" pitchFamily="18" charset="0"/>
                                  <a:ea typeface="Cambria Math" panose="02040503050406030204" pitchFamily="18" charset="0"/>
                                </a:rPr>
                              </m:ctrlPr>
                            </m:sSubPr>
                            <m:e>
                              <m:r>
                                <m:rPr>
                                  <m:brk m:alnAt="24"/>
                                </m:rPr>
                                <a:rPr lang="en-US" altLang="zh-TW" sz="3100" b="0" i="1" smtClean="0">
                                  <a:latin typeface="Cambria Math" panose="02040503050406030204" pitchFamily="18" charset="0"/>
                                  <a:ea typeface="Cambria Math" panose="02040503050406030204" pitchFamily="18" charset="0"/>
                                </a:rPr>
                                <m:t>𝑥</m:t>
                              </m:r>
                            </m:e>
                            <m:sub>
                              <m:r>
                                <m:rPr>
                                  <m:brk m:alnAt="24"/>
                                </m:rPr>
                                <a:rPr lang="en-US" altLang="zh-TW" sz="3100" b="0" i="1" smtClean="0">
                                  <a:latin typeface="Cambria Math" panose="02040503050406030204" pitchFamily="18" charset="0"/>
                                  <a:ea typeface="Cambria Math" panose="02040503050406030204" pitchFamily="18" charset="0"/>
                                </a:rPr>
                                <m:t>0</m:t>
                              </m:r>
                            </m:sub>
                          </m:sSub>
                          <m:r>
                            <m:rPr>
                              <m:brk m:alnAt="24"/>
                            </m:rPr>
                            <a:rPr lang="en-US" altLang="zh-TW" sz="3100" b="0" i="1" smtClean="0">
                              <a:latin typeface="Cambria Math" panose="02040503050406030204" pitchFamily="18" charset="0"/>
                              <a:ea typeface="Cambria Math" panose="02040503050406030204" pitchFamily="18" charset="0"/>
                            </a:rPr>
                            <m:t>, </m:t>
                          </m:r>
                          <m:sSub>
                            <m:sSubPr>
                              <m:ctrlPr>
                                <a:rPr lang="en-US" altLang="zh-TW" sz="3100" b="0" i="1" smtClean="0">
                                  <a:latin typeface="Cambria Math" panose="02040503050406030204" pitchFamily="18" charset="0"/>
                                  <a:ea typeface="Cambria Math" panose="02040503050406030204" pitchFamily="18" charset="0"/>
                                </a:rPr>
                              </m:ctrlPr>
                            </m:sSubPr>
                            <m:e>
                              <m:r>
                                <m:rPr>
                                  <m:brk m:alnAt="24"/>
                                </m:rPr>
                                <a:rPr lang="en-US" altLang="zh-TW" sz="3100" b="0" i="1" smtClean="0">
                                  <a:latin typeface="Cambria Math" panose="02040503050406030204" pitchFamily="18" charset="0"/>
                                  <a:ea typeface="Cambria Math" panose="02040503050406030204" pitchFamily="18" charset="0"/>
                                </a:rPr>
                                <m:t>𝑦</m:t>
                              </m:r>
                            </m:e>
                            <m:sub>
                              <m:r>
                                <m:rPr>
                                  <m:brk m:alnAt="24"/>
                                </m:rPr>
                                <a:rPr lang="en-US" altLang="zh-TW" sz="3100" b="0" i="1" smtClean="0">
                                  <a:latin typeface="Cambria Math" panose="02040503050406030204" pitchFamily="18" charset="0"/>
                                  <a:ea typeface="Cambria Math" panose="02040503050406030204" pitchFamily="18" charset="0"/>
                                </a:rPr>
                                <m:t>0</m:t>
                              </m:r>
                            </m:sub>
                          </m:sSub>
                        </m:sub>
                        <m:sup/>
                        <m:e>
                          <m:f>
                            <m:fPr>
                              <m:ctrlPr>
                                <a:rPr lang="en-US" altLang="zh-TW" sz="3100" b="0" i="1" smtClean="0">
                                  <a:latin typeface="Cambria Math" panose="02040503050406030204" pitchFamily="18" charset="0"/>
                                  <a:ea typeface="Cambria Math" panose="02040503050406030204" pitchFamily="18" charset="0"/>
                                </a:rPr>
                              </m:ctrlPr>
                            </m:fPr>
                            <m:num>
                              <m:r>
                                <a:rPr lang="en-US" altLang="zh-TW" sz="3100" b="0" i="1" smtClean="0">
                                  <a:latin typeface="Cambria Math" panose="02040503050406030204" pitchFamily="18" charset="0"/>
                                  <a:ea typeface="Cambria Math" panose="02040503050406030204" pitchFamily="18" charset="0"/>
                                </a:rPr>
                                <m:t>𝐼</m:t>
                              </m:r>
                              <m:d>
                                <m:dPr>
                                  <m:ctrlPr>
                                    <a:rPr lang="en-US" altLang="zh-TW" sz="3100" b="0" i="1" smtClean="0">
                                      <a:latin typeface="Cambria Math" panose="02040503050406030204" pitchFamily="18" charset="0"/>
                                      <a:ea typeface="Cambria Math" panose="02040503050406030204" pitchFamily="18" charset="0"/>
                                    </a:rPr>
                                  </m:ctrlPr>
                                </m:dPr>
                                <m:e>
                                  <m:r>
                                    <a:rPr lang="en-US" altLang="zh-TW" sz="3100" b="0" i="1" smtClean="0">
                                      <a:latin typeface="Cambria Math" panose="02040503050406030204" pitchFamily="18" charset="0"/>
                                      <a:ea typeface="Cambria Math" panose="02040503050406030204" pitchFamily="18" charset="0"/>
                                    </a:rPr>
                                    <m:t>𝑥</m:t>
                                  </m:r>
                                  <m:r>
                                    <a:rPr lang="en-US" altLang="zh-TW" sz="3100" b="0" i="1" smtClean="0">
                                      <a:latin typeface="Cambria Math" panose="02040503050406030204" pitchFamily="18" charset="0"/>
                                      <a:ea typeface="Cambria Math" panose="02040503050406030204" pitchFamily="18" charset="0"/>
                                    </a:rPr>
                                    <m:t>,</m:t>
                                  </m:r>
                                  <m:r>
                                    <a:rPr lang="en-US" altLang="zh-TW" sz="3100" b="0" i="1" smtClean="0">
                                      <a:latin typeface="Cambria Math" panose="02040503050406030204" pitchFamily="18" charset="0"/>
                                      <a:ea typeface="Cambria Math" panose="02040503050406030204" pitchFamily="18" charset="0"/>
                                    </a:rPr>
                                    <m:t>𝑦</m:t>
                                  </m:r>
                                </m:e>
                              </m:d>
                            </m:num>
                            <m:den>
                              <m:r>
                                <a:rPr lang="en-US" altLang="zh-TW" sz="3100" b="0" i="1" smtClean="0">
                                  <a:latin typeface="Cambria Math" panose="02040503050406030204" pitchFamily="18" charset="0"/>
                                  <a:ea typeface="Cambria Math" panose="02040503050406030204" pitchFamily="18" charset="0"/>
                                </a:rPr>
                                <m:t>2</m:t>
                              </m:r>
                              <m:r>
                                <a:rPr lang="en-US" altLang="zh-TW" sz="3100" b="0" i="1" smtClean="0">
                                  <a:latin typeface="Cambria Math" panose="02040503050406030204" pitchFamily="18" charset="0"/>
                                  <a:ea typeface="Cambria Math" panose="02040503050406030204" pitchFamily="18" charset="0"/>
                                </a:rPr>
                                <m:t>𝜋</m:t>
                              </m:r>
                              <m:r>
                                <a:rPr lang="en-US" altLang="zh-TW" sz="3100" b="0" i="1" smtClean="0">
                                  <a:latin typeface="Cambria Math" panose="02040503050406030204" pitchFamily="18" charset="0"/>
                                  <a:ea typeface="Cambria Math" panose="02040503050406030204" pitchFamily="18" charset="0"/>
                                </a:rPr>
                                <m:t>𝑟</m:t>
                              </m:r>
                            </m:den>
                          </m:f>
                          <m:r>
                            <a:rPr lang="en-US" altLang="zh-TW" sz="3100" b="0" i="1" smtClean="0">
                              <a:latin typeface="Cambria Math" panose="02040503050406030204" pitchFamily="18" charset="0"/>
                              <a:ea typeface="Cambria Math" panose="02040503050406030204" pitchFamily="18" charset="0"/>
                            </a:rPr>
                            <m:t>𝑑𝑠</m:t>
                          </m:r>
                        </m:e>
                      </m:nary>
                    </m:oMath>
                  </m:oMathPara>
                </a14:m>
                <a:endParaRPr lang="en-US" altLang="zh-TW" sz="3100" dirty="0">
                  <a:latin typeface="Cambria Math" panose="02040503050406030204" pitchFamily="18" charset="0"/>
                  <a:ea typeface="Cambria Math" panose="020405030504060302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769043"/>
                <a:ext cx="9071643" cy="5639398"/>
              </a:xfrm>
              <a:blipFill>
                <a:blip r:embed="rId2"/>
                <a:stretch>
                  <a:fillRect l="-2688" t="-227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7</a:t>
            </a:fld>
            <a:endParaRPr lang="zh-TW" altLang="en-US" dirty="0"/>
          </a:p>
        </p:txBody>
      </p:sp>
      <p:pic>
        <p:nvPicPr>
          <p:cNvPr id="6" name="圖片 5"/>
          <p:cNvPicPr>
            <a:picLocks noChangeAspect="1"/>
          </p:cNvPicPr>
          <p:nvPr/>
        </p:nvPicPr>
        <p:blipFill>
          <a:blip r:embed="rId3"/>
          <a:stretch>
            <a:fillRect/>
          </a:stretch>
        </p:blipFill>
        <p:spPr>
          <a:xfrm>
            <a:off x="251751" y="4311784"/>
            <a:ext cx="9576135" cy="2598060"/>
          </a:xfrm>
          <a:prstGeom prst="rect">
            <a:avLst/>
          </a:prstGeom>
        </p:spPr>
      </p:pic>
    </p:spTree>
    <p:extLst>
      <p:ext uri="{BB962C8B-B14F-4D97-AF65-F5344CB8AC3E}">
        <p14:creationId xmlns:p14="http://schemas.microsoft.com/office/powerpoint/2010/main" val="2117473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1.	Iris Segmentation and normalization</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8</a:t>
            </a:fld>
            <a:endParaRPr lang="zh-TW" altLang="en-US" dirty="0"/>
          </a:p>
        </p:txBody>
      </p:sp>
      <p:pic>
        <p:nvPicPr>
          <p:cNvPr id="5" name="圖片 4"/>
          <p:cNvPicPr>
            <a:picLocks noChangeAspect="1"/>
          </p:cNvPicPr>
          <p:nvPr/>
        </p:nvPicPr>
        <p:blipFill>
          <a:blip r:embed="rId2"/>
          <a:stretch>
            <a:fillRect/>
          </a:stretch>
        </p:blipFill>
        <p:spPr>
          <a:xfrm>
            <a:off x="2387106" y="2890125"/>
            <a:ext cx="5305425" cy="4257675"/>
          </a:xfrm>
          <a:prstGeom prst="rect">
            <a:avLst/>
          </a:prstGeom>
        </p:spPr>
      </p:pic>
    </p:spTree>
    <p:extLst>
      <p:ext uri="{BB962C8B-B14F-4D97-AF65-F5344CB8AC3E}">
        <p14:creationId xmlns:p14="http://schemas.microsoft.com/office/powerpoint/2010/main" val="3855556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1.	Iris Segmentation and normalization</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9</a:t>
            </a:fld>
            <a:endParaRPr lang="zh-TW" altLang="en-US" dirty="0"/>
          </a:p>
        </p:txBody>
      </p:sp>
      <p:pic>
        <p:nvPicPr>
          <p:cNvPr id="5" name="圖片 4"/>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87106" y="2890125"/>
            <a:ext cx="5305425" cy="4257675"/>
          </a:xfrm>
          <a:prstGeom prst="rect">
            <a:avLst/>
          </a:prstGeom>
        </p:spPr>
      </p:pic>
    </p:spTree>
    <p:extLst>
      <p:ext uri="{BB962C8B-B14F-4D97-AF65-F5344CB8AC3E}">
        <p14:creationId xmlns:p14="http://schemas.microsoft.com/office/powerpoint/2010/main" val="57210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1.	Iris Segmentation and normalization</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10</a:t>
            </a:fld>
            <a:endParaRPr lang="zh-TW" altLang="en-US" dirty="0"/>
          </a:p>
        </p:txBody>
      </p:sp>
      <p:pic>
        <p:nvPicPr>
          <p:cNvPr id="5" name="圖片 4"/>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87106" y="2890125"/>
            <a:ext cx="5305425" cy="4257675"/>
          </a:xfrm>
          <a:prstGeom prst="rect">
            <a:avLst/>
          </a:prstGeom>
        </p:spPr>
      </p:pic>
      <p:sp>
        <p:nvSpPr>
          <p:cNvPr id="6" name="橢圓 5"/>
          <p:cNvSpPr/>
          <p:nvPr/>
        </p:nvSpPr>
        <p:spPr>
          <a:xfrm>
            <a:off x="4445876" y="4414345"/>
            <a:ext cx="945931" cy="9774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3168870" y="3153103"/>
            <a:ext cx="3610302" cy="373405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833547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1.	Iris Segmentation and normalization</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11</a:t>
            </a:fld>
            <a:endParaRPr lang="zh-TW" altLang="en-US" dirty="0"/>
          </a:p>
        </p:txBody>
      </p:sp>
      <p:pic>
        <p:nvPicPr>
          <p:cNvPr id="5" name="圖片 4"/>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87106" y="2890125"/>
            <a:ext cx="5305425" cy="4257675"/>
          </a:xfrm>
          <a:prstGeom prst="rect">
            <a:avLst/>
          </a:prstGeom>
        </p:spPr>
      </p:pic>
      <p:sp>
        <p:nvSpPr>
          <p:cNvPr id="6" name="橢圓 5"/>
          <p:cNvSpPr/>
          <p:nvPr/>
        </p:nvSpPr>
        <p:spPr>
          <a:xfrm>
            <a:off x="4445876" y="4414345"/>
            <a:ext cx="945931" cy="9774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3168870" y="3153103"/>
            <a:ext cx="3610302" cy="373405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接點 8"/>
          <p:cNvCxnSpPr>
            <a:stCxn id="6" idx="6"/>
          </p:cNvCxnSpPr>
          <p:nvPr/>
        </p:nvCxnSpPr>
        <p:spPr>
          <a:xfrm flipV="1">
            <a:off x="5391807" y="4887310"/>
            <a:ext cx="1387365" cy="15766"/>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8" name="弧形 27"/>
          <p:cNvSpPr/>
          <p:nvPr/>
        </p:nvSpPr>
        <p:spPr>
          <a:xfrm>
            <a:off x="5221071" y="4308913"/>
            <a:ext cx="952500" cy="1172560"/>
          </a:xfrm>
          <a:prstGeom prst="arc">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30" name="直線接點 29"/>
          <p:cNvCxnSpPr/>
          <p:nvPr/>
        </p:nvCxnSpPr>
        <p:spPr>
          <a:xfrm>
            <a:off x="5724131" y="4304818"/>
            <a:ext cx="109768" cy="26540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2" name="直線接點 31"/>
          <p:cNvCxnSpPr/>
          <p:nvPr/>
        </p:nvCxnSpPr>
        <p:spPr>
          <a:xfrm>
            <a:off x="5697321" y="4302949"/>
            <a:ext cx="440310" cy="5964"/>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341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1.	Iris Segmentation and normalization</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12</a:t>
            </a:fld>
            <a:endParaRPr lang="zh-TW" altLang="en-US" dirty="0"/>
          </a:p>
        </p:txBody>
      </p:sp>
      <p:pic>
        <p:nvPicPr>
          <p:cNvPr id="6" name="圖片 5"/>
          <p:cNvPicPr>
            <a:picLocks noChangeAspect="1"/>
          </p:cNvPicPr>
          <p:nvPr/>
        </p:nvPicPr>
        <p:blipFill>
          <a:blip r:embed="rId2"/>
          <a:stretch>
            <a:fillRect/>
          </a:stretch>
        </p:blipFill>
        <p:spPr>
          <a:xfrm>
            <a:off x="0" y="3676578"/>
            <a:ext cx="10080625" cy="1303047"/>
          </a:xfrm>
          <a:prstGeom prst="rect">
            <a:avLst/>
          </a:prstGeom>
        </p:spPr>
      </p:pic>
    </p:spTree>
    <p:extLst>
      <p:ext uri="{BB962C8B-B14F-4D97-AF65-F5344CB8AC3E}">
        <p14:creationId xmlns:p14="http://schemas.microsoft.com/office/powerpoint/2010/main" val="3818908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2.	Feature extraction</a:t>
            </a:r>
          </a:p>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The 2D normalized pattern is broken up into a number of 1D signals, and then these 1D signals are convolved with 1D signal, each row corresponds to a circular ring on the iris region.</a:t>
            </a:r>
          </a:p>
          <a:p>
            <a:pPr marL="457200" indent="-457200">
              <a:buFont typeface="Arial" panose="020B0604020202020204" pitchFamily="34" charset="0"/>
              <a:buChar char="•"/>
            </a:pPr>
            <a:endParaRPr lang="en-US" altLang="zh-TW" sz="3100" dirty="0">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endParaRPr lang="en-US" altLang="zh-TW" sz="3100" dirty="0">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endParaRPr lang="en-US" altLang="zh-TW" sz="3100" dirty="0">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Feature extraction by using Gabor filter.</a:t>
            </a:r>
          </a:p>
          <a:p>
            <a:pPr marL="457200" indent="-457200">
              <a:buFont typeface="Arial" panose="020B0604020202020204" pitchFamily="34" charset="0"/>
              <a:buChar char="•"/>
            </a:pPr>
            <a:endParaRPr lang="en-US" altLang="zh-TW" sz="31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13</a:t>
            </a:fld>
            <a:endParaRPr lang="zh-TW" altLang="en-US" dirty="0"/>
          </a:p>
        </p:txBody>
      </p:sp>
      <p:pic>
        <p:nvPicPr>
          <p:cNvPr id="8" name="圖片 7"/>
          <p:cNvPicPr>
            <a:picLocks noChangeAspect="1"/>
          </p:cNvPicPr>
          <p:nvPr/>
        </p:nvPicPr>
        <p:blipFill>
          <a:blip r:embed="rId2"/>
          <a:stretch>
            <a:fillRect/>
          </a:stretch>
        </p:blipFill>
        <p:spPr>
          <a:xfrm>
            <a:off x="0" y="4588742"/>
            <a:ext cx="10080625" cy="1303047"/>
          </a:xfrm>
          <a:prstGeom prst="rect">
            <a:avLst/>
          </a:prstGeom>
        </p:spPr>
      </p:pic>
    </p:spTree>
    <p:extLst>
      <p:ext uri="{BB962C8B-B14F-4D97-AF65-F5344CB8AC3E}">
        <p14:creationId xmlns:p14="http://schemas.microsoft.com/office/powerpoint/2010/main" val="3691061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2.	Feature extraction</a:t>
                </a:r>
              </a:p>
              <a:p>
                <a:pPr marL="457200" indent="-457200">
                  <a:buFont typeface="Arial" panose="020B0604020202020204" pitchFamily="34" charset="0"/>
                  <a:buChar char="•"/>
                </a:pPr>
                <a14:m>
                  <m:oMath xmlns:m="http://schemas.openxmlformats.org/officeDocument/2006/math">
                    <m:r>
                      <a:rPr lang="en-US" altLang="zh-TW" sz="2800" b="0" i="1" smtClean="0">
                        <a:latin typeface="Cambria Math" panose="02040503050406030204" pitchFamily="18" charset="0"/>
                        <a:ea typeface="Cambria Math" panose="02040503050406030204" pitchFamily="18" charset="0"/>
                      </a:rPr>
                      <m:t>𝐺𝑎𝑏𝑜𝑟</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𝑡</m:t>
                        </m:r>
                      </m:e>
                    </m:d>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𝑘</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𝑒</m:t>
                        </m:r>
                      </m:e>
                      <m:sup>
                        <m:r>
                          <a:rPr lang="en-US" altLang="zh-TW" sz="2800" b="0" i="1" smtClean="0">
                            <a:latin typeface="Cambria Math" panose="02040503050406030204" pitchFamily="18" charset="0"/>
                            <a:ea typeface="Cambria Math" panose="02040503050406030204" pitchFamily="18" charset="0"/>
                          </a:rPr>
                          <m:t>𝑖</m:t>
                        </m:r>
                        <m:r>
                          <a:rPr lang="zh-TW" altLang="en-US" sz="2800" b="0" i="1" smtClean="0">
                            <a:latin typeface="Cambria Math" panose="02040503050406030204" pitchFamily="18" charset="0"/>
                            <a:ea typeface="Cambria Math" panose="02040503050406030204" pitchFamily="18" charset="0"/>
                          </a:rPr>
                          <m:t>𝜃</m:t>
                        </m:r>
                      </m:sup>
                    </m:sSup>
                    <m:r>
                      <a:rPr lang="en-US" altLang="zh-TW" sz="2800" b="0" i="1" smtClean="0">
                        <a:latin typeface="Cambria Math" panose="02040503050406030204" pitchFamily="18" charset="0"/>
                        <a:ea typeface="Cambria Math" panose="02040503050406030204" pitchFamily="18" charset="0"/>
                      </a:rPr>
                      <m:t>𝑤</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𝑎𝑡</m:t>
                        </m:r>
                      </m:e>
                    </m:d>
                    <m:r>
                      <a:rPr lang="en-US" altLang="zh-TW" sz="2800" b="0" i="1" smtClean="0">
                        <a:latin typeface="Cambria Math" panose="02040503050406030204" pitchFamily="18" charset="0"/>
                        <a:ea typeface="Cambria Math" panose="02040503050406030204" pitchFamily="18" charset="0"/>
                      </a:rPr>
                      <m:t>𝑠</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𝑡</m:t>
                        </m:r>
                      </m:e>
                    </m:d>
                  </m:oMath>
                </a14:m>
                <a:endParaRPr lang="en-US" altLang="zh-TW" sz="2800" b="0" i="1" dirty="0">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14:m>
                  <m:oMath xmlns:m="http://schemas.openxmlformats.org/officeDocument/2006/math">
                    <m:d>
                      <m:dPr>
                        <m:begChr m:val="{"/>
                        <m:endChr m:val=""/>
                        <m:ctrlPr>
                          <a:rPr lang="en-US" altLang="zh-TW" sz="2800" i="1" smtClean="0">
                            <a:latin typeface="Cambria Math" panose="02040503050406030204" pitchFamily="18" charset="0"/>
                            <a:ea typeface="Cambria Math" panose="02040503050406030204" pitchFamily="18" charset="0"/>
                          </a:rPr>
                        </m:ctrlPr>
                      </m:dPr>
                      <m:e>
                        <m:eqArr>
                          <m:eqArrPr>
                            <m:ctrlPr>
                              <a:rPr lang="en-US" altLang="zh-TW" sz="2800" i="1" smtClean="0">
                                <a:latin typeface="Cambria Math" panose="02040503050406030204" pitchFamily="18" charset="0"/>
                                <a:ea typeface="Cambria Math" panose="02040503050406030204" pitchFamily="18" charset="0"/>
                              </a:rPr>
                            </m:ctrlPr>
                          </m:eqArrPr>
                          <m:e>
                            <m:r>
                              <a:rPr lang="en-US" altLang="zh-TW" sz="2800" b="0" i="1" smtClean="0">
                                <a:latin typeface="Cambria Math" panose="02040503050406030204" pitchFamily="18" charset="0"/>
                                <a:ea typeface="Cambria Math" panose="02040503050406030204" pitchFamily="18" charset="0"/>
                              </a:rPr>
                              <m:t>𝑤</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𝑡</m:t>
                                </m:r>
                              </m:e>
                            </m:d>
                            <m:r>
                              <a:rPr lang="en-US" altLang="zh-TW" sz="2800" b="0" i="1" smtClean="0">
                                <a:latin typeface="Cambria Math" panose="02040503050406030204" pitchFamily="18" charset="0"/>
                                <a:ea typeface="Cambria Math" panose="02040503050406030204" pitchFamily="18" charset="0"/>
                              </a:rPr>
                              <m:t>=</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𝑒</m:t>
                                </m:r>
                              </m:e>
                              <m:sup>
                                <m:r>
                                  <a:rPr lang="en-US" altLang="zh-TW" sz="2800" b="0" i="1" smtClean="0">
                                    <a:latin typeface="Cambria Math" panose="02040503050406030204" pitchFamily="18" charset="0"/>
                                    <a:ea typeface="Cambria Math" panose="02040503050406030204" pitchFamily="18" charset="0"/>
                                  </a:rPr>
                                  <m:t>−</m:t>
                                </m:r>
                                <m:r>
                                  <a:rPr lang="zh-TW" altLang="en-US" sz="2800" b="0" i="1" smtClean="0">
                                    <a:latin typeface="Cambria Math" panose="02040503050406030204" pitchFamily="18" charset="0"/>
                                    <a:ea typeface="Cambria Math" panose="02040503050406030204" pitchFamily="18" charset="0"/>
                                  </a:rPr>
                                  <m:t>𝜋</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𝑡</m:t>
                                    </m:r>
                                  </m:e>
                                  <m:sup>
                                    <m:r>
                                      <a:rPr lang="en-US" altLang="zh-TW" sz="2800" b="0" i="1" smtClean="0">
                                        <a:latin typeface="Cambria Math" panose="02040503050406030204" pitchFamily="18" charset="0"/>
                                        <a:ea typeface="Cambria Math" panose="02040503050406030204" pitchFamily="18" charset="0"/>
                                      </a:rPr>
                                      <m:t>2</m:t>
                                    </m:r>
                                  </m:sup>
                                </m:sSup>
                              </m:sup>
                            </m:sSup>
                          </m:e>
                          <m:e>
                            <m:r>
                              <a:rPr lang="en-US" altLang="zh-TW" sz="2800" b="0" i="1" smtClean="0">
                                <a:latin typeface="Cambria Math" panose="02040503050406030204" pitchFamily="18" charset="0"/>
                                <a:ea typeface="Cambria Math" panose="02040503050406030204" pitchFamily="18" charset="0"/>
                              </a:rPr>
                              <m:t>𝑠</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𝑡</m:t>
                                </m:r>
                              </m:e>
                            </m:d>
                            <m:r>
                              <a:rPr lang="en-US" altLang="zh-TW" sz="2800" b="0" i="1" smtClean="0">
                                <a:latin typeface="Cambria Math" panose="02040503050406030204" pitchFamily="18" charset="0"/>
                                <a:ea typeface="Cambria Math" panose="02040503050406030204" pitchFamily="18" charset="0"/>
                              </a:rPr>
                              <m:t>=</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𝑒</m:t>
                                </m:r>
                              </m:e>
                              <m:sup>
                                <m:r>
                                  <a:rPr lang="en-US" altLang="zh-TW" sz="2800" b="0" i="1" smtClean="0">
                                    <a:latin typeface="Cambria Math" panose="02040503050406030204" pitchFamily="18" charset="0"/>
                                    <a:ea typeface="Cambria Math" panose="02040503050406030204" pitchFamily="18" charset="0"/>
                                  </a:rPr>
                                  <m:t>𝑖</m:t>
                                </m:r>
                                <m:r>
                                  <a:rPr lang="en-US" altLang="zh-TW" sz="2800" b="0" i="1" smtClean="0">
                                    <a:latin typeface="Cambria Math" panose="02040503050406030204" pitchFamily="18" charset="0"/>
                                    <a:ea typeface="Cambria Math" panose="02040503050406030204" pitchFamily="18" charset="0"/>
                                  </a:rPr>
                                  <m:t>(2</m:t>
                                </m:r>
                                <m:r>
                                  <a:rPr lang="zh-TW" altLang="en-US" sz="2800" b="0" i="1" smtClean="0">
                                    <a:latin typeface="Cambria Math" panose="02040503050406030204" pitchFamily="18" charset="0"/>
                                    <a:ea typeface="Cambria Math" panose="02040503050406030204" pitchFamily="18" charset="0"/>
                                  </a:rPr>
                                  <m:t>𝜋</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𝑓</m:t>
                                    </m:r>
                                  </m:e>
                                  <m:sub>
                                    <m:r>
                                      <a:rPr lang="en-US" altLang="zh-TW" sz="2800" b="0" i="1" smtClean="0">
                                        <a:latin typeface="Cambria Math" panose="02040503050406030204" pitchFamily="18" charset="0"/>
                                        <a:ea typeface="Cambria Math" panose="02040503050406030204" pitchFamily="18" charset="0"/>
                                      </a:rPr>
                                      <m:t>0</m:t>
                                    </m:r>
                                  </m:sub>
                                </m:sSub>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m:t>
                                </m:r>
                              </m:sup>
                            </m:sSup>
                          </m:e>
                        </m:eqArr>
                      </m:e>
                    </m:d>
                  </m:oMath>
                </a14:m>
                <a:endParaRPr lang="en-US" altLang="zh-TW" sz="2800" i="1" dirty="0">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14:m>
                  <m:oMath xmlns:m="http://schemas.openxmlformats.org/officeDocument/2006/math">
                    <m:d>
                      <m:dPr>
                        <m:begChr m:val="{"/>
                        <m:endChr m:val=""/>
                        <m:ctrlPr>
                          <a:rPr lang="en-US" altLang="zh-TW" sz="2800" i="1" smtClean="0">
                            <a:latin typeface="Cambria Math" panose="02040503050406030204" pitchFamily="18" charset="0"/>
                            <a:ea typeface="Cambria Math" panose="02040503050406030204" pitchFamily="18" charset="0"/>
                          </a:rPr>
                        </m:ctrlPr>
                      </m:dPr>
                      <m:e>
                        <m:eqArr>
                          <m:eqArrPr>
                            <m:ctrlPr>
                              <a:rPr lang="en-US" altLang="zh-TW" sz="2800" i="1" smtClean="0">
                                <a:latin typeface="Cambria Math" panose="02040503050406030204" pitchFamily="18" charset="0"/>
                                <a:ea typeface="Cambria Math" panose="02040503050406030204" pitchFamily="18" charset="0"/>
                              </a:rPr>
                            </m:ctrlPr>
                          </m:eqArrPr>
                          <m:e>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𝐺𝑎𝑏𝑜𝑟</m:t>
                                </m:r>
                              </m:e>
                              <m:sub>
                                <m:r>
                                  <a:rPr lang="en-US" altLang="zh-TW" sz="2800" b="0" i="1" smtClean="0">
                                    <a:latin typeface="Cambria Math" panose="02040503050406030204" pitchFamily="18" charset="0"/>
                                    <a:ea typeface="Cambria Math" panose="02040503050406030204" pitchFamily="18" charset="0"/>
                                  </a:rPr>
                                  <m:t>𝑟𝑒𝑎𝑙</m:t>
                                </m:r>
                              </m:sub>
                            </m:sSub>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𝑡</m:t>
                                </m:r>
                              </m:e>
                            </m:d>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𝑤</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𝑎𝑡</m:t>
                                </m:r>
                              </m:e>
                            </m:d>
                            <m:r>
                              <m:rPr>
                                <m:sty m:val="p"/>
                              </m:rPr>
                              <a:rPr lang="en-US" altLang="zh-TW" sz="2800" b="0" i="0" smtClean="0">
                                <a:latin typeface="Cambria Math" panose="02040503050406030204" pitchFamily="18" charset="0"/>
                                <a:ea typeface="Cambria Math" panose="02040503050406030204" pitchFamily="18" charset="0"/>
                              </a:rPr>
                              <m:t>cos</m:t>
                            </m:r>
                            <m:r>
                              <a:rPr lang="en-US" altLang="zh-TW" sz="2800" b="0" i="1" smtClean="0">
                                <a:latin typeface="Cambria Math" panose="02040503050406030204" pitchFamily="18" charset="0"/>
                                <a:ea typeface="Cambria Math" panose="02040503050406030204" pitchFamily="18" charset="0"/>
                              </a:rPr>
                              <m:t>⁡(2</m:t>
                            </m:r>
                            <m:r>
                              <a:rPr lang="zh-TW" altLang="en-US" sz="2800" b="0" i="1" smtClean="0">
                                <a:latin typeface="Cambria Math" panose="02040503050406030204" pitchFamily="18" charset="0"/>
                                <a:ea typeface="Cambria Math" panose="02040503050406030204" pitchFamily="18" charset="0"/>
                              </a:rPr>
                              <m:t>𝜋</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𝑓</m:t>
                                </m:r>
                              </m:e>
                              <m:sub>
                                <m:r>
                                  <a:rPr lang="en-US" altLang="zh-TW" sz="2800" b="0" i="1" smtClean="0">
                                    <a:latin typeface="Cambria Math" panose="02040503050406030204" pitchFamily="18" charset="0"/>
                                    <a:ea typeface="Cambria Math" panose="02040503050406030204" pitchFamily="18" charset="0"/>
                                  </a:rPr>
                                  <m:t>0</m:t>
                                </m:r>
                              </m:sub>
                            </m:sSub>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m:t>
                            </m:r>
                            <m:r>
                              <a:rPr lang="zh-TW" altLang="en-US" sz="2800" b="0" i="1" smtClean="0">
                                <a:latin typeface="Cambria Math" panose="02040503050406030204" pitchFamily="18" charset="0"/>
                                <a:ea typeface="Cambria Math" panose="02040503050406030204" pitchFamily="18" charset="0"/>
                              </a:rPr>
                              <m:t>𝜃</m:t>
                            </m:r>
                            <m:r>
                              <a:rPr lang="en-US" altLang="zh-TW" sz="2800" b="0" i="1" smtClean="0">
                                <a:latin typeface="Cambria Math" panose="02040503050406030204" pitchFamily="18" charset="0"/>
                                <a:ea typeface="Cambria Math" panose="02040503050406030204" pitchFamily="18" charset="0"/>
                              </a:rPr>
                              <m:t>)</m:t>
                            </m:r>
                          </m:e>
                          <m:e>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𝐺𝑎𝑏𝑜𝑟</m:t>
                                </m:r>
                              </m:e>
                              <m:sub>
                                <m:r>
                                  <a:rPr lang="en-US" altLang="zh-TW" sz="2800" b="0" i="1" smtClean="0">
                                    <a:latin typeface="Cambria Math" panose="02040503050406030204" pitchFamily="18" charset="0"/>
                                    <a:ea typeface="Cambria Math" panose="02040503050406030204" pitchFamily="18" charset="0"/>
                                  </a:rPr>
                                  <m:t>𝑖𝑚𝑎𝑔</m:t>
                                </m:r>
                              </m:sub>
                            </m:sSub>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𝑡</m:t>
                                </m:r>
                              </m:e>
                            </m:d>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𝑤</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𝑎𝑡</m:t>
                                </m:r>
                              </m:e>
                            </m:d>
                            <m:r>
                              <m:rPr>
                                <m:sty m:val="p"/>
                              </m:rPr>
                              <a:rPr lang="en-US" altLang="zh-TW" sz="2800" b="0" i="0" smtClean="0">
                                <a:latin typeface="Cambria Math" panose="02040503050406030204" pitchFamily="18" charset="0"/>
                                <a:ea typeface="Cambria Math" panose="02040503050406030204" pitchFamily="18" charset="0"/>
                              </a:rPr>
                              <m:t>sin</m:t>
                            </m:r>
                            <m:r>
                              <a:rPr lang="en-US" altLang="zh-TW" sz="2800" b="0" i="1" smtClean="0">
                                <a:latin typeface="Cambria Math" panose="02040503050406030204" pitchFamily="18" charset="0"/>
                                <a:ea typeface="Cambria Math" panose="02040503050406030204" pitchFamily="18" charset="0"/>
                              </a:rPr>
                              <m:t>⁡(2</m:t>
                            </m:r>
                            <m:r>
                              <a:rPr lang="zh-TW" altLang="en-US" sz="2800" b="0" i="1" smtClean="0">
                                <a:latin typeface="Cambria Math" panose="02040503050406030204" pitchFamily="18" charset="0"/>
                                <a:ea typeface="Cambria Math" panose="02040503050406030204" pitchFamily="18" charset="0"/>
                              </a:rPr>
                              <m:t>𝜋</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𝑓</m:t>
                                </m:r>
                              </m:e>
                              <m:sub>
                                <m:r>
                                  <a:rPr lang="en-US" altLang="zh-TW" sz="2800" b="0" i="1" smtClean="0">
                                    <a:latin typeface="Cambria Math" panose="02040503050406030204" pitchFamily="18" charset="0"/>
                                    <a:ea typeface="Cambria Math" panose="02040503050406030204" pitchFamily="18" charset="0"/>
                                  </a:rPr>
                                  <m:t>0</m:t>
                                </m:r>
                              </m:sub>
                            </m:sSub>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m:t>
                            </m:r>
                            <m:r>
                              <a:rPr lang="zh-TW" altLang="en-US" sz="2800" b="0" i="1" smtClean="0">
                                <a:latin typeface="Cambria Math" panose="02040503050406030204" pitchFamily="18" charset="0"/>
                                <a:ea typeface="Cambria Math" panose="02040503050406030204" pitchFamily="18" charset="0"/>
                              </a:rPr>
                              <m:t>𝜃</m:t>
                            </m:r>
                            <m:r>
                              <a:rPr lang="en-US" altLang="zh-TW" sz="2800" b="0" i="1" smtClean="0">
                                <a:latin typeface="Cambria Math" panose="02040503050406030204" pitchFamily="18" charset="0"/>
                                <a:ea typeface="Cambria Math" panose="02040503050406030204" pitchFamily="18" charset="0"/>
                              </a:rPr>
                              <m:t>)</m:t>
                            </m:r>
                          </m:e>
                        </m:eqArr>
                      </m:e>
                    </m:d>
                  </m:oMath>
                </a14:m>
                <a:endParaRPr lang="en-US" altLang="zh-TW" sz="2800" dirty="0">
                  <a:latin typeface="Cambria Math" panose="02040503050406030204" pitchFamily="18" charset="0"/>
                  <a:ea typeface="Cambria Math" panose="020405030504060302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769043"/>
                <a:ext cx="9071643" cy="5639398"/>
              </a:xfrm>
              <a:blipFill>
                <a:blip r:embed="rId2"/>
                <a:stretch>
                  <a:fillRect l="-2688" t="-227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14</a:t>
            </a:fld>
            <a:endParaRPr lang="zh-TW" altLang="en-US" dirty="0"/>
          </a:p>
        </p:txBody>
      </p:sp>
      <p:pic>
        <p:nvPicPr>
          <p:cNvPr id="5" name="圖片 4"/>
          <p:cNvPicPr>
            <a:picLocks noChangeAspect="1"/>
          </p:cNvPicPr>
          <p:nvPr/>
        </p:nvPicPr>
        <p:blipFill>
          <a:blip r:embed="rId3"/>
          <a:stretch>
            <a:fillRect/>
          </a:stretch>
        </p:blipFill>
        <p:spPr>
          <a:xfrm>
            <a:off x="966871" y="5382811"/>
            <a:ext cx="2450098" cy="1926117"/>
          </a:xfrm>
          <a:prstGeom prst="rect">
            <a:avLst/>
          </a:prstGeom>
        </p:spPr>
      </p:pic>
      <p:pic>
        <p:nvPicPr>
          <p:cNvPr id="6" name="圖片 5"/>
          <p:cNvPicPr>
            <a:picLocks noChangeAspect="1"/>
          </p:cNvPicPr>
          <p:nvPr/>
        </p:nvPicPr>
        <p:blipFill>
          <a:blip r:embed="rId4"/>
          <a:stretch>
            <a:fillRect/>
          </a:stretch>
        </p:blipFill>
        <p:spPr>
          <a:xfrm>
            <a:off x="3578660" y="5405754"/>
            <a:ext cx="2432467" cy="1926117"/>
          </a:xfrm>
          <a:prstGeom prst="rect">
            <a:avLst/>
          </a:prstGeom>
        </p:spPr>
      </p:pic>
      <p:pic>
        <p:nvPicPr>
          <p:cNvPr id="7" name="圖片 6"/>
          <p:cNvPicPr>
            <a:picLocks noChangeAspect="1"/>
          </p:cNvPicPr>
          <p:nvPr/>
        </p:nvPicPr>
        <p:blipFill>
          <a:blip r:embed="rId5"/>
          <a:stretch>
            <a:fillRect/>
          </a:stretch>
        </p:blipFill>
        <p:spPr>
          <a:xfrm>
            <a:off x="6222415" y="5405754"/>
            <a:ext cx="2494155" cy="1972004"/>
          </a:xfrm>
          <a:prstGeom prst="rect">
            <a:avLst/>
          </a:prstGeom>
        </p:spPr>
      </p:pic>
      <p:sp>
        <p:nvSpPr>
          <p:cNvPr id="8" name="文字方塊 7"/>
          <p:cNvSpPr txBox="1"/>
          <p:nvPr/>
        </p:nvSpPr>
        <p:spPr>
          <a:xfrm>
            <a:off x="2943713" y="7239117"/>
            <a:ext cx="3702360" cy="369332"/>
          </a:xfrm>
          <a:prstGeom prst="rect">
            <a:avLst/>
          </a:prstGeom>
          <a:noFill/>
        </p:spPr>
        <p:txBody>
          <a:bodyPr wrap="none" rtlCol="0">
            <a:spAutoFit/>
          </a:bodyPr>
          <a:lstStyle/>
          <a:p>
            <a:r>
              <a:rPr lang="en-US" altLang="zh-TW" dirty="0"/>
              <a:t>Reference: Gabor Filter Visualization </a:t>
            </a:r>
            <a:endParaRPr lang="zh-TW" altLang="en-US" dirty="0"/>
          </a:p>
        </p:txBody>
      </p:sp>
    </p:spTree>
    <p:extLst>
      <p:ext uri="{BB962C8B-B14F-4D97-AF65-F5344CB8AC3E}">
        <p14:creationId xmlns:p14="http://schemas.microsoft.com/office/powerpoint/2010/main" val="2871697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endParaRPr lang="en-US" altLang="zh-TW" sz="31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15</a:t>
            </a:fld>
            <a:endParaRPr lang="zh-TW" altLang="en-US" dirty="0"/>
          </a:p>
        </p:txBody>
      </p:sp>
      <p:pic>
        <p:nvPicPr>
          <p:cNvPr id="8" name="圖片 7"/>
          <p:cNvPicPr>
            <a:picLocks noChangeAspect="1"/>
          </p:cNvPicPr>
          <p:nvPr/>
        </p:nvPicPr>
        <p:blipFill>
          <a:blip r:embed="rId2"/>
          <a:stretch>
            <a:fillRect/>
          </a:stretch>
        </p:blipFill>
        <p:spPr>
          <a:xfrm>
            <a:off x="1947039" y="1331910"/>
            <a:ext cx="6185560" cy="6076531"/>
          </a:xfrm>
          <a:prstGeom prst="rect">
            <a:avLst/>
          </a:prstGeom>
        </p:spPr>
      </p:pic>
      <p:sp>
        <p:nvSpPr>
          <p:cNvPr id="9" name="文字方塊 8"/>
          <p:cNvSpPr txBox="1"/>
          <p:nvPr/>
        </p:nvSpPr>
        <p:spPr>
          <a:xfrm>
            <a:off x="1501542" y="7190343"/>
            <a:ext cx="7076553" cy="369332"/>
          </a:xfrm>
          <a:prstGeom prst="rect">
            <a:avLst/>
          </a:prstGeom>
          <a:noFill/>
        </p:spPr>
        <p:txBody>
          <a:bodyPr wrap="none" rtlCol="0">
            <a:spAutoFit/>
          </a:bodyPr>
          <a:lstStyle/>
          <a:p>
            <a:r>
              <a:rPr lang="en-US" altLang="zh-TW" dirty="0"/>
              <a:t>Reference: Recognition of Human Iris Patterns for Biometric Identification</a:t>
            </a:r>
            <a:endParaRPr lang="zh-TW" altLang="en-US" dirty="0"/>
          </a:p>
        </p:txBody>
      </p:sp>
    </p:spTree>
    <p:extLst>
      <p:ext uri="{BB962C8B-B14F-4D97-AF65-F5344CB8AC3E}">
        <p14:creationId xmlns:p14="http://schemas.microsoft.com/office/powerpoint/2010/main" val="984440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endParaRPr lang="en-US" altLang="zh-TW" sz="31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16</a:t>
            </a:fld>
            <a:endParaRPr lang="zh-TW" altLang="en-US" dirty="0"/>
          </a:p>
        </p:txBody>
      </p:sp>
      <p:sp>
        <p:nvSpPr>
          <p:cNvPr id="9" name="文字方塊 8"/>
          <p:cNvSpPr txBox="1"/>
          <p:nvPr/>
        </p:nvSpPr>
        <p:spPr>
          <a:xfrm>
            <a:off x="1501542" y="7190343"/>
            <a:ext cx="7076553" cy="369332"/>
          </a:xfrm>
          <a:prstGeom prst="rect">
            <a:avLst/>
          </a:prstGeom>
          <a:noFill/>
        </p:spPr>
        <p:txBody>
          <a:bodyPr wrap="none" rtlCol="0">
            <a:spAutoFit/>
          </a:bodyPr>
          <a:lstStyle/>
          <a:p>
            <a:r>
              <a:rPr lang="en-US" altLang="zh-TW" dirty="0"/>
              <a:t>Reference: Recognition of Human Iris Patterns for Biometric Identification</a:t>
            </a:r>
            <a:endParaRPr lang="zh-TW" altLang="en-US" dirty="0"/>
          </a:p>
        </p:txBody>
      </p:sp>
      <p:pic>
        <p:nvPicPr>
          <p:cNvPr id="5" name="圖片 4"/>
          <p:cNvPicPr>
            <a:picLocks noChangeAspect="1"/>
          </p:cNvPicPr>
          <p:nvPr/>
        </p:nvPicPr>
        <p:blipFill>
          <a:blip r:embed="rId2"/>
          <a:stretch>
            <a:fillRect/>
          </a:stretch>
        </p:blipFill>
        <p:spPr>
          <a:xfrm>
            <a:off x="293803" y="1850894"/>
            <a:ext cx="9492029" cy="5049232"/>
          </a:xfrm>
          <a:prstGeom prst="rect">
            <a:avLst/>
          </a:prstGeom>
        </p:spPr>
      </p:pic>
    </p:spTree>
    <p:extLst>
      <p:ext uri="{BB962C8B-B14F-4D97-AF65-F5344CB8AC3E}">
        <p14:creationId xmlns:p14="http://schemas.microsoft.com/office/powerpoint/2010/main" val="1640774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3.	Iris classification using ODL</a:t>
            </a:r>
          </a:p>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An on-line dictionary learning (ODL) algorithm is used to classify the iris data into three different classes to reduce the search space.</a:t>
            </a:r>
          </a:p>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Sparse coding: A coding that is modelling data vectors as sparse linear combinations of basis elements.</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17</a:t>
            </a:fld>
            <a:endParaRPr lang="zh-TW" altLang="en-US" dirty="0"/>
          </a:p>
        </p:txBody>
      </p:sp>
    </p:spTree>
    <p:extLst>
      <p:ext uri="{BB962C8B-B14F-4D97-AF65-F5344CB8AC3E}">
        <p14:creationId xmlns:p14="http://schemas.microsoft.com/office/powerpoint/2010/main" val="189211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3.	Iris classification using ODL</a:t>
                </a:r>
              </a:p>
              <a:p>
                <a:endParaRPr lang="en-US" altLang="zh-TW" sz="3100"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TW" sz="3100" b="0" i="1" smtClean="0">
                          <a:latin typeface="Cambria Math" panose="02040503050406030204" pitchFamily="18" charset="0"/>
                          <a:ea typeface="Cambria Math" panose="02040503050406030204" pitchFamily="18" charset="0"/>
                        </a:rPr>
                        <m:t>𝐶</m:t>
                      </m:r>
                      <m:r>
                        <a:rPr lang="en-US" altLang="zh-TW" sz="3100" b="0" i="1" smtClean="0">
                          <a:latin typeface="Cambria Math" panose="02040503050406030204" pitchFamily="18" charset="0"/>
                          <a:ea typeface="Cambria Math" panose="02040503050406030204" pitchFamily="18" charset="0"/>
                        </a:rPr>
                        <m:t>=[</m:t>
                      </m:r>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𝐶</m:t>
                          </m:r>
                        </m:e>
                        <m:sub>
                          <m:r>
                            <a:rPr lang="en-US" altLang="zh-TW" sz="3100" b="0" i="1" smtClean="0">
                              <a:latin typeface="Cambria Math" panose="02040503050406030204" pitchFamily="18" charset="0"/>
                              <a:ea typeface="Cambria Math" panose="02040503050406030204" pitchFamily="18" charset="0"/>
                            </a:rPr>
                            <m:t>1</m:t>
                          </m:r>
                        </m:sub>
                      </m:sSub>
                      <m:r>
                        <a:rPr lang="en-US" altLang="zh-TW" sz="3100" b="0" i="1" smtClean="0">
                          <a:latin typeface="Cambria Math" panose="02040503050406030204" pitchFamily="18" charset="0"/>
                          <a:ea typeface="Cambria Math" panose="02040503050406030204" pitchFamily="18" charset="0"/>
                        </a:rPr>
                        <m:t>, </m:t>
                      </m:r>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𝐶</m:t>
                          </m:r>
                        </m:e>
                        <m:sub>
                          <m:r>
                            <a:rPr lang="en-US" altLang="zh-TW" sz="3100" b="0" i="1" smtClean="0">
                              <a:latin typeface="Cambria Math" panose="02040503050406030204" pitchFamily="18" charset="0"/>
                              <a:ea typeface="Cambria Math" panose="02040503050406030204" pitchFamily="18" charset="0"/>
                            </a:rPr>
                            <m:t>2</m:t>
                          </m:r>
                        </m:sub>
                      </m:sSub>
                      <m:r>
                        <a:rPr lang="en-US" altLang="zh-TW" sz="3100" b="0" i="1" smtClean="0">
                          <a:latin typeface="Cambria Math" panose="02040503050406030204" pitchFamily="18" charset="0"/>
                          <a:ea typeface="Cambria Math" panose="02040503050406030204" pitchFamily="18" charset="0"/>
                        </a:rPr>
                        <m:t>, …, </m:t>
                      </m:r>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𝐶</m:t>
                          </m:r>
                        </m:e>
                        <m:sub>
                          <m:r>
                            <a:rPr lang="en-US" altLang="zh-TW" sz="3100" b="0" i="1" smtClean="0">
                              <a:latin typeface="Cambria Math" panose="02040503050406030204" pitchFamily="18" charset="0"/>
                              <a:ea typeface="Cambria Math" panose="02040503050406030204" pitchFamily="18" charset="0"/>
                            </a:rPr>
                            <m:t>𝑁</m:t>
                          </m:r>
                        </m:sub>
                      </m:sSub>
                      <m:r>
                        <a:rPr lang="en-US" altLang="zh-TW" sz="3100" b="0" i="1" smtClean="0">
                          <a:latin typeface="Cambria Math" panose="02040503050406030204" pitchFamily="18" charset="0"/>
                          <a:ea typeface="Cambria Math" panose="02040503050406030204" pitchFamily="18" charset="0"/>
                        </a:rPr>
                        <m:t>]</m:t>
                      </m:r>
                    </m:oMath>
                  </m:oMathPara>
                </a14:m>
                <a:endParaRPr lang="en-US" altLang="zh-TW" sz="3100" dirty="0">
                  <a:latin typeface="Cambria Math" panose="02040503050406030204" pitchFamily="18" charset="0"/>
                  <a:ea typeface="Cambria Math" panose="02040503050406030204" pitchFamily="18" charset="0"/>
                </a:endParaRPr>
              </a:p>
              <a:p>
                <a:endParaRPr lang="en-US" altLang="zh-TW" sz="310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TW" sz="3100" b="0" i="1" smtClean="0">
                          <a:latin typeface="Cambria Math" panose="02040503050406030204" pitchFamily="18" charset="0"/>
                          <a:ea typeface="Cambria Math" panose="02040503050406030204" pitchFamily="18" charset="0"/>
                        </a:rPr>
                        <m:t>𝑜𝑟𝑖𝑔𝑖𝑛𝑎𝑙</m:t>
                      </m:r>
                      <m:r>
                        <a:rPr lang="en-US" altLang="zh-TW" sz="3100" b="0" i="1" smtClean="0">
                          <a:latin typeface="Cambria Math" panose="02040503050406030204" pitchFamily="18" charset="0"/>
                          <a:ea typeface="Cambria Math" panose="02040503050406030204" pitchFamily="18" charset="0"/>
                        </a:rPr>
                        <m:t>: </m:t>
                      </m:r>
                      <m:d>
                        <m:dPr>
                          <m:begChr m:val="{"/>
                          <m:endChr m:val="}"/>
                          <m:ctrlPr>
                            <a:rPr lang="en-US" altLang="zh-TW" sz="3100" i="1" smtClean="0">
                              <a:latin typeface="Cambria Math" panose="02040503050406030204" pitchFamily="18" charset="0"/>
                              <a:ea typeface="Cambria Math" panose="02040503050406030204" pitchFamily="18" charset="0"/>
                            </a:rPr>
                          </m:ctrlPr>
                        </m:dPr>
                        <m:e>
                          <m:sSubSup>
                            <m:sSubSupPr>
                              <m:ctrlPr>
                                <a:rPr lang="en-US" altLang="zh-TW" sz="3100" i="1" smtClean="0">
                                  <a:latin typeface="Cambria Math" panose="02040503050406030204" pitchFamily="18" charset="0"/>
                                  <a:ea typeface="Cambria Math" panose="02040503050406030204" pitchFamily="18" charset="0"/>
                                </a:rPr>
                              </m:ctrlPr>
                            </m:sSubSupPr>
                            <m:e>
                              <m:r>
                                <a:rPr lang="en-US" altLang="zh-TW" sz="3100" b="0" i="1" smtClean="0">
                                  <a:latin typeface="Cambria Math" panose="02040503050406030204" pitchFamily="18" charset="0"/>
                                  <a:ea typeface="Cambria Math" panose="02040503050406030204" pitchFamily="18" charset="0"/>
                                </a:rPr>
                                <m:t>𝑦</m:t>
                              </m:r>
                            </m:e>
                            <m:sub>
                              <m:r>
                                <a:rPr lang="en-US" altLang="zh-TW" sz="3100" b="0" i="1" smtClean="0">
                                  <a:latin typeface="Cambria Math" panose="02040503050406030204" pitchFamily="18" charset="0"/>
                                  <a:ea typeface="Cambria Math" panose="02040503050406030204" pitchFamily="18" charset="0"/>
                                </a:rPr>
                                <m:t>1</m:t>
                              </m:r>
                            </m:sub>
                            <m:sup>
                              <m:r>
                                <a:rPr lang="en-US" altLang="zh-TW" sz="3100" b="0" i="1" smtClean="0">
                                  <a:latin typeface="Cambria Math" panose="02040503050406030204" pitchFamily="18" charset="0"/>
                                  <a:ea typeface="Cambria Math" panose="02040503050406030204" pitchFamily="18" charset="0"/>
                                </a:rPr>
                                <m:t>1</m:t>
                              </m:r>
                            </m:sup>
                          </m:sSubSup>
                          <m:r>
                            <a:rPr lang="en-US" altLang="zh-TW" sz="3100" b="0" i="1" smtClean="0">
                              <a:latin typeface="Cambria Math" panose="02040503050406030204" pitchFamily="18" charset="0"/>
                              <a:ea typeface="Cambria Math" panose="02040503050406030204" pitchFamily="18" charset="0"/>
                            </a:rPr>
                            <m:t>, </m:t>
                          </m:r>
                          <m:sSubSup>
                            <m:sSubSupPr>
                              <m:ctrlPr>
                                <a:rPr lang="en-US" altLang="zh-TW" sz="3100" b="0" i="1" smtClean="0">
                                  <a:latin typeface="Cambria Math" panose="02040503050406030204" pitchFamily="18" charset="0"/>
                                  <a:ea typeface="Cambria Math" panose="02040503050406030204" pitchFamily="18" charset="0"/>
                                </a:rPr>
                              </m:ctrlPr>
                            </m:sSubSupPr>
                            <m:e>
                              <m:r>
                                <a:rPr lang="en-US" altLang="zh-TW" sz="3100" b="0" i="1" smtClean="0">
                                  <a:latin typeface="Cambria Math" panose="02040503050406030204" pitchFamily="18" charset="0"/>
                                  <a:ea typeface="Cambria Math" panose="02040503050406030204" pitchFamily="18" charset="0"/>
                                </a:rPr>
                                <m:t>𝑦</m:t>
                              </m:r>
                            </m:e>
                            <m:sub>
                              <m:r>
                                <a:rPr lang="en-US" altLang="zh-TW" sz="3100" b="0" i="1" smtClean="0">
                                  <a:latin typeface="Cambria Math" panose="02040503050406030204" pitchFamily="18" charset="0"/>
                                  <a:ea typeface="Cambria Math" panose="02040503050406030204" pitchFamily="18" charset="0"/>
                                </a:rPr>
                                <m:t>2</m:t>
                              </m:r>
                            </m:sub>
                            <m:sup>
                              <m:r>
                                <a:rPr lang="en-US" altLang="zh-TW" sz="3100" b="0" i="1" smtClean="0">
                                  <a:latin typeface="Cambria Math" panose="02040503050406030204" pitchFamily="18" charset="0"/>
                                  <a:ea typeface="Cambria Math" panose="02040503050406030204" pitchFamily="18" charset="0"/>
                                </a:rPr>
                                <m:t>1</m:t>
                              </m:r>
                            </m:sup>
                          </m:sSubSup>
                          <m:r>
                            <a:rPr lang="en-US" altLang="zh-TW" sz="3100" b="0" i="1" smtClean="0">
                              <a:latin typeface="Cambria Math" panose="02040503050406030204" pitchFamily="18" charset="0"/>
                              <a:ea typeface="Cambria Math" panose="02040503050406030204" pitchFamily="18" charset="0"/>
                            </a:rPr>
                            <m:t>, …, </m:t>
                          </m:r>
                          <m:sSubSup>
                            <m:sSubSupPr>
                              <m:ctrlPr>
                                <a:rPr lang="en-US" altLang="zh-TW" sz="3100" b="0" i="1" smtClean="0">
                                  <a:latin typeface="Cambria Math" panose="02040503050406030204" pitchFamily="18" charset="0"/>
                                  <a:ea typeface="Cambria Math" panose="02040503050406030204" pitchFamily="18" charset="0"/>
                                </a:rPr>
                              </m:ctrlPr>
                            </m:sSubSupPr>
                            <m:e>
                              <m:r>
                                <a:rPr lang="en-US" altLang="zh-TW" sz="3100" b="0" i="1" smtClean="0">
                                  <a:latin typeface="Cambria Math" panose="02040503050406030204" pitchFamily="18" charset="0"/>
                                  <a:ea typeface="Cambria Math" panose="02040503050406030204" pitchFamily="18" charset="0"/>
                                </a:rPr>
                                <m:t>𝑦</m:t>
                              </m:r>
                            </m:e>
                            <m:sub>
                              <m:r>
                                <a:rPr lang="en-US" altLang="zh-TW" sz="3100" b="0" i="1" smtClean="0">
                                  <a:latin typeface="Cambria Math" panose="02040503050406030204" pitchFamily="18" charset="0"/>
                                  <a:ea typeface="Cambria Math" panose="02040503050406030204" pitchFamily="18" charset="0"/>
                                </a:rPr>
                                <m:t>𝑘</m:t>
                              </m:r>
                            </m:sub>
                            <m:sup>
                              <m:r>
                                <a:rPr lang="en-US" altLang="zh-TW" sz="3100" b="0" i="1" smtClean="0">
                                  <a:latin typeface="Cambria Math" panose="02040503050406030204" pitchFamily="18" charset="0"/>
                                  <a:ea typeface="Cambria Math" panose="02040503050406030204" pitchFamily="18" charset="0"/>
                                </a:rPr>
                                <m:t>1</m:t>
                              </m:r>
                            </m:sup>
                          </m:sSubSup>
                        </m:e>
                      </m:d>
                    </m:oMath>
                  </m:oMathPara>
                </a14:m>
                <a:endParaRPr lang="en-US" altLang="zh-TW" sz="3100" dirty="0">
                  <a:latin typeface="Cambria Math" panose="02040503050406030204" pitchFamily="18" charset="0"/>
                  <a:ea typeface="Cambria Math" panose="02040503050406030204" pitchFamily="18" charset="0"/>
                </a:endParaRPr>
              </a:p>
              <a:p>
                <a:endParaRPr lang="en-US" altLang="zh-TW" sz="3100"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p>
                        <m:sSupPr>
                          <m:ctrlPr>
                            <a:rPr lang="en-US" altLang="zh-TW" sz="3100" i="1" smtClean="0">
                              <a:latin typeface="Cambria Math" panose="02040503050406030204" pitchFamily="18" charset="0"/>
                              <a:ea typeface="Cambria Math" panose="02040503050406030204" pitchFamily="18" charset="0"/>
                            </a:rPr>
                          </m:ctrlPr>
                        </m:sSupPr>
                        <m:e>
                          <m:r>
                            <a:rPr lang="en-US" altLang="zh-TW" sz="3100" b="0" i="1" smtClean="0">
                              <a:latin typeface="Cambria Math" panose="02040503050406030204" pitchFamily="18" charset="0"/>
                              <a:ea typeface="Cambria Math" panose="02040503050406030204" pitchFamily="18" charset="0"/>
                            </a:rPr>
                            <m:t>𝑎𝑝𝑝𝑟𝑜𝑥𝑖𝑚𝑎𝑡𝑖𝑜𝑛</m:t>
                          </m:r>
                          <m:r>
                            <a:rPr lang="en-US" altLang="zh-TW" sz="3100" b="0" i="1" smtClean="0">
                              <a:latin typeface="Cambria Math" panose="02040503050406030204" pitchFamily="18" charset="0"/>
                              <a:ea typeface="Cambria Math" panose="02040503050406030204" pitchFamily="18" charset="0"/>
                            </a:rPr>
                            <m:t>: {</m:t>
                          </m:r>
                          <m:r>
                            <a:rPr lang="en-US" altLang="zh-TW" sz="3100" b="0" i="1" smtClean="0">
                              <a:latin typeface="Cambria Math" panose="02040503050406030204" pitchFamily="18" charset="0"/>
                              <a:ea typeface="Cambria Math" panose="02040503050406030204" pitchFamily="18" charset="0"/>
                            </a:rPr>
                            <m:t>𝐷</m:t>
                          </m:r>
                        </m:e>
                        <m:sup>
                          <m:r>
                            <a:rPr lang="en-US" altLang="zh-TW" sz="3100" b="0" i="1" smtClean="0">
                              <a:latin typeface="Cambria Math" panose="02040503050406030204" pitchFamily="18" charset="0"/>
                              <a:ea typeface="Cambria Math" panose="02040503050406030204" pitchFamily="18" charset="0"/>
                            </a:rPr>
                            <m:t>1</m:t>
                          </m:r>
                        </m:sup>
                      </m:sSup>
                      <m:sSubSup>
                        <m:sSubSupPr>
                          <m:ctrlPr>
                            <a:rPr lang="en-US" altLang="zh-TW" sz="3100" b="0" i="1" smtClean="0">
                              <a:latin typeface="Cambria Math" panose="02040503050406030204" pitchFamily="18" charset="0"/>
                              <a:ea typeface="Cambria Math" panose="02040503050406030204" pitchFamily="18" charset="0"/>
                            </a:rPr>
                          </m:ctrlPr>
                        </m:sSubSupPr>
                        <m:e>
                          <m:r>
                            <a:rPr lang="en-US" altLang="zh-TW" sz="3100" b="0" i="1" smtClean="0">
                              <a:latin typeface="Cambria Math" panose="02040503050406030204" pitchFamily="18" charset="0"/>
                              <a:ea typeface="Cambria Math" panose="02040503050406030204" pitchFamily="18" charset="0"/>
                            </a:rPr>
                            <m:t>𝜙</m:t>
                          </m:r>
                        </m:e>
                        <m:sub>
                          <m:r>
                            <a:rPr lang="en-US" altLang="zh-TW" sz="3100" b="0" i="1" smtClean="0">
                              <a:latin typeface="Cambria Math" panose="02040503050406030204" pitchFamily="18" charset="0"/>
                              <a:ea typeface="Cambria Math" panose="02040503050406030204" pitchFamily="18" charset="0"/>
                            </a:rPr>
                            <m:t>1</m:t>
                          </m:r>
                        </m:sub>
                        <m:sup>
                          <m:r>
                            <a:rPr lang="en-US" altLang="zh-TW" sz="3100" b="0" i="1" smtClean="0">
                              <a:latin typeface="Cambria Math" panose="02040503050406030204" pitchFamily="18" charset="0"/>
                              <a:ea typeface="Cambria Math" panose="02040503050406030204" pitchFamily="18" charset="0"/>
                            </a:rPr>
                            <m:t>1</m:t>
                          </m:r>
                        </m:sup>
                      </m:sSubSup>
                      <m:r>
                        <a:rPr lang="en-US" altLang="zh-TW" sz="3100" b="0" i="1" smtClean="0">
                          <a:latin typeface="Cambria Math" panose="02040503050406030204" pitchFamily="18" charset="0"/>
                          <a:ea typeface="Cambria Math" panose="02040503050406030204" pitchFamily="18" charset="0"/>
                        </a:rPr>
                        <m:t>, </m:t>
                      </m:r>
                      <m:sSup>
                        <m:sSupPr>
                          <m:ctrlPr>
                            <a:rPr lang="en-US" altLang="zh-TW" sz="3100" b="0" i="1" smtClean="0">
                              <a:latin typeface="Cambria Math" panose="02040503050406030204" pitchFamily="18" charset="0"/>
                              <a:ea typeface="Cambria Math" panose="02040503050406030204" pitchFamily="18" charset="0"/>
                            </a:rPr>
                          </m:ctrlPr>
                        </m:sSupPr>
                        <m:e>
                          <m:r>
                            <a:rPr lang="en-US" altLang="zh-TW" sz="3100" b="0" i="1" smtClean="0">
                              <a:latin typeface="Cambria Math" panose="02040503050406030204" pitchFamily="18" charset="0"/>
                              <a:ea typeface="Cambria Math" panose="02040503050406030204" pitchFamily="18" charset="0"/>
                            </a:rPr>
                            <m:t>𝐷</m:t>
                          </m:r>
                        </m:e>
                        <m:sup>
                          <m:r>
                            <a:rPr lang="en-US" altLang="zh-TW" sz="3100" b="0" i="1" smtClean="0">
                              <a:latin typeface="Cambria Math" panose="02040503050406030204" pitchFamily="18" charset="0"/>
                              <a:ea typeface="Cambria Math" panose="02040503050406030204" pitchFamily="18" charset="0"/>
                            </a:rPr>
                            <m:t>1</m:t>
                          </m:r>
                        </m:sup>
                      </m:sSup>
                      <m:sSubSup>
                        <m:sSubSupPr>
                          <m:ctrlPr>
                            <a:rPr lang="en-US" altLang="zh-TW" sz="3100" b="0" i="1" smtClean="0">
                              <a:latin typeface="Cambria Math" panose="02040503050406030204" pitchFamily="18" charset="0"/>
                              <a:ea typeface="Cambria Math" panose="02040503050406030204" pitchFamily="18" charset="0"/>
                            </a:rPr>
                          </m:ctrlPr>
                        </m:sSubSupPr>
                        <m:e>
                          <m:r>
                            <a:rPr lang="en-US" altLang="zh-TW" sz="3100" b="0" i="1" smtClean="0">
                              <a:latin typeface="Cambria Math" panose="02040503050406030204" pitchFamily="18" charset="0"/>
                              <a:ea typeface="Cambria Math" panose="02040503050406030204" pitchFamily="18" charset="0"/>
                            </a:rPr>
                            <m:t>𝜙</m:t>
                          </m:r>
                        </m:e>
                        <m:sub>
                          <m:r>
                            <a:rPr lang="en-US" altLang="zh-TW" sz="3100" b="0" i="1" smtClean="0">
                              <a:latin typeface="Cambria Math" panose="02040503050406030204" pitchFamily="18" charset="0"/>
                              <a:ea typeface="Cambria Math" panose="02040503050406030204" pitchFamily="18" charset="0"/>
                            </a:rPr>
                            <m:t>2</m:t>
                          </m:r>
                        </m:sub>
                        <m:sup>
                          <m:r>
                            <a:rPr lang="en-US" altLang="zh-TW" sz="3100" b="0" i="1" smtClean="0">
                              <a:latin typeface="Cambria Math" panose="02040503050406030204" pitchFamily="18" charset="0"/>
                              <a:ea typeface="Cambria Math" panose="02040503050406030204" pitchFamily="18" charset="0"/>
                            </a:rPr>
                            <m:t>1</m:t>
                          </m:r>
                        </m:sup>
                      </m:sSubSup>
                      <m:r>
                        <a:rPr lang="en-US" altLang="zh-TW" sz="3100" b="0" i="1" smtClean="0">
                          <a:latin typeface="Cambria Math" panose="02040503050406030204" pitchFamily="18" charset="0"/>
                          <a:ea typeface="Cambria Math" panose="02040503050406030204" pitchFamily="18" charset="0"/>
                        </a:rPr>
                        <m:t>, …, </m:t>
                      </m:r>
                      <m:sSup>
                        <m:sSupPr>
                          <m:ctrlPr>
                            <a:rPr lang="en-US" altLang="zh-TW" sz="3100" b="0" i="1" smtClean="0">
                              <a:latin typeface="Cambria Math" panose="02040503050406030204" pitchFamily="18" charset="0"/>
                              <a:ea typeface="Cambria Math" panose="02040503050406030204" pitchFamily="18" charset="0"/>
                            </a:rPr>
                          </m:ctrlPr>
                        </m:sSupPr>
                        <m:e>
                          <m:r>
                            <a:rPr lang="en-US" altLang="zh-TW" sz="3100" b="0" i="1" smtClean="0">
                              <a:latin typeface="Cambria Math" panose="02040503050406030204" pitchFamily="18" charset="0"/>
                              <a:ea typeface="Cambria Math" panose="02040503050406030204" pitchFamily="18" charset="0"/>
                            </a:rPr>
                            <m:t>𝐷</m:t>
                          </m:r>
                        </m:e>
                        <m:sup>
                          <m:r>
                            <a:rPr lang="en-US" altLang="zh-TW" sz="3100" b="0" i="1" smtClean="0">
                              <a:latin typeface="Cambria Math" panose="02040503050406030204" pitchFamily="18" charset="0"/>
                              <a:ea typeface="Cambria Math" panose="02040503050406030204" pitchFamily="18" charset="0"/>
                            </a:rPr>
                            <m:t>1</m:t>
                          </m:r>
                        </m:sup>
                      </m:sSup>
                      <m:sSubSup>
                        <m:sSubSupPr>
                          <m:ctrlPr>
                            <a:rPr lang="en-US" altLang="zh-TW" sz="3100" b="0" i="1" smtClean="0">
                              <a:latin typeface="Cambria Math" panose="02040503050406030204" pitchFamily="18" charset="0"/>
                              <a:ea typeface="Cambria Math" panose="02040503050406030204" pitchFamily="18" charset="0"/>
                            </a:rPr>
                          </m:ctrlPr>
                        </m:sSubSupPr>
                        <m:e>
                          <m:r>
                            <a:rPr lang="en-US" altLang="zh-TW" sz="3100" b="0" i="1" smtClean="0">
                              <a:latin typeface="Cambria Math" panose="02040503050406030204" pitchFamily="18" charset="0"/>
                              <a:ea typeface="Cambria Math" panose="02040503050406030204" pitchFamily="18" charset="0"/>
                            </a:rPr>
                            <m:t>𝜙</m:t>
                          </m:r>
                        </m:e>
                        <m:sub>
                          <m:r>
                            <a:rPr lang="en-US" altLang="zh-TW" sz="3100" b="0" i="1" smtClean="0">
                              <a:latin typeface="Cambria Math" panose="02040503050406030204" pitchFamily="18" charset="0"/>
                              <a:ea typeface="Cambria Math" panose="02040503050406030204" pitchFamily="18" charset="0"/>
                            </a:rPr>
                            <m:t>𝑘</m:t>
                          </m:r>
                        </m:sub>
                        <m:sup>
                          <m:r>
                            <a:rPr lang="en-US" altLang="zh-TW" sz="3100" b="0" i="1" smtClean="0">
                              <a:latin typeface="Cambria Math" panose="02040503050406030204" pitchFamily="18" charset="0"/>
                              <a:ea typeface="Cambria Math" panose="02040503050406030204" pitchFamily="18" charset="0"/>
                            </a:rPr>
                            <m:t>1</m:t>
                          </m:r>
                        </m:sup>
                      </m:sSubSup>
                      <m:r>
                        <a:rPr lang="en-US" altLang="zh-TW" sz="3100" b="0" i="1" smtClean="0">
                          <a:latin typeface="Cambria Math" panose="02040503050406030204" pitchFamily="18" charset="0"/>
                          <a:ea typeface="Cambria Math" panose="02040503050406030204" pitchFamily="18" charset="0"/>
                        </a:rPr>
                        <m:t>}</m:t>
                      </m:r>
                    </m:oMath>
                  </m:oMathPara>
                </a14:m>
                <a:endParaRPr lang="en-US" altLang="zh-TW" sz="3100" dirty="0">
                  <a:latin typeface="Cambria Math" panose="02040503050406030204" pitchFamily="18" charset="0"/>
                  <a:ea typeface="Cambria Math" panose="02040503050406030204" pitchFamily="18" charset="0"/>
                </a:endParaRPr>
              </a:p>
              <a:p>
                <a:endParaRPr lang="en-US" altLang="zh-TW" sz="3100" dirty="0">
                  <a:latin typeface="Cambria Math" panose="02040503050406030204" pitchFamily="18" charset="0"/>
                  <a:ea typeface="Cambria Math" panose="020405030504060302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769043"/>
                <a:ext cx="9071643" cy="5639398"/>
              </a:xfrm>
              <a:blipFill>
                <a:blip r:embed="rId2"/>
                <a:stretch>
                  <a:fillRect l="-2688" t="-227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18</a:t>
            </a:fld>
            <a:endParaRPr lang="zh-TW" altLang="en-US" dirty="0"/>
          </a:p>
        </p:txBody>
      </p:sp>
      <p:sp>
        <p:nvSpPr>
          <p:cNvPr id="6" name="橢圓 5"/>
          <p:cNvSpPr/>
          <p:nvPr/>
        </p:nvSpPr>
        <p:spPr>
          <a:xfrm>
            <a:off x="4305300" y="2838450"/>
            <a:ext cx="552450" cy="6286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單箭頭接點 7"/>
          <p:cNvCxnSpPr>
            <a:stCxn id="6" idx="4"/>
          </p:cNvCxnSpPr>
          <p:nvPr/>
        </p:nvCxnSpPr>
        <p:spPr>
          <a:xfrm flipH="1">
            <a:off x="4572000" y="3467100"/>
            <a:ext cx="9525" cy="5715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a:off x="6978571" y="4588742"/>
            <a:ext cx="476250" cy="647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5039819" y="4588742"/>
            <a:ext cx="0" cy="647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a:off x="5695950" y="4588742"/>
            <a:ext cx="457200" cy="647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2572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3.	Iris classification using ODL</a:t>
                </a:r>
              </a:p>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Dictionary Construction:</a:t>
                </a:r>
              </a:p>
              <a:p>
                <a14:m>
                  <m:oMathPara xmlns:m="http://schemas.openxmlformats.org/officeDocument/2006/math">
                    <m:oMathParaPr>
                      <m:jc m:val="centerGroup"/>
                    </m:oMathParaPr>
                    <m:oMath xmlns:m="http://schemas.openxmlformats.org/officeDocument/2006/math">
                      <m:func>
                        <m:funcPr>
                          <m:ctrlPr>
                            <a:rPr lang="en-US" altLang="zh-TW" sz="3100" i="1" smtClean="0">
                              <a:latin typeface="Cambria Math" panose="02040503050406030204" pitchFamily="18" charset="0"/>
                              <a:ea typeface="Cambria Math" panose="02040503050406030204" pitchFamily="18" charset="0"/>
                            </a:rPr>
                          </m:ctrlPr>
                        </m:funcPr>
                        <m:fName>
                          <m:limLow>
                            <m:limLowPr>
                              <m:ctrlPr>
                                <a:rPr lang="en-US" altLang="zh-TW" sz="3100" i="1" smtClean="0">
                                  <a:latin typeface="Cambria Math" panose="02040503050406030204" pitchFamily="18" charset="0"/>
                                  <a:ea typeface="Cambria Math" panose="02040503050406030204" pitchFamily="18" charset="0"/>
                                </a:rPr>
                              </m:ctrlPr>
                            </m:limLowPr>
                            <m:e>
                              <m:r>
                                <m:rPr>
                                  <m:sty m:val="p"/>
                                </m:rPr>
                                <a:rPr lang="en-US" altLang="zh-TW" sz="3100" i="0" smtClean="0">
                                  <a:latin typeface="Cambria Math" panose="02040503050406030204" pitchFamily="18" charset="0"/>
                                  <a:ea typeface="Cambria Math" panose="02040503050406030204" pitchFamily="18" charset="0"/>
                                </a:rPr>
                                <m:t>min</m:t>
                              </m:r>
                            </m:e>
                            <m:lim>
                              <m:r>
                                <a:rPr lang="en-US" altLang="zh-TW" sz="3100" b="0" i="1" smtClean="0">
                                  <a:latin typeface="Cambria Math" panose="02040503050406030204" pitchFamily="18" charset="0"/>
                                  <a:ea typeface="Cambria Math" panose="02040503050406030204" pitchFamily="18" charset="0"/>
                                </a:rPr>
                                <m:t>𝐷</m:t>
                              </m:r>
                              <m:r>
                                <a:rPr lang="en-US" altLang="zh-TW" sz="3100" b="0" i="1" smtClean="0">
                                  <a:latin typeface="Cambria Math" panose="02040503050406030204" pitchFamily="18" charset="0"/>
                                  <a:ea typeface="Cambria Math" panose="02040503050406030204" pitchFamily="18" charset="0"/>
                                </a:rPr>
                                <m:t>, </m:t>
                              </m:r>
                              <m:r>
                                <a:rPr lang="en-US" altLang="zh-TW" sz="3100" b="0" i="1" smtClean="0">
                                  <a:latin typeface="Cambria Math" panose="02040503050406030204" pitchFamily="18" charset="0"/>
                                  <a:ea typeface="Cambria Math" panose="02040503050406030204" pitchFamily="18" charset="0"/>
                                </a:rPr>
                                <m:t>𝜙</m:t>
                              </m:r>
                            </m:lim>
                          </m:limLow>
                        </m:fName>
                        <m:e>
                          <m:f>
                            <m:fPr>
                              <m:ctrlPr>
                                <a:rPr lang="en-US" altLang="zh-TW" sz="3100" i="1" smtClean="0">
                                  <a:latin typeface="Cambria Math" panose="02040503050406030204" pitchFamily="18" charset="0"/>
                                  <a:ea typeface="Cambria Math" panose="02040503050406030204" pitchFamily="18" charset="0"/>
                                </a:rPr>
                              </m:ctrlPr>
                            </m:fPr>
                            <m:num>
                              <m:r>
                                <a:rPr lang="en-US" altLang="zh-TW" sz="3100" b="0" i="1" smtClean="0">
                                  <a:latin typeface="Cambria Math" panose="02040503050406030204" pitchFamily="18" charset="0"/>
                                  <a:ea typeface="Cambria Math" panose="02040503050406030204" pitchFamily="18" charset="0"/>
                                </a:rPr>
                                <m:t>1</m:t>
                              </m:r>
                            </m:num>
                            <m:den>
                              <m:r>
                                <a:rPr lang="en-US" altLang="zh-TW" sz="3100" b="0" i="1" smtClean="0">
                                  <a:latin typeface="Cambria Math" panose="02040503050406030204" pitchFamily="18" charset="0"/>
                                  <a:ea typeface="Cambria Math" panose="02040503050406030204" pitchFamily="18" charset="0"/>
                                </a:rPr>
                                <m:t>𝑛</m:t>
                              </m:r>
                            </m:den>
                          </m:f>
                          <m:nary>
                            <m:naryPr>
                              <m:chr m:val="∑"/>
                              <m:ctrlPr>
                                <a:rPr lang="en-US" altLang="zh-TW" sz="3100" i="1" smtClean="0">
                                  <a:latin typeface="Cambria Math" panose="02040503050406030204" pitchFamily="18" charset="0"/>
                                  <a:ea typeface="Cambria Math" panose="02040503050406030204" pitchFamily="18" charset="0"/>
                                </a:rPr>
                              </m:ctrlPr>
                            </m:naryPr>
                            <m:sub>
                              <m:r>
                                <m:rPr>
                                  <m:brk m:alnAt="23"/>
                                </m:rPr>
                                <a:rPr lang="en-US" altLang="zh-TW" sz="3100" b="0" i="1" smtClean="0">
                                  <a:latin typeface="Cambria Math" panose="02040503050406030204" pitchFamily="18" charset="0"/>
                                  <a:ea typeface="Cambria Math" panose="02040503050406030204" pitchFamily="18" charset="0"/>
                                </a:rPr>
                                <m:t>𝑖</m:t>
                              </m:r>
                              <m:r>
                                <a:rPr lang="en-US" altLang="zh-TW" sz="3100" b="0" i="1" smtClean="0">
                                  <a:latin typeface="Cambria Math" panose="02040503050406030204" pitchFamily="18" charset="0"/>
                                  <a:ea typeface="Cambria Math" panose="02040503050406030204" pitchFamily="18" charset="0"/>
                                </a:rPr>
                                <m:t>=1</m:t>
                              </m:r>
                            </m:sub>
                            <m:sup>
                              <m:r>
                                <a:rPr lang="en-US" altLang="zh-TW" sz="3100" b="0" i="1" smtClean="0">
                                  <a:latin typeface="Cambria Math" panose="02040503050406030204" pitchFamily="18" charset="0"/>
                                  <a:ea typeface="Cambria Math" panose="02040503050406030204" pitchFamily="18" charset="0"/>
                                </a:rPr>
                                <m:t>𝑘</m:t>
                              </m:r>
                            </m:sup>
                            <m:e>
                              <m:r>
                                <a:rPr lang="en-US" altLang="zh-TW" sz="3100" b="0" i="1" smtClean="0">
                                  <a:latin typeface="Cambria Math" panose="02040503050406030204" pitchFamily="18" charset="0"/>
                                  <a:ea typeface="Cambria Math" panose="02040503050406030204" pitchFamily="18" charset="0"/>
                                </a:rPr>
                                <m:t>(</m:t>
                              </m:r>
                              <m:f>
                                <m:fPr>
                                  <m:ctrlPr>
                                    <a:rPr lang="en-US" altLang="zh-TW" sz="3100" b="0" i="1" smtClean="0">
                                      <a:latin typeface="Cambria Math" panose="02040503050406030204" pitchFamily="18" charset="0"/>
                                      <a:ea typeface="Cambria Math" panose="02040503050406030204" pitchFamily="18" charset="0"/>
                                    </a:rPr>
                                  </m:ctrlPr>
                                </m:fPr>
                                <m:num>
                                  <m:r>
                                    <a:rPr lang="en-US" altLang="zh-TW" sz="3100" b="0" i="1" smtClean="0">
                                      <a:latin typeface="Cambria Math" panose="02040503050406030204" pitchFamily="18" charset="0"/>
                                      <a:ea typeface="Cambria Math" panose="02040503050406030204" pitchFamily="18" charset="0"/>
                                    </a:rPr>
                                    <m:t>1</m:t>
                                  </m:r>
                                </m:num>
                                <m:den>
                                  <m:r>
                                    <a:rPr lang="en-US" altLang="zh-TW" sz="3100" b="0" i="1" smtClean="0">
                                      <a:latin typeface="Cambria Math" panose="02040503050406030204" pitchFamily="18" charset="0"/>
                                      <a:ea typeface="Cambria Math" panose="02040503050406030204" pitchFamily="18" charset="0"/>
                                    </a:rPr>
                                    <m:t>2</m:t>
                                  </m:r>
                                </m:den>
                              </m:f>
                              <m:sSubSup>
                                <m:sSubSupPr>
                                  <m:ctrlPr>
                                    <a:rPr lang="en-US" altLang="zh-TW" sz="3100" b="0" i="1" smtClean="0">
                                      <a:latin typeface="Cambria Math" panose="02040503050406030204" pitchFamily="18" charset="0"/>
                                      <a:ea typeface="Cambria Math" panose="02040503050406030204" pitchFamily="18" charset="0"/>
                                    </a:rPr>
                                  </m:ctrlPr>
                                </m:sSubSupPr>
                                <m:e>
                                  <m:d>
                                    <m:dPr>
                                      <m:begChr m:val="|"/>
                                      <m:endChr m:val="|"/>
                                      <m:ctrlPr>
                                        <a:rPr lang="en-US" altLang="zh-TW" sz="3100" b="0" i="1" smtClean="0">
                                          <a:latin typeface="Cambria Math" panose="02040503050406030204" pitchFamily="18" charset="0"/>
                                          <a:ea typeface="Cambria Math" panose="02040503050406030204" pitchFamily="18" charset="0"/>
                                        </a:rPr>
                                      </m:ctrlPr>
                                    </m:dPr>
                                    <m:e>
                                      <m:d>
                                        <m:dPr>
                                          <m:begChr m:val="|"/>
                                          <m:endChr m:val="|"/>
                                          <m:ctrlPr>
                                            <a:rPr lang="en-US" altLang="zh-TW" sz="3100" b="0" i="1" smtClean="0">
                                              <a:latin typeface="Cambria Math" panose="02040503050406030204" pitchFamily="18" charset="0"/>
                                              <a:ea typeface="Cambria Math" panose="02040503050406030204" pitchFamily="18" charset="0"/>
                                            </a:rPr>
                                          </m:ctrlPr>
                                        </m:dPr>
                                        <m:e>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𝑦</m:t>
                                              </m:r>
                                            </m:e>
                                            <m:sub>
                                              <m:r>
                                                <a:rPr lang="en-US" altLang="zh-TW" sz="3100" b="0" i="1" smtClean="0">
                                                  <a:latin typeface="Cambria Math" panose="02040503050406030204" pitchFamily="18" charset="0"/>
                                                  <a:ea typeface="Cambria Math" panose="02040503050406030204" pitchFamily="18" charset="0"/>
                                                </a:rPr>
                                                <m:t>𝑖</m:t>
                                              </m:r>
                                            </m:sub>
                                          </m:sSub>
                                          <m:r>
                                            <a:rPr lang="en-US" altLang="zh-TW" sz="3100" b="0" i="1" smtClean="0">
                                              <a:latin typeface="Cambria Math" panose="02040503050406030204" pitchFamily="18" charset="0"/>
                                              <a:ea typeface="Cambria Math" panose="02040503050406030204" pitchFamily="18" charset="0"/>
                                            </a:rPr>
                                            <m:t>−</m:t>
                                          </m:r>
                                          <m:r>
                                            <a:rPr lang="en-US" altLang="zh-TW" sz="3100" b="0" i="1" smtClean="0">
                                              <a:latin typeface="Cambria Math" panose="02040503050406030204" pitchFamily="18" charset="0"/>
                                              <a:ea typeface="Cambria Math" panose="02040503050406030204" pitchFamily="18" charset="0"/>
                                            </a:rPr>
                                            <m:t>𝐷</m:t>
                                          </m:r>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𝜙</m:t>
                                              </m:r>
                                            </m:e>
                                            <m:sub>
                                              <m:r>
                                                <a:rPr lang="en-US" altLang="zh-TW" sz="3100" b="0" i="1" smtClean="0">
                                                  <a:latin typeface="Cambria Math" panose="02040503050406030204" pitchFamily="18" charset="0"/>
                                                  <a:ea typeface="Cambria Math" panose="02040503050406030204" pitchFamily="18" charset="0"/>
                                                </a:rPr>
                                                <m:t>𝑖</m:t>
                                              </m:r>
                                            </m:sub>
                                          </m:sSub>
                                        </m:e>
                                      </m:d>
                                    </m:e>
                                  </m:d>
                                </m:e>
                                <m:sub>
                                  <m:r>
                                    <a:rPr lang="en-US" altLang="zh-TW" sz="3100" b="0" i="1" smtClean="0">
                                      <a:latin typeface="Cambria Math" panose="02040503050406030204" pitchFamily="18" charset="0"/>
                                      <a:ea typeface="Cambria Math" panose="02040503050406030204" pitchFamily="18" charset="0"/>
                                    </a:rPr>
                                    <m:t>2</m:t>
                                  </m:r>
                                </m:sub>
                                <m:sup>
                                  <m:r>
                                    <a:rPr lang="en-US" altLang="zh-TW" sz="3100" b="0" i="1" smtClean="0">
                                      <a:latin typeface="Cambria Math" panose="02040503050406030204" pitchFamily="18" charset="0"/>
                                      <a:ea typeface="Cambria Math" panose="02040503050406030204" pitchFamily="18" charset="0"/>
                                    </a:rPr>
                                    <m:t>2</m:t>
                                  </m:r>
                                </m:sup>
                              </m:sSubSup>
                              <m:r>
                                <a:rPr lang="en-US" altLang="zh-TW" sz="3100" b="0" i="1" smtClean="0">
                                  <a:latin typeface="Cambria Math" panose="02040503050406030204" pitchFamily="18" charset="0"/>
                                  <a:ea typeface="Cambria Math" panose="02040503050406030204" pitchFamily="18" charset="0"/>
                                </a:rPr>
                                <m:t>+</m:t>
                              </m:r>
                              <m:r>
                                <a:rPr lang="en-US" altLang="zh-TW" sz="3100" b="0" i="1" smtClean="0">
                                  <a:latin typeface="Cambria Math" panose="02040503050406030204" pitchFamily="18" charset="0"/>
                                  <a:ea typeface="Cambria Math" panose="02040503050406030204" pitchFamily="18" charset="0"/>
                                </a:rPr>
                                <m:t>𝜆</m:t>
                              </m:r>
                              <m:sSub>
                                <m:sSubPr>
                                  <m:ctrlPr>
                                    <a:rPr lang="en-US" altLang="zh-TW" sz="3100" b="0" i="1" smtClean="0">
                                      <a:latin typeface="Cambria Math" panose="02040503050406030204" pitchFamily="18" charset="0"/>
                                      <a:ea typeface="Cambria Math" panose="02040503050406030204" pitchFamily="18" charset="0"/>
                                    </a:rPr>
                                  </m:ctrlPr>
                                </m:sSubPr>
                                <m:e>
                                  <m:d>
                                    <m:dPr>
                                      <m:begChr m:val="|"/>
                                      <m:endChr m:val="|"/>
                                      <m:ctrlPr>
                                        <a:rPr lang="en-US" altLang="zh-TW" sz="3100" b="0" i="1" smtClean="0">
                                          <a:latin typeface="Cambria Math" panose="02040503050406030204" pitchFamily="18" charset="0"/>
                                          <a:ea typeface="Cambria Math" panose="02040503050406030204" pitchFamily="18" charset="0"/>
                                        </a:rPr>
                                      </m:ctrlPr>
                                    </m:dPr>
                                    <m:e>
                                      <m:d>
                                        <m:dPr>
                                          <m:begChr m:val="|"/>
                                          <m:endChr m:val="|"/>
                                          <m:ctrlPr>
                                            <a:rPr lang="en-US" altLang="zh-TW" sz="3100" b="0" i="1" smtClean="0">
                                              <a:latin typeface="Cambria Math" panose="02040503050406030204" pitchFamily="18" charset="0"/>
                                              <a:ea typeface="Cambria Math" panose="02040503050406030204" pitchFamily="18" charset="0"/>
                                            </a:rPr>
                                          </m:ctrlPr>
                                        </m:dPr>
                                        <m:e>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𝑎</m:t>
                                              </m:r>
                                            </m:e>
                                            <m:sub>
                                              <m:r>
                                                <a:rPr lang="en-US" altLang="zh-TW" sz="3100" b="0" i="1" smtClean="0">
                                                  <a:latin typeface="Cambria Math" panose="02040503050406030204" pitchFamily="18" charset="0"/>
                                                  <a:ea typeface="Cambria Math" panose="02040503050406030204" pitchFamily="18" charset="0"/>
                                                </a:rPr>
                                                <m:t>𝑖</m:t>
                                              </m:r>
                                            </m:sub>
                                          </m:sSub>
                                        </m:e>
                                      </m:d>
                                    </m:e>
                                  </m:d>
                                </m:e>
                                <m:sub>
                                  <m:r>
                                    <a:rPr lang="en-US" altLang="zh-TW" sz="3100" b="0" i="1" smtClean="0">
                                      <a:latin typeface="Cambria Math" panose="02040503050406030204" pitchFamily="18" charset="0"/>
                                      <a:ea typeface="Cambria Math" panose="02040503050406030204" pitchFamily="18" charset="0"/>
                                    </a:rPr>
                                    <m:t>1</m:t>
                                  </m:r>
                                </m:sub>
                              </m:sSub>
                              <m:r>
                                <a:rPr lang="en-US" altLang="zh-TW" sz="3100" b="0" i="1" smtClean="0">
                                  <a:latin typeface="Cambria Math" panose="02040503050406030204" pitchFamily="18" charset="0"/>
                                  <a:ea typeface="Cambria Math" panose="02040503050406030204" pitchFamily="18" charset="0"/>
                                </a:rPr>
                                <m:t>)</m:t>
                              </m:r>
                            </m:e>
                          </m:nary>
                        </m:e>
                      </m:func>
                    </m:oMath>
                  </m:oMathPara>
                </a14:m>
                <a:endParaRPr lang="en-US" altLang="zh-TW" sz="3100" dirty="0">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Classification:</a:t>
                </a:r>
              </a:p>
              <a:p>
                <a:pPr/>
                <a14:m>
                  <m:oMathPara xmlns:m="http://schemas.openxmlformats.org/officeDocument/2006/math">
                    <m:oMathParaPr>
                      <m:jc m:val="center"/>
                    </m:oMathParaPr>
                    <m:oMath xmlns:m="http://schemas.openxmlformats.org/officeDocument/2006/math">
                      <m:sSup>
                        <m:sSupPr>
                          <m:ctrlPr>
                            <a:rPr lang="en-US" altLang="zh-TW" sz="3100" b="0" i="1" smtClean="0">
                              <a:latin typeface="Cambria Math" panose="02040503050406030204" pitchFamily="18" charset="0"/>
                              <a:ea typeface="Cambria Math" panose="02040503050406030204" pitchFamily="18" charset="0"/>
                            </a:rPr>
                          </m:ctrlPr>
                        </m:sSupPr>
                        <m:e>
                          <m:r>
                            <a:rPr lang="en-US" altLang="zh-TW" sz="3100" b="0" i="1" smtClean="0">
                              <a:latin typeface="Cambria Math" panose="02040503050406030204" pitchFamily="18" charset="0"/>
                              <a:ea typeface="Cambria Math" panose="02040503050406030204" pitchFamily="18" charset="0"/>
                            </a:rPr>
                            <m:t>𝜙</m:t>
                          </m:r>
                        </m:e>
                        <m:sup>
                          <m:r>
                            <a:rPr lang="en-US" altLang="zh-TW" sz="3100" b="0" i="1" smtClean="0">
                              <a:latin typeface="Cambria Math" panose="02040503050406030204" pitchFamily="18" charset="0"/>
                              <a:ea typeface="Cambria Math" panose="02040503050406030204" pitchFamily="18" charset="0"/>
                            </a:rPr>
                            <m:t>𝑗</m:t>
                          </m:r>
                        </m:sup>
                      </m:sSup>
                      <m:r>
                        <a:rPr lang="en-US" altLang="zh-TW" sz="3100" b="0" i="1" smtClean="0">
                          <a:latin typeface="Cambria Math" panose="02040503050406030204" pitchFamily="18" charset="0"/>
                          <a:ea typeface="Cambria Math" panose="02040503050406030204" pitchFamily="18" charset="0"/>
                        </a:rPr>
                        <m:t>=</m:t>
                      </m:r>
                      <m:r>
                        <a:rPr lang="en-US" altLang="zh-TW" sz="3100" b="0" i="1" smtClean="0">
                          <a:latin typeface="Cambria Math" panose="02040503050406030204" pitchFamily="18" charset="0"/>
                          <a:ea typeface="Cambria Math" panose="02040503050406030204" pitchFamily="18" charset="0"/>
                        </a:rPr>
                        <m:t>𝑎𝑟𝑔</m:t>
                      </m:r>
                      <m:func>
                        <m:funcPr>
                          <m:ctrlPr>
                            <a:rPr lang="en-US" altLang="zh-TW" sz="3100" b="0" i="1" smtClean="0">
                              <a:latin typeface="Cambria Math" panose="02040503050406030204" pitchFamily="18" charset="0"/>
                              <a:ea typeface="Cambria Math" panose="02040503050406030204" pitchFamily="18" charset="0"/>
                            </a:rPr>
                          </m:ctrlPr>
                        </m:funcPr>
                        <m:fName>
                          <m:limLow>
                            <m:limLowPr>
                              <m:ctrlPr>
                                <a:rPr lang="en-US" altLang="zh-TW" sz="3100" b="0" i="1" smtClean="0">
                                  <a:latin typeface="Cambria Math" panose="02040503050406030204" pitchFamily="18" charset="0"/>
                                  <a:ea typeface="Cambria Math" panose="02040503050406030204" pitchFamily="18" charset="0"/>
                                </a:rPr>
                              </m:ctrlPr>
                            </m:limLowPr>
                            <m:e>
                              <m:r>
                                <m:rPr>
                                  <m:sty m:val="p"/>
                                </m:rPr>
                                <a:rPr lang="en-US" altLang="zh-TW" sz="3100" b="0" i="0" smtClean="0">
                                  <a:latin typeface="Cambria Math" panose="02040503050406030204" pitchFamily="18" charset="0"/>
                                  <a:ea typeface="Cambria Math" panose="02040503050406030204" pitchFamily="18" charset="0"/>
                                </a:rPr>
                                <m:t>min</m:t>
                              </m:r>
                            </m:e>
                            <m:lim>
                              <m:r>
                                <a:rPr lang="en-US" altLang="zh-TW" sz="3100" b="0" i="1" smtClean="0">
                                  <a:latin typeface="Cambria Math" panose="02040503050406030204" pitchFamily="18" charset="0"/>
                                  <a:ea typeface="Cambria Math" panose="02040503050406030204" pitchFamily="18" charset="0"/>
                                </a:rPr>
                                <m:t>𝜙</m:t>
                              </m:r>
                            </m:lim>
                          </m:limLow>
                        </m:fName>
                        <m:e>
                          <m:f>
                            <m:fPr>
                              <m:ctrlPr>
                                <a:rPr lang="en-US" altLang="zh-TW" sz="3100" b="0" i="1" smtClean="0">
                                  <a:latin typeface="Cambria Math" panose="02040503050406030204" pitchFamily="18" charset="0"/>
                                  <a:ea typeface="Cambria Math" panose="02040503050406030204" pitchFamily="18" charset="0"/>
                                </a:rPr>
                              </m:ctrlPr>
                            </m:fPr>
                            <m:num>
                              <m:r>
                                <a:rPr lang="en-US" altLang="zh-TW" sz="3100" b="0" i="1" smtClean="0">
                                  <a:latin typeface="Cambria Math" panose="02040503050406030204" pitchFamily="18" charset="0"/>
                                  <a:ea typeface="Cambria Math" panose="02040503050406030204" pitchFamily="18" charset="0"/>
                                </a:rPr>
                                <m:t>1</m:t>
                              </m:r>
                            </m:num>
                            <m:den>
                              <m:r>
                                <a:rPr lang="en-US" altLang="zh-TW" sz="3100" b="0" i="1" smtClean="0">
                                  <a:latin typeface="Cambria Math" panose="02040503050406030204" pitchFamily="18" charset="0"/>
                                  <a:ea typeface="Cambria Math" panose="02040503050406030204" pitchFamily="18" charset="0"/>
                                </a:rPr>
                                <m:t>2</m:t>
                              </m:r>
                            </m:den>
                          </m:f>
                          <m:sSubSup>
                            <m:sSubSupPr>
                              <m:ctrlPr>
                                <a:rPr lang="en-US" altLang="zh-TW" sz="3100" b="0" i="1" smtClean="0">
                                  <a:latin typeface="Cambria Math" panose="02040503050406030204" pitchFamily="18" charset="0"/>
                                  <a:ea typeface="Cambria Math" panose="02040503050406030204" pitchFamily="18" charset="0"/>
                                </a:rPr>
                              </m:ctrlPr>
                            </m:sSubSupPr>
                            <m:e>
                              <m:d>
                                <m:dPr>
                                  <m:begChr m:val="|"/>
                                  <m:endChr m:val="|"/>
                                  <m:ctrlPr>
                                    <a:rPr lang="en-US" altLang="zh-TW" sz="3100" b="0" i="1" smtClean="0">
                                      <a:latin typeface="Cambria Math" panose="02040503050406030204" pitchFamily="18" charset="0"/>
                                      <a:ea typeface="Cambria Math" panose="02040503050406030204" pitchFamily="18" charset="0"/>
                                    </a:rPr>
                                  </m:ctrlPr>
                                </m:dPr>
                                <m:e>
                                  <m:d>
                                    <m:dPr>
                                      <m:begChr m:val="|"/>
                                      <m:endChr m:val="|"/>
                                      <m:ctrlPr>
                                        <a:rPr lang="en-US" altLang="zh-TW" sz="3100" b="0" i="1" smtClean="0">
                                          <a:latin typeface="Cambria Math" panose="02040503050406030204" pitchFamily="18" charset="0"/>
                                          <a:ea typeface="Cambria Math" panose="02040503050406030204" pitchFamily="18" charset="0"/>
                                        </a:rPr>
                                      </m:ctrlPr>
                                    </m:dPr>
                                    <m:e>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𝑏</m:t>
                                          </m:r>
                                        </m:e>
                                        <m:sub>
                                          <m:r>
                                            <a:rPr lang="en-US" altLang="zh-TW" sz="3100" b="0" i="1" smtClean="0">
                                              <a:latin typeface="Cambria Math" panose="02040503050406030204" pitchFamily="18" charset="0"/>
                                              <a:ea typeface="Cambria Math" panose="02040503050406030204" pitchFamily="18" charset="0"/>
                                            </a:rPr>
                                            <m:t>𝑗</m:t>
                                          </m:r>
                                        </m:sub>
                                      </m:sSub>
                                      <m:r>
                                        <a:rPr lang="en-US" altLang="zh-TW" sz="3100" b="0" i="1" smtClean="0">
                                          <a:latin typeface="Cambria Math" panose="02040503050406030204" pitchFamily="18" charset="0"/>
                                          <a:ea typeface="Cambria Math" panose="02040503050406030204" pitchFamily="18" charset="0"/>
                                        </a:rPr>
                                        <m:t>−</m:t>
                                      </m:r>
                                      <m:r>
                                        <a:rPr lang="en-US" altLang="zh-TW" sz="3100" b="0" i="1" smtClean="0">
                                          <a:latin typeface="Cambria Math" panose="02040503050406030204" pitchFamily="18" charset="0"/>
                                          <a:ea typeface="Cambria Math" panose="02040503050406030204" pitchFamily="18" charset="0"/>
                                        </a:rPr>
                                        <m:t>𝐷</m:t>
                                      </m:r>
                                      <m:sSub>
                                        <m:sSubPr>
                                          <m:ctrlPr>
                                            <a:rPr lang="en-US" altLang="zh-TW" sz="3100" b="0" i="1" smtClean="0">
                                              <a:latin typeface="Cambria Math" panose="02040503050406030204" pitchFamily="18" charset="0"/>
                                              <a:ea typeface="Cambria Math" panose="02040503050406030204" pitchFamily="18" charset="0"/>
                                            </a:rPr>
                                          </m:ctrlPr>
                                        </m:sSubPr>
                                        <m:e>
                                          <m:r>
                                            <a:rPr lang="en-US" altLang="zh-TW" sz="3100" b="0" i="1" smtClean="0">
                                              <a:latin typeface="Cambria Math" panose="02040503050406030204" pitchFamily="18" charset="0"/>
                                              <a:ea typeface="Cambria Math" panose="02040503050406030204" pitchFamily="18" charset="0"/>
                                            </a:rPr>
                                            <m:t>𝜙</m:t>
                                          </m:r>
                                        </m:e>
                                        <m:sub>
                                          <m:r>
                                            <a:rPr lang="en-US" altLang="zh-TW" sz="3100" b="0" i="1" smtClean="0">
                                              <a:latin typeface="Cambria Math" panose="02040503050406030204" pitchFamily="18" charset="0"/>
                                              <a:ea typeface="Cambria Math" panose="02040503050406030204" pitchFamily="18" charset="0"/>
                                            </a:rPr>
                                            <m:t>𝑗</m:t>
                                          </m:r>
                                        </m:sub>
                                      </m:sSub>
                                    </m:e>
                                  </m:d>
                                </m:e>
                              </m:d>
                            </m:e>
                            <m:sub>
                              <m:r>
                                <a:rPr lang="en-US" altLang="zh-TW" sz="3100" b="0" i="1" smtClean="0">
                                  <a:latin typeface="Cambria Math" panose="02040503050406030204" pitchFamily="18" charset="0"/>
                                  <a:ea typeface="Cambria Math" panose="02040503050406030204" pitchFamily="18" charset="0"/>
                                </a:rPr>
                                <m:t>2</m:t>
                              </m:r>
                            </m:sub>
                            <m:sup>
                              <m:r>
                                <a:rPr lang="en-US" altLang="zh-TW" sz="3100" b="0" i="1" smtClean="0">
                                  <a:latin typeface="Cambria Math" panose="02040503050406030204" pitchFamily="18" charset="0"/>
                                  <a:ea typeface="Cambria Math" panose="02040503050406030204" pitchFamily="18" charset="0"/>
                                </a:rPr>
                                <m:t>2</m:t>
                              </m:r>
                            </m:sup>
                          </m:sSubSup>
                        </m:e>
                      </m:func>
                    </m:oMath>
                  </m:oMathPara>
                </a14:m>
                <a:endParaRPr lang="en-US" altLang="zh-TW" sz="3100" dirty="0">
                  <a:latin typeface="Cambria Math" panose="02040503050406030204" pitchFamily="18" charset="0"/>
                  <a:ea typeface="Cambria Math" panose="020405030504060302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769043"/>
                <a:ext cx="9071643" cy="5639398"/>
              </a:xfrm>
              <a:blipFill>
                <a:blip r:embed="rId2"/>
                <a:stretch>
                  <a:fillRect l="-2688" t="-227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19</a:t>
            </a:fld>
            <a:endParaRPr lang="zh-TW" altLang="en-US" dirty="0"/>
          </a:p>
        </p:txBody>
      </p:sp>
    </p:spTree>
    <p:extLst>
      <p:ext uri="{BB962C8B-B14F-4D97-AF65-F5344CB8AC3E}">
        <p14:creationId xmlns:p14="http://schemas.microsoft.com/office/powerpoint/2010/main" val="4240979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4.	Iris Adjudication</a:t>
            </a:r>
          </a:p>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Use Hamming distance to adjudicate.</a:t>
            </a:r>
          </a:p>
          <a:p>
            <a:pPr marL="1143000" lvl="1" indent="-457200"/>
            <a:r>
              <a:rPr lang="en-US" altLang="zh-TW" sz="2800" dirty="0">
                <a:latin typeface="Cambria Math" panose="02040503050406030204" pitchFamily="18" charset="0"/>
                <a:ea typeface="Cambria Math" panose="02040503050406030204" pitchFamily="18" charset="0"/>
              </a:rPr>
              <a:t>A=1001001100</a:t>
            </a:r>
          </a:p>
          <a:p>
            <a:pPr marL="1143000" lvl="1" indent="-457200"/>
            <a:r>
              <a:rPr lang="en-US" altLang="zh-TW" sz="2800" dirty="0">
                <a:latin typeface="Cambria Math" panose="02040503050406030204" pitchFamily="18" charset="0"/>
                <a:ea typeface="Cambria Math" panose="02040503050406030204" pitchFamily="18" charset="0"/>
              </a:rPr>
              <a:t>B=0001011001</a:t>
            </a:r>
          </a:p>
          <a:p>
            <a:pPr marL="1143000" lvl="1" indent="-457200"/>
            <a:r>
              <a:rPr lang="en-US" altLang="zh-TW" sz="2800" dirty="0">
                <a:latin typeface="Cambria Math" panose="02040503050406030204" pitchFamily="18" charset="0"/>
                <a:ea typeface="Cambria Math" panose="02040503050406030204" pitchFamily="18" charset="0"/>
              </a:rPr>
              <a:t>Hamming distance=4/10=0.4</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20</a:t>
            </a:fld>
            <a:endParaRPr lang="zh-TW" altLang="en-US" dirty="0"/>
          </a:p>
        </p:txBody>
      </p:sp>
    </p:spTree>
    <p:extLst>
      <p:ext uri="{BB962C8B-B14F-4D97-AF65-F5344CB8AC3E}">
        <p14:creationId xmlns:p14="http://schemas.microsoft.com/office/powerpoint/2010/main" val="2116249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4.	Iris Adjudication</a:t>
            </a:r>
          </a:p>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Three colors: green, yellow, and red</a:t>
            </a:r>
            <a:endParaRPr lang="en-US" altLang="zh-TW" sz="23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21</a:t>
            </a:fld>
            <a:endParaRPr lang="zh-TW" altLang="en-US" dirty="0"/>
          </a:p>
        </p:txBody>
      </p:sp>
      <p:pic>
        <p:nvPicPr>
          <p:cNvPr id="6" name="圖片 5"/>
          <p:cNvPicPr>
            <a:picLocks/>
          </p:cNvPicPr>
          <p:nvPr/>
        </p:nvPicPr>
        <p:blipFill>
          <a:blip r:embed="rId2"/>
          <a:stretch>
            <a:fillRect/>
          </a:stretch>
        </p:blipFill>
        <p:spPr>
          <a:xfrm>
            <a:off x="867869" y="3174068"/>
            <a:ext cx="8343900" cy="3973732"/>
          </a:xfrm>
          <a:prstGeom prst="rect">
            <a:avLst/>
          </a:prstGeom>
        </p:spPr>
      </p:pic>
    </p:spTree>
    <p:extLst>
      <p:ext uri="{BB962C8B-B14F-4D97-AF65-F5344CB8AC3E}">
        <p14:creationId xmlns:p14="http://schemas.microsoft.com/office/powerpoint/2010/main" val="2605627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Proposed Method</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Step 4.	Iris Adjudication</a:t>
            </a:r>
          </a:p>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Three colors: green, yellow, and red</a:t>
            </a:r>
            <a:endParaRPr lang="en-US" altLang="zh-TW" sz="23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22</a:t>
            </a:fld>
            <a:endParaRPr lang="zh-TW" altLang="en-US" dirty="0"/>
          </a:p>
        </p:txBody>
      </p:sp>
      <p:pic>
        <p:nvPicPr>
          <p:cNvPr id="6" name="圖片 5"/>
          <p:cNvPicPr>
            <a:picLocks noChangeAspect="1"/>
          </p:cNvPicPr>
          <p:nvPr/>
        </p:nvPicPr>
        <p:blipFill>
          <a:blip r:embed="rId2"/>
          <a:stretch>
            <a:fillRect/>
          </a:stretch>
        </p:blipFill>
        <p:spPr>
          <a:xfrm>
            <a:off x="786906" y="2978150"/>
            <a:ext cx="8505825" cy="4581525"/>
          </a:xfrm>
          <a:prstGeom prst="rect">
            <a:avLst/>
          </a:prstGeom>
        </p:spPr>
      </p:pic>
    </p:spTree>
    <p:extLst>
      <p:ext uri="{BB962C8B-B14F-4D97-AF65-F5344CB8AC3E}">
        <p14:creationId xmlns:p14="http://schemas.microsoft.com/office/powerpoint/2010/main" val="1009266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Experimental Result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457200" indent="-457200">
              <a:buFont typeface="Arial" panose="020B0604020202020204" pitchFamily="34" charset="0"/>
              <a:buChar char="•"/>
            </a:pPr>
            <a:r>
              <a:rPr lang="en-US" altLang="zh-TW" sz="3100" dirty="0">
                <a:latin typeface="Cambria Math" panose="02040503050406030204" pitchFamily="18" charset="0"/>
                <a:ea typeface="Cambria Math" panose="02040503050406030204" pitchFamily="18" charset="0"/>
              </a:rPr>
              <a:t>UPOL iris database: 224 training data and 128 testing data</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23</a:t>
            </a:fld>
            <a:endParaRPr lang="zh-TW" altLang="en-US" dirty="0"/>
          </a:p>
        </p:txBody>
      </p:sp>
      <p:pic>
        <p:nvPicPr>
          <p:cNvPr id="5" name="圖片 4"/>
          <p:cNvPicPr>
            <a:picLocks noChangeAspect="1"/>
          </p:cNvPicPr>
          <p:nvPr/>
        </p:nvPicPr>
        <p:blipFill>
          <a:blip r:embed="rId2"/>
          <a:stretch>
            <a:fillRect/>
          </a:stretch>
        </p:blipFill>
        <p:spPr>
          <a:xfrm>
            <a:off x="1548906" y="2729660"/>
            <a:ext cx="6981825" cy="4791075"/>
          </a:xfrm>
          <a:prstGeom prst="rect">
            <a:avLst/>
          </a:prstGeom>
        </p:spPr>
      </p:pic>
    </p:spTree>
    <p:extLst>
      <p:ext uri="{BB962C8B-B14F-4D97-AF65-F5344CB8AC3E}">
        <p14:creationId xmlns:p14="http://schemas.microsoft.com/office/powerpoint/2010/main" val="1504721635"/>
      </p:ext>
    </p:extLst>
  </p:cSld>
  <p:clrMapOvr>
    <a:masterClrMapping/>
  </p:clrMapOvr>
</p:sld>
</file>

<file path=ppt/theme/theme1.xml><?xml version="1.0" encoding="utf-8"?>
<a:theme xmlns:a="http://schemas.openxmlformats.org/drawingml/2006/main" name="預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18598</TotalTime>
  <Words>322</Words>
  <Application>Microsoft Office PowerPoint</Application>
  <PresentationFormat>自訂</PresentationFormat>
  <Paragraphs>101</Paragraphs>
  <Slides>23</Slides>
  <Notes>1</Notes>
  <HiddenSlides>0</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23</vt:i4>
      </vt:variant>
    </vt:vector>
  </HeadingPairs>
  <TitlesOfParts>
    <vt:vector size="36" baseType="lpstr">
      <vt:lpstr>Liberation Sans</vt:lpstr>
      <vt:lpstr>Liberation Sans Narrow</vt:lpstr>
      <vt:lpstr>Liberation Serif</vt:lpstr>
      <vt:lpstr>Mangal</vt:lpstr>
      <vt:lpstr>微軟正黑體</vt:lpstr>
      <vt:lpstr>新細明體</vt:lpstr>
      <vt:lpstr>Arial</vt:lpstr>
      <vt:lpstr>Calibri</vt:lpstr>
      <vt:lpstr>Cambria Math</vt:lpstr>
      <vt:lpstr>Ebrima</vt:lpstr>
      <vt:lpstr>Sitka Subheading</vt:lpstr>
      <vt:lpstr>Tahoma</vt:lpstr>
      <vt:lpstr>預設</vt:lpstr>
      <vt:lpstr>International Conference of the Biometrics Special Interest Group (BIOSIG), Darmstadt, Germany, 2015 N. Pattabhi Ramaiah, C. Krishna Mohan, and N. Srilatha</vt:lpstr>
      <vt:lpstr>Abstract (1/2)</vt:lpstr>
      <vt:lpstr>Abstract (2/2)</vt:lpstr>
      <vt:lpstr>Introduction</vt:lpstr>
      <vt:lpstr>Introduction</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lpstr>Experimental 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Communications of the ACM June 1975 Volume 18 Number 6 D.S. Hirschberg Princeton University</dc:title>
  <dc:creator>Shecil</dc:creator>
  <cp:lastModifiedBy>whfu</cp:lastModifiedBy>
  <cp:revision>300</cp:revision>
  <dcterms:created xsi:type="dcterms:W3CDTF">2015-10-08T13:19:19Z</dcterms:created>
  <dcterms:modified xsi:type="dcterms:W3CDTF">2017-07-25T10:17:26Z</dcterms:modified>
</cp:coreProperties>
</file>