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76" autoAdjust="0"/>
    <p:restoredTop sz="94660"/>
  </p:normalViewPr>
  <p:slideViewPr>
    <p:cSldViewPr snapToGrid="0">
      <p:cViewPr varScale="1">
        <p:scale>
          <a:sx n="72" d="100"/>
          <a:sy n="72"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6B62BE-14FA-4D01-8DB2-9DAFD9D2746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1410645-3358-4D52-BC21-ED7D2C6F91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a:extLst>
              <a:ext uri="{FF2B5EF4-FFF2-40B4-BE49-F238E27FC236}">
                <a16:creationId xmlns:a16="http://schemas.microsoft.com/office/drawing/2014/main" id="{0A874A05-1B7E-44D1-A00C-697EEC90C4F1}"/>
              </a:ext>
            </a:extLst>
          </p:cNvPr>
          <p:cNvSpPr>
            <a:spLocks noGrp="1"/>
          </p:cNvSpPr>
          <p:nvPr>
            <p:ph type="dt" sz="half" idx="10"/>
          </p:nvPr>
        </p:nvSpPr>
        <p:spPr/>
        <p:txBody>
          <a:bodyPr/>
          <a:lstStyle/>
          <a:p>
            <a:fld id="{89D1E3F5-7AED-4798-9D9B-0DF6DB6D23EC}" type="datetimeFigureOut">
              <a:rPr lang="zh-TW" altLang="en-US" smtClean="0"/>
              <a:t>2017/7/25</a:t>
            </a:fld>
            <a:endParaRPr lang="zh-TW" altLang="en-US"/>
          </a:p>
        </p:txBody>
      </p:sp>
      <p:sp>
        <p:nvSpPr>
          <p:cNvPr id="5" name="頁尾版面配置區 4">
            <a:extLst>
              <a:ext uri="{FF2B5EF4-FFF2-40B4-BE49-F238E27FC236}">
                <a16:creationId xmlns:a16="http://schemas.microsoft.com/office/drawing/2014/main" id="{CEEA1480-A747-4889-988E-C912A09DC2F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6FFD3CC-A483-49E7-8613-BFB9AA7E3436}"/>
              </a:ext>
            </a:extLst>
          </p:cNvPr>
          <p:cNvSpPr>
            <a:spLocks noGrp="1"/>
          </p:cNvSpPr>
          <p:nvPr>
            <p:ph type="sldNum" sz="quarter" idx="12"/>
          </p:nvPr>
        </p:nvSpPr>
        <p:spPr/>
        <p:txBody>
          <a:bodyPr/>
          <a:lstStyle/>
          <a:p>
            <a:fld id="{C80545EC-8A0C-4257-9B45-49DC7CD42FAB}" type="slidenum">
              <a:rPr lang="zh-TW" altLang="en-US" smtClean="0"/>
              <a:t>‹#›</a:t>
            </a:fld>
            <a:endParaRPr lang="zh-TW" altLang="en-US"/>
          </a:p>
        </p:txBody>
      </p:sp>
    </p:spTree>
    <p:extLst>
      <p:ext uri="{BB962C8B-B14F-4D97-AF65-F5344CB8AC3E}">
        <p14:creationId xmlns:p14="http://schemas.microsoft.com/office/powerpoint/2010/main" val="205792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E1C4EC-7C14-4814-BD9E-6C579FE987E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9BBFBE8-F610-4A50-8382-AABAF21B32DB}"/>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BAA3EE2-79E5-4E62-BF5F-2B62F3784E4A}"/>
              </a:ext>
            </a:extLst>
          </p:cNvPr>
          <p:cNvSpPr>
            <a:spLocks noGrp="1"/>
          </p:cNvSpPr>
          <p:nvPr>
            <p:ph type="dt" sz="half" idx="10"/>
          </p:nvPr>
        </p:nvSpPr>
        <p:spPr/>
        <p:txBody>
          <a:bodyPr/>
          <a:lstStyle/>
          <a:p>
            <a:fld id="{89D1E3F5-7AED-4798-9D9B-0DF6DB6D23EC}" type="datetimeFigureOut">
              <a:rPr lang="zh-TW" altLang="en-US" smtClean="0"/>
              <a:t>2017/7/25</a:t>
            </a:fld>
            <a:endParaRPr lang="zh-TW" altLang="en-US"/>
          </a:p>
        </p:txBody>
      </p:sp>
      <p:sp>
        <p:nvSpPr>
          <p:cNvPr id="5" name="頁尾版面配置區 4">
            <a:extLst>
              <a:ext uri="{FF2B5EF4-FFF2-40B4-BE49-F238E27FC236}">
                <a16:creationId xmlns:a16="http://schemas.microsoft.com/office/drawing/2014/main" id="{CF808555-3A79-4580-B4A4-DBC756BA58D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4B5D420-1762-45FE-B40E-FD2C25D088CA}"/>
              </a:ext>
            </a:extLst>
          </p:cNvPr>
          <p:cNvSpPr>
            <a:spLocks noGrp="1"/>
          </p:cNvSpPr>
          <p:nvPr>
            <p:ph type="sldNum" sz="quarter" idx="12"/>
          </p:nvPr>
        </p:nvSpPr>
        <p:spPr/>
        <p:txBody>
          <a:bodyPr/>
          <a:lstStyle/>
          <a:p>
            <a:fld id="{C80545EC-8A0C-4257-9B45-49DC7CD42FAB}" type="slidenum">
              <a:rPr lang="zh-TW" altLang="en-US" smtClean="0"/>
              <a:t>‹#›</a:t>
            </a:fld>
            <a:endParaRPr lang="zh-TW" altLang="en-US"/>
          </a:p>
        </p:txBody>
      </p:sp>
    </p:spTree>
    <p:extLst>
      <p:ext uri="{BB962C8B-B14F-4D97-AF65-F5344CB8AC3E}">
        <p14:creationId xmlns:p14="http://schemas.microsoft.com/office/powerpoint/2010/main" val="2446217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65C4DD-B44A-4A51-ACC0-254CE6BA001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2B84729B-BD9D-4885-9B96-F48BD98959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25001ABF-4E18-4C64-A9D9-A22C9C48ABE1}"/>
              </a:ext>
            </a:extLst>
          </p:cNvPr>
          <p:cNvSpPr>
            <a:spLocks noGrp="1"/>
          </p:cNvSpPr>
          <p:nvPr>
            <p:ph type="dt" sz="half" idx="10"/>
          </p:nvPr>
        </p:nvSpPr>
        <p:spPr/>
        <p:txBody>
          <a:bodyPr/>
          <a:lstStyle/>
          <a:p>
            <a:fld id="{89D1E3F5-7AED-4798-9D9B-0DF6DB6D23EC}" type="datetimeFigureOut">
              <a:rPr lang="zh-TW" altLang="en-US" smtClean="0"/>
              <a:t>2017/7/25</a:t>
            </a:fld>
            <a:endParaRPr lang="zh-TW" altLang="en-US"/>
          </a:p>
        </p:txBody>
      </p:sp>
      <p:sp>
        <p:nvSpPr>
          <p:cNvPr id="5" name="頁尾版面配置區 4">
            <a:extLst>
              <a:ext uri="{FF2B5EF4-FFF2-40B4-BE49-F238E27FC236}">
                <a16:creationId xmlns:a16="http://schemas.microsoft.com/office/drawing/2014/main" id="{E0EA862D-0E5C-4B08-97F3-65E79DA6475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00D9D74-485D-4079-8E23-2905E662EE71}"/>
              </a:ext>
            </a:extLst>
          </p:cNvPr>
          <p:cNvSpPr>
            <a:spLocks noGrp="1"/>
          </p:cNvSpPr>
          <p:nvPr>
            <p:ph type="sldNum" sz="quarter" idx="12"/>
          </p:nvPr>
        </p:nvSpPr>
        <p:spPr/>
        <p:txBody>
          <a:bodyPr/>
          <a:lstStyle/>
          <a:p>
            <a:fld id="{C80545EC-8A0C-4257-9B45-49DC7CD42FAB}" type="slidenum">
              <a:rPr lang="zh-TW" altLang="en-US" smtClean="0"/>
              <a:t>‹#›</a:t>
            </a:fld>
            <a:endParaRPr lang="zh-TW" altLang="en-US"/>
          </a:p>
        </p:txBody>
      </p:sp>
    </p:spTree>
    <p:extLst>
      <p:ext uri="{BB962C8B-B14F-4D97-AF65-F5344CB8AC3E}">
        <p14:creationId xmlns:p14="http://schemas.microsoft.com/office/powerpoint/2010/main" val="548939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4D9A8A-D939-4950-BBD1-3B2DBB8B1CB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6C11E1F-A38A-403D-90C7-31A75B7F677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8994E8A9-12A3-4401-B2B0-5DE2AB524F5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8B24FF-F523-4482-A18B-CCB933708030}"/>
              </a:ext>
            </a:extLst>
          </p:cNvPr>
          <p:cNvSpPr>
            <a:spLocks noGrp="1"/>
          </p:cNvSpPr>
          <p:nvPr>
            <p:ph type="dt" sz="half" idx="10"/>
          </p:nvPr>
        </p:nvSpPr>
        <p:spPr/>
        <p:txBody>
          <a:bodyPr/>
          <a:lstStyle/>
          <a:p>
            <a:fld id="{89D1E3F5-7AED-4798-9D9B-0DF6DB6D23EC}" type="datetimeFigureOut">
              <a:rPr lang="zh-TW" altLang="en-US" smtClean="0"/>
              <a:t>2017/7/25</a:t>
            </a:fld>
            <a:endParaRPr lang="zh-TW" altLang="en-US"/>
          </a:p>
        </p:txBody>
      </p:sp>
      <p:sp>
        <p:nvSpPr>
          <p:cNvPr id="6" name="頁尾版面配置區 5">
            <a:extLst>
              <a:ext uri="{FF2B5EF4-FFF2-40B4-BE49-F238E27FC236}">
                <a16:creationId xmlns:a16="http://schemas.microsoft.com/office/drawing/2014/main" id="{7F134E5F-08A3-4623-9478-5FA68A7EE5A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1F70700-DDD9-4F0E-85F6-A1A91DB764C8}"/>
              </a:ext>
            </a:extLst>
          </p:cNvPr>
          <p:cNvSpPr>
            <a:spLocks noGrp="1"/>
          </p:cNvSpPr>
          <p:nvPr>
            <p:ph type="sldNum" sz="quarter" idx="12"/>
          </p:nvPr>
        </p:nvSpPr>
        <p:spPr/>
        <p:txBody>
          <a:bodyPr/>
          <a:lstStyle/>
          <a:p>
            <a:fld id="{C80545EC-8A0C-4257-9B45-49DC7CD42FAB}" type="slidenum">
              <a:rPr lang="zh-TW" altLang="en-US" smtClean="0"/>
              <a:t>‹#›</a:t>
            </a:fld>
            <a:endParaRPr lang="zh-TW" altLang="en-US"/>
          </a:p>
        </p:txBody>
      </p:sp>
    </p:spTree>
    <p:extLst>
      <p:ext uri="{BB962C8B-B14F-4D97-AF65-F5344CB8AC3E}">
        <p14:creationId xmlns:p14="http://schemas.microsoft.com/office/powerpoint/2010/main" val="3788481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334110-097C-4091-B0D7-5B2F40A6EC4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08BB8E8-21ED-4048-A483-E388883A68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AF6546A-F3EC-4681-9FB1-6A3442D49A1A}"/>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A9D856D-85BA-4529-BFDB-FE6FCAFB9C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2D1CEA5-D5EB-4223-9AD2-C8879FD1843B}"/>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05546E76-CA80-4B4A-8CDC-EEEB769115E3}"/>
              </a:ext>
            </a:extLst>
          </p:cNvPr>
          <p:cNvSpPr>
            <a:spLocks noGrp="1"/>
          </p:cNvSpPr>
          <p:nvPr>
            <p:ph type="dt" sz="half" idx="10"/>
          </p:nvPr>
        </p:nvSpPr>
        <p:spPr/>
        <p:txBody>
          <a:bodyPr/>
          <a:lstStyle/>
          <a:p>
            <a:fld id="{89D1E3F5-7AED-4798-9D9B-0DF6DB6D23EC}" type="datetimeFigureOut">
              <a:rPr lang="zh-TW" altLang="en-US" smtClean="0"/>
              <a:t>2017/7/25</a:t>
            </a:fld>
            <a:endParaRPr lang="zh-TW" altLang="en-US"/>
          </a:p>
        </p:txBody>
      </p:sp>
      <p:sp>
        <p:nvSpPr>
          <p:cNvPr id="8" name="頁尾版面配置區 7">
            <a:extLst>
              <a:ext uri="{FF2B5EF4-FFF2-40B4-BE49-F238E27FC236}">
                <a16:creationId xmlns:a16="http://schemas.microsoft.com/office/drawing/2014/main" id="{CEE2D02E-EE78-4BC2-A3FF-2D4454019E0D}"/>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4CAD59B-E307-43EB-968B-85654AADC8BE}"/>
              </a:ext>
            </a:extLst>
          </p:cNvPr>
          <p:cNvSpPr>
            <a:spLocks noGrp="1"/>
          </p:cNvSpPr>
          <p:nvPr>
            <p:ph type="sldNum" sz="quarter" idx="12"/>
          </p:nvPr>
        </p:nvSpPr>
        <p:spPr/>
        <p:txBody>
          <a:bodyPr/>
          <a:lstStyle/>
          <a:p>
            <a:fld id="{C80545EC-8A0C-4257-9B45-49DC7CD42FAB}" type="slidenum">
              <a:rPr lang="zh-TW" altLang="en-US" smtClean="0"/>
              <a:t>‹#›</a:t>
            </a:fld>
            <a:endParaRPr lang="zh-TW" altLang="en-US"/>
          </a:p>
        </p:txBody>
      </p:sp>
    </p:spTree>
    <p:extLst>
      <p:ext uri="{BB962C8B-B14F-4D97-AF65-F5344CB8AC3E}">
        <p14:creationId xmlns:p14="http://schemas.microsoft.com/office/powerpoint/2010/main" val="4032110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03D398-0578-42DB-9A2A-67299C7C0DF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8835A67-5B8F-4DCA-90F0-36F4EA474F40}"/>
              </a:ext>
            </a:extLst>
          </p:cNvPr>
          <p:cNvSpPr>
            <a:spLocks noGrp="1"/>
          </p:cNvSpPr>
          <p:nvPr>
            <p:ph type="dt" sz="half" idx="10"/>
          </p:nvPr>
        </p:nvSpPr>
        <p:spPr/>
        <p:txBody>
          <a:bodyPr/>
          <a:lstStyle/>
          <a:p>
            <a:fld id="{89D1E3F5-7AED-4798-9D9B-0DF6DB6D23EC}" type="datetimeFigureOut">
              <a:rPr lang="zh-TW" altLang="en-US" smtClean="0"/>
              <a:t>2017/7/25</a:t>
            </a:fld>
            <a:endParaRPr lang="zh-TW" altLang="en-US"/>
          </a:p>
        </p:txBody>
      </p:sp>
      <p:sp>
        <p:nvSpPr>
          <p:cNvPr id="4" name="頁尾版面配置區 3">
            <a:extLst>
              <a:ext uri="{FF2B5EF4-FFF2-40B4-BE49-F238E27FC236}">
                <a16:creationId xmlns:a16="http://schemas.microsoft.com/office/drawing/2014/main" id="{715743AD-13B6-4823-ADE7-588ED3D76977}"/>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ED5651C-001E-4B9D-B0CA-C31F5229E64B}"/>
              </a:ext>
            </a:extLst>
          </p:cNvPr>
          <p:cNvSpPr>
            <a:spLocks noGrp="1"/>
          </p:cNvSpPr>
          <p:nvPr>
            <p:ph type="sldNum" sz="quarter" idx="12"/>
          </p:nvPr>
        </p:nvSpPr>
        <p:spPr/>
        <p:txBody>
          <a:bodyPr/>
          <a:lstStyle/>
          <a:p>
            <a:fld id="{C80545EC-8A0C-4257-9B45-49DC7CD42FAB}" type="slidenum">
              <a:rPr lang="zh-TW" altLang="en-US" smtClean="0"/>
              <a:t>‹#›</a:t>
            </a:fld>
            <a:endParaRPr lang="zh-TW" altLang="en-US"/>
          </a:p>
        </p:txBody>
      </p:sp>
    </p:spTree>
    <p:extLst>
      <p:ext uri="{BB962C8B-B14F-4D97-AF65-F5344CB8AC3E}">
        <p14:creationId xmlns:p14="http://schemas.microsoft.com/office/powerpoint/2010/main" val="1163104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FAF4EE9-22A6-463F-A6C9-AA9BD2530D82}"/>
              </a:ext>
            </a:extLst>
          </p:cNvPr>
          <p:cNvSpPr>
            <a:spLocks noGrp="1"/>
          </p:cNvSpPr>
          <p:nvPr>
            <p:ph type="dt" sz="half" idx="10"/>
          </p:nvPr>
        </p:nvSpPr>
        <p:spPr/>
        <p:txBody>
          <a:bodyPr/>
          <a:lstStyle/>
          <a:p>
            <a:fld id="{89D1E3F5-7AED-4798-9D9B-0DF6DB6D23EC}" type="datetimeFigureOut">
              <a:rPr lang="zh-TW" altLang="en-US" smtClean="0"/>
              <a:t>2017/7/25</a:t>
            </a:fld>
            <a:endParaRPr lang="zh-TW" altLang="en-US"/>
          </a:p>
        </p:txBody>
      </p:sp>
      <p:sp>
        <p:nvSpPr>
          <p:cNvPr id="3" name="頁尾版面配置區 2">
            <a:extLst>
              <a:ext uri="{FF2B5EF4-FFF2-40B4-BE49-F238E27FC236}">
                <a16:creationId xmlns:a16="http://schemas.microsoft.com/office/drawing/2014/main" id="{D5E1E2A3-E697-4851-B638-22A7C53367C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954C5C6-F926-4366-82CA-821980AE7441}"/>
              </a:ext>
            </a:extLst>
          </p:cNvPr>
          <p:cNvSpPr>
            <a:spLocks noGrp="1"/>
          </p:cNvSpPr>
          <p:nvPr>
            <p:ph type="sldNum" sz="quarter" idx="12"/>
          </p:nvPr>
        </p:nvSpPr>
        <p:spPr/>
        <p:txBody>
          <a:bodyPr/>
          <a:lstStyle/>
          <a:p>
            <a:fld id="{C80545EC-8A0C-4257-9B45-49DC7CD42FAB}" type="slidenum">
              <a:rPr lang="zh-TW" altLang="en-US" smtClean="0"/>
              <a:t>‹#›</a:t>
            </a:fld>
            <a:endParaRPr lang="zh-TW" altLang="en-US"/>
          </a:p>
        </p:txBody>
      </p:sp>
    </p:spTree>
    <p:extLst>
      <p:ext uri="{BB962C8B-B14F-4D97-AF65-F5344CB8AC3E}">
        <p14:creationId xmlns:p14="http://schemas.microsoft.com/office/powerpoint/2010/main" val="1043395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175363-B135-4527-82FC-5BA6CC8F9BA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71AB56E8-5D25-4188-A41A-981B377417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41A91996-555D-4BD3-824B-11C6EB01F6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81E5A206-3BA8-4786-8028-B980F3BDF8E7}"/>
              </a:ext>
            </a:extLst>
          </p:cNvPr>
          <p:cNvSpPr>
            <a:spLocks noGrp="1"/>
          </p:cNvSpPr>
          <p:nvPr>
            <p:ph type="dt" sz="half" idx="10"/>
          </p:nvPr>
        </p:nvSpPr>
        <p:spPr/>
        <p:txBody>
          <a:bodyPr/>
          <a:lstStyle/>
          <a:p>
            <a:fld id="{89D1E3F5-7AED-4798-9D9B-0DF6DB6D23EC}" type="datetimeFigureOut">
              <a:rPr lang="zh-TW" altLang="en-US" smtClean="0"/>
              <a:t>2017/7/25</a:t>
            </a:fld>
            <a:endParaRPr lang="zh-TW" altLang="en-US"/>
          </a:p>
        </p:txBody>
      </p:sp>
      <p:sp>
        <p:nvSpPr>
          <p:cNvPr id="6" name="頁尾版面配置區 5">
            <a:extLst>
              <a:ext uri="{FF2B5EF4-FFF2-40B4-BE49-F238E27FC236}">
                <a16:creationId xmlns:a16="http://schemas.microsoft.com/office/drawing/2014/main" id="{F5E53191-9605-48F2-BD37-5D213F0437E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FDDFBCB-A4F2-402C-883A-907BF4BDD236}"/>
              </a:ext>
            </a:extLst>
          </p:cNvPr>
          <p:cNvSpPr>
            <a:spLocks noGrp="1"/>
          </p:cNvSpPr>
          <p:nvPr>
            <p:ph type="sldNum" sz="quarter" idx="12"/>
          </p:nvPr>
        </p:nvSpPr>
        <p:spPr/>
        <p:txBody>
          <a:bodyPr/>
          <a:lstStyle/>
          <a:p>
            <a:fld id="{C80545EC-8A0C-4257-9B45-49DC7CD42FAB}" type="slidenum">
              <a:rPr lang="zh-TW" altLang="en-US" smtClean="0"/>
              <a:t>‹#›</a:t>
            </a:fld>
            <a:endParaRPr lang="zh-TW" altLang="en-US"/>
          </a:p>
        </p:txBody>
      </p:sp>
    </p:spTree>
    <p:extLst>
      <p:ext uri="{BB962C8B-B14F-4D97-AF65-F5344CB8AC3E}">
        <p14:creationId xmlns:p14="http://schemas.microsoft.com/office/powerpoint/2010/main" val="2788237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5730A1-3CA2-42E3-B17C-26446214724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3A22C7A-146C-46A5-82BF-3A7C74AA22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BAF1EBF-3607-481A-BBF7-B4AEA7CD79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4C02FC23-596D-41AF-8E32-6F6CB03B270B}"/>
              </a:ext>
            </a:extLst>
          </p:cNvPr>
          <p:cNvSpPr>
            <a:spLocks noGrp="1"/>
          </p:cNvSpPr>
          <p:nvPr>
            <p:ph type="dt" sz="half" idx="10"/>
          </p:nvPr>
        </p:nvSpPr>
        <p:spPr/>
        <p:txBody>
          <a:bodyPr/>
          <a:lstStyle/>
          <a:p>
            <a:fld id="{89D1E3F5-7AED-4798-9D9B-0DF6DB6D23EC}" type="datetimeFigureOut">
              <a:rPr lang="zh-TW" altLang="en-US" smtClean="0"/>
              <a:t>2017/7/25</a:t>
            </a:fld>
            <a:endParaRPr lang="zh-TW" altLang="en-US"/>
          </a:p>
        </p:txBody>
      </p:sp>
      <p:sp>
        <p:nvSpPr>
          <p:cNvPr id="6" name="頁尾版面配置區 5">
            <a:extLst>
              <a:ext uri="{FF2B5EF4-FFF2-40B4-BE49-F238E27FC236}">
                <a16:creationId xmlns:a16="http://schemas.microsoft.com/office/drawing/2014/main" id="{83357689-29AA-49AC-A935-9B9E1044047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2D4F632-E5D9-4E17-8B2B-82F1724F0BBC}"/>
              </a:ext>
            </a:extLst>
          </p:cNvPr>
          <p:cNvSpPr>
            <a:spLocks noGrp="1"/>
          </p:cNvSpPr>
          <p:nvPr>
            <p:ph type="sldNum" sz="quarter" idx="12"/>
          </p:nvPr>
        </p:nvSpPr>
        <p:spPr/>
        <p:txBody>
          <a:bodyPr/>
          <a:lstStyle/>
          <a:p>
            <a:fld id="{C80545EC-8A0C-4257-9B45-49DC7CD42FAB}" type="slidenum">
              <a:rPr lang="zh-TW" altLang="en-US" smtClean="0"/>
              <a:t>‹#›</a:t>
            </a:fld>
            <a:endParaRPr lang="zh-TW" altLang="en-US"/>
          </a:p>
        </p:txBody>
      </p:sp>
    </p:spTree>
    <p:extLst>
      <p:ext uri="{BB962C8B-B14F-4D97-AF65-F5344CB8AC3E}">
        <p14:creationId xmlns:p14="http://schemas.microsoft.com/office/powerpoint/2010/main" val="2111276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078182-FEC5-46FB-8EED-E1FD67AB122D}"/>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62E14034-E456-4A98-BB5F-38F9A494294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4C47577-B099-453E-BF70-4327B05E8D9D}"/>
              </a:ext>
            </a:extLst>
          </p:cNvPr>
          <p:cNvSpPr>
            <a:spLocks noGrp="1"/>
          </p:cNvSpPr>
          <p:nvPr>
            <p:ph type="dt" sz="half" idx="10"/>
          </p:nvPr>
        </p:nvSpPr>
        <p:spPr/>
        <p:txBody>
          <a:bodyPr/>
          <a:lstStyle/>
          <a:p>
            <a:fld id="{89D1E3F5-7AED-4798-9D9B-0DF6DB6D23EC}" type="datetimeFigureOut">
              <a:rPr lang="zh-TW" altLang="en-US" smtClean="0"/>
              <a:t>2017/7/25</a:t>
            </a:fld>
            <a:endParaRPr lang="zh-TW" altLang="en-US"/>
          </a:p>
        </p:txBody>
      </p:sp>
      <p:sp>
        <p:nvSpPr>
          <p:cNvPr id="5" name="頁尾版面配置區 4">
            <a:extLst>
              <a:ext uri="{FF2B5EF4-FFF2-40B4-BE49-F238E27FC236}">
                <a16:creationId xmlns:a16="http://schemas.microsoft.com/office/drawing/2014/main" id="{E2672D7A-8605-419A-B6AA-522DA7CC963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5E8288A-FE8C-4C80-ABEA-A608351323A1}"/>
              </a:ext>
            </a:extLst>
          </p:cNvPr>
          <p:cNvSpPr>
            <a:spLocks noGrp="1"/>
          </p:cNvSpPr>
          <p:nvPr>
            <p:ph type="sldNum" sz="quarter" idx="12"/>
          </p:nvPr>
        </p:nvSpPr>
        <p:spPr/>
        <p:txBody>
          <a:bodyPr/>
          <a:lstStyle/>
          <a:p>
            <a:fld id="{C80545EC-8A0C-4257-9B45-49DC7CD42FAB}" type="slidenum">
              <a:rPr lang="zh-TW" altLang="en-US" smtClean="0"/>
              <a:t>‹#›</a:t>
            </a:fld>
            <a:endParaRPr lang="zh-TW" altLang="en-US"/>
          </a:p>
        </p:txBody>
      </p:sp>
    </p:spTree>
    <p:extLst>
      <p:ext uri="{BB962C8B-B14F-4D97-AF65-F5344CB8AC3E}">
        <p14:creationId xmlns:p14="http://schemas.microsoft.com/office/powerpoint/2010/main" val="3902866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3715B43E-6D3D-47D5-B6C4-DDD0123A3C9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D1650B5-0BB9-4B3F-8F20-4324691E49D1}"/>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FA43BE6-B703-4A3F-B653-F25AB7FC91FA}"/>
              </a:ext>
            </a:extLst>
          </p:cNvPr>
          <p:cNvSpPr>
            <a:spLocks noGrp="1"/>
          </p:cNvSpPr>
          <p:nvPr>
            <p:ph type="dt" sz="half" idx="10"/>
          </p:nvPr>
        </p:nvSpPr>
        <p:spPr/>
        <p:txBody>
          <a:bodyPr/>
          <a:lstStyle/>
          <a:p>
            <a:fld id="{89D1E3F5-7AED-4798-9D9B-0DF6DB6D23EC}" type="datetimeFigureOut">
              <a:rPr lang="zh-TW" altLang="en-US" smtClean="0"/>
              <a:t>2017/7/25</a:t>
            </a:fld>
            <a:endParaRPr lang="zh-TW" altLang="en-US"/>
          </a:p>
        </p:txBody>
      </p:sp>
      <p:sp>
        <p:nvSpPr>
          <p:cNvPr id="5" name="頁尾版面配置區 4">
            <a:extLst>
              <a:ext uri="{FF2B5EF4-FFF2-40B4-BE49-F238E27FC236}">
                <a16:creationId xmlns:a16="http://schemas.microsoft.com/office/drawing/2014/main" id="{05640BF5-217D-4007-84C8-E54285E6582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67728E3-8C3E-43BF-81A8-E4C820FF8C5B}"/>
              </a:ext>
            </a:extLst>
          </p:cNvPr>
          <p:cNvSpPr>
            <a:spLocks noGrp="1"/>
          </p:cNvSpPr>
          <p:nvPr>
            <p:ph type="sldNum" sz="quarter" idx="12"/>
          </p:nvPr>
        </p:nvSpPr>
        <p:spPr/>
        <p:txBody>
          <a:bodyPr/>
          <a:lstStyle/>
          <a:p>
            <a:fld id="{C80545EC-8A0C-4257-9B45-49DC7CD42FAB}" type="slidenum">
              <a:rPr lang="zh-TW" altLang="en-US" smtClean="0"/>
              <a:t>‹#›</a:t>
            </a:fld>
            <a:endParaRPr lang="zh-TW" altLang="en-US"/>
          </a:p>
        </p:txBody>
      </p:sp>
    </p:spTree>
    <p:extLst>
      <p:ext uri="{BB962C8B-B14F-4D97-AF65-F5344CB8AC3E}">
        <p14:creationId xmlns:p14="http://schemas.microsoft.com/office/powerpoint/2010/main" val="3155047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B22870BB-F919-4A9C-BC5C-9B541DB73F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D401DC8-BF96-46DA-BF22-48AB7D8BED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E4011E9-438D-4FD7-AB6B-D53FD62790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D1E3F5-7AED-4798-9D9B-0DF6DB6D23EC}" type="datetimeFigureOut">
              <a:rPr lang="zh-TW" altLang="en-US" smtClean="0"/>
              <a:t>2017/7/25</a:t>
            </a:fld>
            <a:endParaRPr lang="zh-TW" altLang="en-US"/>
          </a:p>
        </p:txBody>
      </p:sp>
      <p:sp>
        <p:nvSpPr>
          <p:cNvPr id="5" name="頁尾版面配置區 4">
            <a:extLst>
              <a:ext uri="{FF2B5EF4-FFF2-40B4-BE49-F238E27FC236}">
                <a16:creationId xmlns:a16="http://schemas.microsoft.com/office/drawing/2014/main" id="{B9727FA1-4E07-40FE-A189-F983371D0F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39608F5A-0C8C-484B-84D5-EE31E4BE13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0545EC-8A0C-4257-9B45-49DC7CD42FAB}" type="slidenum">
              <a:rPr lang="zh-TW" altLang="en-US" smtClean="0"/>
              <a:t>‹#›</a:t>
            </a:fld>
            <a:endParaRPr lang="zh-TW" altLang="en-US"/>
          </a:p>
        </p:txBody>
      </p:sp>
    </p:spTree>
    <p:extLst>
      <p:ext uri="{BB962C8B-B14F-4D97-AF65-F5344CB8AC3E}">
        <p14:creationId xmlns:p14="http://schemas.microsoft.com/office/powerpoint/2010/main" val="4002419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A6C36E-0AB4-43E7-B692-C6E64377CAC7}"/>
              </a:ext>
            </a:extLst>
          </p:cNvPr>
          <p:cNvSpPr>
            <a:spLocks noGrp="1"/>
          </p:cNvSpPr>
          <p:nvPr>
            <p:ph type="ctrTitle"/>
          </p:nvPr>
        </p:nvSpPr>
        <p:spPr>
          <a:xfrm>
            <a:off x="239232" y="1073888"/>
            <a:ext cx="11610754" cy="1606735"/>
          </a:xfrm>
        </p:spPr>
        <p:txBody>
          <a:bodyPr>
            <a:noAutofit/>
          </a:bodyPr>
          <a:lstStyle/>
          <a:p>
            <a:r>
              <a:rPr lang="en-US" altLang="zh-TW" sz="5000" dirty="0"/>
              <a:t>Particle Swarm Optimization (PSO) for the constrained portfolio optimization problem</a:t>
            </a:r>
            <a:endParaRPr lang="zh-TW" altLang="en-US" sz="5000" dirty="0"/>
          </a:p>
        </p:txBody>
      </p:sp>
      <p:sp>
        <p:nvSpPr>
          <p:cNvPr id="3" name="副標題 2">
            <a:extLst>
              <a:ext uri="{FF2B5EF4-FFF2-40B4-BE49-F238E27FC236}">
                <a16:creationId xmlns:a16="http://schemas.microsoft.com/office/drawing/2014/main" id="{F8BC8510-EF27-4BF1-8548-47FD1BD76821}"/>
              </a:ext>
            </a:extLst>
          </p:cNvPr>
          <p:cNvSpPr>
            <a:spLocks noGrp="1"/>
          </p:cNvSpPr>
          <p:nvPr>
            <p:ph type="subTitle" idx="1"/>
          </p:nvPr>
        </p:nvSpPr>
        <p:spPr>
          <a:xfrm>
            <a:off x="946297" y="3304326"/>
            <a:ext cx="10196623" cy="2660539"/>
          </a:xfrm>
        </p:spPr>
        <p:txBody>
          <a:bodyPr>
            <a:normAutofit/>
          </a:bodyPr>
          <a:lstStyle/>
          <a:p>
            <a:r>
              <a:rPr lang="en-US" altLang="zh-TW" sz="2500" dirty="0"/>
              <a:t>Expert Systems with Applications 38 (2011), pp. 10161-10169</a:t>
            </a:r>
          </a:p>
          <a:p>
            <a:endParaRPr lang="en-US" altLang="zh-TW" sz="2500" dirty="0"/>
          </a:p>
          <a:p>
            <a:r>
              <a:rPr lang="en-US" altLang="zh-TW" sz="2500" dirty="0" err="1"/>
              <a:t>Hanhong</a:t>
            </a:r>
            <a:r>
              <a:rPr lang="en-US" altLang="zh-TW" sz="2500" dirty="0"/>
              <a:t> Zhu </a:t>
            </a:r>
            <a:r>
              <a:rPr lang="en-US" altLang="zh-TW" sz="2500" baseline="30000" dirty="0"/>
              <a:t>a</a:t>
            </a:r>
            <a:r>
              <a:rPr lang="en-US" altLang="zh-TW" sz="2500" dirty="0"/>
              <a:t>, Yi Wang </a:t>
            </a:r>
            <a:r>
              <a:rPr lang="en-US" altLang="zh-TW" sz="2500" baseline="30000" dirty="0"/>
              <a:t>b</a:t>
            </a:r>
            <a:r>
              <a:rPr lang="en-US" altLang="zh-TW" sz="2500" dirty="0"/>
              <a:t>, </a:t>
            </a:r>
            <a:r>
              <a:rPr lang="en-US" altLang="zh-TW" sz="2500" dirty="0" err="1"/>
              <a:t>Kesheng</a:t>
            </a:r>
            <a:r>
              <a:rPr lang="en-US" altLang="zh-TW" sz="2500" dirty="0"/>
              <a:t> </a:t>
            </a:r>
            <a:r>
              <a:rPr lang="en-US" altLang="zh-TW" sz="2500" dirty="0" err="1"/>
              <a:t>Wang</a:t>
            </a:r>
            <a:r>
              <a:rPr lang="en-US" altLang="zh-TW" sz="2500" baseline="30000" dirty="0" err="1"/>
              <a:t>a</a:t>
            </a:r>
            <a:r>
              <a:rPr lang="en-US" altLang="zh-TW" sz="2500" baseline="30000" dirty="0"/>
              <a:t>,</a:t>
            </a:r>
            <a:r>
              <a:rPr lang="en-US" altLang="zh-TW" sz="2500" dirty="0"/>
              <a:t>*, Yun Chen </a:t>
            </a:r>
            <a:r>
              <a:rPr lang="en-US" altLang="zh-TW" sz="2500" baseline="30000" dirty="0"/>
              <a:t>c</a:t>
            </a:r>
          </a:p>
          <a:p>
            <a:r>
              <a:rPr lang="en-US" altLang="zh-TW" sz="1900" baseline="30000" dirty="0"/>
              <a:t>a</a:t>
            </a:r>
            <a:r>
              <a:rPr lang="en-US" altLang="zh-TW" sz="1900" dirty="0"/>
              <a:t> Department of Production and Quality Engineering, NTNU, N7491 Trondheim, Norway</a:t>
            </a:r>
          </a:p>
          <a:p>
            <a:r>
              <a:rPr lang="en-US" altLang="zh-TW" sz="1900" baseline="30000" dirty="0"/>
              <a:t>b</a:t>
            </a:r>
            <a:r>
              <a:rPr lang="en-US" altLang="zh-TW" sz="1900" dirty="0"/>
              <a:t> Nottingham Business School, NTU, Nottingham NG1 4BU, UK</a:t>
            </a:r>
          </a:p>
          <a:p>
            <a:r>
              <a:rPr lang="en-US" altLang="zh-TW" sz="1900" baseline="30000" dirty="0"/>
              <a:t>c</a:t>
            </a:r>
            <a:r>
              <a:rPr lang="en-US" altLang="zh-TW" sz="1900" dirty="0"/>
              <a:t> School of Public Economics and </a:t>
            </a:r>
            <a:r>
              <a:rPr lang="en-US" altLang="zh-TW" sz="1900" dirty="0" err="1"/>
              <a:t>Adiministration</a:t>
            </a:r>
            <a:r>
              <a:rPr lang="en-US" altLang="zh-TW" sz="1900" dirty="0"/>
              <a:t>, SHUFE, 200433 Shanghai, China</a:t>
            </a:r>
            <a:endParaRPr lang="zh-TW" altLang="en-US" sz="1900" baseline="30000" dirty="0"/>
          </a:p>
        </p:txBody>
      </p:sp>
      <p:sp>
        <p:nvSpPr>
          <p:cNvPr id="4" name="文字方塊 3">
            <a:extLst>
              <a:ext uri="{FF2B5EF4-FFF2-40B4-BE49-F238E27FC236}">
                <a16:creationId xmlns:a16="http://schemas.microsoft.com/office/drawing/2014/main" id="{ECEF4C30-D65E-4B71-B13C-D055CA189B5E}"/>
              </a:ext>
            </a:extLst>
          </p:cNvPr>
          <p:cNvSpPr txBox="1"/>
          <p:nvPr/>
        </p:nvSpPr>
        <p:spPr>
          <a:xfrm>
            <a:off x="8059478" y="6219236"/>
            <a:ext cx="3083442" cy="369332"/>
          </a:xfrm>
          <a:prstGeom prst="rect">
            <a:avLst/>
          </a:prstGeom>
          <a:noFill/>
        </p:spPr>
        <p:txBody>
          <a:bodyPr wrap="square" rtlCol="0">
            <a:spAutoFit/>
          </a:bodyPr>
          <a:lstStyle/>
          <a:p>
            <a:r>
              <a:rPr lang="en-US" altLang="zh-TW" dirty="0"/>
              <a:t>Presenter: Shih-</a:t>
            </a:r>
            <a:r>
              <a:rPr lang="en-US" altLang="zh-TW" dirty="0" err="1"/>
              <a:t>Jhan</a:t>
            </a:r>
            <a:r>
              <a:rPr lang="en-US" altLang="zh-TW" dirty="0"/>
              <a:t> Huang</a:t>
            </a:r>
            <a:endParaRPr lang="zh-TW" altLang="en-US" dirty="0"/>
          </a:p>
        </p:txBody>
      </p:sp>
    </p:spTree>
    <p:extLst>
      <p:ext uri="{BB962C8B-B14F-4D97-AF65-F5344CB8AC3E}">
        <p14:creationId xmlns:p14="http://schemas.microsoft.com/office/powerpoint/2010/main" val="1017536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03D6E8-17BB-4F43-B6B6-7F81D7427655}"/>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C58C3B27-6E01-46FB-9A0D-1E1852D0B221}"/>
              </a:ext>
            </a:extLst>
          </p:cNvPr>
          <p:cNvSpPr>
            <a:spLocks noGrp="1"/>
          </p:cNvSpPr>
          <p:nvPr>
            <p:ph idx="1"/>
          </p:nvPr>
        </p:nvSpPr>
        <p:spPr>
          <a:xfrm>
            <a:off x="784151" y="1878788"/>
            <a:ext cx="10623698" cy="4351338"/>
          </a:xfrm>
        </p:spPr>
        <p:txBody>
          <a:bodyPr>
            <a:normAutofit lnSpcReduction="10000"/>
          </a:bodyPr>
          <a:lstStyle/>
          <a:p>
            <a:pPr marL="0" indent="0" algn="just">
              <a:buNone/>
            </a:pPr>
            <a:r>
              <a:rPr lang="en-US" altLang="zh-TW" dirty="0"/>
              <a:t>One of the most studied problems in the financial investment expert system is the intractability of portfolios. The non-linear constrained portfolio optimization problem with multi-objective functions cannot be efficiently solved using traditionally approaches. This paper presents a meta-heuristic approach to portfolio optimization problem using Particle Swarm Optimization (PSO) technique. The model is tested on various restricted and unrestricted risky investment portfolios and a comparative study with Genetic Algorithms is implemented. The PSO model demonstrates high computational efficiency in constructing optimal risky portfolios. Preliminary results show that the approach is very promising and achieves results comparable or superior with the state of the art solvers.</a:t>
            </a:r>
            <a:endParaRPr lang="zh-TW" altLang="en-US" dirty="0"/>
          </a:p>
        </p:txBody>
      </p:sp>
    </p:spTree>
    <p:extLst>
      <p:ext uri="{BB962C8B-B14F-4D97-AF65-F5344CB8AC3E}">
        <p14:creationId xmlns:p14="http://schemas.microsoft.com/office/powerpoint/2010/main" val="53450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03D6E8-17BB-4F43-B6B6-7F81D7427655}"/>
              </a:ext>
            </a:extLst>
          </p:cNvPr>
          <p:cNvSpPr>
            <a:spLocks noGrp="1"/>
          </p:cNvSpPr>
          <p:nvPr>
            <p:ph type="title"/>
          </p:nvPr>
        </p:nvSpPr>
        <p:spPr/>
        <p:txBody>
          <a:bodyPr/>
          <a:lstStyle/>
          <a:p>
            <a:r>
              <a:rPr lang="en-US" altLang="zh-TW" dirty="0"/>
              <a:t>Model for portfolio optimization</a:t>
            </a:r>
            <a:endParaRPr lang="zh-TW" altLang="en-US" dirty="0"/>
          </a:p>
        </p:txBody>
      </p:sp>
      <p:sp>
        <p:nvSpPr>
          <p:cNvPr id="3" name="內容版面配置區 2">
            <a:extLst>
              <a:ext uri="{FF2B5EF4-FFF2-40B4-BE49-F238E27FC236}">
                <a16:creationId xmlns:a16="http://schemas.microsoft.com/office/drawing/2014/main" id="{C58C3B27-6E01-46FB-9A0D-1E1852D0B221}"/>
              </a:ext>
            </a:extLst>
          </p:cNvPr>
          <p:cNvSpPr>
            <a:spLocks noGrp="1"/>
          </p:cNvSpPr>
          <p:nvPr>
            <p:ph idx="1"/>
          </p:nvPr>
        </p:nvSpPr>
        <p:spPr/>
        <p:txBody>
          <a:bodyPr/>
          <a:lstStyle/>
          <a:p>
            <a:r>
              <a:rPr lang="en-US" altLang="zh-TW" dirty="0"/>
              <a:t>Markowitz mean-variance model</a:t>
            </a:r>
            <a:endParaRPr lang="zh-TW" altLang="en-US" dirty="0"/>
          </a:p>
        </p:txBody>
      </p:sp>
      <p:pic>
        <p:nvPicPr>
          <p:cNvPr id="5" name="圖片 4">
            <a:extLst>
              <a:ext uri="{FF2B5EF4-FFF2-40B4-BE49-F238E27FC236}">
                <a16:creationId xmlns:a16="http://schemas.microsoft.com/office/drawing/2014/main" id="{FBCFA6D4-7B95-42E9-A696-C205883814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617" y="2415161"/>
            <a:ext cx="6662696" cy="2002202"/>
          </a:xfrm>
          <a:prstGeom prst="rect">
            <a:avLst/>
          </a:prstGeom>
        </p:spPr>
      </p:pic>
      <p:pic>
        <p:nvPicPr>
          <p:cNvPr id="7" name="圖片 6">
            <a:extLst>
              <a:ext uri="{FF2B5EF4-FFF2-40B4-BE49-F238E27FC236}">
                <a16:creationId xmlns:a16="http://schemas.microsoft.com/office/drawing/2014/main" id="{58B403B9-381C-4FA7-A295-99C7AF98CF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677" y="4552300"/>
            <a:ext cx="6654899" cy="1759600"/>
          </a:xfrm>
          <a:prstGeom prst="rect">
            <a:avLst/>
          </a:prstGeom>
        </p:spPr>
      </p:pic>
      <p:sp>
        <p:nvSpPr>
          <p:cNvPr id="8" name="文字方塊 7">
            <a:extLst>
              <a:ext uri="{FF2B5EF4-FFF2-40B4-BE49-F238E27FC236}">
                <a16:creationId xmlns:a16="http://schemas.microsoft.com/office/drawing/2014/main" id="{73CBBF8E-A44E-4D83-8545-CCD6BDA13B33}"/>
              </a:ext>
            </a:extLst>
          </p:cNvPr>
          <p:cNvSpPr txBox="1"/>
          <p:nvPr/>
        </p:nvSpPr>
        <p:spPr>
          <a:xfrm>
            <a:off x="4359965" y="2703443"/>
            <a:ext cx="914400" cy="369332"/>
          </a:xfrm>
          <a:prstGeom prst="rect">
            <a:avLst/>
          </a:prstGeom>
          <a:noFill/>
        </p:spPr>
        <p:txBody>
          <a:bodyPr wrap="square" rtlCol="0">
            <a:spAutoFit/>
          </a:bodyPr>
          <a:lstStyle/>
          <a:p>
            <a:endParaRPr lang="zh-TW" altLang="en-US"/>
          </a:p>
        </p:txBody>
      </p:sp>
      <p:sp>
        <p:nvSpPr>
          <p:cNvPr id="4" name="文字方塊 3">
            <a:extLst>
              <a:ext uri="{FF2B5EF4-FFF2-40B4-BE49-F238E27FC236}">
                <a16:creationId xmlns:a16="http://schemas.microsoft.com/office/drawing/2014/main" id="{AA6A7145-C374-40D7-9348-9C23BC714841}"/>
              </a:ext>
            </a:extLst>
          </p:cNvPr>
          <p:cNvSpPr txBox="1"/>
          <p:nvPr/>
        </p:nvSpPr>
        <p:spPr>
          <a:xfrm>
            <a:off x="7837313" y="2529613"/>
            <a:ext cx="2955235" cy="369332"/>
          </a:xfrm>
          <a:prstGeom prst="rect">
            <a:avLst/>
          </a:prstGeom>
          <a:noFill/>
        </p:spPr>
        <p:txBody>
          <a:bodyPr wrap="square" rtlCol="0">
            <a:spAutoFit/>
          </a:bodyPr>
          <a:lstStyle/>
          <a:p>
            <a:r>
              <a:rPr lang="zh-TW" altLang="en-US" dirty="0">
                <a:solidFill>
                  <a:srgbClr val="0070C0"/>
                </a:solidFill>
                <a:latin typeface="標楷體" panose="03000509000000000000" pitchFamily="65" charset="-120"/>
                <a:ea typeface="標楷體" panose="03000509000000000000" pitchFamily="65" charset="-120"/>
              </a:rPr>
              <a:t>找出投資組合總體風險最小</a:t>
            </a:r>
          </a:p>
        </p:txBody>
      </p:sp>
      <p:sp>
        <p:nvSpPr>
          <p:cNvPr id="9" name="文字方塊 8">
            <a:extLst>
              <a:ext uri="{FF2B5EF4-FFF2-40B4-BE49-F238E27FC236}">
                <a16:creationId xmlns:a16="http://schemas.microsoft.com/office/drawing/2014/main" id="{307D7370-62FC-465B-9F75-A1D3D907D0D3}"/>
              </a:ext>
            </a:extLst>
          </p:cNvPr>
          <p:cNvSpPr txBox="1"/>
          <p:nvPr/>
        </p:nvSpPr>
        <p:spPr>
          <a:xfrm>
            <a:off x="7837313" y="3224747"/>
            <a:ext cx="2955235" cy="369332"/>
          </a:xfrm>
          <a:prstGeom prst="rect">
            <a:avLst/>
          </a:prstGeom>
          <a:noFill/>
        </p:spPr>
        <p:txBody>
          <a:bodyPr wrap="square" rtlCol="0">
            <a:spAutoFit/>
          </a:bodyPr>
          <a:lstStyle/>
          <a:p>
            <a:r>
              <a:rPr lang="zh-TW" altLang="en-US" dirty="0">
                <a:solidFill>
                  <a:srgbClr val="0070C0"/>
                </a:solidFill>
                <a:latin typeface="標楷體" panose="03000509000000000000" pitchFamily="65" charset="-120"/>
                <a:ea typeface="標楷體" panose="03000509000000000000" pitchFamily="65" charset="-120"/>
              </a:rPr>
              <a:t>投資組合預期報酬率</a:t>
            </a:r>
          </a:p>
        </p:txBody>
      </p:sp>
      <p:sp>
        <p:nvSpPr>
          <p:cNvPr id="10" name="文字方塊 9">
            <a:extLst>
              <a:ext uri="{FF2B5EF4-FFF2-40B4-BE49-F238E27FC236}">
                <a16:creationId xmlns:a16="http://schemas.microsoft.com/office/drawing/2014/main" id="{179342EE-255B-42BB-B5D5-BFF99ACB3347}"/>
              </a:ext>
            </a:extLst>
          </p:cNvPr>
          <p:cNvSpPr txBox="1"/>
          <p:nvPr/>
        </p:nvSpPr>
        <p:spPr>
          <a:xfrm>
            <a:off x="4359965" y="4591954"/>
            <a:ext cx="3331348" cy="369332"/>
          </a:xfrm>
          <a:prstGeom prst="rect">
            <a:avLst/>
          </a:prstGeom>
          <a:noFill/>
        </p:spPr>
        <p:txBody>
          <a:bodyPr wrap="square" rtlCol="0">
            <a:spAutoFit/>
          </a:bodyPr>
          <a:lstStyle/>
          <a:p>
            <a:r>
              <a:rPr lang="en-US" altLang="zh-TW" dirty="0">
                <a:solidFill>
                  <a:srgbClr val="0070C0"/>
                </a:solidFill>
                <a:latin typeface="標楷體" panose="03000509000000000000" pitchFamily="65" charset="-120"/>
                <a:ea typeface="標楷體" panose="03000509000000000000" pitchFamily="65" charset="-120"/>
              </a:rPr>
              <a:t>W</a:t>
            </a:r>
            <a:r>
              <a:rPr lang="en-US" altLang="zh-TW" baseline="-25000" dirty="0">
                <a:solidFill>
                  <a:srgbClr val="0070C0"/>
                </a:solidFill>
                <a:latin typeface="標楷體" panose="03000509000000000000" pitchFamily="65" charset="-120"/>
                <a:ea typeface="標楷體" panose="03000509000000000000" pitchFamily="65" charset="-120"/>
              </a:rPr>
              <a:t>i</a:t>
            </a:r>
            <a:r>
              <a:rPr lang="zh-TW" altLang="en-US" dirty="0">
                <a:solidFill>
                  <a:srgbClr val="0070C0"/>
                </a:solidFill>
                <a:latin typeface="標楷體" panose="03000509000000000000" pitchFamily="65" charset="-120"/>
                <a:ea typeface="標楷體" panose="03000509000000000000" pitchFamily="65" charset="-120"/>
              </a:rPr>
              <a:t>常用</a:t>
            </a:r>
            <a:r>
              <a:rPr lang="en-US" altLang="zh-TW" dirty="0" err="1">
                <a:solidFill>
                  <a:srgbClr val="0070C0"/>
                </a:solidFill>
                <a:latin typeface="標楷體" panose="03000509000000000000" pitchFamily="65" charset="-120"/>
                <a:ea typeface="標楷體" panose="03000509000000000000" pitchFamily="65" charset="-120"/>
              </a:rPr>
              <a:t>Lagrangian</a:t>
            </a:r>
            <a:r>
              <a:rPr lang="zh-TW" altLang="en-US" dirty="0">
                <a:solidFill>
                  <a:srgbClr val="0070C0"/>
                </a:solidFill>
                <a:latin typeface="標楷體" panose="03000509000000000000" pitchFamily="65" charset="-120"/>
                <a:ea typeface="標楷體" panose="03000509000000000000" pitchFamily="65" charset="-120"/>
              </a:rPr>
              <a:t> </a:t>
            </a:r>
            <a:r>
              <a:rPr lang="en-US" altLang="zh-TW" dirty="0">
                <a:solidFill>
                  <a:srgbClr val="0070C0"/>
                </a:solidFill>
                <a:latin typeface="標楷體" panose="03000509000000000000" pitchFamily="65" charset="-120"/>
                <a:ea typeface="標楷體" panose="03000509000000000000" pitchFamily="65" charset="-120"/>
              </a:rPr>
              <a:t>method</a:t>
            </a:r>
            <a:r>
              <a:rPr lang="zh-TW" altLang="en-US" dirty="0">
                <a:solidFill>
                  <a:srgbClr val="0070C0"/>
                </a:solidFill>
                <a:latin typeface="標楷體" panose="03000509000000000000" pitchFamily="65" charset="-120"/>
                <a:ea typeface="標楷體" panose="03000509000000000000" pitchFamily="65" charset="-120"/>
              </a:rPr>
              <a:t>求得</a:t>
            </a:r>
          </a:p>
        </p:txBody>
      </p:sp>
      <p:sp>
        <p:nvSpPr>
          <p:cNvPr id="11" name="文字方塊 10">
            <a:extLst>
              <a:ext uri="{FF2B5EF4-FFF2-40B4-BE49-F238E27FC236}">
                <a16:creationId xmlns:a16="http://schemas.microsoft.com/office/drawing/2014/main" id="{72D9D131-BB12-4983-B012-18FFFEB57182}"/>
              </a:ext>
            </a:extLst>
          </p:cNvPr>
          <p:cNvSpPr txBox="1"/>
          <p:nvPr/>
        </p:nvSpPr>
        <p:spPr>
          <a:xfrm>
            <a:off x="8640559" y="4354706"/>
            <a:ext cx="2955235" cy="1323439"/>
          </a:xfrm>
          <a:prstGeom prst="rect">
            <a:avLst/>
          </a:prstGeom>
          <a:noFill/>
        </p:spPr>
        <p:txBody>
          <a:bodyPr wrap="square" rtlCol="0">
            <a:spAutoFit/>
          </a:bodyPr>
          <a:lstStyle/>
          <a:p>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E(</a:t>
            </a:r>
            <a:r>
              <a:rPr lang="en-US" altLang="zh-TW" sz="2000" dirty="0" err="1">
                <a:solidFill>
                  <a:schemeClr val="tx1">
                    <a:lumMod val="75000"/>
                    <a:lumOff val="25000"/>
                  </a:schemeClr>
                </a:solidFill>
                <a:latin typeface="標楷體" panose="03000509000000000000" pitchFamily="65" charset="-120"/>
                <a:ea typeface="標楷體" panose="03000509000000000000" pitchFamily="65" charset="-120"/>
              </a:rPr>
              <a:t>i</a:t>
            </a:r>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 = </a:t>
            </a:r>
            <a:r>
              <a:rPr lang="el-GR" altLang="zh-TW" sz="2000" dirty="0">
                <a:solidFill>
                  <a:schemeClr val="tx1">
                    <a:lumMod val="75000"/>
                    <a:lumOff val="25000"/>
                  </a:schemeClr>
                </a:solidFill>
                <a:latin typeface="標楷體" panose="03000509000000000000" pitchFamily="65" charset="-120"/>
                <a:ea typeface="標楷體" panose="03000509000000000000" pitchFamily="65" charset="-120"/>
              </a:rPr>
              <a:t>μ</a:t>
            </a:r>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 ; E(j) = </a:t>
            </a:r>
            <a:r>
              <a:rPr lang="el-GR" altLang="zh-TW" sz="2000" dirty="0">
                <a:solidFill>
                  <a:schemeClr val="tx1">
                    <a:lumMod val="75000"/>
                    <a:lumOff val="25000"/>
                  </a:schemeClr>
                </a:solidFill>
                <a:latin typeface="標楷體" panose="03000509000000000000" pitchFamily="65" charset="-120"/>
                <a:ea typeface="標楷體" panose="03000509000000000000" pitchFamily="65" charset="-120"/>
              </a:rPr>
              <a:t>ν</a:t>
            </a:r>
            <a:endParaRPr lang="en-US" altLang="zh-TW" sz="2000" dirty="0">
              <a:solidFill>
                <a:schemeClr val="tx1">
                  <a:lumMod val="75000"/>
                  <a:lumOff val="25000"/>
                </a:schemeClr>
              </a:solidFill>
              <a:latin typeface="標楷體" panose="03000509000000000000" pitchFamily="65" charset="-120"/>
              <a:ea typeface="標楷體" panose="03000509000000000000" pitchFamily="65" charset="-120"/>
            </a:endParaRPr>
          </a:p>
          <a:p>
            <a:r>
              <a:rPr lang="el-GR" altLang="zh-TW" sz="2000" b="1" i="1" dirty="0">
                <a:solidFill>
                  <a:schemeClr val="tx1">
                    <a:lumMod val="75000"/>
                    <a:lumOff val="25000"/>
                  </a:schemeClr>
                </a:solidFill>
                <a:latin typeface="標楷體" panose="03000509000000000000" pitchFamily="65" charset="-120"/>
                <a:ea typeface="標楷體" panose="03000509000000000000" pitchFamily="65" charset="-120"/>
              </a:rPr>
              <a:t>σ</a:t>
            </a:r>
            <a:r>
              <a:rPr lang="en-US" altLang="zh-TW" sz="2000" b="1" i="1" baseline="-25000" dirty="0" err="1">
                <a:solidFill>
                  <a:schemeClr val="tx1">
                    <a:lumMod val="75000"/>
                    <a:lumOff val="25000"/>
                  </a:schemeClr>
                </a:solidFill>
                <a:latin typeface="標楷體" panose="03000509000000000000" pitchFamily="65" charset="-120"/>
                <a:ea typeface="標楷體" panose="03000509000000000000" pitchFamily="65" charset="-120"/>
              </a:rPr>
              <a:t>ij</a:t>
            </a:r>
            <a:r>
              <a:rPr lang="en-US" altLang="zh-TW" sz="2000" b="1" i="1" dirty="0">
                <a:solidFill>
                  <a:schemeClr val="tx1">
                    <a:lumMod val="75000"/>
                    <a:lumOff val="25000"/>
                  </a:schemeClr>
                </a:solidFill>
                <a:latin typeface="標楷體" panose="03000509000000000000" pitchFamily="65" charset="-120"/>
                <a:ea typeface="標楷體" panose="03000509000000000000" pitchFamily="65" charset="-120"/>
              </a:rPr>
              <a:t> </a:t>
            </a:r>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 </a:t>
            </a:r>
            <a:r>
              <a:rPr lang="en-US" altLang="zh-TW" sz="2000" i="1" dirty="0" err="1">
                <a:solidFill>
                  <a:schemeClr val="tx1">
                    <a:lumMod val="75000"/>
                    <a:lumOff val="25000"/>
                  </a:schemeClr>
                </a:solidFill>
                <a:latin typeface="標楷體" panose="03000509000000000000" pitchFamily="65" charset="-120"/>
                <a:ea typeface="標楷體" panose="03000509000000000000" pitchFamily="65" charset="-120"/>
              </a:rPr>
              <a:t>cov</a:t>
            </a:r>
            <a:r>
              <a:rPr lang="en-US" altLang="zh-TW" sz="2000" i="1" dirty="0">
                <a:solidFill>
                  <a:schemeClr val="tx1">
                    <a:lumMod val="75000"/>
                    <a:lumOff val="25000"/>
                  </a:schemeClr>
                </a:solidFill>
                <a:latin typeface="標楷體" panose="03000509000000000000" pitchFamily="65" charset="-120"/>
                <a:ea typeface="標楷體" panose="03000509000000000000" pitchFamily="65" charset="-120"/>
              </a:rPr>
              <a:t> </a:t>
            </a:r>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a:t>
            </a:r>
            <a:r>
              <a:rPr lang="en-US" altLang="zh-TW" sz="2000" dirty="0" err="1">
                <a:solidFill>
                  <a:schemeClr val="tx1">
                    <a:lumMod val="75000"/>
                    <a:lumOff val="25000"/>
                  </a:schemeClr>
                </a:solidFill>
                <a:latin typeface="標楷體" panose="03000509000000000000" pitchFamily="65" charset="-120"/>
                <a:ea typeface="標楷體" panose="03000509000000000000" pitchFamily="65" charset="-120"/>
              </a:rPr>
              <a:t>i,j</a:t>
            </a:r>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a:t>
            </a:r>
          </a:p>
          <a:p>
            <a:r>
              <a:rPr lang="en-US" altLang="zh-TW" sz="2000" i="1" dirty="0">
                <a:solidFill>
                  <a:schemeClr val="tx1">
                    <a:lumMod val="75000"/>
                    <a:lumOff val="25000"/>
                  </a:schemeClr>
                </a:solidFill>
                <a:latin typeface="標楷體" panose="03000509000000000000" pitchFamily="65" charset="-120"/>
                <a:ea typeface="標楷體" panose="03000509000000000000" pitchFamily="65" charset="-120"/>
              </a:rPr>
              <a:t>    </a:t>
            </a:r>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a:t>
            </a:r>
            <a:r>
              <a:rPr lang="zh-TW" altLang="en-US" sz="2000" dirty="0">
                <a:solidFill>
                  <a:schemeClr val="tx1">
                    <a:lumMod val="75000"/>
                    <a:lumOff val="25000"/>
                  </a:schemeClr>
                </a:solidFill>
                <a:latin typeface="標楷體" panose="03000509000000000000" pitchFamily="65" charset="-120"/>
                <a:ea typeface="標楷體" panose="03000509000000000000" pitchFamily="65" charset="-120"/>
              </a:rPr>
              <a:t> </a:t>
            </a:r>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E((</a:t>
            </a:r>
            <a:r>
              <a:rPr lang="en-US" altLang="zh-TW" sz="2000" dirty="0" err="1">
                <a:solidFill>
                  <a:schemeClr val="tx1">
                    <a:lumMod val="75000"/>
                    <a:lumOff val="25000"/>
                  </a:schemeClr>
                </a:solidFill>
                <a:latin typeface="標楷體" panose="03000509000000000000" pitchFamily="65" charset="-120"/>
                <a:ea typeface="標楷體" panose="03000509000000000000" pitchFamily="65" charset="-120"/>
              </a:rPr>
              <a:t>i</a:t>
            </a:r>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a:t>
            </a:r>
            <a:r>
              <a:rPr lang="el-GR" altLang="zh-TW" sz="2000" dirty="0">
                <a:solidFill>
                  <a:schemeClr val="tx1">
                    <a:lumMod val="75000"/>
                    <a:lumOff val="25000"/>
                  </a:schemeClr>
                </a:solidFill>
                <a:latin typeface="標楷體" panose="03000509000000000000" pitchFamily="65" charset="-120"/>
                <a:ea typeface="標楷體" panose="03000509000000000000" pitchFamily="65" charset="-120"/>
              </a:rPr>
              <a:t>μ</a:t>
            </a:r>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)(j-</a:t>
            </a:r>
            <a:r>
              <a:rPr lang="el-GR" altLang="zh-TW" sz="2000" dirty="0">
                <a:solidFill>
                  <a:schemeClr val="tx1">
                    <a:lumMod val="75000"/>
                    <a:lumOff val="25000"/>
                  </a:schemeClr>
                </a:solidFill>
                <a:latin typeface="標楷體" panose="03000509000000000000" pitchFamily="65" charset="-120"/>
                <a:ea typeface="標楷體" panose="03000509000000000000" pitchFamily="65" charset="-120"/>
              </a:rPr>
              <a:t>ν</a:t>
            </a:r>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a:t>
            </a:r>
          </a:p>
          <a:p>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    = E(</a:t>
            </a:r>
            <a:r>
              <a:rPr lang="en-US" altLang="zh-TW" sz="2000" dirty="0" err="1">
                <a:solidFill>
                  <a:schemeClr val="tx1">
                    <a:lumMod val="75000"/>
                    <a:lumOff val="25000"/>
                  </a:schemeClr>
                </a:solidFill>
                <a:latin typeface="標楷體" panose="03000509000000000000" pitchFamily="65" charset="-120"/>
                <a:ea typeface="標楷體" panose="03000509000000000000" pitchFamily="65" charset="-120"/>
              </a:rPr>
              <a:t>i·j</a:t>
            </a:r>
            <a:r>
              <a:rPr lang="en-US" altLang="zh-TW" sz="2000" dirty="0">
                <a:solidFill>
                  <a:schemeClr val="tx1">
                    <a:lumMod val="75000"/>
                    <a:lumOff val="25000"/>
                  </a:schemeClr>
                </a:solidFill>
                <a:latin typeface="標楷體" panose="03000509000000000000" pitchFamily="65" charset="-120"/>
                <a:ea typeface="標楷體" panose="03000509000000000000" pitchFamily="65" charset="-120"/>
              </a:rPr>
              <a:t>) - </a:t>
            </a:r>
            <a:r>
              <a:rPr lang="el-GR" altLang="zh-TW" sz="2000" dirty="0">
                <a:solidFill>
                  <a:schemeClr val="tx1">
                    <a:lumMod val="75000"/>
                    <a:lumOff val="25000"/>
                  </a:schemeClr>
                </a:solidFill>
                <a:latin typeface="標楷體" panose="03000509000000000000" pitchFamily="65" charset="-120"/>
                <a:ea typeface="標楷體" panose="03000509000000000000" pitchFamily="65" charset="-120"/>
              </a:rPr>
              <a:t>μν</a:t>
            </a:r>
            <a:endParaRPr lang="zh-TW" altLang="en-US" sz="2000" dirty="0">
              <a:solidFill>
                <a:schemeClr val="tx1">
                  <a:lumMod val="75000"/>
                  <a:lumOff val="25000"/>
                </a:schemeClr>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348864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C58C3B27-6E01-46FB-9A0D-1E1852D0B221}"/>
              </a:ext>
            </a:extLst>
          </p:cNvPr>
          <p:cNvSpPr>
            <a:spLocks noGrp="1"/>
          </p:cNvSpPr>
          <p:nvPr>
            <p:ph idx="1"/>
          </p:nvPr>
        </p:nvSpPr>
        <p:spPr>
          <a:xfrm>
            <a:off x="586409" y="900500"/>
            <a:ext cx="10515600" cy="4351338"/>
          </a:xfrm>
        </p:spPr>
        <p:txBody>
          <a:bodyPr>
            <a:normAutofit/>
          </a:bodyPr>
          <a:lstStyle/>
          <a:p>
            <a:r>
              <a:rPr lang="en-US" altLang="zh-TW" sz="3000" dirty="0"/>
              <a:t>Efficient Frontier</a:t>
            </a:r>
          </a:p>
          <a:p>
            <a:pPr marL="0" indent="0">
              <a:buNone/>
            </a:pPr>
            <a:r>
              <a:rPr lang="zh-TW" altLang="en-US" sz="2500" dirty="0"/>
              <a:t>（報酬率與風險左上邊界</a:t>
            </a:r>
            <a:r>
              <a:rPr lang="en-US" altLang="zh-TW" sz="2500" dirty="0"/>
              <a:t>(optimal)</a:t>
            </a:r>
            <a:r>
              <a:rPr lang="zh-TW" altLang="en-US" sz="2500" dirty="0"/>
              <a:t>。最小風險</a:t>
            </a:r>
            <a:r>
              <a:rPr lang="en-US" altLang="zh-TW" sz="2500" dirty="0"/>
              <a:t>or</a:t>
            </a:r>
            <a:r>
              <a:rPr lang="zh-TW" altLang="en-US" sz="2500" dirty="0"/>
              <a:t>最高報酬率）</a:t>
            </a:r>
          </a:p>
        </p:txBody>
      </p:sp>
      <p:pic>
        <p:nvPicPr>
          <p:cNvPr id="5" name="圖片 4">
            <a:extLst>
              <a:ext uri="{FF2B5EF4-FFF2-40B4-BE49-F238E27FC236}">
                <a16:creationId xmlns:a16="http://schemas.microsoft.com/office/drawing/2014/main" id="{BA23338F-BEC3-4A7E-AB76-AE77F2574C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409" y="2374978"/>
            <a:ext cx="6378517" cy="3745773"/>
          </a:xfrm>
          <a:prstGeom prst="rect">
            <a:avLst/>
          </a:prstGeom>
        </p:spPr>
      </p:pic>
      <mc:AlternateContent xmlns:mc="http://schemas.openxmlformats.org/markup-compatibility/2006">
        <mc:Choice xmlns:a14="http://schemas.microsoft.com/office/drawing/2010/main" Requires="a14">
          <p:sp>
            <p:nvSpPr>
              <p:cNvPr id="6" name="文字方塊 5">
                <a:extLst>
                  <a:ext uri="{FF2B5EF4-FFF2-40B4-BE49-F238E27FC236}">
                    <a16:creationId xmlns:a16="http://schemas.microsoft.com/office/drawing/2014/main" id="{09C54001-D733-4FA5-B4D7-34578C1852E3}"/>
                  </a:ext>
                </a:extLst>
              </p:cNvPr>
              <p:cNvSpPr txBox="1"/>
              <p:nvPr/>
            </p:nvSpPr>
            <p:spPr>
              <a:xfrm>
                <a:off x="7327681" y="2152839"/>
                <a:ext cx="3774328" cy="923330"/>
              </a:xfrm>
              <a:prstGeom prst="rect">
                <a:avLst/>
              </a:prstGeom>
              <a:noFill/>
            </p:spPr>
            <p:txBody>
              <a:bodyPr wrap="square" rtlCol="0">
                <a:spAutoFit/>
              </a:bodyPr>
              <a:lstStyle/>
              <a:p>
                <a14:m>
                  <m:oMath xmlns:m="http://schemas.openxmlformats.org/officeDocument/2006/math">
                    <m:r>
                      <a:rPr lang="en-US" altLang="zh-TW" b="0" i="1" smtClean="0">
                        <a:solidFill>
                          <a:srgbClr val="0070C0"/>
                        </a:solidFill>
                        <a:latin typeface="Cambria Math" panose="02040503050406030204" pitchFamily="18" charset="0"/>
                        <a:ea typeface="Cambria Math" panose="02040503050406030204" pitchFamily="18" charset="0"/>
                      </a:rPr>
                      <m:t>0</m:t>
                    </m:r>
                    <m:r>
                      <a:rPr lang="el-GR" altLang="zh-TW" i="1" smtClean="0">
                        <a:solidFill>
                          <a:srgbClr val="0070C0"/>
                        </a:solidFill>
                        <a:latin typeface="Cambria Math" panose="02040503050406030204" pitchFamily="18" charset="0"/>
                        <a:ea typeface="Cambria Math" panose="02040503050406030204" pitchFamily="18" charset="0"/>
                      </a:rPr>
                      <m:t>≤</m:t>
                    </m:r>
                    <m:r>
                      <m:rPr>
                        <m:sty m:val="p"/>
                      </m:rPr>
                      <a:rPr lang="el-GR" altLang="zh-TW" i="1" smtClean="0">
                        <a:solidFill>
                          <a:srgbClr val="0070C0"/>
                        </a:solidFill>
                        <a:latin typeface="Cambria Math" panose="02040503050406030204" pitchFamily="18" charset="0"/>
                      </a:rPr>
                      <m:t>λ</m:t>
                    </m:r>
                    <m:r>
                      <a:rPr lang="el-GR" altLang="zh-TW" i="1" smtClean="0">
                        <a:solidFill>
                          <a:srgbClr val="0070C0"/>
                        </a:solidFill>
                        <a:latin typeface="Cambria Math" panose="02040503050406030204" pitchFamily="18" charset="0"/>
                        <a:ea typeface="Cambria Math" panose="02040503050406030204" pitchFamily="18" charset="0"/>
                      </a:rPr>
                      <m:t>≤</m:t>
                    </m:r>
                  </m:oMath>
                </a14:m>
                <a:r>
                  <a:rPr lang="en-US" altLang="zh-TW" dirty="0">
                    <a:solidFill>
                      <a:srgbClr val="0070C0"/>
                    </a:solidFill>
                  </a:rPr>
                  <a:t>1</a:t>
                </a:r>
              </a:p>
              <a:p>
                <a14:m>
                  <m:oMath xmlns:m="http://schemas.openxmlformats.org/officeDocument/2006/math">
                    <m:r>
                      <m:rPr>
                        <m:sty m:val="p"/>
                      </m:rPr>
                      <a:rPr lang="el-GR" altLang="zh-TW" i="1">
                        <a:solidFill>
                          <a:srgbClr val="0070C0"/>
                        </a:solidFill>
                        <a:latin typeface="Cambria Math" panose="02040503050406030204" pitchFamily="18" charset="0"/>
                      </a:rPr>
                      <m:t>λ</m:t>
                    </m:r>
                    <m:r>
                      <a:rPr lang="en-US" altLang="zh-TW" b="0" i="1" smtClean="0">
                        <a:solidFill>
                          <a:srgbClr val="0070C0"/>
                        </a:solidFill>
                        <a:latin typeface="Cambria Math" panose="02040503050406030204" pitchFamily="18" charset="0"/>
                      </a:rPr>
                      <m:t>=</m:t>
                    </m:r>
                  </m:oMath>
                </a14:m>
                <a:r>
                  <a:rPr lang="en-US" altLang="zh-TW" b="0" dirty="0">
                    <a:solidFill>
                      <a:srgbClr val="0070C0"/>
                    </a:solidFill>
                  </a:rPr>
                  <a:t>0: </a:t>
                </a:r>
                <a:r>
                  <a:rPr lang="zh-TW" altLang="en-US" b="0" dirty="0">
                    <a:solidFill>
                      <a:srgbClr val="0070C0"/>
                    </a:solidFill>
                  </a:rPr>
                  <a:t>最高報酬，不論風險</a:t>
                </a:r>
                <a:endParaRPr lang="en-US" altLang="zh-TW" b="0" dirty="0">
                  <a:solidFill>
                    <a:srgbClr val="0070C0"/>
                  </a:solidFill>
                </a:endParaRPr>
              </a:p>
              <a:p>
                <a14:m>
                  <m:oMath xmlns:m="http://schemas.openxmlformats.org/officeDocument/2006/math">
                    <m:r>
                      <m:rPr>
                        <m:sty m:val="p"/>
                      </m:rPr>
                      <a:rPr lang="el-GR" altLang="zh-TW" i="1">
                        <a:solidFill>
                          <a:srgbClr val="0070C0"/>
                        </a:solidFill>
                        <a:latin typeface="Cambria Math" panose="02040503050406030204" pitchFamily="18" charset="0"/>
                      </a:rPr>
                      <m:t>λ</m:t>
                    </m:r>
                    <m:r>
                      <a:rPr lang="en-US" altLang="zh-TW" i="1">
                        <a:solidFill>
                          <a:srgbClr val="0070C0"/>
                        </a:solidFill>
                        <a:latin typeface="Cambria Math" panose="02040503050406030204" pitchFamily="18" charset="0"/>
                      </a:rPr>
                      <m:t>=</m:t>
                    </m:r>
                  </m:oMath>
                </a14:m>
                <a:r>
                  <a:rPr lang="en-US" altLang="zh-TW" dirty="0">
                    <a:solidFill>
                      <a:srgbClr val="0070C0"/>
                    </a:solidFill>
                  </a:rPr>
                  <a:t>1: </a:t>
                </a:r>
                <a:r>
                  <a:rPr lang="zh-TW" altLang="en-US" dirty="0">
                    <a:solidFill>
                      <a:srgbClr val="0070C0"/>
                    </a:solidFill>
                  </a:rPr>
                  <a:t>最小風險，不論報酬</a:t>
                </a:r>
              </a:p>
            </p:txBody>
          </p:sp>
        </mc:Choice>
        <mc:Fallback>
          <p:sp>
            <p:nvSpPr>
              <p:cNvPr id="6" name="文字方塊 5">
                <a:extLst>
                  <a:ext uri="{FF2B5EF4-FFF2-40B4-BE49-F238E27FC236}">
                    <a16:creationId xmlns:a16="http://schemas.microsoft.com/office/drawing/2014/main" id="{09C54001-D733-4FA5-B4D7-34578C1852E3}"/>
                  </a:ext>
                </a:extLst>
              </p:cNvPr>
              <p:cNvSpPr txBox="1">
                <a:spLocks noRot="1" noChangeAspect="1" noMove="1" noResize="1" noEditPoints="1" noAdjustHandles="1" noChangeArrowheads="1" noChangeShapeType="1" noTextEdit="1"/>
              </p:cNvSpPr>
              <p:nvPr/>
            </p:nvSpPr>
            <p:spPr>
              <a:xfrm>
                <a:off x="7327681" y="2152839"/>
                <a:ext cx="3774328" cy="923330"/>
              </a:xfrm>
              <a:prstGeom prst="rect">
                <a:avLst/>
              </a:prstGeom>
              <a:blipFill>
                <a:blip r:embed="rId3"/>
                <a:stretch>
                  <a:fillRect t="-3289" b="-9211"/>
                </a:stretch>
              </a:blipFill>
            </p:spPr>
            <p:txBody>
              <a:bodyPr/>
              <a:lstStyle/>
              <a:p>
                <a:r>
                  <a:rPr lang="zh-TW" altLang="en-US">
                    <a:noFill/>
                  </a:rPr>
                  <a:t> </a:t>
                </a:r>
              </a:p>
            </p:txBody>
          </p:sp>
        </mc:Fallback>
      </mc:AlternateContent>
      <p:pic>
        <p:nvPicPr>
          <p:cNvPr id="7" name="圖片 6">
            <a:extLst>
              <a:ext uri="{FF2B5EF4-FFF2-40B4-BE49-F238E27FC236}">
                <a16:creationId xmlns:a16="http://schemas.microsoft.com/office/drawing/2014/main" id="{D998C9B1-4298-4379-B907-B17DBA8C60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63409" y="3274485"/>
            <a:ext cx="4988195" cy="3451831"/>
          </a:xfrm>
          <a:prstGeom prst="rect">
            <a:avLst/>
          </a:prstGeom>
        </p:spPr>
      </p:pic>
    </p:spTree>
    <p:extLst>
      <p:ext uri="{BB962C8B-B14F-4D97-AF65-F5344CB8AC3E}">
        <p14:creationId xmlns:p14="http://schemas.microsoft.com/office/powerpoint/2010/main" val="1071402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03D6E8-17BB-4F43-B6B6-7F81D7427655}"/>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C58C3B27-6E01-46FB-9A0D-1E1852D0B221}"/>
              </a:ext>
            </a:extLst>
          </p:cNvPr>
          <p:cNvSpPr>
            <a:spLocks noGrp="1"/>
          </p:cNvSpPr>
          <p:nvPr>
            <p:ph idx="1"/>
          </p:nvPr>
        </p:nvSpPr>
        <p:spPr/>
        <p:txBody>
          <a:bodyPr/>
          <a:lstStyle/>
          <a:p>
            <a:r>
              <a:rPr lang="en-US" altLang="zh-TW" dirty="0"/>
              <a:t>Sharpe Ratio model</a:t>
            </a:r>
          </a:p>
          <a:p>
            <a:pPr marL="0" indent="0">
              <a:buNone/>
            </a:pPr>
            <a:r>
              <a:rPr lang="en-US" altLang="zh-TW" sz="2500" dirty="0">
                <a:latin typeface="標楷體" panose="03000509000000000000" pitchFamily="65" charset="-120"/>
                <a:ea typeface="標楷體" panose="03000509000000000000" pitchFamily="65" charset="-120"/>
              </a:rPr>
              <a:t>(</a:t>
            </a:r>
            <a:r>
              <a:rPr lang="zh-TW" altLang="en-US" sz="2500" dirty="0">
                <a:latin typeface="標楷體" panose="03000509000000000000" pitchFamily="65" charset="-120"/>
                <a:ea typeface="標楷體" panose="03000509000000000000" pitchFamily="65" charset="-120"/>
              </a:rPr>
              <a:t>評估風險每增加一單位，報酬率提高多少</a:t>
            </a:r>
            <a:r>
              <a:rPr lang="en-US" altLang="zh-TW" sz="2500" dirty="0">
                <a:latin typeface="標楷體" panose="03000509000000000000" pitchFamily="65" charset="-120"/>
                <a:ea typeface="標楷體" panose="03000509000000000000" pitchFamily="65" charset="-120"/>
              </a:rPr>
              <a:t>)</a:t>
            </a:r>
            <a:endParaRPr lang="zh-TW" altLang="en-US" sz="2500" dirty="0">
              <a:latin typeface="標楷體" panose="03000509000000000000" pitchFamily="65" charset="-120"/>
              <a:ea typeface="標楷體" panose="03000509000000000000" pitchFamily="65" charset="-120"/>
            </a:endParaRPr>
          </a:p>
        </p:txBody>
      </p:sp>
      <p:pic>
        <p:nvPicPr>
          <p:cNvPr id="5" name="圖片 4">
            <a:extLst>
              <a:ext uri="{FF2B5EF4-FFF2-40B4-BE49-F238E27FC236}">
                <a16:creationId xmlns:a16="http://schemas.microsoft.com/office/drawing/2014/main" id="{E8BB15E1-9BE5-43AC-9503-E5F37E7FA7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8747" y="2759849"/>
            <a:ext cx="7029658" cy="3552051"/>
          </a:xfrm>
          <a:prstGeom prst="rect">
            <a:avLst/>
          </a:prstGeom>
        </p:spPr>
      </p:pic>
    </p:spTree>
    <p:extLst>
      <p:ext uri="{BB962C8B-B14F-4D97-AF65-F5344CB8AC3E}">
        <p14:creationId xmlns:p14="http://schemas.microsoft.com/office/powerpoint/2010/main" val="3616431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03D6E8-17BB-4F43-B6B6-7F81D7427655}"/>
              </a:ext>
            </a:extLst>
          </p:cNvPr>
          <p:cNvSpPr>
            <a:spLocks noGrp="1"/>
          </p:cNvSpPr>
          <p:nvPr>
            <p:ph type="title"/>
          </p:nvPr>
        </p:nvSpPr>
        <p:spPr/>
        <p:txBody>
          <a:bodyPr/>
          <a:lstStyle/>
          <a:p>
            <a:r>
              <a:rPr lang="en-US" altLang="zh-TW" dirty="0"/>
              <a:t>Particle Swarm optimization for portfolio</a:t>
            </a:r>
            <a:endParaRPr lang="zh-TW" altLang="en-US" dirty="0"/>
          </a:p>
        </p:txBody>
      </p:sp>
      <p:pic>
        <p:nvPicPr>
          <p:cNvPr id="5" name="內容版面配置區 4">
            <a:extLst>
              <a:ext uri="{FF2B5EF4-FFF2-40B4-BE49-F238E27FC236}">
                <a16:creationId xmlns:a16="http://schemas.microsoft.com/office/drawing/2014/main" id="{CE38AA4D-1E98-40BB-B998-BFBC7C9075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792" y="3233530"/>
            <a:ext cx="5232806" cy="1961321"/>
          </a:xfrm>
        </p:spPr>
      </p:pic>
      <p:grpSp>
        <p:nvGrpSpPr>
          <p:cNvPr id="9" name="群組 8">
            <a:extLst>
              <a:ext uri="{FF2B5EF4-FFF2-40B4-BE49-F238E27FC236}">
                <a16:creationId xmlns:a16="http://schemas.microsoft.com/office/drawing/2014/main" id="{B30A61A7-0A39-4FE3-9C8E-2EE5B0CECEB2}"/>
              </a:ext>
            </a:extLst>
          </p:cNvPr>
          <p:cNvGrpSpPr/>
          <p:nvPr/>
        </p:nvGrpSpPr>
        <p:grpSpPr>
          <a:xfrm>
            <a:off x="5446644" y="2394624"/>
            <a:ext cx="6414052" cy="3065272"/>
            <a:chOff x="5582092" y="1971941"/>
            <a:chExt cx="5897526" cy="2713244"/>
          </a:xfrm>
        </p:grpSpPr>
        <p:pic>
          <p:nvPicPr>
            <p:cNvPr id="7" name="圖片 6">
              <a:extLst>
                <a:ext uri="{FF2B5EF4-FFF2-40B4-BE49-F238E27FC236}">
                  <a16:creationId xmlns:a16="http://schemas.microsoft.com/office/drawing/2014/main" id="{68106115-5DBD-4BB9-BCC1-B1DC84BC28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3478" y="2448995"/>
              <a:ext cx="5706140" cy="2236190"/>
            </a:xfrm>
            <a:prstGeom prst="rect">
              <a:avLst/>
            </a:prstGeom>
          </p:spPr>
        </p:pic>
        <p:sp>
          <p:nvSpPr>
            <p:cNvPr id="8" name="文字方塊 7">
              <a:extLst>
                <a:ext uri="{FF2B5EF4-FFF2-40B4-BE49-F238E27FC236}">
                  <a16:creationId xmlns:a16="http://schemas.microsoft.com/office/drawing/2014/main" id="{E8C3EBFD-CE3B-46EB-A433-1460DB624C48}"/>
                </a:ext>
              </a:extLst>
            </p:cNvPr>
            <p:cNvSpPr txBox="1"/>
            <p:nvPr/>
          </p:nvSpPr>
          <p:spPr>
            <a:xfrm>
              <a:off x="5582092" y="1971941"/>
              <a:ext cx="2541182" cy="477054"/>
            </a:xfrm>
            <a:prstGeom prst="rect">
              <a:avLst/>
            </a:prstGeom>
            <a:noFill/>
          </p:spPr>
          <p:txBody>
            <a:bodyPr wrap="square" rtlCol="0">
              <a:spAutoFit/>
            </a:bodyPr>
            <a:lstStyle/>
            <a:p>
              <a:r>
                <a:rPr lang="en-US" altLang="zh-TW" sz="2500" dirty="0"/>
                <a:t>Fitness function: </a:t>
              </a:r>
              <a:endParaRPr lang="zh-TW" altLang="en-US" sz="2500" dirty="0"/>
            </a:p>
          </p:txBody>
        </p:sp>
      </p:grpSp>
      <p:sp>
        <p:nvSpPr>
          <p:cNvPr id="6" name="矩形 5">
            <a:extLst>
              <a:ext uri="{FF2B5EF4-FFF2-40B4-BE49-F238E27FC236}">
                <a16:creationId xmlns:a16="http://schemas.microsoft.com/office/drawing/2014/main" id="{1D1B4B53-23CF-462A-86E5-0481F3D5652E}"/>
              </a:ext>
            </a:extLst>
          </p:cNvPr>
          <p:cNvSpPr/>
          <p:nvPr/>
        </p:nvSpPr>
        <p:spPr>
          <a:xfrm>
            <a:off x="5654792" y="4691270"/>
            <a:ext cx="6205904" cy="76862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29507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2E94B0-6D8E-4FF6-94FF-4B1B4157FF81}"/>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CCC889BC-B490-4F17-BF96-216D30C7D6A8}"/>
              </a:ext>
            </a:extLst>
          </p:cNvPr>
          <p:cNvSpPr>
            <a:spLocks noGrp="1"/>
          </p:cNvSpPr>
          <p:nvPr>
            <p:ph idx="1"/>
          </p:nvPr>
        </p:nvSpPr>
        <p:spPr/>
        <p:txBody>
          <a:bodyPr/>
          <a:lstStyle/>
          <a:p>
            <a:r>
              <a:rPr lang="en-US" altLang="zh-TW" dirty="0"/>
              <a:t>Particles movement</a:t>
            </a:r>
            <a:endParaRPr lang="zh-TW" altLang="en-US" dirty="0"/>
          </a:p>
        </p:txBody>
      </p:sp>
      <p:pic>
        <p:nvPicPr>
          <p:cNvPr id="7" name="圖片 6">
            <a:extLst>
              <a:ext uri="{FF2B5EF4-FFF2-40B4-BE49-F238E27FC236}">
                <a16:creationId xmlns:a16="http://schemas.microsoft.com/office/drawing/2014/main" id="{A67BD2F0-EDD7-4F35-A23D-4519AF62BB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671274"/>
            <a:ext cx="6287377" cy="3505689"/>
          </a:xfrm>
          <a:prstGeom prst="rect">
            <a:avLst/>
          </a:prstGeom>
        </p:spPr>
      </p:pic>
      <p:pic>
        <p:nvPicPr>
          <p:cNvPr id="9" name="圖片 8">
            <a:extLst>
              <a:ext uri="{FF2B5EF4-FFF2-40B4-BE49-F238E27FC236}">
                <a16:creationId xmlns:a16="http://schemas.microsoft.com/office/drawing/2014/main" id="{31460AC6-8BDB-41D6-AF5C-7D6B8A88D6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6902" y="2526020"/>
            <a:ext cx="4469735" cy="3785880"/>
          </a:xfrm>
          <a:prstGeom prst="rect">
            <a:avLst/>
          </a:prstGeom>
        </p:spPr>
      </p:pic>
    </p:spTree>
    <p:extLst>
      <p:ext uri="{BB962C8B-B14F-4D97-AF65-F5344CB8AC3E}">
        <p14:creationId xmlns:p14="http://schemas.microsoft.com/office/powerpoint/2010/main" val="1365842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2E94B0-6D8E-4FF6-94FF-4B1B4157FF81}"/>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39A9EEB8-08CE-49F2-A1D3-963F9B57DB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6322" y="1926360"/>
            <a:ext cx="3467584" cy="790685"/>
          </a:xfrm>
        </p:spPr>
      </p:pic>
      <p:pic>
        <p:nvPicPr>
          <p:cNvPr id="7" name="圖片 6">
            <a:extLst>
              <a:ext uri="{FF2B5EF4-FFF2-40B4-BE49-F238E27FC236}">
                <a16:creationId xmlns:a16="http://schemas.microsoft.com/office/drawing/2014/main" id="{DBEE90B7-310B-46A3-B21C-B845A73971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322" y="2952717"/>
            <a:ext cx="3515216" cy="1676634"/>
          </a:xfrm>
          <a:prstGeom prst="rect">
            <a:avLst/>
          </a:prstGeom>
        </p:spPr>
      </p:pic>
    </p:spTree>
    <p:extLst>
      <p:ext uri="{BB962C8B-B14F-4D97-AF65-F5344CB8AC3E}">
        <p14:creationId xmlns:p14="http://schemas.microsoft.com/office/powerpoint/2010/main" val="442747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2E94B0-6D8E-4FF6-94FF-4B1B4157FF81}"/>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8E6DE200-7974-4C57-B493-5961EF3DC8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00400" y="540819"/>
            <a:ext cx="5709683" cy="5942555"/>
          </a:xfrm>
        </p:spPr>
      </p:pic>
    </p:spTree>
    <p:extLst>
      <p:ext uri="{BB962C8B-B14F-4D97-AF65-F5344CB8AC3E}">
        <p14:creationId xmlns:p14="http://schemas.microsoft.com/office/powerpoint/2010/main" val="3399950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2E94B0-6D8E-4FF6-94FF-4B1B4157FF81}"/>
              </a:ext>
            </a:extLst>
          </p:cNvPr>
          <p:cNvSpPr>
            <a:spLocks noGrp="1"/>
          </p:cNvSpPr>
          <p:nvPr>
            <p:ph type="title"/>
          </p:nvPr>
        </p:nvSpPr>
        <p:spPr>
          <a:xfrm>
            <a:off x="838200" y="139838"/>
            <a:ext cx="10515600" cy="1325563"/>
          </a:xfrm>
        </p:spPr>
        <p:txBody>
          <a:bodyPr/>
          <a:lstStyle/>
          <a:p>
            <a:r>
              <a:rPr lang="en-US" altLang="zh-TW" dirty="0"/>
              <a:t>Unrestricted vs Restricted</a:t>
            </a:r>
            <a:endParaRPr lang="zh-TW" altLang="en-US" dirty="0"/>
          </a:p>
        </p:txBody>
      </p:sp>
      <p:pic>
        <p:nvPicPr>
          <p:cNvPr id="5" name="內容版面配置區 4">
            <a:extLst>
              <a:ext uri="{FF2B5EF4-FFF2-40B4-BE49-F238E27FC236}">
                <a16:creationId xmlns:a16="http://schemas.microsoft.com/office/drawing/2014/main" id="{7AF279F4-243F-4B3D-B242-00891AA462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09007"/>
            <a:ext cx="6768548" cy="5348971"/>
          </a:xfrm>
        </p:spPr>
      </p:pic>
      <p:sp>
        <p:nvSpPr>
          <p:cNvPr id="6" name="文字方塊 5">
            <a:extLst>
              <a:ext uri="{FF2B5EF4-FFF2-40B4-BE49-F238E27FC236}">
                <a16:creationId xmlns:a16="http://schemas.microsoft.com/office/drawing/2014/main" id="{AA4A4F07-8288-4657-88C2-6CE09BB23CA7}"/>
              </a:ext>
            </a:extLst>
          </p:cNvPr>
          <p:cNvSpPr txBox="1"/>
          <p:nvPr/>
        </p:nvSpPr>
        <p:spPr>
          <a:xfrm>
            <a:off x="7606748" y="4770782"/>
            <a:ext cx="4280453" cy="1000274"/>
          </a:xfrm>
          <a:prstGeom prst="rect">
            <a:avLst/>
          </a:prstGeom>
          <a:noFill/>
        </p:spPr>
        <p:txBody>
          <a:bodyPr wrap="square" rtlCol="0">
            <a:spAutoFit/>
          </a:bodyPr>
          <a:lstStyle/>
          <a:p>
            <a:r>
              <a:rPr lang="en-US" altLang="zh-TW" sz="2300" dirty="0">
                <a:solidFill>
                  <a:srgbClr val="0070C0"/>
                </a:solidFill>
                <a:latin typeface="Cambria" panose="02040503050406030204" pitchFamily="18" charset="0"/>
                <a:ea typeface="標楷體" panose="03000509000000000000" pitchFamily="65" charset="-120"/>
              </a:rPr>
              <a:t>Unrestricted: short selling </a:t>
            </a:r>
            <a:r>
              <a:rPr lang="en-US" altLang="zh-TW" sz="2300" dirty="0">
                <a:solidFill>
                  <a:srgbClr val="0070C0"/>
                </a:solidFill>
                <a:latin typeface="標楷體" panose="03000509000000000000" pitchFamily="65" charset="-120"/>
                <a:ea typeface="標楷體" panose="03000509000000000000" pitchFamily="65" charset="-120"/>
              </a:rPr>
              <a:t>(</a:t>
            </a:r>
            <a:r>
              <a:rPr lang="zh-TW" altLang="en-US" sz="2300" dirty="0">
                <a:solidFill>
                  <a:srgbClr val="0070C0"/>
                </a:solidFill>
                <a:latin typeface="標楷體" panose="03000509000000000000" pitchFamily="65" charset="-120"/>
                <a:ea typeface="標楷體" panose="03000509000000000000" pitchFamily="65" charset="-120"/>
              </a:rPr>
              <a:t>賣空</a:t>
            </a:r>
            <a:r>
              <a:rPr lang="en-US" altLang="zh-TW" sz="2300" dirty="0">
                <a:solidFill>
                  <a:srgbClr val="0070C0"/>
                </a:solidFill>
                <a:latin typeface="標楷體" panose="03000509000000000000" pitchFamily="65" charset="-120"/>
                <a:ea typeface="標楷體" panose="03000509000000000000" pitchFamily="65" charset="-120"/>
              </a:rPr>
              <a:t>)</a:t>
            </a:r>
          </a:p>
          <a:p>
            <a:r>
              <a:rPr lang="zh-TW" altLang="en-US" dirty="0">
                <a:solidFill>
                  <a:srgbClr val="0070C0"/>
                </a:solidFill>
                <a:latin typeface="標楷體" panose="03000509000000000000" pitchFamily="65" charset="-120"/>
                <a:ea typeface="標楷體" panose="03000509000000000000" pitchFamily="65" charset="-120"/>
              </a:rPr>
              <a:t>投資者賣掉手上沒有的股票</a:t>
            </a:r>
            <a:r>
              <a:rPr lang="en-US" altLang="zh-TW" dirty="0">
                <a:solidFill>
                  <a:srgbClr val="0070C0"/>
                </a:solidFill>
                <a:latin typeface="標楷體" panose="03000509000000000000" pitchFamily="65" charset="-120"/>
                <a:ea typeface="標楷體" panose="03000509000000000000" pitchFamily="65" charset="-120"/>
              </a:rPr>
              <a:t>(</a:t>
            </a:r>
            <a:r>
              <a:rPr lang="zh-TW" altLang="en-US" dirty="0">
                <a:solidFill>
                  <a:srgbClr val="0070C0"/>
                </a:solidFill>
                <a:latin typeface="標楷體" panose="03000509000000000000" pitchFamily="65" charset="-120"/>
                <a:ea typeface="標楷體" panose="03000509000000000000" pitchFamily="65" charset="-120"/>
              </a:rPr>
              <a:t>融券</a:t>
            </a:r>
            <a:r>
              <a:rPr lang="en-US" altLang="zh-TW" dirty="0">
                <a:solidFill>
                  <a:srgbClr val="0070C0"/>
                </a:solidFill>
                <a:latin typeface="標楷體" panose="03000509000000000000" pitchFamily="65" charset="-120"/>
                <a:ea typeface="標楷體" panose="03000509000000000000" pitchFamily="65" charset="-120"/>
              </a:rPr>
              <a:t>)</a:t>
            </a:r>
            <a:r>
              <a:rPr lang="zh-TW" altLang="en-US" dirty="0">
                <a:solidFill>
                  <a:srgbClr val="0070C0"/>
                </a:solidFill>
                <a:latin typeface="標楷體" panose="03000509000000000000" pitchFamily="65" charset="-120"/>
                <a:ea typeface="標楷體" panose="03000509000000000000" pitchFamily="65" charset="-120"/>
              </a:rPr>
              <a:t>，之後在低點時買回，賺取價差</a:t>
            </a:r>
            <a:r>
              <a:rPr lang="en-US" altLang="zh-TW" dirty="0">
                <a:solidFill>
                  <a:srgbClr val="0070C0"/>
                </a:solidFill>
                <a:latin typeface="標楷體" panose="03000509000000000000" pitchFamily="65" charset="-120"/>
                <a:ea typeface="標楷體" panose="03000509000000000000" pitchFamily="65" charset="-120"/>
              </a:rPr>
              <a:t> </a:t>
            </a:r>
            <a:endParaRPr lang="zh-TW" altLang="en-US" dirty="0">
              <a:solidFill>
                <a:srgbClr val="0070C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705235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56BC9D-50DF-4E89-91DF-A89BB6CD1FAF}"/>
              </a:ext>
            </a:extLst>
          </p:cNvPr>
          <p:cNvSpPr>
            <a:spLocks noGrp="1"/>
          </p:cNvSpPr>
          <p:nvPr>
            <p:ph type="title"/>
          </p:nvPr>
        </p:nvSpPr>
        <p:spPr/>
        <p:txBody>
          <a:bodyPr/>
          <a:lstStyle/>
          <a:p>
            <a:r>
              <a:rPr lang="en-US" altLang="zh-TW" dirty="0"/>
              <a:t>Experiment results</a:t>
            </a:r>
            <a:endParaRPr lang="zh-TW" altLang="en-US" dirty="0"/>
          </a:p>
        </p:txBody>
      </p:sp>
      <p:pic>
        <p:nvPicPr>
          <p:cNvPr id="5" name="內容版面配置區 4">
            <a:extLst>
              <a:ext uri="{FF2B5EF4-FFF2-40B4-BE49-F238E27FC236}">
                <a16:creationId xmlns:a16="http://schemas.microsoft.com/office/drawing/2014/main" id="{853C0463-230F-430C-B1AA-51CB14802A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1207" y="2214972"/>
            <a:ext cx="11473013" cy="3695497"/>
          </a:xfrm>
        </p:spPr>
      </p:pic>
    </p:spTree>
    <p:extLst>
      <p:ext uri="{BB962C8B-B14F-4D97-AF65-F5344CB8AC3E}">
        <p14:creationId xmlns:p14="http://schemas.microsoft.com/office/powerpoint/2010/main" val="1457788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56BC9D-50DF-4E89-91DF-A89BB6CD1FAF}"/>
              </a:ext>
            </a:extLst>
          </p:cNvPr>
          <p:cNvSpPr>
            <a:spLocks noGrp="1"/>
          </p:cNvSpPr>
          <p:nvPr>
            <p:ph type="title"/>
          </p:nvPr>
        </p:nvSpPr>
        <p:spPr/>
        <p:txBody>
          <a:bodyPr>
            <a:normAutofit/>
          </a:bodyPr>
          <a:lstStyle/>
          <a:p>
            <a:r>
              <a:rPr lang="en-US" altLang="zh-TW" sz="3600" dirty="0"/>
              <a:t>PSO particle’s updating process</a:t>
            </a:r>
            <a:endParaRPr lang="zh-TW" altLang="en-US" sz="3600" dirty="0"/>
          </a:p>
        </p:txBody>
      </p:sp>
      <p:pic>
        <p:nvPicPr>
          <p:cNvPr id="5" name="內容版面配置區 4">
            <a:extLst>
              <a:ext uri="{FF2B5EF4-FFF2-40B4-BE49-F238E27FC236}">
                <a16:creationId xmlns:a16="http://schemas.microsoft.com/office/drawing/2014/main" id="{C500FDED-2F80-41CF-AAB8-8FA04408EF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62872" y="2441924"/>
            <a:ext cx="8066255" cy="3487921"/>
          </a:xfrm>
        </p:spPr>
      </p:pic>
    </p:spTree>
    <p:extLst>
      <p:ext uri="{BB962C8B-B14F-4D97-AF65-F5344CB8AC3E}">
        <p14:creationId xmlns:p14="http://schemas.microsoft.com/office/powerpoint/2010/main" val="2614787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56BC9D-50DF-4E89-91DF-A89BB6CD1FAF}"/>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1EAAE9CE-B043-426E-AA66-93E033C8C4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5147" y="3383783"/>
            <a:ext cx="7197837" cy="3335426"/>
          </a:xfrm>
        </p:spPr>
      </p:pic>
      <p:pic>
        <p:nvPicPr>
          <p:cNvPr id="6" name="圖片 5">
            <a:extLst>
              <a:ext uri="{FF2B5EF4-FFF2-40B4-BE49-F238E27FC236}">
                <a16:creationId xmlns:a16="http://schemas.microsoft.com/office/drawing/2014/main" id="{DC028FF7-A7D4-4536-ADF2-47BF4AA138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1062" y="197732"/>
            <a:ext cx="7381922" cy="2985911"/>
          </a:xfrm>
          <a:prstGeom prst="rect">
            <a:avLst/>
          </a:prstGeom>
        </p:spPr>
      </p:pic>
    </p:spTree>
    <p:extLst>
      <p:ext uri="{BB962C8B-B14F-4D97-AF65-F5344CB8AC3E}">
        <p14:creationId xmlns:p14="http://schemas.microsoft.com/office/powerpoint/2010/main" val="2959223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558148-A3AD-4D18-B52C-6C56BE00BEAE}"/>
              </a:ext>
            </a:extLst>
          </p:cNvPr>
          <p:cNvSpPr>
            <a:spLocks noGrp="1"/>
          </p:cNvSpPr>
          <p:nvPr>
            <p:ph type="title"/>
          </p:nvPr>
        </p:nvSpPr>
        <p:spPr/>
        <p:txBody>
          <a:bodyPr>
            <a:normAutofit/>
          </a:bodyPr>
          <a:lstStyle/>
          <a:p>
            <a:r>
              <a:rPr lang="en-US" altLang="zh-TW" sz="3600" dirty="0"/>
              <a:t>Evolutionary process in </a:t>
            </a:r>
            <a:r>
              <a:rPr lang="en-US" altLang="zh-TW" sz="3600" dirty="0" err="1"/>
              <a:t>GeneHunter</a:t>
            </a:r>
            <a:r>
              <a:rPr lang="en-US" altLang="zh-TW" sz="3600" dirty="0"/>
              <a:t> Wang, 2005.</a:t>
            </a:r>
            <a:endParaRPr lang="zh-TW" altLang="en-US" sz="3600" dirty="0"/>
          </a:p>
        </p:txBody>
      </p:sp>
      <p:pic>
        <p:nvPicPr>
          <p:cNvPr id="5" name="內容版面配置區 4">
            <a:extLst>
              <a:ext uri="{FF2B5EF4-FFF2-40B4-BE49-F238E27FC236}">
                <a16:creationId xmlns:a16="http://schemas.microsoft.com/office/drawing/2014/main" id="{7AE94484-FD26-4A66-BCC5-1760C3A499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1065" y="1928435"/>
            <a:ext cx="8729870" cy="3545808"/>
          </a:xfrm>
        </p:spPr>
      </p:pic>
    </p:spTree>
    <p:extLst>
      <p:ext uri="{BB962C8B-B14F-4D97-AF65-F5344CB8AC3E}">
        <p14:creationId xmlns:p14="http://schemas.microsoft.com/office/powerpoint/2010/main" val="359917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558148-A3AD-4D18-B52C-6C56BE00BEAE}"/>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B4AD5E31-ECF1-4FB7-9286-64A20B2247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1298" y="40182"/>
            <a:ext cx="7989404" cy="3301011"/>
          </a:xfrm>
        </p:spPr>
      </p:pic>
      <p:pic>
        <p:nvPicPr>
          <p:cNvPr id="7" name="圖片 6">
            <a:extLst>
              <a:ext uri="{FF2B5EF4-FFF2-40B4-BE49-F238E27FC236}">
                <a16:creationId xmlns:a16="http://schemas.microsoft.com/office/drawing/2014/main" id="{2E6C3A27-2F16-4661-A01B-D8395D8DE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5544" y="3341193"/>
            <a:ext cx="7975158" cy="3464231"/>
          </a:xfrm>
          <a:prstGeom prst="rect">
            <a:avLst/>
          </a:prstGeom>
        </p:spPr>
      </p:pic>
    </p:spTree>
    <p:extLst>
      <p:ext uri="{BB962C8B-B14F-4D97-AF65-F5344CB8AC3E}">
        <p14:creationId xmlns:p14="http://schemas.microsoft.com/office/powerpoint/2010/main" val="2276364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558148-A3AD-4D18-B52C-6C56BE00BEAE}"/>
              </a:ext>
            </a:extLst>
          </p:cNvPr>
          <p:cNvSpPr>
            <a:spLocks noGrp="1"/>
          </p:cNvSpPr>
          <p:nvPr>
            <p:ph type="title"/>
          </p:nvPr>
        </p:nvSpPr>
        <p:spPr/>
        <p:txBody>
          <a:bodyPr/>
          <a:lstStyle/>
          <a:p>
            <a:r>
              <a:rPr lang="en-US" altLang="zh-TW" dirty="0"/>
              <a:t>The efficient frontier of the portfolio gotten from PSO, GA and VBA solver</a:t>
            </a:r>
            <a:endParaRPr lang="zh-TW" altLang="en-US" dirty="0"/>
          </a:p>
        </p:txBody>
      </p:sp>
      <p:pic>
        <p:nvPicPr>
          <p:cNvPr id="5" name="內容版面配置區 4">
            <a:extLst>
              <a:ext uri="{FF2B5EF4-FFF2-40B4-BE49-F238E27FC236}">
                <a16:creationId xmlns:a16="http://schemas.microsoft.com/office/drawing/2014/main" id="{7AE190A7-284E-48CA-B73D-1A9DA034DA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2781" y="2093848"/>
            <a:ext cx="9166438" cy="3845037"/>
          </a:xfrm>
        </p:spPr>
      </p:pic>
    </p:spTree>
    <p:extLst>
      <p:ext uri="{BB962C8B-B14F-4D97-AF65-F5344CB8AC3E}">
        <p14:creationId xmlns:p14="http://schemas.microsoft.com/office/powerpoint/2010/main" val="2210475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293B27-13E5-46D2-BD6D-37877B5E573B}"/>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AD5FD11A-FC8E-42DF-97BF-F3D4AEADD1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9054" y="0"/>
            <a:ext cx="8101319" cy="3167270"/>
          </a:xfrm>
        </p:spPr>
      </p:pic>
      <p:pic>
        <p:nvPicPr>
          <p:cNvPr id="7" name="圖片 6">
            <a:extLst>
              <a:ext uri="{FF2B5EF4-FFF2-40B4-BE49-F238E27FC236}">
                <a16:creationId xmlns:a16="http://schemas.microsoft.com/office/drawing/2014/main" id="{F8BF520E-017E-41C1-97D8-0FC614C5CB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9054" y="3167270"/>
            <a:ext cx="8026098" cy="3690730"/>
          </a:xfrm>
          <a:prstGeom prst="rect">
            <a:avLst/>
          </a:prstGeom>
        </p:spPr>
      </p:pic>
    </p:spTree>
    <p:extLst>
      <p:ext uri="{BB962C8B-B14F-4D97-AF65-F5344CB8AC3E}">
        <p14:creationId xmlns:p14="http://schemas.microsoft.com/office/powerpoint/2010/main" val="88307040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387</Words>
  <Application>Microsoft Office PowerPoint</Application>
  <PresentationFormat>寬螢幕</PresentationFormat>
  <Paragraphs>36</Paragraphs>
  <Slides>17</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17</vt:i4>
      </vt:variant>
    </vt:vector>
  </HeadingPairs>
  <TitlesOfParts>
    <vt:vector size="25" baseType="lpstr">
      <vt:lpstr>新細明體</vt:lpstr>
      <vt:lpstr>標楷體</vt:lpstr>
      <vt:lpstr>Arial</vt:lpstr>
      <vt:lpstr>Calibri</vt:lpstr>
      <vt:lpstr>Calibri Light</vt:lpstr>
      <vt:lpstr>Cambria</vt:lpstr>
      <vt:lpstr>Cambria Math</vt:lpstr>
      <vt:lpstr>Office 佈景主題</vt:lpstr>
      <vt:lpstr>Particle Swarm Optimization (PSO) for the constrained portfolio optimization problem</vt:lpstr>
      <vt:lpstr>Abstract</vt:lpstr>
      <vt:lpstr>Model for portfolio optimization</vt:lpstr>
      <vt:lpstr>PowerPoint 簡報</vt:lpstr>
      <vt:lpstr>PowerPoint 簡報</vt:lpstr>
      <vt:lpstr>Particle Swarm optimization for portfolio</vt:lpstr>
      <vt:lpstr>PowerPoint 簡報</vt:lpstr>
      <vt:lpstr>PowerPoint 簡報</vt:lpstr>
      <vt:lpstr>PowerPoint 簡報</vt:lpstr>
      <vt:lpstr>Unrestricted vs Restricted</vt:lpstr>
      <vt:lpstr>Experiment results</vt:lpstr>
      <vt:lpstr>PSO particle’s updating process</vt:lpstr>
      <vt:lpstr>PowerPoint 簡報</vt:lpstr>
      <vt:lpstr>Evolutionary process in GeneHunter Wang, 2005.</vt:lpstr>
      <vt:lpstr>PowerPoint 簡報</vt:lpstr>
      <vt:lpstr>The efficient frontier of the portfolio gotten from PSO, GA and VBA solver</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Particle Swarm Optimization (PSO) for the constrained portfolio optimization problem</dc:title>
  <dc:creator>M043040036</dc:creator>
  <cp:lastModifiedBy>M043040036</cp:lastModifiedBy>
  <cp:revision>26</cp:revision>
  <dcterms:created xsi:type="dcterms:W3CDTF">2017-07-25T09:59:17Z</dcterms:created>
  <dcterms:modified xsi:type="dcterms:W3CDTF">2017-07-25T11:29:28Z</dcterms:modified>
</cp:coreProperties>
</file>