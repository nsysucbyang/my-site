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76" r:id="rId3"/>
    <p:sldId id="327" r:id="rId4"/>
    <p:sldId id="329" r:id="rId5"/>
    <p:sldId id="328" r:id="rId6"/>
    <p:sldId id="333" r:id="rId7"/>
    <p:sldId id="334" r:id="rId8"/>
    <p:sldId id="335"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37" autoAdjust="0"/>
    <p:restoredTop sz="88835" autoAdjust="0"/>
  </p:normalViewPr>
  <p:slideViewPr>
    <p:cSldViewPr snapToGrid="0">
      <p:cViewPr varScale="1">
        <p:scale>
          <a:sx n="103" d="100"/>
          <a:sy n="103" d="100"/>
        </p:scale>
        <p:origin x="1320"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7986E-2186-42F2-A1F5-4424A07DD94D}" type="datetimeFigureOut">
              <a:rPr lang="zh-TW" altLang="en-US" smtClean="0"/>
              <a:t>2017/7/24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014D64-E656-4722-AF7D-B3D63D1F5DC9}" type="slidenum">
              <a:rPr lang="zh-TW" altLang="en-US" smtClean="0"/>
              <a:t>‹#›</a:t>
            </a:fld>
            <a:endParaRPr lang="zh-TW" altLang="en-US"/>
          </a:p>
        </p:txBody>
      </p:sp>
    </p:spTree>
    <p:extLst>
      <p:ext uri="{BB962C8B-B14F-4D97-AF65-F5344CB8AC3E}">
        <p14:creationId xmlns:p14="http://schemas.microsoft.com/office/powerpoint/2010/main" val="168197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a:t>
            </a:fld>
            <a:endParaRPr lang="zh-TW" altLang="en-US"/>
          </a:p>
        </p:txBody>
      </p:sp>
    </p:spTree>
    <p:extLst>
      <p:ext uri="{BB962C8B-B14F-4D97-AF65-F5344CB8AC3E}">
        <p14:creationId xmlns:p14="http://schemas.microsoft.com/office/powerpoint/2010/main" val="1499810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978346F-159C-4E5E-A9BC-B4FAF4B8F4AD}" type="datetime1">
              <a:rPr lang="zh-TW" altLang="en-US" smtClean="0"/>
              <a:t>2017/7/24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156464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A45FE-5976-4612-A121-9F7FA6C65956}" type="datetime1">
              <a:rPr lang="zh-TW" altLang="en-US" smtClean="0"/>
              <a:t>2017/7/24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endParaRPr lang="zh-TW" altLang="en-US" dirty="0"/>
          </a:p>
        </p:txBody>
      </p:sp>
    </p:spTree>
    <p:extLst>
      <p:ext uri="{BB962C8B-B14F-4D97-AF65-F5344CB8AC3E}">
        <p14:creationId xmlns:p14="http://schemas.microsoft.com/office/powerpoint/2010/main" val="10837517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10E126F-36C8-4C5A-8698-9E4A53D999E5}" type="datetime1">
              <a:rPr lang="zh-TW" altLang="en-US" smtClean="0"/>
              <a:t>2017/7/24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418659647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9918B67-291F-45ED-BF8F-60129A7CAFCF}" type="datetime1">
              <a:rPr lang="zh-TW" altLang="en-US" smtClean="0"/>
              <a:t>2017/7/24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085235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49F5E44-883D-47F1-80F2-BBD83A64BF20}" type="datetime1">
              <a:rPr lang="zh-TW" altLang="en-US" smtClean="0"/>
              <a:t>2017/7/24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51000604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81DBBE2-5504-4D7F-9CC4-F2C58F132876}" type="datetime1">
              <a:rPr lang="zh-TW" altLang="en-US" smtClean="0"/>
              <a:t>2017/7/24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809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CE0DA84-72B1-4070-A970-AE6E5670C53F}" type="datetime1">
              <a:rPr lang="zh-TW" altLang="en-US" smtClean="0"/>
              <a:t>2017/7/24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02129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05BC297-F23E-49C2-9FD2-1DB5A3D63A00}" type="datetime1">
              <a:rPr lang="zh-TW" altLang="en-US" smtClean="0"/>
              <a:t>2017/7/24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55461219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660853A-160A-4D81-8E79-297A6811D44C}" type="datetime1">
              <a:rPr lang="zh-TW" altLang="en-US" smtClean="0"/>
              <a:t>2017/7/24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40372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0AFD68B-4BF6-411C-BDB8-9879BE85A868}" type="datetime1">
              <a:rPr lang="zh-TW" altLang="en-US" smtClean="0"/>
              <a:t>2017/7/24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04801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09472C-E7F7-4061-8A6B-A2FC31C7A013}" type="datetime1">
              <a:rPr lang="zh-TW" altLang="en-US" smtClean="0"/>
              <a:t>2017/7/24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973835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AA8E3B-251A-4826-B76B-2ED6FD8BECB3}" type="datetime1">
              <a:rPr lang="zh-TW" altLang="en-US" smtClean="0"/>
              <a:t>2017/7/24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626280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18681" y="559444"/>
            <a:ext cx="9954638" cy="1819245"/>
          </a:xfrm>
        </p:spPr>
        <p:txBody>
          <a:bodyPr anchor="ctr">
            <a:normAutofit/>
          </a:bodyPr>
          <a:lstStyle/>
          <a:p>
            <a:r>
              <a:rPr lang="en-US" altLang="zh-TW" sz="4800" b="1" dirty="0">
                <a:latin typeface="Times New Roman" panose="02020603050405020304" pitchFamily="18" charset="0"/>
                <a:cs typeface="Times New Roman" panose="02020603050405020304" pitchFamily="18" charset="0"/>
              </a:rPr>
              <a:t>Highly Comparative Feature-Based</a:t>
            </a:r>
            <a:br>
              <a:rPr lang="en-US" altLang="zh-TW" sz="4800" b="1" dirty="0">
                <a:latin typeface="Times New Roman" panose="02020603050405020304" pitchFamily="18" charset="0"/>
                <a:cs typeface="Times New Roman" panose="02020603050405020304" pitchFamily="18" charset="0"/>
              </a:rPr>
            </a:br>
            <a:r>
              <a:rPr lang="en-US" altLang="zh-TW" sz="4800" b="1" dirty="0">
                <a:latin typeface="Times New Roman" panose="02020603050405020304" pitchFamily="18" charset="0"/>
                <a:cs typeface="Times New Roman" panose="02020603050405020304" pitchFamily="18" charset="0"/>
              </a:rPr>
              <a:t>Time-Series Classification</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7959305" y="5620621"/>
            <a:ext cx="3893389" cy="935455"/>
          </a:xfrm>
        </p:spPr>
        <p:txBody>
          <a:bodyPr/>
          <a:lstStyle/>
          <a:p>
            <a:r>
              <a:rPr lang="en-US" altLang="zh-TW" dirty="0" smtClean="0">
                <a:latin typeface="Times New Roman" panose="02020603050405020304" pitchFamily="18" charset="0"/>
                <a:cs typeface="Times New Roman" panose="02020603050405020304" pitchFamily="18" charset="0"/>
              </a:rPr>
              <a:t>Presenter</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Bo-Xian Chen</a:t>
            </a:r>
          </a:p>
          <a:p>
            <a:r>
              <a:rPr lang="en-US" altLang="zh-TW" dirty="0" smtClean="0">
                <a:latin typeface="Times New Roman" panose="02020603050405020304" pitchFamily="18" charset="0"/>
                <a:cs typeface="Times New Roman" panose="02020603050405020304" pitchFamily="18" charset="0"/>
              </a:rPr>
              <a:t>  Date : </a:t>
            </a:r>
            <a:fld id="{DA00540B-99AF-4B5E-9AEF-55C0985778C8}" type="datetime1">
              <a:rPr lang="zh-TW" altLang="en-US" smtClean="0">
                <a:latin typeface="Times New Roman" panose="02020603050405020304" pitchFamily="18" charset="0"/>
                <a:cs typeface="Times New Roman" panose="02020603050405020304" pitchFamily="18" charset="0"/>
              </a:rPr>
              <a:t>2017/7/24</a:t>
            </a:fld>
            <a:endParaRPr lang="zh-TW" altLang="en-US" dirty="0">
              <a:latin typeface="Times New Roman" panose="02020603050405020304" pitchFamily="18" charset="0"/>
              <a:cs typeface="Times New Roman" panose="02020603050405020304" pitchFamily="18" charset="0"/>
            </a:endParaRPr>
          </a:p>
        </p:txBody>
      </p:sp>
      <p:sp>
        <p:nvSpPr>
          <p:cNvPr id="4" name="標題 1"/>
          <p:cNvSpPr txBox="1">
            <a:spLocks/>
          </p:cNvSpPr>
          <p:nvPr/>
        </p:nvSpPr>
        <p:spPr>
          <a:xfrm>
            <a:off x="1549933" y="3447219"/>
            <a:ext cx="9092134" cy="1449115"/>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2449" b="1" dirty="0">
                <a:solidFill>
                  <a:srgbClr val="898989"/>
                </a:solidFill>
                <a:latin typeface="Times New Roman" panose="02020603050405020304" pitchFamily="18" charset="0"/>
                <a:ea typeface="新細明體" pitchFamily="2"/>
                <a:cs typeface="Times New Roman" panose="02020603050405020304" pitchFamily="18" charset="0"/>
              </a:rPr>
              <a:t>Ben D. Fulcher and Nick S. </a:t>
            </a:r>
            <a:r>
              <a:rPr lang="en-US" altLang="zh-TW" sz="2449" b="1" dirty="0" smtClean="0">
                <a:solidFill>
                  <a:srgbClr val="898989"/>
                </a:solidFill>
                <a:latin typeface="Times New Roman" panose="02020603050405020304" pitchFamily="18" charset="0"/>
                <a:ea typeface="新細明體" pitchFamily="2"/>
                <a:cs typeface="Times New Roman" panose="02020603050405020304" pitchFamily="18" charset="0"/>
              </a:rPr>
              <a:t>Jones</a:t>
            </a:r>
          </a:p>
          <a:p>
            <a:pPr algn="ctr"/>
            <a:endPar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endParaRPr>
          </a:p>
          <a:p>
            <a:pPr algn="ctr"/>
            <a:r>
              <a:rPr lang="en-US" altLang="zh-TW" sz="2449" b="1" dirty="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IEEE Transactions on Knowledge and Data Engineering, </a:t>
            </a:r>
            <a:endPar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endParaRPr>
          </a:p>
          <a:p>
            <a:pPr algn="ctr"/>
            <a:r>
              <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Volume 26, </a:t>
            </a:r>
            <a:r>
              <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Issue </a:t>
            </a:r>
            <a:r>
              <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rPr>
              <a:t>12, Dec. 2014 </a:t>
            </a:r>
            <a:endParaRPr lang="en-US" altLang="zh-TW" sz="2449" b="1" dirty="0" smtClean="0">
              <a:solidFill>
                <a:srgbClr val="898989"/>
              </a:solidFill>
              <a:highlight>
                <a:scrgbClr r="0" g="0" b="0">
                  <a:alpha val="0"/>
                </a:scrgbClr>
              </a:highlight>
              <a:latin typeface="Times New Roman" panose="02020603050405020304" pitchFamily="18" charset="0"/>
              <a:ea typeface="新細明體" pitchFamily="2"/>
              <a:cs typeface="Times New Roman" panose="02020603050405020304" pitchFamily="18" charset="0"/>
            </a:endParaRPr>
          </a:p>
        </p:txBody>
      </p:sp>
    </p:spTree>
    <p:extLst>
      <p:ext uri="{BB962C8B-B14F-4D97-AF65-F5344CB8AC3E}">
        <p14:creationId xmlns:p14="http://schemas.microsoft.com/office/powerpoint/2010/main" val="17017005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r>
              <a:rPr lang="en-US" altLang="zh-TW" dirty="0" smtClean="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540695" y="1235675"/>
            <a:ext cx="11110609" cy="5389059"/>
          </a:xfrm>
        </p:spPr>
        <p:txBody>
          <a:bodyPr>
            <a:noAutofit/>
          </a:bodyPr>
          <a:lstStyle/>
          <a:p>
            <a:pPr marL="0" indent="0" algn="just">
              <a:lnSpc>
                <a:spcPct val="100000"/>
              </a:lnSpc>
              <a:buNone/>
            </a:pPr>
            <a:r>
              <a:rPr lang="en-US" altLang="zh-TW" dirty="0" smtClean="0">
                <a:latin typeface="Times New Roman" panose="02020603050405020304" pitchFamily="18" charset="0"/>
                <a:cs typeface="Times New Roman" panose="02020603050405020304" pitchFamily="18" charset="0"/>
              </a:rPr>
              <a:t>A highly comparative, feature-based approach to time series classification is introduced that uses an extensive database of algorithms to extract thousands of interpretable features from time series. These features are derived from across the scientific time-series analysis literature, and include summaries of time series in terms of their correlation structure, distribution, entropy, </a:t>
            </a:r>
            <a:r>
              <a:rPr lang="en-US" altLang="zh-TW" dirty="0" err="1" smtClean="0">
                <a:latin typeface="Times New Roman" panose="02020603050405020304" pitchFamily="18" charset="0"/>
                <a:cs typeface="Times New Roman" panose="02020603050405020304" pitchFamily="18" charset="0"/>
              </a:rPr>
              <a:t>stationarity</a:t>
            </a:r>
            <a:r>
              <a:rPr lang="en-US" altLang="zh-TW" dirty="0" smtClean="0">
                <a:latin typeface="Times New Roman" panose="02020603050405020304" pitchFamily="18" charset="0"/>
                <a:cs typeface="Times New Roman" panose="02020603050405020304" pitchFamily="18" charset="0"/>
              </a:rPr>
              <a:t>, scaling properties, and fits to a range of time-series models. After computing thousands of features for each time series in a training set, those that are most informative of the class structure are selected using greedy forward feature selection with a linear classifier. The resulting feature-based classifiers automatically learn the differences between classes using a reduced number of time-series properties, and circumvent the need to calculate distances between time series. </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2</a:t>
            </a:fld>
            <a:endParaRPr lang="zh-TW" altLang="en-US" dirty="0"/>
          </a:p>
        </p:txBody>
      </p:sp>
    </p:spTree>
    <p:extLst>
      <p:ext uri="{BB962C8B-B14F-4D97-AF65-F5344CB8AC3E}">
        <p14:creationId xmlns:p14="http://schemas.microsoft.com/office/powerpoint/2010/main" val="3984584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r>
              <a:rPr lang="en-US" altLang="zh-TW" dirty="0" smtClean="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540695" y="1235675"/>
            <a:ext cx="11110609" cy="5389059"/>
          </a:xfrm>
        </p:spPr>
        <p:txBody>
          <a:bodyPr>
            <a:noAutofit/>
          </a:bodyPr>
          <a:lstStyle/>
          <a:p>
            <a:pPr marL="0" indent="0" algn="just">
              <a:lnSpc>
                <a:spcPct val="100000"/>
              </a:lnSpc>
              <a:buNone/>
            </a:pPr>
            <a:r>
              <a:rPr lang="en-US" altLang="zh-TW" dirty="0">
                <a:latin typeface="Times New Roman" panose="02020603050405020304" pitchFamily="18" charset="0"/>
                <a:cs typeface="Times New Roman" panose="02020603050405020304" pitchFamily="18" charset="0"/>
              </a:rPr>
              <a:t>Representing time series in this way results in orders of magnitude of dimensionality reduction, allowing the method to perform well on very large data sets containing long time series or time series of different lengths. For many of the data sets studied, classification performance exceeded that of conventional instance-based classifiers, including one nearest neighbor classifiers using </a:t>
            </a:r>
            <a:r>
              <a:rPr lang="en-US" altLang="zh-TW" dirty="0" err="1">
                <a:latin typeface="Times New Roman" panose="02020603050405020304" pitchFamily="18" charset="0"/>
                <a:cs typeface="Times New Roman" panose="02020603050405020304" pitchFamily="18" charset="0"/>
              </a:rPr>
              <a:t>euclidean</a:t>
            </a:r>
            <a:r>
              <a:rPr lang="en-US" altLang="zh-TW" dirty="0">
                <a:latin typeface="Times New Roman" panose="02020603050405020304" pitchFamily="18" charset="0"/>
                <a:cs typeface="Times New Roman" panose="02020603050405020304" pitchFamily="18" charset="0"/>
              </a:rPr>
              <a:t> distances and dynamic time warping and, most importantly, the features selected provide an understanding of the properties of the data set, insight that can guide further scientific investigation.</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3</a:t>
            </a:fld>
            <a:endParaRPr lang="zh-TW" altLang="en-US" dirty="0"/>
          </a:p>
        </p:txBody>
      </p:sp>
    </p:spTree>
    <p:extLst>
      <p:ext uri="{BB962C8B-B14F-4D97-AF65-F5344CB8AC3E}">
        <p14:creationId xmlns:p14="http://schemas.microsoft.com/office/powerpoint/2010/main" val="28667197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Feature class</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4</a:t>
            </a:fld>
            <a:endParaRPr lang="zh-TW" altLang="en-US" dirty="0"/>
          </a:p>
        </p:txBody>
      </p:sp>
      <p:pic>
        <p:nvPicPr>
          <p:cNvPr id="9" name="圖片 8"/>
          <p:cNvPicPr>
            <a:picLocks noChangeAspect="1"/>
          </p:cNvPicPr>
          <p:nvPr/>
        </p:nvPicPr>
        <p:blipFill>
          <a:blip r:embed="rId2"/>
          <a:stretch>
            <a:fillRect/>
          </a:stretch>
        </p:blipFill>
        <p:spPr>
          <a:xfrm>
            <a:off x="1134409" y="1816358"/>
            <a:ext cx="9923241" cy="3707363"/>
          </a:xfrm>
          <a:prstGeom prst="rect">
            <a:avLst/>
          </a:prstGeom>
        </p:spPr>
      </p:pic>
    </p:spTree>
    <p:extLst>
      <p:ext uri="{BB962C8B-B14F-4D97-AF65-F5344CB8AC3E}">
        <p14:creationId xmlns:p14="http://schemas.microsoft.com/office/powerpoint/2010/main" val="37793732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lstStyle/>
          <a:p>
            <a:pPr algn="ctr"/>
            <a:r>
              <a:rPr lang="en-US" altLang="zh-TW" dirty="0" smtClean="0">
                <a:latin typeface="Times New Roman" panose="02020603050405020304" pitchFamily="18" charset="0"/>
                <a:cs typeface="Times New Roman" panose="02020603050405020304" pitchFamily="18" charset="0"/>
              </a:rPr>
              <a:t>Feature Selection</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5</a:t>
            </a:fld>
            <a:endParaRPr lang="zh-TW" altLang="en-US" dirty="0"/>
          </a:p>
        </p:txBody>
      </p:sp>
      <p:sp>
        <p:nvSpPr>
          <p:cNvPr id="4" name="文字方塊 3"/>
          <p:cNvSpPr txBox="1"/>
          <p:nvPr/>
        </p:nvSpPr>
        <p:spPr>
          <a:xfrm>
            <a:off x="1368684" y="1164524"/>
            <a:ext cx="9725414" cy="4585871"/>
          </a:xfrm>
          <a:prstGeom prst="rect">
            <a:avLst/>
          </a:prstGeom>
          <a:noFill/>
        </p:spPr>
        <p:txBody>
          <a:bodyPr wrap="square" rtlCol="0">
            <a:spAutoFit/>
          </a:bodyPr>
          <a:lstStyle/>
          <a:p>
            <a:r>
              <a:rPr lang="en-US" altLang="zh-TW" sz="3600" dirty="0" smtClean="0">
                <a:latin typeface="Times New Roman" panose="02020603050405020304" pitchFamily="18" charset="0"/>
                <a:cs typeface="Times New Roman" panose="02020603050405020304" pitchFamily="18" charset="0"/>
              </a:rPr>
              <a:t>Greedy forward feature selection</a:t>
            </a:r>
          </a:p>
          <a:p>
            <a:endParaRPr lang="en-US" altLang="zh-TW" sz="3200" dirty="0" smtClean="0">
              <a:latin typeface="Times New Roman" panose="02020603050405020304" pitchFamily="18" charset="0"/>
              <a:cs typeface="Times New Roman" panose="02020603050405020304" pitchFamily="18" charset="0"/>
            </a:endParaRPr>
          </a:p>
          <a:p>
            <a:endParaRPr lang="en-US" altLang="zh-TW" sz="3200" dirty="0">
              <a:latin typeface="Times New Roman" panose="02020603050405020304" pitchFamily="18" charset="0"/>
              <a:cs typeface="Times New Roman" panose="02020603050405020304" pitchFamily="18" charset="0"/>
            </a:endParaRPr>
          </a:p>
          <a:p>
            <a:r>
              <a:rPr lang="en-US" altLang="zh-TW" sz="3200" dirty="0" smtClean="0">
                <a:latin typeface="Times New Roman" panose="02020603050405020304" pitchFamily="18" charset="0"/>
                <a:cs typeface="Times New Roman" panose="02020603050405020304" pitchFamily="18" charset="0"/>
              </a:rPr>
              <a:t>Terminated</a:t>
            </a:r>
          </a:p>
          <a:p>
            <a:endParaRPr lang="en-US" altLang="zh-TW" sz="32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zh-TW" sz="3200" dirty="0" smtClean="0">
                <a:latin typeface="Times New Roman" panose="02020603050405020304" pitchFamily="18" charset="0"/>
                <a:cs typeface="Times New Roman" panose="02020603050405020304" pitchFamily="18" charset="0"/>
              </a:rPr>
              <a:t>Adding an additional features drops below 3 percent.</a:t>
            </a:r>
          </a:p>
          <a:p>
            <a:pPr marL="457200" indent="-457200">
              <a:buFont typeface="+mj-lt"/>
              <a:buAutoNum type="arabicPeriod"/>
            </a:pPr>
            <a:endParaRPr lang="en-US" altLang="zh-TW" sz="32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zh-TW" sz="3200" dirty="0" smtClean="0">
                <a:latin typeface="Times New Roman" panose="02020603050405020304" pitchFamily="18" charset="0"/>
                <a:cs typeface="Times New Roman" panose="02020603050405020304" pitchFamily="18" charset="0"/>
              </a:rPr>
              <a:t>Training set misclassification rate drops to 0.</a:t>
            </a:r>
          </a:p>
          <a:p>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92777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normAutofit/>
          </a:bodyPr>
          <a:lstStyle/>
          <a:p>
            <a:pPr algn="ctr"/>
            <a:r>
              <a:rPr lang="en-US" altLang="zh-TW" dirty="0">
                <a:latin typeface="Times New Roman" panose="02020603050405020304" pitchFamily="18" charset="0"/>
                <a:cs typeface="Times New Roman" panose="02020603050405020304" pitchFamily="18" charset="0"/>
              </a:rPr>
              <a:t>Greedy forward feature </a:t>
            </a:r>
            <a:r>
              <a:rPr lang="en-US" altLang="zh-TW" dirty="0" smtClean="0">
                <a:latin typeface="Times New Roman" panose="02020603050405020304" pitchFamily="18" charset="0"/>
                <a:cs typeface="Times New Roman" panose="02020603050405020304" pitchFamily="18" charset="0"/>
              </a:rPr>
              <a:t>selection</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6</a:t>
            </a:fld>
            <a:endParaRPr lang="zh-TW" altLang="en-US" dirty="0"/>
          </a:p>
        </p:txBody>
      </p:sp>
      <p:pic>
        <p:nvPicPr>
          <p:cNvPr id="6" name="圖片 5"/>
          <p:cNvPicPr>
            <a:picLocks noChangeAspect="1"/>
          </p:cNvPicPr>
          <p:nvPr/>
        </p:nvPicPr>
        <p:blipFill>
          <a:blip r:embed="rId2"/>
          <a:stretch>
            <a:fillRect/>
          </a:stretch>
        </p:blipFill>
        <p:spPr>
          <a:xfrm>
            <a:off x="838200" y="1235676"/>
            <a:ext cx="4333681" cy="5373764"/>
          </a:xfrm>
          <a:prstGeom prst="rect">
            <a:avLst/>
          </a:prstGeom>
        </p:spPr>
      </p:pic>
      <p:pic>
        <p:nvPicPr>
          <p:cNvPr id="8" name="圖片 7"/>
          <p:cNvPicPr>
            <a:picLocks noChangeAspect="1"/>
          </p:cNvPicPr>
          <p:nvPr/>
        </p:nvPicPr>
        <p:blipFill>
          <a:blip r:embed="rId3"/>
          <a:stretch>
            <a:fillRect/>
          </a:stretch>
        </p:blipFill>
        <p:spPr>
          <a:xfrm>
            <a:off x="5943600" y="1454844"/>
            <a:ext cx="5410200" cy="4935428"/>
          </a:xfrm>
          <a:prstGeom prst="rect">
            <a:avLst/>
          </a:prstGeom>
        </p:spPr>
      </p:pic>
    </p:spTree>
    <p:extLst>
      <p:ext uri="{BB962C8B-B14F-4D97-AF65-F5344CB8AC3E}">
        <p14:creationId xmlns:p14="http://schemas.microsoft.com/office/powerpoint/2010/main" val="6824037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OSU Leaf data set</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7</a:t>
            </a:fld>
            <a:endParaRPr lang="zh-TW" altLang="en-US" dirty="0"/>
          </a:p>
        </p:txBody>
      </p:sp>
      <p:pic>
        <p:nvPicPr>
          <p:cNvPr id="3" name="圖片 2"/>
          <p:cNvPicPr>
            <a:picLocks noChangeAspect="1"/>
          </p:cNvPicPr>
          <p:nvPr/>
        </p:nvPicPr>
        <p:blipFill>
          <a:blip r:embed="rId2"/>
          <a:stretch>
            <a:fillRect/>
          </a:stretch>
        </p:blipFill>
        <p:spPr>
          <a:xfrm>
            <a:off x="3589953" y="1235676"/>
            <a:ext cx="5012094" cy="4975509"/>
          </a:xfrm>
          <a:prstGeom prst="rect">
            <a:avLst/>
          </a:prstGeom>
        </p:spPr>
      </p:pic>
    </p:spTree>
    <p:extLst>
      <p:ext uri="{BB962C8B-B14F-4D97-AF65-F5344CB8AC3E}">
        <p14:creationId xmlns:p14="http://schemas.microsoft.com/office/powerpoint/2010/main" val="3787854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870551"/>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Experimental Result</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8</a:t>
            </a:fld>
            <a:endParaRPr lang="zh-TW" altLang="en-US" dirty="0"/>
          </a:p>
        </p:txBody>
      </p:sp>
      <p:pic>
        <p:nvPicPr>
          <p:cNvPr id="4" name="圖片 3"/>
          <p:cNvPicPr>
            <a:picLocks noChangeAspect="1"/>
          </p:cNvPicPr>
          <p:nvPr/>
        </p:nvPicPr>
        <p:blipFill rotWithShape="1">
          <a:blip r:embed="rId2"/>
          <a:srcRect t="-1" b="1144"/>
          <a:stretch/>
        </p:blipFill>
        <p:spPr>
          <a:xfrm>
            <a:off x="1537996" y="1235677"/>
            <a:ext cx="9116008" cy="5006504"/>
          </a:xfrm>
          <a:prstGeom prst="rect">
            <a:avLst/>
          </a:prstGeom>
        </p:spPr>
      </p:pic>
    </p:spTree>
    <p:extLst>
      <p:ext uri="{BB962C8B-B14F-4D97-AF65-F5344CB8AC3E}">
        <p14:creationId xmlns:p14="http://schemas.microsoft.com/office/powerpoint/2010/main" val="30319477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8857</TotalTime>
  <Words>314</Words>
  <Application>Microsoft Office PowerPoint</Application>
  <PresentationFormat>寬螢幕</PresentationFormat>
  <Paragraphs>32</Paragraphs>
  <Slides>8</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新細明體</vt:lpstr>
      <vt:lpstr>Arial</vt:lpstr>
      <vt:lpstr>Calibri</vt:lpstr>
      <vt:lpstr>Calibri Light</vt:lpstr>
      <vt:lpstr>Times New Roman</vt:lpstr>
      <vt:lpstr>Office 佈景主題</vt:lpstr>
      <vt:lpstr>Highly Comparative Feature-Based Time-Series Classification</vt:lpstr>
      <vt:lpstr>Abstract(1/2)</vt:lpstr>
      <vt:lpstr>Abstract(2/2)</vt:lpstr>
      <vt:lpstr>Feature class</vt:lpstr>
      <vt:lpstr>Feature Selection</vt:lpstr>
      <vt:lpstr>Greedy forward feature selection</vt:lpstr>
      <vt:lpstr>OSU Leaf data set</vt:lpstr>
      <vt:lpstr>Experimental Result</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Maximal Common Subsequences</dc:title>
  <dc:creator>BX CHEN</dc:creator>
  <cp:lastModifiedBy>Bo Xian Chen</cp:lastModifiedBy>
  <cp:revision>287</cp:revision>
  <dcterms:created xsi:type="dcterms:W3CDTF">2016-10-10T16:56:48Z</dcterms:created>
  <dcterms:modified xsi:type="dcterms:W3CDTF">2017-07-24T15:11:34Z</dcterms:modified>
</cp:coreProperties>
</file>