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59" r:id="rId4"/>
    <p:sldId id="260" r:id="rId5"/>
    <p:sldId id="265" r:id="rId6"/>
    <p:sldId id="266" r:id="rId7"/>
    <p:sldId id="267" r:id="rId8"/>
    <p:sldId id="263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88876" autoAdjust="0"/>
  </p:normalViewPr>
  <p:slideViewPr>
    <p:cSldViewPr snapToGrid="0">
      <p:cViewPr varScale="1">
        <p:scale>
          <a:sx n="75" d="100"/>
          <a:sy n="75" d="100"/>
        </p:scale>
        <p:origin x="852" y="6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791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6369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043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4845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9276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2754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123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0395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3891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2017/12/5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hardness result and new algorithm for the longest common palindromic subsequence 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41752" y="2252502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Shunsuke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Inenaga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,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Heikki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Hyyrö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 Informatics, Kyushu University, Japan</a:t>
            </a:r>
          </a:p>
          <a:p>
            <a:r>
              <a:rPr lang="en-US" altLang="zh-TW" sz="2000" dirty="0"/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Faculty of Natural Sciences, University of Tampere, Finland</a:t>
            </a:r>
          </a:p>
          <a:p>
            <a:endParaRPr lang="en-US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Processing Letters,Volume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129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(2018)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Pages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11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–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15</a:t>
            </a:r>
            <a:endParaRPr lang="fr-FR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Ting-Wei Liang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Date:2017/12/05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5345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30402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2-LCPS problem, first introduced by Chowdhury et al. (2014) , asks one to compute (the length of) a longest common palindromic subsequence between two given strings A and B. We show that the 2-LCPS problem is at least as hard as the well-studied longest common subsequence problem for four strings. Then, we present a new algorithm which solves the 2-LCPS problem in O(σ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+n) time, where n denotes the length of A and B, M denotes the number of matching positions between A and B, and σ denotes the number of distinct characters occurring in both A and B. Our new algorithm is faster than Chowdhury et al.’s sparse algorithm when σ = o(log</a:t>
                </a:r>
                <a:r>
                  <a:rPr lang="en-US" altLang="zh-TW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 log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n)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30402"/>
                <a:ext cx="7886700" cy="4351338"/>
              </a:xfrm>
              <a:blipFill rotWithShape="0">
                <a:blip r:embed="rId3"/>
                <a:stretch>
                  <a:fillRect t="-280" r="-2241" b="-254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palindromic subsequence (LCPS)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n 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CC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AA   ,  n = 14</a:t>
            </a: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= b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CC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AA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ABC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BBBB </a:t>
            </a: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lcps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LCPS(S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C B A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C      ,  |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lcps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= 6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9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4-LCS 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CC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AA</a:t>
            </a:r>
          </a:p>
          <a:p>
            <a:pPr>
              <a:buNone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CC</a:t>
            </a:r>
          </a:p>
          <a:p>
            <a:pPr>
              <a:buNone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BBBB</a:t>
            </a: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4-lcs = 4-LCS(S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A B C        ,  | 4-lcs | = 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05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from 4-LCS to 2-LCPS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Got 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A ,B ,C ,D, and Z  ,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|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A| = |B| =</a:t>
                </a:r>
                <a:r>
                  <a:rPr lang="zh-TW" altLang="en-US" sz="24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|C|</a:t>
                </a:r>
                <a:r>
                  <a:rPr lang="zh-TW" altLang="en-US" sz="24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4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|D| = n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Z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= $</a:t>
                </a:r>
                <a:r>
                  <a:rPr lang="en-US" altLang="zh-TW" sz="2400" baseline="400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2n+1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buNone/>
                </a:pPr>
                <a:endParaRPr lang="en-US" altLang="zh-TW" sz="2400" i="1" dirty="0" smtClean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𝑇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=4_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𝐿𝐶𝑆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(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𝐴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,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𝐵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,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𝐶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,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𝐷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𝑅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𝑍𝐵</m:t>
                    </m:r>
                  </m:oMath>
                </a14:m>
                <a:r>
                  <a:rPr lang="en-US" altLang="zh-TW" sz="2400" b="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𝑅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𝑍𝐷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  LCPS (</a:t>
                </a: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X,Y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𝑅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𝑍𝑇</m:t>
                    </m:r>
                  </m:oMath>
                </a14:m>
                <a:endParaRPr lang="en-US" altLang="zh-TW" sz="2400" b="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b="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=&gt;  We can solve the 4-LCS problem by solving the 2-LCPS problem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 rotWithShape="0">
                <a:blip r:embed="rId3"/>
                <a:stretch>
                  <a:fillRect l="-1159" t="-1961" b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70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depth nesting rectangle structure problem (MDNRS)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8819" y="1941708"/>
            <a:ext cx="5165604" cy="4573297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096" y="3371276"/>
            <a:ext cx="4070169" cy="171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depth nesting rectangle structure problem (MDNRS)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For any character c ∈ </a:t>
                </a:r>
                <a:r>
                  <a:rPr lang="el-GR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Σ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, its maximal sub-rectangle is unique </a:t>
                </a:r>
              </a:p>
              <a:p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Suppose processing a rectangle </a:t>
                </a: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R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, we compute its maximal </a:t>
                </a:r>
                <a:r>
                  <a:rPr lang="en-US" altLang="zh-TW" sz="2400" dirty="0" err="1">
                    <a:latin typeface="Times New Roman" pitchFamily="18" charset="0"/>
                    <a:ea typeface="+mj-ea"/>
                    <a:cs typeface="Times New Roman" pitchFamily="18" charset="0"/>
                  </a:rPr>
                  <a:t>subrectangle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in </a:t>
                </a: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R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and recursive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until we meet one of following conditions: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   (1) There remains only a single point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   (2) There remains no point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   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is already processed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05" t="-2101" r="-14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10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>
                <a:latin typeface="Times New Roman" panose="02020603050405020304" pitchFamily="18" charset="0"/>
                <a:cs typeface="Times New Roman" panose="02020603050405020304" pitchFamily="18" charset="0"/>
              </a:rPr>
              <a:t>Alphabet reduction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23520" y="1825625"/>
                <a:ext cx="86868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l-GR" altLang="zh-TW" sz="2400" dirty="0">
                    <a:latin typeface="Times New Roman" pitchFamily="18" charset="0"/>
                    <a:cs typeface="Times New Roman" pitchFamily="18" charset="0"/>
                  </a:rPr>
                  <a:t>Σ</a:t>
                </a:r>
                <a:r>
                  <a:rPr lang="zh-TW" alt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zh-TW" alt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{A,B,C,D,E}</a:t>
                </a: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A</a:t>
                </a:r>
                <a:r>
                  <a:rPr lang="zh-TW" altLang="en-US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=</a:t>
                </a:r>
                <a:r>
                  <a:rPr lang="zh-TW" altLang="en-US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ABBC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itchFamily="18" charset="0"/>
                    <a:ea typeface="+mj-ea"/>
                    <a:cs typeface="Times New Roman" pitchFamily="18" charset="0"/>
                  </a:rPr>
                  <a:t>D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CCBA</a:t>
                </a:r>
              </a:p>
              <a:p>
                <a:pPr marL="0" indent="0">
                  <a:buNone/>
                </a:pP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B</a:t>
                </a:r>
                <a:r>
                  <a:rPr lang="zh-TW" altLang="en-US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=</a:t>
                </a:r>
                <a:r>
                  <a:rPr lang="zh-TW" altLang="en-US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AABC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itchFamily="18" charset="0"/>
                    <a:ea typeface="+mj-ea"/>
                    <a:cs typeface="Times New Roman" pitchFamily="18" charset="0"/>
                  </a:rPr>
                  <a:t>E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CBBA</a:t>
                </a:r>
              </a:p>
              <a:p>
                <a:pPr marL="0" indent="0">
                  <a:buNone/>
                </a:pPr>
                <a:endParaRPr lang="en-US" altLang="zh-TW" sz="2400" i="1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</m:acc>
                    <m:r>
                      <a:rPr lang="zh-TW" alt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zh-TW" alt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ABBCCCBA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TW" alt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zh-TW" alt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AABCCBBA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altLang="zh-TW" sz="2400" dirty="0">
                            <a:latin typeface="Times New Roman" pitchFamily="18" charset="0"/>
                            <a:cs typeface="Times New Roman" pitchFamily="18" charset="0"/>
                          </a:rPr>
                          <m:t>Σ</m:t>
                        </m:r>
                      </m:e>
                    </m:acc>
                  </m:oMath>
                </a14:m>
                <a:r>
                  <a:rPr lang="zh-TW" alt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zh-TW" alt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{A,B,C}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effectLst/>
                    <a:cs typeface="Times New Roman" pitchFamily="18" charset="0"/>
                  </a:rPr>
                  <a:t>|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i="1">
                            <a:effectLst/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altLang="zh-TW" sz="2400" dirty="0">
                            <a:effectLst/>
                            <a:latin typeface="Times New Roman" pitchFamily="18" charset="0"/>
                            <a:cs typeface="Times New Roman" pitchFamily="18" charset="0"/>
                          </a:rPr>
                          <m:t>Σ</m:t>
                        </m:r>
                      </m:e>
                    </m:acc>
                    <m:r>
                      <a:rPr lang="en-US" altLang="zh-TW" sz="2400" b="0" i="0" dirty="0" smtClean="0">
                        <a:effectLst/>
                        <a:latin typeface="Cambria Math" panose="02040503050406030204" pitchFamily="18" charset="0"/>
                        <a:cs typeface="Times New Roman" pitchFamily="18" charset="0"/>
                      </a:rPr>
                      <m:t>|</m:t>
                    </m:r>
                  </m:oMath>
                </a14:m>
                <a:r>
                  <a:rPr lang="en-US" altLang="zh-TW" sz="2400" dirty="0">
                    <a:effectLst/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effectLst/>
                        <a:latin typeface="Cambria Math" panose="02040503050406030204" pitchFamily="18" charset="0"/>
                        <a:cs typeface="Times New Roman" pitchFamily="18" charset="0"/>
                      </a:rPr>
                      <m:t>𝜎</m:t>
                    </m:r>
                  </m:oMath>
                </a14:m>
                <a:endParaRPr lang="en-US" altLang="zh-TW" sz="2400" dirty="0">
                  <a:effectLst/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520" y="1825625"/>
                <a:ext cx="8686800" cy="4351338"/>
              </a:xfrm>
              <a:blipFill>
                <a:blip r:embed="rId3"/>
                <a:stretch>
                  <a:fillRect l="-1123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11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90689"/>
                <a:ext cx="86868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c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∈ [1,</a:t>
                </a:r>
                <a14:m>
                  <m:oMath xmlns:m="http://schemas.openxmlformats.org/officeDocument/2006/math">
                    <m:r>
                      <a:rPr lang="zh-TW" altLang="en-US" sz="240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𝜎</m:t>
                    </m:r>
                  </m:oMath>
                </a14:m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],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= {</a:t>
                </a:r>
                <a:r>
                  <a:rPr lang="en-US" altLang="zh-TW" sz="2400" i="1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zh-TW" sz="2400" i="1" dirty="0">
                    <a:latin typeface="Times New Roman" pitchFamily="18" charset="0"/>
                    <a:cs typeface="Times New Roman" pitchFamily="18" charset="0"/>
                  </a:rPr>
                  <a:t> 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40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itchFamily="18" charset="0"/>
                    <a:cs typeface="Times New Roman" pitchFamily="18" charset="0"/>
                  </a:rPr>
                  <a:t> = c, 1 ≤ </a:t>
                </a:r>
                <a:r>
                  <a:rPr lang="en-US" altLang="zh-TW" sz="2400" i="1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zh-TW" sz="2400" i="1" dirty="0">
                    <a:latin typeface="Times New Roman" pitchFamily="18" charset="0"/>
                    <a:cs typeface="Times New Roman" pitchFamily="18" charset="0"/>
                  </a:rPr>
                  <a:t> ≤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}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= {</a:t>
                </a:r>
                <a:r>
                  <a:rPr lang="en-US" altLang="zh-TW" sz="2400" i="1" dirty="0">
                    <a:latin typeface="Times New Roman" pitchFamily="18" charset="0"/>
                    <a:cs typeface="Times New Roman" pitchFamily="18" charset="0"/>
                  </a:rPr>
                  <a:t>k 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itchFamily="18" charset="0"/>
                    <a:cs typeface="Times New Roman" pitchFamily="18" charset="0"/>
                  </a:rPr>
                  <a:t> = c, 1 ≤ k ≤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}</a:t>
                </a:r>
              </a:p>
              <a:p>
                <a:pPr>
                  <a:buNone/>
                </a:pPr>
                <a:r>
                  <a:rPr lang="en-US" altLang="zh-TW" sz="2000" dirty="0">
                    <a:latin typeface="Times New Roman" pitchFamily="18" charset="0"/>
                    <a:cs typeface="Times New Roman" pitchFamily="18" charset="0"/>
                  </a:rPr>
                  <a:t>Two tables of size </a:t>
                </a:r>
                <a14:m>
                  <m:oMath xmlns:m="http://schemas.openxmlformats.org/officeDocument/2006/math">
                    <m:r>
                      <a:rPr lang="zh-TW" altLang="en-US" sz="2000">
                        <a:latin typeface="Cambria Math" panose="02040503050406030204" pitchFamily="18" charset="0"/>
                        <a:cs typeface="Times New Roman" pitchFamily="18" charset="0"/>
                      </a:rPr>
                      <m:t>𝜎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sz="2000" dirty="0">
                    <a:latin typeface="Times New Roman" pitchFamily="18" charset="0"/>
                    <a:cs typeface="Times New Roman" pitchFamily="18" charset="0"/>
                  </a:rPr>
                  <a:t> each, which answer predecessor/successor queries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en-US" altLang="zh-TW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000" dirty="0">
                    <a:latin typeface="Times New Roman" pitchFamily="18" charset="0"/>
                    <a:cs typeface="Times New Roman" pitchFamily="18" charset="0"/>
                  </a:rPr>
                  <a:t>Two tables of size </a:t>
                </a:r>
                <a14:m>
                  <m:oMath xmlns:m="http://schemas.openxmlformats.org/officeDocument/2006/math">
                    <m:r>
                      <a:rPr lang="zh-TW" altLang="en-US" sz="2000">
                        <a:latin typeface="Cambria Math" panose="02040503050406030204" pitchFamily="18" charset="0"/>
                        <a:cs typeface="Times New Roman" pitchFamily="18" charset="0"/>
                      </a:rPr>
                      <m:t>𝜎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altLang="zh-TW" sz="2000" dirty="0">
                    <a:latin typeface="Times New Roman" pitchFamily="18" charset="0"/>
                    <a:cs typeface="Times New Roman" pitchFamily="18" charset="0"/>
                  </a:rPr>
                  <a:t> each, which answer predecessor/successor queries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∵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𝜎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𝑚𝑖𝑛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𝑚</m:t>
                                  </m:r>
                                </m:e>
                              </m:acc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𝑀</m:t>
                      </m:r>
                    </m:oMath>
                  </m:oMathPara>
                </a14:m>
                <a:endParaRPr lang="en-US" altLang="zh-TW" sz="24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𝑇𝑖𝑚𝑒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: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𝑚</m:t>
                                  </m:r>
                                </m:e>
                              </m:acc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𝑂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i="1" dirty="0">
                    <a:latin typeface="Cambria Math" panose="02040503050406030204" pitchFamily="18" charset="0"/>
                    <a:cs typeface="Times New Roman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𝑆𝑝𝑎𝑐𝑒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:</m:t>
                    </m:r>
                  </m:oMath>
                </a14:m>
                <a:r>
                  <a:rPr lang="en-US" altLang="zh-TW" sz="2400" i="1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sz="24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90689"/>
                <a:ext cx="8686800" cy="4351338"/>
              </a:xfrm>
              <a:blipFill>
                <a:blip r:embed="rId3"/>
                <a:stretch>
                  <a:fillRect l="-1123" t="-2101" b="-2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22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90689"/>
                <a:ext cx="86868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>
                    <a:latin typeface="Cambria Math" panose="02040503050406030204" pitchFamily="18" charset="0"/>
                    <a:cs typeface="Times New Roman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𝑐</m:t>
                    </m:r>
                  </m:oMath>
                </a14:m>
                <a:endParaRPr lang="en-US" altLang="zh-TW" sz="24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𝑐𝑛𝑡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𝐴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𝑐𝑛𝑡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𝐵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400" i="1" dirty="0">
                          <a:latin typeface="Cambria Math" panose="02040503050406030204" pitchFamily="18" charset="0"/>
                          <a:cs typeface="Times New Roman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𝑐𝑛𝑡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𝐴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i="1" dirty="0">
                          <a:latin typeface="Cambria Math" panose="02040503050406030204" pitchFamily="18" charset="0"/>
                          <a:cs typeface="Times New Roman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𝑐𝑛𝑡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𝐵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]</m:t>
                      </m:r>
                    </m:oMath>
                  </m:oMathPara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equals 0 if rectangle {(</a:t>
                </a:r>
                <a:r>
                  <a:rPr lang="en-US" altLang="zh-TW" sz="2400" i="1" dirty="0" err="1">
                    <a:latin typeface="Times New Roman" pitchFamily="18" charset="0"/>
                    <a:cs typeface="Times New Roman" pitchFamily="18" charset="0"/>
                  </a:rPr>
                  <a:t>i,k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),(</a:t>
                </a:r>
                <a:r>
                  <a:rPr lang="en-US" altLang="zh-TW" sz="2400" i="1" dirty="0" err="1">
                    <a:latin typeface="Times New Roman" pitchFamily="18" charset="0"/>
                    <a:cs typeface="Times New Roman" pitchFamily="18" charset="0"/>
                  </a:rPr>
                  <a:t>j,l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)} is non-processed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equals 1 if rectangle {(</a:t>
                </a:r>
                <a:r>
                  <a:rPr lang="en-US" altLang="zh-TW" sz="2400" i="1" dirty="0" err="1">
                    <a:latin typeface="Times New Roman" pitchFamily="18" charset="0"/>
                    <a:cs typeface="Times New Roman" pitchFamily="18" charset="0"/>
                  </a:rPr>
                  <a:t>i,k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),(</a:t>
                </a:r>
                <a:r>
                  <a:rPr lang="en-US" altLang="zh-TW" sz="2400" i="1" dirty="0" err="1">
                    <a:latin typeface="Times New Roman" pitchFamily="18" charset="0"/>
                    <a:cs typeface="Times New Roman" pitchFamily="18" charset="0"/>
                  </a:rPr>
                  <a:t>j,l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)} is processed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size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Total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𝑇</m:t>
                    </m:r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size 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itchFamily="18" charset="0"/>
                            <a:cs typeface="Times New Roman" pitchFamily="18" charset="0"/>
                          </a:rPr>
                          <m:t>∈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[1,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𝜎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]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</m:sup>
                      <m:e>
                        <m:sSup>
                          <m:sSup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90689"/>
                <a:ext cx="8686800" cy="4351338"/>
              </a:xfrm>
              <a:blipFill>
                <a:blip r:embed="rId3"/>
                <a:stretch>
                  <a:fillRect l="-1123" t="-14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77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Complexities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90689"/>
                <a:ext cx="86868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Number of visiting non-processed rectangle 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Number of visiting processed rectangle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zh-TW" alt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𝜎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Time of finding maximal sub-rectangle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(1)</m:t>
                    </m:r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Time of finding rectangle is processed or not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Time for calculate maximum nesting depth of each rectangle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zh-TW" alt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𝜎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Alphabet reduction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Total time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𝜎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Total space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90689"/>
                <a:ext cx="8686800" cy="4351338"/>
              </a:xfrm>
              <a:blipFill>
                <a:blip r:embed="rId3"/>
                <a:stretch>
                  <a:fillRect l="-1123" t="-1961" b="-72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48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34268</TotalTime>
  <Words>353</Words>
  <Application>Microsoft Office PowerPoint</Application>
  <PresentationFormat>如螢幕大小 (4:3)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 hardness result and new algorithm for the longest common palindromic subsequence problem</vt:lpstr>
      <vt:lpstr>Abstract</vt:lpstr>
      <vt:lpstr>Longest common palindromic subsequence (LCPS)</vt:lpstr>
      <vt:lpstr>4-LCS problem</vt:lpstr>
      <vt:lpstr>Reduction from 4-LCS to 2-LCPS</vt:lpstr>
      <vt:lpstr>Maximum depth nesting rectangle structure problem (MDNRS)</vt:lpstr>
      <vt:lpstr>Maximum depth nesting rectangle structure problem (MDNRS)</vt:lpstr>
      <vt:lpstr>Alphabet reduction</vt:lpstr>
      <vt:lpstr>Tables</vt:lpstr>
      <vt:lpstr>Tables</vt:lpstr>
      <vt:lpstr>Complexities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403</cp:revision>
  <dcterms:created xsi:type="dcterms:W3CDTF">2016-04-23T07:31:56Z</dcterms:created>
  <dcterms:modified xsi:type="dcterms:W3CDTF">2017-12-05T13:27:52Z</dcterms:modified>
</cp:coreProperties>
</file>