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94" r:id="rId4"/>
    <p:sldId id="277" r:id="rId5"/>
    <p:sldId id="295" r:id="rId6"/>
    <p:sldId id="296" r:id="rId7"/>
    <p:sldId id="279" r:id="rId8"/>
    <p:sldId id="280" r:id="rId9"/>
    <p:sldId id="303" r:id="rId10"/>
    <p:sldId id="304" r:id="rId11"/>
    <p:sldId id="305" r:id="rId12"/>
    <p:sldId id="282" r:id="rId13"/>
    <p:sldId id="298" r:id="rId14"/>
    <p:sldId id="283" r:id="rId15"/>
    <p:sldId id="301" r:id="rId16"/>
    <p:sldId id="300" r:id="rId17"/>
    <p:sldId id="302" r:id="rId18"/>
    <p:sldId id="306" r:id="rId19"/>
    <p:sldId id="299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37" autoAdjust="0"/>
    <p:restoredTop sz="88835" autoAdjust="0"/>
  </p:normalViewPr>
  <p:slideViewPr>
    <p:cSldViewPr snapToGrid="0">
      <p:cViewPr varScale="1">
        <p:scale>
          <a:sx n="70" d="100"/>
          <a:sy n="70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986E-2186-42F2-A1F5-4424A07DD94D}" type="datetimeFigureOut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4D64-E656-4722-AF7D-B3D63D1F5D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97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810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Neighbour</a:t>
            </a:r>
            <a:r>
              <a:rPr lang="en-US" altLang="zh-TW" sz="12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】= neighbor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517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8750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113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220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44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2575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1830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0569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969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9996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122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32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731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440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67302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753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346F-159C-4E5E-A9BC-B4FAF4B8F4AD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46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45FE-5976-4612-A121-9F7FA6C65956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3751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126F-36C8-4C5A-8698-9E4A53D999E5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96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8B67-291F-45ED-BF8F-60129A7CAFCF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52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5E44-883D-47F1-80F2-BBD83A64BF20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006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BBE2-5504-4D7F-9CC4-F2C58F132876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DA84-72B1-4070-A970-AE6E5670C53F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29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C297-F23E-49C2-9FD2-1DB5A3D63A00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612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853A-160A-4D81-8E79-297A6811D44C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2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68B-4BF6-411C-BDB8-9879BE85A868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0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472C-E7F7-4061-8A6B-A2FC31C7A013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8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A8E3B-251A-4826-B76B-2ED6FD8BECB3}" type="datetime1">
              <a:rPr lang="zh-TW" altLang="en-US" smtClean="0"/>
              <a:t>2017/10/31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18681" y="559444"/>
            <a:ext cx="9954638" cy="1819245"/>
          </a:xfrm>
        </p:spPr>
        <p:txBody>
          <a:bodyPr anchor="ctr">
            <a:normAutofit fontScale="90000"/>
          </a:bodyPr>
          <a:lstStyle/>
          <a:p>
            <a:r>
              <a:rPr lang="en-US" altLang="zh-TW" sz="48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Time series classification with ensembles of elastic distance measures</a:t>
            </a:r>
            <a:endParaRPr lang="zh-TW" altLang="en-US" sz="4800" b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959305" y="5620621"/>
            <a:ext cx="3893389" cy="935455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Bo-Xian Chen</a:t>
            </a:r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Date : </a:t>
            </a:r>
            <a:fld id="{DA00540B-99AF-4B5E-9AEF-55C0985778C8}" type="datetime1">
              <a:rPr lang="zh-TW" altLang="en-US" smtClean="0">
                <a:latin typeface="Cambria Math" panose="02040503050406030204" pitchFamily="18" charset="0"/>
                <a:cs typeface="Times New Roman" panose="02020603050405020304" pitchFamily="18" charset="0"/>
              </a:rPr>
              <a:t>2017/10/31</a:t>
            </a:fld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549933" y="3447219"/>
            <a:ext cx="9656132" cy="144911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Jason Lines, Anthony </a:t>
            </a:r>
            <a:r>
              <a:rPr lang="en-US" altLang="zh-TW" sz="2449" b="1" dirty="0" err="1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Bagnall</a:t>
            </a:r>
            <a:endParaRPr lang="en-US" altLang="zh-TW" sz="2449" b="1" dirty="0" smtClean="0">
              <a:solidFill>
                <a:srgbClr val="898989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Data Mining and Knowledge Discovery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Volume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29, Issue 3,</a:t>
            </a: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pp. 565 – 592, May 2015</a:t>
            </a:r>
          </a:p>
        </p:txBody>
      </p:sp>
    </p:spTree>
    <p:extLst>
      <p:ext uri="{BB962C8B-B14F-4D97-AF65-F5344CB8AC3E}">
        <p14:creationId xmlns:p14="http://schemas.microsoft.com/office/powerpoint/2010/main" val="17017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0695" y="972044"/>
            <a:ext cx="11110609" cy="538905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Several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alternative distance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measures for comparing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time series have recently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been proposed and evaluated on time series classification (TSC)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problems. These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include variants of dynamic time warping (DTW), such as weighted and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derivative DTW, and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edit distance-based measures, including longest common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subsequence, edit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distance with real penalty, time warp with edit, and move–split–merge.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These measures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have the common characteristic that they operate in the time domain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and compensate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for potential </a:t>
            </a:r>
            <a:r>
              <a:rPr lang="en-US" altLang="zh-TW" sz="26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localised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misalignment through some elastic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adjustment. Our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aim is to experimentally test two hypotheses related to these distance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measures. Firstly, we test whether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there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is any significant difference in accuracy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for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TSC problems between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nearest </a:t>
            </a:r>
            <a:r>
              <a:rPr lang="en-US" altLang="zh-TW" sz="26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neighbour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classifiers using these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distance measures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Secondly, we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test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whether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combining these elastic distance measures through simple ensemble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schemes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gives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significantly better accuracy.</a:t>
            </a:r>
            <a:r>
              <a:rPr lang="zh-TW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　</a:t>
            </a:r>
            <a:endParaRPr lang="zh-TW" altLang="en-US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458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0695" y="972044"/>
            <a:ext cx="11110609" cy="538905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We test these hypotheses by carrying out one of the</a:t>
            </a:r>
            <a:r>
              <a:rPr lang="zh-TW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largest experimental studies ever conducted into time series classification. Our first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key finding is that there is no significant difference between the elastic distance measures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 terms of classification accuracy on our data sets. Our second finding, and the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major contribution of this work, is to define an ensemble classifier that significantly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outperforms the individual classifiers.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We also demonstrate that the ensemble is more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accurate than approaches not based in the time domain. Nearly all TSC papers in the</a:t>
            </a:r>
            <a:r>
              <a:rPr lang="zh-TW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mining literature cite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DTW(with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warping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window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set through cross validation) as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benchmark for comparison.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We believe that our ensemble is the first ever classifier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to significantly outperform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DTW</a:t>
            </a:r>
            <a:r>
              <a:rPr lang="zh-TW" altLang="en-US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and as such raises the bar for future work in this area.</a:t>
            </a:r>
            <a:endParaRPr lang="zh-TW" altLang="en-US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150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Dynamic Time Warping(DTW)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11015" y="972044"/>
                <a:ext cx="11440289" cy="5761379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  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=2, …,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=2, …,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altLang="zh-TW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Warping Path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1;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1;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[1;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=(</m:t>
                              </m:r>
                              <m:sSubSup>
                                <m:sSub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𝑥𝑦</m:t>
                                  </m:r>
                                </m:sub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𝑥𝑦</m:t>
                                  </m:r>
                                </m:sub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015" y="972044"/>
                <a:ext cx="11440289" cy="5761379"/>
              </a:xfrm>
              <a:blipFill rotWithShape="0">
                <a:blip r:embed="rId3"/>
                <a:stretch>
                  <a:fillRect l="-11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4</a:t>
            </a:fld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7028270" y="3215150"/>
            <a:ext cx="4829748" cy="2761765"/>
            <a:chOff x="7115818" y="3215151"/>
            <a:chExt cx="5334837" cy="27617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內容版面配置區 2"/>
                <p:cNvSpPr txBox="1">
                  <a:spLocks/>
                </p:cNvSpPr>
                <p:nvPr/>
              </p:nvSpPr>
              <p:spPr>
                <a:xfrm>
                  <a:off x="7115818" y="3690916"/>
                  <a:ext cx="5334837" cy="228600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00000"/>
                    </a:lnSpc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𝐷𝑇𝑊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eqArr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𝐾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rad>
                              </m:e>
                            </m:eqArr>
                          </m:e>
                        </m:d>
                      </m:oMath>
                    </m:oMathPara>
                  </a14:m>
                  <a:r>
                    <a:rPr lang="en-US" altLang="zh-TW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/>
                  </a:r>
                  <a:br>
                    <a:rPr lang="en-US" altLang="zh-TW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endParaRPr lang="en-US" altLang="zh-TW" i="1" dirty="0" smtClean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marL="0" indent="0" algn="just">
                    <a:lnSpc>
                      <a:spcPct val="100000"/>
                    </a:lnSpc>
                    <a:buFont typeface="Arial" panose="020B0604020202020204" pitchFamily="34" charset="0"/>
                    <a:buNone/>
                  </a:pPr>
                  <a:endParaRPr lang="en-US" altLang="zh-TW" i="1" dirty="0" smtClean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內容版面配置區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5818" y="3690916"/>
                  <a:ext cx="5334837" cy="228600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7115818" y="3215151"/>
              <a:ext cx="150554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n-US" altLang="zh-TW" sz="2800" dirty="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a:t>Distance</a:t>
              </a:r>
              <a:endParaRPr lang="en-US" altLang="zh-TW" sz="28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775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Dynamic Time Warping(DTW)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5</a:t>
            </a:fld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67" y="1245850"/>
            <a:ext cx="6449082" cy="4026542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269" y="1999564"/>
            <a:ext cx="38481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9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Derivative Dynamic Time Warping(DDTW)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6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554113" y="1495264"/>
                <a:ext cx="315137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113" y="1495264"/>
                <a:ext cx="3151376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361158" y="972044"/>
            <a:ext cx="11929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TW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Series </a:t>
            </a:r>
            <a:endParaRPr lang="en-US" altLang="zh-TW" sz="2800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554113" y="2621763"/>
                <a:ext cx="385753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′={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113" y="2621763"/>
                <a:ext cx="3857531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554113" y="3452454"/>
                <a:ext cx="96464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𝑎𝑣𝑒𝑟𝑎𝑔𝑒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𝑡h𝑒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𝑠𝑙𝑜𝑝𝑒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𝑏𝑒𝑡𝑤𝑒𝑒𝑛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113" y="3452454"/>
                <a:ext cx="964642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554113" y="5275997"/>
                <a:ext cx="58392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𝐷𝑒𝑟𝑖𝑣𝑎𝑡𝑖𝑣𝑒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𝐷𝑇𝑊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𝑚𝑖𝑡𝑖𝑔𝑎𝑡𝑒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𝑛𝑜𝑖𝑠𝑒</m:t>
                      </m:r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113" y="5275997"/>
                <a:ext cx="583929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129801" y="3975674"/>
                <a:ext cx="5602816" cy="9257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801" y="3975674"/>
                <a:ext cx="5602816" cy="92570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35"/>
          <p:cNvGrpSpPr/>
          <p:nvPr/>
        </p:nvGrpSpPr>
        <p:grpSpPr>
          <a:xfrm>
            <a:off x="8793728" y="4041012"/>
            <a:ext cx="2958657" cy="2638341"/>
            <a:chOff x="8793728" y="4041012"/>
            <a:chExt cx="2958657" cy="2638341"/>
          </a:xfrm>
        </p:grpSpPr>
        <p:grpSp>
          <p:nvGrpSpPr>
            <p:cNvPr id="25" name="群組 24"/>
            <p:cNvGrpSpPr/>
            <p:nvPr/>
          </p:nvGrpSpPr>
          <p:grpSpPr>
            <a:xfrm>
              <a:off x="8793728" y="4041012"/>
              <a:ext cx="2958657" cy="2357739"/>
              <a:chOff x="8053053" y="4406137"/>
              <a:chExt cx="2958657" cy="2357739"/>
            </a:xfrm>
          </p:grpSpPr>
          <p:sp>
            <p:nvSpPr>
              <p:cNvPr id="16" name="手繪多邊形 15"/>
              <p:cNvSpPr/>
              <p:nvPr/>
            </p:nvSpPr>
            <p:spPr>
              <a:xfrm>
                <a:off x="8053053" y="4845935"/>
                <a:ext cx="2958657" cy="1887488"/>
              </a:xfrm>
              <a:custGeom>
                <a:avLst/>
                <a:gdLst>
                  <a:gd name="connsiteX0" fmla="*/ 0 w 2081719"/>
                  <a:gd name="connsiteY0" fmla="*/ 1107099 h 1887488"/>
                  <a:gd name="connsiteX1" fmla="*/ 447472 w 2081719"/>
                  <a:gd name="connsiteY1" fmla="*/ 17601 h 1887488"/>
                  <a:gd name="connsiteX2" fmla="*/ 933855 w 2081719"/>
                  <a:gd name="connsiteY2" fmla="*/ 1885311 h 1887488"/>
                  <a:gd name="connsiteX3" fmla="*/ 1498059 w 2081719"/>
                  <a:gd name="connsiteY3" fmla="*/ 406707 h 1887488"/>
                  <a:gd name="connsiteX4" fmla="*/ 2081719 w 2081719"/>
                  <a:gd name="connsiteY4" fmla="*/ 1048733 h 1887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81719" h="1887488">
                    <a:moveTo>
                      <a:pt x="0" y="1107099"/>
                    </a:moveTo>
                    <a:cubicBezTo>
                      <a:pt x="145915" y="497499"/>
                      <a:pt x="291830" y="-112101"/>
                      <a:pt x="447472" y="17601"/>
                    </a:cubicBezTo>
                    <a:cubicBezTo>
                      <a:pt x="603114" y="147303"/>
                      <a:pt x="758757" y="1820460"/>
                      <a:pt x="933855" y="1885311"/>
                    </a:cubicBezTo>
                    <a:cubicBezTo>
                      <a:pt x="1108953" y="1950162"/>
                      <a:pt x="1306748" y="546137"/>
                      <a:pt x="1498059" y="406707"/>
                    </a:cubicBezTo>
                    <a:cubicBezTo>
                      <a:pt x="1689370" y="267277"/>
                      <a:pt x="1885544" y="658005"/>
                      <a:pt x="2081719" y="1048733"/>
                    </a:cubicBezTo>
                  </a:path>
                </a:pathLst>
              </a:cu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8550613" y="4794373"/>
                <a:ext cx="107004" cy="10700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9" name="橢圓 18"/>
              <p:cNvSpPr/>
              <p:nvPr/>
            </p:nvSpPr>
            <p:spPr>
              <a:xfrm>
                <a:off x="8967453" y="5732873"/>
                <a:ext cx="107004" cy="10700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橢圓 19"/>
              <p:cNvSpPr/>
              <p:nvPr/>
            </p:nvSpPr>
            <p:spPr>
              <a:xfrm>
                <a:off x="9290754" y="6656872"/>
                <a:ext cx="107004" cy="10700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矩形 21"/>
                  <p:cNvSpPr/>
                  <p:nvPr/>
                </p:nvSpPr>
                <p:spPr>
                  <a:xfrm>
                    <a:off x="8604115" y="4406137"/>
                    <a:ext cx="764505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200" b="0" dirty="0" smtClean="0"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" name="矩形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4115" y="4406137"/>
                    <a:ext cx="764505" cy="430887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 b="-14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矩形 22"/>
                  <p:cNvSpPr/>
                  <p:nvPr/>
                </p:nvSpPr>
                <p:spPr>
                  <a:xfrm>
                    <a:off x="9020955" y="5253219"/>
                    <a:ext cx="496803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200" b="0" dirty="0" smtClean="0"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3" name="矩形 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20955" y="5253219"/>
                    <a:ext cx="496803" cy="430887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b="-14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矩形 23"/>
                  <p:cNvSpPr/>
                  <p:nvPr/>
                </p:nvSpPr>
                <p:spPr>
                  <a:xfrm>
                    <a:off x="9222161" y="6219312"/>
                    <a:ext cx="764505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200" b="0" dirty="0" smtClean="0"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" name="矩形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2161" y="6219312"/>
                    <a:ext cx="764505" cy="430887"/>
                  </a:xfrm>
                  <a:prstGeom prst="rect">
                    <a:avLst/>
                  </a:prstGeom>
                  <a:blipFill rotWithShape="0">
                    <a:blip r:embed="rId10"/>
                    <a:stretch>
                      <a:fillRect b="-14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7" name="直線接點 26"/>
            <p:cNvCxnSpPr/>
            <p:nvPr/>
          </p:nvCxnSpPr>
          <p:spPr>
            <a:xfrm>
              <a:off x="9389295" y="5423686"/>
              <a:ext cx="320320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>
              <a:off x="9389295" y="6345249"/>
              <a:ext cx="648000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/>
                <p:cNvSpPr/>
                <p:nvPr/>
              </p:nvSpPr>
              <p:spPr>
                <a:xfrm>
                  <a:off x="9395825" y="5400346"/>
                  <a:ext cx="36580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TW" b="0" dirty="0" smtClean="0"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矩形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5825" y="5400346"/>
                  <a:ext cx="365805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/>
                <p:cNvSpPr/>
                <p:nvPr/>
              </p:nvSpPr>
              <p:spPr>
                <a:xfrm>
                  <a:off x="9549455" y="6310021"/>
                  <a:ext cx="36580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altLang="zh-TW" b="0" dirty="0" smtClean="0"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矩形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9455" y="6310021"/>
                  <a:ext cx="365805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73581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Weighted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Dynamic Time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Warping(WDTW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17494" y="1233302"/>
            <a:ext cx="57785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TW" sz="28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Adds a Multiplicative Weight Penalty</a:t>
            </a:r>
            <a:endParaRPr lang="en-US" altLang="zh-TW" sz="2800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7494" y="2169160"/>
            <a:ext cx="24901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Weight Penalty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961693" y="2692380"/>
                <a:ext cx="3707874" cy="6738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</m:sSub>
                      <m:sSup>
                        <m:s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693" y="2692380"/>
                <a:ext cx="3707874" cy="67383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409073"/>
            <a:ext cx="553402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4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Longest Common Subsequence(LCSS)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8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08145" y="1182453"/>
                <a:ext cx="6527428" cy="1384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zh-TW" sz="28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Distance threshold 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n-US" altLang="zh-TW" sz="2800" i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/>
                <a:endParaRPr lang="en-US" altLang="zh-TW" sz="2800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TW" altLang="en-US" sz="28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altLang="zh-TW" sz="28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find greatest number of matching pairs</a:t>
                </a:r>
                <a:endParaRPr lang="en-US" altLang="zh-TW" sz="28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45" y="1182453"/>
                <a:ext cx="6527428" cy="1384995"/>
              </a:xfrm>
              <a:prstGeom prst="rect">
                <a:avLst/>
              </a:prstGeom>
              <a:blipFill rotWithShape="0">
                <a:blip r:embed="rId3"/>
                <a:stretch>
                  <a:fillRect l="-1961" t="-4846" r="-747" b="-114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45" y="2690071"/>
            <a:ext cx="5687854" cy="36782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828926" y="1295746"/>
                <a:ext cx="4776629" cy="2205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zh-TW" sz="28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a, b     </a:t>
                </a:r>
              </a:p>
              <a:p>
                <a:pPr algn="just"/>
                <a:r>
                  <a:rPr lang="en-US" altLang="zh-TW" sz="28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LCSS distance</a:t>
                </a:r>
              </a:p>
              <a:p>
                <a:pPr algn="just"/>
                <a:endParaRPr lang="en-US" altLang="zh-TW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𝐿𝐶𝑆𝑆</m:t>
                          </m:r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𝐿𝐶𝑆𝑆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altLang="zh-TW" sz="28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926" y="1295746"/>
                <a:ext cx="4776629" cy="2205604"/>
              </a:xfrm>
              <a:prstGeom prst="rect">
                <a:avLst/>
              </a:prstGeom>
              <a:blipFill rotWithShape="0">
                <a:blip r:embed="rId5"/>
                <a:stretch>
                  <a:fillRect l="-2551" t="-30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15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Move-Split-Merge(MSM) Distance   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838199" y="1059830"/>
            <a:ext cx="244617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sz="28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Edit distance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Insert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Delete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Substitute</a:t>
            </a:r>
            <a:endParaRPr lang="en-US" altLang="zh-TW" sz="28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8199" y="3746263"/>
            <a:ext cx="289053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sz="28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MSM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Move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Merge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Split</a:t>
            </a:r>
            <a:endParaRPr lang="en-US" altLang="zh-TW" sz="28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061" y="1898385"/>
            <a:ext cx="6454947" cy="34480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002793" y="1529053"/>
                <a:ext cx="2259465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𝐶𝑜𝑠𝑡</m:t>
                      </m:r>
                      <m:d>
                        <m:d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𝑀𝑜𝑣</m:t>
                          </m:r>
                          <m:sSub>
                            <m:sSubPr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=|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793" y="1529053"/>
                <a:ext cx="2259465" cy="404983"/>
              </a:xfrm>
              <a:prstGeom prst="rect">
                <a:avLst/>
              </a:prstGeom>
              <a:blipFill rotWithShape="0"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8171015" y="1529052"/>
                <a:ext cx="20560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𝐶𝑜𝑠𝑡</m:t>
                      </m:r>
                      <m:d>
                        <m:d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𝑀𝑒𝑟𝑔</m:t>
                          </m:r>
                          <m:sSub>
                            <m:sSubPr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1015" y="1529052"/>
                <a:ext cx="2056076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6804825" y="5346909"/>
                <a:ext cx="18751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𝐶𝑜𝑠𝑡</m:t>
                      </m:r>
                      <m:d>
                        <m:d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𝑆𝑝𝑙𝑖</m:t>
                          </m:r>
                          <m:sSub>
                            <m:sSubPr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825" y="5346909"/>
                <a:ext cx="1875193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61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Move-Split-Merge(MSM) Distance   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10</a:t>
            </a:fld>
            <a:endParaRPr lang="zh-TW" alt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165602" y="1547713"/>
            <a:ext cx="6454947" cy="4187189"/>
            <a:chOff x="4549061" y="1529052"/>
            <a:chExt cx="6454947" cy="4187189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9061" y="1898385"/>
              <a:ext cx="6454947" cy="34480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/>
                <p:cNvSpPr/>
                <p:nvPr/>
              </p:nvSpPr>
              <p:spPr>
                <a:xfrm>
                  <a:off x="5002793" y="1529053"/>
                  <a:ext cx="2259465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𝑀𝑜𝑣</m:t>
                            </m:r>
                            <m:sSub>
                              <m:sSubPr>
                                <m:ctrlP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sub>
                            </m:sSub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=|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2793" y="1529053"/>
                  <a:ext cx="2259465" cy="40498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/>
                <p:cNvSpPr/>
                <p:nvPr/>
              </p:nvSpPr>
              <p:spPr>
                <a:xfrm>
                  <a:off x="8171015" y="1529052"/>
                  <a:ext cx="205607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𝑀𝑒𝑟𝑔</m:t>
                            </m:r>
                            <m:sSub>
                              <m:sSubPr>
                                <m:ctrlP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1015" y="1529052"/>
                  <a:ext cx="2056076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/>
                <p:cNvSpPr/>
                <p:nvPr/>
              </p:nvSpPr>
              <p:spPr>
                <a:xfrm>
                  <a:off x="6804825" y="5346909"/>
                  <a:ext cx="187519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𝑆𝑝𝑙𝑖</m:t>
                            </m:r>
                            <m:sSub>
                              <m:sSubPr>
                                <m:ctrlP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4825" y="5346909"/>
                  <a:ext cx="1875193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矩形 7"/>
          <p:cNvSpPr/>
          <p:nvPr/>
        </p:nvSpPr>
        <p:spPr>
          <a:xfrm>
            <a:off x="7074281" y="1655435"/>
            <a:ext cx="374839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>
                <a:latin typeface="Cambria Math" panose="02040503050406030204" pitchFamily="18" charset="0"/>
              </a:rPr>
              <a:t>Sequence of operations</a:t>
            </a:r>
          </a:p>
          <a:p>
            <a:endParaRPr lang="en-US" altLang="zh-TW" sz="2800" i="1" dirty="0" smtClean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7225563" y="2299771"/>
                <a:ext cx="3965894" cy="18107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𝕊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endParaRPr lang="en-US" altLang="zh-TW" sz="28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𝕊</m:t>
                          </m:r>
                        </m:e>
                      </m:d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𝐶𝑜𝑠𝑡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563" y="2299771"/>
                <a:ext cx="3965894" cy="181075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550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Move-Split-Merge(MSM) Distance   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11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34" y="1046998"/>
            <a:ext cx="4057650" cy="568642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083" y="1975751"/>
            <a:ext cx="352425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Data Sets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 flipH="1">
            <a:off x="838199" y="1059830"/>
            <a:ext cx="67662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75 data sets</a:t>
            </a:r>
          </a:p>
          <a:p>
            <a:endParaRPr lang="en-US" altLang="zh-TW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46 UCR repository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24 are used in other published 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5 new data</a:t>
            </a:r>
          </a:p>
        </p:txBody>
      </p:sp>
    </p:spTree>
    <p:extLst>
      <p:ext uri="{BB962C8B-B14F-4D97-AF65-F5344CB8AC3E}">
        <p14:creationId xmlns:p14="http://schemas.microsoft.com/office/powerpoint/2010/main" val="108881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Ensemble Schemes</a:t>
            </a:r>
            <a:r>
              <a:rPr lang="zh-TW" alt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and Distance Measures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838199" y="1442384"/>
            <a:ext cx="36311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Equal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Best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Proportional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Significant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26769" y="1367739"/>
            <a:ext cx="512561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Euclidean distance(ED)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DTW and DDTW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DTWCV and DDTWCV</a:t>
            </a:r>
            <a:endParaRPr lang="en-US" altLang="zh-TW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WDTW and WDDTW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LCSS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ERP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TWE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MSM</a:t>
            </a:r>
          </a:p>
        </p:txBody>
      </p:sp>
    </p:spTree>
    <p:extLst>
      <p:ext uri="{BB962C8B-B14F-4D97-AF65-F5344CB8AC3E}">
        <p14:creationId xmlns:p14="http://schemas.microsoft.com/office/powerpoint/2010/main" val="35766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Critical Difference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14</a:t>
            </a:fld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962" y="1581201"/>
            <a:ext cx="7368073" cy="426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4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Average Ranks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15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162" y="1810138"/>
            <a:ext cx="8983878" cy="306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Individual </a:t>
            </a:r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v.s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Ensemble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38199" y="1442384"/>
            <a:ext cx="1051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Six highest ranked individual classifiers &amp; four ensemble techniques</a:t>
            </a:r>
            <a:endParaRPr lang="en-US" altLang="zh-TW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64" y="2348158"/>
            <a:ext cx="5740270" cy="369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17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17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523" y="924827"/>
            <a:ext cx="7142951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3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71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Critical Difference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19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838199" y="1442384"/>
                <a:ext cx="10515600" cy="18926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K classifiers over n data sets </a:t>
                </a:r>
                <a:r>
                  <a:rPr lang="zh-TW" altLang="en-US" sz="28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altLang="zh-TW" sz="28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Rank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+1)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𝛾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sz="28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442384"/>
                <a:ext cx="10515600" cy="1892698"/>
              </a:xfrm>
              <a:prstGeom prst="rect">
                <a:avLst/>
              </a:prstGeom>
              <a:blipFill rotWithShape="0">
                <a:blip r:embed="rId3"/>
                <a:stretch>
                  <a:fillRect l="-1159" t="-35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404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12509</TotalTime>
  <Words>400</Words>
  <Application>Microsoft Office PowerPoint</Application>
  <PresentationFormat>寬螢幕</PresentationFormat>
  <Paragraphs>128</Paragraphs>
  <Slides>19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Time series classification with ensembles of elastic distance measures</vt:lpstr>
      <vt:lpstr>Abstract</vt:lpstr>
      <vt:lpstr>Abstract</vt:lpstr>
      <vt:lpstr>Dynamic Time Warping(DTW)</vt:lpstr>
      <vt:lpstr>Dynamic Time Warping(DTW)</vt:lpstr>
      <vt:lpstr>Derivative Dynamic Time Warping(DDTW)</vt:lpstr>
      <vt:lpstr>Weighted Dynamic Time Warping(WDTW)</vt:lpstr>
      <vt:lpstr>Longest Common Subsequence(LCSS)</vt:lpstr>
      <vt:lpstr>Move-Split-Merge(MSM) Distance   </vt:lpstr>
      <vt:lpstr>Move-Split-Merge(MSM) Distance   </vt:lpstr>
      <vt:lpstr>Move-Split-Merge(MSM) Distance   </vt:lpstr>
      <vt:lpstr>Data Sets</vt:lpstr>
      <vt:lpstr>Ensemble Schemes and Distance Measures</vt:lpstr>
      <vt:lpstr>Critical Difference</vt:lpstr>
      <vt:lpstr>Average Ranks</vt:lpstr>
      <vt:lpstr>Individual v.s. Ensemble</vt:lpstr>
      <vt:lpstr>Experimental Results</vt:lpstr>
      <vt:lpstr>PowerPoint 簡報</vt:lpstr>
      <vt:lpstr>Critical Difference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 for Computing  Maximal Common Subsequences</dc:title>
  <dc:creator>BX CHEN</dc:creator>
  <cp:lastModifiedBy>pplab-class</cp:lastModifiedBy>
  <cp:revision>370</cp:revision>
  <dcterms:created xsi:type="dcterms:W3CDTF">2016-10-10T16:56:48Z</dcterms:created>
  <dcterms:modified xsi:type="dcterms:W3CDTF">2017-10-31T11:26:32Z</dcterms:modified>
</cp:coreProperties>
</file>