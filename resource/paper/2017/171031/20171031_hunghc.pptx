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69" r:id="rId5"/>
    <p:sldId id="259" r:id="rId6"/>
    <p:sldId id="264" r:id="rId7"/>
    <p:sldId id="260" r:id="rId8"/>
    <p:sldId id="261" r:id="rId9"/>
    <p:sldId id="262" r:id="rId10"/>
    <p:sldId id="265" r:id="rId11"/>
    <p:sldId id="266" r:id="rId12"/>
    <p:sldId id="270" r:id="rId13"/>
    <p:sldId id="271" r:id="rId14"/>
    <p:sldId id="272" r:id="rId15"/>
    <p:sldId id="273" r:id="rId16"/>
    <p:sldId id="274" r:id="rId17"/>
    <p:sldId id="275" r:id="rId1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33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0A6CD2-AF25-462A-A542-5957A3422A7B}" type="datetimeFigureOut">
              <a:rPr lang="zh-TW" altLang="en-US" smtClean="0"/>
              <a:t>2017/10/31</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9EF6A5-24C6-400B-BCE0-C735AAC9C0B0}" type="slidenum">
              <a:rPr lang="zh-TW" altLang="en-US" smtClean="0"/>
              <a:t>‹#›</a:t>
            </a:fld>
            <a:endParaRPr lang="zh-TW" altLang="en-US"/>
          </a:p>
        </p:txBody>
      </p:sp>
    </p:spTree>
    <p:extLst>
      <p:ext uri="{BB962C8B-B14F-4D97-AF65-F5344CB8AC3E}">
        <p14:creationId xmlns:p14="http://schemas.microsoft.com/office/powerpoint/2010/main" val="3346354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D9EF6A5-24C6-400B-BCE0-C735AAC9C0B0}" type="slidenum">
              <a:rPr lang="zh-TW" altLang="en-US" smtClean="0"/>
              <a:t>15</a:t>
            </a:fld>
            <a:endParaRPr lang="zh-TW" altLang="en-US"/>
          </a:p>
        </p:txBody>
      </p:sp>
    </p:spTree>
    <p:extLst>
      <p:ext uri="{BB962C8B-B14F-4D97-AF65-F5344CB8AC3E}">
        <p14:creationId xmlns:p14="http://schemas.microsoft.com/office/powerpoint/2010/main" val="2633199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5F1C85B-B678-4CFD-8AE8-244A64426961}"/>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xmlns="" id="{4102F35A-FE84-402B-9CAA-046D298CD7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xmlns="" id="{F0BF6CB3-A92C-483B-A9B0-9CD7F00010C6}"/>
              </a:ext>
            </a:extLst>
          </p:cNvPr>
          <p:cNvSpPr>
            <a:spLocks noGrp="1"/>
          </p:cNvSpPr>
          <p:nvPr>
            <p:ph type="dt" sz="half" idx="10"/>
          </p:nvPr>
        </p:nvSpPr>
        <p:spPr/>
        <p:txBody>
          <a:bodyPr/>
          <a:lstStyle/>
          <a:p>
            <a:fld id="{363B0618-E3A7-406E-AFA7-2F247B1D5897}" type="datetimeFigureOut">
              <a:rPr lang="zh-TW" altLang="en-US" smtClean="0"/>
              <a:t>2017/10/31</a:t>
            </a:fld>
            <a:endParaRPr lang="zh-TW" altLang="en-US"/>
          </a:p>
        </p:txBody>
      </p:sp>
      <p:sp>
        <p:nvSpPr>
          <p:cNvPr id="5" name="頁尾版面配置區 4">
            <a:extLst>
              <a:ext uri="{FF2B5EF4-FFF2-40B4-BE49-F238E27FC236}">
                <a16:creationId xmlns:a16="http://schemas.microsoft.com/office/drawing/2014/main" xmlns="" id="{28249728-DADF-44F9-89FD-24F4F9FF143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A9BA8D6D-9254-4430-BC4B-AC002D0145FE}"/>
              </a:ext>
            </a:extLst>
          </p:cNvPr>
          <p:cNvSpPr>
            <a:spLocks noGrp="1"/>
          </p:cNvSpPr>
          <p:nvPr>
            <p:ph type="sldNum" sz="quarter" idx="12"/>
          </p:nvPr>
        </p:nvSpPr>
        <p:spPr/>
        <p:txBody>
          <a:bodyPr/>
          <a:lstStyle/>
          <a:p>
            <a:fld id="{3CD0D14E-896F-41BE-96BB-3C05FB5297B4}" type="slidenum">
              <a:rPr lang="zh-TW" altLang="en-US" smtClean="0"/>
              <a:t>‹#›</a:t>
            </a:fld>
            <a:endParaRPr lang="zh-TW" altLang="en-US"/>
          </a:p>
        </p:txBody>
      </p:sp>
    </p:spTree>
    <p:extLst>
      <p:ext uri="{BB962C8B-B14F-4D97-AF65-F5344CB8AC3E}">
        <p14:creationId xmlns:p14="http://schemas.microsoft.com/office/powerpoint/2010/main" val="3729846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12ABEC1-6E46-46F1-9A03-459847EA1E33}"/>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874F9A41-1F56-4D79-9288-57E1959C54C6}"/>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CCE5DB01-6B2D-4DFA-9F7D-263B4A7D1815}"/>
              </a:ext>
            </a:extLst>
          </p:cNvPr>
          <p:cNvSpPr>
            <a:spLocks noGrp="1"/>
          </p:cNvSpPr>
          <p:nvPr>
            <p:ph type="dt" sz="half" idx="10"/>
          </p:nvPr>
        </p:nvSpPr>
        <p:spPr/>
        <p:txBody>
          <a:bodyPr/>
          <a:lstStyle/>
          <a:p>
            <a:fld id="{363B0618-E3A7-406E-AFA7-2F247B1D5897}" type="datetimeFigureOut">
              <a:rPr lang="zh-TW" altLang="en-US" smtClean="0"/>
              <a:t>2017/10/31</a:t>
            </a:fld>
            <a:endParaRPr lang="zh-TW" altLang="en-US"/>
          </a:p>
        </p:txBody>
      </p:sp>
      <p:sp>
        <p:nvSpPr>
          <p:cNvPr id="5" name="頁尾版面配置區 4">
            <a:extLst>
              <a:ext uri="{FF2B5EF4-FFF2-40B4-BE49-F238E27FC236}">
                <a16:creationId xmlns:a16="http://schemas.microsoft.com/office/drawing/2014/main" xmlns="" id="{030ADEB5-19CD-470F-906D-1AED7360EDD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8559C50B-AE42-4FB1-9F04-AF3953B327B4}"/>
              </a:ext>
            </a:extLst>
          </p:cNvPr>
          <p:cNvSpPr>
            <a:spLocks noGrp="1"/>
          </p:cNvSpPr>
          <p:nvPr>
            <p:ph type="sldNum" sz="quarter" idx="12"/>
          </p:nvPr>
        </p:nvSpPr>
        <p:spPr/>
        <p:txBody>
          <a:bodyPr/>
          <a:lstStyle/>
          <a:p>
            <a:fld id="{3CD0D14E-896F-41BE-96BB-3C05FB5297B4}" type="slidenum">
              <a:rPr lang="zh-TW" altLang="en-US" smtClean="0"/>
              <a:t>‹#›</a:t>
            </a:fld>
            <a:endParaRPr lang="zh-TW" altLang="en-US"/>
          </a:p>
        </p:txBody>
      </p:sp>
    </p:spTree>
    <p:extLst>
      <p:ext uri="{BB962C8B-B14F-4D97-AF65-F5344CB8AC3E}">
        <p14:creationId xmlns:p14="http://schemas.microsoft.com/office/powerpoint/2010/main" val="3882601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F0BC279-3B55-40A7-B20E-AE97844CEF6A}"/>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8F681943-8774-40E4-8DDF-83F099C11F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xmlns="" id="{C3C800BD-8200-4B89-AD06-0468A69F7449}"/>
              </a:ext>
            </a:extLst>
          </p:cNvPr>
          <p:cNvSpPr>
            <a:spLocks noGrp="1"/>
          </p:cNvSpPr>
          <p:nvPr>
            <p:ph type="dt" sz="half" idx="10"/>
          </p:nvPr>
        </p:nvSpPr>
        <p:spPr/>
        <p:txBody>
          <a:bodyPr/>
          <a:lstStyle/>
          <a:p>
            <a:fld id="{363B0618-E3A7-406E-AFA7-2F247B1D5897}" type="datetimeFigureOut">
              <a:rPr lang="zh-TW" altLang="en-US" smtClean="0"/>
              <a:t>2017/10/31</a:t>
            </a:fld>
            <a:endParaRPr lang="zh-TW" altLang="en-US"/>
          </a:p>
        </p:txBody>
      </p:sp>
      <p:sp>
        <p:nvSpPr>
          <p:cNvPr id="5" name="頁尾版面配置區 4">
            <a:extLst>
              <a:ext uri="{FF2B5EF4-FFF2-40B4-BE49-F238E27FC236}">
                <a16:creationId xmlns:a16="http://schemas.microsoft.com/office/drawing/2014/main" xmlns="" id="{A82FDBEE-0638-4E77-86B8-0247C34DCFB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00C1E531-96FC-43D6-A115-8C9EF483DA25}"/>
              </a:ext>
            </a:extLst>
          </p:cNvPr>
          <p:cNvSpPr>
            <a:spLocks noGrp="1"/>
          </p:cNvSpPr>
          <p:nvPr>
            <p:ph type="sldNum" sz="quarter" idx="12"/>
          </p:nvPr>
        </p:nvSpPr>
        <p:spPr/>
        <p:txBody>
          <a:bodyPr/>
          <a:lstStyle/>
          <a:p>
            <a:fld id="{3CD0D14E-896F-41BE-96BB-3C05FB5297B4}" type="slidenum">
              <a:rPr lang="zh-TW" altLang="en-US" smtClean="0"/>
              <a:t>‹#›</a:t>
            </a:fld>
            <a:endParaRPr lang="zh-TW" altLang="en-US"/>
          </a:p>
        </p:txBody>
      </p:sp>
    </p:spTree>
    <p:extLst>
      <p:ext uri="{BB962C8B-B14F-4D97-AF65-F5344CB8AC3E}">
        <p14:creationId xmlns:p14="http://schemas.microsoft.com/office/powerpoint/2010/main" val="2956415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E59AA6C-263C-4EE1-8E82-B4ECA6B1769B}"/>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5549CDEB-5EF6-442B-8CFB-05C8E97B0D55}"/>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3460DE08-6354-40BF-8013-334AAF2DF6DF}"/>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39CE86D4-06A2-46BA-8DE4-2BC88F32060F}"/>
              </a:ext>
            </a:extLst>
          </p:cNvPr>
          <p:cNvSpPr>
            <a:spLocks noGrp="1"/>
          </p:cNvSpPr>
          <p:nvPr>
            <p:ph type="dt" sz="half" idx="10"/>
          </p:nvPr>
        </p:nvSpPr>
        <p:spPr/>
        <p:txBody>
          <a:bodyPr/>
          <a:lstStyle/>
          <a:p>
            <a:fld id="{363B0618-E3A7-406E-AFA7-2F247B1D5897}" type="datetimeFigureOut">
              <a:rPr lang="zh-TW" altLang="en-US" smtClean="0"/>
              <a:t>2017/10/31</a:t>
            </a:fld>
            <a:endParaRPr lang="zh-TW" altLang="en-US"/>
          </a:p>
        </p:txBody>
      </p:sp>
      <p:sp>
        <p:nvSpPr>
          <p:cNvPr id="6" name="頁尾版面配置區 5">
            <a:extLst>
              <a:ext uri="{FF2B5EF4-FFF2-40B4-BE49-F238E27FC236}">
                <a16:creationId xmlns:a16="http://schemas.microsoft.com/office/drawing/2014/main" xmlns="" id="{2DE4A110-4FA1-46F7-8FB4-EC633794A1F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A319E1EB-1DBE-481F-B83C-C8FD25DEC1F0}"/>
              </a:ext>
            </a:extLst>
          </p:cNvPr>
          <p:cNvSpPr>
            <a:spLocks noGrp="1"/>
          </p:cNvSpPr>
          <p:nvPr>
            <p:ph type="sldNum" sz="quarter" idx="12"/>
          </p:nvPr>
        </p:nvSpPr>
        <p:spPr/>
        <p:txBody>
          <a:bodyPr/>
          <a:lstStyle/>
          <a:p>
            <a:fld id="{3CD0D14E-896F-41BE-96BB-3C05FB5297B4}" type="slidenum">
              <a:rPr lang="zh-TW" altLang="en-US" smtClean="0"/>
              <a:t>‹#›</a:t>
            </a:fld>
            <a:endParaRPr lang="zh-TW" altLang="en-US"/>
          </a:p>
        </p:txBody>
      </p:sp>
    </p:spTree>
    <p:extLst>
      <p:ext uri="{BB962C8B-B14F-4D97-AF65-F5344CB8AC3E}">
        <p14:creationId xmlns:p14="http://schemas.microsoft.com/office/powerpoint/2010/main" val="3079164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F6FD574-CA36-46F2-8348-B460AC665676}"/>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E9FDE726-EDA2-463D-8298-05D10F1165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xmlns="" id="{1739A289-A35F-433E-8346-837BE3BA7FC5}"/>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5E18A86E-8108-4EA4-A41B-11AD383597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xmlns="" id="{CAE89730-9FC5-4699-9711-7ADE3EDBC00E}"/>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8B7DA969-0F5E-4E57-9873-18F3C9168170}"/>
              </a:ext>
            </a:extLst>
          </p:cNvPr>
          <p:cNvSpPr>
            <a:spLocks noGrp="1"/>
          </p:cNvSpPr>
          <p:nvPr>
            <p:ph type="dt" sz="half" idx="10"/>
          </p:nvPr>
        </p:nvSpPr>
        <p:spPr/>
        <p:txBody>
          <a:bodyPr/>
          <a:lstStyle/>
          <a:p>
            <a:fld id="{363B0618-E3A7-406E-AFA7-2F247B1D5897}" type="datetimeFigureOut">
              <a:rPr lang="zh-TW" altLang="en-US" smtClean="0"/>
              <a:t>2017/10/31</a:t>
            </a:fld>
            <a:endParaRPr lang="zh-TW" altLang="en-US"/>
          </a:p>
        </p:txBody>
      </p:sp>
      <p:sp>
        <p:nvSpPr>
          <p:cNvPr id="8" name="頁尾版面配置區 7">
            <a:extLst>
              <a:ext uri="{FF2B5EF4-FFF2-40B4-BE49-F238E27FC236}">
                <a16:creationId xmlns:a16="http://schemas.microsoft.com/office/drawing/2014/main" xmlns="" id="{B6B49EC1-082A-4406-B3ED-A84517B2397C}"/>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xmlns="" id="{CBE53CC1-C12B-483B-97F8-C82B04985967}"/>
              </a:ext>
            </a:extLst>
          </p:cNvPr>
          <p:cNvSpPr>
            <a:spLocks noGrp="1"/>
          </p:cNvSpPr>
          <p:nvPr>
            <p:ph type="sldNum" sz="quarter" idx="12"/>
          </p:nvPr>
        </p:nvSpPr>
        <p:spPr/>
        <p:txBody>
          <a:bodyPr/>
          <a:lstStyle/>
          <a:p>
            <a:fld id="{3CD0D14E-896F-41BE-96BB-3C05FB5297B4}" type="slidenum">
              <a:rPr lang="zh-TW" altLang="en-US" smtClean="0"/>
              <a:t>‹#›</a:t>
            </a:fld>
            <a:endParaRPr lang="zh-TW" altLang="en-US"/>
          </a:p>
        </p:txBody>
      </p:sp>
    </p:spTree>
    <p:extLst>
      <p:ext uri="{BB962C8B-B14F-4D97-AF65-F5344CB8AC3E}">
        <p14:creationId xmlns:p14="http://schemas.microsoft.com/office/powerpoint/2010/main" val="2432512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F9BF7E2-0067-433A-82B5-E8EAA799BE87}"/>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F68851AE-1F8A-4DEC-ADB8-714E8C3189E1}"/>
              </a:ext>
            </a:extLst>
          </p:cNvPr>
          <p:cNvSpPr>
            <a:spLocks noGrp="1"/>
          </p:cNvSpPr>
          <p:nvPr>
            <p:ph type="dt" sz="half" idx="10"/>
          </p:nvPr>
        </p:nvSpPr>
        <p:spPr/>
        <p:txBody>
          <a:bodyPr/>
          <a:lstStyle/>
          <a:p>
            <a:fld id="{363B0618-E3A7-406E-AFA7-2F247B1D5897}" type="datetimeFigureOut">
              <a:rPr lang="zh-TW" altLang="en-US" smtClean="0"/>
              <a:t>2017/10/31</a:t>
            </a:fld>
            <a:endParaRPr lang="zh-TW" altLang="en-US"/>
          </a:p>
        </p:txBody>
      </p:sp>
      <p:sp>
        <p:nvSpPr>
          <p:cNvPr id="4" name="頁尾版面配置區 3">
            <a:extLst>
              <a:ext uri="{FF2B5EF4-FFF2-40B4-BE49-F238E27FC236}">
                <a16:creationId xmlns:a16="http://schemas.microsoft.com/office/drawing/2014/main" xmlns="" id="{B7FEB6F9-C645-453C-9E6E-9E5724D9D4D2}"/>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xmlns="" id="{73B8B79F-75D9-46E7-AB4A-4373A296940F}"/>
              </a:ext>
            </a:extLst>
          </p:cNvPr>
          <p:cNvSpPr>
            <a:spLocks noGrp="1"/>
          </p:cNvSpPr>
          <p:nvPr>
            <p:ph type="sldNum" sz="quarter" idx="12"/>
          </p:nvPr>
        </p:nvSpPr>
        <p:spPr/>
        <p:txBody>
          <a:bodyPr/>
          <a:lstStyle/>
          <a:p>
            <a:fld id="{3CD0D14E-896F-41BE-96BB-3C05FB5297B4}" type="slidenum">
              <a:rPr lang="zh-TW" altLang="en-US" smtClean="0"/>
              <a:t>‹#›</a:t>
            </a:fld>
            <a:endParaRPr lang="zh-TW" altLang="en-US"/>
          </a:p>
        </p:txBody>
      </p:sp>
    </p:spTree>
    <p:extLst>
      <p:ext uri="{BB962C8B-B14F-4D97-AF65-F5344CB8AC3E}">
        <p14:creationId xmlns:p14="http://schemas.microsoft.com/office/powerpoint/2010/main" val="2434525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0AC4F436-AF59-4BCF-A2C8-C58932D8EC71}"/>
              </a:ext>
            </a:extLst>
          </p:cNvPr>
          <p:cNvSpPr>
            <a:spLocks noGrp="1"/>
          </p:cNvSpPr>
          <p:nvPr>
            <p:ph type="dt" sz="half" idx="10"/>
          </p:nvPr>
        </p:nvSpPr>
        <p:spPr/>
        <p:txBody>
          <a:bodyPr/>
          <a:lstStyle/>
          <a:p>
            <a:fld id="{363B0618-E3A7-406E-AFA7-2F247B1D5897}" type="datetimeFigureOut">
              <a:rPr lang="zh-TW" altLang="en-US" smtClean="0"/>
              <a:t>2017/10/31</a:t>
            </a:fld>
            <a:endParaRPr lang="zh-TW" altLang="en-US"/>
          </a:p>
        </p:txBody>
      </p:sp>
      <p:sp>
        <p:nvSpPr>
          <p:cNvPr id="3" name="頁尾版面配置區 2">
            <a:extLst>
              <a:ext uri="{FF2B5EF4-FFF2-40B4-BE49-F238E27FC236}">
                <a16:creationId xmlns:a16="http://schemas.microsoft.com/office/drawing/2014/main" xmlns="" id="{7BF20E97-8046-4560-AB13-0987914E25CC}"/>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5FA5B399-31A9-4177-B560-15864EF0E7A0}"/>
              </a:ext>
            </a:extLst>
          </p:cNvPr>
          <p:cNvSpPr>
            <a:spLocks noGrp="1"/>
          </p:cNvSpPr>
          <p:nvPr>
            <p:ph type="sldNum" sz="quarter" idx="12"/>
          </p:nvPr>
        </p:nvSpPr>
        <p:spPr/>
        <p:txBody>
          <a:bodyPr/>
          <a:lstStyle/>
          <a:p>
            <a:fld id="{3CD0D14E-896F-41BE-96BB-3C05FB5297B4}" type="slidenum">
              <a:rPr lang="zh-TW" altLang="en-US" smtClean="0"/>
              <a:t>‹#›</a:t>
            </a:fld>
            <a:endParaRPr lang="zh-TW" altLang="en-US"/>
          </a:p>
        </p:txBody>
      </p:sp>
    </p:spTree>
    <p:extLst>
      <p:ext uri="{BB962C8B-B14F-4D97-AF65-F5344CB8AC3E}">
        <p14:creationId xmlns:p14="http://schemas.microsoft.com/office/powerpoint/2010/main" val="2373632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0C6F13C-85B7-4A2A-B224-AD6314AA32B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0E8C765C-D942-406D-AC51-C47AFEE4BF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7873D2E3-4F1A-434A-8531-AD54F798D5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5061FE34-041F-4402-A761-A04052D1BE48}"/>
              </a:ext>
            </a:extLst>
          </p:cNvPr>
          <p:cNvSpPr>
            <a:spLocks noGrp="1"/>
          </p:cNvSpPr>
          <p:nvPr>
            <p:ph type="dt" sz="half" idx="10"/>
          </p:nvPr>
        </p:nvSpPr>
        <p:spPr/>
        <p:txBody>
          <a:bodyPr/>
          <a:lstStyle/>
          <a:p>
            <a:fld id="{363B0618-E3A7-406E-AFA7-2F247B1D5897}" type="datetimeFigureOut">
              <a:rPr lang="zh-TW" altLang="en-US" smtClean="0"/>
              <a:t>2017/10/31</a:t>
            </a:fld>
            <a:endParaRPr lang="zh-TW" altLang="en-US"/>
          </a:p>
        </p:txBody>
      </p:sp>
      <p:sp>
        <p:nvSpPr>
          <p:cNvPr id="6" name="頁尾版面配置區 5">
            <a:extLst>
              <a:ext uri="{FF2B5EF4-FFF2-40B4-BE49-F238E27FC236}">
                <a16:creationId xmlns:a16="http://schemas.microsoft.com/office/drawing/2014/main" xmlns="" id="{1CEFCF2C-1973-4125-8E66-5741EA866D3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350C5C4E-1313-4412-BA03-0294F16515D6}"/>
              </a:ext>
            </a:extLst>
          </p:cNvPr>
          <p:cNvSpPr>
            <a:spLocks noGrp="1"/>
          </p:cNvSpPr>
          <p:nvPr>
            <p:ph type="sldNum" sz="quarter" idx="12"/>
          </p:nvPr>
        </p:nvSpPr>
        <p:spPr/>
        <p:txBody>
          <a:bodyPr/>
          <a:lstStyle/>
          <a:p>
            <a:fld id="{3CD0D14E-896F-41BE-96BB-3C05FB5297B4}" type="slidenum">
              <a:rPr lang="zh-TW" altLang="en-US" smtClean="0"/>
              <a:t>‹#›</a:t>
            </a:fld>
            <a:endParaRPr lang="zh-TW" altLang="en-US"/>
          </a:p>
        </p:txBody>
      </p:sp>
    </p:spTree>
    <p:extLst>
      <p:ext uri="{BB962C8B-B14F-4D97-AF65-F5344CB8AC3E}">
        <p14:creationId xmlns:p14="http://schemas.microsoft.com/office/powerpoint/2010/main" val="3307399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E850C-E706-45F6-BF6E-EC5992A0F4AF}"/>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D8AB6736-B60D-4CE9-A0F5-BCDEC0ED79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xmlns="" id="{67F1E746-9254-4744-9C96-B7D10F91D8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21C70070-D260-4100-97A2-8CFBE27F5566}"/>
              </a:ext>
            </a:extLst>
          </p:cNvPr>
          <p:cNvSpPr>
            <a:spLocks noGrp="1"/>
          </p:cNvSpPr>
          <p:nvPr>
            <p:ph type="dt" sz="half" idx="10"/>
          </p:nvPr>
        </p:nvSpPr>
        <p:spPr/>
        <p:txBody>
          <a:bodyPr/>
          <a:lstStyle/>
          <a:p>
            <a:fld id="{363B0618-E3A7-406E-AFA7-2F247B1D5897}" type="datetimeFigureOut">
              <a:rPr lang="zh-TW" altLang="en-US" smtClean="0"/>
              <a:t>2017/10/31</a:t>
            </a:fld>
            <a:endParaRPr lang="zh-TW" altLang="en-US"/>
          </a:p>
        </p:txBody>
      </p:sp>
      <p:sp>
        <p:nvSpPr>
          <p:cNvPr id="6" name="頁尾版面配置區 5">
            <a:extLst>
              <a:ext uri="{FF2B5EF4-FFF2-40B4-BE49-F238E27FC236}">
                <a16:creationId xmlns:a16="http://schemas.microsoft.com/office/drawing/2014/main" xmlns="" id="{0C7163B0-D164-4097-AD2C-D17B6AF074A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B18383C9-02B6-4FF9-A30F-0AC3A2B6B954}"/>
              </a:ext>
            </a:extLst>
          </p:cNvPr>
          <p:cNvSpPr>
            <a:spLocks noGrp="1"/>
          </p:cNvSpPr>
          <p:nvPr>
            <p:ph type="sldNum" sz="quarter" idx="12"/>
          </p:nvPr>
        </p:nvSpPr>
        <p:spPr/>
        <p:txBody>
          <a:bodyPr/>
          <a:lstStyle/>
          <a:p>
            <a:fld id="{3CD0D14E-896F-41BE-96BB-3C05FB5297B4}" type="slidenum">
              <a:rPr lang="zh-TW" altLang="en-US" smtClean="0"/>
              <a:t>‹#›</a:t>
            </a:fld>
            <a:endParaRPr lang="zh-TW" altLang="en-US"/>
          </a:p>
        </p:txBody>
      </p:sp>
    </p:spTree>
    <p:extLst>
      <p:ext uri="{BB962C8B-B14F-4D97-AF65-F5344CB8AC3E}">
        <p14:creationId xmlns:p14="http://schemas.microsoft.com/office/powerpoint/2010/main" val="3370725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F8DCB8E-259B-4F63-ACF0-BEEF60132719}"/>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4764943A-D214-44B7-80C1-118CF1E36A7D}"/>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85526F78-9D67-4966-BBFB-98841522BF83}"/>
              </a:ext>
            </a:extLst>
          </p:cNvPr>
          <p:cNvSpPr>
            <a:spLocks noGrp="1"/>
          </p:cNvSpPr>
          <p:nvPr>
            <p:ph type="dt" sz="half" idx="10"/>
          </p:nvPr>
        </p:nvSpPr>
        <p:spPr/>
        <p:txBody>
          <a:bodyPr/>
          <a:lstStyle/>
          <a:p>
            <a:fld id="{363B0618-E3A7-406E-AFA7-2F247B1D5897}" type="datetimeFigureOut">
              <a:rPr lang="zh-TW" altLang="en-US" smtClean="0"/>
              <a:t>2017/10/31</a:t>
            </a:fld>
            <a:endParaRPr lang="zh-TW" altLang="en-US"/>
          </a:p>
        </p:txBody>
      </p:sp>
      <p:sp>
        <p:nvSpPr>
          <p:cNvPr id="5" name="頁尾版面配置區 4">
            <a:extLst>
              <a:ext uri="{FF2B5EF4-FFF2-40B4-BE49-F238E27FC236}">
                <a16:creationId xmlns:a16="http://schemas.microsoft.com/office/drawing/2014/main" xmlns="" id="{59AE2B53-9DE7-414C-9345-C292651BDAB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845149FC-B60A-46D7-9337-1F59AE3A7DD7}"/>
              </a:ext>
            </a:extLst>
          </p:cNvPr>
          <p:cNvSpPr>
            <a:spLocks noGrp="1"/>
          </p:cNvSpPr>
          <p:nvPr>
            <p:ph type="sldNum" sz="quarter" idx="12"/>
          </p:nvPr>
        </p:nvSpPr>
        <p:spPr/>
        <p:txBody>
          <a:bodyPr/>
          <a:lstStyle/>
          <a:p>
            <a:fld id="{3CD0D14E-896F-41BE-96BB-3C05FB5297B4}" type="slidenum">
              <a:rPr lang="zh-TW" altLang="en-US" smtClean="0"/>
              <a:t>‹#›</a:t>
            </a:fld>
            <a:endParaRPr lang="zh-TW" altLang="en-US"/>
          </a:p>
        </p:txBody>
      </p:sp>
    </p:spTree>
    <p:extLst>
      <p:ext uri="{BB962C8B-B14F-4D97-AF65-F5344CB8AC3E}">
        <p14:creationId xmlns:p14="http://schemas.microsoft.com/office/powerpoint/2010/main" val="3247650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AA3390E6-EC6D-42D0-B7D2-A4738355F769}"/>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BEA3CBBE-9764-4AD3-AD31-35E658EBCEF7}"/>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22134292-956A-473A-866D-F078A636493E}"/>
              </a:ext>
            </a:extLst>
          </p:cNvPr>
          <p:cNvSpPr>
            <a:spLocks noGrp="1"/>
          </p:cNvSpPr>
          <p:nvPr>
            <p:ph type="dt" sz="half" idx="10"/>
          </p:nvPr>
        </p:nvSpPr>
        <p:spPr/>
        <p:txBody>
          <a:bodyPr/>
          <a:lstStyle/>
          <a:p>
            <a:fld id="{363B0618-E3A7-406E-AFA7-2F247B1D5897}" type="datetimeFigureOut">
              <a:rPr lang="zh-TW" altLang="en-US" smtClean="0"/>
              <a:t>2017/10/31</a:t>
            </a:fld>
            <a:endParaRPr lang="zh-TW" altLang="en-US"/>
          </a:p>
        </p:txBody>
      </p:sp>
      <p:sp>
        <p:nvSpPr>
          <p:cNvPr id="5" name="頁尾版面配置區 4">
            <a:extLst>
              <a:ext uri="{FF2B5EF4-FFF2-40B4-BE49-F238E27FC236}">
                <a16:creationId xmlns:a16="http://schemas.microsoft.com/office/drawing/2014/main" xmlns="" id="{4C763E60-1E74-4D35-80B9-BFE06F1775F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4F9E24CA-7BFB-4574-B6DC-4EB6EF82862D}"/>
              </a:ext>
            </a:extLst>
          </p:cNvPr>
          <p:cNvSpPr>
            <a:spLocks noGrp="1"/>
          </p:cNvSpPr>
          <p:nvPr>
            <p:ph type="sldNum" sz="quarter" idx="12"/>
          </p:nvPr>
        </p:nvSpPr>
        <p:spPr/>
        <p:txBody>
          <a:bodyPr/>
          <a:lstStyle/>
          <a:p>
            <a:fld id="{3CD0D14E-896F-41BE-96BB-3C05FB5297B4}" type="slidenum">
              <a:rPr lang="zh-TW" altLang="en-US" smtClean="0"/>
              <a:t>‹#›</a:t>
            </a:fld>
            <a:endParaRPr lang="zh-TW" altLang="en-US"/>
          </a:p>
        </p:txBody>
      </p:sp>
    </p:spTree>
    <p:extLst>
      <p:ext uri="{BB962C8B-B14F-4D97-AF65-F5344CB8AC3E}">
        <p14:creationId xmlns:p14="http://schemas.microsoft.com/office/powerpoint/2010/main" val="688760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EB252123-0300-4553-8676-E7DB01EEA0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56F20ACB-6251-4BCD-8E8A-6BBC5F689D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7B101C75-2B92-4455-BAC4-4D48877939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3B0618-E3A7-406E-AFA7-2F247B1D5897}" type="datetimeFigureOut">
              <a:rPr lang="zh-TW" altLang="en-US" smtClean="0"/>
              <a:t>2017/10/31</a:t>
            </a:fld>
            <a:endParaRPr lang="zh-TW" altLang="en-US"/>
          </a:p>
        </p:txBody>
      </p:sp>
      <p:sp>
        <p:nvSpPr>
          <p:cNvPr id="5" name="頁尾版面配置區 4">
            <a:extLst>
              <a:ext uri="{FF2B5EF4-FFF2-40B4-BE49-F238E27FC236}">
                <a16:creationId xmlns:a16="http://schemas.microsoft.com/office/drawing/2014/main" xmlns="" id="{BE2FB88B-055B-4779-B0C4-8CD17675FB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xmlns="" id="{1F827394-1566-4A85-8F7B-27B23BD042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D0D14E-896F-41BE-96BB-3C05FB5297B4}" type="slidenum">
              <a:rPr lang="zh-TW" altLang="en-US" smtClean="0"/>
              <a:t>‹#›</a:t>
            </a:fld>
            <a:endParaRPr lang="zh-TW" altLang="en-US"/>
          </a:p>
        </p:txBody>
      </p:sp>
    </p:spTree>
    <p:extLst>
      <p:ext uri="{BB962C8B-B14F-4D97-AF65-F5344CB8AC3E}">
        <p14:creationId xmlns:p14="http://schemas.microsoft.com/office/powerpoint/2010/main" val="7246611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64E07AA-0FBA-490B-96B8-00BF0C73DE01}"/>
              </a:ext>
            </a:extLst>
          </p:cNvPr>
          <p:cNvSpPr>
            <a:spLocks noGrp="1"/>
          </p:cNvSpPr>
          <p:nvPr>
            <p:ph type="ctrTitle"/>
          </p:nvPr>
        </p:nvSpPr>
        <p:spPr>
          <a:xfrm>
            <a:off x="1935332" y="1225698"/>
            <a:ext cx="8321336" cy="1405955"/>
          </a:xfrm>
        </p:spPr>
        <p:txBody>
          <a:bodyPr>
            <a:normAutofit/>
          </a:bodyPr>
          <a:lstStyle/>
          <a:p>
            <a:r>
              <a:rPr lang="en-US" altLang="zh-TW" sz="4600" dirty="0"/>
              <a:t>On </a:t>
            </a:r>
            <a:r>
              <a:rPr lang="en-US" altLang="zh-TW" sz="4600" dirty="0" smtClean="0"/>
              <a:t>the </a:t>
            </a:r>
            <a:r>
              <a:rPr lang="en-US" altLang="zh-TW" sz="4600" dirty="0"/>
              <a:t>Marriage of </a:t>
            </a:r>
            <a:r>
              <a:rPr lang="en-US" altLang="zh-TW" sz="4600" dirty="0" err="1"/>
              <a:t>Lp</a:t>
            </a:r>
            <a:r>
              <a:rPr lang="en-US" altLang="zh-TW" sz="4600" dirty="0"/>
              <a:t>-norms and Edit Distance</a:t>
            </a:r>
            <a:endParaRPr lang="zh-TW" altLang="en-US" sz="4600" dirty="0"/>
          </a:p>
        </p:txBody>
      </p:sp>
      <p:sp>
        <p:nvSpPr>
          <p:cNvPr id="3" name="副標題 2">
            <a:extLst>
              <a:ext uri="{FF2B5EF4-FFF2-40B4-BE49-F238E27FC236}">
                <a16:creationId xmlns:a16="http://schemas.microsoft.com/office/drawing/2014/main" xmlns="" id="{FC45D6F8-9480-4978-9B30-3516D6D93875}"/>
              </a:ext>
            </a:extLst>
          </p:cNvPr>
          <p:cNvSpPr>
            <a:spLocks noGrp="1"/>
          </p:cNvSpPr>
          <p:nvPr>
            <p:ph type="subTitle" idx="1"/>
          </p:nvPr>
        </p:nvSpPr>
        <p:spPr>
          <a:xfrm>
            <a:off x="1524000" y="3184787"/>
            <a:ext cx="9144000" cy="1014350"/>
          </a:xfrm>
        </p:spPr>
        <p:txBody>
          <a:bodyPr/>
          <a:lstStyle/>
          <a:p>
            <a:r>
              <a:rPr lang="en-US" altLang="zh-TW" dirty="0"/>
              <a:t>Lei Chen</a:t>
            </a:r>
          </a:p>
          <a:p>
            <a:r>
              <a:rPr lang="en-US" altLang="zh-TW" dirty="0"/>
              <a:t>Raymond Ng</a:t>
            </a:r>
            <a:endParaRPr lang="zh-TW" altLang="en-US" dirty="0"/>
          </a:p>
        </p:txBody>
      </p:sp>
      <p:sp>
        <p:nvSpPr>
          <p:cNvPr id="4" name="文字方塊 3">
            <a:extLst>
              <a:ext uri="{FF2B5EF4-FFF2-40B4-BE49-F238E27FC236}">
                <a16:creationId xmlns:a16="http://schemas.microsoft.com/office/drawing/2014/main" xmlns="" id="{B3C292EB-A6FC-43A8-A2E8-70BB14F7886D}"/>
              </a:ext>
            </a:extLst>
          </p:cNvPr>
          <p:cNvSpPr txBox="1"/>
          <p:nvPr/>
        </p:nvSpPr>
        <p:spPr>
          <a:xfrm>
            <a:off x="2902313" y="4276867"/>
            <a:ext cx="6387372" cy="369332"/>
          </a:xfrm>
          <a:prstGeom prst="rect">
            <a:avLst/>
          </a:prstGeom>
          <a:noFill/>
        </p:spPr>
        <p:txBody>
          <a:bodyPr wrap="square" rtlCol="0">
            <a:spAutoFit/>
          </a:bodyPr>
          <a:lstStyle/>
          <a:p>
            <a:r>
              <a:rPr lang="en-US" altLang="zh-TW" dirty="0"/>
              <a:t>Proceedings of the 30th VLDB Conference, Toronto, Canada, 2004</a:t>
            </a:r>
            <a:endParaRPr lang="zh-TW" altLang="en-US" dirty="0"/>
          </a:p>
        </p:txBody>
      </p:sp>
      <p:sp>
        <p:nvSpPr>
          <p:cNvPr id="5" name="文字方塊 4">
            <a:extLst>
              <a:ext uri="{FF2B5EF4-FFF2-40B4-BE49-F238E27FC236}">
                <a16:creationId xmlns:a16="http://schemas.microsoft.com/office/drawing/2014/main" xmlns="" id="{F31617A8-E409-4EE3-88BE-3A7F80AEF3A5}"/>
              </a:ext>
            </a:extLst>
          </p:cNvPr>
          <p:cNvSpPr txBox="1"/>
          <p:nvPr/>
        </p:nvSpPr>
        <p:spPr>
          <a:xfrm>
            <a:off x="4205110" y="4821584"/>
            <a:ext cx="3781777" cy="461665"/>
          </a:xfrm>
          <a:prstGeom prst="rect">
            <a:avLst/>
          </a:prstGeom>
          <a:noFill/>
        </p:spPr>
        <p:txBody>
          <a:bodyPr wrap="square" rtlCol="0">
            <a:spAutoFit/>
          </a:bodyPr>
          <a:lstStyle/>
          <a:p>
            <a:pPr algn="ctr"/>
            <a:r>
              <a:rPr lang="en-US" altLang="zh-TW" sz="2400" dirty="0"/>
              <a:t>Presenter: Hsiu-</a:t>
            </a:r>
            <a:r>
              <a:rPr lang="en-US" altLang="zh-TW" sz="2400" dirty="0" err="1"/>
              <a:t>Chieh</a:t>
            </a:r>
            <a:r>
              <a:rPr lang="en-US" altLang="zh-TW" sz="2400" dirty="0"/>
              <a:t> Hung</a:t>
            </a:r>
            <a:endParaRPr lang="zh-TW" altLang="en-US" sz="2400" dirty="0"/>
          </a:p>
        </p:txBody>
      </p:sp>
      <p:sp>
        <p:nvSpPr>
          <p:cNvPr id="6" name="文字方塊 5">
            <a:extLst>
              <a:ext uri="{FF2B5EF4-FFF2-40B4-BE49-F238E27FC236}">
                <a16:creationId xmlns:a16="http://schemas.microsoft.com/office/drawing/2014/main" xmlns="" id="{4C3B6DA6-6C94-4CFD-8CBD-2B9FD363032D}"/>
              </a:ext>
            </a:extLst>
          </p:cNvPr>
          <p:cNvSpPr txBox="1"/>
          <p:nvPr/>
        </p:nvSpPr>
        <p:spPr>
          <a:xfrm>
            <a:off x="8811210" y="6118578"/>
            <a:ext cx="1856790" cy="369332"/>
          </a:xfrm>
          <a:prstGeom prst="rect">
            <a:avLst/>
          </a:prstGeom>
          <a:noFill/>
        </p:spPr>
        <p:txBody>
          <a:bodyPr wrap="none" rtlCol="0">
            <a:spAutoFit/>
          </a:bodyPr>
          <a:lstStyle/>
          <a:p>
            <a:r>
              <a:rPr lang="en-US" altLang="zh-TW" dirty="0"/>
              <a:t>Date: 2017/10/31</a:t>
            </a:r>
            <a:endParaRPr lang="zh-TW" altLang="en-US" dirty="0"/>
          </a:p>
        </p:txBody>
      </p:sp>
    </p:spTree>
    <p:extLst>
      <p:ext uri="{BB962C8B-B14F-4D97-AF65-F5344CB8AC3E}">
        <p14:creationId xmlns:p14="http://schemas.microsoft.com/office/powerpoint/2010/main" val="25685708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970E223-690A-47FE-AFCF-525530EE8DD8}"/>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xmlns="" id="{EE216783-D3EE-4B84-BEA2-EDA6181C9E72}"/>
              </a:ext>
            </a:extLst>
          </p:cNvPr>
          <p:cNvSpPr>
            <a:spLocks noGrp="1"/>
          </p:cNvSpPr>
          <p:nvPr>
            <p:ph idx="1"/>
          </p:nvPr>
        </p:nvSpPr>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Existing studies on time series are based on two categories of distance functions. The first category consists of the </a:t>
            </a:r>
            <a:r>
              <a:rPr lang="en-US" altLang="zh-TW" dirty="0" err="1">
                <a:latin typeface="Times New Roman" panose="02020603050405020304" pitchFamily="18" charset="0"/>
                <a:cs typeface="Times New Roman" panose="02020603050405020304" pitchFamily="18" charset="0"/>
              </a:rPr>
              <a:t>Lp</a:t>
            </a:r>
            <a:r>
              <a:rPr lang="en-US" altLang="zh-TW" dirty="0">
                <a:latin typeface="Times New Roman" panose="02020603050405020304" pitchFamily="18" charset="0"/>
                <a:cs typeface="Times New Roman" panose="02020603050405020304" pitchFamily="18" charset="0"/>
              </a:rPr>
              <a:t>-norms. They are metric distance functions but cannot support local time shifting. The second category consists of distance functions which are capable of handling local time shifting but are non-metric. The first contribution of this paper is the proposal of a new distance function, which we call ERP (“Edit distance with Real Penalty”). Representing a marriage of L1- norm and the edit distance, ERP can support local time shifting, and is a metric.</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93274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xmlns="" id="{DB0D7618-4DFF-49C8-BF2E-84891BA7550E}"/>
              </a:ext>
            </a:extLst>
          </p:cNvPr>
          <p:cNvSpPr>
            <a:spLocks noGrp="1"/>
          </p:cNvSpPr>
          <p:nvPr>
            <p:ph idx="1"/>
          </p:nvPr>
        </p:nvSpPr>
        <p:spPr/>
        <p:txBody>
          <a:bodyPr>
            <a:normAutofit lnSpcReduction="10000"/>
          </a:bodyPr>
          <a:lstStyle/>
          <a:p>
            <a:pPr marL="0" indent="0">
              <a:buNone/>
            </a:pPr>
            <a:r>
              <a:rPr lang="en-US" altLang="zh-TW" dirty="0">
                <a:latin typeface="Times New Roman" panose="02020603050405020304" pitchFamily="18" charset="0"/>
                <a:cs typeface="Times New Roman" panose="02020603050405020304" pitchFamily="18" charset="0"/>
              </a:rPr>
              <a:t>The second contribution of the paper is the development of pruning strategies for large time series databases. Given that ERP is a metric, one way to prune is to apply the triangle inequality. Another way to prune is to develop a lower bound on the ERP distance. We propose such a lower bound, which has the nice computational property that it can be efficiently indexed with a standard B+-tree. Moreover, we show that these two ways of pruning can be used simultaneously for ERP distances. Specifically, the false positives obtained from the B+-tree can be further minimized by applying the triangle inequality. Based on extensive experimentation with existing benchmarks and techniques, we show that this combination delivers superb pruning power and search time performance, and dominates all existing strategies.</a:t>
            </a:r>
            <a:endParaRPr lang="zh-TW" altLang="en-US" dirty="0">
              <a:latin typeface="Times New Roman" panose="02020603050405020304" pitchFamily="18" charset="0"/>
              <a:cs typeface="Times New Roman" panose="02020603050405020304" pitchFamily="18" charset="0"/>
            </a:endParaRPr>
          </a:p>
        </p:txBody>
      </p:sp>
      <p:sp>
        <p:nvSpPr>
          <p:cNvPr id="4" name="標題 1">
            <a:extLst>
              <a:ext uri="{FF2B5EF4-FFF2-40B4-BE49-F238E27FC236}">
                <a16:creationId xmlns:a16="http://schemas.microsoft.com/office/drawing/2014/main" xmlns="" id="{15794BCF-ED61-498D-A95B-0307EFA8B558}"/>
              </a:ext>
            </a:extLst>
          </p:cNvPr>
          <p:cNvSpPr>
            <a:spLocks noGrp="1"/>
          </p:cNvSpPr>
          <p:nvPr>
            <p:ph type="title"/>
          </p:nvPr>
        </p:nvSpPr>
        <p:spPr>
          <a:xfrm>
            <a:off x="838200" y="365125"/>
            <a:ext cx="10515600" cy="1325563"/>
          </a:xfrm>
        </p:spPr>
        <p:txBody>
          <a:bodyPr/>
          <a:lstStyle/>
          <a:p>
            <a:pPr algn="ctr"/>
            <a:r>
              <a:rPr lang="en-US" altLang="zh-TW" dirty="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65203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流程圖: 磁碟 3">
            <a:extLst>
              <a:ext uri="{FF2B5EF4-FFF2-40B4-BE49-F238E27FC236}">
                <a16:creationId xmlns:a16="http://schemas.microsoft.com/office/drawing/2014/main" xmlns="" id="{FC466FD6-5EBB-4A41-A51D-A3AEE45A4AEF}"/>
              </a:ext>
            </a:extLst>
          </p:cNvPr>
          <p:cNvSpPr/>
          <p:nvPr/>
        </p:nvSpPr>
        <p:spPr>
          <a:xfrm>
            <a:off x="1846555" y="1748900"/>
            <a:ext cx="1340528" cy="1970843"/>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5" name="文字方塊 4">
            <a:extLst>
              <a:ext uri="{FF2B5EF4-FFF2-40B4-BE49-F238E27FC236}">
                <a16:creationId xmlns:a16="http://schemas.microsoft.com/office/drawing/2014/main" xmlns="" id="{413ADBDE-2828-4691-A794-5A370B2F6DC5}"/>
              </a:ext>
            </a:extLst>
          </p:cNvPr>
          <p:cNvSpPr txBox="1"/>
          <p:nvPr/>
        </p:nvSpPr>
        <p:spPr>
          <a:xfrm>
            <a:off x="1998151" y="3932808"/>
            <a:ext cx="1037335" cy="369332"/>
          </a:xfrm>
          <a:prstGeom prst="rect">
            <a:avLst/>
          </a:prstGeom>
          <a:noFill/>
        </p:spPr>
        <p:txBody>
          <a:bodyPr wrap="none" rtlCol="0">
            <a:spAutoFit/>
          </a:bodyPr>
          <a:lstStyle/>
          <a:p>
            <a:r>
              <a:rPr lang="en-US" altLang="zh-TW" dirty="0"/>
              <a:t>database</a:t>
            </a:r>
            <a:endParaRPr lang="zh-TW" altLang="en-US" dirty="0"/>
          </a:p>
        </p:txBody>
      </p:sp>
      <p:sp>
        <p:nvSpPr>
          <p:cNvPr id="6" name="箭號: 向左 5">
            <a:extLst>
              <a:ext uri="{FF2B5EF4-FFF2-40B4-BE49-F238E27FC236}">
                <a16:creationId xmlns:a16="http://schemas.microsoft.com/office/drawing/2014/main" xmlns="" id="{BCFA26C1-D938-4849-93AD-79CDBBF833E3}"/>
              </a:ext>
            </a:extLst>
          </p:cNvPr>
          <p:cNvSpPr/>
          <p:nvPr/>
        </p:nvSpPr>
        <p:spPr>
          <a:xfrm>
            <a:off x="3648722" y="2663301"/>
            <a:ext cx="1154097" cy="408372"/>
          </a:xfrm>
          <a:prstGeom prst="lef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xmlns="" id="{97483BFC-A616-40DA-9A3D-ABE0B2684494}"/>
              </a:ext>
            </a:extLst>
          </p:cNvPr>
          <p:cNvSpPr txBox="1"/>
          <p:nvPr/>
        </p:nvSpPr>
        <p:spPr>
          <a:xfrm>
            <a:off x="5264458" y="2702341"/>
            <a:ext cx="1715085" cy="369332"/>
          </a:xfrm>
          <a:prstGeom prst="rect">
            <a:avLst/>
          </a:prstGeom>
          <a:noFill/>
        </p:spPr>
        <p:txBody>
          <a:bodyPr wrap="none" rtlCol="0">
            <a:spAutoFit/>
          </a:bodyPr>
          <a:lstStyle/>
          <a:p>
            <a:r>
              <a:rPr lang="en-US" altLang="zh-TW" dirty="0"/>
              <a:t>Query sequence</a:t>
            </a:r>
            <a:endParaRPr lang="zh-TW" altLang="en-US" dirty="0"/>
          </a:p>
        </p:txBody>
      </p:sp>
      <p:sp>
        <p:nvSpPr>
          <p:cNvPr id="8" name="文字方塊 7">
            <a:extLst>
              <a:ext uri="{FF2B5EF4-FFF2-40B4-BE49-F238E27FC236}">
                <a16:creationId xmlns:a16="http://schemas.microsoft.com/office/drawing/2014/main" xmlns="" id="{A7B00F5E-87D2-4CA7-B036-CE0F46491D53}"/>
              </a:ext>
            </a:extLst>
          </p:cNvPr>
          <p:cNvSpPr txBox="1"/>
          <p:nvPr/>
        </p:nvSpPr>
        <p:spPr>
          <a:xfrm>
            <a:off x="3559945" y="4435305"/>
            <a:ext cx="5838330" cy="461665"/>
          </a:xfrm>
          <a:prstGeom prst="rect">
            <a:avLst/>
          </a:prstGeom>
          <a:noFill/>
        </p:spPr>
        <p:txBody>
          <a:bodyPr wrap="none" rtlCol="0">
            <a:spAutoFit/>
          </a:bodyPr>
          <a:lstStyle/>
          <a:p>
            <a:r>
              <a:rPr lang="zh-TW" altLang="en-US" sz="2400" dirty="0"/>
              <a:t>找出</a:t>
            </a:r>
            <a:r>
              <a:rPr lang="en-US" altLang="zh-TW" sz="2400" dirty="0"/>
              <a:t>k</a:t>
            </a:r>
            <a:r>
              <a:rPr lang="zh-TW" altLang="en-US" sz="2400" dirty="0"/>
              <a:t>個跟</a:t>
            </a:r>
            <a:r>
              <a:rPr lang="en-US" altLang="zh-TW" sz="2400" dirty="0"/>
              <a:t>query sequence</a:t>
            </a:r>
            <a:r>
              <a:rPr lang="zh-TW" altLang="en-US" sz="2400" dirty="0"/>
              <a:t>最近的</a:t>
            </a:r>
            <a:r>
              <a:rPr lang="en-US" altLang="zh-TW" sz="2400" dirty="0"/>
              <a:t>time series</a:t>
            </a:r>
            <a:endParaRPr lang="zh-TW" altLang="en-US" sz="2400" dirty="0"/>
          </a:p>
        </p:txBody>
      </p:sp>
    </p:spTree>
    <p:extLst>
      <p:ext uri="{BB962C8B-B14F-4D97-AF65-F5344CB8AC3E}">
        <p14:creationId xmlns:p14="http://schemas.microsoft.com/office/powerpoint/2010/main" val="10393226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E0D8D45-27EF-47AE-B458-7D0B214410A1}"/>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Edit Distance</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xmlns="" id="{EF005499-2CB0-4DA6-A289-A3EE91AA36F4}"/>
                  </a:ext>
                </a:extLst>
              </p:cNvPr>
              <p:cNvSpPr txBox="1"/>
              <p:nvPr/>
            </p:nvSpPr>
            <p:spPr>
              <a:xfrm>
                <a:off x="3124942" y="2280872"/>
                <a:ext cx="4973156" cy="12714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𝑑𝑖𝑠𝑡</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𝑟</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𝑖</m:t>
                              </m:r>
                            </m:sub>
                          </m:sSub>
                        </m:e>
                      </m:d>
                      <m:r>
                        <a:rPr lang="en-US" altLang="zh-TW" sz="2400" b="0" i="1" smtClean="0">
                          <a:latin typeface="Cambria Math" panose="02040503050406030204" pitchFamily="18" charset="0"/>
                        </a:rPr>
                        <m:t>=</m:t>
                      </m:r>
                      <m:d>
                        <m:dPr>
                          <m:begChr m:val="{"/>
                          <m:endChr m:val=""/>
                          <m:ctrlPr>
                            <a:rPr lang="en-US" altLang="zh-TW" sz="2400" b="0" i="1" smtClean="0">
                              <a:latin typeface="Cambria Math" panose="02040503050406030204" pitchFamily="18" charset="0"/>
                            </a:rPr>
                          </m:ctrlPr>
                        </m:dPr>
                        <m:e>
                          <m:eqArr>
                            <m:eqArrPr>
                              <m:ctrlPr>
                                <a:rPr lang="en-US" altLang="zh-TW" sz="2400" b="0" i="1" smtClean="0">
                                  <a:latin typeface="Cambria Math" panose="02040503050406030204" pitchFamily="18" charset="0"/>
                                </a:rPr>
                              </m:ctrlPr>
                            </m:eqArrPr>
                            <m:e>
                              <m:r>
                                <a:rPr lang="en-US" altLang="zh-TW" sz="2400" b="0" i="1" smtClean="0">
                                  <a:latin typeface="Cambria Math" panose="02040503050406030204" pitchFamily="18" charset="0"/>
                                </a:rPr>
                                <m:t>&amp;0   &amp;</m:t>
                              </m:r>
                              <m:r>
                                <a:rPr lang="en-US" altLang="zh-TW" sz="2400" b="0" i="1" smtClean="0">
                                  <a:latin typeface="Cambria Math" panose="02040503050406030204" pitchFamily="18" charset="0"/>
                                </a:rPr>
                                <m:t>𝑖𝑓</m:t>
                              </m:r>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𝑟</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𝑖</m:t>
                                  </m:r>
                                </m:sub>
                              </m:sSub>
                            </m:e>
                            <m:e>
                              <m:r>
                                <a:rPr lang="en-US" altLang="zh-TW" sz="2400" b="0" i="1" smtClean="0">
                                  <a:latin typeface="Cambria Math" panose="02040503050406030204" pitchFamily="18" charset="0"/>
                                </a:rPr>
                                <m:t>&amp;1   &amp;</m:t>
                              </m:r>
                              <m:r>
                                <a:rPr lang="en-US" altLang="zh-TW" sz="2400" b="0" i="1" smtClean="0">
                                  <a:latin typeface="Cambria Math" panose="02040503050406030204" pitchFamily="18" charset="0"/>
                                </a:rPr>
                                <m:t>𝑖𝑓</m:t>
                              </m:r>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𝑟</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𝑜𝑟</m:t>
                              </m:r>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𝑖𝑠</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𝑎</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𝑔𝑎𝑝</m:t>
                              </m:r>
                            </m:e>
                            <m:e>
                              <m:r>
                                <a:rPr lang="en-US" altLang="zh-TW" sz="2400" b="0" i="1" smtClean="0">
                                  <a:latin typeface="Cambria Math" panose="02040503050406030204" pitchFamily="18" charset="0"/>
                                </a:rPr>
                                <m:t>&amp;1   &amp;</m:t>
                              </m:r>
                              <m:r>
                                <a:rPr lang="en-US" altLang="zh-TW" sz="2400" b="0" i="1" smtClean="0">
                                  <a:latin typeface="Cambria Math" panose="02040503050406030204" pitchFamily="18" charset="0"/>
                                </a:rPr>
                                <m:t>𝑂𝑡h𝑒𝑟𝑤𝑖𝑠𝑒</m:t>
                              </m:r>
                            </m:e>
                          </m:eqArr>
                        </m:e>
                      </m:d>
                    </m:oMath>
                  </m:oMathPara>
                </a14:m>
                <a:endParaRPr lang="zh-TW" altLang="en-US" sz="2400" dirty="0"/>
              </a:p>
            </p:txBody>
          </p:sp>
        </mc:Choice>
        <mc:Fallback xmlns="">
          <p:sp>
            <p:nvSpPr>
              <p:cNvPr id="4" name="文字方塊 3">
                <a:extLst>
                  <a:ext uri="{FF2B5EF4-FFF2-40B4-BE49-F238E27FC236}">
                    <a16:creationId xmlns:a16="http://schemas.microsoft.com/office/drawing/2014/main" id="{EF005499-2CB0-4DA6-A289-A3EE91AA36F4}"/>
                  </a:ext>
                </a:extLst>
              </p:cNvPr>
              <p:cNvSpPr txBox="1">
                <a:spLocks noRot="1" noChangeAspect="1" noMove="1" noResize="1" noEditPoints="1" noAdjustHandles="1" noChangeArrowheads="1" noChangeShapeType="1" noTextEdit="1"/>
              </p:cNvSpPr>
              <p:nvPr/>
            </p:nvSpPr>
            <p:spPr>
              <a:xfrm>
                <a:off x="3124942" y="2280872"/>
                <a:ext cx="4973156" cy="1271438"/>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xmlns="" id="{ACE048D7-677E-44CA-A21A-55BE611C9577}"/>
                  </a:ext>
                </a:extLst>
              </p:cNvPr>
              <p:cNvSpPr txBox="1"/>
              <p:nvPr/>
            </p:nvSpPr>
            <p:spPr>
              <a:xfrm>
                <a:off x="3124942" y="4622582"/>
                <a:ext cx="5365763" cy="12714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𝑑𝑖𝑠𝑡</m:t>
                          </m:r>
                        </m:e>
                        <m:sub>
                          <m:r>
                            <a:rPr lang="en-US" altLang="zh-TW" sz="2400" b="0" i="1" smtClean="0">
                              <a:latin typeface="Cambria Math" panose="02040503050406030204" pitchFamily="18" charset="0"/>
                            </a:rPr>
                            <m:t>𝑒𝑑𝑟</m:t>
                          </m:r>
                        </m:sub>
                      </m:sSub>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𝑟</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𝑖</m:t>
                              </m:r>
                            </m:sub>
                          </m:sSub>
                        </m:e>
                      </m:d>
                      <m:r>
                        <a:rPr lang="en-US" altLang="zh-TW" sz="2400" b="0" i="1" smtClean="0">
                          <a:latin typeface="Cambria Math" panose="02040503050406030204" pitchFamily="18" charset="0"/>
                        </a:rPr>
                        <m:t>=</m:t>
                      </m:r>
                      <m:d>
                        <m:dPr>
                          <m:begChr m:val="{"/>
                          <m:endChr m:val=""/>
                          <m:ctrlPr>
                            <a:rPr lang="en-US" altLang="zh-TW" sz="2400" b="0" i="1" smtClean="0">
                              <a:latin typeface="Cambria Math" panose="02040503050406030204" pitchFamily="18" charset="0"/>
                            </a:rPr>
                          </m:ctrlPr>
                        </m:dPr>
                        <m:e>
                          <m:eqArr>
                            <m:eqArrPr>
                              <m:ctrlPr>
                                <a:rPr lang="en-US" altLang="zh-TW" sz="2400" b="0" i="1" smtClean="0">
                                  <a:latin typeface="Cambria Math" panose="02040503050406030204" pitchFamily="18" charset="0"/>
                                </a:rPr>
                              </m:ctrlPr>
                            </m:eqArrPr>
                            <m:e>
                              <m:r>
                                <a:rPr lang="en-US" altLang="zh-TW" sz="2400" b="0" i="1" smtClean="0">
                                  <a:latin typeface="Cambria Math" panose="02040503050406030204" pitchFamily="18" charset="0"/>
                                </a:rPr>
                                <m:t>&amp;0   &amp;</m:t>
                              </m:r>
                              <m:r>
                                <a:rPr lang="en-US" altLang="zh-TW" sz="2400" b="0" i="1" smtClean="0">
                                  <a:latin typeface="Cambria Math" panose="02040503050406030204" pitchFamily="18" charset="0"/>
                                </a:rPr>
                                <m:t>𝑖𝑓</m:t>
                              </m:r>
                              <m:r>
                                <a:rPr lang="en-US" altLang="zh-TW" sz="2400" b="0" i="1" smtClean="0">
                                  <a:latin typeface="Cambria Math" panose="02040503050406030204" pitchFamily="18" charset="0"/>
                                </a:rPr>
                                <m:t> </m:t>
                              </m:r>
                              <m:d>
                                <m:dPr>
                                  <m:begChr m:val="|"/>
                                  <m:endChr m:val="|"/>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𝑟</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𝑖</m:t>
                                      </m:r>
                                    </m:sub>
                                  </m:sSub>
                                </m:e>
                              </m:d>
                              <m:r>
                                <a:rPr lang="en-US" altLang="zh-TW" sz="2400" b="0" i="1" smtClean="0">
                                  <a:latin typeface="Cambria Math" panose="02040503050406030204" pitchFamily="18" charset="0"/>
                                  <a:ea typeface="Cambria Math" panose="02040503050406030204" pitchFamily="18" charset="0"/>
                                </a:rPr>
                                <m:t>≤</m:t>
                              </m:r>
                              <m:r>
                                <a:rPr lang="zh-TW" altLang="en-US" sz="2400" b="0" i="1" smtClean="0">
                                  <a:latin typeface="Cambria Math" panose="02040503050406030204" pitchFamily="18" charset="0"/>
                                  <a:ea typeface="Cambria Math" panose="02040503050406030204" pitchFamily="18" charset="0"/>
                                </a:rPr>
                                <m:t>𝛿</m:t>
                              </m:r>
                            </m:e>
                            <m:e>
                              <m:r>
                                <a:rPr lang="en-US" altLang="zh-TW" sz="2400" b="0" i="1" smtClean="0">
                                  <a:latin typeface="Cambria Math" panose="02040503050406030204" pitchFamily="18" charset="0"/>
                                </a:rPr>
                                <m:t>&amp;1   &amp;</m:t>
                              </m:r>
                              <m:r>
                                <a:rPr lang="en-US" altLang="zh-TW" sz="2400" b="0" i="1" smtClean="0">
                                  <a:latin typeface="Cambria Math" panose="02040503050406030204" pitchFamily="18" charset="0"/>
                                </a:rPr>
                                <m:t>𝑖𝑓</m:t>
                              </m:r>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𝑟</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𝑜𝑟</m:t>
                              </m:r>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𝑖𝑠</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𝑎</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𝑔𝑎𝑝</m:t>
                              </m:r>
                            </m:e>
                            <m:e>
                              <m:r>
                                <a:rPr lang="en-US" altLang="zh-TW" sz="2400" b="0" i="1" smtClean="0">
                                  <a:latin typeface="Cambria Math" panose="02040503050406030204" pitchFamily="18" charset="0"/>
                                </a:rPr>
                                <m:t>&amp;1   &amp;</m:t>
                              </m:r>
                              <m:r>
                                <a:rPr lang="en-US" altLang="zh-TW" sz="2400" b="0" i="1" smtClean="0">
                                  <a:latin typeface="Cambria Math" panose="02040503050406030204" pitchFamily="18" charset="0"/>
                                </a:rPr>
                                <m:t>𝑂𝑡h𝑒𝑟𝑤𝑖𝑠𝑒</m:t>
                              </m:r>
                            </m:e>
                          </m:eqArr>
                        </m:e>
                      </m:d>
                    </m:oMath>
                  </m:oMathPara>
                </a14:m>
                <a:endParaRPr lang="zh-TW" altLang="en-US" sz="2400" dirty="0"/>
              </a:p>
            </p:txBody>
          </p:sp>
        </mc:Choice>
        <mc:Fallback xmlns="">
          <p:sp>
            <p:nvSpPr>
              <p:cNvPr id="6" name="文字方塊 5">
                <a:extLst>
                  <a:ext uri="{FF2B5EF4-FFF2-40B4-BE49-F238E27FC236}">
                    <a16:creationId xmlns:a16="http://schemas.microsoft.com/office/drawing/2014/main" id="{ACE048D7-677E-44CA-A21A-55BE611C9577}"/>
                  </a:ext>
                </a:extLst>
              </p:cNvPr>
              <p:cNvSpPr txBox="1">
                <a:spLocks noRot="1" noChangeAspect="1" noMove="1" noResize="1" noEditPoints="1" noAdjustHandles="1" noChangeArrowheads="1" noChangeShapeType="1" noTextEdit="1"/>
              </p:cNvSpPr>
              <p:nvPr/>
            </p:nvSpPr>
            <p:spPr>
              <a:xfrm>
                <a:off x="3124942" y="4622582"/>
                <a:ext cx="5365763" cy="1271438"/>
              </a:xfrm>
              <a:prstGeom prst="rect">
                <a:avLst/>
              </a:prstGeom>
              <a:blipFill>
                <a:blip r:embed="rId3"/>
                <a:stretch>
                  <a:fillRect/>
                </a:stretch>
              </a:blipFill>
            </p:spPr>
            <p:txBody>
              <a:bodyPr/>
              <a:lstStyle/>
              <a:p>
                <a:r>
                  <a:rPr lang="zh-TW" altLang="en-US">
                    <a:noFill/>
                  </a:rPr>
                  <a:t> </a:t>
                </a:r>
              </a:p>
            </p:txBody>
          </p:sp>
        </mc:Fallback>
      </mc:AlternateContent>
      <p:sp>
        <p:nvSpPr>
          <p:cNvPr id="7" name="箭號: 向下 6">
            <a:extLst>
              <a:ext uri="{FF2B5EF4-FFF2-40B4-BE49-F238E27FC236}">
                <a16:creationId xmlns:a16="http://schemas.microsoft.com/office/drawing/2014/main" xmlns="" id="{3E13ED2B-30A7-438D-8036-54C8ECAB8768}"/>
              </a:ext>
            </a:extLst>
          </p:cNvPr>
          <p:cNvSpPr/>
          <p:nvPr/>
        </p:nvSpPr>
        <p:spPr>
          <a:xfrm>
            <a:off x="5477522" y="3718297"/>
            <a:ext cx="461639" cy="64807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9835699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80EF10A-AA29-48DA-AA22-D001012C3C58}"/>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Edit Distance</a:t>
            </a:r>
            <a:endParaRPr lang="zh-TW" altLang="en-US" dirty="0"/>
          </a:p>
        </p:txBody>
      </p:sp>
      <p:pic>
        <p:nvPicPr>
          <p:cNvPr id="5" name="圖片 4">
            <a:extLst>
              <a:ext uri="{FF2B5EF4-FFF2-40B4-BE49-F238E27FC236}">
                <a16:creationId xmlns:a16="http://schemas.microsoft.com/office/drawing/2014/main" xmlns="" id="{9CECFF7C-5480-4B6C-AE87-222B455E93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650" y="2862030"/>
            <a:ext cx="12208382" cy="1274964"/>
          </a:xfrm>
          <a:prstGeom prst="rect">
            <a:avLst/>
          </a:prstGeom>
        </p:spPr>
      </p:pic>
    </p:spTree>
    <p:extLst>
      <p:ext uri="{BB962C8B-B14F-4D97-AF65-F5344CB8AC3E}">
        <p14:creationId xmlns:p14="http://schemas.microsoft.com/office/powerpoint/2010/main" val="13191778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A515930-05EB-4655-81AB-434842BB4AA4}"/>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Edit Distance</a:t>
            </a:r>
            <a:endParaRPr lang="zh-TW" altLang="en-US" dirty="0"/>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xmlns="" id="{9A3D91A2-5CC4-4C20-8D79-A5498A0983DF}"/>
                  </a:ext>
                </a:extLst>
              </p:cNvPr>
              <p:cNvSpPr txBox="1"/>
              <p:nvPr/>
            </p:nvSpPr>
            <p:spPr>
              <a:xfrm>
                <a:off x="452764" y="1559926"/>
                <a:ext cx="4083875" cy="9766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𝑑𝑖𝑠𝑡</m:t>
                          </m:r>
                        </m:e>
                        <m:sub>
                          <m:r>
                            <a:rPr lang="en-US" altLang="zh-TW" b="0" i="1" smtClean="0">
                              <a:latin typeface="Cambria Math" panose="02040503050406030204" pitchFamily="18" charset="0"/>
                            </a:rPr>
                            <m:t>𝑒𝑑𝑟</m:t>
                          </m:r>
                        </m:sub>
                      </m:sSub>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𝑟</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𝑠</m:t>
                              </m:r>
                            </m:e>
                            <m:sub>
                              <m:r>
                                <a:rPr lang="en-US" altLang="zh-TW" b="0" i="1" smtClean="0">
                                  <a:latin typeface="Cambria Math" panose="02040503050406030204" pitchFamily="18" charset="0"/>
                                </a:rPr>
                                <m:t>𝑖</m:t>
                              </m:r>
                            </m:sub>
                          </m:sSub>
                        </m:e>
                      </m:d>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eqArr>
                            <m:eqArrPr>
                              <m:ctrlPr>
                                <a:rPr lang="en-US" altLang="zh-TW" b="0" i="1" smtClean="0">
                                  <a:latin typeface="Cambria Math" panose="02040503050406030204" pitchFamily="18" charset="0"/>
                                </a:rPr>
                              </m:ctrlPr>
                            </m:eqArrPr>
                            <m:e>
                              <m:r>
                                <a:rPr lang="en-US" altLang="zh-TW" b="0" i="1" smtClean="0">
                                  <a:latin typeface="Cambria Math" panose="02040503050406030204" pitchFamily="18" charset="0"/>
                                </a:rPr>
                                <m:t>&amp;0   &amp;</m:t>
                              </m:r>
                              <m:r>
                                <a:rPr lang="en-US" altLang="zh-TW" b="0" i="1" smtClean="0">
                                  <a:latin typeface="Cambria Math" panose="02040503050406030204" pitchFamily="18" charset="0"/>
                                </a:rPr>
                                <m:t>𝑖𝑓</m:t>
                              </m:r>
                              <m:r>
                                <a:rPr lang="en-US" altLang="zh-TW" b="0" i="1" smtClean="0">
                                  <a:latin typeface="Cambria Math" panose="02040503050406030204" pitchFamily="18" charset="0"/>
                                </a:rPr>
                                <m:t> </m:t>
                              </m:r>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𝑟</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𝑠</m:t>
                                      </m:r>
                                    </m:e>
                                    <m:sub>
                                      <m:r>
                                        <a:rPr lang="en-US" altLang="zh-TW" b="0" i="1" smtClean="0">
                                          <a:latin typeface="Cambria Math" panose="02040503050406030204" pitchFamily="18" charset="0"/>
                                        </a:rPr>
                                        <m:t>𝑖</m:t>
                                      </m:r>
                                    </m:sub>
                                  </m:sSub>
                                </m:e>
                              </m:d>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𝛿</m:t>
                              </m:r>
                            </m:e>
                            <m:e>
                              <m:r>
                                <a:rPr lang="en-US" altLang="zh-TW" b="0" i="1" smtClean="0">
                                  <a:latin typeface="Cambria Math" panose="02040503050406030204" pitchFamily="18" charset="0"/>
                                </a:rPr>
                                <m:t>&amp;1   &amp;</m:t>
                              </m:r>
                              <m:r>
                                <a:rPr lang="en-US" altLang="zh-TW" b="0" i="1" smtClean="0">
                                  <a:latin typeface="Cambria Math" panose="02040503050406030204" pitchFamily="18" charset="0"/>
                                </a:rPr>
                                <m:t>𝑖𝑓</m:t>
                              </m:r>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𝑟</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 </m:t>
                              </m:r>
                              <m:r>
                                <a:rPr lang="en-US" altLang="zh-TW" b="0" i="1" smtClean="0">
                                  <a:latin typeface="Cambria Math" panose="02040503050406030204" pitchFamily="18" charset="0"/>
                                </a:rPr>
                                <m:t>𝑜𝑟</m:t>
                              </m:r>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𝑠</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 </m:t>
                              </m:r>
                              <m:r>
                                <a:rPr lang="en-US" altLang="zh-TW" b="0" i="1" smtClean="0">
                                  <a:latin typeface="Cambria Math" panose="02040503050406030204" pitchFamily="18" charset="0"/>
                                </a:rPr>
                                <m:t>𝑖𝑠</m:t>
                              </m:r>
                              <m:r>
                                <a:rPr lang="en-US" altLang="zh-TW" b="0" i="1" smtClean="0">
                                  <a:latin typeface="Cambria Math" panose="02040503050406030204" pitchFamily="18" charset="0"/>
                                </a:rPr>
                                <m:t> </m:t>
                              </m:r>
                              <m:r>
                                <a:rPr lang="en-US" altLang="zh-TW" b="0" i="1" smtClean="0">
                                  <a:latin typeface="Cambria Math" panose="02040503050406030204" pitchFamily="18" charset="0"/>
                                </a:rPr>
                                <m:t>𝑎</m:t>
                              </m:r>
                              <m:r>
                                <a:rPr lang="en-US" altLang="zh-TW" b="0" i="1" smtClean="0">
                                  <a:latin typeface="Cambria Math" panose="02040503050406030204" pitchFamily="18" charset="0"/>
                                </a:rPr>
                                <m:t> </m:t>
                              </m:r>
                              <m:r>
                                <a:rPr lang="en-US" altLang="zh-TW" b="0" i="1" smtClean="0">
                                  <a:latin typeface="Cambria Math" panose="02040503050406030204" pitchFamily="18" charset="0"/>
                                </a:rPr>
                                <m:t>𝑔𝑎𝑝</m:t>
                              </m:r>
                            </m:e>
                            <m:e>
                              <m:r>
                                <a:rPr lang="en-US" altLang="zh-TW" b="0" i="1" smtClean="0">
                                  <a:latin typeface="Cambria Math" panose="02040503050406030204" pitchFamily="18" charset="0"/>
                                </a:rPr>
                                <m:t>&amp;1   &amp;</m:t>
                              </m:r>
                              <m:r>
                                <a:rPr lang="en-US" altLang="zh-TW" b="0" i="1" smtClean="0">
                                  <a:latin typeface="Cambria Math" panose="02040503050406030204" pitchFamily="18" charset="0"/>
                                </a:rPr>
                                <m:t>𝑂𝑡h𝑒𝑟𝑤𝑖𝑠𝑒</m:t>
                              </m:r>
                            </m:e>
                          </m:eqArr>
                        </m:e>
                      </m:d>
                    </m:oMath>
                  </m:oMathPara>
                </a14:m>
                <a:endParaRPr lang="zh-TW" altLang="en-US" dirty="0"/>
              </a:p>
            </p:txBody>
          </p:sp>
        </mc:Choice>
        <mc:Fallback xmlns="">
          <p:sp>
            <p:nvSpPr>
              <p:cNvPr id="4" name="文字方塊 3">
                <a:extLst>
                  <a:ext uri="{FF2B5EF4-FFF2-40B4-BE49-F238E27FC236}">
                    <a16:creationId xmlns:a16="http://schemas.microsoft.com/office/drawing/2014/main" id="{9A3D91A2-5CC4-4C20-8D79-A5498A0983DF}"/>
                  </a:ext>
                </a:extLst>
              </p:cNvPr>
              <p:cNvSpPr txBox="1">
                <a:spLocks noRot="1" noChangeAspect="1" noMove="1" noResize="1" noEditPoints="1" noAdjustHandles="1" noChangeArrowheads="1" noChangeShapeType="1" noTextEdit="1"/>
              </p:cNvSpPr>
              <p:nvPr/>
            </p:nvSpPr>
            <p:spPr>
              <a:xfrm>
                <a:off x="452764" y="1559926"/>
                <a:ext cx="4083875" cy="976614"/>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xmlns="" id="{07792CD7-4C99-49BE-8CF0-3B4C3EE57E4B}"/>
                  </a:ext>
                </a:extLst>
              </p:cNvPr>
              <p:cNvSpPr txBox="1"/>
              <p:nvPr/>
            </p:nvSpPr>
            <p:spPr>
              <a:xfrm>
                <a:off x="926002" y="2885487"/>
                <a:ext cx="1568699" cy="1938992"/>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𝑄</m:t>
                      </m:r>
                      <m:r>
                        <a:rPr lang="en-US" altLang="zh-TW" sz="2400" b="0" i="1" smtClean="0">
                          <a:latin typeface="Cambria Math" panose="02040503050406030204" pitchFamily="18" charset="0"/>
                          <a:cs typeface="Times New Roman" panose="02020603050405020304" pitchFamily="18" charset="0"/>
                        </a:rPr>
                        <m:t>=0</m:t>
                      </m:r>
                    </m:oMath>
                  </m:oMathPara>
                </a14:m>
                <a:endParaRPr lang="en-US" altLang="zh-TW" sz="240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𝑅</m:t>
                      </m:r>
                      <m:r>
                        <a:rPr lang="en-US" altLang="zh-TW" sz="2400" b="0" i="1" smtClean="0">
                          <a:latin typeface="Cambria Math" panose="02040503050406030204" pitchFamily="18" charset="0"/>
                          <a:cs typeface="Times New Roman" panose="02020603050405020304" pitchFamily="18" charset="0"/>
                        </a:rPr>
                        <m:t>=1, 2</m:t>
                      </m:r>
                    </m:oMath>
                  </m:oMathPara>
                </a14:m>
                <a:endParaRPr lang="en-US" altLang="zh-TW" sz="240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𝑆</m:t>
                      </m:r>
                      <m:r>
                        <a:rPr lang="en-US" altLang="zh-TW" sz="2400" b="0" i="1" smtClean="0">
                          <a:latin typeface="Cambria Math" panose="02040503050406030204" pitchFamily="18" charset="0"/>
                          <a:cs typeface="Times New Roman" panose="02020603050405020304" pitchFamily="18" charset="0"/>
                        </a:rPr>
                        <m:t>=2, 3, 3</m:t>
                      </m:r>
                    </m:oMath>
                  </m:oMathPara>
                </a14:m>
                <a:endParaRPr lang="en-US" altLang="zh-TW" sz="2400"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Let </a:t>
                </a:r>
                <a14:m>
                  <m:oMath xmlns:m="http://schemas.openxmlformats.org/officeDocument/2006/math">
                    <m:r>
                      <a:rPr lang="zh-TW" altLang="en-US" sz="2400" i="1" smtClean="0">
                        <a:latin typeface="Cambria Math" panose="02040503050406030204" pitchFamily="18" charset="0"/>
                        <a:cs typeface="Times New Roman" panose="02020603050405020304" pitchFamily="18" charset="0"/>
                      </a:rPr>
                      <m:t>𝛿</m:t>
                    </m:r>
                    <m:r>
                      <a:rPr lang="en-US" altLang="zh-TW" sz="2400" b="0" i="1" smtClean="0">
                        <a:latin typeface="Cambria Math" panose="02040503050406030204" pitchFamily="18" charset="0"/>
                        <a:cs typeface="Times New Roman" panose="02020603050405020304" pitchFamily="18" charset="0"/>
                      </a:rPr>
                      <m:t>=1</m:t>
                    </m:r>
                  </m:oMath>
                </a14:m>
                <a:r>
                  <a:rPr lang="en-US" altLang="zh-TW" sz="2400" dirty="0">
                    <a:latin typeface="Times New Roman" panose="02020603050405020304" pitchFamily="18" charset="0"/>
                    <a:cs typeface="Times New Roman" panose="02020603050405020304" pitchFamily="18" charset="0"/>
                  </a:rPr>
                  <a:t> </a:t>
                </a:r>
              </a:p>
            </p:txBody>
          </p:sp>
        </mc:Choice>
        <mc:Fallback xmlns="">
          <p:sp>
            <p:nvSpPr>
              <p:cNvPr id="8" name="文字方塊 7">
                <a:extLst>
                  <a:ext uri="{FF2B5EF4-FFF2-40B4-BE49-F238E27FC236}">
                    <a16:creationId xmlns:a16="http://schemas.microsoft.com/office/drawing/2014/main" id="{07792CD7-4C99-49BE-8CF0-3B4C3EE57E4B}"/>
                  </a:ext>
                </a:extLst>
              </p:cNvPr>
              <p:cNvSpPr txBox="1">
                <a:spLocks noRot="1" noChangeAspect="1" noMove="1" noResize="1" noEditPoints="1" noAdjustHandles="1" noChangeArrowheads="1" noChangeShapeType="1" noTextEdit="1"/>
              </p:cNvSpPr>
              <p:nvPr/>
            </p:nvSpPr>
            <p:spPr>
              <a:xfrm>
                <a:off x="926002" y="2885487"/>
                <a:ext cx="1568699" cy="1938992"/>
              </a:xfrm>
              <a:prstGeom prst="rect">
                <a:avLst/>
              </a:prstGeom>
              <a:blipFill>
                <a:blip r:embed="rId3"/>
                <a:stretch>
                  <a:fillRect l="-6226" b="-628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xmlns="" id="{CC4FC7C7-90E7-4709-9236-1338B620A025}"/>
                  </a:ext>
                </a:extLst>
              </p:cNvPr>
              <p:cNvSpPr txBox="1"/>
              <p:nvPr/>
            </p:nvSpPr>
            <p:spPr>
              <a:xfrm>
                <a:off x="5042517" y="2885487"/>
                <a:ext cx="1165640" cy="846642"/>
              </a:xfrm>
              <a:prstGeom prst="rect">
                <a:avLst/>
              </a:prstGeom>
              <a:noFill/>
            </p:spPr>
            <p:txBody>
              <a:bodyPr wrap="none" rtlCol="0">
                <a:spAutoFit/>
              </a:bodyPr>
              <a:lstStyle/>
              <a:p>
                <a14:m>
                  <m:oMath xmlns:m="http://schemas.openxmlformats.org/officeDocument/2006/math">
                    <m:acc>
                      <m:accPr>
                        <m:chr m:val="̃"/>
                        <m:ctrlPr>
                          <a:rPr lang="en-US" altLang="zh-TW" sz="2400" i="1" smtClean="0">
                            <a:latin typeface="Cambria Math" panose="02040503050406030204" pitchFamily="18" charset="0"/>
                            <a:cs typeface="Times New Roman" panose="02020603050405020304" pitchFamily="18" charset="0"/>
                          </a:rPr>
                        </m:ctrlPr>
                      </m:accPr>
                      <m:e>
                        <m:r>
                          <a:rPr lang="en-US" altLang="zh-TW" sz="2400" i="1">
                            <a:latin typeface="Cambria Math" panose="02040503050406030204" pitchFamily="18" charset="0"/>
                            <a:cs typeface="Times New Roman" panose="02020603050405020304" pitchFamily="18" charset="0"/>
                          </a:rPr>
                          <m:t>𝑄</m:t>
                        </m:r>
                      </m:e>
                    </m:acc>
                    <m:r>
                      <a:rPr lang="en-US" altLang="zh-TW" sz="2400">
                        <a:latin typeface="Cambria Math" panose="02040503050406030204" pitchFamily="18" charset="0"/>
                        <a:cs typeface="Times New Roman" panose="02020603050405020304" pitchFamily="18" charset="0"/>
                      </a:rPr>
                      <m:t>=</m:t>
                    </m:r>
                  </m:oMath>
                </a14:m>
                <a:r>
                  <a:rPr lang="en-US" altLang="zh-TW" sz="2400" dirty="0">
                    <a:latin typeface="Times New Roman" panose="02020603050405020304" pitchFamily="18" charset="0"/>
                    <a:cs typeface="Times New Roman" panose="02020603050405020304" pitchFamily="18" charset="0"/>
                  </a:rPr>
                  <a:t> 0 -</a:t>
                </a:r>
              </a:p>
              <a:p>
                <a14:m>
                  <m:oMath xmlns:m="http://schemas.openxmlformats.org/officeDocument/2006/math">
                    <m:acc>
                      <m:accPr>
                        <m:chr m:val="̃"/>
                        <m:ctrlPr>
                          <a:rPr lang="en-US" altLang="zh-TW" sz="2400" i="1">
                            <a:latin typeface="Cambria Math" panose="02040503050406030204" pitchFamily="18" charset="0"/>
                            <a:cs typeface="Times New Roman" panose="02020603050405020304" pitchFamily="18" charset="0"/>
                          </a:rPr>
                        </m:ctrlPr>
                      </m:accPr>
                      <m:e>
                        <m:r>
                          <a:rPr lang="en-US" altLang="zh-TW" sz="2400" i="1">
                            <a:latin typeface="Cambria Math" panose="02040503050406030204" pitchFamily="18" charset="0"/>
                            <a:cs typeface="Times New Roman" panose="02020603050405020304" pitchFamily="18" charset="0"/>
                          </a:rPr>
                          <m:t>𝑅</m:t>
                        </m:r>
                      </m:e>
                    </m:acc>
                    <m:r>
                      <a:rPr lang="en-US" altLang="zh-TW" sz="2400">
                        <a:latin typeface="Cambria Math" panose="02040503050406030204" pitchFamily="18" charset="0"/>
                        <a:cs typeface="Times New Roman" panose="02020603050405020304" pitchFamily="18" charset="0"/>
                      </a:rPr>
                      <m:t>=</m:t>
                    </m:r>
                  </m:oMath>
                </a14:m>
                <a:r>
                  <a:rPr lang="en-US" altLang="zh-TW" sz="2400" dirty="0">
                    <a:latin typeface="Times New Roman" panose="02020603050405020304" pitchFamily="18" charset="0"/>
                    <a:cs typeface="Times New Roman" panose="02020603050405020304" pitchFamily="18" charset="0"/>
                  </a:rPr>
                  <a:t> 1 2</a:t>
                </a:r>
              </a:p>
            </p:txBody>
          </p:sp>
        </mc:Choice>
        <mc:Fallback xmlns="">
          <p:sp>
            <p:nvSpPr>
              <p:cNvPr id="10" name="文字方塊 9">
                <a:extLst>
                  <a:ext uri="{FF2B5EF4-FFF2-40B4-BE49-F238E27FC236}">
                    <a16:creationId xmlns:a16="http://schemas.microsoft.com/office/drawing/2014/main" id="{CC4FC7C7-90E7-4709-9236-1338B620A025}"/>
                  </a:ext>
                </a:extLst>
              </p:cNvPr>
              <p:cNvSpPr txBox="1">
                <a:spLocks noRot="1" noChangeAspect="1" noMove="1" noResize="1" noEditPoints="1" noAdjustHandles="1" noChangeArrowheads="1" noChangeShapeType="1" noTextEdit="1"/>
              </p:cNvSpPr>
              <p:nvPr/>
            </p:nvSpPr>
            <p:spPr>
              <a:xfrm>
                <a:off x="5042517" y="2885487"/>
                <a:ext cx="1165640" cy="846642"/>
              </a:xfrm>
              <a:prstGeom prst="rect">
                <a:avLst/>
              </a:prstGeom>
              <a:blipFill>
                <a:blip r:embed="rId4"/>
                <a:stretch>
                  <a:fillRect l="-3665" t="-4317" r="-7330" b="-15827"/>
                </a:stretch>
              </a:blipFill>
            </p:spPr>
            <p:txBody>
              <a:bodyPr/>
              <a:lstStyle/>
              <a:p>
                <a:r>
                  <a:rPr lang="zh-TW" altLang="en-US">
                    <a:noFill/>
                  </a:rPr>
                  <a:t> </a:t>
                </a:r>
              </a:p>
            </p:txBody>
          </p:sp>
        </mc:Fallback>
      </mc:AlternateContent>
      <p:sp>
        <p:nvSpPr>
          <p:cNvPr id="11" name="文字方塊 10">
            <a:extLst>
              <a:ext uri="{FF2B5EF4-FFF2-40B4-BE49-F238E27FC236}">
                <a16:creationId xmlns:a16="http://schemas.microsoft.com/office/drawing/2014/main" xmlns="" id="{949E5C71-2AD0-42CF-9E6D-1ED25025D337}"/>
              </a:ext>
            </a:extLst>
          </p:cNvPr>
          <p:cNvSpPr txBox="1"/>
          <p:nvPr/>
        </p:nvSpPr>
        <p:spPr>
          <a:xfrm>
            <a:off x="4248325" y="3888667"/>
            <a:ext cx="2754024" cy="461665"/>
          </a:xfrm>
          <a:prstGeom prst="rect">
            <a:avLst/>
          </a:prstGeom>
          <a:noFill/>
        </p:spPr>
        <p:txBody>
          <a:bodyPr wrap="none" rtlCol="0">
            <a:spAutoFit/>
          </a:bodyPr>
          <a:lstStyle/>
          <a:p>
            <a:r>
              <a:rPr lang="en-US" altLang="zh-TW" sz="2400" dirty="0"/>
              <a:t>EDR(Q, R) = 0 + 1 = 1</a:t>
            </a:r>
            <a:endParaRPr lang="zh-TW" altLang="en-US" sz="2400" dirty="0"/>
          </a:p>
        </p:txBody>
      </p:sp>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xmlns="" id="{A39BC787-2E11-45E2-B13E-271391220DED}"/>
                  </a:ext>
                </a:extLst>
              </p:cNvPr>
              <p:cNvSpPr txBox="1"/>
              <p:nvPr/>
            </p:nvSpPr>
            <p:spPr>
              <a:xfrm>
                <a:off x="8190680" y="2887026"/>
                <a:ext cx="1438342" cy="845103"/>
              </a:xfrm>
              <a:prstGeom prst="rect">
                <a:avLst/>
              </a:prstGeom>
              <a:noFill/>
            </p:spPr>
            <p:txBody>
              <a:bodyPr wrap="none" rtlCol="0">
                <a:spAutoFit/>
              </a:bodyPr>
              <a:lstStyle/>
              <a:p>
                <a14:m>
                  <m:oMath xmlns:m="http://schemas.openxmlformats.org/officeDocument/2006/math">
                    <m:acc>
                      <m:accPr>
                        <m:chr m:val="̃"/>
                        <m:ctrlPr>
                          <a:rPr lang="en-US" altLang="zh-TW" sz="2400" i="1" smtClean="0">
                            <a:latin typeface="Cambria Math" panose="02040503050406030204" pitchFamily="18" charset="0"/>
                            <a:cs typeface="Times New Roman" panose="02020603050405020304" pitchFamily="18" charset="0"/>
                          </a:rPr>
                        </m:ctrlPr>
                      </m:accPr>
                      <m:e>
                        <m:r>
                          <a:rPr lang="en-US" altLang="zh-TW" sz="2400" i="1">
                            <a:latin typeface="Cambria Math" panose="02040503050406030204" pitchFamily="18" charset="0"/>
                            <a:cs typeface="Times New Roman" panose="02020603050405020304" pitchFamily="18" charset="0"/>
                          </a:rPr>
                          <m:t>𝑅</m:t>
                        </m:r>
                      </m:e>
                    </m:acc>
                    <m:r>
                      <a:rPr lang="en-US" altLang="zh-TW" sz="2400" smtClean="0">
                        <a:latin typeface="Cambria Math" panose="02040503050406030204" pitchFamily="18" charset="0"/>
                        <a:cs typeface="Times New Roman" panose="02020603050405020304" pitchFamily="18" charset="0"/>
                      </a:rPr>
                      <m:t>=</m:t>
                    </m:r>
                  </m:oMath>
                </a14:m>
                <a:r>
                  <a:rPr lang="en-US" altLang="zh-TW" sz="2400" dirty="0">
                    <a:latin typeface="Times New Roman" panose="02020603050405020304" pitchFamily="18" charset="0"/>
                    <a:cs typeface="Times New Roman" panose="02020603050405020304" pitchFamily="18" charset="0"/>
                  </a:rPr>
                  <a:t> 1 2 -</a:t>
                </a:r>
              </a:p>
              <a:p>
                <a14:m>
                  <m:oMath xmlns:m="http://schemas.openxmlformats.org/officeDocument/2006/math">
                    <m:acc>
                      <m:accPr>
                        <m:chr m:val="̃"/>
                        <m:ctrlPr>
                          <a:rPr lang="en-US" altLang="zh-TW" sz="2400" i="1">
                            <a:latin typeface="Cambria Math" panose="02040503050406030204" pitchFamily="18" charset="0"/>
                            <a:cs typeface="Times New Roman" panose="02020603050405020304" pitchFamily="18" charset="0"/>
                          </a:rPr>
                        </m:ctrlPr>
                      </m:accPr>
                      <m:e>
                        <m:r>
                          <a:rPr lang="en-US" altLang="zh-TW" sz="2400" i="1">
                            <a:latin typeface="Cambria Math" panose="02040503050406030204" pitchFamily="18" charset="0"/>
                            <a:cs typeface="Times New Roman" panose="02020603050405020304" pitchFamily="18" charset="0"/>
                          </a:rPr>
                          <m:t>𝑆</m:t>
                        </m:r>
                      </m:e>
                    </m:acc>
                    <m:r>
                      <a:rPr lang="en-US" altLang="zh-TW" sz="2400" i="1">
                        <a:latin typeface="Cambria Math" panose="02040503050406030204" pitchFamily="18" charset="0"/>
                        <a:cs typeface="Times New Roman" panose="02020603050405020304" pitchFamily="18" charset="0"/>
                      </a:rPr>
                      <m:t>=</m:t>
                    </m:r>
                  </m:oMath>
                </a14:m>
                <a:r>
                  <a:rPr lang="en-US" altLang="zh-TW" sz="2400" dirty="0">
                    <a:latin typeface="Times New Roman" panose="02020603050405020304" pitchFamily="18" charset="0"/>
                    <a:cs typeface="Times New Roman" panose="02020603050405020304" pitchFamily="18" charset="0"/>
                  </a:rPr>
                  <a:t> 2 3 3 </a:t>
                </a:r>
              </a:p>
            </p:txBody>
          </p:sp>
        </mc:Choice>
        <mc:Fallback xmlns="">
          <p:sp>
            <p:nvSpPr>
              <p:cNvPr id="12" name="文字方塊 11">
                <a:extLst>
                  <a:ext uri="{FF2B5EF4-FFF2-40B4-BE49-F238E27FC236}">
                    <a16:creationId xmlns:a16="http://schemas.microsoft.com/office/drawing/2014/main" id="{A39BC787-2E11-45E2-B13E-271391220DED}"/>
                  </a:ext>
                </a:extLst>
              </p:cNvPr>
              <p:cNvSpPr txBox="1">
                <a:spLocks noRot="1" noChangeAspect="1" noMove="1" noResize="1" noEditPoints="1" noAdjustHandles="1" noChangeArrowheads="1" noChangeShapeType="1" noTextEdit="1"/>
              </p:cNvSpPr>
              <p:nvPr/>
            </p:nvSpPr>
            <p:spPr>
              <a:xfrm>
                <a:off x="8190680" y="2887026"/>
                <a:ext cx="1438342" cy="845103"/>
              </a:xfrm>
              <a:prstGeom prst="rect">
                <a:avLst/>
              </a:prstGeom>
              <a:blipFill>
                <a:blip r:embed="rId5"/>
                <a:stretch>
                  <a:fillRect l="-1271" t="-5072" r="-5508" b="-16667"/>
                </a:stretch>
              </a:blipFill>
            </p:spPr>
            <p:txBody>
              <a:bodyPr/>
              <a:lstStyle/>
              <a:p>
                <a:r>
                  <a:rPr lang="zh-TW" altLang="en-US">
                    <a:noFill/>
                  </a:rPr>
                  <a:t> </a:t>
                </a:r>
              </a:p>
            </p:txBody>
          </p:sp>
        </mc:Fallback>
      </mc:AlternateContent>
      <p:sp>
        <p:nvSpPr>
          <p:cNvPr id="13" name="文字方塊 12">
            <a:extLst>
              <a:ext uri="{FF2B5EF4-FFF2-40B4-BE49-F238E27FC236}">
                <a16:creationId xmlns:a16="http://schemas.microsoft.com/office/drawing/2014/main" xmlns="" id="{FF2781E1-53EE-4DA3-8645-6934DB3EBF8F}"/>
              </a:ext>
            </a:extLst>
          </p:cNvPr>
          <p:cNvSpPr txBox="1"/>
          <p:nvPr/>
        </p:nvSpPr>
        <p:spPr>
          <a:xfrm>
            <a:off x="7598017" y="3903436"/>
            <a:ext cx="3119765" cy="461665"/>
          </a:xfrm>
          <a:prstGeom prst="rect">
            <a:avLst/>
          </a:prstGeom>
          <a:noFill/>
        </p:spPr>
        <p:txBody>
          <a:bodyPr wrap="none" rtlCol="0">
            <a:spAutoFit/>
          </a:bodyPr>
          <a:lstStyle/>
          <a:p>
            <a:r>
              <a:rPr lang="en-US" altLang="zh-TW" sz="2400" dirty="0"/>
              <a:t>EDR(R, S) = 0 + 0 + 1 = 1</a:t>
            </a:r>
            <a:endParaRPr lang="zh-TW" altLang="en-US" sz="2400" dirty="0"/>
          </a:p>
        </p:txBody>
      </p:sp>
      <p:sp>
        <p:nvSpPr>
          <p:cNvPr id="14" name="文字方塊 13">
            <a:extLst>
              <a:ext uri="{FF2B5EF4-FFF2-40B4-BE49-F238E27FC236}">
                <a16:creationId xmlns:a16="http://schemas.microsoft.com/office/drawing/2014/main" xmlns="" id="{C51E3A0A-92E2-45B9-9AA5-6A484960F16A}"/>
              </a:ext>
            </a:extLst>
          </p:cNvPr>
          <p:cNvSpPr txBox="1"/>
          <p:nvPr/>
        </p:nvSpPr>
        <p:spPr>
          <a:xfrm>
            <a:off x="4731798" y="5326602"/>
            <a:ext cx="4791183" cy="461665"/>
          </a:xfrm>
          <a:prstGeom prst="rect">
            <a:avLst/>
          </a:prstGeom>
          <a:noFill/>
        </p:spPr>
        <p:txBody>
          <a:bodyPr wrap="none" rtlCol="0">
            <a:spAutoFit/>
          </a:bodyPr>
          <a:lstStyle/>
          <a:p>
            <a:r>
              <a:rPr lang="en-US" altLang="zh-TW" sz="2400" dirty="0"/>
              <a:t>EDR(Q, S) = 3 &gt; EDR(Q, R) + EDR(R, S)</a:t>
            </a:r>
            <a:endParaRPr lang="zh-TW" altLang="en-US" sz="2400" dirty="0"/>
          </a:p>
        </p:txBody>
      </p:sp>
      <p:sp>
        <p:nvSpPr>
          <p:cNvPr id="15" name="文字方塊 14">
            <a:extLst>
              <a:ext uri="{FF2B5EF4-FFF2-40B4-BE49-F238E27FC236}">
                <a16:creationId xmlns:a16="http://schemas.microsoft.com/office/drawing/2014/main" xmlns="" id="{A7DA3545-4F0D-423B-AB7D-92EFAD92DD44}"/>
              </a:ext>
            </a:extLst>
          </p:cNvPr>
          <p:cNvSpPr txBox="1"/>
          <p:nvPr/>
        </p:nvSpPr>
        <p:spPr>
          <a:xfrm>
            <a:off x="5886440" y="5930108"/>
            <a:ext cx="2481898" cy="461665"/>
          </a:xfrm>
          <a:prstGeom prst="rect">
            <a:avLst/>
          </a:prstGeom>
          <a:noFill/>
        </p:spPr>
        <p:txBody>
          <a:bodyPr wrap="none" rtlCol="0">
            <a:spAutoFit/>
          </a:bodyPr>
          <a:lstStyle/>
          <a:p>
            <a:r>
              <a:rPr lang="en-US" altLang="zh-TW" sz="2400" dirty="0"/>
              <a:t>Triangle inequality</a:t>
            </a:r>
            <a:endParaRPr lang="zh-TW" altLang="en-US" sz="2400" dirty="0"/>
          </a:p>
        </p:txBody>
      </p:sp>
      <p:sp>
        <p:nvSpPr>
          <p:cNvPr id="17" name="乘號 16">
            <a:extLst>
              <a:ext uri="{FF2B5EF4-FFF2-40B4-BE49-F238E27FC236}">
                <a16:creationId xmlns:a16="http://schemas.microsoft.com/office/drawing/2014/main" xmlns="" id="{89A07E09-EB2B-4636-AF75-74E487EE11F0}"/>
              </a:ext>
            </a:extLst>
          </p:cNvPr>
          <p:cNvSpPr/>
          <p:nvPr/>
        </p:nvSpPr>
        <p:spPr>
          <a:xfrm>
            <a:off x="8368338" y="5872416"/>
            <a:ext cx="577049" cy="577048"/>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6103423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4A9AEE9-371C-49F4-96C2-403B331608C0}"/>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DTW</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xmlns="" id="{5AB2E810-754A-49D2-8829-5D14A5FCF4E3}"/>
                  </a:ext>
                </a:extLst>
              </p:cNvPr>
              <p:cNvSpPr txBox="1"/>
              <p:nvPr/>
            </p:nvSpPr>
            <p:spPr>
              <a:xfrm>
                <a:off x="2494701" y="1558144"/>
                <a:ext cx="6135076" cy="1459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𝑑𝑖𝑠𝑡</m:t>
                          </m:r>
                        </m:e>
                        <m:sub>
                          <m:r>
                            <a:rPr lang="en-US" altLang="zh-TW" sz="2400" b="0" i="1" smtClean="0">
                              <a:latin typeface="Cambria Math" panose="02040503050406030204" pitchFamily="18" charset="0"/>
                            </a:rPr>
                            <m:t>𝑑𝑡𝑤</m:t>
                          </m:r>
                        </m:sub>
                      </m:sSub>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𝑟</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𝑖</m:t>
                              </m:r>
                            </m:sub>
                          </m:sSub>
                        </m:e>
                      </m:d>
                      <m:r>
                        <a:rPr lang="en-US" altLang="zh-TW" sz="2400" b="0" i="1" smtClean="0">
                          <a:latin typeface="Cambria Math" panose="02040503050406030204" pitchFamily="18" charset="0"/>
                        </a:rPr>
                        <m:t>=</m:t>
                      </m:r>
                      <m:d>
                        <m:dPr>
                          <m:begChr m:val="{"/>
                          <m:endChr m:val=""/>
                          <m:ctrlPr>
                            <a:rPr lang="en-US" altLang="zh-TW" sz="2400" b="0" i="1" smtClean="0">
                              <a:latin typeface="Cambria Math" panose="02040503050406030204" pitchFamily="18" charset="0"/>
                            </a:rPr>
                          </m:ctrlPr>
                        </m:dPr>
                        <m:e>
                          <m:eqArr>
                            <m:eqArrPr>
                              <m:ctrlPr>
                                <a:rPr lang="en-US" altLang="zh-TW" sz="2400" b="0" i="1" smtClean="0">
                                  <a:latin typeface="Cambria Math" panose="02040503050406030204" pitchFamily="18" charset="0"/>
                                </a:rPr>
                              </m:ctrlPr>
                            </m:eqArrPr>
                            <m:e>
                              <m:r>
                                <a:rPr lang="en-US" altLang="zh-TW" sz="2400" b="0" i="1" smtClean="0">
                                  <a:latin typeface="Cambria Math" panose="02040503050406030204" pitchFamily="18" charset="0"/>
                                </a:rPr>
                                <m:t>&amp;</m:t>
                              </m:r>
                              <m:d>
                                <m:dPr>
                                  <m:begChr m:val="|"/>
                                  <m:endChr m:val="|"/>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𝑟</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𝑖</m:t>
                                      </m:r>
                                    </m:sub>
                                  </m:sSub>
                                </m:e>
                              </m:d>
                              <m:r>
                                <a:rPr lang="en-US" altLang="zh-TW" sz="2400" b="0" i="1" smtClean="0">
                                  <a:latin typeface="Cambria Math" panose="02040503050406030204" pitchFamily="18" charset="0"/>
                                </a:rPr>
                                <m:t>   &amp;</m:t>
                              </m:r>
                              <m:r>
                                <a:rPr lang="en-US" altLang="zh-TW" sz="2400" b="0" i="1" smtClean="0">
                                  <a:latin typeface="Cambria Math" panose="02040503050406030204" pitchFamily="18" charset="0"/>
                                </a:rPr>
                                <m:t>𝑖𝑓</m:t>
                              </m:r>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𝑟</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𝑛𝑜𝑡</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𝑔𝑎𝑝𝑠</m:t>
                              </m:r>
                            </m:e>
                            <m:e>
                              <m:r>
                                <a:rPr lang="en-US" altLang="zh-TW" sz="2400" b="0" i="1" smtClean="0">
                                  <a:latin typeface="Cambria Math" panose="02040503050406030204" pitchFamily="18" charset="0"/>
                                </a:rPr>
                                <m:t>&amp;</m:t>
                              </m:r>
                              <m:d>
                                <m:dPr>
                                  <m:begChr m:val="|"/>
                                  <m:endChr m:val="|"/>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𝑟</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sub>
                                  </m:sSub>
                                </m:e>
                              </m:d>
                              <m:r>
                                <a:rPr lang="en-US" altLang="zh-TW" sz="2400" b="0" i="1" smtClean="0">
                                  <a:latin typeface="Cambria Math" panose="02040503050406030204" pitchFamily="18" charset="0"/>
                                </a:rPr>
                                <m:t>&amp;</m:t>
                              </m:r>
                              <m:r>
                                <a:rPr lang="en-US" altLang="zh-TW" sz="2400" b="0" i="1" smtClean="0">
                                  <a:latin typeface="Cambria Math" panose="02040503050406030204" pitchFamily="18" charset="0"/>
                                </a:rPr>
                                <m:t>𝑖𝑓</m:t>
                              </m:r>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𝑖𝑠</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𝑎</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𝑔𝑎𝑝</m:t>
                              </m:r>
                            </m:e>
                            <m:e>
                              <m:r>
                                <a:rPr lang="en-US" altLang="zh-TW" sz="2400" b="0" i="1" smtClean="0">
                                  <a:latin typeface="Cambria Math" panose="02040503050406030204" pitchFamily="18" charset="0"/>
                                </a:rPr>
                                <m:t>&amp;</m:t>
                              </m:r>
                              <m:d>
                                <m:dPr>
                                  <m:begChr m:val="|"/>
                                  <m:endChr m:val="|"/>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𝑟</m:t>
                                      </m:r>
                                    </m:e>
                                    <m:sub>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sub>
                                  </m:sSub>
                                </m:e>
                              </m:d>
                              <m:r>
                                <a:rPr lang="en-US" altLang="zh-TW" sz="2400" b="0" i="1" smtClean="0">
                                  <a:latin typeface="Cambria Math" panose="02040503050406030204" pitchFamily="18" charset="0"/>
                                </a:rPr>
                                <m:t>&amp;</m:t>
                              </m:r>
                              <m:r>
                                <a:rPr lang="en-US" altLang="zh-TW" sz="2400" b="0" i="1" smtClean="0">
                                  <a:latin typeface="Cambria Math" panose="02040503050406030204" pitchFamily="18" charset="0"/>
                                </a:rPr>
                                <m:t>𝑖𝑓</m:t>
                              </m:r>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𝑟</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𝑖𝑠</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𝑎</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𝑔𝑎𝑝</m:t>
                              </m:r>
                            </m:e>
                          </m:eqArr>
                        </m:e>
                      </m:d>
                    </m:oMath>
                  </m:oMathPara>
                </a14:m>
                <a:endParaRPr lang="zh-TW" altLang="en-US" sz="2400" dirty="0"/>
              </a:p>
            </p:txBody>
          </p:sp>
        </mc:Choice>
        <mc:Fallback xmlns="">
          <p:sp>
            <p:nvSpPr>
              <p:cNvPr id="4" name="文字方塊 3">
                <a:extLst>
                  <a:ext uri="{FF2B5EF4-FFF2-40B4-BE49-F238E27FC236}">
                    <a16:creationId xmlns:a16="http://schemas.microsoft.com/office/drawing/2014/main" id="{5AB2E810-754A-49D2-8829-5D14A5FCF4E3}"/>
                  </a:ext>
                </a:extLst>
              </p:cNvPr>
              <p:cNvSpPr txBox="1">
                <a:spLocks noRot="1" noChangeAspect="1" noMove="1" noResize="1" noEditPoints="1" noAdjustHandles="1" noChangeArrowheads="1" noChangeShapeType="1" noTextEdit="1"/>
              </p:cNvSpPr>
              <p:nvPr/>
            </p:nvSpPr>
            <p:spPr>
              <a:xfrm>
                <a:off x="2494701" y="1558144"/>
                <a:ext cx="6135076" cy="1459887"/>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xmlns="" id="{B1447C8C-F1A4-44F2-A9D7-B0D1302E23D7}"/>
                  </a:ext>
                </a:extLst>
              </p:cNvPr>
              <p:cNvSpPr txBox="1"/>
              <p:nvPr/>
            </p:nvSpPr>
            <p:spPr>
              <a:xfrm>
                <a:off x="926002" y="3237394"/>
                <a:ext cx="1568699" cy="1200329"/>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𝑄</m:t>
                      </m:r>
                      <m:r>
                        <a:rPr lang="en-US" altLang="zh-TW" sz="2400" b="0" i="1" smtClean="0">
                          <a:latin typeface="Cambria Math" panose="02040503050406030204" pitchFamily="18" charset="0"/>
                          <a:cs typeface="Times New Roman" panose="02020603050405020304" pitchFamily="18" charset="0"/>
                        </a:rPr>
                        <m:t>=0</m:t>
                      </m:r>
                    </m:oMath>
                  </m:oMathPara>
                </a14:m>
                <a:endParaRPr lang="en-US" altLang="zh-TW" sz="240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𝑅</m:t>
                      </m:r>
                      <m:r>
                        <a:rPr lang="en-US" altLang="zh-TW" sz="2400" b="0" i="1" smtClean="0">
                          <a:latin typeface="Cambria Math" panose="02040503050406030204" pitchFamily="18" charset="0"/>
                          <a:cs typeface="Times New Roman" panose="02020603050405020304" pitchFamily="18" charset="0"/>
                        </a:rPr>
                        <m:t>=1, 2</m:t>
                      </m:r>
                    </m:oMath>
                  </m:oMathPara>
                </a14:m>
                <a:endParaRPr lang="en-US" altLang="zh-TW" sz="240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𝑆</m:t>
                      </m:r>
                      <m:r>
                        <a:rPr lang="en-US" altLang="zh-TW" sz="2400" b="0" i="1" smtClean="0">
                          <a:latin typeface="Cambria Math" panose="02040503050406030204" pitchFamily="18" charset="0"/>
                          <a:cs typeface="Times New Roman" panose="02020603050405020304" pitchFamily="18" charset="0"/>
                        </a:rPr>
                        <m:t>=2, 3, 3</m:t>
                      </m:r>
                    </m:oMath>
                  </m:oMathPara>
                </a14:m>
                <a:endParaRPr lang="en-US" altLang="zh-TW" sz="2400" dirty="0">
                  <a:latin typeface="Times New Roman" panose="02020603050405020304" pitchFamily="18" charset="0"/>
                  <a:cs typeface="Times New Roman" panose="02020603050405020304" pitchFamily="18" charset="0"/>
                </a:endParaRPr>
              </a:p>
            </p:txBody>
          </p:sp>
        </mc:Choice>
        <mc:Fallback xmlns="">
          <p:sp>
            <p:nvSpPr>
              <p:cNvPr id="5" name="文字方塊 4">
                <a:extLst>
                  <a:ext uri="{FF2B5EF4-FFF2-40B4-BE49-F238E27FC236}">
                    <a16:creationId xmlns:a16="http://schemas.microsoft.com/office/drawing/2014/main" id="{B1447C8C-F1A4-44F2-A9D7-B0D1302E23D7}"/>
                  </a:ext>
                </a:extLst>
              </p:cNvPr>
              <p:cNvSpPr txBox="1">
                <a:spLocks noRot="1" noChangeAspect="1" noMove="1" noResize="1" noEditPoints="1" noAdjustHandles="1" noChangeArrowheads="1" noChangeShapeType="1" noTextEdit="1"/>
              </p:cNvSpPr>
              <p:nvPr/>
            </p:nvSpPr>
            <p:spPr>
              <a:xfrm>
                <a:off x="926002" y="3237394"/>
                <a:ext cx="1568699" cy="1200329"/>
              </a:xfrm>
              <a:prstGeom prst="rect">
                <a:avLst/>
              </a:prstGeom>
              <a:blipFill>
                <a:blip r:embed="rId3"/>
                <a:stretch>
                  <a:fillRect l="-27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xmlns="" id="{CD5B9AB8-572F-4594-9A15-E7C40645497C}"/>
                  </a:ext>
                </a:extLst>
              </p:cNvPr>
              <p:cNvSpPr txBox="1"/>
              <p:nvPr/>
            </p:nvSpPr>
            <p:spPr>
              <a:xfrm>
                <a:off x="3231473" y="3237394"/>
                <a:ext cx="1165640" cy="846642"/>
              </a:xfrm>
              <a:prstGeom prst="rect">
                <a:avLst/>
              </a:prstGeom>
              <a:noFill/>
            </p:spPr>
            <p:txBody>
              <a:bodyPr wrap="none" rtlCol="0">
                <a:spAutoFit/>
              </a:bodyPr>
              <a:lstStyle/>
              <a:p>
                <a14:m>
                  <m:oMath xmlns:m="http://schemas.openxmlformats.org/officeDocument/2006/math">
                    <m:acc>
                      <m:accPr>
                        <m:chr m:val="̃"/>
                        <m:ctrlPr>
                          <a:rPr lang="en-US" altLang="zh-TW" sz="2400" i="1" smtClean="0">
                            <a:latin typeface="Cambria Math" panose="02040503050406030204" pitchFamily="18" charset="0"/>
                            <a:cs typeface="Times New Roman" panose="02020603050405020304" pitchFamily="18" charset="0"/>
                          </a:rPr>
                        </m:ctrlPr>
                      </m:accPr>
                      <m:e>
                        <m:r>
                          <a:rPr lang="en-US" altLang="zh-TW" sz="2400" i="1">
                            <a:latin typeface="Cambria Math" panose="02040503050406030204" pitchFamily="18" charset="0"/>
                            <a:cs typeface="Times New Roman" panose="02020603050405020304" pitchFamily="18" charset="0"/>
                          </a:rPr>
                          <m:t>𝑄</m:t>
                        </m:r>
                      </m:e>
                    </m:acc>
                    <m:r>
                      <a:rPr lang="en-US" altLang="zh-TW" sz="2400">
                        <a:latin typeface="Cambria Math" panose="02040503050406030204" pitchFamily="18" charset="0"/>
                        <a:cs typeface="Times New Roman" panose="02020603050405020304" pitchFamily="18" charset="0"/>
                      </a:rPr>
                      <m:t>=</m:t>
                    </m:r>
                  </m:oMath>
                </a14:m>
                <a:r>
                  <a:rPr lang="en-US" altLang="zh-TW" sz="2400" dirty="0">
                    <a:latin typeface="Times New Roman" panose="02020603050405020304" pitchFamily="18" charset="0"/>
                    <a:cs typeface="Times New Roman" panose="02020603050405020304" pitchFamily="18" charset="0"/>
                  </a:rPr>
                  <a:t> 0 -</a:t>
                </a:r>
              </a:p>
              <a:p>
                <a14:m>
                  <m:oMath xmlns:m="http://schemas.openxmlformats.org/officeDocument/2006/math">
                    <m:acc>
                      <m:accPr>
                        <m:chr m:val="̃"/>
                        <m:ctrlPr>
                          <a:rPr lang="en-US" altLang="zh-TW" sz="2400" i="1">
                            <a:latin typeface="Cambria Math" panose="02040503050406030204" pitchFamily="18" charset="0"/>
                            <a:cs typeface="Times New Roman" panose="02020603050405020304" pitchFamily="18" charset="0"/>
                          </a:rPr>
                        </m:ctrlPr>
                      </m:accPr>
                      <m:e>
                        <m:r>
                          <a:rPr lang="en-US" altLang="zh-TW" sz="2400" i="1">
                            <a:latin typeface="Cambria Math" panose="02040503050406030204" pitchFamily="18" charset="0"/>
                            <a:cs typeface="Times New Roman" panose="02020603050405020304" pitchFamily="18" charset="0"/>
                          </a:rPr>
                          <m:t>𝑅</m:t>
                        </m:r>
                      </m:e>
                    </m:acc>
                    <m:r>
                      <a:rPr lang="en-US" altLang="zh-TW" sz="2400">
                        <a:latin typeface="Cambria Math" panose="02040503050406030204" pitchFamily="18" charset="0"/>
                        <a:cs typeface="Times New Roman" panose="02020603050405020304" pitchFamily="18" charset="0"/>
                      </a:rPr>
                      <m:t>=</m:t>
                    </m:r>
                  </m:oMath>
                </a14:m>
                <a:r>
                  <a:rPr lang="en-US" altLang="zh-TW" sz="2400" dirty="0">
                    <a:latin typeface="Times New Roman" panose="02020603050405020304" pitchFamily="18" charset="0"/>
                    <a:cs typeface="Times New Roman" panose="02020603050405020304" pitchFamily="18" charset="0"/>
                  </a:rPr>
                  <a:t> 1 2</a:t>
                </a:r>
              </a:p>
            </p:txBody>
          </p:sp>
        </mc:Choice>
        <mc:Fallback xmlns="">
          <p:sp>
            <p:nvSpPr>
              <p:cNvPr id="6" name="文字方塊 5">
                <a:extLst>
                  <a:ext uri="{FF2B5EF4-FFF2-40B4-BE49-F238E27FC236}">
                    <a16:creationId xmlns:a16="http://schemas.microsoft.com/office/drawing/2014/main" id="{CD5B9AB8-572F-4594-9A15-E7C40645497C}"/>
                  </a:ext>
                </a:extLst>
              </p:cNvPr>
              <p:cNvSpPr txBox="1">
                <a:spLocks noRot="1" noChangeAspect="1" noMove="1" noResize="1" noEditPoints="1" noAdjustHandles="1" noChangeArrowheads="1" noChangeShapeType="1" noTextEdit="1"/>
              </p:cNvSpPr>
              <p:nvPr/>
            </p:nvSpPr>
            <p:spPr>
              <a:xfrm>
                <a:off x="3231473" y="3237394"/>
                <a:ext cx="1165640" cy="846642"/>
              </a:xfrm>
              <a:prstGeom prst="rect">
                <a:avLst/>
              </a:prstGeom>
              <a:blipFill>
                <a:blip r:embed="rId4"/>
                <a:stretch>
                  <a:fillRect l="-3665" t="-4317" r="-7330" b="-15827"/>
                </a:stretch>
              </a:blipFill>
            </p:spPr>
            <p:txBody>
              <a:bodyPr/>
              <a:lstStyle/>
              <a:p>
                <a:r>
                  <a:rPr lang="zh-TW" altLang="en-US">
                    <a:noFill/>
                  </a:rPr>
                  <a:t> </a:t>
                </a:r>
              </a:p>
            </p:txBody>
          </p:sp>
        </mc:Fallback>
      </mc:AlternateContent>
      <p:sp>
        <p:nvSpPr>
          <p:cNvPr id="7" name="箭號: 向右 6">
            <a:extLst>
              <a:ext uri="{FF2B5EF4-FFF2-40B4-BE49-F238E27FC236}">
                <a16:creationId xmlns:a16="http://schemas.microsoft.com/office/drawing/2014/main" xmlns="" id="{DAAA3251-6409-4C6C-91C5-8E502E4640B7}"/>
              </a:ext>
            </a:extLst>
          </p:cNvPr>
          <p:cNvSpPr/>
          <p:nvPr/>
        </p:nvSpPr>
        <p:spPr>
          <a:xfrm>
            <a:off x="4667895" y="3487600"/>
            <a:ext cx="497150" cy="3462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xmlns="" id="{F3AFE31F-D343-427F-8601-BFBC0DB9FCDC}"/>
                  </a:ext>
                </a:extLst>
              </p:cNvPr>
              <p:cNvSpPr txBox="1"/>
              <p:nvPr/>
            </p:nvSpPr>
            <p:spPr>
              <a:xfrm>
                <a:off x="5363593" y="3237394"/>
                <a:ext cx="1178464" cy="846642"/>
              </a:xfrm>
              <a:prstGeom prst="rect">
                <a:avLst/>
              </a:prstGeom>
              <a:noFill/>
            </p:spPr>
            <p:txBody>
              <a:bodyPr wrap="none" rtlCol="0">
                <a:spAutoFit/>
              </a:bodyPr>
              <a:lstStyle/>
              <a:p>
                <a14:m>
                  <m:oMath xmlns:m="http://schemas.openxmlformats.org/officeDocument/2006/math">
                    <m:acc>
                      <m:accPr>
                        <m:chr m:val="̃"/>
                        <m:ctrlPr>
                          <a:rPr lang="en-US" altLang="zh-TW" sz="2400" i="1" smtClean="0">
                            <a:latin typeface="Cambria Math" panose="02040503050406030204" pitchFamily="18" charset="0"/>
                            <a:cs typeface="Times New Roman" panose="02020603050405020304" pitchFamily="18" charset="0"/>
                          </a:rPr>
                        </m:ctrlPr>
                      </m:accPr>
                      <m:e>
                        <m:r>
                          <a:rPr lang="en-US" altLang="zh-TW" sz="2400" i="1">
                            <a:latin typeface="Cambria Math" panose="02040503050406030204" pitchFamily="18" charset="0"/>
                            <a:cs typeface="Times New Roman" panose="02020603050405020304" pitchFamily="18" charset="0"/>
                          </a:rPr>
                          <m:t>𝑄</m:t>
                        </m:r>
                      </m:e>
                    </m:acc>
                    <m:r>
                      <a:rPr lang="en-US" altLang="zh-TW" sz="2400">
                        <a:latin typeface="Cambria Math" panose="02040503050406030204" pitchFamily="18" charset="0"/>
                        <a:cs typeface="Times New Roman" panose="02020603050405020304" pitchFamily="18" charset="0"/>
                      </a:rPr>
                      <m:t>=</m:t>
                    </m:r>
                  </m:oMath>
                </a14:m>
                <a:r>
                  <a:rPr lang="en-US" altLang="zh-TW" sz="2400" dirty="0">
                    <a:latin typeface="Times New Roman" panose="02020603050405020304" pitchFamily="18" charset="0"/>
                    <a:cs typeface="Times New Roman" panose="02020603050405020304" pitchFamily="18" charset="0"/>
                  </a:rPr>
                  <a:t> 0 0</a:t>
                </a:r>
              </a:p>
              <a:p>
                <a14:m>
                  <m:oMath xmlns:m="http://schemas.openxmlformats.org/officeDocument/2006/math">
                    <m:acc>
                      <m:accPr>
                        <m:chr m:val="̃"/>
                        <m:ctrlPr>
                          <a:rPr lang="en-US" altLang="zh-TW" sz="2400" i="1">
                            <a:latin typeface="Cambria Math" panose="02040503050406030204" pitchFamily="18" charset="0"/>
                            <a:cs typeface="Times New Roman" panose="02020603050405020304" pitchFamily="18" charset="0"/>
                          </a:rPr>
                        </m:ctrlPr>
                      </m:accPr>
                      <m:e>
                        <m:r>
                          <a:rPr lang="en-US" altLang="zh-TW" sz="2400" i="1">
                            <a:latin typeface="Cambria Math" panose="02040503050406030204" pitchFamily="18" charset="0"/>
                            <a:cs typeface="Times New Roman" panose="02020603050405020304" pitchFamily="18" charset="0"/>
                          </a:rPr>
                          <m:t>𝑅</m:t>
                        </m:r>
                      </m:e>
                    </m:acc>
                    <m:r>
                      <a:rPr lang="en-US" altLang="zh-TW" sz="2400">
                        <a:latin typeface="Cambria Math" panose="02040503050406030204" pitchFamily="18" charset="0"/>
                        <a:cs typeface="Times New Roman" panose="02020603050405020304" pitchFamily="18" charset="0"/>
                      </a:rPr>
                      <m:t>=</m:t>
                    </m:r>
                  </m:oMath>
                </a14:m>
                <a:r>
                  <a:rPr lang="en-US" altLang="zh-TW" sz="2400" dirty="0">
                    <a:latin typeface="Times New Roman" panose="02020603050405020304" pitchFamily="18" charset="0"/>
                    <a:cs typeface="Times New Roman" panose="02020603050405020304" pitchFamily="18" charset="0"/>
                  </a:rPr>
                  <a:t> 1 2</a:t>
                </a:r>
              </a:p>
            </p:txBody>
          </p:sp>
        </mc:Choice>
        <mc:Fallback xmlns="">
          <p:sp>
            <p:nvSpPr>
              <p:cNvPr id="8" name="文字方塊 7">
                <a:extLst>
                  <a:ext uri="{FF2B5EF4-FFF2-40B4-BE49-F238E27FC236}">
                    <a16:creationId xmlns:a16="http://schemas.microsoft.com/office/drawing/2014/main" id="{F3AFE31F-D343-427F-8601-BFBC0DB9FCDC}"/>
                  </a:ext>
                </a:extLst>
              </p:cNvPr>
              <p:cNvSpPr txBox="1">
                <a:spLocks noRot="1" noChangeAspect="1" noMove="1" noResize="1" noEditPoints="1" noAdjustHandles="1" noChangeArrowheads="1" noChangeShapeType="1" noTextEdit="1"/>
              </p:cNvSpPr>
              <p:nvPr/>
            </p:nvSpPr>
            <p:spPr>
              <a:xfrm>
                <a:off x="5363593" y="3237394"/>
                <a:ext cx="1178464" cy="846642"/>
              </a:xfrm>
              <a:prstGeom prst="rect">
                <a:avLst/>
              </a:prstGeom>
              <a:blipFill>
                <a:blip r:embed="rId5"/>
                <a:stretch>
                  <a:fillRect l="-3627" t="-4317" r="-6736" b="-15827"/>
                </a:stretch>
              </a:blipFill>
            </p:spPr>
            <p:txBody>
              <a:bodyPr/>
              <a:lstStyle/>
              <a:p>
                <a:r>
                  <a:rPr lang="zh-TW" altLang="en-US">
                    <a:noFill/>
                  </a:rPr>
                  <a:t> </a:t>
                </a:r>
              </a:p>
            </p:txBody>
          </p:sp>
        </mc:Fallback>
      </mc:AlternateContent>
      <p:sp>
        <p:nvSpPr>
          <p:cNvPr id="9" name="文字方塊 8">
            <a:extLst>
              <a:ext uri="{FF2B5EF4-FFF2-40B4-BE49-F238E27FC236}">
                <a16:creationId xmlns:a16="http://schemas.microsoft.com/office/drawing/2014/main" xmlns="" id="{370BA355-6A13-4821-BBB3-AE5AFB9E4BD3}"/>
              </a:ext>
            </a:extLst>
          </p:cNvPr>
          <p:cNvSpPr txBox="1"/>
          <p:nvPr/>
        </p:nvSpPr>
        <p:spPr>
          <a:xfrm>
            <a:off x="3788033" y="4346675"/>
            <a:ext cx="2857962" cy="461665"/>
          </a:xfrm>
          <a:prstGeom prst="rect">
            <a:avLst/>
          </a:prstGeom>
          <a:noFill/>
        </p:spPr>
        <p:txBody>
          <a:bodyPr wrap="none" rtlCol="0">
            <a:spAutoFit/>
          </a:bodyPr>
          <a:lstStyle/>
          <a:p>
            <a:r>
              <a:rPr lang="en-US" altLang="zh-TW" sz="2400" dirty="0"/>
              <a:t>DTW(Q, R) = 1 + 2 = 3</a:t>
            </a:r>
            <a:endParaRPr lang="zh-TW" altLang="en-US" sz="2400" dirty="0"/>
          </a:p>
        </p:txBody>
      </p: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xmlns="" id="{11A969BA-DCF4-43AF-80F9-BD70523F34DE}"/>
                  </a:ext>
                </a:extLst>
              </p:cNvPr>
              <p:cNvSpPr txBox="1"/>
              <p:nvPr/>
            </p:nvSpPr>
            <p:spPr>
              <a:xfrm>
                <a:off x="8057515" y="3238933"/>
                <a:ext cx="1438342" cy="845103"/>
              </a:xfrm>
              <a:prstGeom prst="rect">
                <a:avLst/>
              </a:prstGeom>
              <a:noFill/>
            </p:spPr>
            <p:txBody>
              <a:bodyPr wrap="none" rtlCol="0">
                <a:spAutoFit/>
              </a:bodyPr>
              <a:lstStyle/>
              <a:p>
                <a14:m>
                  <m:oMath xmlns:m="http://schemas.openxmlformats.org/officeDocument/2006/math">
                    <m:acc>
                      <m:accPr>
                        <m:chr m:val="̃"/>
                        <m:ctrlPr>
                          <a:rPr lang="en-US" altLang="zh-TW" sz="2400" i="1" smtClean="0">
                            <a:latin typeface="Cambria Math" panose="02040503050406030204" pitchFamily="18" charset="0"/>
                            <a:cs typeface="Times New Roman" panose="02020603050405020304" pitchFamily="18" charset="0"/>
                          </a:rPr>
                        </m:ctrlPr>
                      </m:accPr>
                      <m:e>
                        <m:r>
                          <a:rPr lang="en-US" altLang="zh-TW" sz="2400" i="1">
                            <a:latin typeface="Cambria Math" panose="02040503050406030204" pitchFamily="18" charset="0"/>
                            <a:cs typeface="Times New Roman" panose="02020603050405020304" pitchFamily="18" charset="0"/>
                          </a:rPr>
                          <m:t>𝑅</m:t>
                        </m:r>
                      </m:e>
                    </m:acc>
                    <m:r>
                      <a:rPr lang="en-US" altLang="zh-TW" sz="2400" smtClean="0">
                        <a:latin typeface="Cambria Math" panose="02040503050406030204" pitchFamily="18" charset="0"/>
                        <a:cs typeface="Times New Roman" panose="02020603050405020304" pitchFamily="18" charset="0"/>
                      </a:rPr>
                      <m:t>=</m:t>
                    </m:r>
                  </m:oMath>
                </a14:m>
                <a:r>
                  <a:rPr lang="en-US" altLang="zh-TW" sz="2400" dirty="0">
                    <a:latin typeface="Times New Roman" panose="02020603050405020304" pitchFamily="18" charset="0"/>
                    <a:cs typeface="Times New Roman" panose="02020603050405020304" pitchFamily="18" charset="0"/>
                  </a:rPr>
                  <a:t> 1 2 -</a:t>
                </a:r>
              </a:p>
              <a:p>
                <a14:m>
                  <m:oMath xmlns:m="http://schemas.openxmlformats.org/officeDocument/2006/math">
                    <m:acc>
                      <m:accPr>
                        <m:chr m:val="̃"/>
                        <m:ctrlPr>
                          <a:rPr lang="en-US" altLang="zh-TW" sz="2400" i="1">
                            <a:latin typeface="Cambria Math" panose="02040503050406030204" pitchFamily="18" charset="0"/>
                            <a:cs typeface="Times New Roman" panose="02020603050405020304" pitchFamily="18" charset="0"/>
                          </a:rPr>
                        </m:ctrlPr>
                      </m:accPr>
                      <m:e>
                        <m:r>
                          <a:rPr lang="en-US" altLang="zh-TW" sz="2400" i="1">
                            <a:latin typeface="Cambria Math" panose="02040503050406030204" pitchFamily="18" charset="0"/>
                            <a:cs typeface="Times New Roman" panose="02020603050405020304" pitchFamily="18" charset="0"/>
                          </a:rPr>
                          <m:t>𝑆</m:t>
                        </m:r>
                      </m:e>
                    </m:acc>
                    <m:r>
                      <a:rPr lang="en-US" altLang="zh-TW" sz="2400" i="1">
                        <a:latin typeface="Cambria Math" panose="02040503050406030204" pitchFamily="18" charset="0"/>
                        <a:cs typeface="Times New Roman" panose="02020603050405020304" pitchFamily="18" charset="0"/>
                      </a:rPr>
                      <m:t>=</m:t>
                    </m:r>
                  </m:oMath>
                </a14:m>
                <a:r>
                  <a:rPr lang="en-US" altLang="zh-TW" sz="2400" dirty="0">
                    <a:latin typeface="Times New Roman" panose="02020603050405020304" pitchFamily="18" charset="0"/>
                    <a:cs typeface="Times New Roman" panose="02020603050405020304" pitchFamily="18" charset="0"/>
                  </a:rPr>
                  <a:t> 2 3 3 </a:t>
                </a:r>
              </a:p>
            </p:txBody>
          </p:sp>
        </mc:Choice>
        <mc:Fallback xmlns="">
          <p:sp>
            <p:nvSpPr>
              <p:cNvPr id="10" name="文字方塊 9">
                <a:extLst>
                  <a:ext uri="{FF2B5EF4-FFF2-40B4-BE49-F238E27FC236}">
                    <a16:creationId xmlns:a16="http://schemas.microsoft.com/office/drawing/2014/main" id="{11A969BA-DCF4-43AF-80F9-BD70523F34DE}"/>
                  </a:ext>
                </a:extLst>
              </p:cNvPr>
              <p:cNvSpPr txBox="1">
                <a:spLocks noRot="1" noChangeAspect="1" noMove="1" noResize="1" noEditPoints="1" noAdjustHandles="1" noChangeArrowheads="1" noChangeShapeType="1" noTextEdit="1"/>
              </p:cNvSpPr>
              <p:nvPr/>
            </p:nvSpPr>
            <p:spPr>
              <a:xfrm>
                <a:off x="8057515" y="3238933"/>
                <a:ext cx="1438342" cy="845103"/>
              </a:xfrm>
              <a:prstGeom prst="rect">
                <a:avLst/>
              </a:prstGeom>
              <a:blipFill>
                <a:blip r:embed="rId6"/>
                <a:stretch>
                  <a:fillRect l="-1271" t="-5036" r="-5508" b="-15827"/>
                </a:stretch>
              </a:blipFill>
            </p:spPr>
            <p:txBody>
              <a:bodyPr/>
              <a:lstStyle/>
              <a:p>
                <a:r>
                  <a:rPr lang="zh-TW" altLang="en-US">
                    <a:noFill/>
                  </a:rPr>
                  <a:t> </a:t>
                </a:r>
              </a:p>
            </p:txBody>
          </p:sp>
        </mc:Fallback>
      </mc:AlternateContent>
      <p:sp>
        <p:nvSpPr>
          <p:cNvPr id="11" name="箭號: 向右 10">
            <a:extLst>
              <a:ext uri="{FF2B5EF4-FFF2-40B4-BE49-F238E27FC236}">
                <a16:creationId xmlns:a16="http://schemas.microsoft.com/office/drawing/2014/main" xmlns="" id="{09EE92E3-C7D8-459B-9F68-11787553278D}"/>
              </a:ext>
            </a:extLst>
          </p:cNvPr>
          <p:cNvSpPr/>
          <p:nvPr/>
        </p:nvSpPr>
        <p:spPr>
          <a:xfrm>
            <a:off x="9495857" y="3517134"/>
            <a:ext cx="497150" cy="3462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xmlns="" id="{FEC2C8E9-635D-4259-964D-86FCE69EDB2D}"/>
                  </a:ext>
                </a:extLst>
              </p:cNvPr>
              <p:cNvSpPr txBox="1"/>
              <p:nvPr/>
            </p:nvSpPr>
            <p:spPr>
              <a:xfrm>
                <a:off x="10091981" y="3238933"/>
                <a:ext cx="1438342" cy="845103"/>
              </a:xfrm>
              <a:prstGeom prst="rect">
                <a:avLst/>
              </a:prstGeom>
              <a:noFill/>
            </p:spPr>
            <p:txBody>
              <a:bodyPr wrap="none" rtlCol="0">
                <a:spAutoFit/>
              </a:bodyPr>
              <a:lstStyle/>
              <a:p>
                <a14:m>
                  <m:oMath xmlns:m="http://schemas.openxmlformats.org/officeDocument/2006/math">
                    <m:acc>
                      <m:accPr>
                        <m:chr m:val="̃"/>
                        <m:ctrlPr>
                          <a:rPr lang="en-US" altLang="zh-TW" sz="2400" i="1" smtClean="0">
                            <a:latin typeface="Cambria Math" panose="02040503050406030204" pitchFamily="18" charset="0"/>
                            <a:cs typeface="Times New Roman" panose="02020603050405020304" pitchFamily="18" charset="0"/>
                          </a:rPr>
                        </m:ctrlPr>
                      </m:accPr>
                      <m:e>
                        <m:r>
                          <a:rPr lang="en-US" altLang="zh-TW" sz="2400" i="1">
                            <a:latin typeface="Cambria Math" panose="02040503050406030204" pitchFamily="18" charset="0"/>
                            <a:cs typeface="Times New Roman" panose="02020603050405020304" pitchFamily="18" charset="0"/>
                          </a:rPr>
                          <m:t>𝑅</m:t>
                        </m:r>
                      </m:e>
                    </m:acc>
                    <m:r>
                      <a:rPr lang="en-US" altLang="zh-TW" sz="2400" smtClean="0">
                        <a:latin typeface="Cambria Math" panose="02040503050406030204" pitchFamily="18" charset="0"/>
                        <a:cs typeface="Times New Roman" panose="02020603050405020304" pitchFamily="18" charset="0"/>
                      </a:rPr>
                      <m:t>=</m:t>
                    </m:r>
                  </m:oMath>
                </a14:m>
                <a:r>
                  <a:rPr lang="en-US" altLang="zh-TW" sz="2400" dirty="0">
                    <a:latin typeface="Times New Roman" panose="02020603050405020304" pitchFamily="18" charset="0"/>
                    <a:cs typeface="Times New Roman" panose="02020603050405020304" pitchFamily="18" charset="0"/>
                  </a:rPr>
                  <a:t> 1 2 2</a:t>
                </a:r>
              </a:p>
              <a:p>
                <a14:m>
                  <m:oMath xmlns:m="http://schemas.openxmlformats.org/officeDocument/2006/math">
                    <m:acc>
                      <m:accPr>
                        <m:chr m:val="̃"/>
                        <m:ctrlPr>
                          <a:rPr lang="en-US" altLang="zh-TW" sz="2400" i="1">
                            <a:latin typeface="Cambria Math" panose="02040503050406030204" pitchFamily="18" charset="0"/>
                            <a:cs typeface="Times New Roman" panose="02020603050405020304" pitchFamily="18" charset="0"/>
                          </a:rPr>
                        </m:ctrlPr>
                      </m:accPr>
                      <m:e>
                        <m:r>
                          <a:rPr lang="en-US" altLang="zh-TW" sz="2400" i="1">
                            <a:latin typeface="Cambria Math" panose="02040503050406030204" pitchFamily="18" charset="0"/>
                            <a:cs typeface="Times New Roman" panose="02020603050405020304" pitchFamily="18" charset="0"/>
                          </a:rPr>
                          <m:t>𝑆</m:t>
                        </m:r>
                      </m:e>
                    </m:acc>
                    <m:r>
                      <a:rPr lang="en-US" altLang="zh-TW" sz="2400" i="1">
                        <a:latin typeface="Cambria Math" panose="02040503050406030204" pitchFamily="18" charset="0"/>
                        <a:cs typeface="Times New Roman" panose="02020603050405020304" pitchFamily="18" charset="0"/>
                      </a:rPr>
                      <m:t>=</m:t>
                    </m:r>
                  </m:oMath>
                </a14:m>
                <a:r>
                  <a:rPr lang="en-US" altLang="zh-TW" sz="2400" dirty="0">
                    <a:latin typeface="Times New Roman" panose="02020603050405020304" pitchFamily="18" charset="0"/>
                    <a:cs typeface="Times New Roman" panose="02020603050405020304" pitchFamily="18" charset="0"/>
                  </a:rPr>
                  <a:t> 2 3 3 </a:t>
                </a:r>
              </a:p>
            </p:txBody>
          </p:sp>
        </mc:Choice>
        <mc:Fallback xmlns="">
          <p:sp>
            <p:nvSpPr>
              <p:cNvPr id="12" name="文字方塊 11">
                <a:extLst>
                  <a:ext uri="{FF2B5EF4-FFF2-40B4-BE49-F238E27FC236}">
                    <a16:creationId xmlns:a16="http://schemas.microsoft.com/office/drawing/2014/main" id="{FEC2C8E9-635D-4259-964D-86FCE69EDB2D}"/>
                  </a:ext>
                </a:extLst>
              </p:cNvPr>
              <p:cNvSpPr txBox="1">
                <a:spLocks noRot="1" noChangeAspect="1" noMove="1" noResize="1" noEditPoints="1" noAdjustHandles="1" noChangeArrowheads="1" noChangeShapeType="1" noTextEdit="1"/>
              </p:cNvSpPr>
              <p:nvPr/>
            </p:nvSpPr>
            <p:spPr>
              <a:xfrm>
                <a:off x="10091981" y="3238933"/>
                <a:ext cx="1438342" cy="845103"/>
              </a:xfrm>
              <a:prstGeom prst="rect">
                <a:avLst/>
              </a:prstGeom>
              <a:blipFill>
                <a:blip r:embed="rId7"/>
                <a:stretch>
                  <a:fillRect l="-1277" t="-5036" r="-5957" b="-15827"/>
                </a:stretch>
              </a:blipFill>
            </p:spPr>
            <p:txBody>
              <a:bodyPr/>
              <a:lstStyle/>
              <a:p>
                <a:r>
                  <a:rPr lang="zh-TW" altLang="en-US">
                    <a:noFill/>
                  </a:rPr>
                  <a:t> </a:t>
                </a:r>
              </a:p>
            </p:txBody>
          </p:sp>
        </mc:Fallback>
      </mc:AlternateContent>
      <p:sp>
        <p:nvSpPr>
          <p:cNvPr id="13" name="文字方塊 12">
            <a:extLst>
              <a:ext uri="{FF2B5EF4-FFF2-40B4-BE49-F238E27FC236}">
                <a16:creationId xmlns:a16="http://schemas.microsoft.com/office/drawing/2014/main" xmlns="" id="{8681E614-8857-420D-ABCD-A9F18093CDF5}"/>
              </a:ext>
            </a:extLst>
          </p:cNvPr>
          <p:cNvSpPr txBox="1"/>
          <p:nvPr/>
        </p:nvSpPr>
        <p:spPr>
          <a:xfrm>
            <a:off x="8367420" y="4335443"/>
            <a:ext cx="3223703" cy="461665"/>
          </a:xfrm>
          <a:prstGeom prst="rect">
            <a:avLst/>
          </a:prstGeom>
          <a:noFill/>
        </p:spPr>
        <p:txBody>
          <a:bodyPr wrap="none" rtlCol="0">
            <a:spAutoFit/>
          </a:bodyPr>
          <a:lstStyle/>
          <a:p>
            <a:r>
              <a:rPr lang="en-US" altLang="zh-TW" sz="2400" dirty="0"/>
              <a:t>DTW(R, S) = 1 + 1 + 1 = 3</a:t>
            </a:r>
            <a:endParaRPr lang="zh-TW" altLang="en-US" sz="2400" dirty="0"/>
          </a:p>
        </p:txBody>
      </p:sp>
      <p:sp>
        <p:nvSpPr>
          <p:cNvPr id="14" name="文字方塊 13">
            <a:extLst>
              <a:ext uri="{FF2B5EF4-FFF2-40B4-BE49-F238E27FC236}">
                <a16:creationId xmlns:a16="http://schemas.microsoft.com/office/drawing/2014/main" xmlns="" id="{A51A5242-9662-4EAE-9533-E945DCFBFAB9}"/>
              </a:ext>
            </a:extLst>
          </p:cNvPr>
          <p:cNvSpPr txBox="1"/>
          <p:nvPr/>
        </p:nvSpPr>
        <p:spPr>
          <a:xfrm>
            <a:off x="4731798" y="5326602"/>
            <a:ext cx="5103000" cy="461665"/>
          </a:xfrm>
          <a:prstGeom prst="rect">
            <a:avLst/>
          </a:prstGeom>
          <a:noFill/>
        </p:spPr>
        <p:txBody>
          <a:bodyPr wrap="none" rtlCol="0">
            <a:spAutoFit/>
          </a:bodyPr>
          <a:lstStyle/>
          <a:p>
            <a:r>
              <a:rPr lang="en-US" altLang="zh-TW" sz="2400" dirty="0"/>
              <a:t>DTW(Q, S) = 8 &gt; DTW(Q, R) + DTW(R, S)</a:t>
            </a:r>
            <a:endParaRPr lang="zh-TW" altLang="en-US" sz="2400" dirty="0"/>
          </a:p>
        </p:txBody>
      </p:sp>
      <p:sp>
        <p:nvSpPr>
          <p:cNvPr id="15" name="文字方塊 14">
            <a:extLst>
              <a:ext uri="{FF2B5EF4-FFF2-40B4-BE49-F238E27FC236}">
                <a16:creationId xmlns:a16="http://schemas.microsoft.com/office/drawing/2014/main" xmlns="" id="{379B95CD-CA7C-4ECA-BE75-1935FF2D178C}"/>
              </a:ext>
            </a:extLst>
          </p:cNvPr>
          <p:cNvSpPr txBox="1"/>
          <p:nvPr/>
        </p:nvSpPr>
        <p:spPr>
          <a:xfrm>
            <a:off x="5886440" y="5930108"/>
            <a:ext cx="2481898" cy="461665"/>
          </a:xfrm>
          <a:prstGeom prst="rect">
            <a:avLst/>
          </a:prstGeom>
          <a:noFill/>
        </p:spPr>
        <p:txBody>
          <a:bodyPr wrap="none" rtlCol="0">
            <a:spAutoFit/>
          </a:bodyPr>
          <a:lstStyle/>
          <a:p>
            <a:r>
              <a:rPr lang="en-US" altLang="zh-TW" sz="2400" dirty="0"/>
              <a:t>Triangle inequality</a:t>
            </a:r>
            <a:endParaRPr lang="zh-TW" altLang="en-US" sz="2400" dirty="0"/>
          </a:p>
        </p:txBody>
      </p:sp>
      <p:sp>
        <p:nvSpPr>
          <p:cNvPr id="16" name="乘號 15">
            <a:extLst>
              <a:ext uri="{FF2B5EF4-FFF2-40B4-BE49-F238E27FC236}">
                <a16:creationId xmlns:a16="http://schemas.microsoft.com/office/drawing/2014/main" xmlns="" id="{2B3E2F89-3807-4902-9A87-638FA89BACE0}"/>
              </a:ext>
            </a:extLst>
          </p:cNvPr>
          <p:cNvSpPr/>
          <p:nvPr/>
        </p:nvSpPr>
        <p:spPr>
          <a:xfrm>
            <a:off x="8368338" y="5872416"/>
            <a:ext cx="577049" cy="577048"/>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0088100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6BDE8D6-711A-4038-AD1E-0808E5C7DA21}"/>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ERP</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xmlns="" id="{0BA5B4EB-8A2B-412F-BB6D-699A1A8C9A59}"/>
                  </a:ext>
                </a:extLst>
              </p:cNvPr>
              <p:cNvSpPr txBox="1"/>
              <p:nvPr/>
            </p:nvSpPr>
            <p:spPr>
              <a:xfrm>
                <a:off x="2494701" y="1558144"/>
                <a:ext cx="6085640" cy="1459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𝑑𝑖𝑠𝑡</m:t>
                          </m:r>
                        </m:e>
                        <m:sub>
                          <m:r>
                            <a:rPr lang="en-US" altLang="zh-TW" sz="2400" b="0" i="1" smtClean="0">
                              <a:latin typeface="Cambria Math" panose="02040503050406030204" pitchFamily="18" charset="0"/>
                            </a:rPr>
                            <m:t>𝑒𝑟𝑝</m:t>
                          </m:r>
                        </m:sub>
                      </m:sSub>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𝑟</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𝑖</m:t>
                              </m:r>
                            </m:sub>
                          </m:sSub>
                        </m:e>
                      </m:d>
                      <m:r>
                        <a:rPr lang="en-US" altLang="zh-TW" sz="2400" b="0" i="1" smtClean="0">
                          <a:latin typeface="Cambria Math" panose="02040503050406030204" pitchFamily="18" charset="0"/>
                        </a:rPr>
                        <m:t>=</m:t>
                      </m:r>
                      <m:d>
                        <m:dPr>
                          <m:begChr m:val="{"/>
                          <m:endChr m:val=""/>
                          <m:ctrlPr>
                            <a:rPr lang="en-US" altLang="zh-TW" sz="2400" b="0" i="1" smtClean="0">
                              <a:latin typeface="Cambria Math" panose="02040503050406030204" pitchFamily="18" charset="0"/>
                            </a:rPr>
                          </m:ctrlPr>
                        </m:dPr>
                        <m:e>
                          <m:eqArr>
                            <m:eqArrPr>
                              <m:ctrlPr>
                                <a:rPr lang="en-US" altLang="zh-TW" sz="2400" b="0" i="1" smtClean="0">
                                  <a:latin typeface="Cambria Math" panose="02040503050406030204" pitchFamily="18" charset="0"/>
                                </a:rPr>
                              </m:ctrlPr>
                            </m:eqArrPr>
                            <m:e>
                              <m:r>
                                <a:rPr lang="en-US" altLang="zh-TW" sz="2400" b="0" i="1" smtClean="0">
                                  <a:latin typeface="Cambria Math" panose="02040503050406030204" pitchFamily="18" charset="0"/>
                                </a:rPr>
                                <m:t>&amp;</m:t>
                              </m:r>
                              <m:d>
                                <m:dPr>
                                  <m:begChr m:val="|"/>
                                  <m:endChr m:val="|"/>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𝑟</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𝑖</m:t>
                                      </m:r>
                                    </m:sub>
                                  </m:sSub>
                                </m:e>
                              </m:d>
                              <m:r>
                                <a:rPr lang="en-US" altLang="zh-TW" sz="2400" b="0" i="1" smtClean="0">
                                  <a:latin typeface="Cambria Math" panose="02040503050406030204" pitchFamily="18" charset="0"/>
                                </a:rPr>
                                <m:t>   &amp;</m:t>
                              </m:r>
                              <m:r>
                                <a:rPr lang="en-US" altLang="zh-TW" sz="2400" b="0" i="1" smtClean="0">
                                  <a:latin typeface="Cambria Math" panose="02040503050406030204" pitchFamily="18" charset="0"/>
                                </a:rPr>
                                <m:t>𝑖𝑓</m:t>
                              </m:r>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𝑟</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𝑛𝑜𝑡</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𝑔𝑎𝑝𝑠</m:t>
                              </m:r>
                            </m:e>
                            <m:e>
                              <m:r>
                                <a:rPr lang="en-US" altLang="zh-TW" sz="2400" b="0" i="1" smtClean="0">
                                  <a:latin typeface="Cambria Math" panose="02040503050406030204" pitchFamily="18" charset="0"/>
                                </a:rPr>
                                <m:t>&amp;</m:t>
                              </m:r>
                              <m:d>
                                <m:dPr>
                                  <m:begChr m:val="|"/>
                                  <m:endChr m:val="|"/>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𝑟</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𝑔</m:t>
                                  </m:r>
                                </m:e>
                              </m:d>
                              <m:r>
                                <a:rPr lang="en-US" altLang="zh-TW" sz="2400" b="0" i="1" smtClean="0">
                                  <a:latin typeface="Cambria Math" panose="02040503050406030204" pitchFamily="18" charset="0"/>
                                </a:rPr>
                                <m:t>&amp;</m:t>
                              </m:r>
                              <m:r>
                                <a:rPr lang="en-US" altLang="zh-TW" sz="2400" b="0" i="1" smtClean="0">
                                  <a:latin typeface="Cambria Math" panose="02040503050406030204" pitchFamily="18" charset="0"/>
                                </a:rPr>
                                <m:t>𝑖𝑓</m:t>
                              </m:r>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𝑖𝑠</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𝑎</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𝑔𝑎𝑝</m:t>
                              </m:r>
                            </m:e>
                            <m:e>
                              <m:r>
                                <a:rPr lang="en-US" altLang="zh-TW" sz="2400" b="0" i="1" smtClean="0">
                                  <a:latin typeface="Cambria Math" panose="02040503050406030204" pitchFamily="18" charset="0"/>
                                </a:rPr>
                                <m:t>&amp;</m:t>
                              </m:r>
                              <m:d>
                                <m:dPr>
                                  <m:begChr m:val="|"/>
                                  <m:endChr m:val="|"/>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𝑔</m:t>
                                  </m:r>
                                </m:e>
                              </m:d>
                              <m:r>
                                <a:rPr lang="en-US" altLang="zh-TW" sz="2400" b="0" i="1" smtClean="0">
                                  <a:latin typeface="Cambria Math" panose="02040503050406030204" pitchFamily="18" charset="0"/>
                                </a:rPr>
                                <m:t>&amp;</m:t>
                              </m:r>
                              <m:r>
                                <a:rPr lang="en-US" altLang="zh-TW" sz="2400" b="0" i="1" smtClean="0">
                                  <a:latin typeface="Cambria Math" panose="02040503050406030204" pitchFamily="18" charset="0"/>
                                </a:rPr>
                                <m:t>𝑖𝑓</m:t>
                              </m:r>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𝑟</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𝑖𝑠</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𝑎</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𝑔𝑎𝑝</m:t>
                              </m:r>
                            </m:e>
                          </m:eqArr>
                        </m:e>
                      </m:d>
                    </m:oMath>
                  </m:oMathPara>
                </a14:m>
                <a:endParaRPr lang="zh-TW" altLang="en-US" sz="2400" dirty="0"/>
              </a:p>
            </p:txBody>
          </p:sp>
        </mc:Choice>
        <mc:Fallback xmlns="">
          <p:sp>
            <p:nvSpPr>
              <p:cNvPr id="4" name="文字方塊 3">
                <a:extLst>
                  <a:ext uri="{FF2B5EF4-FFF2-40B4-BE49-F238E27FC236}">
                    <a16:creationId xmlns:a16="http://schemas.microsoft.com/office/drawing/2014/main" id="{0BA5B4EB-8A2B-412F-BB6D-699A1A8C9A59}"/>
                  </a:ext>
                </a:extLst>
              </p:cNvPr>
              <p:cNvSpPr txBox="1">
                <a:spLocks noRot="1" noChangeAspect="1" noMove="1" noResize="1" noEditPoints="1" noAdjustHandles="1" noChangeArrowheads="1" noChangeShapeType="1" noTextEdit="1"/>
              </p:cNvSpPr>
              <p:nvPr/>
            </p:nvSpPr>
            <p:spPr>
              <a:xfrm>
                <a:off x="2494701" y="1558144"/>
                <a:ext cx="6085640" cy="1459887"/>
              </a:xfrm>
              <a:prstGeom prst="rect">
                <a:avLst/>
              </a:prstGeom>
              <a:blipFill>
                <a:blip r:embed="rId2"/>
                <a:stretch>
                  <a:fillRect/>
                </a:stretch>
              </a:blipFill>
            </p:spPr>
            <p:txBody>
              <a:bodyPr/>
              <a:lstStyle/>
              <a:p>
                <a:r>
                  <a:rPr lang="zh-TW" altLang="en-US">
                    <a:noFill/>
                  </a:rPr>
                  <a:t> </a:t>
                </a:r>
              </a:p>
            </p:txBody>
          </p:sp>
        </mc:Fallback>
      </mc:AlternateContent>
      <p:pic>
        <p:nvPicPr>
          <p:cNvPr id="7" name="圖片 6">
            <a:extLst>
              <a:ext uri="{FF2B5EF4-FFF2-40B4-BE49-F238E27FC236}">
                <a16:creationId xmlns:a16="http://schemas.microsoft.com/office/drawing/2014/main" xmlns="" id="{177A544D-1B0B-4673-ABF8-6AAA582991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267060"/>
            <a:ext cx="11991399" cy="1062361"/>
          </a:xfrm>
          <a:prstGeom prst="rect">
            <a:avLst/>
          </a:prstGeom>
        </p:spPr>
      </p:pic>
      <p:sp>
        <p:nvSpPr>
          <p:cNvPr id="8" name="文字方塊 7">
            <a:extLst>
              <a:ext uri="{FF2B5EF4-FFF2-40B4-BE49-F238E27FC236}">
                <a16:creationId xmlns:a16="http://schemas.microsoft.com/office/drawing/2014/main" xmlns="" id="{2D87B964-06E2-42BC-879E-5A304C3B364B}"/>
              </a:ext>
            </a:extLst>
          </p:cNvPr>
          <p:cNvSpPr txBox="1"/>
          <p:nvPr/>
        </p:nvSpPr>
        <p:spPr>
          <a:xfrm>
            <a:off x="5886440" y="5930108"/>
            <a:ext cx="3333477" cy="461665"/>
          </a:xfrm>
          <a:prstGeom prst="rect">
            <a:avLst/>
          </a:prstGeom>
          <a:noFill/>
        </p:spPr>
        <p:txBody>
          <a:bodyPr wrap="none" rtlCol="0">
            <a:spAutoFit/>
          </a:bodyPr>
          <a:lstStyle/>
          <a:p>
            <a:r>
              <a:rPr lang="en-US" altLang="zh-TW" sz="2400" dirty="0"/>
              <a:t>Satisfy triangle inequality</a:t>
            </a:r>
            <a:endParaRPr lang="zh-TW" altLang="en-US" sz="2400" dirty="0"/>
          </a:p>
        </p:txBody>
      </p: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xmlns="" id="{77D9C718-3B99-470D-B44F-9A55E075F8AF}"/>
                  </a:ext>
                </a:extLst>
              </p:cNvPr>
              <p:cNvSpPr txBox="1"/>
              <p:nvPr/>
            </p:nvSpPr>
            <p:spPr>
              <a:xfrm>
                <a:off x="2494701" y="4594403"/>
                <a:ext cx="101649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𝑔</m:t>
                      </m:r>
                      <m:r>
                        <a:rPr lang="en-US" altLang="zh-TW" sz="2400" b="0" i="1" smtClean="0">
                          <a:latin typeface="Cambria Math" panose="02040503050406030204" pitchFamily="18" charset="0"/>
                        </a:rPr>
                        <m:t>=0</m:t>
                      </m:r>
                    </m:oMath>
                  </m:oMathPara>
                </a14:m>
                <a:endParaRPr lang="zh-TW" altLang="en-US" sz="2400" dirty="0"/>
              </a:p>
            </p:txBody>
          </p:sp>
        </mc:Choice>
        <mc:Fallback xmlns="">
          <p:sp>
            <p:nvSpPr>
              <p:cNvPr id="10" name="文字方塊 9">
                <a:extLst>
                  <a:ext uri="{FF2B5EF4-FFF2-40B4-BE49-F238E27FC236}">
                    <a16:creationId xmlns:a16="http://schemas.microsoft.com/office/drawing/2014/main" id="{77D9C718-3B99-470D-B44F-9A55E075F8AF}"/>
                  </a:ext>
                </a:extLst>
              </p:cNvPr>
              <p:cNvSpPr txBox="1">
                <a:spLocks noRot="1" noChangeAspect="1" noMove="1" noResize="1" noEditPoints="1" noAdjustHandles="1" noChangeArrowheads="1" noChangeShapeType="1" noTextEdit="1"/>
              </p:cNvSpPr>
              <p:nvPr/>
            </p:nvSpPr>
            <p:spPr>
              <a:xfrm>
                <a:off x="2494701" y="4594403"/>
                <a:ext cx="1016497" cy="461665"/>
              </a:xfrm>
              <a:prstGeom prst="rect">
                <a:avLst/>
              </a:prstGeom>
              <a:blipFill>
                <a:blip r:embed="rId4"/>
                <a:stretch>
                  <a:fillRect b="-1066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5702725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C2F9BE5-C205-464E-8EF6-8F73BC3369D4}"/>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Pruning method</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xmlns="" id="{1710237D-FF06-4640-8ED5-79A27DE2DC3B}"/>
              </a:ext>
            </a:extLst>
          </p:cNvPr>
          <p:cNvSpPr>
            <a:spLocks noGrp="1"/>
          </p:cNvSpPr>
          <p:nvPr>
            <p:ph idx="1"/>
          </p:nvPr>
        </p:nvSpPr>
        <p:spPr/>
        <p:txBody>
          <a:bodyPr/>
          <a:lstStyle/>
          <a:p>
            <a:r>
              <a:rPr lang="en-US" altLang="zh-TW" dirty="0"/>
              <a:t>Triangle inequality</a:t>
            </a:r>
          </a:p>
          <a:p>
            <a:r>
              <a:rPr lang="en-US" altLang="zh-TW" dirty="0"/>
              <a:t>Lower bound</a:t>
            </a:r>
            <a:endParaRPr lang="zh-TW" altLang="en-US" dirty="0"/>
          </a:p>
        </p:txBody>
      </p:sp>
    </p:spTree>
    <p:extLst>
      <p:ext uri="{BB962C8B-B14F-4D97-AF65-F5344CB8AC3E}">
        <p14:creationId xmlns:p14="http://schemas.microsoft.com/office/powerpoint/2010/main" val="22459334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E2743DD-2289-4A51-81F2-AB0BC2838520}"/>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Pruning method</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Triangle inequality</a:t>
            </a:r>
            <a:endParaRPr lang="zh-TW" altLang="en-US" dirty="0">
              <a:latin typeface="Times New Roman" panose="02020603050405020304" pitchFamily="18" charset="0"/>
              <a:cs typeface="Times New Roman" panose="02020603050405020304" pitchFamily="18" charset="0"/>
            </a:endParaRPr>
          </a:p>
        </p:txBody>
      </p:sp>
      <p:sp>
        <p:nvSpPr>
          <p:cNvPr id="5" name="文字方塊 4">
            <a:extLst>
              <a:ext uri="{FF2B5EF4-FFF2-40B4-BE49-F238E27FC236}">
                <a16:creationId xmlns:a16="http://schemas.microsoft.com/office/drawing/2014/main" xmlns="" id="{A4C7BFF4-91BB-4AB8-8C19-C39E96D4F9A3}"/>
              </a:ext>
            </a:extLst>
          </p:cNvPr>
          <p:cNvSpPr txBox="1"/>
          <p:nvPr/>
        </p:nvSpPr>
        <p:spPr>
          <a:xfrm>
            <a:off x="994299" y="1846556"/>
            <a:ext cx="4234557" cy="369332"/>
          </a:xfrm>
          <a:prstGeom prst="rect">
            <a:avLst/>
          </a:prstGeom>
          <a:noFill/>
        </p:spPr>
        <p:txBody>
          <a:bodyPr wrap="none" rtlCol="0">
            <a:spAutoFit/>
          </a:bodyPr>
          <a:lstStyle/>
          <a:p>
            <a:r>
              <a:rPr lang="en-US" altLang="zh-TW" dirty="0" err="1"/>
              <a:t>Pmatrix</a:t>
            </a:r>
            <a:r>
              <a:rPr lang="zh-TW" altLang="en-US" dirty="0"/>
              <a:t>：儲存資料庫</a:t>
            </a:r>
            <a:r>
              <a:rPr lang="en-US" altLang="zh-TW" dirty="0"/>
              <a:t>pairwise</a:t>
            </a:r>
            <a:r>
              <a:rPr lang="zh-TW" altLang="en-US" dirty="0"/>
              <a:t>比較的資訊</a:t>
            </a:r>
          </a:p>
        </p:txBody>
      </p:sp>
      <p:sp>
        <p:nvSpPr>
          <p:cNvPr id="6" name="文字方塊 5">
            <a:extLst>
              <a:ext uri="{FF2B5EF4-FFF2-40B4-BE49-F238E27FC236}">
                <a16:creationId xmlns:a16="http://schemas.microsoft.com/office/drawing/2014/main" xmlns="" id="{2BC17893-FAA2-46A0-9D15-A5E3EE7187B7}"/>
              </a:ext>
            </a:extLst>
          </p:cNvPr>
          <p:cNvSpPr txBox="1"/>
          <p:nvPr/>
        </p:nvSpPr>
        <p:spPr>
          <a:xfrm>
            <a:off x="994299" y="2238938"/>
            <a:ext cx="4906728" cy="369332"/>
          </a:xfrm>
          <a:prstGeom prst="rect">
            <a:avLst/>
          </a:prstGeom>
          <a:noFill/>
        </p:spPr>
        <p:txBody>
          <a:bodyPr wrap="none" rtlCol="0">
            <a:spAutoFit/>
          </a:bodyPr>
          <a:lstStyle/>
          <a:p>
            <a:r>
              <a:rPr lang="en-US" altLang="zh-TW" dirty="0" err="1"/>
              <a:t>procArray</a:t>
            </a:r>
            <a:r>
              <a:rPr lang="zh-TW" altLang="en-US" dirty="0"/>
              <a:t>：已經跟</a:t>
            </a:r>
            <a:r>
              <a:rPr lang="en-US" altLang="zh-TW" dirty="0"/>
              <a:t>query sequence</a:t>
            </a:r>
            <a:r>
              <a:rPr lang="zh-TW" altLang="en-US" dirty="0"/>
              <a:t>比較過的資訊</a:t>
            </a:r>
          </a:p>
        </p:txBody>
      </p:sp>
      <p:sp>
        <p:nvSpPr>
          <p:cNvPr id="7" name="文字方塊 6">
            <a:extLst>
              <a:ext uri="{FF2B5EF4-FFF2-40B4-BE49-F238E27FC236}">
                <a16:creationId xmlns:a16="http://schemas.microsoft.com/office/drawing/2014/main" xmlns="" id="{16DE2D1A-C270-4484-A5C8-5D61412144D2}"/>
              </a:ext>
            </a:extLst>
          </p:cNvPr>
          <p:cNvSpPr txBox="1"/>
          <p:nvPr/>
        </p:nvSpPr>
        <p:spPr>
          <a:xfrm>
            <a:off x="994299" y="2631320"/>
            <a:ext cx="5080430" cy="369332"/>
          </a:xfrm>
          <a:prstGeom prst="rect">
            <a:avLst/>
          </a:prstGeom>
          <a:noFill/>
        </p:spPr>
        <p:txBody>
          <a:bodyPr wrap="none" rtlCol="0">
            <a:spAutoFit/>
          </a:bodyPr>
          <a:lstStyle/>
          <a:p>
            <a:r>
              <a:rPr lang="en-US" altLang="zh-TW" dirty="0"/>
              <a:t>result</a:t>
            </a:r>
            <a:r>
              <a:rPr lang="zh-TW" altLang="en-US" dirty="0"/>
              <a:t>：儲存目前為止最近的</a:t>
            </a:r>
            <a:r>
              <a:rPr lang="en-US" altLang="zh-TW" dirty="0"/>
              <a:t>k</a:t>
            </a:r>
            <a:r>
              <a:rPr lang="zh-TW" altLang="en-US" dirty="0"/>
              <a:t>個</a:t>
            </a:r>
            <a:r>
              <a:rPr lang="en-US" altLang="zh-TW" dirty="0"/>
              <a:t>time series</a:t>
            </a:r>
            <a:r>
              <a:rPr lang="zh-TW" altLang="en-US" dirty="0"/>
              <a:t>的資訊</a:t>
            </a:r>
          </a:p>
        </p:txBody>
      </p:sp>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xmlns="" id="{36D8E372-436F-4572-A65C-EA31C9E61295}"/>
                  </a:ext>
                </a:extLst>
              </p:cNvPr>
              <p:cNvSpPr txBox="1"/>
              <p:nvPr/>
            </p:nvSpPr>
            <p:spPr>
              <a:xfrm>
                <a:off x="3709882" y="3888419"/>
                <a:ext cx="4404860" cy="461665"/>
              </a:xfrm>
              <a:prstGeom prst="rect">
                <a:avLst/>
              </a:prstGeom>
              <a:noFill/>
            </p:spPr>
            <p:txBody>
              <a:bodyPr wrap="none" rtlCol="0">
                <a:spAutoFit/>
              </a:bodyPr>
              <a:lstStyle/>
              <a:p>
                <a:r>
                  <a:rPr lang="en-US" altLang="zh-TW" sz="2400" dirty="0"/>
                  <a:t>ERP(Q, S) </a:t>
                </a:r>
                <a14:m>
                  <m:oMath xmlns:m="http://schemas.openxmlformats.org/officeDocument/2006/math">
                    <m:r>
                      <a:rPr lang="en-US" altLang="zh-TW" sz="2400" i="1" smtClean="0">
                        <a:latin typeface="Cambria Math" panose="02040503050406030204" pitchFamily="18" charset="0"/>
                        <a:ea typeface="Cambria Math" panose="02040503050406030204" pitchFamily="18" charset="0"/>
                      </a:rPr>
                      <m:t>≥</m:t>
                    </m:r>
                  </m:oMath>
                </a14:m>
                <a:r>
                  <a:rPr lang="zh-TW" altLang="en-US" sz="2400" dirty="0"/>
                  <a:t> </a:t>
                </a:r>
                <a:r>
                  <a:rPr lang="en-US" altLang="zh-TW" sz="2400" dirty="0"/>
                  <a:t>ERP(Q, R) </a:t>
                </a:r>
                <a14:m>
                  <m:oMath xmlns:m="http://schemas.openxmlformats.org/officeDocument/2006/math">
                    <m:r>
                      <a:rPr lang="en-US" altLang="zh-TW" sz="2400" b="0" i="1" smtClean="0">
                        <a:latin typeface="Cambria Math" panose="02040503050406030204" pitchFamily="18" charset="0"/>
                      </a:rPr>
                      <m:t>−</m:t>
                    </m:r>
                  </m:oMath>
                </a14:m>
                <a:r>
                  <a:rPr lang="zh-TW" altLang="en-US" sz="2400" dirty="0"/>
                  <a:t> </a:t>
                </a:r>
                <a:r>
                  <a:rPr lang="en-US" altLang="zh-TW" sz="2400" dirty="0"/>
                  <a:t>ERP(S, R)</a:t>
                </a:r>
                <a:endParaRPr lang="zh-TW" altLang="en-US" sz="2400" dirty="0"/>
              </a:p>
            </p:txBody>
          </p:sp>
        </mc:Choice>
        <mc:Fallback xmlns="">
          <p:sp>
            <p:nvSpPr>
              <p:cNvPr id="8" name="文字方塊 7">
                <a:extLst>
                  <a:ext uri="{FF2B5EF4-FFF2-40B4-BE49-F238E27FC236}">
                    <a16:creationId xmlns:a16="http://schemas.microsoft.com/office/drawing/2014/main" id="{36D8E372-436F-4572-A65C-EA31C9E61295}"/>
                  </a:ext>
                </a:extLst>
              </p:cNvPr>
              <p:cNvSpPr txBox="1">
                <a:spLocks noRot="1" noChangeAspect="1" noMove="1" noResize="1" noEditPoints="1" noAdjustHandles="1" noChangeArrowheads="1" noChangeShapeType="1" noTextEdit="1"/>
              </p:cNvSpPr>
              <p:nvPr/>
            </p:nvSpPr>
            <p:spPr>
              <a:xfrm>
                <a:off x="3709882" y="3888419"/>
                <a:ext cx="4404860" cy="461665"/>
              </a:xfrm>
              <a:prstGeom prst="rect">
                <a:avLst/>
              </a:prstGeom>
              <a:blipFill>
                <a:blip r:embed="rId2"/>
                <a:stretch>
                  <a:fillRect l="-2216" t="-10526" r="-1247" b="-2894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9434791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528CF05-F28A-48C5-B9B7-8A3224BD1D0A}"/>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Pruning method</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Triangle inequality</a:t>
            </a:r>
            <a:endParaRPr lang="zh-TW" altLang="en-US" dirty="0"/>
          </a:p>
        </p:txBody>
      </p:sp>
      <p:sp>
        <p:nvSpPr>
          <p:cNvPr id="4" name="文字方塊 3">
            <a:extLst>
              <a:ext uri="{FF2B5EF4-FFF2-40B4-BE49-F238E27FC236}">
                <a16:creationId xmlns:a16="http://schemas.microsoft.com/office/drawing/2014/main" xmlns="" id="{F9DC3008-8338-4FC9-B44C-6E6422939F77}"/>
              </a:ext>
            </a:extLst>
          </p:cNvPr>
          <p:cNvSpPr txBox="1"/>
          <p:nvPr/>
        </p:nvSpPr>
        <p:spPr>
          <a:xfrm>
            <a:off x="994299" y="1846556"/>
            <a:ext cx="4234557" cy="369332"/>
          </a:xfrm>
          <a:prstGeom prst="rect">
            <a:avLst/>
          </a:prstGeom>
          <a:noFill/>
        </p:spPr>
        <p:txBody>
          <a:bodyPr wrap="none" rtlCol="0">
            <a:spAutoFit/>
          </a:bodyPr>
          <a:lstStyle/>
          <a:p>
            <a:r>
              <a:rPr lang="en-US" altLang="zh-TW" dirty="0" err="1"/>
              <a:t>Pmatrix</a:t>
            </a:r>
            <a:r>
              <a:rPr lang="zh-TW" altLang="en-US" dirty="0"/>
              <a:t>：儲存資料庫</a:t>
            </a:r>
            <a:r>
              <a:rPr lang="en-US" altLang="zh-TW" dirty="0"/>
              <a:t>pairwise</a:t>
            </a:r>
            <a:r>
              <a:rPr lang="zh-TW" altLang="en-US" dirty="0"/>
              <a:t>比較的資訊</a:t>
            </a:r>
          </a:p>
        </p:txBody>
      </p:sp>
      <p:sp>
        <p:nvSpPr>
          <p:cNvPr id="5" name="文字方塊 4">
            <a:extLst>
              <a:ext uri="{FF2B5EF4-FFF2-40B4-BE49-F238E27FC236}">
                <a16:creationId xmlns:a16="http://schemas.microsoft.com/office/drawing/2014/main" xmlns="" id="{E3E35141-FF75-497D-B2BA-288C45AE79C5}"/>
              </a:ext>
            </a:extLst>
          </p:cNvPr>
          <p:cNvSpPr txBox="1"/>
          <p:nvPr/>
        </p:nvSpPr>
        <p:spPr>
          <a:xfrm>
            <a:off x="994299" y="2238938"/>
            <a:ext cx="4906728" cy="369332"/>
          </a:xfrm>
          <a:prstGeom prst="rect">
            <a:avLst/>
          </a:prstGeom>
          <a:noFill/>
        </p:spPr>
        <p:txBody>
          <a:bodyPr wrap="none" rtlCol="0">
            <a:spAutoFit/>
          </a:bodyPr>
          <a:lstStyle/>
          <a:p>
            <a:r>
              <a:rPr lang="en-US" altLang="zh-TW" dirty="0" err="1"/>
              <a:t>procArray</a:t>
            </a:r>
            <a:r>
              <a:rPr lang="zh-TW" altLang="en-US" dirty="0"/>
              <a:t>：已經跟</a:t>
            </a:r>
            <a:r>
              <a:rPr lang="en-US" altLang="zh-TW" dirty="0"/>
              <a:t>query sequence</a:t>
            </a:r>
            <a:r>
              <a:rPr lang="zh-TW" altLang="en-US" dirty="0"/>
              <a:t>比較過的資訊</a:t>
            </a:r>
          </a:p>
        </p:txBody>
      </p:sp>
      <p:sp>
        <p:nvSpPr>
          <p:cNvPr id="6" name="文字方塊 5">
            <a:extLst>
              <a:ext uri="{FF2B5EF4-FFF2-40B4-BE49-F238E27FC236}">
                <a16:creationId xmlns:a16="http://schemas.microsoft.com/office/drawing/2014/main" xmlns="" id="{07704CDE-8CE0-4BA2-9A20-ED315FA131D4}"/>
              </a:ext>
            </a:extLst>
          </p:cNvPr>
          <p:cNvSpPr txBox="1"/>
          <p:nvPr/>
        </p:nvSpPr>
        <p:spPr>
          <a:xfrm>
            <a:off x="994299" y="2631320"/>
            <a:ext cx="5080430" cy="369332"/>
          </a:xfrm>
          <a:prstGeom prst="rect">
            <a:avLst/>
          </a:prstGeom>
          <a:noFill/>
        </p:spPr>
        <p:txBody>
          <a:bodyPr wrap="none" rtlCol="0">
            <a:spAutoFit/>
          </a:bodyPr>
          <a:lstStyle/>
          <a:p>
            <a:r>
              <a:rPr lang="en-US" altLang="zh-TW" dirty="0"/>
              <a:t>result</a:t>
            </a:r>
            <a:r>
              <a:rPr lang="zh-TW" altLang="en-US" dirty="0"/>
              <a:t>：儲存目前為止最近的</a:t>
            </a:r>
            <a:r>
              <a:rPr lang="en-US" altLang="zh-TW" dirty="0"/>
              <a:t>k</a:t>
            </a:r>
            <a:r>
              <a:rPr lang="zh-TW" altLang="en-US" dirty="0"/>
              <a:t>個</a:t>
            </a:r>
            <a:r>
              <a:rPr lang="en-US" altLang="zh-TW" dirty="0"/>
              <a:t>time series</a:t>
            </a:r>
            <a:r>
              <a:rPr lang="zh-TW" altLang="en-US" dirty="0"/>
              <a:t>的資訊</a:t>
            </a:r>
          </a:p>
        </p:txBody>
      </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xmlns="" id="{A22DF81E-E60A-49EC-B8A9-5AF287AF9C37}"/>
                  </a:ext>
                </a:extLst>
              </p:cNvPr>
              <p:cNvSpPr txBox="1"/>
              <p:nvPr/>
            </p:nvSpPr>
            <p:spPr>
              <a:xfrm>
                <a:off x="2227311" y="3252791"/>
                <a:ext cx="4404860" cy="461665"/>
              </a:xfrm>
              <a:prstGeom prst="rect">
                <a:avLst/>
              </a:prstGeom>
              <a:noFill/>
            </p:spPr>
            <p:txBody>
              <a:bodyPr wrap="none" rtlCol="0">
                <a:spAutoFit/>
              </a:bodyPr>
              <a:lstStyle/>
              <a:p>
                <a:r>
                  <a:rPr lang="en-US" altLang="zh-TW" sz="2400" dirty="0"/>
                  <a:t>ERP(Q, S) </a:t>
                </a:r>
                <a14:m>
                  <m:oMath xmlns:m="http://schemas.openxmlformats.org/officeDocument/2006/math">
                    <m:r>
                      <a:rPr lang="en-US" altLang="zh-TW" sz="2400" i="1" smtClean="0">
                        <a:latin typeface="Cambria Math" panose="02040503050406030204" pitchFamily="18" charset="0"/>
                        <a:ea typeface="Cambria Math" panose="02040503050406030204" pitchFamily="18" charset="0"/>
                      </a:rPr>
                      <m:t>≥</m:t>
                    </m:r>
                  </m:oMath>
                </a14:m>
                <a:r>
                  <a:rPr lang="zh-TW" altLang="en-US" sz="2400" dirty="0"/>
                  <a:t> </a:t>
                </a:r>
                <a:r>
                  <a:rPr lang="en-US" altLang="zh-TW" sz="2400" dirty="0"/>
                  <a:t>ERP(Q, R) </a:t>
                </a:r>
                <a14:m>
                  <m:oMath xmlns:m="http://schemas.openxmlformats.org/officeDocument/2006/math">
                    <m:r>
                      <a:rPr lang="en-US" altLang="zh-TW" sz="2400" b="0" i="1" smtClean="0">
                        <a:latin typeface="Cambria Math" panose="02040503050406030204" pitchFamily="18" charset="0"/>
                      </a:rPr>
                      <m:t>−</m:t>
                    </m:r>
                  </m:oMath>
                </a14:m>
                <a:r>
                  <a:rPr lang="zh-TW" altLang="en-US" sz="2400" dirty="0"/>
                  <a:t> </a:t>
                </a:r>
                <a:r>
                  <a:rPr lang="en-US" altLang="zh-TW" sz="2400" dirty="0"/>
                  <a:t>ERP(S, R)</a:t>
                </a:r>
                <a:endParaRPr lang="zh-TW" altLang="en-US" sz="2400" dirty="0"/>
              </a:p>
            </p:txBody>
          </p:sp>
        </mc:Choice>
        <mc:Fallback xmlns="">
          <p:sp>
            <p:nvSpPr>
              <p:cNvPr id="7" name="文字方塊 6">
                <a:extLst>
                  <a:ext uri="{FF2B5EF4-FFF2-40B4-BE49-F238E27FC236}">
                    <a16:creationId xmlns:a16="http://schemas.microsoft.com/office/drawing/2014/main" id="{A22DF81E-E60A-49EC-B8A9-5AF287AF9C37}"/>
                  </a:ext>
                </a:extLst>
              </p:cNvPr>
              <p:cNvSpPr txBox="1">
                <a:spLocks noRot="1" noChangeAspect="1" noMove="1" noResize="1" noEditPoints="1" noAdjustHandles="1" noChangeArrowheads="1" noChangeShapeType="1" noTextEdit="1"/>
              </p:cNvSpPr>
              <p:nvPr/>
            </p:nvSpPr>
            <p:spPr>
              <a:xfrm>
                <a:off x="2227311" y="3252791"/>
                <a:ext cx="4404860" cy="461665"/>
              </a:xfrm>
              <a:prstGeom prst="rect">
                <a:avLst/>
              </a:prstGeom>
              <a:blipFill>
                <a:blip r:embed="rId2"/>
                <a:stretch>
                  <a:fillRect l="-2075" t="-10667" r="-1245" b="-30667"/>
                </a:stretch>
              </a:blipFill>
            </p:spPr>
            <p:txBody>
              <a:bodyPr/>
              <a:lstStyle/>
              <a:p>
                <a:r>
                  <a:rPr lang="zh-TW" altLang="en-US">
                    <a:noFill/>
                  </a:rPr>
                  <a:t> </a:t>
                </a:r>
              </a:p>
            </p:txBody>
          </p:sp>
        </mc:Fallback>
      </mc:AlternateContent>
      <p:cxnSp>
        <p:nvCxnSpPr>
          <p:cNvPr id="15" name="直線接點 14">
            <a:extLst>
              <a:ext uri="{FF2B5EF4-FFF2-40B4-BE49-F238E27FC236}">
                <a16:creationId xmlns:a16="http://schemas.microsoft.com/office/drawing/2014/main" xmlns="" id="{DB0804C1-5886-40E1-A470-54951E880A70}"/>
              </a:ext>
            </a:extLst>
          </p:cNvPr>
          <p:cNvCxnSpPr/>
          <p:nvPr/>
        </p:nvCxnSpPr>
        <p:spPr>
          <a:xfrm>
            <a:off x="1447060" y="3062796"/>
            <a:ext cx="0" cy="1846555"/>
          </a:xfrm>
          <a:prstGeom prst="line">
            <a:avLst/>
          </a:prstGeom>
        </p:spPr>
        <p:style>
          <a:lnRef idx="1">
            <a:schemeClr val="accent2"/>
          </a:lnRef>
          <a:fillRef idx="0">
            <a:schemeClr val="accent2"/>
          </a:fillRef>
          <a:effectRef idx="0">
            <a:schemeClr val="accent2"/>
          </a:effectRef>
          <a:fontRef idx="minor">
            <a:schemeClr val="tx1"/>
          </a:fontRef>
        </p:style>
      </p:cxnSp>
      <p:cxnSp>
        <p:nvCxnSpPr>
          <p:cNvPr id="17" name="直線單箭頭接點 16">
            <a:extLst>
              <a:ext uri="{FF2B5EF4-FFF2-40B4-BE49-F238E27FC236}">
                <a16:creationId xmlns:a16="http://schemas.microsoft.com/office/drawing/2014/main" xmlns="" id="{853325BB-75C5-4BCC-976A-B7440F161267}"/>
              </a:ext>
            </a:extLst>
          </p:cNvPr>
          <p:cNvCxnSpPr>
            <a:cxnSpLocks/>
          </p:cNvCxnSpPr>
          <p:nvPr/>
        </p:nvCxnSpPr>
        <p:spPr>
          <a:xfrm flipV="1">
            <a:off x="1447060" y="4897477"/>
            <a:ext cx="3311371" cy="299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8" name="文字方塊 17">
            <a:extLst>
              <a:ext uri="{FF2B5EF4-FFF2-40B4-BE49-F238E27FC236}">
                <a16:creationId xmlns:a16="http://schemas.microsoft.com/office/drawing/2014/main" xmlns="" id="{20724C92-01FF-4EFB-86A9-2BB53DC58CBF}"/>
              </a:ext>
            </a:extLst>
          </p:cNvPr>
          <p:cNvSpPr txBox="1"/>
          <p:nvPr/>
        </p:nvSpPr>
        <p:spPr>
          <a:xfrm>
            <a:off x="2027032" y="5015883"/>
            <a:ext cx="1408399" cy="369332"/>
          </a:xfrm>
          <a:prstGeom prst="rect">
            <a:avLst/>
          </a:prstGeom>
          <a:noFill/>
        </p:spPr>
        <p:txBody>
          <a:bodyPr wrap="none" rtlCol="0">
            <a:spAutoFit/>
          </a:bodyPr>
          <a:lstStyle/>
          <a:p>
            <a:r>
              <a:rPr lang="en-US" altLang="zh-TW" dirty="0"/>
              <a:t>Find the best</a:t>
            </a:r>
            <a:endParaRPr lang="zh-TW" altLang="en-US" dirty="0"/>
          </a:p>
        </p:txBody>
      </p:sp>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xmlns="" id="{16EEC728-A05F-4D91-B5AF-328C855EF43A}"/>
                  </a:ext>
                </a:extLst>
              </p:cNvPr>
              <p:cNvSpPr txBox="1"/>
              <p:nvPr/>
            </p:nvSpPr>
            <p:spPr>
              <a:xfrm>
                <a:off x="4872857" y="4666645"/>
                <a:ext cx="5181290" cy="461665"/>
              </a:xfrm>
              <a:prstGeom prst="rect">
                <a:avLst/>
              </a:prstGeom>
              <a:noFill/>
            </p:spPr>
            <p:txBody>
              <a:bodyPr wrap="none" rtlCol="0">
                <a:spAutoFit/>
              </a:bodyPr>
              <a:lstStyle/>
              <a:p>
                <a:r>
                  <a:rPr lang="en-US" altLang="zh-TW" sz="2400" dirty="0" err="1">
                    <a:latin typeface="Times New Roman" panose="02020603050405020304" pitchFamily="18" charset="0"/>
                    <a:cs typeface="Times New Roman" panose="02020603050405020304" pitchFamily="18" charset="0"/>
                  </a:rPr>
                  <a:t>bestSoFar</a:t>
                </a:r>
                <a:r>
                  <a:rPr lang="en-US" altLang="zh-TW" sz="24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400" i="1" smtClean="0">
                        <a:latin typeface="Cambria Math" panose="02040503050406030204" pitchFamily="18" charset="0"/>
                        <a:ea typeface="Cambria Math" panose="02040503050406030204" pitchFamily="18" charset="0"/>
                      </a:rPr>
                      <m:t>≥</m:t>
                    </m:r>
                  </m:oMath>
                </a14:m>
                <a:r>
                  <a:rPr lang="zh-TW" altLang="en-US" sz="2400" dirty="0"/>
                  <a:t> </a:t>
                </a:r>
                <a:r>
                  <a:rPr lang="en-US" altLang="zh-TW" sz="2400" dirty="0"/>
                  <a:t>max(ERP(Q, R) </a:t>
                </a:r>
                <a14:m>
                  <m:oMath xmlns:m="http://schemas.openxmlformats.org/officeDocument/2006/math">
                    <m:r>
                      <a:rPr lang="en-US" altLang="zh-TW" sz="2400" b="0" i="1" smtClean="0">
                        <a:latin typeface="Cambria Math" panose="02040503050406030204" pitchFamily="18" charset="0"/>
                      </a:rPr>
                      <m:t>−</m:t>
                    </m:r>
                  </m:oMath>
                </a14:m>
                <a:r>
                  <a:rPr lang="zh-TW" altLang="en-US" sz="2400" dirty="0"/>
                  <a:t> </a:t>
                </a:r>
                <a:r>
                  <a:rPr lang="en-US" altLang="zh-TW" sz="2400" dirty="0"/>
                  <a:t>ERP(S, R))</a:t>
                </a: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19" name="文字方塊 18">
                <a:extLst>
                  <a:ext uri="{FF2B5EF4-FFF2-40B4-BE49-F238E27FC236}">
                    <a16:creationId xmlns:a16="http://schemas.microsoft.com/office/drawing/2014/main" id="{16EEC728-A05F-4D91-B5AF-328C855EF43A}"/>
                  </a:ext>
                </a:extLst>
              </p:cNvPr>
              <p:cNvSpPr txBox="1">
                <a:spLocks noRot="1" noChangeAspect="1" noMove="1" noResize="1" noEditPoints="1" noAdjustHandles="1" noChangeArrowheads="1" noChangeShapeType="1" noTextEdit="1"/>
              </p:cNvSpPr>
              <p:nvPr/>
            </p:nvSpPr>
            <p:spPr>
              <a:xfrm>
                <a:off x="4872857" y="4666645"/>
                <a:ext cx="5181290" cy="461665"/>
              </a:xfrm>
              <a:prstGeom prst="rect">
                <a:avLst/>
              </a:prstGeom>
              <a:blipFill>
                <a:blip r:embed="rId3"/>
                <a:stretch>
                  <a:fillRect l="-1765" t="-12000" r="-941" b="-30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xmlns="" id="{44C09615-0717-4F68-8735-767D0CF3D3DC}"/>
                  </a:ext>
                </a:extLst>
              </p:cNvPr>
              <p:cNvSpPr txBox="1"/>
              <p:nvPr/>
            </p:nvSpPr>
            <p:spPr>
              <a:xfrm>
                <a:off x="4872857" y="3979896"/>
                <a:ext cx="5113708" cy="461665"/>
              </a:xfrm>
              <a:prstGeom prst="rect">
                <a:avLst/>
              </a:prstGeom>
              <a:noFill/>
            </p:spPr>
            <p:txBody>
              <a:bodyPr wrap="none" rtlCol="0">
                <a:spAutoFit/>
              </a:bodyPr>
              <a:lstStyle/>
              <a:p>
                <a:r>
                  <a:rPr lang="en-US" altLang="zh-TW" sz="2400" dirty="0"/>
                  <a:t>ERP(Q, S) </a:t>
                </a:r>
                <a14:m>
                  <m:oMath xmlns:m="http://schemas.openxmlformats.org/officeDocument/2006/math">
                    <m:r>
                      <a:rPr lang="en-US" altLang="zh-TW" sz="2400" i="1" smtClean="0">
                        <a:latin typeface="Cambria Math" panose="02040503050406030204" pitchFamily="18" charset="0"/>
                        <a:ea typeface="Cambria Math" panose="02040503050406030204" pitchFamily="18" charset="0"/>
                      </a:rPr>
                      <m:t>≥</m:t>
                    </m:r>
                  </m:oMath>
                </a14:m>
                <a:r>
                  <a:rPr lang="zh-TW" altLang="en-US" sz="2400" dirty="0"/>
                  <a:t> </a:t>
                </a:r>
                <a:r>
                  <a:rPr lang="en-US" altLang="zh-TW" sz="2400" dirty="0"/>
                  <a:t>max(ERP(Q, R) </a:t>
                </a:r>
                <a14:m>
                  <m:oMath xmlns:m="http://schemas.openxmlformats.org/officeDocument/2006/math">
                    <m:r>
                      <a:rPr lang="en-US" altLang="zh-TW" sz="2400" b="0" i="1" smtClean="0">
                        <a:latin typeface="Cambria Math" panose="02040503050406030204" pitchFamily="18" charset="0"/>
                      </a:rPr>
                      <m:t>−</m:t>
                    </m:r>
                  </m:oMath>
                </a14:m>
                <a:r>
                  <a:rPr lang="zh-TW" altLang="en-US" sz="2400" dirty="0"/>
                  <a:t> </a:t>
                </a:r>
                <a:r>
                  <a:rPr lang="en-US" altLang="zh-TW" sz="2400" dirty="0"/>
                  <a:t>ERP(S, R))</a:t>
                </a:r>
                <a:endParaRPr lang="zh-TW" altLang="en-US" sz="2400" dirty="0"/>
              </a:p>
            </p:txBody>
          </p:sp>
        </mc:Choice>
        <mc:Fallback xmlns="">
          <p:sp>
            <p:nvSpPr>
              <p:cNvPr id="20" name="文字方塊 19">
                <a:extLst>
                  <a:ext uri="{FF2B5EF4-FFF2-40B4-BE49-F238E27FC236}">
                    <a16:creationId xmlns:a16="http://schemas.microsoft.com/office/drawing/2014/main" id="{44C09615-0717-4F68-8735-767D0CF3D3DC}"/>
                  </a:ext>
                </a:extLst>
              </p:cNvPr>
              <p:cNvSpPr txBox="1">
                <a:spLocks noRot="1" noChangeAspect="1" noMove="1" noResize="1" noEditPoints="1" noAdjustHandles="1" noChangeArrowheads="1" noChangeShapeType="1" noTextEdit="1"/>
              </p:cNvSpPr>
              <p:nvPr/>
            </p:nvSpPr>
            <p:spPr>
              <a:xfrm>
                <a:off x="4872857" y="3979896"/>
                <a:ext cx="5113708" cy="461665"/>
              </a:xfrm>
              <a:prstGeom prst="rect">
                <a:avLst/>
              </a:prstGeom>
              <a:blipFill>
                <a:blip r:embed="rId4"/>
                <a:stretch>
                  <a:fillRect l="-1788" t="-10526" r="-954" b="-28947"/>
                </a:stretch>
              </a:blipFill>
            </p:spPr>
            <p:txBody>
              <a:bodyPr/>
              <a:lstStyle/>
              <a:p>
                <a:r>
                  <a:rPr lang="zh-TW" altLang="en-US">
                    <a:noFill/>
                  </a:rPr>
                  <a:t> </a:t>
                </a:r>
              </a:p>
            </p:txBody>
          </p:sp>
        </mc:Fallback>
      </mc:AlternateContent>
      <p:cxnSp>
        <p:nvCxnSpPr>
          <p:cNvPr id="22" name="直線接點 21">
            <a:extLst>
              <a:ext uri="{FF2B5EF4-FFF2-40B4-BE49-F238E27FC236}">
                <a16:creationId xmlns:a16="http://schemas.microsoft.com/office/drawing/2014/main" xmlns="" id="{C57F07C7-0F9A-4DE2-AC4C-41E7246AC6B7}"/>
              </a:ext>
            </a:extLst>
          </p:cNvPr>
          <p:cNvCxnSpPr>
            <a:cxnSpLocks/>
          </p:cNvCxnSpPr>
          <p:nvPr/>
        </p:nvCxnSpPr>
        <p:spPr>
          <a:xfrm>
            <a:off x="6096000" y="2423604"/>
            <a:ext cx="8552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線單箭頭接點 27">
            <a:extLst>
              <a:ext uri="{FF2B5EF4-FFF2-40B4-BE49-F238E27FC236}">
                <a16:creationId xmlns:a16="http://schemas.microsoft.com/office/drawing/2014/main" xmlns="" id="{BE11F824-F94F-4814-B270-C0D73F256508}"/>
              </a:ext>
            </a:extLst>
          </p:cNvPr>
          <p:cNvCxnSpPr/>
          <p:nvPr/>
        </p:nvCxnSpPr>
        <p:spPr>
          <a:xfrm>
            <a:off x="6960093" y="2423604"/>
            <a:ext cx="0" cy="15562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xmlns="" id="{5D7B85EF-0CCA-4E80-822A-01F108C2A937}"/>
              </a:ext>
            </a:extLst>
          </p:cNvPr>
          <p:cNvSpPr txBox="1"/>
          <p:nvPr/>
        </p:nvSpPr>
        <p:spPr>
          <a:xfrm>
            <a:off x="7009221" y="2815986"/>
            <a:ext cx="602729" cy="369332"/>
          </a:xfrm>
          <a:prstGeom prst="rect">
            <a:avLst/>
          </a:prstGeom>
          <a:noFill/>
        </p:spPr>
        <p:txBody>
          <a:bodyPr wrap="none" rtlCol="0">
            <a:spAutoFit/>
          </a:bodyPr>
          <a:lstStyle/>
          <a:p>
            <a:r>
              <a:rPr lang="en-US" altLang="zh-TW" dirty="0"/>
              <a:t>scan</a:t>
            </a:r>
            <a:endParaRPr lang="zh-TW" altLang="en-US" dirty="0"/>
          </a:p>
        </p:txBody>
      </p:sp>
      <p:sp>
        <p:nvSpPr>
          <p:cNvPr id="31" name="箭號: 向下 30">
            <a:extLst>
              <a:ext uri="{FF2B5EF4-FFF2-40B4-BE49-F238E27FC236}">
                <a16:creationId xmlns:a16="http://schemas.microsoft.com/office/drawing/2014/main" xmlns="" id="{A20E4F1D-75D1-41AC-9B47-1A0A75E2397F}"/>
              </a:ext>
            </a:extLst>
          </p:cNvPr>
          <p:cNvSpPr/>
          <p:nvPr/>
        </p:nvSpPr>
        <p:spPr>
          <a:xfrm>
            <a:off x="7009221" y="5200549"/>
            <a:ext cx="421389" cy="62320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文字方塊 31">
            <a:extLst>
              <a:ext uri="{FF2B5EF4-FFF2-40B4-BE49-F238E27FC236}">
                <a16:creationId xmlns:a16="http://schemas.microsoft.com/office/drawing/2014/main" xmlns="" id="{43D99E4B-39E3-485A-876C-03D6A3B30384}"/>
              </a:ext>
            </a:extLst>
          </p:cNvPr>
          <p:cNvSpPr txBox="1"/>
          <p:nvPr/>
        </p:nvSpPr>
        <p:spPr>
          <a:xfrm>
            <a:off x="6285390" y="5930442"/>
            <a:ext cx="1971758" cy="461665"/>
          </a:xfrm>
          <a:prstGeom prst="rect">
            <a:avLst/>
          </a:prstGeom>
          <a:noFill/>
        </p:spPr>
        <p:txBody>
          <a:bodyPr wrap="none" rtlCol="0">
            <a:spAutoFit/>
          </a:bodyPr>
          <a:lstStyle/>
          <a:p>
            <a:r>
              <a:rPr lang="zh-TW" altLang="en-US" sz="2400" dirty="0"/>
              <a:t>計算</a:t>
            </a:r>
            <a:r>
              <a:rPr lang="en-US" altLang="zh-TW" sz="2400" dirty="0"/>
              <a:t>ERP(Q, S)</a:t>
            </a:r>
            <a:endParaRPr lang="zh-TW" altLang="en-US" sz="2400" dirty="0"/>
          </a:p>
        </p:txBody>
      </p:sp>
    </p:spTree>
    <p:extLst>
      <p:ext uri="{BB962C8B-B14F-4D97-AF65-F5344CB8AC3E}">
        <p14:creationId xmlns:p14="http://schemas.microsoft.com/office/powerpoint/2010/main" val="40479066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1F973B9-C309-47E5-BC94-802DC1732EB4}"/>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Pruning method</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Lower bound</a:t>
            </a:r>
            <a:endParaRPr lang="zh-TW" altLang="en-US" dirty="0"/>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xmlns="" id="{D8669F50-E8A0-4C66-86AA-A367DB1C28C3}"/>
                  </a:ext>
                </a:extLst>
              </p:cNvPr>
              <p:cNvSpPr txBox="1"/>
              <p:nvPr/>
            </p:nvSpPr>
            <p:spPr>
              <a:xfrm>
                <a:off x="2219418" y="2020671"/>
                <a:ext cx="4983095" cy="4901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𝐷𝐿𝐵</m:t>
                          </m:r>
                        </m:e>
                        <m:sub>
                          <m:r>
                            <a:rPr lang="en-US" altLang="zh-TW" sz="2400" b="0" i="1" smtClean="0">
                              <a:latin typeface="Cambria Math" panose="02040503050406030204" pitchFamily="18" charset="0"/>
                            </a:rPr>
                            <m:t>𝑒𝑟𝑝</m:t>
                          </m:r>
                        </m:sub>
                      </m:sSub>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𝑄</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𝑆</m:t>
                          </m:r>
                        </m:e>
                      </m:d>
                      <m:r>
                        <a:rPr lang="en-US" altLang="zh-TW" sz="2400" b="0" i="1" smtClean="0">
                          <a:latin typeface="Cambria Math" panose="02040503050406030204" pitchFamily="18" charset="0"/>
                        </a:rPr>
                        <m:t>=</m:t>
                      </m:r>
                      <m:d>
                        <m:dPr>
                          <m:begChr m:val="|"/>
                          <m:endChr m:val="|"/>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𝑠𝑢𝑚</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𝑄</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𝑠𝑢𝑚</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𝑆</m:t>
                          </m:r>
                          <m:r>
                            <a:rPr lang="en-US" altLang="zh-TW" sz="2400" b="0" i="1" smtClean="0">
                              <a:latin typeface="Cambria Math" panose="02040503050406030204" pitchFamily="18" charset="0"/>
                            </a:rPr>
                            <m:t>)</m:t>
                          </m:r>
                        </m:e>
                      </m:d>
                    </m:oMath>
                  </m:oMathPara>
                </a14:m>
                <a:endParaRPr lang="zh-TW" altLang="en-US" sz="2400" dirty="0"/>
              </a:p>
            </p:txBody>
          </p:sp>
        </mc:Choice>
        <mc:Fallback xmlns="">
          <p:sp>
            <p:nvSpPr>
              <p:cNvPr id="4" name="文字方塊 3">
                <a:extLst>
                  <a:ext uri="{FF2B5EF4-FFF2-40B4-BE49-F238E27FC236}">
                    <a16:creationId xmlns:a16="http://schemas.microsoft.com/office/drawing/2014/main" id="{D8669F50-E8A0-4C66-86AA-A367DB1C28C3}"/>
                  </a:ext>
                </a:extLst>
              </p:cNvPr>
              <p:cNvSpPr txBox="1">
                <a:spLocks noRot="1" noChangeAspect="1" noMove="1" noResize="1" noEditPoints="1" noAdjustHandles="1" noChangeArrowheads="1" noChangeShapeType="1" noTextEdit="1"/>
              </p:cNvSpPr>
              <p:nvPr/>
            </p:nvSpPr>
            <p:spPr>
              <a:xfrm>
                <a:off x="2219418" y="2020671"/>
                <a:ext cx="4983095" cy="490199"/>
              </a:xfrm>
              <a:prstGeom prst="rect">
                <a:avLst/>
              </a:prstGeom>
              <a:blipFill>
                <a:blip r:embed="rId2"/>
                <a:stretch>
                  <a:fillRect b="-1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xmlns="" id="{D44371CD-9D0B-4BB6-936B-251EDD2E18D4}"/>
                  </a:ext>
                </a:extLst>
              </p:cNvPr>
              <p:cNvSpPr txBox="1"/>
              <p:nvPr/>
            </p:nvSpPr>
            <p:spPr>
              <a:xfrm>
                <a:off x="2219418" y="2681056"/>
                <a:ext cx="1816074" cy="84856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𝑠𝑢𝑚</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𝑆</m:t>
                          </m:r>
                        </m:e>
                      </m:d>
                      <m:r>
                        <a:rPr lang="en-US" altLang="zh-TW" b="0" i="1" smtClean="0">
                          <a:latin typeface="Cambria Math" panose="02040503050406030204" pitchFamily="18" charset="0"/>
                        </a:rPr>
                        <m:t>=</m:t>
                      </m:r>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𝑛</m:t>
                          </m:r>
                        </m:sup>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𝑠</m:t>
                              </m:r>
                            </m:e>
                            <m:sub>
                              <m:r>
                                <a:rPr lang="en-US" altLang="zh-TW" b="0" i="1" smtClean="0">
                                  <a:latin typeface="Cambria Math" panose="02040503050406030204" pitchFamily="18" charset="0"/>
                                </a:rPr>
                                <m:t>𝑖</m:t>
                              </m:r>
                            </m:sub>
                          </m:sSub>
                        </m:e>
                      </m:nary>
                    </m:oMath>
                  </m:oMathPara>
                </a14:m>
                <a:endParaRPr lang="zh-TW" altLang="en-US" dirty="0"/>
              </a:p>
            </p:txBody>
          </p:sp>
        </mc:Choice>
        <mc:Fallback xmlns="">
          <p:sp>
            <p:nvSpPr>
              <p:cNvPr id="5" name="文字方塊 4">
                <a:extLst>
                  <a:ext uri="{FF2B5EF4-FFF2-40B4-BE49-F238E27FC236}">
                    <a16:creationId xmlns:a16="http://schemas.microsoft.com/office/drawing/2014/main" id="{D44371CD-9D0B-4BB6-936B-251EDD2E18D4}"/>
                  </a:ext>
                </a:extLst>
              </p:cNvPr>
              <p:cNvSpPr txBox="1">
                <a:spLocks noRot="1" noChangeAspect="1" noMove="1" noResize="1" noEditPoints="1" noAdjustHandles="1" noChangeArrowheads="1" noChangeShapeType="1" noTextEdit="1"/>
              </p:cNvSpPr>
              <p:nvPr/>
            </p:nvSpPr>
            <p:spPr>
              <a:xfrm>
                <a:off x="2219418" y="2681056"/>
                <a:ext cx="1816074" cy="848566"/>
              </a:xfrm>
              <a:prstGeom prst="rect">
                <a:avLst/>
              </a:prstGeom>
              <a:blipFill>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2067881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EB94B5E-F626-4769-B6A8-136C13D9459F}"/>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Pruning method</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Lower bound</a:t>
            </a:r>
            <a:endParaRPr lang="zh-TW" altLang="en-US" dirty="0"/>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xmlns="" id="{619E95DD-9BE1-434A-A771-F0CE99C5F697}"/>
                  </a:ext>
                </a:extLst>
              </p:cNvPr>
              <p:cNvSpPr txBox="1"/>
              <p:nvPr/>
            </p:nvSpPr>
            <p:spPr>
              <a:xfrm>
                <a:off x="5424331" y="1651049"/>
                <a:ext cx="4557145" cy="11179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𝑑𝑖𝑠𝑡</m:t>
                          </m:r>
                        </m:e>
                        <m:sub>
                          <m:r>
                            <a:rPr lang="en-US" altLang="zh-TW" b="0" i="1" smtClean="0">
                              <a:latin typeface="Cambria Math" panose="02040503050406030204" pitchFamily="18" charset="0"/>
                            </a:rPr>
                            <m:t>𝑒𝑟𝑝</m:t>
                          </m:r>
                        </m:sub>
                      </m:sSub>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𝑟</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𝑠</m:t>
                              </m:r>
                            </m:e>
                            <m:sub>
                              <m:r>
                                <a:rPr lang="en-US" altLang="zh-TW" b="0" i="1" smtClean="0">
                                  <a:latin typeface="Cambria Math" panose="02040503050406030204" pitchFamily="18" charset="0"/>
                                </a:rPr>
                                <m:t>𝑖</m:t>
                              </m:r>
                            </m:sub>
                          </m:sSub>
                        </m:e>
                      </m:d>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eqArr>
                            <m:eqArrPr>
                              <m:ctrlPr>
                                <a:rPr lang="en-US" altLang="zh-TW" b="0" i="1" smtClean="0">
                                  <a:latin typeface="Cambria Math" panose="02040503050406030204" pitchFamily="18" charset="0"/>
                                </a:rPr>
                              </m:ctrlPr>
                            </m:eqArrPr>
                            <m:e>
                              <m:r>
                                <a:rPr lang="en-US" altLang="zh-TW" b="0" i="1" smtClean="0">
                                  <a:latin typeface="Cambria Math" panose="02040503050406030204" pitchFamily="18" charset="0"/>
                                </a:rPr>
                                <m:t>&amp;</m:t>
                              </m:r>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𝑟</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𝑠</m:t>
                                      </m:r>
                                    </m:e>
                                    <m:sub>
                                      <m:r>
                                        <a:rPr lang="en-US" altLang="zh-TW" b="0" i="1" smtClean="0">
                                          <a:latin typeface="Cambria Math" panose="02040503050406030204" pitchFamily="18" charset="0"/>
                                        </a:rPr>
                                        <m:t>𝑖</m:t>
                                      </m:r>
                                    </m:sub>
                                  </m:sSub>
                                </m:e>
                              </m:d>
                              <m:r>
                                <a:rPr lang="en-US" altLang="zh-TW" b="0" i="1" smtClean="0">
                                  <a:latin typeface="Cambria Math" panose="02040503050406030204" pitchFamily="18" charset="0"/>
                                </a:rPr>
                                <m:t>   &amp;</m:t>
                              </m:r>
                              <m:r>
                                <a:rPr lang="en-US" altLang="zh-TW" b="0" i="1" smtClean="0">
                                  <a:latin typeface="Cambria Math" panose="02040503050406030204" pitchFamily="18" charset="0"/>
                                </a:rPr>
                                <m:t>𝑖𝑓</m:t>
                              </m:r>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𝑟</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𝑠</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 </m:t>
                              </m:r>
                              <m:r>
                                <a:rPr lang="en-US" altLang="zh-TW" b="0" i="1" smtClean="0">
                                  <a:latin typeface="Cambria Math" panose="02040503050406030204" pitchFamily="18" charset="0"/>
                                </a:rPr>
                                <m:t>𝑛𝑜𝑡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𝑔𝑎𝑝𝑠</m:t>
                              </m:r>
                            </m:e>
                            <m:e>
                              <m:r>
                                <a:rPr lang="en-US" altLang="zh-TW" b="0" i="1" smtClean="0">
                                  <a:latin typeface="Cambria Math" panose="02040503050406030204" pitchFamily="18" charset="0"/>
                                </a:rPr>
                                <m:t>&amp;</m:t>
                              </m:r>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𝑟</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𝑔</m:t>
                                  </m:r>
                                </m:e>
                              </m:d>
                              <m:r>
                                <a:rPr lang="en-US" altLang="zh-TW" b="0" i="1" smtClean="0">
                                  <a:latin typeface="Cambria Math" panose="02040503050406030204" pitchFamily="18" charset="0"/>
                                </a:rPr>
                                <m:t>&amp;</m:t>
                              </m:r>
                              <m:r>
                                <a:rPr lang="en-US" altLang="zh-TW" b="0" i="1" smtClean="0">
                                  <a:latin typeface="Cambria Math" panose="02040503050406030204" pitchFamily="18" charset="0"/>
                                </a:rPr>
                                <m:t>𝑖𝑓</m:t>
                              </m:r>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𝑠</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 </m:t>
                              </m:r>
                              <m:r>
                                <a:rPr lang="en-US" altLang="zh-TW" b="0" i="1" smtClean="0">
                                  <a:latin typeface="Cambria Math" panose="02040503050406030204" pitchFamily="18" charset="0"/>
                                </a:rPr>
                                <m:t>𝑖𝑠</m:t>
                              </m:r>
                              <m:r>
                                <a:rPr lang="en-US" altLang="zh-TW" b="0" i="1" smtClean="0">
                                  <a:latin typeface="Cambria Math" panose="02040503050406030204" pitchFamily="18" charset="0"/>
                                </a:rPr>
                                <m:t> </m:t>
                              </m:r>
                              <m:r>
                                <a:rPr lang="en-US" altLang="zh-TW" b="0" i="1" smtClean="0">
                                  <a:latin typeface="Cambria Math" panose="02040503050406030204" pitchFamily="18" charset="0"/>
                                </a:rPr>
                                <m:t>𝑎</m:t>
                              </m:r>
                              <m:r>
                                <a:rPr lang="en-US" altLang="zh-TW" b="0" i="1" smtClean="0">
                                  <a:latin typeface="Cambria Math" panose="02040503050406030204" pitchFamily="18" charset="0"/>
                                </a:rPr>
                                <m:t> </m:t>
                              </m:r>
                              <m:r>
                                <a:rPr lang="en-US" altLang="zh-TW" b="0" i="1" smtClean="0">
                                  <a:latin typeface="Cambria Math" panose="02040503050406030204" pitchFamily="18" charset="0"/>
                                </a:rPr>
                                <m:t>𝑔𝑎𝑝</m:t>
                              </m:r>
                            </m:e>
                            <m:e>
                              <m:r>
                                <a:rPr lang="en-US" altLang="zh-TW" b="0" i="1" smtClean="0">
                                  <a:latin typeface="Cambria Math" panose="02040503050406030204" pitchFamily="18" charset="0"/>
                                </a:rPr>
                                <m:t>&amp;</m:t>
                              </m:r>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𝑠</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𝑔</m:t>
                                  </m:r>
                                </m:e>
                              </m:d>
                              <m:r>
                                <a:rPr lang="en-US" altLang="zh-TW" b="0" i="1" smtClean="0">
                                  <a:latin typeface="Cambria Math" panose="02040503050406030204" pitchFamily="18" charset="0"/>
                                </a:rPr>
                                <m:t>&amp;</m:t>
                              </m:r>
                              <m:r>
                                <a:rPr lang="en-US" altLang="zh-TW" b="0" i="1" smtClean="0">
                                  <a:latin typeface="Cambria Math" panose="02040503050406030204" pitchFamily="18" charset="0"/>
                                </a:rPr>
                                <m:t>𝑖𝑓</m:t>
                              </m:r>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𝑟</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 </m:t>
                              </m:r>
                              <m:r>
                                <a:rPr lang="en-US" altLang="zh-TW" b="0" i="1" smtClean="0">
                                  <a:latin typeface="Cambria Math" panose="02040503050406030204" pitchFamily="18" charset="0"/>
                                </a:rPr>
                                <m:t>𝑖𝑠</m:t>
                              </m:r>
                              <m:r>
                                <a:rPr lang="en-US" altLang="zh-TW" b="0" i="1" smtClean="0">
                                  <a:latin typeface="Cambria Math" panose="02040503050406030204" pitchFamily="18" charset="0"/>
                                </a:rPr>
                                <m:t> </m:t>
                              </m:r>
                              <m:r>
                                <a:rPr lang="en-US" altLang="zh-TW" b="0" i="1" smtClean="0">
                                  <a:latin typeface="Cambria Math" panose="02040503050406030204" pitchFamily="18" charset="0"/>
                                </a:rPr>
                                <m:t>𝑎</m:t>
                              </m:r>
                              <m:r>
                                <a:rPr lang="en-US" altLang="zh-TW" b="0" i="1" smtClean="0">
                                  <a:latin typeface="Cambria Math" panose="02040503050406030204" pitchFamily="18" charset="0"/>
                                </a:rPr>
                                <m:t> </m:t>
                              </m:r>
                              <m:r>
                                <a:rPr lang="en-US" altLang="zh-TW" b="0" i="1" smtClean="0">
                                  <a:latin typeface="Cambria Math" panose="02040503050406030204" pitchFamily="18" charset="0"/>
                                </a:rPr>
                                <m:t>𝑔𝑎𝑝</m:t>
                              </m:r>
                            </m:e>
                          </m:eqArr>
                        </m:e>
                      </m:d>
                    </m:oMath>
                  </m:oMathPara>
                </a14:m>
                <a:endParaRPr lang="zh-TW" altLang="en-US" dirty="0"/>
              </a:p>
            </p:txBody>
          </p:sp>
        </mc:Choice>
        <mc:Fallback xmlns="">
          <p:sp>
            <p:nvSpPr>
              <p:cNvPr id="4" name="文字方塊 3">
                <a:extLst>
                  <a:ext uri="{FF2B5EF4-FFF2-40B4-BE49-F238E27FC236}">
                    <a16:creationId xmlns:a16="http://schemas.microsoft.com/office/drawing/2014/main" id="{619E95DD-9BE1-434A-A771-F0CE99C5F697}"/>
                  </a:ext>
                </a:extLst>
              </p:cNvPr>
              <p:cNvSpPr txBox="1">
                <a:spLocks noRot="1" noChangeAspect="1" noMove="1" noResize="1" noEditPoints="1" noAdjustHandles="1" noChangeArrowheads="1" noChangeShapeType="1" noTextEdit="1"/>
              </p:cNvSpPr>
              <p:nvPr/>
            </p:nvSpPr>
            <p:spPr>
              <a:xfrm>
                <a:off x="5424331" y="1651049"/>
                <a:ext cx="4557145" cy="1117998"/>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xmlns="" id="{03EF5FA7-4BD4-4193-899A-DC3306802C2F}"/>
                  </a:ext>
                </a:extLst>
              </p:cNvPr>
              <p:cNvSpPr txBox="1"/>
              <p:nvPr/>
            </p:nvSpPr>
            <p:spPr>
              <a:xfrm>
                <a:off x="1873264" y="2763634"/>
                <a:ext cx="2645019" cy="87126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𝐸𝑅𝑃</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𝑄</m:t>
                          </m:r>
                          <m:r>
                            <a:rPr lang="en-US" altLang="zh-TW" b="0" i="1" smtClean="0">
                              <a:latin typeface="Cambria Math" panose="02040503050406030204" pitchFamily="18" charset="0"/>
                            </a:rPr>
                            <m:t>,</m:t>
                          </m:r>
                          <m:r>
                            <a:rPr lang="en-US" altLang="zh-TW" b="0" i="1" smtClean="0">
                              <a:latin typeface="Cambria Math" panose="02040503050406030204" pitchFamily="18" charset="0"/>
                            </a:rPr>
                            <m:t>𝑆</m:t>
                          </m:r>
                        </m:e>
                      </m:d>
                      <m:r>
                        <a:rPr lang="en-US" altLang="zh-TW" b="0" i="1" smtClean="0">
                          <a:latin typeface="Cambria Math" panose="02040503050406030204" pitchFamily="18" charset="0"/>
                        </a:rPr>
                        <m:t>=</m:t>
                      </m:r>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𝐾</m:t>
                          </m:r>
                        </m:sup>
                        <m:e>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𝑠</m:t>
                                      </m:r>
                                    </m:e>
                                  </m:acc>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𝑞</m:t>
                                      </m:r>
                                    </m:e>
                                  </m:acc>
                                </m:e>
                                <m:sub>
                                  <m:r>
                                    <a:rPr lang="en-US" altLang="zh-TW" b="0" i="1" smtClean="0">
                                      <a:latin typeface="Cambria Math" panose="02040503050406030204" pitchFamily="18" charset="0"/>
                                    </a:rPr>
                                    <m:t>𝑖</m:t>
                                  </m:r>
                                </m:sub>
                              </m:sSub>
                            </m:e>
                          </m:d>
                        </m:e>
                      </m:nary>
                    </m:oMath>
                  </m:oMathPara>
                </a14:m>
                <a:endParaRPr lang="en-US" altLang="zh-TW" dirty="0"/>
              </a:p>
            </p:txBody>
          </p:sp>
        </mc:Choice>
        <mc:Fallback xmlns="">
          <p:sp>
            <p:nvSpPr>
              <p:cNvPr id="5" name="文字方塊 4">
                <a:extLst>
                  <a:ext uri="{FF2B5EF4-FFF2-40B4-BE49-F238E27FC236}">
                    <a16:creationId xmlns:a16="http://schemas.microsoft.com/office/drawing/2014/main" id="{03EF5FA7-4BD4-4193-899A-DC3306802C2F}"/>
                  </a:ext>
                </a:extLst>
              </p:cNvPr>
              <p:cNvSpPr txBox="1">
                <a:spLocks noRot="1" noChangeAspect="1" noMove="1" noResize="1" noEditPoints="1" noAdjustHandles="1" noChangeArrowheads="1" noChangeShapeType="1" noTextEdit="1"/>
              </p:cNvSpPr>
              <p:nvPr/>
            </p:nvSpPr>
            <p:spPr>
              <a:xfrm>
                <a:off x="1873264" y="2763634"/>
                <a:ext cx="2645019" cy="871264"/>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xmlns="" id="{41E5E62C-8EC1-418E-8EEA-51E9675D0588}"/>
                  </a:ext>
                </a:extLst>
              </p:cNvPr>
              <p:cNvSpPr txBox="1"/>
              <p:nvPr/>
            </p:nvSpPr>
            <p:spPr>
              <a:xfrm>
                <a:off x="2929632" y="3634898"/>
                <a:ext cx="1968103" cy="97270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rPr>
                        <m:t>≥</m:t>
                      </m:r>
                      <m:d>
                        <m:dPr>
                          <m:begChr m:val="|"/>
                          <m:endChr m:val="|"/>
                          <m:ctrlPr>
                            <a:rPr lang="en-US" altLang="zh-TW" i="1" smtClean="0">
                              <a:latin typeface="Cambria Math" panose="02040503050406030204" pitchFamily="18" charset="0"/>
                            </a:rPr>
                          </m:ctrlPr>
                        </m:dPr>
                        <m:e>
                          <m:nary>
                            <m:naryPr>
                              <m:chr m:val="∑"/>
                              <m:ctrlPr>
                                <a:rPr lang="en-US" altLang="zh-TW"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𝐾</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𝑠</m:t>
                                      </m:r>
                                    </m:e>
                                  </m:acc>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𝐾</m:t>
                                  </m:r>
                                </m:sup>
                                <m: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𝑞</m:t>
                                          </m:r>
                                        </m:e>
                                      </m:acc>
                                    </m:e>
                                    <m:sub>
                                      <m:r>
                                        <a:rPr lang="en-US" altLang="zh-TW" b="0" i="1" smtClean="0">
                                          <a:latin typeface="Cambria Math" panose="02040503050406030204" pitchFamily="18" charset="0"/>
                                        </a:rPr>
                                        <m:t>𝑖</m:t>
                                      </m:r>
                                    </m:sub>
                                  </m:sSub>
                                </m:e>
                              </m:nary>
                            </m:e>
                          </m:nary>
                        </m:e>
                      </m:d>
                    </m:oMath>
                  </m:oMathPara>
                </a14:m>
                <a:endParaRPr lang="zh-TW" altLang="en-US" dirty="0"/>
              </a:p>
            </p:txBody>
          </p:sp>
        </mc:Choice>
        <mc:Fallback xmlns="">
          <p:sp>
            <p:nvSpPr>
              <p:cNvPr id="6" name="文字方塊 5">
                <a:extLst>
                  <a:ext uri="{FF2B5EF4-FFF2-40B4-BE49-F238E27FC236}">
                    <a16:creationId xmlns:a16="http://schemas.microsoft.com/office/drawing/2014/main" id="{41E5E62C-8EC1-418E-8EEA-51E9675D0588}"/>
                  </a:ext>
                </a:extLst>
              </p:cNvPr>
              <p:cNvSpPr txBox="1">
                <a:spLocks noRot="1" noChangeAspect="1" noMove="1" noResize="1" noEditPoints="1" noAdjustHandles="1" noChangeArrowheads="1" noChangeShapeType="1" noTextEdit="1"/>
              </p:cNvSpPr>
              <p:nvPr/>
            </p:nvSpPr>
            <p:spPr>
              <a:xfrm>
                <a:off x="2929632" y="3634898"/>
                <a:ext cx="1968103" cy="972702"/>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xmlns="" id="{F44DFD1B-0172-4484-98F8-33A583F2EECC}"/>
                  </a:ext>
                </a:extLst>
              </p:cNvPr>
              <p:cNvSpPr txBox="1"/>
              <p:nvPr/>
            </p:nvSpPr>
            <p:spPr>
              <a:xfrm>
                <a:off x="2929181" y="4707844"/>
                <a:ext cx="1968103" cy="97270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d>
                        <m:dPr>
                          <m:begChr m:val="|"/>
                          <m:endChr m:val="|"/>
                          <m:ctrlPr>
                            <a:rPr lang="en-US" altLang="zh-TW" i="1" smtClean="0">
                              <a:latin typeface="Cambria Math" panose="02040503050406030204" pitchFamily="18" charset="0"/>
                            </a:rPr>
                          </m:ctrlPr>
                        </m:dPr>
                        <m:e>
                          <m:nary>
                            <m:naryPr>
                              <m:chr m:val="∑"/>
                              <m:ctrlPr>
                                <a:rPr lang="en-US" altLang="zh-TW"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𝐾</m:t>
                              </m:r>
                            </m:sup>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𝑠</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𝐾</m:t>
                                  </m:r>
                                </m:sup>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𝑞</m:t>
                                      </m:r>
                                    </m:e>
                                    <m:sub>
                                      <m:r>
                                        <a:rPr lang="en-US" altLang="zh-TW" b="0" i="1" smtClean="0">
                                          <a:latin typeface="Cambria Math" panose="02040503050406030204" pitchFamily="18" charset="0"/>
                                        </a:rPr>
                                        <m:t>𝑖</m:t>
                                      </m:r>
                                    </m:sub>
                                  </m:sSub>
                                </m:e>
                              </m:nary>
                            </m:e>
                          </m:nary>
                        </m:e>
                      </m:d>
                    </m:oMath>
                  </m:oMathPara>
                </a14:m>
                <a:endParaRPr lang="zh-TW" altLang="en-US" dirty="0"/>
              </a:p>
            </p:txBody>
          </p:sp>
        </mc:Choice>
        <mc:Fallback xmlns="">
          <p:sp>
            <p:nvSpPr>
              <p:cNvPr id="7" name="文字方塊 6">
                <a:extLst>
                  <a:ext uri="{FF2B5EF4-FFF2-40B4-BE49-F238E27FC236}">
                    <a16:creationId xmlns:a16="http://schemas.microsoft.com/office/drawing/2014/main" id="{F44DFD1B-0172-4484-98F8-33A583F2EECC}"/>
                  </a:ext>
                </a:extLst>
              </p:cNvPr>
              <p:cNvSpPr txBox="1">
                <a:spLocks noRot="1" noChangeAspect="1" noMove="1" noResize="1" noEditPoints="1" noAdjustHandles="1" noChangeArrowheads="1" noChangeShapeType="1" noTextEdit="1"/>
              </p:cNvSpPr>
              <p:nvPr/>
            </p:nvSpPr>
            <p:spPr>
              <a:xfrm>
                <a:off x="2929181" y="4707844"/>
                <a:ext cx="1968103" cy="972702"/>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xmlns="" id="{B884779B-DF47-4093-83AF-DA762C0B17CB}"/>
                  </a:ext>
                </a:extLst>
              </p:cNvPr>
              <p:cNvSpPr txBox="1"/>
              <p:nvPr/>
            </p:nvSpPr>
            <p:spPr>
              <a:xfrm>
                <a:off x="949986" y="2031787"/>
                <a:ext cx="3790974" cy="39074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𝐷𝐿𝐵</m:t>
                          </m:r>
                        </m:e>
                        <m:sub>
                          <m:r>
                            <a:rPr lang="en-US" altLang="zh-TW" b="0" i="1" smtClean="0">
                              <a:latin typeface="Cambria Math" panose="02040503050406030204" pitchFamily="18" charset="0"/>
                            </a:rPr>
                            <m:t>𝑒𝑟𝑝</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𝑄</m:t>
                          </m:r>
                          <m:r>
                            <a:rPr lang="en-US" altLang="zh-TW" b="0" i="1" smtClean="0">
                              <a:latin typeface="Cambria Math" panose="02040503050406030204" pitchFamily="18" charset="0"/>
                            </a:rPr>
                            <m:t>, </m:t>
                          </m:r>
                          <m:r>
                            <a:rPr lang="en-US" altLang="zh-TW" b="0" i="1" smtClean="0">
                              <a:latin typeface="Cambria Math" panose="02040503050406030204" pitchFamily="18" charset="0"/>
                            </a:rPr>
                            <m:t>𝑆</m:t>
                          </m:r>
                        </m:e>
                      </m:d>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𝑠𝑢𝑚</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𝑄</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𝑠𝑢𝑚</m:t>
                          </m:r>
                          <m:r>
                            <a:rPr lang="en-US" altLang="zh-TW" b="0" i="1" smtClean="0">
                              <a:latin typeface="Cambria Math" panose="02040503050406030204" pitchFamily="18" charset="0"/>
                            </a:rPr>
                            <m:t>(</m:t>
                          </m:r>
                          <m:r>
                            <a:rPr lang="en-US" altLang="zh-TW" b="0" i="1" smtClean="0">
                              <a:latin typeface="Cambria Math" panose="02040503050406030204" pitchFamily="18" charset="0"/>
                            </a:rPr>
                            <m:t>𝑆</m:t>
                          </m:r>
                          <m:r>
                            <a:rPr lang="en-US" altLang="zh-TW" b="0" i="1" smtClean="0">
                              <a:latin typeface="Cambria Math" panose="02040503050406030204" pitchFamily="18" charset="0"/>
                            </a:rPr>
                            <m:t>)</m:t>
                          </m:r>
                        </m:e>
                      </m:d>
                    </m:oMath>
                  </m:oMathPara>
                </a14:m>
                <a:endParaRPr lang="zh-TW" altLang="en-US" dirty="0"/>
              </a:p>
            </p:txBody>
          </p:sp>
        </mc:Choice>
        <mc:Fallback xmlns="">
          <p:sp>
            <p:nvSpPr>
              <p:cNvPr id="8" name="文字方塊 7">
                <a:extLst>
                  <a:ext uri="{FF2B5EF4-FFF2-40B4-BE49-F238E27FC236}">
                    <a16:creationId xmlns:a16="http://schemas.microsoft.com/office/drawing/2014/main" id="{B884779B-DF47-4093-83AF-DA762C0B17CB}"/>
                  </a:ext>
                </a:extLst>
              </p:cNvPr>
              <p:cNvSpPr txBox="1">
                <a:spLocks noRot="1" noChangeAspect="1" noMove="1" noResize="1" noEditPoints="1" noAdjustHandles="1" noChangeArrowheads="1" noChangeShapeType="1" noTextEdit="1"/>
              </p:cNvSpPr>
              <p:nvPr/>
            </p:nvSpPr>
            <p:spPr>
              <a:xfrm>
                <a:off x="949986" y="2031787"/>
                <a:ext cx="3790974" cy="390748"/>
              </a:xfrm>
              <a:prstGeom prst="rect">
                <a:avLst/>
              </a:prstGeom>
              <a:blipFill>
                <a:blip r:embed="rId6"/>
                <a:stretch>
                  <a:fillRect b="-937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xmlns="" id="{25C08B5F-67D0-4E0A-9B68-D04B080573F9}"/>
                  </a:ext>
                </a:extLst>
              </p:cNvPr>
              <p:cNvSpPr txBox="1"/>
              <p:nvPr/>
            </p:nvSpPr>
            <p:spPr>
              <a:xfrm>
                <a:off x="2929181" y="5912528"/>
                <a:ext cx="1819922" cy="39074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m:t>
                          </m:r>
                          <m:r>
                            <a:rPr lang="en-US" altLang="zh-TW" b="0" i="1" smtClean="0">
                              <a:latin typeface="Cambria Math" panose="02040503050406030204" pitchFamily="18" charset="0"/>
                            </a:rPr>
                            <m:t>𝐷𝐿𝐵</m:t>
                          </m:r>
                        </m:e>
                        <m:sub>
                          <m:r>
                            <a:rPr lang="en-US" altLang="zh-TW" b="0" i="1" smtClean="0">
                              <a:latin typeface="Cambria Math" panose="02040503050406030204" pitchFamily="18" charset="0"/>
                            </a:rPr>
                            <m:t>𝑒𝑟𝑝</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𝑄</m:t>
                          </m:r>
                          <m:r>
                            <a:rPr lang="en-US" altLang="zh-TW" b="0" i="1" smtClean="0">
                              <a:latin typeface="Cambria Math" panose="02040503050406030204" pitchFamily="18" charset="0"/>
                            </a:rPr>
                            <m:t>, </m:t>
                          </m:r>
                          <m:r>
                            <a:rPr lang="en-US" altLang="zh-TW" b="0" i="1" smtClean="0">
                              <a:latin typeface="Cambria Math" panose="02040503050406030204" pitchFamily="18" charset="0"/>
                            </a:rPr>
                            <m:t>𝑆</m:t>
                          </m:r>
                        </m:e>
                      </m:d>
                    </m:oMath>
                  </m:oMathPara>
                </a14:m>
                <a:endParaRPr lang="zh-TW" altLang="en-US" dirty="0"/>
              </a:p>
            </p:txBody>
          </p:sp>
        </mc:Choice>
        <mc:Fallback xmlns="">
          <p:sp>
            <p:nvSpPr>
              <p:cNvPr id="9" name="文字方塊 8">
                <a:extLst>
                  <a:ext uri="{FF2B5EF4-FFF2-40B4-BE49-F238E27FC236}">
                    <a16:creationId xmlns:a16="http://schemas.microsoft.com/office/drawing/2014/main" id="{25C08B5F-67D0-4E0A-9B68-D04B080573F9}"/>
                  </a:ext>
                </a:extLst>
              </p:cNvPr>
              <p:cNvSpPr txBox="1">
                <a:spLocks noRot="1" noChangeAspect="1" noMove="1" noResize="1" noEditPoints="1" noAdjustHandles="1" noChangeArrowheads="1" noChangeShapeType="1" noTextEdit="1"/>
              </p:cNvSpPr>
              <p:nvPr/>
            </p:nvSpPr>
            <p:spPr>
              <a:xfrm>
                <a:off x="2929181" y="5912528"/>
                <a:ext cx="1819922" cy="390748"/>
              </a:xfrm>
              <a:prstGeom prst="rect">
                <a:avLst/>
              </a:prstGeom>
              <a:blipFill>
                <a:blip r:embed="rId7"/>
                <a:stretch>
                  <a:fillRect b="-468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xmlns="" id="{C4D2E5B4-5E8F-47EE-B4E1-416DABE39EB7}"/>
                  </a:ext>
                </a:extLst>
              </p:cNvPr>
              <p:cNvSpPr txBox="1"/>
              <p:nvPr/>
            </p:nvSpPr>
            <p:spPr>
              <a:xfrm>
                <a:off x="5157926" y="5086905"/>
                <a:ext cx="1586140" cy="369332"/>
              </a:xfrm>
              <a:prstGeom prst="rect">
                <a:avLst/>
              </a:prstGeom>
              <a:noFill/>
            </p:spPr>
            <p:txBody>
              <a:bodyPr wrap="none" rtlCol="0">
                <a:spAutoFit/>
              </a:bodyPr>
              <a:lstStyle/>
              <a:p>
                <a:r>
                  <a:rPr lang="en-US" altLang="zh-TW" dirty="0"/>
                  <a:t>Because </a:t>
                </a:r>
                <a14:m>
                  <m:oMath xmlns:m="http://schemas.openxmlformats.org/officeDocument/2006/math">
                    <m:r>
                      <a:rPr lang="en-US" altLang="zh-TW" b="0" i="1" smtClean="0">
                        <a:latin typeface="Cambria Math" panose="02040503050406030204" pitchFamily="18" charset="0"/>
                      </a:rPr>
                      <m:t>𝑔</m:t>
                    </m:r>
                    <m:r>
                      <a:rPr lang="en-US" altLang="zh-TW" b="0" i="1" smtClean="0">
                        <a:latin typeface="Cambria Math" panose="02040503050406030204" pitchFamily="18" charset="0"/>
                      </a:rPr>
                      <m:t>=0</m:t>
                    </m:r>
                  </m:oMath>
                </a14:m>
                <a:endParaRPr lang="zh-TW" altLang="en-US" dirty="0"/>
              </a:p>
            </p:txBody>
          </p:sp>
        </mc:Choice>
        <mc:Fallback xmlns="">
          <p:sp>
            <p:nvSpPr>
              <p:cNvPr id="10" name="文字方塊 9">
                <a:extLst>
                  <a:ext uri="{FF2B5EF4-FFF2-40B4-BE49-F238E27FC236}">
                    <a16:creationId xmlns:a16="http://schemas.microsoft.com/office/drawing/2014/main" id="{C4D2E5B4-5E8F-47EE-B4E1-416DABE39EB7}"/>
                  </a:ext>
                </a:extLst>
              </p:cNvPr>
              <p:cNvSpPr txBox="1">
                <a:spLocks noRot="1" noChangeAspect="1" noMove="1" noResize="1" noEditPoints="1" noAdjustHandles="1" noChangeArrowheads="1" noChangeShapeType="1" noTextEdit="1"/>
              </p:cNvSpPr>
              <p:nvPr/>
            </p:nvSpPr>
            <p:spPr>
              <a:xfrm>
                <a:off x="5157926" y="5086905"/>
                <a:ext cx="1586140" cy="369332"/>
              </a:xfrm>
              <a:prstGeom prst="rect">
                <a:avLst/>
              </a:prstGeom>
              <a:blipFill>
                <a:blip r:embed="rId8"/>
                <a:stretch>
                  <a:fillRect l="-3077" t="-8197" b="-2459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409426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75BA0BC-671B-4E9E-9E11-C0EE3F76B795}"/>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Experiment</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xmlns="" id="{FE795902-F10D-45BA-ADC9-CAA9EECDA7F3}"/>
              </a:ext>
            </a:extLst>
          </p:cNvPr>
          <p:cNvSpPr txBox="1"/>
          <p:nvPr/>
        </p:nvSpPr>
        <p:spPr>
          <a:xfrm>
            <a:off x="1233996" y="1690688"/>
            <a:ext cx="5775748" cy="1015663"/>
          </a:xfrm>
          <a:prstGeom prst="rect">
            <a:avLst/>
          </a:prstGeom>
          <a:noFill/>
        </p:spPr>
        <p:txBody>
          <a:bodyPr wrap="none" rtlCol="0">
            <a:spAutoFit/>
          </a:bodyPr>
          <a:lstStyle/>
          <a:p>
            <a:r>
              <a:rPr lang="en-US" altLang="zh-TW" sz="2000" dirty="0"/>
              <a:t>24 datasets</a:t>
            </a:r>
          </a:p>
          <a:p>
            <a:r>
              <a:rPr lang="en-US" altLang="zh-TW" sz="2000" dirty="0"/>
              <a:t>Each dataset contains 200 time series with length 256</a:t>
            </a:r>
          </a:p>
          <a:p>
            <a:r>
              <a:rPr lang="en-US" altLang="zh-TW" sz="2000" dirty="0"/>
              <a:t>k = 20</a:t>
            </a:r>
            <a:endParaRPr lang="zh-TW" altLang="en-US" sz="2000" dirty="0"/>
          </a:p>
        </p:txBody>
      </p:sp>
      <mc:AlternateContent xmlns:mc="http://schemas.openxmlformats.org/markup-compatibility/2006" xmlns:a14="http://schemas.microsoft.com/office/drawing/2010/main">
        <mc:Choice Requires="a14">
          <p:graphicFrame>
            <p:nvGraphicFramePr>
              <p:cNvPr id="7" name="表格 6">
                <a:extLst>
                  <a:ext uri="{FF2B5EF4-FFF2-40B4-BE49-F238E27FC236}">
                    <a16:creationId xmlns:a16="http://schemas.microsoft.com/office/drawing/2014/main" xmlns="" id="{524397C4-7522-41A1-A78C-70C99C8E2049}"/>
                  </a:ext>
                </a:extLst>
              </p:cNvPr>
              <p:cNvGraphicFramePr>
                <a:graphicFrameLocks noGrp="1"/>
              </p:cNvGraphicFramePr>
              <p:nvPr>
                <p:extLst>
                  <p:ext uri="{D42A27DB-BD31-4B8C-83A1-F6EECF244321}">
                    <p14:modId xmlns:p14="http://schemas.microsoft.com/office/powerpoint/2010/main" val="2713899399"/>
                  </p:ext>
                </p:extLst>
              </p:nvPr>
            </p:nvGraphicFramePr>
            <p:xfrm>
              <a:off x="1544715" y="3366089"/>
              <a:ext cx="9259410" cy="1108257"/>
            </p:xfrm>
            <a:graphic>
              <a:graphicData uri="http://schemas.openxmlformats.org/drawingml/2006/table">
                <a:tbl>
                  <a:tblPr firstRow="1" bandRow="1">
                    <a:tableStyleId>{5C22544A-7EE6-4342-B048-85BDC9FD1C3A}</a:tableStyleId>
                  </a:tblPr>
                  <a:tblGrid>
                    <a:gridCol w="1851882">
                      <a:extLst>
                        <a:ext uri="{9D8B030D-6E8A-4147-A177-3AD203B41FA5}">
                          <a16:colId xmlns:a16="http://schemas.microsoft.com/office/drawing/2014/main" xmlns="" val="1771232420"/>
                        </a:ext>
                      </a:extLst>
                    </a:gridCol>
                    <a:gridCol w="1851882">
                      <a:extLst>
                        <a:ext uri="{9D8B030D-6E8A-4147-A177-3AD203B41FA5}">
                          <a16:colId xmlns:a16="http://schemas.microsoft.com/office/drawing/2014/main" xmlns="" val="3502812095"/>
                        </a:ext>
                      </a:extLst>
                    </a:gridCol>
                    <a:gridCol w="1851882">
                      <a:extLst>
                        <a:ext uri="{9D8B030D-6E8A-4147-A177-3AD203B41FA5}">
                          <a16:colId xmlns:a16="http://schemas.microsoft.com/office/drawing/2014/main" xmlns="" val="2039673026"/>
                        </a:ext>
                      </a:extLst>
                    </a:gridCol>
                    <a:gridCol w="1851882">
                      <a:extLst>
                        <a:ext uri="{9D8B030D-6E8A-4147-A177-3AD203B41FA5}">
                          <a16:colId xmlns:a16="http://schemas.microsoft.com/office/drawing/2014/main" xmlns="" val="464104793"/>
                        </a:ext>
                      </a:extLst>
                    </a:gridCol>
                    <a:gridCol w="1851882">
                      <a:extLst>
                        <a:ext uri="{9D8B030D-6E8A-4147-A177-3AD203B41FA5}">
                          <a16:colId xmlns:a16="http://schemas.microsoft.com/office/drawing/2014/main" xmlns="" val="491723427"/>
                        </a:ext>
                      </a:extLst>
                    </a:gridCol>
                  </a:tblGrid>
                  <a:tr h="569355">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2400" i="1" smtClean="0">
                                        <a:solidFill>
                                          <a:schemeClr val="tx1"/>
                                        </a:solidFill>
                                        <a:latin typeface="Cambria Math" panose="02040503050406030204" pitchFamily="18" charset="0"/>
                                      </a:rPr>
                                    </m:ctrlPr>
                                  </m:sSubPr>
                                  <m:e>
                                    <m:r>
                                      <a:rPr lang="en-US" altLang="zh-TW" sz="2400" b="1" i="1" smtClean="0">
                                        <a:solidFill>
                                          <a:schemeClr val="tx1"/>
                                        </a:solidFill>
                                        <a:latin typeface="Cambria Math" panose="02040503050406030204" pitchFamily="18" charset="0"/>
                                      </a:rPr>
                                      <m:t>𝑫𝑳𝑩</m:t>
                                    </m:r>
                                  </m:e>
                                  <m:sub>
                                    <m:r>
                                      <a:rPr lang="en-US" altLang="zh-TW" sz="2400" b="1" i="1" smtClean="0">
                                        <a:solidFill>
                                          <a:schemeClr val="tx1"/>
                                        </a:solidFill>
                                        <a:latin typeface="Cambria Math" panose="02040503050406030204" pitchFamily="18" charset="0"/>
                                      </a:rPr>
                                      <m:t>𝒌𝒊𝒎</m:t>
                                    </m:r>
                                  </m:sub>
                                </m:sSub>
                              </m:oMath>
                            </m:oMathPara>
                          </a14:m>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400" b="1" i="1" smtClean="0">
                                    <a:solidFill>
                                      <a:schemeClr val="tx1"/>
                                    </a:solidFill>
                                    <a:latin typeface="Cambria Math" panose="02040503050406030204" pitchFamily="18" charset="0"/>
                                  </a:rPr>
                                  <m:t>𝑫𝑳</m:t>
                                </m:r>
                                <m:sSub>
                                  <m:sSubPr>
                                    <m:ctrlPr>
                                      <a:rPr lang="en-US" altLang="zh-TW" sz="2400" b="1" i="1" smtClean="0">
                                        <a:solidFill>
                                          <a:schemeClr val="tx1"/>
                                        </a:solidFill>
                                        <a:latin typeface="Cambria Math" panose="02040503050406030204" pitchFamily="18" charset="0"/>
                                      </a:rPr>
                                    </m:ctrlPr>
                                  </m:sSubPr>
                                  <m:e>
                                    <m:r>
                                      <a:rPr lang="en-US" altLang="zh-TW" sz="2400" b="1" i="1" smtClean="0">
                                        <a:solidFill>
                                          <a:schemeClr val="tx1"/>
                                        </a:solidFill>
                                        <a:latin typeface="Cambria Math" panose="02040503050406030204" pitchFamily="18" charset="0"/>
                                      </a:rPr>
                                      <m:t>𝑩</m:t>
                                    </m:r>
                                  </m:e>
                                  <m:sub>
                                    <m:r>
                                      <a:rPr lang="en-US" altLang="zh-TW" sz="2400" b="1" i="1" smtClean="0">
                                        <a:solidFill>
                                          <a:schemeClr val="tx1"/>
                                        </a:solidFill>
                                        <a:latin typeface="Cambria Math" panose="02040503050406030204" pitchFamily="18" charset="0"/>
                                      </a:rPr>
                                      <m:t>𝒚𝒊</m:t>
                                    </m:r>
                                  </m:sub>
                                </m:sSub>
                              </m:oMath>
                            </m:oMathPara>
                          </a14:m>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400" b="1" i="1" smtClean="0">
                                    <a:solidFill>
                                      <a:schemeClr val="tx1"/>
                                    </a:solidFill>
                                    <a:latin typeface="Cambria Math" panose="02040503050406030204" pitchFamily="18" charset="0"/>
                                  </a:rPr>
                                  <m:t>𝑫𝑳</m:t>
                                </m:r>
                                <m:sSub>
                                  <m:sSubPr>
                                    <m:ctrlPr>
                                      <a:rPr lang="en-US" altLang="zh-TW" sz="2400" b="1" i="1" smtClean="0">
                                        <a:solidFill>
                                          <a:schemeClr val="tx1"/>
                                        </a:solidFill>
                                        <a:latin typeface="Cambria Math" panose="02040503050406030204" pitchFamily="18" charset="0"/>
                                      </a:rPr>
                                    </m:ctrlPr>
                                  </m:sSubPr>
                                  <m:e>
                                    <m:r>
                                      <a:rPr lang="en-US" altLang="zh-TW" sz="2400" b="1" i="1" smtClean="0">
                                        <a:solidFill>
                                          <a:schemeClr val="tx1"/>
                                        </a:solidFill>
                                        <a:latin typeface="Cambria Math" panose="02040503050406030204" pitchFamily="18" charset="0"/>
                                      </a:rPr>
                                      <m:t>𝑩</m:t>
                                    </m:r>
                                  </m:e>
                                  <m:sub>
                                    <m:r>
                                      <a:rPr lang="en-US" altLang="zh-TW" sz="2400" b="1" i="1" smtClean="0">
                                        <a:solidFill>
                                          <a:schemeClr val="tx1"/>
                                        </a:solidFill>
                                        <a:latin typeface="Cambria Math" panose="02040503050406030204" pitchFamily="18" charset="0"/>
                                      </a:rPr>
                                      <m:t>𝒌𝒆𝒐𝒈𝒉</m:t>
                                    </m:r>
                                  </m:sub>
                                </m:sSub>
                              </m:oMath>
                            </m:oMathPara>
                          </a14:m>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400" b="1" i="1" smtClean="0">
                                    <a:solidFill>
                                      <a:schemeClr val="tx1"/>
                                    </a:solidFill>
                                    <a:latin typeface="Cambria Math" panose="02040503050406030204" pitchFamily="18" charset="0"/>
                                  </a:rPr>
                                  <m:t>𝑫𝑳</m:t>
                                </m:r>
                                <m:sSub>
                                  <m:sSubPr>
                                    <m:ctrlPr>
                                      <a:rPr lang="en-US" altLang="zh-TW" sz="2400" b="1" i="1" smtClean="0">
                                        <a:solidFill>
                                          <a:schemeClr val="tx1"/>
                                        </a:solidFill>
                                        <a:latin typeface="Cambria Math" panose="02040503050406030204" pitchFamily="18" charset="0"/>
                                      </a:rPr>
                                    </m:ctrlPr>
                                  </m:sSubPr>
                                  <m:e>
                                    <m:r>
                                      <a:rPr lang="en-US" altLang="zh-TW" sz="2400" b="1" i="1" smtClean="0">
                                        <a:solidFill>
                                          <a:schemeClr val="tx1"/>
                                        </a:solidFill>
                                        <a:latin typeface="Cambria Math" panose="02040503050406030204" pitchFamily="18" charset="0"/>
                                      </a:rPr>
                                      <m:t>𝑩</m:t>
                                    </m:r>
                                  </m:e>
                                  <m:sub>
                                    <m:r>
                                      <a:rPr lang="en-US" altLang="zh-TW" sz="2400" b="1" i="1" smtClean="0">
                                        <a:solidFill>
                                          <a:schemeClr val="tx1"/>
                                        </a:solidFill>
                                        <a:latin typeface="Cambria Math" panose="02040503050406030204" pitchFamily="18" charset="0"/>
                                      </a:rPr>
                                      <m:t>𝒆𝒓𝒑</m:t>
                                    </m:r>
                                  </m:sub>
                                </m:sSub>
                              </m:oMath>
                            </m:oMathPara>
                          </a14:m>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400" b="1" i="1" smtClean="0">
                                    <a:solidFill>
                                      <a:schemeClr val="tx1"/>
                                    </a:solidFill>
                                    <a:latin typeface="Cambria Math" panose="02040503050406030204" pitchFamily="18" charset="0"/>
                                  </a:rPr>
                                  <m:t>𝑻𝑹</m:t>
                                </m:r>
                              </m:oMath>
                            </m:oMathPara>
                          </a14:m>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189755815"/>
                      </a:ext>
                    </a:extLst>
                  </a:tr>
                  <a:tr h="538902">
                    <a:tc>
                      <a:txBody>
                        <a:bodyPr/>
                        <a:lstStyle/>
                        <a:p>
                          <a:pPr algn="ctr"/>
                          <a:r>
                            <a:rPr lang="en-US" altLang="zh-TW" sz="2400" dirty="0">
                              <a:solidFill>
                                <a:schemeClr val="tx1"/>
                              </a:solidFill>
                            </a:rPr>
                            <a:t>0.0</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rPr>
                            <a:t>0.28</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rPr>
                            <a:t>0.44</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rPr>
                            <a:t>0.54</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rPr>
                            <a:t>0.63</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83900955"/>
                      </a:ext>
                    </a:extLst>
                  </a:tr>
                </a:tbl>
              </a:graphicData>
            </a:graphic>
          </p:graphicFrame>
        </mc:Choice>
        <mc:Fallback xmlns="">
          <p:graphicFrame>
            <p:nvGraphicFramePr>
              <p:cNvPr id="7" name="表格 6">
                <a:extLst>
                  <a:ext uri="{FF2B5EF4-FFF2-40B4-BE49-F238E27FC236}">
                    <a16:creationId xmlns:a16="http://schemas.microsoft.com/office/drawing/2014/main" id="{524397C4-7522-41A1-A78C-70C99C8E2049}"/>
                  </a:ext>
                </a:extLst>
              </p:cNvPr>
              <p:cNvGraphicFramePr>
                <a:graphicFrameLocks noGrp="1"/>
              </p:cNvGraphicFramePr>
              <p:nvPr>
                <p:extLst>
                  <p:ext uri="{D42A27DB-BD31-4B8C-83A1-F6EECF244321}">
                    <p14:modId xmlns:p14="http://schemas.microsoft.com/office/powerpoint/2010/main" val="2713899399"/>
                  </p:ext>
                </p:extLst>
              </p:nvPr>
            </p:nvGraphicFramePr>
            <p:xfrm>
              <a:off x="1544715" y="3366089"/>
              <a:ext cx="9259410" cy="1108257"/>
            </p:xfrm>
            <a:graphic>
              <a:graphicData uri="http://schemas.openxmlformats.org/drawingml/2006/table">
                <a:tbl>
                  <a:tblPr firstRow="1" bandRow="1">
                    <a:tableStyleId>{5C22544A-7EE6-4342-B048-85BDC9FD1C3A}</a:tableStyleId>
                  </a:tblPr>
                  <a:tblGrid>
                    <a:gridCol w="1851882">
                      <a:extLst>
                        <a:ext uri="{9D8B030D-6E8A-4147-A177-3AD203B41FA5}">
                          <a16:colId xmlns:a16="http://schemas.microsoft.com/office/drawing/2014/main" val="1771232420"/>
                        </a:ext>
                      </a:extLst>
                    </a:gridCol>
                    <a:gridCol w="1851882">
                      <a:extLst>
                        <a:ext uri="{9D8B030D-6E8A-4147-A177-3AD203B41FA5}">
                          <a16:colId xmlns:a16="http://schemas.microsoft.com/office/drawing/2014/main" val="3502812095"/>
                        </a:ext>
                      </a:extLst>
                    </a:gridCol>
                    <a:gridCol w="1851882">
                      <a:extLst>
                        <a:ext uri="{9D8B030D-6E8A-4147-A177-3AD203B41FA5}">
                          <a16:colId xmlns:a16="http://schemas.microsoft.com/office/drawing/2014/main" val="2039673026"/>
                        </a:ext>
                      </a:extLst>
                    </a:gridCol>
                    <a:gridCol w="1851882">
                      <a:extLst>
                        <a:ext uri="{9D8B030D-6E8A-4147-A177-3AD203B41FA5}">
                          <a16:colId xmlns:a16="http://schemas.microsoft.com/office/drawing/2014/main" val="464104793"/>
                        </a:ext>
                      </a:extLst>
                    </a:gridCol>
                    <a:gridCol w="1851882">
                      <a:extLst>
                        <a:ext uri="{9D8B030D-6E8A-4147-A177-3AD203B41FA5}">
                          <a16:colId xmlns:a16="http://schemas.microsoft.com/office/drawing/2014/main" val="491723427"/>
                        </a:ext>
                      </a:extLst>
                    </a:gridCol>
                  </a:tblGrid>
                  <a:tr h="569355">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9" t="-1064" r="-400658" b="-104255"/>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329" t="-1064" r="-300658" b="-104255"/>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329" t="-1064" r="-200658" b="-104255"/>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329" t="-1064" r="-100658" b="-104255"/>
                          </a:stretch>
                        </a:blipFill>
                      </a:tcPr>
                    </a:tc>
                    <a:tc>
                      <a:txBody>
                        <a:bodyPr/>
                        <a:lstStyle/>
                        <a:p>
                          <a:endParaRPr lang="zh-TW"/>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329" t="-1064" r="-658" b="-104255"/>
                          </a:stretch>
                        </a:blipFill>
                      </a:tcPr>
                    </a:tc>
                    <a:extLst>
                      <a:ext uri="{0D108BD9-81ED-4DB2-BD59-A6C34878D82A}">
                        <a16:rowId xmlns:a16="http://schemas.microsoft.com/office/drawing/2014/main" val="2189755815"/>
                      </a:ext>
                    </a:extLst>
                  </a:tr>
                  <a:tr h="538902">
                    <a:tc>
                      <a:txBody>
                        <a:bodyPr/>
                        <a:lstStyle/>
                        <a:p>
                          <a:pPr algn="ctr"/>
                          <a:r>
                            <a:rPr lang="en-US" altLang="zh-TW" sz="2400" dirty="0">
                              <a:solidFill>
                                <a:schemeClr val="tx1"/>
                              </a:solidFill>
                            </a:rPr>
                            <a:t>0.0</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rPr>
                            <a:t>0.28</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rPr>
                            <a:t>0.44</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rPr>
                            <a:t>0.54</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rPr>
                            <a:t>0.63</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3900955"/>
                      </a:ext>
                    </a:extLst>
                  </a:tr>
                </a:tbl>
              </a:graphicData>
            </a:graphic>
          </p:graphicFrame>
        </mc:Fallback>
      </mc:AlternateContent>
    </p:spTree>
    <p:extLst>
      <p:ext uri="{BB962C8B-B14F-4D97-AF65-F5344CB8AC3E}">
        <p14:creationId xmlns:p14="http://schemas.microsoft.com/office/powerpoint/2010/main" val="408033329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3414667-21C3-4FAE-9013-C147551383C6}"/>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Experiment</a:t>
            </a:r>
            <a:endParaRPr lang="zh-TW" altLang="en-US" dirty="0"/>
          </a:p>
        </p:txBody>
      </p:sp>
      <p:graphicFrame>
        <p:nvGraphicFramePr>
          <p:cNvPr id="6" name="表格 5">
            <a:extLst>
              <a:ext uri="{FF2B5EF4-FFF2-40B4-BE49-F238E27FC236}">
                <a16:creationId xmlns:a16="http://schemas.microsoft.com/office/drawing/2014/main" xmlns="" id="{498EBF64-D6BD-451D-B0EA-09B145B6D4D4}"/>
              </a:ext>
            </a:extLst>
          </p:cNvPr>
          <p:cNvGraphicFramePr>
            <a:graphicFrameLocks noGrp="1"/>
          </p:cNvGraphicFramePr>
          <p:nvPr>
            <p:extLst>
              <p:ext uri="{D42A27DB-BD31-4B8C-83A1-F6EECF244321}">
                <p14:modId xmlns:p14="http://schemas.microsoft.com/office/powerpoint/2010/main" val="976639796"/>
              </p:ext>
            </p:extLst>
          </p:nvPr>
        </p:nvGraphicFramePr>
        <p:xfrm>
          <a:off x="1100338" y="2918208"/>
          <a:ext cx="9991323" cy="1937877"/>
        </p:xfrm>
        <a:graphic>
          <a:graphicData uri="http://schemas.openxmlformats.org/drawingml/2006/table">
            <a:tbl>
              <a:tblPr firstRow="1" bandRow="1">
                <a:tableStyleId>{5C22544A-7EE6-4342-B048-85BDC9FD1C3A}</a:tableStyleId>
              </a:tblPr>
              <a:tblGrid>
                <a:gridCol w="1110147">
                  <a:extLst>
                    <a:ext uri="{9D8B030D-6E8A-4147-A177-3AD203B41FA5}">
                      <a16:colId xmlns:a16="http://schemas.microsoft.com/office/drawing/2014/main" xmlns="" val="633727344"/>
                    </a:ext>
                  </a:extLst>
                </a:gridCol>
                <a:gridCol w="1110147">
                  <a:extLst>
                    <a:ext uri="{9D8B030D-6E8A-4147-A177-3AD203B41FA5}">
                      <a16:colId xmlns:a16="http://schemas.microsoft.com/office/drawing/2014/main" xmlns="" val="2545979124"/>
                    </a:ext>
                  </a:extLst>
                </a:gridCol>
                <a:gridCol w="1110147">
                  <a:extLst>
                    <a:ext uri="{9D8B030D-6E8A-4147-A177-3AD203B41FA5}">
                      <a16:colId xmlns:a16="http://schemas.microsoft.com/office/drawing/2014/main" xmlns="" val="1428649388"/>
                    </a:ext>
                  </a:extLst>
                </a:gridCol>
                <a:gridCol w="1110147">
                  <a:extLst>
                    <a:ext uri="{9D8B030D-6E8A-4147-A177-3AD203B41FA5}">
                      <a16:colId xmlns:a16="http://schemas.microsoft.com/office/drawing/2014/main" xmlns="" val="1469032419"/>
                    </a:ext>
                  </a:extLst>
                </a:gridCol>
                <a:gridCol w="1110147">
                  <a:extLst>
                    <a:ext uri="{9D8B030D-6E8A-4147-A177-3AD203B41FA5}">
                      <a16:colId xmlns:a16="http://schemas.microsoft.com/office/drawing/2014/main" xmlns="" val="2595866140"/>
                    </a:ext>
                  </a:extLst>
                </a:gridCol>
                <a:gridCol w="1110147">
                  <a:extLst>
                    <a:ext uri="{9D8B030D-6E8A-4147-A177-3AD203B41FA5}">
                      <a16:colId xmlns:a16="http://schemas.microsoft.com/office/drawing/2014/main" xmlns="" val="3907508390"/>
                    </a:ext>
                  </a:extLst>
                </a:gridCol>
                <a:gridCol w="1110147">
                  <a:extLst>
                    <a:ext uri="{9D8B030D-6E8A-4147-A177-3AD203B41FA5}">
                      <a16:colId xmlns:a16="http://schemas.microsoft.com/office/drawing/2014/main" xmlns="" val="1279647835"/>
                    </a:ext>
                  </a:extLst>
                </a:gridCol>
                <a:gridCol w="1110147">
                  <a:extLst>
                    <a:ext uri="{9D8B030D-6E8A-4147-A177-3AD203B41FA5}">
                      <a16:colId xmlns:a16="http://schemas.microsoft.com/office/drawing/2014/main" xmlns="" val="1718144301"/>
                    </a:ext>
                  </a:extLst>
                </a:gridCol>
                <a:gridCol w="1110147">
                  <a:extLst>
                    <a:ext uri="{9D8B030D-6E8A-4147-A177-3AD203B41FA5}">
                      <a16:colId xmlns:a16="http://schemas.microsoft.com/office/drawing/2014/main" xmlns="" val="2389653308"/>
                    </a:ext>
                  </a:extLst>
                </a:gridCol>
              </a:tblGrid>
              <a:tr h="645959">
                <a:tc rowSpan="2">
                  <a:txBody>
                    <a:bodyPr/>
                    <a:lstStyle/>
                    <a:p>
                      <a:pPr algn="ctr"/>
                      <a:r>
                        <a:rPr lang="en-US" altLang="zh-TW" sz="2400" dirty="0">
                          <a:solidFill>
                            <a:schemeClr val="tx1"/>
                          </a:solidFill>
                        </a:rPr>
                        <a:t>M-tree</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en-US" altLang="zh-TW" sz="2400" dirty="0">
                          <a:solidFill>
                            <a:schemeClr val="tx1"/>
                          </a:solidFill>
                        </a:rPr>
                        <a:t>TR</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en-US" altLang="zh-TW" sz="2400" dirty="0" err="1">
                          <a:solidFill>
                            <a:schemeClr val="tx1"/>
                          </a:solidFill>
                        </a:rPr>
                        <a:t>B+tree</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ctr"/>
                      <a:r>
                        <a:rPr lang="en-US" altLang="zh-TW" sz="2400" dirty="0">
                          <a:solidFill>
                            <a:schemeClr val="tx1"/>
                          </a:solidFill>
                        </a:rPr>
                        <a:t>B+TR(static)</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lgn="ctr"/>
                      <a:r>
                        <a:rPr lang="en-US" altLang="zh-TW" sz="2400" dirty="0">
                          <a:solidFill>
                            <a:schemeClr val="tx1"/>
                          </a:solidFill>
                        </a:rPr>
                        <a:t>B+TR(dynamic)</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42004042"/>
                  </a:ext>
                </a:extLst>
              </a:tr>
              <a:tr h="645959">
                <a:tc v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rPr>
                        <a:t>20</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rPr>
                        <a:t>50</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rPr>
                        <a:t>100</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rPr>
                        <a:t>20</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rPr>
                        <a:t>50</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rPr>
                        <a:t>100</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658123164"/>
                  </a:ext>
                </a:extLst>
              </a:tr>
              <a:tr h="645959">
                <a:tc>
                  <a:txBody>
                    <a:bodyPr/>
                    <a:lstStyle/>
                    <a:p>
                      <a:pPr algn="ctr"/>
                      <a:r>
                        <a:rPr lang="en-US" altLang="zh-TW" sz="2400" dirty="0">
                          <a:solidFill>
                            <a:schemeClr val="tx1"/>
                          </a:solidFill>
                        </a:rPr>
                        <a:t>0.59</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rPr>
                        <a:t>0.63</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rPr>
                        <a:t>0.72</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rPr>
                        <a:t>0.76</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rPr>
                        <a:t>0.80</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rPr>
                        <a:t>0.82</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rPr>
                        <a:t>0.74</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rPr>
                        <a:t>0.76</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400" dirty="0">
                          <a:solidFill>
                            <a:schemeClr val="tx1"/>
                          </a:solidFill>
                        </a:rPr>
                        <a:t>0.77</a:t>
                      </a:r>
                      <a:endParaRPr lang="zh-TW"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857761917"/>
                  </a:ext>
                </a:extLst>
              </a:tr>
            </a:tbl>
          </a:graphicData>
        </a:graphic>
      </p:graphicFrame>
    </p:spTree>
    <p:extLst>
      <p:ext uri="{BB962C8B-B14F-4D97-AF65-F5344CB8AC3E}">
        <p14:creationId xmlns:p14="http://schemas.microsoft.com/office/powerpoint/2010/main" val="40963692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74637EA-A75B-46DA-82CE-BF0ADD7E372D}"/>
              </a:ext>
            </a:extLst>
          </p:cNvPr>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Experiment</a:t>
            </a:r>
            <a:endParaRPr lang="zh-TW" altLang="en-US" dirty="0"/>
          </a:p>
        </p:txBody>
      </p:sp>
      <p:pic>
        <p:nvPicPr>
          <p:cNvPr id="5" name="圖片 4">
            <a:extLst>
              <a:ext uri="{FF2B5EF4-FFF2-40B4-BE49-F238E27FC236}">
                <a16:creationId xmlns:a16="http://schemas.microsoft.com/office/drawing/2014/main" xmlns="" id="{D9B7EFE2-927F-4233-AA96-3B629FB95C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1362" y="1690688"/>
            <a:ext cx="9989275" cy="4176608"/>
          </a:xfrm>
          <a:prstGeom prst="rect">
            <a:avLst/>
          </a:prstGeom>
        </p:spPr>
      </p:pic>
      <p:sp>
        <p:nvSpPr>
          <p:cNvPr id="6" name="文字方塊 5">
            <a:extLst>
              <a:ext uri="{FF2B5EF4-FFF2-40B4-BE49-F238E27FC236}">
                <a16:creationId xmlns:a16="http://schemas.microsoft.com/office/drawing/2014/main" xmlns="" id="{34B98E8E-C20E-4A05-95F3-0F038657CF5D}"/>
              </a:ext>
            </a:extLst>
          </p:cNvPr>
          <p:cNvSpPr txBox="1"/>
          <p:nvPr/>
        </p:nvSpPr>
        <p:spPr>
          <a:xfrm>
            <a:off x="2601158" y="5983550"/>
            <a:ext cx="627095" cy="369332"/>
          </a:xfrm>
          <a:prstGeom prst="rect">
            <a:avLst/>
          </a:prstGeom>
          <a:noFill/>
        </p:spPr>
        <p:txBody>
          <a:bodyPr wrap="none" rtlCol="0">
            <a:spAutoFit/>
          </a:bodyPr>
          <a:lstStyle/>
          <a:p>
            <a:r>
              <a:rPr lang="en-US" altLang="zh-TW" dirty="0"/>
              <a:t>k = 5</a:t>
            </a:r>
            <a:endParaRPr lang="zh-TW" altLang="en-US" dirty="0"/>
          </a:p>
        </p:txBody>
      </p:sp>
      <p:sp>
        <p:nvSpPr>
          <p:cNvPr id="7" name="文字方塊 6">
            <a:extLst>
              <a:ext uri="{FF2B5EF4-FFF2-40B4-BE49-F238E27FC236}">
                <a16:creationId xmlns:a16="http://schemas.microsoft.com/office/drawing/2014/main" xmlns="" id="{5FB48C2B-A77A-469D-8D58-2CC96CB8AAD1}"/>
              </a:ext>
            </a:extLst>
          </p:cNvPr>
          <p:cNvSpPr txBox="1"/>
          <p:nvPr/>
        </p:nvSpPr>
        <p:spPr>
          <a:xfrm>
            <a:off x="7600766" y="5983550"/>
            <a:ext cx="744114" cy="369332"/>
          </a:xfrm>
          <a:prstGeom prst="rect">
            <a:avLst/>
          </a:prstGeom>
          <a:noFill/>
        </p:spPr>
        <p:txBody>
          <a:bodyPr wrap="none" rtlCol="0">
            <a:spAutoFit/>
          </a:bodyPr>
          <a:lstStyle/>
          <a:p>
            <a:r>
              <a:rPr lang="en-US" altLang="zh-TW" dirty="0"/>
              <a:t>k = 20</a:t>
            </a:r>
            <a:endParaRPr lang="zh-TW" altLang="en-US" dirty="0"/>
          </a:p>
        </p:txBody>
      </p:sp>
    </p:spTree>
    <p:extLst>
      <p:ext uri="{BB962C8B-B14F-4D97-AF65-F5344CB8AC3E}">
        <p14:creationId xmlns:p14="http://schemas.microsoft.com/office/powerpoint/2010/main" val="260422538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287</TotalTime>
  <Words>642</Words>
  <Application>Microsoft Office PowerPoint</Application>
  <PresentationFormat>寬螢幕</PresentationFormat>
  <Paragraphs>121</Paragraphs>
  <Slides>17</Slides>
  <Notes>1</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17</vt:i4>
      </vt:variant>
    </vt:vector>
  </HeadingPairs>
  <TitlesOfParts>
    <vt:vector size="24" baseType="lpstr">
      <vt:lpstr>新細明體</vt:lpstr>
      <vt:lpstr>Arial</vt:lpstr>
      <vt:lpstr>Calibri</vt:lpstr>
      <vt:lpstr>Calibri Light</vt:lpstr>
      <vt:lpstr>Cambria Math</vt:lpstr>
      <vt:lpstr>Times New Roman</vt:lpstr>
      <vt:lpstr>Office 佈景主題</vt:lpstr>
      <vt:lpstr>On the Marriage of Lp-norms and Edit Distance</vt:lpstr>
      <vt:lpstr>Abstract(1/2)</vt:lpstr>
      <vt:lpstr>Abstract(2/2)</vt:lpstr>
      <vt:lpstr>PowerPoint 簡報</vt:lpstr>
      <vt:lpstr>Edit Distance</vt:lpstr>
      <vt:lpstr>Edit Distance</vt:lpstr>
      <vt:lpstr>Edit Distance</vt:lpstr>
      <vt:lpstr>DTW</vt:lpstr>
      <vt:lpstr>ERP</vt:lpstr>
      <vt:lpstr>Pruning method</vt:lpstr>
      <vt:lpstr>Pruning method — Triangle inequality</vt:lpstr>
      <vt:lpstr>Pruning method — Triangle inequality</vt:lpstr>
      <vt:lpstr>Pruning method — Lower bound</vt:lpstr>
      <vt:lpstr>Pruning method — Lower bound</vt:lpstr>
      <vt:lpstr>Experiment</vt:lpstr>
      <vt:lpstr>Experiment</vt:lpstr>
      <vt:lpstr>Experiment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 The Marriage of Lp-norms and Edit Distance</dc:title>
  <dc:creator>Caros</dc:creator>
  <cp:lastModifiedBy>pplab-class</cp:lastModifiedBy>
  <cp:revision>59</cp:revision>
  <dcterms:created xsi:type="dcterms:W3CDTF">2017-10-31T05:22:56Z</dcterms:created>
  <dcterms:modified xsi:type="dcterms:W3CDTF">2017-10-31T12:44:56Z</dcterms:modified>
</cp:coreProperties>
</file>