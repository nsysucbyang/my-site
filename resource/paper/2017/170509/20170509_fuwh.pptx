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0080625" cy="7559675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fu" initials="w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5B9BD5"/>
          </a:solidFill>
        </a:fill>
      </a:tcStyle>
    </a:band1H>
    <a:band1V>
      <a:tcStyle>
        <a:tcBdr/>
        <a:fill>
          <a:solidFill>
            <a:srgbClr val="5B9BD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E8B1032C-EA38-4F05-BA0D-38AFFFC7BED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70AD47"/>
          </a:solidFill>
        </a:fill>
      </a:tcStyle>
    </a:band1H>
    <a:band1V>
      <a:tcStyle>
        <a:tcBdr/>
        <a:fill>
          <a:solidFill>
            <a:srgbClr val="70AD4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EB344D84-9AFB-497E-A393-DC336BA19D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5" autoAdjust="0"/>
  </p:normalViewPr>
  <p:slideViewPr>
    <p:cSldViewPr snapToGrid="0">
      <p:cViewPr>
        <p:scale>
          <a:sx n="50" d="100"/>
          <a:sy n="50" d="100"/>
        </p:scale>
        <p:origin x="-1812" y="-336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227E8C-9554-460F-B633-51D5AD774E1F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13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頁首版面配置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78A57073-AB8B-4F7A-BB5E-FAEF8A970D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3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微軟正黑體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66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6BFC27-068B-4B72-92F7-9C821F0A3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842836-F473-4F88-8FC5-E6506225D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9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6D477E-DD58-4DE2-94A6-FBA23A924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2D141D-6966-43C1-8EB1-BB4818DFA3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82990-A4FF-4906-9C3D-CE47CFC3DC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CCA10-4506-4689-B9C6-7A25C650BA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413963-2284-408C-A1F3-BA9C90A14B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0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59FB30-6DA3-498A-B3E4-39789FBB38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DDE591-0FAF-4F51-A0C1-3BEDC4250A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523178-8C3C-4D5B-987E-9C6DE9B052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83D96B-BEA4-46BB-A345-50D7E40AC1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FA3188D1-A64F-4C0D-9118-94DC8B17CC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zh-TW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4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0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576355" y="3405091"/>
            <a:ext cx="9071643" cy="830997"/>
          </a:xfrm>
        </p:spPr>
        <p:txBody>
          <a:bodyPr>
            <a:spAutoFit/>
          </a:bodyPr>
          <a:lstStyle/>
          <a:p>
            <a:pPr lvl="0"/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Procedia Computer </a:t>
            </a:r>
            <a:r>
              <a:rPr lang="en-US" altLang="zh-TW" sz="2700" b="1" dirty="0" smtClean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Science, 2015,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/>
            </a:r>
            <a:b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Y.H. </a:t>
            </a:r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Sharath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 </a:t>
            </a:r>
            <a:r>
              <a:rPr lang="en-US" altLang="zh-TW" sz="2700" b="1" dirty="0" smtClean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Kumar, N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. Vinay Kumar and D.S. Guru</a:t>
            </a:r>
            <a:endParaRPr lang="en-US" sz="2700" b="1" dirty="0">
              <a:solidFill>
                <a:srgbClr val="898989"/>
              </a:solidFill>
              <a:latin typeface="Sitka Subheading" panose="02000505000000020004" pitchFamily="2" charset="0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576355" y="935998"/>
            <a:ext cx="9071643" cy="1491891"/>
          </a:xfrm>
        </p:spPr>
        <p:txBody>
          <a:bodyPr anchorCtr="1"/>
          <a:lstStyle/>
          <a:p>
            <a:r>
              <a:rPr lang="en-US" altLang="zh-TW" sz="40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Delaunay </a:t>
            </a:r>
            <a:r>
              <a:rPr lang="en-US" altLang="zh-TW" sz="4000" b="1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Triangulation on Skeleton of Flowers for Classification</a:t>
            </a:r>
            <a:endParaRPr lang="en-US" sz="4000" b="1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704380" y="5920800"/>
            <a:ext cx="9071643" cy="1159806"/>
          </a:xfrm>
        </p:spPr>
        <p:txBody>
          <a:bodyPr/>
          <a:lstStyle/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Wei-</a:t>
            </a:r>
            <a:r>
              <a:rPr lang="en-US" altLang="zh-TW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Hao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Fu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2017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 05/</a:t>
            </a:r>
            <a:r>
              <a:rPr lang="zh-TW" alt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09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In this work, we propose a Triangle based approach to classify flower images. Initially, flowers are segmented using whorl 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based region 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merging segmentation. Skeleton of a flower is obtained from the segmented flower using a skeleton pruning method. 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The Delaunay 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triangulation is obtained from the endpoints and junction points detected on the skeleton.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20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 (2/2)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length and angle 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features are 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extracted from the obtained Delaunay triangles and then are aggregated to represent in the form of interval-valued type data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. A 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suitable classifier has been explored for the purpose of classification. To corroborate the efficacy of the proposed method, 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an experiment 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is conducted on our own data set of 30 classes of flowers, containing 3000 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samples.</a:t>
            </a:r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078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 (1/10)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Segmentation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Skeleton pruning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Triangular representation of skeleton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Feature extraction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Classification </a:t>
            </a:r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463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 (2/10)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Segmentation:</a:t>
            </a:r>
          </a:p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The flowers are segmented using whorl based region merging segmentation proposed in “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Classification of Flowers: A Symbolic Approach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5</a:t>
            </a:fld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44" y="4721661"/>
            <a:ext cx="16764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735" y="4721662"/>
            <a:ext cx="16764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32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87" y="3662896"/>
            <a:ext cx="3398837" cy="349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486" y="3682901"/>
            <a:ext cx="3498315" cy="349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887" y="3700996"/>
            <a:ext cx="3461888" cy="3512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 (3/10)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Skeleton pruning:</a:t>
            </a:r>
          </a:p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The </a:t>
            </a:r>
            <a:r>
              <a:rPr lang="en-US" altLang="zh-TW" sz="31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Curve Evolution (DCE)</a:t>
            </a:r>
            <a:r>
              <a:rPr lang="en-US" altLang="zh-TW" sz="3100" i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is used to simplify the polygons obtained from un-pruned flower skeleton image.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6</a:t>
            </a:fld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967581" y="7213669"/>
            <a:ext cx="7932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Reference: Skeleton Pruning by Contour Partitioning with Discrete Curve Evolution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211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 (4/10)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Triangular representation of skeleton:</a:t>
            </a:r>
          </a:p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For the skeleton flower we find the endpoints and junction points. Using the detected points we generate the triangles.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7</a:t>
            </a:fld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297" y="4315865"/>
            <a:ext cx="372427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橢圓 4"/>
          <p:cNvSpPr/>
          <p:nvPr/>
        </p:nvSpPr>
        <p:spPr>
          <a:xfrm>
            <a:off x="4379243" y="4187360"/>
            <a:ext cx="304899" cy="3048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6524345" y="4644659"/>
            <a:ext cx="304899" cy="3048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151847" y="5696990"/>
            <a:ext cx="304899" cy="3048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921869" y="6925665"/>
            <a:ext cx="304899" cy="3048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829244" y="5864539"/>
            <a:ext cx="304899" cy="3048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022610" y="5577635"/>
            <a:ext cx="152450" cy="1524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097376" y="5428125"/>
            <a:ext cx="152450" cy="1524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321652" y="5445377"/>
            <a:ext cx="152450" cy="1524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20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r>
              <a:rPr lang="zh-TW" altLang="en-US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(5/10)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Triangular representation of skeleton:</a:t>
            </a:r>
          </a:p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We use the method called Delaunay Triangulation to generate the triangles.</a:t>
            </a:r>
          </a:p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TW" sz="31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Voronoi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diagram </a:t>
            </a:r>
            <a:r>
              <a:rPr lang="zh-TW" altLang="en-US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→ 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Delaunay Triangulation</a:t>
            </a:r>
          </a:p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endParaRPr lang="en-US" altLang="zh-TW" sz="31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8</a:t>
            </a:fld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714" y="4229957"/>
            <a:ext cx="5227411" cy="26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640124" y="6941849"/>
            <a:ext cx="6704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Reference: </a:t>
            </a:r>
            <a:r>
              <a:rPr lang="en-US" altLang="zh-TW" dirty="0"/>
              <a:t>http://www.csie.ntnu.edu.tw/~u91029/Triangulation.html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463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r>
              <a:rPr lang="zh-TW" altLang="en-US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(6/10)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Triangular representation of skeleton:</a:t>
            </a:r>
          </a:p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Finally, we can get a set of triangles for a flower.</a:t>
            </a:r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endParaRPr lang="en-US" altLang="zh-TW" sz="31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9</a:t>
            </a:fld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817" y="3257324"/>
            <a:ext cx="4491664" cy="333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14" y="3542280"/>
            <a:ext cx="372427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6513300" y="42994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1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211614" y="514554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2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469742" y="552759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5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5314" y="494206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6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771428" y="426720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7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130958" y="44518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8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14986" y="512673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3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059449" y="482119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9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981595" y="521985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4</a:t>
            </a:r>
            <a:endParaRPr lang="zh-TW" altLang="en-US" dirty="0">
              <a:solidFill>
                <a:srgbClr val="FF0000"/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77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r>
              <a:rPr lang="zh-TW" altLang="en-US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(7/10)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</p:spPr>
            <p:txBody>
              <a:bodyPr/>
              <a:lstStyle/>
              <a:p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Feature extraction:</a:t>
                </a:r>
              </a:p>
              <a:p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We extract features like length and angle of each side of a triangle.</a:t>
                </a:r>
              </a:p>
              <a:p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Lengths </a:t>
                </a:r>
                <a:r>
                  <a:rPr lang="zh-TW" altLang="en-US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 </a:t>
                </a:r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Euclidean distance</a:t>
                </a:r>
              </a:p>
              <a:p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Angles:</a:t>
                </a:r>
                <a:r>
                  <a:rPr lang="zh-TW" altLang="en-US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TW" sz="31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100" i="1">
                          <a:latin typeface="Cambria Math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3100" i="1">
                          <a:latin typeface="Cambria Math"/>
                          <a:ea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zh-TW" sz="31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100">
                                  <a:latin typeface="Cambria Math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TW" sz="3100" i="1">
                              <a:latin typeface="Cambria Math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zh-TW" sz="31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2∗</m:t>
                              </m:r>
                              <m: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TW" sz="31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func>
                      <m:r>
                        <a:rPr lang="en-US" altLang="zh-TW" sz="3100" i="1">
                          <a:latin typeface="Cambria Math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31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100" b="0" i="1" smtClean="0">
                          <a:latin typeface="Cambria Math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31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31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TW" sz="31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100" b="0" i="0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TW" sz="31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TW" sz="31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TW" sz="31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31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TW" sz="31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func>
                                <m:funcPr>
                                  <m:ctrlPr>
                                    <a:rPr lang="en-US" altLang="zh-TW" sz="31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3100" b="0" i="0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TW" sz="31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31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1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TW" sz="31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r>
                            <a:rPr lang="en-US" altLang="zh-TW" sz="31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31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100" b="0" i="1" smtClean="0">
                          <a:latin typeface="Cambria Math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3100" b="0" i="1" smtClean="0">
                          <a:latin typeface="Cambria Math"/>
                          <a:ea typeface="Cambria Math" panose="02040503050406030204" pitchFamily="18" charset="0"/>
                        </a:rPr>
                        <m:t>=(180−</m:t>
                      </m:r>
                      <m:r>
                        <a:rPr lang="en-US" altLang="zh-TW" sz="3100" b="0" i="1" smtClean="0">
                          <a:latin typeface="Cambria Math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3100" b="0" i="1" smtClean="0">
                          <a:latin typeface="Cambria Math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100" b="0" i="1" smtClean="0">
                          <a:latin typeface="Cambria Math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3100" b="0" i="1" smtClean="0">
                          <a:latin typeface="Cambria Math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31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  <a:blipFill rotWithShape="1">
                <a:blip r:embed="rId2"/>
                <a:stretch>
                  <a:fillRect l="-2688" t="-2162" r="-2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10</a:t>
            </a:fld>
            <a:endParaRPr lang="zh-TW" altLang="en-US" dirty="0"/>
          </a:p>
        </p:txBody>
      </p:sp>
      <p:sp>
        <p:nvSpPr>
          <p:cNvPr id="5" name="等腰三角形 4"/>
          <p:cNvSpPr/>
          <p:nvPr/>
        </p:nvSpPr>
        <p:spPr>
          <a:xfrm>
            <a:off x="685800" y="5372100"/>
            <a:ext cx="1371600" cy="1352550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133475" y="4856202"/>
            <a:ext cx="482824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100" dirty="0">
                <a:solidFill>
                  <a:srgbClr val="FF0000"/>
                </a:solidFill>
                <a:highlight>
                  <a:scrgbClr r="0" g="0" b="0">
                    <a:alpha val="0"/>
                  </a:scrgbClr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A</a:t>
            </a:r>
            <a:endParaRPr lang="zh-TW" altLang="en-US" sz="3100" dirty="0">
              <a:solidFill>
                <a:srgbClr val="FF0000"/>
              </a:solidFill>
              <a:highlight>
                <a:scrgbClr r="0" g="0" b="0">
                  <a:alpha val="0"/>
                </a:scrgbClr>
              </a:highlight>
              <a:latin typeface="Segoe UI Black" panose="020B0A02040204020203" pitchFamily="34" charset="0"/>
              <a:ea typeface="Cambria Math" panose="02040503050406030204" pitchFamily="18" charset="0"/>
              <a:cs typeface="Segoe UI Black" panose="020B0A02040204020203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02976" y="6637377"/>
            <a:ext cx="458780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100" dirty="0">
                <a:solidFill>
                  <a:srgbClr val="FF0000"/>
                </a:solidFill>
                <a:highlight>
                  <a:scrgbClr r="0" g="0" b="0">
                    <a:alpha val="0"/>
                  </a:scrgbClr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B</a:t>
            </a:r>
            <a:endParaRPr lang="zh-TW" altLang="en-US" sz="3100" dirty="0">
              <a:solidFill>
                <a:srgbClr val="FF0000"/>
              </a:solidFill>
              <a:highlight>
                <a:scrgbClr r="0" g="0" b="0">
                  <a:alpha val="0"/>
                </a:scrgbClr>
              </a:highlight>
              <a:latin typeface="Segoe UI Black" panose="020B0A02040204020203" pitchFamily="34" charset="0"/>
              <a:ea typeface="Cambria Math" panose="02040503050406030204" pitchFamily="18" charset="0"/>
              <a:cs typeface="Segoe UI Black" panose="020B0A02040204020203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57400" y="6633716"/>
            <a:ext cx="434734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100" dirty="0">
                <a:solidFill>
                  <a:srgbClr val="FF0000"/>
                </a:solidFill>
                <a:highlight>
                  <a:scrgbClr r="0" g="0" b="0">
                    <a:alpha val="0"/>
                  </a:scrgbClr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C</a:t>
            </a:r>
            <a:endParaRPr lang="zh-TW" altLang="en-US" sz="3100" dirty="0">
              <a:solidFill>
                <a:srgbClr val="FF0000"/>
              </a:solidFill>
              <a:highlight>
                <a:scrgbClr r="0" g="0" b="0">
                  <a:alpha val="0"/>
                </a:scrgbClr>
              </a:highlight>
              <a:latin typeface="Segoe UI Black" panose="020B0A02040204020203" pitchFamily="34" charset="0"/>
              <a:ea typeface="Cambria Math" panose="02040503050406030204" pitchFamily="18" charset="0"/>
              <a:cs typeface="Segoe UI Black" panose="020B0A02040204020203" pitchFamily="34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30188" y="6587639"/>
            <a:ext cx="407484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100" dirty="0">
                <a:solidFill>
                  <a:srgbClr val="00B050"/>
                </a:solidFill>
                <a:highlight>
                  <a:scrgbClr r="0" g="0" b="0">
                    <a:alpha val="0"/>
                  </a:scrgbClr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a</a:t>
            </a:r>
            <a:endParaRPr lang="zh-TW" altLang="en-US" sz="3100" dirty="0">
              <a:solidFill>
                <a:srgbClr val="00B050"/>
              </a:solidFill>
              <a:highlight>
                <a:scrgbClr r="0" g="0" b="0">
                  <a:alpha val="0"/>
                </a:scrgbClr>
              </a:highlight>
              <a:latin typeface="Segoe UI Black" panose="020B0A02040204020203" pitchFamily="34" charset="0"/>
              <a:ea typeface="Cambria Math" panose="02040503050406030204" pitchFamily="18" charset="0"/>
              <a:cs typeface="Segoe UI Black" panose="020B0A02040204020203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721074" y="5763681"/>
            <a:ext cx="439544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100" dirty="0" smtClean="0">
                <a:solidFill>
                  <a:srgbClr val="00B050"/>
                </a:solidFill>
                <a:highlight>
                  <a:scrgbClr r="0" g="0" b="0">
                    <a:alpha val="0"/>
                  </a:scrgbClr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b</a:t>
            </a:r>
            <a:endParaRPr lang="zh-TW" altLang="en-US" sz="3100" dirty="0">
              <a:solidFill>
                <a:srgbClr val="00B050"/>
              </a:solidFill>
              <a:highlight>
                <a:scrgbClr r="0" g="0" b="0">
                  <a:alpha val="0"/>
                </a:scrgbClr>
              </a:highlight>
              <a:latin typeface="Segoe UI Black" panose="020B0A02040204020203" pitchFamily="34" charset="0"/>
              <a:ea typeface="Cambria Math" panose="02040503050406030204" pitchFamily="18" charset="0"/>
              <a:cs typeface="Segoe UI Black" panose="020B0A02040204020203" pitchFamily="34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41916" y="5730389"/>
            <a:ext cx="381836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100" dirty="0" smtClean="0">
                <a:solidFill>
                  <a:srgbClr val="00B050"/>
                </a:solidFill>
                <a:highlight>
                  <a:scrgbClr r="0" g="0" b="0">
                    <a:alpha val="0"/>
                  </a:scrgbClr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c</a:t>
            </a:r>
            <a:endParaRPr lang="zh-TW" altLang="en-US" sz="3100" dirty="0">
              <a:solidFill>
                <a:srgbClr val="00B050"/>
              </a:solidFill>
              <a:highlight>
                <a:scrgbClr r="0" g="0" b="0">
                  <a:alpha val="0"/>
                </a:scrgbClr>
              </a:highlight>
              <a:latin typeface="Segoe UI Black" panose="020B0A02040204020203" pitchFamily="34" charset="0"/>
              <a:ea typeface="Cambria Math" panose="02040503050406030204" pitchFamily="18" charset="0"/>
              <a:cs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81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r>
              <a:rPr lang="zh-TW" altLang="en-US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(8/10)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</p:spPr>
            <p:txBody>
              <a:bodyPr/>
              <a:lstStyle/>
              <a:p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Feature extraction:</a:t>
                </a:r>
              </a:p>
              <a:p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After computing the lengths and angles of all three sides of each triangle, we have totally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/>
                        <a:ea typeface="Cambria Math" panose="02040503050406030204" pitchFamily="18" charset="0"/>
                      </a:rPr>
                      <m:t>6∗</m:t>
                    </m:r>
                    <m:r>
                      <a:rPr lang="en-US" altLang="zh-TW" sz="3100" i="1" dirty="0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number of features representing a single flower sample.</a:t>
                </a:r>
              </a:p>
              <a:p>
                <a:r>
                  <a:rPr lang="en-US" altLang="zh-TW" sz="3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/>
                        <a:ea typeface="Cambria Math" panose="02040503050406030204" pitchFamily="18" charset="0"/>
                      </a:rPr>
                      <m:t>6∗</m:t>
                    </m:r>
                    <m:r>
                      <a:rPr lang="en-US" altLang="zh-TW" sz="3100" i="1" dirty="0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TW" sz="3100" i="1" dirty="0" smtClean="0">
                        <a:latin typeface="Cambria Math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zh-TW" sz="310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numbers of flower samples representing a class.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  <a:blipFill rotWithShape="1">
                <a:blip r:embed="rId2"/>
                <a:stretch>
                  <a:fillRect l="-2688" t="-2162" r="-4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11</a:t>
            </a:fld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19" y="4994339"/>
            <a:ext cx="3877023" cy="256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992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r>
              <a:rPr lang="zh-TW" altLang="en-US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(9/10)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</p:spPr>
            <p:txBody>
              <a:bodyPr/>
              <a:lstStyle/>
              <a:p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Feature extraction:</a:t>
                </a:r>
              </a:p>
              <a:p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Then we find the minimum and maximum feature values respectively, obtained from all the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31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triangles of a sample image.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639398"/>
              </a:xfrm>
              <a:blipFill rotWithShape="1">
                <a:blip r:embed="rId2"/>
                <a:stretch>
                  <a:fillRect l="-2688" t="-21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12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904845"/>
              </p:ext>
            </p:extLst>
          </p:nvPr>
        </p:nvGraphicFramePr>
        <p:xfrm>
          <a:off x="529220" y="4929283"/>
          <a:ext cx="3049554" cy="15188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259"/>
                <a:gridCol w="508259"/>
                <a:gridCol w="508259"/>
                <a:gridCol w="508259"/>
                <a:gridCol w="508259"/>
                <a:gridCol w="508259"/>
              </a:tblGrid>
              <a:tr h="37970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970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970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970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6923" y="4939784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T1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923" y="5309116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T2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923" y="567844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T3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923" y="6047780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T4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573219" y="4557236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/>
                        </a:rPr>
                        <m:t>𝑙</m:t>
                      </m:r>
                      <m:r>
                        <a:rPr lang="en-US" altLang="zh-TW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19" y="4557236"/>
                <a:ext cx="43794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080203" y="4557236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/>
                        </a:rPr>
                        <m:t>𝑙</m:t>
                      </m:r>
                      <m:r>
                        <a:rPr lang="en-US" altLang="zh-TW" i="1" dirty="0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203" y="4557236"/>
                <a:ext cx="43794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1563819" y="4557236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/>
                        </a:rPr>
                        <m:t>𝑙</m:t>
                      </m:r>
                      <m:r>
                        <a:rPr lang="en-US" altLang="zh-TW" i="1" dirty="0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819" y="4557236"/>
                <a:ext cx="43794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068644" y="455723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/>
                        </a:rPr>
                        <m:t>𝑎</m:t>
                      </m:r>
                      <m:r>
                        <a:rPr lang="en-US" altLang="zh-TW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644" y="4557236"/>
                <a:ext cx="49404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582994" y="455723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/>
                        </a:rPr>
                        <m:t>𝑎</m:t>
                      </m:r>
                      <m:r>
                        <a:rPr lang="en-US" altLang="zh-TW" i="1" dirty="0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994" y="4557236"/>
                <a:ext cx="494046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3087819" y="455723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/>
                        </a:rPr>
                        <m:t>𝑎</m:t>
                      </m:r>
                      <m:r>
                        <a:rPr lang="en-US" altLang="zh-TW" i="1" dirty="0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819" y="4557236"/>
                <a:ext cx="494046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2781386"/>
                  </p:ext>
                </p:extLst>
              </p:nvPr>
            </p:nvGraphicFramePr>
            <p:xfrm>
              <a:off x="4124327" y="5389007"/>
              <a:ext cx="5740335" cy="39572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3923"/>
                    <a:gridCol w="898588"/>
                    <a:gridCol w="898588"/>
                    <a:gridCol w="1006412"/>
                    <a:gridCol w="1006412"/>
                    <a:gridCol w="1006412"/>
                  </a:tblGrid>
                  <a:tr h="39572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p>
                                    </m:sSubSup>
                                    <m:r>
                                      <a:rPr lang="en-US" altLang="zh-TW" i="1" dirty="0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altLang="zh-TW" i="1" baseline="0" dirty="0" smtClean="0">
                                        <a:latin typeface="Cambria Math"/>
                                      </a:rPr>
                                      <m:t>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p>
                                    </m:sSubSup>
                                    <m:r>
                                      <a:rPr lang="en-US" altLang="zh-TW" i="1" dirty="0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altLang="zh-TW" i="1" baseline="0" dirty="0" smtClean="0">
                                        <a:latin typeface="Cambria Math"/>
                                      </a:rPr>
                                      <m:t>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p>
                                    </m:sSubSup>
                                    <m:r>
                                      <a:rPr lang="en-US" altLang="zh-TW" i="1" dirty="0" smtClean="0">
                                        <a:latin typeface="Cambria Math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p>
                                    </m:sSubSup>
                                    <m:r>
                                      <a:rPr lang="en-US" altLang="zh-TW" i="1" dirty="0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altLang="zh-TW" i="1" baseline="0" dirty="0" smtClean="0">
                                        <a:latin typeface="Cambria Math"/>
                                      </a:rPr>
                                      <m:t>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p>
                                    </m:sSubSup>
                                    <m:r>
                                      <a:rPr lang="en-US" altLang="zh-TW" i="1" dirty="0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altLang="zh-TW" i="1" baseline="0" dirty="0" smtClean="0">
                                        <a:latin typeface="Cambria Math"/>
                                      </a:rPr>
                                      <m:t>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TW" i="1" baseline="0" dirty="0" smtClean="0">
                                            <a:latin typeface="Cambria Math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p>
                                    </m:sSubSup>
                                    <m:r>
                                      <a:rPr lang="en-US" altLang="zh-TW" i="1" dirty="0" smtClean="0">
                                        <a:latin typeface="Cambria Math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TW" i="1" dirty="0" smtClean="0">
                                            <a:latin typeface="Cambria Math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2781386"/>
                  </p:ext>
                </p:extLst>
              </p:nvPr>
            </p:nvGraphicFramePr>
            <p:xfrm>
              <a:off x="4124327" y="5389007"/>
              <a:ext cx="5740335" cy="39572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3923"/>
                    <a:gridCol w="898588"/>
                    <a:gridCol w="898588"/>
                    <a:gridCol w="1006412"/>
                    <a:gridCol w="1006412"/>
                    <a:gridCol w="1006412"/>
                  </a:tblGrid>
                  <a:tr h="39572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662" r="-523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2703" r="-434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4082" r="-337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70909" r="-2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70909" r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470909" r="-60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右大括弧 16"/>
          <p:cNvSpPr/>
          <p:nvPr/>
        </p:nvSpPr>
        <p:spPr>
          <a:xfrm>
            <a:off x="3648075" y="4926568"/>
            <a:ext cx="295275" cy="1490544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8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Algorithm</a:t>
            </a:r>
            <a:r>
              <a:rPr lang="zh-TW" altLang="en-US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(10/10)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Classification:</a:t>
            </a:r>
          </a:p>
          <a:p>
            <a:r>
              <a:rPr lang="en-US" altLang="zh-TW" sz="31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We adopt the symbolic classifier with a slight modification for classifying the flowers. We can call this classification as voting based classifier.</a:t>
            </a:r>
          </a:p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13</a:t>
            </a:fld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548" y="3957365"/>
            <a:ext cx="6998464" cy="3602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626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Experimental Result</a:t>
            </a:r>
            <a:r>
              <a:rPr lang="zh-TW" altLang="en-US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(1/2)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814944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14</a:t>
            </a:fld>
            <a:endParaRPr lang="zh-TW" altLang="en-US" dirty="0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503998" y="1769043"/>
            <a:ext cx="9071643" cy="56393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defTabSz="914400" rtl="0" fontAlgn="auto" hangingPunct="0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None/>
              <a:tabLst/>
              <a:defRPr lang="zh-TW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  <a:ea typeface="微軟正黑體" pitchFamily="2"/>
                <a:cs typeface="Mangal" pitchFamily="2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Dataset: 30 flower classes and total 3000 images</a:t>
            </a:r>
          </a:p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681" y="2413545"/>
            <a:ext cx="3724275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139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Experimental Result</a:t>
            </a:r>
            <a:r>
              <a:rPr lang="zh-TW" altLang="en-US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(2/2)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814944"/>
            <a:ext cx="9071643" cy="5639398"/>
          </a:xfrm>
        </p:spPr>
        <p:txBody>
          <a:bodyPr/>
          <a:lstStyle/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15</a:t>
            </a:fld>
            <a:endParaRPr lang="zh-TW" altLang="en-US" dirty="0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503998" y="1769043"/>
            <a:ext cx="9071643" cy="56393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defTabSz="914400" rtl="0" fontAlgn="auto" hangingPunct="0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None/>
              <a:tabLst/>
              <a:defRPr lang="zh-TW" sz="32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  <a:ea typeface="微軟正黑體" pitchFamily="2"/>
                <a:cs typeface="Mangal" pitchFamily="2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1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79600"/>
            <a:ext cx="1008697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138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14097</TotalTime>
  <Words>394</Words>
  <Application>Microsoft Office PowerPoint</Application>
  <PresentationFormat>自訂</PresentationFormat>
  <Paragraphs>106</Paragraphs>
  <Slides>15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預設</vt:lpstr>
      <vt:lpstr>Procedia Computer Science, 2015, Y.H. Sharath Kumar, N. Vinay Kumar and D.S. Guru</vt:lpstr>
      <vt:lpstr>Abstract (1/2)</vt:lpstr>
      <vt:lpstr>Abstract (2/2)</vt:lpstr>
      <vt:lpstr>Algorithm (1/10)</vt:lpstr>
      <vt:lpstr>Algorithm (2/10)</vt:lpstr>
      <vt:lpstr>Algorithm (3/10)</vt:lpstr>
      <vt:lpstr>Algorithm (4/10)</vt:lpstr>
      <vt:lpstr>Algorithm (5/10)</vt:lpstr>
      <vt:lpstr>Algorithm (6/10)</vt:lpstr>
      <vt:lpstr>Algorithm (7/10)</vt:lpstr>
      <vt:lpstr>Algorithm (8/10)</vt:lpstr>
      <vt:lpstr>Algorithm (9/10)</vt:lpstr>
      <vt:lpstr>Algorithm (10/10)</vt:lpstr>
      <vt:lpstr>Experimental Result (1/2)</vt:lpstr>
      <vt:lpstr>Experimental Result (2/2)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Shecil</dc:creator>
  <cp:lastModifiedBy>ASUS</cp:lastModifiedBy>
  <cp:revision>252</cp:revision>
  <dcterms:created xsi:type="dcterms:W3CDTF">2015-10-08T13:19:19Z</dcterms:created>
  <dcterms:modified xsi:type="dcterms:W3CDTF">2017-05-09T08:23:35Z</dcterms:modified>
</cp:coreProperties>
</file>