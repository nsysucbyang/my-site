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97" r:id="rId4"/>
    <p:sldId id="279" r:id="rId5"/>
    <p:sldId id="306" r:id="rId6"/>
    <p:sldId id="307" r:id="rId7"/>
    <p:sldId id="310" r:id="rId8"/>
    <p:sldId id="309" r:id="rId9"/>
    <p:sldId id="311" r:id="rId10"/>
    <p:sldId id="312" r:id="rId11"/>
    <p:sldId id="314" r:id="rId12"/>
    <p:sldId id="313" r:id="rId13"/>
    <p:sldId id="315" r:id="rId14"/>
    <p:sldId id="316" r:id="rId15"/>
    <p:sldId id="317" r:id="rId16"/>
    <p:sldId id="318" r:id="rId17"/>
    <p:sldId id="304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9" autoAdjust="0"/>
    <p:restoredTop sz="88835" autoAdjust="0"/>
  </p:normalViewPr>
  <p:slideViewPr>
    <p:cSldViewPr snapToGrid="0">
      <p:cViewPr varScale="1">
        <p:scale>
          <a:sx n="69" d="100"/>
          <a:sy n="69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2017/5/9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link.springer.com/article/10.1007/s10115-004-0154-9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18681" y="559444"/>
            <a:ext cx="9954638" cy="1819245"/>
          </a:xfrm>
        </p:spPr>
        <p:txBody>
          <a:bodyPr anchor="ctr">
            <a:normAutofit fontScale="90000"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Enhanced Support Vector Machine for Faster Time Series Classification</a:t>
            </a:r>
            <a:endParaRPr lang="zh-TW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2017/5/9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981185" y="3277622"/>
            <a:ext cx="8612674" cy="17883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Thapanan 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Janyalikit, </a:t>
            </a:r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Phongsakorn 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Sathianwiriyakhun, Haemwaan Sivaraks and </a:t>
            </a:r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Chotirat Ann 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Ratanamahatana</a:t>
            </a:r>
          </a:p>
          <a:p>
            <a:pPr algn="ctr"/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Asian Conference on Intelligent Information </a:t>
            </a: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and Database Systems (ACIIDS),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Vietnam,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March, 2016 </a:t>
            </a: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1235676"/>
            <a:ext cx="11110609" cy="48259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time series have become a prevalent type of data, various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are often performed to extract useful knowledge, including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classification, a more commonly performed task. Recently, 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(SVM), one of the most powerful classifiers for general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tasks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has been applied to time series classification as it has been shown 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 one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 in various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domains. Recently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Dynamic Time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Warping 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DTW) distance measure has been used as a feature for SVM classifier. However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its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drawback is its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exceedingly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time complexity in DTW computation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degrades the SVM’s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1127646"/>
            <a:ext cx="11110609" cy="227802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propose an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SVM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utilizes a DTW’s fast lower bound function as its feature 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mitigate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 The experiment results on 47 UCR time series data mining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demonstrate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our proposed work can speed up the classification process by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large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while maintaining high accuracies comparing with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approach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035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Classification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83033"/>
            <a:ext cx="10515600" cy="5338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1NN-DTW ( one nearest neighbor with Dynamic Time warping )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 : 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 time series classification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Cons: 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time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O(n</a:t>
            </a:r>
            <a:r>
              <a:rPr lang="en-US" altLang="zh-TW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 to the influence of noise</a:t>
            </a:r>
            <a:endParaRPr lang="en-US" altLang="zh-TW" sz="24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27" y="4163637"/>
            <a:ext cx="8077793" cy="255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3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Countermeasure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83033"/>
            <a:ext cx="10515600" cy="533844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</a:p>
          <a:p>
            <a:pPr marL="457200" indent="-457200">
              <a:buFont typeface="+mj-lt"/>
              <a:buAutoNum type="arabicPeriod"/>
            </a:pPr>
            <a:endParaRPr lang="en-US" altLang="zh-TW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of edit distance </a:t>
            </a:r>
          </a:p>
          <a:p>
            <a:pPr marL="0" indent="0">
              <a:buNone/>
            </a:pPr>
            <a:endParaRPr lang="en-US" altLang="zh-TW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…Cons </a:t>
            </a:r>
            <a:r>
              <a:rPr lang="en-US" altLang="zh-TW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 computational cost</a:t>
            </a:r>
          </a:p>
          <a:p>
            <a:pPr marL="0" indent="0">
              <a:buNone/>
            </a:pPr>
            <a:endParaRPr lang="en-US" altLang="zh-TW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altLang="zh-TW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285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SVM(1/2)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83033"/>
            <a:ext cx="10515600" cy="5338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 : ignore misleading noisy data point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How?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separate the data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 1 :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data can be linearly separated 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4" r="3565" b="3482"/>
          <a:stretch/>
        </p:blipFill>
        <p:spPr>
          <a:xfrm>
            <a:off x="6752616" y="3279461"/>
            <a:ext cx="4307732" cy="344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SVM(2/2)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83033"/>
            <a:ext cx="10515600" cy="5338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 2 :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a kernel function is applied to map the input space higher that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73" y="2923755"/>
            <a:ext cx="8078254" cy="328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5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DTW with SVM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3033"/>
                <a:ext cx="10515600" cy="5338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 a kernel for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DTW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 problem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 bound function for DTW with SVM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 : 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2"/>
                  </a:rPr>
                  <a:t>Exact indexing of dynamic time warping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March 2005, Volume 7, Issue 3, pp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358–386, Eamonn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Keogh, Chotirat Ann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Ratanamahatana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LB_Keogh(Q, C)</a:t>
                </a:r>
                <a:r>
                  <a:rPr lang="en-US" altLang="zh-TW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DTW(Q, C)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3033"/>
                <a:ext cx="10515600" cy="5338441"/>
              </a:xfrm>
              <a:blipFill rotWithShape="0">
                <a:blip r:embed="rId3"/>
                <a:stretch>
                  <a:fillRect l="-1217" t="-2055" r="-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771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Time Warping(DTW)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35677"/>
            <a:ext cx="10515600" cy="5485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similarity measure for time series data.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two time series sequences,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length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n,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want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minimum of cumulative distance.</a:t>
            </a:r>
          </a:p>
          <a:p>
            <a:pPr marL="0" indent="0">
              <a:buNone/>
            </a:pP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,…, q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TW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121" y="3950078"/>
            <a:ext cx="7235757" cy="24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4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Time Warping(DTW)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8681"/>
                <a:ext cx="10515600" cy="56027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DTW distance from (1, 1) to (m, n)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TW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min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⁡{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8681"/>
                <a:ext cx="10515600" cy="5602793"/>
              </a:xfrm>
              <a:blipFill rotWithShape="0">
                <a:blip r:embed="rId2"/>
                <a:stretch>
                  <a:fillRect l="-1217" t="-19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10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84334"/>
            <a:ext cx="4803032" cy="2837140"/>
          </a:xfrm>
          <a:prstGeom prst="rect">
            <a:avLst/>
          </a:prstGeom>
        </p:spPr>
      </p:pic>
      <p:grpSp>
        <p:nvGrpSpPr>
          <p:cNvPr id="10" name="群組 9"/>
          <p:cNvGrpSpPr/>
          <p:nvPr/>
        </p:nvGrpSpPr>
        <p:grpSpPr>
          <a:xfrm>
            <a:off x="6789908" y="2628226"/>
            <a:ext cx="4094733" cy="4093248"/>
            <a:chOff x="6478621" y="2628227"/>
            <a:chExt cx="4094733" cy="4093248"/>
          </a:xfrm>
        </p:grpSpPr>
        <p:pic>
          <p:nvPicPr>
            <p:cNvPr id="11" name="圖片 10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6" r="1851" b="2279"/>
            <a:stretch/>
          </p:blipFill>
          <p:spPr>
            <a:xfrm>
              <a:off x="6565558" y="2628227"/>
              <a:ext cx="4007796" cy="4093248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6478621" y="2774143"/>
              <a:ext cx="577174" cy="505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261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Constraint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8681"/>
                <a:ext cx="10515600" cy="56027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Prevent unreasonable warping 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increases the accuracy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Sakoe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-Chiba constraint :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8681"/>
                <a:ext cx="10515600" cy="5602793"/>
              </a:xfrm>
              <a:blipFill rotWithShape="0">
                <a:blip r:embed="rId2"/>
                <a:stretch>
                  <a:fillRect l="-1217" t="-19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11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3" r="9658" b="6348"/>
          <a:stretch/>
        </p:blipFill>
        <p:spPr>
          <a:xfrm>
            <a:off x="6674796" y="2989881"/>
            <a:ext cx="3871608" cy="37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2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Bound of DTW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8681"/>
                <a:ext cx="10515600" cy="56027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TW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(q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i-r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i+r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min (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i-r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i+r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TW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𝐾𝑒𝑜𝑔h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{"/>
                            <m:endChr m:val="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&amp;</m:t>
                                </m:r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𝑈</m:t>
                                    </m:r>
                                    <m:r>
                                      <a:rPr lang="en-US" altLang="zh-TW" b="0" i="1" baseline="-250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𝐶𝑖</m:t>
                                    </m:r>
                                  </m:e>
                                </m:d>
                                <m:r>
                                  <a:rPr lang="en-US" altLang="zh-TW" b="0" i="1" baseline="30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𝑈𝑖</m:t>
                                </m:r>
                              </m:e>
                              <m:e>
                                <m:r>
                                  <a:rPr lang="en-US" altLang="zh-TW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&amp;</m:t>
                                </m:r>
                                <m:d>
                                  <m:dPr>
                                    <m:ctrlPr>
                                      <a:rPr lang="en-US" altLang="zh-TW" b="0" i="1" baseline="-250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zh-TW" b="0" i="1" baseline="-250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𝐶𝑖</m:t>
                                    </m:r>
                                  </m:e>
                                </m:d>
                                <m:r>
                                  <a:rPr lang="en-US" altLang="zh-TW" b="0" i="1" baseline="30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  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𝐿𝑖</m:t>
                                </m:r>
                              </m:e>
                              <m:e>
                                <m:r>
                                  <a:rPr lang="en-US" altLang="zh-TW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&amp;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0,                   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𝑜𝑡h𝑒𝑟𝑤𝑖𝑠𝑒</m:t>
                                </m:r>
                              </m:e>
                            </m:eqArr>
                          </m:e>
                        </m:d>
                      </m:e>
                    </m:nary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LB_Keogh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(Q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C)</a:t>
                </a:r>
                <a:r>
                  <a:rPr lang="en-US" altLang="zh-TW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DTW(Q, C) 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8681"/>
                <a:ext cx="10515600" cy="5602793"/>
              </a:xfrm>
              <a:blipFill rotWithShape="0">
                <a:blip r:embed="rId2"/>
                <a:stretch>
                  <a:fillRect l="-1217" t="-19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12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7" r="7423"/>
          <a:stretch/>
        </p:blipFill>
        <p:spPr>
          <a:xfrm>
            <a:off x="5974405" y="3568561"/>
            <a:ext cx="4931923" cy="315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6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LB_Keogh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Construction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118681"/>
            <a:ext cx="10515600" cy="5602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LB_Keogh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global constraint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a training dataset C with k time series sequences,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LB_Keogh_Feature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(Q)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LB_Keogh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(Q,C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LB_Keogh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(Q,C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TW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…,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LB_Keogh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Q,C</a:t>
            </a:r>
            <a:r>
              <a:rPr lang="en-US" altLang="zh-TW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SVM +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LB_Keogh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global constraint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10-fold cross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: UCR Time Series 47 benchmark datasets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109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Results(1/3)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" t="4548" r="5077" b="2735"/>
          <a:stretch/>
        </p:blipFill>
        <p:spPr>
          <a:xfrm>
            <a:off x="2794518" y="1773653"/>
            <a:ext cx="6602964" cy="4947821"/>
          </a:xfr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838200" y="1118681"/>
            <a:ext cx="10515600" cy="5602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 rate between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Keogh_Feature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DTW-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R_Feature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34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Results(2/3)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15</a:t>
            </a:fld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476" y="1825625"/>
            <a:ext cx="5469048" cy="4351338"/>
          </a:xfrm>
        </p:spPr>
      </p:pic>
    </p:spTree>
    <p:extLst>
      <p:ext uri="{BB962C8B-B14F-4D97-AF65-F5344CB8AC3E}">
        <p14:creationId xmlns:p14="http://schemas.microsoft.com/office/powerpoint/2010/main" val="245305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Results(3/3)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16</a:t>
            </a:fld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128" y="1235676"/>
            <a:ext cx="10193744" cy="4780436"/>
          </a:xfrm>
        </p:spPr>
      </p:pic>
    </p:spTree>
    <p:extLst>
      <p:ext uri="{BB962C8B-B14F-4D97-AF65-F5344CB8AC3E}">
        <p14:creationId xmlns:p14="http://schemas.microsoft.com/office/powerpoint/2010/main" val="351700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24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6601</TotalTime>
  <Words>570</Words>
  <Application>Microsoft Office PowerPoint</Application>
  <PresentationFormat>寬螢幕</PresentationFormat>
  <Paragraphs>98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An Enhanced Support Vector Machine for Faster Time Series Classification</vt:lpstr>
      <vt:lpstr>Abstract(1/2)</vt:lpstr>
      <vt:lpstr>Abstract(2/2)</vt:lpstr>
      <vt:lpstr>Time Series Classification</vt:lpstr>
      <vt:lpstr>Countermeasure</vt:lpstr>
      <vt:lpstr>SVM(1/2)</vt:lpstr>
      <vt:lpstr>SVM(2/2)</vt:lpstr>
      <vt:lpstr>DTW with SVM</vt:lpstr>
      <vt:lpstr>Dynamic Time Warping(DTW)</vt:lpstr>
      <vt:lpstr>Dynamic Time Warping(DTW)</vt:lpstr>
      <vt:lpstr>Global Constraint</vt:lpstr>
      <vt:lpstr>Lower Bound of DTW</vt:lpstr>
      <vt:lpstr>LB_Keogh Feature Construction</vt:lpstr>
      <vt:lpstr>Experiment Results(1/3)</vt:lpstr>
      <vt:lpstr>Experiment Results(2/3)</vt:lpstr>
      <vt:lpstr>Experiment Results(3/3)</vt:lpstr>
      <vt:lpstr>PowerPoint 簡報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Bo Xian Chen</cp:lastModifiedBy>
  <cp:revision>257</cp:revision>
  <dcterms:created xsi:type="dcterms:W3CDTF">2016-10-10T16:56:48Z</dcterms:created>
  <dcterms:modified xsi:type="dcterms:W3CDTF">2017-05-09T10:40:09Z</dcterms:modified>
</cp:coreProperties>
</file>