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2" r:id="rId8"/>
    <p:sldId id="262" r:id="rId9"/>
    <p:sldId id="263" r:id="rId10"/>
    <p:sldId id="264" r:id="rId11"/>
    <p:sldId id="266" r:id="rId12"/>
    <p:sldId id="267" r:id="rId13"/>
    <p:sldId id="265" r:id="rId14"/>
    <p:sldId id="268" r:id="rId15"/>
    <p:sldId id="269" r:id="rId16"/>
    <p:sldId id="273" r:id="rId17"/>
    <p:sldId id="270" r:id="rId18"/>
    <p:sldId id="271"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01" autoAdjust="0"/>
    <p:restoredTop sz="94660"/>
  </p:normalViewPr>
  <p:slideViewPr>
    <p:cSldViewPr snapToGrid="0">
      <p:cViewPr varScale="1">
        <p:scale>
          <a:sx n="114" d="100"/>
          <a:sy n="114" d="100"/>
        </p:scale>
        <p:origin x="39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7252B633-A20A-489E-AA02-00779A528190}" type="datetimeFigureOut">
              <a:rPr lang="zh-TW" altLang="en-US" smtClean="0"/>
              <a:t>2017/5/2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1053201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252B633-A20A-489E-AA02-00779A528190}" type="datetimeFigureOut">
              <a:rPr lang="zh-TW" altLang="en-US" smtClean="0"/>
              <a:t>2017/5/2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1726139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7252B633-A20A-489E-AA02-00779A528190}" type="datetimeFigureOut">
              <a:rPr lang="zh-TW" altLang="en-US" smtClean="0"/>
              <a:t>2017/5/2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2621150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7252B633-A20A-489E-AA02-00779A528190}" type="datetimeFigureOut">
              <a:rPr lang="zh-TW" altLang="en-US" smtClean="0"/>
              <a:t>2017/5/2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2911487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7252B633-A20A-489E-AA02-00779A528190}" type="datetimeFigureOut">
              <a:rPr lang="zh-TW" altLang="en-US" smtClean="0"/>
              <a:t>2017/5/2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427544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7252B633-A20A-489E-AA02-00779A528190}" type="datetimeFigureOut">
              <a:rPr lang="zh-TW" altLang="en-US" smtClean="0"/>
              <a:t>2017/5/2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1695295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7252B633-A20A-489E-AA02-00779A528190}" type="datetimeFigureOut">
              <a:rPr lang="zh-TW" altLang="en-US" smtClean="0"/>
              <a:t>2017/5/2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930861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7252B633-A20A-489E-AA02-00779A528190}" type="datetimeFigureOut">
              <a:rPr lang="zh-TW" altLang="en-US" smtClean="0"/>
              <a:t>2017/5/2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2236932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7252B633-A20A-489E-AA02-00779A528190}" type="datetimeFigureOut">
              <a:rPr lang="zh-TW" altLang="en-US" smtClean="0"/>
              <a:t>2017/5/2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198953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252B633-A20A-489E-AA02-00779A528190}" type="datetimeFigureOut">
              <a:rPr lang="zh-TW" altLang="en-US" smtClean="0"/>
              <a:t>2017/5/2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1063713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252B633-A20A-489E-AA02-00779A528190}" type="datetimeFigureOut">
              <a:rPr lang="zh-TW" altLang="en-US" smtClean="0"/>
              <a:t>2017/5/2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374459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52B633-A20A-489E-AA02-00779A528190}" type="datetimeFigureOut">
              <a:rPr lang="zh-TW" altLang="en-US" smtClean="0"/>
              <a:t>2017/5/2</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E34071-E665-482C-96AD-EC086D081E27}" type="slidenum">
              <a:rPr lang="zh-TW" altLang="en-US" smtClean="0"/>
              <a:t>‹#›</a:t>
            </a:fld>
            <a:endParaRPr lang="zh-TW" altLang="en-US"/>
          </a:p>
        </p:txBody>
      </p:sp>
    </p:spTree>
    <p:extLst>
      <p:ext uri="{BB962C8B-B14F-4D97-AF65-F5344CB8AC3E}">
        <p14:creationId xmlns:p14="http://schemas.microsoft.com/office/powerpoint/2010/main" val="1149478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gif"/><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729842"/>
            <a:ext cx="9037739" cy="1773442"/>
          </a:xfrm>
        </p:spPr>
        <p:txBody>
          <a:bodyPr>
            <a:normAutofit/>
          </a:bodyPr>
          <a:lstStyle/>
          <a:p>
            <a:r>
              <a:rPr lang="en-US" altLang="zh-TW" sz="3600" dirty="0"/>
              <a:t>Mining stock category association and cluster on Taiwan stock market</a:t>
            </a:r>
            <a:endParaRPr lang="zh-TW" altLang="en-US" sz="3600" dirty="0"/>
          </a:p>
        </p:txBody>
      </p:sp>
      <p:sp>
        <p:nvSpPr>
          <p:cNvPr id="3" name="副標題 2"/>
          <p:cNvSpPr>
            <a:spLocks noGrp="1"/>
          </p:cNvSpPr>
          <p:nvPr>
            <p:ph type="subTitle" idx="1"/>
          </p:nvPr>
        </p:nvSpPr>
        <p:spPr>
          <a:xfrm>
            <a:off x="981513" y="3602038"/>
            <a:ext cx="10242957" cy="1655762"/>
          </a:xfrm>
        </p:spPr>
        <p:txBody>
          <a:bodyPr>
            <a:normAutofit/>
          </a:bodyPr>
          <a:lstStyle/>
          <a:p>
            <a:r>
              <a:rPr lang="en-US" altLang="zh-TW" sz="2500" dirty="0"/>
              <a:t>Shu-Hsien Liao, Hsu-hui Ho, Hui-wen Lin</a:t>
            </a:r>
          </a:p>
          <a:p>
            <a:r>
              <a:rPr lang="en-US" altLang="zh-TW" sz="1700" dirty="0"/>
              <a:t>Department of Management Sciences and Decision Making, </a:t>
            </a:r>
            <a:r>
              <a:rPr lang="en-US" altLang="zh-TW" sz="1700" dirty="0" err="1"/>
              <a:t>Tamkang</a:t>
            </a:r>
            <a:r>
              <a:rPr lang="en-US" altLang="zh-TW" sz="1700" dirty="0"/>
              <a:t> University, Taiwan</a:t>
            </a:r>
          </a:p>
          <a:p>
            <a:pPr fontAlgn="base"/>
            <a:r>
              <a:rPr lang="en-US" altLang="zh-TW" sz="2500" dirty="0"/>
              <a:t>Expert Systems with Applications Volume 35, Issues 1–2, 2008, Pages 19–29</a:t>
            </a:r>
          </a:p>
          <a:p>
            <a:endParaRPr lang="en-US" altLang="zh-TW" dirty="0"/>
          </a:p>
          <a:p>
            <a:endParaRPr lang="zh-TW" altLang="en-US" dirty="0"/>
          </a:p>
        </p:txBody>
      </p:sp>
      <p:sp>
        <p:nvSpPr>
          <p:cNvPr id="4" name="文字方塊 3"/>
          <p:cNvSpPr txBox="1"/>
          <p:nvPr/>
        </p:nvSpPr>
        <p:spPr>
          <a:xfrm>
            <a:off x="4710418" y="5436066"/>
            <a:ext cx="2785146" cy="646331"/>
          </a:xfrm>
          <a:prstGeom prst="rect">
            <a:avLst/>
          </a:prstGeom>
          <a:noFill/>
        </p:spPr>
        <p:txBody>
          <a:bodyPr wrap="square" rtlCol="0">
            <a:spAutoFit/>
          </a:bodyPr>
          <a:lstStyle/>
          <a:p>
            <a:r>
              <a:rPr lang="en-US" altLang="zh-TW" dirty="0"/>
              <a:t>Presenter: Shih-Jhan Huang</a:t>
            </a:r>
          </a:p>
          <a:p>
            <a:r>
              <a:rPr lang="en-US" altLang="zh-TW" dirty="0"/>
              <a:t>Date</a:t>
            </a:r>
            <a:r>
              <a:rPr lang="en-US" altLang="zh-TW"/>
              <a:t>: 2017/5/</a:t>
            </a:r>
            <a:r>
              <a:rPr lang="en-US" altLang="zh-TW" dirty="0"/>
              <a:t>9</a:t>
            </a:r>
            <a:endParaRPr lang="zh-TW" altLang="en-US" dirty="0"/>
          </a:p>
        </p:txBody>
      </p:sp>
    </p:spTree>
    <p:extLst>
      <p:ext uri="{BB962C8B-B14F-4D97-AF65-F5344CB8AC3E}">
        <p14:creationId xmlns:p14="http://schemas.microsoft.com/office/powerpoint/2010/main" val="3438033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5300" dirty="0"/>
              <a:t>Abstract</a:t>
            </a:r>
            <a:endParaRPr lang="zh-TW" altLang="en-US" sz="5300" dirty="0"/>
          </a:p>
        </p:txBody>
      </p:sp>
      <p:sp>
        <p:nvSpPr>
          <p:cNvPr id="3" name="內容版面配置區 2"/>
          <p:cNvSpPr>
            <a:spLocks noGrp="1"/>
          </p:cNvSpPr>
          <p:nvPr>
            <p:ph idx="1"/>
          </p:nvPr>
        </p:nvSpPr>
        <p:spPr/>
        <p:txBody>
          <a:bodyPr>
            <a:normAutofit fontScale="92500" lnSpcReduction="20000"/>
          </a:bodyPr>
          <a:lstStyle/>
          <a:p>
            <a:pPr marL="0" indent="0" algn="just">
              <a:buNone/>
            </a:pPr>
            <a:r>
              <a:rPr lang="en-US" altLang="zh-TW" dirty="0"/>
              <a:t>One of the most important problems in modern finance is finding efficient ways to summarize and visualize the stock market data to give individuals or institutions useful information about the market behavior for investment decisions. The enormous amount of valuable data generated by the stock market has attracted researchers to explore this problem domain using different methodologies. This paper investigates stock market investment issues on Taiwan stock market using a two-stage data mining approach. The first stage </a:t>
            </a:r>
            <a:r>
              <a:rPr lang="en-US" altLang="zh-TW" dirty="0" err="1"/>
              <a:t>Apriori</a:t>
            </a:r>
            <a:r>
              <a:rPr lang="en-US" altLang="zh-TW" dirty="0"/>
              <a:t> algorithm is a methodology of association rules, which is implemented to mine knowledge and illustrate knowledge patterns and rules in order to propose stock category association and possible stock category investment collections. Then the K-means algorithm is a methodology of cluster analysis implemented to explore the stock cluster in order to mine stock category clusters for investment information. By doing so, this paper proposes several possible Taiwan stock market portfolio alternatives under different circumstances.</a:t>
            </a:r>
            <a:endParaRPr lang="zh-TW" altLang="en-US" dirty="0"/>
          </a:p>
        </p:txBody>
      </p:sp>
    </p:spTree>
    <p:extLst>
      <p:ext uri="{BB962C8B-B14F-4D97-AF65-F5344CB8AC3E}">
        <p14:creationId xmlns:p14="http://schemas.microsoft.com/office/powerpoint/2010/main" val="1178336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5300" dirty="0"/>
              <a:t>TAIEX</a:t>
            </a:r>
            <a:endParaRPr lang="zh-TW" altLang="en-US" sz="5300" dirty="0"/>
          </a:p>
        </p:txBody>
      </p:sp>
      <p:sp>
        <p:nvSpPr>
          <p:cNvPr id="3" name="內容版面配置區 2"/>
          <p:cNvSpPr>
            <a:spLocks noGrp="1"/>
          </p:cNvSpPr>
          <p:nvPr>
            <p:ph idx="1"/>
          </p:nvPr>
        </p:nvSpPr>
        <p:spPr>
          <a:xfrm>
            <a:off x="838200" y="1825624"/>
            <a:ext cx="10515600" cy="4248005"/>
          </a:xfrm>
        </p:spPr>
        <p:txBody>
          <a:bodyPr>
            <a:normAutofit/>
          </a:bodyPr>
          <a:lstStyle/>
          <a:p>
            <a:r>
              <a:rPr lang="en-US" altLang="zh-TW" dirty="0"/>
              <a:t>Taiwan Stock Exchange Capitalization Weighted Stock Index</a:t>
            </a:r>
          </a:p>
          <a:p>
            <a:pPr marL="0" indent="0">
              <a:buNone/>
            </a:pPr>
            <a:r>
              <a:rPr lang="zh-TW" altLang="en-US" sz="1800" dirty="0">
                <a:latin typeface="標楷體" panose="03000509000000000000" pitchFamily="65" charset="-120"/>
                <a:ea typeface="標楷體" panose="03000509000000000000" pitchFamily="65" charset="-120"/>
              </a:rPr>
              <a:t>採用「柏謝加權算式」（</a:t>
            </a:r>
            <a:r>
              <a:rPr lang="en-US" altLang="zh-TW" sz="1800" dirty="0" err="1">
                <a:latin typeface="標楷體" panose="03000509000000000000" pitchFamily="65" charset="-120"/>
                <a:ea typeface="標楷體" panose="03000509000000000000" pitchFamily="65" charset="-120"/>
              </a:rPr>
              <a:t>Passche</a:t>
            </a:r>
            <a:r>
              <a:rPr lang="en-US" altLang="zh-TW" sz="1800" dirty="0">
                <a:latin typeface="標楷體" panose="03000509000000000000" pitchFamily="65" charset="-120"/>
                <a:ea typeface="標楷體" panose="03000509000000000000" pitchFamily="65" charset="-120"/>
              </a:rPr>
              <a:t> Formula</a:t>
            </a:r>
            <a:r>
              <a:rPr lang="zh-TW" altLang="en-US" sz="1800" dirty="0">
                <a:latin typeface="標楷體" panose="03000509000000000000" pitchFamily="65" charset="-120"/>
                <a:ea typeface="標楷體" panose="03000509000000000000" pitchFamily="65" charset="-120"/>
              </a:rPr>
              <a:t>），與美國</a:t>
            </a:r>
            <a:r>
              <a:rPr lang="en-US" altLang="zh-TW" sz="1800" dirty="0">
                <a:latin typeface="標楷體" panose="03000509000000000000" pitchFamily="65" charset="-120"/>
                <a:ea typeface="標楷體" panose="03000509000000000000" pitchFamily="65" charset="-120"/>
              </a:rPr>
              <a:t>S&amp;P 500</a:t>
            </a:r>
            <a:r>
              <a:rPr lang="zh-TW" altLang="en-US" sz="1800" dirty="0">
                <a:latin typeface="標楷體" panose="03000509000000000000" pitchFamily="65" charset="-120"/>
                <a:ea typeface="標楷體" panose="03000509000000000000" pitchFamily="65" charset="-120"/>
              </a:rPr>
              <a:t>相同，反應整體市場股票價值變動的指標。以上市股票之市值當作權數來計算股價指數，採樣樣本為</a:t>
            </a:r>
            <a:r>
              <a:rPr lang="zh-TW" altLang="en-US" sz="1800" dirty="0">
                <a:solidFill>
                  <a:srgbClr val="0070C0"/>
                </a:solidFill>
                <a:latin typeface="標楷體" panose="03000509000000000000" pitchFamily="65" charset="-120"/>
                <a:ea typeface="標楷體" panose="03000509000000000000" pitchFamily="65" charset="-120"/>
              </a:rPr>
              <a:t>普通股</a:t>
            </a:r>
            <a:r>
              <a:rPr lang="zh-TW" altLang="en-US" sz="1800" dirty="0">
                <a:latin typeface="標楷體" panose="03000509000000000000" pitchFamily="65" charset="-120"/>
                <a:ea typeface="標楷體" panose="03000509000000000000" pitchFamily="65" charset="-120"/>
              </a:rPr>
              <a:t>，但初上市股票與全額交割股票除外。</a:t>
            </a:r>
            <a:endParaRPr lang="en-US" altLang="zh-TW" sz="1800" dirty="0">
              <a:latin typeface="標楷體" panose="03000509000000000000" pitchFamily="65" charset="-120"/>
              <a:ea typeface="標楷體" panose="03000509000000000000" pitchFamily="65" charset="-120"/>
            </a:endParaRPr>
          </a:p>
          <a:p>
            <a:pPr marL="0" indent="0">
              <a:buNone/>
            </a:pPr>
            <a:endParaRPr lang="en-US" altLang="zh-TW" sz="1800" dirty="0">
              <a:latin typeface="標楷體" panose="03000509000000000000" pitchFamily="65" charset="-120"/>
              <a:ea typeface="標楷體" panose="03000509000000000000" pitchFamily="65" charset="-120"/>
            </a:endParaRPr>
          </a:p>
          <a:p>
            <a:r>
              <a:rPr lang="zh-TW" altLang="en-US" sz="2300" dirty="0">
                <a:latin typeface="標楷體" panose="03000509000000000000" pitchFamily="65" charset="-120"/>
                <a:ea typeface="標楷體" panose="03000509000000000000" pitchFamily="65" charset="-120"/>
              </a:rPr>
              <a:t>基期</a:t>
            </a:r>
            <a:r>
              <a:rPr lang="en-US" altLang="zh-TW" sz="2300" dirty="0">
                <a:latin typeface="標楷體" panose="03000509000000000000" pitchFamily="65" charset="-120"/>
                <a:ea typeface="標楷體" panose="03000509000000000000" pitchFamily="65" charset="-120"/>
              </a:rPr>
              <a:t>:</a:t>
            </a:r>
            <a:r>
              <a:rPr lang="zh-TW" altLang="en-US" sz="2300" dirty="0">
                <a:latin typeface="標楷體" panose="03000509000000000000" pitchFamily="65" charset="-120"/>
                <a:ea typeface="標楷體" panose="03000509000000000000" pitchFamily="65" charset="-120"/>
              </a:rPr>
              <a:t>以民國</a:t>
            </a:r>
            <a:r>
              <a:rPr lang="en-US" altLang="zh-TW" sz="2300" dirty="0">
                <a:latin typeface="標楷體" panose="03000509000000000000" pitchFamily="65" charset="-120"/>
                <a:ea typeface="標楷體" panose="03000509000000000000" pitchFamily="65" charset="-120"/>
              </a:rPr>
              <a:t>55</a:t>
            </a:r>
            <a:r>
              <a:rPr lang="zh-TW" altLang="en-US" sz="2300" dirty="0">
                <a:latin typeface="標楷體" panose="03000509000000000000" pitchFamily="65" charset="-120"/>
                <a:ea typeface="標楷體" panose="03000509000000000000" pitchFamily="65" charset="-120"/>
              </a:rPr>
              <a:t>年平均數為基期，基期指數設定為</a:t>
            </a:r>
            <a:r>
              <a:rPr lang="en-US" altLang="zh-TW" sz="2300" dirty="0">
                <a:latin typeface="標楷體" panose="03000509000000000000" pitchFamily="65" charset="-120"/>
                <a:ea typeface="標楷體" panose="03000509000000000000" pitchFamily="65" charset="-120"/>
              </a:rPr>
              <a:t>100</a:t>
            </a:r>
          </a:p>
          <a:p>
            <a:r>
              <a:rPr lang="en-US" altLang="zh-TW" sz="2300" dirty="0">
                <a:latin typeface="標楷體" panose="03000509000000000000" pitchFamily="65" charset="-120"/>
                <a:ea typeface="標楷體" panose="03000509000000000000" pitchFamily="65" charset="-120"/>
              </a:rPr>
              <a:t>TAIEX</a:t>
            </a:r>
            <a:r>
              <a:rPr lang="zh-TW" altLang="en-US" sz="2300" dirty="0">
                <a:latin typeface="標楷體" panose="03000509000000000000" pitchFamily="65" charset="-120"/>
                <a:ea typeface="標楷體" panose="03000509000000000000" pitchFamily="65" charset="-120"/>
              </a:rPr>
              <a:t> ＝ </a:t>
            </a:r>
            <a:r>
              <a:rPr lang="en-US" altLang="zh-TW" sz="2300" dirty="0">
                <a:latin typeface="標楷體" panose="03000509000000000000" pitchFamily="65" charset="-120"/>
                <a:ea typeface="標楷體" panose="03000509000000000000" pitchFamily="65" charset="-120"/>
              </a:rPr>
              <a:t>(</a:t>
            </a:r>
            <a:r>
              <a:rPr lang="zh-TW" altLang="en-US" sz="2300" dirty="0">
                <a:latin typeface="標楷體" panose="03000509000000000000" pitchFamily="65" charset="-120"/>
                <a:ea typeface="標楷體" panose="03000509000000000000" pitchFamily="65" charset="-120"/>
              </a:rPr>
              <a:t>總發行市值 </a:t>
            </a:r>
            <a:r>
              <a:rPr lang="en-US" altLang="zh-TW" sz="2300" dirty="0">
                <a:latin typeface="標楷體" panose="03000509000000000000" pitchFamily="65" charset="-120"/>
                <a:ea typeface="標楷體" panose="03000509000000000000" pitchFamily="65" charset="-120"/>
              </a:rPr>
              <a:t>÷ </a:t>
            </a:r>
            <a:r>
              <a:rPr lang="zh-TW" altLang="en-US" sz="2300" dirty="0">
                <a:latin typeface="標楷體" panose="03000509000000000000" pitchFamily="65" charset="-120"/>
                <a:ea typeface="標楷體" panose="03000509000000000000" pitchFamily="65" charset="-120"/>
              </a:rPr>
              <a:t>當日基值</a:t>
            </a:r>
            <a:r>
              <a:rPr lang="en-US" altLang="zh-TW" sz="2300" dirty="0">
                <a:latin typeface="標楷體" panose="03000509000000000000" pitchFamily="65" charset="-120"/>
                <a:ea typeface="標楷體" panose="03000509000000000000" pitchFamily="65" charset="-120"/>
              </a:rPr>
              <a:t>)</a:t>
            </a:r>
            <a:r>
              <a:rPr lang="zh-TW" altLang="en-US" sz="2300" dirty="0">
                <a:latin typeface="標楷體" panose="03000509000000000000" pitchFamily="65" charset="-120"/>
                <a:ea typeface="標楷體" panose="03000509000000000000" pitchFamily="65" charset="-120"/>
              </a:rPr>
              <a:t> </a:t>
            </a:r>
            <a:r>
              <a:rPr lang="en-US" altLang="zh-TW" sz="2300" dirty="0">
                <a:latin typeface="標楷體" panose="03000509000000000000" pitchFamily="65" charset="-120"/>
                <a:ea typeface="標楷體" panose="03000509000000000000" pitchFamily="65" charset="-120"/>
              </a:rPr>
              <a:t>× 100</a:t>
            </a:r>
          </a:p>
          <a:p>
            <a:pPr marL="0" indent="0">
              <a:buNone/>
            </a:pPr>
            <a:r>
              <a:rPr lang="en-US" altLang="zh-TW" sz="1600" dirty="0">
                <a:latin typeface="標楷體" panose="03000509000000000000" pitchFamily="65" charset="-120"/>
                <a:ea typeface="標楷體" panose="03000509000000000000" pitchFamily="65" charset="-120"/>
              </a:rPr>
              <a:t>(</a:t>
            </a:r>
            <a:r>
              <a:rPr lang="zh-TW" altLang="en-US" sz="1600" dirty="0">
                <a:latin typeface="標楷體" panose="03000509000000000000" pitchFamily="65" charset="-120"/>
                <a:ea typeface="標楷體" panose="03000509000000000000" pitchFamily="65" charset="-120"/>
              </a:rPr>
              <a:t>總發行市值為各採樣股票成交價格乘以當日發行股數所得市值之總和，若當日無成交價格時，得以當日開盤競價基準計算。但新上市公司股票納入指數計算，得以當日上市股數為準。</a:t>
            </a:r>
            <a:r>
              <a:rPr lang="en-US" altLang="zh-TW" sz="1600" dirty="0">
                <a:latin typeface="標楷體" panose="03000509000000000000" pitchFamily="65" charset="-120"/>
                <a:ea typeface="標楷體" panose="03000509000000000000" pitchFamily="65" charset="-120"/>
              </a:rPr>
              <a:t>)</a:t>
            </a:r>
          </a:p>
          <a:p>
            <a:pPr marL="0" indent="0">
              <a:buNone/>
            </a:pPr>
            <a:endParaRPr lang="en-US" altLang="zh-TW" sz="1800" dirty="0"/>
          </a:p>
          <a:p>
            <a:pPr marL="0" indent="0">
              <a:buNone/>
            </a:pPr>
            <a:r>
              <a:rPr lang="zh-TW" altLang="en-US" sz="1600" dirty="0">
                <a:latin typeface="標楷體" panose="03000509000000000000" pitchFamily="65" charset="-120"/>
                <a:ea typeface="標楷體" panose="03000509000000000000" pitchFamily="65" charset="-120"/>
              </a:rPr>
              <a:t>當日基值 ＝ 前一日基值 </a:t>
            </a:r>
            <a:r>
              <a:rPr lang="en-US" altLang="zh-TW" sz="1600" dirty="0">
                <a:latin typeface="標楷體" panose="03000509000000000000" pitchFamily="65" charset="-120"/>
                <a:ea typeface="標楷體" panose="03000509000000000000" pitchFamily="65" charset="-120"/>
              </a:rPr>
              <a:t>×</a:t>
            </a:r>
            <a:r>
              <a:rPr lang="zh-TW" altLang="en-US" sz="1600" dirty="0">
                <a:latin typeface="標楷體" panose="03000509000000000000" pitchFamily="65" charset="-120"/>
                <a:ea typeface="標楷體" panose="03000509000000000000" pitchFamily="65" charset="-120"/>
              </a:rPr>
              <a:t>（前一日收盤後調整之總發行市值 </a:t>
            </a:r>
            <a:r>
              <a:rPr lang="en-US" altLang="zh-TW" sz="1600" dirty="0">
                <a:latin typeface="標楷體" panose="03000509000000000000" pitchFamily="65" charset="-120"/>
                <a:ea typeface="標楷體" panose="03000509000000000000" pitchFamily="65" charset="-120"/>
              </a:rPr>
              <a:t>÷ </a:t>
            </a:r>
            <a:r>
              <a:rPr lang="zh-TW" altLang="en-US" sz="1600" dirty="0">
                <a:latin typeface="標楷體" panose="03000509000000000000" pitchFamily="65" charset="-120"/>
                <a:ea typeface="標楷體" panose="03000509000000000000" pitchFamily="65" charset="-120"/>
              </a:rPr>
              <a:t>前一日收盤總發行市值）</a:t>
            </a:r>
            <a:endParaRPr lang="en-US" altLang="zh-TW" sz="1600" dirty="0">
              <a:latin typeface="標楷體" panose="03000509000000000000" pitchFamily="65" charset="-120"/>
              <a:ea typeface="標楷體" panose="03000509000000000000" pitchFamily="65" charset="-120"/>
            </a:endParaRPr>
          </a:p>
          <a:p>
            <a:pPr marL="0" indent="0">
              <a:buNone/>
            </a:pPr>
            <a:r>
              <a:rPr lang="zh-TW" altLang="en-US" sz="1600" dirty="0">
                <a:latin typeface="標楷體" panose="03000509000000000000" pitchFamily="65" charset="-120"/>
                <a:ea typeface="標楷體" panose="03000509000000000000" pitchFamily="65" charset="-120"/>
              </a:rPr>
              <a:t>前一日收盤後調整之總發行市值 ＝ 前一日收盤總發行市值 ＋ 各項調整市值之總和，調整市值之計算方式</a:t>
            </a:r>
            <a:endParaRPr lang="en-US" altLang="zh-TW" sz="1600" dirty="0">
              <a:latin typeface="標楷體" panose="03000509000000000000" pitchFamily="65" charset="-120"/>
              <a:ea typeface="標楷體" panose="03000509000000000000" pitchFamily="65" charset="-120"/>
            </a:endParaRPr>
          </a:p>
          <a:p>
            <a:endParaRPr lang="en-US" altLang="zh-TW" dirty="0"/>
          </a:p>
          <a:p>
            <a:endParaRPr lang="zh-TW" altLang="en-US" dirty="0"/>
          </a:p>
        </p:txBody>
      </p:sp>
    </p:spTree>
    <p:extLst>
      <p:ext uri="{BB962C8B-B14F-4D97-AF65-F5344CB8AC3E}">
        <p14:creationId xmlns:p14="http://schemas.microsoft.com/office/powerpoint/2010/main" val="818021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sz="3600" dirty="0">
                <a:latin typeface="標楷體" panose="03000509000000000000" pitchFamily="65" charset="-120"/>
                <a:ea typeface="標楷體" panose="03000509000000000000" pitchFamily="65" charset="-120"/>
                <a:cs typeface="Times New Roman" panose="02020603050405020304" pitchFamily="18" charset="0"/>
              </a:rPr>
              <a:t>台灣加權指數採納原則</a:t>
            </a:r>
          </a:p>
        </p:txBody>
      </p:sp>
      <p:sp>
        <p:nvSpPr>
          <p:cNvPr id="3" name="內容版面配置區 2"/>
          <p:cNvSpPr>
            <a:spLocks noGrp="1"/>
          </p:cNvSpPr>
          <p:nvPr>
            <p:ph idx="1"/>
          </p:nvPr>
        </p:nvSpPr>
        <p:spPr/>
        <p:txBody>
          <a:bodyPr/>
          <a:lstStyle/>
          <a:p>
            <a:pPr marL="342900" indent="-342900">
              <a:buFont typeface="+mj-ea"/>
              <a:buAutoNum type="ea1ChtPeriod"/>
            </a:pPr>
            <a:r>
              <a:rPr lang="zh-TW" altLang="en-US" sz="2500" dirty="0">
                <a:latin typeface="標楷體" panose="03000509000000000000" pitchFamily="65" charset="-120"/>
                <a:ea typeface="標楷體" panose="03000509000000000000" pitchFamily="65" charset="-120"/>
              </a:rPr>
              <a:t>新上市公司股票在上市滿一個日曆月的次月第一個交易日納入樣本，但已上市公司轉換為金融控股公司、投資控股公司，及上櫃轉上市公司，則於上市當日即納入樣本。</a:t>
            </a:r>
            <a:endParaRPr lang="en-US" altLang="zh-TW" sz="2500" dirty="0">
              <a:latin typeface="標楷體" panose="03000509000000000000" pitchFamily="65" charset="-120"/>
              <a:ea typeface="標楷體" panose="03000509000000000000" pitchFamily="65" charset="-120"/>
            </a:endParaRPr>
          </a:p>
          <a:p>
            <a:pPr marL="342900" indent="-342900">
              <a:buFont typeface="+mj-ea"/>
              <a:buAutoNum type="ea1ChtPeriod"/>
            </a:pPr>
            <a:r>
              <a:rPr lang="zh-TW" altLang="en-US" sz="2500" dirty="0">
                <a:latin typeface="標楷體" panose="03000509000000000000" pitchFamily="65" charset="-120"/>
                <a:ea typeface="標楷體" panose="03000509000000000000" pitchFamily="65" charset="-120"/>
              </a:rPr>
              <a:t>停止買賣股票不納入樣本，俟恢復普通交易滿一個日曆月的次月第一個交易日納入樣本，但因公司分割辦理減資換發新股而停止買賣的股票，新股恢復買賣當日即納入樣本。</a:t>
            </a:r>
            <a:endParaRPr lang="en-US" altLang="zh-TW" sz="2500" dirty="0">
              <a:latin typeface="標楷體" panose="03000509000000000000" pitchFamily="65" charset="-120"/>
              <a:ea typeface="標楷體" panose="03000509000000000000" pitchFamily="65" charset="-120"/>
            </a:endParaRPr>
          </a:p>
          <a:p>
            <a:pPr marL="342900" indent="-342900">
              <a:buFont typeface="+mj-ea"/>
              <a:buAutoNum type="ea1ChtPeriod"/>
            </a:pPr>
            <a:r>
              <a:rPr lang="zh-TW" altLang="en-US" sz="2500" dirty="0">
                <a:latin typeface="標楷體" panose="03000509000000000000" pitchFamily="65" charset="-120"/>
                <a:ea typeface="標楷體" panose="03000509000000000000" pitchFamily="65" charset="-120"/>
              </a:rPr>
              <a:t>變更交易方法股票不納入樣本，恢復普通交易當日，即納入樣本</a:t>
            </a:r>
            <a:endParaRPr lang="en-US" altLang="zh-TW" sz="2500" dirty="0">
              <a:latin typeface="標楷體" panose="03000509000000000000" pitchFamily="65" charset="-120"/>
              <a:ea typeface="標楷體" panose="03000509000000000000" pitchFamily="65" charset="-120"/>
            </a:endParaRPr>
          </a:p>
          <a:p>
            <a:endParaRPr lang="zh-TW" altLang="en-US" dirty="0"/>
          </a:p>
        </p:txBody>
      </p:sp>
    </p:spTree>
    <p:extLst>
      <p:ext uri="{BB962C8B-B14F-4D97-AF65-F5344CB8AC3E}">
        <p14:creationId xmlns:p14="http://schemas.microsoft.com/office/powerpoint/2010/main" val="1508806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5300" dirty="0"/>
              <a:t>Data</a:t>
            </a:r>
            <a:endParaRPr lang="zh-TW" altLang="en-US" sz="5300" dirty="0"/>
          </a:p>
        </p:txBody>
      </p:sp>
      <p:sp>
        <p:nvSpPr>
          <p:cNvPr id="3" name="內容版面配置區 2"/>
          <p:cNvSpPr>
            <a:spLocks noGrp="1"/>
          </p:cNvSpPr>
          <p:nvPr>
            <p:ph idx="1"/>
          </p:nvPr>
        </p:nvSpPr>
        <p:spPr/>
        <p:txBody>
          <a:bodyPr>
            <a:normAutofit/>
          </a:bodyPr>
          <a:lstStyle/>
          <a:p>
            <a:r>
              <a:rPr lang="en-US" altLang="zh-TW" sz="2500" dirty="0"/>
              <a:t>19 indices categories of stocks in </a:t>
            </a:r>
            <a:r>
              <a:rPr lang="en-US" altLang="zh-TW" sz="2500" b="1" dirty="0"/>
              <a:t>Taiwan</a:t>
            </a:r>
          </a:p>
          <a:p>
            <a:r>
              <a:rPr lang="en-US" altLang="zh-TW" sz="2400" dirty="0"/>
              <a:t>2000/1~2005/12</a:t>
            </a:r>
          </a:p>
          <a:p>
            <a:endParaRPr lang="en-US" altLang="zh-TW" sz="2500" b="1" dirty="0"/>
          </a:p>
        </p:txBody>
      </p:sp>
      <p:graphicFrame>
        <p:nvGraphicFramePr>
          <p:cNvPr id="4" name="表格 3"/>
          <p:cNvGraphicFramePr>
            <a:graphicFrameLocks noGrp="1"/>
          </p:cNvGraphicFramePr>
          <p:nvPr>
            <p:extLst>
              <p:ext uri="{D42A27DB-BD31-4B8C-83A1-F6EECF244321}">
                <p14:modId xmlns:p14="http://schemas.microsoft.com/office/powerpoint/2010/main" val="1338877975"/>
              </p:ext>
            </p:extLst>
          </p:nvPr>
        </p:nvGraphicFramePr>
        <p:xfrm>
          <a:off x="838200" y="2972385"/>
          <a:ext cx="9102755" cy="2883132"/>
        </p:xfrm>
        <a:graphic>
          <a:graphicData uri="http://schemas.openxmlformats.org/drawingml/2006/table">
            <a:tbl>
              <a:tblPr firstRow="1" bandRow="1">
                <a:tableStyleId>{5C22544A-7EE6-4342-B048-85BDC9FD1C3A}</a:tableStyleId>
              </a:tblPr>
              <a:tblGrid>
                <a:gridCol w="1820551">
                  <a:extLst>
                    <a:ext uri="{9D8B030D-6E8A-4147-A177-3AD203B41FA5}">
                      <a16:colId xmlns:a16="http://schemas.microsoft.com/office/drawing/2014/main" val="4073609657"/>
                    </a:ext>
                  </a:extLst>
                </a:gridCol>
                <a:gridCol w="1820551">
                  <a:extLst>
                    <a:ext uri="{9D8B030D-6E8A-4147-A177-3AD203B41FA5}">
                      <a16:colId xmlns:a16="http://schemas.microsoft.com/office/drawing/2014/main" val="3844991565"/>
                    </a:ext>
                  </a:extLst>
                </a:gridCol>
                <a:gridCol w="1820551">
                  <a:extLst>
                    <a:ext uri="{9D8B030D-6E8A-4147-A177-3AD203B41FA5}">
                      <a16:colId xmlns:a16="http://schemas.microsoft.com/office/drawing/2014/main" val="340280797"/>
                    </a:ext>
                  </a:extLst>
                </a:gridCol>
                <a:gridCol w="1820551">
                  <a:extLst>
                    <a:ext uri="{9D8B030D-6E8A-4147-A177-3AD203B41FA5}">
                      <a16:colId xmlns:a16="http://schemas.microsoft.com/office/drawing/2014/main" val="3620954002"/>
                    </a:ext>
                  </a:extLst>
                </a:gridCol>
                <a:gridCol w="1820551">
                  <a:extLst>
                    <a:ext uri="{9D8B030D-6E8A-4147-A177-3AD203B41FA5}">
                      <a16:colId xmlns:a16="http://schemas.microsoft.com/office/drawing/2014/main" val="1558210710"/>
                    </a:ext>
                  </a:extLst>
                </a:gridCol>
              </a:tblGrid>
              <a:tr h="7207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Cement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Food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800" b="0" dirty="0">
                          <a:solidFill>
                            <a:schemeClr val="tx1"/>
                          </a:solidFill>
                          <a:latin typeface="+mn-lt"/>
                        </a:rPr>
                        <a:t>Plastics</a:t>
                      </a:r>
                      <a:endParaRPr lang="zh-TW"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800" b="0" dirty="0">
                          <a:solidFill>
                            <a:schemeClr val="tx1"/>
                          </a:solidFill>
                          <a:latin typeface="+mn-lt"/>
                        </a:rPr>
                        <a:t>Textiles</a:t>
                      </a:r>
                      <a:endParaRPr lang="zh-TW"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electric and machinery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6608302"/>
                  </a:ext>
                </a:extLst>
              </a:tr>
              <a:tr h="7207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electric appliance and cable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Chemicals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glass and ceramics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paper and pulp</a:t>
                      </a:r>
                      <a:endParaRPr lang="zh-TW"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steel and iron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6768732"/>
                  </a:ext>
                </a:extLst>
              </a:tr>
              <a:tr h="7207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Rubber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dirty="0">
                          <a:solidFill>
                            <a:schemeClr val="tx1"/>
                          </a:solidFill>
                          <a:latin typeface="+mn-lt"/>
                        </a:rPr>
                        <a:t>Automobile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800" b="0" dirty="0">
                          <a:solidFill>
                            <a:schemeClr val="tx1"/>
                          </a:solidFill>
                          <a:latin typeface="+mn-lt"/>
                        </a:rPr>
                        <a:t>Electronics</a:t>
                      </a:r>
                      <a:endParaRPr lang="zh-TW"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800" b="0" dirty="0">
                          <a:solidFill>
                            <a:schemeClr val="tx1"/>
                          </a:solidFill>
                          <a:latin typeface="+mn-lt"/>
                        </a:rPr>
                        <a:t>construction</a:t>
                      </a:r>
                      <a:endParaRPr lang="zh-TW"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800" b="0" dirty="0">
                          <a:solidFill>
                            <a:schemeClr val="tx1"/>
                          </a:solidFill>
                          <a:latin typeface="+mn-lt"/>
                        </a:rPr>
                        <a:t>transportation</a:t>
                      </a:r>
                      <a:endParaRPr lang="zh-TW"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575572"/>
                  </a:ext>
                </a:extLst>
              </a:tr>
              <a:tr h="720783">
                <a:tc>
                  <a:txBody>
                    <a:bodyPr/>
                    <a:lstStyle/>
                    <a:p>
                      <a:pPr algn="ctr"/>
                      <a:r>
                        <a:rPr lang="en-US" altLang="zh-TW" sz="1800" b="0" dirty="0">
                          <a:solidFill>
                            <a:schemeClr val="tx1"/>
                          </a:solidFill>
                          <a:latin typeface="+mn-lt"/>
                        </a:rPr>
                        <a:t>tourism</a:t>
                      </a:r>
                      <a:endParaRPr lang="zh-TW"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800" b="0" dirty="0">
                          <a:solidFill>
                            <a:schemeClr val="tx1"/>
                          </a:solidFill>
                          <a:latin typeface="+mn-lt"/>
                        </a:rPr>
                        <a:t>finance and insurance</a:t>
                      </a:r>
                      <a:endParaRPr lang="zh-TW"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800" b="0" dirty="0">
                          <a:solidFill>
                            <a:schemeClr val="tx1"/>
                          </a:solidFill>
                          <a:latin typeface="+mn-lt"/>
                        </a:rPr>
                        <a:t>wholesale and retail</a:t>
                      </a:r>
                      <a:endParaRPr lang="zh-TW"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800" b="0" dirty="0">
                          <a:solidFill>
                            <a:schemeClr val="tx1"/>
                          </a:solidFill>
                          <a:latin typeface="+mn-lt"/>
                        </a:rPr>
                        <a:t>others</a:t>
                      </a:r>
                      <a:endParaRPr lang="zh-TW"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1269741"/>
                  </a:ext>
                </a:extLst>
              </a:tr>
            </a:tbl>
          </a:graphicData>
        </a:graphic>
      </p:graphicFrame>
    </p:spTree>
    <p:extLst>
      <p:ext uri="{BB962C8B-B14F-4D97-AF65-F5344CB8AC3E}">
        <p14:creationId xmlns:p14="http://schemas.microsoft.com/office/powerpoint/2010/main" val="630252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r>
              <a:rPr lang="en-US" altLang="zh-TW" b="1" dirty="0"/>
              <a:t>International indices</a:t>
            </a:r>
          </a:p>
          <a:p>
            <a:pPr marL="0" indent="0">
              <a:buNone/>
            </a:pPr>
            <a:r>
              <a:rPr lang="en-US" altLang="zh-TW" dirty="0"/>
              <a:t>(top 6 countries by their trading amount with Taiwan in 2005)</a:t>
            </a:r>
          </a:p>
          <a:p>
            <a:pPr marL="0" indent="0">
              <a:buNone/>
            </a:pPr>
            <a:r>
              <a:rPr lang="en-US" altLang="zh-TW" dirty="0"/>
              <a:t>2000/1~2005/12</a:t>
            </a: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9636" y="3591387"/>
            <a:ext cx="6249800" cy="2585576"/>
          </a:xfrm>
          <a:prstGeom prst="rect">
            <a:avLst/>
          </a:prstGeom>
        </p:spPr>
      </p:pic>
      <p:sp>
        <p:nvSpPr>
          <p:cNvPr id="6" name="文字方塊 5"/>
          <p:cNvSpPr txBox="1"/>
          <p:nvPr/>
        </p:nvSpPr>
        <p:spPr>
          <a:xfrm>
            <a:off x="8098173" y="4237971"/>
            <a:ext cx="4093827" cy="1938992"/>
          </a:xfrm>
          <a:prstGeom prst="rect">
            <a:avLst/>
          </a:prstGeom>
          <a:noFill/>
        </p:spPr>
        <p:txBody>
          <a:bodyPr wrap="square" rtlCol="0">
            <a:spAutoFit/>
          </a:bodyPr>
          <a:lstStyle/>
          <a:p>
            <a:r>
              <a:rPr lang="en-US" altLang="zh-TW" sz="1500" dirty="0">
                <a:latin typeface="Times New Roman" panose="02020603050405020304" pitchFamily="18" charset="0"/>
                <a:cs typeface="Times New Roman" panose="02020603050405020304" pitchFamily="18" charset="0"/>
              </a:rPr>
              <a:t>Shen Zhen (China)</a:t>
            </a:r>
            <a:br>
              <a:rPr lang="en-US" altLang="zh-TW" sz="1500" dirty="0">
                <a:latin typeface="Times New Roman" panose="02020603050405020304" pitchFamily="18" charset="0"/>
                <a:cs typeface="Times New Roman" panose="02020603050405020304" pitchFamily="18" charset="0"/>
              </a:rPr>
            </a:br>
            <a:r>
              <a:rPr lang="en-US" altLang="zh-TW" sz="1500" dirty="0">
                <a:latin typeface="Times New Roman" panose="02020603050405020304" pitchFamily="18" charset="0"/>
                <a:cs typeface="Times New Roman" panose="02020603050405020304" pitchFamily="18" charset="0"/>
              </a:rPr>
              <a:t>Shanghai (China)</a:t>
            </a:r>
            <a:r>
              <a:rPr lang="zh-TW" altLang="en-US" sz="1500" dirty="0">
                <a:latin typeface="Times New Roman" panose="02020603050405020304" pitchFamily="18" charset="0"/>
                <a:cs typeface="Times New Roman" panose="02020603050405020304" pitchFamily="18" charset="0"/>
              </a:rPr>
              <a:t> </a:t>
            </a:r>
            <a:r>
              <a:rPr lang="zh-TW" altLang="en-US" sz="1500" b="1" dirty="0">
                <a:latin typeface="Times New Roman" panose="02020603050405020304" pitchFamily="18" charset="0"/>
                <a:cs typeface="Times New Roman" panose="02020603050405020304" pitchFamily="18" charset="0"/>
              </a:rPr>
              <a:t>上</a:t>
            </a:r>
            <a:r>
              <a:rPr lang="zh-TW" altLang="en-US" sz="1500" dirty="0">
                <a:latin typeface="Times New Roman" panose="02020603050405020304" pitchFamily="18" charset="0"/>
                <a:cs typeface="Times New Roman" panose="02020603050405020304" pitchFamily="18" charset="0"/>
              </a:rPr>
              <a:t>海</a:t>
            </a:r>
            <a:r>
              <a:rPr lang="zh-TW" altLang="en-US" sz="1500" b="1" dirty="0">
                <a:latin typeface="Times New Roman" panose="02020603050405020304" pitchFamily="18" charset="0"/>
                <a:cs typeface="Times New Roman" panose="02020603050405020304" pitchFamily="18" charset="0"/>
              </a:rPr>
              <a:t>證</a:t>
            </a:r>
            <a:r>
              <a:rPr lang="zh-TW" altLang="en-US" sz="1500" dirty="0">
                <a:latin typeface="Times New Roman" panose="02020603050405020304" pitchFamily="18" charset="0"/>
                <a:cs typeface="Times New Roman" panose="02020603050405020304" pitchFamily="18" charset="0"/>
              </a:rPr>
              <a:t>券交易所</a:t>
            </a:r>
            <a:r>
              <a:rPr lang="zh-TW" altLang="en-US" sz="1500" b="1" dirty="0">
                <a:latin typeface="Times New Roman" panose="02020603050405020304" pitchFamily="18" charset="0"/>
                <a:cs typeface="Times New Roman" panose="02020603050405020304" pitchFamily="18" charset="0"/>
              </a:rPr>
              <a:t>綜</a:t>
            </a:r>
            <a:r>
              <a:rPr lang="zh-TW" altLang="en-US" sz="1500" dirty="0">
                <a:latin typeface="Times New Roman" panose="02020603050405020304" pitchFamily="18" charset="0"/>
                <a:cs typeface="Times New Roman" panose="02020603050405020304" pitchFamily="18" charset="0"/>
              </a:rPr>
              <a:t>合</a:t>
            </a:r>
            <a:r>
              <a:rPr lang="zh-TW" altLang="en-US" sz="1500" b="1" dirty="0">
                <a:latin typeface="Times New Roman" panose="02020603050405020304" pitchFamily="18" charset="0"/>
                <a:cs typeface="Times New Roman" panose="02020603050405020304" pitchFamily="18" charset="0"/>
              </a:rPr>
              <a:t>指</a:t>
            </a:r>
            <a:r>
              <a:rPr lang="zh-TW" altLang="en-US" sz="1500" dirty="0">
                <a:latin typeface="Times New Roman" panose="02020603050405020304" pitchFamily="18" charset="0"/>
                <a:cs typeface="Times New Roman" panose="02020603050405020304" pitchFamily="18" charset="0"/>
              </a:rPr>
              <a:t>數</a:t>
            </a:r>
            <a:br>
              <a:rPr lang="en-US" altLang="zh-TW" sz="1500" dirty="0">
                <a:latin typeface="Times New Roman" panose="02020603050405020304" pitchFamily="18" charset="0"/>
                <a:cs typeface="Times New Roman" panose="02020603050405020304" pitchFamily="18" charset="0"/>
              </a:rPr>
            </a:br>
            <a:r>
              <a:rPr lang="en-US" altLang="zh-TW" sz="1500" dirty="0">
                <a:latin typeface="Times New Roman" panose="02020603050405020304" pitchFamily="18" charset="0"/>
                <a:cs typeface="Times New Roman" panose="02020603050405020304" pitchFamily="18" charset="0"/>
              </a:rPr>
              <a:t>Nikkei 225 (Japan) </a:t>
            </a:r>
            <a:r>
              <a:rPr lang="zh-TW" altLang="en-US" sz="1500" dirty="0">
                <a:latin typeface="Times New Roman" panose="02020603050405020304" pitchFamily="18" charset="0"/>
                <a:cs typeface="Times New Roman" panose="02020603050405020304" pitchFamily="18" charset="0"/>
              </a:rPr>
              <a:t>日經指數</a:t>
            </a:r>
            <a:br>
              <a:rPr lang="en-US" altLang="zh-TW" sz="1500" dirty="0">
                <a:latin typeface="Times New Roman" panose="02020603050405020304" pitchFamily="18" charset="0"/>
                <a:cs typeface="Times New Roman" panose="02020603050405020304" pitchFamily="18" charset="0"/>
              </a:rPr>
            </a:br>
            <a:r>
              <a:rPr lang="en-US" altLang="zh-TW" sz="1500" dirty="0">
                <a:latin typeface="Times New Roman" panose="02020603050405020304" pitchFamily="18" charset="0"/>
                <a:cs typeface="Times New Roman" panose="02020603050405020304" pitchFamily="18" charset="0"/>
              </a:rPr>
              <a:t>Dow Jones (US)</a:t>
            </a:r>
            <a:r>
              <a:rPr lang="zh-TW" altLang="en-US" sz="1500" dirty="0">
                <a:latin typeface="Times New Roman" panose="02020603050405020304" pitchFamily="18" charset="0"/>
                <a:cs typeface="Times New Roman" panose="02020603050405020304" pitchFamily="18" charset="0"/>
              </a:rPr>
              <a:t> 道瓊工數指數</a:t>
            </a:r>
            <a:br>
              <a:rPr lang="en-US" altLang="zh-TW" sz="1500" dirty="0">
                <a:latin typeface="Times New Roman" panose="02020603050405020304" pitchFamily="18" charset="0"/>
                <a:cs typeface="Times New Roman" panose="02020603050405020304" pitchFamily="18" charset="0"/>
              </a:rPr>
            </a:br>
            <a:r>
              <a:rPr lang="en-US" altLang="zh-TW" sz="1500" dirty="0">
                <a:latin typeface="Times New Roman" panose="02020603050405020304" pitchFamily="18" charset="0"/>
                <a:cs typeface="Times New Roman" panose="02020603050405020304" pitchFamily="18" charset="0"/>
              </a:rPr>
              <a:t>NASDAQ (US) </a:t>
            </a:r>
            <a:r>
              <a:rPr lang="zh-TW" altLang="en-US" sz="1500" dirty="0">
                <a:latin typeface="Times New Roman" panose="02020603050405020304" pitchFamily="18" charset="0"/>
                <a:cs typeface="Times New Roman" panose="02020603050405020304" pitchFamily="18" charset="0"/>
              </a:rPr>
              <a:t>那斯達克綜合指數</a:t>
            </a:r>
            <a:endParaRPr lang="en-US" altLang="zh-TW" sz="1500" dirty="0">
              <a:latin typeface="Times New Roman" panose="02020603050405020304" pitchFamily="18" charset="0"/>
              <a:cs typeface="Times New Roman" panose="02020603050405020304" pitchFamily="18" charset="0"/>
            </a:endParaRPr>
          </a:p>
          <a:p>
            <a:r>
              <a:rPr lang="en-US" altLang="zh-TW" sz="1500" dirty="0">
                <a:latin typeface="Times New Roman" panose="02020603050405020304" pitchFamily="18" charset="0"/>
                <a:cs typeface="Times New Roman" panose="02020603050405020304" pitchFamily="18" charset="0"/>
              </a:rPr>
              <a:t>Hang Seng (Hong Kong) </a:t>
            </a:r>
            <a:r>
              <a:rPr lang="zh-TW" altLang="en-US" sz="1500" dirty="0">
                <a:latin typeface="Times New Roman" panose="02020603050405020304" pitchFamily="18" charset="0"/>
                <a:cs typeface="Times New Roman" panose="02020603050405020304" pitchFamily="18" charset="0"/>
              </a:rPr>
              <a:t>恆生指數</a:t>
            </a:r>
            <a:endParaRPr lang="en-US" altLang="zh-TW" sz="1500" dirty="0">
              <a:latin typeface="Times New Roman" panose="02020603050405020304" pitchFamily="18" charset="0"/>
              <a:cs typeface="Times New Roman" panose="02020603050405020304" pitchFamily="18" charset="0"/>
            </a:endParaRPr>
          </a:p>
          <a:p>
            <a:r>
              <a:rPr lang="en-US" altLang="zh-TW" sz="1500" dirty="0">
                <a:latin typeface="Times New Roman" panose="02020603050405020304" pitchFamily="18" charset="0"/>
                <a:cs typeface="Times New Roman" panose="02020603050405020304" pitchFamily="18" charset="0"/>
              </a:rPr>
              <a:t>KOSPI (South Korea)</a:t>
            </a:r>
            <a:r>
              <a:rPr lang="zh-TW" altLang="en-US" sz="1500" dirty="0">
                <a:latin typeface="Times New Roman" panose="02020603050405020304" pitchFamily="18" charset="0"/>
                <a:cs typeface="Times New Roman" panose="02020603050405020304" pitchFamily="18" charset="0"/>
              </a:rPr>
              <a:t> 韓國綜合股價指數</a:t>
            </a:r>
            <a:endParaRPr lang="en-US" altLang="zh-TW" sz="1500" dirty="0">
              <a:latin typeface="Times New Roman" panose="02020603050405020304" pitchFamily="18" charset="0"/>
              <a:cs typeface="Times New Roman" panose="02020603050405020304" pitchFamily="18" charset="0"/>
            </a:endParaRPr>
          </a:p>
          <a:p>
            <a:r>
              <a:rPr lang="en-US" altLang="zh-TW" sz="1500" dirty="0">
                <a:latin typeface="Times New Roman" panose="02020603050405020304" pitchFamily="18" charset="0"/>
                <a:cs typeface="Times New Roman" panose="02020603050405020304" pitchFamily="18" charset="0"/>
              </a:rPr>
              <a:t>Straits Times (Singapore) </a:t>
            </a:r>
            <a:r>
              <a:rPr lang="zh-TW" altLang="en-US" sz="1500" dirty="0">
                <a:latin typeface="Times New Roman" panose="02020603050405020304" pitchFamily="18" charset="0"/>
                <a:cs typeface="Times New Roman" panose="02020603050405020304" pitchFamily="18" charset="0"/>
              </a:rPr>
              <a:t>海峽時報指數</a:t>
            </a:r>
          </a:p>
        </p:txBody>
      </p:sp>
    </p:spTree>
    <p:extLst>
      <p:ext uri="{BB962C8B-B14F-4D97-AF65-F5344CB8AC3E}">
        <p14:creationId xmlns:p14="http://schemas.microsoft.com/office/powerpoint/2010/main" val="1443044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7338" y="247679"/>
            <a:ext cx="8131946" cy="6351930"/>
          </a:xfrm>
        </p:spPr>
      </p:pic>
    </p:spTree>
    <p:extLst>
      <p:ext uri="{BB962C8B-B14F-4D97-AF65-F5344CB8AC3E}">
        <p14:creationId xmlns:p14="http://schemas.microsoft.com/office/powerpoint/2010/main" val="817825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Method</a:t>
            </a:r>
            <a:endParaRPr lang="zh-TW" altLang="en-US" dirty="0"/>
          </a:p>
        </p:txBody>
      </p:sp>
      <p:sp>
        <p:nvSpPr>
          <p:cNvPr id="3" name="內容版面配置區 2"/>
          <p:cNvSpPr>
            <a:spLocks noGrp="1"/>
          </p:cNvSpPr>
          <p:nvPr>
            <p:ph idx="1"/>
          </p:nvPr>
        </p:nvSpPr>
        <p:spPr>
          <a:xfrm>
            <a:off x="838200" y="2479965"/>
            <a:ext cx="10515600" cy="4298339"/>
          </a:xfrm>
        </p:spPr>
        <p:txBody>
          <a:bodyPr>
            <a:normAutofit/>
          </a:bodyPr>
          <a:lstStyle/>
          <a:p>
            <a:r>
              <a:rPr lang="en-US" altLang="zh-TW" dirty="0"/>
              <a:t>Association rule (</a:t>
            </a:r>
            <a:r>
              <a:rPr lang="en-US" altLang="zh-TW" dirty="0" err="1"/>
              <a:t>Apriori</a:t>
            </a:r>
            <a:r>
              <a:rPr lang="en-US" altLang="zh-TW" dirty="0"/>
              <a:t> algorithm)</a:t>
            </a:r>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a:t>K-means cluster</a:t>
            </a:r>
            <a:endParaRPr lang="zh-TW" altLang="en-US" dirty="0"/>
          </a:p>
        </p:txBody>
      </p:sp>
      <mc:AlternateContent xmlns:mc="http://schemas.openxmlformats.org/markup-compatibility/2006">
        <mc:Choice xmlns:a14="http://schemas.microsoft.com/office/drawing/2010/main" Requires="a14">
          <p:sp>
            <p:nvSpPr>
              <p:cNvPr id="4" name="文字方塊 3"/>
              <p:cNvSpPr txBox="1"/>
              <p:nvPr/>
            </p:nvSpPr>
            <p:spPr>
              <a:xfrm>
                <a:off x="1507222" y="3145872"/>
                <a:ext cx="9177555" cy="2715167"/>
              </a:xfrm>
              <a:prstGeom prst="rect">
                <a:avLst/>
              </a:prstGeom>
              <a:noFill/>
            </p:spPr>
            <p:txBody>
              <a:bodyPr wrap="square" rtlCol="0">
                <a:spAutoFit/>
              </a:bodyPr>
              <a:lstStyle/>
              <a:p>
                <a:r>
                  <a:rPr lang="zh-TW" altLang="en-US" dirty="0"/>
                  <a:t>假設欲探討</a:t>
                </a:r>
                <a:r>
                  <a:rPr lang="en-US" altLang="zh-TW" dirty="0"/>
                  <a:t>X</a:t>
                </a:r>
                <a14:m>
                  <m:oMath xmlns:m="http://schemas.openxmlformats.org/officeDocument/2006/math">
                    <m:groupChr>
                      <m:groupChrPr>
                        <m:chr m:val="⇒"/>
                        <m:pos m:val="top"/>
                        <m:ctrlPr>
                          <a:rPr lang="en-US" altLang="zh-TW" i="1" smtClean="0">
                            <a:latin typeface="Cambria Math" panose="02040503050406030204" pitchFamily="18" charset="0"/>
                          </a:rPr>
                        </m:ctrlPr>
                      </m:groupChrPr>
                      <m:e/>
                    </m:groupChr>
                  </m:oMath>
                </a14:m>
                <a:r>
                  <a:rPr lang="en-US" altLang="zh-TW" dirty="0"/>
                  <a:t>Y</a:t>
                </a:r>
                <a:r>
                  <a:rPr lang="zh-TW" altLang="en-US" dirty="0"/>
                  <a:t>關係</a:t>
                </a:r>
                <a:endParaRPr lang="en-US" altLang="zh-TW" dirty="0"/>
              </a:p>
              <a:p>
                <a:r>
                  <a:rPr lang="en-US" altLang="zh-TW" dirty="0">
                    <a:latin typeface="標楷體" panose="03000509000000000000" pitchFamily="65" charset="-120"/>
                    <a:ea typeface="標楷體" panose="03000509000000000000" pitchFamily="65" charset="-120"/>
                  </a:rPr>
                  <a:t>support(X</a:t>
                </a:r>
                <a14:m>
                  <m:oMath xmlns:m="http://schemas.openxmlformats.org/officeDocument/2006/math">
                    <m:groupChr>
                      <m:groupChrPr>
                        <m:chr m:val="⇒"/>
                        <m:pos m:val="top"/>
                        <m:ctrlPr>
                          <a:rPr lang="en-US" altLang="zh-TW" i="1" smtClean="0">
                            <a:latin typeface="Cambria Math" panose="02040503050406030204" pitchFamily="18" charset="0"/>
                          </a:rPr>
                        </m:ctrlPr>
                      </m:groupChrPr>
                      <m:e/>
                    </m:groupChr>
                  </m:oMath>
                </a14:m>
                <a:r>
                  <a:rPr lang="en-US" altLang="zh-TW" dirty="0">
                    <a:latin typeface="標楷體" panose="03000509000000000000" pitchFamily="65" charset="-120"/>
                    <a:ea typeface="標楷體" panose="03000509000000000000" pitchFamily="65" charset="-120"/>
                  </a:rPr>
                  <a:t>Y) = </a:t>
                </a:r>
                <a:r>
                  <a:rPr lang="zh-TW" altLang="en-US" dirty="0">
                    <a:latin typeface="標楷體" panose="03000509000000000000" pitchFamily="65" charset="-120"/>
                    <a:ea typeface="標楷體" panose="03000509000000000000" pitchFamily="65" charset="-120"/>
                  </a:rPr>
                  <a:t>交易時同時出現</a:t>
                </a:r>
                <a:r>
                  <a:rPr lang="en-US" altLang="zh-TW" dirty="0">
                    <a:latin typeface="標楷體" panose="03000509000000000000" pitchFamily="65" charset="-120"/>
                    <a:ea typeface="標楷體" panose="03000509000000000000" pitchFamily="65" charset="-120"/>
                  </a:rPr>
                  <a:t>X</a:t>
                </a:r>
                <a:r>
                  <a:rPr lang="zh-TW" altLang="en-US" dirty="0">
                    <a:latin typeface="標楷體" panose="03000509000000000000" pitchFamily="65" charset="-120"/>
                    <a:ea typeface="標楷體" panose="03000509000000000000" pitchFamily="65" charset="-120"/>
                  </a:rPr>
                  <a:t>及</a:t>
                </a:r>
                <a:r>
                  <a:rPr lang="en-US" altLang="zh-TW" dirty="0">
                    <a:latin typeface="標楷體" panose="03000509000000000000" pitchFamily="65" charset="-120"/>
                    <a:ea typeface="標楷體" panose="03000509000000000000" pitchFamily="65" charset="-120"/>
                  </a:rPr>
                  <a:t>Y</a:t>
                </a:r>
                <a:r>
                  <a:rPr lang="zh-TW" altLang="en-US" dirty="0">
                    <a:latin typeface="標楷體" panose="03000509000000000000" pitchFamily="65" charset="-120"/>
                    <a:ea typeface="標楷體" panose="03000509000000000000" pitchFamily="65" charset="-120"/>
                  </a:rPr>
                  <a:t>次數／總交易事件數 </a:t>
                </a:r>
                <a:r>
                  <a:rPr lang="en-US" altLang="zh-TW" dirty="0">
                    <a:latin typeface="標楷體" panose="03000509000000000000" pitchFamily="65" charset="-120"/>
                    <a:ea typeface="標楷體" panose="03000509000000000000" pitchFamily="65" charset="-120"/>
                  </a:rPr>
                  <a:t>= P(X</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r>
                  <a:rPr lang="en-US" altLang="zh-TW" dirty="0">
                    <a:latin typeface="標楷體" panose="03000509000000000000" pitchFamily="65" charset="-120"/>
                    <a:ea typeface="標楷體" panose="03000509000000000000" pitchFamily="65" charset="-120"/>
                  </a:rPr>
                  <a:t>Y)</a:t>
                </a:r>
                <a:r>
                  <a:rPr lang="zh-TW" altLang="en-US" dirty="0">
                    <a:latin typeface="標楷體" panose="03000509000000000000" pitchFamily="65" charset="-120"/>
                    <a:ea typeface="標楷體" panose="03000509000000000000" pitchFamily="65" charset="-120"/>
                  </a:rPr>
                  <a:t>／交易事件數</a:t>
                </a:r>
                <a:endParaRPr lang="en-US" altLang="zh-TW" dirty="0">
                  <a:latin typeface="標楷體" panose="03000509000000000000" pitchFamily="65" charset="-120"/>
                  <a:ea typeface="標楷體" panose="03000509000000000000" pitchFamily="65" charset="-120"/>
                </a:endParaRPr>
              </a:p>
              <a:p>
                <a:r>
                  <a:rPr lang="en-US" altLang="zh-TW" dirty="0">
                    <a:latin typeface="標楷體" panose="03000509000000000000" pitchFamily="65" charset="-120"/>
                    <a:ea typeface="標楷體" panose="03000509000000000000" pitchFamily="65" charset="-120"/>
                  </a:rPr>
                  <a:t>confidence(X</a:t>
                </a:r>
                <a14:m>
                  <m:oMath xmlns:m="http://schemas.openxmlformats.org/officeDocument/2006/math">
                    <m:groupChr>
                      <m:groupChrPr>
                        <m:chr m:val="⇒"/>
                        <m:pos m:val="top"/>
                        <m:ctrlPr>
                          <a:rPr lang="en-US" altLang="zh-TW" i="1" smtClean="0">
                            <a:latin typeface="Cambria Math" panose="02040503050406030204" pitchFamily="18" charset="0"/>
                          </a:rPr>
                        </m:ctrlPr>
                      </m:groupChrPr>
                      <m:e/>
                    </m:groupChr>
                  </m:oMath>
                </a14:m>
                <a:r>
                  <a:rPr lang="en-US" altLang="zh-TW" dirty="0">
                    <a:latin typeface="標楷體" panose="03000509000000000000" pitchFamily="65" charset="-120"/>
                    <a:ea typeface="標楷體" panose="03000509000000000000" pitchFamily="65" charset="-120"/>
                  </a:rPr>
                  <a:t>Y) = </a:t>
                </a:r>
                <a:r>
                  <a:rPr lang="zh-TW" altLang="en-US" dirty="0">
                    <a:latin typeface="標楷體" panose="03000509000000000000" pitchFamily="65" charset="-120"/>
                    <a:ea typeface="標楷體" panose="03000509000000000000" pitchFamily="65" charset="-120"/>
                  </a:rPr>
                  <a:t>交易時同時出現</a:t>
                </a:r>
                <a:r>
                  <a:rPr lang="en-US" altLang="zh-TW" dirty="0">
                    <a:latin typeface="標楷體" panose="03000509000000000000" pitchFamily="65" charset="-120"/>
                    <a:ea typeface="標楷體" panose="03000509000000000000" pitchFamily="65" charset="-120"/>
                  </a:rPr>
                  <a:t>X</a:t>
                </a:r>
                <a:r>
                  <a:rPr lang="zh-TW" altLang="en-US" dirty="0">
                    <a:latin typeface="標楷體" panose="03000509000000000000" pitchFamily="65" charset="-120"/>
                    <a:ea typeface="標楷體" panose="03000509000000000000" pitchFamily="65" charset="-120"/>
                  </a:rPr>
                  <a:t>及</a:t>
                </a:r>
                <a:r>
                  <a:rPr lang="en-US" altLang="zh-TW" dirty="0">
                    <a:latin typeface="標楷體" panose="03000509000000000000" pitchFamily="65" charset="-120"/>
                    <a:ea typeface="標楷體" panose="03000509000000000000" pitchFamily="65" charset="-120"/>
                  </a:rPr>
                  <a:t>Y</a:t>
                </a:r>
                <a:r>
                  <a:rPr lang="zh-TW" altLang="en-US" dirty="0">
                    <a:latin typeface="標楷體" panose="03000509000000000000" pitchFamily="65" charset="-120"/>
                    <a:ea typeface="標楷體" panose="03000509000000000000" pitchFamily="65" charset="-120"/>
                  </a:rPr>
                  <a:t>次數／交易時出現</a:t>
                </a:r>
                <a:r>
                  <a:rPr lang="en-US" altLang="zh-TW" dirty="0">
                    <a:latin typeface="標楷體" panose="03000509000000000000" pitchFamily="65" charset="-120"/>
                    <a:ea typeface="標楷體" panose="03000509000000000000" pitchFamily="65" charset="-120"/>
                  </a:rPr>
                  <a:t>X</a:t>
                </a:r>
                <a:r>
                  <a:rPr lang="zh-TW" altLang="en-US" dirty="0">
                    <a:latin typeface="標楷體" panose="03000509000000000000" pitchFamily="65" charset="-120"/>
                    <a:ea typeface="標楷體" panose="03000509000000000000" pitchFamily="65" charset="-120"/>
                  </a:rPr>
                  <a:t>次數</a:t>
                </a:r>
                <a:endParaRPr lang="en-US" altLang="zh-TW" dirty="0">
                  <a:latin typeface="標楷體" panose="03000509000000000000" pitchFamily="65" charset="-120"/>
                  <a:ea typeface="標楷體" panose="03000509000000000000" pitchFamily="65" charset="-120"/>
                </a:endParaRPr>
              </a:p>
              <a:p>
                <a:r>
                  <a:rPr lang="en-US" altLang="zh-TW" dirty="0">
                    <a:latin typeface="標楷體" panose="03000509000000000000" pitchFamily="65" charset="-120"/>
                    <a:ea typeface="標楷體" panose="03000509000000000000" pitchFamily="65" charset="-120"/>
                  </a:rPr>
                  <a:t>                 = P(X</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r>
                  <a:rPr lang="en-US" altLang="zh-TW" dirty="0">
                    <a:latin typeface="標楷體" panose="03000509000000000000" pitchFamily="65" charset="-120"/>
                    <a:ea typeface="標楷體" panose="03000509000000000000" pitchFamily="65" charset="-120"/>
                  </a:rPr>
                  <a:t>Y)</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P(X)</a:t>
                </a:r>
              </a:p>
              <a:p>
                <a:r>
                  <a:rPr lang="en-US" altLang="zh-TW" dirty="0">
                    <a:latin typeface="標楷體" panose="03000509000000000000" pitchFamily="65" charset="-120"/>
                    <a:ea typeface="標楷體" panose="03000509000000000000" pitchFamily="65" charset="-120"/>
                  </a:rPr>
                  <a:t>                 = support(X</a:t>
                </a:r>
                <a14:m>
                  <m:oMath xmlns:m="http://schemas.openxmlformats.org/officeDocument/2006/math">
                    <m:groupChr>
                      <m:groupChrPr>
                        <m:chr m:val="⇒"/>
                        <m:pos m:val="top"/>
                        <m:ctrlPr>
                          <a:rPr lang="en-US" altLang="zh-TW" i="1" smtClean="0">
                            <a:latin typeface="Cambria Math" panose="02040503050406030204" pitchFamily="18" charset="0"/>
                          </a:rPr>
                        </m:ctrlPr>
                      </m:groupChrPr>
                      <m:e/>
                    </m:groupChr>
                  </m:oMath>
                </a14:m>
                <a:r>
                  <a:rPr lang="en-US" altLang="zh-TW" dirty="0">
                    <a:latin typeface="標楷體" panose="03000509000000000000" pitchFamily="65" charset="-120"/>
                    <a:ea typeface="標楷體" panose="03000509000000000000" pitchFamily="65" charset="-120"/>
                  </a:rPr>
                  <a:t>Y)</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support(X)</a:t>
                </a:r>
              </a:p>
              <a:p>
                <a:endParaRPr lang="en-US" altLang="zh-TW" dirty="0">
                  <a:latin typeface="標楷體" panose="03000509000000000000" pitchFamily="65" charset="-120"/>
                  <a:ea typeface="標楷體" panose="03000509000000000000" pitchFamily="65" charset="-120"/>
                </a:endParaRPr>
              </a:p>
              <a:p>
                <a:r>
                  <a:rPr lang="en-US" altLang="zh-TW" dirty="0">
                    <a:latin typeface="標楷體" panose="03000509000000000000" pitchFamily="65" charset="-120"/>
                    <a:ea typeface="標楷體" panose="03000509000000000000" pitchFamily="65" charset="-120"/>
                  </a:rPr>
                  <a:t>lift =</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confidence(X</a:t>
                </a:r>
                <a14:m>
                  <m:oMath xmlns:m="http://schemas.openxmlformats.org/officeDocument/2006/math">
                    <m:groupChr>
                      <m:groupChrPr>
                        <m:chr m:val="⇒"/>
                        <m:pos m:val="top"/>
                        <m:ctrlPr>
                          <a:rPr lang="en-US" altLang="zh-TW" i="1" smtClean="0">
                            <a:latin typeface="Cambria Math" panose="02040503050406030204" pitchFamily="18" charset="0"/>
                          </a:rPr>
                        </m:ctrlPr>
                      </m:groupChrPr>
                      <m:e/>
                    </m:groupChr>
                  </m:oMath>
                </a14:m>
                <a:r>
                  <a:rPr lang="en-US" altLang="zh-TW" dirty="0">
                    <a:latin typeface="標楷體" panose="03000509000000000000" pitchFamily="65" charset="-120"/>
                    <a:ea typeface="標楷體" panose="03000509000000000000" pitchFamily="65" charset="-120"/>
                  </a:rPr>
                  <a:t>Y)</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support(Y) = support(X</a:t>
                </a:r>
                <a14:m>
                  <m:oMath xmlns:m="http://schemas.openxmlformats.org/officeDocument/2006/math">
                    <m:groupChr>
                      <m:groupChrPr>
                        <m:chr m:val="⇒"/>
                        <m:pos m:val="top"/>
                        <m:ctrlPr>
                          <a:rPr lang="en-US" altLang="zh-TW" i="1" smtClean="0">
                            <a:latin typeface="Cambria Math" panose="02040503050406030204" pitchFamily="18" charset="0"/>
                          </a:rPr>
                        </m:ctrlPr>
                      </m:groupChrPr>
                      <m:e/>
                    </m:groupChr>
                  </m:oMath>
                </a14:m>
                <a:r>
                  <a:rPr lang="en-US" altLang="zh-TW" dirty="0">
                    <a:latin typeface="標楷體" panose="03000509000000000000" pitchFamily="65" charset="-120"/>
                    <a:ea typeface="標楷體" panose="03000509000000000000" pitchFamily="65" charset="-120"/>
                  </a:rPr>
                  <a:t>Y)</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support(X)*support(Y)</a:t>
                </a:r>
              </a:p>
              <a:p>
                <a:r>
                  <a:rPr lang="en-US" altLang="zh-TW" sz="1600" dirty="0">
                    <a:solidFill>
                      <a:srgbClr val="0070C0"/>
                    </a:solidFill>
                    <a:latin typeface="標楷體" panose="03000509000000000000" pitchFamily="65" charset="-120"/>
                    <a:ea typeface="標楷體" panose="03000509000000000000" pitchFamily="65" charset="-120"/>
                  </a:rPr>
                  <a:t>(lift &gt; 1</a:t>
                </a:r>
                <a:r>
                  <a:rPr lang="zh-TW" altLang="en-US" sz="1600" dirty="0">
                    <a:solidFill>
                      <a:srgbClr val="0070C0"/>
                    </a:solidFill>
                    <a:latin typeface="標楷體" panose="03000509000000000000" pitchFamily="65" charset="-120"/>
                    <a:ea typeface="標楷體" panose="03000509000000000000" pitchFamily="65" charset="-120"/>
                  </a:rPr>
                  <a:t>：</a:t>
                </a:r>
                <a:r>
                  <a:rPr lang="en-US" altLang="zh-TW" sz="1600" dirty="0">
                    <a:solidFill>
                      <a:srgbClr val="0070C0"/>
                    </a:solidFill>
                    <a:latin typeface="標楷體" panose="03000509000000000000" pitchFamily="65" charset="-120"/>
                    <a:ea typeface="標楷體" panose="03000509000000000000" pitchFamily="65" charset="-120"/>
                  </a:rPr>
                  <a:t>X</a:t>
                </a:r>
                <a:r>
                  <a:rPr lang="zh-TW" altLang="en-US" sz="1600" dirty="0">
                    <a:solidFill>
                      <a:srgbClr val="0070C0"/>
                    </a:solidFill>
                    <a:latin typeface="標楷體" panose="03000509000000000000" pitchFamily="65" charset="-120"/>
                    <a:ea typeface="標楷體" panose="03000509000000000000" pitchFamily="65" charset="-120"/>
                  </a:rPr>
                  <a:t>、</a:t>
                </a:r>
                <a:r>
                  <a:rPr lang="en-US" altLang="zh-TW" sz="1600" dirty="0">
                    <a:solidFill>
                      <a:srgbClr val="0070C0"/>
                    </a:solidFill>
                    <a:latin typeface="標楷體" panose="03000509000000000000" pitchFamily="65" charset="-120"/>
                    <a:ea typeface="標楷體" panose="03000509000000000000" pitchFamily="65" charset="-120"/>
                  </a:rPr>
                  <a:t>Y</a:t>
                </a:r>
                <a:r>
                  <a:rPr lang="zh-TW" altLang="en-US" sz="1600" dirty="0">
                    <a:solidFill>
                      <a:srgbClr val="0070C0"/>
                    </a:solidFill>
                    <a:latin typeface="標楷體" panose="03000509000000000000" pitchFamily="65" charset="-120"/>
                    <a:ea typeface="標楷體" panose="03000509000000000000" pitchFamily="65" charset="-120"/>
                  </a:rPr>
                  <a:t>有正向關係；</a:t>
                </a:r>
                <a:r>
                  <a:rPr lang="en-US" altLang="zh-TW" sz="1600" dirty="0">
                    <a:solidFill>
                      <a:srgbClr val="0070C0"/>
                    </a:solidFill>
                    <a:latin typeface="標楷體" panose="03000509000000000000" pitchFamily="65" charset="-120"/>
                    <a:ea typeface="標楷體" panose="03000509000000000000" pitchFamily="65" charset="-120"/>
                  </a:rPr>
                  <a:t>lift = 1</a:t>
                </a:r>
                <a:r>
                  <a:rPr lang="zh-TW" altLang="en-US" sz="1600" dirty="0">
                    <a:solidFill>
                      <a:srgbClr val="0070C0"/>
                    </a:solidFill>
                    <a:latin typeface="標楷體" panose="03000509000000000000" pitchFamily="65" charset="-120"/>
                    <a:ea typeface="標楷體" panose="03000509000000000000" pitchFamily="65" charset="-120"/>
                  </a:rPr>
                  <a:t>：</a:t>
                </a:r>
                <a:r>
                  <a:rPr lang="en-US" altLang="zh-TW" sz="1600" dirty="0">
                    <a:solidFill>
                      <a:srgbClr val="0070C0"/>
                    </a:solidFill>
                    <a:latin typeface="標楷體" panose="03000509000000000000" pitchFamily="65" charset="-120"/>
                    <a:ea typeface="標楷體" panose="03000509000000000000" pitchFamily="65" charset="-120"/>
                  </a:rPr>
                  <a:t>X</a:t>
                </a:r>
                <a:r>
                  <a:rPr lang="zh-TW" altLang="en-US" sz="1600" dirty="0">
                    <a:solidFill>
                      <a:srgbClr val="0070C0"/>
                    </a:solidFill>
                    <a:latin typeface="標楷體" panose="03000509000000000000" pitchFamily="65" charset="-120"/>
                    <a:ea typeface="標楷體" panose="03000509000000000000" pitchFamily="65" charset="-120"/>
                  </a:rPr>
                  <a:t>、</a:t>
                </a:r>
                <a:r>
                  <a:rPr lang="en-US" altLang="zh-TW" sz="1600" dirty="0">
                    <a:solidFill>
                      <a:srgbClr val="0070C0"/>
                    </a:solidFill>
                    <a:latin typeface="標楷體" panose="03000509000000000000" pitchFamily="65" charset="-120"/>
                    <a:ea typeface="標楷體" panose="03000509000000000000" pitchFamily="65" charset="-120"/>
                  </a:rPr>
                  <a:t>Y</a:t>
                </a:r>
                <a:r>
                  <a:rPr lang="zh-TW" altLang="en-US" sz="1600" dirty="0">
                    <a:solidFill>
                      <a:srgbClr val="0070C0"/>
                    </a:solidFill>
                    <a:latin typeface="標楷體" panose="03000509000000000000" pitchFamily="65" charset="-120"/>
                    <a:ea typeface="標楷體" panose="03000509000000000000" pitchFamily="65" charset="-120"/>
                  </a:rPr>
                  <a:t>無明顯關係；</a:t>
                </a:r>
                <a:r>
                  <a:rPr lang="en-US" altLang="zh-TW" sz="1600" dirty="0">
                    <a:solidFill>
                      <a:srgbClr val="0070C0"/>
                    </a:solidFill>
                    <a:latin typeface="標楷體" panose="03000509000000000000" pitchFamily="65" charset="-120"/>
                    <a:ea typeface="標楷體" panose="03000509000000000000" pitchFamily="65" charset="-120"/>
                  </a:rPr>
                  <a:t>lift &lt; 1</a:t>
                </a:r>
                <a:r>
                  <a:rPr lang="zh-TW" altLang="en-US" sz="1600" dirty="0">
                    <a:solidFill>
                      <a:srgbClr val="0070C0"/>
                    </a:solidFill>
                    <a:latin typeface="標楷體" panose="03000509000000000000" pitchFamily="65" charset="-120"/>
                    <a:ea typeface="標楷體" panose="03000509000000000000" pitchFamily="65" charset="-120"/>
                  </a:rPr>
                  <a:t>：</a:t>
                </a:r>
                <a:r>
                  <a:rPr lang="en-US" altLang="zh-TW" sz="1600" dirty="0">
                    <a:solidFill>
                      <a:srgbClr val="0070C0"/>
                    </a:solidFill>
                    <a:latin typeface="標楷體" panose="03000509000000000000" pitchFamily="65" charset="-120"/>
                    <a:ea typeface="標楷體" panose="03000509000000000000" pitchFamily="65" charset="-120"/>
                  </a:rPr>
                  <a:t>X</a:t>
                </a:r>
                <a:r>
                  <a:rPr lang="zh-TW" altLang="en-US" sz="1600" dirty="0">
                    <a:solidFill>
                      <a:srgbClr val="0070C0"/>
                    </a:solidFill>
                    <a:latin typeface="標楷體" panose="03000509000000000000" pitchFamily="65" charset="-120"/>
                    <a:ea typeface="標楷體" panose="03000509000000000000" pitchFamily="65" charset="-120"/>
                  </a:rPr>
                  <a:t>、</a:t>
                </a:r>
                <a:r>
                  <a:rPr lang="en-US" altLang="zh-TW" sz="1600" dirty="0">
                    <a:solidFill>
                      <a:srgbClr val="0070C0"/>
                    </a:solidFill>
                    <a:latin typeface="標楷體" panose="03000509000000000000" pitchFamily="65" charset="-120"/>
                    <a:ea typeface="標楷體" panose="03000509000000000000" pitchFamily="65" charset="-120"/>
                  </a:rPr>
                  <a:t>Y</a:t>
                </a:r>
                <a:r>
                  <a:rPr lang="zh-TW" altLang="en-US" sz="1600" dirty="0">
                    <a:solidFill>
                      <a:srgbClr val="0070C0"/>
                    </a:solidFill>
                    <a:latin typeface="標楷體" panose="03000509000000000000" pitchFamily="65" charset="-120"/>
                    <a:ea typeface="標楷體" panose="03000509000000000000" pitchFamily="65" charset="-120"/>
                  </a:rPr>
                  <a:t>為負向關係</a:t>
                </a:r>
                <a:r>
                  <a:rPr lang="en-US" altLang="zh-TW" sz="1600" dirty="0">
                    <a:solidFill>
                      <a:srgbClr val="0070C0"/>
                    </a:solidFill>
                    <a:latin typeface="標楷體" panose="03000509000000000000" pitchFamily="65" charset="-120"/>
                    <a:ea typeface="標楷體" panose="03000509000000000000" pitchFamily="65" charset="-120"/>
                  </a:rPr>
                  <a:t>)</a:t>
                </a:r>
                <a:endParaRPr lang="zh-TW" altLang="en-US" sz="1600" dirty="0">
                  <a:solidFill>
                    <a:srgbClr val="0070C0"/>
                  </a:solidFill>
                  <a:latin typeface="標楷體" panose="03000509000000000000" pitchFamily="65" charset="-120"/>
                  <a:ea typeface="標楷體" panose="03000509000000000000" pitchFamily="65" charset="-120"/>
                </a:endParaRPr>
              </a:p>
            </p:txBody>
          </p:sp>
        </mc:Choice>
        <mc:Fallback>
          <p:sp>
            <p:nvSpPr>
              <p:cNvPr id="4" name="文字方塊 3"/>
              <p:cNvSpPr txBox="1">
                <a:spLocks noRot="1" noChangeAspect="1" noMove="1" noResize="1" noEditPoints="1" noAdjustHandles="1" noChangeArrowheads="1" noChangeShapeType="1" noTextEdit="1"/>
              </p:cNvSpPr>
              <p:nvPr/>
            </p:nvSpPr>
            <p:spPr>
              <a:xfrm>
                <a:off x="1507222" y="3145872"/>
                <a:ext cx="9177555" cy="2715167"/>
              </a:xfrm>
              <a:prstGeom prst="rect">
                <a:avLst/>
              </a:prstGeom>
              <a:blipFill>
                <a:blip r:embed="rId2"/>
                <a:stretch>
                  <a:fillRect l="-531" t="-6292" b="-89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1241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Association rule using </a:t>
            </a:r>
            <a:r>
              <a:rPr lang="en-US" altLang="zh-TW" dirty="0" err="1"/>
              <a:t>Apriori</a:t>
            </a:r>
            <a:r>
              <a:rPr lang="en-US" altLang="zh-TW" dirty="0"/>
              <a:t> 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3804534634"/>
              </p:ext>
            </p:extLst>
          </p:nvPr>
        </p:nvGraphicFramePr>
        <p:xfrm>
          <a:off x="1014369" y="3142697"/>
          <a:ext cx="3733800" cy="2838654"/>
        </p:xfrm>
        <a:graphic>
          <a:graphicData uri="http://schemas.openxmlformats.org/drawingml/2006/table">
            <a:tbl>
              <a:tblPr firstRow="1" bandRow="1">
                <a:tableStyleId>{5C22544A-7EE6-4342-B048-85BDC9FD1C3A}</a:tableStyleId>
              </a:tblPr>
              <a:tblGrid>
                <a:gridCol w="1866900">
                  <a:extLst>
                    <a:ext uri="{9D8B030D-6E8A-4147-A177-3AD203B41FA5}">
                      <a16:colId xmlns:a16="http://schemas.microsoft.com/office/drawing/2014/main" val="828405369"/>
                    </a:ext>
                  </a:extLst>
                </a:gridCol>
                <a:gridCol w="1866900">
                  <a:extLst>
                    <a:ext uri="{9D8B030D-6E8A-4147-A177-3AD203B41FA5}">
                      <a16:colId xmlns:a16="http://schemas.microsoft.com/office/drawing/2014/main" val="2143488500"/>
                    </a:ext>
                  </a:extLst>
                </a:gridCol>
              </a:tblGrid>
              <a:tr h="405522">
                <a:tc>
                  <a:txBody>
                    <a:bodyPr/>
                    <a:lstStyle/>
                    <a:p>
                      <a:pPr algn="ctr"/>
                      <a:r>
                        <a:rPr lang="zh-TW" altLang="en-US" dirty="0"/>
                        <a:t>項目</a:t>
                      </a:r>
                    </a:p>
                  </a:txBody>
                  <a:tcPr anchor="ctr"/>
                </a:tc>
                <a:tc>
                  <a:txBody>
                    <a:bodyPr/>
                    <a:lstStyle/>
                    <a:p>
                      <a:pPr algn="ctr"/>
                      <a:r>
                        <a:rPr lang="en-US" altLang="zh-TW" dirty="0"/>
                        <a:t>Support</a:t>
                      </a:r>
                      <a:endParaRPr lang="zh-TW" altLang="en-US" dirty="0"/>
                    </a:p>
                  </a:txBody>
                  <a:tcPr anchor="ctr"/>
                </a:tc>
                <a:extLst>
                  <a:ext uri="{0D108BD9-81ED-4DB2-BD59-A6C34878D82A}">
                    <a16:rowId xmlns:a16="http://schemas.microsoft.com/office/drawing/2014/main" val="1634448320"/>
                  </a:ext>
                </a:extLst>
              </a:tr>
              <a:tr h="405522">
                <a:tc>
                  <a:txBody>
                    <a:bodyPr/>
                    <a:lstStyle/>
                    <a:p>
                      <a:pPr algn="ctr"/>
                      <a:r>
                        <a:rPr lang="en-US" altLang="zh-TW" dirty="0"/>
                        <a:t>Bread</a:t>
                      </a:r>
                      <a:endParaRPr lang="zh-TW" altLang="en-US" dirty="0"/>
                    </a:p>
                  </a:txBody>
                  <a:tcPr anchor="ctr"/>
                </a:tc>
                <a:tc>
                  <a:txBody>
                    <a:bodyPr/>
                    <a:lstStyle/>
                    <a:p>
                      <a:pPr algn="ctr"/>
                      <a:r>
                        <a:rPr lang="en-US" altLang="zh-TW" dirty="0"/>
                        <a:t>4</a:t>
                      </a:r>
                      <a:endParaRPr lang="zh-TW" altLang="en-US" dirty="0"/>
                    </a:p>
                  </a:txBody>
                  <a:tcPr anchor="ctr"/>
                </a:tc>
                <a:extLst>
                  <a:ext uri="{0D108BD9-81ED-4DB2-BD59-A6C34878D82A}">
                    <a16:rowId xmlns:a16="http://schemas.microsoft.com/office/drawing/2014/main" val="2508687679"/>
                  </a:ext>
                </a:extLst>
              </a:tr>
              <a:tr h="405522">
                <a:tc>
                  <a:txBody>
                    <a:bodyPr/>
                    <a:lstStyle/>
                    <a:p>
                      <a:pPr algn="ctr"/>
                      <a:r>
                        <a:rPr lang="en-US" altLang="zh-TW" dirty="0"/>
                        <a:t>Coke</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1132192738"/>
                  </a:ext>
                </a:extLst>
              </a:tr>
              <a:tr h="405522">
                <a:tc>
                  <a:txBody>
                    <a:bodyPr/>
                    <a:lstStyle/>
                    <a:p>
                      <a:pPr algn="ctr"/>
                      <a:r>
                        <a:rPr lang="en-US" altLang="zh-TW" dirty="0"/>
                        <a:t>Milk</a:t>
                      </a:r>
                      <a:endParaRPr lang="zh-TW" altLang="en-US" dirty="0"/>
                    </a:p>
                  </a:txBody>
                  <a:tcPr anchor="ctr"/>
                </a:tc>
                <a:tc>
                  <a:txBody>
                    <a:bodyPr/>
                    <a:lstStyle/>
                    <a:p>
                      <a:pPr algn="ctr"/>
                      <a:r>
                        <a:rPr lang="en-US" altLang="zh-TW" dirty="0"/>
                        <a:t>4</a:t>
                      </a:r>
                      <a:endParaRPr lang="zh-TW" altLang="en-US" dirty="0"/>
                    </a:p>
                  </a:txBody>
                  <a:tcPr anchor="ctr"/>
                </a:tc>
                <a:extLst>
                  <a:ext uri="{0D108BD9-81ED-4DB2-BD59-A6C34878D82A}">
                    <a16:rowId xmlns:a16="http://schemas.microsoft.com/office/drawing/2014/main" val="935014263"/>
                  </a:ext>
                </a:extLst>
              </a:tr>
              <a:tr h="405522">
                <a:tc>
                  <a:txBody>
                    <a:bodyPr/>
                    <a:lstStyle/>
                    <a:p>
                      <a:pPr algn="ctr"/>
                      <a:r>
                        <a:rPr lang="en-US" altLang="zh-TW" dirty="0"/>
                        <a:t>Beer</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2451164101"/>
                  </a:ext>
                </a:extLst>
              </a:tr>
              <a:tr h="405522">
                <a:tc>
                  <a:txBody>
                    <a:bodyPr/>
                    <a:lstStyle/>
                    <a:p>
                      <a:pPr algn="ctr"/>
                      <a:r>
                        <a:rPr lang="en-US" altLang="zh-TW" dirty="0"/>
                        <a:t>Diaper</a:t>
                      </a:r>
                      <a:endParaRPr lang="zh-TW" altLang="en-US" dirty="0"/>
                    </a:p>
                  </a:txBody>
                  <a:tcPr anchor="ctr"/>
                </a:tc>
                <a:tc>
                  <a:txBody>
                    <a:bodyPr/>
                    <a:lstStyle/>
                    <a:p>
                      <a:pPr algn="ctr"/>
                      <a:r>
                        <a:rPr lang="en-US" altLang="zh-TW" dirty="0"/>
                        <a:t>4</a:t>
                      </a:r>
                      <a:endParaRPr lang="zh-TW" altLang="en-US" dirty="0"/>
                    </a:p>
                  </a:txBody>
                  <a:tcPr anchor="ctr"/>
                </a:tc>
                <a:extLst>
                  <a:ext uri="{0D108BD9-81ED-4DB2-BD59-A6C34878D82A}">
                    <a16:rowId xmlns:a16="http://schemas.microsoft.com/office/drawing/2014/main" val="2749941612"/>
                  </a:ext>
                </a:extLst>
              </a:tr>
              <a:tr h="405522">
                <a:tc>
                  <a:txBody>
                    <a:bodyPr/>
                    <a:lstStyle/>
                    <a:p>
                      <a:pPr algn="ctr"/>
                      <a:r>
                        <a:rPr lang="en-US" altLang="zh-TW" dirty="0"/>
                        <a:t>Eggs</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3155328281"/>
                  </a:ext>
                </a:extLst>
              </a:tr>
            </a:tbl>
          </a:graphicData>
        </a:graphic>
      </p:graphicFrame>
      <p:sp>
        <p:nvSpPr>
          <p:cNvPr id="5" name="文字方塊 4"/>
          <p:cNvSpPr txBox="1"/>
          <p:nvPr/>
        </p:nvSpPr>
        <p:spPr>
          <a:xfrm>
            <a:off x="838200" y="1816522"/>
            <a:ext cx="1610687" cy="477054"/>
          </a:xfrm>
          <a:prstGeom prst="rect">
            <a:avLst/>
          </a:prstGeom>
          <a:noFill/>
        </p:spPr>
        <p:txBody>
          <a:bodyPr wrap="square" rtlCol="0">
            <a:spAutoFit/>
          </a:bodyPr>
          <a:lstStyle/>
          <a:p>
            <a:r>
              <a:rPr lang="en-US" altLang="zh-TW" sz="2500" dirty="0"/>
              <a:t>Example:</a:t>
            </a:r>
            <a:endParaRPr lang="zh-TW" altLang="en-US" sz="2500" dirty="0"/>
          </a:p>
        </p:txBody>
      </p:sp>
      <p:sp>
        <p:nvSpPr>
          <p:cNvPr id="6" name="文字方塊 5"/>
          <p:cNvSpPr txBox="1"/>
          <p:nvPr/>
        </p:nvSpPr>
        <p:spPr>
          <a:xfrm>
            <a:off x="896923" y="2516697"/>
            <a:ext cx="1644242" cy="553998"/>
          </a:xfrm>
          <a:prstGeom prst="rect">
            <a:avLst/>
          </a:prstGeom>
          <a:noFill/>
        </p:spPr>
        <p:txBody>
          <a:bodyPr wrap="square" rtlCol="0">
            <a:spAutoFit/>
          </a:bodyPr>
          <a:lstStyle/>
          <a:p>
            <a:r>
              <a:rPr lang="en-US" altLang="zh-TW" sz="3000" b="1" dirty="0"/>
              <a:t>Items</a:t>
            </a:r>
            <a:endParaRPr lang="zh-TW" altLang="en-US" sz="3000" b="1" dirty="0"/>
          </a:p>
        </p:txBody>
      </p:sp>
      <p:sp>
        <p:nvSpPr>
          <p:cNvPr id="7" name="文字方塊 6"/>
          <p:cNvSpPr txBox="1"/>
          <p:nvPr/>
        </p:nvSpPr>
        <p:spPr>
          <a:xfrm>
            <a:off x="5529042" y="2516697"/>
            <a:ext cx="2809615" cy="553998"/>
          </a:xfrm>
          <a:prstGeom prst="rect">
            <a:avLst/>
          </a:prstGeom>
          <a:noFill/>
        </p:spPr>
        <p:txBody>
          <a:bodyPr wrap="square" rtlCol="0">
            <a:spAutoFit/>
          </a:bodyPr>
          <a:lstStyle/>
          <a:p>
            <a:r>
              <a:rPr lang="en-US" altLang="zh-TW" sz="3000" b="1" dirty="0"/>
              <a:t>Transactions</a:t>
            </a:r>
            <a:endParaRPr lang="zh-TW" altLang="en-US" sz="3000" b="1" dirty="0"/>
          </a:p>
        </p:txBody>
      </p:sp>
      <p:graphicFrame>
        <p:nvGraphicFramePr>
          <p:cNvPr id="8" name="內容版面配置區 3"/>
          <p:cNvGraphicFramePr>
            <a:graphicFrameLocks/>
          </p:cNvGraphicFramePr>
          <p:nvPr>
            <p:extLst>
              <p:ext uri="{D42A27DB-BD31-4B8C-83A1-F6EECF244321}">
                <p14:modId xmlns:p14="http://schemas.microsoft.com/office/powerpoint/2010/main" val="2353123042"/>
              </p:ext>
            </p:extLst>
          </p:nvPr>
        </p:nvGraphicFramePr>
        <p:xfrm>
          <a:off x="5529042" y="3142697"/>
          <a:ext cx="5443758" cy="2433132"/>
        </p:xfrm>
        <a:graphic>
          <a:graphicData uri="http://schemas.openxmlformats.org/drawingml/2006/table">
            <a:tbl>
              <a:tblPr firstRow="1" bandRow="1">
                <a:tableStyleId>{5C22544A-7EE6-4342-B048-85BDC9FD1C3A}</a:tableStyleId>
              </a:tblPr>
              <a:tblGrid>
                <a:gridCol w="2721879">
                  <a:extLst>
                    <a:ext uri="{9D8B030D-6E8A-4147-A177-3AD203B41FA5}">
                      <a16:colId xmlns:a16="http://schemas.microsoft.com/office/drawing/2014/main" val="828405369"/>
                    </a:ext>
                  </a:extLst>
                </a:gridCol>
                <a:gridCol w="2721879">
                  <a:extLst>
                    <a:ext uri="{9D8B030D-6E8A-4147-A177-3AD203B41FA5}">
                      <a16:colId xmlns:a16="http://schemas.microsoft.com/office/drawing/2014/main" val="2143488500"/>
                    </a:ext>
                  </a:extLst>
                </a:gridCol>
              </a:tblGrid>
              <a:tr h="405522">
                <a:tc>
                  <a:txBody>
                    <a:bodyPr/>
                    <a:lstStyle/>
                    <a:p>
                      <a:pPr algn="ctr"/>
                      <a:r>
                        <a:rPr lang="en-US" altLang="zh-TW" dirty="0"/>
                        <a:t>TID</a:t>
                      </a:r>
                      <a:endParaRPr lang="zh-TW" altLang="en-US" dirty="0"/>
                    </a:p>
                  </a:txBody>
                  <a:tcPr anchor="ctr"/>
                </a:tc>
                <a:tc>
                  <a:txBody>
                    <a:bodyPr/>
                    <a:lstStyle/>
                    <a:p>
                      <a:pPr algn="ctr"/>
                      <a:r>
                        <a:rPr lang="en-US" altLang="zh-TW" dirty="0"/>
                        <a:t>Items</a:t>
                      </a:r>
                      <a:endParaRPr lang="zh-TW" altLang="en-US" dirty="0"/>
                    </a:p>
                  </a:txBody>
                  <a:tcPr anchor="ctr"/>
                </a:tc>
                <a:extLst>
                  <a:ext uri="{0D108BD9-81ED-4DB2-BD59-A6C34878D82A}">
                    <a16:rowId xmlns:a16="http://schemas.microsoft.com/office/drawing/2014/main" val="1634448320"/>
                  </a:ext>
                </a:extLst>
              </a:tr>
              <a:tr h="405522">
                <a:tc>
                  <a:txBody>
                    <a:bodyPr/>
                    <a:lstStyle/>
                    <a:p>
                      <a:pPr algn="ctr"/>
                      <a:r>
                        <a:rPr lang="en-US" altLang="zh-TW" dirty="0"/>
                        <a:t>1</a:t>
                      </a:r>
                      <a:endParaRPr lang="zh-TW" altLang="en-US" dirty="0"/>
                    </a:p>
                  </a:txBody>
                  <a:tcPr anchor="ctr"/>
                </a:tc>
                <a:tc>
                  <a:txBody>
                    <a:bodyPr/>
                    <a:lstStyle/>
                    <a:p>
                      <a:pPr algn="ctr"/>
                      <a:r>
                        <a:rPr lang="en-US" altLang="zh-TW" sz="1800" b="0" i="0" kern="1200" dirty="0">
                          <a:solidFill>
                            <a:schemeClr val="dk1"/>
                          </a:solidFill>
                          <a:effectLst/>
                          <a:latin typeface="+mn-lt"/>
                          <a:ea typeface="+mn-ea"/>
                          <a:cs typeface="+mn-cs"/>
                        </a:rPr>
                        <a:t>Bread, Milk</a:t>
                      </a:r>
                      <a:endParaRPr lang="zh-TW" altLang="en-US" dirty="0"/>
                    </a:p>
                  </a:txBody>
                  <a:tcPr anchor="ctr"/>
                </a:tc>
                <a:extLst>
                  <a:ext uri="{0D108BD9-81ED-4DB2-BD59-A6C34878D82A}">
                    <a16:rowId xmlns:a16="http://schemas.microsoft.com/office/drawing/2014/main" val="2508687679"/>
                  </a:ext>
                </a:extLst>
              </a:tr>
              <a:tr h="405522">
                <a:tc>
                  <a:txBody>
                    <a:bodyPr/>
                    <a:lstStyle/>
                    <a:p>
                      <a:pPr algn="ctr"/>
                      <a:r>
                        <a:rPr lang="en-US" altLang="zh-TW" dirty="0"/>
                        <a:t>2</a:t>
                      </a:r>
                      <a:endParaRPr lang="zh-TW" altLang="en-US" dirty="0"/>
                    </a:p>
                  </a:txBody>
                  <a:tcPr anchor="ctr"/>
                </a:tc>
                <a:tc>
                  <a:txBody>
                    <a:bodyPr/>
                    <a:lstStyle/>
                    <a:p>
                      <a:pPr algn="ctr"/>
                      <a:r>
                        <a:rPr lang="en-US" altLang="zh-TW" sz="1800" b="0" i="0" kern="1200" dirty="0">
                          <a:solidFill>
                            <a:schemeClr val="dk1"/>
                          </a:solidFill>
                          <a:effectLst/>
                          <a:latin typeface="+mn-lt"/>
                          <a:ea typeface="+mn-ea"/>
                          <a:cs typeface="+mn-cs"/>
                        </a:rPr>
                        <a:t>Bread, Diaper, Beer, Eggs</a:t>
                      </a:r>
                      <a:endParaRPr lang="zh-TW" altLang="en-US" dirty="0"/>
                    </a:p>
                  </a:txBody>
                  <a:tcPr anchor="ctr"/>
                </a:tc>
                <a:extLst>
                  <a:ext uri="{0D108BD9-81ED-4DB2-BD59-A6C34878D82A}">
                    <a16:rowId xmlns:a16="http://schemas.microsoft.com/office/drawing/2014/main" val="1132192738"/>
                  </a:ext>
                </a:extLst>
              </a:tr>
              <a:tr h="405522">
                <a:tc>
                  <a:txBody>
                    <a:bodyPr/>
                    <a:lstStyle/>
                    <a:p>
                      <a:pPr algn="ctr"/>
                      <a:r>
                        <a:rPr lang="en-US" altLang="zh-TW" dirty="0"/>
                        <a:t>3</a:t>
                      </a:r>
                      <a:endParaRPr lang="zh-TW" altLang="en-US" dirty="0"/>
                    </a:p>
                  </a:txBody>
                  <a:tcPr anchor="ctr"/>
                </a:tc>
                <a:tc>
                  <a:txBody>
                    <a:bodyPr/>
                    <a:lstStyle/>
                    <a:p>
                      <a:pPr algn="ctr"/>
                      <a:r>
                        <a:rPr lang="en-US" altLang="zh-TW" sz="1800" b="0" i="0" kern="1200" dirty="0">
                          <a:solidFill>
                            <a:schemeClr val="dk1"/>
                          </a:solidFill>
                          <a:effectLst/>
                          <a:latin typeface="+mn-lt"/>
                          <a:ea typeface="+mn-ea"/>
                          <a:cs typeface="+mn-cs"/>
                        </a:rPr>
                        <a:t>Milk, Diaper, Beer, Coke</a:t>
                      </a:r>
                      <a:endParaRPr lang="zh-TW" altLang="en-US" dirty="0"/>
                    </a:p>
                  </a:txBody>
                  <a:tcPr anchor="ctr"/>
                </a:tc>
                <a:extLst>
                  <a:ext uri="{0D108BD9-81ED-4DB2-BD59-A6C34878D82A}">
                    <a16:rowId xmlns:a16="http://schemas.microsoft.com/office/drawing/2014/main" val="935014263"/>
                  </a:ext>
                </a:extLst>
              </a:tr>
              <a:tr h="405522">
                <a:tc>
                  <a:txBody>
                    <a:bodyPr/>
                    <a:lstStyle/>
                    <a:p>
                      <a:pPr algn="ctr"/>
                      <a:r>
                        <a:rPr lang="en-US" altLang="zh-TW" dirty="0"/>
                        <a:t>4</a:t>
                      </a:r>
                      <a:endParaRPr lang="zh-TW" altLang="en-US" dirty="0"/>
                    </a:p>
                  </a:txBody>
                  <a:tcPr anchor="ctr"/>
                </a:tc>
                <a:tc>
                  <a:txBody>
                    <a:bodyPr/>
                    <a:lstStyle/>
                    <a:p>
                      <a:pPr algn="ctr"/>
                      <a:r>
                        <a:rPr lang="en-US" altLang="zh-TW" sz="1800" b="0" i="0" kern="1200" dirty="0">
                          <a:solidFill>
                            <a:schemeClr val="dk1"/>
                          </a:solidFill>
                          <a:effectLst/>
                          <a:latin typeface="+mn-lt"/>
                          <a:ea typeface="+mn-ea"/>
                          <a:cs typeface="+mn-cs"/>
                        </a:rPr>
                        <a:t>Bread, Milk, Diaper, Beer</a:t>
                      </a:r>
                      <a:endParaRPr lang="zh-TW" altLang="en-US" dirty="0"/>
                    </a:p>
                  </a:txBody>
                  <a:tcPr anchor="ctr"/>
                </a:tc>
                <a:extLst>
                  <a:ext uri="{0D108BD9-81ED-4DB2-BD59-A6C34878D82A}">
                    <a16:rowId xmlns:a16="http://schemas.microsoft.com/office/drawing/2014/main" val="2451164101"/>
                  </a:ext>
                </a:extLst>
              </a:tr>
              <a:tr h="405522">
                <a:tc>
                  <a:txBody>
                    <a:bodyPr/>
                    <a:lstStyle/>
                    <a:p>
                      <a:pPr algn="ctr"/>
                      <a:r>
                        <a:rPr lang="en-US" altLang="zh-TW" dirty="0"/>
                        <a:t>5</a:t>
                      </a:r>
                      <a:endParaRPr lang="zh-TW" altLang="en-US" dirty="0"/>
                    </a:p>
                  </a:txBody>
                  <a:tcPr anchor="ctr"/>
                </a:tc>
                <a:tc>
                  <a:txBody>
                    <a:bodyPr/>
                    <a:lstStyle/>
                    <a:p>
                      <a:pPr algn="ctr"/>
                      <a:r>
                        <a:rPr lang="en-US" altLang="zh-TW" sz="1800" b="0" i="0" kern="1200" dirty="0">
                          <a:solidFill>
                            <a:schemeClr val="dk1"/>
                          </a:solidFill>
                          <a:effectLst/>
                          <a:latin typeface="+mn-lt"/>
                          <a:ea typeface="+mn-ea"/>
                          <a:cs typeface="+mn-cs"/>
                        </a:rPr>
                        <a:t>Bread, Milk, Diaper, Coke</a:t>
                      </a:r>
                      <a:endParaRPr lang="zh-TW" altLang="en-US" dirty="0"/>
                    </a:p>
                  </a:txBody>
                  <a:tcPr anchor="ctr"/>
                </a:tc>
                <a:extLst>
                  <a:ext uri="{0D108BD9-81ED-4DB2-BD59-A6C34878D82A}">
                    <a16:rowId xmlns:a16="http://schemas.microsoft.com/office/drawing/2014/main" val="2749941612"/>
                  </a:ext>
                </a:extLst>
              </a:tr>
            </a:tbl>
          </a:graphicData>
        </a:graphic>
      </p:graphicFrame>
    </p:spTree>
    <p:extLst>
      <p:ext uri="{BB962C8B-B14F-4D97-AF65-F5344CB8AC3E}">
        <p14:creationId xmlns:p14="http://schemas.microsoft.com/office/powerpoint/2010/main" val="793425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838199" y="1825625"/>
            <a:ext cx="5134761" cy="4351338"/>
          </a:xfrm>
        </p:spPr>
        <p:txBody>
          <a:bodyPr/>
          <a:lstStyle/>
          <a:p>
            <a:pPr marL="0" indent="0">
              <a:buNone/>
            </a:pPr>
            <a:r>
              <a:rPr lang="en-US" altLang="zh-TW" dirty="0"/>
              <a:t>min support = 3</a:t>
            </a:r>
          </a:p>
          <a:p>
            <a:r>
              <a:rPr lang="en-US" altLang="zh-TW" b="1" dirty="0"/>
              <a:t>Step1:</a:t>
            </a:r>
          </a:p>
          <a:p>
            <a:pPr marL="0" indent="0">
              <a:buNone/>
            </a:pPr>
            <a:r>
              <a:rPr lang="zh-TW" altLang="en-US" sz="2000" dirty="0">
                <a:latin typeface="標楷體" panose="03000509000000000000" pitchFamily="65" charset="-120"/>
                <a:ea typeface="標楷體" panose="03000509000000000000" pitchFamily="65" charset="-120"/>
              </a:rPr>
              <a:t>產生</a:t>
            </a:r>
            <a:r>
              <a:rPr lang="en-US" altLang="zh-TW" sz="2000" dirty="0">
                <a:latin typeface="標楷體" panose="03000509000000000000" pitchFamily="65" charset="-120"/>
                <a:ea typeface="標楷體" panose="03000509000000000000" pitchFamily="65" charset="-120"/>
              </a:rPr>
              <a:t>frequent </a:t>
            </a:r>
            <a:r>
              <a:rPr lang="en-US" altLang="zh-TW" sz="2000" dirty="0" err="1">
                <a:latin typeface="標楷體" panose="03000509000000000000" pitchFamily="65" charset="-120"/>
                <a:ea typeface="標楷體" panose="03000509000000000000" pitchFamily="65" charset="-120"/>
              </a:rPr>
              <a:t>itemset</a:t>
            </a:r>
            <a:r>
              <a:rPr lang="zh-TW" altLang="en-US" sz="2000" dirty="0">
                <a:latin typeface="標楷體" panose="03000509000000000000" pitchFamily="65" charset="-120"/>
                <a:ea typeface="標楷體" panose="03000509000000000000" pitchFamily="65" charset="-120"/>
              </a:rPr>
              <a:t>，即刪除小於</a:t>
            </a:r>
            <a:r>
              <a:rPr lang="en-US" altLang="zh-TW" sz="2000" dirty="0">
                <a:latin typeface="標楷體" panose="03000509000000000000" pitchFamily="65" charset="-120"/>
                <a:ea typeface="標楷體" panose="03000509000000000000" pitchFamily="65" charset="-120"/>
              </a:rPr>
              <a:t>min support</a:t>
            </a:r>
            <a:r>
              <a:rPr lang="zh-TW" altLang="en-US" sz="2000" dirty="0">
                <a:latin typeface="標楷體" panose="03000509000000000000" pitchFamily="65" charset="-120"/>
                <a:ea typeface="標楷體" panose="03000509000000000000" pitchFamily="65" charset="-120"/>
              </a:rPr>
              <a:t>的</a:t>
            </a:r>
            <a:r>
              <a:rPr lang="en-US" altLang="zh-TW" sz="2000" dirty="0">
                <a:latin typeface="標楷體" panose="03000509000000000000" pitchFamily="65" charset="-120"/>
                <a:ea typeface="標楷體" panose="03000509000000000000" pitchFamily="65" charset="-120"/>
              </a:rPr>
              <a:t>candidates</a:t>
            </a:r>
            <a:endParaRPr lang="zh-TW" altLang="en-US" sz="2000" dirty="0">
              <a:latin typeface="標楷體" panose="03000509000000000000" pitchFamily="65" charset="-120"/>
              <a:ea typeface="標楷體" panose="03000509000000000000" pitchFamily="65" charset="-120"/>
            </a:endParaRPr>
          </a:p>
          <a:p>
            <a:pPr marL="0" indent="0">
              <a:buNone/>
            </a:pPr>
            <a:endParaRPr lang="zh-TW" altLang="en-US" sz="1800" dirty="0">
              <a:latin typeface="標楷體" panose="03000509000000000000" pitchFamily="65" charset="-120"/>
              <a:ea typeface="標楷體" panose="03000509000000000000" pitchFamily="65" charset="-120"/>
            </a:endParaRPr>
          </a:p>
        </p:txBody>
      </p:sp>
      <p:graphicFrame>
        <p:nvGraphicFramePr>
          <p:cNvPr id="4" name="內容版面配置區 3"/>
          <p:cNvGraphicFramePr>
            <a:graphicFrameLocks/>
          </p:cNvGraphicFramePr>
          <p:nvPr>
            <p:extLst>
              <p:ext uri="{D42A27DB-BD31-4B8C-83A1-F6EECF244321}">
                <p14:modId xmlns:p14="http://schemas.microsoft.com/office/powerpoint/2010/main" val="592664414"/>
              </p:ext>
            </p:extLst>
          </p:nvPr>
        </p:nvGraphicFramePr>
        <p:xfrm>
          <a:off x="1039885" y="3587314"/>
          <a:ext cx="3733800" cy="2838654"/>
        </p:xfrm>
        <a:graphic>
          <a:graphicData uri="http://schemas.openxmlformats.org/drawingml/2006/table">
            <a:tbl>
              <a:tblPr firstRow="1" bandRow="1">
                <a:tableStyleId>{5C22544A-7EE6-4342-B048-85BDC9FD1C3A}</a:tableStyleId>
              </a:tblPr>
              <a:tblGrid>
                <a:gridCol w="1866900">
                  <a:extLst>
                    <a:ext uri="{9D8B030D-6E8A-4147-A177-3AD203B41FA5}">
                      <a16:colId xmlns:a16="http://schemas.microsoft.com/office/drawing/2014/main" val="828405369"/>
                    </a:ext>
                  </a:extLst>
                </a:gridCol>
                <a:gridCol w="1866900">
                  <a:extLst>
                    <a:ext uri="{9D8B030D-6E8A-4147-A177-3AD203B41FA5}">
                      <a16:colId xmlns:a16="http://schemas.microsoft.com/office/drawing/2014/main" val="2143488500"/>
                    </a:ext>
                  </a:extLst>
                </a:gridCol>
              </a:tblGrid>
              <a:tr h="405522">
                <a:tc>
                  <a:txBody>
                    <a:bodyPr/>
                    <a:lstStyle/>
                    <a:p>
                      <a:pPr algn="ctr"/>
                      <a:r>
                        <a:rPr lang="zh-TW" altLang="en-US" dirty="0"/>
                        <a:t>項目</a:t>
                      </a:r>
                    </a:p>
                  </a:txBody>
                  <a:tcPr anchor="ctr"/>
                </a:tc>
                <a:tc>
                  <a:txBody>
                    <a:bodyPr/>
                    <a:lstStyle/>
                    <a:p>
                      <a:pPr algn="ctr"/>
                      <a:r>
                        <a:rPr lang="en-US" altLang="zh-TW" dirty="0"/>
                        <a:t>Support</a:t>
                      </a:r>
                      <a:endParaRPr lang="zh-TW" altLang="en-US" dirty="0"/>
                    </a:p>
                  </a:txBody>
                  <a:tcPr anchor="ctr"/>
                </a:tc>
                <a:extLst>
                  <a:ext uri="{0D108BD9-81ED-4DB2-BD59-A6C34878D82A}">
                    <a16:rowId xmlns:a16="http://schemas.microsoft.com/office/drawing/2014/main" val="1634448320"/>
                  </a:ext>
                </a:extLst>
              </a:tr>
              <a:tr h="405522">
                <a:tc>
                  <a:txBody>
                    <a:bodyPr/>
                    <a:lstStyle/>
                    <a:p>
                      <a:pPr algn="ctr"/>
                      <a:r>
                        <a:rPr lang="en-US" altLang="zh-TW" dirty="0"/>
                        <a:t>Bread</a:t>
                      </a:r>
                      <a:endParaRPr lang="zh-TW" altLang="en-US" dirty="0"/>
                    </a:p>
                  </a:txBody>
                  <a:tcPr anchor="ctr"/>
                </a:tc>
                <a:tc>
                  <a:txBody>
                    <a:bodyPr/>
                    <a:lstStyle/>
                    <a:p>
                      <a:pPr algn="ctr"/>
                      <a:r>
                        <a:rPr lang="en-US" altLang="zh-TW" dirty="0"/>
                        <a:t>4</a:t>
                      </a:r>
                      <a:endParaRPr lang="zh-TW" altLang="en-US" dirty="0"/>
                    </a:p>
                  </a:txBody>
                  <a:tcPr anchor="ctr"/>
                </a:tc>
                <a:extLst>
                  <a:ext uri="{0D108BD9-81ED-4DB2-BD59-A6C34878D82A}">
                    <a16:rowId xmlns:a16="http://schemas.microsoft.com/office/drawing/2014/main" val="2508687679"/>
                  </a:ext>
                </a:extLst>
              </a:tr>
              <a:tr h="405522">
                <a:tc>
                  <a:txBody>
                    <a:bodyPr/>
                    <a:lstStyle/>
                    <a:p>
                      <a:pPr algn="ctr"/>
                      <a:r>
                        <a:rPr lang="en-US" altLang="zh-TW" dirty="0"/>
                        <a:t>Coke</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1132192738"/>
                  </a:ext>
                </a:extLst>
              </a:tr>
              <a:tr h="405522">
                <a:tc>
                  <a:txBody>
                    <a:bodyPr/>
                    <a:lstStyle/>
                    <a:p>
                      <a:pPr algn="ctr"/>
                      <a:r>
                        <a:rPr lang="en-US" altLang="zh-TW" dirty="0"/>
                        <a:t>Milk</a:t>
                      </a:r>
                      <a:endParaRPr lang="zh-TW" altLang="en-US" dirty="0"/>
                    </a:p>
                  </a:txBody>
                  <a:tcPr anchor="ctr"/>
                </a:tc>
                <a:tc>
                  <a:txBody>
                    <a:bodyPr/>
                    <a:lstStyle/>
                    <a:p>
                      <a:pPr algn="ctr"/>
                      <a:r>
                        <a:rPr lang="en-US" altLang="zh-TW" dirty="0"/>
                        <a:t>4</a:t>
                      </a:r>
                      <a:endParaRPr lang="zh-TW" altLang="en-US" dirty="0"/>
                    </a:p>
                  </a:txBody>
                  <a:tcPr anchor="ctr"/>
                </a:tc>
                <a:extLst>
                  <a:ext uri="{0D108BD9-81ED-4DB2-BD59-A6C34878D82A}">
                    <a16:rowId xmlns:a16="http://schemas.microsoft.com/office/drawing/2014/main" val="935014263"/>
                  </a:ext>
                </a:extLst>
              </a:tr>
              <a:tr h="405522">
                <a:tc>
                  <a:txBody>
                    <a:bodyPr/>
                    <a:lstStyle/>
                    <a:p>
                      <a:pPr algn="ctr"/>
                      <a:r>
                        <a:rPr lang="en-US" altLang="zh-TW" dirty="0"/>
                        <a:t>Beer</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2451164101"/>
                  </a:ext>
                </a:extLst>
              </a:tr>
              <a:tr h="405522">
                <a:tc>
                  <a:txBody>
                    <a:bodyPr/>
                    <a:lstStyle/>
                    <a:p>
                      <a:pPr algn="ctr"/>
                      <a:r>
                        <a:rPr lang="en-US" altLang="zh-TW" dirty="0"/>
                        <a:t>Diaper</a:t>
                      </a:r>
                      <a:endParaRPr lang="zh-TW" altLang="en-US" dirty="0"/>
                    </a:p>
                  </a:txBody>
                  <a:tcPr anchor="ctr"/>
                </a:tc>
                <a:tc>
                  <a:txBody>
                    <a:bodyPr/>
                    <a:lstStyle/>
                    <a:p>
                      <a:pPr algn="ctr"/>
                      <a:r>
                        <a:rPr lang="en-US" altLang="zh-TW" dirty="0"/>
                        <a:t>4</a:t>
                      </a:r>
                      <a:endParaRPr lang="zh-TW" altLang="en-US" dirty="0"/>
                    </a:p>
                  </a:txBody>
                  <a:tcPr anchor="ctr"/>
                </a:tc>
                <a:extLst>
                  <a:ext uri="{0D108BD9-81ED-4DB2-BD59-A6C34878D82A}">
                    <a16:rowId xmlns:a16="http://schemas.microsoft.com/office/drawing/2014/main" val="2749941612"/>
                  </a:ext>
                </a:extLst>
              </a:tr>
              <a:tr h="405522">
                <a:tc>
                  <a:txBody>
                    <a:bodyPr/>
                    <a:lstStyle/>
                    <a:p>
                      <a:pPr algn="ctr"/>
                      <a:r>
                        <a:rPr lang="en-US" altLang="zh-TW" dirty="0"/>
                        <a:t>Eggs</a:t>
                      </a:r>
                      <a:endParaRPr lang="zh-TW" altLang="en-US" dirty="0"/>
                    </a:p>
                  </a:txBody>
                  <a:tcPr anchor="ctr"/>
                </a:tc>
                <a:tc>
                  <a:txBody>
                    <a:bodyPr/>
                    <a:lstStyle/>
                    <a:p>
                      <a:pPr algn="ctr"/>
                      <a:r>
                        <a:rPr lang="en-US" altLang="zh-TW" dirty="0"/>
                        <a:t>1</a:t>
                      </a:r>
                      <a:endParaRPr lang="zh-TW" altLang="en-US" dirty="0"/>
                    </a:p>
                  </a:txBody>
                  <a:tcPr anchor="ctr"/>
                </a:tc>
                <a:extLst>
                  <a:ext uri="{0D108BD9-81ED-4DB2-BD59-A6C34878D82A}">
                    <a16:rowId xmlns:a16="http://schemas.microsoft.com/office/drawing/2014/main" val="3155328281"/>
                  </a:ext>
                </a:extLst>
              </a:tr>
            </a:tbl>
          </a:graphicData>
        </a:graphic>
      </p:graphicFrame>
      <p:sp>
        <p:nvSpPr>
          <p:cNvPr id="5" name="內容版面配置區 2"/>
          <p:cNvSpPr txBox="1">
            <a:spLocks/>
          </p:cNvSpPr>
          <p:nvPr/>
        </p:nvSpPr>
        <p:spPr>
          <a:xfrm>
            <a:off x="5889072" y="1825625"/>
            <a:ext cx="603168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b="1" dirty="0"/>
          </a:p>
          <a:p>
            <a:r>
              <a:rPr lang="en-US" altLang="zh-TW" b="1" dirty="0"/>
              <a:t>Step2: </a:t>
            </a:r>
          </a:p>
          <a:p>
            <a:pPr marL="0" indent="0">
              <a:buNone/>
            </a:pPr>
            <a:r>
              <a:rPr lang="en-US" altLang="zh-TW" b="1" dirty="0"/>
              <a:t>   </a:t>
            </a:r>
            <a:r>
              <a:rPr lang="en-US" altLang="zh-TW" sz="2000" dirty="0">
                <a:latin typeface="標楷體" panose="03000509000000000000" pitchFamily="65" charset="-120"/>
                <a:ea typeface="標楷體" panose="03000509000000000000" pitchFamily="65" charset="-120"/>
              </a:rPr>
              <a:t>generate candidates </a:t>
            </a:r>
            <a:r>
              <a:rPr lang="en-US" altLang="zh-TW" sz="1600" dirty="0">
                <a:latin typeface="標楷體" panose="03000509000000000000" pitchFamily="65" charset="-120"/>
                <a:ea typeface="標楷體" panose="03000509000000000000" pitchFamily="65" charset="-120"/>
              </a:rPr>
              <a:t>(</a:t>
            </a:r>
            <a:r>
              <a:rPr lang="zh-TW" altLang="en-US" sz="1600" dirty="0">
                <a:latin typeface="標楷體" panose="03000509000000000000" pitchFamily="65" charset="-120"/>
                <a:ea typeface="標楷體" panose="03000509000000000000" pitchFamily="65" charset="-120"/>
              </a:rPr>
              <a:t>全部組合</a:t>
            </a:r>
            <a:r>
              <a:rPr lang="en-US" altLang="zh-TW" sz="1600" dirty="0">
                <a:latin typeface="標楷體" panose="03000509000000000000" pitchFamily="65" charset="-120"/>
                <a:ea typeface="標楷體" panose="03000509000000000000" pitchFamily="65" charset="-120"/>
              </a:rPr>
              <a:t>)</a:t>
            </a:r>
            <a:endParaRPr lang="zh-TW" altLang="en-US" sz="1600" dirty="0">
              <a:latin typeface="標楷體" panose="03000509000000000000" pitchFamily="65" charset="-120"/>
              <a:ea typeface="標楷體" panose="03000509000000000000" pitchFamily="65" charset="-120"/>
            </a:endParaRPr>
          </a:p>
        </p:txBody>
      </p:sp>
      <p:cxnSp>
        <p:nvCxnSpPr>
          <p:cNvPr id="7" name="直線接點 6"/>
          <p:cNvCxnSpPr/>
          <p:nvPr/>
        </p:nvCxnSpPr>
        <p:spPr>
          <a:xfrm>
            <a:off x="931178" y="4630723"/>
            <a:ext cx="395121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931178" y="6242807"/>
            <a:ext cx="395121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9" name="內容版面配置區 3"/>
          <p:cNvGraphicFramePr>
            <a:graphicFrameLocks/>
          </p:cNvGraphicFramePr>
          <p:nvPr>
            <p:extLst>
              <p:ext uri="{D42A27DB-BD31-4B8C-83A1-F6EECF244321}">
                <p14:modId xmlns:p14="http://schemas.microsoft.com/office/powerpoint/2010/main" val="3541979430"/>
              </p:ext>
            </p:extLst>
          </p:nvPr>
        </p:nvGraphicFramePr>
        <p:xfrm>
          <a:off x="6174645" y="3587314"/>
          <a:ext cx="4093479" cy="2838654"/>
        </p:xfrm>
        <a:graphic>
          <a:graphicData uri="http://schemas.openxmlformats.org/drawingml/2006/table">
            <a:tbl>
              <a:tblPr firstRow="1" bandRow="1">
                <a:tableStyleId>{5C22544A-7EE6-4342-B048-85BDC9FD1C3A}</a:tableStyleId>
              </a:tblPr>
              <a:tblGrid>
                <a:gridCol w="4093479">
                  <a:extLst>
                    <a:ext uri="{9D8B030D-6E8A-4147-A177-3AD203B41FA5}">
                      <a16:colId xmlns:a16="http://schemas.microsoft.com/office/drawing/2014/main" val="828405369"/>
                    </a:ext>
                  </a:extLst>
                </a:gridCol>
              </a:tblGrid>
              <a:tr h="405522">
                <a:tc>
                  <a:txBody>
                    <a:bodyPr/>
                    <a:lstStyle/>
                    <a:p>
                      <a:pPr algn="ctr"/>
                      <a:r>
                        <a:rPr lang="zh-TW" altLang="en-US" dirty="0"/>
                        <a:t>項目</a:t>
                      </a:r>
                    </a:p>
                  </a:txBody>
                  <a:tcPr anchor="ctr"/>
                </a:tc>
                <a:extLst>
                  <a:ext uri="{0D108BD9-81ED-4DB2-BD59-A6C34878D82A}">
                    <a16:rowId xmlns:a16="http://schemas.microsoft.com/office/drawing/2014/main" val="1634448320"/>
                  </a:ext>
                </a:extLst>
              </a:tr>
              <a:tr h="405522">
                <a:tc>
                  <a:txBody>
                    <a:bodyPr/>
                    <a:lstStyle/>
                    <a:p>
                      <a:pPr algn="ctr"/>
                      <a:r>
                        <a:rPr lang="en-US" altLang="zh-TW" dirty="0"/>
                        <a:t>Bread, Milk</a:t>
                      </a:r>
                      <a:endParaRPr lang="zh-TW" altLang="en-US" dirty="0"/>
                    </a:p>
                  </a:txBody>
                  <a:tcPr anchor="ctr"/>
                </a:tc>
                <a:extLst>
                  <a:ext uri="{0D108BD9-81ED-4DB2-BD59-A6C34878D82A}">
                    <a16:rowId xmlns:a16="http://schemas.microsoft.com/office/drawing/2014/main" val="2508687679"/>
                  </a:ext>
                </a:extLst>
              </a:tr>
              <a:tr h="405522">
                <a:tc>
                  <a:txBody>
                    <a:bodyPr/>
                    <a:lstStyle/>
                    <a:p>
                      <a:pPr algn="ctr"/>
                      <a:r>
                        <a:rPr lang="en-US" altLang="zh-TW" sz="1800" b="0" i="0" kern="1200" dirty="0">
                          <a:solidFill>
                            <a:schemeClr val="dk1"/>
                          </a:solidFill>
                          <a:effectLst/>
                          <a:latin typeface="+mn-lt"/>
                          <a:ea typeface="+mn-ea"/>
                          <a:cs typeface="+mn-cs"/>
                        </a:rPr>
                        <a:t>Bread, Beer</a:t>
                      </a:r>
                      <a:endParaRPr lang="zh-TW" altLang="en-US" dirty="0"/>
                    </a:p>
                  </a:txBody>
                  <a:tcPr anchor="ctr"/>
                </a:tc>
                <a:extLst>
                  <a:ext uri="{0D108BD9-81ED-4DB2-BD59-A6C34878D82A}">
                    <a16:rowId xmlns:a16="http://schemas.microsoft.com/office/drawing/2014/main" val="1132192738"/>
                  </a:ext>
                </a:extLst>
              </a:tr>
              <a:tr h="405522">
                <a:tc>
                  <a:txBody>
                    <a:bodyPr/>
                    <a:lstStyle/>
                    <a:p>
                      <a:pPr algn="ctr"/>
                      <a:r>
                        <a:rPr lang="en-US" altLang="zh-TW" sz="1800" b="0" i="0" kern="1200" dirty="0">
                          <a:solidFill>
                            <a:schemeClr val="dk1"/>
                          </a:solidFill>
                          <a:effectLst/>
                          <a:latin typeface="+mn-lt"/>
                          <a:ea typeface="+mn-ea"/>
                          <a:cs typeface="+mn-cs"/>
                        </a:rPr>
                        <a:t>Bread, Diaper</a:t>
                      </a:r>
                      <a:endParaRPr lang="zh-TW" altLang="en-US" dirty="0"/>
                    </a:p>
                  </a:txBody>
                  <a:tcPr anchor="ctr"/>
                </a:tc>
                <a:extLst>
                  <a:ext uri="{0D108BD9-81ED-4DB2-BD59-A6C34878D82A}">
                    <a16:rowId xmlns:a16="http://schemas.microsoft.com/office/drawing/2014/main" val="935014263"/>
                  </a:ext>
                </a:extLst>
              </a:tr>
              <a:tr h="405522">
                <a:tc>
                  <a:txBody>
                    <a:bodyPr/>
                    <a:lstStyle/>
                    <a:p>
                      <a:pPr algn="ctr"/>
                      <a:r>
                        <a:rPr lang="en-US" altLang="zh-TW" sz="1800" b="0" i="0" kern="1200" dirty="0">
                          <a:solidFill>
                            <a:schemeClr val="dk1"/>
                          </a:solidFill>
                          <a:effectLst/>
                          <a:latin typeface="+mn-lt"/>
                          <a:ea typeface="+mn-ea"/>
                          <a:cs typeface="+mn-cs"/>
                        </a:rPr>
                        <a:t>Milk, Beer</a:t>
                      </a:r>
                      <a:endParaRPr lang="zh-TW" altLang="en-US" dirty="0"/>
                    </a:p>
                  </a:txBody>
                  <a:tcPr anchor="ctr"/>
                </a:tc>
                <a:extLst>
                  <a:ext uri="{0D108BD9-81ED-4DB2-BD59-A6C34878D82A}">
                    <a16:rowId xmlns:a16="http://schemas.microsoft.com/office/drawing/2014/main" val="2451164101"/>
                  </a:ext>
                </a:extLst>
              </a:tr>
              <a:tr h="405522">
                <a:tc>
                  <a:txBody>
                    <a:bodyPr/>
                    <a:lstStyle/>
                    <a:p>
                      <a:pPr algn="ctr"/>
                      <a:r>
                        <a:rPr lang="en-US" altLang="zh-TW" sz="1800" b="0" i="0" kern="1200" dirty="0">
                          <a:solidFill>
                            <a:schemeClr val="dk1"/>
                          </a:solidFill>
                          <a:effectLst/>
                          <a:latin typeface="+mn-lt"/>
                          <a:ea typeface="+mn-ea"/>
                          <a:cs typeface="+mn-cs"/>
                        </a:rPr>
                        <a:t>Milk, Diaper</a:t>
                      </a:r>
                      <a:endParaRPr lang="zh-TW" altLang="en-US" dirty="0"/>
                    </a:p>
                  </a:txBody>
                  <a:tcPr anchor="ctr"/>
                </a:tc>
                <a:extLst>
                  <a:ext uri="{0D108BD9-81ED-4DB2-BD59-A6C34878D82A}">
                    <a16:rowId xmlns:a16="http://schemas.microsoft.com/office/drawing/2014/main" val="2749941612"/>
                  </a:ext>
                </a:extLst>
              </a:tr>
              <a:tr h="405522">
                <a:tc>
                  <a:txBody>
                    <a:bodyPr/>
                    <a:lstStyle/>
                    <a:p>
                      <a:pPr algn="ctr"/>
                      <a:r>
                        <a:rPr lang="en-US" altLang="zh-TW" sz="1800" b="0" i="0" kern="1200" dirty="0">
                          <a:solidFill>
                            <a:schemeClr val="dk1"/>
                          </a:solidFill>
                          <a:effectLst/>
                          <a:latin typeface="+mn-lt"/>
                          <a:ea typeface="+mn-ea"/>
                          <a:cs typeface="+mn-cs"/>
                        </a:rPr>
                        <a:t>Beer, Diaper</a:t>
                      </a:r>
                      <a:endParaRPr lang="zh-TW" altLang="en-US" dirty="0"/>
                    </a:p>
                  </a:txBody>
                  <a:tcPr anchor="ctr"/>
                </a:tc>
                <a:extLst>
                  <a:ext uri="{0D108BD9-81ED-4DB2-BD59-A6C34878D82A}">
                    <a16:rowId xmlns:a16="http://schemas.microsoft.com/office/drawing/2014/main" val="3155328281"/>
                  </a:ext>
                </a:extLst>
              </a:tr>
            </a:tbl>
          </a:graphicData>
        </a:graphic>
      </p:graphicFrame>
    </p:spTree>
    <p:extLst>
      <p:ext uri="{BB962C8B-B14F-4D97-AF65-F5344CB8AC3E}">
        <p14:creationId xmlns:p14="http://schemas.microsoft.com/office/powerpoint/2010/main" val="803664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838199" y="1825624"/>
            <a:ext cx="4690145" cy="4877179"/>
          </a:xfrm>
        </p:spPr>
        <p:txBody>
          <a:bodyPr/>
          <a:lstStyle/>
          <a:p>
            <a:endParaRPr lang="en-US" altLang="zh-TW" b="1" dirty="0"/>
          </a:p>
          <a:p>
            <a:r>
              <a:rPr lang="en-US" altLang="zh-TW" b="1" dirty="0"/>
              <a:t>Step3:</a:t>
            </a:r>
          </a:p>
          <a:p>
            <a:pPr marL="0" indent="0">
              <a:buNone/>
            </a:pPr>
            <a:r>
              <a:rPr lang="en-US" altLang="zh-TW" sz="2300" dirty="0"/>
              <a:t>Compute the support of candidates</a:t>
            </a:r>
            <a:endParaRPr lang="zh-TW" altLang="en-US" sz="2300" dirty="0">
              <a:latin typeface="標楷體" panose="03000509000000000000" pitchFamily="65" charset="-120"/>
              <a:ea typeface="標楷體" panose="03000509000000000000" pitchFamily="65" charset="-120"/>
            </a:endParaRPr>
          </a:p>
        </p:txBody>
      </p:sp>
      <p:graphicFrame>
        <p:nvGraphicFramePr>
          <p:cNvPr id="4" name="內容版面配置區 3"/>
          <p:cNvGraphicFramePr>
            <a:graphicFrameLocks/>
          </p:cNvGraphicFramePr>
          <p:nvPr>
            <p:extLst>
              <p:ext uri="{D42A27DB-BD31-4B8C-83A1-F6EECF244321}">
                <p14:modId xmlns:p14="http://schemas.microsoft.com/office/powerpoint/2010/main" val="1177528347"/>
              </p:ext>
            </p:extLst>
          </p:nvPr>
        </p:nvGraphicFramePr>
        <p:xfrm>
          <a:off x="1039885" y="3411144"/>
          <a:ext cx="3733800" cy="2838654"/>
        </p:xfrm>
        <a:graphic>
          <a:graphicData uri="http://schemas.openxmlformats.org/drawingml/2006/table">
            <a:tbl>
              <a:tblPr firstRow="1" bandRow="1">
                <a:tableStyleId>{5C22544A-7EE6-4342-B048-85BDC9FD1C3A}</a:tableStyleId>
              </a:tblPr>
              <a:tblGrid>
                <a:gridCol w="1866900">
                  <a:extLst>
                    <a:ext uri="{9D8B030D-6E8A-4147-A177-3AD203B41FA5}">
                      <a16:colId xmlns:a16="http://schemas.microsoft.com/office/drawing/2014/main" val="828405369"/>
                    </a:ext>
                  </a:extLst>
                </a:gridCol>
                <a:gridCol w="1866900">
                  <a:extLst>
                    <a:ext uri="{9D8B030D-6E8A-4147-A177-3AD203B41FA5}">
                      <a16:colId xmlns:a16="http://schemas.microsoft.com/office/drawing/2014/main" val="2143488500"/>
                    </a:ext>
                  </a:extLst>
                </a:gridCol>
              </a:tblGrid>
              <a:tr h="405522">
                <a:tc>
                  <a:txBody>
                    <a:bodyPr/>
                    <a:lstStyle/>
                    <a:p>
                      <a:pPr algn="ctr"/>
                      <a:r>
                        <a:rPr lang="zh-TW" altLang="en-US" dirty="0"/>
                        <a:t>項目</a:t>
                      </a:r>
                    </a:p>
                  </a:txBody>
                  <a:tcPr anchor="ctr"/>
                </a:tc>
                <a:tc>
                  <a:txBody>
                    <a:bodyPr/>
                    <a:lstStyle/>
                    <a:p>
                      <a:pPr algn="ctr"/>
                      <a:r>
                        <a:rPr lang="en-US" altLang="zh-TW" dirty="0"/>
                        <a:t>Support</a:t>
                      </a:r>
                      <a:endParaRPr lang="zh-TW" altLang="en-US" dirty="0"/>
                    </a:p>
                  </a:txBody>
                  <a:tcPr anchor="ctr"/>
                </a:tc>
                <a:extLst>
                  <a:ext uri="{0D108BD9-81ED-4DB2-BD59-A6C34878D82A}">
                    <a16:rowId xmlns:a16="http://schemas.microsoft.com/office/drawing/2014/main" val="1634448320"/>
                  </a:ext>
                </a:extLst>
              </a:tr>
              <a:tr h="405522">
                <a:tc>
                  <a:txBody>
                    <a:bodyPr/>
                    <a:lstStyle/>
                    <a:p>
                      <a:pPr algn="ctr"/>
                      <a:r>
                        <a:rPr lang="en-US" altLang="zh-TW" dirty="0"/>
                        <a:t>Bread, Milk</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2508687679"/>
                  </a:ext>
                </a:extLst>
              </a:tr>
              <a:tr h="405522">
                <a:tc>
                  <a:txBody>
                    <a:bodyPr/>
                    <a:lstStyle/>
                    <a:p>
                      <a:pPr algn="ctr"/>
                      <a:r>
                        <a:rPr lang="en-US" altLang="zh-TW" sz="1800" b="0" i="0" kern="1200" dirty="0">
                          <a:solidFill>
                            <a:schemeClr val="dk1"/>
                          </a:solidFill>
                          <a:effectLst/>
                          <a:latin typeface="+mn-lt"/>
                          <a:ea typeface="+mn-ea"/>
                          <a:cs typeface="+mn-cs"/>
                        </a:rPr>
                        <a:t>Bread, Beer</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1132192738"/>
                  </a:ext>
                </a:extLst>
              </a:tr>
              <a:tr h="405522">
                <a:tc>
                  <a:txBody>
                    <a:bodyPr/>
                    <a:lstStyle/>
                    <a:p>
                      <a:pPr algn="ctr"/>
                      <a:r>
                        <a:rPr lang="en-US" altLang="zh-TW" sz="1800" b="0" i="0" kern="1200" dirty="0">
                          <a:solidFill>
                            <a:schemeClr val="dk1"/>
                          </a:solidFill>
                          <a:effectLst/>
                          <a:latin typeface="+mn-lt"/>
                          <a:ea typeface="+mn-ea"/>
                          <a:cs typeface="+mn-cs"/>
                        </a:rPr>
                        <a:t>Bread, Diaper</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935014263"/>
                  </a:ext>
                </a:extLst>
              </a:tr>
              <a:tr h="405522">
                <a:tc>
                  <a:txBody>
                    <a:bodyPr/>
                    <a:lstStyle/>
                    <a:p>
                      <a:pPr algn="ctr"/>
                      <a:r>
                        <a:rPr lang="en-US" altLang="zh-TW" sz="1800" b="0" i="0" kern="1200" dirty="0">
                          <a:solidFill>
                            <a:schemeClr val="dk1"/>
                          </a:solidFill>
                          <a:effectLst/>
                          <a:latin typeface="+mn-lt"/>
                          <a:ea typeface="+mn-ea"/>
                          <a:cs typeface="+mn-cs"/>
                        </a:rPr>
                        <a:t>Milk, Beer</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2451164101"/>
                  </a:ext>
                </a:extLst>
              </a:tr>
              <a:tr h="405522">
                <a:tc>
                  <a:txBody>
                    <a:bodyPr/>
                    <a:lstStyle/>
                    <a:p>
                      <a:pPr algn="ctr"/>
                      <a:r>
                        <a:rPr lang="en-US" altLang="zh-TW" sz="1800" b="0" i="0" kern="1200" dirty="0">
                          <a:solidFill>
                            <a:schemeClr val="dk1"/>
                          </a:solidFill>
                          <a:effectLst/>
                          <a:latin typeface="+mn-lt"/>
                          <a:ea typeface="+mn-ea"/>
                          <a:cs typeface="+mn-cs"/>
                        </a:rPr>
                        <a:t>Milk, Diaper</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2749941612"/>
                  </a:ext>
                </a:extLst>
              </a:tr>
              <a:tr h="405522">
                <a:tc>
                  <a:txBody>
                    <a:bodyPr/>
                    <a:lstStyle/>
                    <a:p>
                      <a:pPr algn="ctr"/>
                      <a:r>
                        <a:rPr lang="en-US" altLang="zh-TW" sz="1800" b="0" i="0" kern="1200" dirty="0">
                          <a:solidFill>
                            <a:schemeClr val="dk1"/>
                          </a:solidFill>
                          <a:effectLst/>
                          <a:latin typeface="+mn-lt"/>
                          <a:ea typeface="+mn-ea"/>
                          <a:cs typeface="+mn-cs"/>
                        </a:rPr>
                        <a:t>Beer, Diaper</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3155328281"/>
                  </a:ext>
                </a:extLst>
              </a:tr>
            </a:tbl>
          </a:graphicData>
        </a:graphic>
      </p:graphicFrame>
      <p:sp>
        <p:nvSpPr>
          <p:cNvPr id="5" name="內容版面配置區 2"/>
          <p:cNvSpPr txBox="1">
            <a:spLocks/>
          </p:cNvSpPr>
          <p:nvPr/>
        </p:nvSpPr>
        <p:spPr>
          <a:xfrm>
            <a:off x="5528344" y="1825625"/>
            <a:ext cx="650146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a:t>min support = 3</a:t>
            </a:r>
            <a:endParaRPr lang="en-US" altLang="zh-TW" b="1" dirty="0"/>
          </a:p>
          <a:p>
            <a:r>
              <a:rPr lang="en-US" altLang="zh-TW" b="1" dirty="0"/>
              <a:t>Step4:</a:t>
            </a:r>
          </a:p>
          <a:p>
            <a:pPr marL="0" indent="0">
              <a:buNone/>
            </a:pPr>
            <a:r>
              <a:rPr lang="zh-TW" altLang="en-US" sz="1800" dirty="0">
                <a:latin typeface="標楷體" panose="03000509000000000000" pitchFamily="65" charset="-120"/>
                <a:ea typeface="標楷體" panose="03000509000000000000" pitchFamily="65" charset="-120"/>
              </a:rPr>
              <a:t>產生</a:t>
            </a:r>
            <a:r>
              <a:rPr lang="en-US" altLang="zh-TW" sz="1800" dirty="0">
                <a:latin typeface="標楷體" panose="03000509000000000000" pitchFamily="65" charset="-120"/>
                <a:ea typeface="標楷體" panose="03000509000000000000" pitchFamily="65" charset="-120"/>
              </a:rPr>
              <a:t>frequent </a:t>
            </a:r>
            <a:r>
              <a:rPr lang="en-US" altLang="zh-TW" sz="1800" dirty="0" err="1">
                <a:latin typeface="標楷體" panose="03000509000000000000" pitchFamily="65" charset="-120"/>
                <a:ea typeface="標楷體" panose="03000509000000000000" pitchFamily="65" charset="-120"/>
              </a:rPr>
              <a:t>itemset</a:t>
            </a:r>
            <a:r>
              <a:rPr lang="zh-TW" altLang="en-US" sz="1800" dirty="0">
                <a:latin typeface="標楷體" panose="03000509000000000000" pitchFamily="65" charset="-120"/>
                <a:ea typeface="標楷體" panose="03000509000000000000" pitchFamily="65" charset="-120"/>
              </a:rPr>
              <a:t>，即刪除小於</a:t>
            </a:r>
            <a:r>
              <a:rPr lang="en-US" altLang="zh-TW" sz="1800" dirty="0">
                <a:latin typeface="標楷體" panose="03000509000000000000" pitchFamily="65" charset="-120"/>
                <a:ea typeface="標楷體" panose="03000509000000000000" pitchFamily="65" charset="-120"/>
              </a:rPr>
              <a:t>min support</a:t>
            </a:r>
            <a:r>
              <a:rPr lang="zh-TW" altLang="en-US" sz="1800" dirty="0">
                <a:latin typeface="標楷體" panose="03000509000000000000" pitchFamily="65" charset="-120"/>
                <a:ea typeface="標楷體" panose="03000509000000000000" pitchFamily="65" charset="-120"/>
              </a:rPr>
              <a:t>的</a:t>
            </a:r>
            <a:r>
              <a:rPr lang="en-US" altLang="zh-TW" sz="1800" dirty="0">
                <a:latin typeface="標楷體" panose="03000509000000000000" pitchFamily="65" charset="-120"/>
                <a:ea typeface="標楷體" panose="03000509000000000000" pitchFamily="65" charset="-120"/>
              </a:rPr>
              <a:t>candidates</a:t>
            </a:r>
            <a:endParaRPr lang="zh-TW" altLang="en-US" sz="1800" dirty="0">
              <a:latin typeface="標楷體" panose="03000509000000000000" pitchFamily="65" charset="-120"/>
              <a:ea typeface="標楷體" panose="03000509000000000000" pitchFamily="65" charset="-120"/>
            </a:endParaRPr>
          </a:p>
        </p:txBody>
      </p:sp>
      <p:graphicFrame>
        <p:nvGraphicFramePr>
          <p:cNvPr id="10" name="內容版面配置區 3"/>
          <p:cNvGraphicFramePr>
            <a:graphicFrameLocks/>
          </p:cNvGraphicFramePr>
          <p:nvPr>
            <p:extLst>
              <p:ext uri="{D42A27DB-BD31-4B8C-83A1-F6EECF244321}">
                <p14:modId xmlns:p14="http://schemas.microsoft.com/office/powerpoint/2010/main" val="3489266342"/>
              </p:ext>
            </p:extLst>
          </p:nvPr>
        </p:nvGraphicFramePr>
        <p:xfrm>
          <a:off x="6096000" y="3411144"/>
          <a:ext cx="3733800" cy="2838654"/>
        </p:xfrm>
        <a:graphic>
          <a:graphicData uri="http://schemas.openxmlformats.org/drawingml/2006/table">
            <a:tbl>
              <a:tblPr firstRow="1" bandRow="1">
                <a:tableStyleId>{5C22544A-7EE6-4342-B048-85BDC9FD1C3A}</a:tableStyleId>
              </a:tblPr>
              <a:tblGrid>
                <a:gridCol w="1866900">
                  <a:extLst>
                    <a:ext uri="{9D8B030D-6E8A-4147-A177-3AD203B41FA5}">
                      <a16:colId xmlns:a16="http://schemas.microsoft.com/office/drawing/2014/main" val="828405369"/>
                    </a:ext>
                  </a:extLst>
                </a:gridCol>
                <a:gridCol w="1866900">
                  <a:extLst>
                    <a:ext uri="{9D8B030D-6E8A-4147-A177-3AD203B41FA5}">
                      <a16:colId xmlns:a16="http://schemas.microsoft.com/office/drawing/2014/main" val="2143488500"/>
                    </a:ext>
                  </a:extLst>
                </a:gridCol>
              </a:tblGrid>
              <a:tr h="405522">
                <a:tc>
                  <a:txBody>
                    <a:bodyPr/>
                    <a:lstStyle/>
                    <a:p>
                      <a:pPr algn="ctr"/>
                      <a:r>
                        <a:rPr lang="zh-TW" altLang="en-US" dirty="0"/>
                        <a:t>項目</a:t>
                      </a:r>
                    </a:p>
                  </a:txBody>
                  <a:tcPr anchor="ctr"/>
                </a:tc>
                <a:tc>
                  <a:txBody>
                    <a:bodyPr/>
                    <a:lstStyle/>
                    <a:p>
                      <a:pPr algn="ctr"/>
                      <a:r>
                        <a:rPr lang="en-US" altLang="zh-TW" dirty="0"/>
                        <a:t>Support</a:t>
                      </a:r>
                      <a:endParaRPr lang="zh-TW" altLang="en-US" dirty="0"/>
                    </a:p>
                  </a:txBody>
                  <a:tcPr anchor="ctr"/>
                </a:tc>
                <a:extLst>
                  <a:ext uri="{0D108BD9-81ED-4DB2-BD59-A6C34878D82A}">
                    <a16:rowId xmlns:a16="http://schemas.microsoft.com/office/drawing/2014/main" val="1634448320"/>
                  </a:ext>
                </a:extLst>
              </a:tr>
              <a:tr h="405522">
                <a:tc>
                  <a:txBody>
                    <a:bodyPr/>
                    <a:lstStyle/>
                    <a:p>
                      <a:pPr algn="ctr"/>
                      <a:r>
                        <a:rPr lang="en-US" altLang="zh-TW" dirty="0"/>
                        <a:t>Bread, Milk</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2508687679"/>
                  </a:ext>
                </a:extLst>
              </a:tr>
              <a:tr h="405522">
                <a:tc>
                  <a:txBody>
                    <a:bodyPr/>
                    <a:lstStyle/>
                    <a:p>
                      <a:pPr algn="ctr"/>
                      <a:r>
                        <a:rPr lang="en-US" altLang="zh-TW" sz="1800" b="0" i="0" kern="1200" dirty="0">
                          <a:solidFill>
                            <a:schemeClr val="dk1"/>
                          </a:solidFill>
                          <a:effectLst/>
                          <a:latin typeface="+mn-lt"/>
                          <a:ea typeface="+mn-ea"/>
                          <a:cs typeface="+mn-cs"/>
                        </a:rPr>
                        <a:t>Bread, Beer</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1132192738"/>
                  </a:ext>
                </a:extLst>
              </a:tr>
              <a:tr h="405522">
                <a:tc>
                  <a:txBody>
                    <a:bodyPr/>
                    <a:lstStyle/>
                    <a:p>
                      <a:pPr algn="ctr"/>
                      <a:r>
                        <a:rPr lang="en-US" altLang="zh-TW" sz="1800" b="0" i="0" kern="1200" dirty="0">
                          <a:solidFill>
                            <a:schemeClr val="dk1"/>
                          </a:solidFill>
                          <a:effectLst/>
                          <a:latin typeface="+mn-lt"/>
                          <a:ea typeface="+mn-ea"/>
                          <a:cs typeface="+mn-cs"/>
                        </a:rPr>
                        <a:t>Bread, Diaper</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935014263"/>
                  </a:ext>
                </a:extLst>
              </a:tr>
              <a:tr h="405522">
                <a:tc>
                  <a:txBody>
                    <a:bodyPr/>
                    <a:lstStyle/>
                    <a:p>
                      <a:pPr algn="ctr"/>
                      <a:r>
                        <a:rPr lang="en-US" altLang="zh-TW" sz="1800" b="0" i="0" kern="1200" dirty="0">
                          <a:solidFill>
                            <a:schemeClr val="dk1"/>
                          </a:solidFill>
                          <a:effectLst/>
                          <a:latin typeface="+mn-lt"/>
                          <a:ea typeface="+mn-ea"/>
                          <a:cs typeface="+mn-cs"/>
                        </a:rPr>
                        <a:t>Milk, Beer</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2451164101"/>
                  </a:ext>
                </a:extLst>
              </a:tr>
              <a:tr h="405522">
                <a:tc>
                  <a:txBody>
                    <a:bodyPr/>
                    <a:lstStyle/>
                    <a:p>
                      <a:pPr algn="ctr"/>
                      <a:r>
                        <a:rPr lang="en-US" altLang="zh-TW" sz="1800" b="0" i="0" kern="1200" dirty="0">
                          <a:solidFill>
                            <a:schemeClr val="dk1"/>
                          </a:solidFill>
                          <a:effectLst/>
                          <a:latin typeface="+mn-lt"/>
                          <a:ea typeface="+mn-ea"/>
                          <a:cs typeface="+mn-cs"/>
                        </a:rPr>
                        <a:t>Milk, Diaper</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2749941612"/>
                  </a:ext>
                </a:extLst>
              </a:tr>
              <a:tr h="405522">
                <a:tc>
                  <a:txBody>
                    <a:bodyPr/>
                    <a:lstStyle/>
                    <a:p>
                      <a:pPr algn="ctr"/>
                      <a:r>
                        <a:rPr lang="en-US" altLang="zh-TW" sz="1800" b="0" i="0" kern="1200" dirty="0">
                          <a:solidFill>
                            <a:schemeClr val="dk1"/>
                          </a:solidFill>
                          <a:effectLst/>
                          <a:latin typeface="+mn-lt"/>
                          <a:ea typeface="+mn-ea"/>
                          <a:cs typeface="+mn-cs"/>
                        </a:rPr>
                        <a:t>Beer, Diaper</a:t>
                      </a:r>
                      <a:endParaRPr lang="zh-TW" altLang="en-US" dirty="0"/>
                    </a:p>
                  </a:txBody>
                  <a:tcPr anchor="ctr"/>
                </a:tc>
                <a:tc>
                  <a:txBody>
                    <a:bodyPr/>
                    <a:lstStyle/>
                    <a:p>
                      <a:pPr algn="ctr"/>
                      <a:r>
                        <a:rPr lang="en-US" altLang="zh-TW" dirty="0"/>
                        <a:t>3</a:t>
                      </a:r>
                      <a:endParaRPr lang="zh-TW" altLang="en-US" dirty="0"/>
                    </a:p>
                  </a:txBody>
                  <a:tcPr anchor="ctr"/>
                </a:tc>
                <a:extLst>
                  <a:ext uri="{0D108BD9-81ED-4DB2-BD59-A6C34878D82A}">
                    <a16:rowId xmlns:a16="http://schemas.microsoft.com/office/drawing/2014/main" val="3155328281"/>
                  </a:ext>
                </a:extLst>
              </a:tr>
            </a:tbl>
          </a:graphicData>
        </a:graphic>
      </p:graphicFrame>
      <p:cxnSp>
        <p:nvCxnSpPr>
          <p:cNvPr id="11" name="直線接點 10"/>
          <p:cNvCxnSpPr/>
          <p:nvPr/>
        </p:nvCxnSpPr>
        <p:spPr>
          <a:xfrm>
            <a:off x="5998129" y="4420998"/>
            <a:ext cx="395121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a:xfrm>
            <a:off x="5998129" y="5244517"/>
            <a:ext cx="395121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6163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838199" y="1825624"/>
            <a:ext cx="4690145" cy="4877179"/>
          </a:xfrm>
        </p:spPr>
        <p:txBody>
          <a:bodyPr/>
          <a:lstStyle/>
          <a:p>
            <a:endParaRPr lang="en-US" altLang="zh-TW" b="1" dirty="0"/>
          </a:p>
          <a:p>
            <a:r>
              <a:rPr lang="en-US" altLang="zh-TW" b="1" dirty="0" err="1"/>
              <a:t>Goto</a:t>
            </a:r>
            <a:r>
              <a:rPr lang="en-US" altLang="zh-TW" b="1" dirty="0"/>
              <a:t> Step2:</a:t>
            </a:r>
          </a:p>
          <a:p>
            <a:pPr marL="0" indent="0">
              <a:buNone/>
            </a:pPr>
            <a:r>
              <a:rPr lang="en-US" altLang="zh-TW" sz="2400" dirty="0">
                <a:latin typeface="標楷體" panose="03000509000000000000" pitchFamily="65" charset="-120"/>
                <a:ea typeface="標楷體" panose="03000509000000000000" pitchFamily="65" charset="-120"/>
              </a:rPr>
              <a:t>generate candidates </a:t>
            </a:r>
            <a:r>
              <a:rPr lang="en-US" altLang="zh-TW" sz="1800" dirty="0">
                <a:latin typeface="標楷體" panose="03000509000000000000" pitchFamily="65" charset="-120"/>
                <a:ea typeface="標楷體" panose="03000509000000000000" pitchFamily="65" charset="-120"/>
              </a:rPr>
              <a:t>(</a:t>
            </a:r>
            <a:r>
              <a:rPr lang="zh-TW" altLang="en-US" sz="1800" dirty="0">
                <a:latin typeface="標楷體" panose="03000509000000000000" pitchFamily="65" charset="-120"/>
                <a:ea typeface="標楷體" panose="03000509000000000000" pitchFamily="65" charset="-120"/>
              </a:rPr>
              <a:t>全部組合</a:t>
            </a:r>
            <a:r>
              <a:rPr lang="en-US" altLang="zh-TW" sz="1800" dirty="0">
                <a:latin typeface="標楷體" panose="03000509000000000000" pitchFamily="65" charset="-120"/>
                <a:ea typeface="標楷體" panose="03000509000000000000" pitchFamily="65" charset="-120"/>
              </a:rPr>
              <a:t>)</a:t>
            </a:r>
            <a:endParaRPr lang="zh-TW" altLang="en-US" sz="2300" dirty="0">
              <a:latin typeface="標楷體" panose="03000509000000000000" pitchFamily="65" charset="-120"/>
              <a:ea typeface="標楷體" panose="03000509000000000000" pitchFamily="65" charset="-120"/>
            </a:endParaRPr>
          </a:p>
        </p:txBody>
      </p:sp>
      <p:sp>
        <p:nvSpPr>
          <p:cNvPr id="5" name="內容版面配置區 2"/>
          <p:cNvSpPr txBox="1">
            <a:spLocks/>
          </p:cNvSpPr>
          <p:nvPr/>
        </p:nvSpPr>
        <p:spPr>
          <a:xfrm>
            <a:off x="5528344" y="1825625"/>
            <a:ext cx="650146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TW" b="1" dirty="0"/>
          </a:p>
          <a:p>
            <a:r>
              <a:rPr lang="en-US" altLang="zh-TW" b="1" dirty="0"/>
              <a:t>Step3:</a:t>
            </a:r>
          </a:p>
          <a:p>
            <a:pPr marL="0" indent="0">
              <a:buNone/>
            </a:pPr>
            <a:r>
              <a:rPr lang="zh-TW" altLang="en-US" sz="1800" b="1" dirty="0">
                <a:latin typeface="標楷體" panose="03000509000000000000" pitchFamily="65" charset="-120"/>
                <a:ea typeface="標楷體" panose="03000509000000000000" pitchFamily="65" charset="-120"/>
              </a:rPr>
              <a:t>   </a:t>
            </a:r>
            <a:r>
              <a:rPr lang="zh-TW" altLang="en-US" sz="1800" dirty="0">
                <a:latin typeface="標楷體" panose="03000509000000000000" pitchFamily="65" charset="-120"/>
                <a:ea typeface="標楷體" panose="03000509000000000000" pitchFamily="65" charset="-120"/>
              </a:rPr>
              <a:t>產生最後關聯性結果</a:t>
            </a:r>
          </a:p>
        </p:txBody>
      </p:sp>
      <p:graphicFrame>
        <p:nvGraphicFramePr>
          <p:cNvPr id="10" name="內容版面配置區 3"/>
          <p:cNvGraphicFramePr>
            <a:graphicFrameLocks/>
          </p:cNvGraphicFramePr>
          <p:nvPr>
            <p:extLst>
              <p:ext uri="{D42A27DB-BD31-4B8C-83A1-F6EECF244321}">
                <p14:modId xmlns:p14="http://schemas.microsoft.com/office/powerpoint/2010/main" val="3656807539"/>
              </p:ext>
            </p:extLst>
          </p:nvPr>
        </p:nvGraphicFramePr>
        <p:xfrm>
          <a:off x="6028888" y="4001294"/>
          <a:ext cx="4742576" cy="811044"/>
        </p:xfrm>
        <a:graphic>
          <a:graphicData uri="http://schemas.openxmlformats.org/drawingml/2006/table">
            <a:tbl>
              <a:tblPr firstRow="1" bandRow="1">
                <a:tableStyleId>{5C22544A-7EE6-4342-B048-85BDC9FD1C3A}</a:tableStyleId>
              </a:tblPr>
              <a:tblGrid>
                <a:gridCol w="2371288">
                  <a:extLst>
                    <a:ext uri="{9D8B030D-6E8A-4147-A177-3AD203B41FA5}">
                      <a16:colId xmlns:a16="http://schemas.microsoft.com/office/drawing/2014/main" val="828405369"/>
                    </a:ext>
                  </a:extLst>
                </a:gridCol>
                <a:gridCol w="2371288">
                  <a:extLst>
                    <a:ext uri="{9D8B030D-6E8A-4147-A177-3AD203B41FA5}">
                      <a16:colId xmlns:a16="http://schemas.microsoft.com/office/drawing/2014/main" val="2143488500"/>
                    </a:ext>
                  </a:extLst>
                </a:gridCol>
              </a:tblGrid>
              <a:tr h="405522">
                <a:tc>
                  <a:txBody>
                    <a:bodyPr/>
                    <a:lstStyle/>
                    <a:p>
                      <a:pPr algn="ctr"/>
                      <a:r>
                        <a:rPr lang="zh-TW" altLang="en-US" dirty="0"/>
                        <a:t>項目</a:t>
                      </a:r>
                    </a:p>
                  </a:txBody>
                  <a:tcPr anchor="ctr"/>
                </a:tc>
                <a:tc>
                  <a:txBody>
                    <a:bodyPr/>
                    <a:lstStyle/>
                    <a:p>
                      <a:pPr algn="ctr"/>
                      <a:r>
                        <a:rPr lang="en-US" altLang="zh-TW" dirty="0"/>
                        <a:t>Support</a:t>
                      </a:r>
                      <a:endParaRPr lang="zh-TW" altLang="en-US" dirty="0"/>
                    </a:p>
                  </a:txBody>
                  <a:tcPr anchor="ctr"/>
                </a:tc>
                <a:extLst>
                  <a:ext uri="{0D108BD9-81ED-4DB2-BD59-A6C34878D82A}">
                    <a16:rowId xmlns:a16="http://schemas.microsoft.com/office/drawing/2014/main" val="1634448320"/>
                  </a:ext>
                </a:extLst>
              </a:tr>
              <a:tr h="405522">
                <a:tc>
                  <a:txBody>
                    <a:bodyPr/>
                    <a:lstStyle/>
                    <a:p>
                      <a:pPr algn="ctr"/>
                      <a:r>
                        <a:rPr lang="en-US" altLang="zh-TW" dirty="0"/>
                        <a:t>Bread, Milk</a:t>
                      </a:r>
                      <a:r>
                        <a:rPr lang="en-US" altLang="zh-TW" sz="1800" b="0" i="0" kern="1200" dirty="0">
                          <a:solidFill>
                            <a:schemeClr val="dk1"/>
                          </a:solidFill>
                          <a:effectLst/>
                          <a:latin typeface="+mn-lt"/>
                          <a:ea typeface="+mn-ea"/>
                          <a:cs typeface="+mn-cs"/>
                        </a:rPr>
                        <a:t>, Diaper</a:t>
                      </a:r>
                      <a:endParaRPr lang="zh-TW" altLang="en-US" dirty="0"/>
                    </a:p>
                  </a:txBody>
                  <a:tcPr anchor="ctr"/>
                </a:tc>
                <a:tc>
                  <a:txBody>
                    <a:bodyPr/>
                    <a:lstStyle/>
                    <a:p>
                      <a:pPr algn="ctr"/>
                      <a:r>
                        <a:rPr lang="en-US" altLang="zh-TW" dirty="0"/>
                        <a:t>2</a:t>
                      </a:r>
                      <a:endParaRPr lang="zh-TW" altLang="en-US" dirty="0"/>
                    </a:p>
                  </a:txBody>
                  <a:tcPr anchor="ctr"/>
                </a:tc>
                <a:extLst>
                  <a:ext uri="{0D108BD9-81ED-4DB2-BD59-A6C34878D82A}">
                    <a16:rowId xmlns:a16="http://schemas.microsoft.com/office/drawing/2014/main" val="2508687679"/>
                  </a:ext>
                </a:extLst>
              </a:tr>
            </a:tbl>
          </a:graphicData>
        </a:graphic>
      </p:graphicFrame>
      <p:graphicFrame>
        <p:nvGraphicFramePr>
          <p:cNvPr id="9" name="內容版面配置區 3"/>
          <p:cNvGraphicFramePr>
            <a:graphicFrameLocks/>
          </p:cNvGraphicFramePr>
          <p:nvPr>
            <p:extLst>
              <p:ext uri="{D42A27DB-BD31-4B8C-83A1-F6EECF244321}">
                <p14:modId xmlns:p14="http://schemas.microsoft.com/office/powerpoint/2010/main" val="1115300525"/>
              </p:ext>
            </p:extLst>
          </p:nvPr>
        </p:nvGraphicFramePr>
        <p:xfrm>
          <a:off x="838199" y="4001294"/>
          <a:ext cx="4093479" cy="811044"/>
        </p:xfrm>
        <a:graphic>
          <a:graphicData uri="http://schemas.openxmlformats.org/drawingml/2006/table">
            <a:tbl>
              <a:tblPr firstRow="1" bandRow="1">
                <a:tableStyleId>{5C22544A-7EE6-4342-B048-85BDC9FD1C3A}</a:tableStyleId>
              </a:tblPr>
              <a:tblGrid>
                <a:gridCol w="4093479">
                  <a:extLst>
                    <a:ext uri="{9D8B030D-6E8A-4147-A177-3AD203B41FA5}">
                      <a16:colId xmlns:a16="http://schemas.microsoft.com/office/drawing/2014/main" val="828405369"/>
                    </a:ext>
                  </a:extLst>
                </a:gridCol>
              </a:tblGrid>
              <a:tr h="405522">
                <a:tc>
                  <a:txBody>
                    <a:bodyPr/>
                    <a:lstStyle/>
                    <a:p>
                      <a:pPr algn="ctr"/>
                      <a:r>
                        <a:rPr lang="zh-TW" altLang="en-US" dirty="0"/>
                        <a:t>項目</a:t>
                      </a:r>
                    </a:p>
                  </a:txBody>
                  <a:tcPr anchor="ctr"/>
                </a:tc>
                <a:extLst>
                  <a:ext uri="{0D108BD9-81ED-4DB2-BD59-A6C34878D82A}">
                    <a16:rowId xmlns:a16="http://schemas.microsoft.com/office/drawing/2014/main" val="1634448320"/>
                  </a:ext>
                </a:extLst>
              </a:tr>
              <a:tr h="405522">
                <a:tc>
                  <a:txBody>
                    <a:bodyPr/>
                    <a:lstStyle/>
                    <a:p>
                      <a:pPr algn="ctr"/>
                      <a:r>
                        <a:rPr lang="en-US" altLang="zh-TW" dirty="0"/>
                        <a:t>Bread, Milk</a:t>
                      </a:r>
                      <a:r>
                        <a:rPr lang="en-US" altLang="zh-TW" sz="1800" b="0" i="0" kern="1200" dirty="0">
                          <a:solidFill>
                            <a:schemeClr val="dk1"/>
                          </a:solidFill>
                          <a:effectLst/>
                          <a:latin typeface="+mn-lt"/>
                          <a:ea typeface="+mn-ea"/>
                          <a:cs typeface="+mn-cs"/>
                        </a:rPr>
                        <a:t>, Diaper</a:t>
                      </a:r>
                      <a:endParaRPr lang="zh-TW" altLang="en-US" dirty="0"/>
                    </a:p>
                  </a:txBody>
                  <a:tcPr anchor="ctr"/>
                </a:tc>
                <a:extLst>
                  <a:ext uri="{0D108BD9-81ED-4DB2-BD59-A6C34878D82A}">
                    <a16:rowId xmlns:a16="http://schemas.microsoft.com/office/drawing/2014/main" val="2508687679"/>
                  </a:ext>
                </a:extLst>
              </a:tr>
            </a:tbl>
          </a:graphicData>
        </a:graphic>
      </p:graphicFrame>
    </p:spTree>
    <p:extLst>
      <p:ext uri="{BB962C8B-B14F-4D97-AF65-F5344CB8AC3E}">
        <p14:creationId xmlns:p14="http://schemas.microsoft.com/office/powerpoint/2010/main" val="463940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325563"/>
          </a:xfrm>
        </p:spPr>
        <p:txBody>
          <a:bodyPr/>
          <a:lstStyle/>
          <a:p>
            <a:r>
              <a:rPr lang="en-US" altLang="zh-TW" dirty="0"/>
              <a:t>K-means cluster</a:t>
            </a:r>
            <a:endParaRPr lang="zh-TW" altLang="en-US" dirty="0"/>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85358" y="2912042"/>
            <a:ext cx="5346277" cy="1779295"/>
          </a:xfrm>
        </p:spPr>
      </p:pic>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678" y="3167125"/>
            <a:ext cx="5089321" cy="1426080"/>
          </a:xfrm>
          <a:prstGeom prst="rect">
            <a:avLst/>
          </a:prstGeom>
        </p:spPr>
      </p:pic>
      <mc:AlternateContent xmlns:mc="http://schemas.openxmlformats.org/markup-compatibility/2006">
        <mc:Choice xmlns:a14="http://schemas.microsoft.com/office/drawing/2010/main" Requires="a14">
          <p:sp>
            <p:nvSpPr>
              <p:cNvPr id="8" name="文字方塊 7"/>
              <p:cNvSpPr txBox="1"/>
              <p:nvPr/>
            </p:nvSpPr>
            <p:spPr>
              <a:xfrm>
                <a:off x="1006678" y="5182153"/>
                <a:ext cx="6325300" cy="800219"/>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r>
                      <a:rPr lang="zh-TW" altLang="en-US" sz="2300" i="1" smtClean="0">
                        <a:latin typeface="Cambria Math" panose="02040503050406030204" pitchFamily="18" charset="0"/>
                        <a:ea typeface="標楷體" panose="03000509000000000000" pitchFamily="65" charset="-120"/>
                      </a:rPr>
                      <m:t>𝜇</m:t>
                    </m:r>
                    <m:r>
                      <a:rPr lang="en-US" altLang="zh-TW" sz="2300" b="0" i="1" baseline="-25000" smtClean="0">
                        <a:latin typeface="Cambria Math" panose="02040503050406030204" pitchFamily="18" charset="0"/>
                        <a:ea typeface="標楷體" panose="03000509000000000000" pitchFamily="65" charset="-120"/>
                      </a:rPr>
                      <m:t>𝑖</m:t>
                    </m:r>
                  </m:oMath>
                </a14:m>
                <a:r>
                  <a:rPr lang="zh-TW" altLang="en-US" sz="2300" dirty="0">
                    <a:latin typeface="標楷體" panose="03000509000000000000" pitchFamily="65" charset="-120"/>
                    <a:ea typeface="標楷體" panose="03000509000000000000" pitchFamily="65" charset="-120"/>
                  </a:rPr>
                  <a:t>是</a:t>
                </a:r>
                <a:r>
                  <a:rPr lang="en-US" altLang="zh-TW" sz="2300" i="1" dirty="0">
                    <a:latin typeface="標楷體" panose="03000509000000000000" pitchFamily="65" charset="-120"/>
                    <a:ea typeface="標楷體" panose="03000509000000000000" pitchFamily="65" charset="-120"/>
                  </a:rPr>
                  <a:t>S</a:t>
                </a:r>
                <a14:m>
                  <m:oMath xmlns:m="http://schemas.openxmlformats.org/officeDocument/2006/math">
                    <m:r>
                      <a:rPr lang="en-US" altLang="zh-TW" sz="2300" i="1" baseline="-25000" dirty="0" smtClean="0">
                        <a:latin typeface="Cambria Math" panose="02040503050406030204" pitchFamily="18" charset="0"/>
                        <a:ea typeface="標楷體" panose="03000509000000000000" pitchFamily="65" charset="-120"/>
                      </a:rPr>
                      <m:t>𝑖</m:t>
                    </m:r>
                  </m:oMath>
                </a14:m>
                <a:r>
                  <a:rPr lang="zh-TW" altLang="en-US" sz="2300" dirty="0">
                    <a:latin typeface="標楷體" panose="03000509000000000000" pitchFamily="65" charset="-120"/>
                    <a:ea typeface="標楷體" panose="03000509000000000000" pitchFamily="65" charset="-120"/>
                  </a:rPr>
                  <a:t>中所有點的均值，即該群中心點</a:t>
                </a:r>
                <a:endParaRPr lang="en-US" altLang="zh-TW" sz="2300" dirty="0">
                  <a:latin typeface="標楷體" panose="03000509000000000000" pitchFamily="65" charset="-120"/>
                  <a:ea typeface="標楷體" panose="03000509000000000000" pitchFamily="65" charset="-120"/>
                </a:endParaRPr>
              </a:p>
              <a:p>
                <a:pPr marL="342900" indent="-342900">
                  <a:buFont typeface="Arial" panose="020B0604020202020204" pitchFamily="34" charset="0"/>
                  <a:buChar char="•"/>
                </a:pPr>
                <a:r>
                  <a:rPr lang="zh-TW" altLang="en-US" sz="2300" dirty="0">
                    <a:latin typeface="標楷體" panose="03000509000000000000" pitchFamily="65" charset="-120"/>
                    <a:ea typeface="標楷體" panose="03000509000000000000" pitchFamily="65" charset="-120"/>
                  </a:rPr>
                  <a:t>預先設定分群數</a:t>
                </a:r>
                <a:r>
                  <a:rPr lang="en-US" altLang="zh-TW" sz="2300" dirty="0">
                    <a:latin typeface="標楷體" panose="03000509000000000000" pitchFamily="65" charset="-120"/>
                    <a:ea typeface="標楷體" panose="03000509000000000000" pitchFamily="65" charset="-120"/>
                  </a:rPr>
                  <a:t>k</a:t>
                </a:r>
                <a:endParaRPr lang="zh-TW" altLang="en-US" sz="2300" dirty="0">
                  <a:latin typeface="標楷體" panose="03000509000000000000" pitchFamily="65" charset="-120"/>
                  <a:ea typeface="標楷體" panose="03000509000000000000" pitchFamily="65" charset="-120"/>
                </a:endParaRPr>
              </a:p>
            </p:txBody>
          </p:sp>
        </mc:Choice>
        <mc:Fallback>
          <p:sp>
            <p:nvSpPr>
              <p:cNvPr id="8" name="文字方塊 7"/>
              <p:cNvSpPr txBox="1">
                <a:spLocks noRot="1" noChangeAspect="1" noMove="1" noResize="1" noEditPoints="1" noAdjustHandles="1" noChangeArrowheads="1" noChangeShapeType="1" noTextEdit="1"/>
              </p:cNvSpPr>
              <p:nvPr/>
            </p:nvSpPr>
            <p:spPr>
              <a:xfrm>
                <a:off x="1006678" y="5182153"/>
                <a:ext cx="6325300" cy="800219"/>
              </a:xfrm>
              <a:prstGeom prst="rect">
                <a:avLst/>
              </a:prstGeom>
              <a:blipFill>
                <a:blip r:embed="rId4"/>
                <a:stretch>
                  <a:fillRect l="-1156" t="-5344" b="-16794"/>
                </a:stretch>
              </a:blipFill>
            </p:spPr>
            <p:txBody>
              <a:bodyPr/>
              <a:lstStyle/>
              <a:p>
                <a:r>
                  <a:rPr lang="zh-TW" altLang="en-US">
                    <a:noFill/>
                  </a:rPr>
                  <a:t> </a:t>
                </a:r>
              </a:p>
            </p:txBody>
          </p:sp>
        </mc:Fallback>
      </mc:AlternateContent>
      <p:sp>
        <p:nvSpPr>
          <p:cNvPr id="9" name="文字方塊 8"/>
          <p:cNvSpPr txBox="1"/>
          <p:nvPr/>
        </p:nvSpPr>
        <p:spPr>
          <a:xfrm>
            <a:off x="9734939" y="2304776"/>
            <a:ext cx="1304973" cy="446276"/>
          </a:xfrm>
          <a:prstGeom prst="rect">
            <a:avLst/>
          </a:prstGeom>
          <a:noFill/>
        </p:spPr>
        <p:txBody>
          <a:bodyPr wrap="square" rtlCol="0">
            <a:spAutoFit/>
          </a:bodyPr>
          <a:lstStyle/>
          <a:p>
            <a:r>
              <a:rPr lang="en-US" altLang="zh-TW" sz="2300" dirty="0">
                <a:latin typeface="標楷體" panose="03000509000000000000" pitchFamily="65" charset="-120"/>
                <a:ea typeface="標楷體" panose="03000509000000000000" pitchFamily="65" charset="-120"/>
              </a:rPr>
              <a:t>Ex: k=3</a:t>
            </a:r>
            <a:endParaRPr lang="zh-TW" altLang="en-US" sz="23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794157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77473" y="71510"/>
            <a:ext cx="10515600" cy="1325563"/>
          </a:xfrm>
        </p:spPr>
        <p:txBody>
          <a:bodyPr/>
          <a:lstStyle/>
          <a:p>
            <a:r>
              <a:rPr lang="en-US" altLang="zh-TW" dirty="0"/>
              <a:t>K-means cluster</a:t>
            </a:r>
            <a:endParaRPr lang="zh-TW" altLang="en-US" dirty="0"/>
          </a:p>
        </p:txBody>
      </p:sp>
      <p:sp>
        <p:nvSpPr>
          <p:cNvPr id="3" name="內容版面配置區 2"/>
          <p:cNvSpPr>
            <a:spLocks noGrp="1"/>
          </p:cNvSpPr>
          <p:nvPr>
            <p:ph idx="1"/>
          </p:nvPr>
        </p:nvSpPr>
        <p:spPr>
          <a:xfrm>
            <a:off x="637562" y="1858992"/>
            <a:ext cx="11232859" cy="4776699"/>
          </a:xfrm>
        </p:spPr>
        <p:txBody>
          <a:bodyPr>
            <a:normAutofit/>
          </a:bodyPr>
          <a:lstStyle/>
          <a:p>
            <a:pPr marL="0" indent="0">
              <a:buNone/>
            </a:pPr>
            <a:r>
              <a:rPr lang="en-US" altLang="zh-TW" sz="2000" b="1" dirty="0">
                <a:latin typeface="標楷體" panose="03000509000000000000" pitchFamily="65" charset="-120"/>
                <a:ea typeface="標楷體" panose="03000509000000000000" pitchFamily="65" charset="-120"/>
              </a:rPr>
              <a:t>Step1.</a:t>
            </a:r>
            <a:r>
              <a:rPr lang="zh-TW" altLang="en-US" sz="2000" b="1" dirty="0">
                <a:latin typeface="標楷體" panose="03000509000000000000" pitchFamily="65" charset="-120"/>
                <a:ea typeface="標楷體" panose="03000509000000000000" pitchFamily="65" charset="-120"/>
              </a:rPr>
              <a:t>隨機指派群集中心：</a:t>
            </a:r>
            <a:r>
              <a:rPr lang="en-US" altLang="zh-TW" sz="1200" dirty="0">
                <a:latin typeface="標楷體" panose="03000509000000000000" pitchFamily="65" charset="-120"/>
                <a:ea typeface="標楷體" panose="03000509000000000000" pitchFamily="65" charset="-120"/>
              </a:rPr>
              <a:t>(</a:t>
            </a:r>
            <a:r>
              <a:rPr lang="zh-TW" altLang="en-US" sz="1200" dirty="0">
                <a:latin typeface="標楷體" panose="03000509000000000000" pitchFamily="65" charset="-120"/>
                <a:ea typeface="標楷體" panose="03000509000000000000" pitchFamily="65" charset="-120"/>
              </a:rPr>
              <a:t>如圖一</a:t>
            </a:r>
            <a:r>
              <a:rPr lang="en-US" altLang="zh-TW" sz="1200" dirty="0">
                <a:latin typeface="標楷體" panose="03000509000000000000" pitchFamily="65" charset="-120"/>
                <a:ea typeface="標楷體" panose="03000509000000000000" pitchFamily="65" charset="-120"/>
              </a:rPr>
              <a:t>)</a:t>
            </a:r>
          </a:p>
          <a:p>
            <a:pPr marL="0" indent="0">
              <a:buNone/>
            </a:pPr>
            <a:r>
              <a:rPr lang="zh-TW" altLang="en-US" sz="1600" dirty="0">
                <a:latin typeface="標楷體" panose="03000509000000000000" pitchFamily="65" charset="-120"/>
                <a:ea typeface="標楷體" panose="03000509000000000000" pitchFamily="65" charset="-120"/>
              </a:rPr>
              <a:t>　　在訓練組資料中「隨機」找出</a:t>
            </a:r>
            <a:r>
              <a:rPr lang="en-US" altLang="zh-TW" sz="1600" dirty="0">
                <a:latin typeface="標楷體" panose="03000509000000000000" pitchFamily="65" charset="-120"/>
                <a:ea typeface="標楷體" panose="03000509000000000000" pitchFamily="65" charset="-120"/>
              </a:rPr>
              <a:t>K</a:t>
            </a:r>
            <a:r>
              <a:rPr lang="zh-TW" altLang="en-US" sz="1600" dirty="0">
                <a:latin typeface="標楷體" panose="03000509000000000000" pitchFamily="65" charset="-120"/>
                <a:ea typeface="標楷體" panose="03000509000000000000" pitchFamily="65" charset="-120"/>
              </a:rPr>
              <a:t>筆紀錄來作為初始群集的中心。</a:t>
            </a:r>
            <a:endParaRPr lang="en-US" altLang="zh-TW" sz="1600" dirty="0">
              <a:latin typeface="標楷體" panose="03000509000000000000" pitchFamily="65" charset="-120"/>
              <a:ea typeface="標楷體" panose="03000509000000000000" pitchFamily="65" charset="-120"/>
            </a:endParaRPr>
          </a:p>
          <a:p>
            <a:pPr marL="0" indent="0">
              <a:buNone/>
            </a:pPr>
            <a:r>
              <a:rPr lang="en-US" altLang="zh-TW" sz="2000" b="1" dirty="0">
                <a:latin typeface="標楷體" panose="03000509000000000000" pitchFamily="65" charset="-120"/>
                <a:ea typeface="標楷體" panose="03000509000000000000" pitchFamily="65" charset="-120"/>
              </a:rPr>
              <a:t>Step2.</a:t>
            </a:r>
            <a:r>
              <a:rPr lang="zh-TW" altLang="en-US" sz="2000" b="1" dirty="0">
                <a:latin typeface="標楷體" panose="03000509000000000000" pitchFamily="65" charset="-120"/>
                <a:ea typeface="標楷體" panose="03000509000000000000" pitchFamily="65" charset="-120"/>
              </a:rPr>
              <a:t>產生初始群集：</a:t>
            </a:r>
            <a:r>
              <a:rPr lang="en-US" altLang="zh-TW" sz="1200" dirty="0">
                <a:latin typeface="標楷體" panose="03000509000000000000" pitchFamily="65" charset="-120"/>
                <a:ea typeface="標楷體" panose="03000509000000000000" pitchFamily="65" charset="-120"/>
              </a:rPr>
              <a:t>(</a:t>
            </a:r>
            <a:r>
              <a:rPr lang="zh-TW" altLang="en-US" sz="1200" dirty="0">
                <a:latin typeface="標楷體" panose="03000509000000000000" pitchFamily="65" charset="-120"/>
                <a:ea typeface="標楷體" panose="03000509000000000000" pitchFamily="65" charset="-120"/>
              </a:rPr>
              <a:t>如圖二</a:t>
            </a:r>
            <a:r>
              <a:rPr lang="en-US" altLang="zh-TW" sz="1200" dirty="0">
                <a:latin typeface="標楷體" panose="03000509000000000000" pitchFamily="65" charset="-120"/>
                <a:ea typeface="標楷體" panose="03000509000000000000" pitchFamily="65" charset="-120"/>
              </a:rPr>
              <a:t>)</a:t>
            </a:r>
          </a:p>
          <a:p>
            <a:pPr marL="0" indent="0">
              <a:buNone/>
            </a:pPr>
            <a:r>
              <a:rPr lang="zh-TW" altLang="en-US" sz="1600" dirty="0">
                <a:latin typeface="標楷體" panose="03000509000000000000" pitchFamily="65" charset="-120"/>
                <a:ea typeface="標楷體" panose="03000509000000000000" pitchFamily="65" charset="-120"/>
              </a:rPr>
              <a:t>　　計算每一筆資料到各個初始群集中心之間的距離，然後比較該筆資料究竟離哪一個群集中心最近，最後這筆資料就會被分到最近的那個群集中心，此時就會形成一個群集邊界，產生了初始群集的成員集合。</a:t>
            </a:r>
            <a:endParaRPr lang="en-US" altLang="zh-TW" sz="1600" dirty="0">
              <a:latin typeface="標楷體" panose="03000509000000000000" pitchFamily="65" charset="-120"/>
              <a:ea typeface="標楷體" panose="03000509000000000000" pitchFamily="65" charset="-120"/>
            </a:endParaRPr>
          </a:p>
          <a:p>
            <a:pPr marL="0" indent="0">
              <a:buNone/>
            </a:pPr>
            <a:endParaRPr lang="en-US" altLang="zh-TW" sz="1600" dirty="0">
              <a:latin typeface="標楷體" panose="03000509000000000000" pitchFamily="65" charset="-120"/>
              <a:ea typeface="標楷體" panose="03000509000000000000" pitchFamily="65" charset="-120"/>
            </a:endParaRPr>
          </a:p>
          <a:p>
            <a:pPr marL="0" indent="0">
              <a:buNone/>
            </a:pPr>
            <a:r>
              <a:rPr lang="en-US" altLang="zh-TW" sz="2000" b="1" dirty="0">
                <a:latin typeface="標楷體" panose="03000509000000000000" pitchFamily="65" charset="-120"/>
                <a:ea typeface="標楷體" panose="03000509000000000000" pitchFamily="65" charset="-120"/>
              </a:rPr>
              <a:t>Step3.</a:t>
            </a:r>
            <a:r>
              <a:rPr lang="zh-TW" altLang="en-US" sz="2000" b="1" dirty="0">
                <a:latin typeface="標楷體" panose="03000509000000000000" pitchFamily="65" charset="-120"/>
                <a:ea typeface="標楷體" panose="03000509000000000000" pitchFamily="65" charset="-120"/>
              </a:rPr>
              <a:t>產生</a:t>
            </a:r>
            <a:r>
              <a:rPr lang="en-US" altLang="zh-TW" sz="2000" b="1" dirty="0">
                <a:latin typeface="標楷體" panose="03000509000000000000" pitchFamily="65" charset="-120"/>
                <a:ea typeface="標楷體" panose="03000509000000000000" pitchFamily="65" charset="-120"/>
              </a:rPr>
              <a:t>(</a:t>
            </a:r>
            <a:r>
              <a:rPr lang="zh-TW" altLang="en-US" sz="2000" b="1" dirty="0">
                <a:latin typeface="標楷體" panose="03000509000000000000" pitchFamily="65" charset="-120"/>
                <a:ea typeface="標楷體" panose="03000509000000000000" pitchFamily="65" charset="-120"/>
              </a:rPr>
              <a:t>更新</a:t>
            </a:r>
            <a:r>
              <a:rPr lang="en-US" altLang="zh-TW" sz="2000" b="1" dirty="0">
                <a:latin typeface="標楷體" panose="03000509000000000000" pitchFamily="65" charset="-120"/>
                <a:ea typeface="標楷體" panose="03000509000000000000" pitchFamily="65" charset="-120"/>
              </a:rPr>
              <a:t>)</a:t>
            </a:r>
            <a:r>
              <a:rPr lang="zh-TW" altLang="en-US" sz="2000" b="1" dirty="0">
                <a:latin typeface="標楷體" panose="03000509000000000000" pitchFamily="65" charset="-120"/>
                <a:ea typeface="標楷體" panose="03000509000000000000" pitchFamily="65" charset="-120"/>
              </a:rPr>
              <a:t>新的群集中心：</a:t>
            </a:r>
            <a:r>
              <a:rPr lang="en-US" altLang="zh-TW" sz="1200" dirty="0">
                <a:latin typeface="標楷體" panose="03000509000000000000" pitchFamily="65" charset="-120"/>
                <a:ea typeface="標楷體" panose="03000509000000000000" pitchFamily="65" charset="-120"/>
              </a:rPr>
              <a:t>(</a:t>
            </a:r>
            <a:r>
              <a:rPr lang="zh-TW" altLang="en-US" sz="1200" dirty="0">
                <a:latin typeface="標楷體" panose="03000509000000000000" pitchFamily="65" charset="-120"/>
                <a:ea typeface="標楷體" panose="03000509000000000000" pitchFamily="65" charset="-120"/>
              </a:rPr>
              <a:t>如圖三</a:t>
            </a:r>
            <a:r>
              <a:rPr lang="en-US" altLang="zh-TW" sz="1200" dirty="0">
                <a:latin typeface="標楷體" panose="03000509000000000000" pitchFamily="65" charset="-120"/>
                <a:ea typeface="標楷體" panose="03000509000000000000" pitchFamily="65" charset="-120"/>
              </a:rPr>
              <a:t>)</a:t>
            </a:r>
          </a:p>
          <a:p>
            <a:pPr marL="0" indent="0">
              <a:buNone/>
            </a:pPr>
            <a:r>
              <a:rPr lang="zh-TW" altLang="en-US" sz="1600" dirty="0">
                <a:latin typeface="標楷體" panose="03000509000000000000" pitchFamily="65" charset="-120"/>
                <a:ea typeface="標楷體" panose="03000509000000000000" pitchFamily="65" charset="-120"/>
              </a:rPr>
              <a:t>　　根據邊界內的每筆資料</a:t>
            </a:r>
            <a:r>
              <a:rPr lang="zh-TW" altLang="en-US" sz="1600" dirty="0">
                <a:solidFill>
                  <a:srgbClr val="0070C0"/>
                </a:solidFill>
                <a:latin typeface="標楷體" panose="03000509000000000000" pitchFamily="65" charset="-120"/>
                <a:ea typeface="標楷體" panose="03000509000000000000" pitchFamily="65" charset="-120"/>
              </a:rPr>
              <a:t>重新取平均計算出該群集的中心</a:t>
            </a:r>
            <a:r>
              <a:rPr lang="zh-TW" altLang="en-US" sz="1600" dirty="0">
                <a:latin typeface="標楷體" panose="03000509000000000000" pitchFamily="65" charset="-120"/>
                <a:ea typeface="標楷體" panose="03000509000000000000" pitchFamily="65" charset="-120"/>
              </a:rPr>
              <a:t>，利用新的群集中心取代之前的。</a:t>
            </a:r>
            <a:endParaRPr lang="en-US" altLang="zh-TW" sz="1600" dirty="0">
              <a:latin typeface="標楷體" panose="03000509000000000000" pitchFamily="65" charset="-120"/>
              <a:ea typeface="標楷體" panose="03000509000000000000" pitchFamily="65" charset="-120"/>
            </a:endParaRPr>
          </a:p>
          <a:p>
            <a:pPr marL="0" indent="0">
              <a:buNone/>
            </a:pPr>
            <a:r>
              <a:rPr lang="en-US" altLang="zh-TW" sz="2000" b="1" dirty="0">
                <a:latin typeface="標楷體" panose="03000509000000000000" pitchFamily="65" charset="-120"/>
                <a:ea typeface="標楷體" panose="03000509000000000000" pitchFamily="65" charset="-120"/>
              </a:rPr>
              <a:t>Step4.</a:t>
            </a:r>
            <a:r>
              <a:rPr lang="zh-TW" altLang="en-US" sz="2000" b="1" dirty="0">
                <a:latin typeface="標楷體" panose="03000509000000000000" pitchFamily="65" charset="-120"/>
                <a:ea typeface="標楷體" panose="03000509000000000000" pitchFamily="65" charset="-120"/>
              </a:rPr>
              <a:t>變動群集邊界：</a:t>
            </a:r>
            <a:r>
              <a:rPr lang="en-US" altLang="zh-TW" sz="1200" dirty="0">
                <a:latin typeface="標楷體" panose="03000509000000000000" pitchFamily="65" charset="-120"/>
                <a:ea typeface="標楷體" panose="03000509000000000000" pitchFamily="65" charset="-120"/>
              </a:rPr>
              <a:t>(</a:t>
            </a:r>
            <a:r>
              <a:rPr lang="zh-TW" altLang="en-US" sz="1200" dirty="0">
                <a:latin typeface="標楷體" panose="03000509000000000000" pitchFamily="65" charset="-120"/>
                <a:ea typeface="標楷體" panose="03000509000000000000" pitchFamily="65" charset="-120"/>
              </a:rPr>
              <a:t>圖如四</a:t>
            </a:r>
            <a:r>
              <a:rPr lang="en-US" altLang="zh-TW" sz="1200" dirty="0">
                <a:latin typeface="標楷體" panose="03000509000000000000" pitchFamily="65" charset="-120"/>
                <a:ea typeface="標楷體" panose="03000509000000000000" pitchFamily="65" charset="-120"/>
              </a:rPr>
              <a:t>)</a:t>
            </a:r>
          </a:p>
          <a:p>
            <a:pPr marL="0" indent="0">
              <a:buNone/>
            </a:pPr>
            <a:r>
              <a:rPr lang="zh-TW" altLang="en-US" sz="1600" dirty="0">
                <a:latin typeface="標楷體" panose="03000509000000000000" pitchFamily="65" charset="-120"/>
                <a:ea typeface="標楷體" panose="03000509000000000000" pitchFamily="65" charset="-120"/>
              </a:rPr>
              <a:t>　　指定完新的群集中心之後，再比較每一筆資料與各新的群集中心的距離，然後</a:t>
            </a:r>
            <a:r>
              <a:rPr lang="zh-TW" altLang="en-US" sz="1600" dirty="0">
                <a:solidFill>
                  <a:srgbClr val="0070C0"/>
                </a:solidFill>
                <a:latin typeface="標楷體" panose="03000509000000000000" pitchFamily="65" charset="-120"/>
                <a:ea typeface="標楷體" panose="03000509000000000000" pitchFamily="65" charset="-120"/>
              </a:rPr>
              <a:t>重新分配每一筆資料所屬的群集</a:t>
            </a:r>
            <a:r>
              <a:rPr lang="zh-TW" altLang="en-US" sz="1600" dirty="0">
                <a:latin typeface="標楷體" panose="03000509000000000000" pitchFamily="65" charset="-120"/>
                <a:ea typeface="標楷體" panose="03000509000000000000" pitchFamily="65" charset="-120"/>
              </a:rPr>
              <a:t>。</a:t>
            </a:r>
            <a:endParaRPr lang="en-US" altLang="zh-TW" sz="1600" dirty="0">
              <a:latin typeface="標楷體" panose="03000509000000000000" pitchFamily="65" charset="-120"/>
              <a:ea typeface="標楷體" panose="03000509000000000000" pitchFamily="65" charset="-120"/>
            </a:endParaRPr>
          </a:p>
          <a:p>
            <a:pPr marL="0" indent="0">
              <a:buNone/>
            </a:pPr>
            <a:r>
              <a:rPr lang="en-US" altLang="zh-TW" sz="2000" b="1" dirty="0">
                <a:latin typeface="標楷體" panose="03000509000000000000" pitchFamily="65" charset="-120"/>
                <a:ea typeface="標楷體" panose="03000509000000000000" pitchFamily="65" charset="-120"/>
              </a:rPr>
              <a:t>Step5.</a:t>
            </a:r>
            <a:r>
              <a:rPr lang="zh-TW" altLang="en-US" sz="2000" b="1" dirty="0">
                <a:latin typeface="標楷體" panose="03000509000000000000" pitchFamily="65" charset="-120"/>
                <a:ea typeface="標楷體" panose="03000509000000000000" pitchFamily="65" charset="-120"/>
              </a:rPr>
              <a:t>持續反覆 </a:t>
            </a:r>
            <a:r>
              <a:rPr lang="en-US" altLang="zh-TW" sz="2000" b="1" dirty="0">
                <a:latin typeface="標楷體" panose="03000509000000000000" pitchFamily="65" charset="-120"/>
                <a:ea typeface="標楷體" panose="03000509000000000000" pitchFamily="65" charset="-120"/>
              </a:rPr>
              <a:t>3, 4 </a:t>
            </a:r>
            <a:r>
              <a:rPr lang="zh-TW" altLang="en-US" sz="2000" b="1" dirty="0">
                <a:latin typeface="標楷體" panose="03000509000000000000" pitchFamily="65" charset="-120"/>
                <a:ea typeface="標楷體" panose="03000509000000000000" pitchFamily="65" charset="-120"/>
              </a:rPr>
              <a:t>的步驟，一直執行到群集成員不再變動為止</a:t>
            </a:r>
          </a:p>
        </p:txBody>
      </p:sp>
      <p:sp>
        <p:nvSpPr>
          <p:cNvPr id="5" name="文字方塊 4"/>
          <p:cNvSpPr txBox="1"/>
          <p:nvPr/>
        </p:nvSpPr>
        <p:spPr>
          <a:xfrm>
            <a:off x="637562" y="1248149"/>
            <a:ext cx="1577130" cy="477054"/>
          </a:xfrm>
          <a:prstGeom prst="rect">
            <a:avLst/>
          </a:prstGeom>
          <a:noFill/>
        </p:spPr>
        <p:txBody>
          <a:bodyPr wrap="square" rtlCol="0">
            <a:spAutoFit/>
          </a:bodyPr>
          <a:lstStyle/>
          <a:p>
            <a:r>
              <a:rPr lang="en-US" altLang="zh-TW" sz="2500" u="sng" dirty="0"/>
              <a:t>Procedure</a:t>
            </a:r>
            <a:endParaRPr lang="zh-TW" altLang="en-US" sz="2500" u="sng" dirty="0"/>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2394" y="932750"/>
            <a:ext cx="2064889" cy="1357445"/>
          </a:xfrm>
          <a:prstGeom prst="rect">
            <a:avLst/>
          </a:prstGeom>
        </p:spPr>
      </p:pic>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6895" y="1530862"/>
            <a:ext cx="2133029" cy="1402241"/>
          </a:xfrm>
          <a:prstGeom prst="rect">
            <a:avLst/>
          </a:prstGeom>
        </p:spPr>
      </p:pic>
      <p:pic>
        <p:nvPicPr>
          <p:cNvPr id="11" name="圖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3281" y="3457986"/>
            <a:ext cx="2039024" cy="1340442"/>
          </a:xfrm>
          <a:prstGeom prst="rect">
            <a:avLst/>
          </a:prstGeom>
        </p:spPr>
      </p:pic>
      <p:pic>
        <p:nvPicPr>
          <p:cNvPr id="13" name="圖片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03241" y="5405798"/>
            <a:ext cx="2074376" cy="1363682"/>
          </a:xfrm>
          <a:prstGeom prst="rect">
            <a:avLst/>
          </a:prstGeom>
        </p:spPr>
      </p:pic>
      <p:sp>
        <p:nvSpPr>
          <p:cNvPr id="14" name="文字方塊 13"/>
          <p:cNvSpPr txBox="1"/>
          <p:nvPr/>
        </p:nvSpPr>
        <p:spPr>
          <a:xfrm>
            <a:off x="6459524" y="971150"/>
            <a:ext cx="487759" cy="276999"/>
          </a:xfrm>
          <a:prstGeom prst="rect">
            <a:avLst/>
          </a:prstGeom>
          <a:noFill/>
        </p:spPr>
        <p:txBody>
          <a:bodyPr wrap="square" rtlCol="0">
            <a:spAutoFit/>
          </a:bodyPr>
          <a:lstStyle/>
          <a:p>
            <a:r>
              <a:rPr lang="zh-TW" altLang="en-US" sz="1200" dirty="0">
                <a:latin typeface="標楷體" panose="03000509000000000000" pitchFamily="65" charset="-120"/>
                <a:ea typeface="標楷體" panose="03000509000000000000" pitchFamily="65" charset="-120"/>
              </a:rPr>
              <a:t>圖一</a:t>
            </a:r>
          </a:p>
        </p:txBody>
      </p:sp>
      <p:sp>
        <p:nvSpPr>
          <p:cNvPr id="15" name="文字方塊 14"/>
          <p:cNvSpPr txBox="1"/>
          <p:nvPr/>
        </p:nvSpPr>
        <p:spPr>
          <a:xfrm>
            <a:off x="11093170" y="1530862"/>
            <a:ext cx="487759" cy="276999"/>
          </a:xfrm>
          <a:prstGeom prst="rect">
            <a:avLst/>
          </a:prstGeom>
          <a:noFill/>
        </p:spPr>
        <p:txBody>
          <a:bodyPr wrap="square" rtlCol="0">
            <a:spAutoFit/>
          </a:bodyPr>
          <a:lstStyle/>
          <a:p>
            <a:r>
              <a:rPr lang="zh-TW" altLang="en-US" sz="1200" dirty="0">
                <a:latin typeface="標楷體" panose="03000509000000000000" pitchFamily="65" charset="-120"/>
                <a:ea typeface="標楷體" panose="03000509000000000000" pitchFamily="65" charset="-120"/>
              </a:rPr>
              <a:t>圖二</a:t>
            </a:r>
          </a:p>
        </p:txBody>
      </p:sp>
      <p:sp>
        <p:nvSpPr>
          <p:cNvPr id="16" name="文字方塊 15"/>
          <p:cNvSpPr txBox="1"/>
          <p:nvPr/>
        </p:nvSpPr>
        <p:spPr>
          <a:xfrm>
            <a:off x="10654546" y="3639054"/>
            <a:ext cx="487759" cy="276999"/>
          </a:xfrm>
          <a:prstGeom prst="rect">
            <a:avLst/>
          </a:prstGeom>
          <a:noFill/>
        </p:spPr>
        <p:txBody>
          <a:bodyPr wrap="square" rtlCol="0">
            <a:spAutoFit/>
          </a:bodyPr>
          <a:lstStyle/>
          <a:p>
            <a:r>
              <a:rPr lang="zh-TW" altLang="en-US" sz="1200" dirty="0">
                <a:latin typeface="標楷體" panose="03000509000000000000" pitchFamily="65" charset="-120"/>
                <a:ea typeface="標楷體" panose="03000509000000000000" pitchFamily="65" charset="-120"/>
              </a:rPr>
              <a:t>圖三</a:t>
            </a:r>
          </a:p>
        </p:txBody>
      </p:sp>
      <p:sp>
        <p:nvSpPr>
          <p:cNvPr id="17" name="文字方塊 16"/>
          <p:cNvSpPr txBox="1"/>
          <p:nvPr/>
        </p:nvSpPr>
        <p:spPr>
          <a:xfrm>
            <a:off x="10605411" y="5578560"/>
            <a:ext cx="487759" cy="276999"/>
          </a:xfrm>
          <a:prstGeom prst="rect">
            <a:avLst/>
          </a:prstGeom>
          <a:noFill/>
        </p:spPr>
        <p:txBody>
          <a:bodyPr wrap="square" rtlCol="0">
            <a:spAutoFit/>
          </a:bodyPr>
          <a:lstStyle/>
          <a:p>
            <a:r>
              <a:rPr lang="zh-TW" altLang="en-US" sz="1200" dirty="0">
                <a:latin typeface="標楷體" panose="03000509000000000000" pitchFamily="65" charset="-120"/>
                <a:ea typeface="標楷體" panose="03000509000000000000" pitchFamily="65" charset="-120"/>
              </a:rPr>
              <a:t>圖四</a:t>
            </a:r>
          </a:p>
        </p:txBody>
      </p:sp>
    </p:spTree>
    <p:extLst>
      <p:ext uri="{BB962C8B-B14F-4D97-AF65-F5344CB8AC3E}">
        <p14:creationId xmlns:p14="http://schemas.microsoft.com/office/powerpoint/2010/main" val="2253829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標楷體" panose="03000509000000000000" pitchFamily="65" charset="-120"/>
                <a:ea typeface="標楷體" panose="03000509000000000000" pitchFamily="65" charset="-120"/>
              </a:rPr>
              <a:t>TAIEX</a:t>
            </a:r>
            <a:r>
              <a:rPr lang="zh-TW" altLang="en-US" sz="3600" dirty="0">
                <a:latin typeface="標楷體" panose="03000509000000000000" pitchFamily="65" charset="-120"/>
                <a:ea typeface="標楷體" panose="03000509000000000000" pitchFamily="65" charset="-120"/>
              </a:rPr>
              <a:t>與類股之間的關係</a:t>
            </a: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4187" y="3434230"/>
            <a:ext cx="8278359" cy="2647706"/>
          </a:xfrm>
        </p:spPr>
      </p:pic>
      <p:sp>
        <p:nvSpPr>
          <p:cNvPr id="7" name="文字方塊 6"/>
          <p:cNvSpPr txBox="1"/>
          <p:nvPr/>
        </p:nvSpPr>
        <p:spPr>
          <a:xfrm>
            <a:off x="924187" y="2239861"/>
            <a:ext cx="10770066" cy="923330"/>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latin typeface="標楷體" panose="03000509000000000000" pitchFamily="65" charset="-120"/>
                <a:ea typeface="標楷體" panose="03000509000000000000" pitchFamily="65" charset="-120"/>
                <a:cs typeface="Times New Roman" panose="02020603050405020304" pitchFamily="18" charset="0"/>
              </a:rPr>
              <a:t>由下表可知，</a:t>
            </a:r>
            <a:r>
              <a:rPr lang="en-US" altLang="zh-TW" b="1" dirty="0">
                <a:solidFill>
                  <a:srgbClr val="0070C0"/>
                </a:solidFill>
                <a:latin typeface="標楷體" panose="03000509000000000000" pitchFamily="65" charset="-120"/>
                <a:ea typeface="標楷體" panose="03000509000000000000" pitchFamily="65" charset="-120"/>
                <a:cs typeface="Times New Roman" panose="02020603050405020304" pitchFamily="18" charset="0"/>
              </a:rPr>
              <a:t>Electronics</a:t>
            </a:r>
            <a:r>
              <a:rPr lang="en-US" altLang="zh-TW" b="1" dirty="0">
                <a:solidFill>
                  <a:srgbClr val="FF0000"/>
                </a:solidFill>
                <a:latin typeface="標楷體" panose="03000509000000000000" pitchFamily="65" charset="-120"/>
                <a:ea typeface="標楷體" panose="03000509000000000000" pitchFamily="65" charset="-120"/>
                <a:cs typeface="Times New Roman" panose="02020603050405020304" pitchFamily="18" charset="0"/>
              </a:rPr>
              <a:t>(</a:t>
            </a:r>
            <a:r>
              <a:rPr lang="zh-TW" altLang="en-US" b="1" dirty="0">
                <a:solidFill>
                  <a:srgbClr val="FF0000"/>
                </a:solidFill>
                <a:latin typeface="標楷體" panose="03000509000000000000" pitchFamily="65" charset="-120"/>
                <a:ea typeface="標楷體" panose="03000509000000000000" pitchFamily="65" charset="-120"/>
                <a:cs typeface="Times New Roman" panose="02020603050405020304" pitchFamily="18" charset="0"/>
              </a:rPr>
              <a:t>最強</a:t>
            </a:r>
            <a:r>
              <a:rPr lang="en-US" altLang="zh-TW" b="1" dirty="0">
                <a:solidFill>
                  <a:srgbClr val="FF0000"/>
                </a:solidFill>
                <a:latin typeface="標楷體" panose="03000509000000000000" pitchFamily="65" charset="-120"/>
                <a:ea typeface="標楷體" panose="03000509000000000000" pitchFamily="65" charset="-120"/>
                <a:cs typeface="Times New Roman" panose="02020603050405020304" pitchFamily="18" charset="0"/>
              </a:rPr>
              <a:t>)</a:t>
            </a:r>
            <a:r>
              <a:rPr lang="zh-TW" altLang="en-US" dirty="0">
                <a:latin typeface="標楷體" panose="03000509000000000000" pitchFamily="65" charset="-120"/>
                <a:ea typeface="標楷體" panose="03000509000000000000" pitchFamily="65" charset="-120"/>
                <a:cs typeface="Times New Roman" panose="02020603050405020304" pitchFamily="18" charset="0"/>
              </a:rPr>
              <a:t>和</a:t>
            </a:r>
            <a:r>
              <a:rPr lang="en-US" altLang="zh-TW" dirty="0">
                <a:solidFill>
                  <a:srgbClr val="0070C0"/>
                </a:solidFill>
                <a:latin typeface="標楷體" panose="03000509000000000000" pitchFamily="65" charset="-120"/>
                <a:ea typeface="標楷體" panose="03000509000000000000" pitchFamily="65" charset="-120"/>
                <a:cs typeface="Times New Roman" panose="02020603050405020304" pitchFamily="18" charset="0"/>
              </a:rPr>
              <a:t>Financial and insurance</a:t>
            </a:r>
            <a:r>
              <a:rPr lang="zh-TW" altLang="en-US" dirty="0">
                <a:latin typeface="標楷體" panose="03000509000000000000" pitchFamily="65" charset="-120"/>
                <a:ea typeface="標楷體" panose="03000509000000000000" pitchFamily="65" charset="-120"/>
                <a:cs typeface="Times New Roman" panose="02020603050405020304" pitchFamily="18" charset="0"/>
              </a:rPr>
              <a:t>與</a:t>
            </a:r>
            <a:r>
              <a:rPr lang="en-US" altLang="zh-TW" dirty="0">
                <a:latin typeface="標楷體" panose="03000509000000000000" pitchFamily="65" charset="-120"/>
                <a:ea typeface="標楷體" panose="03000509000000000000" pitchFamily="65" charset="-120"/>
                <a:cs typeface="Times New Roman" panose="02020603050405020304" pitchFamily="18" charset="0"/>
              </a:rPr>
              <a:t>TAIEX</a:t>
            </a:r>
            <a:r>
              <a:rPr lang="zh-TW" altLang="en-US" dirty="0">
                <a:latin typeface="標楷體" panose="03000509000000000000" pitchFamily="65" charset="-120"/>
                <a:ea typeface="標楷體" panose="03000509000000000000" pitchFamily="65" charset="-120"/>
                <a:cs typeface="Times New Roman" panose="02020603050405020304" pitchFamily="18" charset="0"/>
              </a:rPr>
              <a:t>具有強烈的關係</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marL="285750" indent="-285750">
              <a:buFont typeface="Arial" panose="020B0604020202020204" pitchFamily="34" charset="0"/>
              <a:buChar char="•"/>
            </a:pPr>
            <a:r>
              <a:rPr lang="zh-TW" altLang="en-US" dirty="0">
                <a:latin typeface="標楷體" panose="03000509000000000000" pitchFamily="65" charset="-120"/>
                <a:ea typeface="標楷體" panose="03000509000000000000" pitchFamily="65" charset="-120"/>
                <a:cs typeface="Times New Roman" panose="02020603050405020304" pitchFamily="18" charset="0"/>
              </a:rPr>
              <a:t>意思即</a:t>
            </a:r>
            <a:r>
              <a:rPr lang="en-US" altLang="zh-TW" dirty="0">
                <a:latin typeface="標楷體" panose="03000509000000000000" pitchFamily="65" charset="-120"/>
                <a:ea typeface="標楷體" panose="03000509000000000000" pitchFamily="65" charset="-120"/>
                <a:cs typeface="Times New Roman" panose="02020603050405020304" pitchFamily="18" charset="0"/>
              </a:rPr>
              <a:t>Electronics</a:t>
            </a:r>
            <a:r>
              <a:rPr lang="zh-TW" altLang="en-US" dirty="0">
                <a:latin typeface="標楷體" panose="03000509000000000000" pitchFamily="65" charset="-120"/>
                <a:ea typeface="標楷體" panose="03000509000000000000" pitchFamily="65" charset="-120"/>
                <a:cs typeface="Times New Roman" panose="02020603050405020304" pitchFamily="18" charset="0"/>
              </a:rPr>
              <a:t>上漲時，</a:t>
            </a:r>
            <a:r>
              <a:rPr lang="en-US" altLang="zh-TW" dirty="0">
                <a:latin typeface="標楷體" panose="03000509000000000000" pitchFamily="65" charset="-120"/>
                <a:ea typeface="標楷體" panose="03000509000000000000" pitchFamily="65" charset="-120"/>
                <a:cs typeface="Times New Roman" panose="02020603050405020304" pitchFamily="18" charset="0"/>
              </a:rPr>
              <a:t>TAIEX</a:t>
            </a:r>
            <a:r>
              <a:rPr lang="zh-TW" altLang="en-US" dirty="0">
                <a:latin typeface="標楷體" panose="03000509000000000000" pitchFamily="65" charset="-120"/>
                <a:ea typeface="標楷體" panose="03000509000000000000" pitchFamily="65" charset="-120"/>
                <a:cs typeface="Times New Roman" panose="02020603050405020304" pitchFamily="18" charset="0"/>
              </a:rPr>
              <a:t>也會跟著上漲；反之，</a:t>
            </a:r>
            <a:r>
              <a:rPr lang="en-US" altLang="zh-TW" dirty="0">
                <a:latin typeface="標楷體" panose="03000509000000000000" pitchFamily="65" charset="-120"/>
                <a:ea typeface="標楷體" panose="03000509000000000000" pitchFamily="65" charset="-120"/>
                <a:cs typeface="Times New Roman" panose="02020603050405020304" pitchFamily="18" charset="0"/>
              </a:rPr>
              <a:t>TAIEX</a:t>
            </a:r>
            <a:r>
              <a:rPr lang="zh-TW" altLang="en-US" dirty="0">
                <a:latin typeface="標楷體" panose="03000509000000000000" pitchFamily="65" charset="-120"/>
                <a:ea typeface="標楷體" panose="03000509000000000000" pitchFamily="65" charset="-120"/>
                <a:cs typeface="Times New Roman" panose="02020603050405020304" pitchFamily="18" charset="0"/>
              </a:rPr>
              <a:t>上漲時，</a:t>
            </a:r>
            <a:r>
              <a:rPr lang="en-US" altLang="zh-TW" dirty="0">
                <a:latin typeface="標楷體" panose="03000509000000000000" pitchFamily="65" charset="-120"/>
                <a:ea typeface="標楷體" panose="03000509000000000000" pitchFamily="65" charset="-120"/>
                <a:cs typeface="Times New Roman" panose="02020603050405020304" pitchFamily="18" charset="0"/>
              </a:rPr>
              <a:t>Electronics</a:t>
            </a:r>
            <a:r>
              <a:rPr lang="zh-TW" altLang="en-US" dirty="0">
                <a:latin typeface="標楷體" panose="03000509000000000000" pitchFamily="65" charset="-120"/>
                <a:ea typeface="標楷體" panose="03000509000000000000" pitchFamily="65" charset="-120"/>
                <a:cs typeface="Times New Roman" panose="02020603050405020304" pitchFamily="18" charset="0"/>
              </a:rPr>
              <a:t>也會跟著上漲。</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r>
              <a:rPr lang="zh-TW" altLang="en-US" dirty="0">
                <a:latin typeface="標楷體" panose="03000509000000000000" pitchFamily="65" charset="-120"/>
                <a:ea typeface="標楷體" panose="03000509000000000000" pitchFamily="65" charset="-120"/>
                <a:cs typeface="Times New Roman" panose="02020603050405020304" pitchFamily="18" charset="0"/>
              </a:rPr>
              <a:t>根據</a:t>
            </a:r>
            <a:r>
              <a:rPr lang="en-US" altLang="zh-TW" dirty="0">
                <a:latin typeface="標楷體" panose="03000509000000000000" pitchFamily="65" charset="-120"/>
                <a:ea typeface="標楷體" panose="03000509000000000000" pitchFamily="65" charset="-120"/>
                <a:cs typeface="Times New Roman" panose="02020603050405020304" pitchFamily="18" charset="0"/>
              </a:rPr>
              <a:t>lift</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&gt;</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2</a:t>
            </a:r>
            <a:r>
              <a:rPr lang="zh-TW" altLang="en-US" dirty="0">
                <a:latin typeface="標楷體" panose="03000509000000000000" pitchFamily="65" charset="-120"/>
                <a:ea typeface="標楷體" panose="03000509000000000000" pitchFamily="65" charset="-120"/>
                <a:cs typeface="Times New Roman" panose="02020603050405020304" pitchFamily="18" charset="0"/>
              </a:rPr>
              <a:t> 及 </a:t>
            </a:r>
            <a:r>
              <a:rPr lang="en-US" altLang="zh-TW" dirty="0">
                <a:latin typeface="標楷體" panose="03000509000000000000" pitchFamily="65" charset="-120"/>
                <a:ea typeface="標楷體" panose="03000509000000000000" pitchFamily="65" charset="-120"/>
                <a:cs typeface="Times New Roman" panose="02020603050405020304" pitchFamily="18" charset="0"/>
              </a:rPr>
              <a:t>confidence</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&gt;</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97%</a:t>
            </a:r>
            <a:r>
              <a:rPr lang="zh-TW" altLang="en-US" dirty="0">
                <a:latin typeface="標楷體" panose="03000509000000000000" pitchFamily="65" charset="-120"/>
                <a:ea typeface="標楷體" panose="03000509000000000000" pitchFamily="65" charset="-120"/>
                <a:cs typeface="Times New Roman" panose="02020603050405020304" pitchFamily="18" charset="0"/>
              </a:rPr>
              <a:t> 推論</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p>
        </p:txBody>
      </p:sp>
    </p:spTree>
    <p:extLst>
      <p:ext uri="{BB962C8B-B14F-4D97-AF65-F5344CB8AC3E}">
        <p14:creationId xmlns:p14="http://schemas.microsoft.com/office/powerpoint/2010/main" val="450180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sz="3600" dirty="0">
                <a:latin typeface="標楷體" panose="03000509000000000000" pitchFamily="65" charset="-120"/>
                <a:ea typeface="標楷體" panose="03000509000000000000" pitchFamily="65" charset="-120"/>
              </a:rPr>
              <a:t>類股之間的關係</a:t>
            </a:r>
          </a:p>
        </p:txBody>
      </p:sp>
      <p:pic>
        <p:nvPicPr>
          <p:cNvPr id="4" name="內容版面配置區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6496" y="3435365"/>
            <a:ext cx="8245330" cy="2310055"/>
          </a:xfrm>
          <a:prstGeom prst="rect">
            <a:avLst/>
          </a:prstGeom>
        </p:spPr>
      </p:pic>
      <p:sp>
        <p:nvSpPr>
          <p:cNvPr id="5" name="文字方塊 4"/>
          <p:cNvSpPr txBox="1"/>
          <p:nvPr/>
        </p:nvSpPr>
        <p:spPr>
          <a:xfrm>
            <a:off x="924187" y="2239861"/>
            <a:ext cx="10619064" cy="646331"/>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latin typeface="標楷體" panose="03000509000000000000" pitchFamily="65" charset="-120"/>
                <a:ea typeface="標楷體" panose="03000509000000000000" pitchFamily="65" charset="-120"/>
                <a:cs typeface="Times New Roman" panose="02020603050405020304" pitchFamily="18" charset="0"/>
              </a:rPr>
              <a:t>由下表可知，其他</a:t>
            </a:r>
            <a:r>
              <a:rPr lang="en-US" altLang="zh-TW" dirty="0">
                <a:latin typeface="標楷體" panose="03000509000000000000" pitchFamily="65" charset="-120"/>
                <a:ea typeface="標楷體" panose="03000509000000000000" pitchFamily="65" charset="-120"/>
                <a:cs typeface="Times New Roman" panose="02020603050405020304" pitchFamily="18" charset="0"/>
              </a:rPr>
              <a:t>(Others)</a:t>
            </a:r>
            <a:r>
              <a:rPr lang="zh-TW" altLang="en-US" dirty="0">
                <a:latin typeface="標楷體" panose="03000509000000000000" pitchFamily="65" charset="-120"/>
                <a:ea typeface="標楷體" panose="03000509000000000000" pitchFamily="65" charset="-120"/>
                <a:cs typeface="Times New Roman" panose="02020603050405020304" pitchFamily="18" charset="0"/>
              </a:rPr>
              <a:t>此類股在表中出現頻率最高，表示</a:t>
            </a:r>
            <a:r>
              <a:rPr lang="en-US" altLang="zh-TW" dirty="0">
                <a:latin typeface="標楷體" panose="03000509000000000000" pitchFamily="65" charset="-120"/>
                <a:ea typeface="標楷體" panose="03000509000000000000" pitchFamily="65" charset="-120"/>
                <a:cs typeface="Times New Roman" panose="02020603050405020304" pitchFamily="18" charset="0"/>
              </a:rPr>
              <a:t>Others</a:t>
            </a:r>
            <a:r>
              <a:rPr lang="zh-TW" altLang="en-US" dirty="0">
                <a:latin typeface="標楷體" panose="03000509000000000000" pitchFamily="65" charset="-120"/>
                <a:ea typeface="標楷體" panose="03000509000000000000" pitchFamily="65" charset="-120"/>
                <a:cs typeface="Times New Roman" panose="02020603050405020304" pitchFamily="18" charset="0"/>
              </a:rPr>
              <a:t>與其他的類股具有高度的關係，所以此篇論文建議將</a:t>
            </a:r>
            <a:r>
              <a:rPr lang="en-US" altLang="zh-TW" dirty="0">
                <a:latin typeface="標楷體" panose="03000509000000000000" pitchFamily="65" charset="-120"/>
                <a:ea typeface="標楷體" panose="03000509000000000000" pitchFamily="65" charset="-120"/>
                <a:cs typeface="Times New Roman" panose="02020603050405020304" pitchFamily="18" charset="0"/>
              </a:rPr>
              <a:t>Others</a:t>
            </a:r>
            <a:r>
              <a:rPr lang="zh-TW" altLang="en-US" dirty="0">
                <a:latin typeface="標楷體" panose="03000509000000000000" pitchFamily="65" charset="-120"/>
                <a:ea typeface="標楷體" panose="03000509000000000000" pitchFamily="65" charset="-120"/>
                <a:cs typeface="Times New Roman" panose="02020603050405020304" pitchFamily="18" charset="0"/>
              </a:rPr>
              <a:t>加至</a:t>
            </a:r>
            <a:r>
              <a:rPr lang="en-US" altLang="zh-TW" dirty="0">
                <a:latin typeface="標楷體" panose="03000509000000000000" pitchFamily="65" charset="-120"/>
                <a:ea typeface="標楷體" panose="03000509000000000000" pitchFamily="65" charset="-120"/>
                <a:cs typeface="Times New Roman" panose="02020603050405020304" pitchFamily="18" charset="0"/>
              </a:rPr>
              <a:t>portfolio</a:t>
            </a:r>
            <a:r>
              <a:rPr lang="zh-TW" altLang="en-US" dirty="0">
                <a:latin typeface="標楷體" panose="03000509000000000000" pitchFamily="65" charset="-120"/>
                <a:ea typeface="標楷體" panose="03000509000000000000" pitchFamily="65" charset="-120"/>
                <a:cs typeface="Times New Roman" panose="02020603050405020304" pitchFamily="18" charset="0"/>
              </a:rPr>
              <a:t>中。 </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r>
              <a:rPr lang="zh-TW" altLang="en-US" dirty="0">
                <a:latin typeface="標楷體" panose="03000509000000000000" pitchFamily="65" charset="-120"/>
                <a:ea typeface="標楷體" panose="03000509000000000000" pitchFamily="65" charset="-120"/>
                <a:cs typeface="Times New Roman" panose="02020603050405020304" pitchFamily="18" charset="0"/>
              </a:rPr>
              <a:t>目前建議的有</a:t>
            </a:r>
            <a:r>
              <a:rPr lang="en-US" altLang="zh-TW" dirty="0" err="1">
                <a:latin typeface="標楷體" panose="03000509000000000000" pitchFamily="65" charset="-120"/>
                <a:ea typeface="標楷體" panose="03000509000000000000" pitchFamily="65" charset="-120"/>
                <a:cs typeface="Times New Roman" panose="02020603050405020304" pitchFamily="18" charset="0"/>
              </a:rPr>
              <a:t>Electronis</a:t>
            </a:r>
            <a:r>
              <a:rPr lang="zh-TW" altLang="en-US" dirty="0">
                <a:latin typeface="標楷體" panose="03000509000000000000" pitchFamily="65" charset="-120"/>
                <a:ea typeface="標楷體" panose="03000509000000000000" pitchFamily="65" charset="-120"/>
                <a:cs typeface="Times New Roman" panose="02020603050405020304" pitchFamily="18" charset="0"/>
              </a:rPr>
              <a:t>和</a:t>
            </a:r>
            <a:r>
              <a:rPr lang="en-US" altLang="zh-TW" dirty="0">
                <a:latin typeface="標楷體" panose="03000509000000000000" pitchFamily="65" charset="-120"/>
                <a:ea typeface="標楷體" panose="03000509000000000000" pitchFamily="65" charset="-120"/>
                <a:cs typeface="Times New Roman" panose="02020603050405020304" pitchFamily="18" charset="0"/>
              </a:rPr>
              <a:t>Others)</a:t>
            </a:r>
          </a:p>
        </p:txBody>
      </p:sp>
    </p:spTree>
    <p:extLst>
      <p:ext uri="{BB962C8B-B14F-4D97-AF65-F5344CB8AC3E}">
        <p14:creationId xmlns:p14="http://schemas.microsoft.com/office/powerpoint/2010/main" val="1859574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標楷體" panose="03000509000000000000" pitchFamily="65" charset="-120"/>
                <a:ea typeface="標楷體" panose="03000509000000000000" pitchFamily="65" charset="-120"/>
              </a:rPr>
              <a:t>TAIEX</a:t>
            </a:r>
            <a:r>
              <a:rPr lang="zh-TW" altLang="en-US" sz="3600" dirty="0">
                <a:latin typeface="標楷體" panose="03000509000000000000" pitchFamily="65" charset="-120"/>
                <a:ea typeface="標楷體" panose="03000509000000000000" pitchFamily="65" charset="-120"/>
              </a:rPr>
              <a:t>與國際指數的關係</a:t>
            </a:r>
          </a:p>
        </p:txBody>
      </p:sp>
      <p:pic>
        <p:nvPicPr>
          <p:cNvPr id="8" name="內容版面配置區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277" y="1819295"/>
            <a:ext cx="4219572" cy="2181439"/>
          </a:xfrm>
        </p:spPr>
      </p:pic>
      <p:pic>
        <p:nvPicPr>
          <p:cNvPr id="12" name="圖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9146" y="1777884"/>
            <a:ext cx="7430270" cy="1225375"/>
          </a:xfrm>
          <a:prstGeom prst="rect">
            <a:avLst/>
          </a:prstGeom>
        </p:spPr>
      </p:pic>
      <p:pic>
        <p:nvPicPr>
          <p:cNvPr id="14" name="圖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9146" y="3418887"/>
            <a:ext cx="7407831" cy="1247586"/>
          </a:xfrm>
          <a:prstGeom prst="rect">
            <a:avLst/>
          </a:prstGeom>
        </p:spPr>
      </p:pic>
      <p:pic>
        <p:nvPicPr>
          <p:cNvPr id="16" name="圖片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9146" y="5082101"/>
            <a:ext cx="7391189" cy="1268365"/>
          </a:xfrm>
          <a:prstGeom prst="rect">
            <a:avLst/>
          </a:prstGeom>
        </p:spPr>
      </p:pic>
      <p:sp>
        <p:nvSpPr>
          <p:cNvPr id="17" name="矩形 16"/>
          <p:cNvSpPr/>
          <p:nvPr/>
        </p:nvSpPr>
        <p:spPr>
          <a:xfrm>
            <a:off x="86277" y="2608976"/>
            <a:ext cx="4219572" cy="4949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86277" y="4306554"/>
            <a:ext cx="4555222" cy="2308324"/>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latin typeface="標楷體" panose="03000509000000000000" pitchFamily="65" charset="-120"/>
                <a:ea typeface="標楷體" panose="03000509000000000000" pitchFamily="65" charset="-120"/>
                <a:cs typeface="Times New Roman" panose="02020603050405020304" pitchFamily="18" charset="0"/>
              </a:rPr>
              <a:t>根據</a:t>
            </a:r>
            <a:r>
              <a:rPr lang="en-US" altLang="zh-TW" dirty="0">
                <a:latin typeface="標楷體" panose="03000509000000000000" pitchFamily="65" charset="-120"/>
                <a:ea typeface="標楷體" panose="03000509000000000000" pitchFamily="65" charset="-120"/>
                <a:cs typeface="Times New Roman" panose="02020603050405020304" pitchFamily="18" charset="0"/>
              </a:rPr>
              <a:t>Table5~7</a:t>
            </a:r>
            <a:r>
              <a:rPr lang="zh-TW" altLang="en-US" dirty="0">
                <a:latin typeface="標楷體" panose="03000509000000000000" pitchFamily="65" charset="-120"/>
                <a:ea typeface="標楷體" panose="03000509000000000000" pitchFamily="65" charset="-120"/>
                <a:cs typeface="Times New Roman" panose="02020603050405020304" pitchFamily="18" charset="0"/>
              </a:rPr>
              <a:t>，可推得</a:t>
            </a:r>
            <a:r>
              <a:rPr lang="zh-TW" altLang="en-US" b="1" dirty="0">
                <a:latin typeface="標楷體" panose="03000509000000000000" pitchFamily="65" charset="-120"/>
                <a:ea typeface="標楷體" panose="03000509000000000000" pitchFamily="65" charset="-120"/>
                <a:cs typeface="Times New Roman" panose="02020603050405020304" pitchFamily="18" charset="0"/>
              </a:rPr>
              <a:t>日經</a:t>
            </a:r>
            <a:r>
              <a:rPr lang="zh-TW" altLang="en-US" dirty="0">
                <a:latin typeface="標楷體" panose="03000509000000000000" pitchFamily="65" charset="-120"/>
                <a:ea typeface="標楷體" panose="03000509000000000000" pitchFamily="65" charset="-120"/>
                <a:cs typeface="Times New Roman" panose="02020603050405020304" pitchFamily="18" charset="0"/>
              </a:rPr>
              <a:t>、</a:t>
            </a:r>
            <a:r>
              <a:rPr lang="zh-TW" altLang="en-US" b="1" dirty="0">
                <a:latin typeface="標楷體" panose="03000509000000000000" pitchFamily="65" charset="-120"/>
                <a:ea typeface="標楷體" panose="03000509000000000000" pitchFamily="65" charset="-120"/>
                <a:cs typeface="Times New Roman" panose="02020603050405020304" pitchFamily="18" charset="0"/>
              </a:rPr>
              <a:t>恆生</a:t>
            </a:r>
            <a:r>
              <a:rPr lang="zh-TW" altLang="en-US" dirty="0">
                <a:latin typeface="標楷體" panose="03000509000000000000" pitchFamily="65" charset="-120"/>
                <a:ea typeface="標楷體" panose="03000509000000000000" pitchFamily="65" charset="-120"/>
                <a:cs typeface="Times New Roman" panose="02020603050405020304" pitchFamily="18" charset="0"/>
              </a:rPr>
              <a:t>及</a:t>
            </a:r>
            <a:r>
              <a:rPr lang="zh-TW" altLang="en-US" b="1" dirty="0">
                <a:latin typeface="標楷體" panose="03000509000000000000" pitchFamily="65" charset="-120"/>
                <a:ea typeface="標楷體" panose="03000509000000000000" pitchFamily="65" charset="-120"/>
                <a:cs typeface="Times New Roman" panose="02020603050405020304" pitchFamily="18" charset="0"/>
              </a:rPr>
              <a:t>韓國綜指</a:t>
            </a:r>
            <a:r>
              <a:rPr lang="zh-TW" altLang="en-US" dirty="0">
                <a:latin typeface="標楷體" panose="03000509000000000000" pitchFamily="65" charset="-120"/>
                <a:ea typeface="標楷體" panose="03000509000000000000" pitchFamily="65" charset="-120"/>
                <a:cs typeface="Times New Roman" panose="02020603050405020304" pitchFamily="18" charset="0"/>
              </a:rPr>
              <a:t>與</a:t>
            </a:r>
            <a:r>
              <a:rPr lang="en-US" altLang="zh-TW" b="1" dirty="0">
                <a:solidFill>
                  <a:srgbClr val="0070C0"/>
                </a:solidFill>
                <a:latin typeface="標楷體" panose="03000509000000000000" pitchFamily="65" charset="-120"/>
                <a:ea typeface="標楷體" panose="03000509000000000000" pitchFamily="65" charset="-120"/>
                <a:cs typeface="Times New Roman" panose="02020603050405020304" pitchFamily="18" charset="0"/>
              </a:rPr>
              <a:t>electronics</a:t>
            </a:r>
            <a:r>
              <a:rPr lang="zh-TW" altLang="en-US" dirty="0">
                <a:latin typeface="標楷體" panose="03000509000000000000" pitchFamily="65" charset="-120"/>
                <a:ea typeface="標楷體" panose="03000509000000000000" pitchFamily="65" charset="-120"/>
                <a:cs typeface="Times New Roman" panose="02020603050405020304" pitchFamily="18" charset="0"/>
              </a:rPr>
              <a:t>、</a:t>
            </a:r>
            <a:r>
              <a:rPr lang="en-US" altLang="zh-TW" b="1" dirty="0">
                <a:solidFill>
                  <a:srgbClr val="0070C0"/>
                </a:solidFill>
                <a:latin typeface="標楷體" panose="03000509000000000000" pitchFamily="65" charset="-120"/>
                <a:ea typeface="標楷體" panose="03000509000000000000" pitchFamily="65" charset="-120"/>
                <a:cs typeface="Times New Roman" panose="02020603050405020304" pitchFamily="18" charset="0"/>
              </a:rPr>
              <a:t>electric appliance and cable</a:t>
            </a:r>
            <a:r>
              <a:rPr lang="zh-TW" altLang="en-US" dirty="0">
                <a:latin typeface="標楷體" panose="03000509000000000000" pitchFamily="65" charset="-120"/>
                <a:ea typeface="標楷體" panose="03000509000000000000" pitchFamily="65" charset="-120"/>
                <a:cs typeface="Times New Roman" panose="02020603050405020304" pitchFamily="18" charset="0"/>
              </a:rPr>
              <a:t>及</a:t>
            </a:r>
            <a:r>
              <a:rPr lang="en-US" altLang="zh-TW" b="1" dirty="0">
                <a:solidFill>
                  <a:srgbClr val="0070C0"/>
                </a:solidFill>
                <a:latin typeface="標楷體" panose="03000509000000000000" pitchFamily="65" charset="-120"/>
                <a:ea typeface="標楷體" panose="03000509000000000000" pitchFamily="65" charset="-120"/>
                <a:cs typeface="Times New Roman" panose="02020603050405020304" pitchFamily="18" charset="0"/>
              </a:rPr>
              <a:t>others</a:t>
            </a:r>
            <a:r>
              <a:rPr lang="zh-TW" altLang="en-US" dirty="0">
                <a:latin typeface="標楷體" panose="03000509000000000000" pitchFamily="65" charset="-120"/>
                <a:ea typeface="標楷體" panose="03000509000000000000" pitchFamily="65" charset="-120"/>
                <a:cs typeface="Times New Roman" panose="02020603050405020304" pitchFamily="18" charset="0"/>
              </a:rPr>
              <a:t>具有高度關係。</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marL="285750" indent="-285750">
              <a:buFont typeface="Arial" panose="020B0604020202020204" pitchFamily="34" charset="0"/>
              <a:buChar char="•"/>
            </a:pP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marL="285750" indent="-285750">
              <a:buFont typeface="Arial" panose="020B0604020202020204" pitchFamily="34" charset="0"/>
              <a:buChar char="•"/>
            </a:pPr>
            <a:r>
              <a:rPr lang="zh-TW" altLang="en-US" dirty="0">
                <a:latin typeface="標楷體" panose="03000509000000000000" pitchFamily="65" charset="-120"/>
                <a:ea typeface="標楷體" panose="03000509000000000000" pitchFamily="65" charset="-120"/>
                <a:cs typeface="Times New Roman" panose="02020603050405020304" pitchFamily="18" charset="0"/>
              </a:rPr>
              <a:t>結論</a:t>
            </a:r>
            <a:r>
              <a:rPr lang="en-US" altLang="zh-TW" dirty="0">
                <a:latin typeface="標楷體" panose="03000509000000000000" pitchFamily="65" charset="-120"/>
                <a:ea typeface="標楷體" panose="03000509000000000000" pitchFamily="65" charset="-120"/>
                <a:cs typeface="Times New Roman" panose="02020603050405020304" pitchFamily="18" charset="0"/>
              </a:rPr>
              <a:t>:electronics</a:t>
            </a:r>
            <a:r>
              <a:rPr lang="zh-TW" altLang="en-US" dirty="0">
                <a:latin typeface="標楷體" panose="03000509000000000000" pitchFamily="65" charset="-120"/>
                <a:ea typeface="標楷體" panose="03000509000000000000" pitchFamily="65" charset="-120"/>
                <a:cs typeface="Times New Roman" panose="02020603050405020304" pitchFamily="18" charset="0"/>
              </a:rPr>
              <a:t>、</a:t>
            </a:r>
            <a:r>
              <a:rPr lang="en-US" altLang="zh-TW" dirty="0">
                <a:latin typeface="標楷體" panose="03000509000000000000" pitchFamily="65" charset="-120"/>
                <a:ea typeface="標楷體" panose="03000509000000000000" pitchFamily="65" charset="-120"/>
                <a:cs typeface="Times New Roman" panose="02020603050405020304" pitchFamily="18" charset="0"/>
              </a:rPr>
              <a:t>electric appliance and cable</a:t>
            </a:r>
            <a:r>
              <a:rPr lang="zh-TW" altLang="en-US" dirty="0">
                <a:latin typeface="標楷體" panose="03000509000000000000" pitchFamily="65" charset="-120"/>
                <a:ea typeface="標楷體" panose="03000509000000000000" pitchFamily="65" charset="-120"/>
                <a:cs typeface="Times New Roman" panose="02020603050405020304" pitchFamily="18" charset="0"/>
              </a:rPr>
              <a:t>、</a:t>
            </a:r>
            <a:r>
              <a:rPr lang="en-US" altLang="zh-TW" dirty="0">
                <a:latin typeface="標楷體" panose="03000509000000000000" pitchFamily="65" charset="-120"/>
                <a:ea typeface="標楷體" panose="03000509000000000000" pitchFamily="65" charset="-120"/>
                <a:cs typeface="Times New Roman" panose="02020603050405020304" pitchFamily="18" charset="0"/>
              </a:rPr>
              <a:t>others</a:t>
            </a:r>
            <a:r>
              <a:rPr lang="zh-TW" altLang="en-US" dirty="0">
                <a:latin typeface="標楷體" panose="03000509000000000000" pitchFamily="65" charset="-120"/>
                <a:ea typeface="標楷體" panose="03000509000000000000" pitchFamily="65" charset="-120"/>
                <a:cs typeface="Times New Roman" panose="02020603050405020304" pitchFamily="18" charset="0"/>
              </a:rPr>
              <a:t>和國際指數具有高度關係，尤其亞洲國家。</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3976708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461" y="1823814"/>
            <a:ext cx="3772366" cy="5086408"/>
          </a:xfrm>
        </p:spPr>
      </p:pic>
      <p:sp>
        <p:nvSpPr>
          <p:cNvPr id="6" name="文字方塊 5"/>
          <p:cNvSpPr txBox="1"/>
          <p:nvPr/>
        </p:nvSpPr>
        <p:spPr>
          <a:xfrm>
            <a:off x="4093827" y="4001549"/>
            <a:ext cx="7835317" cy="1477328"/>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latin typeface="標楷體" panose="03000509000000000000" pitchFamily="65" charset="-120"/>
                <a:ea typeface="標楷體" panose="03000509000000000000" pitchFamily="65" charset="-120"/>
                <a:cs typeface="Times New Roman" panose="02020603050405020304" pitchFamily="18" charset="0"/>
              </a:rPr>
              <a:t>cluster2</a:t>
            </a:r>
            <a:r>
              <a:rPr lang="zh-TW" altLang="en-US" dirty="0">
                <a:latin typeface="標楷體" panose="03000509000000000000" pitchFamily="65" charset="-120"/>
                <a:ea typeface="標楷體" panose="03000509000000000000" pitchFamily="65" charset="-120"/>
                <a:cs typeface="Times New Roman" panose="02020603050405020304" pitchFamily="18" charset="0"/>
              </a:rPr>
              <a:t>具有較高的</a:t>
            </a:r>
            <a:r>
              <a:rPr lang="en-US" altLang="zh-TW" dirty="0">
                <a:latin typeface="標楷體" panose="03000509000000000000" pitchFamily="65" charset="-120"/>
                <a:ea typeface="標楷體" panose="03000509000000000000" pitchFamily="65" charset="-120"/>
                <a:cs typeface="Times New Roman" panose="02020603050405020304" pitchFamily="18" charset="0"/>
              </a:rPr>
              <a:t>lift</a:t>
            </a:r>
            <a:r>
              <a:rPr lang="zh-TW" altLang="en-US" dirty="0">
                <a:latin typeface="標楷體" panose="03000509000000000000" pitchFamily="65" charset="-120"/>
                <a:ea typeface="標楷體" panose="03000509000000000000" pitchFamily="65" charset="-120"/>
                <a:cs typeface="Times New Roman" panose="02020603050405020304" pitchFamily="18" charset="0"/>
              </a:rPr>
              <a:t>值，代表</a:t>
            </a:r>
            <a:r>
              <a:rPr lang="en-US" altLang="zh-TW" dirty="0">
                <a:latin typeface="標楷體" panose="03000509000000000000" pitchFamily="65" charset="-120"/>
                <a:ea typeface="標楷體" panose="03000509000000000000" pitchFamily="65" charset="-120"/>
                <a:cs typeface="Times New Roman" panose="02020603050405020304" pitchFamily="18" charset="0"/>
              </a:rPr>
              <a:t>cluster2</a:t>
            </a:r>
            <a:r>
              <a:rPr lang="zh-TW" altLang="en-US" dirty="0">
                <a:latin typeface="標楷體" panose="03000509000000000000" pitchFamily="65" charset="-120"/>
                <a:ea typeface="標楷體" panose="03000509000000000000" pitchFamily="65" charset="-120"/>
                <a:cs typeface="Times New Roman" panose="02020603050405020304" pitchFamily="18" charset="0"/>
              </a:rPr>
              <a:t>中的類股較能牽動</a:t>
            </a:r>
            <a:r>
              <a:rPr lang="en-US" altLang="zh-TW" dirty="0">
                <a:latin typeface="標楷體" panose="03000509000000000000" pitchFamily="65" charset="-120"/>
                <a:ea typeface="標楷體" panose="03000509000000000000" pitchFamily="65" charset="-120"/>
                <a:cs typeface="Times New Roman" panose="02020603050405020304" pitchFamily="18" charset="0"/>
              </a:rPr>
              <a:t>TAIEX</a:t>
            </a:r>
            <a:r>
              <a:rPr lang="zh-TW" altLang="en-US" dirty="0">
                <a:latin typeface="標楷體" panose="03000509000000000000" pitchFamily="65" charset="-120"/>
                <a:ea typeface="標楷體" panose="03000509000000000000" pitchFamily="65" charset="-120"/>
                <a:cs typeface="Times New Roman" panose="02020603050405020304" pitchFamily="18" charset="0"/>
              </a:rPr>
              <a:t>。</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marL="285750" indent="-285750">
              <a:buFont typeface="Arial" panose="020B0604020202020204" pitchFamily="34" charset="0"/>
              <a:buChar char="•"/>
            </a:pPr>
            <a:r>
              <a:rPr lang="zh-TW" altLang="en-US" dirty="0">
                <a:latin typeface="標楷體" panose="03000509000000000000" pitchFamily="65" charset="-120"/>
                <a:ea typeface="標楷體" panose="03000509000000000000" pitchFamily="65" charset="-120"/>
                <a:cs typeface="Times New Roman" panose="02020603050405020304" pitchFamily="18" charset="0"/>
              </a:rPr>
              <a:t>可以發現</a:t>
            </a:r>
            <a:r>
              <a:rPr lang="en-US" altLang="zh-TW" dirty="0">
                <a:latin typeface="標楷體" panose="03000509000000000000" pitchFamily="65" charset="-120"/>
                <a:ea typeface="標楷體" panose="03000509000000000000" pitchFamily="65" charset="-120"/>
                <a:cs typeface="Times New Roman" panose="02020603050405020304" pitchFamily="18" charset="0"/>
              </a:rPr>
              <a:t>Table3</a:t>
            </a:r>
            <a:r>
              <a:rPr lang="zh-TW" altLang="en-US" dirty="0">
                <a:latin typeface="標楷體" panose="03000509000000000000" pitchFamily="65" charset="-120"/>
                <a:ea typeface="標楷體" panose="03000509000000000000" pitchFamily="65" charset="-120"/>
                <a:cs typeface="Times New Roman" panose="02020603050405020304" pitchFamily="18" charset="0"/>
              </a:rPr>
              <a:t>由關聯法則所得結果與</a:t>
            </a:r>
            <a:r>
              <a:rPr lang="en-US" altLang="zh-TW" dirty="0">
                <a:latin typeface="標楷體" panose="03000509000000000000" pitchFamily="65" charset="-120"/>
                <a:ea typeface="標楷體" panose="03000509000000000000" pitchFamily="65" charset="-120"/>
                <a:cs typeface="Times New Roman" panose="02020603050405020304" pitchFamily="18" charset="0"/>
              </a:rPr>
              <a:t>cluster2</a:t>
            </a:r>
            <a:r>
              <a:rPr lang="zh-TW" altLang="en-US" dirty="0">
                <a:latin typeface="標楷體" panose="03000509000000000000" pitchFamily="65" charset="-120"/>
                <a:ea typeface="標楷體" panose="03000509000000000000" pitchFamily="65" charset="-120"/>
                <a:cs typeface="Times New Roman" panose="02020603050405020304" pitchFamily="18" charset="0"/>
              </a:rPr>
              <a:t>中的類股大致上是一樣的。</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marL="285750" indent="-285750">
              <a:buFont typeface="Arial" panose="020B0604020202020204" pitchFamily="34" charset="0"/>
              <a:buChar char="•"/>
            </a:pP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marL="285750" indent="-285750">
              <a:buFont typeface="Arial" panose="020B0604020202020204" pitchFamily="34" charset="0"/>
              <a:buChar char="•"/>
            </a:pPr>
            <a:r>
              <a:rPr lang="zh-TW" altLang="en-US" dirty="0">
                <a:latin typeface="標楷體" panose="03000509000000000000" pitchFamily="65" charset="-120"/>
                <a:ea typeface="標楷體" panose="03000509000000000000" pitchFamily="65" charset="-120"/>
                <a:cs typeface="Times New Roman" panose="02020603050405020304" pitchFamily="18" charset="0"/>
              </a:rPr>
              <a:t>由</a:t>
            </a:r>
            <a:r>
              <a:rPr lang="en-US" altLang="zh-TW" dirty="0">
                <a:latin typeface="標楷體" panose="03000509000000000000" pitchFamily="65" charset="-120"/>
                <a:ea typeface="標楷體" panose="03000509000000000000" pitchFamily="65" charset="-120"/>
                <a:cs typeface="Times New Roman" panose="02020603050405020304" pitchFamily="18" charset="0"/>
              </a:rPr>
              <a:t>table9</a:t>
            </a:r>
            <a:r>
              <a:rPr lang="zh-TW" altLang="en-US" dirty="0">
                <a:latin typeface="標楷體" panose="03000509000000000000" pitchFamily="65" charset="-120"/>
                <a:ea typeface="標楷體" panose="03000509000000000000" pitchFamily="65" charset="-120"/>
                <a:cs typeface="Times New Roman" panose="02020603050405020304" pitchFamily="18" charset="0"/>
              </a:rPr>
              <a:t>可發現，</a:t>
            </a:r>
            <a:r>
              <a:rPr lang="en-US" altLang="zh-TW" dirty="0">
                <a:latin typeface="標楷體" panose="03000509000000000000" pitchFamily="65" charset="-120"/>
                <a:ea typeface="標楷體" panose="03000509000000000000" pitchFamily="65" charset="-120"/>
                <a:cs typeface="Times New Roman" panose="02020603050405020304" pitchFamily="18" charset="0"/>
              </a:rPr>
              <a:t>cluster2</a:t>
            </a:r>
            <a:r>
              <a:rPr lang="zh-TW" altLang="en-US" dirty="0">
                <a:latin typeface="標楷體" panose="03000509000000000000" pitchFamily="65" charset="-120"/>
                <a:ea typeface="標楷體" panose="03000509000000000000" pitchFamily="65" charset="-120"/>
                <a:cs typeface="Times New Roman" panose="02020603050405020304" pitchFamily="18" charset="0"/>
              </a:rPr>
              <a:t>的</a:t>
            </a:r>
            <a:r>
              <a:rPr lang="en-US" altLang="zh-TW" dirty="0">
                <a:latin typeface="標楷體" panose="03000509000000000000" pitchFamily="65" charset="-120"/>
                <a:ea typeface="標楷體" panose="03000509000000000000" pitchFamily="65" charset="-120"/>
                <a:cs typeface="Times New Roman" panose="02020603050405020304" pitchFamily="18" charset="0"/>
              </a:rPr>
              <a:t>lift</a:t>
            </a:r>
            <a:r>
              <a:rPr lang="zh-TW" altLang="en-US" dirty="0">
                <a:latin typeface="標楷體" panose="03000509000000000000" pitchFamily="65" charset="-120"/>
                <a:ea typeface="標楷體" panose="03000509000000000000" pitchFamily="65" charset="-120"/>
                <a:cs typeface="Times New Roman" panose="02020603050405020304" pitchFamily="18" charset="0"/>
              </a:rPr>
              <a:t>比</a:t>
            </a:r>
            <a:r>
              <a:rPr lang="en-US" altLang="zh-TW" dirty="0">
                <a:latin typeface="標楷體" panose="03000509000000000000" pitchFamily="65" charset="-120"/>
                <a:ea typeface="標楷體" panose="03000509000000000000" pitchFamily="65" charset="-120"/>
                <a:cs typeface="Times New Roman" panose="02020603050405020304" pitchFamily="18" charset="0"/>
              </a:rPr>
              <a:t>cluster1.2</a:t>
            </a:r>
            <a:r>
              <a:rPr lang="zh-TW" altLang="en-US" dirty="0">
                <a:latin typeface="標楷體" panose="03000509000000000000" pitchFamily="65" charset="-120"/>
                <a:ea typeface="標楷體" panose="03000509000000000000" pitchFamily="65" charset="-120"/>
                <a:cs typeface="Times New Roman" panose="02020603050405020304" pitchFamily="18" charset="0"/>
              </a:rPr>
              <a:t>間的</a:t>
            </a:r>
            <a:r>
              <a:rPr lang="en-US" altLang="zh-TW" dirty="0">
                <a:latin typeface="標楷體" panose="03000509000000000000" pitchFamily="65" charset="-120"/>
                <a:ea typeface="標楷體" panose="03000509000000000000" pitchFamily="65" charset="-120"/>
                <a:cs typeface="Times New Roman" panose="02020603050405020304" pitchFamily="18" charset="0"/>
              </a:rPr>
              <a:t>lift</a:t>
            </a:r>
            <a:r>
              <a:rPr lang="zh-TW" altLang="en-US" dirty="0">
                <a:latin typeface="標楷體" panose="03000509000000000000" pitchFamily="65" charset="-120"/>
                <a:ea typeface="標楷體" panose="03000509000000000000" pitchFamily="65" charset="-120"/>
                <a:cs typeface="Times New Roman" panose="02020603050405020304" pitchFamily="18" charset="0"/>
              </a:rPr>
              <a:t>還高，所以這個分群實驗中，並不能清楚看出兩個群集間的關係。</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1664" y="2163882"/>
            <a:ext cx="6609057" cy="1837667"/>
          </a:xfrm>
          <a:prstGeom prst="rect">
            <a:avLst/>
          </a:prstGeom>
        </p:spPr>
      </p:pic>
    </p:spTree>
    <p:extLst>
      <p:ext uri="{BB962C8B-B14F-4D97-AF65-F5344CB8AC3E}">
        <p14:creationId xmlns:p14="http://schemas.microsoft.com/office/powerpoint/2010/main" val="275085532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10195</TotalTime>
  <Words>1273</Words>
  <Application>Microsoft Office PowerPoint</Application>
  <PresentationFormat>寬螢幕</PresentationFormat>
  <Paragraphs>205</Paragraphs>
  <Slides>18</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18</vt:i4>
      </vt:variant>
    </vt:vector>
  </HeadingPairs>
  <TitlesOfParts>
    <vt:vector size="26" baseType="lpstr">
      <vt:lpstr>新細明體</vt:lpstr>
      <vt:lpstr>標楷體</vt:lpstr>
      <vt:lpstr>Arial</vt:lpstr>
      <vt:lpstr>Calibri</vt:lpstr>
      <vt:lpstr>Calibri Light</vt:lpstr>
      <vt:lpstr>Cambria Math</vt:lpstr>
      <vt:lpstr>Times New Roman</vt:lpstr>
      <vt:lpstr>Office 佈景主題</vt:lpstr>
      <vt:lpstr>Mining stock category association and cluster on Taiwan stock market</vt:lpstr>
      <vt:lpstr>Abstract</vt:lpstr>
      <vt:lpstr>TAIEX</vt:lpstr>
      <vt:lpstr>台灣加權指數採納原則</vt:lpstr>
      <vt:lpstr>Data</vt:lpstr>
      <vt:lpstr>PowerPoint 簡報</vt:lpstr>
      <vt:lpstr>PowerPoint 簡報</vt:lpstr>
      <vt:lpstr>Method</vt:lpstr>
      <vt:lpstr>Association rule using Apriori algorithm</vt:lpstr>
      <vt:lpstr>PowerPoint 簡報</vt:lpstr>
      <vt:lpstr>PowerPoint 簡報</vt:lpstr>
      <vt:lpstr>PowerPoint 簡報</vt:lpstr>
      <vt:lpstr>K-means cluster</vt:lpstr>
      <vt:lpstr>K-means cluster</vt:lpstr>
      <vt:lpstr>TAIEX與類股之間的關係</vt:lpstr>
      <vt:lpstr>類股之間的關係</vt:lpstr>
      <vt:lpstr>TAIEX與國際指數的關係</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stock category association and cluster on Taiwan stock market</dc:title>
  <dc:creator>jhan</dc:creator>
  <cp:lastModifiedBy>jhan</cp:lastModifiedBy>
  <cp:revision>92</cp:revision>
  <dcterms:created xsi:type="dcterms:W3CDTF">2017-05-02T08:36:19Z</dcterms:created>
  <dcterms:modified xsi:type="dcterms:W3CDTF">2017-05-09T10:31:29Z</dcterms:modified>
</cp:coreProperties>
</file>