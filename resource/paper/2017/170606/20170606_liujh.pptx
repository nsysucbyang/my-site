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75" r:id="rId8"/>
    <p:sldId id="262" r:id="rId9"/>
    <p:sldId id="263" r:id="rId10"/>
    <p:sldId id="264" r:id="rId11"/>
    <p:sldId id="265" r:id="rId12"/>
    <p:sldId id="266" r:id="rId13"/>
    <p:sldId id="267" r:id="rId14"/>
    <p:sldId id="273" r:id="rId15"/>
    <p:sldId id="268" r:id="rId16"/>
    <p:sldId id="269" r:id="rId17"/>
    <p:sldId id="272" r:id="rId18"/>
    <p:sldId id="271" r:id="rId19"/>
    <p:sldId id="270" r:id="rId20"/>
    <p:sldId id="27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428"/>
  </p:normalViewPr>
  <p:slideViewPr>
    <p:cSldViewPr snapToGrid="0" snapToObjects="1">
      <p:cViewPr varScale="1">
        <p:scale>
          <a:sx n="81" d="100"/>
          <a:sy n="81" d="100"/>
        </p:scale>
        <p:origin x="96" y="3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B13E7-5927-A34E-9B19-58AC635BEA34}" type="datetimeFigureOut">
              <a:rPr lang="en-US" smtClean="0"/>
              <a:t>6/6/2017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A28A6D-2640-814C-B5E1-48495A692F76}" type="slidenum">
              <a:rPr lang="en-US" smtClean="0"/>
              <a:t>‹#›</a:t>
            </a:fld>
            <a:endParaRPr lang="en-US"/>
          </a:p>
        </p:txBody>
      </p:sp>
    </p:spTree>
    <p:extLst>
      <p:ext uri="{BB962C8B-B14F-4D97-AF65-F5344CB8AC3E}">
        <p14:creationId xmlns:p14="http://schemas.microsoft.com/office/powerpoint/2010/main" val="1729980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A28A6D-2640-814C-B5E1-48495A692F76}" type="slidenum">
              <a:rPr lang="en-US" smtClean="0"/>
              <a:t>4</a:t>
            </a:fld>
            <a:endParaRPr lang="en-US"/>
          </a:p>
        </p:txBody>
      </p:sp>
    </p:spTree>
    <p:extLst>
      <p:ext uri="{BB962C8B-B14F-4D97-AF65-F5344CB8AC3E}">
        <p14:creationId xmlns:p14="http://schemas.microsoft.com/office/powerpoint/2010/main" val="767907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(Top) HSI from July 3, 2007 (22151) to July 2, 2014 (23549). (Bottom) Test intervals for the trading strategies: 492 trading days (roughly two years) per test interval, and 245 such test intervals in sequence with five trading days apart.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1) the strong rise in late 2007, 2) the big decline due to the 2008 financial crisis, 3) the </a:t>
            </a:r>
            <a:r>
              <a:rPr lang="en-US" sz="1200" kern="1200" dirty="0" err="1">
                <a:solidFill>
                  <a:schemeClr val="tx1"/>
                </a:solidFill>
                <a:effectLst/>
                <a:latin typeface="+mn-lt"/>
                <a:ea typeface="+mn-ea"/>
                <a:cs typeface="+mn-cs"/>
              </a:rPr>
              <a:t>recoverary</a:t>
            </a:r>
            <a:r>
              <a:rPr lang="en-US" sz="1200" kern="1200" dirty="0">
                <a:solidFill>
                  <a:schemeClr val="tx1"/>
                </a:solidFill>
                <a:effectLst/>
                <a:latin typeface="+mn-lt"/>
                <a:ea typeface="+mn-ea"/>
                <a:cs typeface="+mn-cs"/>
              </a:rPr>
              <a:t> after the panic, and 4) the “ordinary” years from 2010 to 2014) </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95A28A6D-2640-814C-B5E1-48495A692F76}" type="slidenum">
              <a:rPr lang="en-US" smtClean="0"/>
              <a:t>15</a:t>
            </a:fld>
            <a:endParaRPr lang="en-US"/>
          </a:p>
        </p:txBody>
      </p:sp>
    </p:spTree>
    <p:extLst>
      <p:ext uri="{BB962C8B-B14F-4D97-AF65-F5344CB8AC3E}">
        <p14:creationId xmlns:p14="http://schemas.microsoft.com/office/powerpoint/2010/main" val="1006561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A28A6D-2640-814C-B5E1-48495A692F76}" type="slidenum">
              <a:rPr lang="en-US" smtClean="0"/>
              <a:t>19</a:t>
            </a:fld>
            <a:endParaRPr lang="en-US"/>
          </a:p>
        </p:txBody>
      </p:sp>
    </p:spTree>
    <p:extLst>
      <p:ext uri="{BB962C8B-B14F-4D97-AF65-F5344CB8AC3E}">
        <p14:creationId xmlns:p14="http://schemas.microsoft.com/office/powerpoint/2010/main" val="4208842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5A28A6D-2640-814C-B5E1-48495A692F76}" type="slidenum">
              <a:rPr lang="en-US" smtClean="0"/>
              <a:t>20</a:t>
            </a:fld>
            <a:endParaRPr lang="en-US"/>
          </a:p>
        </p:txBody>
      </p:sp>
    </p:spTree>
    <p:extLst>
      <p:ext uri="{BB962C8B-B14F-4D97-AF65-F5344CB8AC3E}">
        <p14:creationId xmlns:p14="http://schemas.microsoft.com/office/powerpoint/2010/main" val="1551922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742B019-C4ED-1740-ADA0-2D448D1B75D6}" type="datetimeFigureOut">
              <a:rPr lang="en-US" smtClean="0"/>
              <a:t>6/6/2017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293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42B019-C4ED-1740-ADA0-2D448D1B75D6}" type="datetimeFigureOut">
              <a:rPr lang="en-US" smtClean="0"/>
              <a:t>6/6/2017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6308114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42B019-C4ED-1740-ADA0-2D448D1B75D6}" type="datetimeFigureOut">
              <a:rPr lang="en-US" smtClean="0"/>
              <a:t>6/6/2017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2068909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742B019-C4ED-1740-ADA0-2D448D1B75D6}" type="datetimeFigureOut">
              <a:rPr lang="en-US" smtClean="0"/>
              <a:t>6/6/2017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112149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742B019-C4ED-1740-ADA0-2D448D1B75D6}" type="datetimeFigureOut">
              <a:rPr lang="en-US" smtClean="0"/>
              <a:t>6/6/2017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15505132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742B019-C4ED-1740-ADA0-2D448D1B75D6}" type="datetimeFigureOut">
              <a:rPr lang="en-US" smtClean="0"/>
              <a:t>6/6/2017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1909485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42B019-C4ED-1740-ADA0-2D448D1B75D6}" type="datetimeFigureOut">
              <a:rPr lang="en-US" smtClean="0"/>
              <a:t>6/6/2017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728791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2B019-C4ED-1740-ADA0-2D448D1B75D6}" type="datetimeFigureOut">
              <a:rPr lang="en-US" smtClean="0"/>
              <a:t>6/6/2017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1694526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42B019-C4ED-1740-ADA0-2D448D1B75D6}" type="datetimeFigureOut">
              <a:rPr lang="en-US" smtClean="0"/>
              <a:t>6/6/2017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21310662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42B019-C4ED-1740-ADA0-2D448D1B75D6}" type="datetimeFigureOut">
              <a:rPr lang="en-US" smtClean="0"/>
              <a:t>6/6/2017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1098064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742B019-C4ED-1740-ADA0-2D448D1B75D6}" type="datetimeFigureOut">
              <a:rPr lang="en-US" smtClean="0"/>
              <a:t>6/6/2017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D02168-85AD-C240-9489-2D84009C9ED0}" type="slidenum">
              <a:rPr lang="en-US" smtClean="0"/>
              <a:t>‹#›</a:t>
            </a:fld>
            <a:endParaRPr lang="en-US"/>
          </a:p>
        </p:txBody>
      </p:sp>
    </p:spTree>
    <p:extLst>
      <p:ext uri="{BB962C8B-B14F-4D97-AF65-F5344CB8AC3E}">
        <p14:creationId xmlns:p14="http://schemas.microsoft.com/office/powerpoint/2010/main" val="1845224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42B019-C4ED-1740-ADA0-2D448D1B75D6}" type="datetimeFigureOut">
              <a:rPr lang="en-US" smtClean="0"/>
              <a:t>6/6/2017</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D02168-85AD-C240-9489-2D84009C9ED0}" type="slidenum">
              <a:rPr lang="en-US" smtClean="0"/>
              <a:t>‹#›</a:t>
            </a:fld>
            <a:endParaRPr lang="en-US"/>
          </a:p>
        </p:txBody>
      </p:sp>
    </p:spTree>
    <p:extLst>
      <p:ext uri="{BB962C8B-B14F-4D97-AF65-F5344CB8AC3E}">
        <p14:creationId xmlns:p14="http://schemas.microsoft.com/office/powerpoint/2010/main" val="104160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4.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8.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18.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normAutofit fontScale="90000"/>
          </a:bodyPr>
          <a:lstStyle/>
          <a:p>
            <a:r>
              <a:rPr lang="en-US" dirty="0"/>
              <a:t>Dynamical Models of Stock Prices Based on Technical Trading Rules—Part III: Application to Hong Kong Stocks </a:t>
            </a:r>
          </a:p>
        </p:txBody>
      </p:sp>
      <p:sp>
        <p:nvSpPr>
          <p:cNvPr id="3" name="Subtitle 2"/>
          <p:cNvSpPr>
            <a:spLocks noGrp="1"/>
          </p:cNvSpPr>
          <p:nvPr>
            <p:ph type="subTitle" idx="1"/>
          </p:nvPr>
        </p:nvSpPr>
        <p:spPr/>
        <p:txBody>
          <a:bodyPr anchor="ctr">
            <a:normAutofit/>
          </a:bodyPr>
          <a:lstStyle/>
          <a:p>
            <a:r>
              <a:rPr lang="en-US" dirty="0"/>
              <a:t>IEEE TRANSACTIONS ON FUZZY SYSTEMS, VOL. 23, NO. 5, OCTOBER 2015</a:t>
            </a:r>
          </a:p>
          <a:p>
            <a:r>
              <a:rPr lang="en-US" dirty="0"/>
              <a:t>Li-Xin Wang</a:t>
            </a:r>
          </a:p>
        </p:txBody>
      </p:sp>
      <p:sp>
        <p:nvSpPr>
          <p:cNvPr id="5" name="矩形 3"/>
          <p:cNvSpPr/>
          <p:nvPr/>
        </p:nvSpPr>
        <p:spPr>
          <a:xfrm>
            <a:off x="6714698" y="5849210"/>
            <a:ext cx="4189864" cy="830997"/>
          </a:xfrm>
          <a:prstGeom prst="rect">
            <a:avLst/>
          </a:prstGeom>
        </p:spPr>
        <p:txBody>
          <a:bodyPr wrap="square">
            <a:spAutoFit/>
          </a:bodyPr>
          <a:lstStyle/>
          <a:p>
            <a:pPr lvl="1" indent="457200">
              <a:defRPr sz="3200"/>
            </a:pPr>
            <a:r>
              <a:rPr lang="de-DE" altLang="zh-TW" sz="2400" dirty="0" err="1"/>
              <a:t>Presenter</a:t>
            </a:r>
            <a:r>
              <a:rPr lang="zh-TW" altLang="de-DE" sz="2400" dirty="0">
                <a:latin typeface="微軟正黑體"/>
                <a:ea typeface="微軟正黑體"/>
                <a:cs typeface="微軟正黑體"/>
                <a:sym typeface="微軟正黑體"/>
              </a:rPr>
              <a:t>：</a:t>
            </a:r>
            <a:r>
              <a:rPr lang="de-DE" altLang="zh-TW" sz="2400" dirty="0" err="1">
                <a:sym typeface="微軟正黑體"/>
              </a:rPr>
              <a:t>Jia</a:t>
            </a:r>
            <a:r>
              <a:rPr lang="de-DE" altLang="zh-TW" sz="2400" dirty="0"/>
              <a:t>-Hong Liu</a:t>
            </a:r>
            <a:endParaRPr lang="de-DE" altLang="zh-TW" sz="2400" dirty="0">
              <a:latin typeface="Liberation Sans Narrow"/>
              <a:ea typeface="Liberation Sans Narrow"/>
              <a:cs typeface="Liberation Sans Narrow"/>
              <a:sym typeface="Liberation Sans Narrow"/>
            </a:endParaRPr>
          </a:p>
          <a:p>
            <a:pPr lvl="1" indent="457200">
              <a:defRPr sz="3200"/>
            </a:pPr>
            <a:r>
              <a:rPr lang="de-DE" altLang="zh-TW" sz="2400" dirty="0"/>
              <a:t>Date</a:t>
            </a:r>
            <a:r>
              <a:rPr lang="zh-TW" altLang="de-DE" sz="2400" dirty="0">
                <a:latin typeface="微軟正黑體"/>
                <a:ea typeface="微軟正黑體"/>
                <a:cs typeface="微軟正黑體"/>
                <a:sym typeface="微軟正黑體"/>
              </a:rPr>
              <a:t>：</a:t>
            </a:r>
            <a:r>
              <a:rPr lang="en-US" altLang="zh-TW" sz="2400" dirty="0"/>
              <a:t>2017/6/6</a:t>
            </a:r>
            <a:endParaRPr lang="de-DE" altLang="zh-TW" sz="2400" dirty="0"/>
          </a:p>
        </p:txBody>
      </p:sp>
    </p:spTree>
    <p:extLst>
      <p:ext uri="{BB962C8B-B14F-4D97-AF65-F5344CB8AC3E}">
        <p14:creationId xmlns:p14="http://schemas.microsoft.com/office/powerpoint/2010/main" val="8705225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zh-TW" dirty="0"/>
              <a:t>Abstract(1/3) </a:t>
            </a:r>
            <a:endParaRPr lang="en-US" dirty="0"/>
          </a:p>
        </p:txBody>
      </p:sp>
      <p:sp>
        <p:nvSpPr>
          <p:cNvPr id="3" name="Content Placeholder 2"/>
          <p:cNvSpPr>
            <a:spLocks noGrp="1"/>
          </p:cNvSpPr>
          <p:nvPr>
            <p:ph idx="1"/>
          </p:nvPr>
        </p:nvSpPr>
        <p:spPr/>
        <p:txBody>
          <a:bodyPr>
            <a:noAutofit/>
          </a:bodyPr>
          <a:lstStyle/>
          <a:p>
            <a:pPr marL="0" indent="0">
              <a:buNone/>
            </a:pPr>
            <a:r>
              <a:rPr lang="en-US" sz="3600" b="1" dirty="0"/>
              <a:t>In Part III of this study, we apply the price dynamical model with big buyers and big sellers developed in Part I of this paper to the daily closing prices of the top 20 banking and real estate stocks listed in the Hong Kong Stock Exchange. The basic idea is to estimate the strength parameters of the big buyers and the big sellers in the model and make buy/sell decisions based on these parameter estimates. We propose two trading strategies: </a:t>
            </a:r>
            <a:endParaRPr lang="en-US" sz="3600" dirty="0"/>
          </a:p>
        </p:txBody>
      </p:sp>
    </p:spTree>
    <p:extLst>
      <p:ext uri="{BB962C8B-B14F-4D97-AF65-F5344CB8AC3E}">
        <p14:creationId xmlns:p14="http://schemas.microsoft.com/office/powerpoint/2010/main" val="786048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600" b="1" dirty="0"/>
              <a:t>1) Follow- the-Big-Buyer, which buys when big buyer begins to appear and there is no sign of big sellers, holds the stock as long as the big buyer is still there, and sells the stock once the big buyer disappears; and 2) Ride-the-Mood, which buys as soon as the big buyer strength begins to surpass the big seller strength and sells the stock once the opposite happens. </a:t>
            </a:r>
            <a:endParaRPr lang="en-US" sz="3600" dirty="0"/>
          </a:p>
        </p:txBody>
      </p:sp>
      <p:sp>
        <p:nvSpPr>
          <p:cNvPr id="4" name="Title 1"/>
          <p:cNvSpPr>
            <a:spLocks noGrp="1"/>
          </p:cNvSpPr>
          <p:nvPr>
            <p:ph type="title"/>
          </p:nvPr>
        </p:nvSpPr>
        <p:spPr/>
        <p:txBody>
          <a:bodyPr/>
          <a:lstStyle/>
          <a:p>
            <a:pPr algn="ctr"/>
            <a:r>
              <a:rPr lang="en-US" altLang="zh-TW" dirty="0"/>
              <a:t>Abstract(2/3) </a:t>
            </a:r>
            <a:endParaRPr lang="en-US" dirty="0"/>
          </a:p>
        </p:txBody>
      </p:sp>
    </p:spTree>
    <p:extLst>
      <p:ext uri="{BB962C8B-B14F-4D97-AF65-F5344CB8AC3E}">
        <p14:creationId xmlns:p14="http://schemas.microsoft.com/office/powerpoint/2010/main" val="655442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3600" b="1" dirty="0"/>
              <a:t>Based on the testing over 245 two-year intervals uniformly distributed across the seven years from July 3, 2007 to July 2, 2014, which includes a variety of scenarios, the net profits would increase 67% or 120% on average if an investor switched from the benchmark Buy-and-Hold strategy to the Follow-the-Big- Buyer or Ride-the-Mood strategies during this period, respectively. </a:t>
            </a:r>
            <a:endParaRPr lang="en-US" sz="3600" dirty="0"/>
          </a:p>
        </p:txBody>
      </p:sp>
      <p:sp>
        <p:nvSpPr>
          <p:cNvPr id="4" name="Title 1"/>
          <p:cNvSpPr>
            <a:spLocks noGrp="1"/>
          </p:cNvSpPr>
          <p:nvPr>
            <p:ph type="title"/>
          </p:nvPr>
        </p:nvSpPr>
        <p:spPr/>
        <p:txBody>
          <a:bodyPr/>
          <a:lstStyle/>
          <a:p>
            <a:pPr algn="ctr"/>
            <a:r>
              <a:rPr lang="en-US" altLang="zh-TW" dirty="0"/>
              <a:t>Abstract(3/3) </a:t>
            </a:r>
            <a:endParaRPr lang="en-US" dirty="0"/>
          </a:p>
        </p:txBody>
      </p:sp>
    </p:spTree>
    <p:extLst>
      <p:ext uri="{BB962C8B-B14F-4D97-AF65-F5344CB8AC3E}">
        <p14:creationId xmlns:p14="http://schemas.microsoft.com/office/powerpoint/2010/main" val="9961916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562856" y="437882"/>
            <a:ext cx="6524132" cy="5854991"/>
          </a:xfrm>
          <a:prstGeom prst="rect">
            <a:avLst/>
          </a:prstGeom>
        </p:spPr>
      </p:pic>
    </p:spTree>
    <p:extLst>
      <p:ext uri="{BB962C8B-B14F-4D97-AF65-F5344CB8AC3E}">
        <p14:creationId xmlns:p14="http://schemas.microsoft.com/office/powerpoint/2010/main" val="10523131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09433" y="2993255"/>
            <a:ext cx="5273418" cy="3161885"/>
          </a:xfrm>
          <a:prstGeom prst="rect">
            <a:avLst/>
          </a:prstGeom>
        </p:spPr>
      </p:pic>
      <p:pic>
        <p:nvPicPr>
          <p:cNvPr id="5" name="Picture 4"/>
          <p:cNvPicPr>
            <a:picLocks noChangeAspect="1"/>
          </p:cNvPicPr>
          <p:nvPr/>
        </p:nvPicPr>
        <p:blipFill>
          <a:blip r:embed="rId3"/>
          <a:stretch>
            <a:fillRect/>
          </a:stretch>
        </p:blipFill>
        <p:spPr>
          <a:xfrm>
            <a:off x="6237027" y="2993255"/>
            <a:ext cx="5395414" cy="3269948"/>
          </a:xfrm>
          <a:prstGeom prst="rect">
            <a:avLst/>
          </a:prstGeom>
        </p:spPr>
      </p:pic>
      <p:pic>
        <p:nvPicPr>
          <p:cNvPr id="6" name="Picture 5"/>
          <p:cNvPicPr>
            <a:picLocks noChangeAspect="1"/>
          </p:cNvPicPr>
          <p:nvPr/>
        </p:nvPicPr>
        <p:blipFill>
          <a:blip r:embed="rId4"/>
          <a:stretch>
            <a:fillRect/>
          </a:stretch>
        </p:blipFill>
        <p:spPr>
          <a:xfrm>
            <a:off x="3955651" y="451368"/>
            <a:ext cx="3454400" cy="850900"/>
          </a:xfrm>
          <a:prstGeom prst="rect">
            <a:avLst/>
          </a:prstGeom>
        </p:spPr>
      </p:pic>
      <p:pic>
        <p:nvPicPr>
          <p:cNvPr id="11" name="Picture 10"/>
          <p:cNvPicPr>
            <a:picLocks noChangeAspect="1"/>
          </p:cNvPicPr>
          <p:nvPr/>
        </p:nvPicPr>
        <p:blipFill>
          <a:blip r:embed="rId5"/>
          <a:stretch>
            <a:fillRect/>
          </a:stretch>
        </p:blipFill>
        <p:spPr>
          <a:xfrm>
            <a:off x="409433" y="1855517"/>
            <a:ext cx="4089400" cy="457200"/>
          </a:xfrm>
          <a:prstGeom prst="rect">
            <a:avLst/>
          </a:prstGeom>
        </p:spPr>
      </p:pic>
      <p:pic>
        <p:nvPicPr>
          <p:cNvPr id="12" name="Picture 11"/>
          <p:cNvPicPr>
            <a:picLocks noChangeAspect="1"/>
          </p:cNvPicPr>
          <p:nvPr/>
        </p:nvPicPr>
        <p:blipFill>
          <a:blip r:embed="rId6"/>
          <a:stretch>
            <a:fillRect/>
          </a:stretch>
        </p:blipFill>
        <p:spPr>
          <a:xfrm>
            <a:off x="4498833" y="1880917"/>
            <a:ext cx="2781300" cy="431800"/>
          </a:xfrm>
          <a:prstGeom prst="rect">
            <a:avLst/>
          </a:prstGeom>
        </p:spPr>
      </p:pic>
    </p:spTree>
    <p:extLst>
      <p:ext uri="{BB962C8B-B14F-4D97-AF65-F5344CB8AC3E}">
        <p14:creationId xmlns:p14="http://schemas.microsoft.com/office/powerpoint/2010/main" val="17838646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0"/>
            <a:ext cx="5985108" cy="3852619"/>
          </a:xfrm>
          <a:prstGeom prst="rect">
            <a:avLst/>
          </a:prstGeom>
        </p:spPr>
      </p:pic>
      <p:pic>
        <p:nvPicPr>
          <p:cNvPr id="6" name="Picture 5"/>
          <p:cNvPicPr>
            <a:picLocks noChangeAspect="1"/>
          </p:cNvPicPr>
          <p:nvPr/>
        </p:nvPicPr>
        <p:blipFill>
          <a:blip r:embed="rId3"/>
          <a:stretch>
            <a:fillRect/>
          </a:stretch>
        </p:blipFill>
        <p:spPr>
          <a:xfrm>
            <a:off x="6366933" y="-1"/>
            <a:ext cx="5825067" cy="3852619"/>
          </a:xfrm>
          <a:prstGeom prst="rect">
            <a:avLst/>
          </a:prstGeom>
        </p:spPr>
      </p:pic>
      <p:sp>
        <p:nvSpPr>
          <p:cNvPr id="11" name="TextBox 10"/>
          <p:cNvSpPr txBox="1"/>
          <p:nvPr/>
        </p:nvSpPr>
        <p:spPr>
          <a:xfrm>
            <a:off x="6025177" y="666465"/>
            <a:ext cx="301686" cy="369332"/>
          </a:xfrm>
          <a:prstGeom prst="rect">
            <a:avLst/>
          </a:prstGeom>
          <a:noFill/>
        </p:spPr>
        <p:txBody>
          <a:bodyPr wrap="none" rtlCol="0">
            <a:spAutoFit/>
          </a:bodyPr>
          <a:lstStyle/>
          <a:p>
            <a:r>
              <a:rPr lang="en-US" dirty="0"/>
              <a:t>1</a:t>
            </a:r>
          </a:p>
        </p:txBody>
      </p:sp>
      <p:sp>
        <p:nvSpPr>
          <p:cNvPr id="12" name="TextBox 11"/>
          <p:cNvSpPr txBox="1"/>
          <p:nvPr/>
        </p:nvSpPr>
        <p:spPr>
          <a:xfrm>
            <a:off x="6025177" y="3108637"/>
            <a:ext cx="301686" cy="369332"/>
          </a:xfrm>
          <a:prstGeom prst="rect">
            <a:avLst/>
          </a:prstGeom>
          <a:noFill/>
        </p:spPr>
        <p:txBody>
          <a:bodyPr wrap="none" rtlCol="0">
            <a:spAutoFit/>
          </a:bodyPr>
          <a:lstStyle/>
          <a:p>
            <a:r>
              <a:rPr lang="en-US" dirty="0"/>
              <a:t>0</a:t>
            </a:r>
          </a:p>
        </p:txBody>
      </p:sp>
      <mc:AlternateContent xmlns:mc="http://schemas.openxmlformats.org/markup-compatibility/2006">
        <mc:Choice xmlns:a14="http://schemas.microsoft.com/office/drawing/2010/main" Requires="a14">
          <p:sp>
            <p:nvSpPr>
              <p:cNvPr id="18" name="TextBox 17"/>
              <p:cNvSpPr txBox="1"/>
              <p:nvPr/>
            </p:nvSpPr>
            <p:spPr>
              <a:xfrm>
                <a:off x="3439583" y="5925458"/>
                <a:ext cx="4531861" cy="409536"/>
              </a:xfrm>
              <a:prstGeom prst="rect">
                <a:avLst/>
              </a:prstGeom>
              <a:noFill/>
            </p:spPr>
            <p:txBody>
              <a:bodyPr wrap="square" lIns="0" tIns="0" rIns="0" bIns="0" rtlCol="0">
                <a:spAutoFit/>
              </a:bodyPr>
              <a:lstStyle/>
              <a:p>
                <a:r>
                  <a:rPr lang="en-US" sz="2000" b="0" dirty="0"/>
                  <a:t>excess demand </a:t>
                </a:r>
                <a14:m>
                  <m:oMath xmlns:m="http://schemas.openxmlformats.org/officeDocument/2006/math">
                    <m:r>
                      <a:rPr lang="en-US" sz="2000" b="0" i="1" smtClean="0">
                        <a:latin typeface="Cambria Math" charset="0"/>
                      </a:rPr>
                      <m:t>=</m:t>
                    </m:r>
                    <m:r>
                      <a:rPr lang="en-US" sz="2000" b="0" i="1" smtClean="0">
                        <a:latin typeface="Cambria Math" panose="02040503050406030204" pitchFamily="18" charset="0"/>
                      </a:rPr>
                      <m:t>−</m:t>
                    </m:r>
                    <m:r>
                      <a:rPr lang="en-US" sz="2000" b="0" i="1" smtClean="0">
                        <a:latin typeface="Cambria Math" charset="0"/>
                      </a:rPr>
                      <m:t>0.2∗</m:t>
                    </m:r>
                    <m:sSub>
                      <m:sSubPr>
                        <m:ctrlPr>
                          <a:rPr lang="en-US" sz="2000" i="1" dirty="0" smtClean="0">
                            <a:latin typeface="Cambria Math" panose="02040503050406030204" pitchFamily="18" charset="0"/>
                            <a:ea typeface="Cambria Math" charset="0"/>
                            <a:cs typeface="Cambria Math" charset="0"/>
                          </a:rPr>
                        </m:ctrlPr>
                      </m:sSubPr>
                      <m:e>
                        <m:r>
                          <m:rPr>
                            <m:sty m:val="p"/>
                          </m:rPr>
                          <a:rPr lang="en-US" sz="2000" dirty="0">
                            <a:latin typeface="Cambria Math" charset="0"/>
                            <a:ea typeface="Cambria Math" charset="0"/>
                            <a:cs typeface="Cambria Math" charset="0"/>
                          </a:rPr>
                          <m:t>μ</m:t>
                        </m:r>
                      </m:e>
                      <m:sub>
                        <m:r>
                          <a:rPr lang="en-US" sz="2000" b="0" i="1" dirty="0" smtClean="0">
                            <a:latin typeface="Cambria Math" charset="0"/>
                            <a:ea typeface="Cambria Math" charset="0"/>
                            <a:cs typeface="Cambria Math" charset="0"/>
                          </a:rPr>
                          <m:t>𝑃𝑀</m:t>
                        </m:r>
                      </m:sub>
                    </m:sSub>
                    <m:r>
                      <a:rPr lang="en-US" sz="2000" b="0" i="0" dirty="0" smtClean="0">
                        <a:latin typeface="Cambria Math" charset="0"/>
                        <a:ea typeface="Cambria Math" charset="0"/>
                        <a:cs typeface="Cambria Math" charset="0"/>
                      </a:rPr>
                      <m:t>(</m:t>
                    </m:r>
                    <m:sSubSup>
                      <m:sSubSupPr>
                        <m:ctrlPr>
                          <a:rPr lang="en-US" sz="2000" b="0" i="1" dirty="0" smtClean="0">
                            <a:latin typeface="Cambria Math" panose="02040503050406030204" pitchFamily="18" charset="0"/>
                            <a:ea typeface="Cambria Math" charset="0"/>
                            <a:cs typeface="Cambria Math" charset="0"/>
                          </a:rPr>
                        </m:ctrlPr>
                      </m:sSubSupPr>
                      <m:e>
                        <m:r>
                          <a:rPr lang="en-US" sz="2000" b="0" i="1" dirty="0" smtClean="0">
                            <a:latin typeface="Cambria Math" charset="0"/>
                            <a:ea typeface="Cambria Math" charset="0"/>
                            <a:cs typeface="Cambria Math" charset="0"/>
                          </a:rPr>
                          <m:t>𝑥</m:t>
                        </m:r>
                      </m:e>
                      <m:sub>
                        <m:r>
                          <a:rPr lang="en-US" sz="2000" b="0" i="1" dirty="0" smtClean="0">
                            <a:latin typeface="Cambria Math" charset="0"/>
                            <a:ea typeface="Cambria Math" charset="0"/>
                            <a:cs typeface="Cambria Math" charset="0"/>
                          </a:rPr>
                          <m:t>1,</m:t>
                        </m:r>
                        <m:r>
                          <a:rPr lang="en-US" sz="2000" b="0" i="1" dirty="0" smtClean="0">
                            <a:latin typeface="Cambria Math" charset="0"/>
                            <a:ea typeface="Cambria Math" charset="0"/>
                            <a:cs typeface="Cambria Math" charset="0"/>
                          </a:rPr>
                          <m:t>𝑡</m:t>
                        </m:r>
                      </m:sub>
                      <m:sup>
                        <m:r>
                          <a:rPr lang="en-US" sz="2000" b="0" i="1" dirty="0" smtClean="0">
                            <a:latin typeface="Cambria Math" charset="0"/>
                            <a:ea typeface="Cambria Math" charset="0"/>
                            <a:cs typeface="Cambria Math" charset="0"/>
                          </a:rPr>
                          <m:t>(</m:t>
                        </m:r>
                        <m:r>
                          <a:rPr lang="en-US" sz="2000" b="0" i="1" dirty="0" smtClean="0">
                            <a:latin typeface="Cambria Math" charset="0"/>
                            <a:ea typeface="Cambria Math" charset="0"/>
                            <a:cs typeface="Cambria Math" charset="0"/>
                          </a:rPr>
                          <m:t>𝑚</m:t>
                        </m:r>
                        <m:r>
                          <a:rPr lang="en-US" sz="2000" b="0" i="1" dirty="0" smtClean="0">
                            <a:latin typeface="Cambria Math" charset="0"/>
                            <a:ea typeface="Cambria Math" charset="0"/>
                            <a:cs typeface="Cambria Math" charset="0"/>
                          </a:rPr>
                          <m:t>,</m:t>
                        </m:r>
                        <m:r>
                          <a:rPr lang="en-US" sz="2000" b="0" i="1" dirty="0" smtClean="0">
                            <a:latin typeface="Cambria Math" charset="0"/>
                            <a:ea typeface="Cambria Math" charset="0"/>
                            <a:cs typeface="Cambria Math" charset="0"/>
                          </a:rPr>
                          <m:t>𝑛</m:t>
                        </m:r>
                        <m:r>
                          <a:rPr lang="en-US" sz="2000" b="0" i="1" dirty="0" smtClean="0">
                            <a:latin typeface="Cambria Math" charset="0"/>
                            <a:ea typeface="Cambria Math" charset="0"/>
                            <a:cs typeface="Cambria Math" charset="0"/>
                          </a:rPr>
                          <m:t>)</m:t>
                        </m:r>
                      </m:sup>
                    </m:sSubSup>
                    <m:r>
                      <a:rPr lang="en-US" sz="2000" b="0" i="0" dirty="0" smtClean="0">
                        <a:latin typeface="Cambria Math" charset="0"/>
                        <a:ea typeface="Cambria Math" charset="0"/>
                        <a:cs typeface="Cambria Math" charset="0"/>
                      </a:rPr>
                      <m:t>)</m:t>
                    </m:r>
                  </m:oMath>
                </a14:m>
                <a:endParaRPr lang="en-US" sz="2000" dirty="0"/>
              </a:p>
            </p:txBody>
          </p:sp>
        </mc:Choice>
        <mc:Fallback>
          <p:sp>
            <p:nvSpPr>
              <p:cNvPr id="18" name="TextBox 17"/>
              <p:cNvSpPr txBox="1">
                <a:spLocks noRot="1" noChangeAspect="1" noMove="1" noResize="1" noEditPoints="1" noAdjustHandles="1" noChangeArrowheads="1" noChangeShapeType="1" noTextEdit="1"/>
              </p:cNvSpPr>
              <p:nvPr/>
            </p:nvSpPr>
            <p:spPr>
              <a:xfrm>
                <a:off x="3439583" y="5925458"/>
                <a:ext cx="4531861" cy="409536"/>
              </a:xfrm>
              <a:prstGeom prst="rect">
                <a:avLst/>
              </a:prstGeom>
              <a:blipFill>
                <a:blip r:embed="rId4"/>
                <a:stretch>
                  <a:fillRect l="-3360" t="-4478" b="-29851"/>
                </a:stretch>
              </a:blipFill>
            </p:spPr>
            <p:txBody>
              <a:bodyPr/>
              <a:lstStyle/>
              <a:p>
                <a:r>
                  <a:rPr lang="zh-TW" altLang="en-US">
                    <a:noFill/>
                  </a:rPr>
                  <a:t> </a:t>
                </a:r>
              </a:p>
            </p:txBody>
          </p:sp>
        </mc:Fallback>
      </mc:AlternateContent>
      <p:sp>
        <p:nvSpPr>
          <p:cNvPr id="20" name="TextBox 19"/>
          <p:cNvSpPr txBox="1"/>
          <p:nvPr/>
        </p:nvSpPr>
        <p:spPr>
          <a:xfrm>
            <a:off x="2159680" y="4083745"/>
            <a:ext cx="1129027" cy="400110"/>
          </a:xfrm>
          <a:prstGeom prst="rect">
            <a:avLst/>
          </a:prstGeom>
          <a:noFill/>
        </p:spPr>
        <p:txBody>
          <a:bodyPr wrap="none" rtlCol="0">
            <a:spAutoFit/>
          </a:bodyPr>
          <a:lstStyle/>
          <a:p>
            <a:r>
              <a:rPr lang="en-US" sz="2000"/>
              <a:t>Example</a:t>
            </a:r>
            <a:r>
              <a:rPr lang="en-US"/>
              <a:t>:</a:t>
            </a:r>
          </a:p>
        </p:txBody>
      </p:sp>
      <p:cxnSp>
        <p:nvCxnSpPr>
          <p:cNvPr id="23" name="Straight Connector 22"/>
          <p:cNvCxnSpPr/>
          <p:nvPr/>
        </p:nvCxnSpPr>
        <p:spPr>
          <a:xfrm flipV="1">
            <a:off x="218364" y="3316406"/>
            <a:ext cx="3480179" cy="419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V="1">
            <a:off x="3698543" y="851131"/>
            <a:ext cx="682388" cy="24652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4380931" y="851131"/>
            <a:ext cx="709684" cy="246527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flipV="1">
            <a:off x="5090615" y="3316406"/>
            <a:ext cx="614898" cy="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Oval 33"/>
          <p:cNvSpPr/>
          <p:nvPr/>
        </p:nvSpPr>
        <p:spPr>
          <a:xfrm>
            <a:off x="7894676" y="3393950"/>
            <a:ext cx="327546" cy="26151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7908964" y="509143"/>
            <a:ext cx="327546" cy="26151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4220949" y="494856"/>
            <a:ext cx="327546" cy="261518"/>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p:cNvPicPr>
            <a:picLocks noChangeAspect="1"/>
          </p:cNvPicPr>
          <p:nvPr/>
        </p:nvPicPr>
        <p:blipFill>
          <a:blip r:embed="rId5"/>
          <a:stretch>
            <a:fillRect/>
          </a:stretch>
        </p:blipFill>
        <p:spPr>
          <a:xfrm>
            <a:off x="3265122" y="4760516"/>
            <a:ext cx="6123481" cy="942074"/>
          </a:xfrm>
          <a:prstGeom prst="rect">
            <a:avLst/>
          </a:prstGeom>
        </p:spPr>
      </p:pic>
    </p:spTree>
    <p:extLst>
      <p:ext uri="{BB962C8B-B14F-4D97-AF65-F5344CB8AC3E}">
        <p14:creationId xmlns:p14="http://schemas.microsoft.com/office/powerpoint/2010/main" val="191438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0" y="0"/>
            <a:ext cx="5985108" cy="3852619"/>
          </a:xfrm>
          <a:prstGeom prst="rect">
            <a:avLst/>
          </a:prstGeom>
        </p:spPr>
      </p:pic>
      <p:pic>
        <p:nvPicPr>
          <p:cNvPr id="5" name="Picture 4"/>
          <p:cNvPicPr>
            <a:picLocks noChangeAspect="1"/>
          </p:cNvPicPr>
          <p:nvPr/>
        </p:nvPicPr>
        <p:blipFill>
          <a:blip r:embed="rId3"/>
          <a:stretch>
            <a:fillRect/>
          </a:stretch>
        </p:blipFill>
        <p:spPr>
          <a:xfrm>
            <a:off x="6366933" y="-1"/>
            <a:ext cx="5825067" cy="3852619"/>
          </a:xfrm>
          <a:prstGeom prst="rect">
            <a:avLst/>
          </a:prstGeom>
        </p:spPr>
      </p:pic>
      <p:pic>
        <p:nvPicPr>
          <p:cNvPr id="6" name="Picture 5"/>
          <p:cNvPicPr>
            <a:picLocks noChangeAspect="1"/>
          </p:cNvPicPr>
          <p:nvPr/>
        </p:nvPicPr>
        <p:blipFill>
          <a:blip r:embed="rId4"/>
          <a:stretch>
            <a:fillRect/>
          </a:stretch>
        </p:blipFill>
        <p:spPr>
          <a:xfrm>
            <a:off x="0" y="4578493"/>
            <a:ext cx="1231900" cy="495300"/>
          </a:xfrm>
          <a:prstGeom prst="rect">
            <a:avLst/>
          </a:prstGeom>
        </p:spPr>
      </p:pic>
      <p:pic>
        <p:nvPicPr>
          <p:cNvPr id="7" name="Picture 6"/>
          <p:cNvPicPr>
            <a:picLocks noChangeAspect="1"/>
          </p:cNvPicPr>
          <p:nvPr/>
        </p:nvPicPr>
        <p:blipFill>
          <a:blip r:embed="rId5"/>
          <a:stretch>
            <a:fillRect/>
          </a:stretch>
        </p:blipFill>
        <p:spPr>
          <a:xfrm>
            <a:off x="0" y="5117581"/>
            <a:ext cx="5687484" cy="726545"/>
          </a:xfrm>
          <a:prstGeom prst="rect">
            <a:avLst/>
          </a:prstGeom>
        </p:spPr>
      </p:pic>
      <p:pic>
        <p:nvPicPr>
          <p:cNvPr id="8" name="Picture 7"/>
          <p:cNvPicPr>
            <a:picLocks noChangeAspect="1"/>
          </p:cNvPicPr>
          <p:nvPr/>
        </p:nvPicPr>
        <p:blipFill>
          <a:blip r:embed="rId6"/>
          <a:stretch>
            <a:fillRect/>
          </a:stretch>
        </p:blipFill>
        <p:spPr>
          <a:xfrm>
            <a:off x="6114197" y="4534703"/>
            <a:ext cx="1244600" cy="508000"/>
          </a:xfrm>
          <a:prstGeom prst="rect">
            <a:avLst/>
          </a:prstGeom>
        </p:spPr>
      </p:pic>
      <p:pic>
        <p:nvPicPr>
          <p:cNvPr id="9" name="Picture 8"/>
          <p:cNvPicPr>
            <a:picLocks noChangeAspect="1"/>
          </p:cNvPicPr>
          <p:nvPr/>
        </p:nvPicPr>
        <p:blipFill>
          <a:blip r:embed="rId7"/>
          <a:stretch>
            <a:fillRect/>
          </a:stretch>
        </p:blipFill>
        <p:spPr>
          <a:xfrm>
            <a:off x="6114197" y="5042703"/>
            <a:ext cx="5853872" cy="801423"/>
          </a:xfrm>
          <a:prstGeom prst="rect">
            <a:avLst/>
          </a:prstGeom>
        </p:spPr>
      </p:pic>
    </p:spTree>
    <p:extLst>
      <p:ext uri="{BB962C8B-B14F-4D97-AF65-F5344CB8AC3E}">
        <p14:creationId xmlns:p14="http://schemas.microsoft.com/office/powerpoint/2010/main" val="393943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68729" y="998120"/>
            <a:ext cx="6299200" cy="4902200"/>
          </a:xfrm>
          <a:prstGeom prst="rect">
            <a:avLst/>
          </a:prstGeom>
        </p:spPr>
      </p:pic>
    </p:spTree>
    <p:extLst>
      <p:ext uri="{BB962C8B-B14F-4D97-AF65-F5344CB8AC3E}">
        <p14:creationId xmlns:p14="http://schemas.microsoft.com/office/powerpoint/2010/main" val="310757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992573" y="1659801"/>
            <a:ext cx="2349500" cy="469900"/>
          </a:xfrm>
          <a:prstGeom prst="rect">
            <a:avLst/>
          </a:prstGeom>
        </p:spPr>
      </p:pic>
      <p:pic>
        <p:nvPicPr>
          <p:cNvPr id="5" name="Picture 4"/>
          <p:cNvPicPr>
            <a:picLocks noChangeAspect="1"/>
          </p:cNvPicPr>
          <p:nvPr/>
        </p:nvPicPr>
        <p:blipFill>
          <a:blip r:embed="rId3"/>
          <a:stretch>
            <a:fillRect/>
          </a:stretch>
        </p:blipFill>
        <p:spPr>
          <a:xfrm>
            <a:off x="1992573" y="2155715"/>
            <a:ext cx="3695700" cy="533400"/>
          </a:xfrm>
          <a:prstGeom prst="rect">
            <a:avLst/>
          </a:prstGeom>
        </p:spPr>
      </p:pic>
      <p:pic>
        <p:nvPicPr>
          <p:cNvPr id="6" name="Picture 5"/>
          <p:cNvPicPr>
            <a:picLocks noChangeAspect="1"/>
          </p:cNvPicPr>
          <p:nvPr/>
        </p:nvPicPr>
        <p:blipFill>
          <a:blip r:embed="rId4"/>
          <a:stretch>
            <a:fillRect/>
          </a:stretch>
        </p:blipFill>
        <p:spPr>
          <a:xfrm>
            <a:off x="1992573" y="884046"/>
            <a:ext cx="4089400" cy="457200"/>
          </a:xfrm>
          <a:prstGeom prst="rect">
            <a:avLst/>
          </a:prstGeom>
        </p:spPr>
      </p:pic>
      <p:pic>
        <p:nvPicPr>
          <p:cNvPr id="7" name="Picture 6"/>
          <p:cNvPicPr>
            <a:picLocks noChangeAspect="1"/>
          </p:cNvPicPr>
          <p:nvPr/>
        </p:nvPicPr>
        <p:blipFill>
          <a:blip r:embed="rId5"/>
          <a:stretch>
            <a:fillRect/>
          </a:stretch>
        </p:blipFill>
        <p:spPr>
          <a:xfrm>
            <a:off x="1960823" y="2746572"/>
            <a:ext cx="2413000" cy="444500"/>
          </a:xfrm>
          <a:prstGeom prst="rect">
            <a:avLst/>
          </a:prstGeom>
        </p:spPr>
      </p:pic>
      <p:pic>
        <p:nvPicPr>
          <p:cNvPr id="8" name="Picture 7"/>
          <p:cNvPicPr>
            <a:picLocks noChangeAspect="1"/>
          </p:cNvPicPr>
          <p:nvPr/>
        </p:nvPicPr>
        <p:blipFill>
          <a:blip r:embed="rId6"/>
          <a:stretch>
            <a:fillRect/>
          </a:stretch>
        </p:blipFill>
        <p:spPr>
          <a:xfrm>
            <a:off x="6081973" y="909446"/>
            <a:ext cx="2781300" cy="431800"/>
          </a:xfrm>
          <a:prstGeom prst="rect">
            <a:avLst/>
          </a:prstGeom>
        </p:spPr>
      </p:pic>
      <p:sp>
        <p:nvSpPr>
          <p:cNvPr id="3" name="Rectangle 2"/>
          <p:cNvSpPr/>
          <p:nvPr/>
        </p:nvSpPr>
        <p:spPr>
          <a:xfrm>
            <a:off x="1151151" y="3632776"/>
            <a:ext cx="5955476" cy="461665"/>
          </a:xfrm>
          <a:prstGeom prst="rect">
            <a:avLst/>
          </a:prstGeom>
        </p:spPr>
        <p:txBody>
          <a:bodyPr wrap="none">
            <a:spAutoFit/>
          </a:bodyPr>
          <a:lstStyle/>
          <a:p>
            <a:r>
              <a:rPr lang="en-US" sz="2400" dirty="0">
                <a:latin typeface="Times" charset="0"/>
              </a:rPr>
              <a:t>minimizes the weighted summation of error</a:t>
            </a:r>
            <a:r>
              <a:rPr lang="zh-TW" altLang="en-US" sz="2400" dirty="0">
                <a:latin typeface="Times" charset="0"/>
              </a:rPr>
              <a:t>：</a:t>
            </a:r>
            <a:r>
              <a:rPr lang="en-US" sz="2400" dirty="0">
                <a:latin typeface="Times" charset="0"/>
              </a:rPr>
              <a:t> </a:t>
            </a:r>
            <a:endParaRPr lang="en-US" sz="2400" dirty="0"/>
          </a:p>
        </p:txBody>
      </p:sp>
      <p:sp>
        <p:nvSpPr>
          <p:cNvPr id="12" name="Curved Right Arrow 11"/>
          <p:cNvSpPr/>
          <p:nvPr/>
        </p:nvSpPr>
        <p:spPr>
          <a:xfrm>
            <a:off x="1151151" y="1130123"/>
            <a:ext cx="809672" cy="1838699"/>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14" name="TextBox 13"/>
              <p:cNvSpPr txBox="1"/>
              <p:nvPr/>
            </p:nvSpPr>
            <p:spPr>
              <a:xfrm>
                <a:off x="3167323" y="4348875"/>
                <a:ext cx="5449825" cy="137845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mr-IN" sz="3200" i="1" smtClean="0">
                              <a:latin typeface="Cambria Math" panose="02040503050406030204" pitchFamily="18" charset="0"/>
                            </a:rPr>
                          </m:ctrlPr>
                        </m:funcPr>
                        <m:fName>
                          <m:limLow>
                            <m:limLowPr>
                              <m:ctrlPr>
                                <a:rPr lang="mr-IN" sz="3200" i="1" smtClean="0">
                                  <a:latin typeface="Cambria Math" panose="02040503050406030204" pitchFamily="18" charset="0"/>
                                </a:rPr>
                              </m:ctrlPr>
                            </m:limLowPr>
                            <m:e>
                              <m:r>
                                <m:rPr>
                                  <m:sty m:val="p"/>
                                </m:rPr>
                                <a:rPr lang="en-US" sz="3200" b="0" i="0" smtClean="0">
                                  <a:latin typeface="Cambria Math" charset="0"/>
                                </a:rPr>
                                <m:t>arg</m:t>
                              </m:r>
                              <m:r>
                                <m:rPr>
                                  <m:sty m:val="p"/>
                                </m:rPr>
                                <a:rPr lang="mr-IN" sz="3200" i="0" smtClean="0">
                                  <a:latin typeface="Cambria Math" charset="0"/>
                                </a:rPr>
                                <m:t>min</m:t>
                              </m:r>
                            </m:e>
                            <m:lim>
                              <m:sSub>
                                <m:sSubPr>
                                  <m:ctrlPr>
                                    <a:rPr lang="en-US" sz="3200" i="1" smtClean="0">
                                      <a:latin typeface="Cambria Math" panose="02040503050406030204" pitchFamily="18" charset="0"/>
                                    </a:rPr>
                                  </m:ctrlPr>
                                </m:sSubPr>
                                <m:e>
                                  <m:r>
                                    <a:rPr lang="en-US" sz="3200" b="0" i="1" smtClean="0">
                                      <a:latin typeface="Cambria Math" charset="0"/>
                                    </a:rPr>
                                    <m:t>𝑎</m:t>
                                  </m:r>
                                </m:e>
                                <m:sub>
                                  <m:r>
                                    <a:rPr lang="en-US" sz="3200" b="0" i="1" smtClean="0">
                                      <a:latin typeface="Cambria Math" charset="0"/>
                                    </a:rPr>
                                    <m:t>𝑡</m:t>
                                  </m:r>
                                </m:sub>
                              </m:sSub>
                            </m:lim>
                          </m:limLow>
                        </m:fName>
                        <m:e>
                          <m:nary>
                            <m:naryPr>
                              <m:chr m:val="∑"/>
                              <m:ctrlPr>
                                <a:rPr lang="is-IS" altLang="zh-TW" sz="3200" i="1">
                                  <a:latin typeface="Cambria Math" panose="02040503050406030204" pitchFamily="18" charset="0"/>
                                </a:rPr>
                              </m:ctrlPr>
                            </m:naryPr>
                            <m:sub>
                              <m:r>
                                <m:rPr>
                                  <m:brk m:alnAt="23"/>
                                </m:rPr>
                                <a:rPr lang="en-US" altLang="zh-TW" sz="3200" i="1">
                                  <a:latin typeface="Cambria Math" charset="0"/>
                                </a:rPr>
                                <m:t>𝑖</m:t>
                              </m:r>
                              <m:r>
                                <a:rPr lang="en-US" altLang="zh-TW" sz="3200" i="1">
                                  <a:latin typeface="Cambria Math" charset="0"/>
                                </a:rPr>
                                <m:t>=1</m:t>
                              </m:r>
                            </m:sub>
                            <m:sup>
                              <m:r>
                                <a:rPr lang="en-US" altLang="zh-TW" sz="3200" i="1">
                                  <a:latin typeface="Cambria Math" charset="0"/>
                                </a:rPr>
                                <m:t>𝑡</m:t>
                              </m:r>
                            </m:sup>
                            <m:e>
                              <m:sSup>
                                <m:sSupPr>
                                  <m:ctrlPr>
                                    <a:rPr lang="en-US" altLang="zh-TW" sz="3200" i="1">
                                      <a:latin typeface="Cambria Math" panose="02040503050406030204" pitchFamily="18" charset="0"/>
                                      <a:ea typeface="Cambria Math" charset="0"/>
                                      <a:cs typeface="Cambria Math" charset="0"/>
                                    </a:rPr>
                                  </m:ctrlPr>
                                </m:sSupPr>
                                <m:e>
                                  <m:sSup>
                                    <m:sSupPr>
                                      <m:ctrlPr>
                                        <a:rPr lang="is-IS" altLang="zh-TW" sz="3200" i="1">
                                          <a:latin typeface="Cambria Math" panose="02040503050406030204" pitchFamily="18" charset="0"/>
                                          <a:ea typeface="Cambria Math" charset="0"/>
                                          <a:cs typeface="Cambria Math" charset="0"/>
                                        </a:rPr>
                                      </m:ctrlPr>
                                    </m:sSupPr>
                                    <m:e>
                                      <m:r>
                                        <a:rPr lang="is-IS" altLang="zh-TW" sz="3200" i="1">
                                          <a:latin typeface="Cambria Math" charset="0"/>
                                          <a:ea typeface="Cambria Math" charset="0"/>
                                          <a:cs typeface="Cambria Math" charset="0"/>
                                        </a:rPr>
                                        <m:t>𝜆</m:t>
                                      </m:r>
                                    </m:e>
                                    <m:sup>
                                      <m:r>
                                        <a:rPr lang="en-US" altLang="zh-TW" sz="3200" i="1">
                                          <a:latin typeface="Cambria Math" charset="0"/>
                                          <a:ea typeface="Cambria Math" charset="0"/>
                                          <a:cs typeface="Cambria Math" charset="0"/>
                                        </a:rPr>
                                        <m:t>𝑡</m:t>
                                      </m:r>
                                      <m:r>
                                        <a:rPr lang="en-US" altLang="zh-TW" sz="3200" i="1">
                                          <a:latin typeface="Cambria Math" charset="0"/>
                                          <a:ea typeface="Cambria Math" charset="0"/>
                                          <a:cs typeface="Cambria Math" charset="0"/>
                                        </a:rPr>
                                        <m:t>−</m:t>
                                      </m:r>
                                      <m:r>
                                        <a:rPr lang="en-US" altLang="zh-TW" sz="3200" i="1">
                                          <a:latin typeface="Cambria Math" charset="0"/>
                                          <a:ea typeface="Cambria Math" charset="0"/>
                                          <a:cs typeface="Cambria Math" charset="0"/>
                                        </a:rPr>
                                        <m:t>𝑖</m:t>
                                      </m:r>
                                    </m:sup>
                                  </m:sSup>
                                  <m:r>
                                    <a:rPr lang="en-US" altLang="zh-TW" sz="3200" i="1">
                                      <a:latin typeface="Cambria Math" charset="0"/>
                                      <a:ea typeface="Cambria Math" charset="0"/>
                                      <a:cs typeface="Cambria Math" charset="0"/>
                                    </a:rPr>
                                    <m:t>(</m:t>
                                  </m:r>
                                  <m:sSub>
                                    <m:sSubPr>
                                      <m:ctrlPr>
                                        <a:rPr lang="en-US" altLang="zh-TW" sz="3200" i="1">
                                          <a:latin typeface="Cambria Math" panose="02040503050406030204" pitchFamily="18" charset="0"/>
                                          <a:ea typeface="Cambria Math" charset="0"/>
                                          <a:cs typeface="Cambria Math" charset="0"/>
                                        </a:rPr>
                                      </m:ctrlPr>
                                    </m:sSubPr>
                                    <m:e>
                                      <m:r>
                                        <a:rPr lang="en-US" altLang="zh-TW" sz="3200" i="1">
                                          <a:latin typeface="Cambria Math" charset="0"/>
                                          <a:ea typeface="Cambria Math" charset="0"/>
                                          <a:cs typeface="Cambria Math" charset="0"/>
                                        </a:rPr>
                                        <m:t>𝑟</m:t>
                                      </m:r>
                                    </m:e>
                                    <m:sub>
                                      <m:r>
                                        <a:rPr lang="en-US" altLang="zh-TW" sz="3200" i="1">
                                          <a:latin typeface="Cambria Math" charset="0"/>
                                          <a:ea typeface="Cambria Math" charset="0"/>
                                          <a:cs typeface="Cambria Math" charset="0"/>
                                        </a:rPr>
                                        <m:t>𝑖</m:t>
                                      </m:r>
                                      <m:r>
                                        <a:rPr lang="en-US" altLang="zh-TW" sz="3200" i="1">
                                          <a:latin typeface="Cambria Math" charset="0"/>
                                          <a:ea typeface="Cambria Math" charset="0"/>
                                          <a:cs typeface="Cambria Math" charset="0"/>
                                        </a:rPr>
                                        <m:t>+1</m:t>
                                      </m:r>
                                    </m:sub>
                                  </m:sSub>
                                  <m:r>
                                    <a:rPr lang="en-US" altLang="zh-TW" sz="3200" i="1">
                                      <a:latin typeface="Cambria Math" charset="0"/>
                                      <a:ea typeface="Cambria Math" charset="0"/>
                                      <a:cs typeface="Cambria Math" charset="0"/>
                                    </a:rPr>
                                    <m:t>−</m:t>
                                  </m:r>
                                  <m:sSubSup>
                                    <m:sSubSupPr>
                                      <m:ctrlPr>
                                        <a:rPr lang="en-US" altLang="zh-TW" sz="3200" i="1">
                                          <a:latin typeface="Cambria Math" panose="02040503050406030204" pitchFamily="18" charset="0"/>
                                          <a:ea typeface="Cambria Math" charset="0"/>
                                          <a:cs typeface="Cambria Math" charset="0"/>
                                        </a:rPr>
                                      </m:ctrlPr>
                                    </m:sSubSupPr>
                                    <m:e>
                                      <m:r>
                                        <a:rPr lang="en-US" altLang="zh-TW" sz="3200" i="1">
                                          <a:latin typeface="Cambria Math" charset="0"/>
                                          <a:ea typeface="Cambria Math" charset="0"/>
                                          <a:cs typeface="Cambria Math" charset="0"/>
                                        </a:rPr>
                                        <m:t>𝑒𝑑</m:t>
                                      </m:r>
                                    </m:e>
                                    <m:sub>
                                      <m:r>
                                        <a:rPr lang="en-US" altLang="zh-TW" sz="3200" i="1">
                                          <a:latin typeface="Cambria Math" charset="0"/>
                                          <a:ea typeface="Cambria Math" charset="0"/>
                                          <a:cs typeface="Cambria Math" charset="0"/>
                                        </a:rPr>
                                        <m:t>𝑖</m:t>
                                      </m:r>
                                    </m:sub>
                                    <m:sup>
                                      <m:r>
                                        <a:rPr lang="en-US" altLang="zh-TW" sz="3200" i="1">
                                          <a:latin typeface="Cambria Math" charset="0"/>
                                          <a:ea typeface="Cambria Math" charset="0"/>
                                          <a:cs typeface="Cambria Math" charset="0"/>
                                        </a:rPr>
                                        <m:t>𝑇</m:t>
                                      </m:r>
                                    </m:sup>
                                  </m:sSubSup>
                                  <m:sSub>
                                    <m:sSubPr>
                                      <m:ctrlPr>
                                        <a:rPr lang="en-US" altLang="zh-TW" sz="3200" i="1">
                                          <a:latin typeface="Cambria Math" panose="02040503050406030204" pitchFamily="18" charset="0"/>
                                          <a:ea typeface="Cambria Math" charset="0"/>
                                          <a:cs typeface="Cambria Math" charset="0"/>
                                        </a:rPr>
                                      </m:ctrlPr>
                                    </m:sSubPr>
                                    <m:e>
                                      <m:r>
                                        <a:rPr lang="en-US" altLang="zh-TW" sz="3200" i="1">
                                          <a:latin typeface="Cambria Math" charset="0"/>
                                          <a:ea typeface="Cambria Math" charset="0"/>
                                          <a:cs typeface="Cambria Math" charset="0"/>
                                        </a:rPr>
                                        <m:t>𝑎</m:t>
                                      </m:r>
                                    </m:e>
                                    <m:sub>
                                      <m:r>
                                        <a:rPr lang="en-US" altLang="zh-TW" sz="3200" i="1">
                                          <a:latin typeface="Cambria Math" charset="0"/>
                                          <a:ea typeface="Cambria Math" charset="0"/>
                                          <a:cs typeface="Cambria Math" charset="0"/>
                                        </a:rPr>
                                        <m:t>𝑖</m:t>
                                      </m:r>
                                    </m:sub>
                                  </m:sSub>
                                  <m:r>
                                    <a:rPr lang="en-US" altLang="zh-TW" sz="3200" i="1">
                                      <a:latin typeface="Cambria Math" charset="0"/>
                                      <a:ea typeface="Cambria Math" charset="0"/>
                                      <a:cs typeface="Cambria Math" charset="0"/>
                                    </a:rPr>
                                    <m:t>)</m:t>
                                  </m:r>
                                </m:e>
                                <m:sup>
                                  <m:r>
                                    <a:rPr lang="en-US" altLang="zh-TW" sz="3200" i="1">
                                      <a:latin typeface="Cambria Math" charset="0"/>
                                      <a:ea typeface="Cambria Math" charset="0"/>
                                      <a:cs typeface="Cambria Math" charset="0"/>
                                    </a:rPr>
                                    <m:t>2</m:t>
                                  </m:r>
                                </m:sup>
                              </m:sSup>
                            </m:e>
                          </m:nary>
                        </m:e>
                      </m:func>
                    </m:oMath>
                  </m:oMathPara>
                </a14:m>
                <a:endParaRPr lang="en-US" sz="3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3167323" y="4348875"/>
                <a:ext cx="5449825" cy="1378454"/>
              </a:xfrm>
              <a:prstGeom prst="rect">
                <a:avLst/>
              </a:prstGeom>
              <a:blipFill rotWithShape="0">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4131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65613" y="474354"/>
            <a:ext cx="6438900" cy="5854700"/>
          </a:xfrm>
          <a:prstGeom prst="rect">
            <a:avLst/>
          </a:prstGeom>
        </p:spPr>
      </p:pic>
      <p:pic>
        <p:nvPicPr>
          <p:cNvPr id="5" name="Picture 4"/>
          <p:cNvPicPr>
            <a:picLocks noChangeAspect="1"/>
          </p:cNvPicPr>
          <p:nvPr/>
        </p:nvPicPr>
        <p:blipFill>
          <a:blip r:embed="rId3"/>
          <a:stretch>
            <a:fillRect/>
          </a:stretch>
        </p:blipFill>
        <p:spPr>
          <a:xfrm>
            <a:off x="7277101" y="3107266"/>
            <a:ext cx="4343400" cy="1016000"/>
          </a:xfrm>
          <a:prstGeom prst="rect">
            <a:avLst/>
          </a:prstGeom>
        </p:spPr>
      </p:pic>
    </p:spTree>
    <p:extLst>
      <p:ext uri="{BB962C8B-B14F-4D97-AF65-F5344CB8AC3E}">
        <p14:creationId xmlns:p14="http://schemas.microsoft.com/office/powerpoint/2010/main" val="298022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01433" y="336551"/>
            <a:ext cx="5601526" cy="5132916"/>
          </a:xfrm>
          <a:prstGeom prst="rect">
            <a:avLst/>
          </a:prstGeom>
        </p:spPr>
      </p:pic>
      <p:pic>
        <p:nvPicPr>
          <p:cNvPr id="5" name="Picture 4"/>
          <p:cNvPicPr>
            <a:picLocks noChangeAspect="1"/>
          </p:cNvPicPr>
          <p:nvPr/>
        </p:nvPicPr>
        <p:blipFill>
          <a:blip r:embed="rId3"/>
          <a:stretch>
            <a:fillRect/>
          </a:stretch>
        </p:blipFill>
        <p:spPr>
          <a:xfrm>
            <a:off x="3547946" y="5897034"/>
            <a:ext cx="4508500" cy="584200"/>
          </a:xfrm>
          <a:prstGeom prst="rect">
            <a:avLst/>
          </a:prstGeom>
        </p:spPr>
      </p:pic>
    </p:spTree>
    <p:extLst>
      <p:ext uri="{BB962C8B-B14F-4D97-AF65-F5344CB8AC3E}">
        <p14:creationId xmlns:p14="http://schemas.microsoft.com/office/powerpoint/2010/main" val="928124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412067" y="251883"/>
            <a:ext cx="5338943" cy="5369983"/>
          </a:xfrm>
          <a:prstGeom prst="rect">
            <a:avLst/>
          </a:prstGeom>
        </p:spPr>
      </p:pic>
      <p:pic>
        <p:nvPicPr>
          <p:cNvPr id="5" name="Picture 4"/>
          <p:cNvPicPr>
            <a:picLocks noChangeAspect="1"/>
          </p:cNvPicPr>
          <p:nvPr/>
        </p:nvPicPr>
        <p:blipFill>
          <a:blip r:embed="rId3"/>
          <a:stretch>
            <a:fillRect/>
          </a:stretch>
        </p:blipFill>
        <p:spPr>
          <a:xfrm>
            <a:off x="3683412" y="5947834"/>
            <a:ext cx="4508500" cy="584200"/>
          </a:xfrm>
          <a:prstGeom prst="rect">
            <a:avLst/>
          </a:prstGeom>
        </p:spPr>
      </p:pic>
    </p:spTree>
    <p:extLst>
      <p:ext uri="{BB962C8B-B14F-4D97-AF65-F5344CB8AC3E}">
        <p14:creationId xmlns:p14="http://schemas.microsoft.com/office/powerpoint/2010/main" val="18157517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16927" y="334992"/>
            <a:ext cx="6744658" cy="6023136"/>
          </a:xfrm>
          <a:prstGeom prst="rect">
            <a:avLst/>
          </a:prstGeom>
        </p:spPr>
      </p:pic>
    </p:spTree>
    <p:extLst>
      <p:ext uri="{BB962C8B-B14F-4D97-AF65-F5344CB8AC3E}">
        <p14:creationId xmlns:p14="http://schemas.microsoft.com/office/powerpoint/2010/main" val="21379065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321486" y="14370"/>
            <a:ext cx="5500818" cy="6843630"/>
          </a:xfrm>
          <a:prstGeom prst="rect">
            <a:avLst/>
          </a:prstGeom>
        </p:spPr>
      </p:pic>
      <p:pic>
        <p:nvPicPr>
          <p:cNvPr id="6" name="Picture 5"/>
          <p:cNvPicPr>
            <a:picLocks noChangeAspect="1"/>
          </p:cNvPicPr>
          <p:nvPr/>
        </p:nvPicPr>
        <p:blipFill>
          <a:blip r:embed="rId4"/>
          <a:stretch>
            <a:fillRect/>
          </a:stretch>
        </p:blipFill>
        <p:spPr>
          <a:xfrm>
            <a:off x="5595187" y="606721"/>
            <a:ext cx="6361026" cy="1330922"/>
          </a:xfrm>
          <a:prstGeom prst="rect">
            <a:avLst/>
          </a:prstGeom>
        </p:spPr>
      </p:pic>
      <p:pic>
        <p:nvPicPr>
          <p:cNvPr id="7" name="Picture 6"/>
          <p:cNvPicPr>
            <a:picLocks noChangeAspect="1"/>
          </p:cNvPicPr>
          <p:nvPr/>
        </p:nvPicPr>
        <p:blipFill>
          <a:blip r:embed="rId5"/>
          <a:stretch>
            <a:fillRect/>
          </a:stretch>
        </p:blipFill>
        <p:spPr>
          <a:xfrm>
            <a:off x="5658207" y="2351187"/>
            <a:ext cx="3824858" cy="1364423"/>
          </a:xfrm>
          <a:prstGeom prst="rect">
            <a:avLst/>
          </a:prstGeom>
        </p:spPr>
      </p:pic>
      <p:pic>
        <p:nvPicPr>
          <p:cNvPr id="8" name="Picture 7"/>
          <p:cNvPicPr>
            <a:picLocks noChangeAspect="1"/>
          </p:cNvPicPr>
          <p:nvPr/>
        </p:nvPicPr>
        <p:blipFill>
          <a:blip r:embed="rId6"/>
          <a:stretch>
            <a:fillRect/>
          </a:stretch>
        </p:blipFill>
        <p:spPr>
          <a:xfrm>
            <a:off x="5595187" y="3754411"/>
            <a:ext cx="6032589" cy="1532394"/>
          </a:xfrm>
          <a:prstGeom prst="rect">
            <a:avLst/>
          </a:prstGeom>
        </p:spPr>
      </p:pic>
    </p:spTree>
    <p:extLst>
      <p:ext uri="{BB962C8B-B14F-4D97-AF65-F5344CB8AC3E}">
        <p14:creationId xmlns:p14="http://schemas.microsoft.com/office/powerpoint/2010/main" val="15971896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403525" y="292100"/>
            <a:ext cx="11074400" cy="6565900"/>
          </a:xfrm>
          <a:prstGeom prst="rect">
            <a:avLst/>
          </a:prstGeom>
        </p:spPr>
      </p:pic>
    </p:spTree>
    <p:extLst>
      <p:ext uri="{BB962C8B-B14F-4D97-AF65-F5344CB8AC3E}">
        <p14:creationId xmlns:p14="http://schemas.microsoft.com/office/powerpoint/2010/main" val="5953116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72064" y="897147"/>
            <a:ext cx="7801467" cy="5299809"/>
          </a:xfrm>
          <a:prstGeom prst="rect">
            <a:avLst/>
          </a:prstGeom>
        </p:spPr>
      </p:pic>
    </p:spTree>
    <p:extLst>
      <p:ext uri="{BB962C8B-B14F-4D97-AF65-F5344CB8AC3E}">
        <p14:creationId xmlns:p14="http://schemas.microsoft.com/office/powerpoint/2010/main" val="21440868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p:cNvPicPr>
            <a:picLocks noGrp="1" noChangeAspect="1"/>
          </p:cNvPicPr>
          <p:nvPr>
            <p:ph idx="1"/>
          </p:nvPr>
        </p:nvPicPr>
        <p:blipFill>
          <a:blip r:embed="rId2"/>
          <a:stretch>
            <a:fillRect/>
          </a:stretch>
        </p:blipFill>
        <p:spPr>
          <a:xfrm>
            <a:off x="0" y="310111"/>
            <a:ext cx="7999054" cy="6159699"/>
          </a:xfrm>
          <a:prstGeom prst="rect">
            <a:avLst/>
          </a:prstGeom>
        </p:spPr>
      </p:pic>
      <p:pic>
        <p:nvPicPr>
          <p:cNvPr id="6" name="Picture 5"/>
          <p:cNvPicPr>
            <a:picLocks noChangeAspect="1"/>
          </p:cNvPicPr>
          <p:nvPr/>
        </p:nvPicPr>
        <p:blipFill>
          <a:blip r:embed="rId3"/>
          <a:stretch>
            <a:fillRect/>
          </a:stretch>
        </p:blipFill>
        <p:spPr>
          <a:xfrm>
            <a:off x="7723007" y="3389960"/>
            <a:ext cx="4050627" cy="775652"/>
          </a:xfrm>
          <a:prstGeom prst="rect">
            <a:avLst/>
          </a:prstGeom>
        </p:spPr>
      </p:pic>
      <p:pic>
        <p:nvPicPr>
          <p:cNvPr id="7" name="Picture 6"/>
          <p:cNvPicPr>
            <a:picLocks noChangeAspect="1"/>
          </p:cNvPicPr>
          <p:nvPr/>
        </p:nvPicPr>
        <p:blipFill>
          <a:blip r:embed="rId4"/>
          <a:stretch>
            <a:fillRect/>
          </a:stretch>
        </p:blipFill>
        <p:spPr>
          <a:xfrm>
            <a:off x="7723007" y="2190575"/>
            <a:ext cx="4468993" cy="935051"/>
          </a:xfrm>
          <a:prstGeom prst="rect">
            <a:avLst/>
          </a:prstGeom>
        </p:spPr>
      </p:pic>
    </p:spTree>
    <p:extLst>
      <p:ext uri="{BB962C8B-B14F-4D97-AF65-F5344CB8AC3E}">
        <p14:creationId xmlns:p14="http://schemas.microsoft.com/office/powerpoint/2010/main" val="685756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382654" y="168146"/>
            <a:ext cx="5880124" cy="1243467"/>
          </a:xfrm>
          <a:prstGeom prst="rect">
            <a:avLst/>
          </a:prstGeom>
        </p:spPr>
      </p:pic>
      <p:pic>
        <p:nvPicPr>
          <p:cNvPr id="6" name="Picture 5"/>
          <p:cNvPicPr>
            <a:picLocks noChangeAspect="1"/>
          </p:cNvPicPr>
          <p:nvPr/>
        </p:nvPicPr>
        <p:blipFill>
          <a:blip r:embed="rId4"/>
          <a:stretch>
            <a:fillRect/>
          </a:stretch>
        </p:blipFill>
        <p:spPr>
          <a:xfrm>
            <a:off x="4695862" y="1663911"/>
            <a:ext cx="6979522" cy="1578915"/>
          </a:xfrm>
          <a:prstGeom prst="rect">
            <a:avLst/>
          </a:prstGeom>
        </p:spPr>
      </p:pic>
      <p:pic>
        <p:nvPicPr>
          <p:cNvPr id="9" name="Picture 8"/>
          <p:cNvPicPr>
            <a:picLocks noChangeAspect="1"/>
          </p:cNvPicPr>
          <p:nvPr/>
        </p:nvPicPr>
        <p:blipFill>
          <a:blip r:embed="rId5"/>
          <a:stretch>
            <a:fillRect/>
          </a:stretch>
        </p:blipFill>
        <p:spPr>
          <a:xfrm>
            <a:off x="1203955" y="3242826"/>
            <a:ext cx="9490256" cy="3493925"/>
          </a:xfrm>
          <a:prstGeom prst="rect">
            <a:avLst/>
          </a:prstGeom>
        </p:spPr>
      </p:pic>
      <p:pic>
        <p:nvPicPr>
          <p:cNvPr id="11" name="Picture 10"/>
          <p:cNvPicPr>
            <a:picLocks noChangeAspect="1"/>
          </p:cNvPicPr>
          <p:nvPr/>
        </p:nvPicPr>
        <p:blipFill>
          <a:blip r:embed="rId6"/>
          <a:stretch>
            <a:fillRect/>
          </a:stretch>
        </p:blipFill>
        <p:spPr>
          <a:xfrm>
            <a:off x="382654" y="1735178"/>
            <a:ext cx="3954962" cy="1436379"/>
          </a:xfrm>
          <a:prstGeom prst="rect">
            <a:avLst/>
          </a:prstGeom>
        </p:spPr>
      </p:pic>
    </p:spTree>
    <p:extLst>
      <p:ext uri="{BB962C8B-B14F-4D97-AF65-F5344CB8AC3E}">
        <p14:creationId xmlns:p14="http://schemas.microsoft.com/office/powerpoint/2010/main" val="975383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1" y="175958"/>
            <a:ext cx="6633259" cy="5896230"/>
          </a:xfrm>
          <a:prstGeom prst="rect">
            <a:avLst/>
          </a:prstGeom>
        </p:spPr>
      </p:pic>
      <p:pic>
        <p:nvPicPr>
          <p:cNvPr id="2" name="Picture 1"/>
          <p:cNvPicPr>
            <a:picLocks noChangeAspect="1"/>
          </p:cNvPicPr>
          <p:nvPr/>
        </p:nvPicPr>
        <p:blipFill>
          <a:blip r:embed="rId4"/>
          <a:stretch>
            <a:fillRect/>
          </a:stretch>
        </p:blipFill>
        <p:spPr>
          <a:xfrm>
            <a:off x="6751455" y="4834488"/>
            <a:ext cx="2906895" cy="968965"/>
          </a:xfrm>
          <a:prstGeom prst="rect">
            <a:avLst/>
          </a:prstGeom>
        </p:spPr>
      </p:pic>
      <mc:AlternateContent xmlns:mc="http://schemas.openxmlformats.org/markup-compatibility/2006" xmlns:a14="http://schemas.microsoft.com/office/drawing/2010/main">
        <mc:Choice Requires="a14">
          <p:sp>
            <p:nvSpPr>
              <p:cNvPr id="6" name="TextBox 5"/>
              <p:cNvSpPr txBox="1"/>
              <p:nvPr/>
            </p:nvSpPr>
            <p:spPr>
              <a:xfrm>
                <a:off x="6039981" y="1415331"/>
                <a:ext cx="1685974" cy="274613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d>
                        <m:dPr>
                          <m:begChr m:val="{"/>
                          <m:endChr m:val=""/>
                          <m:ctrlPr>
                            <a:rPr lang="mr-IN" sz="8000" i="1" smtClean="0">
                              <a:latin typeface="Cambria Math" panose="02040503050406030204" pitchFamily="18" charset="0"/>
                            </a:rPr>
                          </m:ctrlPr>
                        </m:dPr>
                        <m:e>
                          <m:eqArr>
                            <m:eqArrPr>
                              <m:ctrlPr>
                                <a:rPr lang="mr-IN" sz="8000" i="1" smtClean="0">
                                  <a:latin typeface="Cambria Math" panose="02040503050406030204" pitchFamily="18" charset="0"/>
                                </a:rPr>
                              </m:ctrlPr>
                            </m:eqArrPr>
                            <m:e/>
                            <m:e/>
                          </m:eqArr>
                        </m:e>
                      </m:d>
                    </m:oMath>
                  </m:oMathPara>
                </a14:m>
                <a:endParaRPr lang="en-US" sz="8000" dirty="0"/>
              </a:p>
            </p:txBody>
          </p:sp>
        </mc:Choice>
        <mc:Fallback xmlns="">
          <p:sp>
            <p:nvSpPr>
              <p:cNvPr id="6" name="TextBox 5"/>
              <p:cNvSpPr txBox="1">
                <a:spLocks noRot="1" noChangeAspect="1" noMove="1" noResize="1" noEditPoints="1" noAdjustHandles="1" noChangeArrowheads="1" noChangeShapeType="1" noTextEdit="1"/>
              </p:cNvSpPr>
              <p:nvPr/>
            </p:nvSpPr>
            <p:spPr>
              <a:xfrm>
                <a:off x="6039981" y="1415331"/>
                <a:ext cx="1685974" cy="2746136"/>
              </a:xfrm>
              <a:prstGeom prst="rect">
                <a:avLst/>
              </a:prstGeom>
              <a:blipFill rotWithShape="0">
                <a:blip r:embed="rId5"/>
                <a:stretch>
                  <a:fillRect/>
                </a:stretch>
              </a:blipFill>
            </p:spPr>
            <p:txBody>
              <a:bodyPr/>
              <a:lstStyle/>
              <a:p>
                <a:r>
                  <a:rPr lang="en-US">
                    <a:noFill/>
                  </a:rPr>
                  <a:t> </a:t>
                </a:r>
              </a:p>
            </p:txBody>
          </p:sp>
        </mc:Fallback>
      </mc:AlternateContent>
      <p:pic>
        <p:nvPicPr>
          <p:cNvPr id="9" name="Picture 8"/>
          <p:cNvPicPr>
            <a:picLocks noChangeAspect="1"/>
          </p:cNvPicPr>
          <p:nvPr/>
        </p:nvPicPr>
        <p:blipFill>
          <a:blip r:embed="rId6"/>
          <a:stretch>
            <a:fillRect/>
          </a:stretch>
        </p:blipFill>
        <p:spPr>
          <a:xfrm>
            <a:off x="6633260" y="1415331"/>
            <a:ext cx="5417235" cy="1327869"/>
          </a:xfrm>
          <a:prstGeom prst="rect">
            <a:avLst/>
          </a:prstGeom>
        </p:spPr>
      </p:pic>
      <p:pic>
        <p:nvPicPr>
          <p:cNvPr id="12" name="Picture 11"/>
          <p:cNvPicPr>
            <a:picLocks noChangeAspect="1"/>
          </p:cNvPicPr>
          <p:nvPr/>
        </p:nvPicPr>
        <p:blipFill>
          <a:blip r:embed="rId7"/>
          <a:stretch>
            <a:fillRect/>
          </a:stretch>
        </p:blipFill>
        <p:spPr>
          <a:xfrm>
            <a:off x="6627433" y="2991336"/>
            <a:ext cx="5428890" cy="1506641"/>
          </a:xfrm>
          <a:prstGeom prst="rect">
            <a:avLst/>
          </a:prstGeom>
        </p:spPr>
      </p:pic>
    </p:spTree>
    <p:extLst>
      <p:ext uri="{BB962C8B-B14F-4D97-AF65-F5344CB8AC3E}">
        <p14:creationId xmlns:p14="http://schemas.microsoft.com/office/powerpoint/2010/main" val="18051748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3866</TotalTime>
  <Words>407</Words>
  <Application>Microsoft Office PowerPoint</Application>
  <PresentationFormat>寬螢幕</PresentationFormat>
  <Paragraphs>24</Paragraphs>
  <Slides>20</Slides>
  <Notes>4</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20</vt:i4>
      </vt:variant>
    </vt:vector>
  </HeadingPairs>
  <TitlesOfParts>
    <vt:vector size="30" baseType="lpstr">
      <vt:lpstr>Liberation Sans Narrow</vt:lpstr>
      <vt:lpstr>Mangal</vt:lpstr>
      <vt:lpstr>微軟正黑體</vt:lpstr>
      <vt:lpstr>新細明體</vt:lpstr>
      <vt:lpstr>Arial</vt:lpstr>
      <vt:lpstr>Calibri</vt:lpstr>
      <vt:lpstr>Calibri Light</vt:lpstr>
      <vt:lpstr>Cambria Math</vt:lpstr>
      <vt:lpstr>Times</vt:lpstr>
      <vt:lpstr>Office Theme</vt:lpstr>
      <vt:lpstr>Dynamical Models of Stock Prices Based on Technical Trading Rules—Part III: Application to Hong Kong Stocks </vt:lpstr>
      <vt:lpstr>Abstract(1/3) </vt:lpstr>
      <vt:lpstr>Abstract(2/3) </vt:lpstr>
      <vt:lpstr>Abstract(3/3)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Dynamical Models of Stock Prices Based on Technical Trading Rules—Part III: Application to Hong Kong Stocks </dc:title>
  <dc:creator>M053040058</dc:creator>
  <cp:lastModifiedBy>ike.liu</cp:lastModifiedBy>
  <cp:revision>25</cp:revision>
  <dcterms:created xsi:type="dcterms:W3CDTF">2017-05-08T09:43:55Z</dcterms:created>
  <dcterms:modified xsi:type="dcterms:W3CDTF">2017-06-06T10:20:51Z</dcterms:modified>
</cp:coreProperties>
</file>