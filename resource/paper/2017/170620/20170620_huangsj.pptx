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4" r:id="rId11"/>
    <p:sldId id="26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16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AC40B47-39FB-4CD5-A2D6-0A44DA1EFB13}"/>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B40C4D21-C41C-4A6D-84DD-6E95204A9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a:extLst>
              <a:ext uri="{FF2B5EF4-FFF2-40B4-BE49-F238E27FC236}">
                <a16:creationId xmlns:a16="http://schemas.microsoft.com/office/drawing/2014/main" xmlns="" id="{9D6685A2-B822-4517-AF9A-F7D295B897CA}"/>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FC1E41F1-AA2F-46A6-AA3B-06986EDA83D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E555B14-2153-4E30-9992-538038972C52}"/>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3148825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94A26F0-CC21-43A1-8D60-53EAECD88E9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E686461-59B0-43EC-99A8-FA539FCAD036}"/>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9D5A9CF-191D-49FE-88AB-4FABB8C77607}"/>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095E748A-1895-48B5-81B7-BD75B5557F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43A3215F-5312-49ED-B9EA-FC678FFC3D1F}"/>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1786259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05F52C9-9F30-45C9-AE25-E0CCF645834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4BE63748-1264-4CFE-9502-0F5C9095E5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6DE16022-0BE9-4293-B791-8EE1E3446FCD}"/>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CE16CC00-2F32-49E8-8622-448CE825286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DD12E3B0-A160-4B08-836C-8FF41223676A}"/>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2600009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7106795-F0CE-487C-BBF5-56541E0F0F7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9857E829-C360-425B-8559-75BF2101F6F2}"/>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52536A2F-EE95-4F73-A569-6D86FAC009B4}"/>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BD92DCA7-E439-40F0-B68E-5A60B1774293}"/>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6" name="頁尾版面配置區 5">
            <a:extLst>
              <a:ext uri="{FF2B5EF4-FFF2-40B4-BE49-F238E27FC236}">
                <a16:creationId xmlns:a16="http://schemas.microsoft.com/office/drawing/2014/main" xmlns="" id="{EF0FCFED-D825-4EA2-8062-31C43F59915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C1B43BEB-9D32-4C57-AFFB-94DF5F15F151}"/>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221726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05B2898-CB0D-4B5C-B0FF-53D96642434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90A67047-3B07-4C2F-8287-76F82FD665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019A22A3-06AC-4FAF-A263-FF6B7AA505E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6459F8C5-77A7-46DC-B6A8-9D07B86701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CAECB9B7-C96D-4183-9A75-17CEF3CCFF5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7240FA55-6D3D-4E8E-B387-255BFEF89A3F}"/>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8" name="頁尾版面配置區 7">
            <a:extLst>
              <a:ext uri="{FF2B5EF4-FFF2-40B4-BE49-F238E27FC236}">
                <a16:creationId xmlns:a16="http://schemas.microsoft.com/office/drawing/2014/main" xmlns="" id="{F734B7F6-EF35-47C1-8142-5382EDB1D38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8EBCD718-3BFC-4929-A336-95C6412F0913}"/>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2679864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CAEBF66-BB17-4B29-AD0B-AF4E4305A1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FFDB78BB-29A9-4C87-B513-1523FF8FA768}"/>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4" name="頁尾版面配置區 3">
            <a:extLst>
              <a:ext uri="{FF2B5EF4-FFF2-40B4-BE49-F238E27FC236}">
                <a16:creationId xmlns:a16="http://schemas.microsoft.com/office/drawing/2014/main" xmlns="" id="{4F81DBC9-FABD-4E1C-8F59-0CA708FF658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3CBD5586-3319-4F5F-B16C-F11A3603C28C}"/>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349615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FF0533EB-8EA9-4485-BCE0-4BB2E9FD384D}"/>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3" name="頁尾版面配置區 2">
            <a:extLst>
              <a:ext uri="{FF2B5EF4-FFF2-40B4-BE49-F238E27FC236}">
                <a16:creationId xmlns:a16="http://schemas.microsoft.com/office/drawing/2014/main" xmlns="" id="{E9DDB936-3AAA-451E-AB48-AC82A8119AA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E580BA29-0082-4019-A69A-124913BF44FB}"/>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82645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53A136B-BAA1-4C12-884E-D1AAB1FFCDF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2EB8FD7-954F-4A1A-ABF7-89BA5C64B9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F38A2381-9AB4-4F66-B090-2062B7FCE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DD6E2538-C535-4D48-B2D3-C8EB69A7C43E}"/>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6" name="頁尾版面配置區 5">
            <a:extLst>
              <a:ext uri="{FF2B5EF4-FFF2-40B4-BE49-F238E27FC236}">
                <a16:creationId xmlns:a16="http://schemas.microsoft.com/office/drawing/2014/main" xmlns="" id="{C8D0E725-0722-4F7B-98FE-4B7BDBBAB72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B4B77E9-E36D-472D-9D35-C6580B859C9E}"/>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972855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AFDBB1-5E8D-43D5-BED5-497350344D0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CD7DEC05-C1F2-44CA-92BF-C4A00D2FF9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0F0C1B5-AD3A-465E-B5AF-716B52DE37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6CBA9963-4360-413D-B428-2253A8B275FF}"/>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6" name="頁尾版面配置區 5">
            <a:extLst>
              <a:ext uri="{FF2B5EF4-FFF2-40B4-BE49-F238E27FC236}">
                <a16:creationId xmlns:a16="http://schemas.microsoft.com/office/drawing/2014/main" xmlns="" id="{B37E0DB5-26F4-4E3A-92B7-D332667D826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8F442E06-ABC4-41DE-89A8-8468481DFFD2}"/>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208264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FD42A63-D2D2-47CB-9D11-38875B5C43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5E1E25AB-2750-430F-B628-E827BB745A5E}"/>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56F9878-DBA1-454C-A936-7310FB7B7CD5}"/>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33D8CD12-9B8D-41E3-BD91-1E9E2C2DD88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6435516-3A8E-4BAA-AC86-E86A0148691E}"/>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3056400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150BCB11-7B27-4B6C-BC3B-8C6EDB8EE2D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AF2D56AE-B303-44FA-9A88-F5D9357B2207}"/>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E7992E1D-716D-46A4-8AA9-64DA3B1C4D81}"/>
              </a:ext>
            </a:extLst>
          </p:cNvPr>
          <p:cNvSpPr>
            <a:spLocks noGrp="1"/>
          </p:cNvSpPr>
          <p:nvPr>
            <p:ph type="dt" sz="half" idx="10"/>
          </p:nvPr>
        </p:nvSpPr>
        <p:spPr/>
        <p:txBody>
          <a:body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DB913A01-996B-4B98-BEC1-47EE1118ED6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E38DA4B-ECD4-44A3-8993-BBA1917FA004}"/>
              </a:ext>
            </a:extLst>
          </p:cNvPr>
          <p:cNvSpPr>
            <a:spLocks noGrp="1"/>
          </p:cNvSpPr>
          <p:nvPr>
            <p:ph type="sldNum" sz="quarter" idx="12"/>
          </p:nvPr>
        </p:nvSpPr>
        <p:spPr/>
        <p:txBody>
          <a:body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24203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657CD413-AE66-4C22-92F6-45A28AEA2B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1DA16E3-3B52-4F68-B929-7DBAD81E0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699BC83E-0A9D-4ABB-AC17-1DEA4FC47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DD194C-FE78-4666-8B41-9870FEB0096D}" type="datetimeFigureOut">
              <a:rPr lang="zh-TW" altLang="en-US" smtClean="0"/>
              <a:t>2017/6/20</a:t>
            </a:fld>
            <a:endParaRPr lang="zh-TW" altLang="en-US"/>
          </a:p>
        </p:txBody>
      </p:sp>
      <p:sp>
        <p:nvSpPr>
          <p:cNvPr id="5" name="頁尾版面配置區 4">
            <a:extLst>
              <a:ext uri="{FF2B5EF4-FFF2-40B4-BE49-F238E27FC236}">
                <a16:creationId xmlns:a16="http://schemas.microsoft.com/office/drawing/2014/main" xmlns="" id="{5F50AE04-4F2D-4C93-800B-C0E1182580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3BFB347C-8645-4144-9A17-F3E078138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5149C-23BA-4021-BB06-38588BF4FCFF}" type="slidenum">
              <a:rPr lang="zh-TW" altLang="en-US" smtClean="0"/>
              <a:t>‹#›</a:t>
            </a:fld>
            <a:endParaRPr lang="zh-TW" altLang="en-US"/>
          </a:p>
        </p:txBody>
      </p:sp>
    </p:spTree>
    <p:extLst>
      <p:ext uri="{BB962C8B-B14F-4D97-AF65-F5344CB8AC3E}">
        <p14:creationId xmlns:p14="http://schemas.microsoft.com/office/powerpoint/2010/main" val="3851162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F1C2AB3-FC91-4DE1-A5C2-09D229644433}"/>
              </a:ext>
            </a:extLst>
          </p:cNvPr>
          <p:cNvSpPr>
            <a:spLocks noGrp="1"/>
          </p:cNvSpPr>
          <p:nvPr>
            <p:ph type="ctrTitle"/>
          </p:nvPr>
        </p:nvSpPr>
        <p:spPr>
          <a:xfrm>
            <a:off x="777379" y="1040235"/>
            <a:ext cx="10637241" cy="1543573"/>
          </a:xfrm>
        </p:spPr>
        <p:txBody>
          <a:bodyPr>
            <a:normAutofit/>
          </a:bodyPr>
          <a:lstStyle/>
          <a:p>
            <a:r>
              <a:rPr lang="en-US" altLang="zh-TW" sz="3600" dirty="0"/>
              <a:t>A method for automatic stock trading combining technical analysis and nearest neighbor classification</a:t>
            </a:r>
            <a:endParaRPr lang="zh-TW" altLang="en-US" sz="3600" dirty="0"/>
          </a:p>
        </p:txBody>
      </p:sp>
      <p:sp>
        <p:nvSpPr>
          <p:cNvPr id="3" name="副標題 2">
            <a:extLst>
              <a:ext uri="{FF2B5EF4-FFF2-40B4-BE49-F238E27FC236}">
                <a16:creationId xmlns:a16="http://schemas.microsoft.com/office/drawing/2014/main" xmlns="" id="{B77E3A70-1782-435C-8D5B-852FAD78FCC6}"/>
              </a:ext>
            </a:extLst>
          </p:cNvPr>
          <p:cNvSpPr>
            <a:spLocks noGrp="1"/>
          </p:cNvSpPr>
          <p:nvPr>
            <p:ph type="subTitle" idx="1"/>
          </p:nvPr>
        </p:nvSpPr>
        <p:spPr>
          <a:xfrm>
            <a:off x="1324061" y="3238150"/>
            <a:ext cx="9543875" cy="1910593"/>
          </a:xfrm>
        </p:spPr>
        <p:txBody>
          <a:bodyPr>
            <a:normAutofit fontScale="92500" lnSpcReduction="20000"/>
          </a:bodyPr>
          <a:lstStyle/>
          <a:p>
            <a:r>
              <a:rPr lang="pt-BR" altLang="zh-TW" sz="3000" dirty="0"/>
              <a:t>Lamartine Almeida Teixeira</a:t>
            </a:r>
            <a:r>
              <a:rPr lang="pt-BR" altLang="zh-TW" sz="3000" baseline="30000" dirty="0"/>
              <a:t>a</a:t>
            </a:r>
            <a:r>
              <a:rPr lang="pt-BR" altLang="zh-TW" sz="3000" dirty="0"/>
              <a:t>, Adriano Lorena Inacio de Oliveira</a:t>
            </a:r>
            <a:r>
              <a:rPr lang="pt-BR" altLang="zh-TW" sz="3000" baseline="30000" dirty="0"/>
              <a:t>b</a:t>
            </a:r>
            <a:endParaRPr lang="en-US" altLang="zh-TW" sz="3000" baseline="30000" dirty="0"/>
          </a:p>
          <a:p>
            <a:r>
              <a:rPr lang="en-US" altLang="zh-TW" sz="1900" baseline="30000" dirty="0"/>
              <a:t>a</a:t>
            </a:r>
            <a:r>
              <a:rPr lang="en-US" altLang="zh-TW" sz="1900" dirty="0"/>
              <a:t> Department of Computing Systems, University of Pernambuco, Recife, Brazil</a:t>
            </a:r>
          </a:p>
          <a:p>
            <a:r>
              <a:rPr lang="en-US" altLang="zh-TW" sz="1900" baseline="30000" dirty="0"/>
              <a:t>b</a:t>
            </a:r>
            <a:r>
              <a:rPr lang="en-US" altLang="zh-TW" sz="1900" dirty="0"/>
              <a:t> Informatics Center, Federal University of Pernambuco, Recife, Brazil</a:t>
            </a:r>
          </a:p>
          <a:p>
            <a:endParaRPr lang="en-US" altLang="zh-TW" sz="2800" dirty="0"/>
          </a:p>
          <a:p>
            <a:r>
              <a:rPr lang="en-US" altLang="zh-TW" sz="2800" smtClean="0"/>
              <a:t>Expert </a:t>
            </a:r>
            <a:r>
              <a:rPr lang="en-US" altLang="zh-TW" sz="2800" dirty="0"/>
              <a:t>Systems with Applications 37, pp. 6885-6890, 2010</a:t>
            </a:r>
          </a:p>
        </p:txBody>
      </p:sp>
    </p:spTree>
    <p:extLst>
      <p:ext uri="{BB962C8B-B14F-4D97-AF65-F5344CB8AC3E}">
        <p14:creationId xmlns:p14="http://schemas.microsoft.com/office/powerpoint/2010/main" val="506863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a:xfrm>
            <a:off x="520117" y="1786855"/>
            <a:ext cx="10833683" cy="4708890"/>
          </a:xfrm>
        </p:spPr>
        <p:txBody>
          <a:bodyPr>
            <a:normAutofit fontScale="92500" lnSpcReduction="10000"/>
          </a:bodyPr>
          <a:lstStyle/>
          <a:p>
            <a:pPr marL="0" indent="0" algn="just">
              <a:buNone/>
            </a:pPr>
            <a:r>
              <a:rPr lang="zh-TW" altLang="en-US" dirty="0">
                <a:latin typeface="Cambria" panose="02040503050406030204" pitchFamily="18" charset="0"/>
              </a:rPr>
              <a:t>　</a:t>
            </a:r>
            <a:r>
              <a:rPr lang="en-US" altLang="zh-TW" dirty="0">
                <a:latin typeface="Cambria" panose="02040503050406030204" pitchFamily="18" charset="0"/>
              </a:rPr>
              <a:t>In this paper we propose and analyze a novel method for automatic stock trading which combines technical analysis and the nearest neighbor classification. Our first and foremost objective is to study the feasibility of the practical use of an intelligent prediction system exclusively based on the history of daily stock closing prices and volumes. To this end we propose a technique that consists of a combination of a nearest neighbor classifier and some well known tools of technical analysis, namely, stop loss, stop gain and RSI filter. For assessing the potential use of the proposed method in practice we compared the results obtained to the results that would be obtained by adopting a buy-and-hold strategy. The key performance measure in this comparison was profitability. The proposed method was shown to generate considerable higher profits than buy-and-hold for most of the companies, with few buy operations generated and, consequently, minimizing the risk of market exposure.</a:t>
            </a:r>
            <a:endParaRPr lang="zh-TW" altLang="en-US" dirty="0">
              <a:latin typeface="Cambria" panose="02040503050406030204" pitchFamily="18" charset="0"/>
            </a:endParaRPr>
          </a:p>
        </p:txBody>
      </p:sp>
    </p:spTree>
    <p:extLst>
      <p:ext uri="{BB962C8B-B14F-4D97-AF65-F5344CB8AC3E}">
        <p14:creationId xmlns:p14="http://schemas.microsoft.com/office/powerpoint/2010/main" val="2745396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r>
              <a:rPr lang="en-US" altLang="zh-TW" dirty="0"/>
              <a:t>Technical indicator using in this paper</a:t>
            </a:r>
            <a:endParaRPr lang="zh-TW" altLang="en-US" dirty="0"/>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p:txBody>
          <a:bodyPr/>
          <a:lstStyle/>
          <a:p>
            <a:r>
              <a:rPr lang="en-US" altLang="zh-TW" dirty="0"/>
              <a:t>Moving averages(MA)</a:t>
            </a:r>
            <a:r>
              <a:rPr lang="zh-TW" altLang="en-US" dirty="0"/>
              <a:t>：</a:t>
            </a:r>
            <a:endParaRPr lang="en-US" altLang="zh-TW" dirty="0"/>
          </a:p>
          <a:p>
            <a:pPr marL="0" indent="0">
              <a:buNone/>
            </a:pPr>
            <a:r>
              <a:rPr lang="en-US" altLang="zh-TW" dirty="0"/>
              <a:t>Form a smooth curve which makes easier to identify the direction of the trend.</a:t>
            </a:r>
            <a:endParaRPr lang="zh-TW" altLang="en-US" dirty="0"/>
          </a:p>
        </p:txBody>
      </p:sp>
      <p:pic>
        <p:nvPicPr>
          <p:cNvPr id="9" name="圖片 8" descr="一張含有 物件, 物品, 時鐘 的圖片&#10;&#10;產生非常高可信度的描述">
            <a:extLst>
              <a:ext uri="{FF2B5EF4-FFF2-40B4-BE49-F238E27FC236}">
                <a16:creationId xmlns:a16="http://schemas.microsoft.com/office/drawing/2014/main" xmlns="" id="{07AE47EE-7DAF-4F0B-84B1-40E7EA343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2496" y="3474445"/>
            <a:ext cx="2733504" cy="1053697"/>
          </a:xfrm>
          <a:prstGeom prst="rect">
            <a:avLst/>
          </a:prstGeom>
        </p:spPr>
      </p:pic>
      <p:sp>
        <p:nvSpPr>
          <p:cNvPr id="10" name="文字方塊 9">
            <a:extLst>
              <a:ext uri="{FF2B5EF4-FFF2-40B4-BE49-F238E27FC236}">
                <a16:creationId xmlns:a16="http://schemas.microsoft.com/office/drawing/2014/main" xmlns="" id="{5145653C-3505-41DD-B72C-9BCC0D0DCCDE}"/>
              </a:ext>
            </a:extLst>
          </p:cNvPr>
          <p:cNvSpPr txBox="1"/>
          <p:nvPr/>
        </p:nvSpPr>
        <p:spPr>
          <a:xfrm>
            <a:off x="3362496" y="4706221"/>
            <a:ext cx="2006458" cy="646331"/>
          </a:xfrm>
          <a:prstGeom prst="rect">
            <a:avLst/>
          </a:prstGeom>
          <a:noFill/>
        </p:spPr>
        <p:txBody>
          <a:bodyPr wrap="square" rtlCol="0">
            <a:spAutoFit/>
          </a:bodyPr>
          <a:lstStyle/>
          <a:p>
            <a:r>
              <a:rPr lang="en-US" altLang="zh-TW" dirty="0">
                <a:latin typeface="標楷體" panose="03000509000000000000" pitchFamily="65" charset="-120"/>
                <a:ea typeface="標楷體" panose="03000509000000000000" pitchFamily="65" charset="-120"/>
              </a:rPr>
              <a:t>t: </a:t>
            </a:r>
            <a:r>
              <a:rPr lang="zh-TW" altLang="en-US" dirty="0">
                <a:latin typeface="標楷體" panose="03000509000000000000" pitchFamily="65" charset="-120"/>
                <a:ea typeface="標楷體" panose="03000509000000000000" pitchFamily="65" charset="-120"/>
              </a:rPr>
              <a:t>第</a:t>
            </a:r>
            <a:r>
              <a:rPr lang="en-US" altLang="zh-TW" dirty="0">
                <a:latin typeface="標楷體" panose="03000509000000000000" pitchFamily="65" charset="-120"/>
                <a:ea typeface="標楷體" panose="03000509000000000000" pitchFamily="65" charset="-120"/>
              </a:rPr>
              <a:t>t</a:t>
            </a:r>
            <a:r>
              <a:rPr lang="zh-TW" altLang="en-US" dirty="0">
                <a:latin typeface="標楷體" panose="03000509000000000000" pitchFamily="65" charset="-120"/>
                <a:ea typeface="標楷體" panose="03000509000000000000" pitchFamily="65" charset="-120"/>
              </a:rPr>
              <a:t>天交易日</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X(t): </a:t>
            </a:r>
            <a:r>
              <a:rPr lang="zh-TW" altLang="en-US" dirty="0">
                <a:latin typeface="標楷體" panose="03000509000000000000" pitchFamily="65" charset="-120"/>
                <a:ea typeface="標楷體" panose="03000509000000000000" pitchFamily="65" charset="-120"/>
              </a:rPr>
              <a:t>第</a:t>
            </a:r>
            <a:r>
              <a:rPr lang="en-US" altLang="zh-TW" dirty="0">
                <a:latin typeface="標楷體" panose="03000509000000000000" pitchFamily="65" charset="-120"/>
                <a:ea typeface="標楷體" panose="03000509000000000000" pitchFamily="65" charset="-120"/>
              </a:rPr>
              <a:t>t</a:t>
            </a:r>
            <a:r>
              <a:rPr lang="zh-TW" altLang="en-US" dirty="0">
                <a:latin typeface="標楷體" panose="03000509000000000000" pitchFamily="65" charset="-120"/>
                <a:ea typeface="標楷體" panose="03000509000000000000" pitchFamily="65" charset="-120"/>
              </a:rPr>
              <a:t>天股價</a:t>
            </a:r>
          </a:p>
        </p:txBody>
      </p:sp>
    </p:spTree>
    <p:extLst>
      <p:ext uri="{BB962C8B-B14F-4D97-AF65-F5344CB8AC3E}">
        <p14:creationId xmlns:p14="http://schemas.microsoft.com/office/powerpoint/2010/main" val="231600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a:xfrm>
            <a:off x="797232" y="1825625"/>
            <a:ext cx="10515600" cy="4351338"/>
          </a:xfrm>
        </p:spPr>
        <p:txBody>
          <a:bodyPr/>
          <a:lstStyle/>
          <a:p>
            <a:r>
              <a:rPr lang="en-US" altLang="zh-TW" dirty="0"/>
              <a:t>Relative strength index (RSI):</a:t>
            </a:r>
          </a:p>
          <a:p>
            <a:pPr marL="0" indent="0" algn="just">
              <a:buNone/>
            </a:pPr>
            <a:r>
              <a:rPr lang="en-US" altLang="zh-TW" dirty="0"/>
              <a:t>  It compares the magnitude of the recent gains to the magnitude of the recent losses and generates a number that ranges from 0 to 100.</a:t>
            </a:r>
            <a:endParaRPr lang="zh-TW" altLang="en-US" dirty="0"/>
          </a:p>
        </p:txBody>
      </p:sp>
      <p:pic>
        <p:nvPicPr>
          <p:cNvPr id="5" name="圖片 4" descr="一張含有 室內 的圖片&#10;&#10;描述是以高可信度產生">
            <a:extLst>
              <a:ext uri="{FF2B5EF4-FFF2-40B4-BE49-F238E27FC236}">
                <a16:creationId xmlns:a16="http://schemas.microsoft.com/office/drawing/2014/main" xmlns="" id="{7E281D83-52D8-4217-87AF-AF88E6AA1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898" y="3737215"/>
            <a:ext cx="6481845" cy="1707240"/>
          </a:xfrm>
          <a:prstGeom prst="rect">
            <a:avLst/>
          </a:prstGeom>
        </p:spPr>
      </p:pic>
      <p:pic>
        <p:nvPicPr>
          <p:cNvPr id="7" name="圖片 6" descr="一張含有 文字 的圖片&#10;&#10;產生非常高可信度的描述">
            <a:extLst>
              <a:ext uri="{FF2B5EF4-FFF2-40B4-BE49-F238E27FC236}">
                <a16:creationId xmlns:a16="http://schemas.microsoft.com/office/drawing/2014/main" xmlns="" id="{5920AF74-C02A-4804-8410-868225071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0535" y="3496399"/>
            <a:ext cx="4141832" cy="2879234"/>
          </a:xfrm>
          <a:prstGeom prst="rect">
            <a:avLst/>
          </a:prstGeom>
        </p:spPr>
      </p:pic>
      <p:cxnSp>
        <p:nvCxnSpPr>
          <p:cNvPr id="9" name="直線單箭頭接點 8">
            <a:extLst>
              <a:ext uri="{FF2B5EF4-FFF2-40B4-BE49-F238E27FC236}">
                <a16:creationId xmlns:a16="http://schemas.microsoft.com/office/drawing/2014/main" xmlns="" id="{F189E4BD-21C3-4DB0-AA9A-40CE1C6AACDA}"/>
              </a:ext>
            </a:extLst>
          </p:cNvPr>
          <p:cNvCxnSpPr>
            <a:cxnSpLocks/>
          </p:cNvCxnSpPr>
          <p:nvPr/>
        </p:nvCxnSpPr>
        <p:spPr>
          <a:xfrm>
            <a:off x="7112185" y="4840448"/>
            <a:ext cx="773466" cy="721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xmlns="" id="{881D92E9-9B18-465C-9151-C4C40F178EF9}"/>
              </a:ext>
            </a:extLst>
          </p:cNvPr>
          <p:cNvCxnSpPr>
            <a:cxnSpLocks/>
          </p:cNvCxnSpPr>
          <p:nvPr/>
        </p:nvCxnSpPr>
        <p:spPr>
          <a:xfrm>
            <a:off x="7070100" y="5321286"/>
            <a:ext cx="815551" cy="855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xmlns="" id="{7DD72A8C-8C9F-4F9B-91F1-43D930C82BC3}"/>
              </a:ext>
            </a:extLst>
          </p:cNvPr>
          <p:cNvSpPr txBox="1"/>
          <p:nvPr/>
        </p:nvSpPr>
        <p:spPr>
          <a:xfrm>
            <a:off x="6055032" y="5379792"/>
            <a:ext cx="1015068" cy="369332"/>
          </a:xfrm>
          <a:prstGeom prst="rect">
            <a:avLst/>
          </a:prstGeom>
          <a:noFill/>
        </p:spPr>
        <p:txBody>
          <a:bodyPr wrap="square" rtlCol="0">
            <a:spAutoFit/>
          </a:bodyPr>
          <a:lstStyle/>
          <a:p>
            <a:r>
              <a:rPr lang="en-US" altLang="zh-TW" dirty="0">
                <a:solidFill>
                  <a:srgbClr val="0070C0"/>
                </a:solidFill>
                <a:latin typeface="Cambria" panose="02040503050406030204" pitchFamily="18" charset="0"/>
              </a:rPr>
              <a:t>(n = 14)</a:t>
            </a:r>
            <a:endParaRPr lang="zh-TW" altLang="en-US" dirty="0">
              <a:solidFill>
                <a:srgbClr val="0070C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xmlns="" id="{16F4414C-B048-48B1-8CB1-CB7A09820D73}"/>
                  </a:ext>
                </a:extLst>
              </p:cNvPr>
              <p:cNvSpPr txBox="1"/>
              <p:nvPr/>
            </p:nvSpPr>
            <p:spPr>
              <a:xfrm>
                <a:off x="687897" y="5718568"/>
                <a:ext cx="3775045" cy="646331"/>
              </a:xfrm>
              <a:prstGeom prst="rect">
                <a:avLst/>
              </a:prstGeom>
              <a:noFill/>
            </p:spPr>
            <p:txBody>
              <a:bodyPr wrap="square" rtlCol="0">
                <a:spAutoFit/>
              </a:bodyPr>
              <a:lstStyle/>
              <a:p>
                <a:r>
                  <a:rPr lang="en-US" altLang="zh-TW" dirty="0">
                    <a:solidFill>
                      <a:srgbClr val="0070C0"/>
                    </a:solidFill>
                    <a:latin typeface="標楷體" panose="03000509000000000000" pitchFamily="65" charset="-120"/>
                    <a:ea typeface="標楷體" panose="03000509000000000000" pitchFamily="65" charset="-120"/>
                  </a:rPr>
                  <a:t>RSI</a:t>
                </a:r>
                <a14:m>
                  <m:oMath xmlns:m="http://schemas.openxmlformats.org/officeDocument/2006/math">
                    <m:r>
                      <a:rPr lang="en-US" altLang="zh-TW" i="1" smtClean="0">
                        <a:solidFill>
                          <a:srgbClr val="0070C0"/>
                        </a:solidFill>
                        <a:latin typeface="Cambria Math" panose="02040503050406030204" pitchFamily="18" charset="0"/>
                        <a:ea typeface="Cambria Math" panose="02040503050406030204" pitchFamily="18" charset="0"/>
                      </a:rPr>
                      <m:t>≥</m:t>
                    </m:r>
                  </m:oMath>
                </a14:m>
                <a:r>
                  <a:rPr lang="en-US" altLang="zh-TW" dirty="0">
                    <a:solidFill>
                      <a:srgbClr val="0070C0"/>
                    </a:solidFill>
                    <a:latin typeface="標楷體" panose="03000509000000000000" pitchFamily="65" charset="-120"/>
                    <a:ea typeface="標楷體" panose="03000509000000000000" pitchFamily="65" charset="-120"/>
                  </a:rPr>
                  <a:t>70</a:t>
                </a:r>
                <a:r>
                  <a:rPr lang="zh-TW" altLang="en-US" dirty="0">
                    <a:latin typeface="標楷體" panose="03000509000000000000" pitchFamily="65" charset="-120"/>
                    <a:ea typeface="標楷體" panose="03000509000000000000" pitchFamily="65" charset="-120"/>
                  </a:rPr>
                  <a:t>時，代表該證券已被</a:t>
                </a:r>
                <a:r>
                  <a:rPr lang="zh-TW" altLang="en-US" dirty="0">
                    <a:solidFill>
                      <a:srgbClr val="0070C0"/>
                    </a:solidFill>
                    <a:latin typeface="標楷體" panose="03000509000000000000" pitchFamily="65" charset="-120"/>
                    <a:ea typeface="標楷體" panose="03000509000000000000" pitchFamily="65" charset="-120"/>
                  </a:rPr>
                  <a:t>買超</a:t>
                </a:r>
                <a:r>
                  <a:rPr lang="zh-TW" altLang="en-US" dirty="0">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a:p>
                <a:r>
                  <a:rPr lang="en-US" altLang="zh-TW" dirty="0">
                    <a:solidFill>
                      <a:srgbClr val="0070C0"/>
                    </a:solidFill>
                    <a:latin typeface="標楷體" panose="03000509000000000000" pitchFamily="65" charset="-120"/>
                    <a:ea typeface="標楷體" panose="03000509000000000000" pitchFamily="65" charset="-120"/>
                  </a:rPr>
                  <a:t>RSI</a:t>
                </a:r>
                <a14:m>
                  <m:oMath xmlns:m="http://schemas.openxmlformats.org/officeDocument/2006/math">
                    <m:r>
                      <a:rPr lang="en-US" altLang="zh-TW" i="1" smtClean="0">
                        <a:solidFill>
                          <a:srgbClr val="0070C0"/>
                        </a:solidFill>
                        <a:latin typeface="Cambria Math" panose="02040503050406030204" pitchFamily="18" charset="0"/>
                        <a:ea typeface="Cambria Math" panose="02040503050406030204" pitchFamily="18" charset="0"/>
                      </a:rPr>
                      <m:t>≤</m:t>
                    </m:r>
                  </m:oMath>
                </a14:m>
                <a:r>
                  <a:rPr lang="en-US" altLang="zh-TW" dirty="0">
                    <a:solidFill>
                      <a:srgbClr val="0070C0"/>
                    </a:solidFill>
                    <a:latin typeface="標楷體" panose="03000509000000000000" pitchFamily="65" charset="-120"/>
                    <a:ea typeface="標楷體" panose="03000509000000000000" pitchFamily="65" charset="-120"/>
                  </a:rPr>
                  <a:t>30</a:t>
                </a:r>
                <a:r>
                  <a:rPr lang="zh-TW" altLang="en-US" dirty="0">
                    <a:latin typeface="標楷體" panose="03000509000000000000" pitchFamily="65" charset="-120"/>
                    <a:ea typeface="標楷體" panose="03000509000000000000" pitchFamily="65" charset="-120"/>
                  </a:rPr>
                  <a:t>時，代表該證券已被</a:t>
                </a:r>
                <a:r>
                  <a:rPr lang="zh-TW" altLang="en-US" dirty="0">
                    <a:solidFill>
                      <a:srgbClr val="0070C0"/>
                    </a:solidFill>
                    <a:latin typeface="標楷體" panose="03000509000000000000" pitchFamily="65" charset="-120"/>
                    <a:ea typeface="標楷體" panose="03000509000000000000" pitchFamily="65" charset="-120"/>
                  </a:rPr>
                  <a:t>賣超</a:t>
                </a:r>
                <a:r>
                  <a:rPr lang="zh-TW" altLang="en-US" dirty="0">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p:txBody>
          </p:sp>
        </mc:Choice>
        <mc:Fallback xmlns="">
          <p:sp>
            <p:nvSpPr>
              <p:cNvPr id="17" name="文字方塊 16">
                <a:extLst>
                  <a:ext uri="{FF2B5EF4-FFF2-40B4-BE49-F238E27FC236}">
                    <a16:creationId xmlns:a16="http://schemas.microsoft.com/office/drawing/2014/main" id="{16F4414C-B048-48B1-8CB1-CB7A09820D73}"/>
                  </a:ext>
                </a:extLst>
              </p:cNvPr>
              <p:cNvSpPr txBox="1">
                <a:spLocks noRot="1" noChangeAspect="1" noMove="1" noResize="1" noEditPoints="1" noAdjustHandles="1" noChangeArrowheads="1" noChangeShapeType="1" noTextEdit="1"/>
              </p:cNvSpPr>
              <p:nvPr/>
            </p:nvSpPr>
            <p:spPr>
              <a:xfrm>
                <a:off x="687897" y="5718568"/>
                <a:ext cx="3775045" cy="646331"/>
              </a:xfrm>
              <a:prstGeom prst="rect">
                <a:avLst/>
              </a:prstGeom>
              <a:blipFill>
                <a:blip r:embed="rId4"/>
                <a:stretch>
                  <a:fillRect l="-1454" t="-3774" b="-150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1815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a:xfrm>
            <a:off x="838200" y="1817236"/>
            <a:ext cx="10515600" cy="4351338"/>
          </a:xfrm>
        </p:spPr>
        <p:txBody>
          <a:bodyPr/>
          <a:lstStyle/>
          <a:p>
            <a:r>
              <a:rPr lang="en-US" altLang="zh-TW" dirty="0"/>
              <a:t>Stochastics oscillator (KD):</a:t>
            </a:r>
            <a:r>
              <a:rPr lang="zh-TW" altLang="en-US" sz="1800" dirty="0">
                <a:latin typeface="標楷體" panose="03000509000000000000" pitchFamily="65" charset="-120"/>
                <a:ea typeface="標楷體" panose="03000509000000000000" pitchFamily="65" charset="-120"/>
              </a:rPr>
              <a:t>一種動量分析方法，採用超買和超賣的概念</a:t>
            </a:r>
          </a:p>
        </p:txBody>
      </p:sp>
      <p:pic>
        <p:nvPicPr>
          <p:cNvPr id="5" name="圖片 4" descr="一張含有 物品 的圖片&#10;&#10;描述是以高可信度產生">
            <a:extLst>
              <a:ext uri="{FF2B5EF4-FFF2-40B4-BE49-F238E27FC236}">
                <a16:creationId xmlns:a16="http://schemas.microsoft.com/office/drawing/2014/main" xmlns="" id="{1AA6EEFB-D6E1-42BF-BC72-72420CF0E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0881" y="3040411"/>
            <a:ext cx="4926327" cy="1187639"/>
          </a:xfrm>
          <a:prstGeom prst="rect">
            <a:avLst/>
          </a:prstGeom>
        </p:spPr>
      </p:pic>
      <p:cxnSp>
        <p:nvCxnSpPr>
          <p:cNvPr id="7" name="接點: 弧形 6">
            <a:extLst>
              <a:ext uri="{FF2B5EF4-FFF2-40B4-BE49-F238E27FC236}">
                <a16:creationId xmlns:a16="http://schemas.microsoft.com/office/drawing/2014/main" xmlns="" id="{9BBB957B-C321-4014-9632-31C57897CBC9}"/>
              </a:ext>
            </a:extLst>
          </p:cNvPr>
          <p:cNvCxnSpPr>
            <a:cxnSpLocks/>
          </p:cNvCxnSpPr>
          <p:nvPr/>
        </p:nvCxnSpPr>
        <p:spPr>
          <a:xfrm rot="5400000" flipH="1" flipV="1">
            <a:off x="3382617" y="2695749"/>
            <a:ext cx="482854" cy="436228"/>
          </a:xfrm>
          <a:prstGeom prst="curvedConnector3">
            <a:avLst>
              <a:gd name="adj1" fmla="val 100384"/>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xmlns="" id="{0F5DF8C9-4AD6-4F86-A9E7-431BD5381ED9}"/>
              </a:ext>
            </a:extLst>
          </p:cNvPr>
          <p:cNvSpPr txBox="1"/>
          <p:nvPr/>
        </p:nvSpPr>
        <p:spPr>
          <a:xfrm>
            <a:off x="3770763" y="2487092"/>
            <a:ext cx="1463967" cy="369332"/>
          </a:xfrm>
          <a:prstGeom prst="rect">
            <a:avLst/>
          </a:prstGeom>
          <a:noFill/>
        </p:spPr>
        <p:txBody>
          <a:bodyPr wrap="square" rtlCol="0">
            <a:spAutoFit/>
          </a:bodyPr>
          <a:lstStyle/>
          <a:p>
            <a:r>
              <a:rPr lang="zh-TW" altLang="en-US" dirty="0">
                <a:solidFill>
                  <a:srgbClr val="0070C0"/>
                </a:solidFill>
                <a:latin typeface="標楷體" panose="03000509000000000000" pitchFamily="65" charset="-120"/>
                <a:ea typeface="標楷體" panose="03000509000000000000" pitchFamily="65" charset="-120"/>
              </a:rPr>
              <a:t>第</a:t>
            </a:r>
            <a:r>
              <a:rPr lang="en-US" altLang="zh-TW" dirty="0">
                <a:solidFill>
                  <a:srgbClr val="0070C0"/>
                </a:solidFill>
                <a:latin typeface="標楷體" panose="03000509000000000000" pitchFamily="65" charset="-120"/>
                <a:ea typeface="標楷體" panose="03000509000000000000" pitchFamily="65" charset="-120"/>
              </a:rPr>
              <a:t>t</a:t>
            </a:r>
            <a:r>
              <a:rPr lang="zh-TW" altLang="en-US" dirty="0">
                <a:solidFill>
                  <a:srgbClr val="0070C0"/>
                </a:solidFill>
                <a:latin typeface="標楷體" panose="03000509000000000000" pitchFamily="65" charset="-120"/>
                <a:ea typeface="標楷體" panose="03000509000000000000" pitchFamily="65" charset="-120"/>
              </a:rPr>
              <a:t>天收盤價</a:t>
            </a:r>
          </a:p>
        </p:txBody>
      </p:sp>
      <p:cxnSp>
        <p:nvCxnSpPr>
          <p:cNvPr id="12" name="接點: 弧形 11">
            <a:extLst>
              <a:ext uri="{FF2B5EF4-FFF2-40B4-BE49-F238E27FC236}">
                <a16:creationId xmlns:a16="http://schemas.microsoft.com/office/drawing/2014/main" xmlns="" id="{816D409B-5E85-4957-BA17-7752C9086568}"/>
              </a:ext>
            </a:extLst>
          </p:cNvPr>
          <p:cNvCxnSpPr>
            <a:cxnSpLocks/>
          </p:cNvCxnSpPr>
          <p:nvPr/>
        </p:nvCxnSpPr>
        <p:spPr>
          <a:xfrm rot="5400000" flipH="1" flipV="1">
            <a:off x="5705984" y="2689565"/>
            <a:ext cx="482854" cy="436228"/>
          </a:xfrm>
          <a:prstGeom prst="curvedConnector3">
            <a:avLst>
              <a:gd name="adj1" fmla="val 100384"/>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xmlns="" id="{BAF6AD32-8AD1-4908-B467-EFCD51A1425A}"/>
              </a:ext>
            </a:extLst>
          </p:cNvPr>
          <p:cNvSpPr txBox="1"/>
          <p:nvPr/>
        </p:nvSpPr>
        <p:spPr>
          <a:xfrm>
            <a:off x="6087611" y="2481586"/>
            <a:ext cx="1463967" cy="369332"/>
          </a:xfrm>
          <a:prstGeom prst="rect">
            <a:avLst/>
          </a:prstGeom>
          <a:noFill/>
        </p:spPr>
        <p:txBody>
          <a:bodyPr wrap="square" rtlCol="0">
            <a:spAutoFit/>
          </a:bodyPr>
          <a:lstStyle/>
          <a:p>
            <a:r>
              <a:rPr lang="en-US" altLang="zh-TW" dirty="0">
                <a:solidFill>
                  <a:srgbClr val="0070C0"/>
                </a:solidFill>
                <a:latin typeface="標楷體" panose="03000509000000000000" pitchFamily="65" charset="-120"/>
                <a:ea typeface="標楷體" panose="03000509000000000000" pitchFamily="65" charset="-120"/>
              </a:rPr>
              <a:t>n</a:t>
            </a:r>
            <a:r>
              <a:rPr lang="zh-TW" altLang="en-US" dirty="0">
                <a:solidFill>
                  <a:srgbClr val="0070C0"/>
                </a:solidFill>
                <a:latin typeface="標楷體" panose="03000509000000000000" pitchFamily="65" charset="-120"/>
                <a:ea typeface="標楷體" panose="03000509000000000000" pitchFamily="65" charset="-120"/>
              </a:rPr>
              <a:t>天中最低價</a:t>
            </a:r>
          </a:p>
        </p:txBody>
      </p:sp>
      <p:sp>
        <p:nvSpPr>
          <p:cNvPr id="15" name="文字方塊 14">
            <a:extLst>
              <a:ext uri="{FF2B5EF4-FFF2-40B4-BE49-F238E27FC236}">
                <a16:creationId xmlns:a16="http://schemas.microsoft.com/office/drawing/2014/main" xmlns="" id="{0108A578-A043-4D08-9298-9EC4B43931EC}"/>
              </a:ext>
            </a:extLst>
          </p:cNvPr>
          <p:cNvSpPr txBox="1"/>
          <p:nvPr/>
        </p:nvSpPr>
        <p:spPr>
          <a:xfrm>
            <a:off x="6227723" y="3808239"/>
            <a:ext cx="1791854" cy="369332"/>
          </a:xfrm>
          <a:prstGeom prst="rect">
            <a:avLst/>
          </a:prstGeom>
          <a:noFill/>
        </p:spPr>
        <p:txBody>
          <a:bodyPr wrap="square" rtlCol="0">
            <a:spAutoFit/>
          </a:bodyPr>
          <a:lstStyle/>
          <a:p>
            <a:r>
              <a:rPr lang="en-US" altLang="zh-TW" dirty="0">
                <a:solidFill>
                  <a:srgbClr val="FF0000"/>
                </a:solidFill>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連續</a:t>
            </a:r>
            <a:r>
              <a:rPr lang="en-US" altLang="zh-TW" dirty="0">
                <a:solidFill>
                  <a:srgbClr val="FF0000"/>
                </a:solidFill>
                <a:latin typeface="標楷體" panose="03000509000000000000" pitchFamily="65" charset="-120"/>
                <a:ea typeface="標楷體" panose="03000509000000000000" pitchFamily="65" charset="-120"/>
              </a:rPr>
              <a:t>3</a:t>
            </a:r>
            <a:r>
              <a:rPr lang="zh-TW" altLang="en-US" dirty="0">
                <a:solidFill>
                  <a:srgbClr val="FF0000"/>
                </a:solidFill>
                <a:latin typeface="標楷體" panose="03000509000000000000" pitchFamily="65" charset="-120"/>
                <a:ea typeface="標楷體" panose="03000509000000000000" pitchFamily="65" charset="-120"/>
              </a:rPr>
              <a:t>天</a:t>
            </a:r>
            <a:r>
              <a:rPr lang="en-US" altLang="zh-TW" dirty="0">
                <a:solidFill>
                  <a:srgbClr val="FF0000"/>
                </a:solidFill>
                <a:latin typeface="標楷體" panose="03000509000000000000" pitchFamily="65" charset="-120"/>
                <a:ea typeface="標楷體" panose="03000509000000000000" pitchFamily="65" charset="-120"/>
              </a:rPr>
              <a:t>%k</a:t>
            </a:r>
            <a:r>
              <a:rPr lang="zh-TW" altLang="en-US" dirty="0">
                <a:solidFill>
                  <a:srgbClr val="FF0000"/>
                </a:solidFill>
                <a:latin typeface="標楷體" panose="03000509000000000000" pitchFamily="65" charset="-120"/>
                <a:ea typeface="標楷體" panose="03000509000000000000" pitchFamily="65" charset="-120"/>
              </a:rPr>
              <a:t>的</a:t>
            </a:r>
            <a:r>
              <a:rPr lang="en-US" altLang="zh-TW" dirty="0">
                <a:solidFill>
                  <a:srgbClr val="FF0000"/>
                </a:solidFill>
                <a:latin typeface="標楷體" panose="03000509000000000000" pitchFamily="65" charset="-120"/>
                <a:ea typeface="標楷體" panose="03000509000000000000" pitchFamily="65" charset="-120"/>
              </a:rPr>
              <a:t>MA)</a:t>
            </a:r>
            <a:endParaRPr lang="zh-TW" altLang="en-US" dirty="0">
              <a:solidFill>
                <a:srgbClr val="FF0000"/>
              </a:solidFill>
              <a:latin typeface="標楷體" panose="03000509000000000000" pitchFamily="65" charset="-120"/>
              <a:ea typeface="標楷體" panose="03000509000000000000" pitchFamily="65" charset="-120"/>
            </a:endParaRPr>
          </a:p>
        </p:txBody>
      </p:sp>
      <p:cxnSp>
        <p:nvCxnSpPr>
          <p:cNvPr id="17" name="直線接點 16">
            <a:extLst>
              <a:ext uri="{FF2B5EF4-FFF2-40B4-BE49-F238E27FC236}">
                <a16:creationId xmlns:a16="http://schemas.microsoft.com/office/drawing/2014/main" xmlns="" id="{D6202FA2-AAF4-402C-98E2-0A0D622DA5E9}"/>
              </a:ext>
            </a:extLst>
          </p:cNvPr>
          <p:cNvCxnSpPr/>
          <p:nvPr/>
        </p:nvCxnSpPr>
        <p:spPr>
          <a:xfrm>
            <a:off x="2365695" y="4079599"/>
            <a:ext cx="3721916"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xmlns="" id="{1E6A3B45-575E-4510-959B-3CFA3865A50E}"/>
              </a:ext>
            </a:extLst>
          </p:cNvPr>
          <p:cNvSpPr txBox="1"/>
          <p:nvPr/>
        </p:nvSpPr>
        <p:spPr>
          <a:xfrm>
            <a:off x="6682355" y="3155290"/>
            <a:ext cx="1015068" cy="369332"/>
          </a:xfrm>
          <a:prstGeom prst="rect">
            <a:avLst/>
          </a:prstGeom>
          <a:noFill/>
        </p:spPr>
        <p:txBody>
          <a:bodyPr wrap="square" rtlCol="0">
            <a:spAutoFit/>
          </a:bodyPr>
          <a:lstStyle/>
          <a:p>
            <a:r>
              <a:rPr lang="en-US" altLang="zh-TW" dirty="0">
                <a:solidFill>
                  <a:srgbClr val="0070C0"/>
                </a:solidFill>
                <a:latin typeface="Cambria" panose="02040503050406030204" pitchFamily="18" charset="0"/>
              </a:rPr>
              <a:t>(n = 14)</a:t>
            </a:r>
            <a:endParaRPr lang="zh-TW" altLang="en-US" dirty="0">
              <a:solidFill>
                <a:srgbClr val="0070C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xmlns="" id="{2646A1E6-6B05-4A7A-883A-9B756417A9A6}"/>
                  </a:ext>
                </a:extLst>
              </p:cNvPr>
              <p:cNvSpPr txBox="1"/>
              <p:nvPr/>
            </p:nvSpPr>
            <p:spPr>
              <a:xfrm>
                <a:off x="1610686" y="4736647"/>
                <a:ext cx="3775045" cy="923330"/>
              </a:xfrm>
              <a:prstGeom prst="rect">
                <a:avLst/>
              </a:prstGeom>
              <a:noFill/>
            </p:spPr>
            <p:txBody>
              <a:bodyPr wrap="square" rtlCol="0">
                <a:spAutoFit/>
              </a:bodyPr>
              <a:lstStyle/>
              <a:p>
                <a:r>
                  <a:rPr lang="en-US" altLang="zh-TW" dirty="0">
                    <a:latin typeface="標楷體" panose="03000509000000000000" pitchFamily="65" charset="-120"/>
                    <a:ea typeface="標楷體" panose="03000509000000000000" pitchFamily="65" charset="-120"/>
                  </a:rPr>
                  <a:t>50%:</a:t>
                </a:r>
                <a:r>
                  <a:rPr lang="zh-TW" altLang="en-US" dirty="0">
                    <a:latin typeface="標楷體" panose="03000509000000000000" pitchFamily="65" charset="-120"/>
                    <a:ea typeface="標楷體" panose="03000509000000000000" pitchFamily="65" charset="-120"/>
                  </a:rPr>
                  <a:t>多空平衡</a:t>
                </a:r>
                <a:endParaRPr lang="en-US" altLang="zh-TW" dirty="0">
                  <a:latin typeface="標楷體" panose="03000509000000000000" pitchFamily="65" charset="-120"/>
                  <a:ea typeface="標楷體" panose="03000509000000000000" pitchFamily="65" charset="-120"/>
                </a:endParaRPr>
              </a:p>
              <a:p>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a:latin typeface="標楷體" panose="03000509000000000000" pitchFamily="65" charset="-120"/>
                    <a:ea typeface="標楷體" panose="03000509000000000000" pitchFamily="65" charset="-120"/>
                  </a:rPr>
                  <a:t>80%:</a:t>
                </a:r>
                <a:r>
                  <a:rPr lang="zh-TW" altLang="en-US" dirty="0">
                    <a:latin typeface="標楷體" panose="03000509000000000000" pitchFamily="65" charset="-120"/>
                    <a:ea typeface="標楷體" panose="03000509000000000000" pitchFamily="65" charset="-120"/>
                  </a:rPr>
                  <a:t>買超區，多頭強勢</a:t>
                </a:r>
                <a:endParaRPr lang="en-US" altLang="zh-TW" dirty="0">
                  <a:latin typeface="標楷體" panose="03000509000000000000" pitchFamily="65" charset="-120"/>
                  <a:ea typeface="標楷體" panose="03000509000000000000" pitchFamily="65" charset="-120"/>
                </a:endParaRPr>
              </a:p>
              <a:p>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a:latin typeface="標楷體" panose="03000509000000000000" pitchFamily="65" charset="-120"/>
                    <a:ea typeface="標楷體" panose="03000509000000000000" pitchFamily="65" charset="-120"/>
                  </a:rPr>
                  <a:t>20%:</a:t>
                </a:r>
                <a:r>
                  <a:rPr lang="zh-TW" altLang="en-US" dirty="0">
                    <a:latin typeface="標楷體" panose="03000509000000000000" pitchFamily="65" charset="-120"/>
                    <a:ea typeface="標楷體" panose="03000509000000000000" pitchFamily="65" charset="-120"/>
                  </a:rPr>
                  <a:t>賣超區，空頭強勢</a:t>
                </a:r>
                <a:endParaRPr lang="en-US" altLang="zh-TW" dirty="0">
                  <a:latin typeface="標楷體" panose="03000509000000000000" pitchFamily="65" charset="-120"/>
                  <a:ea typeface="標楷體" panose="03000509000000000000" pitchFamily="65" charset="-120"/>
                </a:endParaRPr>
              </a:p>
            </p:txBody>
          </p:sp>
        </mc:Choice>
        <mc:Fallback xmlns="">
          <p:sp>
            <p:nvSpPr>
              <p:cNvPr id="20" name="文字方塊 19">
                <a:extLst>
                  <a:ext uri="{FF2B5EF4-FFF2-40B4-BE49-F238E27FC236}">
                    <a16:creationId xmlns:a16="http://schemas.microsoft.com/office/drawing/2014/main" id="{2646A1E6-6B05-4A7A-883A-9B756417A9A6}"/>
                  </a:ext>
                </a:extLst>
              </p:cNvPr>
              <p:cNvSpPr txBox="1">
                <a:spLocks noRot="1" noChangeAspect="1" noMove="1" noResize="1" noEditPoints="1" noAdjustHandles="1" noChangeArrowheads="1" noChangeShapeType="1" noTextEdit="1"/>
              </p:cNvSpPr>
              <p:nvPr/>
            </p:nvSpPr>
            <p:spPr>
              <a:xfrm>
                <a:off x="1610686" y="4736647"/>
                <a:ext cx="3775045" cy="923330"/>
              </a:xfrm>
              <a:prstGeom prst="rect">
                <a:avLst/>
              </a:prstGeom>
              <a:blipFill>
                <a:blip r:embed="rId3"/>
                <a:stretch>
                  <a:fillRect l="-1292" t="-2649" b="-105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xmlns="" id="{87784451-1EB1-43C6-B2FF-FEAA5255F3AC}"/>
                  </a:ext>
                </a:extLst>
              </p:cNvPr>
              <p:cNvSpPr txBox="1"/>
              <p:nvPr/>
            </p:nvSpPr>
            <p:spPr>
              <a:xfrm>
                <a:off x="5729297" y="4690694"/>
                <a:ext cx="4907943" cy="1200329"/>
              </a:xfrm>
              <a:prstGeom prst="rect">
                <a:avLst/>
              </a:prstGeom>
              <a:noFill/>
            </p:spPr>
            <p:txBody>
              <a:bodyPr wrap="square" rtlCol="0">
                <a:spAutoFit/>
              </a:bodyPr>
              <a:lstStyle/>
              <a:p>
                <a:r>
                  <a:rPr lang="en-US" altLang="zh-TW" dirty="0">
                    <a:latin typeface="標楷體" panose="03000509000000000000" pitchFamily="65" charset="-120"/>
                    <a:ea typeface="標楷體" panose="03000509000000000000" pitchFamily="65" charset="-120"/>
                  </a:rPr>
                  <a:t>%K</a:t>
                </a:r>
                <a14:m>
                  <m:oMath xmlns:m="http://schemas.openxmlformats.org/officeDocument/2006/math">
                    <m:r>
                      <a:rPr lang="en-US" altLang="zh-TW" i="1" smtClean="0">
                        <a:latin typeface="Cambria Math" panose="02040503050406030204" pitchFamily="18" charset="0"/>
                        <a:ea typeface="Cambria Math" panose="02040503050406030204" pitchFamily="18" charset="0"/>
                      </a:rPr>
                      <m:t>&gt;</m:t>
                    </m:r>
                  </m:oMath>
                </a14:m>
                <a:r>
                  <a:rPr lang="en-US" altLang="zh-TW" dirty="0">
                    <a:latin typeface="標楷體" panose="03000509000000000000" pitchFamily="65" charset="-120"/>
                    <a:ea typeface="標楷體" panose="03000509000000000000" pitchFamily="65" charset="-120"/>
                  </a:rPr>
                  <a:t>%D</a:t>
                </a:r>
                <a:r>
                  <a:rPr lang="zh-TW" altLang="en-US" dirty="0">
                    <a:latin typeface="標楷體" panose="03000509000000000000" pitchFamily="65" charset="-120"/>
                    <a:ea typeface="標楷體" panose="03000509000000000000" pitchFamily="65" charset="-120"/>
                  </a:rPr>
                  <a:t>代表具有上漲趨勢；反之，下跌趨勢。</a:t>
                </a:r>
                <a:endParaRPr lang="en-US" altLang="zh-TW" dirty="0">
                  <a:latin typeface="標楷體" panose="03000509000000000000" pitchFamily="65" charset="-120"/>
                  <a:ea typeface="標楷體" panose="03000509000000000000" pitchFamily="65" charset="-120"/>
                </a:endParaRPr>
              </a:p>
              <a:p>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K</a:t>
                </a:r>
                <a:r>
                  <a:rPr lang="zh-TW" altLang="en-US" dirty="0">
                    <a:latin typeface="標楷體" panose="03000509000000000000" pitchFamily="65" charset="-120"/>
                    <a:ea typeface="標楷體" panose="03000509000000000000" pitchFamily="65" charset="-120"/>
                  </a:rPr>
                  <a:t>線往上穿過</a:t>
                </a:r>
                <a:r>
                  <a:rPr lang="en-US" altLang="zh-TW" dirty="0">
                    <a:latin typeface="標楷體" panose="03000509000000000000" pitchFamily="65" charset="-120"/>
                    <a:ea typeface="標楷體" panose="03000509000000000000" pitchFamily="65" charset="-120"/>
                  </a:rPr>
                  <a:t>D</a:t>
                </a:r>
                <a:r>
                  <a:rPr lang="zh-TW" altLang="en-US" dirty="0">
                    <a:latin typeface="標楷體" panose="03000509000000000000" pitchFamily="65" charset="-120"/>
                    <a:ea typeface="標楷體" panose="03000509000000000000" pitchFamily="65" charset="-120"/>
                  </a:rPr>
                  <a:t>線時，上漲趨勢，進場訊號；</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反之，退場訊號。</a:t>
                </a:r>
                <a:endParaRPr lang="en-US" altLang="zh-TW" dirty="0">
                  <a:latin typeface="標楷體" panose="03000509000000000000" pitchFamily="65" charset="-120"/>
                  <a:ea typeface="標楷體" panose="03000509000000000000" pitchFamily="65" charset="-120"/>
                </a:endParaRPr>
              </a:p>
            </p:txBody>
          </p:sp>
        </mc:Choice>
        <mc:Fallback xmlns="">
          <p:sp>
            <p:nvSpPr>
              <p:cNvPr id="21" name="文字方塊 20">
                <a:extLst>
                  <a:ext uri="{FF2B5EF4-FFF2-40B4-BE49-F238E27FC236}">
                    <a16:creationId xmlns:a16="http://schemas.microsoft.com/office/drawing/2014/main" id="{87784451-1EB1-43C6-B2FF-FEAA5255F3AC}"/>
                  </a:ext>
                </a:extLst>
              </p:cNvPr>
              <p:cNvSpPr txBox="1">
                <a:spLocks noRot="1" noChangeAspect="1" noMove="1" noResize="1" noEditPoints="1" noAdjustHandles="1" noChangeArrowheads="1" noChangeShapeType="1" noTextEdit="1"/>
              </p:cNvSpPr>
              <p:nvPr/>
            </p:nvSpPr>
            <p:spPr>
              <a:xfrm>
                <a:off x="5729297" y="4690694"/>
                <a:ext cx="4907943" cy="1200329"/>
              </a:xfrm>
              <a:prstGeom prst="rect">
                <a:avLst/>
              </a:prstGeom>
              <a:blipFill>
                <a:blip r:embed="rId4"/>
                <a:stretch>
                  <a:fillRect l="-1118" t="-2030" b="-761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6921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p:txBody>
          <a:bodyPr/>
          <a:lstStyle/>
          <a:p>
            <a:r>
              <a:rPr lang="en-US" altLang="zh-TW" dirty="0"/>
              <a:t>Bollinger bands:</a:t>
            </a:r>
          </a:p>
          <a:p>
            <a:pPr marL="0" indent="0">
              <a:buNone/>
            </a:pPr>
            <a:r>
              <a:rPr lang="zh-TW" altLang="en-US" sz="2500" dirty="0">
                <a:solidFill>
                  <a:srgbClr val="FF0000"/>
                </a:solidFill>
                <a:latin typeface="標楷體" panose="03000509000000000000" pitchFamily="65" charset="-120"/>
                <a:ea typeface="標楷體" panose="03000509000000000000" pitchFamily="65" charset="-120"/>
              </a:rPr>
              <a:t>上軌 </a:t>
            </a:r>
            <a:r>
              <a:rPr lang="en-US" altLang="zh-TW" sz="2500" dirty="0">
                <a:solidFill>
                  <a:srgbClr val="FF0000"/>
                </a:solidFill>
                <a:latin typeface="標楷體" panose="03000509000000000000" pitchFamily="65" charset="-120"/>
                <a:ea typeface="標楷體" panose="03000509000000000000" pitchFamily="65" charset="-120"/>
              </a:rPr>
              <a:t>= </a:t>
            </a:r>
            <a:r>
              <a:rPr lang="zh-TW" altLang="en-US" sz="2500" dirty="0">
                <a:solidFill>
                  <a:srgbClr val="FF0000"/>
                </a:solidFill>
                <a:latin typeface="標楷體" panose="03000509000000000000" pitchFamily="65" charset="-120"/>
                <a:ea typeface="標楷體" panose="03000509000000000000" pitchFamily="65" charset="-120"/>
              </a:rPr>
              <a:t>中軌 </a:t>
            </a:r>
            <a:r>
              <a:rPr lang="en-US" altLang="zh-TW" sz="2500" dirty="0">
                <a:solidFill>
                  <a:srgbClr val="FF0000"/>
                </a:solidFill>
                <a:latin typeface="標楷體" panose="03000509000000000000" pitchFamily="65" charset="-120"/>
                <a:ea typeface="標楷體" panose="03000509000000000000" pitchFamily="65" charset="-120"/>
              </a:rPr>
              <a:t>+ 2 × period n</a:t>
            </a:r>
            <a:r>
              <a:rPr lang="zh-TW" altLang="en-US" sz="2500" dirty="0">
                <a:solidFill>
                  <a:srgbClr val="FF0000"/>
                </a:solidFill>
                <a:latin typeface="標楷體" panose="03000509000000000000" pitchFamily="65" charset="-120"/>
                <a:ea typeface="標楷體" panose="03000509000000000000" pitchFamily="65" charset="-120"/>
              </a:rPr>
              <a:t>之標準差</a:t>
            </a:r>
            <a:endParaRPr lang="en-US" altLang="zh-TW" sz="2500" dirty="0">
              <a:solidFill>
                <a:srgbClr val="FF0000"/>
              </a:solidFill>
              <a:latin typeface="標楷體" panose="03000509000000000000" pitchFamily="65" charset="-120"/>
              <a:ea typeface="標楷體" panose="03000509000000000000" pitchFamily="65" charset="-120"/>
            </a:endParaRPr>
          </a:p>
          <a:p>
            <a:pPr marL="0" indent="0">
              <a:buNone/>
            </a:pPr>
            <a:r>
              <a:rPr lang="zh-TW" altLang="en-US" sz="2500" dirty="0">
                <a:solidFill>
                  <a:srgbClr val="0070C0"/>
                </a:solidFill>
                <a:latin typeface="標楷體" panose="03000509000000000000" pitchFamily="65" charset="-120"/>
                <a:ea typeface="標楷體" panose="03000509000000000000" pitchFamily="65" charset="-120"/>
              </a:rPr>
              <a:t>中軌 </a:t>
            </a:r>
            <a:r>
              <a:rPr lang="en-US" altLang="zh-TW" sz="2500" dirty="0">
                <a:solidFill>
                  <a:srgbClr val="0070C0"/>
                </a:solidFill>
                <a:latin typeface="標楷體" panose="03000509000000000000" pitchFamily="65" charset="-120"/>
                <a:ea typeface="標楷體" panose="03000509000000000000" pitchFamily="65" charset="-120"/>
              </a:rPr>
              <a:t>= period n</a:t>
            </a:r>
            <a:r>
              <a:rPr lang="zh-TW" altLang="en-US" sz="2500" dirty="0">
                <a:solidFill>
                  <a:srgbClr val="0070C0"/>
                </a:solidFill>
                <a:latin typeface="標楷體" panose="03000509000000000000" pitchFamily="65" charset="-120"/>
                <a:ea typeface="標楷體" panose="03000509000000000000" pitchFamily="65" charset="-120"/>
              </a:rPr>
              <a:t>之</a:t>
            </a:r>
            <a:r>
              <a:rPr lang="en-US" altLang="zh-TW" sz="2500" dirty="0">
                <a:solidFill>
                  <a:srgbClr val="0070C0"/>
                </a:solidFill>
                <a:latin typeface="標楷體" panose="03000509000000000000" pitchFamily="65" charset="-120"/>
                <a:ea typeface="標楷體" panose="03000509000000000000" pitchFamily="65" charset="-120"/>
              </a:rPr>
              <a:t>SMA</a:t>
            </a:r>
            <a:endParaRPr lang="zh-TW" altLang="en-US" sz="2500" dirty="0">
              <a:solidFill>
                <a:srgbClr val="0070C0"/>
              </a:solidFill>
              <a:latin typeface="標楷體" panose="03000509000000000000" pitchFamily="65" charset="-120"/>
              <a:ea typeface="標楷體" panose="03000509000000000000" pitchFamily="65" charset="-120"/>
            </a:endParaRPr>
          </a:p>
          <a:p>
            <a:pPr marL="0" indent="0">
              <a:buNone/>
            </a:pPr>
            <a:r>
              <a:rPr lang="zh-TW" altLang="en-US" sz="2500" dirty="0">
                <a:solidFill>
                  <a:schemeClr val="accent6">
                    <a:lumMod val="75000"/>
                  </a:schemeClr>
                </a:solidFill>
                <a:latin typeface="標楷體" panose="03000509000000000000" pitchFamily="65" charset="-120"/>
                <a:ea typeface="標楷體" panose="03000509000000000000" pitchFamily="65" charset="-120"/>
              </a:rPr>
              <a:t>下軌 </a:t>
            </a:r>
            <a:r>
              <a:rPr lang="en-US" altLang="zh-TW" sz="2500" dirty="0">
                <a:solidFill>
                  <a:schemeClr val="accent6">
                    <a:lumMod val="75000"/>
                  </a:schemeClr>
                </a:solidFill>
                <a:latin typeface="標楷體" panose="03000509000000000000" pitchFamily="65" charset="-120"/>
                <a:ea typeface="標楷體" panose="03000509000000000000" pitchFamily="65" charset="-120"/>
              </a:rPr>
              <a:t>= </a:t>
            </a:r>
            <a:r>
              <a:rPr lang="zh-TW" altLang="en-US" sz="2500" dirty="0">
                <a:solidFill>
                  <a:schemeClr val="accent6">
                    <a:lumMod val="75000"/>
                  </a:schemeClr>
                </a:solidFill>
                <a:latin typeface="標楷體" panose="03000509000000000000" pitchFamily="65" charset="-120"/>
                <a:ea typeface="標楷體" panose="03000509000000000000" pitchFamily="65" charset="-120"/>
              </a:rPr>
              <a:t>中軌 − </a:t>
            </a:r>
            <a:r>
              <a:rPr lang="en-US" altLang="zh-TW" sz="2500" dirty="0">
                <a:solidFill>
                  <a:schemeClr val="accent6">
                    <a:lumMod val="75000"/>
                  </a:schemeClr>
                </a:solidFill>
                <a:latin typeface="標楷體" panose="03000509000000000000" pitchFamily="65" charset="-120"/>
                <a:ea typeface="標楷體" panose="03000509000000000000" pitchFamily="65" charset="-120"/>
              </a:rPr>
              <a:t>2 × period n</a:t>
            </a:r>
            <a:r>
              <a:rPr lang="zh-TW" altLang="en-US" sz="2500" dirty="0">
                <a:solidFill>
                  <a:schemeClr val="accent6">
                    <a:lumMod val="75000"/>
                  </a:schemeClr>
                </a:solidFill>
                <a:latin typeface="標楷體" panose="03000509000000000000" pitchFamily="65" charset="-120"/>
                <a:ea typeface="標楷體" panose="03000509000000000000" pitchFamily="65" charset="-120"/>
              </a:rPr>
              <a:t>之標準差</a:t>
            </a:r>
          </a:p>
          <a:p>
            <a:endParaRPr lang="zh-TW" altLang="en-US" dirty="0"/>
          </a:p>
        </p:txBody>
      </p:sp>
      <p:pic>
        <p:nvPicPr>
          <p:cNvPr id="5" name="圖片 4">
            <a:extLst>
              <a:ext uri="{FF2B5EF4-FFF2-40B4-BE49-F238E27FC236}">
                <a16:creationId xmlns:a16="http://schemas.microsoft.com/office/drawing/2014/main" xmlns="" id="{0C804387-6B11-499D-BDA6-CB8CF3B9D66E}"/>
              </a:ext>
            </a:extLst>
          </p:cNvPr>
          <p:cNvPicPr>
            <a:picLocks noChangeAspect="1"/>
          </p:cNvPicPr>
          <p:nvPr/>
        </p:nvPicPr>
        <p:blipFill rotWithShape="1">
          <a:blip r:embed="rId2">
            <a:extLst>
              <a:ext uri="{28A0092B-C50C-407E-A947-70E740481C1C}">
                <a14:useLocalDpi xmlns:a14="http://schemas.microsoft.com/office/drawing/2010/main" val="0"/>
              </a:ext>
            </a:extLst>
          </a:blip>
          <a:srcRect b="49646"/>
          <a:stretch/>
        </p:blipFill>
        <p:spPr>
          <a:xfrm>
            <a:off x="6369901" y="1911599"/>
            <a:ext cx="5687875" cy="2291285"/>
          </a:xfrm>
          <a:prstGeom prst="rect">
            <a:avLst/>
          </a:prstGeom>
        </p:spPr>
      </p:pic>
      <p:sp>
        <p:nvSpPr>
          <p:cNvPr id="6" name="文字方塊 5">
            <a:extLst>
              <a:ext uri="{FF2B5EF4-FFF2-40B4-BE49-F238E27FC236}">
                <a16:creationId xmlns:a16="http://schemas.microsoft.com/office/drawing/2014/main" xmlns="" id="{34AD5EB8-9B02-4C68-9F86-9CAF4A86AEF6}"/>
              </a:ext>
            </a:extLst>
          </p:cNvPr>
          <p:cNvSpPr txBox="1"/>
          <p:nvPr/>
        </p:nvSpPr>
        <p:spPr>
          <a:xfrm>
            <a:off x="838200" y="3841686"/>
            <a:ext cx="887871" cy="369332"/>
          </a:xfrm>
          <a:prstGeom prst="rect">
            <a:avLst/>
          </a:prstGeom>
          <a:noFill/>
        </p:spPr>
        <p:txBody>
          <a:bodyPr wrap="square" rtlCol="0">
            <a:spAutoFit/>
          </a:bodyPr>
          <a:lstStyle/>
          <a:p>
            <a:r>
              <a:rPr lang="en-US" altLang="zh-TW" dirty="0">
                <a:latin typeface="Cambria" panose="02040503050406030204" pitchFamily="18" charset="0"/>
              </a:rPr>
              <a:t>(n = 8)</a:t>
            </a:r>
            <a:endParaRPr lang="zh-TW" altLang="en-US" dirty="0">
              <a:latin typeface="Cambria" panose="02040503050406030204" pitchFamily="18" charset="0"/>
            </a:endParaRPr>
          </a:p>
        </p:txBody>
      </p:sp>
      <p:sp>
        <p:nvSpPr>
          <p:cNvPr id="7" name="文字方塊 6">
            <a:extLst>
              <a:ext uri="{FF2B5EF4-FFF2-40B4-BE49-F238E27FC236}">
                <a16:creationId xmlns:a16="http://schemas.microsoft.com/office/drawing/2014/main" xmlns="" id="{A35698A2-BBF7-44AF-9E2C-85EB584D80F9}"/>
              </a:ext>
            </a:extLst>
          </p:cNvPr>
          <p:cNvSpPr txBox="1"/>
          <p:nvPr/>
        </p:nvSpPr>
        <p:spPr>
          <a:xfrm>
            <a:off x="838200" y="4870825"/>
            <a:ext cx="3422009" cy="646331"/>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盤整</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Bollinger</a:t>
            </a:r>
            <a:r>
              <a:rPr lang="zh-TW" altLang="en-US" dirty="0">
                <a:latin typeface="標楷體" panose="03000509000000000000" pitchFamily="65" charset="-120"/>
                <a:ea typeface="標楷體" panose="03000509000000000000" pitchFamily="65" charset="-120"/>
              </a:rPr>
              <a:t>通道縮小</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進場</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Bollinger</a:t>
            </a:r>
            <a:r>
              <a:rPr lang="zh-TW" altLang="en-US" dirty="0">
                <a:latin typeface="標楷體" panose="03000509000000000000" pitchFamily="65" charset="-120"/>
                <a:ea typeface="標楷體" panose="03000509000000000000" pitchFamily="65" charset="-120"/>
              </a:rPr>
              <a:t>通道擴張</a:t>
            </a:r>
          </a:p>
        </p:txBody>
      </p:sp>
    </p:spTree>
    <p:extLst>
      <p:ext uri="{BB962C8B-B14F-4D97-AF65-F5344CB8AC3E}">
        <p14:creationId xmlns:p14="http://schemas.microsoft.com/office/powerpoint/2010/main" val="2729729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r>
              <a:rPr lang="en-US" altLang="zh-TW" dirty="0"/>
              <a:t>Using K-NN</a:t>
            </a:r>
            <a:endParaRPr lang="zh-TW" altLang="en-US" dirty="0"/>
          </a:p>
        </p:txBody>
      </p:sp>
      <p:sp>
        <p:nvSpPr>
          <p:cNvPr id="3" name="內容版面配置區 2">
            <a:extLst>
              <a:ext uri="{FF2B5EF4-FFF2-40B4-BE49-F238E27FC236}">
                <a16:creationId xmlns:a16="http://schemas.microsoft.com/office/drawing/2014/main" xmlns="" id="{E6EDCD24-1A89-4FD1-8F21-F0EE6B238A15}"/>
              </a:ext>
            </a:extLst>
          </p:cNvPr>
          <p:cNvSpPr>
            <a:spLocks noGrp="1"/>
          </p:cNvSpPr>
          <p:nvPr>
            <p:ph idx="1"/>
          </p:nvPr>
        </p:nvSpPr>
        <p:spPr>
          <a:xfrm>
            <a:off x="503339" y="1473287"/>
            <a:ext cx="11065079" cy="4351338"/>
          </a:xfrm>
        </p:spPr>
        <p:txBody>
          <a:bodyPr/>
          <a:lstStyle/>
          <a:p>
            <a:r>
              <a:rPr lang="zh-TW" altLang="en-US" dirty="0">
                <a:latin typeface="標楷體" panose="03000509000000000000" pitchFamily="65" charset="-120"/>
                <a:ea typeface="標楷體" panose="03000509000000000000" pitchFamily="65" charset="-120"/>
              </a:rPr>
              <a:t>訓練快速是很好的優點，因為作者打算每天都分析大量的股票資訊。</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input:</a:t>
            </a:r>
            <a:endParaRPr lang="zh-TW" altLang="en-US" dirty="0">
              <a:latin typeface="標楷體" panose="03000509000000000000" pitchFamily="65" charset="-120"/>
              <a:ea typeface="標楷體" panose="03000509000000000000" pitchFamily="65" charset="-120"/>
            </a:endParaRPr>
          </a:p>
        </p:txBody>
      </p:sp>
      <p:pic>
        <p:nvPicPr>
          <p:cNvPr id="5" name="圖片 4" descr="一張含有 文字 的圖片&#10;&#10;產生非常高可信度的描述">
            <a:extLst>
              <a:ext uri="{FF2B5EF4-FFF2-40B4-BE49-F238E27FC236}">
                <a16:creationId xmlns:a16="http://schemas.microsoft.com/office/drawing/2014/main" xmlns="" id="{054B0C1C-5CB2-415E-8031-D38C186DF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605261"/>
            <a:ext cx="5108896" cy="4340641"/>
          </a:xfrm>
          <a:prstGeom prst="rect">
            <a:avLst/>
          </a:prstGeom>
        </p:spPr>
      </p:pic>
      <p:sp>
        <p:nvSpPr>
          <p:cNvPr id="6" name="文字方塊 5">
            <a:extLst>
              <a:ext uri="{FF2B5EF4-FFF2-40B4-BE49-F238E27FC236}">
                <a16:creationId xmlns:a16="http://schemas.microsoft.com/office/drawing/2014/main" xmlns="" id="{1AC06092-C971-48F2-ACC5-F62AA42BBB83}"/>
              </a:ext>
            </a:extLst>
          </p:cNvPr>
          <p:cNvSpPr txBox="1"/>
          <p:nvPr/>
        </p:nvSpPr>
        <p:spPr>
          <a:xfrm>
            <a:off x="8052732" y="3109137"/>
            <a:ext cx="3422009" cy="1754326"/>
          </a:xfrm>
          <a:prstGeom prst="rect">
            <a:avLst/>
          </a:prstGeom>
          <a:noFill/>
        </p:spPr>
        <p:txBody>
          <a:bodyPr wrap="square" rtlCol="0">
            <a:spAutoFit/>
          </a:bodyPr>
          <a:lstStyle/>
          <a:p>
            <a:r>
              <a:rPr lang="en-US" altLang="zh-TW" dirty="0" err="1">
                <a:latin typeface="標楷體" panose="03000509000000000000" pitchFamily="65" charset="-120"/>
                <a:ea typeface="標楷體" panose="03000509000000000000" pitchFamily="65" charset="-120"/>
              </a:rPr>
              <a:t>X</a:t>
            </a:r>
            <a:r>
              <a:rPr lang="en-US" altLang="zh-TW" baseline="-25000" dirty="0" err="1">
                <a:latin typeface="標楷體" panose="03000509000000000000" pitchFamily="65" charset="-120"/>
                <a:ea typeface="標楷體" panose="03000509000000000000" pitchFamily="65" charset="-120"/>
              </a:rPr>
              <a:t>h</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最高價</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X</a:t>
            </a:r>
            <a:r>
              <a:rPr lang="en-US" altLang="zh-TW" baseline="-25000" dirty="0">
                <a:latin typeface="標楷體" panose="03000509000000000000" pitchFamily="65" charset="-120"/>
                <a:ea typeface="標楷體" panose="03000509000000000000" pitchFamily="65" charset="-120"/>
              </a:rPr>
              <a:t>l</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最低價</a:t>
            </a:r>
            <a:endParaRPr lang="en-US" altLang="zh-TW" dirty="0">
              <a:latin typeface="標楷體" panose="03000509000000000000" pitchFamily="65" charset="-120"/>
              <a:ea typeface="標楷體" panose="03000509000000000000" pitchFamily="65" charset="-120"/>
            </a:endParaRPr>
          </a:p>
          <a:p>
            <a:r>
              <a:rPr lang="en-US" altLang="zh-TW" dirty="0" err="1">
                <a:latin typeface="標楷體" panose="03000509000000000000" pitchFamily="65" charset="-120"/>
                <a:ea typeface="標楷體" panose="03000509000000000000" pitchFamily="65" charset="-120"/>
              </a:rPr>
              <a:t>PMA:price</a:t>
            </a:r>
            <a:r>
              <a:rPr lang="en-US" altLang="zh-TW" dirty="0">
                <a:latin typeface="標楷體" panose="03000509000000000000" pitchFamily="65" charset="-120"/>
                <a:ea typeface="標楷體" panose="03000509000000000000" pitchFamily="65" charset="-120"/>
              </a:rPr>
              <a:t> MA</a:t>
            </a:r>
            <a:br>
              <a:rPr lang="en-US" altLang="zh-TW" dirty="0">
                <a:latin typeface="標楷體" panose="03000509000000000000" pitchFamily="65" charset="-120"/>
                <a:ea typeface="標楷體" panose="03000509000000000000" pitchFamily="65" charset="-120"/>
              </a:rPr>
            </a:br>
            <a:r>
              <a:rPr lang="en-US" altLang="zh-TW" dirty="0" err="1">
                <a:latin typeface="標楷體" panose="03000509000000000000" pitchFamily="65" charset="-120"/>
                <a:ea typeface="標楷體" panose="03000509000000000000" pitchFamily="65" charset="-120"/>
              </a:rPr>
              <a:t>VMA:volume</a:t>
            </a:r>
            <a:r>
              <a:rPr lang="en-US" altLang="zh-TW" dirty="0">
                <a:latin typeface="標楷體" panose="03000509000000000000" pitchFamily="65" charset="-120"/>
                <a:ea typeface="標楷體" panose="03000509000000000000" pitchFamily="65" charset="-120"/>
              </a:rPr>
              <a:t> MA</a:t>
            </a:r>
          </a:p>
          <a:p>
            <a:r>
              <a:rPr lang="en-US" altLang="zh-TW" dirty="0">
                <a:latin typeface="標楷體" panose="03000509000000000000" pitchFamily="65" charset="-120"/>
                <a:ea typeface="標楷體" panose="03000509000000000000" pitchFamily="65" charset="-120"/>
              </a:rPr>
              <a:t>s:short-term = 10</a:t>
            </a:r>
            <a:r>
              <a:rPr lang="zh-TW" altLang="en-US" dirty="0">
                <a:latin typeface="標楷體" panose="03000509000000000000" pitchFamily="65" charset="-120"/>
                <a:ea typeface="標楷體" panose="03000509000000000000" pitchFamily="65" charset="-120"/>
              </a:rPr>
              <a:t>天</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l:long-term = 21</a:t>
            </a:r>
            <a:r>
              <a:rPr lang="zh-TW" altLang="en-US" dirty="0">
                <a:latin typeface="標楷體" panose="03000509000000000000" pitchFamily="65" charset="-120"/>
                <a:ea typeface="標楷體" panose="03000509000000000000" pitchFamily="65" charset="-120"/>
              </a:rPr>
              <a:t>天</a:t>
            </a:r>
          </a:p>
        </p:txBody>
      </p:sp>
      <p:sp>
        <p:nvSpPr>
          <p:cNvPr id="8" name="文字方塊 7">
            <a:extLst>
              <a:ext uri="{FF2B5EF4-FFF2-40B4-BE49-F238E27FC236}">
                <a16:creationId xmlns:a16="http://schemas.microsoft.com/office/drawing/2014/main" xmlns="" id="{D1165301-9B9A-45A1-9E76-00A29A9BCDDE}"/>
              </a:ext>
            </a:extLst>
          </p:cNvPr>
          <p:cNvSpPr txBox="1"/>
          <p:nvPr/>
        </p:nvSpPr>
        <p:spPr>
          <a:xfrm>
            <a:off x="3082605" y="1999803"/>
            <a:ext cx="5343786" cy="800219"/>
          </a:xfrm>
          <a:prstGeom prst="rect">
            <a:avLst/>
          </a:prstGeom>
          <a:noFill/>
        </p:spPr>
        <p:txBody>
          <a:bodyPr wrap="square" rtlCol="0">
            <a:spAutoFit/>
          </a:bodyPr>
          <a:lstStyle/>
          <a:p>
            <a:pPr marL="285750" indent="-285750">
              <a:buFont typeface="Arial" panose="020B0604020202020204" pitchFamily="34" charset="0"/>
              <a:buChar char="•"/>
            </a:pPr>
            <a:r>
              <a:rPr lang="en-US" altLang="zh-TW" sz="1600" dirty="0">
                <a:latin typeface="Cambria" panose="02040503050406030204" pitchFamily="18" charset="0"/>
              </a:rPr>
              <a:t>Sao Paulo Stock Exchange (</a:t>
            </a:r>
            <a:r>
              <a:rPr lang="en-US" altLang="zh-TW" sz="1600" dirty="0" err="1">
                <a:latin typeface="Cambria" panose="02040503050406030204" pitchFamily="18" charset="0"/>
              </a:rPr>
              <a:t>Bovespa</a:t>
            </a:r>
            <a:r>
              <a:rPr lang="en-US" altLang="zh-TW" sz="1600" dirty="0">
                <a:latin typeface="Cambria" panose="02040503050406030204" pitchFamily="18" charset="0"/>
              </a:rPr>
              <a:t>)</a:t>
            </a:r>
            <a:r>
              <a:rPr lang="zh-TW" altLang="en-US" sz="1500" dirty="0">
                <a:latin typeface="標楷體" panose="03000509000000000000" pitchFamily="65" charset="-120"/>
                <a:ea typeface="標楷體" panose="03000509000000000000" pitchFamily="65" charset="-120"/>
              </a:rPr>
              <a:t>的</a:t>
            </a:r>
            <a:r>
              <a:rPr lang="en-US" altLang="zh-TW" sz="1500" dirty="0">
                <a:latin typeface="標楷體" panose="03000509000000000000" pitchFamily="65" charset="-120"/>
                <a:ea typeface="標楷體" panose="03000509000000000000" pitchFamily="65" charset="-120"/>
              </a:rPr>
              <a:t>15</a:t>
            </a:r>
            <a:r>
              <a:rPr lang="zh-TW" altLang="en-US" sz="1500" dirty="0">
                <a:latin typeface="標楷體" panose="03000509000000000000" pitchFamily="65" charset="-120"/>
                <a:ea typeface="標楷體" panose="03000509000000000000" pitchFamily="65" charset="-120"/>
              </a:rPr>
              <a:t>支股票</a:t>
            </a:r>
            <a:endParaRPr lang="en-US" altLang="zh-TW" sz="15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1500" dirty="0">
                <a:latin typeface="標楷體" panose="03000509000000000000" pitchFamily="65" charset="-120"/>
                <a:ea typeface="標楷體" panose="03000509000000000000" pitchFamily="65" charset="-120"/>
              </a:rPr>
              <a:t>巴西買賣一次最少</a:t>
            </a:r>
            <a:r>
              <a:rPr lang="en-US" altLang="zh-TW" sz="1500" dirty="0">
                <a:latin typeface="標楷體" panose="03000509000000000000" pitchFamily="65" charset="-120"/>
                <a:ea typeface="標楷體" panose="03000509000000000000" pitchFamily="65" charset="-120"/>
              </a:rPr>
              <a:t>100</a:t>
            </a:r>
            <a:r>
              <a:rPr lang="zh-TW" altLang="en-US" sz="1500" dirty="0">
                <a:latin typeface="標楷體" panose="03000509000000000000" pitchFamily="65" charset="-120"/>
                <a:ea typeface="標楷體" panose="03000509000000000000" pitchFamily="65" charset="-120"/>
              </a:rPr>
              <a:t>股</a:t>
            </a:r>
            <a:endParaRPr lang="en-US" altLang="zh-TW" sz="15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en-US" altLang="zh-TW" sz="1500" dirty="0">
                <a:latin typeface="標楷體" panose="03000509000000000000" pitchFamily="65" charset="-120"/>
                <a:ea typeface="標楷體" panose="03000509000000000000" pitchFamily="65" charset="-120"/>
              </a:rPr>
              <a:t>1998/4/1~2009/3/9</a:t>
            </a:r>
            <a:endParaRPr lang="zh-TW" altLang="en-US" sz="15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86714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7984476-DB04-4371-8185-33AF926DE203}"/>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xmlns="" id="{B7662B9D-8CA6-4C41-AD6F-FAC0B647523C}"/>
              </a:ext>
            </a:extLst>
          </p:cNvPr>
          <p:cNvSpPr>
            <a:spLocks noGrp="1"/>
          </p:cNvSpPr>
          <p:nvPr>
            <p:ph idx="1"/>
          </p:nvPr>
        </p:nvSpPr>
        <p:spPr>
          <a:xfrm>
            <a:off x="427839" y="1825624"/>
            <a:ext cx="11274803" cy="5032375"/>
          </a:xfrm>
        </p:spPr>
        <p:txBody>
          <a:bodyPr>
            <a:normAutofit fontScale="85000" lnSpcReduction="20000"/>
          </a:bodyPr>
          <a:lstStyle/>
          <a:p>
            <a:r>
              <a:rPr lang="en-US" altLang="zh-TW" sz="3000" dirty="0">
                <a:latin typeface="Cambria" panose="02040503050406030204" pitchFamily="18" charset="0"/>
                <a:ea typeface="標楷體" panose="03000509000000000000" pitchFamily="65" charset="-120"/>
              </a:rPr>
              <a:t>K-NN:</a:t>
            </a:r>
            <a:r>
              <a:rPr lang="en-US" altLang="zh-TW" sz="2500" dirty="0">
                <a:latin typeface="Cambria" panose="02040503050406030204" pitchFamily="18" charset="0"/>
                <a:ea typeface="標楷體" panose="03000509000000000000" pitchFamily="65" charset="-120"/>
              </a:rPr>
              <a:t> </a:t>
            </a:r>
          </a:p>
          <a:p>
            <a:pPr marL="0" indent="0">
              <a:buNone/>
            </a:pPr>
            <a:r>
              <a:rPr lang="en-US" altLang="zh-TW" dirty="0">
                <a:latin typeface="Cambria" panose="02040503050406030204" pitchFamily="18" charset="0"/>
                <a:ea typeface="標楷體" panose="03000509000000000000" pitchFamily="65" charset="-120"/>
              </a:rPr>
              <a:t>The </a:t>
            </a:r>
            <a:r>
              <a:rPr lang="en-US" altLang="zh-TW" u="sng" dirty="0">
                <a:latin typeface="Cambria" panose="02040503050406030204" pitchFamily="18" charset="0"/>
                <a:ea typeface="標楷體" panose="03000509000000000000" pitchFamily="65" charset="-120"/>
              </a:rPr>
              <a:t>classifier’s output </a:t>
            </a:r>
            <a:r>
              <a:rPr lang="en-US" altLang="zh-TW" dirty="0">
                <a:latin typeface="Cambria" panose="02040503050406030204" pitchFamily="18" charset="0"/>
                <a:ea typeface="標楷體" panose="03000509000000000000" pitchFamily="65" charset="-120"/>
              </a:rPr>
              <a:t>is used to start a </a:t>
            </a:r>
            <a:r>
              <a:rPr lang="en-US" altLang="zh-TW" dirty="0">
                <a:solidFill>
                  <a:srgbClr val="0070C0"/>
                </a:solidFill>
                <a:latin typeface="Cambria" panose="02040503050406030204" pitchFamily="18" charset="0"/>
                <a:ea typeface="標楷體" panose="03000509000000000000" pitchFamily="65" charset="-120"/>
              </a:rPr>
              <a:t>buy (long) or sell (short) operation</a:t>
            </a:r>
            <a:r>
              <a:rPr lang="en-US" altLang="zh-TW" dirty="0">
                <a:latin typeface="Cambria" panose="02040503050406030204" pitchFamily="18" charset="0"/>
                <a:ea typeface="標楷體" panose="03000509000000000000" pitchFamily="65" charset="-120"/>
              </a:rPr>
              <a:t>. </a:t>
            </a:r>
          </a:p>
          <a:p>
            <a:pPr marL="0" indent="0">
              <a:buNone/>
            </a:pPr>
            <a:r>
              <a:rPr lang="en-US" altLang="zh-TW" dirty="0">
                <a:latin typeface="Cambria" panose="02040503050406030204" pitchFamily="18" charset="0"/>
                <a:ea typeface="標楷體" panose="03000509000000000000" pitchFamily="65" charset="-120"/>
              </a:rPr>
              <a:t>(the minimum number of 100 shares per operation)</a:t>
            </a:r>
          </a:p>
          <a:p>
            <a:endParaRPr lang="en-US" altLang="zh-TW" sz="2500" dirty="0">
              <a:latin typeface="Cambria" panose="02040503050406030204" pitchFamily="18" charset="0"/>
              <a:ea typeface="標楷體" panose="03000509000000000000" pitchFamily="65" charset="-120"/>
            </a:endParaRPr>
          </a:p>
          <a:p>
            <a:r>
              <a:rPr lang="en-US" altLang="zh-TW" sz="2500" dirty="0">
                <a:latin typeface="Cambria" panose="02040503050406030204" pitchFamily="18" charset="0"/>
                <a:ea typeface="標楷體" panose="03000509000000000000" pitchFamily="65" charset="-120"/>
              </a:rPr>
              <a:t>Trading rule:</a:t>
            </a:r>
          </a:p>
          <a:p>
            <a:pPr marL="514350" indent="-514350">
              <a:buFont typeface="Wingdings" panose="05000000000000000000" pitchFamily="2" charset="2"/>
              <a:buAutoNum type="circleNumWdWhitePlain"/>
            </a:pPr>
            <a:r>
              <a:rPr lang="en-US" altLang="zh-TW" dirty="0">
                <a:latin typeface="Cambria" panose="02040503050406030204" pitchFamily="18" charset="0"/>
                <a:ea typeface="標楷體" panose="03000509000000000000" pitchFamily="65" charset="-120"/>
              </a:rPr>
              <a:t>If the classifier’s output for day t is </a:t>
            </a:r>
            <a:r>
              <a:rPr lang="en-US" altLang="zh-TW" b="1" dirty="0">
                <a:solidFill>
                  <a:srgbClr val="0070C0"/>
                </a:solidFill>
                <a:latin typeface="Cambria" panose="02040503050406030204" pitchFamily="18" charset="0"/>
                <a:ea typeface="標楷體" panose="03000509000000000000" pitchFamily="65" charset="-120"/>
              </a:rPr>
              <a:t>buy</a:t>
            </a:r>
            <a:r>
              <a:rPr lang="en-US" altLang="zh-TW" dirty="0">
                <a:latin typeface="Cambria" panose="02040503050406030204" pitchFamily="18" charset="0"/>
                <a:ea typeface="標楷體" panose="03000509000000000000" pitchFamily="65" charset="-120"/>
              </a:rPr>
              <a:t>, then a long position is performed considering the stock’s closing price and all the available cash balance. </a:t>
            </a:r>
          </a:p>
          <a:p>
            <a:pPr marL="514350" indent="-514350">
              <a:buFont typeface="Wingdings" panose="05000000000000000000" pitchFamily="2" charset="2"/>
              <a:buAutoNum type="circleNumWdWhitePlain"/>
            </a:pPr>
            <a:r>
              <a:rPr lang="en-US" altLang="zh-TW" dirty="0">
                <a:latin typeface="Cambria" panose="02040503050406030204" pitchFamily="18" charset="0"/>
                <a:ea typeface="標楷體" panose="03000509000000000000" pitchFamily="65" charset="-120"/>
              </a:rPr>
              <a:t>If the classifier’s output is </a:t>
            </a:r>
            <a:r>
              <a:rPr lang="en-US" altLang="zh-TW" b="1" dirty="0">
                <a:solidFill>
                  <a:srgbClr val="0070C0"/>
                </a:solidFill>
                <a:latin typeface="Cambria" panose="02040503050406030204" pitchFamily="18" charset="0"/>
                <a:ea typeface="標楷體" panose="03000509000000000000" pitchFamily="65" charset="-120"/>
              </a:rPr>
              <a:t>sell</a:t>
            </a:r>
            <a:r>
              <a:rPr lang="en-US" altLang="zh-TW" dirty="0">
                <a:latin typeface="Cambria" panose="02040503050406030204" pitchFamily="18" charset="0"/>
                <a:ea typeface="標楷體" panose="03000509000000000000" pitchFamily="65" charset="-120"/>
              </a:rPr>
              <a:t> and there are any stock available in custody, then </a:t>
            </a:r>
            <a:r>
              <a:rPr lang="en-US" altLang="zh-TW" dirty="0">
                <a:solidFill>
                  <a:srgbClr val="0070C0"/>
                </a:solidFill>
                <a:latin typeface="Cambria" panose="02040503050406030204" pitchFamily="18" charset="0"/>
                <a:ea typeface="標楷體" panose="03000509000000000000" pitchFamily="65" charset="-120"/>
              </a:rPr>
              <a:t>all the stocks are sold. </a:t>
            </a:r>
          </a:p>
          <a:p>
            <a:pPr marL="514350" indent="-514350">
              <a:buFont typeface="Wingdings" panose="05000000000000000000" pitchFamily="2" charset="2"/>
              <a:buAutoNum type="circleNumWdWhitePlain"/>
            </a:pPr>
            <a:r>
              <a:rPr lang="en-US" altLang="zh-TW" dirty="0">
                <a:latin typeface="Cambria" panose="02040503050406030204" pitchFamily="18" charset="0"/>
                <a:ea typeface="標楷體" panose="03000509000000000000" pitchFamily="65" charset="-120"/>
              </a:rPr>
              <a:t>Otherwise, no operation is performed if the generated signal is </a:t>
            </a:r>
            <a:r>
              <a:rPr lang="en-US" altLang="zh-TW" b="1" dirty="0">
                <a:solidFill>
                  <a:srgbClr val="0070C0"/>
                </a:solidFill>
                <a:latin typeface="Cambria" panose="02040503050406030204" pitchFamily="18" charset="0"/>
                <a:ea typeface="標楷體" panose="03000509000000000000" pitchFamily="65" charset="-120"/>
              </a:rPr>
              <a:t>keep</a:t>
            </a:r>
            <a:r>
              <a:rPr lang="en-US" altLang="zh-TW" dirty="0">
                <a:latin typeface="Cambria" panose="02040503050406030204" pitchFamily="18" charset="0"/>
                <a:ea typeface="標楷體" panose="03000509000000000000" pitchFamily="65" charset="-120"/>
              </a:rPr>
              <a:t>.</a:t>
            </a:r>
            <a:endParaRPr lang="en-US" altLang="zh-TW" sz="2500" dirty="0">
              <a:latin typeface="Cambria" panose="02040503050406030204" pitchFamily="18" charset="0"/>
              <a:ea typeface="標楷體" panose="03000509000000000000" pitchFamily="65" charset="-120"/>
            </a:endParaRPr>
          </a:p>
          <a:p>
            <a:endParaRPr lang="en-US" altLang="zh-TW" sz="2500" dirty="0">
              <a:latin typeface="標楷體" panose="03000509000000000000" pitchFamily="65" charset="-120"/>
              <a:ea typeface="標楷體" panose="03000509000000000000" pitchFamily="65" charset="-120"/>
            </a:endParaRPr>
          </a:p>
          <a:p>
            <a:r>
              <a:rPr lang="en-US" altLang="zh-TW" sz="2500" dirty="0">
                <a:latin typeface="標楷體" panose="03000509000000000000" pitchFamily="65" charset="-120"/>
                <a:ea typeface="標楷體" panose="03000509000000000000" pitchFamily="65" charset="-120"/>
              </a:rPr>
              <a:t>Stop gain: </a:t>
            </a:r>
            <a:r>
              <a:rPr lang="zh-TW" altLang="en-US" sz="2500" dirty="0">
                <a:latin typeface="標楷體" panose="03000509000000000000" pitchFamily="65" charset="-120"/>
                <a:ea typeface="標楷體" panose="03000509000000000000" pitchFamily="65" charset="-120"/>
              </a:rPr>
              <a:t>如果證券漲幅超過</a:t>
            </a:r>
            <a:r>
              <a:rPr lang="en-US" altLang="zh-TW" sz="2500" dirty="0">
                <a:latin typeface="標楷體" panose="03000509000000000000" pitchFamily="65" charset="-120"/>
                <a:ea typeface="標楷體" panose="03000509000000000000" pitchFamily="65" charset="-120"/>
              </a:rPr>
              <a:t>10%</a:t>
            </a:r>
            <a:r>
              <a:rPr lang="zh-TW" altLang="en-US" sz="2500" dirty="0">
                <a:latin typeface="標楷體" panose="03000509000000000000" pitchFamily="65" charset="-120"/>
                <a:ea typeface="標楷體" panose="03000509000000000000" pitchFamily="65" charset="-120"/>
              </a:rPr>
              <a:t>，則將所有證券全數賣出。</a:t>
            </a:r>
            <a:r>
              <a:rPr lang="en-US" altLang="zh-TW" sz="2500" dirty="0">
                <a:latin typeface="標楷體" panose="03000509000000000000" pitchFamily="65" charset="-120"/>
                <a:ea typeface="標楷體" panose="03000509000000000000" pitchFamily="65" charset="-120"/>
              </a:rPr>
              <a:t>(</a:t>
            </a:r>
            <a:r>
              <a:rPr lang="zh-TW" altLang="en-US" sz="2500" dirty="0">
                <a:latin typeface="標楷體" panose="03000509000000000000" pitchFamily="65" charset="-120"/>
                <a:ea typeface="標楷體" panose="03000509000000000000" pitchFamily="65" charset="-120"/>
              </a:rPr>
              <a:t>可能轉折下跌</a:t>
            </a:r>
            <a:r>
              <a:rPr lang="en-US" altLang="zh-TW" sz="2500" dirty="0">
                <a:latin typeface="標楷體" panose="03000509000000000000" pitchFamily="65" charset="-120"/>
                <a:ea typeface="標楷體" panose="03000509000000000000" pitchFamily="65" charset="-120"/>
              </a:rPr>
              <a:t>)</a:t>
            </a:r>
          </a:p>
          <a:p>
            <a:r>
              <a:rPr lang="en-US" altLang="zh-TW" sz="2500" dirty="0">
                <a:latin typeface="標楷體" panose="03000509000000000000" pitchFamily="65" charset="-120"/>
                <a:ea typeface="標楷體" panose="03000509000000000000" pitchFamily="65" charset="-120"/>
              </a:rPr>
              <a:t>Stop loss: </a:t>
            </a:r>
            <a:r>
              <a:rPr lang="zh-TW" altLang="en-US" sz="2500" dirty="0">
                <a:latin typeface="標楷體" panose="03000509000000000000" pitchFamily="65" charset="-120"/>
                <a:ea typeface="標楷體" panose="03000509000000000000" pitchFamily="65" charset="-120"/>
              </a:rPr>
              <a:t>如果證券跌幅達到 </a:t>
            </a:r>
            <a:r>
              <a:rPr lang="en-US" altLang="zh-TW" sz="2500" dirty="0">
                <a:latin typeface="標楷體" panose="03000509000000000000" pitchFamily="65" charset="-120"/>
                <a:ea typeface="標楷體" panose="03000509000000000000" pitchFamily="65" charset="-120"/>
              </a:rPr>
              <a:t>3%</a:t>
            </a:r>
            <a:r>
              <a:rPr lang="zh-TW" altLang="en-US" sz="2500" dirty="0">
                <a:latin typeface="標楷體" panose="03000509000000000000" pitchFamily="65" charset="-120"/>
                <a:ea typeface="標楷體" panose="03000509000000000000" pitchFamily="65" charset="-120"/>
              </a:rPr>
              <a:t>，則將所有證券賣出。</a:t>
            </a:r>
            <a:endParaRPr lang="en-US" altLang="zh-TW" sz="2500" dirty="0">
              <a:latin typeface="標楷體" panose="03000509000000000000" pitchFamily="65" charset="-120"/>
              <a:ea typeface="標楷體" panose="03000509000000000000" pitchFamily="65" charset="-120"/>
            </a:endParaRPr>
          </a:p>
          <a:p>
            <a:r>
              <a:rPr lang="en-US" altLang="zh-TW" sz="2500" dirty="0">
                <a:latin typeface="標楷體" panose="03000509000000000000" pitchFamily="65" charset="-120"/>
                <a:ea typeface="標楷體" panose="03000509000000000000" pitchFamily="65" charset="-120"/>
              </a:rPr>
              <a:t>RSI filter: </a:t>
            </a:r>
            <a:r>
              <a:rPr lang="zh-TW" altLang="en-US" sz="2500" dirty="0">
                <a:latin typeface="標楷體" panose="03000509000000000000" pitchFamily="65" charset="-120"/>
                <a:ea typeface="標楷體" panose="03000509000000000000" pitchFamily="65" charset="-120"/>
              </a:rPr>
              <a:t>大於</a:t>
            </a:r>
            <a:r>
              <a:rPr lang="en-US" altLang="zh-TW" sz="2500" dirty="0">
                <a:latin typeface="標楷體" panose="03000509000000000000" pitchFamily="65" charset="-120"/>
                <a:ea typeface="標楷體" panose="03000509000000000000" pitchFamily="65" charset="-120"/>
              </a:rPr>
              <a:t>70%</a:t>
            </a:r>
            <a:r>
              <a:rPr lang="zh-TW" altLang="en-US" sz="2500" dirty="0">
                <a:latin typeface="標楷體" panose="03000509000000000000" pitchFamily="65" charset="-120"/>
                <a:ea typeface="標楷體" panose="03000509000000000000" pitchFamily="65" charset="-120"/>
              </a:rPr>
              <a:t>無論如何都不買入</a:t>
            </a:r>
          </a:p>
        </p:txBody>
      </p:sp>
    </p:spTree>
    <p:extLst>
      <p:ext uri="{BB962C8B-B14F-4D97-AF65-F5344CB8AC3E}">
        <p14:creationId xmlns:p14="http://schemas.microsoft.com/office/powerpoint/2010/main" val="864004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descr="一張含有 螢幕擷取畫面 的圖片&#10;&#10;產生非常高可信度的描述">
            <a:extLst>
              <a:ext uri="{FF2B5EF4-FFF2-40B4-BE49-F238E27FC236}">
                <a16:creationId xmlns:a16="http://schemas.microsoft.com/office/drawing/2014/main" xmlns="" id="{CAE2774E-C8EF-4FE6-B1EF-E853A9A0EB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5095" y="3067416"/>
            <a:ext cx="7089297" cy="3151492"/>
          </a:xfrm>
        </p:spPr>
      </p:pic>
      <p:sp>
        <p:nvSpPr>
          <p:cNvPr id="7" name="文字方塊 6">
            <a:extLst>
              <a:ext uri="{FF2B5EF4-FFF2-40B4-BE49-F238E27FC236}">
                <a16:creationId xmlns:a16="http://schemas.microsoft.com/office/drawing/2014/main" xmlns="" id="{12F2D0C9-8AE8-47B4-B1A9-6C248FBAFEDF}"/>
              </a:ext>
            </a:extLst>
          </p:cNvPr>
          <p:cNvSpPr txBox="1"/>
          <p:nvPr/>
        </p:nvSpPr>
        <p:spPr>
          <a:xfrm>
            <a:off x="1375095" y="1986637"/>
            <a:ext cx="5343786" cy="923330"/>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標楷體" panose="03000509000000000000" pitchFamily="65" charset="-120"/>
                <a:ea typeface="標楷體" panose="03000509000000000000" pitchFamily="65" charset="-120"/>
              </a:rPr>
              <a:t>3</a:t>
            </a:r>
            <a:r>
              <a:rPr lang="zh-TW" altLang="en-US" dirty="0">
                <a:latin typeface="標楷體" panose="03000509000000000000" pitchFamily="65" charset="-120"/>
                <a:ea typeface="標楷體" panose="03000509000000000000" pitchFamily="65" charset="-120"/>
              </a:rPr>
              <a:t>年訓練、</a:t>
            </a:r>
            <a:r>
              <a:rPr lang="en-US" altLang="zh-TW" dirty="0">
                <a:latin typeface="標楷體" panose="03000509000000000000" pitchFamily="65" charset="-120"/>
                <a:ea typeface="標楷體" panose="03000509000000000000" pitchFamily="65" charset="-120"/>
              </a:rPr>
              <a:t>1</a:t>
            </a:r>
            <a:r>
              <a:rPr lang="zh-TW" altLang="en-US" dirty="0">
                <a:latin typeface="標楷體" panose="03000509000000000000" pitchFamily="65" charset="-120"/>
                <a:ea typeface="標楷體" panose="03000509000000000000" pitchFamily="65" charset="-120"/>
              </a:rPr>
              <a:t>年測試</a:t>
            </a:r>
            <a:endParaRPr lang="en-US" altLang="zh-TW"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初始資金 </a:t>
            </a:r>
            <a:r>
              <a:rPr lang="en-US" altLang="zh-TW" dirty="0">
                <a:latin typeface="標楷體" panose="03000509000000000000" pitchFamily="65" charset="-120"/>
                <a:ea typeface="標楷體" panose="03000509000000000000" pitchFamily="65" charset="-120"/>
              </a:rPr>
              <a:t>R$ 100,000</a:t>
            </a: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交易手續費約 </a:t>
            </a:r>
            <a:r>
              <a:rPr lang="en-US" altLang="zh-TW" dirty="0">
                <a:latin typeface="標楷體" panose="03000509000000000000" pitchFamily="65" charset="-120"/>
                <a:ea typeface="標楷體" panose="03000509000000000000" pitchFamily="65" charset="-120"/>
              </a:rPr>
              <a:t>R$ 5</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958143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endParaRPr lang="zh-TW" altLang="en-US"/>
          </a:p>
        </p:txBody>
      </p:sp>
      <p:pic>
        <p:nvPicPr>
          <p:cNvPr id="5" name="內容版面配置區 4" descr="一張含有 螢幕擷取畫面 的圖片&#10;&#10;產生非常高可信度的描述">
            <a:extLst>
              <a:ext uri="{FF2B5EF4-FFF2-40B4-BE49-F238E27FC236}">
                <a16:creationId xmlns:a16="http://schemas.microsoft.com/office/drawing/2014/main" xmlns="" id="{5EF38186-7696-4350-92F1-AEAC124B57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10748" y="1827903"/>
            <a:ext cx="5432309" cy="3808631"/>
          </a:xfrm>
        </p:spPr>
      </p:pic>
      <p:pic>
        <p:nvPicPr>
          <p:cNvPr id="7" name="圖片 6" descr="一張含有 螢幕擷取畫面 的圖片&#10;&#10;產生非常高可信度的描述">
            <a:extLst>
              <a:ext uri="{FF2B5EF4-FFF2-40B4-BE49-F238E27FC236}">
                <a16:creationId xmlns:a16="http://schemas.microsoft.com/office/drawing/2014/main" xmlns="" id="{8FB537A5-5FED-40F5-A6B7-75D88E8CDF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002" y="2194028"/>
            <a:ext cx="6535024" cy="3442506"/>
          </a:xfrm>
          <a:prstGeom prst="rect">
            <a:avLst/>
          </a:prstGeom>
        </p:spPr>
      </p:pic>
      <p:sp>
        <p:nvSpPr>
          <p:cNvPr id="8" name="文字方塊 7">
            <a:extLst>
              <a:ext uri="{FF2B5EF4-FFF2-40B4-BE49-F238E27FC236}">
                <a16:creationId xmlns:a16="http://schemas.microsoft.com/office/drawing/2014/main" xmlns="" id="{09E1A9BB-B1B8-4D9D-A37E-13E0D969F1AE}"/>
              </a:ext>
            </a:extLst>
          </p:cNvPr>
          <p:cNvSpPr txBox="1"/>
          <p:nvPr/>
        </p:nvSpPr>
        <p:spPr>
          <a:xfrm>
            <a:off x="9714452" y="5496749"/>
            <a:ext cx="2197915" cy="778215"/>
          </a:xfrm>
          <a:prstGeom prst="rect">
            <a:avLst/>
          </a:prstGeom>
          <a:noFill/>
        </p:spPr>
        <p:txBody>
          <a:bodyPr wrap="square" rtlCol="0">
            <a:spAutoFit/>
          </a:bodyPr>
          <a:lstStyle/>
          <a:p>
            <a:r>
              <a:rPr lang="zh-TW" altLang="en-US" sz="1500" dirty="0">
                <a:solidFill>
                  <a:srgbClr val="FF0000"/>
                </a:solidFill>
                <a:latin typeface="標楷體" panose="03000509000000000000" pitchFamily="65" charset="-120"/>
                <a:ea typeface="標楷體" panose="03000509000000000000" pitchFamily="65" charset="-120"/>
              </a:rPr>
              <a:t>一年平均</a:t>
            </a:r>
            <a:r>
              <a:rPr lang="en-US" altLang="zh-TW" sz="1500" dirty="0">
                <a:solidFill>
                  <a:srgbClr val="FF0000"/>
                </a:solidFill>
                <a:latin typeface="標楷體" panose="03000509000000000000" pitchFamily="65" charset="-120"/>
                <a:ea typeface="標楷體" panose="03000509000000000000" pitchFamily="65" charset="-120"/>
              </a:rPr>
              <a:t>40</a:t>
            </a:r>
            <a:r>
              <a:rPr lang="zh-TW" altLang="en-US" sz="1500" dirty="0">
                <a:solidFill>
                  <a:srgbClr val="FF0000"/>
                </a:solidFill>
                <a:latin typeface="標楷體" panose="03000509000000000000" pitchFamily="65" charset="-120"/>
                <a:ea typeface="標楷體" panose="03000509000000000000" pitchFamily="65" charset="-120"/>
              </a:rPr>
              <a:t>次 或 每月不到</a:t>
            </a:r>
            <a:r>
              <a:rPr lang="en-US" altLang="zh-TW" sz="1500" dirty="0">
                <a:solidFill>
                  <a:srgbClr val="FF0000"/>
                </a:solidFill>
                <a:latin typeface="標楷體" panose="03000509000000000000" pitchFamily="65" charset="-120"/>
                <a:ea typeface="標楷體" panose="03000509000000000000" pitchFamily="65" charset="-120"/>
              </a:rPr>
              <a:t>4</a:t>
            </a:r>
            <a:r>
              <a:rPr lang="zh-TW" altLang="en-US" sz="1500" dirty="0">
                <a:solidFill>
                  <a:srgbClr val="FF0000"/>
                </a:solidFill>
                <a:latin typeface="標楷體" panose="03000509000000000000" pitchFamily="65" charset="-120"/>
                <a:ea typeface="標楷體" panose="03000509000000000000" pitchFamily="65" charset="-120"/>
              </a:rPr>
              <a:t>次，作者認為這樣可降低風險。</a:t>
            </a:r>
          </a:p>
        </p:txBody>
      </p:sp>
      <p:sp>
        <p:nvSpPr>
          <p:cNvPr id="9" name="文字方塊 8">
            <a:extLst>
              <a:ext uri="{FF2B5EF4-FFF2-40B4-BE49-F238E27FC236}">
                <a16:creationId xmlns:a16="http://schemas.microsoft.com/office/drawing/2014/main" xmlns="" id="{BD85073F-F53B-4B9E-9214-A91B8E3008FD}"/>
              </a:ext>
            </a:extLst>
          </p:cNvPr>
          <p:cNvSpPr txBox="1"/>
          <p:nvPr/>
        </p:nvSpPr>
        <p:spPr>
          <a:xfrm>
            <a:off x="1749845" y="5679494"/>
            <a:ext cx="3194806" cy="323165"/>
          </a:xfrm>
          <a:prstGeom prst="rect">
            <a:avLst/>
          </a:prstGeom>
          <a:noFill/>
        </p:spPr>
        <p:txBody>
          <a:bodyPr wrap="square" rtlCol="0">
            <a:spAutoFit/>
          </a:bodyPr>
          <a:lstStyle/>
          <a:p>
            <a:r>
              <a:rPr lang="en-US" altLang="zh-TW" sz="1500" dirty="0">
                <a:latin typeface="標楷體" panose="03000509000000000000" pitchFamily="65" charset="-120"/>
                <a:ea typeface="標楷體" panose="03000509000000000000" pitchFamily="65" charset="-120"/>
              </a:rPr>
              <a:t>(7</a:t>
            </a:r>
            <a:r>
              <a:rPr lang="zh-TW" altLang="en-US" sz="1500" dirty="0">
                <a:latin typeface="標楷體" panose="03000509000000000000" pitchFamily="65" charset="-120"/>
                <a:ea typeface="標楷體" panose="03000509000000000000" pitchFamily="65" charset="-120"/>
              </a:rPr>
              <a:t>年</a:t>
            </a:r>
            <a:r>
              <a:rPr lang="en-US" altLang="zh-TW" sz="1500" dirty="0">
                <a:latin typeface="標楷體" panose="03000509000000000000" pitchFamily="65" charset="-120"/>
                <a:ea typeface="標楷體" panose="03000509000000000000" pitchFamily="65" charset="-120"/>
              </a:rPr>
              <a:t>testing period</a:t>
            </a:r>
            <a:r>
              <a:rPr lang="zh-TW" altLang="en-US" sz="1500" dirty="0">
                <a:latin typeface="標楷體" panose="03000509000000000000" pitchFamily="65" charset="-120"/>
                <a:ea typeface="標楷體" panose="03000509000000000000" pitchFamily="65" charset="-120"/>
              </a:rPr>
              <a:t>累積報酬率</a:t>
            </a:r>
            <a:r>
              <a:rPr lang="en-US" altLang="zh-TW" sz="1500" dirty="0">
                <a:latin typeface="標楷體" panose="03000509000000000000" pitchFamily="65" charset="-120"/>
                <a:ea typeface="標楷體" panose="03000509000000000000" pitchFamily="65" charset="-120"/>
              </a:rPr>
              <a:t>)</a:t>
            </a:r>
            <a:endParaRPr lang="zh-TW" altLang="en-US" sz="1500" dirty="0">
              <a:latin typeface="標楷體" panose="03000509000000000000" pitchFamily="65" charset="-120"/>
              <a:ea typeface="標楷體" panose="03000509000000000000" pitchFamily="65" charset="-120"/>
            </a:endParaRPr>
          </a:p>
        </p:txBody>
      </p:sp>
      <p:sp>
        <p:nvSpPr>
          <p:cNvPr id="10" name="矩形 9">
            <a:extLst>
              <a:ext uri="{FF2B5EF4-FFF2-40B4-BE49-F238E27FC236}">
                <a16:creationId xmlns:a16="http://schemas.microsoft.com/office/drawing/2014/main" xmlns="" id="{85A13F20-5B9D-4BC1-826B-7301088B5D4B}"/>
              </a:ext>
            </a:extLst>
          </p:cNvPr>
          <p:cNvSpPr/>
          <p:nvPr/>
        </p:nvSpPr>
        <p:spPr>
          <a:xfrm>
            <a:off x="10377182" y="2801923"/>
            <a:ext cx="729842" cy="26948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xmlns="" id="{DB4A9534-5200-460D-A9BF-14D8E1B4F5CF}"/>
              </a:ext>
            </a:extLst>
          </p:cNvPr>
          <p:cNvSpPr txBox="1"/>
          <p:nvPr/>
        </p:nvSpPr>
        <p:spPr>
          <a:xfrm>
            <a:off x="1549908" y="1895230"/>
            <a:ext cx="3483486" cy="323165"/>
          </a:xfrm>
          <a:prstGeom prst="rect">
            <a:avLst/>
          </a:prstGeom>
          <a:noFill/>
        </p:spPr>
        <p:txBody>
          <a:bodyPr wrap="square" rtlCol="0">
            <a:spAutoFit/>
          </a:bodyPr>
          <a:lstStyle/>
          <a:p>
            <a:r>
              <a:rPr lang="en-US" altLang="zh-TW" sz="1500" dirty="0">
                <a:latin typeface="標楷體" panose="03000509000000000000" pitchFamily="65" charset="-120"/>
                <a:ea typeface="標楷體" panose="03000509000000000000" pitchFamily="65" charset="-120"/>
              </a:rPr>
              <a:t>11/15</a:t>
            </a:r>
            <a:r>
              <a:rPr lang="zh-TW" altLang="en-US" sz="1500" dirty="0">
                <a:latin typeface="標楷體" panose="03000509000000000000" pitchFamily="65" charset="-120"/>
                <a:ea typeface="標楷體" panose="03000509000000000000" pitchFamily="65" charset="-120"/>
              </a:rPr>
              <a:t>表現好；</a:t>
            </a:r>
            <a:r>
              <a:rPr lang="en-US" altLang="zh-TW" sz="1500" dirty="0">
                <a:latin typeface="標楷體" panose="03000509000000000000" pitchFamily="65" charset="-120"/>
                <a:ea typeface="標楷體" panose="03000509000000000000" pitchFamily="65" charset="-120"/>
              </a:rPr>
              <a:t>3/15</a:t>
            </a:r>
            <a:r>
              <a:rPr lang="zh-TW" altLang="en-US" sz="1500" dirty="0">
                <a:latin typeface="標楷體" panose="03000509000000000000" pitchFamily="65" charset="-120"/>
                <a:ea typeface="標楷體" panose="03000509000000000000" pitchFamily="65" charset="-120"/>
              </a:rPr>
              <a:t>表現差；</a:t>
            </a:r>
            <a:r>
              <a:rPr lang="en-US" altLang="zh-TW" sz="1500" dirty="0">
                <a:latin typeface="標楷體" panose="03000509000000000000" pitchFamily="65" charset="-120"/>
                <a:ea typeface="標楷體" panose="03000509000000000000" pitchFamily="65" charset="-120"/>
              </a:rPr>
              <a:t>1/15</a:t>
            </a:r>
            <a:r>
              <a:rPr lang="zh-TW" altLang="en-US" sz="1500" dirty="0">
                <a:latin typeface="標楷體" panose="03000509000000000000" pitchFamily="65" charset="-120"/>
                <a:ea typeface="標楷體" panose="03000509000000000000" pitchFamily="65" charset="-120"/>
              </a:rPr>
              <a:t>類似</a:t>
            </a:r>
          </a:p>
        </p:txBody>
      </p:sp>
    </p:spTree>
    <p:extLst>
      <p:ext uri="{BB962C8B-B14F-4D97-AF65-F5344CB8AC3E}">
        <p14:creationId xmlns:p14="http://schemas.microsoft.com/office/powerpoint/2010/main" val="1308475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45A8AD-EEF5-44C6-85D9-FFEF60890712}"/>
              </a:ext>
            </a:extLst>
          </p:cNvPr>
          <p:cNvSpPr>
            <a:spLocks noGrp="1"/>
          </p:cNvSpPr>
          <p:nvPr>
            <p:ph type="title"/>
          </p:nvPr>
        </p:nvSpPr>
        <p:spPr/>
        <p:txBody>
          <a:bodyPr/>
          <a:lstStyle/>
          <a:p>
            <a:endParaRPr lang="zh-TW" altLang="en-US"/>
          </a:p>
        </p:txBody>
      </p:sp>
      <p:pic>
        <p:nvPicPr>
          <p:cNvPr id="5" name="內容版面配置區 4" descr="一張含有 螢幕擷取畫面 的圖片&#10;&#10;產生非常高可信度的描述">
            <a:extLst>
              <a:ext uri="{FF2B5EF4-FFF2-40B4-BE49-F238E27FC236}">
                <a16:creationId xmlns:a16="http://schemas.microsoft.com/office/drawing/2014/main" xmlns="" id="{BA389FC6-8DB7-4DE8-8110-A177C5ABA6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5199" y="2257966"/>
            <a:ext cx="8761602" cy="3331463"/>
          </a:xfrm>
        </p:spPr>
      </p:pic>
    </p:spTree>
    <p:extLst>
      <p:ext uri="{BB962C8B-B14F-4D97-AF65-F5344CB8AC3E}">
        <p14:creationId xmlns:p14="http://schemas.microsoft.com/office/powerpoint/2010/main" val="7164345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553</Words>
  <Application>Microsoft Office PowerPoint</Application>
  <PresentationFormat>寬螢幕</PresentationFormat>
  <Paragraphs>67</Paragraphs>
  <Slides>11</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11</vt:i4>
      </vt:variant>
    </vt:vector>
  </HeadingPairs>
  <TitlesOfParts>
    <vt:vector size="20" baseType="lpstr">
      <vt:lpstr>新細明體</vt:lpstr>
      <vt:lpstr>標楷體</vt:lpstr>
      <vt:lpstr>Arial</vt:lpstr>
      <vt:lpstr>Calibri</vt:lpstr>
      <vt:lpstr>Calibri Light</vt:lpstr>
      <vt:lpstr>Cambria</vt:lpstr>
      <vt:lpstr>Cambria Math</vt:lpstr>
      <vt:lpstr>Wingdings</vt:lpstr>
      <vt:lpstr>Office 佈景主題</vt:lpstr>
      <vt:lpstr>A method for automatic stock trading combining technical analysis and nearest neighbor classification</vt:lpstr>
      <vt:lpstr>Abstract</vt:lpstr>
      <vt:lpstr>Technical indicator using in this paper</vt:lpstr>
      <vt:lpstr>PowerPoint 簡報</vt:lpstr>
      <vt:lpstr>PowerPoint 簡報</vt:lpstr>
      <vt:lpstr>PowerPoint 簡報</vt:lpstr>
      <vt:lpstr>Using K-NN</vt:lpstr>
      <vt:lpstr>PowerPoint 簡報</vt:lpstr>
      <vt:lpstr>Experiment</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method for automatic stock trading combining technical analysis and nearest neighbor classification</dc:title>
  <dc:creator>jhan</dc:creator>
  <cp:lastModifiedBy>pplab-class</cp:lastModifiedBy>
  <cp:revision>40</cp:revision>
  <dcterms:created xsi:type="dcterms:W3CDTF">2017-06-20T09:32:26Z</dcterms:created>
  <dcterms:modified xsi:type="dcterms:W3CDTF">2017-06-20T11:49:17Z</dcterms:modified>
</cp:coreProperties>
</file>