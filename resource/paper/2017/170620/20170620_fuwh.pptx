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72" r:id="rId11"/>
    <p:sldId id="266" r:id="rId12"/>
    <p:sldId id="267" r:id="rId13"/>
    <p:sldId id="269" r:id="rId14"/>
    <p:sldId id="270" r:id="rId15"/>
    <p:sldId id="273" r:id="rId16"/>
    <p:sldId id="271" r:id="rId17"/>
    <p:sldId id="274" r:id="rId18"/>
  </p:sldIdLst>
  <p:sldSz cx="10080625" cy="7559675"/>
  <p:notesSz cx="7559675" cy="106918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1">
          <p15:clr>
            <a:srgbClr val="A4A3A4"/>
          </p15:clr>
        </p15:guide>
        <p15:guide id="2" pos="3175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hfu" initials="w" lastIdx="2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AEFF7"/>
          </a:solidFill>
        </a:fill>
      </a:tcStyle>
    </a:wholeTbl>
    <a:band1H>
      <a:tcStyle>
        <a:tcBdr/>
        <a:fill>
          <a:solidFill>
            <a:srgbClr val="D2DEEF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D2DEEF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5B9BD5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5B9BD5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5B9BD5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5B9BD5"/>
          </a:solidFill>
        </a:fill>
      </a:tcStyle>
    </a:firstRow>
  </a:tblStyle>
  <a:tblStyle styleId="{BC89EF96-8CEA-46FF-86C4-4CE0E7609802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  <a:band1H>
      <a:tcStyle>
        <a:tcBdr/>
        <a:fill>
          <a:solidFill>
            <a:srgbClr val="5B9BD5"/>
          </a:solidFill>
        </a:fill>
      </a:tcStyle>
    </a:band1H>
    <a:band1V>
      <a:tcStyle>
        <a:tcBdr/>
        <a:fill>
          <a:solidFill>
            <a:srgbClr val="5B9BD5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a:top>
        </a:tcBdr>
      </a:tcStyle>
    </a:lastRow>
    <a:firstRow>
      <a:tcTxStyle b="on">
        <a:font>
          <a:latin typeface=""/>
          <a:ea typeface=""/>
          <a:cs typeface=""/>
        </a:font>
      </a:tcTxStyle>
      <a:tcStyle>
        <a:tcBdr>
          <a:bottom>
            <a:ln w="25402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firstRow>
  </a:tblStyle>
  <a:tblStyle styleId="{5940675A-B579-460E-94D1-54222C63F5D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</a:tblStyle>
  <a:tblStyle styleId="{E8B1032C-EA38-4F05-BA0D-38AFFFC7BED3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70AD47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70AD47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70AD47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70AD47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  <a:band1H>
      <a:tcStyle>
        <a:tcBdr/>
        <a:fill>
          <a:solidFill>
            <a:srgbClr val="70AD47"/>
          </a:solidFill>
        </a:fill>
      </a:tcStyle>
    </a:band1H>
    <a:band1V>
      <a:tcStyle>
        <a:tcBdr/>
        <a:fill>
          <a:solidFill>
            <a:srgbClr val="70AD47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70AD47"/>
              </a:solidFill>
              <a:prstDash val="solid"/>
              <a:round/>
              <a:headEnd type="none" w="med" len="med"/>
              <a:tailEnd type="none" w="med" len="med"/>
            </a:ln>
          </a:top>
        </a:tcBdr>
      </a:tcStyle>
    </a:lastRow>
    <a:firstRow>
      <a:tcTxStyle b="on">
        <a:font>
          <a:latin typeface=""/>
          <a:ea typeface=""/>
          <a:cs typeface=""/>
        </a:font>
      </a:tcTxStyle>
      <a:tcStyle>
        <a:tcBdr>
          <a:bottom>
            <a:ln w="25402" cap="flat" cmpd="sng" algn="ctr">
              <a:solidFill>
                <a:srgbClr val="70AD47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firstRow>
  </a:tblStyle>
  <a:tblStyle styleId="{5DA37D80-6434-44D0-A028-1B22A696006F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  <a:band1H>
      <a:tcStyle>
        <a:tcBdr/>
        <a:fill>
          <a:solidFill>
            <a:srgbClr val="ED7D31"/>
          </a:solidFill>
        </a:fill>
      </a:tcStyle>
    </a:band1H>
    <a:band1V>
      <a:tcStyle>
        <a:tcBdr/>
        <a:fill>
          <a:solidFill>
            <a:srgbClr val="ED7D31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top>
        </a:tcBdr>
      </a:tcStyle>
    </a:lastRow>
    <a:firstRow>
      <a:tcTxStyle b="on">
        <a:font>
          <a:latin typeface=""/>
          <a:ea typeface=""/>
          <a:cs typeface=""/>
        </a:font>
      </a:tcTxStyle>
      <a:tcStyle>
        <a:tcBdr>
          <a:bottom>
            <a:ln w="25402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firstRow>
  </a:tblStyle>
  <a:tblStyle styleId="{EB344D84-9AFB-497E-A393-DC336BA19D2E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top>
            <a:ln w="2540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2540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FFFFFF"/>
          </a:solidFill>
        </a:fill>
      </a:tcStyle>
    </a:wholeTbl>
    <a:band1H>
      <a:tcStyle>
        <a:tcBdr/>
        <a:fill>
          <a:solidFill>
            <a:srgbClr val="E7E7E7"/>
          </a:solidFill>
        </a:fill>
      </a:tcStyle>
    </a:band1H>
    <a:band1V>
      <a:tcStyle>
        <a:tcBdr/>
        <a:fill>
          <a:solidFill>
            <a:srgbClr val="E7E7E7"/>
          </a:solidFill>
        </a:fill>
      </a:tcStyle>
    </a:band1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A5A5A5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A5A5A5"/>
          </a:solidFill>
        </a:fill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FFFFFF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2540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A5A5A5"/>
          </a:solidFill>
        </a:fill>
      </a:tcStyle>
    </a:firstRow>
  </a:tblStyle>
  <a:tblStyle styleId="{5202B0CA-FC54-4496-8BCA-5EF66A818D29}" styleName="深色樣式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深色樣式 2 - 輔色 1/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深色樣式 2 - 輔色 3/輔色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D113A9D2-9D6B-4929-AA2D-F23B5EE8CBE7}" styleName="佈景主題樣式 2 - 輔色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佈景主題樣式 2 - 輔色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44" autoAdjust="0"/>
    <p:restoredTop sz="92545" autoAdjust="0"/>
  </p:normalViewPr>
  <p:slideViewPr>
    <p:cSldViewPr snapToGrid="0">
      <p:cViewPr varScale="1">
        <p:scale>
          <a:sx n="96" d="100"/>
          <a:sy n="96" d="100"/>
        </p:scale>
        <p:origin x="954" y="84"/>
      </p:cViewPr>
      <p:guideLst>
        <p:guide orient="horz" pos="2381"/>
        <p:guide pos="31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t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微軟正黑體" pitchFamily="2"/>
              <a:cs typeface="Mangal" pitchFamily="2"/>
            </a:endParaRPr>
          </a:p>
        </p:txBody>
      </p:sp>
      <p:sp>
        <p:nvSpPr>
          <p:cNvPr id="3" name="日期版面配置區 2"/>
          <p:cNvSpPr txBox="1">
            <a:spLocks noGrp="1"/>
          </p:cNvSpPr>
          <p:nvPr>
            <p:ph type="dt" sz="quarter" idx="1"/>
          </p:nvPr>
        </p:nvSpPr>
        <p:spPr>
          <a:xfrm>
            <a:off x="4278962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t" anchorCtr="0" compatLnSpc="0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微軟正黑體" pitchFamily="2"/>
              <a:cs typeface="Mangal" pitchFamily="2"/>
            </a:endParaRPr>
          </a:p>
        </p:txBody>
      </p:sp>
      <p:sp>
        <p:nvSpPr>
          <p:cNvPr id="4" name="頁尾版面配置區 3"/>
          <p:cNvSpPr txBox="1">
            <a:spLocks noGrp="1"/>
          </p:cNvSpPr>
          <p:nvPr>
            <p:ph type="ftr" sz="quarter" idx="2"/>
          </p:nvPr>
        </p:nvSpPr>
        <p:spPr>
          <a:xfrm>
            <a:off x="0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b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微軟正黑體" pitchFamily="2"/>
              <a:cs typeface="Mangal" pitchFamily="2"/>
            </a:endParaRPr>
          </a:p>
        </p:txBody>
      </p:sp>
      <p:sp>
        <p:nvSpPr>
          <p:cNvPr id="5" name="投影片編號版面配置區 4"/>
          <p:cNvSpPr txBox="1">
            <a:spLocks noGrp="1"/>
          </p:cNvSpPr>
          <p:nvPr>
            <p:ph type="sldNum" sz="quarter" idx="3"/>
          </p:nvPr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b" anchorCtr="0" compatLnSpc="0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0227E8C-9554-460F-B633-51D5AD774E1F}" type="slidenum">
              <a:t>‹#›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微軟正黑體" pitchFamily="2"/>
              <a:cs typeface="Mangal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55139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 idx="2"/>
          </p:nvPr>
        </p:nvSpPr>
        <p:spPr>
          <a:xfrm>
            <a:off x="1107000" y="812517"/>
            <a:ext cx="5345280" cy="4008958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備忘稿版面配置區 2"/>
          <p:cNvSpPr txBox="1">
            <a:spLocks noGrp="1"/>
          </p:cNvSpPr>
          <p:nvPr>
            <p:ph type="body" sz="quarter" idx="3"/>
          </p:nvPr>
        </p:nvSpPr>
        <p:spPr>
          <a:xfrm>
            <a:off x="755998" y="5078522"/>
            <a:ext cx="6047640" cy="481104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4" name="頁首版面配置區 3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新細明體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日期版面配置區 4"/>
          <p:cNvSpPr txBox="1">
            <a:spLocks noGrp="1"/>
          </p:cNvSpPr>
          <p:nvPr>
            <p:ph type="dt" idx="1"/>
          </p:nvPr>
        </p:nvSpPr>
        <p:spPr>
          <a:xfrm>
            <a:off x="4278962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新細明體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頁尾版面配置區 5"/>
          <p:cNvSpPr txBox="1">
            <a:spLocks noGrp="1"/>
          </p:cNvSpPr>
          <p:nvPr>
            <p:ph type="ftr" sz="quarter" idx="4"/>
          </p:nvPr>
        </p:nvSpPr>
        <p:spPr>
          <a:xfrm>
            <a:off x="0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新細明體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投影片編號版面配置區 6"/>
          <p:cNvSpPr txBox="1">
            <a:spLocks noGrp="1"/>
          </p:cNvSpPr>
          <p:nvPr>
            <p:ph type="sldNum" sz="quarter" idx="5"/>
          </p:nvPr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新細明體" pitchFamily="2"/>
                <a:cs typeface="Tahoma" pitchFamily="2"/>
              </a:defRPr>
            </a:lvl1pPr>
          </a:lstStyle>
          <a:p>
            <a:pPr lvl="0"/>
            <a:fld id="{78A57073-AB8B-4F7A-BB5E-FAEF8A970D7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133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5999" marR="0" lvl="0" indent="-215999" defTabSz="914400" rtl="0" fontAlgn="auto" hangingPunct="0">
      <a:lnSpc>
        <a:spcPct val="100000"/>
      </a:lnSpc>
      <a:spcBef>
        <a:spcPts val="0"/>
      </a:spcBef>
      <a:spcAft>
        <a:spcPts val="0"/>
      </a:spcAft>
      <a:buNone/>
      <a:tabLst/>
      <a:defRPr lang="en-US" sz="2000" b="0" i="0" u="none" strike="noStrike" kern="1200" cap="none" spc="0" baseline="0">
        <a:solidFill>
          <a:srgbClr val="000000"/>
        </a:solidFill>
        <a:highlight>
          <a:scrgbClr r="0" g="0" b="0">
            <a:alpha val="0"/>
          </a:scrgbClr>
        </a:highlight>
        <a:uFillTx/>
        <a:latin typeface="Liberation Sans" pitchFamily="18"/>
        <a:ea typeface="微軟正黑體" pitchFamily="2"/>
        <a:cs typeface="Mangal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44E8A48-0BB3-4429-A23E-981E055DBE4D}" type="slidenum">
              <a:t>1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新細明體" pitchFamily="2"/>
              <a:cs typeface="Tahoma" pitchFamily="2"/>
            </a:endParaRPr>
          </a:p>
        </p:txBody>
      </p:sp>
      <p:sp>
        <p:nvSpPr>
          <p:cNvPr id="3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備忘稿版面配置區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4662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ctrTitle"/>
          </p:nvPr>
        </p:nvSpPr>
        <p:spPr>
          <a:xfrm>
            <a:off x="1260472" y="1236661"/>
            <a:ext cx="7559673" cy="2632072"/>
          </a:xfrm>
        </p:spPr>
        <p:txBody>
          <a:bodyPr anchor="b"/>
          <a:lstStyle>
            <a:lvl1pPr>
              <a:defRPr lang="zh-TW" sz="6000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副標題 2"/>
          <p:cNvSpPr txBox="1">
            <a:spLocks noGrp="1"/>
          </p:cNvSpPr>
          <p:nvPr>
            <p:ph type="subTitle" idx="1"/>
          </p:nvPr>
        </p:nvSpPr>
        <p:spPr>
          <a:xfrm>
            <a:off x="1260472" y="3970333"/>
            <a:ext cx="7559673" cy="1825627"/>
          </a:xfrm>
        </p:spPr>
        <p:txBody>
          <a:bodyPr anchorCtr="1"/>
          <a:lstStyle>
            <a:lvl1pPr algn="ctr">
              <a:defRPr sz="2400"/>
            </a:lvl1pPr>
          </a:lstStyle>
          <a:p>
            <a:pPr lvl="0"/>
            <a:r>
              <a:rPr lang="zh-TW"/>
              <a:t>按一下以編輯母片副標題樣式</a:t>
            </a:r>
            <a:endParaRPr lang="en-US"/>
          </a:p>
        </p:txBody>
      </p:sp>
      <p:sp>
        <p:nvSpPr>
          <p:cNvPr id="4" name="日期版面配置區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頁尾版面配置區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投影片編號版面配置區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E6BFC27-068B-4B72-92F7-9C821F0A3E7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42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zh-TW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4" name="日期版面配置區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頁尾版面配置區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投影片編號版面配置區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8842836-F473-4F88-8FC5-E6506225DA8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692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>
          <a:xfrm>
            <a:off x="687391" y="1884358"/>
            <a:ext cx="8694736" cy="3144841"/>
          </a:xfrm>
        </p:spPr>
        <p:txBody>
          <a:bodyPr anchor="b"/>
          <a:lstStyle>
            <a:lvl1pPr>
              <a:defRPr lang="zh-TW" sz="6000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 txBox="1">
            <a:spLocks noGrp="1"/>
          </p:cNvSpPr>
          <p:nvPr>
            <p:ph type="body" idx="1"/>
          </p:nvPr>
        </p:nvSpPr>
        <p:spPr>
          <a:xfrm>
            <a:off x="687391" y="5059366"/>
            <a:ext cx="8694736" cy="1652585"/>
          </a:xfrm>
        </p:spPr>
        <p:txBody>
          <a:bodyPr/>
          <a:lstStyle>
            <a:lvl1pPr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zh-TW"/>
              <a:t>按一下以編輯母片文字樣式</a:t>
            </a:r>
          </a:p>
        </p:txBody>
      </p:sp>
      <p:sp>
        <p:nvSpPr>
          <p:cNvPr id="4" name="日期版面配置區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頁尾版面配置區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投影片編號版面配置區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06D477E-DD58-4DE2-94A6-FBA23A92454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223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zh-TW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 txBox="1">
            <a:spLocks noGrp="1"/>
          </p:cNvSpPr>
          <p:nvPr>
            <p:ph idx="1"/>
          </p:nvPr>
        </p:nvSpPr>
        <p:spPr>
          <a:xfrm>
            <a:off x="503240" y="1768477"/>
            <a:ext cx="4459291" cy="438467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4" name="內容版面配置區 3"/>
          <p:cNvSpPr txBox="1">
            <a:spLocks noGrp="1"/>
          </p:cNvSpPr>
          <p:nvPr>
            <p:ph idx="2"/>
          </p:nvPr>
        </p:nvSpPr>
        <p:spPr>
          <a:xfrm>
            <a:off x="5114925" y="1768477"/>
            <a:ext cx="4460872" cy="438467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5" name="日期版面配置區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頁尾版面配置區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投影片編號版面配置區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72D141D-6966-43C1-8EB1-BB4818DFA3B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981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>
          <a:xfrm>
            <a:off x="693736" y="403222"/>
            <a:ext cx="8694736" cy="1460497"/>
          </a:xfrm>
        </p:spPr>
        <p:txBody>
          <a:bodyPr/>
          <a:lstStyle>
            <a:lvl1pPr>
              <a:defRPr lang="zh-TW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 txBox="1">
            <a:spLocks noGrp="1"/>
          </p:cNvSpPr>
          <p:nvPr>
            <p:ph type="body" idx="1"/>
          </p:nvPr>
        </p:nvSpPr>
        <p:spPr>
          <a:xfrm>
            <a:off x="693736" y="1852610"/>
            <a:ext cx="4265611" cy="908054"/>
          </a:xfrm>
        </p:spPr>
        <p:txBody>
          <a:bodyPr anchor="b"/>
          <a:lstStyle>
            <a:lvl1pPr>
              <a:defRPr sz="2400" b="1"/>
            </a:lvl1pPr>
          </a:lstStyle>
          <a:p>
            <a:pPr lvl="0"/>
            <a:r>
              <a:rPr lang="zh-TW"/>
              <a:t>按一下以編輯母片文字樣式</a:t>
            </a:r>
          </a:p>
        </p:txBody>
      </p:sp>
      <p:sp>
        <p:nvSpPr>
          <p:cNvPr id="4" name="內容版面配置區 3"/>
          <p:cNvSpPr txBox="1">
            <a:spLocks noGrp="1"/>
          </p:cNvSpPr>
          <p:nvPr>
            <p:ph idx="2"/>
          </p:nvPr>
        </p:nvSpPr>
        <p:spPr>
          <a:xfrm>
            <a:off x="693736" y="2760665"/>
            <a:ext cx="4265611" cy="406241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5" name="文字版面配置區 4"/>
          <p:cNvSpPr txBox="1">
            <a:spLocks noGrp="1"/>
          </p:cNvSpPr>
          <p:nvPr>
            <p:ph type="body" idx="3"/>
          </p:nvPr>
        </p:nvSpPr>
        <p:spPr>
          <a:xfrm>
            <a:off x="5103815" y="1852610"/>
            <a:ext cx="4284658" cy="908054"/>
          </a:xfrm>
        </p:spPr>
        <p:txBody>
          <a:bodyPr anchor="b"/>
          <a:lstStyle>
            <a:lvl1pPr>
              <a:defRPr sz="2400" b="1"/>
            </a:lvl1pPr>
          </a:lstStyle>
          <a:p>
            <a:pPr lvl="0"/>
            <a:r>
              <a:rPr lang="zh-TW"/>
              <a:t>按一下以編輯母片文字樣式</a:t>
            </a:r>
          </a:p>
        </p:txBody>
      </p:sp>
      <p:sp>
        <p:nvSpPr>
          <p:cNvPr id="6" name="內容版面配置區 5"/>
          <p:cNvSpPr txBox="1">
            <a:spLocks noGrp="1"/>
          </p:cNvSpPr>
          <p:nvPr>
            <p:ph idx="4"/>
          </p:nvPr>
        </p:nvSpPr>
        <p:spPr>
          <a:xfrm>
            <a:off x="5103815" y="2760665"/>
            <a:ext cx="4284658" cy="406241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7" name="日期版面配置區 6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8" name="頁尾版面配置區 7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9" name="投影片編號版面配置區 8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D382990-A4FF-4906-9C3D-CE47CFC3DCA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414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zh-TW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日期版面配置區 2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頁尾版面配置區 3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投影片編號版面配置區 4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73CCA10-4506-4689-B9C6-7A25C650BAF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262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3" name="頁尾版面配置區 2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投影片編號版面配置區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A413963-2284-408C-A1F3-BA9C90A14B4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101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>
          <a:xfrm>
            <a:off x="693736" y="503240"/>
            <a:ext cx="3251204" cy="1765304"/>
          </a:xfrm>
        </p:spPr>
        <p:txBody>
          <a:bodyPr anchor="b"/>
          <a:lstStyle>
            <a:lvl1pPr>
              <a:defRPr lang="zh-TW" sz="3200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 txBox="1">
            <a:spLocks noGrp="1"/>
          </p:cNvSpPr>
          <p:nvPr>
            <p:ph idx="1"/>
          </p:nvPr>
        </p:nvSpPr>
        <p:spPr>
          <a:xfrm>
            <a:off x="4286249" y="1089022"/>
            <a:ext cx="5102223" cy="5372100"/>
          </a:xfrm>
        </p:spPr>
        <p:txBody>
          <a:bodyPr/>
          <a:lstStyle>
            <a:lvl1pPr>
              <a:defRPr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4" name="文字版面配置區 3"/>
          <p:cNvSpPr txBox="1">
            <a:spLocks noGrp="1"/>
          </p:cNvSpPr>
          <p:nvPr>
            <p:ph type="body" idx="2"/>
          </p:nvPr>
        </p:nvSpPr>
        <p:spPr>
          <a:xfrm>
            <a:off x="693736" y="2268534"/>
            <a:ext cx="3251204" cy="420052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zh-TW"/>
              <a:t>按一下以編輯母片文字樣式</a:t>
            </a:r>
          </a:p>
        </p:txBody>
      </p:sp>
      <p:sp>
        <p:nvSpPr>
          <p:cNvPr id="5" name="日期版面配置區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頁尾版面配置區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投影片編號版面配置區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059FB30-6DA3-498A-B3E4-39789FBB385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677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>
          <a:xfrm>
            <a:off x="693736" y="503240"/>
            <a:ext cx="3251204" cy="1765304"/>
          </a:xfrm>
        </p:spPr>
        <p:txBody>
          <a:bodyPr anchor="b"/>
          <a:lstStyle>
            <a:lvl1pPr>
              <a:defRPr lang="zh-TW" sz="3200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圖片版面配置區 2"/>
          <p:cNvSpPr txBox="1">
            <a:spLocks noGrp="1"/>
          </p:cNvSpPr>
          <p:nvPr>
            <p:ph type="pic" idx="1"/>
          </p:nvPr>
        </p:nvSpPr>
        <p:spPr>
          <a:xfrm>
            <a:off x="4286249" y="1089022"/>
            <a:ext cx="5102223" cy="5372100"/>
          </a:xfrm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4" name="文字版面配置區 3"/>
          <p:cNvSpPr txBox="1">
            <a:spLocks noGrp="1"/>
          </p:cNvSpPr>
          <p:nvPr>
            <p:ph type="body" idx="2"/>
          </p:nvPr>
        </p:nvSpPr>
        <p:spPr>
          <a:xfrm>
            <a:off x="693736" y="2268534"/>
            <a:ext cx="3251204" cy="420052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zh-TW"/>
              <a:t>按一下以編輯母片文字樣式</a:t>
            </a:r>
          </a:p>
        </p:txBody>
      </p:sp>
      <p:sp>
        <p:nvSpPr>
          <p:cNvPr id="5" name="日期版面配置區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頁尾版面配置區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投影片編號版面配置區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2DDE591-0FAF-4F51-A0C1-3BEDC4250A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615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zh-TW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4" name="日期版面配置區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頁尾版面配置區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投影片編號版面配置區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0523178-8C3C-4D5B-987E-9C6DE9B0522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704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 txBox="1">
            <a:spLocks noGrp="1"/>
          </p:cNvSpPr>
          <p:nvPr>
            <p:ph type="title" orient="vert"/>
          </p:nvPr>
        </p:nvSpPr>
        <p:spPr>
          <a:xfrm>
            <a:off x="7308854" y="301623"/>
            <a:ext cx="2266953" cy="5851529"/>
          </a:xfrm>
        </p:spPr>
        <p:txBody>
          <a:bodyPr vert="eaVert"/>
          <a:lstStyle>
            <a:lvl1pPr>
              <a:defRPr lang="zh-TW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 txBox="1">
            <a:spLocks noGrp="1"/>
          </p:cNvSpPr>
          <p:nvPr>
            <p:ph type="body" orient="vert" idx="1"/>
          </p:nvPr>
        </p:nvSpPr>
        <p:spPr>
          <a:xfrm>
            <a:off x="503240" y="301623"/>
            <a:ext cx="6653210" cy="5851529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4" name="日期版面配置區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頁尾版面配置區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投影片編號版面配置區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683D96B-BEA4-46BB-A345-50D7E40AC1B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908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 txBox="1">
            <a:spLocks noGrp="1"/>
          </p:cNvSpPr>
          <p:nvPr>
            <p:ph type="title"/>
          </p:nvPr>
        </p:nvSpPr>
        <p:spPr>
          <a:xfrm>
            <a:off x="503998" y="301322"/>
            <a:ext cx="9071643" cy="126215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3" name="文字版面配置區 2"/>
          <p:cNvSpPr txBox="1">
            <a:spLocks noGrp="1"/>
          </p:cNvSpPr>
          <p:nvPr>
            <p:ph type="body" idx="1"/>
          </p:nvPr>
        </p:nvSpPr>
        <p:spPr>
          <a:xfrm>
            <a:off x="503998" y="1769043"/>
            <a:ext cx="9071643" cy="43844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4" name="日期版面配置區 3"/>
          <p:cNvSpPr txBox="1">
            <a:spLocks noGrp="1"/>
          </p:cNvSpPr>
          <p:nvPr>
            <p:ph type="dt" sz="half" idx="2"/>
          </p:nvPr>
        </p:nvSpPr>
        <p:spPr>
          <a:xfrm>
            <a:off x="503998" y="6887160"/>
            <a:ext cx="2348279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新細明體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頁尾版面配置區 4"/>
          <p:cNvSpPr txBox="1">
            <a:spLocks noGrp="1"/>
          </p:cNvSpPr>
          <p:nvPr>
            <p:ph type="ftr" sz="quarter" idx="3"/>
          </p:nvPr>
        </p:nvSpPr>
        <p:spPr>
          <a:xfrm>
            <a:off x="3447361" y="6887160"/>
            <a:ext cx="3194995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1" compatLnSpc="1">
            <a:noAutofit/>
          </a:bodyPr>
          <a:lstStyle>
            <a:lvl1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新細明體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投影片編號版面配置區 5"/>
          <p:cNvSpPr txBox="1">
            <a:spLocks noGrp="1"/>
          </p:cNvSpPr>
          <p:nvPr>
            <p:ph type="sldNum" sz="quarter" idx="4"/>
          </p:nvPr>
        </p:nvSpPr>
        <p:spPr>
          <a:xfrm>
            <a:off x="7227362" y="6887160"/>
            <a:ext cx="2348279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新細明體" pitchFamily="2"/>
                <a:cs typeface="Tahoma" pitchFamily="2"/>
              </a:defRPr>
            </a:lvl1pPr>
          </a:lstStyle>
          <a:p>
            <a:pPr lvl="0"/>
            <a:fld id="{FA3188D1-A64F-4C0D-9118-94DC8B17CC66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marL="0" marR="0" lvl="0" indent="0" algn="ctr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Liberation Sans" pitchFamily="18"/>
          <a:ea typeface="微軟正黑體" pitchFamily="2"/>
          <a:cs typeface="Mangal" pitchFamily="2"/>
        </a:defRPr>
      </a:lvl1pPr>
    </p:titleStyle>
    <p:bodyStyle>
      <a:lvl1pPr marL="0" marR="0" lvl="0" indent="0" defTabSz="914400" rtl="0" fontAlgn="auto" hangingPunct="0">
        <a:lnSpc>
          <a:spcPct val="100000"/>
        </a:lnSpc>
        <a:spcBef>
          <a:spcPts val="1415"/>
        </a:spcBef>
        <a:spcAft>
          <a:spcPts val="0"/>
        </a:spcAft>
        <a:buNone/>
        <a:tabLst/>
        <a:defRPr lang="zh-TW" sz="32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Liberation Sans" pitchFamily="18"/>
          <a:ea typeface="微軟正黑體" pitchFamily="2"/>
          <a:cs typeface="Mangal" pitchFamily="2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zh-TW" sz="2400" b="0" i="0" u="none" strike="noStrike" kern="1200" cap="none" spc="0" baseline="0">
          <a:solidFill>
            <a:srgbClr val="000000"/>
          </a:solidFill>
          <a:uFillTx/>
          <a:latin typeface="Calibri"/>
          <a:ea typeface="新細明體" pitchFamily="18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zh-TW" sz="2000" b="0" i="0" u="none" strike="noStrike" kern="1200" cap="none" spc="0" baseline="0">
          <a:solidFill>
            <a:srgbClr val="000000"/>
          </a:solidFill>
          <a:uFillTx/>
          <a:latin typeface="Calibri"/>
          <a:ea typeface="新細明體" pitchFamily="18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zh-TW" sz="1800" b="0" i="0" u="none" strike="noStrike" kern="1200" cap="none" spc="0" baseline="0">
          <a:solidFill>
            <a:srgbClr val="000000"/>
          </a:solidFill>
          <a:uFillTx/>
          <a:latin typeface="Calibri"/>
          <a:ea typeface="新細明體" pitchFamily="18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zh-TW" sz="1800" b="0" i="0" u="none" strike="noStrike" kern="1200" cap="none" spc="0" baseline="0">
          <a:solidFill>
            <a:srgbClr val="000000"/>
          </a:solidFill>
          <a:uFillTx/>
          <a:latin typeface="Calibri"/>
          <a:ea typeface="新細明體" pitchFamily="1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 idx="4294967295"/>
          </p:nvPr>
        </p:nvSpPr>
        <p:spPr>
          <a:xfrm>
            <a:off x="576355" y="3197342"/>
            <a:ext cx="9071643" cy="1246495"/>
          </a:xfrm>
        </p:spPr>
        <p:txBody>
          <a:bodyPr>
            <a:spAutoFit/>
          </a:bodyPr>
          <a:lstStyle/>
          <a:p>
            <a:pPr lvl="0"/>
            <a:r>
              <a:rPr lang="en-US" altLang="zh-TW" sz="2700" b="1" dirty="0">
                <a:solidFill>
                  <a:srgbClr val="898989"/>
                </a:solidFill>
                <a:latin typeface="Sitka Subheading" panose="02000505000000020004" pitchFamily="2" charset="0"/>
                <a:ea typeface="新細明體" pitchFamily="2"/>
              </a:rPr>
              <a:t>IEEE Computer Society Conference on Computer Vision and Pattern Recognition, New York, USA, 2006,</a:t>
            </a:r>
            <a:br>
              <a:rPr lang="en-US" altLang="zh-TW" sz="2700" b="1" dirty="0">
                <a:solidFill>
                  <a:srgbClr val="898989"/>
                </a:solidFill>
                <a:latin typeface="Sitka Subheading" panose="02000505000000020004" pitchFamily="2" charset="0"/>
                <a:ea typeface="新細明體" pitchFamily="2"/>
              </a:rPr>
            </a:br>
            <a:r>
              <a:rPr lang="en-US" altLang="zh-TW" sz="2700" b="1" dirty="0">
                <a:solidFill>
                  <a:srgbClr val="898989"/>
                </a:solidFill>
                <a:latin typeface="Sitka Subheading" panose="02000505000000020004" pitchFamily="2" charset="0"/>
                <a:ea typeface="新細明體" pitchFamily="2"/>
              </a:rPr>
              <a:t>Svetlana </a:t>
            </a:r>
            <a:r>
              <a:rPr lang="en-US" altLang="zh-TW" sz="2700" b="1" dirty="0" err="1">
                <a:solidFill>
                  <a:srgbClr val="898989"/>
                </a:solidFill>
                <a:latin typeface="Sitka Subheading" panose="02000505000000020004" pitchFamily="2" charset="0"/>
                <a:ea typeface="新細明體" pitchFamily="2"/>
              </a:rPr>
              <a:t>Lazebnik</a:t>
            </a:r>
            <a:r>
              <a:rPr lang="en-US" altLang="zh-TW" sz="2700" b="1" dirty="0">
                <a:solidFill>
                  <a:srgbClr val="898989"/>
                </a:solidFill>
                <a:latin typeface="Sitka Subheading" panose="02000505000000020004" pitchFamily="2" charset="0"/>
                <a:ea typeface="新細明體" pitchFamily="2"/>
              </a:rPr>
              <a:t>, Cordelia Schmid and Jean Ponce</a:t>
            </a:r>
            <a:endParaRPr lang="en-US" sz="2700" b="1" dirty="0">
              <a:solidFill>
                <a:srgbClr val="898989"/>
              </a:solidFill>
              <a:latin typeface="Sitka Subheading" panose="02000505000000020004" pitchFamily="2" charset="0"/>
              <a:ea typeface="新細明體" pitchFamily="2"/>
            </a:endParaRPr>
          </a:p>
        </p:txBody>
      </p:sp>
      <p:sp>
        <p:nvSpPr>
          <p:cNvPr id="3" name="文字版面配置區 2"/>
          <p:cNvSpPr txBox="1">
            <a:spLocks noGrp="1"/>
          </p:cNvSpPr>
          <p:nvPr>
            <p:ph type="body" idx="4294967295"/>
          </p:nvPr>
        </p:nvSpPr>
        <p:spPr>
          <a:xfrm>
            <a:off x="576355" y="935998"/>
            <a:ext cx="9071643" cy="1491891"/>
          </a:xfrm>
        </p:spPr>
        <p:txBody>
          <a:bodyPr anchorCtr="1"/>
          <a:lstStyle/>
          <a:p>
            <a:r>
              <a:rPr lang="en-US" sz="4000" b="1" dirty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Beyond Bags of Feature: Spatial Pyramid Matching for Recognizing Natural Scene Categories</a:t>
            </a:r>
          </a:p>
        </p:txBody>
      </p:sp>
      <p:sp>
        <p:nvSpPr>
          <p:cNvPr id="4" name="文字版面配置區 3"/>
          <p:cNvSpPr txBox="1">
            <a:spLocks noGrp="1"/>
          </p:cNvSpPr>
          <p:nvPr>
            <p:ph type="body" idx="4294967295"/>
          </p:nvPr>
        </p:nvSpPr>
        <p:spPr>
          <a:xfrm>
            <a:off x="704380" y="5920800"/>
            <a:ext cx="9071643" cy="1159806"/>
          </a:xfrm>
        </p:spPr>
        <p:txBody>
          <a:bodyPr/>
          <a:lstStyle/>
          <a:p>
            <a:pPr lvl="1" algn="r" hangingPunct="0">
              <a:spcBef>
                <a:spcPts val="1415"/>
              </a:spcBef>
              <a:buNone/>
            </a:pP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Presenter</a:t>
            </a:r>
            <a:r>
              <a:rPr lang="zh-TW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：</a:t>
            </a:r>
            <a:r>
              <a:rPr lang="en-US" altLang="zh-TW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Wei-</a:t>
            </a:r>
            <a:r>
              <a:rPr lang="en-US" altLang="zh-TW" dirty="0" err="1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Hao</a:t>
            </a:r>
            <a:r>
              <a:rPr lang="en-US" altLang="zh-TW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 Fu</a:t>
            </a:r>
            <a:endParaRPr lang="en-US" dirty="0">
              <a:highlight>
                <a:scrgbClr r="0" g="0" b="0">
                  <a:alpha val="0"/>
                </a:scrgbClr>
              </a:highlight>
              <a:latin typeface="Liberation Sans Narrow" pitchFamily="34"/>
              <a:ea typeface="微軟正黑體" pitchFamily="34"/>
              <a:cs typeface="Mangal" pitchFamily="2"/>
            </a:endParaRPr>
          </a:p>
          <a:p>
            <a:pPr lvl="1" algn="r" hangingPunct="0">
              <a:spcBef>
                <a:spcPts val="1415"/>
              </a:spcBef>
              <a:buNone/>
            </a:pP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Date</a:t>
            </a:r>
            <a:r>
              <a:rPr lang="zh-TW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：</a:t>
            </a:r>
            <a:r>
              <a:rPr lang="en-US" altLang="zh-TW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2017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/06/20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Abstract (1/2)</a:t>
            </a:r>
            <a:endParaRPr lang="zh-TW" altLang="en-US" b="1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3998" y="1769043"/>
            <a:ext cx="9071643" cy="5639398"/>
          </a:xfrm>
        </p:spPr>
        <p:txBody>
          <a:bodyPr/>
          <a:lstStyle/>
          <a:p>
            <a:r>
              <a:rPr lang="en-US" altLang="zh-TW" sz="3100" dirty="0">
                <a:latin typeface="Cambria Math" panose="02040503050406030204" pitchFamily="18" charset="0"/>
                <a:ea typeface="Cambria Math" panose="02040503050406030204" pitchFamily="18" charset="0"/>
              </a:rPr>
              <a:t>This paper presents a method for recognizing scene categories based on approximate global geometric correspondence. This technique works by partitioning the image into increasingly ﬁne sub-regions and computing histograms of local features found inside each sub-region. The resulting “spatial pyramid” is a simple and computationally efﬁcient extension of an </a:t>
            </a:r>
            <a:r>
              <a:rPr lang="en-US" altLang="zh-TW" sz="31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orderless</a:t>
            </a:r>
            <a:r>
              <a:rPr lang="en-US" altLang="zh-TW" sz="3100" dirty="0">
                <a:latin typeface="Cambria Math" panose="02040503050406030204" pitchFamily="18" charset="0"/>
                <a:ea typeface="Cambria Math" panose="02040503050406030204" pitchFamily="18" charset="0"/>
              </a:rPr>
              <a:t> bag-of-features image representation, and it shows signiﬁcantly improved performance on challenging scene categorization tasks. </a:t>
            </a:r>
            <a:endParaRPr lang="en-US" altLang="zh-TW" sz="31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41205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Abstract (2/2)</a:t>
            </a:r>
            <a:endParaRPr lang="zh-TW" altLang="en-US" b="1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3998" y="1769043"/>
            <a:ext cx="9071643" cy="5639398"/>
          </a:xfrm>
        </p:spPr>
        <p:txBody>
          <a:bodyPr/>
          <a:lstStyle/>
          <a:p>
            <a:r>
              <a:rPr lang="en-US" altLang="zh-TW" sz="3100" dirty="0">
                <a:latin typeface="Cambria Math" panose="02040503050406030204" pitchFamily="18" charset="0"/>
                <a:ea typeface="Cambria Math" panose="02040503050406030204" pitchFamily="18" charset="0"/>
              </a:rPr>
              <a:t>Speciﬁcally, our proposed method exceeds the state of the art on the Caltech-101 database and achieves high accuracy on a large database of ﬁfteen natural scene categories. The spatial pyramid framework also offers insights into the success of several recently proposed image descriptions, including </a:t>
            </a:r>
            <a:r>
              <a:rPr lang="en-US" altLang="zh-TW" sz="31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Torralba’s</a:t>
            </a:r>
            <a:r>
              <a:rPr lang="en-US" altLang="zh-TW" sz="3100" dirty="0">
                <a:latin typeface="Cambria Math" panose="02040503050406030204" pitchFamily="18" charset="0"/>
                <a:ea typeface="Cambria Math" panose="02040503050406030204" pitchFamily="18" charset="0"/>
              </a:rPr>
              <a:t> “gist” and Lowe’s SIFT descriptors.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30784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Image Retrieval</a:t>
            </a:r>
            <a:endParaRPr lang="zh-TW" altLang="en-US" b="1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3998" y="1769043"/>
            <a:ext cx="9071643" cy="563939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3100" dirty="0">
                <a:latin typeface="Cambria Math" panose="02040503050406030204" pitchFamily="18" charset="0"/>
                <a:ea typeface="Cambria Math" panose="02040503050406030204" pitchFamily="18" charset="0"/>
              </a:rPr>
              <a:t>What is image retrieval?</a:t>
            </a:r>
          </a:p>
          <a:p>
            <a:pPr marL="1143000" lvl="1" indent="-457200">
              <a:buFont typeface="Wingdings" panose="05000000000000000000" pitchFamily="2" charset="2"/>
              <a:buChar char="ü"/>
            </a:pPr>
            <a:r>
              <a:rPr lang="en-US" altLang="zh-TW" sz="2300" dirty="0">
                <a:latin typeface="Cambria Math" panose="02040503050406030204" pitchFamily="18" charset="0"/>
                <a:ea typeface="Cambria Math" panose="02040503050406030204" pitchFamily="18" charset="0"/>
              </a:rPr>
              <a:t>When you give some images to an image retrieval system, the system will grant you some images that are similar to what you give.</a:t>
            </a:r>
          </a:p>
          <a:p>
            <a:pPr marL="1143000" lvl="1" indent="-457200">
              <a:buFont typeface="Wingdings" panose="05000000000000000000" pitchFamily="2" charset="2"/>
              <a:buChar char="ü"/>
            </a:pPr>
            <a:r>
              <a:rPr lang="en-US" altLang="zh-TW" sz="2300" dirty="0">
                <a:latin typeface="Cambria Math" panose="02040503050406030204" pitchFamily="18" charset="0"/>
                <a:ea typeface="Cambria Math" panose="02040503050406030204" pitchFamily="18" charset="0"/>
              </a:rPr>
              <a:t>For browsing, searching and retrieving images from a database.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4</a:t>
            </a:fld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998" y="4106412"/>
            <a:ext cx="2447078" cy="1523711"/>
          </a:xfrm>
          <a:prstGeom prst="rect">
            <a:avLst/>
          </a:prstGeom>
        </p:spPr>
      </p:pic>
      <p:pic>
        <p:nvPicPr>
          <p:cNvPr id="1026" name="Picture 2" descr="http://5.blog.xuite.net/5/5/1/0/238549445/blog_3564168/txt/203316039/6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5573" y="5219207"/>
            <a:ext cx="2085975" cy="219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6774" y="4302655"/>
            <a:ext cx="1411768" cy="1131224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36"/>
          <a:stretch/>
        </p:blipFill>
        <p:spPr>
          <a:xfrm>
            <a:off x="7793075" y="4106412"/>
            <a:ext cx="1188378" cy="1250071"/>
          </a:xfrm>
          <a:prstGeom prst="rect">
            <a:avLst/>
          </a:prstGeom>
        </p:spPr>
      </p:pic>
      <p:cxnSp>
        <p:nvCxnSpPr>
          <p:cNvPr id="10" name="接點: 弧形 9"/>
          <p:cNvCxnSpPr>
            <a:stCxn id="5" idx="2"/>
            <a:endCxn id="1026" idx="1"/>
          </p:cNvCxnSpPr>
          <p:nvPr/>
        </p:nvCxnSpPr>
        <p:spPr>
          <a:xfrm rot="16200000" flipH="1">
            <a:off x="2269326" y="5088334"/>
            <a:ext cx="684459" cy="1768036"/>
          </a:xfrm>
          <a:prstGeom prst="curvedConnector2">
            <a:avLst/>
          </a:prstGeom>
          <a:ln w="1270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想法泡泡: 雲朵 11"/>
          <p:cNvSpPr/>
          <p:nvPr/>
        </p:nvSpPr>
        <p:spPr>
          <a:xfrm>
            <a:off x="5216408" y="3640548"/>
            <a:ext cx="4903730" cy="2213600"/>
          </a:xfrm>
          <a:prstGeom prst="cloudCallout">
            <a:avLst>
              <a:gd name="adj1" fmla="val -48906"/>
              <a:gd name="adj2" fmla="val 42092"/>
            </a:avLst>
          </a:prstGeom>
          <a:noFill/>
          <a:ln w="508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9871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Bag Of Words (BOW)</a:t>
            </a:r>
            <a:endParaRPr lang="zh-TW" altLang="en-US" b="1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3998" y="1769043"/>
            <a:ext cx="9071643" cy="563939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3100" dirty="0">
                <a:latin typeface="Cambria Math" panose="02040503050406030204" pitchFamily="18" charset="0"/>
                <a:ea typeface="Cambria Math" panose="02040503050406030204" pitchFamily="18" charset="0"/>
              </a:rPr>
              <a:t>What is bag of words?</a:t>
            </a:r>
          </a:p>
          <a:p>
            <a:pPr marL="971550" lvl="1" indent="-285750">
              <a:buFont typeface="Wingdings" panose="05000000000000000000" pitchFamily="2" charset="2"/>
              <a:buChar char="ü"/>
            </a:pPr>
            <a:r>
              <a:rPr lang="en-US" altLang="zh-TW" sz="2300" dirty="0">
                <a:latin typeface="Cambria Math" panose="02040503050406030204" pitchFamily="18" charset="0"/>
                <a:ea typeface="Cambria Math" panose="02040503050406030204" pitchFamily="18" charset="0"/>
              </a:rPr>
              <a:t>Use some special words to represent a text (such as a sentence or a document).</a:t>
            </a:r>
          </a:p>
          <a:p>
            <a:pPr marL="971550" lvl="1" indent="-285750">
              <a:buFont typeface="Wingdings" panose="05000000000000000000" pitchFamily="2" charset="2"/>
              <a:buChar char="ü"/>
            </a:pPr>
            <a:r>
              <a:rPr lang="en-US" altLang="zh-TW" sz="2300" dirty="0">
                <a:latin typeface="Cambria Math" panose="02040503050406030204" pitchFamily="18" charset="0"/>
                <a:ea typeface="Cambria Math" panose="02040503050406030204" pitchFamily="18" charset="0"/>
              </a:rPr>
              <a:t>The BOW is also used for computer vision.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5</a:t>
            </a:fld>
            <a:endParaRPr lang="zh-TW" altLang="en-US" dirty="0"/>
          </a:p>
        </p:txBody>
      </p:sp>
      <p:pic>
        <p:nvPicPr>
          <p:cNvPr id="2050" name="Picture 2" descr="https://gilscvblog.files.wordpress.com/2013/08/figure3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6124" y="3361061"/>
            <a:ext cx="5078781" cy="3786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922793" y="7139441"/>
            <a:ext cx="90602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Reference: </a:t>
            </a:r>
            <a:r>
              <a:rPr lang="en-US" altLang="zh-TW" dirty="0"/>
              <a:t>https://gilscvblog.com/2013/08/23/bag-of-words-models-for-visual-categorization/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64240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503998" y="1769043"/>
                <a:ext cx="9071643" cy="5639398"/>
              </a:xfrm>
            </p:spPr>
            <p:txBody>
              <a:bodyPr/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altLang="zh-TW" sz="31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Let X and Y be two sets of vectors in a </a:t>
                </a:r>
                <a14:m>
                  <m:oMath xmlns:m="http://schemas.openxmlformats.org/officeDocument/2006/math">
                    <m:r>
                      <a:rPr lang="en-US" altLang="zh-TW" sz="3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zh-TW" sz="31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-dimensional feature space.</a:t>
                </a: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3998" y="1769043"/>
                <a:ext cx="9071643" cy="5639398"/>
              </a:xfrm>
              <a:blipFill>
                <a:blip r:embed="rId2"/>
                <a:stretch>
                  <a:fillRect l="-2487" t="-227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Spatial Pyramid Matching</a:t>
            </a:r>
            <a:endParaRPr lang="zh-TW" altLang="en-US" b="1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6</a:t>
            </a:fld>
            <a:endParaRPr lang="zh-TW" altLang="en-US" dirty="0"/>
          </a:p>
        </p:txBody>
      </p:sp>
      <p:grpSp>
        <p:nvGrpSpPr>
          <p:cNvPr id="26" name="群組 25"/>
          <p:cNvGrpSpPr/>
          <p:nvPr/>
        </p:nvGrpSpPr>
        <p:grpSpPr>
          <a:xfrm>
            <a:off x="834885" y="3051308"/>
            <a:ext cx="3600000" cy="3600000"/>
            <a:chOff x="834885" y="2683564"/>
            <a:chExt cx="3600000" cy="3600000"/>
          </a:xfrm>
        </p:grpSpPr>
        <p:sp>
          <p:nvSpPr>
            <p:cNvPr id="5" name="矩形 4"/>
            <p:cNvSpPr>
              <a:spLocks/>
            </p:cNvSpPr>
            <p:nvPr/>
          </p:nvSpPr>
          <p:spPr>
            <a:xfrm>
              <a:off x="834885" y="2683564"/>
              <a:ext cx="3600000" cy="3600000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橢圓 7"/>
            <p:cNvSpPr/>
            <p:nvPr/>
          </p:nvSpPr>
          <p:spPr>
            <a:xfrm>
              <a:off x="1053548" y="2782957"/>
              <a:ext cx="367747" cy="36774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橢圓 8"/>
            <p:cNvSpPr/>
            <p:nvPr/>
          </p:nvSpPr>
          <p:spPr>
            <a:xfrm>
              <a:off x="889552" y="3345395"/>
              <a:ext cx="367747" cy="36774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橢圓 9"/>
            <p:cNvSpPr/>
            <p:nvPr/>
          </p:nvSpPr>
          <p:spPr>
            <a:xfrm>
              <a:off x="2095720" y="2822713"/>
              <a:ext cx="367747" cy="36774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橢圓 10"/>
            <p:cNvSpPr/>
            <p:nvPr/>
          </p:nvSpPr>
          <p:spPr>
            <a:xfrm>
              <a:off x="1732224" y="4299690"/>
              <a:ext cx="367747" cy="36774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橢圓 11"/>
            <p:cNvSpPr/>
            <p:nvPr/>
          </p:nvSpPr>
          <p:spPr>
            <a:xfrm>
              <a:off x="3362739" y="3559085"/>
              <a:ext cx="367747" cy="36774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橢圓 12"/>
            <p:cNvSpPr/>
            <p:nvPr/>
          </p:nvSpPr>
          <p:spPr>
            <a:xfrm>
              <a:off x="3472070" y="5449957"/>
              <a:ext cx="367747" cy="36774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橢圓 13"/>
            <p:cNvSpPr/>
            <p:nvPr/>
          </p:nvSpPr>
          <p:spPr>
            <a:xfrm>
              <a:off x="1166192" y="5559287"/>
              <a:ext cx="367747" cy="36774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橢圓 14"/>
            <p:cNvSpPr/>
            <p:nvPr/>
          </p:nvSpPr>
          <p:spPr>
            <a:xfrm>
              <a:off x="3839817" y="3030795"/>
              <a:ext cx="367747" cy="36774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5" name="群組 24"/>
          <p:cNvGrpSpPr/>
          <p:nvPr/>
        </p:nvGrpSpPr>
        <p:grpSpPr>
          <a:xfrm>
            <a:off x="5468399" y="3051308"/>
            <a:ext cx="3600000" cy="3600000"/>
            <a:chOff x="5427362" y="2683564"/>
            <a:chExt cx="3600000" cy="3600000"/>
          </a:xfrm>
        </p:grpSpPr>
        <p:sp>
          <p:nvSpPr>
            <p:cNvPr id="7" name="矩形 6"/>
            <p:cNvSpPr>
              <a:spLocks/>
            </p:cNvSpPr>
            <p:nvPr/>
          </p:nvSpPr>
          <p:spPr>
            <a:xfrm>
              <a:off x="5427362" y="2683564"/>
              <a:ext cx="3600000" cy="3600000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橢圓 15"/>
            <p:cNvSpPr/>
            <p:nvPr/>
          </p:nvSpPr>
          <p:spPr>
            <a:xfrm>
              <a:off x="5736491" y="3150704"/>
              <a:ext cx="367747" cy="36774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橢圓 16"/>
            <p:cNvSpPr/>
            <p:nvPr/>
          </p:nvSpPr>
          <p:spPr>
            <a:xfrm>
              <a:off x="5552617" y="4115816"/>
              <a:ext cx="367747" cy="36774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橢圓 17"/>
            <p:cNvSpPr/>
            <p:nvPr/>
          </p:nvSpPr>
          <p:spPr>
            <a:xfrm>
              <a:off x="7381926" y="2782956"/>
              <a:ext cx="367747" cy="36774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橢圓 18"/>
            <p:cNvSpPr/>
            <p:nvPr/>
          </p:nvSpPr>
          <p:spPr>
            <a:xfrm>
              <a:off x="8294161" y="5743160"/>
              <a:ext cx="367747" cy="36774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橢圓 19"/>
            <p:cNvSpPr/>
            <p:nvPr/>
          </p:nvSpPr>
          <p:spPr>
            <a:xfrm>
              <a:off x="6477002" y="5633830"/>
              <a:ext cx="367747" cy="36774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橢圓 20"/>
            <p:cNvSpPr/>
            <p:nvPr/>
          </p:nvSpPr>
          <p:spPr>
            <a:xfrm>
              <a:off x="5920364" y="5191540"/>
              <a:ext cx="367747" cy="36774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橢圓 21"/>
            <p:cNvSpPr/>
            <p:nvPr/>
          </p:nvSpPr>
          <p:spPr>
            <a:xfrm>
              <a:off x="7800980" y="3130421"/>
              <a:ext cx="367747" cy="36774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橢圓 22"/>
            <p:cNvSpPr/>
            <p:nvPr/>
          </p:nvSpPr>
          <p:spPr>
            <a:xfrm>
              <a:off x="7442356" y="4706992"/>
              <a:ext cx="367747" cy="36774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橢圓 23"/>
            <p:cNvSpPr/>
            <p:nvPr/>
          </p:nvSpPr>
          <p:spPr>
            <a:xfrm>
              <a:off x="7074609" y="3697477"/>
              <a:ext cx="367747" cy="36774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58435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503998" y="1769043"/>
                <a:ext cx="9071643" cy="5639398"/>
              </a:xfrm>
            </p:spPr>
            <p:txBody>
              <a:bodyPr/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altLang="zh-TW" sz="31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Let X and Y be two sets of vectors in a </a:t>
                </a:r>
                <a14:m>
                  <m:oMath xmlns:m="http://schemas.openxmlformats.org/officeDocument/2006/math">
                    <m:r>
                      <a:rPr lang="en-US" altLang="zh-TW" sz="3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zh-TW" sz="31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-dimensional feature space.</a:t>
                </a: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3998" y="1769043"/>
                <a:ext cx="9071643" cy="5639398"/>
              </a:xfrm>
              <a:blipFill>
                <a:blip r:embed="rId2"/>
                <a:stretch>
                  <a:fillRect l="-2487" t="-227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Spatial Pyramid Matching</a:t>
            </a:r>
            <a:endParaRPr lang="zh-TW" altLang="en-US" b="1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7</a:t>
            </a:fld>
            <a:endParaRPr lang="zh-TW" altLang="en-US" dirty="0"/>
          </a:p>
        </p:txBody>
      </p:sp>
      <p:grpSp>
        <p:nvGrpSpPr>
          <p:cNvPr id="6" name="群組 5"/>
          <p:cNvGrpSpPr/>
          <p:nvPr/>
        </p:nvGrpSpPr>
        <p:grpSpPr>
          <a:xfrm>
            <a:off x="3239819" y="3037217"/>
            <a:ext cx="3600000" cy="3600001"/>
            <a:chOff x="5468399" y="2683563"/>
            <a:chExt cx="3600000" cy="3600001"/>
          </a:xfrm>
        </p:grpSpPr>
        <p:grpSp>
          <p:nvGrpSpPr>
            <p:cNvPr id="26" name="群組 25"/>
            <p:cNvGrpSpPr/>
            <p:nvPr/>
          </p:nvGrpSpPr>
          <p:grpSpPr>
            <a:xfrm>
              <a:off x="5468399" y="2683563"/>
              <a:ext cx="3600000" cy="3600000"/>
              <a:chOff x="834885" y="2683564"/>
              <a:chExt cx="3600000" cy="3600000"/>
            </a:xfrm>
          </p:grpSpPr>
          <p:sp>
            <p:nvSpPr>
              <p:cNvPr id="5" name="矩形 4"/>
              <p:cNvSpPr>
                <a:spLocks/>
              </p:cNvSpPr>
              <p:nvPr/>
            </p:nvSpPr>
            <p:spPr>
              <a:xfrm>
                <a:off x="834885" y="2683564"/>
                <a:ext cx="3600000" cy="36000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" name="橢圓 7"/>
              <p:cNvSpPr/>
              <p:nvPr/>
            </p:nvSpPr>
            <p:spPr>
              <a:xfrm>
                <a:off x="1053548" y="2782957"/>
                <a:ext cx="367747" cy="367747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" name="橢圓 8"/>
              <p:cNvSpPr/>
              <p:nvPr/>
            </p:nvSpPr>
            <p:spPr>
              <a:xfrm>
                <a:off x="889552" y="3345395"/>
                <a:ext cx="367747" cy="367747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" name="橢圓 9"/>
              <p:cNvSpPr/>
              <p:nvPr/>
            </p:nvSpPr>
            <p:spPr>
              <a:xfrm>
                <a:off x="2095720" y="2822713"/>
                <a:ext cx="367747" cy="367747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" name="橢圓 10"/>
              <p:cNvSpPr/>
              <p:nvPr/>
            </p:nvSpPr>
            <p:spPr>
              <a:xfrm>
                <a:off x="1732224" y="4299690"/>
                <a:ext cx="367747" cy="367747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2" name="橢圓 11"/>
              <p:cNvSpPr/>
              <p:nvPr/>
            </p:nvSpPr>
            <p:spPr>
              <a:xfrm>
                <a:off x="3362739" y="3559085"/>
                <a:ext cx="367747" cy="367747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3" name="橢圓 12"/>
              <p:cNvSpPr/>
              <p:nvPr/>
            </p:nvSpPr>
            <p:spPr>
              <a:xfrm>
                <a:off x="3472070" y="5449957"/>
                <a:ext cx="367747" cy="367747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4" name="橢圓 13"/>
              <p:cNvSpPr/>
              <p:nvPr/>
            </p:nvSpPr>
            <p:spPr>
              <a:xfrm>
                <a:off x="1166192" y="5559287"/>
                <a:ext cx="367747" cy="367747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5" name="橢圓 14"/>
              <p:cNvSpPr/>
              <p:nvPr/>
            </p:nvSpPr>
            <p:spPr>
              <a:xfrm>
                <a:off x="3839817" y="3030795"/>
                <a:ext cx="367747" cy="367747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25" name="群組 24"/>
            <p:cNvGrpSpPr/>
            <p:nvPr/>
          </p:nvGrpSpPr>
          <p:grpSpPr>
            <a:xfrm>
              <a:off x="5468399" y="2683564"/>
              <a:ext cx="3600000" cy="3600000"/>
              <a:chOff x="5427362" y="2683564"/>
              <a:chExt cx="3600000" cy="3600000"/>
            </a:xfrm>
          </p:grpSpPr>
          <p:sp>
            <p:nvSpPr>
              <p:cNvPr id="7" name="矩形 6"/>
              <p:cNvSpPr>
                <a:spLocks/>
              </p:cNvSpPr>
              <p:nvPr/>
            </p:nvSpPr>
            <p:spPr>
              <a:xfrm>
                <a:off x="5427362" y="2683564"/>
                <a:ext cx="3600000" cy="36000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" name="橢圓 15"/>
              <p:cNvSpPr/>
              <p:nvPr/>
            </p:nvSpPr>
            <p:spPr>
              <a:xfrm>
                <a:off x="5736491" y="3150704"/>
                <a:ext cx="367747" cy="367747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7" name="橢圓 16"/>
              <p:cNvSpPr/>
              <p:nvPr/>
            </p:nvSpPr>
            <p:spPr>
              <a:xfrm>
                <a:off x="5552617" y="4115816"/>
                <a:ext cx="367747" cy="367747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8" name="橢圓 17"/>
              <p:cNvSpPr/>
              <p:nvPr/>
            </p:nvSpPr>
            <p:spPr>
              <a:xfrm>
                <a:off x="7381926" y="2782956"/>
                <a:ext cx="367747" cy="367747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" name="橢圓 18"/>
              <p:cNvSpPr/>
              <p:nvPr/>
            </p:nvSpPr>
            <p:spPr>
              <a:xfrm>
                <a:off x="8294161" y="5743160"/>
                <a:ext cx="367747" cy="367747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" name="橢圓 19"/>
              <p:cNvSpPr/>
              <p:nvPr/>
            </p:nvSpPr>
            <p:spPr>
              <a:xfrm>
                <a:off x="6477002" y="5633830"/>
                <a:ext cx="367747" cy="367747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1" name="橢圓 20"/>
              <p:cNvSpPr/>
              <p:nvPr/>
            </p:nvSpPr>
            <p:spPr>
              <a:xfrm>
                <a:off x="5920364" y="5191540"/>
                <a:ext cx="367747" cy="367747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2" name="橢圓 21"/>
              <p:cNvSpPr/>
              <p:nvPr/>
            </p:nvSpPr>
            <p:spPr>
              <a:xfrm>
                <a:off x="7800980" y="3130421"/>
                <a:ext cx="367747" cy="367747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3" name="橢圓 22"/>
              <p:cNvSpPr/>
              <p:nvPr/>
            </p:nvSpPr>
            <p:spPr>
              <a:xfrm>
                <a:off x="7442356" y="4706992"/>
                <a:ext cx="367747" cy="367747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4" name="橢圓 23"/>
              <p:cNvSpPr/>
              <p:nvPr/>
            </p:nvSpPr>
            <p:spPr>
              <a:xfrm>
                <a:off x="7074609" y="3697477"/>
                <a:ext cx="367747" cy="367747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56055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505682" y="1760333"/>
                <a:ext cx="9071643" cy="5639398"/>
              </a:xfrm>
            </p:spPr>
            <p:txBody>
              <a:bodyPr/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altLang="zh-TW" sz="31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Let X and Y be two sets of vectors in a </a:t>
                </a:r>
                <a14:m>
                  <m:oMath xmlns:m="http://schemas.openxmlformats.org/officeDocument/2006/math">
                    <m:r>
                      <a:rPr lang="en-US" altLang="zh-TW" sz="3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zh-TW" sz="31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-dimensional feature space.</a:t>
                </a: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5682" y="1760333"/>
                <a:ext cx="9071643" cy="5639398"/>
              </a:xfrm>
              <a:blipFill>
                <a:blip r:embed="rId2"/>
                <a:stretch>
                  <a:fillRect l="-2487" t="-227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Spatial Pyramid Matching</a:t>
            </a:r>
            <a:endParaRPr lang="zh-TW" altLang="en-US" b="1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8</a:t>
            </a:fld>
            <a:endParaRPr lang="zh-TW" altLang="en-US" dirty="0"/>
          </a:p>
        </p:txBody>
      </p:sp>
      <p:grpSp>
        <p:nvGrpSpPr>
          <p:cNvPr id="6" name="群組 5"/>
          <p:cNvGrpSpPr/>
          <p:nvPr/>
        </p:nvGrpSpPr>
        <p:grpSpPr>
          <a:xfrm>
            <a:off x="735158" y="3315520"/>
            <a:ext cx="3600000" cy="3600001"/>
            <a:chOff x="5468399" y="2683563"/>
            <a:chExt cx="3600000" cy="3600001"/>
          </a:xfrm>
        </p:grpSpPr>
        <p:grpSp>
          <p:nvGrpSpPr>
            <p:cNvPr id="26" name="群組 25"/>
            <p:cNvGrpSpPr/>
            <p:nvPr/>
          </p:nvGrpSpPr>
          <p:grpSpPr>
            <a:xfrm>
              <a:off x="5468399" y="2683563"/>
              <a:ext cx="3600000" cy="3600000"/>
              <a:chOff x="834885" y="2683564"/>
              <a:chExt cx="3600000" cy="3600000"/>
            </a:xfrm>
          </p:grpSpPr>
          <p:sp>
            <p:nvSpPr>
              <p:cNvPr id="5" name="矩形 4"/>
              <p:cNvSpPr>
                <a:spLocks/>
              </p:cNvSpPr>
              <p:nvPr/>
            </p:nvSpPr>
            <p:spPr>
              <a:xfrm>
                <a:off x="834885" y="2683564"/>
                <a:ext cx="3600000" cy="36000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" name="橢圓 7"/>
              <p:cNvSpPr/>
              <p:nvPr/>
            </p:nvSpPr>
            <p:spPr>
              <a:xfrm>
                <a:off x="1053548" y="2782957"/>
                <a:ext cx="367747" cy="367747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" name="橢圓 8"/>
              <p:cNvSpPr/>
              <p:nvPr/>
            </p:nvSpPr>
            <p:spPr>
              <a:xfrm>
                <a:off x="889552" y="3345395"/>
                <a:ext cx="367747" cy="367747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" name="橢圓 9"/>
              <p:cNvSpPr/>
              <p:nvPr/>
            </p:nvSpPr>
            <p:spPr>
              <a:xfrm>
                <a:off x="2095720" y="2822713"/>
                <a:ext cx="367747" cy="367747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" name="橢圓 10"/>
              <p:cNvSpPr/>
              <p:nvPr/>
            </p:nvSpPr>
            <p:spPr>
              <a:xfrm>
                <a:off x="1732224" y="4299690"/>
                <a:ext cx="367747" cy="367747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2" name="橢圓 11"/>
              <p:cNvSpPr/>
              <p:nvPr/>
            </p:nvSpPr>
            <p:spPr>
              <a:xfrm>
                <a:off x="3362739" y="3559085"/>
                <a:ext cx="367747" cy="367747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3" name="橢圓 12"/>
              <p:cNvSpPr/>
              <p:nvPr/>
            </p:nvSpPr>
            <p:spPr>
              <a:xfrm>
                <a:off x="3472070" y="5449957"/>
                <a:ext cx="367747" cy="367747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4" name="橢圓 13"/>
              <p:cNvSpPr/>
              <p:nvPr/>
            </p:nvSpPr>
            <p:spPr>
              <a:xfrm>
                <a:off x="1166192" y="5559287"/>
                <a:ext cx="367747" cy="367747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5" name="橢圓 14"/>
              <p:cNvSpPr/>
              <p:nvPr/>
            </p:nvSpPr>
            <p:spPr>
              <a:xfrm>
                <a:off x="3839817" y="3030795"/>
                <a:ext cx="367747" cy="367747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25" name="群組 24"/>
            <p:cNvGrpSpPr/>
            <p:nvPr/>
          </p:nvGrpSpPr>
          <p:grpSpPr>
            <a:xfrm>
              <a:off x="5468399" y="2683564"/>
              <a:ext cx="3600000" cy="3600000"/>
              <a:chOff x="5427362" y="2683564"/>
              <a:chExt cx="3600000" cy="3600000"/>
            </a:xfrm>
          </p:grpSpPr>
          <p:sp>
            <p:nvSpPr>
              <p:cNvPr id="7" name="矩形 6"/>
              <p:cNvSpPr>
                <a:spLocks/>
              </p:cNvSpPr>
              <p:nvPr/>
            </p:nvSpPr>
            <p:spPr>
              <a:xfrm>
                <a:off x="5427362" y="2683564"/>
                <a:ext cx="3600000" cy="36000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" name="橢圓 15"/>
              <p:cNvSpPr/>
              <p:nvPr/>
            </p:nvSpPr>
            <p:spPr>
              <a:xfrm>
                <a:off x="5736491" y="3150704"/>
                <a:ext cx="367747" cy="367747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7" name="橢圓 16"/>
              <p:cNvSpPr/>
              <p:nvPr/>
            </p:nvSpPr>
            <p:spPr>
              <a:xfrm>
                <a:off x="5552617" y="4115816"/>
                <a:ext cx="367747" cy="367747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8" name="橢圓 17"/>
              <p:cNvSpPr/>
              <p:nvPr/>
            </p:nvSpPr>
            <p:spPr>
              <a:xfrm>
                <a:off x="7381926" y="2782956"/>
                <a:ext cx="367747" cy="367747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" name="橢圓 18"/>
              <p:cNvSpPr/>
              <p:nvPr/>
            </p:nvSpPr>
            <p:spPr>
              <a:xfrm>
                <a:off x="8294161" y="5743160"/>
                <a:ext cx="367747" cy="367747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" name="橢圓 19"/>
              <p:cNvSpPr/>
              <p:nvPr/>
            </p:nvSpPr>
            <p:spPr>
              <a:xfrm>
                <a:off x="6477002" y="5633830"/>
                <a:ext cx="367747" cy="367747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1" name="橢圓 20"/>
              <p:cNvSpPr/>
              <p:nvPr/>
            </p:nvSpPr>
            <p:spPr>
              <a:xfrm>
                <a:off x="5920364" y="5191540"/>
                <a:ext cx="367747" cy="367747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2" name="橢圓 21"/>
              <p:cNvSpPr/>
              <p:nvPr/>
            </p:nvSpPr>
            <p:spPr>
              <a:xfrm>
                <a:off x="7800980" y="3130421"/>
                <a:ext cx="367747" cy="367747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3" name="橢圓 22"/>
              <p:cNvSpPr/>
              <p:nvPr/>
            </p:nvSpPr>
            <p:spPr>
              <a:xfrm>
                <a:off x="7442356" y="4706992"/>
                <a:ext cx="367747" cy="367747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4" name="橢圓 23"/>
              <p:cNvSpPr/>
              <p:nvPr/>
            </p:nvSpPr>
            <p:spPr>
              <a:xfrm>
                <a:off x="7074609" y="3697477"/>
                <a:ext cx="367747" cy="367747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grpSp>
        <p:nvGrpSpPr>
          <p:cNvPr id="27" name="群組 26"/>
          <p:cNvGrpSpPr/>
          <p:nvPr/>
        </p:nvGrpSpPr>
        <p:grpSpPr>
          <a:xfrm>
            <a:off x="5623817" y="3315520"/>
            <a:ext cx="3600000" cy="3600001"/>
            <a:chOff x="5468399" y="2683563"/>
            <a:chExt cx="3600000" cy="3600001"/>
          </a:xfrm>
        </p:grpSpPr>
        <p:grpSp>
          <p:nvGrpSpPr>
            <p:cNvPr id="28" name="群組 27"/>
            <p:cNvGrpSpPr/>
            <p:nvPr/>
          </p:nvGrpSpPr>
          <p:grpSpPr>
            <a:xfrm>
              <a:off x="5468399" y="2683563"/>
              <a:ext cx="3600000" cy="3600000"/>
              <a:chOff x="834885" y="2683564"/>
              <a:chExt cx="3600000" cy="3600000"/>
            </a:xfrm>
          </p:grpSpPr>
          <p:sp>
            <p:nvSpPr>
              <p:cNvPr id="40" name="矩形 39"/>
              <p:cNvSpPr>
                <a:spLocks/>
              </p:cNvSpPr>
              <p:nvPr/>
            </p:nvSpPr>
            <p:spPr>
              <a:xfrm>
                <a:off x="834885" y="2683564"/>
                <a:ext cx="3600000" cy="36000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1" name="橢圓 40"/>
              <p:cNvSpPr/>
              <p:nvPr/>
            </p:nvSpPr>
            <p:spPr>
              <a:xfrm>
                <a:off x="1053548" y="2782957"/>
                <a:ext cx="367747" cy="367747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2" name="橢圓 41"/>
              <p:cNvSpPr/>
              <p:nvPr/>
            </p:nvSpPr>
            <p:spPr>
              <a:xfrm>
                <a:off x="889552" y="3345395"/>
                <a:ext cx="367747" cy="367747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3" name="橢圓 42"/>
              <p:cNvSpPr/>
              <p:nvPr/>
            </p:nvSpPr>
            <p:spPr>
              <a:xfrm>
                <a:off x="2095720" y="2822713"/>
                <a:ext cx="367747" cy="367747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4" name="橢圓 43"/>
              <p:cNvSpPr/>
              <p:nvPr/>
            </p:nvSpPr>
            <p:spPr>
              <a:xfrm>
                <a:off x="1732224" y="4299690"/>
                <a:ext cx="367747" cy="367747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5" name="橢圓 44"/>
              <p:cNvSpPr/>
              <p:nvPr/>
            </p:nvSpPr>
            <p:spPr>
              <a:xfrm>
                <a:off x="3362739" y="3559085"/>
                <a:ext cx="367747" cy="367747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6" name="橢圓 45"/>
              <p:cNvSpPr/>
              <p:nvPr/>
            </p:nvSpPr>
            <p:spPr>
              <a:xfrm>
                <a:off x="3472070" y="5449957"/>
                <a:ext cx="367747" cy="367747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7" name="橢圓 46"/>
              <p:cNvSpPr/>
              <p:nvPr/>
            </p:nvSpPr>
            <p:spPr>
              <a:xfrm>
                <a:off x="1166192" y="5559287"/>
                <a:ext cx="367747" cy="367747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8" name="橢圓 47"/>
              <p:cNvSpPr/>
              <p:nvPr/>
            </p:nvSpPr>
            <p:spPr>
              <a:xfrm>
                <a:off x="3839817" y="3030795"/>
                <a:ext cx="367747" cy="367747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29" name="群組 28"/>
            <p:cNvGrpSpPr/>
            <p:nvPr/>
          </p:nvGrpSpPr>
          <p:grpSpPr>
            <a:xfrm>
              <a:off x="5468399" y="2683564"/>
              <a:ext cx="3600000" cy="3600000"/>
              <a:chOff x="5427362" y="2683564"/>
              <a:chExt cx="3600000" cy="3600000"/>
            </a:xfrm>
          </p:grpSpPr>
          <p:sp>
            <p:nvSpPr>
              <p:cNvPr id="30" name="矩形 29"/>
              <p:cNvSpPr>
                <a:spLocks/>
              </p:cNvSpPr>
              <p:nvPr/>
            </p:nvSpPr>
            <p:spPr>
              <a:xfrm>
                <a:off x="5427362" y="2683564"/>
                <a:ext cx="3600000" cy="36000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1" name="橢圓 30"/>
              <p:cNvSpPr/>
              <p:nvPr/>
            </p:nvSpPr>
            <p:spPr>
              <a:xfrm>
                <a:off x="5736491" y="3150704"/>
                <a:ext cx="367747" cy="367747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2" name="橢圓 31"/>
              <p:cNvSpPr/>
              <p:nvPr/>
            </p:nvSpPr>
            <p:spPr>
              <a:xfrm>
                <a:off x="5552617" y="4115816"/>
                <a:ext cx="367747" cy="367747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3" name="橢圓 32"/>
              <p:cNvSpPr/>
              <p:nvPr/>
            </p:nvSpPr>
            <p:spPr>
              <a:xfrm>
                <a:off x="7381926" y="2782956"/>
                <a:ext cx="367747" cy="367747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4" name="橢圓 33"/>
              <p:cNvSpPr/>
              <p:nvPr/>
            </p:nvSpPr>
            <p:spPr>
              <a:xfrm>
                <a:off x="8294161" y="5743160"/>
                <a:ext cx="367747" cy="367747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5" name="橢圓 34"/>
              <p:cNvSpPr/>
              <p:nvPr/>
            </p:nvSpPr>
            <p:spPr>
              <a:xfrm>
                <a:off x="6477002" y="5633830"/>
                <a:ext cx="367747" cy="367747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6" name="橢圓 35"/>
              <p:cNvSpPr/>
              <p:nvPr/>
            </p:nvSpPr>
            <p:spPr>
              <a:xfrm>
                <a:off x="5920364" y="5191540"/>
                <a:ext cx="367747" cy="367747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7" name="橢圓 36"/>
              <p:cNvSpPr/>
              <p:nvPr/>
            </p:nvSpPr>
            <p:spPr>
              <a:xfrm>
                <a:off x="7800980" y="3130421"/>
                <a:ext cx="367747" cy="367747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8" name="橢圓 37"/>
              <p:cNvSpPr/>
              <p:nvPr/>
            </p:nvSpPr>
            <p:spPr>
              <a:xfrm>
                <a:off x="7442356" y="4706992"/>
                <a:ext cx="367747" cy="367747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9" name="橢圓 38"/>
              <p:cNvSpPr/>
              <p:nvPr/>
            </p:nvSpPr>
            <p:spPr>
              <a:xfrm>
                <a:off x="7074609" y="3697477"/>
                <a:ext cx="367747" cy="367747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sp>
        <p:nvSpPr>
          <p:cNvPr id="49" name="文字方塊 48"/>
          <p:cNvSpPr txBox="1"/>
          <p:nvPr/>
        </p:nvSpPr>
        <p:spPr>
          <a:xfrm>
            <a:off x="2116710" y="2934915"/>
            <a:ext cx="836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Level 0</a:t>
            </a:r>
            <a:endParaRPr lang="zh-TW" altLang="en-US" dirty="0"/>
          </a:p>
        </p:txBody>
      </p:sp>
      <p:sp>
        <p:nvSpPr>
          <p:cNvPr id="50" name="文字方塊 49"/>
          <p:cNvSpPr txBox="1"/>
          <p:nvPr/>
        </p:nvSpPr>
        <p:spPr>
          <a:xfrm>
            <a:off x="7005369" y="2946187"/>
            <a:ext cx="836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Level 1</a:t>
            </a:r>
            <a:endParaRPr lang="zh-TW" altLang="en-US" dirty="0"/>
          </a:p>
        </p:txBody>
      </p:sp>
      <p:cxnSp>
        <p:nvCxnSpPr>
          <p:cNvPr id="52" name="直線接點 51"/>
          <p:cNvCxnSpPr>
            <a:stCxn id="30" idx="1"/>
            <a:endCxn id="30" idx="3"/>
          </p:cNvCxnSpPr>
          <p:nvPr/>
        </p:nvCxnSpPr>
        <p:spPr>
          <a:xfrm>
            <a:off x="5623817" y="5115521"/>
            <a:ext cx="3600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>
            <a:stCxn id="30" idx="0"/>
            <a:endCxn id="30" idx="2"/>
          </p:cNvCxnSpPr>
          <p:nvPr/>
        </p:nvCxnSpPr>
        <p:spPr>
          <a:xfrm>
            <a:off x="7423817" y="3315521"/>
            <a:ext cx="0" cy="3600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文字方塊 54"/>
              <p:cNvSpPr txBox="1"/>
              <p:nvPr/>
            </p:nvSpPr>
            <p:spPr>
              <a:xfrm>
                <a:off x="2208314" y="7004241"/>
                <a:ext cx="72571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altLang="zh-TW" dirty="0"/>
                  <a:t> = 2</a:t>
                </a:r>
                <a:endParaRPr lang="zh-TW" altLang="en-US" dirty="0"/>
              </a:p>
            </p:txBody>
          </p:sp>
        </mc:Choice>
        <mc:Fallback>
          <p:sp>
            <p:nvSpPr>
              <p:cNvPr id="55" name="文字方塊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8314" y="7004241"/>
                <a:ext cx="725711" cy="369332"/>
              </a:xfrm>
              <a:prstGeom prst="rect">
                <a:avLst/>
              </a:prstGeom>
              <a:blipFill>
                <a:blip r:embed="rId3"/>
                <a:stretch>
                  <a:fillRect t="-9836" r="-6723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文字方塊 55"/>
              <p:cNvSpPr txBox="1"/>
              <p:nvPr/>
            </p:nvSpPr>
            <p:spPr>
              <a:xfrm>
                <a:off x="7094549" y="7003018"/>
                <a:ext cx="72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altLang="zh-TW" dirty="0"/>
                  <a:t> = 6</a:t>
                </a:r>
                <a:endParaRPr lang="zh-TW" altLang="en-US" dirty="0"/>
              </a:p>
            </p:txBody>
          </p:sp>
        </mc:Choice>
        <mc:Fallback>
          <p:sp>
            <p:nvSpPr>
              <p:cNvPr id="56" name="文字方塊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4549" y="7003018"/>
                <a:ext cx="720775" cy="369332"/>
              </a:xfrm>
              <a:prstGeom prst="rect">
                <a:avLst/>
              </a:prstGeom>
              <a:blipFill>
                <a:blip r:embed="rId4"/>
                <a:stretch>
                  <a:fillRect t="-10000" r="-5932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6758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5682" y="1760333"/>
            <a:ext cx="9071643" cy="563939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3100" dirty="0">
                <a:latin typeface="Cambria Math" panose="02040503050406030204" pitchFamily="18" charset="0"/>
                <a:ea typeface="Cambria Math" panose="02040503050406030204" pitchFamily="18" charset="0"/>
              </a:rPr>
              <a:t>Intuitively, we want to penalize matches found in larger cells because they involve increasingly dissimilar features.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Spatial Pyramid Matching</a:t>
            </a:r>
            <a:endParaRPr lang="zh-TW" altLang="en-US" b="1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9</a:t>
            </a:fld>
            <a:endParaRPr lang="zh-TW" altLang="en-US" dirty="0"/>
          </a:p>
        </p:txBody>
      </p:sp>
      <p:pic>
        <p:nvPicPr>
          <p:cNvPr id="51" name="圖片 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721" y="3424726"/>
            <a:ext cx="8140149" cy="3026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0614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5682" y="1760333"/>
            <a:ext cx="9071643" cy="563939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3100" dirty="0">
                <a:latin typeface="Cambria Math" panose="02040503050406030204" pitchFamily="18" charset="0"/>
                <a:ea typeface="Cambria Math" panose="02040503050406030204" pitchFamily="18" charset="0"/>
              </a:rPr>
              <a:t>The final kernel is then the sum of the separate channel kernels: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Spatial Pyramid Matching</a:t>
            </a:r>
            <a:endParaRPr lang="zh-TW" altLang="en-US" b="1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10</a:t>
            </a:fld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345" y="2686708"/>
            <a:ext cx="7180947" cy="1783993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281" y="4172914"/>
            <a:ext cx="3235527" cy="3235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1271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5682" y="1760333"/>
            <a:ext cx="9071643" cy="563939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TW" sz="23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Spatial Pyramid Matching</a:t>
            </a:r>
            <a:endParaRPr lang="zh-TW" altLang="en-US" b="1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11</a:t>
            </a:fld>
            <a:endParaRPr lang="zh-TW" altLang="en-US" dirty="0"/>
          </a:p>
        </p:txBody>
      </p:sp>
      <p:pic>
        <p:nvPicPr>
          <p:cNvPr id="53" name="圖片 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123" y="1492216"/>
            <a:ext cx="9063808" cy="4842616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6396" y="6547454"/>
            <a:ext cx="7400039" cy="80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6882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Feature Extraction</a:t>
            </a:r>
            <a:endParaRPr lang="zh-TW" altLang="en-US" b="1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503998" y="1769043"/>
                <a:ext cx="9071643" cy="5639398"/>
              </a:xfrm>
            </p:spPr>
            <p:txBody>
              <a:bodyPr/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altLang="zh-TW" sz="31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SIFT feature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altLang="zh-TW" sz="31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We perform </a:t>
                </a:r>
                <a14:m>
                  <m:oMath xmlns:m="http://schemas.openxmlformats.org/officeDocument/2006/math">
                    <m:r>
                      <a:rPr lang="en-US" altLang="zh-TW" sz="31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sz="31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-means clustering of a random subset of patches from the training set to form a visual vocabulary.</a:t>
                </a:r>
                <a:endParaRPr lang="en-US" altLang="zh-TW" sz="23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3998" y="1769043"/>
                <a:ext cx="9071643" cy="5639398"/>
              </a:xfrm>
              <a:blipFill>
                <a:blip r:embed="rId2"/>
                <a:stretch>
                  <a:fillRect l="-2487" t="-2270" r="-34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12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651656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Experiments Result</a:t>
            </a:r>
            <a:endParaRPr lang="zh-TW" altLang="en-US" b="1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3998" y="1769043"/>
            <a:ext cx="9071643" cy="563939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3100" dirty="0">
                <a:latin typeface="Cambria Math" panose="02040503050406030204" pitchFamily="18" charset="0"/>
                <a:ea typeface="Cambria Math" panose="02040503050406030204" pitchFamily="18" charset="0"/>
              </a:rPr>
              <a:t>Dataset:</a:t>
            </a:r>
          </a:p>
          <a:p>
            <a:pPr marL="1143000" lvl="1" indent="-457200">
              <a:buFont typeface="+mj-lt"/>
              <a:buAutoNum type="arabicPeriod"/>
            </a:pPr>
            <a:r>
              <a:rPr lang="en-US" altLang="zh-TW" sz="2300" dirty="0">
                <a:latin typeface="Cambria Math" panose="02040503050406030204" pitchFamily="18" charset="0"/>
                <a:ea typeface="Cambria Math" panose="02040503050406030204" pitchFamily="18" charset="0"/>
              </a:rPr>
              <a:t>Oliva and </a:t>
            </a:r>
            <a:r>
              <a:rPr lang="en-US" altLang="zh-TW" sz="23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Torralba</a:t>
            </a:r>
            <a:r>
              <a:rPr lang="en-US" altLang="zh-TW" sz="2300" dirty="0">
                <a:latin typeface="Cambria Math" panose="02040503050406030204" pitchFamily="18" charset="0"/>
                <a:ea typeface="Cambria Math" panose="02040503050406030204" pitchFamily="18" charset="0"/>
              </a:rPr>
              <a:t>: 15 categories and each category has 200 to 400 images.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13</a:t>
            </a:fld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171" y="2968755"/>
            <a:ext cx="8279296" cy="4509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6878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Experiments Result</a:t>
            </a:r>
            <a:endParaRPr lang="zh-TW" altLang="en-US" b="1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3998" y="1769043"/>
            <a:ext cx="9071643" cy="563939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3100" dirty="0">
                <a:latin typeface="Cambria Math" panose="02040503050406030204" pitchFamily="18" charset="0"/>
                <a:ea typeface="Cambria Math" panose="02040503050406030204" pitchFamily="18" charset="0"/>
              </a:rPr>
              <a:t>Dataset:</a:t>
            </a:r>
          </a:p>
          <a:p>
            <a:pPr marL="1143000" lvl="1" indent="-457200">
              <a:buFont typeface="+mj-lt"/>
              <a:buAutoNum type="arabicPeriod"/>
            </a:pPr>
            <a:r>
              <a:rPr lang="en-US" altLang="zh-TW" sz="2300" dirty="0">
                <a:latin typeface="Cambria Math" panose="02040503050406030204" pitchFamily="18" charset="0"/>
                <a:ea typeface="Cambria Math" panose="02040503050406030204" pitchFamily="18" charset="0"/>
              </a:rPr>
              <a:t>Oliva and </a:t>
            </a:r>
            <a:r>
              <a:rPr lang="en-US" altLang="zh-TW" sz="23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Torralba</a:t>
            </a:r>
            <a:r>
              <a:rPr lang="en-US" altLang="zh-TW" sz="2300" dirty="0">
                <a:latin typeface="Cambria Math" panose="02040503050406030204" pitchFamily="18" charset="0"/>
                <a:ea typeface="Cambria Math" panose="02040503050406030204" pitchFamily="18" charset="0"/>
              </a:rPr>
              <a:t>: 15 categories and each category has 200 to 400 images.</a:t>
            </a:r>
          </a:p>
          <a:p>
            <a:pPr marL="1143000" lvl="1" indent="-457200">
              <a:buFont typeface="+mj-lt"/>
              <a:buAutoNum type="arabicPeriod"/>
            </a:pPr>
            <a:r>
              <a:rPr lang="en-US" altLang="zh-TW" sz="2300" dirty="0">
                <a:latin typeface="Cambria Math" panose="02040503050406030204" pitchFamily="18" charset="0"/>
                <a:ea typeface="Cambria Math" panose="02040503050406030204" pitchFamily="18" charset="0"/>
              </a:rPr>
              <a:t>Caltech-101: 101 categories and each category has 31 to 800 images.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14</a:t>
            </a:fld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669" y="3818368"/>
            <a:ext cx="6972300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6824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Experiments Result</a:t>
            </a:r>
            <a:endParaRPr lang="zh-TW" altLang="en-US" b="1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3998" y="1769043"/>
            <a:ext cx="9071643" cy="563939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3100" dirty="0">
                <a:latin typeface="Cambria Math" panose="02040503050406030204" pitchFamily="18" charset="0"/>
                <a:ea typeface="Cambria Math" panose="02040503050406030204" pitchFamily="18" charset="0"/>
              </a:rPr>
              <a:t>Dataset:</a:t>
            </a:r>
          </a:p>
          <a:p>
            <a:pPr marL="1143000" lvl="1" indent="-457200">
              <a:buFont typeface="+mj-lt"/>
              <a:buAutoNum type="arabicPeriod"/>
            </a:pPr>
            <a:r>
              <a:rPr lang="en-US" altLang="zh-TW" sz="2300" dirty="0">
                <a:latin typeface="Cambria Math" panose="02040503050406030204" pitchFamily="18" charset="0"/>
                <a:ea typeface="Cambria Math" panose="02040503050406030204" pitchFamily="18" charset="0"/>
              </a:rPr>
              <a:t>Oliva and </a:t>
            </a:r>
            <a:r>
              <a:rPr lang="en-US" altLang="zh-TW" sz="23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Torralba</a:t>
            </a:r>
            <a:r>
              <a:rPr lang="en-US" altLang="zh-TW" sz="2300" dirty="0">
                <a:latin typeface="Cambria Math" panose="02040503050406030204" pitchFamily="18" charset="0"/>
                <a:ea typeface="Cambria Math" panose="02040503050406030204" pitchFamily="18" charset="0"/>
              </a:rPr>
              <a:t>: 15 categories and each category has 200 to 400 images.</a:t>
            </a:r>
          </a:p>
          <a:p>
            <a:pPr marL="1143000" lvl="1" indent="-457200">
              <a:buFont typeface="+mj-lt"/>
              <a:buAutoNum type="arabicPeriod"/>
            </a:pPr>
            <a:r>
              <a:rPr lang="en-US" altLang="zh-TW" sz="2300" dirty="0">
                <a:latin typeface="Cambria Math" panose="02040503050406030204" pitchFamily="18" charset="0"/>
                <a:ea typeface="Cambria Math" panose="02040503050406030204" pitchFamily="18" charset="0"/>
              </a:rPr>
              <a:t>Caltech-101: 101 categories and each category has 31 to 800 images.</a:t>
            </a:r>
          </a:p>
          <a:p>
            <a:pPr marL="1143000" lvl="1" indent="-457200">
              <a:buFont typeface="+mj-lt"/>
              <a:buAutoNum type="arabicPeriod"/>
            </a:pPr>
            <a:r>
              <a:rPr lang="en-US" altLang="zh-TW" sz="2300" dirty="0">
                <a:latin typeface="Cambria Math" panose="02040503050406030204" pitchFamily="18" charset="0"/>
                <a:ea typeface="Cambria Math" panose="02040503050406030204" pitchFamily="18" charset="0"/>
              </a:rPr>
              <a:t>The Graz Dataset: 3 categories and each category has 270 to 460 images.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15</a:t>
            </a:fld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516" y="4332956"/>
            <a:ext cx="3933698" cy="1494805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8214" y="4332956"/>
            <a:ext cx="4504495" cy="1560334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3921" y="5827761"/>
            <a:ext cx="4837309" cy="1722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4338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Experiments Result</a:t>
            </a:r>
            <a:endParaRPr lang="zh-TW" altLang="en-US" b="1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3998" y="1769043"/>
            <a:ext cx="9071643" cy="563939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3100" dirty="0">
                <a:latin typeface="Cambria Math" panose="02040503050406030204" pitchFamily="18" charset="0"/>
                <a:ea typeface="Cambria Math" panose="02040503050406030204" pitchFamily="18" charset="0"/>
              </a:rPr>
              <a:t>Oliva and </a:t>
            </a:r>
            <a:r>
              <a:rPr lang="en-US" altLang="zh-TW" sz="31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Torralba</a:t>
            </a:r>
            <a:endParaRPr lang="en-US" altLang="zh-TW" sz="31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TW" sz="31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TW" sz="31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TW" sz="31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3100" dirty="0">
                <a:latin typeface="Cambria Math" panose="02040503050406030204" pitchFamily="18" charset="0"/>
                <a:ea typeface="Cambria Math" panose="02040503050406030204" pitchFamily="18" charset="0"/>
              </a:rPr>
              <a:t>Caltech-101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16</a:t>
            </a:fld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183" y="2340510"/>
            <a:ext cx="9263271" cy="1987592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191" y="4890189"/>
            <a:ext cx="7633253" cy="2669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8169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Experiments Result</a:t>
            </a:r>
            <a:endParaRPr lang="zh-TW" altLang="en-US" b="1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3998" y="1769043"/>
            <a:ext cx="9071643" cy="563939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The Graz Dataset</a:t>
            </a:r>
            <a:endParaRPr lang="en-US" altLang="zh-TW" sz="31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17</a:t>
            </a:fld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094" y="2221050"/>
            <a:ext cx="931545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185519"/>
      </p:ext>
    </p:extLst>
  </p:cSld>
  <p:clrMapOvr>
    <a:masterClrMapping/>
  </p:clrMapOvr>
</p:sld>
</file>

<file path=ppt/theme/theme1.xml><?xml version="1.0" encoding="utf-8"?>
<a:theme xmlns:a="http://schemas.openxmlformats.org/drawingml/2006/main" name="預設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15480</TotalTime>
  <Words>530</Words>
  <Application>Microsoft Office PowerPoint</Application>
  <PresentationFormat>自訂</PresentationFormat>
  <Paragraphs>72</Paragraphs>
  <Slides>17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13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31" baseType="lpstr">
      <vt:lpstr>Liberation Sans</vt:lpstr>
      <vt:lpstr>Liberation Sans Narrow</vt:lpstr>
      <vt:lpstr>Liberation Serif</vt:lpstr>
      <vt:lpstr>Mangal</vt:lpstr>
      <vt:lpstr>微軟正黑體</vt:lpstr>
      <vt:lpstr>新細明體</vt:lpstr>
      <vt:lpstr>Arial</vt:lpstr>
      <vt:lpstr>Calibri</vt:lpstr>
      <vt:lpstr>Cambria Math</vt:lpstr>
      <vt:lpstr>Ebrima</vt:lpstr>
      <vt:lpstr>Sitka Subheading</vt:lpstr>
      <vt:lpstr>Tahoma</vt:lpstr>
      <vt:lpstr>Wingdings</vt:lpstr>
      <vt:lpstr>預設</vt:lpstr>
      <vt:lpstr>IEEE Computer Society Conference on Computer Vision and Pattern Recognition, New York, USA, 2006, Svetlana Lazebnik, Cordelia Schmid and Jean Ponce</vt:lpstr>
      <vt:lpstr>Abstract (1/2)</vt:lpstr>
      <vt:lpstr>Abstract (2/2)</vt:lpstr>
      <vt:lpstr>Image Retrieval</vt:lpstr>
      <vt:lpstr>Bag Of Words (BOW)</vt:lpstr>
      <vt:lpstr>Spatial Pyramid Matching</vt:lpstr>
      <vt:lpstr>Spatial Pyramid Matching</vt:lpstr>
      <vt:lpstr>Spatial Pyramid Matching</vt:lpstr>
      <vt:lpstr>Spatial Pyramid Matching</vt:lpstr>
      <vt:lpstr>Spatial Pyramid Matching</vt:lpstr>
      <vt:lpstr>Spatial Pyramid Matching</vt:lpstr>
      <vt:lpstr>Feature Extraction</vt:lpstr>
      <vt:lpstr>Experiments Result</vt:lpstr>
      <vt:lpstr>Experiments Result</vt:lpstr>
      <vt:lpstr>Experiments Result</vt:lpstr>
      <vt:lpstr>Experiments Result</vt:lpstr>
      <vt:lpstr>Experiments Result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Communications of the ACM June 1975 Volume 18 Number 6 D.S. Hirschberg Princeton University</dc:title>
  <dc:creator>Shecil</dc:creator>
  <cp:lastModifiedBy>whfu</cp:lastModifiedBy>
  <cp:revision>273</cp:revision>
  <dcterms:created xsi:type="dcterms:W3CDTF">2015-10-08T13:19:19Z</dcterms:created>
  <dcterms:modified xsi:type="dcterms:W3CDTF">2017-06-20T08:59:47Z</dcterms:modified>
</cp:coreProperties>
</file>