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2"/>
  </p:notesMasterIdLst>
  <p:sldIdLst>
    <p:sldId id="256" r:id="rId2"/>
    <p:sldId id="276" r:id="rId3"/>
    <p:sldId id="319" r:id="rId4"/>
    <p:sldId id="279" r:id="rId5"/>
    <p:sldId id="306" r:id="rId6"/>
    <p:sldId id="320" r:id="rId7"/>
    <p:sldId id="321" r:id="rId8"/>
    <p:sldId id="322" r:id="rId9"/>
    <p:sldId id="323" r:id="rId10"/>
    <p:sldId id="324"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169" autoAdjust="0"/>
    <p:restoredTop sz="88835" autoAdjust="0"/>
  </p:normalViewPr>
  <p:slideViewPr>
    <p:cSldViewPr snapToGrid="0">
      <p:cViewPr varScale="1">
        <p:scale>
          <a:sx n="103" d="100"/>
          <a:sy n="103" d="100"/>
        </p:scale>
        <p:origin x="1302" y="10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C7986E-2186-42F2-A1F5-4424A07DD94D}" type="datetimeFigureOut">
              <a:rPr lang="zh-TW" altLang="en-US" smtClean="0"/>
              <a:t>2017/6/20</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014D64-E656-4722-AF7D-B3D63D1F5DC9}" type="slidenum">
              <a:rPr lang="zh-TW" altLang="en-US" smtClean="0"/>
              <a:t>‹#›</a:t>
            </a:fld>
            <a:endParaRPr lang="zh-TW" altLang="en-US"/>
          </a:p>
        </p:txBody>
      </p:sp>
    </p:spTree>
    <p:extLst>
      <p:ext uri="{BB962C8B-B14F-4D97-AF65-F5344CB8AC3E}">
        <p14:creationId xmlns:p14="http://schemas.microsoft.com/office/powerpoint/2010/main" val="1681973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B014D64-E656-4722-AF7D-B3D63D1F5DC9}" type="slidenum">
              <a:rPr lang="zh-TW" altLang="en-US" smtClean="0"/>
              <a:t>1</a:t>
            </a:fld>
            <a:endParaRPr lang="zh-TW" altLang="en-US"/>
          </a:p>
        </p:txBody>
      </p:sp>
    </p:spTree>
    <p:extLst>
      <p:ext uri="{BB962C8B-B14F-4D97-AF65-F5344CB8AC3E}">
        <p14:creationId xmlns:p14="http://schemas.microsoft.com/office/powerpoint/2010/main" val="14998109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2978346F-159C-4E5E-A9BC-B4FAF4B8F4AD}" type="datetime1">
              <a:rPr lang="zh-TW" altLang="en-US" smtClean="0"/>
              <a:t>2017/6/20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121564647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B5A45FE-5976-4612-A121-9F7FA6C65956}" type="datetime1">
              <a:rPr lang="zh-TW" altLang="en-US" smtClean="0"/>
              <a:t>2017/6/20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endParaRPr lang="zh-TW" altLang="en-US" dirty="0"/>
          </a:p>
        </p:txBody>
      </p:sp>
    </p:spTree>
    <p:extLst>
      <p:ext uri="{BB962C8B-B14F-4D97-AF65-F5344CB8AC3E}">
        <p14:creationId xmlns:p14="http://schemas.microsoft.com/office/powerpoint/2010/main" val="108375177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F10E126F-36C8-4C5A-8698-9E4A53D999E5}" type="datetime1">
              <a:rPr lang="zh-TW" altLang="en-US" smtClean="0"/>
              <a:t>2017/6/20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418659647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172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19918B67-291F-45ED-BF8F-60129A7CAFCF}" type="datetime1">
              <a:rPr lang="zh-TW" altLang="en-US" smtClean="0"/>
              <a:t>2017/6/20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1208523580"/>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C49F5E44-883D-47F1-80F2-BBD83A64BF20}" type="datetime1">
              <a:rPr lang="zh-TW" altLang="en-US" smtClean="0"/>
              <a:t>2017/6/20</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51000604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F81DBBE2-5504-4D7F-9CC4-F2C58F132876}" type="datetime1">
              <a:rPr lang="zh-TW" altLang="en-US" smtClean="0"/>
              <a:t>2017/6/20</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38099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DCE0DA84-72B1-4070-A970-AE6E5670C53F}" type="datetime1">
              <a:rPr lang="zh-TW" altLang="en-US" smtClean="0"/>
              <a:t>2017/6/20</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3021298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A05BC297-F23E-49C2-9FD2-1DB5A3D63A00}" type="datetime1">
              <a:rPr lang="zh-TW" altLang="en-US" smtClean="0"/>
              <a:t>2017/6/20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3554612192"/>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660853A-160A-4D81-8E79-297A6811D44C}" type="datetime1">
              <a:rPr lang="zh-TW" altLang="en-US" smtClean="0"/>
              <a:t>2017/6/20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2403726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0AFD68B-4BF6-411C-BDB8-9879BE85A868}" type="datetime1">
              <a:rPr lang="zh-TW" altLang="en-US" smtClean="0"/>
              <a:t>2017/6/20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2048019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E09472C-E7F7-4061-8A6B-A2FC31C7A013}" type="datetime1">
              <a:rPr lang="zh-TW" altLang="en-US" smtClean="0"/>
              <a:t>2017/6/20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2973835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AA8E3B-251A-4826-B76B-2ED6FD8BECB3}" type="datetime1">
              <a:rPr lang="zh-TW" altLang="en-US" smtClean="0"/>
              <a:t>2017/6/20</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6262803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118681" y="559444"/>
            <a:ext cx="9954638" cy="1819245"/>
          </a:xfrm>
        </p:spPr>
        <p:txBody>
          <a:bodyPr anchor="ctr">
            <a:normAutofit/>
          </a:bodyPr>
          <a:lstStyle/>
          <a:p>
            <a:r>
              <a:rPr lang="en-US" altLang="zh-TW" sz="4800" b="1" dirty="0">
                <a:latin typeface="Times New Roman" panose="02020603050405020304" pitchFamily="18" charset="0"/>
                <a:cs typeface="Times New Roman" panose="02020603050405020304" pitchFamily="18" charset="0"/>
              </a:rPr>
              <a:t>Efficient Dynamic Time Warping </a:t>
            </a:r>
            <a:r>
              <a:rPr lang="en-US" altLang="zh-TW" sz="4800" b="1" dirty="0" smtClean="0">
                <a:latin typeface="Times New Roman" panose="02020603050405020304" pitchFamily="18" charset="0"/>
                <a:cs typeface="Times New Roman" panose="02020603050405020304" pitchFamily="18" charset="0"/>
              </a:rPr>
              <a:t/>
            </a:r>
            <a:br>
              <a:rPr lang="en-US" altLang="zh-TW" sz="4800" b="1" dirty="0" smtClean="0">
                <a:latin typeface="Times New Roman" panose="02020603050405020304" pitchFamily="18" charset="0"/>
                <a:cs typeface="Times New Roman" panose="02020603050405020304" pitchFamily="18" charset="0"/>
              </a:rPr>
            </a:br>
            <a:r>
              <a:rPr lang="en-US" altLang="zh-TW" sz="4800" b="1" dirty="0" smtClean="0">
                <a:latin typeface="Times New Roman" panose="02020603050405020304" pitchFamily="18" charset="0"/>
                <a:cs typeface="Times New Roman" panose="02020603050405020304" pitchFamily="18" charset="0"/>
              </a:rPr>
              <a:t>for </a:t>
            </a:r>
            <a:r>
              <a:rPr lang="en-US" altLang="zh-TW" sz="4800" b="1" dirty="0">
                <a:latin typeface="Times New Roman" panose="02020603050405020304" pitchFamily="18" charset="0"/>
                <a:cs typeface="Times New Roman" panose="02020603050405020304" pitchFamily="18" charset="0"/>
              </a:rPr>
              <a:t>Time Series Classification</a:t>
            </a:r>
            <a:endParaRPr lang="zh-TW" altLang="en-US" sz="4800" b="1"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7959305" y="5620621"/>
            <a:ext cx="3893389" cy="935455"/>
          </a:xfrm>
        </p:spPr>
        <p:txBody>
          <a:bodyPr/>
          <a:lstStyle/>
          <a:p>
            <a:r>
              <a:rPr lang="en-US" altLang="zh-TW" dirty="0" smtClean="0">
                <a:latin typeface="Times New Roman" panose="02020603050405020304" pitchFamily="18" charset="0"/>
                <a:cs typeface="Times New Roman" panose="02020603050405020304" pitchFamily="18" charset="0"/>
              </a:rPr>
              <a:t>Presenter</a:t>
            </a:r>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t>
            </a:r>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Bo-Xian Chen</a:t>
            </a:r>
          </a:p>
          <a:p>
            <a:r>
              <a:rPr lang="en-US" altLang="zh-TW" dirty="0" smtClean="0">
                <a:latin typeface="Times New Roman" panose="02020603050405020304" pitchFamily="18" charset="0"/>
                <a:cs typeface="Times New Roman" panose="02020603050405020304" pitchFamily="18" charset="0"/>
              </a:rPr>
              <a:t>  Date : </a:t>
            </a:r>
            <a:fld id="{DA00540B-99AF-4B5E-9AEF-55C0985778C8}" type="datetime1">
              <a:rPr lang="zh-TW" altLang="en-US" smtClean="0">
                <a:latin typeface="Times New Roman" panose="02020603050405020304" pitchFamily="18" charset="0"/>
                <a:cs typeface="Times New Roman" panose="02020603050405020304" pitchFamily="18" charset="0"/>
              </a:rPr>
              <a:t>2017/6/20</a:t>
            </a:fld>
            <a:endParaRPr lang="zh-TW" altLang="en-US" dirty="0">
              <a:latin typeface="Times New Roman" panose="02020603050405020304" pitchFamily="18" charset="0"/>
              <a:cs typeface="Times New Roman" panose="02020603050405020304" pitchFamily="18" charset="0"/>
            </a:endParaRPr>
          </a:p>
        </p:txBody>
      </p:sp>
      <p:sp>
        <p:nvSpPr>
          <p:cNvPr id="4" name="標題 1"/>
          <p:cNvSpPr txBox="1">
            <a:spLocks/>
          </p:cNvSpPr>
          <p:nvPr/>
        </p:nvSpPr>
        <p:spPr>
          <a:xfrm>
            <a:off x="1549933" y="3447219"/>
            <a:ext cx="9092134" cy="1449115"/>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TW" sz="2449" b="1" dirty="0">
                <a:solidFill>
                  <a:srgbClr val="898989"/>
                </a:solidFill>
                <a:latin typeface="Times New Roman" panose="02020603050405020304" pitchFamily="18" charset="0"/>
                <a:ea typeface="新細明體" pitchFamily="2"/>
                <a:cs typeface="Times New Roman" panose="02020603050405020304" pitchFamily="18" charset="0"/>
              </a:rPr>
              <a:t>Kumar </a:t>
            </a:r>
            <a:r>
              <a:rPr lang="en-US" altLang="zh-TW" sz="2449" b="1" dirty="0" err="1">
                <a:solidFill>
                  <a:srgbClr val="898989"/>
                </a:solidFill>
                <a:latin typeface="Times New Roman" panose="02020603050405020304" pitchFamily="18" charset="0"/>
                <a:ea typeface="新細明體" pitchFamily="2"/>
                <a:cs typeface="Times New Roman" panose="02020603050405020304" pitchFamily="18" charset="0"/>
              </a:rPr>
              <a:t>Vasimalla</a:t>
            </a:r>
            <a:r>
              <a:rPr lang="en-US" altLang="zh-TW" sz="2449" b="1" dirty="0">
                <a:solidFill>
                  <a:srgbClr val="898989"/>
                </a:solidFill>
                <a:latin typeface="Times New Roman" panose="02020603050405020304" pitchFamily="18" charset="0"/>
                <a:ea typeface="新細明體" pitchFamily="2"/>
                <a:cs typeface="Times New Roman" panose="02020603050405020304" pitchFamily="18" charset="0"/>
              </a:rPr>
              <a:t> </a:t>
            </a:r>
            <a:r>
              <a:rPr lang="en-US" altLang="zh-TW" sz="2449" b="1" dirty="0" smtClean="0">
                <a:solidFill>
                  <a:srgbClr val="898989"/>
                </a:solidFill>
                <a:latin typeface="Times New Roman" panose="02020603050405020304" pitchFamily="18" charset="0"/>
                <a:ea typeface="新細明體" pitchFamily="2"/>
                <a:cs typeface="Times New Roman" panose="02020603050405020304" pitchFamily="18" charset="0"/>
              </a:rPr>
              <a:t>, </a:t>
            </a:r>
            <a:r>
              <a:rPr lang="en-US" altLang="zh-TW" sz="2449" b="1" dirty="0" err="1">
                <a:solidFill>
                  <a:srgbClr val="898989"/>
                </a:solidFill>
                <a:latin typeface="Times New Roman" panose="02020603050405020304" pitchFamily="18" charset="0"/>
                <a:ea typeface="新細明體" pitchFamily="2"/>
                <a:cs typeface="Times New Roman" panose="02020603050405020304" pitchFamily="18" charset="0"/>
              </a:rPr>
              <a:t>Narasimham</a:t>
            </a:r>
            <a:r>
              <a:rPr lang="en-US" altLang="zh-TW" sz="2449" b="1" dirty="0">
                <a:solidFill>
                  <a:srgbClr val="898989"/>
                </a:solidFill>
                <a:latin typeface="Times New Roman" panose="02020603050405020304" pitchFamily="18" charset="0"/>
                <a:ea typeface="新細明體" pitchFamily="2"/>
                <a:cs typeface="Times New Roman" panose="02020603050405020304" pitchFamily="18" charset="0"/>
              </a:rPr>
              <a:t> </a:t>
            </a:r>
            <a:r>
              <a:rPr lang="en-US" altLang="zh-TW" sz="2449" b="1" dirty="0" err="1">
                <a:solidFill>
                  <a:srgbClr val="898989"/>
                </a:solidFill>
                <a:latin typeface="Times New Roman" panose="02020603050405020304" pitchFamily="18" charset="0"/>
                <a:ea typeface="新細明體" pitchFamily="2"/>
                <a:cs typeface="Times New Roman" panose="02020603050405020304" pitchFamily="18" charset="0"/>
              </a:rPr>
              <a:t>Challa</a:t>
            </a:r>
            <a:r>
              <a:rPr lang="en-US" altLang="zh-TW" sz="2449" b="1" dirty="0">
                <a:solidFill>
                  <a:srgbClr val="898989"/>
                </a:solidFill>
                <a:latin typeface="Times New Roman" panose="02020603050405020304" pitchFamily="18" charset="0"/>
                <a:ea typeface="新細明體" pitchFamily="2"/>
                <a:cs typeface="Times New Roman" panose="02020603050405020304" pitchFamily="18" charset="0"/>
              </a:rPr>
              <a:t> </a:t>
            </a:r>
            <a:r>
              <a:rPr lang="en-US" altLang="zh-TW" sz="2449" b="1" dirty="0" smtClean="0">
                <a:solidFill>
                  <a:srgbClr val="898989"/>
                </a:solidFill>
                <a:latin typeface="Times New Roman" panose="02020603050405020304" pitchFamily="18" charset="0"/>
                <a:ea typeface="新細明體" pitchFamily="2"/>
                <a:cs typeface="Times New Roman" panose="02020603050405020304" pitchFamily="18" charset="0"/>
              </a:rPr>
              <a:t>, </a:t>
            </a:r>
            <a:r>
              <a:rPr lang="en-US" altLang="zh-TW" sz="2449" b="1" dirty="0">
                <a:solidFill>
                  <a:srgbClr val="898989"/>
                </a:solidFill>
                <a:latin typeface="Times New Roman" panose="02020603050405020304" pitchFamily="18" charset="0"/>
                <a:ea typeface="新細明體" pitchFamily="2"/>
                <a:cs typeface="Times New Roman" panose="02020603050405020304" pitchFamily="18" charset="0"/>
              </a:rPr>
              <a:t>S. Manohar </a:t>
            </a:r>
            <a:r>
              <a:rPr lang="en-US" altLang="zh-TW" sz="2449" b="1" dirty="0" err="1">
                <a:solidFill>
                  <a:srgbClr val="898989"/>
                </a:solidFill>
                <a:latin typeface="Times New Roman" panose="02020603050405020304" pitchFamily="18" charset="0"/>
                <a:ea typeface="新細明體" pitchFamily="2"/>
                <a:cs typeface="Times New Roman" panose="02020603050405020304" pitchFamily="18" charset="0"/>
              </a:rPr>
              <a:t>Naik</a:t>
            </a:r>
            <a:r>
              <a:rPr lang="en-US" altLang="zh-TW" sz="2449" b="1" dirty="0">
                <a:solidFill>
                  <a:srgbClr val="898989"/>
                </a:solidFill>
                <a:latin typeface="Times New Roman" panose="02020603050405020304" pitchFamily="18" charset="0"/>
                <a:ea typeface="新細明體" pitchFamily="2"/>
                <a:cs typeface="Times New Roman" panose="02020603050405020304" pitchFamily="18" charset="0"/>
              </a:rPr>
              <a:t> </a:t>
            </a:r>
            <a:endParaRPr lang="en-US" altLang="zh-TW" sz="2449" b="1" dirty="0" smtClean="0">
              <a:solidFill>
                <a:srgbClr val="898989"/>
              </a:solidFill>
              <a:latin typeface="Times New Roman" panose="02020603050405020304" pitchFamily="18" charset="0"/>
              <a:ea typeface="新細明體" pitchFamily="2"/>
              <a:cs typeface="Times New Roman" panose="02020603050405020304" pitchFamily="18" charset="0"/>
            </a:endParaRPr>
          </a:p>
          <a:p>
            <a:pPr algn="ctr"/>
            <a:endParaRPr lang="en-US" altLang="zh-TW" sz="2449" b="1" dirty="0" smtClean="0">
              <a:solidFill>
                <a:srgbClr val="898989"/>
              </a:solidFill>
              <a:highlight>
                <a:scrgbClr r="0" g="0" b="0">
                  <a:alpha val="0"/>
                </a:scrgbClr>
              </a:highlight>
              <a:latin typeface="Times New Roman" panose="02020603050405020304" pitchFamily="18" charset="0"/>
              <a:ea typeface="新細明體" pitchFamily="2"/>
              <a:cs typeface="Times New Roman" panose="02020603050405020304" pitchFamily="18" charset="0"/>
            </a:endParaRPr>
          </a:p>
          <a:p>
            <a:pPr algn="ctr"/>
            <a:r>
              <a:rPr lang="en-US" altLang="zh-TW" sz="2449" b="1" dirty="0">
                <a:solidFill>
                  <a:srgbClr val="898989"/>
                </a:solidFill>
                <a:highlight>
                  <a:scrgbClr r="0" g="0" b="0">
                    <a:alpha val="0"/>
                  </a:scrgbClr>
                </a:highlight>
                <a:latin typeface="Times New Roman" panose="02020603050405020304" pitchFamily="18" charset="0"/>
                <a:ea typeface="新細明體" pitchFamily="2"/>
                <a:cs typeface="Times New Roman" panose="02020603050405020304" pitchFamily="18" charset="0"/>
              </a:rPr>
              <a:t>Indian Journal of Science &amp; </a:t>
            </a:r>
            <a:r>
              <a:rPr lang="en-US" altLang="zh-TW" sz="2449" b="1" dirty="0" smtClean="0">
                <a:solidFill>
                  <a:srgbClr val="898989"/>
                </a:solidFill>
                <a:highlight>
                  <a:scrgbClr r="0" g="0" b="0">
                    <a:alpha val="0"/>
                  </a:scrgbClr>
                </a:highlight>
                <a:latin typeface="Times New Roman" panose="02020603050405020304" pitchFamily="18" charset="0"/>
                <a:ea typeface="新細明體" pitchFamily="2"/>
                <a:cs typeface="Times New Roman" panose="02020603050405020304" pitchFamily="18" charset="0"/>
              </a:rPr>
              <a:t>Technology</a:t>
            </a:r>
            <a:r>
              <a:rPr lang="en-US" altLang="zh-TW" sz="2449" b="1" dirty="0">
                <a:solidFill>
                  <a:srgbClr val="898989"/>
                </a:solidFill>
                <a:highlight>
                  <a:scrgbClr r="0" g="0" b="0">
                    <a:alpha val="0"/>
                  </a:scrgbClr>
                </a:highlight>
                <a:latin typeface="Times New Roman" panose="02020603050405020304" pitchFamily="18" charset="0"/>
                <a:ea typeface="新細明體" pitchFamily="2"/>
                <a:cs typeface="Times New Roman" panose="02020603050405020304" pitchFamily="18" charset="0"/>
              </a:rPr>
              <a:t>, </a:t>
            </a:r>
            <a:r>
              <a:rPr lang="en-US" altLang="zh-TW" sz="2449" b="1" dirty="0" smtClean="0">
                <a:solidFill>
                  <a:srgbClr val="898989"/>
                </a:solidFill>
                <a:highlight>
                  <a:scrgbClr r="0" g="0" b="0">
                    <a:alpha val="0"/>
                  </a:scrgbClr>
                </a:highlight>
                <a:latin typeface="Times New Roman" panose="02020603050405020304" pitchFamily="18" charset="0"/>
                <a:ea typeface="新細明體" pitchFamily="2"/>
                <a:cs typeface="Times New Roman" panose="02020603050405020304" pitchFamily="18" charset="0"/>
              </a:rPr>
              <a:t>Volume 9, Issue 21, </a:t>
            </a:r>
          </a:p>
          <a:p>
            <a:pPr algn="ctr"/>
            <a:r>
              <a:rPr lang="en-US" altLang="zh-TW" sz="2449" b="1" dirty="0" smtClean="0">
                <a:solidFill>
                  <a:srgbClr val="898989"/>
                </a:solidFill>
                <a:highlight>
                  <a:scrgbClr r="0" g="0" b="0">
                    <a:alpha val="0"/>
                  </a:scrgbClr>
                </a:highlight>
                <a:latin typeface="Times New Roman" panose="02020603050405020304" pitchFamily="18" charset="0"/>
                <a:ea typeface="新細明體" pitchFamily="2"/>
                <a:cs typeface="Times New Roman" panose="02020603050405020304" pitchFamily="18" charset="0"/>
              </a:rPr>
              <a:t>June 2016 </a:t>
            </a:r>
          </a:p>
        </p:txBody>
      </p:sp>
    </p:spTree>
    <p:extLst>
      <p:ext uri="{BB962C8B-B14F-4D97-AF65-F5344CB8AC3E}">
        <p14:creationId xmlns:p14="http://schemas.microsoft.com/office/powerpoint/2010/main" val="17017005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lstStyle/>
          <a:p>
            <a:r>
              <a:rPr lang="en-US" altLang="zh-TW" dirty="0" smtClean="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540695" y="1235675"/>
            <a:ext cx="11110609" cy="5389059"/>
          </a:xfrm>
        </p:spPr>
        <p:txBody>
          <a:bodyPr>
            <a:noAutofit/>
          </a:bodyPr>
          <a:lstStyle/>
          <a:p>
            <a:pPr marL="0" indent="0" algn="just">
              <a:lnSpc>
                <a:spcPct val="100000"/>
              </a:lnSpc>
              <a:buNone/>
            </a:pPr>
            <a:r>
              <a:rPr lang="en-US" altLang="zh-TW" dirty="0">
                <a:latin typeface="Times New Roman" panose="02020603050405020304" pitchFamily="18" charset="0"/>
                <a:cs typeface="Times New Roman" panose="02020603050405020304" pitchFamily="18" charset="0"/>
              </a:rPr>
              <a:t>Dynamic Time Warping (DTW), a similarity measure works in O(n</a:t>
            </a:r>
            <a:r>
              <a:rPr lang="en-US" altLang="zh-TW" baseline="30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 complexity. Cause of this it will be used for small datasets only. </a:t>
            </a:r>
            <a:r>
              <a:rPr lang="en-US" altLang="zh-TW" dirty="0" smtClean="0">
                <a:latin typeface="Times New Roman" panose="02020603050405020304" pitchFamily="18" charset="0"/>
                <a:cs typeface="Times New Roman" panose="02020603050405020304" pitchFamily="18" charset="0"/>
              </a:rPr>
              <a:t>In </a:t>
            </a:r>
            <a:r>
              <a:rPr lang="en-US" altLang="zh-TW" dirty="0">
                <a:latin typeface="Times New Roman" panose="02020603050405020304" pitchFamily="18" charset="0"/>
                <a:cs typeface="Times New Roman" panose="02020603050405020304" pitchFamily="18" charset="0"/>
              </a:rPr>
              <a:t>this work, we introduced Efficient DTW (EDTW), which works in linear time. It uses two level approaches. In the first level data reduction is performed, and in the second level warping distance and path are </a:t>
            </a:r>
            <a:r>
              <a:rPr lang="en-US" altLang="zh-TW" dirty="0" smtClean="0">
                <a:latin typeface="Times New Roman" panose="02020603050405020304" pitchFamily="18" charset="0"/>
                <a:cs typeface="Times New Roman" panose="02020603050405020304" pitchFamily="18" charset="0"/>
              </a:rPr>
              <a:t>calculated. While </a:t>
            </a:r>
            <a:r>
              <a:rPr lang="en-US" altLang="zh-TW" dirty="0">
                <a:latin typeface="Times New Roman" panose="02020603050405020304" pitchFamily="18" charset="0"/>
                <a:cs typeface="Times New Roman" panose="02020603050405020304" pitchFamily="18" charset="0"/>
              </a:rPr>
              <a:t>calculating the values of distance matrix, values along the warping path only considered and calculated. For time series of length n, maximum n values of distance matrix are calculated. So it works in linear time. </a:t>
            </a:r>
            <a:r>
              <a:rPr lang="en-US" altLang="zh-TW" dirty="0" smtClean="0">
                <a:latin typeface="Times New Roman" panose="02020603050405020304" pitchFamily="18" charset="0"/>
                <a:cs typeface="Times New Roman" panose="02020603050405020304" pitchFamily="18" charset="0"/>
              </a:rPr>
              <a:t>We </a:t>
            </a:r>
            <a:r>
              <a:rPr lang="en-US" altLang="zh-TW" dirty="0">
                <a:latin typeface="Times New Roman" panose="02020603050405020304" pitchFamily="18" charset="0"/>
                <a:cs typeface="Times New Roman" panose="02020603050405020304" pitchFamily="18" charset="0"/>
              </a:rPr>
              <a:t>applied this distance measure to UCR Time Series archive and calculated error rate of 1NN classification. Most of the cases it is matching, some cases it is better, and some other cases error rate is high.</a:t>
            </a:r>
            <a:endParaRPr lang="zh-TW" altLang="en-US" dirty="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2</a:t>
            </a:fld>
            <a:endParaRPr lang="zh-TW" altLang="en-US" dirty="0"/>
          </a:p>
        </p:txBody>
      </p:sp>
    </p:spTree>
    <p:extLst>
      <p:ext uri="{BB962C8B-B14F-4D97-AF65-F5344CB8AC3E}">
        <p14:creationId xmlns:p14="http://schemas.microsoft.com/office/powerpoint/2010/main" val="39845842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lstStyle/>
          <a:p>
            <a:pPr algn="ctr"/>
            <a:r>
              <a:rPr lang="en-US" altLang="zh-TW" dirty="0" smtClean="0">
                <a:latin typeface="Times New Roman" panose="02020603050405020304" pitchFamily="18" charset="0"/>
                <a:cs typeface="Times New Roman" panose="02020603050405020304" pitchFamily="18" charset="0"/>
              </a:rPr>
              <a:t>ED versus DTW</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199" y="4326257"/>
            <a:ext cx="4993434" cy="786919"/>
          </a:xfrm>
        </p:spPr>
        <p:txBody>
          <a:bodyPr>
            <a:normAutofit/>
          </a:bodyPr>
          <a:lstStyle/>
          <a:p>
            <a:pPr marL="0" indent="0" algn="ctr">
              <a:buNone/>
            </a:pPr>
            <a:r>
              <a:rPr lang="en-US" altLang="zh-TW" sz="3500" dirty="0" smtClean="0">
                <a:latin typeface="Times New Roman" panose="02020603050405020304" pitchFamily="18" charset="0"/>
                <a:cs typeface="Times New Roman" panose="02020603050405020304" pitchFamily="18" charset="0"/>
              </a:rPr>
              <a:t>O(n)</a:t>
            </a:r>
            <a:endParaRPr lang="en-US" altLang="zh-TW" sz="3500" dirty="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3</a:t>
            </a:fld>
            <a:endParaRPr lang="zh-TW" altLang="en-US" dirty="0"/>
          </a:p>
        </p:txBody>
      </p:sp>
      <p:pic>
        <p:nvPicPr>
          <p:cNvPr id="6" name="圖片 5"/>
          <p:cNvPicPr>
            <a:picLocks noChangeAspect="1"/>
          </p:cNvPicPr>
          <p:nvPr/>
        </p:nvPicPr>
        <p:blipFill>
          <a:blip r:embed="rId2"/>
          <a:stretch>
            <a:fillRect/>
          </a:stretch>
        </p:blipFill>
        <p:spPr>
          <a:xfrm>
            <a:off x="1033462" y="1383032"/>
            <a:ext cx="10125075" cy="2943225"/>
          </a:xfrm>
          <a:prstGeom prst="rect">
            <a:avLst/>
          </a:prstGeom>
        </p:spPr>
      </p:pic>
      <p:sp>
        <p:nvSpPr>
          <p:cNvPr id="7" name="內容版面配置區 2"/>
          <p:cNvSpPr txBox="1">
            <a:spLocks/>
          </p:cNvSpPr>
          <p:nvPr/>
        </p:nvSpPr>
        <p:spPr>
          <a:xfrm>
            <a:off x="5998368" y="4326257"/>
            <a:ext cx="4993434" cy="7869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ltLang="zh-TW" sz="3500" dirty="0" smtClean="0">
                <a:latin typeface="Times New Roman" panose="02020603050405020304" pitchFamily="18" charset="0"/>
                <a:cs typeface="Times New Roman" panose="02020603050405020304" pitchFamily="18" charset="0"/>
              </a:rPr>
              <a:t>O(</a:t>
            </a:r>
            <a:r>
              <a:rPr lang="en-US" altLang="zh-TW" sz="3500" dirty="0" err="1" smtClean="0">
                <a:latin typeface="Times New Roman" panose="02020603050405020304" pitchFamily="18" charset="0"/>
                <a:cs typeface="Times New Roman" panose="02020603050405020304" pitchFamily="18" charset="0"/>
              </a:rPr>
              <a:t>mn</a:t>
            </a:r>
            <a:r>
              <a:rPr lang="en-US" altLang="zh-TW" sz="3500" dirty="0" smtClean="0">
                <a:latin typeface="Times New Roman" panose="02020603050405020304" pitchFamily="18" charset="0"/>
                <a:cs typeface="Times New Roman" panose="02020603050405020304" pitchFamily="18" charset="0"/>
              </a:rPr>
              <a:t>)</a:t>
            </a:r>
            <a:endParaRPr lang="en-US" altLang="zh-TW" sz="3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65736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lstStyle/>
          <a:p>
            <a:pPr algn="ctr"/>
            <a:r>
              <a:rPr lang="en-US" altLang="zh-TW" dirty="0" smtClean="0">
                <a:latin typeface="Times New Roman" panose="02020603050405020304" pitchFamily="18" charset="0"/>
                <a:cs typeface="Times New Roman" panose="02020603050405020304" pitchFamily="18" charset="0"/>
              </a:rPr>
              <a:t>Efficient Dynamic Time Warping</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383033"/>
            <a:ext cx="10515600" cy="5338441"/>
          </a:xfrm>
        </p:spPr>
        <p:txBody>
          <a:bodyPr>
            <a:normAutofit/>
          </a:bodyPr>
          <a:lstStyle/>
          <a:p>
            <a:pPr marL="0" indent="0">
              <a:buNone/>
            </a:pPr>
            <a:r>
              <a:rPr lang="en-US" altLang="zh-TW" dirty="0" smtClean="0">
                <a:latin typeface="Times New Roman" panose="02020603050405020304" pitchFamily="18" charset="0"/>
                <a:cs typeface="Times New Roman" panose="02020603050405020304" pitchFamily="18" charset="0"/>
              </a:rPr>
              <a:t>Two Steps :</a:t>
            </a:r>
          </a:p>
          <a:p>
            <a:pPr marL="457200" indent="-457200">
              <a:buFont typeface="+mj-lt"/>
              <a:buAutoNum type="arabicPeriod"/>
            </a:pPr>
            <a:r>
              <a:rPr lang="en-US" altLang="zh-TW" dirty="0">
                <a:latin typeface="Times New Roman" panose="02020603050405020304" pitchFamily="18" charset="0"/>
                <a:cs typeface="Times New Roman" panose="02020603050405020304" pitchFamily="18" charset="0"/>
              </a:rPr>
              <a:t>DTW distance with </a:t>
            </a:r>
            <a:r>
              <a:rPr lang="en-US" altLang="zh-TW" dirty="0" smtClean="0">
                <a:latin typeface="Times New Roman" panose="02020603050405020304" pitchFamily="18" charset="0"/>
                <a:cs typeface="Times New Roman" panose="02020603050405020304" pitchFamily="18" charset="0"/>
              </a:rPr>
              <a:t>Constraint</a:t>
            </a:r>
          </a:p>
          <a:p>
            <a:pPr marL="457200" indent="-457200">
              <a:buFont typeface="+mj-lt"/>
              <a:buAutoNum type="arabicPeriod"/>
            </a:pPr>
            <a:endParaRPr lang="en-US" altLang="zh-TW"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US" altLang="zh-TW"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US" altLang="zh-TW"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altLang="zh-TW" dirty="0" smtClean="0">
                <a:latin typeface="Times New Roman" panose="02020603050405020304" pitchFamily="18" charset="0"/>
                <a:cs typeface="Times New Roman" panose="02020603050405020304" pitchFamily="18" charset="0"/>
              </a:rPr>
              <a:t>Data Reduction</a:t>
            </a:r>
          </a:p>
          <a:p>
            <a:pPr marL="457200" indent="-457200">
              <a:buFont typeface="+mj-lt"/>
              <a:buAutoNum type="arabicPeriod"/>
            </a:pPr>
            <a:endParaRPr lang="en-US" altLang="zh-TW"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US" altLang="zh-TW" dirty="0" smtClean="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US" altLang="zh-TW"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US" altLang="zh-TW" dirty="0" smtClean="0">
              <a:latin typeface="Times New Roman" panose="02020603050405020304" pitchFamily="18" charset="0"/>
              <a:cs typeface="Times New Roman" panose="02020603050405020304" pitchFamily="18" charset="0"/>
            </a:endParaRPr>
          </a:p>
          <a:p>
            <a:pPr marL="0" indent="0">
              <a:buNone/>
            </a:pPr>
            <a:endParaRPr lang="en-US" altLang="zh-TW" sz="3500" dirty="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4</a:t>
            </a:fld>
            <a:endParaRPr lang="zh-TW" altLang="en-US" dirty="0"/>
          </a:p>
        </p:txBody>
      </p:sp>
      <p:pic>
        <p:nvPicPr>
          <p:cNvPr id="7" name="圖片 6"/>
          <p:cNvPicPr>
            <a:picLocks noChangeAspect="1"/>
          </p:cNvPicPr>
          <p:nvPr/>
        </p:nvPicPr>
        <p:blipFill>
          <a:blip r:embed="rId2"/>
          <a:stretch>
            <a:fillRect/>
          </a:stretch>
        </p:blipFill>
        <p:spPr>
          <a:xfrm>
            <a:off x="6508310" y="1246507"/>
            <a:ext cx="4716418" cy="2407544"/>
          </a:xfrm>
          <a:prstGeom prst="rect">
            <a:avLst/>
          </a:prstGeom>
        </p:spPr>
      </p:pic>
      <p:pic>
        <p:nvPicPr>
          <p:cNvPr id="8" name="圖片 7"/>
          <p:cNvPicPr>
            <a:picLocks noChangeAspect="1"/>
          </p:cNvPicPr>
          <p:nvPr/>
        </p:nvPicPr>
        <p:blipFill>
          <a:blip r:embed="rId3"/>
          <a:stretch>
            <a:fillRect/>
          </a:stretch>
        </p:blipFill>
        <p:spPr>
          <a:xfrm>
            <a:off x="6438122" y="3801408"/>
            <a:ext cx="4786605" cy="2554942"/>
          </a:xfrm>
          <a:prstGeom prst="rect">
            <a:avLst/>
          </a:prstGeom>
        </p:spPr>
      </p:pic>
    </p:spTree>
    <p:extLst>
      <p:ext uri="{BB962C8B-B14F-4D97-AF65-F5344CB8AC3E}">
        <p14:creationId xmlns:p14="http://schemas.microsoft.com/office/powerpoint/2010/main" val="18303398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lstStyle/>
          <a:p>
            <a:pPr algn="ctr"/>
            <a:r>
              <a:rPr lang="en-US" altLang="zh-TW" dirty="0" smtClean="0">
                <a:latin typeface="Times New Roman" panose="02020603050405020304" pitchFamily="18" charset="0"/>
                <a:cs typeface="Times New Roman" panose="02020603050405020304" pitchFamily="18" charset="0"/>
              </a:rPr>
              <a:t>Efficient DTW paths  </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2340939" y="5924593"/>
            <a:ext cx="2527575" cy="503618"/>
          </a:xfrm>
        </p:spPr>
        <p:txBody>
          <a:bodyPr>
            <a:normAutofit fontScale="85000" lnSpcReduction="10000"/>
          </a:bodyPr>
          <a:lstStyle/>
          <a:p>
            <a:pPr marL="0" indent="0" algn="ctr">
              <a:buNone/>
            </a:pPr>
            <a:r>
              <a:rPr lang="en-US" altLang="zh-TW" sz="3500" dirty="0" smtClean="0">
                <a:latin typeface="Times New Roman" panose="02020603050405020304" pitchFamily="18" charset="0"/>
                <a:cs typeface="Times New Roman" panose="02020603050405020304" pitchFamily="18" charset="0"/>
              </a:rPr>
              <a:t>12*12, 38 cells</a:t>
            </a:r>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5</a:t>
            </a:fld>
            <a:endParaRPr lang="zh-TW" altLang="en-US" dirty="0"/>
          </a:p>
        </p:txBody>
      </p:sp>
      <p:pic>
        <p:nvPicPr>
          <p:cNvPr id="6" name="圖片 5"/>
          <p:cNvPicPr>
            <a:picLocks noChangeAspect="1"/>
          </p:cNvPicPr>
          <p:nvPr/>
        </p:nvPicPr>
        <p:blipFill>
          <a:blip r:embed="rId2"/>
          <a:stretch>
            <a:fillRect/>
          </a:stretch>
        </p:blipFill>
        <p:spPr>
          <a:xfrm>
            <a:off x="7721131" y="2767947"/>
            <a:ext cx="2028825" cy="2343150"/>
          </a:xfrm>
          <a:prstGeom prst="rect">
            <a:avLst/>
          </a:prstGeom>
        </p:spPr>
      </p:pic>
      <p:pic>
        <p:nvPicPr>
          <p:cNvPr id="7" name="圖片 6"/>
          <p:cNvPicPr>
            <a:picLocks noChangeAspect="1"/>
          </p:cNvPicPr>
          <p:nvPr/>
        </p:nvPicPr>
        <p:blipFill>
          <a:blip r:embed="rId3"/>
          <a:stretch>
            <a:fillRect/>
          </a:stretch>
        </p:blipFill>
        <p:spPr>
          <a:xfrm>
            <a:off x="1436914" y="1645006"/>
            <a:ext cx="4475097" cy="4341012"/>
          </a:xfrm>
          <a:prstGeom prst="rect">
            <a:avLst/>
          </a:prstGeom>
        </p:spPr>
      </p:pic>
      <p:cxnSp>
        <p:nvCxnSpPr>
          <p:cNvPr id="11" name="直線接點 10"/>
          <p:cNvCxnSpPr/>
          <p:nvPr/>
        </p:nvCxnSpPr>
        <p:spPr>
          <a:xfrm>
            <a:off x="2565919" y="2087199"/>
            <a:ext cx="9331" cy="369778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線接點 14"/>
          <p:cNvCxnSpPr/>
          <p:nvPr/>
        </p:nvCxnSpPr>
        <p:spPr>
          <a:xfrm>
            <a:off x="3595396" y="2087199"/>
            <a:ext cx="9331" cy="369778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a:off x="4661707" y="2087199"/>
            <a:ext cx="9331" cy="369778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內容版面配置區 2"/>
          <p:cNvSpPr txBox="1">
            <a:spLocks/>
          </p:cNvSpPr>
          <p:nvPr/>
        </p:nvSpPr>
        <p:spPr>
          <a:xfrm>
            <a:off x="7471755" y="5889984"/>
            <a:ext cx="2527575" cy="50361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ltLang="zh-TW" sz="3500" smtClean="0">
                <a:latin typeface="Times New Roman" panose="02020603050405020304" pitchFamily="18" charset="0"/>
                <a:cs typeface="Times New Roman" panose="02020603050405020304" pitchFamily="18" charset="0"/>
              </a:rPr>
              <a:t>4*4, 10 cells</a:t>
            </a:r>
            <a:endParaRPr lang="en-US" altLang="zh-TW" sz="35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285298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lstStyle/>
          <a:p>
            <a:pPr algn="ctr"/>
            <a:r>
              <a:rPr lang="en-US" altLang="zh-TW" dirty="0" smtClean="0">
                <a:latin typeface="Times New Roman" panose="02020603050405020304" pitchFamily="18" charset="0"/>
                <a:cs typeface="Times New Roman" panose="02020603050405020304" pitchFamily="18" charset="0"/>
              </a:rPr>
              <a:t>Efficient DTW paths with </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2340939" y="5924593"/>
            <a:ext cx="2527575" cy="503618"/>
          </a:xfrm>
        </p:spPr>
        <p:txBody>
          <a:bodyPr>
            <a:normAutofit fontScale="85000" lnSpcReduction="10000"/>
          </a:bodyPr>
          <a:lstStyle/>
          <a:p>
            <a:pPr marL="0" indent="0" algn="ctr">
              <a:buNone/>
            </a:pPr>
            <a:r>
              <a:rPr lang="en-US" altLang="zh-TW" sz="3500" dirty="0" smtClean="0">
                <a:latin typeface="Times New Roman" panose="02020603050405020304" pitchFamily="18" charset="0"/>
                <a:cs typeface="Times New Roman" panose="02020603050405020304" pitchFamily="18" charset="0"/>
              </a:rPr>
              <a:t>12*12, 38 cells</a:t>
            </a:r>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6</a:t>
            </a:fld>
            <a:endParaRPr lang="zh-TW" altLang="en-US" dirty="0"/>
          </a:p>
        </p:txBody>
      </p:sp>
      <p:pic>
        <p:nvPicPr>
          <p:cNvPr id="6" name="圖片 5"/>
          <p:cNvPicPr>
            <a:picLocks noChangeAspect="1"/>
          </p:cNvPicPr>
          <p:nvPr/>
        </p:nvPicPr>
        <p:blipFill>
          <a:blip r:embed="rId2"/>
          <a:stretch>
            <a:fillRect/>
          </a:stretch>
        </p:blipFill>
        <p:spPr>
          <a:xfrm>
            <a:off x="7721131" y="2767947"/>
            <a:ext cx="2028825" cy="2343150"/>
          </a:xfrm>
          <a:prstGeom prst="rect">
            <a:avLst/>
          </a:prstGeom>
        </p:spPr>
      </p:pic>
      <p:pic>
        <p:nvPicPr>
          <p:cNvPr id="7" name="圖片 6"/>
          <p:cNvPicPr>
            <a:picLocks noChangeAspect="1"/>
          </p:cNvPicPr>
          <p:nvPr/>
        </p:nvPicPr>
        <p:blipFill>
          <a:blip r:embed="rId3"/>
          <a:stretch>
            <a:fillRect/>
          </a:stretch>
        </p:blipFill>
        <p:spPr>
          <a:xfrm>
            <a:off x="1436914" y="1645006"/>
            <a:ext cx="4475097" cy="4341012"/>
          </a:xfrm>
          <a:prstGeom prst="rect">
            <a:avLst/>
          </a:prstGeom>
        </p:spPr>
      </p:pic>
      <p:cxnSp>
        <p:nvCxnSpPr>
          <p:cNvPr id="11" name="直線接點 10"/>
          <p:cNvCxnSpPr/>
          <p:nvPr/>
        </p:nvCxnSpPr>
        <p:spPr>
          <a:xfrm>
            <a:off x="2565919" y="2087199"/>
            <a:ext cx="9331" cy="369778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線接點 14"/>
          <p:cNvCxnSpPr/>
          <p:nvPr/>
        </p:nvCxnSpPr>
        <p:spPr>
          <a:xfrm>
            <a:off x="3595396" y="2087199"/>
            <a:ext cx="9331" cy="369778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a:off x="4661707" y="2087199"/>
            <a:ext cx="9331" cy="369778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內容版面配置區 2"/>
          <p:cNvSpPr txBox="1">
            <a:spLocks/>
          </p:cNvSpPr>
          <p:nvPr/>
        </p:nvSpPr>
        <p:spPr>
          <a:xfrm>
            <a:off x="7471755" y="5889984"/>
            <a:ext cx="2527575" cy="50361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ltLang="zh-TW" sz="3500" smtClean="0">
                <a:latin typeface="Times New Roman" panose="02020603050405020304" pitchFamily="18" charset="0"/>
                <a:cs typeface="Times New Roman" panose="02020603050405020304" pitchFamily="18" charset="0"/>
              </a:rPr>
              <a:t>4*4, 10 cells</a:t>
            </a:r>
            <a:endParaRPr lang="en-US" altLang="zh-TW" sz="35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424935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lstStyle/>
          <a:p>
            <a:pPr algn="ctr"/>
            <a:r>
              <a:rPr lang="en-US" altLang="zh-TW" dirty="0">
                <a:latin typeface="Times New Roman" panose="02020603050405020304" pitchFamily="18" charset="0"/>
                <a:cs typeface="Times New Roman" panose="02020603050405020304" pitchFamily="18" charset="0"/>
              </a:rPr>
              <a:t>Some possible warping paths in reduced data</a:t>
            </a:r>
            <a:endParaRPr lang="zh-TW" altLang="en-US" dirty="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7</a:t>
            </a:fld>
            <a:endParaRPr lang="zh-TW" altLang="en-US" dirty="0"/>
          </a:p>
        </p:txBody>
      </p:sp>
      <p:sp>
        <p:nvSpPr>
          <p:cNvPr id="21" name="內容版面配置區 2"/>
          <p:cNvSpPr txBox="1">
            <a:spLocks/>
          </p:cNvSpPr>
          <p:nvPr/>
        </p:nvSpPr>
        <p:spPr>
          <a:xfrm>
            <a:off x="6404956" y="2342754"/>
            <a:ext cx="4872644" cy="6771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ltLang="zh-TW" sz="3500" dirty="0" smtClean="0">
                <a:latin typeface="Times New Roman" panose="02020603050405020304" pitchFamily="18" charset="0"/>
                <a:cs typeface="Times New Roman" panose="02020603050405020304" pitchFamily="18" charset="0"/>
              </a:rPr>
              <a:t>4*4, 10~12 cells</a:t>
            </a:r>
          </a:p>
        </p:txBody>
      </p:sp>
      <p:pic>
        <p:nvPicPr>
          <p:cNvPr id="12" name="內容版面配置區 4"/>
          <p:cNvPicPr>
            <a:picLocks noChangeAspect="1"/>
          </p:cNvPicPr>
          <p:nvPr/>
        </p:nvPicPr>
        <p:blipFill>
          <a:blip r:embed="rId2"/>
          <a:stretch>
            <a:fillRect/>
          </a:stretch>
        </p:blipFill>
        <p:spPr>
          <a:xfrm>
            <a:off x="838200" y="2126013"/>
            <a:ext cx="5177589" cy="3168375"/>
          </a:xfrm>
          <a:prstGeom prst="rect">
            <a:avLst/>
          </a:prstGeom>
        </p:spPr>
      </p:pic>
      <p:sp>
        <p:nvSpPr>
          <p:cNvPr id="13" name="內容版面配置區 2"/>
          <p:cNvSpPr txBox="1">
            <a:spLocks/>
          </p:cNvSpPr>
          <p:nvPr/>
        </p:nvSpPr>
        <p:spPr>
          <a:xfrm>
            <a:off x="6404956" y="3257648"/>
            <a:ext cx="5237602" cy="20367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ltLang="zh-TW" sz="3500" dirty="0" smtClean="0">
                <a:latin typeface="Times New Roman" panose="02020603050405020304" pitchFamily="18" charset="0"/>
                <a:cs typeface="Times New Roman" panose="02020603050405020304" pitchFamily="18" charset="0"/>
              </a:rPr>
              <a:t>space complexity of EDTW is O(N)</a:t>
            </a:r>
            <a:endParaRPr lang="en-US" altLang="zh-TW" sz="3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314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lstStyle/>
          <a:p>
            <a:pPr algn="ctr"/>
            <a:r>
              <a:rPr lang="en-US" altLang="zh-TW" smtClean="0">
                <a:latin typeface="Times New Roman" panose="02020603050405020304" pitchFamily="18" charset="0"/>
                <a:cs typeface="Times New Roman" panose="02020603050405020304" pitchFamily="18" charset="0"/>
              </a:rPr>
              <a:t>Synthetic Data </a:t>
            </a:r>
            <a:r>
              <a:rPr lang="en-US" altLang="zh-TW" dirty="0" smtClean="0">
                <a:latin typeface="Times New Roman" panose="02020603050405020304" pitchFamily="18" charset="0"/>
                <a:cs typeface="Times New Roman" panose="02020603050405020304" pitchFamily="18" charset="0"/>
              </a:rPr>
              <a:t>Set</a:t>
            </a:r>
            <a:endParaRPr lang="zh-TW" altLang="en-US" dirty="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8</a:t>
            </a:fld>
            <a:endParaRPr lang="zh-TW" altLang="en-US" dirty="0"/>
          </a:p>
        </p:txBody>
      </p:sp>
      <p:pic>
        <p:nvPicPr>
          <p:cNvPr id="3" name="圖片 2"/>
          <p:cNvPicPr>
            <a:picLocks noChangeAspect="1"/>
          </p:cNvPicPr>
          <p:nvPr/>
        </p:nvPicPr>
        <p:blipFill>
          <a:blip r:embed="rId2"/>
          <a:stretch>
            <a:fillRect/>
          </a:stretch>
        </p:blipFill>
        <p:spPr>
          <a:xfrm>
            <a:off x="477252" y="1235676"/>
            <a:ext cx="5454316" cy="3679036"/>
          </a:xfrm>
          <a:prstGeom prst="rect">
            <a:avLst/>
          </a:prstGeom>
        </p:spPr>
      </p:pic>
      <p:pic>
        <p:nvPicPr>
          <p:cNvPr id="4" name="圖片 3"/>
          <p:cNvPicPr>
            <a:picLocks noChangeAspect="1"/>
          </p:cNvPicPr>
          <p:nvPr/>
        </p:nvPicPr>
        <p:blipFill>
          <a:blip r:embed="rId3"/>
          <a:stretch>
            <a:fillRect/>
          </a:stretch>
        </p:blipFill>
        <p:spPr>
          <a:xfrm>
            <a:off x="7413958" y="2105626"/>
            <a:ext cx="4577703" cy="4250724"/>
          </a:xfrm>
          <a:prstGeom prst="rect">
            <a:avLst/>
          </a:prstGeom>
        </p:spPr>
      </p:pic>
      <p:sp>
        <p:nvSpPr>
          <p:cNvPr id="6" name="向右箭號 5"/>
          <p:cNvSpPr/>
          <p:nvPr/>
        </p:nvSpPr>
        <p:spPr>
          <a:xfrm>
            <a:off x="6100011" y="3441032"/>
            <a:ext cx="1191125" cy="469231"/>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內容版面配置區 2"/>
          <p:cNvSpPr txBox="1">
            <a:spLocks/>
          </p:cNvSpPr>
          <p:nvPr/>
        </p:nvSpPr>
        <p:spPr>
          <a:xfrm>
            <a:off x="5765204" y="3075194"/>
            <a:ext cx="1815118" cy="4606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ltLang="zh-TW" dirty="0" smtClean="0">
                <a:latin typeface="Times New Roman" panose="02020603050405020304" pitchFamily="18" charset="0"/>
                <a:cs typeface="Times New Roman" panose="02020603050405020304" pitchFamily="18" charset="0"/>
              </a:rPr>
              <a:t>reduced</a:t>
            </a:r>
          </a:p>
        </p:txBody>
      </p:sp>
    </p:spTree>
    <p:extLst>
      <p:ext uri="{BB962C8B-B14F-4D97-AF65-F5344CB8AC3E}">
        <p14:creationId xmlns:p14="http://schemas.microsoft.com/office/powerpoint/2010/main" val="647593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199" y="365125"/>
            <a:ext cx="11153461" cy="870551"/>
          </a:xfrm>
        </p:spPr>
        <p:txBody>
          <a:bodyPr>
            <a:normAutofit fontScale="90000"/>
          </a:bodyPr>
          <a:lstStyle/>
          <a:p>
            <a:pPr algn="ctr"/>
            <a:r>
              <a:rPr lang="en-US" altLang="zh-TW" dirty="0" smtClean="0">
                <a:latin typeface="Times New Roman" panose="02020603050405020304" pitchFamily="18" charset="0"/>
                <a:cs typeface="Times New Roman" panose="02020603050405020304" pitchFamily="18" charset="0"/>
              </a:rPr>
              <a:t>Original/reduced dataset using DTW/EDTW </a:t>
            </a:r>
            <a:r>
              <a:rPr lang="en-US" altLang="zh-TW" dirty="0" err="1" smtClean="0">
                <a:latin typeface="Times New Roman" panose="02020603050405020304" pitchFamily="18" charset="0"/>
                <a:cs typeface="Times New Roman" panose="02020603050405020304" pitchFamily="18" charset="0"/>
              </a:rPr>
              <a:t>distacne</a:t>
            </a:r>
            <a:endParaRPr lang="zh-TW" altLang="en-US" dirty="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9</a:t>
            </a:fld>
            <a:endParaRPr lang="zh-TW" altLang="en-US" dirty="0"/>
          </a:p>
        </p:txBody>
      </p:sp>
      <p:pic>
        <p:nvPicPr>
          <p:cNvPr id="7" name="圖片 6"/>
          <p:cNvPicPr>
            <a:picLocks noChangeAspect="1"/>
          </p:cNvPicPr>
          <p:nvPr/>
        </p:nvPicPr>
        <p:blipFill>
          <a:blip r:embed="rId2"/>
          <a:stretch>
            <a:fillRect/>
          </a:stretch>
        </p:blipFill>
        <p:spPr>
          <a:xfrm>
            <a:off x="2955850" y="1420360"/>
            <a:ext cx="6918158" cy="5118552"/>
          </a:xfrm>
          <a:prstGeom prst="rect">
            <a:avLst/>
          </a:prstGeom>
        </p:spPr>
      </p:pic>
    </p:spTree>
    <p:extLst>
      <p:ext uri="{BB962C8B-B14F-4D97-AF65-F5344CB8AC3E}">
        <p14:creationId xmlns:p14="http://schemas.microsoft.com/office/powerpoint/2010/main" val="243831428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199" y="365125"/>
            <a:ext cx="11153461" cy="870551"/>
          </a:xfrm>
        </p:spPr>
        <p:txBody>
          <a:bodyPr>
            <a:normAutofit/>
          </a:bodyPr>
          <a:lstStyle/>
          <a:p>
            <a:pPr algn="ctr"/>
            <a:r>
              <a:rPr lang="en-US" altLang="zh-TW" dirty="0">
                <a:latin typeface="Times New Roman" panose="02020603050405020304" pitchFamily="18" charset="0"/>
                <a:cs typeface="Times New Roman" panose="02020603050405020304" pitchFamily="18" charset="0"/>
              </a:rPr>
              <a:t>Data </a:t>
            </a:r>
            <a:r>
              <a:rPr lang="en-US" altLang="zh-TW" dirty="0" smtClean="0">
                <a:latin typeface="Times New Roman" panose="02020603050405020304" pitchFamily="18" charset="0"/>
                <a:cs typeface="Times New Roman" panose="02020603050405020304" pitchFamily="18" charset="0"/>
              </a:rPr>
              <a:t>sets </a:t>
            </a:r>
            <a:r>
              <a:rPr lang="en-US" altLang="zh-TW" dirty="0">
                <a:latin typeface="Times New Roman" panose="02020603050405020304" pitchFamily="18" charset="0"/>
                <a:cs typeface="Times New Roman" panose="02020603050405020304" pitchFamily="18" charset="0"/>
              </a:rPr>
              <a:t>with less error rate</a:t>
            </a:r>
            <a:endParaRPr lang="zh-TW" altLang="en-US" dirty="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10</a:t>
            </a:fld>
            <a:endParaRPr lang="zh-TW" altLang="en-US" dirty="0"/>
          </a:p>
        </p:txBody>
      </p:sp>
      <p:pic>
        <p:nvPicPr>
          <p:cNvPr id="3" name="圖片 2"/>
          <p:cNvPicPr>
            <a:picLocks noChangeAspect="1"/>
          </p:cNvPicPr>
          <p:nvPr/>
        </p:nvPicPr>
        <p:blipFill>
          <a:blip r:embed="rId2"/>
          <a:stretch>
            <a:fillRect/>
          </a:stretch>
        </p:blipFill>
        <p:spPr>
          <a:xfrm>
            <a:off x="1636475" y="1187548"/>
            <a:ext cx="9440941" cy="5120674"/>
          </a:xfrm>
          <a:prstGeom prst="rect">
            <a:avLst/>
          </a:prstGeom>
        </p:spPr>
      </p:pic>
    </p:spTree>
    <p:extLst>
      <p:ext uri="{BB962C8B-B14F-4D97-AF65-F5344CB8AC3E}">
        <p14:creationId xmlns:p14="http://schemas.microsoft.com/office/powerpoint/2010/main" val="104009626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7891</TotalTime>
  <Words>277</Words>
  <Application>Microsoft Office PowerPoint</Application>
  <PresentationFormat>寬螢幕</PresentationFormat>
  <Paragraphs>45</Paragraphs>
  <Slides>10</Slides>
  <Notes>1</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10</vt:i4>
      </vt:variant>
    </vt:vector>
  </HeadingPairs>
  <TitlesOfParts>
    <vt:vector size="16" baseType="lpstr">
      <vt:lpstr>新細明體</vt:lpstr>
      <vt:lpstr>Arial</vt:lpstr>
      <vt:lpstr>Calibri</vt:lpstr>
      <vt:lpstr>Calibri Light</vt:lpstr>
      <vt:lpstr>Times New Roman</vt:lpstr>
      <vt:lpstr>Office 佈景主題</vt:lpstr>
      <vt:lpstr>Efficient Dynamic Time Warping  for Time Series Classification</vt:lpstr>
      <vt:lpstr>Abstract</vt:lpstr>
      <vt:lpstr>ED versus DTW</vt:lpstr>
      <vt:lpstr>Efficient Dynamic Time Warping</vt:lpstr>
      <vt:lpstr>Efficient DTW paths  </vt:lpstr>
      <vt:lpstr>Efficient DTW paths with </vt:lpstr>
      <vt:lpstr>Some possible warping paths in reduced data</vt:lpstr>
      <vt:lpstr>Synthetic Data Set</vt:lpstr>
      <vt:lpstr>Original/reduced dataset using DTW/EDTW distacne</vt:lpstr>
      <vt:lpstr>Data sets with less error rate</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Linear Space Algorithm  for Computing  Maximal Common Subsequences</dc:title>
  <dc:creator>BX CHEN</dc:creator>
  <cp:lastModifiedBy>Bo Xian Chen</cp:lastModifiedBy>
  <cp:revision>273</cp:revision>
  <dcterms:created xsi:type="dcterms:W3CDTF">2016-10-10T16:56:48Z</dcterms:created>
  <dcterms:modified xsi:type="dcterms:W3CDTF">2017-06-20T09:20:57Z</dcterms:modified>
</cp:coreProperties>
</file>