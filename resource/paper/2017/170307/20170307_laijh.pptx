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76" r:id="rId2"/>
    <p:sldId id="27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8" r:id="rId19"/>
    <p:sldId id="274" r:id="rId20"/>
    <p:sldId id="280" r:id="rId21"/>
    <p:sldId id="279" r:id="rId22"/>
    <p:sldId id="273"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1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2FE6E1-FD2D-49EA-9047-422F3C6B7A1B}" type="datetimeFigureOut">
              <a:rPr lang="zh-TW" altLang="en-US" smtClean="0"/>
              <a:t>2017/3/7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714BD0-F385-4D63-BBD7-B1F54F94E80D}" type="slidenum">
              <a:rPr lang="zh-TW" altLang="en-US" smtClean="0"/>
              <a:t>‹#›</a:t>
            </a:fld>
            <a:endParaRPr lang="zh-TW" altLang="en-US"/>
          </a:p>
        </p:txBody>
      </p:sp>
    </p:spTree>
    <p:extLst>
      <p:ext uri="{BB962C8B-B14F-4D97-AF65-F5344CB8AC3E}">
        <p14:creationId xmlns:p14="http://schemas.microsoft.com/office/powerpoint/2010/main" val="234211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044E8A48-0BB3-4429-A23E-981E055DBE4D}" type="slidenum">
              <a:rPr kern="0">
                <a:solidFill>
                  <a:srgbClr val="000000"/>
                </a:solidFill>
              </a:rPr>
              <a:pPr algn="r" hangingPunct="0">
                <a:defRPr sz="1800" b="0" i="0" u="none" strike="noStrike" kern="0" cap="none" spc="0" baseline="0">
                  <a:solidFill>
                    <a:srgbClr val="000000"/>
                  </a:solidFill>
                  <a:uFillTx/>
                </a:defRPr>
              </a:pPr>
              <a:t>1</a:t>
            </a:fld>
            <a:endParaRPr lang="en-US" sz="1400">
              <a:solidFill>
                <a:srgbClr val="000000"/>
              </a:solidFill>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217488" y="812800"/>
            <a:ext cx="7123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3139131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3677849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3059183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1571757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312025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3886576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128380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3549010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187796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192794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1012570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BFB8CB-8E4D-448F-8331-6C6B7320D076}" type="datetimeFigureOut">
              <a:rPr lang="zh-TW" altLang="en-US" smtClean="0"/>
              <a:t>2017/3/7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3345125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BFB8CB-8E4D-448F-8331-6C6B7320D076}" type="datetimeFigureOut">
              <a:rPr lang="zh-TW" altLang="en-US" smtClean="0"/>
              <a:t>2017/3/7</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2D38E-EBF3-4F5B-8F74-4BA0AE8D1E0E}" type="slidenum">
              <a:rPr lang="zh-TW" altLang="en-US" smtClean="0"/>
              <a:t>‹#›</a:t>
            </a:fld>
            <a:endParaRPr lang="zh-TW" altLang="en-US"/>
          </a:p>
        </p:txBody>
      </p:sp>
    </p:spTree>
    <p:extLst>
      <p:ext uri="{BB962C8B-B14F-4D97-AF65-F5344CB8AC3E}">
        <p14:creationId xmlns:p14="http://schemas.microsoft.com/office/powerpoint/2010/main" val="99405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32.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995494" y="3110222"/>
            <a:ext cx="10201013" cy="770724"/>
          </a:xfrm>
        </p:spPr>
        <p:txBody>
          <a:bodyPr wrap="square">
            <a:spAutoFit/>
          </a:bodyPr>
          <a:lstStyle/>
          <a:p>
            <a:pPr lvl="0" algn="ctr"/>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 Machine Learning, 1, 81-106, 1986 </a:t>
            </a:r>
            <a:r>
              <a:rPr lang="en-US" altLang="zh-TW" sz="2449" b="1" dirty="0">
                <a:solidFill>
                  <a:srgbClr val="898989"/>
                </a:solidFill>
                <a:latin typeface="Liberation Sans Narrow" pitchFamily="34"/>
                <a:ea typeface="新細明體" pitchFamily="2"/>
              </a:rPr>
              <a:t/>
            </a:r>
            <a:br>
              <a:rPr lang="en-US" altLang="zh-TW" sz="2449" b="1" dirty="0">
                <a:solidFill>
                  <a:srgbClr val="898989"/>
                </a:solidFill>
                <a:latin typeface="Liberation Sans Narrow" pitchFamily="34"/>
                <a:ea typeface="新細明體" pitchFamily="2"/>
              </a:rPr>
            </a:br>
            <a:endParaRPr lang="en-US" sz="2449" b="1" dirty="0">
              <a:solidFill>
                <a:srgbClr val="898989"/>
              </a:solidFill>
              <a:latin typeface="Liberation Sans Narrow" pitchFamily="34"/>
              <a:ea typeface="新細明體" pitchFamily="2"/>
            </a:endParaRPr>
          </a:p>
        </p:txBody>
      </p:sp>
      <p:sp>
        <p:nvSpPr>
          <p:cNvPr id="3" name="文字版面配置區 2"/>
          <p:cNvSpPr txBox="1">
            <a:spLocks noGrp="1"/>
          </p:cNvSpPr>
          <p:nvPr>
            <p:ph type="body" idx="4294967295"/>
          </p:nvPr>
        </p:nvSpPr>
        <p:spPr>
          <a:xfrm>
            <a:off x="304801" y="849121"/>
            <a:ext cx="11582399" cy="1897136"/>
          </a:xfrm>
        </p:spPr>
        <p:txBody>
          <a:bodyPr anchorCtr="1">
            <a:normAutofit/>
          </a:bodyPr>
          <a:lstStyle/>
          <a:p>
            <a:pPr marL="0" lvl="0" indent="0" algn="ctr">
              <a:buNone/>
            </a:pPr>
            <a:r>
              <a:rPr lang="en-US" sz="4800" dirty="0"/>
              <a:t>Introduction of Decision Tree</a:t>
            </a:r>
            <a:endParaRPr lang="en-US" sz="4800" b="1" dirty="0"/>
          </a:p>
        </p:txBody>
      </p:sp>
      <p:sp>
        <p:nvSpPr>
          <p:cNvPr id="4" name="文字版面配置區 3"/>
          <p:cNvSpPr txBox="1">
            <a:spLocks noGrp="1"/>
          </p:cNvSpPr>
          <p:nvPr>
            <p:ph type="body" idx="4294967295"/>
          </p:nvPr>
        </p:nvSpPr>
        <p:spPr>
          <a:xfrm>
            <a:off x="2162522" y="4515041"/>
            <a:ext cx="8229630" cy="1897136"/>
          </a:xfrm>
        </p:spPr>
        <p:txBody>
          <a:bodyPr>
            <a:normAutofit lnSpcReduction="10000"/>
          </a:bodyPr>
          <a:lstStyle/>
          <a:p>
            <a:pPr lvl="1" algn="r" hangingPunct="0">
              <a:spcBef>
                <a:spcPts val="1284"/>
              </a:spcBef>
              <a:buNone/>
            </a:pPr>
            <a:endParaRPr lang="en-US" sz="2903" dirty="0">
              <a:highlight>
                <a:scrgbClr r="0" g="0" b="0">
                  <a:alpha val="0"/>
                </a:scrgbClr>
              </a:highlight>
              <a:latin typeface="Liberation Sans" pitchFamily="18"/>
              <a:ea typeface="微軟正黑體" pitchFamily="2"/>
              <a:cs typeface="Mangal" pitchFamily="2"/>
            </a:endParaRPr>
          </a:p>
          <a:p>
            <a:pPr lvl="1" algn="r" hangingPunct="0">
              <a:spcBef>
                <a:spcPts val="1284"/>
              </a:spcBef>
              <a:buNone/>
            </a:pPr>
            <a:endParaRPr lang="en-US" sz="2903" dirty="0">
              <a:highlight>
                <a:scrgbClr r="0" g="0" b="0">
                  <a:alpha val="0"/>
                </a:scrgbClr>
              </a:highlight>
              <a:latin typeface="Liberation Sans" pitchFamily="18"/>
              <a:ea typeface="微軟正黑體" pitchFamily="2"/>
              <a:cs typeface="Mangal" pitchFamily="2"/>
            </a:endParaRPr>
          </a:p>
          <a:p>
            <a:pPr lvl="1" algn="r" hangingPunct="0">
              <a:spcBef>
                <a:spcPts val="1284"/>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dirty="0" err="1">
                <a:highlight>
                  <a:scrgbClr r="0" g="0" b="0">
                    <a:alpha val="0"/>
                  </a:scrgbClr>
                </a:highlight>
                <a:latin typeface="Liberation Sans Narrow" pitchFamily="34"/>
                <a:ea typeface="微軟正黑體" pitchFamily="34"/>
                <a:cs typeface="Mangal" pitchFamily="2"/>
              </a:rPr>
              <a:t>Jyun-Hao</a:t>
            </a:r>
            <a:r>
              <a:rPr lang="en-US" dirty="0">
                <a:highlight>
                  <a:scrgbClr r="0" g="0" b="0">
                    <a:alpha val="0"/>
                  </a:scrgbClr>
                </a:highlight>
                <a:latin typeface="Liberation Sans Narrow" pitchFamily="34"/>
                <a:ea typeface="微軟正黑體" pitchFamily="34"/>
                <a:cs typeface="Mangal" pitchFamily="2"/>
              </a:rPr>
              <a:t> Lai</a:t>
            </a:r>
          </a:p>
          <a:p>
            <a:pPr lvl="1" algn="r" hangingPunct="0">
              <a:spcBef>
                <a:spcPts val="1284"/>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2017</a:t>
            </a:r>
            <a:r>
              <a:rPr lang="en-US" dirty="0">
                <a:highlight>
                  <a:scrgbClr r="0" g="0" b="0">
                    <a:alpha val="0"/>
                  </a:scrgbClr>
                </a:highlight>
                <a:latin typeface="Liberation Sans Narrow" pitchFamily="34"/>
                <a:ea typeface="微軟正黑體" pitchFamily="34"/>
                <a:cs typeface="Mangal" pitchFamily="2"/>
              </a:rPr>
              <a:t> / 03 / 07</a:t>
            </a:r>
          </a:p>
        </p:txBody>
      </p:sp>
      <p:sp>
        <p:nvSpPr>
          <p:cNvPr id="5" name="文字方塊 4"/>
          <p:cNvSpPr txBox="1"/>
          <p:nvPr/>
        </p:nvSpPr>
        <p:spPr>
          <a:xfrm>
            <a:off x="4818246" y="3728762"/>
            <a:ext cx="2555508" cy="469231"/>
          </a:xfrm>
          <a:prstGeom prst="rect">
            <a:avLst/>
          </a:prstGeom>
          <a:noFill/>
        </p:spPr>
        <p:txBody>
          <a:bodyPr wrap="none" rtlCol="0">
            <a:spAutoFit/>
          </a:bodyPr>
          <a:lstStyle/>
          <a:p>
            <a:r>
              <a:rPr lang="en-US" altLang="zh-TW" sz="2449" b="1" dirty="0">
                <a:solidFill>
                  <a:srgbClr val="898989"/>
                </a:solidFill>
                <a:highlight>
                  <a:scrgbClr r="0" g="0" b="0">
                    <a:alpha val="0"/>
                  </a:scrgbClr>
                </a:highlight>
                <a:latin typeface="Liberation Sans Narrow" pitchFamily="34"/>
                <a:ea typeface="新細明體" pitchFamily="2"/>
                <a:cs typeface="Mangal" pitchFamily="2"/>
              </a:rPr>
              <a:t>J. Ross Quinlan</a:t>
            </a:r>
            <a:endParaRPr lang="zh-TW" altLang="en-US" sz="2449" b="1" dirty="0">
              <a:solidFill>
                <a:srgbClr val="898989"/>
              </a:solidFill>
              <a:highlight>
                <a:scrgbClr r="0" g="0" b="0">
                  <a:alpha val="0"/>
                </a:scrgbClr>
              </a:highlight>
              <a:latin typeface="Liberation Sans Narrow" pitchFamily="34"/>
              <a:ea typeface="新細明體" pitchFamily="2"/>
              <a:cs typeface="Mangal" pitchFamily="2"/>
            </a:endParaRPr>
          </a:p>
        </p:txBody>
      </p:sp>
    </p:spTree>
    <p:extLst>
      <p:ext uri="{BB962C8B-B14F-4D97-AF65-F5344CB8AC3E}">
        <p14:creationId xmlns:p14="http://schemas.microsoft.com/office/powerpoint/2010/main" val="2774945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09560" y="68562"/>
            <a:ext cx="10515600" cy="1325563"/>
          </a:xfrm>
        </p:spPr>
        <p:txBody>
          <a:bodyPr/>
          <a:lstStyle/>
          <a:p>
            <a:r>
              <a:rPr lang="en-US" altLang="zh-TW" b="1" dirty="0"/>
              <a:t>Abstract</a:t>
            </a:r>
            <a:endParaRPr lang="zh-TW" altLang="en-US" dirty="0"/>
          </a:p>
        </p:txBody>
      </p:sp>
      <p:sp>
        <p:nvSpPr>
          <p:cNvPr id="3" name="內容版面配置區 2"/>
          <p:cNvSpPr>
            <a:spLocks noGrp="1"/>
          </p:cNvSpPr>
          <p:nvPr>
            <p:ph idx="1"/>
          </p:nvPr>
        </p:nvSpPr>
        <p:spPr>
          <a:xfrm>
            <a:off x="609560" y="1228166"/>
            <a:ext cx="11384732" cy="5338889"/>
          </a:xfrm>
        </p:spPr>
        <p:txBody>
          <a:bodyPr>
            <a:normAutofit/>
          </a:bodyPr>
          <a:lstStyle/>
          <a:p>
            <a:pPr marL="0" indent="0">
              <a:buNone/>
            </a:pPr>
            <a:r>
              <a:rPr lang="en-US" altLang="zh-TW" sz="3200" dirty="0"/>
              <a:t>The technology for building knowledge-based systems by inductive inference from examples has been demonstrated successfully in several practical applications. This paper summarizes an approach to synthesizing decision trees that has been used in a variety of systems, and it describes one such system, ID3, in detail. Results from recent studies show ways in which the methodology can be modified to deal with information that is noisy and incomplete. A reported shortcoming of the basic algorithm is discussed and two means of overcoming it are compared. The paper concludes with illustrations of current research directions.</a:t>
            </a:r>
            <a:endParaRPr lang="en-US" altLang="zh-TW" sz="3200" dirty="0">
              <a:latin typeface="Cambria Math" panose="02040503050406030204" pitchFamily="18" charset="0"/>
            </a:endParaRPr>
          </a:p>
        </p:txBody>
      </p:sp>
    </p:spTree>
    <p:extLst>
      <p:ext uri="{BB962C8B-B14F-4D97-AF65-F5344CB8AC3E}">
        <p14:creationId xmlns:p14="http://schemas.microsoft.com/office/powerpoint/2010/main" val="2029115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p:spPr>
        <p:txBody>
          <a:bodyPr/>
          <a:lstStyle/>
          <a:p>
            <a:r>
              <a:rPr lang="en-US" altLang="zh-TW" dirty="0"/>
              <a:t>Decision Tree</a:t>
            </a:r>
            <a:endParaRPr lang="zh-TW" altLang="en-US" dirty="0"/>
          </a:p>
        </p:txBody>
      </p:sp>
      <p:sp>
        <p:nvSpPr>
          <p:cNvPr id="3" name="內容版面配置區 2"/>
          <p:cNvSpPr>
            <a:spLocks noGrp="1"/>
          </p:cNvSpPr>
          <p:nvPr>
            <p:ph idx="1"/>
          </p:nvPr>
        </p:nvSpPr>
        <p:spPr>
          <a:xfrm>
            <a:off x="838200" y="1825625"/>
            <a:ext cx="10515600" cy="4351338"/>
          </a:xfrm>
        </p:spPr>
        <p:txBody>
          <a:bodyPr/>
          <a:lstStyle/>
          <a:p>
            <a:r>
              <a:rPr lang="zh-TW" altLang="en-US"/>
              <a:t>用來處理分類問題的樹狀結構</a:t>
            </a:r>
            <a:endParaRPr lang="en-US" altLang="zh-TW"/>
          </a:p>
          <a:p>
            <a:r>
              <a:rPr lang="zh-TW" altLang="en-US"/>
              <a:t>每一個內部節點用來表示一個評估的欄位</a:t>
            </a:r>
            <a:endParaRPr lang="en-US" altLang="zh-TW"/>
          </a:p>
          <a:p>
            <a:r>
              <a:rPr lang="zh-TW" altLang="en-US"/>
              <a:t>每一個葉節點表示分類可能的答案</a:t>
            </a:r>
            <a:endParaRPr lang="zh-TW" altLang="en-US" dirty="0"/>
          </a:p>
        </p:txBody>
      </p:sp>
      <p:pic>
        <p:nvPicPr>
          <p:cNvPr id="1028" name="Picture 4" descr="http://www.intechopen.com/source/html/10957/media/imag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3832" y="3264310"/>
            <a:ext cx="4658814" cy="3231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78095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145472" y="387783"/>
            <a:ext cx="11695545" cy="1453284"/>
          </a:xfrm>
        </p:spPr>
        <p:txBody>
          <a:bodyPr/>
          <a:lstStyle/>
          <a:p>
            <a:pPr marL="0" indent="0">
              <a:buNone/>
            </a:pPr>
            <a:r>
              <a:rPr lang="zh-TW" altLang="en-US" dirty="0"/>
              <a:t>根據資料的欄位選出分類能力最好的欄位作為內部節點，最理想的的情況是所挑選的欄位可以將分割結果後的資料具有高度相關性</a:t>
            </a:r>
            <a:endParaRPr lang="en-US" altLang="zh-TW" dirty="0"/>
          </a:p>
        </p:txBody>
      </p:sp>
      <p:grpSp>
        <p:nvGrpSpPr>
          <p:cNvPr id="42" name="群組 41"/>
          <p:cNvGrpSpPr/>
          <p:nvPr/>
        </p:nvGrpSpPr>
        <p:grpSpPr>
          <a:xfrm>
            <a:off x="369169" y="4276435"/>
            <a:ext cx="1967345" cy="1016000"/>
            <a:chOff x="683489" y="2913279"/>
            <a:chExt cx="1967345" cy="1016000"/>
          </a:xfrm>
        </p:grpSpPr>
        <p:sp>
          <p:nvSpPr>
            <p:cNvPr id="4" name="流程圖: 替代程序 3"/>
            <p:cNvSpPr/>
            <p:nvPr/>
          </p:nvSpPr>
          <p:spPr>
            <a:xfrm>
              <a:off x="683489" y="2913279"/>
              <a:ext cx="1967345" cy="1016000"/>
            </a:xfrm>
            <a:prstGeom prst="flowChartAlternateProcess">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8" name="流程圖: 接點 7"/>
            <p:cNvSpPr/>
            <p:nvPr/>
          </p:nvSpPr>
          <p:spPr>
            <a:xfrm>
              <a:off x="91901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流程圖: 接點 8"/>
            <p:cNvSpPr/>
            <p:nvPr/>
          </p:nvSpPr>
          <p:spPr>
            <a:xfrm>
              <a:off x="919019"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流程圖: 接點 9"/>
            <p:cNvSpPr/>
            <p:nvPr/>
          </p:nvSpPr>
          <p:spPr>
            <a:xfrm>
              <a:off x="914400" y="3582914"/>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流程圖: 接點 10"/>
            <p:cNvSpPr/>
            <p:nvPr/>
          </p:nvSpPr>
          <p:spPr>
            <a:xfrm>
              <a:off x="124690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流程圖: 接點 11"/>
            <p:cNvSpPr/>
            <p:nvPr/>
          </p:nvSpPr>
          <p:spPr>
            <a:xfrm>
              <a:off x="1246908"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流程圖: 接點 12"/>
            <p:cNvSpPr/>
            <p:nvPr/>
          </p:nvSpPr>
          <p:spPr>
            <a:xfrm>
              <a:off x="1246910" y="358753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流程圖: 接點 16"/>
            <p:cNvSpPr/>
            <p:nvPr/>
          </p:nvSpPr>
          <p:spPr>
            <a:xfrm>
              <a:off x="1570182"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流程圖: 接點 17"/>
            <p:cNvSpPr/>
            <p:nvPr/>
          </p:nvSpPr>
          <p:spPr>
            <a:xfrm>
              <a:off x="1570181" y="3591358"/>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流程圖: 接點 18"/>
            <p:cNvSpPr/>
            <p:nvPr/>
          </p:nvSpPr>
          <p:spPr>
            <a:xfrm>
              <a:off x="1570181" y="3069899"/>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流程圖: 接點 19"/>
            <p:cNvSpPr/>
            <p:nvPr/>
          </p:nvSpPr>
          <p:spPr>
            <a:xfrm>
              <a:off x="1888832"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流程圖: 接點 20"/>
            <p:cNvSpPr/>
            <p:nvPr/>
          </p:nvSpPr>
          <p:spPr>
            <a:xfrm>
              <a:off x="1888831" y="3591358"/>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流程圖: 接點 21"/>
            <p:cNvSpPr/>
            <p:nvPr/>
          </p:nvSpPr>
          <p:spPr>
            <a:xfrm>
              <a:off x="1888831"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流程圖: 接點 23"/>
            <p:cNvSpPr/>
            <p:nvPr/>
          </p:nvSpPr>
          <p:spPr>
            <a:xfrm>
              <a:off x="2184385"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流程圖: 接點 24"/>
            <p:cNvSpPr/>
            <p:nvPr/>
          </p:nvSpPr>
          <p:spPr>
            <a:xfrm>
              <a:off x="2184384"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流程圖: 接點 25"/>
            <p:cNvSpPr/>
            <p:nvPr/>
          </p:nvSpPr>
          <p:spPr>
            <a:xfrm>
              <a:off x="2184383" y="3582914"/>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7" name="橢圓 26"/>
          <p:cNvSpPr/>
          <p:nvPr/>
        </p:nvSpPr>
        <p:spPr>
          <a:xfrm>
            <a:off x="4441513" y="3689133"/>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Age</a:t>
            </a:r>
            <a:endParaRPr lang="zh-TW" altLang="en-US" dirty="0"/>
          </a:p>
        </p:txBody>
      </p:sp>
      <p:sp>
        <p:nvSpPr>
          <p:cNvPr id="28" name="橢圓 27"/>
          <p:cNvSpPr/>
          <p:nvPr/>
        </p:nvSpPr>
        <p:spPr>
          <a:xfrm>
            <a:off x="8862908" y="3657599"/>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Income</a:t>
            </a:r>
            <a:endParaRPr lang="zh-TW" altLang="en-US" dirty="0"/>
          </a:p>
        </p:txBody>
      </p:sp>
      <p:cxnSp>
        <p:nvCxnSpPr>
          <p:cNvPr id="30" name="直線單箭頭接點 29"/>
          <p:cNvCxnSpPr>
            <a:cxnSpLocks/>
            <a:stCxn id="27" idx="4"/>
            <a:endCxn id="44" idx="0"/>
          </p:cNvCxnSpPr>
          <p:nvPr/>
        </p:nvCxnSpPr>
        <p:spPr>
          <a:xfrm flipH="1">
            <a:off x="4196189" y="4391097"/>
            <a:ext cx="1182815" cy="74432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1" name="直線單箭頭接點 30"/>
          <p:cNvCxnSpPr>
            <a:cxnSpLocks/>
            <a:stCxn id="27" idx="4"/>
            <a:endCxn id="62" idx="0"/>
          </p:cNvCxnSpPr>
          <p:nvPr/>
        </p:nvCxnSpPr>
        <p:spPr>
          <a:xfrm>
            <a:off x="5379004" y="4391097"/>
            <a:ext cx="1153981" cy="74432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3" name="直線單箭頭接點 32"/>
          <p:cNvCxnSpPr>
            <a:cxnSpLocks/>
            <a:stCxn id="28" idx="4"/>
            <a:endCxn id="83" idx="0"/>
          </p:cNvCxnSpPr>
          <p:nvPr/>
        </p:nvCxnSpPr>
        <p:spPr>
          <a:xfrm>
            <a:off x="9800399" y="4359563"/>
            <a:ext cx="1225504" cy="77123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5" name="直線單箭頭接點 34"/>
          <p:cNvCxnSpPr>
            <a:cxnSpLocks/>
            <a:stCxn id="28" idx="4"/>
            <a:endCxn id="101" idx="0"/>
          </p:cNvCxnSpPr>
          <p:nvPr/>
        </p:nvCxnSpPr>
        <p:spPr>
          <a:xfrm flipH="1">
            <a:off x="8948289" y="4359563"/>
            <a:ext cx="852110" cy="77123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43" name="群組 42"/>
          <p:cNvGrpSpPr/>
          <p:nvPr/>
        </p:nvGrpSpPr>
        <p:grpSpPr>
          <a:xfrm>
            <a:off x="3212516" y="5135418"/>
            <a:ext cx="1967345" cy="1016000"/>
            <a:chOff x="683489" y="2913279"/>
            <a:chExt cx="1967345" cy="1016000"/>
          </a:xfrm>
        </p:grpSpPr>
        <p:sp>
          <p:nvSpPr>
            <p:cNvPr id="44" name="流程圖: 替代程序 43"/>
            <p:cNvSpPr/>
            <p:nvPr/>
          </p:nvSpPr>
          <p:spPr>
            <a:xfrm>
              <a:off x="683489" y="2913279"/>
              <a:ext cx="1967345" cy="1016000"/>
            </a:xfrm>
            <a:prstGeom prst="flowChartAlternateProcess">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45" name="流程圖: 接點 44"/>
            <p:cNvSpPr/>
            <p:nvPr/>
          </p:nvSpPr>
          <p:spPr>
            <a:xfrm>
              <a:off x="91901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流程圖: 接點 45"/>
            <p:cNvSpPr/>
            <p:nvPr/>
          </p:nvSpPr>
          <p:spPr>
            <a:xfrm>
              <a:off x="919019"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流程圖: 接點 46"/>
            <p:cNvSpPr/>
            <p:nvPr/>
          </p:nvSpPr>
          <p:spPr>
            <a:xfrm>
              <a:off x="914400" y="3582914"/>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流程圖: 接點 47"/>
            <p:cNvSpPr/>
            <p:nvPr/>
          </p:nvSpPr>
          <p:spPr>
            <a:xfrm>
              <a:off x="124690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流程圖: 接點 48"/>
            <p:cNvSpPr/>
            <p:nvPr/>
          </p:nvSpPr>
          <p:spPr>
            <a:xfrm>
              <a:off x="1246908"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流程圖: 接點 53"/>
            <p:cNvSpPr/>
            <p:nvPr/>
          </p:nvSpPr>
          <p:spPr>
            <a:xfrm>
              <a:off x="1888832"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流程圖: 接點 55"/>
            <p:cNvSpPr/>
            <p:nvPr/>
          </p:nvSpPr>
          <p:spPr>
            <a:xfrm>
              <a:off x="1888831"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流程圖: 接點 56"/>
            <p:cNvSpPr/>
            <p:nvPr/>
          </p:nvSpPr>
          <p:spPr>
            <a:xfrm>
              <a:off x="2184385"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61" name="群組 60"/>
          <p:cNvGrpSpPr/>
          <p:nvPr/>
        </p:nvGrpSpPr>
        <p:grpSpPr>
          <a:xfrm>
            <a:off x="5549312" y="5135418"/>
            <a:ext cx="1967345" cy="1016000"/>
            <a:chOff x="683489" y="2913279"/>
            <a:chExt cx="1967345" cy="1016000"/>
          </a:xfrm>
        </p:grpSpPr>
        <p:sp>
          <p:nvSpPr>
            <p:cNvPr id="62" name="流程圖: 替代程序 61"/>
            <p:cNvSpPr/>
            <p:nvPr/>
          </p:nvSpPr>
          <p:spPr>
            <a:xfrm>
              <a:off x="683489" y="2913279"/>
              <a:ext cx="1967345" cy="1016000"/>
            </a:xfrm>
            <a:prstGeom prst="flowChartAlternateProcess">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63" name="流程圖: 接點 62"/>
            <p:cNvSpPr/>
            <p:nvPr/>
          </p:nvSpPr>
          <p:spPr>
            <a:xfrm>
              <a:off x="91901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流程圖: 接點 63"/>
            <p:cNvSpPr/>
            <p:nvPr/>
          </p:nvSpPr>
          <p:spPr>
            <a:xfrm>
              <a:off x="919019"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流程圖: 接點 64"/>
            <p:cNvSpPr/>
            <p:nvPr/>
          </p:nvSpPr>
          <p:spPr>
            <a:xfrm>
              <a:off x="914400" y="3582914"/>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流程圖: 接點 65"/>
            <p:cNvSpPr/>
            <p:nvPr/>
          </p:nvSpPr>
          <p:spPr>
            <a:xfrm>
              <a:off x="124690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流程圖: 接點 71"/>
            <p:cNvSpPr/>
            <p:nvPr/>
          </p:nvSpPr>
          <p:spPr>
            <a:xfrm>
              <a:off x="1888832"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流程圖: 接點 73"/>
            <p:cNvSpPr/>
            <p:nvPr/>
          </p:nvSpPr>
          <p:spPr>
            <a:xfrm>
              <a:off x="1888831"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流程圖: 接點 74"/>
            <p:cNvSpPr/>
            <p:nvPr/>
          </p:nvSpPr>
          <p:spPr>
            <a:xfrm>
              <a:off x="2184385"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82" name="群組 81"/>
          <p:cNvGrpSpPr/>
          <p:nvPr/>
        </p:nvGrpSpPr>
        <p:grpSpPr>
          <a:xfrm>
            <a:off x="10042230" y="5130798"/>
            <a:ext cx="1967345" cy="1016000"/>
            <a:chOff x="683489" y="2913279"/>
            <a:chExt cx="1967345" cy="1016000"/>
          </a:xfrm>
        </p:grpSpPr>
        <p:sp>
          <p:nvSpPr>
            <p:cNvPr id="83" name="流程圖: 替代程序 82"/>
            <p:cNvSpPr/>
            <p:nvPr/>
          </p:nvSpPr>
          <p:spPr>
            <a:xfrm>
              <a:off x="683489" y="2913279"/>
              <a:ext cx="1967345" cy="1016000"/>
            </a:xfrm>
            <a:prstGeom prst="flowChartAlternateProcess">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84" name="流程圖: 接點 83"/>
            <p:cNvSpPr/>
            <p:nvPr/>
          </p:nvSpPr>
          <p:spPr>
            <a:xfrm>
              <a:off x="91901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流程圖: 接點 84"/>
            <p:cNvSpPr/>
            <p:nvPr/>
          </p:nvSpPr>
          <p:spPr>
            <a:xfrm>
              <a:off x="919019"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流程圖: 接點 85"/>
            <p:cNvSpPr/>
            <p:nvPr/>
          </p:nvSpPr>
          <p:spPr>
            <a:xfrm>
              <a:off x="914400" y="3582914"/>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流程圖: 接點 86"/>
            <p:cNvSpPr/>
            <p:nvPr/>
          </p:nvSpPr>
          <p:spPr>
            <a:xfrm>
              <a:off x="124690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流程圖: 接點 87"/>
            <p:cNvSpPr/>
            <p:nvPr/>
          </p:nvSpPr>
          <p:spPr>
            <a:xfrm>
              <a:off x="1246908"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流程圖: 接點 88"/>
            <p:cNvSpPr/>
            <p:nvPr/>
          </p:nvSpPr>
          <p:spPr>
            <a:xfrm>
              <a:off x="1246910" y="358753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流程圖: 接點 89"/>
            <p:cNvSpPr/>
            <p:nvPr/>
          </p:nvSpPr>
          <p:spPr>
            <a:xfrm>
              <a:off x="1570182"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流程圖: 接點 91"/>
            <p:cNvSpPr/>
            <p:nvPr/>
          </p:nvSpPr>
          <p:spPr>
            <a:xfrm>
              <a:off x="1570181" y="3069899"/>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00" name="群組 99"/>
          <p:cNvGrpSpPr/>
          <p:nvPr/>
        </p:nvGrpSpPr>
        <p:grpSpPr>
          <a:xfrm>
            <a:off x="7964616" y="5130798"/>
            <a:ext cx="1967345" cy="1016000"/>
            <a:chOff x="683489" y="2913279"/>
            <a:chExt cx="1967345" cy="1016000"/>
          </a:xfrm>
        </p:grpSpPr>
        <p:sp>
          <p:nvSpPr>
            <p:cNvPr id="101" name="流程圖: 替代程序 100"/>
            <p:cNvSpPr/>
            <p:nvPr/>
          </p:nvSpPr>
          <p:spPr>
            <a:xfrm>
              <a:off x="683489" y="2913279"/>
              <a:ext cx="1967345" cy="1016000"/>
            </a:xfrm>
            <a:prstGeom prst="flowChartAlternateProcess">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2" name="流程圖: 接點 101"/>
            <p:cNvSpPr/>
            <p:nvPr/>
          </p:nvSpPr>
          <p:spPr>
            <a:xfrm>
              <a:off x="91901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1" name="流程圖: 接點 110"/>
            <p:cNvSpPr/>
            <p:nvPr/>
          </p:nvSpPr>
          <p:spPr>
            <a:xfrm>
              <a:off x="1888832"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2" name="流程圖: 接點 111"/>
            <p:cNvSpPr/>
            <p:nvPr/>
          </p:nvSpPr>
          <p:spPr>
            <a:xfrm>
              <a:off x="1888831" y="3591358"/>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3" name="流程圖: 接點 112"/>
            <p:cNvSpPr/>
            <p:nvPr/>
          </p:nvSpPr>
          <p:spPr>
            <a:xfrm>
              <a:off x="1888831"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4" name="流程圖: 接點 113"/>
            <p:cNvSpPr/>
            <p:nvPr/>
          </p:nvSpPr>
          <p:spPr>
            <a:xfrm>
              <a:off x="2184385"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5" name="流程圖: 接點 114"/>
            <p:cNvSpPr/>
            <p:nvPr/>
          </p:nvSpPr>
          <p:spPr>
            <a:xfrm>
              <a:off x="2184384"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6" name="流程圖: 接點 115"/>
            <p:cNvSpPr/>
            <p:nvPr/>
          </p:nvSpPr>
          <p:spPr>
            <a:xfrm>
              <a:off x="2184383" y="3582914"/>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18" name="文字方塊 117"/>
          <p:cNvSpPr txBox="1"/>
          <p:nvPr/>
        </p:nvSpPr>
        <p:spPr>
          <a:xfrm>
            <a:off x="163659" y="2007463"/>
            <a:ext cx="11501867" cy="707886"/>
          </a:xfrm>
          <a:prstGeom prst="rect">
            <a:avLst/>
          </a:prstGeom>
          <a:noFill/>
        </p:spPr>
        <p:txBody>
          <a:bodyPr wrap="square" rtlCol="0">
            <a:spAutoFit/>
          </a:bodyPr>
          <a:lstStyle/>
          <a:p>
            <a:r>
              <a:rPr lang="zh-TW" altLang="en-US" sz="2000" dirty="0"/>
              <a:t>假設我們有</a:t>
            </a:r>
            <a:r>
              <a:rPr lang="en-US" altLang="zh-TW" sz="2000" dirty="0"/>
              <a:t>15</a:t>
            </a:r>
            <a:r>
              <a:rPr lang="zh-TW" altLang="en-US" sz="2000" dirty="0"/>
              <a:t>筆銷售筆記型電腦的資料，其中紅色代表購買，藍色代表不購買</a:t>
            </a:r>
            <a:endParaRPr lang="en-US" altLang="zh-TW" sz="2000" dirty="0"/>
          </a:p>
          <a:p>
            <a:r>
              <a:rPr lang="zh-TW" altLang="en-US" sz="2000" dirty="0"/>
              <a:t>分別利用</a:t>
            </a:r>
            <a:r>
              <a:rPr lang="en-US" altLang="zh-TW" sz="2000" dirty="0"/>
              <a:t>Age</a:t>
            </a:r>
            <a:r>
              <a:rPr lang="zh-TW" altLang="en-US" sz="2000" dirty="0"/>
              <a:t>以及</a:t>
            </a:r>
            <a:r>
              <a:rPr lang="en-US" altLang="zh-TW" sz="2000" dirty="0"/>
              <a:t>Income</a:t>
            </a:r>
            <a:r>
              <a:rPr lang="zh-TW" altLang="en-US" sz="2000" dirty="0"/>
              <a:t>欄位分割如下</a:t>
            </a:r>
            <a:r>
              <a:rPr lang="zh-TW" altLang="en-US" sz="2000" dirty="0">
                <a:latin typeface="PMingLiU" panose="02020500000000000000" pitchFamily="18" charset="-120"/>
                <a:ea typeface="PMingLiU" panose="02020500000000000000" pitchFamily="18" charset="-120"/>
              </a:rPr>
              <a:t>：</a:t>
            </a:r>
            <a:endParaRPr lang="zh-TW" altLang="en-US" sz="2000" dirty="0"/>
          </a:p>
        </p:txBody>
      </p:sp>
      <p:cxnSp>
        <p:nvCxnSpPr>
          <p:cNvPr id="122" name="直線單箭頭接點 121"/>
          <p:cNvCxnSpPr>
            <a:stCxn id="8" idx="1"/>
          </p:cNvCxnSpPr>
          <p:nvPr/>
        </p:nvCxnSpPr>
        <p:spPr>
          <a:xfrm flipH="1" flipV="1">
            <a:off x="461818" y="4040115"/>
            <a:ext cx="171286" cy="416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3" name="文字方塊 122"/>
          <p:cNvSpPr txBox="1"/>
          <p:nvPr/>
        </p:nvSpPr>
        <p:spPr>
          <a:xfrm>
            <a:off x="126715" y="3689133"/>
            <a:ext cx="646331" cy="369332"/>
          </a:xfrm>
          <a:prstGeom prst="rect">
            <a:avLst/>
          </a:prstGeom>
          <a:noFill/>
        </p:spPr>
        <p:txBody>
          <a:bodyPr wrap="none" rtlCol="0">
            <a:spAutoFit/>
          </a:bodyPr>
          <a:lstStyle/>
          <a:p>
            <a:r>
              <a:rPr lang="zh-TW" altLang="en-US" dirty="0"/>
              <a:t>購買</a:t>
            </a:r>
          </a:p>
        </p:txBody>
      </p:sp>
      <p:cxnSp>
        <p:nvCxnSpPr>
          <p:cNvPr id="125" name="直線單箭頭接點 124"/>
          <p:cNvCxnSpPr>
            <a:stCxn id="24" idx="7"/>
          </p:cNvCxnSpPr>
          <p:nvPr/>
        </p:nvCxnSpPr>
        <p:spPr>
          <a:xfrm flipV="1">
            <a:off x="2035623" y="4008581"/>
            <a:ext cx="181104" cy="4481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6" name="文字方塊 125"/>
          <p:cNvSpPr txBox="1"/>
          <p:nvPr/>
        </p:nvSpPr>
        <p:spPr>
          <a:xfrm>
            <a:off x="1768474" y="3667812"/>
            <a:ext cx="1007982" cy="369332"/>
          </a:xfrm>
          <a:prstGeom prst="rect">
            <a:avLst/>
          </a:prstGeom>
          <a:noFill/>
        </p:spPr>
        <p:txBody>
          <a:bodyPr wrap="square" rtlCol="0">
            <a:spAutoFit/>
          </a:bodyPr>
          <a:lstStyle/>
          <a:p>
            <a:r>
              <a:rPr lang="zh-TW" altLang="en-US" dirty="0"/>
              <a:t>不購買</a:t>
            </a:r>
          </a:p>
        </p:txBody>
      </p:sp>
      <mc:AlternateContent xmlns:mc="http://schemas.openxmlformats.org/markup-compatibility/2006" xmlns:a14="http://schemas.microsoft.com/office/drawing/2010/main">
        <mc:Choice Requires="a14">
          <p:sp>
            <p:nvSpPr>
              <p:cNvPr id="127" name="文字方塊 126"/>
              <p:cNvSpPr txBox="1"/>
              <p:nvPr/>
            </p:nvSpPr>
            <p:spPr>
              <a:xfrm>
                <a:off x="6022996" y="4429628"/>
                <a:ext cx="5466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m:t>
                      </m:r>
                      <m:r>
                        <a:rPr lang="en-US" altLang="zh-TW" b="0" i="1" smtClean="0">
                          <a:latin typeface="Cambria Math" panose="02040503050406030204" pitchFamily="18" charset="0"/>
                        </a:rPr>
                        <m:t>25</m:t>
                      </m:r>
                    </m:oMath>
                  </m:oMathPara>
                </a14:m>
                <a:endParaRPr lang="zh-TW" altLang="en-US" dirty="0"/>
              </a:p>
            </p:txBody>
          </p:sp>
        </mc:Choice>
        <mc:Fallback xmlns="">
          <p:sp>
            <p:nvSpPr>
              <p:cNvPr id="127" name="文字方塊 126"/>
              <p:cNvSpPr txBox="1">
                <a:spLocks noRot="1" noChangeAspect="1" noMove="1" noResize="1" noEditPoints="1" noAdjustHandles="1" noChangeArrowheads="1" noChangeShapeType="1" noTextEdit="1"/>
              </p:cNvSpPr>
              <p:nvPr/>
            </p:nvSpPr>
            <p:spPr>
              <a:xfrm>
                <a:off x="6022996" y="4429628"/>
                <a:ext cx="546625" cy="276999"/>
              </a:xfrm>
              <a:prstGeom prst="rect">
                <a:avLst/>
              </a:prstGeom>
              <a:blipFill>
                <a:blip r:embed="rId2"/>
                <a:stretch>
                  <a:fillRect l="-8889" r="-10000" b="-11111"/>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8" name="矩形 127"/>
              <p:cNvSpPr/>
              <p:nvPr/>
            </p:nvSpPr>
            <p:spPr>
              <a:xfrm>
                <a:off x="3995214" y="4383461"/>
                <a:ext cx="73129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2</m:t>
                      </m:r>
                      <m:r>
                        <a:rPr lang="en-US" altLang="zh-TW" b="0" i="1" smtClean="0">
                          <a:latin typeface="Cambria Math" panose="02040503050406030204" pitchFamily="18" charset="0"/>
                          <a:ea typeface="Cambria Math" panose="02040503050406030204" pitchFamily="18" charset="0"/>
                        </a:rPr>
                        <m:t>5</m:t>
                      </m:r>
                      <m:r>
                        <a:rPr lang="en-US" altLang="zh-TW" i="1" smtClean="0">
                          <a:latin typeface="Cambria Math" panose="02040503050406030204" pitchFamily="18" charset="0"/>
                          <a:ea typeface="Cambria Math" panose="02040503050406030204" pitchFamily="18" charset="0"/>
                        </a:rPr>
                        <m:t>&lt;</m:t>
                      </m:r>
                    </m:oMath>
                  </m:oMathPara>
                </a14:m>
                <a:endParaRPr lang="zh-TW" altLang="en-US" dirty="0"/>
              </a:p>
            </p:txBody>
          </p:sp>
        </mc:Choice>
        <mc:Fallback xmlns="">
          <p:sp>
            <p:nvSpPr>
              <p:cNvPr id="128" name="矩形 127"/>
              <p:cNvSpPr>
                <a:spLocks noRot="1" noChangeAspect="1" noMove="1" noResize="1" noEditPoints="1" noAdjustHandles="1" noChangeArrowheads="1" noChangeShapeType="1" noTextEdit="1"/>
              </p:cNvSpPr>
              <p:nvPr/>
            </p:nvSpPr>
            <p:spPr>
              <a:xfrm>
                <a:off x="3995214" y="4383461"/>
                <a:ext cx="731290" cy="369332"/>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9" name="文字方塊 128"/>
              <p:cNvSpPr txBox="1"/>
              <p:nvPr/>
            </p:nvSpPr>
            <p:spPr>
              <a:xfrm>
                <a:off x="10668705" y="4458220"/>
                <a:ext cx="7155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m:t>
                      </m:r>
                      <m:r>
                        <a:rPr lang="en-US" altLang="zh-TW" i="1">
                          <a:latin typeface="Cambria Math" panose="02040503050406030204" pitchFamily="18" charset="0"/>
                        </a:rPr>
                        <m:t>3</m:t>
                      </m:r>
                      <m:r>
                        <a:rPr lang="en-US" altLang="zh-TW" i="1" smtClean="0">
                          <a:latin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𝐾</m:t>
                      </m:r>
                    </m:oMath>
                  </m:oMathPara>
                </a14:m>
                <a:endParaRPr lang="zh-TW" altLang="en-US" dirty="0"/>
              </a:p>
            </p:txBody>
          </p:sp>
        </mc:Choice>
        <mc:Fallback xmlns="">
          <p:sp>
            <p:nvSpPr>
              <p:cNvPr id="129" name="文字方塊 128"/>
              <p:cNvSpPr txBox="1">
                <a:spLocks noRot="1" noChangeAspect="1" noMove="1" noResize="1" noEditPoints="1" noAdjustHandles="1" noChangeArrowheads="1" noChangeShapeType="1" noTextEdit="1"/>
              </p:cNvSpPr>
              <p:nvPr/>
            </p:nvSpPr>
            <p:spPr>
              <a:xfrm>
                <a:off x="10668705" y="4458220"/>
                <a:ext cx="715517" cy="276999"/>
              </a:xfrm>
              <a:prstGeom prst="rect">
                <a:avLst/>
              </a:prstGeom>
              <a:blipFill>
                <a:blip r:embed="rId4"/>
                <a:stretch>
                  <a:fillRect l="-6838" r="-7692" b="-108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1" name="矩形 130"/>
              <p:cNvSpPr/>
              <p:nvPr/>
            </p:nvSpPr>
            <p:spPr>
              <a:xfrm>
                <a:off x="8394109" y="4432004"/>
                <a:ext cx="90018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ea typeface="Cambria Math" panose="02040503050406030204" pitchFamily="18" charset="0"/>
                        </a:rPr>
                        <m:t>3</m:t>
                      </m:r>
                      <m:r>
                        <a:rPr lang="en-US" altLang="zh-TW" i="1">
                          <a:latin typeface="Cambria Math" panose="02040503050406030204" pitchFamily="18" charset="0"/>
                          <a:ea typeface="Cambria Math" panose="02040503050406030204" pitchFamily="18" charset="0"/>
                        </a:rPr>
                        <m:t>0</m:t>
                      </m:r>
                      <m:r>
                        <a:rPr lang="en-US" altLang="zh-TW" b="0" i="1" smtClean="0">
                          <a:latin typeface="Cambria Math" panose="02040503050406030204" pitchFamily="18" charset="0"/>
                          <a:ea typeface="Cambria Math" panose="02040503050406030204" pitchFamily="18" charset="0"/>
                        </a:rPr>
                        <m:t>𝐾</m:t>
                      </m:r>
                      <m:r>
                        <a:rPr lang="en-US" altLang="zh-TW" i="1" smtClean="0">
                          <a:latin typeface="Cambria Math" panose="02040503050406030204" pitchFamily="18" charset="0"/>
                          <a:ea typeface="Cambria Math" panose="02040503050406030204" pitchFamily="18" charset="0"/>
                        </a:rPr>
                        <m:t>&lt;</m:t>
                      </m:r>
                    </m:oMath>
                  </m:oMathPara>
                </a14:m>
                <a:endParaRPr lang="zh-TW" altLang="en-US" dirty="0"/>
              </a:p>
            </p:txBody>
          </p:sp>
        </mc:Choice>
        <mc:Fallback xmlns="">
          <p:sp>
            <p:nvSpPr>
              <p:cNvPr id="131" name="矩形 130"/>
              <p:cNvSpPr>
                <a:spLocks noRot="1" noChangeAspect="1" noMove="1" noResize="1" noEditPoints="1" noAdjustHandles="1" noChangeArrowheads="1" noChangeShapeType="1" noTextEdit="1"/>
              </p:cNvSpPr>
              <p:nvPr/>
            </p:nvSpPr>
            <p:spPr>
              <a:xfrm>
                <a:off x="8394109" y="4432004"/>
                <a:ext cx="900183" cy="369332"/>
              </a:xfrm>
              <a:prstGeom prst="rect">
                <a:avLst/>
              </a:prstGeom>
              <a:blipFill>
                <a:blip r:embed="rId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2547285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70122" y="523298"/>
            <a:ext cx="10515600" cy="1083829"/>
          </a:xfrm>
        </p:spPr>
        <p:txBody>
          <a:bodyPr/>
          <a:lstStyle/>
          <a:p>
            <a:pPr marL="0" indent="0">
              <a:buNone/>
            </a:pPr>
            <a:r>
              <a:rPr lang="zh-TW" altLang="en-US" dirty="0"/>
              <a:t>在分割結果中具有較高純度的節點分類結果越好，因此在建立決策樹我們必須檢驗每個欄位，其純度為何</a:t>
            </a:r>
            <a:r>
              <a:rPr lang="en-US" altLang="zh-TW" dirty="0"/>
              <a:t>?</a:t>
            </a:r>
          </a:p>
          <a:p>
            <a:endParaRPr lang="zh-TW" altLang="en-US" dirty="0"/>
          </a:p>
        </p:txBody>
      </p:sp>
      <p:grpSp>
        <p:nvGrpSpPr>
          <p:cNvPr id="4" name="群組 3"/>
          <p:cNvGrpSpPr/>
          <p:nvPr/>
        </p:nvGrpSpPr>
        <p:grpSpPr>
          <a:xfrm>
            <a:off x="2244398" y="3432891"/>
            <a:ext cx="1967345" cy="1016000"/>
            <a:chOff x="683489" y="2913279"/>
            <a:chExt cx="1967345" cy="1016000"/>
          </a:xfrm>
        </p:grpSpPr>
        <p:sp>
          <p:nvSpPr>
            <p:cNvPr id="5" name="流程圖: 替代程序 4"/>
            <p:cNvSpPr/>
            <p:nvPr/>
          </p:nvSpPr>
          <p:spPr>
            <a:xfrm>
              <a:off x="683489" y="2913279"/>
              <a:ext cx="1967345" cy="1016000"/>
            </a:xfrm>
            <a:prstGeom prst="flowChartAlternateProcess">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6" name="流程圖: 接點 5"/>
            <p:cNvSpPr/>
            <p:nvPr/>
          </p:nvSpPr>
          <p:spPr>
            <a:xfrm>
              <a:off x="91901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流程圖: 接點 6"/>
            <p:cNvSpPr/>
            <p:nvPr/>
          </p:nvSpPr>
          <p:spPr>
            <a:xfrm>
              <a:off x="919019"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流程圖: 接點 7"/>
            <p:cNvSpPr/>
            <p:nvPr/>
          </p:nvSpPr>
          <p:spPr>
            <a:xfrm>
              <a:off x="914400" y="3582914"/>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流程圖: 接點 8"/>
            <p:cNvSpPr/>
            <p:nvPr/>
          </p:nvSpPr>
          <p:spPr>
            <a:xfrm>
              <a:off x="1260753"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流程圖: 接點 9"/>
            <p:cNvSpPr/>
            <p:nvPr/>
          </p:nvSpPr>
          <p:spPr>
            <a:xfrm>
              <a:off x="1246908"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流程圖: 接點 10"/>
            <p:cNvSpPr/>
            <p:nvPr/>
          </p:nvSpPr>
          <p:spPr>
            <a:xfrm>
              <a:off x="1246910" y="358753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流程圖: 接點 14"/>
            <p:cNvSpPr/>
            <p:nvPr/>
          </p:nvSpPr>
          <p:spPr>
            <a:xfrm>
              <a:off x="1888832"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流程圖: 接點 15"/>
            <p:cNvSpPr/>
            <p:nvPr/>
          </p:nvSpPr>
          <p:spPr>
            <a:xfrm>
              <a:off x="1888831" y="3591358"/>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流程圖: 接點 16"/>
            <p:cNvSpPr/>
            <p:nvPr/>
          </p:nvSpPr>
          <p:spPr>
            <a:xfrm>
              <a:off x="1888831"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流程圖: 接點 17"/>
            <p:cNvSpPr/>
            <p:nvPr/>
          </p:nvSpPr>
          <p:spPr>
            <a:xfrm>
              <a:off x="2184385"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流程圖: 接點 18"/>
            <p:cNvSpPr/>
            <p:nvPr/>
          </p:nvSpPr>
          <p:spPr>
            <a:xfrm>
              <a:off x="2184384"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流程圖: 接點 19"/>
            <p:cNvSpPr/>
            <p:nvPr/>
          </p:nvSpPr>
          <p:spPr>
            <a:xfrm>
              <a:off x="2184383" y="3582914"/>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8" name="群組 37"/>
          <p:cNvGrpSpPr/>
          <p:nvPr/>
        </p:nvGrpSpPr>
        <p:grpSpPr>
          <a:xfrm>
            <a:off x="4867522" y="3435926"/>
            <a:ext cx="1967345" cy="1016000"/>
            <a:chOff x="683489" y="2913279"/>
            <a:chExt cx="1967345" cy="1016000"/>
          </a:xfrm>
        </p:grpSpPr>
        <p:sp>
          <p:nvSpPr>
            <p:cNvPr id="39" name="流程圖: 替代程序 38"/>
            <p:cNvSpPr/>
            <p:nvPr/>
          </p:nvSpPr>
          <p:spPr>
            <a:xfrm>
              <a:off x="683489" y="2913279"/>
              <a:ext cx="1967345" cy="1016000"/>
            </a:xfrm>
            <a:prstGeom prst="flowChartAlternateProcess">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40" name="流程圖: 接點 39"/>
            <p:cNvSpPr/>
            <p:nvPr/>
          </p:nvSpPr>
          <p:spPr>
            <a:xfrm>
              <a:off x="91901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流程圖: 接點 40"/>
            <p:cNvSpPr/>
            <p:nvPr/>
          </p:nvSpPr>
          <p:spPr>
            <a:xfrm>
              <a:off x="919019"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2" name="流程圖: 接點 41"/>
            <p:cNvSpPr/>
            <p:nvPr/>
          </p:nvSpPr>
          <p:spPr>
            <a:xfrm>
              <a:off x="914400" y="3582914"/>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流程圖: 接點 42"/>
            <p:cNvSpPr/>
            <p:nvPr/>
          </p:nvSpPr>
          <p:spPr>
            <a:xfrm>
              <a:off x="124690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4" name="流程圖: 接點 43"/>
            <p:cNvSpPr/>
            <p:nvPr/>
          </p:nvSpPr>
          <p:spPr>
            <a:xfrm>
              <a:off x="1246908"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流程圖: 接點 44"/>
            <p:cNvSpPr/>
            <p:nvPr/>
          </p:nvSpPr>
          <p:spPr>
            <a:xfrm>
              <a:off x="1246910" y="358753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流程圖: 接點 45"/>
            <p:cNvSpPr/>
            <p:nvPr/>
          </p:nvSpPr>
          <p:spPr>
            <a:xfrm>
              <a:off x="1570182"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7" name="流程圖: 接點 46"/>
            <p:cNvSpPr/>
            <p:nvPr/>
          </p:nvSpPr>
          <p:spPr>
            <a:xfrm>
              <a:off x="1570181" y="3591358"/>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流程圖: 接點 47"/>
            <p:cNvSpPr/>
            <p:nvPr/>
          </p:nvSpPr>
          <p:spPr>
            <a:xfrm>
              <a:off x="1570181" y="3069899"/>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流程圖: 接點 51"/>
            <p:cNvSpPr/>
            <p:nvPr/>
          </p:nvSpPr>
          <p:spPr>
            <a:xfrm>
              <a:off x="2184385" y="3066472"/>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流程圖: 接點 52"/>
            <p:cNvSpPr/>
            <p:nvPr/>
          </p:nvSpPr>
          <p:spPr>
            <a:xfrm>
              <a:off x="2184384" y="3328915"/>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流程圖: 接點 53"/>
            <p:cNvSpPr/>
            <p:nvPr/>
          </p:nvSpPr>
          <p:spPr>
            <a:xfrm>
              <a:off x="2184383" y="3582914"/>
              <a:ext cx="193963" cy="184728"/>
            </a:xfrm>
            <a:prstGeom prst="flowChartConnector">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58" name="群組 57"/>
          <p:cNvGrpSpPr/>
          <p:nvPr/>
        </p:nvGrpSpPr>
        <p:grpSpPr>
          <a:xfrm>
            <a:off x="7389009" y="3429855"/>
            <a:ext cx="1967345" cy="1016000"/>
            <a:chOff x="7310569" y="3114239"/>
            <a:chExt cx="1967345" cy="1016000"/>
          </a:xfrm>
        </p:grpSpPr>
        <p:grpSp>
          <p:nvGrpSpPr>
            <p:cNvPr id="21" name="群組 20"/>
            <p:cNvGrpSpPr/>
            <p:nvPr/>
          </p:nvGrpSpPr>
          <p:grpSpPr>
            <a:xfrm>
              <a:off x="7310569" y="3114239"/>
              <a:ext cx="1967345" cy="1016000"/>
              <a:chOff x="683489" y="2913279"/>
              <a:chExt cx="1967345" cy="1016000"/>
            </a:xfrm>
          </p:grpSpPr>
          <p:sp>
            <p:nvSpPr>
              <p:cNvPr id="22" name="流程圖: 替代程序 21"/>
              <p:cNvSpPr/>
              <p:nvPr/>
            </p:nvSpPr>
            <p:spPr>
              <a:xfrm>
                <a:off x="683489" y="2913279"/>
                <a:ext cx="1967345" cy="1016000"/>
              </a:xfrm>
              <a:prstGeom prst="flowChartAlternateProcess">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23" name="流程圖: 接點 22"/>
              <p:cNvSpPr/>
              <p:nvPr/>
            </p:nvSpPr>
            <p:spPr>
              <a:xfrm>
                <a:off x="91901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流程圖: 接點 23"/>
              <p:cNvSpPr/>
              <p:nvPr/>
            </p:nvSpPr>
            <p:spPr>
              <a:xfrm>
                <a:off x="919019"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流程圖: 接點 24"/>
              <p:cNvSpPr/>
              <p:nvPr/>
            </p:nvSpPr>
            <p:spPr>
              <a:xfrm>
                <a:off x="914400" y="3582914"/>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流程圖: 接點 25"/>
              <p:cNvSpPr/>
              <p:nvPr/>
            </p:nvSpPr>
            <p:spPr>
              <a:xfrm>
                <a:off x="1246909" y="306647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流程圖: 接點 26"/>
              <p:cNvSpPr/>
              <p:nvPr/>
            </p:nvSpPr>
            <p:spPr>
              <a:xfrm>
                <a:off x="1246908"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流程圖: 接點 27"/>
              <p:cNvSpPr/>
              <p:nvPr/>
            </p:nvSpPr>
            <p:spPr>
              <a:xfrm>
                <a:off x="1246910" y="3587532"/>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流程圖: 接點 28"/>
              <p:cNvSpPr/>
              <p:nvPr/>
            </p:nvSpPr>
            <p:spPr>
              <a:xfrm>
                <a:off x="1570182" y="3328915"/>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流程圖: 接點 29"/>
              <p:cNvSpPr/>
              <p:nvPr/>
            </p:nvSpPr>
            <p:spPr>
              <a:xfrm>
                <a:off x="1570181" y="3591358"/>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流程圖: 接點 30"/>
              <p:cNvSpPr/>
              <p:nvPr/>
            </p:nvSpPr>
            <p:spPr>
              <a:xfrm>
                <a:off x="1570181" y="3069899"/>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5" name="流程圖: 接點 54"/>
            <p:cNvSpPr/>
            <p:nvPr/>
          </p:nvSpPr>
          <p:spPr>
            <a:xfrm>
              <a:off x="8520533" y="3264397"/>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流程圖: 接點 55"/>
            <p:cNvSpPr/>
            <p:nvPr/>
          </p:nvSpPr>
          <p:spPr>
            <a:xfrm>
              <a:off x="8520532" y="3526840"/>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流程圖: 接點 56"/>
            <p:cNvSpPr/>
            <p:nvPr/>
          </p:nvSpPr>
          <p:spPr>
            <a:xfrm>
              <a:off x="8520531" y="3783874"/>
              <a:ext cx="193963" cy="184728"/>
            </a:xfrm>
            <a:prstGeom prst="flowChartConnector">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9" name="文字方塊 58"/>
          <p:cNvSpPr txBox="1"/>
          <p:nvPr/>
        </p:nvSpPr>
        <p:spPr>
          <a:xfrm>
            <a:off x="2669271" y="4956889"/>
            <a:ext cx="1542471" cy="769441"/>
          </a:xfrm>
          <a:prstGeom prst="rect">
            <a:avLst/>
          </a:prstGeom>
          <a:noFill/>
        </p:spPr>
        <p:txBody>
          <a:bodyPr wrap="square" rtlCol="0">
            <a:spAutoFit/>
          </a:bodyPr>
          <a:lstStyle/>
          <a:p>
            <a:r>
              <a:rPr lang="en-US" altLang="zh-TW" sz="2200" dirty="0"/>
              <a:t>50%</a:t>
            </a:r>
            <a:r>
              <a:rPr lang="zh-TW" altLang="en-US" sz="2200" dirty="0"/>
              <a:t> </a:t>
            </a:r>
            <a:r>
              <a:rPr lang="en-US" altLang="zh-TW" sz="2200" dirty="0"/>
              <a:t>red</a:t>
            </a:r>
          </a:p>
          <a:p>
            <a:r>
              <a:rPr lang="en-US" altLang="zh-TW" sz="2200" dirty="0"/>
              <a:t>50%</a:t>
            </a:r>
            <a:r>
              <a:rPr lang="zh-TW" altLang="en-US" sz="2200" dirty="0"/>
              <a:t> </a:t>
            </a:r>
            <a:r>
              <a:rPr lang="en-US" altLang="zh-TW" sz="2200" dirty="0"/>
              <a:t>blue</a:t>
            </a:r>
          </a:p>
        </p:txBody>
      </p:sp>
      <p:sp>
        <p:nvSpPr>
          <p:cNvPr id="60" name="文字方塊 59"/>
          <p:cNvSpPr txBox="1"/>
          <p:nvPr/>
        </p:nvSpPr>
        <p:spPr>
          <a:xfrm>
            <a:off x="5319731" y="4956888"/>
            <a:ext cx="1236236" cy="769441"/>
          </a:xfrm>
          <a:prstGeom prst="rect">
            <a:avLst/>
          </a:prstGeom>
          <a:noFill/>
        </p:spPr>
        <p:txBody>
          <a:bodyPr wrap="none" rtlCol="0">
            <a:spAutoFit/>
          </a:bodyPr>
          <a:lstStyle/>
          <a:p>
            <a:r>
              <a:rPr lang="en-US" altLang="zh-TW" sz="2200" dirty="0"/>
              <a:t>75%</a:t>
            </a:r>
            <a:r>
              <a:rPr lang="zh-TW" altLang="en-US" sz="2200" dirty="0"/>
              <a:t> </a:t>
            </a:r>
            <a:r>
              <a:rPr lang="en-US" altLang="zh-TW" sz="2200" dirty="0"/>
              <a:t>red</a:t>
            </a:r>
          </a:p>
          <a:p>
            <a:r>
              <a:rPr lang="en-US" altLang="zh-TW" sz="2200" dirty="0"/>
              <a:t>25%</a:t>
            </a:r>
            <a:r>
              <a:rPr lang="zh-TW" altLang="en-US" sz="2200" dirty="0"/>
              <a:t> </a:t>
            </a:r>
            <a:r>
              <a:rPr lang="en-US" altLang="zh-TW" sz="2200" dirty="0"/>
              <a:t>blue</a:t>
            </a:r>
          </a:p>
        </p:txBody>
      </p:sp>
      <p:sp>
        <p:nvSpPr>
          <p:cNvPr id="61" name="文字方塊 60"/>
          <p:cNvSpPr txBox="1"/>
          <p:nvPr/>
        </p:nvSpPr>
        <p:spPr>
          <a:xfrm>
            <a:off x="7828058" y="4953853"/>
            <a:ext cx="1261371" cy="769441"/>
          </a:xfrm>
          <a:prstGeom prst="rect">
            <a:avLst/>
          </a:prstGeom>
          <a:noFill/>
        </p:spPr>
        <p:txBody>
          <a:bodyPr wrap="none" rtlCol="0">
            <a:spAutoFit/>
          </a:bodyPr>
          <a:lstStyle/>
          <a:p>
            <a:r>
              <a:rPr lang="en-US" altLang="zh-TW" sz="2200" dirty="0"/>
              <a:t>100%</a:t>
            </a:r>
            <a:r>
              <a:rPr lang="zh-TW" altLang="en-US" sz="2200" dirty="0"/>
              <a:t> </a:t>
            </a:r>
            <a:r>
              <a:rPr lang="en-US" altLang="zh-TW" sz="2200" dirty="0"/>
              <a:t>red</a:t>
            </a:r>
          </a:p>
          <a:p>
            <a:endParaRPr lang="en-US" altLang="zh-TW" sz="2200" dirty="0"/>
          </a:p>
        </p:txBody>
      </p:sp>
      <p:sp>
        <p:nvSpPr>
          <p:cNvPr id="2" name="文字方塊 1"/>
          <p:cNvSpPr txBox="1"/>
          <p:nvPr/>
        </p:nvSpPr>
        <p:spPr>
          <a:xfrm>
            <a:off x="2404705" y="2446340"/>
            <a:ext cx="6892977" cy="461665"/>
          </a:xfrm>
          <a:prstGeom prst="rect">
            <a:avLst/>
          </a:prstGeom>
          <a:noFill/>
        </p:spPr>
        <p:txBody>
          <a:bodyPr wrap="none" rtlCol="0">
            <a:spAutoFit/>
          </a:bodyPr>
          <a:lstStyle/>
          <a:p>
            <a:r>
              <a:rPr lang="zh-TW" altLang="en-US" sz="2400" dirty="0"/>
              <a:t>檢查個別的</a:t>
            </a:r>
            <a:r>
              <a:rPr lang="en-US" altLang="zh-TW" sz="2400" dirty="0"/>
              <a:t>data</a:t>
            </a:r>
            <a:r>
              <a:rPr lang="zh-TW" altLang="en-US" sz="2400" dirty="0"/>
              <a:t>何者只需要最少的資訊便可以表達</a:t>
            </a:r>
          </a:p>
        </p:txBody>
      </p:sp>
      <p:sp>
        <p:nvSpPr>
          <p:cNvPr id="12" name="文字方塊 11"/>
          <p:cNvSpPr txBox="1"/>
          <p:nvPr/>
        </p:nvSpPr>
        <p:spPr>
          <a:xfrm>
            <a:off x="463689" y="5997423"/>
            <a:ext cx="11264622" cy="461665"/>
          </a:xfrm>
          <a:prstGeom prst="rect">
            <a:avLst/>
          </a:prstGeom>
          <a:noFill/>
        </p:spPr>
        <p:txBody>
          <a:bodyPr wrap="none" rtlCol="0">
            <a:spAutoFit/>
          </a:bodyPr>
          <a:lstStyle/>
          <a:p>
            <a:r>
              <a:rPr lang="zh-TW" altLang="en-US" sz="2400" dirty="0"/>
              <a:t>結論：愈純淨的資料所需要的資訊量愈少，反之愈雜亂的資料需要的資訊量愈多。</a:t>
            </a:r>
          </a:p>
        </p:txBody>
      </p:sp>
    </p:spTree>
    <p:extLst>
      <p:ext uri="{BB962C8B-B14F-4D97-AF65-F5344CB8AC3E}">
        <p14:creationId xmlns:p14="http://schemas.microsoft.com/office/powerpoint/2010/main" val="24844535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201975" y="1278312"/>
                <a:ext cx="11749878" cy="2572840"/>
              </a:xfrm>
            </p:spPr>
            <p:txBody>
              <a:bodyPr/>
              <a:lstStyle/>
              <a:p>
                <a:pPr marL="0" indent="0">
                  <a:buNone/>
                </a:pPr>
                <a:r>
                  <a:rPr lang="en-US" altLang="zh-TW" dirty="0"/>
                  <a:t>Entropy</a:t>
                </a:r>
                <a:r>
                  <a:rPr lang="zh-TW" altLang="en-US" dirty="0"/>
                  <a:t>可以當作資訊量的一種度量方式，當</a:t>
                </a:r>
                <a:r>
                  <a:rPr lang="en-US" altLang="zh-TW" dirty="0"/>
                  <a:t>Entropy</a:t>
                </a:r>
                <a:r>
                  <a:rPr lang="zh-TW" altLang="en-US" dirty="0"/>
                  <a:t>越大代表資訊的凌亂程度越高。</a:t>
                </a:r>
                <a:endParaRPr lang="en-US" altLang="zh-TW" dirty="0"/>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𝐸𝑛𝑡𝑟𝑜𝑝𝑦</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e>
                      </m:d>
                      <m:r>
                        <a:rPr lang="en-US" altLang="zh-TW" b="0" i="1" smtClean="0">
                          <a:latin typeface="Cambria Math" panose="02040503050406030204" pitchFamily="18" charset="0"/>
                        </a:rPr>
                        <m:t>=</m:t>
                      </m:r>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𝑖</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𝐶</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m:t>
                              </m:r>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𝑖</m:t>
                              </m:r>
                            </m:sub>
                          </m:sSub>
                          <m:r>
                            <a:rPr lang="en-US" altLang="zh-TW" b="0" i="1" smtClean="0">
                              <a:latin typeface="Cambria Math" panose="02040503050406030204" pitchFamily="18" charset="0"/>
                            </a:rPr>
                            <m:t>𝑙𝑜𝑔</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𝑖</m:t>
                              </m:r>
                            </m:sub>
                          </m:sSub>
                        </m:e>
                      </m:nary>
                    </m:oMath>
                  </m:oMathPara>
                </a14:m>
                <a:endParaRPr lang="en-US" altLang="zh-TW" dirty="0"/>
              </a:p>
              <a:p>
                <a:pPr marL="0" indent="0">
                  <a:buNone/>
                </a:pPr>
                <a:r>
                  <a:rPr lang="zh-TW" altLang="en-US" dirty="0"/>
                  <a:t>其中</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𝑖</m:t>
                        </m:r>
                      </m:sub>
                    </m:sSub>
                  </m:oMath>
                </a14:m>
                <a:r>
                  <a:rPr lang="zh-TW" altLang="en-US" dirty="0"/>
                  <a:t>為類別</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b="0" i="1" smtClean="0">
                            <a:latin typeface="Cambria Math" panose="02040503050406030204" pitchFamily="18" charset="0"/>
                          </a:rPr>
                          <m:t>𝑖</m:t>
                        </m:r>
                      </m:sub>
                    </m:sSub>
                    <m:r>
                      <a:rPr lang="zh-TW" altLang="en-US" i="1">
                        <a:latin typeface="Cambria Math" panose="02040503050406030204" pitchFamily="18" charset="0"/>
                      </a:rPr>
                      <m:t>出現的</m:t>
                    </m:r>
                    <m:r>
                      <a:rPr lang="zh-TW" altLang="en-US" i="1" smtClean="0">
                        <a:latin typeface="Cambria Math" panose="02040503050406030204" pitchFamily="18" charset="0"/>
                      </a:rPr>
                      <m:t>機</m:t>
                    </m:r>
                    <m:r>
                      <a:rPr lang="zh-TW" altLang="en-US" i="1" dirty="0" smtClean="0">
                        <a:latin typeface="Cambria Math" panose="02040503050406030204" pitchFamily="18" charset="0"/>
                      </a:rPr>
                      <m:t>率</m:t>
                    </m:r>
                    <m:r>
                      <a:rPr lang="zh-TW" altLang="en-US" i="1" dirty="0">
                        <a:latin typeface="Cambria Math" panose="02040503050406030204" pitchFamily="18" charset="0"/>
                      </a:rPr>
                      <m:t>。</m:t>
                    </m:r>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201975" y="1278312"/>
                <a:ext cx="11749878" cy="2572840"/>
              </a:xfrm>
              <a:blipFill>
                <a:blip r:embed="rId2"/>
                <a:stretch>
                  <a:fillRect l="-1037" t="-4502" r="-259" b="-1659"/>
                </a:stretch>
              </a:blipFill>
            </p:spPr>
            <p:txBody>
              <a:bodyPr/>
              <a:lstStyle/>
              <a:p>
                <a:r>
                  <a:rPr lang="zh-TW" altLang="en-US">
                    <a:noFill/>
                  </a:rPr>
                  <a:t> </a:t>
                </a:r>
              </a:p>
            </p:txBody>
          </p:sp>
        </mc:Fallback>
      </mc:AlternateContent>
      <p:sp>
        <p:nvSpPr>
          <p:cNvPr id="4" name="文字方塊 3"/>
          <p:cNvSpPr txBox="1"/>
          <p:nvPr/>
        </p:nvSpPr>
        <p:spPr>
          <a:xfrm>
            <a:off x="81903" y="156542"/>
            <a:ext cx="11990023" cy="954107"/>
          </a:xfrm>
          <a:prstGeom prst="rect">
            <a:avLst/>
          </a:prstGeom>
          <a:noFill/>
        </p:spPr>
        <p:txBody>
          <a:bodyPr wrap="square" rtlCol="0">
            <a:spAutoFit/>
          </a:bodyPr>
          <a:lstStyle/>
          <a:p>
            <a:r>
              <a:rPr lang="zh-TW" altLang="en-US" sz="2800" dirty="0"/>
              <a:t>在建立決策樹的過程中，以資訊獲利</a:t>
            </a:r>
            <a:r>
              <a:rPr lang="en-US" altLang="zh-TW" sz="2800" dirty="0"/>
              <a:t>(Information gain)</a:t>
            </a:r>
            <a:r>
              <a:rPr lang="zh-TW" altLang="en-US" sz="2800" dirty="0"/>
              <a:t>為準則，選擇具有最大資訊獲利的值作為分類屬性，以</a:t>
            </a:r>
            <a:r>
              <a:rPr lang="en-US" altLang="zh-TW" sz="2800" dirty="0"/>
              <a:t>Entropy</a:t>
            </a:r>
            <a:r>
              <a:rPr lang="zh-TW" altLang="en-US" sz="2800" dirty="0"/>
              <a:t>為基礎。</a:t>
            </a:r>
          </a:p>
        </p:txBody>
      </p:sp>
      <mc:AlternateContent xmlns:mc="http://schemas.openxmlformats.org/markup-compatibility/2006" xmlns:a14="http://schemas.microsoft.com/office/drawing/2010/main">
        <mc:Choice Requires="a14">
          <p:sp>
            <p:nvSpPr>
              <p:cNvPr id="5" name="文字方塊 4"/>
              <p:cNvSpPr txBox="1"/>
              <p:nvPr/>
            </p:nvSpPr>
            <p:spPr>
              <a:xfrm>
                <a:off x="3125048" y="4216692"/>
                <a:ext cx="6108339" cy="96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𝐺𝑎𝑖𝑛</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𝑆</m:t>
                          </m:r>
                          <m:r>
                            <a:rPr lang="en-US" altLang="zh-TW" sz="2200" b="0" i="1" smtClean="0">
                              <a:latin typeface="Cambria Math" panose="02040503050406030204" pitchFamily="18" charset="0"/>
                            </a:rPr>
                            <m:t>, </m:t>
                          </m:r>
                          <m:r>
                            <a:rPr lang="en-US" altLang="zh-TW" sz="2200" b="0" i="1" smtClean="0">
                              <a:latin typeface="Cambria Math" panose="02040503050406030204" pitchFamily="18" charset="0"/>
                            </a:rPr>
                            <m:t>𝐴</m:t>
                          </m:r>
                        </m:e>
                      </m:d>
                      <m:r>
                        <a:rPr lang="en-US" altLang="zh-TW" sz="2200" b="0" i="1" smtClean="0">
                          <a:latin typeface="Cambria Math" panose="02040503050406030204" pitchFamily="18" charset="0"/>
                        </a:rPr>
                        <m:t>=</m:t>
                      </m:r>
                      <m:r>
                        <a:rPr lang="en-US" altLang="zh-TW" sz="2200" b="0" i="1" smtClean="0">
                          <a:latin typeface="Cambria Math" panose="02040503050406030204" pitchFamily="18" charset="0"/>
                        </a:rPr>
                        <m:t>𝐸𝑛𝑡𝑟𝑜𝑝𝑦</m:t>
                      </m:r>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𝑆</m:t>
                          </m:r>
                        </m:e>
                      </m:d>
                      <m:r>
                        <a:rPr lang="en-US" altLang="zh-TW" sz="2200" b="0" i="1" smtClean="0">
                          <a:latin typeface="Cambria Math" panose="02040503050406030204" pitchFamily="18" charset="0"/>
                        </a:rPr>
                        <m:t>−</m:t>
                      </m:r>
                      <m:nary>
                        <m:naryPr>
                          <m:chr m:val="∑"/>
                          <m:ctrlPr>
                            <a:rPr lang="en-US" altLang="zh-TW" sz="2200" b="0" i="1" smtClean="0">
                              <a:latin typeface="Cambria Math" panose="02040503050406030204" pitchFamily="18" charset="0"/>
                            </a:rPr>
                          </m:ctrlPr>
                        </m:naryPr>
                        <m:sub>
                          <m:r>
                            <m:rPr>
                              <m:brk m:alnAt="23"/>
                            </m:rPr>
                            <a:rPr lang="en-US" altLang="zh-TW" sz="2200" b="0" i="1" smtClean="0">
                              <a:latin typeface="Cambria Math" panose="02040503050406030204" pitchFamily="18" charset="0"/>
                            </a:rPr>
                            <m:t>𝑗</m:t>
                          </m:r>
                          <m:r>
                            <a:rPr lang="en-US" altLang="zh-TW" sz="2200" b="0" i="1" smtClean="0">
                              <a:latin typeface="Cambria Math" panose="02040503050406030204" pitchFamily="18" charset="0"/>
                            </a:rPr>
                            <m:t>=1</m:t>
                          </m:r>
                        </m:sub>
                        <m:sup>
                          <m:r>
                            <a:rPr lang="en-US" altLang="zh-TW" sz="2200" b="0" i="1" smtClean="0">
                              <a:latin typeface="Cambria Math" panose="02040503050406030204" pitchFamily="18" charset="0"/>
                            </a:rPr>
                            <m:t>𝑣</m:t>
                          </m:r>
                        </m:sup>
                        <m:e>
                          <m:f>
                            <m:fPr>
                              <m:ctrlPr>
                                <a:rPr lang="en-US" altLang="zh-TW" sz="2200" b="0" i="1" smtClean="0">
                                  <a:latin typeface="Cambria Math" panose="02040503050406030204" pitchFamily="18" charset="0"/>
                                </a:rPr>
                              </m:ctrlPr>
                            </m:fPr>
                            <m:num>
                              <m:d>
                                <m:dPr>
                                  <m:begChr m:val="|"/>
                                  <m:endChr m:val="|"/>
                                  <m:ctrlPr>
                                    <a:rPr lang="en-US" altLang="zh-TW" sz="2200" b="0" i="1" smtClean="0">
                                      <a:latin typeface="Cambria Math" panose="02040503050406030204" pitchFamily="18" charset="0"/>
                                    </a:rPr>
                                  </m:ctrlPr>
                                </m:dPr>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𝑗</m:t>
                                      </m:r>
                                    </m:sub>
                                  </m:sSub>
                                </m:e>
                              </m:d>
                            </m:num>
                            <m:den>
                              <m:d>
                                <m:dPr>
                                  <m:begChr m:val="|"/>
                                  <m:endChr m:val="|"/>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𝑆</m:t>
                                  </m:r>
                                </m:e>
                              </m:d>
                            </m:den>
                          </m:f>
                          <m:r>
                            <a:rPr lang="en-US" altLang="zh-TW" sz="2200" b="0" i="1" smtClean="0">
                              <a:latin typeface="Cambria Math" panose="02040503050406030204" pitchFamily="18" charset="0"/>
                            </a:rPr>
                            <m:t>𝐸𝑛𝑡𝑟𝑜𝑝𝑦</m:t>
                          </m:r>
                          <m:d>
                            <m:dPr>
                              <m:ctrlPr>
                                <a:rPr lang="en-US" altLang="zh-TW" sz="2200" b="0" i="1" smtClean="0">
                                  <a:latin typeface="Cambria Math" panose="02040503050406030204" pitchFamily="18" charset="0"/>
                                </a:rPr>
                              </m:ctrlPr>
                            </m:dPr>
                            <m:e>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𝑆</m:t>
                                  </m:r>
                                </m:e>
                                <m:sub>
                                  <m:r>
                                    <a:rPr lang="en-US" altLang="zh-TW" sz="2200" b="0" i="1" smtClean="0">
                                      <a:latin typeface="Cambria Math" panose="02040503050406030204" pitchFamily="18" charset="0"/>
                                    </a:rPr>
                                    <m:t>𝑗</m:t>
                                  </m:r>
                                </m:sub>
                              </m:sSub>
                            </m:e>
                          </m:d>
                        </m:e>
                      </m:nary>
                    </m:oMath>
                  </m:oMathPara>
                </a14:m>
                <a:endParaRPr lang="zh-TW" altLang="en-US" sz="22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3125048" y="4216692"/>
                <a:ext cx="6108339" cy="962443"/>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201975" y="4001249"/>
                <a:ext cx="275248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𝐼𝑛𝑓𝑜𝑟𝑚𝑎𝑡𝑖𝑜𝑛</m:t>
                      </m:r>
                      <m:r>
                        <a:rPr lang="en-US" altLang="zh-TW" sz="2200" b="0" i="1" smtClean="0">
                          <a:latin typeface="Cambria Math" panose="02040503050406030204" pitchFamily="18" charset="0"/>
                        </a:rPr>
                        <m:t> </m:t>
                      </m:r>
                      <m:r>
                        <a:rPr lang="en-US" altLang="zh-TW" sz="2200" i="1">
                          <a:latin typeface="Cambria Math" panose="02040503050406030204" pitchFamily="18" charset="0"/>
                        </a:rPr>
                        <m:t>𝐺𝑎𝑖𝑛</m:t>
                      </m:r>
                      <m:r>
                        <a:rPr lang="en-US" altLang="zh-TW" sz="2200" b="0" i="1" smtClean="0">
                          <a:latin typeface="Cambria Math" panose="02040503050406030204" pitchFamily="18" charset="0"/>
                        </a:rPr>
                        <m:t> : </m:t>
                      </m:r>
                    </m:oMath>
                  </m:oMathPara>
                </a14:m>
                <a:endParaRPr lang="zh-TW" altLang="en-US" sz="2200" dirty="0"/>
              </a:p>
            </p:txBody>
          </p:sp>
        </mc:Choice>
        <mc:Fallback xmlns="">
          <p:sp>
            <p:nvSpPr>
              <p:cNvPr id="6" name="矩形 5"/>
              <p:cNvSpPr>
                <a:spLocks noRot="1" noChangeAspect="1" noMove="1" noResize="1" noEditPoints="1" noAdjustHandles="1" noChangeArrowheads="1" noChangeShapeType="1" noTextEdit="1"/>
              </p:cNvSpPr>
              <p:nvPr/>
            </p:nvSpPr>
            <p:spPr>
              <a:xfrm>
                <a:off x="201975" y="4001249"/>
                <a:ext cx="2752485" cy="430887"/>
              </a:xfrm>
              <a:prstGeom prst="rect">
                <a:avLst/>
              </a:prstGeom>
              <a:blipFill>
                <a:blip r:embed="rId4"/>
                <a:stretch>
                  <a:fillRect b="-1549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01975" y="5479534"/>
                <a:ext cx="3702809" cy="1242391"/>
              </a:xfrm>
              <a:prstGeom prst="rect">
                <a:avLst/>
              </a:prstGeom>
            </p:spPr>
            <p:txBody>
              <a:bodyPr wrap="none">
                <a:spAutoFit/>
              </a:bodyPr>
              <a:lstStyle/>
              <a:p>
                <a14:m>
                  <m:oMath xmlns:m="http://schemas.openxmlformats.org/officeDocument/2006/math">
                    <m:r>
                      <a:rPr lang="en-US" altLang="zh-TW" i="1" smtClean="0">
                        <a:latin typeface="Cambria Math" panose="02040503050406030204" pitchFamily="18" charset="0"/>
                      </a:rPr>
                      <m:t>𝐸𝑛𝑡𝑟𝑜𝑝𝑦</m:t>
                    </m:r>
                    <m:d>
                      <m:dPr>
                        <m:ctrlPr>
                          <a:rPr lang="en-US" altLang="zh-TW" i="1">
                            <a:latin typeface="Cambria Math" panose="02040503050406030204" pitchFamily="18" charset="0"/>
                          </a:rPr>
                        </m:ctrlPr>
                      </m:dPr>
                      <m:e>
                        <m:r>
                          <a:rPr lang="en-US" altLang="zh-TW" i="1" smtClean="0">
                            <a:latin typeface="Cambria Math" panose="02040503050406030204" pitchFamily="18" charset="0"/>
                          </a:rPr>
                          <m:t>𝑆</m:t>
                        </m:r>
                      </m:e>
                    </m:d>
                  </m:oMath>
                </a14:m>
                <a:r>
                  <a:rPr lang="zh-TW" altLang="en-US" dirty="0"/>
                  <a:t>為整個資料集</a:t>
                </a:r>
                <a14:m>
                  <m:oMath xmlns:m="http://schemas.openxmlformats.org/officeDocument/2006/math">
                    <m:r>
                      <a:rPr lang="en-US" altLang="zh-TW" i="1" smtClean="0">
                        <a:latin typeface="Cambria Math" panose="02040503050406030204" pitchFamily="18" charset="0"/>
                      </a:rPr>
                      <m:t>𝑆</m:t>
                    </m:r>
                  </m:oMath>
                </a14:m>
                <a:r>
                  <a:rPr lang="zh-TW" altLang="en-US" dirty="0"/>
                  <a:t>的亂度</a:t>
                </a:r>
                <a:endParaRPr lang="en-US" altLang="zh-TW" dirty="0"/>
              </a:p>
              <a:p>
                <a:endParaRPr lang="en-US" altLang="zh-TW" dirty="0"/>
              </a:p>
              <a:p>
                <a14:m>
                  <m:oMath xmlns:m="http://schemas.openxmlformats.org/officeDocument/2006/math">
                    <m:r>
                      <a:rPr lang="en-US" altLang="zh-TW" i="1">
                        <a:latin typeface="Cambria Math" panose="02040503050406030204" pitchFamily="18" charset="0"/>
                      </a:rPr>
                      <m:t>𝐸𝑛𝑡𝑟𝑜𝑝𝑦</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b="0" i="1" smtClean="0">
                                <a:latin typeface="Cambria Math" panose="02040503050406030204" pitchFamily="18" charset="0"/>
                              </a:rPr>
                              <m:t>𝑗</m:t>
                            </m:r>
                          </m:sub>
                        </m:sSub>
                      </m:e>
                    </m:d>
                  </m:oMath>
                </a14:m>
                <a:r>
                  <a:rPr lang="zh-TW" altLang="en-US" dirty="0"/>
                  <a:t>為資料子集合</a:t>
                </a:r>
                <a14:m>
                  <m:oMath xmlns:m="http://schemas.openxmlformats.org/officeDocument/2006/math">
                    <m:sSub>
                      <m:sSubPr>
                        <m:ctrlPr>
                          <a:rPr lang="en-US" altLang="zh-TW" i="1" smtClean="0">
                            <a:latin typeface="Cambria Math" panose="02040503050406030204" pitchFamily="18" charset="0"/>
                          </a:rPr>
                        </m:ctrlPr>
                      </m:sSubPr>
                      <m:e>
                        <m:r>
                          <a:rPr lang="en-US" altLang="zh-TW" i="1">
                            <a:latin typeface="Cambria Math" panose="02040503050406030204" pitchFamily="18" charset="0"/>
                          </a:rPr>
                          <m:t>𝑆</m:t>
                        </m:r>
                      </m:e>
                      <m:sub>
                        <m:r>
                          <a:rPr lang="en-US" altLang="zh-TW" b="0" i="1" smtClean="0">
                            <a:latin typeface="Cambria Math" panose="02040503050406030204" pitchFamily="18" charset="0"/>
                          </a:rPr>
                          <m:t>𝑗</m:t>
                        </m:r>
                      </m:sub>
                    </m:sSub>
                  </m:oMath>
                </a14:m>
                <a:r>
                  <a:rPr lang="zh-TW" altLang="en-US" dirty="0"/>
                  <a:t>的亂度</a:t>
                </a:r>
                <a:endParaRPr lang="en-US" altLang="zh-TW" dirty="0"/>
              </a:p>
              <a:p>
                <a:endParaRPr lang="en-US" altLang="zh-TW" dirty="0"/>
              </a:p>
            </p:txBody>
          </p:sp>
        </mc:Choice>
        <mc:Fallback xmlns="">
          <p:sp>
            <p:nvSpPr>
              <p:cNvPr id="7" name="矩形 6"/>
              <p:cNvSpPr>
                <a:spLocks noRot="1" noChangeAspect="1" noMove="1" noResize="1" noEditPoints="1" noAdjustHandles="1" noChangeArrowheads="1" noChangeShapeType="1" noTextEdit="1"/>
              </p:cNvSpPr>
              <p:nvPr/>
            </p:nvSpPr>
            <p:spPr>
              <a:xfrm>
                <a:off x="201975" y="5479534"/>
                <a:ext cx="3702809" cy="1242391"/>
              </a:xfrm>
              <a:prstGeom prst="rect">
                <a:avLst/>
              </a:prstGeom>
              <a:blipFill>
                <a:blip r:embed="rId5"/>
                <a:stretch>
                  <a:fillRect l="-329" t="-2941" r="-82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210612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37835" y="181552"/>
            <a:ext cx="10515600" cy="1076904"/>
          </a:xfrm>
        </p:spPr>
        <p:txBody>
          <a:bodyPr/>
          <a:lstStyle/>
          <a:p>
            <a:pPr marL="0" indent="0">
              <a:buNone/>
            </a:pPr>
            <a:r>
              <a:rPr lang="zh-TW" altLang="en-US" dirty="0"/>
              <a:t>假設我們有一天氣評估系統，有一些評估的屬性</a:t>
            </a:r>
            <a:r>
              <a:rPr lang="en-US" altLang="zh-TW" dirty="0"/>
              <a:t>(</a:t>
            </a:r>
            <a:r>
              <a:rPr lang="zh-TW" altLang="en-US" dirty="0"/>
              <a:t>風力，濕度等</a:t>
            </a:r>
            <a:r>
              <a:rPr lang="en-US" altLang="zh-TW" dirty="0"/>
              <a:t>)</a:t>
            </a:r>
            <a:r>
              <a:rPr lang="zh-TW" altLang="en-US" dirty="0"/>
              <a:t>，</a:t>
            </a:r>
            <a:endParaRPr lang="en-US" altLang="zh-TW" dirty="0"/>
          </a:p>
          <a:p>
            <a:pPr marL="0" indent="0">
              <a:buNone/>
            </a:pPr>
            <a:r>
              <a:rPr lang="zh-TW" altLang="en-US" dirty="0"/>
              <a:t>我們希望透過這些屬性來決定是否可以打網球</a:t>
            </a:r>
            <a:endParaRPr lang="en-US" altLang="zh-TW" dirty="0"/>
          </a:p>
          <a:p>
            <a:endParaRPr lang="zh-TW" altLang="en-US" dirty="0"/>
          </a:p>
        </p:txBody>
      </p:sp>
      <p:pic>
        <p:nvPicPr>
          <p:cNvPr id="5" name="圖片 4"/>
          <p:cNvPicPr>
            <a:picLocks noChangeAspect="1"/>
          </p:cNvPicPr>
          <p:nvPr/>
        </p:nvPicPr>
        <p:blipFill>
          <a:blip r:embed="rId2"/>
          <a:stretch>
            <a:fillRect/>
          </a:stretch>
        </p:blipFill>
        <p:spPr>
          <a:xfrm>
            <a:off x="1782617" y="1258456"/>
            <a:ext cx="8523314" cy="5327071"/>
          </a:xfrm>
          <a:prstGeom prst="rect">
            <a:avLst/>
          </a:prstGeom>
        </p:spPr>
      </p:pic>
    </p:spTree>
    <p:extLst>
      <p:ext uri="{BB962C8B-B14F-4D97-AF65-F5344CB8AC3E}">
        <p14:creationId xmlns:p14="http://schemas.microsoft.com/office/powerpoint/2010/main" val="14210159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stretch>
            <a:fillRect/>
          </a:stretch>
        </p:blipFill>
        <p:spPr>
          <a:xfrm>
            <a:off x="2309091" y="2047009"/>
            <a:ext cx="7555346" cy="4722091"/>
          </a:xfrm>
          <a:prstGeom prst="rect">
            <a:avLst/>
          </a:prstGeom>
        </p:spPr>
      </p:pic>
      <p:sp>
        <p:nvSpPr>
          <p:cNvPr id="3" name="內容版面配置區 2"/>
          <p:cNvSpPr>
            <a:spLocks noGrp="1"/>
          </p:cNvSpPr>
          <p:nvPr>
            <p:ph idx="1"/>
          </p:nvPr>
        </p:nvSpPr>
        <p:spPr>
          <a:xfrm>
            <a:off x="237835" y="181552"/>
            <a:ext cx="10515600" cy="1767321"/>
          </a:xfrm>
        </p:spPr>
        <p:txBody>
          <a:bodyPr>
            <a:normAutofit fontScale="92500" lnSpcReduction="10000"/>
          </a:bodyPr>
          <a:lstStyle/>
          <a:p>
            <a:pPr marL="0" indent="0">
              <a:buNone/>
            </a:pPr>
            <a:r>
              <a:rPr lang="zh-TW" altLang="en-US" dirty="0"/>
              <a:t>在這個資料集中，有關風力的資料</a:t>
            </a:r>
            <a:endParaRPr lang="en-US" altLang="zh-TW" dirty="0"/>
          </a:p>
          <a:p>
            <a:pPr marL="0" indent="0">
              <a:buNone/>
            </a:pPr>
            <a:r>
              <a:rPr lang="en-US" altLang="zh-TW" dirty="0"/>
              <a:t>Wind = True </a:t>
            </a:r>
            <a:r>
              <a:rPr lang="zh-TW" altLang="en-US" dirty="0"/>
              <a:t>有</a:t>
            </a:r>
            <a:r>
              <a:rPr lang="en-US" altLang="zh-TW" dirty="0"/>
              <a:t>6</a:t>
            </a:r>
            <a:r>
              <a:rPr lang="zh-TW" altLang="en-US" dirty="0"/>
              <a:t>筆，其中有</a:t>
            </a:r>
            <a:r>
              <a:rPr lang="en-US" altLang="zh-TW" dirty="0"/>
              <a:t>3</a:t>
            </a:r>
            <a:r>
              <a:rPr lang="zh-TW" altLang="en-US" dirty="0"/>
              <a:t>個正例，</a:t>
            </a:r>
            <a:r>
              <a:rPr lang="en-US" altLang="zh-TW" dirty="0"/>
              <a:t>3</a:t>
            </a:r>
            <a:r>
              <a:rPr lang="zh-TW" altLang="en-US" dirty="0"/>
              <a:t>個反例</a:t>
            </a:r>
            <a:endParaRPr lang="en-US" altLang="zh-TW" dirty="0"/>
          </a:p>
          <a:p>
            <a:pPr marL="0" indent="0">
              <a:buNone/>
            </a:pPr>
            <a:r>
              <a:rPr lang="en-US" altLang="zh-TW" dirty="0"/>
              <a:t>Wind = False</a:t>
            </a:r>
            <a:r>
              <a:rPr lang="zh-TW" altLang="en-US" dirty="0"/>
              <a:t>有</a:t>
            </a:r>
            <a:r>
              <a:rPr lang="en-US" altLang="zh-TW" dirty="0"/>
              <a:t>8</a:t>
            </a:r>
            <a:r>
              <a:rPr lang="zh-TW" altLang="en-US" dirty="0"/>
              <a:t>筆，其中有</a:t>
            </a:r>
            <a:r>
              <a:rPr lang="en-US" altLang="zh-TW" dirty="0"/>
              <a:t>6</a:t>
            </a:r>
            <a:r>
              <a:rPr lang="zh-TW" altLang="en-US" dirty="0"/>
              <a:t>個正例，</a:t>
            </a:r>
            <a:r>
              <a:rPr lang="en-US" altLang="zh-TW" dirty="0"/>
              <a:t>2</a:t>
            </a:r>
            <a:r>
              <a:rPr lang="zh-TW" altLang="en-US" dirty="0"/>
              <a:t>個反例</a:t>
            </a:r>
            <a:endParaRPr lang="en-US" altLang="zh-TW" dirty="0"/>
          </a:p>
          <a:p>
            <a:pPr marL="0" indent="0">
              <a:buNone/>
            </a:pPr>
            <a:r>
              <a:rPr lang="zh-TW" altLang="en-US" dirty="0"/>
              <a:t>我們想要知道風力這個屬性的資訊獲利是多少</a:t>
            </a:r>
            <a:endParaRPr lang="en-US" altLang="zh-TW" dirty="0"/>
          </a:p>
          <a:p>
            <a:pPr marL="0" indent="0">
              <a:buNone/>
            </a:pPr>
            <a:endParaRPr lang="en-US" altLang="zh-TW" dirty="0"/>
          </a:p>
          <a:p>
            <a:endParaRPr lang="zh-TW" altLang="en-US" dirty="0"/>
          </a:p>
        </p:txBody>
      </p:sp>
    </p:spTree>
    <p:extLst>
      <p:ext uri="{BB962C8B-B14F-4D97-AF65-F5344CB8AC3E}">
        <p14:creationId xmlns:p14="http://schemas.microsoft.com/office/powerpoint/2010/main" val="10967628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37835" y="181553"/>
            <a:ext cx="10515600" cy="847574"/>
          </a:xfrm>
        </p:spPr>
        <p:txBody>
          <a:bodyPr>
            <a:normAutofit/>
          </a:bodyPr>
          <a:lstStyle/>
          <a:p>
            <a:pPr marL="0" indent="0">
              <a:buNone/>
            </a:pPr>
            <a:r>
              <a:rPr lang="zh-TW" altLang="en-US" dirty="0"/>
              <a:t>風力資訊獲利計算如下</a:t>
            </a:r>
            <a:endParaRPr lang="en-US" altLang="zh-TW" dirty="0"/>
          </a:p>
          <a:p>
            <a:endParaRPr lang="zh-TW" altLang="en-US" dirty="0"/>
          </a:p>
        </p:txBody>
      </p:sp>
      <p:sp>
        <p:nvSpPr>
          <p:cNvPr id="4" name="橢圓 3"/>
          <p:cNvSpPr/>
          <p:nvPr/>
        </p:nvSpPr>
        <p:spPr>
          <a:xfrm>
            <a:off x="5491635" y="1637020"/>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Wind</a:t>
            </a:r>
            <a:endParaRPr lang="zh-TW" altLang="en-US" dirty="0"/>
          </a:p>
        </p:txBody>
      </p:sp>
      <p:cxnSp>
        <p:nvCxnSpPr>
          <p:cNvPr id="6" name="直線單箭頭接點 5"/>
          <p:cNvCxnSpPr>
            <a:cxnSpLocks/>
            <a:stCxn id="4" idx="4"/>
            <a:endCxn id="34" idx="0"/>
          </p:cNvCxnSpPr>
          <p:nvPr/>
        </p:nvCxnSpPr>
        <p:spPr>
          <a:xfrm>
            <a:off x="6429126" y="2338984"/>
            <a:ext cx="2309029" cy="13148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直線單箭頭接點 6"/>
          <p:cNvCxnSpPr>
            <a:cxnSpLocks/>
            <a:stCxn id="4" idx="4"/>
            <a:endCxn id="32" idx="0"/>
          </p:cNvCxnSpPr>
          <p:nvPr/>
        </p:nvCxnSpPr>
        <p:spPr>
          <a:xfrm flipH="1">
            <a:off x="4502727" y="2338984"/>
            <a:ext cx="1926399" cy="131485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 name="文字方塊 1"/>
              <p:cNvSpPr txBox="1"/>
              <p:nvPr/>
            </p:nvSpPr>
            <p:spPr>
              <a:xfrm>
                <a:off x="4311071" y="636940"/>
                <a:ext cx="4374531" cy="764953"/>
              </a:xfrm>
              <a:prstGeom prst="rect">
                <a:avLst/>
              </a:prstGeom>
              <a:noFill/>
            </p:spPr>
            <p:txBody>
              <a:bodyPr wrap="square" rtlCol="0">
                <a:spAutoFit/>
              </a:bodyPr>
              <a:lstStyle/>
              <a:p>
                <a:pPr algn="ctr"/>
                <a:r>
                  <a:rPr lang="en-US" altLang="zh-TW" dirty="0"/>
                  <a:t>S(9+, 5-)</a:t>
                </a:r>
              </a:p>
              <a:p>
                <a14:m>
                  <m:oMath xmlns:m="http://schemas.openxmlformats.org/officeDocument/2006/math">
                    <m:r>
                      <a:rPr lang="en-US" altLang="zh-TW" b="0" i="1" smtClean="0">
                        <a:latin typeface="Cambria Math" panose="02040503050406030204" pitchFamily="18" charset="0"/>
                      </a:rPr>
                      <m:t>𝐸𝑛𝑡𝑟𝑜𝑝𝑦</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e>
                    </m:d>
                  </m:oMath>
                </a14:m>
                <a:r>
                  <a:rPr lang="zh-TW" altLang="en-US" dirty="0"/>
                  <a:t> </a:t>
                </a:r>
                <a:r>
                  <a:rPr lang="en-US" altLang="zh-TW" dirty="0"/>
                  <a:t>=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9</m:t>
                        </m:r>
                      </m:num>
                      <m:den>
                        <m:r>
                          <a:rPr lang="en-US" altLang="zh-TW" b="0" i="1" smtClean="0">
                            <a:latin typeface="Cambria Math" panose="02040503050406030204" pitchFamily="18" charset="0"/>
                          </a:rPr>
                          <m:t>14</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9</m:t>
                        </m:r>
                      </m:num>
                      <m:den>
                        <m:r>
                          <a:rPr lang="en-US" altLang="zh-TW" b="0" i="1" smtClean="0">
                            <a:latin typeface="Cambria Math" panose="02040503050406030204" pitchFamily="18" charset="0"/>
                          </a:rPr>
                          <m:t>14</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r>
                          <a:rPr lang="en-US" altLang="zh-TW" i="1">
                            <a:latin typeface="Cambria Math" panose="02040503050406030204" pitchFamily="18" charset="0"/>
                          </a:rPr>
                          <m:t>5</m:t>
                        </m:r>
                      </m:num>
                      <m:den>
                        <m:r>
                          <a:rPr lang="en-US" altLang="zh-TW" b="0" i="1" smtClean="0">
                            <a:latin typeface="Cambria Math" panose="02040503050406030204" pitchFamily="18" charset="0"/>
                          </a:rPr>
                          <m:t>14</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i="1">
                            <a:latin typeface="Cambria Math" panose="02040503050406030204" pitchFamily="18" charset="0"/>
                          </a:rPr>
                          <m:t>5</m:t>
                        </m:r>
                      </m:num>
                      <m:den>
                        <m:r>
                          <a:rPr lang="en-US" altLang="zh-TW" b="0" i="1" smtClean="0">
                            <a:latin typeface="Cambria Math" panose="02040503050406030204" pitchFamily="18" charset="0"/>
                          </a:rPr>
                          <m:t>14</m:t>
                        </m:r>
                      </m:den>
                    </m:f>
                  </m:oMath>
                </a14:m>
                <a:r>
                  <a:rPr lang="en-US" altLang="zh-TW" dirty="0"/>
                  <a:t>)</a:t>
                </a:r>
                <a:r>
                  <a:rPr lang="zh-TW" altLang="en-US" dirty="0"/>
                  <a:t> </a:t>
                </a:r>
                <a:r>
                  <a:rPr lang="en-US" altLang="zh-TW" dirty="0"/>
                  <a:t>=</a:t>
                </a:r>
                <a:r>
                  <a:rPr lang="zh-TW" altLang="en-US" dirty="0"/>
                  <a:t> </a:t>
                </a:r>
                <a:r>
                  <a:rPr lang="en-US" altLang="zh-TW" dirty="0">
                    <a:solidFill>
                      <a:srgbClr val="FF0000"/>
                    </a:solidFill>
                  </a:rPr>
                  <a:t>0.94</a:t>
                </a:r>
                <a:r>
                  <a:rPr lang="en-US" altLang="zh-TW" dirty="0"/>
                  <a:t> </a:t>
                </a:r>
                <a:endParaRPr lang="zh-TW" altLang="en-US" dirty="0"/>
              </a:p>
            </p:txBody>
          </p:sp>
        </mc:Choice>
        <mc:Fallback xmlns="">
          <p:sp>
            <p:nvSpPr>
              <p:cNvPr id="2" name="文字方塊 1"/>
              <p:cNvSpPr txBox="1">
                <a:spLocks noRot="1" noChangeAspect="1" noMove="1" noResize="1" noEditPoints="1" noAdjustHandles="1" noChangeArrowheads="1" noChangeShapeType="1" noTextEdit="1"/>
              </p:cNvSpPr>
              <p:nvPr/>
            </p:nvSpPr>
            <p:spPr>
              <a:xfrm>
                <a:off x="4311071" y="636940"/>
                <a:ext cx="4374531" cy="764953"/>
              </a:xfrm>
              <a:prstGeom prst="rect">
                <a:avLst/>
              </a:prstGeom>
              <a:blipFill>
                <a:blip r:embed="rId2"/>
                <a:stretch>
                  <a:fillRect l="-279" t="-3968" b="-3968"/>
                </a:stretch>
              </a:blipFill>
            </p:spPr>
            <p:txBody>
              <a:bodyPr/>
              <a:lstStyle/>
              <a:p>
                <a:r>
                  <a:rPr lang="zh-TW" altLang="en-US">
                    <a:noFill/>
                  </a:rPr>
                  <a:t> </a:t>
                </a:r>
              </a:p>
            </p:txBody>
          </p:sp>
        </mc:Fallback>
      </mc:AlternateContent>
      <p:sp>
        <p:nvSpPr>
          <p:cNvPr id="30" name="文字方塊 29"/>
          <p:cNvSpPr txBox="1"/>
          <p:nvPr/>
        </p:nvSpPr>
        <p:spPr>
          <a:xfrm>
            <a:off x="5021651" y="2427411"/>
            <a:ext cx="599972" cy="369332"/>
          </a:xfrm>
          <a:prstGeom prst="rect">
            <a:avLst/>
          </a:prstGeom>
          <a:noFill/>
        </p:spPr>
        <p:txBody>
          <a:bodyPr wrap="square" rtlCol="0">
            <a:spAutoFit/>
          </a:bodyPr>
          <a:lstStyle/>
          <a:p>
            <a:r>
              <a:rPr lang="en-US" altLang="zh-TW" dirty="0"/>
              <a:t>True</a:t>
            </a:r>
            <a:endParaRPr lang="zh-TW" altLang="en-US" dirty="0"/>
          </a:p>
        </p:txBody>
      </p:sp>
      <p:sp>
        <p:nvSpPr>
          <p:cNvPr id="31" name="文字方塊 30"/>
          <p:cNvSpPr txBox="1"/>
          <p:nvPr/>
        </p:nvSpPr>
        <p:spPr>
          <a:xfrm>
            <a:off x="7496342" y="2471623"/>
            <a:ext cx="652936" cy="369332"/>
          </a:xfrm>
          <a:prstGeom prst="rect">
            <a:avLst/>
          </a:prstGeom>
          <a:noFill/>
        </p:spPr>
        <p:txBody>
          <a:bodyPr wrap="square" rtlCol="0">
            <a:spAutoFit/>
          </a:bodyPr>
          <a:lstStyle/>
          <a:p>
            <a:r>
              <a:rPr lang="en-US" altLang="zh-TW" dirty="0"/>
              <a:t>False</a:t>
            </a:r>
            <a:endParaRPr lang="zh-TW" altLang="en-US" dirty="0"/>
          </a:p>
        </p:txBody>
      </p:sp>
      <mc:AlternateContent xmlns:mc="http://schemas.openxmlformats.org/markup-compatibility/2006" xmlns:a14="http://schemas.microsoft.com/office/drawing/2010/main">
        <mc:Choice Requires="a14">
          <p:sp>
            <p:nvSpPr>
              <p:cNvPr id="32" name="矩形 31"/>
              <p:cNvSpPr/>
              <p:nvPr/>
            </p:nvSpPr>
            <p:spPr>
              <a:xfrm>
                <a:off x="2262908" y="3653836"/>
                <a:ext cx="4479637" cy="786947"/>
              </a:xfrm>
              <a:prstGeom prst="rect">
                <a:avLst/>
              </a:prstGeom>
            </p:spPr>
            <p:txBody>
              <a:bodyPr wrap="square">
                <a:spAutoFit/>
              </a:bodyPr>
              <a:lstStyle/>
              <a:p>
                <a:pPr algn="ct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𝑇𝑟𝑢𝑒</m:t>
                        </m:r>
                      </m:sub>
                    </m:sSub>
                  </m:oMath>
                </a14:m>
                <a:r>
                  <a:rPr lang="en-US" altLang="zh-TW" dirty="0"/>
                  <a:t>(3+, 3-)</a:t>
                </a:r>
              </a:p>
              <a:p>
                <a14:m>
                  <m:oMath xmlns:m="http://schemas.openxmlformats.org/officeDocument/2006/math">
                    <m:r>
                      <a:rPr lang="en-US" altLang="zh-TW" b="0" i="1" smtClean="0">
                        <a:latin typeface="Cambria Math" panose="02040503050406030204" pitchFamily="18" charset="0"/>
                      </a:rPr>
                      <m:t>𝐸𝑛𝑡𝑟𝑜𝑝𝑦</m:t>
                    </m:r>
                    <m:d>
                      <m:dPr>
                        <m:ctrlPr>
                          <a:rPr lang="en-US" altLang="zh-TW" b="0"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𝑇𝑟𝑢𝑒</m:t>
                            </m:r>
                          </m:sub>
                        </m:sSub>
                      </m:e>
                    </m:d>
                  </m:oMath>
                </a14:m>
                <a:r>
                  <a:rPr lang="zh-TW" altLang="en-US" dirty="0"/>
                  <a:t> </a:t>
                </a:r>
                <a:r>
                  <a:rPr lang="en-US" altLang="zh-TW" dirty="0"/>
                  <a:t>=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3</m:t>
                        </m:r>
                      </m:num>
                      <m:den>
                        <m:r>
                          <a:rPr lang="en-US" altLang="zh-TW" b="0" i="1" smtClean="0">
                            <a:latin typeface="Cambria Math" panose="02040503050406030204" pitchFamily="18" charset="0"/>
                          </a:rPr>
                          <m:t>6</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3</m:t>
                        </m:r>
                      </m:num>
                      <m:den>
                        <m:r>
                          <a:rPr lang="en-US" altLang="zh-TW" b="0" i="1" smtClean="0">
                            <a:latin typeface="Cambria Math" panose="02040503050406030204" pitchFamily="18" charset="0"/>
                          </a:rPr>
                          <m:t>6</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3</m:t>
                        </m:r>
                      </m:num>
                      <m:den>
                        <m:r>
                          <a:rPr lang="en-US" altLang="zh-TW" b="0" i="1" smtClean="0">
                            <a:latin typeface="Cambria Math" panose="02040503050406030204" pitchFamily="18" charset="0"/>
                          </a:rPr>
                          <m:t>6</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3</m:t>
                        </m:r>
                      </m:num>
                      <m:den>
                        <m:r>
                          <a:rPr lang="en-US" altLang="zh-TW" b="0" i="1" smtClean="0">
                            <a:latin typeface="Cambria Math" panose="02040503050406030204" pitchFamily="18" charset="0"/>
                          </a:rPr>
                          <m:t>6</m:t>
                        </m:r>
                      </m:den>
                    </m:f>
                  </m:oMath>
                </a14:m>
                <a:r>
                  <a:rPr lang="en-US" altLang="zh-TW" dirty="0"/>
                  <a:t>)</a:t>
                </a:r>
                <a:r>
                  <a:rPr lang="zh-TW" altLang="en-US" dirty="0"/>
                  <a:t> </a:t>
                </a:r>
                <a:r>
                  <a:rPr lang="en-US" altLang="zh-TW" dirty="0"/>
                  <a:t>=</a:t>
                </a:r>
                <a:r>
                  <a:rPr lang="zh-TW" altLang="en-US" dirty="0"/>
                  <a:t> </a:t>
                </a:r>
                <a:r>
                  <a:rPr lang="en-US" altLang="zh-TW" dirty="0">
                    <a:solidFill>
                      <a:srgbClr val="FF0000"/>
                    </a:solidFill>
                  </a:rPr>
                  <a:t>1</a:t>
                </a:r>
                <a:r>
                  <a:rPr lang="en-US" altLang="zh-TW" dirty="0"/>
                  <a:t> </a:t>
                </a:r>
                <a:endParaRPr lang="zh-TW" altLang="en-US" dirty="0"/>
              </a:p>
            </p:txBody>
          </p:sp>
        </mc:Choice>
        <mc:Fallback xmlns="">
          <p:sp>
            <p:nvSpPr>
              <p:cNvPr id="32" name="矩形 31"/>
              <p:cNvSpPr>
                <a:spLocks noRot="1" noChangeAspect="1" noMove="1" noResize="1" noEditPoints="1" noAdjustHandles="1" noChangeArrowheads="1" noChangeShapeType="1" noTextEdit="1"/>
              </p:cNvSpPr>
              <p:nvPr/>
            </p:nvSpPr>
            <p:spPr>
              <a:xfrm>
                <a:off x="2262908" y="3653836"/>
                <a:ext cx="4479637" cy="786947"/>
              </a:xfrm>
              <a:prstGeom prst="rect">
                <a:avLst/>
              </a:prstGeom>
              <a:blipFill>
                <a:blip r:embed="rId3"/>
                <a:stretch>
                  <a:fillRect l="-272" t="-3876" b="-15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6498336" y="3653835"/>
                <a:ext cx="4479637" cy="786947"/>
              </a:xfrm>
              <a:prstGeom prst="rect">
                <a:avLst/>
              </a:prstGeom>
            </p:spPr>
            <p:txBody>
              <a:bodyPr wrap="square">
                <a:spAutoFit/>
              </a:bodyPr>
              <a:lstStyle/>
              <a:p>
                <a:pPr algn="ct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𝑇𝑟𝑢𝑒</m:t>
                        </m:r>
                      </m:sub>
                    </m:sSub>
                  </m:oMath>
                </a14:m>
                <a:r>
                  <a:rPr lang="en-US" altLang="zh-TW" dirty="0"/>
                  <a:t>(6+, 2-)</a:t>
                </a:r>
              </a:p>
              <a:p>
                <a14:m>
                  <m:oMath xmlns:m="http://schemas.openxmlformats.org/officeDocument/2006/math">
                    <m:r>
                      <a:rPr lang="en-US" altLang="zh-TW" b="0" i="1" smtClean="0">
                        <a:latin typeface="Cambria Math" panose="02040503050406030204" pitchFamily="18" charset="0"/>
                      </a:rPr>
                      <m:t>𝐸𝑛𝑡𝑟𝑜𝑝𝑦</m:t>
                    </m:r>
                    <m:d>
                      <m:dPr>
                        <m:ctrlPr>
                          <a:rPr lang="en-US" altLang="zh-TW" b="0"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𝑇𝑟𝑢𝑒</m:t>
                            </m:r>
                          </m:sub>
                        </m:sSub>
                      </m:e>
                    </m:d>
                  </m:oMath>
                </a14:m>
                <a:r>
                  <a:rPr lang="zh-TW" altLang="en-US" dirty="0"/>
                  <a:t> </a:t>
                </a:r>
                <a:r>
                  <a:rPr lang="en-US" altLang="zh-TW" dirty="0"/>
                  <a:t>=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6</m:t>
                        </m:r>
                      </m:num>
                      <m:den>
                        <m:r>
                          <a:rPr lang="en-US" altLang="zh-TW" b="0" i="1" smtClean="0">
                            <a:latin typeface="Cambria Math" panose="02040503050406030204" pitchFamily="18" charset="0"/>
                          </a:rPr>
                          <m:t>8</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6</m:t>
                        </m:r>
                      </m:num>
                      <m:den>
                        <m:r>
                          <a:rPr lang="en-US" altLang="zh-TW" b="0" i="1" smtClean="0">
                            <a:latin typeface="Cambria Math" panose="02040503050406030204" pitchFamily="18" charset="0"/>
                          </a:rPr>
                          <m:t>8</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2</m:t>
                        </m:r>
                      </m:num>
                      <m:den>
                        <m:r>
                          <a:rPr lang="en-US" altLang="zh-TW" b="0" i="1" smtClean="0">
                            <a:latin typeface="Cambria Math" panose="02040503050406030204" pitchFamily="18" charset="0"/>
                          </a:rPr>
                          <m:t>8</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2</m:t>
                        </m:r>
                      </m:num>
                      <m:den>
                        <m:r>
                          <a:rPr lang="en-US" altLang="zh-TW" b="0" i="1" smtClean="0">
                            <a:latin typeface="Cambria Math" panose="02040503050406030204" pitchFamily="18" charset="0"/>
                          </a:rPr>
                          <m:t>8</m:t>
                        </m:r>
                      </m:den>
                    </m:f>
                  </m:oMath>
                </a14:m>
                <a:r>
                  <a:rPr lang="en-US" altLang="zh-TW" dirty="0"/>
                  <a:t>)</a:t>
                </a:r>
                <a:r>
                  <a:rPr lang="zh-TW" altLang="en-US" dirty="0"/>
                  <a:t> </a:t>
                </a:r>
                <a:r>
                  <a:rPr lang="en-US" altLang="zh-TW" dirty="0"/>
                  <a:t>=</a:t>
                </a:r>
                <a:r>
                  <a:rPr lang="zh-TW" altLang="en-US" dirty="0"/>
                  <a:t> </a:t>
                </a:r>
                <a:r>
                  <a:rPr lang="en-US" altLang="zh-TW" dirty="0">
                    <a:solidFill>
                      <a:srgbClr val="FF0000"/>
                    </a:solidFill>
                  </a:rPr>
                  <a:t>0.81</a:t>
                </a:r>
                <a:r>
                  <a:rPr lang="en-US" altLang="zh-TW" dirty="0"/>
                  <a:t> </a:t>
                </a:r>
                <a:endParaRPr lang="zh-TW" altLang="en-US" dirty="0"/>
              </a:p>
            </p:txBody>
          </p:sp>
        </mc:Choice>
        <mc:Fallback xmlns="">
          <p:sp>
            <p:nvSpPr>
              <p:cNvPr id="34" name="矩形 33"/>
              <p:cNvSpPr>
                <a:spLocks noRot="1" noChangeAspect="1" noMove="1" noResize="1" noEditPoints="1" noAdjustHandles="1" noChangeArrowheads="1" noChangeShapeType="1" noTextEdit="1"/>
              </p:cNvSpPr>
              <p:nvPr/>
            </p:nvSpPr>
            <p:spPr>
              <a:xfrm>
                <a:off x="6498336" y="3653835"/>
                <a:ext cx="4479637" cy="786947"/>
              </a:xfrm>
              <a:prstGeom prst="rect">
                <a:avLst/>
              </a:prstGeom>
              <a:blipFill>
                <a:blip r:embed="rId4"/>
                <a:stretch>
                  <a:fillRect l="-272" t="-3876" b="-15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3927704" y="4813734"/>
                <a:ext cx="5002843" cy="8798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i="1">
                              <a:latin typeface="Cambria Math" panose="02040503050406030204" pitchFamily="18" charset="0"/>
                            </a:rPr>
                            <m:t>𝐴</m:t>
                          </m:r>
                        </m:e>
                      </m:d>
                      <m:r>
                        <a:rPr lang="en-US" altLang="zh-TW" i="1">
                          <a:latin typeface="Cambria Math" panose="02040503050406030204" pitchFamily="18" charset="0"/>
                        </a:rPr>
                        <m:t>=</m:t>
                      </m:r>
                      <m:r>
                        <a:rPr lang="en-US" altLang="zh-TW" i="1">
                          <a:latin typeface="Cambria Math" panose="02040503050406030204" pitchFamily="18" charset="0"/>
                        </a:rPr>
                        <m:t>𝐸𝑛𝑡𝑟𝑜𝑝𝑦</m:t>
                      </m:r>
                      <m:d>
                        <m:dPr>
                          <m:ctrlPr>
                            <a:rPr lang="en-US" altLang="zh-TW" i="1">
                              <a:latin typeface="Cambria Math" panose="02040503050406030204" pitchFamily="18" charset="0"/>
                            </a:rPr>
                          </m:ctrlPr>
                        </m:dPr>
                        <m:e>
                          <m:r>
                            <a:rPr lang="en-US" altLang="zh-TW" i="1">
                              <a:latin typeface="Cambria Math" panose="02040503050406030204" pitchFamily="18" charset="0"/>
                            </a:rPr>
                            <m:t>𝑆</m:t>
                          </m:r>
                        </m:e>
                      </m:d>
                      <m:r>
                        <a:rPr lang="en-US" altLang="zh-TW" i="1">
                          <a:latin typeface="Cambria Math" panose="02040503050406030204" pitchFamily="18" charset="0"/>
                        </a:rPr>
                        <m:t>−</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𝑗</m:t>
                          </m:r>
                          <m:r>
                            <a:rPr lang="en-US" altLang="zh-TW" i="1">
                              <a:latin typeface="Cambria Math" panose="02040503050406030204" pitchFamily="18" charset="0"/>
                            </a:rPr>
                            <m:t>=1</m:t>
                          </m:r>
                        </m:sub>
                        <m:sup>
                          <m:r>
                            <a:rPr lang="en-US" altLang="zh-TW" i="1">
                              <a:latin typeface="Cambria Math" panose="02040503050406030204" pitchFamily="18" charset="0"/>
                            </a:rPr>
                            <m:t>𝑣</m:t>
                          </m:r>
                        </m:sup>
                        <m:e>
                          <m:f>
                            <m:fPr>
                              <m:ctrlPr>
                                <a:rPr lang="en-US" altLang="zh-TW" i="1">
                                  <a:latin typeface="Cambria Math" panose="02040503050406030204" pitchFamily="18" charset="0"/>
                                </a:rPr>
                              </m:ctrlPr>
                            </m:fPr>
                            <m:num>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𝑗</m:t>
                                      </m:r>
                                    </m:sub>
                                  </m:sSub>
                                </m:e>
                              </m:d>
                            </m:num>
                            <m:den>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𝑆</m:t>
                                  </m:r>
                                </m:e>
                              </m:d>
                            </m:den>
                          </m:f>
                          <m:r>
                            <a:rPr lang="en-US" altLang="zh-TW" i="1">
                              <a:latin typeface="Cambria Math" panose="02040503050406030204" pitchFamily="18" charset="0"/>
                            </a:rPr>
                            <m:t>𝐸𝑛𝑡𝑟𝑜𝑝𝑦</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𝑗</m:t>
                                  </m:r>
                                </m:sub>
                              </m:sSub>
                            </m:e>
                          </m:d>
                        </m:e>
                      </m:nary>
                    </m:oMath>
                  </m:oMathPara>
                </a14:m>
                <a:endParaRPr lang="zh-TW" altLang="en-US" dirty="0"/>
              </a:p>
            </p:txBody>
          </p:sp>
        </mc:Choice>
        <mc:Fallback xmlns="">
          <p:sp>
            <p:nvSpPr>
              <p:cNvPr id="37" name="矩形 36"/>
              <p:cNvSpPr>
                <a:spLocks noRot="1" noChangeAspect="1" noMove="1" noResize="1" noEditPoints="1" noAdjustHandles="1" noChangeArrowheads="1" noChangeShapeType="1" noTextEdit="1"/>
              </p:cNvSpPr>
              <p:nvPr/>
            </p:nvSpPr>
            <p:spPr>
              <a:xfrm>
                <a:off x="3927704" y="4813734"/>
                <a:ext cx="5002843" cy="879856"/>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矩形 37"/>
              <p:cNvSpPr/>
              <p:nvPr/>
            </p:nvSpPr>
            <p:spPr>
              <a:xfrm>
                <a:off x="237835" y="4556160"/>
                <a:ext cx="275248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𝐼𝑛𝑓𝑜𝑟𝑚𝑎𝑡𝑖𝑜𝑛</m:t>
                      </m:r>
                      <m:r>
                        <a:rPr lang="en-US" altLang="zh-TW" sz="2200" b="0" i="1" smtClean="0">
                          <a:latin typeface="Cambria Math" panose="02040503050406030204" pitchFamily="18" charset="0"/>
                        </a:rPr>
                        <m:t> </m:t>
                      </m:r>
                      <m:r>
                        <a:rPr lang="en-US" altLang="zh-TW" sz="2200" i="1">
                          <a:latin typeface="Cambria Math" panose="02040503050406030204" pitchFamily="18" charset="0"/>
                        </a:rPr>
                        <m:t>𝐺𝑎𝑖𝑛</m:t>
                      </m:r>
                      <m:r>
                        <a:rPr lang="en-US" altLang="zh-TW" sz="2200" b="0" i="1" smtClean="0">
                          <a:latin typeface="Cambria Math" panose="02040503050406030204" pitchFamily="18" charset="0"/>
                        </a:rPr>
                        <m:t> : </m:t>
                      </m:r>
                    </m:oMath>
                  </m:oMathPara>
                </a14:m>
                <a:endParaRPr lang="zh-TW" altLang="en-US" sz="2200" dirty="0"/>
              </a:p>
            </p:txBody>
          </p:sp>
        </mc:Choice>
        <mc:Fallback xmlns="">
          <p:sp>
            <p:nvSpPr>
              <p:cNvPr id="38" name="矩形 37"/>
              <p:cNvSpPr>
                <a:spLocks noRot="1" noChangeAspect="1" noMove="1" noResize="1" noEditPoints="1" noAdjustHandles="1" noChangeArrowheads="1" noChangeShapeType="1" noTextEdit="1"/>
              </p:cNvSpPr>
              <p:nvPr/>
            </p:nvSpPr>
            <p:spPr>
              <a:xfrm>
                <a:off x="237835" y="4556160"/>
                <a:ext cx="2752485" cy="430887"/>
              </a:xfrm>
              <a:prstGeom prst="rect">
                <a:avLst/>
              </a:prstGeom>
              <a:blipFill>
                <a:blip r:embed="rId6"/>
                <a:stretch>
                  <a:fillRect b="-15493"/>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9" name="矩形 38"/>
              <p:cNvSpPr/>
              <p:nvPr/>
            </p:nvSpPr>
            <p:spPr>
              <a:xfrm>
                <a:off x="3775304" y="5905778"/>
                <a:ext cx="5715924"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b="0" i="1" smtClean="0">
                              <a:latin typeface="Cambria Math" panose="02040503050406030204" pitchFamily="18" charset="0"/>
                            </a:rPr>
                            <m:t>𝑊𝑖𝑛𝑑</m:t>
                          </m:r>
                        </m:e>
                      </m:d>
                      <m:r>
                        <a:rPr lang="en-US" altLang="zh-TW" i="1">
                          <a:latin typeface="Cambria Math" panose="02040503050406030204" pitchFamily="18" charset="0"/>
                        </a:rPr>
                        <m:t>=</m:t>
                      </m:r>
                      <m:r>
                        <a:rPr lang="en-US" altLang="zh-TW" b="0" i="1" smtClean="0">
                          <a:latin typeface="Cambria Math" panose="02040503050406030204" pitchFamily="18" charset="0"/>
                        </a:rPr>
                        <m:t>0.94−</m:t>
                      </m:r>
                      <m:d>
                        <m:dPr>
                          <m:ctrlPr>
                            <a:rPr lang="en-US" altLang="zh-TW" b="0" i="1" smtClean="0">
                              <a:latin typeface="Cambria Math" panose="02040503050406030204" pitchFamily="18" charset="0"/>
                            </a:rPr>
                          </m:ctrlPr>
                        </m:dPr>
                        <m:e>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6</m:t>
                              </m:r>
                            </m:num>
                            <m:den>
                              <m:r>
                                <a:rPr lang="en-US" altLang="zh-TW" b="0" i="1" smtClean="0">
                                  <a:latin typeface="Cambria Math" panose="02040503050406030204" pitchFamily="18" charset="0"/>
                                </a:rPr>
                                <m:t>14</m:t>
                              </m:r>
                            </m:den>
                          </m:f>
                          <m:r>
                            <a:rPr lang="en-US" altLang="zh-TW" b="0" i="1" smtClean="0">
                              <a:latin typeface="Cambria Math" panose="02040503050406030204" pitchFamily="18" charset="0"/>
                              <a:ea typeface="Cambria Math" panose="02040503050406030204" pitchFamily="18" charset="0"/>
                            </a:rPr>
                            <m:t>×1+</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8</m:t>
                              </m:r>
                            </m:num>
                            <m:den>
                              <m:r>
                                <a:rPr lang="en-US" altLang="zh-TW" b="0" i="1" smtClean="0">
                                  <a:latin typeface="Cambria Math" panose="02040503050406030204" pitchFamily="18" charset="0"/>
                                </a:rPr>
                                <m:t>14</m:t>
                              </m:r>
                            </m:den>
                          </m:f>
                          <m:r>
                            <a:rPr lang="en-US" altLang="zh-TW" b="0" i="1" smtClean="0">
                              <a:latin typeface="Cambria Math" panose="02040503050406030204" pitchFamily="18" charset="0"/>
                              <a:ea typeface="Cambria Math" panose="02040503050406030204" pitchFamily="18" charset="0"/>
                            </a:rPr>
                            <m:t>×0.81</m:t>
                          </m:r>
                        </m:e>
                      </m:d>
                      <m:r>
                        <a:rPr lang="en-US" altLang="zh-TW" b="0" i="1" smtClean="0">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0.</m:t>
                      </m:r>
                      <m:r>
                        <a:rPr lang="en-US" altLang="zh-TW" b="0" i="1" smtClean="0">
                          <a:solidFill>
                            <a:srgbClr val="FF0000"/>
                          </a:solidFill>
                          <a:latin typeface="Cambria Math" panose="02040503050406030204" pitchFamily="18" charset="0"/>
                          <a:ea typeface="Cambria Math" panose="02040503050406030204" pitchFamily="18" charset="0"/>
                        </a:rPr>
                        <m:t>0</m:t>
                      </m:r>
                      <m:r>
                        <a:rPr lang="en-US" altLang="zh-TW" b="0" i="1" smtClean="0">
                          <a:solidFill>
                            <a:srgbClr val="FF0000"/>
                          </a:solidFill>
                          <a:latin typeface="Cambria Math" panose="02040503050406030204" pitchFamily="18" charset="0"/>
                          <a:ea typeface="Cambria Math" panose="02040503050406030204" pitchFamily="18" charset="0"/>
                        </a:rPr>
                        <m:t>48</m:t>
                      </m:r>
                    </m:oMath>
                  </m:oMathPara>
                </a14:m>
                <a:endParaRPr lang="zh-TW" altLang="en-US" dirty="0"/>
              </a:p>
            </p:txBody>
          </p:sp>
        </mc:Choice>
        <mc:Fallback>
          <p:sp>
            <p:nvSpPr>
              <p:cNvPr id="39" name="矩形 38"/>
              <p:cNvSpPr>
                <a:spLocks noRot="1" noChangeAspect="1" noMove="1" noResize="1" noEditPoints="1" noAdjustHandles="1" noChangeArrowheads="1" noChangeShapeType="1" noTextEdit="1"/>
              </p:cNvSpPr>
              <p:nvPr/>
            </p:nvSpPr>
            <p:spPr>
              <a:xfrm>
                <a:off x="3775304" y="5905778"/>
                <a:ext cx="5715924" cy="714683"/>
              </a:xfrm>
              <a:prstGeom prst="rect">
                <a:avLst/>
              </a:prstGeom>
              <a:blipFill rotWithShape="0">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584670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237835" y="181553"/>
            <a:ext cx="10515600" cy="847574"/>
          </a:xfrm>
        </p:spPr>
        <p:txBody>
          <a:bodyPr>
            <a:normAutofit/>
          </a:bodyPr>
          <a:lstStyle/>
          <a:p>
            <a:pPr marL="0" indent="0">
              <a:buNone/>
            </a:pPr>
            <a:r>
              <a:rPr lang="zh-TW" altLang="en-US" dirty="0"/>
              <a:t>同理，濕度資訊獲利計算如下</a:t>
            </a:r>
            <a:endParaRPr lang="en-US" altLang="zh-TW" dirty="0"/>
          </a:p>
          <a:p>
            <a:endParaRPr lang="zh-TW" altLang="en-US" dirty="0"/>
          </a:p>
        </p:txBody>
      </p:sp>
      <p:sp>
        <p:nvSpPr>
          <p:cNvPr id="4" name="橢圓 3"/>
          <p:cNvSpPr/>
          <p:nvPr/>
        </p:nvSpPr>
        <p:spPr>
          <a:xfrm>
            <a:off x="5491635" y="1637020"/>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Humidity</a:t>
            </a:r>
            <a:endParaRPr lang="zh-TW" altLang="en-US" dirty="0"/>
          </a:p>
        </p:txBody>
      </p:sp>
      <p:cxnSp>
        <p:nvCxnSpPr>
          <p:cNvPr id="6" name="直線單箭頭接點 5"/>
          <p:cNvCxnSpPr>
            <a:cxnSpLocks/>
            <a:stCxn id="4" idx="4"/>
            <a:endCxn id="34" idx="0"/>
          </p:cNvCxnSpPr>
          <p:nvPr/>
        </p:nvCxnSpPr>
        <p:spPr>
          <a:xfrm>
            <a:off x="6429126" y="2338984"/>
            <a:ext cx="2309029" cy="13148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直線單箭頭接點 6"/>
          <p:cNvCxnSpPr>
            <a:cxnSpLocks/>
            <a:stCxn id="4" idx="4"/>
            <a:endCxn id="32" idx="0"/>
          </p:cNvCxnSpPr>
          <p:nvPr/>
        </p:nvCxnSpPr>
        <p:spPr>
          <a:xfrm flipH="1">
            <a:off x="4502727" y="2338984"/>
            <a:ext cx="1926399" cy="131485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 name="文字方塊 1"/>
              <p:cNvSpPr txBox="1"/>
              <p:nvPr/>
            </p:nvSpPr>
            <p:spPr>
              <a:xfrm>
                <a:off x="4311071" y="636940"/>
                <a:ext cx="4374531" cy="764953"/>
              </a:xfrm>
              <a:prstGeom prst="rect">
                <a:avLst/>
              </a:prstGeom>
              <a:noFill/>
            </p:spPr>
            <p:txBody>
              <a:bodyPr wrap="square" rtlCol="0">
                <a:spAutoFit/>
              </a:bodyPr>
              <a:lstStyle/>
              <a:p>
                <a:pPr algn="ctr"/>
                <a:r>
                  <a:rPr lang="en-US" altLang="zh-TW" dirty="0"/>
                  <a:t>S(9+, 5-)</a:t>
                </a:r>
              </a:p>
              <a:p>
                <a14:m>
                  <m:oMath xmlns:m="http://schemas.openxmlformats.org/officeDocument/2006/math">
                    <m:r>
                      <a:rPr lang="en-US" altLang="zh-TW" b="0" i="1" smtClean="0">
                        <a:latin typeface="Cambria Math" panose="02040503050406030204" pitchFamily="18" charset="0"/>
                      </a:rPr>
                      <m:t>𝐸𝑛𝑡𝑟𝑜𝑝𝑦</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e>
                    </m:d>
                  </m:oMath>
                </a14:m>
                <a:r>
                  <a:rPr lang="zh-TW" altLang="en-US" dirty="0"/>
                  <a:t> </a:t>
                </a:r>
                <a:r>
                  <a:rPr lang="en-US" altLang="zh-TW" dirty="0"/>
                  <a:t>=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9</m:t>
                        </m:r>
                      </m:num>
                      <m:den>
                        <m:r>
                          <a:rPr lang="en-US" altLang="zh-TW" b="0" i="1" smtClean="0">
                            <a:latin typeface="Cambria Math" panose="02040503050406030204" pitchFamily="18" charset="0"/>
                          </a:rPr>
                          <m:t>14</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9</m:t>
                        </m:r>
                      </m:num>
                      <m:den>
                        <m:r>
                          <a:rPr lang="en-US" altLang="zh-TW" b="0" i="1" smtClean="0">
                            <a:latin typeface="Cambria Math" panose="02040503050406030204" pitchFamily="18" charset="0"/>
                          </a:rPr>
                          <m:t>14</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r>
                          <a:rPr lang="en-US" altLang="zh-TW" i="1">
                            <a:latin typeface="Cambria Math" panose="02040503050406030204" pitchFamily="18" charset="0"/>
                          </a:rPr>
                          <m:t>5</m:t>
                        </m:r>
                      </m:num>
                      <m:den>
                        <m:r>
                          <a:rPr lang="en-US" altLang="zh-TW" b="0" i="1" smtClean="0">
                            <a:latin typeface="Cambria Math" panose="02040503050406030204" pitchFamily="18" charset="0"/>
                          </a:rPr>
                          <m:t>14</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i="1">
                            <a:latin typeface="Cambria Math" panose="02040503050406030204" pitchFamily="18" charset="0"/>
                          </a:rPr>
                          <m:t>5</m:t>
                        </m:r>
                      </m:num>
                      <m:den>
                        <m:r>
                          <a:rPr lang="en-US" altLang="zh-TW" b="0" i="1" smtClean="0">
                            <a:latin typeface="Cambria Math" panose="02040503050406030204" pitchFamily="18" charset="0"/>
                          </a:rPr>
                          <m:t>14</m:t>
                        </m:r>
                      </m:den>
                    </m:f>
                  </m:oMath>
                </a14:m>
                <a:r>
                  <a:rPr lang="en-US" altLang="zh-TW" dirty="0"/>
                  <a:t>)</a:t>
                </a:r>
                <a:r>
                  <a:rPr lang="zh-TW" altLang="en-US" dirty="0"/>
                  <a:t> </a:t>
                </a:r>
                <a:r>
                  <a:rPr lang="en-US" altLang="zh-TW" dirty="0"/>
                  <a:t>=</a:t>
                </a:r>
                <a:r>
                  <a:rPr lang="zh-TW" altLang="en-US" dirty="0"/>
                  <a:t> </a:t>
                </a:r>
                <a:r>
                  <a:rPr lang="en-US" altLang="zh-TW" dirty="0">
                    <a:solidFill>
                      <a:srgbClr val="FF0000"/>
                    </a:solidFill>
                  </a:rPr>
                  <a:t>0.94</a:t>
                </a:r>
                <a:r>
                  <a:rPr lang="en-US" altLang="zh-TW" dirty="0"/>
                  <a:t> </a:t>
                </a:r>
                <a:endParaRPr lang="zh-TW" altLang="en-US" dirty="0"/>
              </a:p>
            </p:txBody>
          </p:sp>
        </mc:Choice>
        <mc:Fallback xmlns="">
          <p:sp>
            <p:nvSpPr>
              <p:cNvPr id="2" name="文字方塊 1"/>
              <p:cNvSpPr txBox="1">
                <a:spLocks noRot="1" noChangeAspect="1" noMove="1" noResize="1" noEditPoints="1" noAdjustHandles="1" noChangeArrowheads="1" noChangeShapeType="1" noTextEdit="1"/>
              </p:cNvSpPr>
              <p:nvPr/>
            </p:nvSpPr>
            <p:spPr>
              <a:xfrm>
                <a:off x="4311071" y="636940"/>
                <a:ext cx="4374531" cy="764953"/>
              </a:xfrm>
              <a:prstGeom prst="rect">
                <a:avLst/>
              </a:prstGeom>
              <a:blipFill>
                <a:blip r:embed="rId2"/>
                <a:stretch>
                  <a:fillRect l="-279" t="-3968" b="-3968"/>
                </a:stretch>
              </a:blipFill>
            </p:spPr>
            <p:txBody>
              <a:bodyPr/>
              <a:lstStyle/>
              <a:p>
                <a:r>
                  <a:rPr lang="zh-TW" altLang="en-US">
                    <a:noFill/>
                  </a:rPr>
                  <a:t> </a:t>
                </a:r>
              </a:p>
            </p:txBody>
          </p:sp>
        </mc:Fallback>
      </mc:AlternateContent>
      <p:sp>
        <p:nvSpPr>
          <p:cNvPr id="30" name="文字方塊 29"/>
          <p:cNvSpPr txBox="1"/>
          <p:nvPr/>
        </p:nvSpPr>
        <p:spPr>
          <a:xfrm>
            <a:off x="5021651" y="2427411"/>
            <a:ext cx="751076" cy="369332"/>
          </a:xfrm>
          <a:prstGeom prst="rect">
            <a:avLst/>
          </a:prstGeom>
          <a:noFill/>
        </p:spPr>
        <p:txBody>
          <a:bodyPr wrap="square" rtlCol="0">
            <a:spAutoFit/>
          </a:bodyPr>
          <a:lstStyle/>
          <a:p>
            <a:r>
              <a:rPr lang="en-US" altLang="zh-TW" dirty="0"/>
              <a:t>High</a:t>
            </a:r>
            <a:endParaRPr lang="zh-TW" altLang="en-US" dirty="0"/>
          </a:p>
        </p:txBody>
      </p:sp>
      <p:sp>
        <p:nvSpPr>
          <p:cNvPr id="31" name="文字方塊 30"/>
          <p:cNvSpPr txBox="1"/>
          <p:nvPr/>
        </p:nvSpPr>
        <p:spPr>
          <a:xfrm>
            <a:off x="7496341" y="2471623"/>
            <a:ext cx="973403" cy="369332"/>
          </a:xfrm>
          <a:prstGeom prst="rect">
            <a:avLst/>
          </a:prstGeom>
          <a:noFill/>
        </p:spPr>
        <p:txBody>
          <a:bodyPr wrap="square" rtlCol="0">
            <a:spAutoFit/>
          </a:bodyPr>
          <a:lstStyle/>
          <a:p>
            <a:r>
              <a:rPr lang="en-US" altLang="zh-TW" dirty="0"/>
              <a:t>Normal</a:t>
            </a:r>
            <a:endParaRPr lang="zh-TW" altLang="en-US" dirty="0"/>
          </a:p>
        </p:txBody>
      </p:sp>
      <mc:AlternateContent xmlns:mc="http://schemas.openxmlformats.org/markup-compatibility/2006" xmlns:a14="http://schemas.microsoft.com/office/drawing/2010/main">
        <mc:Choice Requires="a14">
          <p:sp>
            <p:nvSpPr>
              <p:cNvPr id="32" name="矩形 31"/>
              <p:cNvSpPr/>
              <p:nvPr/>
            </p:nvSpPr>
            <p:spPr>
              <a:xfrm>
                <a:off x="2262908" y="3653836"/>
                <a:ext cx="4479637" cy="809837"/>
              </a:xfrm>
              <a:prstGeom prst="rect">
                <a:avLst/>
              </a:prstGeom>
            </p:spPr>
            <p:txBody>
              <a:bodyPr wrap="square">
                <a:spAutoFit/>
              </a:bodyPr>
              <a:lstStyle/>
              <a:p>
                <a:pPr algn="ct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𝐻𝑖𝑔h</m:t>
                        </m:r>
                      </m:sub>
                    </m:sSub>
                  </m:oMath>
                </a14:m>
                <a:r>
                  <a:rPr lang="en-US" altLang="zh-TW" dirty="0"/>
                  <a:t>(3+, 4-)</a:t>
                </a:r>
              </a:p>
              <a:p>
                <a14:m>
                  <m:oMath xmlns:m="http://schemas.openxmlformats.org/officeDocument/2006/math">
                    <m:r>
                      <a:rPr lang="en-US" altLang="zh-TW" b="0" i="1" smtClean="0">
                        <a:latin typeface="Cambria Math" panose="02040503050406030204" pitchFamily="18" charset="0"/>
                      </a:rPr>
                      <m:t>𝐸𝑛𝑡𝑟𝑜𝑝𝑦</m:t>
                    </m:r>
                    <m:d>
                      <m:dPr>
                        <m:ctrlPr>
                          <a:rPr lang="en-US" altLang="zh-TW" b="0"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𝑇𝑟𝑢𝑒</m:t>
                            </m:r>
                          </m:sub>
                        </m:sSub>
                      </m:e>
                    </m:d>
                  </m:oMath>
                </a14:m>
                <a:r>
                  <a:rPr lang="zh-TW" altLang="en-US" dirty="0"/>
                  <a:t> </a:t>
                </a:r>
                <a:r>
                  <a:rPr lang="en-US" altLang="zh-TW" dirty="0"/>
                  <a:t>=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3</m:t>
                        </m:r>
                      </m:num>
                      <m:den>
                        <m:r>
                          <a:rPr lang="en-US" altLang="zh-TW" b="0" i="1" smtClean="0">
                            <a:latin typeface="Cambria Math" panose="02040503050406030204" pitchFamily="18" charset="0"/>
                          </a:rPr>
                          <m:t>7</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3</m:t>
                        </m:r>
                      </m:num>
                      <m:den>
                        <m:r>
                          <a:rPr lang="en-US" altLang="zh-TW" b="0" i="1" smtClean="0">
                            <a:latin typeface="Cambria Math" panose="02040503050406030204" pitchFamily="18" charset="0"/>
                          </a:rPr>
                          <m:t>7</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4</m:t>
                        </m:r>
                      </m:num>
                      <m:den>
                        <m:r>
                          <a:rPr lang="en-US" altLang="zh-TW" b="0" i="1" smtClean="0">
                            <a:latin typeface="Cambria Math" panose="02040503050406030204" pitchFamily="18" charset="0"/>
                          </a:rPr>
                          <m:t>7</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4</m:t>
                        </m:r>
                      </m:num>
                      <m:den>
                        <m:r>
                          <a:rPr lang="en-US" altLang="zh-TW" b="0" i="1" smtClean="0">
                            <a:latin typeface="Cambria Math" panose="02040503050406030204" pitchFamily="18" charset="0"/>
                          </a:rPr>
                          <m:t>7</m:t>
                        </m:r>
                      </m:den>
                    </m:f>
                  </m:oMath>
                </a14:m>
                <a:r>
                  <a:rPr lang="en-US" altLang="zh-TW" dirty="0"/>
                  <a:t>)</a:t>
                </a:r>
                <a:r>
                  <a:rPr lang="zh-TW" altLang="en-US" dirty="0"/>
                  <a:t> </a:t>
                </a:r>
                <a:r>
                  <a:rPr lang="en-US" altLang="zh-TW" dirty="0"/>
                  <a:t>=</a:t>
                </a:r>
                <a:r>
                  <a:rPr lang="zh-TW" altLang="en-US" dirty="0"/>
                  <a:t> </a:t>
                </a:r>
                <a:r>
                  <a:rPr lang="en-US" altLang="zh-TW" dirty="0">
                    <a:solidFill>
                      <a:srgbClr val="FF0000"/>
                    </a:solidFill>
                  </a:rPr>
                  <a:t>0.99</a:t>
                </a:r>
                <a:r>
                  <a:rPr lang="en-US" altLang="zh-TW" dirty="0"/>
                  <a:t> </a:t>
                </a:r>
                <a:endParaRPr lang="zh-TW" altLang="en-US" dirty="0"/>
              </a:p>
            </p:txBody>
          </p:sp>
        </mc:Choice>
        <mc:Fallback xmlns="">
          <p:sp>
            <p:nvSpPr>
              <p:cNvPr id="32" name="矩形 31"/>
              <p:cNvSpPr>
                <a:spLocks noRot="1" noChangeAspect="1" noMove="1" noResize="1" noEditPoints="1" noAdjustHandles="1" noChangeArrowheads="1" noChangeShapeType="1" noTextEdit="1"/>
              </p:cNvSpPr>
              <p:nvPr/>
            </p:nvSpPr>
            <p:spPr>
              <a:xfrm>
                <a:off x="2262908" y="3653836"/>
                <a:ext cx="4479637" cy="809837"/>
              </a:xfrm>
              <a:prstGeom prst="rect">
                <a:avLst/>
              </a:prstGeom>
              <a:blipFill>
                <a:blip r:embed="rId3"/>
                <a:stretch>
                  <a:fillRect l="-272" t="-3008" b="-75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6498336" y="3653835"/>
                <a:ext cx="4479637" cy="786947"/>
              </a:xfrm>
              <a:prstGeom prst="rect">
                <a:avLst/>
              </a:prstGeom>
            </p:spPr>
            <p:txBody>
              <a:bodyPr wrap="square">
                <a:spAutoFit/>
              </a:bodyPr>
              <a:lstStyle/>
              <a:p>
                <a:pPr algn="ct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𝑁𝑜𝑟𝑚𝑎𝑙</m:t>
                        </m:r>
                      </m:sub>
                    </m:sSub>
                  </m:oMath>
                </a14:m>
                <a:r>
                  <a:rPr lang="en-US" altLang="zh-TW" dirty="0"/>
                  <a:t>(6+, 1-)</a:t>
                </a:r>
              </a:p>
              <a:p>
                <a14:m>
                  <m:oMath xmlns:m="http://schemas.openxmlformats.org/officeDocument/2006/math">
                    <m:r>
                      <a:rPr lang="en-US" altLang="zh-TW" b="0" i="1" smtClean="0">
                        <a:latin typeface="Cambria Math" panose="02040503050406030204" pitchFamily="18" charset="0"/>
                      </a:rPr>
                      <m:t>𝐸𝑛𝑡𝑟𝑜𝑝𝑦</m:t>
                    </m:r>
                    <m:d>
                      <m:dPr>
                        <m:ctrlPr>
                          <a:rPr lang="en-US" altLang="zh-TW" b="0" i="1" smtClean="0">
                            <a:latin typeface="Cambria Math" panose="02040503050406030204" pitchFamily="18" charset="0"/>
                          </a:rPr>
                        </m:ctrlPr>
                      </m:dP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𝑇𝑟𝑢𝑒</m:t>
                            </m:r>
                          </m:sub>
                        </m:sSub>
                      </m:e>
                    </m:d>
                  </m:oMath>
                </a14:m>
                <a:r>
                  <a:rPr lang="zh-TW" altLang="en-US" dirty="0"/>
                  <a:t> </a:t>
                </a:r>
                <a:r>
                  <a:rPr lang="en-US" altLang="zh-TW" dirty="0"/>
                  <a:t>= -(</a:t>
                </a:r>
                <a14:m>
                  <m:oMath xmlns:m="http://schemas.openxmlformats.org/officeDocument/2006/math">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6</m:t>
                        </m:r>
                      </m:num>
                      <m:den>
                        <m:r>
                          <a:rPr lang="en-US" altLang="zh-TW" b="0" i="1" smtClean="0">
                            <a:latin typeface="Cambria Math" panose="02040503050406030204" pitchFamily="18" charset="0"/>
                          </a:rPr>
                          <m:t>7</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6</m:t>
                        </m:r>
                      </m:num>
                      <m:den>
                        <m:r>
                          <a:rPr lang="en-US" altLang="zh-TW" b="0" i="1" smtClean="0">
                            <a:latin typeface="Cambria Math" panose="02040503050406030204" pitchFamily="18" charset="0"/>
                          </a:rPr>
                          <m:t>7</m:t>
                        </m:r>
                      </m:den>
                    </m:f>
                    <m:r>
                      <a:rPr lang="en-US" altLang="zh-TW" i="1">
                        <a:latin typeface="Cambria Math" panose="02040503050406030204" pitchFamily="18" charset="0"/>
                      </a:rPr>
                      <m:t>+</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7</m:t>
                        </m:r>
                      </m:den>
                    </m:f>
                    <m:r>
                      <a:rPr lang="en-US" altLang="zh-TW" b="0" i="1" smtClean="0">
                        <a:latin typeface="Cambria Math" panose="02040503050406030204" pitchFamily="18" charset="0"/>
                      </a:rPr>
                      <m:t>𝑙𝑜𝑔</m:t>
                    </m:r>
                    <m:f>
                      <m:fPr>
                        <m:ctrlPr>
                          <a:rPr lang="en-US" altLang="zh-TW"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7</m:t>
                        </m:r>
                      </m:den>
                    </m:f>
                  </m:oMath>
                </a14:m>
                <a:r>
                  <a:rPr lang="en-US" altLang="zh-TW" dirty="0"/>
                  <a:t>)</a:t>
                </a:r>
                <a:r>
                  <a:rPr lang="zh-TW" altLang="en-US" dirty="0"/>
                  <a:t> </a:t>
                </a:r>
                <a:r>
                  <a:rPr lang="en-US" altLang="zh-TW" dirty="0"/>
                  <a:t>=</a:t>
                </a:r>
                <a:r>
                  <a:rPr lang="zh-TW" altLang="en-US" dirty="0"/>
                  <a:t> </a:t>
                </a:r>
                <a:r>
                  <a:rPr lang="en-US" altLang="zh-TW" dirty="0">
                    <a:solidFill>
                      <a:srgbClr val="FF0000"/>
                    </a:solidFill>
                  </a:rPr>
                  <a:t>0.59</a:t>
                </a:r>
                <a:r>
                  <a:rPr lang="en-US" altLang="zh-TW" dirty="0"/>
                  <a:t> </a:t>
                </a:r>
                <a:endParaRPr lang="zh-TW" altLang="en-US" dirty="0"/>
              </a:p>
            </p:txBody>
          </p:sp>
        </mc:Choice>
        <mc:Fallback xmlns="">
          <p:sp>
            <p:nvSpPr>
              <p:cNvPr id="34" name="矩形 33"/>
              <p:cNvSpPr>
                <a:spLocks noRot="1" noChangeAspect="1" noMove="1" noResize="1" noEditPoints="1" noAdjustHandles="1" noChangeArrowheads="1" noChangeShapeType="1" noTextEdit="1"/>
              </p:cNvSpPr>
              <p:nvPr/>
            </p:nvSpPr>
            <p:spPr>
              <a:xfrm>
                <a:off x="6498336" y="3653835"/>
                <a:ext cx="4479637" cy="786947"/>
              </a:xfrm>
              <a:prstGeom prst="rect">
                <a:avLst/>
              </a:prstGeom>
              <a:blipFill>
                <a:blip r:embed="rId4"/>
                <a:stretch>
                  <a:fillRect l="-272" t="-3876" b="-15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矩形 36"/>
              <p:cNvSpPr/>
              <p:nvPr/>
            </p:nvSpPr>
            <p:spPr>
              <a:xfrm>
                <a:off x="3927704" y="4813734"/>
                <a:ext cx="5002843" cy="8798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i="1">
                              <a:latin typeface="Cambria Math" panose="02040503050406030204" pitchFamily="18" charset="0"/>
                            </a:rPr>
                            <m:t>𝐴</m:t>
                          </m:r>
                        </m:e>
                      </m:d>
                      <m:r>
                        <a:rPr lang="en-US" altLang="zh-TW" i="1">
                          <a:latin typeface="Cambria Math" panose="02040503050406030204" pitchFamily="18" charset="0"/>
                        </a:rPr>
                        <m:t>=</m:t>
                      </m:r>
                      <m:r>
                        <a:rPr lang="en-US" altLang="zh-TW" i="1">
                          <a:latin typeface="Cambria Math" panose="02040503050406030204" pitchFamily="18" charset="0"/>
                        </a:rPr>
                        <m:t>𝐸𝑛𝑡𝑟𝑜𝑝𝑦</m:t>
                      </m:r>
                      <m:d>
                        <m:dPr>
                          <m:ctrlPr>
                            <a:rPr lang="en-US" altLang="zh-TW" i="1">
                              <a:latin typeface="Cambria Math" panose="02040503050406030204" pitchFamily="18" charset="0"/>
                            </a:rPr>
                          </m:ctrlPr>
                        </m:dPr>
                        <m:e>
                          <m:r>
                            <a:rPr lang="en-US" altLang="zh-TW" i="1">
                              <a:latin typeface="Cambria Math" panose="02040503050406030204" pitchFamily="18" charset="0"/>
                            </a:rPr>
                            <m:t>𝑆</m:t>
                          </m:r>
                        </m:e>
                      </m:d>
                      <m:r>
                        <a:rPr lang="en-US" altLang="zh-TW" i="1">
                          <a:latin typeface="Cambria Math" panose="02040503050406030204" pitchFamily="18" charset="0"/>
                        </a:rPr>
                        <m:t>−</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𝑗</m:t>
                          </m:r>
                          <m:r>
                            <a:rPr lang="en-US" altLang="zh-TW" i="1">
                              <a:latin typeface="Cambria Math" panose="02040503050406030204" pitchFamily="18" charset="0"/>
                            </a:rPr>
                            <m:t>=1</m:t>
                          </m:r>
                        </m:sub>
                        <m:sup>
                          <m:r>
                            <a:rPr lang="en-US" altLang="zh-TW" i="1">
                              <a:latin typeface="Cambria Math" panose="02040503050406030204" pitchFamily="18" charset="0"/>
                            </a:rPr>
                            <m:t>𝑣</m:t>
                          </m:r>
                        </m:sup>
                        <m:e>
                          <m:f>
                            <m:fPr>
                              <m:ctrlPr>
                                <a:rPr lang="en-US" altLang="zh-TW" i="1">
                                  <a:latin typeface="Cambria Math" panose="02040503050406030204" pitchFamily="18" charset="0"/>
                                </a:rPr>
                              </m:ctrlPr>
                            </m:fPr>
                            <m:num>
                              <m:d>
                                <m:dPr>
                                  <m:begChr m:val="|"/>
                                  <m:endChr m:val="|"/>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𝑗</m:t>
                                      </m:r>
                                    </m:sub>
                                  </m:sSub>
                                </m:e>
                              </m:d>
                            </m:num>
                            <m:den>
                              <m:d>
                                <m:dPr>
                                  <m:begChr m:val="|"/>
                                  <m:endChr m:val="|"/>
                                  <m:ctrlPr>
                                    <a:rPr lang="en-US" altLang="zh-TW" i="1">
                                      <a:latin typeface="Cambria Math" panose="02040503050406030204" pitchFamily="18" charset="0"/>
                                    </a:rPr>
                                  </m:ctrlPr>
                                </m:dPr>
                                <m:e>
                                  <m:r>
                                    <a:rPr lang="en-US" altLang="zh-TW" i="1">
                                      <a:latin typeface="Cambria Math" panose="02040503050406030204" pitchFamily="18" charset="0"/>
                                    </a:rPr>
                                    <m:t>𝑆</m:t>
                                  </m:r>
                                </m:e>
                              </m:d>
                            </m:den>
                          </m:f>
                          <m:r>
                            <a:rPr lang="en-US" altLang="zh-TW" i="1">
                              <a:latin typeface="Cambria Math" panose="02040503050406030204" pitchFamily="18" charset="0"/>
                            </a:rPr>
                            <m:t>𝐸𝑛𝑡𝑟𝑜𝑝𝑦</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𝑗</m:t>
                                  </m:r>
                                </m:sub>
                              </m:sSub>
                            </m:e>
                          </m:d>
                        </m:e>
                      </m:nary>
                    </m:oMath>
                  </m:oMathPara>
                </a14:m>
                <a:endParaRPr lang="zh-TW" altLang="en-US" dirty="0"/>
              </a:p>
            </p:txBody>
          </p:sp>
        </mc:Choice>
        <mc:Fallback xmlns="">
          <p:sp>
            <p:nvSpPr>
              <p:cNvPr id="37" name="矩形 36"/>
              <p:cNvSpPr>
                <a:spLocks noRot="1" noChangeAspect="1" noMove="1" noResize="1" noEditPoints="1" noAdjustHandles="1" noChangeArrowheads="1" noChangeShapeType="1" noTextEdit="1"/>
              </p:cNvSpPr>
              <p:nvPr/>
            </p:nvSpPr>
            <p:spPr>
              <a:xfrm>
                <a:off x="3927704" y="4813734"/>
                <a:ext cx="5002843" cy="879856"/>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矩形 37"/>
              <p:cNvSpPr/>
              <p:nvPr/>
            </p:nvSpPr>
            <p:spPr>
              <a:xfrm>
                <a:off x="237835" y="4556160"/>
                <a:ext cx="275248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𝐼𝑛𝑓𝑜𝑟𝑚𝑎𝑡𝑖𝑜𝑛</m:t>
                      </m:r>
                      <m:r>
                        <a:rPr lang="en-US" altLang="zh-TW" sz="2200" b="0" i="1" smtClean="0">
                          <a:latin typeface="Cambria Math" panose="02040503050406030204" pitchFamily="18" charset="0"/>
                        </a:rPr>
                        <m:t> </m:t>
                      </m:r>
                      <m:r>
                        <a:rPr lang="en-US" altLang="zh-TW" sz="2200" i="1">
                          <a:latin typeface="Cambria Math" panose="02040503050406030204" pitchFamily="18" charset="0"/>
                        </a:rPr>
                        <m:t>𝐺𝑎𝑖𝑛</m:t>
                      </m:r>
                      <m:r>
                        <a:rPr lang="en-US" altLang="zh-TW" sz="2200" b="0" i="1" smtClean="0">
                          <a:latin typeface="Cambria Math" panose="02040503050406030204" pitchFamily="18" charset="0"/>
                        </a:rPr>
                        <m:t> : </m:t>
                      </m:r>
                    </m:oMath>
                  </m:oMathPara>
                </a14:m>
                <a:endParaRPr lang="zh-TW" altLang="en-US" sz="2200" dirty="0"/>
              </a:p>
            </p:txBody>
          </p:sp>
        </mc:Choice>
        <mc:Fallback xmlns="">
          <p:sp>
            <p:nvSpPr>
              <p:cNvPr id="38" name="矩形 37"/>
              <p:cNvSpPr>
                <a:spLocks noRot="1" noChangeAspect="1" noMove="1" noResize="1" noEditPoints="1" noAdjustHandles="1" noChangeArrowheads="1" noChangeShapeType="1" noTextEdit="1"/>
              </p:cNvSpPr>
              <p:nvPr/>
            </p:nvSpPr>
            <p:spPr>
              <a:xfrm>
                <a:off x="237835" y="4556160"/>
                <a:ext cx="2752485" cy="430887"/>
              </a:xfrm>
              <a:prstGeom prst="rect">
                <a:avLst/>
              </a:prstGeom>
              <a:blipFill>
                <a:blip r:embed="rId6"/>
                <a:stretch>
                  <a:fillRect b="-1549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p:cNvSpPr/>
              <p:nvPr/>
            </p:nvSpPr>
            <p:spPr>
              <a:xfrm>
                <a:off x="3775304" y="5905778"/>
                <a:ext cx="6326540"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b="0" i="1" smtClean="0">
                              <a:latin typeface="Cambria Math" panose="02040503050406030204" pitchFamily="18" charset="0"/>
                            </a:rPr>
                            <m:t>𝐻𝑢𝑚𝑖𝑑𝑖𝑡𝑦</m:t>
                          </m:r>
                        </m:e>
                      </m:d>
                      <m:r>
                        <a:rPr lang="en-US" altLang="zh-TW" i="1">
                          <a:latin typeface="Cambria Math" panose="02040503050406030204" pitchFamily="18" charset="0"/>
                        </a:rPr>
                        <m:t>=</m:t>
                      </m:r>
                      <m:r>
                        <a:rPr lang="en-US" altLang="zh-TW" b="0" i="1" smtClean="0">
                          <a:latin typeface="Cambria Math" panose="02040503050406030204" pitchFamily="18" charset="0"/>
                        </a:rPr>
                        <m:t>0.94−</m:t>
                      </m:r>
                      <m:d>
                        <m:dPr>
                          <m:ctrlPr>
                            <a:rPr lang="en-US" altLang="zh-TW" b="0" i="1" smtClean="0">
                              <a:latin typeface="Cambria Math" panose="02040503050406030204" pitchFamily="18" charset="0"/>
                            </a:rPr>
                          </m:ctrlPr>
                        </m:dPr>
                        <m:e>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7</m:t>
                              </m:r>
                            </m:num>
                            <m:den>
                              <m:r>
                                <a:rPr lang="en-US" altLang="zh-TW" b="0" i="1" smtClean="0">
                                  <a:latin typeface="Cambria Math" panose="02040503050406030204" pitchFamily="18" charset="0"/>
                                </a:rPr>
                                <m:t>14</m:t>
                              </m:r>
                            </m:den>
                          </m:f>
                          <m:r>
                            <a:rPr lang="en-US" altLang="zh-TW" b="0" i="1" smtClean="0">
                              <a:latin typeface="Cambria Math" panose="02040503050406030204" pitchFamily="18" charset="0"/>
                              <a:ea typeface="Cambria Math" panose="02040503050406030204" pitchFamily="18" charset="0"/>
                            </a:rPr>
                            <m:t>×0.99+</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7</m:t>
                              </m:r>
                            </m:num>
                            <m:den>
                              <m:r>
                                <a:rPr lang="en-US" altLang="zh-TW" b="0" i="1" smtClean="0">
                                  <a:latin typeface="Cambria Math" panose="02040503050406030204" pitchFamily="18" charset="0"/>
                                </a:rPr>
                                <m:t>14</m:t>
                              </m:r>
                            </m:den>
                          </m:f>
                          <m:r>
                            <a:rPr lang="en-US" altLang="zh-TW" b="0" i="1" smtClean="0">
                              <a:latin typeface="Cambria Math" panose="02040503050406030204" pitchFamily="18" charset="0"/>
                              <a:ea typeface="Cambria Math" panose="02040503050406030204" pitchFamily="18" charset="0"/>
                            </a:rPr>
                            <m:t>×0.59</m:t>
                          </m:r>
                        </m:e>
                      </m:d>
                      <m:r>
                        <a:rPr lang="en-US" altLang="zh-TW" b="0" i="1" smtClean="0">
                          <a:latin typeface="Cambria Math" panose="02040503050406030204" pitchFamily="18" charset="0"/>
                          <a:ea typeface="Cambria Math" panose="02040503050406030204" pitchFamily="18" charset="0"/>
                        </a:rPr>
                        <m:t>=</m:t>
                      </m:r>
                      <m:r>
                        <a:rPr lang="en-US" altLang="zh-TW" b="0" i="1" smtClean="0">
                          <a:solidFill>
                            <a:srgbClr val="FF0000"/>
                          </a:solidFill>
                          <a:latin typeface="Cambria Math" panose="02040503050406030204" pitchFamily="18" charset="0"/>
                          <a:ea typeface="Cambria Math" panose="02040503050406030204" pitchFamily="18" charset="0"/>
                        </a:rPr>
                        <m:t>0.15</m:t>
                      </m:r>
                    </m:oMath>
                  </m:oMathPara>
                </a14:m>
                <a:endParaRPr lang="zh-TW" altLang="en-US" dirty="0"/>
              </a:p>
            </p:txBody>
          </p:sp>
        </mc:Choice>
        <mc:Fallback xmlns="">
          <p:sp>
            <p:nvSpPr>
              <p:cNvPr id="39" name="矩形 38"/>
              <p:cNvSpPr>
                <a:spLocks noRot="1" noChangeAspect="1" noMove="1" noResize="1" noEditPoints="1" noAdjustHandles="1" noChangeArrowheads="1" noChangeShapeType="1" noTextEdit="1"/>
              </p:cNvSpPr>
              <p:nvPr/>
            </p:nvSpPr>
            <p:spPr>
              <a:xfrm>
                <a:off x="3775304" y="5905778"/>
                <a:ext cx="6326540" cy="714683"/>
              </a:xfrm>
              <a:prstGeom prst="rect">
                <a:avLst/>
              </a:prstGeom>
              <a:blipFill>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565935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橢圓 8"/>
          <p:cNvSpPr/>
          <p:nvPr/>
        </p:nvSpPr>
        <p:spPr>
          <a:xfrm>
            <a:off x="7739960" y="3975652"/>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Wind</a:t>
            </a:r>
            <a:endParaRPr lang="zh-TW" altLang="en-US" dirty="0"/>
          </a:p>
        </p:txBody>
      </p:sp>
      <p:cxnSp>
        <p:nvCxnSpPr>
          <p:cNvPr id="10" name="直線單箭頭接點 9"/>
          <p:cNvCxnSpPr>
            <a:cxnSpLocks/>
            <a:stCxn id="9" idx="4"/>
            <a:endCxn id="49" idx="0"/>
          </p:cNvCxnSpPr>
          <p:nvPr/>
        </p:nvCxnSpPr>
        <p:spPr>
          <a:xfrm>
            <a:off x="8677451" y="4677616"/>
            <a:ext cx="2053910" cy="114078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 name="直線單箭頭接點 10"/>
          <p:cNvCxnSpPr>
            <a:cxnSpLocks/>
            <a:stCxn id="9" idx="4"/>
            <a:endCxn id="47" idx="0"/>
          </p:cNvCxnSpPr>
          <p:nvPr/>
        </p:nvCxnSpPr>
        <p:spPr>
          <a:xfrm flipH="1">
            <a:off x="6827952" y="4677616"/>
            <a:ext cx="1849499" cy="114078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文字方塊 11"/>
          <p:cNvSpPr txBox="1"/>
          <p:nvPr/>
        </p:nvSpPr>
        <p:spPr>
          <a:xfrm>
            <a:off x="7085329" y="4730729"/>
            <a:ext cx="599972" cy="369332"/>
          </a:xfrm>
          <a:prstGeom prst="rect">
            <a:avLst/>
          </a:prstGeom>
          <a:noFill/>
        </p:spPr>
        <p:txBody>
          <a:bodyPr wrap="square" rtlCol="0">
            <a:spAutoFit/>
          </a:bodyPr>
          <a:lstStyle/>
          <a:p>
            <a:r>
              <a:rPr lang="en-US" altLang="zh-TW" dirty="0"/>
              <a:t>True</a:t>
            </a:r>
            <a:endParaRPr lang="zh-TW" altLang="en-US" dirty="0"/>
          </a:p>
        </p:txBody>
      </p:sp>
      <p:sp>
        <p:nvSpPr>
          <p:cNvPr id="13" name="文字方塊 12"/>
          <p:cNvSpPr txBox="1"/>
          <p:nvPr/>
        </p:nvSpPr>
        <p:spPr>
          <a:xfrm>
            <a:off x="9698631" y="4677616"/>
            <a:ext cx="652936" cy="369332"/>
          </a:xfrm>
          <a:prstGeom prst="rect">
            <a:avLst/>
          </a:prstGeom>
          <a:noFill/>
        </p:spPr>
        <p:txBody>
          <a:bodyPr wrap="square" rtlCol="0">
            <a:spAutoFit/>
          </a:bodyPr>
          <a:lstStyle/>
          <a:p>
            <a:r>
              <a:rPr lang="en-US" altLang="zh-TW" dirty="0"/>
              <a:t>False</a:t>
            </a:r>
            <a:endParaRPr lang="zh-TW" altLang="en-US" dirty="0"/>
          </a:p>
        </p:txBody>
      </p:sp>
      <p:sp>
        <p:nvSpPr>
          <p:cNvPr id="47" name="文字方塊 46"/>
          <p:cNvSpPr txBox="1"/>
          <p:nvPr/>
        </p:nvSpPr>
        <p:spPr>
          <a:xfrm>
            <a:off x="6544861" y="5818402"/>
            <a:ext cx="566181" cy="646331"/>
          </a:xfrm>
          <a:prstGeom prst="rect">
            <a:avLst/>
          </a:prstGeom>
          <a:noFill/>
        </p:spPr>
        <p:txBody>
          <a:bodyPr wrap="none" rtlCol="0">
            <a:spAutoFit/>
          </a:bodyPr>
          <a:lstStyle/>
          <a:p>
            <a:r>
              <a:rPr lang="en-US" altLang="zh-TW" dirty="0"/>
              <a:t>P=2</a:t>
            </a:r>
          </a:p>
          <a:p>
            <a:r>
              <a:rPr lang="en-US" altLang="zh-TW" dirty="0"/>
              <a:t>N=2</a:t>
            </a:r>
            <a:endParaRPr lang="zh-TW" altLang="en-US" dirty="0"/>
          </a:p>
        </p:txBody>
      </p:sp>
      <p:sp>
        <p:nvSpPr>
          <p:cNvPr id="49" name="文字方塊 48"/>
          <p:cNvSpPr txBox="1"/>
          <p:nvPr/>
        </p:nvSpPr>
        <p:spPr>
          <a:xfrm>
            <a:off x="10448270" y="5818403"/>
            <a:ext cx="566181" cy="646331"/>
          </a:xfrm>
          <a:prstGeom prst="rect">
            <a:avLst/>
          </a:prstGeom>
          <a:noFill/>
        </p:spPr>
        <p:txBody>
          <a:bodyPr wrap="none" rtlCol="0">
            <a:spAutoFit/>
          </a:bodyPr>
          <a:lstStyle/>
          <a:p>
            <a:r>
              <a:rPr lang="en-US" altLang="zh-TW" dirty="0"/>
              <a:t>P=2</a:t>
            </a:r>
          </a:p>
          <a:p>
            <a:r>
              <a:rPr lang="en-US" altLang="zh-TW" dirty="0"/>
              <a:t>N=2</a:t>
            </a:r>
            <a:endParaRPr lang="zh-TW" altLang="en-US" dirty="0"/>
          </a:p>
        </p:txBody>
      </p:sp>
      <p:sp>
        <p:nvSpPr>
          <p:cNvPr id="55" name="橢圓 54"/>
          <p:cNvSpPr/>
          <p:nvPr/>
        </p:nvSpPr>
        <p:spPr>
          <a:xfrm>
            <a:off x="1703961" y="3975652"/>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Humidity</a:t>
            </a:r>
            <a:endParaRPr lang="zh-TW" altLang="en-US" dirty="0"/>
          </a:p>
        </p:txBody>
      </p:sp>
      <p:cxnSp>
        <p:nvCxnSpPr>
          <p:cNvPr id="56" name="直線單箭頭接點 55"/>
          <p:cNvCxnSpPr>
            <a:cxnSpLocks/>
            <a:stCxn id="55" idx="4"/>
            <a:endCxn id="61" idx="0"/>
          </p:cNvCxnSpPr>
          <p:nvPr/>
        </p:nvCxnSpPr>
        <p:spPr>
          <a:xfrm>
            <a:off x="2641452" y="4677616"/>
            <a:ext cx="2053910" cy="114078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7" name="直線單箭頭接點 56"/>
          <p:cNvCxnSpPr>
            <a:cxnSpLocks/>
            <a:stCxn id="55" idx="4"/>
            <a:endCxn id="60" idx="0"/>
          </p:cNvCxnSpPr>
          <p:nvPr/>
        </p:nvCxnSpPr>
        <p:spPr>
          <a:xfrm flipH="1">
            <a:off x="791953" y="4677616"/>
            <a:ext cx="1849499" cy="114078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58" name="文字方塊 57"/>
          <p:cNvSpPr txBox="1"/>
          <p:nvPr/>
        </p:nvSpPr>
        <p:spPr>
          <a:xfrm>
            <a:off x="1049329" y="4730729"/>
            <a:ext cx="842483" cy="369332"/>
          </a:xfrm>
          <a:prstGeom prst="rect">
            <a:avLst/>
          </a:prstGeom>
          <a:noFill/>
        </p:spPr>
        <p:txBody>
          <a:bodyPr wrap="square" rtlCol="0">
            <a:spAutoFit/>
          </a:bodyPr>
          <a:lstStyle/>
          <a:p>
            <a:r>
              <a:rPr lang="en-US" altLang="zh-TW" dirty="0"/>
              <a:t>High</a:t>
            </a:r>
            <a:endParaRPr lang="zh-TW" altLang="en-US" dirty="0"/>
          </a:p>
        </p:txBody>
      </p:sp>
      <p:sp>
        <p:nvSpPr>
          <p:cNvPr id="59" name="文字方塊 58"/>
          <p:cNvSpPr txBox="1"/>
          <p:nvPr/>
        </p:nvSpPr>
        <p:spPr>
          <a:xfrm>
            <a:off x="3662631" y="4677616"/>
            <a:ext cx="937491" cy="369332"/>
          </a:xfrm>
          <a:prstGeom prst="rect">
            <a:avLst/>
          </a:prstGeom>
          <a:noFill/>
        </p:spPr>
        <p:txBody>
          <a:bodyPr wrap="square" rtlCol="0">
            <a:spAutoFit/>
          </a:bodyPr>
          <a:lstStyle/>
          <a:p>
            <a:r>
              <a:rPr lang="en-US" altLang="zh-TW" dirty="0"/>
              <a:t>Normal</a:t>
            </a:r>
            <a:endParaRPr lang="zh-TW" altLang="en-US" dirty="0"/>
          </a:p>
        </p:txBody>
      </p:sp>
      <p:sp>
        <p:nvSpPr>
          <p:cNvPr id="60" name="文字方塊 59"/>
          <p:cNvSpPr txBox="1"/>
          <p:nvPr/>
        </p:nvSpPr>
        <p:spPr>
          <a:xfrm>
            <a:off x="508862" y="5818402"/>
            <a:ext cx="566181" cy="646331"/>
          </a:xfrm>
          <a:prstGeom prst="rect">
            <a:avLst/>
          </a:prstGeom>
          <a:noFill/>
        </p:spPr>
        <p:txBody>
          <a:bodyPr wrap="none" rtlCol="0">
            <a:spAutoFit/>
          </a:bodyPr>
          <a:lstStyle/>
          <a:p>
            <a:r>
              <a:rPr lang="en-US" altLang="zh-TW" dirty="0"/>
              <a:t>P=3</a:t>
            </a:r>
          </a:p>
          <a:p>
            <a:r>
              <a:rPr lang="en-US" altLang="zh-TW" dirty="0"/>
              <a:t>N=4</a:t>
            </a:r>
            <a:endParaRPr lang="zh-TW" altLang="en-US" dirty="0"/>
          </a:p>
        </p:txBody>
      </p:sp>
      <p:sp>
        <p:nvSpPr>
          <p:cNvPr id="61" name="文字方塊 60"/>
          <p:cNvSpPr txBox="1"/>
          <p:nvPr/>
        </p:nvSpPr>
        <p:spPr>
          <a:xfrm>
            <a:off x="4412271" y="5818403"/>
            <a:ext cx="566181" cy="646331"/>
          </a:xfrm>
          <a:prstGeom prst="rect">
            <a:avLst/>
          </a:prstGeom>
          <a:noFill/>
        </p:spPr>
        <p:txBody>
          <a:bodyPr wrap="none" rtlCol="0">
            <a:spAutoFit/>
          </a:bodyPr>
          <a:lstStyle/>
          <a:p>
            <a:r>
              <a:rPr lang="en-US" altLang="zh-TW" dirty="0"/>
              <a:t>P=6</a:t>
            </a:r>
          </a:p>
          <a:p>
            <a:r>
              <a:rPr lang="en-US" altLang="zh-TW" dirty="0"/>
              <a:t>N=1</a:t>
            </a:r>
            <a:endParaRPr lang="zh-TW" altLang="en-US" dirty="0"/>
          </a:p>
        </p:txBody>
      </p:sp>
      <mc:AlternateContent xmlns:mc="http://schemas.openxmlformats.org/markup-compatibility/2006" xmlns:a14="http://schemas.microsoft.com/office/drawing/2010/main">
        <mc:Choice Requires="a14">
          <p:sp>
            <p:nvSpPr>
              <p:cNvPr id="62" name="矩形 61"/>
              <p:cNvSpPr/>
              <p:nvPr/>
            </p:nvSpPr>
            <p:spPr>
              <a:xfrm>
                <a:off x="1210387" y="6271322"/>
                <a:ext cx="286213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b="0" i="1" smtClean="0">
                              <a:latin typeface="Cambria Math" panose="02040503050406030204" pitchFamily="18" charset="0"/>
                            </a:rPr>
                            <m:t>𝐻𝑢𝑚𝑖𝑑𝑖𝑡𝑦</m:t>
                          </m:r>
                        </m:e>
                      </m:d>
                      <m:r>
                        <a:rPr lang="en-US" altLang="zh-TW" b="0" i="1" smtClean="0">
                          <a:latin typeface="Cambria Math" panose="02040503050406030204" pitchFamily="18" charset="0"/>
                        </a:rPr>
                        <m:t>=0.15</m:t>
                      </m:r>
                    </m:oMath>
                  </m:oMathPara>
                </a14:m>
                <a:endParaRPr lang="zh-TW" altLang="en-US" dirty="0"/>
              </a:p>
            </p:txBody>
          </p:sp>
        </mc:Choice>
        <mc:Fallback xmlns="">
          <p:sp>
            <p:nvSpPr>
              <p:cNvPr id="62" name="矩形 61"/>
              <p:cNvSpPr>
                <a:spLocks noRot="1" noChangeAspect="1" noMove="1" noResize="1" noEditPoints="1" noAdjustHandles="1" noChangeArrowheads="1" noChangeShapeType="1" noTextEdit="1"/>
              </p:cNvSpPr>
              <p:nvPr/>
            </p:nvSpPr>
            <p:spPr>
              <a:xfrm>
                <a:off x="1210387" y="6271322"/>
                <a:ext cx="2862130" cy="369332"/>
              </a:xfrm>
              <a:prstGeom prst="rect">
                <a:avLst/>
              </a:prstGeom>
              <a:blipFill>
                <a:blip r:embed="rId2"/>
                <a:stretch>
                  <a:fillRect b="-1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3" name="矩形 62"/>
              <p:cNvSpPr/>
              <p:nvPr/>
            </p:nvSpPr>
            <p:spPr>
              <a:xfrm>
                <a:off x="7463529" y="6271322"/>
                <a:ext cx="255608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b="0" i="1" smtClean="0">
                              <a:latin typeface="Cambria Math" panose="02040503050406030204" pitchFamily="18" charset="0"/>
                            </a:rPr>
                            <m:t>𝑊𝑖𝑛𝑑</m:t>
                          </m:r>
                        </m:e>
                      </m:d>
                      <m:r>
                        <a:rPr lang="en-US" altLang="zh-TW" b="0" i="1" smtClean="0">
                          <a:latin typeface="Cambria Math" panose="02040503050406030204" pitchFamily="18" charset="0"/>
                        </a:rPr>
                        <m:t>=0.</m:t>
                      </m:r>
                      <m:r>
                        <a:rPr lang="en-US" altLang="zh-TW" i="1">
                          <a:latin typeface="Cambria Math" panose="02040503050406030204" pitchFamily="18" charset="0"/>
                        </a:rPr>
                        <m:t>0</m:t>
                      </m:r>
                      <m:r>
                        <a:rPr lang="en-US" altLang="zh-TW" b="0" i="1" smtClean="0">
                          <a:latin typeface="Cambria Math" panose="02040503050406030204" pitchFamily="18" charset="0"/>
                        </a:rPr>
                        <m:t>48</m:t>
                      </m:r>
                    </m:oMath>
                  </m:oMathPara>
                </a14:m>
                <a:endParaRPr lang="zh-TW" altLang="en-US" dirty="0"/>
              </a:p>
            </p:txBody>
          </p:sp>
        </mc:Choice>
        <mc:Fallback xmlns="">
          <p:sp>
            <p:nvSpPr>
              <p:cNvPr id="63" name="矩形 62"/>
              <p:cNvSpPr>
                <a:spLocks noRot="1" noChangeAspect="1" noMove="1" noResize="1" noEditPoints="1" noAdjustHandles="1" noChangeArrowheads="1" noChangeShapeType="1" noTextEdit="1"/>
              </p:cNvSpPr>
              <p:nvPr/>
            </p:nvSpPr>
            <p:spPr>
              <a:xfrm>
                <a:off x="7463529" y="6271322"/>
                <a:ext cx="2556084" cy="369332"/>
              </a:xfrm>
              <a:prstGeom prst="rect">
                <a:avLst/>
              </a:prstGeom>
              <a:blipFill>
                <a:blip r:embed="rId3"/>
                <a:stretch>
                  <a:fillRect/>
                </a:stretch>
              </a:blipFill>
            </p:spPr>
            <p:txBody>
              <a:bodyPr/>
              <a:lstStyle/>
              <a:p>
                <a:r>
                  <a:rPr lang="zh-TW" altLang="en-US">
                    <a:noFill/>
                  </a:rPr>
                  <a:t> </a:t>
                </a:r>
              </a:p>
            </p:txBody>
          </p:sp>
        </mc:Fallback>
      </mc:AlternateContent>
      <p:grpSp>
        <p:nvGrpSpPr>
          <p:cNvPr id="3" name="群組 2"/>
          <p:cNvGrpSpPr/>
          <p:nvPr/>
        </p:nvGrpSpPr>
        <p:grpSpPr>
          <a:xfrm>
            <a:off x="6544861" y="650670"/>
            <a:ext cx="4469591" cy="2785385"/>
            <a:chOff x="6544861" y="389344"/>
            <a:chExt cx="4469591" cy="2785385"/>
          </a:xfrm>
        </p:grpSpPr>
        <p:sp>
          <p:nvSpPr>
            <p:cNvPr id="37" name="橢圓 36"/>
            <p:cNvSpPr/>
            <p:nvPr/>
          </p:nvSpPr>
          <p:spPr>
            <a:xfrm>
              <a:off x="7705840" y="389344"/>
              <a:ext cx="1949437"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Temperature</a:t>
              </a:r>
              <a:endParaRPr lang="zh-TW" altLang="en-US" dirty="0"/>
            </a:p>
          </p:txBody>
        </p:sp>
        <p:cxnSp>
          <p:nvCxnSpPr>
            <p:cNvPr id="38" name="直線單箭頭接點 37"/>
            <p:cNvCxnSpPr>
              <a:cxnSpLocks/>
              <a:stCxn id="37" idx="4"/>
              <a:endCxn id="46" idx="0"/>
            </p:cNvCxnSpPr>
            <p:nvPr/>
          </p:nvCxnSpPr>
          <p:spPr>
            <a:xfrm>
              <a:off x="8680559" y="1091308"/>
              <a:ext cx="2050803" cy="9769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9" name="直線單箭頭接點 38"/>
            <p:cNvCxnSpPr>
              <a:cxnSpLocks/>
              <a:stCxn id="37" idx="4"/>
              <a:endCxn id="44" idx="0"/>
            </p:cNvCxnSpPr>
            <p:nvPr/>
          </p:nvCxnSpPr>
          <p:spPr>
            <a:xfrm flipH="1">
              <a:off x="6827952" y="1091308"/>
              <a:ext cx="1852607" cy="9769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0" name="文字方塊 39"/>
            <p:cNvSpPr txBox="1"/>
            <p:nvPr/>
          </p:nvSpPr>
          <p:spPr>
            <a:xfrm>
              <a:off x="7235857" y="1179735"/>
              <a:ext cx="818598" cy="369332"/>
            </a:xfrm>
            <a:prstGeom prst="rect">
              <a:avLst/>
            </a:prstGeom>
            <a:noFill/>
          </p:spPr>
          <p:txBody>
            <a:bodyPr wrap="square" rtlCol="0">
              <a:spAutoFit/>
            </a:bodyPr>
            <a:lstStyle/>
            <a:p>
              <a:r>
                <a:rPr lang="en-US" altLang="zh-TW" dirty="0"/>
                <a:t>Hot</a:t>
              </a:r>
              <a:endParaRPr lang="zh-TW" altLang="en-US" dirty="0"/>
            </a:p>
          </p:txBody>
        </p:sp>
        <p:sp>
          <p:nvSpPr>
            <p:cNvPr id="41" name="文字方塊 40"/>
            <p:cNvSpPr txBox="1"/>
            <p:nvPr/>
          </p:nvSpPr>
          <p:spPr>
            <a:xfrm>
              <a:off x="9760597" y="1175919"/>
              <a:ext cx="652936" cy="369332"/>
            </a:xfrm>
            <a:prstGeom prst="rect">
              <a:avLst/>
            </a:prstGeom>
            <a:noFill/>
          </p:spPr>
          <p:txBody>
            <a:bodyPr wrap="square" rtlCol="0">
              <a:spAutoFit/>
            </a:bodyPr>
            <a:lstStyle/>
            <a:p>
              <a:r>
                <a:rPr lang="en-US" altLang="zh-TW" dirty="0"/>
                <a:t>Cool</a:t>
              </a:r>
              <a:endParaRPr lang="zh-TW" altLang="en-US" dirty="0"/>
            </a:p>
          </p:txBody>
        </p:sp>
        <p:cxnSp>
          <p:nvCxnSpPr>
            <p:cNvPr id="42" name="直線單箭頭接點 41"/>
            <p:cNvCxnSpPr>
              <a:cxnSpLocks/>
              <a:stCxn id="37" idx="4"/>
              <a:endCxn id="45" idx="0"/>
            </p:cNvCxnSpPr>
            <p:nvPr/>
          </p:nvCxnSpPr>
          <p:spPr>
            <a:xfrm flipH="1">
              <a:off x="8649867" y="1091308"/>
              <a:ext cx="30692" cy="97693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3" name="文字方塊 42"/>
            <p:cNvSpPr txBox="1"/>
            <p:nvPr/>
          </p:nvSpPr>
          <p:spPr>
            <a:xfrm>
              <a:off x="8638112" y="1453016"/>
              <a:ext cx="1017166" cy="369332"/>
            </a:xfrm>
            <a:prstGeom prst="rect">
              <a:avLst/>
            </a:prstGeom>
            <a:noFill/>
          </p:spPr>
          <p:txBody>
            <a:bodyPr wrap="square" rtlCol="0">
              <a:spAutoFit/>
            </a:bodyPr>
            <a:lstStyle/>
            <a:p>
              <a:r>
                <a:rPr lang="en-US" altLang="zh-TW" dirty="0"/>
                <a:t>Mild</a:t>
              </a:r>
              <a:endParaRPr lang="zh-TW" altLang="en-US" dirty="0"/>
            </a:p>
          </p:txBody>
        </p:sp>
        <p:sp>
          <p:nvSpPr>
            <p:cNvPr id="44" name="文字方塊 43"/>
            <p:cNvSpPr txBox="1"/>
            <p:nvPr/>
          </p:nvSpPr>
          <p:spPr>
            <a:xfrm>
              <a:off x="6544861" y="2068244"/>
              <a:ext cx="566181" cy="646331"/>
            </a:xfrm>
            <a:prstGeom prst="rect">
              <a:avLst/>
            </a:prstGeom>
            <a:noFill/>
          </p:spPr>
          <p:txBody>
            <a:bodyPr wrap="none" rtlCol="0">
              <a:spAutoFit/>
            </a:bodyPr>
            <a:lstStyle/>
            <a:p>
              <a:r>
                <a:rPr lang="en-US" altLang="zh-TW" dirty="0"/>
                <a:t>P=2</a:t>
              </a:r>
            </a:p>
            <a:p>
              <a:r>
                <a:rPr lang="en-US" altLang="zh-TW" dirty="0"/>
                <a:t>N=2</a:t>
              </a:r>
              <a:endParaRPr lang="zh-TW" altLang="en-US" dirty="0"/>
            </a:p>
          </p:txBody>
        </p:sp>
        <p:sp>
          <p:nvSpPr>
            <p:cNvPr id="45" name="文字方塊 44"/>
            <p:cNvSpPr txBox="1"/>
            <p:nvPr/>
          </p:nvSpPr>
          <p:spPr>
            <a:xfrm>
              <a:off x="8366776" y="2068243"/>
              <a:ext cx="566181" cy="646331"/>
            </a:xfrm>
            <a:prstGeom prst="rect">
              <a:avLst/>
            </a:prstGeom>
            <a:noFill/>
          </p:spPr>
          <p:txBody>
            <a:bodyPr wrap="none" rtlCol="0">
              <a:spAutoFit/>
            </a:bodyPr>
            <a:lstStyle/>
            <a:p>
              <a:r>
                <a:rPr lang="en-US" altLang="zh-TW" dirty="0"/>
                <a:t>P=4</a:t>
              </a:r>
            </a:p>
            <a:p>
              <a:r>
                <a:rPr lang="en-US" altLang="zh-TW" dirty="0"/>
                <a:t>N=2</a:t>
              </a:r>
              <a:endParaRPr lang="zh-TW" altLang="en-US" dirty="0"/>
            </a:p>
          </p:txBody>
        </p:sp>
        <p:sp>
          <p:nvSpPr>
            <p:cNvPr id="46" name="文字方塊 45"/>
            <p:cNvSpPr txBox="1"/>
            <p:nvPr/>
          </p:nvSpPr>
          <p:spPr>
            <a:xfrm>
              <a:off x="10448271" y="2068245"/>
              <a:ext cx="566181" cy="646331"/>
            </a:xfrm>
            <a:prstGeom prst="rect">
              <a:avLst/>
            </a:prstGeom>
            <a:noFill/>
          </p:spPr>
          <p:txBody>
            <a:bodyPr wrap="none" rtlCol="0">
              <a:spAutoFit/>
            </a:bodyPr>
            <a:lstStyle/>
            <a:p>
              <a:r>
                <a:rPr lang="en-US" altLang="zh-TW" dirty="0"/>
                <a:t>P=3</a:t>
              </a:r>
            </a:p>
            <a:p>
              <a:r>
                <a:rPr lang="en-US" altLang="zh-TW" dirty="0"/>
                <a:t>N=1</a:t>
              </a:r>
              <a:endParaRPr lang="zh-TW" altLang="en-US" dirty="0"/>
            </a:p>
          </p:txBody>
        </p:sp>
        <mc:AlternateContent xmlns:mc="http://schemas.openxmlformats.org/markup-compatibility/2006" xmlns:a14="http://schemas.microsoft.com/office/drawing/2010/main">
          <mc:Choice Requires="a14">
            <p:sp>
              <p:nvSpPr>
                <p:cNvPr id="70" name="矩形 69"/>
                <p:cNvSpPr/>
                <p:nvPr/>
              </p:nvSpPr>
              <p:spPr>
                <a:xfrm>
                  <a:off x="7294688" y="2805397"/>
                  <a:ext cx="327653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m:t>
                            </m:r>
                            <m:r>
                              <m:rPr>
                                <m:nor/>
                              </m:rPr>
                              <a:rPr lang="en-US" altLang="zh-TW" dirty="0" smtClean="0"/>
                              <m:t>Temperature</m:t>
                            </m:r>
                            <m:r>
                              <m:rPr>
                                <m:nor/>
                              </m:rPr>
                              <a:rPr lang="zh-TW" altLang="en-US" dirty="0" smtClean="0"/>
                              <m:t> </m:t>
                            </m:r>
                          </m:e>
                        </m:d>
                        <m:r>
                          <a:rPr lang="en-US" altLang="zh-TW" b="0" i="1" smtClean="0">
                            <a:latin typeface="Cambria Math" panose="02040503050406030204" pitchFamily="18" charset="0"/>
                          </a:rPr>
                          <m:t>=0.029</m:t>
                        </m:r>
                      </m:oMath>
                    </m:oMathPara>
                  </a14:m>
                  <a:endParaRPr lang="zh-TW" altLang="en-US" dirty="0"/>
                </a:p>
              </p:txBody>
            </p:sp>
          </mc:Choice>
          <mc:Fallback xmlns="">
            <p:sp>
              <p:nvSpPr>
                <p:cNvPr id="70" name="矩形 69"/>
                <p:cNvSpPr>
                  <a:spLocks noRot="1" noChangeAspect="1" noMove="1" noResize="1" noEditPoints="1" noAdjustHandles="1" noChangeArrowheads="1" noChangeShapeType="1" noTextEdit="1"/>
                </p:cNvSpPr>
                <p:nvPr/>
              </p:nvSpPr>
              <p:spPr>
                <a:xfrm>
                  <a:off x="7294688" y="2805397"/>
                  <a:ext cx="3276538" cy="369332"/>
                </a:xfrm>
                <a:prstGeom prst="rect">
                  <a:avLst/>
                </a:prstGeom>
                <a:blipFill>
                  <a:blip r:embed="rId4"/>
                  <a:stretch>
                    <a:fillRect b="-8197"/>
                  </a:stretch>
                </a:blipFill>
              </p:spPr>
              <p:txBody>
                <a:bodyPr/>
                <a:lstStyle/>
                <a:p>
                  <a:r>
                    <a:rPr lang="zh-TW" altLang="en-US">
                      <a:noFill/>
                    </a:rPr>
                    <a:t> </a:t>
                  </a:r>
                </a:p>
              </p:txBody>
            </p:sp>
          </mc:Fallback>
        </mc:AlternateContent>
      </p:grpSp>
      <p:sp>
        <p:nvSpPr>
          <p:cNvPr id="4" name="橢圓 3"/>
          <p:cNvSpPr/>
          <p:nvPr/>
        </p:nvSpPr>
        <p:spPr>
          <a:xfrm>
            <a:off x="1669842" y="728596"/>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solidFill>
                  <a:srgbClr val="FF0000"/>
                </a:solidFill>
              </a:rPr>
              <a:t>Outlook</a:t>
            </a:r>
            <a:endParaRPr lang="zh-TW" altLang="en-US" dirty="0">
              <a:solidFill>
                <a:srgbClr val="FF0000"/>
              </a:solidFill>
            </a:endParaRPr>
          </a:p>
        </p:txBody>
      </p:sp>
      <p:cxnSp>
        <p:nvCxnSpPr>
          <p:cNvPr id="5" name="直線單箭頭接點 4"/>
          <p:cNvCxnSpPr>
            <a:cxnSpLocks/>
            <a:stCxn id="4" idx="4"/>
            <a:endCxn id="28" idx="0"/>
          </p:cNvCxnSpPr>
          <p:nvPr/>
        </p:nvCxnSpPr>
        <p:spPr>
          <a:xfrm>
            <a:off x="2607333" y="1430560"/>
            <a:ext cx="2088030" cy="9769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 name="直線單箭頭接點 5"/>
          <p:cNvCxnSpPr>
            <a:cxnSpLocks/>
            <a:stCxn id="4" idx="4"/>
            <a:endCxn id="25" idx="0"/>
          </p:cNvCxnSpPr>
          <p:nvPr/>
        </p:nvCxnSpPr>
        <p:spPr>
          <a:xfrm flipH="1">
            <a:off x="791953" y="1430560"/>
            <a:ext cx="1815380" cy="9769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7" name="文字方塊 6"/>
          <p:cNvSpPr txBox="1"/>
          <p:nvPr/>
        </p:nvSpPr>
        <p:spPr>
          <a:xfrm>
            <a:off x="1199858" y="1518987"/>
            <a:ext cx="818598" cy="369332"/>
          </a:xfrm>
          <a:prstGeom prst="rect">
            <a:avLst/>
          </a:prstGeom>
          <a:noFill/>
        </p:spPr>
        <p:txBody>
          <a:bodyPr wrap="square" rtlCol="0">
            <a:spAutoFit/>
          </a:bodyPr>
          <a:lstStyle/>
          <a:p>
            <a:r>
              <a:rPr lang="en-US" altLang="zh-TW" dirty="0"/>
              <a:t>Sunny</a:t>
            </a:r>
            <a:endParaRPr lang="zh-TW" altLang="en-US" dirty="0"/>
          </a:p>
        </p:txBody>
      </p:sp>
      <p:sp>
        <p:nvSpPr>
          <p:cNvPr id="8" name="文字方塊 7"/>
          <p:cNvSpPr txBox="1"/>
          <p:nvPr/>
        </p:nvSpPr>
        <p:spPr>
          <a:xfrm>
            <a:off x="3724598" y="1515171"/>
            <a:ext cx="652936" cy="369332"/>
          </a:xfrm>
          <a:prstGeom prst="rect">
            <a:avLst/>
          </a:prstGeom>
          <a:noFill/>
        </p:spPr>
        <p:txBody>
          <a:bodyPr wrap="square" rtlCol="0">
            <a:spAutoFit/>
          </a:bodyPr>
          <a:lstStyle/>
          <a:p>
            <a:r>
              <a:rPr lang="en-US" altLang="zh-TW" dirty="0"/>
              <a:t>Rain</a:t>
            </a:r>
            <a:endParaRPr lang="zh-TW" altLang="en-US" dirty="0"/>
          </a:p>
        </p:txBody>
      </p:sp>
      <p:cxnSp>
        <p:nvCxnSpPr>
          <p:cNvPr id="14" name="直線單箭頭接點 13"/>
          <p:cNvCxnSpPr>
            <a:cxnSpLocks/>
            <a:stCxn id="4" idx="4"/>
            <a:endCxn id="27" idx="0"/>
          </p:cNvCxnSpPr>
          <p:nvPr/>
        </p:nvCxnSpPr>
        <p:spPr>
          <a:xfrm>
            <a:off x="2607333" y="1430560"/>
            <a:ext cx="6535" cy="97693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7" name="文字方塊 16"/>
          <p:cNvSpPr txBox="1"/>
          <p:nvPr/>
        </p:nvSpPr>
        <p:spPr>
          <a:xfrm>
            <a:off x="2602113" y="1792268"/>
            <a:ext cx="1017166" cy="369332"/>
          </a:xfrm>
          <a:prstGeom prst="rect">
            <a:avLst/>
          </a:prstGeom>
          <a:noFill/>
        </p:spPr>
        <p:txBody>
          <a:bodyPr wrap="square" rtlCol="0">
            <a:spAutoFit/>
          </a:bodyPr>
          <a:lstStyle/>
          <a:p>
            <a:r>
              <a:rPr lang="en-US" altLang="zh-TW" dirty="0"/>
              <a:t>Overcast</a:t>
            </a:r>
            <a:endParaRPr lang="zh-TW" altLang="en-US" dirty="0"/>
          </a:p>
        </p:txBody>
      </p:sp>
      <p:sp>
        <p:nvSpPr>
          <p:cNvPr id="25" name="文字方塊 24"/>
          <p:cNvSpPr txBox="1"/>
          <p:nvPr/>
        </p:nvSpPr>
        <p:spPr>
          <a:xfrm>
            <a:off x="508862" y="2407496"/>
            <a:ext cx="566181" cy="646331"/>
          </a:xfrm>
          <a:prstGeom prst="rect">
            <a:avLst/>
          </a:prstGeom>
          <a:noFill/>
        </p:spPr>
        <p:txBody>
          <a:bodyPr wrap="none" rtlCol="0">
            <a:spAutoFit/>
          </a:bodyPr>
          <a:lstStyle/>
          <a:p>
            <a:r>
              <a:rPr lang="en-US" altLang="zh-TW" dirty="0"/>
              <a:t>P=2</a:t>
            </a:r>
          </a:p>
          <a:p>
            <a:r>
              <a:rPr lang="en-US" altLang="zh-TW" dirty="0"/>
              <a:t>N=3</a:t>
            </a:r>
            <a:endParaRPr lang="zh-TW" altLang="en-US" dirty="0"/>
          </a:p>
        </p:txBody>
      </p:sp>
      <p:sp>
        <p:nvSpPr>
          <p:cNvPr id="27" name="文字方塊 26"/>
          <p:cNvSpPr txBox="1"/>
          <p:nvPr/>
        </p:nvSpPr>
        <p:spPr>
          <a:xfrm>
            <a:off x="2330777" y="2407495"/>
            <a:ext cx="566181" cy="646331"/>
          </a:xfrm>
          <a:prstGeom prst="rect">
            <a:avLst/>
          </a:prstGeom>
          <a:noFill/>
        </p:spPr>
        <p:txBody>
          <a:bodyPr wrap="none" rtlCol="0">
            <a:spAutoFit/>
          </a:bodyPr>
          <a:lstStyle/>
          <a:p>
            <a:r>
              <a:rPr lang="en-US" altLang="zh-TW" dirty="0"/>
              <a:t>P=4</a:t>
            </a:r>
          </a:p>
          <a:p>
            <a:r>
              <a:rPr lang="en-US" altLang="zh-TW" dirty="0"/>
              <a:t>N=0</a:t>
            </a:r>
            <a:endParaRPr lang="zh-TW" altLang="en-US" dirty="0"/>
          </a:p>
        </p:txBody>
      </p:sp>
      <p:sp>
        <p:nvSpPr>
          <p:cNvPr id="28" name="文字方塊 27"/>
          <p:cNvSpPr txBox="1"/>
          <p:nvPr/>
        </p:nvSpPr>
        <p:spPr>
          <a:xfrm>
            <a:off x="4412272" y="2407497"/>
            <a:ext cx="566181" cy="646331"/>
          </a:xfrm>
          <a:prstGeom prst="rect">
            <a:avLst/>
          </a:prstGeom>
          <a:noFill/>
        </p:spPr>
        <p:txBody>
          <a:bodyPr wrap="none" rtlCol="0">
            <a:spAutoFit/>
          </a:bodyPr>
          <a:lstStyle/>
          <a:p>
            <a:r>
              <a:rPr lang="en-US" altLang="zh-TW" dirty="0"/>
              <a:t>P=3</a:t>
            </a:r>
          </a:p>
          <a:p>
            <a:r>
              <a:rPr lang="en-US" altLang="zh-TW" dirty="0"/>
              <a:t>N=2</a:t>
            </a:r>
            <a:endParaRPr lang="zh-TW" altLang="en-US" dirty="0"/>
          </a:p>
        </p:txBody>
      </p:sp>
      <mc:AlternateContent xmlns:mc="http://schemas.openxmlformats.org/markup-compatibility/2006" xmlns:a14="http://schemas.microsoft.com/office/drawing/2010/main">
        <mc:Choice Requires="a14">
          <p:sp>
            <p:nvSpPr>
              <p:cNvPr id="71" name="矩形 70"/>
              <p:cNvSpPr/>
              <p:nvPr/>
            </p:nvSpPr>
            <p:spPr>
              <a:xfrm>
                <a:off x="1236525" y="3115055"/>
                <a:ext cx="282769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m:t>
                          </m:r>
                          <m:r>
                            <m:rPr>
                              <m:nor/>
                            </m:rPr>
                            <a:rPr lang="en-US" altLang="zh-TW" b="0" i="0" smtClean="0">
                              <a:latin typeface="Cambria Math" panose="02040503050406030204" pitchFamily="18" charset="0"/>
                            </a:rPr>
                            <m:t>Outlook</m:t>
                          </m:r>
                          <m:r>
                            <m:rPr>
                              <m:nor/>
                            </m:rPr>
                            <a:rPr lang="zh-TW" altLang="en-US" dirty="0" smtClean="0"/>
                            <m:t> </m:t>
                          </m:r>
                        </m:e>
                      </m:d>
                      <m:r>
                        <a:rPr lang="en-US" altLang="zh-TW" b="0" i="1" smtClean="0">
                          <a:latin typeface="Cambria Math" panose="02040503050406030204" pitchFamily="18" charset="0"/>
                        </a:rPr>
                        <m:t>=</m:t>
                      </m:r>
                      <m:r>
                        <a:rPr lang="en-US" altLang="zh-TW" b="0" i="1" smtClean="0">
                          <a:solidFill>
                            <a:srgbClr val="FF0000"/>
                          </a:solidFill>
                          <a:latin typeface="Cambria Math" panose="02040503050406030204" pitchFamily="18" charset="0"/>
                        </a:rPr>
                        <m:t>0.246</m:t>
                      </m:r>
                    </m:oMath>
                  </m:oMathPara>
                </a14:m>
                <a:endParaRPr lang="zh-TW" altLang="en-US" dirty="0"/>
              </a:p>
            </p:txBody>
          </p:sp>
        </mc:Choice>
        <mc:Fallback xmlns="">
          <p:sp>
            <p:nvSpPr>
              <p:cNvPr id="71" name="矩形 70"/>
              <p:cNvSpPr>
                <a:spLocks noRot="1" noChangeAspect="1" noMove="1" noResize="1" noEditPoints="1" noAdjustHandles="1" noChangeArrowheads="1" noChangeShapeType="1" noTextEdit="1"/>
              </p:cNvSpPr>
              <p:nvPr/>
            </p:nvSpPr>
            <p:spPr>
              <a:xfrm>
                <a:off x="1236525" y="3115055"/>
                <a:ext cx="2827697" cy="369332"/>
              </a:xfrm>
              <a:prstGeom prst="rect">
                <a:avLst/>
              </a:prstGeom>
              <a:blipFill>
                <a:blip r:embed="rId5"/>
                <a:stretch>
                  <a:fillRect/>
                </a:stretch>
              </a:blipFill>
            </p:spPr>
            <p:txBody>
              <a:bodyPr/>
              <a:lstStyle/>
              <a:p>
                <a:r>
                  <a:rPr lang="zh-TW" altLang="en-US">
                    <a:noFill/>
                  </a:rPr>
                  <a:t> </a:t>
                </a:r>
              </a:p>
            </p:txBody>
          </p:sp>
        </mc:Fallback>
      </mc:AlternateContent>
      <p:sp>
        <p:nvSpPr>
          <p:cNvPr id="48" name="文字方塊 47"/>
          <p:cNvSpPr txBox="1"/>
          <p:nvPr/>
        </p:nvSpPr>
        <p:spPr>
          <a:xfrm>
            <a:off x="2763998" y="115873"/>
            <a:ext cx="6664004" cy="707886"/>
          </a:xfrm>
          <a:prstGeom prst="rect">
            <a:avLst/>
          </a:prstGeom>
          <a:noFill/>
        </p:spPr>
        <p:txBody>
          <a:bodyPr wrap="none" rtlCol="0">
            <a:spAutoFit/>
          </a:bodyPr>
          <a:lstStyle/>
          <a:p>
            <a:r>
              <a:rPr lang="zh-TW" altLang="en-US" sz="2000" dirty="0"/>
              <a:t>挑選具有最大資訊獲利的屬性作為根結點，這邊為</a:t>
            </a:r>
            <a:r>
              <a:rPr lang="en-US" altLang="zh-TW" sz="2000" dirty="0">
                <a:solidFill>
                  <a:srgbClr val="FF0000"/>
                </a:solidFill>
              </a:rPr>
              <a:t>Outlook</a:t>
            </a:r>
          </a:p>
          <a:p>
            <a:endParaRPr lang="zh-TW" altLang="en-US" sz="2000" dirty="0"/>
          </a:p>
        </p:txBody>
      </p:sp>
    </p:spTree>
    <p:extLst>
      <p:ext uri="{BB962C8B-B14F-4D97-AF65-F5344CB8AC3E}">
        <p14:creationId xmlns:p14="http://schemas.microsoft.com/office/powerpoint/2010/main" val="40519228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210127" y="153843"/>
                <a:ext cx="10515600" cy="1739612"/>
              </a:xfrm>
            </p:spPr>
            <p:txBody>
              <a:bodyPr/>
              <a:lstStyle/>
              <a:p>
                <a:pPr marL="0" indent="0">
                  <a:buNone/>
                </a:pPr>
                <a14:m>
                  <m:oMathPara xmlns:m="http://schemas.openxmlformats.org/officeDocument/2006/math">
                    <m:oMathParaPr>
                      <m:jc m:val="left"/>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m:t>
                          </m:r>
                          <m:r>
                            <m:rPr>
                              <m:nor/>
                            </m:rPr>
                            <a:rPr lang="en-US" altLang="zh-TW" b="0" i="0" smtClean="0">
                              <a:latin typeface="Cambria Math" panose="02040503050406030204" pitchFamily="18" charset="0"/>
                            </a:rPr>
                            <m:t>Outlook</m:t>
                          </m:r>
                          <m:r>
                            <m:rPr>
                              <m:nor/>
                            </m:rPr>
                            <a:rPr lang="zh-TW" altLang="en-US" dirty="0" smtClean="0"/>
                            <m:t> </m:t>
                          </m:r>
                        </m:e>
                      </m:d>
                      <m:r>
                        <a:rPr lang="en-US" altLang="zh-TW" b="0" i="1" smtClean="0">
                          <a:latin typeface="Cambria Math" panose="02040503050406030204" pitchFamily="18" charset="0"/>
                        </a:rPr>
                        <m:t>=</m:t>
                      </m:r>
                      <m:r>
                        <a:rPr lang="en-US" altLang="zh-TW" b="0" i="1" smtClean="0">
                          <a:solidFill>
                            <a:srgbClr val="FF0000"/>
                          </a:solidFill>
                          <a:latin typeface="Cambria Math" panose="02040503050406030204" pitchFamily="18" charset="0"/>
                        </a:rPr>
                        <m:t>0.246</m:t>
                      </m:r>
                    </m:oMath>
                  </m:oMathPara>
                </a14:m>
                <a:endParaRPr lang="en-US" altLang="zh-TW" b="0" dirty="0"/>
              </a:p>
              <a:p>
                <a:pPr marL="0" indent="0">
                  <a:buNone/>
                </a:pPr>
                <a14:m>
                  <m:oMathPara xmlns:m="http://schemas.openxmlformats.org/officeDocument/2006/math">
                    <m:oMathParaPr>
                      <m:jc m:val="left"/>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m:t>
                          </m:r>
                          <m:r>
                            <m:rPr>
                              <m:nor/>
                            </m:rPr>
                            <a:rPr lang="en-US" altLang="zh-TW" dirty="0" smtClean="0"/>
                            <m:t>Temperature</m:t>
                          </m:r>
                          <m:r>
                            <m:rPr>
                              <m:nor/>
                            </m:rPr>
                            <a:rPr lang="zh-TW" altLang="en-US" dirty="0" smtClean="0"/>
                            <m:t> </m:t>
                          </m:r>
                        </m:e>
                      </m:d>
                      <m:r>
                        <a:rPr lang="en-US" altLang="zh-TW" b="0" i="1" smtClean="0">
                          <a:latin typeface="Cambria Math" panose="02040503050406030204" pitchFamily="18" charset="0"/>
                        </a:rPr>
                        <m:t>=0.029</m:t>
                      </m:r>
                    </m:oMath>
                  </m:oMathPara>
                </a14:m>
                <a:endParaRPr lang="en-US" altLang="zh-TW" b="0" dirty="0"/>
              </a:p>
              <a:p>
                <a:pPr marL="0" indent="0">
                  <a:buNone/>
                </a:pPr>
                <a14:m>
                  <m:oMathPara xmlns:m="http://schemas.openxmlformats.org/officeDocument/2006/math">
                    <m:oMathParaPr>
                      <m:jc m:val="left"/>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b="0" i="1" smtClean="0">
                              <a:latin typeface="Cambria Math" panose="02040503050406030204" pitchFamily="18" charset="0"/>
                            </a:rPr>
                            <m:t>𝐻𝑢𝑚𝑖𝑑𝑖𝑡𝑦</m:t>
                          </m:r>
                        </m:e>
                      </m:d>
                      <m:r>
                        <a:rPr lang="en-US" altLang="zh-TW" b="0" i="1" smtClean="0">
                          <a:latin typeface="Cambria Math" panose="02040503050406030204" pitchFamily="18" charset="0"/>
                        </a:rPr>
                        <m:t>=0.15</m:t>
                      </m:r>
                    </m:oMath>
                  </m:oMathPara>
                </a14:m>
                <a:endParaRPr lang="en-US" altLang="zh-TW" b="0" dirty="0"/>
              </a:p>
              <a:p>
                <a:pPr marL="0" indent="0">
                  <a:buNone/>
                </a:pPr>
                <a14:m>
                  <m:oMathPara xmlns:m="http://schemas.openxmlformats.org/officeDocument/2006/math">
                    <m:oMathParaPr>
                      <m:jc m:val="left"/>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b="0" i="1" smtClean="0">
                              <a:latin typeface="Cambria Math" panose="02040503050406030204" pitchFamily="18" charset="0"/>
                            </a:rPr>
                            <m:t>𝑊𝑖𝑛𝑑</m:t>
                          </m:r>
                        </m:e>
                      </m:d>
                      <m:r>
                        <a:rPr lang="en-US" altLang="zh-TW" b="0" i="1" smtClean="0">
                          <a:latin typeface="Cambria Math" panose="02040503050406030204" pitchFamily="18" charset="0"/>
                        </a:rPr>
                        <m:t>=0.48</m:t>
                      </m:r>
                    </m:oMath>
                  </m:oMathPara>
                </a14:m>
                <a:endParaRPr lang="zh-TW" altLang="en-US" dirty="0"/>
              </a:p>
              <a:p>
                <a:pPr marL="0" indent="0">
                  <a:buNone/>
                </a:pPr>
                <a:endParaRPr lang="zh-TW" altLang="en-US" dirty="0"/>
              </a:p>
              <a:p>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210127" y="153843"/>
                <a:ext cx="10515600" cy="1739612"/>
              </a:xfrm>
              <a:blipFill>
                <a:blip r:embed="rId2"/>
                <a:stretch>
                  <a:fillRect l="-290"/>
                </a:stretch>
              </a:blipFill>
            </p:spPr>
            <p:txBody>
              <a:bodyPr/>
              <a:lstStyle/>
              <a:p>
                <a:r>
                  <a:rPr lang="zh-TW" altLang="en-US">
                    <a:noFill/>
                  </a:rPr>
                  <a:t> </a:t>
                </a:r>
              </a:p>
            </p:txBody>
          </p:sp>
        </mc:Fallback>
      </mc:AlternateContent>
      <p:graphicFrame>
        <p:nvGraphicFramePr>
          <p:cNvPr id="7" name="表格 6"/>
          <p:cNvGraphicFramePr>
            <a:graphicFrameLocks noGrp="1"/>
          </p:cNvGraphicFramePr>
          <p:nvPr>
            <p:extLst>
              <p:ext uri="{D42A27DB-BD31-4B8C-83A1-F6EECF244321}">
                <p14:modId xmlns:p14="http://schemas.microsoft.com/office/powerpoint/2010/main" val="2684765924"/>
              </p:ext>
            </p:extLst>
          </p:nvPr>
        </p:nvGraphicFramePr>
        <p:xfrm>
          <a:off x="1873173" y="4459632"/>
          <a:ext cx="8440950" cy="2224694"/>
        </p:xfrm>
        <a:graphic>
          <a:graphicData uri="http://schemas.openxmlformats.org/drawingml/2006/table">
            <a:tbl>
              <a:tblPr firstRow="1" bandRow="1">
                <a:tableStyleId>{8EC20E35-A176-4012-BC5E-935CFFF8708E}</a:tableStyleId>
              </a:tblPr>
              <a:tblGrid>
                <a:gridCol w="1406825">
                  <a:extLst>
                    <a:ext uri="{9D8B030D-6E8A-4147-A177-3AD203B41FA5}">
                      <a16:colId xmlns:a16="http://schemas.microsoft.com/office/drawing/2014/main" xmlns="" val="233500066"/>
                    </a:ext>
                  </a:extLst>
                </a:gridCol>
                <a:gridCol w="1406825">
                  <a:extLst>
                    <a:ext uri="{9D8B030D-6E8A-4147-A177-3AD203B41FA5}">
                      <a16:colId xmlns:a16="http://schemas.microsoft.com/office/drawing/2014/main" xmlns="" val="1458407396"/>
                    </a:ext>
                  </a:extLst>
                </a:gridCol>
                <a:gridCol w="1406825">
                  <a:extLst>
                    <a:ext uri="{9D8B030D-6E8A-4147-A177-3AD203B41FA5}">
                      <a16:colId xmlns:a16="http://schemas.microsoft.com/office/drawing/2014/main" xmlns="" val="3014551143"/>
                    </a:ext>
                  </a:extLst>
                </a:gridCol>
                <a:gridCol w="1406825">
                  <a:extLst>
                    <a:ext uri="{9D8B030D-6E8A-4147-A177-3AD203B41FA5}">
                      <a16:colId xmlns:a16="http://schemas.microsoft.com/office/drawing/2014/main" xmlns="" val="3407224827"/>
                    </a:ext>
                  </a:extLst>
                </a:gridCol>
                <a:gridCol w="1406825">
                  <a:extLst>
                    <a:ext uri="{9D8B030D-6E8A-4147-A177-3AD203B41FA5}">
                      <a16:colId xmlns:a16="http://schemas.microsoft.com/office/drawing/2014/main" xmlns="" val="1415290722"/>
                    </a:ext>
                  </a:extLst>
                </a:gridCol>
                <a:gridCol w="1406825">
                  <a:extLst>
                    <a:ext uri="{9D8B030D-6E8A-4147-A177-3AD203B41FA5}">
                      <a16:colId xmlns:a16="http://schemas.microsoft.com/office/drawing/2014/main" xmlns="" val="2618968512"/>
                    </a:ext>
                  </a:extLst>
                </a:gridCol>
              </a:tblGrid>
              <a:tr h="377614">
                <a:tc>
                  <a:txBody>
                    <a:bodyPr/>
                    <a:lstStyle/>
                    <a:p>
                      <a:pPr algn="ctr"/>
                      <a:r>
                        <a:rPr lang="en-US" altLang="zh-TW" dirty="0"/>
                        <a:t>Day</a:t>
                      </a:r>
                      <a:endParaRPr lang="zh-TW" altLang="en-US" dirty="0"/>
                    </a:p>
                  </a:txBody>
                  <a:tcPr/>
                </a:tc>
                <a:tc>
                  <a:txBody>
                    <a:bodyPr/>
                    <a:lstStyle/>
                    <a:p>
                      <a:pPr algn="ctr"/>
                      <a:r>
                        <a:rPr lang="en-US" altLang="zh-TW" dirty="0"/>
                        <a:t>Outlook</a:t>
                      </a:r>
                      <a:endParaRPr lang="zh-TW" altLang="en-US" dirty="0"/>
                    </a:p>
                  </a:txBody>
                  <a:tcPr/>
                </a:tc>
                <a:tc>
                  <a:txBody>
                    <a:bodyPr/>
                    <a:lstStyle/>
                    <a:p>
                      <a:pPr algn="ctr"/>
                      <a:r>
                        <a:rPr lang="en-US" altLang="zh-TW" dirty="0"/>
                        <a:t>Temperature</a:t>
                      </a:r>
                      <a:endParaRPr lang="zh-TW" altLang="en-US" dirty="0"/>
                    </a:p>
                  </a:txBody>
                  <a:tcPr/>
                </a:tc>
                <a:tc>
                  <a:txBody>
                    <a:bodyPr/>
                    <a:lstStyle/>
                    <a:p>
                      <a:pPr algn="ctr"/>
                      <a:r>
                        <a:rPr lang="en-US" altLang="zh-TW" dirty="0"/>
                        <a:t>Humidity</a:t>
                      </a:r>
                      <a:endParaRPr lang="zh-TW" altLang="en-US" dirty="0"/>
                    </a:p>
                  </a:txBody>
                  <a:tcPr/>
                </a:tc>
                <a:tc>
                  <a:txBody>
                    <a:bodyPr/>
                    <a:lstStyle/>
                    <a:p>
                      <a:pPr algn="ctr"/>
                      <a:r>
                        <a:rPr lang="en-US" altLang="zh-TW" dirty="0"/>
                        <a:t>Wind</a:t>
                      </a:r>
                      <a:endParaRPr lang="zh-TW" altLang="en-US" dirty="0"/>
                    </a:p>
                  </a:txBody>
                  <a:tcPr/>
                </a:tc>
                <a:tc>
                  <a:txBody>
                    <a:bodyPr/>
                    <a:lstStyle/>
                    <a:p>
                      <a:pPr algn="ctr"/>
                      <a:r>
                        <a:rPr lang="en-US" altLang="zh-TW" dirty="0"/>
                        <a:t>Play</a:t>
                      </a:r>
                      <a:endParaRPr lang="zh-TW" altLang="en-US" dirty="0"/>
                    </a:p>
                  </a:txBody>
                  <a:tcPr/>
                </a:tc>
                <a:extLst>
                  <a:ext uri="{0D108BD9-81ED-4DB2-BD59-A6C34878D82A}">
                    <a16:rowId xmlns:a16="http://schemas.microsoft.com/office/drawing/2014/main" xmlns="" val="2954156976"/>
                  </a:ext>
                </a:extLst>
              </a:tr>
              <a:tr h="369416">
                <a:tc>
                  <a:txBody>
                    <a:bodyPr/>
                    <a:lstStyle/>
                    <a:p>
                      <a:pPr algn="ctr"/>
                      <a:r>
                        <a:rPr lang="en-US" altLang="zh-TW" dirty="0"/>
                        <a:t>Day1</a:t>
                      </a:r>
                      <a:endParaRPr lang="zh-TW" altLang="en-US" dirty="0"/>
                    </a:p>
                  </a:txBody>
                  <a:tcPr/>
                </a:tc>
                <a:tc>
                  <a:txBody>
                    <a:bodyPr/>
                    <a:lstStyle/>
                    <a:p>
                      <a:pPr algn="ctr"/>
                      <a:r>
                        <a:rPr lang="en-US" altLang="zh-TW" dirty="0"/>
                        <a:t>Sunny</a:t>
                      </a:r>
                      <a:endParaRPr lang="zh-TW" altLang="en-US" dirty="0"/>
                    </a:p>
                  </a:txBody>
                  <a:tcPr/>
                </a:tc>
                <a:tc>
                  <a:txBody>
                    <a:bodyPr/>
                    <a:lstStyle/>
                    <a:p>
                      <a:pPr algn="ctr"/>
                      <a:r>
                        <a:rPr lang="en-US" altLang="zh-TW" dirty="0"/>
                        <a:t>Hot</a:t>
                      </a:r>
                      <a:endParaRPr lang="zh-TW" altLang="en-US" dirty="0"/>
                    </a:p>
                  </a:txBody>
                  <a:tcPr/>
                </a:tc>
                <a:tc>
                  <a:txBody>
                    <a:bodyPr/>
                    <a:lstStyle/>
                    <a:p>
                      <a:pPr algn="ctr"/>
                      <a:r>
                        <a:rPr lang="en-US" altLang="zh-TW" dirty="0"/>
                        <a:t>High</a:t>
                      </a:r>
                      <a:endParaRPr lang="zh-TW" altLang="en-US" dirty="0"/>
                    </a:p>
                  </a:txBody>
                  <a:tcPr/>
                </a:tc>
                <a:tc>
                  <a:txBody>
                    <a:bodyPr/>
                    <a:lstStyle/>
                    <a:p>
                      <a:pPr algn="ctr"/>
                      <a:r>
                        <a:rPr lang="en-US" altLang="zh-TW" dirty="0"/>
                        <a:t>False</a:t>
                      </a:r>
                      <a:endParaRPr lang="zh-TW" altLang="en-US" dirty="0"/>
                    </a:p>
                  </a:txBody>
                  <a:tcPr/>
                </a:tc>
                <a:tc>
                  <a:txBody>
                    <a:bodyPr/>
                    <a:lstStyle/>
                    <a:p>
                      <a:pPr algn="ctr"/>
                      <a:r>
                        <a:rPr lang="en-US" altLang="zh-TW" dirty="0"/>
                        <a:t>N</a:t>
                      </a:r>
                      <a:endParaRPr lang="zh-TW" altLang="en-US" dirty="0"/>
                    </a:p>
                  </a:txBody>
                  <a:tcPr/>
                </a:tc>
                <a:extLst>
                  <a:ext uri="{0D108BD9-81ED-4DB2-BD59-A6C34878D82A}">
                    <a16:rowId xmlns:a16="http://schemas.microsoft.com/office/drawing/2014/main" xmlns="" val="477090426"/>
                  </a:ext>
                </a:extLst>
              </a:tr>
              <a:tr h="36941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Day2</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Sunny</a:t>
                      </a:r>
                      <a:endParaRPr lang="zh-TW" altLang="en-US" dirty="0"/>
                    </a:p>
                  </a:txBody>
                  <a:tcPr/>
                </a:tc>
                <a:tc>
                  <a:txBody>
                    <a:bodyPr/>
                    <a:lstStyle/>
                    <a:p>
                      <a:pPr algn="ctr"/>
                      <a:r>
                        <a:rPr lang="en-US" altLang="zh-TW" dirty="0"/>
                        <a:t>Hot</a:t>
                      </a:r>
                      <a:endParaRPr lang="zh-TW" altLang="en-US" dirty="0"/>
                    </a:p>
                  </a:txBody>
                  <a:tcPr/>
                </a:tc>
                <a:tc>
                  <a:txBody>
                    <a:bodyPr/>
                    <a:lstStyle/>
                    <a:p>
                      <a:pPr algn="ctr"/>
                      <a:r>
                        <a:rPr lang="en-US" altLang="zh-TW" dirty="0"/>
                        <a:t>High</a:t>
                      </a:r>
                      <a:endParaRPr lang="zh-TW" altLang="en-US" dirty="0"/>
                    </a:p>
                  </a:txBody>
                  <a:tcPr/>
                </a:tc>
                <a:tc>
                  <a:txBody>
                    <a:bodyPr/>
                    <a:lstStyle/>
                    <a:p>
                      <a:pPr algn="ctr"/>
                      <a:r>
                        <a:rPr lang="en-US" altLang="zh-TW" dirty="0"/>
                        <a:t>True</a:t>
                      </a:r>
                      <a:endParaRPr lang="zh-TW" altLang="en-US" dirty="0"/>
                    </a:p>
                  </a:txBody>
                  <a:tcPr/>
                </a:tc>
                <a:tc>
                  <a:txBody>
                    <a:bodyPr/>
                    <a:lstStyle/>
                    <a:p>
                      <a:pPr algn="ctr"/>
                      <a:r>
                        <a:rPr lang="en-US" altLang="zh-TW" dirty="0"/>
                        <a:t>N</a:t>
                      </a:r>
                      <a:endParaRPr lang="zh-TW" altLang="en-US" dirty="0"/>
                    </a:p>
                  </a:txBody>
                  <a:tcPr/>
                </a:tc>
                <a:extLst>
                  <a:ext uri="{0D108BD9-81ED-4DB2-BD59-A6C34878D82A}">
                    <a16:rowId xmlns:a16="http://schemas.microsoft.com/office/drawing/2014/main" xmlns="" val="2255765410"/>
                  </a:ext>
                </a:extLst>
              </a:tr>
              <a:tr h="36941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Day8</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Sunny</a:t>
                      </a:r>
                      <a:endParaRPr lang="zh-TW" altLang="en-US" dirty="0"/>
                    </a:p>
                  </a:txBody>
                  <a:tcPr/>
                </a:tc>
                <a:tc>
                  <a:txBody>
                    <a:bodyPr/>
                    <a:lstStyle/>
                    <a:p>
                      <a:pPr algn="ctr"/>
                      <a:r>
                        <a:rPr lang="en-US" altLang="zh-TW" dirty="0"/>
                        <a:t>Mild</a:t>
                      </a:r>
                      <a:endParaRPr lang="zh-TW" altLang="en-US" dirty="0"/>
                    </a:p>
                  </a:txBody>
                  <a:tcPr/>
                </a:tc>
                <a:tc>
                  <a:txBody>
                    <a:bodyPr/>
                    <a:lstStyle/>
                    <a:p>
                      <a:pPr algn="ctr"/>
                      <a:r>
                        <a:rPr lang="en-US" altLang="zh-TW" dirty="0"/>
                        <a:t>High</a:t>
                      </a:r>
                      <a:endParaRPr lang="zh-TW" altLang="en-US" dirty="0"/>
                    </a:p>
                  </a:txBody>
                  <a:tcPr/>
                </a:tc>
                <a:tc>
                  <a:txBody>
                    <a:bodyPr/>
                    <a:lstStyle/>
                    <a:p>
                      <a:pPr algn="ctr"/>
                      <a:r>
                        <a:rPr lang="en-US" altLang="zh-TW" dirty="0"/>
                        <a:t>False</a:t>
                      </a:r>
                      <a:endParaRPr lang="zh-TW" altLang="en-US" dirty="0"/>
                    </a:p>
                  </a:txBody>
                  <a:tcPr/>
                </a:tc>
                <a:tc>
                  <a:txBody>
                    <a:bodyPr/>
                    <a:lstStyle/>
                    <a:p>
                      <a:pPr algn="ctr"/>
                      <a:r>
                        <a:rPr lang="en-US" altLang="zh-TW" dirty="0"/>
                        <a:t>N</a:t>
                      </a:r>
                      <a:endParaRPr lang="zh-TW" altLang="en-US" dirty="0"/>
                    </a:p>
                  </a:txBody>
                  <a:tcPr/>
                </a:tc>
                <a:extLst>
                  <a:ext uri="{0D108BD9-81ED-4DB2-BD59-A6C34878D82A}">
                    <a16:rowId xmlns:a16="http://schemas.microsoft.com/office/drawing/2014/main" xmlns="" val="952202239"/>
                  </a:ext>
                </a:extLst>
              </a:tr>
              <a:tr h="36941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Day9</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Sunny</a:t>
                      </a:r>
                      <a:endParaRPr lang="zh-TW" altLang="en-US" dirty="0"/>
                    </a:p>
                  </a:txBody>
                  <a:tcPr/>
                </a:tc>
                <a:tc>
                  <a:txBody>
                    <a:bodyPr/>
                    <a:lstStyle/>
                    <a:p>
                      <a:pPr algn="ctr"/>
                      <a:r>
                        <a:rPr lang="en-US" altLang="zh-TW" dirty="0"/>
                        <a:t>Cold</a:t>
                      </a:r>
                      <a:endParaRPr lang="zh-TW" altLang="en-US" dirty="0"/>
                    </a:p>
                  </a:txBody>
                  <a:tcPr/>
                </a:tc>
                <a:tc>
                  <a:txBody>
                    <a:bodyPr/>
                    <a:lstStyle/>
                    <a:p>
                      <a:pPr algn="ctr"/>
                      <a:r>
                        <a:rPr lang="en-US" altLang="zh-TW" dirty="0"/>
                        <a:t>Normal</a:t>
                      </a:r>
                      <a:endParaRPr lang="zh-TW" altLang="en-US" dirty="0"/>
                    </a:p>
                  </a:txBody>
                  <a:tcPr/>
                </a:tc>
                <a:tc>
                  <a:txBody>
                    <a:bodyPr/>
                    <a:lstStyle/>
                    <a:p>
                      <a:pPr algn="ctr"/>
                      <a:r>
                        <a:rPr lang="en-US" altLang="zh-TW" dirty="0"/>
                        <a:t>False</a:t>
                      </a:r>
                      <a:endParaRPr lang="zh-TW" altLang="en-US" dirty="0"/>
                    </a:p>
                  </a:txBody>
                  <a:tcPr/>
                </a:tc>
                <a:tc>
                  <a:txBody>
                    <a:bodyPr/>
                    <a:lstStyle/>
                    <a:p>
                      <a:pPr algn="ctr"/>
                      <a:r>
                        <a:rPr lang="en-US" altLang="zh-TW" dirty="0"/>
                        <a:t>Y</a:t>
                      </a:r>
                      <a:endParaRPr lang="zh-TW" altLang="en-US" dirty="0"/>
                    </a:p>
                  </a:txBody>
                  <a:tcPr/>
                </a:tc>
                <a:extLst>
                  <a:ext uri="{0D108BD9-81ED-4DB2-BD59-A6C34878D82A}">
                    <a16:rowId xmlns:a16="http://schemas.microsoft.com/office/drawing/2014/main" xmlns="" val="1107228750"/>
                  </a:ext>
                </a:extLst>
              </a:tr>
              <a:tr h="36941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Day11</a:t>
                      </a:r>
                      <a:endParaRPr lang="zh-TW"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t>Sunny</a:t>
                      </a:r>
                      <a:endParaRPr lang="zh-TW" altLang="en-US" dirty="0"/>
                    </a:p>
                  </a:txBody>
                  <a:tcPr/>
                </a:tc>
                <a:tc>
                  <a:txBody>
                    <a:bodyPr/>
                    <a:lstStyle/>
                    <a:p>
                      <a:pPr algn="ctr"/>
                      <a:r>
                        <a:rPr lang="en-US" altLang="zh-TW" dirty="0"/>
                        <a:t>Mild</a:t>
                      </a:r>
                      <a:endParaRPr lang="zh-TW" altLang="en-US" dirty="0"/>
                    </a:p>
                  </a:txBody>
                  <a:tcPr/>
                </a:tc>
                <a:tc>
                  <a:txBody>
                    <a:bodyPr/>
                    <a:lstStyle/>
                    <a:p>
                      <a:pPr algn="ctr"/>
                      <a:r>
                        <a:rPr lang="en-US" altLang="zh-TW" dirty="0"/>
                        <a:t>Normal</a:t>
                      </a:r>
                      <a:endParaRPr lang="zh-TW" altLang="en-US" dirty="0"/>
                    </a:p>
                  </a:txBody>
                  <a:tcPr/>
                </a:tc>
                <a:tc>
                  <a:txBody>
                    <a:bodyPr/>
                    <a:lstStyle/>
                    <a:p>
                      <a:pPr algn="ctr"/>
                      <a:r>
                        <a:rPr lang="en-US" altLang="zh-TW" dirty="0"/>
                        <a:t>True</a:t>
                      </a:r>
                      <a:endParaRPr lang="zh-TW" altLang="en-US" dirty="0"/>
                    </a:p>
                  </a:txBody>
                  <a:tcPr/>
                </a:tc>
                <a:tc>
                  <a:txBody>
                    <a:bodyPr/>
                    <a:lstStyle/>
                    <a:p>
                      <a:pPr algn="ctr"/>
                      <a:r>
                        <a:rPr lang="en-US" altLang="zh-TW" dirty="0"/>
                        <a:t>Y</a:t>
                      </a:r>
                      <a:endParaRPr lang="zh-TW" altLang="en-US" dirty="0"/>
                    </a:p>
                  </a:txBody>
                  <a:tcPr/>
                </a:tc>
                <a:extLst>
                  <a:ext uri="{0D108BD9-81ED-4DB2-BD59-A6C34878D82A}">
                    <a16:rowId xmlns:a16="http://schemas.microsoft.com/office/drawing/2014/main" xmlns="" val="2900145699"/>
                  </a:ext>
                </a:extLst>
              </a:tr>
            </a:tbl>
          </a:graphicData>
        </a:graphic>
      </p:graphicFrame>
      <p:grpSp>
        <p:nvGrpSpPr>
          <p:cNvPr id="2" name="群組 1"/>
          <p:cNvGrpSpPr/>
          <p:nvPr/>
        </p:nvGrpSpPr>
        <p:grpSpPr>
          <a:xfrm>
            <a:off x="50846" y="2149243"/>
            <a:ext cx="3767754" cy="2217505"/>
            <a:chOff x="712194" y="1893455"/>
            <a:chExt cx="4620554" cy="3006229"/>
          </a:xfrm>
        </p:grpSpPr>
        <p:sp>
          <p:nvSpPr>
            <p:cNvPr id="6" name="橢圓 5"/>
            <p:cNvSpPr/>
            <p:nvPr/>
          </p:nvSpPr>
          <p:spPr>
            <a:xfrm>
              <a:off x="1873173" y="1893455"/>
              <a:ext cx="1949437"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Temperature</a:t>
              </a:r>
              <a:endParaRPr lang="zh-TW" altLang="en-US" dirty="0"/>
            </a:p>
          </p:txBody>
        </p:sp>
        <p:cxnSp>
          <p:nvCxnSpPr>
            <p:cNvPr id="8" name="直線單箭頭接點 7"/>
            <p:cNvCxnSpPr>
              <a:cxnSpLocks/>
              <a:stCxn id="6" idx="4"/>
              <a:endCxn id="16" idx="0"/>
            </p:cNvCxnSpPr>
            <p:nvPr/>
          </p:nvCxnSpPr>
          <p:spPr>
            <a:xfrm>
              <a:off x="2847892" y="2595419"/>
              <a:ext cx="2114879" cy="9769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直線單箭頭接點 8"/>
            <p:cNvCxnSpPr>
              <a:cxnSpLocks/>
              <a:stCxn id="6" idx="4"/>
              <a:endCxn id="14" idx="0"/>
            </p:cNvCxnSpPr>
            <p:nvPr/>
          </p:nvCxnSpPr>
          <p:spPr>
            <a:xfrm flipH="1">
              <a:off x="1059360" y="2595419"/>
              <a:ext cx="1788531" cy="97693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0" name="文字方塊 9"/>
            <p:cNvSpPr txBox="1"/>
            <p:nvPr/>
          </p:nvSpPr>
          <p:spPr>
            <a:xfrm>
              <a:off x="1403190" y="2683846"/>
              <a:ext cx="818598" cy="369332"/>
            </a:xfrm>
            <a:prstGeom prst="rect">
              <a:avLst/>
            </a:prstGeom>
            <a:noFill/>
          </p:spPr>
          <p:txBody>
            <a:bodyPr wrap="square" rtlCol="0">
              <a:spAutoFit/>
            </a:bodyPr>
            <a:lstStyle/>
            <a:p>
              <a:r>
                <a:rPr lang="en-US" altLang="zh-TW" dirty="0"/>
                <a:t>Hot</a:t>
              </a:r>
              <a:endParaRPr lang="zh-TW" altLang="en-US" dirty="0"/>
            </a:p>
          </p:txBody>
        </p:sp>
        <p:sp>
          <p:nvSpPr>
            <p:cNvPr id="11" name="文字方塊 10"/>
            <p:cNvSpPr txBox="1"/>
            <p:nvPr/>
          </p:nvSpPr>
          <p:spPr>
            <a:xfrm>
              <a:off x="3927929" y="2680031"/>
              <a:ext cx="869400" cy="500696"/>
            </a:xfrm>
            <a:prstGeom prst="rect">
              <a:avLst/>
            </a:prstGeom>
            <a:noFill/>
          </p:spPr>
          <p:txBody>
            <a:bodyPr wrap="square" rtlCol="0">
              <a:spAutoFit/>
            </a:bodyPr>
            <a:lstStyle/>
            <a:p>
              <a:r>
                <a:rPr lang="en-US" altLang="zh-TW" dirty="0"/>
                <a:t>Cool</a:t>
              </a:r>
              <a:endParaRPr lang="zh-TW" altLang="en-US" dirty="0"/>
            </a:p>
          </p:txBody>
        </p:sp>
        <p:cxnSp>
          <p:nvCxnSpPr>
            <p:cNvPr id="12" name="直線單箭頭接點 11"/>
            <p:cNvCxnSpPr>
              <a:cxnSpLocks/>
              <a:stCxn id="6" idx="4"/>
              <a:endCxn id="15" idx="0"/>
            </p:cNvCxnSpPr>
            <p:nvPr/>
          </p:nvCxnSpPr>
          <p:spPr>
            <a:xfrm>
              <a:off x="2847892" y="2595419"/>
              <a:ext cx="33383" cy="97693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3" name="文字方塊 12"/>
            <p:cNvSpPr txBox="1"/>
            <p:nvPr/>
          </p:nvSpPr>
          <p:spPr>
            <a:xfrm>
              <a:off x="2805445" y="2957127"/>
              <a:ext cx="1017166" cy="369332"/>
            </a:xfrm>
            <a:prstGeom prst="rect">
              <a:avLst/>
            </a:prstGeom>
            <a:noFill/>
          </p:spPr>
          <p:txBody>
            <a:bodyPr wrap="square" rtlCol="0">
              <a:spAutoFit/>
            </a:bodyPr>
            <a:lstStyle/>
            <a:p>
              <a:r>
                <a:rPr lang="en-US" altLang="zh-TW" dirty="0"/>
                <a:t>Mild</a:t>
              </a:r>
              <a:endParaRPr lang="zh-TW" altLang="en-US" dirty="0"/>
            </a:p>
          </p:txBody>
        </p:sp>
        <p:sp>
          <p:nvSpPr>
            <p:cNvPr id="14" name="文字方塊 13"/>
            <p:cNvSpPr txBox="1"/>
            <p:nvPr/>
          </p:nvSpPr>
          <p:spPr>
            <a:xfrm>
              <a:off x="712194" y="3572356"/>
              <a:ext cx="694332" cy="876219"/>
            </a:xfrm>
            <a:prstGeom prst="rect">
              <a:avLst/>
            </a:prstGeom>
            <a:noFill/>
          </p:spPr>
          <p:txBody>
            <a:bodyPr wrap="none" rtlCol="0">
              <a:spAutoFit/>
            </a:bodyPr>
            <a:lstStyle/>
            <a:p>
              <a:r>
                <a:rPr lang="en-US" altLang="zh-TW" dirty="0"/>
                <a:t>P=0</a:t>
              </a:r>
            </a:p>
            <a:p>
              <a:r>
                <a:rPr lang="en-US" altLang="zh-TW" dirty="0"/>
                <a:t>N=2</a:t>
              </a:r>
              <a:endParaRPr lang="zh-TW" altLang="en-US" dirty="0"/>
            </a:p>
          </p:txBody>
        </p:sp>
        <p:sp>
          <p:nvSpPr>
            <p:cNvPr id="15" name="文字方塊 14"/>
            <p:cNvSpPr txBox="1"/>
            <p:nvPr/>
          </p:nvSpPr>
          <p:spPr>
            <a:xfrm>
              <a:off x="2534109" y="3572354"/>
              <a:ext cx="694332" cy="876219"/>
            </a:xfrm>
            <a:prstGeom prst="rect">
              <a:avLst/>
            </a:prstGeom>
            <a:noFill/>
          </p:spPr>
          <p:txBody>
            <a:bodyPr wrap="none" rtlCol="0">
              <a:spAutoFit/>
            </a:bodyPr>
            <a:lstStyle/>
            <a:p>
              <a:r>
                <a:rPr lang="en-US" altLang="zh-TW" dirty="0"/>
                <a:t>P=1</a:t>
              </a:r>
            </a:p>
            <a:p>
              <a:r>
                <a:rPr lang="en-US" altLang="zh-TW" dirty="0"/>
                <a:t>N=1</a:t>
              </a:r>
              <a:endParaRPr lang="zh-TW" altLang="en-US" dirty="0"/>
            </a:p>
          </p:txBody>
        </p:sp>
        <p:sp>
          <p:nvSpPr>
            <p:cNvPr id="16" name="文字方塊 15"/>
            <p:cNvSpPr txBox="1"/>
            <p:nvPr/>
          </p:nvSpPr>
          <p:spPr>
            <a:xfrm>
              <a:off x="4615605" y="3572356"/>
              <a:ext cx="694331" cy="876219"/>
            </a:xfrm>
            <a:prstGeom prst="rect">
              <a:avLst/>
            </a:prstGeom>
            <a:noFill/>
          </p:spPr>
          <p:txBody>
            <a:bodyPr wrap="none" rtlCol="0">
              <a:spAutoFit/>
            </a:bodyPr>
            <a:lstStyle/>
            <a:p>
              <a:r>
                <a:rPr lang="en-US" altLang="zh-TW" dirty="0"/>
                <a:t>P=1</a:t>
              </a:r>
            </a:p>
            <a:p>
              <a:r>
                <a:rPr lang="en-US" altLang="zh-TW" dirty="0"/>
                <a:t>N=0</a:t>
              </a:r>
              <a:endParaRPr lang="zh-TW" altLang="en-US" dirty="0"/>
            </a:p>
          </p:txBody>
        </p:sp>
        <mc:AlternateContent xmlns:mc="http://schemas.openxmlformats.org/markup-compatibility/2006" xmlns:a14="http://schemas.microsoft.com/office/drawing/2010/main">
          <mc:Choice Requires="a14">
            <p:sp>
              <p:nvSpPr>
                <p:cNvPr id="17" name="矩形 16"/>
                <p:cNvSpPr/>
                <p:nvPr/>
              </p:nvSpPr>
              <p:spPr>
                <a:xfrm>
                  <a:off x="820697" y="4342486"/>
                  <a:ext cx="4512051" cy="5571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𝑠𝑢𝑛𝑛𝑦</m:t>
                                </m:r>
                              </m:sub>
                            </m:sSub>
                            <m:r>
                              <a:rPr lang="en-US" altLang="zh-TW" i="1">
                                <a:latin typeface="Cambria Math" panose="02040503050406030204" pitchFamily="18" charset="0"/>
                              </a:rPr>
                              <m:t>,</m:t>
                            </m:r>
                            <m:r>
                              <m:rPr>
                                <m:nor/>
                              </m:rPr>
                              <a:rPr lang="en-US" altLang="zh-TW" dirty="0" smtClean="0"/>
                              <m:t>Temperature</m:t>
                            </m:r>
                            <m:r>
                              <m:rPr>
                                <m:nor/>
                              </m:rPr>
                              <a:rPr lang="zh-TW" altLang="en-US" dirty="0" smtClean="0"/>
                              <m:t> </m:t>
                            </m:r>
                          </m:e>
                        </m:d>
                        <m:r>
                          <a:rPr lang="en-US" altLang="zh-TW" b="0" i="1" smtClean="0">
                            <a:latin typeface="Cambria Math" panose="02040503050406030204" pitchFamily="18" charset="0"/>
                          </a:rPr>
                          <m:t>=0.57</m:t>
                        </m:r>
                      </m:oMath>
                    </m:oMathPara>
                  </a14:m>
                  <a:endParaRPr lang="zh-TW"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820697" y="4342486"/>
                  <a:ext cx="4512051" cy="557198"/>
                </a:xfrm>
                <a:prstGeom prst="rect">
                  <a:avLst/>
                </a:prstGeom>
                <a:blipFill>
                  <a:blip r:embed="rId3"/>
                  <a:stretch>
                    <a:fillRect b="-2985"/>
                  </a:stretch>
                </a:blipFill>
              </p:spPr>
              <p:txBody>
                <a:bodyPr/>
                <a:lstStyle/>
                <a:p>
                  <a:r>
                    <a:rPr lang="zh-TW" altLang="en-US">
                      <a:noFill/>
                    </a:rPr>
                    <a:t> </a:t>
                  </a:r>
                </a:p>
              </p:txBody>
            </p:sp>
          </mc:Fallback>
        </mc:AlternateContent>
      </p:grpSp>
      <p:sp>
        <p:nvSpPr>
          <p:cNvPr id="18" name="橢圓 17"/>
          <p:cNvSpPr/>
          <p:nvPr/>
        </p:nvSpPr>
        <p:spPr>
          <a:xfrm>
            <a:off x="5130726" y="2149243"/>
            <a:ext cx="1618716" cy="534293"/>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Humidity</a:t>
            </a:r>
            <a:endParaRPr lang="zh-TW" altLang="en-US" dirty="0"/>
          </a:p>
        </p:txBody>
      </p:sp>
      <p:cxnSp>
        <p:nvCxnSpPr>
          <p:cNvPr id="19" name="直線單箭頭接點 18"/>
          <p:cNvCxnSpPr>
            <a:cxnSpLocks/>
            <a:stCxn id="18" idx="4"/>
            <a:endCxn id="24" idx="0"/>
          </p:cNvCxnSpPr>
          <p:nvPr/>
        </p:nvCxnSpPr>
        <p:spPr>
          <a:xfrm>
            <a:off x="5940084" y="2683536"/>
            <a:ext cx="1896361" cy="9044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直線單箭頭接點 19"/>
          <p:cNvCxnSpPr>
            <a:cxnSpLocks/>
            <a:stCxn id="18" idx="4"/>
            <a:endCxn id="23" idx="0"/>
          </p:cNvCxnSpPr>
          <p:nvPr/>
        </p:nvCxnSpPr>
        <p:spPr>
          <a:xfrm flipH="1">
            <a:off x="4382060" y="2683536"/>
            <a:ext cx="1558024" cy="86829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1" name="文字方塊 20"/>
          <p:cNvSpPr txBox="1"/>
          <p:nvPr/>
        </p:nvSpPr>
        <p:spPr>
          <a:xfrm>
            <a:off x="4565567" y="2723962"/>
            <a:ext cx="727336" cy="281113"/>
          </a:xfrm>
          <a:prstGeom prst="rect">
            <a:avLst/>
          </a:prstGeom>
          <a:noFill/>
        </p:spPr>
        <p:txBody>
          <a:bodyPr wrap="square" rtlCol="0">
            <a:spAutoFit/>
          </a:bodyPr>
          <a:lstStyle/>
          <a:p>
            <a:r>
              <a:rPr lang="en-US" altLang="zh-TW" dirty="0"/>
              <a:t>High</a:t>
            </a:r>
            <a:endParaRPr lang="zh-TW" altLang="en-US" dirty="0"/>
          </a:p>
        </p:txBody>
      </p:sp>
      <p:sp>
        <p:nvSpPr>
          <p:cNvPr id="22" name="文字方塊 21"/>
          <p:cNvSpPr txBox="1"/>
          <p:nvPr/>
        </p:nvSpPr>
        <p:spPr>
          <a:xfrm>
            <a:off x="6821692" y="2683536"/>
            <a:ext cx="1014753" cy="369332"/>
          </a:xfrm>
          <a:prstGeom prst="rect">
            <a:avLst/>
          </a:prstGeom>
          <a:noFill/>
        </p:spPr>
        <p:txBody>
          <a:bodyPr wrap="square" rtlCol="0">
            <a:spAutoFit/>
          </a:bodyPr>
          <a:lstStyle/>
          <a:p>
            <a:r>
              <a:rPr lang="en-US" altLang="zh-TW" dirty="0"/>
              <a:t>Normal</a:t>
            </a:r>
            <a:endParaRPr lang="zh-TW" altLang="en-US" dirty="0"/>
          </a:p>
        </p:txBody>
      </p:sp>
      <p:sp>
        <p:nvSpPr>
          <p:cNvPr id="23" name="文字方塊 22"/>
          <p:cNvSpPr txBox="1"/>
          <p:nvPr/>
        </p:nvSpPr>
        <p:spPr>
          <a:xfrm>
            <a:off x="4098969" y="3551834"/>
            <a:ext cx="566181" cy="646331"/>
          </a:xfrm>
          <a:prstGeom prst="rect">
            <a:avLst/>
          </a:prstGeom>
          <a:noFill/>
        </p:spPr>
        <p:txBody>
          <a:bodyPr wrap="none" rtlCol="0">
            <a:spAutoFit/>
          </a:bodyPr>
          <a:lstStyle/>
          <a:p>
            <a:r>
              <a:rPr lang="en-US" altLang="zh-TW" dirty="0"/>
              <a:t>P=0</a:t>
            </a:r>
          </a:p>
          <a:p>
            <a:r>
              <a:rPr lang="en-US" altLang="zh-TW" dirty="0"/>
              <a:t>N=3</a:t>
            </a:r>
            <a:endParaRPr lang="zh-TW" altLang="en-US" dirty="0"/>
          </a:p>
        </p:txBody>
      </p:sp>
      <p:sp>
        <p:nvSpPr>
          <p:cNvPr id="24" name="文字方塊 23"/>
          <p:cNvSpPr txBox="1"/>
          <p:nvPr/>
        </p:nvSpPr>
        <p:spPr>
          <a:xfrm>
            <a:off x="7553354" y="3587939"/>
            <a:ext cx="566181" cy="646331"/>
          </a:xfrm>
          <a:prstGeom prst="rect">
            <a:avLst/>
          </a:prstGeom>
          <a:noFill/>
        </p:spPr>
        <p:txBody>
          <a:bodyPr wrap="none" rtlCol="0">
            <a:spAutoFit/>
          </a:bodyPr>
          <a:lstStyle/>
          <a:p>
            <a:r>
              <a:rPr lang="en-US" altLang="zh-TW" dirty="0"/>
              <a:t>P=2</a:t>
            </a:r>
          </a:p>
          <a:p>
            <a:r>
              <a:rPr lang="en-US" altLang="zh-TW" dirty="0"/>
              <a:t>N=0</a:t>
            </a:r>
            <a:endParaRPr lang="zh-TW" altLang="en-US" dirty="0"/>
          </a:p>
        </p:txBody>
      </p:sp>
      <mc:AlternateContent xmlns:mc="http://schemas.openxmlformats.org/markup-compatibility/2006" xmlns:a14="http://schemas.microsoft.com/office/drawing/2010/main">
        <mc:Choice Requires="a14">
          <p:sp>
            <p:nvSpPr>
              <p:cNvPr id="25" name="矩形 24"/>
              <p:cNvSpPr/>
              <p:nvPr/>
            </p:nvSpPr>
            <p:spPr>
              <a:xfrm>
                <a:off x="4397094" y="3955737"/>
                <a:ext cx="3393108" cy="4110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𝑠𝑢𝑛𝑛𝑦</m:t>
                              </m:r>
                            </m:sub>
                          </m:sSub>
                          <m:r>
                            <a:rPr lang="en-US" altLang="zh-TW" i="1">
                              <a:latin typeface="Cambria Math" panose="02040503050406030204" pitchFamily="18" charset="0"/>
                            </a:rPr>
                            <m:t>, </m:t>
                          </m:r>
                          <m:r>
                            <a:rPr lang="en-US" altLang="zh-TW" b="0" i="1" smtClean="0">
                              <a:latin typeface="Cambria Math" panose="02040503050406030204" pitchFamily="18" charset="0"/>
                            </a:rPr>
                            <m:t>𝐻𝑢𝑚𝑖𝑑𝑖𝑡𝑦</m:t>
                          </m:r>
                        </m:e>
                      </m:d>
                      <m:r>
                        <a:rPr lang="en-US" altLang="zh-TW" b="0" i="1" smtClean="0">
                          <a:latin typeface="Cambria Math" panose="02040503050406030204" pitchFamily="18" charset="0"/>
                        </a:rPr>
                        <m:t>=</m:t>
                      </m:r>
                      <m:r>
                        <a:rPr lang="en-US" altLang="zh-TW" b="0" i="1" smtClean="0">
                          <a:solidFill>
                            <a:srgbClr val="FF0000"/>
                          </a:solidFill>
                          <a:latin typeface="Cambria Math" panose="02040503050406030204" pitchFamily="18" charset="0"/>
                        </a:rPr>
                        <m:t>0.97</m:t>
                      </m:r>
                    </m:oMath>
                  </m:oMathPara>
                </a14:m>
                <a:endParaRPr lang="zh-TW" altLang="en-US" dirty="0"/>
              </a:p>
            </p:txBody>
          </p:sp>
        </mc:Choice>
        <mc:Fallback xmlns="">
          <p:sp>
            <p:nvSpPr>
              <p:cNvPr id="25" name="矩形 24"/>
              <p:cNvSpPr>
                <a:spLocks noRot="1" noChangeAspect="1" noMove="1" noResize="1" noEditPoints="1" noAdjustHandles="1" noChangeArrowheads="1" noChangeShapeType="1" noTextEdit="1"/>
              </p:cNvSpPr>
              <p:nvPr/>
            </p:nvSpPr>
            <p:spPr>
              <a:xfrm>
                <a:off x="4397094" y="3955737"/>
                <a:ext cx="3393108" cy="411010"/>
              </a:xfrm>
              <a:prstGeom prst="rect">
                <a:avLst/>
              </a:prstGeom>
              <a:blipFill>
                <a:blip r:embed="rId4"/>
                <a:stretch>
                  <a:fillRect b="-7463"/>
                </a:stretch>
              </a:blipFill>
            </p:spPr>
            <p:txBody>
              <a:bodyPr/>
              <a:lstStyle/>
              <a:p>
                <a:r>
                  <a:rPr lang="zh-TW" altLang="en-US">
                    <a:noFill/>
                  </a:rPr>
                  <a:t> </a:t>
                </a:r>
              </a:p>
            </p:txBody>
          </p:sp>
        </mc:Fallback>
      </mc:AlternateContent>
      <p:grpSp>
        <p:nvGrpSpPr>
          <p:cNvPr id="35" name="群組 34"/>
          <p:cNvGrpSpPr/>
          <p:nvPr/>
        </p:nvGrpSpPr>
        <p:grpSpPr>
          <a:xfrm>
            <a:off x="8088327" y="2149243"/>
            <a:ext cx="4079708" cy="2088052"/>
            <a:chOff x="8199370" y="1709426"/>
            <a:chExt cx="4532416" cy="2668868"/>
          </a:xfrm>
        </p:grpSpPr>
        <p:sp>
          <p:nvSpPr>
            <p:cNvPr id="27" name="橢圓 26"/>
            <p:cNvSpPr/>
            <p:nvPr/>
          </p:nvSpPr>
          <p:spPr>
            <a:xfrm>
              <a:off x="9394469" y="1709426"/>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Wind</a:t>
              </a:r>
              <a:endParaRPr lang="zh-TW" altLang="en-US" dirty="0"/>
            </a:p>
          </p:txBody>
        </p:sp>
        <p:cxnSp>
          <p:nvCxnSpPr>
            <p:cNvPr id="28" name="直線單箭頭接點 27"/>
            <p:cNvCxnSpPr>
              <a:cxnSpLocks/>
              <a:stCxn id="27" idx="4"/>
              <a:endCxn id="33" idx="0"/>
            </p:cNvCxnSpPr>
            <p:nvPr/>
          </p:nvCxnSpPr>
          <p:spPr>
            <a:xfrm>
              <a:off x="10331961" y="2411390"/>
              <a:ext cx="2085322" cy="114078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9" name="直線單箭頭接點 28"/>
            <p:cNvCxnSpPr>
              <a:cxnSpLocks/>
              <a:stCxn id="27" idx="4"/>
              <a:endCxn id="32" idx="0"/>
            </p:cNvCxnSpPr>
            <p:nvPr/>
          </p:nvCxnSpPr>
          <p:spPr>
            <a:xfrm flipH="1">
              <a:off x="8513874" y="2411390"/>
              <a:ext cx="1818086" cy="114078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0" name="文字方塊 29"/>
            <p:cNvSpPr txBox="1"/>
            <p:nvPr/>
          </p:nvSpPr>
          <p:spPr>
            <a:xfrm>
              <a:off x="8739838" y="2464501"/>
              <a:ext cx="746108" cy="472066"/>
            </a:xfrm>
            <a:prstGeom prst="rect">
              <a:avLst/>
            </a:prstGeom>
            <a:noFill/>
          </p:spPr>
          <p:txBody>
            <a:bodyPr wrap="square" rtlCol="0">
              <a:spAutoFit/>
            </a:bodyPr>
            <a:lstStyle/>
            <a:p>
              <a:r>
                <a:rPr lang="en-US" altLang="zh-TW" dirty="0"/>
                <a:t>True</a:t>
              </a:r>
              <a:endParaRPr lang="zh-TW" altLang="en-US" dirty="0"/>
            </a:p>
          </p:txBody>
        </p:sp>
        <p:sp>
          <p:nvSpPr>
            <p:cNvPr id="31" name="文字方塊 30"/>
            <p:cNvSpPr txBox="1"/>
            <p:nvPr/>
          </p:nvSpPr>
          <p:spPr>
            <a:xfrm>
              <a:off x="11353140" y="2411389"/>
              <a:ext cx="853802" cy="472066"/>
            </a:xfrm>
            <a:prstGeom prst="rect">
              <a:avLst/>
            </a:prstGeom>
            <a:noFill/>
          </p:spPr>
          <p:txBody>
            <a:bodyPr wrap="square" rtlCol="0">
              <a:spAutoFit/>
            </a:bodyPr>
            <a:lstStyle/>
            <a:p>
              <a:r>
                <a:rPr lang="en-US" altLang="zh-TW" dirty="0"/>
                <a:t>False</a:t>
              </a:r>
              <a:endParaRPr lang="zh-TW" altLang="en-US" dirty="0"/>
            </a:p>
          </p:txBody>
        </p:sp>
        <p:sp>
          <p:nvSpPr>
            <p:cNvPr id="32" name="文字方塊 31"/>
            <p:cNvSpPr txBox="1"/>
            <p:nvPr/>
          </p:nvSpPr>
          <p:spPr>
            <a:xfrm>
              <a:off x="8199370" y="3552176"/>
              <a:ext cx="629008" cy="826116"/>
            </a:xfrm>
            <a:prstGeom prst="rect">
              <a:avLst/>
            </a:prstGeom>
            <a:noFill/>
          </p:spPr>
          <p:txBody>
            <a:bodyPr wrap="none" rtlCol="0">
              <a:spAutoFit/>
            </a:bodyPr>
            <a:lstStyle/>
            <a:p>
              <a:r>
                <a:rPr lang="en-US" altLang="zh-TW" dirty="0"/>
                <a:t>P=1</a:t>
              </a:r>
            </a:p>
            <a:p>
              <a:r>
                <a:rPr lang="en-US" altLang="zh-TW" dirty="0"/>
                <a:t>N=2</a:t>
              </a:r>
              <a:endParaRPr lang="zh-TW" altLang="en-US" dirty="0"/>
            </a:p>
          </p:txBody>
        </p:sp>
        <p:sp>
          <p:nvSpPr>
            <p:cNvPr id="33" name="文字方塊 32"/>
            <p:cNvSpPr txBox="1"/>
            <p:nvPr/>
          </p:nvSpPr>
          <p:spPr>
            <a:xfrm>
              <a:off x="12102778" y="3552178"/>
              <a:ext cx="629008" cy="826116"/>
            </a:xfrm>
            <a:prstGeom prst="rect">
              <a:avLst/>
            </a:prstGeom>
            <a:noFill/>
          </p:spPr>
          <p:txBody>
            <a:bodyPr wrap="none" rtlCol="0">
              <a:spAutoFit/>
            </a:bodyPr>
            <a:lstStyle/>
            <a:p>
              <a:r>
                <a:rPr lang="en-US" altLang="zh-TW" dirty="0"/>
                <a:t>P=1</a:t>
              </a:r>
            </a:p>
            <a:p>
              <a:r>
                <a:rPr lang="en-US" altLang="zh-TW" dirty="0"/>
                <a:t>N=1</a:t>
              </a:r>
              <a:endParaRPr lang="zh-TW" altLang="en-US" dirty="0"/>
            </a:p>
          </p:txBody>
        </p:sp>
        <mc:AlternateContent xmlns:mc="http://schemas.openxmlformats.org/markup-compatibility/2006" xmlns:a14="http://schemas.microsoft.com/office/drawing/2010/main">
          <mc:Choice Requires="a14">
            <p:sp>
              <p:nvSpPr>
                <p:cNvPr id="34" name="矩形 33"/>
                <p:cNvSpPr/>
                <p:nvPr/>
              </p:nvSpPr>
              <p:spPr>
                <a:xfrm>
                  <a:off x="9118038" y="4005096"/>
                  <a:ext cx="24278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𝐺𝑎𝑖𝑛</m:t>
                        </m:r>
                        <m:d>
                          <m:dPr>
                            <m:ctrlPr>
                              <a:rPr lang="en-US" altLang="zh-TW" i="1">
                                <a:latin typeface="Cambria Math" panose="02040503050406030204" pitchFamily="18" charset="0"/>
                              </a:rPr>
                            </m:ctrlPr>
                          </m:dPr>
                          <m:e>
                            <m:r>
                              <a:rPr lang="en-US" altLang="zh-TW" i="1">
                                <a:latin typeface="Cambria Math" panose="02040503050406030204" pitchFamily="18" charset="0"/>
                              </a:rPr>
                              <m:t>𝑆</m:t>
                            </m:r>
                            <m:r>
                              <a:rPr lang="en-US" altLang="zh-TW" i="1">
                                <a:latin typeface="Cambria Math" panose="02040503050406030204" pitchFamily="18" charset="0"/>
                              </a:rPr>
                              <m:t>, </m:t>
                            </m:r>
                            <m:r>
                              <a:rPr lang="en-US" altLang="zh-TW" b="0" i="1" smtClean="0">
                                <a:latin typeface="Cambria Math" panose="02040503050406030204" pitchFamily="18" charset="0"/>
                              </a:rPr>
                              <m:t>𝑊𝑖𝑛𝑑</m:t>
                            </m:r>
                          </m:e>
                        </m:d>
                        <m:r>
                          <a:rPr lang="en-US" altLang="zh-TW" b="0" i="1" smtClean="0">
                            <a:latin typeface="Cambria Math" panose="02040503050406030204" pitchFamily="18" charset="0"/>
                          </a:rPr>
                          <m:t>=0.48</m:t>
                        </m:r>
                      </m:oMath>
                    </m:oMathPara>
                  </a14:m>
                  <a:endParaRPr lang="zh-TW" altLang="en-US" dirty="0"/>
                </a:p>
              </p:txBody>
            </p:sp>
          </mc:Choice>
          <mc:Fallback xmlns="">
            <p:sp>
              <p:nvSpPr>
                <p:cNvPr id="34" name="矩形 33"/>
                <p:cNvSpPr>
                  <a:spLocks noRot="1" noChangeAspect="1" noMove="1" noResize="1" noEditPoints="1" noAdjustHandles="1" noChangeArrowheads="1" noChangeShapeType="1" noTextEdit="1"/>
                </p:cNvSpPr>
                <p:nvPr/>
              </p:nvSpPr>
              <p:spPr>
                <a:xfrm>
                  <a:off x="9118038" y="4005096"/>
                  <a:ext cx="2427844" cy="369332"/>
                </a:xfrm>
                <a:prstGeom prst="rect">
                  <a:avLst/>
                </a:prstGeom>
                <a:blipFill>
                  <a:blip r:embed="rId5"/>
                  <a:stretch>
                    <a:fillRect r="-7521" b="-18750"/>
                  </a:stretch>
                </a:blipFill>
              </p:spPr>
              <p:txBody>
                <a:bodyPr/>
                <a:lstStyle/>
                <a:p>
                  <a:r>
                    <a:rPr lang="zh-TW" altLang="en-US">
                      <a:noFill/>
                    </a:rPr>
                    <a:t> </a:t>
                  </a:r>
                </a:p>
              </p:txBody>
            </p:sp>
          </mc:Fallback>
        </mc:AlternateContent>
      </p:grpSp>
      <p:pic>
        <p:nvPicPr>
          <p:cNvPr id="36" name="圖片 35"/>
          <p:cNvPicPr>
            <a:picLocks noChangeAspect="1"/>
          </p:cNvPicPr>
          <p:nvPr/>
        </p:nvPicPr>
        <p:blipFill>
          <a:blip r:embed="rId6"/>
          <a:stretch>
            <a:fillRect/>
          </a:stretch>
        </p:blipFill>
        <p:spPr>
          <a:xfrm>
            <a:off x="6312353" y="208864"/>
            <a:ext cx="3202973" cy="1938867"/>
          </a:xfrm>
          <a:prstGeom prst="rect">
            <a:avLst/>
          </a:prstGeom>
        </p:spPr>
      </p:pic>
    </p:spTree>
    <p:extLst>
      <p:ext uri="{BB962C8B-B14F-4D97-AF65-F5344CB8AC3E}">
        <p14:creationId xmlns:p14="http://schemas.microsoft.com/office/powerpoint/2010/main" val="9118553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橢圓 4"/>
          <p:cNvSpPr/>
          <p:nvPr/>
        </p:nvSpPr>
        <p:spPr>
          <a:xfrm>
            <a:off x="5262787" y="1024159"/>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solidFill>
                  <a:schemeClr val="tx1"/>
                </a:solidFill>
              </a:rPr>
              <a:t>Outlook</a:t>
            </a:r>
            <a:endParaRPr lang="zh-TW" altLang="en-US" dirty="0">
              <a:solidFill>
                <a:schemeClr val="tx1"/>
              </a:solidFill>
            </a:endParaRPr>
          </a:p>
        </p:txBody>
      </p:sp>
      <p:cxnSp>
        <p:nvCxnSpPr>
          <p:cNvPr id="6" name="直線單箭頭接點 5"/>
          <p:cNvCxnSpPr>
            <a:cxnSpLocks/>
            <a:stCxn id="5" idx="4"/>
            <a:endCxn id="21" idx="0"/>
          </p:cNvCxnSpPr>
          <p:nvPr/>
        </p:nvCxnSpPr>
        <p:spPr>
          <a:xfrm>
            <a:off x="6200278" y="1726123"/>
            <a:ext cx="2340088" cy="10760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直線單箭頭接點 6"/>
          <p:cNvCxnSpPr>
            <a:cxnSpLocks/>
            <a:stCxn id="5" idx="4"/>
            <a:endCxn id="25" idx="0"/>
          </p:cNvCxnSpPr>
          <p:nvPr/>
        </p:nvCxnSpPr>
        <p:spPr>
          <a:xfrm flipH="1">
            <a:off x="3895557" y="1726123"/>
            <a:ext cx="2304721" cy="10760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文字方塊 7"/>
          <p:cNvSpPr txBox="1"/>
          <p:nvPr/>
        </p:nvSpPr>
        <p:spPr>
          <a:xfrm>
            <a:off x="4792803" y="1814550"/>
            <a:ext cx="818598" cy="369332"/>
          </a:xfrm>
          <a:prstGeom prst="rect">
            <a:avLst/>
          </a:prstGeom>
          <a:noFill/>
        </p:spPr>
        <p:txBody>
          <a:bodyPr wrap="square" rtlCol="0">
            <a:spAutoFit/>
          </a:bodyPr>
          <a:lstStyle/>
          <a:p>
            <a:r>
              <a:rPr lang="en-US" altLang="zh-TW" dirty="0"/>
              <a:t>Sunny</a:t>
            </a:r>
            <a:endParaRPr lang="zh-TW" altLang="en-US" dirty="0"/>
          </a:p>
        </p:txBody>
      </p:sp>
      <p:sp>
        <p:nvSpPr>
          <p:cNvPr id="9" name="文字方塊 8"/>
          <p:cNvSpPr txBox="1"/>
          <p:nvPr/>
        </p:nvSpPr>
        <p:spPr>
          <a:xfrm>
            <a:off x="7317543" y="1810734"/>
            <a:ext cx="652936" cy="369332"/>
          </a:xfrm>
          <a:prstGeom prst="rect">
            <a:avLst/>
          </a:prstGeom>
          <a:noFill/>
        </p:spPr>
        <p:txBody>
          <a:bodyPr wrap="square" rtlCol="0">
            <a:spAutoFit/>
          </a:bodyPr>
          <a:lstStyle/>
          <a:p>
            <a:r>
              <a:rPr lang="en-US" altLang="zh-TW" dirty="0"/>
              <a:t>Rain</a:t>
            </a:r>
            <a:endParaRPr lang="zh-TW" altLang="en-US" dirty="0"/>
          </a:p>
        </p:txBody>
      </p:sp>
      <p:cxnSp>
        <p:nvCxnSpPr>
          <p:cNvPr id="10" name="直線單箭頭接點 9"/>
          <p:cNvCxnSpPr>
            <a:cxnSpLocks/>
            <a:stCxn id="5" idx="4"/>
            <a:endCxn id="54" idx="0"/>
          </p:cNvCxnSpPr>
          <p:nvPr/>
        </p:nvCxnSpPr>
        <p:spPr>
          <a:xfrm flipH="1">
            <a:off x="6197669" y="1726123"/>
            <a:ext cx="2609" cy="10794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1" name="文字方塊 10"/>
          <p:cNvSpPr txBox="1"/>
          <p:nvPr/>
        </p:nvSpPr>
        <p:spPr>
          <a:xfrm>
            <a:off x="6195058" y="2087831"/>
            <a:ext cx="1017166" cy="369332"/>
          </a:xfrm>
          <a:prstGeom prst="rect">
            <a:avLst/>
          </a:prstGeom>
          <a:noFill/>
        </p:spPr>
        <p:txBody>
          <a:bodyPr wrap="square" rtlCol="0">
            <a:spAutoFit/>
          </a:bodyPr>
          <a:lstStyle/>
          <a:p>
            <a:r>
              <a:rPr lang="en-US" altLang="zh-TW" dirty="0"/>
              <a:t>Overcast</a:t>
            </a:r>
            <a:endParaRPr lang="zh-TW" altLang="en-US" dirty="0"/>
          </a:p>
        </p:txBody>
      </p:sp>
      <p:sp>
        <p:nvSpPr>
          <p:cNvPr id="21" name="橢圓 20"/>
          <p:cNvSpPr/>
          <p:nvPr/>
        </p:nvSpPr>
        <p:spPr>
          <a:xfrm>
            <a:off x="7602875" y="2802159"/>
            <a:ext cx="1874982" cy="701964"/>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solidFill>
                  <a:schemeClr val="tx1"/>
                </a:solidFill>
              </a:rPr>
              <a:t>Wind</a:t>
            </a:r>
            <a:endParaRPr lang="zh-TW" altLang="en-US" dirty="0">
              <a:solidFill>
                <a:schemeClr val="tx1"/>
              </a:solidFill>
            </a:endParaRPr>
          </a:p>
        </p:txBody>
      </p:sp>
      <p:sp>
        <p:nvSpPr>
          <p:cNvPr id="25" name="橢圓 24"/>
          <p:cNvSpPr/>
          <p:nvPr/>
        </p:nvSpPr>
        <p:spPr>
          <a:xfrm>
            <a:off x="3086199" y="2802159"/>
            <a:ext cx="1618716" cy="534293"/>
          </a:xfrm>
          <a:prstGeom prst="ellipse">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altLang="zh-TW" dirty="0"/>
              <a:t>Humidity</a:t>
            </a:r>
            <a:endParaRPr lang="zh-TW" altLang="en-US" dirty="0"/>
          </a:p>
        </p:txBody>
      </p:sp>
      <p:cxnSp>
        <p:nvCxnSpPr>
          <p:cNvPr id="26" name="直線單箭頭接點 25"/>
          <p:cNvCxnSpPr>
            <a:cxnSpLocks/>
            <a:stCxn id="25" idx="4"/>
            <a:endCxn id="50" idx="0"/>
          </p:cNvCxnSpPr>
          <p:nvPr/>
        </p:nvCxnSpPr>
        <p:spPr>
          <a:xfrm>
            <a:off x="3895557" y="3336452"/>
            <a:ext cx="1123904" cy="95526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直線單箭頭接點 26"/>
          <p:cNvCxnSpPr>
            <a:cxnSpLocks/>
            <a:stCxn id="25" idx="4"/>
            <a:endCxn id="44" idx="0"/>
          </p:cNvCxnSpPr>
          <p:nvPr/>
        </p:nvCxnSpPr>
        <p:spPr>
          <a:xfrm flipH="1">
            <a:off x="2658051" y="3336452"/>
            <a:ext cx="1237506" cy="9044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8" name="文字方塊 27"/>
          <p:cNvSpPr txBox="1"/>
          <p:nvPr/>
        </p:nvSpPr>
        <p:spPr>
          <a:xfrm>
            <a:off x="2521040" y="3376878"/>
            <a:ext cx="727336" cy="281113"/>
          </a:xfrm>
          <a:prstGeom prst="rect">
            <a:avLst/>
          </a:prstGeom>
          <a:noFill/>
        </p:spPr>
        <p:txBody>
          <a:bodyPr wrap="square" rtlCol="0">
            <a:spAutoFit/>
          </a:bodyPr>
          <a:lstStyle/>
          <a:p>
            <a:r>
              <a:rPr lang="en-US" altLang="zh-TW" dirty="0"/>
              <a:t>High</a:t>
            </a:r>
            <a:endParaRPr lang="zh-TW" altLang="en-US" dirty="0"/>
          </a:p>
        </p:txBody>
      </p:sp>
      <p:sp>
        <p:nvSpPr>
          <p:cNvPr id="29" name="文字方塊 28"/>
          <p:cNvSpPr txBox="1"/>
          <p:nvPr/>
        </p:nvSpPr>
        <p:spPr>
          <a:xfrm>
            <a:off x="4512083" y="3387313"/>
            <a:ext cx="1014753" cy="369332"/>
          </a:xfrm>
          <a:prstGeom prst="rect">
            <a:avLst/>
          </a:prstGeom>
          <a:noFill/>
        </p:spPr>
        <p:txBody>
          <a:bodyPr wrap="square" rtlCol="0">
            <a:spAutoFit/>
          </a:bodyPr>
          <a:lstStyle/>
          <a:p>
            <a:r>
              <a:rPr lang="en-US" altLang="zh-TW" dirty="0"/>
              <a:t>Normal</a:t>
            </a:r>
            <a:endParaRPr lang="zh-TW" altLang="en-US" dirty="0"/>
          </a:p>
        </p:txBody>
      </p:sp>
      <p:grpSp>
        <p:nvGrpSpPr>
          <p:cNvPr id="45" name="群組 44"/>
          <p:cNvGrpSpPr/>
          <p:nvPr/>
        </p:nvGrpSpPr>
        <p:grpSpPr>
          <a:xfrm>
            <a:off x="2431393" y="4240855"/>
            <a:ext cx="453315" cy="471054"/>
            <a:chOff x="1727200" y="4359564"/>
            <a:chExt cx="453315" cy="471054"/>
          </a:xfrm>
        </p:grpSpPr>
        <p:sp>
          <p:nvSpPr>
            <p:cNvPr id="43" name="文字方塊 42"/>
            <p:cNvSpPr txBox="1"/>
            <p:nvPr/>
          </p:nvSpPr>
          <p:spPr>
            <a:xfrm>
              <a:off x="1786984" y="4410425"/>
              <a:ext cx="333746" cy="369332"/>
            </a:xfrm>
            <a:prstGeom prst="rect">
              <a:avLst/>
            </a:prstGeom>
            <a:noFill/>
          </p:spPr>
          <p:txBody>
            <a:bodyPr wrap="square" rtlCol="0">
              <a:spAutoFit/>
            </a:bodyPr>
            <a:lstStyle/>
            <a:p>
              <a:r>
                <a:rPr lang="en-US" altLang="zh-TW" dirty="0"/>
                <a:t>N</a:t>
              </a:r>
              <a:endParaRPr lang="zh-TW" altLang="en-US" dirty="0"/>
            </a:p>
          </p:txBody>
        </p:sp>
        <p:sp>
          <p:nvSpPr>
            <p:cNvPr id="44" name="流程圖: 接點 43"/>
            <p:cNvSpPr/>
            <p:nvPr/>
          </p:nvSpPr>
          <p:spPr>
            <a:xfrm>
              <a:off x="1727200" y="4359564"/>
              <a:ext cx="453315" cy="471054"/>
            </a:xfrm>
            <a:prstGeom prst="flowChartConnector">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grpSp>
      <p:grpSp>
        <p:nvGrpSpPr>
          <p:cNvPr id="48" name="群組 47"/>
          <p:cNvGrpSpPr/>
          <p:nvPr/>
        </p:nvGrpSpPr>
        <p:grpSpPr>
          <a:xfrm>
            <a:off x="4792803" y="4291716"/>
            <a:ext cx="453315" cy="471054"/>
            <a:chOff x="1727200" y="4359564"/>
            <a:chExt cx="453315" cy="471054"/>
          </a:xfrm>
        </p:grpSpPr>
        <p:sp>
          <p:nvSpPr>
            <p:cNvPr id="49" name="文字方塊 48"/>
            <p:cNvSpPr txBox="1"/>
            <p:nvPr/>
          </p:nvSpPr>
          <p:spPr>
            <a:xfrm>
              <a:off x="1786984" y="4410425"/>
              <a:ext cx="333746" cy="369332"/>
            </a:xfrm>
            <a:prstGeom prst="rect">
              <a:avLst/>
            </a:prstGeom>
            <a:noFill/>
          </p:spPr>
          <p:txBody>
            <a:bodyPr wrap="square" rtlCol="0">
              <a:spAutoFit/>
            </a:bodyPr>
            <a:lstStyle/>
            <a:p>
              <a:r>
                <a:rPr lang="en-US" altLang="zh-TW" dirty="0"/>
                <a:t>P</a:t>
              </a:r>
              <a:endParaRPr lang="zh-TW" altLang="en-US" dirty="0"/>
            </a:p>
          </p:txBody>
        </p:sp>
        <p:sp>
          <p:nvSpPr>
            <p:cNvPr id="50" name="流程圖: 接點 49"/>
            <p:cNvSpPr/>
            <p:nvPr/>
          </p:nvSpPr>
          <p:spPr>
            <a:xfrm>
              <a:off x="1727200" y="4359564"/>
              <a:ext cx="453315" cy="471054"/>
            </a:xfrm>
            <a:prstGeom prst="flowChartConnector">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grpSp>
      <p:grpSp>
        <p:nvGrpSpPr>
          <p:cNvPr id="52" name="群組 51"/>
          <p:cNvGrpSpPr/>
          <p:nvPr/>
        </p:nvGrpSpPr>
        <p:grpSpPr>
          <a:xfrm>
            <a:off x="5971011" y="2805571"/>
            <a:ext cx="453315" cy="471054"/>
            <a:chOff x="1727200" y="4359564"/>
            <a:chExt cx="453315" cy="471054"/>
          </a:xfrm>
        </p:grpSpPr>
        <p:sp>
          <p:nvSpPr>
            <p:cNvPr id="53" name="文字方塊 52"/>
            <p:cNvSpPr txBox="1"/>
            <p:nvPr/>
          </p:nvSpPr>
          <p:spPr>
            <a:xfrm>
              <a:off x="1786984" y="4410425"/>
              <a:ext cx="333746" cy="369332"/>
            </a:xfrm>
            <a:prstGeom prst="rect">
              <a:avLst/>
            </a:prstGeom>
            <a:noFill/>
          </p:spPr>
          <p:txBody>
            <a:bodyPr wrap="square" rtlCol="0">
              <a:spAutoFit/>
            </a:bodyPr>
            <a:lstStyle/>
            <a:p>
              <a:r>
                <a:rPr lang="en-US" altLang="zh-TW" dirty="0"/>
                <a:t>P</a:t>
              </a:r>
              <a:endParaRPr lang="zh-TW" altLang="en-US" dirty="0"/>
            </a:p>
          </p:txBody>
        </p:sp>
        <p:sp>
          <p:nvSpPr>
            <p:cNvPr id="54" name="流程圖: 接點 53"/>
            <p:cNvSpPr/>
            <p:nvPr/>
          </p:nvSpPr>
          <p:spPr>
            <a:xfrm>
              <a:off x="1727200" y="4359564"/>
              <a:ext cx="453315" cy="471054"/>
            </a:xfrm>
            <a:prstGeom prst="flowChartConnector">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grpSp>
      <p:cxnSp>
        <p:nvCxnSpPr>
          <p:cNvPr id="57" name="直線單箭頭接點 56"/>
          <p:cNvCxnSpPr>
            <a:cxnSpLocks/>
            <a:stCxn id="21" idx="4"/>
            <a:endCxn id="64" idx="0"/>
          </p:cNvCxnSpPr>
          <p:nvPr/>
        </p:nvCxnSpPr>
        <p:spPr>
          <a:xfrm flipH="1">
            <a:off x="7262881" y="3504123"/>
            <a:ext cx="1277485" cy="78759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9" name="直線單箭頭接點 58"/>
          <p:cNvCxnSpPr>
            <a:cxnSpLocks/>
            <a:stCxn id="21" idx="4"/>
            <a:endCxn id="67" idx="0"/>
          </p:cNvCxnSpPr>
          <p:nvPr/>
        </p:nvCxnSpPr>
        <p:spPr>
          <a:xfrm>
            <a:off x="8540366" y="3504123"/>
            <a:ext cx="1310582" cy="83845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62" name="群組 61"/>
          <p:cNvGrpSpPr/>
          <p:nvPr/>
        </p:nvGrpSpPr>
        <p:grpSpPr>
          <a:xfrm>
            <a:off x="7036223" y="4291716"/>
            <a:ext cx="453315" cy="471054"/>
            <a:chOff x="1727200" y="4359564"/>
            <a:chExt cx="453315" cy="471054"/>
          </a:xfrm>
        </p:grpSpPr>
        <p:sp>
          <p:nvSpPr>
            <p:cNvPr id="63" name="文字方塊 62"/>
            <p:cNvSpPr txBox="1"/>
            <p:nvPr/>
          </p:nvSpPr>
          <p:spPr>
            <a:xfrm>
              <a:off x="1786984" y="4410425"/>
              <a:ext cx="333746" cy="369332"/>
            </a:xfrm>
            <a:prstGeom prst="rect">
              <a:avLst/>
            </a:prstGeom>
            <a:noFill/>
          </p:spPr>
          <p:txBody>
            <a:bodyPr wrap="square" rtlCol="0">
              <a:spAutoFit/>
            </a:bodyPr>
            <a:lstStyle/>
            <a:p>
              <a:r>
                <a:rPr lang="en-US" altLang="zh-TW" dirty="0"/>
                <a:t>N</a:t>
              </a:r>
              <a:endParaRPr lang="zh-TW" altLang="en-US" dirty="0"/>
            </a:p>
          </p:txBody>
        </p:sp>
        <p:sp>
          <p:nvSpPr>
            <p:cNvPr id="64" name="流程圖: 接點 63"/>
            <p:cNvSpPr/>
            <p:nvPr/>
          </p:nvSpPr>
          <p:spPr>
            <a:xfrm>
              <a:off x="1727200" y="4359564"/>
              <a:ext cx="453315" cy="471054"/>
            </a:xfrm>
            <a:prstGeom prst="flowChartConnector">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grpSp>
      <p:grpSp>
        <p:nvGrpSpPr>
          <p:cNvPr id="66" name="群組 65"/>
          <p:cNvGrpSpPr/>
          <p:nvPr/>
        </p:nvGrpSpPr>
        <p:grpSpPr>
          <a:xfrm>
            <a:off x="9624291" y="4291716"/>
            <a:ext cx="453315" cy="471054"/>
            <a:chOff x="1727200" y="4359564"/>
            <a:chExt cx="453315" cy="471054"/>
          </a:xfrm>
        </p:grpSpPr>
        <p:sp>
          <p:nvSpPr>
            <p:cNvPr id="67" name="文字方塊 66"/>
            <p:cNvSpPr txBox="1"/>
            <p:nvPr/>
          </p:nvSpPr>
          <p:spPr>
            <a:xfrm>
              <a:off x="1786984" y="4410425"/>
              <a:ext cx="333746" cy="369332"/>
            </a:xfrm>
            <a:prstGeom prst="rect">
              <a:avLst/>
            </a:prstGeom>
            <a:noFill/>
          </p:spPr>
          <p:txBody>
            <a:bodyPr wrap="square" rtlCol="0">
              <a:spAutoFit/>
            </a:bodyPr>
            <a:lstStyle/>
            <a:p>
              <a:r>
                <a:rPr lang="en-US" altLang="zh-TW" dirty="0"/>
                <a:t>P</a:t>
              </a:r>
              <a:endParaRPr lang="zh-TW" altLang="en-US" dirty="0"/>
            </a:p>
          </p:txBody>
        </p:sp>
        <p:sp>
          <p:nvSpPr>
            <p:cNvPr id="68" name="流程圖: 接點 67"/>
            <p:cNvSpPr/>
            <p:nvPr/>
          </p:nvSpPr>
          <p:spPr>
            <a:xfrm>
              <a:off x="1727200" y="4359564"/>
              <a:ext cx="453315" cy="471054"/>
            </a:xfrm>
            <a:prstGeom prst="flowChartConnector">
              <a:avLst/>
            </a:prstGeom>
            <a:noFill/>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grpSp>
      <p:sp>
        <p:nvSpPr>
          <p:cNvPr id="70" name="文字方塊 69"/>
          <p:cNvSpPr txBox="1"/>
          <p:nvPr/>
        </p:nvSpPr>
        <p:spPr>
          <a:xfrm>
            <a:off x="7219355" y="3475532"/>
            <a:ext cx="727336" cy="369332"/>
          </a:xfrm>
          <a:prstGeom prst="rect">
            <a:avLst/>
          </a:prstGeom>
          <a:noFill/>
        </p:spPr>
        <p:txBody>
          <a:bodyPr wrap="square" rtlCol="0">
            <a:spAutoFit/>
          </a:bodyPr>
          <a:lstStyle/>
          <a:p>
            <a:r>
              <a:rPr lang="en-US" altLang="zh-TW" dirty="0"/>
              <a:t>True</a:t>
            </a:r>
            <a:endParaRPr lang="zh-TW" altLang="en-US" dirty="0"/>
          </a:p>
        </p:txBody>
      </p:sp>
      <p:sp>
        <p:nvSpPr>
          <p:cNvPr id="71" name="文字方塊 70"/>
          <p:cNvSpPr txBox="1"/>
          <p:nvPr/>
        </p:nvSpPr>
        <p:spPr>
          <a:xfrm>
            <a:off x="9497709" y="3502191"/>
            <a:ext cx="727336" cy="369332"/>
          </a:xfrm>
          <a:prstGeom prst="rect">
            <a:avLst/>
          </a:prstGeom>
          <a:noFill/>
        </p:spPr>
        <p:txBody>
          <a:bodyPr wrap="square" rtlCol="0">
            <a:spAutoFit/>
          </a:bodyPr>
          <a:lstStyle/>
          <a:p>
            <a:r>
              <a:rPr lang="en-US" altLang="zh-TW" dirty="0"/>
              <a:t>False</a:t>
            </a:r>
            <a:endParaRPr lang="zh-TW" altLang="en-US" dirty="0"/>
          </a:p>
        </p:txBody>
      </p:sp>
    </p:spTree>
    <p:extLst>
      <p:ext uri="{BB962C8B-B14F-4D97-AF65-F5344CB8AC3E}">
        <p14:creationId xmlns:p14="http://schemas.microsoft.com/office/powerpoint/2010/main" val="4039395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2418" y="208107"/>
            <a:ext cx="10515600" cy="1325563"/>
          </a:xfrm>
        </p:spPr>
        <p:txBody>
          <a:bodyPr/>
          <a:lstStyle/>
          <a:p>
            <a:r>
              <a:rPr lang="en-US" altLang="zh-TW" dirty="0"/>
              <a:t>Gini</a:t>
            </a:r>
            <a:r>
              <a:rPr lang="zh-TW" altLang="en-US" dirty="0"/>
              <a:t>係數</a:t>
            </a: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82418" y="1533670"/>
                <a:ext cx="10515600" cy="3069648"/>
              </a:xfrm>
            </p:spPr>
            <p:txBody>
              <a:bodyPr/>
              <a:lstStyle/>
              <a:p>
                <a:pPr marL="0" indent="0">
                  <a:buNone/>
                </a:pPr>
                <a:r>
                  <a:rPr lang="zh-TW" altLang="en-US" dirty="0"/>
                  <a:t>跟一般的決策樹最大的差別在於其子節點都是採用二分法</a:t>
                </a:r>
                <a:endParaRPr lang="en-US" altLang="zh-TW" dirty="0"/>
              </a:p>
              <a:p>
                <a:pPr marL="0" indent="0">
                  <a:buNone/>
                </a:pPr>
                <a:r>
                  <a:rPr lang="zh-TW" altLang="en-US" dirty="0"/>
                  <a:t>假設資料集</a:t>
                </a:r>
                <a14:m>
                  <m:oMath xmlns:m="http://schemas.openxmlformats.org/officeDocument/2006/math">
                    <m:r>
                      <a:rPr lang="en-US" altLang="zh-TW" b="0" i="1" smtClean="0">
                        <a:latin typeface="Cambria Math" panose="02040503050406030204" pitchFamily="18" charset="0"/>
                      </a:rPr>
                      <m:t>𝑆</m:t>
                    </m:r>
                  </m:oMath>
                </a14:m>
                <a:r>
                  <a:rPr lang="zh-TW" altLang="en-US" dirty="0"/>
                  <a:t>包含</a:t>
                </a:r>
                <a14:m>
                  <m:oMath xmlns:m="http://schemas.openxmlformats.org/officeDocument/2006/math">
                    <m:r>
                      <a:rPr lang="en-US" altLang="zh-TW" b="0" i="1" dirty="0" smtClean="0">
                        <a:latin typeface="Cambria Math" panose="02040503050406030204" pitchFamily="18" charset="0"/>
                      </a:rPr>
                      <m:t>𝑛</m:t>
                    </m:r>
                  </m:oMath>
                </a14:m>
                <a:r>
                  <a:rPr lang="zh-TW" altLang="en-US" dirty="0"/>
                  <a:t>個類別，吉尼係數</a:t>
                </a:r>
                <a14:m>
                  <m:oMath xmlns:m="http://schemas.openxmlformats.org/officeDocument/2006/math">
                    <m:r>
                      <a:rPr lang="en-US" altLang="zh-TW" b="0" i="1" smtClean="0">
                        <a:latin typeface="Cambria Math" panose="02040503050406030204" pitchFamily="18" charset="0"/>
                      </a:rPr>
                      <m:t>𝐺𝑖𝑛𝑖</m:t>
                    </m:r>
                    <m:r>
                      <a:rPr lang="en-US" altLang="zh-TW" b="0" i="1" smtClean="0">
                        <a:latin typeface="Cambria Math" panose="02040503050406030204" pitchFamily="18" charset="0"/>
                      </a:rPr>
                      <m:t>(</m:t>
                    </m:r>
                    <m:r>
                      <a:rPr lang="en-US" altLang="zh-TW" b="0" i="1" smtClean="0">
                        <a:latin typeface="Cambria Math" panose="02040503050406030204" pitchFamily="18" charset="0"/>
                      </a:rPr>
                      <m:t>𝑆</m:t>
                    </m:r>
                    <m:r>
                      <a:rPr lang="en-US" altLang="zh-TW" b="0" i="1" smtClean="0">
                        <a:latin typeface="Cambria Math" panose="02040503050406030204" pitchFamily="18" charset="0"/>
                      </a:rPr>
                      <m:t>)</m:t>
                    </m:r>
                  </m:oMath>
                </a14:m>
                <a:r>
                  <a:rPr lang="zh-TW" altLang="en-US" dirty="0"/>
                  <a:t>定義為</a:t>
                </a:r>
                <a:r>
                  <a:rPr lang="en-US" altLang="zh-TW" dirty="0">
                    <a:latin typeface="Poor Richard" panose="02080502050505020702" pitchFamily="18" charset="0"/>
                  </a:rPr>
                  <a:t>:</a:t>
                </a:r>
              </a:p>
              <a:p>
                <a:pPr marL="0" indent="0">
                  <a:buNone/>
                </a:pPr>
                <a:endParaRPr lang="en-US" altLang="zh-TW" dirty="0">
                  <a:latin typeface="Poor Richard" panose="02080502050505020702"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𝐺𝑖𝑛𝑖</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e>
                      </m:d>
                      <m:r>
                        <a:rPr lang="en-US" altLang="zh-TW" b="0" i="1" smtClean="0">
                          <a:latin typeface="Cambria Math" panose="02040503050406030204" pitchFamily="18" charset="0"/>
                        </a:rPr>
                        <m:t>=1−</m:t>
                      </m:r>
                      <m:nary>
                        <m:naryPr>
                          <m:chr m:val="∑"/>
                          <m:limLoc m:val="subSup"/>
                          <m:ctrlPr>
                            <a:rPr lang="en-US" altLang="zh-TW" b="0" i="1" smtClean="0">
                              <a:latin typeface="Cambria Math" panose="02040503050406030204" pitchFamily="18" charset="0"/>
                            </a:rPr>
                          </m:ctrlPr>
                        </m:naryPr>
                        <m:sub>
                          <m:r>
                            <m:rPr>
                              <m:brk m:alnAt="25"/>
                            </m:rP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𝑛</m:t>
                          </m:r>
                        </m:sup>
                        <m:e>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𝑗</m:t>
                              </m:r>
                            </m:sub>
                            <m:sup>
                              <m:r>
                                <a:rPr lang="en-US" altLang="zh-TW" b="0" i="1" smtClean="0">
                                  <a:latin typeface="Cambria Math" panose="02040503050406030204" pitchFamily="18" charset="0"/>
                                </a:rPr>
                                <m:t>2</m:t>
                              </m:r>
                            </m:sup>
                          </m:sSubSup>
                        </m:e>
                      </m:nary>
                    </m:oMath>
                  </m:oMathPara>
                </a14:m>
                <a:endParaRPr lang="en-US" altLang="zh-TW" dirty="0"/>
              </a:p>
              <a:p>
                <a:pPr marL="0" indent="0">
                  <a:buNone/>
                </a:pP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𝑝</m:t>
                        </m:r>
                      </m:e>
                      <m:sub>
                        <m:r>
                          <a:rPr lang="en-US" altLang="zh-TW" b="0" i="1" smtClean="0">
                            <a:latin typeface="Cambria Math" panose="02040503050406030204" pitchFamily="18" charset="0"/>
                          </a:rPr>
                          <m:t>𝑗</m:t>
                        </m:r>
                      </m:sub>
                    </m:sSub>
                    <m:r>
                      <a:rPr lang="zh-TW" altLang="en-US" i="1">
                        <a:latin typeface="Cambria Math" panose="02040503050406030204" pitchFamily="18" charset="0"/>
                      </a:rPr>
                      <m:t>代表</m:t>
                    </m:r>
                  </m:oMath>
                </a14:m>
                <a:r>
                  <a:rPr lang="zh-TW" altLang="en-US" dirty="0"/>
                  <a:t>類別</a:t>
                </a:r>
                <a14:m>
                  <m:oMath xmlns:m="http://schemas.openxmlformats.org/officeDocument/2006/math">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𝑐</m:t>
                        </m:r>
                      </m:e>
                      <m:sub>
                        <m:r>
                          <a:rPr lang="en-US" altLang="zh-TW" i="1">
                            <a:latin typeface="Cambria Math" panose="02040503050406030204" pitchFamily="18" charset="0"/>
                          </a:rPr>
                          <m:t>𝑗</m:t>
                        </m:r>
                      </m:sub>
                    </m:sSub>
                  </m:oMath>
                </a14:m>
                <a:r>
                  <a:rPr lang="zh-TW" altLang="en-US" dirty="0"/>
                  <a:t>的機率。</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82418" y="1533670"/>
                <a:ext cx="10515600" cy="3069648"/>
              </a:xfrm>
              <a:blipFill>
                <a:blip r:embed="rId2"/>
                <a:stretch>
                  <a:fillRect l="-1217" t="-377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554766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字方塊 1"/>
              <p:cNvSpPr txBox="1"/>
              <p:nvPr/>
            </p:nvSpPr>
            <p:spPr>
              <a:xfrm>
                <a:off x="154787" y="234892"/>
                <a:ext cx="11863953" cy="400110"/>
              </a:xfrm>
              <a:prstGeom prst="rect">
                <a:avLst/>
              </a:prstGeom>
              <a:noFill/>
            </p:spPr>
            <p:txBody>
              <a:bodyPr wrap="none" rtlCol="0">
                <a:spAutoFit/>
              </a:bodyPr>
              <a:lstStyle/>
              <a:p>
                <a:r>
                  <a:rPr lang="zh-TW" altLang="en-US" sz="2000" dirty="0"/>
                  <a:t>假設將</a:t>
                </a:r>
                <a:r>
                  <a:rPr lang="en-US" altLang="zh-TW" sz="2000" dirty="0"/>
                  <a:t>Outlook</a:t>
                </a:r>
                <a:r>
                  <a:rPr lang="zh-TW" altLang="en-US" sz="2000" dirty="0"/>
                  <a:t>屬性分為兩類，其中</a:t>
                </a:r>
                <a:r>
                  <a:rPr lang="en-US" altLang="zh-TW" sz="2000" dirty="0"/>
                  <a:t>10</a:t>
                </a:r>
                <a:r>
                  <a:rPr lang="zh-TW" altLang="en-US" sz="2000" dirty="0"/>
                  <a:t>筆資料被分到</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𝑆</m:t>
                        </m:r>
                      </m:e>
                      <m:sub>
                        <m:r>
                          <a:rPr lang="en-US" altLang="zh-TW" sz="2000" b="0" i="1" smtClean="0">
                            <a:latin typeface="Cambria Math" panose="02040503050406030204" pitchFamily="18" charset="0"/>
                          </a:rPr>
                          <m:t>1</m:t>
                        </m:r>
                      </m:sub>
                    </m:sSub>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𝑆𝑢𝑛𝑛𝑦</m:t>
                    </m:r>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𝑅𝑎𝑖𝑛</m:t>
                    </m:r>
                    <m:r>
                      <a:rPr lang="en-US" altLang="zh-TW" sz="2000" b="0" i="1" smtClean="0">
                        <a:latin typeface="Cambria Math" panose="02040503050406030204" pitchFamily="18" charset="0"/>
                      </a:rPr>
                      <m:t>}</m:t>
                    </m:r>
                    <m:r>
                      <m:rPr>
                        <m:nor/>
                      </m:rPr>
                      <a:rPr lang="zh-TW" altLang="en-US" sz="2000" dirty="0"/>
                      <m:t>，</m:t>
                    </m:r>
                    <m:r>
                      <m:rPr>
                        <m:nor/>
                      </m:rPr>
                      <a:rPr lang="en-US" altLang="zh-TW" sz="2000" b="0" i="0" dirty="0" smtClean="0"/>
                      <m:t>4</m:t>
                    </m:r>
                    <m:r>
                      <m:rPr>
                        <m:nor/>
                      </m:rPr>
                      <a:rPr lang="zh-TW" altLang="en-US" sz="2000" dirty="0"/>
                      <m:t>筆資料被分到</m:t>
                    </m:r>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𝑆</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m:t>
                    </m:r>
                    <m:r>
                      <a:rPr lang="en-US" altLang="zh-TW" sz="2000" b="0" i="1" smtClean="0">
                        <a:latin typeface="Cambria Math" panose="02040503050406030204" pitchFamily="18" charset="0"/>
                      </a:rPr>
                      <m:t>𝑂𝑣𝑒𝑟𝑐𝑎𝑠𝑡</m:t>
                    </m:r>
                    <m:r>
                      <a:rPr lang="en-US" altLang="zh-TW" sz="2000" i="1">
                        <a:latin typeface="Cambria Math" panose="02040503050406030204" pitchFamily="18" charset="0"/>
                      </a:rPr>
                      <m:t>}</m:t>
                    </m:r>
                  </m:oMath>
                </a14:m>
                <a:endParaRPr lang="zh-TW" altLang="en-US" sz="2000" dirty="0"/>
              </a:p>
            </p:txBody>
          </p:sp>
        </mc:Choice>
        <mc:Fallback xmlns="">
          <p:sp>
            <p:nvSpPr>
              <p:cNvPr id="2" name="文字方塊 1"/>
              <p:cNvSpPr txBox="1">
                <a:spLocks noRot="1" noChangeAspect="1" noMove="1" noResize="1" noEditPoints="1" noAdjustHandles="1" noChangeArrowheads="1" noChangeShapeType="1" noTextEdit="1"/>
              </p:cNvSpPr>
              <p:nvPr/>
            </p:nvSpPr>
            <p:spPr>
              <a:xfrm>
                <a:off x="154787" y="234892"/>
                <a:ext cx="11863953" cy="400110"/>
              </a:xfrm>
              <a:prstGeom prst="rect">
                <a:avLst/>
              </a:prstGeom>
              <a:blipFill>
                <a:blip r:embed="rId2"/>
                <a:stretch>
                  <a:fillRect l="-514" t="-10769" b="-2769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327559" y="2612525"/>
                <a:ext cx="3949351" cy="642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1</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5</m:t>
                              </m:r>
                            </m:num>
                            <m:den>
                              <m:r>
                                <a:rPr lang="en-US" altLang="zh-TW" sz="2200" b="0" i="1" smtClean="0">
                                  <a:latin typeface="Cambria Math" panose="02040503050406030204" pitchFamily="18" charset="0"/>
                                </a:rPr>
                                <m:t>10</m:t>
                              </m:r>
                            </m:den>
                          </m:f>
                          <m:r>
                            <a:rPr lang="en-US" altLang="zh-TW" sz="2200" b="0" i="1" smtClean="0">
                              <a:latin typeface="Cambria Math" panose="02040503050406030204" pitchFamily="18" charset="0"/>
                            </a:rPr>
                            <m:t>)</m:t>
                          </m:r>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m:t>
                          </m:r>
                          <m:f>
                            <m:fPr>
                              <m:ctrlPr>
                                <a:rPr lang="en-US" altLang="zh-TW" sz="2200" i="1">
                                  <a:latin typeface="Cambria Math" panose="02040503050406030204" pitchFamily="18" charset="0"/>
                                </a:rPr>
                              </m:ctrlPr>
                            </m:fPr>
                            <m:num>
                              <m:r>
                                <a:rPr lang="en-US" altLang="zh-TW" sz="2200" i="1">
                                  <a:latin typeface="Cambria Math" panose="02040503050406030204" pitchFamily="18" charset="0"/>
                                </a:rPr>
                                <m:t>5</m:t>
                              </m:r>
                            </m:num>
                            <m:den>
                              <m:r>
                                <a:rPr lang="en-US" altLang="zh-TW" sz="2200" i="1">
                                  <a:latin typeface="Cambria Math" panose="02040503050406030204" pitchFamily="18" charset="0"/>
                                </a:rPr>
                                <m:t>10</m:t>
                              </m:r>
                            </m:den>
                          </m:f>
                          <m:r>
                            <a:rPr lang="en-US" altLang="zh-TW" sz="2200" b="0" i="1" smtClean="0">
                              <a:latin typeface="Cambria Math" panose="02040503050406030204" pitchFamily="18" charset="0"/>
                            </a:rPr>
                            <m:t>)</m:t>
                          </m:r>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f>
                        <m:fPr>
                          <m:ctrlPr>
                            <a:rPr lang="en-US" altLang="zh-TW" sz="2200" i="1">
                              <a:latin typeface="Cambria Math" panose="02040503050406030204" pitchFamily="18" charset="0"/>
                            </a:rPr>
                          </m:ctrlPr>
                        </m:fPr>
                        <m:num>
                          <m:r>
                            <a:rPr lang="en-US" altLang="zh-TW" sz="2200" i="1" smtClean="0">
                              <a:latin typeface="Cambria Math" panose="02040503050406030204" pitchFamily="18" charset="0"/>
                            </a:rPr>
                            <m:t>1</m:t>
                          </m:r>
                        </m:num>
                        <m:den>
                          <m:r>
                            <a:rPr lang="en-US" altLang="zh-TW" sz="2200" i="1" smtClean="0">
                              <a:latin typeface="Cambria Math" panose="02040503050406030204" pitchFamily="18" charset="0"/>
                            </a:rPr>
                            <m:t>2</m:t>
                          </m:r>
                        </m:den>
                      </m:f>
                    </m:oMath>
                  </m:oMathPara>
                </a14:m>
                <a:endParaRPr lang="zh-TW" altLang="en-US" sz="22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327559" y="2612525"/>
                <a:ext cx="3949351" cy="642868"/>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327559" y="3638518"/>
                <a:ext cx="3644909" cy="6338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smtClean="0">
                                  <a:latin typeface="Cambria Math" panose="02040503050406030204" pitchFamily="18" charset="0"/>
                                </a:rPr>
                                <m:t>2</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i="1">
                                  <a:latin typeface="Cambria Math" panose="02040503050406030204" pitchFamily="18" charset="0"/>
                                </a:rPr>
                                <m:t>4</m:t>
                              </m:r>
                            </m:num>
                            <m:den>
                              <m:r>
                                <a:rPr lang="en-US" altLang="zh-TW" sz="2200" i="1">
                                  <a:latin typeface="Cambria Math" panose="02040503050406030204" pitchFamily="18" charset="0"/>
                                </a:rPr>
                                <m:t>4</m:t>
                              </m:r>
                            </m:den>
                          </m:f>
                          <m:r>
                            <a:rPr lang="en-US" altLang="zh-TW" sz="2200" b="0" i="1" smtClean="0">
                              <a:latin typeface="Cambria Math" panose="02040503050406030204" pitchFamily="18" charset="0"/>
                            </a:rPr>
                            <m:t>)</m:t>
                          </m:r>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m:t>
                          </m:r>
                          <m:f>
                            <m:fPr>
                              <m:ctrlPr>
                                <a:rPr lang="en-US" altLang="zh-TW" sz="2200" i="1">
                                  <a:latin typeface="Cambria Math" panose="02040503050406030204" pitchFamily="18" charset="0"/>
                                </a:rPr>
                              </m:ctrlPr>
                            </m:fPr>
                            <m:num>
                              <m:r>
                                <a:rPr lang="en-US" altLang="zh-TW" sz="2200" i="1" smtClean="0">
                                  <a:latin typeface="Cambria Math" panose="02040503050406030204" pitchFamily="18" charset="0"/>
                                </a:rPr>
                                <m:t>0</m:t>
                              </m:r>
                            </m:num>
                            <m:den>
                              <m:r>
                                <a:rPr lang="en-US" altLang="zh-TW" sz="2200" i="1" smtClean="0">
                                  <a:latin typeface="Cambria Math" panose="02040503050406030204" pitchFamily="18" charset="0"/>
                                </a:rPr>
                                <m:t>4</m:t>
                              </m:r>
                            </m:den>
                          </m:f>
                          <m:r>
                            <a:rPr lang="en-US" altLang="zh-TW" sz="2200" b="0" i="1" smtClean="0">
                              <a:latin typeface="Cambria Math" panose="02040503050406030204" pitchFamily="18" charset="0"/>
                            </a:rPr>
                            <m:t>)</m:t>
                          </m:r>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r>
                        <a:rPr lang="en-US" altLang="zh-TW" sz="2200" i="1" smtClean="0">
                          <a:latin typeface="Cambria Math" panose="02040503050406030204" pitchFamily="18" charset="0"/>
                        </a:rPr>
                        <m:t>0</m:t>
                      </m:r>
                    </m:oMath>
                  </m:oMathPara>
                </a14:m>
                <a:endParaRPr lang="zh-TW" altLang="en-US" sz="22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327559" y="3638518"/>
                <a:ext cx="3644909" cy="63382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6" name="文字方塊 5"/>
              <p:cNvSpPr txBox="1"/>
              <p:nvPr/>
            </p:nvSpPr>
            <p:spPr>
              <a:xfrm>
                <a:off x="327559" y="4555443"/>
                <a:ext cx="4980274" cy="6338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𝐺𝑖𝑛𝑖</m:t>
                          </m:r>
                        </m:e>
                        <m:sub>
                          <m:r>
                            <a:rPr lang="en-US" altLang="zh-TW" sz="2200" b="0" i="1" smtClean="0">
                              <a:latin typeface="Cambria Math" panose="02040503050406030204" pitchFamily="18" charset="0"/>
                            </a:rPr>
                            <m:t>𝑂𝑢</m:t>
                          </m:r>
                          <m:r>
                            <a:rPr lang="en-US" altLang="zh-TW" sz="2200" b="0" i="1" smtClean="0">
                              <a:latin typeface="Cambria Math" panose="02040503050406030204" pitchFamily="18" charset="0"/>
                            </a:rPr>
                            <m:t>𝑡𝑙𝑜𝑜𝑘</m:t>
                          </m:r>
                        </m:sub>
                      </m:sSub>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𝑆</m:t>
                          </m:r>
                        </m:e>
                      </m:d>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10</m:t>
                          </m:r>
                        </m:num>
                        <m:den>
                          <m:r>
                            <a:rPr lang="en-US" altLang="zh-TW" sz="2200" b="0" i="1" smtClean="0">
                              <a:latin typeface="Cambria Math" panose="02040503050406030204" pitchFamily="18" charset="0"/>
                            </a:rPr>
                            <m:t>14</m:t>
                          </m:r>
                        </m:den>
                      </m:f>
                      <m:r>
                        <a:rPr lang="en-US" altLang="zh-TW" sz="2200" b="0" i="1" smtClean="0">
                          <a:latin typeface="Cambria Math" panose="02040503050406030204" pitchFamily="18" charset="0"/>
                          <a:ea typeface="Cambria Math" panose="02040503050406030204" pitchFamily="18" charset="0"/>
                        </a:rPr>
                        <m:t>×</m:t>
                      </m:r>
                      <m:f>
                        <m:fPr>
                          <m:ctrlPr>
                            <a:rPr lang="en-US" altLang="zh-TW" sz="2200" b="0" i="1" smtClean="0">
                              <a:latin typeface="Cambria Math" panose="02040503050406030204" pitchFamily="18" charset="0"/>
                              <a:ea typeface="Cambria Math" panose="02040503050406030204" pitchFamily="18" charset="0"/>
                            </a:rPr>
                          </m:ctrlPr>
                        </m:fPr>
                        <m:num>
                          <m:r>
                            <a:rPr lang="en-US" altLang="zh-TW" sz="2200" b="0" i="1" smtClean="0">
                              <a:latin typeface="Cambria Math" panose="02040503050406030204" pitchFamily="18" charset="0"/>
                              <a:ea typeface="Cambria Math" panose="02040503050406030204" pitchFamily="18" charset="0"/>
                            </a:rPr>
                            <m:t>1</m:t>
                          </m:r>
                        </m:num>
                        <m:den>
                          <m:r>
                            <a:rPr lang="en-US" altLang="zh-TW" sz="2200" b="0" i="1" smtClean="0">
                              <a:latin typeface="Cambria Math" panose="02040503050406030204" pitchFamily="18" charset="0"/>
                              <a:ea typeface="Cambria Math" panose="02040503050406030204" pitchFamily="18" charset="0"/>
                            </a:rPr>
                            <m:t>2</m:t>
                          </m:r>
                        </m:den>
                      </m:f>
                      <m:r>
                        <a:rPr lang="en-US" altLang="zh-TW" sz="2200" b="0" i="1" smtClean="0">
                          <a:latin typeface="Cambria Math" panose="02040503050406030204" pitchFamily="18" charset="0"/>
                          <a:ea typeface="Cambria Math" panose="02040503050406030204" pitchFamily="18" charset="0"/>
                        </a:rPr>
                        <m:t>+</m:t>
                      </m:r>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4</m:t>
                          </m:r>
                        </m:num>
                        <m:den>
                          <m:r>
                            <a:rPr lang="en-US" altLang="zh-TW" sz="2200" i="1">
                              <a:latin typeface="Cambria Math" panose="02040503050406030204" pitchFamily="18" charset="0"/>
                            </a:rPr>
                            <m:t>14</m:t>
                          </m:r>
                        </m:den>
                      </m:f>
                      <m:r>
                        <a:rPr lang="en-US" altLang="zh-TW" sz="2200" i="1">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0=0.36</m:t>
                      </m:r>
                    </m:oMath>
                  </m:oMathPara>
                </a14:m>
                <a:endParaRPr lang="zh-TW" altLang="en-US" sz="2200" dirty="0"/>
              </a:p>
            </p:txBody>
          </p:sp>
        </mc:Choice>
        <mc:Fallback>
          <p:sp>
            <p:nvSpPr>
              <p:cNvPr id="6" name="文字方塊 5"/>
              <p:cNvSpPr txBox="1">
                <a:spLocks noRot="1" noChangeAspect="1" noMove="1" noResize="1" noEditPoints="1" noAdjustHandles="1" noChangeArrowheads="1" noChangeShapeType="1" noTextEdit="1"/>
              </p:cNvSpPr>
              <p:nvPr/>
            </p:nvSpPr>
            <p:spPr>
              <a:xfrm>
                <a:off x="327559" y="4555443"/>
                <a:ext cx="4980274" cy="633828"/>
              </a:xfrm>
              <a:prstGeom prst="rect">
                <a:avLst/>
              </a:prstGeom>
              <a:blipFill rotWithShape="0">
                <a:blip r:embed="rId5"/>
                <a:stretch>
                  <a:fillRect/>
                </a:stretch>
              </a:blipFill>
            </p:spPr>
            <p:txBody>
              <a:bodyPr/>
              <a:lstStyle/>
              <a:p>
                <a:r>
                  <a:rPr lang="zh-TW" altLang="en-US">
                    <a:noFill/>
                  </a:rPr>
                  <a:t> </a:t>
                </a:r>
              </a:p>
            </p:txBody>
          </p:sp>
        </mc:Fallback>
      </mc:AlternateContent>
      <p:pic>
        <p:nvPicPr>
          <p:cNvPr id="7" name="圖片 6"/>
          <p:cNvPicPr>
            <a:picLocks noChangeAspect="1"/>
          </p:cNvPicPr>
          <p:nvPr/>
        </p:nvPicPr>
        <p:blipFill>
          <a:blip r:embed="rId6"/>
          <a:stretch>
            <a:fillRect/>
          </a:stretch>
        </p:blipFill>
        <p:spPr>
          <a:xfrm>
            <a:off x="5670958" y="1906539"/>
            <a:ext cx="5997112" cy="3748195"/>
          </a:xfrm>
          <a:prstGeom prst="rect">
            <a:avLst/>
          </a:prstGeom>
        </p:spPr>
      </p:pic>
      <mc:AlternateContent xmlns:mc="http://schemas.openxmlformats.org/markup-compatibility/2006">
        <mc:Choice xmlns:a14="http://schemas.microsoft.com/office/drawing/2010/main" Requires="a14">
          <p:sp>
            <p:nvSpPr>
              <p:cNvPr id="3" name="矩形 2"/>
              <p:cNvSpPr/>
              <p:nvPr/>
            </p:nvSpPr>
            <p:spPr>
              <a:xfrm>
                <a:off x="327559" y="1521850"/>
                <a:ext cx="3961662" cy="76937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𝐺𝑖𝑛𝑖</m:t>
                      </m:r>
                      <m:d>
                        <m:dPr>
                          <m:ctrlPr>
                            <a:rPr lang="en-US" altLang="zh-TW" i="1">
                              <a:latin typeface="Cambria Math" panose="02040503050406030204" pitchFamily="18" charset="0"/>
                            </a:rPr>
                          </m:ctrlPr>
                        </m:dPr>
                        <m:e>
                          <m:r>
                            <a:rPr lang="en-US" altLang="zh-TW" i="1">
                              <a:latin typeface="Cambria Math" panose="02040503050406030204" pitchFamily="18" charset="0"/>
                            </a:rPr>
                            <m:t>𝑆</m:t>
                          </m:r>
                        </m:e>
                      </m:d>
                      <m:r>
                        <a:rPr lang="en-US" altLang="zh-TW" i="1">
                          <a:latin typeface="Cambria Math" panose="02040503050406030204" pitchFamily="18" charset="0"/>
                        </a:rPr>
                        <m:t>=1−</m:t>
                      </m:r>
                      <m:sSup>
                        <m:sSupPr>
                          <m:ctrlPr>
                            <a:rPr lang="en-US" altLang="zh-TW" i="1">
                              <a:latin typeface="Cambria Math" panose="02040503050406030204" pitchFamily="18" charset="0"/>
                            </a:rPr>
                          </m:ctrlPr>
                        </m:sSupPr>
                        <m:e>
                          <m:d>
                            <m:dPr>
                              <m:ctrlPr>
                                <a:rPr lang="en-US" altLang="zh-TW" i="1">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9</m:t>
                                  </m:r>
                                </m:num>
                                <m:den>
                                  <m:r>
                                    <a:rPr lang="en-US" altLang="zh-TW" i="1">
                                      <a:latin typeface="Cambria Math" panose="02040503050406030204" pitchFamily="18" charset="0"/>
                                    </a:rPr>
                                    <m:t>14</m:t>
                                  </m:r>
                                </m:den>
                              </m:f>
                            </m:e>
                          </m:d>
                        </m:e>
                        <m:sup>
                          <m:r>
                            <a:rPr lang="en-US" altLang="zh-TW" i="1">
                              <a:latin typeface="Cambria Math" panose="02040503050406030204" pitchFamily="18" charset="0"/>
                            </a:rPr>
                            <m:t>2</m:t>
                          </m:r>
                        </m:sup>
                      </m:sSup>
                      <m:r>
                        <a:rPr lang="en-US" altLang="zh-TW" i="1">
                          <a:latin typeface="Cambria Math" panose="02040503050406030204" pitchFamily="18" charset="0"/>
                        </a:rPr>
                        <m:t>−</m:t>
                      </m:r>
                      <m:sSup>
                        <m:sSupPr>
                          <m:ctrlPr>
                            <a:rPr lang="en-US" altLang="zh-TW" i="1">
                              <a:latin typeface="Cambria Math" panose="02040503050406030204" pitchFamily="18" charset="0"/>
                            </a:rPr>
                          </m:ctrlPr>
                        </m:sSupPr>
                        <m:e>
                          <m:d>
                            <m:dPr>
                              <m:ctrlPr>
                                <a:rPr lang="en-US" altLang="zh-TW" i="1">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5</m:t>
                                  </m:r>
                                </m:num>
                                <m:den>
                                  <m:r>
                                    <a:rPr lang="en-US" altLang="zh-TW" i="1">
                                      <a:latin typeface="Cambria Math" panose="02040503050406030204" pitchFamily="18" charset="0"/>
                                    </a:rPr>
                                    <m:t>14</m:t>
                                  </m:r>
                                </m:den>
                              </m:f>
                            </m:e>
                          </m:d>
                        </m:e>
                        <m:sup>
                          <m:r>
                            <a:rPr lang="en-US" altLang="zh-TW" i="1">
                              <a:latin typeface="Cambria Math" panose="02040503050406030204" pitchFamily="18" charset="0"/>
                            </a:rPr>
                            <m:t>2</m:t>
                          </m:r>
                        </m:sup>
                      </m:sSup>
                      <m:r>
                        <a:rPr lang="en-US" altLang="zh-TW" i="1">
                          <a:latin typeface="Cambria Math" panose="02040503050406030204" pitchFamily="18" charset="0"/>
                        </a:rPr>
                        <m:t>=0.46</m:t>
                      </m:r>
                    </m:oMath>
                  </m:oMathPara>
                </a14:m>
                <a:endParaRPr lang="zh-TW" altLang="en-US" dirty="0"/>
              </a:p>
            </p:txBody>
          </p:sp>
        </mc:Choice>
        <mc:Fallback>
          <p:sp>
            <p:nvSpPr>
              <p:cNvPr id="3" name="矩形 2"/>
              <p:cNvSpPr>
                <a:spLocks noRot="1" noChangeAspect="1" noMove="1" noResize="1" noEditPoints="1" noAdjustHandles="1" noChangeArrowheads="1" noChangeShapeType="1" noTextEdit="1"/>
              </p:cNvSpPr>
              <p:nvPr/>
            </p:nvSpPr>
            <p:spPr>
              <a:xfrm>
                <a:off x="327559" y="1521850"/>
                <a:ext cx="3961662" cy="769378"/>
              </a:xfrm>
              <a:prstGeom prst="rect">
                <a:avLst/>
              </a:prstGeom>
              <a:blipFill rotWithShape="0">
                <a:blip r:embed="rId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736672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p:cNvSpPr txBox="1"/>
              <p:nvPr/>
            </p:nvSpPr>
            <p:spPr>
              <a:xfrm>
                <a:off x="138953" y="215153"/>
                <a:ext cx="10282495" cy="369332"/>
              </a:xfrm>
              <a:prstGeom prst="rect">
                <a:avLst/>
              </a:prstGeom>
              <a:noFill/>
            </p:spPr>
            <p:txBody>
              <a:bodyPr wrap="none" rtlCol="0">
                <a:spAutoFit/>
              </a:bodyPr>
              <a:lstStyle/>
              <a:p>
                <a:r>
                  <a:rPr lang="zh-TW" altLang="en-US" dirty="0"/>
                  <a:t>假設將</a:t>
                </a:r>
                <a:r>
                  <a:rPr lang="en-US" altLang="zh-TW" dirty="0"/>
                  <a:t>Temperature</a:t>
                </a:r>
                <a:r>
                  <a:rPr lang="zh-TW" altLang="en-US" dirty="0"/>
                  <a:t>屬性分為兩類，其中</a:t>
                </a:r>
                <a:r>
                  <a:rPr lang="en-US" altLang="zh-TW" dirty="0"/>
                  <a:t>8</a:t>
                </a:r>
                <a:r>
                  <a:rPr lang="zh-TW" altLang="en-US" dirty="0"/>
                  <a:t>筆資料被分到</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𝐻𝑜𝑡</m:t>
                    </m:r>
                    <m:r>
                      <a:rPr lang="en-US" altLang="zh-TW" b="0" i="1" smtClean="0">
                        <a:latin typeface="Cambria Math" panose="02040503050406030204" pitchFamily="18" charset="0"/>
                      </a:rPr>
                      <m:t>,  </m:t>
                    </m:r>
                    <m:r>
                      <a:rPr lang="en-US" altLang="zh-TW" b="0" i="1" smtClean="0">
                        <a:latin typeface="Cambria Math" panose="02040503050406030204" pitchFamily="18" charset="0"/>
                      </a:rPr>
                      <m:t>𝐶𝑜𝑜𝑙</m:t>
                    </m:r>
                    <m:r>
                      <a:rPr lang="en-US" altLang="zh-TW" b="0" i="1" smtClean="0">
                        <a:latin typeface="Cambria Math" panose="02040503050406030204" pitchFamily="18" charset="0"/>
                      </a:rPr>
                      <m:t>}</m:t>
                    </m:r>
                    <m:r>
                      <m:rPr>
                        <m:nor/>
                      </m:rPr>
                      <a:rPr lang="zh-TW" altLang="en-US" dirty="0"/>
                      <m:t>，</m:t>
                    </m:r>
                    <m:r>
                      <m:rPr>
                        <m:nor/>
                      </m:rPr>
                      <a:rPr lang="en-US" altLang="zh-TW" b="0" i="0" dirty="0" smtClean="0"/>
                      <m:t>6</m:t>
                    </m:r>
                    <m:r>
                      <m:rPr>
                        <m:nor/>
                      </m:rPr>
                      <a:rPr lang="zh-TW" altLang="en-US" dirty="0"/>
                      <m:t>筆資料被分到</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r>
                      <a:rPr lang="en-US" altLang="zh-TW" b="0" i="1" smtClean="0">
                        <a:latin typeface="Cambria Math" panose="02040503050406030204" pitchFamily="18" charset="0"/>
                      </a:rPr>
                      <m:t>𝑀𝑖𝑙𝑑</m:t>
                    </m:r>
                    <m:r>
                      <a:rPr lang="en-US" altLang="zh-TW" i="1">
                        <a:latin typeface="Cambria Math" panose="02040503050406030204" pitchFamily="18" charset="0"/>
                      </a:rPr>
                      <m:t>}</m:t>
                    </m:r>
                  </m:oMath>
                </a14:m>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38953" y="215153"/>
                <a:ext cx="10282495" cy="369332"/>
              </a:xfrm>
              <a:prstGeom prst="rect">
                <a:avLst/>
              </a:prstGeom>
              <a:blipFill>
                <a:blip r:embed="rId2"/>
                <a:stretch>
                  <a:fillRect l="-533"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4106350" y="771171"/>
                <a:ext cx="4390113" cy="827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1</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5</m:t>
                                  </m:r>
                                </m:num>
                                <m:den>
                                  <m:r>
                                    <a:rPr lang="en-US" altLang="zh-TW" sz="2200" b="0" i="1" smtClean="0">
                                      <a:latin typeface="Cambria Math" panose="02040503050406030204" pitchFamily="18" charset="0"/>
                                    </a:rPr>
                                    <m:t>8</m:t>
                                  </m:r>
                                </m:den>
                              </m:f>
                            </m:e>
                          </m:d>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3</m:t>
                                  </m:r>
                                </m:num>
                                <m:den>
                                  <m:r>
                                    <a:rPr lang="en-US" altLang="zh-TW" sz="2200" b="0" i="1" smtClean="0">
                                      <a:latin typeface="Cambria Math" panose="02040503050406030204" pitchFamily="18" charset="0"/>
                                    </a:rPr>
                                    <m:t>8</m:t>
                                  </m:r>
                                </m:den>
                              </m:f>
                            </m:e>
                          </m:d>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r>
                        <a:rPr lang="en-US" altLang="zh-TW" sz="2200" b="0" i="1" smtClean="0">
                          <a:latin typeface="Cambria Math" panose="02040503050406030204" pitchFamily="18" charset="0"/>
                        </a:rPr>
                        <m:t>0.47</m:t>
                      </m:r>
                    </m:oMath>
                  </m:oMathPara>
                </a14:m>
                <a:endParaRPr lang="zh-TW" altLang="en-US" sz="22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4106350" y="771171"/>
                <a:ext cx="4390113" cy="82759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4106350" y="1785456"/>
                <a:ext cx="4396653" cy="827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smtClean="0">
                                  <a:latin typeface="Cambria Math" panose="02040503050406030204" pitchFamily="18" charset="0"/>
                                </a:rPr>
                                <m:t>2</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b="0" i="1" smtClean="0">
                                      <a:latin typeface="Cambria Math" panose="02040503050406030204" pitchFamily="18" charset="0"/>
                                    </a:rPr>
                                  </m:ctrlPr>
                                </m:fPr>
                                <m:num>
                                  <m:r>
                                    <a:rPr lang="en-US" altLang="zh-TW" sz="2200" i="1">
                                      <a:latin typeface="Cambria Math" panose="02040503050406030204" pitchFamily="18" charset="0"/>
                                    </a:rPr>
                                    <m:t>4</m:t>
                                  </m:r>
                                </m:num>
                                <m:den>
                                  <m:r>
                                    <a:rPr lang="en-US" altLang="zh-TW" sz="2200" b="0" i="1" smtClean="0">
                                      <a:latin typeface="Cambria Math" panose="02040503050406030204" pitchFamily="18" charset="0"/>
                                    </a:rPr>
                                    <m:t>6</m:t>
                                  </m:r>
                                </m:den>
                              </m:f>
                            </m:e>
                          </m:d>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2</m:t>
                                  </m:r>
                                </m:num>
                                <m:den>
                                  <m:r>
                                    <a:rPr lang="en-US" altLang="zh-TW" sz="2200" b="0" i="1" smtClean="0">
                                      <a:latin typeface="Cambria Math" panose="02040503050406030204" pitchFamily="18" charset="0"/>
                                    </a:rPr>
                                    <m:t>6</m:t>
                                  </m:r>
                                </m:den>
                              </m:f>
                            </m:e>
                          </m:d>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r>
                        <a:rPr lang="en-US" altLang="zh-TW" sz="2200" b="0" i="1" smtClean="0">
                          <a:latin typeface="Cambria Math" panose="02040503050406030204" pitchFamily="18" charset="0"/>
                        </a:rPr>
                        <m:t>0.44</m:t>
                      </m:r>
                    </m:oMath>
                  </m:oMathPara>
                </a14:m>
                <a:endParaRPr lang="zh-TW" altLang="en-US" sz="22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106350" y="1785456"/>
                <a:ext cx="4396653" cy="827599"/>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4106350" y="2613055"/>
                <a:ext cx="6216830" cy="6338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𝐺𝑖𝑛𝑖</m:t>
                          </m:r>
                        </m:e>
                        <m:sub>
                          <m:r>
                            <a:rPr lang="en-US" altLang="zh-TW" sz="2200" b="0" i="1" smtClean="0">
                              <a:latin typeface="Cambria Math" panose="02040503050406030204" pitchFamily="18" charset="0"/>
                            </a:rPr>
                            <m:t>𝑇𝑒𝑚𝑝𝑒𝑟𝑎𝑡𝑢𝑟𝑒</m:t>
                          </m:r>
                        </m:sub>
                      </m:sSub>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𝑆</m:t>
                          </m:r>
                        </m:e>
                      </m:d>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8</m:t>
                          </m:r>
                        </m:num>
                        <m:den>
                          <m:r>
                            <a:rPr lang="en-US" altLang="zh-TW" sz="2200" b="0" i="1" smtClean="0">
                              <a:latin typeface="Cambria Math" panose="02040503050406030204" pitchFamily="18" charset="0"/>
                            </a:rPr>
                            <m:t>14</m:t>
                          </m:r>
                        </m:den>
                      </m:f>
                      <m:r>
                        <a:rPr lang="en-US" altLang="zh-TW" sz="2200" b="0" i="1" smtClean="0">
                          <a:latin typeface="Cambria Math" panose="02040503050406030204" pitchFamily="18" charset="0"/>
                          <a:ea typeface="Cambria Math" panose="02040503050406030204" pitchFamily="18" charset="0"/>
                        </a:rPr>
                        <m:t>×0.47+</m:t>
                      </m:r>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6</m:t>
                          </m:r>
                        </m:num>
                        <m:den>
                          <m:r>
                            <a:rPr lang="en-US" altLang="zh-TW" sz="2200" i="1">
                              <a:latin typeface="Cambria Math" panose="02040503050406030204" pitchFamily="18" charset="0"/>
                            </a:rPr>
                            <m:t>14</m:t>
                          </m:r>
                        </m:den>
                      </m:f>
                      <m:r>
                        <a:rPr lang="en-US" altLang="zh-TW" sz="2200" i="1">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044=0.46</m:t>
                      </m:r>
                    </m:oMath>
                  </m:oMathPara>
                </a14:m>
                <a:endParaRPr lang="zh-TW" altLang="en-US" sz="22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4106350" y="2613055"/>
                <a:ext cx="6216830" cy="633828"/>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138953" y="3660682"/>
                <a:ext cx="9828845" cy="369332"/>
              </a:xfrm>
              <a:prstGeom prst="rect">
                <a:avLst/>
              </a:prstGeom>
              <a:noFill/>
            </p:spPr>
            <p:txBody>
              <a:bodyPr wrap="none" rtlCol="0">
                <a:spAutoFit/>
              </a:bodyPr>
              <a:lstStyle/>
              <a:p>
                <a:r>
                  <a:rPr lang="zh-TW" altLang="en-US" dirty="0"/>
                  <a:t>假設將</a:t>
                </a:r>
                <a:r>
                  <a:rPr lang="en-US" altLang="zh-TW" dirty="0"/>
                  <a:t>Humidity</a:t>
                </a:r>
                <a:r>
                  <a:rPr lang="zh-TW" altLang="en-US" dirty="0"/>
                  <a:t>屬性分為兩類，其中</a:t>
                </a:r>
                <a:r>
                  <a:rPr lang="en-US" altLang="zh-TW" dirty="0"/>
                  <a:t>7</a:t>
                </a:r>
                <a:r>
                  <a:rPr lang="zh-TW" altLang="en-US" dirty="0"/>
                  <a:t>筆資料被分到</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𝐻𝑖𝑔h</m:t>
                    </m:r>
                    <m:r>
                      <a:rPr lang="en-US" altLang="zh-TW" b="0" i="1" smtClean="0">
                        <a:latin typeface="Cambria Math" panose="02040503050406030204" pitchFamily="18" charset="0"/>
                      </a:rPr>
                      <m:t>}</m:t>
                    </m:r>
                    <m:r>
                      <m:rPr>
                        <m:nor/>
                      </m:rPr>
                      <a:rPr lang="zh-TW" altLang="en-US" dirty="0"/>
                      <m:t>，</m:t>
                    </m:r>
                    <m:r>
                      <m:rPr>
                        <m:nor/>
                      </m:rPr>
                      <a:rPr lang="en-US" altLang="zh-TW" b="0" i="0" dirty="0" smtClean="0"/>
                      <m:t>7</m:t>
                    </m:r>
                    <m:r>
                      <m:rPr>
                        <m:nor/>
                      </m:rPr>
                      <a:rPr lang="zh-TW" altLang="en-US" dirty="0"/>
                      <m:t>筆資料被分到</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r>
                      <a:rPr lang="en-US" altLang="zh-TW" b="0" i="1" smtClean="0">
                        <a:latin typeface="Cambria Math" panose="02040503050406030204" pitchFamily="18" charset="0"/>
                      </a:rPr>
                      <m:t>𝑁𝑜𝑟𝑚𝑎𝑙</m:t>
                    </m:r>
                    <m:r>
                      <a:rPr lang="en-US" altLang="zh-TW" i="1">
                        <a:latin typeface="Cambria Math" panose="02040503050406030204" pitchFamily="18" charset="0"/>
                      </a:rPr>
                      <m:t>}</m:t>
                    </m:r>
                  </m:oMath>
                </a14:m>
                <a:endParaRPr lang="zh-TW" altLang="en-US"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38953" y="3660682"/>
                <a:ext cx="9828845" cy="369332"/>
              </a:xfrm>
              <a:prstGeom prst="rect">
                <a:avLst/>
              </a:prstGeom>
              <a:blipFill>
                <a:blip r:embed="rId6"/>
                <a:stretch>
                  <a:fillRect l="-558" t="-10000"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4106350" y="4958033"/>
                <a:ext cx="4396653" cy="827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smtClean="0">
                                  <a:latin typeface="Cambria Math" panose="02040503050406030204" pitchFamily="18" charset="0"/>
                                </a:rPr>
                                <m:t>2</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6</m:t>
                                  </m:r>
                                </m:num>
                                <m:den>
                                  <m:r>
                                    <a:rPr lang="en-US" altLang="zh-TW" sz="2200" b="0" i="1" smtClean="0">
                                      <a:latin typeface="Cambria Math" panose="02040503050406030204" pitchFamily="18" charset="0"/>
                                    </a:rPr>
                                    <m:t>7</m:t>
                                  </m:r>
                                </m:den>
                              </m:f>
                            </m:e>
                          </m:d>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1</m:t>
                                  </m:r>
                                </m:num>
                                <m:den>
                                  <m:r>
                                    <a:rPr lang="en-US" altLang="zh-TW" sz="2200" b="0" i="1" smtClean="0">
                                      <a:latin typeface="Cambria Math" panose="02040503050406030204" pitchFamily="18" charset="0"/>
                                    </a:rPr>
                                    <m:t>7</m:t>
                                  </m:r>
                                </m:den>
                              </m:f>
                            </m:e>
                          </m:d>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r>
                        <a:rPr lang="en-US" altLang="zh-TW" sz="2200" b="0" i="1" smtClean="0">
                          <a:latin typeface="Cambria Math" panose="02040503050406030204" pitchFamily="18" charset="0"/>
                        </a:rPr>
                        <m:t>0.24</m:t>
                      </m:r>
                    </m:oMath>
                  </m:oMathPara>
                </a14:m>
                <a:endParaRPr lang="zh-TW" altLang="en-US" sz="22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4106350" y="4958033"/>
                <a:ext cx="4396653" cy="827599"/>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p:cNvSpPr txBox="1"/>
              <p:nvPr/>
            </p:nvSpPr>
            <p:spPr>
              <a:xfrm>
                <a:off x="3920498" y="6199431"/>
                <a:ext cx="5827236" cy="6316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𝐺𝑖𝑛𝑖</m:t>
                          </m:r>
                        </m:e>
                        <m:sub>
                          <m:r>
                            <a:rPr lang="en-US" altLang="zh-TW" sz="2200" b="0" i="1" smtClean="0">
                              <a:latin typeface="Cambria Math" panose="02040503050406030204" pitchFamily="18" charset="0"/>
                            </a:rPr>
                            <m:t>𝐻𝑢𝑚𝑖𝑑𝑖𝑡𝑦</m:t>
                          </m:r>
                        </m:sub>
                      </m:sSub>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𝑆</m:t>
                          </m:r>
                        </m:e>
                      </m:d>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7</m:t>
                          </m:r>
                        </m:num>
                        <m:den>
                          <m:r>
                            <a:rPr lang="en-US" altLang="zh-TW" sz="2200" b="0" i="1" smtClean="0">
                              <a:latin typeface="Cambria Math" panose="02040503050406030204" pitchFamily="18" charset="0"/>
                            </a:rPr>
                            <m:t>14</m:t>
                          </m:r>
                        </m:den>
                      </m:f>
                      <m:r>
                        <a:rPr lang="en-US" altLang="zh-TW" sz="2200" b="0" i="1" smtClean="0">
                          <a:latin typeface="Cambria Math" panose="02040503050406030204" pitchFamily="18" charset="0"/>
                          <a:ea typeface="Cambria Math" panose="02040503050406030204" pitchFamily="18" charset="0"/>
                        </a:rPr>
                        <m:t>×0.49+</m:t>
                      </m:r>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7</m:t>
                          </m:r>
                        </m:num>
                        <m:den>
                          <m:r>
                            <a:rPr lang="en-US" altLang="zh-TW" sz="2200" i="1">
                              <a:latin typeface="Cambria Math" panose="02040503050406030204" pitchFamily="18" charset="0"/>
                            </a:rPr>
                            <m:t>14</m:t>
                          </m:r>
                        </m:den>
                      </m:f>
                      <m:r>
                        <a:rPr lang="en-US" altLang="zh-TW" sz="2200" i="1">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024=0.37</m:t>
                      </m:r>
                    </m:oMath>
                  </m:oMathPara>
                </a14:m>
                <a:endParaRPr lang="zh-TW" altLang="en-US" sz="22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3920498" y="6199431"/>
                <a:ext cx="5827236" cy="631648"/>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4093270" y="4030013"/>
                <a:ext cx="4390113" cy="827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1</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3</m:t>
                                  </m:r>
                                </m:num>
                                <m:den>
                                  <m:r>
                                    <a:rPr lang="en-US" altLang="zh-TW" sz="2200" b="0" i="1" smtClean="0">
                                      <a:latin typeface="Cambria Math" panose="02040503050406030204" pitchFamily="18" charset="0"/>
                                    </a:rPr>
                                    <m:t>7</m:t>
                                  </m:r>
                                </m:den>
                              </m:f>
                            </m:e>
                          </m:d>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4</m:t>
                                  </m:r>
                                </m:num>
                                <m:den>
                                  <m:r>
                                    <a:rPr lang="en-US" altLang="zh-TW" sz="2200" b="0" i="1" smtClean="0">
                                      <a:latin typeface="Cambria Math" panose="02040503050406030204" pitchFamily="18" charset="0"/>
                                    </a:rPr>
                                    <m:t>7</m:t>
                                  </m:r>
                                </m:den>
                              </m:f>
                            </m:e>
                          </m:d>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r>
                        <a:rPr lang="en-US" altLang="zh-TW" sz="2200" b="0" i="1" smtClean="0">
                          <a:latin typeface="Cambria Math" panose="02040503050406030204" pitchFamily="18" charset="0"/>
                        </a:rPr>
                        <m:t>0.49</m:t>
                      </m:r>
                    </m:oMath>
                  </m:oMathPara>
                </a14:m>
                <a:endParaRPr lang="zh-TW" altLang="en-US" sz="2200"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4093270" y="4030013"/>
                <a:ext cx="4390113" cy="827599"/>
              </a:xfrm>
              <a:prstGeom prst="rect">
                <a:avLst/>
              </a:prstGeom>
              <a:blipFill>
                <a:blip r:embed="rId9"/>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664538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字方塊 4"/>
              <p:cNvSpPr txBox="1"/>
              <p:nvPr/>
            </p:nvSpPr>
            <p:spPr>
              <a:xfrm>
                <a:off x="138953" y="215153"/>
                <a:ext cx="9152314" cy="369332"/>
              </a:xfrm>
              <a:prstGeom prst="rect">
                <a:avLst/>
              </a:prstGeom>
              <a:noFill/>
            </p:spPr>
            <p:txBody>
              <a:bodyPr wrap="none" rtlCol="0">
                <a:spAutoFit/>
              </a:bodyPr>
              <a:lstStyle/>
              <a:p>
                <a:r>
                  <a:rPr lang="zh-TW" altLang="en-US" dirty="0"/>
                  <a:t>假設將</a:t>
                </a:r>
                <a:r>
                  <a:rPr lang="en-US" altLang="zh-TW" dirty="0"/>
                  <a:t>Wind</a:t>
                </a:r>
                <a:r>
                  <a:rPr lang="zh-TW" altLang="en-US" dirty="0"/>
                  <a:t>屬性分為兩類，其中</a:t>
                </a:r>
                <a:r>
                  <a:rPr lang="en-US" altLang="zh-TW" dirty="0"/>
                  <a:t>8</a:t>
                </a:r>
                <a:r>
                  <a:rPr lang="zh-TW" altLang="en-US" dirty="0"/>
                  <a:t>筆資料被分到</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𝐹𝑎𝑙𝑠𝑒</m:t>
                    </m:r>
                    <m:r>
                      <a:rPr lang="en-US" altLang="zh-TW" b="0" i="1" smtClean="0">
                        <a:latin typeface="Cambria Math" panose="02040503050406030204" pitchFamily="18" charset="0"/>
                      </a:rPr>
                      <m:t>}</m:t>
                    </m:r>
                    <m:r>
                      <m:rPr>
                        <m:nor/>
                      </m:rPr>
                      <a:rPr lang="zh-TW" altLang="en-US" dirty="0"/>
                      <m:t>，</m:t>
                    </m:r>
                    <m:r>
                      <m:rPr>
                        <m:nor/>
                      </m:rPr>
                      <a:rPr lang="en-US" altLang="zh-TW" b="0" i="0" dirty="0" smtClean="0"/>
                      <m:t>6</m:t>
                    </m:r>
                    <m:r>
                      <m:rPr>
                        <m:nor/>
                      </m:rPr>
                      <a:rPr lang="zh-TW" altLang="en-US" dirty="0"/>
                      <m:t>筆資料被分到</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b="0" i="1" smtClean="0">
                            <a:latin typeface="Cambria Math" panose="02040503050406030204" pitchFamily="18" charset="0"/>
                          </a:rPr>
                          <m:t>2</m:t>
                        </m:r>
                      </m:sub>
                    </m:sSub>
                    <m:r>
                      <a:rPr lang="en-US" altLang="zh-TW" i="1">
                        <a:latin typeface="Cambria Math" panose="02040503050406030204" pitchFamily="18" charset="0"/>
                      </a:rPr>
                      <m:t>=</m:t>
                    </m:r>
                    <m:r>
                      <a:rPr lang="en-US" altLang="zh-TW" i="1" smtClean="0">
                        <a:latin typeface="Cambria Math" panose="02040503050406030204" pitchFamily="18" charset="0"/>
                      </a:rPr>
                      <m:t>{</m:t>
                    </m:r>
                    <m:r>
                      <a:rPr lang="en-US" altLang="zh-TW" b="0" i="1" smtClean="0">
                        <a:latin typeface="Cambria Math" panose="02040503050406030204" pitchFamily="18" charset="0"/>
                      </a:rPr>
                      <m:t>𝑇𝑟𝑢𝑒</m:t>
                    </m:r>
                    <m:r>
                      <a:rPr lang="en-US" altLang="zh-TW" i="1">
                        <a:latin typeface="Cambria Math" panose="02040503050406030204" pitchFamily="18" charset="0"/>
                      </a:rPr>
                      <m:t>}</m:t>
                    </m:r>
                  </m:oMath>
                </a14:m>
                <a:endParaRPr lang="zh-TW" altLang="en-US"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138953" y="215153"/>
                <a:ext cx="9152314" cy="369332"/>
              </a:xfrm>
              <a:prstGeom prst="rect">
                <a:avLst/>
              </a:prstGeom>
              <a:blipFill>
                <a:blip r:embed="rId2"/>
                <a:stretch>
                  <a:fillRect l="-600"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4106350" y="771171"/>
                <a:ext cx="4390113" cy="827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1</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6</m:t>
                                  </m:r>
                                </m:num>
                                <m:den>
                                  <m:r>
                                    <a:rPr lang="en-US" altLang="zh-TW" sz="2200" b="0" i="1" smtClean="0">
                                      <a:latin typeface="Cambria Math" panose="02040503050406030204" pitchFamily="18" charset="0"/>
                                    </a:rPr>
                                    <m:t>8</m:t>
                                  </m:r>
                                </m:den>
                              </m:f>
                            </m:e>
                          </m:d>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2</m:t>
                                  </m:r>
                                </m:num>
                                <m:den>
                                  <m:r>
                                    <a:rPr lang="en-US" altLang="zh-TW" sz="2200" b="0" i="1" smtClean="0">
                                      <a:latin typeface="Cambria Math" panose="02040503050406030204" pitchFamily="18" charset="0"/>
                                    </a:rPr>
                                    <m:t>8</m:t>
                                  </m:r>
                                </m:den>
                              </m:f>
                            </m:e>
                          </m:d>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r>
                        <a:rPr lang="en-US" altLang="zh-TW" sz="2200" b="0" i="1" smtClean="0">
                          <a:latin typeface="Cambria Math" panose="02040503050406030204" pitchFamily="18" charset="0"/>
                        </a:rPr>
                        <m:t>0.38</m:t>
                      </m:r>
                    </m:oMath>
                  </m:oMathPara>
                </a14:m>
                <a:endParaRPr lang="zh-TW" altLang="en-US" sz="22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4106350" y="771171"/>
                <a:ext cx="4390113" cy="827599"/>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4106350" y="1785456"/>
                <a:ext cx="4241161" cy="827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smtClean="0">
                                  <a:latin typeface="Cambria Math" panose="02040503050406030204" pitchFamily="18" charset="0"/>
                                </a:rPr>
                                <m:t>2</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3</m:t>
                                  </m:r>
                                </m:num>
                                <m:den>
                                  <m:r>
                                    <a:rPr lang="en-US" altLang="zh-TW" sz="2200" b="0" i="1" smtClean="0">
                                      <a:latin typeface="Cambria Math" panose="02040503050406030204" pitchFamily="18" charset="0"/>
                                    </a:rPr>
                                    <m:t>6</m:t>
                                  </m:r>
                                </m:den>
                              </m:f>
                            </m:e>
                          </m:d>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d>
                            <m:dPr>
                              <m:ctrlPr>
                                <a:rPr lang="en-US" altLang="zh-TW" sz="2200" b="0" i="1" smtClean="0">
                                  <a:latin typeface="Cambria Math" panose="02040503050406030204" pitchFamily="18" charset="0"/>
                                </a:rPr>
                              </m:ctrlPr>
                            </m:dPr>
                            <m:e>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3</m:t>
                                  </m:r>
                                </m:num>
                                <m:den>
                                  <m:r>
                                    <a:rPr lang="en-US" altLang="zh-TW" sz="2200" b="0" i="1" smtClean="0">
                                      <a:latin typeface="Cambria Math" panose="02040503050406030204" pitchFamily="18" charset="0"/>
                                    </a:rPr>
                                    <m:t>6</m:t>
                                  </m:r>
                                </m:den>
                              </m:f>
                            </m:e>
                          </m:d>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r>
                        <a:rPr lang="en-US" altLang="zh-TW" sz="2200" b="0" i="1" smtClean="0">
                          <a:latin typeface="Cambria Math" panose="02040503050406030204" pitchFamily="18" charset="0"/>
                        </a:rPr>
                        <m:t>0.5</m:t>
                      </m:r>
                    </m:oMath>
                  </m:oMathPara>
                </a14:m>
                <a:endParaRPr lang="zh-TW" altLang="en-US" sz="22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106350" y="1785456"/>
                <a:ext cx="4241161" cy="827599"/>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4106350" y="2613055"/>
                <a:ext cx="6119047" cy="6338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𝐺𝑖𝑛𝑖</m:t>
                          </m:r>
                        </m:e>
                        <m:sub>
                          <m:r>
                            <a:rPr lang="en-US" altLang="zh-TW" sz="2200" b="0" i="1" smtClean="0">
                              <a:latin typeface="Cambria Math" panose="02040503050406030204" pitchFamily="18" charset="0"/>
                            </a:rPr>
                            <m:t>𝑇𝑒𝑚𝑝𝑒𝑟𝑎𝑡𝑢𝑟𝑒</m:t>
                          </m:r>
                        </m:sub>
                      </m:sSub>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𝑆</m:t>
                          </m:r>
                        </m:e>
                      </m:d>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8</m:t>
                          </m:r>
                        </m:num>
                        <m:den>
                          <m:r>
                            <a:rPr lang="en-US" altLang="zh-TW" sz="2200" b="0" i="1" smtClean="0">
                              <a:latin typeface="Cambria Math" panose="02040503050406030204" pitchFamily="18" charset="0"/>
                            </a:rPr>
                            <m:t>14</m:t>
                          </m:r>
                        </m:den>
                      </m:f>
                      <m:r>
                        <a:rPr lang="en-US" altLang="zh-TW" sz="2200" b="0" i="1" smtClean="0">
                          <a:latin typeface="Cambria Math" panose="02040503050406030204" pitchFamily="18" charset="0"/>
                          <a:ea typeface="Cambria Math" panose="02040503050406030204" pitchFamily="18" charset="0"/>
                        </a:rPr>
                        <m:t>×0.38+</m:t>
                      </m:r>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6</m:t>
                          </m:r>
                        </m:num>
                        <m:den>
                          <m:r>
                            <a:rPr lang="en-US" altLang="zh-TW" sz="2200" i="1">
                              <a:latin typeface="Cambria Math" panose="02040503050406030204" pitchFamily="18" charset="0"/>
                            </a:rPr>
                            <m:t>14</m:t>
                          </m:r>
                        </m:den>
                      </m:f>
                      <m:r>
                        <a:rPr lang="en-US" altLang="zh-TW" sz="2200" i="1">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0.5=0.43</m:t>
                      </m:r>
                    </m:oMath>
                  </m:oMathPara>
                </a14:m>
                <a:endParaRPr lang="zh-TW" altLang="en-US" sz="22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4106350" y="2613055"/>
                <a:ext cx="6119047" cy="633828"/>
              </a:xfrm>
              <a:prstGeom prst="rect">
                <a:avLst/>
              </a:prstGeom>
              <a:blipFill>
                <a:blip r:embed="rId5"/>
                <a:stretch>
                  <a:fillRect/>
                </a:stretch>
              </a:blipFill>
            </p:spPr>
            <p:txBody>
              <a:bodyPr/>
              <a:lstStyle/>
              <a:p>
                <a:r>
                  <a:rPr lang="zh-TW" altLang="en-US">
                    <a:noFill/>
                  </a:rPr>
                  <a:t> </a:t>
                </a:r>
              </a:p>
            </p:txBody>
          </p:sp>
        </mc:Fallback>
      </mc:AlternateContent>
      <p:sp>
        <p:nvSpPr>
          <p:cNvPr id="2" name="文字方塊 1"/>
          <p:cNvSpPr txBox="1"/>
          <p:nvPr/>
        </p:nvSpPr>
        <p:spPr>
          <a:xfrm>
            <a:off x="138953" y="3728542"/>
            <a:ext cx="6849952" cy="369332"/>
          </a:xfrm>
          <a:prstGeom prst="rect">
            <a:avLst/>
          </a:prstGeom>
          <a:noFill/>
        </p:spPr>
        <p:txBody>
          <a:bodyPr wrap="none" rtlCol="0">
            <a:spAutoFit/>
          </a:bodyPr>
          <a:lstStyle/>
          <a:p>
            <a:r>
              <a:rPr lang="zh-TW" altLang="en-US" dirty="0"/>
              <a:t>挑選</a:t>
            </a:r>
            <a:r>
              <a:rPr lang="en-US" altLang="zh-TW" dirty="0" smtClean="0"/>
              <a:t>Gini</a:t>
            </a:r>
            <a:r>
              <a:rPr lang="zh-TW" altLang="en-US" dirty="0" smtClean="0"/>
              <a:t>係數</a:t>
            </a:r>
            <a:r>
              <a:rPr lang="zh-TW" altLang="en-US" dirty="0"/>
              <a:t>最小的，上述為</a:t>
            </a:r>
            <a:r>
              <a:rPr lang="en-US" altLang="zh-TW" dirty="0"/>
              <a:t>Outlook</a:t>
            </a:r>
            <a:r>
              <a:rPr lang="zh-TW" altLang="en-US" dirty="0"/>
              <a:t>具有最小值，因此</a:t>
            </a:r>
            <a:r>
              <a:rPr lang="zh-TW" altLang="en-US" dirty="0" smtClean="0"/>
              <a:t>選為</a:t>
            </a:r>
            <a:r>
              <a:rPr lang="zh-TW" altLang="en-US" dirty="0"/>
              <a:t>根</a:t>
            </a:r>
            <a:r>
              <a:rPr lang="zh-TW" altLang="en-US" dirty="0" smtClean="0"/>
              <a:t>節點</a:t>
            </a:r>
            <a:endParaRPr lang="zh-TW" altLang="en-US" dirty="0"/>
          </a:p>
        </p:txBody>
      </p:sp>
    </p:spTree>
    <p:extLst>
      <p:ext uri="{BB962C8B-B14F-4D97-AF65-F5344CB8AC3E}">
        <p14:creationId xmlns:p14="http://schemas.microsoft.com/office/powerpoint/2010/main" val="10166281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82418" y="198870"/>
            <a:ext cx="10515600" cy="1325563"/>
          </a:xfrm>
        </p:spPr>
        <p:txBody>
          <a:bodyPr/>
          <a:lstStyle/>
          <a:p>
            <a:r>
              <a:rPr lang="en-US" altLang="zh-TW" dirty="0"/>
              <a:t>Decision Tree for Text Classification</a:t>
            </a:r>
            <a:endParaRPr lang="zh-TW" altLang="en-US" dirty="0"/>
          </a:p>
        </p:txBody>
      </p:sp>
      <p:sp>
        <p:nvSpPr>
          <p:cNvPr id="3" name="內容版面配置區 2"/>
          <p:cNvSpPr>
            <a:spLocks noGrp="1"/>
          </p:cNvSpPr>
          <p:nvPr>
            <p:ph idx="1"/>
          </p:nvPr>
        </p:nvSpPr>
        <p:spPr>
          <a:xfrm>
            <a:off x="182417" y="1289916"/>
            <a:ext cx="11778673" cy="2367684"/>
          </a:xfrm>
        </p:spPr>
        <p:txBody>
          <a:bodyPr>
            <a:noAutofit/>
          </a:bodyPr>
          <a:lstStyle/>
          <a:p>
            <a:pPr marL="0" indent="0">
              <a:buNone/>
            </a:pPr>
            <a:r>
              <a:rPr lang="zh-TW" altLang="en-US" sz="3000" dirty="0"/>
              <a:t>根據訓練集，使用</a:t>
            </a:r>
            <a:r>
              <a:rPr lang="en-US" altLang="zh-TW" sz="3000" dirty="0"/>
              <a:t>Feature selection</a:t>
            </a:r>
            <a:r>
              <a:rPr lang="zh-TW" altLang="en-US" sz="3000" dirty="0"/>
              <a:t>，選出特徵詞彙。</a:t>
            </a:r>
            <a:r>
              <a:rPr lang="en-US" altLang="zh-TW" sz="3000" dirty="0"/>
              <a:t>(</a:t>
            </a:r>
            <a:r>
              <a:rPr lang="zh-TW" altLang="en-US" sz="3000" dirty="0"/>
              <a:t>利用卡方檢定選出代表的前</a:t>
            </a:r>
            <a:r>
              <a:rPr lang="en-US" altLang="zh-TW" sz="3000" dirty="0"/>
              <a:t>100</a:t>
            </a:r>
            <a:r>
              <a:rPr lang="zh-TW" altLang="en-US" sz="3000" dirty="0"/>
              <a:t>個詞</a:t>
            </a:r>
            <a:r>
              <a:rPr lang="en-US" altLang="zh-TW" sz="3000" dirty="0"/>
              <a:t>)</a:t>
            </a:r>
          </a:p>
          <a:p>
            <a:pPr marL="0" indent="0">
              <a:buNone/>
            </a:pPr>
            <a:r>
              <a:rPr lang="zh-TW" altLang="en-US" sz="3000" dirty="0"/>
              <a:t>將文件表示成向量空間模型</a:t>
            </a:r>
            <a:r>
              <a:rPr lang="en-US" altLang="zh-TW" sz="3000" dirty="0"/>
              <a:t>(vector space model)</a:t>
            </a:r>
            <a:r>
              <a:rPr lang="zh-TW" altLang="en-US" sz="3000" dirty="0"/>
              <a:t>，並計算的詞頻分佈</a:t>
            </a:r>
            <a:endParaRPr lang="en-US" altLang="zh-TW" sz="3000" dirty="0"/>
          </a:p>
          <a:p>
            <a:pPr marL="0" indent="0">
              <a:buNone/>
            </a:pPr>
            <a:r>
              <a:rPr lang="zh-TW" altLang="en-US" sz="3000" dirty="0"/>
              <a:t>對每一個</a:t>
            </a:r>
            <a:r>
              <a:rPr lang="en-US" altLang="zh-TW" sz="3000" dirty="0"/>
              <a:t>term</a:t>
            </a:r>
            <a:r>
              <a:rPr lang="zh-TW" altLang="en-US" sz="3000" dirty="0"/>
              <a:t>計算資訊增益，決定分支的節點</a:t>
            </a:r>
            <a:endParaRPr lang="en-US" altLang="zh-TW" sz="3000" dirty="0"/>
          </a:p>
        </p:txBody>
      </p:sp>
      <p:graphicFrame>
        <p:nvGraphicFramePr>
          <p:cNvPr id="4" name="表格 3"/>
          <p:cNvGraphicFramePr>
            <a:graphicFrameLocks noGrp="1"/>
          </p:cNvGraphicFramePr>
          <p:nvPr>
            <p:extLst>
              <p:ext uri="{D42A27DB-BD31-4B8C-83A1-F6EECF244321}">
                <p14:modId xmlns:p14="http://schemas.microsoft.com/office/powerpoint/2010/main" val="2793528629"/>
              </p:ext>
            </p:extLst>
          </p:nvPr>
        </p:nvGraphicFramePr>
        <p:xfrm>
          <a:off x="182417" y="4411133"/>
          <a:ext cx="8128000" cy="1483360"/>
        </p:xfrm>
        <a:graphic>
          <a:graphicData uri="http://schemas.openxmlformats.org/drawingml/2006/table">
            <a:tbl>
              <a:tblPr firstRow="1" bandRow="1">
                <a:tableStyleId>{5940675A-B579-460E-94D1-54222C63F5DA}</a:tableStyleId>
              </a:tblPr>
              <a:tblGrid>
                <a:gridCol w="1625600">
                  <a:extLst>
                    <a:ext uri="{9D8B030D-6E8A-4147-A177-3AD203B41FA5}">
                      <a16:colId xmlns:a16="http://schemas.microsoft.com/office/drawing/2014/main" xmlns="" val="2320476463"/>
                    </a:ext>
                  </a:extLst>
                </a:gridCol>
                <a:gridCol w="1625600">
                  <a:extLst>
                    <a:ext uri="{9D8B030D-6E8A-4147-A177-3AD203B41FA5}">
                      <a16:colId xmlns:a16="http://schemas.microsoft.com/office/drawing/2014/main" xmlns="" val="3556473096"/>
                    </a:ext>
                  </a:extLst>
                </a:gridCol>
                <a:gridCol w="1625600">
                  <a:extLst>
                    <a:ext uri="{9D8B030D-6E8A-4147-A177-3AD203B41FA5}">
                      <a16:colId xmlns:a16="http://schemas.microsoft.com/office/drawing/2014/main" xmlns="" val="180259546"/>
                    </a:ext>
                  </a:extLst>
                </a:gridCol>
                <a:gridCol w="1625600">
                  <a:extLst>
                    <a:ext uri="{9D8B030D-6E8A-4147-A177-3AD203B41FA5}">
                      <a16:colId xmlns:a16="http://schemas.microsoft.com/office/drawing/2014/main" xmlns="" val="4059959696"/>
                    </a:ext>
                  </a:extLst>
                </a:gridCol>
                <a:gridCol w="1625600">
                  <a:extLst>
                    <a:ext uri="{9D8B030D-6E8A-4147-A177-3AD203B41FA5}">
                      <a16:colId xmlns:a16="http://schemas.microsoft.com/office/drawing/2014/main" xmlns="" val="3319450743"/>
                    </a:ext>
                  </a:extLst>
                </a:gridCol>
              </a:tblGrid>
              <a:tr h="370840">
                <a:tc>
                  <a:txBody>
                    <a:bodyPr/>
                    <a:lstStyle/>
                    <a:p>
                      <a:endParaRPr lang="zh-TW" altLang="en-US" dirty="0"/>
                    </a:p>
                  </a:txBody>
                  <a:tcPr/>
                </a:tc>
                <a:tc>
                  <a:txBody>
                    <a:bodyPr/>
                    <a:lstStyle/>
                    <a:p>
                      <a:pPr algn="ctr"/>
                      <a:r>
                        <a:rPr lang="en-US" altLang="zh-TW" dirty="0"/>
                        <a:t>Term 1</a:t>
                      </a:r>
                      <a:endParaRPr lang="zh-TW" altLang="en-US" dirty="0"/>
                    </a:p>
                  </a:txBody>
                  <a:tcPr/>
                </a:tc>
                <a:tc>
                  <a:txBody>
                    <a:bodyPr/>
                    <a:lstStyle/>
                    <a:p>
                      <a:pPr algn="ctr"/>
                      <a:r>
                        <a:rPr lang="en-US" altLang="zh-TW" dirty="0"/>
                        <a:t>Term 2</a:t>
                      </a:r>
                      <a:endParaRPr lang="zh-TW" altLang="en-US" dirty="0"/>
                    </a:p>
                  </a:txBody>
                  <a:tcPr/>
                </a:tc>
                <a:tc>
                  <a:txBody>
                    <a:bodyPr/>
                    <a:lstStyle/>
                    <a:p>
                      <a:pPr algn="ctr"/>
                      <a:r>
                        <a:rPr lang="en-US" altLang="zh-TW" dirty="0"/>
                        <a:t>Term 3</a:t>
                      </a:r>
                      <a:endParaRPr lang="zh-TW" altLang="en-US" dirty="0"/>
                    </a:p>
                  </a:txBody>
                  <a:tcPr/>
                </a:tc>
                <a:tc>
                  <a:txBody>
                    <a:bodyPr/>
                    <a:lstStyle/>
                    <a:p>
                      <a:pPr algn="ctr"/>
                      <a:r>
                        <a:rPr lang="en-US" altLang="zh-TW" dirty="0"/>
                        <a:t>Term 4</a:t>
                      </a:r>
                      <a:endParaRPr lang="zh-TW" altLang="en-US" dirty="0"/>
                    </a:p>
                  </a:txBody>
                  <a:tcPr/>
                </a:tc>
                <a:extLst>
                  <a:ext uri="{0D108BD9-81ED-4DB2-BD59-A6C34878D82A}">
                    <a16:rowId xmlns:a16="http://schemas.microsoft.com/office/drawing/2014/main" xmlns="" val="136997485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solidFill>
                            <a:schemeClr val="tx1"/>
                          </a:solidFill>
                        </a:rPr>
                        <a:t>article</a:t>
                      </a:r>
                      <a:r>
                        <a:rPr lang="en-US" altLang="zh-TW" dirty="0" smtClean="0"/>
                        <a:t> </a:t>
                      </a:r>
                      <a:r>
                        <a:rPr lang="en-US" altLang="zh-TW" dirty="0"/>
                        <a:t>1</a:t>
                      </a:r>
                      <a:endParaRPr lang="zh-TW" altLang="en-US" dirty="0"/>
                    </a:p>
                  </a:txBody>
                  <a:tcPr/>
                </a:tc>
                <a:tc>
                  <a:txBody>
                    <a:bodyPr/>
                    <a:lstStyle/>
                    <a:p>
                      <a:r>
                        <a:rPr lang="en-US" altLang="zh-TW" dirty="0"/>
                        <a:t>2</a:t>
                      </a:r>
                      <a:endParaRPr lang="zh-TW" altLang="en-US" dirty="0"/>
                    </a:p>
                  </a:txBody>
                  <a:tcPr/>
                </a:tc>
                <a:tc>
                  <a:txBody>
                    <a:bodyPr/>
                    <a:lstStyle/>
                    <a:p>
                      <a:r>
                        <a:rPr lang="en-US" altLang="zh-TW" dirty="0"/>
                        <a:t>4</a:t>
                      </a:r>
                      <a:endParaRPr lang="zh-TW" altLang="en-US" dirty="0"/>
                    </a:p>
                  </a:txBody>
                  <a:tcPr/>
                </a:tc>
                <a:tc>
                  <a:txBody>
                    <a:bodyPr/>
                    <a:lstStyle/>
                    <a:p>
                      <a:r>
                        <a:rPr lang="en-US" altLang="zh-TW" dirty="0"/>
                        <a:t>0</a:t>
                      </a:r>
                      <a:endParaRPr lang="zh-TW" altLang="en-US" dirty="0"/>
                    </a:p>
                  </a:txBody>
                  <a:tcPr/>
                </a:tc>
                <a:tc>
                  <a:txBody>
                    <a:bodyPr/>
                    <a:lstStyle/>
                    <a:p>
                      <a:r>
                        <a:rPr lang="en-US" altLang="zh-TW" dirty="0"/>
                        <a:t>1</a:t>
                      </a:r>
                      <a:endParaRPr lang="zh-TW" altLang="en-US" dirty="0"/>
                    </a:p>
                  </a:txBody>
                  <a:tcPr/>
                </a:tc>
                <a:extLst>
                  <a:ext uri="{0D108BD9-81ED-4DB2-BD59-A6C34878D82A}">
                    <a16:rowId xmlns:a16="http://schemas.microsoft.com/office/drawing/2014/main" xmlns="" val="1671642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solidFill>
                            <a:schemeClr val="tx1"/>
                          </a:solidFill>
                        </a:rPr>
                        <a:t>article</a:t>
                      </a:r>
                      <a:r>
                        <a:rPr lang="en-US" altLang="zh-TW" dirty="0" smtClean="0"/>
                        <a:t>2</a:t>
                      </a:r>
                      <a:endParaRPr lang="zh-TW" altLang="en-US" dirty="0"/>
                    </a:p>
                  </a:txBody>
                  <a:tcPr/>
                </a:tc>
                <a:tc>
                  <a:txBody>
                    <a:bodyPr/>
                    <a:lstStyle/>
                    <a:p>
                      <a:r>
                        <a:rPr lang="en-US" altLang="zh-TW" dirty="0"/>
                        <a:t>1</a:t>
                      </a:r>
                      <a:endParaRPr lang="zh-TW" altLang="en-US" dirty="0"/>
                    </a:p>
                  </a:txBody>
                  <a:tcPr/>
                </a:tc>
                <a:tc>
                  <a:txBody>
                    <a:bodyPr/>
                    <a:lstStyle/>
                    <a:p>
                      <a:r>
                        <a:rPr lang="en-US" altLang="zh-TW" dirty="0"/>
                        <a:t>0</a:t>
                      </a:r>
                      <a:endParaRPr lang="zh-TW" altLang="en-US" dirty="0"/>
                    </a:p>
                  </a:txBody>
                  <a:tcPr/>
                </a:tc>
                <a:tc>
                  <a:txBody>
                    <a:bodyPr/>
                    <a:lstStyle/>
                    <a:p>
                      <a:r>
                        <a:rPr lang="en-US" altLang="zh-TW" dirty="0"/>
                        <a:t>2</a:t>
                      </a:r>
                      <a:endParaRPr lang="zh-TW" altLang="en-US" dirty="0"/>
                    </a:p>
                  </a:txBody>
                  <a:tcPr/>
                </a:tc>
                <a:tc>
                  <a:txBody>
                    <a:bodyPr/>
                    <a:lstStyle/>
                    <a:p>
                      <a:r>
                        <a:rPr lang="en-US" altLang="zh-TW" dirty="0"/>
                        <a:t>3</a:t>
                      </a:r>
                      <a:endParaRPr lang="zh-TW" altLang="en-US" dirty="0"/>
                    </a:p>
                  </a:txBody>
                  <a:tcPr/>
                </a:tc>
                <a:extLst>
                  <a:ext uri="{0D108BD9-81ED-4DB2-BD59-A6C34878D82A}">
                    <a16:rowId xmlns:a16="http://schemas.microsoft.com/office/drawing/2014/main" xmlns="" val="12890105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smtClean="0">
                          <a:solidFill>
                            <a:schemeClr val="tx1"/>
                          </a:solidFill>
                        </a:rPr>
                        <a:t>article</a:t>
                      </a:r>
                      <a:r>
                        <a:rPr lang="en-US" altLang="zh-TW" dirty="0" smtClean="0"/>
                        <a:t> </a:t>
                      </a:r>
                      <a:r>
                        <a:rPr lang="en-US" altLang="zh-TW" dirty="0"/>
                        <a:t>3</a:t>
                      </a:r>
                      <a:endParaRPr lang="zh-TW" altLang="en-US" dirty="0"/>
                    </a:p>
                  </a:txBody>
                  <a:tcPr/>
                </a:tc>
                <a:tc>
                  <a:txBody>
                    <a:bodyPr/>
                    <a:lstStyle/>
                    <a:p>
                      <a:r>
                        <a:rPr lang="en-US" altLang="zh-TW" dirty="0"/>
                        <a:t>3</a:t>
                      </a:r>
                      <a:endParaRPr lang="zh-TW" altLang="en-US" dirty="0"/>
                    </a:p>
                  </a:txBody>
                  <a:tcPr/>
                </a:tc>
                <a:tc>
                  <a:txBody>
                    <a:bodyPr/>
                    <a:lstStyle/>
                    <a:p>
                      <a:r>
                        <a:rPr lang="en-US" altLang="zh-TW" dirty="0"/>
                        <a:t>1</a:t>
                      </a:r>
                      <a:endParaRPr lang="zh-TW" altLang="en-US" dirty="0"/>
                    </a:p>
                  </a:txBody>
                  <a:tcPr/>
                </a:tc>
                <a:tc>
                  <a:txBody>
                    <a:bodyPr/>
                    <a:lstStyle/>
                    <a:p>
                      <a:r>
                        <a:rPr lang="en-US" altLang="zh-TW" dirty="0"/>
                        <a:t>5</a:t>
                      </a:r>
                      <a:endParaRPr lang="zh-TW" altLang="en-US" dirty="0"/>
                    </a:p>
                  </a:txBody>
                  <a:tcPr/>
                </a:tc>
                <a:tc>
                  <a:txBody>
                    <a:bodyPr/>
                    <a:lstStyle/>
                    <a:p>
                      <a:r>
                        <a:rPr lang="en-US" altLang="zh-TW" dirty="0"/>
                        <a:t>0</a:t>
                      </a:r>
                      <a:endParaRPr lang="zh-TW" altLang="en-US" dirty="0"/>
                    </a:p>
                  </a:txBody>
                  <a:tcPr/>
                </a:tc>
                <a:extLst>
                  <a:ext uri="{0D108BD9-81ED-4DB2-BD59-A6C34878D82A}">
                    <a16:rowId xmlns:a16="http://schemas.microsoft.com/office/drawing/2014/main" xmlns="" val="3177032632"/>
                  </a:ext>
                </a:extLst>
              </a:tr>
            </a:tbl>
          </a:graphicData>
        </a:graphic>
      </p:graphicFrame>
      <p:cxnSp>
        <p:nvCxnSpPr>
          <p:cNvPr id="7" name="直線單箭頭接點 6"/>
          <p:cNvCxnSpPr>
            <a:cxnSpLocks/>
            <a:stCxn id="22" idx="2"/>
            <a:endCxn id="25" idx="0"/>
          </p:cNvCxnSpPr>
          <p:nvPr/>
        </p:nvCxnSpPr>
        <p:spPr>
          <a:xfrm flipH="1">
            <a:off x="9406661" y="4696306"/>
            <a:ext cx="911512" cy="480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直線單箭頭接點 7"/>
          <p:cNvCxnSpPr>
            <a:cxnSpLocks/>
            <a:stCxn id="22" idx="2"/>
            <a:endCxn id="28" idx="0"/>
          </p:cNvCxnSpPr>
          <p:nvPr/>
        </p:nvCxnSpPr>
        <p:spPr>
          <a:xfrm>
            <a:off x="10318173" y="4696306"/>
            <a:ext cx="915555" cy="4802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矩形: 圓角 21"/>
          <p:cNvSpPr/>
          <p:nvPr/>
        </p:nvSpPr>
        <p:spPr>
          <a:xfrm>
            <a:off x="9587346" y="3869266"/>
            <a:ext cx="1461654" cy="82704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Node1</a:t>
            </a:r>
          </a:p>
          <a:p>
            <a:pPr algn="ctr"/>
            <a:r>
              <a:rPr lang="en-US" altLang="zh-TW" dirty="0">
                <a:solidFill>
                  <a:schemeClr val="tx1"/>
                </a:solidFill>
              </a:rPr>
              <a:t>3000 </a:t>
            </a:r>
            <a:r>
              <a:rPr lang="en-US" altLang="zh-TW" dirty="0" smtClean="0">
                <a:solidFill>
                  <a:schemeClr val="tx1"/>
                </a:solidFill>
              </a:rPr>
              <a:t>articles</a:t>
            </a:r>
            <a:endParaRPr lang="en-US" altLang="zh-TW" dirty="0">
              <a:solidFill>
                <a:schemeClr val="tx1"/>
              </a:solidFill>
            </a:endParaRPr>
          </a:p>
          <a:p>
            <a:pPr algn="ctr"/>
            <a:r>
              <a:rPr lang="en-US" altLang="zh-TW" dirty="0">
                <a:solidFill>
                  <a:schemeClr val="tx1"/>
                </a:solidFill>
              </a:rPr>
              <a:t>Split : term i</a:t>
            </a:r>
            <a:endParaRPr lang="zh-TW" altLang="en-US" dirty="0">
              <a:solidFill>
                <a:schemeClr val="tx1"/>
              </a:solidFill>
            </a:endParaRPr>
          </a:p>
        </p:txBody>
      </p:sp>
      <p:sp>
        <p:nvSpPr>
          <p:cNvPr id="25" name="矩形: 圓角 24"/>
          <p:cNvSpPr/>
          <p:nvPr/>
        </p:nvSpPr>
        <p:spPr>
          <a:xfrm>
            <a:off x="8675834" y="5176597"/>
            <a:ext cx="1461654" cy="82704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Node2</a:t>
            </a:r>
          </a:p>
          <a:p>
            <a:pPr algn="ctr"/>
            <a:r>
              <a:rPr lang="en-US" altLang="zh-TW" dirty="0">
                <a:solidFill>
                  <a:schemeClr val="tx1"/>
                </a:solidFill>
              </a:rPr>
              <a:t>1300 </a:t>
            </a:r>
            <a:r>
              <a:rPr lang="en-US" altLang="zh-TW" dirty="0" smtClean="0">
                <a:solidFill>
                  <a:schemeClr val="tx1"/>
                </a:solidFill>
              </a:rPr>
              <a:t>articles</a:t>
            </a:r>
            <a:endParaRPr lang="en-US" altLang="zh-TW" dirty="0">
              <a:solidFill>
                <a:schemeClr val="tx1"/>
              </a:solidFill>
            </a:endParaRPr>
          </a:p>
          <a:p>
            <a:pPr algn="ctr"/>
            <a:r>
              <a:rPr lang="en-US" altLang="zh-TW" dirty="0">
                <a:solidFill>
                  <a:schemeClr val="tx1"/>
                </a:solidFill>
              </a:rPr>
              <a:t>Split : term j</a:t>
            </a:r>
            <a:endParaRPr lang="zh-TW" altLang="en-US" dirty="0">
              <a:solidFill>
                <a:schemeClr val="tx1"/>
              </a:solidFill>
            </a:endParaRPr>
          </a:p>
        </p:txBody>
      </p:sp>
      <p:sp>
        <p:nvSpPr>
          <p:cNvPr id="28" name="矩形: 圓角 27"/>
          <p:cNvSpPr/>
          <p:nvPr/>
        </p:nvSpPr>
        <p:spPr>
          <a:xfrm>
            <a:off x="10502901" y="5176597"/>
            <a:ext cx="1461654" cy="827040"/>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Node3</a:t>
            </a:r>
          </a:p>
          <a:p>
            <a:pPr algn="ctr"/>
            <a:r>
              <a:rPr lang="en-US" altLang="zh-TW" dirty="0">
                <a:solidFill>
                  <a:schemeClr val="tx1"/>
                </a:solidFill>
              </a:rPr>
              <a:t>1700 </a:t>
            </a:r>
            <a:r>
              <a:rPr lang="en-US" altLang="zh-TW" dirty="0" smtClean="0">
                <a:solidFill>
                  <a:schemeClr val="tx1"/>
                </a:solidFill>
              </a:rPr>
              <a:t>articles</a:t>
            </a:r>
            <a:endParaRPr lang="en-US" altLang="zh-TW" dirty="0">
              <a:solidFill>
                <a:schemeClr val="tx1"/>
              </a:solidFill>
            </a:endParaRPr>
          </a:p>
          <a:p>
            <a:pPr algn="ctr"/>
            <a:r>
              <a:rPr lang="en-US" altLang="zh-TW" dirty="0">
                <a:solidFill>
                  <a:schemeClr val="tx1"/>
                </a:solidFill>
              </a:rPr>
              <a:t>Split : term k</a:t>
            </a:r>
            <a:endParaRPr lang="zh-TW" altLang="en-US" dirty="0">
              <a:solidFill>
                <a:schemeClr val="tx1"/>
              </a:solidFill>
            </a:endParaRPr>
          </a:p>
        </p:txBody>
      </p:sp>
      <p:sp>
        <p:nvSpPr>
          <p:cNvPr id="33" name="文字方塊 32"/>
          <p:cNvSpPr txBox="1"/>
          <p:nvPr/>
        </p:nvSpPr>
        <p:spPr>
          <a:xfrm>
            <a:off x="9178093" y="4696306"/>
            <a:ext cx="491225" cy="369332"/>
          </a:xfrm>
          <a:prstGeom prst="rect">
            <a:avLst/>
          </a:prstGeom>
          <a:noFill/>
        </p:spPr>
        <p:txBody>
          <a:bodyPr wrap="none" rtlCol="0">
            <a:spAutoFit/>
          </a:bodyPr>
          <a:lstStyle/>
          <a:p>
            <a:r>
              <a:rPr lang="en-US" altLang="zh-TW" dirty="0"/>
              <a:t>yes</a:t>
            </a:r>
            <a:endParaRPr lang="zh-TW" altLang="en-US" dirty="0"/>
          </a:p>
        </p:txBody>
      </p:sp>
      <p:sp>
        <p:nvSpPr>
          <p:cNvPr id="34" name="文字方塊 33"/>
          <p:cNvSpPr txBox="1"/>
          <p:nvPr/>
        </p:nvSpPr>
        <p:spPr>
          <a:xfrm>
            <a:off x="10984072" y="4682189"/>
            <a:ext cx="428322" cy="369332"/>
          </a:xfrm>
          <a:prstGeom prst="rect">
            <a:avLst/>
          </a:prstGeom>
          <a:noFill/>
        </p:spPr>
        <p:txBody>
          <a:bodyPr wrap="none" rtlCol="0">
            <a:spAutoFit/>
          </a:bodyPr>
          <a:lstStyle/>
          <a:p>
            <a:r>
              <a:rPr lang="en-US" altLang="zh-TW" dirty="0"/>
              <a:t>no</a:t>
            </a:r>
            <a:endParaRPr lang="zh-TW" altLang="en-US" dirty="0"/>
          </a:p>
        </p:txBody>
      </p:sp>
    </p:spTree>
    <p:extLst>
      <p:ext uri="{BB962C8B-B14F-4D97-AF65-F5344CB8AC3E}">
        <p14:creationId xmlns:p14="http://schemas.microsoft.com/office/powerpoint/2010/main" val="39111845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圓角 4"/>
          <p:cNvSpPr/>
          <p:nvPr/>
        </p:nvSpPr>
        <p:spPr>
          <a:xfrm>
            <a:off x="3195782" y="346363"/>
            <a:ext cx="6040582" cy="64654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6" name="矩形: 圓角 5"/>
          <p:cNvSpPr/>
          <p:nvPr/>
        </p:nvSpPr>
        <p:spPr>
          <a:xfrm>
            <a:off x="3278909" y="452581"/>
            <a:ext cx="3934691" cy="434109"/>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圓角 6"/>
          <p:cNvSpPr/>
          <p:nvPr/>
        </p:nvSpPr>
        <p:spPr>
          <a:xfrm>
            <a:off x="7296727" y="452581"/>
            <a:ext cx="1773382" cy="43410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p:cNvSpPr txBox="1"/>
          <p:nvPr/>
        </p:nvSpPr>
        <p:spPr>
          <a:xfrm>
            <a:off x="4325874" y="438802"/>
            <a:ext cx="2217467" cy="461665"/>
          </a:xfrm>
          <a:prstGeom prst="rect">
            <a:avLst/>
          </a:prstGeom>
          <a:noFill/>
        </p:spPr>
        <p:txBody>
          <a:bodyPr wrap="none" rtlCol="0">
            <a:spAutoFit/>
          </a:bodyPr>
          <a:lstStyle/>
          <a:p>
            <a:r>
              <a:rPr lang="en-US" altLang="zh-TW" sz="2400" dirty="0" smtClean="0"/>
              <a:t>Training </a:t>
            </a:r>
            <a:r>
              <a:rPr lang="en-US" altLang="zh-TW" sz="2400" dirty="0"/>
              <a:t>set 70%</a:t>
            </a:r>
            <a:endParaRPr lang="zh-TW" altLang="en-US" sz="2400" dirty="0"/>
          </a:p>
        </p:txBody>
      </p:sp>
      <p:sp>
        <p:nvSpPr>
          <p:cNvPr id="9" name="文字方塊 8"/>
          <p:cNvSpPr txBox="1"/>
          <p:nvPr/>
        </p:nvSpPr>
        <p:spPr>
          <a:xfrm>
            <a:off x="7296726" y="469579"/>
            <a:ext cx="1786323" cy="400110"/>
          </a:xfrm>
          <a:prstGeom prst="rect">
            <a:avLst/>
          </a:prstGeom>
          <a:noFill/>
        </p:spPr>
        <p:txBody>
          <a:bodyPr wrap="none" rtlCol="0">
            <a:spAutoFit/>
          </a:bodyPr>
          <a:lstStyle/>
          <a:p>
            <a:r>
              <a:rPr lang="en-US" altLang="zh-TW" sz="2000" dirty="0"/>
              <a:t>Testing set 30%</a:t>
            </a:r>
            <a:endParaRPr lang="zh-TW" altLang="en-US" sz="2000" dirty="0"/>
          </a:p>
        </p:txBody>
      </p:sp>
      <p:sp>
        <p:nvSpPr>
          <p:cNvPr id="10" name="橢圓 9"/>
          <p:cNvSpPr/>
          <p:nvPr/>
        </p:nvSpPr>
        <p:spPr>
          <a:xfrm>
            <a:off x="2424546" y="2655532"/>
            <a:ext cx="397164" cy="341746"/>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12" name="直線單箭頭接點 11"/>
          <p:cNvCxnSpPr>
            <a:cxnSpLocks/>
            <a:stCxn id="10" idx="4"/>
            <a:endCxn id="16" idx="0"/>
          </p:cNvCxnSpPr>
          <p:nvPr/>
        </p:nvCxnSpPr>
        <p:spPr>
          <a:xfrm flipH="1">
            <a:off x="2225964" y="2997278"/>
            <a:ext cx="397164" cy="3278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線單箭頭接點 12"/>
          <p:cNvCxnSpPr>
            <a:cxnSpLocks/>
            <a:stCxn id="10" idx="4"/>
            <a:endCxn id="18" idx="0"/>
          </p:cNvCxnSpPr>
          <p:nvPr/>
        </p:nvCxnSpPr>
        <p:spPr>
          <a:xfrm>
            <a:off x="2623128" y="2997278"/>
            <a:ext cx="374072" cy="3278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橢圓 15"/>
          <p:cNvSpPr/>
          <p:nvPr/>
        </p:nvSpPr>
        <p:spPr>
          <a:xfrm>
            <a:off x="2027382" y="3325169"/>
            <a:ext cx="397164" cy="341746"/>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8" name="橢圓 17"/>
          <p:cNvSpPr/>
          <p:nvPr/>
        </p:nvSpPr>
        <p:spPr>
          <a:xfrm>
            <a:off x="2798618" y="3325169"/>
            <a:ext cx="397164" cy="341746"/>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22" name="流程圖: 多重文件 21"/>
          <p:cNvSpPr/>
          <p:nvPr/>
        </p:nvSpPr>
        <p:spPr>
          <a:xfrm>
            <a:off x="2341419" y="1676400"/>
            <a:ext cx="1025236" cy="544945"/>
          </a:xfrm>
          <a:prstGeom prst="flowChartMultidocumen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D1</a:t>
            </a:r>
            <a:endParaRPr lang="zh-TW" altLang="en-US" dirty="0">
              <a:solidFill>
                <a:schemeClr val="tx1"/>
              </a:solidFill>
            </a:endParaRPr>
          </a:p>
        </p:txBody>
      </p:sp>
      <p:sp>
        <p:nvSpPr>
          <p:cNvPr id="23" name="流程圖: 多重文件 22"/>
          <p:cNvSpPr/>
          <p:nvPr/>
        </p:nvSpPr>
        <p:spPr>
          <a:xfrm>
            <a:off x="3688249" y="1676397"/>
            <a:ext cx="1025236" cy="544945"/>
          </a:xfrm>
          <a:prstGeom prst="flowChartMultidocumen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D2</a:t>
            </a:r>
            <a:endParaRPr lang="zh-TW" altLang="en-US" dirty="0">
              <a:solidFill>
                <a:schemeClr val="tx1"/>
              </a:solidFill>
            </a:endParaRPr>
          </a:p>
        </p:txBody>
      </p:sp>
      <p:sp>
        <p:nvSpPr>
          <p:cNvPr id="24" name="流程圖: 多重文件 23"/>
          <p:cNvSpPr/>
          <p:nvPr/>
        </p:nvSpPr>
        <p:spPr>
          <a:xfrm>
            <a:off x="4964547" y="1671776"/>
            <a:ext cx="1025236" cy="544945"/>
          </a:xfrm>
          <a:prstGeom prst="flowChartMultidocumen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D3</a:t>
            </a:r>
            <a:endParaRPr lang="zh-TW" altLang="en-US" dirty="0">
              <a:solidFill>
                <a:schemeClr val="tx1"/>
              </a:solidFill>
            </a:endParaRPr>
          </a:p>
        </p:txBody>
      </p:sp>
      <p:cxnSp>
        <p:nvCxnSpPr>
          <p:cNvPr id="26" name="直線單箭頭接點 25"/>
          <p:cNvCxnSpPr>
            <a:stCxn id="8" idx="2"/>
            <a:endCxn id="22" idx="0"/>
          </p:cNvCxnSpPr>
          <p:nvPr/>
        </p:nvCxnSpPr>
        <p:spPr>
          <a:xfrm flipH="1">
            <a:off x="2924569" y="900467"/>
            <a:ext cx="2510039" cy="7759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單箭頭接點 26"/>
          <p:cNvCxnSpPr>
            <a:cxnSpLocks/>
            <a:stCxn id="8" idx="2"/>
            <a:endCxn id="23" idx="0"/>
          </p:cNvCxnSpPr>
          <p:nvPr/>
        </p:nvCxnSpPr>
        <p:spPr>
          <a:xfrm flipH="1">
            <a:off x="4271399" y="900467"/>
            <a:ext cx="1163209" cy="7759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線單箭頭接點 30"/>
          <p:cNvCxnSpPr>
            <a:cxnSpLocks/>
            <a:stCxn id="6" idx="2"/>
            <a:endCxn id="24" idx="0"/>
          </p:cNvCxnSpPr>
          <p:nvPr/>
        </p:nvCxnSpPr>
        <p:spPr>
          <a:xfrm>
            <a:off x="5246255" y="886690"/>
            <a:ext cx="301442" cy="7850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橢圓 41"/>
          <p:cNvSpPr/>
          <p:nvPr/>
        </p:nvSpPr>
        <p:spPr>
          <a:xfrm>
            <a:off x="3912231" y="2660138"/>
            <a:ext cx="397164" cy="341746"/>
          </a:xfrm>
          <a:prstGeom prst="ellipse">
            <a:avLst/>
          </a:prstGeom>
          <a:solidFill>
            <a:srgbClr val="92D05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43" name="直線單箭頭接點 42"/>
          <p:cNvCxnSpPr>
            <a:cxnSpLocks/>
            <a:stCxn id="42" idx="4"/>
            <a:endCxn id="45" idx="0"/>
          </p:cNvCxnSpPr>
          <p:nvPr/>
        </p:nvCxnSpPr>
        <p:spPr>
          <a:xfrm flipH="1">
            <a:off x="3713649" y="3001884"/>
            <a:ext cx="397164" cy="3278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單箭頭接點 43"/>
          <p:cNvCxnSpPr>
            <a:cxnSpLocks/>
            <a:stCxn id="42" idx="4"/>
            <a:endCxn id="46" idx="0"/>
          </p:cNvCxnSpPr>
          <p:nvPr/>
        </p:nvCxnSpPr>
        <p:spPr>
          <a:xfrm>
            <a:off x="4110813" y="3001884"/>
            <a:ext cx="374072" cy="3278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橢圓 44"/>
          <p:cNvSpPr/>
          <p:nvPr/>
        </p:nvSpPr>
        <p:spPr>
          <a:xfrm>
            <a:off x="3515067" y="3329775"/>
            <a:ext cx="397164" cy="341746"/>
          </a:xfrm>
          <a:prstGeom prst="ellipse">
            <a:avLst/>
          </a:prstGeom>
          <a:solidFill>
            <a:srgbClr val="92D05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46" name="橢圓 45"/>
          <p:cNvSpPr/>
          <p:nvPr/>
        </p:nvSpPr>
        <p:spPr>
          <a:xfrm>
            <a:off x="4286303" y="3329775"/>
            <a:ext cx="397164" cy="341746"/>
          </a:xfrm>
          <a:prstGeom prst="ellipse">
            <a:avLst/>
          </a:prstGeom>
          <a:solidFill>
            <a:srgbClr val="92D05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47" name="橢圓 46"/>
          <p:cNvSpPr/>
          <p:nvPr/>
        </p:nvSpPr>
        <p:spPr>
          <a:xfrm>
            <a:off x="3217194" y="4050199"/>
            <a:ext cx="397164" cy="341746"/>
          </a:xfrm>
          <a:prstGeom prst="ellipse">
            <a:avLst/>
          </a:prstGeom>
          <a:solidFill>
            <a:srgbClr val="92D05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48" name="直線單箭頭接點 47"/>
          <p:cNvCxnSpPr>
            <a:cxnSpLocks/>
            <a:stCxn id="45" idx="4"/>
            <a:endCxn id="47" idx="0"/>
          </p:cNvCxnSpPr>
          <p:nvPr/>
        </p:nvCxnSpPr>
        <p:spPr>
          <a:xfrm flipH="1">
            <a:off x="3415776" y="3671521"/>
            <a:ext cx="297873" cy="3786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橢圓 51"/>
          <p:cNvSpPr/>
          <p:nvPr/>
        </p:nvSpPr>
        <p:spPr>
          <a:xfrm>
            <a:off x="3713651" y="4050199"/>
            <a:ext cx="397164" cy="341746"/>
          </a:xfrm>
          <a:prstGeom prst="ellipse">
            <a:avLst/>
          </a:prstGeom>
          <a:solidFill>
            <a:srgbClr val="92D05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53" name="直線單箭頭接點 52"/>
          <p:cNvCxnSpPr>
            <a:cxnSpLocks/>
            <a:stCxn id="45" idx="4"/>
            <a:endCxn id="52" idx="0"/>
          </p:cNvCxnSpPr>
          <p:nvPr/>
        </p:nvCxnSpPr>
        <p:spPr>
          <a:xfrm>
            <a:off x="3713649" y="3671521"/>
            <a:ext cx="198584" cy="3786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橢圓 56"/>
          <p:cNvSpPr/>
          <p:nvPr/>
        </p:nvSpPr>
        <p:spPr>
          <a:xfrm>
            <a:off x="5239226" y="2724715"/>
            <a:ext cx="397164" cy="341746"/>
          </a:xfrm>
          <a:prstGeom prst="ellipse">
            <a:avLst/>
          </a:prstGeom>
          <a:solidFill>
            <a:srgbClr val="C0000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58" name="直線單箭頭接點 57"/>
          <p:cNvCxnSpPr>
            <a:cxnSpLocks/>
            <a:stCxn id="57" idx="4"/>
            <a:endCxn id="60" idx="0"/>
          </p:cNvCxnSpPr>
          <p:nvPr/>
        </p:nvCxnSpPr>
        <p:spPr>
          <a:xfrm flipH="1">
            <a:off x="5040644" y="3066461"/>
            <a:ext cx="397164" cy="3278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9" name="直線單箭頭接點 58"/>
          <p:cNvCxnSpPr>
            <a:cxnSpLocks/>
            <a:stCxn id="57" idx="4"/>
            <a:endCxn id="61" idx="0"/>
          </p:cNvCxnSpPr>
          <p:nvPr/>
        </p:nvCxnSpPr>
        <p:spPr>
          <a:xfrm>
            <a:off x="5437808" y="3066461"/>
            <a:ext cx="374072" cy="3278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0" name="橢圓 59"/>
          <p:cNvSpPr/>
          <p:nvPr/>
        </p:nvSpPr>
        <p:spPr>
          <a:xfrm>
            <a:off x="4842062" y="3394352"/>
            <a:ext cx="397164" cy="341746"/>
          </a:xfrm>
          <a:prstGeom prst="ellipse">
            <a:avLst/>
          </a:prstGeom>
          <a:solidFill>
            <a:srgbClr val="C0000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61" name="橢圓 60"/>
          <p:cNvSpPr/>
          <p:nvPr/>
        </p:nvSpPr>
        <p:spPr>
          <a:xfrm>
            <a:off x="5613298" y="3394352"/>
            <a:ext cx="397164" cy="341746"/>
          </a:xfrm>
          <a:prstGeom prst="ellipse">
            <a:avLst/>
          </a:prstGeom>
          <a:solidFill>
            <a:srgbClr val="C0000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62" name="橢圓 61"/>
          <p:cNvSpPr/>
          <p:nvPr/>
        </p:nvSpPr>
        <p:spPr>
          <a:xfrm>
            <a:off x="5278583" y="4100904"/>
            <a:ext cx="397164" cy="341746"/>
          </a:xfrm>
          <a:prstGeom prst="ellipse">
            <a:avLst/>
          </a:prstGeom>
          <a:solidFill>
            <a:srgbClr val="C0000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63" name="直線單箭頭接點 62"/>
          <p:cNvCxnSpPr>
            <a:cxnSpLocks/>
            <a:stCxn id="61" idx="4"/>
            <a:endCxn id="62" idx="0"/>
          </p:cNvCxnSpPr>
          <p:nvPr/>
        </p:nvCxnSpPr>
        <p:spPr>
          <a:xfrm flipH="1">
            <a:off x="5477165" y="3736098"/>
            <a:ext cx="334715" cy="3648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橢圓 63"/>
          <p:cNvSpPr/>
          <p:nvPr/>
        </p:nvSpPr>
        <p:spPr>
          <a:xfrm>
            <a:off x="5871184" y="4063989"/>
            <a:ext cx="397164" cy="341746"/>
          </a:xfrm>
          <a:prstGeom prst="ellipse">
            <a:avLst/>
          </a:prstGeom>
          <a:solidFill>
            <a:srgbClr val="C00000"/>
          </a:solidFill>
          <a:ln>
            <a:solidFill>
              <a:srgbClr val="92D05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65" name="直線單箭頭接點 64"/>
          <p:cNvCxnSpPr>
            <a:cxnSpLocks/>
            <a:stCxn id="61" idx="4"/>
            <a:endCxn id="64" idx="0"/>
          </p:cNvCxnSpPr>
          <p:nvPr/>
        </p:nvCxnSpPr>
        <p:spPr>
          <a:xfrm>
            <a:off x="5811880" y="3736098"/>
            <a:ext cx="257886" cy="32789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 name="右大括弧 1"/>
          <p:cNvSpPr/>
          <p:nvPr/>
        </p:nvSpPr>
        <p:spPr>
          <a:xfrm rot="5400000">
            <a:off x="3975257" y="3049575"/>
            <a:ext cx="397163" cy="394067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TW" altLang="en-US"/>
          </a:p>
        </p:txBody>
      </p:sp>
      <p:sp>
        <p:nvSpPr>
          <p:cNvPr id="3" name="文字方塊 2"/>
          <p:cNvSpPr txBox="1"/>
          <p:nvPr/>
        </p:nvSpPr>
        <p:spPr>
          <a:xfrm>
            <a:off x="3608498" y="5280493"/>
            <a:ext cx="1204176" cy="400110"/>
          </a:xfrm>
          <a:prstGeom prst="rect">
            <a:avLst/>
          </a:prstGeom>
          <a:noFill/>
        </p:spPr>
        <p:txBody>
          <a:bodyPr wrap="none" rtlCol="0">
            <a:spAutoFit/>
          </a:bodyPr>
          <a:lstStyle/>
          <a:p>
            <a:r>
              <a:rPr lang="en-US" altLang="zh-TW" sz="2000" dirty="0"/>
              <a:t>ensemble</a:t>
            </a:r>
            <a:endParaRPr lang="zh-TW" altLang="en-US" sz="2000" dirty="0"/>
          </a:p>
        </p:txBody>
      </p:sp>
      <p:sp>
        <p:nvSpPr>
          <p:cNvPr id="4" name="文字方塊 3"/>
          <p:cNvSpPr txBox="1"/>
          <p:nvPr/>
        </p:nvSpPr>
        <p:spPr>
          <a:xfrm>
            <a:off x="7376812" y="2389642"/>
            <a:ext cx="4009427" cy="2554545"/>
          </a:xfrm>
          <a:prstGeom prst="rect">
            <a:avLst/>
          </a:prstGeom>
          <a:noFill/>
        </p:spPr>
        <p:txBody>
          <a:bodyPr wrap="square" rtlCol="0">
            <a:spAutoFit/>
          </a:bodyPr>
          <a:lstStyle/>
          <a:p>
            <a:r>
              <a:rPr lang="zh-TW" altLang="en-US" sz="2000" dirty="0"/>
              <a:t>從訓練資料中取出樣本，</a:t>
            </a:r>
            <a:r>
              <a:rPr lang="zh-TW" altLang="en-US" sz="2000" dirty="0" smtClean="0"/>
              <a:t>採</a:t>
            </a:r>
            <a:endParaRPr lang="en-US" altLang="zh-TW" sz="2000" dirty="0"/>
          </a:p>
          <a:p>
            <a:r>
              <a:rPr lang="en-US" altLang="zh-TW" sz="2000" dirty="0" smtClean="0"/>
              <a:t>bootstrap</a:t>
            </a:r>
            <a:r>
              <a:rPr lang="zh-TW" altLang="en-US" sz="2000" dirty="0" smtClean="0"/>
              <a:t>抽樣</a:t>
            </a:r>
            <a:r>
              <a:rPr lang="zh-TW" altLang="en-US" sz="2000" dirty="0"/>
              <a:t>，產生</a:t>
            </a:r>
            <a:r>
              <a:rPr lang="en-US" altLang="zh-TW" sz="2000" dirty="0" smtClean="0"/>
              <a:t>k=3</a:t>
            </a:r>
            <a:r>
              <a:rPr lang="zh-TW" altLang="en-US" sz="2000" dirty="0" smtClean="0"/>
              <a:t>個樣本</a:t>
            </a:r>
            <a:r>
              <a:rPr lang="zh-TW" altLang="en-US" sz="2000" dirty="0"/>
              <a:t>子</a:t>
            </a:r>
            <a:r>
              <a:rPr lang="zh-TW" altLang="en-US" sz="2000" dirty="0" smtClean="0"/>
              <a:t>集合</a:t>
            </a:r>
            <a:r>
              <a:rPr lang="zh-TW" altLang="en-US" sz="2000" dirty="0"/>
              <a:t>，用這些練資料</a:t>
            </a:r>
            <a:r>
              <a:rPr lang="zh-TW" altLang="en-US" sz="2000" dirty="0" smtClean="0"/>
              <a:t>產生</a:t>
            </a:r>
            <a:r>
              <a:rPr lang="zh-TW" altLang="en-US" sz="2000" dirty="0"/>
              <a:t>棵</a:t>
            </a:r>
            <a:r>
              <a:rPr lang="zh-TW" altLang="en-US" sz="2000" dirty="0" smtClean="0"/>
              <a:t>決策</a:t>
            </a:r>
            <a:r>
              <a:rPr lang="zh-TW" altLang="en-US" sz="2000" dirty="0"/>
              <a:t>樹，因為樣本集合不同的關係，決策樹應該有所不同，另外如果有資料不平衡的情˙況下，應該可以平衡誤差，對於各式各樣的測試樣本應該可以提升</a:t>
            </a:r>
            <a:r>
              <a:rPr lang="zh-TW" altLang="en-US" sz="2000" dirty="0" smtClean="0"/>
              <a:t>精確度</a:t>
            </a:r>
            <a:endParaRPr lang="en-US" altLang="zh-TW" sz="2000" dirty="0"/>
          </a:p>
        </p:txBody>
      </p:sp>
      <p:sp>
        <p:nvSpPr>
          <p:cNvPr id="11" name="文字方塊 10"/>
          <p:cNvSpPr txBox="1"/>
          <p:nvPr/>
        </p:nvSpPr>
        <p:spPr>
          <a:xfrm>
            <a:off x="7376812" y="1810505"/>
            <a:ext cx="761747" cy="369332"/>
          </a:xfrm>
          <a:prstGeom prst="rect">
            <a:avLst/>
          </a:prstGeom>
          <a:noFill/>
        </p:spPr>
        <p:txBody>
          <a:bodyPr wrap="none" rtlCol="0">
            <a:spAutoFit/>
          </a:bodyPr>
          <a:lstStyle/>
          <a:p>
            <a:r>
              <a:rPr lang="zh-TW" altLang="en-US" dirty="0" smtClean="0"/>
              <a:t>想法 </a:t>
            </a:r>
            <a:r>
              <a:rPr lang="en-US" altLang="zh-TW" dirty="0" smtClean="0"/>
              <a:t>:</a:t>
            </a:r>
            <a:endParaRPr lang="zh-TW" altLang="en-US" dirty="0"/>
          </a:p>
        </p:txBody>
      </p:sp>
    </p:spTree>
    <p:extLst>
      <p:ext uri="{BB962C8B-B14F-4D97-AF65-F5344CB8AC3E}">
        <p14:creationId xmlns:p14="http://schemas.microsoft.com/office/powerpoint/2010/main" val="27664903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34563731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31942992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192741" y="244251"/>
                <a:ext cx="10515600" cy="3208954"/>
              </a:xfrm>
            </p:spPr>
            <p:txBody>
              <a:bodyPr/>
              <a:lstStyle/>
              <a:p>
                <a:pPr marL="0" indent="0">
                  <a:buNone/>
                </a:pPr>
                <a:r>
                  <a:rPr lang="zh-TW" altLang="en-US" dirty="0"/>
                  <a:t>目前資料集中有</a:t>
                </a:r>
                <a:r>
                  <a:rPr lang="en-US" altLang="zh-TW" dirty="0"/>
                  <a:t>9</a:t>
                </a:r>
                <a:r>
                  <a:rPr lang="zh-TW" altLang="en-US" dirty="0"/>
                  <a:t>筆資料是打網球</a:t>
                </a:r>
                <a:r>
                  <a:rPr lang="en-US" altLang="zh-TW" dirty="0"/>
                  <a:t>=yes</a:t>
                </a:r>
                <a:r>
                  <a:rPr lang="zh-TW" altLang="en-US" dirty="0"/>
                  <a:t>，剩下的</a:t>
                </a:r>
                <a:r>
                  <a:rPr lang="en-US" altLang="zh-TW" dirty="0"/>
                  <a:t>5</a:t>
                </a:r>
                <a:r>
                  <a:rPr lang="zh-TW" altLang="en-US" dirty="0"/>
                  <a:t>筆</a:t>
                </a:r>
                <a:r>
                  <a:rPr lang="en-US" altLang="zh-TW" dirty="0"/>
                  <a:t>=no</a:t>
                </a:r>
                <a:r>
                  <a:rPr lang="zh-TW" altLang="en-US" dirty="0"/>
                  <a:t>，因此目前的資料集合的</a:t>
                </a:r>
                <a14:m>
                  <m:oMath xmlns:m="http://schemas.openxmlformats.org/officeDocument/2006/math">
                    <m:r>
                      <a:rPr lang="en-US" altLang="zh-TW" i="1">
                        <a:latin typeface="Cambria Math" panose="02040503050406030204" pitchFamily="18" charset="0"/>
                      </a:rPr>
                      <m:t>𝐺𝑖𝑛𝑖</m:t>
                    </m:r>
                    <m:r>
                      <a:rPr lang="en-US" altLang="zh-TW" i="1">
                        <a:latin typeface="Cambria Math" panose="02040503050406030204" pitchFamily="18" charset="0"/>
                      </a:rPr>
                      <m:t>(</m:t>
                    </m:r>
                    <m:r>
                      <a:rPr lang="en-US" altLang="zh-TW" i="1">
                        <a:latin typeface="Cambria Math" panose="02040503050406030204" pitchFamily="18" charset="0"/>
                      </a:rPr>
                      <m:t>𝑆</m:t>
                    </m:r>
                    <m:r>
                      <a:rPr lang="en-US" altLang="zh-TW" i="1">
                        <a:latin typeface="Cambria Math" panose="02040503050406030204" pitchFamily="18" charset="0"/>
                      </a:rPr>
                      <m:t>)</m:t>
                    </m:r>
                  </m:oMath>
                </a14:m>
                <a:r>
                  <a:rPr lang="zh-TW" altLang="en-US" dirty="0"/>
                  <a:t>為</a:t>
                </a:r>
                <a:r>
                  <a:rPr lang="zh-TW" altLang="en-US" dirty="0">
                    <a:latin typeface="PMingLiU" panose="02020500000000000000" pitchFamily="18" charset="-120"/>
                    <a:ea typeface="PMingLiU" panose="02020500000000000000" pitchFamily="18" charset="-120"/>
                  </a:rPr>
                  <a:t>：</a:t>
                </a:r>
                <a:endParaRPr lang="en-US" altLang="zh-TW" dirty="0">
                  <a:latin typeface="PMingLiU" panose="02020500000000000000" pitchFamily="18" charset="-120"/>
                  <a:ea typeface="PMingLiU" panose="02020500000000000000" pitchFamily="18" charset="-120"/>
                </a:endParaRPr>
              </a:p>
              <a:p>
                <a:pPr marL="0" indent="0">
                  <a:buNone/>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𝐺𝑖𝑛𝑖</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𝑆</m:t>
                          </m:r>
                        </m:e>
                      </m:d>
                      <m:r>
                        <a:rPr lang="en-US" altLang="zh-TW" b="0" i="1" smtClean="0">
                          <a:latin typeface="Cambria Math" panose="02040503050406030204" pitchFamily="18" charset="0"/>
                        </a:rPr>
                        <m:t>=1−</m:t>
                      </m:r>
                      <m:sSup>
                        <m:sSupPr>
                          <m:ctrlPr>
                            <a:rPr lang="en-US" altLang="zh-TW" b="0" i="1" smtClean="0">
                              <a:latin typeface="Cambria Math" panose="02040503050406030204" pitchFamily="18" charset="0"/>
                            </a:rPr>
                          </m:ctrlPr>
                        </m:sSupPr>
                        <m:e>
                          <m:d>
                            <m:dPr>
                              <m:ctrlPr>
                                <a:rPr lang="en-US" altLang="zh-TW" b="0" i="1" smtClean="0">
                                  <a:latin typeface="Cambria Math" panose="02040503050406030204" pitchFamily="18" charset="0"/>
                                </a:rPr>
                              </m:ctrlPr>
                            </m:dPr>
                            <m:e>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9</m:t>
                                  </m:r>
                                </m:num>
                                <m:den>
                                  <m:r>
                                    <a:rPr lang="en-US" altLang="zh-TW" b="0" i="1" smtClean="0">
                                      <a:latin typeface="Cambria Math" panose="02040503050406030204" pitchFamily="18" charset="0"/>
                                    </a:rPr>
                                    <m:t>14</m:t>
                                  </m:r>
                                </m:den>
                              </m:f>
                            </m:e>
                          </m:d>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m:t>
                      </m:r>
                      <m:sSup>
                        <m:sSupPr>
                          <m:ctrlPr>
                            <a:rPr lang="en-US" altLang="zh-TW" b="0" i="1" smtClean="0">
                              <a:latin typeface="Cambria Math" panose="02040503050406030204" pitchFamily="18" charset="0"/>
                            </a:rPr>
                          </m:ctrlPr>
                        </m:sSupPr>
                        <m:e>
                          <m:d>
                            <m:dPr>
                              <m:ctrlPr>
                                <a:rPr lang="en-US" altLang="zh-TW" b="0" i="1" smtClean="0">
                                  <a:latin typeface="Cambria Math" panose="02040503050406030204" pitchFamily="18" charset="0"/>
                                </a:rPr>
                              </m:ctrlPr>
                            </m:dPr>
                            <m:e>
                              <m:f>
                                <m:fPr>
                                  <m:ctrlPr>
                                    <a:rPr lang="en-US" altLang="zh-TW" i="1">
                                      <a:latin typeface="Cambria Math" panose="02040503050406030204" pitchFamily="18" charset="0"/>
                                    </a:rPr>
                                  </m:ctrlPr>
                                </m:fPr>
                                <m:num>
                                  <m:r>
                                    <a:rPr lang="en-US" altLang="zh-TW" b="0" i="1" smtClean="0">
                                      <a:latin typeface="Cambria Math" panose="02040503050406030204" pitchFamily="18" charset="0"/>
                                    </a:rPr>
                                    <m:t>5</m:t>
                                  </m:r>
                                </m:num>
                                <m:den>
                                  <m:r>
                                    <a:rPr lang="en-US" altLang="zh-TW" i="1">
                                      <a:latin typeface="Cambria Math" panose="02040503050406030204" pitchFamily="18" charset="0"/>
                                    </a:rPr>
                                    <m:t>14</m:t>
                                  </m:r>
                                </m:den>
                              </m:f>
                            </m:e>
                          </m:d>
                        </m:e>
                        <m:sup>
                          <m:r>
                            <a:rPr lang="en-US" altLang="zh-TW" b="0" i="1" smtClean="0">
                              <a:latin typeface="Cambria Math" panose="02040503050406030204" pitchFamily="18" charset="0"/>
                            </a:rPr>
                            <m:t>2</m:t>
                          </m:r>
                        </m:sup>
                      </m:sSup>
                      <m:r>
                        <a:rPr lang="en-US" altLang="zh-TW" b="0" i="1" smtClean="0">
                          <a:latin typeface="Cambria Math" panose="02040503050406030204" pitchFamily="18" charset="0"/>
                        </a:rPr>
                        <m:t>=0.46</m:t>
                      </m:r>
                    </m:oMath>
                  </m:oMathPara>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192741" y="244251"/>
                <a:ext cx="10515600" cy="3208954"/>
              </a:xfrm>
              <a:blipFill>
                <a:blip r:embed="rId2"/>
                <a:stretch>
                  <a:fillRect l="-1217" t="-342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文字方塊 1"/>
              <p:cNvSpPr txBox="1"/>
              <p:nvPr/>
            </p:nvSpPr>
            <p:spPr>
              <a:xfrm>
                <a:off x="192741" y="2807746"/>
                <a:ext cx="10601877" cy="369332"/>
              </a:xfrm>
              <a:prstGeom prst="rect">
                <a:avLst/>
              </a:prstGeom>
              <a:noFill/>
            </p:spPr>
            <p:txBody>
              <a:bodyPr wrap="none" rtlCol="0">
                <a:spAutoFit/>
              </a:bodyPr>
              <a:lstStyle/>
              <a:p>
                <a:r>
                  <a:rPr lang="zh-TW" altLang="en-US" dirty="0"/>
                  <a:t>假設將</a:t>
                </a:r>
                <a:r>
                  <a:rPr lang="en-US" altLang="zh-TW" dirty="0"/>
                  <a:t>Outlook</a:t>
                </a:r>
                <a:r>
                  <a:rPr lang="zh-TW" altLang="en-US" dirty="0"/>
                  <a:t>屬性分為兩類，其中</a:t>
                </a:r>
                <a:r>
                  <a:rPr lang="en-US" altLang="zh-TW" dirty="0"/>
                  <a:t>10</a:t>
                </a:r>
                <a:r>
                  <a:rPr lang="zh-TW" altLang="en-US" dirty="0"/>
                  <a:t>筆資料被分到</a:t>
                </a:r>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𝑆𝑢𝑛𝑛𝑦</m:t>
                    </m:r>
                    <m:r>
                      <a:rPr lang="en-US" altLang="zh-TW" b="0" i="1" smtClean="0">
                        <a:latin typeface="Cambria Math" panose="02040503050406030204" pitchFamily="18" charset="0"/>
                      </a:rPr>
                      <m:t>,  </m:t>
                    </m:r>
                    <m:r>
                      <a:rPr lang="en-US" altLang="zh-TW" b="0" i="1" smtClean="0">
                        <a:latin typeface="Cambria Math" panose="02040503050406030204" pitchFamily="18" charset="0"/>
                      </a:rPr>
                      <m:t>𝑅𝑎𝑖𝑛</m:t>
                    </m:r>
                    <m:r>
                      <a:rPr lang="en-US" altLang="zh-TW" b="0" i="1" smtClean="0">
                        <a:latin typeface="Cambria Math" panose="02040503050406030204" pitchFamily="18" charset="0"/>
                      </a:rPr>
                      <m:t>}</m:t>
                    </m:r>
                    <m:r>
                      <m:rPr>
                        <m:nor/>
                      </m:rPr>
                      <a:rPr lang="zh-TW" altLang="en-US" dirty="0"/>
                      <m:t>，</m:t>
                    </m:r>
                    <m:r>
                      <m:rPr>
                        <m:nor/>
                      </m:rPr>
                      <a:rPr lang="en-US" altLang="zh-TW" b="0" i="0" dirty="0" smtClean="0"/>
                      <m:t>4</m:t>
                    </m:r>
                    <m:r>
                      <m:rPr>
                        <m:nor/>
                      </m:rPr>
                      <a:rPr lang="zh-TW" altLang="en-US" dirty="0"/>
                      <m:t>筆資料被分到</m:t>
                    </m:r>
                    <m:sSub>
                      <m:sSubPr>
                        <m:ctrlPr>
                          <a:rPr lang="en-US" altLang="zh-TW" i="1">
                            <a:latin typeface="Cambria Math" panose="02040503050406030204" pitchFamily="18" charset="0"/>
                          </a:rPr>
                        </m:ctrlPr>
                      </m:sSubPr>
                      <m:e>
                        <m:r>
                          <a:rPr lang="en-US" altLang="zh-TW" i="1">
                            <a:latin typeface="Cambria Math" panose="02040503050406030204" pitchFamily="18" charset="0"/>
                          </a:rPr>
                          <m:t>𝑆</m:t>
                        </m:r>
                      </m:e>
                      <m:sub>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b="0" i="1" smtClean="0">
                        <a:latin typeface="Cambria Math" panose="02040503050406030204" pitchFamily="18" charset="0"/>
                      </a:rPr>
                      <m:t>𝑂𝑣𝑒𝑟𝑐𝑎𝑠𝑡</m:t>
                    </m:r>
                    <m:r>
                      <a:rPr lang="en-US" altLang="zh-TW" i="1">
                        <a:latin typeface="Cambria Math" panose="02040503050406030204" pitchFamily="18" charset="0"/>
                      </a:rPr>
                      <m:t>}</m:t>
                    </m:r>
                  </m:oMath>
                </a14:m>
                <a:endParaRPr lang="zh-TW" altLang="en-US" dirty="0"/>
              </a:p>
            </p:txBody>
          </p:sp>
        </mc:Choice>
        <mc:Fallback xmlns="">
          <p:sp>
            <p:nvSpPr>
              <p:cNvPr id="2" name="文字方塊 1"/>
              <p:cNvSpPr txBox="1">
                <a:spLocks noRot="1" noChangeAspect="1" noMove="1" noResize="1" noEditPoints="1" noAdjustHandles="1" noChangeArrowheads="1" noChangeShapeType="1" noTextEdit="1"/>
              </p:cNvSpPr>
              <p:nvPr/>
            </p:nvSpPr>
            <p:spPr>
              <a:xfrm>
                <a:off x="192741" y="2807746"/>
                <a:ext cx="10601877" cy="369332"/>
              </a:xfrm>
              <a:prstGeom prst="rect">
                <a:avLst/>
              </a:prstGeom>
              <a:blipFill>
                <a:blip r:embed="rId3"/>
                <a:stretch>
                  <a:fillRect l="-518" t="-10000" r="-288"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p:cNvSpPr txBox="1"/>
              <p:nvPr/>
            </p:nvSpPr>
            <p:spPr>
              <a:xfrm>
                <a:off x="4121325" y="3453205"/>
                <a:ext cx="3949351" cy="642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a:latin typeface="Cambria Math" panose="02040503050406030204" pitchFamily="18" charset="0"/>
                                </a:rPr>
                                <m:t>1</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5</m:t>
                              </m:r>
                            </m:num>
                            <m:den>
                              <m:r>
                                <a:rPr lang="en-US" altLang="zh-TW" sz="2200" b="0" i="1" smtClean="0">
                                  <a:latin typeface="Cambria Math" panose="02040503050406030204" pitchFamily="18" charset="0"/>
                                </a:rPr>
                                <m:t>10</m:t>
                              </m:r>
                            </m:den>
                          </m:f>
                          <m:r>
                            <a:rPr lang="en-US" altLang="zh-TW" sz="2200" b="0" i="1" smtClean="0">
                              <a:latin typeface="Cambria Math" panose="02040503050406030204" pitchFamily="18" charset="0"/>
                            </a:rPr>
                            <m:t>)</m:t>
                          </m:r>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m:t>
                          </m:r>
                          <m:f>
                            <m:fPr>
                              <m:ctrlPr>
                                <a:rPr lang="en-US" altLang="zh-TW" sz="2200" i="1">
                                  <a:latin typeface="Cambria Math" panose="02040503050406030204" pitchFamily="18" charset="0"/>
                                </a:rPr>
                              </m:ctrlPr>
                            </m:fPr>
                            <m:num>
                              <m:r>
                                <a:rPr lang="en-US" altLang="zh-TW" sz="2200" i="1">
                                  <a:latin typeface="Cambria Math" panose="02040503050406030204" pitchFamily="18" charset="0"/>
                                </a:rPr>
                                <m:t>5</m:t>
                              </m:r>
                            </m:num>
                            <m:den>
                              <m:r>
                                <a:rPr lang="en-US" altLang="zh-TW" sz="2200" i="1">
                                  <a:latin typeface="Cambria Math" panose="02040503050406030204" pitchFamily="18" charset="0"/>
                                </a:rPr>
                                <m:t>10</m:t>
                              </m:r>
                            </m:den>
                          </m:f>
                          <m:r>
                            <a:rPr lang="en-US" altLang="zh-TW" sz="2200" b="0" i="1" smtClean="0">
                              <a:latin typeface="Cambria Math" panose="02040503050406030204" pitchFamily="18" charset="0"/>
                            </a:rPr>
                            <m:t>)</m:t>
                          </m:r>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f>
                        <m:fPr>
                          <m:ctrlPr>
                            <a:rPr lang="en-US" altLang="zh-TW" sz="2200" i="1">
                              <a:latin typeface="Cambria Math" panose="02040503050406030204" pitchFamily="18" charset="0"/>
                            </a:rPr>
                          </m:ctrlPr>
                        </m:fPr>
                        <m:num>
                          <m:r>
                            <a:rPr lang="en-US" altLang="zh-TW" sz="2200" i="1" smtClean="0">
                              <a:latin typeface="Cambria Math" panose="02040503050406030204" pitchFamily="18" charset="0"/>
                            </a:rPr>
                            <m:t>1</m:t>
                          </m:r>
                        </m:num>
                        <m:den>
                          <m:r>
                            <a:rPr lang="en-US" altLang="zh-TW" sz="2200" i="1" smtClean="0">
                              <a:latin typeface="Cambria Math" panose="02040503050406030204" pitchFamily="18" charset="0"/>
                            </a:rPr>
                            <m:t>2</m:t>
                          </m:r>
                        </m:den>
                      </m:f>
                    </m:oMath>
                  </m:oMathPara>
                </a14:m>
                <a:endParaRPr lang="zh-TW" altLang="en-US" sz="22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4121325" y="3453205"/>
                <a:ext cx="3949351" cy="64286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p:cNvSpPr txBox="1"/>
              <p:nvPr/>
            </p:nvSpPr>
            <p:spPr>
              <a:xfrm>
                <a:off x="4121325" y="4479198"/>
                <a:ext cx="3644909" cy="6338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200" b="0" i="1" smtClean="0">
                          <a:latin typeface="Cambria Math" panose="02040503050406030204" pitchFamily="18" charset="0"/>
                        </a:rPr>
                        <m:t>𝐺𝑖𝑛𝑖</m:t>
                      </m:r>
                      <m:d>
                        <m:dPr>
                          <m:ctrlPr>
                            <a:rPr lang="en-US" altLang="zh-TW" sz="2200" b="0" i="1" smtClean="0">
                              <a:latin typeface="Cambria Math" panose="02040503050406030204" pitchFamily="18" charset="0"/>
                            </a:rPr>
                          </m:ctrlPr>
                        </m:dPr>
                        <m:e>
                          <m:sSub>
                            <m:sSubPr>
                              <m:ctrlPr>
                                <a:rPr lang="en-US" altLang="zh-TW" sz="2200" i="1">
                                  <a:latin typeface="Cambria Math" panose="02040503050406030204" pitchFamily="18" charset="0"/>
                                </a:rPr>
                              </m:ctrlPr>
                            </m:sSubPr>
                            <m:e>
                              <m:r>
                                <a:rPr lang="en-US" altLang="zh-TW" sz="2200" i="1">
                                  <a:latin typeface="Cambria Math" panose="02040503050406030204" pitchFamily="18" charset="0"/>
                                </a:rPr>
                                <m:t>𝑆</m:t>
                              </m:r>
                            </m:e>
                            <m:sub>
                              <m:r>
                                <a:rPr lang="en-US" altLang="zh-TW" sz="2200" i="1" smtClean="0">
                                  <a:latin typeface="Cambria Math" panose="02040503050406030204" pitchFamily="18" charset="0"/>
                                </a:rPr>
                                <m:t>2</m:t>
                              </m:r>
                            </m:sub>
                          </m:sSub>
                        </m:e>
                      </m:d>
                      <m:r>
                        <a:rPr lang="en-US" altLang="zh-TW" sz="2200" b="0" i="1" smtClean="0">
                          <a:latin typeface="Cambria Math" panose="02040503050406030204" pitchFamily="18" charset="0"/>
                        </a:rPr>
                        <m:t>=1−</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i="1">
                                  <a:latin typeface="Cambria Math" panose="02040503050406030204" pitchFamily="18" charset="0"/>
                                </a:rPr>
                                <m:t>4</m:t>
                              </m:r>
                            </m:num>
                            <m:den>
                              <m:r>
                                <a:rPr lang="en-US" altLang="zh-TW" sz="2200" i="1">
                                  <a:latin typeface="Cambria Math" panose="02040503050406030204" pitchFamily="18" charset="0"/>
                                </a:rPr>
                                <m:t>4</m:t>
                              </m:r>
                            </m:den>
                          </m:f>
                          <m:r>
                            <a:rPr lang="en-US" altLang="zh-TW" sz="2200" b="0" i="1" smtClean="0">
                              <a:latin typeface="Cambria Math" panose="02040503050406030204" pitchFamily="18" charset="0"/>
                            </a:rPr>
                            <m:t>)</m:t>
                          </m:r>
                        </m:e>
                        <m:sup>
                          <m:r>
                            <a:rPr lang="en-US" altLang="zh-TW" sz="2200" b="0" i="1" smtClean="0">
                              <a:latin typeface="Cambria Math" panose="02040503050406030204" pitchFamily="18" charset="0"/>
                            </a:rPr>
                            <m:t>2</m:t>
                          </m:r>
                        </m:sup>
                      </m:sSup>
                      <m:r>
                        <a:rPr lang="en-US" altLang="zh-TW" sz="2200" b="0" i="1" smtClean="0">
                          <a:latin typeface="Cambria Math" panose="02040503050406030204" pitchFamily="18" charset="0"/>
                        </a:rPr>
                        <m:t>−</m:t>
                      </m:r>
                      <m:sSup>
                        <m:sSupPr>
                          <m:ctrlPr>
                            <a:rPr lang="en-US" altLang="zh-TW" sz="2200" b="0" i="1" smtClean="0">
                              <a:latin typeface="Cambria Math" panose="02040503050406030204" pitchFamily="18" charset="0"/>
                            </a:rPr>
                          </m:ctrlPr>
                        </m:sSupPr>
                        <m:e>
                          <m:r>
                            <a:rPr lang="en-US" altLang="zh-TW" sz="2200" b="0" i="1" smtClean="0">
                              <a:latin typeface="Cambria Math" panose="02040503050406030204" pitchFamily="18" charset="0"/>
                            </a:rPr>
                            <m:t>(</m:t>
                          </m:r>
                          <m:f>
                            <m:fPr>
                              <m:ctrlPr>
                                <a:rPr lang="en-US" altLang="zh-TW" sz="2200" i="1">
                                  <a:latin typeface="Cambria Math" panose="02040503050406030204" pitchFamily="18" charset="0"/>
                                </a:rPr>
                              </m:ctrlPr>
                            </m:fPr>
                            <m:num>
                              <m:r>
                                <a:rPr lang="en-US" altLang="zh-TW" sz="2200" i="1" smtClean="0">
                                  <a:latin typeface="Cambria Math" panose="02040503050406030204" pitchFamily="18" charset="0"/>
                                </a:rPr>
                                <m:t>0</m:t>
                              </m:r>
                            </m:num>
                            <m:den>
                              <m:r>
                                <a:rPr lang="en-US" altLang="zh-TW" sz="2200" i="1" smtClean="0">
                                  <a:latin typeface="Cambria Math" panose="02040503050406030204" pitchFamily="18" charset="0"/>
                                </a:rPr>
                                <m:t>4</m:t>
                              </m:r>
                            </m:den>
                          </m:f>
                          <m:r>
                            <a:rPr lang="en-US" altLang="zh-TW" sz="2200" b="0" i="1" smtClean="0">
                              <a:latin typeface="Cambria Math" panose="02040503050406030204" pitchFamily="18" charset="0"/>
                            </a:rPr>
                            <m:t>)</m:t>
                          </m:r>
                        </m:e>
                        <m:sup>
                          <m:r>
                            <a:rPr lang="en-US" altLang="zh-TW" sz="2200" i="1">
                              <a:latin typeface="Cambria Math" panose="02040503050406030204" pitchFamily="18" charset="0"/>
                            </a:rPr>
                            <m:t>2</m:t>
                          </m:r>
                        </m:sup>
                      </m:sSup>
                      <m:r>
                        <a:rPr lang="en-US" altLang="zh-TW" sz="2200" i="1">
                          <a:latin typeface="Cambria Math" panose="02040503050406030204" pitchFamily="18" charset="0"/>
                        </a:rPr>
                        <m:t>=</m:t>
                      </m:r>
                      <m:r>
                        <a:rPr lang="en-US" altLang="zh-TW" sz="2200" i="1" smtClean="0">
                          <a:latin typeface="Cambria Math" panose="02040503050406030204" pitchFamily="18" charset="0"/>
                        </a:rPr>
                        <m:t>0</m:t>
                      </m:r>
                    </m:oMath>
                  </m:oMathPara>
                </a14:m>
                <a:endParaRPr lang="zh-TW" altLang="en-US" sz="22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4121325" y="4479198"/>
                <a:ext cx="3644909" cy="633828"/>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3948553" y="5496151"/>
                <a:ext cx="4980274" cy="6338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200" b="0" i="1" smtClean="0">
                              <a:latin typeface="Cambria Math" panose="02040503050406030204" pitchFamily="18" charset="0"/>
                            </a:rPr>
                          </m:ctrlPr>
                        </m:sSubPr>
                        <m:e>
                          <m:r>
                            <a:rPr lang="en-US" altLang="zh-TW" sz="2200" b="0" i="1" smtClean="0">
                              <a:latin typeface="Cambria Math" panose="02040503050406030204" pitchFamily="18" charset="0"/>
                            </a:rPr>
                            <m:t>𝐺𝑖𝑛𝑖</m:t>
                          </m:r>
                        </m:e>
                        <m:sub>
                          <m:r>
                            <a:rPr lang="en-US" altLang="zh-TW" sz="2200" b="0" i="1" smtClean="0">
                              <a:latin typeface="Cambria Math" panose="02040503050406030204" pitchFamily="18" charset="0"/>
                            </a:rPr>
                            <m:t>𝑂𝑢𝑡𝑙𝑜𝑜𝑘</m:t>
                          </m:r>
                        </m:sub>
                      </m:sSub>
                      <m:d>
                        <m:dPr>
                          <m:ctrlPr>
                            <a:rPr lang="en-US" altLang="zh-TW" sz="2200" b="0" i="1" smtClean="0">
                              <a:latin typeface="Cambria Math" panose="02040503050406030204" pitchFamily="18" charset="0"/>
                            </a:rPr>
                          </m:ctrlPr>
                        </m:dPr>
                        <m:e>
                          <m:r>
                            <a:rPr lang="en-US" altLang="zh-TW" sz="2200" b="0" i="1" smtClean="0">
                              <a:latin typeface="Cambria Math" panose="02040503050406030204" pitchFamily="18" charset="0"/>
                            </a:rPr>
                            <m:t>𝑆</m:t>
                          </m:r>
                        </m:e>
                      </m:d>
                      <m:r>
                        <a:rPr lang="en-US" altLang="zh-TW" sz="2200" b="0" i="1" smtClean="0">
                          <a:latin typeface="Cambria Math" panose="02040503050406030204" pitchFamily="18" charset="0"/>
                        </a:rPr>
                        <m:t>=</m:t>
                      </m:r>
                      <m:f>
                        <m:fPr>
                          <m:ctrlPr>
                            <a:rPr lang="en-US" altLang="zh-TW" sz="2200" b="0" i="1" smtClean="0">
                              <a:latin typeface="Cambria Math" panose="02040503050406030204" pitchFamily="18" charset="0"/>
                            </a:rPr>
                          </m:ctrlPr>
                        </m:fPr>
                        <m:num>
                          <m:r>
                            <a:rPr lang="en-US" altLang="zh-TW" sz="2200" b="0" i="1" smtClean="0">
                              <a:latin typeface="Cambria Math" panose="02040503050406030204" pitchFamily="18" charset="0"/>
                            </a:rPr>
                            <m:t>10</m:t>
                          </m:r>
                        </m:num>
                        <m:den>
                          <m:r>
                            <a:rPr lang="en-US" altLang="zh-TW" sz="2200" b="0" i="1" smtClean="0">
                              <a:latin typeface="Cambria Math" panose="02040503050406030204" pitchFamily="18" charset="0"/>
                            </a:rPr>
                            <m:t>14</m:t>
                          </m:r>
                        </m:den>
                      </m:f>
                      <m:r>
                        <a:rPr lang="en-US" altLang="zh-TW" sz="2200" b="0" i="1" smtClean="0">
                          <a:latin typeface="Cambria Math" panose="02040503050406030204" pitchFamily="18" charset="0"/>
                          <a:ea typeface="Cambria Math" panose="02040503050406030204" pitchFamily="18" charset="0"/>
                        </a:rPr>
                        <m:t>×</m:t>
                      </m:r>
                      <m:f>
                        <m:fPr>
                          <m:ctrlPr>
                            <a:rPr lang="en-US" altLang="zh-TW" sz="2200" b="0" i="1" smtClean="0">
                              <a:latin typeface="Cambria Math" panose="02040503050406030204" pitchFamily="18" charset="0"/>
                              <a:ea typeface="Cambria Math" panose="02040503050406030204" pitchFamily="18" charset="0"/>
                            </a:rPr>
                          </m:ctrlPr>
                        </m:fPr>
                        <m:num>
                          <m:r>
                            <a:rPr lang="en-US" altLang="zh-TW" sz="2200" b="0" i="1" smtClean="0">
                              <a:latin typeface="Cambria Math" panose="02040503050406030204" pitchFamily="18" charset="0"/>
                              <a:ea typeface="Cambria Math" panose="02040503050406030204" pitchFamily="18" charset="0"/>
                            </a:rPr>
                            <m:t>1</m:t>
                          </m:r>
                        </m:num>
                        <m:den>
                          <m:r>
                            <a:rPr lang="en-US" altLang="zh-TW" sz="2200" b="0" i="1" smtClean="0">
                              <a:latin typeface="Cambria Math" panose="02040503050406030204" pitchFamily="18" charset="0"/>
                              <a:ea typeface="Cambria Math" panose="02040503050406030204" pitchFamily="18" charset="0"/>
                            </a:rPr>
                            <m:t>2</m:t>
                          </m:r>
                        </m:den>
                      </m:f>
                      <m:r>
                        <a:rPr lang="en-US" altLang="zh-TW" sz="2200" b="0" i="1" smtClean="0">
                          <a:latin typeface="Cambria Math" panose="02040503050406030204" pitchFamily="18" charset="0"/>
                          <a:ea typeface="Cambria Math" panose="02040503050406030204" pitchFamily="18" charset="0"/>
                        </a:rPr>
                        <m:t>+</m:t>
                      </m:r>
                      <m:f>
                        <m:fPr>
                          <m:ctrlPr>
                            <a:rPr lang="en-US" altLang="zh-TW" sz="2200" i="1">
                              <a:latin typeface="Cambria Math" panose="02040503050406030204" pitchFamily="18" charset="0"/>
                            </a:rPr>
                          </m:ctrlPr>
                        </m:fPr>
                        <m:num>
                          <m:r>
                            <a:rPr lang="en-US" altLang="zh-TW" sz="2200" b="0" i="1" smtClean="0">
                              <a:latin typeface="Cambria Math" panose="02040503050406030204" pitchFamily="18" charset="0"/>
                            </a:rPr>
                            <m:t>4</m:t>
                          </m:r>
                        </m:num>
                        <m:den>
                          <m:r>
                            <a:rPr lang="en-US" altLang="zh-TW" sz="2200" i="1">
                              <a:latin typeface="Cambria Math" panose="02040503050406030204" pitchFamily="18" charset="0"/>
                            </a:rPr>
                            <m:t>14</m:t>
                          </m:r>
                        </m:den>
                      </m:f>
                      <m:r>
                        <a:rPr lang="en-US" altLang="zh-TW" sz="2200" i="1">
                          <a:latin typeface="Cambria Math" panose="02040503050406030204" pitchFamily="18" charset="0"/>
                          <a:ea typeface="Cambria Math" panose="02040503050406030204" pitchFamily="18" charset="0"/>
                        </a:rPr>
                        <m:t>×</m:t>
                      </m:r>
                      <m:r>
                        <a:rPr lang="en-US" altLang="zh-TW" sz="2200" b="0" i="1" smtClean="0">
                          <a:latin typeface="Cambria Math" panose="02040503050406030204" pitchFamily="18" charset="0"/>
                          <a:ea typeface="Cambria Math" panose="02040503050406030204" pitchFamily="18" charset="0"/>
                        </a:rPr>
                        <m:t>0=0.36</m:t>
                      </m:r>
                    </m:oMath>
                  </m:oMathPara>
                </a14:m>
                <a:endParaRPr lang="zh-TW" altLang="en-US" sz="22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3948553" y="5496151"/>
                <a:ext cx="4980274" cy="633828"/>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7448961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697</TotalTime>
  <Words>997</Words>
  <Application>Microsoft Office PowerPoint</Application>
  <PresentationFormat>寬螢幕</PresentationFormat>
  <Paragraphs>268</Paragraphs>
  <Slides>22</Slides>
  <Notes>1</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22</vt:i4>
      </vt:variant>
    </vt:vector>
  </HeadingPairs>
  <TitlesOfParts>
    <vt:vector size="36" baseType="lpstr">
      <vt:lpstr>Liberation Sans</vt:lpstr>
      <vt:lpstr>Liberation Sans Narrow</vt:lpstr>
      <vt:lpstr>Liberation Serif</vt:lpstr>
      <vt:lpstr>微軟正黑體</vt:lpstr>
      <vt:lpstr>PMingLiU</vt:lpstr>
      <vt:lpstr>PMingLiU</vt:lpstr>
      <vt:lpstr>Arial</vt:lpstr>
      <vt:lpstr>Calibri</vt:lpstr>
      <vt:lpstr>Calibri Light</vt:lpstr>
      <vt:lpstr>Cambria Math</vt:lpstr>
      <vt:lpstr>Mangal</vt:lpstr>
      <vt:lpstr>Poor Richard</vt:lpstr>
      <vt:lpstr>Tahoma</vt:lpstr>
      <vt:lpstr>Office 佈景主題</vt:lpstr>
      <vt:lpstr> Machine Learning, 1, 81-106, 1986  </vt:lpstr>
      <vt:lpstr>Abstract</vt:lpstr>
      <vt:lpstr>Decision Tree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Gini係數</vt:lpstr>
      <vt:lpstr>PowerPoint 簡報</vt:lpstr>
      <vt:lpstr>PowerPoint 簡報</vt:lpstr>
      <vt:lpstr>PowerPoint 簡報</vt:lpstr>
      <vt:lpstr>Decision Tree for Text Classification</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pplab-class</cp:lastModifiedBy>
  <cp:revision>61</cp:revision>
  <dcterms:created xsi:type="dcterms:W3CDTF">2017-03-06T07:13:45Z</dcterms:created>
  <dcterms:modified xsi:type="dcterms:W3CDTF">2017-03-07T11:41:38Z</dcterms:modified>
</cp:coreProperties>
</file>