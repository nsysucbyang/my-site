
<file path=[Content_Types].xml><?xml version="1.0" encoding="utf-8"?>
<Types xmlns="http://schemas.openxmlformats.org/package/2006/content-types">
  <Default Extension="png" ContentType="image/png"/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notesMasters/notesMaster1.xml" ContentType="application/vnd.openxmlformats-officedocument.presentationml.notesMaster+xml"/>
  <Override PartName="/ppt/commentAuthors.xml" ContentType="application/vnd.openxmlformats-officedocument.presentationml.commentAuthors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notesMasterIdLst>
    <p:notesMasterId r:id="rId15"/>
  </p:notesMasterIdLst>
  <p:sldIdLst>
    <p:sldId id="256" r:id="rId2"/>
    <p:sldId id="257" r:id="rId3"/>
    <p:sldId id="297" r:id="rId4"/>
    <p:sldId id="263" r:id="rId5"/>
    <p:sldId id="298" r:id="rId6"/>
    <p:sldId id="299" r:id="rId7"/>
    <p:sldId id="300" r:id="rId8"/>
    <p:sldId id="301" r:id="rId9"/>
    <p:sldId id="302" r:id="rId10"/>
    <p:sldId id="303" r:id="rId11"/>
    <p:sldId id="304" r:id="rId12"/>
    <p:sldId id="305" r:id="rId13"/>
    <p:sldId id="262" r:id="rId14"/>
  </p:sldIdLst>
  <p:sldSz cx="9144000" cy="6858000" type="screen4x3"/>
  <p:notesSz cx="6858000" cy="9144000"/>
  <p:defaultTextStyle>
    <a:defPPr>
      <a:defRPr lang="zh-TW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521415D9-36F7-43E2-AB2F-B90AF26B5E84}">
      <p14:sectionLst xmlns:p14="http://schemas.microsoft.com/office/powerpoint/2010/main">
        <p14:section name="預設章節" id="{7D016D43-04FF-41B4-86E7-954F7AB2B2E3}">
          <p14:sldIdLst>
            <p14:sldId id="256"/>
            <p14:sldId id="257"/>
            <p14:sldId id="297"/>
          </p14:sldIdLst>
        </p14:section>
        <p14:section name="未命名的章節" id="{A6304D1C-229A-413D-9976-499C39B3D537}">
          <p14:sldIdLst>
            <p14:sldId id="263"/>
            <p14:sldId id="298"/>
            <p14:sldId id="299"/>
            <p14:sldId id="300"/>
            <p14:sldId id="301"/>
            <p14:sldId id="302"/>
            <p14:sldId id="303"/>
            <p14:sldId id="304"/>
            <p14:sldId id="305"/>
            <p14:sldId id="262"/>
          </p14:sldIdLst>
        </p14:section>
      </p14:sectionLst>
    </p:ext>
    <p:ext uri="{EFAFB233-063F-42B5-8137-9DF3F51BA10A}">
      <p15:sldGuideLst xmlns:p15="http://schemas.microsoft.com/office/powerpoint/2012/main">
        <p15:guide id="1" orient="horz" pos="2160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</p:extLst>
</p:presentation>
</file>

<file path=ppt/commentAuthors.xml><?xml version="1.0" encoding="utf-8"?>
<p:cmAuthorLst xmlns:a="http://schemas.openxmlformats.org/drawingml/2006/main" xmlns:r="http://schemas.openxmlformats.org/officeDocument/2006/relationships" xmlns:p="http://schemas.openxmlformats.org/presentationml/2006/main">
  <p:cmAuthor id="1" name="SiangHuai" initials="S" lastIdx="1" clrIdx="0">
    <p:extLst>
      <p:ext uri="{19B8F6BF-5375-455C-9EA6-DF929625EA0E}">
        <p15:presenceInfo xmlns:p15="http://schemas.microsoft.com/office/powerpoint/2012/main" userId="SiangHuai" providerId="None"/>
      </p:ext>
    </p:extLst>
  </p:cmAuthor>
</p:cmAuthorLst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中等深淺樣式 2 - 輔色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  <a:tblStyle styleId="{BC89EF96-8CEA-46FF-86C4-4CE0E7609802}" styleName="淺色樣式 3 - 輔色 1">
    <a:wholeTbl>
      <a:tcTxStyle>
        <a:fontRef idx="minor">
          <a:scrgbClr r="0" g="0" b="0"/>
        </a:fontRef>
        <a:schemeClr val="tx1"/>
      </a:tcTxStyle>
      <a:tcStyle>
        <a:tcBdr>
          <a:left>
            <a:ln w="12700" cmpd="sng">
              <a:solidFill>
                <a:schemeClr val="accent1"/>
              </a:solidFill>
            </a:ln>
          </a:left>
          <a:right>
            <a:ln w="12700" cmpd="sng">
              <a:solidFill>
                <a:schemeClr val="accent1"/>
              </a:solidFill>
            </a:ln>
          </a:right>
          <a:top>
            <a:ln w="12700" cmpd="sng">
              <a:solidFill>
                <a:schemeClr val="accent1"/>
              </a:solidFill>
            </a:ln>
          </a:top>
          <a:bottom>
            <a:ln w="12700" cmpd="sng">
              <a:solidFill>
                <a:schemeClr val="accent1"/>
              </a:solidFill>
            </a:ln>
          </a:bottom>
          <a:insideH>
            <a:ln w="12700" cmpd="sng">
              <a:solidFill>
                <a:schemeClr val="accent1"/>
              </a:solidFill>
            </a:ln>
          </a:insideH>
          <a:insideV>
            <a:ln w="12700" cmpd="sng">
              <a:solidFill>
                <a:schemeClr val="accent1"/>
              </a:solidFill>
            </a:ln>
          </a:insideV>
        </a:tcBdr>
        <a:fill>
          <a:noFill/>
        </a:fill>
      </a:tcStyle>
    </a:wholeTbl>
    <a:band1H>
      <a:tcStyle>
        <a:tcBdr/>
        <a:fill>
          <a:solidFill>
            <a:schemeClr val="accent1">
              <a:alpha val="20000"/>
            </a:schemeClr>
          </a:solidFill>
        </a:fill>
      </a:tcStyle>
    </a:band1H>
    <a:band1V>
      <a:tcStyle>
        <a:tcBdr/>
        <a:fill>
          <a:solidFill>
            <a:schemeClr val="accent1">
              <a:alpha val="2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accent1"/>
              </a:solidFill>
            </a:ln>
          </a:top>
        </a:tcBdr>
        <a:fill>
          <a:noFill/>
        </a:fill>
      </a:tcStyle>
    </a:lastRow>
    <a:firstRow>
      <a:tcTxStyle b="on"/>
      <a:tcStyle>
        <a:tcBdr>
          <a:bottom>
            <a:ln w="25400" cmpd="sng">
              <a:solidFill>
                <a:schemeClr val="accent1"/>
              </a:solidFill>
            </a:ln>
          </a:bottom>
        </a:tcBdr>
        <a:fill>
          <a:noFill/>
        </a:fill>
      </a:tcStyle>
    </a:firstRow>
  </a:tblStyle>
  <a:tblStyle styleId="{BDBED569-4797-4DF1-A0F4-6AAB3CD982D8}" styleName="淺色樣式 3 - 輔色 5">
    <a:wholeTbl>
      <a:tcTxStyle>
        <a:fontRef idx="minor">
          <a:scrgbClr r="0" g="0" b="0"/>
        </a:fontRef>
        <a:schemeClr val="tx1"/>
      </a:tcTxStyle>
      <a:tcStyle>
        <a:tcBdr>
          <a:left>
            <a:ln w="12700" cmpd="sng">
              <a:solidFill>
                <a:schemeClr val="accent5"/>
              </a:solidFill>
            </a:ln>
          </a:left>
          <a:right>
            <a:ln w="12700" cmpd="sng">
              <a:solidFill>
                <a:schemeClr val="accent5"/>
              </a:solidFill>
            </a:ln>
          </a:right>
          <a:top>
            <a:ln w="12700" cmpd="sng">
              <a:solidFill>
                <a:schemeClr val="accent5"/>
              </a:solidFill>
            </a:ln>
          </a:top>
          <a:bottom>
            <a:ln w="12700" cmpd="sng">
              <a:solidFill>
                <a:schemeClr val="accent5"/>
              </a:solidFill>
            </a:ln>
          </a:bottom>
          <a:insideH>
            <a:ln w="12700" cmpd="sng">
              <a:solidFill>
                <a:schemeClr val="accent5"/>
              </a:solidFill>
            </a:ln>
          </a:insideH>
          <a:insideV>
            <a:ln w="12700" cmpd="sng">
              <a:solidFill>
                <a:schemeClr val="accent5"/>
              </a:solidFill>
            </a:ln>
          </a:insideV>
        </a:tcBdr>
        <a:fill>
          <a:noFill/>
        </a:fill>
      </a:tcStyle>
    </a:wholeTbl>
    <a:band1H>
      <a:tcStyle>
        <a:tcBdr/>
        <a:fill>
          <a:solidFill>
            <a:schemeClr val="accent5">
              <a:alpha val="20000"/>
            </a:schemeClr>
          </a:solidFill>
        </a:fill>
      </a:tcStyle>
    </a:band1H>
    <a:band1V>
      <a:tcStyle>
        <a:tcBdr/>
        <a:fill>
          <a:solidFill>
            <a:schemeClr val="accent5">
              <a:alpha val="2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accent5"/>
              </a:solidFill>
            </a:ln>
          </a:top>
        </a:tcBdr>
        <a:fill>
          <a:noFill/>
        </a:fill>
      </a:tcStyle>
    </a:lastRow>
    <a:firstRow>
      <a:tcTxStyle b="on"/>
      <a:tcStyle>
        <a:tcBdr>
          <a:bottom>
            <a:ln w="25400" cmpd="sng">
              <a:solidFill>
                <a:schemeClr val="accent5"/>
              </a:solidFill>
            </a:ln>
          </a:bottom>
        </a:tcBdr>
        <a:fill>
          <a:noFill/>
        </a:fill>
      </a:tcStyle>
    </a:firstRow>
  </a:tblStyle>
  <a:tblStyle styleId="{22838BEF-8BB2-4498-84A7-C5851F593DF1}" styleName="中等深淺樣式 4 - 輔色 5">
    <a:wholeTbl>
      <a:tcTxStyle>
        <a:fontRef idx="minor">
          <a:scrgbClr r="0" g="0" b="0"/>
        </a:fontRef>
        <a:schemeClr val="dk1"/>
      </a:tcTxStyle>
      <a:tcStyle>
        <a:tcBdr>
          <a:left>
            <a:ln w="12700" cmpd="sng">
              <a:solidFill>
                <a:schemeClr val="accent5"/>
              </a:solidFill>
            </a:ln>
          </a:left>
          <a:right>
            <a:ln w="12700" cmpd="sng">
              <a:solidFill>
                <a:schemeClr val="accent5"/>
              </a:solidFill>
            </a:ln>
          </a:right>
          <a:top>
            <a:ln w="12700" cmpd="sng">
              <a:solidFill>
                <a:schemeClr val="accent5"/>
              </a:solidFill>
            </a:ln>
          </a:top>
          <a:bottom>
            <a:ln w="12700" cmpd="sng">
              <a:solidFill>
                <a:schemeClr val="accent5"/>
              </a:solidFill>
            </a:ln>
          </a:bottom>
          <a:insideH>
            <a:ln w="12700" cmpd="sng">
              <a:solidFill>
                <a:schemeClr val="accent5"/>
              </a:solidFill>
            </a:ln>
          </a:insideH>
          <a:insideV>
            <a:ln w="12700" cmpd="sng">
              <a:solidFill>
                <a:schemeClr val="accent5"/>
              </a:solidFill>
            </a:ln>
          </a:insideV>
        </a:tcBdr>
        <a:fill>
          <a:solidFill>
            <a:schemeClr val="accent5">
              <a:tint val="20000"/>
            </a:schemeClr>
          </a:solidFill>
        </a:fill>
      </a:tcStyle>
    </a:wholeTbl>
    <a:band1H>
      <a:tcStyle>
        <a:tcBdr/>
        <a:fill>
          <a:solidFill>
            <a:schemeClr val="accent5">
              <a:tint val="40000"/>
            </a:schemeClr>
          </a:solidFill>
        </a:fill>
      </a:tcStyle>
    </a:band1H>
    <a:band1V>
      <a:tcStyle>
        <a:tcBdr/>
        <a:fill>
          <a:solidFill>
            <a:schemeClr val="accent5">
              <a:tint val="4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25400" cmpd="sng">
              <a:solidFill>
                <a:schemeClr val="accent5"/>
              </a:solidFill>
            </a:ln>
          </a:top>
        </a:tcBdr>
        <a:fill>
          <a:solidFill>
            <a:schemeClr val="accent5">
              <a:tint val="20000"/>
            </a:schemeClr>
          </a:solidFill>
        </a:fill>
      </a:tcStyle>
    </a:lastRow>
    <a:firstRow>
      <a:tcTxStyle b="on"/>
      <a:tcStyle>
        <a:tcBdr/>
        <a:fill>
          <a:solidFill>
            <a:schemeClr val="accent5">
              <a:tint val="20000"/>
            </a:schemeClr>
          </a:solidFill>
        </a:fill>
      </a:tcStyle>
    </a:firstRow>
  </a:tblStyle>
  <a:tblStyle styleId="{69CF1AB2-1976-4502-BF36-3FF5EA218861}" styleName="中等深淺樣式 4 - 輔色 1">
    <a:wholeTbl>
      <a:tcTxStyle>
        <a:fontRef idx="minor">
          <a:scrgbClr r="0" g="0" b="0"/>
        </a:fontRef>
        <a:schemeClr val="dk1"/>
      </a:tcTxStyle>
      <a:tcStyle>
        <a:tcBdr>
          <a:left>
            <a:ln w="12700" cmpd="sng">
              <a:solidFill>
                <a:schemeClr val="accent1"/>
              </a:solidFill>
            </a:ln>
          </a:left>
          <a:right>
            <a:ln w="12700" cmpd="sng">
              <a:solidFill>
                <a:schemeClr val="accent1"/>
              </a:solidFill>
            </a:ln>
          </a:right>
          <a:top>
            <a:ln w="12700" cmpd="sng">
              <a:solidFill>
                <a:schemeClr val="accent1"/>
              </a:solidFill>
            </a:ln>
          </a:top>
          <a:bottom>
            <a:ln w="12700" cmpd="sng">
              <a:solidFill>
                <a:schemeClr val="accent1"/>
              </a:solidFill>
            </a:ln>
          </a:bottom>
          <a:insideH>
            <a:ln w="12700" cmpd="sng">
              <a:solidFill>
                <a:schemeClr val="accent1"/>
              </a:solidFill>
            </a:ln>
          </a:insideH>
          <a:insideV>
            <a:ln w="12700" cmpd="sng">
              <a:solidFill>
                <a:schemeClr val="accen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25400" cmpd="sng">
              <a:solidFill>
                <a:schemeClr val="accent1"/>
              </a:solidFill>
            </a:ln>
          </a:top>
        </a:tcBdr>
        <a:fill>
          <a:solidFill>
            <a:schemeClr val="accent1">
              <a:tint val="20000"/>
            </a:schemeClr>
          </a:solidFill>
        </a:fill>
      </a:tcStyle>
    </a:lastRow>
    <a:firstRow>
      <a:tcTxStyle b="on"/>
      <a:tcStyle>
        <a:tcBdr/>
        <a:fill>
          <a:solidFill>
            <a:schemeClr val="accent1">
              <a:tint val="20000"/>
            </a:schemeClr>
          </a:solidFill>
        </a:fill>
      </a:tcStyle>
    </a:firstRow>
  </a:tblStyle>
  <a:tblStyle styleId="{74C1A8A3-306A-4EB7-A6B1-4F7E0EB9C5D6}" styleName="中等深淺樣式 3 - 輔色 5">
    <a:wholeTbl>
      <a:tcTxStyle>
        <a:fontRef idx="minor">
          <a:scrgbClr r="0" g="0" b="0"/>
        </a:fontRef>
        <a:schemeClr val="dk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 w="25400" cmpd="sng">
              <a:solidFill>
                <a:schemeClr val="dk1"/>
              </a:solidFill>
            </a:ln>
          </a:top>
          <a:bottom>
            <a:ln w="25400" cmpd="sng">
              <a:solidFill>
                <a:schemeClr val="dk1"/>
              </a:solidFill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solidFill>
            <a:schemeClr val="lt1"/>
          </a:solidFill>
        </a:fill>
      </a:tcStyle>
    </a:wholeTbl>
    <a:band1H>
      <a:tcStyle>
        <a:tcBdr/>
        <a:fill>
          <a:solidFill>
            <a:schemeClr val="dk1">
              <a:tint val="20000"/>
            </a:schemeClr>
          </a:solidFill>
        </a:fill>
      </a:tcStyle>
    </a:band1H>
    <a:band1V>
      <a:tcStyle>
        <a:tcBdr/>
        <a:fill>
          <a:solidFill>
            <a:schemeClr val="dk1">
              <a:tint val="20000"/>
            </a:schemeClr>
          </a:solidFill>
        </a:fill>
      </a:tcStyle>
    </a:band1V>
    <a:lastCol>
      <a:tcTxStyle b="on">
        <a:fontRef idx="minor">
          <a:scrgbClr r="0" g="0" b="0"/>
        </a:fontRef>
        <a:schemeClr val="lt1"/>
      </a:tcTxStyle>
      <a:tcStyle>
        <a:tcBdr/>
        <a:fill>
          <a:solidFill>
            <a:schemeClr val="accent5"/>
          </a:solidFill>
        </a:fill>
      </a:tcStyle>
    </a:lastCol>
    <a:firstCol>
      <a:tcTxStyle b="on">
        <a:fontRef idx="minor">
          <a:scrgbClr r="0" g="0" b="0"/>
        </a:fontRef>
        <a:schemeClr val="lt1"/>
      </a:tcTxStyle>
      <a:tcStyle>
        <a:tcBdr/>
        <a:fill>
          <a:solidFill>
            <a:schemeClr val="accent5"/>
          </a:solidFill>
        </a:fill>
      </a:tcStyle>
    </a:firstCol>
    <a:lastRow>
      <a:tcTxStyle b="on"/>
      <a:tcStyle>
        <a:tcBdr>
          <a:top>
            <a:ln w="50800" cmpd="dbl">
              <a:solidFill>
                <a:schemeClr val="dk1"/>
              </a:solidFill>
            </a:ln>
          </a:top>
        </a:tcBdr>
        <a:fill>
          <a:solidFill>
            <a:schemeClr val="lt1"/>
          </a:solidFill>
        </a:fill>
      </a:tcStyle>
    </a:lastRow>
    <a:seCell>
      <a:tcTxStyle b="on">
        <a:fontRef idx="minor">
          <a:scrgbClr r="0" g="0" b="0"/>
        </a:fontRef>
        <a:schemeClr val="dk1"/>
      </a:tcTxStyle>
      <a:tcStyle>
        <a:tcBdr/>
      </a:tcStyle>
    </a:seCell>
    <a:swCell>
      <a:tcTxStyle b="on">
        <a:fontRef idx="minor">
          <a:scrgbClr r="0" g="0" b="0"/>
        </a:fontRef>
        <a:schemeClr val="dk1"/>
      </a:tcTxStyle>
      <a:tcStyle>
        <a:tcBdr/>
      </a:tcStyle>
    </a:swCell>
    <a:firstRow>
      <a:tcTxStyle b="on">
        <a:fontRef idx="minor">
          <a:scrgbClr r="0" g="0" b="0"/>
        </a:fontRef>
        <a:schemeClr val="lt1"/>
      </a:tcTxStyle>
      <a:tcStyle>
        <a:tcBdr>
          <a:bottom>
            <a:ln w="25400" cmpd="sng">
              <a:solidFill>
                <a:schemeClr val="dk1"/>
              </a:solidFill>
            </a:ln>
          </a:bottom>
        </a:tcBdr>
        <a:fill>
          <a:solidFill>
            <a:schemeClr val="accent5"/>
          </a:solidFill>
        </a:fill>
      </a:tcStyle>
    </a:firstRow>
  </a:tblStyle>
  <a:tblStyle styleId="{2D5ABB26-0587-4C30-8999-92F81FD0307C}" styleName="無樣式、無格線">
    <a:wholeTbl>
      <a:tcTxStyle>
        <a:fontRef idx="minor">
          <a:scrgbClr r="0" g="0" b="0"/>
        </a:fontRef>
        <a:schemeClr val="tx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>
              <a:noFill/>
            </a:ln>
          </a:top>
          <a:bottom>
            <a:ln>
              <a:noFill/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</a:tblStyle>
  <a:tblStyle styleId="{3C2FFA5D-87B4-456A-9821-1D502468CF0F}" styleName="佈景主題樣式 1 - 輔色 1">
    <a:tblBg>
      <a:fillRef idx="2">
        <a:schemeClr val="accent1"/>
      </a:fillRef>
      <a:effectRef idx="1">
        <a:schemeClr val="accent1"/>
      </a:effectRef>
    </a:tblBg>
    <a:wholeTbl>
      <a:tcTxStyle>
        <a:fontRef idx="minor">
          <a:scrgbClr r="0" g="0" b="0"/>
        </a:fontRef>
        <a:schemeClr val="dk1"/>
      </a:tcTxStyle>
      <a:tcStyle>
        <a:tcBdr>
          <a:left>
            <a:lnRef idx="1">
              <a:schemeClr val="accent1"/>
            </a:lnRef>
          </a:left>
          <a:right>
            <a:lnRef idx="1">
              <a:schemeClr val="accent1"/>
            </a:lnRef>
          </a:right>
          <a:top>
            <a:lnRef idx="1">
              <a:schemeClr val="accent1"/>
            </a:lnRef>
          </a:top>
          <a:bottom>
            <a:lnRef idx="1">
              <a:schemeClr val="accent1"/>
            </a:lnRef>
          </a:bottom>
          <a:insideH>
            <a:lnRef idx="1">
              <a:schemeClr val="accent1"/>
            </a:lnRef>
          </a:insideH>
          <a:insideV>
            <a:lnRef idx="1">
              <a:schemeClr val="accent1"/>
            </a:lnRef>
          </a:insideV>
        </a:tcBdr>
        <a:fill>
          <a:noFill/>
        </a:fill>
      </a:tcStyle>
    </a:wholeTbl>
    <a:band1H>
      <a:tcStyle>
        <a:tcBdr/>
        <a:fill>
          <a:solidFill>
            <a:schemeClr val="accent1">
              <a:alpha val="40000"/>
            </a:schemeClr>
          </a:solidFill>
        </a:fill>
      </a:tcStyle>
    </a:band1H>
    <a:band2H>
      <a:tcStyle>
        <a:tcBdr/>
      </a:tcStyle>
    </a:band2H>
    <a:band1V>
      <a:tcStyle>
        <a:tcBdr>
          <a:top>
            <a:lnRef idx="1">
              <a:schemeClr val="accent1"/>
            </a:lnRef>
          </a:top>
          <a:bottom>
            <a:lnRef idx="1">
              <a:schemeClr val="accent1"/>
            </a:lnRef>
          </a:bottom>
        </a:tcBdr>
        <a:fill>
          <a:solidFill>
            <a:schemeClr val="accent1">
              <a:alpha val="40000"/>
            </a:schemeClr>
          </a:solidFill>
        </a:fill>
      </a:tcStyle>
    </a:band1V>
    <a:band2V>
      <a:tcStyle>
        <a:tcBdr/>
      </a:tcStyle>
    </a:band2V>
    <a:lastCol>
      <a:tcTxStyle b="on"/>
      <a:tcStyle>
        <a:tcBdr>
          <a:left>
            <a:lnRef idx="2">
              <a:schemeClr val="accent1"/>
            </a:lnRef>
          </a:left>
          <a:right>
            <a:lnRef idx="1">
              <a:schemeClr val="accent1"/>
            </a:lnRef>
          </a:right>
          <a:top>
            <a:lnRef idx="1">
              <a:schemeClr val="accent1"/>
            </a:lnRef>
          </a:top>
          <a:bottom>
            <a:lnRef idx="1">
              <a:schemeClr val="accent1"/>
            </a:lnRef>
          </a:bottom>
          <a:insideH>
            <a:lnRef idx="1">
              <a:schemeClr val="accent1"/>
            </a:lnRef>
          </a:insideH>
          <a:insideV>
            <a:ln>
              <a:noFill/>
            </a:ln>
          </a:insideV>
        </a:tcBdr>
      </a:tcStyle>
    </a:lastCol>
    <a:firstCol>
      <a:tcTxStyle b="on"/>
      <a:tcStyle>
        <a:tcBdr>
          <a:left>
            <a:lnRef idx="1">
              <a:schemeClr val="accent1"/>
            </a:lnRef>
          </a:left>
          <a:right>
            <a:lnRef idx="2">
              <a:schemeClr val="accent1"/>
            </a:lnRef>
          </a:right>
          <a:top>
            <a:lnRef idx="1">
              <a:schemeClr val="accent1"/>
            </a:lnRef>
          </a:top>
          <a:bottom>
            <a:lnRef idx="1">
              <a:schemeClr val="accent1"/>
            </a:lnRef>
          </a:bottom>
          <a:insideH>
            <a:lnRef idx="1">
              <a:schemeClr val="accent1"/>
            </a:lnRef>
          </a:insideH>
          <a:insideV>
            <a:ln>
              <a:noFill/>
            </a:ln>
          </a:insideV>
        </a:tcBdr>
      </a:tcStyle>
    </a:firstCol>
    <a:lastRow>
      <a:tcTxStyle b="on"/>
      <a:tcStyle>
        <a:tcBdr>
          <a:left>
            <a:lnRef idx="1">
              <a:schemeClr val="accent1"/>
            </a:lnRef>
          </a:left>
          <a:right>
            <a:lnRef idx="1">
              <a:schemeClr val="accent1"/>
            </a:lnRef>
          </a:right>
          <a:top>
            <a:lnRef idx="2">
              <a:schemeClr val="accent1"/>
            </a:lnRef>
          </a:top>
          <a:bottom>
            <a:lnRef idx="2">
              <a:schemeClr val="accent1"/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lastRow>
    <a:firstRow>
      <a:tcTxStyle b="on">
        <a:fontRef idx="minor">
          <a:scrgbClr r="0" g="0" b="0"/>
        </a:fontRef>
        <a:schemeClr val="lt1"/>
      </a:tcTxStyle>
      <a:tcStyle>
        <a:tcBdr>
          <a:left>
            <a:lnRef idx="1">
              <a:schemeClr val="accent1"/>
            </a:lnRef>
          </a:left>
          <a:right>
            <a:lnRef idx="1">
              <a:schemeClr val="accent1"/>
            </a:lnRef>
          </a:right>
          <a:top>
            <a:lnRef idx="1">
              <a:schemeClr val="accent1"/>
            </a:lnRef>
          </a:top>
          <a:bottom>
            <a:lnRef idx="2">
              <a:schemeClr val="lt1"/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solidFill>
            <a:schemeClr val="accent1"/>
          </a:solidFill>
        </a:fill>
      </a:tcStyle>
    </a:firstRow>
  </a:tblStyle>
  <a:tblStyle styleId="{5940675A-B579-460E-94D1-54222C63F5DA}" styleName="無樣式、表格格線">
    <a:wholeTbl>
      <a:tcTxStyle>
        <a:fontRef idx="minor">
          <a:scrgbClr r="0" g="0" b="0"/>
        </a:fontRef>
        <a:schemeClr val="tx1"/>
      </a:tcTxStyle>
      <a:tcStyle>
        <a:tcBdr>
          <a:left>
            <a:ln w="12700" cmpd="sng">
              <a:solidFill>
                <a:schemeClr val="tx1"/>
              </a:solidFill>
            </a:ln>
          </a:left>
          <a:right>
            <a:ln w="12700" cmpd="sng">
              <a:solidFill>
                <a:schemeClr val="tx1"/>
              </a:solidFill>
            </a:ln>
          </a:right>
          <a:top>
            <a:ln w="12700" cmpd="sng">
              <a:solidFill>
                <a:schemeClr val="tx1"/>
              </a:solidFill>
            </a:ln>
          </a:top>
          <a:bottom>
            <a:ln w="12700" cmpd="sng">
              <a:solidFill>
                <a:schemeClr val="tx1"/>
              </a:solidFill>
            </a:ln>
          </a:bottom>
          <a:insideH>
            <a:ln w="12700" cmpd="sng">
              <a:solidFill>
                <a:schemeClr val="tx1"/>
              </a:solidFill>
            </a:ln>
          </a:insideH>
          <a:insideV>
            <a:ln w="12700" cmpd="sng">
              <a:solidFill>
                <a:schemeClr val="tx1"/>
              </a:solidFill>
            </a:ln>
          </a:insideV>
        </a:tcBdr>
        <a:fill>
          <a:noFill/>
        </a:fill>
      </a:tcStyle>
    </a:wholeTbl>
  </a:tblStyle>
  <a:tblStyle styleId="{D7AC3CCA-C797-4891-BE02-D94E43425B78}" styleName="中等深淺樣式 4">
    <a:wholeTbl>
      <a:tcTxStyle>
        <a:fontRef idx="minor">
          <a:scrgbClr r="0" g="0" b="0"/>
        </a:fontRef>
        <a:schemeClr val="dk1"/>
      </a:tcTxStyle>
      <a:tcStyle>
        <a:tcBdr>
          <a:left>
            <a:ln w="12700" cmpd="sng">
              <a:solidFill>
                <a:schemeClr val="dk1"/>
              </a:solidFill>
            </a:ln>
          </a:left>
          <a:right>
            <a:ln w="12700" cmpd="sng">
              <a:solidFill>
                <a:schemeClr val="dk1"/>
              </a:solidFill>
            </a:ln>
          </a:right>
          <a:top>
            <a:ln w="12700" cmpd="sng">
              <a:solidFill>
                <a:schemeClr val="dk1"/>
              </a:solidFill>
            </a:ln>
          </a:top>
          <a:bottom>
            <a:ln w="12700" cmpd="sng">
              <a:solidFill>
                <a:schemeClr val="dk1"/>
              </a:solidFill>
            </a:ln>
          </a:bottom>
          <a:insideH>
            <a:ln w="12700" cmpd="sng">
              <a:solidFill>
                <a:schemeClr val="dk1"/>
              </a:solidFill>
            </a:ln>
          </a:insideH>
          <a:insideV>
            <a:ln w="12700" cmpd="sng">
              <a:solidFill>
                <a:schemeClr val="dk1"/>
              </a:solidFill>
            </a:ln>
          </a:insideV>
        </a:tcBdr>
        <a:fill>
          <a:solidFill>
            <a:schemeClr val="dk1">
              <a:tint val="20000"/>
            </a:schemeClr>
          </a:solidFill>
        </a:fill>
      </a:tcStyle>
    </a:wholeTbl>
    <a:band1H>
      <a:tcStyle>
        <a:tcBdr/>
        <a:fill>
          <a:solidFill>
            <a:schemeClr val="dk1">
              <a:tint val="40000"/>
            </a:schemeClr>
          </a:solidFill>
        </a:fill>
      </a:tcStyle>
    </a:band1H>
    <a:band1V>
      <a:tcStyle>
        <a:tcBdr/>
        <a:fill>
          <a:solidFill>
            <a:schemeClr val="dk1">
              <a:tint val="4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25400" cmpd="sng">
              <a:solidFill>
                <a:schemeClr val="dk1"/>
              </a:solidFill>
            </a:ln>
          </a:top>
        </a:tcBdr>
        <a:fill>
          <a:solidFill>
            <a:schemeClr val="dk1">
              <a:tint val="20000"/>
            </a:schemeClr>
          </a:solidFill>
        </a:fill>
      </a:tcStyle>
    </a:lastRow>
    <a:firstRow>
      <a:tcTxStyle b="on"/>
      <a:tcStyle>
        <a:tcBdr/>
        <a:fill>
          <a:solidFill>
            <a:schemeClr val="dk1">
              <a:tint val="20000"/>
            </a:schemeClr>
          </a:solidFill>
        </a:fill>
      </a:tcStyle>
    </a:firstRow>
  </a:tblStyle>
  <a:tblStyle styleId="{ED083AE6-46FA-4A59-8FB0-9F97EB10719F}" styleName="淺色樣式 3 - 輔色 4">
    <a:wholeTbl>
      <a:tcTxStyle>
        <a:fontRef idx="minor">
          <a:scrgbClr r="0" g="0" b="0"/>
        </a:fontRef>
        <a:schemeClr val="tx1"/>
      </a:tcTxStyle>
      <a:tcStyle>
        <a:tcBdr>
          <a:left>
            <a:ln w="12700" cmpd="sng">
              <a:solidFill>
                <a:schemeClr val="accent4"/>
              </a:solidFill>
            </a:ln>
          </a:left>
          <a:right>
            <a:ln w="12700" cmpd="sng">
              <a:solidFill>
                <a:schemeClr val="accent4"/>
              </a:solidFill>
            </a:ln>
          </a:right>
          <a:top>
            <a:ln w="12700" cmpd="sng">
              <a:solidFill>
                <a:schemeClr val="accent4"/>
              </a:solidFill>
            </a:ln>
          </a:top>
          <a:bottom>
            <a:ln w="12700" cmpd="sng">
              <a:solidFill>
                <a:schemeClr val="accent4"/>
              </a:solidFill>
            </a:ln>
          </a:bottom>
          <a:insideH>
            <a:ln w="12700" cmpd="sng">
              <a:solidFill>
                <a:schemeClr val="accent4"/>
              </a:solidFill>
            </a:ln>
          </a:insideH>
          <a:insideV>
            <a:ln w="12700" cmpd="sng">
              <a:solidFill>
                <a:schemeClr val="accent4"/>
              </a:solidFill>
            </a:ln>
          </a:insideV>
        </a:tcBdr>
        <a:fill>
          <a:noFill/>
        </a:fill>
      </a:tcStyle>
    </a:wholeTbl>
    <a:band1H>
      <a:tcStyle>
        <a:tcBdr/>
        <a:fill>
          <a:solidFill>
            <a:schemeClr val="accent4">
              <a:alpha val="20000"/>
            </a:schemeClr>
          </a:solidFill>
        </a:fill>
      </a:tcStyle>
    </a:band1H>
    <a:band1V>
      <a:tcStyle>
        <a:tcBdr/>
        <a:fill>
          <a:solidFill>
            <a:schemeClr val="accent4">
              <a:alpha val="2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accent4"/>
              </a:solidFill>
            </a:ln>
          </a:top>
        </a:tcBdr>
        <a:fill>
          <a:noFill/>
        </a:fill>
      </a:tcStyle>
    </a:lastRow>
    <a:firstRow>
      <a:tcTxStyle b="on"/>
      <a:tcStyle>
        <a:tcBdr>
          <a:bottom>
            <a:ln w="25400" cmpd="sng">
              <a:solidFill>
                <a:schemeClr val="accent4"/>
              </a:solidFill>
            </a:ln>
          </a:bottom>
        </a:tcBdr>
        <a:fill>
          <a:noFill/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558" autoAdjust="0"/>
    <p:restoredTop sz="90698" autoAdjust="0"/>
  </p:normalViewPr>
  <p:slideViewPr>
    <p:cSldViewPr showGuides="1">
      <p:cViewPr varScale="1">
        <p:scale>
          <a:sx n="71" d="100"/>
          <a:sy n="71" d="100"/>
        </p:scale>
        <p:origin x="1140" y="72"/>
      </p:cViewPr>
      <p:guideLst>
        <p:guide orient="horz" pos="2160"/>
        <p:guide pos="2880"/>
      </p:guideLst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viewProps" Target="viewProps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presProps" Target="presProps.xml"/><Relationship Id="rId2" Type="http://schemas.openxmlformats.org/officeDocument/2006/relationships/slide" Target="slides/slide1.xml"/><Relationship Id="rId16" Type="http://schemas.openxmlformats.org/officeDocument/2006/relationships/commentAuthors" Target="commentAuthors.xml"/><Relationship Id="rId20" Type="http://schemas.openxmlformats.org/officeDocument/2006/relationships/tableStyles" Target="tableStyle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notesMaster" Target="notesMasters/notesMaster1.xml"/><Relationship Id="rId10" Type="http://schemas.openxmlformats.org/officeDocument/2006/relationships/slide" Target="slides/slide9.xml"/><Relationship Id="rId19" Type="http://schemas.openxmlformats.org/officeDocument/2006/relationships/theme" Target="theme/theme1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頁首版面配置區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zh-TW" altLang="en-US"/>
          </a:p>
        </p:txBody>
      </p:sp>
      <p:sp>
        <p:nvSpPr>
          <p:cNvPr id="3" name="日期版面配置區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EF1CE63A-BC02-48AE-AD61-DEBFD4CD7A65}" type="datetimeFigureOut">
              <a:rPr lang="zh-TW" altLang="en-US" smtClean="0"/>
              <a:t>2017/3/7</a:t>
            </a:fld>
            <a:endParaRPr lang="zh-TW" altLang="en-US"/>
          </a:p>
        </p:txBody>
      </p:sp>
      <p:sp>
        <p:nvSpPr>
          <p:cNvPr id="4" name="投影片圖像版面配置區 3"/>
          <p:cNvSpPr>
            <a:spLocks noGrp="1" noRot="1" noChangeAspect="1"/>
          </p:cNvSpPr>
          <p:nvPr>
            <p:ph type="sldImg" idx="2"/>
          </p:nvPr>
        </p:nvSpPr>
        <p:spPr>
          <a:xfrm>
            <a:off x="1371600" y="1143000"/>
            <a:ext cx="41148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zh-TW" altLang="en-US"/>
          </a:p>
        </p:txBody>
      </p:sp>
      <p:sp>
        <p:nvSpPr>
          <p:cNvPr id="5" name="備忘稿版面配置區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zh-TW" altLang="en-US" smtClean="0"/>
              <a:t>按一下以編輯母片文字樣式</a:t>
            </a:r>
          </a:p>
          <a:p>
            <a:pPr lvl="1"/>
            <a:r>
              <a:rPr lang="zh-TW" altLang="en-US" smtClean="0"/>
              <a:t>第二層</a:t>
            </a:r>
          </a:p>
          <a:p>
            <a:pPr lvl="2"/>
            <a:r>
              <a:rPr lang="zh-TW" altLang="en-US" smtClean="0"/>
              <a:t>第三層</a:t>
            </a:r>
          </a:p>
          <a:p>
            <a:pPr lvl="3"/>
            <a:r>
              <a:rPr lang="zh-TW" altLang="en-US" smtClean="0"/>
              <a:t>第四層</a:t>
            </a:r>
          </a:p>
          <a:p>
            <a:pPr lvl="4"/>
            <a:r>
              <a:rPr lang="zh-TW" altLang="en-US" smtClean="0"/>
              <a:t>第五層</a:t>
            </a:r>
            <a:endParaRPr lang="zh-TW" altLang="en-US"/>
          </a:p>
        </p:txBody>
      </p:sp>
      <p:sp>
        <p:nvSpPr>
          <p:cNvPr id="6" name="頁尾版面配置區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zh-TW" altLang="en-US"/>
          </a:p>
        </p:txBody>
      </p:sp>
      <p:sp>
        <p:nvSpPr>
          <p:cNvPr id="7" name="投影片編號版面配置區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B4AC61C5-6144-4B51-874B-9068A2E119E1}" type="slidenum">
              <a:rPr lang="zh-TW" altLang="en-US" smtClean="0"/>
              <a:t>‹#›</a:t>
            </a:fld>
            <a:endParaRPr lang="zh-TW" altLang="en-US"/>
          </a:p>
        </p:txBody>
      </p:sp>
    </p:spTree>
    <p:extLst>
      <p:ext uri="{BB962C8B-B14F-4D97-AF65-F5344CB8AC3E}">
        <p14:creationId xmlns:p14="http://schemas.microsoft.com/office/powerpoint/2010/main" val="2627172044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投影片圖像版面配置區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備忘稿版面配置區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TW" altLang="en-US"/>
          </a:p>
        </p:txBody>
      </p:sp>
      <p:sp>
        <p:nvSpPr>
          <p:cNvPr id="4" name="投影片編號版面配置區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B4AC61C5-6144-4B51-874B-9068A2E119E1}" type="slidenum">
              <a:rPr lang="zh-TW" altLang="en-US" smtClean="0"/>
              <a:t>1</a:t>
            </a:fld>
            <a:endParaRPr lang="zh-TW" altLang="en-US"/>
          </a:p>
        </p:txBody>
      </p:sp>
    </p:spTree>
    <p:extLst>
      <p:ext uri="{BB962C8B-B14F-4D97-AF65-F5344CB8AC3E}">
        <p14:creationId xmlns:p14="http://schemas.microsoft.com/office/powerpoint/2010/main" val="3303924846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標題投影片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zh-TW" altLang="en-US" smtClean="0"/>
              <a:t>按一下以編輯母片標題樣式</a:t>
            </a:r>
            <a:endParaRPr lang="zh-TW" altLang="en-US"/>
          </a:p>
        </p:txBody>
      </p:sp>
      <p:sp>
        <p:nvSpPr>
          <p:cNvPr id="3" name="副標題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zh-TW" altLang="en-US" smtClean="0"/>
              <a:t>按一下以編輯母片副標題樣式</a:t>
            </a:r>
            <a:endParaRPr lang="zh-TW" altLang="en-US"/>
          </a:p>
        </p:txBody>
      </p:sp>
      <p:sp>
        <p:nvSpPr>
          <p:cNvPr id="4" name="日期版面配置區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2B45F2B-D50C-428F-9E1B-3EA57954334E}" type="datetime1">
              <a:rPr lang="zh-TW" altLang="en-US" smtClean="0"/>
              <a:t>2017/3/7</a:t>
            </a:fld>
            <a:endParaRPr lang="zh-TW" altLang="en-US"/>
          </a:p>
        </p:txBody>
      </p:sp>
      <p:sp>
        <p:nvSpPr>
          <p:cNvPr id="5" name="頁尾版面配置區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TW" altLang="en-US"/>
          </a:p>
        </p:txBody>
      </p:sp>
      <p:sp>
        <p:nvSpPr>
          <p:cNvPr id="6" name="投影片編號版面配置區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1F13E5F-D7DA-4F3E-9AD0-348A1096F1D4}" type="slidenum">
              <a:rPr lang="zh-TW" altLang="en-US" smtClean="0"/>
              <a:t>‹#›</a:t>
            </a:fld>
            <a:endParaRPr lang="zh-TW" altLang="en-US"/>
          </a:p>
        </p:txBody>
      </p:sp>
    </p:spTree>
    <p:extLst>
      <p:ext uri="{BB962C8B-B14F-4D97-AF65-F5344CB8AC3E}">
        <p14:creationId xmlns:p14="http://schemas.microsoft.com/office/powerpoint/2010/main" val="1720230650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標題及物件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TW" altLang="en-US" smtClean="0"/>
              <a:t>按一下以編輯母片標題樣式</a:t>
            </a:r>
            <a:endParaRPr lang="zh-TW" altLang="en-US"/>
          </a:p>
        </p:txBody>
      </p:sp>
      <p:sp>
        <p:nvSpPr>
          <p:cNvPr id="3" name="內容版面配置區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zh-TW" altLang="en-US" smtClean="0"/>
              <a:t>按一下以編輯母片文字樣式</a:t>
            </a:r>
          </a:p>
          <a:p>
            <a:pPr lvl="1"/>
            <a:r>
              <a:rPr lang="zh-TW" altLang="en-US" smtClean="0"/>
              <a:t>第二層</a:t>
            </a:r>
          </a:p>
          <a:p>
            <a:pPr lvl="2"/>
            <a:r>
              <a:rPr lang="zh-TW" altLang="en-US" smtClean="0"/>
              <a:t>第三層</a:t>
            </a:r>
          </a:p>
          <a:p>
            <a:pPr lvl="3"/>
            <a:r>
              <a:rPr lang="zh-TW" altLang="en-US" smtClean="0"/>
              <a:t>第四層</a:t>
            </a:r>
          </a:p>
          <a:p>
            <a:pPr lvl="4"/>
            <a:r>
              <a:rPr lang="zh-TW" altLang="en-US" smtClean="0"/>
              <a:t>第五層</a:t>
            </a:r>
            <a:endParaRPr lang="zh-TW" altLang="en-US"/>
          </a:p>
        </p:txBody>
      </p:sp>
      <p:sp>
        <p:nvSpPr>
          <p:cNvPr id="4" name="日期版面配置區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E58BA86-FFD5-4191-BE14-2242F3A963FB}" type="datetime1">
              <a:rPr lang="zh-TW" altLang="en-US" smtClean="0"/>
              <a:t>2017/3/7</a:t>
            </a:fld>
            <a:endParaRPr lang="zh-TW" altLang="en-US"/>
          </a:p>
        </p:txBody>
      </p:sp>
      <p:sp>
        <p:nvSpPr>
          <p:cNvPr id="5" name="頁尾版面配置區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TW" altLang="en-US"/>
          </a:p>
        </p:txBody>
      </p:sp>
      <p:sp>
        <p:nvSpPr>
          <p:cNvPr id="6" name="投影片編號版面配置區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1F13E5F-D7DA-4F3E-9AD0-348A1096F1D4}" type="slidenum">
              <a:rPr lang="zh-TW" altLang="en-US" smtClean="0"/>
              <a:t>‹#›</a:t>
            </a:fld>
            <a:endParaRPr lang="zh-TW" altLang="en-US"/>
          </a:p>
        </p:txBody>
      </p:sp>
    </p:spTree>
    <p:extLst>
      <p:ext uri="{BB962C8B-B14F-4D97-AF65-F5344CB8AC3E}">
        <p14:creationId xmlns:p14="http://schemas.microsoft.com/office/powerpoint/2010/main" val="1451932119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章節標題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zh-TW" altLang="en-US" smtClean="0"/>
              <a:t>按一下以編輯母片標題樣式</a:t>
            </a:r>
            <a:endParaRPr lang="zh-TW" altLang="en-US"/>
          </a:p>
        </p:txBody>
      </p:sp>
      <p:sp>
        <p:nvSpPr>
          <p:cNvPr id="3" name="文字版面配置區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zh-TW" altLang="en-US" smtClean="0"/>
              <a:t>按一下以編輯母片文字樣式</a:t>
            </a:r>
          </a:p>
        </p:txBody>
      </p:sp>
      <p:sp>
        <p:nvSpPr>
          <p:cNvPr id="4" name="日期版面配置區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16997DB-FE0C-44AD-8220-97B334E47226}" type="datetime1">
              <a:rPr lang="zh-TW" altLang="en-US" smtClean="0"/>
              <a:t>2017/3/7</a:t>
            </a:fld>
            <a:endParaRPr lang="zh-TW" altLang="en-US"/>
          </a:p>
        </p:txBody>
      </p:sp>
      <p:sp>
        <p:nvSpPr>
          <p:cNvPr id="5" name="頁尾版面配置區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TW" altLang="en-US"/>
          </a:p>
        </p:txBody>
      </p:sp>
      <p:sp>
        <p:nvSpPr>
          <p:cNvPr id="6" name="投影片編號版面配置區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1F13E5F-D7DA-4F3E-9AD0-348A1096F1D4}" type="slidenum">
              <a:rPr lang="zh-TW" altLang="en-US" smtClean="0"/>
              <a:t>‹#›</a:t>
            </a:fld>
            <a:endParaRPr lang="zh-TW" altLang="en-US"/>
          </a:p>
        </p:txBody>
      </p:sp>
    </p:spTree>
    <p:extLst>
      <p:ext uri="{BB962C8B-B14F-4D97-AF65-F5344CB8AC3E}">
        <p14:creationId xmlns:p14="http://schemas.microsoft.com/office/powerpoint/2010/main" val="907651216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兩項物件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TW" altLang="en-US" smtClean="0"/>
              <a:t>按一下以編輯母片標題樣式</a:t>
            </a:r>
            <a:endParaRPr lang="zh-TW" altLang="en-US"/>
          </a:p>
        </p:txBody>
      </p:sp>
      <p:sp>
        <p:nvSpPr>
          <p:cNvPr id="3" name="內容版面配置區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zh-TW" altLang="en-US" smtClean="0"/>
              <a:t>按一下以編輯母片文字樣式</a:t>
            </a:r>
          </a:p>
          <a:p>
            <a:pPr lvl="1"/>
            <a:r>
              <a:rPr lang="zh-TW" altLang="en-US" smtClean="0"/>
              <a:t>第二層</a:t>
            </a:r>
          </a:p>
          <a:p>
            <a:pPr lvl="2"/>
            <a:r>
              <a:rPr lang="zh-TW" altLang="en-US" smtClean="0"/>
              <a:t>第三層</a:t>
            </a:r>
          </a:p>
          <a:p>
            <a:pPr lvl="3"/>
            <a:r>
              <a:rPr lang="zh-TW" altLang="en-US" smtClean="0"/>
              <a:t>第四層</a:t>
            </a:r>
          </a:p>
          <a:p>
            <a:pPr lvl="4"/>
            <a:r>
              <a:rPr lang="zh-TW" altLang="en-US" smtClean="0"/>
              <a:t>第五層</a:t>
            </a:r>
            <a:endParaRPr lang="zh-TW" altLang="en-US"/>
          </a:p>
        </p:txBody>
      </p:sp>
      <p:sp>
        <p:nvSpPr>
          <p:cNvPr id="4" name="內容版面配置區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zh-TW" altLang="en-US" smtClean="0"/>
              <a:t>按一下以編輯母片文字樣式</a:t>
            </a:r>
          </a:p>
          <a:p>
            <a:pPr lvl="1"/>
            <a:r>
              <a:rPr lang="zh-TW" altLang="en-US" smtClean="0"/>
              <a:t>第二層</a:t>
            </a:r>
          </a:p>
          <a:p>
            <a:pPr lvl="2"/>
            <a:r>
              <a:rPr lang="zh-TW" altLang="en-US" smtClean="0"/>
              <a:t>第三層</a:t>
            </a:r>
          </a:p>
          <a:p>
            <a:pPr lvl="3"/>
            <a:r>
              <a:rPr lang="zh-TW" altLang="en-US" smtClean="0"/>
              <a:t>第四層</a:t>
            </a:r>
          </a:p>
          <a:p>
            <a:pPr lvl="4"/>
            <a:r>
              <a:rPr lang="zh-TW" altLang="en-US" smtClean="0"/>
              <a:t>第五層</a:t>
            </a:r>
            <a:endParaRPr lang="zh-TW" altLang="en-US"/>
          </a:p>
        </p:txBody>
      </p:sp>
      <p:sp>
        <p:nvSpPr>
          <p:cNvPr id="5" name="日期版面配置區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A8F6E74-7577-4E95-904A-1389A1EE14EC}" type="datetime1">
              <a:rPr lang="zh-TW" altLang="en-US" smtClean="0"/>
              <a:t>2017/3/7</a:t>
            </a:fld>
            <a:endParaRPr lang="zh-TW" altLang="en-US"/>
          </a:p>
        </p:txBody>
      </p:sp>
      <p:sp>
        <p:nvSpPr>
          <p:cNvPr id="6" name="頁尾版面配置區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TW" altLang="en-US"/>
          </a:p>
        </p:txBody>
      </p:sp>
      <p:sp>
        <p:nvSpPr>
          <p:cNvPr id="7" name="投影片編號版面配置區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1F13E5F-D7DA-4F3E-9AD0-348A1096F1D4}" type="slidenum">
              <a:rPr lang="zh-TW" altLang="en-US" smtClean="0"/>
              <a:t>‹#›</a:t>
            </a:fld>
            <a:endParaRPr lang="zh-TW" altLang="en-US"/>
          </a:p>
        </p:txBody>
      </p:sp>
    </p:spTree>
    <p:extLst>
      <p:ext uri="{BB962C8B-B14F-4D97-AF65-F5344CB8AC3E}">
        <p14:creationId xmlns:p14="http://schemas.microsoft.com/office/powerpoint/2010/main" val="2030674505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比對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zh-TW" altLang="en-US" smtClean="0"/>
              <a:t>按一下以編輯母片標題樣式</a:t>
            </a:r>
            <a:endParaRPr lang="zh-TW" altLang="en-US"/>
          </a:p>
        </p:txBody>
      </p:sp>
      <p:sp>
        <p:nvSpPr>
          <p:cNvPr id="3" name="文字版面配置區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zh-TW" altLang="en-US" smtClean="0"/>
              <a:t>按一下以編輯母片文字樣式</a:t>
            </a:r>
          </a:p>
        </p:txBody>
      </p:sp>
      <p:sp>
        <p:nvSpPr>
          <p:cNvPr id="4" name="內容版面配置區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zh-TW" altLang="en-US" smtClean="0"/>
              <a:t>按一下以編輯母片文字樣式</a:t>
            </a:r>
          </a:p>
          <a:p>
            <a:pPr lvl="1"/>
            <a:r>
              <a:rPr lang="zh-TW" altLang="en-US" smtClean="0"/>
              <a:t>第二層</a:t>
            </a:r>
          </a:p>
          <a:p>
            <a:pPr lvl="2"/>
            <a:r>
              <a:rPr lang="zh-TW" altLang="en-US" smtClean="0"/>
              <a:t>第三層</a:t>
            </a:r>
          </a:p>
          <a:p>
            <a:pPr lvl="3"/>
            <a:r>
              <a:rPr lang="zh-TW" altLang="en-US" smtClean="0"/>
              <a:t>第四層</a:t>
            </a:r>
          </a:p>
          <a:p>
            <a:pPr lvl="4"/>
            <a:r>
              <a:rPr lang="zh-TW" altLang="en-US" smtClean="0"/>
              <a:t>第五層</a:t>
            </a:r>
            <a:endParaRPr lang="zh-TW" altLang="en-US"/>
          </a:p>
        </p:txBody>
      </p:sp>
      <p:sp>
        <p:nvSpPr>
          <p:cNvPr id="5" name="文字版面配置區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zh-TW" altLang="en-US" smtClean="0"/>
              <a:t>按一下以編輯母片文字樣式</a:t>
            </a:r>
          </a:p>
        </p:txBody>
      </p:sp>
      <p:sp>
        <p:nvSpPr>
          <p:cNvPr id="6" name="內容版面配置區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zh-TW" altLang="en-US" smtClean="0"/>
              <a:t>按一下以編輯母片文字樣式</a:t>
            </a:r>
          </a:p>
          <a:p>
            <a:pPr lvl="1"/>
            <a:r>
              <a:rPr lang="zh-TW" altLang="en-US" smtClean="0"/>
              <a:t>第二層</a:t>
            </a:r>
          </a:p>
          <a:p>
            <a:pPr lvl="2"/>
            <a:r>
              <a:rPr lang="zh-TW" altLang="en-US" smtClean="0"/>
              <a:t>第三層</a:t>
            </a:r>
          </a:p>
          <a:p>
            <a:pPr lvl="3"/>
            <a:r>
              <a:rPr lang="zh-TW" altLang="en-US" smtClean="0"/>
              <a:t>第四層</a:t>
            </a:r>
          </a:p>
          <a:p>
            <a:pPr lvl="4"/>
            <a:r>
              <a:rPr lang="zh-TW" altLang="en-US" smtClean="0"/>
              <a:t>第五層</a:t>
            </a:r>
            <a:endParaRPr lang="zh-TW" altLang="en-US"/>
          </a:p>
        </p:txBody>
      </p:sp>
      <p:sp>
        <p:nvSpPr>
          <p:cNvPr id="7" name="日期版面配置區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B22DA43-54E5-4159-8D24-7599593EEF71}" type="datetime1">
              <a:rPr lang="zh-TW" altLang="en-US" smtClean="0"/>
              <a:t>2017/3/7</a:t>
            </a:fld>
            <a:endParaRPr lang="zh-TW" altLang="en-US"/>
          </a:p>
        </p:txBody>
      </p:sp>
      <p:sp>
        <p:nvSpPr>
          <p:cNvPr id="8" name="頁尾版面配置區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TW" altLang="en-US"/>
          </a:p>
        </p:txBody>
      </p:sp>
      <p:sp>
        <p:nvSpPr>
          <p:cNvPr id="9" name="投影片編號版面配置區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1F13E5F-D7DA-4F3E-9AD0-348A1096F1D4}" type="slidenum">
              <a:rPr lang="zh-TW" altLang="en-US" smtClean="0"/>
              <a:t>‹#›</a:t>
            </a:fld>
            <a:endParaRPr lang="zh-TW" altLang="en-US"/>
          </a:p>
        </p:txBody>
      </p:sp>
    </p:spTree>
    <p:extLst>
      <p:ext uri="{BB962C8B-B14F-4D97-AF65-F5344CB8AC3E}">
        <p14:creationId xmlns:p14="http://schemas.microsoft.com/office/powerpoint/2010/main" val="2569399573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只有標題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TW" altLang="en-US" smtClean="0"/>
              <a:t>按一下以編輯母片標題樣式</a:t>
            </a:r>
            <a:endParaRPr lang="zh-TW" altLang="en-US"/>
          </a:p>
        </p:txBody>
      </p:sp>
      <p:sp>
        <p:nvSpPr>
          <p:cNvPr id="3" name="日期版面配置區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A28608D-AE12-402D-A232-D49EA7567D97}" type="datetime1">
              <a:rPr lang="zh-TW" altLang="en-US" smtClean="0"/>
              <a:t>2017/3/7</a:t>
            </a:fld>
            <a:endParaRPr lang="zh-TW" altLang="en-US"/>
          </a:p>
        </p:txBody>
      </p:sp>
      <p:sp>
        <p:nvSpPr>
          <p:cNvPr id="4" name="頁尾版面配置區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TW" altLang="en-US"/>
          </a:p>
        </p:txBody>
      </p:sp>
      <p:sp>
        <p:nvSpPr>
          <p:cNvPr id="5" name="投影片編號版面配置區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1F13E5F-D7DA-4F3E-9AD0-348A1096F1D4}" type="slidenum">
              <a:rPr lang="zh-TW" altLang="en-US" smtClean="0"/>
              <a:t>‹#›</a:t>
            </a:fld>
            <a:endParaRPr lang="zh-TW" altLang="en-US"/>
          </a:p>
        </p:txBody>
      </p:sp>
    </p:spTree>
    <p:extLst>
      <p:ext uri="{BB962C8B-B14F-4D97-AF65-F5344CB8AC3E}">
        <p14:creationId xmlns:p14="http://schemas.microsoft.com/office/powerpoint/2010/main" val="3288315370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空白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日期版面配置區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8B8594C-0EC6-4616-AA89-51CF22CF926A}" type="datetime1">
              <a:rPr lang="zh-TW" altLang="en-US" smtClean="0"/>
              <a:t>2017/3/7</a:t>
            </a:fld>
            <a:endParaRPr lang="zh-TW" altLang="en-US"/>
          </a:p>
        </p:txBody>
      </p:sp>
      <p:sp>
        <p:nvSpPr>
          <p:cNvPr id="3" name="頁尾版面配置區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TW" altLang="en-US"/>
          </a:p>
        </p:txBody>
      </p:sp>
      <p:sp>
        <p:nvSpPr>
          <p:cNvPr id="4" name="投影片編號版面配置區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1F13E5F-D7DA-4F3E-9AD0-348A1096F1D4}" type="slidenum">
              <a:rPr lang="zh-TW" altLang="en-US" smtClean="0"/>
              <a:t>‹#›</a:t>
            </a:fld>
            <a:endParaRPr lang="zh-TW" altLang="en-US"/>
          </a:p>
        </p:txBody>
      </p:sp>
    </p:spTree>
    <p:extLst>
      <p:ext uri="{BB962C8B-B14F-4D97-AF65-F5344CB8AC3E}">
        <p14:creationId xmlns:p14="http://schemas.microsoft.com/office/powerpoint/2010/main" val="701395467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含標題的內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zh-TW" altLang="en-US" smtClean="0"/>
              <a:t>按一下以編輯母片標題樣式</a:t>
            </a:r>
            <a:endParaRPr lang="zh-TW" altLang="en-US"/>
          </a:p>
        </p:txBody>
      </p:sp>
      <p:sp>
        <p:nvSpPr>
          <p:cNvPr id="3" name="內容版面配置區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zh-TW" altLang="en-US" smtClean="0"/>
              <a:t>按一下以編輯母片文字樣式</a:t>
            </a:r>
          </a:p>
          <a:p>
            <a:pPr lvl="1"/>
            <a:r>
              <a:rPr lang="zh-TW" altLang="en-US" smtClean="0"/>
              <a:t>第二層</a:t>
            </a:r>
          </a:p>
          <a:p>
            <a:pPr lvl="2"/>
            <a:r>
              <a:rPr lang="zh-TW" altLang="en-US" smtClean="0"/>
              <a:t>第三層</a:t>
            </a:r>
          </a:p>
          <a:p>
            <a:pPr lvl="3"/>
            <a:r>
              <a:rPr lang="zh-TW" altLang="en-US" smtClean="0"/>
              <a:t>第四層</a:t>
            </a:r>
          </a:p>
          <a:p>
            <a:pPr lvl="4"/>
            <a:r>
              <a:rPr lang="zh-TW" altLang="en-US" smtClean="0"/>
              <a:t>第五層</a:t>
            </a:r>
            <a:endParaRPr lang="zh-TW" altLang="en-US"/>
          </a:p>
        </p:txBody>
      </p:sp>
      <p:sp>
        <p:nvSpPr>
          <p:cNvPr id="4" name="文字版面配置區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zh-TW" altLang="en-US" smtClean="0"/>
              <a:t>按一下以編輯母片文字樣式</a:t>
            </a:r>
          </a:p>
        </p:txBody>
      </p:sp>
      <p:sp>
        <p:nvSpPr>
          <p:cNvPr id="5" name="日期版面配置區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18A8FE4-E4EF-4472-84D1-D13C2E57E5E4}" type="datetime1">
              <a:rPr lang="zh-TW" altLang="en-US" smtClean="0"/>
              <a:t>2017/3/7</a:t>
            </a:fld>
            <a:endParaRPr lang="zh-TW" altLang="en-US"/>
          </a:p>
        </p:txBody>
      </p:sp>
      <p:sp>
        <p:nvSpPr>
          <p:cNvPr id="6" name="頁尾版面配置區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TW" altLang="en-US"/>
          </a:p>
        </p:txBody>
      </p:sp>
      <p:sp>
        <p:nvSpPr>
          <p:cNvPr id="7" name="投影片編號版面配置區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1F13E5F-D7DA-4F3E-9AD0-348A1096F1D4}" type="slidenum">
              <a:rPr lang="zh-TW" altLang="en-US" smtClean="0"/>
              <a:t>‹#›</a:t>
            </a:fld>
            <a:endParaRPr lang="zh-TW" altLang="en-US"/>
          </a:p>
        </p:txBody>
      </p:sp>
    </p:spTree>
    <p:extLst>
      <p:ext uri="{BB962C8B-B14F-4D97-AF65-F5344CB8AC3E}">
        <p14:creationId xmlns:p14="http://schemas.microsoft.com/office/powerpoint/2010/main" val="2714510275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含標題的圖片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zh-TW" altLang="en-US" smtClean="0"/>
              <a:t>按一下以編輯母片標題樣式</a:t>
            </a:r>
            <a:endParaRPr lang="zh-TW" altLang="en-US"/>
          </a:p>
        </p:txBody>
      </p:sp>
      <p:sp>
        <p:nvSpPr>
          <p:cNvPr id="3" name="圖片版面配置區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zh-TW" altLang="en-US"/>
          </a:p>
        </p:txBody>
      </p:sp>
      <p:sp>
        <p:nvSpPr>
          <p:cNvPr id="4" name="文字版面配置區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zh-TW" altLang="en-US" smtClean="0"/>
              <a:t>按一下以編輯母片文字樣式</a:t>
            </a:r>
          </a:p>
        </p:txBody>
      </p:sp>
      <p:sp>
        <p:nvSpPr>
          <p:cNvPr id="5" name="日期版面配置區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1CCC58B-3596-4B02-A477-AA9C456BAED0}" type="datetime1">
              <a:rPr lang="zh-TW" altLang="en-US" smtClean="0"/>
              <a:t>2017/3/7</a:t>
            </a:fld>
            <a:endParaRPr lang="zh-TW" altLang="en-US"/>
          </a:p>
        </p:txBody>
      </p:sp>
      <p:sp>
        <p:nvSpPr>
          <p:cNvPr id="6" name="頁尾版面配置區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TW" altLang="en-US"/>
          </a:p>
        </p:txBody>
      </p:sp>
      <p:sp>
        <p:nvSpPr>
          <p:cNvPr id="7" name="投影片編號版面配置區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1F13E5F-D7DA-4F3E-9AD0-348A1096F1D4}" type="slidenum">
              <a:rPr lang="zh-TW" altLang="en-US" smtClean="0"/>
              <a:t>‹#›</a:t>
            </a:fld>
            <a:endParaRPr lang="zh-TW" altLang="en-US"/>
          </a:p>
        </p:txBody>
      </p:sp>
    </p:spTree>
    <p:extLst>
      <p:ext uri="{BB962C8B-B14F-4D97-AF65-F5344CB8AC3E}">
        <p14:creationId xmlns:p14="http://schemas.microsoft.com/office/powerpoint/2010/main" val="3009484250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標題及直排文字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TW" altLang="en-US" smtClean="0"/>
              <a:t>按一下以編輯母片標題樣式</a:t>
            </a:r>
            <a:endParaRPr lang="zh-TW" altLang="en-US"/>
          </a:p>
        </p:txBody>
      </p:sp>
      <p:sp>
        <p:nvSpPr>
          <p:cNvPr id="3" name="直排文字版面配置區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zh-TW" altLang="en-US" smtClean="0"/>
              <a:t>按一下以編輯母片文字樣式</a:t>
            </a:r>
          </a:p>
          <a:p>
            <a:pPr lvl="1"/>
            <a:r>
              <a:rPr lang="zh-TW" altLang="en-US" smtClean="0"/>
              <a:t>第二層</a:t>
            </a:r>
          </a:p>
          <a:p>
            <a:pPr lvl="2"/>
            <a:r>
              <a:rPr lang="zh-TW" altLang="en-US" smtClean="0"/>
              <a:t>第三層</a:t>
            </a:r>
          </a:p>
          <a:p>
            <a:pPr lvl="3"/>
            <a:r>
              <a:rPr lang="zh-TW" altLang="en-US" smtClean="0"/>
              <a:t>第四層</a:t>
            </a:r>
          </a:p>
          <a:p>
            <a:pPr lvl="4"/>
            <a:r>
              <a:rPr lang="zh-TW" altLang="en-US" smtClean="0"/>
              <a:t>第五層</a:t>
            </a:r>
            <a:endParaRPr lang="zh-TW" altLang="en-US"/>
          </a:p>
        </p:txBody>
      </p:sp>
      <p:sp>
        <p:nvSpPr>
          <p:cNvPr id="4" name="日期版面配置區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A0AE385-6693-4EC2-84D7-9DF4218B9FE5}" type="datetime1">
              <a:rPr lang="zh-TW" altLang="en-US" smtClean="0"/>
              <a:t>2017/3/7</a:t>
            </a:fld>
            <a:endParaRPr lang="zh-TW" altLang="en-US"/>
          </a:p>
        </p:txBody>
      </p:sp>
      <p:sp>
        <p:nvSpPr>
          <p:cNvPr id="5" name="頁尾版面配置區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TW" altLang="en-US"/>
          </a:p>
        </p:txBody>
      </p:sp>
      <p:sp>
        <p:nvSpPr>
          <p:cNvPr id="6" name="投影片編號版面配置區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1F13E5F-D7DA-4F3E-9AD0-348A1096F1D4}" type="slidenum">
              <a:rPr lang="zh-TW" altLang="en-US" smtClean="0"/>
              <a:t>‹#›</a:t>
            </a:fld>
            <a:endParaRPr lang="zh-TW" altLang="en-US"/>
          </a:p>
        </p:txBody>
      </p:sp>
    </p:spTree>
    <p:extLst>
      <p:ext uri="{BB962C8B-B14F-4D97-AF65-F5344CB8AC3E}">
        <p14:creationId xmlns:p14="http://schemas.microsoft.com/office/powerpoint/2010/main" val="151543883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直排標題及文字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直排標題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zh-TW" altLang="en-US" smtClean="0"/>
              <a:t>按一下以編輯母片標題樣式</a:t>
            </a:r>
            <a:endParaRPr lang="zh-TW" altLang="en-US"/>
          </a:p>
        </p:txBody>
      </p:sp>
      <p:sp>
        <p:nvSpPr>
          <p:cNvPr id="3" name="直排文字版面配置區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zh-TW" altLang="en-US" smtClean="0"/>
              <a:t>按一下以編輯母片文字樣式</a:t>
            </a:r>
          </a:p>
          <a:p>
            <a:pPr lvl="1"/>
            <a:r>
              <a:rPr lang="zh-TW" altLang="en-US" smtClean="0"/>
              <a:t>第二層</a:t>
            </a:r>
          </a:p>
          <a:p>
            <a:pPr lvl="2"/>
            <a:r>
              <a:rPr lang="zh-TW" altLang="en-US" smtClean="0"/>
              <a:t>第三層</a:t>
            </a:r>
          </a:p>
          <a:p>
            <a:pPr lvl="3"/>
            <a:r>
              <a:rPr lang="zh-TW" altLang="en-US" smtClean="0"/>
              <a:t>第四層</a:t>
            </a:r>
          </a:p>
          <a:p>
            <a:pPr lvl="4"/>
            <a:r>
              <a:rPr lang="zh-TW" altLang="en-US" smtClean="0"/>
              <a:t>第五層</a:t>
            </a:r>
            <a:endParaRPr lang="zh-TW" altLang="en-US"/>
          </a:p>
        </p:txBody>
      </p:sp>
      <p:sp>
        <p:nvSpPr>
          <p:cNvPr id="4" name="日期版面配置區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887F467-6F87-49D9-8F57-A31E8D94BAD1}" type="datetime1">
              <a:rPr lang="zh-TW" altLang="en-US" smtClean="0"/>
              <a:t>2017/3/7</a:t>
            </a:fld>
            <a:endParaRPr lang="zh-TW" altLang="en-US"/>
          </a:p>
        </p:txBody>
      </p:sp>
      <p:sp>
        <p:nvSpPr>
          <p:cNvPr id="5" name="頁尾版面配置區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TW" altLang="en-US"/>
          </a:p>
        </p:txBody>
      </p:sp>
      <p:sp>
        <p:nvSpPr>
          <p:cNvPr id="6" name="投影片編號版面配置區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1F13E5F-D7DA-4F3E-9AD0-348A1096F1D4}" type="slidenum">
              <a:rPr lang="zh-TW" altLang="en-US" smtClean="0"/>
              <a:t>‹#›</a:t>
            </a:fld>
            <a:endParaRPr lang="zh-TW" altLang="en-US"/>
          </a:p>
        </p:txBody>
      </p:sp>
    </p:spTree>
    <p:extLst>
      <p:ext uri="{BB962C8B-B14F-4D97-AF65-F5344CB8AC3E}">
        <p14:creationId xmlns:p14="http://schemas.microsoft.com/office/powerpoint/2010/main" val="667697055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版面配置區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zh-TW" altLang="en-US" smtClean="0"/>
              <a:t>按一下以編輯母片標題樣式</a:t>
            </a:r>
            <a:endParaRPr lang="zh-TW" altLang="en-US"/>
          </a:p>
        </p:txBody>
      </p:sp>
      <p:sp>
        <p:nvSpPr>
          <p:cNvPr id="3" name="文字版面配置區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zh-TW" altLang="en-US" smtClean="0"/>
              <a:t>按一下以編輯母片文字樣式</a:t>
            </a:r>
          </a:p>
          <a:p>
            <a:pPr lvl="1"/>
            <a:r>
              <a:rPr lang="zh-TW" altLang="en-US" smtClean="0"/>
              <a:t>第二層</a:t>
            </a:r>
          </a:p>
          <a:p>
            <a:pPr lvl="2"/>
            <a:r>
              <a:rPr lang="zh-TW" altLang="en-US" smtClean="0"/>
              <a:t>第三層</a:t>
            </a:r>
          </a:p>
          <a:p>
            <a:pPr lvl="3"/>
            <a:r>
              <a:rPr lang="zh-TW" altLang="en-US" smtClean="0"/>
              <a:t>第四層</a:t>
            </a:r>
          </a:p>
          <a:p>
            <a:pPr lvl="4"/>
            <a:r>
              <a:rPr lang="zh-TW" altLang="en-US" smtClean="0"/>
              <a:t>第五層</a:t>
            </a:r>
            <a:endParaRPr lang="zh-TW" altLang="en-US"/>
          </a:p>
        </p:txBody>
      </p:sp>
      <p:sp>
        <p:nvSpPr>
          <p:cNvPr id="4" name="日期版面配置區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02B6EED0-F0C7-4BC1-9843-277DBD85C3AB}" type="datetime1">
              <a:rPr lang="zh-TW" altLang="en-US" smtClean="0"/>
              <a:t>2017/3/7</a:t>
            </a:fld>
            <a:endParaRPr lang="zh-TW" altLang="en-US"/>
          </a:p>
        </p:txBody>
      </p:sp>
      <p:sp>
        <p:nvSpPr>
          <p:cNvPr id="5" name="頁尾版面配置區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zh-TW" altLang="en-US"/>
          </a:p>
        </p:txBody>
      </p:sp>
      <p:sp>
        <p:nvSpPr>
          <p:cNvPr id="6" name="投影片編號版面配置區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1F13E5F-D7DA-4F3E-9AD0-348A1096F1D4}" type="slidenum">
              <a:rPr lang="zh-TW" altLang="en-US" smtClean="0"/>
              <a:t>‹#›</a:t>
            </a:fld>
            <a:endParaRPr lang="zh-TW" altLang="en-US"/>
          </a:p>
        </p:txBody>
      </p:sp>
    </p:spTree>
    <p:extLst>
      <p:ext uri="{BB962C8B-B14F-4D97-AF65-F5344CB8AC3E}">
        <p14:creationId xmlns:p14="http://schemas.microsoft.com/office/powerpoint/2010/main" val="2397838017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hf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zh-TW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png"/><Relationship Id="rId2" Type="http://schemas.openxmlformats.org/officeDocument/2006/relationships/image" Target="../media/image5.png"/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image" Target="../media/image7.png"/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image" Target="../media/image8.png"/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image" Target="../media/image9.png"/><Relationship Id="rId1" Type="http://schemas.openxmlformats.org/officeDocument/2006/relationships/slideLayout" Target="../slideLayouts/slideLayout2.xml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0.png"/><Relationship Id="rId1" Type="http://schemas.openxmlformats.org/officeDocument/2006/relationships/slideLayout" Target="../slideLayouts/slideLayout2.xml"/></Relationships>
</file>

<file path=ppt/slides/_rels/slide12.xml.rels><?xml version="1.0" encoding="UTF-8" standalone="yes"?>
<Relationships xmlns="http://schemas.openxmlformats.org/package/2006/relationships"><Relationship Id="rId3" Type="http://schemas.openxmlformats.org/officeDocument/2006/relationships/image" Target="../media/image12.png"/><Relationship Id="rId2" Type="http://schemas.openxmlformats.org/officeDocument/2006/relationships/image" Target="../media/image11.png"/><Relationship Id="rId1" Type="http://schemas.openxmlformats.org/officeDocument/2006/relationships/slideLayout" Target="../slideLayouts/slideLayout2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/>
          <p:cNvSpPr>
            <a:spLocks noGrp="1"/>
          </p:cNvSpPr>
          <p:nvPr>
            <p:ph type="ctrTitle"/>
          </p:nvPr>
        </p:nvSpPr>
        <p:spPr>
          <a:xfrm>
            <a:off x="685800" y="764704"/>
            <a:ext cx="7772400" cy="1470025"/>
          </a:xfrm>
        </p:spPr>
        <p:txBody>
          <a:bodyPr>
            <a:noAutofit/>
          </a:bodyPr>
          <a:lstStyle/>
          <a:p>
            <a:r>
              <a:rPr lang="en-US" altLang="zh-TW" sz="3200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A Space-Efficient Algorithm for the CPSA Problem</a:t>
            </a:r>
            <a:endParaRPr lang="zh-TW" altLang="en-US" sz="32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3" name="副標題 2"/>
          <p:cNvSpPr>
            <a:spLocks noGrp="1"/>
          </p:cNvSpPr>
          <p:nvPr>
            <p:ph type="subTitle" idx="1"/>
          </p:nvPr>
        </p:nvSpPr>
        <p:spPr>
          <a:xfrm>
            <a:off x="323528" y="3068960"/>
            <a:ext cx="7992888" cy="1752600"/>
          </a:xfrm>
        </p:spPr>
        <p:txBody>
          <a:bodyPr>
            <a:normAutofit/>
          </a:bodyPr>
          <a:lstStyle/>
          <a:p>
            <a:r>
              <a:rPr lang="en-US" altLang="zh-TW" sz="200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Dan </a:t>
            </a:r>
            <a:r>
              <a:rPr lang="en-US" altLang="zh-TW" sz="2000" smtClean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He and </a:t>
            </a:r>
            <a:r>
              <a:rPr lang="en-US" altLang="zh-TW" sz="2000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Abdullah N. </a:t>
            </a:r>
            <a:r>
              <a:rPr lang="en-US" altLang="zh-TW" sz="2000" dirty="0" err="1" smtClean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Arslan</a:t>
            </a:r>
            <a:endParaRPr lang="en-US" altLang="zh-TW" sz="2000" dirty="0" smtClean="0">
              <a:solidFill>
                <a:schemeClr val="tx1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r>
              <a:rPr lang="it-IT" altLang="zh-TW" sz="1800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Genome Informatics</a:t>
            </a:r>
            <a:endParaRPr lang="en-US" altLang="zh-TW" sz="1800" dirty="0">
              <a:solidFill>
                <a:schemeClr val="tx1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r>
              <a:rPr lang="it-IT" altLang="zh-TW" sz="1800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Vol. 16</a:t>
            </a:r>
            <a:r>
              <a:rPr lang="en-US" altLang="zh-TW" sz="1800" dirty="0" smtClean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, </a:t>
            </a:r>
            <a:r>
              <a:rPr lang="en-US" altLang="zh-TW" sz="1800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No. </a:t>
            </a:r>
            <a:r>
              <a:rPr lang="en-US" altLang="zh-TW" sz="1800" dirty="0" smtClean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2, pp.237-246, 2005</a:t>
            </a:r>
            <a:endParaRPr lang="en-US" altLang="zh-TW" sz="1800" dirty="0">
              <a:solidFill>
                <a:schemeClr val="tx1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4" name="矩形 3"/>
          <p:cNvSpPr/>
          <p:nvPr/>
        </p:nvSpPr>
        <p:spPr>
          <a:xfrm>
            <a:off x="2826060" y="4821560"/>
            <a:ext cx="2987824" cy="646331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en-US" altLang="zh-TW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Presenter</a:t>
            </a:r>
            <a:r>
              <a:rPr lang="zh-TW" altLang="en-US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：</a:t>
            </a:r>
            <a:r>
              <a:rPr lang="en-US" altLang="zh-TW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Siang-</a:t>
            </a:r>
            <a:r>
              <a:rPr lang="en-US" altLang="zh-TW" dirty="0" err="1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Huai</a:t>
            </a:r>
            <a:r>
              <a:rPr lang="en-US" altLang="zh-TW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 Hung</a:t>
            </a:r>
          </a:p>
          <a:p>
            <a:r>
              <a:rPr lang="en-US" altLang="zh-TW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Date</a:t>
            </a:r>
            <a:r>
              <a:rPr lang="zh-TW" altLang="en-US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：</a:t>
            </a:r>
            <a:r>
              <a:rPr lang="en-US" altLang="zh-TW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2017/03/07</a:t>
            </a:r>
            <a:endParaRPr lang="en-US" altLang="zh-TW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5" name="投影片編號版面配置區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1F13E5F-D7DA-4F3E-9AD0-348A1096F1D4}" type="slidenum">
              <a:rPr lang="zh-TW" altLang="en-US" smtClean="0"/>
              <a:t>1</a:t>
            </a:fld>
            <a:endParaRPr lang="zh-TW" altLang="en-US"/>
          </a:p>
        </p:txBody>
      </p:sp>
    </p:spTree>
    <p:extLst>
      <p:ext uri="{BB962C8B-B14F-4D97-AF65-F5344CB8AC3E}">
        <p14:creationId xmlns:p14="http://schemas.microsoft.com/office/powerpoint/2010/main" val="1693640357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zh-TW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Abstract(1/2)</a:t>
            </a:r>
            <a:endParaRPr lang="zh-TW" altLang="en-US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3" name="內容版面配置區 2"/>
          <p:cNvSpPr>
            <a:spLocks noGrp="1"/>
          </p:cNvSpPr>
          <p:nvPr>
            <p:ph idx="1"/>
          </p:nvPr>
        </p:nvSpPr>
        <p:spPr>
          <a:xfrm>
            <a:off x="318356" y="1224136"/>
            <a:ext cx="8507288" cy="5373216"/>
          </a:xfrm>
        </p:spPr>
        <p:txBody>
          <a:bodyPr>
            <a:noAutofit/>
          </a:bodyPr>
          <a:lstStyle/>
          <a:p>
            <a:pPr marL="0" indent="0" algn="just">
              <a:buNone/>
            </a:pPr>
            <a:r>
              <a:rPr lang="en-US" altLang="zh-TW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The </a:t>
            </a:r>
            <a:r>
              <a:rPr lang="en-US" altLang="zh-TW" sz="2400" i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constrained pairwise sequence alignment </a:t>
            </a:r>
            <a:r>
              <a:rPr lang="en-US" altLang="zh-TW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(</a:t>
            </a:r>
            <a:r>
              <a:rPr lang="en-US" altLang="zh-TW" sz="2400" i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CPSA</a:t>
            </a:r>
            <a:r>
              <a:rPr lang="en-US" altLang="zh-TW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) problem aims to align two given </a:t>
            </a:r>
            <a:r>
              <a:rPr lang="en-US" altLang="zh-TW" sz="2400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sequences by </a:t>
            </a:r>
            <a:r>
              <a:rPr lang="en-US" altLang="zh-TW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aligning their similar subsequences in the same region under the guidance of a given </a:t>
            </a:r>
            <a:r>
              <a:rPr lang="en-US" altLang="zh-TW" sz="2400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pattern (constraint</a:t>
            </a:r>
            <a:r>
              <a:rPr lang="en-US" altLang="zh-TW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). Let the lengths of the sequences be </a:t>
            </a:r>
            <a:r>
              <a:rPr lang="en-US" altLang="zh-TW" sz="2400" i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m</a:t>
            </a:r>
            <a:r>
              <a:rPr lang="en-US" altLang="zh-TW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, and </a:t>
            </a:r>
            <a:r>
              <a:rPr lang="en-US" altLang="zh-TW" sz="2400" i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n </a:t>
            </a:r>
            <a:r>
              <a:rPr lang="en-US" altLang="zh-TW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where </a:t>
            </a:r>
            <a:r>
              <a:rPr lang="en-US" altLang="zh-TW" sz="2400" i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n </a:t>
            </a:r>
            <a:r>
              <a:rPr lang="en-US" altLang="zh-TW" sz="2400" i="1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≤ </a:t>
            </a:r>
            <a:r>
              <a:rPr lang="en-US" altLang="zh-TW" sz="2400" i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m</a:t>
            </a:r>
            <a:r>
              <a:rPr lang="en-US" altLang="zh-TW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, and let </a:t>
            </a:r>
            <a:r>
              <a:rPr lang="en-US" altLang="zh-TW" sz="2400" i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r </a:t>
            </a:r>
            <a:r>
              <a:rPr lang="en-US" altLang="zh-TW" sz="2400" i="1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≤ </a:t>
            </a:r>
            <a:r>
              <a:rPr lang="en-US" altLang="zh-TW" sz="2400" i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n </a:t>
            </a:r>
            <a:r>
              <a:rPr lang="en-US" altLang="zh-TW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be the </a:t>
            </a:r>
            <a:r>
              <a:rPr lang="en-US" altLang="zh-TW" sz="2400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length of </a:t>
            </a:r>
            <a:r>
              <a:rPr lang="en-US" altLang="zh-TW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the given pattern. The optimum constrained pairwise alignment score can be computed </a:t>
            </a:r>
            <a:r>
              <a:rPr lang="en-US" altLang="zh-TW" sz="2400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using </a:t>
            </a:r>
            <a:r>
              <a:rPr lang="en-US" altLang="zh-TW" sz="2400" i="1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O</a:t>
            </a:r>
            <a:r>
              <a:rPr lang="en-US" altLang="zh-TW" sz="2400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(</a:t>
            </a:r>
            <a:r>
              <a:rPr lang="en-US" altLang="zh-TW" sz="2400" i="1" dirty="0" err="1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rn</a:t>
            </a:r>
            <a:r>
              <a:rPr lang="en-US" altLang="zh-TW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) space by a naive dynamic programming solution. If an optimal alignment path is </a:t>
            </a:r>
            <a:r>
              <a:rPr lang="en-US" altLang="zh-TW" sz="2400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desired then </a:t>
            </a:r>
            <a:r>
              <a:rPr lang="en-US" altLang="zh-TW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the space requirement of the naive dynamic programming algorithm is </a:t>
            </a:r>
            <a:r>
              <a:rPr lang="en-US" altLang="zh-TW" sz="2400" i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O</a:t>
            </a:r>
            <a:r>
              <a:rPr lang="en-US" altLang="zh-TW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(</a:t>
            </a:r>
            <a:r>
              <a:rPr lang="en-US" altLang="zh-TW" sz="2400" i="1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rnm</a:t>
            </a:r>
            <a:r>
              <a:rPr lang="en-US" altLang="zh-TW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). There is </a:t>
            </a:r>
            <a:r>
              <a:rPr lang="en-US" altLang="zh-TW" sz="2400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a divide-and-conquer </a:t>
            </a:r>
            <a:r>
              <a:rPr lang="en-US" altLang="zh-TW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algorithm that reduces the memory requirement of </a:t>
            </a:r>
            <a:r>
              <a:rPr lang="en-US" altLang="zh-TW" sz="2400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finding </a:t>
            </a:r>
            <a:r>
              <a:rPr lang="en-US" altLang="zh-TW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an optimal </a:t>
            </a:r>
            <a:r>
              <a:rPr lang="en-US" altLang="zh-TW" sz="2400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alignment for </a:t>
            </a:r>
            <a:r>
              <a:rPr lang="en-US" altLang="zh-TW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the </a:t>
            </a:r>
            <a:r>
              <a:rPr lang="en-US" altLang="zh-TW" sz="2400" i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CPSA </a:t>
            </a:r>
            <a:r>
              <a:rPr lang="en-US" altLang="zh-TW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problem to </a:t>
            </a:r>
            <a:r>
              <a:rPr lang="en-US" altLang="zh-TW" sz="2400" i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O</a:t>
            </a:r>
            <a:r>
              <a:rPr lang="en-US" altLang="zh-TW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(</a:t>
            </a:r>
            <a:r>
              <a:rPr lang="en-US" altLang="zh-TW" sz="2400" i="1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rn</a:t>
            </a:r>
            <a:r>
              <a:rPr lang="en-US" altLang="zh-TW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). </a:t>
            </a:r>
            <a:endParaRPr lang="zh-TW" altLang="en-US" sz="24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4" name="投影片編號版面配置區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1F13E5F-D7DA-4F3E-9AD0-348A1096F1D4}" type="slidenum">
              <a:rPr lang="zh-TW" altLang="en-US" smtClean="0"/>
              <a:t>2</a:t>
            </a:fld>
            <a:endParaRPr lang="zh-TW" altLang="en-US" dirty="0"/>
          </a:p>
        </p:txBody>
      </p:sp>
    </p:spTree>
    <p:extLst>
      <p:ext uri="{BB962C8B-B14F-4D97-AF65-F5344CB8AC3E}">
        <p14:creationId xmlns:p14="http://schemas.microsoft.com/office/powerpoint/2010/main" val="1981463874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zh-TW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Abstract(2/2)</a:t>
            </a:r>
            <a:endParaRPr lang="zh-TW" altLang="en-US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3" name="內容版面配置區 2"/>
          <p:cNvSpPr>
            <a:spLocks noGrp="1"/>
          </p:cNvSpPr>
          <p:nvPr>
            <p:ph idx="1"/>
          </p:nvPr>
        </p:nvSpPr>
        <p:spPr>
          <a:xfrm>
            <a:off x="318356" y="1224136"/>
            <a:ext cx="8507288" cy="5497339"/>
          </a:xfrm>
        </p:spPr>
        <p:txBody>
          <a:bodyPr>
            <a:noAutofit/>
          </a:bodyPr>
          <a:lstStyle/>
          <a:p>
            <a:pPr marL="0" indent="0" algn="just">
              <a:buNone/>
            </a:pPr>
            <a:r>
              <a:rPr lang="en-US" altLang="zh-TW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In this paper, we present a space-efficient </a:t>
            </a:r>
            <a:r>
              <a:rPr lang="en-US" altLang="zh-TW" sz="2400" i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CPSA </a:t>
            </a:r>
            <a:r>
              <a:rPr lang="en-US" altLang="zh-TW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algorithm that returns an optimal alignment. Our analysis on real protein sequences suggests that our algorithm requires only </a:t>
            </a:r>
            <a:r>
              <a:rPr lang="en-US" altLang="zh-TW" sz="2400" i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O</a:t>
            </a:r>
            <a:r>
              <a:rPr lang="en-US" altLang="zh-TW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(</a:t>
            </a:r>
            <a:r>
              <a:rPr lang="en-US" altLang="zh-TW" sz="2400" i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n</a:t>
            </a:r>
            <a:r>
              <a:rPr lang="en-US" altLang="zh-TW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) space in practice. This algorithm is not only space efficient but also very fast. A generalization of the </a:t>
            </a:r>
            <a:r>
              <a:rPr lang="en-US" altLang="zh-TW" sz="2400" i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CPSA </a:t>
            </a:r>
            <a:r>
              <a:rPr lang="en-US" altLang="zh-TW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problem for multiple sequences is called the constrained </a:t>
            </a:r>
            <a:r>
              <a:rPr lang="en-US" altLang="zh-TW" sz="2400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multiple sequence </a:t>
            </a:r>
            <a:r>
              <a:rPr lang="en-US" altLang="zh-TW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alignment (</a:t>
            </a:r>
            <a:r>
              <a:rPr lang="en-US" altLang="zh-TW" sz="2400" i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CMSA</a:t>
            </a:r>
            <a:r>
              <a:rPr lang="en-US" altLang="zh-TW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) problem. Our </a:t>
            </a:r>
            <a:r>
              <a:rPr lang="en-US" altLang="zh-TW" sz="2400" i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CPSA </a:t>
            </a:r>
            <a:r>
              <a:rPr lang="en-US" altLang="zh-TW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algorithm also improves the space requirement</a:t>
            </a:r>
          </a:p>
          <a:p>
            <a:pPr marL="0" indent="0" algn="just">
              <a:buNone/>
            </a:pPr>
            <a:r>
              <a:rPr lang="en-US" altLang="zh-TW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of progressive </a:t>
            </a:r>
            <a:r>
              <a:rPr lang="en-US" altLang="zh-TW" sz="2400" i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CMSA </a:t>
            </a:r>
            <a:r>
              <a:rPr lang="en-US" altLang="zh-TW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algorithms that use solutions of </a:t>
            </a:r>
            <a:r>
              <a:rPr lang="en-US" altLang="zh-TW" sz="2400" i="1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CPSA </a:t>
            </a:r>
            <a:r>
              <a:rPr lang="en-US" altLang="zh-TW" sz="2400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problems</a:t>
            </a:r>
            <a:r>
              <a:rPr lang="en-US" altLang="zh-TW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.</a:t>
            </a:r>
            <a:endParaRPr lang="zh-TW" altLang="en-US" sz="24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4" name="投影片編號版面配置區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1F13E5F-D7DA-4F3E-9AD0-348A1096F1D4}" type="slidenum">
              <a:rPr lang="zh-TW" altLang="en-US" smtClean="0"/>
              <a:t>3</a:t>
            </a:fld>
            <a:endParaRPr lang="zh-TW" altLang="en-US"/>
          </a:p>
        </p:txBody>
      </p:sp>
    </p:spTree>
    <p:extLst>
      <p:ext uri="{BB962C8B-B14F-4D97-AF65-F5344CB8AC3E}">
        <p14:creationId xmlns:p14="http://schemas.microsoft.com/office/powerpoint/2010/main" val="3953575094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標題 1"/>
          <p:cNvSpPr>
            <a:spLocks noGrp="1"/>
          </p:cNvSpPr>
          <p:nvPr>
            <p:ph type="title"/>
          </p:nvPr>
        </p:nvSpPr>
        <p:spPr>
          <a:xfrm>
            <a:off x="539552" y="0"/>
            <a:ext cx="8229600" cy="1143000"/>
          </a:xfrm>
        </p:spPr>
        <p:txBody>
          <a:bodyPr>
            <a:normAutofit/>
          </a:bodyPr>
          <a:lstStyle/>
          <a:p>
            <a:r>
              <a:rPr lang="en-US" altLang="zh-TW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Pairwise Sequence Alignment(PSA)</a:t>
            </a:r>
            <a:endParaRPr lang="zh-TW" altLang="en-US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2" name="投影片編號版面配置區 1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1F13E5F-D7DA-4F3E-9AD0-348A1096F1D4}" type="slidenum">
              <a:rPr lang="zh-TW" altLang="en-US" smtClean="0"/>
              <a:t>4</a:t>
            </a:fld>
            <a:endParaRPr lang="zh-TW" altLang="en-US"/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7" name="文字方塊 6"/>
              <p:cNvSpPr txBox="1"/>
              <p:nvPr/>
            </p:nvSpPr>
            <p:spPr>
              <a:xfrm>
                <a:off x="467545" y="1340768"/>
                <a:ext cx="8568952" cy="3693319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r>
                  <a:rPr lang="en-US" altLang="zh-TW" dirty="0" smtClean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Given two sequences </a:t>
                </a:r>
                <a:r>
                  <a:rPr lang="en-US" altLang="zh-TW" i="1" dirty="0" smtClean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S</a:t>
                </a:r>
                <a:r>
                  <a:rPr lang="en-US" altLang="zh-TW" baseline="-25000" dirty="0" smtClean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1</a:t>
                </a:r>
                <a:r>
                  <a:rPr lang="en-US" altLang="zh-TW" dirty="0" smtClean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, </a:t>
                </a:r>
                <a:r>
                  <a:rPr lang="en-US" altLang="zh-TW" i="1" dirty="0" smtClean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S</a:t>
                </a:r>
                <a:r>
                  <a:rPr lang="en-US" altLang="zh-TW" baseline="-25000" dirty="0" smtClean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2</a:t>
                </a:r>
                <a:r>
                  <a:rPr lang="en-US" altLang="zh-TW" dirty="0" smtClean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 with lengths </a:t>
                </a:r>
                <a14:m>
                  <m:oMath xmlns:m="http://schemas.openxmlformats.org/officeDocument/2006/math">
                    <m:r>
                      <a:rPr lang="en-US" altLang="zh-TW" i="1" dirty="0" smtClean="0">
                        <a:latin typeface="Cambria Math" panose="02040503050406030204" pitchFamily="18" charset="0"/>
                        <a:cs typeface="Times New Roman" panose="02020603050405020304" pitchFamily="18" charset="0"/>
                      </a:rPr>
                      <m:t>𝑛</m:t>
                    </m:r>
                    <m:r>
                      <a:rPr lang="en-US" altLang="zh-TW" i="1" dirty="0" smtClean="0">
                        <a:latin typeface="Cambria Math" panose="02040503050406030204" pitchFamily="18" charset="0"/>
                        <a:cs typeface="Times New Roman" panose="02020603050405020304" pitchFamily="18" charset="0"/>
                      </a:rPr>
                      <m:t> ≤ </m:t>
                    </m:r>
                    <m:r>
                      <a:rPr lang="en-US" altLang="zh-TW" i="1" dirty="0" smtClean="0">
                        <a:latin typeface="Cambria Math" panose="02040503050406030204" pitchFamily="18" charset="0"/>
                        <a:cs typeface="Times New Roman" panose="02020603050405020304" pitchFamily="18" charset="0"/>
                      </a:rPr>
                      <m:t>𝑚</m:t>
                    </m:r>
                    <m:r>
                      <a:rPr lang="en-US" altLang="zh-TW" b="0" i="0" dirty="0" smtClean="0">
                        <a:latin typeface="Cambria Math" panose="02040503050406030204" pitchFamily="18" charset="0"/>
                        <a:cs typeface="Times New Roman" panose="02020603050405020304" pitchFamily="18" charset="0"/>
                      </a:rPr>
                      <m:t>,</m:t>
                    </m:r>
                  </m:oMath>
                </a14:m>
                <a:r>
                  <a:rPr lang="zh-TW" altLang="en-US" dirty="0" smtClean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 </a:t>
                </a:r>
                <a:r>
                  <a:rPr lang="en-US" altLang="zh-TW" dirty="0" smtClean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respectively, the </a:t>
                </a:r>
                <a14:m>
                  <m:oMath xmlns:m="http://schemas.openxmlformats.org/officeDocument/2006/math">
                    <m:r>
                      <a:rPr lang="en-US" altLang="zh-TW" b="0" i="1" smtClean="0">
                        <a:latin typeface="Cambria Math" panose="02040503050406030204" pitchFamily="18" charset="0"/>
                        <a:cs typeface="Times New Roman" panose="02020603050405020304" pitchFamily="18" charset="0"/>
                      </a:rPr>
                      <m:t>𝑝𝑎𝑖𝑟𝑤𝑖𝑠𝑒</m:t>
                    </m:r>
                    <m:r>
                      <a:rPr lang="en-US" altLang="zh-TW" b="0" i="1" smtClean="0">
                        <a:latin typeface="Cambria Math" panose="02040503050406030204" pitchFamily="18" charset="0"/>
                        <a:cs typeface="Times New Roman" panose="02020603050405020304" pitchFamily="18" charset="0"/>
                      </a:rPr>
                      <m:t> </m:t>
                    </m:r>
                    <m:r>
                      <a:rPr lang="en-US" altLang="zh-TW" b="0" i="1" smtClean="0">
                        <a:latin typeface="Cambria Math" panose="02040503050406030204" pitchFamily="18" charset="0"/>
                        <a:cs typeface="Times New Roman" panose="02020603050405020304" pitchFamily="18" charset="0"/>
                      </a:rPr>
                      <m:t>𝑠𝑒𝑞𝑢𝑒𝑛𝑐𝑒</m:t>
                    </m:r>
                    <m:r>
                      <a:rPr lang="en-US" altLang="zh-TW" b="0" i="1" smtClean="0">
                        <a:latin typeface="Cambria Math" panose="02040503050406030204" pitchFamily="18" charset="0"/>
                        <a:cs typeface="Times New Roman" panose="02020603050405020304" pitchFamily="18" charset="0"/>
                      </a:rPr>
                      <m:t> </m:t>
                    </m:r>
                    <m:r>
                      <a:rPr lang="en-US" altLang="zh-TW" b="0" i="1" smtClean="0">
                        <a:latin typeface="Cambria Math" panose="02040503050406030204" pitchFamily="18" charset="0"/>
                        <a:cs typeface="Times New Roman" panose="02020603050405020304" pitchFamily="18" charset="0"/>
                      </a:rPr>
                      <m:t>𝑎𝑙𝑖𝑔𝑛𝑚𝑒𝑛𝑡</m:t>
                    </m:r>
                  </m:oMath>
                </a14:m>
                <a:r>
                  <a:rPr lang="zh-TW" altLang="en-US" dirty="0" smtClean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 </a:t>
                </a:r>
                <a:r>
                  <a:rPr lang="en-US" altLang="zh-TW" dirty="0" smtClean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(PSA) problem is to find the optimum alignment score for these two sequences. The problem can be solved according to the following recurrence:</a:t>
                </a:r>
              </a:p>
              <a:p>
                <a:endParaRPr lang="en-US" altLang="zh-TW" dirty="0" smtClean="0">
                  <a:latin typeface="Times New Roman" panose="02020603050405020304" pitchFamily="18" charset="0"/>
                  <a:cs typeface="Times New Roman" panose="02020603050405020304" pitchFamily="18" charset="0"/>
                </a:endParaRPr>
              </a:p>
              <a:p>
                <a:endParaRPr lang="en-US" altLang="zh-TW" dirty="0">
                  <a:latin typeface="Times New Roman" panose="02020603050405020304" pitchFamily="18" charset="0"/>
                  <a:cs typeface="Times New Roman" panose="02020603050405020304" pitchFamily="18" charset="0"/>
                </a:endParaRPr>
              </a:p>
              <a:p>
                <a:endParaRPr lang="en-US" altLang="zh-TW" dirty="0" smtClean="0">
                  <a:latin typeface="Times New Roman" panose="02020603050405020304" pitchFamily="18" charset="0"/>
                  <a:cs typeface="Times New Roman" panose="02020603050405020304" pitchFamily="18" charset="0"/>
                </a:endParaRPr>
              </a:p>
              <a:p>
                <a:endParaRPr lang="en-US" altLang="zh-TW" dirty="0">
                  <a:latin typeface="Times New Roman" panose="02020603050405020304" pitchFamily="18" charset="0"/>
                  <a:cs typeface="Times New Roman" panose="02020603050405020304" pitchFamily="18" charset="0"/>
                </a:endParaRPr>
              </a:p>
              <a:p>
                <a:endParaRPr lang="en-US" altLang="zh-TW" dirty="0" smtClean="0">
                  <a:latin typeface="Times New Roman" panose="02020603050405020304" pitchFamily="18" charset="0"/>
                  <a:cs typeface="Times New Roman" panose="02020603050405020304" pitchFamily="18" charset="0"/>
                </a:endParaRPr>
              </a:p>
              <a:p>
                <a:endParaRPr lang="en-US" altLang="zh-TW" dirty="0">
                  <a:latin typeface="Times New Roman" panose="02020603050405020304" pitchFamily="18" charset="0"/>
                  <a:cs typeface="Times New Roman" panose="02020603050405020304" pitchFamily="18" charset="0"/>
                </a:endParaRPr>
              </a:p>
              <a:p>
                <a:endParaRPr lang="en-US" altLang="zh-TW" dirty="0" smtClean="0">
                  <a:latin typeface="Times New Roman" panose="02020603050405020304" pitchFamily="18" charset="0"/>
                  <a:cs typeface="Times New Roman" panose="02020603050405020304" pitchFamily="18" charset="0"/>
                </a:endParaRPr>
              </a:p>
              <a:p>
                <a:r>
                  <a:rPr lang="en-US" altLang="zh-TW" b="0" dirty="0" smtClean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It requires</a:t>
                </a:r>
                <a:r>
                  <a:rPr lang="en-US" altLang="zh-TW" b="0" dirty="0" smtClean="0">
                    <a:cs typeface="Times New Roman" panose="02020603050405020304" pitchFamily="18" charset="0"/>
                  </a:rPr>
                  <a:t> </a:t>
                </a:r>
                <a14:m>
                  <m:oMath xmlns:m="http://schemas.openxmlformats.org/officeDocument/2006/math">
                    <m:r>
                      <a:rPr lang="en-US" altLang="zh-TW" b="0" i="1" smtClean="0">
                        <a:latin typeface="Cambria Math" panose="02040503050406030204" pitchFamily="18" charset="0"/>
                        <a:cs typeface="Times New Roman" panose="02020603050405020304" pitchFamily="18" charset="0"/>
                      </a:rPr>
                      <m:t>𝑂</m:t>
                    </m:r>
                    <m:d>
                      <m:dPr>
                        <m:ctrlPr>
                          <a:rPr lang="en-US" altLang="zh-TW" b="0" i="1" smtClean="0">
                            <a:latin typeface="Cambria Math" panose="02040503050406030204" pitchFamily="18" charset="0"/>
                            <a:cs typeface="Times New Roman" panose="02020603050405020304" pitchFamily="18" charset="0"/>
                          </a:rPr>
                        </m:ctrlPr>
                      </m:dPr>
                      <m:e>
                        <m:r>
                          <a:rPr lang="en-US" altLang="zh-TW" b="0" i="1" smtClean="0">
                            <a:latin typeface="Cambria Math" panose="02040503050406030204" pitchFamily="18" charset="0"/>
                            <a:cs typeface="Times New Roman" panose="02020603050405020304" pitchFamily="18" charset="0"/>
                          </a:rPr>
                          <m:t>𝑛𝑚</m:t>
                        </m:r>
                      </m:e>
                    </m:d>
                  </m:oMath>
                </a14:m>
                <a:r>
                  <a:rPr lang="zh-TW" altLang="en-US" dirty="0" smtClean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 </a:t>
                </a:r>
                <a:r>
                  <a:rPr lang="en-US" altLang="zh-TW" dirty="0" smtClean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time and </a:t>
                </a:r>
                <a14:m>
                  <m:oMath xmlns:m="http://schemas.openxmlformats.org/officeDocument/2006/math">
                    <m:r>
                      <a:rPr lang="en-US" altLang="zh-TW" b="0" i="1" smtClean="0">
                        <a:latin typeface="Cambria Math" panose="02040503050406030204" pitchFamily="18" charset="0"/>
                        <a:cs typeface="Times New Roman" panose="02020603050405020304" pitchFamily="18" charset="0"/>
                      </a:rPr>
                      <m:t>𝑂</m:t>
                    </m:r>
                    <m:r>
                      <a:rPr lang="en-US" altLang="zh-TW" b="0" i="1" smtClean="0">
                        <a:latin typeface="Cambria Math" panose="02040503050406030204" pitchFamily="18" charset="0"/>
                        <a:cs typeface="Times New Roman" panose="02020603050405020304" pitchFamily="18" charset="0"/>
                      </a:rPr>
                      <m:t>(</m:t>
                    </m:r>
                    <m:r>
                      <a:rPr lang="en-US" altLang="zh-TW" b="0" i="1" smtClean="0">
                        <a:latin typeface="Cambria Math" panose="02040503050406030204" pitchFamily="18" charset="0"/>
                        <a:cs typeface="Times New Roman" panose="02020603050405020304" pitchFamily="18" charset="0"/>
                      </a:rPr>
                      <m:t>𝑛</m:t>
                    </m:r>
                    <m:r>
                      <a:rPr lang="en-US" altLang="zh-TW" b="0" i="1" smtClean="0">
                        <a:latin typeface="Cambria Math" panose="02040503050406030204" pitchFamily="18" charset="0"/>
                        <a:cs typeface="Times New Roman" panose="02020603050405020304" pitchFamily="18" charset="0"/>
                      </a:rPr>
                      <m:t>)</m:t>
                    </m:r>
                  </m:oMath>
                </a14:m>
                <a:r>
                  <a:rPr lang="zh-TW" altLang="en-US" dirty="0" smtClean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 </a:t>
                </a:r>
                <a:r>
                  <a:rPr lang="en-US" altLang="zh-TW" dirty="0" smtClean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space since at one time we only need to record the current row, the preceding row, and after every iterations the current row is moved onto the preceding row.</a:t>
                </a:r>
                <a:endParaRPr lang="zh-TW" altLang="en-US" dirty="0">
                  <a:latin typeface="Times New Roman" panose="02020603050405020304" pitchFamily="18" charset="0"/>
                  <a:cs typeface="Times New Roman" panose="02020603050405020304" pitchFamily="18" charset="0"/>
                </a:endParaRPr>
              </a:p>
            </p:txBody>
          </p:sp>
        </mc:Choice>
        <mc:Fallback xmlns="">
          <p:sp>
            <p:nvSpPr>
              <p:cNvPr id="7" name="文字方塊 6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467545" y="1340768"/>
                <a:ext cx="8568952" cy="3693319"/>
              </a:xfrm>
              <a:prstGeom prst="rect">
                <a:avLst/>
              </a:prstGeom>
              <a:blipFill rotWithShape="0">
                <a:blip r:embed="rId2"/>
                <a:stretch>
                  <a:fillRect l="-641" t="-990" r="-641" b="-1650"/>
                </a:stretch>
              </a:blipFill>
            </p:spPr>
            <p:txBody>
              <a:bodyPr/>
              <a:lstStyle/>
              <a:p>
                <a:r>
                  <a:rPr lang="zh-TW" altLang="en-US">
                    <a:noFill/>
                  </a:rPr>
                  <a:t> </a:t>
                </a:r>
              </a:p>
            </p:txBody>
          </p:sp>
        </mc:Fallback>
      </mc:AlternateContent>
      <p:pic>
        <p:nvPicPr>
          <p:cNvPr id="9" name="圖片 8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67053" y="2420888"/>
            <a:ext cx="8137395" cy="1584581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356605411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/>
          <p:cNvSpPr>
            <a:spLocks noGrp="1"/>
          </p:cNvSpPr>
          <p:nvPr>
            <p:ph type="title"/>
          </p:nvPr>
        </p:nvSpPr>
        <p:spPr/>
        <p:txBody>
          <a:bodyPr>
            <a:noAutofit/>
          </a:bodyPr>
          <a:lstStyle/>
          <a:p>
            <a:r>
              <a:rPr lang="en-US" altLang="zh-TW" sz="3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Hirschberg’s Optimal S</a:t>
            </a:r>
            <a:r>
              <a:rPr lang="en-US" altLang="zh-TW" sz="3200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olution of </a:t>
            </a:r>
            <a:r>
              <a:rPr lang="en-US" altLang="zh-TW" sz="3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PSA</a:t>
            </a:r>
            <a:endParaRPr lang="zh-TW" altLang="en-US" sz="32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4" name="投影片編號版面配置區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1F13E5F-D7DA-4F3E-9AD0-348A1096F1D4}" type="slidenum">
              <a:rPr lang="zh-TW" altLang="en-US" smtClean="0"/>
              <a:t>5</a:t>
            </a:fld>
            <a:endParaRPr lang="zh-TW" altLang="en-US"/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3" name="內容版面配置區 2"/>
              <p:cNvSpPr>
                <a:spLocks noGrp="1"/>
              </p:cNvSpPr>
              <p:nvPr>
                <p:ph idx="1"/>
              </p:nvPr>
            </p:nvSpPr>
            <p:spPr>
              <a:xfrm>
                <a:off x="457200" y="1600200"/>
                <a:ext cx="8579296" cy="5121275"/>
              </a:xfrm>
            </p:spPr>
            <p:txBody>
              <a:bodyPr>
                <a:normAutofit/>
              </a:bodyPr>
              <a:lstStyle/>
              <a:p>
                <a:pPr marL="0" indent="0">
                  <a:buNone/>
                </a:pPr>
                <a:r>
                  <a:rPr lang="en-US" altLang="zh-TW" sz="2400" dirty="0" smtClean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Solving the PSA problem in </a:t>
                </a:r>
                <a14:m>
                  <m:oMath xmlns:m="http://schemas.openxmlformats.org/officeDocument/2006/math">
                    <m:r>
                      <a:rPr lang="en-US" altLang="zh-TW" sz="2400" b="0" i="1" smtClean="0">
                        <a:latin typeface="Cambria Math" panose="02040503050406030204" pitchFamily="18" charset="0"/>
                        <a:cs typeface="Times New Roman" panose="02020603050405020304" pitchFamily="18" charset="0"/>
                      </a:rPr>
                      <m:t>𝑂</m:t>
                    </m:r>
                    <m:r>
                      <a:rPr lang="en-US" altLang="zh-TW" sz="2400" b="0" i="1" smtClean="0">
                        <a:latin typeface="Cambria Math" panose="02040503050406030204" pitchFamily="18" charset="0"/>
                        <a:cs typeface="Times New Roman" panose="02020603050405020304" pitchFamily="18" charset="0"/>
                      </a:rPr>
                      <m:t>(</m:t>
                    </m:r>
                    <m:r>
                      <a:rPr lang="en-US" altLang="zh-TW" sz="2400" b="0" i="1" smtClean="0">
                        <a:latin typeface="Cambria Math" panose="02040503050406030204" pitchFamily="18" charset="0"/>
                        <a:cs typeface="Times New Roman" panose="02020603050405020304" pitchFamily="18" charset="0"/>
                      </a:rPr>
                      <m:t>𝑛</m:t>
                    </m:r>
                    <m:r>
                      <a:rPr lang="en-US" altLang="zh-TW" sz="2400" b="0" i="1" smtClean="0">
                        <a:latin typeface="Cambria Math" panose="02040503050406030204" pitchFamily="18" charset="0"/>
                        <a:cs typeface="Times New Roman" panose="02020603050405020304" pitchFamily="18" charset="0"/>
                      </a:rPr>
                      <m:t>)</m:t>
                    </m:r>
                  </m:oMath>
                </a14:m>
                <a:r>
                  <a:rPr lang="zh-TW" altLang="en-US" sz="2400" dirty="0" smtClean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 </a:t>
                </a:r>
                <a:r>
                  <a:rPr lang="en-US" altLang="zh-TW" sz="2400" dirty="0" smtClean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space by binary-recursion.</a:t>
                </a:r>
              </a:p>
              <a:p>
                <a:pPr marL="0" indent="0">
                  <a:buNone/>
                </a:pPr>
                <a:r>
                  <a:rPr lang="en-US" altLang="zh-TW" sz="2400" dirty="0" smtClean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Computing mid-point of an optimal alignment along one string whose length is </a:t>
                </a:r>
                <a14:m>
                  <m:oMath xmlns:m="http://schemas.openxmlformats.org/officeDocument/2006/math">
                    <m:r>
                      <a:rPr lang="en-US" altLang="zh-TW" sz="2400" b="0" i="1" smtClean="0">
                        <a:latin typeface="Cambria Math" panose="02040503050406030204" pitchFamily="18" charset="0"/>
                        <a:cs typeface="Times New Roman" panose="02020603050405020304" pitchFamily="18" charset="0"/>
                      </a:rPr>
                      <m:t>𝑚</m:t>
                    </m:r>
                  </m:oMath>
                </a14:m>
                <a:r>
                  <a:rPr lang="en-US" altLang="zh-TW" sz="2400" dirty="0" smtClean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, and </a:t>
                </a:r>
                <a:r>
                  <a:rPr lang="en-US" altLang="zh-TW" sz="2400" dirty="0" err="1" smtClean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recursing</a:t>
                </a:r>
                <a:r>
                  <a:rPr lang="en-US" altLang="zh-TW" sz="2400" dirty="0" smtClean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 on the two halves.</a:t>
                </a:r>
              </a:p>
              <a:p>
                <a:pPr marL="0" indent="0">
                  <a:buNone/>
                </a:pPr>
                <a:r>
                  <a:rPr lang="en-US" altLang="zh-TW" sz="2400" dirty="0" smtClean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Obtaining an optimal alignment by merging the series of mid-points.</a:t>
                </a:r>
                <a:endParaRPr lang="zh-TW" altLang="en-US" sz="2400" dirty="0">
                  <a:latin typeface="Times New Roman" panose="02020603050405020304" pitchFamily="18" charset="0"/>
                  <a:cs typeface="Times New Roman" panose="02020603050405020304" pitchFamily="18" charset="0"/>
                </a:endParaRPr>
              </a:p>
            </p:txBody>
          </p:sp>
        </mc:Choice>
        <mc:Fallback xmlns="">
          <p:sp>
            <p:nvSpPr>
              <p:cNvPr id="3" name="內容版面配置區 2"/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idx="1"/>
              </p:nvPr>
            </p:nvSpPr>
            <p:spPr>
              <a:xfrm>
                <a:off x="457200" y="1600200"/>
                <a:ext cx="8579296" cy="5121275"/>
              </a:xfrm>
              <a:blipFill rotWithShape="0">
                <a:blip r:embed="rId2"/>
                <a:stretch>
                  <a:fillRect l="-1066" t="-952" r="-426"/>
                </a:stretch>
              </a:blipFill>
            </p:spPr>
            <p:txBody>
              <a:bodyPr/>
              <a:lstStyle/>
              <a:p>
                <a:r>
                  <a:rPr lang="zh-TW" altLang="en-US">
                    <a:noFill/>
                  </a:rPr>
                  <a:t> </a:t>
                </a:r>
              </a:p>
            </p:txBody>
          </p:sp>
        </mc:Fallback>
      </mc:AlternateContent>
      <p:pic>
        <p:nvPicPr>
          <p:cNvPr id="7" name="圖片 6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628155" y="3299785"/>
            <a:ext cx="6237386" cy="3435253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770181848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/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r>
              <a:rPr lang="en-US" altLang="zh-TW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DP formulation of Chin et al. for CPSA Problem</a:t>
            </a:r>
            <a:endParaRPr lang="zh-TW" altLang="en-US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pic>
        <p:nvPicPr>
          <p:cNvPr id="5" name="內容版面配置區 4"/>
          <p:cNvPicPr>
            <a:picLocks noGrp="1" noChangeAspect="1"/>
          </p:cNvPicPr>
          <p:nvPr>
            <p:ph idx="1"/>
          </p:nvPr>
        </p:nvPicPr>
        <p:blipFill>
          <a:blip r:embed="rId2"/>
          <a:stretch>
            <a:fillRect/>
          </a:stretch>
        </p:blipFill>
        <p:spPr>
          <a:xfrm>
            <a:off x="179512" y="1484784"/>
            <a:ext cx="8822211" cy="2016224"/>
          </a:xfrm>
          <a:prstGeom prst="rect">
            <a:avLst/>
          </a:prstGeom>
        </p:spPr>
      </p:pic>
      <p:sp>
        <p:nvSpPr>
          <p:cNvPr id="4" name="投影片編號版面配置區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1F13E5F-D7DA-4F3E-9AD0-348A1096F1D4}" type="slidenum">
              <a:rPr lang="zh-TW" altLang="en-US" smtClean="0"/>
              <a:t>6</a:t>
            </a:fld>
            <a:endParaRPr lang="zh-TW" altLang="en-US"/>
          </a:p>
        </p:txBody>
      </p:sp>
      <p:sp>
        <p:nvSpPr>
          <p:cNvPr id="6" name="文字方塊 5"/>
          <p:cNvSpPr txBox="1"/>
          <p:nvPr/>
        </p:nvSpPr>
        <p:spPr>
          <a:xfrm>
            <a:off x="233617" y="3429000"/>
            <a:ext cx="8948283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zh-TW" dirty="0">
                <a:latin typeface="Times New Roman" panose="02020603050405020304" pitchFamily="18" charset="0"/>
                <a:cs typeface="Times New Roman" panose="02020603050405020304" pitchFamily="18" charset="0"/>
              </a:rPr>
              <a:t>w</a:t>
            </a:r>
            <a:r>
              <a:rPr lang="en-US" altLang="zh-TW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here </a:t>
            </a:r>
            <a:r>
              <a:rPr lang="en-US" altLang="zh-TW" dirty="0" err="1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e</a:t>
            </a:r>
            <a:r>
              <a:rPr lang="en-US" altLang="zh-TW" baseline="-25000" dirty="0" err="1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j</a:t>
            </a:r>
            <a:r>
              <a:rPr lang="en-US" altLang="zh-TW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 = 0 or 1, </a:t>
            </a:r>
            <a:r>
              <a:rPr lang="en-US" altLang="zh-TW" dirty="0" err="1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e</a:t>
            </a:r>
            <a:r>
              <a:rPr lang="en-US" altLang="zh-TW" baseline="-25000" dirty="0" err="1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j</a:t>
            </a:r>
            <a:r>
              <a:rPr lang="en-US" altLang="zh-TW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 * </a:t>
            </a:r>
            <a:r>
              <a:rPr lang="en-US" altLang="zh-TW" dirty="0" err="1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S</a:t>
            </a:r>
            <a:r>
              <a:rPr lang="en-US" altLang="zh-TW" baseline="-25000" dirty="0" err="1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j</a:t>
            </a:r>
            <a:r>
              <a:rPr lang="en-US" altLang="zh-TW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[</a:t>
            </a:r>
            <a:r>
              <a:rPr lang="en-US" altLang="zh-TW" dirty="0" err="1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i</a:t>
            </a:r>
            <a:r>
              <a:rPr lang="en-US" altLang="zh-TW" baseline="-25000" dirty="0" err="1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j</a:t>
            </a:r>
            <a:r>
              <a:rPr lang="en-US" altLang="zh-TW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] with </a:t>
            </a:r>
            <a:r>
              <a:rPr lang="en-US" altLang="zh-TW" dirty="0" err="1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e</a:t>
            </a:r>
            <a:r>
              <a:rPr lang="en-US" altLang="zh-TW" baseline="-25000" dirty="0" err="1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j</a:t>
            </a:r>
            <a:r>
              <a:rPr lang="en-US" altLang="zh-TW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 = 0 represents a space character ‘-’, and </a:t>
            </a:r>
            <a:r>
              <a:rPr lang="en-US" altLang="zh-TW" dirty="0" err="1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S</a:t>
            </a:r>
            <a:r>
              <a:rPr lang="en-US" altLang="zh-TW" baseline="-25000" dirty="0" err="1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j</a:t>
            </a:r>
            <a:r>
              <a:rPr lang="en-US" altLang="zh-TW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[</a:t>
            </a:r>
            <a:r>
              <a:rPr lang="en-US" altLang="zh-TW" dirty="0" err="1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i</a:t>
            </a:r>
            <a:r>
              <a:rPr lang="en-US" altLang="zh-TW" baseline="-25000" dirty="0" err="1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j</a:t>
            </a:r>
            <a:r>
              <a:rPr lang="en-US" altLang="zh-TW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] when </a:t>
            </a:r>
            <a:r>
              <a:rPr lang="en-US" altLang="zh-TW" dirty="0" err="1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e</a:t>
            </a:r>
            <a:r>
              <a:rPr lang="en-US" altLang="zh-TW" baseline="-25000" dirty="0" err="1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j</a:t>
            </a:r>
            <a:r>
              <a:rPr lang="en-US" altLang="zh-TW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 = 1.</a:t>
            </a:r>
            <a:endParaRPr lang="zh-TW" altLang="en-US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pic>
        <p:nvPicPr>
          <p:cNvPr id="7" name="圖片 6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619672" y="3887560"/>
            <a:ext cx="5506862" cy="297044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824027859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內容版面配置區 1"/>
          <p:cNvPicPr>
            <a:picLocks noGrp="1" noChangeAspect="1"/>
          </p:cNvPicPr>
          <p:nvPr>
            <p:ph idx="1"/>
          </p:nvPr>
        </p:nvPicPr>
        <p:blipFill>
          <a:blip r:embed="rId2"/>
          <a:stretch>
            <a:fillRect/>
          </a:stretch>
        </p:blipFill>
        <p:spPr>
          <a:xfrm>
            <a:off x="0" y="1452669"/>
            <a:ext cx="9144000" cy="3926871"/>
          </a:xfrm>
          <a:prstGeom prst="rect">
            <a:avLst/>
          </a:prstGeom>
        </p:spPr>
      </p:pic>
      <p:sp>
        <p:nvSpPr>
          <p:cNvPr id="6" name="標題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</p:spPr>
        <p:txBody>
          <a:bodyPr>
            <a:normAutofit/>
          </a:bodyPr>
          <a:lstStyle/>
          <a:p>
            <a:r>
              <a:rPr lang="en-US" altLang="zh-TW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CPSA-DC Algorithm</a:t>
            </a:r>
            <a:endParaRPr lang="zh-TW" altLang="en-US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2959666254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內容版面配置區 2"/>
          <p:cNvSpPr>
            <a:spLocks noGrp="1"/>
          </p:cNvSpPr>
          <p:nvPr>
            <p:ph idx="1"/>
          </p:nvPr>
        </p:nvSpPr>
        <p:spPr>
          <a:xfrm>
            <a:off x="0" y="1417638"/>
            <a:ext cx="9144000" cy="5440362"/>
          </a:xfrm>
        </p:spPr>
        <p:txBody>
          <a:bodyPr/>
          <a:lstStyle/>
          <a:p>
            <a:pPr marL="0" indent="0">
              <a:buNone/>
            </a:pPr>
            <a:endParaRPr lang="en-US" altLang="zh-TW" sz="2400" dirty="0" smtClean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0" indent="0">
              <a:buNone/>
            </a:pPr>
            <a:r>
              <a:rPr lang="en-US" altLang="zh-TW" sz="2400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Divide-and-conquer approach in a layer-by-layer manner and linear-space algorithm on each layer.</a:t>
            </a:r>
          </a:p>
          <a:p>
            <a:pPr marL="0" indent="0">
              <a:buNone/>
            </a:pPr>
            <a:r>
              <a:rPr lang="en-US" altLang="zh-TW" sz="2400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1. Precomputing all of the candidate entry and exit vertices(entry vertex set and exit vertex set).</a:t>
            </a:r>
          </a:p>
          <a:p>
            <a:pPr marL="0" indent="0">
              <a:buNone/>
            </a:pPr>
            <a:r>
              <a:rPr lang="en-US" altLang="zh-TW" sz="2400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2. Using the divide-and-conquer approach.</a:t>
            </a:r>
          </a:p>
          <a:p>
            <a:pPr marL="0" indent="0">
              <a:buNone/>
            </a:pPr>
            <a:r>
              <a:rPr lang="en-US" altLang="zh-TW" sz="2400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3. Concatenating the series of mid-points to get the optimal solution.</a:t>
            </a:r>
            <a:endParaRPr lang="zh-TW" altLang="en-US" sz="24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4" name="投影片編號版面配置區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1F13E5F-D7DA-4F3E-9AD0-348A1096F1D4}" type="slidenum">
              <a:rPr lang="zh-TW" altLang="en-US" smtClean="0"/>
              <a:t>8</a:t>
            </a:fld>
            <a:endParaRPr lang="zh-TW" altLang="en-US"/>
          </a:p>
        </p:txBody>
      </p:sp>
      <p:sp>
        <p:nvSpPr>
          <p:cNvPr id="5" name="標題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</p:spPr>
        <p:txBody>
          <a:bodyPr>
            <a:normAutofit/>
          </a:bodyPr>
          <a:lstStyle/>
          <a:p>
            <a:r>
              <a:rPr lang="en-US" altLang="zh-TW" dirty="0">
                <a:latin typeface="Times New Roman" panose="02020603050405020304" pitchFamily="18" charset="0"/>
                <a:cs typeface="Times New Roman" panose="02020603050405020304" pitchFamily="18" charset="0"/>
              </a:rPr>
              <a:t>Algorithm </a:t>
            </a:r>
            <a:r>
              <a:rPr lang="en-US" altLang="zh-TW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of Layer-DC</a:t>
            </a:r>
            <a:endParaRPr lang="zh-TW" altLang="en-US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2734002454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投影片編號版面配置區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1F13E5F-D7DA-4F3E-9AD0-348A1096F1D4}" type="slidenum">
              <a:rPr lang="zh-TW" altLang="en-US" smtClean="0"/>
              <a:t>9</a:t>
            </a:fld>
            <a:endParaRPr lang="zh-TW" altLang="en-US"/>
          </a:p>
        </p:txBody>
      </p:sp>
      <p:sp>
        <p:nvSpPr>
          <p:cNvPr id="7" name="內容版面配置區 6"/>
          <p:cNvSpPr>
            <a:spLocks noGrp="1"/>
          </p:cNvSpPr>
          <p:nvPr>
            <p:ph idx="1"/>
          </p:nvPr>
        </p:nvSpPr>
        <p:spPr>
          <a:xfrm>
            <a:off x="457200" y="1268759"/>
            <a:ext cx="8229600" cy="5452715"/>
          </a:xfrm>
        </p:spPr>
        <p:txBody>
          <a:bodyPr>
            <a:noAutofit/>
          </a:bodyPr>
          <a:lstStyle/>
          <a:p>
            <a:endParaRPr lang="en-US" altLang="zh-TW" sz="2400" dirty="0" smtClean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endParaRPr lang="en-US" altLang="zh-TW" sz="24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0" indent="0">
              <a:buNone/>
            </a:pPr>
            <a:endParaRPr lang="en-US" altLang="zh-TW" sz="2400" dirty="0" smtClean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0" indent="0">
              <a:buNone/>
            </a:pPr>
            <a:endParaRPr lang="en-US" altLang="zh-TW" sz="24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0" indent="0">
              <a:buNone/>
            </a:pPr>
            <a:endParaRPr lang="en-US" altLang="zh-TW" sz="2400" dirty="0" smtClean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0" indent="0">
              <a:buNone/>
            </a:pPr>
            <a:endParaRPr lang="en-US" altLang="zh-TW" sz="24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0" indent="0">
              <a:buNone/>
            </a:pPr>
            <a:endParaRPr lang="en-US" altLang="zh-TW" sz="2400" dirty="0" smtClean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0" indent="0">
              <a:buNone/>
            </a:pPr>
            <a:endParaRPr lang="en-US" altLang="zh-TW" sz="2400" dirty="0" smtClean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0" indent="0">
              <a:buNone/>
            </a:pPr>
            <a:endParaRPr lang="en-US" altLang="zh-TW" sz="2400" dirty="0" smtClean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0" indent="0">
              <a:buNone/>
            </a:pPr>
            <a:r>
              <a:rPr lang="en-US" altLang="zh-TW" sz="2400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For the CPSA problem with pattern string of length 3, a global shortest path passing through entry and exit vertices, and connecting sub-paths on each layer.</a:t>
            </a:r>
            <a:endParaRPr lang="zh-TW" altLang="en-US" sz="24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pic>
        <p:nvPicPr>
          <p:cNvPr id="9" name="圖片 8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303197" y="188640"/>
            <a:ext cx="6537605" cy="5104804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961800219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zh-TW" altLang="en-US"/>
          </a:p>
        </p:txBody>
      </p:sp>
      <p:sp>
        <p:nvSpPr>
          <p:cNvPr id="4" name="投影片編號版面配置區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1F13E5F-D7DA-4F3E-9AD0-348A1096F1D4}" type="slidenum">
              <a:rPr lang="zh-TW" altLang="en-US" smtClean="0"/>
              <a:t>10</a:t>
            </a:fld>
            <a:endParaRPr lang="zh-TW" altLang="en-US"/>
          </a:p>
        </p:txBody>
      </p:sp>
      <p:pic>
        <p:nvPicPr>
          <p:cNvPr id="5" name="圖片 4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31189" y="188640"/>
            <a:ext cx="8481622" cy="547260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214309959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/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r>
              <a:rPr lang="en-US" altLang="zh-TW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Space Requirement of Algorithm Layer-DC</a:t>
            </a:r>
            <a:endParaRPr lang="zh-TW" altLang="en-US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3" name="內容版面配置區 2"/>
              <p:cNvSpPr>
                <a:spLocks noGrp="1"/>
              </p:cNvSpPr>
              <p:nvPr>
                <p:ph idx="1"/>
              </p:nvPr>
            </p:nvSpPr>
            <p:spPr/>
            <p:txBody>
              <a:bodyPr>
                <a:normAutofit/>
              </a:bodyPr>
              <a:lstStyle/>
              <a:p>
                <a:pPr marL="0" indent="0">
                  <a:buNone/>
                </a:pPr>
                <a:r>
                  <a:rPr lang="en-US" altLang="zh-TW" dirty="0" smtClean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Using first 4</a:t>
                </a:r>
                <a14:m>
                  <m:oMath xmlns:m="http://schemas.openxmlformats.org/officeDocument/2006/math">
                    <m:r>
                      <a:rPr lang="en-US" altLang="zh-TW" i="1" dirty="0" smtClean="0">
                        <a:latin typeface="Cambria Math" panose="02040503050406030204" pitchFamily="18" charset="0"/>
                      </a:rPr>
                      <m:t>𝑅𝑁</m:t>
                    </m:r>
                  </m:oMath>
                </a14:m>
                <a:r>
                  <a:rPr lang="en-US" altLang="zh-TW" dirty="0" smtClean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ase sequences with the pattern strings </a:t>
                </a:r>
                <a14:m>
                  <m:oMath xmlns:m="http://schemas.openxmlformats.org/officeDocument/2006/math">
                    <m:r>
                      <a:rPr lang="en-US" altLang="zh-TW" b="0" i="1" smtClean="0">
                        <a:latin typeface="Cambria Math" panose="02040503050406030204" pitchFamily="18" charset="0"/>
                        <a:cs typeface="Times New Roman" panose="02020603050405020304" pitchFamily="18" charset="0"/>
                      </a:rPr>
                      <m:t>𝐻𝐾𝑆𝐻</m:t>
                    </m:r>
                  </m:oMath>
                </a14:m>
                <a:r>
                  <a:rPr lang="zh-TW" altLang="en-US" dirty="0" smtClean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 </a:t>
                </a:r>
                <a:r>
                  <a:rPr lang="en-US" altLang="zh-TW" dirty="0" smtClean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and </a:t>
                </a:r>
                <a14:m>
                  <m:oMath xmlns:m="http://schemas.openxmlformats.org/officeDocument/2006/math">
                    <m:r>
                      <a:rPr lang="en-US" altLang="zh-TW" b="0" i="1" smtClean="0">
                        <a:latin typeface="Cambria Math" panose="02040503050406030204" pitchFamily="18" charset="0"/>
                        <a:cs typeface="Times New Roman" panose="02020603050405020304" pitchFamily="18" charset="0"/>
                      </a:rPr>
                      <m:t>𝐻𝐾𝑆𝑇𝐻</m:t>
                    </m:r>
                  </m:oMath>
                </a14:m>
                <a:r>
                  <a:rPr lang="en-US" altLang="zh-TW" dirty="0" smtClean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, respectively. These 4 sequences are:</a:t>
                </a:r>
              </a:p>
              <a:p>
                <a:pPr marL="0" indent="0">
                  <a:buNone/>
                </a:pPr>
                <a14:m>
                  <m:oMathPara xmlns:m="http://schemas.openxmlformats.org/officeDocument/2006/math">
                    <m:oMathParaPr>
                      <m:jc m:val="left"/>
                    </m:oMathParaPr>
                    <m:oMath xmlns:m="http://schemas.openxmlformats.org/officeDocument/2006/math">
                      <m:r>
                        <a:rPr lang="en-US" altLang="zh-TW" b="0" i="1" smtClean="0">
                          <a:latin typeface="Cambria Math" panose="02040503050406030204" pitchFamily="18" charset="0"/>
                          <a:cs typeface="Times New Roman" panose="02020603050405020304" pitchFamily="18" charset="0"/>
                        </a:rPr>
                        <m:t>  </m:t>
                      </m:r>
                      <m:r>
                        <a:rPr lang="en-US" altLang="zh-TW" b="0" i="1" smtClean="0">
                          <a:latin typeface="Cambria Math" panose="02040503050406030204" pitchFamily="18" charset="0"/>
                          <a:cs typeface="Times New Roman" panose="02020603050405020304" pitchFamily="18" charset="0"/>
                        </a:rPr>
                        <m:t>𝑆𝑒𝑞</m:t>
                      </m:r>
                      <m:r>
                        <a:rPr lang="en-US" altLang="zh-TW" b="0" i="1" smtClean="0">
                          <a:latin typeface="Cambria Math" panose="02040503050406030204" pitchFamily="18" charset="0"/>
                          <a:cs typeface="Times New Roman" panose="02020603050405020304" pitchFamily="18" charset="0"/>
                        </a:rPr>
                        <m:t>1:</m:t>
                      </m:r>
                      <m:r>
                        <a:rPr lang="en-US" altLang="zh-TW" b="0" i="1" smtClean="0">
                          <a:latin typeface="Cambria Math" panose="02040503050406030204" pitchFamily="18" charset="0"/>
                          <a:cs typeface="Times New Roman" panose="02020603050405020304" pitchFamily="18" charset="0"/>
                        </a:rPr>
                        <m:t>𝑔𝑖</m:t>
                      </m:r>
                      <m:d>
                        <m:dPr>
                          <m:begChr m:val="|"/>
                          <m:endChr m:val="|"/>
                          <m:ctrlPr>
                            <a:rPr lang="en-US" altLang="zh-TW" b="0" i="1" smtClean="0">
                              <a:latin typeface="Cambria Math" panose="02040503050406030204" pitchFamily="18" charset="0"/>
                              <a:cs typeface="Times New Roman" panose="02020603050405020304" pitchFamily="18" charset="0"/>
                            </a:rPr>
                          </m:ctrlPr>
                        </m:dPr>
                        <m:e>
                          <m:r>
                            <a:rPr lang="en-US" altLang="zh-TW" b="0" i="1" smtClean="0">
                              <a:latin typeface="Cambria Math" panose="02040503050406030204" pitchFamily="18" charset="0"/>
                              <a:cs typeface="Times New Roman" panose="02020603050405020304" pitchFamily="18" charset="0"/>
                            </a:rPr>
                            <m:t>119124</m:t>
                          </m:r>
                        </m:e>
                      </m:d>
                      <m:r>
                        <a:rPr lang="en-US" altLang="zh-TW" b="0" i="1" smtClean="0">
                          <a:latin typeface="Cambria Math" panose="02040503050406030204" pitchFamily="18" charset="0"/>
                          <a:cs typeface="Times New Roman" panose="02020603050405020304" pitchFamily="18" charset="0"/>
                        </a:rPr>
                        <m:t>𝑠𝑝</m:t>
                      </m:r>
                      <m:d>
                        <m:dPr>
                          <m:begChr m:val="|"/>
                          <m:endChr m:val="|"/>
                          <m:ctrlPr>
                            <a:rPr lang="en-US" altLang="zh-TW" b="0" i="1" smtClean="0">
                              <a:latin typeface="Cambria Math" panose="02040503050406030204" pitchFamily="18" charset="0"/>
                              <a:cs typeface="Times New Roman" panose="02020603050405020304" pitchFamily="18" charset="0"/>
                            </a:rPr>
                          </m:ctrlPr>
                        </m:dPr>
                        <m:e>
                          <m:r>
                            <a:rPr lang="en-US" altLang="zh-TW" b="0" i="1" smtClean="0">
                              <a:latin typeface="Cambria Math" panose="02040503050406030204" pitchFamily="18" charset="0"/>
                              <a:cs typeface="Times New Roman" panose="02020603050405020304" pitchFamily="18" charset="0"/>
                            </a:rPr>
                            <m:t>𝑝</m:t>
                          </m:r>
                          <m:r>
                            <a:rPr lang="en-US" altLang="zh-TW" b="0" i="1" smtClean="0">
                              <a:latin typeface="Cambria Math" panose="02040503050406030204" pitchFamily="18" charset="0"/>
                              <a:cs typeface="Times New Roman" panose="02020603050405020304" pitchFamily="18" charset="0"/>
                            </a:rPr>
                            <m:t>12724</m:t>
                          </m:r>
                        </m:e>
                      </m:d>
                      <m:r>
                        <a:rPr lang="en-US" altLang="zh-TW" b="0" i="1" smtClean="0">
                          <a:latin typeface="Cambria Math" panose="02040503050406030204" pitchFamily="18" charset="0"/>
                          <a:cs typeface="Times New Roman" panose="02020603050405020304" pitchFamily="18" charset="0"/>
                        </a:rPr>
                        <m:t>𝑒𝑐𝑝</m:t>
                      </m:r>
                      <m:r>
                        <a:rPr lang="en-US" altLang="zh-TW" b="0" i="1" smtClean="0">
                          <a:latin typeface="Cambria Math" panose="02040503050406030204" pitchFamily="18" charset="0"/>
                          <a:cs typeface="Times New Roman" panose="02020603050405020304" pitchFamily="18" charset="0"/>
                        </a:rPr>
                        <m:t>_</m:t>
                      </m:r>
                      <m:r>
                        <a:rPr lang="en-US" altLang="zh-TW" b="0" i="1" smtClean="0">
                          <a:latin typeface="Cambria Math" panose="02040503050406030204" pitchFamily="18" charset="0"/>
                          <a:cs typeface="Times New Roman" panose="02020603050405020304" pitchFamily="18" charset="0"/>
                        </a:rPr>
                        <m:t>h𝑢𝑚𝑎𝑛</m:t>
                      </m:r>
                    </m:oMath>
                  </m:oMathPara>
                </a14:m>
                <a:endParaRPr lang="en-US" altLang="zh-TW" b="0" dirty="0" smtClean="0">
                  <a:latin typeface="Times New Roman" panose="02020603050405020304" pitchFamily="18" charset="0"/>
                  <a:cs typeface="Times New Roman" panose="02020603050405020304" pitchFamily="18" charset="0"/>
                </a:endParaRPr>
              </a:p>
              <a:p>
                <a:pPr marL="0" indent="0">
                  <a:buNone/>
                </a:pPr>
                <a14:m>
                  <m:oMathPara xmlns:m="http://schemas.openxmlformats.org/officeDocument/2006/math">
                    <m:oMathParaPr>
                      <m:jc m:val="left"/>
                    </m:oMathParaPr>
                    <m:oMath xmlns:m="http://schemas.openxmlformats.org/officeDocument/2006/math">
                      <m:r>
                        <a:rPr lang="en-US" altLang="zh-TW" b="0" i="1" smtClean="0">
                          <a:latin typeface="Cambria Math" panose="02040503050406030204" pitchFamily="18" charset="0"/>
                          <a:cs typeface="Times New Roman" panose="02020603050405020304" pitchFamily="18" charset="0"/>
                        </a:rPr>
                        <m:t>  </m:t>
                      </m:r>
                      <m:r>
                        <a:rPr lang="en-US" altLang="zh-TW" b="0" i="1" smtClean="0">
                          <a:latin typeface="Cambria Math" panose="02040503050406030204" pitchFamily="18" charset="0"/>
                          <a:cs typeface="Times New Roman" panose="02020603050405020304" pitchFamily="18" charset="0"/>
                        </a:rPr>
                        <m:t>𝑆𝑒𝑞</m:t>
                      </m:r>
                      <m:r>
                        <a:rPr lang="en-US" altLang="zh-TW" b="0" i="1" smtClean="0">
                          <a:latin typeface="Cambria Math" panose="02040503050406030204" pitchFamily="18" charset="0"/>
                          <a:cs typeface="Times New Roman" panose="02020603050405020304" pitchFamily="18" charset="0"/>
                        </a:rPr>
                        <m:t>2:</m:t>
                      </m:r>
                      <m:r>
                        <a:rPr lang="en-US" altLang="zh-TW" b="0" i="1" smtClean="0">
                          <a:latin typeface="Cambria Math" panose="02040503050406030204" pitchFamily="18" charset="0"/>
                          <a:cs typeface="Times New Roman" panose="02020603050405020304" pitchFamily="18" charset="0"/>
                        </a:rPr>
                        <m:t>𝑔𝑖</m:t>
                      </m:r>
                      <m:d>
                        <m:dPr>
                          <m:begChr m:val="|"/>
                          <m:endChr m:val="|"/>
                          <m:ctrlPr>
                            <a:rPr lang="en-US" altLang="zh-TW" b="0" i="1" smtClean="0">
                              <a:latin typeface="Cambria Math" panose="02040503050406030204" pitchFamily="18" charset="0"/>
                              <a:cs typeface="Times New Roman" panose="02020603050405020304" pitchFamily="18" charset="0"/>
                            </a:rPr>
                          </m:ctrlPr>
                        </m:dPr>
                        <m:e>
                          <m:r>
                            <a:rPr lang="en-US" altLang="zh-TW" b="0" i="1" smtClean="0">
                              <a:latin typeface="Cambria Math" panose="02040503050406030204" pitchFamily="18" charset="0"/>
                              <a:cs typeface="Times New Roman" panose="02020603050405020304" pitchFamily="18" charset="0"/>
                            </a:rPr>
                            <m:t>2500564</m:t>
                          </m:r>
                        </m:e>
                      </m:d>
                      <m:r>
                        <a:rPr lang="en-US" altLang="zh-TW" b="0" i="1" smtClean="0">
                          <a:latin typeface="Cambria Math" panose="02040503050406030204" pitchFamily="18" charset="0"/>
                          <a:cs typeface="Times New Roman" panose="02020603050405020304" pitchFamily="18" charset="0"/>
                        </a:rPr>
                        <m:t>𝑠𝑝</m:t>
                      </m:r>
                      <m:d>
                        <m:dPr>
                          <m:begChr m:val="|"/>
                          <m:endChr m:val="|"/>
                          <m:ctrlPr>
                            <a:rPr lang="en-US" altLang="zh-TW" b="0" i="1" smtClean="0">
                              <a:latin typeface="Cambria Math" panose="02040503050406030204" pitchFamily="18" charset="0"/>
                              <a:cs typeface="Times New Roman" panose="02020603050405020304" pitchFamily="18" charset="0"/>
                            </a:rPr>
                          </m:ctrlPr>
                        </m:dPr>
                        <m:e>
                          <m:r>
                            <a:rPr lang="en-US" altLang="zh-TW" b="0" i="1" smtClean="0">
                              <a:latin typeface="Cambria Math" panose="02040503050406030204" pitchFamily="18" charset="0"/>
                              <a:cs typeface="Times New Roman" panose="02020603050405020304" pitchFamily="18" charset="0"/>
                            </a:rPr>
                            <m:t>𝑝</m:t>
                          </m:r>
                          <m:r>
                            <a:rPr lang="en-US" altLang="zh-TW" b="0" i="1" smtClean="0">
                              <a:latin typeface="Cambria Math" panose="02040503050406030204" pitchFamily="18" charset="0"/>
                              <a:cs typeface="Times New Roman" panose="02020603050405020304" pitchFamily="18" charset="0"/>
                            </a:rPr>
                            <m:t>70709</m:t>
                          </m:r>
                        </m:e>
                      </m:d>
                      <m:r>
                        <a:rPr lang="en-US" altLang="zh-TW" b="0" i="1" smtClean="0">
                          <a:latin typeface="Cambria Math" panose="02040503050406030204" pitchFamily="18" charset="0"/>
                          <a:cs typeface="Times New Roman" panose="02020603050405020304" pitchFamily="18" charset="0"/>
                        </a:rPr>
                        <m:t>𝑒𝑐𝑝</m:t>
                      </m:r>
                      <m:r>
                        <a:rPr lang="en-US" altLang="zh-TW" b="0" i="1" smtClean="0">
                          <a:latin typeface="Cambria Math" panose="02040503050406030204" pitchFamily="18" charset="0"/>
                          <a:cs typeface="Times New Roman" panose="02020603050405020304" pitchFamily="18" charset="0"/>
                        </a:rPr>
                        <m:t>_</m:t>
                      </m:r>
                      <m:r>
                        <a:rPr lang="en-US" altLang="zh-TW" b="0" i="1" smtClean="0">
                          <a:latin typeface="Cambria Math" panose="02040503050406030204" pitchFamily="18" charset="0"/>
                          <a:cs typeface="Times New Roman" panose="02020603050405020304" pitchFamily="18" charset="0"/>
                        </a:rPr>
                        <m:t>𝑟𝑎𝑡</m:t>
                      </m:r>
                    </m:oMath>
                  </m:oMathPara>
                </a14:m>
                <a:endParaRPr lang="en-US" altLang="zh-TW" b="0" dirty="0" smtClean="0">
                  <a:latin typeface="Times New Roman" panose="02020603050405020304" pitchFamily="18" charset="0"/>
                  <a:cs typeface="Times New Roman" panose="02020603050405020304" pitchFamily="18" charset="0"/>
                </a:endParaRPr>
              </a:p>
              <a:p>
                <a:pPr marL="0" indent="0">
                  <a:buNone/>
                </a:pPr>
                <a14:m>
                  <m:oMathPara xmlns:m="http://schemas.openxmlformats.org/officeDocument/2006/math">
                    <m:oMathParaPr>
                      <m:jc m:val="left"/>
                    </m:oMathParaPr>
                    <m:oMath xmlns:m="http://schemas.openxmlformats.org/officeDocument/2006/math">
                      <m:r>
                        <a:rPr lang="en-US" altLang="zh-TW" b="0" i="1" smtClean="0">
                          <a:latin typeface="Cambria Math" panose="02040503050406030204" pitchFamily="18" charset="0"/>
                          <a:cs typeface="Times New Roman" panose="02020603050405020304" pitchFamily="18" charset="0"/>
                        </a:rPr>
                        <m:t>  </m:t>
                      </m:r>
                      <m:r>
                        <a:rPr lang="en-US" altLang="zh-TW" b="0" i="1" smtClean="0">
                          <a:latin typeface="Cambria Math" panose="02040503050406030204" pitchFamily="18" charset="0"/>
                          <a:cs typeface="Times New Roman" panose="02020603050405020304" pitchFamily="18" charset="0"/>
                        </a:rPr>
                        <m:t>𝑆𝑒𝑞</m:t>
                      </m:r>
                      <m:r>
                        <a:rPr lang="en-US" altLang="zh-TW" b="0" i="1" smtClean="0">
                          <a:latin typeface="Cambria Math" panose="02040503050406030204" pitchFamily="18" charset="0"/>
                          <a:cs typeface="Times New Roman" panose="02020603050405020304" pitchFamily="18" charset="0"/>
                        </a:rPr>
                        <m:t>3:</m:t>
                      </m:r>
                      <m:r>
                        <a:rPr lang="en-US" altLang="zh-TW" b="0" i="1" smtClean="0">
                          <a:latin typeface="Cambria Math" panose="02040503050406030204" pitchFamily="18" charset="0"/>
                          <a:cs typeface="Times New Roman" panose="02020603050405020304" pitchFamily="18" charset="0"/>
                        </a:rPr>
                        <m:t>𝑔𝑖</m:t>
                      </m:r>
                      <m:d>
                        <m:dPr>
                          <m:begChr m:val="|"/>
                          <m:endChr m:val="|"/>
                          <m:ctrlPr>
                            <a:rPr lang="en-US" altLang="zh-TW" b="0" i="1" smtClean="0">
                              <a:latin typeface="Cambria Math" panose="02040503050406030204" pitchFamily="18" charset="0"/>
                              <a:cs typeface="Times New Roman" panose="02020603050405020304" pitchFamily="18" charset="0"/>
                            </a:rPr>
                          </m:ctrlPr>
                        </m:dPr>
                        <m:e>
                          <m:r>
                            <a:rPr lang="en-US" altLang="zh-TW" b="0" i="1" smtClean="0">
                              <a:latin typeface="Cambria Math" panose="02040503050406030204" pitchFamily="18" charset="0"/>
                              <a:cs typeface="Times New Roman" panose="02020603050405020304" pitchFamily="18" charset="0"/>
                            </a:rPr>
                            <m:t>13400006</m:t>
                          </m:r>
                        </m:e>
                      </m:d>
                      <m:r>
                        <a:rPr lang="en-US" altLang="zh-TW" b="0" i="1" smtClean="0">
                          <a:latin typeface="Cambria Math" panose="02040503050406030204" pitchFamily="18" charset="0"/>
                          <a:cs typeface="Times New Roman" panose="02020603050405020304" pitchFamily="18" charset="0"/>
                        </a:rPr>
                        <m:t>𝑝𝑑𝑏</m:t>
                      </m:r>
                      <m:d>
                        <m:dPr>
                          <m:begChr m:val="|"/>
                          <m:endChr m:val="|"/>
                          <m:ctrlPr>
                            <a:rPr lang="en-US" altLang="zh-TW" b="0" i="1" smtClean="0">
                              <a:latin typeface="Cambria Math" panose="02040503050406030204" pitchFamily="18" charset="0"/>
                              <a:cs typeface="Times New Roman" panose="02020603050405020304" pitchFamily="18" charset="0"/>
                            </a:rPr>
                          </m:ctrlPr>
                        </m:dPr>
                        <m:e>
                          <m:r>
                            <a:rPr lang="en-US" altLang="zh-TW" b="0" i="1" smtClean="0">
                              <a:latin typeface="Cambria Math" panose="02040503050406030204" pitchFamily="18" charset="0"/>
                              <a:cs typeface="Times New Roman" panose="02020603050405020304" pitchFamily="18" charset="0"/>
                            </a:rPr>
                            <m:t>𝑙𝑑𝑦𝑡</m:t>
                          </m:r>
                        </m:e>
                      </m:d>
                    </m:oMath>
                  </m:oMathPara>
                </a14:m>
                <a:endParaRPr lang="en-US" altLang="zh-TW" b="0" dirty="0" smtClean="0">
                  <a:latin typeface="Times New Roman" panose="02020603050405020304" pitchFamily="18" charset="0"/>
                  <a:cs typeface="Times New Roman" panose="02020603050405020304" pitchFamily="18" charset="0"/>
                </a:endParaRPr>
              </a:p>
              <a:p>
                <a:pPr marL="0" indent="0">
                  <a:buNone/>
                </a:pPr>
                <a14:m>
                  <m:oMathPara xmlns:m="http://schemas.openxmlformats.org/officeDocument/2006/math">
                    <m:oMathParaPr>
                      <m:jc m:val="left"/>
                    </m:oMathParaPr>
                    <m:oMath xmlns:m="http://schemas.openxmlformats.org/officeDocument/2006/math">
                      <m:r>
                        <a:rPr lang="en-US" altLang="zh-TW" b="0" i="1" smtClean="0">
                          <a:latin typeface="Cambria Math" panose="02040503050406030204" pitchFamily="18" charset="0"/>
                          <a:cs typeface="Times New Roman" panose="02020603050405020304" pitchFamily="18" charset="0"/>
                        </a:rPr>
                        <m:t>  </m:t>
                      </m:r>
                      <m:r>
                        <a:rPr lang="en-US" altLang="zh-TW" b="0" i="1" smtClean="0">
                          <a:latin typeface="Cambria Math" panose="02040503050406030204" pitchFamily="18" charset="0"/>
                          <a:cs typeface="Times New Roman" panose="02020603050405020304" pitchFamily="18" charset="0"/>
                        </a:rPr>
                        <m:t>𝑆𝑒𝑞</m:t>
                      </m:r>
                      <m:r>
                        <a:rPr lang="en-US" altLang="zh-TW" b="0" i="1" smtClean="0">
                          <a:latin typeface="Cambria Math" panose="02040503050406030204" pitchFamily="18" charset="0"/>
                          <a:cs typeface="Times New Roman" panose="02020603050405020304" pitchFamily="18" charset="0"/>
                        </a:rPr>
                        <m:t>4:</m:t>
                      </m:r>
                      <m:r>
                        <a:rPr lang="en-US" altLang="zh-TW" b="0" i="1" smtClean="0">
                          <a:latin typeface="Cambria Math" panose="02040503050406030204" pitchFamily="18" charset="0"/>
                          <a:cs typeface="Times New Roman" panose="02020603050405020304" pitchFamily="18" charset="0"/>
                        </a:rPr>
                        <m:t>𝑔𝑖</m:t>
                      </m:r>
                      <m:d>
                        <m:dPr>
                          <m:begChr m:val="|"/>
                          <m:endChr m:val="|"/>
                          <m:ctrlPr>
                            <a:rPr lang="en-US" altLang="zh-TW" b="0" i="1" smtClean="0">
                              <a:latin typeface="Cambria Math" panose="02040503050406030204" pitchFamily="18" charset="0"/>
                              <a:cs typeface="Times New Roman" panose="02020603050405020304" pitchFamily="18" charset="0"/>
                            </a:rPr>
                          </m:ctrlPr>
                        </m:dPr>
                        <m:e>
                          <m:r>
                            <a:rPr lang="en-US" altLang="zh-TW" b="0" i="1" smtClean="0">
                              <a:latin typeface="Cambria Math" panose="02040503050406030204" pitchFamily="18" charset="0"/>
                              <a:cs typeface="Times New Roman" panose="02020603050405020304" pitchFamily="18" charset="0"/>
                            </a:rPr>
                            <m:t>20930966</m:t>
                          </m:r>
                        </m:e>
                      </m:d>
                      <m:r>
                        <a:rPr lang="en-US" altLang="zh-TW" b="0" i="1" smtClean="0">
                          <a:latin typeface="Cambria Math" panose="02040503050406030204" pitchFamily="18" charset="0"/>
                          <a:cs typeface="Times New Roman" panose="02020603050405020304" pitchFamily="18" charset="0"/>
                        </a:rPr>
                        <m:t>𝑟𝑒𝑓</m:t>
                      </m:r>
                      <m:r>
                        <a:rPr lang="en-US" altLang="zh-TW" b="0" i="1" smtClean="0">
                          <a:latin typeface="Cambria Math" panose="02040503050406030204" pitchFamily="18" charset="0"/>
                          <a:cs typeface="Times New Roman" panose="02020603050405020304" pitchFamily="18" charset="0"/>
                        </a:rPr>
                        <m:t>|</m:t>
                      </m:r>
                      <m:r>
                        <a:rPr lang="en-US" altLang="zh-TW" b="0" i="1" smtClean="0">
                          <a:latin typeface="Cambria Math" panose="02040503050406030204" pitchFamily="18" charset="0"/>
                          <a:cs typeface="Times New Roman" panose="02020603050405020304" pitchFamily="18" charset="0"/>
                        </a:rPr>
                        <m:t>𝑥𝑝</m:t>
                      </m:r>
                      <m:r>
                        <a:rPr lang="en-US" altLang="zh-TW" b="0" i="1" smtClean="0">
                          <a:latin typeface="Cambria Math" panose="02040503050406030204" pitchFamily="18" charset="0"/>
                          <a:cs typeface="Times New Roman" panose="02020603050405020304" pitchFamily="18" charset="0"/>
                        </a:rPr>
                        <m:t>_142859.1</m:t>
                      </m:r>
                    </m:oMath>
                  </m:oMathPara>
                </a14:m>
                <a:endParaRPr lang="en-US" altLang="zh-TW" b="0" dirty="0" smtClean="0">
                  <a:latin typeface="Times New Roman" panose="02020603050405020304" pitchFamily="18" charset="0"/>
                  <a:cs typeface="Times New Roman" panose="02020603050405020304" pitchFamily="18" charset="0"/>
                </a:endParaRPr>
              </a:p>
              <a:p>
                <a:pPr marL="0" indent="0">
                  <a:buNone/>
                </a:pPr>
                <a:endParaRPr lang="en-US" altLang="zh-TW" b="0" dirty="0" smtClean="0">
                  <a:latin typeface="Times New Roman" panose="02020603050405020304" pitchFamily="18" charset="0"/>
                  <a:cs typeface="Times New Roman" panose="02020603050405020304" pitchFamily="18" charset="0"/>
                </a:endParaRPr>
              </a:p>
              <a:p>
                <a:pPr marL="0" indent="0">
                  <a:buNone/>
                </a:pPr>
                <a:endParaRPr lang="zh-TW" altLang="en-US" dirty="0">
                  <a:latin typeface="Times New Roman" panose="02020603050405020304" pitchFamily="18" charset="0"/>
                  <a:cs typeface="Times New Roman" panose="02020603050405020304" pitchFamily="18" charset="0"/>
                </a:endParaRPr>
              </a:p>
            </p:txBody>
          </p:sp>
        </mc:Choice>
        <mc:Fallback xmlns="">
          <p:sp>
            <p:nvSpPr>
              <p:cNvPr id="3" name="內容版面配置區 2"/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idx="1"/>
              </p:nvPr>
            </p:nvSpPr>
            <p:spPr>
              <a:blipFill rotWithShape="0">
                <a:blip r:embed="rId2"/>
                <a:stretch>
                  <a:fillRect l="-1852" t="-1887" r="-2963"/>
                </a:stretch>
              </a:blipFill>
            </p:spPr>
            <p:txBody>
              <a:bodyPr/>
              <a:lstStyle/>
              <a:p>
                <a:r>
                  <a:rPr lang="zh-TW" alt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4" name="投影片編號版面配置區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1F13E5F-D7DA-4F3E-9AD0-348A1096F1D4}" type="slidenum">
              <a:rPr lang="zh-TW" altLang="en-US" smtClean="0"/>
              <a:t>11</a:t>
            </a:fld>
            <a:endParaRPr lang="zh-TW" altLang="en-US"/>
          </a:p>
        </p:txBody>
      </p:sp>
    </p:spTree>
    <p:extLst>
      <p:ext uri="{BB962C8B-B14F-4D97-AF65-F5344CB8AC3E}">
        <p14:creationId xmlns:p14="http://schemas.microsoft.com/office/powerpoint/2010/main" val="1967538732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投影片編號版面配置區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1F13E5F-D7DA-4F3E-9AD0-348A1096F1D4}" type="slidenum">
              <a:rPr lang="zh-TW" altLang="en-US" smtClean="0"/>
              <a:t>12</a:t>
            </a:fld>
            <a:endParaRPr lang="zh-TW" altLang="en-US"/>
          </a:p>
        </p:txBody>
      </p:sp>
      <p:pic>
        <p:nvPicPr>
          <p:cNvPr id="5" name="圖片 4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67544" y="188640"/>
            <a:ext cx="8123734" cy="2886294"/>
          </a:xfrm>
          <a:prstGeom prst="rect">
            <a:avLst/>
          </a:prstGeom>
        </p:spPr>
      </p:pic>
      <p:pic>
        <p:nvPicPr>
          <p:cNvPr id="6" name="圖片 5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67544" y="3624066"/>
            <a:ext cx="8123734" cy="2805981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917654046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內容版面配置區 2"/>
          <p:cNvSpPr>
            <a:spLocks noGrp="1"/>
          </p:cNvSpPr>
          <p:nvPr>
            <p:ph idx="1"/>
          </p:nvPr>
        </p:nvSpPr>
        <p:spPr>
          <a:xfrm>
            <a:off x="2195736" y="2852936"/>
            <a:ext cx="4752528" cy="864096"/>
          </a:xfrm>
        </p:spPr>
        <p:txBody>
          <a:bodyPr>
            <a:normAutofit/>
          </a:bodyPr>
          <a:lstStyle/>
          <a:p>
            <a:pPr marL="0" indent="0" algn="ctr">
              <a:buNone/>
            </a:pPr>
            <a:r>
              <a:rPr lang="en-US" altLang="zh-TW" sz="4000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Thanks for listening</a:t>
            </a:r>
            <a:endParaRPr lang="zh-TW" altLang="en-US" sz="40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2" name="投影片編號版面配置區 1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1F13E5F-D7DA-4F3E-9AD0-348A1096F1D4}" type="slidenum">
              <a:rPr lang="zh-TW" altLang="en-US" smtClean="0"/>
              <a:t>13</a:t>
            </a:fld>
            <a:endParaRPr lang="zh-TW" altLang="en-US"/>
          </a:p>
        </p:txBody>
      </p:sp>
    </p:spTree>
    <p:extLst>
      <p:ext uri="{BB962C8B-B14F-4D97-AF65-F5344CB8AC3E}">
        <p14:creationId xmlns:p14="http://schemas.microsoft.com/office/powerpoint/2010/main" val="925175207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theme/theme1.xml><?xml version="1.0" encoding="utf-8"?>
<a:theme xmlns:a="http://schemas.openxmlformats.org/drawingml/2006/main" name="Office 佈景主題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2.xml><?xml version="1.0" encoding="utf-8"?>
<a:theme xmlns:a="http://schemas.openxmlformats.org/drawingml/2006/main" name="Office 佈景主題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 panose="020F0502020204030204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6794</TotalTime>
  <Words>521</Words>
  <Application>Microsoft Office PowerPoint</Application>
  <PresentationFormat>如螢幕大小 (4:3)</PresentationFormat>
  <Paragraphs>64</Paragraphs>
  <Slides>13</Slides>
  <Notes>1</Notes>
  <HiddenSlides>0</HiddenSlides>
  <MMClips>0</MMClips>
  <ScaleCrop>false</ScaleCrop>
  <HeadingPairs>
    <vt:vector size="6" baseType="variant">
      <vt:variant>
        <vt:lpstr>使用字型</vt:lpstr>
      </vt:variant>
      <vt:variant>
        <vt:i4>5</vt:i4>
      </vt:variant>
      <vt:variant>
        <vt:lpstr>佈景主題</vt:lpstr>
      </vt:variant>
      <vt:variant>
        <vt:i4>1</vt:i4>
      </vt:variant>
      <vt:variant>
        <vt:lpstr>投影片標題</vt:lpstr>
      </vt:variant>
      <vt:variant>
        <vt:i4>13</vt:i4>
      </vt:variant>
    </vt:vector>
  </HeadingPairs>
  <TitlesOfParts>
    <vt:vector size="19" baseType="lpstr">
      <vt:lpstr>新細明體</vt:lpstr>
      <vt:lpstr>Arial</vt:lpstr>
      <vt:lpstr>Calibri</vt:lpstr>
      <vt:lpstr>Cambria Math</vt:lpstr>
      <vt:lpstr>Times New Roman</vt:lpstr>
      <vt:lpstr>Office 佈景主題</vt:lpstr>
      <vt:lpstr>A Space-Efficient Algorithm for the CPSA Problem</vt:lpstr>
      <vt:lpstr>Abstract(1/2)</vt:lpstr>
      <vt:lpstr>Abstract(2/2)</vt:lpstr>
      <vt:lpstr>Pairwise Sequence Alignment(PSA)</vt:lpstr>
      <vt:lpstr>Hirschberg’s Optimal Solution of PSA</vt:lpstr>
      <vt:lpstr>DP formulation of Chin et al. for CPSA Problem</vt:lpstr>
      <vt:lpstr>CPSA-DC Algorithm</vt:lpstr>
      <vt:lpstr>Algorithm of Layer-DC</vt:lpstr>
      <vt:lpstr>PowerPoint 簡報</vt:lpstr>
      <vt:lpstr>PowerPoint 簡報</vt:lpstr>
      <vt:lpstr>Space Requirement of Algorithm Layer-DC</vt:lpstr>
      <vt:lpstr>PowerPoint 簡報</vt:lpstr>
      <vt:lpstr>PowerPoint 簡報</vt:lpstr>
    </vt:vector>
  </TitlesOfParts>
  <LinksUpToDate>false</LinksUpToDate>
  <SharedDoc>false</SharedDoc>
  <HyperlinksChanged>false</HyperlinksChanged>
  <AppVersion>15.0000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A Longest Common Subsequence Algorithm Suitable for Similar Text Strings</dc:title>
  <dc:creator>yotsuki</dc:creator>
  <cp:lastModifiedBy>pplab-class</cp:lastModifiedBy>
  <cp:revision>265</cp:revision>
  <dcterms:created xsi:type="dcterms:W3CDTF">2014-03-03T17:19:54Z</dcterms:created>
  <dcterms:modified xsi:type="dcterms:W3CDTF">2017-03-07T13:38:13Z</dcterms:modified>
</cp:coreProperties>
</file>