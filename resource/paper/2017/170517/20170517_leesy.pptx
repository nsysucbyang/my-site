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2017/5/16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8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6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5.png"/><Relationship Id="rId2" Type="http://schemas.openxmlformats.org/officeDocument/2006/relationships/image" Target="../media/image41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4.png"/><Relationship Id="rId5" Type="http://schemas.openxmlformats.org/officeDocument/2006/relationships/image" Target="../media/image44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3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6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61.png"/><Relationship Id="rId5" Type="http://schemas.openxmlformats.org/officeDocument/2006/relationships/image" Target="../media/image44.png"/><Relationship Id="rId15" Type="http://schemas.openxmlformats.org/officeDocument/2006/relationships/image" Target="../media/image64.png"/><Relationship Id="rId10" Type="http://schemas.openxmlformats.org/officeDocument/2006/relationships/image" Target="../media/image6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7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6.png"/><Relationship Id="rId2" Type="http://schemas.openxmlformats.org/officeDocument/2006/relationships/image" Target="../media/image72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5.png"/><Relationship Id="rId5" Type="http://schemas.openxmlformats.org/officeDocument/2006/relationships/image" Target="../media/image75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4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8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86.png"/><Relationship Id="rId2" Type="http://schemas.openxmlformats.org/officeDocument/2006/relationships/image" Target="../media/image91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85.png"/><Relationship Id="rId5" Type="http://schemas.openxmlformats.org/officeDocument/2006/relationships/image" Target="../media/image94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93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6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4.png"/><Relationship Id="rId5" Type="http://schemas.openxmlformats.org/officeDocument/2006/relationships/image" Target="../media/image94.png"/><Relationship Id="rId10" Type="http://schemas.openxmlformats.org/officeDocument/2006/relationships/image" Target="../media/image103.png"/><Relationship Id="rId4" Type="http://schemas.openxmlformats.org/officeDocument/2006/relationships/image" Target="../media/image93.png"/><Relationship Id="rId9" Type="http://schemas.openxmlformats.org/officeDocument/2006/relationships/image" Target="../media/image10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87.png"/><Relationship Id="rId2" Type="http://schemas.openxmlformats.org/officeDocument/2006/relationships/image" Target="../media/image92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86.png"/><Relationship Id="rId5" Type="http://schemas.openxmlformats.org/officeDocument/2006/relationships/image" Target="../media/image95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94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371725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Space Efficient Algorithm for Sequence Alignment with Inversions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Yong </a:t>
            </a:r>
            <a:r>
              <a:rPr lang="fr-F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Gao, Junfeng Wu, Robert Niewiadomski, Yang Wang, Zhi-Zhong Chen and Guohui Lin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Combinatorics COCOON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2003, Big Sky, MT, USA. Lecture Notes in Computer Science,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2697, pp.57-67.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2017/05/17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606550"/>
                <a:ext cx="8715375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dynamic programming algorithm to find an optimal alignment for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pair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DNA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been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described by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Schöniger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Waterman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alignments use not only substitutions, insertions,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deletions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single nucleotides, but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inversions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are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reversed complements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of substrings of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sequences. With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restriction that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inversions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pairwise non-intersecting, their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 algorithm runs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and consumes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n and m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the lengths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sequences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respectively. We develop a space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algorithm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such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optimal alignment which consumes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within the same amount of time. Our algorithm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enables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for a pair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DNA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sequences of length up to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10,000 to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carried out on an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ordinary desktop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computer. Simulation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study 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conducted to verify some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biological facts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about gene shuffling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across species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606550"/>
                <a:ext cx="8715375" cy="4351338"/>
              </a:xfrm>
              <a:blipFill rotWithShape="0">
                <a:blip r:embed="rId2"/>
                <a:stretch>
                  <a:fillRect l="-1120" t="-2805" r="-16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向右箭號 18"/>
          <p:cNvSpPr/>
          <p:nvPr/>
        </p:nvSpPr>
        <p:spPr>
          <a:xfrm>
            <a:off x="2476561" y="1579695"/>
            <a:ext cx="2524963" cy="698389"/>
          </a:xfrm>
          <a:prstGeom prst="rightArrow">
            <a:avLst>
              <a:gd name="adj1" fmla="val 61976"/>
              <a:gd name="adj2" fmla="val 77611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24216" y="1636503"/>
            <a:ext cx="1739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 smtClean="0"/>
              <a:t>   ACAG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254981" y="1606913"/>
            <a:ext cx="1721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</a:t>
            </a:r>
            <a:r>
              <a:rPr lang="en-US" altLang="zh-TW" sz="3200" baseline="-25000" dirty="0"/>
              <a:t>2</a:t>
            </a:r>
            <a:r>
              <a:rPr lang="en-US" altLang="zh-TW" sz="3200" dirty="0" smtClean="0"/>
              <a:t>   CTGG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654547" y="1636503"/>
            <a:ext cx="371550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Operation</a:t>
            </a:r>
          </a:p>
          <a:p>
            <a:pPr lvl="1"/>
            <a:r>
              <a:rPr lang="en-US" altLang="zh-TW" sz="3200" dirty="0" smtClean="0">
                <a:solidFill>
                  <a:srgbClr val="C00000"/>
                </a:solidFill>
              </a:rPr>
              <a:t>Insertion/Deletion</a:t>
            </a:r>
          </a:p>
          <a:p>
            <a:pPr lvl="1"/>
            <a:r>
              <a:rPr lang="en-US" altLang="zh-TW" sz="3200" dirty="0" err="1" smtClean="0">
                <a:solidFill>
                  <a:schemeClr val="accent6">
                    <a:lumMod val="75000"/>
                  </a:schemeClr>
                </a:solidFill>
              </a:rPr>
              <a:t>Subtitution</a:t>
            </a:r>
            <a:endParaRPr lang="en-US" altLang="zh-TW" sz="3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altLang="zh-TW" sz="3200" dirty="0" smtClean="0">
                <a:solidFill>
                  <a:srgbClr val="0070C0"/>
                </a:solidFill>
              </a:rPr>
              <a:t>Inversion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8" name="左大括弧 17"/>
          <p:cNvSpPr/>
          <p:nvPr/>
        </p:nvSpPr>
        <p:spPr>
          <a:xfrm>
            <a:off x="2752726" y="2334892"/>
            <a:ext cx="323850" cy="1181100"/>
          </a:xfrm>
          <a:prstGeom prst="leftBrace">
            <a:avLst>
              <a:gd name="adj1" fmla="val 46568"/>
              <a:gd name="adj2" fmla="val 50672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70789"/>
              </p:ext>
            </p:extLst>
          </p:nvPr>
        </p:nvGraphicFramePr>
        <p:xfrm>
          <a:off x="442584" y="4076700"/>
          <a:ext cx="306597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995"/>
                <a:gridCol w="510995"/>
                <a:gridCol w="510995"/>
                <a:gridCol w="510995"/>
                <a:gridCol w="510995"/>
                <a:gridCol w="510995"/>
              </a:tblGrid>
              <a:tr h="5453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S</a:t>
                      </a:r>
                      <a:r>
                        <a:rPr lang="en-US" altLang="zh-TW" sz="3200" baseline="-25000" dirty="0" smtClean="0"/>
                        <a:t>1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</a:t>
                      </a:r>
                      <a:endParaRPr lang="zh-TW" altLang="en-US" sz="32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-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G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S</a:t>
                      </a:r>
                      <a:r>
                        <a:rPr lang="en-US" altLang="zh-TW" sz="3200" baseline="-25000" dirty="0" smtClean="0"/>
                        <a:t>2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-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</a:t>
                      </a:r>
                      <a:endParaRPr lang="zh-TW" altLang="en-US" sz="32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G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805585"/>
              </p:ext>
            </p:extLst>
          </p:nvPr>
        </p:nvGraphicFramePr>
        <p:xfrm>
          <a:off x="4719309" y="4076700"/>
          <a:ext cx="306597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941"/>
                <a:gridCol w="638175"/>
                <a:gridCol w="1104900"/>
                <a:gridCol w="612954"/>
              </a:tblGrid>
              <a:tr h="5453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S</a:t>
                      </a:r>
                      <a:r>
                        <a:rPr lang="en-US" altLang="zh-TW" sz="3200" baseline="-25000" dirty="0" smtClean="0"/>
                        <a:t>1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0070C0"/>
                          </a:solidFill>
                        </a:rPr>
                        <a:t>CAG</a:t>
                      </a:r>
                      <a:endParaRPr lang="zh-TW" altLang="en-US" sz="32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-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S</a:t>
                      </a:r>
                      <a:r>
                        <a:rPr lang="en-US" altLang="zh-TW" sz="3200" baseline="-25000" dirty="0" smtClean="0"/>
                        <a:t>2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-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0070C0"/>
                          </a:solidFill>
                        </a:rPr>
                        <a:t>CTG</a:t>
                      </a:r>
                      <a:endParaRPr lang="zh-TW" altLang="en-US" sz="32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75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 Scheme : linear gap penalty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4905375" y="1143000"/>
                <a:ext cx="19097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5" y="1143000"/>
                <a:ext cx="190975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857250" y="1800225"/>
                <a:ext cx="356873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: the score of match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800225"/>
                <a:ext cx="3568734" cy="430887"/>
              </a:xfrm>
              <a:prstGeom prst="rect">
                <a:avLst/>
              </a:prstGeom>
              <a:blipFill rotWithShape="0">
                <a:blip r:embed="rId3"/>
                <a:stretch>
                  <a:fillRect t="-23944" r="-2393" b="-50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857250" y="2468563"/>
                <a:ext cx="45170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: the penalty of substitution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68563"/>
                <a:ext cx="4517006" cy="430887"/>
              </a:xfrm>
              <a:prstGeom prst="rect">
                <a:avLst/>
              </a:prstGeom>
              <a:blipFill rotWithShape="0">
                <a:blip r:embed="rId4"/>
                <a:stretch>
                  <a:fillRect t="-23944" r="-3104" b="-49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857250" y="3136901"/>
                <a:ext cx="57278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: the penalty of insertion or deletion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3136901"/>
                <a:ext cx="5727850" cy="430887"/>
              </a:xfrm>
              <a:prstGeom prst="rect">
                <a:avLst/>
              </a:prstGeom>
              <a:blipFill rotWithShape="0">
                <a:blip r:embed="rId5"/>
                <a:stretch>
                  <a:fillRect t="-24286" r="-2662" b="-5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185386"/>
              </p:ext>
            </p:extLst>
          </p:nvPr>
        </p:nvGraphicFramePr>
        <p:xfrm>
          <a:off x="2409270" y="3826324"/>
          <a:ext cx="306597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995"/>
                <a:gridCol w="510995"/>
                <a:gridCol w="510995"/>
                <a:gridCol w="510995"/>
                <a:gridCol w="510995"/>
                <a:gridCol w="510995"/>
              </a:tblGrid>
              <a:tr h="5453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S</a:t>
                      </a:r>
                      <a:r>
                        <a:rPr lang="en-US" altLang="zh-TW" sz="3200" baseline="-25000" dirty="0" smtClean="0"/>
                        <a:t>1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</a:t>
                      </a:r>
                      <a:endParaRPr lang="zh-TW" altLang="en-US" sz="32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-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G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S</a:t>
                      </a:r>
                      <a:r>
                        <a:rPr lang="en-US" altLang="zh-TW" sz="3200" baseline="-25000" dirty="0" smtClean="0"/>
                        <a:t>2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-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</a:t>
                      </a:r>
                      <a:endParaRPr lang="zh-TW" altLang="en-US" sz="32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zh-TW" altLang="en-US" sz="3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G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827580" y="5243100"/>
            <a:ext cx="249587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2800" dirty="0" smtClean="0"/>
              <a:t>-3+10-5-3+10 = 9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5754460" y="4180822"/>
                <a:ext cx="19775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(10,</m:t>
                      </m:r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5,−3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460" y="4180822"/>
                <a:ext cx="1977529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4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 Scheme : affine gap penalty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4905375" y="1143000"/>
                <a:ext cx="24990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5" y="1143000"/>
                <a:ext cx="2499082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860037" y="1573887"/>
                <a:ext cx="356873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: the score of match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37" y="1573887"/>
                <a:ext cx="3568734" cy="430887"/>
              </a:xfrm>
              <a:prstGeom prst="rect">
                <a:avLst/>
              </a:prstGeom>
              <a:blipFill rotWithShape="0">
                <a:blip r:embed="rId3"/>
                <a:stretch>
                  <a:fillRect t="-23944" r="-2389" b="-50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860037" y="2242225"/>
                <a:ext cx="45170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: the penalty of substitution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37" y="2242225"/>
                <a:ext cx="4517006" cy="430887"/>
              </a:xfrm>
              <a:prstGeom prst="rect">
                <a:avLst/>
              </a:prstGeom>
              <a:blipFill rotWithShape="0">
                <a:blip r:embed="rId4"/>
                <a:stretch>
                  <a:fillRect t="-23944" r="-3239" b="-49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860037" y="2910563"/>
                <a:ext cx="654442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2800" dirty="0" smtClean="0"/>
                  <a:t> : the penalty for a gap of length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37" y="2910563"/>
                <a:ext cx="6544420" cy="430887"/>
              </a:xfrm>
              <a:prstGeom prst="rect">
                <a:avLst/>
              </a:prstGeom>
              <a:blipFill rotWithShape="0">
                <a:blip r:embed="rId5"/>
                <a:stretch>
                  <a:fillRect t="-23944" r="-931" b="-50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6"/>
          <a:srcRect t="23156"/>
          <a:stretch/>
        </p:blipFill>
        <p:spPr>
          <a:xfrm>
            <a:off x="1228725" y="3981449"/>
            <a:ext cx="6057900" cy="1654177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535030" y="5851285"/>
            <a:ext cx="610744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2800" dirty="0" smtClean="0"/>
              <a:t>-20+30-11+30-20+10-35+50-25+20-25 = 4</a:t>
            </a:r>
            <a:endParaRPr lang="zh-TW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6154916" y="3446006"/>
                <a:ext cx="29751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(10,</m:t>
                      </m:r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11,−15,−5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916" y="3446006"/>
                <a:ext cx="2975110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28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Less Space Efficient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36335" y="1401082"/>
                <a:ext cx="8293104" cy="132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 the standard sequence similarity between</a:t>
                </a:r>
              </a:p>
              <a:p>
                <a:endParaRPr lang="en-US" altLang="zh-TW" sz="2800" dirty="0" smtClean="0"/>
              </a:p>
              <a:p>
                <a:r>
                  <a:rPr lang="en-US" altLang="zh-TW" sz="2800" b="0" dirty="0" smtClean="0"/>
                  <a:t>    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800" i="1" baseline="-250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800" i="1" baseline="-25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TW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8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35" y="1401082"/>
                <a:ext cx="8293104" cy="1321196"/>
              </a:xfrm>
              <a:prstGeom prst="rect">
                <a:avLst/>
              </a:prstGeom>
              <a:blipFill rotWithShape="0">
                <a:blip r:embed="rId2"/>
                <a:stretch>
                  <a:fillRect t="-7834" r="-1471" b="-156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/>
          <p:cNvSpPr txBox="1"/>
          <p:nvPr/>
        </p:nvSpPr>
        <p:spPr>
          <a:xfrm>
            <a:off x="436335" y="2841189"/>
            <a:ext cx="1700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 smtClean="0"/>
              <a:t>   ACGT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45440" y="3334113"/>
            <a:ext cx="173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</a:t>
            </a:r>
            <a:r>
              <a:rPr lang="en-US" altLang="zh-TW" sz="3200" baseline="-25000" dirty="0"/>
              <a:t>2</a:t>
            </a:r>
            <a:r>
              <a:rPr lang="en-US" altLang="zh-TW" sz="3200" dirty="0" smtClean="0"/>
              <a:t>   ACGA</a:t>
            </a:r>
            <a:endParaRPr lang="zh-TW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1200182" y="3977309"/>
                <a:ext cx="28090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3200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altLang="zh-TW" sz="3200" dirty="0" smtClean="0"/>
                  <a:t> = CGT</a:t>
                </a:r>
                <a:endParaRPr lang="en-US" altLang="zh-TW" sz="32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82" y="3977309"/>
                <a:ext cx="2809039" cy="584775"/>
              </a:xfrm>
              <a:prstGeom prst="rect">
                <a:avLst/>
              </a:prstGeom>
              <a:blipFill rotWithShape="0">
                <a:blip r:embed="rId3"/>
                <a:stretch>
                  <a:fillRect t="-12500" r="-4555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1200182" y="4591250"/>
                <a:ext cx="2937856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TW" sz="3200" dirty="0" smtClean="0"/>
                  <a:t> = ACG</a:t>
                </a:r>
                <a:endParaRPr lang="en-US" altLang="zh-TW" sz="32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82" y="4591250"/>
                <a:ext cx="2937856" cy="617413"/>
              </a:xfrm>
              <a:prstGeom prst="rect">
                <a:avLst/>
              </a:prstGeom>
              <a:blipFill rotWithShape="0">
                <a:blip r:embed="rId4"/>
                <a:stretch>
                  <a:fillRect t="-6931" r="-1245" b="-326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1200182" y="5215920"/>
                <a:ext cx="284488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32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zh-TW" sz="3200" dirty="0" smtClean="0"/>
                  <a:t> = ACG</a:t>
                </a:r>
                <a:endParaRPr lang="en-US" altLang="zh-TW" sz="3200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82" y="5215920"/>
                <a:ext cx="2844881" cy="584775"/>
              </a:xfrm>
              <a:prstGeom prst="rect">
                <a:avLst/>
              </a:prstGeom>
              <a:blipFill rotWithShape="0">
                <a:blip r:embed="rId5"/>
                <a:stretch>
                  <a:fillRect t="-12500" r="-4497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4786345" y="4591250"/>
                <a:ext cx="3261919" cy="573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𝑤𝑚</m:t>
                      </m:r>
                    </m:oMath>
                  </m:oMathPara>
                </a14:m>
                <a:endParaRPr lang="en-US" altLang="zh-TW" sz="3200" baseline="-250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45" y="4591250"/>
                <a:ext cx="3261919" cy="57342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右大括弧 17"/>
          <p:cNvSpPr/>
          <p:nvPr/>
        </p:nvSpPr>
        <p:spPr>
          <a:xfrm>
            <a:off x="4107379" y="4175489"/>
            <a:ext cx="413132" cy="1448933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42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Less Space Efficient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36335" y="1401082"/>
                <a:ext cx="8293104" cy="132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 the standard sequence similarity between</a:t>
                </a:r>
              </a:p>
              <a:p>
                <a:endParaRPr lang="en-US" altLang="zh-TW" sz="2800" dirty="0" smtClean="0"/>
              </a:p>
              <a:p>
                <a:r>
                  <a:rPr lang="en-US" altLang="zh-TW" sz="2800" b="0" dirty="0" smtClean="0"/>
                  <a:t>    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800" i="1" baseline="-250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800" i="1" baseline="-25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TW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8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35" y="1401082"/>
                <a:ext cx="8293104" cy="1321196"/>
              </a:xfrm>
              <a:prstGeom prst="rect">
                <a:avLst/>
              </a:prstGeom>
              <a:blipFill rotWithShape="0">
                <a:blip r:embed="rId2"/>
                <a:stretch>
                  <a:fillRect t="-7834" r="-1471" b="-156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37" y="3014662"/>
            <a:ext cx="8801100" cy="695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312532" y="4238044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32" y="4238044"/>
                <a:ext cx="64793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946047" y="4351283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858675" y="4002371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75" y="4002371"/>
                <a:ext cx="203582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45455" t="-2273" r="-21212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3307236" y="4016674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236" y="4016674"/>
                <a:ext cx="203581" cy="270652"/>
              </a:xfrm>
              <a:prstGeom prst="rect">
                <a:avLst/>
              </a:prstGeom>
              <a:blipFill rotWithShape="0">
                <a:blip r:embed="rId6"/>
                <a:stretch>
                  <a:fillRect l="-45455" r="-21212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9" y="1680432"/>
            <a:ext cx="3960557" cy="90595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59" y="250261"/>
            <a:ext cx="8627296" cy="13278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50632" y="286161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2" y="2861619"/>
                <a:ext cx="64793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350632" y="444530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2" y="4445309"/>
                <a:ext cx="647934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002891" y="3030462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84147" y="455854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905909" y="2688743"/>
                <a:ext cx="19396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09" y="2688743"/>
                <a:ext cx="193964" cy="270652"/>
              </a:xfrm>
              <a:prstGeom prst="rect">
                <a:avLst/>
              </a:prstGeom>
              <a:blipFill rotWithShape="0">
                <a:blip r:embed="rId6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2978057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57" y="2688743"/>
                <a:ext cx="193963" cy="270652"/>
              </a:xfrm>
              <a:prstGeom prst="rect">
                <a:avLst/>
              </a:prstGeom>
              <a:blipFill rotWithShape="0">
                <a:blip r:embed="rId7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896775" y="4209636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75" y="4209636"/>
                <a:ext cx="203582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44118" t="-2273" r="-17647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3345336" y="4223939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336" y="4223939"/>
                <a:ext cx="203581" cy="270652"/>
              </a:xfrm>
              <a:prstGeom prst="rect">
                <a:avLst/>
              </a:prstGeom>
              <a:blipFill rotWithShape="0">
                <a:blip r:embed="rId9"/>
                <a:stretch>
                  <a:fillRect l="-45455" r="-21212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369009" y="3688063"/>
                <a:ext cx="647934" cy="585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32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2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3200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09" y="3688063"/>
                <a:ext cx="647934" cy="5859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1002891" y="3827243"/>
            <a:ext cx="2072148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905909" y="3485524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09" y="3485524"/>
                <a:ext cx="193963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2978057" y="3485524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57" y="3485524"/>
                <a:ext cx="193963" cy="270652"/>
              </a:xfrm>
              <a:prstGeom prst="rect">
                <a:avLst/>
              </a:prstGeom>
              <a:blipFill rotWithShape="0">
                <a:blip r:embed="rId12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4380490" y="3761767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4293118" y="3412855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18" y="3412855"/>
                <a:ext cx="203582" cy="270652"/>
              </a:xfrm>
              <a:prstGeom prst="rect">
                <a:avLst/>
              </a:prstGeom>
              <a:blipFill rotWithShape="0">
                <a:blip r:embed="rId13"/>
                <a:stretch>
                  <a:fillRect l="-44118" r="-17647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6741679" y="3427158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679" y="3427158"/>
                <a:ext cx="203581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45455" r="-21212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4399234" y="3030462"/>
            <a:ext cx="2072148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4302252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252" y="2688743"/>
                <a:ext cx="193963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34375" r="-18750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6374400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400" y="2688743"/>
                <a:ext cx="193963" cy="270652"/>
              </a:xfrm>
              <a:prstGeom prst="rect">
                <a:avLst/>
              </a:prstGeom>
              <a:blipFill rotWithShape="0">
                <a:blip r:embed="rId16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5757543" y="2699600"/>
                <a:ext cx="500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dirty="0" smtClean="0"/>
                  <a:t>1</a:t>
                </a:r>
                <a:endParaRPr lang="zh-TW" altLang="en-US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543" y="2699600"/>
                <a:ext cx="500137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6867" t="-28889" r="-26506" b="-5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6117770" y="3030462"/>
            <a:ext cx="353611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489858" y="3765701"/>
            <a:ext cx="353611" cy="3543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6061814" y="3459828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814" y="3459828"/>
                <a:ext cx="625171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12621" t="-4444" r="-8738" b="-3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3345336" y="249100"/>
            <a:ext cx="5360514" cy="61651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39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9" y="1680432"/>
            <a:ext cx="3960557" cy="90595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59" y="250261"/>
            <a:ext cx="8627296" cy="13278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50632" y="286161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2" y="2861619"/>
                <a:ext cx="64793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350632" y="444530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2" y="4445309"/>
                <a:ext cx="647934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002891" y="3030462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84147" y="455854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905909" y="2688743"/>
                <a:ext cx="19396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09" y="2688743"/>
                <a:ext cx="193964" cy="270652"/>
              </a:xfrm>
              <a:prstGeom prst="rect">
                <a:avLst/>
              </a:prstGeom>
              <a:blipFill rotWithShape="0">
                <a:blip r:embed="rId6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2978057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57" y="2688743"/>
                <a:ext cx="193963" cy="270652"/>
              </a:xfrm>
              <a:prstGeom prst="rect">
                <a:avLst/>
              </a:prstGeom>
              <a:blipFill rotWithShape="0">
                <a:blip r:embed="rId7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896775" y="4209636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75" y="4209636"/>
                <a:ext cx="203582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44118" t="-2273" r="-17647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3345336" y="4223939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336" y="4223939"/>
                <a:ext cx="203581" cy="270652"/>
              </a:xfrm>
              <a:prstGeom prst="rect">
                <a:avLst/>
              </a:prstGeom>
              <a:blipFill rotWithShape="0">
                <a:blip r:embed="rId9"/>
                <a:stretch>
                  <a:fillRect l="-45455" r="-21212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369009" y="3688063"/>
                <a:ext cx="647934" cy="585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32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2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3200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09" y="3688063"/>
                <a:ext cx="647934" cy="5859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1002891" y="3827243"/>
            <a:ext cx="2072148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905909" y="3485524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09" y="3485524"/>
                <a:ext cx="193963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2978057" y="3485524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57" y="3485524"/>
                <a:ext cx="193963" cy="270652"/>
              </a:xfrm>
              <a:prstGeom prst="rect">
                <a:avLst/>
              </a:prstGeom>
              <a:blipFill rotWithShape="0">
                <a:blip r:embed="rId12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4380490" y="3761767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4293118" y="3412855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18" y="3412855"/>
                <a:ext cx="203582" cy="270652"/>
              </a:xfrm>
              <a:prstGeom prst="rect">
                <a:avLst/>
              </a:prstGeom>
              <a:blipFill rotWithShape="0">
                <a:blip r:embed="rId13"/>
                <a:stretch>
                  <a:fillRect l="-44118" r="-17647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6741679" y="3427158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679" y="3427158"/>
                <a:ext cx="203581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45455" r="-21212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4399234" y="3030462"/>
            <a:ext cx="2072148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4302252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252" y="2688743"/>
                <a:ext cx="193963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34375" r="-18750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6374400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400" y="2688743"/>
                <a:ext cx="193963" cy="270652"/>
              </a:xfrm>
              <a:prstGeom prst="rect">
                <a:avLst/>
              </a:prstGeom>
              <a:blipFill rotWithShape="0">
                <a:blip r:embed="rId16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5757543" y="2699600"/>
                <a:ext cx="500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dirty="0" smtClean="0"/>
                  <a:t>1</a:t>
                </a:r>
                <a:endParaRPr lang="zh-TW" altLang="en-US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543" y="2699600"/>
                <a:ext cx="500137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6867" t="-28889" r="-26506" b="-5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6117770" y="3030462"/>
            <a:ext cx="353611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3327354" y="662732"/>
            <a:ext cx="3162504" cy="51726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68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9" y="1680432"/>
            <a:ext cx="3960557" cy="90595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59" y="250261"/>
            <a:ext cx="8627296" cy="13278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50632" y="286161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2" y="2861619"/>
                <a:ext cx="64793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350632" y="444530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2" y="4445309"/>
                <a:ext cx="647934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002891" y="3030462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84147" y="455854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905909" y="2688743"/>
                <a:ext cx="19396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09" y="2688743"/>
                <a:ext cx="193964" cy="270652"/>
              </a:xfrm>
              <a:prstGeom prst="rect">
                <a:avLst/>
              </a:prstGeom>
              <a:blipFill rotWithShape="0">
                <a:blip r:embed="rId6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2978057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57" y="2688743"/>
                <a:ext cx="193963" cy="270652"/>
              </a:xfrm>
              <a:prstGeom prst="rect">
                <a:avLst/>
              </a:prstGeom>
              <a:blipFill rotWithShape="0">
                <a:blip r:embed="rId7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896775" y="4209636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75" y="4209636"/>
                <a:ext cx="203582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44118" t="-2273" r="-17647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3345336" y="4223939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336" y="4223939"/>
                <a:ext cx="203581" cy="270652"/>
              </a:xfrm>
              <a:prstGeom prst="rect">
                <a:avLst/>
              </a:prstGeom>
              <a:blipFill rotWithShape="0">
                <a:blip r:embed="rId9"/>
                <a:stretch>
                  <a:fillRect l="-45455" r="-21212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369009" y="3688063"/>
                <a:ext cx="647934" cy="585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32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2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3200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09" y="3688063"/>
                <a:ext cx="647934" cy="5859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1002891" y="3827243"/>
            <a:ext cx="2072148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905909" y="3485524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09" y="3485524"/>
                <a:ext cx="193963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2978057" y="3485524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57" y="3485524"/>
                <a:ext cx="193963" cy="270652"/>
              </a:xfrm>
              <a:prstGeom prst="rect">
                <a:avLst/>
              </a:prstGeom>
              <a:blipFill rotWithShape="0">
                <a:blip r:embed="rId12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4380490" y="3761767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4293118" y="3412855"/>
                <a:ext cx="203582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18" y="3412855"/>
                <a:ext cx="203582" cy="270652"/>
              </a:xfrm>
              <a:prstGeom prst="rect">
                <a:avLst/>
              </a:prstGeom>
              <a:blipFill rotWithShape="0">
                <a:blip r:embed="rId13"/>
                <a:stretch>
                  <a:fillRect l="-44118" r="-17647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6741679" y="3427158"/>
                <a:ext cx="20358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679" y="3427158"/>
                <a:ext cx="203581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45455" r="-21212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4399234" y="3030462"/>
            <a:ext cx="2072148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4302252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252" y="2688743"/>
                <a:ext cx="193963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34375" r="-18750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6374400" y="2688743"/>
                <a:ext cx="193963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400" y="2688743"/>
                <a:ext cx="193963" cy="270652"/>
              </a:xfrm>
              <a:prstGeom prst="rect">
                <a:avLst/>
              </a:prstGeom>
              <a:blipFill rotWithShape="0">
                <a:blip r:embed="rId16"/>
                <a:stretch>
                  <a:fillRect l="-35484" r="-22581" b="-20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6489858" y="3765701"/>
            <a:ext cx="353611" cy="35436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6061814" y="3459828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814" y="3459828"/>
                <a:ext cx="625171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2621" t="-4444" r="-8738" b="-3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3327354" y="1048637"/>
            <a:ext cx="3162504" cy="44678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/>
              <p:cNvSpPr txBox="1"/>
              <p:nvPr/>
            </p:nvSpPr>
            <p:spPr>
              <a:xfrm>
                <a:off x="760772" y="5351070"/>
                <a:ext cx="6664645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800" b="0" i="1" baseline="3000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72" y="5351070"/>
                <a:ext cx="6664645" cy="806631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0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Less Space Efficient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83910" y="1391557"/>
                <a:ext cx="9152890" cy="2154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𝐷𝑃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 the score of an optimal inversion alignment between</a:t>
                </a:r>
              </a:p>
              <a:p>
                <a:endParaRPr lang="en-US" altLang="zh-TW" sz="28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800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800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altLang="zh-TW" sz="28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sz="2800" dirty="0" smtClean="0"/>
                  <a:t> = the lower bound of inversion operation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TW" sz="2800" dirty="0" smtClean="0"/>
                  <a:t> = the inversion penalty</a:t>
                </a:r>
                <a:endParaRPr lang="en-US" altLang="zh-TW" sz="28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0" y="1391557"/>
                <a:ext cx="9152890" cy="2154436"/>
              </a:xfrm>
              <a:prstGeom prst="rect">
                <a:avLst/>
              </a:prstGeom>
              <a:blipFill rotWithShape="0">
                <a:blip r:embed="rId2"/>
                <a:stretch>
                  <a:fillRect t="-4802" r="-1199" b="-93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532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0"/>
            <a:ext cx="8620125" cy="4362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223837" y="4718994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7" y="4718994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76096" y="4887837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779114" y="454611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14" y="4546118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2851262" y="4546118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262" y="4546118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223837" y="558194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7" y="5581949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857352" y="569518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769980" y="534627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80" y="5346276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3218541" y="5360579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541" y="5360579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764311" y="515800"/>
            <a:ext cx="4036539" cy="5129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4572486" y="4878250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4475504" y="4536531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504" y="4536531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5927663" y="4546118"/>
                <a:ext cx="537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663" y="4546118"/>
                <a:ext cx="537904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0112" r="-10112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4553742" y="5685601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6348526" y="5360579"/>
                <a:ext cx="52655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526" y="5360579"/>
                <a:ext cx="526554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7241" r="-11494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6305550" y="4878250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6677638" y="5685600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4500614" y="53462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614" y="5346275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54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/>
      <p:bldP spid="21" grpId="0" animBg="1"/>
      <p:bldP spid="22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0"/>
            <a:ext cx="8620125" cy="4362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223837" y="4718994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7" y="4718994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76096" y="4887837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779114" y="454611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14" y="4546118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2851262" y="4546118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262" y="4546118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223837" y="558194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7" y="5581949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857352" y="569518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769980" y="534627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80" y="5346276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3218541" y="5360579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541" y="5360579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782201" y="972999"/>
            <a:ext cx="2247000" cy="67482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648936" y="4887837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6551954" y="454611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954" y="4546118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8620141" y="4527443"/>
                <a:ext cx="133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141" y="4527443"/>
                <a:ext cx="133947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45455" r="-36364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6630192" y="569518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8424976" y="5370166"/>
                <a:ext cx="52655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976" y="5370166"/>
                <a:ext cx="526554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7442" r="-12791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8754088" y="5695187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6577064" y="5355862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64" y="5355862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3972591" y="4887837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3875609" y="454611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609" y="4546118"/>
                <a:ext cx="181140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34483" r="-31034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5327768" y="4555705"/>
                <a:ext cx="537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768" y="4555705"/>
                <a:ext cx="537904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10227" r="-10227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3953847" y="569518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6229439" y="5370166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39" y="5370166"/>
                <a:ext cx="122598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75000" r="-75000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5705655" y="4887837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900719" y="5355862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719" y="5355862"/>
                <a:ext cx="181140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接點 3"/>
          <p:cNvCxnSpPr/>
          <p:nvPr/>
        </p:nvCxnSpPr>
        <p:spPr>
          <a:xfrm>
            <a:off x="3581400" y="4457700"/>
            <a:ext cx="0" cy="1709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532904" y="4409761"/>
            <a:ext cx="0" cy="17569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34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0"/>
            <a:ext cx="8620125" cy="4362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223837" y="4718994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7" y="4718994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76096" y="4887837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779114" y="454611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14" y="4546118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2851262" y="4546118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262" y="4546118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223837" y="5581949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7" y="5581949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857352" y="5695188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769980" y="534627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80" y="5346276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3218541" y="5360579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541" y="5360579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733675" y="1600200"/>
            <a:ext cx="6229350" cy="9144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4572486" y="4878250"/>
            <a:ext cx="106631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4475504" y="4536531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504" y="4536531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5195326" y="4546493"/>
                <a:ext cx="589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326" y="4546493"/>
                <a:ext cx="589905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0309" t="-4444" r="-9278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4553742" y="5685601"/>
            <a:ext cx="83740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4908387" y="5352622"/>
                <a:ext cx="58189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387" y="5352622"/>
                <a:ext cx="581891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6667" t="-6818" r="-10417" b="-43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6913509" y="4878250"/>
            <a:ext cx="872484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6918042" y="5692476"/>
            <a:ext cx="152644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4500614" y="53462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614" y="5346275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7681264" y="458451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264" y="4584515"/>
                <a:ext cx="185948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35484" t="-4444" r="-32258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/>
              <p:cNvSpPr txBox="1"/>
              <p:nvPr/>
            </p:nvSpPr>
            <p:spPr>
              <a:xfrm>
                <a:off x="6918042" y="5349448"/>
                <a:ext cx="17793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042" y="5349448"/>
                <a:ext cx="177934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55172" t="-6818" r="-58621" b="-43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6890695" y="4567237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95" y="4567237"/>
                <a:ext cx="116314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57895" r="-52632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/>
              <p:cNvSpPr txBox="1"/>
              <p:nvPr/>
            </p:nvSpPr>
            <p:spPr>
              <a:xfrm>
                <a:off x="8334305" y="5341101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305" y="5341101"/>
                <a:ext cx="122598" cy="270652"/>
              </a:xfrm>
              <a:prstGeom prst="rect">
                <a:avLst/>
              </a:prstGeom>
              <a:blipFill rotWithShape="0">
                <a:blip r:embed="rId16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/>
          <p:cNvCxnSpPr/>
          <p:nvPr/>
        </p:nvCxnSpPr>
        <p:spPr>
          <a:xfrm>
            <a:off x="3781425" y="4546118"/>
            <a:ext cx="0" cy="1709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十字形 2"/>
          <p:cNvSpPr/>
          <p:nvPr/>
        </p:nvSpPr>
        <p:spPr>
          <a:xfrm>
            <a:off x="6109518" y="5253011"/>
            <a:ext cx="440520" cy="439465"/>
          </a:xfrm>
          <a:prstGeom prst="plus">
            <a:avLst>
              <a:gd name="adj" fmla="val 464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88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0"/>
            <a:ext cx="8620125" cy="4362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/>
              <p:cNvSpPr txBox="1"/>
              <p:nvPr/>
            </p:nvSpPr>
            <p:spPr>
              <a:xfrm>
                <a:off x="494072" y="4655745"/>
                <a:ext cx="7531677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TW" sz="2800" b="0" dirty="0" smtClean="0"/>
              </a:p>
              <a:p>
                <a:r>
                  <a:rPr lang="en-US" altLang="zh-TW" sz="2800" dirty="0" smtClean="0"/>
                  <a:t>			    =</a:t>
                </a:r>
                <a14:m>
                  <m:oMath xmlns:m="http://schemas.openxmlformats.org/officeDocument/2006/math">
                    <m:r>
                      <a:rPr lang="en-US" altLang="zh-TW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2" y="4655745"/>
                <a:ext cx="7531677" cy="861774"/>
              </a:xfrm>
              <a:prstGeom prst="rect">
                <a:avLst/>
              </a:prstGeom>
              <a:blipFill rotWithShape="0">
                <a:blip r:embed="rId3"/>
                <a:stretch>
                  <a:fillRect b="-248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579797" y="5681095"/>
                <a:ext cx="458882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97" y="5681095"/>
                <a:ext cx="4588820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圓角矩形 3"/>
          <p:cNvSpPr/>
          <p:nvPr/>
        </p:nvSpPr>
        <p:spPr>
          <a:xfrm>
            <a:off x="494072" y="4552950"/>
            <a:ext cx="7659328" cy="17907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47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Space Efficient Algorithm for Affine Gap Penalty Score Schemes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55275" y="1624014"/>
                <a:ext cx="8688725" cy="36009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600" i="1" smtClean="0">
                        <a:latin typeface="Cambria Math" panose="02040503050406030204" pitchFamily="18" charset="0"/>
                      </a:rPr>
                      <m:t>𝐷𝑃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600" dirty="0"/>
                  <a:t> </a:t>
                </a:r>
                <a:r>
                  <a:rPr lang="en-US" altLang="zh-TW" sz="2600" dirty="0"/>
                  <a:t>= the score of an optimal inversion alignment between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sz="2600" dirty="0"/>
                  <a:t> such that the last operation</a:t>
                </a:r>
              </a:p>
              <a:p>
                <a:r>
                  <a:rPr lang="en-US" altLang="zh-TW" sz="2600" dirty="0"/>
                  <a:t>	 </a:t>
                </a:r>
                <a:r>
                  <a:rPr lang="en-US" altLang="zh-TW" sz="2600" dirty="0"/>
                  <a:t>       is a </a:t>
                </a:r>
                <a:r>
                  <a:rPr lang="en-US" altLang="zh-TW" sz="2600" b="1" dirty="0"/>
                  <a:t>match or mismatch</a:t>
                </a:r>
                <a:r>
                  <a:rPr lang="en-US" altLang="zh-TW" sz="26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𝐷𝑃</m:t>
                    </m:r>
                    <m:r>
                      <a:rPr lang="en-US" altLang="zh-TW" sz="2600" b="0" i="1" baseline="-25000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600" dirty="0"/>
                  <a:t> </a:t>
                </a:r>
                <a:r>
                  <a:rPr lang="en-US" altLang="zh-TW" sz="2600" dirty="0"/>
                  <a:t>= the score of an optimal inversion alignment between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sz="2600" dirty="0"/>
                  <a:t> such that the last operation</a:t>
                </a:r>
              </a:p>
              <a:p>
                <a:r>
                  <a:rPr lang="en-US" altLang="zh-TW" sz="2600" dirty="0"/>
                  <a:t>	 </a:t>
                </a:r>
                <a:r>
                  <a:rPr lang="en-US" altLang="zh-TW" sz="2600" dirty="0"/>
                  <a:t>       is a </a:t>
                </a:r>
                <a:r>
                  <a:rPr lang="en-US" altLang="zh-TW" sz="2600" b="1" dirty="0" smtClean="0"/>
                  <a:t>insertion</a:t>
                </a:r>
                <a:r>
                  <a:rPr lang="en-US" altLang="zh-TW" sz="2600" dirty="0" smtClean="0"/>
                  <a:t>.</a:t>
                </a:r>
                <a:endParaRPr lang="en-US" altLang="zh-TW" sz="2600" dirty="0"/>
              </a:p>
              <a:p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𝐷𝑃</m:t>
                    </m:r>
                    <m:r>
                      <a:rPr lang="en-US" altLang="zh-TW" sz="2600" b="0" i="1" baseline="-2500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600" dirty="0"/>
                  <a:t> </a:t>
                </a:r>
                <a:r>
                  <a:rPr lang="en-US" altLang="zh-TW" sz="2600" dirty="0"/>
                  <a:t>= the score of an optimal inversion alignment between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sz="2600" dirty="0"/>
                  <a:t> such that the last operation</a:t>
                </a:r>
              </a:p>
              <a:p>
                <a:r>
                  <a:rPr lang="en-US" altLang="zh-TW" sz="2600" dirty="0"/>
                  <a:t>	 </a:t>
                </a:r>
                <a:r>
                  <a:rPr lang="en-US" altLang="zh-TW" sz="2600" dirty="0"/>
                  <a:t>       is a </a:t>
                </a:r>
                <a:r>
                  <a:rPr lang="en-US" altLang="zh-TW" sz="2600" b="1" dirty="0"/>
                  <a:t>deletion</a:t>
                </a:r>
                <a:r>
                  <a:rPr lang="en-US" altLang="zh-TW" sz="2600" dirty="0" smtClean="0"/>
                  <a:t>.</a:t>
                </a:r>
                <a:endParaRPr lang="en-US" altLang="zh-TW" sz="26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75" y="1624014"/>
                <a:ext cx="8688725" cy="3600986"/>
              </a:xfrm>
              <a:prstGeom prst="rect">
                <a:avLst/>
              </a:prstGeom>
              <a:blipFill rotWithShape="0">
                <a:blip r:embed="rId2"/>
                <a:stretch>
                  <a:fillRect t="-2538" r="-1404" b="-47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63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Space Efficient Algorithm for Affine Gap Penalty Score Schemes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455275" y="1624014"/>
                <a:ext cx="8054577" cy="38616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TW" altLang="en-US" sz="2600" dirty="0"/>
                  <a:t> </a:t>
                </a:r>
                <a:r>
                  <a:rPr lang="en-US" altLang="zh-TW" sz="2600" dirty="0"/>
                  <a:t>= the </a:t>
                </a:r>
                <a:r>
                  <a:rPr lang="en-US" altLang="zh-TW" sz="2600" dirty="0" smtClean="0"/>
                  <a:t>sequence similarities between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6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′…</m:t>
                            </m:r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TW" sz="2600" dirty="0" smtClean="0"/>
                  <a:t> and </a:t>
                </a:r>
              </a:p>
              <a:p>
                <a:r>
                  <a:rPr lang="en-US" altLang="zh-TW" sz="2600" dirty="0" smtClean="0"/>
                  <a:t>	        </a:t>
                </a:r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sz="2600" dirty="0"/>
                  <a:t> such that the last operation</a:t>
                </a:r>
              </a:p>
              <a:p>
                <a:r>
                  <a:rPr lang="en-US" altLang="zh-TW" sz="2600" dirty="0"/>
                  <a:t>	 </a:t>
                </a:r>
                <a:r>
                  <a:rPr lang="en-US" altLang="zh-TW" sz="2600" dirty="0"/>
                  <a:t>       is a </a:t>
                </a:r>
                <a:r>
                  <a:rPr lang="en-US" altLang="zh-TW" sz="2600" b="1" dirty="0"/>
                  <a:t>match or mismatch</a:t>
                </a:r>
                <a:r>
                  <a:rPr lang="en-US" altLang="zh-TW" sz="2600" dirty="0" smtClean="0"/>
                  <a:t>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TW" altLang="en-US" sz="2600" dirty="0"/>
                  <a:t> </a:t>
                </a:r>
                <a:r>
                  <a:rPr lang="en-US" altLang="zh-TW" sz="2600" dirty="0"/>
                  <a:t>= the sequence similarities between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6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′…</m:t>
                            </m:r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TW" sz="2600" dirty="0"/>
                  <a:t> and </a:t>
                </a:r>
              </a:p>
              <a:p>
                <a:r>
                  <a:rPr lang="en-US" altLang="zh-TW" sz="2600" dirty="0"/>
                  <a:t>	        </a:t>
                </a:r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′…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sz="2600" dirty="0"/>
                  <a:t> such that the last operation</a:t>
                </a:r>
              </a:p>
              <a:p>
                <a:r>
                  <a:rPr lang="en-US" altLang="zh-TW" sz="2600" dirty="0"/>
                  <a:t>	        is a </a:t>
                </a:r>
                <a:r>
                  <a:rPr lang="en-US" altLang="zh-TW" sz="2600" b="1" dirty="0" smtClean="0"/>
                  <a:t>insertion</a:t>
                </a:r>
                <a:r>
                  <a:rPr lang="en-US" altLang="zh-TW" sz="2600" dirty="0" smtClean="0"/>
                  <a:t>.</a:t>
                </a:r>
                <a:endParaRPr lang="en-US" altLang="zh-TW" sz="26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TW" altLang="en-US" sz="2600" dirty="0"/>
                  <a:t> </a:t>
                </a:r>
                <a:r>
                  <a:rPr lang="en-US" altLang="zh-TW" sz="2600" dirty="0"/>
                  <a:t>= the sequence similarities between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6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′…</m:t>
                            </m:r>
                            <m:r>
                              <a:rPr lang="en-US" altLang="zh-TW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TW" sz="2600" dirty="0"/>
                  <a:t> and </a:t>
                </a:r>
              </a:p>
              <a:p>
                <a:r>
                  <a:rPr lang="en-US" altLang="zh-TW" sz="2600" dirty="0"/>
                  <a:t>	        </a:t>
                </a:r>
                <a14:m>
                  <m:oMath xmlns:m="http://schemas.openxmlformats.org/officeDocument/2006/math">
                    <m:r>
                      <a:rPr lang="en-US" altLang="zh-TW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600" i="1" baseline="-250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′…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sz="2600" dirty="0"/>
                  <a:t> such that the last operation</a:t>
                </a:r>
              </a:p>
              <a:p>
                <a:r>
                  <a:rPr lang="en-US" altLang="zh-TW" sz="2600" dirty="0"/>
                  <a:t>	        is a </a:t>
                </a:r>
                <a:r>
                  <a:rPr lang="en-US" altLang="zh-TW" sz="2600" b="1" dirty="0"/>
                  <a:t>deletion</a:t>
                </a:r>
                <a:r>
                  <a:rPr lang="en-US" altLang="zh-TW" sz="2600" dirty="0" smtClean="0"/>
                  <a:t>.</a:t>
                </a:r>
                <a:endParaRPr lang="en-US" altLang="zh-TW" sz="26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75" y="1624014"/>
                <a:ext cx="8054577" cy="3861635"/>
              </a:xfrm>
              <a:prstGeom prst="rect">
                <a:avLst/>
              </a:prstGeom>
              <a:blipFill rotWithShape="0">
                <a:blip r:embed="rId2"/>
                <a:stretch>
                  <a:fillRect t="-473" r="-1514" b="-4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5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Boundary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547812"/>
            <a:ext cx="5353050" cy="109537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338512"/>
            <a:ext cx="69246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5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DP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7" y="1176337"/>
            <a:ext cx="8538453" cy="22240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370656" y="1215164"/>
            <a:ext cx="4639744" cy="101368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/>
              <p:cNvSpPr txBox="1"/>
              <p:nvPr/>
            </p:nvSpPr>
            <p:spPr>
              <a:xfrm>
                <a:off x="212886" y="3582888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6" y="3582888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865145" y="3751731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/>
              <p:cNvSpPr txBox="1"/>
              <p:nvPr/>
            </p:nvSpPr>
            <p:spPr>
              <a:xfrm>
                <a:off x="768163" y="3410012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63" y="3410012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/>
              <p:cNvSpPr txBox="1"/>
              <p:nvPr/>
            </p:nvSpPr>
            <p:spPr>
              <a:xfrm>
                <a:off x="2840311" y="3410012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311" y="3410012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/>
              <p:cNvSpPr txBox="1"/>
              <p:nvPr/>
            </p:nvSpPr>
            <p:spPr>
              <a:xfrm>
                <a:off x="212886" y="4445843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6" y="4445843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/>
          <p:cNvSpPr/>
          <p:nvPr/>
        </p:nvSpPr>
        <p:spPr>
          <a:xfrm>
            <a:off x="846401" y="4559082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/>
              <p:cNvSpPr txBox="1"/>
              <p:nvPr/>
            </p:nvSpPr>
            <p:spPr>
              <a:xfrm>
                <a:off x="759029" y="4210170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29" y="4210170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4483" r="-31034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3207590" y="4224473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590" y="4224473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/>
          <p:cNvSpPr/>
          <p:nvPr/>
        </p:nvSpPr>
        <p:spPr>
          <a:xfrm>
            <a:off x="4561535" y="3742144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/>
              <p:cNvSpPr txBox="1"/>
              <p:nvPr/>
            </p:nvSpPr>
            <p:spPr>
              <a:xfrm>
                <a:off x="4464553" y="340042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553" y="3400425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/>
              <p:cNvSpPr txBox="1"/>
              <p:nvPr/>
            </p:nvSpPr>
            <p:spPr>
              <a:xfrm>
                <a:off x="5916712" y="3410012"/>
                <a:ext cx="537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712" y="3410012"/>
                <a:ext cx="537904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0227" r="-10227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/>
          <p:cNvSpPr/>
          <p:nvPr/>
        </p:nvSpPr>
        <p:spPr>
          <a:xfrm>
            <a:off x="4542791" y="4549495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/>
              <p:cNvSpPr txBox="1"/>
              <p:nvPr/>
            </p:nvSpPr>
            <p:spPr>
              <a:xfrm>
                <a:off x="6337575" y="4224473"/>
                <a:ext cx="52655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575" y="4224473"/>
                <a:ext cx="526554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7442" r="-11628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/>
          <p:cNvSpPr/>
          <p:nvPr/>
        </p:nvSpPr>
        <p:spPr>
          <a:xfrm>
            <a:off x="6294599" y="3742144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6666687" y="4549494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47"/>
              <p:cNvSpPr txBox="1"/>
              <p:nvPr/>
            </p:nvSpPr>
            <p:spPr>
              <a:xfrm>
                <a:off x="4489663" y="4210169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663" y="4210169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26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DP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7" y="1176337"/>
            <a:ext cx="8538453" cy="22240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350930" y="2093473"/>
            <a:ext cx="6469219" cy="115455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212886" y="3582888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6" y="3582888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865145" y="3751731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768163" y="3410012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63" y="3410012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2840311" y="3410012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311" y="3410012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212886" y="4445843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6" y="4445843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846401" y="4559082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759029" y="4210170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29" y="4210170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4483" r="-31034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3207590" y="4224473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590" y="4224473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線接點 52"/>
          <p:cNvCxnSpPr/>
          <p:nvPr/>
        </p:nvCxnSpPr>
        <p:spPr>
          <a:xfrm>
            <a:off x="3667125" y="3527525"/>
            <a:ext cx="0" cy="1709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531295" y="3806862"/>
            <a:ext cx="106631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/>
              <p:cNvSpPr txBox="1"/>
              <p:nvPr/>
            </p:nvSpPr>
            <p:spPr>
              <a:xfrm>
                <a:off x="4434313" y="346514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313" y="3465143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8"/>
              <p:cNvSpPr txBox="1"/>
              <p:nvPr/>
            </p:nvSpPr>
            <p:spPr>
              <a:xfrm>
                <a:off x="5154135" y="3475105"/>
                <a:ext cx="589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135" y="3475105"/>
                <a:ext cx="589905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0309" t="-4348" r="-9278"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矩形 59"/>
          <p:cNvSpPr/>
          <p:nvPr/>
        </p:nvSpPr>
        <p:spPr>
          <a:xfrm>
            <a:off x="4512551" y="4614213"/>
            <a:ext cx="83740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60"/>
              <p:cNvSpPr txBox="1"/>
              <p:nvPr/>
            </p:nvSpPr>
            <p:spPr>
              <a:xfrm>
                <a:off x="4867196" y="4281234"/>
                <a:ext cx="58189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196" y="4281234"/>
                <a:ext cx="581891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6667" t="-4444" r="-10417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矩形 61"/>
          <p:cNvSpPr/>
          <p:nvPr/>
        </p:nvSpPr>
        <p:spPr>
          <a:xfrm>
            <a:off x="6872318" y="3806862"/>
            <a:ext cx="872484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876851" y="4621088"/>
            <a:ext cx="152644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/>
              <p:cNvSpPr txBox="1"/>
              <p:nvPr/>
            </p:nvSpPr>
            <p:spPr>
              <a:xfrm>
                <a:off x="4459423" y="4274887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423" y="4274887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64"/>
              <p:cNvSpPr txBox="1"/>
              <p:nvPr/>
            </p:nvSpPr>
            <p:spPr>
              <a:xfrm>
                <a:off x="7640073" y="3513127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073" y="3513127"/>
                <a:ext cx="185948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35484" t="-2174" r="-32258"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65"/>
              <p:cNvSpPr txBox="1"/>
              <p:nvPr/>
            </p:nvSpPr>
            <p:spPr>
              <a:xfrm>
                <a:off x="6876851" y="4278060"/>
                <a:ext cx="17793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851" y="4278060"/>
                <a:ext cx="177934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55172" t="-6818" r="-58621" b="-43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66"/>
              <p:cNvSpPr txBox="1"/>
              <p:nvPr/>
            </p:nvSpPr>
            <p:spPr>
              <a:xfrm>
                <a:off x="6849504" y="3495849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04" y="3495849"/>
                <a:ext cx="116314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57895" r="-52632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/>
              <p:cNvSpPr txBox="1"/>
              <p:nvPr/>
            </p:nvSpPr>
            <p:spPr>
              <a:xfrm>
                <a:off x="8293114" y="4269713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114" y="4269713"/>
                <a:ext cx="122598" cy="270652"/>
              </a:xfrm>
              <a:prstGeom prst="rect">
                <a:avLst/>
              </a:prstGeom>
              <a:blipFill rotWithShape="0">
                <a:blip r:embed="rId16"/>
                <a:stretch>
                  <a:fillRect l="-71429" r="-66667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十字形 68"/>
          <p:cNvSpPr/>
          <p:nvPr/>
        </p:nvSpPr>
        <p:spPr>
          <a:xfrm>
            <a:off x="6068327" y="4181623"/>
            <a:ext cx="440520" cy="439465"/>
          </a:xfrm>
          <a:prstGeom prst="plus">
            <a:avLst>
              <a:gd name="adj" fmla="val 464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94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DP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b="52226"/>
          <a:stretch/>
        </p:blipFill>
        <p:spPr>
          <a:xfrm>
            <a:off x="0" y="1162050"/>
            <a:ext cx="8948738" cy="215265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154497" y="1300889"/>
            <a:ext cx="3008053" cy="101368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926924" y="3675094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/>
              <p:cNvSpPr txBox="1"/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908180" y="4482445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4329100" y="3675094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48"/>
              <p:cNvSpPr txBox="1"/>
              <p:nvPr/>
            </p:nvSpPr>
            <p:spPr>
              <a:xfrm>
                <a:off x="4232118" y="33333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118" y="3333375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/>
              <p:cNvSpPr txBox="1"/>
              <p:nvPr/>
            </p:nvSpPr>
            <p:spPr>
              <a:xfrm>
                <a:off x="6300305" y="3314700"/>
                <a:ext cx="133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305" y="3314700"/>
                <a:ext cx="133947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47619" r="-42857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/>
          <p:cNvSpPr/>
          <p:nvPr/>
        </p:nvSpPr>
        <p:spPr>
          <a:xfrm>
            <a:off x="4310356" y="4482445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1"/>
              <p:cNvSpPr txBox="1"/>
              <p:nvPr/>
            </p:nvSpPr>
            <p:spPr>
              <a:xfrm>
                <a:off x="6105140" y="4157423"/>
                <a:ext cx="52655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140" y="4157423"/>
                <a:ext cx="526554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6092" r="-11494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 52"/>
          <p:cNvSpPr/>
          <p:nvPr/>
        </p:nvSpPr>
        <p:spPr>
          <a:xfrm>
            <a:off x="6434252" y="4482444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3"/>
              <p:cNvSpPr txBox="1"/>
              <p:nvPr/>
            </p:nvSpPr>
            <p:spPr>
              <a:xfrm>
                <a:off x="4257228" y="4143119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228" y="4143119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09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DP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b="52226"/>
          <a:stretch/>
        </p:blipFill>
        <p:spPr>
          <a:xfrm>
            <a:off x="0" y="1162050"/>
            <a:ext cx="8948738" cy="215265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181225" y="2222199"/>
            <a:ext cx="6767513" cy="11758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926924" y="3675094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/>
              <p:cNvSpPr txBox="1"/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908180" y="4482445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19"/>
          <p:cNvCxnSpPr/>
          <p:nvPr/>
        </p:nvCxnSpPr>
        <p:spPr>
          <a:xfrm>
            <a:off x="3667125" y="3527525"/>
            <a:ext cx="0" cy="1709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531295" y="3806862"/>
            <a:ext cx="106631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4434313" y="346514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313" y="3465143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/>
              <p:cNvSpPr txBox="1"/>
              <p:nvPr/>
            </p:nvSpPr>
            <p:spPr>
              <a:xfrm>
                <a:off x="5154135" y="3475105"/>
                <a:ext cx="589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135" y="3475105"/>
                <a:ext cx="589905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0309" t="-4348" r="-9278"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4512551" y="4614213"/>
            <a:ext cx="83740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/>
              <p:cNvSpPr txBox="1"/>
              <p:nvPr/>
            </p:nvSpPr>
            <p:spPr>
              <a:xfrm>
                <a:off x="4867196" y="4281234"/>
                <a:ext cx="58189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196" y="4281234"/>
                <a:ext cx="581891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16667" t="-4444" r="-10417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/>
          <p:cNvSpPr/>
          <p:nvPr/>
        </p:nvSpPr>
        <p:spPr>
          <a:xfrm>
            <a:off x="6872318" y="3806862"/>
            <a:ext cx="872484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6876851" y="4621088"/>
            <a:ext cx="152644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/>
              <p:cNvSpPr txBox="1"/>
              <p:nvPr/>
            </p:nvSpPr>
            <p:spPr>
              <a:xfrm>
                <a:off x="4459423" y="4274887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423" y="4274887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/>
              <p:cNvSpPr txBox="1"/>
              <p:nvPr/>
            </p:nvSpPr>
            <p:spPr>
              <a:xfrm>
                <a:off x="7640073" y="3513127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073" y="3513127"/>
                <a:ext cx="185948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35484" t="-2174" r="-32258"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6876851" y="4278060"/>
                <a:ext cx="17793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851" y="4278060"/>
                <a:ext cx="177934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55172" t="-6818" r="-58621" b="-43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/>
              <p:cNvSpPr txBox="1"/>
              <p:nvPr/>
            </p:nvSpPr>
            <p:spPr>
              <a:xfrm>
                <a:off x="6849504" y="3495849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04" y="3495849"/>
                <a:ext cx="116314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57895" r="-52632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/>
              <p:cNvSpPr txBox="1"/>
              <p:nvPr/>
            </p:nvSpPr>
            <p:spPr>
              <a:xfrm>
                <a:off x="8293114" y="4269713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114" y="4269713"/>
                <a:ext cx="122598" cy="270652"/>
              </a:xfrm>
              <a:prstGeom prst="rect">
                <a:avLst/>
              </a:prstGeom>
              <a:blipFill rotWithShape="0">
                <a:blip r:embed="rId16"/>
                <a:stretch>
                  <a:fillRect l="-71429" r="-66667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十字形 42"/>
          <p:cNvSpPr/>
          <p:nvPr/>
        </p:nvSpPr>
        <p:spPr>
          <a:xfrm>
            <a:off x="6068327" y="4181623"/>
            <a:ext cx="440520" cy="439465"/>
          </a:xfrm>
          <a:prstGeom prst="plus">
            <a:avLst>
              <a:gd name="adj" fmla="val 464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00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DP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t="52212" b="-409"/>
          <a:stretch/>
        </p:blipFill>
        <p:spPr>
          <a:xfrm>
            <a:off x="0" y="1127111"/>
            <a:ext cx="8948738" cy="2171699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230697" y="1231144"/>
            <a:ext cx="3008053" cy="101368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926924" y="3675094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/>
              <p:cNvSpPr txBox="1"/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blipFill rotWithShape="0">
                <a:blip r:embed="rId5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908180" y="4482445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blipFill rotWithShape="0">
                <a:blip r:embed="rId8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4101657" y="3685600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4004675" y="3343881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675" y="3343881"/>
                <a:ext cx="18114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5399684" y="3353468"/>
                <a:ext cx="537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684" y="3353468"/>
                <a:ext cx="537904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0227" r="-10227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4082913" y="4492951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/>
              <p:cNvSpPr txBox="1"/>
              <p:nvPr/>
            </p:nvSpPr>
            <p:spPr>
              <a:xfrm>
                <a:off x="6358505" y="4167929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505" y="4167929"/>
                <a:ext cx="122598" cy="270652"/>
              </a:xfrm>
              <a:prstGeom prst="rect">
                <a:avLst/>
              </a:prstGeom>
              <a:blipFill rotWithShape="0">
                <a:blip r:embed="rId11"/>
                <a:stretch>
                  <a:fillRect l="-75000" t="-2273" r="-75000" b="-4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/>
          <p:cNvSpPr/>
          <p:nvPr/>
        </p:nvSpPr>
        <p:spPr>
          <a:xfrm>
            <a:off x="5834721" y="3685600"/>
            <a:ext cx="339084" cy="35829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/>
              <p:cNvSpPr txBox="1"/>
              <p:nvPr/>
            </p:nvSpPr>
            <p:spPr>
              <a:xfrm>
                <a:off x="4029785" y="415362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785" y="4153625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/>
              <p:cNvSpPr txBox="1"/>
              <p:nvPr/>
            </p:nvSpPr>
            <p:spPr>
              <a:xfrm>
                <a:off x="6050988" y="3353468"/>
                <a:ext cx="133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88" y="3353468"/>
                <a:ext cx="133947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45455" r="-3636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46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DP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3506251"/>
                <a:ext cx="647934" cy="5847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926924" y="3675094"/>
            <a:ext cx="207214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42" y="3333375"/>
                <a:ext cx="181140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/>
              <p:cNvSpPr txBox="1"/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0" y="3333375"/>
                <a:ext cx="116314" cy="270652"/>
              </a:xfrm>
              <a:prstGeom prst="rect">
                <a:avLst/>
              </a:prstGeom>
              <a:blipFill rotWithShape="0">
                <a:blip r:embed="rId4"/>
                <a:stretch>
                  <a:fillRect l="-57895" r="-52632"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2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65" y="4369206"/>
                <a:ext cx="647934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908180" y="4482445"/>
            <a:ext cx="2462980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08" y="4133533"/>
                <a:ext cx="181140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/>
              <p:cNvSpPr txBox="1"/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69" y="4147836"/>
                <a:ext cx="122598" cy="270652"/>
              </a:xfrm>
              <a:prstGeom prst="rect">
                <a:avLst/>
              </a:prstGeom>
              <a:blipFill rotWithShape="0">
                <a:blip r:embed="rId7"/>
                <a:stretch>
                  <a:fillRect l="-75000" r="-75000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19"/>
          <p:cNvCxnSpPr/>
          <p:nvPr/>
        </p:nvCxnSpPr>
        <p:spPr>
          <a:xfrm>
            <a:off x="3667125" y="3527525"/>
            <a:ext cx="0" cy="1709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531295" y="3806862"/>
            <a:ext cx="106631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4434313" y="3465143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313" y="3465143"/>
                <a:ext cx="181140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/>
              <p:cNvSpPr txBox="1"/>
              <p:nvPr/>
            </p:nvSpPr>
            <p:spPr>
              <a:xfrm>
                <a:off x="5154135" y="3475105"/>
                <a:ext cx="589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135" y="3475105"/>
                <a:ext cx="589905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0309" t="-4348" r="-9278"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4512551" y="4614213"/>
            <a:ext cx="837408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/>
              <p:cNvSpPr txBox="1"/>
              <p:nvPr/>
            </p:nvSpPr>
            <p:spPr>
              <a:xfrm>
                <a:off x="4867196" y="4281234"/>
                <a:ext cx="581891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′−1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196" y="4281234"/>
                <a:ext cx="581891" cy="270652"/>
              </a:xfrm>
              <a:prstGeom prst="rect">
                <a:avLst/>
              </a:prstGeom>
              <a:blipFill rotWithShape="0">
                <a:blip r:embed="rId10"/>
                <a:stretch>
                  <a:fillRect l="-16667" t="-4444" r="-10417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/>
          <p:cNvSpPr/>
          <p:nvPr/>
        </p:nvSpPr>
        <p:spPr>
          <a:xfrm>
            <a:off x="6872318" y="3806862"/>
            <a:ext cx="872484" cy="358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6876851" y="4621088"/>
            <a:ext cx="1526444" cy="358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/>
              <p:cNvSpPr txBox="1"/>
              <p:nvPr/>
            </p:nvSpPr>
            <p:spPr>
              <a:xfrm>
                <a:off x="4459423" y="4274887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423" y="4274887"/>
                <a:ext cx="181140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/>
              <p:cNvSpPr txBox="1"/>
              <p:nvPr/>
            </p:nvSpPr>
            <p:spPr>
              <a:xfrm>
                <a:off x="7640073" y="3513127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073" y="3513127"/>
                <a:ext cx="185948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5484" t="-2174" r="-32258"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6876851" y="4278060"/>
                <a:ext cx="17793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851" y="4278060"/>
                <a:ext cx="177934" cy="270652"/>
              </a:xfrm>
              <a:prstGeom prst="rect">
                <a:avLst/>
              </a:prstGeom>
              <a:blipFill rotWithShape="0">
                <a:blip r:embed="rId13"/>
                <a:stretch>
                  <a:fillRect l="-55172" t="-6818" r="-58621" b="-43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/>
              <p:cNvSpPr txBox="1"/>
              <p:nvPr/>
            </p:nvSpPr>
            <p:spPr>
              <a:xfrm>
                <a:off x="6849504" y="3495849"/>
                <a:ext cx="116314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04" y="3495849"/>
                <a:ext cx="116314" cy="270652"/>
              </a:xfrm>
              <a:prstGeom prst="rect">
                <a:avLst/>
              </a:prstGeom>
              <a:blipFill rotWithShape="0">
                <a:blip r:embed="rId14"/>
                <a:stretch>
                  <a:fillRect l="-57895" r="-52632"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/>
              <p:cNvSpPr txBox="1"/>
              <p:nvPr/>
            </p:nvSpPr>
            <p:spPr>
              <a:xfrm>
                <a:off x="8293114" y="4269713"/>
                <a:ext cx="122598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baseline="-25000" dirty="0"/>
              </a:p>
            </p:txBody>
          </p:sp>
        </mc:Choice>
        <mc:Fallback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114" y="4269713"/>
                <a:ext cx="122598" cy="270652"/>
              </a:xfrm>
              <a:prstGeom prst="rect">
                <a:avLst/>
              </a:prstGeom>
              <a:blipFill rotWithShape="0">
                <a:blip r:embed="rId15"/>
                <a:stretch>
                  <a:fillRect l="-71429" r="-66667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十字形 42"/>
          <p:cNvSpPr/>
          <p:nvPr/>
        </p:nvSpPr>
        <p:spPr>
          <a:xfrm>
            <a:off x="6068327" y="4181623"/>
            <a:ext cx="440520" cy="439465"/>
          </a:xfrm>
          <a:prstGeom prst="plus">
            <a:avLst>
              <a:gd name="adj" fmla="val 464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 rotWithShape="1">
          <a:blip r:embed="rId16"/>
          <a:srcRect t="52212" b="-409"/>
          <a:stretch/>
        </p:blipFill>
        <p:spPr>
          <a:xfrm>
            <a:off x="0" y="1127111"/>
            <a:ext cx="8948738" cy="2171699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178926" y="2182742"/>
            <a:ext cx="6850774" cy="11758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09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for I tables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016795"/>
            <a:ext cx="6372225" cy="4095750"/>
          </a:xfrm>
          <a:prstGeom prst="rect">
            <a:avLst/>
          </a:prstGeom>
        </p:spPr>
      </p:pic>
      <p:sp>
        <p:nvSpPr>
          <p:cNvPr id="3" name="圓角矩形 2"/>
          <p:cNvSpPr/>
          <p:nvPr/>
        </p:nvSpPr>
        <p:spPr>
          <a:xfrm>
            <a:off x="4909846" y="1037433"/>
            <a:ext cx="742950" cy="13049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" y="5438775"/>
            <a:ext cx="752475" cy="1219200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650080" y="5343525"/>
            <a:ext cx="852488" cy="131445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1762125" y="5800725"/>
            <a:ext cx="971550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575" y="5343525"/>
            <a:ext cx="457200" cy="1219200"/>
          </a:xfrm>
          <a:prstGeom prst="rect">
            <a:avLst/>
          </a:prstGeom>
        </p:spPr>
      </p:pic>
      <p:sp>
        <p:nvSpPr>
          <p:cNvPr id="44" name="圓角矩形 43"/>
          <p:cNvSpPr/>
          <p:nvPr/>
        </p:nvSpPr>
        <p:spPr>
          <a:xfrm>
            <a:off x="2888455" y="5334000"/>
            <a:ext cx="852488" cy="131445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向右箭號 44"/>
          <p:cNvSpPr/>
          <p:nvPr/>
        </p:nvSpPr>
        <p:spPr>
          <a:xfrm rot="20906549">
            <a:off x="4222582" y="5331392"/>
            <a:ext cx="971550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圓角矩形 45"/>
              <p:cNvSpPr/>
              <p:nvPr/>
            </p:nvSpPr>
            <p:spPr>
              <a:xfrm>
                <a:off x="5407816" y="4762728"/>
                <a:ext cx="1254921" cy="816315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圓角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816" y="4762728"/>
                <a:ext cx="1254921" cy="816315"/>
              </a:xfrm>
              <a:prstGeom prst="roundRect">
                <a:avLst/>
              </a:prstGeom>
              <a:blipFill rotWithShape="0">
                <a:blip r:embed="rId5"/>
                <a:stretch>
                  <a:fillRect b="-10791"/>
                </a:stretch>
              </a:blipFill>
              <a:ln w="28575"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/>
          <p:cNvCxnSpPr/>
          <p:nvPr/>
        </p:nvCxnSpPr>
        <p:spPr>
          <a:xfrm>
            <a:off x="519112" y="5229225"/>
            <a:ext cx="1100138" cy="1495425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橢圓 11"/>
              <p:cNvSpPr/>
              <p:nvPr/>
            </p:nvSpPr>
            <p:spPr>
              <a:xfrm>
                <a:off x="6056980" y="3478449"/>
                <a:ext cx="3030143" cy="131445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橢圓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980" y="3478449"/>
                <a:ext cx="3030143" cy="131445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圓角矩形 48"/>
              <p:cNvSpPr/>
              <p:nvPr/>
            </p:nvSpPr>
            <p:spPr>
              <a:xfrm>
                <a:off x="5407816" y="5633473"/>
                <a:ext cx="1254921" cy="1091178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US" altLang="zh-TW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圓角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816" y="5633473"/>
                <a:ext cx="1254921" cy="1091178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向右箭號 49"/>
          <p:cNvSpPr/>
          <p:nvPr/>
        </p:nvSpPr>
        <p:spPr>
          <a:xfrm rot="527944">
            <a:off x="4237412" y="5930943"/>
            <a:ext cx="971550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02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44" grpId="0" animBg="1"/>
      <p:bldP spid="45" grpId="0" animBg="1"/>
      <p:bldP spid="46" grpId="0" animBg="1"/>
      <p:bldP spid="12" grpId="0" animBg="1"/>
      <p:bldP spid="49" grpId="0" animBg="1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212888" y="1460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932222" y="1341045"/>
                <a:ext cx="44140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2" y="1341045"/>
                <a:ext cx="4414092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932222" y="1947295"/>
                <a:ext cx="432887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𝑐𝑜𝑚𝑝𝑙𝑒𝑥𝑖𝑡𝑦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e>
                      </m:d>
                    </m:oMath>
                  </m:oMathPara>
                </a14:m>
                <a:endParaRPr lang="en-US" altLang="zh-TW" sz="28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22" y="1947295"/>
                <a:ext cx="4328877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/>
          <p:nvPr/>
        </p:nvCxnSpPr>
        <p:spPr>
          <a:xfrm>
            <a:off x="0" y="259080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73647" y="2827505"/>
            <a:ext cx="8141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Find an optimal inversion alignment between two DNA sequences of length up to 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10,000bp on a normal desktop with 1Gb memory.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768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5611</TotalTime>
  <Words>620</Words>
  <Application>Microsoft Office PowerPoint</Application>
  <PresentationFormat>如螢幕大小 (4:3)</PresentationFormat>
  <Paragraphs>282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Space Efficient Algorithm for Sequence Alignment with Inversions</vt:lpstr>
      <vt:lpstr>Abstract</vt:lpstr>
      <vt:lpstr>Problem Description</vt:lpstr>
      <vt:lpstr>Score Scheme : linear gap penalty</vt:lpstr>
      <vt:lpstr>Score Scheme : affine gap penalty</vt:lpstr>
      <vt:lpstr>A Less Space Efficient Algorithm</vt:lpstr>
      <vt:lpstr>A Less Space Efficient Algorithm</vt:lpstr>
      <vt:lpstr>PowerPoint 簡報</vt:lpstr>
      <vt:lpstr>PowerPoint 簡報</vt:lpstr>
      <vt:lpstr>PowerPoint 簡報</vt:lpstr>
      <vt:lpstr>A Less Space Efficient Algorithm</vt:lpstr>
      <vt:lpstr>PowerPoint 簡報</vt:lpstr>
      <vt:lpstr>PowerPoint 簡報</vt:lpstr>
      <vt:lpstr>PowerPoint 簡報</vt:lpstr>
      <vt:lpstr>PowerPoint 簡報</vt:lpstr>
      <vt:lpstr>A Space Efficient Algorithm for Affine Gap Penalty Score Schemes</vt:lpstr>
      <vt:lpstr>A Space Efficient Algorithm for Affine Gap Penalty Score Schemes</vt:lpstr>
      <vt:lpstr>Boundary</vt:lpstr>
      <vt:lpstr>Recurrence relations for DP tables</vt:lpstr>
      <vt:lpstr>Recurrence relations for DP tables</vt:lpstr>
      <vt:lpstr>Recurrence relations for DP tables</vt:lpstr>
      <vt:lpstr>Recurrence relations for DP tables</vt:lpstr>
      <vt:lpstr>Recurrence relations for DP tables</vt:lpstr>
      <vt:lpstr>Recurrence relations for DP tables</vt:lpstr>
      <vt:lpstr>Recurrence relations for I tables</vt:lpstr>
      <vt:lpstr>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YanLee</cp:lastModifiedBy>
  <cp:revision>190</cp:revision>
  <dcterms:created xsi:type="dcterms:W3CDTF">2016-10-24T04:50:56Z</dcterms:created>
  <dcterms:modified xsi:type="dcterms:W3CDTF">2017-05-17T10:20:16Z</dcterms:modified>
</cp:coreProperties>
</file>