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60" r:id="rId3"/>
    <p:sldId id="258" r:id="rId4"/>
    <p:sldId id="261" r:id="rId5"/>
    <p:sldId id="262" r:id="rId6"/>
    <p:sldId id="266" r:id="rId7"/>
    <p:sldId id="263" r:id="rId8"/>
    <p:sldId id="264" r:id="rId9"/>
    <p:sldId id="265" r:id="rId10"/>
    <p:sldId id="267" r:id="rId11"/>
    <p:sldId id="268" r:id="rId12"/>
    <p:sldId id="270" r:id="rId13"/>
    <p:sldId id="269" r:id="rId14"/>
    <p:sldId id="271" r:id="rId15"/>
    <p:sldId id="273" r:id="rId16"/>
    <p:sldId id="272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5F85C-69D2-45CC-B3E5-27865234206F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0F0AC-6C66-414B-8AFC-226204295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81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rPr kern="0">
                <a:solidFill>
                  <a:srgbClr val="000000"/>
                </a:solidFill>
              </a:rPr>
              <a:pPr algn="r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400">
              <a:solidFill>
                <a:srgbClr val="000000"/>
              </a:solidFill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693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695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7776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673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209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6911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70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016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60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261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17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892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B91AF-ACC7-495B-9A30-11424692431B}" type="datetimeFigureOut">
              <a:rPr lang="zh-TW" altLang="en-US" smtClean="0"/>
              <a:t>2017/4/25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B1E36-9EA4-4720-A330-E11F017721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290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813731" y="3335075"/>
            <a:ext cx="10407644" cy="1449115"/>
          </a:xfrm>
        </p:spPr>
        <p:txBody>
          <a:bodyPr wrap="square">
            <a:spAutoFit/>
          </a:bodyPr>
          <a:lstStyle/>
          <a:p>
            <a:pPr lvl="0" algn="ctr"/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  <a:t>In Proceedings of the International World Wide Web Conference (WWW’07). 141–150.</a:t>
            </a:r>
            <a:br>
              <a:rPr lang="en-US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</a:br>
            <a:r>
              <a:rPr lang="en-US" altLang="zh-TW" sz="2449" b="1" dirty="0" err="1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  <a:t>Manku</a:t>
            </a:r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  <a:t>, G. S., Jain, A., and </a:t>
            </a:r>
            <a:r>
              <a:rPr lang="en-US" altLang="zh-TW" sz="2449" b="1" dirty="0" err="1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  <a:t>Sarma</a:t>
            </a:r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  <a:cs typeface="Mangal" pitchFamily="2"/>
              </a:rPr>
              <a:t>, A. D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. (2007) </a:t>
            </a:r>
            <a:b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endParaRPr lang="en-US" sz="2449" b="1" dirty="0">
              <a:solidFill>
                <a:srgbClr val="898989"/>
              </a:solidFill>
              <a:latin typeface="Liberation Sans Narrow" pitchFamily="34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395416" y="849121"/>
            <a:ext cx="11582399" cy="1897136"/>
          </a:xfrm>
        </p:spPr>
        <p:txBody>
          <a:bodyPr anchorCtr="1">
            <a:normAutofit/>
          </a:bodyPr>
          <a:lstStyle/>
          <a:p>
            <a:pPr marL="0" lvl="0" indent="0" algn="ctr">
              <a:buNone/>
            </a:pPr>
            <a:r>
              <a:rPr lang="en-US" sz="4900" dirty="0"/>
              <a:t>Detecting Near-Duplicates for Web Crawling</a:t>
            </a:r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2162522" y="4515041"/>
            <a:ext cx="8229630" cy="1897136"/>
          </a:xfrm>
        </p:spPr>
        <p:txBody>
          <a:bodyPr>
            <a:normAutofit lnSpcReduction="10000"/>
          </a:bodyPr>
          <a:lstStyle/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Jyun-Hao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Lai</a:t>
            </a: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2017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/ 04 / 25</a:t>
            </a:r>
          </a:p>
        </p:txBody>
      </p:sp>
    </p:spTree>
    <p:extLst>
      <p:ext uri="{BB962C8B-B14F-4D97-AF65-F5344CB8AC3E}">
        <p14:creationId xmlns:p14="http://schemas.microsoft.com/office/powerpoint/2010/main" val="277494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6719" y="951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600" b="1" dirty="0"/>
              <a:t>Abstract</a:t>
            </a:r>
            <a:endParaRPr lang="zh-TW" altLang="en-US" sz="4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4085" y="1228166"/>
            <a:ext cx="11620869" cy="53590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3200" dirty="0">
                <a:latin typeface="Cambria Math" panose="02040503050406030204" pitchFamily="18" charset="0"/>
              </a:rPr>
              <a:t>Near-duplicate web documents are abundant. Two such documents differ from each other in a very small portion that displays advertisements, for example. Such differences are irrelevant for web search. So the quality of a web crawler increases if it can assess whether a newly crawled web page is a near-duplicate of a previously crawled web page or not. In the course of developing a near-duplicate detection system for a multi-billion page repository, we make two research contributions. First, we demonstrate that </a:t>
            </a:r>
            <a:r>
              <a:rPr lang="en-US" altLang="zh-TW" sz="3200" dirty="0" err="1">
                <a:latin typeface="Cambria Math" panose="02040503050406030204" pitchFamily="18" charset="0"/>
              </a:rPr>
              <a:t>Charikar's</a:t>
            </a:r>
            <a:r>
              <a:rPr lang="en-US" altLang="zh-TW" sz="3200" dirty="0">
                <a:latin typeface="Cambria Math" panose="02040503050406030204" pitchFamily="18" charset="0"/>
              </a:rPr>
              <a:t> fingerprinting technique is appropriate for this goal. Second, we present an algorithmic technique for identifying existing f-bit fingerprints that differ from a given fingerprint in at most k bit-positions, for small k. Our technique is useful for both online queries and batch queries. Experimental evaluation over real data confirms the practicality of our design.</a:t>
            </a:r>
            <a:endParaRPr lang="zh-TW" altLang="en-US" sz="32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1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7836" y="130606"/>
            <a:ext cx="10515600" cy="1325563"/>
          </a:xfrm>
        </p:spPr>
        <p:txBody>
          <a:bodyPr/>
          <a:lstStyle/>
          <a:p>
            <a:r>
              <a:rPr lang="en-US" altLang="zh-TW" dirty="0"/>
              <a:t>Algorithm: </a:t>
            </a:r>
            <a:r>
              <a:rPr lang="en-US" altLang="zh-TW" dirty="0" err="1"/>
              <a:t>Simhash</a:t>
            </a:r>
            <a:r>
              <a:rPr lang="en-US" altLang="zh-TW" dirty="0"/>
              <a:t> Technique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4800" y="1283855"/>
            <a:ext cx="11049000" cy="5283199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None/>
              <a:defRPr/>
            </a:pPr>
            <a:r>
              <a:rPr lang="en-US" altLang="zh-TW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1.Convert web-page or documents to set of features</a:t>
            </a:r>
          </a:p>
          <a:p>
            <a:pPr marL="365760" lvl="1" indent="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None/>
              <a:defRPr/>
            </a:pP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use </a:t>
            </a:r>
            <a:r>
              <a:rPr lang="en-US" altLang="zh-TW" dirty="0" err="1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tf-idf</a:t>
            </a: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techniques</a:t>
            </a:r>
          </a:p>
          <a:p>
            <a:pPr marL="365760" lvl="1" indent="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None/>
              <a:defRPr/>
            </a:pP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give a weight to each feature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None/>
              <a:defRPr/>
            </a:pPr>
            <a:r>
              <a:rPr lang="en-US" altLang="zh-TW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2.Hash each feature word into a f-bit value</a:t>
            </a:r>
          </a:p>
          <a:p>
            <a:pPr marL="0" lvl="0" indent="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None/>
              <a:defRPr/>
            </a:pPr>
            <a:r>
              <a:rPr lang="en-US" altLang="zh-TW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3.Have a f-dimensional vector</a:t>
            </a:r>
            <a:r>
              <a:rPr lang="zh-TW" altLang="en-US" sz="2400" dirty="0">
                <a:solidFill>
                  <a:srgbClr val="C0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dimension values start at 0</a:t>
            </a:r>
          </a:p>
          <a:p>
            <a:pPr marL="0" lvl="0" indent="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None/>
              <a:defRPr/>
            </a:pPr>
            <a:r>
              <a:rPr lang="en-US" altLang="zh-TW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4.Update f-dimensional vector with weight of feature</a:t>
            </a:r>
          </a:p>
          <a:p>
            <a:pPr marL="365760" lvl="1" indent="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None/>
              <a:defRPr/>
            </a:pP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</a:t>
            </a:r>
            <a:r>
              <a:rPr lang="en-US" altLang="zh-TW" dirty="0" err="1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i-th</a:t>
            </a: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bit of hash value is zero -&gt; subtract </a:t>
            </a:r>
            <a:r>
              <a:rPr lang="en-US" altLang="zh-TW" dirty="0" err="1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i-th</a:t>
            </a: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vector value by weight of feature</a:t>
            </a:r>
          </a:p>
          <a:p>
            <a:pPr marL="365760" lvl="1" indent="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None/>
              <a:defRPr/>
            </a:pP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</a:t>
            </a:r>
            <a:r>
              <a:rPr lang="en-US" altLang="zh-TW" dirty="0" err="1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i-th</a:t>
            </a: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bit of hash value is one -&gt; add the weight of the feature to the </a:t>
            </a:r>
            <a:r>
              <a:rPr lang="en-US" altLang="zh-TW" dirty="0" err="1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i-th</a:t>
            </a: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vector value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None/>
              <a:defRPr/>
            </a:pPr>
            <a:r>
              <a:rPr lang="en-US" altLang="zh-TW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5.Vector will have positive and negative components</a:t>
            </a:r>
          </a:p>
          <a:p>
            <a:pPr marL="365760" lvl="1" indent="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None/>
              <a:defRPr/>
            </a:pP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Sign (+/-) of each component are bits for the fingerprint</a:t>
            </a:r>
          </a:p>
          <a:p>
            <a:endParaRPr lang="zh-TW" altLang="en-US" dirty="0"/>
          </a:p>
        </p:txBody>
      </p:sp>
      <p:sp>
        <p:nvSpPr>
          <p:cNvPr id="4" name="箭號: 向右 3"/>
          <p:cNvSpPr/>
          <p:nvPr/>
        </p:nvSpPr>
        <p:spPr>
          <a:xfrm>
            <a:off x="4562763" y="1930400"/>
            <a:ext cx="277091" cy="23090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5083520" y="1876578"/>
            <a:ext cx="2565446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2200" dirty="0"/>
              <a:t>(feature word, weight)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8963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3254" y="263525"/>
            <a:ext cx="10515600" cy="1325563"/>
          </a:xfrm>
        </p:spPr>
        <p:txBody>
          <a:bodyPr/>
          <a:lstStyle/>
          <a:p>
            <a:r>
              <a:rPr lang="en-US" altLang="zh-TW" dirty="0"/>
              <a:t>Algorithm: </a:t>
            </a:r>
            <a:r>
              <a:rPr lang="en-US" altLang="zh-TW" dirty="0" err="1"/>
              <a:t>Simhash</a:t>
            </a:r>
            <a:r>
              <a:rPr lang="en-US" altLang="zh-TW" dirty="0"/>
              <a:t> Technique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3254" y="16686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400" dirty="0"/>
              <a:t>Example</a:t>
            </a:r>
            <a:r>
              <a:rPr lang="zh-TW" altLang="en-US" sz="3400" dirty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zh-TW" altLang="en-US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en-US" altLang="zh-TW" sz="3400" dirty="0" err="1"/>
              <a:t>Simhash</a:t>
            </a:r>
            <a:r>
              <a:rPr lang="en-US" altLang="zh-TW" sz="3400" dirty="0"/>
              <a:t> Technique</a:t>
            </a:r>
            <a:r>
              <a:rPr lang="zh-TW" altLang="en-US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endParaRPr lang="en-US" altLang="zh-TW" sz="3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3400" dirty="0"/>
              <a:t>Two features</a:t>
            </a:r>
          </a:p>
          <a:p>
            <a:pPr marL="0" indent="0">
              <a:buNone/>
            </a:pPr>
            <a:r>
              <a:rPr lang="en-US" altLang="zh-TW" sz="3400" dirty="0"/>
              <a:t>          (“</a:t>
            </a:r>
            <a:r>
              <a:rPr lang="en-US" altLang="zh-TW" sz="3400" dirty="0" err="1"/>
              <a:t>Simhash</a:t>
            </a:r>
            <a:r>
              <a:rPr lang="en-US" altLang="zh-TW" sz="3400" dirty="0"/>
              <a:t>”, weight = 2)</a:t>
            </a:r>
          </a:p>
          <a:p>
            <a:pPr marL="0" indent="0">
              <a:buNone/>
            </a:pPr>
            <a:r>
              <a:rPr lang="en-US" altLang="zh-TW" sz="3400" dirty="0"/>
              <a:t>          (“Technique”, weight = 4)</a:t>
            </a:r>
          </a:p>
          <a:p>
            <a:pPr marL="0" indent="0">
              <a:buNone/>
            </a:pPr>
            <a:r>
              <a:rPr lang="en-US" altLang="zh-TW" sz="3400" dirty="0"/>
              <a:t>Hash features to 4-bits</a:t>
            </a:r>
          </a:p>
          <a:p>
            <a:pPr marL="914400" lvl="2" indent="0">
              <a:buNone/>
            </a:pPr>
            <a:r>
              <a:rPr lang="en-US" altLang="zh-TW" sz="3400" dirty="0"/>
              <a:t>“</a:t>
            </a:r>
            <a:r>
              <a:rPr lang="en-US" altLang="zh-TW" sz="3400" dirty="0" err="1"/>
              <a:t>Simhash</a:t>
            </a:r>
            <a:r>
              <a:rPr lang="en-US" altLang="zh-TW" sz="3400" dirty="0"/>
              <a:t>”	-&gt; 1101</a:t>
            </a:r>
          </a:p>
          <a:p>
            <a:pPr marL="914400" lvl="2" indent="0">
              <a:buNone/>
            </a:pPr>
            <a:r>
              <a:rPr lang="en-US" altLang="zh-TW" sz="3400" dirty="0"/>
              <a:t>“Technique”	-&gt; 0110</a:t>
            </a:r>
          </a:p>
          <a:p>
            <a:endParaRPr lang="zh-TW" altLang="en-US" sz="3400" dirty="0"/>
          </a:p>
        </p:txBody>
      </p:sp>
      <p:sp>
        <p:nvSpPr>
          <p:cNvPr id="4" name="箭號: 向右 3"/>
          <p:cNvSpPr/>
          <p:nvPr/>
        </p:nvSpPr>
        <p:spPr>
          <a:xfrm>
            <a:off x="641926" y="3029527"/>
            <a:ext cx="341745" cy="26785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箭號: 向右 4"/>
          <p:cNvSpPr/>
          <p:nvPr/>
        </p:nvSpPr>
        <p:spPr>
          <a:xfrm>
            <a:off x="641927" y="3576421"/>
            <a:ext cx="341745" cy="26785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箭號: 向左 5"/>
          <p:cNvSpPr/>
          <p:nvPr/>
        </p:nvSpPr>
        <p:spPr>
          <a:xfrm>
            <a:off x="5931017" y="5008228"/>
            <a:ext cx="343948" cy="268447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6716730" y="4927007"/>
            <a:ext cx="36503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論文中無詳細說明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hash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</a:t>
            </a:r>
          </a:p>
        </p:txBody>
      </p:sp>
    </p:spTree>
    <p:extLst>
      <p:ext uri="{BB962C8B-B14F-4D97-AF65-F5344CB8AC3E}">
        <p14:creationId xmlns:p14="http://schemas.microsoft.com/office/powerpoint/2010/main" val="73416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Algorithm: </a:t>
            </a:r>
            <a:r>
              <a:rPr lang="en-US" altLang="zh-TW" dirty="0" err="1"/>
              <a:t>Simhash</a:t>
            </a:r>
            <a:r>
              <a:rPr lang="en-US" altLang="zh-TW" dirty="0"/>
              <a:t> Technique </a:t>
            </a:r>
            <a:endParaRPr lang="zh-TW" alt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329045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Start vector with all zeroes</a:t>
            </a:r>
          </a:p>
          <a:p>
            <a:pPr marL="0" indent="0"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573147"/>
              </p:ext>
            </p:extLst>
          </p:nvPr>
        </p:nvGraphicFramePr>
        <p:xfrm>
          <a:off x="1780309" y="2723957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710411" y="1825625"/>
            <a:ext cx="51164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Apply “</a:t>
            </a:r>
            <a:r>
              <a:rPr lang="en-US" altLang="zh-TW" sz="2400" dirty="0" err="1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Simhash</a:t>
            </a:r>
            <a:r>
              <a:rPr lang="en-US" altLang="zh-TW" sz="24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” feature (</a:t>
            </a:r>
            <a:r>
              <a:rPr lang="en-US" altLang="zh-TW" sz="24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weight = 2</a:t>
            </a:r>
            <a:r>
              <a:rPr lang="en-US" altLang="zh-TW" sz="24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034501"/>
              </p:ext>
            </p:extLst>
          </p:nvPr>
        </p:nvGraphicFramePr>
        <p:xfrm>
          <a:off x="5765829" y="2723957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048165"/>
              </p:ext>
            </p:extLst>
          </p:nvPr>
        </p:nvGraphicFramePr>
        <p:xfrm>
          <a:off x="7128839" y="2723957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1</a:t>
                      </a:r>
                      <a:endParaRPr lang="zh-TW" altLang="en-US" sz="4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1</a:t>
                      </a:r>
                      <a:endParaRPr lang="zh-TW" altLang="en-US" sz="4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1</a:t>
                      </a:r>
                      <a:endParaRPr lang="zh-TW" altLang="en-US" sz="4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sp>
        <p:nvSpPr>
          <p:cNvPr id="11" name="箭號: 向右 10"/>
          <p:cNvSpPr/>
          <p:nvPr/>
        </p:nvSpPr>
        <p:spPr>
          <a:xfrm>
            <a:off x="8680140" y="3951470"/>
            <a:ext cx="443345" cy="4710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192447"/>
              </p:ext>
            </p:extLst>
          </p:nvPr>
        </p:nvGraphicFramePr>
        <p:xfrm>
          <a:off x="9638848" y="2723957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-2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6542358" y="5776853"/>
            <a:ext cx="2295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feature’s f-bit value</a:t>
            </a:r>
            <a:endParaRPr lang="zh-TW" altLang="en-US" sz="2000" dirty="0">
              <a:solidFill>
                <a:srgbClr val="C00000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74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Algorithm: </a:t>
            </a:r>
            <a:r>
              <a:rPr lang="en-US" altLang="zh-TW" dirty="0" err="1"/>
              <a:t>Simhash</a:t>
            </a:r>
            <a:r>
              <a:rPr lang="en-US" altLang="zh-TW" dirty="0"/>
              <a:t> Technique </a:t>
            </a:r>
            <a:endParaRPr lang="zh-TW" alt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329045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Start vector with all zeroes</a:t>
            </a:r>
          </a:p>
          <a:p>
            <a:pPr marL="0" indent="0"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780309" y="2723957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710411" y="1825625"/>
            <a:ext cx="52872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Apply “</a:t>
            </a:r>
            <a:r>
              <a:rPr lang="en-US" altLang="zh-TW" sz="2400" dirty="0"/>
              <a:t>Technique</a:t>
            </a:r>
            <a:r>
              <a:rPr lang="en-US" altLang="zh-TW" sz="24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” feature (</a:t>
            </a:r>
            <a:r>
              <a:rPr lang="en-US" altLang="zh-TW" sz="24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weight =4 </a:t>
            </a:r>
            <a:r>
              <a:rPr lang="en-US" altLang="zh-TW" sz="24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765829" y="2723957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76168"/>
              </p:ext>
            </p:extLst>
          </p:nvPr>
        </p:nvGraphicFramePr>
        <p:xfrm>
          <a:off x="7128839" y="2723957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1</a:t>
                      </a:r>
                      <a:endParaRPr lang="zh-TW" altLang="en-US" sz="4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1</a:t>
                      </a:r>
                      <a:endParaRPr lang="zh-TW" altLang="en-US" sz="4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0</a:t>
                      </a:r>
                      <a:endParaRPr lang="zh-TW" altLang="en-US" sz="4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sp>
        <p:nvSpPr>
          <p:cNvPr id="11" name="箭號: 向右 10"/>
          <p:cNvSpPr/>
          <p:nvPr/>
        </p:nvSpPr>
        <p:spPr>
          <a:xfrm>
            <a:off x="8680140" y="3951470"/>
            <a:ext cx="443345" cy="4710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359135"/>
              </p:ext>
            </p:extLst>
          </p:nvPr>
        </p:nvGraphicFramePr>
        <p:xfrm>
          <a:off x="9638848" y="2723957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-4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4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4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-4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6542358" y="5776853"/>
            <a:ext cx="2295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feature’s f-bit value</a:t>
            </a:r>
            <a:endParaRPr lang="zh-TW" altLang="en-US" sz="2000" dirty="0">
              <a:solidFill>
                <a:srgbClr val="C00000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605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Algorithm: </a:t>
            </a:r>
            <a:r>
              <a:rPr lang="en-US" altLang="zh-TW" dirty="0" err="1"/>
              <a:t>Simhash</a:t>
            </a:r>
            <a:r>
              <a:rPr lang="en-US" altLang="zh-TW" dirty="0"/>
              <a:t> Technique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03183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Final vector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348302"/>
              </p:ext>
            </p:extLst>
          </p:nvPr>
        </p:nvGraphicFramePr>
        <p:xfrm>
          <a:off x="984374" y="2658326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-2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234063"/>
              </p:ext>
            </p:extLst>
          </p:nvPr>
        </p:nvGraphicFramePr>
        <p:xfrm>
          <a:off x="2801618" y="2658326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-4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4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4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-4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sp>
        <p:nvSpPr>
          <p:cNvPr id="7" name="加號 6"/>
          <p:cNvSpPr/>
          <p:nvPr/>
        </p:nvSpPr>
        <p:spPr>
          <a:xfrm>
            <a:off x="2144918" y="3694545"/>
            <a:ext cx="462973" cy="426821"/>
          </a:xfrm>
          <a:prstGeom prst="mathPlus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向右 7"/>
          <p:cNvSpPr/>
          <p:nvPr/>
        </p:nvSpPr>
        <p:spPr>
          <a:xfrm>
            <a:off x="4063763" y="3672428"/>
            <a:ext cx="443345" cy="47105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395741"/>
              </p:ext>
            </p:extLst>
          </p:nvPr>
        </p:nvGraphicFramePr>
        <p:xfrm>
          <a:off x="4700835" y="2680442"/>
          <a:ext cx="82434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345">
                  <a:extLst>
                    <a:ext uri="{9D8B030D-6E8A-4147-A177-3AD203B41FA5}">
                      <a16:colId xmlns:a16="http://schemas.microsoft.com/office/drawing/2014/main" val="2295770520"/>
                    </a:ext>
                  </a:extLst>
                </a:gridCol>
              </a:tblGrid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-2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79601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6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64438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652176"/>
                  </a:ext>
                </a:extLst>
              </a:tr>
              <a:tr h="33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200" dirty="0"/>
                        <a:t>-2</a:t>
                      </a:r>
                      <a:endParaRPr lang="zh-TW" altLang="en-US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73146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096000" y="343090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Sign of vector values is -,+,+,-</a:t>
            </a:r>
          </a:p>
          <a:p>
            <a:r>
              <a:rPr lang="en-US" altLang="zh-TW" sz="28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Final 4-bit fingerprint = 0110</a:t>
            </a:r>
          </a:p>
        </p:txBody>
      </p:sp>
    </p:spTree>
    <p:extLst>
      <p:ext uri="{BB962C8B-B14F-4D97-AF65-F5344CB8AC3E}">
        <p14:creationId xmlns:p14="http://schemas.microsoft.com/office/powerpoint/2010/main" val="115525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Algorithm: </a:t>
            </a:r>
            <a:r>
              <a:rPr lang="en-US" altLang="zh-TW" dirty="0" err="1"/>
              <a:t>Simhash</a:t>
            </a:r>
            <a:r>
              <a:rPr lang="en-US" altLang="zh-TW" dirty="0"/>
              <a:t> Technique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Given f-bit fingerprint (F) find all fingerprints in a given collection which differ by at most k-bit positions.</a:t>
            </a:r>
          </a:p>
          <a:p>
            <a:pPr marL="0" indent="0">
              <a:buNone/>
            </a:pPr>
            <a:endParaRPr lang="en-US" altLang="zh-TW" dirty="0">
              <a:solidFill>
                <a:prstClr val="black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1.Create tables containing the fingerprints</a:t>
            </a:r>
            <a:r>
              <a:rPr lang="zh-TW" altLang="en-US" dirty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br>
              <a:rPr lang="en-US" altLang="zh-TW" dirty="0">
                <a:solidFill>
                  <a:srgbClr val="C00000"/>
                </a:solidFill>
              </a:rPr>
            </a:br>
            <a:r>
              <a:rPr lang="en-US" altLang="zh-TW" dirty="0">
                <a:solidFill>
                  <a:srgbClr val="C00000"/>
                </a:solidFill>
              </a:rPr>
              <a:t>          </a:t>
            </a:r>
            <a:r>
              <a:rPr lang="en-US" altLang="zh-TW" dirty="0"/>
              <a:t>each table has a permutation (</a:t>
            </a:r>
            <a:r>
              <a:rPr lang="el-GR" altLang="zh-TW" dirty="0"/>
              <a:t>π</a:t>
            </a:r>
            <a:r>
              <a:rPr lang="en-US" altLang="zh-TW" dirty="0"/>
              <a:t>) and a small integer (p)   associated with it</a:t>
            </a:r>
            <a:endParaRPr lang="en-US" altLang="zh-TW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2.Store tables in main-memory of a set of machines</a:t>
            </a:r>
            <a:r>
              <a:rPr lang="zh-TW" altLang="en-US" dirty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 ：</a:t>
            </a:r>
            <a:br>
              <a:rPr lang="en-US" altLang="zh-TW" dirty="0">
                <a:solidFill>
                  <a:srgbClr val="C00000"/>
                </a:solidFill>
              </a:rPr>
            </a:br>
            <a:r>
              <a:rPr lang="en-US" altLang="zh-TW" dirty="0">
                <a:solidFill>
                  <a:srgbClr val="C00000"/>
                </a:solidFill>
              </a:rPr>
              <a:t>          </a:t>
            </a:r>
            <a:r>
              <a:rPr lang="en-US" altLang="zh-TW" dirty="0"/>
              <a:t>find all permutated fingerprints whose top pi bits match the top pi bits of π</a:t>
            </a:r>
            <a:r>
              <a:rPr lang="en-US" altLang="zh-TW" dirty="0" err="1"/>
              <a:t>i</a:t>
            </a:r>
            <a:r>
              <a:rPr lang="en-US" altLang="zh-TW" dirty="0"/>
              <a:t>(F)</a:t>
            </a:r>
          </a:p>
          <a:p>
            <a:pPr marL="0" indent="0">
              <a:buNone/>
            </a:pPr>
            <a:endParaRPr lang="en-US" altLang="zh-TW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0373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301799"/>
            <a:ext cx="10515600" cy="1325563"/>
          </a:xfrm>
        </p:spPr>
        <p:txBody>
          <a:bodyPr/>
          <a:lstStyle/>
          <a:p>
            <a:r>
              <a:rPr lang="en-US" altLang="zh-TW" dirty="0"/>
              <a:t>Algorithm: </a:t>
            </a:r>
            <a:r>
              <a:rPr lang="en-US" altLang="zh-TW" dirty="0" err="1"/>
              <a:t>Simhash</a:t>
            </a:r>
            <a:r>
              <a:rPr lang="en-US" altLang="zh-TW" dirty="0"/>
              <a:t> Technique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8600" y="1627362"/>
            <a:ext cx="5128491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Example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endParaRPr lang="en-US" altLang="zh-TW" dirty="0">
              <a:solidFill>
                <a:prstClr val="black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</a:t>
            </a:r>
            <a:r>
              <a:rPr lang="en-US" altLang="zh-TW" dirty="0"/>
              <a:t> = 0100 1101</a:t>
            </a:r>
          </a:p>
          <a:p>
            <a:pPr marL="0" indent="0">
              <a:buNone/>
            </a:pPr>
            <a:r>
              <a:rPr lang="en-US" altLang="zh-TW" dirty="0"/>
              <a:t>K = 3</a:t>
            </a:r>
          </a:p>
          <a:p>
            <a:pPr marL="0" indent="0">
              <a:buNone/>
            </a:pPr>
            <a:r>
              <a:rPr lang="en-US" altLang="zh-TW" dirty="0"/>
              <a:t>Have a collection of 8 fingerprints</a:t>
            </a:r>
          </a:p>
          <a:p>
            <a:pPr marL="0" indent="0">
              <a:buNone/>
            </a:pPr>
            <a:r>
              <a:rPr lang="en-US" altLang="zh-TW" dirty="0"/>
              <a:t>Create two tables</a:t>
            </a:r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231783"/>
              </p:ext>
            </p:extLst>
          </p:nvPr>
        </p:nvGraphicFramePr>
        <p:xfrm>
          <a:off x="8672944" y="1063566"/>
          <a:ext cx="2706255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6255">
                  <a:extLst>
                    <a:ext uri="{9D8B030D-6E8A-4147-A177-3AD203B41FA5}">
                      <a16:colId xmlns:a16="http://schemas.microsoft.com/office/drawing/2014/main" val="899571829"/>
                    </a:ext>
                  </a:extLst>
                </a:gridCol>
              </a:tblGrid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fingerprint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011269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1100 0101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67735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987499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0101 1100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82566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0111 1110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438443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1111 1110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59284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0000 0001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87898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1111 0101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812706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1101 0010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25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272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896006"/>
              </p:ext>
            </p:extLst>
          </p:nvPr>
        </p:nvGraphicFramePr>
        <p:xfrm>
          <a:off x="4742873" y="343129"/>
          <a:ext cx="2706255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6255">
                  <a:extLst>
                    <a:ext uri="{9D8B030D-6E8A-4147-A177-3AD203B41FA5}">
                      <a16:colId xmlns:a16="http://schemas.microsoft.com/office/drawing/2014/main" val="899571829"/>
                    </a:ext>
                  </a:extLst>
                </a:gridCol>
              </a:tblGrid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kern="12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fingerprint</a:t>
                      </a:r>
                      <a:endParaRPr lang="zh-TW" altLang="en-US" sz="3400" kern="1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011269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1100 0101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67735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987499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0101 1100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82566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0111 1110</a:t>
                      </a:r>
                      <a:endParaRPr lang="zh-TW" altLang="en-US" sz="3400" dirty="0"/>
                    </a:p>
                  </a:txBody>
                  <a:tcPr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438443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1111 1110</a:t>
                      </a:r>
                      <a:endParaRPr lang="zh-TW" altLang="en-US" sz="3400" dirty="0"/>
                    </a:p>
                  </a:txBody>
                  <a:tcP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659284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0000 0001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87898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1111 0101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812706"/>
                  </a:ext>
                </a:extLst>
              </a:tr>
              <a:tr h="5612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1101 0010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25204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45053"/>
              </p:ext>
            </p:extLst>
          </p:nvPr>
        </p:nvGraphicFramePr>
        <p:xfrm>
          <a:off x="476827" y="343129"/>
          <a:ext cx="2900219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219">
                  <a:extLst>
                    <a:ext uri="{9D8B030D-6E8A-4147-A177-3AD203B41FA5}">
                      <a16:colId xmlns:a16="http://schemas.microsoft.com/office/drawing/2014/main" val="1104326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p = 3; π = Swap last four bits with first four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0101 1100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1100 0101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1110 0111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06389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911173"/>
              </p:ext>
            </p:extLst>
          </p:nvPr>
        </p:nvGraphicFramePr>
        <p:xfrm>
          <a:off x="8714505" y="3423457"/>
          <a:ext cx="2900219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219">
                  <a:extLst>
                    <a:ext uri="{9D8B030D-6E8A-4147-A177-3AD203B41FA5}">
                      <a16:colId xmlns:a16="http://schemas.microsoft.com/office/drawing/2014/main" val="1104326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 = 3; π = Move last two bits to the 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1011 1111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0100 1000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0111 1101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1011 0100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06389"/>
                  </a:ext>
                </a:extLst>
              </a:tr>
            </a:tbl>
          </a:graphicData>
        </a:graphic>
      </p:graphicFrame>
      <p:sp>
        <p:nvSpPr>
          <p:cNvPr id="12" name="箭號: 向左 11"/>
          <p:cNvSpPr/>
          <p:nvPr/>
        </p:nvSpPr>
        <p:spPr>
          <a:xfrm>
            <a:off x="3641437" y="2091111"/>
            <a:ext cx="572654" cy="550489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左 12"/>
          <p:cNvSpPr/>
          <p:nvPr/>
        </p:nvSpPr>
        <p:spPr>
          <a:xfrm rot="10800000">
            <a:off x="7795490" y="4868484"/>
            <a:ext cx="572654" cy="550489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17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786904"/>
              </p:ext>
            </p:extLst>
          </p:nvPr>
        </p:nvGraphicFramePr>
        <p:xfrm>
          <a:off x="1110331" y="1943329"/>
          <a:ext cx="2900219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219">
                  <a:extLst>
                    <a:ext uri="{9D8B030D-6E8A-4147-A177-3AD203B41FA5}">
                      <a16:colId xmlns:a16="http://schemas.microsoft.com/office/drawing/2014/main" val="1104326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p = 3; π = Swap last four bits with first four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0101 1100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1100 0101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1110 0111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06389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628906"/>
              </p:ext>
            </p:extLst>
          </p:nvPr>
        </p:nvGraphicFramePr>
        <p:xfrm>
          <a:off x="7729327" y="1937785"/>
          <a:ext cx="2900219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219">
                  <a:extLst>
                    <a:ext uri="{9D8B030D-6E8A-4147-A177-3AD203B41FA5}">
                      <a16:colId xmlns:a16="http://schemas.microsoft.com/office/drawing/2014/main" val="110432617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p = 3; π = Swap last four bits with first four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0101 1100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1100 0101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1110 0111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06389"/>
                  </a:ext>
                </a:extLst>
              </a:tr>
            </a:tbl>
          </a:graphicData>
        </a:graphic>
      </p:graphicFrame>
      <p:sp>
        <p:nvSpPr>
          <p:cNvPr id="8" name="箭號: 向左 7"/>
          <p:cNvSpPr/>
          <p:nvPr/>
        </p:nvSpPr>
        <p:spPr>
          <a:xfrm rot="10800000">
            <a:off x="5583611" y="3262740"/>
            <a:ext cx="572654" cy="550489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477842" y="2632363"/>
            <a:ext cx="784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Sort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54105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號: 向左 7"/>
          <p:cNvSpPr/>
          <p:nvPr/>
        </p:nvSpPr>
        <p:spPr>
          <a:xfrm rot="10800000">
            <a:off x="5583611" y="3262740"/>
            <a:ext cx="572654" cy="550489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477842" y="2632363"/>
            <a:ext cx="784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Sort</a:t>
            </a:r>
            <a:endParaRPr lang="zh-TW" altLang="en-US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6862"/>
              </p:ext>
            </p:extLst>
          </p:nvPr>
        </p:nvGraphicFramePr>
        <p:xfrm>
          <a:off x="1110327" y="1937784"/>
          <a:ext cx="2900219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219">
                  <a:extLst>
                    <a:ext uri="{9D8B030D-6E8A-4147-A177-3AD203B41FA5}">
                      <a16:colId xmlns:a16="http://schemas.microsoft.com/office/drawing/2014/main" val="1104326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 = 3; π = Move last two bits to the 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1011 1111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0100 1000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0111 1101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1011 0100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06389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516063"/>
              </p:ext>
            </p:extLst>
          </p:nvPr>
        </p:nvGraphicFramePr>
        <p:xfrm>
          <a:off x="7729327" y="1937784"/>
          <a:ext cx="2900219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219">
                  <a:extLst>
                    <a:ext uri="{9D8B030D-6E8A-4147-A177-3AD203B41FA5}">
                      <a16:colId xmlns:a16="http://schemas.microsoft.com/office/drawing/2014/main" val="1104326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 = 3; π = Move last two bits to the 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0100 1000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0111 1101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1011 0100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1011 1111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06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036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3290" y="318254"/>
            <a:ext cx="22637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</a:t>
            </a:r>
            <a:r>
              <a:rPr lang="en-US" altLang="zh-TW" sz="2800" dirty="0"/>
              <a:t> = 0100 1101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474782"/>
              </p:ext>
            </p:extLst>
          </p:nvPr>
        </p:nvGraphicFramePr>
        <p:xfrm>
          <a:off x="1658209" y="1951029"/>
          <a:ext cx="2900219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219">
                  <a:extLst>
                    <a:ext uri="{9D8B030D-6E8A-4147-A177-3AD203B41FA5}">
                      <a16:colId xmlns:a16="http://schemas.microsoft.com/office/drawing/2014/main" val="110432617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p = 3; π = Swap last four bits with first four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0101 1100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1100 0101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1110 0111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06389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9816"/>
              </p:ext>
            </p:extLst>
          </p:nvPr>
        </p:nvGraphicFramePr>
        <p:xfrm>
          <a:off x="7210678" y="1949951"/>
          <a:ext cx="2900219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219">
                  <a:extLst>
                    <a:ext uri="{9D8B030D-6E8A-4147-A177-3AD203B41FA5}">
                      <a16:colId xmlns:a16="http://schemas.microsoft.com/office/drawing/2014/main" val="1104326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 = 3; π = Move last two bits to the 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0100 1000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0111 1101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1011 0100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1011 1111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06389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615761" y="1426731"/>
            <a:ext cx="29851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π(F) = 1101 0100</a:t>
            </a:r>
            <a:endParaRPr lang="zh-TW" altLang="en-US" sz="2800" dirty="0">
              <a:solidFill>
                <a:prstClr val="black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68230" y="1426731"/>
            <a:ext cx="29065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π(F) =0101 0011</a:t>
            </a:r>
            <a:endParaRPr lang="zh-TW" altLang="en-US" sz="2800" dirty="0">
              <a:solidFill>
                <a:prstClr val="black"/>
              </a:solidFill>
              <a:latin typeface="Cambria Math" panose="020405030504060302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406152" y="3334707"/>
            <a:ext cx="9143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</a:rPr>
              <a:t>Match</a:t>
            </a:r>
            <a:endParaRPr lang="zh-TW" altLang="en-US" sz="2200" dirty="0">
              <a:solidFill>
                <a:srgbClr val="FF0000"/>
              </a:solidFill>
            </a:endParaRPr>
          </a:p>
        </p:txBody>
      </p:sp>
      <p:cxnSp>
        <p:nvCxnSpPr>
          <p:cNvPr id="12" name="直線單箭頭接點 11"/>
          <p:cNvCxnSpPr>
            <a:stCxn id="10" idx="1"/>
            <a:endCxn id="6" idx="3"/>
          </p:cNvCxnSpPr>
          <p:nvPr/>
        </p:nvCxnSpPr>
        <p:spPr>
          <a:xfrm flipH="1">
            <a:off x="4558428" y="3550151"/>
            <a:ext cx="847724" cy="10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cxnSpLocks/>
            <a:stCxn id="10" idx="3"/>
          </p:cNvCxnSpPr>
          <p:nvPr/>
        </p:nvCxnSpPr>
        <p:spPr>
          <a:xfrm flipV="1">
            <a:off x="6320505" y="3048001"/>
            <a:ext cx="847724" cy="5021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488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7000" y="118602"/>
            <a:ext cx="10515600" cy="1325563"/>
          </a:xfrm>
        </p:spPr>
        <p:txBody>
          <a:bodyPr/>
          <a:lstStyle/>
          <a:p>
            <a:r>
              <a:rPr lang="en-US" altLang="zh-TW" dirty="0"/>
              <a:t>Hamming Distance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7000" y="1354570"/>
            <a:ext cx="10515600" cy="94528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With k =3, only fingerprint in first table is a near-duplicate of the F fingerprint</a:t>
            </a:r>
          </a:p>
          <a:p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775159"/>
              </p:ext>
            </p:extLst>
          </p:nvPr>
        </p:nvGraphicFramePr>
        <p:xfrm>
          <a:off x="289520" y="2942821"/>
          <a:ext cx="2900219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219">
                  <a:extLst>
                    <a:ext uri="{9D8B030D-6E8A-4147-A177-3AD203B41FA5}">
                      <a16:colId xmlns:a16="http://schemas.microsoft.com/office/drawing/2014/main" val="110432617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p = 3; π = Swap last four bits with first four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01</a:t>
                      </a:r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r>
                        <a:rPr lang="en-US" altLang="zh-TW" sz="3400" dirty="0"/>
                        <a:t> 1100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>
                          <a:solidFill>
                            <a:srgbClr val="00B050"/>
                          </a:solidFill>
                        </a:rPr>
                        <a:t>1100 0101</a:t>
                      </a:r>
                      <a:endParaRPr lang="zh-TW" altLang="en-US" sz="3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1110 0111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1111 1111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06389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47072" y="2418523"/>
            <a:ext cx="29851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π(F) = 1101 0100</a:t>
            </a:r>
            <a:endParaRPr lang="zh-TW" altLang="en-US" sz="2800" dirty="0">
              <a:solidFill>
                <a:prstClr val="black"/>
              </a:solidFill>
              <a:latin typeface="Cambria Math" panose="020405030504060302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533553"/>
              </p:ext>
            </p:extLst>
          </p:nvPr>
        </p:nvGraphicFramePr>
        <p:xfrm>
          <a:off x="6329455" y="2941743"/>
          <a:ext cx="2900219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219">
                  <a:extLst>
                    <a:ext uri="{9D8B030D-6E8A-4147-A177-3AD203B41FA5}">
                      <a16:colId xmlns:a16="http://schemas.microsoft.com/office/drawing/2014/main" val="1104326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 = 3; π = Move last two bits to the 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>
                          <a:solidFill>
                            <a:srgbClr val="00B050"/>
                          </a:solidFill>
                        </a:rPr>
                        <a:t>0100 1000</a:t>
                      </a:r>
                      <a:endParaRPr lang="zh-TW" altLang="en-US" sz="3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>
                          <a:solidFill>
                            <a:schemeClr val="tx1"/>
                          </a:solidFill>
                        </a:rPr>
                        <a:t>0111 1101</a:t>
                      </a:r>
                      <a:endParaRPr lang="zh-TW" altLang="en-US" sz="3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1011 0100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dirty="0"/>
                        <a:t>1011 1111</a:t>
                      </a:r>
                      <a:endParaRPr lang="zh-TW" altLang="en-US" sz="3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06389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287007" y="2418523"/>
            <a:ext cx="29065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π(F) =0101 0011</a:t>
            </a:r>
            <a:endParaRPr lang="zh-TW" altLang="en-US" sz="2800" dirty="0">
              <a:solidFill>
                <a:prstClr val="black"/>
              </a:solidFill>
              <a:latin typeface="Cambria Math" panose="02040503050406030204" pitchFamily="18" charset="0"/>
            </a:endParaRPr>
          </a:p>
        </p:txBody>
      </p:sp>
      <p:sp>
        <p:nvSpPr>
          <p:cNvPr id="11" name="箭號: 向左 10"/>
          <p:cNvSpPr/>
          <p:nvPr/>
        </p:nvSpPr>
        <p:spPr>
          <a:xfrm rot="10800000">
            <a:off x="3383314" y="4350980"/>
            <a:ext cx="342286" cy="443847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左 12"/>
          <p:cNvSpPr/>
          <p:nvPr/>
        </p:nvSpPr>
        <p:spPr>
          <a:xfrm rot="10800000">
            <a:off x="9423249" y="4350980"/>
            <a:ext cx="342286" cy="443847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612198"/>
              </p:ext>
            </p:extLst>
          </p:nvPr>
        </p:nvGraphicFramePr>
        <p:xfrm>
          <a:off x="3838328" y="3887103"/>
          <a:ext cx="2152073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2073">
                  <a:extLst>
                    <a:ext uri="{9D8B030D-6E8A-4147-A177-3AD203B41FA5}">
                      <a16:colId xmlns:a16="http://schemas.microsoft.com/office/drawing/2014/main" val="2548727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fingerprint</a:t>
                      </a:r>
                      <a:endParaRPr lang="zh-TW" altLang="en-US" sz="2400" kern="1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171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110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n-US" altLang="zh-TW" sz="2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010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7768085"/>
                  </a:ext>
                </a:extLst>
              </a:tr>
              <a:tr h="2865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110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altLang="zh-TW" sz="2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010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0283688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520356"/>
              </p:ext>
            </p:extLst>
          </p:nvPr>
        </p:nvGraphicFramePr>
        <p:xfrm>
          <a:off x="9831232" y="3887103"/>
          <a:ext cx="2152073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2073">
                  <a:extLst>
                    <a:ext uri="{9D8B030D-6E8A-4147-A177-3AD203B41FA5}">
                      <a16:colId xmlns:a16="http://schemas.microsoft.com/office/drawing/2014/main" val="2548727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fingerprint</a:t>
                      </a:r>
                      <a:endParaRPr lang="zh-TW" altLang="en-US" sz="2400" kern="1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171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010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n-US" altLang="zh-TW" sz="2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altLang="zh-TW" sz="2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7768085"/>
                  </a:ext>
                </a:extLst>
              </a:tr>
              <a:tr h="2865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010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altLang="zh-TW" sz="2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r>
                        <a:rPr lang="en-US" altLang="zh-TW" sz="24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00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0283688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3781970" y="5486400"/>
            <a:ext cx="2264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Hamming distance = 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9831232" y="5486400"/>
            <a:ext cx="2264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Hamming distance = </a:t>
            </a:r>
            <a:r>
              <a:rPr lang="en-US" altLang="zh-TW" dirty="0">
                <a:solidFill>
                  <a:srgbClr val="C00000"/>
                </a:solidFill>
              </a:rPr>
              <a:t>4</a:t>
            </a:r>
            <a:endParaRPr lang="zh-TW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80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718871"/>
              </p:ext>
            </p:extLst>
          </p:nvPr>
        </p:nvGraphicFramePr>
        <p:xfrm>
          <a:off x="480291" y="1347708"/>
          <a:ext cx="803564" cy="487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564">
                  <a:extLst>
                    <a:ext uri="{9D8B030D-6E8A-4147-A177-3AD203B41FA5}">
                      <a16:colId xmlns:a16="http://schemas.microsoft.com/office/drawing/2014/main" val="3340279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564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081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180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990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4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2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611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267453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96303" y="331291"/>
            <a:ext cx="1571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64-bit </a:t>
            </a:r>
          </a:p>
          <a:p>
            <a:r>
              <a:rPr lang="en-US" altLang="zh-TW" sz="2400" dirty="0"/>
              <a:t>fingerprint</a:t>
            </a:r>
            <a:endParaRPr lang="zh-TW" altLang="en-US" sz="2400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422220"/>
              </p:ext>
            </p:extLst>
          </p:nvPr>
        </p:nvGraphicFramePr>
        <p:xfrm>
          <a:off x="1957631" y="2077412"/>
          <a:ext cx="38238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924">
                  <a:extLst>
                    <a:ext uri="{9D8B030D-6E8A-4147-A177-3AD203B41FA5}">
                      <a16:colId xmlns:a16="http://schemas.microsoft.com/office/drawing/2014/main" val="24893243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72552916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71530748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91974147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26120594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788510226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351909131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23924455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597442932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32714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460958369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446015445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47334916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7770971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3624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59361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081801"/>
              </p:ext>
            </p:extLst>
          </p:nvPr>
        </p:nvGraphicFramePr>
        <p:xfrm>
          <a:off x="1957631" y="3083405"/>
          <a:ext cx="38238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924">
                  <a:extLst>
                    <a:ext uri="{9D8B030D-6E8A-4147-A177-3AD203B41FA5}">
                      <a16:colId xmlns:a16="http://schemas.microsoft.com/office/drawing/2014/main" val="24893243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72552916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71530748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91974147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26120594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788510226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351909131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23924455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597442932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32714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460958369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446015445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47334916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7770971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3624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59361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94752"/>
              </p:ext>
            </p:extLst>
          </p:nvPr>
        </p:nvGraphicFramePr>
        <p:xfrm>
          <a:off x="1957631" y="4087087"/>
          <a:ext cx="38238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924">
                  <a:extLst>
                    <a:ext uri="{9D8B030D-6E8A-4147-A177-3AD203B41FA5}">
                      <a16:colId xmlns:a16="http://schemas.microsoft.com/office/drawing/2014/main" val="24893243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72552916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71530748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91974147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26120594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788510226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351909131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23924455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597442932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32714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460958369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446015445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47334916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7770971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3624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5936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772832"/>
              </p:ext>
            </p:extLst>
          </p:nvPr>
        </p:nvGraphicFramePr>
        <p:xfrm>
          <a:off x="1957631" y="5083065"/>
          <a:ext cx="38238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924">
                  <a:extLst>
                    <a:ext uri="{9D8B030D-6E8A-4147-A177-3AD203B41FA5}">
                      <a16:colId xmlns:a16="http://schemas.microsoft.com/office/drawing/2014/main" val="24893243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72552916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71530748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91974147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26120594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788510226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351909131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2239244557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597442932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32714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460958369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446015445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347334916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777709714"/>
                    </a:ext>
                  </a:extLst>
                </a:gridCol>
                <a:gridCol w="254924">
                  <a:extLst>
                    <a:ext uri="{9D8B030D-6E8A-4147-A177-3AD203B41FA5}">
                      <a16:colId xmlns:a16="http://schemas.microsoft.com/office/drawing/2014/main" val="13624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59361"/>
                  </a:ext>
                </a:extLst>
              </a:tr>
            </a:tbl>
          </a:graphicData>
        </a:graphic>
      </p:graphicFrame>
      <p:sp>
        <p:nvSpPr>
          <p:cNvPr id="14" name="矩形: 圓角 13"/>
          <p:cNvSpPr/>
          <p:nvPr/>
        </p:nvSpPr>
        <p:spPr>
          <a:xfrm>
            <a:off x="6567055" y="517851"/>
            <a:ext cx="5449454" cy="5883565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07880"/>
              </p:ext>
            </p:extLst>
          </p:nvPr>
        </p:nvGraphicFramePr>
        <p:xfrm>
          <a:off x="6830291" y="990777"/>
          <a:ext cx="31242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89324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255291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15307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197414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612059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885102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519091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392445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974429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3271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609583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60154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733491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77097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624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59361"/>
                  </a:ext>
                </a:extLst>
              </a:tr>
            </a:tbl>
          </a:graphicData>
        </a:graphic>
      </p:graphicFrame>
      <p:sp>
        <p:nvSpPr>
          <p:cNvPr id="16" name="文字方塊 15"/>
          <p:cNvSpPr txBox="1"/>
          <p:nvPr/>
        </p:nvSpPr>
        <p:spPr>
          <a:xfrm>
            <a:off x="3039045" y="406756"/>
            <a:ext cx="16610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分成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段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(16-bit)</a:t>
            </a:r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箭號: 向右 16"/>
          <p:cNvSpPr/>
          <p:nvPr/>
        </p:nvSpPr>
        <p:spPr>
          <a:xfrm>
            <a:off x="1542473" y="3594485"/>
            <a:ext cx="249382" cy="30326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461986"/>
              </p:ext>
            </p:extLst>
          </p:nvPr>
        </p:nvGraphicFramePr>
        <p:xfrm>
          <a:off x="6830291" y="1745828"/>
          <a:ext cx="31242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89324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255291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15307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197414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612059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885102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519091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392445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974429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3271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609583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60154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733491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77097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624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5936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912112"/>
              </p:ext>
            </p:extLst>
          </p:nvPr>
        </p:nvGraphicFramePr>
        <p:xfrm>
          <a:off x="6830291" y="4712225"/>
          <a:ext cx="31242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89324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255291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15307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197414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612059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885102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519091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392445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974429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3271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609583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60154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733491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77097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624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5936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785307"/>
              </p:ext>
            </p:extLst>
          </p:nvPr>
        </p:nvGraphicFramePr>
        <p:xfrm>
          <a:off x="6830291" y="5392315"/>
          <a:ext cx="31242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89324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255291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15307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197414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612059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885102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519091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392445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974429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3271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609583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60154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733491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77097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624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59361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609397"/>
              </p:ext>
            </p:extLst>
          </p:nvPr>
        </p:nvGraphicFramePr>
        <p:xfrm>
          <a:off x="8059882" y="2812007"/>
          <a:ext cx="665018" cy="16459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3707006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zh-TW" altLang="en-US" sz="3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229942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089407"/>
              </p:ext>
            </p:extLst>
          </p:nvPr>
        </p:nvGraphicFramePr>
        <p:xfrm>
          <a:off x="6830291" y="2500880"/>
          <a:ext cx="31242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89324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255291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15307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197414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612059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885102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519091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392445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974429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3271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609583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60154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733491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77097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624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59361"/>
                  </a:ext>
                </a:extLst>
              </a:tr>
            </a:tbl>
          </a:graphicData>
        </a:graphic>
      </p:graphicFrame>
      <p:cxnSp>
        <p:nvCxnSpPr>
          <p:cNvPr id="25" name="直線單箭頭接點 24"/>
          <p:cNvCxnSpPr/>
          <p:nvPr/>
        </p:nvCxnSpPr>
        <p:spPr>
          <a:xfrm>
            <a:off x="9954491" y="1176197"/>
            <a:ext cx="3163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9954490" y="1931248"/>
            <a:ext cx="3163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9954489" y="2686300"/>
            <a:ext cx="3163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9954488" y="4897645"/>
            <a:ext cx="3163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9954488" y="5557823"/>
            <a:ext cx="3163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箭號: 向右 29"/>
          <p:cNvSpPr/>
          <p:nvPr/>
        </p:nvSpPr>
        <p:spPr>
          <a:xfrm>
            <a:off x="6001329" y="2116668"/>
            <a:ext cx="249382" cy="30326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7" name="圖片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815" y="874832"/>
            <a:ext cx="602730" cy="602730"/>
          </a:xfrm>
          <a:prstGeom prst="rect">
            <a:avLst/>
          </a:prstGeom>
        </p:spPr>
      </p:pic>
      <p:pic>
        <p:nvPicPr>
          <p:cNvPr id="38" name="圖片 3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396" y="1629883"/>
            <a:ext cx="602730" cy="602730"/>
          </a:xfrm>
          <a:prstGeom prst="rect">
            <a:avLst/>
          </a:prstGeom>
        </p:spPr>
      </p:pic>
      <p:pic>
        <p:nvPicPr>
          <p:cNvPr id="39" name="圖片 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396" y="2384934"/>
            <a:ext cx="602730" cy="602730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396" y="4596280"/>
            <a:ext cx="602730" cy="602730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033" y="5256458"/>
            <a:ext cx="602730" cy="602730"/>
          </a:xfrm>
          <a:prstGeom prst="rect">
            <a:avLst/>
          </a:prstGeom>
        </p:spPr>
      </p:pic>
      <p:cxnSp>
        <p:nvCxnSpPr>
          <p:cNvPr id="42" name="直線單箭頭接點 41"/>
          <p:cNvCxnSpPr>
            <a:cxnSpLocks/>
            <a:stCxn id="38" idx="3"/>
          </p:cNvCxnSpPr>
          <p:nvPr/>
        </p:nvCxnSpPr>
        <p:spPr>
          <a:xfrm>
            <a:off x="10905126" y="1931248"/>
            <a:ext cx="3163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5" name="圖片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470" y="1622423"/>
            <a:ext cx="602730" cy="602730"/>
          </a:xfrm>
          <a:prstGeom prst="rect">
            <a:avLst/>
          </a:prstGeom>
        </p:spPr>
      </p:pic>
      <p:pic>
        <p:nvPicPr>
          <p:cNvPr id="46" name="圖片 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739" y="5256458"/>
            <a:ext cx="602730" cy="602730"/>
          </a:xfrm>
          <a:prstGeom prst="rect">
            <a:avLst/>
          </a:prstGeom>
        </p:spPr>
      </p:pic>
      <p:cxnSp>
        <p:nvCxnSpPr>
          <p:cNvPr id="47" name="直線單箭頭接點 46"/>
          <p:cNvCxnSpPr>
            <a:cxnSpLocks/>
            <a:stCxn id="41" idx="3"/>
          </p:cNvCxnSpPr>
          <p:nvPr/>
        </p:nvCxnSpPr>
        <p:spPr>
          <a:xfrm>
            <a:off x="10921763" y="5557823"/>
            <a:ext cx="2997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cxnSpLocks/>
            <a:stCxn id="40" idx="3"/>
          </p:cNvCxnSpPr>
          <p:nvPr/>
        </p:nvCxnSpPr>
        <p:spPr>
          <a:xfrm>
            <a:off x="10905126" y="4897645"/>
            <a:ext cx="3136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3" name="圖片 5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739" y="4596280"/>
            <a:ext cx="602730" cy="60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67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10" y="975012"/>
            <a:ext cx="7660986" cy="5551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140" y="205571"/>
            <a:ext cx="48699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dirty="0"/>
              <a:t>Experimental results</a:t>
            </a:r>
            <a:endParaRPr lang="zh-TW" altLang="en-US" sz="4400" dirty="0"/>
          </a:p>
        </p:txBody>
      </p:sp>
      <p:sp>
        <p:nvSpPr>
          <p:cNvPr id="6" name="矩形 5"/>
          <p:cNvSpPr/>
          <p:nvPr/>
        </p:nvSpPr>
        <p:spPr>
          <a:xfrm>
            <a:off x="8007927" y="3058458"/>
            <a:ext cx="365760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when choosing k=3, </a:t>
            </a:r>
          </a:p>
          <a:p>
            <a:r>
              <a:rPr lang="en-US" altLang="zh-TW" sz="2800" dirty="0"/>
              <a:t>precision and recall ≒ </a:t>
            </a:r>
            <a:r>
              <a:rPr lang="en-US" altLang="zh-TW" sz="2800" dirty="0">
                <a:solidFill>
                  <a:srgbClr val="C00000"/>
                </a:solidFill>
              </a:rPr>
              <a:t>0.75</a:t>
            </a:r>
          </a:p>
        </p:txBody>
      </p:sp>
    </p:spTree>
    <p:extLst>
      <p:ext uri="{BB962C8B-B14F-4D97-AF65-F5344CB8AC3E}">
        <p14:creationId xmlns:p14="http://schemas.microsoft.com/office/powerpoint/2010/main" val="2323020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974</Words>
  <Application>Microsoft Office PowerPoint</Application>
  <PresentationFormat>寬螢幕</PresentationFormat>
  <Paragraphs>336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30" baseType="lpstr">
      <vt:lpstr>Liberation Sans</vt:lpstr>
      <vt:lpstr>Liberation Sans Narrow</vt:lpstr>
      <vt:lpstr>Liberation Serif</vt:lpstr>
      <vt:lpstr>微軟正黑體</vt:lpstr>
      <vt:lpstr>PMingLiU</vt:lpstr>
      <vt:lpstr>PMingLiU</vt:lpstr>
      <vt:lpstr>Arial</vt:lpstr>
      <vt:lpstr>Calibri</vt:lpstr>
      <vt:lpstr>Calibri Light</vt:lpstr>
      <vt:lpstr>Cambria Math</vt:lpstr>
      <vt:lpstr>Mangal</vt:lpstr>
      <vt:lpstr>Tahoma</vt:lpstr>
      <vt:lpstr>Wingdings</vt:lpstr>
      <vt:lpstr>Office 佈景主題</vt:lpstr>
      <vt:lpstr>In Proceedings of the International World Wide Web Conference (WWW’07). 141–150. Manku, G. S., Jain, A., and Sarma, A. D. (2007)  </vt:lpstr>
      <vt:lpstr>Abstract</vt:lpstr>
      <vt:lpstr>Algorithm: Simhash Technique </vt:lpstr>
      <vt:lpstr>Algorithm: Simhash Technique </vt:lpstr>
      <vt:lpstr>Algorithm: Simhash Technique </vt:lpstr>
      <vt:lpstr>Algorithm: Simhash Technique </vt:lpstr>
      <vt:lpstr>Algorithm: Simhash Technique </vt:lpstr>
      <vt:lpstr>Algorithm: Simhash Technique </vt:lpstr>
      <vt:lpstr>Algorithm: Simhash Technique </vt:lpstr>
      <vt:lpstr>PowerPoint 簡報</vt:lpstr>
      <vt:lpstr>PowerPoint 簡報</vt:lpstr>
      <vt:lpstr>PowerPoint 簡報</vt:lpstr>
      <vt:lpstr>PowerPoint 簡報</vt:lpstr>
      <vt:lpstr>Hamming Distance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Jyun-Hao Lai</cp:lastModifiedBy>
  <cp:revision>49</cp:revision>
  <dcterms:created xsi:type="dcterms:W3CDTF">2017-04-25T05:21:13Z</dcterms:created>
  <dcterms:modified xsi:type="dcterms:W3CDTF">2017-04-25T10:23:33Z</dcterms:modified>
</cp:coreProperties>
</file>