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0" r:id="rId4"/>
    <p:sldId id="264" r:id="rId5"/>
    <p:sldId id="259" r:id="rId6"/>
    <p:sldId id="274" r:id="rId7"/>
    <p:sldId id="261" r:id="rId8"/>
    <p:sldId id="269" r:id="rId9"/>
    <p:sldId id="262" r:id="rId10"/>
    <p:sldId id="263" r:id="rId11"/>
    <p:sldId id="265" r:id="rId12"/>
    <p:sldId id="266" r:id="rId13"/>
    <p:sldId id="267" r:id="rId14"/>
    <p:sldId id="275" r:id="rId15"/>
    <p:sldId id="268" r:id="rId16"/>
    <p:sldId id="270" r:id="rId17"/>
    <p:sldId id="271" r:id="rId18"/>
    <p:sldId id="272" r:id="rId19"/>
    <p:sldId id="279" r:id="rId20"/>
    <p:sldId id="273" r:id="rId21"/>
    <p:sldId id="276" r:id="rId22"/>
    <p:sldId id="277" r:id="rId23"/>
    <p:sldId id="278" r:id="rId24"/>
    <p:sldId id="281" r:id="rId25"/>
    <p:sldId id="282" r:id="rId26"/>
    <p:sldId id="283" r:id="rId27"/>
    <p:sldId id="284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2017/12/26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79423" y="685800"/>
            <a:ext cx="8238652" cy="2512696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Tabulation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Sparse Dynamic Programming Based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Similarity Problems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Szymon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Grabowski</a:t>
            </a:r>
          </a:p>
          <a:p>
            <a:r>
              <a:rPr lang="nl-NL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Applied </a:t>
            </a:r>
            <a:r>
              <a:rPr lang="nl-NL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Mathematics, Vol. 212, pp. 96-103, October, 2016.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2017/12/26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606549"/>
                <a:ext cx="8712037" cy="456359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Calculating the length ℓ of a longest common subsequence (LCS) of two strings, A of length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and B of length m, is a classic research topic, with many known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worst-case oriented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results. We present three algorithms for LCS length calculation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respectively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func>
                      <m:func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func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the second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works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TW" sz="24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/(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func>
                      <m:func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i="0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</m:e>
                    </m:func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third one 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zh-TW" sz="2400" i="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func>
                      <m:func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4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</m:sSup>
                      </m:fName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sz="2400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real constant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≤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≤ 3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ℓ =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/(</m:t>
                    </m:r>
                    <m:func>
                      <m:func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40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TW" sz="24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i="0" dirty="0" err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altLang="zh-TW" sz="2400" i="1" dirty="0" err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400" i="0" dirty="0" err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altLang="zh-TW" sz="24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TW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r is the number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matches in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dynamic programming matrix. We also describe conditions for a given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sufficient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apply our techniques, with several concrete examples presented, namely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edit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distance, the longest common transposition-invariant subsequence (LCTS) 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merged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subsequence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MerLCS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problems.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606549"/>
                <a:ext cx="8712037" cy="4563591"/>
              </a:xfrm>
              <a:blipFill rotWithShape="0">
                <a:blip r:embed="rId2"/>
                <a:stretch>
                  <a:fillRect l="-1120" t="-2674" r="-12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841683"/>
                  </p:ext>
                </p:extLst>
              </p:nvPr>
            </p:nvGraphicFramePr>
            <p:xfrm>
              <a:off x="477792" y="297267"/>
              <a:ext cx="8180175" cy="63521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5407"/>
                    <a:gridCol w="2754304"/>
                    <a:gridCol w="3410464"/>
                  </a:tblGrid>
                  <a:tr h="6462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Algorithm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Time complexity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Conditions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Standard</a:t>
                          </a:r>
                          <a:r>
                            <a:rPr lang="en-US" altLang="zh-TW" baseline="0" dirty="0" smtClean="0"/>
                            <a:t> DP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 anchor="ctr"/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Standard</a:t>
                          </a:r>
                          <a:r>
                            <a:rPr lang="en-US" altLang="zh-TW" baseline="0" dirty="0" smtClean="0"/>
                            <a:t> 4R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</a:tr>
                  <a:tr h="978412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BFC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fName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TW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lg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func>
                                          </m:e>
                                        </m:func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fun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</a:tr>
                  <a:tr h="95467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e>
                                      <m:sup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TW" b="0" dirty="0" smtClean="0"/>
                        </a:p>
                      </a:txBody>
                      <a:tcPr anchor="ctr"/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e>
                                      <m:sup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TW" b="0" dirty="0" smtClean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e>
                                      <m:sup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TW" b="0" dirty="0" smtClean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lg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altLang="zh-TW" b="0" i="0" dirty="0" smtClean="0">
                              <a:latin typeface="+mj-lt"/>
                            </a:rPr>
                            <a:t> for real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1,3</m:t>
                                  </m:r>
                                </m:e>
                              </m:d>
                            </m:oMath>
                          </a14:m>
                          <a:endParaRPr lang="en-US" altLang="zh-TW" b="0" dirty="0" smtClean="0"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unc>
                                                  <m:func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uncPr>
                                                  <m:fNam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zh-TW" b="0" i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lg</m:t>
                                                    </m:r>
                                                  </m:fName>
                                                  <m:e>
                                                    <m:func>
                                                      <m:funcPr>
                                                        <m:ctrlPr>
                                                          <a:rPr lang="en-US" altLang="zh-TW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uncPr>
                                                      <m:fNam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altLang="zh-TW" b="0" i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lg</m:t>
                                                        </m:r>
                                                      </m:fName>
                                                      <m:e>
                                                        <m:r>
                                                          <a:rPr lang="en-US" altLang="zh-TW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e>
                                                    </m:func>
                                                  </m:e>
                                                </m:fun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841683"/>
                  </p:ext>
                </p:extLst>
              </p:nvPr>
            </p:nvGraphicFramePr>
            <p:xfrm>
              <a:off x="477792" y="297267"/>
              <a:ext cx="8180175" cy="63521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5407"/>
                    <a:gridCol w="2754304"/>
                    <a:gridCol w="3410464"/>
                  </a:tblGrid>
                  <a:tr h="6462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Algorithm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Time complexity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Conditions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Standard</a:t>
                          </a:r>
                          <a:r>
                            <a:rPr lang="en-US" altLang="zh-TW" baseline="0" dirty="0" smtClean="0"/>
                            <a:t> DP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73451" t="-100943" r="-124336" b="-78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 anchor="ctr"/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Standard</a:t>
                          </a:r>
                          <a:r>
                            <a:rPr lang="en-US" altLang="zh-TW" baseline="0" dirty="0" smtClean="0"/>
                            <a:t> 4R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73451" t="-200943" r="-124336" b="-685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40000" t="-200943" r="-357" b="-685849"/>
                          </a:stretch>
                        </a:blipFill>
                      </a:tcPr>
                    </a:tc>
                  </a:tr>
                  <a:tr h="978412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BFC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73451" t="-198137" r="-124336" b="-351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40000" t="-198137" r="-357" b="-351553"/>
                          </a:stretch>
                        </a:blipFill>
                      </a:tcPr>
                    </a:tc>
                  </a:tr>
                  <a:tr h="95467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73451" t="-305732" r="-124336" b="-26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40000" t="-305732" r="-357" b="-260510"/>
                          </a:stretch>
                        </a:blipFill>
                      </a:tcPr>
                    </a:tc>
                  </a:tr>
                  <a:tr h="8836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73451" t="-439310" r="-124336" b="-18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40000" t="-439310" r="-357" b="-182069"/>
                          </a:stretch>
                        </a:blipFill>
                      </a:tcPr>
                    </a:tc>
                  </a:tr>
                  <a:tr h="1596581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73451" t="-298473" r="-124336" b="-7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40000" t="-298473" r="-357" b="-76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481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err="1" smtClean="0"/>
              <a:t>Bille</a:t>
            </a:r>
            <a:r>
              <a:rPr lang="en-US" altLang="zh-TW" sz="4000" dirty="0" smtClean="0"/>
              <a:t> and </a:t>
            </a:r>
            <a:r>
              <a:rPr lang="en-US" altLang="zh-TW" sz="4000" dirty="0" err="1" smtClean="0"/>
              <a:t>Farach</a:t>
            </a:r>
            <a:r>
              <a:rPr lang="en-US" altLang="zh-TW" sz="4000" dirty="0" smtClean="0"/>
              <a:t>-Colton’s algorithm (BFC)</a:t>
            </a:r>
            <a:endParaRPr lang="zh-TW" altLang="en-US" sz="4000" dirty="0"/>
          </a:p>
        </p:txBody>
      </p:sp>
      <p:sp>
        <p:nvSpPr>
          <p:cNvPr id="4" name="矩形 3"/>
          <p:cNvSpPr/>
          <p:nvPr/>
        </p:nvSpPr>
        <p:spPr>
          <a:xfrm>
            <a:off x="1184407" y="3447533"/>
            <a:ext cx="2666485" cy="2940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3907" y="1689528"/>
                <a:ext cx="856349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b="0" dirty="0" smtClean="0"/>
                  <a:t>The dynamic matrix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[0…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0…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divided into rectangular blocks with shared borders,</a:t>
                </a:r>
              </a:p>
              <a:p>
                <a:r>
                  <a:rPr lang="en-US" altLang="zh-TW" dirty="0" smtClean="0"/>
                  <a:t>of 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+1)∗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07" y="1689528"/>
                <a:ext cx="8563498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1637" t="-14286" r="-712" b="-252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弧形 5"/>
          <p:cNvSpPr/>
          <p:nvPr/>
        </p:nvSpPr>
        <p:spPr>
          <a:xfrm flipH="1">
            <a:off x="520226" y="3447532"/>
            <a:ext cx="1327099" cy="2940908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63983" y="4779486"/>
                <a:ext cx="1899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83" y="4779486"/>
                <a:ext cx="1899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9355" r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弧形 7"/>
          <p:cNvSpPr/>
          <p:nvPr/>
        </p:nvSpPr>
        <p:spPr>
          <a:xfrm>
            <a:off x="1184405" y="2859428"/>
            <a:ext cx="2666487" cy="1143125"/>
          </a:xfrm>
          <a:prstGeom prst="arc">
            <a:avLst>
              <a:gd name="adj1" fmla="val 1076290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391913" y="2460404"/>
                <a:ext cx="250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913" y="2460404"/>
                <a:ext cx="25083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/>
          <p:nvPr/>
        </p:nvCxnSpPr>
        <p:spPr>
          <a:xfrm>
            <a:off x="1847325" y="3447532"/>
            <a:ext cx="0" cy="294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517647" y="3447531"/>
            <a:ext cx="0" cy="294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210688" y="3447531"/>
            <a:ext cx="0" cy="294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183775" y="4018004"/>
            <a:ext cx="26671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183775" y="4582296"/>
            <a:ext cx="26671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1183774" y="5142469"/>
            <a:ext cx="26671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1183774" y="5752069"/>
            <a:ext cx="26671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弧形 18"/>
          <p:cNvSpPr/>
          <p:nvPr/>
        </p:nvSpPr>
        <p:spPr>
          <a:xfrm>
            <a:off x="1183774" y="3277495"/>
            <a:ext cx="663551" cy="290433"/>
          </a:xfrm>
          <a:prstGeom prst="arc">
            <a:avLst>
              <a:gd name="adj1" fmla="val 1076290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427596" y="3022124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96" y="3022124"/>
                <a:ext cx="28142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弧形 20"/>
          <p:cNvSpPr/>
          <p:nvPr/>
        </p:nvSpPr>
        <p:spPr>
          <a:xfrm flipH="1">
            <a:off x="1039436" y="3459307"/>
            <a:ext cx="278316" cy="558698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809535" y="3600156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35" y="3600156"/>
                <a:ext cx="276101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3333" r="-6667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5090984" y="3014402"/>
            <a:ext cx="972065" cy="8627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5885937" y="3014402"/>
            <a:ext cx="972065" cy="86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5090984" y="3690190"/>
            <a:ext cx="972065" cy="86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/>
          <p:nvPr/>
        </p:nvCxnSpPr>
        <p:spPr>
          <a:xfrm flipH="1">
            <a:off x="2517647" y="3022124"/>
            <a:ext cx="2573337" cy="99588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>
            <a:off x="2517647" y="3861867"/>
            <a:ext cx="2573337" cy="7287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73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Values inside each block depend on</a:t>
            </a:r>
            <a:endParaRPr lang="zh-TW" altLang="en-US" sz="4000" dirty="0"/>
          </a:p>
        </p:txBody>
      </p:sp>
      <p:sp>
        <p:nvSpPr>
          <p:cNvPr id="4" name="矩形 3"/>
          <p:cNvSpPr/>
          <p:nvPr/>
        </p:nvSpPr>
        <p:spPr>
          <a:xfrm>
            <a:off x="1653963" y="3794727"/>
            <a:ext cx="2761517" cy="23918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90512" y="1590004"/>
                <a:ext cx="8174930" cy="1384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corresponding symbols from sequence A</a:t>
                </a:r>
              </a:p>
              <a:p>
                <a:r>
                  <a:rPr lang="en-US" altLang="zh-TW" dirty="0" smtClean="0"/>
                  <a:t>(ii)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corresponding symbols from sequence </a:t>
                </a:r>
                <a:r>
                  <a:rPr lang="en-US" altLang="zh-TW" dirty="0" smtClean="0"/>
                  <a:t>B</a:t>
                </a:r>
              </a:p>
              <a:p>
                <a:r>
                  <a:rPr lang="en-US" altLang="zh-TW" dirty="0" smtClean="0"/>
                  <a:t>(iii) the top row of the block, which can be encoded differentially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bits</a:t>
                </a:r>
              </a:p>
              <a:p>
                <a:r>
                  <a:rPr lang="en-US" altLang="zh-TW" dirty="0" smtClean="0"/>
                  <a:t>(iv)</a:t>
                </a:r>
                <a:r>
                  <a:rPr lang="en-US" altLang="zh-TW" dirty="0"/>
                  <a:t> the </a:t>
                </a:r>
                <a:r>
                  <a:rPr lang="en-US" altLang="zh-TW" dirty="0" smtClean="0"/>
                  <a:t>leftmost column </a:t>
                </a:r>
                <a:r>
                  <a:rPr lang="en-US" altLang="zh-TW" dirty="0"/>
                  <a:t>of the block, which can be encoded differentially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bits</a:t>
                </a:r>
                <a:endParaRPr lang="en-US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12" y="1590004"/>
                <a:ext cx="8174930" cy="1384995"/>
              </a:xfrm>
              <a:prstGeom prst="rect">
                <a:avLst/>
              </a:prstGeom>
              <a:blipFill rotWithShape="0">
                <a:blip r:embed="rId2"/>
                <a:stretch>
                  <a:fillRect l="-1715" t="-5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弧形 18"/>
          <p:cNvSpPr/>
          <p:nvPr/>
        </p:nvSpPr>
        <p:spPr>
          <a:xfrm>
            <a:off x="1653330" y="3511912"/>
            <a:ext cx="2762150" cy="539555"/>
          </a:xfrm>
          <a:prstGeom prst="arc">
            <a:avLst>
              <a:gd name="adj1" fmla="val 1076290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2752981" y="3119314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981" y="3119314"/>
                <a:ext cx="281424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弧形 20"/>
          <p:cNvSpPr/>
          <p:nvPr/>
        </p:nvSpPr>
        <p:spPr>
          <a:xfrm flipH="1">
            <a:off x="1400431" y="3806501"/>
            <a:ext cx="496720" cy="2380115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997564" y="4852171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64" y="4852171"/>
                <a:ext cx="27610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3333" r="-6667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接點 25"/>
          <p:cNvCxnSpPr/>
          <p:nvPr/>
        </p:nvCxnSpPr>
        <p:spPr>
          <a:xfrm>
            <a:off x="1653330" y="4133847"/>
            <a:ext cx="2762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2012481" y="3806501"/>
            <a:ext cx="0" cy="2380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4669012" y="4852171"/>
            <a:ext cx="817493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dirty="0" smtClean="0"/>
              <a:t>The output of each block will be found via </a:t>
            </a:r>
          </a:p>
          <a:p>
            <a:r>
              <a:rPr lang="en-US" altLang="zh-TW" dirty="0" smtClean="0"/>
              <a:t>a lookup table built in a preprocessing stage.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1799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682"/>
            <a:ext cx="9144000" cy="3962710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>
            <a:off x="1210962" y="1589903"/>
            <a:ext cx="1845276" cy="168051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16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Alphabet remapping in superblocks</a:t>
            </a:r>
            <a:endParaRPr lang="zh-TW" altLang="en-US" sz="4000" dirty="0"/>
          </a:p>
        </p:txBody>
      </p:sp>
      <p:sp>
        <p:nvSpPr>
          <p:cNvPr id="12" name="矩形 11"/>
          <p:cNvSpPr/>
          <p:nvPr/>
        </p:nvSpPr>
        <p:spPr>
          <a:xfrm>
            <a:off x="1066961" y="3715980"/>
            <a:ext cx="2666485" cy="2940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弧形 12"/>
          <p:cNvSpPr/>
          <p:nvPr/>
        </p:nvSpPr>
        <p:spPr>
          <a:xfrm flipH="1">
            <a:off x="402780" y="3715979"/>
            <a:ext cx="1327099" cy="2940908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46537" y="5047933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7" y="5047933"/>
                <a:ext cx="186718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2258" r="-25806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弧形 14"/>
          <p:cNvSpPr/>
          <p:nvPr/>
        </p:nvSpPr>
        <p:spPr>
          <a:xfrm>
            <a:off x="1066959" y="3127875"/>
            <a:ext cx="2666487" cy="1143125"/>
          </a:xfrm>
          <a:prstGeom prst="arc">
            <a:avLst>
              <a:gd name="adj1" fmla="val 1076290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274467" y="2728851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467" y="2728851"/>
                <a:ext cx="186718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2258" r="-25806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接點 16"/>
          <p:cNvCxnSpPr/>
          <p:nvPr/>
        </p:nvCxnSpPr>
        <p:spPr>
          <a:xfrm>
            <a:off x="1729879" y="3715979"/>
            <a:ext cx="0" cy="294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2400201" y="3715978"/>
            <a:ext cx="0" cy="294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3093242" y="3715978"/>
            <a:ext cx="0" cy="29409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1066328" y="4588795"/>
            <a:ext cx="26671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弧形 30"/>
          <p:cNvSpPr/>
          <p:nvPr/>
        </p:nvSpPr>
        <p:spPr>
          <a:xfrm>
            <a:off x="1066328" y="3545942"/>
            <a:ext cx="663551" cy="290433"/>
          </a:xfrm>
          <a:prstGeom prst="arc">
            <a:avLst>
              <a:gd name="adj1" fmla="val 10762904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310150" y="3290571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150" y="3290571"/>
                <a:ext cx="281424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弧形 32"/>
          <p:cNvSpPr/>
          <p:nvPr/>
        </p:nvSpPr>
        <p:spPr>
          <a:xfrm flipH="1">
            <a:off x="872455" y="3727754"/>
            <a:ext cx="327851" cy="861040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618045" y="4019774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45" y="4019774"/>
                <a:ext cx="276101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接點 34"/>
          <p:cNvCxnSpPr/>
          <p:nvPr/>
        </p:nvCxnSpPr>
        <p:spPr>
          <a:xfrm>
            <a:off x="1066642" y="5613650"/>
            <a:ext cx="26671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1200306" y="1487894"/>
                <a:ext cx="8174930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dirty="0" smtClean="0"/>
                  <a:t>We assume that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divide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Consider one superblock corresponding to the two substrings :</a:t>
                </a:r>
              </a:p>
              <a:p>
                <a:r>
                  <a:rPr lang="en-US" altLang="zh-TW" b="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+1…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+1…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 smtClean="0"/>
                  <a:t> for some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306" y="1487894"/>
                <a:ext cx="8174930" cy="1107996"/>
              </a:xfrm>
              <a:prstGeom prst="rect">
                <a:avLst/>
              </a:prstGeom>
              <a:blipFill rotWithShape="0">
                <a:blip r:embed="rId6"/>
                <a:stretch>
                  <a:fillRect l="-1790" t="-7143" b="-120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70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39114" y="724932"/>
            <a:ext cx="6903308" cy="5873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/>
          <p:cNvCxnSpPr/>
          <p:nvPr/>
        </p:nvCxnSpPr>
        <p:spPr>
          <a:xfrm>
            <a:off x="3097427" y="724932"/>
            <a:ext cx="0" cy="587357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622324" y="724932"/>
            <a:ext cx="0" cy="587357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939114" y="2743202"/>
            <a:ext cx="690330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939114" y="4922111"/>
            <a:ext cx="690330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69149" y="1524001"/>
                <a:ext cx="25712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9" y="1524001"/>
                <a:ext cx="25712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27907" r="-2558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885540" y="-43760"/>
                <a:ext cx="25712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540" y="-43760"/>
                <a:ext cx="257122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8571" r="-2857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69149" y="3661721"/>
                <a:ext cx="25712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9" y="3661721"/>
                <a:ext cx="25712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7907" r="-2558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69149" y="5607080"/>
                <a:ext cx="25712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9" y="5607080"/>
                <a:ext cx="257122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27907" r="-2558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259172" y="-22254"/>
                <a:ext cx="25712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172" y="-22254"/>
                <a:ext cx="257122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30952" r="-26190" b="-25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6603608" y="26754"/>
                <a:ext cx="25712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608" y="26754"/>
                <a:ext cx="257122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28571" r="-28571" b="-25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20"/>
          <p:cNvCxnSpPr/>
          <p:nvPr/>
        </p:nvCxnSpPr>
        <p:spPr>
          <a:xfrm>
            <a:off x="939114" y="1449861"/>
            <a:ext cx="690330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939114" y="2104769"/>
            <a:ext cx="690330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939114" y="3488727"/>
            <a:ext cx="690330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939114" y="4238369"/>
            <a:ext cx="690330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939114" y="5539947"/>
            <a:ext cx="690330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939114" y="6124834"/>
            <a:ext cx="690330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684112" y="98957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12" y="989572"/>
                <a:ext cx="276101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671755" y="163315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55" y="1633152"/>
                <a:ext cx="276101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接點 34"/>
          <p:cNvCxnSpPr/>
          <p:nvPr/>
        </p:nvCxnSpPr>
        <p:spPr>
          <a:xfrm>
            <a:off x="1598141" y="724932"/>
            <a:ext cx="0" cy="587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2335428" y="724932"/>
            <a:ext cx="0" cy="587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>
            <a:off x="3991232" y="724932"/>
            <a:ext cx="0" cy="587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>
            <a:off x="4728519" y="724932"/>
            <a:ext cx="0" cy="587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6330779" y="724932"/>
            <a:ext cx="0" cy="587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7068066" y="724932"/>
            <a:ext cx="0" cy="5873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1182501" y="423221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501" y="423221"/>
                <a:ext cx="281423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1869321" y="423221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321" y="423221"/>
                <a:ext cx="281423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2588075" y="44155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075" y="441558"/>
                <a:ext cx="281423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3572352" y="42837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352" y="428378"/>
                <a:ext cx="281423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4259172" y="42837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172" y="428378"/>
                <a:ext cx="281423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4977926" y="44671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926" y="446715"/>
                <a:ext cx="281423" cy="276999"/>
              </a:xfrm>
              <a:prstGeom prst="rect">
                <a:avLst/>
              </a:prstGeom>
              <a:blipFill rotWithShape="0">
                <a:blip r:embed="rId15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5847858" y="41147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858" y="411475"/>
                <a:ext cx="281423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6534678" y="41147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78" y="411475"/>
                <a:ext cx="281423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7253432" y="429812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432" y="429812"/>
                <a:ext cx="281423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641301" y="3036675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01" y="3036675"/>
                <a:ext cx="276101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13333" r="-8889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628944" y="3680255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4" y="3680255"/>
                <a:ext cx="276101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628944" y="4305816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44" y="4305816"/>
                <a:ext cx="276101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13333" r="-8889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625943" y="5000941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43" y="5000941"/>
                <a:ext cx="276101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13333" r="-6667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613586" y="5644521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86" y="5644521"/>
                <a:ext cx="276101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13333" r="-6667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613586" y="6270082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86" y="6270082"/>
                <a:ext cx="276101" cy="276999"/>
              </a:xfrm>
              <a:prstGeom prst="rect">
                <a:avLst/>
              </a:prstGeom>
              <a:blipFill rotWithShape="0">
                <a:blip r:embed="rId24"/>
                <a:stretch>
                  <a:fillRect l="-13333" r="-6667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/>
          <p:cNvSpPr/>
          <p:nvPr/>
        </p:nvSpPr>
        <p:spPr>
          <a:xfrm>
            <a:off x="8381567" y="2268254"/>
            <a:ext cx="686850" cy="684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8293593" y="2171104"/>
            <a:ext cx="686850" cy="684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8207451" y="2073954"/>
            <a:ext cx="686850" cy="684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/>
        </p:nvSpPr>
        <p:spPr>
          <a:xfrm>
            <a:off x="8121309" y="1987280"/>
            <a:ext cx="686850" cy="684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LUT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8320789" y="179695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789" y="1796955"/>
                <a:ext cx="281423" cy="276999"/>
              </a:xfrm>
              <a:prstGeom prst="rect">
                <a:avLst/>
              </a:prstGeom>
              <a:blipFill rotWithShape="0">
                <a:blip r:embed="rId25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7973944" y="2171104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944" y="2171104"/>
                <a:ext cx="276101" cy="276999"/>
              </a:xfrm>
              <a:prstGeom prst="rect">
                <a:avLst/>
              </a:prstGeom>
              <a:blipFill rotWithShape="0">
                <a:blip r:embed="rId26"/>
                <a:stretch>
                  <a:fillRect l="-13333" r="-8889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658830" y="2254595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30" y="2254595"/>
                <a:ext cx="276101" cy="276999"/>
              </a:xfrm>
              <a:prstGeom prst="rect">
                <a:avLst/>
              </a:prstGeom>
              <a:blipFill rotWithShape="0">
                <a:blip r:embed="rId27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04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Alphabet remapping in superblocks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024037" y="1723335"/>
                <a:ext cx="7568028" cy="2146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+1…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is sorted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dirty="0" smtClean="0"/>
                  <a:t> unique symbols are found.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dirty="0" smtClean="0"/>
                  <a:t>)</a:t>
                </a:r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Then, the y symbols are remapped to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0, 1, 2, …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using a balanced BST.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Next, for each symbol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+1…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dirty="0" smtClean="0"/>
                  <a:t>, we find its encoding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</a:p>
              <a:p>
                <a:r>
                  <a:rPr lang="en-US" altLang="zh-TW" dirty="0" smtClean="0"/>
                  <a:t>ore assign q to it if it was not found. 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37" y="1723335"/>
                <a:ext cx="7568028" cy="2146550"/>
              </a:xfrm>
              <a:prstGeom prst="rect">
                <a:avLst/>
              </a:prstGeom>
              <a:blipFill rotWithShape="0">
                <a:blip r:embed="rId2"/>
                <a:stretch>
                  <a:fillRect l="-725" t="-1705" r="-322" b="-1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700217" y="4085968"/>
                <a:ext cx="5476114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smtClean="0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+1…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ABCBBCB</a:t>
                </a:r>
                <a:endParaRPr lang="en-US" altLang="zh-TW" sz="20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+1…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000" dirty="0" smtClean="0">
                    <a:latin typeface="Cambria Math" panose="02040503050406030204" pitchFamily="18" charset="0"/>
                  </a:rPr>
                  <a:t> =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ADEBB</a:t>
                </a:r>
                <a:endParaRPr lang="en-US" altLang="zh-TW" sz="2000" dirty="0"/>
              </a:p>
              <a:p>
                <a:endParaRPr lang="en-US" altLang="zh-TW" sz="2000" dirty="0" smtClean="0">
                  <a:sym typeface="Wingdings" panose="05000000000000000000" pitchFamily="2" charset="2"/>
                </a:endParaRPr>
              </a:p>
              <a:p>
                <a:r>
                  <a:rPr lang="en-US" altLang="zh-TW" sz="2000" dirty="0" smtClean="0">
                    <a:sym typeface="Wingdings" panose="05000000000000000000" pitchFamily="2" charset="2"/>
                  </a:rPr>
                  <a:t>sort   ABBBBCC , then q = </a:t>
                </a:r>
                <a:r>
                  <a:rPr lang="en-US" altLang="zh-TW" sz="2000" dirty="0">
                    <a:sym typeface="Wingdings" panose="05000000000000000000" pitchFamily="2" charset="2"/>
                  </a:rPr>
                  <a:t>3</a:t>
                </a:r>
                <a:r>
                  <a:rPr lang="en-US" altLang="zh-TW" sz="2000" dirty="0" smtClean="0">
                    <a:sym typeface="Wingdings" panose="05000000000000000000" pitchFamily="2" charset="2"/>
                  </a:rPr>
                  <a:t>    {A,B,C} = {0,1,2}</a:t>
                </a:r>
              </a:p>
              <a:p>
                <a:endParaRPr lang="en-US" altLang="zh-TW" sz="20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+1…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000" dirty="0">
                    <a:latin typeface="Cambria Math" panose="02040503050406030204" pitchFamily="18" charset="0"/>
                  </a:rPr>
                  <a:t> =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0121121</a:t>
                </a:r>
                <a:endParaRPr lang="en-US" altLang="zh-TW" sz="20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</a:rPr>
                      <m:t>B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+1…</m:t>
                        </m:r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0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03311 </a:t>
                </a:r>
                <a:endParaRPr lang="en-US" altLang="zh-TW" sz="20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17" y="4085968"/>
                <a:ext cx="5476114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1225" t="-1355" b="-37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808051" y="5778739"/>
                <a:ext cx="420108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b="0" dirty="0" smtClean="0"/>
                  <a:t>takes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per symbol</a:t>
                </a:r>
              </a:p>
              <a:p>
                <a:r>
                  <a:rPr lang="en-US" altLang="zh-TW" dirty="0" smtClean="0"/>
                  <a:t>a superblock are remapped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TW" dirty="0" smtClean="0"/>
                  <a:t> time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051" y="5778739"/>
                <a:ext cx="4201086" cy="553998"/>
              </a:xfrm>
              <a:prstGeom prst="rect">
                <a:avLst/>
              </a:prstGeom>
              <a:blipFill rotWithShape="0">
                <a:blip r:embed="rId4"/>
                <a:stretch>
                  <a:fillRect l="-3483" t="-14286" r="-2612" b="-24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24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Alphabet remapping in superblocks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977456" y="1593916"/>
                <a:ext cx="8001787" cy="37035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2000" dirty="0" smtClean="0"/>
                  <a:t>A superblock are remapped in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TW" sz="2000" dirty="0" smtClean="0"/>
                  <a:t> time.</a:t>
                </a:r>
              </a:p>
              <a:p>
                <a:endParaRPr lang="en-US" altLang="zh-TW" sz="2000" dirty="0"/>
              </a:p>
              <a:p>
                <a:r>
                  <a:rPr lang="en-US" altLang="zh-TW" sz="2000" dirty="0"/>
                  <a:t>T</a:t>
                </a:r>
                <a:r>
                  <a:rPr lang="en-US" altLang="zh-TW" sz="2000" dirty="0" smtClean="0"/>
                  <a:t>here are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TW" altLang="en-US" sz="2000" dirty="0" smtClean="0"/>
                  <a:t>  </a:t>
                </a:r>
                <a:r>
                  <a:rPr lang="en-US" altLang="zh-TW" sz="2000" dirty="0" smtClean="0"/>
                  <a:t>superblocks.</a:t>
                </a:r>
              </a:p>
              <a:p>
                <a:r>
                  <a:rPr lang="en-US" altLang="zh-TW" sz="2000" dirty="0" smtClean="0"/>
                  <a:t>The overall alphabet remapping time for the whole matrix is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𝑚𝑛</m:t>
                            </m:r>
                            <m:func>
                              <m:func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000" dirty="0" smtClean="0"/>
              </a:p>
              <a:p>
                <a:endParaRPr lang="en-US" altLang="zh-TW" sz="2000" dirty="0"/>
              </a:p>
              <a:p>
                <a:endParaRPr lang="en-US" altLang="zh-TW" sz="2000" dirty="0" smtClean="0"/>
              </a:p>
              <a:p>
                <a:r>
                  <a:rPr lang="en-US" altLang="zh-TW" sz="2000" dirty="0" smtClean="0"/>
                  <a:t>This remapping technique allows to represent the symbols from (</a:t>
                </a:r>
                <a:r>
                  <a:rPr lang="en-US" altLang="zh-TW" sz="2000" dirty="0" err="1" smtClean="0"/>
                  <a:t>i</a:t>
                </a:r>
                <a:r>
                  <a:rPr lang="en-US" altLang="zh-TW" sz="2000" dirty="0" smtClean="0"/>
                  <a:t>) and (ii)</a:t>
                </a:r>
              </a:p>
              <a:p>
                <a:r>
                  <a:rPr lang="en-US" altLang="zh-TW" sz="2000" dirty="0" smtClean="0"/>
                  <a:t>on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zh-TW" alt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func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bits each, rather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zh-TW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func>
                      </m:e>
                    </m:d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bits.</a:t>
                </a:r>
              </a:p>
              <a:p>
                <a:endParaRPr lang="en-US" altLang="zh-TW" sz="2000" dirty="0"/>
              </a:p>
              <a:p>
                <a:r>
                  <a:rPr lang="en-US" altLang="zh-TW" sz="2000" dirty="0" smtClean="0"/>
                  <a:t>To simplify notation, assume a large enough alphabet so that</a:t>
                </a:r>
              </a:p>
              <a:p>
                <a:r>
                  <a:rPr lang="en-US" altLang="zh-TW" sz="2000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e>
                    </m:func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sz="2000" dirty="0" smtClean="0"/>
                  <a:t>.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56" y="1593916"/>
                <a:ext cx="8001787" cy="3703578"/>
              </a:xfrm>
              <a:prstGeom prst="rect">
                <a:avLst/>
              </a:prstGeom>
              <a:blipFill rotWithShape="0">
                <a:blip r:embed="rId2"/>
                <a:stretch>
                  <a:fillRect l="-1904" t="-2138" b="-3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14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Values inside each block depend 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90512" y="1590004"/>
                <a:ext cx="8174930" cy="36041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dirty="0" smtClean="0"/>
                  <a:t>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corresponding symbols from sequence A</a:t>
                </a:r>
              </a:p>
              <a:p>
                <a:r>
                  <a:rPr lang="en-US" altLang="zh-TW" dirty="0" smtClean="0"/>
                  <a:t>(ii)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corresponding symbols from sequence </a:t>
                </a:r>
                <a:r>
                  <a:rPr lang="en-US" altLang="zh-TW" dirty="0" smtClean="0"/>
                  <a:t>B</a:t>
                </a:r>
              </a:p>
              <a:p>
                <a:r>
                  <a:rPr lang="en-US" altLang="zh-TW" dirty="0" smtClean="0"/>
                  <a:t>(iii) the top row of the block, which can be encoded differentially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bits</a:t>
                </a:r>
              </a:p>
              <a:p>
                <a:r>
                  <a:rPr lang="en-US" altLang="zh-TW" dirty="0" smtClean="0"/>
                  <a:t>(iv)</a:t>
                </a:r>
                <a:r>
                  <a:rPr lang="en-US" altLang="zh-TW" dirty="0"/>
                  <a:t> the </a:t>
                </a:r>
                <a:r>
                  <a:rPr lang="en-US" altLang="zh-TW" dirty="0" smtClean="0"/>
                  <a:t>leftmost column </a:t>
                </a:r>
                <a:r>
                  <a:rPr lang="en-US" altLang="zh-TW" dirty="0"/>
                  <a:t>of the block, which can be encoded differentially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bits</a:t>
                </a:r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The input per block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bits.</a:t>
                </a:r>
              </a:p>
              <a:p>
                <a:endParaRPr lang="en-US" altLang="zh-TW" dirty="0"/>
              </a:p>
              <a:p>
                <a:r>
                  <a:rPr lang="en-US" altLang="zh-TW" dirty="0" smtClean="0"/>
                  <a:t>Setting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/(6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zh-TW" b="0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/>
                  <a:t>W</a:t>
                </a:r>
                <a:r>
                  <a:rPr lang="en-US" altLang="zh-TW" dirty="0" smtClean="0"/>
                  <a:t>e obtain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𝑚𝑛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TW" dirty="0" smtClean="0"/>
                  <a:t> overall time, with sublinear LUT space.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12" y="1590004"/>
                <a:ext cx="8174930" cy="3604192"/>
              </a:xfrm>
              <a:prstGeom prst="rect">
                <a:avLst/>
              </a:prstGeom>
              <a:blipFill rotWithShape="0">
                <a:blip r:embed="rId2"/>
                <a:stretch>
                  <a:fillRect l="-1715" t="-2200" b="-3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77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Grabowski’s idea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50469" y="1690689"/>
                <a:ext cx="8174930" cy="1923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2500" dirty="0" smtClean="0"/>
                  <a:t>Instead of one lookup table, we build many of them.</a:t>
                </a:r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For each remapped substring of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 from sequence B</a:t>
                </a:r>
              </a:p>
              <a:p>
                <a:r>
                  <a:rPr lang="en-US" altLang="zh-TW" sz="2500" dirty="0" smtClean="0"/>
                  <a:t>we build a lookup table for fast handling of the blocks in one horizontal stripe.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69" y="1690689"/>
                <a:ext cx="8174930" cy="1923604"/>
              </a:xfrm>
              <a:prstGeom prst="rect">
                <a:avLst/>
              </a:prstGeom>
              <a:blipFill rotWithShape="0">
                <a:blip r:embed="rId2"/>
                <a:stretch>
                  <a:fillRect l="-2312" t="-4747" b="-9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897925" y="3929449"/>
            <a:ext cx="2347784" cy="527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897925" y="4456670"/>
            <a:ext cx="2347784" cy="5272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897925" y="4983891"/>
            <a:ext cx="2347784" cy="527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897925" y="5511112"/>
            <a:ext cx="2347784" cy="5272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897925" y="6038333"/>
            <a:ext cx="2347784" cy="527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弧形 16"/>
          <p:cNvSpPr/>
          <p:nvPr/>
        </p:nvSpPr>
        <p:spPr>
          <a:xfrm flipH="1">
            <a:off x="750468" y="3956307"/>
            <a:ext cx="295736" cy="500363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84040" y="4067988"/>
                <a:ext cx="22677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40" y="4067988"/>
                <a:ext cx="226771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6316" r="-18421" b="-1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弧形 18"/>
          <p:cNvSpPr/>
          <p:nvPr/>
        </p:nvSpPr>
        <p:spPr>
          <a:xfrm flipH="1">
            <a:off x="740700" y="4464908"/>
            <a:ext cx="295736" cy="500363"/>
          </a:xfrm>
          <a:prstGeom prst="arc">
            <a:avLst>
              <a:gd name="adj1" fmla="val 16200000"/>
              <a:gd name="adj2" fmla="val 52247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474272" y="4576589"/>
                <a:ext cx="22677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72" y="4576589"/>
                <a:ext cx="226771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7027" r="-18919" b="-1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弧形接點 21"/>
          <p:cNvCxnSpPr/>
          <p:nvPr/>
        </p:nvCxnSpPr>
        <p:spPr>
          <a:xfrm flipV="1">
            <a:off x="3130378" y="3855308"/>
            <a:ext cx="790833" cy="2883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3911033" y="3665090"/>
            <a:ext cx="141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Lookup Table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5311469" y="3586531"/>
            <a:ext cx="502506" cy="395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5397966" y="3688071"/>
            <a:ext cx="502506" cy="395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>
            <a:off x="5492701" y="3797308"/>
            <a:ext cx="502506" cy="3954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弧形接點 37"/>
          <p:cNvCxnSpPr/>
          <p:nvPr/>
        </p:nvCxnSpPr>
        <p:spPr>
          <a:xfrm flipV="1">
            <a:off x="3111964" y="4516243"/>
            <a:ext cx="790833" cy="2883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3892619" y="4326025"/>
            <a:ext cx="141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Lookup Table</a:t>
            </a:r>
            <a:endParaRPr lang="zh-TW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5293055" y="4247466"/>
            <a:ext cx="502506" cy="3954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/>
          <p:cNvSpPr/>
          <p:nvPr/>
        </p:nvSpPr>
        <p:spPr>
          <a:xfrm>
            <a:off x="5379552" y="4349006"/>
            <a:ext cx="502506" cy="3954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5474287" y="4458243"/>
            <a:ext cx="502506" cy="3954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弧形接點 42"/>
          <p:cNvCxnSpPr/>
          <p:nvPr/>
        </p:nvCxnSpPr>
        <p:spPr>
          <a:xfrm flipV="1">
            <a:off x="3130378" y="5218578"/>
            <a:ext cx="782597" cy="15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3902797" y="5028360"/>
            <a:ext cx="141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Lookup Table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5303233" y="4949801"/>
            <a:ext cx="502506" cy="395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/>
          <p:cNvSpPr/>
          <p:nvPr/>
        </p:nvSpPr>
        <p:spPr>
          <a:xfrm>
            <a:off x="5389730" y="5051341"/>
            <a:ext cx="502506" cy="395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/>
          <p:cNvSpPr/>
          <p:nvPr/>
        </p:nvSpPr>
        <p:spPr>
          <a:xfrm>
            <a:off x="5484465" y="5160578"/>
            <a:ext cx="502506" cy="395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/>
              <p:cNvSpPr/>
              <p:nvPr/>
            </p:nvSpPr>
            <p:spPr>
              <a:xfrm>
                <a:off x="4075791" y="5821513"/>
                <a:ext cx="4572000" cy="6819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altLang="zh-TW" dirty="0" smtClean="0"/>
                  <a:t>The input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bits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TW" dirty="0" smtClean="0"/>
                  <a:t> bits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55" name="矩形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791" y="5821513"/>
                <a:ext cx="4572000" cy="681982"/>
              </a:xfrm>
              <a:prstGeom prst="rect">
                <a:avLst/>
              </a:prstGeom>
              <a:blipFill rotWithShape="0">
                <a:blip r:embed="rId5"/>
                <a:stretch>
                  <a:fillRect l="-1200" t="-5357" b="-11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59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628650" y="365127"/>
            <a:ext cx="7886700" cy="862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000" dirty="0" smtClean="0"/>
              <a:t>BFC’s Time complexity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-41189" y="5596539"/>
                <a:ext cx="9226378" cy="7963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50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𝑚𝑛</m:t>
                          </m:r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50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d>
                                    <m:dPr>
                                      <m:ctrlP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5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sup>
                      </m:sSup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189" y="5596539"/>
                <a:ext cx="9226378" cy="7963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134199" y="1516063"/>
                <a:ext cx="6749411" cy="408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Creating the alphabets for all superblocks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performing all the alphabet </a:t>
                </a:r>
                <a:r>
                  <a:rPr lang="en-US" altLang="zh-TW" sz="2000" dirty="0" err="1" smtClean="0"/>
                  <a:t>remappings</a:t>
                </a:r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𝑚𝑛</m:t>
                          </m:r>
                          <m:func>
                            <m:func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building the LUT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d>
                                    <m:dPr>
                                      <m:ctrlP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000" dirty="0" smtClean="0"/>
              </a:p>
              <a:p>
                <a:endParaRPr lang="en-US" altLang="zh-TW" sz="2000" dirty="0" smtClean="0"/>
              </a:p>
              <a:p>
                <a:r>
                  <a:rPr lang="en-US" altLang="zh-TW" sz="2000" dirty="0" smtClean="0"/>
                  <a:t>processing all the blocks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000" dirty="0"/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99" y="1516063"/>
                <a:ext cx="6749411" cy="4088235"/>
              </a:xfrm>
              <a:prstGeom prst="rect">
                <a:avLst/>
              </a:prstGeom>
              <a:blipFill rotWithShape="0">
                <a:blip r:embed="rId3"/>
                <a:stretch>
                  <a:fillRect l="-903" t="-8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00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628650" y="365127"/>
            <a:ext cx="7886700" cy="862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000" dirty="0" smtClean="0"/>
              <a:t>Time complexity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694552" y="5753334"/>
                <a:ext cx="8144647" cy="7963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50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𝑚𝑛</m:t>
                          </m:r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sup>
                      </m:sSup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52" y="5753334"/>
                <a:ext cx="8144647" cy="7963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134199" y="1516063"/>
                <a:ext cx="6749411" cy="4080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Creating the alphabets for all superblocks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performing all the alphabet </a:t>
                </a:r>
                <a:r>
                  <a:rPr lang="en-US" altLang="zh-TW" sz="2000" dirty="0" err="1" smtClean="0"/>
                  <a:t>remappings</a:t>
                </a:r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𝑚𝑛</m:t>
                          </m:r>
                          <m:func>
                            <m:func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building all LUTs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processing all the blocks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000" dirty="0"/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99" y="1516063"/>
                <a:ext cx="6749411" cy="4080476"/>
              </a:xfrm>
              <a:prstGeom prst="rect">
                <a:avLst/>
              </a:prstGeom>
              <a:blipFill rotWithShape="0">
                <a:blip r:embed="rId3"/>
                <a:stretch>
                  <a:fillRect l="-903" t="-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78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694553" y="1626177"/>
                <a:ext cx="8144647" cy="7963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50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𝑚𝑛</m:t>
                          </m:r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50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d>
                                <m:d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5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sup>
                      </m:sSup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53" y="1626177"/>
                <a:ext cx="8144647" cy="79637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628650" y="2767914"/>
                <a:ext cx="8022389" cy="27731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Set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5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num>
                      <m:den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500" dirty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sz="25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num>
                      <m:den>
                        <m:r>
                          <a:rPr lang="en-US" altLang="zh-TW" sz="25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TW" sz="25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5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num>
                      <m:den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func>
                          <m:func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5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5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den>
                    </m:f>
                  </m:oMath>
                </a14:m>
                <a:endParaRPr lang="en-US" altLang="zh-TW" sz="2500" b="0" dirty="0" smtClean="0"/>
              </a:p>
              <a:p>
                <a:endParaRPr lang="en-US" altLang="zh-TW" sz="2500" dirty="0"/>
              </a:p>
              <a:p>
                <a:r>
                  <a:rPr lang="en-US" altLang="zh-TW" sz="2500" b="0" dirty="0" smtClean="0"/>
                  <a:t>We obtain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  <m:func>
                          <m:func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5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5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5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r>
                                  <a:rPr lang="en-US" altLang="zh-TW" sz="25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b="0" dirty="0" smtClean="0"/>
                  <a:t> time with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sz="2500" b="0" dirty="0" smtClean="0"/>
                  <a:t> extra space(for LUT).</a:t>
                </a:r>
              </a:p>
              <a:p>
                <a:endParaRPr lang="en-US" altLang="zh-TW" sz="2500" dirty="0"/>
              </a:p>
              <a:p>
                <a:r>
                  <a:rPr lang="en-US" altLang="zh-TW" sz="2500" b="0" dirty="0" smtClean="0"/>
                  <a:t>BFC : </a:t>
                </a:r>
                <a14:m>
                  <m:oMath xmlns:m="http://schemas.openxmlformats.org/officeDocument/2006/math">
                    <m:r>
                      <a:rPr lang="en-US" altLang="zh-TW" sz="25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𝑚𝑛</m:t>
                        </m:r>
                        <m:sSup>
                          <m:sSupPr>
                            <m:ctrlP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altLang="zh-TW" sz="25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TW" sz="25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5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50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altLang="zh-TW" sz="25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sz="25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unc>
                          <m:funcPr>
                            <m:ctrlPr>
                              <a:rPr lang="en-US" altLang="zh-TW" sz="25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sz="2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5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r>
                                  <a:rPr lang="en-US" altLang="zh-TW" sz="25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zh-TW" sz="2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TW" sz="2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/>
                  <a:t> </a:t>
                </a:r>
                <a:r>
                  <a:rPr lang="en-US" altLang="zh-TW" sz="2500" dirty="0" smtClean="0"/>
                  <a:t>time with sublinear LUT space.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67914"/>
                <a:ext cx="8022389" cy="2773131"/>
              </a:xfrm>
              <a:prstGeom prst="rect">
                <a:avLst/>
              </a:prstGeom>
              <a:blipFill rotWithShape="0">
                <a:blip r:embed="rId3"/>
                <a:stretch>
                  <a:fillRect l="-1216" r="-3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/>
          <p:cNvSpPr txBox="1">
            <a:spLocks/>
          </p:cNvSpPr>
          <p:nvPr/>
        </p:nvSpPr>
        <p:spPr>
          <a:xfrm>
            <a:off x="628650" y="365127"/>
            <a:ext cx="7886700" cy="862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000" dirty="0" smtClean="0"/>
              <a:t>Time complexity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9552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 combining tabulation and sparse dynamic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1878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In this algorithm, also </a:t>
            </a:r>
            <a:r>
              <a:rPr lang="en-US" altLang="zh-TW" dirty="0" smtClean="0"/>
              <a:t>works </a:t>
            </a:r>
            <a:r>
              <a:rPr lang="en-US" altLang="zh-TW" dirty="0" smtClean="0"/>
              <a:t>in blocks of size (b+1)*(b+1),</a:t>
            </a:r>
          </a:p>
          <a:p>
            <a:pPr marL="0" indent="0">
              <a:buNone/>
            </a:pPr>
            <a:r>
              <a:rPr lang="en-US" altLang="zh-TW" dirty="0" smtClean="0"/>
              <a:t>but divide them into two groups :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sparse blocks :</a:t>
            </a:r>
          </a:p>
          <a:p>
            <a:pPr marL="0" indent="0">
              <a:buNone/>
            </a:pPr>
            <a:r>
              <a:rPr lang="en-US" altLang="zh-TW" dirty="0" smtClean="0"/>
              <a:t>	contain at most K matches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dense blocks :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contain more than K matches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3449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Sparse block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481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input of sparse block will be encoded as :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571500" indent="-571500">
                  <a:buAutoNum type="romanLcParenBoth"/>
                </a:pPr>
                <a:r>
                  <a:rPr lang="en-US" altLang="zh-TW" dirty="0" smtClean="0"/>
                  <a:t>the top row of the block, differentially in b bits,</a:t>
                </a:r>
              </a:p>
              <a:p>
                <a:pPr marL="571500" indent="-571500">
                  <a:buAutoNum type="romanLcParenBoth"/>
                </a:pPr>
                <a:r>
                  <a:rPr lang="en-US" altLang="zh-TW" dirty="0" smtClean="0"/>
                  <a:t>the leftmost column of the block, differentially in b bits</a:t>
                </a:r>
              </a:p>
              <a:p>
                <a:pPr marL="571500" indent="-571500">
                  <a:buAutoNum type="romanLcParenBoth"/>
                </a:pPr>
                <a:r>
                  <a:rPr lang="en-US" altLang="zh-TW" dirty="0" smtClean="0"/>
                  <a:t>the match locations inside the block, each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bits, 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bits in total.</a:t>
                </a:r>
              </a:p>
              <a:p>
                <a:pPr marL="571500" indent="-571500">
                  <a:buAutoNum type="romanLcParenBoth"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Each sparse block will be computed in constant time,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thanks to an LUT.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48170"/>
              </a:xfrm>
              <a:blipFill rotWithShape="0">
                <a:blip r:embed="rId2"/>
                <a:stretch>
                  <a:fillRect l="-1623" t="-2054" r="-1700" b="-25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969211" y="502508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650780" y="230190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780" y="230190"/>
                <a:ext cx="182999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715785" y="1076581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785" y="1076581"/>
                <a:ext cx="182999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17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Dense block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63007"/>
                <a:ext cx="8012842" cy="47481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Dense blocks will be partitioned into smaller blocks, which in turn will be handled with previous algorithm.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Clearly</a:t>
                </a:r>
                <a:r>
                  <a:rPr lang="en-US" altLang="zh-TW" dirty="0"/>
                  <a:t>, we have b =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TW" dirty="0"/>
                  <a:t> (</a:t>
                </a:r>
                <a:r>
                  <a:rPr lang="en-US" altLang="zh-TW" dirty="0" smtClean="0"/>
                  <a:t>otherwise the </a:t>
                </a:r>
                <a:r>
                  <a:rPr lang="en-US" altLang="zh-TW" dirty="0"/>
                  <a:t>LUT build costs would be dominating) </a:t>
                </a:r>
                <a:r>
                  <a:rPr lang="en-US" altLang="zh-TW" dirty="0" smtClean="0"/>
                  <a:t>and b=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fName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func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altLang="zh-TW" dirty="0"/>
                  <a:t>(otherwise this algorithm would never be better </a:t>
                </a:r>
                <a:r>
                  <a:rPr lang="en-US" altLang="zh-TW" dirty="0" smtClean="0"/>
                  <a:t>than the previous one), </a:t>
                </a:r>
                <a:r>
                  <a:rPr lang="en-US" altLang="zh-TW" dirty="0"/>
                  <a:t>which implies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i="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i="1" dirty="0" err="1"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/ </m:t>
                    </m:r>
                    <m:r>
                      <m:rPr>
                        <m:sty m:val="p"/>
                      </m:rPr>
                      <a:rPr lang="en-US" altLang="zh-TW" i="1" dirty="0" err="1"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m:rPr>
                        <m:sty m:val="p"/>
                      </m:rPr>
                      <a:rPr lang="en-US" altLang="zh-TW" i="1" dirty="0" err="1"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,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with an appropriate constant.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63007"/>
                <a:ext cx="8012842" cy="4748170"/>
              </a:xfrm>
              <a:blipFill rotWithShape="0">
                <a:blip r:embed="rId2"/>
                <a:stretch>
                  <a:fillRect l="-1521" t="-2054" r="-9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7199870" y="365126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881439" y="92808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439" y="92808"/>
                <a:ext cx="182999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3333" r="-26667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946444" y="939199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444" y="939199"/>
                <a:ext cx="182999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33333" r="-26667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/>
          <p:nvPr/>
        </p:nvCxnSpPr>
        <p:spPr>
          <a:xfrm flipH="1">
            <a:off x="7199871" y="823784"/>
            <a:ext cx="1546138" cy="10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7193986" y="1257236"/>
            <a:ext cx="1546138" cy="10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27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27654" y="642551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473793" y="642551"/>
            <a:ext cx="1552023" cy="1425146"/>
            <a:chOff x="2814766" y="543697"/>
            <a:chExt cx="1552023" cy="1425146"/>
          </a:xfrm>
        </p:grpSpPr>
        <p:sp>
          <p:nvSpPr>
            <p:cNvPr id="5" name="矩形 4"/>
            <p:cNvSpPr/>
            <p:nvPr/>
          </p:nvSpPr>
          <p:spPr>
            <a:xfrm>
              <a:off x="2820650" y="543697"/>
              <a:ext cx="1546139" cy="14251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8" name="直線接點 7"/>
            <p:cNvCxnSpPr/>
            <p:nvPr/>
          </p:nvCxnSpPr>
          <p:spPr>
            <a:xfrm flipH="1">
              <a:off x="2820651" y="1002355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 flipH="1">
              <a:off x="2814766" y="1435807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/>
          <p:cNvGrpSpPr/>
          <p:nvPr/>
        </p:nvGrpSpPr>
        <p:grpSpPr>
          <a:xfrm>
            <a:off x="1921770" y="2067697"/>
            <a:ext cx="1552023" cy="1425146"/>
            <a:chOff x="2814766" y="543697"/>
            <a:chExt cx="1552023" cy="1425146"/>
          </a:xfrm>
        </p:grpSpPr>
        <p:sp>
          <p:nvSpPr>
            <p:cNvPr id="12" name="矩形 11"/>
            <p:cNvSpPr/>
            <p:nvPr/>
          </p:nvSpPr>
          <p:spPr>
            <a:xfrm>
              <a:off x="2820650" y="543697"/>
              <a:ext cx="1546139" cy="14251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5" name="直線接點 14"/>
            <p:cNvCxnSpPr/>
            <p:nvPr/>
          </p:nvCxnSpPr>
          <p:spPr>
            <a:xfrm flipH="1">
              <a:off x="2820651" y="1002355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H="1">
              <a:off x="2814766" y="1435807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/>
          <p:cNvSpPr/>
          <p:nvPr/>
        </p:nvSpPr>
        <p:spPr>
          <a:xfrm>
            <a:off x="3479677" y="2063683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5023462" y="645927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5028169" y="2071711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0" name="群組 19"/>
          <p:cNvGrpSpPr/>
          <p:nvPr/>
        </p:nvGrpSpPr>
        <p:grpSpPr>
          <a:xfrm>
            <a:off x="1921770" y="3487508"/>
            <a:ext cx="1552023" cy="1425146"/>
            <a:chOff x="2814766" y="543697"/>
            <a:chExt cx="1552023" cy="1425146"/>
          </a:xfrm>
        </p:grpSpPr>
        <p:sp>
          <p:nvSpPr>
            <p:cNvPr id="21" name="矩形 20"/>
            <p:cNvSpPr/>
            <p:nvPr/>
          </p:nvSpPr>
          <p:spPr>
            <a:xfrm>
              <a:off x="2820650" y="543697"/>
              <a:ext cx="1546139" cy="14251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4" name="直線接點 23"/>
            <p:cNvCxnSpPr/>
            <p:nvPr/>
          </p:nvCxnSpPr>
          <p:spPr>
            <a:xfrm flipH="1">
              <a:off x="2820651" y="1002355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 flipH="1">
              <a:off x="2814766" y="1435807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5"/>
          <p:cNvSpPr/>
          <p:nvPr/>
        </p:nvSpPr>
        <p:spPr>
          <a:xfrm>
            <a:off x="3473792" y="3485622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7" name="群組 26"/>
          <p:cNvGrpSpPr/>
          <p:nvPr/>
        </p:nvGrpSpPr>
        <p:grpSpPr>
          <a:xfrm>
            <a:off x="5019931" y="3494400"/>
            <a:ext cx="1552023" cy="1425146"/>
            <a:chOff x="2814766" y="543697"/>
            <a:chExt cx="1552023" cy="1425146"/>
          </a:xfrm>
        </p:grpSpPr>
        <p:sp>
          <p:nvSpPr>
            <p:cNvPr id="28" name="矩形 27"/>
            <p:cNvSpPr/>
            <p:nvPr/>
          </p:nvSpPr>
          <p:spPr>
            <a:xfrm>
              <a:off x="2820650" y="543697"/>
              <a:ext cx="1546139" cy="14251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1" name="直線接點 30"/>
            <p:cNvCxnSpPr/>
            <p:nvPr/>
          </p:nvCxnSpPr>
          <p:spPr>
            <a:xfrm flipH="1">
              <a:off x="2820651" y="1002355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H="1">
              <a:off x="2814766" y="1435807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1928831" y="4904416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34" name="群組 33"/>
          <p:cNvGrpSpPr/>
          <p:nvPr/>
        </p:nvGrpSpPr>
        <p:grpSpPr>
          <a:xfrm>
            <a:off x="3470261" y="4897734"/>
            <a:ext cx="1552023" cy="1425146"/>
            <a:chOff x="2814766" y="543697"/>
            <a:chExt cx="1552023" cy="1425146"/>
          </a:xfrm>
        </p:grpSpPr>
        <p:sp>
          <p:nvSpPr>
            <p:cNvPr id="35" name="矩形 34"/>
            <p:cNvSpPr/>
            <p:nvPr/>
          </p:nvSpPr>
          <p:spPr>
            <a:xfrm>
              <a:off x="2820650" y="543697"/>
              <a:ext cx="1546139" cy="14251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8" name="直線接點 37"/>
            <p:cNvCxnSpPr/>
            <p:nvPr/>
          </p:nvCxnSpPr>
          <p:spPr>
            <a:xfrm flipH="1">
              <a:off x="2820651" y="1002355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 flipH="1">
              <a:off x="2814766" y="1435807"/>
              <a:ext cx="1546138" cy="10794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矩形 39"/>
          <p:cNvSpPr/>
          <p:nvPr/>
        </p:nvSpPr>
        <p:spPr>
          <a:xfrm>
            <a:off x="5028168" y="4893720"/>
            <a:ext cx="1546139" cy="14251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2673766" y="376381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766" y="376381"/>
                <a:ext cx="182999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1738771" y="1222772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771" y="1222772"/>
                <a:ext cx="182999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11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 combining tabulation and sparse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The worst-case 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𝑚𝑛</m:t>
                        </m:r>
                      </m:num>
                      <m:den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. Each dense block is divided into smaller blocks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den>
                        </m:f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l-GR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TW" dirty="0" smtClean="0"/>
                  <a:t> : the fraction of dense blocks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then the time complexity without preprocessing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mnlg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e>
                                    <m:sup>
                                      <m: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  <a:blipFill rotWithShape="0">
                <a:blip r:embed="rId2"/>
                <a:stretch>
                  <a:fillRect l="-1484" t="-11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66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 combining tabulation and sparse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mnlg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e>
                                    <m:sup>
                                      <m: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r is the number of matches in the dynamic programming matrix.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mnlg</m:t>
                              </m:r>
                            </m:fNam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  <a:blipFill rotWithShape="0">
                <a:blip r:embed="rId2"/>
                <a:stretch>
                  <a:fillRect l="-14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95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 combining tabulation and sparse dynamic programming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mnlg</m:t>
                                  </m:r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den>
                          </m:f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TW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 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𝑚𝑛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fNam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func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And in the preprocessing it requires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time.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So, the overall time complexity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𝑚𝑛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lg</m:t>
                                      </m:r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𝑚𝑛</m:t>
                        </m:r>
                      </m:num>
                      <m:den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  <a:blipFill rotWithShape="0">
                <a:blip r:embed="rId2"/>
                <a:stretch>
                  <a:fillRect l="-1335" b="-5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23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LCS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time (sometimes)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 r="-27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Divide the blocks into sparse and dense ones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Sparse </a:t>
                </a:r>
                <a:r>
                  <a:rPr lang="en-US" altLang="zh-TW" dirty="0" smtClean="0"/>
                  <a:t>blocks :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it contains not more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matches and its top 	row in the differential representation contains 	not more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set bits.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Dense blocks :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otherwise.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18788" cy="4351338"/>
              </a:xfrm>
              <a:blipFill rotWithShape="0">
                <a:blip r:embed="rId3"/>
                <a:stretch>
                  <a:fillRect l="-1484" t="-2241" r="-1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17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LCS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time (sometimes)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 r="-27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2539975"/>
                  </p:ext>
                </p:extLst>
              </p:nvPr>
            </p:nvGraphicFramePr>
            <p:xfrm>
              <a:off x="481912" y="2350444"/>
              <a:ext cx="8180175" cy="224284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5407"/>
                    <a:gridCol w="2754304"/>
                    <a:gridCol w="3410464"/>
                  </a:tblGrid>
                  <a:tr h="6462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Algorithm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Time complexity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Conditions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</a:tr>
                  <a:tr h="646266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lg</m:t>
                                        </m:r>
                                      </m:e>
                                      <m:sup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altLang="zh-TW" b="0" dirty="0" smtClean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p>
                                            <m:sSupPr>
                                              <m:ctrlP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lg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p>
                                        </m:fNam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US" altLang="zh-TW" b="0" i="0" dirty="0" smtClean="0">
                              <a:latin typeface="+mj-lt"/>
                            </a:rPr>
                            <a:t> for real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1,3</m:t>
                                  </m:r>
                                </m:e>
                              </m:d>
                            </m:oMath>
                          </a14:m>
                          <a:endParaRPr lang="en-US" altLang="zh-TW" b="0" dirty="0" smtClean="0"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b="0" i="0" smtClean="0">
                                                <a:latin typeface="Cambria Math" panose="02040503050406030204" pitchFamily="18" charset="0"/>
                                              </a:rPr>
                                              <m:t>lg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fName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unc>
                                                  <m:func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uncPr>
                                                  <m:fNam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altLang="zh-TW" b="0" i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lg</m:t>
                                                    </m:r>
                                                  </m:fName>
                                                  <m:e>
                                                    <m:func>
                                                      <m:funcPr>
                                                        <m:ctrlPr>
                                                          <a:rPr lang="en-US" altLang="zh-TW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uncPr>
                                                      <m:fNam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altLang="zh-TW" b="0" i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lg</m:t>
                                                        </m:r>
                                                      </m:fName>
                                                      <m:e>
                                                        <m:r>
                                                          <a:rPr lang="en-US" altLang="zh-TW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e>
                                                    </m:func>
                                                  </m:e>
                                                </m:func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func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2539975"/>
                  </p:ext>
                </p:extLst>
              </p:nvPr>
            </p:nvGraphicFramePr>
            <p:xfrm>
              <a:off x="481912" y="2350444"/>
              <a:ext cx="8180175" cy="224284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15407"/>
                    <a:gridCol w="2754304"/>
                    <a:gridCol w="3410464"/>
                  </a:tblGrid>
                  <a:tr h="6462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Algorithm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Time complexity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Conditions</a:t>
                          </a:r>
                          <a:endParaRPr lang="zh-TW" altLang="en-US" dirty="0"/>
                        </a:p>
                      </a:txBody>
                      <a:tcPr anchor="ctr">
                        <a:solidFill>
                          <a:schemeClr val="bg2"/>
                        </a:solidFill>
                      </a:tcPr>
                    </a:tc>
                  </a:tr>
                  <a:tr h="1596581">
                    <a:tc>
                      <a:txBody>
                        <a:bodyPr/>
                        <a:lstStyle/>
                        <a:p>
                          <a:r>
                            <a:rPr lang="en-US" altLang="zh-TW" dirty="0" smtClean="0"/>
                            <a:t>Our-3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73614" t="-40684" r="-124834" b="-7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39821" t="-40684" r="-536" b="-76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569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Algorithmic applications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LCS problem</a:t>
            </a:r>
          </a:p>
          <a:p>
            <a:endParaRPr lang="en-US" altLang="zh-TW" dirty="0"/>
          </a:p>
          <a:p>
            <a:r>
              <a:rPr lang="en-US" altLang="zh-TW" dirty="0" smtClean="0"/>
              <a:t>Edit distance problem</a:t>
            </a:r>
          </a:p>
          <a:p>
            <a:endParaRPr lang="en-US" altLang="zh-TW" dirty="0"/>
          </a:p>
          <a:p>
            <a:r>
              <a:rPr lang="en-US" altLang="zh-TW" dirty="0" smtClean="0"/>
              <a:t>Longest Common Transposition-invariant subsequence problem (LCTS)</a:t>
            </a:r>
          </a:p>
          <a:p>
            <a:pPr marL="0" indent="0">
              <a:buNone/>
            </a:pP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613456"/>
                  </p:ext>
                </p:extLst>
              </p:nvPr>
            </p:nvGraphicFramePr>
            <p:xfrm>
              <a:off x="1351004" y="5277021"/>
              <a:ext cx="7018638" cy="94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69773"/>
                    <a:gridCol w="1169773"/>
                    <a:gridCol w="1169773"/>
                    <a:gridCol w="1169773"/>
                    <a:gridCol w="1169773"/>
                    <a:gridCol w="1169773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A’</a:t>
                          </a:r>
                          <a:endParaRPr lang="zh-TW" altLang="en-US" sz="2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B’</a:t>
                          </a:r>
                          <a:endParaRPr lang="zh-TW" altLang="en-US" sz="2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613456"/>
                  </p:ext>
                </p:extLst>
              </p:nvPr>
            </p:nvGraphicFramePr>
            <p:xfrm>
              <a:off x="1351004" y="5277021"/>
              <a:ext cx="7018638" cy="94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69773"/>
                    <a:gridCol w="1169773"/>
                    <a:gridCol w="1169773"/>
                    <a:gridCol w="1169773"/>
                    <a:gridCol w="1169773"/>
                    <a:gridCol w="1169773"/>
                  </a:tblGrid>
                  <a:tr h="472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A’</a:t>
                          </a:r>
                          <a:endParaRPr lang="zh-TW" altLang="en-US" sz="2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0000" t="-8974" r="-40000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00000" t="-8974" r="-30000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300000" t="-8974" r="-20000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400000" t="-8974" r="-10000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500000" t="-8974" b="-130769"/>
                          </a:stretch>
                        </a:blipFill>
                      </a:tcPr>
                    </a:tc>
                  </a:tr>
                  <a:tr h="472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B’</a:t>
                          </a:r>
                          <a:endParaRPr lang="zh-TW" altLang="en-US" sz="25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100000" t="-108974" r="-40000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00000" t="-108974" r="-30000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300000" t="-108974" r="-20000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400000" t="-108974" r="-10000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500000" t="-108974" b="-3076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078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Algorithmic applications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503237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Longest Common Transposition-invariant subsequence problem (LCTS)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dense blocks : at least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𝑚𝑛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altLang="zh-TW" dirty="0" smtClean="0"/>
                  <a:t> matches,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sparse blocks : otherwise.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e>
                                  <m:sup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 worst-case time,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where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func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5032376"/>
              </a:xfrm>
              <a:blipFill rotWithShape="0">
                <a:blip r:embed="rId2"/>
                <a:stretch>
                  <a:fillRect l="-1546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47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Algorithmic applications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8746009" cy="503237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Sequence similarity of three sequences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𝑚𝑛𝑢</m:t>
                        </m:r>
                      </m:num>
                      <m:den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worst-case time, and space use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words.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 smtClean="0"/>
                  <a:t>Merged LCS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𝑚𝑛𝑢</m:t>
                        </m:r>
                      </m:num>
                      <m:den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fName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worst-case </a:t>
                </a:r>
                <a:r>
                  <a:rPr lang="en-US" altLang="zh-TW" dirty="0" smtClean="0"/>
                  <a:t>time,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8746009" cy="5032376"/>
              </a:xfrm>
              <a:blipFill rotWithShape="0">
                <a:blip r:embed="rId2"/>
                <a:stretch>
                  <a:fillRect l="-1254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26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17944</TotalTime>
  <Words>551</Words>
  <Application>Microsoft Office PowerPoint</Application>
  <PresentationFormat>如螢幕大小 (4:3)</PresentationFormat>
  <Paragraphs>262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New Tabulation and Sparse Dynamic Programming Based Techniques for Sequence Similarity Problems</vt:lpstr>
      <vt:lpstr>Abstract</vt:lpstr>
      <vt:lpstr>PowerPoint 簡報</vt:lpstr>
      <vt:lpstr>Bille and Farach-Colton’s algorithm (BFC)</vt:lpstr>
      <vt:lpstr>Values inside each block depend on</vt:lpstr>
      <vt:lpstr>PowerPoint 簡報</vt:lpstr>
      <vt:lpstr>Alphabet remapping in superblocks</vt:lpstr>
      <vt:lpstr>PowerPoint 簡報</vt:lpstr>
      <vt:lpstr>Alphabet remapping in superblocks</vt:lpstr>
      <vt:lpstr>Alphabet remapping in superblocks</vt:lpstr>
      <vt:lpstr>Values inside each block depend on</vt:lpstr>
      <vt:lpstr>Grabowski’s idea</vt:lpstr>
      <vt:lpstr>PowerPoint 簡報</vt:lpstr>
      <vt:lpstr>PowerPoint 簡報</vt:lpstr>
      <vt:lpstr>PowerPoint 簡報</vt:lpstr>
      <vt:lpstr>LCS combining tabulation and sparse dynamic programming</vt:lpstr>
      <vt:lpstr>Sparse block</vt:lpstr>
      <vt:lpstr>Dense block</vt:lpstr>
      <vt:lpstr>PowerPoint 簡報</vt:lpstr>
      <vt:lpstr>LCS combining tabulation and sparse dynamic programming</vt:lpstr>
      <vt:lpstr>LCS combining tabulation and sparse dynamic programming</vt:lpstr>
      <vt:lpstr>LCS combining tabulation and sparse dynamic programming</vt:lpstr>
      <vt:lpstr>LCS in O(n+r) time (sometimes)</vt:lpstr>
      <vt:lpstr>LCS in O(n+r) time (sometimes)</vt:lpstr>
      <vt:lpstr>Algorithmic applications</vt:lpstr>
      <vt:lpstr>Algorithmic applications</vt:lpstr>
      <vt:lpstr>Algorithmic applications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418</cp:revision>
  <dcterms:created xsi:type="dcterms:W3CDTF">2016-10-24T04:50:56Z</dcterms:created>
  <dcterms:modified xsi:type="dcterms:W3CDTF">2017-12-26T11:11:56Z</dcterms:modified>
</cp:coreProperties>
</file>