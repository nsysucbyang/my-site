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2" r:id="rId4"/>
    <p:sldId id="264" r:id="rId5"/>
    <p:sldId id="273" r:id="rId6"/>
    <p:sldId id="282" r:id="rId7"/>
    <p:sldId id="283" r:id="rId8"/>
    <p:sldId id="286" r:id="rId9"/>
    <p:sldId id="285" r:id="rId10"/>
    <p:sldId id="268" r:id="rId11"/>
    <p:sldId id="287" r:id="rId12"/>
    <p:sldId id="288" r:id="rId13"/>
    <p:sldId id="270" r:id="rId14"/>
    <p:sldId id="289" r:id="rId15"/>
    <p:sldId id="290" r:id="rId16"/>
    <p:sldId id="291" r:id="rId17"/>
    <p:sldId id="292" r:id="rId18"/>
    <p:sldId id="293" r:id="rId19"/>
    <p:sldId id="294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7" autoAdjust="0"/>
    <p:restoredTop sz="95048" autoAdjust="0"/>
  </p:normalViewPr>
  <p:slideViewPr>
    <p:cSldViewPr snapToGrid="0">
      <p:cViewPr varScale="1">
        <p:scale>
          <a:sx n="47" d="100"/>
          <a:sy n="47" d="100"/>
        </p:scale>
        <p:origin x="60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D822E-287D-49A6-BB7D-CFD94BDB4C78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6E11E-5ACF-409F-8557-659632981D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7977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DP,O(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),the cells on the same diagonal in the score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doesn’t depend on each other, so that they can be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computed in parallel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6548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rearranging the entries in the score matrix for greater parallelism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9881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833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2375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154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911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557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5837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864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138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CUDA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217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3068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3696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2519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39293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91281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computing the states of CPSA we have chosen five virus genomes, taken prefix of length 200 from each of them and computed CPSA between each possible pair of the prefixes.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811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10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095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061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691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473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97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091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27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141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938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340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C1F2B-1D51-40D0-A135-9C9D0A35B8E2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11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-53623" y="783697"/>
            <a:ext cx="12299245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Palindromic Subsequence Automata and Longest Common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Palindromic Subsequence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9516533" cy="2719740"/>
          </a:xfrm>
        </p:spPr>
        <p:txBody>
          <a:bodyPr>
            <a:normAutofit fontScale="925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Mahbubul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S. M.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Sohidull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Islam, 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Sohel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Rahman,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Ayon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in Computer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Science June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2017, Volume 11,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Issue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219–232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Wu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Date:2017/12/26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68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1071578" cy="4595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present a novel weighted finite automaton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 palindromic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automaton(PSA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is a compact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of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palindromic subsequences of a string. Then we use PSA to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solve 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palindromic subsequence problem. Our automata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algorithms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efficient both in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theory and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practice.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66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Palindromic Subsequence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85110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𝑎𝑏𝑏𝑎</m:t>
                      </m:r>
                    </m:oMath>
                  </m:oMathPara>
                </a14:m>
                <a:endParaRPr lang="en-US" altLang="zh-TW" sz="32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2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200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𝑎𝑏𝑐𝑎</m:t>
                      </m:r>
                    </m:oMath>
                  </m:oMathPara>
                </a14:m>
                <a:endParaRPr lang="en-US" altLang="zh-TW" sz="32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2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𝐶𝑃𝑆</m:t>
                      </m:r>
                      <m:r>
                        <a:rPr lang="en-US" altLang="zh-TW" sz="3200" i="1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3200" i="1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TW" sz="3200" i="1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3200" i="1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TW" sz="3200" i="1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3200" i="1" dirty="0" err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𝑎𝑎</m:t>
                      </m:r>
                      <m:r>
                        <a:rPr lang="en-US" altLang="zh-TW" sz="3200" i="1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3200" i="1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𝑎𝑏𝑎</m:t>
                      </m:r>
                    </m:oMath>
                  </m:oMathPara>
                </a14:m>
                <a:endParaRPr lang="en-US" altLang="zh-TW" sz="32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altLang="zh-TW" sz="32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altLang="zh-TW" sz="3200" i="1" dirty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𝐶𝑃𝑆</m:t>
                      </m:r>
                      <m:r>
                        <a:rPr lang="en-US" altLang="zh-TW" sz="3200" i="1" dirty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3200" i="1" dirty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𝑎𝑏𝑎</m:t>
                      </m:r>
                    </m:oMath>
                  </m:oMathPara>
                </a14:m>
                <a:endParaRPr lang="en-US" altLang="zh-TW" sz="3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85110"/>
                <a:ext cx="10515600" cy="4351338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23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980670"/>
            <a:ext cx="5110790" cy="375872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Palindromic subsequence automata (PSA)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String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reverse of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𝑅</m:t>
                        </m:r>
                      </m:sup>
                    </m:sSup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PSA M accepts the first half of a palindromic subsequence of all palindromic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subsequences of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the given string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PSA M is a 6 tuple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altLang="zh-TW" i="0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Σ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4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468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310" y="3454804"/>
            <a:ext cx="5110790" cy="375872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PSA 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:finite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set of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states. Here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is a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subset of pairs of positions in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𝑅</m:t>
                        </m:r>
                      </m:sup>
                    </m:sSup>
                  </m:oMath>
                </a14:m>
                <a:endParaRPr lang="en-US" altLang="zh-TW" b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is the initial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state</a:t>
                </a:r>
                <a:endParaRPr lang="en-US" altLang="zh-TW" b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Each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∈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is associated with a pair of positions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refer to positions in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respectively and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]=</m:t>
                    </m:r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𝑅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b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4351338"/>
              </a:xfrm>
              <a:blipFill rotWithShape="0">
                <a:blip r:embed="rId4"/>
                <a:stretch>
                  <a:fillRect l="-1074" t="-2381" r="-3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44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is the input alphabet</a:t>
                </a:r>
              </a:p>
              <a:p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𝛿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l-GR" altLang="zh-TW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Σ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is a transition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function</a:t>
                </a:r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l-GR" altLang="zh-TW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Σ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assigns a edge cost between a pair of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states</a:t>
                </a:r>
              </a:p>
              <a:p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2, 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𝑖𝑓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&lt;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1,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𝑖𝑓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0,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𝑖𝑓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&gt;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	</a:t>
                </a:r>
                <a:endParaRPr lang="en-US" altLang="zh-TW" b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4351338"/>
              </a:xfrm>
              <a:blipFill rotWithShape="0">
                <a:blip r:embed="rId3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27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555" y="1690688"/>
            <a:ext cx="6558845" cy="48237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67265" y="1027906"/>
                <a:ext cx="1135380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zh-TW" b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TW" i="1" dirty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altLang="zh-TW" i="1" dirty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  <m:r>
                        <a:rPr lang="en-US" altLang="zh-TW" i="1" dirty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 dirty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2, 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𝑖𝑓</m:t>
                              </m:r>
                              <m:sSub>
                                <m:sSub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1,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𝑖𝑓</m:t>
                              </m:r>
                              <m:sSub>
                                <m:sSub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0,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𝑖𝑓</m:t>
                              </m:r>
                              <m:sSub>
                                <m:sSub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ea typeface="標楷體" panose="03000509000000000000" pitchFamily="65" charset="-12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  =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𝑎𝑏𝑎𝑐𝑏𝑐𝑎</m:t>
                    </m:r>
                  </m:oMath>
                </a14:m>
                <a:endParaRPr lang="en-US" altLang="zh-TW" i="1" dirty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ea typeface="標楷體" panose="03000509000000000000" pitchFamily="65" charset="-12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𝑅</m:t>
                        </m:r>
                      </m:sup>
                    </m:sSup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𝑎𝑐𝑏𝑐𝑎𝑏𝑎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b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7265" y="1027906"/>
                <a:ext cx="11353801" cy="4351338"/>
              </a:xfr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36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PSA Construction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NP(next position) is an array of size n</a:t>
                </a: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SP(start position) is an array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TW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</m:d>
                  </m:oMath>
                </a14:m>
                <a:endParaRPr lang="en-US" altLang="zh-TW" b="0" i="0" dirty="0" smtClean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b="0" i="0" dirty="0" smtClean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𝑎𝑏𝑐𝑏𝑎𝑐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49" y="3831400"/>
            <a:ext cx="11006701" cy="224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3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792" y="846666"/>
            <a:ext cx="6825147" cy="50195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67265" y="1027906"/>
                <a:ext cx="11353801" cy="52148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   =</m:t>
                      </m:r>
                      <m:r>
                        <a:rPr lang="en-US" altLang="zh-TW" i="1" dirty="0" err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𝑎𝑏𝑎𝑐𝑏𝑐𝑎</m:t>
                      </m:r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dirty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i="1" dirty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US" altLang="zh-TW" i="1" dirty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 =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𝑎𝑐𝑏𝑐𝑎𝑏𝑎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𝛴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={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a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b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c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time complexity: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𝑅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𝛴</m:t>
                            </m:r>
                          </m:e>
                        </m:d>
                      </m:e>
                    </m:d>
                  </m:oMath>
                </a14:m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b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7265" y="1027906"/>
                <a:ext cx="11353801" cy="5214850"/>
              </a:xfrm>
              <a:blipFill rotWithShape="0">
                <a:blip r:embed="rId4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838200" y="-770021"/>
            <a:ext cx="10515600" cy="1325563"/>
          </a:xfrm>
        </p:spPr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838200" y="2400051"/>
                <a:ext cx="23156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{(0,0)}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00051"/>
                <a:ext cx="2315634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838200" y="2399972"/>
                <a:ext cx="3653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{(1,1), (2,3), (4,2)}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99972"/>
                <a:ext cx="3653118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838200" y="2398112"/>
                <a:ext cx="3653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d>
                        <m:dPr>
                          <m:ctrlPr>
                            <a:rPr lang="en-US" altLang="zh-TW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altLang="zh-TW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4,2</m:t>
                          </m:r>
                        </m:e>
                      </m:d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,(3,5)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98112"/>
                <a:ext cx="3653118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843707" y="2397723"/>
                <a:ext cx="3653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d>
                        <m:dPr>
                          <m:ctrlPr>
                            <a:rPr lang="en-US" altLang="zh-TW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4,2</m:t>
                          </m:r>
                        </m:e>
                      </m:d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TW" sz="28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3,5</m:t>
                          </m:r>
                        </m:e>
                      </m:d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,(4,4)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7" y="2397723"/>
                <a:ext cx="3653118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832693" y="2401618"/>
                <a:ext cx="3653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d>
                        <m:dPr>
                          <m:ctrlPr>
                            <a:rPr lang="en-US" altLang="zh-TW" sz="28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3,5</m:t>
                          </m:r>
                        </m:e>
                      </m:d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TW" sz="28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4,4</m:t>
                          </m:r>
                        </m:e>
                      </m:d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,(5,3)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93" y="2401618"/>
                <a:ext cx="3653118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843707" y="2401618"/>
                <a:ext cx="3653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d>
                        <m:dPr>
                          <m:ctrlPr>
                            <a:rPr lang="en-US" altLang="zh-TW" sz="28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4,4</m:t>
                          </m:r>
                        </m:e>
                      </m:d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,(5,3)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7" y="2401618"/>
                <a:ext cx="3653118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843707" y="2405124"/>
                <a:ext cx="3653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(5,3)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7" y="2405124"/>
                <a:ext cx="3653118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843707" y="2405124"/>
                <a:ext cx="3653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TW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{}</m:t>
                      </m:r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707" y="2405124"/>
                <a:ext cx="3653118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41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/>
      <p:bldP spid="7" grpId="0"/>
      <p:bldP spid="7" grpId="1"/>
      <p:bldP spid="8" grpId="0"/>
      <p:bldP spid="8" grpId="1"/>
      <p:bldP spid="9" grpId="0"/>
      <p:bldP spid="9" grpId="1"/>
      <p:bldP spid="12" grpId="0"/>
      <p:bldP spid="12" grpId="1"/>
      <p:bldP spid="14" grpId="0"/>
      <p:bldP spid="14" grpId="1"/>
      <p:bldP spid="15" grpId="0"/>
      <p:bldP spid="15" grpId="1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PSA: Computing an LCPS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Step </a:t>
                </a:r>
                <a:r>
                  <a:rPr lang="en-US" altLang="zh-TW" dirty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1: Compute the PSA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dirty="0" smtClean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Step 2: Compute the PSA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TW" dirty="0" smtClean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Step </a:t>
                </a:r>
                <a:r>
                  <a:rPr lang="en-US" altLang="zh-TW" dirty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3: Compute the CPSA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by intersecting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TW" dirty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Step </a:t>
                </a:r>
                <a:r>
                  <a:rPr lang="en-US" altLang="zh-TW" dirty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4: Compute the Max Length Automaton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TW" b="0" i="0" dirty="0" smtClean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30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46" y="136084"/>
            <a:ext cx="4943754" cy="506612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4574649"/>
            <a:ext cx="4429743" cy="179095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4428571" cy="42095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7484532" y="5842379"/>
                <a:ext cx="255128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 dirty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sz="2800" i="1" dirty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i="1" dirty="0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dirty="0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TW" sz="2800" b="0" i="1" dirty="0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800" i="1" dirty="0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dirty="0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TW" sz="2800" b="0" i="1" dirty="0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800" i="1" dirty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l-GR" altLang="zh-TW" sz="2800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𝛴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532" y="5842379"/>
                <a:ext cx="2551289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396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𝛴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l-GR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𝛴</m:t>
                                </m:r>
                              </m:e>
                            </m:d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𝛴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altLang="zh-TW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altLang="zh-TW" b="0" i="0" dirty="0" smtClean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b="0" i="0" dirty="0" smtClean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b="0" i="0" dirty="0" smtClean="0"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b="0" i="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so worst case is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l-GR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𝛴</m:t>
                            </m:r>
                          </m:e>
                        </m:d>
                      </m:e>
                    </m:d>
                  </m:oMath>
                </a14:m>
                <a:endParaRPr lang="en-US" altLang="zh-TW" b="0" i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61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Data Experimental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39" y="2114685"/>
            <a:ext cx="10861122" cy="2875003"/>
          </a:xfrm>
        </p:spPr>
      </p:pic>
    </p:spTree>
    <p:extLst>
      <p:ext uri="{BB962C8B-B14F-4D97-AF65-F5344CB8AC3E}">
        <p14:creationId xmlns:p14="http://schemas.microsoft.com/office/powerpoint/2010/main" val="145290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79" y="1208497"/>
            <a:ext cx="4484142" cy="4020030"/>
          </a:xfrm>
          <a:prstGeom prst="rect">
            <a:avLst/>
          </a:prstGeom>
        </p:spPr>
      </p:pic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689" y="1208497"/>
            <a:ext cx="6844689" cy="4241886"/>
          </a:xfrm>
        </p:spPr>
      </p:pic>
    </p:spTree>
    <p:extLst>
      <p:ext uri="{BB962C8B-B14F-4D97-AF65-F5344CB8AC3E}">
        <p14:creationId xmlns:p14="http://schemas.microsoft.com/office/powerpoint/2010/main" val="307149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05" y="1514249"/>
            <a:ext cx="10835190" cy="3114195"/>
          </a:xfrm>
          <a:prstGeom prst="rect">
            <a:avLst/>
          </a:prstGeom>
        </p:spPr>
      </p:pic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905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Experimental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12" y="2095350"/>
            <a:ext cx="3763019" cy="3344156"/>
          </a:xfr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190" y="2095350"/>
            <a:ext cx="3973310" cy="3450923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789" y="2012545"/>
            <a:ext cx="4004733" cy="350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46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352" y="1690688"/>
            <a:ext cx="4677428" cy="4010585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4677428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64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467" y="532996"/>
            <a:ext cx="8345065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1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19" y="1690688"/>
            <a:ext cx="10597236" cy="316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7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6182</TotalTime>
  <Words>347</Words>
  <Application>Microsoft Office PowerPoint</Application>
  <PresentationFormat>寬螢幕</PresentationFormat>
  <Paragraphs>92</Paragraphs>
  <Slides>19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7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Palindromic Subsequence Automata and Longest Common Palindromic Subsequence</vt:lpstr>
      <vt:lpstr>Abstract</vt:lpstr>
      <vt:lpstr>Longest Common Palindromic Subsequence</vt:lpstr>
      <vt:lpstr>Palindromic subsequence automata (PSA)</vt:lpstr>
      <vt:lpstr>PSA M</vt:lpstr>
      <vt:lpstr>PowerPoint 簡報</vt:lpstr>
      <vt:lpstr>PowerPoint 簡報</vt:lpstr>
      <vt:lpstr>PSA Construction</vt:lpstr>
      <vt:lpstr>PowerPoint 簡報</vt:lpstr>
      <vt:lpstr>Application of PSA: Computing an LCPS</vt:lpstr>
      <vt:lpstr>PowerPoint 簡報</vt:lpstr>
      <vt:lpstr>Time complexity</vt:lpstr>
      <vt:lpstr>Random Data Experimental Results</vt:lpstr>
      <vt:lpstr>PowerPoint 簡報</vt:lpstr>
      <vt:lpstr>PowerPoint 簡報</vt:lpstr>
      <vt:lpstr>Real Data Experimental Results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Selectivity and Backup Operators in Monte-Carlo Tree Search</dc:title>
  <dc:creator>Trixie</dc:creator>
  <cp:lastModifiedBy>Trixie</cp:lastModifiedBy>
  <cp:revision>310</cp:revision>
  <dcterms:created xsi:type="dcterms:W3CDTF">2017-09-07T05:36:32Z</dcterms:created>
  <dcterms:modified xsi:type="dcterms:W3CDTF">2017-12-26T06:12:59Z</dcterms:modified>
</cp:coreProperties>
</file>