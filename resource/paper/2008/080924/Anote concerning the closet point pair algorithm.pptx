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80" r:id="rId4"/>
    <p:sldId id="295" r:id="rId5"/>
    <p:sldId id="294" r:id="rId6"/>
    <p:sldId id="293" r:id="rId7"/>
    <p:sldId id="298" r:id="rId8"/>
    <p:sldId id="296" r:id="rId9"/>
    <p:sldId id="290" r:id="rId10"/>
    <p:sldId id="281" r:id="rId11"/>
    <p:sldId id="291" r:id="rId12"/>
    <p:sldId id="282" r:id="rId13"/>
    <p:sldId id="285" r:id="rId14"/>
    <p:sldId id="287" r:id="rId15"/>
    <p:sldId id="286" r:id="rId16"/>
    <p:sldId id="299" r:id="rId17"/>
    <p:sldId id="300" r:id="rId18"/>
    <p:sldId id="284" r:id="rId19"/>
    <p:sldId id="288" r:id="rId20"/>
    <p:sldId id="283" r:id="rId21"/>
    <p:sldId id="301" r:id="rId22"/>
    <p:sldId id="289" r:id="rId23"/>
    <p:sldId id="302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258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EC442-F0B3-4C5D-8D8E-A38E9C715F0D}" type="datetimeFigureOut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180FE-46AA-465C-977D-9A97155374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8B34A-AAE9-450B-839E-930FBDE60749}" type="datetimeFigureOut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B2704-573C-4662-BF0B-85218495061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B2704-573C-4662-BF0B-852184950614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9ABD0E-3707-481F-AAB5-1881DDD5D309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9DCA710-F565-451C-B275-59B27B40636A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D69D7F-E644-4588-B7B8-0F1E60E012C7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E2543D-8C03-4523-95BE-03C3D33B7A59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39C72C-96EE-4689-99C6-4230E7D93334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F2A283F-64F0-4BDC-92DC-965808315291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5364569-BBF5-48BA-97F1-4691D6A686A3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B3981B8-FAF5-4547-8179-F0493D3A125C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D9B11F-D0A6-480A-ABAD-62EE1129C7E1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9" name="流程圖: 程序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圖: 程序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3A94FBF-531F-4FE2-AB95-C8CB3E1DE1BA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9DD1EE-D753-4A0D-98FD-5C84E57905EF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8B74BDC-8BE7-460E-9142-E9C7576724E5}" type="datetime1">
              <a:rPr lang="zh-TW" altLang="en-US" smtClean="0"/>
              <a:pPr/>
              <a:t>2008/10/1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568904"/>
          </a:xfrm>
        </p:spPr>
        <p:txBody>
          <a:bodyPr>
            <a:normAutofit/>
          </a:bodyPr>
          <a:lstStyle/>
          <a:p>
            <a:r>
              <a:rPr lang="en-US" altLang="zh-TW" sz="4000" b="1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A note concerning the closest point pair algorithm</a:t>
            </a:r>
            <a:endParaRPr lang="zh-TW" altLang="en-US" sz="4000" b="1" dirty="0"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357422" y="5286388"/>
            <a:ext cx="6692228" cy="1500198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Martin Richards</a:t>
            </a:r>
          </a:p>
          <a:p>
            <a:r>
              <a:rPr lang="en-US" altLang="zh-TW" sz="2000" i="1" dirty="0" smtClean="0"/>
              <a:t>University Computer Laboratory, New Museums Site, Pembroke St., Cambridge CB2 3QG, UK</a:t>
            </a:r>
          </a:p>
          <a:p>
            <a:r>
              <a:rPr lang="en-US" altLang="zh-TW" sz="2000" dirty="0" smtClean="0"/>
              <a:t>Information Processing Letters 82 (2002) 193–195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 algorithm, described by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Sedgewick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finds the distance between the closest pair of n given points in a plane using a variant of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mergesort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 This takes O(n log n) time. To prove this it is necessary to show that, in the merge phase of the algorithm, no more than a constant number of distances need to be checked for each point considered.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Abstract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Cormen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Leiserson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Rivest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show that checking seven distances is sufficient while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Sedgewick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suggests that this should be four. This paper shows that checking three distances is sufficient and that a slight modification of the algorithm reduces the number to two.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 The algorithm(1)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Definition: Given a set S of n points, find a pair of points which are closest together.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8" name="圖片 7" descr="cloest point pair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2786058"/>
            <a:ext cx="7867650" cy="32147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 The algorithm(2)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8" name="內容版面配置區 7" descr="cloest point pair0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930" y="2214554"/>
            <a:ext cx="7499350" cy="321471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 The algorithm(3)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7" name="內容版面配置區 6" descr="cloest point pair0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604" y="1928803"/>
            <a:ext cx="7159310" cy="400052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 The algorithm(4)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9" name="內容版面配置區 8" descr="cloest point pair0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940" y="1714488"/>
            <a:ext cx="7227464" cy="421484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 The algorithm(5)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6" name="內容版面配置區 5" descr="cloest point pair0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356" y="1714488"/>
            <a:ext cx="6094754" cy="429877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 The algorithm(6)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9" name="內容版面配置區 8" descr="cloest point pair0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940" y="1714488"/>
            <a:ext cx="7227464" cy="4214842"/>
          </a:xfrm>
        </p:spPr>
      </p:pic>
      <p:cxnSp>
        <p:nvCxnSpPr>
          <p:cNvPr id="12" name="直線接點 11"/>
          <p:cNvCxnSpPr/>
          <p:nvPr/>
        </p:nvCxnSpPr>
        <p:spPr>
          <a:xfrm>
            <a:off x="3786182" y="3998916"/>
            <a:ext cx="207170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786182" y="3286124"/>
            <a:ext cx="207170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右大括弧 24"/>
          <p:cNvSpPr/>
          <p:nvPr/>
        </p:nvSpPr>
        <p:spPr>
          <a:xfrm>
            <a:off x="5929322" y="3286124"/>
            <a:ext cx="214314" cy="71438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6143636" y="3286124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zh-TW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</a:t>
            </a:r>
            <a:r>
              <a:rPr lang="en-US" altLang="zh-TW" smtClean="0"/>
              <a:t>Proof (0)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min is the minimum separation distance.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 could potentially be one of a closer pair.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Suppose the next four points on the stack are A, B, C, and Q. 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Clearly satisfy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baseline="-250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≥ A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≥ B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≥ C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TW" sz="2800" baseline="-250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r>
              <a:rPr lang="en-US" altLang="zh-TW" sz="2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algorithm checks whether any of the distances PA, PB or PC are less than min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If PQ &lt; min then P will be at least as close to one of A, B, or C.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= d.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Assume P is on the top edge of the left hand square. If PQ &lt; min, Q must be in the right hand square and A, B and C must all be in the rectangle.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>
            <a:off x="2786050" y="3929066"/>
            <a:ext cx="4286280" cy="2143140"/>
            <a:chOff x="2857488" y="2928934"/>
            <a:chExt cx="4286280" cy="2143140"/>
          </a:xfrm>
        </p:grpSpPr>
        <p:sp>
          <p:nvSpPr>
            <p:cNvPr id="20" name="矩形 19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橢圓 24"/>
          <p:cNvSpPr/>
          <p:nvPr/>
        </p:nvSpPr>
        <p:spPr>
          <a:xfrm>
            <a:off x="5072066" y="6000768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500562" y="3357562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左大括弧 26"/>
          <p:cNvSpPr/>
          <p:nvPr/>
        </p:nvSpPr>
        <p:spPr>
          <a:xfrm>
            <a:off x="2214546" y="3929066"/>
            <a:ext cx="500066" cy="21431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5143504" y="6000768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500166" y="4753285"/>
            <a:ext cx="78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左大括弧 32"/>
          <p:cNvSpPr/>
          <p:nvPr/>
        </p:nvSpPr>
        <p:spPr>
          <a:xfrm rot="16200000">
            <a:off x="3643305" y="5286387"/>
            <a:ext cx="428629" cy="21431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/>
          <p:cNvSpPr txBox="1"/>
          <p:nvPr/>
        </p:nvSpPr>
        <p:spPr>
          <a:xfrm>
            <a:off x="3143240" y="6357958"/>
            <a:ext cx="78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5" name="直線單箭頭接點 34"/>
          <p:cNvCxnSpPr/>
          <p:nvPr/>
        </p:nvCxnSpPr>
        <p:spPr>
          <a:xfrm>
            <a:off x="4286248" y="4857760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3357554" y="4286256"/>
            <a:ext cx="1143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Dividing line(L)</a:t>
            </a: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4572000" y="3857628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Case (1)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If A, B, C and Q are all in the right hand square.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3824591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橢圓 8"/>
          <p:cNvSpPr/>
          <p:nvPr/>
        </p:nvSpPr>
        <p:spPr>
          <a:xfrm>
            <a:off x="4929190" y="3753153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072330" y="3753153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072330" y="5896293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929190" y="5896293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572000" y="3324525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857752" y="3324525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29454" y="3324525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215206" y="5967731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000628" y="5967731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4643438" y="3753153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Case (2)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next case is when just one of A, B or C is in the left hand square.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4071942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643438" y="4000504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071802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143636" y="428625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858016" y="564357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214942" y="5857892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572000" y="357187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286512" y="4110343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214678" y="5253351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715140" y="571501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57818" y="571501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Let that point be renamed Z and the other two renamed X and Y.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4071942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643438" y="4000504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071802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143636" y="428625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858016" y="564357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214942" y="5857892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572000" y="357187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286512" y="4110343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214678" y="5253351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Z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715140" y="571501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57818" y="571501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XY = 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Note that RXYQ is a rhombus with sides of length 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Since PQ &lt; min(</a:t>
            </a:r>
            <a:r>
              <a:rPr lang="en-US" altLang="zh-TW" sz="2800" dirty="0" smtClean="0">
                <a:latin typeface="Times New Roman"/>
                <a:cs typeface="Times New Roman"/>
              </a:rPr>
              <a:t>≤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), P must be to the right of R forcing the PX </a:t>
            </a:r>
            <a:r>
              <a:rPr lang="en-US" altLang="zh-TW" sz="2800" dirty="0" smtClean="0">
                <a:latin typeface="Times New Roman"/>
                <a:cs typeface="Times New Roman"/>
              </a:rPr>
              <a:t>≤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PQ. 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4286256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643438" y="4214818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572000" y="3786190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29388" y="3714752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357422" y="5857892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Z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直線接點 20"/>
          <p:cNvCxnSpPr/>
          <p:nvPr/>
        </p:nvCxnSpPr>
        <p:spPr>
          <a:xfrm>
            <a:off x="5000628" y="6142056"/>
            <a:ext cx="21431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7286644" y="5967731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00562" y="5929330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214942" y="6072206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929190" y="6072206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858016" y="585789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143636" y="4500570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071802" y="564357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7072330" y="607220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500826" y="421481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單箭頭接點 28"/>
          <p:cNvCxnSpPr/>
          <p:nvPr/>
        </p:nvCxnSpPr>
        <p:spPr>
          <a:xfrm flipV="1">
            <a:off x="6143636" y="4357694"/>
            <a:ext cx="357190" cy="142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rot="16200000" flipH="1">
            <a:off x="6929454" y="6000768"/>
            <a:ext cx="142876" cy="142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rot="10800000">
            <a:off x="5000632" y="5999182"/>
            <a:ext cx="285749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橢圓 41"/>
          <p:cNvSpPr/>
          <p:nvPr/>
        </p:nvSpPr>
        <p:spPr>
          <a:xfrm>
            <a:off x="2786050" y="607220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單箭頭接點 44"/>
          <p:cNvCxnSpPr/>
          <p:nvPr/>
        </p:nvCxnSpPr>
        <p:spPr>
          <a:xfrm rot="5400000">
            <a:off x="2893207" y="5822173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24" idx="5"/>
            <a:endCxn id="23" idx="0"/>
          </p:cNvCxnSpPr>
          <p:nvPr/>
        </p:nvCxnSpPr>
        <p:spPr>
          <a:xfrm rot="16200000" flipH="1">
            <a:off x="6015555" y="4943993"/>
            <a:ext cx="1735436" cy="520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4143372" y="4214818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接點 58"/>
          <p:cNvCxnSpPr>
            <a:stCxn id="8" idx="4"/>
            <a:endCxn id="22" idx="1"/>
          </p:cNvCxnSpPr>
          <p:nvPr/>
        </p:nvCxnSpPr>
        <p:spPr>
          <a:xfrm rot="16200000" flipH="1">
            <a:off x="3964777" y="5107793"/>
            <a:ext cx="1735436" cy="235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22" idx="1"/>
            <a:endCxn id="57" idx="4"/>
          </p:cNvCxnSpPr>
          <p:nvPr/>
        </p:nvCxnSpPr>
        <p:spPr>
          <a:xfrm rot="16200000" flipV="1">
            <a:off x="3714744" y="4857760"/>
            <a:ext cx="1735436" cy="73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3929058" y="3786190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R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My approach of proof: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PQ = ( 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+ b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)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1/2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PX =  (min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+ b) &gt; PQ.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But PQ and PX &gt; 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4071942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143372" y="4000504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000364" y="550070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7072330" y="400050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072330" y="614364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929190" y="6143644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929058" y="3500438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358082" y="3786190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43240" y="5253351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Z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072330" y="6215082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857752" y="6215082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直線接點 20"/>
          <p:cNvCxnSpPr>
            <a:stCxn id="8" idx="4"/>
            <a:endCxn id="12" idx="1"/>
          </p:cNvCxnSpPr>
          <p:nvPr/>
        </p:nvCxnSpPr>
        <p:spPr>
          <a:xfrm rot="16200000" flipH="1">
            <a:off x="3571868" y="4786322"/>
            <a:ext cx="2021188" cy="73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左大括弧 22"/>
          <p:cNvSpPr/>
          <p:nvPr/>
        </p:nvSpPr>
        <p:spPr>
          <a:xfrm rot="5400000">
            <a:off x="4429124" y="3500438"/>
            <a:ext cx="357190" cy="78581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4429124" y="3357562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b</a:t>
            </a:r>
            <a:endParaRPr lang="zh-TW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If PQ &lt; 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X = (min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– (min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-a)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1/2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= (a(2min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- a))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1/2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PL &lt; (a(2min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- a))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1/2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/>
                <a:cs typeface="Times New Roman"/>
              </a:rPr>
              <a:t>→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PX</a:t>
            </a:r>
            <a:r>
              <a:rPr lang="en-US" altLang="zh-TW" sz="2800" baseline="300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&lt; min</a:t>
            </a:r>
            <a:r>
              <a:rPr lang="en-US" altLang="zh-TW" sz="28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4071942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143372" y="4000504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000364" y="550070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143636" y="400050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072330" y="578645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929190" y="5786454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929058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857884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b="1" baseline="30000" dirty="0" smtClean="0">
                <a:latin typeface="Times New Roman" pitchFamily="18" charset="0"/>
                <a:cs typeface="Times New Roman" pitchFamily="18" charset="0"/>
              </a:rPr>
              <a:t>’</a:t>
            </a:r>
            <a:endParaRPr lang="zh-TW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143240" y="5253351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Z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143768" y="5786454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72000" y="5786454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直線接點 20"/>
          <p:cNvCxnSpPr>
            <a:stCxn id="8" idx="4"/>
            <a:endCxn id="12" idx="1"/>
          </p:cNvCxnSpPr>
          <p:nvPr/>
        </p:nvCxnSpPr>
        <p:spPr>
          <a:xfrm rot="16200000" flipH="1">
            <a:off x="3750463" y="4607727"/>
            <a:ext cx="1663998" cy="73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2" idx="6"/>
            <a:endCxn id="10" idx="2"/>
          </p:cNvCxnSpPr>
          <p:nvPr/>
        </p:nvCxnSpPr>
        <p:spPr>
          <a:xfrm>
            <a:off x="5072066" y="5857892"/>
            <a:ext cx="2000264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9" idx="5"/>
            <a:endCxn id="10" idx="1"/>
          </p:cNvCxnSpPr>
          <p:nvPr/>
        </p:nvCxnSpPr>
        <p:spPr>
          <a:xfrm rot="16200000" flipH="1">
            <a:off x="5836960" y="4551084"/>
            <a:ext cx="1684922" cy="827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6" idx="2"/>
          </p:cNvCxnSpPr>
          <p:nvPr/>
        </p:nvCxnSpPr>
        <p:spPr>
          <a:xfrm rot="5400000" flipH="1">
            <a:off x="5893603" y="6036487"/>
            <a:ext cx="35719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6143636" y="5786454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左大括弧 31"/>
          <p:cNvSpPr/>
          <p:nvPr/>
        </p:nvSpPr>
        <p:spPr>
          <a:xfrm rot="10800000">
            <a:off x="7215207" y="4071942"/>
            <a:ext cx="500066" cy="1785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5520165" y="4743402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zh-TW" sz="2000" b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000" b="1" dirty="0" smtClean="0">
                <a:latin typeface="Times New Roman" pitchFamily="18" charset="0"/>
                <a:cs typeface="Times New Roman" pitchFamily="18" charset="0"/>
              </a:rPr>
              <a:t>-a</a:t>
            </a:r>
            <a:endParaRPr lang="zh-TW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左大括弧 33"/>
          <p:cNvSpPr/>
          <p:nvPr/>
        </p:nvSpPr>
        <p:spPr>
          <a:xfrm rot="10800000">
            <a:off x="5072066" y="4071943"/>
            <a:ext cx="500066" cy="1785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7806181" y="4714884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zh-TW" sz="2000" b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TW" sz="2000" b="1" dirty="0" smtClean="0">
                <a:latin typeface="Times New Roman" pitchFamily="18" charset="0"/>
                <a:cs typeface="Times New Roman" pitchFamily="18" charset="0"/>
              </a:rPr>
              <a:t>-a</a:t>
            </a:r>
            <a:endParaRPr lang="zh-TW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7072330" y="400050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7000892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4929190" y="4000504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4857752" y="3538839"/>
            <a:ext cx="357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L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Case (3)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next case when two of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A, B and C share the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left hand square with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P.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4038905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714876" y="3967467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000364" y="435769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000496" y="578645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786578" y="50720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214942" y="5929330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500562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143240" y="3967467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571868" y="5643578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643702" y="5286388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286380" y="6182045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By swapping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P and Q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and inverting the figure this arrangement can be seen to be equivalent to the previous case and so the same result holds.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 rot="10800000">
            <a:off x="2857488" y="4000504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 rot="10800000">
            <a:off x="4643438" y="4143380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 rot="10800000">
            <a:off x="6858016" y="5681979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 rot="10800000">
            <a:off x="5857884" y="4253219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 rot="10800000">
            <a:off x="3071802" y="4967599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 rot="10800000">
            <a:off x="5214942" y="6072205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500562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29388" y="5753417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000760" y="407730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928926" y="443449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57818" y="5643578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 Proof (10)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Case (4)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If A, B and C are in the left square with P.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2857488" y="4038905"/>
            <a:ext cx="4286280" cy="2143140"/>
            <a:chOff x="2857488" y="2928934"/>
            <a:chExt cx="4286280" cy="2143140"/>
          </a:xfrm>
        </p:grpSpPr>
        <p:sp>
          <p:nvSpPr>
            <p:cNvPr id="5" name="矩形 4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929190" y="3967467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786050" y="3967467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786050" y="6110607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929190" y="6110607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286380" y="6110607"/>
            <a:ext cx="142876" cy="14287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786314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643174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500298" y="6182045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643438" y="6182045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286380" y="6182045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 Final comments(1)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at least one of A, B or C will be on the same side as P.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2857488" y="4038905"/>
            <a:ext cx="4286280" cy="2143140"/>
            <a:chOff x="2857488" y="2928934"/>
            <a:chExt cx="4286280" cy="2143140"/>
          </a:xfrm>
        </p:grpSpPr>
        <p:sp>
          <p:nvSpPr>
            <p:cNvPr id="6" name="矩形 5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786314" y="3967467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286380" y="585789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000760" y="428625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143240" y="578645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4643438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072198" y="4000504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357554" y="5396227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429256" y="571501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 Final comments(2)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A, B, C will all be opposite to P.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2857488" y="4038905"/>
            <a:ext cx="4286280" cy="2143140"/>
            <a:chOff x="2857488" y="2928934"/>
            <a:chExt cx="4286280" cy="2143140"/>
          </a:xfrm>
        </p:grpSpPr>
        <p:sp>
          <p:nvSpPr>
            <p:cNvPr id="6" name="矩形 5"/>
            <p:cNvSpPr/>
            <p:nvPr/>
          </p:nvSpPr>
          <p:spPr>
            <a:xfrm>
              <a:off x="285748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0628" y="2928934"/>
              <a:ext cx="2143140" cy="21431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橢圓 7"/>
          <p:cNvSpPr/>
          <p:nvPr/>
        </p:nvSpPr>
        <p:spPr>
          <a:xfrm>
            <a:off x="4786314" y="3967467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286380" y="585789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000760" y="428625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858016" y="578645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643438" y="353883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072198" y="4000504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86578" y="5396227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429256" y="5715016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 Final comments(3)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number of checks can be further reduced to two by the observation that only two of PA, PB and PC need be checked, since, either at least one of A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, B or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 will be on the same side as P, or they will all be opposite to P, in which case PC will be no smaller than PA or PB.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1228</TotalTime>
  <Words>835</Words>
  <PresentationFormat>如螢幕大小 (4:3)</PresentationFormat>
  <Paragraphs>149</Paragraphs>
  <Slides>23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4" baseType="lpstr">
      <vt:lpstr>夏至</vt:lpstr>
      <vt:lpstr>A note concerning the closest point pair algorithm</vt:lpstr>
      <vt:lpstr>Abstract</vt:lpstr>
      <vt:lpstr>Abstract</vt:lpstr>
      <vt:lpstr>1. The algorithm(1)</vt:lpstr>
      <vt:lpstr>1. The algorithm(2)</vt:lpstr>
      <vt:lpstr>1. The algorithm(3)</vt:lpstr>
      <vt:lpstr>1. The algorithm(4)</vt:lpstr>
      <vt:lpstr>1. The algorithm(5)</vt:lpstr>
      <vt:lpstr>1. The algorithm(6)</vt:lpstr>
      <vt:lpstr>2. Proof (0)</vt:lpstr>
      <vt:lpstr>2. Proof (1)</vt:lpstr>
      <vt:lpstr>2. Proof (2)</vt:lpstr>
      <vt:lpstr>2. Proof (3)</vt:lpstr>
      <vt:lpstr>2. Proof (4)</vt:lpstr>
      <vt:lpstr>2. Proof (5)</vt:lpstr>
      <vt:lpstr>2. Proof (6)</vt:lpstr>
      <vt:lpstr>2. Proof (7)</vt:lpstr>
      <vt:lpstr>2. Proof (8)</vt:lpstr>
      <vt:lpstr>2. Proof (9)</vt:lpstr>
      <vt:lpstr>2. Proof (10)</vt:lpstr>
      <vt:lpstr>3. Final comments(1)</vt:lpstr>
      <vt:lpstr>3. Final comments(2)</vt:lpstr>
      <vt:lpstr>3. Final comments(3)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Well-separated pair decomposition in linear time?</dc:title>
  <cp:lastModifiedBy>kiseki</cp:lastModifiedBy>
  <cp:revision>184</cp:revision>
  <dcterms:modified xsi:type="dcterms:W3CDTF">2008-10-01T10:17:58Z</dcterms:modified>
</cp:coreProperties>
</file>