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79" r:id="rId4"/>
    <p:sldId id="278" r:id="rId5"/>
    <p:sldId id="277" r:id="rId6"/>
    <p:sldId id="295" r:id="rId7"/>
    <p:sldId id="296" r:id="rId8"/>
    <p:sldId id="297" r:id="rId9"/>
    <p:sldId id="298" r:id="rId10"/>
    <p:sldId id="281" r:id="rId11"/>
    <p:sldId id="289" r:id="rId12"/>
    <p:sldId id="290" r:id="rId13"/>
    <p:sldId id="283" r:id="rId14"/>
    <p:sldId id="284" r:id="rId15"/>
    <p:sldId id="291" r:id="rId16"/>
    <p:sldId id="292" r:id="rId17"/>
    <p:sldId id="293" r:id="rId18"/>
    <p:sldId id="294" r:id="rId19"/>
    <p:sldId id="287" r:id="rId20"/>
    <p:sldId id="299" r:id="rId21"/>
    <p:sldId id="260" r:id="rId2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92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80" y="96"/>
      </p:cViewPr>
      <p:guideLst/>
    </p:cSldViewPr>
  </p:slideViewPr>
  <p:notesTextViewPr>
    <p:cViewPr>
      <p:scale>
        <a:sx n="153" d="100"/>
        <a:sy n="153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3EF278-DEC6-4E3D-91C1-FFB9670F7E0A}" type="datetimeFigureOut">
              <a:rPr lang="zh-TW" altLang="en-US" smtClean="0"/>
              <a:t>2025/2/25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970535-5AE6-49C5-869A-94816A0BD8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9381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970535-5AE6-49C5-869A-94816A0BD853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68206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970535-5AE6-49C5-869A-94816A0BD853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63457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A6175DC-03CF-44E9-8DAA-3C8A0244FA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4E85C15-1A7C-47AE-B467-95791FE54B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256C7F0-FADC-47AA-9296-0D3C184A3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3CCD5-37C1-4BF2-BC4E-53111CECAE86}" type="datetimeFigureOut">
              <a:rPr lang="zh-TW" altLang="en-US" smtClean="0"/>
              <a:t>2025/2/25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F4B0F21-D51A-43DE-B151-C0BDA7D88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9390911-8A31-446D-8DB9-CFD00A079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5DF7F-3A12-440F-BED7-AF98018851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1084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D63D95-DFC2-4FD1-B1A8-76A5E5D30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3754385-62D2-494C-A05A-AAA202A6C3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BE62B3D-FD79-4247-895A-FC1133BE2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3CCD5-37C1-4BF2-BC4E-53111CECAE86}" type="datetimeFigureOut">
              <a:rPr lang="zh-TW" altLang="en-US" smtClean="0"/>
              <a:t>2025/2/25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1AD77B2-8834-445F-8699-F7E5D9710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1A1CE1-73DE-49DA-AB88-F4EB197E0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5DF7F-3A12-440F-BED7-AF98018851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4427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09B857-2663-422C-9F28-66C46E4E5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DBDBBDA-CE23-400A-B006-5414308198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591DA9E-CE14-4052-B51B-D515E967B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3CCD5-37C1-4BF2-BC4E-53111CECAE86}" type="datetimeFigureOut">
              <a:rPr lang="zh-TW" altLang="en-US" smtClean="0"/>
              <a:t>2025/2/25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92F8F7E-7198-429D-96D9-C0B928F13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68D2125-FA9C-4FA8-8567-E0F8EAE88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5DF7F-3A12-440F-BED7-AF98018851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9565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5BC97E-5081-4443-8400-6E63E4F81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4655909-0B39-438D-9DB6-0AEDCD3E76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55F3CE7-DA2A-4C2D-A6DE-42F3A55D4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C57376A-4A10-4FE2-8128-AA016958A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3CCD5-37C1-4BF2-BC4E-53111CECAE86}" type="datetimeFigureOut">
              <a:rPr lang="zh-TW" altLang="en-US" smtClean="0"/>
              <a:t>2025/2/25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4416954-D715-474F-800D-CDC2A038B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20DD404-600E-450E-91E5-A3EE6C909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5DF7F-3A12-440F-BED7-AF98018851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2926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40B105-D346-4752-885B-2EE6B89C0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7D3C2A4-15F7-43FB-91FC-C830FA9CEF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9552FBD-8064-447D-A3D9-4E11758869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DAD9EC61-DDAC-47AC-9D72-F4E421DB47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9C859D12-4B69-4408-8700-02E0C857F6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D635A487-1CD2-4C67-8198-F62EA1D2A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3CCD5-37C1-4BF2-BC4E-53111CECAE86}" type="datetimeFigureOut">
              <a:rPr lang="zh-TW" altLang="en-US" smtClean="0"/>
              <a:t>2025/2/25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504D976-841E-404E-8BB6-2E61E059E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B3333DA-BCB2-4DDB-A5BD-F135B4025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5DF7F-3A12-440F-BED7-AF98018851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9044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2DA469-7B68-4B83-902A-8E84D1B7B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46B3584-3B2F-41D4-8DA4-E6F5D7876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3CCD5-37C1-4BF2-BC4E-53111CECAE86}" type="datetimeFigureOut">
              <a:rPr lang="zh-TW" altLang="en-US" smtClean="0"/>
              <a:t>2025/2/25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33FF819-0399-4198-A3A5-415C78B50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51C1EEA-789F-46FB-A9E6-AD2187D4F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5DF7F-3A12-440F-BED7-AF98018851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1524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2AF4890-42BF-437C-858C-4A3EBC6F0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3CCD5-37C1-4BF2-BC4E-53111CECAE86}" type="datetimeFigureOut">
              <a:rPr lang="zh-TW" altLang="en-US" smtClean="0"/>
              <a:t>2025/2/25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C0A9215-2536-4B31-B47B-5C8ECE0D6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6F409EE-872C-4472-9EBC-92BE7F47A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5DF7F-3A12-440F-BED7-AF98018851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5610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2F5D66-CFF3-42B7-A491-C7F8BD623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B7FEFF1-86BE-4C76-8749-96DF3D75F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96D081A-8367-429A-BD03-5C210BDB08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59B21D6-7B3C-4F1B-BA56-27B82D453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3CCD5-37C1-4BF2-BC4E-53111CECAE86}" type="datetimeFigureOut">
              <a:rPr lang="zh-TW" altLang="en-US" smtClean="0"/>
              <a:t>2025/2/25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26CA40F-E0D7-4FC1-AE9A-AAACC0BF6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9245717-018C-4476-BFCC-330B5F663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5DF7F-3A12-440F-BED7-AF98018851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2926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3A251E-C81C-4562-9973-575FF1004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EAC7ADC0-3D1F-4370-9E86-AF8BA3386A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95108DE-9AC1-4E8E-90E2-F887D891F7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F4EEF48-750B-42F1-9DCB-086606A52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3CCD5-37C1-4BF2-BC4E-53111CECAE86}" type="datetimeFigureOut">
              <a:rPr lang="zh-TW" altLang="en-US" smtClean="0"/>
              <a:t>2025/2/25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F85607A-C32B-439E-B6FB-1CA5D91D1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20996B6-4CF5-433F-B617-64D6DE64E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5DF7F-3A12-440F-BED7-AF98018851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4000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BCEBA5-9401-4860-97D3-540DFE600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5258354-6C97-4ACA-98F6-E93F17FCDB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4B8EF17-88CB-45C5-8B7A-4F3A8E867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3CCD5-37C1-4BF2-BC4E-53111CECAE86}" type="datetimeFigureOut">
              <a:rPr lang="zh-TW" altLang="en-US" smtClean="0"/>
              <a:t>2025/2/25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1AF7D64-90A8-4EAF-91F9-534D1F89B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73BD8C2-FB26-428F-BCEA-40EA91DEE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5DF7F-3A12-440F-BED7-AF98018851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2806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F3BECFBF-71A9-4B73-ACE6-87F2951021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E80D977-32CB-4D0D-8F06-FDE0F57299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43F14FB-A59F-4C6E-9558-E9B1B75F4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3CCD5-37C1-4BF2-BC4E-53111CECAE86}" type="datetimeFigureOut">
              <a:rPr lang="zh-TW" altLang="en-US" smtClean="0"/>
              <a:t>2025/2/25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13C1A20-9C66-43F4-853E-0FD4AE2F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29F086D-9445-42DD-9613-99CA3091B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5DF7F-3A12-440F-BED7-AF98018851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930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7828B60-5365-4AE0-9DA0-929F8F37B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860B66E-513B-4838-AB03-C68E79EE67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A9A024B-45A5-48D0-B154-B5DF9CB63D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43CCD5-37C1-4BF2-BC4E-53111CECAE86}" type="datetimeFigureOut">
              <a:rPr lang="zh-TW" altLang="en-US" smtClean="0"/>
              <a:t>2025/2/25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B5F3825-3517-4F4F-8D3E-7E756146EE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09D323F-ECFF-4635-A29D-9EA56E0762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E5DF7F-3A12-440F-BED7-AF98018851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1064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C99899-CFA0-4F6A-B038-35261B8145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51241"/>
            <a:ext cx="9144000" cy="766665"/>
          </a:xfrm>
        </p:spPr>
        <p:txBody>
          <a:bodyPr>
            <a:noAutofit/>
          </a:bodyPr>
          <a:lstStyle/>
          <a:p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SUFFIX ARRAYS: A NEW METHOD FOR ON-LINE STRING SEARCHES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21BA9F1-D446-4969-BD69-1204437DAF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23426"/>
            <a:ext cx="9144000" cy="1482316"/>
          </a:xfrm>
        </p:spPr>
        <p:txBody>
          <a:bodyPr/>
          <a:lstStyle/>
          <a:p>
            <a:r>
              <a:rPr lang="en-US" altLang="zh-TW" dirty="0"/>
              <a:t>Udi Manber, Gene Myers</a:t>
            </a:r>
          </a:p>
          <a:p>
            <a:r>
              <a:rPr lang="en-US" altLang="zh-TW" dirty="0"/>
              <a:t>SIAM J. COMPUT.</a:t>
            </a:r>
          </a:p>
          <a:p>
            <a:r>
              <a:rPr lang="en-US" altLang="zh-TW" dirty="0"/>
              <a:t>Vol. 22, No. 5, pp. 935-948, October 1993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5934E8DE-C8D8-47BE-A76C-15A0C521E987}"/>
              </a:ext>
            </a:extLst>
          </p:cNvPr>
          <p:cNvSpPr txBox="1"/>
          <p:nvPr/>
        </p:nvSpPr>
        <p:spPr>
          <a:xfrm>
            <a:off x="8965948" y="6036630"/>
            <a:ext cx="3066662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buClr>
                <a:schemeClr val="dk1"/>
              </a:buClr>
              <a:buSzPts val="2000"/>
            </a:pPr>
            <a:r>
              <a:rPr lang="fr-FR" altLang="zh-TW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Presenter: Yi-Sheng Chen</a:t>
            </a:r>
          </a:p>
          <a:p>
            <a:pPr lvl="0" algn="r">
              <a:buClr>
                <a:schemeClr val="dk1"/>
              </a:buClr>
              <a:buSzPts val="2000"/>
            </a:pPr>
            <a:r>
              <a:rPr lang="fr-FR" altLang="zh-TW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Date: Feb. </a:t>
            </a:r>
            <a:r>
              <a:rPr lang="en-US" altLang="zh-TW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</a:t>
            </a:r>
            <a:r>
              <a:rPr lang="fr-FR" altLang="zh-TW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fr-FR" altLang="zh-TW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</a:t>
            </a:r>
            <a:r>
              <a:rPr lang="en-US" altLang="zh-TW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lang="fr-FR" altLang="zh-TW"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lang="zh-TW" alt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12486D1-62B3-4C50-93C9-83A7879046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1200" b="0" i="0" u="none" strike="noStrike" cap="none" normalizeH="0" baseline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ElsevierSans"/>
              </a:rPr>
              <a:t> </a:t>
            </a:r>
            <a:r>
              <a:rPr kumimoji="0" lang="zh-TW" altLang="zh-TW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zh-TW" altLang="zh-TW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6154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CA399A7-1344-485A-B606-D9085347A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Times New Roman"/>
                <a:ea typeface="Times New Roman"/>
                <a:cs typeface="Times New Roman"/>
                <a:sym typeface="Times New Roman"/>
              </a:rPr>
              <a:t>Abstract(1/2)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C9AA34D-388A-4BAD-A342-6BE3CB3C40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9325"/>
            <a:ext cx="10515600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TW" sz="2200" kern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new and conceptually simple data structure, called a suffix array, for on-line string searches is introduced in this paper. Constructing and querying suffix arrays is reduced to a sort and search paradigm that employs novel algorithms. The main advantage of suffix arrays over suffix trees is that, in practice, they use three to five times less space. From a complexity standpoint, suffix arrays permit on-line string searches of the type, "Is W a substring of A?" to be answered in time O(P + log N), where P is the length of W and N is the length of A, which is competitive with (and in some cases slightly better than) suffix trees. </a:t>
            </a:r>
            <a:endParaRPr lang="zh-TW" altLang="en-US" sz="2200" kern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4601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51469A-B004-4867-8F43-FC85E8DB5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Times New Roman"/>
                <a:ea typeface="Times New Roman"/>
                <a:cs typeface="Times New Roman"/>
                <a:sym typeface="Times New Roman"/>
              </a:rPr>
              <a:t>Abstract (2/2)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F5D940F-626F-43C9-951A-0A5E9F0471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TW" sz="2200" kern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only drawback is that in those instances where the underlying alphabet is finite and small, suffix trees can be constructed in O (N) time in the worst case, versus O (N log N) time for suffix arrays. However, an augmented algorithm is given that, regardless of the alphabet size, constructs suffix arrays in O (N) expected time, albeit with lesser space efficiency. It is believed that suffix arrays will prove to be better in practice than suffix trees for many applications.</a:t>
            </a:r>
            <a:endParaRPr lang="zh-TW" altLang="en-US" sz="2200" kern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21310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FC8843-790E-482A-BC5D-C36CE123D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Times New Roman"/>
                <a:cs typeface="Times New Roman"/>
              </a:rPr>
              <a:t>Suffix Array</a:t>
            </a:r>
            <a:endParaRPr lang="zh-TW" altLang="en-US" b="1" dirty="0">
              <a:latin typeface="Times New Roman"/>
              <a:cs typeface="Times New Roman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1043772-A5B6-4E15-B79B-C2F964D894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/>
              <a:t>S=“banana$”, </a:t>
            </a:r>
            <a:r>
              <a:rPr lang="en-US" altLang="zh-TW" dirty="0">
                <a:latin typeface="Times New Roman"/>
                <a:cs typeface="Times New Roman"/>
              </a:rPr>
              <a:t>Suffix Array</a:t>
            </a:r>
            <a:r>
              <a:rPr lang="en-US" altLang="zh-TW" dirty="0"/>
              <a:t> =</a:t>
            </a:r>
            <a:endParaRPr lang="zh-TW" altLang="en-US" dirty="0"/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6FF589F4-E756-47A0-9B92-F833260A10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9466539"/>
              </p:ext>
            </p:extLst>
          </p:nvPr>
        </p:nvGraphicFramePr>
        <p:xfrm>
          <a:off x="844990" y="2825673"/>
          <a:ext cx="4393192" cy="30275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2426">
                  <a:extLst>
                    <a:ext uri="{9D8B030D-6E8A-4147-A177-3AD203B41FA5}">
                      <a16:colId xmlns:a16="http://schemas.microsoft.com/office/drawing/2014/main" val="2225808293"/>
                    </a:ext>
                  </a:extLst>
                </a:gridCol>
                <a:gridCol w="3490766">
                  <a:extLst>
                    <a:ext uri="{9D8B030D-6E8A-4147-A177-3AD203B41FA5}">
                      <a16:colId xmlns:a16="http://schemas.microsoft.com/office/drawing/2014/main" val="2638539076"/>
                    </a:ext>
                  </a:extLst>
                </a:gridCol>
              </a:tblGrid>
              <a:tr h="432514"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S1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banana$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544345"/>
                  </a:ext>
                </a:extLst>
              </a:tr>
              <a:tr h="432514">
                <a:tc>
                  <a:txBody>
                    <a:bodyPr/>
                    <a:lstStyle/>
                    <a:p>
                      <a:r>
                        <a:rPr lang="en-US" altLang="zh-TW" dirty="0"/>
                        <a:t>S2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anana</a:t>
                      </a:r>
                      <a:r>
                        <a:rPr lang="en-US" altLang="zh-TW" dirty="0"/>
                        <a:t>$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7260527"/>
                  </a:ext>
                </a:extLst>
              </a:tr>
              <a:tr h="432514">
                <a:tc>
                  <a:txBody>
                    <a:bodyPr/>
                    <a:lstStyle/>
                    <a:p>
                      <a:r>
                        <a:rPr lang="en-US" altLang="zh-TW" dirty="0"/>
                        <a:t>S3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nana$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2494110"/>
                  </a:ext>
                </a:extLst>
              </a:tr>
              <a:tr h="432514">
                <a:tc>
                  <a:txBody>
                    <a:bodyPr/>
                    <a:lstStyle/>
                    <a:p>
                      <a:r>
                        <a:rPr lang="en-US" altLang="zh-TW" dirty="0"/>
                        <a:t>S4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ana</a:t>
                      </a:r>
                      <a:r>
                        <a:rPr lang="en-US" altLang="zh-TW" dirty="0"/>
                        <a:t>$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7936133"/>
                  </a:ext>
                </a:extLst>
              </a:tr>
              <a:tr h="432514">
                <a:tc>
                  <a:txBody>
                    <a:bodyPr/>
                    <a:lstStyle/>
                    <a:p>
                      <a:r>
                        <a:rPr lang="en-US" altLang="zh-TW" dirty="0"/>
                        <a:t>S5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na</a:t>
                      </a:r>
                      <a:r>
                        <a:rPr lang="en-US" altLang="zh-TW" dirty="0"/>
                        <a:t>$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5405959"/>
                  </a:ext>
                </a:extLst>
              </a:tr>
              <a:tr h="432514">
                <a:tc>
                  <a:txBody>
                    <a:bodyPr/>
                    <a:lstStyle/>
                    <a:p>
                      <a:r>
                        <a:rPr lang="en-US" altLang="zh-TW" dirty="0"/>
                        <a:t>S6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a$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5506566"/>
                  </a:ext>
                </a:extLst>
              </a:tr>
              <a:tr h="432514">
                <a:tc>
                  <a:txBody>
                    <a:bodyPr/>
                    <a:lstStyle/>
                    <a:p>
                      <a:r>
                        <a:rPr lang="en-US" altLang="zh-TW" dirty="0"/>
                        <a:t>S7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$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0321658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630FB571-8358-432A-A62F-4163831A04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1527763"/>
              </p:ext>
            </p:extLst>
          </p:nvPr>
        </p:nvGraphicFramePr>
        <p:xfrm>
          <a:off x="7527203" y="2799224"/>
          <a:ext cx="4393192" cy="30312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2426">
                  <a:extLst>
                    <a:ext uri="{9D8B030D-6E8A-4147-A177-3AD203B41FA5}">
                      <a16:colId xmlns:a16="http://schemas.microsoft.com/office/drawing/2014/main" val="2225808293"/>
                    </a:ext>
                  </a:extLst>
                </a:gridCol>
                <a:gridCol w="3490766">
                  <a:extLst>
                    <a:ext uri="{9D8B030D-6E8A-4147-A177-3AD203B41FA5}">
                      <a16:colId xmlns:a16="http://schemas.microsoft.com/office/drawing/2014/main" val="2638539076"/>
                    </a:ext>
                  </a:extLst>
                </a:gridCol>
              </a:tblGrid>
              <a:tr h="433038"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S7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$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544345"/>
                  </a:ext>
                </a:extLst>
              </a:tr>
              <a:tr h="433038">
                <a:tc>
                  <a:txBody>
                    <a:bodyPr/>
                    <a:lstStyle/>
                    <a:p>
                      <a:r>
                        <a:rPr lang="en-US" altLang="zh-TW" dirty="0"/>
                        <a:t>S6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a$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7260527"/>
                  </a:ext>
                </a:extLst>
              </a:tr>
              <a:tr h="433038">
                <a:tc>
                  <a:txBody>
                    <a:bodyPr/>
                    <a:lstStyle/>
                    <a:p>
                      <a:r>
                        <a:rPr lang="en-US" altLang="zh-TW" dirty="0"/>
                        <a:t>S4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ana</a:t>
                      </a:r>
                      <a:r>
                        <a:rPr lang="en-US" altLang="zh-TW" dirty="0"/>
                        <a:t>$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2494110"/>
                  </a:ext>
                </a:extLst>
              </a:tr>
              <a:tr h="433038">
                <a:tc>
                  <a:txBody>
                    <a:bodyPr/>
                    <a:lstStyle/>
                    <a:p>
                      <a:r>
                        <a:rPr lang="en-US" altLang="zh-TW" dirty="0"/>
                        <a:t>S2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err="1"/>
                        <a:t>anana</a:t>
                      </a:r>
                      <a:r>
                        <a:rPr lang="en-US" altLang="zh-TW" dirty="0"/>
                        <a:t>$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7936133"/>
                  </a:ext>
                </a:extLst>
              </a:tr>
              <a:tr h="433038">
                <a:tc>
                  <a:txBody>
                    <a:bodyPr/>
                    <a:lstStyle/>
                    <a:p>
                      <a:r>
                        <a:rPr lang="en-US" altLang="zh-TW" dirty="0"/>
                        <a:t>S1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banana$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5405959"/>
                  </a:ext>
                </a:extLst>
              </a:tr>
              <a:tr h="433038">
                <a:tc>
                  <a:txBody>
                    <a:bodyPr/>
                    <a:lstStyle/>
                    <a:p>
                      <a:r>
                        <a:rPr lang="en-US" altLang="zh-TW"/>
                        <a:t>S5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na</a:t>
                      </a:r>
                      <a:r>
                        <a:rPr lang="en-US" altLang="zh-TW" dirty="0"/>
                        <a:t>$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5506566"/>
                  </a:ext>
                </a:extLst>
              </a:tr>
              <a:tr h="433038">
                <a:tc>
                  <a:txBody>
                    <a:bodyPr/>
                    <a:lstStyle/>
                    <a:p>
                      <a:r>
                        <a:rPr lang="en-US" altLang="zh-TW" dirty="0"/>
                        <a:t>S3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nana$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941941"/>
                  </a:ext>
                </a:extLst>
              </a:tr>
            </a:tbl>
          </a:graphicData>
        </a:graphic>
      </p:graphicFrame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756FCC49-2EED-4B87-8355-0BCE0A866BC1}"/>
              </a:ext>
            </a:extLst>
          </p:cNvPr>
          <p:cNvCxnSpPr>
            <a:cxnSpLocks/>
          </p:cNvCxnSpPr>
          <p:nvPr/>
        </p:nvCxnSpPr>
        <p:spPr>
          <a:xfrm>
            <a:off x="5393223" y="4123215"/>
            <a:ext cx="18559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3BF851B4-5685-4D5E-9723-9A05883D3522}"/>
              </a:ext>
            </a:extLst>
          </p:cNvPr>
          <p:cNvSpPr txBox="1"/>
          <p:nvPr/>
        </p:nvSpPr>
        <p:spPr>
          <a:xfrm>
            <a:off x="5393223" y="3370648"/>
            <a:ext cx="18288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lexicographical order</a:t>
            </a:r>
            <a:endParaRPr lang="zh-TW" altLang="en-US" dirty="0"/>
          </a:p>
        </p:txBody>
      </p:sp>
      <p:graphicFrame>
        <p:nvGraphicFramePr>
          <p:cNvPr id="12" name="Group 122">
            <a:extLst>
              <a:ext uri="{FF2B5EF4-FFF2-40B4-BE49-F238E27FC236}">
                <a16:creationId xmlns:a16="http://schemas.microsoft.com/office/drawing/2014/main" id="{6309ED94-D05A-4488-B8CB-20DD14C2F6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6541969"/>
              </p:ext>
            </p:extLst>
          </p:nvPr>
        </p:nvGraphicFramePr>
        <p:xfrm>
          <a:off x="5238182" y="1777667"/>
          <a:ext cx="2522538" cy="358775"/>
        </p:xfrm>
        <a:graphic>
          <a:graphicData uri="http://schemas.openxmlformats.org/drawingml/2006/table">
            <a:tbl>
              <a:tblPr/>
              <a:tblGrid>
                <a:gridCol w="359003">
                  <a:extLst>
                    <a:ext uri="{9D8B030D-6E8A-4147-A177-3AD203B41FA5}">
                      <a16:colId xmlns:a16="http://schemas.microsoft.com/office/drawing/2014/main" val="120748303"/>
                    </a:ext>
                  </a:extLst>
                </a:gridCol>
                <a:gridCol w="361722">
                  <a:extLst>
                    <a:ext uri="{9D8B030D-6E8A-4147-A177-3AD203B41FA5}">
                      <a16:colId xmlns:a16="http://schemas.microsoft.com/office/drawing/2014/main" val="272169450"/>
                    </a:ext>
                  </a:extLst>
                </a:gridCol>
                <a:gridCol w="359003">
                  <a:extLst>
                    <a:ext uri="{9D8B030D-6E8A-4147-A177-3AD203B41FA5}">
                      <a16:colId xmlns:a16="http://schemas.microsoft.com/office/drawing/2014/main" val="340376348"/>
                    </a:ext>
                  </a:extLst>
                </a:gridCol>
                <a:gridCol w="360363">
                  <a:extLst>
                    <a:ext uri="{9D8B030D-6E8A-4147-A177-3AD203B41FA5}">
                      <a16:colId xmlns:a16="http://schemas.microsoft.com/office/drawing/2014/main" val="2460907806"/>
                    </a:ext>
                  </a:extLst>
                </a:gridCol>
                <a:gridCol w="359003">
                  <a:extLst>
                    <a:ext uri="{9D8B030D-6E8A-4147-A177-3AD203B41FA5}">
                      <a16:colId xmlns:a16="http://schemas.microsoft.com/office/drawing/2014/main" val="705311155"/>
                    </a:ext>
                  </a:extLst>
                </a:gridCol>
                <a:gridCol w="361722">
                  <a:extLst>
                    <a:ext uri="{9D8B030D-6E8A-4147-A177-3AD203B41FA5}">
                      <a16:colId xmlns:a16="http://schemas.microsoft.com/office/drawing/2014/main" val="3735688499"/>
                    </a:ext>
                  </a:extLst>
                </a:gridCol>
                <a:gridCol w="361722">
                  <a:extLst>
                    <a:ext uri="{9D8B030D-6E8A-4147-A177-3AD203B41FA5}">
                      <a16:colId xmlns:a16="http://schemas.microsoft.com/office/drawing/2014/main" val="1899401468"/>
                    </a:ext>
                  </a:extLst>
                </a:gridCol>
              </a:tblGrid>
              <a:tr h="358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25947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5526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794088-DD95-48FB-BACA-72926112D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Times New Roman"/>
                <a:cs typeface="Times New Roman"/>
              </a:rPr>
              <a:t>Longest Common Prefix</a:t>
            </a:r>
            <a:endParaRPr lang="zh-TW" altLang="en-US" b="1" dirty="0">
              <a:latin typeface="Times New Roman"/>
              <a:cs typeface="Times New Roman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FB73750-5752-4F58-8623-164F1B40E0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1653B6D-1A07-4F12-A9F1-21B769179E0B}"/>
              </a:ext>
            </a:extLst>
          </p:cNvPr>
          <p:cNvSpPr txBox="1"/>
          <p:nvPr/>
        </p:nvSpPr>
        <p:spPr>
          <a:xfrm>
            <a:off x="838200" y="1629879"/>
            <a:ext cx="437645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S=“banana$”, </a:t>
            </a:r>
            <a:r>
              <a:rPr lang="en-US" altLang="zh-TW" sz="2800" dirty="0">
                <a:latin typeface="Times New Roman"/>
                <a:cs typeface="Times New Roman"/>
              </a:rPr>
              <a:t>Suffix Array</a:t>
            </a:r>
            <a:r>
              <a:rPr lang="en-US" altLang="zh-TW" sz="2800" dirty="0"/>
              <a:t> = </a:t>
            </a:r>
          </a:p>
          <a:p>
            <a:r>
              <a:rPr lang="pt-BR" altLang="zh-TW" sz="2800" dirty="0"/>
              <a:t>LCP =</a:t>
            </a:r>
            <a:endParaRPr lang="zh-TW" altLang="en-US" sz="2800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042C1C5-9E88-4D14-B28F-226D059262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4095727"/>
              </p:ext>
            </p:extLst>
          </p:nvPr>
        </p:nvGraphicFramePr>
        <p:xfrm>
          <a:off x="1753653" y="3109823"/>
          <a:ext cx="8128002" cy="323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168105796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49975629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48769003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40028521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97337607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297056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SA[</a:t>
                      </a:r>
                      <a:r>
                        <a:rPr lang="en-US" altLang="zh-TW" dirty="0" err="1"/>
                        <a:t>i</a:t>
                      </a:r>
                      <a:r>
                        <a:rPr lang="en-US" altLang="zh-TW" dirty="0"/>
                        <a:t>]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substring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SA[i-1]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substring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latin typeface="Times New Roman"/>
                          <a:cs typeface="Times New Roman"/>
                        </a:rPr>
                        <a:t>Common Prefix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LCP(SA[</a:t>
                      </a:r>
                      <a:r>
                        <a:rPr lang="en-US" altLang="zh-TW" dirty="0" err="1"/>
                        <a:t>i</a:t>
                      </a:r>
                      <a:r>
                        <a:rPr lang="en-US" altLang="zh-TW" dirty="0"/>
                        <a:t>], SA[i-1])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2581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$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41984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a$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$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94783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ana</a:t>
                      </a:r>
                      <a:r>
                        <a:rPr lang="en-US" altLang="zh-TW" dirty="0"/>
                        <a:t>$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a$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17304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err="1"/>
                        <a:t>anana</a:t>
                      </a:r>
                      <a:r>
                        <a:rPr lang="en-US" altLang="zh-TW" dirty="0"/>
                        <a:t>$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ana</a:t>
                      </a:r>
                      <a:r>
                        <a:rPr lang="en-US" altLang="zh-TW" dirty="0"/>
                        <a:t>$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ana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4394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banana$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err="1"/>
                        <a:t>anana</a:t>
                      </a:r>
                      <a:r>
                        <a:rPr lang="en-US" altLang="zh-TW" dirty="0"/>
                        <a:t>$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519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na</a:t>
                      </a:r>
                      <a:r>
                        <a:rPr lang="en-US" altLang="zh-TW" dirty="0"/>
                        <a:t>$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banana$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67941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nana$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na</a:t>
                      </a:r>
                      <a:r>
                        <a:rPr lang="en-US" altLang="zh-TW" dirty="0"/>
                        <a:t>$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na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9638083"/>
                  </a:ext>
                </a:extLst>
              </a:tr>
            </a:tbl>
          </a:graphicData>
        </a:graphic>
      </p:graphicFrame>
      <p:graphicFrame>
        <p:nvGraphicFramePr>
          <p:cNvPr id="6" name="Group 122">
            <a:extLst>
              <a:ext uri="{FF2B5EF4-FFF2-40B4-BE49-F238E27FC236}">
                <a16:creationId xmlns:a16="http://schemas.microsoft.com/office/drawing/2014/main" id="{E4C72F0A-85E4-4136-9E93-32F6794E9B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64265"/>
              </p:ext>
            </p:extLst>
          </p:nvPr>
        </p:nvGraphicFramePr>
        <p:xfrm>
          <a:off x="5123534" y="1733816"/>
          <a:ext cx="2522538" cy="358775"/>
        </p:xfrm>
        <a:graphic>
          <a:graphicData uri="http://schemas.openxmlformats.org/drawingml/2006/table">
            <a:tbl>
              <a:tblPr/>
              <a:tblGrid>
                <a:gridCol w="359003">
                  <a:extLst>
                    <a:ext uri="{9D8B030D-6E8A-4147-A177-3AD203B41FA5}">
                      <a16:colId xmlns:a16="http://schemas.microsoft.com/office/drawing/2014/main" val="120748303"/>
                    </a:ext>
                  </a:extLst>
                </a:gridCol>
                <a:gridCol w="361722">
                  <a:extLst>
                    <a:ext uri="{9D8B030D-6E8A-4147-A177-3AD203B41FA5}">
                      <a16:colId xmlns:a16="http://schemas.microsoft.com/office/drawing/2014/main" val="272169450"/>
                    </a:ext>
                  </a:extLst>
                </a:gridCol>
                <a:gridCol w="359003">
                  <a:extLst>
                    <a:ext uri="{9D8B030D-6E8A-4147-A177-3AD203B41FA5}">
                      <a16:colId xmlns:a16="http://schemas.microsoft.com/office/drawing/2014/main" val="340376348"/>
                    </a:ext>
                  </a:extLst>
                </a:gridCol>
                <a:gridCol w="360363">
                  <a:extLst>
                    <a:ext uri="{9D8B030D-6E8A-4147-A177-3AD203B41FA5}">
                      <a16:colId xmlns:a16="http://schemas.microsoft.com/office/drawing/2014/main" val="2460907806"/>
                    </a:ext>
                  </a:extLst>
                </a:gridCol>
                <a:gridCol w="359003">
                  <a:extLst>
                    <a:ext uri="{9D8B030D-6E8A-4147-A177-3AD203B41FA5}">
                      <a16:colId xmlns:a16="http://schemas.microsoft.com/office/drawing/2014/main" val="705311155"/>
                    </a:ext>
                  </a:extLst>
                </a:gridCol>
                <a:gridCol w="361722">
                  <a:extLst>
                    <a:ext uri="{9D8B030D-6E8A-4147-A177-3AD203B41FA5}">
                      <a16:colId xmlns:a16="http://schemas.microsoft.com/office/drawing/2014/main" val="3735688499"/>
                    </a:ext>
                  </a:extLst>
                </a:gridCol>
                <a:gridCol w="361722">
                  <a:extLst>
                    <a:ext uri="{9D8B030D-6E8A-4147-A177-3AD203B41FA5}">
                      <a16:colId xmlns:a16="http://schemas.microsoft.com/office/drawing/2014/main" val="1899401468"/>
                    </a:ext>
                  </a:extLst>
                </a:gridCol>
              </a:tblGrid>
              <a:tr h="358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2594787"/>
                  </a:ext>
                </a:extLst>
              </a:tr>
            </a:tbl>
          </a:graphicData>
        </a:graphic>
      </p:graphicFrame>
      <p:graphicFrame>
        <p:nvGraphicFramePr>
          <p:cNvPr id="7" name="Group 122">
            <a:extLst>
              <a:ext uri="{FF2B5EF4-FFF2-40B4-BE49-F238E27FC236}">
                <a16:creationId xmlns:a16="http://schemas.microsoft.com/office/drawing/2014/main" id="{AA6937AB-CB67-4692-857D-1F440B5A66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8631273"/>
              </p:ext>
            </p:extLst>
          </p:nvPr>
        </p:nvGraphicFramePr>
        <p:xfrm>
          <a:off x="1753653" y="2172002"/>
          <a:ext cx="3312425" cy="411984"/>
        </p:xfrm>
        <a:graphic>
          <a:graphicData uri="http://schemas.openxmlformats.org/drawingml/2006/table">
            <a:tbl>
              <a:tblPr/>
              <a:tblGrid>
                <a:gridCol w="553804">
                  <a:extLst>
                    <a:ext uri="{9D8B030D-6E8A-4147-A177-3AD203B41FA5}">
                      <a16:colId xmlns:a16="http://schemas.microsoft.com/office/drawing/2014/main" val="272169450"/>
                    </a:ext>
                  </a:extLst>
                </a:gridCol>
                <a:gridCol w="549644">
                  <a:extLst>
                    <a:ext uri="{9D8B030D-6E8A-4147-A177-3AD203B41FA5}">
                      <a16:colId xmlns:a16="http://schemas.microsoft.com/office/drawing/2014/main" val="340376348"/>
                    </a:ext>
                  </a:extLst>
                </a:gridCol>
                <a:gridCol w="551725">
                  <a:extLst>
                    <a:ext uri="{9D8B030D-6E8A-4147-A177-3AD203B41FA5}">
                      <a16:colId xmlns:a16="http://schemas.microsoft.com/office/drawing/2014/main" val="2460907806"/>
                    </a:ext>
                  </a:extLst>
                </a:gridCol>
                <a:gridCol w="549644">
                  <a:extLst>
                    <a:ext uri="{9D8B030D-6E8A-4147-A177-3AD203B41FA5}">
                      <a16:colId xmlns:a16="http://schemas.microsoft.com/office/drawing/2014/main" val="705311155"/>
                    </a:ext>
                  </a:extLst>
                </a:gridCol>
                <a:gridCol w="553804">
                  <a:extLst>
                    <a:ext uri="{9D8B030D-6E8A-4147-A177-3AD203B41FA5}">
                      <a16:colId xmlns:a16="http://schemas.microsoft.com/office/drawing/2014/main" val="3735688499"/>
                    </a:ext>
                  </a:extLst>
                </a:gridCol>
                <a:gridCol w="553804">
                  <a:extLst>
                    <a:ext uri="{9D8B030D-6E8A-4147-A177-3AD203B41FA5}">
                      <a16:colId xmlns:a16="http://schemas.microsoft.com/office/drawing/2014/main" val="1899401468"/>
                    </a:ext>
                  </a:extLst>
                </a:gridCol>
              </a:tblGrid>
              <a:tr h="41198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25947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096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95DFB10-13AE-4DEA-B76B-6DFAFAA47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TW" b="1" dirty="0">
                <a:latin typeface="Times New Roman"/>
                <a:cs typeface="Times New Roman"/>
              </a:rPr>
              <a:t>Binary search W in A</a:t>
            </a:r>
            <a:r>
              <a:rPr lang="zh-TW" altLang="en-US" b="1" dirty="0">
                <a:latin typeface="Times New Roman"/>
                <a:cs typeface="Times New Roman"/>
              </a:rPr>
              <a:t> </a:t>
            </a:r>
            <a:r>
              <a:rPr lang="en-US" altLang="zh-TW" b="1" dirty="0">
                <a:latin typeface="Times New Roman"/>
                <a:cs typeface="Times New Roman"/>
              </a:rPr>
              <a:t>with </a:t>
            </a:r>
            <a:r>
              <a:rPr lang="en-US" altLang="zh-TW" b="1" dirty="0" err="1">
                <a:latin typeface="Times New Roman"/>
                <a:cs typeface="Times New Roman"/>
              </a:rPr>
              <a:t>lcp</a:t>
            </a:r>
            <a:r>
              <a:rPr lang="en-US" altLang="zh-TW" b="1" dirty="0">
                <a:latin typeface="Times New Roman"/>
                <a:cs typeface="Times New Roman"/>
              </a:rPr>
              <a:t> </a:t>
            </a:r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CD8225E-3063-4D24-890D-7F51831B8F72}"/>
              </a:ext>
            </a:extLst>
          </p:cNvPr>
          <p:cNvSpPr txBox="1"/>
          <p:nvPr/>
        </p:nvSpPr>
        <p:spPr>
          <a:xfrm>
            <a:off x="933095" y="206484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TW" altLang="en-US" dirty="0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E484B303-04E4-4F66-8141-43BA6884A4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0158969"/>
              </p:ext>
            </p:extLst>
          </p:nvPr>
        </p:nvGraphicFramePr>
        <p:xfrm>
          <a:off x="838200" y="3896002"/>
          <a:ext cx="580571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294594815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57599555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03969932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0254668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839999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Iterate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7353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l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7249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0448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L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6606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5285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M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5961370"/>
                  </a:ext>
                </a:extLst>
              </a:tr>
            </a:tbl>
          </a:graphicData>
        </a:graphic>
      </p:graphicFrame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D791968E-AD3F-4F97-9765-C92005C2BC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5953234"/>
              </p:ext>
            </p:extLst>
          </p:nvPr>
        </p:nvGraphicFramePr>
        <p:xfrm>
          <a:off x="7544609" y="1855280"/>
          <a:ext cx="4393192" cy="30312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2426">
                  <a:extLst>
                    <a:ext uri="{9D8B030D-6E8A-4147-A177-3AD203B41FA5}">
                      <a16:colId xmlns:a16="http://schemas.microsoft.com/office/drawing/2014/main" val="2225808293"/>
                    </a:ext>
                  </a:extLst>
                </a:gridCol>
                <a:gridCol w="3490766">
                  <a:extLst>
                    <a:ext uri="{9D8B030D-6E8A-4147-A177-3AD203B41FA5}">
                      <a16:colId xmlns:a16="http://schemas.microsoft.com/office/drawing/2014/main" val="2638539076"/>
                    </a:ext>
                  </a:extLst>
                </a:gridCol>
              </a:tblGrid>
              <a:tr h="433038"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S7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$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544345"/>
                  </a:ext>
                </a:extLst>
              </a:tr>
              <a:tr h="433038">
                <a:tc>
                  <a:txBody>
                    <a:bodyPr/>
                    <a:lstStyle/>
                    <a:p>
                      <a:r>
                        <a:rPr lang="en-US" altLang="zh-TW" dirty="0"/>
                        <a:t>S6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a$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7260527"/>
                  </a:ext>
                </a:extLst>
              </a:tr>
              <a:tr h="433038">
                <a:tc>
                  <a:txBody>
                    <a:bodyPr/>
                    <a:lstStyle/>
                    <a:p>
                      <a:r>
                        <a:rPr lang="en-US" altLang="zh-TW" dirty="0"/>
                        <a:t>S4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ana</a:t>
                      </a:r>
                      <a:r>
                        <a:rPr lang="en-US" altLang="zh-TW" dirty="0"/>
                        <a:t>$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2494110"/>
                  </a:ext>
                </a:extLst>
              </a:tr>
              <a:tr h="433038">
                <a:tc>
                  <a:txBody>
                    <a:bodyPr/>
                    <a:lstStyle/>
                    <a:p>
                      <a:r>
                        <a:rPr lang="en-US" altLang="zh-TW" dirty="0"/>
                        <a:t>S2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err="1"/>
                        <a:t>anana</a:t>
                      </a:r>
                      <a:r>
                        <a:rPr lang="en-US" altLang="zh-TW" dirty="0"/>
                        <a:t>$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7936133"/>
                  </a:ext>
                </a:extLst>
              </a:tr>
              <a:tr h="433038">
                <a:tc>
                  <a:txBody>
                    <a:bodyPr/>
                    <a:lstStyle/>
                    <a:p>
                      <a:r>
                        <a:rPr lang="en-US" altLang="zh-TW" dirty="0"/>
                        <a:t>S1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banana$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5405959"/>
                  </a:ext>
                </a:extLst>
              </a:tr>
              <a:tr h="433038">
                <a:tc>
                  <a:txBody>
                    <a:bodyPr/>
                    <a:lstStyle/>
                    <a:p>
                      <a:r>
                        <a:rPr lang="en-US" altLang="zh-TW"/>
                        <a:t>S5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na</a:t>
                      </a:r>
                      <a:r>
                        <a:rPr lang="en-US" altLang="zh-TW" dirty="0"/>
                        <a:t>$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5506566"/>
                  </a:ext>
                </a:extLst>
              </a:tr>
              <a:tr h="433038">
                <a:tc>
                  <a:txBody>
                    <a:bodyPr/>
                    <a:lstStyle/>
                    <a:p>
                      <a:r>
                        <a:rPr lang="en-US" altLang="zh-TW" dirty="0"/>
                        <a:t>S3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nana$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941941"/>
                  </a:ext>
                </a:extLst>
              </a:tr>
            </a:tbl>
          </a:graphicData>
        </a:graphic>
      </p:graphicFrame>
      <p:sp>
        <p:nvSpPr>
          <p:cNvPr id="8" name="文字方塊 7">
            <a:extLst>
              <a:ext uri="{FF2B5EF4-FFF2-40B4-BE49-F238E27FC236}">
                <a16:creationId xmlns:a16="http://schemas.microsoft.com/office/drawing/2014/main" id="{6E851457-0F8D-419D-9314-851099194343}"/>
              </a:ext>
            </a:extLst>
          </p:cNvPr>
          <p:cNvSpPr txBox="1"/>
          <p:nvPr/>
        </p:nvSpPr>
        <p:spPr>
          <a:xfrm>
            <a:off x="933095" y="206484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TW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C586005-1CD9-4B43-8E45-0A72EEA2A13C}"/>
              </a:ext>
            </a:extLst>
          </p:cNvPr>
          <p:cNvSpPr/>
          <p:nvPr/>
        </p:nvSpPr>
        <p:spPr>
          <a:xfrm>
            <a:off x="859758" y="1690688"/>
            <a:ext cx="3098356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dirty="0"/>
              <a:t>Initial :</a:t>
            </a:r>
          </a:p>
          <a:p>
            <a:pPr>
              <a:spcBef>
                <a:spcPct val="50000"/>
              </a:spcBef>
            </a:pPr>
            <a:r>
              <a:rPr lang="en-US" altLang="zh-TW" dirty="0"/>
              <a:t>l = </a:t>
            </a:r>
            <a:r>
              <a:rPr lang="en-US" altLang="zh-TW" dirty="0" err="1"/>
              <a:t>lcp</a:t>
            </a:r>
            <a:r>
              <a:rPr lang="en-US" altLang="zh-TW" dirty="0"/>
              <a:t> (</a:t>
            </a:r>
            <a:r>
              <a:rPr lang="en-US" altLang="zh-TW" dirty="0" err="1"/>
              <a:t>SArray</a:t>
            </a:r>
            <a:r>
              <a:rPr lang="en-US" altLang="zh-TW" dirty="0"/>
              <a:t>[0], W) =0</a:t>
            </a:r>
          </a:p>
          <a:p>
            <a:pPr>
              <a:spcBef>
                <a:spcPct val="50000"/>
              </a:spcBef>
            </a:pPr>
            <a:r>
              <a:rPr lang="en-US" altLang="zh-TW" dirty="0"/>
              <a:t>r = </a:t>
            </a:r>
            <a:r>
              <a:rPr lang="en-US" altLang="zh-TW" dirty="0" err="1"/>
              <a:t>lcp</a:t>
            </a:r>
            <a:r>
              <a:rPr lang="en-US" altLang="zh-TW" dirty="0"/>
              <a:t> (</a:t>
            </a:r>
            <a:r>
              <a:rPr lang="en-US" altLang="zh-TW" dirty="0" err="1"/>
              <a:t>Sarray</a:t>
            </a:r>
            <a:r>
              <a:rPr lang="en-US" altLang="zh-TW" dirty="0"/>
              <a:t>[N-1], W) =2</a:t>
            </a:r>
          </a:p>
          <a:p>
            <a:pPr>
              <a:spcBef>
                <a:spcPct val="50000"/>
              </a:spcBef>
            </a:pPr>
            <a:r>
              <a:rPr lang="en-US" altLang="zh-TW" dirty="0"/>
              <a:t>L=0, R=6, M=3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436BAB0-FCFA-4BCE-8DE8-008E3D99E931}"/>
              </a:ext>
            </a:extLst>
          </p:cNvPr>
          <p:cNvSpPr/>
          <p:nvPr/>
        </p:nvSpPr>
        <p:spPr>
          <a:xfrm>
            <a:off x="6643915" y="5373669"/>
            <a:ext cx="11278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Lw</a:t>
            </a:r>
            <a:endParaRPr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F0AD22F1-5A47-4F7B-9DF9-2D7B32D7AD36}"/>
              </a:ext>
            </a:extLst>
          </p:cNvPr>
          <p:cNvSpPr txBox="1"/>
          <p:nvPr/>
        </p:nvSpPr>
        <p:spPr>
          <a:xfrm>
            <a:off x="3958114" y="2304927"/>
            <a:ext cx="3254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If W=“</a:t>
            </a:r>
            <a:r>
              <a:rPr lang="en-US" altLang="zh-TW" dirty="0" err="1"/>
              <a:t>ana</a:t>
            </a:r>
            <a:r>
              <a:rPr lang="en-US" altLang="zh-TW" dirty="0"/>
              <a:t>”, A=“banana$”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80999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oup 122">
            <a:extLst>
              <a:ext uri="{FF2B5EF4-FFF2-40B4-BE49-F238E27FC236}">
                <a16:creationId xmlns:a16="http://schemas.microsoft.com/office/drawing/2014/main" id="{ABAC44A5-DDAF-42FD-9F09-5458C3BDDD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5711430"/>
              </p:ext>
            </p:extLst>
          </p:nvPr>
        </p:nvGraphicFramePr>
        <p:xfrm>
          <a:off x="728805" y="2220263"/>
          <a:ext cx="5965534" cy="716053"/>
        </p:xfrm>
        <a:graphic>
          <a:graphicData uri="http://schemas.openxmlformats.org/drawingml/2006/table">
            <a:tbl>
              <a:tblPr/>
              <a:tblGrid>
                <a:gridCol w="849004">
                  <a:extLst>
                    <a:ext uri="{9D8B030D-6E8A-4147-A177-3AD203B41FA5}">
                      <a16:colId xmlns:a16="http://schemas.microsoft.com/office/drawing/2014/main" val="120748303"/>
                    </a:ext>
                  </a:extLst>
                </a:gridCol>
                <a:gridCol w="855434">
                  <a:extLst>
                    <a:ext uri="{9D8B030D-6E8A-4147-A177-3AD203B41FA5}">
                      <a16:colId xmlns:a16="http://schemas.microsoft.com/office/drawing/2014/main" val="272169450"/>
                    </a:ext>
                  </a:extLst>
                </a:gridCol>
                <a:gridCol w="849004">
                  <a:extLst>
                    <a:ext uri="{9D8B030D-6E8A-4147-A177-3AD203B41FA5}">
                      <a16:colId xmlns:a16="http://schemas.microsoft.com/office/drawing/2014/main" val="340376348"/>
                    </a:ext>
                  </a:extLst>
                </a:gridCol>
                <a:gridCol w="852220">
                  <a:extLst>
                    <a:ext uri="{9D8B030D-6E8A-4147-A177-3AD203B41FA5}">
                      <a16:colId xmlns:a16="http://schemas.microsoft.com/office/drawing/2014/main" val="2460907806"/>
                    </a:ext>
                  </a:extLst>
                </a:gridCol>
                <a:gridCol w="849004">
                  <a:extLst>
                    <a:ext uri="{9D8B030D-6E8A-4147-A177-3AD203B41FA5}">
                      <a16:colId xmlns:a16="http://schemas.microsoft.com/office/drawing/2014/main" val="705311155"/>
                    </a:ext>
                  </a:extLst>
                </a:gridCol>
                <a:gridCol w="855434">
                  <a:extLst>
                    <a:ext uri="{9D8B030D-6E8A-4147-A177-3AD203B41FA5}">
                      <a16:colId xmlns:a16="http://schemas.microsoft.com/office/drawing/2014/main" val="3735688499"/>
                    </a:ext>
                  </a:extLst>
                </a:gridCol>
                <a:gridCol w="855434">
                  <a:extLst>
                    <a:ext uri="{9D8B030D-6E8A-4147-A177-3AD203B41FA5}">
                      <a16:colId xmlns:a16="http://schemas.microsoft.com/office/drawing/2014/main" val="1899401468"/>
                    </a:ext>
                  </a:extLst>
                </a:gridCol>
              </a:tblGrid>
              <a:tr h="7160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2594787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A4AACB8A-08DB-4B2D-9290-2996C2BA98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8912511"/>
              </p:ext>
            </p:extLst>
          </p:nvPr>
        </p:nvGraphicFramePr>
        <p:xfrm>
          <a:off x="7363540" y="397734"/>
          <a:ext cx="4393192" cy="30312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2426">
                  <a:extLst>
                    <a:ext uri="{9D8B030D-6E8A-4147-A177-3AD203B41FA5}">
                      <a16:colId xmlns:a16="http://schemas.microsoft.com/office/drawing/2014/main" val="2225808293"/>
                    </a:ext>
                  </a:extLst>
                </a:gridCol>
                <a:gridCol w="3490766">
                  <a:extLst>
                    <a:ext uri="{9D8B030D-6E8A-4147-A177-3AD203B41FA5}">
                      <a16:colId xmlns:a16="http://schemas.microsoft.com/office/drawing/2014/main" val="2638539076"/>
                    </a:ext>
                  </a:extLst>
                </a:gridCol>
              </a:tblGrid>
              <a:tr h="433038"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S7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$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544345"/>
                  </a:ext>
                </a:extLst>
              </a:tr>
              <a:tr h="433038">
                <a:tc>
                  <a:txBody>
                    <a:bodyPr/>
                    <a:lstStyle/>
                    <a:p>
                      <a:r>
                        <a:rPr lang="en-US" altLang="zh-TW" dirty="0"/>
                        <a:t>S6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a$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7260527"/>
                  </a:ext>
                </a:extLst>
              </a:tr>
              <a:tr h="433038">
                <a:tc>
                  <a:txBody>
                    <a:bodyPr/>
                    <a:lstStyle/>
                    <a:p>
                      <a:r>
                        <a:rPr lang="en-US" altLang="zh-TW" dirty="0"/>
                        <a:t>S4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ana</a:t>
                      </a:r>
                      <a:r>
                        <a:rPr lang="en-US" altLang="zh-TW" dirty="0"/>
                        <a:t>$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2494110"/>
                  </a:ext>
                </a:extLst>
              </a:tr>
              <a:tr h="433038">
                <a:tc>
                  <a:txBody>
                    <a:bodyPr/>
                    <a:lstStyle/>
                    <a:p>
                      <a:r>
                        <a:rPr lang="en-US" altLang="zh-TW" dirty="0"/>
                        <a:t>S2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err="1"/>
                        <a:t>anana</a:t>
                      </a:r>
                      <a:r>
                        <a:rPr lang="en-US" altLang="zh-TW" dirty="0"/>
                        <a:t>$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7936133"/>
                  </a:ext>
                </a:extLst>
              </a:tr>
              <a:tr h="433038">
                <a:tc>
                  <a:txBody>
                    <a:bodyPr/>
                    <a:lstStyle/>
                    <a:p>
                      <a:r>
                        <a:rPr lang="en-US" altLang="zh-TW" dirty="0"/>
                        <a:t>S1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banana$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5405959"/>
                  </a:ext>
                </a:extLst>
              </a:tr>
              <a:tr h="433038">
                <a:tc>
                  <a:txBody>
                    <a:bodyPr/>
                    <a:lstStyle/>
                    <a:p>
                      <a:r>
                        <a:rPr lang="en-US" altLang="zh-TW"/>
                        <a:t>S5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na</a:t>
                      </a:r>
                      <a:r>
                        <a:rPr lang="en-US" altLang="zh-TW" dirty="0"/>
                        <a:t>$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5506566"/>
                  </a:ext>
                </a:extLst>
              </a:tr>
              <a:tr h="433038">
                <a:tc>
                  <a:txBody>
                    <a:bodyPr/>
                    <a:lstStyle/>
                    <a:p>
                      <a:r>
                        <a:rPr lang="en-US" altLang="zh-TW" dirty="0"/>
                        <a:t>S3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nana$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941941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28C5BA3E-DD84-4E0E-82DE-1052FF958728}"/>
              </a:ext>
            </a:extLst>
          </p:cNvPr>
          <p:cNvSpPr txBox="1"/>
          <p:nvPr/>
        </p:nvSpPr>
        <p:spPr>
          <a:xfrm>
            <a:off x="1008760" y="1759366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0</a:t>
            </a:r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10543E7-41ED-4652-8311-B0F25C40395A}"/>
              </a:ext>
            </a:extLst>
          </p:cNvPr>
          <p:cNvSpPr txBox="1"/>
          <p:nvPr/>
        </p:nvSpPr>
        <p:spPr>
          <a:xfrm>
            <a:off x="1841683" y="1759366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6CE967D5-0183-432F-9144-55983C625365}"/>
              </a:ext>
            </a:extLst>
          </p:cNvPr>
          <p:cNvSpPr txBox="1"/>
          <p:nvPr/>
        </p:nvSpPr>
        <p:spPr>
          <a:xfrm>
            <a:off x="2674606" y="1759366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B5EDDE04-E907-48B9-BB2A-711657EC109C}"/>
              </a:ext>
            </a:extLst>
          </p:cNvPr>
          <p:cNvSpPr txBox="1"/>
          <p:nvPr/>
        </p:nvSpPr>
        <p:spPr>
          <a:xfrm>
            <a:off x="3560729" y="1759366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923C16BA-FE9E-4738-ADD2-76DBEBDD8806}"/>
              </a:ext>
            </a:extLst>
          </p:cNvPr>
          <p:cNvSpPr txBox="1"/>
          <p:nvPr/>
        </p:nvSpPr>
        <p:spPr>
          <a:xfrm>
            <a:off x="4431608" y="1759366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45AA65EC-E7BE-43FB-90EF-AB8DD3A9BC17}"/>
              </a:ext>
            </a:extLst>
          </p:cNvPr>
          <p:cNvSpPr txBox="1"/>
          <p:nvPr/>
        </p:nvSpPr>
        <p:spPr>
          <a:xfrm>
            <a:off x="5264531" y="1759366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D66FBDFC-6D06-410D-9BFE-F8DCAF55E2FD}"/>
              </a:ext>
            </a:extLst>
          </p:cNvPr>
          <p:cNvSpPr txBox="1"/>
          <p:nvPr/>
        </p:nvSpPr>
        <p:spPr>
          <a:xfrm>
            <a:off x="6108879" y="1759366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6</a:t>
            </a:r>
            <a:endParaRPr lang="zh-TW" altLang="en-US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C34FDE06-7194-4113-9E76-9542462AA566}"/>
              </a:ext>
            </a:extLst>
          </p:cNvPr>
          <p:cNvSpPr txBox="1"/>
          <p:nvPr/>
        </p:nvSpPr>
        <p:spPr>
          <a:xfrm>
            <a:off x="1008760" y="3027881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L</a:t>
            </a:r>
            <a:endParaRPr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E38237A5-FF3A-43DF-93A6-3B0FBB1A4F73}"/>
              </a:ext>
            </a:extLst>
          </p:cNvPr>
          <p:cNvSpPr txBox="1"/>
          <p:nvPr/>
        </p:nvSpPr>
        <p:spPr>
          <a:xfrm>
            <a:off x="3520654" y="3027881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M</a:t>
            </a:r>
            <a:endParaRPr lang="zh-TW" altLang="en-US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3F552031-C98E-4A43-AA6A-A65FE2C4FC08}"/>
              </a:ext>
            </a:extLst>
          </p:cNvPr>
          <p:cNvSpPr txBox="1"/>
          <p:nvPr/>
        </p:nvSpPr>
        <p:spPr>
          <a:xfrm>
            <a:off x="6100865" y="3027881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R</a:t>
            </a:r>
            <a:endParaRPr lang="zh-TW" altLang="en-US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FEF65D0-B3FC-4227-9229-9A07FF1D7F10}"/>
              </a:ext>
            </a:extLst>
          </p:cNvPr>
          <p:cNvSpPr/>
          <p:nvPr/>
        </p:nvSpPr>
        <p:spPr>
          <a:xfrm>
            <a:off x="753476" y="1069963"/>
            <a:ext cx="14361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dirty="0"/>
              <a:t>W= </a:t>
            </a:r>
            <a:r>
              <a:rPr lang="en-US" altLang="zh-TW" sz="2400" dirty="0" err="1"/>
              <a:t>ana</a:t>
            </a:r>
            <a:endParaRPr lang="zh-TW" altLang="en-US" sz="2400" dirty="0"/>
          </a:p>
        </p:txBody>
      </p:sp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4A312D6A-2CC7-4121-B385-4B8295D682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3623657"/>
              </p:ext>
            </p:extLst>
          </p:nvPr>
        </p:nvGraphicFramePr>
        <p:xfrm>
          <a:off x="1027115" y="3921685"/>
          <a:ext cx="580571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294594815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57599555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03969932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0254668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839999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Iterate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7353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l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7249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0448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m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66068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98791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oup 122">
            <a:extLst>
              <a:ext uri="{FF2B5EF4-FFF2-40B4-BE49-F238E27FC236}">
                <a16:creationId xmlns:a16="http://schemas.microsoft.com/office/drawing/2014/main" id="{ABAC44A5-DDAF-42FD-9F09-5458C3BDDD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7859753"/>
              </p:ext>
            </p:extLst>
          </p:nvPr>
        </p:nvGraphicFramePr>
        <p:xfrm>
          <a:off x="728805" y="2220263"/>
          <a:ext cx="3405662" cy="716053"/>
        </p:xfrm>
        <a:graphic>
          <a:graphicData uri="http://schemas.openxmlformats.org/drawingml/2006/table">
            <a:tbl>
              <a:tblPr/>
              <a:tblGrid>
                <a:gridCol w="849004">
                  <a:extLst>
                    <a:ext uri="{9D8B030D-6E8A-4147-A177-3AD203B41FA5}">
                      <a16:colId xmlns:a16="http://schemas.microsoft.com/office/drawing/2014/main" val="120748303"/>
                    </a:ext>
                  </a:extLst>
                </a:gridCol>
                <a:gridCol w="855434">
                  <a:extLst>
                    <a:ext uri="{9D8B030D-6E8A-4147-A177-3AD203B41FA5}">
                      <a16:colId xmlns:a16="http://schemas.microsoft.com/office/drawing/2014/main" val="272169450"/>
                    </a:ext>
                  </a:extLst>
                </a:gridCol>
                <a:gridCol w="849004">
                  <a:extLst>
                    <a:ext uri="{9D8B030D-6E8A-4147-A177-3AD203B41FA5}">
                      <a16:colId xmlns:a16="http://schemas.microsoft.com/office/drawing/2014/main" val="340376348"/>
                    </a:ext>
                  </a:extLst>
                </a:gridCol>
                <a:gridCol w="852220">
                  <a:extLst>
                    <a:ext uri="{9D8B030D-6E8A-4147-A177-3AD203B41FA5}">
                      <a16:colId xmlns:a16="http://schemas.microsoft.com/office/drawing/2014/main" val="2460907806"/>
                    </a:ext>
                  </a:extLst>
                </a:gridCol>
              </a:tblGrid>
              <a:tr h="7160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2594787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A4AACB8A-08DB-4B2D-9290-2996C2BA9898}"/>
              </a:ext>
            </a:extLst>
          </p:cNvPr>
          <p:cNvGraphicFramePr>
            <a:graphicFrameLocks noGrp="1"/>
          </p:cNvGraphicFramePr>
          <p:nvPr/>
        </p:nvGraphicFramePr>
        <p:xfrm>
          <a:off x="7363540" y="397734"/>
          <a:ext cx="4393192" cy="30312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2426">
                  <a:extLst>
                    <a:ext uri="{9D8B030D-6E8A-4147-A177-3AD203B41FA5}">
                      <a16:colId xmlns:a16="http://schemas.microsoft.com/office/drawing/2014/main" val="2225808293"/>
                    </a:ext>
                  </a:extLst>
                </a:gridCol>
                <a:gridCol w="3490766">
                  <a:extLst>
                    <a:ext uri="{9D8B030D-6E8A-4147-A177-3AD203B41FA5}">
                      <a16:colId xmlns:a16="http://schemas.microsoft.com/office/drawing/2014/main" val="2638539076"/>
                    </a:ext>
                  </a:extLst>
                </a:gridCol>
              </a:tblGrid>
              <a:tr h="433038"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S7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$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544345"/>
                  </a:ext>
                </a:extLst>
              </a:tr>
              <a:tr h="433038">
                <a:tc>
                  <a:txBody>
                    <a:bodyPr/>
                    <a:lstStyle/>
                    <a:p>
                      <a:r>
                        <a:rPr lang="en-US" altLang="zh-TW" dirty="0"/>
                        <a:t>S6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a$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7260527"/>
                  </a:ext>
                </a:extLst>
              </a:tr>
              <a:tr h="433038">
                <a:tc>
                  <a:txBody>
                    <a:bodyPr/>
                    <a:lstStyle/>
                    <a:p>
                      <a:r>
                        <a:rPr lang="en-US" altLang="zh-TW" dirty="0"/>
                        <a:t>S4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ana</a:t>
                      </a:r>
                      <a:r>
                        <a:rPr lang="en-US" altLang="zh-TW" dirty="0"/>
                        <a:t>$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2494110"/>
                  </a:ext>
                </a:extLst>
              </a:tr>
              <a:tr h="433038">
                <a:tc>
                  <a:txBody>
                    <a:bodyPr/>
                    <a:lstStyle/>
                    <a:p>
                      <a:r>
                        <a:rPr lang="en-US" altLang="zh-TW" dirty="0"/>
                        <a:t>S2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err="1"/>
                        <a:t>anana</a:t>
                      </a:r>
                      <a:r>
                        <a:rPr lang="en-US" altLang="zh-TW" dirty="0"/>
                        <a:t>$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7936133"/>
                  </a:ext>
                </a:extLst>
              </a:tr>
              <a:tr h="433038">
                <a:tc>
                  <a:txBody>
                    <a:bodyPr/>
                    <a:lstStyle/>
                    <a:p>
                      <a:r>
                        <a:rPr lang="en-US" altLang="zh-TW" dirty="0"/>
                        <a:t>S1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banana$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5405959"/>
                  </a:ext>
                </a:extLst>
              </a:tr>
              <a:tr h="433038">
                <a:tc>
                  <a:txBody>
                    <a:bodyPr/>
                    <a:lstStyle/>
                    <a:p>
                      <a:r>
                        <a:rPr lang="en-US" altLang="zh-TW"/>
                        <a:t>S5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na</a:t>
                      </a:r>
                      <a:r>
                        <a:rPr lang="en-US" altLang="zh-TW" dirty="0"/>
                        <a:t>$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5506566"/>
                  </a:ext>
                </a:extLst>
              </a:tr>
              <a:tr h="433038">
                <a:tc>
                  <a:txBody>
                    <a:bodyPr/>
                    <a:lstStyle/>
                    <a:p>
                      <a:r>
                        <a:rPr lang="en-US" altLang="zh-TW" dirty="0"/>
                        <a:t>S3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nana$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941941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28C5BA3E-DD84-4E0E-82DE-1052FF958728}"/>
              </a:ext>
            </a:extLst>
          </p:cNvPr>
          <p:cNvSpPr txBox="1"/>
          <p:nvPr/>
        </p:nvSpPr>
        <p:spPr>
          <a:xfrm>
            <a:off x="1008760" y="1759366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0</a:t>
            </a:r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10543E7-41ED-4652-8311-B0F25C40395A}"/>
              </a:ext>
            </a:extLst>
          </p:cNvPr>
          <p:cNvSpPr txBox="1"/>
          <p:nvPr/>
        </p:nvSpPr>
        <p:spPr>
          <a:xfrm>
            <a:off x="1841683" y="1759366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6CE967D5-0183-432F-9144-55983C625365}"/>
              </a:ext>
            </a:extLst>
          </p:cNvPr>
          <p:cNvSpPr txBox="1"/>
          <p:nvPr/>
        </p:nvSpPr>
        <p:spPr>
          <a:xfrm>
            <a:off x="2674606" y="1759366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B5EDDE04-E907-48B9-BB2A-711657EC109C}"/>
              </a:ext>
            </a:extLst>
          </p:cNvPr>
          <p:cNvSpPr txBox="1"/>
          <p:nvPr/>
        </p:nvSpPr>
        <p:spPr>
          <a:xfrm>
            <a:off x="3560729" y="1759366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C34FDE06-7194-4113-9E76-9542462AA566}"/>
              </a:ext>
            </a:extLst>
          </p:cNvPr>
          <p:cNvSpPr txBox="1"/>
          <p:nvPr/>
        </p:nvSpPr>
        <p:spPr>
          <a:xfrm>
            <a:off x="1008760" y="3027881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L</a:t>
            </a:r>
            <a:endParaRPr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E38237A5-FF3A-43DF-93A6-3B0FBB1A4F73}"/>
              </a:ext>
            </a:extLst>
          </p:cNvPr>
          <p:cNvSpPr txBox="1"/>
          <p:nvPr/>
        </p:nvSpPr>
        <p:spPr>
          <a:xfrm>
            <a:off x="1801608" y="3027881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M</a:t>
            </a:r>
            <a:endParaRPr lang="zh-TW" altLang="en-US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3F552031-C98E-4A43-AA6A-A65FE2C4FC08}"/>
              </a:ext>
            </a:extLst>
          </p:cNvPr>
          <p:cNvSpPr txBox="1"/>
          <p:nvPr/>
        </p:nvSpPr>
        <p:spPr>
          <a:xfrm>
            <a:off x="3552715" y="3005801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R</a:t>
            </a:r>
            <a:endParaRPr lang="zh-TW" altLang="en-US" dirty="0"/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26E0E874-702D-4B69-B08B-CE19736928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8219098"/>
              </p:ext>
            </p:extLst>
          </p:nvPr>
        </p:nvGraphicFramePr>
        <p:xfrm>
          <a:off x="354728" y="3945022"/>
          <a:ext cx="580571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294594815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57599555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03969932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0254668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839999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Iterate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7353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l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7249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0448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m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6606827"/>
                  </a:ext>
                </a:extLst>
              </a:tr>
            </a:tbl>
          </a:graphicData>
        </a:graphic>
      </p:graphicFrame>
      <p:sp>
        <p:nvSpPr>
          <p:cNvPr id="18" name="矩形 17">
            <a:extLst>
              <a:ext uri="{FF2B5EF4-FFF2-40B4-BE49-F238E27FC236}">
                <a16:creationId xmlns:a16="http://schemas.microsoft.com/office/drawing/2014/main" id="{8FEF65D0-B3FC-4227-9229-9A07FF1D7F10}"/>
              </a:ext>
            </a:extLst>
          </p:cNvPr>
          <p:cNvSpPr/>
          <p:nvPr/>
        </p:nvSpPr>
        <p:spPr>
          <a:xfrm>
            <a:off x="753476" y="1069963"/>
            <a:ext cx="14361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dirty="0"/>
              <a:t>W= </a:t>
            </a:r>
            <a:r>
              <a:rPr lang="en-US" altLang="zh-TW" sz="2400" dirty="0" err="1"/>
              <a:t>ana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690827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oup 122">
            <a:extLst>
              <a:ext uri="{FF2B5EF4-FFF2-40B4-BE49-F238E27FC236}">
                <a16:creationId xmlns:a16="http://schemas.microsoft.com/office/drawing/2014/main" id="{ABAC44A5-DDAF-42FD-9F09-5458C3BDDD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715191"/>
              </p:ext>
            </p:extLst>
          </p:nvPr>
        </p:nvGraphicFramePr>
        <p:xfrm>
          <a:off x="1547120" y="2220263"/>
          <a:ext cx="2556658" cy="716053"/>
        </p:xfrm>
        <a:graphic>
          <a:graphicData uri="http://schemas.openxmlformats.org/drawingml/2006/table">
            <a:tbl>
              <a:tblPr/>
              <a:tblGrid>
                <a:gridCol w="855434">
                  <a:extLst>
                    <a:ext uri="{9D8B030D-6E8A-4147-A177-3AD203B41FA5}">
                      <a16:colId xmlns:a16="http://schemas.microsoft.com/office/drawing/2014/main" val="272169450"/>
                    </a:ext>
                  </a:extLst>
                </a:gridCol>
                <a:gridCol w="849004">
                  <a:extLst>
                    <a:ext uri="{9D8B030D-6E8A-4147-A177-3AD203B41FA5}">
                      <a16:colId xmlns:a16="http://schemas.microsoft.com/office/drawing/2014/main" val="340376348"/>
                    </a:ext>
                  </a:extLst>
                </a:gridCol>
                <a:gridCol w="852220">
                  <a:extLst>
                    <a:ext uri="{9D8B030D-6E8A-4147-A177-3AD203B41FA5}">
                      <a16:colId xmlns:a16="http://schemas.microsoft.com/office/drawing/2014/main" val="2460907806"/>
                    </a:ext>
                  </a:extLst>
                </a:gridCol>
              </a:tblGrid>
              <a:tr h="7160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2594787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A4AACB8A-08DB-4B2D-9290-2996C2BA98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6504213"/>
              </p:ext>
            </p:extLst>
          </p:nvPr>
        </p:nvGraphicFramePr>
        <p:xfrm>
          <a:off x="6812661" y="613065"/>
          <a:ext cx="4393192" cy="30312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2426">
                  <a:extLst>
                    <a:ext uri="{9D8B030D-6E8A-4147-A177-3AD203B41FA5}">
                      <a16:colId xmlns:a16="http://schemas.microsoft.com/office/drawing/2014/main" val="2225808293"/>
                    </a:ext>
                  </a:extLst>
                </a:gridCol>
                <a:gridCol w="3490766">
                  <a:extLst>
                    <a:ext uri="{9D8B030D-6E8A-4147-A177-3AD203B41FA5}">
                      <a16:colId xmlns:a16="http://schemas.microsoft.com/office/drawing/2014/main" val="2638539076"/>
                    </a:ext>
                  </a:extLst>
                </a:gridCol>
              </a:tblGrid>
              <a:tr h="433038"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S7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$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544345"/>
                  </a:ext>
                </a:extLst>
              </a:tr>
              <a:tr h="433038">
                <a:tc>
                  <a:txBody>
                    <a:bodyPr/>
                    <a:lstStyle/>
                    <a:p>
                      <a:r>
                        <a:rPr lang="en-US" altLang="zh-TW" dirty="0"/>
                        <a:t>S6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a$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7260527"/>
                  </a:ext>
                </a:extLst>
              </a:tr>
              <a:tr h="433038">
                <a:tc>
                  <a:txBody>
                    <a:bodyPr/>
                    <a:lstStyle/>
                    <a:p>
                      <a:r>
                        <a:rPr lang="en-US" altLang="zh-TW" dirty="0"/>
                        <a:t>S4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ana</a:t>
                      </a:r>
                      <a:r>
                        <a:rPr lang="en-US" altLang="zh-TW" dirty="0"/>
                        <a:t>$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2494110"/>
                  </a:ext>
                </a:extLst>
              </a:tr>
              <a:tr h="433038">
                <a:tc>
                  <a:txBody>
                    <a:bodyPr/>
                    <a:lstStyle/>
                    <a:p>
                      <a:r>
                        <a:rPr lang="en-US" altLang="zh-TW" dirty="0"/>
                        <a:t>S2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err="1"/>
                        <a:t>anana</a:t>
                      </a:r>
                      <a:r>
                        <a:rPr lang="en-US" altLang="zh-TW" dirty="0"/>
                        <a:t>$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7936133"/>
                  </a:ext>
                </a:extLst>
              </a:tr>
              <a:tr h="433038">
                <a:tc>
                  <a:txBody>
                    <a:bodyPr/>
                    <a:lstStyle/>
                    <a:p>
                      <a:r>
                        <a:rPr lang="en-US" altLang="zh-TW" dirty="0"/>
                        <a:t>S1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banana$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5405959"/>
                  </a:ext>
                </a:extLst>
              </a:tr>
              <a:tr h="433038">
                <a:tc>
                  <a:txBody>
                    <a:bodyPr/>
                    <a:lstStyle/>
                    <a:p>
                      <a:r>
                        <a:rPr lang="en-US" altLang="zh-TW"/>
                        <a:t>S5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na</a:t>
                      </a:r>
                      <a:r>
                        <a:rPr lang="en-US" altLang="zh-TW" dirty="0"/>
                        <a:t>$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5506566"/>
                  </a:ext>
                </a:extLst>
              </a:tr>
              <a:tr h="433038">
                <a:tc>
                  <a:txBody>
                    <a:bodyPr/>
                    <a:lstStyle/>
                    <a:p>
                      <a:r>
                        <a:rPr lang="en-US" altLang="zh-TW" dirty="0"/>
                        <a:t>S3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nana$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941941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A10543E7-41ED-4652-8311-B0F25C40395A}"/>
              </a:ext>
            </a:extLst>
          </p:cNvPr>
          <p:cNvSpPr txBox="1"/>
          <p:nvPr/>
        </p:nvSpPr>
        <p:spPr>
          <a:xfrm>
            <a:off x="1841683" y="1759366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6CE967D5-0183-432F-9144-55983C625365}"/>
              </a:ext>
            </a:extLst>
          </p:cNvPr>
          <p:cNvSpPr txBox="1"/>
          <p:nvPr/>
        </p:nvSpPr>
        <p:spPr>
          <a:xfrm>
            <a:off x="2674606" y="1759366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B5EDDE04-E907-48B9-BB2A-711657EC109C}"/>
              </a:ext>
            </a:extLst>
          </p:cNvPr>
          <p:cNvSpPr txBox="1"/>
          <p:nvPr/>
        </p:nvSpPr>
        <p:spPr>
          <a:xfrm>
            <a:off x="3560729" y="1759366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C34FDE06-7194-4113-9E76-9542462AA566}"/>
              </a:ext>
            </a:extLst>
          </p:cNvPr>
          <p:cNvSpPr txBox="1"/>
          <p:nvPr/>
        </p:nvSpPr>
        <p:spPr>
          <a:xfrm>
            <a:off x="1851301" y="3003469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L</a:t>
            </a:r>
            <a:endParaRPr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E38237A5-FF3A-43DF-93A6-3B0FBB1A4F73}"/>
              </a:ext>
            </a:extLst>
          </p:cNvPr>
          <p:cNvSpPr txBox="1"/>
          <p:nvPr/>
        </p:nvSpPr>
        <p:spPr>
          <a:xfrm>
            <a:off x="2634531" y="3003469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M</a:t>
            </a:r>
            <a:endParaRPr lang="zh-TW" altLang="en-US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3F552031-C98E-4A43-AA6A-A65FE2C4FC08}"/>
              </a:ext>
            </a:extLst>
          </p:cNvPr>
          <p:cNvSpPr txBox="1"/>
          <p:nvPr/>
        </p:nvSpPr>
        <p:spPr>
          <a:xfrm>
            <a:off x="3552715" y="3005801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R</a:t>
            </a:r>
            <a:endParaRPr lang="zh-TW" altLang="en-US" dirty="0"/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26E0E874-702D-4B69-B08B-CE19736928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2167498"/>
              </p:ext>
            </p:extLst>
          </p:nvPr>
        </p:nvGraphicFramePr>
        <p:xfrm>
          <a:off x="354728" y="3945022"/>
          <a:ext cx="580571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294594815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57599555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03969932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0254668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839999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Iterate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7353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l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7249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0448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m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6606827"/>
                  </a:ext>
                </a:extLst>
              </a:tr>
            </a:tbl>
          </a:graphicData>
        </a:graphic>
      </p:graphicFrame>
      <p:sp>
        <p:nvSpPr>
          <p:cNvPr id="18" name="矩形 17">
            <a:extLst>
              <a:ext uri="{FF2B5EF4-FFF2-40B4-BE49-F238E27FC236}">
                <a16:creationId xmlns:a16="http://schemas.microsoft.com/office/drawing/2014/main" id="{8FEF65D0-B3FC-4227-9229-9A07FF1D7F10}"/>
              </a:ext>
            </a:extLst>
          </p:cNvPr>
          <p:cNvSpPr/>
          <p:nvPr/>
        </p:nvSpPr>
        <p:spPr>
          <a:xfrm>
            <a:off x="753476" y="1069963"/>
            <a:ext cx="14361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dirty="0"/>
              <a:t>W= </a:t>
            </a:r>
            <a:r>
              <a:rPr lang="en-US" altLang="zh-TW" sz="2400" dirty="0" err="1"/>
              <a:t>ana</a:t>
            </a:r>
            <a:endParaRPr lang="zh-TW" altLang="en-US" sz="2400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59D3423-B819-4190-8849-87F110CF100B}"/>
              </a:ext>
            </a:extLst>
          </p:cNvPr>
          <p:cNvSpPr/>
          <p:nvPr/>
        </p:nvSpPr>
        <p:spPr>
          <a:xfrm>
            <a:off x="8365491" y="4686702"/>
            <a:ext cx="12875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L_W = R = 2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67015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07A44B-E8D7-439B-8E00-1D9E0BD64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Times New Roman"/>
                <a:cs typeface="Times New Roman"/>
              </a:rPr>
              <a:t>Algorithm(</a:t>
            </a:r>
            <a:r>
              <a:rPr lang="en-US" altLang="zh-TW" b="1" dirty="0" err="1">
                <a:latin typeface="Times New Roman"/>
                <a:cs typeface="Times New Roman"/>
              </a:rPr>
              <a:t>Lw</a:t>
            </a:r>
            <a:r>
              <a:rPr lang="en-US" altLang="zh-TW" b="1" dirty="0">
                <a:latin typeface="Times New Roman"/>
                <a:cs typeface="Times New Roman"/>
              </a:rPr>
              <a:t>)</a:t>
            </a:r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182FFEB-E97E-4A84-9992-24335B71C9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9581" y="560444"/>
            <a:ext cx="4493821" cy="5737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5539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73BBC42-DA2B-4F29-B286-4929166E1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Times New Roman"/>
                <a:cs typeface="Times New Roman"/>
              </a:rPr>
              <a:t>Improvement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6E22349-F87E-4649-92F4-1EDFBFE14C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complexity:</a:t>
            </a: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O(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PlogN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 (only </a:t>
            </a:r>
            <a:r>
              <a:rPr lang="en-US" altLang="zh-TW" dirty="0">
                <a:latin typeface="Times New Roman" panose="02020603050405020304" pitchFamily="18" charset="0"/>
                <a:sym typeface="Wingdings" panose="05000000000000000000" pitchFamily="2" charset="2"/>
              </a:rPr>
              <a:t>binary search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)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P+logN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(with the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lcp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information)</a:t>
            </a:r>
          </a:p>
          <a:p>
            <a:pPr marL="0" indent="0">
              <a:buNone/>
            </a:pP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</a:rPr>
              <a:t>since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</a:rPr>
              <a:t>each comparison either halves the searching range, or consumes one letter in W</a:t>
            </a:r>
            <a:r>
              <a:rPr lang="en-US" altLang="zh-TW" dirty="0">
                <a:latin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altLang="zh-TW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8425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16B53D-0986-402B-981D-8535ACC5E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Times New Roman" panose="02020603050405020304" pitchFamily="18" charset="0"/>
              </a:rPr>
              <a:t>H-buckets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BB1FFD8-C267-4151-A1EF-F0ADECD4F2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H-Bucket store the set of suffixes, where the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lcp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value of these suffixes is at least H.</a:t>
            </a:r>
          </a:p>
          <a:p>
            <a:pPr>
              <a:spcBef>
                <a:spcPct val="50000"/>
              </a:spcBef>
              <a:buFontTx/>
              <a:buChar char="•"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sorting is accomplished by constructing 1-buckets, 2-buckets, 4-buckets,…,</a:t>
            </a:r>
            <a:r>
              <a:rPr lang="en-US" altLang="zh-TW" dirty="0">
                <a:latin typeface="Times New Roman" panose="02020603050405020304" pitchFamily="18" charset="0"/>
              </a:rPr>
              <a:t> 2</a:t>
            </a:r>
            <a:r>
              <a:rPr lang="en-US" altLang="zh-TW" i="1" baseline="30000" dirty="0">
                <a:latin typeface="Times New Roman" panose="02020603050405020304" pitchFamily="18" charset="0"/>
              </a:rPr>
              <a:t>logn</a:t>
            </a:r>
            <a:r>
              <a:rPr lang="en-US" altLang="zh-TW" dirty="0">
                <a:latin typeface="Times New Roman" panose="02020603050405020304" pitchFamily="18" charset="0"/>
              </a:rPr>
              <a:t>-buckets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</a:rPr>
              <a:t>(This takes </a:t>
            </a:r>
            <a:r>
              <a:rPr lang="en-US" altLang="zh-TW" i="1" dirty="0">
                <a:solidFill>
                  <a:srgbClr val="FF0000"/>
                </a:solidFill>
                <a:latin typeface="Times New Roman" panose="02020603050405020304" pitchFamily="18" charset="0"/>
              </a:rPr>
              <a:t>O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TW" i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logN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</a:rPr>
              <a:t>) stages)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46813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A9CDA45-9322-4D96-8E7E-F7A0AAE81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Times New Roman" panose="02020603050405020304" pitchFamily="18" charset="0"/>
              </a:rPr>
              <a:t>H-buckets</a:t>
            </a:r>
            <a:endParaRPr lang="zh-TW" altLang="en-US" b="1" dirty="0">
              <a:latin typeface="Times New Roman"/>
              <a:cs typeface="Times New Roman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6AC38C18-8FB7-43EF-BB53-84181B74F8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0828878"/>
              </p:ext>
            </p:extLst>
          </p:nvPr>
        </p:nvGraphicFramePr>
        <p:xfrm>
          <a:off x="838200" y="1998844"/>
          <a:ext cx="5067678" cy="36780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0975">
                  <a:extLst>
                    <a:ext uri="{9D8B030D-6E8A-4147-A177-3AD203B41FA5}">
                      <a16:colId xmlns:a16="http://schemas.microsoft.com/office/drawing/2014/main" val="2225808293"/>
                    </a:ext>
                  </a:extLst>
                </a:gridCol>
                <a:gridCol w="4026703">
                  <a:extLst>
                    <a:ext uri="{9D8B030D-6E8A-4147-A177-3AD203B41FA5}">
                      <a16:colId xmlns:a16="http://schemas.microsoft.com/office/drawing/2014/main" val="2638539076"/>
                    </a:ext>
                  </a:extLst>
                </a:gridCol>
              </a:tblGrid>
              <a:tr h="613003"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S0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anana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544345"/>
                  </a:ext>
                </a:extLst>
              </a:tr>
              <a:tr h="613003">
                <a:tc>
                  <a:txBody>
                    <a:bodyPr/>
                    <a:lstStyle/>
                    <a:p>
                      <a:r>
                        <a:rPr lang="en-US" altLang="zh-TW" dirty="0"/>
                        <a:t>S1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rgbClr val="FF0000"/>
                          </a:solidFill>
                        </a:rPr>
                        <a:t>a</a:t>
                      </a:r>
                      <a:r>
                        <a:rPr lang="en-US" altLang="zh-TW" dirty="0" err="1"/>
                        <a:t>nana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7260527"/>
                  </a:ext>
                </a:extLst>
              </a:tr>
              <a:tr h="613003">
                <a:tc>
                  <a:txBody>
                    <a:bodyPr/>
                    <a:lstStyle/>
                    <a:p>
                      <a:r>
                        <a:rPr lang="en-US" altLang="zh-TW" dirty="0"/>
                        <a:t>S2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n</a:t>
                      </a:r>
                      <a:r>
                        <a:rPr lang="en-US" altLang="zh-TW" dirty="0"/>
                        <a:t>ana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2494110"/>
                  </a:ext>
                </a:extLst>
              </a:tr>
              <a:tr h="613003">
                <a:tc>
                  <a:txBody>
                    <a:bodyPr/>
                    <a:lstStyle/>
                    <a:p>
                      <a:r>
                        <a:rPr lang="en-US" altLang="zh-TW" dirty="0"/>
                        <a:t>S3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rgbClr val="FF0000"/>
                          </a:solidFill>
                        </a:rPr>
                        <a:t>a</a:t>
                      </a:r>
                      <a:r>
                        <a:rPr lang="en-US" altLang="zh-TW" dirty="0" err="1"/>
                        <a:t>na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7936133"/>
                  </a:ext>
                </a:extLst>
              </a:tr>
              <a:tr h="613003">
                <a:tc>
                  <a:txBody>
                    <a:bodyPr/>
                    <a:lstStyle/>
                    <a:p>
                      <a:r>
                        <a:rPr lang="en-US" altLang="zh-TW" dirty="0"/>
                        <a:t>S4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rgbClr val="FF0000"/>
                          </a:solidFill>
                        </a:rPr>
                        <a:t>n</a:t>
                      </a:r>
                      <a:r>
                        <a:rPr lang="en-US" altLang="zh-TW" dirty="0" err="1"/>
                        <a:t>a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5405959"/>
                  </a:ext>
                </a:extLst>
              </a:tr>
              <a:tr h="613003">
                <a:tc>
                  <a:txBody>
                    <a:bodyPr/>
                    <a:lstStyle/>
                    <a:p>
                      <a:r>
                        <a:rPr lang="en-US" altLang="zh-TW" dirty="0"/>
                        <a:t>S5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5506566"/>
                  </a:ext>
                </a:extLst>
              </a:tr>
            </a:tbl>
          </a:graphicData>
        </a:graphic>
      </p:graphicFrame>
      <p:graphicFrame>
        <p:nvGraphicFramePr>
          <p:cNvPr id="11" name="內容版面配置區 10">
            <a:extLst>
              <a:ext uri="{FF2B5EF4-FFF2-40B4-BE49-F238E27FC236}">
                <a16:creationId xmlns:a16="http://schemas.microsoft.com/office/drawing/2014/main" id="{CD300973-CBED-4AB1-9E6C-C19940D173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0558140"/>
              </p:ext>
            </p:extLst>
          </p:nvPr>
        </p:nvGraphicFramePr>
        <p:xfrm>
          <a:off x="7061122" y="2420836"/>
          <a:ext cx="441037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2593">
                  <a:extLst>
                    <a:ext uri="{9D8B030D-6E8A-4147-A177-3AD203B41FA5}">
                      <a16:colId xmlns:a16="http://schemas.microsoft.com/office/drawing/2014/main" val="934415802"/>
                    </a:ext>
                  </a:extLst>
                </a:gridCol>
                <a:gridCol w="1102593">
                  <a:extLst>
                    <a:ext uri="{9D8B030D-6E8A-4147-A177-3AD203B41FA5}">
                      <a16:colId xmlns:a16="http://schemas.microsoft.com/office/drawing/2014/main" val="2639125098"/>
                    </a:ext>
                  </a:extLst>
                </a:gridCol>
                <a:gridCol w="1102593">
                  <a:extLst>
                    <a:ext uri="{9D8B030D-6E8A-4147-A177-3AD203B41FA5}">
                      <a16:colId xmlns:a16="http://schemas.microsoft.com/office/drawing/2014/main" val="725628747"/>
                    </a:ext>
                  </a:extLst>
                </a:gridCol>
                <a:gridCol w="1102593">
                  <a:extLst>
                    <a:ext uri="{9D8B030D-6E8A-4147-A177-3AD203B41FA5}">
                      <a16:colId xmlns:a16="http://schemas.microsoft.com/office/drawing/2014/main" val="15456558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2, 4, 6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3, 5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3248689"/>
                  </a:ext>
                </a:extLst>
              </a:tr>
            </a:tbl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2EB12537-357D-4D88-8E28-51DC18128988}"/>
              </a:ext>
            </a:extLst>
          </p:cNvPr>
          <p:cNvSpPr/>
          <p:nvPr/>
        </p:nvSpPr>
        <p:spPr>
          <a:xfrm>
            <a:off x="8576054" y="1537179"/>
            <a:ext cx="138050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2400" dirty="0">
                <a:latin typeface="Times New Roman" panose="02020603050405020304" pitchFamily="18" charset="0"/>
              </a:rPr>
              <a:t>1-buckets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2BC4CA88-FB3D-45A6-B252-80BB7454BC50}"/>
              </a:ext>
            </a:extLst>
          </p:cNvPr>
          <p:cNvSpPr txBox="1"/>
          <p:nvPr/>
        </p:nvSpPr>
        <p:spPr>
          <a:xfrm>
            <a:off x="8576054" y="2051504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a</a:t>
            </a:r>
            <a:endParaRPr lang="zh-TW" altLang="en-US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94A06A37-9584-4D29-B870-D16F5A8A6E0D}"/>
              </a:ext>
            </a:extLst>
          </p:cNvPr>
          <p:cNvSpPr txBox="1"/>
          <p:nvPr/>
        </p:nvSpPr>
        <p:spPr>
          <a:xfrm>
            <a:off x="9650067" y="206002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3E239496-BB97-45A7-B75B-4199A86D7046}"/>
              </a:ext>
            </a:extLst>
          </p:cNvPr>
          <p:cNvSpPr txBox="1"/>
          <p:nvPr/>
        </p:nvSpPr>
        <p:spPr>
          <a:xfrm>
            <a:off x="10735300" y="205037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n</a:t>
            </a:r>
            <a:endParaRPr lang="zh-TW" altLang="en-US" dirty="0"/>
          </a:p>
        </p:txBody>
      </p:sp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F5CF56E6-FBCA-4AFD-A72F-32926D82A6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7539154"/>
              </p:ext>
            </p:extLst>
          </p:nvPr>
        </p:nvGraphicFramePr>
        <p:xfrm>
          <a:off x="838199" y="1998844"/>
          <a:ext cx="5067677" cy="36780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0975">
                  <a:extLst>
                    <a:ext uri="{9D8B030D-6E8A-4147-A177-3AD203B41FA5}">
                      <a16:colId xmlns:a16="http://schemas.microsoft.com/office/drawing/2014/main" val="2225808293"/>
                    </a:ext>
                  </a:extLst>
                </a:gridCol>
                <a:gridCol w="4026702">
                  <a:extLst>
                    <a:ext uri="{9D8B030D-6E8A-4147-A177-3AD203B41FA5}">
                      <a16:colId xmlns:a16="http://schemas.microsoft.com/office/drawing/2014/main" val="2638539076"/>
                    </a:ext>
                  </a:extLst>
                </a:gridCol>
              </a:tblGrid>
              <a:tr h="525431"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S1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anana$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544345"/>
                  </a:ext>
                </a:extLst>
              </a:tr>
              <a:tr h="525431">
                <a:tc>
                  <a:txBody>
                    <a:bodyPr/>
                    <a:lstStyle/>
                    <a:p>
                      <a:r>
                        <a:rPr lang="en-US" altLang="zh-TW" dirty="0"/>
                        <a:t>S2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rgbClr val="FF0000"/>
                          </a:solidFill>
                        </a:rPr>
                        <a:t>a</a:t>
                      </a:r>
                      <a:r>
                        <a:rPr lang="en-US" altLang="zh-TW" dirty="0" err="1"/>
                        <a:t>nana</a:t>
                      </a:r>
                      <a:r>
                        <a:rPr lang="en-US" altLang="zh-TW" dirty="0"/>
                        <a:t>$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7260527"/>
                  </a:ext>
                </a:extLst>
              </a:tr>
              <a:tr h="525431">
                <a:tc>
                  <a:txBody>
                    <a:bodyPr/>
                    <a:lstStyle/>
                    <a:p>
                      <a:r>
                        <a:rPr lang="en-US" altLang="zh-TW" dirty="0"/>
                        <a:t>S3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n</a:t>
                      </a:r>
                      <a:r>
                        <a:rPr lang="en-US" altLang="zh-TW" dirty="0"/>
                        <a:t>ana$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2494110"/>
                  </a:ext>
                </a:extLst>
              </a:tr>
              <a:tr h="525431">
                <a:tc>
                  <a:txBody>
                    <a:bodyPr/>
                    <a:lstStyle/>
                    <a:p>
                      <a:r>
                        <a:rPr lang="en-US" altLang="zh-TW" dirty="0"/>
                        <a:t>S4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rgbClr val="FF0000"/>
                          </a:solidFill>
                        </a:rPr>
                        <a:t>a</a:t>
                      </a:r>
                      <a:r>
                        <a:rPr lang="en-US" altLang="zh-TW" dirty="0" err="1"/>
                        <a:t>na</a:t>
                      </a:r>
                      <a:r>
                        <a:rPr lang="en-US" altLang="zh-TW" dirty="0"/>
                        <a:t>$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7936133"/>
                  </a:ext>
                </a:extLst>
              </a:tr>
              <a:tr h="525431">
                <a:tc>
                  <a:txBody>
                    <a:bodyPr/>
                    <a:lstStyle/>
                    <a:p>
                      <a:r>
                        <a:rPr lang="en-US" altLang="zh-TW" dirty="0"/>
                        <a:t>S5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rgbClr val="FF0000"/>
                          </a:solidFill>
                        </a:rPr>
                        <a:t>n</a:t>
                      </a:r>
                      <a:r>
                        <a:rPr lang="en-US" altLang="zh-TW" dirty="0" err="1"/>
                        <a:t>a</a:t>
                      </a:r>
                      <a:r>
                        <a:rPr lang="en-US" altLang="zh-TW" dirty="0"/>
                        <a:t>$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5405959"/>
                  </a:ext>
                </a:extLst>
              </a:tr>
              <a:tr h="525431">
                <a:tc>
                  <a:txBody>
                    <a:bodyPr/>
                    <a:lstStyle/>
                    <a:p>
                      <a:r>
                        <a:rPr lang="en-US" altLang="zh-TW" dirty="0"/>
                        <a:t>S6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a</a:t>
                      </a:r>
                      <a:r>
                        <a:rPr lang="en-US" altLang="zh-TW" dirty="0"/>
                        <a:t>$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5506566"/>
                  </a:ext>
                </a:extLst>
              </a:tr>
              <a:tr h="525431">
                <a:tc>
                  <a:txBody>
                    <a:bodyPr/>
                    <a:lstStyle/>
                    <a:p>
                      <a:r>
                        <a:rPr lang="en-US" altLang="zh-TW" dirty="0"/>
                        <a:t>S7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$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0321658"/>
                  </a:ext>
                </a:extLst>
              </a:tr>
            </a:tbl>
          </a:graphicData>
        </a:graphic>
      </p:graphicFrame>
      <p:sp>
        <p:nvSpPr>
          <p:cNvPr id="17" name="文字方塊 16">
            <a:extLst>
              <a:ext uri="{FF2B5EF4-FFF2-40B4-BE49-F238E27FC236}">
                <a16:creationId xmlns:a16="http://schemas.microsoft.com/office/drawing/2014/main" id="{1F1277DB-3EAF-42CE-99F7-FAD8FFC286A4}"/>
              </a:ext>
            </a:extLst>
          </p:cNvPr>
          <p:cNvSpPr txBox="1"/>
          <p:nvPr/>
        </p:nvSpPr>
        <p:spPr>
          <a:xfrm>
            <a:off x="7496431" y="2077304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$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287698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3EB806EF-F0CD-4A55-B291-8E5C7AC13482}"/>
              </a:ext>
            </a:extLst>
          </p:cNvPr>
          <p:cNvSpPr/>
          <p:nvPr/>
        </p:nvSpPr>
        <p:spPr>
          <a:xfrm>
            <a:off x="5161824" y="109710"/>
            <a:ext cx="138050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2400" dirty="0">
                <a:latin typeface="Times New Roman" panose="02020603050405020304" pitchFamily="18" charset="0"/>
              </a:rPr>
              <a:t>1-buckets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0F2A7C8-199E-4806-A26C-DA660B873C19}"/>
              </a:ext>
            </a:extLst>
          </p:cNvPr>
          <p:cNvSpPr/>
          <p:nvPr/>
        </p:nvSpPr>
        <p:spPr>
          <a:xfrm>
            <a:off x="2266385" y="1576038"/>
            <a:ext cx="138050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2400" dirty="0">
                <a:latin typeface="Times New Roman" panose="02020603050405020304" pitchFamily="18" charset="0"/>
              </a:rPr>
              <a:t>2-buckets</a:t>
            </a:r>
          </a:p>
        </p:txBody>
      </p:sp>
      <p:graphicFrame>
        <p:nvGraphicFramePr>
          <p:cNvPr id="13" name="內容版面配置區 10">
            <a:extLst>
              <a:ext uri="{FF2B5EF4-FFF2-40B4-BE49-F238E27FC236}">
                <a16:creationId xmlns:a16="http://schemas.microsoft.com/office/drawing/2014/main" id="{7DF9E2A7-BD62-498E-A29C-ECAE71928C5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11478569"/>
              </p:ext>
            </p:extLst>
          </p:nvPr>
        </p:nvGraphicFramePr>
        <p:xfrm>
          <a:off x="751452" y="2389437"/>
          <a:ext cx="441037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0124">
                  <a:extLst>
                    <a:ext uri="{9D8B030D-6E8A-4147-A177-3AD203B41FA5}">
                      <a16:colId xmlns:a16="http://schemas.microsoft.com/office/drawing/2014/main" val="2639125098"/>
                    </a:ext>
                  </a:extLst>
                </a:gridCol>
                <a:gridCol w="1470124">
                  <a:extLst>
                    <a:ext uri="{9D8B030D-6E8A-4147-A177-3AD203B41FA5}">
                      <a16:colId xmlns:a16="http://schemas.microsoft.com/office/drawing/2014/main" val="725628747"/>
                    </a:ext>
                  </a:extLst>
                </a:gridCol>
                <a:gridCol w="1470124">
                  <a:extLst>
                    <a:ext uri="{9D8B030D-6E8A-4147-A177-3AD203B41FA5}">
                      <a16:colId xmlns:a16="http://schemas.microsoft.com/office/drawing/2014/main" val="15456558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3248689"/>
                  </a:ext>
                </a:extLst>
              </a:tr>
            </a:tbl>
          </a:graphicData>
        </a:graphic>
      </p:graphicFrame>
      <p:sp>
        <p:nvSpPr>
          <p:cNvPr id="14" name="文字方塊 13">
            <a:extLst>
              <a:ext uri="{FF2B5EF4-FFF2-40B4-BE49-F238E27FC236}">
                <a16:creationId xmlns:a16="http://schemas.microsoft.com/office/drawing/2014/main" id="{E4F5E003-91F1-48E4-9CA8-F806690B1EC4}"/>
              </a:ext>
            </a:extLst>
          </p:cNvPr>
          <p:cNvSpPr txBox="1"/>
          <p:nvPr/>
        </p:nvSpPr>
        <p:spPr>
          <a:xfrm>
            <a:off x="1330608" y="2020105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a</a:t>
            </a:r>
            <a:endParaRPr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E346485-6C1E-45AE-AE07-D8ADC75CB62B}"/>
              </a:ext>
            </a:extLst>
          </p:cNvPr>
          <p:cNvSpPr txBox="1"/>
          <p:nvPr/>
        </p:nvSpPr>
        <p:spPr>
          <a:xfrm>
            <a:off x="2809001" y="2037703"/>
            <a:ext cx="488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972367F5-A2E0-4A34-8107-B9427FAE668A}"/>
              </a:ext>
            </a:extLst>
          </p:cNvPr>
          <p:cNvSpPr txBox="1"/>
          <p:nvPr/>
        </p:nvSpPr>
        <p:spPr>
          <a:xfrm>
            <a:off x="4284448" y="2028904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n</a:t>
            </a:r>
            <a:endParaRPr lang="zh-TW" altLang="en-US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85732914-856F-4A53-A874-B03789426FBB}"/>
              </a:ext>
            </a:extLst>
          </p:cNvPr>
          <p:cNvSpPr txBox="1"/>
          <p:nvPr/>
        </p:nvSpPr>
        <p:spPr>
          <a:xfrm>
            <a:off x="1625882" y="3059668"/>
            <a:ext cx="437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B2641CCF-21EF-4169-BE30-BAF186F4E3D7}"/>
              </a:ext>
            </a:extLst>
          </p:cNvPr>
          <p:cNvSpPr txBox="1"/>
          <p:nvPr/>
        </p:nvSpPr>
        <p:spPr>
          <a:xfrm>
            <a:off x="2809001" y="4165404"/>
            <a:ext cx="488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/>
              <a:t>b</a:t>
            </a:r>
            <a:r>
              <a:rPr lang="en-US" altLang="zh-TW" dirty="0" err="1">
                <a:solidFill>
                  <a:srgbClr val="FF0000"/>
                </a:solidFill>
              </a:rPr>
              <a:t>a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0F2C09CC-228E-4C6A-BB6D-044EF4604CFD}"/>
              </a:ext>
            </a:extLst>
          </p:cNvPr>
          <p:cNvSpPr txBox="1"/>
          <p:nvPr/>
        </p:nvSpPr>
        <p:spPr>
          <a:xfrm>
            <a:off x="2809001" y="3104468"/>
            <a:ext cx="488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8E46D11B-CAC4-40DE-9977-BBA0A8E5D0E0}"/>
              </a:ext>
            </a:extLst>
          </p:cNvPr>
          <p:cNvSpPr txBox="1"/>
          <p:nvPr/>
        </p:nvSpPr>
        <p:spPr>
          <a:xfrm>
            <a:off x="4284448" y="3063898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n</a:t>
            </a:r>
            <a:endParaRPr lang="zh-TW" altLang="en-US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C916C2B4-55C6-49DF-AD09-BFBE8905E033}"/>
              </a:ext>
            </a:extLst>
          </p:cNvPr>
          <p:cNvSpPr txBox="1"/>
          <p:nvPr/>
        </p:nvSpPr>
        <p:spPr>
          <a:xfrm>
            <a:off x="4284448" y="4165404"/>
            <a:ext cx="437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n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C3D98BC4-ADCD-49F5-839F-BE77B434CFAB}"/>
              </a:ext>
            </a:extLst>
          </p:cNvPr>
          <p:cNvSpPr txBox="1"/>
          <p:nvPr/>
        </p:nvSpPr>
        <p:spPr>
          <a:xfrm>
            <a:off x="2809001" y="5307374"/>
            <a:ext cx="488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/>
              <a:t>ba</a:t>
            </a:r>
            <a:endParaRPr lang="zh-TW" altLang="en-US" dirty="0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35F84959-DD7E-4819-B577-C68A2EEA6866}"/>
              </a:ext>
            </a:extLst>
          </p:cNvPr>
          <p:cNvSpPr txBox="1"/>
          <p:nvPr/>
        </p:nvSpPr>
        <p:spPr>
          <a:xfrm>
            <a:off x="908706" y="3129609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a</a:t>
            </a:r>
            <a:endParaRPr lang="zh-TW" altLang="en-US" dirty="0"/>
          </a:p>
        </p:txBody>
      </p:sp>
      <p:graphicFrame>
        <p:nvGraphicFramePr>
          <p:cNvPr id="29" name="內容版面配置區 10">
            <a:extLst>
              <a:ext uri="{FF2B5EF4-FFF2-40B4-BE49-F238E27FC236}">
                <a16:creationId xmlns:a16="http://schemas.microsoft.com/office/drawing/2014/main" id="{6848BF74-07E2-4B77-B382-0FF075A4E36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57434078"/>
              </p:ext>
            </p:extLst>
          </p:nvPr>
        </p:nvGraphicFramePr>
        <p:xfrm>
          <a:off x="745520" y="4625220"/>
          <a:ext cx="441037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7644">
                  <a:extLst>
                    <a:ext uri="{9D8B030D-6E8A-4147-A177-3AD203B41FA5}">
                      <a16:colId xmlns:a16="http://schemas.microsoft.com/office/drawing/2014/main" val="1937446177"/>
                    </a:ext>
                  </a:extLst>
                </a:gridCol>
                <a:gridCol w="808056">
                  <a:extLst>
                    <a:ext uri="{9D8B030D-6E8A-4147-A177-3AD203B41FA5}">
                      <a16:colId xmlns:a16="http://schemas.microsoft.com/office/drawing/2014/main" val="2639125098"/>
                    </a:ext>
                  </a:extLst>
                </a:gridCol>
                <a:gridCol w="1484769">
                  <a:extLst>
                    <a:ext uri="{9D8B030D-6E8A-4147-A177-3AD203B41FA5}">
                      <a16:colId xmlns:a16="http://schemas.microsoft.com/office/drawing/2014/main" val="725628747"/>
                    </a:ext>
                  </a:extLst>
                </a:gridCol>
                <a:gridCol w="1449903">
                  <a:extLst>
                    <a:ext uri="{9D8B030D-6E8A-4147-A177-3AD203B41FA5}">
                      <a16:colId xmlns:a16="http://schemas.microsoft.com/office/drawing/2014/main" val="15456558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3248689"/>
                  </a:ext>
                </a:extLst>
              </a:tr>
            </a:tbl>
          </a:graphicData>
        </a:graphic>
      </p:graphicFrame>
      <p:sp>
        <p:nvSpPr>
          <p:cNvPr id="31" name="文字方塊 30">
            <a:extLst>
              <a:ext uri="{FF2B5EF4-FFF2-40B4-BE49-F238E27FC236}">
                <a16:creationId xmlns:a16="http://schemas.microsoft.com/office/drawing/2014/main" id="{AF327C79-6290-46FF-BD85-0D04504659BC}"/>
              </a:ext>
            </a:extLst>
          </p:cNvPr>
          <p:cNvSpPr txBox="1"/>
          <p:nvPr/>
        </p:nvSpPr>
        <p:spPr>
          <a:xfrm>
            <a:off x="984930" y="4168311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a</a:t>
            </a:r>
            <a:endParaRPr lang="zh-TW" altLang="en-US" dirty="0"/>
          </a:p>
        </p:txBody>
      </p:sp>
      <p:graphicFrame>
        <p:nvGraphicFramePr>
          <p:cNvPr id="33" name="內容版面配置區 10">
            <a:extLst>
              <a:ext uri="{FF2B5EF4-FFF2-40B4-BE49-F238E27FC236}">
                <a16:creationId xmlns:a16="http://schemas.microsoft.com/office/drawing/2014/main" id="{1981B7F9-9DDC-447B-BE0B-BD4C65251F0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30489475"/>
              </p:ext>
            </p:extLst>
          </p:nvPr>
        </p:nvGraphicFramePr>
        <p:xfrm>
          <a:off x="745520" y="5805530"/>
          <a:ext cx="441037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2018">
                  <a:extLst>
                    <a:ext uri="{9D8B030D-6E8A-4147-A177-3AD203B41FA5}">
                      <a16:colId xmlns:a16="http://schemas.microsoft.com/office/drawing/2014/main" val="1937446177"/>
                    </a:ext>
                  </a:extLst>
                </a:gridCol>
                <a:gridCol w="843682">
                  <a:extLst>
                    <a:ext uri="{9D8B030D-6E8A-4147-A177-3AD203B41FA5}">
                      <a16:colId xmlns:a16="http://schemas.microsoft.com/office/drawing/2014/main" val="2639125098"/>
                    </a:ext>
                  </a:extLst>
                </a:gridCol>
                <a:gridCol w="1484769">
                  <a:extLst>
                    <a:ext uri="{9D8B030D-6E8A-4147-A177-3AD203B41FA5}">
                      <a16:colId xmlns:a16="http://schemas.microsoft.com/office/drawing/2014/main" val="725628747"/>
                    </a:ext>
                  </a:extLst>
                </a:gridCol>
                <a:gridCol w="1449903">
                  <a:extLst>
                    <a:ext uri="{9D8B030D-6E8A-4147-A177-3AD203B41FA5}">
                      <a16:colId xmlns:a16="http://schemas.microsoft.com/office/drawing/2014/main" val="15456558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3248689"/>
                  </a:ext>
                </a:extLst>
              </a:tr>
            </a:tbl>
          </a:graphicData>
        </a:graphic>
      </p:graphicFrame>
      <p:sp>
        <p:nvSpPr>
          <p:cNvPr id="35" name="文字方塊 34">
            <a:extLst>
              <a:ext uri="{FF2B5EF4-FFF2-40B4-BE49-F238E27FC236}">
                <a16:creationId xmlns:a16="http://schemas.microsoft.com/office/drawing/2014/main" id="{4DEB06EA-0FBC-4018-B08F-816B7450E34F}"/>
              </a:ext>
            </a:extLst>
          </p:cNvPr>
          <p:cNvSpPr txBox="1"/>
          <p:nvPr/>
        </p:nvSpPr>
        <p:spPr>
          <a:xfrm>
            <a:off x="4284448" y="5272185"/>
            <a:ext cx="437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/>
              <a:t>n</a:t>
            </a:r>
            <a:r>
              <a:rPr lang="en-US" altLang="zh-TW" dirty="0" err="1">
                <a:solidFill>
                  <a:srgbClr val="FF0000"/>
                </a:solidFill>
              </a:rPr>
              <a:t>a</a:t>
            </a:r>
            <a:endParaRPr lang="zh-TW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36" name="內容版面配置區 10">
            <a:extLst>
              <a:ext uri="{FF2B5EF4-FFF2-40B4-BE49-F238E27FC236}">
                <a16:creationId xmlns:a16="http://schemas.microsoft.com/office/drawing/2014/main" id="{96F7F8BC-4B2B-492E-A974-09D439919F0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00577930"/>
              </p:ext>
            </p:extLst>
          </p:nvPr>
        </p:nvGraphicFramePr>
        <p:xfrm>
          <a:off x="6408108" y="2389437"/>
          <a:ext cx="441037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4263">
                  <a:extLst>
                    <a:ext uri="{9D8B030D-6E8A-4147-A177-3AD203B41FA5}">
                      <a16:colId xmlns:a16="http://schemas.microsoft.com/office/drawing/2014/main" val="1937446177"/>
                    </a:ext>
                  </a:extLst>
                </a:gridCol>
                <a:gridCol w="751437">
                  <a:extLst>
                    <a:ext uri="{9D8B030D-6E8A-4147-A177-3AD203B41FA5}">
                      <a16:colId xmlns:a16="http://schemas.microsoft.com/office/drawing/2014/main" val="2639125098"/>
                    </a:ext>
                  </a:extLst>
                </a:gridCol>
                <a:gridCol w="1484769">
                  <a:extLst>
                    <a:ext uri="{9D8B030D-6E8A-4147-A177-3AD203B41FA5}">
                      <a16:colId xmlns:a16="http://schemas.microsoft.com/office/drawing/2014/main" val="725628747"/>
                    </a:ext>
                  </a:extLst>
                </a:gridCol>
                <a:gridCol w="1449903">
                  <a:extLst>
                    <a:ext uri="{9D8B030D-6E8A-4147-A177-3AD203B41FA5}">
                      <a16:colId xmlns:a16="http://schemas.microsoft.com/office/drawing/2014/main" val="15456558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en-US" altLang="zh-TW" b="0" dirty="0">
                          <a:solidFill>
                            <a:srgbClr val="FF0000"/>
                          </a:solidFill>
                        </a:rPr>
                        <a:t>, 5</a:t>
                      </a:r>
                      <a:endParaRPr lang="zh-TW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3248689"/>
                  </a:ext>
                </a:extLst>
              </a:tr>
            </a:tbl>
          </a:graphicData>
        </a:graphic>
      </p:graphicFrame>
      <p:sp>
        <p:nvSpPr>
          <p:cNvPr id="37" name="文字方塊 36">
            <a:extLst>
              <a:ext uri="{FF2B5EF4-FFF2-40B4-BE49-F238E27FC236}">
                <a16:creationId xmlns:a16="http://schemas.microsoft.com/office/drawing/2014/main" id="{BD4D8B9E-6CCE-4131-B560-5F380C99F334}"/>
              </a:ext>
            </a:extLst>
          </p:cNvPr>
          <p:cNvSpPr txBox="1"/>
          <p:nvPr/>
        </p:nvSpPr>
        <p:spPr>
          <a:xfrm>
            <a:off x="984930" y="5307374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a</a:t>
            </a:r>
            <a:endParaRPr lang="zh-TW" altLang="en-US" dirty="0"/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B6495B73-AF47-4FC8-85CC-655205CFE744}"/>
              </a:ext>
            </a:extLst>
          </p:cNvPr>
          <p:cNvSpPr txBox="1"/>
          <p:nvPr/>
        </p:nvSpPr>
        <p:spPr>
          <a:xfrm>
            <a:off x="6614758" y="2037703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a</a:t>
            </a:r>
            <a:endParaRPr lang="zh-TW" altLang="en-US" dirty="0"/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12F80F63-B3C7-40F8-AD35-FB4E7962F918}"/>
              </a:ext>
            </a:extLst>
          </p:cNvPr>
          <p:cNvSpPr txBox="1"/>
          <p:nvPr/>
        </p:nvSpPr>
        <p:spPr>
          <a:xfrm>
            <a:off x="7219373" y="2018597"/>
            <a:ext cx="437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an</a:t>
            </a:r>
            <a:endParaRPr lang="zh-TW" altLang="en-US" dirty="0"/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933A25C5-A282-4F11-8AD1-EF01712F828D}"/>
              </a:ext>
            </a:extLst>
          </p:cNvPr>
          <p:cNvSpPr txBox="1"/>
          <p:nvPr/>
        </p:nvSpPr>
        <p:spPr>
          <a:xfrm>
            <a:off x="8375440" y="2028904"/>
            <a:ext cx="488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/>
              <a:t>ba</a:t>
            </a:r>
            <a:endParaRPr lang="zh-TW" altLang="en-US" dirty="0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CDC2F082-A839-498A-B791-AA7C1EA9223A}"/>
              </a:ext>
            </a:extLst>
          </p:cNvPr>
          <p:cNvSpPr/>
          <p:nvPr/>
        </p:nvSpPr>
        <p:spPr>
          <a:xfrm>
            <a:off x="9878930" y="2018597"/>
            <a:ext cx="4171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err="1"/>
              <a:t>n</a:t>
            </a:r>
            <a:r>
              <a:rPr lang="en-US" altLang="zh-TW" dirty="0" err="1">
                <a:solidFill>
                  <a:srgbClr val="FF0000"/>
                </a:solidFill>
              </a:rPr>
              <a:t>a</a:t>
            </a:r>
            <a:endParaRPr lang="zh-TW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42" name="內容版面配置區 10">
            <a:extLst>
              <a:ext uri="{FF2B5EF4-FFF2-40B4-BE49-F238E27FC236}">
                <a16:creationId xmlns:a16="http://schemas.microsoft.com/office/drawing/2014/main" id="{67367ABF-7242-42B3-9AAD-3DC8B00D8FA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0536602"/>
              </p:ext>
            </p:extLst>
          </p:nvPr>
        </p:nvGraphicFramePr>
        <p:xfrm>
          <a:off x="6414662" y="3492451"/>
          <a:ext cx="441037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4907">
                  <a:extLst>
                    <a:ext uri="{9D8B030D-6E8A-4147-A177-3AD203B41FA5}">
                      <a16:colId xmlns:a16="http://schemas.microsoft.com/office/drawing/2014/main" val="1937446177"/>
                    </a:ext>
                  </a:extLst>
                </a:gridCol>
                <a:gridCol w="760021">
                  <a:extLst>
                    <a:ext uri="{9D8B030D-6E8A-4147-A177-3AD203B41FA5}">
                      <a16:colId xmlns:a16="http://schemas.microsoft.com/office/drawing/2014/main" val="2639125098"/>
                    </a:ext>
                  </a:extLst>
                </a:gridCol>
                <a:gridCol w="1525541">
                  <a:extLst>
                    <a:ext uri="{9D8B030D-6E8A-4147-A177-3AD203B41FA5}">
                      <a16:colId xmlns:a16="http://schemas.microsoft.com/office/drawing/2014/main" val="725628747"/>
                    </a:ext>
                  </a:extLst>
                </a:gridCol>
                <a:gridCol w="1449903">
                  <a:extLst>
                    <a:ext uri="{9D8B030D-6E8A-4147-A177-3AD203B41FA5}">
                      <a16:colId xmlns:a16="http://schemas.microsoft.com/office/drawing/2014/main" val="15456558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3, 5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3248689"/>
                  </a:ext>
                </a:extLst>
              </a:tr>
            </a:tbl>
          </a:graphicData>
        </a:graphic>
      </p:graphicFrame>
      <p:sp>
        <p:nvSpPr>
          <p:cNvPr id="43" name="文字方塊 42">
            <a:extLst>
              <a:ext uri="{FF2B5EF4-FFF2-40B4-BE49-F238E27FC236}">
                <a16:creationId xmlns:a16="http://schemas.microsoft.com/office/drawing/2014/main" id="{E77631BC-87C2-454D-920F-3C3E9634599B}"/>
              </a:ext>
            </a:extLst>
          </p:cNvPr>
          <p:cNvSpPr txBox="1"/>
          <p:nvPr/>
        </p:nvSpPr>
        <p:spPr>
          <a:xfrm>
            <a:off x="6614758" y="3066075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a</a:t>
            </a:r>
            <a:endParaRPr lang="zh-TW" altLang="en-US" dirty="0"/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077624E5-789E-43DF-A9E1-A0099928AD72}"/>
              </a:ext>
            </a:extLst>
          </p:cNvPr>
          <p:cNvSpPr txBox="1"/>
          <p:nvPr/>
        </p:nvSpPr>
        <p:spPr>
          <a:xfrm>
            <a:off x="7219373" y="3058707"/>
            <a:ext cx="437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a</a:t>
            </a:r>
            <a:r>
              <a:rPr lang="en-US" altLang="zh-TW" dirty="0">
                <a:solidFill>
                  <a:srgbClr val="FF0000"/>
                </a:solidFill>
              </a:rPr>
              <a:t>n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437A3770-7F2D-4796-8525-4735A668CC66}"/>
              </a:ext>
            </a:extLst>
          </p:cNvPr>
          <p:cNvSpPr txBox="1"/>
          <p:nvPr/>
        </p:nvSpPr>
        <p:spPr>
          <a:xfrm>
            <a:off x="8375440" y="3058707"/>
            <a:ext cx="488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/>
              <a:t>ba</a:t>
            </a:r>
            <a:endParaRPr lang="zh-TW" altLang="en-US" dirty="0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F9908A15-15C1-41E2-830F-716655585B5A}"/>
              </a:ext>
            </a:extLst>
          </p:cNvPr>
          <p:cNvSpPr/>
          <p:nvPr/>
        </p:nvSpPr>
        <p:spPr>
          <a:xfrm>
            <a:off x="9874250" y="3059668"/>
            <a:ext cx="4171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err="1"/>
              <a:t>na</a:t>
            </a:r>
            <a:endParaRPr lang="zh-TW" altLang="en-US" dirty="0"/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4061B38A-3BBE-400C-AD84-988D18AB4E0E}"/>
              </a:ext>
            </a:extLst>
          </p:cNvPr>
          <p:cNvSpPr txBox="1"/>
          <p:nvPr/>
        </p:nvSpPr>
        <p:spPr>
          <a:xfrm>
            <a:off x="8485854" y="4981824"/>
            <a:ext cx="3377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▪</a:t>
            </a:r>
            <a:endParaRPr lang="en-US" altLang="zh-TW" dirty="0"/>
          </a:p>
          <a:p>
            <a:r>
              <a:rPr lang="zh-TW" altLang="en-US" dirty="0"/>
              <a:t>▪</a:t>
            </a:r>
            <a:endParaRPr lang="en-US" altLang="zh-TW" dirty="0"/>
          </a:p>
          <a:p>
            <a:r>
              <a:rPr lang="zh-TW" altLang="en-US" dirty="0"/>
              <a:t>▪</a:t>
            </a:r>
            <a:endParaRPr lang="en-US" altLang="zh-TW" dirty="0"/>
          </a:p>
        </p:txBody>
      </p:sp>
      <p:graphicFrame>
        <p:nvGraphicFramePr>
          <p:cNvPr id="54" name="內容版面配置區 10">
            <a:extLst>
              <a:ext uri="{FF2B5EF4-FFF2-40B4-BE49-F238E27FC236}">
                <a16:creationId xmlns:a16="http://schemas.microsoft.com/office/drawing/2014/main" id="{FF052DCA-2748-49B4-93D0-091B98604E5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17778208"/>
              </p:ext>
            </p:extLst>
          </p:nvPr>
        </p:nvGraphicFramePr>
        <p:xfrm>
          <a:off x="5866410" y="5805530"/>
          <a:ext cx="496293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0016">
                  <a:extLst>
                    <a:ext uri="{9D8B030D-6E8A-4147-A177-3AD203B41FA5}">
                      <a16:colId xmlns:a16="http://schemas.microsoft.com/office/drawing/2014/main" val="3901084639"/>
                    </a:ext>
                  </a:extLst>
                </a:gridCol>
                <a:gridCol w="641268">
                  <a:extLst>
                    <a:ext uri="{9D8B030D-6E8A-4147-A177-3AD203B41FA5}">
                      <a16:colId xmlns:a16="http://schemas.microsoft.com/office/drawing/2014/main" val="1937446177"/>
                    </a:ext>
                  </a:extLst>
                </a:gridCol>
                <a:gridCol w="356259">
                  <a:extLst>
                    <a:ext uri="{9D8B030D-6E8A-4147-A177-3AD203B41FA5}">
                      <a16:colId xmlns:a16="http://schemas.microsoft.com/office/drawing/2014/main" val="1410783145"/>
                    </a:ext>
                  </a:extLst>
                </a:gridCol>
                <a:gridCol w="415637">
                  <a:extLst>
                    <a:ext uri="{9D8B030D-6E8A-4147-A177-3AD203B41FA5}">
                      <a16:colId xmlns:a16="http://schemas.microsoft.com/office/drawing/2014/main" val="2639125098"/>
                    </a:ext>
                  </a:extLst>
                </a:gridCol>
                <a:gridCol w="1520041">
                  <a:extLst>
                    <a:ext uri="{9D8B030D-6E8A-4147-A177-3AD203B41FA5}">
                      <a16:colId xmlns:a16="http://schemas.microsoft.com/office/drawing/2014/main" val="725628747"/>
                    </a:ext>
                  </a:extLst>
                </a:gridCol>
                <a:gridCol w="641268">
                  <a:extLst>
                    <a:ext uri="{9D8B030D-6E8A-4147-A177-3AD203B41FA5}">
                      <a16:colId xmlns:a16="http://schemas.microsoft.com/office/drawing/2014/main" val="1545655862"/>
                    </a:ext>
                  </a:extLst>
                </a:gridCol>
                <a:gridCol w="818442">
                  <a:extLst>
                    <a:ext uri="{9D8B030D-6E8A-4147-A177-3AD203B41FA5}">
                      <a16:colId xmlns:a16="http://schemas.microsoft.com/office/drawing/2014/main" val="25833010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3248689"/>
                  </a:ext>
                </a:extLst>
              </a:tr>
            </a:tbl>
          </a:graphicData>
        </a:graphic>
      </p:graphicFrame>
      <p:graphicFrame>
        <p:nvGraphicFramePr>
          <p:cNvPr id="49" name="內容版面配置區 10">
            <a:extLst>
              <a:ext uri="{FF2B5EF4-FFF2-40B4-BE49-F238E27FC236}">
                <a16:creationId xmlns:a16="http://schemas.microsoft.com/office/drawing/2014/main" id="{33CA3735-653F-4786-A5EB-488F0C946AE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81200503"/>
              </p:ext>
            </p:extLst>
          </p:nvPr>
        </p:nvGraphicFramePr>
        <p:xfrm>
          <a:off x="745520" y="3551343"/>
          <a:ext cx="441037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4263">
                  <a:extLst>
                    <a:ext uri="{9D8B030D-6E8A-4147-A177-3AD203B41FA5}">
                      <a16:colId xmlns:a16="http://schemas.microsoft.com/office/drawing/2014/main" val="1937446177"/>
                    </a:ext>
                  </a:extLst>
                </a:gridCol>
                <a:gridCol w="751437">
                  <a:extLst>
                    <a:ext uri="{9D8B030D-6E8A-4147-A177-3AD203B41FA5}">
                      <a16:colId xmlns:a16="http://schemas.microsoft.com/office/drawing/2014/main" val="2639125098"/>
                    </a:ext>
                  </a:extLst>
                </a:gridCol>
                <a:gridCol w="1484769">
                  <a:extLst>
                    <a:ext uri="{9D8B030D-6E8A-4147-A177-3AD203B41FA5}">
                      <a16:colId xmlns:a16="http://schemas.microsoft.com/office/drawing/2014/main" val="725628747"/>
                    </a:ext>
                  </a:extLst>
                </a:gridCol>
                <a:gridCol w="1449903">
                  <a:extLst>
                    <a:ext uri="{9D8B030D-6E8A-4147-A177-3AD203B41FA5}">
                      <a16:colId xmlns:a16="http://schemas.microsoft.com/office/drawing/2014/main" val="15456558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zh-TW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3248689"/>
                  </a:ext>
                </a:extLst>
              </a:tr>
            </a:tbl>
          </a:graphicData>
        </a:graphic>
      </p:graphicFrame>
      <p:graphicFrame>
        <p:nvGraphicFramePr>
          <p:cNvPr id="50" name="內容版面配置區 10">
            <a:extLst>
              <a:ext uri="{FF2B5EF4-FFF2-40B4-BE49-F238E27FC236}">
                <a16:creationId xmlns:a16="http://schemas.microsoft.com/office/drawing/2014/main" id="{2A798F83-24A1-4AE3-ADEB-0633CFF5B72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80590831"/>
              </p:ext>
            </p:extLst>
          </p:nvPr>
        </p:nvGraphicFramePr>
        <p:xfrm>
          <a:off x="6408108" y="4651789"/>
          <a:ext cx="441037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4907">
                  <a:extLst>
                    <a:ext uri="{9D8B030D-6E8A-4147-A177-3AD203B41FA5}">
                      <a16:colId xmlns:a16="http://schemas.microsoft.com/office/drawing/2014/main" val="1937446177"/>
                    </a:ext>
                  </a:extLst>
                </a:gridCol>
                <a:gridCol w="760021">
                  <a:extLst>
                    <a:ext uri="{9D8B030D-6E8A-4147-A177-3AD203B41FA5}">
                      <a16:colId xmlns:a16="http://schemas.microsoft.com/office/drawing/2014/main" val="2639125098"/>
                    </a:ext>
                  </a:extLst>
                </a:gridCol>
                <a:gridCol w="1525541">
                  <a:extLst>
                    <a:ext uri="{9D8B030D-6E8A-4147-A177-3AD203B41FA5}">
                      <a16:colId xmlns:a16="http://schemas.microsoft.com/office/drawing/2014/main" val="725628747"/>
                    </a:ext>
                  </a:extLst>
                </a:gridCol>
                <a:gridCol w="1449903">
                  <a:extLst>
                    <a:ext uri="{9D8B030D-6E8A-4147-A177-3AD203B41FA5}">
                      <a16:colId xmlns:a16="http://schemas.microsoft.com/office/drawing/2014/main" val="15456558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2, </a:t>
                      </a:r>
                      <a:r>
                        <a:rPr lang="en-US" altLang="zh-TW" b="0" dirty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3, 5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3248689"/>
                  </a:ext>
                </a:extLst>
              </a:tr>
            </a:tbl>
          </a:graphicData>
        </a:graphic>
      </p:graphicFrame>
      <p:sp>
        <p:nvSpPr>
          <p:cNvPr id="51" name="文字方塊 50">
            <a:extLst>
              <a:ext uri="{FF2B5EF4-FFF2-40B4-BE49-F238E27FC236}">
                <a16:creationId xmlns:a16="http://schemas.microsoft.com/office/drawing/2014/main" id="{6D47E4D8-9082-4D30-B490-0914BC295D44}"/>
              </a:ext>
            </a:extLst>
          </p:cNvPr>
          <p:cNvSpPr txBox="1"/>
          <p:nvPr/>
        </p:nvSpPr>
        <p:spPr>
          <a:xfrm>
            <a:off x="6614758" y="4276728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a</a:t>
            </a:r>
            <a:endParaRPr lang="zh-TW" altLang="en-US" dirty="0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65E00306-6C66-47F5-8356-210B647F8FA7}"/>
              </a:ext>
            </a:extLst>
          </p:cNvPr>
          <p:cNvSpPr txBox="1"/>
          <p:nvPr/>
        </p:nvSpPr>
        <p:spPr>
          <a:xfrm>
            <a:off x="7219373" y="4269360"/>
            <a:ext cx="437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a</a:t>
            </a:r>
            <a:r>
              <a:rPr lang="en-US" altLang="zh-TW" dirty="0">
                <a:solidFill>
                  <a:srgbClr val="FF0000"/>
                </a:solidFill>
              </a:rPr>
              <a:t>n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F10BAB8D-2046-45C3-B12D-855614B0EACD}"/>
              </a:ext>
            </a:extLst>
          </p:cNvPr>
          <p:cNvSpPr txBox="1"/>
          <p:nvPr/>
        </p:nvSpPr>
        <p:spPr>
          <a:xfrm>
            <a:off x="8375440" y="4269360"/>
            <a:ext cx="488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/>
              <a:t>ba</a:t>
            </a:r>
            <a:endParaRPr lang="zh-TW" altLang="en-US" dirty="0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C2AE5C1F-052A-45C5-B688-DC6B629BBDA9}"/>
              </a:ext>
            </a:extLst>
          </p:cNvPr>
          <p:cNvSpPr/>
          <p:nvPr/>
        </p:nvSpPr>
        <p:spPr>
          <a:xfrm>
            <a:off x="9874250" y="4270321"/>
            <a:ext cx="4171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err="1"/>
              <a:t>na</a:t>
            </a:r>
            <a:endParaRPr lang="zh-TW" altLang="en-US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7799CB72-E434-4455-A00A-7EA1222C4FF5}"/>
              </a:ext>
            </a:extLst>
          </p:cNvPr>
          <p:cNvSpPr txBox="1"/>
          <p:nvPr/>
        </p:nvSpPr>
        <p:spPr>
          <a:xfrm>
            <a:off x="8823627" y="5272185"/>
            <a:ext cx="2077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4, 8,…</a:t>
            </a:r>
            <a:r>
              <a:rPr lang="en-US" altLang="zh-TW" dirty="0">
                <a:latin typeface="Times New Roman" panose="02020603050405020304" pitchFamily="18" charset="0"/>
              </a:rPr>
              <a:t> 2</a:t>
            </a:r>
            <a:r>
              <a:rPr lang="en-US" altLang="zh-TW" i="1" baseline="30000" dirty="0">
                <a:latin typeface="Times New Roman" panose="02020603050405020304" pitchFamily="18" charset="0"/>
              </a:rPr>
              <a:t>logn</a:t>
            </a:r>
            <a:r>
              <a:rPr lang="en-US" altLang="zh-TW" dirty="0">
                <a:latin typeface="Times New Roman" panose="02020603050405020304" pitchFamily="18" charset="0"/>
              </a:rPr>
              <a:t>-buckets</a:t>
            </a:r>
            <a:endParaRPr lang="zh-TW" altLang="en-US" dirty="0"/>
          </a:p>
        </p:txBody>
      </p:sp>
      <p:graphicFrame>
        <p:nvGraphicFramePr>
          <p:cNvPr id="62" name="內容版面配置區 10">
            <a:extLst>
              <a:ext uri="{FF2B5EF4-FFF2-40B4-BE49-F238E27FC236}">
                <a16:creationId xmlns:a16="http://schemas.microsoft.com/office/drawing/2014/main" id="{BD14F516-AD8A-4E3C-9277-9519164700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5194946"/>
              </p:ext>
            </p:extLst>
          </p:nvPr>
        </p:nvGraphicFramePr>
        <p:xfrm>
          <a:off x="3795408" y="887611"/>
          <a:ext cx="441037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2593">
                  <a:extLst>
                    <a:ext uri="{9D8B030D-6E8A-4147-A177-3AD203B41FA5}">
                      <a16:colId xmlns:a16="http://schemas.microsoft.com/office/drawing/2014/main" val="934415802"/>
                    </a:ext>
                  </a:extLst>
                </a:gridCol>
                <a:gridCol w="1102593">
                  <a:extLst>
                    <a:ext uri="{9D8B030D-6E8A-4147-A177-3AD203B41FA5}">
                      <a16:colId xmlns:a16="http://schemas.microsoft.com/office/drawing/2014/main" val="2639125098"/>
                    </a:ext>
                  </a:extLst>
                </a:gridCol>
                <a:gridCol w="1102593">
                  <a:extLst>
                    <a:ext uri="{9D8B030D-6E8A-4147-A177-3AD203B41FA5}">
                      <a16:colId xmlns:a16="http://schemas.microsoft.com/office/drawing/2014/main" val="725628747"/>
                    </a:ext>
                  </a:extLst>
                </a:gridCol>
                <a:gridCol w="1102593">
                  <a:extLst>
                    <a:ext uri="{9D8B030D-6E8A-4147-A177-3AD203B41FA5}">
                      <a16:colId xmlns:a16="http://schemas.microsoft.com/office/drawing/2014/main" val="15456558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2, 4, 6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3, 5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3248689"/>
                  </a:ext>
                </a:extLst>
              </a:tr>
            </a:tbl>
          </a:graphicData>
        </a:graphic>
      </p:graphicFrame>
      <p:sp>
        <p:nvSpPr>
          <p:cNvPr id="63" name="文字方塊 62">
            <a:extLst>
              <a:ext uri="{FF2B5EF4-FFF2-40B4-BE49-F238E27FC236}">
                <a16:creationId xmlns:a16="http://schemas.microsoft.com/office/drawing/2014/main" id="{8545BF02-E627-4D99-B94B-DADCACB0C3C8}"/>
              </a:ext>
            </a:extLst>
          </p:cNvPr>
          <p:cNvSpPr txBox="1"/>
          <p:nvPr/>
        </p:nvSpPr>
        <p:spPr>
          <a:xfrm>
            <a:off x="5310340" y="518279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a</a:t>
            </a:r>
            <a:endParaRPr lang="zh-TW" altLang="en-US" dirty="0"/>
          </a:p>
        </p:txBody>
      </p: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78D96F77-345A-4943-89D0-25A178DFF056}"/>
              </a:ext>
            </a:extLst>
          </p:cNvPr>
          <p:cNvSpPr txBox="1"/>
          <p:nvPr/>
        </p:nvSpPr>
        <p:spPr>
          <a:xfrm>
            <a:off x="6384353" y="526795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65" name="文字方塊 64">
            <a:extLst>
              <a:ext uri="{FF2B5EF4-FFF2-40B4-BE49-F238E27FC236}">
                <a16:creationId xmlns:a16="http://schemas.microsoft.com/office/drawing/2014/main" id="{0B920683-CAC6-4089-BE3A-671482BEC851}"/>
              </a:ext>
            </a:extLst>
          </p:cNvPr>
          <p:cNvSpPr txBox="1"/>
          <p:nvPr/>
        </p:nvSpPr>
        <p:spPr>
          <a:xfrm>
            <a:off x="7469586" y="51715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n</a:t>
            </a:r>
            <a:endParaRPr lang="zh-TW" altLang="en-US" dirty="0"/>
          </a:p>
        </p:txBody>
      </p:sp>
      <p:sp>
        <p:nvSpPr>
          <p:cNvPr id="66" name="文字方塊 65">
            <a:extLst>
              <a:ext uri="{FF2B5EF4-FFF2-40B4-BE49-F238E27FC236}">
                <a16:creationId xmlns:a16="http://schemas.microsoft.com/office/drawing/2014/main" id="{74812031-B990-45F1-B88E-78178687D60A}"/>
              </a:ext>
            </a:extLst>
          </p:cNvPr>
          <p:cNvSpPr txBox="1"/>
          <p:nvPr/>
        </p:nvSpPr>
        <p:spPr>
          <a:xfrm>
            <a:off x="4230717" y="544079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$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564059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0DED820-C576-40EF-884A-D62BF297D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0F988F-9F82-45C4-8AC4-1F79D4F053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stages and each takes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time to complete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Time complexity </a:t>
            </a:r>
            <a:r>
              <a:rPr lang="en-US" altLang="zh-TW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O</a:t>
            </a:r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en-US" altLang="zh-TW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NlogN</a:t>
            </a:r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  <a:endParaRPr lang="en-US" altLang="zh-TW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247783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32B8C57-402E-48E6-962B-A2C3DF647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Lcp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Box 150">
            <a:extLst>
              <a:ext uri="{FF2B5EF4-FFF2-40B4-BE49-F238E27FC236}">
                <a16:creationId xmlns:a16="http://schemas.microsoft.com/office/drawing/2014/main" id="{3555BBA1-77DA-4660-B273-C52EA63A9E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0831" y="1924272"/>
            <a:ext cx="180504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 sz="2400" dirty="0">
                <a:latin typeface="Times New Roman" panose="02020603050405020304" pitchFamily="18" charset="0"/>
              </a:rPr>
              <a:t>Suffix Array</a:t>
            </a:r>
          </a:p>
        </p:txBody>
      </p:sp>
      <p:sp>
        <p:nvSpPr>
          <p:cNvPr id="9" name="Text Box 150">
            <a:extLst>
              <a:ext uri="{FF2B5EF4-FFF2-40B4-BE49-F238E27FC236}">
                <a16:creationId xmlns:a16="http://schemas.microsoft.com/office/drawing/2014/main" id="{EADC2CBC-727D-4552-84B5-1C0916F096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2352" y="3533509"/>
            <a:ext cx="4762006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TW" sz="2000" dirty="0" err="1">
                <a:latin typeface="Times New Roman" panose="02020603050405020304" pitchFamily="18" charset="0"/>
              </a:rPr>
              <a:t>Lcp</a:t>
            </a:r>
            <a:endParaRPr lang="en-US" altLang="zh-TW" sz="2000" dirty="0">
              <a:latin typeface="Times New Roman" panose="02020603050405020304" pitchFamily="18" charset="0"/>
            </a:endParaRPr>
          </a:p>
          <a:p>
            <a:pPr algn="ctr">
              <a:spcBef>
                <a:spcPct val="50000"/>
              </a:spcBef>
            </a:pPr>
            <a:r>
              <a:rPr lang="en-US" altLang="zh-TW" sz="2000" dirty="0">
                <a:latin typeface="Times New Roman" panose="02020603050405020304" pitchFamily="18" charset="0"/>
              </a:rPr>
              <a:t>(</a:t>
            </a:r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computed during the sorting</a:t>
            </a:r>
            <a:r>
              <a:rPr lang="en-US" altLang="zh-TW" sz="2000" dirty="0">
                <a:latin typeface="Times New Roman" panose="02020603050405020304" pitchFamily="18" charset="0"/>
              </a:rPr>
              <a:t>)</a:t>
            </a: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6FAFF710-5A89-4982-8367-6FB93466E6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4394333"/>
              </p:ext>
            </p:extLst>
          </p:nvPr>
        </p:nvGraphicFramePr>
        <p:xfrm>
          <a:off x="936398" y="2155104"/>
          <a:ext cx="4393192" cy="30312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2426">
                  <a:extLst>
                    <a:ext uri="{9D8B030D-6E8A-4147-A177-3AD203B41FA5}">
                      <a16:colId xmlns:a16="http://schemas.microsoft.com/office/drawing/2014/main" val="2225808293"/>
                    </a:ext>
                  </a:extLst>
                </a:gridCol>
                <a:gridCol w="3490766">
                  <a:extLst>
                    <a:ext uri="{9D8B030D-6E8A-4147-A177-3AD203B41FA5}">
                      <a16:colId xmlns:a16="http://schemas.microsoft.com/office/drawing/2014/main" val="2638539076"/>
                    </a:ext>
                  </a:extLst>
                </a:gridCol>
              </a:tblGrid>
              <a:tr h="433038"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S7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$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544345"/>
                  </a:ext>
                </a:extLst>
              </a:tr>
              <a:tr h="433038">
                <a:tc>
                  <a:txBody>
                    <a:bodyPr/>
                    <a:lstStyle/>
                    <a:p>
                      <a:r>
                        <a:rPr lang="en-US" altLang="zh-TW" dirty="0"/>
                        <a:t>S6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a$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7260527"/>
                  </a:ext>
                </a:extLst>
              </a:tr>
              <a:tr h="433038">
                <a:tc>
                  <a:txBody>
                    <a:bodyPr/>
                    <a:lstStyle/>
                    <a:p>
                      <a:r>
                        <a:rPr lang="en-US" altLang="zh-TW" dirty="0"/>
                        <a:t>S4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ana</a:t>
                      </a:r>
                      <a:r>
                        <a:rPr lang="en-US" altLang="zh-TW" dirty="0"/>
                        <a:t>$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2494110"/>
                  </a:ext>
                </a:extLst>
              </a:tr>
              <a:tr h="433038">
                <a:tc>
                  <a:txBody>
                    <a:bodyPr/>
                    <a:lstStyle/>
                    <a:p>
                      <a:r>
                        <a:rPr lang="en-US" altLang="zh-TW" dirty="0"/>
                        <a:t>S2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err="1"/>
                        <a:t>anana</a:t>
                      </a:r>
                      <a:r>
                        <a:rPr lang="en-US" altLang="zh-TW" dirty="0"/>
                        <a:t>$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7936133"/>
                  </a:ext>
                </a:extLst>
              </a:tr>
              <a:tr h="433038">
                <a:tc>
                  <a:txBody>
                    <a:bodyPr/>
                    <a:lstStyle/>
                    <a:p>
                      <a:r>
                        <a:rPr lang="en-US" altLang="zh-TW" dirty="0"/>
                        <a:t>S1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banana$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5405959"/>
                  </a:ext>
                </a:extLst>
              </a:tr>
              <a:tr h="433038">
                <a:tc>
                  <a:txBody>
                    <a:bodyPr/>
                    <a:lstStyle/>
                    <a:p>
                      <a:r>
                        <a:rPr lang="en-US" altLang="zh-TW"/>
                        <a:t>S5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na</a:t>
                      </a:r>
                      <a:r>
                        <a:rPr lang="en-US" altLang="zh-TW" dirty="0"/>
                        <a:t>$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5506566"/>
                  </a:ext>
                </a:extLst>
              </a:tr>
              <a:tr h="433038">
                <a:tc>
                  <a:txBody>
                    <a:bodyPr/>
                    <a:lstStyle/>
                    <a:p>
                      <a:r>
                        <a:rPr lang="en-US" altLang="zh-TW" dirty="0"/>
                        <a:t>S3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nana$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941941"/>
                  </a:ext>
                </a:extLst>
              </a:tr>
            </a:tbl>
          </a:graphicData>
        </a:graphic>
      </p:graphicFrame>
      <p:graphicFrame>
        <p:nvGraphicFramePr>
          <p:cNvPr id="14" name="Group 122">
            <a:extLst>
              <a:ext uri="{FF2B5EF4-FFF2-40B4-BE49-F238E27FC236}">
                <a16:creationId xmlns:a16="http://schemas.microsoft.com/office/drawing/2014/main" id="{95A2FD2A-B725-44DC-B142-F8532EC07F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2781050"/>
              </p:ext>
            </p:extLst>
          </p:nvPr>
        </p:nvGraphicFramePr>
        <p:xfrm>
          <a:off x="7182086" y="2527248"/>
          <a:ext cx="2522538" cy="358775"/>
        </p:xfrm>
        <a:graphic>
          <a:graphicData uri="http://schemas.openxmlformats.org/drawingml/2006/table">
            <a:tbl>
              <a:tblPr/>
              <a:tblGrid>
                <a:gridCol w="359003">
                  <a:extLst>
                    <a:ext uri="{9D8B030D-6E8A-4147-A177-3AD203B41FA5}">
                      <a16:colId xmlns:a16="http://schemas.microsoft.com/office/drawing/2014/main" val="120748303"/>
                    </a:ext>
                  </a:extLst>
                </a:gridCol>
                <a:gridCol w="361722">
                  <a:extLst>
                    <a:ext uri="{9D8B030D-6E8A-4147-A177-3AD203B41FA5}">
                      <a16:colId xmlns:a16="http://schemas.microsoft.com/office/drawing/2014/main" val="272169450"/>
                    </a:ext>
                  </a:extLst>
                </a:gridCol>
                <a:gridCol w="359003">
                  <a:extLst>
                    <a:ext uri="{9D8B030D-6E8A-4147-A177-3AD203B41FA5}">
                      <a16:colId xmlns:a16="http://schemas.microsoft.com/office/drawing/2014/main" val="340376348"/>
                    </a:ext>
                  </a:extLst>
                </a:gridCol>
                <a:gridCol w="360363">
                  <a:extLst>
                    <a:ext uri="{9D8B030D-6E8A-4147-A177-3AD203B41FA5}">
                      <a16:colId xmlns:a16="http://schemas.microsoft.com/office/drawing/2014/main" val="2460907806"/>
                    </a:ext>
                  </a:extLst>
                </a:gridCol>
                <a:gridCol w="359003">
                  <a:extLst>
                    <a:ext uri="{9D8B030D-6E8A-4147-A177-3AD203B41FA5}">
                      <a16:colId xmlns:a16="http://schemas.microsoft.com/office/drawing/2014/main" val="705311155"/>
                    </a:ext>
                  </a:extLst>
                </a:gridCol>
                <a:gridCol w="361722">
                  <a:extLst>
                    <a:ext uri="{9D8B030D-6E8A-4147-A177-3AD203B41FA5}">
                      <a16:colId xmlns:a16="http://schemas.microsoft.com/office/drawing/2014/main" val="3735688499"/>
                    </a:ext>
                  </a:extLst>
                </a:gridCol>
                <a:gridCol w="361722">
                  <a:extLst>
                    <a:ext uri="{9D8B030D-6E8A-4147-A177-3AD203B41FA5}">
                      <a16:colId xmlns:a16="http://schemas.microsoft.com/office/drawing/2014/main" val="1899401468"/>
                    </a:ext>
                  </a:extLst>
                </a:gridCol>
              </a:tblGrid>
              <a:tr h="358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2594787"/>
                  </a:ext>
                </a:extLst>
              </a:tr>
            </a:tbl>
          </a:graphicData>
        </a:graphic>
      </p:graphicFrame>
      <p:graphicFrame>
        <p:nvGraphicFramePr>
          <p:cNvPr id="15" name="Group 122">
            <a:extLst>
              <a:ext uri="{FF2B5EF4-FFF2-40B4-BE49-F238E27FC236}">
                <a16:creationId xmlns:a16="http://schemas.microsoft.com/office/drawing/2014/main" id="{9E1DE282-24B9-4404-83D4-EF6A91FA48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5253560"/>
              </p:ext>
            </p:extLst>
          </p:nvPr>
        </p:nvGraphicFramePr>
        <p:xfrm>
          <a:off x="7182086" y="4549456"/>
          <a:ext cx="2522538" cy="358775"/>
        </p:xfrm>
        <a:graphic>
          <a:graphicData uri="http://schemas.openxmlformats.org/drawingml/2006/table">
            <a:tbl>
              <a:tblPr/>
              <a:tblGrid>
                <a:gridCol w="359003">
                  <a:extLst>
                    <a:ext uri="{9D8B030D-6E8A-4147-A177-3AD203B41FA5}">
                      <a16:colId xmlns:a16="http://schemas.microsoft.com/office/drawing/2014/main" val="120748303"/>
                    </a:ext>
                  </a:extLst>
                </a:gridCol>
                <a:gridCol w="361722">
                  <a:extLst>
                    <a:ext uri="{9D8B030D-6E8A-4147-A177-3AD203B41FA5}">
                      <a16:colId xmlns:a16="http://schemas.microsoft.com/office/drawing/2014/main" val="272169450"/>
                    </a:ext>
                  </a:extLst>
                </a:gridCol>
                <a:gridCol w="359003">
                  <a:extLst>
                    <a:ext uri="{9D8B030D-6E8A-4147-A177-3AD203B41FA5}">
                      <a16:colId xmlns:a16="http://schemas.microsoft.com/office/drawing/2014/main" val="340376348"/>
                    </a:ext>
                  </a:extLst>
                </a:gridCol>
                <a:gridCol w="360363">
                  <a:extLst>
                    <a:ext uri="{9D8B030D-6E8A-4147-A177-3AD203B41FA5}">
                      <a16:colId xmlns:a16="http://schemas.microsoft.com/office/drawing/2014/main" val="2460907806"/>
                    </a:ext>
                  </a:extLst>
                </a:gridCol>
                <a:gridCol w="359003">
                  <a:extLst>
                    <a:ext uri="{9D8B030D-6E8A-4147-A177-3AD203B41FA5}">
                      <a16:colId xmlns:a16="http://schemas.microsoft.com/office/drawing/2014/main" val="705311155"/>
                    </a:ext>
                  </a:extLst>
                </a:gridCol>
                <a:gridCol w="361722">
                  <a:extLst>
                    <a:ext uri="{9D8B030D-6E8A-4147-A177-3AD203B41FA5}">
                      <a16:colId xmlns:a16="http://schemas.microsoft.com/office/drawing/2014/main" val="3735688499"/>
                    </a:ext>
                  </a:extLst>
                </a:gridCol>
                <a:gridCol w="361722">
                  <a:extLst>
                    <a:ext uri="{9D8B030D-6E8A-4147-A177-3AD203B41FA5}">
                      <a16:colId xmlns:a16="http://schemas.microsoft.com/office/drawing/2014/main" val="1899401468"/>
                    </a:ext>
                  </a:extLst>
                </a:gridCol>
              </a:tblGrid>
              <a:tr h="358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25947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67810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9394F8A-0DEF-4035-9BD0-CE672D989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Computing </a:t>
            </a:r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lcp</a:t>
            </a:r>
            <a:endParaRPr lang="zh-TW" altLang="en-US" dirty="0"/>
          </a:p>
        </p:txBody>
      </p:sp>
      <p:graphicFrame>
        <p:nvGraphicFramePr>
          <p:cNvPr id="4" name="內容版面配置區 10">
            <a:extLst>
              <a:ext uri="{FF2B5EF4-FFF2-40B4-BE49-F238E27FC236}">
                <a16:creationId xmlns:a16="http://schemas.microsoft.com/office/drawing/2014/main" id="{071A68E4-7AF3-43A6-85B0-442B3868FC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6153811"/>
              </p:ext>
            </p:extLst>
          </p:nvPr>
        </p:nvGraphicFramePr>
        <p:xfrm>
          <a:off x="4009163" y="2084741"/>
          <a:ext cx="441037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2593">
                  <a:extLst>
                    <a:ext uri="{9D8B030D-6E8A-4147-A177-3AD203B41FA5}">
                      <a16:colId xmlns:a16="http://schemas.microsoft.com/office/drawing/2014/main" val="397008072"/>
                    </a:ext>
                  </a:extLst>
                </a:gridCol>
                <a:gridCol w="1102593">
                  <a:extLst>
                    <a:ext uri="{9D8B030D-6E8A-4147-A177-3AD203B41FA5}">
                      <a16:colId xmlns:a16="http://schemas.microsoft.com/office/drawing/2014/main" val="2639125098"/>
                    </a:ext>
                  </a:extLst>
                </a:gridCol>
                <a:gridCol w="1102593">
                  <a:extLst>
                    <a:ext uri="{9D8B030D-6E8A-4147-A177-3AD203B41FA5}">
                      <a16:colId xmlns:a16="http://schemas.microsoft.com/office/drawing/2014/main" val="725628747"/>
                    </a:ext>
                  </a:extLst>
                </a:gridCol>
                <a:gridCol w="1102593">
                  <a:extLst>
                    <a:ext uri="{9D8B030D-6E8A-4147-A177-3AD203B41FA5}">
                      <a16:colId xmlns:a16="http://schemas.microsoft.com/office/drawing/2014/main" val="15456558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$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1, 3, 5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2, 4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3248689"/>
                  </a:ext>
                </a:extLst>
              </a:tr>
            </a:tbl>
          </a:graphicData>
        </a:graphic>
      </p:graphicFrame>
      <p:sp>
        <p:nvSpPr>
          <p:cNvPr id="5" name="文字方塊 4">
            <a:extLst>
              <a:ext uri="{FF2B5EF4-FFF2-40B4-BE49-F238E27FC236}">
                <a16:creationId xmlns:a16="http://schemas.microsoft.com/office/drawing/2014/main" id="{95E99555-2476-4819-B966-15B93490C7D3}"/>
              </a:ext>
            </a:extLst>
          </p:cNvPr>
          <p:cNvSpPr txBox="1"/>
          <p:nvPr/>
        </p:nvSpPr>
        <p:spPr>
          <a:xfrm>
            <a:off x="5467722" y="1715409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a</a:t>
            </a:r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E7B3824-8A6F-47CF-A1AC-55F17E8C4C94}"/>
              </a:ext>
            </a:extLst>
          </p:cNvPr>
          <p:cNvSpPr txBox="1"/>
          <p:nvPr/>
        </p:nvSpPr>
        <p:spPr>
          <a:xfrm>
            <a:off x="6559979" y="172189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727340E-32CF-4671-9B35-F25AE4153FC9}"/>
              </a:ext>
            </a:extLst>
          </p:cNvPr>
          <p:cNvSpPr txBox="1"/>
          <p:nvPr/>
        </p:nvSpPr>
        <p:spPr>
          <a:xfrm>
            <a:off x="7663455" y="1721898"/>
            <a:ext cx="243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n</a:t>
            </a:r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2272BBB-636D-4E81-9330-D49804DCDB0D}"/>
              </a:ext>
            </a:extLst>
          </p:cNvPr>
          <p:cNvSpPr/>
          <p:nvPr/>
        </p:nvSpPr>
        <p:spPr>
          <a:xfrm>
            <a:off x="2080148" y="2084741"/>
            <a:ext cx="138050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2400" dirty="0">
                <a:latin typeface="Times New Roman" panose="02020603050405020304" pitchFamily="18" charset="0"/>
              </a:rPr>
              <a:t>1-buckets</a:t>
            </a:r>
          </a:p>
        </p:txBody>
      </p:sp>
      <p:sp>
        <p:nvSpPr>
          <p:cNvPr id="10" name="Line 85">
            <a:extLst>
              <a:ext uri="{FF2B5EF4-FFF2-40B4-BE49-F238E27FC236}">
                <a16:creationId xmlns:a16="http://schemas.microsoft.com/office/drawing/2014/main" id="{EDCFCE20-D271-49A5-AE42-F252FD928240}"/>
              </a:ext>
            </a:extLst>
          </p:cNvPr>
          <p:cNvSpPr>
            <a:spLocks noChangeShapeType="1"/>
          </p:cNvSpPr>
          <p:nvPr/>
        </p:nvSpPr>
        <p:spPr bwMode="auto">
          <a:xfrm>
            <a:off x="6214350" y="2433839"/>
            <a:ext cx="169906" cy="535344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1" name="Line 85">
            <a:extLst>
              <a:ext uri="{FF2B5EF4-FFF2-40B4-BE49-F238E27FC236}">
                <a16:creationId xmlns:a16="http://schemas.microsoft.com/office/drawing/2014/main" id="{7C171D40-A290-49FF-8914-89DF4AD07A9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68934" y="2470512"/>
            <a:ext cx="544131" cy="498671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/>
          </a:p>
        </p:txBody>
      </p:sp>
      <p:graphicFrame>
        <p:nvGraphicFramePr>
          <p:cNvPr id="13" name="內容版面配置區 10">
            <a:extLst>
              <a:ext uri="{FF2B5EF4-FFF2-40B4-BE49-F238E27FC236}">
                <a16:creationId xmlns:a16="http://schemas.microsoft.com/office/drawing/2014/main" id="{8CBDDF27-1437-4537-9E80-3808123513F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24769989"/>
              </p:ext>
            </p:extLst>
          </p:nvPr>
        </p:nvGraphicFramePr>
        <p:xfrm>
          <a:off x="4009163" y="4236135"/>
          <a:ext cx="441037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5335">
                  <a:extLst>
                    <a:ext uri="{9D8B030D-6E8A-4147-A177-3AD203B41FA5}">
                      <a16:colId xmlns:a16="http://schemas.microsoft.com/office/drawing/2014/main" val="1987124885"/>
                    </a:ext>
                  </a:extLst>
                </a:gridCol>
                <a:gridCol w="585335">
                  <a:extLst>
                    <a:ext uri="{9D8B030D-6E8A-4147-A177-3AD203B41FA5}">
                      <a16:colId xmlns:a16="http://schemas.microsoft.com/office/drawing/2014/main" val="1937446177"/>
                    </a:ext>
                  </a:extLst>
                </a:gridCol>
                <a:gridCol w="659153">
                  <a:extLst>
                    <a:ext uri="{9D8B030D-6E8A-4147-A177-3AD203B41FA5}">
                      <a16:colId xmlns:a16="http://schemas.microsoft.com/office/drawing/2014/main" val="2639125098"/>
                    </a:ext>
                  </a:extLst>
                </a:gridCol>
                <a:gridCol w="1323075">
                  <a:extLst>
                    <a:ext uri="{9D8B030D-6E8A-4147-A177-3AD203B41FA5}">
                      <a16:colId xmlns:a16="http://schemas.microsoft.com/office/drawing/2014/main" val="725628747"/>
                    </a:ext>
                  </a:extLst>
                </a:gridCol>
                <a:gridCol w="1257475">
                  <a:extLst>
                    <a:ext uri="{9D8B030D-6E8A-4147-A177-3AD203B41FA5}">
                      <a16:colId xmlns:a16="http://schemas.microsoft.com/office/drawing/2014/main" val="15456558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$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1, </a:t>
                      </a:r>
                      <a:r>
                        <a:rPr lang="en-US" altLang="zh-TW" b="0" dirty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2, 4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3248689"/>
                  </a:ext>
                </a:extLst>
              </a:tr>
            </a:tbl>
          </a:graphicData>
        </a:graphic>
      </p:graphicFrame>
      <p:sp>
        <p:nvSpPr>
          <p:cNvPr id="14" name="文字方塊 13">
            <a:extLst>
              <a:ext uri="{FF2B5EF4-FFF2-40B4-BE49-F238E27FC236}">
                <a16:creationId xmlns:a16="http://schemas.microsoft.com/office/drawing/2014/main" id="{30F864D9-3E03-4E56-99E5-421BB6601A4F}"/>
              </a:ext>
            </a:extLst>
          </p:cNvPr>
          <p:cNvSpPr txBox="1"/>
          <p:nvPr/>
        </p:nvSpPr>
        <p:spPr>
          <a:xfrm>
            <a:off x="4685923" y="3850018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a</a:t>
            </a:r>
            <a:endParaRPr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E846ABE9-E2D1-43C7-9001-27DAA35EF4D5}"/>
              </a:ext>
            </a:extLst>
          </p:cNvPr>
          <p:cNvSpPr txBox="1"/>
          <p:nvPr/>
        </p:nvSpPr>
        <p:spPr>
          <a:xfrm>
            <a:off x="5249218" y="3853706"/>
            <a:ext cx="437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a</a:t>
            </a:r>
            <a:r>
              <a:rPr lang="en-US" altLang="zh-TW" dirty="0">
                <a:solidFill>
                  <a:srgbClr val="FF0000"/>
                </a:solidFill>
              </a:rPr>
              <a:t>n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A44B76F0-730D-4B56-880C-B74A4D9AD7A1}"/>
              </a:ext>
            </a:extLst>
          </p:cNvPr>
          <p:cNvSpPr txBox="1"/>
          <p:nvPr/>
        </p:nvSpPr>
        <p:spPr>
          <a:xfrm>
            <a:off x="6261368" y="3850018"/>
            <a:ext cx="488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/>
              <a:t>ba</a:t>
            </a:r>
            <a:endParaRPr lang="zh-TW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1DAD4C2-1363-4C9D-886C-195116FFDA61}"/>
              </a:ext>
            </a:extLst>
          </p:cNvPr>
          <p:cNvSpPr/>
          <p:nvPr/>
        </p:nvSpPr>
        <p:spPr>
          <a:xfrm>
            <a:off x="7576796" y="3846662"/>
            <a:ext cx="4171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err="1"/>
              <a:t>na</a:t>
            </a:r>
            <a:endParaRPr lang="zh-TW" altLang="en-US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529C13D-E3E2-477A-8F4F-BBF9E7C9C6AB}"/>
              </a:ext>
            </a:extLst>
          </p:cNvPr>
          <p:cNvSpPr/>
          <p:nvPr/>
        </p:nvSpPr>
        <p:spPr>
          <a:xfrm>
            <a:off x="2080148" y="4134689"/>
            <a:ext cx="138050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2400" dirty="0">
                <a:latin typeface="Times New Roman" panose="02020603050405020304" pitchFamily="18" charset="0"/>
              </a:rPr>
              <a:t>2-buckets</a:t>
            </a:r>
          </a:p>
        </p:txBody>
      </p:sp>
      <p:sp>
        <p:nvSpPr>
          <p:cNvPr id="20" name="Line 85">
            <a:extLst>
              <a:ext uri="{FF2B5EF4-FFF2-40B4-BE49-F238E27FC236}">
                <a16:creationId xmlns:a16="http://schemas.microsoft.com/office/drawing/2014/main" id="{DAA9886D-B260-4E70-AA3A-361581A14F46}"/>
              </a:ext>
            </a:extLst>
          </p:cNvPr>
          <p:cNvSpPr>
            <a:spLocks noChangeShapeType="1"/>
          </p:cNvSpPr>
          <p:nvPr/>
        </p:nvSpPr>
        <p:spPr bwMode="auto">
          <a:xfrm>
            <a:off x="5191211" y="4585437"/>
            <a:ext cx="495015" cy="35877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480AE4FF-08C0-4CA1-837B-EFC121171680}"/>
              </a:ext>
            </a:extLst>
          </p:cNvPr>
          <p:cNvSpPr txBox="1"/>
          <p:nvPr/>
        </p:nvSpPr>
        <p:spPr>
          <a:xfrm>
            <a:off x="4401612" y="1742132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$</a:t>
            </a:r>
            <a:endParaRPr lang="zh-TW" altLang="en-US" dirty="0"/>
          </a:p>
        </p:txBody>
      </p:sp>
      <p:graphicFrame>
        <p:nvGraphicFramePr>
          <p:cNvPr id="23" name="Group 122">
            <a:extLst>
              <a:ext uri="{FF2B5EF4-FFF2-40B4-BE49-F238E27FC236}">
                <a16:creationId xmlns:a16="http://schemas.microsoft.com/office/drawing/2014/main" id="{9EF5A859-9857-4BAF-975B-5A963E4C23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6654058"/>
              </p:ext>
            </p:extLst>
          </p:nvPr>
        </p:nvGraphicFramePr>
        <p:xfrm>
          <a:off x="4790528" y="3005856"/>
          <a:ext cx="2522538" cy="358775"/>
        </p:xfrm>
        <a:graphic>
          <a:graphicData uri="http://schemas.openxmlformats.org/drawingml/2006/table">
            <a:tbl>
              <a:tblPr/>
              <a:tblGrid>
                <a:gridCol w="359003">
                  <a:extLst>
                    <a:ext uri="{9D8B030D-6E8A-4147-A177-3AD203B41FA5}">
                      <a16:colId xmlns:a16="http://schemas.microsoft.com/office/drawing/2014/main" val="120748303"/>
                    </a:ext>
                  </a:extLst>
                </a:gridCol>
                <a:gridCol w="361722">
                  <a:extLst>
                    <a:ext uri="{9D8B030D-6E8A-4147-A177-3AD203B41FA5}">
                      <a16:colId xmlns:a16="http://schemas.microsoft.com/office/drawing/2014/main" val="272169450"/>
                    </a:ext>
                  </a:extLst>
                </a:gridCol>
                <a:gridCol w="359003">
                  <a:extLst>
                    <a:ext uri="{9D8B030D-6E8A-4147-A177-3AD203B41FA5}">
                      <a16:colId xmlns:a16="http://schemas.microsoft.com/office/drawing/2014/main" val="340376348"/>
                    </a:ext>
                  </a:extLst>
                </a:gridCol>
                <a:gridCol w="360363">
                  <a:extLst>
                    <a:ext uri="{9D8B030D-6E8A-4147-A177-3AD203B41FA5}">
                      <a16:colId xmlns:a16="http://schemas.microsoft.com/office/drawing/2014/main" val="2460907806"/>
                    </a:ext>
                  </a:extLst>
                </a:gridCol>
                <a:gridCol w="359003">
                  <a:extLst>
                    <a:ext uri="{9D8B030D-6E8A-4147-A177-3AD203B41FA5}">
                      <a16:colId xmlns:a16="http://schemas.microsoft.com/office/drawing/2014/main" val="705311155"/>
                    </a:ext>
                  </a:extLst>
                </a:gridCol>
                <a:gridCol w="361722">
                  <a:extLst>
                    <a:ext uri="{9D8B030D-6E8A-4147-A177-3AD203B41FA5}">
                      <a16:colId xmlns:a16="http://schemas.microsoft.com/office/drawing/2014/main" val="3735688499"/>
                    </a:ext>
                  </a:extLst>
                </a:gridCol>
                <a:gridCol w="361722">
                  <a:extLst>
                    <a:ext uri="{9D8B030D-6E8A-4147-A177-3AD203B41FA5}">
                      <a16:colId xmlns:a16="http://schemas.microsoft.com/office/drawing/2014/main" val="1899401468"/>
                    </a:ext>
                  </a:extLst>
                </a:gridCol>
              </a:tblGrid>
              <a:tr h="358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2594787"/>
                  </a:ext>
                </a:extLst>
              </a:tr>
            </a:tbl>
          </a:graphicData>
        </a:graphic>
      </p:graphicFrame>
      <p:sp>
        <p:nvSpPr>
          <p:cNvPr id="24" name="Line 85">
            <a:extLst>
              <a:ext uri="{FF2B5EF4-FFF2-40B4-BE49-F238E27FC236}">
                <a16:creationId xmlns:a16="http://schemas.microsoft.com/office/drawing/2014/main" id="{46AD0FBA-F9FA-4B9B-861D-1D03165E1FF6}"/>
              </a:ext>
            </a:extLst>
          </p:cNvPr>
          <p:cNvSpPr>
            <a:spLocks noChangeShapeType="1"/>
          </p:cNvSpPr>
          <p:nvPr/>
        </p:nvSpPr>
        <p:spPr bwMode="auto">
          <a:xfrm>
            <a:off x="5124985" y="2454073"/>
            <a:ext cx="132452" cy="519676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graphicFrame>
        <p:nvGraphicFramePr>
          <p:cNvPr id="26" name="Group 122">
            <a:extLst>
              <a:ext uri="{FF2B5EF4-FFF2-40B4-BE49-F238E27FC236}">
                <a16:creationId xmlns:a16="http://schemas.microsoft.com/office/drawing/2014/main" id="{E2BA430B-B03C-47CC-B559-FA6C602271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9515699"/>
              </p:ext>
            </p:extLst>
          </p:nvPr>
        </p:nvGraphicFramePr>
        <p:xfrm>
          <a:off x="4809212" y="4969818"/>
          <a:ext cx="2522538" cy="358775"/>
        </p:xfrm>
        <a:graphic>
          <a:graphicData uri="http://schemas.openxmlformats.org/drawingml/2006/table">
            <a:tbl>
              <a:tblPr/>
              <a:tblGrid>
                <a:gridCol w="359003">
                  <a:extLst>
                    <a:ext uri="{9D8B030D-6E8A-4147-A177-3AD203B41FA5}">
                      <a16:colId xmlns:a16="http://schemas.microsoft.com/office/drawing/2014/main" val="120748303"/>
                    </a:ext>
                  </a:extLst>
                </a:gridCol>
                <a:gridCol w="361722">
                  <a:extLst>
                    <a:ext uri="{9D8B030D-6E8A-4147-A177-3AD203B41FA5}">
                      <a16:colId xmlns:a16="http://schemas.microsoft.com/office/drawing/2014/main" val="272169450"/>
                    </a:ext>
                  </a:extLst>
                </a:gridCol>
                <a:gridCol w="359003">
                  <a:extLst>
                    <a:ext uri="{9D8B030D-6E8A-4147-A177-3AD203B41FA5}">
                      <a16:colId xmlns:a16="http://schemas.microsoft.com/office/drawing/2014/main" val="340376348"/>
                    </a:ext>
                  </a:extLst>
                </a:gridCol>
                <a:gridCol w="360363">
                  <a:extLst>
                    <a:ext uri="{9D8B030D-6E8A-4147-A177-3AD203B41FA5}">
                      <a16:colId xmlns:a16="http://schemas.microsoft.com/office/drawing/2014/main" val="2460907806"/>
                    </a:ext>
                  </a:extLst>
                </a:gridCol>
                <a:gridCol w="359003">
                  <a:extLst>
                    <a:ext uri="{9D8B030D-6E8A-4147-A177-3AD203B41FA5}">
                      <a16:colId xmlns:a16="http://schemas.microsoft.com/office/drawing/2014/main" val="705311155"/>
                    </a:ext>
                  </a:extLst>
                </a:gridCol>
                <a:gridCol w="361722">
                  <a:extLst>
                    <a:ext uri="{9D8B030D-6E8A-4147-A177-3AD203B41FA5}">
                      <a16:colId xmlns:a16="http://schemas.microsoft.com/office/drawing/2014/main" val="3735688499"/>
                    </a:ext>
                  </a:extLst>
                </a:gridCol>
                <a:gridCol w="361722">
                  <a:extLst>
                    <a:ext uri="{9D8B030D-6E8A-4147-A177-3AD203B41FA5}">
                      <a16:colId xmlns:a16="http://schemas.microsoft.com/office/drawing/2014/main" val="1899401468"/>
                    </a:ext>
                  </a:extLst>
                </a:gridCol>
              </a:tblGrid>
              <a:tr h="358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25947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5036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9B58F0-3E9F-4509-8211-5E97ED53C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Non-adjacent </a:t>
            </a:r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lcp</a:t>
            </a:r>
            <a:endParaRPr lang="zh-TW" altLang="en-US" dirty="0"/>
          </a:p>
        </p:txBody>
      </p:sp>
      <p:sp>
        <p:nvSpPr>
          <p:cNvPr id="4" name="Text Box 150">
            <a:extLst>
              <a:ext uri="{FF2B5EF4-FFF2-40B4-BE49-F238E27FC236}">
                <a16:creationId xmlns:a16="http://schemas.microsoft.com/office/drawing/2014/main" id="{FD7EDB75-D206-4232-88D2-1A8E1D976F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0273" y="1508419"/>
            <a:ext cx="180504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 sz="2400" dirty="0">
                <a:latin typeface="Times New Roman" panose="02020603050405020304" pitchFamily="18" charset="0"/>
              </a:rPr>
              <a:t>Suffix Array</a:t>
            </a:r>
          </a:p>
        </p:txBody>
      </p:sp>
      <p:sp>
        <p:nvSpPr>
          <p:cNvPr id="6" name="Text Box 150">
            <a:extLst>
              <a:ext uri="{FF2B5EF4-FFF2-40B4-BE49-F238E27FC236}">
                <a16:creationId xmlns:a16="http://schemas.microsoft.com/office/drawing/2014/main" id="{A75D4EFA-E989-415D-8475-312CE643B6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1794" y="3117656"/>
            <a:ext cx="4762006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TW" sz="2000" dirty="0" err="1">
                <a:latin typeface="Times New Roman" panose="02020603050405020304" pitchFamily="18" charset="0"/>
              </a:rPr>
              <a:t>Lcp</a:t>
            </a:r>
            <a:endParaRPr lang="en-US" altLang="zh-TW" sz="2000" dirty="0">
              <a:latin typeface="Times New Roman" panose="02020603050405020304" pitchFamily="18" charset="0"/>
            </a:endParaRPr>
          </a:p>
          <a:p>
            <a:pPr algn="ctr">
              <a:spcBef>
                <a:spcPct val="50000"/>
              </a:spcBef>
            </a:pPr>
            <a:r>
              <a:rPr lang="en-US" altLang="zh-TW" sz="2000" dirty="0">
                <a:latin typeface="Times New Roman" panose="02020603050405020304" pitchFamily="18" charset="0"/>
              </a:rPr>
              <a:t>(</a:t>
            </a:r>
            <a:r>
              <a:rPr lang="en-US" altLang="zh-TW" sz="2000" u="sng" dirty="0">
                <a:latin typeface="Times New Roman" panose="02020603050405020304" pitchFamily="18" charset="0"/>
              </a:rPr>
              <a:t>computed during the sorting</a:t>
            </a:r>
            <a:r>
              <a:rPr lang="en-US" altLang="zh-TW" sz="2000" dirty="0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F049A091-9E7B-4F52-8079-3E2AC347AAC0}"/>
              </a:ext>
            </a:extLst>
          </p:cNvPr>
          <p:cNvSpPr txBox="1"/>
          <p:nvPr/>
        </p:nvSpPr>
        <p:spPr>
          <a:xfrm>
            <a:off x="7350826" y="4957166"/>
            <a:ext cx="388719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i="1" dirty="0" err="1">
                <a:latin typeface="Times New Roman" panose="02020603050405020304" pitchFamily="18" charset="0"/>
              </a:rPr>
              <a:t>lcp</a:t>
            </a:r>
            <a:r>
              <a:rPr lang="en-US" altLang="zh-TW" dirty="0">
                <a:latin typeface="Times New Roman" panose="02020603050405020304" pitchFamily="18" charset="0"/>
              </a:rPr>
              <a:t>(S6, S2) = 1, </a:t>
            </a:r>
            <a:r>
              <a:rPr lang="en-US" altLang="zh-TW" i="1" dirty="0">
                <a:latin typeface="Times New Roman" panose="02020603050405020304" pitchFamily="18" charset="0"/>
              </a:rPr>
              <a:t>min</a:t>
            </a:r>
            <a:r>
              <a:rPr lang="en-US" altLang="zh-TW" dirty="0">
                <a:latin typeface="Times New Roman" panose="02020603050405020304" pitchFamily="18" charset="0"/>
              </a:rPr>
              <a:t>{1, 3} = 1</a:t>
            </a:r>
          </a:p>
          <a:p>
            <a:pPr>
              <a:spcBef>
                <a:spcPct val="50000"/>
              </a:spcBef>
            </a:pPr>
            <a:r>
              <a:rPr lang="en-US" altLang="zh-TW" i="1" dirty="0" err="1">
                <a:latin typeface="Times New Roman" panose="02020603050405020304" pitchFamily="18" charset="0"/>
              </a:rPr>
              <a:t>lcp</a:t>
            </a:r>
            <a:r>
              <a:rPr lang="en-US" altLang="zh-TW" dirty="0">
                <a:latin typeface="Times New Roman" panose="02020603050405020304" pitchFamily="18" charset="0"/>
              </a:rPr>
              <a:t>(S4, S3) = 1, </a:t>
            </a:r>
            <a:r>
              <a:rPr lang="en-US" altLang="zh-TW" i="1" dirty="0">
                <a:latin typeface="Times New Roman" panose="02020603050405020304" pitchFamily="18" charset="0"/>
              </a:rPr>
              <a:t>min</a:t>
            </a:r>
            <a:r>
              <a:rPr lang="en-US" altLang="zh-TW" dirty="0">
                <a:latin typeface="Times New Roman" panose="02020603050405020304" pitchFamily="18" charset="0"/>
              </a:rPr>
              <a:t>{3, 0, 0, 2} = 0</a:t>
            </a: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D77362FC-8B92-47AF-98AB-E9E3A763B4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8457743"/>
              </p:ext>
            </p:extLst>
          </p:nvPr>
        </p:nvGraphicFramePr>
        <p:xfrm>
          <a:off x="936397" y="2155104"/>
          <a:ext cx="4663809" cy="34737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8015">
                  <a:extLst>
                    <a:ext uri="{9D8B030D-6E8A-4147-A177-3AD203B41FA5}">
                      <a16:colId xmlns:a16="http://schemas.microsoft.com/office/drawing/2014/main" val="2225808293"/>
                    </a:ext>
                  </a:extLst>
                </a:gridCol>
                <a:gridCol w="3705794">
                  <a:extLst>
                    <a:ext uri="{9D8B030D-6E8A-4147-A177-3AD203B41FA5}">
                      <a16:colId xmlns:a16="http://schemas.microsoft.com/office/drawing/2014/main" val="2638539076"/>
                    </a:ext>
                  </a:extLst>
                </a:gridCol>
              </a:tblGrid>
              <a:tr h="496257"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S7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$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544345"/>
                  </a:ext>
                </a:extLst>
              </a:tr>
              <a:tr h="496257">
                <a:tc>
                  <a:txBody>
                    <a:bodyPr/>
                    <a:lstStyle/>
                    <a:p>
                      <a:r>
                        <a:rPr lang="en-US" altLang="zh-TW" dirty="0"/>
                        <a:t>S6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a$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7260527"/>
                  </a:ext>
                </a:extLst>
              </a:tr>
              <a:tr h="496257">
                <a:tc>
                  <a:txBody>
                    <a:bodyPr/>
                    <a:lstStyle/>
                    <a:p>
                      <a:r>
                        <a:rPr lang="en-US" altLang="zh-TW" dirty="0"/>
                        <a:t>S4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ana</a:t>
                      </a:r>
                      <a:r>
                        <a:rPr lang="en-US" altLang="zh-TW" dirty="0"/>
                        <a:t>$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2494110"/>
                  </a:ext>
                </a:extLst>
              </a:tr>
              <a:tr h="496257">
                <a:tc>
                  <a:txBody>
                    <a:bodyPr/>
                    <a:lstStyle/>
                    <a:p>
                      <a:r>
                        <a:rPr lang="en-US" altLang="zh-TW" dirty="0"/>
                        <a:t>S2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err="1"/>
                        <a:t>anana</a:t>
                      </a:r>
                      <a:r>
                        <a:rPr lang="en-US" altLang="zh-TW" dirty="0"/>
                        <a:t>$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7936133"/>
                  </a:ext>
                </a:extLst>
              </a:tr>
              <a:tr h="496257">
                <a:tc>
                  <a:txBody>
                    <a:bodyPr/>
                    <a:lstStyle/>
                    <a:p>
                      <a:r>
                        <a:rPr lang="en-US" altLang="zh-TW" dirty="0"/>
                        <a:t>S1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banana$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5405959"/>
                  </a:ext>
                </a:extLst>
              </a:tr>
              <a:tr h="496257">
                <a:tc>
                  <a:txBody>
                    <a:bodyPr/>
                    <a:lstStyle/>
                    <a:p>
                      <a:r>
                        <a:rPr lang="en-US" altLang="zh-TW"/>
                        <a:t>S5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na</a:t>
                      </a:r>
                      <a:r>
                        <a:rPr lang="en-US" altLang="zh-TW" dirty="0"/>
                        <a:t>$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5506566"/>
                  </a:ext>
                </a:extLst>
              </a:tr>
              <a:tr h="496257">
                <a:tc>
                  <a:txBody>
                    <a:bodyPr/>
                    <a:lstStyle/>
                    <a:p>
                      <a:r>
                        <a:rPr lang="en-US" altLang="zh-TW" dirty="0"/>
                        <a:t>S3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nana$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941941"/>
                  </a:ext>
                </a:extLst>
              </a:tr>
            </a:tbl>
          </a:graphicData>
        </a:graphic>
      </p:graphicFrame>
      <p:graphicFrame>
        <p:nvGraphicFramePr>
          <p:cNvPr id="14" name="Group 122">
            <a:extLst>
              <a:ext uri="{FF2B5EF4-FFF2-40B4-BE49-F238E27FC236}">
                <a16:creationId xmlns:a16="http://schemas.microsoft.com/office/drawing/2014/main" id="{46E691E9-E09A-4B01-A687-04F2F70CC5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9128336"/>
              </p:ext>
            </p:extLst>
          </p:nvPr>
        </p:nvGraphicFramePr>
        <p:xfrm>
          <a:off x="7711528" y="2197759"/>
          <a:ext cx="2522538" cy="358775"/>
        </p:xfrm>
        <a:graphic>
          <a:graphicData uri="http://schemas.openxmlformats.org/drawingml/2006/table">
            <a:tbl>
              <a:tblPr/>
              <a:tblGrid>
                <a:gridCol w="359003">
                  <a:extLst>
                    <a:ext uri="{9D8B030D-6E8A-4147-A177-3AD203B41FA5}">
                      <a16:colId xmlns:a16="http://schemas.microsoft.com/office/drawing/2014/main" val="120748303"/>
                    </a:ext>
                  </a:extLst>
                </a:gridCol>
                <a:gridCol w="361722">
                  <a:extLst>
                    <a:ext uri="{9D8B030D-6E8A-4147-A177-3AD203B41FA5}">
                      <a16:colId xmlns:a16="http://schemas.microsoft.com/office/drawing/2014/main" val="272169450"/>
                    </a:ext>
                  </a:extLst>
                </a:gridCol>
                <a:gridCol w="359003">
                  <a:extLst>
                    <a:ext uri="{9D8B030D-6E8A-4147-A177-3AD203B41FA5}">
                      <a16:colId xmlns:a16="http://schemas.microsoft.com/office/drawing/2014/main" val="340376348"/>
                    </a:ext>
                  </a:extLst>
                </a:gridCol>
                <a:gridCol w="360363">
                  <a:extLst>
                    <a:ext uri="{9D8B030D-6E8A-4147-A177-3AD203B41FA5}">
                      <a16:colId xmlns:a16="http://schemas.microsoft.com/office/drawing/2014/main" val="2460907806"/>
                    </a:ext>
                  </a:extLst>
                </a:gridCol>
                <a:gridCol w="359003">
                  <a:extLst>
                    <a:ext uri="{9D8B030D-6E8A-4147-A177-3AD203B41FA5}">
                      <a16:colId xmlns:a16="http://schemas.microsoft.com/office/drawing/2014/main" val="705311155"/>
                    </a:ext>
                  </a:extLst>
                </a:gridCol>
                <a:gridCol w="361722">
                  <a:extLst>
                    <a:ext uri="{9D8B030D-6E8A-4147-A177-3AD203B41FA5}">
                      <a16:colId xmlns:a16="http://schemas.microsoft.com/office/drawing/2014/main" val="3735688499"/>
                    </a:ext>
                  </a:extLst>
                </a:gridCol>
                <a:gridCol w="361722">
                  <a:extLst>
                    <a:ext uri="{9D8B030D-6E8A-4147-A177-3AD203B41FA5}">
                      <a16:colId xmlns:a16="http://schemas.microsoft.com/office/drawing/2014/main" val="1899401468"/>
                    </a:ext>
                  </a:extLst>
                </a:gridCol>
              </a:tblGrid>
              <a:tr h="358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2594787"/>
                  </a:ext>
                </a:extLst>
              </a:tr>
            </a:tbl>
          </a:graphicData>
        </a:graphic>
      </p:graphicFrame>
      <p:graphicFrame>
        <p:nvGraphicFramePr>
          <p:cNvPr id="15" name="Group 122">
            <a:extLst>
              <a:ext uri="{FF2B5EF4-FFF2-40B4-BE49-F238E27FC236}">
                <a16:creationId xmlns:a16="http://schemas.microsoft.com/office/drawing/2014/main" id="{E80FD381-1A9B-41D7-B836-A29D5A0C4D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5881470"/>
              </p:ext>
            </p:extLst>
          </p:nvPr>
        </p:nvGraphicFramePr>
        <p:xfrm>
          <a:off x="7711528" y="4181777"/>
          <a:ext cx="2522538" cy="358775"/>
        </p:xfrm>
        <a:graphic>
          <a:graphicData uri="http://schemas.openxmlformats.org/drawingml/2006/table">
            <a:tbl>
              <a:tblPr/>
              <a:tblGrid>
                <a:gridCol w="359003">
                  <a:extLst>
                    <a:ext uri="{9D8B030D-6E8A-4147-A177-3AD203B41FA5}">
                      <a16:colId xmlns:a16="http://schemas.microsoft.com/office/drawing/2014/main" val="120748303"/>
                    </a:ext>
                  </a:extLst>
                </a:gridCol>
                <a:gridCol w="361722">
                  <a:extLst>
                    <a:ext uri="{9D8B030D-6E8A-4147-A177-3AD203B41FA5}">
                      <a16:colId xmlns:a16="http://schemas.microsoft.com/office/drawing/2014/main" val="272169450"/>
                    </a:ext>
                  </a:extLst>
                </a:gridCol>
                <a:gridCol w="359003">
                  <a:extLst>
                    <a:ext uri="{9D8B030D-6E8A-4147-A177-3AD203B41FA5}">
                      <a16:colId xmlns:a16="http://schemas.microsoft.com/office/drawing/2014/main" val="340376348"/>
                    </a:ext>
                  </a:extLst>
                </a:gridCol>
                <a:gridCol w="360363">
                  <a:extLst>
                    <a:ext uri="{9D8B030D-6E8A-4147-A177-3AD203B41FA5}">
                      <a16:colId xmlns:a16="http://schemas.microsoft.com/office/drawing/2014/main" val="2460907806"/>
                    </a:ext>
                  </a:extLst>
                </a:gridCol>
                <a:gridCol w="359003">
                  <a:extLst>
                    <a:ext uri="{9D8B030D-6E8A-4147-A177-3AD203B41FA5}">
                      <a16:colId xmlns:a16="http://schemas.microsoft.com/office/drawing/2014/main" val="705311155"/>
                    </a:ext>
                  </a:extLst>
                </a:gridCol>
                <a:gridCol w="361722">
                  <a:extLst>
                    <a:ext uri="{9D8B030D-6E8A-4147-A177-3AD203B41FA5}">
                      <a16:colId xmlns:a16="http://schemas.microsoft.com/office/drawing/2014/main" val="3735688499"/>
                    </a:ext>
                  </a:extLst>
                </a:gridCol>
                <a:gridCol w="361722">
                  <a:extLst>
                    <a:ext uri="{9D8B030D-6E8A-4147-A177-3AD203B41FA5}">
                      <a16:colId xmlns:a16="http://schemas.microsoft.com/office/drawing/2014/main" val="1899401468"/>
                    </a:ext>
                  </a:extLst>
                </a:gridCol>
              </a:tblGrid>
              <a:tr h="358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25947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41816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A3ED8C-1BF7-4C6A-812A-2D1ACE7CA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075" y="507628"/>
            <a:ext cx="10515600" cy="1325563"/>
          </a:xfrm>
        </p:spPr>
        <p:txBody>
          <a:bodyPr/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Interval Tree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Oval 92">
            <a:extLst>
              <a:ext uri="{FF2B5EF4-FFF2-40B4-BE49-F238E27FC236}">
                <a16:creationId xmlns:a16="http://schemas.microsoft.com/office/drawing/2014/main" id="{4483162D-81E5-4130-9542-C638EEB652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5702" y="4425255"/>
            <a:ext cx="482600" cy="4318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lang="en-US" altLang="zh-TW" sz="160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6" name="Oval 96">
            <a:extLst>
              <a:ext uri="{FF2B5EF4-FFF2-40B4-BE49-F238E27FC236}">
                <a16:creationId xmlns:a16="http://schemas.microsoft.com/office/drawing/2014/main" id="{6DC08532-D3FE-4172-B69D-CFE62531D7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2829" y="4479072"/>
            <a:ext cx="482600" cy="4318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lang="en-US" altLang="zh-TW" sz="1600" dirty="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7" name="Oval 96">
            <a:extLst>
              <a:ext uri="{FF2B5EF4-FFF2-40B4-BE49-F238E27FC236}">
                <a16:creationId xmlns:a16="http://schemas.microsoft.com/office/drawing/2014/main" id="{F740B0EA-D049-4D94-AB63-8C8B90FDD1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1382" y="3769825"/>
            <a:ext cx="482600" cy="4318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lang="en-US" altLang="zh-TW" sz="1600" dirty="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8" name="Oval 96">
            <a:extLst>
              <a:ext uri="{FF2B5EF4-FFF2-40B4-BE49-F238E27FC236}">
                <a16:creationId xmlns:a16="http://schemas.microsoft.com/office/drawing/2014/main" id="{EC55AB27-26E4-4BC9-9439-8E2615BA83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3932" y="3648706"/>
            <a:ext cx="482600" cy="4318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lang="en-US" altLang="zh-TW" sz="1600" dirty="0">
                <a:latin typeface="Times New Roman" panose="02020603050405020304" pitchFamily="18" charset="0"/>
              </a:rPr>
              <a:t>0</a:t>
            </a:r>
          </a:p>
        </p:txBody>
      </p:sp>
      <p:cxnSp>
        <p:nvCxnSpPr>
          <p:cNvPr id="45" name="AutoShape 128">
            <a:extLst>
              <a:ext uri="{FF2B5EF4-FFF2-40B4-BE49-F238E27FC236}">
                <a16:creationId xmlns:a16="http://schemas.microsoft.com/office/drawing/2014/main" id="{951DC6D0-6FD5-4133-8E67-0884FC243E86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3419770" y="4824676"/>
            <a:ext cx="95462" cy="452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" name="AutoShape 128">
            <a:extLst>
              <a:ext uri="{FF2B5EF4-FFF2-40B4-BE49-F238E27FC236}">
                <a16:creationId xmlns:a16="http://schemas.microsoft.com/office/drawing/2014/main" id="{74D6B05A-CA26-43F7-98F1-F4614C297104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940667" y="4838305"/>
            <a:ext cx="83904" cy="452236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" name="AutoShape 128">
            <a:extLst>
              <a:ext uri="{FF2B5EF4-FFF2-40B4-BE49-F238E27FC236}">
                <a16:creationId xmlns:a16="http://schemas.microsoft.com/office/drawing/2014/main" id="{8FBF3244-128C-4DB7-85DF-3477E8DA3338}"/>
              </a:ext>
            </a:extLst>
          </p:cNvPr>
          <p:cNvCxnSpPr>
            <a:cxnSpLocks noChangeShapeType="1"/>
            <a:endCxn id="38" idx="5"/>
          </p:cNvCxnSpPr>
          <p:nvPr/>
        </p:nvCxnSpPr>
        <p:spPr bwMode="auto">
          <a:xfrm flipH="1" flipV="1">
            <a:off x="3685857" y="4017270"/>
            <a:ext cx="338486" cy="1265306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3" name="AutoShape 128">
            <a:extLst>
              <a:ext uri="{FF2B5EF4-FFF2-40B4-BE49-F238E27FC236}">
                <a16:creationId xmlns:a16="http://schemas.microsoft.com/office/drawing/2014/main" id="{3A75E683-928C-474B-BA7D-7EA03D816352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165213" y="4041971"/>
            <a:ext cx="196357" cy="437101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" name="AutoShape 128">
            <a:extLst>
              <a:ext uri="{FF2B5EF4-FFF2-40B4-BE49-F238E27FC236}">
                <a16:creationId xmlns:a16="http://schemas.microsoft.com/office/drawing/2014/main" id="{9EBD447B-E07D-48C0-BA8D-32C364038CEB}"/>
              </a:ext>
            </a:extLst>
          </p:cNvPr>
          <p:cNvCxnSpPr>
            <a:cxnSpLocks noChangeShapeType="1"/>
            <a:endCxn id="37" idx="3"/>
          </p:cNvCxnSpPr>
          <p:nvPr/>
        </p:nvCxnSpPr>
        <p:spPr bwMode="auto">
          <a:xfrm flipV="1">
            <a:off x="1287731" y="4138389"/>
            <a:ext cx="314326" cy="115308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7" name="AutoShape 128">
            <a:extLst>
              <a:ext uri="{FF2B5EF4-FFF2-40B4-BE49-F238E27FC236}">
                <a16:creationId xmlns:a16="http://schemas.microsoft.com/office/drawing/2014/main" id="{26532F88-A7C4-47A9-A24D-551617EDC0D5}"/>
              </a:ext>
            </a:extLst>
          </p:cNvPr>
          <p:cNvCxnSpPr>
            <a:cxnSpLocks noChangeShapeType="1"/>
            <a:stCxn id="35" idx="0"/>
            <a:endCxn id="37" idx="5"/>
          </p:cNvCxnSpPr>
          <p:nvPr/>
        </p:nvCxnSpPr>
        <p:spPr bwMode="auto">
          <a:xfrm flipH="1" flipV="1">
            <a:off x="1943307" y="4138389"/>
            <a:ext cx="223695" cy="286866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5F34E9DA-EC2B-46BB-9F60-F0CA2D5515D1}"/>
              </a:ext>
            </a:extLst>
          </p:cNvPr>
          <p:cNvSpPr txBox="1"/>
          <p:nvPr/>
        </p:nvSpPr>
        <p:spPr>
          <a:xfrm>
            <a:off x="5126182" y="2336263"/>
            <a:ext cx="41499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sz="2400" i="1" dirty="0" err="1">
                <a:latin typeface="Times New Roman" panose="02020603050405020304" pitchFamily="18" charset="0"/>
              </a:rPr>
              <a:t>lcp</a:t>
            </a:r>
            <a:r>
              <a:rPr lang="en-US" altLang="zh-TW" sz="2400" dirty="0">
                <a:latin typeface="Times New Roman" panose="02020603050405020304" pitchFamily="18" charset="0"/>
              </a:rPr>
              <a:t>(S6, S2) = 1, </a:t>
            </a:r>
            <a:r>
              <a:rPr lang="en-US" altLang="zh-TW" sz="2400" i="1" dirty="0">
                <a:latin typeface="Times New Roman" panose="02020603050405020304" pitchFamily="18" charset="0"/>
              </a:rPr>
              <a:t>min</a:t>
            </a:r>
            <a:r>
              <a:rPr lang="en-US" altLang="zh-TW" sz="2400" dirty="0">
                <a:latin typeface="Times New Roman" panose="02020603050405020304" pitchFamily="18" charset="0"/>
              </a:rPr>
              <a:t>{1, 3} = 1</a:t>
            </a:r>
          </a:p>
        </p:txBody>
      </p:sp>
      <p:cxnSp>
        <p:nvCxnSpPr>
          <p:cNvPr id="65" name="AutoShape 139">
            <a:extLst>
              <a:ext uri="{FF2B5EF4-FFF2-40B4-BE49-F238E27FC236}">
                <a16:creationId xmlns:a16="http://schemas.microsoft.com/office/drawing/2014/main" id="{1CD4B252-835F-428D-8457-5FF6D428D17C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2294157" y="4825986"/>
            <a:ext cx="187428" cy="476874"/>
          </a:xfrm>
          <a:prstGeom prst="straightConnector1">
            <a:avLst/>
          </a:prstGeom>
          <a:noFill/>
          <a:ln w="317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7" name="AutoShape 139">
            <a:extLst>
              <a:ext uri="{FF2B5EF4-FFF2-40B4-BE49-F238E27FC236}">
                <a16:creationId xmlns:a16="http://schemas.microsoft.com/office/drawing/2014/main" id="{64FE7F64-9E12-4F60-A2D9-414717747347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876668" y="4823647"/>
            <a:ext cx="145903" cy="467824"/>
          </a:xfrm>
          <a:prstGeom prst="straightConnector1">
            <a:avLst/>
          </a:prstGeom>
          <a:noFill/>
          <a:ln w="317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2" name="矩形 71">
            <a:extLst>
              <a:ext uri="{FF2B5EF4-FFF2-40B4-BE49-F238E27FC236}">
                <a16:creationId xmlns:a16="http://schemas.microsoft.com/office/drawing/2014/main" id="{D2AAEA55-A050-4A5D-921C-4139E8C715BF}"/>
              </a:ext>
            </a:extLst>
          </p:cNvPr>
          <p:cNvSpPr/>
          <p:nvPr/>
        </p:nvSpPr>
        <p:spPr>
          <a:xfrm>
            <a:off x="5126182" y="3453806"/>
            <a:ext cx="671351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dirty="0" err="1">
                <a:latin typeface="Times New Roman" panose="02020603050405020304" pitchFamily="18" charset="0"/>
                <a:sym typeface="Wingdings" panose="05000000000000000000" pitchFamily="2" charset="2"/>
              </a:rPr>
              <a:t>Constructed:</a:t>
            </a:r>
            <a:r>
              <a:rPr lang="en-US" altLang="zh-TW" sz="2400" i="1" dirty="0" err="1">
                <a:latin typeface="Times New Roman" panose="02020603050405020304" pitchFamily="18" charset="0"/>
                <a:sym typeface="Wingdings" panose="05000000000000000000" pitchFamily="2" charset="2"/>
              </a:rPr>
              <a:t>O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en-US" altLang="zh-TW" sz="2400" i="1" dirty="0">
                <a:latin typeface="Times New Roman" panose="02020603050405020304" pitchFamily="18" charset="0"/>
                <a:sym typeface="Wingdings" panose="05000000000000000000" pitchFamily="2" charset="2"/>
              </a:rPr>
              <a:t>N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) 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Find the smallest element in given interval :</a:t>
            </a:r>
            <a:r>
              <a:rPr lang="en-US" altLang="zh-TW" sz="2400" i="1" dirty="0">
                <a:latin typeface="Times New Roman" panose="02020603050405020304" pitchFamily="18" charset="0"/>
                <a:sym typeface="Wingdings" panose="05000000000000000000" pitchFamily="2" charset="2"/>
              </a:rPr>
              <a:t>O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en-US" altLang="zh-TW" sz="2400" i="1" dirty="0" err="1">
                <a:latin typeface="Times New Roman" panose="02020603050405020304" pitchFamily="18" charset="0"/>
                <a:sym typeface="Wingdings" panose="05000000000000000000" pitchFamily="2" charset="2"/>
              </a:rPr>
              <a:t>logN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).</a:t>
            </a:r>
            <a:endParaRPr lang="zh-TW" altLang="en-US" sz="2400" dirty="0"/>
          </a:p>
        </p:txBody>
      </p:sp>
      <p:graphicFrame>
        <p:nvGraphicFramePr>
          <p:cNvPr id="73" name="Group 122">
            <a:extLst>
              <a:ext uri="{FF2B5EF4-FFF2-40B4-BE49-F238E27FC236}">
                <a16:creationId xmlns:a16="http://schemas.microsoft.com/office/drawing/2014/main" id="{DFD6154A-8942-494D-B6A4-55388CEE11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1928901"/>
              </p:ext>
            </p:extLst>
          </p:nvPr>
        </p:nvGraphicFramePr>
        <p:xfrm>
          <a:off x="1033154" y="5291471"/>
          <a:ext cx="3312425" cy="491318"/>
        </p:xfrm>
        <a:graphic>
          <a:graphicData uri="http://schemas.openxmlformats.org/drawingml/2006/table">
            <a:tbl>
              <a:tblPr/>
              <a:tblGrid>
                <a:gridCol w="553804">
                  <a:extLst>
                    <a:ext uri="{9D8B030D-6E8A-4147-A177-3AD203B41FA5}">
                      <a16:colId xmlns:a16="http://schemas.microsoft.com/office/drawing/2014/main" val="272169450"/>
                    </a:ext>
                  </a:extLst>
                </a:gridCol>
                <a:gridCol w="549644">
                  <a:extLst>
                    <a:ext uri="{9D8B030D-6E8A-4147-A177-3AD203B41FA5}">
                      <a16:colId xmlns:a16="http://schemas.microsoft.com/office/drawing/2014/main" val="340376348"/>
                    </a:ext>
                  </a:extLst>
                </a:gridCol>
                <a:gridCol w="551725">
                  <a:extLst>
                    <a:ext uri="{9D8B030D-6E8A-4147-A177-3AD203B41FA5}">
                      <a16:colId xmlns:a16="http://schemas.microsoft.com/office/drawing/2014/main" val="2460907806"/>
                    </a:ext>
                  </a:extLst>
                </a:gridCol>
                <a:gridCol w="549644">
                  <a:extLst>
                    <a:ext uri="{9D8B030D-6E8A-4147-A177-3AD203B41FA5}">
                      <a16:colId xmlns:a16="http://schemas.microsoft.com/office/drawing/2014/main" val="705311155"/>
                    </a:ext>
                  </a:extLst>
                </a:gridCol>
                <a:gridCol w="553804">
                  <a:extLst>
                    <a:ext uri="{9D8B030D-6E8A-4147-A177-3AD203B41FA5}">
                      <a16:colId xmlns:a16="http://schemas.microsoft.com/office/drawing/2014/main" val="3735688499"/>
                    </a:ext>
                  </a:extLst>
                </a:gridCol>
                <a:gridCol w="553804">
                  <a:extLst>
                    <a:ext uri="{9D8B030D-6E8A-4147-A177-3AD203B41FA5}">
                      <a16:colId xmlns:a16="http://schemas.microsoft.com/office/drawing/2014/main" val="1899401468"/>
                    </a:ext>
                  </a:extLst>
                </a:gridCol>
              </a:tblGrid>
              <a:tr h="49131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2594787"/>
                  </a:ext>
                </a:extLst>
              </a:tr>
            </a:tbl>
          </a:graphicData>
        </a:graphic>
      </p:graphicFrame>
      <p:cxnSp>
        <p:nvCxnSpPr>
          <p:cNvPr id="80" name="AutoShape 128">
            <a:extLst>
              <a:ext uri="{FF2B5EF4-FFF2-40B4-BE49-F238E27FC236}">
                <a16:creationId xmlns:a16="http://schemas.microsoft.com/office/drawing/2014/main" id="{F5F11562-2FA1-4563-9012-0CB9A886CECA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2850078" y="2842357"/>
            <a:ext cx="647551" cy="7978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2" name="AutoShape 128">
            <a:extLst>
              <a:ext uri="{FF2B5EF4-FFF2-40B4-BE49-F238E27FC236}">
                <a16:creationId xmlns:a16="http://schemas.microsoft.com/office/drawing/2014/main" id="{F6C5FCD3-A89B-4456-AE10-5090BF06C1F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828373" y="2842357"/>
            <a:ext cx="594359" cy="92746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5" name="Oval 96">
            <a:extLst>
              <a:ext uri="{FF2B5EF4-FFF2-40B4-BE49-F238E27FC236}">
                <a16:creationId xmlns:a16="http://schemas.microsoft.com/office/drawing/2014/main" id="{E1C571F3-4657-429C-882B-6763B56B6D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5105" y="2514642"/>
            <a:ext cx="482600" cy="4318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lang="en-US" altLang="zh-TW" sz="1600" dirty="0">
                <a:latin typeface="Times New Roman" panose="02020603050405020304" pitchFamily="18" charset="0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8401793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0B080-40A9-0452-F337-14B8FB19B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78B807-FA0D-8259-20D3-817AE76481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2520" y="2357258"/>
            <a:ext cx="6606960" cy="3424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7498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FADDD41-AC32-447C-A2BE-B8366926BA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29000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zh-TW" sz="3600" b="1" dirty="0"/>
              <a:t>Thanks</a:t>
            </a:r>
            <a:endParaRPr lang="zh-TW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3937760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10364</TotalTime>
  <Words>1158</Words>
  <Application>Microsoft Office PowerPoint</Application>
  <PresentationFormat>Widescreen</PresentationFormat>
  <Paragraphs>506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Times New Roman</vt:lpstr>
      <vt:lpstr>Office 佈景主題</vt:lpstr>
      <vt:lpstr>SUFFIX ARRAYS: A NEW METHOD FOR ON-LINE STRING SEARCHES</vt:lpstr>
      <vt:lpstr>Abstract(1/2)</vt:lpstr>
      <vt:lpstr>Abstract (2/2)</vt:lpstr>
      <vt:lpstr>Suffix Array</vt:lpstr>
      <vt:lpstr>Longest Common Prefix</vt:lpstr>
      <vt:lpstr>Binary search W in A with lcp </vt:lpstr>
      <vt:lpstr>PowerPoint Presentation</vt:lpstr>
      <vt:lpstr>PowerPoint Presentation</vt:lpstr>
      <vt:lpstr>PowerPoint Presentation</vt:lpstr>
      <vt:lpstr>Algorithm(Lw)</vt:lpstr>
      <vt:lpstr>Improvement</vt:lpstr>
      <vt:lpstr>H-buckets</vt:lpstr>
      <vt:lpstr>H-buckets</vt:lpstr>
      <vt:lpstr>PowerPoint Presentation</vt:lpstr>
      <vt:lpstr>Time complexity</vt:lpstr>
      <vt:lpstr>Lcp</vt:lpstr>
      <vt:lpstr>Computing lcp</vt:lpstr>
      <vt:lpstr>Non-adjacent lcp</vt:lpstr>
      <vt:lpstr>Interval Tree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Binary Search Tree  Visualization Algorithm</dc:title>
  <dc:creator>奕勝 陳</dc:creator>
  <cp:lastModifiedBy>sheng</cp:lastModifiedBy>
  <cp:revision>216</cp:revision>
  <dcterms:created xsi:type="dcterms:W3CDTF">2024-09-28T10:43:42Z</dcterms:created>
  <dcterms:modified xsi:type="dcterms:W3CDTF">2025-02-25T10:25:44Z</dcterms:modified>
</cp:coreProperties>
</file>