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36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5143500" type="screen16x9"/>
  <p:notesSz cx="6858000" cy="9144000"/>
  <p:embeddedFontLst>
    <p:embeddedFont>
      <p:font typeface="Alata" panose="02020500000000000000" charset="0"/>
      <p:regular r:id="rId37"/>
    </p:embeddedFont>
    <p:embeddedFont>
      <p:font typeface="Archivo" panose="02020500000000000000" charset="0"/>
      <p:regular r:id="rId38"/>
      <p:bold r:id="rId39"/>
      <p:italic r:id="rId40"/>
      <p:bold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55B7E4-4FE5-4F31-844A-2B895DD374FC}">
  <a:tblStyle styleId="{6C55B7E4-4FE5-4F31-844A-2B895DD374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 autoAdjust="0"/>
    <p:restoredTop sz="81410" autoAdjust="0"/>
  </p:normalViewPr>
  <p:slideViewPr>
    <p:cSldViewPr snapToGrid="0">
      <p:cViewPr varScale="1">
        <p:scale>
          <a:sx n="75" d="100"/>
          <a:sy n="75" d="100"/>
        </p:scale>
        <p:origin x="15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 dirty="0"/>
              <a:t>GFS</a:t>
            </a:r>
            <a:r>
              <a:rPr lang="zh-TW" altLang="en-US" dirty="0"/>
              <a:t>和傳統分散式系統不一樣的地方</a:t>
            </a:r>
            <a:endParaRPr lang="en-US" altLang="zh-TW" dirty="0"/>
          </a:p>
          <a:p>
            <a:pPr marL="387350" indent="-228600">
              <a:buAutoNum type="arabicPeriod"/>
            </a:pPr>
            <a:r>
              <a:rPr lang="zh-TW" altLang="en-US" dirty="0"/>
              <a:t>發生錯誤是正常的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資料是用大檔案來儲存的， 檔案比傳統檔案大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檔案只會被附加在後面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4.</a:t>
            </a:r>
            <a:r>
              <a:rPr lang="zh-TW" altLang="en-US" dirty="0"/>
              <a:t> 大</a:t>
            </a:r>
            <a:r>
              <a:rPr lang="en-US" altLang="zh-TW" dirty="0"/>
              <a:t>bandwidth</a:t>
            </a:r>
            <a:r>
              <a:rPr lang="zh-TW" altLang="en-US" dirty="0"/>
              <a:t>比低延遲重要</a:t>
            </a: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主要是因為要處理</a:t>
            </a:r>
            <a:r>
              <a:rPr lang="en-US" altLang="zh-TW" dirty="0"/>
              <a:t>big data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3825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3585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6929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粗的箭頭是</a:t>
            </a:r>
            <a:r>
              <a:rPr lang="en-US" altLang="zh-TW" dirty="0"/>
              <a:t>read</a:t>
            </a:r>
            <a:r>
              <a:rPr lang="zh-TW" altLang="en-US" dirty="0"/>
              <a:t>操作</a:t>
            </a:r>
          </a:p>
        </p:txBody>
      </p:sp>
    </p:spTree>
    <p:extLst>
      <p:ext uri="{BB962C8B-B14F-4D97-AF65-F5344CB8AC3E}">
        <p14:creationId xmlns:p14="http://schemas.microsoft.com/office/powerpoint/2010/main" val="3956014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TW" dirty="0"/>
              <a:t>Metadata</a:t>
            </a:r>
            <a:r>
              <a:rPr lang="zh-TW" altLang="en-US" dirty="0"/>
              <a:t>的任何變動都會被記錄到</a:t>
            </a:r>
            <a:r>
              <a:rPr lang="en-US" altLang="zh-TW" dirty="0"/>
              <a:t>log</a:t>
            </a:r>
            <a:r>
              <a:rPr lang="zh-TW" altLang="en-US" dirty="0"/>
              <a:t>裡永久保存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Metadata</a:t>
            </a:r>
            <a:r>
              <a:rPr lang="zh-TW" altLang="en-US" dirty="0"/>
              <a:t>存在</a:t>
            </a:r>
            <a:r>
              <a:rPr lang="en-US" altLang="zh-TW" dirty="0"/>
              <a:t>memory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2986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當</a:t>
            </a:r>
            <a:r>
              <a:rPr lang="en-US" altLang="zh-TW" dirty="0"/>
              <a:t>client</a:t>
            </a:r>
            <a:r>
              <a:rPr lang="zh-TW" altLang="en-US" dirty="0"/>
              <a:t>要對</a:t>
            </a:r>
            <a:r>
              <a:rPr lang="en-US" altLang="zh-TW" dirty="0"/>
              <a:t>data</a:t>
            </a:r>
            <a:r>
              <a:rPr lang="zh-TW" altLang="en-US" dirty="0"/>
              <a:t>進行操作將一群</a:t>
            </a:r>
            <a:r>
              <a:rPr lang="en-US" altLang="zh-TW" dirty="0" err="1"/>
              <a:t>chunkserver</a:t>
            </a:r>
            <a:r>
              <a:rPr lang="zh-TW" altLang="en-US" dirty="0"/>
              <a:t>租給</a:t>
            </a:r>
            <a:r>
              <a:rPr lang="en-US" altLang="zh-TW" dirty="0"/>
              <a:t>client</a:t>
            </a:r>
            <a:r>
              <a:rPr lang="zh-TW" altLang="en-US" dirty="0"/>
              <a:t>使用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Primary</a:t>
            </a:r>
            <a:r>
              <a:rPr lang="zh-TW" altLang="en-US" dirty="0"/>
              <a:t>是這些</a:t>
            </a:r>
            <a:r>
              <a:rPr lang="en-US" altLang="zh-TW" dirty="0" err="1"/>
              <a:t>chunkserver</a:t>
            </a:r>
            <a:r>
              <a:rPr lang="zh-TW" altLang="en-US" dirty="0"/>
              <a:t>的</a:t>
            </a:r>
            <a:r>
              <a:rPr lang="en-US" altLang="zh-TW" dirty="0"/>
              <a:t>leader</a:t>
            </a:r>
          </a:p>
          <a:p>
            <a:pPr marL="158750" indent="0">
              <a:buNone/>
            </a:pPr>
            <a:r>
              <a:rPr lang="en-US" altLang="zh-TW" dirty="0"/>
              <a:t>Client</a:t>
            </a:r>
            <a:r>
              <a:rPr lang="zh-TW" altLang="en-US" dirty="0"/>
              <a:t>和 </a:t>
            </a:r>
            <a:r>
              <a:rPr lang="en-US" altLang="zh-TW" dirty="0"/>
              <a:t>primary</a:t>
            </a:r>
            <a:r>
              <a:rPr lang="zh-TW" altLang="en-US" dirty="0"/>
              <a:t>溝通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91361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 dirty="0"/>
              <a:t>Namespace tree </a:t>
            </a:r>
            <a:r>
              <a:rPr lang="zh-TW" altLang="en-US" dirty="0"/>
              <a:t>可以鎖定某個</a:t>
            </a:r>
            <a:r>
              <a:rPr lang="en-US" altLang="zh-TW" dirty="0"/>
              <a:t>branch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4927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Font typeface="Arial" panose="020B0604020202020204" pitchFamily="34" charset="0"/>
              <a:buNone/>
            </a:pPr>
            <a:r>
              <a:rPr lang="zh-TW" altLang="en-US" dirty="0"/>
              <a:t>複製副本數量不夠的</a:t>
            </a:r>
            <a:r>
              <a:rPr lang="en-US" altLang="zh-TW" dirty="0"/>
              <a:t>chunk</a:t>
            </a:r>
          </a:p>
          <a:p>
            <a:pPr marL="158750" indent="0">
              <a:buFont typeface="Arial" panose="020B0604020202020204" pitchFamily="34" charset="0"/>
              <a:buNone/>
            </a:pPr>
            <a:r>
              <a:rPr lang="zh-TW" altLang="en-US" dirty="0"/>
              <a:t>優先複製常用到的</a:t>
            </a:r>
            <a:r>
              <a:rPr lang="en-US" altLang="zh-TW" dirty="0"/>
              <a:t>chunk</a:t>
            </a:r>
          </a:p>
          <a:p>
            <a:pPr marL="158750" indent="0">
              <a:buFont typeface="Arial" panose="020B0604020202020204" pitchFamily="34" charset="0"/>
              <a:buNone/>
            </a:pPr>
            <a:r>
              <a:rPr lang="zh-TW" altLang="en-US" dirty="0"/>
              <a:t>優先複製成為瓶頸的</a:t>
            </a:r>
            <a:r>
              <a:rPr lang="en-US" altLang="zh-TW" dirty="0"/>
              <a:t>chunk</a:t>
            </a:r>
          </a:p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0317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0812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容錯與診斷</a:t>
            </a:r>
          </a:p>
        </p:txBody>
      </p:sp>
    </p:spTree>
    <p:extLst>
      <p:ext uri="{BB962C8B-B14F-4D97-AF65-F5344CB8AC3E}">
        <p14:creationId xmlns:p14="http://schemas.microsoft.com/office/powerpoint/2010/main" val="520088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影子</a:t>
            </a:r>
            <a:r>
              <a:rPr lang="en-US" altLang="zh-TW" dirty="0"/>
              <a:t>master</a:t>
            </a:r>
          </a:p>
          <a:p>
            <a:pPr marL="158750" indent="0">
              <a:buNone/>
            </a:pPr>
            <a:r>
              <a:rPr lang="en-US" altLang="zh-TW" dirty="0"/>
              <a:t>Master</a:t>
            </a:r>
            <a:r>
              <a:rPr lang="zh-TW" altLang="en-US" dirty="0"/>
              <a:t>邏輯上只有一個，但是可以有備份</a:t>
            </a:r>
          </a:p>
        </p:txBody>
      </p:sp>
    </p:spTree>
    <p:extLst>
      <p:ext uri="{BB962C8B-B14F-4D97-AF65-F5344CB8AC3E}">
        <p14:creationId xmlns:p14="http://schemas.microsoft.com/office/powerpoint/2010/main" val="2693377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9799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容錯與診斷</a:t>
            </a:r>
          </a:p>
        </p:txBody>
      </p:sp>
    </p:spTree>
    <p:extLst>
      <p:ext uri="{BB962C8B-B14F-4D97-AF65-F5344CB8AC3E}">
        <p14:creationId xmlns:p14="http://schemas.microsoft.com/office/powerpoint/2010/main" val="3758456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花了很多心思讓</a:t>
            </a:r>
            <a:r>
              <a:rPr lang="en-US" altLang="zh-TW" dirty="0"/>
              <a:t>client</a:t>
            </a:r>
            <a:r>
              <a:rPr lang="zh-TW" altLang="en-US" dirty="0"/>
              <a:t>跟</a:t>
            </a:r>
            <a:r>
              <a:rPr lang="en-US" altLang="zh-TW" dirty="0"/>
              <a:t>master</a:t>
            </a:r>
            <a:r>
              <a:rPr lang="zh-TW" altLang="en-US" dirty="0"/>
              <a:t>溝通的時間變少</a:t>
            </a:r>
          </a:p>
        </p:txBody>
      </p:sp>
    </p:spTree>
    <p:extLst>
      <p:ext uri="{BB962C8B-B14F-4D97-AF65-F5344CB8AC3E}">
        <p14:creationId xmlns:p14="http://schemas.microsoft.com/office/powerpoint/2010/main" val="1350385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 dirty="0"/>
              <a:t>Metadata</a:t>
            </a:r>
            <a:r>
              <a:rPr lang="zh-TW" altLang="en-US" dirty="0"/>
              <a:t>佔太多</a:t>
            </a:r>
            <a:r>
              <a:rPr lang="en-US" altLang="zh-TW" dirty="0"/>
              <a:t>memory</a:t>
            </a:r>
          </a:p>
          <a:p>
            <a:pPr marL="158750" indent="0">
              <a:buNone/>
            </a:pPr>
            <a:r>
              <a:rPr lang="zh-TW" altLang="en-US" dirty="0"/>
              <a:t>只有一個</a:t>
            </a:r>
            <a:r>
              <a:rPr lang="en-US" altLang="zh-TW" dirty="0"/>
              <a:t>master</a:t>
            </a:r>
            <a:r>
              <a:rPr lang="zh-TW" altLang="en-US" dirty="0"/>
              <a:t>負擔太大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garbage</a:t>
            </a:r>
            <a:r>
              <a:rPr lang="zh-TW" altLang="en-US" dirty="0"/>
              <a:t>回收沒效率</a:t>
            </a:r>
            <a:endParaRPr lang="en-US" altLang="zh-TW" dirty="0"/>
          </a:p>
          <a:p>
            <a:pPr marL="158750" indent="0">
              <a:buNone/>
            </a:pPr>
            <a:r>
              <a:rPr lang="zh-TW" altLang="en-US"/>
              <a:t>一致性太差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907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3600" y="202350"/>
            <a:ext cx="57066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1657350"/>
            <a:ext cx="40233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984250" y="2952750"/>
            <a:ext cx="3370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4789250" y="2952750"/>
            <a:ext cx="33705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idx="3"/>
          </p:nvPr>
        </p:nvSpPr>
        <p:spPr>
          <a:xfrm>
            <a:off x="984250" y="2571750"/>
            <a:ext cx="3370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4"/>
          </p:nvPr>
        </p:nvSpPr>
        <p:spPr>
          <a:xfrm>
            <a:off x="4789250" y="2571750"/>
            <a:ext cx="3370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20000" y="1192500"/>
            <a:ext cx="41148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720000" y="1665000"/>
            <a:ext cx="4114800" cy="22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marL="1371600" lvl="2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marL="3200400" lvl="6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marL="3657600" lvl="7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marL="4114800" lvl="8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20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720000" y="1558475"/>
            <a:ext cx="7704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8281404" y="4364064"/>
            <a:ext cx="740520" cy="478869"/>
            <a:chOff x="3932929" y="945489"/>
            <a:chExt cx="740520" cy="478869"/>
          </a:xfrm>
        </p:grpSpPr>
        <p:grpSp>
          <p:nvGrpSpPr>
            <p:cNvPr id="62" name="Google Shape;62;p15"/>
            <p:cNvGrpSpPr/>
            <p:nvPr/>
          </p:nvGrpSpPr>
          <p:grpSpPr>
            <a:xfrm>
              <a:off x="3932929" y="945489"/>
              <a:ext cx="740520" cy="123069"/>
              <a:chOff x="3932929" y="945489"/>
              <a:chExt cx="740520" cy="123069"/>
            </a:xfrm>
          </p:grpSpPr>
          <p:sp>
            <p:nvSpPr>
              <p:cNvPr id="63" name="Google Shape;63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" name="Google Shape;66;p15"/>
            <p:cNvGrpSpPr/>
            <p:nvPr/>
          </p:nvGrpSpPr>
          <p:grpSpPr>
            <a:xfrm>
              <a:off x="3932929" y="1123389"/>
              <a:ext cx="740520" cy="123069"/>
              <a:chOff x="3932929" y="945489"/>
              <a:chExt cx="740520" cy="123069"/>
            </a:xfrm>
          </p:grpSpPr>
          <p:sp>
            <p:nvSpPr>
              <p:cNvPr id="67" name="Google Shape;67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15"/>
            <p:cNvGrpSpPr/>
            <p:nvPr/>
          </p:nvGrpSpPr>
          <p:grpSpPr>
            <a:xfrm>
              <a:off x="3932929" y="1301289"/>
              <a:ext cx="740520" cy="123069"/>
              <a:chOff x="3932929" y="945489"/>
              <a:chExt cx="740520" cy="123069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3932929" y="945489"/>
                <a:ext cx="74052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21788" h="3621" extrusionOk="0">
                    <a:moveTo>
                      <a:pt x="1814" y="1"/>
                    </a:moveTo>
                    <a:cubicBezTo>
                      <a:pt x="816" y="1"/>
                      <a:pt x="0" y="808"/>
                      <a:pt x="0" y="1815"/>
                    </a:cubicBezTo>
                    <a:cubicBezTo>
                      <a:pt x="0" y="2813"/>
                      <a:pt x="816" y="3620"/>
                      <a:pt x="1814" y="3620"/>
                    </a:cubicBezTo>
                    <a:lnTo>
                      <a:pt x="19965" y="3620"/>
                    </a:lnTo>
                    <a:cubicBezTo>
                      <a:pt x="20980" y="3620"/>
                      <a:pt x="21788" y="2813"/>
                      <a:pt x="21779" y="1815"/>
                    </a:cubicBezTo>
                    <a:cubicBezTo>
                      <a:pt x="21779" y="808"/>
                      <a:pt x="20963" y="1"/>
                      <a:pt x="19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933200" y="945489"/>
                <a:ext cx="151380" cy="123069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3621" extrusionOk="0">
                    <a:moveTo>
                      <a:pt x="1815" y="1"/>
                    </a:moveTo>
                    <a:cubicBezTo>
                      <a:pt x="817" y="1"/>
                      <a:pt x="1" y="808"/>
                      <a:pt x="1" y="1815"/>
                    </a:cubicBezTo>
                    <a:cubicBezTo>
                      <a:pt x="1" y="2813"/>
                      <a:pt x="817" y="3620"/>
                      <a:pt x="1815" y="3620"/>
                    </a:cubicBezTo>
                    <a:lnTo>
                      <a:pt x="2640" y="3620"/>
                    </a:lnTo>
                    <a:cubicBezTo>
                      <a:pt x="3638" y="3620"/>
                      <a:pt x="4454" y="2813"/>
                      <a:pt x="4454" y="1815"/>
                    </a:cubicBezTo>
                    <a:cubicBezTo>
                      <a:pt x="4454" y="808"/>
                      <a:pt x="3638" y="1"/>
                      <a:pt x="26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25575" y="990626"/>
                <a:ext cx="470285" cy="34837"/>
              </a:xfrm>
              <a:custGeom>
                <a:avLst/>
                <a:gdLst/>
                <a:ahLst/>
                <a:cxnLst/>
                <a:rect l="l" t="t" r="r" b="b"/>
                <a:pathLst>
                  <a:path w="13837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13837" y="1025"/>
                    </a:lnTo>
                    <a:lnTo>
                      <a:pt x="138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233600" y="202350"/>
            <a:ext cx="8676900" cy="473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/>
          <p:nvPr/>
        </p:nvSpPr>
        <p:spPr>
          <a:xfrm flipH="1">
            <a:off x="508594" y="4014123"/>
            <a:ext cx="719583" cy="713534"/>
          </a:xfrm>
          <a:custGeom>
            <a:avLst/>
            <a:gdLst/>
            <a:ahLst/>
            <a:cxnLst/>
            <a:rect l="l" t="t" r="r" b="b"/>
            <a:pathLst>
              <a:path w="21172" h="20994" extrusionOk="0">
                <a:moveTo>
                  <a:pt x="10557" y="5287"/>
                </a:moveTo>
                <a:cubicBezTo>
                  <a:pt x="10729" y="5287"/>
                  <a:pt x="10902" y="5296"/>
                  <a:pt x="11076" y="5315"/>
                </a:cubicBezTo>
                <a:cubicBezTo>
                  <a:pt x="14279" y="5662"/>
                  <a:pt x="16345" y="8822"/>
                  <a:pt x="15373" y="11877"/>
                </a:cubicBezTo>
                <a:cubicBezTo>
                  <a:pt x="14714" y="13983"/>
                  <a:pt x="12722" y="15412"/>
                  <a:pt x="10550" y="15412"/>
                </a:cubicBezTo>
                <a:cubicBezTo>
                  <a:pt x="10376" y="15412"/>
                  <a:pt x="10201" y="15403"/>
                  <a:pt x="10026" y="15384"/>
                </a:cubicBezTo>
                <a:cubicBezTo>
                  <a:pt x="6823" y="15037"/>
                  <a:pt x="4766" y="11877"/>
                  <a:pt x="5729" y="8822"/>
                </a:cubicBezTo>
                <a:cubicBezTo>
                  <a:pt x="6397" y="6723"/>
                  <a:pt x="8390" y="5287"/>
                  <a:pt x="10557" y="5287"/>
                </a:cubicBezTo>
                <a:close/>
                <a:moveTo>
                  <a:pt x="12003" y="0"/>
                </a:moveTo>
                <a:cubicBezTo>
                  <a:pt x="11564" y="0"/>
                  <a:pt x="11175" y="302"/>
                  <a:pt x="11076" y="749"/>
                </a:cubicBezTo>
                <a:lnTo>
                  <a:pt x="10903" y="1582"/>
                </a:lnTo>
                <a:cubicBezTo>
                  <a:pt x="10842" y="1921"/>
                  <a:pt x="10547" y="2155"/>
                  <a:pt x="10199" y="2181"/>
                </a:cubicBezTo>
                <a:cubicBezTo>
                  <a:pt x="9366" y="2216"/>
                  <a:pt x="8542" y="2372"/>
                  <a:pt x="7769" y="2659"/>
                </a:cubicBezTo>
                <a:cubicBezTo>
                  <a:pt x="7686" y="2690"/>
                  <a:pt x="7599" y="2705"/>
                  <a:pt x="7513" y="2705"/>
                </a:cubicBezTo>
                <a:cubicBezTo>
                  <a:pt x="7267" y="2705"/>
                  <a:pt x="7027" y="2582"/>
                  <a:pt x="6892" y="2364"/>
                </a:cubicBezTo>
                <a:lnTo>
                  <a:pt x="6450" y="1678"/>
                </a:lnTo>
                <a:cubicBezTo>
                  <a:pt x="6268" y="1403"/>
                  <a:pt x="5969" y="1257"/>
                  <a:pt x="5664" y="1257"/>
                </a:cubicBezTo>
                <a:cubicBezTo>
                  <a:pt x="5487" y="1257"/>
                  <a:pt x="5307" y="1307"/>
                  <a:pt x="5148" y="1409"/>
                </a:cubicBezTo>
                <a:lnTo>
                  <a:pt x="4323" y="1956"/>
                </a:lnTo>
                <a:cubicBezTo>
                  <a:pt x="3889" y="2233"/>
                  <a:pt x="3767" y="2824"/>
                  <a:pt x="4045" y="3258"/>
                </a:cubicBezTo>
                <a:lnTo>
                  <a:pt x="4852" y="4482"/>
                </a:lnTo>
                <a:cubicBezTo>
                  <a:pt x="4132" y="5176"/>
                  <a:pt x="3542" y="6009"/>
                  <a:pt x="3116" y="6947"/>
                </a:cubicBezTo>
                <a:cubicBezTo>
                  <a:pt x="2998" y="7213"/>
                  <a:pt x="2728" y="7379"/>
                  <a:pt x="2441" y="7379"/>
                </a:cubicBezTo>
                <a:cubicBezTo>
                  <a:pt x="2392" y="7379"/>
                  <a:pt x="2342" y="7374"/>
                  <a:pt x="2292" y="7363"/>
                </a:cubicBezTo>
                <a:lnTo>
                  <a:pt x="1432" y="7190"/>
                </a:lnTo>
                <a:cubicBezTo>
                  <a:pt x="1367" y="7177"/>
                  <a:pt x="1303" y="7170"/>
                  <a:pt x="1239" y="7170"/>
                </a:cubicBezTo>
                <a:cubicBezTo>
                  <a:pt x="801" y="7170"/>
                  <a:pt x="411" y="7472"/>
                  <a:pt x="313" y="7919"/>
                </a:cubicBezTo>
                <a:lnTo>
                  <a:pt x="113" y="8882"/>
                </a:lnTo>
                <a:cubicBezTo>
                  <a:pt x="0" y="9395"/>
                  <a:pt x="330" y="9898"/>
                  <a:pt x="833" y="10002"/>
                </a:cubicBezTo>
                <a:lnTo>
                  <a:pt x="1788" y="10202"/>
                </a:lnTo>
                <a:cubicBezTo>
                  <a:pt x="2118" y="10263"/>
                  <a:pt x="2353" y="10549"/>
                  <a:pt x="2379" y="10879"/>
                </a:cubicBezTo>
                <a:cubicBezTo>
                  <a:pt x="2431" y="11686"/>
                  <a:pt x="2604" y="12467"/>
                  <a:pt x="2873" y="13205"/>
                </a:cubicBezTo>
                <a:cubicBezTo>
                  <a:pt x="2995" y="13526"/>
                  <a:pt x="2873" y="13900"/>
                  <a:pt x="2587" y="14091"/>
                </a:cubicBezTo>
                <a:lnTo>
                  <a:pt x="1762" y="14637"/>
                </a:lnTo>
                <a:cubicBezTo>
                  <a:pt x="1328" y="14915"/>
                  <a:pt x="1207" y="15505"/>
                  <a:pt x="1484" y="15940"/>
                </a:cubicBezTo>
                <a:lnTo>
                  <a:pt x="2031" y="16764"/>
                </a:lnTo>
                <a:cubicBezTo>
                  <a:pt x="2207" y="17039"/>
                  <a:pt x="2508" y="17185"/>
                  <a:pt x="2815" y="17185"/>
                </a:cubicBezTo>
                <a:cubicBezTo>
                  <a:pt x="2993" y="17185"/>
                  <a:pt x="3174" y="17135"/>
                  <a:pt x="3333" y="17033"/>
                </a:cubicBezTo>
                <a:lnTo>
                  <a:pt x="4253" y="16426"/>
                </a:lnTo>
                <a:cubicBezTo>
                  <a:pt x="4378" y="16346"/>
                  <a:pt x="4518" y="16308"/>
                  <a:pt x="4656" y="16308"/>
                </a:cubicBezTo>
                <a:cubicBezTo>
                  <a:pt x="4836" y="16308"/>
                  <a:pt x="5014" y="16372"/>
                  <a:pt x="5156" y="16495"/>
                </a:cubicBezTo>
                <a:cubicBezTo>
                  <a:pt x="5729" y="16990"/>
                  <a:pt x="6371" y="17415"/>
                  <a:pt x="7075" y="17745"/>
                </a:cubicBezTo>
                <a:cubicBezTo>
                  <a:pt x="7387" y="17901"/>
                  <a:pt x="7561" y="18240"/>
                  <a:pt x="7491" y="18570"/>
                </a:cubicBezTo>
                <a:lnTo>
                  <a:pt x="7257" y="19646"/>
                </a:lnTo>
                <a:cubicBezTo>
                  <a:pt x="7153" y="20158"/>
                  <a:pt x="7474" y="20653"/>
                  <a:pt x="7986" y="20766"/>
                </a:cubicBezTo>
                <a:lnTo>
                  <a:pt x="8950" y="20974"/>
                </a:lnTo>
                <a:cubicBezTo>
                  <a:pt x="9014" y="20987"/>
                  <a:pt x="9079" y="20994"/>
                  <a:pt x="9143" y="20994"/>
                </a:cubicBezTo>
                <a:cubicBezTo>
                  <a:pt x="9583" y="20994"/>
                  <a:pt x="9978" y="20692"/>
                  <a:pt x="10069" y="20245"/>
                </a:cubicBezTo>
                <a:lnTo>
                  <a:pt x="10312" y="19108"/>
                </a:lnTo>
                <a:cubicBezTo>
                  <a:pt x="10373" y="18778"/>
                  <a:pt x="10660" y="18526"/>
                  <a:pt x="10989" y="18518"/>
                </a:cubicBezTo>
                <a:cubicBezTo>
                  <a:pt x="11753" y="18474"/>
                  <a:pt x="12500" y="18327"/>
                  <a:pt x="13203" y="18075"/>
                </a:cubicBezTo>
                <a:cubicBezTo>
                  <a:pt x="13285" y="18047"/>
                  <a:pt x="13369" y="18033"/>
                  <a:pt x="13452" y="18033"/>
                </a:cubicBezTo>
                <a:cubicBezTo>
                  <a:pt x="13700" y="18033"/>
                  <a:pt x="13934" y="18155"/>
                  <a:pt x="14071" y="18370"/>
                </a:cubicBezTo>
                <a:lnTo>
                  <a:pt x="14696" y="19325"/>
                </a:lnTo>
                <a:cubicBezTo>
                  <a:pt x="14872" y="19599"/>
                  <a:pt x="15172" y="19745"/>
                  <a:pt x="15479" y="19745"/>
                </a:cubicBezTo>
                <a:cubicBezTo>
                  <a:pt x="15658" y="19745"/>
                  <a:pt x="15838" y="19696"/>
                  <a:pt x="15998" y="19594"/>
                </a:cubicBezTo>
                <a:lnTo>
                  <a:pt x="16822" y="19047"/>
                </a:lnTo>
                <a:cubicBezTo>
                  <a:pt x="17257" y="18769"/>
                  <a:pt x="17369" y="18179"/>
                  <a:pt x="17092" y="17745"/>
                </a:cubicBezTo>
                <a:lnTo>
                  <a:pt x="16458" y="16790"/>
                </a:lnTo>
                <a:cubicBezTo>
                  <a:pt x="16276" y="16512"/>
                  <a:pt x="16310" y="16130"/>
                  <a:pt x="16536" y="15879"/>
                </a:cubicBezTo>
                <a:cubicBezTo>
                  <a:pt x="17048" y="15332"/>
                  <a:pt x="17482" y="14690"/>
                  <a:pt x="17829" y="13995"/>
                </a:cubicBezTo>
                <a:cubicBezTo>
                  <a:pt x="17954" y="13738"/>
                  <a:pt x="18216" y="13580"/>
                  <a:pt x="18494" y="13580"/>
                </a:cubicBezTo>
                <a:cubicBezTo>
                  <a:pt x="18544" y="13580"/>
                  <a:pt x="18595" y="13585"/>
                  <a:pt x="18645" y="13596"/>
                </a:cubicBezTo>
                <a:lnTo>
                  <a:pt x="19704" y="13813"/>
                </a:lnTo>
                <a:cubicBezTo>
                  <a:pt x="19770" y="13824"/>
                  <a:pt x="19835" y="13830"/>
                  <a:pt x="19899" y="13830"/>
                </a:cubicBezTo>
                <a:cubicBezTo>
                  <a:pt x="20372" y="13830"/>
                  <a:pt x="20767" y="13527"/>
                  <a:pt x="20859" y="13075"/>
                </a:cubicBezTo>
                <a:lnTo>
                  <a:pt x="21058" y="12103"/>
                </a:lnTo>
                <a:cubicBezTo>
                  <a:pt x="21171" y="11599"/>
                  <a:pt x="20841" y="11096"/>
                  <a:pt x="20338" y="10992"/>
                </a:cubicBezTo>
                <a:lnTo>
                  <a:pt x="19314" y="10775"/>
                </a:lnTo>
                <a:cubicBezTo>
                  <a:pt x="18975" y="10705"/>
                  <a:pt x="18741" y="10419"/>
                  <a:pt x="18732" y="10063"/>
                </a:cubicBezTo>
                <a:cubicBezTo>
                  <a:pt x="18706" y="9264"/>
                  <a:pt x="18559" y="8483"/>
                  <a:pt x="18307" y="7745"/>
                </a:cubicBezTo>
                <a:cubicBezTo>
                  <a:pt x="18194" y="7424"/>
                  <a:pt x="18315" y="7068"/>
                  <a:pt x="18593" y="6886"/>
                </a:cubicBezTo>
                <a:lnTo>
                  <a:pt x="19401" y="6357"/>
                </a:lnTo>
                <a:cubicBezTo>
                  <a:pt x="19835" y="6079"/>
                  <a:pt x="19956" y="5488"/>
                  <a:pt x="19670" y="5054"/>
                </a:cubicBezTo>
                <a:lnTo>
                  <a:pt x="19131" y="4230"/>
                </a:lnTo>
                <a:cubicBezTo>
                  <a:pt x="18950" y="3955"/>
                  <a:pt x="18650" y="3806"/>
                  <a:pt x="18345" y="3806"/>
                </a:cubicBezTo>
                <a:cubicBezTo>
                  <a:pt x="18168" y="3806"/>
                  <a:pt x="17989" y="3856"/>
                  <a:pt x="17829" y="3961"/>
                </a:cubicBezTo>
                <a:lnTo>
                  <a:pt x="17057" y="4473"/>
                </a:lnTo>
                <a:cubicBezTo>
                  <a:pt x="16930" y="4551"/>
                  <a:pt x="16789" y="4590"/>
                  <a:pt x="16650" y="4590"/>
                </a:cubicBezTo>
                <a:cubicBezTo>
                  <a:pt x="16467" y="4590"/>
                  <a:pt x="16285" y="4523"/>
                  <a:pt x="16137" y="4395"/>
                </a:cubicBezTo>
                <a:cubicBezTo>
                  <a:pt x="15546" y="3839"/>
                  <a:pt x="14869" y="3370"/>
                  <a:pt x="14114" y="3006"/>
                </a:cubicBezTo>
                <a:cubicBezTo>
                  <a:pt x="13810" y="2850"/>
                  <a:pt x="13637" y="2520"/>
                  <a:pt x="13715" y="2181"/>
                </a:cubicBezTo>
                <a:lnTo>
                  <a:pt x="13889" y="1348"/>
                </a:lnTo>
                <a:cubicBezTo>
                  <a:pt x="14001" y="836"/>
                  <a:pt x="13672" y="332"/>
                  <a:pt x="13159" y="228"/>
                </a:cubicBezTo>
                <a:lnTo>
                  <a:pt x="12196" y="20"/>
                </a:lnTo>
                <a:cubicBezTo>
                  <a:pt x="12131" y="7"/>
                  <a:pt x="12066" y="0"/>
                  <a:pt x="1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 flipH="1">
            <a:off x="59412" y="3622693"/>
            <a:ext cx="811927" cy="753197"/>
            <a:chOff x="4932662" y="2251593"/>
            <a:chExt cx="811927" cy="753197"/>
          </a:xfrm>
        </p:grpSpPr>
        <p:sp>
          <p:nvSpPr>
            <p:cNvPr id="78" name="Google Shape;78;p16"/>
            <p:cNvSpPr/>
            <p:nvPr/>
          </p:nvSpPr>
          <p:spPr>
            <a:xfrm>
              <a:off x="4932662" y="2251593"/>
              <a:ext cx="811927" cy="753197"/>
            </a:xfrm>
            <a:custGeom>
              <a:avLst/>
              <a:gdLst/>
              <a:ahLst/>
              <a:cxnLst/>
              <a:rect l="l" t="t" r="r" b="b"/>
              <a:pathLst>
                <a:path w="23889" h="22161" extrusionOk="0">
                  <a:moveTo>
                    <a:pt x="278" y="0"/>
                  </a:moveTo>
                  <a:cubicBezTo>
                    <a:pt x="130" y="0"/>
                    <a:pt x="0" y="122"/>
                    <a:pt x="0" y="286"/>
                  </a:cubicBezTo>
                  <a:lnTo>
                    <a:pt x="0" y="21874"/>
                  </a:lnTo>
                  <a:cubicBezTo>
                    <a:pt x="0" y="22031"/>
                    <a:pt x="122" y="22161"/>
                    <a:pt x="278" y="22161"/>
                  </a:cubicBezTo>
                  <a:lnTo>
                    <a:pt x="23610" y="22161"/>
                  </a:lnTo>
                  <a:cubicBezTo>
                    <a:pt x="23758" y="22161"/>
                    <a:pt x="23888" y="22031"/>
                    <a:pt x="23888" y="21874"/>
                  </a:cubicBezTo>
                  <a:lnTo>
                    <a:pt x="23888" y="286"/>
                  </a:lnTo>
                  <a:cubicBezTo>
                    <a:pt x="23888" y="130"/>
                    <a:pt x="23775" y="0"/>
                    <a:pt x="2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968044" y="2360729"/>
              <a:ext cx="740826" cy="592436"/>
            </a:xfrm>
            <a:custGeom>
              <a:avLst/>
              <a:gdLst/>
              <a:ahLst/>
              <a:cxnLst/>
              <a:rect l="l" t="t" r="r" b="b"/>
              <a:pathLst>
                <a:path w="21797" h="17431" extrusionOk="0">
                  <a:moveTo>
                    <a:pt x="209" y="1"/>
                  </a:moveTo>
                  <a:cubicBezTo>
                    <a:pt x="96" y="1"/>
                    <a:pt x="1" y="88"/>
                    <a:pt x="1" y="209"/>
                  </a:cubicBezTo>
                  <a:lnTo>
                    <a:pt x="1" y="17222"/>
                  </a:lnTo>
                  <a:cubicBezTo>
                    <a:pt x="1" y="17335"/>
                    <a:pt x="88" y="17431"/>
                    <a:pt x="209" y="17431"/>
                  </a:cubicBezTo>
                  <a:lnTo>
                    <a:pt x="21588" y="17431"/>
                  </a:lnTo>
                  <a:cubicBezTo>
                    <a:pt x="21710" y="17431"/>
                    <a:pt x="21797" y="17335"/>
                    <a:pt x="21797" y="17222"/>
                  </a:cubicBezTo>
                  <a:lnTo>
                    <a:pt x="21797" y="209"/>
                  </a:lnTo>
                  <a:cubicBezTo>
                    <a:pt x="21797" y="105"/>
                    <a:pt x="21710" y="1"/>
                    <a:pt x="215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981334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0"/>
                    <a:pt x="0" y="617"/>
                  </a:cubicBezTo>
                  <a:cubicBezTo>
                    <a:pt x="0" y="956"/>
                    <a:pt x="269" y="1234"/>
                    <a:pt x="617" y="1234"/>
                  </a:cubicBezTo>
                  <a:cubicBezTo>
                    <a:pt x="955" y="1234"/>
                    <a:pt x="1233" y="964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5052709" y="2284901"/>
              <a:ext cx="42246" cy="41941"/>
            </a:xfrm>
            <a:custGeom>
              <a:avLst/>
              <a:gdLst/>
              <a:ahLst/>
              <a:cxnLst/>
              <a:rect l="l" t="t" r="r" b="b"/>
              <a:pathLst>
                <a:path w="1243" h="1234" extrusionOk="0">
                  <a:moveTo>
                    <a:pt x="617" y="1"/>
                  </a:moveTo>
                  <a:cubicBezTo>
                    <a:pt x="279" y="1"/>
                    <a:pt x="1" y="279"/>
                    <a:pt x="1" y="617"/>
                  </a:cubicBezTo>
                  <a:cubicBezTo>
                    <a:pt x="1" y="956"/>
                    <a:pt x="279" y="1234"/>
                    <a:pt x="617" y="1234"/>
                  </a:cubicBezTo>
                  <a:cubicBezTo>
                    <a:pt x="964" y="1234"/>
                    <a:pt x="1242" y="956"/>
                    <a:pt x="1242" y="617"/>
                  </a:cubicBezTo>
                  <a:cubicBezTo>
                    <a:pt x="1242" y="279"/>
                    <a:pt x="964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5124425" y="2284901"/>
              <a:ext cx="41907" cy="41941"/>
            </a:xfrm>
            <a:custGeom>
              <a:avLst/>
              <a:gdLst/>
              <a:ahLst/>
              <a:cxnLst/>
              <a:rect l="l" t="t" r="r" b="b"/>
              <a:pathLst>
                <a:path w="1233" h="1234" extrusionOk="0">
                  <a:moveTo>
                    <a:pt x="617" y="1"/>
                  </a:moveTo>
                  <a:cubicBezTo>
                    <a:pt x="278" y="1"/>
                    <a:pt x="0" y="279"/>
                    <a:pt x="0" y="617"/>
                  </a:cubicBezTo>
                  <a:cubicBezTo>
                    <a:pt x="0" y="956"/>
                    <a:pt x="278" y="1234"/>
                    <a:pt x="617" y="1234"/>
                  </a:cubicBezTo>
                  <a:cubicBezTo>
                    <a:pt x="955" y="1234"/>
                    <a:pt x="1233" y="956"/>
                    <a:pt x="1233" y="617"/>
                  </a:cubicBezTo>
                  <a:cubicBezTo>
                    <a:pt x="1233" y="279"/>
                    <a:pt x="955" y="1"/>
                    <a:pt x="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61" r:id="rId9"/>
    <p:sldLayoutId id="214748366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7D5646-863E-74CE-03E2-90BD60D6E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1657350"/>
            <a:ext cx="5132160" cy="1828800"/>
          </a:xfrm>
        </p:spPr>
        <p:txBody>
          <a:bodyPr/>
          <a:lstStyle/>
          <a:p>
            <a:r>
              <a:rPr lang="en-US" altLang="zh-TW" dirty="0"/>
              <a:t>The GOOGLE</a:t>
            </a:r>
            <a:br>
              <a:rPr lang="en-US" altLang="zh-TW" dirty="0"/>
            </a:br>
            <a:r>
              <a:rPr lang="en-US" altLang="zh-TW" dirty="0"/>
              <a:t>FILE SYSTEM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8FCA55-50F4-81E6-656D-0CBB94F7F075}"/>
              </a:ext>
            </a:extLst>
          </p:cNvPr>
          <p:cNvSpPr txBox="1"/>
          <p:nvPr/>
        </p:nvSpPr>
        <p:spPr>
          <a:xfrm>
            <a:off x="720000" y="3486150"/>
            <a:ext cx="8379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Sanjay Ghemawat, Howard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Gobioff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Shun-Tak Leung. 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Nineteenth ACM Symposium on Operating </a:t>
            </a: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Systems Principles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2003.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509CDCB-FEF1-7C65-B3AD-F1F7F22237C3}"/>
              </a:ext>
            </a:extLst>
          </p:cNvPr>
          <p:cNvSpPr txBox="1"/>
          <p:nvPr/>
        </p:nvSpPr>
        <p:spPr>
          <a:xfrm>
            <a:off x="6274813" y="4446093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Yen-Yu Chen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June 4, 2024</a:t>
            </a:r>
          </a:p>
        </p:txBody>
      </p:sp>
    </p:spTree>
    <p:extLst>
      <p:ext uri="{BB962C8B-B14F-4D97-AF65-F5344CB8AC3E}">
        <p14:creationId xmlns:p14="http://schemas.microsoft.com/office/powerpoint/2010/main" val="2264926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118F1DC9-0987-4CDE-D49A-F15ACD12FA8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20000" y="1315845"/>
            <a:ext cx="7783551" cy="349232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zh-TW" sz="2400" dirty="0"/>
              <a:t>Introduction</a:t>
            </a:r>
          </a:p>
          <a:p>
            <a:pPr marL="342900" indent="-342900">
              <a:buAutoNum type="arabicPeriod"/>
            </a:pPr>
            <a:r>
              <a:rPr lang="en-US" altLang="zh-TW" sz="2400" dirty="0"/>
              <a:t>Design</a:t>
            </a:r>
          </a:p>
          <a:p>
            <a:pPr marL="342900" indent="-342900">
              <a:buAutoNum type="arabicPeriod"/>
            </a:pPr>
            <a:r>
              <a:rPr lang="en-US" altLang="zh-TW" sz="2400" dirty="0"/>
              <a:t>System Interactions</a:t>
            </a:r>
          </a:p>
          <a:p>
            <a:pPr marL="342900" indent="-342900">
              <a:buAutoNum type="arabicPeriod"/>
            </a:pPr>
            <a:r>
              <a:rPr lang="en-US" altLang="zh-TW" sz="2400" dirty="0"/>
              <a:t>Master Operation</a:t>
            </a:r>
          </a:p>
          <a:p>
            <a:pPr marL="342900" indent="-342900">
              <a:buAutoNum type="arabicPeriod"/>
            </a:pPr>
            <a:r>
              <a:rPr lang="en-US" altLang="zh-TW" sz="2400" dirty="0"/>
              <a:t>Fault Tolerance and Diagnosis</a:t>
            </a:r>
          </a:p>
          <a:p>
            <a:pPr marL="342900" indent="-342900">
              <a:buAutoNum type="arabicPeriod"/>
            </a:pPr>
            <a:r>
              <a:rPr lang="en-US" altLang="zh-TW" sz="2400" dirty="0"/>
              <a:t>Measurements</a:t>
            </a:r>
          </a:p>
          <a:p>
            <a:pPr marL="342900" indent="-342900">
              <a:buAutoNum type="arabicPeriod"/>
            </a:pPr>
            <a:r>
              <a:rPr lang="en-US" altLang="zh-TW" sz="2400" dirty="0"/>
              <a:t>Conclusions</a:t>
            </a:r>
            <a:endParaRPr lang="zh-TW" altLang="en-US" sz="24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EC0BC73-5211-FA06-4280-4F7B158B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08639"/>
            <a:ext cx="7704000" cy="572700"/>
          </a:xfrm>
        </p:spPr>
        <p:txBody>
          <a:bodyPr/>
          <a:lstStyle/>
          <a:p>
            <a:r>
              <a:rPr lang="en-US" altLang="zh-TW" dirty="0"/>
              <a:t>Contents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4133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1. Introduction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6913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08960-6CFF-2F17-4AF9-4D71745BF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B97AF5-A5C1-67DF-BB81-258E48EF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dirty="0"/>
              <a:t>Previous Distributed File System</a:t>
            </a:r>
            <a:endParaRPr lang="zh-TW" altLang="en-US" sz="1800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63BB3BC-8B96-0975-CFB5-D12D9EF8F9D1}"/>
              </a:ext>
            </a:extLst>
          </p:cNvPr>
          <p:cNvSpPr/>
          <p:nvPr/>
        </p:nvSpPr>
        <p:spPr>
          <a:xfrm>
            <a:off x="884663" y="2407735"/>
            <a:ext cx="2160000" cy="2160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BE6D8B1-EB3C-4753-2E78-086E4EBDA09A}"/>
              </a:ext>
            </a:extLst>
          </p:cNvPr>
          <p:cNvSpPr/>
          <p:nvPr/>
        </p:nvSpPr>
        <p:spPr>
          <a:xfrm>
            <a:off x="2674800" y="2407735"/>
            <a:ext cx="2160000" cy="2160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B51C285-D971-6EFA-AF45-B7CD6591CDD8}"/>
              </a:ext>
            </a:extLst>
          </p:cNvPr>
          <p:cNvSpPr/>
          <p:nvPr/>
        </p:nvSpPr>
        <p:spPr>
          <a:xfrm>
            <a:off x="4309202" y="2407735"/>
            <a:ext cx="2160000" cy="2160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9B01BE2-5CD6-00A4-25AA-224E299D4D82}"/>
              </a:ext>
            </a:extLst>
          </p:cNvPr>
          <p:cNvSpPr/>
          <p:nvPr/>
        </p:nvSpPr>
        <p:spPr>
          <a:xfrm>
            <a:off x="6099339" y="2407735"/>
            <a:ext cx="2160000" cy="2160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CF07CA-82E2-6EDB-DB12-F9F50F968A32}"/>
              </a:ext>
            </a:extLst>
          </p:cNvPr>
          <p:cNvSpPr txBox="1"/>
          <p:nvPr/>
        </p:nvSpPr>
        <p:spPr>
          <a:xfrm>
            <a:off x="1079491" y="3303069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solidFill>
                  <a:srgbClr val="FFC000"/>
                </a:solidFill>
              </a:rPr>
              <a:t>Performance</a:t>
            </a:r>
            <a:endParaRPr lang="zh-TW" altLang="en-US" sz="1800" b="1" dirty="0">
              <a:solidFill>
                <a:srgbClr val="FFC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58B1704-D1E9-AA09-1D43-A3E1E9246F9F}"/>
              </a:ext>
            </a:extLst>
          </p:cNvPr>
          <p:cNvSpPr txBox="1"/>
          <p:nvPr/>
        </p:nvSpPr>
        <p:spPr>
          <a:xfrm>
            <a:off x="3044662" y="3303069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solidFill>
                  <a:srgbClr val="FFC000"/>
                </a:solidFill>
              </a:rPr>
              <a:t>Scalability</a:t>
            </a:r>
            <a:endParaRPr lang="zh-TW" altLang="en-US" sz="1800" b="1" dirty="0">
              <a:solidFill>
                <a:srgbClr val="FFC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EFFF97-3AFA-E680-D125-E09CBBF68309}"/>
              </a:ext>
            </a:extLst>
          </p:cNvPr>
          <p:cNvSpPr txBox="1"/>
          <p:nvPr/>
        </p:nvSpPr>
        <p:spPr>
          <a:xfrm>
            <a:off x="4829716" y="3303069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solidFill>
                  <a:srgbClr val="FFC000"/>
                </a:solidFill>
              </a:rPr>
              <a:t>Reliability</a:t>
            </a:r>
            <a:endParaRPr lang="zh-TW" altLang="en-US" sz="1800" b="1" dirty="0">
              <a:solidFill>
                <a:srgbClr val="FFC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224A016-6D7F-F177-0C44-CEA5CE7181B4}"/>
              </a:ext>
            </a:extLst>
          </p:cNvPr>
          <p:cNvSpPr txBox="1"/>
          <p:nvPr/>
        </p:nvSpPr>
        <p:spPr>
          <a:xfrm>
            <a:off x="6726916" y="3303069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solidFill>
                  <a:srgbClr val="FFC000"/>
                </a:solidFill>
              </a:rPr>
              <a:t>Availability</a:t>
            </a:r>
            <a:endParaRPr lang="zh-TW" altLang="en-US" sz="1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370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F882D8-33CD-C4FE-5B93-7768729E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1192500"/>
            <a:ext cx="6817391" cy="548700"/>
          </a:xfrm>
        </p:spPr>
        <p:txBody>
          <a:bodyPr/>
          <a:lstStyle/>
          <a:p>
            <a:r>
              <a:rPr lang="en-US" altLang="zh-TW" dirty="0"/>
              <a:t>Different points in the design space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B50ECA-7976-8C49-5D0B-0C825FFB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7364322" cy="2286000"/>
          </a:xfrm>
        </p:spPr>
        <p:txBody>
          <a:bodyPr/>
          <a:lstStyle/>
          <a:p>
            <a:r>
              <a:rPr lang="en-US" altLang="zh-TW" sz="1800" dirty="0"/>
              <a:t>Component failures are the norm rather than the exception.</a:t>
            </a:r>
          </a:p>
          <a:p>
            <a:r>
              <a:rPr lang="en-US" altLang="zh-TW" sz="1800" dirty="0"/>
              <a:t>Data store as huge file</a:t>
            </a:r>
          </a:p>
          <a:p>
            <a:r>
              <a:rPr lang="en-US" altLang="zh-TW" sz="1800" dirty="0"/>
              <a:t>Files are huge by traditional standards.</a:t>
            </a:r>
          </a:p>
          <a:p>
            <a:r>
              <a:rPr lang="en-US" altLang="zh-TW" sz="1800" dirty="0"/>
              <a:t>Most files are mutated by appending new data. </a:t>
            </a:r>
          </a:p>
          <a:p>
            <a:r>
              <a:rPr lang="en-US" altLang="zh-TW" sz="1800" dirty="0"/>
              <a:t>Sustained bandwidth more critical than low latency.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87117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2. Design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8932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F882D8-33CD-C4FE-5B93-7768729E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192500"/>
            <a:ext cx="6689204" cy="548700"/>
          </a:xfrm>
        </p:spPr>
        <p:txBody>
          <a:bodyPr/>
          <a:lstStyle/>
          <a:p>
            <a:r>
              <a:rPr lang="en-US" altLang="zh-TW" dirty="0"/>
              <a:t>Interface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B50ECA-7976-8C49-5D0B-0C825FFB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3075062" cy="2286000"/>
          </a:xfrm>
        </p:spPr>
        <p:txBody>
          <a:bodyPr/>
          <a:lstStyle/>
          <a:p>
            <a:pPr marL="177800" indent="0">
              <a:buNone/>
            </a:pPr>
            <a:r>
              <a:rPr lang="en-US" altLang="zh-TW" sz="2000" b="1" dirty="0"/>
              <a:t>Familiar Interface</a:t>
            </a:r>
          </a:p>
          <a:p>
            <a:r>
              <a:rPr lang="en-US" altLang="zh-TW" sz="1800" dirty="0"/>
              <a:t>create</a:t>
            </a:r>
          </a:p>
          <a:p>
            <a:r>
              <a:rPr lang="en-US" altLang="zh-TW" sz="1800" dirty="0"/>
              <a:t>delete</a:t>
            </a:r>
          </a:p>
          <a:p>
            <a:r>
              <a:rPr lang="en-US" altLang="zh-TW" sz="1800" dirty="0"/>
              <a:t>open</a:t>
            </a:r>
          </a:p>
          <a:p>
            <a:r>
              <a:rPr lang="en-US" altLang="zh-TW" sz="1800" dirty="0"/>
              <a:t>close</a:t>
            </a:r>
          </a:p>
          <a:p>
            <a:r>
              <a:rPr lang="en-US" altLang="zh-TW" sz="1800" dirty="0"/>
              <a:t>read</a:t>
            </a:r>
          </a:p>
          <a:p>
            <a:r>
              <a:rPr lang="en-US" altLang="zh-TW" sz="1800" dirty="0"/>
              <a:t>write</a:t>
            </a:r>
            <a:endParaRPr lang="zh-TW" altLang="en-US" sz="1800" dirty="0"/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DDDD5984-9436-0325-8143-0B7291F4B683}"/>
              </a:ext>
            </a:extLst>
          </p:cNvPr>
          <p:cNvSpPr txBox="1">
            <a:spLocks/>
          </p:cNvSpPr>
          <p:nvPr/>
        </p:nvSpPr>
        <p:spPr>
          <a:xfrm>
            <a:off x="4064602" y="1741200"/>
            <a:ext cx="3614143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177800" indent="0">
              <a:buFont typeface="Open Sans"/>
              <a:buNone/>
            </a:pPr>
            <a:r>
              <a:rPr lang="en-US" altLang="zh-TW" sz="2000" b="1" dirty="0"/>
              <a:t>Moreover</a:t>
            </a:r>
          </a:p>
          <a:p>
            <a:r>
              <a:rPr lang="en-US" altLang="zh-TW" sz="1800" dirty="0"/>
              <a:t>Snapshot</a:t>
            </a:r>
          </a:p>
          <a:p>
            <a:r>
              <a:rPr lang="en-US" altLang="zh-TW" sz="1800" dirty="0"/>
              <a:t>Atomic Record append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0005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8F105-937D-B7F6-4F13-37D84048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0FF2A8-4C96-AD82-F667-BC73A99E4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68" y="1741200"/>
            <a:ext cx="6838863" cy="29680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E5FFE2C-FA29-BFE1-8CB9-AA6895CAECB2}"/>
              </a:ext>
            </a:extLst>
          </p:cNvPr>
          <p:cNvSpPr/>
          <p:nvPr/>
        </p:nvSpPr>
        <p:spPr>
          <a:xfrm>
            <a:off x="1252733" y="2053120"/>
            <a:ext cx="736053" cy="290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67BF16-FF72-47FD-0D0A-7F05780825C2}"/>
              </a:ext>
            </a:extLst>
          </p:cNvPr>
          <p:cNvSpPr/>
          <p:nvPr/>
        </p:nvSpPr>
        <p:spPr>
          <a:xfrm>
            <a:off x="3612332" y="1821319"/>
            <a:ext cx="898423" cy="290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25344F-D378-6337-6E1D-129319617356}"/>
              </a:ext>
            </a:extLst>
          </p:cNvPr>
          <p:cNvSpPr/>
          <p:nvPr/>
        </p:nvSpPr>
        <p:spPr>
          <a:xfrm>
            <a:off x="3612332" y="3442531"/>
            <a:ext cx="1318591" cy="290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B09661-D1B4-59BE-5CAD-F34FDAAA2DEA}"/>
              </a:ext>
            </a:extLst>
          </p:cNvPr>
          <p:cNvSpPr/>
          <p:nvPr/>
        </p:nvSpPr>
        <p:spPr>
          <a:xfrm>
            <a:off x="2618637" y="1907841"/>
            <a:ext cx="560400" cy="29055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176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F2F6D-3A33-94F6-016F-BD968D39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Architecture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834FB6-E3A9-DBA9-8EE8-FA8D504AF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65000"/>
            <a:ext cx="6860120" cy="2286000"/>
          </a:xfrm>
        </p:spPr>
        <p:txBody>
          <a:bodyPr/>
          <a:lstStyle/>
          <a:p>
            <a:pPr marL="177800" indent="0">
              <a:buNone/>
            </a:pPr>
            <a:r>
              <a:rPr lang="en-US" altLang="zh-TW" sz="1800" b="1" dirty="0"/>
              <a:t>Chunk</a:t>
            </a:r>
          </a:p>
          <a:p>
            <a:r>
              <a:rPr lang="en-US" altLang="zh-TW" sz="1800" dirty="0"/>
              <a:t>Files are divided into fixed-size chunk</a:t>
            </a:r>
          </a:p>
          <a:p>
            <a:r>
              <a:rPr lang="en-US" altLang="zh-TW" sz="1800" dirty="0"/>
              <a:t>64MB</a:t>
            </a:r>
          </a:p>
          <a:p>
            <a:r>
              <a:rPr lang="en-US" altLang="zh-TW" sz="1800" dirty="0"/>
              <a:t>Larger than typical file system block sizes</a:t>
            </a:r>
          </a:p>
          <a:p>
            <a:pPr marL="177800" indent="0">
              <a:buNone/>
            </a:pPr>
            <a:r>
              <a:rPr lang="en-US" altLang="zh-TW" sz="1800" b="1" dirty="0"/>
              <a:t>Advantages from large chunk size</a:t>
            </a:r>
          </a:p>
          <a:p>
            <a:r>
              <a:rPr lang="en-US" altLang="zh-TW" sz="1800" dirty="0"/>
              <a:t>Reduce interaction between client and master</a:t>
            </a:r>
          </a:p>
          <a:p>
            <a:r>
              <a:rPr lang="en-US" altLang="zh-TW" sz="1800" dirty="0"/>
              <a:t>Client can perform many operations on a given chunk</a:t>
            </a:r>
          </a:p>
          <a:p>
            <a:r>
              <a:rPr lang="en-US" altLang="zh-TW" sz="1800" dirty="0"/>
              <a:t>Reduce size of metadata stored on the master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16290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B36465-C66E-C0AD-38C7-C78ED65A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GFS </a:t>
            </a:r>
            <a:r>
              <a:rPr lang="en-US" altLang="zh-TW" dirty="0" err="1"/>
              <a:t>chunkservers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BAC984-0C3A-97A3-8E59-97A86776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7304501" cy="2286000"/>
          </a:xfrm>
        </p:spPr>
        <p:txBody>
          <a:bodyPr/>
          <a:lstStyle/>
          <a:p>
            <a:r>
              <a:rPr lang="en-US" altLang="zh-TW" sz="1800" dirty="0"/>
              <a:t>Store chunks on local disks as Linux files</a:t>
            </a:r>
          </a:p>
          <a:p>
            <a:r>
              <a:rPr lang="en-US" altLang="zh-TW" sz="1800" dirty="0"/>
              <a:t>Read/Write chunk data specified by a chunk handle &amp; byte range</a:t>
            </a:r>
            <a:endParaRPr lang="zh-TW" altLang="en-US" sz="1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2EED85-324B-F612-1A65-E955EE6E9B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883" t="49552" r="11289" b="11009"/>
          <a:stretch/>
        </p:blipFill>
        <p:spPr>
          <a:xfrm>
            <a:off x="2701440" y="3143250"/>
            <a:ext cx="5269247" cy="1615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998FF0-0616-6823-D2B2-55C7EE821432}"/>
              </a:ext>
            </a:extLst>
          </p:cNvPr>
          <p:cNvSpPr/>
          <p:nvPr/>
        </p:nvSpPr>
        <p:spPr>
          <a:xfrm>
            <a:off x="2935286" y="3422585"/>
            <a:ext cx="1899514" cy="440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059867-425B-56A5-F0C0-DF2DEECDB6A6}"/>
              </a:ext>
            </a:extLst>
          </p:cNvPr>
          <p:cNvSpPr/>
          <p:nvPr/>
        </p:nvSpPr>
        <p:spPr>
          <a:xfrm>
            <a:off x="5056556" y="3422584"/>
            <a:ext cx="1899514" cy="440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31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B36465-C66E-C0AD-38C7-C78ED65A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GFS master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BAC984-0C3A-97A3-8E59-97A86776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65000"/>
            <a:ext cx="4114800" cy="2286000"/>
          </a:xfrm>
        </p:spPr>
        <p:txBody>
          <a:bodyPr/>
          <a:lstStyle/>
          <a:p>
            <a:pPr marL="177800" indent="0">
              <a:buNone/>
            </a:pPr>
            <a:r>
              <a:rPr lang="en-US" altLang="zh-TW" sz="1800" b="1" dirty="0"/>
              <a:t>Maintains all file system metadata in </a:t>
            </a:r>
            <a:r>
              <a:rPr lang="en-US" altLang="zh-TW" sz="1800" b="1" dirty="0">
                <a:solidFill>
                  <a:srgbClr val="FFC000"/>
                </a:solidFill>
              </a:rPr>
              <a:t>memory</a:t>
            </a:r>
          </a:p>
          <a:p>
            <a:r>
              <a:rPr lang="en-US" altLang="zh-TW" sz="1800" dirty="0"/>
              <a:t>Namespace</a:t>
            </a:r>
          </a:p>
          <a:p>
            <a:r>
              <a:rPr lang="en-US" altLang="zh-TW" sz="1800" dirty="0"/>
              <a:t>Access-control information</a:t>
            </a:r>
          </a:p>
          <a:p>
            <a:r>
              <a:rPr lang="en-US" altLang="zh-TW" sz="1800" dirty="0"/>
              <a:t>Chunk locations</a:t>
            </a:r>
          </a:p>
          <a:p>
            <a:r>
              <a:rPr lang="en-US" altLang="zh-TW" sz="1800" dirty="0">
                <a:solidFill>
                  <a:srgbClr val="FF0000"/>
                </a:solidFill>
              </a:rPr>
              <a:t>Lease</a:t>
            </a:r>
            <a:r>
              <a:rPr lang="en-US" altLang="zh-TW" sz="1800" dirty="0"/>
              <a:t> management</a:t>
            </a:r>
            <a:endParaRPr lang="zh-TW" altLang="en-US" sz="1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C16C724-66CA-D2CA-8BEE-ED1A3E012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767" r="27131" b="57655"/>
          <a:stretch/>
        </p:blipFill>
        <p:spPr>
          <a:xfrm>
            <a:off x="4482647" y="2136084"/>
            <a:ext cx="4341642" cy="209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25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B36465-C66E-C0AD-38C7-C78ED65A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GFS client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BAC984-0C3A-97A3-8E59-97A86776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6706295" cy="2286000"/>
          </a:xfrm>
        </p:spPr>
        <p:txBody>
          <a:bodyPr/>
          <a:lstStyle/>
          <a:p>
            <a:r>
              <a:rPr lang="en-US" altLang="zh-TW" sz="2000" dirty="0"/>
              <a:t>Linked into each application</a:t>
            </a:r>
          </a:p>
          <a:p>
            <a:r>
              <a:rPr lang="en-US" altLang="zh-TW" sz="2000" dirty="0"/>
              <a:t>Implements the file system API</a:t>
            </a:r>
          </a:p>
          <a:p>
            <a:r>
              <a:rPr lang="en-US" altLang="zh-TW" sz="2000" dirty="0"/>
              <a:t>Communicates with the master &amp; </a:t>
            </a:r>
            <a:r>
              <a:rPr lang="en-US" altLang="zh-TW" sz="2000" dirty="0" err="1"/>
              <a:t>chunkservers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1289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8F105-937D-B7F6-4F13-37D84048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Process(Read)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0FF2A8-4C96-AD82-F667-BC73A99E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68" y="1741200"/>
            <a:ext cx="6838863" cy="296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19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8F105-937D-B7F6-4F13-37D84048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0FF2A8-4C96-AD82-F667-BC73A99E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68" y="1741200"/>
            <a:ext cx="6838863" cy="296806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D324CFE-BFDA-A793-6EB6-CE577EF1AEC1}"/>
              </a:ext>
            </a:extLst>
          </p:cNvPr>
          <p:cNvSpPr/>
          <p:nvPr/>
        </p:nvSpPr>
        <p:spPr>
          <a:xfrm>
            <a:off x="2008262" y="1828800"/>
            <a:ext cx="1623701" cy="854579"/>
          </a:xfrm>
          <a:prstGeom prst="rect">
            <a:avLst/>
          </a:prstGeom>
          <a:solidFill>
            <a:srgbClr val="FFC000">
              <a:alpha val="3490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FA2D3F-EFA9-3BCC-468E-D9CB76C4C660}"/>
              </a:ext>
            </a:extLst>
          </p:cNvPr>
          <p:cNvSpPr/>
          <p:nvPr/>
        </p:nvSpPr>
        <p:spPr>
          <a:xfrm>
            <a:off x="1801739" y="3232079"/>
            <a:ext cx="1693491" cy="718921"/>
          </a:xfrm>
          <a:prstGeom prst="rect">
            <a:avLst/>
          </a:prstGeom>
          <a:solidFill>
            <a:srgbClr val="FFC000">
              <a:alpha val="3490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72FC63E-48A6-C170-7D8A-F13D91BEBAFE}"/>
              </a:ext>
            </a:extLst>
          </p:cNvPr>
          <p:cNvSpPr txBox="1"/>
          <p:nvPr/>
        </p:nvSpPr>
        <p:spPr>
          <a:xfrm>
            <a:off x="2306501" y="146685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rgbClr val="FFC000"/>
                </a:solidFill>
              </a:rPr>
              <a:t>Metadata only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D38372A-8A8A-3FF3-7599-56E673B5BD27}"/>
              </a:ext>
            </a:extLst>
          </p:cNvPr>
          <p:cNvSpPr txBox="1"/>
          <p:nvPr/>
        </p:nvSpPr>
        <p:spPr>
          <a:xfrm>
            <a:off x="1732509" y="3960801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rgbClr val="FFC000"/>
                </a:solidFill>
              </a:rPr>
              <a:t>Data only</a:t>
            </a:r>
            <a:endParaRPr lang="zh-TW" altLang="en-US" sz="1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538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3. System Interactions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7265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A39F61-3D8A-2D29-902E-C943DECF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Lease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682650-B1A5-1A46-B614-9BA14C8F8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altLang="zh-TW" sz="1800" b="1" dirty="0"/>
              <a:t>Objective</a:t>
            </a:r>
          </a:p>
          <a:p>
            <a:r>
              <a:rPr lang="en-US" altLang="zh-TW" sz="1800" dirty="0"/>
              <a:t>Minimize load on master</a:t>
            </a:r>
          </a:p>
          <a:p>
            <a:pPr marL="177800" indent="0">
              <a:buNone/>
            </a:pPr>
            <a:r>
              <a:rPr lang="en-US" altLang="zh-TW" sz="1800" b="1" dirty="0"/>
              <a:t>Master grants lease to one replica</a:t>
            </a:r>
          </a:p>
          <a:p>
            <a:r>
              <a:rPr lang="en-US" altLang="zh-TW" sz="1800" dirty="0"/>
              <a:t>Called </a:t>
            </a:r>
            <a:r>
              <a:rPr lang="en-US" altLang="zh-TW" sz="1800" dirty="0">
                <a:solidFill>
                  <a:srgbClr val="FF0000"/>
                </a:solidFill>
              </a:rPr>
              <a:t>primary</a:t>
            </a:r>
            <a:r>
              <a:rPr lang="en-US" altLang="zh-TW" sz="1800" dirty="0"/>
              <a:t> </a:t>
            </a:r>
            <a:r>
              <a:rPr lang="en-US" altLang="zh-TW" sz="1800" dirty="0" err="1"/>
              <a:t>chunkserver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31670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2F83D-F79C-D847-F989-E7EDB9F0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Dataflow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8FC4F0-023C-C56E-0D7F-E9F53EDAA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Write step</a:t>
            </a:r>
            <a:endParaRPr lang="zh-TW" altLang="en-US" dirty="0"/>
          </a:p>
        </p:txBody>
      </p:sp>
      <p:pic>
        <p:nvPicPr>
          <p:cNvPr id="5" name="圖片 4" descr="一張含有 文字, 圖表, 螢幕擷取畫面, 方案 的圖片&#10;&#10;自動產生的描述">
            <a:extLst>
              <a:ext uri="{FF2B5EF4-FFF2-40B4-BE49-F238E27FC236}">
                <a16:creationId xmlns:a16="http://schemas.microsoft.com/office/drawing/2014/main" id="{0DF4ED0F-31F1-0F67-50B6-8E542DA9A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34" y="561807"/>
            <a:ext cx="4222570" cy="40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64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90CE2-D720-6DCC-1958-1A6458B3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Appends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2FFE36-865B-63F1-D5F0-B01F7A8E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6296097" cy="2286000"/>
          </a:xfrm>
        </p:spPr>
        <p:txBody>
          <a:bodyPr/>
          <a:lstStyle/>
          <a:p>
            <a:r>
              <a:rPr lang="en-US" altLang="zh-TW" sz="1800" dirty="0"/>
              <a:t>GFS appends data to the file at least once atomically</a:t>
            </a:r>
            <a:endParaRPr lang="zh-TW" altLang="en-US" sz="1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92CA88-D7F6-9C09-AB92-5CC190887FF3}"/>
              </a:ext>
            </a:extLst>
          </p:cNvPr>
          <p:cNvSpPr/>
          <p:nvPr/>
        </p:nvSpPr>
        <p:spPr>
          <a:xfrm>
            <a:off x="988114" y="2828658"/>
            <a:ext cx="1720903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967C6-DEFF-4C54-9031-932ABA240901}"/>
              </a:ext>
            </a:extLst>
          </p:cNvPr>
          <p:cNvSpPr/>
          <p:nvPr/>
        </p:nvSpPr>
        <p:spPr>
          <a:xfrm>
            <a:off x="3894571" y="2431985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DC3D79-AAA7-2259-5A0F-B879CA287D76}"/>
              </a:ext>
            </a:extLst>
          </p:cNvPr>
          <p:cNvSpPr/>
          <p:nvPr/>
        </p:nvSpPr>
        <p:spPr>
          <a:xfrm>
            <a:off x="988114" y="3389829"/>
            <a:ext cx="1720904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1305AD-380D-239B-B442-A48648590952}"/>
              </a:ext>
            </a:extLst>
          </p:cNvPr>
          <p:cNvSpPr/>
          <p:nvPr/>
        </p:nvSpPr>
        <p:spPr>
          <a:xfrm>
            <a:off x="988114" y="3948148"/>
            <a:ext cx="1720904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162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90CE2-D720-6DCC-1958-1A6458B3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Appends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2FFE36-865B-63F1-D5F0-B01F7A8E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6296097" cy="2286000"/>
          </a:xfrm>
        </p:spPr>
        <p:txBody>
          <a:bodyPr/>
          <a:lstStyle/>
          <a:p>
            <a:r>
              <a:rPr lang="en-US" altLang="zh-TW" sz="1800" dirty="0"/>
              <a:t>GFS appends data to the file at least once atomically</a:t>
            </a:r>
            <a:endParaRPr lang="zh-TW" altLang="en-US" sz="1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92CA88-D7F6-9C09-AB92-5CC190887FF3}"/>
              </a:ext>
            </a:extLst>
          </p:cNvPr>
          <p:cNvSpPr/>
          <p:nvPr/>
        </p:nvSpPr>
        <p:spPr>
          <a:xfrm>
            <a:off x="988114" y="2828658"/>
            <a:ext cx="1720903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967C6-DEFF-4C54-9031-932ABA240901}"/>
              </a:ext>
            </a:extLst>
          </p:cNvPr>
          <p:cNvSpPr/>
          <p:nvPr/>
        </p:nvSpPr>
        <p:spPr>
          <a:xfrm>
            <a:off x="2709017" y="2828658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DC3D79-AAA7-2259-5A0F-B879CA287D76}"/>
              </a:ext>
            </a:extLst>
          </p:cNvPr>
          <p:cNvSpPr/>
          <p:nvPr/>
        </p:nvSpPr>
        <p:spPr>
          <a:xfrm>
            <a:off x="988114" y="3389829"/>
            <a:ext cx="1720904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1305AD-380D-239B-B442-A48648590952}"/>
              </a:ext>
            </a:extLst>
          </p:cNvPr>
          <p:cNvSpPr/>
          <p:nvPr/>
        </p:nvSpPr>
        <p:spPr>
          <a:xfrm>
            <a:off x="988114" y="3948148"/>
            <a:ext cx="1720904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ECFDF4-6D21-3F92-1894-6394DD880978}"/>
              </a:ext>
            </a:extLst>
          </p:cNvPr>
          <p:cNvSpPr/>
          <p:nvPr/>
        </p:nvSpPr>
        <p:spPr>
          <a:xfrm>
            <a:off x="2709017" y="3392671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C7C695-691D-5FDF-8229-D7FF80FEC71B}"/>
              </a:ext>
            </a:extLst>
          </p:cNvPr>
          <p:cNvSpPr/>
          <p:nvPr/>
        </p:nvSpPr>
        <p:spPr>
          <a:xfrm>
            <a:off x="2697273" y="3948147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10" name="乘號 9">
            <a:extLst>
              <a:ext uri="{FF2B5EF4-FFF2-40B4-BE49-F238E27FC236}">
                <a16:creationId xmlns:a16="http://schemas.microsoft.com/office/drawing/2014/main" id="{833495DE-421C-0155-DF47-871689E6998F}"/>
              </a:ext>
            </a:extLst>
          </p:cNvPr>
          <p:cNvSpPr/>
          <p:nvPr/>
        </p:nvSpPr>
        <p:spPr>
          <a:xfrm>
            <a:off x="2127904" y="3822809"/>
            <a:ext cx="2751746" cy="663729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403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90CE2-D720-6DCC-1958-1A6458B3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Atomic Appends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2FFE36-865B-63F1-D5F0-B01F7A8E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6296097" cy="2286000"/>
          </a:xfrm>
        </p:spPr>
        <p:txBody>
          <a:bodyPr/>
          <a:lstStyle/>
          <a:p>
            <a:r>
              <a:rPr lang="en-US" altLang="zh-TW" sz="1800" dirty="0"/>
              <a:t>GFS appends data to the file at least once atomically</a:t>
            </a:r>
            <a:endParaRPr lang="zh-TW" altLang="en-US" sz="1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92CA88-D7F6-9C09-AB92-5CC190887FF3}"/>
              </a:ext>
            </a:extLst>
          </p:cNvPr>
          <p:cNvSpPr/>
          <p:nvPr/>
        </p:nvSpPr>
        <p:spPr>
          <a:xfrm>
            <a:off x="988114" y="2828658"/>
            <a:ext cx="1720903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967C6-DEFF-4C54-9031-932ABA240901}"/>
              </a:ext>
            </a:extLst>
          </p:cNvPr>
          <p:cNvSpPr/>
          <p:nvPr/>
        </p:nvSpPr>
        <p:spPr>
          <a:xfrm>
            <a:off x="2709017" y="2828658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DC3D79-AAA7-2259-5A0F-B879CA287D76}"/>
              </a:ext>
            </a:extLst>
          </p:cNvPr>
          <p:cNvSpPr/>
          <p:nvPr/>
        </p:nvSpPr>
        <p:spPr>
          <a:xfrm>
            <a:off x="988114" y="3389829"/>
            <a:ext cx="1720904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1305AD-380D-239B-B442-A48648590952}"/>
              </a:ext>
            </a:extLst>
          </p:cNvPr>
          <p:cNvSpPr/>
          <p:nvPr/>
        </p:nvSpPr>
        <p:spPr>
          <a:xfrm>
            <a:off x="988114" y="3948148"/>
            <a:ext cx="1720904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0000"/>
                </a:solidFill>
              </a:rPr>
              <a:t>data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ECFDF4-6D21-3F92-1894-6394DD880978}"/>
              </a:ext>
            </a:extLst>
          </p:cNvPr>
          <p:cNvSpPr/>
          <p:nvPr/>
        </p:nvSpPr>
        <p:spPr>
          <a:xfrm>
            <a:off x="2709017" y="3392671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C7C695-691D-5FDF-8229-D7FF80FEC71B}"/>
              </a:ext>
            </a:extLst>
          </p:cNvPr>
          <p:cNvSpPr/>
          <p:nvPr/>
        </p:nvSpPr>
        <p:spPr>
          <a:xfrm>
            <a:off x="2697273" y="3948147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1663C4-FF44-93DF-073F-368DB59C2707}"/>
              </a:ext>
            </a:extLst>
          </p:cNvPr>
          <p:cNvSpPr/>
          <p:nvPr/>
        </p:nvSpPr>
        <p:spPr>
          <a:xfrm>
            <a:off x="4063874" y="2830786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E7274F-F9B7-0310-E12B-94C8A39FF3EE}"/>
              </a:ext>
            </a:extLst>
          </p:cNvPr>
          <p:cNvSpPr/>
          <p:nvPr/>
        </p:nvSpPr>
        <p:spPr>
          <a:xfrm>
            <a:off x="4086314" y="3389829"/>
            <a:ext cx="1354857" cy="376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FFFF00"/>
                </a:solidFill>
              </a:rPr>
              <a:t>append</a:t>
            </a:r>
            <a:endParaRPr lang="zh-TW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753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565EFC-6DE4-A5F1-0931-5E1663C1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Snapshot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8D8419-5877-2407-3C95-853596F4E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65000"/>
            <a:ext cx="7859978" cy="2286000"/>
          </a:xfrm>
        </p:spPr>
        <p:txBody>
          <a:bodyPr/>
          <a:lstStyle/>
          <a:p>
            <a:pPr marL="177800" indent="0">
              <a:buNone/>
            </a:pPr>
            <a:r>
              <a:rPr lang="en-US" altLang="zh-TW" sz="1800" b="1" dirty="0"/>
              <a:t>Goals</a:t>
            </a:r>
          </a:p>
          <a:p>
            <a:r>
              <a:rPr lang="en-US" altLang="zh-TW" sz="1800" dirty="0"/>
              <a:t>To quickly create branch copies of huge data sets</a:t>
            </a:r>
          </a:p>
          <a:p>
            <a:r>
              <a:rPr lang="en-US" altLang="zh-TW" sz="1800" dirty="0"/>
              <a:t>To easily checkpoint the current state</a:t>
            </a:r>
          </a:p>
          <a:p>
            <a:pPr marL="177800" indent="0">
              <a:buNone/>
            </a:pPr>
            <a:r>
              <a:rPr lang="en-US" altLang="zh-TW" sz="1800" b="1" dirty="0"/>
              <a:t>Copy-on-write technique</a:t>
            </a:r>
          </a:p>
          <a:p>
            <a:r>
              <a:rPr lang="en-US" altLang="zh-TW" sz="1800" dirty="0"/>
              <a:t>Metadata for the source file or directory tree is duplicated</a:t>
            </a:r>
          </a:p>
          <a:p>
            <a:r>
              <a:rPr lang="en-US" altLang="zh-TW" sz="1800" dirty="0"/>
              <a:t>Reference count for chunks are incremented</a:t>
            </a:r>
          </a:p>
          <a:p>
            <a:r>
              <a:rPr lang="en-US" altLang="zh-TW" sz="1800" dirty="0"/>
              <a:t>Chunks are copied later at the first write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13422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4. Master Operation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0044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D8A2BE-855D-3E7D-D9BB-86E47A32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192500"/>
            <a:ext cx="6244822" cy="548700"/>
          </a:xfrm>
        </p:spPr>
        <p:txBody>
          <a:bodyPr/>
          <a:lstStyle/>
          <a:p>
            <a:r>
              <a:rPr lang="en-US" altLang="zh-TW" dirty="0"/>
              <a:t>Namespace Management and Locking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E88B20-9F1A-5D76-00B2-84373C940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185B5A-E6C6-382C-45C1-2CB4D745AD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767" r="27131" b="57655"/>
          <a:stretch/>
        </p:blipFill>
        <p:spPr>
          <a:xfrm>
            <a:off x="826410" y="1741200"/>
            <a:ext cx="4341642" cy="209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30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F6BC8F-9D51-AB3E-6CB8-7F7D5E68F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1192500"/>
            <a:ext cx="7458325" cy="548700"/>
          </a:xfrm>
        </p:spPr>
        <p:txBody>
          <a:bodyPr/>
          <a:lstStyle/>
          <a:p>
            <a:r>
              <a:rPr lang="en-US" altLang="zh-TW" dirty="0"/>
              <a:t>Creation, Re-replication, Rebalancing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8C1407-6B66-EA3B-5CDF-92804DCAD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65000"/>
            <a:ext cx="7193406" cy="2286000"/>
          </a:xfrm>
        </p:spPr>
        <p:txBody>
          <a:bodyPr/>
          <a:lstStyle/>
          <a:p>
            <a:r>
              <a:rPr lang="en-US" altLang="zh-TW" sz="1800" dirty="0"/>
              <a:t>Replicate chunks that do not have a sufficient number of copies.</a:t>
            </a:r>
          </a:p>
          <a:p>
            <a:r>
              <a:rPr lang="en-US" altLang="zh-TW" sz="1800" dirty="0"/>
              <a:t>Prioritize replicating frequently accessed chunks.</a:t>
            </a:r>
          </a:p>
          <a:p>
            <a:r>
              <a:rPr lang="en-US" altLang="zh-TW" sz="1800" dirty="0"/>
              <a:t>Prioritize replicating chunks that have become bottlenecks.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4160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4F4861-1361-E8F2-DDE2-BAC4C4A3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Garbage Collection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38772A-63E0-459C-0291-F481C1E83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6048269" cy="2286000"/>
          </a:xfrm>
        </p:spPr>
        <p:txBody>
          <a:bodyPr/>
          <a:lstStyle/>
          <a:p>
            <a:pPr marL="177800" indent="0">
              <a:buNone/>
            </a:pPr>
            <a:r>
              <a:rPr lang="en-US" altLang="zh-TW" sz="1800" b="1" dirty="0"/>
              <a:t>Deleted files</a:t>
            </a:r>
          </a:p>
          <a:p>
            <a:r>
              <a:rPr lang="en-US" altLang="zh-TW" sz="1800" dirty="0"/>
              <a:t>File is renamed to a hidden name, then may be removed later</a:t>
            </a:r>
          </a:p>
          <a:p>
            <a:pPr marL="177800" indent="0">
              <a:buNone/>
            </a:pPr>
            <a:r>
              <a:rPr lang="en-US" altLang="zh-TW" sz="1800" b="1" dirty="0"/>
              <a:t>Orphaned chunks(unreachable chunks)</a:t>
            </a:r>
            <a:endParaRPr lang="zh-TW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9007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5.</a:t>
            </a:r>
            <a:r>
              <a:rPr lang="zh-TW" altLang="en-US" sz="3200" dirty="0"/>
              <a:t> </a:t>
            </a:r>
            <a:r>
              <a:rPr lang="en-US" altLang="zh-TW" sz="3200" dirty="0"/>
              <a:t>Fault Tolerance and Diagnosis</a:t>
            </a:r>
          </a:p>
        </p:txBody>
      </p:sp>
    </p:spTree>
    <p:extLst>
      <p:ext uri="{BB962C8B-B14F-4D97-AF65-F5344CB8AC3E}">
        <p14:creationId xmlns:p14="http://schemas.microsoft.com/office/powerpoint/2010/main" val="3470864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6125D3-A19D-C04C-26DA-04797978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High Availability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C71624-2390-B366-EECF-5AA4B73E7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 indent="0">
              <a:buNone/>
            </a:pPr>
            <a:r>
              <a:rPr lang="en-US" altLang="zh-TW" sz="1800" b="1" dirty="0"/>
              <a:t>Fast Recovery</a:t>
            </a:r>
          </a:p>
          <a:p>
            <a:r>
              <a:rPr lang="en-US" altLang="zh-TW" sz="1800" dirty="0"/>
              <a:t>Operation log and checkpoints</a:t>
            </a:r>
          </a:p>
          <a:p>
            <a:pPr marL="177800" indent="0">
              <a:buNone/>
            </a:pPr>
            <a:r>
              <a:rPr lang="en-US" altLang="zh-TW" sz="1800" b="1" dirty="0"/>
              <a:t>Chunk Replication</a:t>
            </a:r>
          </a:p>
          <a:p>
            <a:pPr marL="177800" indent="0">
              <a:buNone/>
            </a:pPr>
            <a:r>
              <a:rPr lang="en-US" altLang="zh-TW" sz="1800" b="1" dirty="0"/>
              <a:t>Master Replication</a:t>
            </a:r>
            <a:endParaRPr lang="zh-TW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01368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5B7C3C-5FF8-6719-D8C8-2CB8F446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Integrity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ECA14E-0CDB-841B-E3BB-39414E135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B1281B-56CC-6886-2FB3-3F37571C7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93" y="1925528"/>
            <a:ext cx="3912674" cy="235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50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9C9D78-31CA-E94C-F9D9-433D94E2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Diagnostic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BD0A03-30B8-11E0-1342-538C3F7BF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65000"/>
            <a:ext cx="4698034" cy="2286000"/>
          </a:xfrm>
        </p:spPr>
        <p:txBody>
          <a:bodyPr/>
          <a:lstStyle/>
          <a:p>
            <a:r>
              <a:rPr lang="en-US" altLang="zh-TW" sz="1800" dirty="0"/>
              <a:t>Log record all operation on metadata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74949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6.</a:t>
            </a:r>
            <a:r>
              <a:rPr lang="zh-TW" altLang="en-US" sz="3200" dirty="0"/>
              <a:t> </a:t>
            </a:r>
            <a:r>
              <a:rPr lang="en-US" altLang="zh-TW" sz="3200" dirty="0"/>
              <a:t>Measurements</a:t>
            </a:r>
          </a:p>
        </p:txBody>
      </p:sp>
    </p:spTree>
    <p:extLst>
      <p:ext uri="{BB962C8B-B14F-4D97-AF65-F5344CB8AC3E}">
        <p14:creationId xmlns:p14="http://schemas.microsoft.com/office/powerpoint/2010/main" val="3962372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25485-82CB-CC4E-A393-1059ED54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C024F6-7637-F1AB-1234-3AEF3ABBC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D8A6DF-EAD8-1A8F-B9CA-83F72A97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991551"/>
            <a:ext cx="7571574" cy="25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68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C0B66022-021F-AC04-9A9B-E91EC139FA8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F29A9B-EC20-5505-9732-68210EA1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7. Conclusions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0429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0A07D8-3814-1CD6-6DF8-F6549F87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1192500"/>
            <a:ext cx="7543784" cy="548700"/>
          </a:xfrm>
        </p:spPr>
        <p:txBody>
          <a:bodyPr/>
          <a:lstStyle/>
          <a:p>
            <a:r>
              <a:rPr lang="en-US" altLang="zh-TW" dirty="0"/>
              <a:t>Advantages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8B45E1-3215-C2DD-5D3D-8D448B3AF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7142131" cy="2286000"/>
          </a:xfrm>
        </p:spPr>
        <p:txBody>
          <a:bodyPr/>
          <a:lstStyle/>
          <a:p>
            <a:r>
              <a:rPr lang="en-US" altLang="zh-TW" sz="1800" dirty="0"/>
              <a:t>Divide the file into chunks for storage, which can be accessed concurrently and have high throughput.</a:t>
            </a:r>
          </a:p>
          <a:p>
            <a:r>
              <a:rPr lang="en-US" altLang="zh-TW" sz="1800" dirty="0"/>
              <a:t>Separate control flow and data flow when modifying data, making full use of the bandwidth of each machine</a:t>
            </a:r>
          </a:p>
          <a:p>
            <a:r>
              <a:rPr lang="en-US" altLang="zh-TW" sz="1800" dirty="0"/>
              <a:t>Use lease to reduce master workload</a:t>
            </a:r>
          </a:p>
          <a:p>
            <a:r>
              <a:rPr lang="en-US" altLang="zh-TW" sz="1800" dirty="0"/>
              <a:t>Good fault tolerance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85820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0A07D8-3814-1CD6-6DF8-F6549F87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1192500"/>
            <a:ext cx="7543784" cy="548700"/>
          </a:xfrm>
        </p:spPr>
        <p:txBody>
          <a:bodyPr/>
          <a:lstStyle/>
          <a:p>
            <a:r>
              <a:rPr lang="en-US" altLang="zh-TW" dirty="0"/>
              <a:t>Disadvantages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8B45E1-3215-C2DD-5D3D-8D448B3AF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665000"/>
            <a:ext cx="7142131" cy="2286000"/>
          </a:xfrm>
        </p:spPr>
        <p:txBody>
          <a:bodyPr/>
          <a:lstStyle/>
          <a:p>
            <a:r>
              <a:rPr lang="en-US" altLang="zh-TW" sz="1800" dirty="0"/>
              <a:t>There is only one master. If there is too much metadata, there may not be enough memory.</a:t>
            </a:r>
          </a:p>
          <a:p>
            <a:r>
              <a:rPr lang="en-US" altLang="zh-TW" sz="1800" dirty="0"/>
              <a:t>If the number of clients is large, the load on one master will be too large.</a:t>
            </a:r>
          </a:p>
          <a:p>
            <a:r>
              <a:rPr lang="en-US" altLang="zh-TW" sz="1800" dirty="0"/>
              <a:t>It is too inefficient for the master to perform garbage collection by browsing all chunks.</a:t>
            </a:r>
            <a:endParaRPr lang="en-US" altLang="zh-TW" dirty="0"/>
          </a:p>
          <a:p>
            <a:r>
              <a:rPr lang="en-US" altLang="zh-TW" sz="1800" dirty="0"/>
              <a:t>The consistency is too loose and cannot handle tasks that require high consistency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2854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Intro to Recursion by Slidesgo">
  <a:themeElements>
    <a:clrScheme name="Simple Light">
      <a:dk1>
        <a:srgbClr val="041E52"/>
      </a:dk1>
      <a:lt1>
        <a:srgbClr val="FFFFFF"/>
      </a:lt1>
      <a:dk2>
        <a:srgbClr val="073899"/>
      </a:dk2>
      <a:lt2>
        <a:srgbClr val="4F7BC8"/>
      </a:lt2>
      <a:accent1>
        <a:srgbClr val="80B2F1"/>
      </a:accent1>
      <a:accent2>
        <a:srgbClr val="F4F6F8"/>
      </a:accent2>
      <a:accent3>
        <a:srgbClr val="DBE8F1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737</Words>
  <Application>Microsoft Office PowerPoint</Application>
  <PresentationFormat>如螢幕大小 (16:9)</PresentationFormat>
  <Paragraphs>161</Paragraphs>
  <Slides>34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0" baseType="lpstr">
      <vt:lpstr>Open Sans</vt:lpstr>
      <vt:lpstr>Alata</vt:lpstr>
      <vt:lpstr>Times New Roman</vt:lpstr>
      <vt:lpstr>Arial</vt:lpstr>
      <vt:lpstr>Archivo</vt:lpstr>
      <vt:lpstr>Intro to Recursion by Slidesgo</vt:lpstr>
      <vt:lpstr>The GOOGLE FILE SYSTEM</vt:lpstr>
      <vt:lpstr>Contents</vt:lpstr>
      <vt:lpstr>1. Introduction</vt:lpstr>
      <vt:lpstr>Background</vt:lpstr>
      <vt:lpstr>Different points in the design space</vt:lpstr>
      <vt:lpstr>2. Design</vt:lpstr>
      <vt:lpstr>Interface</vt:lpstr>
      <vt:lpstr>Architecture</vt:lpstr>
      <vt:lpstr>Architecture</vt:lpstr>
      <vt:lpstr>GFS chunkservers</vt:lpstr>
      <vt:lpstr>GFS master</vt:lpstr>
      <vt:lpstr>GFS client</vt:lpstr>
      <vt:lpstr>Process(Read)</vt:lpstr>
      <vt:lpstr>Process</vt:lpstr>
      <vt:lpstr>3. System Interactions</vt:lpstr>
      <vt:lpstr>Lease</vt:lpstr>
      <vt:lpstr>Dataflow</vt:lpstr>
      <vt:lpstr>Atomic Appends</vt:lpstr>
      <vt:lpstr>Atomic Appends</vt:lpstr>
      <vt:lpstr>Atomic Appends</vt:lpstr>
      <vt:lpstr>Snapshot</vt:lpstr>
      <vt:lpstr>4. Master Operation</vt:lpstr>
      <vt:lpstr>Namespace Management and Locking</vt:lpstr>
      <vt:lpstr>Creation, Re-replication, Rebalancing</vt:lpstr>
      <vt:lpstr>Garbage Collection</vt:lpstr>
      <vt:lpstr>5. Fault Tolerance and Diagnosis</vt:lpstr>
      <vt:lpstr>High Availability</vt:lpstr>
      <vt:lpstr>Data Integrity</vt:lpstr>
      <vt:lpstr>Diagnostic</vt:lpstr>
      <vt:lpstr>6. Measurements</vt:lpstr>
      <vt:lpstr>PowerPoint 簡報</vt:lpstr>
      <vt:lpstr>7. Conclusions</vt:lpstr>
      <vt:lpstr>Advantages</vt:lpstr>
      <vt:lpstr>Disadvantages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Recursion</dc:title>
  <cp:lastModifiedBy>pplab</cp:lastModifiedBy>
  <cp:revision>66</cp:revision>
  <dcterms:modified xsi:type="dcterms:W3CDTF">2024-06-04T10:56:18Z</dcterms:modified>
</cp:coreProperties>
</file>