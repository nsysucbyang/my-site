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ppt/comments/comment2.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348" r:id="rId4"/>
    <p:sldId id="350" r:id="rId5"/>
    <p:sldId id="353" r:id="rId6"/>
    <p:sldId id="354" r:id="rId7"/>
    <p:sldId id="355" r:id="rId8"/>
    <p:sldId id="356" r:id="rId9"/>
    <p:sldId id="357" r:id="rId10"/>
    <p:sldId id="358" r:id="rId11"/>
    <p:sldId id="359" r:id="rId12"/>
    <p:sldId id="360" r:id="rId13"/>
    <p:sldId id="364" r:id="rId14"/>
    <p:sldId id="365" r:id="rId15"/>
    <p:sldId id="269" r:id="rId16"/>
    <p:sldId id="361" r:id="rId17"/>
    <p:sldId id="366" r:id="rId18"/>
    <p:sldId id="367" r:id="rId19"/>
    <p:sldId id="363" r:id="rId2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楊景翔" initials="楊" lastIdx="21" clrIdx="0">
    <p:extLst>
      <p:ext uri="{19B8F6BF-5375-455C-9EA6-DF929625EA0E}">
        <p15:presenceInfo xmlns:p15="http://schemas.microsoft.com/office/powerpoint/2012/main" userId="S::1082941@ncyu.edu.tw::045835ec-170e-42bc-81c6-09db8fcf29c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834" autoAdjust="0"/>
    <p:restoredTop sz="96370" autoAdjust="0"/>
  </p:normalViewPr>
  <p:slideViewPr>
    <p:cSldViewPr snapToGrid="0">
      <p:cViewPr varScale="1">
        <p:scale>
          <a:sx n="114" d="100"/>
          <a:sy n="114" d="100"/>
        </p:scale>
        <p:origin x="7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4-06-03T23:45:02.916" idx="21">
    <p:pos x="6035" y="2394"/>
    <p:text/>
    <p:extLst>
      <p:ext uri="{C676402C-5697-4E1C-873F-D02D1690AC5C}">
        <p15:threadingInfo xmlns:p15="http://schemas.microsoft.com/office/powerpoint/2012/main" timeZoneBias="-4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4-05-12T22:51:26.391" idx="19">
    <p:pos x="3132" y="2326"/>
    <p:text>找到對佳解的比率</p:text>
    <p:extLst>
      <p:ext uri="{C676402C-5697-4E1C-873F-D02D1690AC5C}">
        <p15:threadingInfo xmlns:p15="http://schemas.microsoft.com/office/powerpoint/2012/main" timeZoneBias="-4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57BF28-E50E-4388-A3E5-4D39E480B765}" type="datetimeFigureOut">
              <a:rPr lang="zh-TW" altLang="en-US" smtClean="0"/>
              <a:t>2024/6/3</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2711A4-5F0E-4DF4-937D-81F030A1E9AA}" type="slidenum">
              <a:rPr lang="zh-TW" altLang="en-US" smtClean="0"/>
              <a:t>‹#›</a:t>
            </a:fld>
            <a:endParaRPr lang="zh-TW" altLang="en-US"/>
          </a:p>
        </p:txBody>
      </p:sp>
    </p:spTree>
    <p:extLst>
      <p:ext uri="{BB962C8B-B14F-4D97-AF65-F5344CB8AC3E}">
        <p14:creationId xmlns:p14="http://schemas.microsoft.com/office/powerpoint/2010/main" val="2004259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0C6C96-9558-5AB5-D1F9-BCC335655A0D}"/>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5DFA7C56-9105-1E14-A17F-8A26FE9B3E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55C84251-D4BA-53DC-3BEF-977567CB82AB}"/>
              </a:ext>
            </a:extLst>
          </p:cNvPr>
          <p:cNvSpPr>
            <a:spLocks noGrp="1"/>
          </p:cNvSpPr>
          <p:nvPr>
            <p:ph type="dt" sz="half" idx="10"/>
          </p:nvPr>
        </p:nvSpPr>
        <p:spPr/>
        <p:txBody>
          <a:bodyPr/>
          <a:lstStyle/>
          <a:p>
            <a:fld id="{CA8AC1E3-A6AB-47A3-8E64-C9F1D5D81A55}" type="datetime1">
              <a:rPr lang="zh-TW" altLang="en-US" smtClean="0"/>
              <a:t>2024/6/3</a:t>
            </a:fld>
            <a:endParaRPr lang="zh-TW" altLang="en-US"/>
          </a:p>
        </p:txBody>
      </p:sp>
      <p:sp>
        <p:nvSpPr>
          <p:cNvPr id="5" name="頁尾版面配置區 4">
            <a:extLst>
              <a:ext uri="{FF2B5EF4-FFF2-40B4-BE49-F238E27FC236}">
                <a16:creationId xmlns:a16="http://schemas.microsoft.com/office/drawing/2014/main" id="{64D25A00-DB5F-6575-598E-1BDA96E3230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C1AD27D-3D20-5E6D-7527-6A46BDF3ED17}"/>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26773388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1BFF06-C706-AE49-8BDC-162AE3DCC495}"/>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6BB920A-B9BC-CE2C-E727-40FC0B9BE257}"/>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6AEF194-C880-0ED0-C3B1-F5AA4AC7963D}"/>
              </a:ext>
            </a:extLst>
          </p:cNvPr>
          <p:cNvSpPr>
            <a:spLocks noGrp="1"/>
          </p:cNvSpPr>
          <p:nvPr>
            <p:ph type="dt" sz="half" idx="10"/>
          </p:nvPr>
        </p:nvSpPr>
        <p:spPr/>
        <p:txBody>
          <a:bodyPr/>
          <a:lstStyle/>
          <a:p>
            <a:fld id="{08FE8941-C9FC-4970-9D6F-BA72DC037752}" type="datetime1">
              <a:rPr lang="zh-TW" altLang="en-US" smtClean="0"/>
              <a:t>2024/6/3</a:t>
            </a:fld>
            <a:endParaRPr lang="zh-TW" altLang="en-US"/>
          </a:p>
        </p:txBody>
      </p:sp>
      <p:sp>
        <p:nvSpPr>
          <p:cNvPr id="5" name="頁尾版面配置區 4">
            <a:extLst>
              <a:ext uri="{FF2B5EF4-FFF2-40B4-BE49-F238E27FC236}">
                <a16:creationId xmlns:a16="http://schemas.microsoft.com/office/drawing/2014/main" id="{ACAB75C9-C024-B558-D45F-78577087743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5F45A64-F99E-C099-B11A-50A95E098FEF}"/>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338568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337508B-BEB1-C8F9-B516-0922DF72FB65}"/>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F803A960-423A-63C2-DE35-5ECFB4DE1D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C49DDC9D-F9A5-2607-75C3-0D12FFEC815E}"/>
              </a:ext>
            </a:extLst>
          </p:cNvPr>
          <p:cNvSpPr>
            <a:spLocks noGrp="1"/>
          </p:cNvSpPr>
          <p:nvPr>
            <p:ph type="dt" sz="half" idx="10"/>
          </p:nvPr>
        </p:nvSpPr>
        <p:spPr/>
        <p:txBody>
          <a:bodyPr/>
          <a:lstStyle/>
          <a:p>
            <a:fld id="{2039AE5F-5202-44CB-B5B5-2322DF70600B}" type="datetime1">
              <a:rPr lang="zh-TW" altLang="en-US" smtClean="0"/>
              <a:t>2024/6/3</a:t>
            </a:fld>
            <a:endParaRPr lang="zh-TW" altLang="en-US"/>
          </a:p>
        </p:txBody>
      </p:sp>
      <p:sp>
        <p:nvSpPr>
          <p:cNvPr id="5" name="頁尾版面配置區 4">
            <a:extLst>
              <a:ext uri="{FF2B5EF4-FFF2-40B4-BE49-F238E27FC236}">
                <a16:creationId xmlns:a16="http://schemas.microsoft.com/office/drawing/2014/main" id="{51737579-99A5-787F-A156-A914AC26919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DCF7EE7-94C2-1869-DD60-727D9699176B}"/>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176895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D93191-4D6D-0ABD-4FD0-D3DAEBA57EE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801ED2BA-D421-7A64-DC46-93172086D236}"/>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4A07B58A-5369-F605-DA10-8BA9C02942FE}"/>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0069A846-5B55-BD04-2DAB-0D2726E962A7}"/>
              </a:ext>
            </a:extLst>
          </p:cNvPr>
          <p:cNvSpPr>
            <a:spLocks noGrp="1"/>
          </p:cNvSpPr>
          <p:nvPr>
            <p:ph type="dt" sz="half" idx="10"/>
          </p:nvPr>
        </p:nvSpPr>
        <p:spPr/>
        <p:txBody>
          <a:bodyPr/>
          <a:lstStyle/>
          <a:p>
            <a:fld id="{0C3542C7-36FE-4BA7-9A3F-4A6D1DADBE08}" type="datetime1">
              <a:rPr lang="zh-TW" altLang="en-US" smtClean="0"/>
              <a:t>2024/6/3</a:t>
            </a:fld>
            <a:endParaRPr lang="zh-TW" altLang="en-US"/>
          </a:p>
        </p:txBody>
      </p:sp>
      <p:sp>
        <p:nvSpPr>
          <p:cNvPr id="6" name="頁尾版面配置區 5">
            <a:extLst>
              <a:ext uri="{FF2B5EF4-FFF2-40B4-BE49-F238E27FC236}">
                <a16:creationId xmlns:a16="http://schemas.microsoft.com/office/drawing/2014/main" id="{1502D24C-E889-D7B0-44D9-CE81B159E96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F06439EF-16EE-FA12-79F3-B87E3982803B}"/>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3898087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6F3233-C6E5-0B44-D100-310DB38E5811}"/>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CED436CD-1CD4-D11C-BEAA-C417119007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91A8C39C-C632-D3AD-5AEA-87AD3CE7E477}"/>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2A78D980-ADEE-0381-3898-A79271B830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B4163D17-2951-4369-D786-C80C0E0AC83F}"/>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D1A71428-24ED-C03C-2120-A1D148D10B70}"/>
              </a:ext>
            </a:extLst>
          </p:cNvPr>
          <p:cNvSpPr>
            <a:spLocks noGrp="1"/>
          </p:cNvSpPr>
          <p:nvPr>
            <p:ph type="dt" sz="half" idx="10"/>
          </p:nvPr>
        </p:nvSpPr>
        <p:spPr/>
        <p:txBody>
          <a:bodyPr/>
          <a:lstStyle/>
          <a:p>
            <a:fld id="{6719B4E3-C1A0-407D-A8C4-223029942A11}" type="datetime1">
              <a:rPr lang="zh-TW" altLang="en-US" smtClean="0"/>
              <a:t>2024/6/3</a:t>
            </a:fld>
            <a:endParaRPr lang="zh-TW" altLang="en-US"/>
          </a:p>
        </p:txBody>
      </p:sp>
      <p:sp>
        <p:nvSpPr>
          <p:cNvPr id="8" name="頁尾版面配置區 7">
            <a:extLst>
              <a:ext uri="{FF2B5EF4-FFF2-40B4-BE49-F238E27FC236}">
                <a16:creationId xmlns:a16="http://schemas.microsoft.com/office/drawing/2014/main" id="{82E1BEDD-6B2B-9839-FD27-D8A7C04DBCCF}"/>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5D55D63F-D8D7-440D-968C-FBBBB351775C}"/>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600100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201DAD-B1A7-6913-F8C4-3128A369DFE2}"/>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3EEEE96D-DCE2-0290-7CB8-E2A347F5FB2E}"/>
              </a:ext>
            </a:extLst>
          </p:cNvPr>
          <p:cNvSpPr>
            <a:spLocks noGrp="1"/>
          </p:cNvSpPr>
          <p:nvPr>
            <p:ph type="dt" sz="half" idx="10"/>
          </p:nvPr>
        </p:nvSpPr>
        <p:spPr/>
        <p:txBody>
          <a:bodyPr/>
          <a:lstStyle/>
          <a:p>
            <a:fld id="{610827EF-4BCA-4B2D-96BC-800DE09072A1}" type="datetime1">
              <a:rPr lang="zh-TW" altLang="en-US" smtClean="0"/>
              <a:t>2024/6/3</a:t>
            </a:fld>
            <a:endParaRPr lang="zh-TW" altLang="en-US"/>
          </a:p>
        </p:txBody>
      </p:sp>
      <p:sp>
        <p:nvSpPr>
          <p:cNvPr id="4" name="頁尾版面配置區 3">
            <a:extLst>
              <a:ext uri="{FF2B5EF4-FFF2-40B4-BE49-F238E27FC236}">
                <a16:creationId xmlns:a16="http://schemas.microsoft.com/office/drawing/2014/main" id="{27DFB4F6-EB62-78FE-A3B6-223303180182}"/>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12C0C14C-28CD-EC7E-4309-732F432A8E7A}"/>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17589460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958279C0-CD55-F003-AC5E-186052697790}"/>
              </a:ext>
            </a:extLst>
          </p:cNvPr>
          <p:cNvSpPr>
            <a:spLocks noGrp="1"/>
          </p:cNvSpPr>
          <p:nvPr>
            <p:ph type="dt" sz="half" idx="10"/>
          </p:nvPr>
        </p:nvSpPr>
        <p:spPr/>
        <p:txBody>
          <a:bodyPr/>
          <a:lstStyle/>
          <a:p>
            <a:fld id="{F1579947-85DC-4C95-80F0-0C9A313E1A00}" type="datetime1">
              <a:rPr lang="zh-TW" altLang="en-US" smtClean="0"/>
              <a:t>2024/6/3</a:t>
            </a:fld>
            <a:endParaRPr lang="zh-TW" altLang="en-US"/>
          </a:p>
        </p:txBody>
      </p:sp>
      <p:sp>
        <p:nvSpPr>
          <p:cNvPr id="3" name="頁尾版面配置區 2">
            <a:extLst>
              <a:ext uri="{FF2B5EF4-FFF2-40B4-BE49-F238E27FC236}">
                <a16:creationId xmlns:a16="http://schemas.microsoft.com/office/drawing/2014/main" id="{36E7F1EF-FFA4-134D-A4B0-3774C78AC96B}"/>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6AFB60E8-5211-F688-2F76-36E5498719CE}"/>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1495588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7D1827A-CB14-C4D4-25E3-41710BF6EA74}"/>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6C3446C2-058B-FE7C-C4EA-39142F7D7E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A2B9FA26-62A1-F41D-42AE-4B9FA400E1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1701A1DA-69F3-C87D-CD25-E5F434BE3BE3}"/>
              </a:ext>
            </a:extLst>
          </p:cNvPr>
          <p:cNvSpPr>
            <a:spLocks noGrp="1"/>
          </p:cNvSpPr>
          <p:nvPr>
            <p:ph type="dt" sz="half" idx="10"/>
          </p:nvPr>
        </p:nvSpPr>
        <p:spPr/>
        <p:txBody>
          <a:bodyPr/>
          <a:lstStyle/>
          <a:p>
            <a:fld id="{E504CBE8-F2E5-4D8C-86BB-4F11DA33B21D}" type="datetime1">
              <a:rPr lang="zh-TW" altLang="en-US" smtClean="0"/>
              <a:t>2024/6/3</a:t>
            </a:fld>
            <a:endParaRPr lang="zh-TW" altLang="en-US"/>
          </a:p>
        </p:txBody>
      </p:sp>
      <p:sp>
        <p:nvSpPr>
          <p:cNvPr id="6" name="頁尾版面配置區 5">
            <a:extLst>
              <a:ext uri="{FF2B5EF4-FFF2-40B4-BE49-F238E27FC236}">
                <a16:creationId xmlns:a16="http://schemas.microsoft.com/office/drawing/2014/main" id="{BE909FB9-26BE-EFF1-A2A0-2EDEAD11E9C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880F42F7-4924-ACAA-4B7E-81847CCAE6B1}"/>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40617084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4F3A632-06E7-2518-793D-34E8E6D78B2E}"/>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B659DF59-8B59-165B-FC2D-788F2972E7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B81BBEC0-7FEE-EE4F-6278-6FC2F230D0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3F0A4099-AD40-6407-4A6E-440F0C9ED57D}"/>
              </a:ext>
            </a:extLst>
          </p:cNvPr>
          <p:cNvSpPr>
            <a:spLocks noGrp="1"/>
          </p:cNvSpPr>
          <p:nvPr>
            <p:ph type="dt" sz="half" idx="10"/>
          </p:nvPr>
        </p:nvSpPr>
        <p:spPr/>
        <p:txBody>
          <a:bodyPr/>
          <a:lstStyle/>
          <a:p>
            <a:fld id="{D81B16DB-9686-447D-9D68-9652B275986F}" type="datetime1">
              <a:rPr lang="zh-TW" altLang="en-US" smtClean="0"/>
              <a:t>2024/6/3</a:t>
            </a:fld>
            <a:endParaRPr lang="zh-TW" altLang="en-US"/>
          </a:p>
        </p:txBody>
      </p:sp>
      <p:sp>
        <p:nvSpPr>
          <p:cNvPr id="6" name="頁尾版面配置區 5">
            <a:extLst>
              <a:ext uri="{FF2B5EF4-FFF2-40B4-BE49-F238E27FC236}">
                <a16:creationId xmlns:a16="http://schemas.microsoft.com/office/drawing/2014/main" id="{F165FF51-855C-82B4-240E-D1AF0254030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C02CF40C-AF6C-C9FF-89A1-58A1B03B6C4B}"/>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34967801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EE39347-557F-B5D8-678D-276F907F4FD5}"/>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A8EED0EF-2EFC-0A2C-A1A1-566E81CDA31F}"/>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A42852E-12ED-C0F2-A102-7A6CE771DF50}"/>
              </a:ext>
            </a:extLst>
          </p:cNvPr>
          <p:cNvSpPr>
            <a:spLocks noGrp="1"/>
          </p:cNvSpPr>
          <p:nvPr>
            <p:ph type="dt" sz="half" idx="10"/>
          </p:nvPr>
        </p:nvSpPr>
        <p:spPr/>
        <p:txBody>
          <a:bodyPr/>
          <a:lstStyle/>
          <a:p>
            <a:fld id="{5B06E588-B95B-4AB0-81F5-2FBB811781EB}" type="datetime1">
              <a:rPr lang="zh-TW" altLang="en-US" smtClean="0"/>
              <a:t>2024/6/3</a:t>
            </a:fld>
            <a:endParaRPr lang="zh-TW" altLang="en-US"/>
          </a:p>
        </p:txBody>
      </p:sp>
      <p:sp>
        <p:nvSpPr>
          <p:cNvPr id="5" name="頁尾版面配置區 4">
            <a:extLst>
              <a:ext uri="{FF2B5EF4-FFF2-40B4-BE49-F238E27FC236}">
                <a16:creationId xmlns:a16="http://schemas.microsoft.com/office/drawing/2014/main" id="{1D930DA9-725C-5B7A-5BFB-0B94FF48611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8B92A56-D44A-B10D-C20D-AC8706D7822B}"/>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29910047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EB36CFAD-7B1A-4F41-7AA1-3F5865D1345D}"/>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0A3AE268-50FA-2DB3-85DF-75AC97871EF2}"/>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969F98A-EAB9-3D3B-7A32-3741EF289F77}"/>
              </a:ext>
            </a:extLst>
          </p:cNvPr>
          <p:cNvSpPr>
            <a:spLocks noGrp="1"/>
          </p:cNvSpPr>
          <p:nvPr>
            <p:ph type="dt" sz="half" idx="10"/>
          </p:nvPr>
        </p:nvSpPr>
        <p:spPr/>
        <p:txBody>
          <a:bodyPr/>
          <a:lstStyle/>
          <a:p>
            <a:fld id="{6FF611F3-4FA6-41B2-81A4-6CC88E543A04}" type="datetime1">
              <a:rPr lang="zh-TW" altLang="en-US" smtClean="0"/>
              <a:t>2024/6/3</a:t>
            </a:fld>
            <a:endParaRPr lang="zh-TW" altLang="en-US"/>
          </a:p>
        </p:txBody>
      </p:sp>
      <p:sp>
        <p:nvSpPr>
          <p:cNvPr id="5" name="頁尾版面配置區 4">
            <a:extLst>
              <a:ext uri="{FF2B5EF4-FFF2-40B4-BE49-F238E27FC236}">
                <a16:creationId xmlns:a16="http://schemas.microsoft.com/office/drawing/2014/main" id="{AB6F795B-0E4E-9263-5414-6CF7A28738E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E952AC5-C821-BDC5-2B56-1AC08DD08A64}"/>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40919230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9A69BABF-6143-6E99-0B49-97D885BD74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7B1DF635-42A0-B056-4EB4-97F7B309A0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7B49324-9375-D069-B743-3683D64388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FCC5AE-261C-4E50-A59B-D2A2B1270A69}" type="datetime1">
              <a:rPr lang="zh-TW" altLang="en-US" smtClean="0"/>
              <a:t>2024/6/3</a:t>
            </a:fld>
            <a:endParaRPr lang="zh-TW" altLang="en-US"/>
          </a:p>
        </p:txBody>
      </p:sp>
      <p:sp>
        <p:nvSpPr>
          <p:cNvPr id="5" name="頁尾版面配置區 4">
            <a:extLst>
              <a:ext uri="{FF2B5EF4-FFF2-40B4-BE49-F238E27FC236}">
                <a16:creationId xmlns:a16="http://schemas.microsoft.com/office/drawing/2014/main" id="{28584CA7-762E-3A5A-304E-1EAAB6D161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EA5B41FD-5E7A-AF87-9639-CB90546025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4289768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comments" Target="../comments/comment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5D6ECA-8C9F-6ADC-F8D7-2A82572058E8}"/>
              </a:ext>
            </a:extLst>
          </p:cNvPr>
          <p:cNvSpPr>
            <a:spLocks noGrp="1"/>
          </p:cNvSpPr>
          <p:nvPr>
            <p:ph type="ctrTitle"/>
          </p:nvPr>
        </p:nvSpPr>
        <p:spPr>
          <a:xfrm>
            <a:off x="681162" y="321083"/>
            <a:ext cx="10829676" cy="2387600"/>
          </a:xfrm>
        </p:spPr>
        <p:txBody>
          <a:bodyPr>
            <a:noAutofit/>
          </a:bodyPr>
          <a:lstStyle/>
          <a:p>
            <a:r>
              <a:rPr lang="en-US" altLang="zh-TW" sz="4800" b="0" i="0" dirty="0">
                <a:solidFill>
                  <a:srgbClr val="1F1F1F"/>
                </a:solidFill>
                <a:effectLst/>
                <a:latin typeface="Times New Roman" panose="02020603050405020304" pitchFamily="18" charset="0"/>
                <a:cs typeface="Times New Roman" panose="02020603050405020304" pitchFamily="18" charset="0"/>
              </a:rPr>
              <a:t>Ageist Spider Monkey Optimization algorithm</a:t>
            </a:r>
          </a:p>
        </p:txBody>
      </p:sp>
      <p:sp>
        <p:nvSpPr>
          <p:cNvPr id="3" name="副標題 2">
            <a:extLst>
              <a:ext uri="{FF2B5EF4-FFF2-40B4-BE49-F238E27FC236}">
                <a16:creationId xmlns:a16="http://schemas.microsoft.com/office/drawing/2014/main" id="{B6739F88-A29A-4C56-52FA-D407B32738E9}"/>
              </a:ext>
            </a:extLst>
          </p:cNvPr>
          <p:cNvSpPr>
            <a:spLocks noGrp="1"/>
          </p:cNvSpPr>
          <p:nvPr>
            <p:ph type="subTitle" idx="1"/>
          </p:nvPr>
        </p:nvSpPr>
        <p:spPr>
          <a:xfrm>
            <a:off x="1524000" y="3129933"/>
            <a:ext cx="9144000" cy="1655762"/>
          </a:xfrm>
        </p:spPr>
        <p:txBody>
          <a:bodyPr/>
          <a:lstStyle/>
          <a:p>
            <a:r>
              <a:rPr lang="en-US" altLang="zh-TW" b="0" i="0" dirty="0">
                <a:solidFill>
                  <a:srgbClr val="222222"/>
                </a:solidFill>
                <a:effectLst/>
                <a:highlight>
                  <a:srgbClr val="FFFFFF"/>
                </a:highlight>
                <a:latin typeface="Times New Roman" panose="02020603050405020304" pitchFamily="18" charset="0"/>
                <a:cs typeface="Times New Roman" panose="02020603050405020304" pitchFamily="18" charset="0"/>
              </a:rPr>
              <a:t>Sharma, A., Sharma, A., </a:t>
            </a:r>
            <a:r>
              <a:rPr lang="en-US" altLang="zh-TW" b="0" i="0" dirty="0" err="1">
                <a:solidFill>
                  <a:srgbClr val="222222"/>
                </a:solidFill>
                <a:effectLst/>
                <a:highlight>
                  <a:srgbClr val="FFFFFF"/>
                </a:highlight>
                <a:latin typeface="Times New Roman" panose="02020603050405020304" pitchFamily="18" charset="0"/>
                <a:cs typeface="Times New Roman" panose="02020603050405020304" pitchFamily="18" charset="0"/>
              </a:rPr>
              <a:t>Panigrahi</a:t>
            </a:r>
            <a:r>
              <a:rPr lang="en-US" altLang="zh-TW" b="0" i="0" dirty="0">
                <a:solidFill>
                  <a:srgbClr val="222222"/>
                </a:solidFill>
                <a:effectLst/>
                <a:highlight>
                  <a:srgbClr val="FFFFFF"/>
                </a:highlight>
                <a:latin typeface="Times New Roman" panose="02020603050405020304" pitchFamily="18" charset="0"/>
                <a:cs typeface="Times New Roman" panose="02020603050405020304" pitchFamily="18" charset="0"/>
              </a:rPr>
              <a:t>, B. K., Kiran, D., &amp; Kumar, R. (2016). </a:t>
            </a:r>
            <a:r>
              <a:rPr lang="en-US" altLang="zh-TW" b="0" i="1" dirty="0">
                <a:solidFill>
                  <a:srgbClr val="222222"/>
                </a:solidFill>
                <a:effectLst/>
                <a:highlight>
                  <a:srgbClr val="FFFFFF"/>
                </a:highlight>
                <a:latin typeface="Times New Roman" panose="02020603050405020304" pitchFamily="18" charset="0"/>
                <a:cs typeface="Times New Roman" panose="02020603050405020304" pitchFamily="18" charset="0"/>
              </a:rPr>
              <a:t>Swarm and Evolutionary Computation</a:t>
            </a:r>
            <a:r>
              <a:rPr lang="en-US" altLang="zh-TW" b="0" i="0" dirty="0">
                <a:solidFill>
                  <a:srgbClr val="222222"/>
                </a:solidFill>
                <a:effectLst/>
                <a:highlight>
                  <a:srgbClr val="FFFFFF"/>
                </a:highlight>
                <a:latin typeface="Times New Roman" panose="02020603050405020304" pitchFamily="18" charset="0"/>
                <a:cs typeface="Times New Roman" panose="02020603050405020304" pitchFamily="18" charset="0"/>
              </a:rPr>
              <a:t>, </a:t>
            </a:r>
            <a:r>
              <a:rPr lang="en-US" altLang="zh-TW" b="0" i="1" dirty="0">
                <a:solidFill>
                  <a:srgbClr val="222222"/>
                </a:solidFill>
                <a:effectLst/>
                <a:highlight>
                  <a:srgbClr val="FFFFFF"/>
                </a:highlight>
                <a:latin typeface="Times New Roman" panose="02020603050405020304" pitchFamily="18" charset="0"/>
                <a:cs typeface="Times New Roman" panose="02020603050405020304" pitchFamily="18" charset="0"/>
              </a:rPr>
              <a:t>28</a:t>
            </a:r>
            <a:r>
              <a:rPr lang="en-US" altLang="zh-TW" b="0" i="0" dirty="0">
                <a:solidFill>
                  <a:srgbClr val="222222"/>
                </a:solidFill>
                <a:effectLst/>
                <a:highlight>
                  <a:srgbClr val="FFFFFF"/>
                </a:highlight>
                <a:latin typeface="Times New Roman" panose="02020603050405020304" pitchFamily="18" charset="0"/>
                <a:cs typeface="Times New Roman" panose="02020603050405020304" pitchFamily="18" charset="0"/>
              </a:rPr>
              <a:t>, 58-77.</a:t>
            </a:r>
            <a:endParaRPr lang="zh-TW" altLang="en-US" dirty="0">
              <a:solidFill>
                <a:srgbClr val="333333"/>
              </a:solidFill>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D6BC2F8A-F57D-93E1-25E0-DACED7728107}"/>
              </a:ext>
            </a:extLst>
          </p:cNvPr>
          <p:cNvSpPr txBox="1"/>
          <p:nvPr/>
        </p:nvSpPr>
        <p:spPr>
          <a:xfrm>
            <a:off x="8410112" y="5913844"/>
            <a:ext cx="3657600" cy="830997"/>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Presenter : Jing-Xiang</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Yang</a:t>
            </a:r>
          </a:p>
          <a:p>
            <a:r>
              <a:rPr lang="en-US" altLang="zh-TW" sz="2400" dirty="0">
                <a:latin typeface="Times New Roman" panose="02020603050405020304" pitchFamily="18" charset="0"/>
                <a:cs typeface="Times New Roman" panose="02020603050405020304" pitchFamily="18" charset="0"/>
              </a:rPr>
              <a:t>Date : </a:t>
            </a:r>
            <a:r>
              <a:rPr lang="en-US" altLang="zh-TW" sz="2400" dirty="0">
                <a:solidFill>
                  <a:srgbClr val="202124"/>
                </a:solidFill>
                <a:latin typeface="Times New Roman" panose="02020603050405020304" pitchFamily="18" charset="0"/>
                <a:cs typeface="Times New Roman" panose="02020603050405020304" pitchFamily="18" charset="0"/>
              </a:rPr>
              <a:t>Jun</a:t>
            </a:r>
            <a:r>
              <a:rPr lang="en-US" altLang="zh-TW" sz="2400" b="0" i="0" dirty="0">
                <a:solidFill>
                  <a:srgbClr val="202124"/>
                </a:solidFill>
                <a:effectLst/>
                <a:latin typeface="Times New Roman" panose="02020603050405020304" pitchFamily="18" charset="0"/>
                <a:cs typeface="Times New Roman" panose="02020603050405020304" pitchFamily="18" charset="0"/>
              </a:rPr>
              <a:t> </a:t>
            </a:r>
            <a:r>
              <a:rPr lang="en-US" altLang="zh-TW" sz="2400" dirty="0">
                <a:solidFill>
                  <a:srgbClr val="202124"/>
                </a:solidFill>
                <a:latin typeface="Times New Roman" panose="02020603050405020304" pitchFamily="18" charset="0"/>
                <a:cs typeface="Times New Roman" panose="02020603050405020304" pitchFamily="18" charset="0"/>
              </a:rPr>
              <a:t>4</a:t>
            </a:r>
            <a:r>
              <a:rPr lang="en-US" altLang="zh-TW" sz="2400" b="0" i="0" dirty="0">
                <a:solidFill>
                  <a:srgbClr val="202124"/>
                </a:solidFill>
                <a:effectLst/>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2024</a:t>
            </a:r>
            <a:endParaRPr lang="zh-TW" altLang="en-US" sz="2400"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FCE74A8C-340A-9F93-5512-3E18A247C87B}"/>
              </a:ext>
            </a:extLst>
          </p:cNvPr>
          <p:cNvSpPr>
            <a:spLocks noGrp="1"/>
          </p:cNvSpPr>
          <p:nvPr>
            <p:ph type="sldNum" sz="quarter" idx="12"/>
          </p:nvPr>
        </p:nvSpPr>
        <p:spPr/>
        <p:txBody>
          <a:bodyPr/>
          <a:lstStyle/>
          <a:p>
            <a:fld id="{EFAEC03B-316C-4507-8207-D997BB28EB64}" type="slidenum">
              <a:rPr lang="zh-TW" altLang="en-US" smtClean="0"/>
              <a:t>1</a:t>
            </a:fld>
            <a:endParaRPr lang="zh-TW" altLang="en-US" dirty="0"/>
          </a:p>
        </p:txBody>
      </p:sp>
    </p:spTree>
    <p:extLst>
      <p:ext uri="{BB962C8B-B14F-4D97-AF65-F5344CB8AC3E}">
        <p14:creationId xmlns:p14="http://schemas.microsoft.com/office/powerpoint/2010/main" val="1694615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86FCF2-9C67-4E71-A2AE-11F3068C8104}"/>
              </a:ext>
            </a:extLst>
          </p:cNvPr>
          <p:cNvSpPr>
            <a:spLocks noGrp="1"/>
          </p:cNvSpPr>
          <p:nvPr>
            <p:ph type="title"/>
          </p:nvPr>
        </p:nvSpPr>
        <p:spPr>
          <a:xfrm>
            <a:off x="838200" y="256068"/>
            <a:ext cx="10515600" cy="1325563"/>
          </a:xfrm>
        </p:spPr>
        <p:txBody>
          <a:bodyPr/>
          <a:lstStyle/>
          <a:p>
            <a:pPr algn="ctr"/>
            <a:r>
              <a:rPr lang="en-US" altLang="zh-TW" sz="4800" dirty="0">
                <a:latin typeface="Times New Roman" panose="02020603050405020304" pitchFamily="18" charset="0"/>
                <a:cs typeface="Times New Roman" panose="02020603050405020304" pitchFamily="18" charset="0"/>
              </a:rPr>
              <a:t>ABSTRACT</a:t>
            </a:r>
            <a:endParaRPr lang="zh-TW" altLang="en-US" sz="48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E295AD0F-78B0-3EC9-0878-946F93F0535E}"/>
              </a:ext>
            </a:extLst>
          </p:cNvPr>
          <p:cNvSpPr>
            <a:spLocks noGrp="1"/>
          </p:cNvSpPr>
          <p:nvPr>
            <p:ph idx="1"/>
          </p:nvPr>
        </p:nvSpPr>
        <p:spPr>
          <a:xfrm>
            <a:off x="838200" y="1375174"/>
            <a:ext cx="10515600" cy="4351338"/>
          </a:xfrm>
        </p:spPr>
        <p:txBody>
          <a:bodyPr>
            <a:noAutofit/>
          </a:bodyPr>
          <a:lstStyle/>
          <a:p>
            <a:pPr marL="0" indent="0" algn="just">
              <a:buNone/>
            </a:pPr>
            <a:r>
              <a:rPr lang="en-US" altLang="zh-TW" sz="30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 Swarm Intelligence (SI) is quite popular in the field of numerical optimization and has enormous scope for research. A number of algorithms based on decentralized and self-organized swarm behavior of natural as well as artificial systems have been proposed and developed in last few years. Spider Monkey Optimization (SMO) algorithm, inspired by the intelligent behavior of spider monkeys, is one such recently proposed algorithm. The algorithm along with some of its variants has proved to be very successful and efficient. A spider monkey group consists of members from every age group. The agility and swiftness of the spider monkeys differ on the basis of their age groups. This paper proposes a new variant of SMO algorithm termed as Ageist Spider Monkey Optimization (ASMO) algorithm which seems more practical in biological terms and works on the basis of age difference present in spider monkey population. Experiments on different benchmark functions with different parameters and settings have been carried out and the variant with the best suited settings is proposed. This variant of SMO has enhanced the performance of its original version. Also, ASMO has performed better in comparison to some of the recent advanced algorithms.</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441EABE3-FE2B-DB6E-974D-8180EF68BD5E}"/>
              </a:ext>
            </a:extLst>
          </p:cNvPr>
          <p:cNvSpPr>
            <a:spLocks noGrp="1"/>
          </p:cNvSpPr>
          <p:nvPr>
            <p:ph type="sldNum" sz="quarter" idx="12"/>
          </p:nvPr>
        </p:nvSpPr>
        <p:spPr/>
        <p:txBody>
          <a:bodyPr/>
          <a:lstStyle/>
          <a:p>
            <a:fld id="{EFAEC03B-316C-4507-8207-D997BB28EB64}" type="slidenum">
              <a:rPr lang="zh-TW" altLang="en-US" smtClean="0"/>
              <a:t>2</a:t>
            </a:fld>
            <a:endParaRPr lang="zh-TW" altLang="en-US"/>
          </a:p>
        </p:txBody>
      </p:sp>
    </p:spTree>
    <p:extLst>
      <p:ext uri="{BB962C8B-B14F-4D97-AF65-F5344CB8AC3E}">
        <p14:creationId xmlns:p14="http://schemas.microsoft.com/office/powerpoint/2010/main" val="1272369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A277A-687F-76D2-48D5-C6059E0B4D4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5624941-FE7D-A0A7-56F0-91C663F33433}"/>
              </a:ext>
            </a:extLst>
          </p:cNvPr>
          <p:cNvSpPr>
            <a:spLocks noGrp="1"/>
          </p:cNvSpPr>
          <p:nvPr>
            <p:ph type="title"/>
          </p:nvPr>
        </p:nvSpPr>
        <p:spPr/>
        <p:txBody>
          <a:bodyPr>
            <a:normAutofit/>
          </a:bodyPr>
          <a:lstStyle/>
          <a:p>
            <a:pPr algn="ctr"/>
            <a:r>
              <a:rPr lang="en-US" altLang="zh-TW" sz="4800" spc="-50" dirty="0">
                <a:latin typeface="Times New Roman" panose="02020603050405020304" pitchFamily="18" charset="0"/>
                <a:ea typeface="+mj-ea"/>
                <a:cs typeface="Times New Roman" panose="02020603050405020304" pitchFamily="18" charset="0"/>
              </a:rPr>
              <a:t>Fission–Fusion Social Structure (FFSS)</a:t>
            </a:r>
            <a:endParaRPr lang="zh-TW" altLang="en-US" sz="4800" spc="-50" dirty="0">
              <a:latin typeface="Times New Roman" panose="02020603050405020304" pitchFamily="18" charset="0"/>
              <a:ea typeface="+mj-ea"/>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0490BFA9-2E4B-8E2E-8E0A-7E6419523F33}"/>
              </a:ext>
            </a:extLst>
          </p:cNvPr>
          <p:cNvSpPr>
            <a:spLocks noGrp="1"/>
          </p:cNvSpPr>
          <p:nvPr>
            <p:ph type="sldNum" sz="quarter" idx="12"/>
          </p:nvPr>
        </p:nvSpPr>
        <p:spPr/>
        <p:txBody>
          <a:bodyPr/>
          <a:lstStyle/>
          <a:p>
            <a:fld id="{EFAEC03B-316C-4507-8207-D997BB28EB64}" type="slidenum">
              <a:rPr lang="zh-TW" altLang="en-US" smtClean="0"/>
              <a:t>3</a:t>
            </a:fld>
            <a:endParaRPr lang="zh-TW" altLang="en-US" dirty="0"/>
          </a:p>
        </p:txBody>
      </p:sp>
      <p:pic>
        <p:nvPicPr>
          <p:cNvPr id="5" name="內容版面配置區 4">
            <a:extLst>
              <a:ext uri="{FF2B5EF4-FFF2-40B4-BE49-F238E27FC236}">
                <a16:creationId xmlns:a16="http://schemas.microsoft.com/office/drawing/2014/main" id="{7520449A-2836-D026-7A70-5B9E92C634DC}"/>
              </a:ext>
            </a:extLst>
          </p:cNvPr>
          <p:cNvPicPr>
            <a:picLocks noGrp="1" noChangeAspect="1"/>
          </p:cNvPicPr>
          <p:nvPr>
            <p:ph idx="1"/>
          </p:nvPr>
        </p:nvPicPr>
        <p:blipFill>
          <a:blip r:embed="rId2"/>
          <a:stretch>
            <a:fillRect/>
          </a:stretch>
        </p:blipFill>
        <p:spPr>
          <a:xfrm>
            <a:off x="962214" y="1416696"/>
            <a:ext cx="11179175" cy="4117678"/>
          </a:xfrm>
        </p:spPr>
      </p:pic>
      <p:sp>
        <p:nvSpPr>
          <p:cNvPr id="13" name="文字方塊 12">
            <a:extLst>
              <a:ext uri="{FF2B5EF4-FFF2-40B4-BE49-F238E27FC236}">
                <a16:creationId xmlns:a16="http://schemas.microsoft.com/office/drawing/2014/main" id="{54087C22-34AA-60B8-4F51-490A80FD208A}"/>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3D81718B-1108-4621-7F0F-9BE08E979CC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728D8A3F-909C-679A-BBCA-57447ECA1099}"/>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8" name="文字方塊 7">
            <a:extLst>
              <a:ext uri="{FF2B5EF4-FFF2-40B4-BE49-F238E27FC236}">
                <a16:creationId xmlns:a16="http://schemas.microsoft.com/office/drawing/2014/main" id="{00EE3528-A33C-E289-5DD0-C268A834BEEA}"/>
              </a:ext>
            </a:extLst>
          </p:cNvPr>
          <p:cNvSpPr txBox="1"/>
          <p:nvPr/>
        </p:nvSpPr>
        <p:spPr>
          <a:xfrm>
            <a:off x="1077898" y="5714529"/>
            <a:ext cx="9424386" cy="461665"/>
          </a:xfrm>
          <a:prstGeom prst="rect">
            <a:avLst/>
          </a:prstGeom>
          <a:noFill/>
        </p:spPr>
        <p:txBody>
          <a:bodyPr wrap="square">
            <a:spAutoFit/>
          </a:bodyPr>
          <a:lstStyle/>
          <a:p>
            <a:pPr marL="457200" indent="-4572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FFSS can minimize direct foraging competition among group members</a:t>
            </a:r>
          </a:p>
        </p:txBody>
      </p:sp>
    </p:spTree>
    <p:extLst>
      <p:ext uri="{BB962C8B-B14F-4D97-AF65-F5344CB8AC3E}">
        <p14:creationId xmlns:p14="http://schemas.microsoft.com/office/powerpoint/2010/main" val="1577859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A277A-687F-76D2-48D5-C6059E0B4D4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5624941-FE7D-A0A7-56F0-91C663F33433}"/>
              </a:ext>
            </a:extLst>
          </p:cNvPr>
          <p:cNvSpPr>
            <a:spLocks noGrp="1"/>
          </p:cNvSpPr>
          <p:nvPr>
            <p:ph type="title"/>
          </p:nvPr>
        </p:nvSpPr>
        <p:spPr/>
        <p:txBody>
          <a:bodyPr>
            <a:normAutofit/>
          </a:bodyPr>
          <a:lstStyle/>
          <a:p>
            <a:pPr algn="ctr"/>
            <a:r>
              <a:rPr lang="en-US" altLang="zh-TW" sz="48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Main steps of (SMO)</a:t>
            </a:r>
          </a:p>
        </p:txBody>
      </p:sp>
      <p:sp>
        <p:nvSpPr>
          <p:cNvPr id="3" name="投影片編號版面配置區 2">
            <a:extLst>
              <a:ext uri="{FF2B5EF4-FFF2-40B4-BE49-F238E27FC236}">
                <a16:creationId xmlns:a16="http://schemas.microsoft.com/office/drawing/2014/main" id="{0490BFA9-2E4B-8E2E-8E0A-7E6419523F33}"/>
              </a:ext>
            </a:extLst>
          </p:cNvPr>
          <p:cNvSpPr>
            <a:spLocks noGrp="1"/>
          </p:cNvSpPr>
          <p:nvPr>
            <p:ph type="sldNum" sz="quarter" idx="12"/>
          </p:nvPr>
        </p:nvSpPr>
        <p:spPr/>
        <p:txBody>
          <a:bodyPr/>
          <a:lstStyle/>
          <a:p>
            <a:fld id="{EFAEC03B-316C-4507-8207-D997BB28EB64}" type="slidenum">
              <a:rPr lang="zh-TW" altLang="en-US" smtClean="0"/>
              <a:t>4</a:t>
            </a:fld>
            <a:endParaRPr lang="zh-TW" altLang="en-US" dirty="0"/>
          </a:p>
        </p:txBody>
      </p:sp>
      <p:sp>
        <p:nvSpPr>
          <p:cNvPr id="7" name="內容版面配置區 6">
            <a:extLst>
              <a:ext uri="{FF2B5EF4-FFF2-40B4-BE49-F238E27FC236}">
                <a16:creationId xmlns:a16="http://schemas.microsoft.com/office/drawing/2014/main" id="{C15825DB-F76F-4782-0861-DD98604C85D1}"/>
              </a:ext>
            </a:extLst>
          </p:cNvPr>
          <p:cNvSpPr>
            <a:spLocks noGrp="1"/>
          </p:cNvSpPr>
          <p:nvPr>
            <p:ph idx="1"/>
          </p:nvPr>
        </p:nvSpPr>
        <p:spPr>
          <a:xfrm>
            <a:off x="610761" y="1847850"/>
            <a:ext cx="11179629" cy="4351338"/>
          </a:xfrm>
        </p:spPr>
        <p:txBody>
          <a:bodyPr/>
          <a:lstStyle/>
          <a:p>
            <a:pPr marL="342900" indent="-342900">
              <a:buFont typeface="+mj-lt"/>
              <a:buAutoNum type="arabicPeriod"/>
            </a:pPr>
            <a:r>
              <a:rPr lang="en-US" altLang="zh-TW" sz="2400" dirty="0">
                <a:latin typeface="Times New Roman" panose="02020603050405020304" pitchFamily="18" charset="0"/>
                <a:cs typeface="Times New Roman" panose="02020603050405020304" pitchFamily="18" charset="0"/>
              </a:rPr>
              <a:t>Local Leader phase                      (Exploitation)</a:t>
            </a:r>
          </a:p>
          <a:p>
            <a:pPr marL="342900" indent="-342900">
              <a:buFont typeface="+mj-lt"/>
              <a:buAutoNum type="arabicPeriod"/>
            </a:pPr>
            <a:r>
              <a:rPr lang="en-US" altLang="zh-TW" sz="2400" dirty="0">
                <a:latin typeface="Times New Roman" panose="02020603050405020304" pitchFamily="18" charset="0"/>
                <a:cs typeface="Times New Roman" panose="02020603050405020304" pitchFamily="18" charset="0"/>
              </a:rPr>
              <a:t>Global Leader phase                    (Exploitation)</a:t>
            </a:r>
          </a:p>
          <a:p>
            <a:pPr marL="342900" indent="-342900">
              <a:buFont typeface="+mj-lt"/>
              <a:buAutoNum type="arabicPeriod"/>
            </a:pPr>
            <a:r>
              <a:rPr lang="en-US" altLang="zh-TW" sz="2400" dirty="0">
                <a:latin typeface="Times New Roman" panose="02020603050405020304" pitchFamily="18" charset="0"/>
                <a:cs typeface="Times New Roman" panose="02020603050405020304" pitchFamily="18" charset="0"/>
              </a:rPr>
              <a:t>Local Leader Learning phase</a:t>
            </a:r>
          </a:p>
          <a:p>
            <a:pPr marL="342900" indent="-342900">
              <a:buFont typeface="+mj-lt"/>
              <a:buAutoNum type="arabicPeriod"/>
            </a:pPr>
            <a:r>
              <a:rPr lang="en-US" altLang="zh-TW" sz="2400" dirty="0">
                <a:latin typeface="Times New Roman" panose="02020603050405020304" pitchFamily="18" charset="0"/>
                <a:cs typeface="Times New Roman" panose="02020603050405020304" pitchFamily="18" charset="0"/>
              </a:rPr>
              <a:t>Global Leader Learning phase</a:t>
            </a:r>
          </a:p>
          <a:p>
            <a:pPr marL="342900" indent="-342900">
              <a:buFont typeface="+mj-lt"/>
              <a:buAutoNum type="arabicPeriod"/>
            </a:pPr>
            <a:r>
              <a:rPr lang="en-US" altLang="zh-TW" sz="2400" dirty="0">
                <a:latin typeface="Times New Roman" panose="02020603050405020304" pitchFamily="18" charset="0"/>
                <a:cs typeface="Times New Roman" panose="02020603050405020304" pitchFamily="18" charset="0"/>
              </a:rPr>
              <a:t>Local Leader Decision phase       (Exploration)</a:t>
            </a:r>
          </a:p>
          <a:p>
            <a:pPr marL="342900" indent="-342900">
              <a:buFont typeface="+mj-lt"/>
              <a:buAutoNum type="arabicPeriod"/>
            </a:pPr>
            <a:r>
              <a:rPr lang="en-US" altLang="zh-TW" sz="2400" dirty="0">
                <a:latin typeface="Times New Roman" panose="02020603050405020304" pitchFamily="18" charset="0"/>
                <a:cs typeface="Times New Roman" panose="02020603050405020304" pitchFamily="18" charset="0"/>
              </a:rPr>
              <a:t> Global Leader Decision phase    (Exploration)</a:t>
            </a:r>
          </a:p>
        </p:txBody>
      </p:sp>
      <p:sp>
        <p:nvSpPr>
          <p:cNvPr id="13" name="文字方塊 12">
            <a:extLst>
              <a:ext uri="{FF2B5EF4-FFF2-40B4-BE49-F238E27FC236}">
                <a16:creationId xmlns:a16="http://schemas.microsoft.com/office/drawing/2014/main" id="{54087C22-34AA-60B8-4F51-490A80FD208A}"/>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3D81718B-1108-4621-7F0F-9BE08E979CC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728D8A3F-909C-679A-BBCA-57447ECA1099}"/>
              </a:ext>
            </a:extLst>
          </p:cNvPr>
          <p:cNvSpPr txBox="1"/>
          <p:nvPr/>
        </p:nvSpPr>
        <p:spPr>
          <a:xfrm>
            <a:off x="7696200" y="2971800"/>
            <a:ext cx="914400" cy="914400"/>
          </a:xfrm>
          <a:prstGeom prst="rect">
            <a:avLst/>
          </a:prstGeom>
          <a:noFill/>
        </p:spPr>
        <p:txBody>
          <a:bodyPr wrap="square" rtlCol="0">
            <a:spAutoFit/>
          </a:bodyPr>
          <a:lstStyle/>
          <a:p>
            <a:endParaRPr lang="zh-TW" altLang="en-US" dirty="0"/>
          </a:p>
        </p:txBody>
      </p:sp>
    </p:spTree>
    <p:extLst>
      <p:ext uri="{BB962C8B-B14F-4D97-AF65-F5344CB8AC3E}">
        <p14:creationId xmlns:p14="http://schemas.microsoft.com/office/powerpoint/2010/main" val="16643718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F4BFB81D-5DB3-E6EC-0944-CB1411D9935F}"/>
              </a:ext>
            </a:extLst>
          </p:cNvPr>
          <p:cNvSpPr>
            <a:spLocks noGrp="1"/>
          </p:cNvSpPr>
          <p:nvPr>
            <p:ph type="sldNum" sz="quarter" idx="12"/>
          </p:nvPr>
        </p:nvSpPr>
        <p:spPr/>
        <p:txBody>
          <a:bodyPr/>
          <a:lstStyle/>
          <a:p>
            <a:fld id="{EFAEC03B-316C-4507-8207-D997BB28EB64}" type="slidenum">
              <a:rPr lang="zh-TW" altLang="en-US" smtClean="0"/>
              <a:t>5</a:t>
            </a:fld>
            <a:endParaRPr lang="zh-TW" altLang="en-US"/>
          </a:p>
        </p:txBody>
      </p:sp>
      <p:pic>
        <p:nvPicPr>
          <p:cNvPr id="6" name="圖片 5">
            <a:extLst>
              <a:ext uri="{FF2B5EF4-FFF2-40B4-BE49-F238E27FC236}">
                <a16:creationId xmlns:a16="http://schemas.microsoft.com/office/drawing/2014/main" id="{BE977F95-3EC1-8F0A-8C2B-5F377DA83866}"/>
              </a:ext>
            </a:extLst>
          </p:cNvPr>
          <p:cNvPicPr>
            <a:picLocks noChangeAspect="1"/>
          </p:cNvPicPr>
          <p:nvPr/>
        </p:nvPicPr>
        <p:blipFill>
          <a:blip r:embed="rId2"/>
          <a:stretch>
            <a:fillRect/>
          </a:stretch>
        </p:blipFill>
        <p:spPr>
          <a:xfrm>
            <a:off x="2736723" y="0"/>
            <a:ext cx="5741452" cy="6702731"/>
          </a:xfrm>
          <a:prstGeom prst="rect">
            <a:avLst/>
          </a:prstGeom>
        </p:spPr>
      </p:pic>
    </p:spTree>
    <p:extLst>
      <p:ext uri="{BB962C8B-B14F-4D97-AF65-F5344CB8AC3E}">
        <p14:creationId xmlns:p14="http://schemas.microsoft.com/office/powerpoint/2010/main" val="2476058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A277A-687F-76D2-48D5-C6059E0B4D4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5624941-FE7D-A0A7-56F0-91C663F33433}"/>
              </a:ext>
            </a:extLst>
          </p:cNvPr>
          <p:cNvSpPr>
            <a:spLocks noGrp="1"/>
          </p:cNvSpPr>
          <p:nvPr>
            <p:ph type="title"/>
          </p:nvPr>
        </p:nvSpPr>
        <p:spPr>
          <a:xfrm>
            <a:off x="942775" y="136525"/>
            <a:ext cx="10515600" cy="1325563"/>
          </a:xfrm>
        </p:spPr>
        <p:txBody>
          <a:bodyPr>
            <a:normAutofit/>
          </a:bodyPr>
          <a:lstStyle/>
          <a:p>
            <a:pPr algn="ctr"/>
            <a:r>
              <a:rPr lang="en-US" altLang="zh-TW" sz="48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Local Leader phase</a:t>
            </a:r>
          </a:p>
        </p:txBody>
      </p:sp>
      <p:sp>
        <p:nvSpPr>
          <p:cNvPr id="3" name="投影片編號版面配置區 2">
            <a:extLst>
              <a:ext uri="{FF2B5EF4-FFF2-40B4-BE49-F238E27FC236}">
                <a16:creationId xmlns:a16="http://schemas.microsoft.com/office/drawing/2014/main" id="{0490BFA9-2E4B-8E2E-8E0A-7E6419523F33}"/>
              </a:ext>
            </a:extLst>
          </p:cNvPr>
          <p:cNvSpPr>
            <a:spLocks noGrp="1"/>
          </p:cNvSpPr>
          <p:nvPr>
            <p:ph type="sldNum" sz="quarter" idx="12"/>
          </p:nvPr>
        </p:nvSpPr>
        <p:spPr/>
        <p:txBody>
          <a:bodyPr/>
          <a:lstStyle/>
          <a:p>
            <a:fld id="{EFAEC03B-316C-4507-8207-D997BB28EB64}" type="slidenum">
              <a:rPr lang="zh-TW" altLang="en-US" smtClean="0"/>
              <a:t>6</a:t>
            </a:fld>
            <a:endParaRPr lang="zh-TW" altLang="en-US" dirty="0"/>
          </a:p>
        </p:txBody>
      </p:sp>
      <p:sp>
        <p:nvSpPr>
          <p:cNvPr id="7" name="內容版面配置區 6">
            <a:extLst>
              <a:ext uri="{FF2B5EF4-FFF2-40B4-BE49-F238E27FC236}">
                <a16:creationId xmlns:a16="http://schemas.microsoft.com/office/drawing/2014/main" id="{C15825DB-F76F-4782-0861-DD98604C85D1}"/>
              </a:ext>
            </a:extLst>
          </p:cNvPr>
          <p:cNvSpPr>
            <a:spLocks noGrp="1"/>
          </p:cNvSpPr>
          <p:nvPr>
            <p:ph idx="1"/>
          </p:nvPr>
        </p:nvSpPr>
        <p:spPr>
          <a:xfrm>
            <a:off x="610761" y="1847850"/>
            <a:ext cx="11179629" cy="4351338"/>
          </a:xfrm>
        </p:spPr>
        <p:txBody>
          <a:bodyPr/>
          <a:lstStyle/>
          <a:p>
            <a:pPr marL="0" indent="0">
              <a:buNone/>
            </a:pPr>
            <a:r>
              <a:rPr lang="en-US" altLang="zh-TW" sz="2400" dirty="0">
                <a:latin typeface="Times New Roman" panose="02020603050405020304" pitchFamily="18" charset="0"/>
                <a:cs typeface="Times New Roman" panose="02020603050405020304" pitchFamily="18" charset="0"/>
              </a:rPr>
              <a:t>           </a:t>
            </a:r>
          </a:p>
          <a:p>
            <a:pPr marL="0" indent="0">
              <a:buNone/>
            </a:pPr>
            <a:endParaRPr lang="en-US" altLang="zh-TW" sz="2400" dirty="0">
              <a:latin typeface="Times New Roman" panose="02020603050405020304" pitchFamily="18" charset="0"/>
              <a:cs typeface="Times New Roman" panose="02020603050405020304" pitchFamily="18" charset="0"/>
            </a:endParaRPr>
          </a:p>
          <a:p>
            <a:pPr marL="342900" indent="-342900">
              <a:buFont typeface="+mj-lt"/>
              <a:buAutoNum type="arabicPeriod"/>
            </a:pPr>
            <a:endParaRPr lang="en-US" altLang="zh-TW" sz="2400"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54087C22-34AA-60B8-4F51-490A80FD208A}"/>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3D81718B-1108-4621-7F0F-9BE08E979CC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728D8A3F-909C-679A-BBCA-57447ECA1099}"/>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5" name="文字方塊 4">
            <a:extLst>
              <a:ext uri="{FF2B5EF4-FFF2-40B4-BE49-F238E27FC236}">
                <a16:creationId xmlns:a16="http://schemas.microsoft.com/office/drawing/2014/main" id="{D6A7B7C1-DC12-AD48-D2A6-8450200A7E40}"/>
              </a:ext>
            </a:extLst>
          </p:cNvPr>
          <p:cNvSpPr txBox="1"/>
          <p:nvPr/>
        </p:nvSpPr>
        <p:spPr>
          <a:xfrm>
            <a:off x="610761" y="1388417"/>
            <a:ext cx="11513975" cy="461665"/>
          </a:xfrm>
          <a:prstGeom prst="rect">
            <a:avLst/>
          </a:prstGeom>
          <a:noFill/>
        </p:spPr>
        <p:txBody>
          <a:bodyPr wrap="square" rtlCol="0">
            <a:spAutoFit/>
          </a:bodyPr>
          <a:lstStyle/>
          <a:p>
            <a:pPr marL="457200" indent="-4572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Update position based on local leader and group member experience</a:t>
            </a:r>
            <a:endParaRPr lang="zh-TW" altLang="en-US" sz="2400" dirty="0">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824C071B-AEC2-58B7-DCA3-A6F67FE5B392}"/>
              </a:ext>
            </a:extLst>
          </p:cNvPr>
          <p:cNvPicPr>
            <a:picLocks noChangeAspect="1"/>
          </p:cNvPicPr>
          <p:nvPr/>
        </p:nvPicPr>
        <p:blipFill>
          <a:blip r:embed="rId2"/>
          <a:stretch>
            <a:fillRect/>
          </a:stretch>
        </p:blipFill>
        <p:spPr>
          <a:xfrm>
            <a:off x="2675852" y="2233785"/>
            <a:ext cx="6499032" cy="3579467"/>
          </a:xfrm>
          <a:prstGeom prst="rect">
            <a:avLst/>
          </a:prstGeom>
        </p:spPr>
      </p:pic>
      <p:sp>
        <p:nvSpPr>
          <p:cNvPr id="8" name="橢圓 7">
            <a:extLst>
              <a:ext uri="{FF2B5EF4-FFF2-40B4-BE49-F238E27FC236}">
                <a16:creationId xmlns:a16="http://schemas.microsoft.com/office/drawing/2014/main" id="{F67A84F2-77F2-DF1F-E87B-BA5D441DA386}"/>
              </a:ext>
            </a:extLst>
          </p:cNvPr>
          <p:cNvSpPr/>
          <p:nvPr/>
        </p:nvSpPr>
        <p:spPr>
          <a:xfrm>
            <a:off x="4935508" y="3552909"/>
            <a:ext cx="1979720" cy="719091"/>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橢圓 8">
            <a:extLst>
              <a:ext uri="{FF2B5EF4-FFF2-40B4-BE49-F238E27FC236}">
                <a16:creationId xmlns:a16="http://schemas.microsoft.com/office/drawing/2014/main" id="{B6200DA4-158A-B1D9-8CB8-3285C0207C02}"/>
              </a:ext>
            </a:extLst>
          </p:cNvPr>
          <p:cNvSpPr/>
          <p:nvPr/>
        </p:nvSpPr>
        <p:spPr>
          <a:xfrm>
            <a:off x="7065537" y="3553822"/>
            <a:ext cx="2086965" cy="719091"/>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263886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A277A-687F-76D2-48D5-C6059E0B4D4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5624941-FE7D-A0A7-56F0-91C663F33433}"/>
              </a:ext>
            </a:extLst>
          </p:cNvPr>
          <p:cNvSpPr>
            <a:spLocks noGrp="1"/>
          </p:cNvSpPr>
          <p:nvPr>
            <p:ph type="title"/>
          </p:nvPr>
        </p:nvSpPr>
        <p:spPr>
          <a:xfrm>
            <a:off x="836802" y="126579"/>
            <a:ext cx="10515600" cy="1325563"/>
          </a:xfrm>
        </p:spPr>
        <p:txBody>
          <a:bodyPr>
            <a:normAutofit/>
          </a:bodyPr>
          <a:lstStyle/>
          <a:p>
            <a:pPr algn="ctr"/>
            <a:r>
              <a:rPr lang="en-US" altLang="zh-TW" sz="48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Global Leader phase</a:t>
            </a:r>
          </a:p>
        </p:txBody>
      </p:sp>
      <p:sp>
        <p:nvSpPr>
          <p:cNvPr id="3" name="投影片編號版面配置區 2">
            <a:extLst>
              <a:ext uri="{FF2B5EF4-FFF2-40B4-BE49-F238E27FC236}">
                <a16:creationId xmlns:a16="http://schemas.microsoft.com/office/drawing/2014/main" id="{0490BFA9-2E4B-8E2E-8E0A-7E6419523F33}"/>
              </a:ext>
            </a:extLst>
          </p:cNvPr>
          <p:cNvSpPr>
            <a:spLocks noGrp="1"/>
          </p:cNvSpPr>
          <p:nvPr>
            <p:ph type="sldNum" sz="quarter" idx="12"/>
          </p:nvPr>
        </p:nvSpPr>
        <p:spPr/>
        <p:txBody>
          <a:bodyPr/>
          <a:lstStyle/>
          <a:p>
            <a:fld id="{EFAEC03B-316C-4507-8207-D997BB28EB64}" type="slidenum">
              <a:rPr lang="zh-TW" altLang="en-US" smtClean="0"/>
              <a:t>7</a:t>
            </a:fld>
            <a:endParaRPr lang="zh-TW" altLang="en-US" dirty="0"/>
          </a:p>
        </p:txBody>
      </p:sp>
      <p:sp>
        <p:nvSpPr>
          <p:cNvPr id="7" name="內容版面配置區 6">
            <a:extLst>
              <a:ext uri="{FF2B5EF4-FFF2-40B4-BE49-F238E27FC236}">
                <a16:creationId xmlns:a16="http://schemas.microsoft.com/office/drawing/2014/main" id="{C15825DB-F76F-4782-0861-DD98604C85D1}"/>
              </a:ext>
            </a:extLst>
          </p:cNvPr>
          <p:cNvSpPr>
            <a:spLocks noGrp="1"/>
          </p:cNvSpPr>
          <p:nvPr>
            <p:ph idx="1"/>
          </p:nvPr>
        </p:nvSpPr>
        <p:spPr>
          <a:xfrm>
            <a:off x="610761" y="1847850"/>
            <a:ext cx="11179629" cy="4351338"/>
          </a:xfrm>
        </p:spPr>
        <p:txBody>
          <a:bodyPr/>
          <a:lstStyle/>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342900" indent="-342900">
              <a:buFont typeface="+mj-lt"/>
              <a:buAutoNum type="arabicPeriod"/>
            </a:pPr>
            <a:endParaRPr lang="en-US" altLang="zh-TW" sz="2400"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54087C22-34AA-60B8-4F51-490A80FD208A}"/>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3D81718B-1108-4621-7F0F-9BE08E979CC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728D8A3F-909C-679A-BBCA-57447ECA1099}"/>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5" name="文字方塊 4">
            <a:extLst>
              <a:ext uri="{FF2B5EF4-FFF2-40B4-BE49-F238E27FC236}">
                <a16:creationId xmlns:a16="http://schemas.microsoft.com/office/drawing/2014/main" id="{D6A7B7C1-DC12-AD48-D2A6-8450200A7E40}"/>
              </a:ext>
            </a:extLst>
          </p:cNvPr>
          <p:cNvSpPr txBox="1"/>
          <p:nvPr/>
        </p:nvSpPr>
        <p:spPr>
          <a:xfrm>
            <a:off x="610761" y="1327476"/>
            <a:ext cx="11513975" cy="461665"/>
          </a:xfrm>
          <a:prstGeom prst="rect">
            <a:avLst/>
          </a:prstGeom>
          <a:noFill/>
        </p:spPr>
        <p:txBody>
          <a:bodyPr wrap="square" rtlCol="0">
            <a:spAutoFit/>
          </a:bodyPr>
          <a:lstStyle/>
          <a:p>
            <a:pPr marL="457200" indent="-4572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Update position based on global leader and group member experience</a:t>
            </a:r>
            <a:endParaRPr lang="zh-TW" altLang="en-US" sz="2400" dirty="0">
              <a:latin typeface="Times New Roman" panose="02020603050405020304" pitchFamily="18" charset="0"/>
              <a:cs typeface="Times New Roman" panose="02020603050405020304" pitchFamily="18" charset="0"/>
            </a:endParaRPr>
          </a:p>
        </p:txBody>
      </p:sp>
      <p:pic>
        <p:nvPicPr>
          <p:cNvPr id="12" name="圖片 11">
            <a:extLst>
              <a:ext uri="{FF2B5EF4-FFF2-40B4-BE49-F238E27FC236}">
                <a16:creationId xmlns:a16="http://schemas.microsoft.com/office/drawing/2014/main" id="{E5F4D68D-CEE2-7014-09B8-78DC17AF560D}"/>
              </a:ext>
            </a:extLst>
          </p:cNvPr>
          <p:cNvPicPr>
            <a:picLocks noChangeAspect="1"/>
          </p:cNvPicPr>
          <p:nvPr/>
        </p:nvPicPr>
        <p:blipFill>
          <a:blip r:embed="rId2"/>
          <a:stretch>
            <a:fillRect/>
          </a:stretch>
        </p:blipFill>
        <p:spPr>
          <a:xfrm>
            <a:off x="3281239" y="1847850"/>
            <a:ext cx="5626726" cy="4961199"/>
          </a:xfrm>
          <a:prstGeom prst="rect">
            <a:avLst/>
          </a:prstGeom>
        </p:spPr>
      </p:pic>
      <p:sp>
        <p:nvSpPr>
          <p:cNvPr id="16" name="橢圓 15">
            <a:extLst>
              <a:ext uri="{FF2B5EF4-FFF2-40B4-BE49-F238E27FC236}">
                <a16:creationId xmlns:a16="http://schemas.microsoft.com/office/drawing/2014/main" id="{DA1B15D5-6401-1D63-362E-8CDD1D4732D5}"/>
              </a:ext>
            </a:extLst>
          </p:cNvPr>
          <p:cNvSpPr/>
          <p:nvPr/>
        </p:nvSpPr>
        <p:spPr>
          <a:xfrm>
            <a:off x="5100262" y="4672553"/>
            <a:ext cx="1819841" cy="423229"/>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橢圓 16">
            <a:extLst>
              <a:ext uri="{FF2B5EF4-FFF2-40B4-BE49-F238E27FC236}">
                <a16:creationId xmlns:a16="http://schemas.microsoft.com/office/drawing/2014/main" id="{910930D2-1A0D-D001-F42D-A71150AE9860}"/>
              </a:ext>
            </a:extLst>
          </p:cNvPr>
          <p:cNvSpPr/>
          <p:nvPr/>
        </p:nvSpPr>
        <p:spPr>
          <a:xfrm>
            <a:off x="6972763" y="4716473"/>
            <a:ext cx="1882542" cy="335388"/>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28801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A277A-687F-76D2-48D5-C6059E0B4D4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5624941-FE7D-A0A7-56F0-91C663F33433}"/>
              </a:ext>
            </a:extLst>
          </p:cNvPr>
          <p:cNvSpPr>
            <a:spLocks noGrp="1"/>
          </p:cNvSpPr>
          <p:nvPr>
            <p:ph type="title"/>
          </p:nvPr>
        </p:nvSpPr>
        <p:spPr>
          <a:xfrm>
            <a:off x="942775" y="658812"/>
            <a:ext cx="10515600" cy="1325563"/>
          </a:xfrm>
        </p:spPr>
        <p:txBody>
          <a:bodyPr>
            <a:normAutofit/>
          </a:bodyPr>
          <a:lstStyle/>
          <a:p>
            <a:pPr algn="ctr"/>
            <a:r>
              <a:rPr lang="en-US" altLang="zh-TW" sz="48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Local/Global Leader Learning phase </a:t>
            </a:r>
            <a:endParaRPr lang="zh-TW" altLang="en-US" sz="48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0490BFA9-2E4B-8E2E-8E0A-7E6419523F33}"/>
              </a:ext>
            </a:extLst>
          </p:cNvPr>
          <p:cNvSpPr>
            <a:spLocks noGrp="1"/>
          </p:cNvSpPr>
          <p:nvPr>
            <p:ph type="sldNum" sz="quarter" idx="12"/>
          </p:nvPr>
        </p:nvSpPr>
        <p:spPr/>
        <p:txBody>
          <a:bodyPr/>
          <a:lstStyle/>
          <a:p>
            <a:fld id="{EFAEC03B-316C-4507-8207-D997BB28EB64}" type="slidenum">
              <a:rPr lang="zh-TW" altLang="en-US" smtClean="0"/>
              <a:t>8</a:t>
            </a:fld>
            <a:endParaRPr lang="zh-TW" altLang="en-US" dirty="0"/>
          </a:p>
        </p:txBody>
      </p:sp>
      <p:sp>
        <p:nvSpPr>
          <p:cNvPr id="7" name="內容版面配置區 6">
            <a:extLst>
              <a:ext uri="{FF2B5EF4-FFF2-40B4-BE49-F238E27FC236}">
                <a16:creationId xmlns:a16="http://schemas.microsoft.com/office/drawing/2014/main" id="{C15825DB-F76F-4782-0861-DD98604C85D1}"/>
              </a:ext>
            </a:extLst>
          </p:cNvPr>
          <p:cNvSpPr>
            <a:spLocks noGrp="1"/>
          </p:cNvSpPr>
          <p:nvPr>
            <p:ph idx="1"/>
          </p:nvPr>
        </p:nvSpPr>
        <p:spPr>
          <a:xfrm>
            <a:off x="610761" y="1847850"/>
            <a:ext cx="11179629" cy="4351338"/>
          </a:xfrm>
        </p:spPr>
        <p:txBody>
          <a:bodyPr/>
          <a:lstStyle/>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342900" indent="-342900">
              <a:buFont typeface="+mj-lt"/>
              <a:buAutoNum type="arabicPeriod"/>
            </a:pPr>
            <a:endParaRPr lang="en-US" altLang="zh-TW" sz="2400"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54087C22-34AA-60B8-4F51-490A80FD208A}"/>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3D81718B-1108-4621-7F0F-9BE08E979CC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728D8A3F-909C-679A-BBCA-57447ECA1099}"/>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5" name="文字方塊 4">
            <a:extLst>
              <a:ext uri="{FF2B5EF4-FFF2-40B4-BE49-F238E27FC236}">
                <a16:creationId xmlns:a16="http://schemas.microsoft.com/office/drawing/2014/main" id="{D6A7B7C1-DC12-AD48-D2A6-8450200A7E40}"/>
              </a:ext>
            </a:extLst>
          </p:cNvPr>
          <p:cNvSpPr txBox="1"/>
          <p:nvPr/>
        </p:nvSpPr>
        <p:spPr>
          <a:xfrm>
            <a:off x="610761" y="2141537"/>
            <a:ext cx="11513975" cy="461665"/>
          </a:xfrm>
          <a:prstGeom prst="rect">
            <a:avLst/>
          </a:prstGeom>
          <a:noFill/>
        </p:spPr>
        <p:txBody>
          <a:bodyPr wrap="square" rtlCol="0">
            <a:spAutoFit/>
          </a:bodyPr>
          <a:lstStyle/>
          <a:p>
            <a:pPr marL="457200" indent="-4572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Update Leader position by applying the greedy selection in the population</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89019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A277A-687F-76D2-48D5-C6059E0B4D4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5624941-FE7D-A0A7-56F0-91C663F33433}"/>
              </a:ext>
            </a:extLst>
          </p:cNvPr>
          <p:cNvSpPr>
            <a:spLocks noGrp="1"/>
          </p:cNvSpPr>
          <p:nvPr>
            <p:ph type="title"/>
          </p:nvPr>
        </p:nvSpPr>
        <p:spPr>
          <a:xfrm>
            <a:off x="1109948" y="268194"/>
            <a:ext cx="10515600" cy="1325563"/>
          </a:xfrm>
        </p:spPr>
        <p:txBody>
          <a:bodyPr>
            <a:normAutofit/>
          </a:bodyPr>
          <a:lstStyle/>
          <a:p>
            <a:pPr algn="ctr"/>
            <a:r>
              <a:rPr lang="en-US" altLang="zh-TW" sz="48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Local Leader Decision phase</a:t>
            </a:r>
          </a:p>
        </p:txBody>
      </p:sp>
      <p:sp>
        <p:nvSpPr>
          <p:cNvPr id="3" name="投影片編號版面配置區 2">
            <a:extLst>
              <a:ext uri="{FF2B5EF4-FFF2-40B4-BE49-F238E27FC236}">
                <a16:creationId xmlns:a16="http://schemas.microsoft.com/office/drawing/2014/main" id="{0490BFA9-2E4B-8E2E-8E0A-7E6419523F33}"/>
              </a:ext>
            </a:extLst>
          </p:cNvPr>
          <p:cNvSpPr>
            <a:spLocks noGrp="1"/>
          </p:cNvSpPr>
          <p:nvPr>
            <p:ph type="sldNum" sz="quarter" idx="12"/>
          </p:nvPr>
        </p:nvSpPr>
        <p:spPr/>
        <p:txBody>
          <a:bodyPr/>
          <a:lstStyle/>
          <a:p>
            <a:fld id="{EFAEC03B-316C-4507-8207-D997BB28EB64}" type="slidenum">
              <a:rPr lang="zh-TW" altLang="en-US" smtClean="0"/>
              <a:t>9</a:t>
            </a:fld>
            <a:endParaRPr lang="zh-TW" altLang="en-US" dirty="0"/>
          </a:p>
        </p:txBody>
      </p:sp>
      <p:sp>
        <p:nvSpPr>
          <p:cNvPr id="7" name="內容版面配置區 6">
            <a:extLst>
              <a:ext uri="{FF2B5EF4-FFF2-40B4-BE49-F238E27FC236}">
                <a16:creationId xmlns:a16="http://schemas.microsoft.com/office/drawing/2014/main" id="{C15825DB-F76F-4782-0861-DD98604C85D1}"/>
              </a:ext>
            </a:extLst>
          </p:cNvPr>
          <p:cNvSpPr>
            <a:spLocks noGrp="1"/>
          </p:cNvSpPr>
          <p:nvPr>
            <p:ph idx="1"/>
          </p:nvPr>
        </p:nvSpPr>
        <p:spPr>
          <a:xfrm>
            <a:off x="610761" y="1847850"/>
            <a:ext cx="11179629" cy="4351338"/>
          </a:xfrm>
        </p:spPr>
        <p:txBody>
          <a:bodyPr/>
          <a:lstStyle/>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342900" indent="-342900">
              <a:buFont typeface="+mj-lt"/>
              <a:buAutoNum type="arabicPeriod"/>
            </a:pPr>
            <a:endParaRPr lang="en-US" altLang="zh-TW" sz="2400"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54087C22-34AA-60B8-4F51-490A80FD208A}"/>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3D81718B-1108-4621-7F0F-9BE08E979CC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728D8A3F-909C-679A-BBCA-57447ECA1099}"/>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5" name="文字方塊 4">
            <a:extLst>
              <a:ext uri="{FF2B5EF4-FFF2-40B4-BE49-F238E27FC236}">
                <a16:creationId xmlns:a16="http://schemas.microsoft.com/office/drawing/2014/main" id="{D6A7B7C1-DC12-AD48-D2A6-8450200A7E40}"/>
              </a:ext>
            </a:extLst>
          </p:cNvPr>
          <p:cNvSpPr txBox="1"/>
          <p:nvPr/>
        </p:nvSpPr>
        <p:spPr>
          <a:xfrm>
            <a:off x="878072" y="1985738"/>
            <a:ext cx="11649301" cy="830997"/>
          </a:xfrm>
          <a:prstGeom prst="rect">
            <a:avLst/>
          </a:prstGeom>
          <a:noFill/>
        </p:spPr>
        <p:txBody>
          <a:bodyPr wrap="square" rtlCol="0">
            <a:spAutoFit/>
          </a:bodyPr>
          <a:lstStyle/>
          <a:p>
            <a:pPr marL="457200" indent="-4572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Local Leader position not update for a long time…</a:t>
            </a:r>
          </a:p>
          <a:p>
            <a:pPr marL="457200" indent="-457200">
              <a:buFont typeface="Arial" panose="020B0604020202020204" pitchFamily="34" charset="0"/>
              <a:buChar char="•"/>
            </a:pPr>
            <a:endParaRPr lang="zh-TW" altLang="en-US" sz="2400"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1B502998-215C-8C0E-F64B-3B563CCE51DC}"/>
              </a:ext>
            </a:extLst>
          </p:cNvPr>
          <p:cNvSpPr txBox="1"/>
          <p:nvPr/>
        </p:nvSpPr>
        <p:spPr>
          <a:xfrm>
            <a:off x="878072" y="3096615"/>
            <a:ext cx="10133045" cy="1200329"/>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Group member update position by</a:t>
            </a:r>
          </a:p>
          <a:p>
            <a:pPr marL="342900" indent="-3429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Random</a:t>
            </a:r>
          </a:p>
          <a:p>
            <a:pPr marL="342900" indent="-3429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Attracted towards global leader and repel from the local leader</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0479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CA7E1F53-BD9F-C986-ACCA-3F57D3EFDB8C}"/>
              </a:ext>
            </a:extLst>
          </p:cNvPr>
          <p:cNvSpPr>
            <a:spLocks noGrp="1"/>
          </p:cNvSpPr>
          <p:nvPr>
            <p:ph type="sldNum" sz="quarter" idx="12"/>
          </p:nvPr>
        </p:nvSpPr>
        <p:spPr/>
        <p:txBody>
          <a:bodyPr/>
          <a:lstStyle/>
          <a:p>
            <a:fld id="{EFAEC03B-316C-4507-8207-D997BB28EB64}" type="slidenum">
              <a:rPr lang="zh-TW" altLang="en-US" smtClean="0"/>
              <a:t>10</a:t>
            </a:fld>
            <a:endParaRPr lang="zh-TW" altLang="en-US"/>
          </a:p>
        </p:txBody>
      </p:sp>
      <p:pic>
        <p:nvPicPr>
          <p:cNvPr id="8" name="圖片 7">
            <a:extLst>
              <a:ext uri="{FF2B5EF4-FFF2-40B4-BE49-F238E27FC236}">
                <a16:creationId xmlns:a16="http://schemas.microsoft.com/office/drawing/2014/main" id="{F51BBD19-30CF-BF2E-FB86-6D12E29785A2}"/>
              </a:ext>
            </a:extLst>
          </p:cNvPr>
          <p:cNvPicPr>
            <a:picLocks noChangeAspect="1"/>
          </p:cNvPicPr>
          <p:nvPr/>
        </p:nvPicPr>
        <p:blipFill>
          <a:blip r:embed="rId2"/>
          <a:stretch>
            <a:fillRect/>
          </a:stretch>
        </p:blipFill>
        <p:spPr>
          <a:xfrm>
            <a:off x="2469151" y="799260"/>
            <a:ext cx="7253698" cy="5259479"/>
          </a:xfrm>
          <a:prstGeom prst="rect">
            <a:avLst/>
          </a:prstGeom>
        </p:spPr>
      </p:pic>
      <p:sp>
        <p:nvSpPr>
          <p:cNvPr id="3" name="橢圓 2">
            <a:extLst>
              <a:ext uri="{FF2B5EF4-FFF2-40B4-BE49-F238E27FC236}">
                <a16:creationId xmlns:a16="http://schemas.microsoft.com/office/drawing/2014/main" id="{67D251B3-1538-7794-29A7-5BCBD23C0008}"/>
              </a:ext>
            </a:extLst>
          </p:cNvPr>
          <p:cNvSpPr/>
          <p:nvPr/>
        </p:nvSpPr>
        <p:spPr>
          <a:xfrm>
            <a:off x="2875889" y="1369003"/>
            <a:ext cx="3915528" cy="672862"/>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563692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A277A-687F-76D2-48D5-C6059E0B4D4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5624941-FE7D-A0A7-56F0-91C663F33433}"/>
              </a:ext>
            </a:extLst>
          </p:cNvPr>
          <p:cNvSpPr>
            <a:spLocks noGrp="1"/>
          </p:cNvSpPr>
          <p:nvPr>
            <p:ph type="title"/>
          </p:nvPr>
        </p:nvSpPr>
        <p:spPr>
          <a:xfrm>
            <a:off x="1109948" y="268194"/>
            <a:ext cx="10515600" cy="1325563"/>
          </a:xfrm>
        </p:spPr>
        <p:txBody>
          <a:bodyPr>
            <a:normAutofit/>
          </a:bodyPr>
          <a:lstStyle/>
          <a:p>
            <a:pPr algn="ctr"/>
            <a:r>
              <a:rPr lang="en-US" altLang="zh-TW" sz="48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Global Leader Decision phase</a:t>
            </a:r>
          </a:p>
        </p:txBody>
      </p:sp>
      <p:sp>
        <p:nvSpPr>
          <p:cNvPr id="3" name="投影片編號版面配置區 2">
            <a:extLst>
              <a:ext uri="{FF2B5EF4-FFF2-40B4-BE49-F238E27FC236}">
                <a16:creationId xmlns:a16="http://schemas.microsoft.com/office/drawing/2014/main" id="{0490BFA9-2E4B-8E2E-8E0A-7E6419523F33}"/>
              </a:ext>
            </a:extLst>
          </p:cNvPr>
          <p:cNvSpPr>
            <a:spLocks noGrp="1"/>
          </p:cNvSpPr>
          <p:nvPr>
            <p:ph type="sldNum" sz="quarter" idx="12"/>
          </p:nvPr>
        </p:nvSpPr>
        <p:spPr/>
        <p:txBody>
          <a:bodyPr/>
          <a:lstStyle/>
          <a:p>
            <a:fld id="{EFAEC03B-316C-4507-8207-D997BB28EB64}" type="slidenum">
              <a:rPr lang="zh-TW" altLang="en-US" smtClean="0"/>
              <a:t>11</a:t>
            </a:fld>
            <a:endParaRPr lang="zh-TW" altLang="en-US" dirty="0"/>
          </a:p>
        </p:txBody>
      </p:sp>
      <p:sp>
        <p:nvSpPr>
          <p:cNvPr id="7" name="內容版面配置區 6">
            <a:extLst>
              <a:ext uri="{FF2B5EF4-FFF2-40B4-BE49-F238E27FC236}">
                <a16:creationId xmlns:a16="http://schemas.microsoft.com/office/drawing/2014/main" id="{C15825DB-F76F-4782-0861-DD98604C85D1}"/>
              </a:ext>
            </a:extLst>
          </p:cNvPr>
          <p:cNvSpPr>
            <a:spLocks noGrp="1"/>
          </p:cNvSpPr>
          <p:nvPr>
            <p:ph idx="1"/>
          </p:nvPr>
        </p:nvSpPr>
        <p:spPr>
          <a:xfrm>
            <a:off x="610761" y="1847850"/>
            <a:ext cx="11179629" cy="4351338"/>
          </a:xfrm>
        </p:spPr>
        <p:txBody>
          <a:bodyPr/>
          <a:lstStyle/>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342900" indent="-342900">
              <a:buFont typeface="+mj-lt"/>
              <a:buAutoNum type="arabicPeriod"/>
            </a:pPr>
            <a:endParaRPr lang="en-US" altLang="zh-TW" sz="2400"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54087C22-34AA-60B8-4F51-490A80FD208A}"/>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3D81718B-1108-4621-7F0F-9BE08E979CC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728D8A3F-909C-679A-BBCA-57447ECA1099}"/>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5" name="文字方塊 4">
            <a:extLst>
              <a:ext uri="{FF2B5EF4-FFF2-40B4-BE49-F238E27FC236}">
                <a16:creationId xmlns:a16="http://schemas.microsoft.com/office/drawing/2014/main" id="{D6A7B7C1-DC12-AD48-D2A6-8450200A7E40}"/>
              </a:ext>
            </a:extLst>
          </p:cNvPr>
          <p:cNvSpPr txBox="1"/>
          <p:nvPr/>
        </p:nvSpPr>
        <p:spPr>
          <a:xfrm>
            <a:off x="878072" y="1827235"/>
            <a:ext cx="11649301" cy="830997"/>
          </a:xfrm>
          <a:prstGeom prst="rect">
            <a:avLst/>
          </a:prstGeom>
          <a:noFill/>
        </p:spPr>
        <p:txBody>
          <a:bodyPr wrap="square" rtlCol="0">
            <a:spAutoFit/>
          </a:bodyPr>
          <a:lstStyle/>
          <a:p>
            <a:pPr marL="457200" indent="-4572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Global Leader position not update for a long time…</a:t>
            </a:r>
          </a:p>
          <a:p>
            <a:pPr marL="457200" indent="-457200">
              <a:buFont typeface="Arial" panose="020B0604020202020204" pitchFamily="34" charset="0"/>
              <a:buChar char="•"/>
            </a:pPr>
            <a:endParaRPr lang="zh-TW" altLang="en-US" sz="2400"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1B502998-215C-8C0E-F64B-3B563CCE51DC}"/>
              </a:ext>
            </a:extLst>
          </p:cNvPr>
          <p:cNvSpPr txBox="1"/>
          <p:nvPr/>
        </p:nvSpPr>
        <p:spPr>
          <a:xfrm>
            <a:off x="878072" y="2628216"/>
            <a:ext cx="10133045" cy="1200329"/>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Group member update position by</a:t>
            </a:r>
          </a:p>
          <a:p>
            <a:pPr marL="342900" indent="-3429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Divide the swarms into groups</a:t>
            </a:r>
          </a:p>
          <a:p>
            <a:pPr marL="342900" indent="-3429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Combine all the groups to make a single group</a:t>
            </a:r>
            <a:endParaRPr lang="zh-TW" altLang="en-US" sz="2400" dirty="0">
              <a:latin typeface="Times New Roman" panose="02020603050405020304" pitchFamily="18" charset="0"/>
              <a:cs typeface="Times New Roman" panose="02020603050405020304" pitchFamily="18" charset="0"/>
            </a:endParaRPr>
          </a:p>
        </p:txBody>
      </p:sp>
      <p:pic>
        <p:nvPicPr>
          <p:cNvPr id="8" name="圖片 7">
            <a:extLst>
              <a:ext uri="{FF2B5EF4-FFF2-40B4-BE49-F238E27FC236}">
                <a16:creationId xmlns:a16="http://schemas.microsoft.com/office/drawing/2014/main" id="{D56A2B6E-F58B-8201-1B38-6E08B762D460}"/>
              </a:ext>
            </a:extLst>
          </p:cNvPr>
          <p:cNvPicPr>
            <a:picLocks noChangeAspect="1"/>
          </p:cNvPicPr>
          <p:nvPr/>
        </p:nvPicPr>
        <p:blipFill>
          <a:blip r:embed="rId2"/>
          <a:stretch>
            <a:fillRect/>
          </a:stretch>
        </p:blipFill>
        <p:spPr>
          <a:xfrm>
            <a:off x="3114044" y="4023519"/>
            <a:ext cx="6173061" cy="2781688"/>
          </a:xfrm>
          <a:prstGeom prst="rect">
            <a:avLst/>
          </a:prstGeom>
        </p:spPr>
      </p:pic>
      <p:sp>
        <p:nvSpPr>
          <p:cNvPr id="9" name="橢圓 8">
            <a:extLst>
              <a:ext uri="{FF2B5EF4-FFF2-40B4-BE49-F238E27FC236}">
                <a16:creationId xmlns:a16="http://schemas.microsoft.com/office/drawing/2014/main" id="{4EADB55F-64B7-D7C0-62D2-358D9743204A}"/>
              </a:ext>
            </a:extLst>
          </p:cNvPr>
          <p:cNvSpPr/>
          <p:nvPr/>
        </p:nvSpPr>
        <p:spPr>
          <a:xfrm>
            <a:off x="3461203" y="4203389"/>
            <a:ext cx="4217981" cy="608308"/>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236065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A277A-687F-76D2-48D5-C6059E0B4D4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5624941-FE7D-A0A7-56F0-91C663F33433}"/>
              </a:ext>
            </a:extLst>
          </p:cNvPr>
          <p:cNvSpPr>
            <a:spLocks noGrp="1"/>
          </p:cNvSpPr>
          <p:nvPr>
            <p:ph type="title"/>
          </p:nvPr>
        </p:nvSpPr>
        <p:spPr>
          <a:xfrm>
            <a:off x="836004" y="261581"/>
            <a:ext cx="10515600" cy="1325563"/>
          </a:xfrm>
        </p:spPr>
        <p:txBody>
          <a:bodyPr>
            <a:normAutofit/>
          </a:bodyPr>
          <a:lstStyle/>
          <a:p>
            <a:pPr algn="ctr"/>
            <a:r>
              <a:rPr lang="en-US" altLang="zh-TW" sz="48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ASMO</a:t>
            </a:r>
            <a:endParaRPr lang="zh-TW" altLang="en-US" sz="48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0490BFA9-2E4B-8E2E-8E0A-7E6419523F33}"/>
              </a:ext>
            </a:extLst>
          </p:cNvPr>
          <p:cNvSpPr>
            <a:spLocks noGrp="1"/>
          </p:cNvSpPr>
          <p:nvPr>
            <p:ph type="sldNum" sz="quarter" idx="12"/>
          </p:nvPr>
        </p:nvSpPr>
        <p:spPr/>
        <p:txBody>
          <a:bodyPr/>
          <a:lstStyle/>
          <a:p>
            <a:fld id="{EFAEC03B-316C-4507-8207-D997BB28EB64}" type="slidenum">
              <a:rPr lang="zh-TW" altLang="en-US" smtClean="0"/>
              <a:t>12</a:t>
            </a:fld>
            <a:endParaRPr lang="zh-TW" altLang="en-US" dirty="0"/>
          </a:p>
        </p:txBody>
      </p:sp>
      <p:sp>
        <p:nvSpPr>
          <p:cNvPr id="7" name="內容版面配置區 6">
            <a:extLst>
              <a:ext uri="{FF2B5EF4-FFF2-40B4-BE49-F238E27FC236}">
                <a16:creationId xmlns:a16="http://schemas.microsoft.com/office/drawing/2014/main" id="{C15825DB-F76F-4782-0861-DD98604C85D1}"/>
              </a:ext>
            </a:extLst>
          </p:cNvPr>
          <p:cNvSpPr>
            <a:spLocks noGrp="1"/>
          </p:cNvSpPr>
          <p:nvPr>
            <p:ph idx="1"/>
          </p:nvPr>
        </p:nvSpPr>
        <p:spPr>
          <a:xfrm>
            <a:off x="610761" y="1847850"/>
            <a:ext cx="11179629" cy="4351338"/>
          </a:xfrm>
        </p:spPr>
        <p:txBody>
          <a:bodyPr/>
          <a:lstStyle/>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54087C22-34AA-60B8-4F51-490A80FD208A}"/>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3D81718B-1108-4621-7F0F-9BE08E979CC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728D8A3F-909C-679A-BBCA-57447ECA1099}"/>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4" name="文字方塊 3">
            <a:extLst>
              <a:ext uri="{FF2B5EF4-FFF2-40B4-BE49-F238E27FC236}">
                <a16:creationId xmlns:a16="http://schemas.microsoft.com/office/drawing/2014/main" id="{CDB7CD17-FC9A-0E9C-8A33-69729E1D5A7B}"/>
              </a:ext>
            </a:extLst>
          </p:cNvPr>
          <p:cNvSpPr txBox="1"/>
          <p:nvPr/>
        </p:nvSpPr>
        <p:spPr>
          <a:xfrm>
            <a:off x="1052818" y="2138991"/>
            <a:ext cx="9546671" cy="830997"/>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position of each spider monkey is updated depending upon the position of another randomly selected spider monkey in LLP and GLP</a:t>
            </a:r>
            <a:endParaRPr lang="zh-TW" altLang="en-US" sz="2400" dirty="0">
              <a:latin typeface="Times New Roman" panose="02020603050405020304" pitchFamily="18" charset="0"/>
              <a:cs typeface="Times New Roman" panose="02020603050405020304" pitchFamily="18" charset="0"/>
            </a:endParaRPr>
          </a:p>
        </p:txBody>
      </p:sp>
      <p:pic>
        <p:nvPicPr>
          <p:cNvPr id="8" name="圖片 7">
            <a:extLst>
              <a:ext uri="{FF2B5EF4-FFF2-40B4-BE49-F238E27FC236}">
                <a16:creationId xmlns:a16="http://schemas.microsoft.com/office/drawing/2014/main" id="{6B271F34-4751-AD93-DD6A-C4F34EAE9FC2}"/>
              </a:ext>
            </a:extLst>
          </p:cNvPr>
          <p:cNvPicPr>
            <a:picLocks noChangeAspect="1"/>
          </p:cNvPicPr>
          <p:nvPr/>
        </p:nvPicPr>
        <p:blipFill>
          <a:blip r:embed="rId2"/>
          <a:stretch>
            <a:fillRect/>
          </a:stretch>
        </p:blipFill>
        <p:spPr>
          <a:xfrm>
            <a:off x="760405" y="3448450"/>
            <a:ext cx="11431595" cy="1886213"/>
          </a:xfrm>
          <a:prstGeom prst="rect">
            <a:avLst/>
          </a:prstGeom>
        </p:spPr>
      </p:pic>
      <p:pic>
        <p:nvPicPr>
          <p:cNvPr id="11" name="圖片 10">
            <a:extLst>
              <a:ext uri="{FF2B5EF4-FFF2-40B4-BE49-F238E27FC236}">
                <a16:creationId xmlns:a16="http://schemas.microsoft.com/office/drawing/2014/main" id="{F3723C83-60A5-ED6A-4488-8C07BC89C3FB}"/>
              </a:ext>
            </a:extLst>
          </p:cNvPr>
          <p:cNvPicPr>
            <a:picLocks noChangeAspect="1"/>
          </p:cNvPicPr>
          <p:nvPr/>
        </p:nvPicPr>
        <p:blipFill>
          <a:blip r:embed="rId3"/>
          <a:stretch>
            <a:fillRect/>
          </a:stretch>
        </p:blipFill>
        <p:spPr>
          <a:xfrm>
            <a:off x="4995708" y="3100341"/>
            <a:ext cx="2772497" cy="657317"/>
          </a:xfrm>
          <a:prstGeom prst="rect">
            <a:avLst/>
          </a:prstGeom>
        </p:spPr>
      </p:pic>
      <p:sp>
        <p:nvSpPr>
          <p:cNvPr id="12" name="箭號: 向右 11">
            <a:extLst>
              <a:ext uri="{FF2B5EF4-FFF2-40B4-BE49-F238E27FC236}">
                <a16:creationId xmlns:a16="http://schemas.microsoft.com/office/drawing/2014/main" id="{6D2A4773-C30F-234A-CAB2-857299F2FF1A}"/>
              </a:ext>
            </a:extLst>
          </p:cNvPr>
          <p:cNvSpPr/>
          <p:nvPr/>
        </p:nvSpPr>
        <p:spPr>
          <a:xfrm>
            <a:off x="1249960" y="5360460"/>
            <a:ext cx="864066" cy="4648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文字方塊 15">
            <a:extLst>
              <a:ext uri="{FF2B5EF4-FFF2-40B4-BE49-F238E27FC236}">
                <a16:creationId xmlns:a16="http://schemas.microsoft.com/office/drawing/2014/main" id="{D27F23C2-9CD2-CB0C-C1FC-484ABD31F633}"/>
              </a:ext>
            </a:extLst>
          </p:cNvPr>
          <p:cNvSpPr txBox="1"/>
          <p:nvPr/>
        </p:nvSpPr>
        <p:spPr>
          <a:xfrm>
            <a:off x="2391973" y="5177372"/>
            <a:ext cx="7617204" cy="830997"/>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irrespective of whether the position of randomly selected monkey is better or not</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90966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A277A-687F-76D2-48D5-C6059E0B4D4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5624941-FE7D-A0A7-56F0-91C663F33433}"/>
              </a:ext>
            </a:extLst>
          </p:cNvPr>
          <p:cNvSpPr>
            <a:spLocks noGrp="1"/>
          </p:cNvSpPr>
          <p:nvPr>
            <p:ph type="title"/>
          </p:nvPr>
        </p:nvSpPr>
        <p:spPr>
          <a:xfrm>
            <a:off x="836004" y="261581"/>
            <a:ext cx="10515600" cy="1325563"/>
          </a:xfrm>
        </p:spPr>
        <p:txBody>
          <a:bodyPr>
            <a:normAutofit/>
          </a:bodyPr>
          <a:lstStyle/>
          <a:p>
            <a:pPr algn="ctr"/>
            <a:r>
              <a:rPr lang="en-US" altLang="zh-TW" sz="48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ASMO</a:t>
            </a:r>
            <a:endParaRPr lang="zh-TW" altLang="en-US" sz="48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0490BFA9-2E4B-8E2E-8E0A-7E6419523F33}"/>
              </a:ext>
            </a:extLst>
          </p:cNvPr>
          <p:cNvSpPr>
            <a:spLocks noGrp="1"/>
          </p:cNvSpPr>
          <p:nvPr>
            <p:ph type="sldNum" sz="quarter" idx="12"/>
          </p:nvPr>
        </p:nvSpPr>
        <p:spPr/>
        <p:txBody>
          <a:bodyPr/>
          <a:lstStyle/>
          <a:p>
            <a:fld id="{EFAEC03B-316C-4507-8207-D997BB28EB64}" type="slidenum">
              <a:rPr lang="zh-TW" altLang="en-US" smtClean="0"/>
              <a:t>13</a:t>
            </a:fld>
            <a:endParaRPr lang="zh-TW" altLang="en-US" dirty="0"/>
          </a:p>
        </p:txBody>
      </p:sp>
      <p:sp>
        <p:nvSpPr>
          <p:cNvPr id="7" name="內容版面配置區 6">
            <a:extLst>
              <a:ext uri="{FF2B5EF4-FFF2-40B4-BE49-F238E27FC236}">
                <a16:creationId xmlns:a16="http://schemas.microsoft.com/office/drawing/2014/main" id="{C15825DB-F76F-4782-0861-DD98604C85D1}"/>
              </a:ext>
            </a:extLst>
          </p:cNvPr>
          <p:cNvSpPr>
            <a:spLocks noGrp="1"/>
          </p:cNvSpPr>
          <p:nvPr>
            <p:ph idx="1"/>
          </p:nvPr>
        </p:nvSpPr>
        <p:spPr>
          <a:xfrm>
            <a:off x="610761" y="1847850"/>
            <a:ext cx="11179629" cy="4351338"/>
          </a:xfrm>
        </p:spPr>
        <p:txBody>
          <a:bodyPr/>
          <a:lstStyle/>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54087C22-34AA-60B8-4F51-490A80FD208A}"/>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3D81718B-1108-4621-7F0F-9BE08E979CC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728D8A3F-909C-679A-BBCA-57447ECA1099}"/>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8" name="文字方塊 17">
            <a:extLst>
              <a:ext uri="{FF2B5EF4-FFF2-40B4-BE49-F238E27FC236}">
                <a16:creationId xmlns:a16="http://schemas.microsoft.com/office/drawing/2014/main" id="{4AB76FA5-7CBC-C185-70DC-83683752B56A}"/>
              </a:ext>
            </a:extLst>
          </p:cNvPr>
          <p:cNvSpPr txBox="1"/>
          <p:nvPr/>
        </p:nvSpPr>
        <p:spPr>
          <a:xfrm>
            <a:off x="836004" y="1850512"/>
            <a:ext cx="11542900" cy="2616101"/>
          </a:xfrm>
          <a:prstGeom prst="rect">
            <a:avLst/>
          </a:prstGeom>
          <a:noFill/>
        </p:spPr>
        <p:txBody>
          <a:bodyPr wrap="square">
            <a:spAutoFit/>
          </a:bodyPr>
          <a:lstStyle/>
          <a:p>
            <a:pPr marL="457200" indent="-457200">
              <a:buAutoNum type="arabicPeriod"/>
            </a:pPr>
            <a:r>
              <a:rPr lang="en-US" altLang="zh-TW" sz="2400" dirty="0">
                <a:latin typeface="Times New Roman" panose="02020603050405020304" pitchFamily="18" charset="0"/>
                <a:cs typeface="Times New Roman" panose="02020603050405020304" pitchFamily="18" charset="0"/>
              </a:rPr>
              <a:t>Split local group based on fitness values. (young, adult, old)</a:t>
            </a: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2. Let the young monkey update first, followed by the adult, and so on...</a:t>
            </a:r>
          </a:p>
          <a:p>
            <a:r>
              <a:rPr lang="en-US" altLang="zh-TW" sz="2400" dirty="0">
                <a:latin typeface="Times New Roman" panose="02020603050405020304" pitchFamily="18" charset="0"/>
                <a:cs typeface="Times New Roman" panose="02020603050405020304" pitchFamily="18" charset="0"/>
              </a:rPr>
              <a:t>          Old monkeys are more easily abstracted by young ones.</a:t>
            </a:r>
          </a:p>
          <a:p>
            <a:endParaRPr lang="en-US" altLang="zh-TW" sz="3000" dirty="0">
              <a:latin typeface="Times New Roman" panose="02020603050405020304" pitchFamily="18" charset="0"/>
              <a:cs typeface="Times New Roman" panose="02020603050405020304" pitchFamily="18" charset="0"/>
            </a:endParaRPr>
          </a:p>
          <a:p>
            <a:pPr lvl="1"/>
            <a:endParaRPr lang="en-US" altLang="zh-TW" sz="2000" dirty="0">
              <a:latin typeface="Times New Roman" panose="02020603050405020304" pitchFamily="18" charset="0"/>
              <a:cs typeface="Times New Roman" panose="02020603050405020304" pitchFamily="18" charset="0"/>
            </a:endParaRPr>
          </a:p>
          <a:p>
            <a:r>
              <a:rPr lang="en-US" altLang="zh-TW" sz="1800" dirty="0">
                <a:latin typeface="Times New Roman" panose="02020603050405020304" pitchFamily="18" charset="0"/>
                <a:cs typeface="Times New Roman" panose="02020603050405020304" pitchFamily="18" charset="0"/>
              </a:rPr>
              <a:t>  </a:t>
            </a:r>
            <a:endParaRPr lang="zh-TW" altLang="en-US" dirty="0"/>
          </a:p>
        </p:txBody>
      </p:sp>
      <p:sp>
        <p:nvSpPr>
          <p:cNvPr id="19" name="箭號: 向右 18">
            <a:extLst>
              <a:ext uri="{FF2B5EF4-FFF2-40B4-BE49-F238E27FC236}">
                <a16:creationId xmlns:a16="http://schemas.microsoft.com/office/drawing/2014/main" id="{498DA4A2-BC6A-F571-7B05-D0C85869FC45}"/>
              </a:ext>
            </a:extLst>
          </p:cNvPr>
          <p:cNvSpPr/>
          <p:nvPr/>
        </p:nvSpPr>
        <p:spPr>
          <a:xfrm>
            <a:off x="1161874" y="3057894"/>
            <a:ext cx="377505" cy="20133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9685639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2D0DFC5A-FB86-6D31-40C2-642059571044}"/>
              </a:ext>
            </a:extLst>
          </p:cNvPr>
          <p:cNvSpPr>
            <a:spLocks noGrp="1"/>
          </p:cNvSpPr>
          <p:nvPr>
            <p:ph type="sldNum" sz="quarter" idx="12"/>
          </p:nvPr>
        </p:nvSpPr>
        <p:spPr/>
        <p:txBody>
          <a:bodyPr/>
          <a:lstStyle/>
          <a:p>
            <a:fld id="{EFAEC03B-316C-4507-8207-D997BB28EB64}" type="slidenum">
              <a:rPr lang="zh-TW" altLang="en-US" smtClean="0"/>
              <a:t>14</a:t>
            </a:fld>
            <a:endParaRPr lang="zh-TW" altLang="en-US"/>
          </a:p>
        </p:txBody>
      </p:sp>
      <p:pic>
        <p:nvPicPr>
          <p:cNvPr id="4" name="圖片 3">
            <a:extLst>
              <a:ext uri="{FF2B5EF4-FFF2-40B4-BE49-F238E27FC236}">
                <a16:creationId xmlns:a16="http://schemas.microsoft.com/office/drawing/2014/main" id="{A439290D-4B88-0FFD-FD96-312730B8220D}"/>
              </a:ext>
            </a:extLst>
          </p:cNvPr>
          <p:cNvPicPr>
            <a:picLocks noChangeAspect="1"/>
          </p:cNvPicPr>
          <p:nvPr/>
        </p:nvPicPr>
        <p:blipFill>
          <a:blip r:embed="rId2"/>
          <a:stretch>
            <a:fillRect/>
          </a:stretch>
        </p:blipFill>
        <p:spPr>
          <a:xfrm>
            <a:off x="132518" y="347232"/>
            <a:ext cx="11926964" cy="6163535"/>
          </a:xfrm>
          <a:prstGeom prst="rect">
            <a:avLst/>
          </a:prstGeom>
        </p:spPr>
      </p:pic>
    </p:spTree>
    <p:extLst>
      <p:ext uri="{BB962C8B-B14F-4D97-AF65-F5344CB8AC3E}">
        <p14:creationId xmlns:p14="http://schemas.microsoft.com/office/powerpoint/2010/main" val="34262648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994B9074-FFE2-64E5-A801-528B60039244}"/>
              </a:ext>
            </a:extLst>
          </p:cNvPr>
          <p:cNvSpPr txBox="1"/>
          <p:nvPr/>
        </p:nvSpPr>
        <p:spPr>
          <a:xfrm>
            <a:off x="4500980" y="2228671"/>
            <a:ext cx="8416031" cy="1200329"/>
          </a:xfrm>
          <a:prstGeom prst="rect">
            <a:avLst/>
          </a:prstGeom>
          <a:noFill/>
        </p:spPr>
        <p:txBody>
          <a:bodyPr wrap="square" rtlCol="0">
            <a:spAutoFit/>
          </a:bodyPr>
          <a:lstStyle/>
          <a:p>
            <a:r>
              <a:rPr lang="en-US" altLang="zh-TW" sz="7200" dirty="0">
                <a:latin typeface="Times New Roman" panose="02020603050405020304" pitchFamily="18" charset="0"/>
                <a:ea typeface="+mj-ea"/>
                <a:cs typeface="Times New Roman" panose="02020603050405020304" pitchFamily="18" charset="0"/>
              </a:rPr>
              <a:t>Thanks</a:t>
            </a:r>
          </a:p>
        </p:txBody>
      </p:sp>
      <p:sp>
        <p:nvSpPr>
          <p:cNvPr id="3" name="投影片編號版面配置區 2">
            <a:extLst>
              <a:ext uri="{FF2B5EF4-FFF2-40B4-BE49-F238E27FC236}">
                <a16:creationId xmlns:a16="http://schemas.microsoft.com/office/drawing/2014/main" id="{470088EC-5D8D-9A95-DC6D-2DD90021AD39}"/>
              </a:ext>
            </a:extLst>
          </p:cNvPr>
          <p:cNvSpPr>
            <a:spLocks noGrp="1"/>
          </p:cNvSpPr>
          <p:nvPr>
            <p:ph type="sldNum" sz="quarter" idx="12"/>
          </p:nvPr>
        </p:nvSpPr>
        <p:spPr/>
        <p:txBody>
          <a:bodyPr/>
          <a:lstStyle/>
          <a:p>
            <a:fld id="{EFAEC03B-316C-4507-8207-D997BB28EB64}" type="slidenum">
              <a:rPr lang="zh-TW" altLang="en-US" smtClean="0"/>
              <a:t>15</a:t>
            </a:fld>
            <a:endParaRPr lang="zh-TW" altLang="en-US"/>
          </a:p>
        </p:txBody>
      </p:sp>
      <p:pic>
        <p:nvPicPr>
          <p:cNvPr id="5" name="圖片 4">
            <a:extLst>
              <a:ext uri="{FF2B5EF4-FFF2-40B4-BE49-F238E27FC236}">
                <a16:creationId xmlns:a16="http://schemas.microsoft.com/office/drawing/2014/main" id="{8FF5F8D0-E5F1-85B6-AE6F-2139B033096D}"/>
              </a:ext>
            </a:extLst>
          </p:cNvPr>
          <p:cNvPicPr>
            <a:picLocks noChangeAspect="1"/>
          </p:cNvPicPr>
          <p:nvPr/>
        </p:nvPicPr>
        <p:blipFill>
          <a:blip r:embed="rId2"/>
          <a:stretch>
            <a:fillRect/>
          </a:stretch>
        </p:blipFill>
        <p:spPr>
          <a:xfrm>
            <a:off x="2910521" y="193151"/>
            <a:ext cx="7830643" cy="5925377"/>
          </a:xfrm>
          <a:prstGeom prst="rect">
            <a:avLst/>
          </a:prstGeom>
        </p:spPr>
      </p:pic>
      <p:sp>
        <p:nvSpPr>
          <p:cNvPr id="6" name="橢圓 5">
            <a:extLst>
              <a:ext uri="{FF2B5EF4-FFF2-40B4-BE49-F238E27FC236}">
                <a16:creationId xmlns:a16="http://schemas.microsoft.com/office/drawing/2014/main" id="{A576164E-504A-1AF4-DE5A-579A84AE4AE6}"/>
              </a:ext>
            </a:extLst>
          </p:cNvPr>
          <p:cNvSpPr/>
          <p:nvPr/>
        </p:nvSpPr>
        <p:spPr>
          <a:xfrm>
            <a:off x="3456264" y="2348917"/>
            <a:ext cx="4798503" cy="45300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8199053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A277A-687F-76D2-48D5-C6059E0B4D4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5624941-FE7D-A0A7-56F0-91C663F33433}"/>
              </a:ext>
            </a:extLst>
          </p:cNvPr>
          <p:cNvSpPr>
            <a:spLocks noGrp="1"/>
          </p:cNvSpPr>
          <p:nvPr>
            <p:ph type="title"/>
          </p:nvPr>
        </p:nvSpPr>
        <p:spPr>
          <a:xfrm>
            <a:off x="942775" y="136525"/>
            <a:ext cx="10515600" cy="1325563"/>
          </a:xfrm>
        </p:spPr>
        <p:txBody>
          <a:bodyPr>
            <a:normAutofit/>
          </a:bodyPr>
          <a:lstStyle/>
          <a:p>
            <a:pPr algn="ctr"/>
            <a:r>
              <a:rPr lang="en-US" altLang="zh-TW" sz="48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Experiments</a:t>
            </a:r>
            <a:endParaRPr lang="zh-TW" altLang="en-US" sz="48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0490BFA9-2E4B-8E2E-8E0A-7E6419523F33}"/>
              </a:ext>
            </a:extLst>
          </p:cNvPr>
          <p:cNvSpPr>
            <a:spLocks noGrp="1"/>
          </p:cNvSpPr>
          <p:nvPr>
            <p:ph type="sldNum" sz="quarter" idx="12"/>
          </p:nvPr>
        </p:nvSpPr>
        <p:spPr/>
        <p:txBody>
          <a:bodyPr/>
          <a:lstStyle/>
          <a:p>
            <a:fld id="{EFAEC03B-316C-4507-8207-D997BB28EB64}" type="slidenum">
              <a:rPr lang="zh-TW" altLang="en-US" smtClean="0"/>
              <a:t>16</a:t>
            </a:fld>
            <a:endParaRPr lang="zh-TW" altLang="en-US" dirty="0"/>
          </a:p>
        </p:txBody>
      </p:sp>
      <p:sp>
        <p:nvSpPr>
          <p:cNvPr id="7" name="內容版面配置區 6">
            <a:extLst>
              <a:ext uri="{FF2B5EF4-FFF2-40B4-BE49-F238E27FC236}">
                <a16:creationId xmlns:a16="http://schemas.microsoft.com/office/drawing/2014/main" id="{C15825DB-F76F-4782-0861-DD98604C85D1}"/>
              </a:ext>
            </a:extLst>
          </p:cNvPr>
          <p:cNvSpPr>
            <a:spLocks noGrp="1"/>
          </p:cNvSpPr>
          <p:nvPr>
            <p:ph idx="1"/>
          </p:nvPr>
        </p:nvSpPr>
        <p:spPr>
          <a:xfrm>
            <a:off x="610761" y="1847850"/>
            <a:ext cx="11179629" cy="4351338"/>
          </a:xfrm>
        </p:spPr>
        <p:txBody>
          <a:bodyPr/>
          <a:lstStyle/>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54087C22-34AA-60B8-4F51-490A80FD208A}"/>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3D81718B-1108-4621-7F0F-9BE08E979CC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728D8A3F-909C-679A-BBCA-57447ECA1099}"/>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4" name="文字方塊 3">
            <a:extLst>
              <a:ext uri="{FF2B5EF4-FFF2-40B4-BE49-F238E27FC236}">
                <a16:creationId xmlns:a16="http://schemas.microsoft.com/office/drawing/2014/main" id="{A7E31244-38E6-2B2F-2D3B-991EBB10927B}"/>
              </a:ext>
            </a:extLst>
          </p:cNvPr>
          <p:cNvSpPr txBox="1"/>
          <p:nvPr/>
        </p:nvSpPr>
        <p:spPr>
          <a:xfrm>
            <a:off x="678025" y="1694619"/>
            <a:ext cx="11513975" cy="1938992"/>
          </a:xfrm>
          <a:prstGeom prst="rect">
            <a:avLst/>
          </a:prstGeom>
          <a:noFill/>
        </p:spPr>
        <p:txBody>
          <a:bodyPr wrap="square" rtlCol="0">
            <a:spAutoFit/>
          </a:bodyPr>
          <a:lstStyle/>
          <a:p>
            <a:pPr marL="342900" indent="-3429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Use 30 different global optimization function</a:t>
            </a:r>
          </a:p>
          <a:p>
            <a:pPr marL="342900" indent="-3429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average error (AE)</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average number of function evaluations (AFE)</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success rate (SR)</a:t>
            </a:r>
          </a:p>
          <a:p>
            <a:pPr marL="342900" indent="-3429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Original SMO</a:t>
            </a:r>
          </a:p>
          <a:p>
            <a:pPr marL="342900" indent="-3429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ASMO with M = 4 and ASMO with M = 8</a:t>
            </a:r>
          </a:p>
          <a:p>
            <a:pPr marL="342900" indent="-3429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AMSMO with M = 4 and AMSMO with M  = 8.</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66578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3D58201F-DE6B-3228-96DF-57243C2E0E45}"/>
              </a:ext>
            </a:extLst>
          </p:cNvPr>
          <p:cNvSpPr>
            <a:spLocks noGrp="1"/>
          </p:cNvSpPr>
          <p:nvPr>
            <p:ph type="sldNum" sz="quarter" idx="12"/>
          </p:nvPr>
        </p:nvSpPr>
        <p:spPr/>
        <p:txBody>
          <a:bodyPr/>
          <a:lstStyle/>
          <a:p>
            <a:fld id="{EFAEC03B-316C-4507-8207-D997BB28EB64}" type="slidenum">
              <a:rPr lang="zh-TW" altLang="en-US" smtClean="0"/>
              <a:t>17</a:t>
            </a:fld>
            <a:endParaRPr lang="zh-TW" altLang="en-US"/>
          </a:p>
        </p:txBody>
      </p:sp>
      <p:pic>
        <p:nvPicPr>
          <p:cNvPr id="4" name="圖片 3">
            <a:extLst>
              <a:ext uri="{FF2B5EF4-FFF2-40B4-BE49-F238E27FC236}">
                <a16:creationId xmlns:a16="http://schemas.microsoft.com/office/drawing/2014/main" id="{FC7AF9B0-F9AA-D20F-BF69-E90545A37D2B}"/>
              </a:ext>
            </a:extLst>
          </p:cNvPr>
          <p:cNvPicPr>
            <a:picLocks noChangeAspect="1"/>
          </p:cNvPicPr>
          <p:nvPr/>
        </p:nvPicPr>
        <p:blipFill>
          <a:blip r:embed="rId2"/>
          <a:stretch>
            <a:fillRect/>
          </a:stretch>
        </p:blipFill>
        <p:spPr>
          <a:xfrm>
            <a:off x="212521" y="1714260"/>
            <a:ext cx="5780064" cy="3484011"/>
          </a:xfrm>
          <a:prstGeom prst="rect">
            <a:avLst/>
          </a:prstGeom>
        </p:spPr>
      </p:pic>
      <p:pic>
        <p:nvPicPr>
          <p:cNvPr id="6" name="圖片 5">
            <a:extLst>
              <a:ext uri="{FF2B5EF4-FFF2-40B4-BE49-F238E27FC236}">
                <a16:creationId xmlns:a16="http://schemas.microsoft.com/office/drawing/2014/main" id="{08CA011C-6BD3-3F37-25A0-321101F00CB6}"/>
              </a:ext>
            </a:extLst>
          </p:cNvPr>
          <p:cNvPicPr>
            <a:picLocks noChangeAspect="1"/>
          </p:cNvPicPr>
          <p:nvPr/>
        </p:nvPicPr>
        <p:blipFill>
          <a:blip r:embed="rId3"/>
          <a:stretch>
            <a:fillRect/>
          </a:stretch>
        </p:blipFill>
        <p:spPr>
          <a:xfrm>
            <a:off x="6095999" y="1675700"/>
            <a:ext cx="5883479" cy="3530088"/>
          </a:xfrm>
          <a:prstGeom prst="rect">
            <a:avLst/>
          </a:prstGeom>
        </p:spPr>
      </p:pic>
    </p:spTree>
    <p:extLst>
      <p:ext uri="{BB962C8B-B14F-4D97-AF65-F5344CB8AC3E}">
        <p14:creationId xmlns:p14="http://schemas.microsoft.com/office/powerpoint/2010/main" val="4533531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3D58201F-DE6B-3228-96DF-57243C2E0E45}"/>
              </a:ext>
            </a:extLst>
          </p:cNvPr>
          <p:cNvSpPr>
            <a:spLocks noGrp="1"/>
          </p:cNvSpPr>
          <p:nvPr>
            <p:ph type="sldNum" sz="quarter" idx="12"/>
          </p:nvPr>
        </p:nvSpPr>
        <p:spPr/>
        <p:txBody>
          <a:bodyPr/>
          <a:lstStyle/>
          <a:p>
            <a:fld id="{EFAEC03B-316C-4507-8207-D997BB28EB64}" type="slidenum">
              <a:rPr lang="zh-TW" altLang="en-US" smtClean="0"/>
              <a:t>18</a:t>
            </a:fld>
            <a:endParaRPr lang="zh-TW" altLang="en-US"/>
          </a:p>
        </p:txBody>
      </p:sp>
      <p:pic>
        <p:nvPicPr>
          <p:cNvPr id="4" name="圖片 3">
            <a:extLst>
              <a:ext uri="{FF2B5EF4-FFF2-40B4-BE49-F238E27FC236}">
                <a16:creationId xmlns:a16="http://schemas.microsoft.com/office/drawing/2014/main" id="{BF4AE28D-39F4-DE46-5B50-490EE0EFD0E5}"/>
              </a:ext>
            </a:extLst>
          </p:cNvPr>
          <p:cNvPicPr>
            <a:picLocks noChangeAspect="1"/>
          </p:cNvPicPr>
          <p:nvPr/>
        </p:nvPicPr>
        <p:blipFill>
          <a:blip r:embed="rId2"/>
          <a:stretch>
            <a:fillRect/>
          </a:stretch>
        </p:blipFill>
        <p:spPr>
          <a:xfrm>
            <a:off x="233209" y="1895902"/>
            <a:ext cx="6022481" cy="3397551"/>
          </a:xfrm>
          <a:prstGeom prst="rect">
            <a:avLst/>
          </a:prstGeom>
        </p:spPr>
      </p:pic>
      <p:pic>
        <p:nvPicPr>
          <p:cNvPr id="6" name="圖片 5">
            <a:extLst>
              <a:ext uri="{FF2B5EF4-FFF2-40B4-BE49-F238E27FC236}">
                <a16:creationId xmlns:a16="http://schemas.microsoft.com/office/drawing/2014/main" id="{E68EB42E-72FE-B5D7-7461-43075C570081}"/>
              </a:ext>
            </a:extLst>
          </p:cNvPr>
          <p:cNvPicPr>
            <a:picLocks noChangeAspect="1"/>
          </p:cNvPicPr>
          <p:nvPr/>
        </p:nvPicPr>
        <p:blipFill>
          <a:blip r:embed="rId3"/>
          <a:stretch>
            <a:fillRect/>
          </a:stretch>
        </p:blipFill>
        <p:spPr>
          <a:xfrm>
            <a:off x="6169519" y="1895902"/>
            <a:ext cx="6114397" cy="3296883"/>
          </a:xfrm>
          <a:prstGeom prst="rect">
            <a:avLst/>
          </a:prstGeom>
        </p:spPr>
      </p:pic>
    </p:spTree>
    <p:extLst>
      <p:ext uri="{BB962C8B-B14F-4D97-AF65-F5344CB8AC3E}">
        <p14:creationId xmlns:p14="http://schemas.microsoft.com/office/powerpoint/2010/main" val="40721524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5C1E6732-26AB-25E9-233F-66AD325391FC}"/>
              </a:ext>
            </a:extLst>
          </p:cNvPr>
          <p:cNvSpPr>
            <a:spLocks noGrp="1"/>
          </p:cNvSpPr>
          <p:nvPr>
            <p:ph type="sldNum" sz="quarter" idx="12"/>
          </p:nvPr>
        </p:nvSpPr>
        <p:spPr/>
        <p:txBody>
          <a:bodyPr/>
          <a:lstStyle/>
          <a:p>
            <a:fld id="{EFAEC03B-316C-4507-8207-D997BB28EB64}" type="slidenum">
              <a:rPr lang="zh-TW" altLang="en-US" smtClean="0"/>
              <a:t>19</a:t>
            </a:fld>
            <a:endParaRPr lang="zh-TW" altLang="en-US"/>
          </a:p>
        </p:txBody>
      </p:sp>
      <p:sp>
        <p:nvSpPr>
          <p:cNvPr id="3" name="文字方塊 2">
            <a:extLst>
              <a:ext uri="{FF2B5EF4-FFF2-40B4-BE49-F238E27FC236}">
                <a16:creationId xmlns:a16="http://schemas.microsoft.com/office/drawing/2014/main" id="{614C6CA9-168D-F29C-FA1F-A046A0C4930D}"/>
              </a:ext>
            </a:extLst>
          </p:cNvPr>
          <p:cNvSpPr txBox="1"/>
          <p:nvPr/>
        </p:nvSpPr>
        <p:spPr>
          <a:xfrm>
            <a:off x="4915949" y="2598003"/>
            <a:ext cx="6761526" cy="830997"/>
          </a:xfrm>
          <a:prstGeom prst="rect">
            <a:avLst/>
          </a:prstGeom>
          <a:noFill/>
        </p:spPr>
        <p:txBody>
          <a:bodyPr wrap="square" rtlCol="0">
            <a:spAutoFit/>
          </a:bodyPr>
          <a:lstStyle/>
          <a:p>
            <a:r>
              <a:rPr lang="en-US" altLang="zh-TW" sz="4800" dirty="0">
                <a:solidFill>
                  <a:srgbClr val="1F1F1F"/>
                </a:solidFill>
                <a:latin typeface="Times New Roman" panose="02020603050405020304" pitchFamily="18" charset="0"/>
                <a:ea typeface="+mj-ea"/>
                <a:cs typeface="Times New Roman" panose="02020603050405020304" pitchFamily="18" charset="0"/>
              </a:rPr>
              <a:t>Thanks</a:t>
            </a:r>
            <a:endParaRPr lang="zh-TW" altLang="en-US" sz="4800" dirty="0">
              <a:solidFill>
                <a:srgbClr val="1F1F1F"/>
              </a:solidFill>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2990259563"/>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5850</TotalTime>
  <Words>585</Words>
  <Application>Microsoft Office PowerPoint</Application>
  <PresentationFormat>寬螢幕</PresentationFormat>
  <Paragraphs>81</Paragraphs>
  <Slides>19</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19</vt:i4>
      </vt:variant>
    </vt:vector>
  </HeadingPairs>
  <TitlesOfParts>
    <vt:vector size="24" baseType="lpstr">
      <vt:lpstr>Arial</vt:lpstr>
      <vt:lpstr>Calibri</vt:lpstr>
      <vt:lpstr>Calibri Light</vt:lpstr>
      <vt:lpstr>Times New Roman</vt:lpstr>
      <vt:lpstr>Office 佈景主題</vt:lpstr>
      <vt:lpstr>Ageist Spider Monkey Optimization algorithm</vt:lpstr>
      <vt:lpstr>ABSTRACT</vt:lpstr>
      <vt:lpstr>Fission–Fusion Social Structure (FFSS)</vt:lpstr>
      <vt:lpstr>Main steps of (SMO)</vt:lpstr>
      <vt:lpstr>PowerPoint 簡報</vt:lpstr>
      <vt:lpstr>Local Leader phase</vt:lpstr>
      <vt:lpstr>Global Leader phase</vt:lpstr>
      <vt:lpstr>Local/Global Leader Learning phase </vt:lpstr>
      <vt:lpstr>Local Leader Decision phase</vt:lpstr>
      <vt:lpstr>PowerPoint 簡報</vt:lpstr>
      <vt:lpstr>Global Leader Decision phase</vt:lpstr>
      <vt:lpstr>ASMO</vt:lpstr>
      <vt:lpstr>ASMO</vt:lpstr>
      <vt:lpstr>PowerPoint 簡報</vt:lpstr>
      <vt:lpstr>PowerPoint 簡報</vt:lpstr>
      <vt:lpstr>Experiments</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 Prediction Based on Genetic Algorithm Feature Selection and Long Short-Term Memory Neural Network </dc:title>
  <dc:creator>楊景翔</dc:creator>
  <cp:lastModifiedBy>楊景翔</cp:lastModifiedBy>
  <cp:revision>36</cp:revision>
  <dcterms:created xsi:type="dcterms:W3CDTF">2023-09-05T08:57:34Z</dcterms:created>
  <dcterms:modified xsi:type="dcterms:W3CDTF">2024-06-03T17:55:26Z</dcterms:modified>
</cp:coreProperties>
</file>