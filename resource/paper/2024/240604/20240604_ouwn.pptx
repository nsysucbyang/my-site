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
  </p:notesMasterIdLst>
  <p:sldIdLst>
    <p:sldId id="256" r:id="rId2"/>
    <p:sldId id="264" r:id="rId3"/>
    <p:sldId id="262" r:id="rId4"/>
    <p:sldId id="309" r:id="rId5"/>
    <p:sldId id="298" r:id="rId6"/>
    <p:sldId id="310" r:id="rId7"/>
    <p:sldId id="311" r:id="rId8"/>
    <p:sldId id="312" r:id="rId9"/>
    <p:sldId id="313" r:id="rId10"/>
    <p:sldId id="314" r:id="rId11"/>
    <p:sldId id="308" r:id="rId12"/>
    <p:sldId id="296" r:id="rId13"/>
    <p:sldId id="316" r:id="rId14"/>
    <p:sldId id="315" r:id="rId15"/>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681" autoAdjust="0"/>
    <p:restoredTop sz="62562" autoAdjust="0"/>
  </p:normalViewPr>
  <p:slideViewPr>
    <p:cSldViewPr snapToGrid="0">
      <p:cViewPr varScale="1">
        <p:scale>
          <a:sx n="43" d="100"/>
          <a:sy n="43" d="100"/>
        </p:scale>
        <p:origin x="1788" y="5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123988C-31FC-400F-BF79-FE561904CB54}" type="datetimeFigureOut">
              <a:rPr lang="zh-TW" altLang="en-US" smtClean="0"/>
              <a:t>2024/6/4</a:t>
            </a:fld>
            <a:endParaRPr lang="zh-TW" altLang="en-US"/>
          </a:p>
        </p:txBody>
      </p:sp>
      <p:sp>
        <p:nvSpPr>
          <p:cNvPr id="4" name="投影片圖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670385A-3A9F-4826-B5A3-522D762D8382}" type="slidenum">
              <a:rPr lang="zh-TW" altLang="en-US" smtClean="0"/>
              <a:t>‹#›</a:t>
            </a:fld>
            <a:endParaRPr lang="zh-TW" altLang="en-US"/>
          </a:p>
        </p:txBody>
      </p:sp>
    </p:spTree>
    <p:extLst>
      <p:ext uri="{BB962C8B-B14F-4D97-AF65-F5344CB8AC3E}">
        <p14:creationId xmlns:p14="http://schemas.microsoft.com/office/powerpoint/2010/main" val="4647204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8670385A-3A9F-4826-B5A3-522D762D8382}" type="slidenum">
              <a:rPr lang="zh-TW" altLang="en-US" smtClean="0"/>
              <a:t>1</a:t>
            </a:fld>
            <a:endParaRPr lang="zh-TW" altLang="en-US"/>
          </a:p>
        </p:txBody>
      </p:sp>
    </p:spTree>
    <p:extLst>
      <p:ext uri="{BB962C8B-B14F-4D97-AF65-F5344CB8AC3E}">
        <p14:creationId xmlns:p14="http://schemas.microsoft.com/office/powerpoint/2010/main" val="10148482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8670385A-3A9F-4826-B5A3-522D762D8382}" type="slidenum">
              <a:rPr lang="zh-TW" altLang="en-US" smtClean="0"/>
              <a:t>2</a:t>
            </a:fld>
            <a:endParaRPr lang="zh-TW" altLang="en-US"/>
          </a:p>
        </p:txBody>
      </p:sp>
    </p:spTree>
    <p:extLst>
      <p:ext uri="{BB962C8B-B14F-4D97-AF65-F5344CB8AC3E}">
        <p14:creationId xmlns:p14="http://schemas.microsoft.com/office/powerpoint/2010/main" val="345028086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這篇論文主要是在介紹一個名為帝國主義競爭的演算法，</a:t>
            </a:r>
            <a:endParaRPr lang="en-US" altLang="zh-TW" dirty="0"/>
          </a:p>
          <a:p>
            <a:r>
              <a:rPr lang="zh-TW" altLang="en-US" dirty="0"/>
              <a:t>首先會初始化多個帝國，帝國之間會爭奪殖民地，</a:t>
            </a:r>
            <a:endParaRPr lang="en-US" altLang="zh-TW" dirty="0"/>
          </a:p>
          <a:p>
            <a:r>
              <a:rPr lang="zh-TW" altLang="en-US" dirty="0"/>
              <a:t>弱的帝國會漸漸消失，直到剩下一個帝國時，演算法就會停止。</a:t>
            </a:r>
            <a:endParaRPr lang="en-US" altLang="zh-TW" dirty="0"/>
          </a:p>
        </p:txBody>
      </p:sp>
      <p:sp>
        <p:nvSpPr>
          <p:cNvPr id="4" name="投影片編號版面配置區 3"/>
          <p:cNvSpPr>
            <a:spLocks noGrp="1"/>
          </p:cNvSpPr>
          <p:nvPr>
            <p:ph type="sldNum" sz="quarter" idx="10"/>
          </p:nvPr>
        </p:nvSpPr>
        <p:spPr/>
        <p:txBody>
          <a:bodyPr/>
          <a:lstStyle/>
          <a:p>
            <a:fld id="{8670385A-3A9F-4826-B5A3-522D762D8382}" type="slidenum">
              <a:rPr lang="zh-TW" altLang="en-US" smtClean="0"/>
              <a:t>3</a:t>
            </a:fld>
            <a:endParaRPr lang="zh-TW" altLang="en-US"/>
          </a:p>
        </p:txBody>
      </p:sp>
    </p:spTree>
    <p:extLst>
      <p:ext uri="{BB962C8B-B14F-4D97-AF65-F5344CB8AC3E}">
        <p14:creationId xmlns:p14="http://schemas.microsoft.com/office/powerpoint/2010/main" val="225416809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sz="1200" kern="1200" dirty="0">
                <a:solidFill>
                  <a:schemeClr val="tx1"/>
                </a:solidFill>
                <a:effectLst/>
                <a:latin typeface="+mn-lt"/>
                <a:ea typeface="+mn-ea"/>
                <a:cs typeface="+mn-cs"/>
              </a:rPr>
              <a:t>首先介紹一下整體的流程，首先會初始化一些國家，像是右邊那張圖，</a:t>
            </a:r>
            <a:endParaRPr lang="en-US" altLang="zh-TW" sz="1200" kern="1200" dirty="0">
              <a:solidFill>
                <a:schemeClr val="tx1"/>
              </a:solidFill>
              <a:effectLst/>
              <a:latin typeface="+mn-lt"/>
              <a:ea typeface="+mn-ea"/>
              <a:cs typeface="+mn-cs"/>
            </a:endParaRPr>
          </a:p>
          <a:p>
            <a:r>
              <a:rPr lang="zh-TW" altLang="en-US" sz="1200" kern="1200" dirty="0">
                <a:solidFill>
                  <a:schemeClr val="tx1"/>
                </a:solidFill>
                <a:effectLst/>
                <a:latin typeface="+mn-lt"/>
                <a:ea typeface="+mn-ea"/>
                <a:cs typeface="+mn-cs"/>
              </a:rPr>
              <a:t>不同顏色的星星代表不同的宗主國，其他圈圈則是該宗主國的殖民地。</a:t>
            </a:r>
            <a:endParaRPr lang="en-US" altLang="zh-TW" sz="1200" kern="1200" dirty="0">
              <a:solidFill>
                <a:schemeClr val="tx1"/>
              </a:solidFill>
              <a:effectLst/>
              <a:latin typeface="+mn-lt"/>
              <a:ea typeface="+mn-ea"/>
              <a:cs typeface="+mn-cs"/>
            </a:endParaRPr>
          </a:p>
          <a:p>
            <a:r>
              <a:rPr lang="zh-TW" altLang="en-US" sz="1200" kern="1200" dirty="0">
                <a:solidFill>
                  <a:schemeClr val="tx1"/>
                </a:solidFill>
                <a:effectLst/>
                <a:latin typeface="+mn-lt"/>
                <a:ea typeface="+mn-ea"/>
                <a:cs typeface="+mn-cs"/>
              </a:rPr>
              <a:t>最弱的帝國會漸漸的被其他帝國併吞。</a:t>
            </a:r>
            <a:endParaRPr lang="en-US" altLang="zh-TW" sz="1200" kern="1200" dirty="0">
              <a:solidFill>
                <a:schemeClr val="tx1"/>
              </a:solidFill>
              <a:effectLst/>
              <a:latin typeface="+mn-lt"/>
              <a:ea typeface="+mn-ea"/>
              <a:cs typeface="+mn-cs"/>
            </a:endParaRPr>
          </a:p>
          <a:p>
            <a:endParaRPr lang="en-US" altLang="zh-TW" sz="1200" kern="1200" dirty="0">
              <a:solidFill>
                <a:schemeClr val="tx1"/>
              </a:solidFill>
              <a:effectLst/>
              <a:latin typeface="+mn-lt"/>
              <a:ea typeface="+mn-ea"/>
              <a:cs typeface="+mn-cs"/>
            </a:endParaRPr>
          </a:p>
          <a:p>
            <a:r>
              <a:rPr lang="zh-TW" altLang="en-US" sz="1200" kern="1200" dirty="0">
                <a:solidFill>
                  <a:schemeClr val="tx1"/>
                </a:solidFill>
                <a:effectLst/>
                <a:latin typeface="+mn-lt"/>
                <a:ea typeface="+mn-ea"/>
                <a:cs typeface="+mn-cs"/>
              </a:rPr>
              <a:t>回到左邊的流程圖，初始化各個帝國之後，每個殖民地會慢慢往他的宗主國的位置移動，這個行為稱為同化。</a:t>
            </a:r>
            <a:endParaRPr lang="en-US" altLang="zh-TW" sz="1200" kern="1200" dirty="0">
              <a:solidFill>
                <a:schemeClr val="tx1"/>
              </a:solidFill>
              <a:effectLst/>
              <a:latin typeface="+mn-lt"/>
              <a:ea typeface="+mn-ea"/>
              <a:cs typeface="+mn-cs"/>
            </a:endParaRPr>
          </a:p>
          <a:p>
            <a:r>
              <a:rPr lang="zh-TW" altLang="en-US" sz="1200" kern="1200" dirty="0">
                <a:solidFill>
                  <a:schemeClr val="tx1"/>
                </a:solidFill>
                <a:effectLst/>
                <a:latin typeface="+mn-lt"/>
                <a:ea typeface="+mn-ea"/>
                <a:cs typeface="+mn-cs"/>
              </a:rPr>
              <a:t>如果殖民地的解比宗主國好的話，就交換殖民地跟宗主國的位置。</a:t>
            </a:r>
            <a:endParaRPr lang="en-US" altLang="zh-TW" sz="1200" kern="1200" dirty="0">
              <a:solidFill>
                <a:schemeClr val="tx1"/>
              </a:solidFill>
              <a:effectLst/>
              <a:latin typeface="+mn-lt"/>
              <a:ea typeface="+mn-ea"/>
              <a:cs typeface="+mn-cs"/>
            </a:endParaRPr>
          </a:p>
          <a:p>
            <a:r>
              <a:rPr lang="zh-TW" altLang="en-US" sz="1200" kern="1200" dirty="0">
                <a:solidFill>
                  <a:schemeClr val="tx1"/>
                </a:solidFill>
                <a:effectLst/>
                <a:latin typeface="+mn-lt"/>
                <a:ea typeface="+mn-ea"/>
                <a:cs typeface="+mn-cs"/>
              </a:rPr>
              <a:t>再來就是計算所有帝國的勢力，找出最弱的帝國之後，其他帝國就會開始競爭那個殖民地，</a:t>
            </a:r>
            <a:endParaRPr lang="en-US" altLang="zh-TW" sz="1200" kern="1200" dirty="0">
              <a:solidFill>
                <a:schemeClr val="tx1"/>
              </a:solidFill>
              <a:effectLst/>
              <a:latin typeface="+mn-lt"/>
              <a:ea typeface="+mn-ea"/>
              <a:cs typeface="+mn-cs"/>
            </a:endParaRPr>
          </a:p>
          <a:p>
            <a:r>
              <a:rPr lang="zh-TW" altLang="en-US" sz="1200" kern="1200" dirty="0">
                <a:solidFill>
                  <a:schemeClr val="tx1"/>
                </a:solidFill>
                <a:effectLst/>
                <a:latin typeface="+mn-lt"/>
                <a:ea typeface="+mn-ea"/>
                <a:cs typeface="+mn-cs"/>
              </a:rPr>
              <a:t>接下來，如果有個帝國已經沒有任何殖民地時，會把這個帝國刪除。</a:t>
            </a:r>
            <a:endParaRPr lang="en-US" altLang="zh-TW" sz="1200" kern="1200" dirty="0">
              <a:solidFill>
                <a:schemeClr val="tx1"/>
              </a:solidFill>
              <a:effectLst/>
              <a:latin typeface="+mn-lt"/>
              <a:ea typeface="+mn-ea"/>
              <a:cs typeface="+mn-cs"/>
            </a:endParaRPr>
          </a:p>
          <a:p>
            <a:r>
              <a:rPr lang="zh-TW" altLang="en-US" sz="1200" kern="1200" dirty="0">
                <a:solidFill>
                  <a:schemeClr val="tx1"/>
                </a:solidFill>
                <a:effectLst/>
                <a:latin typeface="+mn-lt"/>
                <a:ea typeface="+mn-ea"/>
                <a:cs typeface="+mn-cs"/>
              </a:rPr>
              <a:t>刪除到最後，如果只剩下一個帝國存活，就停止演算法。</a:t>
            </a:r>
            <a:endParaRPr lang="en-US" altLang="zh-TW" sz="1200" kern="1200" dirty="0">
              <a:solidFill>
                <a:schemeClr val="tx1"/>
              </a:solidFill>
              <a:effectLst/>
              <a:latin typeface="+mn-lt"/>
              <a:ea typeface="+mn-ea"/>
              <a:cs typeface="+mn-cs"/>
            </a:endParaRPr>
          </a:p>
        </p:txBody>
      </p:sp>
      <p:sp>
        <p:nvSpPr>
          <p:cNvPr id="4" name="投影片編號版面配置區 3"/>
          <p:cNvSpPr>
            <a:spLocks noGrp="1"/>
          </p:cNvSpPr>
          <p:nvPr>
            <p:ph type="sldNum" sz="quarter" idx="10"/>
          </p:nvPr>
        </p:nvSpPr>
        <p:spPr/>
        <p:txBody>
          <a:bodyPr/>
          <a:lstStyle/>
          <a:p>
            <a:fld id="{8670385A-3A9F-4826-B5A3-522D762D8382}" type="slidenum">
              <a:rPr lang="zh-TW" altLang="en-US" smtClean="0"/>
              <a:t>4</a:t>
            </a:fld>
            <a:endParaRPr lang="zh-TW" altLang="en-US"/>
          </a:p>
        </p:txBody>
      </p:sp>
    </p:spTree>
    <p:extLst>
      <p:ext uri="{BB962C8B-B14F-4D97-AF65-F5344CB8AC3E}">
        <p14:creationId xmlns:p14="http://schemas.microsoft.com/office/powerpoint/2010/main" val="237795029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sz="1200" kern="1200" dirty="0">
                <a:solidFill>
                  <a:schemeClr val="tx1"/>
                </a:solidFill>
                <a:effectLst/>
                <a:latin typeface="+mn-lt"/>
                <a:ea typeface="+mn-ea"/>
                <a:cs typeface="+mn-cs"/>
              </a:rPr>
              <a:t>接著是詳細的運行方式。</a:t>
            </a:r>
            <a:endParaRPr lang="en-US" altLang="zh-TW" sz="1200" kern="1200" dirty="0">
              <a:solidFill>
                <a:schemeClr val="tx1"/>
              </a:solidFill>
              <a:effectLst/>
              <a:latin typeface="+mn-lt"/>
              <a:ea typeface="+mn-ea"/>
              <a:cs typeface="+mn-cs"/>
            </a:endParaRPr>
          </a:p>
          <a:p>
            <a:r>
              <a:rPr lang="zh-TW" altLang="en-US" sz="1200" kern="1200" dirty="0">
                <a:solidFill>
                  <a:schemeClr val="tx1"/>
                </a:solidFill>
                <a:effectLst/>
                <a:latin typeface="+mn-lt"/>
                <a:ea typeface="+mn-ea"/>
                <a:cs typeface="+mn-cs"/>
              </a:rPr>
              <a:t>首先會初始化一些國家，一個國家在維度</a:t>
            </a:r>
            <a:r>
              <a:rPr lang="en-US" altLang="zh-TW" sz="1200" kern="1200" dirty="0">
                <a:solidFill>
                  <a:schemeClr val="tx1"/>
                </a:solidFill>
                <a:effectLst/>
                <a:latin typeface="+mn-lt"/>
                <a:ea typeface="+mn-ea"/>
                <a:cs typeface="+mn-cs"/>
              </a:rPr>
              <a:t>N</a:t>
            </a:r>
            <a:r>
              <a:rPr lang="zh-TW" altLang="en-US" sz="1200" kern="1200" dirty="0">
                <a:solidFill>
                  <a:schemeClr val="tx1"/>
                </a:solidFill>
                <a:effectLst/>
                <a:latin typeface="+mn-lt"/>
                <a:ea typeface="+mn-ea"/>
                <a:cs typeface="+mn-cs"/>
              </a:rPr>
              <a:t>時的表示方法如下，</a:t>
            </a:r>
            <a:r>
              <a:rPr lang="en-US" altLang="zh-TW" sz="1200" kern="1200" dirty="0">
                <a:solidFill>
                  <a:schemeClr val="tx1"/>
                </a:solidFill>
                <a:effectLst/>
                <a:latin typeface="+mn-lt"/>
                <a:ea typeface="+mn-ea"/>
                <a:cs typeface="+mn-cs"/>
              </a:rPr>
              <a:t>country=[p1,p2,p3,…,</a:t>
            </a:r>
            <a:r>
              <a:rPr lang="en-US" altLang="zh-TW" sz="1200" kern="1200" dirty="0" err="1">
                <a:solidFill>
                  <a:schemeClr val="tx1"/>
                </a:solidFill>
                <a:effectLst/>
                <a:latin typeface="+mn-lt"/>
                <a:ea typeface="+mn-ea"/>
                <a:cs typeface="+mn-cs"/>
              </a:rPr>
              <a:t>pNvar</a:t>
            </a:r>
            <a:r>
              <a:rPr lang="en-US" altLang="zh-TW" sz="1200" kern="1200" dirty="0">
                <a:solidFill>
                  <a:schemeClr val="tx1"/>
                </a:solidFill>
                <a:effectLst/>
                <a:latin typeface="+mn-lt"/>
                <a:ea typeface="+mn-ea"/>
                <a:cs typeface="+mn-cs"/>
              </a:rPr>
              <a:t>]</a:t>
            </a:r>
          </a:p>
          <a:p>
            <a:endParaRPr lang="en-US" altLang="zh-TW" sz="1200" kern="1200" dirty="0">
              <a:solidFill>
                <a:schemeClr val="tx1"/>
              </a:solidFill>
              <a:effectLst/>
              <a:latin typeface="+mn-lt"/>
              <a:ea typeface="+mn-ea"/>
              <a:cs typeface="+mn-cs"/>
            </a:endParaRPr>
          </a:p>
          <a:p>
            <a:r>
              <a:rPr lang="zh-TW" altLang="en-US" sz="1200" kern="1200" dirty="0">
                <a:solidFill>
                  <a:schemeClr val="tx1"/>
                </a:solidFill>
                <a:effectLst/>
                <a:latin typeface="+mn-lt"/>
                <a:ea typeface="+mn-ea"/>
                <a:cs typeface="+mn-cs"/>
              </a:rPr>
              <a:t>然後會使用函數</a:t>
            </a:r>
            <a:r>
              <a:rPr lang="en-US" altLang="zh-TW" sz="1200" kern="1200" dirty="0">
                <a:solidFill>
                  <a:schemeClr val="tx1"/>
                </a:solidFill>
                <a:effectLst/>
                <a:latin typeface="+mn-lt"/>
                <a:ea typeface="+mn-ea"/>
                <a:cs typeface="+mn-cs"/>
              </a:rPr>
              <a:t>f</a:t>
            </a:r>
            <a:r>
              <a:rPr lang="zh-TW" altLang="en-US" sz="1200" kern="1200" dirty="0">
                <a:solidFill>
                  <a:schemeClr val="tx1"/>
                </a:solidFill>
                <a:effectLst/>
                <a:latin typeface="+mn-lt"/>
                <a:ea typeface="+mn-ea"/>
                <a:cs typeface="+mn-cs"/>
              </a:rPr>
              <a:t>去計算每個國家的</a:t>
            </a:r>
            <a:r>
              <a:rPr lang="en-US" altLang="zh-TW" sz="1200" kern="1200" dirty="0">
                <a:solidFill>
                  <a:schemeClr val="tx1"/>
                </a:solidFill>
                <a:effectLst/>
                <a:latin typeface="+mn-lt"/>
                <a:ea typeface="+mn-ea"/>
                <a:cs typeface="+mn-cs"/>
              </a:rPr>
              <a:t>cost</a:t>
            </a:r>
            <a:r>
              <a:rPr lang="zh-TW" altLang="en-US" sz="1200" kern="1200" dirty="0">
                <a:solidFill>
                  <a:schemeClr val="tx1"/>
                </a:solidFill>
                <a:effectLst/>
                <a:latin typeface="+mn-lt"/>
                <a:ea typeface="+mn-ea"/>
                <a:cs typeface="+mn-cs"/>
              </a:rPr>
              <a:t>，一個國家的</a:t>
            </a:r>
            <a:r>
              <a:rPr lang="en-US" altLang="zh-TW" sz="1200" kern="1200" dirty="0">
                <a:solidFill>
                  <a:schemeClr val="tx1"/>
                </a:solidFill>
                <a:effectLst/>
                <a:latin typeface="+mn-lt"/>
                <a:ea typeface="+mn-ea"/>
                <a:cs typeface="+mn-cs"/>
              </a:rPr>
              <a:t>cost</a:t>
            </a:r>
            <a:r>
              <a:rPr lang="zh-TW" altLang="en-US" sz="1200" kern="1200" dirty="0">
                <a:solidFill>
                  <a:schemeClr val="tx1"/>
                </a:solidFill>
                <a:effectLst/>
                <a:latin typeface="+mn-lt"/>
                <a:ea typeface="+mn-ea"/>
                <a:cs typeface="+mn-cs"/>
              </a:rPr>
              <a:t>值越小，國家的勢力就越大。</a:t>
            </a:r>
            <a:endParaRPr lang="en-US" altLang="zh-TW" sz="1200" kern="1200" dirty="0">
              <a:solidFill>
                <a:schemeClr val="tx1"/>
              </a:solidFill>
              <a:effectLst/>
              <a:latin typeface="+mn-lt"/>
              <a:ea typeface="+mn-ea"/>
              <a:cs typeface="+mn-cs"/>
            </a:endParaRPr>
          </a:p>
          <a:p>
            <a:endParaRPr lang="en-US" altLang="zh-TW" sz="1200" kern="1200" dirty="0">
              <a:solidFill>
                <a:schemeClr val="tx1"/>
              </a:solidFill>
              <a:effectLst/>
              <a:latin typeface="+mn-lt"/>
              <a:ea typeface="+mn-ea"/>
              <a:cs typeface="+mn-cs"/>
            </a:endParaRPr>
          </a:p>
          <a:p>
            <a:r>
              <a:rPr lang="zh-TW" altLang="en-US" sz="1200" kern="1200" dirty="0">
                <a:solidFill>
                  <a:schemeClr val="tx1"/>
                </a:solidFill>
                <a:effectLst/>
                <a:latin typeface="+mn-lt"/>
                <a:ea typeface="+mn-ea"/>
                <a:cs typeface="+mn-cs"/>
              </a:rPr>
              <a:t>所以一開始會在隨機生成的國家中，挑選幾個勢力強大的國家作為宗主國，剩下的國家則是殖民地。</a:t>
            </a:r>
            <a:endParaRPr lang="en-US" altLang="zh-TW" sz="1200" kern="1200" dirty="0">
              <a:solidFill>
                <a:schemeClr val="tx1"/>
              </a:solidFill>
              <a:effectLst/>
              <a:latin typeface="+mn-lt"/>
              <a:ea typeface="+mn-ea"/>
              <a:cs typeface="+mn-cs"/>
            </a:endParaRPr>
          </a:p>
          <a:p>
            <a:endParaRPr lang="en-US" altLang="zh-TW" sz="1200" kern="1200" dirty="0">
              <a:solidFill>
                <a:schemeClr val="tx1"/>
              </a:solidFill>
              <a:effectLst/>
              <a:latin typeface="+mn-lt"/>
              <a:ea typeface="+mn-ea"/>
              <a:cs typeface="+mn-cs"/>
            </a:endParaRPr>
          </a:p>
          <a:p>
            <a:r>
              <a:rPr lang="zh-TW" altLang="en-US" sz="1200" kern="1200" dirty="0">
                <a:solidFill>
                  <a:schemeClr val="tx1"/>
                </a:solidFill>
                <a:effectLst/>
                <a:latin typeface="+mn-lt"/>
                <a:ea typeface="+mn-ea"/>
                <a:cs typeface="+mn-cs"/>
              </a:rPr>
              <a:t>一個帝國會由一個宗主國跟多個殖民地組成，勢力越大的國家會擁有更多的殖民地。</a:t>
            </a:r>
            <a:endParaRPr lang="en-US" altLang="zh-TW" sz="1200" kern="1200" dirty="0">
              <a:solidFill>
                <a:schemeClr val="tx1"/>
              </a:solidFill>
              <a:effectLst/>
              <a:latin typeface="+mn-lt"/>
              <a:ea typeface="+mn-ea"/>
              <a:cs typeface="+mn-cs"/>
            </a:endParaRPr>
          </a:p>
          <a:p>
            <a:endParaRPr lang="en-US" altLang="zh-TW" sz="1200" kern="1200" dirty="0">
              <a:solidFill>
                <a:schemeClr val="tx1"/>
              </a:solidFill>
              <a:effectLst/>
              <a:latin typeface="+mn-lt"/>
              <a:ea typeface="+mn-ea"/>
              <a:cs typeface="+mn-cs"/>
            </a:endParaRPr>
          </a:p>
          <a:p>
            <a:r>
              <a:rPr lang="zh-TW" altLang="en-US" sz="1200" kern="1200" dirty="0">
                <a:solidFill>
                  <a:schemeClr val="tx1"/>
                </a:solidFill>
                <a:effectLst/>
                <a:latin typeface="+mn-lt"/>
                <a:ea typeface="+mn-ea"/>
                <a:cs typeface="+mn-cs"/>
              </a:rPr>
              <a:t>接下來的公式</a:t>
            </a:r>
            <a:r>
              <a:rPr lang="en-US" altLang="zh-TW" sz="1200" kern="1200" dirty="0">
                <a:solidFill>
                  <a:schemeClr val="tx1"/>
                </a:solidFill>
                <a:effectLst/>
                <a:latin typeface="+mn-lt"/>
                <a:ea typeface="+mn-ea"/>
                <a:cs typeface="+mn-cs"/>
              </a:rPr>
              <a:t>Cn</a:t>
            </a:r>
            <a:r>
              <a:rPr lang="zh-TW" altLang="en-US" sz="1200" kern="1200" dirty="0">
                <a:solidFill>
                  <a:schemeClr val="tx1"/>
                </a:solidFill>
                <a:effectLst/>
                <a:latin typeface="+mn-lt"/>
                <a:ea typeface="+mn-ea"/>
                <a:cs typeface="+mn-cs"/>
              </a:rPr>
              <a:t>是為了計算宗主國</a:t>
            </a:r>
            <a:r>
              <a:rPr lang="en-US" altLang="zh-TW" sz="1200" kern="1200" dirty="0">
                <a:solidFill>
                  <a:schemeClr val="tx1"/>
                </a:solidFill>
                <a:effectLst/>
                <a:latin typeface="+mn-lt"/>
                <a:ea typeface="+mn-ea"/>
                <a:cs typeface="+mn-cs"/>
              </a:rPr>
              <a:t>n</a:t>
            </a:r>
            <a:r>
              <a:rPr lang="zh-TW" altLang="en-US" sz="1200" kern="1200" dirty="0">
                <a:solidFill>
                  <a:schemeClr val="tx1"/>
                </a:solidFill>
                <a:effectLst/>
                <a:latin typeface="+mn-lt"/>
                <a:ea typeface="+mn-ea"/>
                <a:cs typeface="+mn-cs"/>
              </a:rPr>
              <a:t>，和最差的宗主國之間的相對值。  </a:t>
            </a:r>
            <a:r>
              <a:rPr lang="en-US" altLang="zh-TW" sz="1200" kern="1200" dirty="0">
                <a:solidFill>
                  <a:schemeClr val="tx1"/>
                </a:solidFill>
                <a:effectLst/>
                <a:latin typeface="+mn-lt"/>
                <a:ea typeface="+mn-ea"/>
                <a:cs typeface="+mn-cs"/>
              </a:rPr>
              <a:t>// </a:t>
            </a:r>
            <a:r>
              <a:rPr lang="zh-TW" altLang="en-US" sz="1200" kern="1200" dirty="0">
                <a:solidFill>
                  <a:schemeClr val="tx1"/>
                </a:solidFill>
                <a:effectLst/>
                <a:latin typeface="+mn-lt"/>
                <a:ea typeface="+mn-ea"/>
                <a:cs typeface="+mn-cs"/>
              </a:rPr>
              <a:t>所以正常來說大</a:t>
            </a:r>
            <a:r>
              <a:rPr lang="en-US" altLang="zh-TW" sz="1200" kern="1200" dirty="0">
                <a:solidFill>
                  <a:schemeClr val="tx1"/>
                </a:solidFill>
                <a:effectLst/>
                <a:latin typeface="+mn-lt"/>
                <a:ea typeface="+mn-ea"/>
                <a:cs typeface="+mn-cs"/>
              </a:rPr>
              <a:t>Cn</a:t>
            </a:r>
            <a:r>
              <a:rPr lang="zh-TW" altLang="en-US" sz="1200" kern="1200" dirty="0">
                <a:solidFill>
                  <a:schemeClr val="tx1"/>
                </a:solidFill>
                <a:effectLst/>
                <a:latin typeface="+mn-lt"/>
                <a:ea typeface="+mn-ea"/>
                <a:cs typeface="+mn-cs"/>
              </a:rPr>
              <a:t>的值會是負數或是</a:t>
            </a:r>
            <a:r>
              <a:rPr lang="en-US" altLang="zh-TW" sz="1200" kern="1200" dirty="0">
                <a:solidFill>
                  <a:schemeClr val="tx1"/>
                </a:solidFill>
                <a:effectLst/>
                <a:latin typeface="+mn-lt"/>
                <a:ea typeface="+mn-ea"/>
                <a:cs typeface="+mn-cs"/>
              </a:rPr>
              <a:t>0</a:t>
            </a:r>
            <a:r>
              <a:rPr lang="zh-TW" altLang="en-US" sz="1200" kern="1200" dirty="0">
                <a:solidFill>
                  <a:schemeClr val="tx1"/>
                </a:solidFill>
                <a:effectLst/>
                <a:latin typeface="+mn-lt"/>
                <a:ea typeface="+mn-ea"/>
                <a:cs typeface="+mn-cs"/>
              </a:rPr>
              <a:t>。</a:t>
            </a:r>
            <a:endParaRPr lang="en-US" altLang="zh-TW" sz="1200" kern="1200" dirty="0">
              <a:solidFill>
                <a:schemeClr val="tx1"/>
              </a:solidFill>
              <a:effectLst/>
              <a:latin typeface="+mn-lt"/>
              <a:ea typeface="+mn-ea"/>
              <a:cs typeface="+mn-cs"/>
            </a:endParaRPr>
          </a:p>
          <a:p>
            <a:endParaRPr lang="en-US" altLang="zh-TW" sz="1200" kern="1200" dirty="0">
              <a:solidFill>
                <a:schemeClr val="tx1"/>
              </a:solidFill>
              <a:effectLst/>
              <a:latin typeface="+mn-lt"/>
              <a:ea typeface="+mn-ea"/>
              <a:cs typeface="+mn-cs"/>
            </a:endParaRPr>
          </a:p>
          <a:p>
            <a:r>
              <a:rPr lang="zh-TW" altLang="en-US" sz="1200" kern="1200" dirty="0">
                <a:solidFill>
                  <a:schemeClr val="tx1"/>
                </a:solidFill>
                <a:effectLst/>
                <a:latin typeface="+mn-lt"/>
                <a:ea typeface="+mn-ea"/>
                <a:cs typeface="+mn-cs"/>
              </a:rPr>
              <a:t>得到所有宗主國的</a:t>
            </a:r>
            <a:r>
              <a:rPr lang="en-US" altLang="zh-TW" dirty="0"/>
              <a:t>normalized cost</a:t>
            </a:r>
            <a:r>
              <a:rPr lang="zh-TW" altLang="en-US" dirty="0"/>
              <a:t>之後，宗主國之間的相對勢力會被表示成這個公式。</a:t>
            </a:r>
            <a:endParaRPr lang="en-US" altLang="zh-TW" sz="1200" kern="1200" dirty="0">
              <a:solidFill>
                <a:schemeClr val="tx1"/>
              </a:solidFill>
              <a:effectLst/>
              <a:latin typeface="+mn-lt"/>
              <a:ea typeface="+mn-ea"/>
              <a:cs typeface="+mn-cs"/>
            </a:endParaRPr>
          </a:p>
          <a:p>
            <a:endParaRPr lang="en-US" altLang="zh-TW" sz="1200" kern="1200" dirty="0">
              <a:solidFill>
                <a:schemeClr val="tx1"/>
              </a:solidFill>
              <a:effectLst/>
              <a:latin typeface="+mn-lt"/>
              <a:ea typeface="+mn-ea"/>
              <a:cs typeface="+mn-cs"/>
            </a:endParaRPr>
          </a:p>
          <a:p>
            <a:r>
              <a:rPr lang="zh-TW" altLang="en-US" sz="1200" kern="1200" dirty="0">
                <a:solidFill>
                  <a:schemeClr val="tx1"/>
                </a:solidFill>
                <a:effectLst/>
                <a:latin typeface="+mn-lt"/>
                <a:ea typeface="+mn-ea"/>
                <a:cs typeface="+mn-cs"/>
              </a:rPr>
              <a:t>最後的公式則是用來計算出，每個宗主國會被分配到的殖民地數量，之後會隨機分配這個數量的殖民地給宗主國。</a:t>
            </a:r>
            <a:endParaRPr lang="en-US" altLang="zh-TW" sz="1200" kern="1200" dirty="0">
              <a:solidFill>
                <a:schemeClr val="tx1"/>
              </a:solidFill>
              <a:effectLst/>
              <a:latin typeface="+mn-lt"/>
              <a:ea typeface="+mn-ea"/>
              <a:cs typeface="+mn-cs"/>
            </a:endParaRPr>
          </a:p>
        </p:txBody>
      </p:sp>
      <p:sp>
        <p:nvSpPr>
          <p:cNvPr id="4" name="投影片編號版面配置區 3"/>
          <p:cNvSpPr>
            <a:spLocks noGrp="1"/>
          </p:cNvSpPr>
          <p:nvPr>
            <p:ph type="sldNum" sz="quarter" idx="10"/>
          </p:nvPr>
        </p:nvSpPr>
        <p:spPr/>
        <p:txBody>
          <a:bodyPr/>
          <a:lstStyle/>
          <a:p>
            <a:fld id="{8670385A-3A9F-4826-B5A3-522D762D8382}" type="slidenum">
              <a:rPr lang="zh-TW" altLang="en-US" smtClean="0"/>
              <a:t>5</a:t>
            </a:fld>
            <a:endParaRPr lang="zh-TW" altLang="en-US"/>
          </a:p>
        </p:txBody>
      </p:sp>
    </p:spTree>
    <p:extLst>
      <p:ext uri="{BB962C8B-B14F-4D97-AF65-F5344CB8AC3E}">
        <p14:creationId xmlns:p14="http://schemas.microsoft.com/office/powerpoint/2010/main" val="280755837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sz="1200" kern="1200" dirty="0">
                <a:solidFill>
                  <a:schemeClr val="tx1"/>
                </a:solidFill>
                <a:effectLst/>
                <a:latin typeface="+mn-lt"/>
                <a:ea typeface="+mn-ea"/>
                <a:cs typeface="+mn-cs"/>
              </a:rPr>
              <a:t>決定好宗主國跟殖民地之後，每個殖民地會慢慢地朝著所屬的宗主國靠近，這個過程也稱為同化。</a:t>
            </a:r>
            <a:endParaRPr lang="en-US" altLang="zh-TW" sz="1200" kern="1200" dirty="0">
              <a:solidFill>
                <a:schemeClr val="tx1"/>
              </a:solidFill>
              <a:effectLst/>
              <a:latin typeface="+mn-lt"/>
              <a:ea typeface="+mn-ea"/>
              <a:cs typeface="+mn-cs"/>
            </a:endParaRPr>
          </a:p>
          <a:p>
            <a:endParaRPr lang="en-US" altLang="zh-TW" sz="1200" kern="1200" dirty="0">
              <a:solidFill>
                <a:schemeClr val="tx1"/>
              </a:solidFill>
              <a:effectLst/>
              <a:latin typeface="+mn-lt"/>
              <a:ea typeface="+mn-ea"/>
              <a:cs typeface="+mn-cs"/>
            </a:endParaRPr>
          </a:p>
          <a:p>
            <a:r>
              <a:rPr lang="zh-TW" altLang="en-US" sz="1200" kern="1200" dirty="0">
                <a:solidFill>
                  <a:schemeClr val="tx1"/>
                </a:solidFill>
                <a:effectLst/>
                <a:latin typeface="+mn-lt"/>
                <a:ea typeface="+mn-ea"/>
                <a:cs typeface="+mn-cs"/>
              </a:rPr>
              <a:t>左圖就是一個殖民地逐漸往宗主國靠近的圖示，最左邊的圈圈是殖民地原本的位置，</a:t>
            </a:r>
            <a:endParaRPr lang="en-US" altLang="zh-TW" sz="1200" kern="1200" dirty="0">
              <a:solidFill>
                <a:schemeClr val="tx1"/>
              </a:solidFill>
              <a:effectLst/>
              <a:latin typeface="+mn-lt"/>
              <a:ea typeface="+mn-ea"/>
              <a:cs typeface="+mn-cs"/>
            </a:endParaRPr>
          </a:p>
          <a:p>
            <a:r>
              <a:rPr lang="zh-TW" altLang="en-US" sz="1200" kern="1200" dirty="0">
                <a:solidFill>
                  <a:schemeClr val="tx1"/>
                </a:solidFill>
                <a:effectLst/>
                <a:latin typeface="+mn-lt"/>
                <a:ea typeface="+mn-ea"/>
                <a:cs typeface="+mn-cs"/>
              </a:rPr>
              <a:t>殖民地會朝著宗主國移動</a:t>
            </a:r>
            <a:r>
              <a:rPr lang="en-US" altLang="zh-TW" sz="1200" kern="1200" dirty="0">
                <a:solidFill>
                  <a:schemeClr val="tx1"/>
                </a:solidFill>
                <a:effectLst/>
                <a:latin typeface="+mn-lt"/>
                <a:ea typeface="+mn-ea"/>
                <a:cs typeface="+mn-cs"/>
              </a:rPr>
              <a:t>x</a:t>
            </a:r>
            <a:r>
              <a:rPr lang="zh-TW" altLang="en-US" sz="1200" kern="1200" dirty="0">
                <a:solidFill>
                  <a:schemeClr val="tx1"/>
                </a:solidFill>
                <a:effectLst/>
                <a:latin typeface="+mn-lt"/>
                <a:ea typeface="+mn-ea"/>
                <a:cs typeface="+mn-cs"/>
              </a:rPr>
              <a:t>單位，就會到達新的位置。</a:t>
            </a:r>
            <a:endParaRPr lang="en-US" altLang="zh-TW" sz="1200" kern="1200" dirty="0">
              <a:solidFill>
                <a:schemeClr val="tx1"/>
              </a:solidFill>
              <a:effectLst/>
              <a:latin typeface="+mn-lt"/>
              <a:ea typeface="+mn-ea"/>
              <a:cs typeface="+mn-cs"/>
            </a:endParaRPr>
          </a:p>
          <a:p>
            <a:r>
              <a:rPr lang="zh-TW" altLang="en-US" sz="1200" kern="1200" dirty="0">
                <a:solidFill>
                  <a:schemeClr val="tx1"/>
                </a:solidFill>
                <a:effectLst/>
                <a:latin typeface="+mn-lt"/>
                <a:ea typeface="+mn-ea"/>
                <a:cs typeface="+mn-cs"/>
              </a:rPr>
              <a:t>而移動的距離</a:t>
            </a:r>
            <a:r>
              <a:rPr lang="en-US" altLang="zh-TW" sz="1200" kern="1200" dirty="0">
                <a:solidFill>
                  <a:schemeClr val="tx1"/>
                </a:solidFill>
                <a:effectLst/>
                <a:latin typeface="+mn-lt"/>
                <a:ea typeface="+mn-ea"/>
                <a:cs typeface="+mn-cs"/>
              </a:rPr>
              <a:t>x</a:t>
            </a:r>
            <a:r>
              <a:rPr lang="zh-TW" altLang="en-US" sz="1200" kern="1200" dirty="0">
                <a:solidFill>
                  <a:schemeClr val="tx1"/>
                </a:solidFill>
                <a:effectLst/>
                <a:latin typeface="+mn-lt"/>
                <a:ea typeface="+mn-ea"/>
                <a:cs typeface="+mn-cs"/>
              </a:rPr>
              <a:t>是一個介於</a:t>
            </a:r>
            <a:r>
              <a:rPr lang="en-US" altLang="zh-TW" sz="1200" kern="1200" dirty="0">
                <a:solidFill>
                  <a:schemeClr val="tx1"/>
                </a:solidFill>
                <a:effectLst/>
                <a:latin typeface="+mn-lt"/>
                <a:ea typeface="+mn-ea"/>
                <a:cs typeface="+mn-cs"/>
              </a:rPr>
              <a:t>0</a:t>
            </a:r>
            <a:r>
              <a:rPr lang="zh-TW" altLang="en-US" sz="1200" kern="1200" dirty="0">
                <a:solidFill>
                  <a:schemeClr val="tx1"/>
                </a:solidFill>
                <a:effectLst/>
                <a:latin typeface="+mn-lt"/>
                <a:ea typeface="+mn-ea"/>
                <a:cs typeface="+mn-cs"/>
              </a:rPr>
              <a:t>到</a:t>
            </a:r>
            <a:r>
              <a:rPr lang="en-US" altLang="zh-TW" sz="1200" kern="1200" dirty="0">
                <a:solidFill>
                  <a:schemeClr val="tx1"/>
                </a:solidFill>
                <a:effectLst/>
                <a:latin typeface="+mn-lt"/>
                <a:ea typeface="+mn-ea"/>
                <a:cs typeface="+mn-cs"/>
              </a:rPr>
              <a:t>beta</a:t>
            </a:r>
            <a:r>
              <a:rPr lang="zh-TW" altLang="en-US" sz="1200" kern="1200" dirty="0">
                <a:solidFill>
                  <a:schemeClr val="tx1"/>
                </a:solidFill>
                <a:effectLst/>
                <a:latin typeface="+mn-lt"/>
                <a:ea typeface="+mn-ea"/>
                <a:cs typeface="+mn-cs"/>
              </a:rPr>
              <a:t>乘以</a:t>
            </a:r>
            <a:r>
              <a:rPr lang="en-US" altLang="zh-TW" sz="1200" kern="1200" dirty="0">
                <a:solidFill>
                  <a:schemeClr val="tx1"/>
                </a:solidFill>
                <a:effectLst/>
                <a:latin typeface="+mn-lt"/>
                <a:ea typeface="+mn-ea"/>
                <a:cs typeface="+mn-cs"/>
              </a:rPr>
              <a:t>d</a:t>
            </a:r>
            <a:r>
              <a:rPr lang="zh-TW" altLang="en-US" sz="1200" kern="1200" dirty="0">
                <a:solidFill>
                  <a:schemeClr val="tx1"/>
                </a:solidFill>
                <a:effectLst/>
                <a:latin typeface="+mn-lt"/>
                <a:ea typeface="+mn-ea"/>
                <a:cs typeface="+mn-cs"/>
              </a:rPr>
              <a:t>的數值。</a:t>
            </a:r>
            <a:endParaRPr lang="en-US" altLang="zh-TW" sz="1200" kern="1200" dirty="0">
              <a:solidFill>
                <a:schemeClr val="tx1"/>
              </a:solidFill>
              <a:effectLst/>
              <a:latin typeface="+mn-lt"/>
              <a:ea typeface="+mn-ea"/>
              <a:cs typeface="+mn-cs"/>
            </a:endParaRPr>
          </a:p>
          <a:p>
            <a:r>
              <a:rPr lang="en-US" altLang="zh-TW" sz="1200" kern="1200" dirty="0">
                <a:solidFill>
                  <a:schemeClr val="tx1"/>
                </a:solidFill>
                <a:effectLst/>
                <a:latin typeface="+mn-lt"/>
                <a:ea typeface="+mn-ea"/>
                <a:cs typeface="+mn-cs"/>
              </a:rPr>
              <a:t>Beta</a:t>
            </a:r>
            <a:r>
              <a:rPr lang="zh-TW" altLang="en-US" sz="1200" kern="1200" dirty="0">
                <a:solidFill>
                  <a:schemeClr val="tx1"/>
                </a:solidFill>
                <a:effectLst/>
                <a:latin typeface="+mn-lt"/>
                <a:ea typeface="+mn-ea"/>
                <a:cs typeface="+mn-cs"/>
              </a:rPr>
              <a:t>是一個大於</a:t>
            </a:r>
            <a:r>
              <a:rPr lang="en-US" altLang="zh-TW" sz="1200" kern="1200" dirty="0">
                <a:solidFill>
                  <a:schemeClr val="tx1"/>
                </a:solidFill>
                <a:effectLst/>
                <a:latin typeface="+mn-lt"/>
                <a:ea typeface="+mn-ea"/>
                <a:cs typeface="+mn-cs"/>
              </a:rPr>
              <a:t>1</a:t>
            </a:r>
            <a:r>
              <a:rPr lang="zh-TW" altLang="en-US" sz="1200" kern="1200" dirty="0">
                <a:solidFill>
                  <a:schemeClr val="tx1"/>
                </a:solidFill>
                <a:effectLst/>
                <a:latin typeface="+mn-lt"/>
                <a:ea typeface="+mn-ea"/>
                <a:cs typeface="+mn-cs"/>
              </a:rPr>
              <a:t>的值，而</a:t>
            </a:r>
            <a:r>
              <a:rPr lang="en-US" altLang="zh-TW" sz="1200" kern="1200" dirty="0">
                <a:solidFill>
                  <a:schemeClr val="tx1"/>
                </a:solidFill>
                <a:effectLst/>
                <a:latin typeface="+mn-lt"/>
                <a:ea typeface="+mn-ea"/>
                <a:cs typeface="+mn-cs"/>
              </a:rPr>
              <a:t>d</a:t>
            </a:r>
            <a:r>
              <a:rPr lang="zh-TW" altLang="en-US" sz="1200" kern="1200" dirty="0">
                <a:solidFill>
                  <a:schemeClr val="tx1"/>
                </a:solidFill>
                <a:effectLst/>
                <a:latin typeface="+mn-lt"/>
                <a:ea typeface="+mn-ea"/>
                <a:cs typeface="+mn-cs"/>
              </a:rPr>
              <a:t>代表殖民地和宗主國之間的距離。</a:t>
            </a:r>
            <a:endParaRPr lang="en-US" altLang="zh-TW" sz="1200" kern="1200" dirty="0">
              <a:solidFill>
                <a:schemeClr val="tx1"/>
              </a:solidFill>
              <a:effectLst/>
              <a:latin typeface="+mn-lt"/>
              <a:ea typeface="+mn-ea"/>
              <a:cs typeface="+mn-cs"/>
            </a:endParaRPr>
          </a:p>
          <a:p>
            <a:endParaRPr lang="en-US" altLang="zh-TW" sz="1200" kern="1200" dirty="0">
              <a:solidFill>
                <a:schemeClr val="tx1"/>
              </a:solidFill>
              <a:effectLst/>
              <a:latin typeface="+mn-lt"/>
              <a:ea typeface="+mn-ea"/>
              <a:cs typeface="+mn-cs"/>
            </a:endParaRPr>
          </a:p>
          <a:p>
            <a:r>
              <a:rPr lang="zh-TW" altLang="en-US" sz="1200" kern="1200" dirty="0">
                <a:solidFill>
                  <a:schemeClr val="tx1"/>
                </a:solidFill>
                <a:effectLst/>
                <a:latin typeface="+mn-lt"/>
                <a:ea typeface="+mn-ea"/>
                <a:cs typeface="+mn-cs"/>
              </a:rPr>
              <a:t>但這樣做的話，每次移動都只會在同一個向量上面走，</a:t>
            </a:r>
            <a:endParaRPr lang="en-US" altLang="zh-TW" sz="1200" kern="1200" dirty="0">
              <a:solidFill>
                <a:schemeClr val="tx1"/>
              </a:solidFill>
              <a:effectLst/>
              <a:latin typeface="+mn-lt"/>
              <a:ea typeface="+mn-ea"/>
              <a:cs typeface="+mn-cs"/>
            </a:endParaRPr>
          </a:p>
          <a:p>
            <a:r>
              <a:rPr lang="zh-TW" altLang="en-US" sz="1200" kern="1200" dirty="0">
                <a:solidFill>
                  <a:schemeClr val="tx1"/>
                </a:solidFill>
                <a:effectLst/>
                <a:latin typeface="+mn-lt"/>
                <a:ea typeface="+mn-ea"/>
                <a:cs typeface="+mn-cs"/>
              </a:rPr>
              <a:t>為了要在宗主國周圍搜索，右圖對移動方縣添加了一個隨機的偏差值</a:t>
            </a:r>
            <a:r>
              <a:rPr lang="en-US" altLang="zh-TW" sz="1200" kern="1200" dirty="0">
                <a:solidFill>
                  <a:schemeClr val="tx1"/>
                </a:solidFill>
                <a:effectLst/>
                <a:latin typeface="+mn-lt"/>
                <a:ea typeface="+mn-ea"/>
                <a:cs typeface="+mn-cs"/>
              </a:rPr>
              <a:t>θ</a:t>
            </a:r>
            <a:r>
              <a:rPr lang="zh-TW" altLang="en-US" sz="1200" kern="1200" dirty="0">
                <a:solidFill>
                  <a:schemeClr val="tx1"/>
                </a:solidFill>
                <a:effectLst/>
                <a:latin typeface="+mn-lt"/>
                <a:ea typeface="+mn-ea"/>
                <a:cs typeface="+mn-cs"/>
              </a:rPr>
              <a:t>。</a:t>
            </a:r>
            <a:endParaRPr lang="en-US" altLang="zh-TW" sz="1200" kern="1200" dirty="0">
              <a:solidFill>
                <a:schemeClr val="tx1"/>
              </a:solidFill>
              <a:effectLst/>
              <a:latin typeface="+mn-lt"/>
              <a:ea typeface="+mn-ea"/>
              <a:cs typeface="+mn-cs"/>
            </a:endParaRPr>
          </a:p>
          <a:p>
            <a:r>
              <a:rPr lang="el-GR" altLang="zh-TW" sz="1200" kern="1200" dirty="0">
                <a:solidFill>
                  <a:schemeClr val="tx1"/>
                </a:solidFill>
                <a:effectLst/>
                <a:latin typeface="+mn-lt"/>
                <a:ea typeface="+mn-ea"/>
                <a:cs typeface="+mn-cs"/>
              </a:rPr>
              <a:t>Θ</a:t>
            </a:r>
            <a:r>
              <a:rPr lang="zh-TW" altLang="en-US" sz="1200" kern="1200" dirty="0">
                <a:solidFill>
                  <a:schemeClr val="tx1"/>
                </a:solidFill>
                <a:effectLst/>
                <a:latin typeface="+mn-lt"/>
                <a:ea typeface="+mn-ea"/>
                <a:cs typeface="+mn-cs"/>
              </a:rPr>
              <a:t>是一個介於</a:t>
            </a:r>
            <a:r>
              <a:rPr lang="en-US" altLang="zh-TW" sz="1200" kern="1200" dirty="0">
                <a:solidFill>
                  <a:schemeClr val="tx1"/>
                </a:solidFill>
                <a:effectLst/>
                <a:latin typeface="+mn-lt"/>
                <a:ea typeface="+mn-ea"/>
                <a:cs typeface="+mn-cs"/>
              </a:rPr>
              <a:t>- gamma</a:t>
            </a:r>
            <a:r>
              <a:rPr lang="zh-TW" altLang="en-US" sz="1200" kern="1200" dirty="0">
                <a:solidFill>
                  <a:schemeClr val="tx1"/>
                </a:solidFill>
                <a:effectLst/>
                <a:latin typeface="+mn-lt"/>
                <a:ea typeface="+mn-ea"/>
                <a:cs typeface="+mn-cs"/>
              </a:rPr>
              <a:t>到</a:t>
            </a:r>
            <a:r>
              <a:rPr lang="en-US" altLang="zh-TW" sz="1200" kern="1200" dirty="0">
                <a:solidFill>
                  <a:schemeClr val="tx1"/>
                </a:solidFill>
                <a:effectLst/>
                <a:latin typeface="+mn-lt"/>
                <a:ea typeface="+mn-ea"/>
                <a:cs typeface="+mn-cs"/>
              </a:rPr>
              <a:t>gamma</a:t>
            </a:r>
            <a:r>
              <a:rPr lang="zh-TW" altLang="en-US" sz="1200" kern="1200" dirty="0">
                <a:solidFill>
                  <a:schemeClr val="tx1"/>
                </a:solidFill>
                <a:effectLst/>
                <a:latin typeface="+mn-lt"/>
                <a:ea typeface="+mn-ea"/>
                <a:cs typeface="+mn-cs"/>
              </a:rPr>
              <a:t>之間的值。</a:t>
            </a:r>
            <a:endParaRPr lang="en-US" altLang="zh-TW" sz="1200" kern="1200" dirty="0">
              <a:solidFill>
                <a:schemeClr val="tx1"/>
              </a:solidFill>
              <a:effectLst/>
              <a:latin typeface="+mn-lt"/>
              <a:ea typeface="+mn-ea"/>
              <a:cs typeface="+mn-cs"/>
            </a:endParaRPr>
          </a:p>
          <a:p>
            <a:endParaRPr lang="en-US" altLang="zh-TW" sz="1200" kern="1200" dirty="0">
              <a:solidFill>
                <a:schemeClr val="tx1"/>
              </a:solidFill>
              <a:effectLst/>
              <a:latin typeface="+mn-lt"/>
              <a:ea typeface="+mn-ea"/>
              <a:cs typeface="+mn-cs"/>
            </a:endParaRPr>
          </a:p>
          <a:p>
            <a:r>
              <a:rPr lang="en-US" altLang="zh-TW" sz="1200" kern="1200" dirty="0">
                <a:solidFill>
                  <a:schemeClr val="tx1"/>
                </a:solidFill>
                <a:effectLst/>
                <a:latin typeface="+mn-lt"/>
                <a:ea typeface="+mn-ea"/>
                <a:cs typeface="+mn-cs"/>
              </a:rPr>
              <a:t>Beta</a:t>
            </a:r>
            <a:r>
              <a:rPr lang="zh-TW" altLang="en-US" sz="1200" kern="1200" dirty="0">
                <a:solidFill>
                  <a:schemeClr val="tx1"/>
                </a:solidFill>
                <a:effectLst/>
                <a:latin typeface="+mn-lt"/>
                <a:ea typeface="+mn-ea"/>
                <a:cs typeface="+mn-cs"/>
              </a:rPr>
              <a:t>值通常會設置為</a:t>
            </a:r>
            <a:r>
              <a:rPr lang="en-US" altLang="zh-TW" sz="1200" kern="1200" dirty="0">
                <a:solidFill>
                  <a:schemeClr val="tx1"/>
                </a:solidFill>
                <a:effectLst/>
                <a:latin typeface="+mn-lt"/>
                <a:ea typeface="+mn-ea"/>
                <a:cs typeface="+mn-cs"/>
              </a:rPr>
              <a:t>2</a:t>
            </a:r>
            <a:r>
              <a:rPr lang="zh-TW" altLang="en-US" sz="1200" kern="1200" dirty="0">
                <a:solidFill>
                  <a:schemeClr val="tx1"/>
                </a:solidFill>
                <a:effectLst/>
                <a:latin typeface="+mn-lt"/>
                <a:ea typeface="+mn-ea"/>
                <a:cs typeface="+mn-cs"/>
              </a:rPr>
              <a:t>、</a:t>
            </a:r>
            <a:r>
              <a:rPr lang="en-US" altLang="zh-TW" sz="1200" kern="1200" dirty="0">
                <a:solidFill>
                  <a:schemeClr val="tx1"/>
                </a:solidFill>
                <a:effectLst/>
                <a:latin typeface="+mn-lt"/>
                <a:ea typeface="+mn-ea"/>
                <a:cs typeface="+mn-cs"/>
              </a:rPr>
              <a:t>gamma</a:t>
            </a:r>
            <a:r>
              <a:rPr lang="zh-TW" altLang="en-US" sz="1200" kern="1200" dirty="0">
                <a:solidFill>
                  <a:schemeClr val="tx1"/>
                </a:solidFill>
                <a:effectLst/>
                <a:latin typeface="+mn-lt"/>
                <a:ea typeface="+mn-ea"/>
                <a:cs typeface="+mn-cs"/>
              </a:rPr>
              <a:t>通常會設為四分之</a:t>
            </a:r>
            <a:r>
              <a:rPr lang="en-US" altLang="zh-TW" sz="1200" kern="1200" dirty="0">
                <a:solidFill>
                  <a:schemeClr val="tx1"/>
                </a:solidFill>
                <a:effectLst/>
                <a:latin typeface="+mn-lt"/>
                <a:ea typeface="+mn-ea"/>
                <a:cs typeface="+mn-cs"/>
              </a:rPr>
              <a:t>pi</a:t>
            </a:r>
            <a:r>
              <a:rPr lang="zh-TW" altLang="en-US" sz="1200" kern="1200" dirty="0">
                <a:solidFill>
                  <a:schemeClr val="tx1"/>
                </a:solidFill>
                <a:effectLst/>
                <a:latin typeface="+mn-lt"/>
                <a:ea typeface="+mn-ea"/>
                <a:cs typeface="+mn-cs"/>
              </a:rPr>
              <a:t>弧度。</a:t>
            </a:r>
            <a:endParaRPr lang="en-US" altLang="zh-TW" sz="1200" kern="1200" dirty="0">
              <a:solidFill>
                <a:schemeClr val="tx1"/>
              </a:solidFill>
              <a:effectLst/>
              <a:latin typeface="+mn-lt"/>
              <a:ea typeface="+mn-ea"/>
              <a:cs typeface="+mn-cs"/>
            </a:endParaRPr>
          </a:p>
          <a:p>
            <a:endParaRPr lang="en-US" altLang="zh-TW" sz="1200" kern="1200" dirty="0">
              <a:solidFill>
                <a:schemeClr val="tx1"/>
              </a:solidFill>
              <a:effectLst/>
              <a:latin typeface="+mn-lt"/>
              <a:ea typeface="+mn-ea"/>
              <a:cs typeface="+mn-cs"/>
            </a:endParaRPr>
          </a:p>
        </p:txBody>
      </p:sp>
      <p:sp>
        <p:nvSpPr>
          <p:cNvPr id="4" name="投影片編號版面配置區 3"/>
          <p:cNvSpPr>
            <a:spLocks noGrp="1"/>
          </p:cNvSpPr>
          <p:nvPr>
            <p:ph type="sldNum" sz="quarter" idx="10"/>
          </p:nvPr>
        </p:nvSpPr>
        <p:spPr/>
        <p:txBody>
          <a:bodyPr/>
          <a:lstStyle/>
          <a:p>
            <a:fld id="{8670385A-3A9F-4826-B5A3-522D762D8382}" type="slidenum">
              <a:rPr lang="zh-TW" altLang="en-US" smtClean="0"/>
              <a:t>6</a:t>
            </a:fld>
            <a:endParaRPr lang="zh-TW" altLang="en-US"/>
          </a:p>
        </p:txBody>
      </p:sp>
    </p:spTree>
    <p:extLst>
      <p:ext uri="{BB962C8B-B14F-4D97-AF65-F5344CB8AC3E}">
        <p14:creationId xmlns:p14="http://schemas.microsoft.com/office/powerpoint/2010/main" val="342685724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sz="1200" kern="1200" dirty="0">
                <a:solidFill>
                  <a:schemeClr val="tx1"/>
                </a:solidFill>
                <a:effectLst/>
                <a:latin typeface="+mn-lt"/>
                <a:ea typeface="+mn-ea"/>
                <a:cs typeface="+mn-cs"/>
              </a:rPr>
              <a:t>當殖民地在</a:t>
            </a:r>
            <a:r>
              <a:rPr lang="zh-TW" altLang="zh-TW" sz="1200" kern="1200" dirty="0">
                <a:solidFill>
                  <a:schemeClr val="tx1"/>
                </a:solidFill>
                <a:effectLst/>
                <a:latin typeface="+mn-lt"/>
                <a:ea typeface="+mn-ea"/>
                <a:cs typeface="+mn-cs"/>
              </a:rPr>
              <a:t>移動時，可能會到達一個</a:t>
            </a:r>
            <a:r>
              <a:rPr lang="zh-TW" altLang="en-US" sz="1200" kern="1200" dirty="0">
                <a:solidFill>
                  <a:schemeClr val="tx1"/>
                </a:solidFill>
                <a:effectLst/>
                <a:latin typeface="+mn-lt"/>
                <a:ea typeface="+mn-ea"/>
                <a:cs typeface="+mn-cs"/>
              </a:rPr>
              <a:t>比宗主國好的解</a:t>
            </a:r>
            <a:r>
              <a:rPr lang="zh-TW" altLang="zh-TW" sz="1200" kern="1200" dirty="0">
                <a:solidFill>
                  <a:schemeClr val="tx1"/>
                </a:solidFill>
                <a:effectLst/>
                <a:latin typeface="+mn-lt"/>
                <a:ea typeface="+mn-ea"/>
                <a:cs typeface="+mn-cs"/>
              </a:rPr>
              <a:t>的位置。</a:t>
            </a:r>
            <a:endParaRPr lang="en-US" altLang="zh-TW" sz="1200" kern="1200" dirty="0">
              <a:solidFill>
                <a:schemeClr val="tx1"/>
              </a:solidFill>
              <a:effectLst/>
              <a:latin typeface="+mn-lt"/>
              <a:ea typeface="+mn-ea"/>
              <a:cs typeface="+mn-cs"/>
            </a:endParaRPr>
          </a:p>
          <a:p>
            <a:r>
              <a:rPr lang="zh-TW" altLang="en-US" sz="1200" kern="1200" dirty="0">
                <a:solidFill>
                  <a:schemeClr val="tx1"/>
                </a:solidFill>
                <a:effectLst/>
                <a:latin typeface="+mn-lt"/>
                <a:ea typeface="+mn-ea"/>
                <a:cs typeface="+mn-cs"/>
              </a:rPr>
              <a:t>這時候就會把殖民地和宗主國的位置進行交換。</a:t>
            </a:r>
            <a:endParaRPr lang="en-US" altLang="zh-TW" sz="1200" kern="1200" dirty="0">
              <a:solidFill>
                <a:schemeClr val="tx1"/>
              </a:solidFill>
              <a:effectLst/>
              <a:latin typeface="+mn-lt"/>
              <a:ea typeface="+mn-ea"/>
              <a:cs typeface="+mn-cs"/>
            </a:endParaRPr>
          </a:p>
          <a:p>
            <a:endParaRPr lang="en-US" altLang="zh-TW" sz="1200" kern="1200" dirty="0">
              <a:solidFill>
                <a:schemeClr val="tx1"/>
              </a:solidFill>
              <a:effectLst/>
              <a:latin typeface="+mn-lt"/>
              <a:ea typeface="+mn-ea"/>
              <a:cs typeface="+mn-cs"/>
            </a:endParaRPr>
          </a:p>
        </p:txBody>
      </p:sp>
      <p:sp>
        <p:nvSpPr>
          <p:cNvPr id="4" name="投影片編號版面配置區 3"/>
          <p:cNvSpPr>
            <a:spLocks noGrp="1"/>
          </p:cNvSpPr>
          <p:nvPr>
            <p:ph type="sldNum" sz="quarter" idx="10"/>
          </p:nvPr>
        </p:nvSpPr>
        <p:spPr/>
        <p:txBody>
          <a:bodyPr/>
          <a:lstStyle/>
          <a:p>
            <a:fld id="{8670385A-3A9F-4826-B5A3-522D762D8382}" type="slidenum">
              <a:rPr lang="zh-TW" altLang="en-US" smtClean="0"/>
              <a:t>7</a:t>
            </a:fld>
            <a:endParaRPr lang="zh-TW" altLang="en-US"/>
          </a:p>
        </p:txBody>
      </p:sp>
    </p:spTree>
    <p:extLst>
      <p:ext uri="{BB962C8B-B14F-4D97-AF65-F5344CB8AC3E}">
        <p14:creationId xmlns:p14="http://schemas.microsoft.com/office/powerpoint/2010/main" val="343371475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sz="1200" kern="1200" dirty="0">
                <a:solidFill>
                  <a:schemeClr val="tx1"/>
                </a:solidFill>
                <a:effectLst/>
                <a:latin typeface="+mn-lt"/>
                <a:ea typeface="+mn-ea"/>
                <a:cs typeface="+mn-cs"/>
              </a:rPr>
              <a:t>殖民地移動完之後，就要來計算所有帝國的勢力。</a:t>
            </a:r>
            <a:endParaRPr lang="en-US" altLang="zh-TW" sz="1200" kern="1200" dirty="0">
              <a:solidFill>
                <a:schemeClr val="tx1"/>
              </a:solidFill>
              <a:effectLst/>
              <a:latin typeface="+mn-lt"/>
              <a:ea typeface="+mn-ea"/>
              <a:cs typeface="+mn-cs"/>
            </a:endParaRPr>
          </a:p>
          <a:p>
            <a:endParaRPr lang="en-US" altLang="zh-TW" sz="1200" kern="1200" dirty="0">
              <a:solidFill>
                <a:schemeClr val="tx1"/>
              </a:solidFill>
              <a:effectLst/>
              <a:latin typeface="+mn-lt"/>
              <a:ea typeface="+mn-ea"/>
              <a:cs typeface="+mn-cs"/>
            </a:endParaRPr>
          </a:p>
          <a:p>
            <a:r>
              <a:rPr lang="zh-TW" altLang="en-US" sz="1200" kern="1200" dirty="0">
                <a:solidFill>
                  <a:schemeClr val="tx1"/>
                </a:solidFill>
                <a:effectLst/>
                <a:latin typeface="+mn-lt"/>
                <a:ea typeface="+mn-ea"/>
                <a:cs typeface="+mn-cs"/>
              </a:rPr>
              <a:t>一個帝國的勢力會考慮到宗主國的</a:t>
            </a:r>
            <a:r>
              <a:rPr lang="en-US" altLang="zh-TW" sz="1200" kern="1200" dirty="0">
                <a:solidFill>
                  <a:schemeClr val="tx1"/>
                </a:solidFill>
                <a:effectLst/>
                <a:latin typeface="+mn-lt"/>
                <a:ea typeface="+mn-ea"/>
                <a:cs typeface="+mn-cs"/>
              </a:rPr>
              <a:t>cost</a:t>
            </a:r>
            <a:r>
              <a:rPr lang="zh-TW" altLang="en-US" sz="1200" kern="1200" dirty="0">
                <a:solidFill>
                  <a:schemeClr val="tx1"/>
                </a:solidFill>
                <a:effectLst/>
                <a:latin typeface="+mn-lt"/>
                <a:ea typeface="+mn-ea"/>
                <a:cs typeface="+mn-cs"/>
              </a:rPr>
              <a:t>加上他的殖民地的</a:t>
            </a:r>
            <a:r>
              <a:rPr lang="en-US" altLang="zh-TW" sz="1200" kern="1200" dirty="0">
                <a:solidFill>
                  <a:schemeClr val="tx1"/>
                </a:solidFill>
                <a:effectLst/>
                <a:latin typeface="+mn-lt"/>
                <a:ea typeface="+mn-ea"/>
                <a:cs typeface="+mn-cs"/>
              </a:rPr>
              <a:t>cost</a:t>
            </a:r>
            <a:r>
              <a:rPr lang="zh-TW" altLang="en-US" sz="1200" kern="1200" dirty="0">
                <a:solidFill>
                  <a:schemeClr val="tx1"/>
                </a:solidFill>
                <a:effectLst/>
                <a:latin typeface="+mn-lt"/>
                <a:ea typeface="+mn-ea"/>
                <a:cs typeface="+mn-cs"/>
              </a:rPr>
              <a:t>，</a:t>
            </a:r>
            <a:endParaRPr lang="en-US" altLang="zh-TW" sz="1200" kern="1200" dirty="0">
              <a:solidFill>
                <a:schemeClr val="tx1"/>
              </a:solidFill>
              <a:effectLst/>
              <a:latin typeface="+mn-lt"/>
              <a:ea typeface="+mn-ea"/>
              <a:cs typeface="+mn-cs"/>
            </a:endParaRPr>
          </a:p>
          <a:p>
            <a:r>
              <a:rPr lang="zh-TW" altLang="en-US" sz="1200" kern="1200" dirty="0">
                <a:solidFill>
                  <a:schemeClr val="tx1"/>
                </a:solidFill>
                <a:effectLst/>
                <a:latin typeface="+mn-lt"/>
                <a:ea typeface="+mn-ea"/>
                <a:cs typeface="+mn-cs"/>
              </a:rPr>
              <a:t>這個參數是一個小於</a:t>
            </a:r>
            <a:r>
              <a:rPr lang="en-US" altLang="zh-TW" sz="1200" kern="1200" dirty="0">
                <a:solidFill>
                  <a:schemeClr val="tx1"/>
                </a:solidFill>
                <a:effectLst/>
                <a:latin typeface="+mn-lt"/>
                <a:ea typeface="+mn-ea"/>
                <a:cs typeface="+mn-cs"/>
              </a:rPr>
              <a:t>1</a:t>
            </a:r>
            <a:r>
              <a:rPr lang="zh-TW" altLang="en-US" sz="1200" kern="1200" dirty="0">
                <a:solidFill>
                  <a:schemeClr val="tx1"/>
                </a:solidFill>
                <a:effectLst/>
                <a:latin typeface="+mn-lt"/>
                <a:ea typeface="+mn-ea"/>
                <a:cs typeface="+mn-cs"/>
              </a:rPr>
              <a:t>的正數，通常會設為</a:t>
            </a:r>
            <a:r>
              <a:rPr lang="en-US" altLang="zh-TW" sz="1200" kern="1200" dirty="0">
                <a:solidFill>
                  <a:schemeClr val="tx1"/>
                </a:solidFill>
                <a:effectLst/>
                <a:latin typeface="+mn-lt"/>
                <a:ea typeface="+mn-ea"/>
                <a:cs typeface="+mn-cs"/>
              </a:rPr>
              <a:t>0.1</a:t>
            </a:r>
            <a:r>
              <a:rPr lang="zh-TW" altLang="en-US" sz="1200" kern="1200" dirty="0">
                <a:solidFill>
                  <a:schemeClr val="tx1"/>
                </a:solidFill>
                <a:effectLst/>
                <a:latin typeface="+mn-lt"/>
                <a:ea typeface="+mn-ea"/>
                <a:cs typeface="+mn-cs"/>
              </a:rPr>
              <a:t>。</a:t>
            </a:r>
            <a:endParaRPr lang="en-US" altLang="zh-TW" sz="1200" kern="1200" dirty="0">
              <a:solidFill>
                <a:schemeClr val="tx1"/>
              </a:solidFill>
              <a:effectLst/>
              <a:latin typeface="+mn-lt"/>
              <a:ea typeface="+mn-ea"/>
              <a:cs typeface="+mn-cs"/>
            </a:endParaRPr>
          </a:p>
        </p:txBody>
      </p:sp>
      <p:sp>
        <p:nvSpPr>
          <p:cNvPr id="4" name="投影片編號版面配置區 3"/>
          <p:cNvSpPr>
            <a:spLocks noGrp="1"/>
          </p:cNvSpPr>
          <p:nvPr>
            <p:ph type="sldNum" sz="quarter" idx="10"/>
          </p:nvPr>
        </p:nvSpPr>
        <p:spPr/>
        <p:txBody>
          <a:bodyPr/>
          <a:lstStyle/>
          <a:p>
            <a:fld id="{8670385A-3A9F-4826-B5A3-522D762D8382}" type="slidenum">
              <a:rPr lang="zh-TW" altLang="en-US" smtClean="0"/>
              <a:t>8</a:t>
            </a:fld>
            <a:endParaRPr lang="zh-TW" altLang="en-US"/>
          </a:p>
        </p:txBody>
      </p:sp>
    </p:spTree>
    <p:extLst>
      <p:ext uri="{BB962C8B-B14F-4D97-AF65-F5344CB8AC3E}">
        <p14:creationId xmlns:p14="http://schemas.microsoft.com/office/powerpoint/2010/main" val="277844107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sz="1200" kern="1200" dirty="0">
                <a:solidFill>
                  <a:schemeClr val="tx1"/>
                </a:solidFill>
                <a:effectLst/>
                <a:latin typeface="+mn-lt"/>
                <a:ea typeface="+mn-ea"/>
                <a:cs typeface="+mn-cs"/>
              </a:rPr>
              <a:t>接下來到帝國競爭的部分，以右圖來做說明，可以看到有多個帝國，</a:t>
            </a:r>
            <a:endParaRPr lang="en-US" altLang="zh-TW" sz="1200" kern="1200" dirty="0">
              <a:solidFill>
                <a:schemeClr val="tx1"/>
              </a:solidFill>
              <a:effectLst/>
              <a:latin typeface="+mn-lt"/>
              <a:ea typeface="+mn-ea"/>
              <a:cs typeface="+mn-cs"/>
            </a:endParaRPr>
          </a:p>
          <a:p>
            <a:r>
              <a:rPr lang="zh-TW" altLang="en-US" sz="1200" kern="1200" dirty="0">
                <a:solidFill>
                  <a:schemeClr val="tx1"/>
                </a:solidFill>
                <a:effectLst/>
                <a:latin typeface="+mn-lt"/>
                <a:ea typeface="+mn-ea"/>
                <a:cs typeface="+mn-cs"/>
              </a:rPr>
              <a:t>其中帝國</a:t>
            </a:r>
            <a:r>
              <a:rPr lang="en-US" altLang="zh-TW" sz="1200" kern="1200" dirty="0">
                <a:solidFill>
                  <a:schemeClr val="tx1"/>
                </a:solidFill>
                <a:effectLst/>
                <a:latin typeface="+mn-lt"/>
                <a:ea typeface="+mn-ea"/>
                <a:cs typeface="+mn-cs"/>
              </a:rPr>
              <a:t>1</a:t>
            </a:r>
            <a:r>
              <a:rPr lang="zh-TW" altLang="en-US" sz="1200" kern="1200" dirty="0">
                <a:solidFill>
                  <a:schemeClr val="tx1"/>
                </a:solidFill>
                <a:effectLst/>
                <a:latin typeface="+mn-lt"/>
                <a:ea typeface="+mn-ea"/>
                <a:cs typeface="+mn-cs"/>
              </a:rPr>
              <a:t>是最弱的帝國，其他帝國就會想去佔領帝國</a:t>
            </a:r>
            <a:r>
              <a:rPr lang="en-US" altLang="zh-TW" sz="1200" kern="1200" dirty="0">
                <a:solidFill>
                  <a:schemeClr val="tx1"/>
                </a:solidFill>
                <a:effectLst/>
                <a:latin typeface="+mn-lt"/>
                <a:ea typeface="+mn-ea"/>
                <a:cs typeface="+mn-cs"/>
              </a:rPr>
              <a:t>1</a:t>
            </a:r>
            <a:r>
              <a:rPr lang="zh-TW" altLang="en-US" sz="1200" kern="1200" dirty="0">
                <a:solidFill>
                  <a:schemeClr val="tx1"/>
                </a:solidFill>
                <a:effectLst/>
                <a:latin typeface="+mn-lt"/>
                <a:ea typeface="+mn-ea"/>
                <a:cs typeface="+mn-cs"/>
              </a:rPr>
              <a:t>中最弱的殖民地。</a:t>
            </a:r>
            <a:endParaRPr lang="en-US" altLang="zh-TW" sz="1200" kern="1200" dirty="0">
              <a:solidFill>
                <a:schemeClr val="tx1"/>
              </a:solidFill>
              <a:effectLst/>
              <a:latin typeface="+mn-lt"/>
              <a:ea typeface="+mn-ea"/>
              <a:cs typeface="+mn-cs"/>
            </a:endParaRPr>
          </a:p>
          <a:p>
            <a:r>
              <a:rPr lang="zh-TW" altLang="en-US" sz="1200" kern="1200" dirty="0">
                <a:solidFill>
                  <a:schemeClr val="tx1"/>
                </a:solidFill>
                <a:effectLst/>
                <a:latin typeface="+mn-lt"/>
                <a:ea typeface="+mn-ea"/>
                <a:cs typeface="+mn-cs"/>
              </a:rPr>
              <a:t>勢力越強大的帝國有越大的機率去佔領那個殖民地。</a:t>
            </a:r>
            <a:endParaRPr lang="en-US" altLang="zh-TW" sz="1200" kern="1200" dirty="0">
              <a:solidFill>
                <a:schemeClr val="tx1"/>
              </a:solidFill>
              <a:effectLst/>
              <a:latin typeface="+mn-lt"/>
              <a:ea typeface="+mn-ea"/>
              <a:cs typeface="+mn-cs"/>
            </a:endParaRPr>
          </a:p>
          <a:p>
            <a:endParaRPr lang="en-US" altLang="zh-TW" sz="1200" kern="1200" dirty="0">
              <a:solidFill>
                <a:schemeClr val="tx1"/>
              </a:solidFill>
              <a:effectLst/>
              <a:latin typeface="+mn-lt"/>
              <a:ea typeface="+mn-ea"/>
              <a:cs typeface="+mn-cs"/>
            </a:endParaRPr>
          </a:p>
          <a:p>
            <a:r>
              <a:rPr lang="zh-TW" altLang="en-US" dirty="0"/>
              <a:t>第一個公式是在計算每個帝國的</a:t>
            </a:r>
            <a:r>
              <a:rPr lang="en-US" altLang="zh-TW" dirty="0"/>
              <a:t>normalized total cost</a:t>
            </a:r>
            <a:endParaRPr lang="en-US" altLang="zh-TW" sz="1200" kern="1200" dirty="0">
              <a:solidFill>
                <a:schemeClr val="tx1"/>
              </a:solidFill>
              <a:effectLst/>
              <a:latin typeface="+mn-lt"/>
              <a:ea typeface="+mn-ea"/>
              <a:cs typeface="+mn-cs"/>
            </a:endParaRPr>
          </a:p>
          <a:p>
            <a:r>
              <a:rPr lang="zh-TW" altLang="en-US" sz="1200" kern="1200" dirty="0">
                <a:solidFill>
                  <a:schemeClr val="tx1"/>
                </a:solidFill>
                <a:effectLst/>
                <a:latin typeface="+mn-lt"/>
                <a:ea typeface="+mn-ea"/>
                <a:cs typeface="+mn-cs"/>
              </a:rPr>
              <a:t>計算完之後就可以接著算每個帝國的占領機率了。</a:t>
            </a:r>
            <a:endParaRPr lang="en-US" altLang="zh-TW" sz="1200" kern="1200" dirty="0">
              <a:solidFill>
                <a:schemeClr val="tx1"/>
              </a:solidFill>
              <a:effectLst/>
              <a:latin typeface="+mn-lt"/>
              <a:ea typeface="+mn-ea"/>
              <a:cs typeface="+mn-cs"/>
            </a:endParaRPr>
          </a:p>
          <a:p>
            <a:endParaRPr lang="en-US" altLang="zh-TW" sz="1200" kern="1200" dirty="0">
              <a:solidFill>
                <a:schemeClr val="tx1"/>
              </a:solidFill>
              <a:effectLst/>
              <a:latin typeface="+mn-lt"/>
              <a:ea typeface="+mn-ea"/>
              <a:cs typeface="+mn-cs"/>
            </a:endParaRPr>
          </a:p>
          <a:p>
            <a:r>
              <a:rPr lang="zh-TW" altLang="en-US" sz="1200" kern="1200" dirty="0">
                <a:solidFill>
                  <a:schemeClr val="tx1"/>
                </a:solidFill>
                <a:effectLst/>
                <a:latin typeface="+mn-lt"/>
                <a:ea typeface="+mn-ea"/>
                <a:cs typeface="+mn-cs"/>
              </a:rPr>
              <a:t>每個帝國的占領機率會被放到陣列</a:t>
            </a:r>
            <a:r>
              <a:rPr lang="en-US" altLang="zh-TW" sz="1200" kern="1200" dirty="0">
                <a:solidFill>
                  <a:schemeClr val="tx1"/>
                </a:solidFill>
                <a:effectLst/>
                <a:latin typeface="+mn-lt"/>
                <a:ea typeface="+mn-ea"/>
                <a:cs typeface="+mn-cs"/>
              </a:rPr>
              <a:t>P</a:t>
            </a:r>
            <a:r>
              <a:rPr lang="zh-TW" altLang="en-US" sz="1200" kern="1200" dirty="0">
                <a:solidFill>
                  <a:schemeClr val="tx1"/>
                </a:solidFill>
                <a:effectLst/>
                <a:latin typeface="+mn-lt"/>
                <a:ea typeface="+mn-ea"/>
                <a:cs typeface="+mn-cs"/>
              </a:rPr>
              <a:t>裡面。</a:t>
            </a:r>
            <a:endParaRPr lang="en-US" altLang="zh-TW" sz="1200" kern="1200" dirty="0">
              <a:solidFill>
                <a:schemeClr val="tx1"/>
              </a:solidFill>
              <a:effectLst/>
              <a:latin typeface="+mn-lt"/>
              <a:ea typeface="+mn-ea"/>
              <a:cs typeface="+mn-cs"/>
            </a:endParaRPr>
          </a:p>
          <a:p>
            <a:r>
              <a:rPr lang="zh-TW" altLang="en-US" sz="1200" kern="1200" dirty="0">
                <a:solidFill>
                  <a:schemeClr val="tx1"/>
                </a:solidFill>
                <a:effectLst/>
                <a:latin typeface="+mn-lt"/>
                <a:ea typeface="+mn-ea"/>
                <a:cs typeface="+mn-cs"/>
              </a:rPr>
              <a:t>然後會有一個長度跟</a:t>
            </a:r>
            <a:r>
              <a:rPr lang="en-US" altLang="zh-TW" sz="1200" kern="1200" dirty="0">
                <a:solidFill>
                  <a:schemeClr val="tx1"/>
                </a:solidFill>
                <a:effectLst/>
                <a:latin typeface="+mn-lt"/>
                <a:ea typeface="+mn-ea"/>
                <a:cs typeface="+mn-cs"/>
              </a:rPr>
              <a:t>P</a:t>
            </a:r>
            <a:r>
              <a:rPr lang="zh-TW" altLang="en-US" sz="1200" kern="1200" dirty="0">
                <a:solidFill>
                  <a:schemeClr val="tx1"/>
                </a:solidFill>
                <a:effectLst/>
                <a:latin typeface="+mn-lt"/>
                <a:ea typeface="+mn-ea"/>
                <a:cs typeface="+mn-cs"/>
              </a:rPr>
              <a:t>一樣的陣列</a:t>
            </a:r>
            <a:r>
              <a:rPr lang="en-US" altLang="zh-TW" sz="1200" kern="1200" dirty="0">
                <a:solidFill>
                  <a:schemeClr val="tx1"/>
                </a:solidFill>
                <a:effectLst/>
                <a:latin typeface="+mn-lt"/>
                <a:ea typeface="+mn-ea"/>
                <a:cs typeface="+mn-cs"/>
              </a:rPr>
              <a:t>R</a:t>
            </a:r>
            <a:r>
              <a:rPr lang="zh-TW" altLang="en-US" sz="1200" kern="1200" dirty="0">
                <a:solidFill>
                  <a:schemeClr val="tx1"/>
                </a:solidFill>
                <a:effectLst/>
                <a:latin typeface="+mn-lt"/>
                <a:ea typeface="+mn-ea"/>
                <a:cs typeface="+mn-cs"/>
              </a:rPr>
              <a:t>，裡面存放的小</a:t>
            </a:r>
            <a:r>
              <a:rPr lang="en-US" altLang="zh-TW" sz="1200" kern="1200" dirty="0">
                <a:solidFill>
                  <a:schemeClr val="tx1"/>
                </a:solidFill>
                <a:effectLst/>
                <a:latin typeface="+mn-lt"/>
                <a:ea typeface="+mn-ea"/>
                <a:cs typeface="+mn-cs"/>
              </a:rPr>
              <a:t>r</a:t>
            </a:r>
            <a:r>
              <a:rPr lang="zh-TW" altLang="en-US" sz="1200" kern="1200" dirty="0">
                <a:solidFill>
                  <a:schemeClr val="tx1"/>
                </a:solidFill>
                <a:effectLst/>
                <a:latin typeface="+mn-lt"/>
                <a:ea typeface="+mn-ea"/>
                <a:cs typeface="+mn-cs"/>
              </a:rPr>
              <a:t>都是一個介於</a:t>
            </a:r>
            <a:r>
              <a:rPr lang="en-US" altLang="zh-TW" sz="1200" kern="1200" dirty="0">
                <a:solidFill>
                  <a:schemeClr val="tx1"/>
                </a:solidFill>
                <a:effectLst/>
                <a:latin typeface="+mn-lt"/>
                <a:ea typeface="+mn-ea"/>
                <a:cs typeface="+mn-cs"/>
              </a:rPr>
              <a:t>0</a:t>
            </a:r>
            <a:r>
              <a:rPr lang="zh-TW" altLang="en-US" sz="1200" kern="1200" dirty="0">
                <a:solidFill>
                  <a:schemeClr val="tx1"/>
                </a:solidFill>
                <a:effectLst/>
                <a:latin typeface="+mn-lt"/>
                <a:ea typeface="+mn-ea"/>
                <a:cs typeface="+mn-cs"/>
              </a:rPr>
              <a:t>到</a:t>
            </a:r>
            <a:r>
              <a:rPr lang="en-US" altLang="zh-TW" sz="1200" kern="1200" dirty="0">
                <a:solidFill>
                  <a:schemeClr val="tx1"/>
                </a:solidFill>
                <a:effectLst/>
                <a:latin typeface="+mn-lt"/>
                <a:ea typeface="+mn-ea"/>
                <a:cs typeface="+mn-cs"/>
              </a:rPr>
              <a:t>1</a:t>
            </a:r>
            <a:r>
              <a:rPr lang="zh-TW" altLang="en-US" sz="1200" kern="1200" dirty="0">
                <a:solidFill>
                  <a:schemeClr val="tx1"/>
                </a:solidFill>
                <a:effectLst/>
                <a:latin typeface="+mn-lt"/>
                <a:ea typeface="+mn-ea"/>
                <a:cs typeface="+mn-cs"/>
              </a:rPr>
              <a:t>之間的值。</a:t>
            </a:r>
            <a:endParaRPr lang="en-US" altLang="zh-TW" sz="1200" kern="1200" dirty="0">
              <a:solidFill>
                <a:schemeClr val="tx1"/>
              </a:solidFill>
              <a:effectLst/>
              <a:latin typeface="+mn-lt"/>
              <a:ea typeface="+mn-ea"/>
              <a:cs typeface="+mn-cs"/>
            </a:endParaRPr>
          </a:p>
          <a:p>
            <a:endParaRPr lang="en-US" altLang="zh-TW" sz="1200" kern="1200" dirty="0">
              <a:solidFill>
                <a:schemeClr val="tx1"/>
              </a:solidFill>
              <a:effectLst/>
              <a:latin typeface="+mn-lt"/>
              <a:ea typeface="+mn-ea"/>
              <a:cs typeface="+mn-cs"/>
            </a:endParaRPr>
          </a:p>
          <a:p>
            <a:r>
              <a:rPr lang="zh-TW" altLang="en-US" sz="1200" kern="1200" dirty="0">
                <a:solidFill>
                  <a:schemeClr val="tx1"/>
                </a:solidFill>
                <a:effectLst/>
                <a:latin typeface="+mn-lt"/>
                <a:ea typeface="+mn-ea"/>
                <a:cs typeface="+mn-cs"/>
              </a:rPr>
              <a:t>然後，把</a:t>
            </a:r>
            <a:r>
              <a:rPr lang="en-US" altLang="zh-TW" sz="1200" kern="1200" dirty="0">
                <a:solidFill>
                  <a:schemeClr val="tx1"/>
                </a:solidFill>
                <a:effectLst/>
                <a:latin typeface="+mn-lt"/>
                <a:ea typeface="+mn-ea"/>
                <a:cs typeface="+mn-cs"/>
              </a:rPr>
              <a:t>P</a:t>
            </a:r>
            <a:r>
              <a:rPr lang="zh-TW" altLang="en-US" sz="1200" kern="1200" dirty="0">
                <a:solidFill>
                  <a:schemeClr val="tx1"/>
                </a:solidFill>
                <a:effectLst/>
                <a:latin typeface="+mn-lt"/>
                <a:ea typeface="+mn-ea"/>
                <a:cs typeface="+mn-cs"/>
              </a:rPr>
              <a:t>減掉</a:t>
            </a:r>
            <a:r>
              <a:rPr lang="en-US" altLang="zh-TW" sz="1200" kern="1200" dirty="0">
                <a:solidFill>
                  <a:schemeClr val="tx1"/>
                </a:solidFill>
                <a:effectLst/>
                <a:latin typeface="+mn-lt"/>
                <a:ea typeface="+mn-ea"/>
                <a:cs typeface="+mn-cs"/>
              </a:rPr>
              <a:t>R</a:t>
            </a:r>
            <a:r>
              <a:rPr lang="zh-TW" altLang="en-US" sz="1200" kern="1200" dirty="0">
                <a:solidFill>
                  <a:schemeClr val="tx1"/>
                </a:solidFill>
                <a:effectLst/>
                <a:latin typeface="+mn-lt"/>
                <a:ea typeface="+mn-ea"/>
                <a:cs typeface="+mn-cs"/>
              </a:rPr>
              <a:t>會得到</a:t>
            </a:r>
            <a:r>
              <a:rPr lang="en-US" altLang="zh-TW" sz="1200" kern="1200" dirty="0">
                <a:solidFill>
                  <a:schemeClr val="tx1"/>
                </a:solidFill>
                <a:effectLst/>
                <a:latin typeface="+mn-lt"/>
                <a:ea typeface="+mn-ea"/>
                <a:cs typeface="+mn-cs"/>
              </a:rPr>
              <a:t>D</a:t>
            </a:r>
            <a:r>
              <a:rPr lang="zh-TW" altLang="en-US" sz="1200" kern="1200" dirty="0">
                <a:solidFill>
                  <a:schemeClr val="tx1"/>
                </a:solidFill>
                <a:effectLst/>
                <a:latin typeface="+mn-lt"/>
                <a:ea typeface="+mn-ea"/>
                <a:cs typeface="+mn-cs"/>
              </a:rPr>
              <a:t>，最後，會把殖民地交給</a:t>
            </a:r>
            <a:r>
              <a:rPr lang="en-US" altLang="zh-TW" sz="1200" kern="1200" dirty="0">
                <a:solidFill>
                  <a:schemeClr val="tx1"/>
                </a:solidFill>
                <a:effectLst/>
                <a:latin typeface="+mn-lt"/>
                <a:ea typeface="+mn-ea"/>
                <a:cs typeface="+mn-cs"/>
              </a:rPr>
              <a:t>D</a:t>
            </a:r>
            <a:r>
              <a:rPr lang="zh-TW" altLang="en-US" sz="1200" kern="1200" dirty="0">
                <a:solidFill>
                  <a:schemeClr val="tx1"/>
                </a:solidFill>
                <a:effectLst/>
                <a:latin typeface="+mn-lt"/>
                <a:ea typeface="+mn-ea"/>
                <a:cs typeface="+mn-cs"/>
              </a:rPr>
              <a:t>值最大的帝國。</a:t>
            </a:r>
            <a:endParaRPr lang="en-US" altLang="zh-TW" sz="1200" kern="1200" dirty="0">
              <a:solidFill>
                <a:schemeClr val="tx1"/>
              </a:solidFill>
              <a:effectLst/>
              <a:latin typeface="+mn-lt"/>
              <a:ea typeface="+mn-ea"/>
              <a:cs typeface="+mn-cs"/>
            </a:endParaRPr>
          </a:p>
        </p:txBody>
      </p:sp>
      <p:sp>
        <p:nvSpPr>
          <p:cNvPr id="4" name="投影片編號版面配置區 3"/>
          <p:cNvSpPr>
            <a:spLocks noGrp="1"/>
          </p:cNvSpPr>
          <p:nvPr>
            <p:ph type="sldNum" sz="quarter" idx="10"/>
          </p:nvPr>
        </p:nvSpPr>
        <p:spPr/>
        <p:txBody>
          <a:bodyPr/>
          <a:lstStyle/>
          <a:p>
            <a:fld id="{8670385A-3A9F-4826-B5A3-522D762D8382}" type="slidenum">
              <a:rPr lang="zh-TW" altLang="en-US" smtClean="0"/>
              <a:t>9</a:t>
            </a:fld>
            <a:endParaRPr lang="zh-TW" altLang="en-US"/>
          </a:p>
        </p:txBody>
      </p:sp>
    </p:spTree>
    <p:extLst>
      <p:ext uri="{BB962C8B-B14F-4D97-AF65-F5344CB8AC3E}">
        <p14:creationId xmlns:p14="http://schemas.microsoft.com/office/powerpoint/2010/main" val="303420371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sz="1200" kern="1200" dirty="0">
                <a:solidFill>
                  <a:schemeClr val="tx1"/>
                </a:solidFill>
                <a:effectLst/>
                <a:latin typeface="+mn-lt"/>
                <a:ea typeface="+mn-ea"/>
                <a:cs typeface="+mn-cs"/>
              </a:rPr>
              <a:t>經過競爭之後，如果一個帝國失去了他所有的殖民地，這個帝國就會被刪除。</a:t>
            </a:r>
            <a:endParaRPr lang="en-US" altLang="zh-TW" sz="1200" kern="1200" dirty="0">
              <a:solidFill>
                <a:schemeClr val="tx1"/>
              </a:solidFill>
              <a:effectLst/>
              <a:latin typeface="+mn-lt"/>
              <a:ea typeface="+mn-ea"/>
              <a:cs typeface="+mn-cs"/>
            </a:endParaRPr>
          </a:p>
          <a:p>
            <a:endParaRPr lang="en-US" altLang="zh-TW" sz="1200" kern="1200" dirty="0">
              <a:solidFill>
                <a:schemeClr val="tx1"/>
              </a:solidFill>
              <a:effectLst/>
              <a:latin typeface="+mn-lt"/>
              <a:ea typeface="+mn-ea"/>
              <a:cs typeface="+mn-cs"/>
            </a:endParaRPr>
          </a:p>
          <a:p>
            <a:r>
              <a:rPr lang="zh-TW" altLang="en-US" sz="1200" kern="1200" dirty="0">
                <a:solidFill>
                  <a:schemeClr val="tx1"/>
                </a:solidFill>
                <a:effectLst/>
                <a:latin typeface="+mn-lt"/>
                <a:ea typeface="+mn-ea"/>
                <a:cs typeface="+mn-cs"/>
              </a:rPr>
              <a:t>刪到最後只剩一個帝國存在時，演算法就會停止，這個帝國的位置就會是解。</a:t>
            </a:r>
            <a:endParaRPr lang="en-US" altLang="zh-TW" sz="1200" kern="1200" dirty="0">
              <a:solidFill>
                <a:schemeClr val="tx1"/>
              </a:solidFill>
              <a:effectLst/>
              <a:latin typeface="+mn-lt"/>
              <a:ea typeface="+mn-ea"/>
              <a:cs typeface="+mn-cs"/>
            </a:endParaRPr>
          </a:p>
          <a:p>
            <a:endParaRPr lang="en-US" altLang="zh-TW" sz="1200" kern="1200" dirty="0">
              <a:solidFill>
                <a:schemeClr val="tx1"/>
              </a:solidFill>
              <a:effectLst/>
              <a:latin typeface="+mn-lt"/>
              <a:ea typeface="+mn-ea"/>
              <a:cs typeface="+mn-cs"/>
            </a:endParaRPr>
          </a:p>
          <a:p>
            <a:r>
              <a:rPr lang="zh-TW" altLang="en-US" sz="1200" kern="1200" dirty="0">
                <a:solidFill>
                  <a:schemeClr val="tx1"/>
                </a:solidFill>
                <a:effectLst/>
                <a:latin typeface="+mn-lt"/>
                <a:ea typeface="+mn-ea"/>
                <a:cs typeface="+mn-cs"/>
              </a:rPr>
              <a:t>右邊則是整個演算法的</a:t>
            </a:r>
            <a:r>
              <a:rPr lang="en-US" altLang="zh-TW" sz="1200" kern="1200" dirty="0">
                <a:solidFill>
                  <a:schemeClr val="tx1"/>
                </a:solidFill>
                <a:effectLst/>
                <a:latin typeface="+mn-lt"/>
                <a:ea typeface="+mn-ea"/>
                <a:cs typeface="+mn-cs"/>
              </a:rPr>
              <a:t>pseudo code</a:t>
            </a:r>
            <a:r>
              <a:rPr lang="zh-TW" altLang="en-US" sz="1200" kern="1200" dirty="0">
                <a:solidFill>
                  <a:schemeClr val="tx1"/>
                </a:solidFill>
                <a:effectLst/>
                <a:latin typeface="+mn-lt"/>
                <a:ea typeface="+mn-ea"/>
                <a:cs typeface="+mn-cs"/>
              </a:rPr>
              <a:t>，從一開始的初始化、各個個體的移動方式、殖民地的競爭、到最後的最佳解。</a:t>
            </a:r>
            <a:endParaRPr lang="en-US" altLang="zh-TW" sz="1200" kern="1200" dirty="0">
              <a:solidFill>
                <a:schemeClr val="tx1"/>
              </a:solidFill>
              <a:effectLst/>
              <a:latin typeface="+mn-lt"/>
              <a:ea typeface="+mn-ea"/>
              <a:cs typeface="+mn-cs"/>
            </a:endParaRPr>
          </a:p>
          <a:p>
            <a:endParaRPr lang="en-US" altLang="zh-TW" sz="1200" kern="1200" dirty="0">
              <a:solidFill>
                <a:schemeClr val="tx1"/>
              </a:solidFill>
              <a:effectLst/>
              <a:latin typeface="+mn-lt"/>
              <a:ea typeface="+mn-ea"/>
              <a:cs typeface="+mn-cs"/>
            </a:endParaRPr>
          </a:p>
        </p:txBody>
      </p:sp>
      <p:sp>
        <p:nvSpPr>
          <p:cNvPr id="4" name="投影片編號版面配置區 3"/>
          <p:cNvSpPr>
            <a:spLocks noGrp="1"/>
          </p:cNvSpPr>
          <p:nvPr>
            <p:ph type="sldNum" sz="quarter" idx="10"/>
          </p:nvPr>
        </p:nvSpPr>
        <p:spPr/>
        <p:txBody>
          <a:bodyPr/>
          <a:lstStyle/>
          <a:p>
            <a:fld id="{8670385A-3A9F-4826-B5A3-522D762D8382}" type="slidenum">
              <a:rPr lang="zh-TW" altLang="en-US" smtClean="0"/>
              <a:t>10</a:t>
            </a:fld>
            <a:endParaRPr lang="zh-TW" altLang="en-US"/>
          </a:p>
        </p:txBody>
      </p:sp>
    </p:spTree>
    <p:extLst>
      <p:ext uri="{BB962C8B-B14F-4D97-AF65-F5344CB8AC3E}">
        <p14:creationId xmlns:p14="http://schemas.microsoft.com/office/powerpoint/2010/main" val="389070928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sz="1200" kern="1200" dirty="0">
                <a:solidFill>
                  <a:schemeClr val="tx1"/>
                </a:solidFill>
                <a:effectLst/>
                <a:latin typeface="+mn-lt"/>
                <a:ea typeface="+mn-ea"/>
                <a:cs typeface="+mn-cs"/>
              </a:rPr>
              <a:t>最後是結論，作者提出了一個名為帝國競爭的演算法。</a:t>
            </a:r>
            <a:endParaRPr lang="en-US" altLang="zh-TW" sz="1200" kern="1200" dirty="0">
              <a:solidFill>
                <a:schemeClr val="tx1"/>
              </a:solidFill>
              <a:effectLst/>
              <a:latin typeface="+mn-lt"/>
              <a:ea typeface="+mn-ea"/>
              <a:cs typeface="+mn-cs"/>
            </a:endParaRPr>
          </a:p>
          <a:p>
            <a:endParaRPr lang="en-US" altLang="zh-TW" sz="1200" kern="1200" dirty="0">
              <a:solidFill>
                <a:schemeClr val="tx1"/>
              </a:solidFill>
              <a:effectLst/>
              <a:latin typeface="+mn-lt"/>
              <a:ea typeface="+mn-ea"/>
              <a:cs typeface="+mn-cs"/>
            </a:endParaRPr>
          </a:p>
          <a:p>
            <a:r>
              <a:rPr lang="zh-TW" altLang="en-US" sz="1200" kern="1200" dirty="0">
                <a:solidFill>
                  <a:schemeClr val="tx1"/>
                </a:solidFill>
                <a:effectLst/>
                <a:latin typeface="+mn-lt"/>
                <a:ea typeface="+mn-ea"/>
                <a:cs typeface="+mn-cs"/>
              </a:rPr>
              <a:t>主要概念是弱的帝國會漸漸消失，最後只剩下一個帝國作為最佳解。</a:t>
            </a:r>
            <a:endParaRPr lang="en-US" altLang="zh-TW" sz="1200" kern="1200" dirty="0">
              <a:solidFill>
                <a:schemeClr val="tx1"/>
              </a:solidFill>
              <a:effectLst/>
              <a:latin typeface="+mn-lt"/>
              <a:ea typeface="+mn-ea"/>
              <a:cs typeface="+mn-cs"/>
            </a:endParaRPr>
          </a:p>
          <a:p>
            <a:endParaRPr lang="en-US" altLang="zh-TW" sz="1200" kern="1200" dirty="0">
              <a:solidFill>
                <a:schemeClr val="tx1"/>
              </a:solidFill>
              <a:effectLst/>
              <a:latin typeface="+mn-lt"/>
              <a:ea typeface="+mn-ea"/>
              <a:cs typeface="+mn-cs"/>
            </a:endParaRPr>
          </a:p>
          <a:p>
            <a:r>
              <a:rPr lang="en-US" altLang="zh-TW" sz="1200" kern="1200" dirty="0">
                <a:solidFill>
                  <a:schemeClr val="tx1"/>
                </a:solidFill>
                <a:effectLst/>
                <a:latin typeface="+mn-lt"/>
                <a:ea typeface="+mn-ea"/>
                <a:cs typeface="+mn-cs"/>
              </a:rPr>
              <a:t>Future work</a:t>
            </a:r>
            <a:r>
              <a:rPr lang="zh-TW" altLang="en-US" sz="1200" kern="1200" dirty="0">
                <a:solidFill>
                  <a:schemeClr val="tx1"/>
                </a:solidFill>
                <a:effectLst/>
                <a:latin typeface="+mn-lt"/>
                <a:ea typeface="+mn-ea"/>
                <a:cs typeface="+mn-cs"/>
              </a:rPr>
              <a:t>的部分提到了可以將此演算法應用到其他最佳化問題，</a:t>
            </a:r>
            <a:endParaRPr lang="en-US" altLang="zh-TW" sz="1200" kern="1200" dirty="0">
              <a:solidFill>
                <a:schemeClr val="tx1"/>
              </a:solidFill>
              <a:effectLst/>
              <a:latin typeface="+mn-lt"/>
              <a:ea typeface="+mn-ea"/>
              <a:cs typeface="+mn-cs"/>
            </a:endParaRPr>
          </a:p>
          <a:p>
            <a:r>
              <a:rPr lang="zh-TW" altLang="en-US" sz="1200" kern="1200" dirty="0">
                <a:solidFill>
                  <a:schemeClr val="tx1"/>
                </a:solidFill>
                <a:effectLst/>
                <a:latin typeface="+mn-lt"/>
                <a:ea typeface="+mn-ea"/>
                <a:cs typeface="+mn-cs"/>
              </a:rPr>
              <a:t>也可以透過微調演算法細節去增進運行速度。</a:t>
            </a:r>
            <a:endParaRPr lang="en-US" altLang="zh-TW" sz="1200" kern="1200" dirty="0">
              <a:solidFill>
                <a:schemeClr val="tx1"/>
              </a:solidFill>
              <a:effectLst/>
              <a:latin typeface="+mn-lt"/>
              <a:ea typeface="+mn-ea"/>
              <a:cs typeface="+mn-cs"/>
            </a:endParaRPr>
          </a:p>
          <a:p>
            <a:endParaRPr lang="en-US" altLang="zh-TW" sz="1200" kern="1200" dirty="0">
              <a:solidFill>
                <a:schemeClr val="tx1"/>
              </a:solidFill>
              <a:effectLst/>
              <a:latin typeface="+mn-lt"/>
              <a:ea typeface="+mn-ea"/>
              <a:cs typeface="+mn-cs"/>
            </a:endParaRPr>
          </a:p>
          <a:p>
            <a:r>
              <a:rPr lang="en-US" altLang="zh-TW" sz="1200" kern="1200" dirty="0">
                <a:solidFill>
                  <a:schemeClr val="tx1"/>
                </a:solidFill>
                <a:effectLst/>
                <a:latin typeface="+mn-lt"/>
                <a:ea typeface="+mn-ea"/>
                <a:cs typeface="+mn-cs"/>
              </a:rPr>
              <a:t>------------------------</a:t>
            </a:r>
          </a:p>
          <a:p>
            <a:r>
              <a:rPr lang="zh-TW" altLang="en-US" dirty="0"/>
              <a:t>帝國演算法在</a:t>
            </a:r>
            <a:r>
              <a:rPr lang="en-US" altLang="zh-TW" dirty="0"/>
              <a:t>15</a:t>
            </a:r>
            <a:r>
              <a:rPr lang="zh-TW" altLang="en-US" dirty="0"/>
              <a:t>個</a:t>
            </a:r>
            <a:r>
              <a:rPr lang="en-US" altLang="zh-TW" dirty="0"/>
              <a:t> iterations</a:t>
            </a:r>
            <a:r>
              <a:rPr lang="zh-TW" altLang="en-US" dirty="0"/>
              <a:t>後找到</a:t>
            </a:r>
            <a:endParaRPr lang="en-US" altLang="zh-TW" sz="1200" kern="1200" dirty="0">
              <a:solidFill>
                <a:schemeClr val="tx1"/>
              </a:solidFill>
              <a:effectLst/>
              <a:latin typeface="+mn-lt"/>
              <a:ea typeface="+mn-ea"/>
              <a:cs typeface="+mn-cs"/>
            </a:endParaRPr>
          </a:p>
        </p:txBody>
      </p:sp>
      <p:sp>
        <p:nvSpPr>
          <p:cNvPr id="4" name="投影片編號版面配置區 3"/>
          <p:cNvSpPr>
            <a:spLocks noGrp="1"/>
          </p:cNvSpPr>
          <p:nvPr>
            <p:ph type="sldNum" sz="quarter" idx="10"/>
          </p:nvPr>
        </p:nvSpPr>
        <p:spPr/>
        <p:txBody>
          <a:bodyPr/>
          <a:lstStyle/>
          <a:p>
            <a:fld id="{8670385A-3A9F-4826-B5A3-522D762D8382}" type="slidenum">
              <a:rPr lang="zh-TW" altLang="en-US" smtClean="0"/>
              <a:t>11</a:t>
            </a:fld>
            <a:endParaRPr lang="zh-TW" altLang="en-US"/>
          </a:p>
        </p:txBody>
      </p:sp>
    </p:spTree>
    <p:extLst>
      <p:ext uri="{BB962C8B-B14F-4D97-AF65-F5344CB8AC3E}">
        <p14:creationId xmlns:p14="http://schemas.microsoft.com/office/powerpoint/2010/main" val="132618509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我的報告到此結束，謝謝大家。</a:t>
            </a:r>
          </a:p>
        </p:txBody>
      </p:sp>
      <p:sp>
        <p:nvSpPr>
          <p:cNvPr id="4" name="投影片編號版面配置區 3"/>
          <p:cNvSpPr>
            <a:spLocks noGrp="1"/>
          </p:cNvSpPr>
          <p:nvPr>
            <p:ph type="sldNum" sz="quarter" idx="10"/>
          </p:nvPr>
        </p:nvSpPr>
        <p:spPr/>
        <p:txBody>
          <a:bodyPr/>
          <a:lstStyle/>
          <a:p>
            <a:fld id="{8670385A-3A9F-4826-B5A3-522D762D8382}" type="slidenum">
              <a:rPr lang="zh-TW" altLang="en-US" smtClean="0"/>
              <a:t>12</a:t>
            </a:fld>
            <a:endParaRPr lang="zh-TW" altLang="en-US"/>
          </a:p>
        </p:txBody>
      </p:sp>
    </p:spTree>
    <p:extLst>
      <p:ext uri="{BB962C8B-B14F-4D97-AF65-F5344CB8AC3E}">
        <p14:creationId xmlns:p14="http://schemas.microsoft.com/office/powerpoint/2010/main" val="345486118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我的報告到此結束，謝謝大家。</a:t>
            </a:r>
          </a:p>
        </p:txBody>
      </p:sp>
      <p:sp>
        <p:nvSpPr>
          <p:cNvPr id="4" name="投影片編號版面配置區 3"/>
          <p:cNvSpPr>
            <a:spLocks noGrp="1"/>
          </p:cNvSpPr>
          <p:nvPr>
            <p:ph type="sldNum" sz="quarter" idx="10"/>
          </p:nvPr>
        </p:nvSpPr>
        <p:spPr/>
        <p:txBody>
          <a:bodyPr/>
          <a:lstStyle/>
          <a:p>
            <a:fld id="{8670385A-3A9F-4826-B5A3-522D762D8382}" type="slidenum">
              <a:rPr lang="zh-TW" altLang="en-US" smtClean="0"/>
              <a:t>13</a:t>
            </a:fld>
            <a:endParaRPr lang="zh-TW" altLang="en-US"/>
          </a:p>
        </p:txBody>
      </p:sp>
    </p:spTree>
    <p:extLst>
      <p:ext uri="{BB962C8B-B14F-4D97-AF65-F5344CB8AC3E}">
        <p14:creationId xmlns:p14="http://schemas.microsoft.com/office/powerpoint/2010/main" val="304804207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en-US" altLang="zh-TW" sz="1200" kern="1200" dirty="0">
              <a:solidFill>
                <a:schemeClr val="tx1"/>
              </a:solidFill>
              <a:effectLst/>
              <a:latin typeface="+mn-lt"/>
              <a:ea typeface="+mn-ea"/>
              <a:cs typeface="+mn-cs"/>
            </a:endParaRPr>
          </a:p>
        </p:txBody>
      </p:sp>
      <p:sp>
        <p:nvSpPr>
          <p:cNvPr id="4" name="投影片編號版面配置區 3"/>
          <p:cNvSpPr>
            <a:spLocks noGrp="1"/>
          </p:cNvSpPr>
          <p:nvPr>
            <p:ph type="sldNum" sz="quarter" idx="10"/>
          </p:nvPr>
        </p:nvSpPr>
        <p:spPr/>
        <p:txBody>
          <a:bodyPr/>
          <a:lstStyle/>
          <a:p>
            <a:fld id="{8670385A-3A9F-4826-B5A3-522D762D8382}" type="slidenum">
              <a:rPr lang="zh-TW" altLang="en-US" smtClean="0"/>
              <a:t>14</a:t>
            </a:fld>
            <a:endParaRPr lang="zh-TW" altLang="en-US"/>
          </a:p>
        </p:txBody>
      </p:sp>
    </p:spTree>
    <p:extLst>
      <p:ext uri="{BB962C8B-B14F-4D97-AF65-F5344CB8AC3E}">
        <p14:creationId xmlns:p14="http://schemas.microsoft.com/office/powerpoint/2010/main" val="16293740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1524000" y="1122363"/>
            <a:ext cx="9144000" cy="2387600"/>
          </a:xfrm>
        </p:spPr>
        <p:txBody>
          <a:bodyPr anchor="b"/>
          <a:lstStyle>
            <a:lvl1pPr algn="ctr">
              <a:defRPr sz="6000"/>
            </a:lvl1pPr>
          </a:lstStyle>
          <a:p>
            <a:r>
              <a:rPr lang="zh-TW" altLang="en-US"/>
              <a:t>按一下以編輯母片標題樣式</a:t>
            </a:r>
          </a:p>
        </p:txBody>
      </p:sp>
      <p:sp>
        <p:nvSpPr>
          <p:cNvPr id="3" name="副標題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按一下以編輯母片副標題樣式</a:t>
            </a:r>
          </a:p>
        </p:txBody>
      </p:sp>
      <p:sp>
        <p:nvSpPr>
          <p:cNvPr id="4" name="日期版面配置區 3"/>
          <p:cNvSpPr>
            <a:spLocks noGrp="1"/>
          </p:cNvSpPr>
          <p:nvPr>
            <p:ph type="dt" sz="half" idx="10"/>
          </p:nvPr>
        </p:nvSpPr>
        <p:spPr/>
        <p:txBody>
          <a:bodyPr/>
          <a:lstStyle/>
          <a:p>
            <a:fld id="{49626808-429A-4028-A4D4-897012403039}" type="datetimeFigureOut">
              <a:rPr lang="zh-TW" altLang="en-US" smtClean="0"/>
              <a:t>2024/6/4</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60AB6D81-95DE-485F-B5F2-D8EB09B7804D}" type="slidenum">
              <a:rPr lang="zh-TW" altLang="en-US" smtClean="0"/>
              <a:t>‹#›</a:t>
            </a:fld>
            <a:endParaRPr lang="zh-TW" altLang="en-US"/>
          </a:p>
        </p:txBody>
      </p:sp>
    </p:spTree>
    <p:extLst>
      <p:ext uri="{BB962C8B-B14F-4D97-AF65-F5344CB8AC3E}">
        <p14:creationId xmlns:p14="http://schemas.microsoft.com/office/powerpoint/2010/main" val="41873164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idx="1"/>
          </p:nvPr>
        </p:nvSpPr>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fld id="{49626808-429A-4028-A4D4-897012403039}" type="datetimeFigureOut">
              <a:rPr lang="zh-TW" altLang="en-US" smtClean="0"/>
              <a:t>2024/6/4</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60AB6D81-95DE-485F-B5F2-D8EB09B7804D}" type="slidenum">
              <a:rPr lang="zh-TW" altLang="en-US" smtClean="0"/>
              <a:t>‹#›</a:t>
            </a:fld>
            <a:endParaRPr lang="zh-TW" altLang="en-US"/>
          </a:p>
        </p:txBody>
      </p:sp>
    </p:spTree>
    <p:extLst>
      <p:ext uri="{BB962C8B-B14F-4D97-AF65-F5344CB8AC3E}">
        <p14:creationId xmlns:p14="http://schemas.microsoft.com/office/powerpoint/2010/main" val="11120484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p:cNvSpPr>
            <a:spLocks noGrp="1"/>
          </p:cNvSpPr>
          <p:nvPr>
            <p:ph type="title"/>
          </p:nvPr>
        </p:nvSpPr>
        <p:spPr>
          <a:xfrm>
            <a:off x="831850" y="1709738"/>
            <a:ext cx="10515600" cy="2852737"/>
          </a:xfrm>
        </p:spPr>
        <p:txBody>
          <a:bodyPr anchor="b"/>
          <a:lstStyle>
            <a:lvl1pPr>
              <a:defRPr sz="6000"/>
            </a:lvl1pPr>
          </a:lstStyle>
          <a:p>
            <a:r>
              <a:rPr lang="zh-TW" altLang="en-US"/>
              <a:t>按一下以編輯母片標題樣式</a:t>
            </a:r>
          </a:p>
        </p:txBody>
      </p:sp>
      <p:sp>
        <p:nvSpPr>
          <p:cNvPr id="3" name="文字版面配置區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按一下以編輯母片文字樣式</a:t>
            </a:r>
          </a:p>
        </p:txBody>
      </p:sp>
      <p:sp>
        <p:nvSpPr>
          <p:cNvPr id="4" name="日期版面配置區 3"/>
          <p:cNvSpPr>
            <a:spLocks noGrp="1"/>
          </p:cNvSpPr>
          <p:nvPr>
            <p:ph type="dt" sz="half" idx="10"/>
          </p:nvPr>
        </p:nvSpPr>
        <p:spPr/>
        <p:txBody>
          <a:bodyPr/>
          <a:lstStyle/>
          <a:p>
            <a:fld id="{49626808-429A-4028-A4D4-897012403039}" type="datetimeFigureOut">
              <a:rPr lang="zh-TW" altLang="en-US" smtClean="0"/>
              <a:t>2024/6/4</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60AB6D81-95DE-485F-B5F2-D8EB09B7804D}" type="slidenum">
              <a:rPr lang="zh-TW" altLang="en-US" smtClean="0"/>
              <a:t>‹#›</a:t>
            </a:fld>
            <a:endParaRPr lang="zh-TW" altLang="en-US"/>
          </a:p>
        </p:txBody>
      </p:sp>
    </p:spTree>
    <p:extLst>
      <p:ext uri="{BB962C8B-B14F-4D97-AF65-F5344CB8AC3E}">
        <p14:creationId xmlns:p14="http://schemas.microsoft.com/office/powerpoint/2010/main" val="29480209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sz="half" idx="1"/>
          </p:nvPr>
        </p:nvSpPr>
        <p:spPr>
          <a:xfrm>
            <a:off x="838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p:cNvSpPr>
            <a:spLocks noGrp="1"/>
          </p:cNvSpPr>
          <p:nvPr>
            <p:ph sz="half" idx="2"/>
          </p:nvPr>
        </p:nvSpPr>
        <p:spPr>
          <a:xfrm>
            <a:off x="6172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p:cNvSpPr>
            <a:spLocks noGrp="1"/>
          </p:cNvSpPr>
          <p:nvPr>
            <p:ph type="dt" sz="half" idx="10"/>
          </p:nvPr>
        </p:nvSpPr>
        <p:spPr/>
        <p:txBody>
          <a:bodyPr/>
          <a:lstStyle/>
          <a:p>
            <a:fld id="{49626808-429A-4028-A4D4-897012403039}" type="datetimeFigureOut">
              <a:rPr lang="zh-TW" altLang="en-US" smtClean="0"/>
              <a:t>2024/6/4</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60AB6D81-95DE-485F-B5F2-D8EB09B7804D}" type="slidenum">
              <a:rPr lang="zh-TW" altLang="en-US" smtClean="0"/>
              <a:t>‹#›</a:t>
            </a:fld>
            <a:endParaRPr lang="zh-TW" altLang="en-US"/>
          </a:p>
        </p:txBody>
      </p:sp>
    </p:spTree>
    <p:extLst>
      <p:ext uri="{BB962C8B-B14F-4D97-AF65-F5344CB8AC3E}">
        <p14:creationId xmlns:p14="http://schemas.microsoft.com/office/powerpoint/2010/main" val="3338920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a:xfrm>
            <a:off x="839788" y="365125"/>
            <a:ext cx="10515600" cy="1325563"/>
          </a:xfrm>
        </p:spPr>
        <p:txBody>
          <a:bodyPr/>
          <a:lstStyle/>
          <a:p>
            <a:r>
              <a:rPr lang="zh-TW" altLang="en-US"/>
              <a:t>按一下以編輯母片標題樣式</a:t>
            </a:r>
          </a:p>
        </p:txBody>
      </p:sp>
      <p:sp>
        <p:nvSpPr>
          <p:cNvPr id="3" name="文字版面配置區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4" name="內容版面配置區 3"/>
          <p:cNvSpPr>
            <a:spLocks noGrp="1"/>
          </p:cNvSpPr>
          <p:nvPr>
            <p:ph sz="half" idx="2"/>
          </p:nvPr>
        </p:nvSpPr>
        <p:spPr>
          <a:xfrm>
            <a:off x="839788" y="2505075"/>
            <a:ext cx="5157787"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6" name="內容版面配置區 5"/>
          <p:cNvSpPr>
            <a:spLocks noGrp="1"/>
          </p:cNvSpPr>
          <p:nvPr>
            <p:ph sz="quarter" idx="4"/>
          </p:nvPr>
        </p:nvSpPr>
        <p:spPr>
          <a:xfrm>
            <a:off x="6172200" y="2505075"/>
            <a:ext cx="5183188"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p:cNvSpPr>
            <a:spLocks noGrp="1"/>
          </p:cNvSpPr>
          <p:nvPr>
            <p:ph type="dt" sz="half" idx="10"/>
          </p:nvPr>
        </p:nvSpPr>
        <p:spPr/>
        <p:txBody>
          <a:bodyPr/>
          <a:lstStyle/>
          <a:p>
            <a:fld id="{49626808-429A-4028-A4D4-897012403039}" type="datetimeFigureOut">
              <a:rPr lang="zh-TW" altLang="en-US" smtClean="0"/>
              <a:t>2024/6/4</a:t>
            </a:fld>
            <a:endParaRPr lang="zh-TW" altLang="en-US"/>
          </a:p>
        </p:txBody>
      </p:sp>
      <p:sp>
        <p:nvSpPr>
          <p:cNvPr id="8" name="頁尾版面配置區 7"/>
          <p:cNvSpPr>
            <a:spLocks noGrp="1"/>
          </p:cNvSpPr>
          <p:nvPr>
            <p:ph type="ftr" sz="quarter" idx="11"/>
          </p:nvPr>
        </p:nvSpPr>
        <p:spPr/>
        <p:txBody>
          <a:bodyPr/>
          <a:lstStyle/>
          <a:p>
            <a:endParaRPr lang="zh-TW" altLang="en-US"/>
          </a:p>
        </p:txBody>
      </p:sp>
      <p:sp>
        <p:nvSpPr>
          <p:cNvPr id="9" name="投影片編號版面配置區 8"/>
          <p:cNvSpPr>
            <a:spLocks noGrp="1"/>
          </p:cNvSpPr>
          <p:nvPr>
            <p:ph type="sldNum" sz="quarter" idx="12"/>
          </p:nvPr>
        </p:nvSpPr>
        <p:spPr/>
        <p:txBody>
          <a:bodyPr/>
          <a:lstStyle/>
          <a:p>
            <a:fld id="{60AB6D81-95DE-485F-B5F2-D8EB09B7804D}" type="slidenum">
              <a:rPr lang="zh-TW" altLang="en-US" smtClean="0"/>
              <a:t>‹#›</a:t>
            </a:fld>
            <a:endParaRPr lang="zh-TW" altLang="en-US"/>
          </a:p>
        </p:txBody>
      </p:sp>
    </p:spTree>
    <p:extLst>
      <p:ext uri="{BB962C8B-B14F-4D97-AF65-F5344CB8AC3E}">
        <p14:creationId xmlns:p14="http://schemas.microsoft.com/office/powerpoint/2010/main" val="38108117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日期版面配置區 2"/>
          <p:cNvSpPr>
            <a:spLocks noGrp="1"/>
          </p:cNvSpPr>
          <p:nvPr>
            <p:ph type="dt" sz="half" idx="10"/>
          </p:nvPr>
        </p:nvSpPr>
        <p:spPr/>
        <p:txBody>
          <a:bodyPr/>
          <a:lstStyle/>
          <a:p>
            <a:fld id="{49626808-429A-4028-A4D4-897012403039}" type="datetimeFigureOut">
              <a:rPr lang="zh-TW" altLang="en-US" smtClean="0"/>
              <a:t>2024/6/4</a:t>
            </a:fld>
            <a:endParaRPr lang="zh-TW" altLang="en-US"/>
          </a:p>
        </p:txBody>
      </p:sp>
      <p:sp>
        <p:nvSpPr>
          <p:cNvPr id="4" name="頁尾版面配置區 3"/>
          <p:cNvSpPr>
            <a:spLocks noGrp="1"/>
          </p:cNvSpPr>
          <p:nvPr>
            <p:ph type="ftr" sz="quarter" idx="11"/>
          </p:nvPr>
        </p:nvSpPr>
        <p:spPr/>
        <p:txBody>
          <a:bodyPr/>
          <a:lstStyle/>
          <a:p>
            <a:endParaRPr lang="zh-TW" altLang="en-US"/>
          </a:p>
        </p:txBody>
      </p:sp>
      <p:sp>
        <p:nvSpPr>
          <p:cNvPr id="5" name="投影片編號版面配置區 4"/>
          <p:cNvSpPr>
            <a:spLocks noGrp="1"/>
          </p:cNvSpPr>
          <p:nvPr>
            <p:ph type="sldNum" sz="quarter" idx="12"/>
          </p:nvPr>
        </p:nvSpPr>
        <p:spPr/>
        <p:txBody>
          <a:bodyPr/>
          <a:lstStyle/>
          <a:p>
            <a:fld id="{60AB6D81-95DE-485F-B5F2-D8EB09B7804D}" type="slidenum">
              <a:rPr lang="zh-TW" altLang="en-US" smtClean="0"/>
              <a:t>‹#›</a:t>
            </a:fld>
            <a:endParaRPr lang="zh-TW" altLang="en-US"/>
          </a:p>
        </p:txBody>
      </p:sp>
    </p:spTree>
    <p:extLst>
      <p:ext uri="{BB962C8B-B14F-4D97-AF65-F5344CB8AC3E}">
        <p14:creationId xmlns:p14="http://schemas.microsoft.com/office/powerpoint/2010/main" val="39468837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p:txBody>
          <a:bodyPr/>
          <a:lstStyle/>
          <a:p>
            <a:fld id="{49626808-429A-4028-A4D4-897012403039}" type="datetimeFigureOut">
              <a:rPr lang="zh-TW" altLang="en-US" smtClean="0"/>
              <a:t>2024/6/4</a:t>
            </a:fld>
            <a:endParaRPr lang="zh-TW" altLang="en-US"/>
          </a:p>
        </p:txBody>
      </p:sp>
      <p:sp>
        <p:nvSpPr>
          <p:cNvPr id="3" name="頁尾版面配置區 2"/>
          <p:cNvSpPr>
            <a:spLocks noGrp="1"/>
          </p:cNvSpPr>
          <p:nvPr>
            <p:ph type="ftr" sz="quarter" idx="1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60AB6D81-95DE-485F-B5F2-D8EB09B7804D}" type="slidenum">
              <a:rPr lang="zh-TW" altLang="en-US" smtClean="0"/>
              <a:t>‹#›</a:t>
            </a:fld>
            <a:endParaRPr lang="zh-TW" altLang="en-US"/>
          </a:p>
        </p:txBody>
      </p:sp>
    </p:spTree>
    <p:extLst>
      <p:ext uri="{BB962C8B-B14F-4D97-AF65-F5344CB8AC3E}">
        <p14:creationId xmlns:p14="http://schemas.microsoft.com/office/powerpoint/2010/main" val="42385484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內容版面配置區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p:cNvSpPr>
            <a:spLocks noGrp="1"/>
          </p:cNvSpPr>
          <p:nvPr>
            <p:ph type="dt" sz="half" idx="10"/>
          </p:nvPr>
        </p:nvSpPr>
        <p:spPr/>
        <p:txBody>
          <a:bodyPr/>
          <a:lstStyle/>
          <a:p>
            <a:fld id="{49626808-429A-4028-A4D4-897012403039}" type="datetimeFigureOut">
              <a:rPr lang="zh-TW" altLang="en-US" smtClean="0"/>
              <a:t>2024/6/4</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60AB6D81-95DE-485F-B5F2-D8EB09B7804D}" type="slidenum">
              <a:rPr lang="zh-TW" altLang="en-US" smtClean="0"/>
              <a:t>‹#›</a:t>
            </a:fld>
            <a:endParaRPr lang="zh-TW" altLang="en-US"/>
          </a:p>
        </p:txBody>
      </p:sp>
    </p:spTree>
    <p:extLst>
      <p:ext uri="{BB962C8B-B14F-4D97-AF65-F5344CB8AC3E}">
        <p14:creationId xmlns:p14="http://schemas.microsoft.com/office/powerpoint/2010/main" val="11732515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圖片版面配置區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p:cNvSpPr>
            <a:spLocks noGrp="1"/>
          </p:cNvSpPr>
          <p:nvPr>
            <p:ph type="dt" sz="half" idx="10"/>
          </p:nvPr>
        </p:nvSpPr>
        <p:spPr/>
        <p:txBody>
          <a:bodyPr/>
          <a:lstStyle/>
          <a:p>
            <a:fld id="{49626808-429A-4028-A4D4-897012403039}" type="datetimeFigureOut">
              <a:rPr lang="zh-TW" altLang="en-US" smtClean="0"/>
              <a:t>2024/6/4</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60AB6D81-95DE-485F-B5F2-D8EB09B7804D}" type="slidenum">
              <a:rPr lang="zh-TW" altLang="en-US" smtClean="0"/>
              <a:t>‹#›</a:t>
            </a:fld>
            <a:endParaRPr lang="zh-TW" altLang="en-US"/>
          </a:p>
        </p:txBody>
      </p:sp>
    </p:spTree>
    <p:extLst>
      <p:ext uri="{BB962C8B-B14F-4D97-AF65-F5344CB8AC3E}">
        <p14:creationId xmlns:p14="http://schemas.microsoft.com/office/powerpoint/2010/main" val="40279756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直排文字版面配置區 2"/>
          <p:cNvSpPr>
            <a:spLocks noGrp="1"/>
          </p:cNvSpPr>
          <p:nvPr>
            <p:ph type="body" orient="vert" idx="1"/>
          </p:nvPr>
        </p:nvSpPr>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fld id="{49626808-429A-4028-A4D4-897012403039}" type="datetimeFigureOut">
              <a:rPr lang="zh-TW" altLang="en-US" smtClean="0"/>
              <a:t>2024/6/4</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60AB6D81-95DE-485F-B5F2-D8EB09B7804D}" type="slidenum">
              <a:rPr lang="zh-TW" altLang="en-US" smtClean="0"/>
              <a:t>‹#›</a:t>
            </a:fld>
            <a:endParaRPr lang="zh-TW" altLang="en-US"/>
          </a:p>
        </p:txBody>
      </p:sp>
    </p:spTree>
    <p:extLst>
      <p:ext uri="{BB962C8B-B14F-4D97-AF65-F5344CB8AC3E}">
        <p14:creationId xmlns:p14="http://schemas.microsoft.com/office/powerpoint/2010/main" val="17672478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8724900" y="365125"/>
            <a:ext cx="2628900" cy="5811838"/>
          </a:xfrm>
        </p:spPr>
        <p:txBody>
          <a:bodyPr vert="eaVert"/>
          <a:lstStyle/>
          <a:p>
            <a:r>
              <a:rPr lang="zh-TW" altLang="en-US"/>
              <a:t>按一下以編輯母片標題樣式</a:t>
            </a:r>
          </a:p>
        </p:txBody>
      </p:sp>
      <p:sp>
        <p:nvSpPr>
          <p:cNvPr id="3" name="直排文字版面配置區 2"/>
          <p:cNvSpPr>
            <a:spLocks noGrp="1"/>
          </p:cNvSpPr>
          <p:nvPr>
            <p:ph type="body" orient="vert" idx="1"/>
          </p:nvPr>
        </p:nvSpPr>
        <p:spPr>
          <a:xfrm>
            <a:off x="838200" y="365125"/>
            <a:ext cx="7734300" cy="5811838"/>
          </a:xfr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fld id="{49626808-429A-4028-A4D4-897012403039}" type="datetimeFigureOut">
              <a:rPr lang="zh-TW" altLang="en-US" smtClean="0"/>
              <a:t>2024/6/4</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60AB6D81-95DE-485F-B5F2-D8EB09B7804D}" type="slidenum">
              <a:rPr lang="zh-TW" altLang="en-US" smtClean="0"/>
              <a:t>‹#›</a:t>
            </a:fld>
            <a:endParaRPr lang="zh-TW" altLang="en-US"/>
          </a:p>
        </p:txBody>
      </p:sp>
    </p:spTree>
    <p:extLst>
      <p:ext uri="{BB962C8B-B14F-4D97-AF65-F5344CB8AC3E}">
        <p14:creationId xmlns:p14="http://schemas.microsoft.com/office/powerpoint/2010/main" val="34885279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9626808-429A-4028-A4D4-897012403039}" type="datetimeFigureOut">
              <a:rPr lang="zh-TW" altLang="en-US" smtClean="0"/>
              <a:t>2024/6/4</a:t>
            </a:fld>
            <a:endParaRPr lang="zh-TW" altLang="en-US"/>
          </a:p>
        </p:txBody>
      </p:sp>
      <p:sp>
        <p:nvSpPr>
          <p:cNvPr id="5" name="頁尾版面配置區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0AB6D81-95DE-485F-B5F2-D8EB09B7804D}" type="slidenum">
              <a:rPr lang="zh-TW" altLang="en-US" smtClean="0"/>
              <a:t>‹#›</a:t>
            </a:fld>
            <a:endParaRPr lang="zh-TW" altLang="en-US"/>
          </a:p>
        </p:txBody>
      </p:sp>
    </p:spTree>
    <p:extLst>
      <p:ext uri="{BB962C8B-B14F-4D97-AF65-F5344CB8AC3E}">
        <p14:creationId xmlns:p14="http://schemas.microsoft.com/office/powerpoint/2010/main" val="148757810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1.png"/><Relationship Id="rId7"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 Id="rId9"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15.png"/><Relationship Id="rId7" Type="http://schemas.openxmlformats.org/officeDocument/2006/relationships/image" Target="../media/image19.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1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a:xfrm>
            <a:off x="0" y="2769961"/>
            <a:ext cx="12432632" cy="832077"/>
          </a:xfrm>
        </p:spPr>
        <p:txBody>
          <a:bodyPr>
            <a:noAutofit/>
          </a:bodyPr>
          <a:lstStyle/>
          <a:p>
            <a:r>
              <a:rPr lang="en-US" altLang="zh-TW" sz="4400" dirty="0">
                <a:latin typeface="Times New Roman" panose="02020603050405020304" pitchFamily="18" charset="0"/>
                <a:cs typeface="Times New Roman" panose="02020603050405020304" pitchFamily="18" charset="0"/>
              </a:rPr>
              <a:t>Imperialist Competitive Algorithm: </a:t>
            </a:r>
            <a:br>
              <a:rPr lang="en-US" altLang="zh-TW" sz="4400" dirty="0">
                <a:latin typeface="Times New Roman" panose="02020603050405020304" pitchFamily="18" charset="0"/>
                <a:cs typeface="Times New Roman" panose="02020603050405020304" pitchFamily="18" charset="0"/>
              </a:rPr>
            </a:br>
            <a:r>
              <a:rPr lang="en-US" altLang="zh-TW" sz="4400" dirty="0">
                <a:latin typeface="Times New Roman" panose="02020603050405020304" pitchFamily="18" charset="0"/>
                <a:cs typeface="Times New Roman" panose="02020603050405020304" pitchFamily="18" charset="0"/>
              </a:rPr>
              <a:t>An Algorithm for Optimization</a:t>
            </a:r>
            <a:br>
              <a:rPr lang="en-US" altLang="zh-TW" sz="4400" dirty="0">
                <a:latin typeface="Times New Roman" panose="02020603050405020304" pitchFamily="18" charset="0"/>
                <a:cs typeface="Times New Roman" panose="02020603050405020304" pitchFamily="18" charset="0"/>
              </a:rPr>
            </a:br>
            <a:r>
              <a:rPr lang="en-US" altLang="zh-TW" sz="4400" dirty="0">
                <a:latin typeface="Times New Roman" panose="02020603050405020304" pitchFamily="18" charset="0"/>
                <a:cs typeface="Times New Roman" panose="02020603050405020304" pitchFamily="18" charset="0"/>
              </a:rPr>
              <a:t>Inspired by Imperialistic Competition</a:t>
            </a:r>
          </a:p>
        </p:txBody>
      </p:sp>
      <p:sp>
        <p:nvSpPr>
          <p:cNvPr id="3" name="副標題 2"/>
          <p:cNvSpPr>
            <a:spLocks noGrp="1"/>
          </p:cNvSpPr>
          <p:nvPr>
            <p:ph type="subTitle" idx="1"/>
          </p:nvPr>
        </p:nvSpPr>
        <p:spPr>
          <a:xfrm>
            <a:off x="1524000" y="3890412"/>
            <a:ext cx="9144000" cy="1655762"/>
          </a:xfrm>
        </p:spPr>
        <p:txBody>
          <a:bodyPr/>
          <a:lstStyle/>
          <a:p>
            <a:r>
              <a:rPr lang="en-US" altLang="zh-TW" dirty="0" err="1">
                <a:latin typeface="Times New Roman" panose="02020603050405020304" pitchFamily="18" charset="0"/>
                <a:cs typeface="Times New Roman" panose="02020603050405020304" pitchFamily="18" charset="0"/>
              </a:rPr>
              <a:t>Esmaeil</a:t>
            </a:r>
            <a:r>
              <a:rPr lang="en-US" altLang="zh-TW" dirty="0">
                <a:latin typeface="Times New Roman" panose="02020603050405020304" pitchFamily="18" charset="0"/>
                <a:cs typeface="Times New Roman" panose="02020603050405020304" pitchFamily="18" charset="0"/>
              </a:rPr>
              <a:t> </a:t>
            </a:r>
            <a:r>
              <a:rPr lang="en-US" altLang="zh-TW" dirty="0" err="1">
                <a:latin typeface="Times New Roman" panose="02020603050405020304" pitchFamily="18" charset="0"/>
                <a:cs typeface="Times New Roman" panose="02020603050405020304" pitchFamily="18" charset="0"/>
              </a:rPr>
              <a:t>Atashpaz-Gargari</a:t>
            </a:r>
            <a:r>
              <a:rPr lang="en-US" altLang="zh-TW" dirty="0">
                <a:latin typeface="Times New Roman" panose="02020603050405020304" pitchFamily="18" charset="0"/>
                <a:cs typeface="Times New Roman" panose="02020603050405020304" pitchFamily="18" charset="0"/>
              </a:rPr>
              <a:t>, Caro Lucas</a:t>
            </a:r>
          </a:p>
          <a:p>
            <a:r>
              <a:rPr lang="en-US" altLang="zh-TW" dirty="0">
                <a:latin typeface="Times New Roman" panose="02020603050405020304" pitchFamily="18" charset="0"/>
                <a:cs typeface="Times New Roman" panose="02020603050405020304" pitchFamily="18" charset="0"/>
              </a:rPr>
              <a:t>2007</a:t>
            </a:r>
            <a:r>
              <a:rPr lang="zh-TW" altLang="en-US"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IEEE Congress on Evolutionary Computation</a:t>
            </a:r>
            <a:r>
              <a:rPr lang="en-US" altLang="zh-TW" b="0" i="0" dirty="0">
                <a:solidFill>
                  <a:srgbClr val="333333"/>
                </a:solidFill>
                <a:effectLst/>
                <a:highlight>
                  <a:srgbClr val="FFFFFF"/>
                </a:highlight>
                <a:latin typeface="Times New Roman" panose="02020603050405020304" pitchFamily="18" charset="0"/>
                <a:cs typeface="Times New Roman" panose="02020603050405020304" pitchFamily="18" charset="0"/>
              </a:rPr>
              <a:t>, Singapore</a:t>
            </a:r>
            <a:endParaRPr lang="en-US" altLang="zh-TW" dirty="0">
              <a:latin typeface="Times New Roman" panose="02020603050405020304" pitchFamily="18" charset="0"/>
              <a:cs typeface="Times New Roman" panose="02020603050405020304" pitchFamily="18" charset="0"/>
            </a:endParaRPr>
          </a:p>
        </p:txBody>
      </p:sp>
      <p:sp>
        <p:nvSpPr>
          <p:cNvPr id="4" name="Google Shape;56;p13">
            <a:extLst>
              <a:ext uri="{FF2B5EF4-FFF2-40B4-BE49-F238E27FC236}">
                <a16:creationId xmlns:a16="http://schemas.microsoft.com/office/drawing/2014/main" id="{06C1D35A-D785-485D-9332-2BCA50B420B3}"/>
              </a:ext>
            </a:extLst>
          </p:cNvPr>
          <p:cNvSpPr txBox="1"/>
          <p:nvPr/>
        </p:nvSpPr>
        <p:spPr>
          <a:xfrm>
            <a:off x="7904957" y="5834548"/>
            <a:ext cx="3920100" cy="800400"/>
          </a:xfrm>
          <a:prstGeom prst="rect">
            <a:avLst/>
          </a:prstGeom>
          <a:noFill/>
          <a:ln>
            <a:noFill/>
          </a:ln>
        </p:spPr>
        <p:txBody>
          <a:bodyPr spcFirstLastPara="1" wrap="square" lIns="91425" tIns="91425" rIns="91425" bIns="91425" anchor="t" anchorCtr="0">
            <a:spAutoFit/>
          </a:bodyPr>
          <a:lstStyle/>
          <a:p>
            <a:pPr marL="0" lvl="0" indent="0" algn="r" rtl="0">
              <a:spcBef>
                <a:spcPts val="0"/>
              </a:spcBef>
              <a:spcAft>
                <a:spcPts val="0"/>
              </a:spcAft>
              <a:buNone/>
            </a:pPr>
            <a:r>
              <a:rPr lang="zh-TW" sz="2000" dirty="0">
                <a:latin typeface="Times New Roman"/>
                <a:ea typeface="Times New Roman"/>
                <a:cs typeface="Times New Roman"/>
                <a:sym typeface="Times New Roman"/>
              </a:rPr>
              <a:t>Presenter: </a:t>
            </a:r>
            <a:r>
              <a:rPr lang="en-US" altLang="zh-TW" sz="2000" dirty="0">
                <a:latin typeface="Times New Roman"/>
                <a:ea typeface="Times New Roman"/>
                <a:cs typeface="Times New Roman"/>
                <a:sym typeface="Times New Roman"/>
              </a:rPr>
              <a:t>Wan-Ni </a:t>
            </a:r>
            <a:r>
              <a:rPr lang="en-US" altLang="zh-TW" sz="2000" dirty="0" err="1">
                <a:latin typeface="Times New Roman"/>
                <a:ea typeface="Times New Roman"/>
                <a:cs typeface="Times New Roman"/>
                <a:sym typeface="Times New Roman"/>
              </a:rPr>
              <a:t>Ou</a:t>
            </a:r>
            <a:endParaRPr sz="2000" dirty="0">
              <a:latin typeface="Times New Roman"/>
              <a:ea typeface="Times New Roman"/>
              <a:cs typeface="Times New Roman"/>
              <a:sym typeface="Times New Roman"/>
            </a:endParaRPr>
          </a:p>
          <a:p>
            <a:pPr marL="0" lvl="0" indent="0" algn="r" rtl="0">
              <a:spcBef>
                <a:spcPts val="0"/>
              </a:spcBef>
              <a:spcAft>
                <a:spcPts val="0"/>
              </a:spcAft>
              <a:buNone/>
            </a:pPr>
            <a:r>
              <a:rPr lang="zh-TW" sz="2000" dirty="0">
                <a:latin typeface="Times New Roman"/>
                <a:ea typeface="Times New Roman"/>
                <a:cs typeface="Times New Roman"/>
                <a:sym typeface="Times New Roman"/>
              </a:rPr>
              <a:t>Date: </a:t>
            </a:r>
            <a:r>
              <a:rPr lang="en-US" altLang="zh-TW" sz="2000" dirty="0">
                <a:latin typeface="Times New Roman"/>
                <a:ea typeface="Times New Roman"/>
                <a:cs typeface="Times New Roman"/>
                <a:sym typeface="Times New Roman"/>
              </a:rPr>
              <a:t>June 4</a:t>
            </a:r>
            <a:r>
              <a:rPr lang="zh-TW" sz="2000" dirty="0">
                <a:latin typeface="Times New Roman"/>
                <a:ea typeface="Times New Roman"/>
                <a:cs typeface="Times New Roman"/>
                <a:sym typeface="Times New Roman"/>
              </a:rPr>
              <a:t>, 202</a:t>
            </a:r>
            <a:r>
              <a:rPr lang="en-US" altLang="zh-TW" sz="2000" dirty="0">
                <a:latin typeface="Times New Roman"/>
                <a:ea typeface="Times New Roman"/>
                <a:cs typeface="Times New Roman"/>
                <a:sym typeface="Times New Roman"/>
              </a:rPr>
              <a:t>4</a:t>
            </a:r>
            <a:endParaRPr sz="2000" dirty="0">
              <a:latin typeface="Times New Roman"/>
              <a:ea typeface="Times New Roman"/>
              <a:cs typeface="Times New Roman"/>
              <a:sym typeface="Times New Roman"/>
            </a:endParaRPr>
          </a:p>
        </p:txBody>
      </p:sp>
    </p:spTree>
    <p:extLst>
      <p:ext uri="{BB962C8B-B14F-4D97-AF65-F5344CB8AC3E}">
        <p14:creationId xmlns:p14="http://schemas.microsoft.com/office/powerpoint/2010/main" val="364917584"/>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1">
            <a:extLst>
              <a:ext uri="{FF2B5EF4-FFF2-40B4-BE49-F238E27FC236}">
                <a16:creationId xmlns:a16="http://schemas.microsoft.com/office/drawing/2014/main" id="{F1DA6C9D-47B3-4859-86BB-23AC7F205200}"/>
              </a:ext>
            </a:extLst>
          </p:cNvPr>
          <p:cNvSpPr>
            <a:spLocks noGrp="1"/>
          </p:cNvSpPr>
          <p:nvPr>
            <p:ph type="title"/>
          </p:nvPr>
        </p:nvSpPr>
        <p:spPr>
          <a:xfrm>
            <a:off x="838200" y="365125"/>
            <a:ext cx="10515600" cy="1325563"/>
          </a:xfrm>
        </p:spPr>
        <p:txBody>
          <a:bodyPr/>
          <a:lstStyle/>
          <a:p>
            <a:pPr algn="ctr"/>
            <a:r>
              <a:rPr lang="en-US" altLang="zh-TW" b="1" dirty="0">
                <a:latin typeface="Times New Roman" panose="02020603050405020304" pitchFamily="18" charset="0"/>
                <a:cs typeface="Times New Roman" panose="02020603050405020304" pitchFamily="18" charset="0"/>
              </a:rPr>
              <a:t>Abstract(1/2)</a:t>
            </a:r>
            <a:endParaRPr lang="zh-TW" altLang="en-US" b="1" dirty="0">
              <a:latin typeface="Times New Roman" panose="02020603050405020304" pitchFamily="18" charset="0"/>
              <a:cs typeface="Times New Roman" panose="02020603050405020304" pitchFamily="18" charset="0"/>
            </a:endParaRPr>
          </a:p>
        </p:txBody>
      </p:sp>
      <p:sp>
        <p:nvSpPr>
          <p:cNvPr id="5" name="內容版面配置區 2">
            <a:extLst>
              <a:ext uri="{FF2B5EF4-FFF2-40B4-BE49-F238E27FC236}">
                <a16:creationId xmlns:a16="http://schemas.microsoft.com/office/drawing/2014/main" id="{1929CBE0-F345-4810-B322-95D978A6AA0F}"/>
              </a:ext>
            </a:extLst>
          </p:cNvPr>
          <p:cNvSpPr>
            <a:spLocks noGrp="1"/>
          </p:cNvSpPr>
          <p:nvPr>
            <p:ph idx="1"/>
          </p:nvPr>
        </p:nvSpPr>
        <p:spPr>
          <a:xfrm>
            <a:off x="838200" y="1690688"/>
            <a:ext cx="10515600" cy="4351338"/>
          </a:xfrm>
        </p:spPr>
        <p:txBody>
          <a:bodyPr>
            <a:noAutofit/>
          </a:bodyPr>
          <a:lstStyle/>
          <a:p>
            <a:pPr marL="0" indent="0" algn="just">
              <a:buNone/>
            </a:pPr>
            <a:r>
              <a:rPr lang="en-US" altLang="zh-TW" sz="3200" dirty="0">
                <a:latin typeface="Times New Roman" panose="02020603050405020304" pitchFamily="18" charset="0"/>
                <a:cs typeface="Times New Roman" panose="02020603050405020304" pitchFamily="18" charset="0"/>
              </a:rPr>
              <a:t>This paper proposes an algorithm for optimization inspired by the imperialistic competition. Like other evolutionary ones, the proposed algorithm starts with an initial population. Population individuals called country are in two types: colonies and imperialists that all together form some empires. </a:t>
            </a:r>
          </a:p>
        </p:txBody>
      </p:sp>
    </p:spTree>
    <p:extLst>
      <p:ext uri="{BB962C8B-B14F-4D97-AF65-F5344CB8AC3E}">
        <p14:creationId xmlns:p14="http://schemas.microsoft.com/office/powerpoint/2010/main" val="3577167288"/>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內容版面配置區 2">
            <a:extLst>
              <a:ext uri="{FF2B5EF4-FFF2-40B4-BE49-F238E27FC236}">
                <a16:creationId xmlns:a16="http://schemas.microsoft.com/office/drawing/2014/main" id="{1929CBE0-F345-4810-B322-95D978A6AA0F}"/>
              </a:ext>
            </a:extLst>
          </p:cNvPr>
          <p:cNvSpPr>
            <a:spLocks noGrp="1"/>
          </p:cNvSpPr>
          <p:nvPr>
            <p:ph idx="1"/>
          </p:nvPr>
        </p:nvSpPr>
        <p:spPr>
          <a:xfrm>
            <a:off x="838200" y="1690688"/>
            <a:ext cx="10515600" cy="4877166"/>
          </a:xfrm>
        </p:spPr>
        <p:txBody>
          <a:bodyPr>
            <a:noAutofit/>
          </a:bodyPr>
          <a:lstStyle/>
          <a:p>
            <a:pPr marL="0" indent="0" algn="just">
              <a:buNone/>
            </a:pPr>
            <a:r>
              <a:rPr lang="en-US" altLang="zh-TW" sz="3200" dirty="0">
                <a:latin typeface="Times New Roman" panose="02020603050405020304" pitchFamily="18" charset="0"/>
                <a:cs typeface="Times New Roman" panose="02020603050405020304" pitchFamily="18" charset="0"/>
              </a:rPr>
              <a:t>Imperialistic competition among these empires forms the basis of the proposed evolutionary algorithm. During this competition, weak empires collapse and powerful ones take possession of their colonies. Imperialistic competition hopefully converges to a state in which there exist only one empire and its colonies are in the same position and have the same cost as the imperialist. Applying the proposed algorithm to some of benchmark cost functions, shows its ability in dealing with different types of optimization problems.</a:t>
            </a:r>
          </a:p>
        </p:txBody>
      </p:sp>
      <p:sp>
        <p:nvSpPr>
          <p:cNvPr id="5" name="標題 1">
            <a:extLst>
              <a:ext uri="{FF2B5EF4-FFF2-40B4-BE49-F238E27FC236}">
                <a16:creationId xmlns:a16="http://schemas.microsoft.com/office/drawing/2014/main" id="{F1DA6C9D-47B3-4859-86BB-23AC7F205200}"/>
              </a:ext>
            </a:extLst>
          </p:cNvPr>
          <p:cNvSpPr>
            <a:spLocks noGrp="1"/>
          </p:cNvSpPr>
          <p:nvPr>
            <p:ph type="title"/>
          </p:nvPr>
        </p:nvSpPr>
        <p:spPr>
          <a:xfrm>
            <a:off x="838200" y="365125"/>
            <a:ext cx="10515600" cy="1325563"/>
          </a:xfrm>
        </p:spPr>
        <p:txBody>
          <a:bodyPr/>
          <a:lstStyle/>
          <a:p>
            <a:pPr algn="ctr"/>
            <a:r>
              <a:rPr lang="en-US" altLang="zh-TW" b="1" dirty="0">
                <a:latin typeface="Times New Roman" panose="02020603050405020304" pitchFamily="18" charset="0"/>
                <a:cs typeface="Times New Roman" panose="02020603050405020304" pitchFamily="18" charset="0"/>
              </a:rPr>
              <a:t>Abstract(2/2)</a:t>
            </a:r>
            <a:endParaRPr lang="zh-TW" altLang="en-US"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06110121"/>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1">
            <a:extLst>
              <a:ext uri="{FF2B5EF4-FFF2-40B4-BE49-F238E27FC236}">
                <a16:creationId xmlns:a16="http://schemas.microsoft.com/office/drawing/2014/main" id="{F1DA6C9D-47B3-4859-86BB-23AC7F205200}"/>
              </a:ext>
            </a:extLst>
          </p:cNvPr>
          <p:cNvSpPr>
            <a:spLocks noGrp="1"/>
          </p:cNvSpPr>
          <p:nvPr>
            <p:ph type="title"/>
          </p:nvPr>
        </p:nvSpPr>
        <p:spPr>
          <a:xfrm>
            <a:off x="308810" y="172620"/>
            <a:ext cx="11241505" cy="1325563"/>
          </a:xfrm>
        </p:spPr>
        <p:txBody>
          <a:bodyPr/>
          <a:lstStyle/>
          <a:p>
            <a:r>
              <a:rPr lang="en-US" altLang="zh-TW" b="1" dirty="0">
                <a:latin typeface="Times New Roman" panose="02020603050405020304" pitchFamily="18" charset="0"/>
                <a:cs typeface="Times New Roman" panose="02020603050405020304" pitchFamily="18" charset="0"/>
              </a:rPr>
              <a:t>Method (1/7)</a:t>
            </a:r>
            <a:endParaRPr lang="zh-TW" altLang="en-US" b="1" dirty="0">
              <a:latin typeface="Times New Roman" panose="02020603050405020304" pitchFamily="18" charset="0"/>
              <a:cs typeface="Times New Roman" panose="02020603050405020304" pitchFamily="18" charset="0"/>
            </a:endParaRPr>
          </a:p>
        </p:txBody>
      </p:sp>
      <p:sp>
        <p:nvSpPr>
          <p:cNvPr id="4" name="內容版面配置區 3"/>
          <p:cNvSpPr>
            <a:spLocks noGrp="1"/>
          </p:cNvSpPr>
          <p:nvPr>
            <p:ph idx="1"/>
          </p:nvPr>
        </p:nvSpPr>
        <p:spPr>
          <a:xfrm>
            <a:off x="671762" y="2708351"/>
            <a:ext cx="10515600" cy="2102268"/>
          </a:xfrm>
        </p:spPr>
        <p:txBody>
          <a:bodyPr/>
          <a:lstStyle/>
          <a:p>
            <a:endParaRPr lang="zh-TW" altLang="en-US" dirty="0"/>
          </a:p>
        </p:txBody>
      </p:sp>
      <p:pic>
        <p:nvPicPr>
          <p:cNvPr id="6" name="圖片 5"/>
          <p:cNvPicPr>
            <a:picLocks noChangeAspect="1"/>
          </p:cNvPicPr>
          <p:nvPr/>
        </p:nvPicPr>
        <p:blipFill rotWithShape="1">
          <a:blip r:embed="rId3"/>
          <a:srcRect r="31182" b="16283"/>
          <a:stretch/>
        </p:blipFill>
        <p:spPr>
          <a:xfrm>
            <a:off x="8553695" y="172620"/>
            <a:ext cx="3468149" cy="2706887"/>
          </a:xfrm>
          <a:prstGeom prst="rect">
            <a:avLst/>
          </a:prstGeom>
        </p:spPr>
      </p:pic>
      <p:cxnSp>
        <p:nvCxnSpPr>
          <p:cNvPr id="9" name="直線接點 8"/>
          <p:cNvCxnSpPr/>
          <p:nvPr/>
        </p:nvCxnSpPr>
        <p:spPr>
          <a:xfrm>
            <a:off x="1240221" y="2238905"/>
            <a:ext cx="92491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pic>
        <p:nvPicPr>
          <p:cNvPr id="2" name="圖片 1"/>
          <p:cNvPicPr>
            <a:picLocks noChangeAspect="1"/>
          </p:cNvPicPr>
          <p:nvPr/>
        </p:nvPicPr>
        <p:blipFill>
          <a:blip r:embed="rId4"/>
          <a:stretch>
            <a:fillRect/>
          </a:stretch>
        </p:blipFill>
        <p:spPr>
          <a:xfrm>
            <a:off x="183604" y="2238905"/>
            <a:ext cx="8858250" cy="3257550"/>
          </a:xfrm>
          <a:prstGeom prst="rect">
            <a:avLst/>
          </a:prstGeom>
        </p:spPr>
      </p:pic>
    </p:spTree>
    <p:extLst>
      <p:ext uri="{BB962C8B-B14F-4D97-AF65-F5344CB8AC3E}">
        <p14:creationId xmlns:p14="http://schemas.microsoft.com/office/powerpoint/2010/main" val="3953706706"/>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1">
            <a:extLst>
              <a:ext uri="{FF2B5EF4-FFF2-40B4-BE49-F238E27FC236}">
                <a16:creationId xmlns:a16="http://schemas.microsoft.com/office/drawing/2014/main" id="{F1DA6C9D-47B3-4859-86BB-23AC7F205200}"/>
              </a:ext>
            </a:extLst>
          </p:cNvPr>
          <p:cNvSpPr>
            <a:spLocks noGrp="1"/>
          </p:cNvSpPr>
          <p:nvPr>
            <p:ph type="title"/>
          </p:nvPr>
        </p:nvSpPr>
        <p:spPr>
          <a:xfrm>
            <a:off x="0" y="0"/>
            <a:ext cx="11241505" cy="783479"/>
          </a:xfrm>
        </p:spPr>
        <p:txBody>
          <a:bodyPr/>
          <a:lstStyle/>
          <a:p>
            <a:r>
              <a:rPr lang="en-US" altLang="zh-TW" b="1" dirty="0">
                <a:latin typeface="Times New Roman" panose="02020603050405020304" pitchFamily="18" charset="0"/>
                <a:cs typeface="Times New Roman" panose="02020603050405020304" pitchFamily="18" charset="0"/>
              </a:rPr>
              <a:t>Method (2/7)</a:t>
            </a:r>
            <a:endParaRPr lang="zh-TW" altLang="en-US" b="1" dirty="0">
              <a:latin typeface="Times New Roman" panose="02020603050405020304" pitchFamily="18" charset="0"/>
              <a:cs typeface="Times New Roman" panose="02020603050405020304" pitchFamily="18" charset="0"/>
            </a:endParaRPr>
          </a:p>
        </p:txBody>
      </p:sp>
      <p:sp>
        <p:nvSpPr>
          <p:cNvPr id="4" name="內容版面配置區 3"/>
          <p:cNvSpPr>
            <a:spLocks noGrp="1"/>
          </p:cNvSpPr>
          <p:nvPr>
            <p:ph idx="1"/>
          </p:nvPr>
        </p:nvSpPr>
        <p:spPr>
          <a:xfrm>
            <a:off x="9945" y="783478"/>
            <a:ext cx="10855036" cy="6194837"/>
          </a:xfrm>
        </p:spPr>
        <p:txBody>
          <a:bodyPr/>
          <a:lstStyle/>
          <a:p>
            <a:pPr marL="514350" indent="-514350">
              <a:buFont typeface="+mj-lt"/>
              <a:buAutoNum type="arabicPeriod"/>
            </a:pPr>
            <a:r>
              <a:rPr lang="en-US" altLang="zh-TW" dirty="0">
                <a:latin typeface="Times New Roman" panose="02020603050405020304" pitchFamily="18" charset="0"/>
                <a:ea typeface="標楷體" panose="03000509000000000000" pitchFamily="65" charset="-120"/>
                <a:cs typeface="Times New Roman" panose="02020603050405020304" pitchFamily="18" charset="0"/>
              </a:rPr>
              <a:t>Generating Initial Empires</a:t>
            </a:r>
          </a:p>
          <a:p>
            <a:pPr marL="457200" lvl="1" indent="0">
              <a:buNone/>
            </a:pPr>
            <a:r>
              <a:rPr lang="zh-TW" altLang="en-US" dirty="0">
                <a:latin typeface="Times New Roman" panose="02020603050405020304" pitchFamily="18" charset="0"/>
                <a:ea typeface="標楷體" panose="03000509000000000000" pitchFamily="65" charset="-120"/>
                <a:cs typeface="Times New Roman" panose="02020603050405020304" pitchFamily="18" charset="0"/>
              </a:rPr>
              <a:t>   </a:t>
            </a:r>
            <a:endParaRPr lang="en-US" altLang="zh-TW" dirty="0">
              <a:latin typeface="Times New Roman" panose="02020603050405020304" pitchFamily="18" charset="0"/>
              <a:ea typeface="標楷體" panose="03000509000000000000" pitchFamily="65" charset="-120"/>
              <a:cs typeface="Times New Roman" panose="02020603050405020304" pitchFamily="18" charset="0"/>
            </a:endParaRPr>
          </a:p>
          <a:p>
            <a:pPr marL="457200" lvl="1" indent="0">
              <a:buNone/>
            </a:pPr>
            <a:endParaRPr lang="en-US" altLang="zh-TW" dirty="0">
              <a:latin typeface="Times New Roman" panose="02020603050405020304" pitchFamily="18" charset="0"/>
              <a:ea typeface="標楷體" panose="03000509000000000000" pitchFamily="65" charset="-120"/>
              <a:cs typeface="Times New Roman" panose="02020603050405020304" pitchFamily="18" charset="0"/>
            </a:endParaRPr>
          </a:p>
          <a:p>
            <a:pPr marL="457200" lvl="1" indent="0">
              <a:buNone/>
            </a:pPr>
            <a:endParaRPr lang="en-US" altLang="zh-TW" dirty="0">
              <a:latin typeface="Times New Roman" panose="02020603050405020304" pitchFamily="18" charset="0"/>
              <a:ea typeface="標楷體" panose="03000509000000000000" pitchFamily="65" charset="-120"/>
              <a:cs typeface="Times New Roman" panose="02020603050405020304" pitchFamily="18" charset="0"/>
            </a:endParaRPr>
          </a:p>
          <a:p>
            <a:pPr marL="457200" lvl="1" indent="0">
              <a:buNone/>
            </a:pPr>
            <a:endParaRPr lang="en-US" altLang="zh-TW" dirty="0">
              <a:latin typeface="Times New Roman" panose="02020603050405020304" pitchFamily="18" charset="0"/>
              <a:ea typeface="標楷體" panose="03000509000000000000" pitchFamily="65" charset="-120"/>
              <a:cs typeface="Times New Roman" panose="02020603050405020304" pitchFamily="18" charset="0"/>
            </a:endParaRPr>
          </a:p>
          <a:p>
            <a:pPr marL="457200" lvl="1" indent="0">
              <a:buNone/>
            </a:pPr>
            <a:r>
              <a:rPr lang="en-US" altLang="zh-TW" dirty="0">
                <a:latin typeface="Times New Roman" panose="02020603050405020304" pitchFamily="18" charset="0"/>
                <a:ea typeface="標楷體" panose="03000509000000000000" pitchFamily="65" charset="-120"/>
                <a:cs typeface="Times New Roman" panose="02020603050405020304" pitchFamily="18" charset="0"/>
              </a:rPr>
              <a:t>			</a:t>
            </a:r>
            <a:r>
              <a:rPr lang="zh-TW" altLang="en-US" dirty="0">
                <a:latin typeface="Times New Roman" panose="02020603050405020304" pitchFamily="18" charset="0"/>
                <a:ea typeface="標楷體" panose="03000509000000000000" pitchFamily="65" charset="-120"/>
                <a:cs typeface="Times New Roman" panose="02020603050405020304" pitchFamily="18" charset="0"/>
              </a:rPr>
              <a:t>  </a:t>
            </a:r>
            <a:r>
              <a:rPr lang="en-US" altLang="zh-TW" dirty="0">
                <a:latin typeface="Times New Roman" panose="02020603050405020304" pitchFamily="18" charset="0"/>
                <a:ea typeface="標楷體" panose="03000509000000000000" pitchFamily="65" charset="-120"/>
                <a:cs typeface="Times New Roman" panose="02020603050405020304" pitchFamily="18" charset="0"/>
              </a:rPr>
              <a:t>// </a:t>
            </a:r>
            <a:r>
              <a:rPr lang="zh-TW" altLang="en-US" dirty="0">
                <a:latin typeface="Times New Roman" panose="02020603050405020304" pitchFamily="18" charset="0"/>
                <a:ea typeface="標楷體" panose="03000509000000000000" pitchFamily="65" charset="-120"/>
                <a:cs typeface="Times New Roman" panose="02020603050405020304" pitchFamily="18" charset="0"/>
              </a:rPr>
              <a:t>殖民地 </a:t>
            </a:r>
            <a:r>
              <a:rPr lang="en-US" altLang="zh-TW" dirty="0">
                <a:latin typeface="Times New Roman" panose="02020603050405020304" pitchFamily="18" charset="0"/>
                <a:ea typeface="標楷體" panose="03000509000000000000" pitchFamily="65" charset="-120"/>
                <a:cs typeface="Times New Roman" panose="02020603050405020304" pitchFamily="18" charset="0"/>
              </a:rPr>
              <a:t>=</a:t>
            </a:r>
            <a:r>
              <a:rPr lang="zh-TW" altLang="en-US" dirty="0">
                <a:latin typeface="Times New Roman" panose="02020603050405020304" pitchFamily="18" charset="0"/>
                <a:ea typeface="標楷體" panose="03000509000000000000" pitchFamily="65" charset="-120"/>
                <a:cs typeface="Times New Roman" panose="02020603050405020304" pitchFamily="18" charset="0"/>
              </a:rPr>
              <a:t> 初始國家數 </a:t>
            </a:r>
            <a:r>
              <a:rPr lang="en-US" altLang="zh-TW" dirty="0">
                <a:latin typeface="Times New Roman" panose="02020603050405020304" pitchFamily="18" charset="0"/>
                <a:ea typeface="標楷體" panose="03000509000000000000" pitchFamily="65" charset="-120"/>
                <a:cs typeface="Times New Roman" panose="02020603050405020304" pitchFamily="18" charset="0"/>
              </a:rPr>
              <a:t>-</a:t>
            </a:r>
            <a:r>
              <a:rPr lang="zh-TW" altLang="en-US" dirty="0">
                <a:latin typeface="Times New Roman" panose="02020603050405020304" pitchFamily="18" charset="0"/>
                <a:ea typeface="標楷體" panose="03000509000000000000" pitchFamily="65" charset="-120"/>
                <a:cs typeface="Times New Roman" panose="02020603050405020304" pitchFamily="18" charset="0"/>
              </a:rPr>
              <a:t> 宗主國數量</a:t>
            </a:r>
            <a:endParaRPr lang="en-US" altLang="zh-TW" dirty="0">
              <a:latin typeface="Times New Roman" panose="02020603050405020304" pitchFamily="18" charset="0"/>
              <a:ea typeface="標楷體" panose="03000509000000000000" pitchFamily="65" charset="-120"/>
              <a:cs typeface="Times New Roman" panose="02020603050405020304" pitchFamily="18" charset="0"/>
            </a:endParaRPr>
          </a:p>
        </p:txBody>
      </p:sp>
      <p:pic>
        <p:nvPicPr>
          <p:cNvPr id="6" name="圖片 5"/>
          <p:cNvPicPr>
            <a:picLocks noChangeAspect="1"/>
          </p:cNvPicPr>
          <p:nvPr/>
        </p:nvPicPr>
        <p:blipFill>
          <a:blip r:embed="rId3"/>
          <a:stretch>
            <a:fillRect/>
          </a:stretch>
        </p:blipFill>
        <p:spPr>
          <a:xfrm>
            <a:off x="6152258" y="3214455"/>
            <a:ext cx="5678905" cy="3643545"/>
          </a:xfrm>
          <a:prstGeom prst="rect">
            <a:avLst/>
          </a:prstGeom>
        </p:spPr>
      </p:pic>
      <p:grpSp>
        <p:nvGrpSpPr>
          <p:cNvPr id="9" name="群組 8"/>
          <p:cNvGrpSpPr/>
          <p:nvPr/>
        </p:nvGrpSpPr>
        <p:grpSpPr>
          <a:xfrm>
            <a:off x="495587" y="1289791"/>
            <a:ext cx="5125165" cy="1222052"/>
            <a:chOff x="1079329" y="3837573"/>
            <a:chExt cx="5125165" cy="1222052"/>
          </a:xfrm>
        </p:grpSpPr>
        <p:pic>
          <p:nvPicPr>
            <p:cNvPr id="7" name="圖片 6"/>
            <p:cNvPicPr>
              <a:picLocks noChangeAspect="1"/>
            </p:cNvPicPr>
            <p:nvPr/>
          </p:nvPicPr>
          <p:blipFill>
            <a:blip r:embed="rId4"/>
            <a:stretch>
              <a:fillRect/>
            </a:stretch>
          </p:blipFill>
          <p:spPr>
            <a:xfrm>
              <a:off x="1079329" y="3837573"/>
              <a:ext cx="3648584" cy="485843"/>
            </a:xfrm>
            <a:prstGeom prst="rect">
              <a:avLst/>
            </a:prstGeom>
          </p:spPr>
        </p:pic>
        <p:pic>
          <p:nvPicPr>
            <p:cNvPr id="8" name="圖片 7"/>
            <p:cNvPicPr>
              <a:picLocks noChangeAspect="1"/>
            </p:cNvPicPr>
            <p:nvPr/>
          </p:nvPicPr>
          <p:blipFill>
            <a:blip r:embed="rId5"/>
            <a:stretch>
              <a:fillRect/>
            </a:stretch>
          </p:blipFill>
          <p:spPr>
            <a:xfrm>
              <a:off x="1079329" y="4592835"/>
              <a:ext cx="5125165" cy="466790"/>
            </a:xfrm>
            <a:prstGeom prst="rect">
              <a:avLst/>
            </a:prstGeom>
          </p:spPr>
        </p:pic>
      </p:grpSp>
      <p:pic>
        <p:nvPicPr>
          <p:cNvPr id="10" name="圖片 9"/>
          <p:cNvPicPr>
            <a:picLocks noChangeAspect="1"/>
          </p:cNvPicPr>
          <p:nvPr/>
        </p:nvPicPr>
        <p:blipFill>
          <a:blip r:embed="rId6"/>
          <a:stretch>
            <a:fillRect/>
          </a:stretch>
        </p:blipFill>
        <p:spPr>
          <a:xfrm>
            <a:off x="495421" y="3463765"/>
            <a:ext cx="2152950" cy="590632"/>
          </a:xfrm>
          <a:prstGeom prst="rect">
            <a:avLst/>
          </a:prstGeom>
        </p:spPr>
      </p:pic>
      <p:pic>
        <p:nvPicPr>
          <p:cNvPr id="11" name="圖片 10"/>
          <p:cNvPicPr>
            <a:picLocks noChangeAspect="1"/>
          </p:cNvPicPr>
          <p:nvPr/>
        </p:nvPicPr>
        <p:blipFill rotWithShape="1">
          <a:blip r:embed="rId7"/>
          <a:srcRect t="30871"/>
          <a:stretch/>
        </p:blipFill>
        <p:spPr>
          <a:xfrm>
            <a:off x="495421" y="4260866"/>
            <a:ext cx="1609950" cy="1297328"/>
          </a:xfrm>
          <a:prstGeom prst="rect">
            <a:avLst/>
          </a:prstGeom>
        </p:spPr>
      </p:pic>
      <p:pic>
        <p:nvPicPr>
          <p:cNvPr id="12" name="圖片 11"/>
          <p:cNvPicPr>
            <a:picLocks noChangeAspect="1"/>
          </p:cNvPicPr>
          <p:nvPr/>
        </p:nvPicPr>
        <p:blipFill>
          <a:blip r:embed="rId8"/>
          <a:stretch>
            <a:fillRect/>
          </a:stretch>
        </p:blipFill>
        <p:spPr>
          <a:xfrm>
            <a:off x="495421" y="5917454"/>
            <a:ext cx="2743583" cy="400106"/>
          </a:xfrm>
          <a:prstGeom prst="rect">
            <a:avLst/>
          </a:prstGeom>
        </p:spPr>
      </p:pic>
      <p:pic>
        <p:nvPicPr>
          <p:cNvPr id="13" name="圖片 12"/>
          <p:cNvPicPr>
            <a:picLocks noChangeAspect="1"/>
          </p:cNvPicPr>
          <p:nvPr/>
        </p:nvPicPr>
        <p:blipFill>
          <a:blip r:embed="rId9"/>
          <a:stretch>
            <a:fillRect/>
          </a:stretch>
        </p:blipFill>
        <p:spPr>
          <a:xfrm>
            <a:off x="495587" y="2781262"/>
            <a:ext cx="2362425" cy="455906"/>
          </a:xfrm>
          <a:prstGeom prst="rect">
            <a:avLst/>
          </a:prstGeom>
        </p:spPr>
      </p:pic>
    </p:spTree>
    <p:extLst>
      <p:ext uri="{BB962C8B-B14F-4D97-AF65-F5344CB8AC3E}">
        <p14:creationId xmlns:p14="http://schemas.microsoft.com/office/powerpoint/2010/main" val="916775387"/>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1">
            <a:extLst>
              <a:ext uri="{FF2B5EF4-FFF2-40B4-BE49-F238E27FC236}">
                <a16:creationId xmlns:a16="http://schemas.microsoft.com/office/drawing/2014/main" id="{F1DA6C9D-47B3-4859-86BB-23AC7F205200}"/>
              </a:ext>
            </a:extLst>
          </p:cNvPr>
          <p:cNvSpPr>
            <a:spLocks noGrp="1"/>
          </p:cNvSpPr>
          <p:nvPr>
            <p:ph type="title"/>
          </p:nvPr>
        </p:nvSpPr>
        <p:spPr>
          <a:xfrm>
            <a:off x="0" y="0"/>
            <a:ext cx="11241505" cy="783479"/>
          </a:xfrm>
        </p:spPr>
        <p:txBody>
          <a:bodyPr/>
          <a:lstStyle/>
          <a:p>
            <a:r>
              <a:rPr lang="en-US" altLang="zh-TW" b="1" dirty="0">
                <a:latin typeface="Times New Roman" panose="02020603050405020304" pitchFamily="18" charset="0"/>
                <a:cs typeface="Times New Roman" panose="02020603050405020304" pitchFamily="18" charset="0"/>
              </a:rPr>
              <a:t>Method (3/7)</a:t>
            </a:r>
            <a:endParaRPr lang="zh-TW" altLang="en-US" b="1" dirty="0">
              <a:latin typeface="Times New Roman" panose="02020603050405020304" pitchFamily="18" charset="0"/>
              <a:cs typeface="Times New Roman" panose="02020603050405020304" pitchFamily="18" charset="0"/>
            </a:endParaRPr>
          </a:p>
        </p:txBody>
      </p:sp>
      <p:sp>
        <p:nvSpPr>
          <p:cNvPr id="4" name="內容版面配置區 3"/>
          <p:cNvSpPr>
            <a:spLocks noGrp="1"/>
          </p:cNvSpPr>
          <p:nvPr>
            <p:ph idx="1"/>
          </p:nvPr>
        </p:nvSpPr>
        <p:spPr>
          <a:xfrm>
            <a:off x="9945" y="783478"/>
            <a:ext cx="10855036" cy="6194837"/>
          </a:xfrm>
        </p:spPr>
        <p:txBody>
          <a:bodyPr/>
          <a:lstStyle/>
          <a:p>
            <a:pPr marL="0" indent="0">
              <a:buNone/>
            </a:pPr>
            <a:r>
              <a:rPr lang="en-US" altLang="zh-TW" dirty="0">
                <a:latin typeface="Times New Roman" panose="02020603050405020304" pitchFamily="18" charset="0"/>
                <a:ea typeface="標楷體" panose="03000509000000000000" pitchFamily="65" charset="-120"/>
                <a:cs typeface="Times New Roman" panose="02020603050405020304" pitchFamily="18" charset="0"/>
              </a:rPr>
              <a:t>2. Moving the Colonies of an Empire toward the</a:t>
            </a:r>
            <a:r>
              <a:rPr lang="zh-TW" altLang="en-US" dirty="0">
                <a:latin typeface="Times New Roman" panose="02020603050405020304" pitchFamily="18" charset="0"/>
                <a:ea typeface="標楷體" panose="03000509000000000000" pitchFamily="65" charset="-120"/>
                <a:cs typeface="Times New Roman" panose="02020603050405020304" pitchFamily="18" charset="0"/>
              </a:rPr>
              <a:t> </a:t>
            </a:r>
            <a:r>
              <a:rPr lang="en-US" altLang="zh-TW" dirty="0">
                <a:latin typeface="Times New Roman" panose="02020603050405020304" pitchFamily="18" charset="0"/>
                <a:ea typeface="標楷體" panose="03000509000000000000" pitchFamily="65" charset="-120"/>
                <a:cs typeface="Times New Roman" panose="02020603050405020304" pitchFamily="18" charset="0"/>
              </a:rPr>
              <a:t>Imperialist</a:t>
            </a:r>
            <a:r>
              <a:rPr lang="zh-TW" altLang="en-US" dirty="0">
                <a:latin typeface="Times New Roman" panose="02020603050405020304" pitchFamily="18" charset="0"/>
                <a:ea typeface="標楷體" panose="03000509000000000000" pitchFamily="65" charset="-120"/>
                <a:cs typeface="Times New Roman" panose="02020603050405020304" pitchFamily="18" charset="0"/>
              </a:rPr>
              <a:t> </a:t>
            </a:r>
            <a:r>
              <a:rPr lang="en-US" altLang="zh-TW" dirty="0">
                <a:latin typeface="Times New Roman" panose="02020603050405020304" pitchFamily="18" charset="0"/>
                <a:ea typeface="標楷體" panose="03000509000000000000" pitchFamily="65" charset="-120"/>
                <a:cs typeface="Times New Roman" panose="02020603050405020304" pitchFamily="18" charset="0"/>
              </a:rPr>
              <a:t>(assimilation)</a:t>
            </a:r>
            <a:r>
              <a:rPr lang="zh-TW" altLang="en-US" dirty="0">
                <a:latin typeface="Times New Roman" panose="02020603050405020304" pitchFamily="18" charset="0"/>
                <a:ea typeface="標楷體" panose="03000509000000000000" pitchFamily="65" charset="-120"/>
                <a:cs typeface="Times New Roman" panose="02020603050405020304" pitchFamily="18" charset="0"/>
              </a:rPr>
              <a:t> </a:t>
            </a:r>
            <a:endParaRPr lang="en-US" altLang="zh-TW" dirty="0">
              <a:latin typeface="Times New Roman" panose="02020603050405020304" pitchFamily="18" charset="0"/>
              <a:ea typeface="標楷體" panose="03000509000000000000" pitchFamily="65" charset="-120"/>
              <a:cs typeface="Times New Roman" panose="02020603050405020304" pitchFamily="18" charset="0"/>
            </a:endParaRPr>
          </a:p>
          <a:p>
            <a:pPr marL="457200" lvl="1" indent="0">
              <a:buNone/>
            </a:pPr>
            <a:endParaRPr lang="en-US" altLang="zh-TW" dirty="0">
              <a:latin typeface="Times New Roman" panose="02020603050405020304" pitchFamily="18" charset="0"/>
              <a:ea typeface="標楷體" panose="03000509000000000000" pitchFamily="65" charset="-120"/>
              <a:cs typeface="Times New Roman" panose="02020603050405020304" pitchFamily="18" charset="0"/>
            </a:endParaRPr>
          </a:p>
          <a:p>
            <a:pPr marL="457200" lvl="1" indent="0">
              <a:buNone/>
            </a:pPr>
            <a:endParaRPr lang="en-US" altLang="zh-TW" dirty="0">
              <a:latin typeface="Times New Roman" panose="02020603050405020304" pitchFamily="18" charset="0"/>
              <a:ea typeface="標楷體" panose="03000509000000000000" pitchFamily="65" charset="-120"/>
              <a:cs typeface="Times New Roman" panose="02020603050405020304" pitchFamily="18" charset="0"/>
            </a:endParaRPr>
          </a:p>
          <a:p>
            <a:pPr marL="457200" lvl="1" indent="0">
              <a:buNone/>
            </a:pPr>
            <a:endParaRPr lang="en-US" altLang="zh-TW" dirty="0">
              <a:latin typeface="Times New Roman" panose="02020603050405020304" pitchFamily="18" charset="0"/>
              <a:ea typeface="標楷體" panose="03000509000000000000" pitchFamily="65" charset="-120"/>
              <a:cs typeface="Times New Roman" panose="02020603050405020304" pitchFamily="18" charset="0"/>
            </a:endParaRPr>
          </a:p>
          <a:p>
            <a:pPr marL="457200" lvl="1" indent="0">
              <a:buNone/>
            </a:pPr>
            <a:r>
              <a:rPr lang="en-US" altLang="zh-TW" dirty="0">
                <a:latin typeface="Times New Roman" panose="02020603050405020304" pitchFamily="18" charset="0"/>
                <a:ea typeface="標楷體" panose="03000509000000000000" pitchFamily="65" charset="-120"/>
                <a:cs typeface="Times New Roman" panose="02020603050405020304" pitchFamily="18" charset="0"/>
              </a:rPr>
              <a:t>			</a:t>
            </a:r>
          </a:p>
        </p:txBody>
      </p:sp>
      <p:pic>
        <p:nvPicPr>
          <p:cNvPr id="3" name="圖片 2"/>
          <p:cNvPicPr>
            <a:picLocks noChangeAspect="1"/>
          </p:cNvPicPr>
          <p:nvPr/>
        </p:nvPicPr>
        <p:blipFill rotWithShape="1">
          <a:blip r:embed="rId3"/>
          <a:srcRect t="1894" b="1"/>
          <a:stretch/>
        </p:blipFill>
        <p:spPr>
          <a:xfrm>
            <a:off x="345197" y="2669181"/>
            <a:ext cx="4946199" cy="2705019"/>
          </a:xfrm>
          <a:prstGeom prst="rect">
            <a:avLst/>
          </a:prstGeom>
        </p:spPr>
      </p:pic>
      <p:pic>
        <p:nvPicPr>
          <p:cNvPr id="15" name="圖片 14"/>
          <p:cNvPicPr>
            <a:picLocks noChangeAspect="1"/>
          </p:cNvPicPr>
          <p:nvPr/>
        </p:nvPicPr>
        <p:blipFill>
          <a:blip r:embed="rId4"/>
          <a:stretch>
            <a:fillRect/>
          </a:stretch>
        </p:blipFill>
        <p:spPr>
          <a:xfrm>
            <a:off x="6334810" y="2669181"/>
            <a:ext cx="5328740" cy="2705019"/>
          </a:xfrm>
          <a:prstGeom prst="rect">
            <a:avLst/>
          </a:prstGeom>
        </p:spPr>
      </p:pic>
      <p:pic>
        <p:nvPicPr>
          <p:cNvPr id="2" name="圖片 1"/>
          <p:cNvPicPr>
            <a:picLocks noChangeAspect="1"/>
          </p:cNvPicPr>
          <p:nvPr/>
        </p:nvPicPr>
        <p:blipFill>
          <a:blip r:embed="rId5"/>
          <a:stretch>
            <a:fillRect/>
          </a:stretch>
        </p:blipFill>
        <p:spPr>
          <a:xfrm>
            <a:off x="345197" y="1924115"/>
            <a:ext cx="1924319" cy="362001"/>
          </a:xfrm>
          <a:prstGeom prst="rect">
            <a:avLst/>
          </a:prstGeom>
        </p:spPr>
      </p:pic>
      <p:pic>
        <p:nvPicPr>
          <p:cNvPr id="14" name="圖片 13"/>
          <p:cNvPicPr>
            <a:picLocks noChangeAspect="1"/>
          </p:cNvPicPr>
          <p:nvPr/>
        </p:nvPicPr>
        <p:blipFill>
          <a:blip r:embed="rId6"/>
          <a:stretch>
            <a:fillRect/>
          </a:stretch>
        </p:blipFill>
        <p:spPr>
          <a:xfrm>
            <a:off x="6334810" y="1866958"/>
            <a:ext cx="1695687" cy="419158"/>
          </a:xfrm>
          <a:prstGeom prst="rect">
            <a:avLst/>
          </a:prstGeom>
        </p:spPr>
      </p:pic>
    </p:spTree>
    <p:extLst>
      <p:ext uri="{BB962C8B-B14F-4D97-AF65-F5344CB8AC3E}">
        <p14:creationId xmlns:p14="http://schemas.microsoft.com/office/powerpoint/2010/main" val="3062205827"/>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1">
            <a:extLst>
              <a:ext uri="{FF2B5EF4-FFF2-40B4-BE49-F238E27FC236}">
                <a16:creationId xmlns:a16="http://schemas.microsoft.com/office/drawing/2014/main" id="{F1DA6C9D-47B3-4859-86BB-23AC7F205200}"/>
              </a:ext>
            </a:extLst>
          </p:cNvPr>
          <p:cNvSpPr>
            <a:spLocks noGrp="1"/>
          </p:cNvSpPr>
          <p:nvPr>
            <p:ph type="title"/>
          </p:nvPr>
        </p:nvSpPr>
        <p:spPr>
          <a:xfrm>
            <a:off x="0" y="0"/>
            <a:ext cx="11241505" cy="783479"/>
          </a:xfrm>
        </p:spPr>
        <p:txBody>
          <a:bodyPr/>
          <a:lstStyle/>
          <a:p>
            <a:r>
              <a:rPr lang="en-US" altLang="zh-TW" b="1" dirty="0">
                <a:latin typeface="Times New Roman" panose="02020603050405020304" pitchFamily="18" charset="0"/>
                <a:cs typeface="Times New Roman" panose="02020603050405020304" pitchFamily="18" charset="0"/>
              </a:rPr>
              <a:t>Method (4/7)</a:t>
            </a:r>
            <a:endParaRPr lang="zh-TW" altLang="en-US" b="1" dirty="0">
              <a:latin typeface="Times New Roman" panose="02020603050405020304" pitchFamily="18" charset="0"/>
              <a:cs typeface="Times New Roman" panose="02020603050405020304" pitchFamily="18" charset="0"/>
            </a:endParaRPr>
          </a:p>
        </p:txBody>
      </p:sp>
      <p:sp>
        <p:nvSpPr>
          <p:cNvPr id="4" name="內容版面配置區 3"/>
          <p:cNvSpPr>
            <a:spLocks noGrp="1"/>
          </p:cNvSpPr>
          <p:nvPr>
            <p:ph idx="1"/>
          </p:nvPr>
        </p:nvSpPr>
        <p:spPr>
          <a:xfrm>
            <a:off x="193233" y="1104320"/>
            <a:ext cx="10855036" cy="6194837"/>
          </a:xfrm>
        </p:spPr>
        <p:txBody>
          <a:bodyPr/>
          <a:lstStyle/>
          <a:p>
            <a:pPr marL="0" indent="0">
              <a:buNone/>
            </a:pPr>
            <a:r>
              <a:rPr lang="en-US" altLang="zh-TW" dirty="0">
                <a:latin typeface="Times New Roman" panose="02020603050405020304" pitchFamily="18" charset="0"/>
                <a:ea typeface="標楷體" panose="03000509000000000000" pitchFamily="65" charset="-120"/>
                <a:cs typeface="Times New Roman" panose="02020603050405020304" pitchFamily="18" charset="0"/>
              </a:rPr>
              <a:t>3. Exchange</a:t>
            </a:r>
          </a:p>
          <a:p>
            <a:pPr marL="0" indent="0">
              <a:buNone/>
            </a:pPr>
            <a:endParaRPr lang="en-US" altLang="zh-TW" dirty="0">
              <a:latin typeface="Times New Roman" panose="02020603050405020304" pitchFamily="18" charset="0"/>
              <a:ea typeface="標楷體" panose="03000509000000000000" pitchFamily="65" charset="-120"/>
              <a:cs typeface="Times New Roman" panose="02020603050405020304" pitchFamily="18" charset="0"/>
            </a:endParaRPr>
          </a:p>
        </p:txBody>
      </p:sp>
      <p:pic>
        <p:nvPicPr>
          <p:cNvPr id="6" name="圖片 5"/>
          <p:cNvPicPr>
            <a:picLocks noChangeAspect="1"/>
          </p:cNvPicPr>
          <p:nvPr/>
        </p:nvPicPr>
        <p:blipFill>
          <a:blip r:embed="rId3"/>
          <a:stretch>
            <a:fillRect/>
          </a:stretch>
        </p:blipFill>
        <p:spPr>
          <a:xfrm>
            <a:off x="1705430" y="1772677"/>
            <a:ext cx="7830643" cy="3248478"/>
          </a:xfrm>
          <a:prstGeom prst="rect">
            <a:avLst/>
          </a:prstGeom>
        </p:spPr>
      </p:pic>
    </p:spTree>
    <p:extLst>
      <p:ext uri="{BB962C8B-B14F-4D97-AF65-F5344CB8AC3E}">
        <p14:creationId xmlns:p14="http://schemas.microsoft.com/office/powerpoint/2010/main" val="3551078508"/>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1">
            <a:extLst>
              <a:ext uri="{FF2B5EF4-FFF2-40B4-BE49-F238E27FC236}">
                <a16:creationId xmlns:a16="http://schemas.microsoft.com/office/drawing/2014/main" id="{F1DA6C9D-47B3-4859-86BB-23AC7F205200}"/>
              </a:ext>
            </a:extLst>
          </p:cNvPr>
          <p:cNvSpPr>
            <a:spLocks noGrp="1"/>
          </p:cNvSpPr>
          <p:nvPr>
            <p:ph type="title"/>
          </p:nvPr>
        </p:nvSpPr>
        <p:spPr>
          <a:xfrm>
            <a:off x="0" y="0"/>
            <a:ext cx="11241505" cy="783479"/>
          </a:xfrm>
        </p:spPr>
        <p:txBody>
          <a:bodyPr/>
          <a:lstStyle/>
          <a:p>
            <a:r>
              <a:rPr lang="en-US" altLang="zh-TW" b="1" dirty="0">
                <a:latin typeface="Times New Roman" panose="02020603050405020304" pitchFamily="18" charset="0"/>
                <a:cs typeface="Times New Roman" panose="02020603050405020304" pitchFamily="18" charset="0"/>
              </a:rPr>
              <a:t>Method (5/7)</a:t>
            </a:r>
            <a:endParaRPr lang="zh-TW" altLang="en-US" b="1" dirty="0">
              <a:latin typeface="Times New Roman" panose="02020603050405020304" pitchFamily="18" charset="0"/>
              <a:cs typeface="Times New Roman" panose="02020603050405020304" pitchFamily="18" charset="0"/>
            </a:endParaRPr>
          </a:p>
        </p:txBody>
      </p:sp>
      <p:sp>
        <p:nvSpPr>
          <p:cNvPr id="4" name="內容版面配置區 3"/>
          <p:cNvSpPr>
            <a:spLocks noGrp="1"/>
          </p:cNvSpPr>
          <p:nvPr>
            <p:ph idx="1"/>
          </p:nvPr>
        </p:nvSpPr>
        <p:spPr>
          <a:xfrm>
            <a:off x="193233" y="1104320"/>
            <a:ext cx="10855036" cy="6194837"/>
          </a:xfrm>
        </p:spPr>
        <p:txBody>
          <a:bodyPr/>
          <a:lstStyle/>
          <a:p>
            <a:pPr marL="0" indent="0">
              <a:buNone/>
            </a:pPr>
            <a:r>
              <a:rPr lang="en-US" altLang="zh-TW" dirty="0">
                <a:latin typeface="Times New Roman" panose="02020603050405020304" pitchFamily="18" charset="0"/>
                <a:ea typeface="標楷體" panose="03000509000000000000" pitchFamily="65" charset="-120"/>
                <a:cs typeface="Times New Roman" panose="02020603050405020304" pitchFamily="18" charset="0"/>
              </a:rPr>
              <a:t>4. Total Power of an Empire</a:t>
            </a:r>
          </a:p>
          <a:p>
            <a:pPr marL="0" indent="0">
              <a:buNone/>
            </a:pPr>
            <a:endParaRPr lang="en-US" altLang="zh-TW" dirty="0">
              <a:latin typeface="Times New Roman" panose="02020603050405020304" pitchFamily="18" charset="0"/>
              <a:ea typeface="標楷體" panose="03000509000000000000" pitchFamily="65" charset="-120"/>
              <a:cs typeface="Times New Roman" panose="02020603050405020304" pitchFamily="18" charset="0"/>
            </a:endParaRPr>
          </a:p>
        </p:txBody>
      </p:sp>
      <p:pic>
        <p:nvPicPr>
          <p:cNvPr id="2" name="圖片 1"/>
          <p:cNvPicPr>
            <a:picLocks noChangeAspect="1"/>
          </p:cNvPicPr>
          <p:nvPr/>
        </p:nvPicPr>
        <p:blipFill>
          <a:blip r:embed="rId3"/>
          <a:stretch>
            <a:fillRect/>
          </a:stretch>
        </p:blipFill>
        <p:spPr>
          <a:xfrm>
            <a:off x="1418083" y="2278593"/>
            <a:ext cx="9425340" cy="592944"/>
          </a:xfrm>
          <a:prstGeom prst="rect">
            <a:avLst/>
          </a:prstGeom>
        </p:spPr>
      </p:pic>
      <p:sp>
        <p:nvSpPr>
          <p:cNvPr id="3" name="橢圓 2"/>
          <p:cNvSpPr/>
          <p:nvPr/>
        </p:nvSpPr>
        <p:spPr>
          <a:xfrm>
            <a:off x="5361709" y="2201913"/>
            <a:ext cx="706582" cy="765646"/>
          </a:xfrm>
          <a:prstGeom prst="ellipse">
            <a:avLst/>
          </a:prstGeom>
          <a:noFill/>
          <a:ln w="762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108323680"/>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1">
            <a:extLst>
              <a:ext uri="{FF2B5EF4-FFF2-40B4-BE49-F238E27FC236}">
                <a16:creationId xmlns:a16="http://schemas.microsoft.com/office/drawing/2014/main" id="{F1DA6C9D-47B3-4859-86BB-23AC7F205200}"/>
              </a:ext>
            </a:extLst>
          </p:cNvPr>
          <p:cNvSpPr>
            <a:spLocks noGrp="1"/>
          </p:cNvSpPr>
          <p:nvPr>
            <p:ph type="title"/>
          </p:nvPr>
        </p:nvSpPr>
        <p:spPr>
          <a:xfrm>
            <a:off x="0" y="0"/>
            <a:ext cx="11241505" cy="783479"/>
          </a:xfrm>
        </p:spPr>
        <p:txBody>
          <a:bodyPr/>
          <a:lstStyle/>
          <a:p>
            <a:r>
              <a:rPr lang="en-US" altLang="zh-TW" b="1" dirty="0">
                <a:latin typeface="Times New Roman" panose="02020603050405020304" pitchFamily="18" charset="0"/>
                <a:cs typeface="Times New Roman" panose="02020603050405020304" pitchFamily="18" charset="0"/>
              </a:rPr>
              <a:t>Method (6/7)</a:t>
            </a:r>
            <a:endParaRPr lang="zh-TW" altLang="en-US" b="1" dirty="0">
              <a:latin typeface="Times New Roman" panose="02020603050405020304" pitchFamily="18" charset="0"/>
              <a:cs typeface="Times New Roman" panose="02020603050405020304" pitchFamily="18" charset="0"/>
            </a:endParaRPr>
          </a:p>
        </p:txBody>
      </p:sp>
      <p:sp>
        <p:nvSpPr>
          <p:cNvPr id="4" name="內容版面配置區 3"/>
          <p:cNvSpPr>
            <a:spLocks noGrp="1"/>
          </p:cNvSpPr>
          <p:nvPr>
            <p:ph idx="1"/>
          </p:nvPr>
        </p:nvSpPr>
        <p:spPr>
          <a:xfrm>
            <a:off x="73801" y="783479"/>
            <a:ext cx="10775553" cy="5152101"/>
          </a:xfrm>
        </p:spPr>
        <p:txBody>
          <a:bodyPr/>
          <a:lstStyle/>
          <a:p>
            <a:pPr marL="0" indent="0">
              <a:buNone/>
            </a:pPr>
            <a:r>
              <a:rPr lang="en-US" altLang="zh-TW" dirty="0">
                <a:latin typeface="Times New Roman" panose="02020603050405020304" pitchFamily="18" charset="0"/>
                <a:ea typeface="標楷體" panose="03000509000000000000" pitchFamily="65" charset="-120"/>
                <a:cs typeface="Times New Roman" panose="02020603050405020304" pitchFamily="18" charset="0"/>
              </a:rPr>
              <a:t>5. Imperialistic Competition</a:t>
            </a:r>
          </a:p>
        </p:txBody>
      </p:sp>
      <p:pic>
        <p:nvPicPr>
          <p:cNvPr id="6" name="圖片 5"/>
          <p:cNvPicPr>
            <a:picLocks noChangeAspect="1"/>
          </p:cNvPicPr>
          <p:nvPr/>
        </p:nvPicPr>
        <p:blipFill>
          <a:blip r:embed="rId3"/>
          <a:stretch>
            <a:fillRect/>
          </a:stretch>
        </p:blipFill>
        <p:spPr>
          <a:xfrm>
            <a:off x="5461577" y="176464"/>
            <a:ext cx="6239637" cy="4604083"/>
          </a:xfrm>
          <a:prstGeom prst="rect">
            <a:avLst/>
          </a:prstGeom>
        </p:spPr>
      </p:pic>
      <p:pic>
        <p:nvPicPr>
          <p:cNvPr id="7" name="圖片 6"/>
          <p:cNvPicPr>
            <a:picLocks noChangeAspect="1"/>
          </p:cNvPicPr>
          <p:nvPr/>
        </p:nvPicPr>
        <p:blipFill>
          <a:blip r:embed="rId4"/>
          <a:stretch>
            <a:fillRect/>
          </a:stretch>
        </p:blipFill>
        <p:spPr>
          <a:xfrm>
            <a:off x="801354" y="1451617"/>
            <a:ext cx="3562847" cy="495369"/>
          </a:xfrm>
          <a:prstGeom prst="rect">
            <a:avLst/>
          </a:prstGeom>
        </p:spPr>
      </p:pic>
      <p:pic>
        <p:nvPicPr>
          <p:cNvPr id="8" name="圖片 7"/>
          <p:cNvPicPr>
            <a:picLocks noChangeAspect="1"/>
          </p:cNvPicPr>
          <p:nvPr/>
        </p:nvPicPr>
        <p:blipFill>
          <a:blip r:embed="rId5"/>
          <a:stretch>
            <a:fillRect/>
          </a:stretch>
        </p:blipFill>
        <p:spPr>
          <a:xfrm>
            <a:off x="801354" y="2289874"/>
            <a:ext cx="2152950" cy="1562318"/>
          </a:xfrm>
          <a:prstGeom prst="rect">
            <a:avLst/>
          </a:prstGeom>
        </p:spPr>
      </p:pic>
      <p:pic>
        <p:nvPicPr>
          <p:cNvPr id="9" name="圖片 8"/>
          <p:cNvPicPr>
            <a:picLocks noChangeAspect="1"/>
          </p:cNvPicPr>
          <p:nvPr/>
        </p:nvPicPr>
        <p:blipFill>
          <a:blip r:embed="rId6"/>
          <a:stretch>
            <a:fillRect/>
          </a:stretch>
        </p:blipFill>
        <p:spPr>
          <a:xfrm>
            <a:off x="801354" y="4342303"/>
            <a:ext cx="3258005" cy="752580"/>
          </a:xfrm>
          <a:prstGeom prst="rect">
            <a:avLst/>
          </a:prstGeom>
        </p:spPr>
      </p:pic>
      <p:pic>
        <p:nvPicPr>
          <p:cNvPr id="10" name="圖片 9"/>
          <p:cNvPicPr>
            <a:picLocks noChangeAspect="1"/>
          </p:cNvPicPr>
          <p:nvPr/>
        </p:nvPicPr>
        <p:blipFill rotWithShape="1">
          <a:blip r:embed="rId7"/>
          <a:srcRect b="43160"/>
          <a:stretch/>
        </p:blipFill>
        <p:spPr>
          <a:xfrm>
            <a:off x="448428" y="5296237"/>
            <a:ext cx="3124636" cy="671427"/>
          </a:xfrm>
          <a:prstGeom prst="rect">
            <a:avLst/>
          </a:prstGeom>
        </p:spPr>
      </p:pic>
      <p:pic>
        <p:nvPicPr>
          <p:cNvPr id="11" name="圖片 10"/>
          <p:cNvPicPr>
            <a:picLocks noChangeAspect="1"/>
          </p:cNvPicPr>
          <p:nvPr/>
        </p:nvPicPr>
        <p:blipFill rotWithShape="1">
          <a:blip r:embed="rId8"/>
          <a:srcRect l="16265" t="-1502" b="57134"/>
          <a:stretch/>
        </p:blipFill>
        <p:spPr>
          <a:xfrm>
            <a:off x="801354" y="6007776"/>
            <a:ext cx="4905799" cy="595942"/>
          </a:xfrm>
          <a:prstGeom prst="rect">
            <a:avLst/>
          </a:prstGeom>
        </p:spPr>
      </p:pic>
    </p:spTree>
    <p:extLst>
      <p:ext uri="{BB962C8B-B14F-4D97-AF65-F5344CB8AC3E}">
        <p14:creationId xmlns:p14="http://schemas.microsoft.com/office/powerpoint/2010/main" val="3913954286"/>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1">
            <a:extLst>
              <a:ext uri="{FF2B5EF4-FFF2-40B4-BE49-F238E27FC236}">
                <a16:creationId xmlns:a16="http://schemas.microsoft.com/office/drawing/2014/main" id="{F1DA6C9D-47B3-4859-86BB-23AC7F205200}"/>
              </a:ext>
            </a:extLst>
          </p:cNvPr>
          <p:cNvSpPr>
            <a:spLocks noGrp="1"/>
          </p:cNvSpPr>
          <p:nvPr>
            <p:ph type="title"/>
          </p:nvPr>
        </p:nvSpPr>
        <p:spPr>
          <a:xfrm>
            <a:off x="0" y="0"/>
            <a:ext cx="11241505" cy="783479"/>
          </a:xfrm>
        </p:spPr>
        <p:txBody>
          <a:bodyPr/>
          <a:lstStyle/>
          <a:p>
            <a:r>
              <a:rPr lang="en-US" altLang="zh-TW" b="1" dirty="0">
                <a:latin typeface="Times New Roman" panose="02020603050405020304" pitchFamily="18" charset="0"/>
                <a:cs typeface="Times New Roman" panose="02020603050405020304" pitchFamily="18" charset="0"/>
              </a:rPr>
              <a:t>Method (7/7)</a:t>
            </a:r>
            <a:endParaRPr lang="zh-TW" altLang="en-US" b="1" dirty="0">
              <a:latin typeface="Times New Roman" panose="02020603050405020304" pitchFamily="18" charset="0"/>
              <a:cs typeface="Times New Roman" panose="02020603050405020304" pitchFamily="18" charset="0"/>
            </a:endParaRPr>
          </a:p>
        </p:txBody>
      </p:sp>
      <p:sp>
        <p:nvSpPr>
          <p:cNvPr id="4" name="內容版面配置區 3"/>
          <p:cNvSpPr>
            <a:spLocks noGrp="1"/>
          </p:cNvSpPr>
          <p:nvPr>
            <p:ph idx="1"/>
          </p:nvPr>
        </p:nvSpPr>
        <p:spPr>
          <a:xfrm>
            <a:off x="232975" y="1035239"/>
            <a:ext cx="10775553" cy="5152101"/>
          </a:xfrm>
        </p:spPr>
        <p:txBody>
          <a:bodyPr/>
          <a:lstStyle/>
          <a:p>
            <a:pPr marL="0" indent="0">
              <a:buNone/>
            </a:pPr>
            <a:r>
              <a:rPr lang="en-US" altLang="zh-TW" dirty="0">
                <a:latin typeface="Times New Roman" panose="02020603050405020304" pitchFamily="18" charset="0"/>
                <a:ea typeface="標楷體" panose="03000509000000000000" pitchFamily="65" charset="-120"/>
                <a:cs typeface="Times New Roman" panose="02020603050405020304" pitchFamily="18" charset="0"/>
              </a:rPr>
              <a:t>6. Eliminating the Powerless Empires</a:t>
            </a:r>
          </a:p>
          <a:p>
            <a:pPr lvl="1"/>
            <a:r>
              <a:rPr lang="en-US" altLang="zh-TW" dirty="0">
                <a:latin typeface="Times New Roman" panose="02020603050405020304" pitchFamily="18" charset="0"/>
                <a:cs typeface="Times New Roman" panose="02020603050405020304" pitchFamily="18" charset="0"/>
              </a:rPr>
              <a:t>When an empire loses all its colonies, it will be eliminated.</a:t>
            </a:r>
            <a:endParaRPr lang="en-US" altLang="zh-TW" dirty="0">
              <a:latin typeface="Times New Roman" panose="02020603050405020304" pitchFamily="18" charset="0"/>
              <a:ea typeface="標楷體" panose="03000509000000000000" pitchFamily="65" charset="-120"/>
              <a:cs typeface="Times New Roman" panose="02020603050405020304" pitchFamily="18" charset="0"/>
            </a:endParaRPr>
          </a:p>
          <a:p>
            <a:pPr lvl="1"/>
            <a:endParaRPr lang="en-US" altLang="zh-TW" dirty="0">
              <a:latin typeface="Times New Roman" panose="02020603050405020304" pitchFamily="18" charset="0"/>
              <a:ea typeface="標楷體" panose="03000509000000000000" pitchFamily="65" charset="-120"/>
              <a:cs typeface="Times New Roman" panose="02020603050405020304" pitchFamily="18" charset="0"/>
            </a:endParaRPr>
          </a:p>
          <a:p>
            <a:pPr marL="0" indent="0">
              <a:buNone/>
            </a:pPr>
            <a:r>
              <a:rPr lang="en-US" altLang="zh-TW" dirty="0">
                <a:latin typeface="Times New Roman" panose="02020603050405020304" pitchFamily="18" charset="0"/>
                <a:ea typeface="標楷體" panose="03000509000000000000" pitchFamily="65" charset="-120"/>
                <a:cs typeface="Times New Roman" panose="02020603050405020304" pitchFamily="18" charset="0"/>
              </a:rPr>
              <a:t>7. Convergence</a:t>
            </a:r>
          </a:p>
          <a:p>
            <a:pPr lvl="1"/>
            <a:r>
              <a:rPr lang="en-US" altLang="zh-TW" dirty="0">
                <a:latin typeface="Times New Roman" panose="02020603050405020304" pitchFamily="18" charset="0"/>
                <a:cs typeface="Times New Roman" panose="02020603050405020304" pitchFamily="18" charset="0"/>
              </a:rPr>
              <a:t>When only one empire remains, </a:t>
            </a:r>
          </a:p>
          <a:p>
            <a:pPr marL="457200" lvl="1" indent="0">
              <a:buNone/>
            </a:pPr>
            <a:r>
              <a:rPr lang="zh-TW" altLang="en-US"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the algorithm terminates, </a:t>
            </a:r>
          </a:p>
          <a:p>
            <a:pPr marL="457200" lvl="1" indent="0">
              <a:buNone/>
            </a:pPr>
            <a:r>
              <a:rPr lang="zh-TW" altLang="en-US"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and the position of that empire </a:t>
            </a:r>
          </a:p>
          <a:p>
            <a:pPr marL="457200" lvl="1" indent="0">
              <a:buNone/>
            </a:pPr>
            <a:r>
              <a:rPr lang="zh-TW" altLang="en-US"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is the solution.</a:t>
            </a:r>
            <a:endParaRPr lang="en-US" altLang="zh-TW" dirty="0">
              <a:latin typeface="Times New Roman" panose="02020603050405020304" pitchFamily="18" charset="0"/>
              <a:ea typeface="標楷體" panose="03000509000000000000" pitchFamily="65" charset="-120"/>
              <a:cs typeface="Times New Roman" panose="02020603050405020304" pitchFamily="18" charset="0"/>
            </a:endParaRPr>
          </a:p>
          <a:p>
            <a:pPr lvl="1"/>
            <a:endParaRPr lang="en-US" altLang="zh-TW" dirty="0">
              <a:latin typeface="Times New Roman" panose="02020603050405020304" pitchFamily="18" charset="0"/>
              <a:ea typeface="標楷體" panose="03000509000000000000" pitchFamily="65" charset="-120"/>
              <a:cs typeface="Times New Roman" panose="02020603050405020304" pitchFamily="18" charset="0"/>
            </a:endParaRPr>
          </a:p>
          <a:p>
            <a:pPr lvl="1"/>
            <a:endParaRPr lang="en-US" altLang="zh-TW" dirty="0">
              <a:latin typeface="Times New Roman" panose="02020603050405020304" pitchFamily="18" charset="0"/>
              <a:ea typeface="標楷體" panose="03000509000000000000" pitchFamily="65" charset="-120"/>
              <a:cs typeface="Times New Roman" panose="02020603050405020304" pitchFamily="18" charset="0"/>
            </a:endParaRPr>
          </a:p>
          <a:p>
            <a:pPr marL="457200" lvl="1" indent="0">
              <a:buNone/>
            </a:pPr>
            <a:endParaRPr lang="en-US" altLang="zh-TW" dirty="0">
              <a:latin typeface="Times New Roman" panose="02020603050405020304" pitchFamily="18" charset="0"/>
              <a:ea typeface="標楷體" panose="03000509000000000000" pitchFamily="65" charset="-120"/>
              <a:cs typeface="Times New Roman" panose="02020603050405020304" pitchFamily="18" charset="0"/>
            </a:endParaRPr>
          </a:p>
        </p:txBody>
      </p:sp>
      <p:pic>
        <p:nvPicPr>
          <p:cNvPr id="2" name="圖片 1"/>
          <p:cNvPicPr>
            <a:picLocks noChangeAspect="1"/>
          </p:cNvPicPr>
          <p:nvPr/>
        </p:nvPicPr>
        <p:blipFill>
          <a:blip r:embed="rId3"/>
          <a:stretch>
            <a:fillRect/>
          </a:stretch>
        </p:blipFill>
        <p:spPr>
          <a:xfrm>
            <a:off x="5703879" y="1884218"/>
            <a:ext cx="5825034" cy="4791295"/>
          </a:xfrm>
          <a:prstGeom prst="rect">
            <a:avLst/>
          </a:prstGeom>
        </p:spPr>
      </p:pic>
    </p:spTree>
    <p:extLst>
      <p:ext uri="{BB962C8B-B14F-4D97-AF65-F5344CB8AC3E}">
        <p14:creationId xmlns:p14="http://schemas.microsoft.com/office/powerpoint/2010/main" val="1370278598"/>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1">
            <a:extLst>
              <a:ext uri="{FF2B5EF4-FFF2-40B4-BE49-F238E27FC236}">
                <a16:creationId xmlns:a16="http://schemas.microsoft.com/office/drawing/2014/main" id="{F1DA6C9D-47B3-4859-86BB-23AC7F205200}"/>
              </a:ext>
            </a:extLst>
          </p:cNvPr>
          <p:cNvSpPr>
            <a:spLocks noGrp="1"/>
          </p:cNvSpPr>
          <p:nvPr>
            <p:ph type="title"/>
          </p:nvPr>
        </p:nvSpPr>
        <p:spPr>
          <a:xfrm>
            <a:off x="838200" y="365125"/>
            <a:ext cx="10515600" cy="1325563"/>
          </a:xfrm>
        </p:spPr>
        <p:txBody>
          <a:bodyPr/>
          <a:lstStyle/>
          <a:p>
            <a:r>
              <a:rPr lang="en-US" altLang="zh-TW" b="1" dirty="0">
                <a:latin typeface="Times New Roman" panose="02020603050405020304" pitchFamily="18" charset="0"/>
                <a:cs typeface="Times New Roman" panose="02020603050405020304" pitchFamily="18" charset="0"/>
              </a:rPr>
              <a:t>Conclusion</a:t>
            </a:r>
            <a:endParaRPr lang="zh-TW" altLang="en-US" b="1" dirty="0">
              <a:latin typeface="Times New Roman" panose="02020603050405020304" pitchFamily="18" charset="0"/>
              <a:cs typeface="Times New Roman" panose="02020603050405020304" pitchFamily="18" charset="0"/>
            </a:endParaRPr>
          </a:p>
        </p:txBody>
      </p:sp>
      <p:sp>
        <p:nvSpPr>
          <p:cNvPr id="3" name="內容版面配置區 3"/>
          <p:cNvSpPr>
            <a:spLocks noGrp="1"/>
          </p:cNvSpPr>
          <p:nvPr>
            <p:ph idx="1"/>
          </p:nvPr>
        </p:nvSpPr>
        <p:spPr>
          <a:xfrm>
            <a:off x="838200" y="1468376"/>
            <a:ext cx="10775553" cy="5152101"/>
          </a:xfrm>
        </p:spPr>
        <p:txBody>
          <a:bodyPr/>
          <a:lstStyle/>
          <a:p>
            <a:r>
              <a:rPr lang="en-US" altLang="zh-TW" dirty="0">
                <a:latin typeface="Times New Roman" panose="02020603050405020304" pitchFamily="18" charset="0"/>
                <a:ea typeface="標楷體" panose="03000509000000000000" pitchFamily="65" charset="-120"/>
                <a:cs typeface="Times New Roman" panose="02020603050405020304" pitchFamily="18" charset="0"/>
              </a:rPr>
              <a:t>An optimization algorithm based on modeling the imperialistic competition is proposed.</a:t>
            </a:r>
          </a:p>
          <a:p>
            <a:endParaRPr lang="en-US" altLang="zh-TW" dirty="0">
              <a:latin typeface="Times New Roman" panose="02020603050405020304" pitchFamily="18" charset="0"/>
              <a:ea typeface="標楷體" panose="03000509000000000000" pitchFamily="65" charset="-120"/>
              <a:cs typeface="Times New Roman" panose="02020603050405020304" pitchFamily="18" charset="0"/>
            </a:endParaRPr>
          </a:p>
          <a:p>
            <a:r>
              <a:rPr lang="en-US" altLang="zh-TW" dirty="0">
                <a:latin typeface="Times New Roman" panose="02020603050405020304" pitchFamily="18" charset="0"/>
                <a:ea typeface="標楷體" panose="03000509000000000000" pitchFamily="65" charset="-120"/>
                <a:cs typeface="Times New Roman" panose="02020603050405020304" pitchFamily="18" charset="0"/>
              </a:rPr>
              <a:t>The weak empires collapse gradually and finally there is only one imperialist.</a:t>
            </a:r>
          </a:p>
          <a:p>
            <a:endParaRPr lang="en-US" altLang="zh-TW" dirty="0">
              <a:latin typeface="Times New Roman" panose="02020603050405020304" pitchFamily="18" charset="0"/>
              <a:ea typeface="標楷體" panose="03000509000000000000" pitchFamily="65" charset="-120"/>
              <a:cs typeface="Times New Roman" panose="02020603050405020304" pitchFamily="18" charset="0"/>
            </a:endParaRPr>
          </a:p>
          <a:p>
            <a:r>
              <a:rPr lang="en-US" altLang="zh-TW" dirty="0">
                <a:latin typeface="Times New Roman" panose="02020603050405020304" pitchFamily="18" charset="0"/>
                <a:ea typeface="標楷體" panose="03000509000000000000" pitchFamily="65" charset="-120"/>
                <a:cs typeface="Times New Roman" panose="02020603050405020304" pitchFamily="18" charset="0"/>
              </a:rPr>
              <a:t>Future work: </a:t>
            </a:r>
          </a:p>
          <a:p>
            <a:pPr lvl="1"/>
            <a:r>
              <a:rPr lang="en-US" altLang="zh-TW" dirty="0">
                <a:latin typeface="Times New Roman" panose="02020603050405020304" pitchFamily="18" charset="0"/>
                <a:ea typeface="標楷體" panose="03000509000000000000" pitchFamily="65" charset="-120"/>
                <a:cs typeface="Times New Roman" panose="02020603050405020304" pitchFamily="18" charset="0"/>
              </a:rPr>
              <a:t>Using the proposed algorithm to solve more practical optimization problems.</a:t>
            </a:r>
          </a:p>
          <a:p>
            <a:pPr lvl="1"/>
            <a:r>
              <a:rPr lang="en-US" altLang="zh-TW" dirty="0">
                <a:latin typeface="Times New Roman" panose="02020603050405020304" pitchFamily="18" charset="0"/>
                <a:cs typeface="Times New Roman" panose="02020603050405020304" pitchFamily="18" charset="0"/>
              </a:rPr>
              <a:t>Some parts of the algorithm can be modified in order to improve the </a:t>
            </a:r>
            <a:r>
              <a:rPr lang="en-US" altLang="zh-TW" dirty="0"/>
              <a:t>execution speed.</a:t>
            </a:r>
            <a:endParaRPr lang="en-US" altLang="zh-TW" dirty="0">
              <a:latin typeface="Times New Roman" panose="02020603050405020304" pitchFamily="18" charset="0"/>
              <a:ea typeface="標楷體" panose="03000509000000000000" pitchFamily="65" charset="-120"/>
              <a:cs typeface="Times New Roman" panose="02020603050405020304" pitchFamily="18" charset="0"/>
            </a:endParaRPr>
          </a:p>
        </p:txBody>
      </p:sp>
    </p:spTree>
    <p:extLst>
      <p:ext uri="{BB962C8B-B14F-4D97-AF65-F5344CB8AC3E}">
        <p14:creationId xmlns:p14="http://schemas.microsoft.com/office/powerpoint/2010/main" val="3428220476"/>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內容版面配置區 2">
            <a:extLst>
              <a:ext uri="{FF2B5EF4-FFF2-40B4-BE49-F238E27FC236}">
                <a16:creationId xmlns:a16="http://schemas.microsoft.com/office/drawing/2014/main" id="{1929CBE0-F345-4810-B322-95D978A6AA0F}"/>
              </a:ext>
            </a:extLst>
          </p:cNvPr>
          <p:cNvSpPr>
            <a:spLocks noGrp="1"/>
          </p:cNvSpPr>
          <p:nvPr>
            <p:ph idx="1"/>
          </p:nvPr>
        </p:nvSpPr>
        <p:spPr>
          <a:xfrm>
            <a:off x="294968" y="1690688"/>
            <a:ext cx="11897032" cy="1166812"/>
          </a:xfrm>
        </p:spPr>
        <p:txBody>
          <a:bodyPr>
            <a:noAutofit/>
          </a:bodyPr>
          <a:lstStyle/>
          <a:p>
            <a:endParaRPr lang="en-US" altLang="zh-TW" sz="2400" dirty="0">
              <a:latin typeface="Times New Roman" panose="02020603050405020304" pitchFamily="18" charset="0"/>
              <a:cs typeface="Times New Roman" panose="02020603050405020304" pitchFamily="18" charset="0"/>
            </a:endParaRPr>
          </a:p>
        </p:txBody>
      </p:sp>
      <p:sp>
        <p:nvSpPr>
          <p:cNvPr id="5" name="標題 1">
            <a:extLst>
              <a:ext uri="{FF2B5EF4-FFF2-40B4-BE49-F238E27FC236}">
                <a16:creationId xmlns:a16="http://schemas.microsoft.com/office/drawing/2014/main" id="{F1DA6C9D-47B3-4859-86BB-23AC7F205200}"/>
              </a:ext>
            </a:extLst>
          </p:cNvPr>
          <p:cNvSpPr>
            <a:spLocks noGrp="1"/>
          </p:cNvSpPr>
          <p:nvPr>
            <p:ph type="title"/>
          </p:nvPr>
        </p:nvSpPr>
        <p:spPr>
          <a:xfrm>
            <a:off x="4955318" y="2633763"/>
            <a:ext cx="2576332" cy="1325563"/>
          </a:xfrm>
        </p:spPr>
        <p:txBody>
          <a:bodyPr>
            <a:normAutofit/>
          </a:bodyPr>
          <a:lstStyle/>
          <a:p>
            <a:pPr algn="ctr"/>
            <a:r>
              <a:rPr lang="en-US" altLang="zh-TW" sz="3200" b="1" dirty="0">
                <a:latin typeface="Times New Roman" panose="02020603050405020304" pitchFamily="18" charset="0"/>
                <a:cs typeface="Times New Roman" panose="02020603050405020304" pitchFamily="18" charset="0"/>
              </a:rPr>
              <a:t>Thanks</a:t>
            </a:r>
            <a:endParaRPr lang="zh-TW" altLang="en-US" sz="32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23334056"/>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內容版面配置區 2">
            <a:extLst>
              <a:ext uri="{FF2B5EF4-FFF2-40B4-BE49-F238E27FC236}">
                <a16:creationId xmlns:a16="http://schemas.microsoft.com/office/drawing/2014/main" id="{1929CBE0-F345-4810-B322-95D978A6AA0F}"/>
              </a:ext>
            </a:extLst>
          </p:cNvPr>
          <p:cNvSpPr>
            <a:spLocks noGrp="1"/>
          </p:cNvSpPr>
          <p:nvPr>
            <p:ph idx="1"/>
          </p:nvPr>
        </p:nvSpPr>
        <p:spPr>
          <a:xfrm>
            <a:off x="294968" y="1690688"/>
            <a:ext cx="11897032" cy="1166812"/>
          </a:xfrm>
        </p:spPr>
        <p:txBody>
          <a:bodyPr>
            <a:noAutofit/>
          </a:bodyPr>
          <a:lstStyle/>
          <a:p>
            <a:endParaRPr lang="en-US" altLang="zh-TW" sz="2400" dirty="0">
              <a:latin typeface="Times New Roman" panose="02020603050405020304" pitchFamily="18" charset="0"/>
              <a:cs typeface="Times New Roman" panose="02020603050405020304" pitchFamily="18" charset="0"/>
            </a:endParaRPr>
          </a:p>
        </p:txBody>
      </p:sp>
      <p:sp>
        <p:nvSpPr>
          <p:cNvPr id="2" name="標題 1"/>
          <p:cNvSpPr>
            <a:spLocks noGrp="1"/>
          </p:cNvSpPr>
          <p:nvPr>
            <p:ph type="title"/>
          </p:nvPr>
        </p:nvSpPr>
        <p:spPr/>
        <p:txBody>
          <a:bodyPr/>
          <a:lstStyle/>
          <a:p>
            <a:endParaRPr lang="zh-TW" altLang="en-US"/>
          </a:p>
        </p:txBody>
      </p:sp>
    </p:spTree>
    <p:extLst>
      <p:ext uri="{BB962C8B-B14F-4D97-AF65-F5344CB8AC3E}">
        <p14:creationId xmlns:p14="http://schemas.microsoft.com/office/powerpoint/2010/main" val="3544459444"/>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1">
            <a:extLst>
              <a:ext uri="{FF2B5EF4-FFF2-40B4-BE49-F238E27FC236}">
                <a16:creationId xmlns:a16="http://schemas.microsoft.com/office/drawing/2014/main" id="{F1DA6C9D-47B3-4859-86BB-23AC7F205200}"/>
              </a:ext>
            </a:extLst>
          </p:cNvPr>
          <p:cNvSpPr>
            <a:spLocks noGrp="1"/>
          </p:cNvSpPr>
          <p:nvPr>
            <p:ph type="title"/>
          </p:nvPr>
        </p:nvSpPr>
        <p:spPr>
          <a:xfrm>
            <a:off x="0" y="0"/>
            <a:ext cx="11241505" cy="783479"/>
          </a:xfrm>
        </p:spPr>
        <p:txBody>
          <a:bodyPr/>
          <a:lstStyle/>
          <a:p>
            <a:endParaRPr lang="zh-TW" altLang="en-US" b="1" dirty="0">
              <a:latin typeface="Times New Roman" panose="02020603050405020304" pitchFamily="18" charset="0"/>
              <a:cs typeface="Times New Roman" panose="02020603050405020304" pitchFamily="18" charset="0"/>
            </a:endParaRPr>
          </a:p>
        </p:txBody>
      </p:sp>
      <p:sp>
        <p:nvSpPr>
          <p:cNvPr id="4" name="內容版面配置區 3"/>
          <p:cNvSpPr>
            <a:spLocks noGrp="1"/>
          </p:cNvSpPr>
          <p:nvPr>
            <p:ph idx="1"/>
          </p:nvPr>
        </p:nvSpPr>
        <p:spPr>
          <a:xfrm>
            <a:off x="232975" y="1035239"/>
            <a:ext cx="10775553" cy="5152101"/>
          </a:xfrm>
        </p:spPr>
        <p:txBody>
          <a:bodyPr/>
          <a:lstStyle/>
          <a:p>
            <a:pPr marL="457200" lvl="1" indent="0">
              <a:buNone/>
            </a:pPr>
            <a:endParaRPr lang="en-US" altLang="zh-TW" dirty="0">
              <a:latin typeface="Times New Roman" panose="02020603050405020304" pitchFamily="18" charset="0"/>
              <a:ea typeface="標楷體" panose="03000509000000000000" pitchFamily="65" charset="-120"/>
              <a:cs typeface="Times New Roman" panose="02020603050405020304" pitchFamily="18" charset="0"/>
            </a:endParaRPr>
          </a:p>
        </p:txBody>
      </p:sp>
      <p:pic>
        <p:nvPicPr>
          <p:cNvPr id="2" name="圖片 1"/>
          <p:cNvPicPr>
            <a:picLocks noChangeAspect="1"/>
          </p:cNvPicPr>
          <p:nvPr/>
        </p:nvPicPr>
        <p:blipFill>
          <a:blip r:embed="rId3"/>
          <a:stretch>
            <a:fillRect/>
          </a:stretch>
        </p:blipFill>
        <p:spPr>
          <a:xfrm>
            <a:off x="2685574" y="1480865"/>
            <a:ext cx="6820852" cy="3896269"/>
          </a:xfrm>
          <a:prstGeom prst="rect">
            <a:avLst/>
          </a:prstGeom>
        </p:spPr>
      </p:pic>
      <p:pic>
        <p:nvPicPr>
          <p:cNvPr id="3" name="圖片 2"/>
          <p:cNvPicPr>
            <a:picLocks noChangeAspect="1"/>
          </p:cNvPicPr>
          <p:nvPr/>
        </p:nvPicPr>
        <p:blipFill>
          <a:blip r:embed="rId4"/>
          <a:stretch>
            <a:fillRect/>
          </a:stretch>
        </p:blipFill>
        <p:spPr>
          <a:xfrm>
            <a:off x="2504574" y="1309391"/>
            <a:ext cx="7182852" cy="4239217"/>
          </a:xfrm>
          <a:prstGeom prst="rect">
            <a:avLst/>
          </a:prstGeom>
        </p:spPr>
      </p:pic>
      <p:pic>
        <p:nvPicPr>
          <p:cNvPr id="6" name="圖片 5"/>
          <p:cNvPicPr>
            <a:picLocks noChangeAspect="1"/>
          </p:cNvPicPr>
          <p:nvPr/>
        </p:nvPicPr>
        <p:blipFill>
          <a:blip r:embed="rId5"/>
          <a:stretch>
            <a:fillRect/>
          </a:stretch>
        </p:blipFill>
        <p:spPr>
          <a:xfrm>
            <a:off x="2452179" y="1280812"/>
            <a:ext cx="7287642" cy="4296375"/>
          </a:xfrm>
          <a:prstGeom prst="rect">
            <a:avLst/>
          </a:prstGeom>
        </p:spPr>
      </p:pic>
      <p:pic>
        <p:nvPicPr>
          <p:cNvPr id="7" name="圖片 6"/>
          <p:cNvPicPr>
            <a:picLocks noChangeAspect="1"/>
          </p:cNvPicPr>
          <p:nvPr/>
        </p:nvPicPr>
        <p:blipFill>
          <a:blip r:embed="rId6"/>
          <a:stretch>
            <a:fillRect/>
          </a:stretch>
        </p:blipFill>
        <p:spPr>
          <a:xfrm>
            <a:off x="2609363" y="1328444"/>
            <a:ext cx="6973273" cy="4201111"/>
          </a:xfrm>
          <a:prstGeom prst="rect">
            <a:avLst/>
          </a:prstGeom>
        </p:spPr>
      </p:pic>
    </p:spTree>
    <p:extLst>
      <p:ext uri="{BB962C8B-B14F-4D97-AF65-F5344CB8AC3E}">
        <p14:creationId xmlns:p14="http://schemas.microsoft.com/office/powerpoint/2010/main" val="3350416907"/>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4916</TotalTime>
  <Words>1327</Words>
  <Application>Microsoft Office PowerPoint</Application>
  <PresentationFormat>寬螢幕</PresentationFormat>
  <Paragraphs>133</Paragraphs>
  <Slides>14</Slides>
  <Notes>14</Notes>
  <HiddenSlides>0</HiddenSlides>
  <MMClips>0</MMClips>
  <ScaleCrop>false</ScaleCrop>
  <HeadingPairs>
    <vt:vector size="6" baseType="variant">
      <vt:variant>
        <vt:lpstr>使用字型</vt:lpstr>
      </vt:variant>
      <vt:variant>
        <vt:i4>4</vt:i4>
      </vt:variant>
      <vt:variant>
        <vt:lpstr>佈景主題</vt:lpstr>
      </vt:variant>
      <vt:variant>
        <vt:i4>1</vt:i4>
      </vt:variant>
      <vt:variant>
        <vt:lpstr>投影片標題</vt:lpstr>
      </vt:variant>
      <vt:variant>
        <vt:i4>14</vt:i4>
      </vt:variant>
    </vt:vector>
  </HeadingPairs>
  <TitlesOfParts>
    <vt:vector size="19" baseType="lpstr">
      <vt:lpstr>Arial</vt:lpstr>
      <vt:lpstr>Calibri</vt:lpstr>
      <vt:lpstr>Calibri Light</vt:lpstr>
      <vt:lpstr>Times New Roman</vt:lpstr>
      <vt:lpstr>Office 佈景主題</vt:lpstr>
      <vt:lpstr>Imperialist Competitive Algorithm:  An Algorithm for Optimization Inspired by Imperialistic Competition</vt:lpstr>
      <vt:lpstr>Abstract(1/2)</vt:lpstr>
      <vt:lpstr>Abstract(2/2)</vt:lpstr>
      <vt:lpstr>Method (1/7)</vt:lpstr>
      <vt:lpstr>Method (2/7)</vt:lpstr>
      <vt:lpstr>Method (3/7)</vt:lpstr>
      <vt:lpstr>Method (4/7)</vt:lpstr>
      <vt:lpstr>Method (5/7)</vt:lpstr>
      <vt:lpstr>Method (6/7)</vt:lpstr>
      <vt:lpstr>Method (7/7)</vt:lpstr>
      <vt:lpstr>Conclusion</vt:lpstr>
      <vt:lpstr>Thanks</vt:lpstr>
      <vt:lpstr>PowerPoint 簡報</vt:lpstr>
      <vt:lpstr>PowerPoint 簡報</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user</dc:creator>
  <cp:lastModifiedBy>pplab</cp:lastModifiedBy>
  <cp:revision>835</cp:revision>
  <dcterms:created xsi:type="dcterms:W3CDTF">2024-03-29T12:17:05Z</dcterms:created>
  <dcterms:modified xsi:type="dcterms:W3CDTF">2024-06-04T11:43:54Z</dcterms:modified>
</cp:coreProperties>
</file>