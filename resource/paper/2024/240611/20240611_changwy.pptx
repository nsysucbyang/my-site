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5" r:id="rId3"/>
    <p:sldId id="323" r:id="rId4"/>
    <p:sldId id="334" r:id="rId5"/>
    <p:sldId id="333" r:id="rId6"/>
    <p:sldId id="335" r:id="rId7"/>
    <p:sldId id="338" r:id="rId8"/>
    <p:sldId id="339" r:id="rId9"/>
    <p:sldId id="337" r:id="rId10"/>
    <p:sldId id="336" r:id="rId11"/>
    <p:sldId id="332" r:id="rId1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8F8F"/>
    <a:srgbClr val="79FF8C"/>
    <a:srgbClr val="57FF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95" autoAdjust="0"/>
    <p:restoredTop sz="89286" autoAdjust="0"/>
  </p:normalViewPr>
  <p:slideViewPr>
    <p:cSldViewPr snapToGrid="0" snapToObjects="1">
      <p:cViewPr varScale="1">
        <p:scale>
          <a:sx n="58" d="100"/>
          <a:sy n="58" d="100"/>
        </p:scale>
        <p:origin x="95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C87B1E-D7BB-234A-BB61-4186E7CB5889}" type="datetimeFigureOut">
              <a:rPr kumimoji="1" lang="zh-TW" altLang="en-US" smtClean="0"/>
              <a:t>2024/6/11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A56A01-BB7F-2749-98D2-EC6EAA37179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9445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56A01-BB7F-2749-98D2-EC6EAA37179B}" type="slidenum">
              <a:rPr kumimoji="1" lang="zh-TW" altLang="en-US" smtClean="0"/>
              <a:t>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817184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56A01-BB7F-2749-98D2-EC6EAA37179B}" type="slidenum">
              <a:rPr kumimoji="1" lang="zh-TW" altLang="en-US" smtClean="0"/>
              <a:t>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984710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56A01-BB7F-2749-98D2-EC6EAA37179B}" type="slidenum">
              <a:rPr kumimoji="1" lang="zh-TW" altLang="en-US" smtClean="0"/>
              <a:t>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761368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56A01-BB7F-2749-98D2-EC6EAA37179B}" type="slidenum">
              <a:rPr kumimoji="1" lang="zh-TW" altLang="en-US" smtClean="0"/>
              <a:t>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6231845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56A01-BB7F-2749-98D2-EC6EAA37179B}" type="slidenum">
              <a:rPr kumimoji="1" lang="zh-TW" altLang="en-US" smtClean="0"/>
              <a:t>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2664413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56A01-BB7F-2749-98D2-EC6EAA37179B}" type="slidenum">
              <a:rPr kumimoji="1" lang="zh-TW" altLang="en-US" smtClean="0"/>
              <a:t>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449656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56A01-BB7F-2749-98D2-EC6EAA37179B}" type="slidenum">
              <a:rPr kumimoji="1" lang="zh-TW" altLang="en-US" smtClean="0"/>
              <a:t>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1136193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56A01-BB7F-2749-98D2-EC6EAA37179B}" type="slidenum">
              <a:rPr kumimoji="1" lang="zh-TW" altLang="en-US" smtClean="0"/>
              <a:t>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1486494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56A01-BB7F-2749-98D2-EC6EAA37179B}" type="slidenum">
              <a:rPr kumimoji="1" lang="zh-TW" altLang="en-US" smtClean="0"/>
              <a:t>10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098425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56A01-BB7F-2749-98D2-EC6EAA37179B}" type="slidenum">
              <a:rPr kumimoji="1" lang="zh-TW" altLang="en-US" smtClean="0"/>
              <a:t>11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73464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AD501DD-7617-CF45-952C-148738FE85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349E178-73AA-644C-8223-66BF713642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653253A-849A-4D45-A3E7-4D1991E4C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653D5-883A-5840-B916-BEC4DF4506D5}" type="datetime1">
              <a:rPr kumimoji="1" lang="zh-TW" altLang="en-US" smtClean="0"/>
              <a:t>2024/6/11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6ECDC78-3D4D-404B-AFA4-5B8A4BFDC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B6C002C-0479-C74D-9FB3-84645C0AA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05809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F7A464A-FDF4-3341-B07B-24B820E47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FA333E2-9D9C-8C49-8592-A408903CFA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5D6F474-7FB1-5646-B2F2-525F8D173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429E5-98E1-4140-9D90-8AD9B393DC63}" type="datetime1">
              <a:rPr kumimoji="1" lang="zh-TW" altLang="en-US" smtClean="0"/>
              <a:t>2024/6/11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534CE80-A870-164A-A65F-809FC9C00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5BB9FA6-21BE-FF46-A0DD-80A4E3E45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38567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6485C0-58BA-C248-AFEC-796DBE7A2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0E020E7-FE89-E04B-A373-97BD15E9BA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1132D52-ED19-E540-984A-CB07B5F73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0C34D-36C3-F34E-AF6E-5E7D513EECD1}" type="datetime1">
              <a:rPr kumimoji="1" lang="zh-TW" altLang="en-US" smtClean="0"/>
              <a:t>2024/6/11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A6BDAE5-6429-1646-BE72-C577966D2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1FD161E-0E50-D549-9D79-396E67199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80730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2C827E9-DFE9-224C-9899-DD344BC7F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BF56C89-BB60-5D4A-B951-F0C1C75458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16C126F-4174-1949-9558-B4C272D36F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4765A31-2149-0648-8A59-90D896183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76D90-58FA-0641-BF29-5E2687B5D06E}" type="datetime1">
              <a:rPr kumimoji="1" lang="zh-TW" altLang="en-US" smtClean="0"/>
              <a:t>2024/6/11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EC8BAB3-FB47-3344-B999-5CB7AACA7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3B979C4-5F59-314A-943B-7732149E6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47998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675BCB-A32E-984F-994B-6AD69C183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F3BBA48-11AB-EA42-B26E-97C56E55B8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045D110-23DF-BA43-8D13-0E9505DCCE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0FA7828-C650-A046-B918-8845F0B6A8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D2DE3B6E-6238-D149-9212-48351BD8A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4A5BA387-FB25-3242-BD50-C95AE8C57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3B0E6-B8C8-474E-B122-D8F5DE0AFAD2}" type="datetime1">
              <a:rPr kumimoji="1" lang="zh-TW" altLang="en-US" smtClean="0"/>
              <a:t>2024/6/11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DEDC4116-BEB6-7E4E-A4A7-D2553343B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CD0F097C-57D7-B44E-A73C-8373F218B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7589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8114667-755C-594C-B649-0C584C797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3ABF655D-EEC9-1849-AFE9-30359B4DA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9937B-9027-774A-B9FD-9279ACD255BD}" type="datetime1">
              <a:rPr kumimoji="1" lang="zh-TW" altLang="en-US" smtClean="0"/>
              <a:t>2024/6/11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135848DC-EF7E-5E45-97D5-BB0029161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EF47D0D-FB63-C04A-88AA-4663F56A5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44298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730D0DAB-E3AB-C542-BAF1-FA0813FFF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19104-FA4D-834B-9033-B46E2F34E77F}" type="datetime1">
              <a:rPr kumimoji="1" lang="zh-TW" altLang="en-US" smtClean="0"/>
              <a:t>2024/6/11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44257D8-EC9E-534F-9065-715A4574F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0029C47-757A-114F-A178-225027BD7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86642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96441E4-4620-9244-B66E-26EC9ECBA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6E2631A-AADB-4344-B902-B53FE9F513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D2930E1-81A7-6848-925D-24DF95107A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4A1FEB3-ECC3-AD41-BEA6-44C6F60FF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173C6-1BDC-EF4C-9138-1B867971D82A}" type="datetime1">
              <a:rPr kumimoji="1" lang="zh-TW" altLang="en-US" smtClean="0"/>
              <a:t>2024/6/11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2CC6D6D-32D3-0F46-8645-9348CDCC2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0AFE86A-1C31-4A46-A584-5E4CEF4AE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803353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E1D89C4-8B50-834A-81C5-869F9DC9C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D5534F9E-8511-5F4A-A82F-05692527D3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1" lang="zh-TW" altLang="en-US"/>
              <a:t>按一下圖示以新增圖片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B5567A0-F6B9-9340-A872-76C4D30942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579205F-B98C-E943-92A5-27963140F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8567F-5EDC-4F4F-93AF-7C8D00AA37FD}" type="datetime1">
              <a:rPr kumimoji="1" lang="zh-TW" altLang="en-US" smtClean="0"/>
              <a:t>2024/6/11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0A25F96-ED76-8549-9FD6-2B59D2856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696D537-3F67-CD44-B755-194C465ED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13491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FD6AB28-6653-9C49-A992-A4247978B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6E57488-2CEC-AB48-B522-A9BF17B67E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F9DC675-96A7-5740-944C-CAFED91F8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ABB45-072B-E944-9661-5DAAF6BF234C}" type="datetime1">
              <a:rPr kumimoji="1" lang="zh-TW" altLang="en-US" smtClean="0"/>
              <a:t>2024/6/11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E19B60E-DE36-CE48-92C7-29C904047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A11CB14-7E7D-DA4F-95BF-F4F6A71A7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37844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D3137A97-13EF-684A-A0A9-0B2C4B915B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14D9E75-6CF5-DE45-9FA4-3A5D546C87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9846D7A-FDC0-584E-83DF-7CFDFE86A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D0E93-5293-2E45-810C-52C7374A43E9}" type="datetime1">
              <a:rPr kumimoji="1" lang="zh-TW" altLang="en-US" smtClean="0"/>
              <a:t>2024/6/11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05227D2-8B70-D046-B3FE-419A3723B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C29F65E-93FE-3541-912C-7DF85AF21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53969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5422299C-DADF-924C-A256-3B359ECFB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E7C0D55-55DC-8A4F-8D1C-054CD64B8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4F6F637-18F3-BD4C-908D-9F4BD7CEC2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2D2FFB-DAFA-B349-908F-41F05A7F02F7}" type="datetime1">
              <a:rPr kumimoji="1" lang="zh-TW" altLang="en-US" smtClean="0"/>
              <a:t>2024/6/11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189E3A8-AF3F-CA42-A297-2EE032B20F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D309E7D-F646-F04E-B26F-BEF4E72885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303F21-0339-114F-A835-EDFAC68AEBB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65180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gi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5C7C8A-452E-D943-890A-99D101A855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1686" y="1083583"/>
            <a:ext cx="11488627" cy="2387600"/>
          </a:xfrm>
        </p:spPr>
        <p:txBody>
          <a:bodyPr anchor="ctr">
            <a:normAutofit/>
          </a:bodyPr>
          <a:lstStyle/>
          <a:p>
            <a:r>
              <a:rPr kumimoji="1" lang="en-US" altLang="zh-TW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Maximal common subsequence algorithms</a:t>
            </a:r>
            <a:endParaRPr kumimoji="1" lang="zh-TW" altLang="en-US" sz="4800" dirty="0">
              <a:latin typeface="Times" pitchFamily="2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A9CE59C-0A7C-3340-9871-01BB9F00CC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7675" y="3565526"/>
            <a:ext cx="11296650" cy="165576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sv-SE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Yoshifumi Sakai</a:t>
            </a:r>
          </a:p>
          <a:p>
            <a:pPr>
              <a:lnSpc>
                <a:spcPct val="10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Theoretical Computer Science 793 (2019) 132–139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66ED1160-6DCB-BA45-A8E3-C0A533D93526}"/>
              </a:ext>
            </a:extLst>
          </p:cNvPr>
          <p:cNvSpPr txBox="1"/>
          <p:nvPr/>
        </p:nvSpPr>
        <p:spPr>
          <a:xfrm>
            <a:off x="9461868" y="5993027"/>
            <a:ext cx="25730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>
                <a:latin typeface="Times" pitchFamily="2" charset="0"/>
              </a:rPr>
              <a:t>Presenter: Wen-Yu Chang</a:t>
            </a:r>
          </a:p>
          <a:p>
            <a:r>
              <a:rPr kumimoji="1" lang="en-US" altLang="zh-TW" dirty="0">
                <a:latin typeface="Times" pitchFamily="2" charset="0"/>
              </a:rPr>
              <a:t>Date:</a:t>
            </a:r>
            <a:r>
              <a:rPr kumimoji="1" lang="zh-TW" altLang="en-US" dirty="0">
                <a:latin typeface="Times" pitchFamily="2" charset="0"/>
              </a:rPr>
              <a:t> </a:t>
            </a:r>
            <a:r>
              <a:rPr kumimoji="1" lang="en-US" altLang="zh-TW" dirty="0">
                <a:latin typeface="Times" pitchFamily="2" charset="0"/>
              </a:rPr>
              <a:t>June</a:t>
            </a:r>
            <a:r>
              <a:rPr kumimoji="1" lang="zh-TW" altLang="en-US" dirty="0">
                <a:latin typeface="Times" pitchFamily="2" charset="0"/>
              </a:rPr>
              <a:t> </a:t>
            </a:r>
            <a:r>
              <a:rPr kumimoji="1" lang="en-US" altLang="zh-TW" dirty="0">
                <a:latin typeface="Times" pitchFamily="2" charset="0"/>
              </a:rPr>
              <a:t>11,</a:t>
            </a:r>
            <a:r>
              <a:rPr kumimoji="1" lang="zh-TW" altLang="en-US" dirty="0">
                <a:latin typeface="Times" pitchFamily="2" charset="0"/>
              </a:rPr>
              <a:t> </a:t>
            </a:r>
            <a:r>
              <a:rPr kumimoji="1" lang="en-US" altLang="zh-TW" dirty="0">
                <a:latin typeface="Times" pitchFamily="2" charset="0"/>
              </a:rPr>
              <a:t>2024</a:t>
            </a:r>
            <a:endParaRPr kumimoji="1" lang="zh-TW" altLang="en-US" dirty="0">
              <a:latin typeface="Time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4279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567C017-EEF6-AF41-82FB-650CB4935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" pitchFamily="2" charset="0"/>
              </a:rPr>
              <a:t>Abstract</a:t>
            </a:r>
            <a:endParaRPr kumimoji="1" lang="zh-TW" altLang="en-US" dirty="0">
              <a:latin typeface="Times" pitchFamily="2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D09F5D7-A24C-7540-ADEE-E8D83623F3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7771"/>
            <a:ext cx="10515600" cy="4351338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altLang="zh-TW" sz="2400" dirty="0">
                <a:latin typeface="Times" panose="02020603050405020304" pitchFamily="18" charset="0"/>
                <a:cs typeface="Times" panose="02020603050405020304" pitchFamily="18" charset="0"/>
              </a:rPr>
              <a:t>A common subsequence of two strings is maximal if inserting any character into it no longer yields a common subsequence. The present article proposes a (sub)</a:t>
            </a:r>
            <a:r>
              <a:rPr lang="en-US" altLang="zh-TW" sz="2400" dirty="0" err="1">
                <a:latin typeface="Times" panose="02020603050405020304" pitchFamily="18" charset="0"/>
                <a:cs typeface="Times" panose="02020603050405020304" pitchFamily="18" charset="0"/>
              </a:rPr>
              <a:t>linearithmic</a:t>
            </a:r>
            <a:r>
              <a:rPr lang="en-US" altLang="zh-TW" sz="2400" dirty="0">
                <a:latin typeface="Times" panose="02020603050405020304" pitchFamily="18" charset="0"/>
                <a:cs typeface="Times" panose="02020603050405020304" pitchFamily="18" charset="0"/>
              </a:rPr>
              <a:t>-time, linear-space algorithm for finding a maximal common subsequence of two strings and a linear-time algorithm for determining if a common subsequence of two strings is maximal.</a:t>
            </a:r>
            <a:endParaRPr lang="en" altLang="zh-TW" sz="24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0FFF1FB-1064-484B-B5D3-305DF5596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69224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05438D-F4BF-BC45-90BC-8CDF5398A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Maximal Common 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kumimoji="1"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ubsequence</a:t>
            </a:r>
            <a:endParaRPr kumimoji="1" lang="zh-TW" altLang="en-US" dirty="0">
              <a:latin typeface="Times" pitchFamily="2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299CBE-E30D-E949-B1C5-1571BD06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3</a:t>
            </a:fld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內容版面配置區 2">
                <a:extLst>
                  <a:ext uri="{FF2B5EF4-FFF2-40B4-BE49-F238E27FC236}">
                    <a16:creationId xmlns:a16="http://schemas.microsoft.com/office/drawing/2014/main" id="{9BBC41B2-EF8D-419C-9ECE-4BC71D79C4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47788"/>
                <a:ext cx="10515600" cy="4351338"/>
              </a:xfrm>
            </p:spPr>
            <p:txBody>
              <a:bodyPr>
                <a:no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400" i="1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X</m:t>
                    </m:r>
                    <m:r>
                      <a:rPr lang="en-US" altLang="zh-TW" sz="2400" i="1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TW" sz="2400" b="0" i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abcde</m:t>
                    </m:r>
                  </m:oMath>
                </a14:m>
                <a:endParaRPr lang="en" altLang="zh-TW" sz="240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400" b="0" i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Y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TW" sz="2400" b="0" i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bcade</m:t>
                    </m:r>
                  </m:oMath>
                </a14:m>
                <a:endParaRPr lang="en-US" altLang="zh-TW" sz="2400" b="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en" altLang="zh-TW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LCS</a:t>
                </a:r>
                <a14:m>
                  <m:oMath xmlns:m="http://schemas.openxmlformats.org/officeDocument/2006/math">
                    <m:r>
                      <a:rPr lang="en-US" altLang="zh-TW" sz="2400" b="0" i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 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TW" sz="2400" b="0" i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bcde</m:t>
                    </m:r>
                  </m:oMath>
                </a14:m>
                <a:endParaRPr lang="en-US" altLang="zh-TW" sz="2400" b="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en" altLang="zh-TW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MCS</a:t>
                </a:r>
                <a14:m>
                  <m:oMath xmlns:m="http://schemas.openxmlformats.org/officeDocument/2006/math">
                    <m:r>
                      <a:rPr lang="en-US" altLang="zh-TW" sz="2400" b="0" i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 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TW" sz="2400" b="0" i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ade</m:t>
                    </m:r>
                    <m:r>
                      <a:rPr lang="en-US" altLang="zh-TW" sz="2400" b="0" i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altLang="zh-TW" sz="2400" b="0" i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bcde</m:t>
                    </m:r>
                  </m:oMath>
                </a14:m>
                <a:endParaRPr lang="en" altLang="zh-TW" sz="240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內容版面配置區 2">
                <a:extLst>
                  <a:ext uri="{FF2B5EF4-FFF2-40B4-BE49-F238E27FC236}">
                    <a16:creationId xmlns:a16="http://schemas.microsoft.com/office/drawing/2014/main" id="{9BBC41B2-EF8D-419C-9ECE-4BC71D79C4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47788"/>
                <a:ext cx="10515600" cy="4351338"/>
              </a:xfrm>
              <a:blipFill>
                <a:blip r:embed="rId3"/>
                <a:stretch>
                  <a:fillRect l="-81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6787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05438D-F4BF-BC45-90BC-8CDF5398A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" pitchFamily="2" charset="0"/>
              </a:rPr>
              <a:t>Finding an MCS</a:t>
            </a:r>
            <a:endParaRPr kumimoji="1" lang="zh-TW" altLang="en-US" dirty="0">
              <a:latin typeface="Times" pitchFamily="2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299CBE-E30D-E949-B1C5-1571BD06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4</a:t>
            </a:fld>
            <a:endParaRPr kumimoji="1" lang="zh-TW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A719C42-62F1-47BA-BE04-BDD2E5D6FC1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5125" b="24561"/>
          <a:stretch/>
        </p:blipFill>
        <p:spPr bwMode="auto">
          <a:xfrm>
            <a:off x="1487708" y="1436717"/>
            <a:ext cx="5911524" cy="5173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D6232021-4120-4FDE-9D55-379B88B8790C}"/>
                  </a:ext>
                </a:extLst>
              </p:cNvPr>
              <p:cNvSpPr txBox="1"/>
              <p:nvPr/>
            </p:nvSpPr>
            <p:spPr>
              <a:xfrm>
                <a:off x="8191959" y="1551018"/>
                <a:ext cx="2902027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400" i="1"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W</m:t>
                      </m:r>
                      <m:r>
                        <a:rPr lang="en-US" altLang="zh-TW" sz="2400" i="1" smtClean="0"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TW" sz="24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" panose="02020603050405020304" pitchFamily="18" charset="0"/>
                        </a:rPr>
                        <m:t>ε</m:t>
                      </m:r>
                    </m:oMath>
                  </m:oMathPara>
                </a14:m>
                <a:endParaRPr lang="en" altLang="zh-TW" sz="240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s-ES" altLang="zh-TW" sz="2400" i="0" smtClean="0"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a</m:t>
                      </m:r>
                      <m:r>
                        <a:rPr lang="es-ES" altLang="zh-TW" sz="2400" i="1" smtClean="0"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 = </m:t>
                      </m:r>
                      <m:r>
                        <a:rPr lang="es-ES" altLang="zh-TW" sz="2400" i="1" smtClean="0"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𝑋</m:t>
                      </m:r>
                      <m:r>
                        <a:rPr lang="es-ES" altLang="zh-TW" sz="2400" i="1" smtClean="0"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[4] = </m:t>
                      </m:r>
                      <m:r>
                        <a:rPr lang="es-ES" altLang="zh-TW" sz="2400" i="1" smtClean="0"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𝑌</m:t>
                      </m:r>
                      <m:r>
                        <a:rPr lang="es-ES" altLang="zh-TW" sz="2400" i="1" smtClean="0"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[2]</m:t>
                      </m:r>
                    </m:oMath>
                  </m:oMathPara>
                </a14:m>
                <a:endParaRPr lang="en" altLang="zh-TW" sz="240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D6232021-4120-4FDE-9D55-379B88B879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1959" y="1551018"/>
                <a:ext cx="2902027" cy="120032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12623840-BFB2-4512-A495-0409693EB64B}"/>
                  </a:ext>
                </a:extLst>
              </p:cNvPr>
              <p:cNvSpPr txBox="1"/>
              <p:nvPr/>
            </p:nvSpPr>
            <p:spPr>
              <a:xfrm>
                <a:off x="8191959" y="3353519"/>
                <a:ext cx="2902027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400" i="1" smtClean="0"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W</m:t>
                      </m:r>
                      <m:r>
                        <a:rPr lang="en-US" altLang="zh-TW" sz="2400" i="1" smtClean="0"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TW" sz="2400" b="0" i="0" smtClean="0"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a</m:t>
                      </m:r>
                    </m:oMath>
                  </m:oMathPara>
                </a14:m>
                <a:endParaRPr lang="en" altLang="zh-TW" sz="240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400" b="0" i="0" smtClean="0"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c</m:t>
                      </m:r>
                      <m:r>
                        <a:rPr lang="es-ES" altLang="zh-TW" sz="2400" i="1" smtClean="0"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 = </m:t>
                      </m:r>
                      <m:r>
                        <a:rPr lang="es-ES" altLang="zh-TW" sz="2400" i="1" smtClean="0"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𝑋</m:t>
                      </m:r>
                      <m:r>
                        <a:rPr lang="es-ES" altLang="zh-TW" sz="2400" i="1" smtClean="0"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[7] = </m:t>
                      </m:r>
                      <m:r>
                        <a:rPr lang="es-ES" altLang="zh-TW" sz="2400" i="1" smtClean="0"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𝑌</m:t>
                      </m:r>
                      <m:r>
                        <a:rPr lang="es-ES" altLang="zh-TW" sz="2400" i="1" smtClean="0"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[12]</m:t>
                      </m:r>
                    </m:oMath>
                  </m:oMathPara>
                </a14:m>
                <a:endParaRPr lang="en" altLang="zh-TW" sz="240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12623840-BFB2-4512-A495-0409693EB6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1959" y="3353519"/>
                <a:ext cx="2902027" cy="120032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934F8756-9F89-4808-B266-7D8168DCB0D5}"/>
                  </a:ext>
                </a:extLst>
              </p:cNvPr>
              <p:cNvSpPr txBox="1"/>
              <p:nvPr/>
            </p:nvSpPr>
            <p:spPr>
              <a:xfrm>
                <a:off x="8191958" y="5306982"/>
                <a:ext cx="2902027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400" i="1" smtClean="0"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W</m:t>
                      </m:r>
                      <m:r>
                        <a:rPr lang="en-US" altLang="zh-TW" sz="2400" i="1" smtClean="0"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TW" sz="2400" b="0" i="0" smtClean="0"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ac</m:t>
                      </m:r>
                    </m:oMath>
                  </m:oMathPara>
                </a14:m>
                <a:endParaRPr lang="en" altLang="zh-TW" sz="240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934F8756-9F89-4808-B266-7D8168DCB0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1958" y="5306982"/>
                <a:ext cx="2902027" cy="6463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6168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05438D-F4BF-BC45-90BC-8CDF5398A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" pitchFamily="2" charset="0"/>
              </a:rPr>
              <a:t>Finding an MCS</a:t>
            </a:r>
            <a:endParaRPr kumimoji="1" lang="zh-TW" altLang="en-US" dirty="0">
              <a:latin typeface="Times" pitchFamily="2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299CBE-E30D-E949-B1C5-1571BD06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5</a:t>
            </a:fld>
            <a:endParaRPr kumimoji="1" lang="zh-TW" altLang="en-US" dirty="0"/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AC0E05FF-1190-4FFC-BC08-C4F2C7E5E150}"/>
              </a:ext>
            </a:extLst>
          </p:cNvPr>
          <p:cNvGrpSpPr/>
          <p:nvPr/>
        </p:nvGrpSpPr>
        <p:grpSpPr>
          <a:xfrm>
            <a:off x="1486800" y="1692000"/>
            <a:ext cx="5366018" cy="4142688"/>
            <a:chOff x="1084188" y="1690688"/>
            <a:chExt cx="4666618" cy="3602735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AA719C42-62F1-47BA-BE04-BDD2E5D6FC1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5439" r="56681"/>
            <a:stretch/>
          </p:blipFill>
          <p:spPr bwMode="auto">
            <a:xfrm>
              <a:off x="1084188" y="1690688"/>
              <a:ext cx="4666618" cy="16843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2">
              <a:extLst>
                <a:ext uri="{FF2B5EF4-FFF2-40B4-BE49-F238E27FC236}">
                  <a16:creationId xmlns:a16="http://schemas.microsoft.com/office/drawing/2014/main" id="{9F02A068-9174-40C6-94BC-5A4CB019C51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681" b="75439"/>
            <a:stretch/>
          </p:blipFill>
          <p:spPr bwMode="auto">
            <a:xfrm>
              <a:off x="1084188" y="3609028"/>
              <a:ext cx="4666618" cy="16843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313D6654-BB95-44CC-A132-40F892917A36}"/>
                  </a:ext>
                </a:extLst>
              </p:cNvPr>
              <p:cNvSpPr txBox="1"/>
              <p:nvPr/>
            </p:nvSpPr>
            <p:spPr>
              <a:xfrm>
                <a:off x="8191959" y="2060255"/>
                <a:ext cx="2902027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400" i="1" smtClean="0"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W</m:t>
                      </m:r>
                      <m:r>
                        <a:rPr lang="en-US" altLang="zh-TW" sz="2400" i="1" smtClean="0"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TW" sz="2400" b="0" i="0" smtClean="0"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a</m:t>
                      </m:r>
                    </m:oMath>
                  </m:oMathPara>
                </a14:m>
                <a:endParaRPr lang="en" altLang="zh-TW" sz="240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400" b="0" i="0" smtClean="0"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b</m:t>
                      </m:r>
                      <m:r>
                        <a:rPr lang="es-ES" altLang="zh-TW" sz="2400" i="1" smtClean="0"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 = </m:t>
                      </m:r>
                      <m:r>
                        <a:rPr lang="es-ES" altLang="zh-TW" sz="2400" i="1" smtClean="0"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𝑋</m:t>
                      </m:r>
                      <m:r>
                        <a:rPr lang="es-ES" altLang="zh-TW" sz="2400" i="1" smtClean="0"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[9] = </m:t>
                      </m:r>
                      <m:r>
                        <a:rPr lang="es-ES" altLang="zh-TW" sz="2400" i="1" smtClean="0"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𝑌</m:t>
                      </m:r>
                      <m:r>
                        <a:rPr lang="es-ES" altLang="zh-TW" sz="2400" i="1" smtClean="0"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[9]</m:t>
                      </m:r>
                    </m:oMath>
                  </m:oMathPara>
                </a14:m>
                <a:endParaRPr lang="en" altLang="zh-TW" sz="240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313D6654-BB95-44CC-A132-40F892917A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1959" y="2060255"/>
                <a:ext cx="2902027" cy="120032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723B29E5-D2FF-4F47-844D-6DACC9A122FB}"/>
                  </a:ext>
                </a:extLst>
              </p:cNvPr>
              <p:cNvSpPr txBox="1"/>
              <p:nvPr/>
            </p:nvSpPr>
            <p:spPr>
              <a:xfrm>
                <a:off x="8191958" y="4423914"/>
                <a:ext cx="2195111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400" i="1" smtClean="0"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W</m:t>
                      </m:r>
                      <m:r>
                        <a:rPr lang="en-US" altLang="zh-TW" sz="2400" i="1" smtClean="0"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TW" sz="2400" b="0" i="0" smtClean="0"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ab</m:t>
                      </m:r>
                    </m:oMath>
                  </m:oMathPara>
                </a14:m>
                <a:endParaRPr lang="en" altLang="zh-TW" sz="240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723B29E5-D2FF-4F47-844D-6DACC9A122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1958" y="4423914"/>
                <a:ext cx="2195111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79575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05438D-F4BF-BC45-90BC-8CDF5398A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" pitchFamily="2" charset="0"/>
              </a:rPr>
              <a:t>Finding an MCS</a:t>
            </a:r>
            <a:endParaRPr kumimoji="1" lang="zh-TW" altLang="en-US" dirty="0">
              <a:latin typeface="Times" pitchFamily="2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299CBE-E30D-E949-B1C5-1571BD06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6</a:t>
            </a:fld>
            <a:endParaRPr kumimoji="1" lang="zh-TW" altLang="en-US" dirty="0"/>
          </a:p>
        </p:txBody>
      </p:sp>
      <p:pic>
        <p:nvPicPr>
          <p:cNvPr id="22" name="Picture 2">
            <a:extLst>
              <a:ext uri="{FF2B5EF4-FFF2-40B4-BE49-F238E27FC236}">
                <a16:creationId xmlns:a16="http://schemas.microsoft.com/office/drawing/2014/main" id="{9F02A068-9174-40C6-94BC-5A4CB019C51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681" t="24204" b="27630"/>
          <a:stretch/>
        </p:blipFill>
        <p:spPr bwMode="auto">
          <a:xfrm>
            <a:off x="1486800" y="1690688"/>
            <a:ext cx="5782528" cy="4093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AFB53530-B21D-43F5-B2E8-EC72BE338AE9}"/>
                  </a:ext>
                </a:extLst>
              </p:cNvPr>
              <p:cNvSpPr txBox="1"/>
              <p:nvPr/>
            </p:nvSpPr>
            <p:spPr>
              <a:xfrm>
                <a:off x="8191958" y="2434086"/>
                <a:ext cx="274320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400" i="1" smtClean="0"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W</m:t>
                      </m:r>
                      <m:r>
                        <a:rPr lang="en-US" altLang="zh-TW" sz="2400" i="1" smtClean="0"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TW" sz="2400" b="0" i="0" smtClean="0"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a</m:t>
                      </m:r>
                    </m:oMath>
                  </m:oMathPara>
                </a14:m>
                <a:endParaRPr lang="en-US" altLang="zh-TW" sz="2400" b="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AFB53530-B21D-43F5-B2E8-EC72BE338A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1958" y="2434086"/>
                <a:ext cx="2743200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A77F705D-4233-4A6E-ADFA-AF447A0733DB}"/>
                  </a:ext>
                </a:extLst>
              </p:cNvPr>
              <p:cNvSpPr txBox="1"/>
              <p:nvPr/>
            </p:nvSpPr>
            <p:spPr>
              <a:xfrm>
                <a:off x="8191958" y="4423914"/>
                <a:ext cx="274320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400" i="1" smtClean="0"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W</m:t>
                      </m:r>
                      <m:r>
                        <a:rPr lang="en-US" altLang="zh-TW" sz="2400" i="1" smtClean="0"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TW" sz="24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" panose="02020603050405020304" pitchFamily="18" charset="0"/>
                        </a:rPr>
                        <m:t>ε</m:t>
                      </m:r>
                    </m:oMath>
                  </m:oMathPara>
                </a14:m>
                <a:endParaRPr lang="en" altLang="zh-TW" sz="240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A77F705D-4233-4A6E-ADFA-AF447A0733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1958" y="4423914"/>
                <a:ext cx="2743200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04874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05438D-F4BF-BC45-90BC-8CDF5398A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" pitchFamily="2" charset="0"/>
              </a:rPr>
              <a:t>Finding a constrained MCS</a:t>
            </a:r>
            <a:endParaRPr kumimoji="1" lang="zh-TW" altLang="en-US" dirty="0">
              <a:latin typeface="Times" pitchFamily="2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299CBE-E30D-E949-B1C5-1571BD06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7</a:t>
            </a:fld>
            <a:endParaRPr kumimoji="1" lang="zh-TW" altLang="en-US" dirty="0"/>
          </a:p>
        </p:txBody>
      </p:sp>
      <p:graphicFrame>
        <p:nvGraphicFramePr>
          <p:cNvPr id="3" name="表格 4">
            <a:extLst>
              <a:ext uri="{FF2B5EF4-FFF2-40B4-BE49-F238E27FC236}">
                <a16:creationId xmlns:a16="http://schemas.microsoft.com/office/drawing/2014/main" id="{A9BB29EC-4FD0-4A39-9571-CE1345083B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3080361"/>
              </p:ext>
            </p:extLst>
          </p:nvPr>
        </p:nvGraphicFramePr>
        <p:xfrm>
          <a:off x="1487171" y="2501355"/>
          <a:ext cx="7045896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1992">
                  <a:extLst>
                    <a:ext uri="{9D8B030D-6E8A-4147-A177-3AD203B41FA5}">
                      <a16:colId xmlns:a16="http://schemas.microsoft.com/office/drawing/2014/main" val="3894171006"/>
                    </a:ext>
                  </a:extLst>
                </a:gridCol>
                <a:gridCol w="541992">
                  <a:extLst>
                    <a:ext uri="{9D8B030D-6E8A-4147-A177-3AD203B41FA5}">
                      <a16:colId xmlns:a16="http://schemas.microsoft.com/office/drawing/2014/main" val="1043846451"/>
                    </a:ext>
                  </a:extLst>
                </a:gridCol>
                <a:gridCol w="541992">
                  <a:extLst>
                    <a:ext uri="{9D8B030D-6E8A-4147-A177-3AD203B41FA5}">
                      <a16:colId xmlns:a16="http://schemas.microsoft.com/office/drawing/2014/main" val="1172061497"/>
                    </a:ext>
                  </a:extLst>
                </a:gridCol>
                <a:gridCol w="541992">
                  <a:extLst>
                    <a:ext uri="{9D8B030D-6E8A-4147-A177-3AD203B41FA5}">
                      <a16:colId xmlns:a16="http://schemas.microsoft.com/office/drawing/2014/main" val="1177499145"/>
                    </a:ext>
                  </a:extLst>
                </a:gridCol>
                <a:gridCol w="541992">
                  <a:extLst>
                    <a:ext uri="{9D8B030D-6E8A-4147-A177-3AD203B41FA5}">
                      <a16:colId xmlns:a16="http://schemas.microsoft.com/office/drawing/2014/main" val="1469102195"/>
                    </a:ext>
                  </a:extLst>
                </a:gridCol>
                <a:gridCol w="541992">
                  <a:extLst>
                    <a:ext uri="{9D8B030D-6E8A-4147-A177-3AD203B41FA5}">
                      <a16:colId xmlns:a16="http://schemas.microsoft.com/office/drawing/2014/main" val="1618240268"/>
                    </a:ext>
                  </a:extLst>
                </a:gridCol>
                <a:gridCol w="541992">
                  <a:extLst>
                    <a:ext uri="{9D8B030D-6E8A-4147-A177-3AD203B41FA5}">
                      <a16:colId xmlns:a16="http://schemas.microsoft.com/office/drawing/2014/main" val="707298306"/>
                    </a:ext>
                  </a:extLst>
                </a:gridCol>
                <a:gridCol w="541992">
                  <a:extLst>
                    <a:ext uri="{9D8B030D-6E8A-4147-A177-3AD203B41FA5}">
                      <a16:colId xmlns:a16="http://schemas.microsoft.com/office/drawing/2014/main" val="676649182"/>
                    </a:ext>
                  </a:extLst>
                </a:gridCol>
                <a:gridCol w="541992">
                  <a:extLst>
                    <a:ext uri="{9D8B030D-6E8A-4147-A177-3AD203B41FA5}">
                      <a16:colId xmlns:a16="http://schemas.microsoft.com/office/drawing/2014/main" val="499784587"/>
                    </a:ext>
                  </a:extLst>
                </a:gridCol>
                <a:gridCol w="541992">
                  <a:extLst>
                    <a:ext uri="{9D8B030D-6E8A-4147-A177-3AD203B41FA5}">
                      <a16:colId xmlns:a16="http://schemas.microsoft.com/office/drawing/2014/main" val="3172260166"/>
                    </a:ext>
                  </a:extLst>
                </a:gridCol>
                <a:gridCol w="541992">
                  <a:extLst>
                    <a:ext uri="{9D8B030D-6E8A-4147-A177-3AD203B41FA5}">
                      <a16:colId xmlns:a16="http://schemas.microsoft.com/office/drawing/2014/main" val="2547680329"/>
                    </a:ext>
                  </a:extLst>
                </a:gridCol>
                <a:gridCol w="541992">
                  <a:extLst>
                    <a:ext uri="{9D8B030D-6E8A-4147-A177-3AD203B41FA5}">
                      <a16:colId xmlns:a16="http://schemas.microsoft.com/office/drawing/2014/main" val="1946084277"/>
                    </a:ext>
                  </a:extLst>
                </a:gridCol>
                <a:gridCol w="541992">
                  <a:extLst>
                    <a:ext uri="{9D8B030D-6E8A-4147-A177-3AD203B41FA5}">
                      <a16:colId xmlns:a16="http://schemas.microsoft.com/office/drawing/2014/main" val="39531073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d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482649"/>
                  </a:ext>
                </a:extLst>
              </a:tr>
            </a:tbl>
          </a:graphicData>
        </a:graphic>
      </p:graphicFrame>
      <p:graphicFrame>
        <p:nvGraphicFramePr>
          <p:cNvPr id="10" name="表格 4">
            <a:extLst>
              <a:ext uri="{FF2B5EF4-FFF2-40B4-BE49-F238E27FC236}">
                <a16:creationId xmlns:a16="http://schemas.microsoft.com/office/drawing/2014/main" id="{172D7660-2BE4-4363-A19E-75241D401A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1484890"/>
              </p:ext>
            </p:extLst>
          </p:nvPr>
        </p:nvGraphicFramePr>
        <p:xfrm>
          <a:off x="1487171" y="3259683"/>
          <a:ext cx="7586138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89417100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043846451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17206149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1774991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46910219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618240268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70729830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7664918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9978458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17226016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54768032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94608427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95310733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6820134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d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d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48264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0E02864D-C87C-4E87-9C70-3CA8D4B7C061}"/>
                  </a:ext>
                </a:extLst>
              </p:cNvPr>
              <p:cNvSpPr txBox="1"/>
              <p:nvPr/>
            </p:nvSpPr>
            <p:spPr>
              <a:xfrm>
                <a:off x="838200" y="1690688"/>
                <a:ext cx="2743200" cy="5799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400" b="0" i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P</m:t>
                    </m:r>
                    <m:r>
                      <a:rPr lang="en-US" altLang="zh-TW" sz="2400" i="1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TW" sz="2400" b="0" i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ad</m:t>
                    </m:r>
                  </m:oMath>
                </a14:m>
                <a:endParaRPr lang="en" altLang="zh-TW" sz="240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0E02864D-C87C-4E87-9C70-3CA8D4B7C0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90688"/>
                <a:ext cx="2743200" cy="579967"/>
              </a:xfrm>
              <a:prstGeom prst="rect">
                <a:avLst/>
              </a:prstGeom>
              <a:blipFill>
                <a:blip r:embed="rId3"/>
                <a:stretch>
                  <a:fillRect l="-3111" b="-2105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58FACF22-AC7A-4F90-927F-3A4D95C8DB76}"/>
                  </a:ext>
                </a:extLst>
              </p:cNvPr>
              <p:cNvSpPr txBox="1"/>
              <p:nvPr/>
            </p:nvSpPr>
            <p:spPr>
              <a:xfrm>
                <a:off x="1138868" y="2406789"/>
                <a:ext cx="324081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400" b="0" i="0" smtClean="0"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X</m:t>
                      </m:r>
                    </m:oMath>
                  </m:oMathPara>
                </a14:m>
                <a:endParaRPr lang="en-US" altLang="zh-TW" sz="2400" b="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58FACF22-AC7A-4F90-927F-3A4D95C8DB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868" y="2406789"/>
                <a:ext cx="324081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4286421F-554B-4121-BFD2-756529A6A191}"/>
                  </a:ext>
                </a:extLst>
              </p:cNvPr>
              <p:cNvSpPr txBox="1"/>
              <p:nvPr/>
            </p:nvSpPr>
            <p:spPr>
              <a:xfrm>
                <a:off x="1126934" y="3165117"/>
                <a:ext cx="34795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400" b="0" i="0" smtClean="0"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Y</m:t>
                      </m:r>
                    </m:oMath>
                  </m:oMathPara>
                </a14:m>
                <a:endParaRPr lang="en-US" altLang="zh-TW" sz="2400" b="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4286421F-554B-4121-BFD2-756529A6A1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6934" y="3165117"/>
                <a:ext cx="347950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 4">
            <a:extLst>
              <a:ext uri="{FF2B5EF4-FFF2-40B4-BE49-F238E27FC236}">
                <a16:creationId xmlns:a16="http://schemas.microsoft.com/office/drawing/2014/main" id="{71CECAF2-2A78-4069-A32F-418126F72EE7}"/>
              </a:ext>
            </a:extLst>
          </p:cNvPr>
          <p:cNvSpPr/>
          <p:nvPr/>
        </p:nvSpPr>
        <p:spPr>
          <a:xfrm>
            <a:off x="7965195" y="2501355"/>
            <a:ext cx="567872" cy="45720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16042B1-0EBE-410A-A728-762ABA4D3798}"/>
              </a:ext>
            </a:extLst>
          </p:cNvPr>
          <p:cNvSpPr/>
          <p:nvPr/>
        </p:nvSpPr>
        <p:spPr>
          <a:xfrm>
            <a:off x="6918593" y="3259683"/>
            <a:ext cx="2154716" cy="45720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C9624C45-EE8D-4553-A037-750DF9EEA882}"/>
              </a:ext>
            </a:extLst>
          </p:cNvPr>
          <p:cNvSpPr>
            <a:spLocks noChangeAspect="1"/>
          </p:cNvSpPr>
          <p:nvPr/>
        </p:nvSpPr>
        <p:spPr>
          <a:xfrm>
            <a:off x="8024131" y="2045655"/>
            <a:ext cx="450000" cy="45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1</a:t>
            </a:r>
            <a:endParaRPr lang="zh-TW" altLang="en-US" sz="2400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2CB3891D-D302-435A-A7E7-104466AE6B75}"/>
              </a:ext>
            </a:extLst>
          </p:cNvPr>
          <p:cNvCxnSpPr>
            <a:cxnSpLocks/>
          </p:cNvCxnSpPr>
          <p:nvPr/>
        </p:nvCxnSpPr>
        <p:spPr>
          <a:xfrm flipH="1">
            <a:off x="7213553" y="2955705"/>
            <a:ext cx="548341" cy="301128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表格 4">
            <a:extLst>
              <a:ext uri="{FF2B5EF4-FFF2-40B4-BE49-F238E27FC236}">
                <a16:creationId xmlns:a16="http://schemas.microsoft.com/office/drawing/2014/main" id="{E0D67F80-CCFA-4A67-AEF9-89BB8CAE94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9621067"/>
              </p:ext>
            </p:extLst>
          </p:nvPr>
        </p:nvGraphicFramePr>
        <p:xfrm>
          <a:off x="1499105" y="4692580"/>
          <a:ext cx="5961912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1992">
                  <a:extLst>
                    <a:ext uri="{9D8B030D-6E8A-4147-A177-3AD203B41FA5}">
                      <a16:colId xmlns:a16="http://schemas.microsoft.com/office/drawing/2014/main" val="3894171006"/>
                    </a:ext>
                  </a:extLst>
                </a:gridCol>
                <a:gridCol w="541992">
                  <a:extLst>
                    <a:ext uri="{9D8B030D-6E8A-4147-A177-3AD203B41FA5}">
                      <a16:colId xmlns:a16="http://schemas.microsoft.com/office/drawing/2014/main" val="1043846451"/>
                    </a:ext>
                  </a:extLst>
                </a:gridCol>
                <a:gridCol w="541992">
                  <a:extLst>
                    <a:ext uri="{9D8B030D-6E8A-4147-A177-3AD203B41FA5}">
                      <a16:colId xmlns:a16="http://schemas.microsoft.com/office/drawing/2014/main" val="1172061497"/>
                    </a:ext>
                  </a:extLst>
                </a:gridCol>
                <a:gridCol w="541992">
                  <a:extLst>
                    <a:ext uri="{9D8B030D-6E8A-4147-A177-3AD203B41FA5}">
                      <a16:colId xmlns:a16="http://schemas.microsoft.com/office/drawing/2014/main" val="1177499145"/>
                    </a:ext>
                  </a:extLst>
                </a:gridCol>
                <a:gridCol w="541992">
                  <a:extLst>
                    <a:ext uri="{9D8B030D-6E8A-4147-A177-3AD203B41FA5}">
                      <a16:colId xmlns:a16="http://schemas.microsoft.com/office/drawing/2014/main" val="1469102195"/>
                    </a:ext>
                  </a:extLst>
                </a:gridCol>
                <a:gridCol w="541992">
                  <a:extLst>
                    <a:ext uri="{9D8B030D-6E8A-4147-A177-3AD203B41FA5}">
                      <a16:colId xmlns:a16="http://schemas.microsoft.com/office/drawing/2014/main" val="1618240268"/>
                    </a:ext>
                  </a:extLst>
                </a:gridCol>
                <a:gridCol w="541992">
                  <a:extLst>
                    <a:ext uri="{9D8B030D-6E8A-4147-A177-3AD203B41FA5}">
                      <a16:colId xmlns:a16="http://schemas.microsoft.com/office/drawing/2014/main" val="707298306"/>
                    </a:ext>
                  </a:extLst>
                </a:gridCol>
                <a:gridCol w="541992">
                  <a:extLst>
                    <a:ext uri="{9D8B030D-6E8A-4147-A177-3AD203B41FA5}">
                      <a16:colId xmlns:a16="http://schemas.microsoft.com/office/drawing/2014/main" val="676649182"/>
                    </a:ext>
                  </a:extLst>
                </a:gridCol>
                <a:gridCol w="541992">
                  <a:extLst>
                    <a:ext uri="{9D8B030D-6E8A-4147-A177-3AD203B41FA5}">
                      <a16:colId xmlns:a16="http://schemas.microsoft.com/office/drawing/2014/main" val="499784587"/>
                    </a:ext>
                  </a:extLst>
                </a:gridCol>
                <a:gridCol w="541992">
                  <a:extLst>
                    <a:ext uri="{9D8B030D-6E8A-4147-A177-3AD203B41FA5}">
                      <a16:colId xmlns:a16="http://schemas.microsoft.com/office/drawing/2014/main" val="3172260166"/>
                    </a:ext>
                  </a:extLst>
                </a:gridCol>
                <a:gridCol w="541992">
                  <a:extLst>
                    <a:ext uri="{9D8B030D-6E8A-4147-A177-3AD203B41FA5}">
                      <a16:colId xmlns:a16="http://schemas.microsoft.com/office/drawing/2014/main" val="25476803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482649"/>
                  </a:ext>
                </a:extLst>
              </a:tr>
            </a:tbl>
          </a:graphicData>
        </a:graphic>
      </p:graphicFrame>
      <p:graphicFrame>
        <p:nvGraphicFramePr>
          <p:cNvPr id="20" name="表格 4">
            <a:extLst>
              <a:ext uri="{FF2B5EF4-FFF2-40B4-BE49-F238E27FC236}">
                <a16:creationId xmlns:a16="http://schemas.microsoft.com/office/drawing/2014/main" id="{F8576BB5-551D-49EF-802C-853816CA10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8260167"/>
              </p:ext>
            </p:extLst>
          </p:nvPr>
        </p:nvGraphicFramePr>
        <p:xfrm>
          <a:off x="1499105" y="5450908"/>
          <a:ext cx="541867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89417100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043846451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17206149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1774991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46910219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618240268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70729830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7664918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9978458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1722601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d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48264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8856BB25-82FB-4494-A01B-6233F9D98691}"/>
                  </a:ext>
                </a:extLst>
              </p:cNvPr>
              <p:cNvSpPr txBox="1"/>
              <p:nvPr/>
            </p:nvSpPr>
            <p:spPr>
              <a:xfrm>
                <a:off x="1150802" y="4598014"/>
                <a:ext cx="324081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400" b="0" i="0" smtClean="0"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X</m:t>
                      </m:r>
                    </m:oMath>
                  </m:oMathPara>
                </a14:m>
                <a:endParaRPr lang="en-US" altLang="zh-TW" sz="2400" b="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8856BB25-82FB-4494-A01B-6233F9D986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0802" y="4598014"/>
                <a:ext cx="324081" cy="6463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8F840350-9A8A-44D4-BBF1-2B127CFA651D}"/>
                  </a:ext>
                </a:extLst>
              </p:cNvPr>
              <p:cNvSpPr txBox="1"/>
              <p:nvPr/>
            </p:nvSpPr>
            <p:spPr>
              <a:xfrm>
                <a:off x="1138868" y="5356342"/>
                <a:ext cx="34795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400" b="0" i="0" smtClean="0"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Y</m:t>
                      </m:r>
                    </m:oMath>
                  </m:oMathPara>
                </a14:m>
                <a:endParaRPr lang="en-US" altLang="zh-TW" sz="2400" b="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8F840350-9A8A-44D4-BBF1-2B127CFA65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868" y="5356342"/>
                <a:ext cx="347950" cy="6463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矩形 23">
            <a:extLst>
              <a:ext uri="{FF2B5EF4-FFF2-40B4-BE49-F238E27FC236}">
                <a16:creationId xmlns:a16="http://schemas.microsoft.com/office/drawing/2014/main" id="{DB76B475-57E6-424D-B88E-4B18D7D967E2}"/>
              </a:ext>
            </a:extLst>
          </p:cNvPr>
          <p:cNvSpPr/>
          <p:nvPr/>
        </p:nvSpPr>
        <p:spPr>
          <a:xfrm>
            <a:off x="3640567" y="4692580"/>
            <a:ext cx="3820449" cy="45720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234ADB6-AC90-45D1-84E8-995B5EEB2C3D}"/>
              </a:ext>
            </a:extLst>
          </p:cNvPr>
          <p:cNvSpPr/>
          <p:nvPr/>
        </p:nvSpPr>
        <p:spPr>
          <a:xfrm>
            <a:off x="2600897" y="5450908"/>
            <a:ext cx="4316877" cy="45720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FC9829DE-6DA0-4C51-9A55-9ACE218C5084}"/>
              </a:ext>
            </a:extLst>
          </p:cNvPr>
          <p:cNvSpPr>
            <a:spLocks noChangeAspect="1"/>
          </p:cNvSpPr>
          <p:nvPr/>
        </p:nvSpPr>
        <p:spPr>
          <a:xfrm>
            <a:off x="3706669" y="4236880"/>
            <a:ext cx="450000" cy="45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2</a:t>
            </a:r>
            <a:endParaRPr lang="zh-TW" altLang="en-US" sz="2400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A7BD1775-BE27-47C5-A9D4-A891B24BADA2}"/>
              </a:ext>
            </a:extLst>
          </p:cNvPr>
          <p:cNvSpPr>
            <a:spLocks noChangeAspect="1"/>
          </p:cNvSpPr>
          <p:nvPr/>
        </p:nvSpPr>
        <p:spPr>
          <a:xfrm>
            <a:off x="2644965" y="5908108"/>
            <a:ext cx="450000" cy="45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3</a:t>
            </a:r>
            <a:endParaRPr lang="zh-TW" altLang="en-US" sz="2400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29" name="橢圓 28">
            <a:extLst>
              <a:ext uri="{FF2B5EF4-FFF2-40B4-BE49-F238E27FC236}">
                <a16:creationId xmlns:a16="http://schemas.microsoft.com/office/drawing/2014/main" id="{7208ED78-58A1-437B-9261-A4710F09F28F}"/>
              </a:ext>
            </a:extLst>
          </p:cNvPr>
          <p:cNvSpPr>
            <a:spLocks noChangeAspect="1"/>
          </p:cNvSpPr>
          <p:nvPr/>
        </p:nvSpPr>
        <p:spPr>
          <a:xfrm>
            <a:off x="3182958" y="5906270"/>
            <a:ext cx="450000" cy="45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5</a:t>
            </a:r>
            <a:endParaRPr lang="zh-TW" altLang="en-US" sz="2400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30" name="橢圓 29">
            <a:extLst>
              <a:ext uri="{FF2B5EF4-FFF2-40B4-BE49-F238E27FC236}">
                <a16:creationId xmlns:a16="http://schemas.microsoft.com/office/drawing/2014/main" id="{BF0F520E-080E-4834-9855-2E9C28AD8B6D}"/>
              </a:ext>
            </a:extLst>
          </p:cNvPr>
          <p:cNvSpPr>
            <a:spLocks noChangeAspect="1"/>
          </p:cNvSpPr>
          <p:nvPr/>
        </p:nvSpPr>
        <p:spPr>
          <a:xfrm>
            <a:off x="3710954" y="5906270"/>
            <a:ext cx="450000" cy="45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7</a:t>
            </a:r>
            <a:endParaRPr lang="zh-TW" altLang="en-US" sz="2400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31" name="橢圓 30">
            <a:extLst>
              <a:ext uri="{FF2B5EF4-FFF2-40B4-BE49-F238E27FC236}">
                <a16:creationId xmlns:a16="http://schemas.microsoft.com/office/drawing/2014/main" id="{307BE85B-8BCA-456C-92A4-0BBCA6724ED4}"/>
              </a:ext>
            </a:extLst>
          </p:cNvPr>
          <p:cNvSpPr>
            <a:spLocks noChangeAspect="1"/>
          </p:cNvSpPr>
          <p:nvPr/>
        </p:nvSpPr>
        <p:spPr>
          <a:xfrm>
            <a:off x="4240825" y="5908108"/>
            <a:ext cx="450000" cy="45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9</a:t>
            </a:r>
            <a:endParaRPr lang="zh-TW" altLang="en-US" sz="2400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32" name="橢圓 31">
            <a:extLst>
              <a:ext uri="{FF2B5EF4-FFF2-40B4-BE49-F238E27FC236}">
                <a16:creationId xmlns:a16="http://schemas.microsoft.com/office/drawing/2014/main" id="{6E5BE0AD-94D3-4E47-AF34-A729B7B06C0E}"/>
              </a:ext>
            </a:extLst>
          </p:cNvPr>
          <p:cNvSpPr>
            <a:spLocks noChangeAspect="1"/>
          </p:cNvSpPr>
          <p:nvPr/>
        </p:nvSpPr>
        <p:spPr>
          <a:xfrm>
            <a:off x="4788834" y="4231149"/>
            <a:ext cx="450000" cy="45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6</a:t>
            </a:r>
            <a:endParaRPr lang="zh-TW" altLang="en-US" sz="2400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33" name="橢圓 32">
            <a:extLst>
              <a:ext uri="{FF2B5EF4-FFF2-40B4-BE49-F238E27FC236}">
                <a16:creationId xmlns:a16="http://schemas.microsoft.com/office/drawing/2014/main" id="{7A3CAF0B-FADA-4720-BF8E-FA2BB2C57497}"/>
              </a:ext>
            </a:extLst>
          </p:cNvPr>
          <p:cNvSpPr>
            <a:spLocks noChangeAspect="1"/>
          </p:cNvSpPr>
          <p:nvPr/>
        </p:nvSpPr>
        <p:spPr>
          <a:xfrm>
            <a:off x="5325791" y="4242580"/>
            <a:ext cx="450000" cy="45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8</a:t>
            </a:r>
            <a:endParaRPr lang="zh-TW" altLang="en-US" sz="2400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34" name="橢圓 33">
            <a:extLst>
              <a:ext uri="{FF2B5EF4-FFF2-40B4-BE49-F238E27FC236}">
                <a16:creationId xmlns:a16="http://schemas.microsoft.com/office/drawing/2014/main" id="{C2A20663-4FA3-4F5E-A302-58C24D22119D}"/>
              </a:ext>
            </a:extLst>
          </p:cNvPr>
          <p:cNvSpPr>
            <a:spLocks noChangeAspect="1"/>
          </p:cNvSpPr>
          <p:nvPr/>
        </p:nvSpPr>
        <p:spPr>
          <a:xfrm>
            <a:off x="5871000" y="4231149"/>
            <a:ext cx="450000" cy="45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400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35" name="橢圓 34">
            <a:extLst>
              <a:ext uri="{FF2B5EF4-FFF2-40B4-BE49-F238E27FC236}">
                <a16:creationId xmlns:a16="http://schemas.microsoft.com/office/drawing/2014/main" id="{E149894F-8D80-4906-9786-853D8A8E8B67}"/>
              </a:ext>
            </a:extLst>
          </p:cNvPr>
          <p:cNvSpPr>
            <a:spLocks noChangeAspect="1"/>
          </p:cNvSpPr>
          <p:nvPr/>
        </p:nvSpPr>
        <p:spPr>
          <a:xfrm>
            <a:off x="4247751" y="4231149"/>
            <a:ext cx="450000" cy="45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4</a:t>
            </a:r>
            <a:endParaRPr lang="zh-TW" altLang="en-US" sz="2400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2628271D-CE01-41EF-AE42-876310BDA1CA}"/>
              </a:ext>
            </a:extLst>
          </p:cNvPr>
          <p:cNvSpPr txBox="1"/>
          <p:nvPr/>
        </p:nvSpPr>
        <p:spPr>
          <a:xfrm>
            <a:off x="5862748" y="4221628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" panose="02020603050405020304" pitchFamily="18" charset="0"/>
                <a:cs typeface="Times" panose="02020603050405020304" pitchFamily="18" charset="0"/>
              </a:rPr>
              <a:t>10</a:t>
            </a:r>
            <a:endParaRPr lang="zh-TW" altLang="en-US" sz="24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cxnSp>
        <p:nvCxnSpPr>
          <p:cNvPr id="36" name="直線接點 35">
            <a:extLst>
              <a:ext uri="{FF2B5EF4-FFF2-40B4-BE49-F238E27FC236}">
                <a16:creationId xmlns:a16="http://schemas.microsoft.com/office/drawing/2014/main" id="{1DAF0C55-2F40-4FD3-9D0C-142598471E84}"/>
              </a:ext>
            </a:extLst>
          </p:cNvPr>
          <p:cNvCxnSpPr>
            <a:cxnSpLocks/>
          </p:cNvCxnSpPr>
          <p:nvPr/>
        </p:nvCxnSpPr>
        <p:spPr>
          <a:xfrm>
            <a:off x="6079069" y="5131149"/>
            <a:ext cx="0" cy="319759"/>
          </a:xfrm>
          <a:prstGeom prst="line">
            <a:avLst/>
          </a:prstGeom>
          <a:ln w="381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94849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05438D-F4BF-BC45-90BC-8CDF5398A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" pitchFamily="2" charset="0"/>
              </a:rPr>
              <a:t>Finding a constrained MCS</a:t>
            </a:r>
            <a:endParaRPr kumimoji="1" lang="zh-TW" altLang="en-US" dirty="0">
              <a:latin typeface="Times" pitchFamily="2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299CBE-E30D-E949-B1C5-1571BD06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8</a:t>
            </a:fld>
            <a:endParaRPr kumimoji="1" lang="zh-TW" altLang="en-US" dirty="0"/>
          </a:p>
        </p:txBody>
      </p:sp>
      <p:graphicFrame>
        <p:nvGraphicFramePr>
          <p:cNvPr id="3" name="表格 4">
            <a:extLst>
              <a:ext uri="{FF2B5EF4-FFF2-40B4-BE49-F238E27FC236}">
                <a16:creationId xmlns:a16="http://schemas.microsoft.com/office/drawing/2014/main" id="{A9BB29EC-4FD0-4A39-9571-CE1345083B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9959457"/>
              </p:ext>
            </p:extLst>
          </p:nvPr>
        </p:nvGraphicFramePr>
        <p:xfrm>
          <a:off x="1487171" y="2501355"/>
          <a:ext cx="5961912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1992">
                  <a:extLst>
                    <a:ext uri="{9D8B030D-6E8A-4147-A177-3AD203B41FA5}">
                      <a16:colId xmlns:a16="http://schemas.microsoft.com/office/drawing/2014/main" val="3894171006"/>
                    </a:ext>
                  </a:extLst>
                </a:gridCol>
                <a:gridCol w="541992">
                  <a:extLst>
                    <a:ext uri="{9D8B030D-6E8A-4147-A177-3AD203B41FA5}">
                      <a16:colId xmlns:a16="http://schemas.microsoft.com/office/drawing/2014/main" val="1043846451"/>
                    </a:ext>
                  </a:extLst>
                </a:gridCol>
                <a:gridCol w="541992">
                  <a:extLst>
                    <a:ext uri="{9D8B030D-6E8A-4147-A177-3AD203B41FA5}">
                      <a16:colId xmlns:a16="http://schemas.microsoft.com/office/drawing/2014/main" val="1172061497"/>
                    </a:ext>
                  </a:extLst>
                </a:gridCol>
                <a:gridCol w="541992">
                  <a:extLst>
                    <a:ext uri="{9D8B030D-6E8A-4147-A177-3AD203B41FA5}">
                      <a16:colId xmlns:a16="http://schemas.microsoft.com/office/drawing/2014/main" val="1177499145"/>
                    </a:ext>
                  </a:extLst>
                </a:gridCol>
                <a:gridCol w="541992">
                  <a:extLst>
                    <a:ext uri="{9D8B030D-6E8A-4147-A177-3AD203B41FA5}">
                      <a16:colId xmlns:a16="http://schemas.microsoft.com/office/drawing/2014/main" val="1469102195"/>
                    </a:ext>
                  </a:extLst>
                </a:gridCol>
                <a:gridCol w="541992">
                  <a:extLst>
                    <a:ext uri="{9D8B030D-6E8A-4147-A177-3AD203B41FA5}">
                      <a16:colId xmlns:a16="http://schemas.microsoft.com/office/drawing/2014/main" val="1618240268"/>
                    </a:ext>
                  </a:extLst>
                </a:gridCol>
                <a:gridCol w="541992">
                  <a:extLst>
                    <a:ext uri="{9D8B030D-6E8A-4147-A177-3AD203B41FA5}">
                      <a16:colId xmlns:a16="http://schemas.microsoft.com/office/drawing/2014/main" val="707298306"/>
                    </a:ext>
                  </a:extLst>
                </a:gridCol>
                <a:gridCol w="541992">
                  <a:extLst>
                    <a:ext uri="{9D8B030D-6E8A-4147-A177-3AD203B41FA5}">
                      <a16:colId xmlns:a16="http://schemas.microsoft.com/office/drawing/2014/main" val="676649182"/>
                    </a:ext>
                  </a:extLst>
                </a:gridCol>
                <a:gridCol w="541992">
                  <a:extLst>
                    <a:ext uri="{9D8B030D-6E8A-4147-A177-3AD203B41FA5}">
                      <a16:colId xmlns:a16="http://schemas.microsoft.com/office/drawing/2014/main" val="499784587"/>
                    </a:ext>
                  </a:extLst>
                </a:gridCol>
                <a:gridCol w="541992">
                  <a:extLst>
                    <a:ext uri="{9D8B030D-6E8A-4147-A177-3AD203B41FA5}">
                      <a16:colId xmlns:a16="http://schemas.microsoft.com/office/drawing/2014/main" val="3172260166"/>
                    </a:ext>
                  </a:extLst>
                </a:gridCol>
                <a:gridCol w="541992">
                  <a:extLst>
                    <a:ext uri="{9D8B030D-6E8A-4147-A177-3AD203B41FA5}">
                      <a16:colId xmlns:a16="http://schemas.microsoft.com/office/drawing/2014/main" val="25476803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482649"/>
                  </a:ext>
                </a:extLst>
              </a:tr>
            </a:tbl>
          </a:graphicData>
        </a:graphic>
      </p:graphicFrame>
      <p:graphicFrame>
        <p:nvGraphicFramePr>
          <p:cNvPr id="10" name="表格 4">
            <a:extLst>
              <a:ext uri="{FF2B5EF4-FFF2-40B4-BE49-F238E27FC236}">
                <a16:creationId xmlns:a16="http://schemas.microsoft.com/office/drawing/2014/main" id="{172D7660-2BE4-4363-A19E-75241D401A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630225"/>
              </p:ext>
            </p:extLst>
          </p:nvPr>
        </p:nvGraphicFramePr>
        <p:xfrm>
          <a:off x="1487171" y="3259683"/>
          <a:ext cx="541867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89417100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043846451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17206149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1774991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46910219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618240268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70729830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7664918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9978458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1722601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d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48264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0E02864D-C87C-4E87-9C70-3CA8D4B7C061}"/>
                  </a:ext>
                </a:extLst>
              </p:cNvPr>
              <p:cNvSpPr txBox="1"/>
              <p:nvPr/>
            </p:nvSpPr>
            <p:spPr>
              <a:xfrm>
                <a:off x="838200" y="1690688"/>
                <a:ext cx="2743200" cy="5799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400" b="0" i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P</m:t>
                    </m:r>
                    <m:r>
                      <a:rPr lang="en-US" altLang="zh-TW" sz="2400" i="1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TW" sz="2400" b="0" i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ad</m:t>
                    </m:r>
                  </m:oMath>
                </a14:m>
                <a:endParaRPr lang="en" altLang="zh-TW" sz="240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0E02864D-C87C-4E87-9C70-3CA8D4B7C0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90688"/>
                <a:ext cx="2743200" cy="579967"/>
              </a:xfrm>
              <a:prstGeom prst="rect">
                <a:avLst/>
              </a:prstGeom>
              <a:blipFill>
                <a:blip r:embed="rId3"/>
                <a:stretch>
                  <a:fillRect l="-3111" b="-2105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58FACF22-AC7A-4F90-927F-3A4D95C8DB76}"/>
                  </a:ext>
                </a:extLst>
              </p:cNvPr>
              <p:cNvSpPr txBox="1"/>
              <p:nvPr/>
            </p:nvSpPr>
            <p:spPr>
              <a:xfrm>
                <a:off x="1138868" y="2406789"/>
                <a:ext cx="324081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400" b="0" i="0" smtClean="0"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X</m:t>
                      </m:r>
                    </m:oMath>
                  </m:oMathPara>
                </a14:m>
                <a:endParaRPr lang="en-US" altLang="zh-TW" sz="2400" b="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58FACF22-AC7A-4F90-927F-3A4D95C8DB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868" y="2406789"/>
                <a:ext cx="324081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4286421F-554B-4121-BFD2-756529A6A191}"/>
                  </a:ext>
                </a:extLst>
              </p:cNvPr>
              <p:cNvSpPr txBox="1"/>
              <p:nvPr/>
            </p:nvSpPr>
            <p:spPr>
              <a:xfrm>
                <a:off x="1126934" y="3165117"/>
                <a:ext cx="34795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400" b="0" i="0" smtClean="0"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Y</m:t>
                      </m:r>
                    </m:oMath>
                  </m:oMathPara>
                </a14:m>
                <a:endParaRPr lang="en-US" altLang="zh-TW" sz="2400" b="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4286421F-554B-4121-BFD2-756529A6A1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6934" y="3165117"/>
                <a:ext cx="347950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 4">
            <a:extLst>
              <a:ext uri="{FF2B5EF4-FFF2-40B4-BE49-F238E27FC236}">
                <a16:creationId xmlns:a16="http://schemas.microsoft.com/office/drawing/2014/main" id="{71CECAF2-2A78-4069-A32F-418126F72EE7}"/>
              </a:ext>
            </a:extLst>
          </p:cNvPr>
          <p:cNvSpPr/>
          <p:nvPr/>
        </p:nvSpPr>
        <p:spPr>
          <a:xfrm>
            <a:off x="6349902" y="2485922"/>
            <a:ext cx="1111114" cy="45720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16042B1-0EBE-410A-A728-762ABA4D3798}"/>
              </a:ext>
            </a:extLst>
          </p:cNvPr>
          <p:cNvSpPr/>
          <p:nvPr/>
        </p:nvSpPr>
        <p:spPr>
          <a:xfrm>
            <a:off x="6345717" y="3259683"/>
            <a:ext cx="542423" cy="45720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2CB3891D-D302-435A-A7E7-104466AE6B75}"/>
              </a:ext>
            </a:extLst>
          </p:cNvPr>
          <p:cNvCxnSpPr>
            <a:cxnSpLocks/>
          </p:cNvCxnSpPr>
          <p:nvPr/>
        </p:nvCxnSpPr>
        <p:spPr>
          <a:xfrm flipH="1">
            <a:off x="6096000" y="2954553"/>
            <a:ext cx="1084879" cy="300665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表格 4">
            <a:extLst>
              <a:ext uri="{FF2B5EF4-FFF2-40B4-BE49-F238E27FC236}">
                <a16:creationId xmlns:a16="http://schemas.microsoft.com/office/drawing/2014/main" id="{E0D67F80-CCFA-4A67-AEF9-89BB8CAE94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0228501"/>
              </p:ext>
            </p:extLst>
          </p:nvPr>
        </p:nvGraphicFramePr>
        <p:xfrm>
          <a:off x="1499105" y="4692580"/>
          <a:ext cx="541992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1992">
                  <a:extLst>
                    <a:ext uri="{9D8B030D-6E8A-4147-A177-3AD203B41FA5}">
                      <a16:colId xmlns:a16="http://schemas.microsoft.com/office/drawing/2014/main" val="3894171006"/>
                    </a:ext>
                  </a:extLst>
                </a:gridCol>
                <a:gridCol w="541992">
                  <a:extLst>
                    <a:ext uri="{9D8B030D-6E8A-4147-A177-3AD203B41FA5}">
                      <a16:colId xmlns:a16="http://schemas.microsoft.com/office/drawing/2014/main" val="1043846451"/>
                    </a:ext>
                  </a:extLst>
                </a:gridCol>
                <a:gridCol w="541992">
                  <a:extLst>
                    <a:ext uri="{9D8B030D-6E8A-4147-A177-3AD203B41FA5}">
                      <a16:colId xmlns:a16="http://schemas.microsoft.com/office/drawing/2014/main" val="1172061497"/>
                    </a:ext>
                  </a:extLst>
                </a:gridCol>
                <a:gridCol w="541992">
                  <a:extLst>
                    <a:ext uri="{9D8B030D-6E8A-4147-A177-3AD203B41FA5}">
                      <a16:colId xmlns:a16="http://schemas.microsoft.com/office/drawing/2014/main" val="1177499145"/>
                    </a:ext>
                  </a:extLst>
                </a:gridCol>
                <a:gridCol w="541992">
                  <a:extLst>
                    <a:ext uri="{9D8B030D-6E8A-4147-A177-3AD203B41FA5}">
                      <a16:colId xmlns:a16="http://schemas.microsoft.com/office/drawing/2014/main" val="1469102195"/>
                    </a:ext>
                  </a:extLst>
                </a:gridCol>
                <a:gridCol w="541992">
                  <a:extLst>
                    <a:ext uri="{9D8B030D-6E8A-4147-A177-3AD203B41FA5}">
                      <a16:colId xmlns:a16="http://schemas.microsoft.com/office/drawing/2014/main" val="1618240268"/>
                    </a:ext>
                  </a:extLst>
                </a:gridCol>
                <a:gridCol w="541992">
                  <a:extLst>
                    <a:ext uri="{9D8B030D-6E8A-4147-A177-3AD203B41FA5}">
                      <a16:colId xmlns:a16="http://schemas.microsoft.com/office/drawing/2014/main" val="707298306"/>
                    </a:ext>
                  </a:extLst>
                </a:gridCol>
                <a:gridCol w="541992">
                  <a:extLst>
                    <a:ext uri="{9D8B030D-6E8A-4147-A177-3AD203B41FA5}">
                      <a16:colId xmlns:a16="http://schemas.microsoft.com/office/drawing/2014/main" val="676649182"/>
                    </a:ext>
                  </a:extLst>
                </a:gridCol>
                <a:gridCol w="541992">
                  <a:extLst>
                    <a:ext uri="{9D8B030D-6E8A-4147-A177-3AD203B41FA5}">
                      <a16:colId xmlns:a16="http://schemas.microsoft.com/office/drawing/2014/main" val="499784587"/>
                    </a:ext>
                  </a:extLst>
                </a:gridCol>
                <a:gridCol w="541992">
                  <a:extLst>
                    <a:ext uri="{9D8B030D-6E8A-4147-A177-3AD203B41FA5}">
                      <a16:colId xmlns:a16="http://schemas.microsoft.com/office/drawing/2014/main" val="31722601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u="sng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</a:t>
                      </a:r>
                      <a:endParaRPr lang="zh-TW" altLang="en-US" sz="2400" b="0" u="sng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u="sng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</a:t>
                      </a:r>
                      <a:endParaRPr lang="zh-TW" altLang="en-US" sz="2400" b="0" u="sng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u="sng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</a:t>
                      </a:r>
                      <a:endParaRPr lang="zh-TW" altLang="en-US" sz="2400" b="0" u="sng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u="sng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</a:t>
                      </a:r>
                      <a:endParaRPr lang="zh-TW" altLang="en-US" sz="2400" b="0" u="sng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u="sng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u="sng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482649"/>
                  </a:ext>
                </a:extLst>
              </a:tr>
            </a:tbl>
          </a:graphicData>
        </a:graphic>
      </p:graphicFrame>
      <p:graphicFrame>
        <p:nvGraphicFramePr>
          <p:cNvPr id="20" name="表格 4">
            <a:extLst>
              <a:ext uri="{FF2B5EF4-FFF2-40B4-BE49-F238E27FC236}">
                <a16:creationId xmlns:a16="http://schemas.microsoft.com/office/drawing/2014/main" id="{F8576BB5-551D-49EF-802C-853816CA10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3473771"/>
              </p:ext>
            </p:extLst>
          </p:nvPr>
        </p:nvGraphicFramePr>
        <p:xfrm>
          <a:off x="1499105" y="5450908"/>
          <a:ext cx="4334936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89417100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043846451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17206149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1774991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46910219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618240268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70729830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766491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u="sng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u="sng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u="sng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u="sng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u="sng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u="sng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u="sng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u="sng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48264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8856BB25-82FB-4494-A01B-6233F9D98691}"/>
                  </a:ext>
                </a:extLst>
              </p:cNvPr>
              <p:cNvSpPr txBox="1"/>
              <p:nvPr/>
            </p:nvSpPr>
            <p:spPr>
              <a:xfrm>
                <a:off x="1150802" y="4598014"/>
                <a:ext cx="324081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400" b="0" i="0" smtClean="0"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X</m:t>
                      </m:r>
                    </m:oMath>
                  </m:oMathPara>
                </a14:m>
                <a:endParaRPr lang="en-US" altLang="zh-TW" sz="2400" b="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8856BB25-82FB-4494-A01B-6233F9D986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0802" y="4598014"/>
                <a:ext cx="324081" cy="6463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8F840350-9A8A-44D4-BBF1-2B127CFA651D}"/>
                  </a:ext>
                </a:extLst>
              </p:cNvPr>
              <p:cNvSpPr txBox="1"/>
              <p:nvPr/>
            </p:nvSpPr>
            <p:spPr>
              <a:xfrm>
                <a:off x="1138868" y="5356342"/>
                <a:ext cx="34795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400" b="0" i="0" smtClean="0"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Y</m:t>
                      </m:r>
                    </m:oMath>
                  </m:oMathPara>
                </a14:m>
                <a:endParaRPr lang="en-US" altLang="zh-TW" sz="2400" b="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8F840350-9A8A-44D4-BBF1-2B127CFA65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868" y="5356342"/>
                <a:ext cx="347950" cy="6463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矩形 23">
            <a:extLst>
              <a:ext uri="{FF2B5EF4-FFF2-40B4-BE49-F238E27FC236}">
                <a16:creationId xmlns:a16="http://schemas.microsoft.com/office/drawing/2014/main" id="{DB76B475-57E6-424D-B88E-4B18D7D967E2}"/>
              </a:ext>
            </a:extLst>
          </p:cNvPr>
          <p:cNvSpPr/>
          <p:nvPr/>
        </p:nvSpPr>
        <p:spPr>
          <a:xfrm>
            <a:off x="3640567" y="4692580"/>
            <a:ext cx="3247573" cy="45720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234ADB6-AC90-45D1-84E8-995B5EEB2C3D}"/>
              </a:ext>
            </a:extLst>
          </p:cNvPr>
          <p:cNvSpPr/>
          <p:nvPr/>
        </p:nvSpPr>
        <p:spPr>
          <a:xfrm>
            <a:off x="2600898" y="5450908"/>
            <a:ext cx="3245430" cy="45720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E71FEE07-4A06-4964-B71D-C49E2252E01D}"/>
              </a:ext>
            </a:extLst>
          </p:cNvPr>
          <p:cNvGrpSpPr/>
          <p:nvPr/>
        </p:nvGrpSpPr>
        <p:grpSpPr>
          <a:xfrm>
            <a:off x="6392281" y="2006854"/>
            <a:ext cx="481029" cy="461665"/>
            <a:chOff x="5862748" y="4221628"/>
            <a:chExt cx="481029" cy="461665"/>
          </a:xfrm>
        </p:grpSpPr>
        <p:sp>
          <p:nvSpPr>
            <p:cNvPr id="34" name="橢圓 33">
              <a:extLst>
                <a:ext uri="{FF2B5EF4-FFF2-40B4-BE49-F238E27FC236}">
                  <a16:creationId xmlns:a16="http://schemas.microsoft.com/office/drawing/2014/main" id="{C2A20663-4FA3-4F5E-A302-58C24D22119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71000" y="4231149"/>
              <a:ext cx="450000" cy="450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400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2628271D-CE01-41EF-AE42-876310BDA1CA}"/>
                </a:ext>
              </a:extLst>
            </p:cNvPr>
            <p:cNvSpPr txBox="1"/>
            <p:nvPr/>
          </p:nvSpPr>
          <p:spPr>
            <a:xfrm>
              <a:off x="5862748" y="4221628"/>
              <a:ext cx="48102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400" dirty="0">
                  <a:latin typeface="Times" panose="02020603050405020304" pitchFamily="18" charset="0"/>
                  <a:cs typeface="Times" panose="02020603050405020304" pitchFamily="18" charset="0"/>
                </a:rPr>
                <a:t>11</a:t>
              </a:r>
              <a:endParaRPr lang="zh-TW" altLang="en-US" sz="2400" dirty="0"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</p:grpSp>
      <p:grpSp>
        <p:nvGrpSpPr>
          <p:cNvPr id="37" name="群組 36">
            <a:extLst>
              <a:ext uri="{FF2B5EF4-FFF2-40B4-BE49-F238E27FC236}">
                <a16:creationId xmlns:a16="http://schemas.microsoft.com/office/drawing/2014/main" id="{006DE6ED-395B-4D5B-BF2E-7EA97346B62A}"/>
              </a:ext>
            </a:extLst>
          </p:cNvPr>
          <p:cNvGrpSpPr/>
          <p:nvPr/>
        </p:nvGrpSpPr>
        <p:grpSpPr>
          <a:xfrm>
            <a:off x="6392159" y="3710132"/>
            <a:ext cx="492443" cy="461665"/>
            <a:chOff x="5862748" y="4221628"/>
            <a:chExt cx="492443" cy="461665"/>
          </a:xfrm>
        </p:grpSpPr>
        <p:sp>
          <p:nvSpPr>
            <p:cNvPr id="38" name="橢圓 37">
              <a:extLst>
                <a:ext uri="{FF2B5EF4-FFF2-40B4-BE49-F238E27FC236}">
                  <a16:creationId xmlns:a16="http://schemas.microsoft.com/office/drawing/2014/main" id="{2DC721A7-27F4-4B73-921E-778623E5506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71000" y="4231149"/>
              <a:ext cx="450000" cy="450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400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39" name="文字方塊 38">
              <a:extLst>
                <a:ext uri="{FF2B5EF4-FFF2-40B4-BE49-F238E27FC236}">
                  <a16:creationId xmlns:a16="http://schemas.microsoft.com/office/drawing/2014/main" id="{E35598AB-2C13-4545-A76B-DEA8F362CB6C}"/>
                </a:ext>
              </a:extLst>
            </p:cNvPr>
            <p:cNvSpPr txBox="1"/>
            <p:nvPr/>
          </p:nvSpPr>
          <p:spPr>
            <a:xfrm>
              <a:off x="5862748" y="4221628"/>
              <a:ext cx="49244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400" dirty="0">
                  <a:latin typeface="Times" panose="02020603050405020304" pitchFamily="18" charset="0"/>
                  <a:cs typeface="Times" panose="02020603050405020304" pitchFamily="18" charset="0"/>
                </a:rPr>
                <a:t>12</a:t>
              </a:r>
              <a:endParaRPr lang="zh-TW" altLang="en-US" sz="2400" dirty="0"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274858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05438D-F4BF-BC45-90BC-8CDF5398A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" pitchFamily="2" charset="0"/>
              </a:rPr>
              <a:t>Determining MCS</a:t>
            </a:r>
            <a:endParaRPr kumimoji="1" lang="zh-TW" altLang="en-US" dirty="0">
              <a:latin typeface="Times" pitchFamily="2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299CBE-E30D-E949-B1C5-1571BD06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9</a:t>
            </a:fld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D6232021-4120-4FDE-9D55-379B88B8790C}"/>
                  </a:ext>
                </a:extLst>
              </p:cNvPr>
              <p:cNvSpPr txBox="1"/>
              <p:nvPr/>
            </p:nvSpPr>
            <p:spPr>
              <a:xfrm>
                <a:off x="1260000" y="1552607"/>
                <a:ext cx="2902027" cy="5799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400" i="1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W</m:t>
                    </m:r>
                    <m:r>
                      <a:rPr lang="en-US" altLang="zh-TW" sz="2400" i="1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TW" sz="2400" b="0" i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aab</m:t>
                    </m:r>
                  </m:oMath>
                </a14:m>
                <a:endParaRPr lang="en" altLang="zh-TW" sz="240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D6232021-4120-4FDE-9D55-379B88B879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0000" y="1552607"/>
                <a:ext cx="2902027" cy="579967"/>
              </a:xfrm>
              <a:prstGeom prst="rect">
                <a:avLst/>
              </a:prstGeom>
              <a:blipFill>
                <a:blip r:embed="rId3"/>
                <a:stretch>
                  <a:fillRect l="-2941" b="-2105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>
            <a:extLst>
              <a:ext uri="{FF2B5EF4-FFF2-40B4-BE49-F238E27FC236}">
                <a16:creationId xmlns:a16="http://schemas.microsoft.com/office/drawing/2014/main" id="{8AB4A60A-F4BE-4C86-B0D6-C09F41D1BFD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 bwMode="auto">
          <a:xfrm>
            <a:off x="4014813" y="1690688"/>
            <a:ext cx="6917187" cy="4456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49606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05438D-F4BF-BC45-90BC-8CDF5398A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" pitchFamily="2" charset="0"/>
              </a:rPr>
              <a:t>Determining MCS</a:t>
            </a:r>
            <a:endParaRPr kumimoji="1" lang="zh-TW" altLang="en-US" dirty="0">
              <a:latin typeface="Times" pitchFamily="2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299CBE-E30D-E949-B1C5-1571BD06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10</a:t>
            </a:fld>
            <a:endParaRPr kumimoji="1" lang="zh-TW" alt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AB4A60A-F4BE-4C86-B0D6-C09F41D1BFD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/>
          <a:stretch/>
        </p:blipFill>
        <p:spPr bwMode="auto">
          <a:xfrm>
            <a:off x="4162027" y="1690688"/>
            <a:ext cx="7191773" cy="4632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95BECC90-B7D9-48E5-B09B-CB4A0AF34ED6}"/>
                  </a:ext>
                </a:extLst>
              </p:cNvPr>
              <p:cNvSpPr txBox="1"/>
              <p:nvPr/>
            </p:nvSpPr>
            <p:spPr>
              <a:xfrm>
                <a:off x="1260000" y="1552607"/>
                <a:ext cx="2902027" cy="5799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400" i="1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W</m:t>
                    </m:r>
                    <m:r>
                      <a:rPr lang="en-US" altLang="zh-TW" sz="2400" i="1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TW" sz="2400" b="0" i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aab</m:t>
                    </m:r>
                  </m:oMath>
                </a14:m>
                <a:endParaRPr lang="en" altLang="zh-TW" sz="240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95BECC90-B7D9-48E5-B09B-CB4A0AF34E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0000" y="1552607"/>
                <a:ext cx="2902027" cy="579967"/>
              </a:xfrm>
              <a:prstGeom prst="rect">
                <a:avLst/>
              </a:prstGeom>
              <a:blipFill>
                <a:blip r:embed="rId4"/>
                <a:stretch>
                  <a:fillRect l="-2941" b="-2105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21843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05438D-F4BF-BC45-90BC-8CDF5398A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" pitchFamily="2" charset="0"/>
              </a:rPr>
              <a:t>Time Complexity</a:t>
            </a:r>
            <a:endParaRPr kumimoji="1" lang="zh-TW" altLang="en-US" dirty="0">
              <a:latin typeface="Times" pitchFamily="2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299CBE-E30D-E949-B1C5-1571BD06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11</a:t>
            </a:fld>
            <a:endParaRPr kumimoji="1"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內容版面配置區 2">
                <a:extLst>
                  <a:ext uri="{FF2B5EF4-FFF2-40B4-BE49-F238E27FC236}">
                    <a16:creationId xmlns:a16="http://schemas.microsoft.com/office/drawing/2014/main" id="{9D51205D-1186-48E7-809E-781A18D07F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14882"/>
                <a:ext cx="10515600" cy="4351338"/>
              </a:xfrm>
            </p:spPr>
            <p:txBody>
              <a:bodyPr>
                <a:no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n-US" altLang="zh-TW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Finding MCS &amp; CMCS: O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(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𝑛</m:t>
                    </m:r>
                    <m:rad>
                      <m:radPr>
                        <m:degHide m:val="on"/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</m:ctrlPr>
                      </m:radPr>
                      <m:deg/>
                      <m:e>
                        <m:func>
                          <m:func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sz="2400" b="0" i="0" smtClean="0">
                                <a:latin typeface="Cambria Math" panose="02040503050406030204" pitchFamily="18" charset="0"/>
                                <a:cs typeface="Times" panose="020206030504050203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" panose="02020603050405020304" pitchFamily="18" charset="0"/>
                              </a:rPr>
                              <m:t>𝑛</m:t>
                            </m:r>
                          </m:e>
                        </m:func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  <m:t>/</m:t>
                        </m:r>
                        <m:func>
                          <m:func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sz="2400" b="0" i="0" smtClean="0">
                                <a:latin typeface="Cambria Math" panose="02040503050406030204" pitchFamily="18" charset="0"/>
                                <a:cs typeface="Times" panose="02020603050405020304" pitchFamily="18" charset="0"/>
                              </a:rPr>
                              <m:t>log</m:t>
                            </m:r>
                          </m:fName>
                          <m:e>
                            <m:func>
                              <m:funcPr>
                                <m:ctrlPr>
                                  <a:rPr lang="en-US" altLang="zh-TW" sz="2400" b="0" i="1" smtClean="0"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TW" sz="2400" b="0" i="0" smtClean="0"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𝑛</m:t>
                                </m:r>
                              </m:e>
                            </m:func>
                          </m:e>
                        </m:func>
                      </m:e>
                    </m:rad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)</m:t>
                    </m:r>
                  </m:oMath>
                </a14:m>
                <a:r>
                  <a:rPr lang="zh-TW" altLang="en-US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(integer sorting)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en-US" altLang="zh-TW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Determining MCS: O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(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𝑛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)</m:t>
                    </m:r>
                  </m:oMath>
                </a14:m>
                <a:endParaRPr lang="en-US" altLang="zh-TW" sz="240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𝑛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=|</m:t>
                    </m:r>
                    <m:r>
                      <m:rPr>
                        <m:sty m:val="p"/>
                      </m:rPr>
                      <a:rPr lang="en-US" altLang="zh-TW" sz="2400" b="0" i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X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|+|</m:t>
                    </m:r>
                    <m:r>
                      <m:rPr>
                        <m:sty m:val="p"/>
                      </m:rPr>
                      <a:rPr lang="en-US" altLang="zh-TW" sz="2400" b="0" i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Y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|</m:t>
                    </m:r>
                  </m:oMath>
                </a14:m>
                <a:endParaRPr lang="en-US" altLang="zh-TW" sz="240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>
          <p:sp>
            <p:nvSpPr>
              <p:cNvPr id="7" name="內容版面配置區 2">
                <a:extLst>
                  <a:ext uri="{FF2B5EF4-FFF2-40B4-BE49-F238E27FC236}">
                    <a16:creationId xmlns:a16="http://schemas.microsoft.com/office/drawing/2014/main" id="{9D51205D-1186-48E7-809E-781A18D07F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14882"/>
                <a:ext cx="10515600" cy="4351338"/>
              </a:xfrm>
              <a:blipFill>
                <a:blip r:embed="rId3"/>
                <a:stretch>
                  <a:fillRect l="-81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79015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3_chenya" id="{B41F7EED-78E0-1445-87EF-5AF1DA6E0F58}" vid="{D32384A1-BBDA-0D4F-B76D-4F110ED03311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佈景主題</Template>
  <TotalTime>8400</TotalTime>
  <Words>343</Words>
  <Application>Microsoft Office PowerPoint</Application>
  <PresentationFormat>寬螢幕</PresentationFormat>
  <Paragraphs>164</Paragraphs>
  <Slides>11</Slides>
  <Notes>10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Times</vt:lpstr>
      <vt:lpstr>Times New Roman</vt:lpstr>
      <vt:lpstr>Office 佈景主題</vt:lpstr>
      <vt:lpstr>Maximal common subsequence algorithms</vt:lpstr>
      <vt:lpstr>Abstract</vt:lpstr>
      <vt:lpstr>Maximal Common Subsequence</vt:lpstr>
      <vt:lpstr>Finding an MCS</vt:lpstr>
      <vt:lpstr>Finding an MCS</vt:lpstr>
      <vt:lpstr>Finding an MCS</vt:lpstr>
      <vt:lpstr>Finding a constrained MCS</vt:lpstr>
      <vt:lpstr>Finding a constrained MCS</vt:lpstr>
      <vt:lpstr>Determining MCS</vt:lpstr>
      <vt:lpstr>Determining MCS</vt:lpstr>
      <vt:lpstr>Time Complexity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M113040012</dc:creator>
  <cp:lastModifiedBy>張紋瑜</cp:lastModifiedBy>
  <cp:revision>285</cp:revision>
  <dcterms:created xsi:type="dcterms:W3CDTF">2023-07-01T04:19:29Z</dcterms:created>
  <dcterms:modified xsi:type="dcterms:W3CDTF">2024-06-11T10:22:09Z</dcterms:modified>
</cp:coreProperties>
</file>