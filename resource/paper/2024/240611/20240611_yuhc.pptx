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382" r:id="rId4"/>
    <p:sldId id="383" r:id="rId5"/>
    <p:sldId id="363" r:id="rId6"/>
    <p:sldId id="384" r:id="rId7"/>
    <p:sldId id="347" r:id="rId8"/>
    <p:sldId id="385" r:id="rId9"/>
    <p:sldId id="386" r:id="rId10"/>
    <p:sldId id="389" r:id="rId11"/>
    <p:sldId id="390" r:id="rId12"/>
    <p:sldId id="388" r:id="rId13"/>
    <p:sldId id="391" r:id="rId14"/>
    <p:sldId id="392" r:id="rId15"/>
    <p:sldId id="395" r:id="rId16"/>
    <p:sldId id="394" r:id="rId17"/>
    <p:sldId id="393" r:id="rId18"/>
    <p:sldId id="396" r:id="rId19"/>
    <p:sldId id="397" r:id="rId20"/>
    <p:sldId id="295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FF00"/>
    <a:srgbClr val="F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307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962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3051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3345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420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8935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35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269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0623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56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882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35294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4094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26744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572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2090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8703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56bd8716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e56bd8716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Given a string S of length n, an integer p ∈ [1..n] is a period of S if S[i] = S[i + p] for all i ∈ [1..n − p].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S[|S| − p + 1] =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893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altLang="zh-TW" sz="4000" dirty="0" err="1">
                <a:latin typeface="Times New Roman"/>
                <a:ea typeface="Times New Roman"/>
                <a:cs typeface="Times New Roman"/>
                <a:sym typeface="Times New Roman"/>
              </a:rPr>
              <a:t>Frobenius</a:t>
            </a:r>
            <a: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  <a:t> problems for </a:t>
            </a:r>
            <a:b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  <a:t>Sexy Prime</a:t>
            </a:r>
            <a:r>
              <a:rPr lang="zh-TW" alt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  <a:t>Triplets</a:t>
            </a:r>
            <a:endParaRPr lang="en-US"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-DE" altLang="zh-TW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WonTae Hwang, Kyunghwan Song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TW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Int. J. Math. </a:t>
            </a:r>
            <a:r>
              <a:rPr lang="en-US" altLang="zh-TW"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</a:t>
            </a:r>
            <a:r>
              <a:rPr lang="en-US" altLang="zh-TW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Sci, (2023), 18, 321-333.</a:t>
            </a:r>
            <a:endParaRPr lang="pl-PL"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lang="zh-TW" sz="2400" dirty="0">
                <a:latin typeface="Times New Roman"/>
                <a:ea typeface="Times New Roman"/>
                <a:cs typeface="Times New Roman"/>
                <a:sym typeface="Times New Roman"/>
              </a:rPr>
              <a:t>Hsin-Chang Yu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June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greatest integer that does not belong to a numerical semigroup S is called the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Frobenius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number of S. The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Frobenius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problem, which is also called the coin problem or the money changing problem, is a mathematical problem of finding the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Frobenius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number. In this paper, we solve the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Frobenius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 for sexy prime triplets.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ECE49729-E1BC-4647-8382-AA210F622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247" y="1633818"/>
            <a:ext cx="5975400" cy="3509682"/>
          </a:xfrm>
          <a:prstGeom prst="rect">
            <a:avLst/>
          </a:prstGeom>
        </p:spPr>
      </p:pic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 err="1">
                <a:latin typeface="Times New Roman"/>
                <a:ea typeface="Times New Roman"/>
                <a:cs typeface="Times New Roman"/>
                <a:sym typeface="Times New Roman"/>
              </a:rPr>
              <a:t>Frobenius</a:t>
            </a:r>
            <a:r>
              <a:rPr lang="en-US" altLang="zh-TW" sz="2800" dirty="0">
                <a:latin typeface="Times New Roman"/>
                <a:ea typeface="Times New Roman"/>
                <a:cs typeface="Times New Roman"/>
                <a:sym typeface="Times New Roman"/>
              </a:rPr>
              <a:t> problems(</a:t>
            </a:r>
            <a:r>
              <a:rPr lang="en-US" altLang="zh-TW" sz="28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Frobenius</a:t>
            </a:r>
            <a:r>
              <a:rPr lang="en-US" altLang="zh-TW" sz="2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coin problem</a:t>
            </a:r>
            <a:r>
              <a:rPr lang="en-US" altLang="zh-TW" sz="28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Coins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worth 3,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7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∞ 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of them)</a:t>
            </a:r>
          </a:p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Combine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3’s and 7’s</a:t>
            </a:r>
          </a:p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Achievable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Not achievable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108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0 Chicken McNuggets®">
            <a:extLst>
              <a:ext uri="{FF2B5EF4-FFF2-40B4-BE49-F238E27FC236}">
                <a16:creationId xmlns:a16="http://schemas.microsoft.com/office/drawing/2014/main" id="{B4449CEB-50A7-4A14-B478-7E2D85EE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31" y="1173201"/>
            <a:ext cx="3779127" cy="377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 err="1">
                <a:latin typeface="Times New Roman"/>
                <a:ea typeface="Times New Roman"/>
                <a:cs typeface="Times New Roman"/>
                <a:sym typeface="Times New Roman"/>
              </a:rPr>
              <a:t>Frobenius</a:t>
            </a:r>
            <a:r>
              <a:rPr lang="en-US" altLang="zh-TW" sz="2800" dirty="0">
                <a:latin typeface="Times New Roman"/>
                <a:ea typeface="Times New Roman"/>
                <a:cs typeface="Times New Roman"/>
                <a:sym typeface="Times New Roman"/>
              </a:rPr>
              <a:t> problems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Chicken </a:t>
            </a:r>
            <a:r>
              <a:rPr lang="en-US" altLang="zh-TW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McNugget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Theorem</a:t>
            </a:r>
            <a:b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Introduced by Henri </a:t>
            </a:r>
            <a:r>
              <a:rPr lang="en-US" altLang="zh-TW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Picciotto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0276657-8760-4428-99F0-DA34D4B07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847" y="643192"/>
            <a:ext cx="4525269" cy="383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6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Frobenius Coin Problem—A Cylindrical Approach | The Mathematical  Intelligencer">
            <a:extLst>
              <a:ext uri="{FF2B5EF4-FFF2-40B4-BE49-F238E27FC236}">
                <a16:creationId xmlns:a16="http://schemas.microsoft.com/office/drawing/2014/main" id="{B7CDB827-7F72-46E7-8E6F-9150D8327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053" y="1038058"/>
            <a:ext cx="4759755" cy="382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 err="1">
                <a:latin typeface="Times New Roman"/>
                <a:ea typeface="Times New Roman"/>
                <a:cs typeface="Times New Roman"/>
                <a:sym typeface="Times New Roman"/>
              </a:rPr>
              <a:t>Frobenius</a:t>
            </a:r>
            <a:r>
              <a:rPr lang="en-US" altLang="zh-TW" sz="2800" dirty="0">
                <a:latin typeface="Times New Roman"/>
                <a:ea typeface="Times New Roman"/>
                <a:cs typeface="Times New Roman"/>
                <a:sym typeface="Times New Roman"/>
              </a:rPr>
              <a:t> problems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37821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Ehrenborg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R. (2020). The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Frobenius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Coin Problem—A Cylindrical Approach. The Mathematical Intelligencer, 42(2), 78-79.</a:t>
            </a: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006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/>
            <a:r>
              <a:rPr lang="en-US" altLang="zh-TW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Sexy prime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4905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 number theory, sexy primes are prime numbers that differ from each other by 6. For example, the numbers 5 and 11 are both sexy primes, because both are prime and 11 − 5 = 6.</a:t>
            </a: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99E4E7E-97B7-4EFD-B554-66F9BFF625BF}"/>
              </a:ext>
            </a:extLst>
          </p:cNvPr>
          <p:cNvSpPr txBox="1"/>
          <p:nvPr/>
        </p:nvSpPr>
        <p:spPr>
          <a:xfrm>
            <a:off x="810185" y="2613248"/>
            <a:ext cx="75236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(5,11), (7,13), (11,17), (13,19), (17,23), (23,29), (31,37), (37,43), (41,47), (47,53), (53,59), (61,67), (67,73), (73,79), (83,89), (97,103), (101,107), (103,109), (107,113), (131,137), (151,157), (157,163), (167,173), (173,179), (191,197), (193,199), (223,229), (227,233), (233,239), (251,257), (257,263), (263,269), (271,277), (277,283), (307,313), (311,317), (331,337), (347,353), (353,359), (367,373), (373,379), (383,389), (433,439), (443,449), (457,463), (461,467)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75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Definition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F62A469-EF48-4500-A0A8-D9EB01E1F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65" y="1017725"/>
            <a:ext cx="7121940" cy="22633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AE4F4B2-08FB-4B08-9C85-1EE49BB2F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65" y="3436356"/>
            <a:ext cx="7333468" cy="99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6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Definition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AE3C8F9-A913-4233-A223-7325DD5D9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94" y="1071932"/>
            <a:ext cx="7510183" cy="93338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EA61AD3-DD11-46AA-80EA-132DF3AE9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92" y="2017206"/>
            <a:ext cx="7510183" cy="65581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1644BCE-B607-421B-8EDC-B42039190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092" y="2684911"/>
            <a:ext cx="7510183" cy="67755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E8D563E-76FE-4E13-8FF3-644C79552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92" y="3476959"/>
            <a:ext cx="7510183" cy="62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14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Definition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F24471C-6CBA-4549-842E-7C867419F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4" y="1226772"/>
            <a:ext cx="8800034" cy="145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0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 = {7,11,13}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34987A5-DBDD-4976-973E-71B8C4FB8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25" y="1069041"/>
            <a:ext cx="8093533" cy="398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3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Aft>
                <a:spcPts val="1200"/>
              </a:spcAft>
              <a:buSzPts val="1100"/>
              <a:buNone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Aft>
                <a:spcPts val="1200"/>
              </a:spcAft>
              <a:buSzPts val="1100"/>
              <a:buNone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F(S) = 30</a:t>
            </a:r>
          </a:p>
          <a:p>
            <a:pPr marL="0" indent="0">
              <a:spcAft>
                <a:spcPts val="1200"/>
              </a:spcAft>
              <a:buSzPts val="1100"/>
              <a:buNone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g(S) = 6 + 2 + 4 + 2 + 2 = 16, PF(S) = {15,30,19} and t(S) = 3</a:t>
            </a: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170E27E-54B4-447E-A54B-A7746DE33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71" y="178012"/>
            <a:ext cx="7175687" cy="271795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3C707F0-5203-4D82-8530-0C54F44EC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79952"/>
            <a:ext cx="9144000" cy="49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24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Definition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9AC667E-529F-43C2-A970-9362C93C0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3" y="1162049"/>
            <a:ext cx="8942294" cy="74519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7D9F170-B171-41FD-A8AC-30D7BE424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42" y="2051564"/>
            <a:ext cx="8942294" cy="267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19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Sexy prime triplets</a:t>
            </a:r>
            <a:endParaRPr lang="zh-TW" altLang="en-US" dirty="0"/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F41F15A6-30CD-4552-BA29-E0AACC3C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4905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r>
              <a:rPr lang="nn-NO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(p,p + 6,p + 12)</a:t>
            </a:r>
          </a:p>
          <a:p>
            <a:pPr marL="0" indent="0">
              <a:spcAft>
                <a:spcPts val="1200"/>
              </a:spcAft>
              <a:buSzPts val="11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let p = 60k + </a:t>
            </a:r>
            <a:r>
              <a:rPr lang="el-GR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α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p+6 = 60k+(</a:t>
            </a:r>
            <a:r>
              <a:rPr lang="el-GR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α+6)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</a:t>
            </a:r>
            <a:r>
              <a:rPr lang="el-GR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p+12 = 60k+(</a:t>
            </a:r>
            <a:r>
              <a:rPr lang="el-GR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α+12)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Aft>
                <a:spcPts val="1200"/>
              </a:spcAft>
              <a:buSzPts val="1100"/>
              <a:buNone/>
            </a:pPr>
            <a:r>
              <a:rPr lang="el-GR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gcd(60,α + 6)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≠</a:t>
            </a:r>
            <a:r>
              <a:rPr lang="el-GR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1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</a:t>
            </a: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gcd(60,α + 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12</a:t>
            </a: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≠</a:t>
            </a: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1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Aft>
                <a:spcPts val="1200"/>
              </a:spcAft>
              <a:buSzPts val="1100"/>
              <a:buNone/>
            </a:pP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gcd(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</a:t>
            </a: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0,α + 6)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≠</a:t>
            </a: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1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</a:t>
            </a: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gcd(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</a:t>
            </a: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0,α + 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12</a:t>
            </a: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r>
              <a:rPr lang="en-US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zh-TW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≠</a:t>
            </a:r>
            <a:r>
              <a:rPr lang="el-GR" altLang="zh-TW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1</a:t>
            </a: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1632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Sexy prime triplets</a:t>
            </a:r>
            <a:endParaRPr lang="zh-TW" altLang="en-US" dirty="0"/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F41F15A6-30CD-4552-BA29-E0AACC3C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4905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D690711-2536-48BF-8AE4-087F33F8B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0" y="1112067"/>
            <a:ext cx="8575469" cy="306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86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Results</a:t>
            </a:r>
            <a:endParaRPr lang="zh-TW" altLang="en-US" dirty="0"/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F41F15A6-30CD-4552-BA29-E0AACC3C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4905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BB4E7D7-4C0D-4217-9BA4-647EFBF8B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1074942"/>
            <a:ext cx="5048250" cy="5810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E304BAC-BA9D-4140-B122-035E3C04B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16" y="1655967"/>
            <a:ext cx="74390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03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Results</a:t>
            </a:r>
            <a:endParaRPr lang="zh-TW" altLang="en-US" dirty="0"/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F41F15A6-30CD-4552-BA29-E0AACC3C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4905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BB4E7D7-4C0D-4217-9BA4-647EFBF8B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1074942"/>
            <a:ext cx="5048250" cy="58102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949108D-BABD-4EC9-8850-01F3EBD0B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53" y="1713184"/>
            <a:ext cx="8585947" cy="100719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388391A-3035-45D1-915F-013C0CF03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28" y="2814099"/>
            <a:ext cx="883920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49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Results</a:t>
            </a:r>
            <a:endParaRPr lang="zh-TW" altLang="en-US" dirty="0"/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F41F15A6-30CD-4552-BA29-E0AACC3C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4905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E189281C-78B6-477C-81AE-AA700C4E4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1152475"/>
            <a:ext cx="5295900" cy="6096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B2973AB-A72D-4BBF-A8F9-C703A5979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" y="1762075"/>
            <a:ext cx="89630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31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Results</a:t>
            </a:r>
            <a:endParaRPr lang="zh-TW" altLang="en-US" dirty="0"/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F41F15A6-30CD-4552-BA29-E0AACC3C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4905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E104B35-41DE-4B87-9CE7-2BA8BDE88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1190575"/>
            <a:ext cx="5438775" cy="5715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D3E89B9-6A32-46AA-8737-3352144A7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62075"/>
            <a:ext cx="9144000" cy="177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740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Results</a:t>
            </a:r>
            <a:endParaRPr lang="zh-TW" altLang="en-US" dirty="0"/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F41F15A6-30CD-4552-BA29-E0AACC3C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4905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SzPts val="1100"/>
              <a:buNone/>
            </a:pPr>
            <a:endParaRPr lang="en-US" altLang="zh-TW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28B488E-8936-4C95-AC9A-A4B7874DE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1181050"/>
            <a:ext cx="5343525" cy="5524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A528A4C-3FBB-4FBF-B7D6-7225A654C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80" y="1762075"/>
            <a:ext cx="9004620" cy="176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09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0" y="1754841"/>
            <a:ext cx="9144000" cy="1902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4800" dirty="0">
                <a:latin typeface="Times New Roman"/>
                <a:ea typeface="Times New Roman"/>
                <a:cs typeface="Times New Roman"/>
                <a:sym typeface="Times New Roman"/>
              </a:rPr>
              <a:t>Thanks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2821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2635</TotalTime>
  <Words>566</Words>
  <Application>Microsoft Office PowerPoint</Application>
  <PresentationFormat>如螢幕大小 (16:9)</PresentationFormat>
  <Paragraphs>63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3" baseType="lpstr">
      <vt:lpstr>Arial</vt:lpstr>
      <vt:lpstr>Times New Roman</vt:lpstr>
      <vt:lpstr>Simple Light</vt:lpstr>
      <vt:lpstr>The Frobenius problems for  Sexy Prime Triplets</vt:lpstr>
      <vt:lpstr>Abstract</vt:lpstr>
      <vt:lpstr>Frobenius problems(Frobenius coin problem)</vt:lpstr>
      <vt:lpstr>Frobenius problems</vt:lpstr>
      <vt:lpstr>Frobenius problems</vt:lpstr>
      <vt:lpstr>Sexy prime</vt:lpstr>
      <vt:lpstr>Definition</vt:lpstr>
      <vt:lpstr>Definition</vt:lpstr>
      <vt:lpstr>Definition</vt:lpstr>
      <vt:lpstr>A = {7,11,13}</vt:lpstr>
      <vt:lpstr>PowerPoint 簡報</vt:lpstr>
      <vt:lpstr>Definition</vt:lpstr>
      <vt:lpstr>Sexy prime triplets</vt:lpstr>
      <vt:lpstr>Sexy prime triplets</vt:lpstr>
      <vt:lpstr>Results</vt:lpstr>
      <vt:lpstr>Results</vt:lpstr>
      <vt:lpstr>Results</vt:lpstr>
      <vt:lpstr>Results</vt:lpstr>
      <vt:lpstr>Results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Order-preserving pattern matching with k mismatches</dc:title>
  <cp:lastModifiedBy>鑫昌 俞</cp:lastModifiedBy>
  <cp:revision>168</cp:revision>
  <dcterms:modified xsi:type="dcterms:W3CDTF">2024-06-11T07:57:05Z</dcterms:modified>
</cp:coreProperties>
</file>