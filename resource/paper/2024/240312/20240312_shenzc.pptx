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7"/>
  </p:notesMasterIdLst>
  <p:sldIdLst>
    <p:sldId id="256" r:id="rId2"/>
    <p:sldId id="257" r:id="rId3"/>
    <p:sldId id="258" r:id="rId4"/>
    <p:sldId id="259" r:id="rId5"/>
    <p:sldId id="260" r:id="rId6"/>
    <p:sldId id="261" r:id="rId7"/>
    <p:sldId id="262" r:id="rId8"/>
    <p:sldId id="263" r:id="rId9"/>
    <p:sldId id="265" r:id="rId10"/>
    <p:sldId id="266" r:id="rId11"/>
    <p:sldId id="270" r:id="rId12"/>
    <p:sldId id="271" r:id="rId13"/>
    <p:sldId id="268" r:id="rId14"/>
    <p:sldId id="272" r:id="rId15"/>
    <p:sldId id="273"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B5FBEBF5-6C27-43DA-9D2C-B1537964028B}">
          <p14:sldIdLst>
            <p14:sldId id="256"/>
            <p14:sldId id="257"/>
            <p14:sldId id="258"/>
            <p14:sldId id="259"/>
            <p14:sldId id="260"/>
            <p14:sldId id="261"/>
            <p14:sldId id="262"/>
            <p14:sldId id="263"/>
            <p14:sldId id="265"/>
            <p14:sldId id="266"/>
            <p14:sldId id="270"/>
            <p14:sldId id="271"/>
            <p14:sldId id="268"/>
            <p14:sldId id="272"/>
            <p14:sldId id="273"/>
          </p14:sldIdLst>
        </p14:section>
        <p14:section name="test" id="{5A0672B8-76E0-491A-93E0-1923641389C1}">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5151"/>
    <a:srgbClr val="FF33CC"/>
    <a:srgbClr val="CC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7" autoAdjust="0"/>
    <p:restoredTop sz="90150" autoAdjust="0"/>
  </p:normalViewPr>
  <p:slideViewPr>
    <p:cSldViewPr snapToGrid="0">
      <p:cViewPr varScale="1">
        <p:scale>
          <a:sx n="62" d="100"/>
          <a:sy n="62" d="100"/>
        </p:scale>
        <p:origin x="1308" y="4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2024/3/12</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zh-TW" altLang="en-US" sz="1200" b="0" i="0" kern="1200" dirty="0">
                <a:solidFill>
                  <a:schemeClr val="tx1"/>
                </a:solidFill>
                <a:effectLst/>
                <a:latin typeface="+mn-lt"/>
                <a:ea typeface="+mn-ea"/>
                <a:cs typeface="+mn-cs"/>
              </a:rPr>
              <a:t>孟加拉工程技術大學</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達卡</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孟加拉</a:t>
            </a:r>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5812154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3574880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這種轉變的靈感來自於生物學觀察，即同一基因的多個“拷貝”可以出現在基因組的不同位置</a:t>
            </a: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15883540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dirty="0">
                <a:solidFill>
                  <a:srgbClr val="0070C0"/>
                </a:solidFill>
                <a:latin typeface="Times New Roman" panose="02020603050405020304" pitchFamily="18" charset="0"/>
                <a:cs typeface="Times New Roman" panose="02020603050405020304" pitchFamily="18" charset="0"/>
              </a:rPr>
              <a:t>we can use relabeling for strings starting with 0 or 2, so it suffices to prove the bound considering those prefixes</a:t>
            </a:r>
          </a:p>
          <a:p>
            <a:r>
              <a:rPr lang="zh-TW" altLang="en-US" sz="1200" dirty="0">
                <a:solidFill>
                  <a:srgbClr val="0070C0"/>
                </a:solidFill>
                <a:latin typeface="Times New Roman" panose="02020603050405020304" pitchFamily="18" charset="0"/>
                <a:cs typeface="Times New Roman" panose="02020603050405020304" pitchFamily="18" charset="0"/>
              </a:rPr>
              <a:t>開頭是</a:t>
            </a:r>
            <a:r>
              <a:rPr lang="en-US" altLang="zh-TW" sz="1200" dirty="0">
                <a:solidFill>
                  <a:srgbClr val="0070C0"/>
                </a:solidFill>
                <a:latin typeface="Times New Roman" panose="02020603050405020304" pitchFamily="18" charset="0"/>
                <a:cs typeface="Times New Roman" panose="02020603050405020304" pitchFamily="18" charset="0"/>
              </a:rPr>
              <a:t>0</a:t>
            </a:r>
            <a:r>
              <a:rPr lang="zh-TW" altLang="en-US" sz="1200" dirty="0">
                <a:solidFill>
                  <a:srgbClr val="0070C0"/>
                </a:solidFill>
                <a:latin typeface="Times New Roman" panose="02020603050405020304" pitchFamily="18" charset="0"/>
                <a:cs typeface="Times New Roman" panose="02020603050405020304" pitchFamily="18" charset="0"/>
              </a:rPr>
              <a:t>和</a:t>
            </a:r>
            <a:r>
              <a:rPr lang="en-US" altLang="zh-TW" sz="1200" dirty="0">
                <a:solidFill>
                  <a:srgbClr val="0070C0"/>
                </a:solidFill>
                <a:latin typeface="Times New Roman" panose="02020603050405020304" pitchFamily="18" charset="0"/>
                <a:cs typeface="Times New Roman" panose="02020603050405020304" pitchFamily="18" charset="0"/>
              </a:rPr>
              <a:t>2</a:t>
            </a:r>
            <a:r>
              <a:rPr lang="zh-TW" altLang="en-US" sz="1200" dirty="0">
                <a:solidFill>
                  <a:srgbClr val="0070C0"/>
                </a:solidFill>
                <a:latin typeface="Times New Roman" panose="02020603050405020304" pitchFamily="18" charset="0"/>
                <a:cs typeface="Times New Roman" panose="02020603050405020304" pitchFamily="18" charset="0"/>
              </a:rPr>
              <a:t>的情況可以用</a:t>
            </a:r>
            <a:r>
              <a:rPr lang="en-US" altLang="zh-TW" sz="1200" dirty="0">
                <a:solidFill>
                  <a:srgbClr val="0070C0"/>
                </a:solidFill>
                <a:latin typeface="Times New Roman" panose="02020603050405020304" pitchFamily="18" charset="0"/>
                <a:cs typeface="Times New Roman" panose="02020603050405020304" pitchFamily="18" charset="0"/>
              </a:rPr>
              <a:t>1</a:t>
            </a:r>
            <a:r>
              <a:rPr lang="zh-TW" altLang="en-US" sz="1200" dirty="0">
                <a:solidFill>
                  <a:srgbClr val="0070C0"/>
                </a:solidFill>
                <a:latin typeface="Times New Roman" panose="02020603050405020304" pitchFamily="18" charset="0"/>
                <a:cs typeface="Times New Roman" panose="02020603050405020304" pitchFamily="18" charset="0"/>
              </a:rPr>
              <a:t>去推得</a:t>
            </a:r>
            <a:r>
              <a:rPr lang="en-US" altLang="zh-TW" sz="1200" dirty="0">
                <a:solidFill>
                  <a:srgbClr val="0070C0"/>
                </a:solidFill>
                <a:latin typeface="Times New Roman" panose="02020603050405020304" pitchFamily="18" charset="0"/>
                <a:cs typeface="Times New Roman" panose="02020603050405020304" pitchFamily="18" charset="0"/>
              </a:rPr>
              <a:t>(relabel)</a:t>
            </a:r>
            <a:r>
              <a:rPr lang="zh-TW" altLang="en-US" sz="1200" dirty="0">
                <a:solidFill>
                  <a:srgbClr val="0070C0"/>
                </a:solidFill>
                <a:latin typeface="Times New Roman" panose="02020603050405020304" pitchFamily="18" charset="0"/>
                <a:cs typeface="Times New Roman" panose="02020603050405020304" pitchFamily="18" charset="0"/>
              </a:rPr>
              <a:t>，所以只需透過這</a:t>
            </a:r>
            <a:r>
              <a:rPr lang="en-US" altLang="zh-TW" sz="1200" dirty="0">
                <a:solidFill>
                  <a:srgbClr val="0070C0"/>
                </a:solidFill>
                <a:latin typeface="Times New Roman" panose="02020603050405020304" pitchFamily="18" charset="0"/>
                <a:cs typeface="Times New Roman" panose="02020603050405020304" pitchFamily="18" charset="0"/>
              </a:rPr>
              <a:t>8</a:t>
            </a:r>
            <a:r>
              <a:rPr lang="zh-TW" altLang="en-US" sz="1200" dirty="0">
                <a:solidFill>
                  <a:srgbClr val="0070C0"/>
                </a:solidFill>
                <a:latin typeface="Times New Roman" panose="02020603050405020304" pitchFamily="18" charset="0"/>
                <a:cs typeface="Times New Roman" panose="02020603050405020304" pitchFamily="18" charset="0"/>
              </a:rPr>
              <a:t>個</a:t>
            </a:r>
            <a:r>
              <a:rPr lang="en-US" altLang="zh-TW" sz="1200" dirty="0">
                <a:solidFill>
                  <a:srgbClr val="0070C0"/>
                </a:solidFill>
                <a:latin typeface="Times New Roman" panose="02020603050405020304" pitchFamily="18" charset="0"/>
                <a:cs typeface="Times New Roman" panose="02020603050405020304" pitchFamily="18" charset="0"/>
              </a:rPr>
              <a:t>prefix</a:t>
            </a:r>
            <a:r>
              <a:rPr lang="zh-TW" altLang="en-US" sz="1200" dirty="0">
                <a:solidFill>
                  <a:srgbClr val="0070C0"/>
                </a:solidFill>
                <a:latin typeface="Times New Roman" panose="02020603050405020304" pitchFamily="18" charset="0"/>
                <a:cs typeface="Times New Roman" panose="02020603050405020304" pitchFamily="18" charset="0"/>
              </a:rPr>
              <a:t>證明</a:t>
            </a:r>
            <a:r>
              <a:rPr lang="en-US" altLang="zh-TW" sz="1200" dirty="0">
                <a:solidFill>
                  <a:srgbClr val="0070C0"/>
                </a:solidFill>
                <a:latin typeface="Times New Roman" panose="02020603050405020304" pitchFamily="18" charset="0"/>
                <a:cs typeface="Times New Roman" panose="02020603050405020304" pitchFamily="18" charset="0"/>
              </a:rPr>
              <a:t>bound</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13</a:t>
            </a:fld>
            <a:endParaRPr lang="zh-TW" altLang="en-US"/>
          </a:p>
        </p:txBody>
      </p:sp>
    </p:spTree>
    <p:extLst>
      <p:ext uri="{BB962C8B-B14F-4D97-AF65-F5344CB8AC3E}">
        <p14:creationId xmlns:p14="http://schemas.microsoft.com/office/powerpoint/2010/main" val="24352418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14</a:t>
            </a:fld>
            <a:endParaRPr lang="zh-TW" altLang="en-US"/>
          </a:p>
        </p:txBody>
      </p:sp>
    </p:spTree>
    <p:extLst>
      <p:ext uri="{BB962C8B-B14F-4D97-AF65-F5344CB8AC3E}">
        <p14:creationId xmlns:p14="http://schemas.microsoft.com/office/powerpoint/2010/main" val="32245167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37765B31-2511-4B59-85CD-FE81550B112F}" type="datetime1">
              <a:rPr lang="zh-TW" altLang="en-US" smtClean="0"/>
              <a:t>2024/3/12</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9BF3BFE1-3FF9-4076-BFE3-436A899C6CFC}" type="datetime1">
              <a:rPr lang="zh-TW" altLang="en-US" smtClean="0"/>
              <a:t>2024/3/12</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CEC3635F-B179-4E14-9FEF-30274F37C964}" type="datetime1">
              <a:rPr lang="zh-TW" altLang="en-US" smtClean="0"/>
              <a:t>2024/3/12</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9471D61C-B526-46B0-B991-3372D0F0EC91}" type="datetime1">
              <a:rPr lang="zh-TW" altLang="en-US" smtClean="0"/>
              <a:t>2024/3/12</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06A488-6A5E-462F-A078-C1B45B9FC688}" type="datetime1">
              <a:rPr lang="zh-TW" altLang="en-US" smtClean="0"/>
              <a:t>2024/3/12</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D42DF501-4962-473D-B6D8-A7428BF1B6D4}" type="datetime1">
              <a:rPr lang="zh-TW" altLang="en-US" smtClean="0"/>
              <a:t>2024/3/12</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72C89F-7B98-4BDD-B73A-1D10077A1F27}" type="datetime1">
              <a:rPr lang="zh-TW" altLang="en-US" smtClean="0"/>
              <a:t>2024/3/12</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B9409844-160F-4E54-862A-C6CCEBCF4E40}" type="datetime1">
              <a:rPr lang="zh-TW" altLang="en-US" smtClean="0"/>
              <a:t>2024/3/12</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2D77C98F-9D28-4915-ABD0-95B43831494A}" type="datetime1">
              <a:rPr lang="zh-TW" altLang="en-US" smtClean="0"/>
              <a:t>2024/3/12</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2AEFE765-5314-4951-98B4-C5C6DE7CD530}" type="datetime1">
              <a:rPr lang="zh-TW" altLang="en-US" smtClean="0"/>
              <a:t>2024/3/12</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C3990DED-4DF0-4E86-AB35-9CE8B4D53C52}" type="datetime1">
              <a:rPr lang="zh-TW" altLang="en-US" smtClean="0"/>
              <a:t>2024/3/12</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AE8280-42F1-400D-A234-BF7D1153CCE2}" type="datetime1">
              <a:rPr lang="zh-TW" altLang="en-US" smtClean="0"/>
              <a:t>2024/3/12</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0.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41.png"/></Relationships>
</file>

<file path=ppt/slides/_rels/slide1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47A32-0D96-4B57-86B2-82EC84E8995E}"/>
              </a:ext>
            </a:extLst>
          </p:cNvPr>
          <p:cNvSpPr>
            <a:spLocks noGrp="1"/>
          </p:cNvSpPr>
          <p:nvPr>
            <p:ph type="ctrTitle"/>
          </p:nvPr>
        </p:nvSpPr>
        <p:spPr>
          <a:xfrm>
            <a:off x="-1" y="760923"/>
            <a:ext cx="9144000" cy="1953591"/>
          </a:xfrm>
        </p:spPr>
        <p:txBody>
          <a:bodyPr>
            <a:normAutofit/>
          </a:bodyPr>
          <a:lstStyle/>
          <a:p>
            <a:pPr>
              <a:lnSpc>
                <a:spcPct val="150000"/>
              </a:lnSpc>
            </a:pPr>
            <a:r>
              <a:rPr lang="en-US" altLang="zh-TW" sz="3600" dirty="0">
                <a:latin typeface="Times New Roman" panose="02020603050405020304" pitchFamily="18" charset="0"/>
                <a:cs typeface="Times New Roman" panose="02020603050405020304" pitchFamily="18" charset="0"/>
              </a:rPr>
              <a:t> Prefix transpositions on binary </a:t>
            </a:r>
            <a:br>
              <a:rPr lang="en-US" altLang="zh-TW" sz="3600" dirty="0">
                <a:latin typeface="Times New Roman" panose="02020603050405020304" pitchFamily="18" charset="0"/>
                <a:cs typeface="Times New Roman" panose="02020603050405020304" pitchFamily="18" charset="0"/>
              </a:rPr>
            </a:br>
            <a:r>
              <a:rPr lang="en-US" altLang="zh-TW" sz="3600" dirty="0">
                <a:latin typeface="Times New Roman" panose="02020603050405020304" pitchFamily="18" charset="0"/>
                <a:cs typeface="Times New Roman" panose="02020603050405020304" pitchFamily="18" charset="0"/>
              </a:rPr>
              <a:t>and ternary strings</a:t>
            </a:r>
            <a:endParaRPr lang="zh-TW" altLang="en-US" sz="36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61456E59-5D91-4093-B1A4-6F308EA967FD}"/>
              </a:ext>
            </a:extLst>
          </p:cNvPr>
          <p:cNvSpPr>
            <a:spLocks noGrp="1"/>
          </p:cNvSpPr>
          <p:nvPr>
            <p:ph type="subTitle" idx="1"/>
          </p:nvPr>
        </p:nvSpPr>
        <p:spPr>
          <a:xfrm>
            <a:off x="-1" y="3349173"/>
            <a:ext cx="9144000" cy="547505"/>
          </a:xfrm>
        </p:spPr>
        <p:txBody>
          <a:bodyPr>
            <a:normAutofit/>
          </a:bodyPr>
          <a:lstStyle/>
          <a:p>
            <a:r>
              <a:rPr lang="en-US" altLang="zh-TW" sz="2200" dirty="0">
                <a:latin typeface="Times New Roman" panose="02020603050405020304" pitchFamily="18" charset="0"/>
                <a:ea typeface="+mj-ea"/>
                <a:cs typeface="Times New Roman" panose="02020603050405020304" pitchFamily="18" charset="0"/>
              </a:rPr>
              <a:t> Amit Kumar Dutta, </a:t>
            </a:r>
            <a:r>
              <a:rPr lang="en-US" altLang="zh-TW" sz="2200" dirty="0" err="1">
                <a:latin typeface="Times New Roman" panose="02020603050405020304" pitchFamily="18" charset="0"/>
                <a:ea typeface="+mj-ea"/>
                <a:cs typeface="Times New Roman" panose="02020603050405020304" pitchFamily="18" charset="0"/>
              </a:rPr>
              <a:t>Masud</a:t>
            </a:r>
            <a:r>
              <a:rPr lang="en-US" altLang="zh-TW" sz="2200" dirty="0">
                <a:latin typeface="Times New Roman" panose="02020603050405020304" pitchFamily="18" charset="0"/>
                <a:ea typeface="+mj-ea"/>
                <a:cs typeface="Times New Roman" panose="02020603050405020304" pitchFamily="18" charset="0"/>
              </a:rPr>
              <a:t> Hasan, M. </a:t>
            </a:r>
            <a:r>
              <a:rPr lang="en-US" altLang="zh-TW" sz="2200" dirty="0" err="1">
                <a:latin typeface="Times New Roman" panose="02020603050405020304" pitchFamily="18" charset="0"/>
                <a:ea typeface="+mj-ea"/>
                <a:cs typeface="Times New Roman" panose="02020603050405020304" pitchFamily="18" charset="0"/>
              </a:rPr>
              <a:t>Sohel</a:t>
            </a:r>
            <a:r>
              <a:rPr lang="en-US" altLang="zh-TW" sz="2200" dirty="0">
                <a:latin typeface="Times New Roman" panose="02020603050405020304" pitchFamily="18" charset="0"/>
                <a:ea typeface="+mj-ea"/>
                <a:cs typeface="Times New Roman" panose="02020603050405020304" pitchFamily="18" charset="0"/>
              </a:rPr>
              <a:t> Rahman</a:t>
            </a:r>
            <a:endParaRPr lang="zh-TW" altLang="en-US" sz="2200" dirty="0">
              <a:latin typeface="Times New Roman" panose="02020603050405020304" pitchFamily="18" charset="0"/>
              <a:ea typeface="+mj-ea"/>
              <a:cs typeface="Times New Roman" panose="02020603050405020304" pitchFamily="18" charset="0"/>
            </a:endParaRPr>
          </a:p>
        </p:txBody>
      </p:sp>
      <p:sp>
        <p:nvSpPr>
          <p:cNvPr id="4" name="副標題 2">
            <a:extLst>
              <a:ext uri="{FF2B5EF4-FFF2-40B4-BE49-F238E27FC236}">
                <a16:creationId xmlns:a16="http://schemas.microsoft.com/office/drawing/2014/main" id="{A64E0364-4674-4930-835E-A413D880DCDB}"/>
              </a:ext>
            </a:extLst>
          </p:cNvPr>
          <p:cNvSpPr txBox="1">
            <a:spLocks/>
          </p:cNvSpPr>
          <p:nvPr/>
        </p:nvSpPr>
        <p:spPr>
          <a:xfrm>
            <a:off x="5489688" y="5365903"/>
            <a:ext cx="2715491" cy="830998"/>
          </a:xfrm>
          <a:prstGeom prst="rect">
            <a:avLst/>
          </a:prstGeom>
        </p:spPr>
        <p:txBody>
          <a:bodyPr vert="horz" lIns="68580" tIns="34290" rIns="68580" bIns="34290" rtlCol="0">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Speaker: </a:t>
            </a:r>
            <a:r>
              <a:rPr lang="en-US" altLang="zh-TW" sz="2000" dirty="0" err="1" smtClean="0">
                <a:latin typeface="Times New Roman" panose="02020603050405020304" pitchFamily="18" charset="0"/>
                <a:ea typeface="標楷體" panose="03000509000000000000" pitchFamily="65" charset="-120"/>
                <a:cs typeface="Times New Roman" panose="02020603050405020304" pitchFamily="18" charset="0"/>
              </a:rPr>
              <a:t>Zhi</a:t>
            </a:r>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-Cheng </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hen</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Date: </a:t>
            </a:r>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2024.03.12</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矩形 4">
            <a:extLst>
              <a:ext uri="{FF2B5EF4-FFF2-40B4-BE49-F238E27FC236}">
                <a16:creationId xmlns:a16="http://schemas.microsoft.com/office/drawing/2014/main" id="{776243CF-D414-4295-8B1E-9BF6541E940C}"/>
              </a:ext>
            </a:extLst>
          </p:cNvPr>
          <p:cNvSpPr/>
          <p:nvPr/>
        </p:nvSpPr>
        <p:spPr>
          <a:xfrm flipH="1">
            <a:off x="1397286" y="3994698"/>
            <a:ext cx="6807893" cy="707886"/>
          </a:xfrm>
          <a:prstGeom prst="rect">
            <a:avLst/>
          </a:prstGeom>
        </p:spPr>
        <p:txBody>
          <a:bodyPr wrap="square">
            <a:spAutoFit/>
          </a:bodyPr>
          <a:lstStyle/>
          <a:p>
            <a:endParaRPr lang="zh-TW" altLang="en-US" dirty="0"/>
          </a:p>
          <a:p>
            <a:r>
              <a:rPr lang="en-US" altLang="zh-TW" dirty="0"/>
              <a:t> </a:t>
            </a:r>
            <a:r>
              <a:rPr lang="en-US" altLang="zh-TW" sz="2200" dirty="0">
                <a:latin typeface="Times New Roman" panose="02020603050405020304" pitchFamily="18" charset="0"/>
                <a:ea typeface="+mj-ea"/>
                <a:cs typeface="Times New Roman" panose="02020603050405020304" pitchFamily="18" charset="0"/>
              </a:rPr>
              <a:t>Information Processing Letters, 113 (2013) p.265–270 </a:t>
            </a:r>
          </a:p>
        </p:txBody>
      </p:sp>
    </p:spTree>
    <p:extLst>
      <p:ext uri="{BB962C8B-B14F-4D97-AF65-F5344CB8AC3E}">
        <p14:creationId xmlns:p14="http://schemas.microsoft.com/office/powerpoint/2010/main" val="26117283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402232" y="385081"/>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Abstract</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2</a:t>
            </a:fld>
            <a:endParaRPr lang="zh-TW" altLang="en-US"/>
          </a:p>
        </p:txBody>
      </p:sp>
      <p:sp>
        <p:nvSpPr>
          <p:cNvPr id="7" name="內容版面配置區 6">
            <a:extLst>
              <a:ext uri="{FF2B5EF4-FFF2-40B4-BE49-F238E27FC236}">
                <a16:creationId xmlns:a16="http://schemas.microsoft.com/office/drawing/2014/main" id="{878CA31B-C758-4215-B281-353CA02EC37A}"/>
              </a:ext>
            </a:extLst>
          </p:cNvPr>
          <p:cNvSpPr>
            <a:spLocks noGrp="1"/>
          </p:cNvSpPr>
          <p:nvPr>
            <p:ph idx="1"/>
          </p:nvPr>
        </p:nvSpPr>
        <p:spPr>
          <a:xfrm>
            <a:off x="402232" y="895712"/>
            <a:ext cx="8201441" cy="5445183"/>
          </a:xfrm>
        </p:spPr>
        <p:txBody>
          <a:bodyPr>
            <a:noAutofit/>
          </a:bodyPr>
          <a:lstStyle/>
          <a:p>
            <a:pPr marL="0" indent="0">
              <a:lnSpc>
                <a:spcPct val="150000"/>
              </a:lnSpc>
              <a:buNone/>
            </a:pPr>
            <a:r>
              <a:rPr lang="en-US" altLang="zh-TW" sz="2600" dirty="0">
                <a:latin typeface="Times New Roman" panose="02020603050405020304" pitchFamily="18" charset="0"/>
              </a:rPr>
              <a:t>The problem of sorting by prefix transpositions asks for the </a:t>
            </a:r>
            <a:r>
              <a:rPr lang="en-US" altLang="zh-TW" sz="2600" dirty="0">
                <a:solidFill>
                  <a:srgbClr val="0070C0"/>
                </a:solidFill>
                <a:latin typeface="Times New Roman" panose="02020603050405020304" pitchFamily="18" charset="0"/>
              </a:rPr>
              <a:t>minimum number of prefix transpositions </a:t>
            </a:r>
            <a:r>
              <a:rPr lang="en-US" altLang="zh-TW" sz="2600" dirty="0">
                <a:latin typeface="Times New Roman" panose="02020603050405020304" pitchFamily="18" charset="0"/>
              </a:rPr>
              <a:t>required to sort the elements of a given permutation. In this paper, we study a variant of this problem where the prefix transpositions act not on permutations but on strings over an alphabet of fixed size. Here, we determine the minimum number of prefix transpositions required to sort the binary and ternary </a:t>
            </a:r>
            <a:r>
              <a:rPr lang="en-US" altLang="zh-TW" sz="2600" dirty="0" smtClean="0">
                <a:latin typeface="Times New Roman" panose="02020603050405020304" pitchFamily="18" charset="0"/>
              </a:rPr>
              <a:t>strings, </a:t>
            </a:r>
            <a:r>
              <a:rPr lang="en-US" altLang="zh-TW" sz="2600" dirty="0">
                <a:latin typeface="Times New Roman" panose="02020603050405020304" pitchFamily="18" charset="0"/>
              </a:rPr>
              <a:t>with polynomial time algorithms for these sorting problems. </a:t>
            </a:r>
            <a:endParaRPr lang="en-US" altLang="zh-TW"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47819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222F4ADD-F9DA-4202-A4ED-239132DE7250}"/>
              </a:ext>
            </a:extLst>
          </p:cNvPr>
          <p:cNvSpPr>
            <a:spLocks noGrp="1"/>
          </p:cNvSpPr>
          <p:nvPr>
            <p:ph type="sldNum" sz="quarter" idx="12"/>
          </p:nvPr>
        </p:nvSpPr>
        <p:spPr/>
        <p:txBody>
          <a:bodyPr/>
          <a:lstStyle/>
          <a:p>
            <a:fld id="{872633CA-77E0-4863-94F8-E28139DFB2B4}" type="slidenum">
              <a:rPr lang="zh-TW" altLang="en-US" smtClean="0"/>
              <a:t>3</a:t>
            </a:fld>
            <a:endParaRPr lang="zh-TW" altLang="en-US"/>
          </a:p>
        </p:txBody>
      </p:sp>
      <p:sp>
        <p:nvSpPr>
          <p:cNvPr id="5" name="標題 1">
            <a:extLst>
              <a:ext uri="{FF2B5EF4-FFF2-40B4-BE49-F238E27FC236}">
                <a16:creationId xmlns:a16="http://schemas.microsoft.com/office/drawing/2014/main" id="{FEF0B28A-BF0C-4AED-8461-CBEAD77D334D}"/>
              </a:ext>
            </a:extLst>
          </p:cNvPr>
          <p:cNvSpPr txBox="1">
            <a:spLocks/>
          </p:cNvSpPr>
          <p:nvPr/>
        </p:nvSpPr>
        <p:spPr>
          <a:xfrm>
            <a:off x="402232" y="385081"/>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Definition</a:t>
            </a:r>
            <a:endParaRPr lang="zh-TW" altLang="en-US" sz="3200" dirty="0">
              <a:latin typeface="Times New Roman" panose="02020603050405020304" pitchFamily="18" charset="0"/>
              <a:cs typeface="Times New Roman" panose="02020603050405020304" pitchFamily="18" charset="0"/>
            </a:endParaRPr>
          </a:p>
        </p:txBody>
      </p:sp>
      <p:sp>
        <p:nvSpPr>
          <p:cNvPr id="6" name="標題 1">
            <a:extLst>
              <a:ext uri="{FF2B5EF4-FFF2-40B4-BE49-F238E27FC236}">
                <a16:creationId xmlns:a16="http://schemas.microsoft.com/office/drawing/2014/main" id="{0F3C0B7C-940A-432F-87F9-1764B2F5AAB7}"/>
              </a:ext>
            </a:extLst>
          </p:cNvPr>
          <p:cNvSpPr txBox="1">
            <a:spLocks/>
          </p:cNvSpPr>
          <p:nvPr/>
        </p:nvSpPr>
        <p:spPr>
          <a:xfrm>
            <a:off x="402232" y="3298569"/>
            <a:ext cx="1894159"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latin typeface="Times New Roman" panose="02020603050405020304" pitchFamily="18" charset="0"/>
                <a:cs typeface="Times New Roman" panose="02020603050405020304" pitchFamily="18" charset="0"/>
              </a:rPr>
              <a:t>Transposition</a:t>
            </a:r>
          </a:p>
        </p:txBody>
      </p:sp>
      <p:grpSp>
        <p:nvGrpSpPr>
          <p:cNvPr id="13" name="群組 12">
            <a:extLst>
              <a:ext uri="{FF2B5EF4-FFF2-40B4-BE49-F238E27FC236}">
                <a16:creationId xmlns:a16="http://schemas.microsoft.com/office/drawing/2014/main" id="{6A1AD691-2D2D-4E69-BDC0-EC3A909CFDDC}"/>
              </a:ext>
            </a:extLst>
          </p:cNvPr>
          <p:cNvGrpSpPr/>
          <p:nvPr/>
        </p:nvGrpSpPr>
        <p:grpSpPr>
          <a:xfrm>
            <a:off x="1174172" y="3954041"/>
            <a:ext cx="6367784" cy="583367"/>
            <a:chOff x="1707745" y="1551815"/>
            <a:chExt cx="5860528" cy="583367"/>
          </a:xfrm>
        </p:grpSpPr>
        <p:sp>
          <p:nvSpPr>
            <p:cNvPr id="7" name="標題 1">
              <a:extLst>
                <a:ext uri="{FF2B5EF4-FFF2-40B4-BE49-F238E27FC236}">
                  <a16:creationId xmlns:a16="http://schemas.microsoft.com/office/drawing/2014/main" id="{1D0B8089-E02C-46D6-9568-16866AFA14A0}"/>
                </a:ext>
              </a:extLst>
            </p:cNvPr>
            <p:cNvSpPr txBox="1">
              <a:spLocks/>
            </p:cNvSpPr>
            <p:nvPr/>
          </p:nvSpPr>
          <p:spPr>
            <a:xfrm>
              <a:off x="1707745" y="1551815"/>
              <a:ext cx="215466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spc="600" dirty="0">
                  <a:latin typeface="Arial Black" panose="020B0A04020102020204" pitchFamily="34" charset="0"/>
                  <a:cs typeface="Times New Roman" panose="02020603050405020304" pitchFamily="18" charset="0"/>
                </a:rPr>
                <a:t>1</a:t>
              </a:r>
              <a:r>
                <a:rPr lang="en-US" altLang="zh-TW" sz="2400" spc="600" dirty="0">
                  <a:solidFill>
                    <a:srgbClr val="FF0000"/>
                  </a:solidFill>
                  <a:latin typeface="Arial Black" panose="020B0A04020102020204" pitchFamily="34" charset="0"/>
                  <a:cs typeface="Times New Roman" panose="02020603050405020304" pitchFamily="18" charset="0"/>
                </a:rPr>
                <a:t>23</a:t>
              </a:r>
              <a:r>
                <a:rPr lang="en-US" altLang="zh-TW" sz="2400" spc="600" dirty="0">
                  <a:solidFill>
                    <a:srgbClr val="00B050"/>
                  </a:solidFill>
                  <a:latin typeface="Arial Black" panose="020B0A04020102020204" pitchFamily="34" charset="0"/>
                  <a:cs typeface="Times New Roman" panose="02020603050405020304" pitchFamily="18" charset="0"/>
                </a:rPr>
                <a:t>456</a:t>
              </a:r>
              <a:r>
                <a:rPr lang="en-US" altLang="zh-TW" sz="2400" spc="600" dirty="0">
                  <a:latin typeface="Arial Black" panose="020B0A04020102020204" pitchFamily="34" charset="0"/>
                  <a:cs typeface="Times New Roman" panose="02020603050405020304" pitchFamily="18" charset="0"/>
                </a:rPr>
                <a:t>7</a:t>
              </a:r>
            </a:p>
          </p:txBody>
        </p:sp>
        <p:sp>
          <p:nvSpPr>
            <p:cNvPr id="8" name="標題 1">
              <a:extLst>
                <a:ext uri="{FF2B5EF4-FFF2-40B4-BE49-F238E27FC236}">
                  <a16:creationId xmlns:a16="http://schemas.microsoft.com/office/drawing/2014/main" id="{196C3C16-2DBA-4D4B-A220-BFBF56219907}"/>
                </a:ext>
              </a:extLst>
            </p:cNvPr>
            <p:cNvSpPr txBox="1">
              <a:spLocks/>
            </p:cNvSpPr>
            <p:nvPr/>
          </p:nvSpPr>
          <p:spPr>
            <a:xfrm>
              <a:off x="5043282" y="1551815"/>
              <a:ext cx="2524991"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spc="600" dirty="0">
                  <a:latin typeface="Arial Black" panose="020B0A04020102020204" pitchFamily="34" charset="0"/>
                  <a:cs typeface="Times New Roman" panose="02020603050405020304" pitchFamily="18" charset="0"/>
                </a:rPr>
                <a:t>1</a:t>
              </a:r>
              <a:r>
                <a:rPr lang="en-US" altLang="zh-TW" sz="2400" spc="600" dirty="0">
                  <a:solidFill>
                    <a:srgbClr val="00B050"/>
                  </a:solidFill>
                  <a:latin typeface="Arial Black" panose="020B0A04020102020204" pitchFamily="34" charset="0"/>
                  <a:cs typeface="Times New Roman" panose="02020603050405020304" pitchFamily="18" charset="0"/>
                </a:rPr>
                <a:t>456</a:t>
              </a:r>
              <a:r>
                <a:rPr lang="en-US" altLang="zh-TW" sz="2400" spc="600" dirty="0">
                  <a:solidFill>
                    <a:srgbClr val="FF0000"/>
                  </a:solidFill>
                  <a:latin typeface="Arial Black" panose="020B0A04020102020204" pitchFamily="34" charset="0"/>
                  <a:cs typeface="Times New Roman" panose="02020603050405020304" pitchFamily="18" charset="0"/>
                </a:rPr>
                <a:t>23</a:t>
              </a:r>
              <a:r>
                <a:rPr lang="en-US" altLang="zh-TW" sz="2400" spc="600" dirty="0">
                  <a:latin typeface="Arial Black" panose="020B0A04020102020204" pitchFamily="34" charset="0"/>
                  <a:cs typeface="Times New Roman" panose="02020603050405020304" pitchFamily="18" charset="0"/>
                </a:rPr>
                <a:t>7</a:t>
              </a:r>
            </a:p>
          </p:txBody>
        </p:sp>
        <p:cxnSp>
          <p:nvCxnSpPr>
            <p:cNvPr id="10" name="直線單箭頭接點 9">
              <a:extLst>
                <a:ext uri="{FF2B5EF4-FFF2-40B4-BE49-F238E27FC236}">
                  <a16:creationId xmlns:a16="http://schemas.microsoft.com/office/drawing/2014/main" id="{8C077893-0A67-4935-9DF8-D0F742FC6BED}"/>
                </a:ext>
              </a:extLst>
            </p:cNvPr>
            <p:cNvCxnSpPr/>
            <p:nvPr/>
          </p:nvCxnSpPr>
          <p:spPr>
            <a:xfrm>
              <a:off x="3862405" y="1843498"/>
              <a:ext cx="945572"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sp>
        <p:nvSpPr>
          <p:cNvPr id="12" name="標題 1">
            <a:extLst>
              <a:ext uri="{FF2B5EF4-FFF2-40B4-BE49-F238E27FC236}">
                <a16:creationId xmlns:a16="http://schemas.microsoft.com/office/drawing/2014/main" id="{F6066F25-4F04-4199-A62A-4C8CC8C2BDBC}"/>
              </a:ext>
            </a:extLst>
          </p:cNvPr>
          <p:cNvSpPr txBox="1">
            <a:spLocks/>
          </p:cNvSpPr>
          <p:nvPr/>
        </p:nvSpPr>
        <p:spPr>
          <a:xfrm>
            <a:off x="402232" y="4806707"/>
            <a:ext cx="2787777"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latin typeface="Times New Roman" panose="02020603050405020304" pitchFamily="18" charset="0"/>
                <a:cs typeface="Times New Roman" panose="02020603050405020304" pitchFamily="18" charset="0"/>
              </a:rPr>
              <a:t>Prefix transposition</a:t>
            </a:r>
          </a:p>
        </p:txBody>
      </p:sp>
      <p:grpSp>
        <p:nvGrpSpPr>
          <p:cNvPr id="14" name="群組 13">
            <a:extLst>
              <a:ext uri="{FF2B5EF4-FFF2-40B4-BE49-F238E27FC236}">
                <a16:creationId xmlns:a16="http://schemas.microsoft.com/office/drawing/2014/main" id="{FDB614AA-86B3-427C-84BB-8E214E378B9A}"/>
              </a:ext>
            </a:extLst>
          </p:cNvPr>
          <p:cNvGrpSpPr/>
          <p:nvPr/>
        </p:nvGrpSpPr>
        <p:grpSpPr>
          <a:xfrm>
            <a:off x="1145253" y="5390074"/>
            <a:ext cx="6794981" cy="583367"/>
            <a:chOff x="1337414" y="1551815"/>
            <a:chExt cx="6794981" cy="583367"/>
          </a:xfrm>
        </p:grpSpPr>
        <p:sp>
          <p:nvSpPr>
            <p:cNvPr id="15" name="標題 1">
              <a:extLst>
                <a:ext uri="{FF2B5EF4-FFF2-40B4-BE49-F238E27FC236}">
                  <a16:creationId xmlns:a16="http://schemas.microsoft.com/office/drawing/2014/main" id="{DEF46B4D-18F1-4619-BAD5-772DF8345385}"/>
                </a:ext>
              </a:extLst>
            </p:cNvPr>
            <p:cNvSpPr txBox="1">
              <a:spLocks/>
            </p:cNvSpPr>
            <p:nvPr/>
          </p:nvSpPr>
          <p:spPr>
            <a:xfrm>
              <a:off x="1337414" y="1551815"/>
              <a:ext cx="3089113"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spc="600" dirty="0">
                  <a:solidFill>
                    <a:srgbClr val="FF0000"/>
                  </a:solidFill>
                  <a:latin typeface="Arial Black" panose="020B0A04020102020204" pitchFamily="34" charset="0"/>
                  <a:cs typeface="Times New Roman" panose="02020603050405020304" pitchFamily="18" charset="0"/>
                </a:rPr>
                <a:t>12</a:t>
              </a:r>
              <a:r>
                <a:rPr lang="en-US" altLang="zh-TW" sz="2400" spc="600" dirty="0">
                  <a:solidFill>
                    <a:srgbClr val="00B050"/>
                  </a:solidFill>
                  <a:latin typeface="Arial Black" panose="020B0A04020102020204" pitchFamily="34" charset="0"/>
                  <a:cs typeface="Times New Roman" panose="02020603050405020304" pitchFamily="18" charset="0"/>
                </a:rPr>
                <a:t>3</a:t>
              </a:r>
              <a:r>
                <a:rPr lang="en-US" altLang="zh-TW" sz="2400" spc="600" dirty="0">
                  <a:latin typeface="Arial Black" panose="020B0A04020102020204" pitchFamily="34" charset="0"/>
                  <a:cs typeface="Times New Roman" panose="02020603050405020304" pitchFamily="18" charset="0"/>
                </a:rPr>
                <a:t>4567</a:t>
              </a:r>
            </a:p>
          </p:txBody>
        </p:sp>
        <p:sp>
          <p:nvSpPr>
            <p:cNvPr id="16" name="標題 1">
              <a:extLst>
                <a:ext uri="{FF2B5EF4-FFF2-40B4-BE49-F238E27FC236}">
                  <a16:creationId xmlns:a16="http://schemas.microsoft.com/office/drawing/2014/main" id="{C9128101-DC5F-4A1D-993C-D301FE33EBDF}"/>
                </a:ext>
              </a:extLst>
            </p:cNvPr>
            <p:cNvSpPr txBox="1">
              <a:spLocks/>
            </p:cNvSpPr>
            <p:nvPr/>
          </p:nvSpPr>
          <p:spPr>
            <a:xfrm>
              <a:off x="5043282" y="1551815"/>
              <a:ext cx="3089113"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spc="600" dirty="0">
                  <a:solidFill>
                    <a:srgbClr val="00B050"/>
                  </a:solidFill>
                  <a:latin typeface="Arial Black" panose="020B0A04020102020204" pitchFamily="34" charset="0"/>
                  <a:cs typeface="Times New Roman" panose="02020603050405020304" pitchFamily="18" charset="0"/>
                </a:rPr>
                <a:t>3</a:t>
              </a:r>
              <a:r>
                <a:rPr lang="en-US" altLang="zh-TW" sz="2400" spc="600" dirty="0">
                  <a:solidFill>
                    <a:srgbClr val="FF0000"/>
                  </a:solidFill>
                  <a:latin typeface="Arial Black" panose="020B0A04020102020204" pitchFamily="34" charset="0"/>
                  <a:cs typeface="Times New Roman" panose="02020603050405020304" pitchFamily="18" charset="0"/>
                </a:rPr>
                <a:t>12</a:t>
              </a:r>
              <a:r>
                <a:rPr lang="en-US" altLang="zh-TW" sz="2400" spc="600" dirty="0">
                  <a:latin typeface="Arial Black" panose="020B0A04020102020204" pitchFamily="34" charset="0"/>
                  <a:cs typeface="Times New Roman" panose="02020603050405020304" pitchFamily="18" charset="0"/>
                </a:rPr>
                <a:t>4567</a:t>
              </a:r>
            </a:p>
          </p:txBody>
        </p:sp>
        <p:cxnSp>
          <p:nvCxnSpPr>
            <p:cNvPr id="17" name="直線單箭頭接點 16">
              <a:extLst>
                <a:ext uri="{FF2B5EF4-FFF2-40B4-BE49-F238E27FC236}">
                  <a16:creationId xmlns:a16="http://schemas.microsoft.com/office/drawing/2014/main" id="{7F5A5C77-7874-46C0-AE8A-0E3D90F9FB95}"/>
                </a:ext>
              </a:extLst>
            </p:cNvPr>
            <p:cNvCxnSpPr/>
            <p:nvPr/>
          </p:nvCxnSpPr>
          <p:spPr>
            <a:xfrm>
              <a:off x="3862405" y="1843498"/>
              <a:ext cx="945572"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sp>
        <p:nvSpPr>
          <p:cNvPr id="19" name="標題 1">
            <a:extLst>
              <a:ext uri="{FF2B5EF4-FFF2-40B4-BE49-F238E27FC236}">
                <a16:creationId xmlns:a16="http://schemas.microsoft.com/office/drawing/2014/main" id="{E0DCEA50-D1DB-4E30-99F4-4007F4950A0A}"/>
              </a:ext>
            </a:extLst>
          </p:cNvPr>
          <p:cNvSpPr txBox="1">
            <a:spLocks/>
          </p:cNvSpPr>
          <p:nvPr/>
        </p:nvSpPr>
        <p:spPr>
          <a:xfrm>
            <a:off x="1174172" y="5768423"/>
            <a:ext cx="945573" cy="41003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TW" sz="1800" dirty="0">
                <a:solidFill>
                  <a:srgbClr val="FF0000"/>
                </a:solidFill>
                <a:latin typeface="Times New Roman" panose="02020603050405020304" pitchFamily="18" charset="0"/>
                <a:cs typeface="Times New Roman" panose="02020603050405020304" pitchFamily="18" charset="0"/>
              </a:rPr>
              <a:t>(prefix)</a:t>
            </a:r>
          </a:p>
        </p:txBody>
      </p:sp>
      <p:sp>
        <p:nvSpPr>
          <p:cNvPr id="20" name="標題 1">
            <a:extLst>
              <a:ext uri="{FF2B5EF4-FFF2-40B4-BE49-F238E27FC236}">
                <a16:creationId xmlns:a16="http://schemas.microsoft.com/office/drawing/2014/main" id="{7ACEC175-527F-482A-A832-561A480F0A39}"/>
              </a:ext>
            </a:extLst>
          </p:cNvPr>
          <p:cNvSpPr txBox="1">
            <a:spLocks/>
          </p:cNvSpPr>
          <p:nvPr/>
        </p:nvSpPr>
        <p:spPr>
          <a:xfrm>
            <a:off x="336198" y="5098391"/>
            <a:ext cx="3920386"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TW" altLang="en-US" sz="2400" dirty="0"/>
          </a:p>
        </p:txBody>
      </p:sp>
      <p:sp>
        <p:nvSpPr>
          <p:cNvPr id="28" name="標題 1">
            <a:extLst>
              <a:ext uri="{FF2B5EF4-FFF2-40B4-BE49-F238E27FC236}">
                <a16:creationId xmlns:a16="http://schemas.microsoft.com/office/drawing/2014/main" id="{181DB44C-FC0A-4741-A15E-B3713572DF93}"/>
              </a:ext>
            </a:extLst>
          </p:cNvPr>
          <p:cNvSpPr txBox="1">
            <a:spLocks/>
          </p:cNvSpPr>
          <p:nvPr/>
        </p:nvSpPr>
        <p:spPr>
          <a:xfrm>
            <a:off x="402232" y="1752140"/>
            <a:ext cx="3224195"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latin typeface="Times New Roman" panose="02020603050405020304" pitchFamily="18" charset="0"/>
                <a:cs typeface="Times New Roman" panose="02020603050405020304" pitchFamily="18" charset="0"/>
              </a:rPr>
              <a:t>Permutation of S</a:t>
            </a:r>
          </a:p>
        </p:txBody>
      </p:sp>
      <p:sp>
        <p:nvSpPr>
          <p:cNvPr id="32" name="標題 1">
            <a:extLst>
              <a:ext uri="{FF2B5EF4-FFF2-40B4-BE49-F238E27FC236}">
                <a16:creationId xmlns:a16="http://schemas.microsoft.com/office/drawing/2014/main" id="{E7891C1D-30EE-4A86-A9B9-9D6E8C9C73DE}"/>
              </a:ext>
            </a:extLst>
          </p:cNvPr>
          <p:cNvSpPr txBox="1">
            <a:spLocks/>
          </p:cNvSpPr>
          <p:nvPr/>
        </p:nvSpPr>
        <p:spPr>
          <a:xfrm>
            <a:off x="645953" y="2252929"/>
            <a:ext cx="6971252" cy="4654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000" dirty="0">
                <a:latin typeface="Arial Black" panose="020B0A04020102020204" pitchFamily="34" charset="0"/>
                <a:cs typeface="Times New Roman" panose="02020603050405020304" pitchFamily="18" charset="0"/>
              </a:rPr>
              <a:t>1234567, 2134567, 4316572, 7654321, ...</a:t>
            </a:r>
          </a:p>
        </p:txBody>
      </p:sp>
      <mc:AlternateContent xmlns:mc="http://schemas.openxmlformats.org/markup-compatibility/2006" xmlns:a14="http://schemas.microsoft.com/office/drawing/2010/main">
        <mc:Choice Requires="a14">
          <p:sp>
            <p:nvSpPr>
              <p:cNvPr id="34" name="矩形 33">
                <a:extLst>
                  <a:ext uri="{FF2B5EF4-FFF2-40B4-BE49-F238E27FC236}">
                    <a16:creationId xmlns:a16="http://schemas.microsoft.com/office/drawing/2014/main" id="{7B26B2F8-11BD-492B-BED0-B2D6A4B0582F}"/>
                  </a:ext>
                </a:extLst>
              </p:cNvPr>
              <p:cNvSpPr/>
              <p:nvPr/>
            </p:nvSpPr>
            <p:spPr>
              <a:xfrm>
                <a:off x="3017045" y="3400397"/>
                <a:ext cx="112114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dirty="0" smtClean="0">
                          <a:solidFill>
                            <a:srgbClr val="0070C0"/>
                          </a:solidFill>
                          <a:latin typeface="Cambria Math" panose="02040503050406030204" pitchFamily="18" charset="0"/>
                          <a:cs typeface="Times New Roman" panose="02020603050405020304" pitchFamily="18" charset="0"/>
                        </a:rPr>
                        <m:t>𝑓</m:t>
                      </m:r>
                      <m:r>
                        <a:rPr lang="en-US" altLang="zh-TW" b="0" i="1" dirty="0" smtClean="0">
                          <a:solidFill>
                            <a:srgbClr val="0070C0"/>
                          </a:solidFill>
                          <a:latin typeface="Cambria Math" panose="02040503050406030204" pitchFamily="18" charset="0"/>
                          <a:cs typeface="Times New Roman" panose="02020603050405020304" pitchFamily="18" charset="0"/>
                        </a:rPr>
                        <m:t>(2, 4, 7)</m:t>
                      </m:r>
                    </m:oMath>
                  </m:oMathPara>
                </a14:m>
                <a:endParaRPr lang="zh-TW" altLang="en-US" dirty="0">
                  <a:solidFill>
                    <a:srgbClr val="0070C0"/>
                  </a:solidFill>
                </a:endParaRPr>
              </a:p>
            </p:txBody>
          </p:sp>
        </mc:Choice>
        <mc:Fallback xmlns="">
          <p:sp>
            <p:nvSpPr>
              <p:cNvPr id="34" name="矩形 33">
                <a:extLst>
                  <a:ext uri="{FF2B5EF4-FFF2-40B4-BE49-F238E27FC236}">
                    <a16:creationId xmlns:a16="http://schemas.microsoft.com/office/drawing/2014/main" id="{7B26B2F8-11BD-492B-BED0-B2D6A4B0582F}"/>
                  </a:ext>
                </a:extLst>
              </p:cNvPr>
              <p:cNvSpPr>
                <a:spLocks noRot="1" noChangeAspect="1" noMove="1" noResize="1" noEditPoints="1" noAdjustHandles="1" noChangeArrowheads="1" noChangeShapeType="1" noTextEdit="1"/>
              </p:cNvSpPr>
              <p:nvPr/>
            </p:nvSpPr>
            <p:spPr>
              <a:xfrm>
                <a:off x="3017045" y="3400397"/>
                <a:ext cx="1121140" cy="369332"/>
              </a:xfrm>
              <a:prstGeom prst="rect">
                <a:avLst/>
              </a:prstGeom>
              <a:blipFill>
                <a:blip r:embed="rId2"/>
                <a:stretch>
                  <a:fillRect b="-133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5" name="矩形 34">
                <a:extLst>
                  <a:ext uri="{FF2B5EF4-FFF2-40B4-BE49-F238E27FC236}">
                    <a16:creationId xmlns:a16="http://schemas.microsoft.com/office/drawing/2014/main" id="{ACED3043-DE7D-44DA-ADC5-DDE91D251F2F}"/>
                  </a:ext>
                </a:extLst>
              </p:cNvPr>
              <p:cNvSpPr/>
              <p:nvPr/>
            </p:nvSpPr>
            <p:spPr>
              <a:xfrm>
                <a:off x="3017045" y="4908477"/>
                <a:ext cx="112114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dirty="0" smtClean="0">
                          <a:solidFill>
                            <a:srgbClr val="0070C0"/>
                          </a:solidFill>
                          <a:latin typeface="Cambria Math" panose="02040503050406030204" pitchFamily="18" charset="0"/>
                          <a:cs typeface="Times New Roman" panose="02020603050405020304" pitchFamily="18" charset="0"/>
                        </a:rPr>
                        <m:t>𝑓</m:t>
                      </m:r>
                      <m:r>
                        <a:rPr lang="en-US" altLang="zh-TW" b="0" i="1" dirty="0" smtClean="0">
                          <a:solidFill>
                            <a:srgbClr val="0070C0"/>
                          </a:solidFill>
                          <a:latin typeface="Cambria Math" panose="02040503050406030204" pitchFamily="18" charset="0"/>
                          <a:cs typeface="Times New Roman" panose="02020603050405020304" pitchFamily="18" charset="0"/>
                        </a:rPr>
                        <m:t>(1, 3, 4)</m:t>
                      </m:r>
                    </m:oMath>
                  </m:oMathPara>
                </a14:m>
                <a:endParaRPr lang="zh-TW" altLang="en-US" dirty="0">
                  <a:solidFill>
                    <a:srgbClr val="0070C0"/>
                  </a:solidFill>
                </a:endParaRPr>
              </a:p>
            </p:txBody>
          </p:sp>
        </mc:Choice>
        <mc:Fallback xmlns="">
          <p:sp>
            <p:nvSpPr>
              <p:cNvPr id="35" name="矩形 34">
                <a:extLst>
                  <a:ext uri="{FF2B5EF4-FFF2-40B4-BE49-F238E27FC236}">
                    <a16:creationId xmlns:a16="http://schemas.microsoft.com/office/drawing/2014/main" id="{ACED3043-DE7D-44DA-ADC5-DDE91D251F2F}"/>
                  </a:ext>
                </a:extLst>
              </p:cNvPr>
              <p:cNvSpPr>
                <a:spLocks noRot="1" noChangeAspect="1" noMove="1" noResize="1" noEditPoints="1" noAdjustHandles="1" noChangeArrowheads="1" noChangeShapeType="1" noTextEdit="1"/>
              </p:cNvSpPr>
              <p:nvPr/>
            </p:nvSpPr>
            <p:spPr>
              <a:xfrm>
                <a:off x="3017045" y="4908477"/>
                <a:ext cx="1121141" cy="369332"/>
              </a:xfrm>
              <a:prstGeom prst="rect">
                <a:avLst/>
              </a:prstGeom>
              <a:blipFill>
                <a:blip r:embed="rId3"/>
                <a:stretch>
                  <a:fillRect b="-13115"/>
                </a:stretch>
              </a:blipFill>
            </p:spPr>
            <p:txBody>
              <a:bodyPr/>
              <a:lstStyle/>
              <a:p>
                <a:r>
                  <a:rPr lang="zh-TW" altLang="en-US">
                    <a:noFill/>
                  </a:rPr>
                  <a:t> </a:t>
                </a:r>
              </a:p>
            </p:txBody>
          </p:sp>
        </mc:Fallback>
      </mc:AlternateContent>
      <p:sp>
        <p:nvSpPr>
          <p:cNvPr id="36" name="矩形 35">
            <a:extLst>
              <a:ext uri="{FF2B5EF4-FFF2-40B4-BE49-F238E27FC236}">
                <a16:creationId xmlns:a16="http://schemas.microsoft.com/office/drawing/2014/main" id="{6E3C43DC-6E54-4791-BF2A-1A6587607E39}"/>
              </a:ext>
            </a:extLst>
          </p:cNvPr>
          <p:cNvSpPr/>
          <p:nvPr/>
        </p:nvSpPr>
        <p:spPr>
          <a:xfrm>
            <a:off x="4268416" y="3394795"/>
            <a:ext cx="1208985" cy="369332"/>
          </a:xfrm>
          <a:prstGeom prst="rect">
            <a:avLst/>
          </a:prstGeom>
        </p:spPr>
        <p:txBody>
          <a:bodyPr wrap="none">
            <a:spAutoFit/>
          </a:bodyPr>
          <a:lstStyle/>
          <a:p>
            <a:r>
              <a:rPr lang="en-US" altLang="zh-TW" dirty="0">
                <a:solidFill>
                  <a:srgbClr val="0070C0"/>
                </a:solidFill>
                <a:cs typeface="Times New Roman" panose="02020603050405020304" pitchFamily="18" charset="0"/>
              </a:rPr>
              <a:t>[2:3]&amp;[4:6]</a:t>
            </a:r>
            <a:endParaRPr lang="zh-TW" altLang="en-US" dirty="0">
              <a:solidFill>
                <a:srgbClr val="0070C0"/>
              </a:solidFill>
            </a:endParaRPr>
          </a:p>
        </p:txBody>
      </p:sp>
      <p:sp>
        <p:nvSpPr>
          <p:cNvPr id="38" name="矩形 37">
            <a:extLst>
              <a:ext uri="{FF2B5EF4-FFF2-40B4-BE49-F238E27FC236}">
                <a16:creationId xmlns:a16="http://schemas.microsoft.com/office/drawing/2014/main" id="{CE048BC7-3A39-4194-ADD5-025E07717BCA}"/>
              </a:ext>
            </a:extLst>
          </p:cNvPr>
          <p:cNvSpPr/>
          <p:nvPr/>
        </p:nvSpPr>
        <p:spPr>
          <a:xfrm>
            <a:off x="4268416" y="4908477"/>
            <a:ext cx="1217000" cy="369332"/>
          </a:xfrm>
          <a:prstGeom prst="rect">
            <a:avLst/>
          </a:prstGeom>
        </p:spPr>
        <p:txBody>
          <a:bodyPr wrap="none">
            <a:spAutoFit/>
          </a:bodyPr>
          <a:lstStyle/>
          <a:p>
            <a:r>
              <a:rPr lang="en-US" altLang="zh-TW" dirty="0">
                <a:solidFill>
                  <a:srgbClr val="0070C0"/>
                </a:solidFill>
                <a:cs typeface="Times New Roman" panose="02020603050405020304" pitchFamily="18" charset="0"/>
              </a:rPr>
              <a:t>[1:2]&amp;[3:3]</a:t>
            </a:r>
            <a:endParaRPr lang="zh-TW" altLang="en-US" dirty="0">
              <a:solidFill>
                <a:srgbClr val="0070C0"/>
              </a:solidFill>
            </a:endParaRPr>
          </a:p>
        </p:txBody>
      </p:sp>
      <p:sp>
        <p:nvSpPr>
          <p:cNvPr id="39" name="標題 1">
            <a:extLst>
              <a:ext uri="{FF2B5EF4-FFF2-40B4-BE49-F238E27FC236}">
                <a16:creationId xmlns:a16="http://schemas.microsoft.com/office/drawing/2014/main" id="{DCB76C98-DA06-4FC1-9BB8-618144836E32}"/>
              </a:ext>
            </a:extLst>
          </p:cNvPr>
          <p:cNvSpPr txBox="1">
            <a:spLocks/>
          </p:cNvSpPr>
          <p:nvPr/>
        </p:nvSpPr>
        <p:spPr>
          <a:xfrm>
            <a:off x="421726" y="1164688"/>
            <a:ext cx="3224195"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latin typeface="Times New Roman" panose="02020603050405020304" pitchFamily="18" charset="0"/>
                <a:cs typeface="Times New Roman" panose="02020603050405020304" pitchFamily="18" charset="0"/>
              </a:rPr>
              <a:t>String S = </a:t>
            </a:r>
            <a:r>
              <a:rPr lang="en-US" altLang="zh-TW" sz="2000" dirty="0">
                <a:latin typeface="Arial Black" panose="020B0A04020102020204" pitchFamily="34" charset="0"/>
                <a:cs typeface="Times New Roman" panose="02020603050405020304" pitchFamily="18" charset="0"/>
              </a:rPr>
              <a:t>1234567</a:t>
            </a:r>
            <a:endParaRPr lang="zh-TW" altLang="en-US" sz="2400" dirty="0"/>
          </a:p>
        </p:txBody>
      </p:sp>
    </p:spTree>
    <p:extLst>
      <p:ext uri="{BB962C8B-B14F-4D97-AF65-F5344CB8AC3E}">
        <p14:creationId xmlns:p14="http://schemas.microsoft.com/office/powerpoint/2010/main" val="82881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500"/>
                                        <p:tgtEl>
                                          <p:spTgt spid="19"/>
                                        </p:tgtEl>
                                      </p:cBhvr>
                                    </p:animEffect>
                                  </p:childTnLst>
                                </p:cTn>
                              </p:par>
                              <p:par>
                                <p:cTn id="20" presetID="10" presetClass="entr" presetSubtype="0" fill="hold" grpId="0" nodeType="withEffect" nodePh="1">
                                  <p:stCondLst>
                                    <p:cond delay="0"/>
                                  </p:stCondLst>
                                  <p:endCondLst>
                                    <p:cond evt="begin" delay="0">
                                      <p:tn val="20"/>
                                    </p:cond>
                                  </p:end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4"/>
                                        </p:tgtEl>
                                        <p:attrNameLst>
                                          <p:attrName>style.visibility</p:attrName>
                                        </p:attrNameLst>
                                      </p:cBhvr>
                                      <p:to>
                                        <p:strVal val="visible"/>
                                      </p:to>
                                    </p:set>
                                    <p:animEffect transition="in" filter="fade">
                                      <p:cBhvr>
                                        <p:cTn id="25" dur="500"/>
                                        <p:tgtEl>
                                          <p:spTgt spid="3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5"/>
                                        </p:tgtEl>
                                        <p:attrNameLst>
                                          <p:attrName>style.visibility</p:attrName>
                                        </p:attrNameLst>
                                      </p:cBhvr>
                                      <p:to>
                                        <p:strVal val="visible"/>
                                      </p:to>
                                    </p:set>
                                    <p:animEffect transition="in" filter="fade">
                                      <p:cBhvr>
                                        <p:cTn id="28" dur="500"/>
                                        <p:tgtEl>
                                          <p:spTgt spid="3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6"/>
                                        </p:tgtEl>
                                        <p:attrNameLst>
                                          <p:attrName>style.visibility</p:attrName>
                                        </p:attrNameLst>
                                      </p:cBhvr>
                                      <p:to>
                                        <p:strVal val="visible"/>
                                      </p:to>
                                    </p:set>
                                    <p:animEffect transition="in" filter="fade">
                                      <p:cBhvr>
                                        <p:cTn id="31" dur="500"/>
                                        <p:tgtEl>
                                          <p:spTgt spid="3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8"/>
                                        </p:tgtEl>
                                        <p:attrNameLst>
                                          <p:attrName>style.visibility</p:attrName>
                                        </p:attrNameLst>
                                      </p:cBhvr>
                                      <p:to>
                                        <p:strVal val="visible"/>
                                      </p:to>
                                    </p:set>
                                    <p:animEffect transition="in" filter="fade">
                                      <p:cBhvr>
                                        <p:cTn id="34"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2" grpId="0"/>
      <p:bldP spid="19" grpId="0"/>
      <p:bldP spid="20" grpId="0"/>
      <p:bldP spid="34" grpId="0"/>
      <p:bldP spid="35" grpId="0"/>
      <p:bldP spid="36" grpId="0"/>
      <p:bldP spid="3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222F4ADD-F9DA-4202-A4ED-239132DE7250}"/>
              </a:ext>
            </a:extLst>
          </p:cNvPr>
          <p:cNvSpPr>
            <a:spLocks noGrp="1"/>
          </p:cNvSpPr>
          <p:nvPr>
            <p:ph type="sldNum" sz="quarter" idx="12"/>
          </p:nvPr>
        </p:nvSpPr>
        <p:spPr/>
        <p:txBody>
          <a:bodyPr/>
          <a:lstStyle/>
          <a:p>
            <a:fld id="{872633CA-77E0-4863-94F8-E28139DFB2B4}" type="slidenum">
              <a:rPr lang="zh-TW" altLang="en-US" smtClean="0"/>
              <a:t>4</a:t>
            </a:fld>
            <a:endParaRPr lang="zh-TW" altLang="en-US"/>
          </a:p>
        </p:txBody>
      </p:sp>
      <p:sp>
        <p:nvSpPr>
          <p:cNvPr id="5" name="標題 1">
            <a:extLst>
              <a:ext uri="{FF2B5EF4-FFF2-40B4-BE49-F238E27FC236}">
                <a16:creationId xmlns:a16="http://schemas.microsoft.com/office/drawing/2014/main" id="{FEF0B28A-BF0C-4AED-8461-CBEAD77D334D}"/>
              </a:ext>
            </a:extLst>
          </p:cNvPr>
          <p:cNvSpPr txBox="1">
            <a:spLocks/>
          </p:cNvSpPr>
          <p:nvPr/>
        </p:nvSpPr>
        <p:spPr>
          <a:xfrm>
            <a:off x="402232" y="385081"/>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Definition</a:t>
            </a:r>
            <a:endParaRPr lang="zh-TW" altLang="en-US" sz="3200" dirty="0">
              <a:latin typeface="Times New Roman" panose="02020603050405020304" pitchFamily="18" charset="0"/>
              <a:cs typeface="Times New Roman" panose="02020603050405020304" pitchFamily="18" charset="0"/>
            </a:endParaRPr>
          </a:p>
        </p:txBody>
      </p:sp>
      <p:sp>
        <p:nvSpPr>
          <p:cNvPr id="6" name="標題 1">
            <a:extLst>
              <a:ext uri="{FF2B5EF4-FFF2-40B4-BE49-F238E27FC236}">
                <a16:creationId xmlns:a16="http://schemas.microsoft.com/office/drawing/2014/main" id="{0F3C0B7C-940A-432F-87F9-1764B2F5AAB7}"/>
              </a:ext>
            </a:extLst>
          </p:cNvPr>
          <p:cNvSpPr txBox="1">
            <a:spLocks/>
          </p:cNvSpPr>
          <p:nvPr/>
        </p:nvSpPr>
        <p:spPr>
          <a:xfrm>
            <a:off x="402232" y="1018740"/>
            <a:ext cx="7433086" cy="583367"/>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50000"/>
              </a:lnSpc>
              <a:buFont typeface="Arial" panose="020B0604020202020204" pitchFamily="34" charset="0"/>
              <a:buChar char="•"/>
            </a:pPr>
            <a:r>
              <a:rPr lang="en-US" altLang="zh-TW" sz="2400" b="1" dirty="0">
                <a:latin typeface="Times New Roman" panose="02020603050405020304" pitchFamily="18" charset="0"/>
                <a:cs typeface="Times New Roman" panose="02020603050405020304" pitchFamily="18" charset="0"/>
              </a:rPr>
              <a:t>Sorting by prefix transposition problem:</a:t>
            </a:r>
            <a:endParaRPr lang="en-US" altLang="zh-TW" sz="2000" b="1" dirty="0">
              <a:latin typeface="Times New Roman" panose="02020603050405020304" pitchFamily="18" charset="0"/>
              <a:cs typeface="Times New Roman" panose="02020603050405020304" pitchFamily="18" charset="0"/>
            </a:endParaRPr>
          </a:p>
        </p:txBody>
      </p:sp>
      <p:sp>
        <p:nvSpPr>
          <p:cNvPr id="7" name="標題 1">
            <a:extLst>
              <a:ext uri="{FF2B5EF4-FFF2-40B4-BE49-F238E27FC236}">
                <a16:creationId xmlns:a16="http://schemas.microsoft.com/office/drawing/2014/main" id="{1D0B8089-E02C-46D6-9568-16866AFA14A0}"/>
              </a:ext>
            </a:extLst>
          </p:cNvPr>
          <p:cNvSpPr txBox="1">
            <a:spLocks/>
          </p:cNvSpPr>
          <p:nvPr/>
        </p:nvSpPr>
        <p:spPr>
          <a:xfrm>
            <a:off x="665395" y="2546127"/>
            <a:ext cx="2578872" cy="1000403"/>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altLang="zh-TW" sz="2400" spc="600" dirty="0">
                <a:latin typeface="Arial Black" panose="020B0A04020102020204" pitchFamily="34" charset="0"/>
                <a:cs typeface="Times New Roman" panose="02020603050405020304" pitchFamily="18" charset="0"/>
              </a:rPr>
              <a:t>S:7341256</a:t>
            </a:r>
          </a:p>
          <a:p>
            <a:pPr>
              <a:lnSpc>
                <a:spcPct val="100000"/>
              </a:lnSpc>
            </a:pPr>
            <a:r>
              <a:rPr lang="en-US" altLang="zh-TW" sz="2400" spc="600" dirty="0">
                <a:latin typeface="Arial Black" panose="020B0A04020102020204" pitchFamily="34" charset="0"/>
                <a:cs typeface="Times New Roman" panose="02020603050405020304" pitchFamily="18" charset="0"/>
              </a:rPr>
              <a:t>T:1234567</a:t>
            </a:r>
          </a:p>
        </p:txBody>
      </p:sp>
      <p:sp>
        <p:nvSpPr>
          <p:cNvPr id="21" name="標題 1">
            <a:extLst>
              <a:ext uri="{FF2B5EF4-FFF2-40B4-BE49-F238E27FC236}">
                <a16:creationId xmlns:a16="http://schemas.microsoft.com/office/drawing/2014/main" id="{67F3F23E-4AF8-4F66-B999-49955B7D8ED1}"/>
              </a:ext>
            </a:extLst>
          </p:cNvPr>
          <p:cNvSpPr txBox="1">
            <a:spLocks/>
          </p:cNvSpPr>
          <p:nvPr/>
        </p:nvSpPr>
        <p:spPr>
          <a:xfrm>
            <a:off x="402232" y="4234627"/>
            <a:ext cx="2141546"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spc="600" dirty="0">
                <a:latin typeface="Arial Black" panose="020B0A04020102020204" pitchFamily="34" charset="0"/>
                <a:cs typeface="Times New Roman" panose="02020603050405020304" pitchFamily="18" charset="0"/>
              </a:rPr>
              <a:t>7</a:t>
            </a:r>
            <a:r>
              <a:rPr lang="en-US" altLang="zh-TW" sz="2400" spc="600" dirty="0">
                <a:solidFill>
                  <a:srgbClr val="FF0000"/>
                </a:solidFill>
                <a:latin typeface="Arial Black" panose="020B0A04020102020204" pitchFamily="34" charset="0"/>
                <a:cs typeface="Times New Roman" panose="02020603050405020304" pitchFamily="18" charset="0"/>
              </a:rPr>
              <a:t>34</a:t>
            </a:r>
            <a:r>
              <a:rPr lang="en-US" altLang="zh-TW" sz="2400" spc="600" dirty="0">
                <a:solidFill>
                  <a:srgbClr val="00B050"/>
                </a:solidFill>
                <a:latin typeface="Arial Black" panose="020B0A04020102020204" pitchFamily="34" charset="0"/>
                <a:cs typeface="Times New Roman" panose="02020603050405020304" pitchFamily="18" charset="0"/>
              </a:rPr>
              <a:t>12</a:t>
            </a:r>
            <a:r>
              <a:rPr lang="en-US" altLang="zh-TW" sz="2400" spc="600" dirty="0">
                <a:latin typeface="Arial Black" panose="020B0A04020102020204" pitchFamily="34" charset="0"/>
                <a:cs typeface="Times New Roman" panose="02020603050405020304" pitchFamily="18" charset="0"/>
              </a:rPr>
              <a:t>56</a:t>
            </a:r>
          </a:p>
        </p:txBody>
      </p:sp>
      <p:sp>
        <p:nvSpPr>
          <p:cNvPr id="23" name="標題 1">
            <a:extLst>
              <a:ext uri="{FF2B5EF4-FFF2-40B4-BE49-F238E27FC236}">
                <a16:creationId xmlns:a16="http://schemas.microsoft.com/office/drawing/2014/main" id="{9400C180-C1E6-4974-A146-C58E6D5C05E4}"/>
              </a:ext>
            </a:extLst>
          </p:cNvPr>
          <p:cNvSpPr txBox="1">
            <a:spLocks/>
          </p:cNvSpPr>
          <p:nvPr/>
        </p:nvSpPr>
        <p:spPr>
          <a:xfrm>
            <a:off x="3388711" y="4236388"/>
            <a:ext cx="2141545"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spc="600" dirty="0">
                <a:solidFill>
                  <a:srgbClr val="FF0000"/>
                </a:solidFill>
                <a:latin typeface="Arial Black" panose="020B0A04020102020204" pitchFamily="34" charset="0"/>
                <a:cs typeface="Times New Roman" panose="02020603050405020304" pitchFamily="18" charset="0"/>
              </a:rPr>
              <a:t>7</a:t>
            </a:r>
            <a:r>
              <a:rPr lang="en-US" altLang="zh-TW" sz="2400" spc="600" dirty="0">
                <a:solidFill>
                  <a:srgbClr val="00B050"/>
                </a:solidFill>
                <a:latin typeface="Arial Black" panose="020B0A04020102020204" pitchFamily="34" charset="0"/>
                <a:cs typeface="Times New Roman" panose="02020603050405020304" pitchFamily="18" charset="0"/>
              </a:rPr>
              <a:t>123456</a:t>
            </a:r>
          </a:p>
        </p:txBody>
      </p:sp>
      <p:sp>
        <p:nvSpPr>
          <p:cNvPr id="24" name="標題 1">
            <a:extLst>
              <a:ext uri="{FF2B5EF4-FFF2-40B4-BE49-F238E27FC236}">
                <a16:creationId xmlns:a16="http://schemas.microsoft.com/office/drawing/2014/main" id="{82548EE8-90AB-460C-BBD7-34E993EE61DA}"/>
              </a:ext>
            </a:extLst>
          </p:cNvPr>
          <p:cNvSpPr txBox="1">
            <a:spLocks/>
          </p:cNvSpPr>
          <p:nvPr/>
        </p:nvSpPr>
        <p:spPr>
          <a:xfrm>
            <a:off x="3343363" y="5305622"/>
            <a:ext cx="2141545"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spc="600" dirty="0">
                <a:latin typeface="Arial Black" panose="020B0A04020102020204" pitchFamily="34" charset="0"/>
                <a:cs typeface="Times New Roman" panose="02020603050405020304" pitchFamily="18" charset="0"/>
              </a:rPr>
              <a:t>1234567</a:t>
            </a:r>
          </a:p>
        </p:txBody>
      </p:sp>
      <p:cxnSp>
        <p:nvCxnSpPr>
          <p:cNvPr id="25" name="直線單箭頭接點 24">
            <a:extLst>
              <a:ext uri="{FF2B5EF4-FFF2-40B4-BE49-F238E27FC236}">
                <a16:creationId xmlns:a16="http://schemas.microsoft.com/office/drawing/2014/main" id="{ACB9385B-46FA-4A9A-8CDD-3FE2EBA52F6F}"/>
              </a:ext>
            </a:extLst>
          </p:cNvPr>
          <p:cNvCxnSpPr>
            <a:cxnSpLocks/>
          </p:cNvCxnSpPr>
          <p:nvPr/>
        </p:nvCxnSpPr>
        <p:spPr>
          <a:xfrm>
            <a:off x="2533815" y="4528072"/>
            <a:ext cx="729502"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25">
            <a:extLst>
              <a:ext uri="{FF2B5EF4-FFF2-40B4-BE49-F238E27FC236}">
                <a16:creationId xmlns:a16="http://schemas.microsoft.com/office/drawing/2014/main" id="{55D16D6A-EE36-4285-ABA0-F65688DAE25C}"/>
              </a:ext>
            </a:extLst>
          </p:cNvPr>
          <p:cNvCxnSpPr>
            <a:cxnSpLocks/>
          </p:cNvCxnSpPr>
          <p:nvPr/>
        </p:nvCxnSpPr>
        <p:spPr>
          <a:xfrm>
            <a:off x="2514765" y="5608642"/>
            <a:ext cx="729502"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7" name="標題 1">
            <a:extLst>
              <a:ext uri="{FF2B5EF4-FFF2-40B4-BE49-F238E27FC236}">
                <a16:creationId xmlns:a16="http://schemas.microsoft.com/office/drawing/2014/main" id="{05D12551-58E3-4B0A-8D05-018F694468D0}"/>
              </a:ext>
            </a:extLst>
          </p:cNvPr>
          <p:cNvSpPr txBox="1">
            <a:spLocks/>
          </p:cNvSpPr>
          <p:nvPr/>
        </p:nvSpPr>
        <p:spPr>
          <a:xfrm>
            <a:off x="2669173" y="4022421"/>
            <a:ext cx="258586" cy="43683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1800" b="1" spc="600" dirty="0">
                <a:solidFill>
                  <a:srgbClr val="0070C0"/>
                </a:solidFill>
                <a:latin typeface="Times New Roman" panose="02020603050405020304" pitchFamily="18" charset="0"/>
                <a:cs typeface="Times New Roman" panose="02020603050405020304" pitchFamily="18" charset="0"/>
              </a:rPr>
              <a:t>1</a:t>
            </a:r>
          </a:p>
        </p:txBody>
      </p:sp>
      <p:sp>
        <p:nvSpPr>
          <p:cNvPr id="28" name="標題 1">
            <a:extLst>
              <a:ext uri="{FF2B5EF4-FFF2-40B4-BE49-F238E27FC236}">
                <a16:creationId xmlns:a16="http://schemas.microsoft.com/office/drawing/2014/main" id="{23B402D1-4F94-4803-840E-B5AFBF72B2F6}"/>
              </a:ext>
            </a:extLst>
          </p:cNvPr>
          <p:cNvSpPr txBox="1">
            <a:spLocks/>
          </p:cNvSpPr>
          <p:nvPr/>
        </p:nvSpPr>
        <p:spPr>
          <a:xfrm>
            <a:off x="2750223" y="5091655"/>
            <a:ext cx="258586" cy="43683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1800" b="1" spc="600" dirty="0">
                <a:solidFill>
                  <a:srgbClr val="0070C0"/>
                </a:solidFill>
                <a:latin typeface="Times New Roman" panose="02020603050405020304" pitchFamily="18" charset="0"/>
                <a:cs typeface="Times New Roman" panose="02020603050405020304" pitchFamily="18" charset="0"/>
              </a:rPr>
              <a:t>2</a:t>
            </a:r>
          </a:p>
        </p:txBody>
      </p:sp>
      <p:sp>
        <p:nvSpPr>
          <p:cNvPr id="29" name="矩形 28">
            <a:extLst>
              <a:ext uri="{FF2B5EF4-FFF2-40B4-BE49-F238E27FC236}">
                <a16:creationId xmlns:a16="http://schemas.microsoft.com/office/drawing/2014/main" id="{A5A6FC62-8B98-400E-A19A-29A701774201}"/>
              </a:ext>
            </a:extLst>
          </p:cNvPr>
          <p:cNvSpPr/>
          <p:nvPr/>
        </p:nvSpPr>
        <p:spPr>
          <a:xfrm>
            <a:off x="665395" y="1597978"/>
            <a:ext cx="6906760" cy="892552"/>
          </a:xfrm>
          <a:prstGeom prst="rect">
            <a:avLst/>
          </a:prstGeom>
        </p:spPr>
        <p:txBody>
          <a:bodyPr wrap="square">
            <a:spAutoFit/>
          </a:bodyPr>
          <a:lstStyle/>
          <a:p>
            <a:pPr>
              <a:lnSpc>
                <a:spcPct val="150000"/>
              </a:lnSpc>
            </a:pPr>
            <a:r>
              <a:rPr lang="en-US" altLang="zh-TW" sz="2000" dirty="0">
                <a:latin typeface="Times New Roman" panose="02020603050405020304" pitchFamily="18" charset="0"/>
                <a:cs typeface="Times New Roman" panose="02020603050405020304" pitchFamily="18" charset="0"/>
              </a:rPr>
              <a:t>find </a:t>
            </a:r>
            <a:r>
              <a:rPr lang="en-US" altLang="zh-TW" sz="2000" dirty="0">
                <a:solidFill>
                  <a:srgbClr val="0070C0"/>
                </a:solidFill>
                <a:latin typeface="Times New Roman" panose="02020603050405020304" pitchFamily="18" charset="0"/>
                <a:cs typeface="Times New Roman" panose="02020603050405020304" pitchFamily="18" charset="0"/>
              </a:rPr>
              <a:t>minimum number </a:t>
            </a:r>
            <a:r>
              <a:rPr lang="en-US" altLang="zh-TW" sz="2000" dirty="0" smtClean="0">
                <a:solidFill>
                  <a:srgbClr val="0070C0"/>
                </a:solidFill>
                <a:latin typeface="Times New Roman" panose="02020603050405020304" pitchFamily="18" charset="0"/>
                <a:cs typeface="Times New Roman" panose="02020603050405020304" pitchFamily="18" charset="0"/>
              </a:rPr>
              <a:t>of </a:t>
            </a:r>
            <a:r>
              <a:rPr lang="en-US" altLang="zh-TW" sz="2000" dirty="0">
                <a:solidFill>
                  <a:srgbClr val="0070C0"/>
                </a:solidFill>
                <a:latin typeface="Times New Roman" panose="02020603050405020304" pitchFamily="18" charset="0"/>
                <a:cs typeface="Times New Roman" panose="02020603050405020304" pitchFamily="18" charset="0"/>
              </a:rPr>
              <a:t>transpositions </a:t>
            </a:r>
            <a:r>
              <a:rPr lang="en-US" altLang="zh-TW" sz="2000" dirty="0">
                <a:latin typeface="Times New Roman" panose="02020603050405020304" pitchFamily="18" charset="0"/>
                <a:cs typeface="Times New Roman" panose="02020603050405020304" pitchFamily="18" charset="0"/>
              </a:rPr>
              <a:t>required to</a:t>
            </a:r>
          </a:p>
          <a:p>
            <a:pPr>
              <a:lnSpc>
                <a:spcPct val="110000"/>
              </a:lnSpc>
            </a:pPr>
            <a:r>
              <a:rPr lang="en-US" altLang="zh-TW" sz="2000" dirty="0">
                <a:latin typeface="Times New Roman" panose="02020603050405020304" pitchFamily="18" charset="0"/>
                <a:cs typeface="Times New Roman" panose="02020603050405020304" pitchFamily="18" charset="0"/>
              </a:rPr>
              <a:t>transform given permutation(S) to the identity permutation(T)</a:t>
            </a:r>
          </a:p>
        </p:txBody>
      </p:sp>
      <p:sp>
        <p:nvSpPr>
          <p:cNvPr id="2" name="文字方塊 1"/>
          <p:cNvSpPr txBox="1"/>
          <p:nvPr/>
        </p:nvSpPr>
        <p:spPr>
          <a:xfrm>
            <a:off x="2430763" y="5984879"/>
            <a:ext cx="2979506" cy="400110"/>
          </a:xfrm>
          <a:prstGeom prst="rect">
            <a:avLst/>
          </a:prstGeom>
          <a:noFill/>
        </p:spPr>
        <p:txBody>
          <a:bodyPr wrap="square" rtlCol="0">
            <a:spAutoFit/>
          </a:bodyPr>
          <a:lstStyle/>
          <a:p>
            <a:r>
              <a:rPr lang="en-US" altLang="zh-TW" sz="2000" dirty="0" smtClean="0">
                <a:latin typeface="Times New Roman" panose="02020603050405020304" pitchFamily="18" charset="0"/>
                <a:cs typeface="Times New Roman" panose="02020603050405020304" pitchFamily="18" charset="0"/>
              </a:rPr>
              <a:t>2 times of </a:t>
            </a:r>
            <a:r>
              <a:rPr lang="en-US" altLang="zh-TW" sz="2000" dirty="0" err="1" smtClean="0">
                <a:latin typeface="Times New Roman" panose="02020603050405020304" pitchFamily="18" charset="0"/>
                <a:cs typeface="Times New Roman" panose="02020603050405020304" pitchFamily="18" charset="0"/>
              </a:rPr>
              <a:t>transpositons</a:t>
            </a:r>
            <a:endParaRPr lang="zh-TW"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16653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222F4ADD-F9DA-4202-A4ED-239132DE7250}"/>
              </a:ext>
            </a:extLst>
          </p:cNvPr>
          <p:cNvSpPr>
            <a:spLocks noGrp="1"/>
          </p:cNvSpPr>
          <p:nvPr>
            <p:ph type="sldNum" sz="quarter" idx="12"/>
          </p:nvPr>
        </p:nvSpPr>
        <p:spPr/>
        <p:txBody>
          <a:bodyPr/>
          <a:lstStyle/>
          <a:p>
            <a:fld id="{872633CA-77E0-4863-94F8-E28139DFB2B4}" type="slidenum">
              <a:rPr lang="zh-TW" altLang="en-US" smtClean="0"/>
              <a:t>5</a:t>
            </a:fld>
            <a:endParaRPr lang="zh-TW" altLang="en-US"/>
          </a:p>
        </p:txBody>
      </p:sp>
      <p:sp>
        <p:nvSpPr>
          <p:cNvPr id="5" name="標題 1">
            <a:extLst>
              <a:ext uri="{FF2B5EF4-FFF2-40B4-BE49-F238E27FC236}">
                <a16:creationId xmlns:a16="http://schemas.microsoft.com/office/drawing/2014/main" id="{FEF0B28A-BF0C-4AED-8461-CBEAD77D334D}"/>
              </a:ext>
            </a:extLst>
          </p:cNvPr>
          <p:cNvSpPr txBox="1">
            <a:spLocks/>
          </p:cNvSpPr>
          <p:nvPr/>
        </p:nvSpPr>
        <p:spPr>
          <a:xfrm>
            <a:off x="402232" y="385081"/>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Definition (this paper)</a:t>
            </a:r>
            <a:endParaRPr lang="zh-TW" altLang="en-US" sz="3200" dirty="0">
              <a:latin typeface="Times New Roman" panose="02020603050405020304" pitchFamily="18" charset="0"/>
              <a:cs typeface="Times New Roman" panose="02020603050405020304" pitchFamily="18" charset="0"/>
            </a:endParaRPr>
          </a:p>
        </p:txBody>
      </p:sp>
      <p:sp>
        <p:nvSpPr>
          <p:cNvPr id="13" name="標題 1">
            <a:extLst>
              <a:ext uri="{FF2B5EF4-FFF2-40B4-BE49-F238E27FC236}">
                <a16:creationId xmlns:a16="http://schemas.microsoft.com/office/drawing/2014/main" id="{2734FEC1-EF0D-4C7D-A643-91162D4CFD3C}"/>
              </a:ext>
            </a:extLst>
          </p:cNvPr>
          <p:cNvSpPr txBox="1">
            <a:spLocks/>
          </p:cNvSpPr>
          <p:nvPr/>
        </p:nvSpPr>
        <p:spPr>
          <a:xfrm>
            <a:off x="402232" y="2464115"/>
            <a:ext cx="7351508" cy="10308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00000"/>
              </a:lnSpc>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After prefix transposition, string needs to be reduced as </a:t>
            </a:r>
            <a:r>
              <a:rPr lang="en-US" altLang="zh-TW" sz="2400" b="1" dirty="0">
                <a:latin typeface="Times New Roman" panose="02020603050405020304" pitchFamily="18" charset="0"/>
                <a:cs typeface="Times New Roman" panose="02020603050405020304" pitchFamily="18" charset="0"/>
              </a:rPr>
              <a:t>normalized string. </a:t>
            </a:r>
            <a:r>
              <a:rPr lang="en-US" altLang="zh-TW" sz="2400" b="1" dirty="0" smtClean="0">
                <a:latin typeface="標楷體" panose="03000509000000000000" pitchFamily="65" charset="-120"/>
                <a:ea typeface="標楷體" panose="03000509000000000000" pitchFamily="65" charset="-120"/>
                <a:cs typeface="Times New Roman" panose="02020603050405020304" pitchFamily="18" charset="0"/>
              </a:rPr>
              <a:t>(</a:t>
            </a:r>
            <a:r>
              <a:rPr lang="zh-TW" altLang="en-US" sz="2400" b="1" dirty="0" smtClean="0">
                <a:latin typeface="標楷體" panose="03000509000000000000" pitchFamily="65" charset="-120"/>
                <a:ea typeface="標楷體" panose="03000509000000000000" pitchFamily="65" charset="-120"/>
                <a:cs typeface="Times New Roman" panose="02020603050405020304" pitchFamily="18" charset="0"/>
              </a:rPr>
              <a:t>相鄰字元合併成一個字元</a:t>
            </a:r>
            <a:r>
              <a:rPr lang="en-US" altLang="zh-TW" sz="2400" b="1" dirty="0" smtClean="0">
                <a:latin typeface="標楷體" panose="03000509000000000000" pitchFamily="65" charset="-120"/>
                <a:ea typeface="標楷體" panose="03000509000000000000" pitchFamily="65" charset="-120"/>
                <a:cs typeface="Times New Roman" panose="02020603050405020304" pitchFamily="18" charset="0"/>
              </a:rPr>
              <a:t>)</a:t>
            </a:r>
            <a:endParaRPr lang="en-US" altLang="zh-TW" sz="2400" b="1" dirty="0">
              <a:latin typeface="標楷體" panose="03000509000000000000" pitchFamily="65" charset="-120"/>
              <a:ea typeface="標楷體" panose="03000509000000000000" pitchFamily="65"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 name="標題 1">
                <a:extLst>
                  <a:ext uri="{FF2B5EF4-FFF2-40B4-BE49-F238E27FC236}">
                    <a16:creationId xmlns:a16="http://schemas.microsoft.com/office/drawing/2014/main" id="{348C44DB-0C33-44EA-92F4-9EA8D6D4B606}"/>
                  </a:ext>
                </a:extLst>
              </p:cNvPr>
              <p:cNvSpPr txBox="1">
                <a:spLocks/>
              </p:cNvSpPr>
              <p:nvPr/>
            </p:nvSpPr>
            <p:spPr>
              <a:xfrm>
                <a:off x="762000" y="4984471"/>
                <a:ext cx="5695950" cy="811308"/>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14:m>
                  <m:oMath xmlns:m="http://schemas.openxmlformats.org/officeDocument/2006/math">
                    <m:sSub>
                      <m:sSubPr>
                        <m:ctrlPr>
                          <a:rPr lang="en-US" altLang="zh-TW" sz="2400" b="0" i="1" smtClean="0">
                            <a:latin typeface="Cambria Math" panose="02040503050406030204" pitchFamily="18" charset="0"/>
                            <a:cs typeface="Times New Roman" panose="02020603050405020304" pitchFamily="18" charset="0"/>
                          </a:rPr>
                        </m:ctrlPr>
                      </m:sSubPr>
                      <m:e>
                        <m:r>
                          <a:rPr lang="en-US" altLang="zh-TW" sz="2400" b="0" i="1" smtClean="0">
                            <a:latin typeface="Cambria Math" panose="02040503050406030204" pitchFamily="18" charset="0"/>
                            <a:cs typeface="Times New Roman" panose="02020603050405020304" pitchFamily="18" charset="0"/>
                          </a:rPr>
                          <m:t>𝑠</m:t>
                        </m:r>
                      </m:e>
                      <m:sub>
                        <m:r>
                          <a:rPr lang="en-US" altLang="zh-TW" sz="2400" b="0" i="1" smtClean="0">
                            <a:latin typeface="Cambria Math" panose="02040503050406030204" pitchFamily="18" charset="0"/>
                            <a:cs typeface="Times New Roman" panose="02020603050405020304" pitchFamily="18" charset="0"/>
                          </a:rPr>
                          <m:t>1</m:t>
                        </m:r>
                      </m:sub>
                    </m:sSub>
                    <m:r>
                      <a:rPr lang="en-US" altLang="zh-TW" sz="2400" b="0" i="1" smtClean="0">
                        <a:latin typeface="Cambria Math" panose="02040503050406030204" pitchFamily="18" charset="0"/>
                        <a:cs typeface="Times New Roman" panose="02020603050405020304" pitchFamily="18" charset="0"/>
                      </a:rPr>
                      <m:t>=</m:t>
                    </m:r>
                  </m:oMath>
                </a14:m>
                <a:r>
                  <a:rPr lang="en-US" altLang="zh-TW" sz="2400" b="0" i="0" spc="600" dirty="0">
                    <a:solidFill>
                      <a:srgbClr val="FF0000"/>
                    </a:solidFill>
                    <a:latin typeface="Times New Roman" panose="02020603050405020304" pitchFamily="18" charset="0"/>
                    <a:cs typeface="Times New Roman" panose="02020603050405020304" pitchFamily="18" charset="0"/>
                  </a:rPr>
                  <a:t>10</a:t>
                </a:r>
                <a:r>
                  <a:rPr lang="en-US" altLang="zh-TW" sz="2400" b="0" i="0" spc="600" dirty="0">
                    <a:solidFill>
                      <a:srgbClr val="00B050"/>
                    </a:solidFill>
                    <a:latin typeface="Times New Roman" panose="02020603050405020304" pitchFamily="18" charset="0"/>
                    <a:cs typeface="Times New Roman" panose="02020603050405020304" pitchFamily="18" charset="0"/>
                  </a:rPr>
                  <a:t>101</a:t>
                </a:r>
                <a:r>
                  <a:rPr lang="en-US" altLang="zh-TW" sz="2400" b="0" i="0" spc="600" dirty="0">
                    <a:latin typeface="Times New Roman" panose="02020603050405020304" pitchFamily="18" charset="0"/>
                    <a:cs typeface="Times New Roman" panose="02020603050405020304" pitchFamily="18" charset="0"/>
                  </a:rPr>
                  <a:t>01</a:t>
                </a:r>
                <a14:m>
                  <m:oMath xmlns:m="http://schemas.openxmlformats.org/officeDocument/2006/math">
                    <m:r>
                      <a:rPr lang="en-US" altLang="zh-TW" sz="2400" b="1" i="1" smtClean="0">
                        <a:latin typeface="Cambria Math" panose="02040503050406030204" pitchFamily="18" charset="0"/>
                        <a:cs typeface="Times New Roman" panose="02020603050405020304" pitchFamily="18" charset="0"/>
                      </a:rPr>
                      <m:t>, </m:t>
                    </m:r>
                  </m:oMath>
                </a14:m>
                <a:r>
                  <a:rPr lang="en-US" altLang="zh-TW" sz="2000"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2000" b="1" i="1">
                        <a:latin typeface="Cambria Math" panose="02040503050406030204" pitchFamily="18" charset="0"/>
                        <a:cs typeface="Times New Roman" panose="02020603050405020304" pitchFamily="18" charset="0"/>
                      </a:rPr>
                      <m:t>𝒇</m:t>
                    </m:r>
                    <m:d>
                      <m:dPr>
                        <m:ctrlPr>
                          <a:rPr lang="en-US" altLang="zh-TW" sz="2000" b="1" i="1">
                            <a:latin typeface="Cambria Math" panose="02040503050406030204" pitchFamily="18" charset="0"/>
                            <a:cs typeface="Times New Roman" panose="02020603050405020304" pitchFamily="18" charset="0"/>
                          </a:rPr>
                        </m:ctrlPr>
                      </m:dPr>
                      <m:e>
                        <m:r>
                          <a:rPr lang="en-US" altLang="zh-TW" sz="2000" b="1" i="1">
                            <a:latin typeface="Cambria Math" panose="02040503050406030204" pitchFamily="18" charset="0"/>
                            <a:cs typeface="Times New Roman" panose="02020603050405020304" pitchFamily="18" charset="0"/>
                          </a:rPr>
                          <m:t>𝟏</m:t>
                        </m:r>
                        <m:r>
                          <a:rPr lang="en-US" altLang="zh-TW" sz="2000" b="1" i="1">
                            <a:latin typeface="Cambria Math" panose="02040503050406030204" pitchFamily="18" charset="0"/>
                            <a:cs typeface="Times New Roman" panose="02020603050405020304" pitchFamily="18" charset="0"/>
                          </a:rPr>
                          <m:t>, </m:t>
                        </m:r>
                        <m:r>
                          <a:rPr lang="en-US" altLang="zh-TW" sz="2000" b="1" i="1">
                            <a:latin typeface="Cambria Math" panose="02040503050406030204" pitchFamily="18" charset="0"/>
                            <a:cs typeface="Times New Roman" panose="02020603050405020304" pitchFamily="18" charset="0"/>
                          </a:rPr>
                          <m:t>𝟑</m:t>
                        </m:r>
                        <m:r>
                          <a:rPr lang="en-US" altLang="zh-TW" sz="2000" b="1" i="1">
                            <a:latin typeface="Cambria Math" panose="02040503050406030204" pitchFamily="18" charset="0"/>
                            <a:cs typeface="Times New Roman" panose="02020603050405020304" pitchFamily="18" charset="0"/>
                          </a:rPr>
                          <m:t>, </m:t>
                        </m:r>
                        <m:r>
                          <a:rPr lang="en-US" altLang="zh-TW" sz="2000" b="1" i="1">
                            <a:latin typeface="Cambria Math" panose="02040503050406030204" pitchFamily="18" charset="0"/>
                            <a:cs typeface="Times New Roman" panose="02020603050405020304" pitchFamily="18" charset="0"/>
                          </a:rPr>
                          <m:t>𝟔</m:t>
                        </m:r>
                      </m:e>
                    </m:d>
                  </m:oMath>
                </a14:m>
                <a:endParaRPr lang="en-US" altLang="zh-TW" sz="2000" b="1" dirty="0">
                  <a:latin typeface="Times New Roman" panose="02020603050405020304" pitchFamily="18" charset="0"/>
                  <a:cs typeface="Times New Roman" panose="02020603050405020304" pitchFamily="18" charset="0"/>
                </a:endParaRPr>
              </a:p>
              <a:p>
                <a:pPr>
                  <a:lnSpc>
                    <a:spcPct val="100000"/>
                  </a:lnSpc>
                </a:pPr>
                <a14:m>
                  <m:oMath xmlns:m="http://schemas.openxmlformats.org/officeDocument/2006/math">
                    <m:sSubSup>
                      <m:sSubSupPr>
                        <m:ctrlPr>
                          <a:rPr lang="en-US" altLang="zh-TW" sz="2400" b="0" i="1" smtClean="0">
                            <a:latin typeface="Cambria Math" panose="02040503050406030204" pitchFamily="18" charset="0"/>
                            <a:cs typeface="Times New Roman" panose="02020603050405020304" pitchFamily="18" charset="0"/>
                          </a:rPr>
                        </m:ctrlPr>
                      </m:sSubSupPr>
                      <m:e>
                        <m:r>
                          <a:rPr lang="en-US" altLang="zh-TW" sz="2400" b="0" i="1" smtClean="0">
                            <a:latin typeface="Cambria Math" panose="02040503050406030204" pitchFamily="18" charset="0"/>
                            <a:cs typeface="Times New Roman" panose="02020603050405020304" pitchFamily="18" charset="0"/>
                          </a:rPr>
                          <m:t>𝑠</m:t>
                        </m:r>
                      </m:e>
                      <m:sub>
                        <m:r>
                          <a:rPr lang="en-US" altLang="zh-TW" sz="2400" b="0" i="1" smtClean="0">
                            <a:latin typeface="Cambria Math" panose="02040503050406030204" pitchFamily="18" charset="0"/>
                            <a:cs typeface="Times New Roman" panose="02020603050405020304" pitchFamily="18" charset="0"/>
                          </a:rPr>
                          <m:t>1</m:t>
                        </m:r>
                      </m:sub>
                      <m:sup>
                        <m:r>
                          <a:rPr lang="en-US" altLang="zh-TW" sz="2400" b="0" i="1" smtClean="0">
                            <a:latin typeface="Cambria Math" panose="02040503050406030204" pitchFamily="18" charset="0"/>
                            <a:cs typeface="Times New Roman" panose="02020603050405020304" pitchFamily="18" charset="0"/>
                          </a:rPr>
                          <m:t>′</m:t>
                        </m:r>
                      </m:sup>
                    </m:sSubSup>
                    <m:r>
                      <a:rPr lang="en-US" altLang="zh-TW" sz="2400" b="0" i="1" smtClean="0">
                        <a:latin typeface="Cambria Math" panose="02040503050406030204" pitchFamily="18" charset="0"/>
                        <a:cs typeface="Times New Roman" panose="02020603050405020304" pitchFamily="18" charset="0"/>
                      </a:rPr>
                      <m:t>=</m:t>
                    </m:r>
                  </m:oMath>
                </a14:m>
                <a:r>
                  <a:rPr lang="en-US" altLang="zh-TW" sz="2400" b="0" i="0" spc="600" dirty="0">
                    <a:solidFill>
                      <a:srgbClr val="00B050"/>
                    </a:solidFill>
                    <a:latin typeface="Times New Roman" panose="02020603050405020304" pitchFamily="18" charset="0"/>
                    <a:cs typeface="Times New Roman" panose="02020603050405020304" pitchFamily="18" charset="0"/>
                  </a:rPr>
                  <a:t>101</a:t>
                </a:r>
                <a:r>
                  <a:rPr lang="en-US" altLang="zh-TW" sz="2400" b="0" i="0" spc="600" dirty="0">
                    <a:solidFill>
                      <a:srgbClr val="FF0000"/>
                    </a:solidFill>
                    <a:latin typeface="Times New Roman" panose="02020603050405020304" pitchFamily="18" charset="0"/>
                    <a:cs typeface="Times New Roman" panose="02020603050405020304" pitchFamily="18" charset="0"/>
                  </a:rPr>
                  <a:t>10</a:t>
                </a:r>
                <a:r>
                  <a:rPr lang="en-US" altLang="zh-TW" sz="2400" b="0" i="0" spc="600" dirty="0">
                    <a:latin typeface="Times New Roman" panose="02020603050405020304" pitchFamily="18" charset="0"/>
                    <a:cs typeface="Times New Roman" panose="02020603050405020304" pitchFamily="18" charset="0"/>
                  </a:rPr>
                  <a:t>01=10</a:t>
                </a:r>
                <a:r>
                  <a:rPr lang="en-US" altLang="zh-TW" sz="2400" b="1" i="0" u="sng" spc="600" dirty="0">
                    <a:solidFill>
                      <a:schemeClr val="tx1"/>
                    </a:solidFill>
                    <a:latin typeface="Times New Roman" panose="02020603050405020304" pitchFamily="18" charset="0"/>
                    <a:cs typeface="Times New Roman" panose="02020603050405020304" pitchFamily="18" charset="0"/>
                  </a:rPr>
                  <a:t>11</a:t>
                </a:r>
                <a:r>
                  <a:rPr lang="en-US" altLang="zh-TW" sz="2400" b="1" i="0" u="sng" spc="600" dirty="0">
                    <a:latin typeface="Times New Roman" panose="02020603050405020304" pitchFamily="18" charset="0"/>
                    <a:cs typeface="Times New Roman" panose="02020603050405020304" pitchFamily="18" charset="0"/>
                  </a:rPr>
                  <a:t>00</a:t>
                </a:r>
                <a:r>
                  <a:rPr lang="en-US" altLang="zh-TW" sz="2400" b="0" i="0" spc="600" dirty="0">
                    <a:latin typeface="Times New Roman" panose="02020603050405020304" pitchFamily="18" charset="0"/>
                    <a:cs typeface="Times New Roman" panose="02020603050405020304" pitchFamily="18" charset="0"/>
                  </a:rPr>
                  <a:t>1=10101</a:t>
                </a:r>
                <a:endParaRPr lang="en-US" altLang="zh-TW" sz="2000" spc="600" dirty="0">
                  <a:latin typeface="Times New Roman" panose="02020603050405020304" pitchFamily="18" charset="0"/>
                  <a:cs typeface="Times New Roman" panose="02020603050405020304" pitchFamily="18" charset="0"/>
                </a:endParaRPr>
              </a:p>
            </p:txBody>
          </p:sp>
        </mc:Choice>
        <mc:Fallback xmlns="">
          <p:sp>
            <p:nvSpPr>
              <p:cNvPr id="14" name="標題 1">
                <a:extLst>
                  <a:ext uri="{FF2B5EF4-FFF2-40B4-BE49-F238E27FC236}">
                    <a16:creationId xmlns:a16="http://schemas.microsoft.com/office/drawing/2014/main" id="{348C44DB-0C33-44EA-92F4-9EA8D6D4B606}"/>
                  </a:ext>
                </a:extLst>
              </p:cNvPr>
              <p:cNvSpPr txBox="1">
                <a:spLocks noRot="1" noChangeAspect="1" noMove="1" noResize="1" noEditPoints="1" noAdjustHandles="1" noChangeArrowheads="1" noChangeShapeType="1" noTextEdit="1"/>
              </p:cNvSpPr>
              <p:nvPr/>
            </p:nvSpPr>
            <p:spPr>
              <a:xfrm>
                <a:off x="762000" y="4984471"/>
                <a:ext cx="5695950" cy="811308"/>
              </a:xfrm>
              <a:prstGeom prst="rect">
                <a:avLst/>
              </a:prstGeom>
              <a:blipFill>
                <a:blip r:embed="rId3"/>
                <a:stretch>
                  <a:fillRect t="-6767" b="-13534"/>
                </a:stretch>
              </a:blipFill>
            </p:spPr>
            <p:txBody>
              <a:bodyPr/>
              <a:lstStyle/>
              <a:p>
                <a:r>
                  <a:rPr lang="zh-TW" altLang="en-US">
                    <a:noFill/>
                  </a:rPr>
                  <a:t> </a:t>
                </a:r>
              </a:p>
            </p:txBody>
          </p:sp>
        </mc:Fallback>
      </mc:AlternateContent>
      <p:sp>
        <p:nvSpPr>
          <p:cNvPr id="15" name="標題 1">
            <a:extLst>
              <a:ext uri="{FF2B5EF4-FFF2-40B4-BE49-F238E27FC236}">
                <a16:creationId xmlns:a16="http://schemas.microsoft.com/office/drawing/2014/main" id="{8EFB5502-4A09-48DC-ACB4-13E1486338CF}"/>
              </a:ext>
            </a:extLst>
          </p:cNvPr>
          <p:cNvSpPr txBox="1">
            <a:spLocks/>
          </p:cNvSpPr>
          <p:nvPr/>
        </p:nvSpPr>
        <p:spPr>
          <a:xfrm>
            <a:off x="402231" y="1162924"/>
            <a:ext cx="7979769" cy="694525"/>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00000"/>
              </a:lnSpc>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Fully binary string / Fully ternary string </a:t>
            </a:r>
            <a:r>
              <a:rPr lang="en-US" altLang="zh-TW" sz="2400" dirty="0" smtClean="0">
                <a:latin typeface="Times New Roman" panose="02020603050405020304" pitchFamily="18" charset="0"/>
                <a:cs typeface="Times New Roman" panose="02020603050405020304" pitchFamily="18" charset="0"/>
              </a:rPr>
              <a:t>(Fully:</a:t>
            </a:r>
            <a:r>
              <a:rPr lang="zh-TW" altLang="en-US" sz="2400" dirty="0" smtClean="0">
                <a:latin typeface="標楷體" panose="03000509000000000000" pitchFamily="65" charset="-120"/>
                <a:ea typeface="標楷體" panose="03000509000000000000" pitchFamily="65" charset="-120"/>
                <a:cs typeface="Times New Roman" panose="02020603050405020304" pitchFamily="18" charset="0"/>
              </a:rPr>
              <a:t>必須包含所有字元</a:t>
            </a:r>
            <a:r>
              <a:rPr lang="en-US" altLang="zh-TW" sz="2400" dirty="0" smtClean="0">
                <a:latin typeface="Times New Roman" panose="02020603050405020304" pitchFamily="18" charset="0"/>
                <a:cs typeface="Times New Roman" panose="02020603050405020304" pitchFamily="18" charset="0"/>
              </a:rPr>
              <a:t>)</a:t>
            </a:r>
            <a:endParaRPr lang="en-US" altLang="zh-TW" sz="2400" dirty="0">
              <a:latin typeface="Times New Roman" panose="02020603050405020304" pitchFamily="18" charset="0"/>
              <a:cs typeface="Times New Roman" panose="02020603050405020304" pitchFamily="18" charset="0"/>
            </a:endParaRPr>
          </a:p>
          <a:p>
            <a:pPr>
              <a:lnSpc>
                <a:spcPct val="100000"/>
              </a:lnSpc>
            </a:pPr>
            <a:endParaRPr lang="en-US" altLang="zh-TW" sz="2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A1ADA6E3-A5CC-431D-AC49-3B4BB036CEEA}"/>
                  </a:ext>
                </a:extLst>
              </p:cNvPr>
              <p:cNvSpPr/>
              <p:nvPr/>
            </p:nvSpPr>
            <p:spPr>
              <a:xfrm>
                <a:off x="762000" y="1769590"/>
                <a:ext cx="1801904"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sz="2000" b="0" i="1" smtClean="0">
                              <a:solidFill>
                                <a:schemeClr val="tx1"/>
                              </a:solidFill>
                              <a:latin typeface="Cambria Math" panose="02040503050406030204" pitchFamily="18" charset="0"/>
                              <a:cs typeface="Times New Roman" panose="02020603050405020304" pitchFamily="18" charset="0"/>
                            </a:rPr>
                          </m:ctrlPr>
                        </m:sSubPr>
                        <m:e>
                          <m:r>
                            <a:rPr lang="en-US" altLang="zh-TW" sz="2000" i="1" smtClean="0">
                              <a:solidFill>
                                <a:schemeClr val="tx1"/>
                              </a:solidFill>
                              <a:latin typeface="Cambria Math" panose="02040503050406030204" pitchFamily="18" charset="0"/>
                              <a:cs typeface="Times New Roman" panose="02020603050405020304" pitchFamily="18" charset="0"/>
                            </a:rPr>
                            <m:t>𝑠</m:t>
                          </m:r>
                        </m:e>
                        <m:sub>
                          <m:r>
                            <a:rPr lang="en-US" altLang="zh-TW" sz="2000" b="0" i="1" smtClean="0">
                              <a:solidFill>
                                <a:schemeClr val="tx1"/>
                              </a:solidFill>
                              <a:latin typeface="Cambria Math" panose="02040503050406030204" pitchFamily="18" charset="0"/>
                              <a:cs typeface="Times New Roman" panose="02020603050405020304" pitchFamily="18" charset="0"/>
                            </a:rPr>
                            <m:t>1</m:t>
                          </m:r>
                        </m:sub>
                      </m:sSub>
                      <m:r>
                        <a:rPr lang="en-US" altLang="zh-TW" sz="2000" i="1" smtClean="0">
                          <a:solidFill>
                            <a:schemeClr val="tx1"/>
                          </a:solidFill>
                          <a:latin typeface="Cambria Math" panose="02040503050406030204" pitchFamily="18" charset="0"/>
                          <a:cs typeface="Times New Roman" panose="02020603050405020304" pitchFamily="18" charset="0"/>
                        </a:rPr>
                        <m:t>=1010101</m:t>
                      </m:r>
                    </m:oMath>
                  </m:oMathPara>
                </a14:m>
                <a:endParaRPr lang="zh-TW" altLang="en-US" sz="2000" dirty="0">
                  <a:solidFill>
                    <a:schemeClr val="tx1"/>
                  </a:solidFill>
                </a:endParaRPr>
              </a:p>
            </p:txBody>
          </p:sp>
        </mc:Choice>
        <mc:Fallback xmlns="">
          <p:sp>
            <p:nvSpPr>
              <p:cNvPr id="2" name="矩形 1">
                <a:extLst>
                  <a:ext uri="{FF2B5EF4-FFF2-40B4-BE49-F238E27FC236}">
                    <a16:creationId xmlns:a16="http://schemas.microsoft.com/office/drawing/2014/main" id="{A1ADA6E3-A5CC-431D-AC49-3B4BB036CEEA}"/>
                  </a:ext>
                </a:extLst>
              </p:cNvPr>
              <p:cNvSpPr>
                <a:spLocks noRot="1" noChangeAspect="1" noMove="1" noResize="1" noEditPoints="1" noAdjustHandles="1" noChangeArrowheads="1" noChangeShapeType="1" noTextEdit="1"/>
              </p:cNvSpPr>
              <p:nvPr/>
            </p:nvSpPr>
            <p:spPr>
              <a:xfrm>
                <a:off x="762000" y="1769590"/>
                <a:ext cx="1801904" cy="400110"/>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C36E812B-14B1-4EEE-8D6A-0DBDF9B1045D}"/>
                  </a:ext>
                </a:extLst>
              </p:cNvPr>
              <p:cNvSpPr/>
              <p:nvPr/>
            </p:nvSpPr>
            <p:spPr>
              <a:xfrm>
                <a:off x="3143250" y="1769590"/>
                <a:ext cx="1807867"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sz="2000" b="0" i="1" smtClean="0">
                              <a:solidFill>
                                <a:schemeClr val="tx1"/>
                              </a:solidFill>
                              <a:latin typeface="Cambria Math" panose="02040503050406030204" pitchFamily="18" charset="0"/>
                              <a:cs typeface="Times New Roman" panose="02020603050405020304" pitchFamily="18" charset="0"/>
                            </a:rPr>
                          </m:ctrlPr>
                        </m:sSubPr>
                        <m:e>
                          <m:r>
                            <a:rPr lang="en-US" altLang="zh-TW" sz="2000" b="0" i="1" smtClean="0">
                              <a:solidFill>
                                <a:schemeClr val="tx1"/>
                              </a:solidFill>
                              <a:latin typeface="Cambria Math" panose="02040503050406030204" pitchFamily="18" charset="0"/>
                              <a:cs typeface="Times New Roman" panose="02020603050405020304" pitchFamily="18" charset="0"/>
                            </a:rPr>
                            <m:t>𝑠</m:t>
                          </m:r>
                        </m:e>
                        <m:sub>
                          <m:r>
                            <a:rPr lang="en-US" altLang="zh-TW" sz="2000" b="0" i="1" smtClean="0">
                              <a:solidFill>
                                <a:schemeClr val="tx1"/>
                              </a:solidFill>
                              <a:latin typeface="Cambria Math" panose="02040503050406030204" pitchFamily="18" charset="0"/>
                              <a:cs typeface="Times New Roman" panose="02020603050405020304" pitchFamily="18" charset="0"/>
                            </a:rPr>
                            <m:t>2</m:t>
                          </m:r>
                        </m:sub>
                      </m:sSub>
                      <m:r>
                        <a:rPr lang="en-US" altLang="zh-TW" sz="2000" i="1" smtClean="0">
                          <a:solidFill>
                            <a:schemeClr val="tx1"/>
                          </a:solidFill>
                          <a:latin typeface="Cambria Math" panose="02040503050406030204" pitchFamily="18" charset="0"/>
                          <a:cs typeface="Times New Roman" panose="02020603050405020304" pitchFamily="18" charset="0"/>
                        </a:rPr>
                        <m:t>=10</m:t>
                      </m:r>
                      <m:r>
                        <a:rPr lang="en-US" altLang="zh-TW" sz="2000" b="0" i="1" smtClean="0">
                          <a:solidFill>
                            <a:schemeClr val="tx1"/>
                          </a:solidFill>
                          <a:latin typeface="Cambria Math" panose="02040503050406030204" pitchFamily="18" charset="0"/>
                          <a:cs typeface="Times New Roman" panose="02020603050405020304" pitchFamily="18" charset="0"/>
                        </a:rPr>
                        <m:t>2102</m:t>
                      </m:r>
                      <m:r>
                        <a:rPr lang="en-US" altLang="zh-TW" sz="2000" i="1" smtClean="0">
                          <a:solidFill>
                            <a:schemeClr val="tx1"/>
                          </a:solidFill>
                          <a:latin typeface="Cambria Math" panose="02040503050406030204" pitchFamily="18" charset="0"/>
                          <a:cs typeface="Times New Roman" panose="02020603050405020304" pitchFamily="18" charset="0"/>
                        </a:rPr>
                        <m:t>1</m:t>
                      </m:r>
                    </m:oMath>
                  </m:oMathPara>
                </a14:m>
                <a:endParaRPr lang="zh-TW" altLang="en-US" sz="2000" dirty="0">
                  <a:solidFill>
                    <a:schemeClr val="tx1"/>
                  </a:solidFill>
                </a:endParaRPr>
              </a:p>
            </p:txBody>
          </p:sp>
        </mc:Choice>
        <mc:Fallback xmlns="">
          <p:sp>
            <p:nvSpPr>
              <p:cNvPr id="17" name="矩形 16">
                <a:extLst>
                  <a:ext uri="{FF2B5EF4-FFF2-40B4-BE49-F238E27FC236}">
                    <a16:creationId xmlns:a16="http://schemas.microsoft.com/office/drawing/2014/main" id="{C36E812B-14B1-4EEE-8D6A-0DBDF9B1045D}"/>
                  </a:ext>
                </a:extLst>
              </p:cNvPr>
              <p:cNvSpPr>
                <a:spLocks noRot="1" noChangeAspect="1" noMove="1" noResize="1" noEditPoints="1" noAdjustHandles="1" noChangeArrowheads="1" noChangeShapeType="1" noTextEdit="1"/>
              </p:cNvSpPr>
              <p:nvPr/>
            </p:nvSpPr>
            <p:spPr>
              <a:xfrm>
                <a:off x="3143250" y="1769590"/>
                <a:ext cx="1807867" cy="400110"/>
              </a:xfrm>
              <a:prstGeom prst="rect">
                <a:avLst/>
              </a:prstGeom>
              <a:blipFill>
                <a:blip r:embed="rId5"/>
                <a:stretch>
                  <a:fillRect/>
                </a:stretch>
              </a:blipFill>
            </p:spPr>
            <p:txBody>
              <a:bodyPr/>
              <a:lstStyle/>
              <a:p>
                <a:r>
                  <a:rPr lang="zh-TW" altLang="en-US">
                    <a:noFill/>
                  </a:rPr>
                  <a:t> </a:t>
                </a:r>
              </a:p>
            </p:txBody>
          </p:sp>
        </mc:Fallback>
      </mc:AlternateContent>
      <p:sp>
        <p:nvSpPr>
          <p:cNvPr id="18" name="矩形 17">
            <a:extLst>
              <a:ext uri="{FF2B5EF4-FFF2-40B4-BE49-F238E27FC236}">
                <a16:creationId xmlns:a16="http://schemas.microsoft.com/office/drawing/2014/main" id="{EA2FE6FF-13FC-4615-9C18-CA8601928E3B}"/>
              </a:ext>
            </a:extLst>
          </p:cNvPr>
          <p:cNvSpPr/>
          <p:nvPr/>
        </p:nvSpPr>
        <p:spPr>
          <a:xfrm>
            <a:off x="3609975" y="5795779"/>
            <a:ext cx="2787943" cy="369332"/>
          </a:xfrm>
          <a:prstGeom prst="rect">
            <a:avLst/>
          </a:prstGeom>
        </p:spPr>
        <p:txBody>
          <a:bodyPr wrap="none">
            <a:spAutoFit/>
          </a:bodyPr>
          <a:lstStyle/>
          <a:p>
            <a:r>
              <a:rPr lang="en-US" altLang="zh-TW" b="0" i="0" dirty="0">
                <a:solidFill>
                  <a:srgbClr val="0070C0"/>
                </a:solidFill>
                <a:latin typeface="Times New Roman" panose="02020603050405020304" pitchFamily="18" charset="0"/>
                <a:cs typeface="Times New Roman" panose="02020603050405020304" pitchFamily="18" charset="0"/>
              </a:rPr>
              <a:t>2-transposition</a:t>
            </a:r>
            <a:r>
              <a:rPr lang="en-US" altLang="zh-TW" b="0" i="0" dirty="0" smtClean="0">
                <a:solidFill>
                  <a:srgbClr val="0070C0"/>
                </a:solidFill>
                <a:latin typeface="Times New Roman" panose="02020603050405020304" pitchFamily="18" charset="0"/>
                <a:cs typeface="Times New Roman" panose="02020603050405020304" pitchFamily="18" charset="0"/>
              </a:rPr>
              <a:t>:</a:t>
            </a:r>
            <a:r>
              <a:rPr lang="zh-TW" altLang="en-US" b="0" i="0" dirty="0" smtClean="0">
                <a:solidFill>
                  <a:srgbClr val="0070C0"/>
                </a:solidFill>
                <a:latin typeface="標楷體" panose="03000509000000000000" pitchFamily="65" charset="-120"/>
                <a:ea typeface="標楷體" panose="03000509000000000000" pitchFamily="65" charset="-120"/>
                <a:cs typeface="Times New Roman" panose="02020603050405020304" pitchFamily="18" charset="0"/>
              </a:rPr>
              <a:t>扣兩個字元</a:t>
            </a:r>
            <a:endParaRPr lang="zh-TW" altLang="en-US" dirty="0">
              <a:solidFill>
                <a:srgbClr val="0070C0"/>
              </a:solidFill>
              <a:latin typeface="標楷體" panose="03000509000000000000" pitchFamily="65" charset="-120"/>
              <a:ea typeface="標楷體" panose="03000509000000000000" pitchFamily="65"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標題 1">
                <a:extLst>
                  <a:ext uri="{FF2B5EF4-FFF2-40B4-BE49-F238E27FC236}">
                    <a16:creationId xmlns:a16="http://schemas.microsoft.com/office/drawing/2014/main" id="{4C88D0EB-145E-4A04-A065-39B6882FD60B}"/>
                  </a:ext>
                </a:extLst>
              </p:cNvPr>
              <p:cNvSpPr txBox="1">
                <a:spLocks/>
              </p:cNvSpPr>
              <p:nvPr/>
            </p:nvSpPr>
            <p:spPr>
              <a:xfrm>
                <a:off x="762000" y="3659246"/>
                <a:ext cx="5695950" cy="811308"/>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14:m>
                  <m:oMath xmlns:m="http://schemas.openxmlformats.org/officeDocument/2006/math">
                    <m:sSub>
                      <m:sSubPr>
                        <m:ctrlPr>
                          <a:rPr lang="en-US" altLang="zh-TW" sz="2400" b="0" i="1" smtClean="0">
                            <a:latin typeface="Cambria Math" panose="02040503050406030204" pitchFamily="18" charset="0"/>
                            <a:cs typeface="Times New Roman" panose="02020603050405020304" pitchFamily="18" charset="0"/>
                          </a:rPr>
                        </m:ctrlPr>
                      </m:sSubPr>
                      <m:e>
                        <m:r>
                          <a:rPr lang="en-US" altLang="zh-TW" sz="2400" b="0" i="1" smtClean="0">
                            <a:latin typeface="Cambria Math" panose="02040503050406030204" pitchFamily="18" charset="0"/>
                            <a:cs typeface="Times New Roman" panose="02020603050405020304" pitchFamily="18" charset="0"/>
                          </a:rPr>
                          <m:t>𝑠</m:t>
                        </m:r>
                      </m:e>
                      <m:sub>
                        <m:r>
                          <a:rPr lang="en-US" altLang="zh-TW" sz="2400" b="0" i="1" smtClean="0">
                            <a:latin typeface="Cambria Math" panose="02040503050406030204" pitchFamily="18" charset="0"/>
                            <a:cs typeface="Times New Roman" panose="02020603050405020304" pitchFamily="18" charset="0"/>
                          </a:rPr>
                          <m:t>1</m:t>
                        </m:r>
                      </m:sub>
                    </m:sSub>
                    <m:r>
                      <a:rPr lang="en-US" altLang="zh-TW" sz="2400" b="0" i="1" smtClean="0">
                        <a:latin typeface="Cambria Math" panose="02040503050406030204" pitchFamily="18" charset="0"/>
                        <a:cs typeface="Times New Roman" panose="02020603050405020304" pitchFamily="18" charset="0"/>
                      </a:rPr>
                      <m:t>=</m:t>
                    </m:r>
                  </m:oMath>
                </a14:m>
                <a:r>
                  <a:rPr lang="en-US" altLang="zh-TW" sz="2400" b="0" i="0" spc="600" dirty="0">
                    <a:solidFill>
                      <a:srgbClr val="FF0000"/>
                    </a:solidFill>
                    <a:latin typeface="Times New Roman" panose="02020603050405020304" pitchFamily="18" charset="0"/>
                    <a:cs typeface="Times New Roman" panose="02020603050405020304" pitchFamily="18" charset="0"/>
                  </a:rPr>
                  <a:t>1</a:t>
                </a:r>
                <a:r>
                  <a:rPr lang="en-US" altLang="zh-TW" sz="2400" b="0" i="0" spc="600" dirty="0">
                    <a:solidFill>
                      <a:srgbClr val="00B050"/>
                    </a:solidFill>
                    <a:latin typeface="Times New Roman" panose="02020603050405020304" pitchFamily="18" charset="0"/>
                    <a:cs typeface="Times New Roman" panose="02020603050405020304" pitchFamily="18" charset="0"/>
                  </a:rPr>
                  <a:t>0</a:t>
                </a:r>
                <a:r>
                  <a:rPr lang="en-US" altLang="zh-TW" sz="2400" b="0" i="0" spc="600" dirty="0">
                    <a:latin typeface="Times New Roman" panose="02020603050405020304" pitchFamily="18" charset="0"/>
                    <a:cs typeface="Times New Roman" panose="02020603050405020304" pitchFamily="18" charset="0"/>
                  </a:rPr>
                  <a:t>1</a:t>
                </a:r>
                <a14:m>
                  <m:oMath xmlns:m="http://schemas.openxmlformats.org/officeDocument/2006/math">
                    <m:r>
                      <a:rPr lang="en-US" altLang="zh-TW" sz="2400" b="1" i="1" smtClean="0">
                        <a:latin typeface="Cambria Math" panose="02040503050406030204" pitchFamily="18" charset="0"/>
                        <a:cs typeface="Times New Roman" panose="02020603050405020304" pitchFamily="18" charset="0"/>
                      </a:rPr>
                      <m:t>, </m:t>
                    </m:r>
                  </m:oMath>
                </a14:m>
                <a:r>
                  <a:rPr lang="en-US" altLang="zh-TW" sz="2000"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2000" b="1" i="1">
                        <a:latin typeface="Cambria Math" panose="02040503050406030204" pitchFamily="18" charset="0"/>
                        <a:cs typeface="Times New Roman" panose="02020603050405020304" pitchFamily="18" charset="0"/>
                      </a:rPr>
                      <m:t>𝒇</m:t>
                    </m:r>
                    <m:d>
                      <m:dPr>
                        <m:ctrlPr>
                          <a:rPr lang="en-US" altLang="zh-TW" sz="2000" b="1" i="1">
                            <a:latin typeface="Cambria Math" panose="02040503050406030204" pitchFamily="18" charset="0"/>
                            <a:cs typeface="Times New Roman" panose="02020603050405020304" pitchFamily="18" charset="0"/>
                          </a:rPr>
                        </m:ctrlPr>
                      </m:dPr>
                      <m:e>
                        <m:r>
                          <a:rPr lang="en-US" altLang="zh-TW" sz="2000" b="1" i="1">
                            <a:latin typeface="Cambria Math" panose="02040503050406030204" pitchFamily="18" charset="0"/>
                            <a:cs typeface="Times New Roman" panose="02020603050405020304" pitchFamily="18" charset="0"/>
                          </a:rPr>
                          <m:t>𝟏</m:t>
                        </m:r>
                        <m:r>
                          <a:rPr lang="en-US" altLang="zh-TW" sz="2000" b="1" i="1">
                            <a:latin typeface="Cambria Math" panose="02040503050406030204" pitchFamily="18" charset="0"/>
                            <a:cs typeface="Times New Roman" panose="02020603050405020304" pitchFamily="18" charset="0"/>
                          </a:rPr>
                          <m:t>, </m:t>
                        </m:r>
                        <m:r>
                          <a:rPr lang="en-US" altLang="zh-TW" sz="2000" b="1" i="1" smtClean="0">
                            <a:latin typeface="Cambria Math" panose="02040503050406030204" pitchFamily="18" charset="0"/>
                            <a:cs typeface="Times New Roman" panose="02020603050405020304" pitchFamily="18" charset="0"/>
                          </a:rPr>
                          <m:t>𝟐</m:t>
                        </m:r>
                        <m:r>
                          <a:rPr lang="en-US" altLang="zh-TW" sz="2000" b="1" i="1">
                            <a:latin typeface="Cambria Math" panose="02040503050406030204" pitchFamily="18" charset="0"/>
                            <a:cs typeface="Times New Roman" panose="02020603050405020304" pitchFamily="18" charset="0"/>
                          </a:rPr>
                          <m:t>, </m:t>
                        </m:r>
                        <m:r>
                          <a:rPr lang="en-US" altLang="zh-TW" sz="2000" b="1" i="1" smtClean="0">
                            <a:latin typeface="Cambria Math" panose="02040503050406030204" pitchFamily="18" charset="0"/>
                            <a:cs typeface="Times New Roman" panose="02020603050405020304" pitchFamily="18" charset="0"/>
                          </a:rPr>
                          <m:t>𝟑</m:t>
                        </m:r>
                      </m:e>
                    </m:d>
                  </m:oMath>
                </a14:m>
                <a:endParaRPr lang="en-US" altLang="zh-TW" sz="2000" b="1" dirty="0">
                  <a:latin typeface="Times New Roman" panose="02020603050405020304" pitchFamily="18" charset="0"/>
                  <a:cs typeface="Times New Roman" panose="02020603050405020304" pitchFamily="18" charset="0"/>
                </a:endParaRPr>
              </a:p>
              <a:p>
                <a:pPr>
                  <a:lnSpc>
                    <a:spcPct val="100000"/>
                  </a:lnSpc>
                </a:pPr>
                <a14:m>
                  <m:oMath xmlns:m="http://schemas.openxmlformats.org/officeDocument/2006/math">
                    <m:sSubSup>
                      <m:sSubSupPr>
                        <m:ctrlPr>
                          <a:rPr lang="en-US" altLang="zh-TW" sz="2400" b="0" i="1" smtClean="0">
                            <a:latin typeface="Cambria Math" panose="02040503050406030204" pitchFamily="18" charset="0"/>
                            <a:cs typeface="Times New Roman" panose="02020603050405020304" pitchFamily="18" charset="0"/>
                          </a:rPr>
                        </m:ctrlPr>
                      </m:sSubSupPr>
                      <m:e>
                        <m:r>
                          <a:rPr lang="en-US" altLang="zh-TW" sz="2400" b="0" i="1" smtClean="0">
                            <a:latin typeface="Cambria Math" panose="02040503050406030204" pitchFamily="18" charset="0"/>
                            <a:cs typeface="Times New Roman" panose="02020603050405020304" pitchFamily="18" charset="0"/>
                          </a:rPr>
                          <m:t>𝑠</m:t>
                        </m:r>
                      </m:e>
                      <m:sub>
                        <m:r>
                          <a:rPr lang="en-US" altLang="zh-TW" sz="2400" b="0" i="1" smtClean="0">
                            <a:latin typeface="Cambria Math" panose="02040503050406030204" pitchFamily="18" charset="0"/>
                            <a:cs typeface="Times New Roman" panose="02020603050405020304" pitchFamily="18" charset="0"/>
                          </a:rPr>
                          <m:t>1</m:t>
                        </m:r>
                      </m:sub>
                      <m:sup>
                        <m:r>
                          <a:rPr lang="en-US" altLang="zh-TW" sz="2400" b="0" i="1" smtClean="0">
                            <a:latin typeface="Cambria Math" panose="02040503050406030204" pitchFamily="18" charset="0"/>
                            <a:cs typeface="Times New Roman" panose="02020603050405020304" pitchFamily="18" charset="0"/>
                          </a:rPr>
                          <m:t>′</m:t>
                        </m:r>
                      </m:sup>
                    </m:sSubSup>
                    <m:r>
                      <a:rPr lang="en-US" altLang="zh-TW" sz="2400" b="0" i="1" smtClean="0">
                        <a:latin typeface="Cambria Math" panose="02040503050406030204" pitchFamily="18" charset="0"/>
                        <a:cs typeface="Times New Roman" panose="02020603050405020304" pitchFamily="18" charset="0"/>
                      </a:rPr>
                      <m:t>=</m:t>
                    </m:r>
                  </m:oMath>
                </a14:m>
                <a:r>
                  <a:rPr lang="en-US" altLang="zh-TW" sz="2400" b="0" i="0" spc="600" dirty="0">
                    <a:solidFill>
                      <a:srgbClr val="00B050"/>
                    </a:solidFill>
                    <a:latin typeface="Times New Roman" panose="02020603050405020304" pitchFamily="18" charset="0"/>
                    <a:cs typeface="Times New Roman" panose="02020603050405020304" pitchFamily="18" charset="0"/>
                  </a:rPr>
                  <a:t>0</a:t>
                </a:r>
                <a:r>
                  <a:rPr lang="en-US" altLang="zh-TW" sz="2400" b="0" i="0" spc="600" dirty="0">
                    <a:solidFill>
                      <a:srgbClr val="FF0000"/>
                    </a:solidFill>
                    <a:latin typeface="Times New Roman" panose="02020603050405020304" pitchFamily="18" charset="0"/>
                    <a:cs typeface="Times New Roman" panose="02020603050405020304" pitchFamily="18" charset="0"/>
                  </a:rPr>
                  <a:t>1</a:t>
                </a:r>
                <a:r>
                  <a:rPr lang="en-US" altLang="zh-TW" sz="2400" b="0" i="0" spc="600" dirty="0">
                    <a:latin typeface="Times New Roman" panose="02020603050405020304" pitchFamily="18" charset="0"/>
                    <a:cs typeface="Times New Roman" panose="02020603050405020304" pitchFamily="18" charset="0"/>
                  </a:rPr>
                  <a:t>1=0</a:t>
                </a:r>
                <a:r>
                  <a:rPr lang="en-US" altLang="zh-TW" sz="2400" b="1" i="0" u="sng" spc="600" dirty="0">
                    <a:solidFill>
                      <a:schemeClr val="tx1"/>
                    </a:solidFill>
                    <a:latin typeface="Times New Roman" panose="02020603050405020304" pitchFamily="18" charset="0"/>
                    <a:cs typeface="Times New Roman" panose="02020603050405020304" pitchFamily="18" charset="0"/>
                  </a:rPr>
                  <a:t>11</a:t>
                </a:r>
                <a:r>
                  <a:rPr lang="en-US" altLang="zh-TW" sz="2400" b="0" i="0" spc="600" dirty="0">
                    <a:latin typeface="Times New Roman" panose="02020603050405020304" pitchFamily="18" charset="0"/>
                    <a:cs typeface="Times New Roman" panose="02020603050405020304" pitchFamily="18" charset="0"/>
                  </a:rPr>
                  <a:t>=01</a:t>
                </a:r>
                <a:endParaRPr lang="en-US" altLang="zh-TW" sz="2000" spc="600" dirty="0">
                  <a:latin typeface="Times New Roman" panose="02020603050405020304" pitchFamily="18" charset="0"/>
                  <a:cs typeface="Times New Roman" panose="02020603050405020304" pitchFamily="18" charset="0"/>
                </a:endParaRPr>
              </a:p>
            </p:txBody>
          </p:sp>
        </mc:Choice>
        <mc:Fallback xmlns="">
          <p:sp>
            <p:nvSpPr>
              <p:cNvPr id="10" name="標題 1">
                <a:extLst>
                  <a:ext uri="{FF2B5EF4-FFF2-40B4-BE49-F238E27FC236}">
                    <a16:creationId xmlns:a16="http://schemas.microsoft.com/office/drawing/2014/main" id="{4C88D0EB-145E-4A04-A065-39B6882FD60B}"/>
                  </a:ext>
                </a:extLst>
              </p:cNvPr>
              <p:cNvSpPr txBox="1">
                <a:spLocks noRot="1" noChangeAspect="1" noMove="1" noResize="1" noEditPoints="1" noAdjustHandles="1" noChangeArrowheads="1" noChangeShapeType="1" noTextEdit="1"/>
              </p:cNvSpPr>
              <p:nvPr/>
            </p:nvSpPr>
            <p:spPr>
              <a:xfrm>
                <a:off x="762000" y="3659246"/>
                <a:ext cx="5695950" cy="811308"/>
              </a:xfrm>
              <a:prstGeom prst="rect">
                <a:avLst/>
              </a:prstGeom>
              <a:blipFill>
                <a:blip r:embed="rId6"/>
                <a:stretch>
                  <a:fillRect t="-6767" b="-13534"/>
                </a:stretch>
              </a:blipFill>
            </p:spPr>
            <p:txBody>
              <a:bodyPr/>
              <a:lstStyle/>
              <a:p>
                <a:r>
                  <a:rPr lang="zh-TW" altLang="en-US">
                    <a:noFill/>
                  </a:rPr>
                  <a:t> </a:t>
                </a:r>
              </a:p>
            </p:txBody>
          </p:sp>
        </mc:Fallback>
      </mc:AlternateContent>
      <p:sp>
        <p:nvSpPr>
          <p:cNvPr id="11" name="矩形 10">
            <a:extLst>
              <a:ext uri="{FF2B5EF4-FFF2-40B4-BE49-F238E27FC236}">
                <a16:creationId xmlns:a16="http://schemas.microsoft.com/office/drawing/2014/main" id="{1F2C8CA1-F988-4C5D-B3CD-B423121D021B}"/>
              </a:ext>
            </a:extLst>
          </p:cNvPr>
          <p:cNvSpPr/>
          <p:nvPr/>
        </p:nvSpPr>
        <p:spPr>
          <a:xfrm>
            <a:off x="2563904" y="4394090"/>
            <a:ext cx="2845651" cy="369332"/>
          </a:xfrm>
          <a:prstGeom prst="rect">
            <a:avLst/>
          </a:prstGeom>
        </p:spPr>
        <p:txBody>
          <a:bodyPr wrap="none">
            <a:spAutoFit/>
          </a:bodyPr>
          <a:lstStyle/>
          <a:p>
            <a:r>
              <a:rPr lang="en-US" altLang="zh-TW" dirty="0">
                <a:solidFill>
                  <a:srgbClr val="0070C0"/>
                </a:solidFill>
                <a:latin typeface="Times New Roman" panose="02020603050405020304" pitchFamily="18" charset="0"/>
                <a:cs typeface="Times New Roman" panose="02020603050405020304" pitchFamily="18" charset="0"/>
              </a:rPr>
              <a:t>1</a:t>
            </a:r>
            <a:r>
              <a:rPr lang="en-US" altLang="zh-TW" b="0" i="0" dirty="0">
                <a:solidFill>
                  <a:srgbClr val="0070C0"/>
                </a:solidFill>
                <a:latin typeface="Times New Roman" panose="02020603050405020304" pitchFamily="18" charset="0"/>
                <a:cs typeface="Times New Roman" panose="02020603050405020304" pitchFamily="18" charset="0"/>
              </a:rPr>
              <a:t>-transposition: </a:t>
            </a:r>
            <a:r>
              <a:rPr lang="zh-TW" altLang="en-US" dirty="0">
                <a:solidFill>
                  <a:srgbClr val="0070C0"/>
                </a:solidFill>
                <a:latin typeface="標楷體" panose="03000509000000000000" pitchFamily="65" charset="-120"/>
                <a:ea typeface="標楷體" panose="03000509000000000000" pitchFamily="65" charset="-120"/>
                <a:cs typeface="Times New Roman" panose="02020603050405020304" pitchFamily="18" charset="0"/>
              </a:rPr>
              <a:t>扣一個字元</a:t>
            </a:r>
          </a:p>
        </p:txBody>
      </p:sp>
    </p:spTree>
    <p:extLst>
      <p:ext uri="{BB962C8B-B14F-4D97-AF65-F5344CB8AC3E}">
        <p14:creationId xmlns:p14="http://schemas.microsoft.com/office/powerpoint/2010/main" val="35791215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937B0153-3AB6-40D6-91E7-65725073B6C7}"/>
              </a:ext>
            </a:extLst>
          </p:cNvPr>
          <p:cNvSpPr/>
          <p:nvPr/>
        </p:nvSpPr>
        <p:spPr>
          <a:xfrm>
            <a:off x="665395" y="1715975"/>
            <a:ext cx="7000875" cy="1015663"/>
          </a:xfrm>
          <a:prstGeom prst="rect">
            <a:avLst/>
          </a:prstGeom>
        </p:spPr>
        <p:txBody>
          <a:bodyPr wrap="square">
            <a:spAutoFit/>
          </a:bodyPr>
          <a:lstStyle/>
          <a:p>
            <a:r>
              <a:rPr lang="en-US" altLang="zh-TW" sz="2000" dirty="0">
                <a:latin typeface="Times New Roman" panose="02020603050405020304" pitchFamily="18" charset="0"/>
                <a:cs typeface="Times New Roman" panose="02020603050405020304" pitchFamily="18" charset="0"/>
              </a:rPr>
              <a:t>find minimum number of prefix transpositions required to</a:t>
            </a:r>
          </a:p>
          <a:p>
            <a:r>
              <a:rPr lang="en-US" altLang="zh-TW" sz="2000" dirty="0">
                <a:latin typeface="Times New Roman" panose="02020603050405020304" pitchFamily="18" charset="0"/>
                <a:cs typeface="Times New Roman" panose="02020603050405020304" pitchFamily="18" charset="0"/>
              </a:rPr>
              <a:t>reduce the fully </a:t>
            </a:r>
            <a:r>
              <a:rPr lang="en-US" altLang="zh-TW" sz="2000" b="1" dirty="0">
                <a:solidFill>
                  <a:srgbClr val="0070C0"/>
                </a:solidFill>
                <a:latin typeface="Times New Roman" panose="02020603050405020304" pitchFamily="18" charset="0"/>
                <a:cs typeface="Times New Roman" panose="02020603050405020304" pitchFamily="18" charset="0"/>
              </a:rPr>
              <a:t>bi</a:t>
            </a:r>
            <a:r>
              <a:rPr lang="en-US" altLang="zh-TW" sz="2000" dirty="0">
                <a:latin typeface="Times New Roman" panose="02020603050405020304" pitchFamily="18" charset="0"/>
                <a:cs typeface="Times New Roman" panose="02020603050405020304" pitchFamily="18" charset="0"/>
              </a:rPr>
              <a:t>nary/</a:t>
            </a:r>
            <a:r>
              <a:rPr lang="en-US" altLang="zh-TW" sz="2000" b="1" dirty="0">
                <a:solidFill>
                  <a:srgbClr val="0070C0"/>
                </a:solidFill>
                <a:latin typeface="Times New Roman" panose="02020603050405020304" pitchFamily="18" charset="0"/>
                <a:cs typeface="Times New Roman" panose="02020603050405020304" pitchFamily="18" charset="0"/>
              </a:rPr>
              <a:t>ter</a:t>
            </a:r>
            <a:r>
              <a:rPr lang="en-US" altLang="zh-TW" sz="2000" dirty="0">
                <a:latin typeface="Times New Roman" panose="02020603050405020304" pitchFamily="18" charset="0"/>
                <a:cs typeface="Times New Roman" panose="02020603050405020304" pitchFamily="18" charset="0"/>
              </a:rPr>
              <a:t>nary</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string to one of length </a:t>
            </a:r>
            <a:r>
              <a:rPr lang="en-US" altLang="zh-TW" sz="2000" b="1" dirty="0" smtClean="0">
                <a:solidFill>
                  <a:srgbClr val="0070C0"/>
                </a:solidFill>
                <a:latin typeface="Times New Roman" panose="02020603050405020304" pitchFamily="18" charset="0"/>
                <a:cs typeface="Times New Roman" panose="02020603050405020304" pitchFamily="18" charset="0"/>
              </a:rPr>
              <a:t>k(ex:</a:t>
            </a:r>
            <a:r>
              <a:rPr lang="zh-TW" altLang="en-US" sz="2000" b="1" dirty="0" smtClean="0">
                <a:solidFill>
                  <a:srgbClr val="0070C0"/>
                </a:solidFill>
                <a:latin typeface="標楷體" panose="03000509000000000000" pitchFamily="65" charset="-120"/>
                <a:ea typeface="標楷體" panose="03000509000000000000" pitchFamily="65" charset="-120"/>
                <a:cs typeface="Times New Roman" panose="02020603050405020304" pitchFamily="18" charset="0"/>
              </a:rPr>
              <a:t>二進制的話</a:t>
            </a:r>
            <a:r>
              <a:rPr lang="en-US" altLang="zh-TW" sz="2000" b="1" dirty="0" smtClean="0">
                <a:solidFill>
                  <a:srgbClr val="0070C0"/>
                </a:solidFill>
                <a:latin typeface="Times New Roman" panose="02020603050405020304" pitchFamily="18" charset="0"/>
                <a:cs typeface="Times New Roman" panose="02020603050405020304" pitchFamily="18" charset="0"/>
              </a:rPr>
              <a:t>k</a:t>
            </a:r>
            <a:r>
              <a:rPr lang="zh-TW" altLang="en-US" sz="2000" b="1" dirty="0" smtClean="0">
                <a:solidFill>
                  <a:srgbClr val="0070C0"/>
                </a:solidFill>
                <a:latin typeface="標楷體" panose="03000509000000000000" pitchFamily="65" charset="-120"/>
                <a:ea typeface="標楷體" panose="03000509000000000000" pitchFamily="65" charset="-120"/>
                <a:cs typeface="Times New Roman" panose="02020603050405020304" pitchFamily="18" charset="0"/>
              </a:rPr>
              <a:t>為</a:t>
            </a:r>
            <a:r>
              <a:rPr lang="en-US" altLang="zh-TW" sz="2000" b="1" dirty="0" smtClean="0">
                <a:solidFill>
                  <a:srgbClr val="0070C0"/>
                </a:solidFill>
                <a:latin typeface="Times New Roman" panose="02020603050405020304" pitchFamily="18" charset="0"/>
                <a:cs typeface="Times New Roman" panose="02020603050405020304" pitchFamily="18" charset="0"/>
              </a:rPr>
              <a:t>2)</a:t>
            </a:r>
            <a:endParaRPr lang="en-US" altLang="zh-TW" sz="2000" dirty="0">
              <a:latin typeface="Times New Roman" panose="02020603050405020304" pitchFamily="18" charset="0"/>
              <a:cs typeface="Times New Roman" panose="02020603050405020304" pitchFamily="18" charset="0"/>
            </a:endParaRPr>
          </a:p>
        </p:txBody>
      </p:sp>
      <p:sp>
        <p:nvSpPr>
          <p:cNvPr id="8" name="標題 1">
            <a:extLst>
              <a:ext uri="{FF2B5EF4-FFF2-40B4-BE49-F238E27FC236}">
                <a16:creationId xmlns:a16="http://schemas.microsoft.com/office/drawing/2014/main" id="{E96330B5-DE66-409E-9D6D-EC0545C2E896}"/>
              </a:ext>
            </a:extLst>
          </p:cNvPr>
          <p:cNvSpPr txBox="1">
            <a:spLocks/>
          </p:cNvSpPr>
          <p:nvPr/>
        </p:nvSpPr>
        <p:spPr>
          <a:xfrm>
            <a:off x="402232" y="1018740"/>
            <a:ext cx="7433086" cy="583367"/>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50000"/>
              </a:lnSpc>
              <a:buFont typeface="Arial" panose="020B0604020202020204" pitchFamily="34" charset="0"/>
              <a:buChar char="•"/>
            </a:pPr>
            <a:r>
              <a:rPr lang="en-US" altLang="zh-TW" sz="2400" b="1" dirty="0">
                <a:latin typeface="Times New Roman" panose="02020603050405020304" pitchFamily="18" charset="0"/>
                <a:cs typeface="Times New Roman" panose="02020603050405020304" pitchFamily="18" charset="0"/>
              </a:rPr>
              <a:t>Sorting by prefix transposition problem:</a:t>
            </a:r>
            <a:endParaRPr lang="en-US" altLang="zh-TW" sz="2000"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222F4ADD-F9DA-4202-A4ED-239132DE7250}"/>
              </a:ext>
            </a:extLst>
          </p:cNvPr>
          <p:cNvSpPr>
            <a:spLocks noGrp="1"/>
          </p:cNvSpPr>
          <p:nvPr>
            <p:ph type="sldNum" sz="quarter" idx="12"/>
          </p:nvPr>
        </p:nvSpPr>
        <p:spPr/>
        <p:txBody>
          <a:bodyPr/>
          <a:lstStyle/>
          <a:p>
            <a:fld id="{872633CA-77E0-4863-94F8-E28139DFB2B4}" type="slidenum">
              <a:rPr lang="zh-TW" altLang="en-US" smtClean="0"/>
              <a:t>6</a:t>
            </a:fld>
            <a:endParaRPr lang="zh-TW" altLang="en-US"/>
          </a:p>
        </p:txBody>
      </p:sp>
      <p:sp>
        <p:nvSpPr>
          <p:cNvPr id="5" name="標題 1">
            <a:extLst>
              <a:ext uri="{FF2B5EF4-FFF2-40B4-BE49-F238E27FC236}">
                <a16:creationId xmlns:a16="http://schemas.microsoft.com/office/drawing/2014/main" id="{FEF0B28A-BF0C-4AED-8461-CBEAD77D334D}"/>
              </a:ext>
            </a:extLst>
          </p:cNvPr>
          <p:cNvSpPr txBox="1">
            <a:spLocks/>
          </p:cNvSpPr>
          <p:nvPr/>
        </p:nvSpPr>
        <p:spPr>
          <a:xfrm>
            <a:off x="402232" y="385081"/>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Definition (this paper)</a:t>
            </a:r>
            <a:endParaRPr lang="zh-TW" alt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標題 1">
                <a:extLst>
                  <a:ext uri="{FF2B5EF4-FFF2-40B4-BE49-F238E27FC236}">
                    <a16:creationId xmlns:a16="http://schemas.microsoft.com/office/drawing/2014/main" id="{CBE3BC99-21BD-4A2E-AEFB-58F73F21D74A}"/>
                  </a:ext>
                </a:extLst>
              </p:cNvPr>
              <p:cNvSpPr txBox="1">
                <a:spLocks/>
              </p:cNvSpPr>
              <p:nvPr/>
            </p:nvSpPr>
            <p:spPr>
              <a:xfrm>
                <a:off x="665395" y="2546128"/>
                <a:ext cx="4447647" cy="7078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altLang="zh-TW" sz="2000" spc="600" dirty="0">
                    <a:latin typeface="Arial Black" panose="020B0A04020102020204" pitchFamily="34" charset="0"/>
                    <a:cs typeface="Times New Roman" panose="02020603050405020304" pitchFamily="18" charset="0"/>
                  </a:rPr>
                  <a:t>S:010101 (</a:t>
                </a:r>
                <a14:m>
                  <m:oMath xmlns:m="http://schemas.openxmlformats.org/officeDocument/2006/math">
                    <m:d>
                      <m:dPr>
                        <m:begChr m:val="|"/>
                        <m:endChr m:val="|"/>
                        <m:ctrlPr>
                          <a:rPr lang="en-US" altLang="zh-TW" sz="2000" b="0" i="1" spc="600" dirty="0" smtClean="0">
                            <a:latin typeface="Cambria Math" panose="02040503050406030204" pitchFamily="18" charset="0"/>
                            <a:cs typeface="Times New Roman" panose="02020603050405020304" pitchFamily="18" charset="0"/>
                          </a:rPr>
                        </m:ctrlPr>
                      </m:dPr>
                      <m:e>
                        <m:r>
                          <a:rPr lang="en-US" altLang="zh-TW" sz="2000" b="0" i="1" spc="600" dirty="0" smtClean="0">
                            <a:latin typeface="Cambria Math" panose="02040503050406030204" pitchFamily="18" charset="0"/>
                            <a:cs typeface="Times New Roman" panose="02020603050405020304" pitchFamily="18" charset="0"/>
                          </a:rPr>
                          <m:t>𝑠</m:t>
                        </m:r>
                      </m:e>
                    </m:d>
                    <m:r>
                      <a:rPr lang="en-US" altLang="zh-TW" sz="2000" b="0" i="1" spc="600" dirty="0" smtClean="0">
                        <a:latin typeface="Cambria Math" panose="02040503050406030204" pitchFamily="18" charset="0"/>
                        <a:cs typeface="Times New Roman" panose="02020603050405020304" pitchFamily="18" charset="0"/>
                      </a:rPr>
                      <m:t>=</m:t>
                    </m:r>
                    <m:r>
                      <a:rPr lang="en-US" altLang="zh-TW" sz="2000" b="0" i="1" spc="600" dirty="0" smtClean="0">
                        <a:latin typeface="Cambria Math" panose="02040503050406030204" pitchFamily="18" charset="0"/>
                        <a:cs typeface="Times New Roman" panose="02020603050405020304" pitchFamily="18" charset="0"/>
                      </a:rPr>
                      <m:t>𝑛</m:t>
                    </m:r>
                    <m:r>
                      <a:rPr lang="en-US" altLang="zh-TW" sz="2000" b="0" i="1" spc="600" dirty="0" smtClean="0">
                        <a:latin typeface="Cambria Math" panose="02040503050406030204" pitchFamily="18" charset="0"/>
                        <a:cs typeface="Times New Roman" panose="02020603050405020304" pitchFamily="18" charset="0"/>
                      </a:rPr>
                      <m:t>=6</m:t>
                    </m:r>
                  </m:oMath>
                </a14:m>
                <a:r>
                  <a:rPr lang="en-US" altLang="zh-TW" sz="2000" spc="600" dirty="0">
                    <a:latin typeface="Arial Black" panose="020B0A04020102020204" pitchFamily="34" charset="0"/>
                    <a:cs typeface="Times New Roman" panose="02020603050405020304" pitchFamily="18" charset="0"/>
                  </a:rPr>
                  <a:t>)</a:t>
                </a:r>
              </a:p>
            </p:txBody>
          </p:sp>
        </mc:Choice>
        <mc:Fallback xmlns="">
          <p:sp>
            <p:nvSpPr>
              <p:cNvPr id="10" name="標題 1">
                <a:extLst>
                  <a:ext uri="{FF2B5EF4-FFF2-40B4-BE49-F238E27FC236}">
                    <a16:creationId xmlns:a16="http://schemas.microsoft.com/office/drawing/2014/main" id="{CBE3BC99-21BD-4A2E-AEFB-58F73F21D74A}"/>
                  </a:ext>
                </a:extLst>
              </p:cNvPr>
              <p:cNvSpPr txBox="1">
                <a:spLocks noRot="1" noChangeAspect="1" noMove="1" noResize="1" noEditPoints="1" noAdjustHandles="1" noChangeArrowheads="1" noChangeShapeType="1" noTextEdit="1"/>
              </p:cNvSpPr>
              <p:nvPr/>
            </p:nvSpPr>
            <p:spPr>
              <a:xfrm>
                <a:off x="665395" y="2546128"/>
                <a:ext cx="4447647" cy="707886"/>
              </a:xfrm>
              <a:prstGeom prst="rect">
                <a:avLst/>
              </a:prstGeom>
              <a:blipFill>
                <a:blip r:embed="rId2"/>
                <a:stretch>
                  <a:fillRect l="-1370"/>
                </a:stretch>
              </a:blipFill>
            </p:spPr>
            <p:txBody>
              <a:bodyPr/>
              <a:lstStyle/>
              <a:p>
                <a:r>
                  <a:rPr lang="zh-TW" altLang="en-US">
                    <a:noFill/>
                  </a:rPr>
                  <a:t> </a:t>
                </a:r>
              </a:p>
            </p:txBody>
          </p:sp>
        </mc:Fallback>
      </mc:AlternateContent>
      <p:sp>
        <p:nvSpPr>
          <p:cNvPr id="11" name="標題 1">
            <a:extLst>
              <a:ext uri="{FF2B5EF4-FFF2-40B4-BE49-F238E27FC236}">
                <a16:creationId xmlns:a16="http://schemas.microsoft.com/office/drawing/2014/main" id="{1A9A316E-31DB-491E-92E1-FAC5711E8546}"/>
              </a:ext>
            </a:extLst>
          </p:cNvPr>
          <p:cNvSpPr txBox="1">
            <a:spLocks/>
          </p:cNvSpPr>
          <p:nvPr/>
        </p:nvSpPr>
        <p:spPr>
          <a:xfrm>
            <a:off x="665395" y="3603987"/>
            <a:ext cx="6929723" cy="53997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altLang="zh-TW" sz="2000" spc="600" dirty="0">
                <a:solidFill>
                  <a:srgbClr val="FF0000"/>
                </a:solidFill>
                <a:latin typeface="Times New Roman" panose="02020603050405020304" pitchFamily="18" charset="0"/>
                <a:cs typeface="Times New Roman" panose="02020603050405020304" pitchFamily="18" charset="0"/>
              </a:rPr>
              <a:t>01</a:t>
            </a:r>
            <a:r>
              <a:rPr lang="en-US" altLang="zh-TW" sz="2000" spc="600" dirty="0">
                <a:solidFill>
                  <a:srgbClr val="00B050"/>
                </a:solidFill>
                <a:latin typeface="Times New Roman" panose="02020603050405020304" pitchFamily="18" charset="0"/>
                <a:cs typeface="Times New Roman" panose="02020603050405020304" pitchFamily="18" charset="0"/>
              </a:rPr>
              <a:t>0</a:t>
            </a:r>
            <a:r>
              <a:rPr lang="en-US" altLang="zh-TW" sz="2000" spc="600" dirty="0">
                <a:latin typeface="Times New Roman" panose="02020603050405020304" pitchFamily="18" charset="0"/>
                <a:cs typeface="Times New Roman" panose="02020603050405020304" pitchFamily="18" charset="0"/>
              </a:rPr>
              <a:t>101</a:t>
            </a:r>
            <a:r>
              <a:rPr lang="zh-TW" altLang="en-US" sz="2000" spc="600" dirty="0">
                <a:latin typeface="Times New Roman" panose="02020603050405020304" pitchFamily="18" charset="0"/>
                <a:cs typeface="Times New Roman" panose="02020603050405020304" pitchFamily="18" charset="0"/>
              </a:rPr>
              <a:t>→ </a:t>
            </a:r>
            <a:r>
              <a:rPr lang="en-US" altLang="zh-TW" sz="2000" b="1" u="sng" spc="600" dirty="0">
                <a:latin typeface="Times New Roman" panose="02020603050405020304" pitchFamily="18" charset="0"/>
                <a:cs typeface="Times New Roman" panose="02020603050405020304" pitchFamily="18" charset="0"/>
              </a:rPr>
              <a:t>0011</a:t>
            </a:r>
            <a:r>
              <a:rPr lang="en-US" altLang="zh-TW" sz="2000" spc="600" dirty="0">
                <a:latin typeface="Times New Roman" panose="02020603050405020304" pitchFamily="18" charset="0"/>
                <a:cs typeface="Times New Roman" panose="02020603050405020304" pitchFamily="18" charset="0"/>
              </a:rPr>
              <a:t>01</a:t>
            </a:r>
            <a:r>
              <a:rPr lang="zh-TW" altLang="en-US" sz="2000" spc="600" dirty="0">
                <a:latin typeface="Times New Roman" panose="02020603050405020304" pitchFamily="18" charset="0"/>
                <a:cs typeface="Times New Roman" panose="02020603050405020304" pitchFamily="18" charset="0"/>
              </a:rPr>
              <a:t> → </a:t>
            </a:r>
            <a:r>
              <a:rPr lang="en-US" altLang="zh-TW" sz="2000" spc="600" dirty="0">
                <a:solidFill>
                  <a:srgbClr val="FF0000"/>
                </a:solidFill>
                <a:latin typeface="Times New Roman" panose="02020603050405020304" pitchFamily="18" charset="0"/>
                <a:cs typeface="Times New Roman" panose="02020603050405020304" pitchFamily="18" charset="0"/>
              </a:rPr>
              <a:t>01</a:t>
            </a:r>
            <a:r>
              <a:rPr lang="en-US" altLang="zh-TW" sz="2000" spc="600" dirty="0">
                <a:solidFill>
                  <a:srgbClr val="00B050"/>
                </a:solidFill>
                <a:latin typeface="Times New Roman" panose="02020603050405020304" pitchFamily="18" charset="0"/>
                <a:cs typeface="Times New Roman" panose="02020603050405020304" pitchFamily="18" charset="0"/>
              </a:rPr>
              <a:t>0</a:t>
            </a:r>
            <a:r>
              <a:rPr lang="en-US" altLang="zh-TW" sz="2000" spc="600" dirty="0">
                <a:latin typeface="Times New Roman" panose="02020603050405020304" pitchFamily="18" charset="0"/>
                <a:cs typeface="Times New Roman" panose="02020603050405020304" pitchFamily="18" charset="0"/>
              </a:rPr>
              <a:t>1</a:t>
            </a:r>
            <a:r>
              <a:rPr lang="zh-TW" altLang="en-US" sz="2000" spc="600" dirty="0">
                <a:latin typeface="Times New Roman" panose="02020603050405020304" pitchFamily="18" charset="0"/>
                <a:cs typeface="Times New Roman" panose="02020603050405020304" pitchFamily="18" charset="0"/>
              </a:rPr>
              <a:t> → </a:t>
            </a:r>
            <a:r>
              <a:rPr lang="en-US" altLang="zh-TW" sz="2000" b="1" u="sng" spc="600" dirty="0">
                <a:latin typeface="Times New Roman" panose="02020603050405020304" pitchFamily="18" charset="0"/>
                <a:cs typeface="Times New Roman" panose="02020603050405020304" pitchFamily="18" charset="0"/>
              </a:rPr>
              <a:t>0011</a:t>
            </a:r>
            <a:r>
              <a:rPr lang="zh-TW" altLang="en-US" sz="2000" spc="600" dirty="0">
                <a:latin typeface="Times New Roman" panose="02020603050405020304" pitchFamily="18" charset="0"/>
                <a:cs typeface="Times New Roman" panose="02020603050405020304" pitchFamily="18" charset="0"/>
              </a:rPr>
              <a:t> → </a:t>
            </a:r>
            <a:r>
              <a:rPr lang="en-US" altLang="zh-TW" sz="2000" spc="600" dirty="0">
                <a:latin typeface="Times New Roman" panose="02020603050405020304" pitchFamily="18" charset="0"/>
                <a:cs typeface="Times New Roman" panose="02020603050405020304" pitchFamily="18" charset="0"/>
              </a:rPr>
              <a:t>01</a:t>
            </a:r>
          </a:p>
        </p:txBody>
      </p:sp>
      <p:sp>
        <p:nvSpPr>
          <p:cNvPr id="15" name="矩形 14">
            <a:extLst>
              <a:ext uri="{FF2B5EF4-FFF2-40B4-BE49-F238E27FC236}">
                <a16:creationId xmlns:a16="http://schemas.microsoft.com/office/drawing/2014/main" id="{6B31E160-C66A-43D3-AADA-1C4521231BE9}"/>
              </a:ext>
            </a:extLst>
          </p:cNvPr>
          <p:cNvSpPr/>
          <p:nvPr/>
        </p:nvSpPr>
        <p:spPr>
          <a:xfrm>
            <a:off x="2141242" y="4185653"/>
            <a:ext cx="1590820" cy="369332"/>
          </a:xfrm>
          <a:prstGeom prst="rect">
            <a:avLst/>
          </a:prstGeom>
        </p:spPr>
        <p:txBody>
          <a:bodyPr wrap="none">
            <a:spAutoFit/>
          </a:bodyPr>
          <a:lstStyle/>
          <a:p>
            <a:r>
              <a:rPr lang="en-US" altLang="zh-TW" b="0" i="0" dirty="0">
                <a:solidFill>
                  <a:srgbClr val="0070C0"/>
                </a:solidFill>
                <a:latin typeface="Times New Roman" panose="02020603050405020304" pitchFamily="18" charset="0"/>
                <a:cs typeface="Times New Roman" panose="02020603050405020304" pitchFamily="18" charset="0"/>
              </a:rPr>
              <a:t>2-transposition</a:t>
            </a:r>
            <a:endParaRPr lang="zh-TW" altLang="en-US" dirty="0">
              <a:solidFill>
                <a:srgbClr val="0070C0"/>
              </a:solidFill>
              <a:latin typeface="Times New Roman" panose="02020603050405020304" pitchFamily="18" charset="0"/>
              <a:cs typeface="Times New Roman" panose="02020603050405020304" pitchFamily="18" charset="0"/>
            </a:endParaRPr>
          </a:p>
        </p:txBody>
      </p:sp>
      <p:sp>
        <p:nvSpPr>
          <p:cNvPr id="16" name="矩形 15">
            <a:extLst>
              <a:ext uri="{FF2B5EF4-FFF2-40B4-BE49-F238E27FC236}">
                <a16:creationId xmlns:a16="http://schemas.microsoft.com/office/drawing/2014/main" id="{879533AB-3823-4015-A0E7-BDE0CA7DC4C8}"/>
              </a:ext>
            </a:extLst>
          </p:cNvPr>
          <p:cNvSpPr/>
          <p:nvPr/>
        </p:nvSpPr>
        <p:spPr>
          <a:xfrm>
            <a:off x="5113042" y="4185653"/>
            <a:ext cx="1590820" cy="369332"/>
          </a:xfrm>
          <a:prstGeom prst="rect">
            <a:avLst/>
          </a:prstGeom>
        </p:spPr>
        <p:txBody>
          <a:bodyPr wrap="none">
            <a:spAutoFit/>
          </a:bodyPr>
          <a:lstStyle/>
          <a:p>
            <a:r>
              <a:rPr lang="en-US" altLang="zh-TW" b="0" i="0" dirty="0">
                <a:solidFill>
                  <a:srgbClr val="0070C0"/>
                </a:solidFill>
                <a:latin typeface="Times New Roman" panose="02020603050405020304" pitchFamily="18" charset="0"/>
                <a:cs typeface="Times New Roman" panose="02020603050405020304" pitchFamily="18" charset="0"/>
              </a:rPr>
              <a:t>2-transposition</a:t>
            </a:r>
            <a:endParaRPr lang="zh-TW" altLang="en-US" dirty="0">
              <a:solidFill>
                <a:srgbClr val="0070C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8" name="標題 1">
                <a:extLst>
                  <a:ext uri="{FF2B5EF4-FFF2-40B4-BE49-F238E27FC236}">
                    <a16:creationId xmlns:a16="http://schemas.microsoft.com/office/drawing/2014/main" id="{4836A4FE-1350-4287-B96F-2C20991AE001}"/>
                  </a:ext>
                </a:extLst>
              </p:cNvPr>
              <p:cNvSpPr txBox="1">
                <a:spLocks/>
              </p:cNvSpPr>
              <p:nvPr/>
            </p:nvSpPr>
            <p:spPr>
              <a:xfrm>
                <a:off x="402231" y="4948697"/>
                <a:ext cx="7000875" cy="707886"/>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00000"/>
                  </a:lnSpc>
                  <a:buFont typeface="Arial" panose="020B0604020202020204" pitchFamily="34" charset="0"/>
                  <a:buChar char="•"/>
                </a:pPr>
                <a:r>
                  <a:rPr lang="en-US" altLang="zh-TW" sz="2400" dirty="0">
                    <a:solidFill>
                      <a:srgbClr val="FF0000"/>
                    </a:solidFill>
                    <a:latin typeface="Times New Roman" panose="02020603050405020304" pitchFamily="18" charset="0"/>
                    <a:cs typeface="Times New Roman" panose="02020603050405020304" pitchFamily="18" charset="0"/>
                  </a:rPr>
                  <a:t>Grouping</a:t>
                </a:r>
                <a:r>
                  <a:rPr lang="en-US" altLang="zh-TW" sz="2400" dirty="0">
                    <a:latin typeface="Times New Roman" panose="02020603050405020304" pitchFamily="18" charset="0"/>
                    <a:cs typeface="Times New Roman" panose="02020603050405020304" pitchFamily="18" charset="0"/>
                  </a:rPr>
                  <a:t> distance: </a:t>
                </a:r>
                <a14:m>
                  <m:oMath xmlns:m="http://schemas.openxmlformats.org/officeDocument/2006/math">
                    <m:sSub>
                      <m:sSubPr>
                        <m:ctrlPr>
                          <a:rPr lang="en-US" altLang="zh-TW" sz="2400" b="0" i="1" smtClean="0">
                            <a:latin typeface="Cambria Math" panose="02040503050406030204" pitchFamily="18" charset="0"/>
                            <a:cs typeface="Times New Roman" panose="02020603050405020304" pitchFamily="18" charset="0"/>
                          </a:rPr>
                        </m:ctrlPr>
                      </m:sSubPr>
                      <m:e>
                        <m:r>
                          <a:rPr lang="en-US" altLang="zh-TW" sz="2400" b="0" i="1" smtClean="0">
                            <a:latin typeface="Cambria Math" panose="02040503050406030204" pitchFamily="18" charset="0"/>
                            <a:cs typeface="Times New Roman" panose="02020603050405020304" pitchFamily="18" charset="0"/>
                          </a:rPr>
                          <m:t>𝑑</m:t>
                        </m:r>
                      </m:e>
                      <m:sub>
                        <m:r>
                          <a:rPr lang="en-US" altLang="zh-TW" sz="2400" b="0" i="1" smtClean="0">
                            <a:latin typeface="Cambria Math" panose="02040503050406030204" pitchFamily="18" charset="0"/>
                            <a:cs typeface="Times New Roman" panose="02020603050405020304" pitchFamily="18" charset="0"/>
                          </a:rPr>
                          <m:t>𝑔</m:t>
                        </m:r>
                      </m:sub>
                    </m:sSub>
                    <m:d>
                      <m:dPr>
                        <m:ctrlPr>
                          <a:rPr lang="en-US" altLang="zh-TW" sz="2400" b="0" i="1" smtClean="0">
                            <a:latin typeface="Cambria Math" panose="02040503050406030204" pitchFamily="18" charset="0"/>
                            <a:cs typeface="Times New Roman" panose="02020603050405020304" pitchFamily="18" charset="0"/>
                          </a:rPr>
                        </m:ctrlPr>
                      </m:dPr>
                      <m:e>
                        <m:r>
                          <a:rPr lang="en-US" altLang="zh-TW" sz="2400" b="0" i="1" smtClean="0">
                            <a:latin typeface="Cambria Math" panose="02040503050406030204" pitchFamily="18" charset="0"/>
                            <a:cs typeface="Times New Roman" panose="02020603050405020304" pitchFamily="18" charset="0"/>
                          </a:rPr>
                          <m:t>𝑠</m:t>
                        </m:r>
                      </m:e>
                    </m:d>
                    <m:r>
                      <a:rPr lang="en-US" altLang="zh-TW" sz="2400" b="0" i="1" smtClean="0">
                        <a:latin typeface="Cambria Math" panose="02040503050406030204" pitchFamily="18" charset="0"/>
                        <a:cs typeface="Times New Roman" panose="02020603050405020304" pitchFamily="18" charset="0"/>
                      </a:rPr>
                      <m:t>=2</m:t>
                    </m:r>
                  </m:oMath>
                </a14:m>
                <a:r>
                  <a:rPr lang="en-US" altLang="zh-TW" sz="2400" dirty="0">
                    <a:latin typeface="Times New Roman" panose="02020603050405020304" pitchFamily="18" charset="0"/>
                    <a:cs typeface="Times New Roman" panose="02020603050405020304" pitchFamily="18" charset="0"/>
                  </a:rPr>
                  <a:t> </a:t>
                </a:r>
                <a:r>
                  <a:rPr lang="en-US" altLang="zh-TW" sz="2400" dirty="0" smtClean="0">
                    <a:latin typeface="Times New Roman" panose="02020603050405020304" pitchFamily="18" charset="0"/>
                    <a:cs typeface="Times New Roman" panose="02020603050405020304" pitchFamily="18" charset="0"/>
                  </a:rPr>
                  <a:t>(</a:t>
                </a:r>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兩次</a:t>
                </a:r>
                <a:r>
                  <a:rPr lang="en-US" altLang="zh-TW" sz="2400" dirty="0" smtClean="0">
                    <a:latin typeface="Times New Roman" panose="02020603050405020304" pitchFamily="18" charset="0"/>
                    <a:cs typeface="Times New Roman" panose="02020603050405020304" pitchFamily="18" charset="0"/>
                  </a:rPr>
                  <a:t> </a:t>
                </a:r>
                <a:r>
                  <a:rPr lang="en-US" altLang="zh-TW" sz="2400" dirty="0">
                    <a:solidFill>
                      <a:srgbClr val="0070C0"/>
                    </a:solidFill>
                    <a:latin typeface="Times New Roman" panose="02020603050405020304" pitchFamily="18" charset="0"/>
                    <a:cs typeface="Times New Roman" panose="02020603050405020304" pitchFamily="18" charset="0"/>
                  </a:rPr>
                  <a:t>2-transpositions</a:t>
                </a:r>
                <a:r>
                  <a:rPr lang="en-US" altLang="zh-TW" sz="2400" dirty="0" smtClean="0">
                    <a:latin typeface="Times New Roman" panose="02020603050405020304" pitchFamily="18" charset="0"/>
                    <a:cs typeface="Times New Roman" panose="02020603050405020304" pitchFamily="18" charset="0"/>
                  </a:rPr>
                  <a:t>)</a:t>
                </a:r>
              </a:p>
              <a:p>
                <a:pPr marL="342900" indent="-342900">
                  <a:lnSpc>
                    <a:spcPct val="100000"/>
                  </a:lnSpc>
                  <a:buFont typeface="Arial" panose="020B0604020202020204" pitchFamily="34" charset="0"/>
                  <a:buChar char="•"/>
                </a:pPr>
                <a:r>
                  <a:rPr lang="en-US" altLang="zh-TW" sz="2400" dirty="0" smtClean="0">
                    <a:latin typeface="Times New Roman" panose="02020603050405020304" pitchFamily="18" charset="0"/>
                    <a:cs typeface="Times New Roman" panose="02020603050405020304" pitchFamily="18" charset="0"/>
                  </a:rPr>
                  <a:t>(Weak sort)</a:t>
                </a:r>
                <a:endParaRPr lang="en-US" altLang="zh-TW" sz="2400" dirty="0">
                  <a:latin typeface="Times New Roman" panose="02020603050405020304" pitchFamily="18" charset="0"/>
                  <a:cs typeface="Times New Roman" panose="02020603050405020304" pitchFamily="18" charset="0"/>
                </a:endParaRPr>
              </a:p>
            </p:txBody>
          </p:sp>
        </mc:Choice>
        <mc:Fallback xmlns="">
          <p:sp>
            <p:nvSpPr>
              <p:cNvPr id="18" name="標題 1">
                <a:extLst>
                  <a:ext uri="{FF2B5EF4-FFF2-40B4-BE49-F238E27FC236}">
                    <a16:creationId xmlns:a16="http://schemas.microsoft.com/office/drawing/2014/main" id="{4836A4FE-1350-4287-B96F-2C20991AE001}"/>
                  </a:ext>
                </a:extLst>
              </p:cNvPr>
              <p:cNvSpPr txBox="1">
                <a:spLocks noRot="1" noChangeAspect="1" noMove="1" noResize="1" noEditPoints="1" noAdjustHandles="1" noChangeArrowheads="1" noChangeShapeType="1" noTextEdit="1"/>
              </p:cNvSpPr>
              <p:nvPr/>
            </p:nvSpPr>
            <p:spPr>
              <a:xfrm>
                <a:off x="402231" y="4948697"/>
                <a:ext cx="7000875" cy="707886"/>
              </a:xfrm>
              <a:prstGeom prst="rect">
                <a:avLst/>
              </a:prstGeom>
              <a:blipFill>
                <a:blip r:embed="rId3"/>
                <a:stretch>
                  <a:fillRect l="-1045" t="-9483" b="-1379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矩形 18">
                <a:extLst>
                  <a:ext uri="{FF2B5EF4-FFF2-40B4-BE49-F238E27FC236}">
                    <a16:creationId xmlns:a16="http://schemas.microsoft.com/office/drawing/2014/main" id="{D39E3B7D-A8AB-45F9-A841-F0ED9897B7A8}"/>
                  </a:ext>
                </a:extLst>
              </p:cNvPr>
              <p:cNvSpPr/>
              <p:nvPr/>
            </p:nvSpPr>
            <p:spPr>
              <a:xfrm>
                <a:off x="665395" y="5643657"/>
                <a:ext cx="7595349" cy="1040606"/>
              </a:xfrm>
              <a:prstGeom prst="rect">
                <a:avLst/>
              </a:prstGeom>
            </p:spPr>
            <p:txBody>
              <a:bodyPr wrap="none">
                <a:spAutoFit/>
              </a:bodyPr>
              <a:lstStyle/>
              <a:p>
                <a:r>
                  <a:rPr lang="zh-TW" altLang="en-US" sz="2000" dirty="0">
                    <a:solidFill>
                      <a:srgbClr val="0070C0"/>
                    </a:solidFill>
                    <a:latin typeface="Times New Roman" panose="02020603050405020304" pitchFamily="18" charset="0"/>
                    <a:cs typeface="Times New Roman" panose="02020603050405020304" pitchFamily="18" charset="0"/>
                  </a:rPr>
                  <a:t>觀察</a:t>
                </a:r>
                <a:r>
                  <a:rPr lang="en-US" altLang="zh-TW" sz="2000" dirty="0" smtClean="0">
                    <a:solidFill>
                      <a:srgbClr val="0070C0"/>
                    </a:solidFill>
                    <a:latin typeface="Times New Roman" panose="02020603050405020304" pitchFamily="18" charset="0"/>
                    <a:cs typeface="Times New Roman" panose="02020603050405020304" pitchFamily="18" charset="0"/>
                  </a:rPr>
                  <a:t>:</a:t>
                </a:r>
                <a:r>
                  <a:rPr lang="zh-TW" altLang="en-US" sz="2000" dirty="0" smtClean="0">
                    <a:solidFill>
                      <a:srgbClr val="0070C0"/>
                    </a:solidFill>
                    <a:latin typeface="Times New Roman" panose="02020603050405020304" pitchFamily="18" charset="0"/>
                    <a:cs typeface="Times New Roman" panose="02020603050405020304" pitchFamily="18" charset="0"/>
                  </a:rPr>
                  <a:t> 每次交換</a:t>
                </a:r>
                <a:r>
                  <a:rPr lang="zh-TW" altLang="en-US" sz="2000" dirty="0" smtClean="0">
                    <a:solidFill>
                      <a:srgbClr val="FF0000"/>
                    </a:solidFill>
                    <a:latin typeface="Times New Roman" panose="02020603050405020304" pitchFamily="18" charset="0"/>
                    <a:cs typeface="Times New Roman" panose="02020603050405020304" pitchFamily="18" charset="0"/>
                  </a:rPr>
                  <a:t>最多</a:t>
                </a:r>
                <a:r>
                  <a:rPr lang="zh-TW" altLang="en-US" sz="2000" dirty="0" smtClean="0">
                    <a:solidFill>
                      <a:srgbClr val="0070C0"/>
                    </a:solidFill>
                    <a:latin typeface="Times New Roman" panose="02020603050405020304" pitchFamily="18" charset="0"/>
                    <a:cs typeface="Times New Roman" panose="02020603050405020304" pitchFamily="18" charset="0"/>
                  </a:rPr>
                  <a:t>只能砍掉兩個字元，所以越多</a:t>
                </a:r>
                <a:r>
                  <a:rPr lang="en-US" altLang="zh-TW" sz="2000" dirty="0" smtClean="0">
                    <a:solidFill>
                      <a:srgbClr val="0070C0"/>
                    </a:solidFill>
                    <a:latin typeface="Times New Roman" panose="02020603050405020304" pitchFamily="18" charset="0"/>
                    <a:cs typeface="Times New Roman" panose="02020603050405020304" pitchFamily="18" charset="0"/>
                  </a:rPr>
                  <a:t>2-transpositions</a:t>
                </a:r>
                <a:r>
                  <a:rPr lang="zh-TW" altLang="en-US" sz="2000" dirty="0" smtClean="0">
                    <a:solidFill>
                      <a:srgbClr val="0070C0"/>
                    </a:solidFill>
                    <a:latin typeface="Times New Roman" panose="02020603050405020304" pitchFamily="18" charset="0"/>
                    <a:cs typeface="Times New Roman" panose="02020603050405020304" pitchFamily="18" charset="0"/>
                  </a:rPr>
                  <a:t>，</a:t>
                </a:r>
                <a:endParaRPr lang="en-US" altLang="zh-TW" sz="2000" dirty="0" smtClean="0">
                  <a:solidFill>
                    <a:srgbClr val="0070C0"/>
                  </a:solidFill>
                  <a:latin typeface="Times New Roman" panose="02020603050405020304" pitchFamily="18" charset="0"/>
                  <a:cs typeface="Times New Roman" panose="02020603050405020304" pitchFamily="18" charset="0"/>
                </a:endParaRPr>
              </a:p>
              <a:p>
                <a14:m>
                  <m:oMath xmlns:m="http://schemas.openxmlformats.org/officeDocument/2006/math">
                    <m:sSub>
                      <m:sSubPr>
                        <m:ctrlPr>
                          <a:rPr lang="en-US" altLang="zh-TW" sz="2000" i="1">
                            <a:solidFill>
                              <a:srgbClr val="0070C0"/>
                            </a:solidFill>
                            <a:latin typeface="Cambria Math" panose="02040503050406030204" pitchFamily="18" charset="0"/>
                            <a:cs typeface="Times New Roman" panose="02020603050405020304" pitchFamily="18" charset="0"/>
                          </a:rPr>
                        </m:ctrlPr>
                      </m:sSubPr>
                      <m:e>
                        <m:r>
                          <a:rPr lang="en-US" altLang="zh-TW" sz="2000" i="1">
                            <a:solidFill>
                              <a:srgbClr val="0070C0"/>
                            </a:solidFill>
                            <a:latin typeface="Cambria Math" panose="02040503050406030204" pitchFamily="18" charset="0"/>
                            <a:cs typeface="Times New Roman" panose="02020603050405020304" pitchFamily="18" charset="0"/>
                          </a:rPr>
                          <m:t>𝑑</m:t>
                        </m:r>
                      </m:e>
                      <m:sub>
                        <m:r>
                          <a:rPr lang="en-US" altLang="zh-TW" sz="2000" i="1">
                            <a:solidFill>
                              <a:srgbClr val="0070C0"/>
                            </a:solidFill>
                            <a:latin typeface="Cambria Math" panose="02040503050406030204" pitchFamily="18" charset="0"/>
                            <a:cs typeface="Times New Roman" panose="02020603050405020304" pitchFamily="18" charset="0"/>
                          </a:rPr>
                          <m:t>𝑔</m:t>
                        </m:r>
                      </m:sub>
                    </m:sSub>
                    <m:d>
                      <m:dPr>
                        <m:ctrlPr>
                          <a:rPr lang="en-US" altLang="zh-TW" sz="2000" i="1">
                            <a:solidFill>
                              <a:srgbClr val="0070C0"/>
                            </a:solidFill>
                            <a:latin typeface="Cambria Math" panose="02040503050406030204" pitchFamily="18" charset="0"/>
                            <a:cs typeface="Times New Roman" panose="02020603050405020304" pitchFamily="18" charset="0"/>
                          </a:rPr>
                        </m:ctrlPr>
                      </m:dPr>
                      <m:e>
                        <m:r>
                          <a:rPr lang="en-US" altLang="zh-TW" sz="2000" i="1">
                            <a:solidFill>
                              <a:srgbClr val="0070C0"/>
                            </a:solidFill>
                            <a:latin typeface="Cambria Math" panose="02040503050406030204" pitchFamily="18" charset="0"/>
                            <a:cs typeface="Times New Roman" panose="02020603050405020304" pitchFamily="18" charset="0"/>
                          </a:rPr>
                          <m:t>𝑠</m:t>
                        </m:r>
                      </m:e>
                    </m:d>
                  </m:oMath>
                </a14:m>
                <a:r>
                  <a:rPr lang="zh-TW" altLang="en-US" sz="2000" dirty="0" smtClean="0">
                    <a:solidFill>
                      <a:srgbClr val="0070C0"/>
                    </a:solidFill>
                    <a:latin typeface="Times New Roman" panose="02020603050405020304" pitchFamily="18" charset="0"/>
                    <a:cs typeface="Times New Roman" panose="02020603050405020304" pitchFamily="18" charset="0"/>
                  </a:rPr>
                  <a:t>就會越小</a:t>
                </a:r>
                <a:endParaRPr lang="en-US" altLang="zh-TW" sz="2000" dirty="0" smtClean="0">
                  <a:solidFill>
                    <a:srgbClr val="0070C0"/>
                  </a:solidFill>
                  <a:latin typeface="Times New Roman" panose="02020603050405020304" pitchFamily="18" charset="0"/>
                  <a:cs typeface="Times New Roman" panose="02020603050405020304" pitchFamily="18" charset="0"/>
                </a:endParaRPr>
              </a:p>
              <a:p>
                <a:endParaRPr lang="zh-TW" altLang="en-US" sz="2000" dirty="0">
                  <a:solidFill>
                    <a:srgbClr val="0070C0"/>
                  </a:solidFill>
                  <a:latin typeface="Times New Roman" panose="02020603050405020304" pitchFamily="18" charset="0"/>
                  <a:cs typeface="Times New Roman" panose="02020603050405020304" pitchFamily="18" charset="0"/>
                </a:endParaRPr>
              </a:p>
            </p:txBody>
          </p:sp>
        </mc:Choice>
        <mc:Fallback xmlns="">
          <p:sp>
            <p:nvSpPr>
              <p:cNvPr id="19" name="矩形 18">
                <a:extLst>
                  <a:ext uri="{FF2B5EF4-FFF2-40B4-BE49-F238E27FC236}">
                    <a16:creationId xmlns:a16="http://schemas.microsoft.com/office/drawing/2014/main" id="{D39E3B7D-A8AB-45F9-A841-F0ED9897B7A8}"/>
                  </a:ext>
                </a:extLst>
              </p:cNvPr>
              <p:cNvSpPr>
                <a:spLocks noRot="1" noChangeAspect="1" noMove="1" noResize="1" noEditPoints="1" noAdjustHandles="1" noChangeArrowheads="1" noChangeShapeType="1" noTextEdit="1"/>
              </p:cNvSpPr>
              <p:nvPr/>
            </p:nvSpPr>
            <p:spPr>
              <a:xfrm>
                <a:off x="665395" y="5643657"/>
                <a:ext cx="7595349" cy="1040606"/>
              </a:xfrm>
              <a:prstGeom prst="rect">
                <a:avLst/>
              </a:prstGeom>
              <a:blipFill>
                <a:blip r:embed="rId4"/>
                <a:stretch>
                  <a:fillRect l="-803" t="-3529" r="-161"/>
                </a:stretch>
              </a:blipFill>
            </p:spPr>
            <p:txBody>
              <a:bodyPr/>
              <a:lstStyle/>
              <a:p>
                <a:r>
                  <a:rPr lang="zh-TW" altLang="en-US">
                    <a:noFill/>
                  </a:rPr>
                  <a:t> </a:t>
                </a:r>
              </a:p>
            </p:txBody>
          </p:sp>
        </mc:Fallback>
      </mc:AlternateContent>
      <p:sp>
        <p:nvSpPr>
          <p:cNvPr id="12" name="矩形 11">
            <a:extLst>
              <a:ext uri="{FF2B5EF4-FFF2-40B4-BE49-F238E27FC236}">
                <a16:creationId xmlns:a16="http://schemas.microsoft.com/office/drawing/2014/main" id="{969507C8-AB96-4A0A-94AD-F520F34AAA59}"/>
              </a:ext>
            </a:extLst>
          </p:cNvPr>
          <p:cNvSpPr/>
          <p:nvPr/>
        </p:nvSpPr>
        <p:spPr>
          <a:xfrm>
            <a:off x="5833807" y="2322010"/>
            <a:ext cx="2855466" cy="400110"/>
          </a:xfrm>
          <a:prstGeom prst="rect">
            <a:avLst/>
          </a:prstGeom>
        </p:spPr>
        <p:txBody>
          <a:bodyPr wrap="square">
            <a:spAutoFit/>
          </a:bodyPr>
          <a:lstStyle/>
          <a:p>
            <a:r>
              <a:rPr lang="en-US" altLang="zh-TW" sz="2000" dirty="0">
                <a:solidFill>
                  <a:srgbClr val="FF0000"/>
                </a:solidFill>
                <a:latin typeface="Times New Roman" panose="02020603050405020304" pitchFamily="18" charset="0"/>
                <a:cs typeface="Times New Roman" panose="02020603050405020304" pitchFamily="18" charset="0"/>
              </a:rPr>
              <a:t>(by grouping and sorting)</a:t>
            </a:r>
          </a:p>
        </p:txBody>
      </p:sp>
    </p:spTree>
    <p:extLst>
      <p:ext uri="{BB962C8B-B14F-4D97-AF65-F5344CB8AC3E}">
        <p14:creationId xmlns:p14="http://schemas.microsoft.com/office/powerpoint/2010/main" val="3062619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childTnLst>
                          </p:cTn>
                        </p:par>
                        <p:par>
                          <p:cTn id="21" fill="hold">
                            <p:stCondLst>
                              <p:cond delay="500"/>
                            </p:stCondLst>
                            <p:childTnLst>
                              <p:par>
                                <p:cTn id="22" presetID="10"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P spid="16" grpId="0"/>
      <p:bldP spid="18" grpId="0"/>
      <p:bldP spid="19" grpId="0"/>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DADFF97C-D0BF-45FF-A22C-72D78250B1D2}"/>
                  </a:ext>
                </a:extLst>
              </p:cNvPr>
              <p:cNvSpPr/>
              <p:nvPr/>
            </p:nvSpPr>
            <p:spPr>
              <a:xfrm>
                <a:off x="741157" y="3062319"/>
                <a:ext cx="5020220" cy="1631216"/>
              </a:xfrm>
              <a:prstGeom prst="rect">
                <a:avLst/>
              </a:prstGeom>
            </p:spPr>
            <p:txBody>
              <a:bodyPr wrap="none">
                <a:spAutoFit/>
              </a:bodyPr>
              <a:lstStyle/>
              <a:p>
                <a:pPr marL="342900" indent="-342900">
                  <a:buFont typeface="Arial" panose="020B0604020202020204" pitchFamily="34" charset="0"/>
                  <a:buChar char="•"/>
                </a:pPr>
                <a14:m>
                  <m:oMath xmlns:m="http://schemas.openxmlformats.org/officeDocument/2006/math">
                    <m:d>
                      <m:dPr>
                        <m:begChr m:val="|"/>
                        <m:endChr m:val="|"/>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𝑠</m:t>
                        </m:r>
                      </m:e>
                    </m:d>
                  </m:oMath>
                </a14:m>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is odd</a:t>
                </a:r>
                <a:r>
                  <a:rPr lang="zh-TW" altLang="en-US" sz="2000" dirty="0">
                    <a:latin typeface="Times New Roman" panose="02020603050405020304" pitchFamily="18" charset="0"/>
                    <a:cs typeface="Times New Roman" panose="02020603050405020304" pitchFamily="18" charset="0"/>
                  </a:rPr>
                  <a:t> → </a:t>
                </a:r>
                <a:r>
                  <a:rPr lang="en-US" altLang="zh-TW" sz="2000" dirty="0">
                    <a:latin typeface="Times New Roman" panose="02020603050405020304" pitchFamily="18" charset="0"/>
                    <a:cs typeface="Times New Roman" panose="02020603050405020304" pitchFamily="18" charset="0"/>
                  </a:rPr>
                  <a:t>need an extra 1-transposition</a:t>
                </a:r>
              </a:p>
              <a:p>
                <a:pPr marL="342900" indent="-342900">
                  <a:buFont typeface="Arial" panose="020B0604020202020204" pitchFamily="34" charset="0"/>
                  <a:buChar char="•"/>
                </a:pPr>
                <a:endParaRPr lang="en-US" altLang="zh-TW"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altLang="zh-TW"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14:m>
                  <m:oMath xmlns:m="http://schemas.openxmlformats.org/officeDocument/2006/math">
                    <m:d>
                      <m:dPr>
                        <m:begChr m:val="|"/>
                        <m:endChr m:val="|"/>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𝑠</m:t>
                        </m:r>
                      </m:e>
                    </m:d>
                  </m:oMath>
                </a14:m>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is even</a:t>
                </a:r>
                <a:r>
                  <a:rPr lang="zh-TW" altLang="en-US" sz="2000" dirty="0">
                    <a:latin typeface="Times New Roman" panose="02020603050405020304" pitchFamily="18" charset="0"/>
                    <a:cs typeface="Times New Roman" panose="02020603050405020304" pitchFamily="18" charset="0"/>
                  </a:rPr>
                  <a:t> → </a:t>
                </a:r>
                <a:r>
                  <a:rPr lang="en-US" altLang="zh-TW" sz="2000" dirty="0">
                    <a:latin typeface="Times New Roman" panose="02020603050405020304" pitchFamily="18" charset="0"/>
                    <a:cs typeface="Times New Roman" panose="02020603050405020304" pitchFamily="18" charset="0"/>
                  </a:rPr>
                  <a:t>always have a 2-transposition</a:t>
                </a:r>
              </a:p>
              <a:p>
                <a:pPr marL="342900" indent="-342900">
                  <a:buFont typeface="Arial" panose="020B0604020202020204" pitchFamily="34" charset="0"/>
                  <a:buChar char="•"/>
                </a:pPr>
                <a:endParaRPr lang="en-US" altLang="zh-TW" sz="2000" dirty="0">
                  <a:latin typeface="Times New Roman" panose="02020603050405020304" pitchFamily="18" charset="0"/>
                  <a:cs typeface="Times New Roman" panose="02020603050405020304" pitchFamily="18" charset="0"/>
                </a:endParaRPr>
              </a:p>
            </p:txBody>
          </p:sp>
        </mc:Choice>
        <mc:Fallback xmlns="">
          <p:sp>
            <p:nvSpPr>
              <p:cNvPr id="3" name="矩形 2">
                <a:extLst>
                  <a:ext uri="{FF2B5EF4-FFF2-40B4-BE49-F238E27FC236}">
                    <a16:creationId xmlns:a16="http://schemas.microsoft.com/office/drawing/2014/main" id="{DADFF97C-D0BF-45FF-A22C-72D78250B1D2}"/>
                  </a:ext>
                </a:extLst>
              </p:cNvPr>
              <p:cNvSpPr>
                <a:spLocks noRot="1" noChangeAspect="1" noMove="1" noResize="1" noEditPoints="1" noAdjustHandles="1" noChangeArrowheads="1" noChangeShapeType="1" noTextEdit="1"/>
              </p:cNvSpPr>
              <p:nvPr/>
            </p:nvSpPr>
            <p:spPr>
              <a:xfrm>
                <a:off x="741157" y="3062319"/>
                <a:ext cx="5020220" cy="1631216"/>
              </a:xfrm>
              <a:prstGeom prst="rect">
                <a:avLst/>
              </a:prstGeom>
              <a:blipFill>
                <a:blip r:embed="rId2"/>
                <a:stretch>
                  <a:fillRect l="-1094" t="-1866" r="-729"/>
                </a:stretch>
              </a:blipFill>
            </p:spPr>
            <p:txBody>
              <a:bodyPr/>
              <a:lstStyle/>
              <a:p>
                <a:r>
                  <a:rPr lang="zh-TW" altLang="en-US">
                    <a:noFill/>
                  </a:rPr>
                  <a:t> </a:t>
                </a:r>
              </a:p>
            </p:txBody>
          </p:sp>
        </mc:Fallback>
      </mc:AlternateContent>
      <p:sp>
        <p:nvSpPr>
          <p:cNvPr id="8" name="標題 1">
            <a:extLst>
              <a:ext uri="{FF2B5EF4-FFF2-40B4-BE49-F238E27FC236}">
                <a16:creationId xmlns:a16="http://schemas.microsoft.com/office/drawing/2014/main" id="{E96330B5-DE66-409E-9D6D-EC0545C2E896}"/>
              </a:ext>
            </a:extLst>
          </p:cNvPr>
          <p:cNvSpPr txBox="1">
            <a:spLocks/>
          </p:cNvSpPr>
          <p:nvPr/>
        </p:nvSpPr>
        <p:spPr>
          <a:xfrm>
            <a:off x="402232" y="1018740"/>
            <a:ext cx="8113118" cy="583367"/>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50000"/>
              </a:lnSpc>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Possible kinds of generalized </a:t>
            </a:r>
            <a:r>
              <a:rPr lang="en-US" altLang="zh-TW" sz="2400" dirty="0" smtClean="0">
                <a:latin typeface="Times New Roman" panose="02020603050405020304" pitchFamily="18" charset="0"/>
                <a:cs typeface="Times New Roman" panose="02020603050405020304" pitchFamily="18" charset="0"/>
              </a:rPr>
              <a:t>string: (generalized:</a:t>
            </a:r>
            <a:r>
              <a:rPr lang="zh-TW" altLang="en-US" sz="2400" dirty="0" smtClean="0">
                <a:latin typeface="標楷體" panose="03000509000000000000" pitchFamily="65" charset="-120"/>
                <a:ea typeface="標楷體" panose="03000509000000000000" pitchFamily="65" charset="-120"/>
                <a:cs typeface="Times New Roman" panose="02020603050405020304" pitchFamily="18" charset="0"/>
              </a:rPr>
              <a:t>無法再做消除</a:t>
            </a:r>
            <a:r>
              <a:rPr lang="en-US" altLang="zh-TW" sz="2400" dirty="0" smtClean="0">
                <a:latin typeface="Times New Roman" panose="02020603050405020304" pitchFamily="18" charset="0"/>
                <a:cs typeface="Times New Roman" panose="02020603050405020304" pitchFamily="18" charset="0"/>
              </a:rPr>
              <a:t>)</a:t>
            </a:r>
            <a:endParaRPr lang="en-US" altLang="zh-TW" sz="20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222F4ADD-F9DA-4202-A4ED-239132DE7250}"/>
              </a:ext>
            </a:extLst>
          </p:cNvPr>
          <p:cNvSpPr>
            <a:spLocks noGrp="1"/>
          </p:cNvSpPr>
          <p:nvPr>
            <p:ph type="sldNum" sz="quarter" idx="12"/>
          </p:nvPr>
        </p:nvSpPr>
        <p:spPr/>
        <p:txBody>
          <a:bodyPr/>
          <a:lstStyle/>
          <a:p>
            <a:fld id="{872633CA-77E0-4863-94F8-E28139DFB2B4}" type="slidenum">
              <a:rPr lang="zh-TW" altLang="en-US" smtClean="0"/>
              <a:t>7</a:t>
            </a:fld>
            <a:endParaRPr lang="zh-TW" altLang="en-US"/>
          </a:p>
        </p:txBody>
      </p:sp>
      <p:sp>
        <p:nvSpPr>
          <p:cNvPr id="5" name="標題 1">
            <a:extLst>
              <a:ext uri="{FF2B5EF4-FFF2-40B4-BE49-F238E27FC236}">
                <a16:creationId xmlns:a16="http://schemas.microsoft.com/office/drawing/2014/main" id="{FEF0B28A-BF0C-4AED-8461-CBEAD77D334D}"/>
              </a:ext>
            </a:extLst>
          </p:cNvPr>
          <p:cNvSpPr txBox="1">
            <a:spLocks/>
          </p:cNvSpPr>
          <p:nvPr/>
        </p:nvSpPr>
        <p:spPr>
          <a:xfrm>
            <a:off x="402232" y="385081"/>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Grouping - binary</a:t>
            </a:r>
            <a:endParaRPr lang="zh-TW" altLang="en-US" sz="3200" dirty="0">
              <a:latin typeface="Times New Roman" panose="02020603050405020304" pitchFamily="18" charset="0"/>
              <a:cs typeface="Times New Roman" panose="02020603050405020304" pitchFamily="18" charset="0"/>
            </a:endParaRPr>
          </a:p>
        </p:txBody>
      </p:sp>
      <p:sp>
        <p:nvSpPr>
          <p:cNvPr id="10" name="標題 1">
            <a:extLst>
              <a:ext uri="{FF2B5EF4-FFF2-40B4-BE49-F238E27FC236}">
                <a16:creationId xmlns:a16="http://schemas.microsoft.com/office/drawing/2014/main" id="{CBE3BC99-21BD-4A2E-AEFB-58F73F21D74A}"/>
              </a:ext>
            </a:extLst>
          </p:cNvPr>
          <p:cNvSpPr txBox="1">
            <a:spLocks/>
          </p:cNvSpPr>
          <p:nvPr/>
        </p:nvSpPr>
        <p:spPr>
          <a:xfrm>
            <a:off x="1082265" y="1721218"/>
            <a:ext cx="1782234" cy="53997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altLang="zh-TW" sz="2000" spc="600" dirty="0">
                <a:latin typeface="Times New Roman" panose="02020603050405020304" pitchFamily="18" charset="0"/>
                <a:cs typeface="Times New Roman" panose="02020603050405020304" pitchFamily="18" charset="0"/>
              </a:rPr>
              <a:t>0101…01</a:t>
            </a:r>
          </a:p>
        </p:txBody>
      </p:sp>
      <p:sp>
        <p:nvSpPr>
          <p:cNvPr id="11" name="標題 1">
            <a:extLst>
              <a:ext uri="{FF2B5EF4-FFF2-40B4-BE49-F238E27FC236}">
                <a16:creationId xmlns:a16="http://schemas.microsoft.com/office/drawing/2014/main" id="{1A9A316E-31DB-491E-92E1-FAC5711E8546}"/>
              </a:ext>
            </a:extLst>
          </p:cNvPr>
          <p:cNvSpPr txBox="1">
            <a:spLocks/>
          </p:cNvSpPr>
          <p:nvPr/>
        </p:nvSpPr>
        <p:spPr>
          <a:xfrm>
            <a:off x="1082264" y="4410622"/>
            <a:ext cx="3394486" cy="53997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altLang="zh-TW" sz="2000" spc="600" dirty="0">
                <a:solidFill>
                  <a:srgbClr val="FF0000"/>
                </a:solidFill>
                <a:latin typeface="Times New Roman" panose="02020603050405020304" pitchFamily="18" charset="0"/>
                <a:cs typeface="Times New Roman" panose="02020603050405020304" pitchFamily="18" charset="0"/>
              </a:rPr>
              <a:t>10</a:t>
            </a:r>
            <a:r>
              <a:rPr lang="en-US" altLang="zh-TW" sz="2000" spc="600" dirty="0">
                <a:solidFill>
                  <a:srgbClr val="00B050"/>
                </a:solidFill>
                <a:latin typeface="Times New Roman" panose="02020603050405020304" pitchFamily="18" charset="0"/>
                <a:cs typeface="Times New Roman" panose="02020603050405020304" pitchFamily="18" charset="0"/>
              </a:rPr>
              <a:t>1</a:t>
            </a:r>
            <a:r>
              <a:rPr lang="en-US" altLang="zh-TW" sz="2000" spc="600" dirty="0">
                <a:latin typeface="Times New Roman" panose="02020603050405020304" pitchFamily="18" charset="0"/>
                <a:cs typeface="Times New Roman" panose="02020603050405020304" pitchFamily="18" charset="0"/>
              </a:rPr>
              <a:t>0</a:t>
            </a:r>
            <a:r>
              <a:rPr lang="zh-TW" altLang="en-US" sz="2000" spc="600" dirty="0">
                <a:latin typeface="Times New Roman" panose="02020603050405020304" pitchFamily="18" charset="0"/>
                <a:cs typeface="Times New Roman" panose="02020603050405020304" pitchFamily="18" charset="0"/>
              </a:rPr>
              <a:t>→ </a:t>
            </a:r>
            <a:r>
              <a:rPr lang="en-US" altLang="zh-TW" sz="2000" b="1" u="sng" spc="600" dirty="0">
                <a:latin typeface="Times New Roman" panose="02020603050405020304" pitchFamily="18" charset="0"/>
                <a:cs typeface="Times New Roman" panose="02020603050405020304" pitchFamily="18" charset="0"/>
              </a:rPr>
              <a:t>1100</a:t>
            </a:r>
            <a:r>
              <a:rPr lang="zh-TW" altLang="en-US" sz="2000" spc="600" dirty="0">
                <a:latin typeface="Times New Roman" panose="02020603050405020304" pitchFamily="18" charset="0"/>
                <a:cs typeface="Times New Roman" panose="02020603050405020304" pitchFamily="18" charset="0"/>
              </a:rPr>
              <a:t> → </a:t>
            </a:r>
            <a:r>
              <a:rPr lang="en-US" altLang="zh-TW" sz="2000" spc="600" dirty="0">
                <a:latin typeface="Times New Roman" panose="02020603050405020304" pitchFamily="18" charset="0"/>
                <a:cs typeface="Times New Roman" panose="02020603050405020304" pitchFamily="18" charset="0"/>
              </a:rPr>
              <a:t>10</a:t>
            </a:r>
          </a:p>
        </p:txBody>
      </p:sp>
      <p:sp>
        <p:nvSpPr>
          <p:cNvPr id="9" name="標題 1">
            <a:extLst>
              <a:ext uri="{FF2B5EF4-FFF2-40B4-BE49-F238E27FC236}">
                <a16:creationId xmlns:a16="http://schemas.microsoft.com/office/drawing/2014/main" id="{E37B2133-5A3B-49F5-968A-B2A0965D94A3}"/>
              </a:ext>
            </a:extLst>
          </p:cNvPr>
          <p:cNvSpPr txBox="1">
            <a:spLocks/>
          </p:cNvSpPr>
          <p:nvPr/>
        </p:nvSpPr>
        <p:spPr>
          <a:xfrm>
            <a:off x="4111655" y="1721218"/>
            <a:ext cx="1782234" cy="53997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altLang="zh-TW" sz="2000" spc="600" dirty="0">
                <a:latin typeface="Times New Roman" panose="02020603050405020304" pitchFamily="18" charset="0"/>
                <a:cs typeface="Times New Roman" panose="02020603050405020304" pitchFamily="18" charset="0"/>
              </a:rPr>
              <a:t>1010…10</a:t>
            </a:r>
          </a:p>
        </p:txBody>
      </p:sp>
      <mc:AlternateContent xmlns:mc="http://schemas.openxmlformats.org/markup-compatibility/2006" xmlns:a14="http://schemas.microsoft.com/office/drawing/2010/main">
        <mc:Choice Requires="a14">
          <p:sp>
            <p:nvSpPr>
              <p:cNvPr id="12" name="標題 1">
                <a:extLst>
                  <a:ext uri="{FF2B5EF4-FFF2-40B4-BE49-F238E27FC236}">
                    <a16:creationId xmlns:a16="http://schemas.microsoft.com/office/drawing/2014/main" id="{763094B3-CC12-408A-AF35-67F3F2C58BD6}"/>
                  </a:ext>
                </a:extLst>
              </p:cNvPr>
              <p:cNvSpPr txBox="1">
                <a:spLocks/>
              </p:cNvSpPr>
              <p:nvPr/>
            </p:nvSpPr>
            <p:spPr>
              <a:xfrm>
                <a:off x="289023" y="2173653"/>
                <a:ext cx="8113118" cy="7589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00000"/>
                  </a:lnSpc>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For fully binary normalized string </a:t>
                </a:r>
                <a14:m>
                  <m:oMath xmlns:m="http://schemas.openxmlformats.org/officeDocument/2006/math">
                    <m:r>
                      <a:rPr lang="en-US" altLang="zh-TW" sz="2400" i="1" dirty="0" smtClean="0">
                        <a:latin typeface="Cambria Math" panose="02040503050406030204" pitchFamily="18" charset="0"/>
                        <a:cs typeface="Times New Roman" panose="02020603050405020304" pitchFamily="18" charset="0"/>
                      </a:rPr>
                      <m:t>𝑠</m:t>
                    </m:r>
                  </m:oMath>
                </a14:m>
                <a:r>
                  <a:rPr lang="en-US" altLang="zh-TW" sz="2400" dirty="0">
                    <a:latin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en-US" altLang="zh-TW" sz="2400" b="0" i="1" smtClean="0">
                            <a:latin typeface="Cambria Math" panose="02040503050406030204" pitchFamily="18" charset="0"/>
                            <a:cs typeface="Times New Roman" panose="02020603050405020304" pitchFamily="18" charset="0"/>
                          </a:rPr>
                        </m:ctrlPr>
                      </m:dPr>
                      <m:e>
                        <m:r>
                          <a:rPr lang="en-US" altLang="zh-TW" sz="2400" b="0" i="1" smtClean="0">
                            <a:latin typeface="Cambria Math" panose="02040503050406030204" pitchFamily="18" charset="0"/>
                            <a:cs typeface="Times New Roman" panose="02020603050405020304" pitchFamily="18" charset="0"/>
                          </a:rPr>
                          <m:t>𝑠</m:t>
                        </m:r>
                      </m:e>
                    </m:d>
                    <m:r>
                      <a:rPr lang="en-US" altLang="zh-TW" sz="2400" b="0" i="1" smtClean="0">
                        <a:latin typeface="Cambria Math" panose="02040503050406030204" pitchFamily="18" charset="0"/>
                        <a:cs typeface="Times New Roman" panose="02020603050405020304" pitchFamily="18" charset="0"/>
                      </a:rPr>
                      <m:t>&gt;2),</m:t>
                    </m:r>
                    <m:sSub>
                      <m:sSubPr>
                        <m:ctrlPr>
                          <a:rPr lang="en-US" altLang="zh-TW" sz="2400" b="0" i="1" smtClean="0">
                            <a:solidFill>
                              <a:srgbClr val="0070C0"/>
                            </a:solidFill>
                            <a:latin typeface="Cambria Math" panose="02040503050406030204" pitchFamily="18" charset="0"/>
                            <a:cs typeface="Times New Roman" panose="02020603050405020304" pitchFamily="18" charset="0"/>
                          </a:rPr>
                        </m:ctrlPr>
                      </m:sSubPr>
                      <m:e>
                        <m:r>
                          <a:rPr lang="en-US" altLang="zh-TW" sz="2400" b="0" i="1" smtClean="0">
                            <a:solidFill>
                              <a:srgbClr val="0070C0"/>
                            </a:solidFill>
                            <a:latin typeface="Cambria Math" panose="02040503050406030204" pitchFamily="18" charset="0"/>
                            <a:cs typeface="Times New Roman" panose="02020603050405020304" pitchFamily="18" charset="0"/>
                          </a:rPr>
                          <m:t>𝑑</m:t>
                        </m:r>
                      </m:e>
                      <m:sub>
                        <m:r>
                          <a:rPr lang="en-US" altLang="zh-TW" sz="2400" b="0" i="1" smtClean="0">
                            <a:solidFill>
                              <a:srgbClr val="0070C0"/>
                            </a:solidFill>
                            <a:latin typeface="Cambria Math" panose="02040503050406030204" pitchFamily="18" charset="0"/>
                            <a:cs typeface="Times New Roman" panose="02020603050405020304" pitchFamily="18" charset="0"/>
                          </a:rPr>
                          <m:t>𝑔</m:t>
                        </m:r>
                      </m:sub>
                    </m:sSub>
                    <m:d>
                      <m:dPr>
                        <m:ctrlPr>
                          <a:rPr lang="en-US" altLang="zh-TW" sz="2400" b="0" i="1" smtClean="0">
                            <a:solidFill>
                              <a:srgbClr val="0070C0"/>
                            </a:solidFill>
                            <a:latin typeface="Cambria Math" panose="02040503050406030204" pitchFamily="18" charset="0"/>
                            <a:cs typeface="Times New Roman" panose="02020603050405020304" pitchFamily="18" charset="0"/>
                          </a:rPr>
                        </m:ctrlPr>
                      </m:dPr>
                      <m:e>
                        <m:r>
                          <a:rPr lang="en-US" altLang="zh-TW" sz="2400" b="0" i="1" smtClean="0">
                            <a:solidFill>
                              <a:srgbClr val="0070C0"/>
                            </a:solidFill>
                            <a:latin typeface="Cambria Math" panose="02040503050406030204" pitchFamily="18" charset="0"/>
                            <a:cs typeface="Times New Roman" panose="02020603050405020304" pitchFamily="18" charset="0"/>
                          </a:rPr>
                          <m:t>𝑠</m:t>
                        </m:r>
                      </m:e>
                    </m:d>
                    <m:r>
                      <a:rPr lang="en-US" altLang="zh-TW" sz="2400" b="0" i="1" smtClean="0">
                        <a:solidFill>
                          <a:srgbClr val="0070C0"/>
                        </a:solidFill>
                        <a:latin typeface="Cambria Math" panose="02040503050406030204" pitchFamily="18" charset="0"/>
                        <a:cs typeface="Times New Roman" panose="02020603050405020304" pitchFamily="18" charset="0"/>
                      </a:rPr>
                      <m:t>=</m:t>
                    </m:r>
                    <m:d>
                      <m:dPr>
                        <m:begChr m:val="⌈"/>
                        <m:endChr m:val="⌉"/>
                        <m:ctrlPr>
                          <a:rPr lang="en-US" altLang="zh-TW" sz="2400" b="0" i="1" smtClean="0">
                            <a:solidFill>
                              <a:srgbClr val="0070C0"/>
                            </a:solidFill>
                            <a:latin typeface="Cambria Math" panose="02040503050406030204" pitchFamily="18" charset="0"/>
                            <a:cs typeface="Times New Roman" panose="02020603050405020304" pitchFamily="18" charset="0"/>
                          </a:rPr>
                        </m:ctrlPr>
                      </m:dPr>
                      <m:e>
                        <m:f>
                          <m:fPr>
                            <m:ctrlPr>
                              <a:rPr lang="en-US" altLang="zh-TW" sz="2400" b="0" i="1" smtClean="0">
                                <a:solidFill>
                                  <a:srgbClr val="0070C0"/>
                                </a:solidFill>
                                <a:latin typeface="Cambria Math" panose="02040503050406030204" pitchFamily="18" charset="0"/>
                                <a:cs typeface="Times New Roman" panose="02020603050405020304" pitchFamily="18" charset="0"/>
                              </a:rPr>
                            </m:ctrlPr>
                          </m:fPr>
                          <m:num>
                            <m:r>
                              <a:rPr lang="en-US" altLang="zh-TW" sz="2400" i="1">
                                <a:solidFill>
                                  <a:srgbClr val="0070C0"/>
                                </a:solidFill>
                                <a:latin typeface="Cambria Math" panose="02040503050406030204" pitchFamily="18" charset="0"/>
                                <a:cs typeface="Times New Roman" panose="02020603050405020304" pitchFamily="18" charset="0"/>
                              </a:rPr>
                              <m:t>|</m:t>
                            </m:r>
                            <m:r>
                              <a:rPr lang="en-US" altLang="zh-TW" sz="2400" b="0" i="1" smtClean="0">
                                <a:solidFill>
                                  <a:srgbClr val="0070C0"/>
                                </a:solidFill>
                                <a:latin typeface="Cambria Math" panose="02040503050406030204" pitchFamily="18" charset="0"/>
                                <a:cs typeface="Times New Roman" panose="02020603050405020304" pitchFamily="18" charset="0"/>
                              </a:rPr>
                              <m:t>𝑠</m:t>
                            </m:r>
                            <m:r>
                              <a:rPr lang="en-US" altLang="zh-TW" sz="2400" i="1" smtClean="0">
                                <a:solidFill>
                                  <a:srgbClr val="0070C0"/>
                                </a:solidFill>
                                <a:latin typeface="Cambria Math" panose="02040503050406030204" pitchFamily="18" charset="0"/>
                                <a:cs typeface="Times New Roman" panose="02020603050405020304" pitchFamily="18" charset="0"/>
                              </a:rPr>
                              <m:t>|</m:t>
                            </m:r>
                            <m:r>
                              <a:rPr lang="en-US" altLang="zh-TW" sz="2400" b="0" i="1" smtClean="0">
                                <a:solidFill>
                                  <a:srgbClr val="0070C0"/>
                                </a:solidFill>
                                <a:latin typeface="Cambria Math" panose="02040503050406030204" pitchFamily="18" charset="0"/>
                                <a:cs typeface="Times New Roman" panose="02020603050405020304" pitchFamily="18" charset="0"/>
                              </a:rPr>
                              <m:t>−2</m:t>
                            </m:r>
                          </m:num>
                          <m:den>
                            <m:r>
                              <a:rPr lang="en-US" altLang="zh-TW" sz="2400" b="0" i="1" smtClean="0">
                                <a:solidFill>
                                  <a:srgbClr val="0070C0"/>
                                </a:solidFill>
                                <a:latin typeface="Cambria Math" panose="02040503050406030204" pitchFamily="18" charset="0"/>
                                <a:cs typeface="Times New Roman" panose="02020603050405020304" pitchFamily="18" charset="0"/>
                              </a:rPr>
                              <m:t>2</m:t>
                            </m:r>
                          </m:den>
                        </m:f>
                      </m:e>
                    </m:d>
                  </m:oMath>
                </a14:m>
                <a:endParaRPr lang="en-US" altLang="zh-TW" sz="2000" dirty="0" smtClean="0">
                  <a:latin typeface="Times New Roman" panose="02020603050405020304" pitchFamily="18" charset="0"/>
                  <a:cs typeface="Times New Roman" panose="02020603050405020304" pitchFamily="18" charset="0"/>
                </a:endParaRPr>
              </a:p>
              <a:p>
                <a:pPr marL="342900" indent="-342900">
                  <a:lnSpc>
                    <a:spcPct val="100000"/>
                  </a:lnSpc>
                  <a:buFont typeface="Arial" panose="020B0604020202020204" pitchFamily="34" charset="0"/>
                  <a:buChar char="•"/>
                </a:pPr>
                <a:r>
                  <a:rPr lang="zh-TW" altLang="en-US" sz="2000" dirty="0">
                    <a:latin typeface="標楷體" panose="03000509000000000000" pitchFamily="65" charset="-120"/>
                    <a:ea typeface="標楷體" panose="03000509000000000000" pitchFamily="65" charset="-120"/>
                    <a:cs typeface="Times New Roman" panose="02020603050405020304" pitchFamily="18" charset="0"/>
                  </a:rPr>
                  <a:t>除以</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2</a:t>
                </a:r>
                <a:r>
                  <a:rPr lang="zh-TW" altLang="en-US" sz="2000" dirty="0">
                    <a:latin typeface="標楷體" panose="03000509000000000000" pitchFamily="65" charset="-120"/>
                    <a:ea typeface="標楷體" panose="03000509000000000000" pitchFamily="65" charset="-120"/>
                    <a:cs typeface="Times New Roman" panose="02020603050405020304" pitchFamily="18" charset="0"/>
                  </a:rPr>
                  <a:t>為每次都可做</a:t>
                </a:r>
                <a:r>
                  <a:rPr lang="en-US" altLang="zh-TW" sz="2000" dirty="0">
                    <a:latin typeface="Times New Roman" panose="02020603050405020304" pitchFamily="18" charset="0"/>
                    <a:cs typeface="Times New Roman" panose="02020603050405020304" pitchFamily="18" charset="0"/>
                  </a:rPr>
                  <a:t>2-transposition</a:t>
                </a:r>
              </a:p>
            </p:txBody>
          </p:sp>
        </mc:Choice>
        <mc:Fallback xmlns="">
          <p:sp>
            <p:nvSpPr>
              <p:cNvPr id="12" name="標題 1">
                <a:extLst>
                  <a:ext uri="{FF2B5EF4-FFF2-40B4-BE49-F238E27FC236}">
                    <a16:creationId xmlns:a16="http://schemas.microsoft.com/office/drawing/2014/main" id="{763094B3-CC12-408A-AF35-67F3F2C58BD6}"/>
                  </a:ext>
                </a:extLst>
              </p:cNvPr>
              <p:cNvSpPr txBox="1">
                <a:spLocks noRot="1" noChangeAspect="1" noMove="1" noResize="1" noEditPoints="1" noAdjustHandles="1" noChangeArrowheads="1" noChangeShapeType="1" noTextEdit="1"/>
              </p:cNvSpPr>
              <p:nvPr/>
            </p:nvSpPr>
            <p:spPr>
              <a:xfrm>
                <a:off x="289023" y="2173653"/>
                <a:ext cx="8113118" cy="758952"/>
              </a:xfrm>
              <a:prstGeom prst="rect">
                <a:avLst/>
              </a:prstGeom>
              <a:blipFill>
                <a:blip r:embed="rId3"/>
                <a:stretch>
                  <a:fillRect l="-977" t="-6452" b="-26613"/>
                </a:stretch>
              </a:blipFill>
            </p:spPr>
            <p:txBody>
              <a:bodyPr/>
              <a:lstStyle/>
              <a:p>
                <a:r>
                  <a:rPr lang="zh-TW" altLang="en-US">
                    <a:noFill/>
                  </a:rPr>
                  <a:t> </a:t>
                </a:r>
              </a:p>
            </p:txBody>
          </p:sp>
        </mc:Fallback>
      </mc:AlternateContent>
      <p:sp>
        <p:nvSpPr>
          <p:cNvPr id="14" name="標題 1">
            <a:extLst>
              <a:ext uri="{FF2B5EF4-FFF2-40B4-BE49-F238E27FC236}">
                <a16:creationId xmlns:a16="http://schemas.microsoft.com/office/drawing/2014/main" id="{4F3A0D77-9C3B-4E73-BF04-BA1585D16DCE}"/>
              </a:ext>
            </a:extLst>
          </p:cNvPr>
          <p:cNvSpPr txBox="1">
            <a:spLocks/>
          </p:cNvSpPr>
          <p:nvPr/>
        </p:nvSpPr>
        <p:spPr>
          <a:xfrm>
            <a:off x="1082264" y="3483877"/>
            <a:ext cx="2956336" cy="53997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altLang="zh-TW" sz="2000" spc="600" dirty="0">
                <a:solidFill>
                  <a:srgbClr val="FF0000"/>
                </a:solidFill>
                <a:latin typeface="Times New Roman" panose="02020603050405020304" pitchFamily="18" charset="0"/>
                <a:cs typeface="Times New Roman" panose="02020603050405020304" pitchFamily="18" charset="0"/>
              </a:rPr>
              <a:t>1</a:t>
            </a:r>
            <a:r>
              <a:rPr lang="en-US" altLang="zh-TW" sz="2000" spc="600" dirty="0">
                <a:solidFill>
                  <a:srgbClr val="00B050"/>
                </a:solidFill>
                <a:latin typeface="Times New Roman" panose="02020603050405020304" pitchFamily="18" charset="0"/>
                <a:cs typeface="Times New Roman" panose="02020603050405020304" pitchFamily="18" charset="0"/>
              </a:rPr>
              <a:t>0</a:t>
            </a:r>
            <a:r>
              <a:rPr lang="en-US" altLang="zh-TW" sz="2000" spc="600" dirty="0">
                <a:latin typeface="Times New Roman" panose="02020603050405020304" pitchFamily="18" charset="0"/>
                <a:cs typeface="Times New Roman" panose="02020603050405020304" pitchFamily="18" charset="0"/>
              </a:rPr>
              <a:t>1</a:t>
            </a:r>
            <a:r>
              <a:rPr lang="zh-TW" altLang="en-US" sz="2000" spc="600" dirty="0">
                <a:latin typeface="Times New Roman" panose="02020603050405020304" pitchFamily="18" charset="0"/>
                <a:cs typeface="Times New Roman" panose="02020603050405020304" pitchFamily="18" charset="0"/>
              </a:rPr>
              <a:t>→ </a:t>
            </a:r>
            <a:r>
              <a:rPr lang="en-US" altLang="zh-TW" sz="2000" spc="600" dirty="0">
                <a:latin typeface="Times New Roman" panose="02020603050405020304" pitchFamily="18" charset="0"/>
                <a:cs typeface="Times New Roman" panose="02020603050405020304" pitchFamily="18" charset="0"/>
              </a:rPr>
              <a:t>0</a:t>
            </a:r>
            <a:r>
              <a:rPr lang="en-US" altLang="zh-TW" sz="2000" b="1" u="sng" spc="600" dirty="0">
                <a:latin typeface="Times New Roman" panose="02020603050405020304" pitchFamily="18" charset="0"/>
                <a:cs typeface="Times New Roman" panose="02020603050405020304" pitchFamily="18" charset="0"/>
              </a:rPr>
              <a:t>11</a:t>
            </a:r>
            <a:r>
              <a:rPr lang="zh-TW" altLang="en-US" sz="2000" spc="600" dirty="0">
                <a:latin typeface="Times New Roman" panose="02020603050405020304" pitchFamily="18" charset="0"/>
                <a:cs typeface="Times New Roman" panose="02020603050405020304" pitchFamily="18" charset="0"/>
              </a:rPr>
              <a:t> → </a:t>
            </a:r>
            <a:r>
              <a:rPr lang="en-US" altLang="zh-TW" sz="2000" spc="600" dirty="0">
                <a:latin typeface="Times New Roman" panose="02020603050405020304" pitchFamily="18" charset="0"/>
                <a:cs typeface="Times New Roman" panose="02020603050405020304" pitchFamily="18" charset="0"/>
              </a:rPr>
              <a:t>01</a:t>
            </a:r>
          </a:p>
        </p:txBody>
      </p:sp>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136BA83B-E69C-4845-A45D-C85FF25B44EF}"/>
                  </a:ext>
                </a:extLst>
              </p:cNvPr>
              <p:cNvGraphicFramePr>
                <a:graphicFrameLocks noGrp="1"/>
              </p:cNvGraphicFramePr>
              <p:nvPr>
                <p:extLst>
                  <p:ext uri="{D42A27DB-BD31-4B8C-83A1-F6EECF244321}">
                    <p14:modId xmlns:p14="http://schemas.microsoft.com/office/powerpoint/2010/main" val="3165128826"/>
                  </p:ext>
                </p:extLst>
              </p:nvPr>
            </p:nvGraphicFramePr>
            <p:xfrm>
              <a:off x="1524000" y="5080308"/>
              <a:ext cx="6096000" cy="758952"/>
            </p:xfrm>
            <a:graphic>
              <a:graphicData uri="http://schemas.openxmlformats.org/drawingml/2006/table">
                <a:tbl>
                  <a:tblPr firstRow="1" bandRow="1">
                    <a:tableStyleId>{5940675A-B579-460E-94D1-54222C63F5DA}</a:tableStyleId>
                  </a:tblPr>
                  <a:tblGrid>
                    <a:gridCol w="762000">
                      <a:extLst>
                        <a:ext uri="{9D8B030D-6E8A-4147-A177-3AD203B41FA5}">
                          <a16:colId xmlns:a16="http://schemas.microsoft.com/office/drawing/2014/main" val="2616301296"/>
                        </a:ext>
                      </a:extLst>
                    </a:gridCol>
                    <a:gridCol w="762000">
                      <a:extLst>
                        <a:ext uri="{9D8B030D-6E8A-4147-A177-3AD203B41FA5}">
                          <a16:colId xmlns:a16="http://schemas.microsoft.com/office/drawing/2014/main" val="3527329007"/>
                        </a:ext>
                      </a:extLst>
                    </a:gridCol>
                    <a:gridCol w="762000">
                      <a:extLst>
                        <a:ext uri="{9D8B030D-6E8A-4147-A177-3AD203B41FA5}">
                          <a16:colId xmlns:a16="http://schemas.microsoft.com/office/drawing/2014/main" val="126961617"/>
                        </a:ext>
                      </a:extLst>
                    </a:gridCol>
                    <a:gridCol w="762000">
                      <a:extLst>
                        <a:ext uri="{9D8B030D-6E8A-4147-A177-3AD203B41FA5}">
                          <a16:colId xmlns:a16="http://schemas.microsoft.com/office/drawing/2014/main" val="2634396870"/>
                        </a:ext>
                      </a:extLst>
                    </a:gridCol>
                    <a:gridCol w="762000">
                      <a:extLst>
                        <a:ext uri="{9D8B030D-6E8A-4147-A177-3AD203B41FA5}">
                          <a16:colId xmlns:a16="http://schemas.microsoft.com/office/drawing/2014/main" val="1291176962"/>
                        </a:ext>
                      </a:extLst>
                    </a:gridCol>
                    <a:gridCol w="762000">
                      <a:extLst>
                        <a:ext uri="{9D8B030D-6E8A-4147-A177-3AD203B41FA5}">
                          <a16:colId xmlns:a16="http://schemas.microsoft.com/office/drawing/2014/main" val="651979287"/>
                        </a:ext>
                      </a:extLst>
                    </a:gridCol>
                    <a:gridCol w="762000">
                      <a:extLst>
                        <a:ext uri="{9D8B030D-6E8A-4147-A177-3AD203B41FA5}">
                          <a16:colId xmlns:a16="http://schemas.microsoft.com/office/drawing/2014/main" val="80234941"/>
                        </a:ext>
                      </a:extLst>
                    </a:gridCol>
                    <a:gridCol w="762000">
                      <a:extLst>
                        <a:ext uri="{9D8B030D-6E8A-4147-A177-3AD203B41FA5}">
                          <a16:colId xmlns:a16="http://schemas.microsoft.com/office/drawing/2014/main" val="1892128318"/>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r>
                                  <a:rPr lang="en-US" altLang="zh-TW" b="0" i="1" smtClean="0">
                                    <a:latin typeface="Cambria Math" panose="02040503050406030204" pitchFamily="18" charset="0"/>
                                  </a:rPr>
                                  <m:t>𝑠</m:t>
                                </m:r>
                                <m:r>
                                  <a:rPr lang="en-US" altLang="zh-TW" b="0" i="1" smtClean="0">
                                    <a:latin typeface="Cambria Math" panose="02040503050406030204" pitchFamily="18" charset="0"/>
                                  </a:rPr>
                                  <m:t>|</m:t>
                                </m:r>
                              </m:oMath>
                            </m:oMathPara>
                          </a14:m>
                          <a:endParaRPr lang="zh-TW" altLang="en-US" dirty="0"/>
                        </a:p>
                      </a:txBody>
                      <a:tcPr anchor="ctr"/>
                    </a:tc>
                    <a:tc>
                      <a:txBody>
                        <a:bodyPr/>
                        <a:lstStyle/>
                        <a:p>
                          <a:pPr algn="ctr"/>
                          <a:r>
                            <a:rPr lang="en-US" altLang="zh-TW" dirty="0"/>
                            <a:t>3</a:t>
                          </a:r>
                          <a:endParaRPr lang="zh-TW" altLang="en-US" dirty="0"/>
                        </a:p>
                      </a:txBody>
                      <a:tcPr anchor="ctr"/>
                    </a:tc>
                    <a:tc>
                      <a:txBody>
                        <a:bodyPr/>
                        <a:lstStyle/>
                        <a:p>
                          <a:pPr algn="ctr"/>
                          <a:r>
                            <a:rPr lang="en-US" altLang="zh-TW" dirty="0"/>
                            <a:t>4</a:t>
                          </a:r>
                          <a:endParaRPr lang="zh-TW" altLang="en-US" dirty="0"/>
                        </a:p>
                      </a:txBody>
                      <a:tcPr anchor="ctr"/>
                    </a:tc>
                    <a:tc>
                      <a:txBody>
                        <a:bodyPr/>
                        <a:lstStyle/>
                        <a:p>
                          <a:pPr algn="ctr"/>
                          <a:r>
                            <a:rPr lang="en-US" altLang="zh-TW" dirty="0"/>
                            <a:t>5</a:t>
                          </a:r>
                          <a:endParaRPr lang="zh-TW" altLang="en-US" dirty="0"/>
                        </a:p>
                      </a:txBody>
                      <a:tcPr anchor="ctr"/>
                    </a:tc>
                    <a:tc>
                      <a:txBody>
                        <a:bodyPr/>
                        <a:lstStyle/>
                        <a:p>
                          <a:pPr algn="ctr"/>
                          <a:r>
                            <a:rPr lang="en-US" altLang="zh-TW" dirty="0"/>
                            <a:t>6</a:t>
                          </a:r>
                          <a:endParaRPr lang="zh-TW" altLang="en-US" dirty="0"/>
                        </a:p>
                      </a:txBody>
                      <a:tcPr anchor="ctr"/>
                    </a:tc>
                    <a:tc>
                      <a:txBody>
                        <a:bodyPr/>
                        <a:lstStyle/>
                        <a:p>
                          <a:pPr algn="ctr"/>
                          <a:r>
                            <a:rPr lang="en-US" altLang="zh-TW" dirty="0"/>
                            <a:t>7</a:t>
                          </a:r>
                          <a:endParaRPr lang="zh-TW" altLang="en-US" dirty="0"/>
                        </a:p>
                      </a:txBody>
                      <a:tcPr anchor="ctr"/>
                    </a:tc>
                    <a:tc>
                      <a:txBody>
                        <a:bodyPr/>
                        <a:lstStyle/>
                        <a:p>
                          <a:pPr algn="ctr"/>
                          <a:r>
                            <a:rPr lang="en-US" altLang="zh-TW" dirty="0"/>
                            <a:t>8</a:t>
                          </a:r>
                          <a:endParaRPr lang="zh-TW" altLang="en-US" dirty="0"/>
                        </a:p>
                      </a:txBody>
                      <a:tcPr anchor="ctr"/>
                    </a:tc>
                    <a:tc>
                      <a:txBody>
                        <a:bodyPr/>
                        <a:lstStyle/>
                        <a:p>
                          <a:pPr algn="ctr"/>
                          <a:r>
                            <a:rPr lang="en-US" altLang="zh-TW" dirty="0"/>
                            <a:t>…</a:t>
                          </a:r>
                          <a:endParaRPr lang="zh-TW" altLang="en-US" dirty="0"/>
                        </a:p>
                      </a:txBody>
                      <a:tcPr anchor="ctr"/>
                    </a:tc>
                    <a:extLst>
                      <a:ext uri="{0D108BD9-81ED-4DB2-BD59-A6C34878D82A}">
                        <a16:rowId xmlns:a16="http://schemas.microsoft.com/office/drawing/2014/main" val="1967640266"/>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𝑑</m:t>
                                    </m:r>
                                  </m:e>
                                  <m:sub>
                                    <m:r>
                                      <a:rPr lang="en-US" altLang="zh-TW" b="0" i="1" smtClean="0">
                                        <a:latin typeface="Cambria Math" panose="02040503050406030204" pitchFamily="18" charset="0"/>
                                      </a:rPr>
                                      <m:t>𝑔</m:t>
                                    </m:r>
                                  </m:sub>
                                </m:sSub>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𝑠</m:t>
                                    </m:r>
                                  </m:e>
                                </m:d>
                              </m:oMath>
                            </m:oMathPara>
                          </a14:m>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3</a:t>
                          </a:r>
                          <a:endParaRPr lang="zh-TW" altLang="en-US" dirty="0"/>
                        </a:p>
                      </a:txBody>
                      <a:tcPr anchor="ctr"/>
                    </a:tc>
                    <a:tc>
                      <a:txBody>
                        <a:bodyPr/>
                        <a:lstStyle/>
                        <a:p>
                          <a:pPr algn="ctr"/>
                          <a:r>
                            <a:rPr lang="en-US" altLang="zh-TW" dirty="0"/>
                            <a:t>3</a:t>
                          </a:r>
                          <a:endParaRPr lang="zh-TW" altLang="en-US" dirty="0"/>
                        </a:p>
                      </a:txBody>
                      <a:tcPr anchor="ctr"/>
                    </a:tc>
                    <a:tc>
                      <a:txBody>
                        <a:bodyPr/>
                        <a:lstStyle/>
                        <a:p>
                          <a:pPr algn="ctr"/>
                          <a:r>
                            <a:rPr lang="en-US" altLang="zh-TW" dirty="0"/>
                            <a:t>…</a:t>
                          </a:r>
                          <a:endParaRPr lang="zh-TW" altLang="en-US" dirty="0"/>
                        </a:p>
                      </a:txBody>
                      <a:tcPr anchor="ctr"/>
                    </a:tc>
                    <a:extLst>
                      <a:ext uri="{0D108BD9-81ED-4DB2-BD59-A6C34878D82A}">
                        <a16:rowId xmlns:a16="http://schemas.microsoft.com/office/drawing/2014/main" val="3398489603"/>
                      </a:ext>
                    </a:extLst>
                  </a:tr>
                </a:tbl>
              </a:graphicData>
            </a:graphic>
          </p:graphicFrame>
        </mc:Choice>
        <mc:Fallback xmlns="">
          <p:graphicFrame>
            <p:nvGraphicFramePr>
              <p:cNvPr id="6" name="表格 5">
                <a:extLst>
                  <a:ext uri="{FF2B5EF4-FFF2-40B4-BE49-F238E27FC236}">
                    <a16:creationId xmlns:a16="http://schemas.microsoft.com/office/drawing/2014/main" id="{136BA83B-E69C-4845-A45D-C85FF25B44EF}"/>
                  </a:ext>
                </a:extLst>
              </p:cNvPr>
              <p:cNvGraphicFramePr>
                <a:graphicFrameLocks noGrp="1"/>
              </p:cNvGraphicFramePr>
              <p:nvPr>
                <p:extLst>
                  <p:ext uri="{D42A27DB-BD31-4B8C-83A1-F6EECF244321}">
                    <p14:modId xmlns:p14="http://schemas.microsoft.com/office/powerpoint/2010/main" val="3165128826"/>
                  </p:ext>
                </p:extLst>
              </p:nvPr>
            </p:nvGraphicFramePr>
            <p:xfrm>
              <a:off x="1524000" y="5080308"/>
              <a:ext cx="6096000" cy="758952"/>
            </p:xfrm>
            <a:graphic>
              <a:graphicData uri="http://schemas.openxmlformats.org/drawingml/2006/table">
                <a:tbl>
                  <a:tblPr firstRow="1" bandRow="1">
                    <a:tableStyleId>{5940675A-B579-460E-94D1-54222C63F5DA}</a:tableStyleId>
                  </a:tblPr>
                  <a:tblGrid>
                    <a:gridCol w="762000">
                      <a:extLst>
                        <a:ext uri="{9D8B030D-6E8A-4147-A177-3AD203B41FA5}">
                          <a16:colId xmlns:a16="http://schemas.microsoft.com/office/drawing/2014/main" val="2616301296"/>
                        </a:ext>
                      </a:extLst>
                    </a:gridCol>
                    <a:gridCol w="762000">
                      <a:extLst>
                        <a:ext uri="{9D8B030D-6E8A-4147-A177-3AD203B41FA5}">
                          <a16:colId xmlns:a16="http://schemas.microsoft.com/office/drawing/2014/main" val="3527329007"/>
                        </a:ext>
                      </a:extLst>
                    </a:gridCol>
                    <a:gridCol w="762000">
                      <a:extLst>
                        <a:ext uri="{9D8B030D-6E8A-4147-A177-3AD203B41FA5}">
                          <a16:colId xmlns:a16="http://schemas.microsoft.com/office/drawing/2014/main" val="126961617"/>
                        </a:ext>
                      </a:extLst>
                    </a:gridCol>
                    <a:gridCol w="762000">
                      <a:extLst>
                        <a:ext uri="{9D8B030D-6E8A-4147-A177-3AD203B41FA5}">
                          <a16:colId xmlns:a16="http://schemas.microsoft.com/office/drawing/2014/main" val="2634396870"/>
                        </a:ext>
                      </a:extLst>
                    </a:gridCol>
                    <a:gridCol w="762000">
                      <a:extLst>
                        <a:ext uri="{9D8B030D-6E8A-4147-A177-3AD203B41FA5}">
                          <a16:colId xmlns:a16="http://schemas.microsoft.com/office/drawing/2014/main" val="1291176962"/>
                        </a:ext>
                      </a:extLst>
                    </a:gridCol>
                    <a:gridCol w="762000">
                      <a:extLst>
                        <a:ext uri="{9D8B030D-6E8A-4147-A177-3AD203B41FA5}">
                          <a16:colId xmlns:a16="http://schemas.microsoft.com/office/drawing/2014/main" val="651979287"/>
                        </a:ext>
                      </a:extLst>
                    </a:gridCol>
                    <a:gridCol w="762000">
                      <a:extLst>
                        <a:ext uri="{9D8B030D-6E8A-4147-A177-3AD203B41FA5}">
                          <a16:colId xmlns:a16="http://schemas.microsoft.com/office/drawing/2014/main" val="80234941"/>
                        </a:ext>
                      </a:extLst>
                    </a:gridCol>
                    <a:gridCol w="762000">
                      <a:extLst>
                        <a:ext uri="{9D8B030D-6E8A-4147-A177-3AD203B41FA5}">
                          <a16:colId xmlns:a16="http://schemas.microsoft.com/office/drawing/2014/main" val="1892128318"/>
                        </a:ext>
                      </a:extLst>
                    </a:gridCol>
                  </a:tblGrid>
                  <a:tr h="370840">
                    <a:tc>
                      <a:txBody>
                        <a:bodyPr/>
                        <a:lstStyle/>
                        <a:p>
                          <a:endParaRPr lang="zh-TW"/>
                        </a:p>
                      </a:txBody>
                      <a:tcPr anchor="ctr">
                        <a:blipFill>
                          <a:blip r:embed="rId4"/>
                          <a:stretch>
                            <a:fillRect l="-1600" t="-8197" r="-702400" b="-127869"/>
                          </a:stretch>
                        </a:blipFill>
                      </a:tcPr>
                    </a:tc>
                    <a:tc>
                      <a:txBody>
                        <a:bodyPr/>
                        <a:lstStyle/>
                        <a:p>
                          <a:pPr algn="ctr"/>
                          <a:r>
                            <a:rPr lang="en-US" altLang="zh-TW" dirty="0"/>
                            <a:t>3</a:t>
                          </a:r>
                          <a:endParaRPr lang="zh-TW" altLang="en-US" dirty="0"/>
                        </a:p>
                      </a:txBody>
                      <a:tcPr anchor="ctr"/>
                    </a:tc>
                    <a:tc>
                      <a:txBody>
                        <a:bodyPr/>
                        <a:lstStyle/>
                        <a:p>
                          <a:pPr algn="ctr"/>
                          <a:r>
                            <a:rPr lang="en-US" altLang="zh-TW" dirty="0"/>
                            <a:t>4</a:t>
                          </a:r>
                          <a:endParaRPr lang="zh-TW" altLang="en-US" dirty="0"/>
                        </a:p>
                      </a:txBody>
                      <a:tcPr anchor="ctr"/>
                    </a:tc>
                    <a:tc>
                      <a:txBody>
                        <a:bodyPr/>
                        <a:lstStyle/>
                        <a:p>
                          <a:pPr algn="ctr"/>
                          <a:r>
                            <a:rPr lang="en-US" altLang="zh-TW" dirty="0"/>
                            <a:t>5</a:t>
                          </a:r>
                          <a:endParaRPr lang="zh-TW" altLang="en-US" dirty="0"/>
                        </a:p>
                      </a:txBody>
                      <a:tcPr anchor="ctr"/>
                    </a:tc>
                    <a:tc>
                      <a:txBody>
                        <a:bodyPr/>
                        <a:lstStyle/>
                        <a:p>
                          <a:pPr algn="ctr"/>
                          <a:r>
                            <a:rPr lang="en-US" altLang="zh-TW" dirty="0"/>
                            <a:t>6</a:t>
                          </a:r>
                          <a:endParaRPr lang="zh-TW" altLang="en-US" dirty="0"/>
                        </a:p>
                      </a:txBody>
                      <a:tcPr anchor="ctr"/>
                    </a:tc>
                    <a:tc>
                      <a:txBody>
                        <a:bodyPr/>
                        <a:lstStyle/>
                        <a:p>
                          <a:pPr algn="ctr"/>
                          <a:r>
                            <a:rPr lang="en-US" altLang="zh-TW" dirty="0"/>
                            <a:t>7</a:t>
                          </a:r>
                          <a:endParaRPr lang="zh-TW" altLang="en-US" dirty="0"/>
                        </a:p>
                      </a:txBody>
                      <a:tcPr anchor="ctr"/>
                    </a:tc>
                    <a:tc>
                      <a:txBody>
                        <a:bodyPr/>
                        <a:lstStyle/>
                        <a:p>
                          <a:pPr algn="ctr"/>
                          <a:r>
                            <a:rPr lang="en-US" altLang="zh-TW" dirty="0"/>
                            <a:t>8</a:t>
                          </a:r>
                          <a:endParaRPr lang="zh-TW" altLang="en-US" dirty="0"/>
                        </a:p>
                      </a:txBody>
                      <a:tcPr anchor="ctr"/>
                    </a:tc>
                    <a:tc>
                      <a:txBody>
                        <a:bodyPr/>
                        <a:lstStyle/>
                        <a:p>
                          <a:pPr algn="ctr"/>
                          <a:r>
                            <a:rPr lang="en-US" altLang="zh-TW" dirty="0"/>
                            <a:t>…</a:t>
                          </a:r>
                          <a:endParaRPr lang="zh-TW" altLang="en-US" dirty="0"/>
                        </a:p>
                      </a:txBody>
                      <a:tcPr anchor="ctr"/>
                    </a:tc>
                    <a:extLst>
                      <a:ext uri="{0D108BD9-81ED-4DB2-BD59-A6C34878D82A}">
                        <a16:rowId xmlns:a16="http://schemas.microsoft.com/office/drawing/2014/main" val="1967640266"/>
                      </a:ext>
                    </a:extLst>
                  </a:tr>
                  <a:tr h="388112">
                    <a:tc>
                      <a:txBody>
                        <a:bodyPr/>
                        <a:lstStyle/>
                        <a:p>
                          <a:endParaRPr lang="zh-TW"/>
                        </a:p>
                      </a:txBody>
                      <a:tcPr anchor="ctr">
                        <a:blipFill>
                          <a:blip r:embed="rId4"/>
                          <a:stretch>
                            <a:fillRect l="-1600" t="-103125" r="-702400" b="-21875"/>
                          </a:stretch>
                        </a:blipFill>
                      </a:tcPr>
                    </a:tc>
                    <a:tc>
                      <a:txBody>
                        <a:bodyPr/>
                        <a:lstStyle/>
                        <a:p>
                          <a:pPr algn="ctr"/>
                          <a:r>
                            <a:rPr lang="en-US" altLang="zh-TW" dirty="0"/>
                            <a:t>1</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3</a:t>
                          </a:r>
                          <a:endParaRPr lang="zh-TW" altLang="en-US" dirty="0"/>
                        </a:p>
                      </a:txBody>
                      <a:tcPr anchor="ctr"/>
                    </a:tc>
                    <a:tc>
                      <a:txBody>
                        <a:bodyPr/>
                        <a:lstStyle/>
                        <a:p>
                          <a:pPr algn="ctr"/>
                          <a:r>
                            <a:rPr lang="en-US" altLang="zh-TW" dirty="0"/>
                            <a:t>3</a:t>
                          </a:r>
                          <a:endParaRPr lang="zh-TW" altLang="en-US" dirty="0"/>
                        </a:p>
                      </a:txBody>
                      <a:tcPr anchor="ctr"/>
                    </a:tc>
                    <a:tc>
                      <a:txBody>
                        <a:bodyPr/>
                        <a:lstStyle/>
                        <a:p>
                          <a:pPr algn="ctr"/>
                          <a:r>
                            <a:rPr lang="en-US" altLang="zh-TW" dirty="0"/>
                            <a:t>…</a:t>
                          </a:r>
                          <a:endParaRPr lang="zh-TW" altLang="en-US" dirty="0"/>
                        </a:p>
                      </a:txBody>
                      <a:tcPr anchor="ctr"/>
                    </a:tc>
                    <a:extLst>
                      <a:ext uri="{0D108BD9-81ED-4DB2-BD59-A6C34878D82A}">
                        <a16:rowId xmlns:a16="http://schemas.microsoft.com/office/drawing/2014/main" val="3398489603"/>
                      </a:ext>
                    </a:extLst>
                  </a:tr>
                </a:tbl>
              </a:graphicData>
            </a:graphic>
          </p:graphicFrame>
        </mc:Fallback>
      </mc:AlternateContent>
    </p:spTree>
    <p:extLst>
      <p:ext uri="{BB962C8B-B14F-4D97-AF65-F5344CB8AC3E}">
        <p14:creationId xmlns:p14="http://schemas.microsoft.com/office/powerpoint/2010/main" val="341153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p:bldP spid="12" grpId="0"/>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DADFF97C-D0BF-45FF-A22C-72D78250B1D2}"/>
                  </a:ext>
                </a:extLst>
              </p:cNvPr>
              <p:cNvSpPr/>
              <p:nvPr/>
            </p:nvSpPr>
            <p:spPr>
              <a:xfrm>
                <a:off x="741157" y="1682284"/>
                <a:ext cx="4548361" cy="960328"/>
              </a:xfrm>
              <a:prstGeom prst="rect">
                <a:avLst/>
              </a:prstGeom>
            </p:spPr>
            <p:txBody>
              <a:bodyPr wrap="none">
                <a:spAutoFit/>
              </a:bodyPr>
              <a:lstStyle/>
              <a:p>
                <a:pPr marL="342900" indent="-342900">
                  <a:lnSpc>
                    <a:spcPct val="150000"/>
                  </a:lnSpc>
                  <a:buFont typeface="Arial" panose="020B0604020202020204" pitchFamily="34" charset="0"/>
                  <a:buChar char="•"/>
                </a:pPr>
                <a:r>
                  <a:rPr lang="en-US" altLang="zh-TW" sz="2000" dirty="0">
                    <a:latin typeface="Times New Roman" panose="02020603050405020304" pitchFamily="18" charset="0"/>
                    <a:cs typeface="Times New Roman" panose="02020603050405020304" pitchFamily="18" charset="0"/>
                  </a:rPr>
                  <a:t>We can always perform 1-transposition</a:t>
                </a:r>
              </a:p>
              <a:p>
                <a:pPr marL="800100" lvl="1" indent="-342900">
                  <a:lnSpc>
                    <a:spcPct val="150000"/>
                  </a:lnSpc>
                  <a:buFont typeface="Arial" panose="020B0604020202020204" pitchFamily="34" charset="0"/>
                  <a:buChar char="•"/>
                </a:pPr>
                <a14:m>
                  <m:oMath xmlns:m="http://schemas.openxmlformats.org/officeDocument/2006/math">
                    <m:r>
                      <a:rPr lang="en-US" altLang="zh-TW" sz="2000" b="0" i="1" smtClean="0">
                        <a:latin typeface="Cambria Math" panose="02040503050406030204" pitchFamily="18" charset="0"/>
                        <a:cs typeface="Times New Roman" panose="02020603050405020304" pitchFamily="18" charset="0"/>
                      </a:rPr>
                      <m:t>𝑠</m:t>
                    </m:r>
                    <m:d>
                      <m:dPr>
                        <m:begChr m:val="["/>
                        <m:endChr m:val="]"/>
                        <m:ctrlPr>
                          <a:rPr lang="en-US" altLang="zh-TW" sz="2000" b="0" i="1" smtClean="0">
                            <a:latin typeface="Cambria Math" panose="02040503050406030204" pitchFamily="18" charset="0"/>
                            <a:cs typeface="Times New Roman" panose="02020603050405020304" pitchFamily="18" charset="0"/>
                          </a:rPr>
                        </m:ctrlPr>
                      </m:dPr>
                      <m:e>
                        <m:r>
                          <a:rPr lang="en-US" altLang="zh-TW" sz="2000" b="0" i="1" smtClean="0">
                            <a:latin typeface="Cambria Math" panose="02040503050406030204" pitchFamily="18" charset="0"/>
                            <a:cs typeface="Times New Roman" panose="02020603050405020304" pitchFamily="18" charset="0"/>
                          </a:rPr>
                          <m:t>1</m:t>
                        </m:r>
                      </m:e>
                    </m:d>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𝑠</m:t>
                    </m:r>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𝑖</m:t>
                    </m:r>
                    <m:r>
                      <a:rPr lang="en-US" altLang="zh-TW" sz="2000" b="0" i="1" smtClean="0">
                        <a:latin typeface="Cambria Math" panose="02040503050406030204" pitchFamily="18" charset="0"/>
                        <a:cs typeface="Times New Roman" panose="02020603050405020304" pitchFamily="18" charset="0"/>
                      </a:rPr>
                      <m:t>]</m:t>
                    </m:r>
                  </m:oMath>
                </a14:m>
                <a:endParaRPr lang="en-US" altLang="zh-TW" sz="2000" dirty="0">
                  <a:latin typeface="Times New Roman" panose="02020603050405020304" pitchFamily="18" charset="0"/>
                  <a:cs typeface="Times New Roman" panose="02020603050405020304" pitchFamily="18" charset="0"/>
                </a:endParaRPr>
              </a:p>
            </p:txBody>
          </p:sp>
        </mc:Choice>
        <mc:Fallback xmlns="">
          <p:sp>
            <p:nvSpPr>
              <p:cNvPr id="3" name="矩形 2">
                <a:extLst>
                  <a:ext uri="{FF2B5EF4-FFF2-40B4-BE49-F238E27FC236}">
                    <a16:creationId xmlns:a16="http://schemas.microsoft.com/office/drawing/2014/main" id="{DADFF97C-D0BF-45FF-A22C-72D78250B1D2}"/>
                  </a:ext>
                </a:extLst>
              </p:cNvPr>
              <p:cNvSpPr>
                <a:spLocks noRot="1" noChangeAspect="1" noMove="1" noResize="1" noEditPoints="1" noAdjustHandles="1" noChangeArrowheads="1" noChangeShapeType="1" noTextEdit="1"/>
              </p:cNvSpPr>
              <p:nvPr/>
            </p:nvSpPr>
            <p:spPr>
              <a:xfrm>
                <a:off x="741157" y="1682284"/>
                <a:ext cx="4548361" cy="960328"/>
              </a:xfrm>
              <a:prstGeom prst="rect">
                <a:avLst/>
              </a:prstGeom>
              <a:blipFill>
                <a:blip r:embed="rId2"/>
                <a:stretch>
                  <a:fillRect l="-1206" r="-804" b="-8917"/>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222F4ADD-F9DA-4202-A4ED-239132DE7250}"/>
              </a:ext>
            </a:extLst>
          </p:cNvPr>
          <p:cNvSpPr>
            <a:spLocks noGrp="1"/>
          </p:cNvSpPr>
          <p:nvPr>
            <p:ph type="sldNum" sz="quarter" idx="12"/>
          </p:nvPr>
        </p:nvSpPr>
        <p:spPr/>
        <p:txBody>
          <a:bodyPr/>
          <a:lstStyle/>
          <a:p>
            <a:fld id="{872633CA-77E0-4863-94F8-E28139DFB2B4}" type="slidenum">
              <a:rPr lang="zh-TW" altLang="en-US" smtClean="0"/>
              <a:t>8</a:t>
            </a:fld>
            <a:endParaRPr lang="zh-TW" altLang="en-US"/>
          </a:p>
        </p:txBody>
      </p:sp>
      <p:sp>
        <p:nvSpPr>
          <p:cNvPr id="5" name="標題 1">
            <a:extLst>
              <a:ext uri="{FF2B5EF4-FFF2-40B4-BE49-F238E27FC236}">
                <a16:creationId xmlns:a16="http://schemas.microsoft.com/office/drawing/2014/main" id="{FEF0B28A-BF0C-4AED-8461-CBEAD77D334D}"/>
              </a:ext>
            </a:extLst>
          </p:cNvPr>
          <p:cNvSpPr txBox="1">
            <a:spLocks/>
          </p:cNvSpPr>
          <p:nvPr/>
        </p:nvSpPr>
        <p:spPr>
          <a:xfrm>
            <a:off x="402232" y="385081"/>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Grouping </a:t>
            </a:r>
            <a:r>
              <a:rPr lang="en-US" altLang="zh-TW" sz="3200" dirty="0" smtClean="0">
                <a:latin typeface="Times New Roman" panose="02020603050405020304" pitchFamily="18" charset="0"/>
                <a:cs typeface="Times New Roman" panose="02020603050405020304" pitchFamily="18" charset="0"/>
              </a:rPr>
              <a:t>– ternary: Lemma 1</a:t>
            </a:r>
            <a:endParaRPr lang="zh-TW" alt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標題 1">
                <a:extLst>
                  <a:ext uri="{FF2B5EF4-FFF2-40B4-BE49-F238E27FC236}">
                    <a16:creationId xmlns:a16="http://schemas.microsoft.com/office/drawing/2014/main" id="{763094B3-CC12-408A-AF35-67F3F2C58BD6}"/>
                  </a:ext>
                </a:extLst>
              </p:cNvPr>
              <p:cNvSpPr txBox="1">
                <a:spLocks/>
              </p:cNvSpPr>
              <p:nvPr/>
            </p:nvSpPr>
            <p:spPr>
              <a:xfrm>
                <a:off x="402232" y="680111"/>
                <a:ext cx="6720677" cy="14197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00000"/>
                  </a:lnSpc>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For fully ternary normalized string </a:t>
                </a:r>
                <a14:m>
                  <m:oMath xmlns:m="http://schemas.openxmlformats.org/officeDocument/2006/math">
                    <m:r>
                      <a:rPr lang="en-US" altLang="zh-TW" sz="2400" i="1" dirty="0" smtClean="0">
                        <a:latin typeface="Cambria Math" panose="02040503050406030204" pitchFamily="18" charset="0"/>
                        <a:cs typeface="Times New Roman" panose="02020603050405020304" pitchFamily="18" charset="0"/>
                      </a:rPr>
                      <m:t>𝑠</m:t>
                    </m:r>
                  </m:oMath>
                </a14:m>
                <a:r>
                  <a:rPr lang="en-US" altLang="zh-TW" sz="2000" dirty="0">
                    <a:latin typeface="Times New Roman" panose="02020603050405020304" pitchFamily="18" charset="0"/>
                    <a:cs typeface="Times New Roman" panose="02020603050405020304" pitchFamily="18" charset="0"/>
                  </a:rPr>
                  <a:t>:</a:t>
                </a:r>
              </a:p>
            </p:txBody>
          </p:sp>
        </mc:Choice>
        <mc:Fallback xmlns="">
          <p:sp>
            <p:nvSpPr>
              <p:cNvPr id="12" name="標題 1">
                <a:extLst>
                  <a:ext uri="{FF2B5EF4-FFF2-40B4-BE49-F238E27FC236}">
                    <a16:creationId xmlns:a16="http://schemas.microsoft.com/office/drawing/2014/main" id="{763094B3-CC12-408A-AF35-67F3F2C58BD6}"/>
                  </a:ext>
                </a:extLst>
              </p:cNvPr>
              <p:cNvSpPr txBox="1">
                <a:spLocks noRot="1" noChangeAspect="1" noMove="1" noResize="1" noEditPoints="1" noAdjustHandles="1" noChangeArrowheads="1" noChangeShapeType="1" noTextEdit="1"/>
              </p:cNvSpPr>
              <p:nvPr/>
            </p:nvSpPr>
            <p:spPr>
              <a:xfrm>
                <a:off x="402232" y="680111"/>
                <a:ext cx="6720677" cy="1419789"/>
              </a:xfrm>
              <a:prstGeom prst="rect">
                <a:avLst/>
              </a:prstGeom>
              <a:blipFill>
                <a:blip r:embed="rId3"/>
                <a:stretch>
                  <a:fillRect l="-127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16" name="表格 15">
                <a:extLst>
                  <a:ext uri="{FF2B5EF4-FFF2-40B4-BE49-F238E27FC236}">
                    <a16:creationId xmlns:a16="http://schemas.microsoft.com/office/drawing/2014/main" id="{3E962F1C-FCE0-4481-81A7-2205F094F2B9}"/>
                  </a:ext>
                </a:extLst>
              </p:cNvPr>
              <p:cNvGraphicFramePr>
                <a:graphicFrameLocks noGrp="1"/>
              </p:cNvGraphicFramePr>
              <p:nvPr>
                <p:extLst>
                  <p:ext uri="{D42A27DB-BD31-4B8C-83A1-F6EECF244321}">
                    <p14:modId xmlns:p14="http://schemas.microsoft.com/office/powerpoint/2010/main" val="2594791214"/>
                  </p:ext>
                </p:extLst>
              </p:nvPr>
            </p:nvGraphicFramePr>
            <p:xfrm>
              <a:off x="1159797" y="2633055"/>
              <a:ext cx="6381753" cy="1483360"/>
            </p:xfrm>
            <a:graphic>
              <a:graphicData uri="http://schemas.openxmlformats.org/drawingml/2006/table">
                <a:tbl>
                  <a:tblPr firstRow="1" bandRow="1">
                    <a:tableStyleId>{5940675A-B579-460E-94D1-54222C63F5DA}</a:tableStyleId>
                  </a:tblPr>
                  <a:tblGrid>
                    <a:gridCol w="911679">
                      <a:extLst>
                        <a:ext uri="{9D8B030D-6E8A-4147-A177-3AD203B41FA5}">
                          <a16:colId xmlns:a16="http://schemas.microsoft.com/office/drawing/2014/main" val="2616301296"/>
                        </a:ext>
                      </a:extLst>
                    </a:gridCol>
                    <a:gridCol w="911679">
                      <a:extLst>
                        <a:ext uri="{9D8B030D-6E8A-4147-A177-3AD203B41FA5}">
                          <a16:colId xmlns:a16="http://schemas.microsoft.com/office/drawing/2014/main" val="3527329007"/>
                        </a:ext>
                      </a:extLst>
                    </a:gridCol>
                    <a:gridCol w="911679">
                      <a:extLst>
                        <a:ext uri="{9D8B030D-6E8A-4147-A177-3AD203B41FA5}">
                          <a16:colId xmlns:a16="http://schemas.microsoft.com/office/drawing/2014/main" val="126961617"/>
                        </a:ext>
                      </a:extLst>
                    </a:gridCol>
                    <a:gridCol w="911679">
                      <a:extLst>
                        <a:ext uri="{9D8B030D-6E8A-4147-A177-3AD203B41FA5}">
                          <a16:colId xmlns:a16="http://schemas.microsoft.com/office/drawing/2014/main" val="2634396870"/>
                        </a:ext>
                      </a:extLst>
                    </a:gridCol>
                    <a:gridCol w="911679">
                      <a:extLst>
                        <a:ext uri="{9D8B030D-6E8A-4147-A177-3AD203B41FA5}">
                          <a16:colId xmlns:a16="http://schemas.microsoft.com/office/drawing/2014/main" val="1291176962"/>
                        </a:ext>
                      </a:extLst>
                    </a:gridCol>
                    <a:gridCol w="911679">
                      <a:extLst>
                        <a:ext uri="{9D8B030D-6E8A-4147-A177-3AD203B41FA5}">
                          <a16:colId xmlns:a16="http://schemas.microsoft.com/office/drawing/2014/main" val="651979287"/>
                        </a:ext>
                      </a:extLst>
                    </a:gridCol>
                    <a:gridCol w="911679">
                      <a:extLst>
                        <a:ext uri="{9D8B030D-6E8A-4147-A177-3AD203B41FA5}">
                          <a16:colId xmlns:a16="http://schemas.microsoft.com/office/drawing/2014/main" val="80234941"/>
                        </a:ext>
                      </a:extLst>
                    </a:gridCol>
                  </a:tblGrid>
                  <a:tr h="370840">
                    <a:tc>
                      <a:txBody>
                        <a:bodyPr/>
                        <a:lstStyle/>
                        <a:p>
                          <a:pPr algn="ctr"/>
                          <a14:m>
                            <m:oMathPara xmlns:m="http://schemas.openxmlformats.org/officeDocument/2006/math">
                              <m:oMathParaPr>
                                <m:jc m:val="center"/>
                              </m:oMathParaPr>
                              <m:oMath xmlns:m="http://schemas.openxmlformats.org/officeDocument/2006/math">
                                <m:r>
                                  <a:rPr lang="en-US" altLang="zh-TW" b="0" i="1" smtClean="0">
                                    <a:latin typeface="Cambria Math" panose="02040503050406030204" pitchFamily="18" charset="0"/>
                                  </a:rPr>
                                  <m:t>𝑖𝑛𝑑𝑒𝑥</m:t>
                                </m:r>
                              </m:oMath>
                            </m:oMathPara>
                          </a14:m>
                          <a:endParaRPr lang="zh-TW"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TW" i="1" dirty="0" smtClean="0">
                                    <a:latin typeface="Cambria Math" panose="02040503050406030204" pitchFamily="18" charset="0"/>
                                  </a:rPr>
                                  <m:t>1</m:t>
                                </m:r>
                              </m:oMath>
                            </m:oMathPara>
                          </a14:m>
                          <a:endParaRPr lang="zh-TW" altLang="en-US" dirty="0"/>
                        </a:p>
                      </a:txBody>
                      <a:tcPr anchor="ctr"/>
                    </a:tc>
                    <a:tc>
                      <a:txBody>
                        <a:bodyPr/>
                        <a:lstStyle/>
                        <a:p>
                          <a:pPr algn="ctr"/>
                          <a:endParaRPr lang="zh-TW" altLang="en-US" dirty="0"/>
                        </a:p>
                      </a:txBody>
                      <a:tcPr anchor="ctr"/>
                    </a:tc>
                    <a:tc>
                      <a:txBody>
                        <a:bodyPr/>
                        <a:lstStyle/>
                        <a:p>
                          <a:pPr algn="ctr"/>
                          <a:r>
                            <a:rPr lang="en-US" altLang="zh-TW" dirty="0"/>
                            <a:t>…</a:t>
                          </a:r>
                          <a:endParaRPr lang="zh-TW" altLang="en-US" dirty="0"/>
                        </a:p>
                      </a:txBody>
                      <a:tcPr anchor="ctr"/>
                    </a:tc>
                    <a:tc>
                      <a:txBody>
                        <a:bodyPr/>
                        <a:lstStyle/>
                        <a:p>
                          <a:pPr algn="ctr"/>
                          <a:endParaRPr lang="zh-TW"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TW" i="1" dirty="0" smtClean="0">
                                    <a:latin typeface="Cambria Math" panose="02040503050406030204" pitchFamily="18" charset="0"/>
                                  </a:rPr>
                                  <m:t>𝑖</m:t>
                                </m:r>
                                <m:r>
                                  <a:rPr lang="en-US" altLang="zh-TW" i="1" dirty="0" smtClean="0">
                                    <a:latin typeface="Cambria Math" panose="02040503050406030204" pitchFamily="18" charset="0"/>
                                  </a:rPr>
                                  <m:t>−1</m:t>
                                </m:r>
                              </m:oMath>
                            </m:oMathPara>
                          </a14:m>
                          <a:endParaRPr lang="zh-TW"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TW" i="1" dirty="0" smtClean="0">
                                    <a:latin typeface="Cambria Math" panose="02040503050406030204" pitchFamily="18" charset="0"/>
                                  </a:rPr>
                                  <m:t>𝑖</m:t>
                                </m:r>
                              </m:oMath>
                            </m:oMathPara>
                          </a14:m>
                          <a:endParaRPr lang="zh-TW" altLang="en-US" dirty="0"/>
                        </a:p>
                      </a:txBody>
                      <a:tcPr anchor="ctr"/>
                    </a:tc>
                    <a:extLst>
                      <a:ext uri="{0D108BD9-81ED-4DB2-BD59-A6C34878D82A}">
                        <a16:rowId xmlns:a16="http://schemas.microsoft.com/office/drawing/2014/main" val="1967640266"/>
                      </a:ext>
                    </a:extLst>
                  </a:tr>
                  <a:tr h="370840">
                    <a:tc>
                      <a:txBody>
                        <a:bodyPr/>
                        <a:lstStyle/>
                        <a:p>
                          <a:pPr algn="ctr"/>
                          <a14:m>
                            <m:oMathPara xmlns:m="http://schemas.openxmlformats.org/officeDocument/2006/math">
                              <m:oMathParaPr>
                                <m:jc m:val="center"/>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1</m:t>
                                    </m:r>
                                  </m:sub>
                                </m:sSub>
                              </m:oMath>
                            </m:oMathPara>
                          </a14:m>
                          <a:endParaRPr lang="zh-TW" altLang="en-US" dirty="0"/>
                        </a:p>
                      </a:txBody>
                      <a:tcPr anchor="ctr"/>
                    </a:tc>
                    <a:tc>
                      <a:txBody>
                        <a:bodyPr/>
                        <a:lstStyle/>
                        <a:p>
                          <a:pPr algn="ctr"/>
                          <a:r>
                            <a:rPr lang="en-US" altLang="zh-TW" dirty="0">
                              <a:solidFill>
                                <a:srgbClr val="FF0000"/>
                              </a:solidFill>
                            </a:rPr>
                            <a:t>0</a:t>
                          </a:r>
                          <a:endParaRPr lang="zh-TW" altLang="en-US" dirty="0">
                            <a:solidFill>
                              <a:srgbClr val="FF0000"/>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dirty="0">
                              <a:solidFill>
                                <a:srgbClr val="FF0000"/>
                              </a:solidFill>
                            </a:rPr>
                            <a:t>1</a:t>
                          </a:r>
                          <a:endParaRPr lang="zh-TW" altLang="en-US" dirty="0">
                            <a:solidFill>
                              <a:srgbClr val="FF0000"/>
                            </a:solidFill>
                          </a:endParaRPr>
                        </a:p>
                      </a:txBody>
                      <a:tcPr anchor="ctr"/>
                    </a:tc>
                    <a:tc>
                      <a:txBody>
                        <a:bodyPr/>
                        <a:lstStyle/>
                        <a:p>
                          <a:pPr algn="ctr"/>
                          <a:r>
                            <a:rPr lang="en-US" altLang="zh-TW" dirty="0">
                              <a:solidFill>
                                <a:srgbClr val="FF0000"/>
                              </a:solidFill>
                            </a:rPr>
                            <a:t>2</a:t>
                          </a:r>
                          <a:endParaRPr lang="zh-TW" altLang="en-US" dirty="0">
                            <a:solidFill>
                              <a:srgbClr val="FF0000"/>
                            </a:solidFill>
                          </a:endParaRPr>
                        </a:p>
                      </a:txBody>
                      <a:tcPr anchor="ctr"/>
                    </a:tc>
                    <a:tc>
                      <a:txBody>
                        <a:bodyPr/>
                        <a:lstStyle/>
                        <a:p>
                          <a:pPr algn="ctr"/>
                          <a:r>
                            <a:rPr lang="en-US" altLang="zh-TW" dirty="0">
                              <a:solidFill>
                                <a:srgbClr val="FF0000"/>
                              </a:solidFill>
                            </a:rPr>
                            <a:t>1</a:t>
                          </a:r>
                          <a:endParaRPr lang="zh-TW" altLang="en-US" dirty="0">
                            <a:solidFill>
                              <a:srgbClr val="FF0000"/>
                            </a:solidFill>
                          </a:endParaRPr>
                        </a:p>
                      </a:txBody>
                      <a:tcPr anchor="ctr"/>
                    </a:tc>
                    <a:tc>
                      <a:txBody>
                        <a:bodyPr/>
                        <a:lstStyle/>
                        <a:p>
                          <a:pPr algn="ctr"/>
                          <a:r>
                            <a:rPr lang="en-US" altLang="zh-TW" dirty="0">
                              <a:solidFill>
                                <a:srgbClr val="FF0000"/>
                              </a:solidFill>
                            </a:rPr>
                            <a:t>2</a:t>
                          </a:r>
                          <a:endParaRPr lang="zh-TW" altLang="en-US" dirty="0">
                            <a:solidFill>
                              <a:srgbClr val="FF0000"/>
                            </a:solidFill>
                          </a:endParaRPr>
                        </a:p>
                      </a:txBody>
                      <a:tcPr anchor="ctr"/>
                    </a:tc>
                    <a:tc>
                      <a:txBody>
                        <a:bodyPr/>
                        <a:lstStyle/>
                        <a:p>
                          <a:pPr algn="ctr"/>
                          <a:r>
                            <a:rPr lang="en-US" altLang="zh-TW" dirty="0">
                              <a:solidFill>
                                <a:srgbClr val="00B050"/>
                              </a:solidFill>
                            </a:rPr>
                            <a:t>0</a:t>
                          </a:r>
                          <a:endParaRPr lang="zh-TW" altLang="en-US" dirty="0">
                            <a:solidFill>
                              <a:srgbClr val="00B050"/>
                            </a:solidFill>
                          </a:endParaRPr>
                        </a:p>
                      </a:txBody>
                      <a:tcPr anchor="ctr"/>
                    </a:tc>
                    <a:extLst>
                      <a:ext uri="{0D108BD9-81ED-4DB2-BD59-A6C34878D82A}">
                        <a16:rowId xmlns:a16="http://schemas.microsoft.com/office/drawing/2014/main" val="4265793401"/>
                      </a:ext>
                    </a:extLst>
                  </a:tr>
                  <a:tr h="370840">
                    <a:tc gridSpan="7">
                      <a:txBody>
                        <a:bodyPr/>
                        <a:lstStyle/>
                        <a:p>
                          <a:pPr algn="ctr"/>
                          <a:endParaRPr lang="zh-TW" altLang="en-US" dirty="0"/>
                        </a:p>
                      </a:txBody>
                      <a:tcPr anchor="ctr"/>
                    </a:tc>
                    <a:tc hMerge="1">
                      <a:txBody>
                        <a:bodyPr/>
                        <a:lstStyle/>
                        <a:p>
                          <a:pPr algn="ctr"/>
                          <a:endParaRPr lang="zh-TW" altLang="en-US" b="1" dirty="0">
                            <a:solidFill>
                              <a:srgbClr val="00B05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ap="flat" cmpd="sng" algn="ctr">
                          <a:solidFill>
                            <a:schemeClr val="tx1"/>
                          </a:solidFill>
                          <a:prstDash val="solid"/>
                          <a:round/>
                          <a:headEnd type="none" w="med" len="med"/>
                          <a:tailEnd type="none" w="med" len="med"/>
                        </a:lnBlToTr>
                      </a:tcPr>
                    </a:tc>
                    <a:tc hMerge="1">
                      <a:txBody>
                        <a:bodyPr/>
                        <a:lstStyle/>
                        <a:p>
                          <a:pPr algn="ctr"/>
                          <a:endParaRPr lang="zh-TW" altLang="en-US" b="1" dirty="0">
                            <a:solidFill>
                              <a:srgbClr val="FF0000"/>
                            </a:solidFill>
                          </a:endParaRPr>
                        </a:p>
                      </a:txBody>
                      <a:tcPr anchor="ctr">
                        <a:lnL w="12700" cap="flat" cmpd="sng" algn="ctr">
                          <a:solidFill>
                            <a:schemeClr val="tx1"/>
                          </a:solidFill>
                          <a:prstDash val="solid"/>
                          <a:round/>
                          <a:headEnd type="none" w="med" len="med"/>
                          <a:tailEnd type="none" w="med" len="med"/>
                        </a:lnL>
                      </a:tcPr>
                    </a:tc>
                    <a:tc hMerge="1">
                      <a:txBody>
                        <a:bodyPr/>
                        <a:lstStyle/>
                        <a:p>
                          <a:pPr algn="ctr"/>
                          <a:endParaRPr lang="zh-TW" altLang="en-US" dirty="0">
                            <a:solidFill>
                              <a:srgbClr val="FF0000"/>
                            </a:solidFill>
                          </a:endParaRPr>
                        </a:p>
                      </a:txBody>
                      <a:tcPr anchor="ctr"/>
                    </a:tc>
                    <a:tc hMerge="1">
                      <a:txBody>
                        <a:bodyPr/>
                        <a:lstStyle/>
                        <a:p>
                          <a:pPr algn="ctr"/>
                          <a:endParaRPr lang="zh-TW" altLang="en-US" dirty="0">
                            <a:solidFill>
                              <a:srgbClr val="FF0000"/>
                            </a:solidFill>
                          </a:endParaRPr>
                        </a:p>
                      </a:txBody>
                      <a:tcPr anchor="ctr"/>
                    </a:tc>
                    <a:tc hMerge="1">
                      <a:txBody>
                        <a:bodyPr/>
                        <a:lstStyle/>
                        <a:p>
                          <a:pPr algn="ctr"/>
                          <a:endParaRPr lang="zh-TW" altLang="en-US" dirty="0">
                            <a:solidFill>
                              <a:srgbClr val="FF0000"/>
                            </a:solidFill>
                          </a:endParaRPr>
                        </a:p>
                      </a:txBody>
                      <a:tcPr anchor="ctr"/>
                    </a:tc>
                    <a:tc hMerge="1">
                      <a:txBody>
                        <a:bodyPr/>
                        <a:lstStyle/>
                        <a:p>
                          <a:pPr algn="ctr"/>
                          <a:endParaRPr lang="zh-TW" altLang="en-US" dirty="0">
                            <a:solidFill>
                              <a:srgbClr val="FF0000"/>
                            </a:solidFill>
                          </a:endParaRPr>
                        </a:p>
                      </a:txBody>
                      <a:tcPr anchor="ctr"/>
                    </a:tc>
                    <a:extLst>
                      <a:ext uri="{0D108BD9-81ED-4DB2-BD59-A6C34878D82A}">
                        <a16:rowId xmlns:a16="http://schemas.microsoft.com/office/drawing/2014/main" val="464373055"/>
                      </a:ext>
                    </a:extLst>
                  </a:tr>
                  <a:tr h="370840">
                    <a:tc>
                      <a:txBody>
                        <a:bodyPr/>
                        <a:lstStyle/>
                        <a:p>
                          <a:pPr algn="ctr"/>
                          <a14:m>
                            <m:oMathPara xmlns:m="http://schemas.openxmlformats.org/officeDocument/2006/math">
                              <m:oMathParaPr>
                                <m:jc m:val="center"/>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oMath>
                            </m:oMathPara>
                          </a14:m>
                          <a:endParaRPr lang="zh-TW" altLang="en-US"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TW" b="1" dirty="0">
                              <a:solidFill>
                                <a:srgbClr val="00B050"/>
                              </a:solidFill>
                            </a:rPr>
                            <a:t>0</a:t>
                          </a:r>
                          <a:endParaRPr lang="zh-TW" altLang="en-US" b="1" dirty="0">
                            <a:solidFill>
                              <a:srgbClr val="00B05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ap="flat" cmpd="sng" algn="ctr">
                          <a:solidFill>
                            <a:schemeClr val="tx1"/>
                          </a:solidFill>
                          <a:prstDash val="solid"/>
                          <a:round/>
                          <a:headEnd type="none" w="med" len="med"/>
                          <a:tailEnd type="none" w="med" len="med"/>
                        </a:lnBlToTr>
                      </a:tcPr>
                    </a:tc>
                    <a:tc>
                      <a:txBody>
                        <a:bodyPr/>
                        <a:lstStyle/>
                        <a:p>
                          <a:pPr algn="ctr"/>
                          <a:r>
                            <a:rPr lang="en-US" altLang="zh-TW" b="1" dirty="0">
                              <a:solidFill>
                                <a:srgbClr val="FF0000"/>
                              </a:solidFill>
                            </a:rPr>
                            <a:t>0</a:t>
                          </a:r>
                          <a:endParaRPr lang="zh-TW" altLang="en-US" b="1" dirty="0">
                            <a:solidFill>
                              <a:srgbClr val="FF0000"/>
                            </a:solidFill>
                          </a:endParaRPr>
                        </a:p>
                      </a:txBody>
                      <a:tcPr anchor="ctr">
                        <a:lnL w="12700" cap="flat" cmpd="sng" algn="ctr">
                          <a:solidFill>
                            <a:schemeClr val="tx1"/>
                          </a:solidFill>
                          <a:prstDash val="solid"/>
                          <a:round/>
                          <a:headEnd type="none" w="med" len="med"/>
                          <a:tailEnd type="none" w="med" len="med"/>
                        </a:lnL>
                      </a:tcPr>
                    </a:tc>
                    <a:tc>
                      <a:txBody>
                        <a:bodyPr/>
                        <a:lstStyle/>
                        <a:p>
                          <a:pPr algn="ctr"/>
                          <a:r>
                            <a:rPr lang="en-US" altLang="zh-TW" dirty="0">
                              <a:solidFill>
                                <a:srgbClr val="FF0000"/>
                              </a:solidFill>
                            </a:rPr>
                            <a:t>1</a:t>
                          </a:r>
                          <a:endParaRPr lang="zh-TW" altLang="en-US" dirty="0">
                            <a:solidFill>
                              <a:srgbClr val="FF0000"/>
                            </a:solidFill>
                          </a:endParaRPr>
                        </a:p>
                      </a:txBody>
                      <a:tcPr anchor="ctr"/>
                    </a:tc>
                    <a:tc>
                      <a:txBody>
                        <a:bodyPr/>
                        <a:lstStyle/>
                        <a:p>
                          <a:pPr algn="ctr"/>
                          <a:r>
                            <a:rPr lang="en-US" altLang="zh-TW" dirty="0">
                              <a:solidFill>
                                <a:srgbClr val="FF0000"/>
                              </a:solidFill>
                            </a:rPr>
                            <a:t>2</a:t>
                          </a:r>
                          <a:endParaRPr lang="zh-TW" altLang="en-US" dirty="0">
                            <a:solidFill>
                              <a:srgbClr val="FF0000"/>
                            </a:solidFill>
                          </a:endParaRPr>
                        </a:p>
                      </a:txBody>
                      <a:tcPr anchor="ctr"/>
                    </a:tc>
                    <a:tc>
                      <a:txBody>
                        <a:bodyPr/>
                        <a:lstStyle/>
                        <a:p>
                          <a:pPr algn="ctr"/>
                          <a:r>
                            <a:rPr lang="en-US" altLang="zh-TW" dirty="0">
                              <a:solidFill>
                                <a:srgbClr val="FF0000"/>
                              </a:solidFill>
                            </a:rPr>
                            <a:t>1</a:t>
                          </a:r>
                          <a:endParaRPr lang="zh-TW" altLang="en-US" dirty="0">
                            <a:solidFill>
                              <a:srgbClr val="FF0000"/>
                            </a:solidFill>
                          </a:endParaRPr>
                        </a:p>
                      </a:txBody>
                      <a:tcPr anchor="ctr"/>
                    </a:tc>
                    <a:tc>
                      <a:txBody>
                        <a:bodyPr/>
                        <a:lstStyle/>
                        <a:p>
                          <a:pPr algn="ctr"/>
                          <a:r>
                            <a:rPr lang="en-US" altLang="zh-TW" dirty="0">
                              <a:solidFill>
                                <a:srgbClr val="FF0000"/>
                              </a:solidFill>
                            </a:rPr>
                            <a:t>2</a:t>
                          </a:r>
                          <a:endParaRPr lang="zh-TW" altLang="en-US" dirty="0">
                            <a:solidFill>
                              <a:srgbClr val="FF0000"/>
                            </a:solidFill>
                          </a:endParaRPr>
                        </a:p>
                      </a:txBody>
                      <a:tcPr anchor="ctr"/>
                    </a:tc>
                    <a:extLst>
                      <a:ext uri="{0D108BD9-81ED-4DB2-BD59-A6C34878D82A}">
                        <a16:rowId xmlns:a16="http://schemas.microsoft.com/office/drawing/2014/main" val="3404578920"/>
                      </a:ext>
                    </a:extLst>
                  </a:tr>
                </a:tbl>
              </a:graphicData>
            </a:graphic>
          </p:graphicFrame>
        </mc:Choice>
        <mc:Fallback xmlns="">
          <p:graphicFrame>
            <p:nvGraphicFramePr>
              <p:cNvPr id="16" name="表格 15">
                <a:extLst>
                  <a:ext uri="{FF2B5EF4-FFF2-40B4-BE49-F238E27FC236}">
                    <a16:creationId xmlns:a16="http://schemas.microsoft.com/office/drawing/2014/main" id="{3E962F1C-FCE0-4481-81A7-2205F094F2B9}"/>
                  </a:ext>
                </a:extLst>
              </p:cNvPr>
              <p:cNvGraphicFramePr>
                <a:graphicFrameLocks noGrp="1"/>
              </p:cNvGraphicFramePr>
              <p:nvPr>
                <p:extLst>
                  <p:ext uri="{D42A27DB-BD31-4B8C-83A1-F6EECF244321}">
                    <p14:modId xmlns:p14="http://schemas.microsoft.com/office/powerpoint/2010/main" val="2594791214"/>
                  </p:ext>
                </p:extLst>
              </p:nvPr>
            </p:nvGraphicFramePr>
            <p:xfrm>
              <a:off x="1159797" y="2633055"/>
              <a:ext cx="6381753" cy="1483360"/>
            </p:xfrm>
            <a:graphic>
              <a:graphicData uri="http://schemas.openxmlformats.org/drawingml/2006/table">
                <a:tbl>
                  <a:tblPr firstRow="1" bandRow="1">
                    <a:tableStyleId>{5940675A-B579-460E-94D1-54222C63F5DA}</a:tableStyleId>
                  </a:tblPr>
                  <a:tblGrid>
                    <a:gridCol w="911679">
                      <a:extLst>
                        <a:ext uri="{9D8B030D-6E8A-4147-A177-3AD203B41FA5}">
                          <a16:colId xmlns:a16="http://schemas.microsoft.com/office/drawing/2014/main" val="2616301296"/>
                        </a:ext>
                      </a:extLst>
                    </a:gridCol>
                    <a:gridCol w="911679">
                      <a:extLst>
                        <a:ext uri="{9D8B030D-6E8A-4147-A177-3AD203B41FA5}">
                          <a16:colId xmlns:a16="http://schemas.microsoft.com/office/drawing/2014/main" val="3527329007"/>
                        </a:ext>
                      </a:extLst>
                    </a:gridCol>
                    <a:gridCol w="911679">
                      <a:extLst>
                        <a:ext uri="{9D8B030D-6E8A-4147-A177-3AD203B41FA5}">
                          <a16:colId xmlns:a16="http://schemas.microsoft.com/office/drawing/2014/main" val="126961617"/>
                        </a:ext>
                      </a:extLst>
                    </a:gridCol>
                    <a:gridCol w="911679">
                      <a:extLst>
                        <a:ext uri="{9D8B030D-6E8A-4147-A177-3AD203B41FA5}">
                          <a16:colId xmlns:a16="http://schemas.microsoft.com/office/drawing/2014/main" val="2634396870"/>
                        </a:ext>
                      </a:extLst>
                    </a:gridCol>
                    <a:gridCol w="911679">
                      <a:extLst>
                        <a:ext uri="{9D8B030D-6E8A-4147-A177-3AD203B41FA5}">
                          <a16:colId xmlns:a16="http://schemas.microsoft.com/office/drawing/2014/main" val="1291176962"/>
                        </a:ext>
                      </a:extLst>
                    </a:gridCol>
                    <a:gridCol w="911679">
                      <a:extLst>
                        <a:ext uri="{9D8B030D-6E8A-4147-A177-3AD203B41FA5}">
                          <a16:colId xmlns:a16="http://schemas.microsoft.com/office/drawing/2014/main" val="651979287"/>
                        </a:ext>
                      </a:extLst>
                    </a:gridCol>
                    <a:gridCol w="911679">
                      <a:extLst>
                        <a:ext uri="{9D8B030D-6E8A-4147-A177-3AD203B41FA5}">
                          <a16:colId xmlns:a16="http://schemas.microsoft.com/office/drawing/2014/main" val="80234941"/>
                        </a:ext>
                      </a:extLst>
                    </a:gridCol>
                  </a:tblGrid>
                  <a:tr h="370840">
                    <a:tc>
                      <a:txBody>
                        <a:bodyPr/>
                        <a:lstStyle/>
                        <a:p>
                          <a:endParaRPr lang="zh-TW"/>
                        </a:p>
                      </a:txBody>
                      <a:tcPr anchor="ctr">
                        <a:blipFill>
                          <a:blip r:embed="rId4"/>
                          <a:stretch>
                            <a:fillRect l="-667" t="-6557" r="-600000" b="-326230"/>
                          </a:stretch>
                        </a:blipFill>
                      </a:tcPr>
                    </a:tc>
                    <a:tc>
                      <a:txBody>
                        <a:bodyPr/>
                        <a:lstStyle/>
                        <a:p>
                          <a:endParaRPr lang="zh-TW"/>
                        </a:p>
                      </a:txBody>
                      <a:tcPr anchor="ctr">
                        <a:blipFill>
                          <a:blip r:embed="rId4"/>
                          <a:stretch>
                            <a:fillRect l="-101342" t="-6557" r="-504027" b="-326230"/>
                          </a:stretch>
                        </a:blipFill>
                      </a:tcPr>
                    </a:tc>
                    <a:tc>
                      <a:txBody>
                        <a:bodyPr/>
                        <a:lstStyle/>
                        <a:p>
                          <a:pPr algn="ctr"/>
                          <a:endParaRPr lang="zh-TW" altLang="en-US" dirty="0"/>
                        </a:p>
                      </a:txBody>
                      <a:tcPr anchor="ctr"/>
                    </a:tc>
                    <a:tc>
                      <a:txBody>
                        <a:bodyPr/>
                        <a:lstStyle/>
                        <a:p>
                          <a:pPr algn="ctr"/>
                          <a:r>
                            <a:rPr lang="en-US" altLang="zh-TW" dirty="0"/>
                            <a:t>…</a:t>
                          </a:r>
                          <a:endParaRPr lang="zh-TW" altLang="en-US" dirty="0"/>
                        </a:p>
                      </a:txBody>
                      <a:tcPr anchor="ctr"/>
                    </a:tc>
                    <a:tc>
                      <a:txBody>
                        <a:bodyPr/>
                        <a:lstStyle/>
                        <a:p>
                          <a:pPr algn="ctr"/>
                          <a:endParaRPr lang="zh-TW" altLang="en-US" dirty="0"/>
                        </a:p>
                      </a:txBody>
                      <a:tcPr anchor="ctr"/>
                    </a:tc>
                    <a:tc>
                      <a:txBody>
                        <a:bodyPr/>
                        <a:lstStyle/>
                        <a:p>
                          <a:endParaRPr lang="zh-TW"/>
                        </a:p>
                      </a:txBody>
                      <a:tcPr anchor="ctr">
                        <a:blipFill>
                          <a:blip r:embed="rId4"/>
                          <a:stretch>
                            <a:fillRect l="-503356" t="-6557" r="-102013" b="-326230"/>
                          </a:stretch>
                        </a:blipFill>
                      </a:tcPr>
                    </a:tc>
                    <a:tc>
                      <a:txBody>
                        <a:bodyPr/>
                        <a:lstStyle/>
                        <a:p>
                          <a:endParaRPr lang="zh-TW"/>
                        </a:p>
                      </a:txBody>
                      <a:tcPr anchor="ctr">
                        <a:blipFill>
                          <a:blip r:embed="rId4"/>
                          <a:stretch>
                            <a:fillRect l="-599333" t="-6557" r="-1333" b="-326230"/>
                          </a:stretch>
                        </a:blipFill>
                      </a:tcPr>
                    </a:tc>
                    <a:extLst>
                      <a:ext uri="{0D108BD9-81ED-4DB2-BD59-A6C34878D82A}">
                        <a16:rowId xmlns:a16="http://schemas.microsoft.com/office/drawing/2014/main" val="1967640266"/>
                      </a:ext>
                    </a:extLst>
                  </a:tr>
                  <a:tr h="370840">
                    <a:tc>
                      <a:txBody>
                        <a:bodyPr/>
                        <a:lstStyle/>
                        <a:p>
                          <a:endParaRPr lang="zh-TW"/>
                        </a:p>
                      </a:txBody>
                      <a:tcPr anchor="ctr">
                        <a:blipFill>
                          <a:blip r:embed="rId4"/>
                          <a:stretch>
                            <a:fillRect l="-667" t="-104839" r="-600000" b="-220968"/>
                          </a:stretch>
                        </a:blipFill>
                      </a:tcPr>
                    </a:tc>
                    <a:tc>
                      <a:txBody>
                        <a:bodyPr/>
                        <a:lstStyle/>
                        <a:p>
                          <a:pPr algn="ctr"/>
                          <a:r>
                            <a:rPr lang="en-US" altLang="zh-TW" dirty="0">
                              <a:solidFill>
                                <a:srgbClr val="FF0000"/>
                              </a:solidFill>
                            </a:rPr>
                            <a:t>0</a:t>
                          </a:r>
                          <a:endParaRPr lang="zh-TW" altLang="en-US" dirty="0">
                            <a:solidFill>
                              <a:srgbClr val="FF0000"/>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dirty="0">
                              <a:solidFill>
                                <a:srgbClr val="FF0000"/>
                              </a:solidFill>
                            </a:rPr>
                            <a:t>1</a:t>
                          </a:r>
                          <a:endParaRPr lang="zh-TW" altLang="en-US" dirty="0">
                            <a:solidFill>
                              <a:srgbClr val="FF0000"/>
                            </a:solidFill>
                          </a:endParaRPr>
                        </a:p>
                      </a:txBody>
                      <a:tcPr anchor="ctr"/>
                    </a:tc>
                    <a:tc>
                      <a:txBody>
                        <a:bodyPr/>
                        <a:lstStyle/>
                        <a:p>
                          <a:pPr algn="ctr"/>
                          <a:r>
                            <a:rPr lang="en-US" altLang="zh-TW" dirty="0">
                              <a:solidFill>
                                <a:srgbClr val="FF0000"/>
                              </a:solidFill>
                            </a:rPr>
                            <a:t>2</a:t>
                          </a:r>
                          <a:endParaRPr lang="zh-TW" altLang="en-US" dirty="0">
                            <a:solidFill>
                              <a:srgbClr val="FF0000"/>
                            </a:solidFill>
                          </a:endParaRPr>
                        </a:p>
                      </a:txBody>
                      <a:tcPr anchor="ctr"/>
                    </a:tc>
                    <a:tc>
                      <a:txBody>
                        <a:bodyPr/>
                        <a:lstStyle/>
                        <a:p>
                          <a:pPr algn="ctr"/>
                          <a:r>
                            <a:rPr lang="en-US" altLang="zh-TW" dirty="0">
                              <a:solidFill>
                                <a:srgbClr val="FF0000"/>
                              </a:solidFill>
                            </a:rPr>
                            <a:t>1</a:t>
                          </a:r>
                          <a:endParaRPr lang="zh-TW" altLang="en-US" dirty="0">
                            <a:solidFill>
                              <a:srgbClr val="FF0000"/>
                            </a:solidFill>
                          </a:endParaRPr>
                        </a:p>
                      </a:txBody>
                      <a:tcPr anchor="ctr"/>
                    </a:tc>
                    <a:tc>
                      <a:txBody>
                        <a:bodyPr/>
                        <a:lstStyle/>
                        <a:p>
                          <a:pPr algn="ctr"/>
                          <a:r>
                            <a:rPr lang="en-US" altLang="zh-TW" dirty="0">
                              <a:solidFill>
                                <a:srgbClr val="FF0000"/>
                              </a:solidFill>
                            </a:rPr>
                            <a:t>2</a:t>
                          </a:r>
                          <a:endParaRPr lang="zh-TW" altLang="en-US" dirty="0">
                            <a:solidFill>
                              <a:srgbClr val="FF0000"/>
                            </a:solidFill>
                          </a:endParaRPr>
                        </a:p>
                      </a:txBody>
                      <a:tcPr anchor="ctr"/>
                    </a:tc>
                    <a:tc>
                      <a:txBody>
                        <a:bodyPr/>
                        <a:lstStyle/>
                        <a:p>
                          <a:pPr algn="ctr"/>
                          <a:r>
                            <a:rPr lang="en-US" altLang="zh-TW" dirty="0">
                              <a:solidFill>
                                <a:srgbClr val="00B050"/>
                              </a:solidFill>
                            </a:rPr>
                            <a:t>0</a:t>
                          </a:r>
                          <a:endParaRPr lang="zh-TW" altLang="en-US" dirty="0">
                            <a:solidFill>
                              <a:srgbClr val="00B050"/>
                            </a:solidFill>
                          </a:endParaRPr>
                        </a:p>
                      </a:txBody>
                      <a:tcPr anchor="ctr"/>
                    </a:tc>
                    <a:extLst>
                      <a:ext uri="{0D108BD9-81ED-4DB2-BD59-A6C34878D82A}">
                        <a16:rowId xmlns:a16="http://schemas.microsoft.com/office/drawing/2014/main" val="4265793401"/>
                      </a:ext>
                    </a:extLst>
                  </a:tr>
                  <a:tr h="370840">
                    <a:tc gridSpan="7">
                      <a:txBody>
                        <a:bodyPr/>
                        <a:lstStyle/>
                        <a:p>
                          <a:pPr algn="ctr"/>
                          <a:endParaRPr lang="zh-TW" altLang="en-US" dirty="0"/>
                        </a:p>
                      </a:txBody>
                      <a:tcPr anchor="ctr"/>
                    </a:tc>
                    <a:tc hMerge="1">
                      <a:txBody>
                        <a:bodyPr/>
                        <a:lstStyle/>
                        <a:p>
                          <a:pPr algn="ctr"/>
                          <a:endParaRPr lang="zh-TW" altLang="en-US" b="1" dirty="0">
                            <a:solidFill>
                              <a:srgbClr val="00B05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ap="flat" cmpd="sng" algn="ctr">
                          <a:solidFill>
                            <a:schemeClr val="tx1"/>
                          </a:solidFill>
                          <a:prstDash val="solid"/>
                          <a:round/>
                          <a:headEnd type="none" w="med" len="med"/>
                          <a:tailEnd type="none" w="med" len="med"/>
                        </a:lnBlToTr>
                      </a:tcPr>
                    </a:tc>
                    <a:tc hMerge="1">
                      <a:txBody>
                        <a:bodyPr/>
                        <a:lstStyle/>
                        <a:p>
                          <a:pPr algn="ctr"/>
                          <a:endParaRPr lang="zh-TW" altLang="en-US" b="1" dirty="0">
                            <a:solidFill>
                              <a:srgbClr val="FF0000"/>
                            </a:solidFill>
                          </a:endParaRPr>
                        </a:p>
                      </a:txBody>
                      <a:tcPr anchor="ctr">
                        <a:lnL w="12700" cap="flat" cmpd="sng" algn="ctr">
                          <a:solidFill>
                            <a:schemeClr val="tx1"/>
                          </a:solidFill>
                          <a:prstDash val="solid"/>
                          <a:round/>
                          <a:headEnd type="none" w="med" len="med"/>
                          <a:tailEnd type="none" w="med" len="med"/>
                        </a:lnL>
                      </a:tcPr>
                    </a:tc>
                    <a:tc hMerge="1">
                      <a:txBody>
                        <a:bodyPr/>
                        <a:lstStyle/>
                        <a:p>
                          <a:pPr algn="ctr"/>
                          <a:endParaRPr lang="zh-TW" altLang="en-US" dirty="0">
                            <a:solidFill>
                              <a:srgbClr val="FF0000"/>
                            </a:solidFill>
                          </a:endParaRPr>
                        </a:p>
                      </a:txBody>
                      <a:tcPr anchor="ctr"/>
                    </a:tc>
                    <a:tc hMerge="1">
                      <a:txBody>
                        <a:bodyPr/>
                        <a:lstStyle/>
                        <a:p>
                          <a:pPr algn="ctr"/>
                          <a:endParaRPr lang="zh-TW" altLang="en-US" dirty="0">
                            <a:solidFill>
                              <a:srgbClr val="FF0000"/>
                            </a:solidFill>
                          </a:endParaRPr>
                        </a:p>
                      </a:txBody>
                      <a:tcPr anchor="ctr"/>
                    </a:tc>
                    <a:tc hMerge="1">
                      <a:txBody>
                        <a:bodyPr/>
                        <a:lstStyle/>
                        <a:p>
                          <a:pPr algn="ctr"/>
                          <a:endParaRPr lang="zh-TW" altLang="en-US" dirty="0">
                            <a:solidFill>
                              <a:srgbClr val="FF0000"/>
                            </a:solidFill>
                          </a:endParaRPr>
                        </a:p>
                      </a:txBody>
                      <a:tcPr anchor="ctr"/>
                    </a:tc>
                    <a:tc hMerge="1">
                      <a:txBody>
                        <a:bodyPr/>
                        <a:lstStyle/>
                        <a:p>
                          <a:pPr algn="ctr"/>
                          <a:endParaRPr lang="zh-TW" altLang="en-US" dirty="0">
                            <a:solidFill>
                              <a:srgbClr val="FF0000"/>
                            </a:solidFill>
                          </a:endParaRPr>
                        </a:p>
                      </a:txBody>
                      <a:tcPr anchor="ctr"/>
                    </a:tc>
                    <a:extLst>
                      <a:ext uri="{0D108BD9-81ED-4DB2-BD59-A6C34878D82A}">
                        <a16:rowId xmlns:a16="http://schemas.microsoft.com/office/drawing/2014/main" val="464373055"/>
                      </a:ext>
                    </a:extLst>
                  </a:tr>
                  <a:tr h="370840">
                    <a:tc>
                      <a:txBody>
                        <a:bodyPr/>
                        <a:lstStyle/>
                        <a:p>
                          <a:endParaRPr lang="zh-TW"/>
                        </a:p>
                      </a:txBody>
                      <a:tcPr anchor="ctr">
                        <a:lnR w="12700" cap="flat" cmpd="sng" algn="ctr">
                          <a:solidFill>
                            <a:schemeClr val="tx1"/>
                          </a:solidFill>
                          <a:prstDash val="solid"/>
                          <a:round/>
                          <a:headEnd type="none" w="med" len="med"/>
                          <a:tailEnd type="none" w="med" len="med"/>
                        </a:lnR>
                        <a:blipFill>
                          <a:blip r:embed="rId4"/>
                          <a:stretch>
                            <a:fillRect l="-667" t="-308197" r="-600000" b="-24590"/>
                          </a:stretch>
                        </a:blipFill>
                      </a:tcPr>
                    </a:tc>
                    <a:tc>
                      <a:txBody>
                        <a:bodyPr/>
                        <a:lstStyle/>
                        <a:p>
                          <a:pPr algn="ctr"/>
                          <a:r>
                            <a:rPr lang="en-US" altLang="zh-TW" b="1" dirty="0">
                              <a:solidFill>
                                <a:srgbClr val="00B050"/>
                              </a:solidFill>
                            </a:rPr>
                            <a:t>0</a:t>
                          </a:r>
                          <a:endParaRPr lang="zh-TW" altLang="en-US" b="1" dirty="0">
                            <a:solidFill>
                              <a:srgbClr val="00B05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ap="flat" cmpd="sng" algn="ctr">
                          <a:solidFill>
                            <a:schemeClr val="tx1"/>
                          </a:solidFill>
                          <a:prstDash val="solid"/>
                          <a:round/>
                          <a:headEnd type="none" w="med" len="med"/>
                          <a:tailEnd type="none" w="med" len="med"/>
                        </a:lnBlToTr>
                      </a:tcPr>
                    </a:tc>
                    <a:tc>
                      <a:txBody>
                        <a:bodyPr/>
                        <a:lstStyle/>
                        <a:p>
                          <a:pPr algn="ctr"/>
                          <a:r>
                            <a:rPr lang="en-US" altLang="zh-TW" b="1" dirty="0">
                              <a:solidFill>
                                <a:srgbClr val="FF0000"/>
                              </a:solidFill>
                            </a:rPr>
                            <a:t>0</a:t>
                          </a:r>
                          <a:endParaRPr lang="zh-TW" altLang="en-US" b="1" dirty="0">
                            <a:solidFill>
                              <a:srgbClr val="FF0000"/>
                            </a:solidFill>
                          </a:endParaRPr>
                        </a:p>
                      </a:txBody>
                      <a:tcPr anchor="ctr">
                        <a:lnL w="12700" cap="flat" cmpd="sng" algn="ctr">
                          <a:solidFill>
                            <a:schemeClr val="tx1"/>
                          </a:solidFill>
                          <a:prstDash val="solid"/>
                          <a:round/>
                          <a:headEnd type="none" w="med" len="med"/>
                          <a:tailEnd type="none" w="med" len="med"/>
                        </a:lnL>
                      </a:tcPr>
                    </a:tc>
                    <a:tc>
                      <a:txBody>
                        <a:bodyPr/>
                        <a:lstStyle/>
                        <a:p>
                          <a:pPr algn="ctr"/>
                          <a:r>
                            <a:rPr lang="en-US" altLang="zh-TW" dirty="0">
                              <a:solidFill>
                                <a:srgbClr val="FF0000"/>
                              </a:solidFill>
                            </a:rPr>
                            <a:t>1</a:t>
                          </a:r>
                          <a:endParaRPr lang="zh-TW" altLang="en-US" dirty="0">
                            <a:solidFill>
                              <a:srgbClr val="FF0000"/>
                            </a:solidFill>
                          </a:endParaRPr>
                        </a:p>
                      </a:txBody>
                      <a:tcPr anchor="ctr"/>
                    </a:tc>
                    <a:tc>
                      <a:txBody>
                        <a:bodyPr/>
                        <a:lstStyle/>
                        <a:p>
                          <a:pPr algn="ctr"/>
                          <a:r>
                            <a:rPr lang="en-US" altLang="zh-TW" dirty="0">
                              <a:solidFill>
                                <a:srgbClr val="FF0000"/>
                              </a:solidFill>
                            </a:rPr>
                            <a:t>2</a:t>
                          </a:r>
                          <a:endParaRPr lang="zh-TW" altLang="en-US" dirty="0">
                            <a:solidFill>
                              <a:srgbClr val="FF0000"/>
                            </a:solidFill>
                          </a:endParaRPr>
                        </a:p>
                      </a:txBody>
                      <a:tcPr anchor="ctr"/>
                    </a:tc>
                    <a:tc>
                      <a:txBody>
                        <a:bodyPr/>
                        <a:lstStyle/>
                        <a:p>
                          <a:pPr algn="ctr"/>
                          <a:r>
                            <a:rPr lang="en-US" altLang="zh-TW" dirty="0">
                              <a:solidFill>
                                <a:srgbClr val="FF0000"/>
                              </a:solidFill>
                            </a:rPr>
                            <a:t>1</a:t>
                          </a:r>
                          <a:endParaRPr lang="zh-TW" altLang="en-US" dirty="0">
                            <a:solidFill>
                              <a:srgbClr val="FF0000"/>
                            </a:solidFill>
                          </a:endParaRPr>
                        </a:p>
                      </a:txBody>
                      <a:tcPr anchor="ctr"/>
                    </a:tc>
                    <a:tc>
                      <a:txBody>
                        <a:bodyPr/>
                        <a:lstStyle/>
                        <a:p>
                          <a:pPr algn="ctr"/>
                          <a:r>
                            <a:rPr lang="en-US" altLang="zh-TW" dirty="0">
                              <a:solidFill>
                                <a:srgbClr val="FF0000"/>
                              </a:solidFill>
                            </a:rPr>
                            <a:t>2</a:t>
                          </a:r>
                          <a:endParaRPr lang="zh-TW" altLang="en-US" dirty="0">
                            <a:solidFill>
                              <a:srgbClr val="FF0000"/>
                            </a:solidFill>
                          </a:endParaRPr>
                        </a:p>
                      </a:txBody>
                      <a:tcPr anchor="ctr"/>
                    </a:tc>
                    <a:extLst>
                      <a:ext uri="{0D108BD9-81ED-4DB2-BD59-A6C34878D82A}">
                        <a16:rowId xmlns:a16="http://schemas.microsoft.com/office/drawing/2014/main" val="340457892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7" name="表格 16">
                <a:extLst>
                  <a:ext uri="{FF2B5EF4-FFF2-40B4-BE49-F238E27FC236}">
                    <a16:creationId xmlns:a16="http://schemas.microsoft.com/office/drawing/2014/main" id="{31C34772-F0F2-4AC0-AD28-EF7D04BCDEEE}"/>
                  </a:ext>
                </a:extLst>
              </p:cNvPr>
              <p:cNvGraphicFramePr>
                <a:graphicFrameLocks noGrp="1"/>
              </p:cNvGraphicFramePr>
              <p:nvPr>
                <p:extLst>
                  <p:ext uri="{D42A27DB-BD31-4B8C-83A1-F6EECF244321}">
                    <p14:modId xmlns:p14="http://schemas.microsoft.com/office/powerpoint/2010/main" val="869806227"/>
                  </p:ext>
                </p:extLst>
              </p:nvPr>
            </p:nvGraphicFramePr>
            <p:xfrm>
              <a:off x="1159797" y="4736512"/>
              <a:ext cx="6381753" cy="1483360"/>
            </p:xfrm>
            <a:graphic>
              <a:graphicData uri="http://schemas.openxmlformats.org/drawingml/2006/table">
                <a:tbl>
                  <a:tblPr firstRow="1" bandRow="1">
                    <a:tableStyleId>{5940675A-B579-460E-94D1-54222C63F5DA}</a:tableStyleId>
                  </a:tblPr>
                  <a:tblGrid>
                    <a:gridCol w="911679">
                      <a:extLst>
                        <a:ext uri="{9D8B030D-6E8A-4147-A177-3AD203B41FA5}">
                          <a16:colId xmlns:a16="http://schemas.microsoft.com/office/drawing/2014/main" val="2616301296"/>
                        </a:ext>
                      </a:extLst>
                    </a:gridCol>
                    <a:gridCol w="911679">
                      <a:extLst>
                        <a:ext uri="{9D8B030D-6E8A-4147-A177-3AD203B41FA5}">
                          <a16:colId xmlns:a16="http://schemas.microsoft.com/office/drawing/2014/main" val="3527329007"/>
                        </a:ext>
                      </a:extLst>
                    </a:gridCol>
                    <a:gridCol w="911679">
                      <a:extLst>
                        <a:ext uri="{9D8B030D-6E8A-4147-A177-3AD203B41FA5}">
                          <a16:colId xmlns:a16="http://schemas.microsoft.com/office/drawing/2014/main" val="126961617"/>
                        </a:ext>
                      </a:extLst>
                    </a:gridCol>
                    <a:gridCol w="911679">
                      <a:extLst>
                        <a:ext uri="{9D8B030D-6E8A-4147-A177-3AD203B41FA5}">
                          <a16:colId xmlns:a16="http://schemas.microsoft.com/office/drawing/2014/main" val="2634396870"/>
                        </a:ext>
                      </a:extLst>
                    </a:gridCol>
                    <a:gridCol w="911679">
                      <a:extLst>
                        <a:ext uri="{9D8B030D-6E8A-4147-A177-3AD203B41FA5}">
                          <a16:colId xmlns:a16="http://schemas.microsoft.com/office/drawing/2014/main" val="1291176962"/>
                        </a:ext>
                      </a:extLst>
                    </a:gridCol>
                    <a:gridCol w="911679">
                      <a:extLst>
                        <a:ext uri="{9D8B030D-6E8A-4147-A177-3AD203B41FA5}">
                          <a16:colId xmlns:a16="http://schemas.microsoft.com/office/drawing/2014/main" val="651979287"/>
                        </a:ext>
                      </a:extLst>
                    </a:gridCol>
                    <a:gridCol w="911679">
                      <a:extLst>
                        <a:ext uri="{9D8B030D-6E8A-4147-A177-3AD203B41FA5}">
                          <a16:colId xmlns:a16="http://schemas.microsoft.com/office/drawing/2014/main" val="80234941"/>
                        </a:ext>
                      </a:extLst>
                    </a:gridCol>
                  </a:tblGrid>
                  <a:tr h="370840">
                    <a:tc>
                      <a:txBody>
                        <a:bodyPr/>
                        <a:lstStyle/>
                        <a:p>
                          <a:pPr algn="ctr"/>
                          <a14:m>
                            <m:oMathPara xmlns:m="http://schemas.openxmlformats.org/officeDocument/2006/math">
                              <m:oMathParaPr>
                                <m:jc m:val="center"/>
                              </m:oMathParaPr>
                              <m:oMath xmlns:m="http://schemas.openxmlformats.org/officeDocument/2006/math">
                                <m:r>
                                  <a:rPr lang="en-US" altLang="zh-TW" b="0" i="1" smtClean="0">
                                    <a:latin typeface="Cambria Math" panose="02040503050406030204" pitchFamily="18" charset="0"/>
                                  </a:rPr>
                                  <m:t>𝑖𝑛𝑑𝑒𝑥</m:t>
                                </m:r>
                              </m:oMath>
                            </m:oMathPara>
                          </a14:m>
                          <a:endParaRPr lang="zh-TW"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TW" i="1" dirty="0" smtClean="0">
                                    <a:latin typeface="Cambria Math" panose="02040503050406030204" pitchFamily="18" charset="0"/>
                                  </a:rPr>
                                  <m:t>1</m:t>
                                </m:r>
                              </m:oMath>
                            </m:oMathPara>
                          </a14:m>
                          <a:endParaRPr lang="zh-TW"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TW" i="1" dirty="0" smtClean="0">
                                    <a:latin typeface="Cambria Math" panose="02040503050406030204" pitchFamily="18" charset="0"/>
                                  </a:rPr>
                                  <m:t>…</m:t>
                                </m:r>
                              </m:oMath>
                            </m:oMathPara>
                          </a14:m>
                          <a:endParaRPr lang="zh-TW"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TW" i="1" dirty="0" smtClean="0">
                                    <a:latin typeface="Cambria Math" panose="02040503050406030204" pitchFamily="18" charset="0"/>
                                  </a:rPr>
                                  <m:t>𝑘</m:t>
                                </m:r>
                              </m:oMath>
                            </m:oMathPara>
                          </a14:m>
                          <a:endParaRPr lang="zh-TW"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TW" i="1" dirty="0" smtClean="0">
                                    <a:latin typeface="Cambria Math" panose="02040503050406030204" pitchFamily="18" charset="0"/>
                                  </a:rPr>
                                  <m:t>…</m:t>
                                </m:r>
                              </m:oMath>
                            </m:oMathPara>
                          </a14:m>
                          <a:endParaRPr lang="zh-TW"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TW" i="1" dirty="0" smtClean="0">
                                    <a:latin typeface="Cambria Math" panose="02040503050406030204" pitchFamily="18" charset="0"/>
                                  </a:rPr>
                                  <m:t>𝑖</m:t>
                                </m:r>
                                <m:r>
                                  <a:rPr lang="en-US" altLang="zh-TW" i="1" dirty="0" smtClean="0">
                                    <a:latin typeface="Cambria Math" panose="02040503050406030204" pitchFamily="18" charset="0"/>
                                  </a:rPr>
                                  <m:t>−1</m:t>
                                </m:r>
                              </m:oMath>
                            </m:oMathPara>
                          </a14:m>
                          <a:endParaRPr lang="zh-TW"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TW" i="1" dirty="0" smtClean="0">
                                    <a:latin typeface="Cambria Math" panose="02040503050406030204" pitchFamily="18" charset="0"/>
                                  </a:rPr>
                                  <m:t>𝑖</m:t>
                                </m:r>
                              </m:oMath>
                            </m:oMathPara>
                          </a14:m>
                          <a:endParaRPr lang="zh-TW" altLang="en-US" dirty="0"/>
                        </a:p>
                      </a:txBody>
                      <a:tcPr anchor="ctr"/>
                    </a:tc>
                    <a:extLst>
                      <a:ext uri="{0D108BD9-81ED-4DB2-BD59-A6C34878D82A}">
                        <a16:rowId xmlns:a16="http://schemas.microsoft.com/office/drawing/2014/main" val="1967640266"/>
                      </a:ext>
                    </a:extLst>
                  </a:tr>
                  <a:tr h="370840">
                    <a:tc>
                      <a:txBody>
                        <a:bodyPr/>
                        <a:lstStyle/>
                        <a:p>
                          <a:pPr algn="ctr"/>
                          <a14:m>
                            <m:oMathPara xmlns:m="http://schemas.openxmlformats.org/officeDocument/2006/math">
                              <m:oMathParaPr>
                                <m:jc m:val="center"/>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2</m:t>
                                    </m:r>
                                  </m:sub>
                                </m:sSub>
                              </m:oMath>
                            </m:oMathPara>
                          </a14:m>
                          <a:endParaRPr lang="zh-TW" altLang="en-US" dirty="0"/>
                        </a:p>
                      </a:txBody>
                      <a:tcPr anchor="ctr"/>
                    </a:tc>
                    <a:tc>
                      <a:txBody>
                        <a:bodyPr/>
                        <a:lstStyle/>
                        <a:p>
                          <a:pPr algn="ctr"/>
                          <a:r>
                            <a:rPr lang="en-US" altLang="zh-TW" dirty="0">
                              <a:solidFill>
                                <a:srgbClr val="FF0000"/>
                              </a:solidFill>
                            </a:rPr>
                            <a:t>0</a:t>
                          </a:r>
                          <a:endParaRPr lang="zh-TW" altLang="en-US" dirty="0">
                            <a:solidFill>
                              <a:srgbClr val="FF0000"/>
                            </a:solidFill>
                          </a:endParaRPr>
                        </a:p>
                      </a:txBody>
                      <a:tcPr anchor="ctr"/>
                    </a:tc>
                    <a:tc>
                      <a:txBody>
                        <a:bodyPr/>
                        <a:lstStyle/>
                        <a:p>
                          <a:pPr algn="ctr"/>
                          <a:r>
                            <a:rPr lang="en-US" altLang="zh-TW" dirty="0">
                              <a:solidFill>
                                <a:srgbClr val="FF0000"/>
                              </a:solidFill>
                            </a:rPr>
                            <a:t>1</a:t>
                          </a:r>
                          <a:endParaRPr lang="zh-TW" altLang="en-US" dirty="0">
                            <a:solidFill>
                              <a:srgbClr val="FF0000"/>
                            </a:solidFill>
                          </a:endParaRPr>
                        </a:p>
                      </a:txBody>
                      <a:tcPr anchor="ctr"/>
                    </a:tc>
                    <a:tc>
                      <a:txBody>
                        <a:bodyPr/>
                        <a:lstStyle/>
                        <a:p>
                          <a:pPr algn="ctr"/>
                          <a:r>
                            <a:rPr lang="en-US" altLang="zh-TW" dirty="0">
                              <a:solidFill>
                                <a:srgbClr val="FF0000"/>
                              </a:solidFill>
                            </a:rPr>
                            <a:t>2</a:t>
                          </a:r>
                          <a:endParaRPr lang="zh-TW" altLang="en-US" dirty="0">
                            <a:solidFill>
                              <a:srgbClr val="FF0000"/>
                            </a:solidFill>
                          </a:endParaRPr>
                        </a:p>
                      </a:txBody>
                      <a:tcPr anchor="ctr"/>
                    </a:tc>
                    <a:tc>
                      <a:txBody>
                        <a:bodyPr/>
                        <a:lstStyle/>
                        <a:p>
                          <a:pPr algn="ctr"/>
                          <a:r>
                            <a:rPr lang="en-US" altLang="zh-TW" dirty="0">
                              <a:solidFill>
                                <a:srgbClr val="00B050"/>
                              </a:solidFill>
                            </a:rPr>
                            <a:t>0</a:t>
                          </a:r>
                          <a:endParaRPr lang="zh-TW" altLang="en-US" dirty="0">
                            <a:solidFill>
                              <a:srgbClr val="00B050"/>
                            </a:solidFill>
                          </a:endParaRPr>
                        </a:p>
                      </a:txBody>
                      <a:tcPr anchor="ctr"/>
                    </a:tc>
                    <a:tc>
                      <a:txBody>
                        <a:bodyPr/>
                        <a:lstStyle/>
                        <a:p>
                          <a:pPr algn="ctr"/>
                          <a:r>
                            <a:rPr lang="en-US" altLang="zh-TW" dirty="0">
                              <a:solidFill>
                                <a:srgbClr val="00B050"/>
                              </a:solidFill>
                            </a:rPr>
                            <a:t>1</a:t>
                          </a:r>
                          <a:endParaRPr lang="zh-TW" altLang="en-US" dirty="0">
                            <a:solidFill>
                              <a:srgbClr val="00B050"/>
                            </a:solidFill>
                          </a:endParaRPr>
                        </a:p>
                      </a:txBody>
                      <a:tcPr anchor="ctr"/>
                    </a:tc>
                    <a:tc>
                      <a:txBody>
                        <a:bodyPr/>
                        <a:lstStyle/>
                        <a:p>
                          <a:pPr algn="ctr"/>
                          <a:r>
                            <a:rPr lang="en-US" altLang="zh-TW" dirty="0"/>
                            <a:t>2</a:t>
                          </a:r>
                          <a:endParaRPr lang="zh-TW" altLang="en-US" dirty="0"/>
                        </a:p>
                      </a:txBody>
                      <a:tcPr anchor="ctr"/>
                    </a:tc>
                    <a:extLst>
                      <a:ext uri="{0D108BD9-81ED-4DB2-BD59-A6C34878D82A}">
                        <a16:rowId xmlns:a16="http://schemas.microsoft.com/office/drawing/2014/main" val="4265793401"/>
                      </a:ext>
                    </a:extLst>
                  </a:tr>
                  <a:tr h="370840">
                    <a:tc gridSpan="7">
                      <a:txBody>
                        <a:bodyPr/>
                        <a:lstStyle/>
                        <a:p>
                          <a:pPr algn="ctr"/>
                          <a:endParaRPr lang="zh-TW" altLang="en-US" dirty="0"/>
                        </a:p>
                      </a:txBody>
                      <a:tcPr anchor="ctr"/>
                    </a:tc>
                    <a:tc hMerge="1">
                      <a:txBody>
                        <a:bodyPr/>
                        <a:lstStyle/>
                        <a:p>
                          <a:pPr algn="ctr"/>
                          <a:endParaRPr lang="zh-TW" altLang="en-US" dirty="0">
                            <a:solidFill>
                              <a:srgbClr val="FF0000"/>
                            </a:solidFill>
                          </a:endParaRPr>
                        </a:p>
                      </a:txBody>
                      <a:tcPr anchor="ctr"/>
                    </a:tc>
                    <a:tc hMerge="1">
                      <a:txBody>
                        <a:bodyPr/>
                        <a:lstStyle/>
                        <a:p>
                          <a:pPr algn="ctr"/>
                          <a:endParaRPr lang="zh-TW" altLang="en-US" dirty="0">
                            <a:solidFill>
                              <a:srgbClr val="FF0000"/>
                            </a:solidFill>
                          </a:endParaRPr>
                        </a:p>
                      </a:txBody>
                      <a:tcPr anchor="ctr"/>
                    </a:tc>
                    <a:tc hMerge="1">
                      <a:txBody>
                        <a:bodyPr/>
                        <a:lstStyle/>
                        <a:p>
                          <a:pPr algn="ctr"/>
                          <a:endParaRPr lang="zh-TW" altLang="en-US" dirty="0">
                            <a:solidFill>
                              <a:srgbClr val="FF0000"/>
                            </a:solidFill>
                          </a:endParaRPr>
                        </a:p>
                      </a:txBody>
                      <a:tcPr anchor="ctr"/>
                    </a:tc>
                    <a:tc hMerge="1">
                      <a:txBody>
                        <a:bodyPr/>
                        <a:lstStyle/>
                        <a:p>
                          <a:pPr algn="ctr"/>
                          <a:endParaRPr lang="zh-TW" altLang="en-US" dirty="0">
                            <a:solidFill>
                              <a:srgbClr val="00B050"/>
                            </a:solidFill>
                          </a:endParaRPr>
                        </a:p>
                      </a:txBody>
                      <a:tcPr anchor="ctr"/>
                    </a:tc>
                    <a:tc hMerge="1">
                      <a:txBody>
                        <a:bodyPr/>
                        <a:lstStyle/>
                        <a:p>
                          <a:pPr algn="ctr"/>
                          <a:endParaRPr lang="zh-TW" altLang="en-US" dirty="0">
                            <a:solidFill>
                              <a:srgbClr val="00B050"/>
                            </a:solidFill>
                          </a:endParaRPr>
                        </a:p>
                      </a:txBody>
                      <a:tcPr anchor="ctr"/>
                    </a:tc>
                    <a:tc hMerge="1">
                      <a:txBody>
                        <a:bodyPr/>
                        <a:lstStyle/>
                        <a:p>
                          <a:pPr algn="ctr"/>
                          <a:endParaRPr lang="zh-TW" altLang="en-US" dirty="0"/>
                        </a:p>
                      </a:txBody>
                      <a:tcPr anchor="ctr"/>
                    </a:tc>
                    <a:extLst>
                      <a:ext uri="{0D108BD9-81ED-4DB2-BD59-A6C34878D82A}">
                        <a16:rowId xmlns:a16="http://schemas.microsoft.com/office/drawing/2014/main" val="1727827673"/>
                      </a:ext>
                    </a:extLst>
                  </a:tr>
                  <a:tr h="370840">
                    <a:tc>
                      <a:txBody>
                        <a:bodyPr/>
                        <a:lstStyle/>
                        <a:p>
                          <a:pPr algn="ctr"/>
                          <a14:m>
                            <m:oMathPara xmlns:m="http://schemas.openxmlformats.org/officeDocument/2006/math">
                              <m:oMathParaPr>
                                <m:jc m:val="center"/>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oMath>
                            </m:oMathPara>
                          </a14:m>
                          <a:endParaRPr lang="zh-TW" altLang="en-US" dirty="0"/>
                        </a:p>
                      </a:txBody>
                      <a:tcPr anchor="ctr"/>
                    </a:tc>
                    <a:tc>
                      <a:txBody>
                        <a:bodyPr/>
                        <a:lstStyle/>
                        <a:p>
                          <a:pPr algn="ctr"/>
                          <a:r>
                            <a:rPr lang="en-US" altLang="zh-TW" dirty="0">
                              <a:solidFill>
                                <a:srgbClr val="00B050"/>
                              </a:solidFill>
                            </a:rPr>
                            <a:t>0</a:t>
                          </a:r>
                          <a:endParaRPr lang="zh-TW" altLang="en-US" dirty="0">
                            <a:solidFill>
                              <a:srgbClr val="00B050"/>
                            </a:solidFill>
                          </a:endParaRPr>
                        </a:p>
                      </a:txBody>
                      <a:tcPr anchor="ctr"/>
                    </a:tc>
                    <a:tc>
                      <a:txBody>
                        <a:bodyPr/>
                        <a:lstStyle/>
                        <a:p>
                          <a:pPr algn="ctr"/>
                          <a:r>
                            <a:rPr lang="en-US" altLang="zh-TW" dirty="0">
                              <a:solidFill>
                                <a:srgbClr val="00B050"/>
                              </a:solidFill>
                            </a:rPr>
                            <a:t>1</a:t>
                          </a:r>
                          <a:endParaRPr lang="zh-TW" altLang="en-US" dirty="0">
                            <a:solidFill>
                              <a:srgbClr val="00B050"/>
                            </a:solidFill>
                          </a:endParaRPr>
                        </a:p>
                      </a:txBody>
                      <a:tcPr anchor="ctr"/>
                    </a:tc>
                    <a:tc>
                      <a:txBody>
                        <a:bodyPr/>
                        <a:lstStyle/>
                        <a:p>
                          <a:pPr algn="ctr"/>
                          <a:r>
                            <a:rPr lang="en-US" altLang="zh-TW" dirty="0">
                              <a:solidFill>
                                <a:srgbClr val="FF0000"/>
                              </a:solidFill>
                            </a:rPr>
                            <a:t>0</a:t>
                          </a:r>
                          <a:endParaRPr lang="zh-TW" altLang="en-US" dirty="0">
                            <a:solidFill>
                              <a:srgbClr val="FF0000"/>
                            </a:solidFill>
                          </a:endParaRPr>
                        </a:p>
                      </a:txBody>
                      <a:tcPr anchor="ctr"/>
                    </a:tc>
                    <a:tc>
                      <a:txBody>
                        <a:bodyPr/>
                        <a:lstStyle/>
                        <a:p>
                          <a:pPr algn="ctr"/>
                          <a:r>
                            <a:rPr lang="en-US" altLang="zh-TW" dirty="0">
                              <a:solidFill>
                                <a:srgbClr val="FF0000"/>
                              </a:solidFill>
                            </a:rPr>
                            <a:t>1</a:t>
                          </a:r>
                          <a:endParaRPr lang="zh-TW" altLang="en-US" dirty="0">
                            <a:solidFill>
                              <a:srgbClr val="FF0000"/>
                            </a:solidFill>
                          </a:endParaRPr>
                        </a:p>
                      </a:txBody>
                      <a:tcPr anchor="ctr"/>
                    </a:tc>
                    <a:tc>
                      <a:txBody>
                        <a:bodyPr/>
                        <a:lstStyle/>
                        <a:p>
                          <a:pPr algn="ctr"/>
                          <a:r>
                            <a:rPr lang="en-US" altLang="zh-TW" dirty="0">
                              <a:solidFill>
                                <a:srgbClr val="FF0000"/>
                              </a:solidFill>
                            </a:rPr>
                            <a:t>2</a:t>
                          </a:r>
                          <a:endParaRPr lang="zh-TW" altLang="en-US" dirty="0">
                            <a:solidFill>
                              <a:srgbClr val="FF0000"/>
                            </a:solidFill>
                          </a:endParaRPr>
                        </a:p>
                      </a:txBody>
                      <a:tcPr anchor="ctr"/>
                    </a:tc>
                    <a:tc>
                      <a:txBody>
                        <a:bodyPr/>
                        <a:lstStyle/>
                        <a:p>
                          <a:pPr algn="ctr"/>
                          <a:r>
                            <a:rPr lang="en-US" altLang="zh-TW" dirty="0"/>
                            <a:t>2</a:t>
                          </a:r>
                          <a:endParaRPr lang="zh-TW" altLang="en-US" dirty="0"/>
                        </a:p>
                      </a:txBody>
                      <a:tcPr anchor="ctr">
                        <a:lnBlToTr w="12700" cap="flat" cmpd="sng" algn="ctr">
                          <a:solidFill>
                            <a:schemeClr val="tx1"/>
                          </a:solidFill>
                          <a:prstDash val="solid"/>
                          <a:round/>
                          <a:headEnd type="none" w="med" len="med"/>
                          <a:tailEnd type="none" w="med" len="med"/>
                        </a:lnBlToTr>
                      </a:tcPr>
                    </a:tc>
                    <a:extLst>
                      <a:ext uri="{0D108BD9-81ED-4DB2-BD59-A6C34878D82A}">
                        <a16:rowId xmlns:a16="http://schemas.microsoft.com/office/drawing/2014/main" val="3404578920"/>
                      </a:ext>
                    </a:extLst>
                  </a:tr>
                </a:tbl>
              </a:graphicData>
            </a:graphic>
          </p:graphicFrame>
        </mc:Choice>
        <mc:Fallback xmlns="">
          <p:graphicFrame>
            <p:nvGraphicFramePr>
              <p:cNvPr id="17" name="表格 16">
                <a:extLst>
                  <a:ext uri="{FF2B5EF4-FFF2-40B4-BE49-F238E27FC236}">
                    <a16:creationId xmlns:a16="http://schemas.microsoft.com/office/drawing/2014/main" id="{31C34772-F0F2-4AC0-AD28-EF7D04BCDEEE}"/>
                  </a:ext>
                </a:extLst>
              </p:cNvPr>
              <p:cNvGraphicFramePr>
                <a:graphicFrameLocks noGrp="1"/>
              </p:cNvGraphicFramePr>
              <p:nvPr>
                <p:extLst>
                  <p:ext uri="{D42A27DB-BD31-4B8C-83A1-F6EECF244321}">
                    <p14:modId xmlns:p14="http://schemas.microsoft.com/office/powerpoint/2010/main" val="869806227"/>
                  </p:ext>
                </p:extLst>
              </p:nvPr>
            </p:nvGraphicFramePr>
            <p:xfrm>
              <a:off x="1159797" y="4736512"/>
              <a:ext cx="6381753" cy="1483360"/>
            </p:xfrm>
            <a:graphic>
              <a:graphicData uri="http://schemas.openxmlformats.org/drawingml/2006/table">
                <a:tbl>
                  <a:tblPr firstRow="1" bandRow="1">
                    <a:tableStyleId>{5940675A-B579-460E-94D1-54222C63F5DA}</a:tableStyleId>
                  </a:tblPr>
                  <a:tblGrid>
                    <a:gridCol w="911679">
                      <a:extLst>
                        <a:ext uri="{9D8B030D-6E8A-4147-A177-3AD203B41FA5}">
                          <a16:colId xmlns:a16="http://schemas.microsoft.com/office/drawing/2014/main" val="2616301296"/>
                        </a:ext>
                      </a:extLst>
                    </a:gridCol>
                    <a:gridCol w="911679">
                      <a:extLst>
                        <a:ext uri="{9D8B030D-6E8A-4147-A177-3AD203B41FA5}">
                          <a16:colId xmlns:a16="http://schemas.microsoft.com/office/drawing/2014/main" val="3527329007"/>
                        </a:ext>
                      </a:extLst>
                    </a:gridCol>
                    <a:gridCol w="911679">
                      <a:extLst>
                        <a:ext uri="{9D8B030D-6E8A-4147-A177-3AD203B41FA5}">
                          <a16:colId xmlns:a16="http://schemas.microsoft.com/office/drawing/2014/main" val="126961617"/>
                        </a:ext>
                      </a:extLst>
                    </a:gridCol>
                    <a:gridCol w="911679">
                      <a:extLst>
                        <a:ext uri="{9D8B030D-6E8A-4147-A177-3AD203B41FA5}">
                          <a16:colId xmlns:a16="http://schemas.microsoft.com/office/drawing/2014/main" val="2634396870"/>
                        </a:ext>
                      </a:extLst>
                    </a:gridCol>
                    <a:gridCol w="911679">
                      <a:extLst>
                        <a:ext uri="{9D8B030D-6E8A-4147-A177-3AD203B41FA5}">
                          <a16:colId xmlns:a16="http://schemas.microsoft.com/office/drawing/2014/main" val="1291176962"/>
                        </a:ext>
                      </a:extLst>
                    </a:gridCol>
                    <a:gridCol w="911679">
                      <a:extLst>
                        <a:ext uri="{9D8B030D-6E8A-4147-A177-3AD203B41FA5}">
                          <a16:colId xmlns:a16="http://schemas.microsoft.com/office/drawing/2014/main" val="651979287"/>
                        </a:ext>
                      </a:extLst>
                    </a:gridCol>
                    <a:gridCol w="911679">
                      <a:extLst>
                        <a:ext uri="{9D8B030D-6E8A-4147-A177-3AD203B41FA5}">
                          <a16:colId xmlns:a16="http://schemas.microsoft.com/office/drawing/2014/main" val="80234941"/>
                        </a:ext>
                      </a:extLst>
                    </a:gridCol>
                  </a:tblGrid>
                  <a:tr h="370840">
                    <a:tc>
                      <a:txBody>
                        <a:bodyPr/>
                        <a:lstStyle/>
                        <a:p>
                          <a:endParaRPr lang="zh-TW"/>
                        </a:p>
                      </a:txBody>
                      <a:tcPr anchor="ctr">
                        <a:blipFill>
                          <a:blip r:embed="rId5"/>
                          <a:stretch>
                            <a:fillRect l="-667" t="-1639" r="-600000" b="-326230"/>
                          </a:stretch>
                        </a:blipFill>
                      </a:tcPr>
                    </a:tc>
                    <a:tc>
                      <a:txBody>
                        <a:bodyPr/>
                        <a:lstStyle/>
                        <a:p>
                          <a:endParaRPr lang="zh-TW"/>
                        </a:p>
                      </a:txBody>
                      <a:tcPr anchor="ctr">
                        <a:blipFill>
                          <a:blip r:embed="rId5"/>
                          <a:stretch>
                            <a:fillRect l="-101342" t="-1639" r="-504027" b="-326230"/>
                          </a:stretch>
                        </a:blipFill>
                      </a:tcPr>
                    </a:tc>
                    <a:tc>
                      <a:txBody>
                        <a:bodyPr/>
                        <a:lstStyle/>
                        <a:p>
                          <a:endParaRPr lang="zh-TW"/>
                        </a:p>
                      </a:txBody>
                      <a:tcPr anchor="ctr">
                        <a:blipFill>
                          <a:blip r:embed="rId5"/>
                          <a:stretch>
                            <a:fillRect l="-200000" t="-1639" r="-400667" b="-326230"/>
                          </a:stretch>
                        </a:blipFill>
                      </a:tcPr>
                    </a:tc>
                    <a:tc>
                      <a:txBody>
                        <a:bodyPr/>
                        <a:lstStyle/>
                        <a:p>
                          <a:endParaRPr lang="zh-TW"/>
                        </a:p>
                      </a:txBody>
                      <a:tcPr anchor="ctr">
                        <a:blipFill>
                          <a:blip r:embed="rId5"/>
                          <a:stretch>
                            <a:fillRect l="-300000" t="-1639" r="-300667" b="-326230"/>
                          </a:stretch>
                        </a:blipFill>
                      </a:tcPr>
                    </a:tc>
                    <a:tc>
                      <a:txBody>
                        <a:bodyPr/>
                        <a:lstStyle/>
                        <a:p>
                          <a:endParaRPr lang="zh-TW"/>
                        </a:p>
                      </a:txBody>
                      <a:tcPr anchor="ctr">
                        <a:blipFill>
                          <a:blip r:embed="rId5"/>
                          <a:stretch>
                            <a:fillRect l="-400000" t="-1639" r="-200667" b="-326230"/>
                          </a:stretch>
                        </a:blipFill>
                      </a:tcPr>
                    </a:tc>
                    <a:tc>
                      <a:txBody>
                        <a:bodyPr/>
                        <a:lstStyle/>
                        <a:p>
                          <a:endParaRPr lang="zh-TW"/>
                        </a:p>
                      </a:txBody>
                      <a:tcPr anchor="ctr">
                        <a:blipFill>
                          <a:blip r:embed="rId5"/>
                          <a:stretch>
                            <a:fillRect l="-503356" t="-1639" r="-102013" b="-326230"/>
                          </a:stretch>
                        </a:blipFill>
                      </a:tcPr>
                    </a:tc>
                    <a:tc>
                      <a:txBody>
                        <a:bodyPr/>
                        <a:lstStyle/>
                        <a:p>
                          <a:endParaRPr lang="zh-TW"/>
                        </a:p>
                      </a:txBody>
                      <a:tcPr anchor="ctr">
                        <a:blipFill>
                          <a:blip r:embed="rId5"/>
                          <a:stretch>
                            <a:fillRect l="-599333" t="-1639" r="-1333" b="-326230"/>
                          </a:stretch>
                        </a:blipFill>
                      </a:tcPr>
                    </a:tc>
                    <a:extLst>
                      <a:ext uri="{0D108BD9-81ED-4DB2-BD59-A6C34878D82A}">
                        <a16:rowId xmlns:a16="http://schemas.microsoft.com/office/drawing/2014/main" val="1967640266"/>
                      </a:ext>
                    </a:extLst>
                  </a:tr>
                  <a:tr h="370840">
                    <a:tc>
                      <a:txBody>
                        <a:bodyPr/>
                        <a:lstStyle/>
                        <a:p>
                          <a:endParaRPr lang="zh-TW"/>
                        </a:p>
                      </a:txBody>
                      <a:tcPr anchor="ctr">
                        <a:blipFill>
                          <a:blip r:embed="rId5"/>
                          <a:stretch>
                            <a:fillRect l="-667" t="-100000" r="-600000" b="-220968"/>
                          </a:stretch>
                        </a:blipFill>
                      </a:tcPr>
                    </a:tc>
                    <a:tc>
                      <a:txBody>
                        <a:bodyPr/>
                        <a:lstStyle/>
                        <a:p>
                          <a:pPr algn="ctr"/>
                          <a:r>
                            <a:rPr lang="en-US" altLang="zh-TW" dirty="0">
                              <a:solidFill>
                                <a:srgbClr val="FF0000"/>
                              </a:solidFill>
                            </a:rPr>
                            <a:t>0</a:t>
                          </a:r>
                          <a:endParaRPr lang="zh-TW" altLang="en-US" dirty="0">
                            <a:solidFill>
                              <a:srgbClr val="FF0000"/>
                            </a:solidFill>
                          </a:endParaRPr>
                        </a:p>
                      </a:txBody>
                      <a:tcPr anchor="ctr"/>
                    </a:tc>
                    <a:tc>
                      <a:txBody>
                        <a:bodyPr/>
                        <a:lstStyle/>
                        <a:p>
                          <a:pPr algn="ctr"/>
                          <a:r>
                            <a:rPr lang="en-US" altLang="zh-TW" dirty="0">
                              <a:solidFill>
                                <a:srgbClr val="FF0000"/>
                              </a:solidFill>
                            </a:rPr>
                            <a:t>1</a:t>
                          </a:r>
                          <a:endParaRPr lang="zh-TW" altLang="en-US" dirty="0">
                            <a:solidFill>
                              <a:srgbClr val="FF0000"/>
                            </a:solidFill>
                          </a:endParaRPr>
                        </a:p>
                      </a:txBody>
                      <a:tcPr anchor="ctr"/>
                    </a:tc>
                    <a:tc>
                      <a:txBody>
                        <a:bodyPr/>
                        <a:lstStyle/>
                        <a:p>
                          <a:pPr algn="ctr"/>
                          <a:r>
                            <a:rPr lang="en-US" altLang="zh-TW" dirty="0">
                              <a:solidFill>
                                <a:srgbClr val="FF0000"/>
                              </a:solidFill>
                            </a:rPr>
                            <a:t>2</a:t>
                          </a:r>
                          <a:endParaRPr lang="zh-TW" altLang="en-US" dirty="0">
                            <a:solidFill>
                              <a:srgbClr val="FF0000"/>
                            </a:solidFill>
                          </a:endParaRPr>
                        </a:p>
                      </a:txBody>
                      <a:tcPr anchor="ctr"/>
                    </a:tc>
                    <a:tc>
                      <a:txBody>
                        <a:bodyPr/>
                        <a:lstStyle/>
                        <a:p>
                          <a:pPr algn="ctr"/>
                          <a:r>
                            <a:rPr lang="en-US" altLang="zh-TW" dirty="0">
                              <a:solidFill>
                                <a:srgbClr val="00B050"/>
                              </a:solidFill>
                            </a:rPr>
                            <a:t>0</a:t>
                          </a:r>
                          <a:endParaRPr lang="zh-TW" altLang="en-US" dirty="0">
                            <a:solidFill>
                              <a:srgbClr val="00B050"/>
                            </a:solidFill>
                          </a:endParaRPr>
                        </a:p>
                      </a:txBody>
                      <a:tcPr anchor="ctr"/>
                    </a:tc>
                    <a:tc>
                      <a:txBody>
                        <a:bodyPr/>
                        <a:lstStyle/>
                        <a:p>
                          <a:pPr algn="ctr"/>
                          <a:r>
                            <a:rPr lang="en-US" altLang="zh-TW" dirty="0">
                              <a:solidFill>
                                <a:srgbClr val="00B050"/>
                              </a:solidFill>
                            </a:rPr>
                            <a:t>1</a:t>
                          </a:r>
                          <a:endParaRPr lang="zh-TW" altLang="en-US" dirty="0">
                            <a:solidFill>
                              <a:srgbClr val="00B050"/>
                            </a:solidFill>
                          </a:endParaRPr>
                        </a:p>
                      </a:txBody>
                      <a:tcPr anchor="ctr"/>
                    </a:tc>
                    <a:tc>
                      <a:txBody>
                        <a:bodyPr/>
                        <a:lstStyle/>
                        <a:p>
                          <a:pPr algn="ctr"/>
                          <a:r>
                            <a:rPr lang="en-US" altLang="zh-TW" dirty="0"/>
                            <a:t>2</a:t>
                          </a:r>
                          <a:endParaRPr lang="zh-TW" altLang="en-US" dirty="0"/>
                        </a:p>
                      </a:txBody>
                      <a:tcPr anchor="ctr"/>
                    </a:tc>
                    <a:extLst>
                      <a:ext uri="{0D108BD9-81ED-4DB2-BD59-A6C34878D82A}">
                        <a16:rowId xmlns:a16="http://schemas.microsoft.com/office/drawing/2014/main" val="4265793401"/>
                      </a:ext>
                    </a:extLst>
                  </a:tr>
                  <a:tr h="370840">
                    <a:tc gridSpan="7">
                      <a:txBody>
                        <a:bodyPr/>
                        <a:lstStyle/>
                        <a:p>
                          <a:pPr algn="ctr"/>
                          <a:endParaRPr lang="zh-TW" altLang="en-US" dirty="0"/>
                        </a:p>
                      </a:txBody>
                      <a:tcPr anchor="ctr"/>
                    </a:tc>
                    <a:tc hMerge="1">
                      <a:txBody>
                        <a:bodyPr/>
                        <a:lstStyle/>
                        <a:p>
                          <a:pPr algn="ctr"/>
                          <a:endParaRPr lang="zh-TW" altLang="en-US" dirty="0">
                            <a:solidFill>
                              <a:srgbClr val="FF0000"/>
                            </a:solidFill>
                          </a:endParaRPr>
                        </a:p>
                      </a:txBody>
                      <a:tcPr anchor="ctr"/>
                    </a:tc>
                    <a:tc hMerge="1">
                      <a:txBody>
                        <a:bodyPr/>
                        <a:lstStyle/>
                        <a:p>
                          <a:pPr algn="ctr"/>
                          <a:endParaRPr lang="zh-TW" altLang="en-US" dirty="0">
                            <a:solidFill>
                              <a:srgbClr val="FF0000"/>
                            </a:solidFill>
                          </a:endParaRPr>
                        </a:p>
                      </a:txBody>
                      <a:tcPr anchor="ctr"/>
                    </a:tc>
                    <a:tc hMerge="1">
                      <a:txBody>
                        <a:bodyPr/>
                        <a:lstStyle/>
                        <a:p>
                          <a:pPr algn="ctr"/>
                          <a:endParaRPr lang="zh-TW" altLang="en-US" dirty="0">
                            <a:solidFill>
                              <a:srgbClr val="FF0000"/>
                            </a:solidFill>
                          </a:endParaRPr>
                        </a:p>
                      </a:txBody>
                      <a:tcPr anchor="ctr"/>
                    </a:tc>
                    <a:tc hMerge="1">
                      <a:txBody>
                        <a:bodyPr/>
                        <a:lstStyle/>
                        <a:p>
                          <a:pPr algn="ctr"/>
                          <a:endParaRPr lang="zh-TW" altLang="en-US" dirty="0">
                            <a:solidFill>
                              <a:srgbClr val="00B050"/>
                            </a:solidFill>
                          </a:endParaRPr>
                        </a:p>
                      </a:txBody>
                      <a:tcPr anchor="ctr"/>
                    </a:tc>
                    <a:tc hMerge="1">
                      <a:txBody>
                        <a:bodyPr/>
                        <a:lstStyle/>
                        <a:p>
                          <a:pPr algn="ctr"/>
                          <a:endParaRPr lang="zh-TW" altLang="en-US" dirty="0">
                            <a:solidFill>
                              <a:srgbClr val="00B050"/>
                            </a:solidFill>
                          </a:endParaRPr>
                        </a:p>
                      </a:txBody>
                      <a:tcPr anchor="ctr"/>
                    </a:tc>
                    <a:tc hMerge="1">
                      <a:txBody>
                        <a:bodyPr/>
                        <a:lstStyle/>
                        <a:p>
                          <a:pPr algn="ctr"/>
                          <a:endParaRPr lang="zh-TW" altLang="en-US" dirty="0"/>
                        </a:p>
                      </a:txBody>
                      <a:tcPr anchor="ctr"/>
                    </a:tc>
                    <a:extLst>
                      <a:ext uri="{0D108BD9-81ED-4DB2-BD59-A6C34878D82A}">
                        <a16:rowId xmlns:a16="http://schemas.microsoft.com/office/drawing/2014/main" val="1727827673"/>
                      </a:ext>
                    </a:extLst>
                  </a:tr>
                  <a:tr h="370840">
                    <a:tc>
                      <a:txBody>
                        <a:bodyPr/>
                        <a:lstStyle/>
                        <a:p>
                          <a:endParaRPr lang="zh-TW"/>
                        </a:p>
                      </a:txBody>
                      <a:tcPr anchor="ctr">
                        <a:blipFill>
                          <a:blip r:embed="rId5"/>
                          <a:stretch>
                            <a:fillRect l="-667" t="-303279" r="-600000" b="-24590"/>
                          </a:stretch>
                        </a:blipFill>
                      </a:tcPr>
                    </a:tc>
                    <a:tc>
                      <a:txBody>
                        <a:bodyPr/>
                        <a:lstStyle/>
                        <a:p>
                          <a:pPr algn="ctr"/>
                          <a:r>
                            <a:rPr lang="en-US" altLang="zh-TW" dirty="0">
                              <a:solidFill>
                                <a:srgbClr val="00B050"/>
                              </a:solidFill>
                            </a:rPr>
                            <a:t>0</a:t>
                          </a:r>
                          <a:endParaRPr lang="zh-TW" altLang="en-US" dirty="0">
                            <a:solidFill>
                              <a:srgbClr val="00B050"/>
                            </a:solidFill>
                          </a:endParaRPr>
                        </a:p>
                      </a:txBody>
                      <a:tcPr anchor="ctr"/>
                    </a:tc>
                    <a:tc>
                      <a:txBody>
                        <a:bodyPr/>
                        <a:lstStyle/>
                        <a:p>
                          <a:pPr algn="ctr"/>
                          <a:r>
                            <a:rPr lang="en-US" altLang="zh-TW" dirty="0">
                              <a:solidFill>
                                <a:srgbClr val="00B050"/>
                              </a:solidFill>
                            </a:rPr>
                            <a:t>1</a:t>
                          </a:r>
                          <a:endParaRPr lang="zh-TW" altLang="en-US" dirty="0">
                            <a:solidFill>
                              <a:srgbClr val="00B050"/>
                            </a:solidFill>
                          </a:endParaRPr>
                        </a:p>
                      </a:txBody>
                      <a:tcPr anchor="ctr"/>
                    </a:tc>
                    <a:tc>
                      <a:txBody>
                        <a:bodyPr/>
                        <a:lstStyle/>
                        <a:p>
                          <a:pPr algn="ctr"/>
                          <a:r>
                            <a:rPr lang="en-US" altLang="zh-TW" dirty="0">
                              <a:solidFill>
                                <a:srgbClr val="FF0000"/>
                              </a:solidFill>
                            </a:rPr>
                            <a:t>0</a:t>
                          </a:r>
                          <a:endParaRPr lang="zh-TW" altLang="en-US" dirty="0">
                            <a:solidFill>
                              <a:srgbClr val="FF0000"/>
                            </a:solidFill>
                          </a:endParaRPr>
                        </a:p>
                      </a:txBody>
                      <a:tcPr anchor="ctr"/>
                    </a:tc>
                    <a:tc>
                      <a:txBody>
                        <a:bodyPr/>
                        <a:lstStyle/>
                        <a:p>
                          <a:pPr algn="ctr"/>
                          <a:r>
                            <a:rPr lang="en-US" altLang="zh-TW" dirty="0">
                              <a:solidFill>
                                <a:srgbClr val="FF0000"/>
                              </a:solidFill>
                            </a:rPr>
                            <a:t>1</a:t>
                          </a:r>
                          <a:endParaRPr lang="zh-TW" altLang="en-US" dirty="0">
                            <a:solidFill>
                              <a:srgbClr val="FF0000"/>
                            </a:solidFill>
                          </a:endParaRPr>
                        </a:p>
                      </a:txBody>
                      <a:tcPr anchor="ctr"/>
                    </a:tc>
                    <a:tc>
                      <a:txBody>
                        <a:bodyPr/>
                        <a:lstStyle/>
                        <a:p>
                          <a:pPr algn="ctr"/>
                          <a:r>
                            <a:rPr lang="en-US" altLang="zh-TW" dirty="0">
                              <a:solidFill>
                                <a:srgbClr val="FF0000"/>
                              </a:solidFill>
                            </a:rPr>
                            <a:t>2</a:t>
                          </a:r>
                          <a:endParaRPr lang="zh-TW" altLang="en-US" dirty="0">
                            <a:solidFill>
                              <a:srgbClr val="FF0000"/>
                            </a:solidFill>
                          </a:endParaRPr>
                        </a:p>
                      </a:txBody>
                      <a:tcPr anchor="ctr"/>
                    </a:tc>
                    <a:tc>
                      <a:txBody>
                        <a:bodyPr/>
                        <a:lstStyle/>
                        <a:p>
                          <a:pPr algn="ctr"/>
                          <a:r>
                            <a:rPr lang="en-US" altLang="zh-TW" dirty="0"/>
                            <a:t>2</a:t>
                          </a:r>
                          <a:endParaRPr lang="zh-TW" altLang="en-US" dirty="0"/>
                        </a:p>
                      </a:txBody>
                      <a:tcPr anchor="ctr">
                        <a:lnBlToTr w="12700" cap="flat" cmpd="sng" algn="ctr">
                          <a:solidFill>
                            <a:schemeClr val="tx1"/>
                          </a:solidFill>
                          <a:prstDash val="solid"/>
                          <a:round/>
                          <a:headEnd type="none" w="med" len="med"/>
                          <a:tailEnd type="none" w="med" len="med"/>
                        </a:lnBlToTr>
                      </a:tcPr>
                    </a:tc>
                    <a:extLst>
                      <a:ext uri="{0D108BD9-81ED-4DB2-BD59-A6C34878D82A}">
                        <a16:rowId xmlns:a16="http://schemas.microsoft.com/office/drawing/2014/main" val="3404578920"/>
                      </a:ext>
                    </a:extLst>
                  </a:tr>
                </a:tbl>
              </a:graphicData>
            </a:graphic>
          </p:graphicFrame>
        </mc:Fallback>
      </mc:AlternateContent>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01A29EEA-70B1-4C65-95E4-BF40A15AC12F}"/>
                  </a:ext>
                </a:extLst>
              </p:cNvPr>
              <p:cNvSpPr/>
              <p:nvPr/>
            </p:nvSpPr>
            <p:spPr>
              <a:xfrm>
                <a:off x="724288" y="4336402"/>
                <a:ext cx="2172711" cy="400110"/>
              </a:xfrm>
              <a:prstGeom prst="rect">
                <a:avLst/>
              </a:prstGeom>
            </p:spPr>
            <p:txBody>
              <a:bodyPr wrap="none">
                <a:spAutoFit/>
              </a:bodyPr>
              <a:lstStyle/>
              <a:p>
                <a:pPr marL="800100" lvl="1" indent="-342900">
                  <a:buFont typeface="Arial" panose="020B0604020202020204" pitchFamily="34" charset="0"/>
                  <a:buChar char="•"/>
                </a:pPr>
                <a14:m>
                  <m:oMath xmlns:m="http://schemas.openxmlformats.org/officeDocument/2006/math">
                    <m:r>
                      <a:rPr lang="en-US" altLang="zh-TW" sz="2000" i="1" smtClean="0">
                        <a:latin typeface="Cambria Math" panose="02040503050406030204" pitchFamily="18" charset="0"/>
                        <a:cs typeface="Times New Roman" panose="02020603050405020304" pitchFamily="18" charset="0"/>
                      </a:rPr>
                      <m:t>𝑠</m:t>
                    </m:r>
                    <m:d>
                      <m:dPr>
                        <m:begChr m:val="["/>
                        <m:endChr m:val="]"/>
                        <m:ctrlPr>
                          <a:rPr lang="en-US" altLang="zh-TW" sz="2000" i="1">
                            <a:latin typeface="Cambria Math" panose="02040503050406030204" pitchFamily="18" charset="0"/>
                            <a:cs typeface="Times New Roman" panose="02020603050405020304" pitchFamily="18" charset="0"/>
                          </a:rPr>
                        </m:ctrlPr>
                      </m:dPr>
                      <m:e>
                        <m:r>
                          <a:rPr lang="en-US" altLang="zh-TW" sz="2000" b="0" i="1" smtClean="0">
                            <a:latin typeface="Cambria Math" panose="02040503050406030204" pitchFamily="18" charset="0"/>
                            <a:cs typeface="Times New Roman" panose="02020603050405020304" pitchFamily="18" charset="0"/>
                          </a:rPr>
                          <m:t>𝑘</m:t>
                        </m:r>
                      </m:e>
                    </m:d>
                    <m:r>
                      <a:rPr lang="en-US" altLang="zh-TW" sz="2000" i="1">
                        <a:latin typeface="Cambria Math" panose="02040503050406030204" pitchFamily="18" charset="0"/>
                        <a:cs typeface="Times New Roman" panose="02020603050405020304" pitchFamily="18" charset="0"/>
                      </a:rPr>
                      <m:t>=</m:t>
                    </m:r>
                    <m:r>
                      <a:rPr lang="en-US" altLang="zh-TW" sz="2000" i="1">
                        <a:latin typeface="Cambria Math" panose="02040503050406030204" pitchFamily="18" charset="0"/>
                        <a:cs typeface="Times New Roman" panose="02020603050405020304" pitchFamily="18" charset="0"/>
                      </a:rPr>
                      <m:t>𝑠</m:t>
                    </m:r>
                    <m:r>
                      <a:rPr lang="en-US" altLang="zh-TW" sz="2000" i="1">
                        <a:latin typeface="Cambria Math" panose="02040503050406030204" pitchFamily="18" charset="0"/>
                        <a:cs typeface="Times New Roman" panose="02020603050405020304" pitchFamily="18" charset="0"/>
                      </a:rPr>
                      <m:t>[</m:t>
                    </m:r>
                    <m:r>
                      <a:rPr lang="en-US" altLang="zh-TW" sz="2000" i="1">
                        <a:latin typeface="Cambria Math" panose="02040503050406030204" pitchFamily="18" charset="0"/>
                        <a:cs typeface="Times New Roman" panose="02020603050405020304" pitchFamily="18" charset="0"/>
                      </a:rPr>
                      <m:t>𝑖</m:t>
                    </m:r>
                    <m:r>
                      <a:rPr lang="en-US" altLang="zh-TW" sz="2000" i="1">
                        <a:latin typeface="Cambria Math" panose="02040503050406030204" pitchFamily="18" charset="0"/>
                        <a:cs typeface="Times New Roman" panose="02020603050405020304" pitchFamily="18" charset="0"/>
                      </a:rPr>
                      <m:t>]</m:t>
                    </m:r>
                  </m:oMath>
                </a14:m>
                <a:endParaRPr lang="en-US" altLang="zh-TW" sz="2000" dirty="0">
                  <a:latin typeface="Times New Roman" panose="02020603050405020304" pitchFamily="18" charset="0"/>
                  <a:cs typeface="Times New Roman" panose="02020603050405020304" pitchFamily="18" charset="0"/>
                </a:endParaRPr>
              </a:p>
            </p:txBody>
          </p:sp>
        </mc:Choice>
        <mc:Fallback xmlns="">
          <p:sp>
            <p:nvSpPr>
              <p:cNvPr id="2" name="矩形 1">
                <a:extLst>
                  <a:ext uri="{FF2B5EF4-FFF2-40B4-BE49-F238E27FC236}">
                    <a16:creationId xmlns:a16="http://schemas.microsoft.com/office/drawing/2014/main" id="{01A29EEA-70B1-4C65-95E4-BF40A15AC12F}"/>
                  </a:ext>
                </a:extLst>
              </p:cNvPr>
              <p:cNvSpPr>
                <a:spLocks noRot="1" noChangeAspect="1" noMove="1" noResize="1" noEditPoints="1" noAdjustHandles="1" noChangeArrowheads="1" noChangeShapeType="1" noTextEdit="1"/>
              </p:cNvSpPr>
              <p:nvPr/>
            </p:nvSpPr>
            <p:spPr>
              <a:xfrm>
                <a:off x="724288" y="4336402"/>
                <a:ext cx="2172711" cy="400110"/>
              </a:xfrm>
              <a:prstGeom prst="rect">
                <a:avLst/>
              </a:prstGeom>
              <a:blipFill>
                <a:blip r:embed="rId6"/>
                <a:stretch>
                  <a:fillRect t="-3030" r="-562" b="-22727"/>
                </a:stretch>
              </a:blipFill>
            </p:spPr>
            <p:txBody>
              <a:bodyPr/>
              <a:lstStyle/>
              <a:p>
                <a:r>
                  <a:rPr lang="zh-TW" altLang="en-US">
                    <a:noFill/>
                  </a:rPr>
                  <a:t> </a:t>
                </a:r>
              </a:p>
            </p:txBody>
          </p:sp>
        </mc:Fallback>
      </mc:AlternateContent>
      <p:sp>
        <p:nvSpPr>
          <p:cNvPr id="19" name="矩形 18">
            <a:extLst>
              <a:ext uri="{FF2B5EF4-FFF2-40B4-BE49-F238E27FC236}">
                <a16:creationId xmlns:a16="http://schemas.microsoft.com/office/drawing/2014/main" id="{78099AC7-2AB7-4FF7-B10E-79357C3B3094}"/>
              </a:ext>
            </a:extLst>
          </p:cNvPr>
          <p:cNvSpPr/>
          <p:nvPr/>
        </p:nvSpPr>
        <p:spPr>
          <a:xfrm>
            <a:off x="7122909" y="1793116"/>
            <a:ext cx="1063112" cy="369332"/>
          </a:xfrm>
          <a:prstGeom prst="rect">
            <a:avLst/>
          </a:prstGeom>
          <a:ln>
            <a:solidFill>
              <a:srgbClr val="002060"/>
            </a:solidFill>
          </a:ln>
        </p:spPr>
        <p:txBody>
          <a:bodyPr wrap="none">
            <a:spAutoFit/>
          </a:bodyPr>
          <a:lstStyle/>
          <a:p>
            <a:r>
              <a:rPr lang="en-US" altLang="zh-TW" b="0" i="0" dirty="0">
                <a:solidFill>
                  <a:srgbClr val="0070C0"/>
                </a:solidFill>
                <a:latin typeface="Times New Roman" panose="02020603050405020304" pitchFamily="18" charset="0"/>
                <a:cs typeface="Times New Roman" panose="02020603050405020304" pitchFamily="18" charset="0"/>
              </a:rPr>
              <a:t>Lemma 1</a:t>
            </a:r>
            <a:endParaRPr lang="zh-TW" altLang="en-US"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138452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DADFF97C-D0BF-45FF-A22C-72D78250B1D2}"/>
                  </a:ext>
                </a:extLst>
              </p:cNvPr>
              <p:cNvSpPr/>
              <p:nvPr/>
            </p:nvSpPr>
            <p:spPr>
              <a:xfrm>
                <a:off x="741157" y="1682284"/>
                <a:ext cx="6966010" cy="1477328"/>
              </a:xfrm>
              <a:prstGeom prst="rect">
                <a:avLst/>
              </a:prstGeom>
            </p:spPr>
            <p:txBody>
              <a:bodyPr wrap="none">
                <a:spAutoFit/>
              </a:bodyPr>
              <a:lstStyle/>
              <a:p>
                <a:pPr marL="342900" indent="-342900">
                  <a:lnSpc>
                    <a:spcPct val="150000"/>
                  </a:lnSpc>
                  <a:buFont typeface="Arial" panose="020B0604020202020204" pitchFamily="34" charset="0"/>
                  <a:buChar char="•"/>
                </a:pPr>
                <a:r>
                  <a:rPr lang="en-US" altLang="zh-TW" sz="2000" dirty="0">
                    <a:latin typeface="Times New Roman" panose="02020603050405020304" pitchFamily="18" charset="0"/>
                    <a:cs typeface="Times New Roman" panose="02020603050405020304" pitchFamily="18" charset="0"/>
                  </a:rPr>
                  <a:t>If it exists a prefix </a:t>
                </a:r>
                <a14:m>
                  <m:oMath xmlns:m="http://schemas.openxmlformats.org/officeDocument/2006/math">
                    <m:r>
                      <a:rPr lang="en-US" altLang="zh-TW" sz="2000" b="0" i="1" smtClean="0">
                        <a:latin typeface="Cambria Math" panose="02040503050406030204" pitchFamily="18" charset="0"/>
                        <a:cs typeface="Times New Roman" panose="02020603050405020304" pitchFamily="18" charset="0"/>
                      </a:rPr>
                      <m:t>𝑠</m:t>
                    </m:r>
                    <m:r>
                      <a:rPr lang="en-US" altLang="zh-TW" sz="2000" b="0" i="1" smtClean="0">
                        <a:latin typeface="Cambria Math" panose="02040503050406030204" pitchFamily="18" charset="0"/>
                        <a:cs typeface="Times New Roman" panose="02020603050405020304" pitchFamily="18" charset="0"/>
                      </a:rPr>
                      <m:t>[1…</m:t>
                    </m:r>
                    <m:r>
                      <a:rPr lang="en-US" altLang="zh-TW" sz="2000" b="0" i="1" smtClean="0">
                        <a:latin typeface="Cambria Math" panose="02040503050406030204" pitchFamily="18" charset="0"/>
                        <a:cs typeface="Times New Roman" panose="02020603050405020304" pitchFamily="18" charset="0"/>
                      </a:rPr>
                      <m:t>𝑖</m:t>
                    </m:r>
                    <m:r>
                      <a:rPr lang="en-US" altLang="zh-TW" sz="2000" b="0" i="1" smtClean="0">
                        <a:latin typeface="Cambria Math" panose="02040503050406030204" pitchFamily="18" charset="0"/>
                        <a:cs typeface="Times New Roman" panose="02020603050405020304" pitchFamily="18" charset="0"/>
                      </a:rPr>
                      <m:t>]</m:t>
                    </m:r>
                  </m:oMath>
                </a14:m>
                <a:r>
                  <a:rPr lang="en-US" altLang="zh-TW" sz="2000"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2000" b="0" i="0" smtClean="0">
                        <a:latin typeface="Cambria Math" panose="02040503050406030204" pitchFamily="18" charset="0"/>
                        <a:cs typeface="Times New Roman" panose="02020603050405020304" pitchFamily="18" charset="0"/>
                      </a:rPr>
                      <m:t>(1 </m:t>
                    </m:r>
                    <m:r>
                      <a:rPr lang="en-US" altLang="zh-TW" sz="2000" b="0" i="1" smtClean="0">
                        <a:latin typeface="Cambria Math" panose="02040503050406030204" pitchFamily="18" charset="0"/>
                        <a:cs typeface="Times New Roman" panose="02020603050405020304" pitchFamily="18" charset="0"/>
                      </a:rPr>
                      <m:t>&lt;</m:t>
                    </m:r>
                    <m:r>
                      <a:rPr lang="en-US" altLang="zh-TW" sz="2000" b="0" i="1" smtClean="0">
                        <a:latin typeface="Cambria Math" panose="02040503050406030204" pitchFamily="18" charset="0"/>
                        <a:cs typeface="Times New Roman" panose="02020603050405020304" pitchFamily="18" charset="0"/>
                      </a:rPr>
                      <m:t>𝑖</m:t>
                    </m:r>
                    <m:r>
                      <a:rPr lang="en-US" altLang="zh-TW" sz="2000" b="0" i="1" smtClean="0">
                        <a:latin typeface="Cambria Math" panose="02040503050406030204" pitchFamily="18" charset="0"/>
                        <a:cs typeface="Times New Roman" panose="02020603050405020304" pitchFamily="18" charset="0"/>
                      </a:rPr>
                      <m:t>≤</m:t>
                    </m:r>
                    <m:r>
                      <a:rPr lang="en-US" altLang="zh-TW" sz="2000" i="1" dirty="0" smtClean="0">
                        <a:latin typeface="Cambria Math" panose="02040503050406030204" pitchFamily="18" charset="0"/>
                        <a:cs typeface="Times New Roman" panose="02020603050405020304" pitchFamily="18" charset="0"/>
                      </a:rPr>
                      <m:t>𝑛</m:t>
                    </m:r>
                    <m:r>
                      <a:rPr lang="en-US" altLang="zh-TW" sz="2000" b="0" i="1" dirty="0" smtClean="0">
                        <a:latin typeface="Cambria Math" panose="02040503050406030204" pitchFamily="18" charset="0"/>
                        <a:cs typeface="Times New Roman" panose="02020603050405020304" pitchFamily="18" charset="0"/>
                      </a:rPr>
                      <m:t>−2)</m:t>
                    </m:r>
                  </m:oMath>
                </a14:m>
                <a:r>
                  <a:rPr lang="en-US" altLang="zh-TW" sz="2000"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2000" b="0" i="0" dirty="0" smtClean="0">
                        <a:latin typeface="Cambria Math" panose="02040503050406030204" pitchFamily="18" charset="0"/>
                        <a:cs typeface="Times New Roman" panose="02020603050405020304" pitchFamily="18" charset="0"/>
                      </a:rPr>
                      <m:t> </m:t>
                    </m:r>
                  </m:oMath>
                </a14:m>
                <a:endParaRPr lang="en-US" altLang="zh-TW" sz="2000" b="0" i="0" dirty="0">
                  <a:latin typeface="Cambria Math" panose="02040503050406030204" pitchFamily="18" charset="0"/>
                  <a:cs typeface="Times New Roman" panose="02020603050405020304" pitchFamily="18" charset="0"/>
                </a:endParaRPr>
              </a:p>
              <a:p>
                <a:pPr>
                  <a:lnSpc>
                    <a:spcPct val="150000"/>
                  </a:lnSpc>
                </a:pPr>
                <a:r>
                  <a:rPr lang="en-US" altLang="zh-TW" sz="2000" dirty="0">
                    <a:cs typeface="Times New Roman" panose="02020603050405020304" pitchFamily="18" charset="0"/>
                  </a:rPr>
                  <a:t>	</a:t>
                </a:r>
                <a14:m>
                  <m:oMath xmlns:m="http://schemas.openxmlformats.org/officeDocument/2006/math">
                    <m:r>
                      <a:rPr lang="en-US" altLang="zh-TW" sz="2000" i="1" dirty="0" smtClean="0">
                        <a:solidFill>
                          <a:srgbClr val="0070C0"/>
                        </a:solidFill>
                        <a:latin typeface="Cambria Math" panose="02040503050406030204" pitchFamily="18" charset="0"/>
                        <a:cs typeface="Times New Roman" panose="02020603050405020304" pitchFamily="18" charset="0"/>
                      </a:rPr>
                      <m:t>𝑠</m:t>
                    </m:r>
                    <m:d>
                      <m:dPr>
                        <m:begChr m:val="["/>
                        <m:endChr m:val="]"/>
                        <m:ctrlPr>
                          <a:rPr lang="en-US" altLang="zh-TW" sz="2000" i="1" dirty="0">
                            <a:solidFill>
                              <a:srgbClr val="0070C0"/>
                            </a:solidFill>
                            <a:latin typeface="Cambria Math" panose="02040503050406030204" pitchFamily="18" charset="0"/>
                            <a:cs typeface="Times New Roman" panose="02020603050405020304" pitchFamily="18" charset="0"/>
                          </a:rPr>
                        </m:ctrlPr>
                      </m:dPr>
                      <m:e>
                        <m:r>
                          <a:rPr lang="en-US" altLang="zh-TW" sz="2000" i="1" dirty="0">
                            <a:solidFill>
                              <a:srgbClr val="0070C0"/>
                            </a:solidFill>
                            <a:latin typeface="Cambria Math" panose="02040503050406030204" pitchFamily="18" charset="0"/>
                            <a:cs typeface="Times New Roman" panose="02020603050405020304" pitchFamily="18" charset="0"/>
                          </a:rPr>
                          <m:t>1</m:t>
                        </m:r>
                      </m:e>
                    </m:d>
                    <m:r>
                      <a:rPr lang="en-US" altLang="zh-TW" sz="2000" b="0" i="1" dirty="0" smtClean="0">
                        <a:solidFill>
                          <a:srgbClr val="0070C0"/>
                        </a:solidFill>
                        <a:latin typeface="Cambria Math" panose="02040503050406030204" pitchFamily="18" charset="0"/>
                        <a:cs typeface="Times New Roman" panose="02020603050405020304" pitchFamily="18" charset="0"/>
                      </a:rPr>
                      <m:t>=</m:t>
                    </m:r>
                    <m:r>
                      <a:rPr lang="en-US" altLang="zh-TW" sz="2000" b="0" i="1" dirty="0" smtClean="0">
                        <a:solidFill>
                          <a:srgbClr val="0070C0"/>
                        </a:solidFill>
                        <a:latin typeface="Cambria Math" panose="02040503050406030204" pitchFamily="18" charset="0"/>
                        <a:cs typeface="Times New Roman" panose="02020603050405020304" pitchFamily="18" charset="0"/>
                      </a:rPr>
                      <m:t>𝑠</m:t>
                    </m:r>
                    <m:r>
                      <a:rPr lang="en-US" altLang="zh-TW" sz="2000" b="0" i="1" dirty="0" smtClean="0">
                        <a:solidFill>
                          <a:srgbClr val="0070C0"/>
                        </a:solidFill>
                        <a:latin typeface="Cambria Math" panose="02040503050406030204" pitchFamily="18" charset="0"/>
                        <a:cs typeface="Times New Roman" panose="02020603050405020304" pitchFamily="18" charset="0"/>
                      </a:rPr>
                      <m:t>[</m:t>
                    </m:r>
                    <m:r>
                      <a:rPr lang="en-US" altLang="zh-TW" sz="2000" b="0" i="1" dirty="0" smtClean="0">
                        <a:solidFill>
                          <a:srgbClr val="0070C0"/>
                        </a:solidFill>
                        <a:latin typeface="Cambria Math" panose="02040503050406030204" pitchFamily="18" charset="0"/>
                        <a:cs typeface="Times New Roman" panose="02020603050405020304" pitchFamily="18" charset="0"/>
                      </a:rPr>
                      <m:t>𝑛</m:t>
                    </m:r>
                  </m:oMath>
                </a14:m>
                <a:r>
                  <a:rPr lang="en-US" altLang="zh-TW" sz="2000" dirty="0">
                    <a:solidFill>
                      <a:srgbClr val="0070C0"/>
                    </a:solidFill>
                    <a:latin typeface="Times New Roman" panose="02020603050405020304" pitchFamily="18" charset="0"/>
                    <a:cs typeface="Times New Roman" panose="02020603050405020304" pitchFamily="18" charset="0"/>
                  </a:rPr>
                  <a:t>-1]</a:t>
                </a:r>
                <a:r>
                  <a:rPr lang="en-US" altLang="zh-TW" sz="2000" dirty="0" smtClean="0">
                    <a:solidFill>
                      <a:srgbClr val="0070C0"/>
                    </a:solidFill>
                    <a:latin typeface="Times New Roman" panose="02020603050405020304" pitchFamily="18" charset="0"/>
                    <a:cs typeface="Times New Roman" panose="02020603050405020304" pitchFamily="18" charset="0"/>
                  </a:rPr>
                  <a:t> and </a:t>
                </a:r>
                <a14:m>
                  <m:oMath xmlns:m="http://schemas.openxmlformats.org/officeDocument/2006/math">
                    <m:r>
                      <a:rPr lang="en-US" altLang="zh-TW" sz="2000" i="1" dirty="0" smtClean="0">
                        <a:solidFill>
                          <a:srgbClr val="0070C0"/>
                        </a:solidFill>
                        <a:latin typeface="Cambria Math" panose="02040503050406030204" pitchFamily="18" charset="0"/>
                        <a:cs typeface="Times New Roman" panose="02020603050405020304" pitchFamily="18" charset="0"/>
                      </a:rPr>
                      <m:t>𝑠</m:t>
                    </m:r>
                    <m:r>
                      <a:rPr lang="en-US" altLang="zh-TW" sz="2000" i="1" dirty="0" smtClean="0">
                        <a:solidFill>
                          <a:srgbClr val="0070C0"/>
                        </a:solidFill>
                        <a:latin typeface="Cambria Math" panose="02040503050406030204" pitchFamily="18" charset="0"/>
                        <a:cs typeface="Times New Roman" panose="02020603050405020304" pitchFamily="18" charset="0"/>
                      </a:rPr>
                      <m:t>[</m:t>
                    </m:r>
                    <m:r>
                      <a:rPr lang="en-US" altLang="zh-TW" sz="2000" i="1" dirty="0" err="1" smtClean="0">
                        <a:solidFill>
                          <a:srgbClr val="0070C0"/>
                        </a:solidFill>
                        <a:latin typeface="Cambria Math" panose="02040503050406030204" pitchFamily="18" charset="0"/>
                        <a:cs typeface="Times New Roman" panose="02020603050405020304" pitchFamily="18" charset="0"/>
                      </a:rPr>
                      <m:t>𝑖</m:t>
                    </m:r>
                    <m:r>
                      <a:rPr lang="en-US" altLang="zh-TW" sz="2000" i="1" dirty="0" smtClean="0">
                        <a:solidFill>
                          <a:srgbClr val="0070C0"/>
                        </a:solidFill>
                        <a:latin typeface="Cambria Math" panose="02040503050406030204" pitchFamily="18" charset="0"/>
                        <a:cs typeface="Times New Roman" panose="02020603050405020304" pitchFamily="18" charset="0"/>
                      </a:rPr>
                      <m:t>]=</m:t>
                    </m:r>
                    <m:r>
                      <a:rPr lang="en-US" altLang="zh-TW" sz="2000" i="1" dirty="0" smtClean="0">
                        <a:solidFill>
                          <a:srgbClr val="0070C0"/>
                        </a:solidFill>
                        <a:latin typeface="Cambria Math" panose="02040503050406030204" pitchFamily="18" charset="0"/>
                        <a:cs typeface="Times New Roman" panose="02020603050405020304" pitchFamily="18" charset="0"/>
                      </a:rPr>
                      <m:t>𝑠</m:t>
                    </m:r>
                    <m:r>
                      <a:rPr lang="en-US" altLang="zh-TW" sz="2000" i="1" dirty="0" smtClean="0">
                        <a:solidFill>
                          <a:srgbClr val="0070C0"/>
                        </a:solidFill>
                        <a:latin typeface="Cambria Math" panose="02040503050406030204" pitchFamily="18" charset="0"/>
                        <a:cs typeface="Times New Roman" panose="02020603050405020304" pitchFamily="18" charset="0"/>
                      </a:rPr>
                      <m:t>[</m:t>
                    </m:r>
                    <m:r>
                      <a:rPr lang="en-US" altLang="zh-TW" sz="2000" i="1" dirty="0" smtClean="0">
                        <a:solidFill>
                          <a:srgbClr val="0070C0"/>
                        </a:solidFill>
                        <a:latin typeface="Cambria Math" panose="02040503050406030204" pitchFamily="18" charset="0"/>
                        <a:cs typeface="Times New Roman" panose="02020603050405020304" pitchFamily="18" charset="0"/>
                      </a:rPr>
                      <m:t>𝑛</m:t>
                    </m:r>
                    <m:r>
                      <a:rPr lang="en-US" altLang="zh-TW" sz="2000" i="1" dirty="0" smtClean="0">
                        <a:solidFill>
                          <a:srgbClr val="0070C0"/>
                        </a:solidFill>
                        <a:latin typeface="Cambria Math" panose="02040503050406030204" pitchFamily="18" charset="0"/>
                        <a:cs typeface="Times New Roman" panose="02020603050405020304" pitchFamily="18" charset="0"/>
                      </a:rPr>
                      <m:t>]</m:t>
                    </m:r>
                  </m:oMath>
                </a14:m>
                <a:r>
                  <a:rPr lang="en-US" altLang="zh-TW" sz="2000" dirty="0">
                    <a:solidFill>
                      <a:srgbClr val="0070C0"/>
                    </a:solidFill>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then we have a 2-transposition</a:t>
                </a:r>
              </a:p>
              <a:p>
                <a:pPr lvl="1">
                  <a:lnSpc>
                    <a:spcPct val="150000"/>
                  </a:lnSpc>
                </a:pPr>
                <a:endParaRPr lang="en-US" altLang="zh-TW" sz="2000" dirty="0">
                  <a:latin typeface="Times New Roman" panose="02020603050405020304" pitchFamily="18" charset="0"/>
                  <a:cs typeface="Times New Roman" panose="02020603050405020304" pitchFamily="18" charset="0"/>
                </a:endParaRPr>
              </a:p>
            </p:txBody>
          </p:sp>
        </mc:Choice>
        <mc:Fallback xmlns="">
          <p:sp>
            <p:nvSpPr>
              <p:cNvPr id="3" name="矩形 2">
                <a:extLst>
                  <a:ext uri="{FF2B5EF4-FFF2-40B4-BE49-F238E27FC236}">
                    <a16:creationId xmlns:a16="http://schemas.microsoft.com/office/drawing/2014/main" id="{DADFF97C-D0BF-45FF-A22C-72D78250B1D2}"/>
                  </a:ext>
                </a:extLst>
              </p:cNvPr>
              <p:cNvSpPr>
                <a:spLocks noRot="1" noChangeAspect="1" noMove="1" noResize="1" noEditPoints="1" noAdjustHandles="1" noChangeArrowheads="1" noChangeShapeType="1" noTextEdit="1"/>
              </p:cNvSpPr>
              <p:nvPr/>
            </p:nvSpPr>
            <p:spPr>
              <a:xfrm>
                <a:off x="741157" y="1682284"/>
                <a:ext cx="6966010" cy="1477328"/>
              </a:xfrm>
              <a:prstGeom prst="rect">
                <a:avLst/>
              </a:prstGeom>
              <a:blipFill>
                <a:blip r:embed="rId2"/>
                <a:stretch>
                  <a:fillRect l="-788" r="-1138"/>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222F4ADD-F9DA-4202-A4ED-239132DE7250}"/>
              </a:ext>
            </a:extLst>
          </p:cNvPr>
          <p:cNvSpPr>
            <a:spLocks noGrp="1"/>
          </p:cNvSpPr>
          <p:nvPr>
            <p:ph type="sldNum" sz="quarter" idx="12"/>
          </p:nvPr>
        </p:nvSpPr>
        <p:spPr/>
        <p:txBody>
          <a:bodyPr/>
          <a:lstStyle/>
          <a:p>
            <a:fld id="{872633CA-77E0-4863-94F8-E28139DFB2B4}" type="slidenum">
              <a:rPr lang="zh-TW" altLang="en-US" smtClean="0"/>
              <a:t>9</a:t>
            </a:fld>
            <a:endParaRPr lang="zh-TW" altLang="en-US"/>
          </a:p>
        </p:txBody>
      </p:sp>
      <p:sp>
        <p:nvSpPr>
          <p:cNvPr id="5" name="標題 1">
            <a:extLst>
              <a:ext uri="{FF2B5EF4-FFF2-40B4-BE49-F238E27FC236}">
                <a16:creationId xmlns:a16="http://schemas.microsoft.com/office/drawing/2014/main" id="{FEF0B28A-BF0C-4AED-8461-CBEAD77D334D}"/>
              </a:ext>
            </a:extLst>
          </p:cNvPr>
          <p:cNvSpPr txBox="1">
            <a:spLocks/>
          </p:cNvSpPr>
          <p:nvPr/>
        </p:nvSpPr>
        <p:spPr>
          <a:xfrm>
            <a:off x="402232" y="364532"/>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Grouping </a:t>
            </a:r>
            <a:r>
              <a:rPr lang="en-US" altLang="zh-TW" sz="3200" dirty="0" smtClean="0">
                <a:latin typeface="Times New Roman" panose="02020603050405020304" pitchFamily="18" charset="0"/>
                <a:cs typeface="Times New Roman" panose="02020603050405020304" pitchFamily="18" charset="0"/>
              </a:rPr>
              <a:t>– ternary: Lemma 2</a:t>
            </a:r>
            <a:endParaRPr lang="zh-TW" alt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標題 1">
                <a:extLst>
                  <a:ext uri="{FF2B5EF4-FFF2-40B4-BE49-F238E27FC236}">
                    <a16:creationId xmlns:a16="http://schemas.microsoft.com/office/drawing/2014/main" id="{763094B3-CC12-408A-AF35-67F3F2C58BD6}"/>
                  </a:ext>
                </a:extLst>
              </p:cNvPr>
              <p:cNvSpPr txBox="1">
                <a:spLocks/>
              </p:cNvSpPr>
              <p:nvPr/>
            </p:nvSpPr>
            <p:spPr>
              <a:xfrm>
                <a:off x="402232" y="680111"/>
                <a:ext cx="6720677" cy="14197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00000"/>
                  </a:lnSpc>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For fully ternary normalized string </a:t>
                </a:r>
                <a14:m>
                  <m:oMath xmlns:m="http://schemas.openxmlformats.org/officeDocument/2006/math">
                    <m:r>
                      <a:rPr lang="en-US" altLang="zh-TW" sz="2400" i="1" dirty="0" smtClean="0">
                        <a:latin typeface="Cambria Math" panose="02040503050406030204" pitchFamily="18" charset="0"/>
                        <a:cs typeface="Times New Roman" panose="02020603050405020304" pitchFamily="18" charset="0"/>
                      </a:rPr>
                      <m:t>𝑠</m:t>
                    </m:r>
                  </m:oMath>
                </a14:m>
                <a:r>
                  <a:rPr lang="en-US" altLang="zh-TW" sz="2000" dirty="0">
                    <a:latin typeface="Times New Roman" panose="02020603050405020304" pitchFamily="18" charset="0"/>
                    <a:cs typeface="Times New Roman" panose="02020603050405020304" pitchFamily="18" charset="0"/>
                  </a:rPr>
                  <a:t>:</a:t>
                </a:r>
              </a:p>
            </p:txBody>
          </p:sp>
        </mc:Choice>
        <mc:Fallback xmlns="">
          <p:sp>
            <p:nvSpPr>
              <p:cNvPr id="12" name="標題 1">
                <a:extLst>
                  <a:ext uri="{FF2B5EF4-FFF2-40B4-BE49-F238E27FC236}">
                    <a16:creationId xmlns:a16="http://schemas.microsoft.com/office/drawing/2014/main" id="{763094B3-CC12-408A-AF35-67F3F2C58BD6}"/>
                  </a:ext>
                </a:extLst>
              </p:cNvPr>
              <p:cNvSpPr txBox="1">
                <a:spLocks noRot="1" noChangeAspect="1" noMove="1" noResize="1" noEditPoints="1" noAdjustHandles="1" noChangeArrowheads="1" noChangeShapeType="1" noTextEdit="1"/>
              </p:cNvSpPr>
              <p:nvPr/>
            </p:nvSpPr>
            <p:spPr>
              <a:xfrm>
                <a:off x="402232" y="680111"/>
                <a:ext cx="6720677" cy="1419789"/>
              </a:xfrm>
              <a:prstGeom prst="rect">
                <a:avLst/>
              </a:prstGeom>
              <a:blipFill>
                <a:blip r:embed="rId3"/>
                <a:stretch>
                  <a:fillRect l="-127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16" name="表格 15">
                <a:extLst>
                  <a:ext uri="{FF2B5EF4-FFF2-40B4-BE49-F238E27FC236}">
                    <a16:creationId xmlns:a16="http://schemas.microsoft.com/office/drawing/2014/main" id="{3E962F1C-FCE0-4481-81A7-2205F094F2B9}"/>
                  </a:ext>
                </a:extLst>
              </p:cNvPr>
              <p:cNvGraphicFramePr>
                <a:graphicFrameLocks noGrp="1"/>
              </p:cNvGraphicFramePr>
              <p:nvPr>
                <p:extLst>
                  <p:ext uri="{D42A27DB-BD31-4B8C-83A1-F6EECF244321}">
                    <p14:modId xmlns:p14="http://schemas.microsoft.com/office/powerpoint/2010/main" val="990634310"/>
                  </p:ext>
                </p:extLst>
              </p:nvPr>
            </p:nvGraphicFramePr>
            <p:xfrm>
              <a:off x="1154705" y="4519089"/>
              <a:ext cx="4558395" cy="1483360"/>
            </p:xfrm>
            <a:graphic>
              <a:graphicData uri="http://schemas.openxmlformats.org/drawingml/2006/table">
                <a:tbl>
                  <a:tblPr firstRow="1" bandRow="1">
                    <a:tableStyleId>{5940675A-B579-460E-94D1-54222C63F5DA}</a:tableStyleId>
                  </a:tblPr>
                  <a:tblGrid>
                    <a:gridCol w="911679">
                      <a:extLst>
                        <a:ext uri="{9D8B030D-6E8A-4147-A177-3AD203B41FA5}">
                          <a16:colId xmlns:a16="http://schemas.microsoft.com/office/drawing/2014/main" val="2616301296"/>
                        </a:ext>
                      </a:extLst>
                    </a:gridCol>
                    <a:gridCol w="911679">
                      <a:extLst>
                        <a:ext uri="{9D8B030D-6E8A-4147-A177-3AD203B41FA5}">
                          <a16:colId xmlns:a16="http://schemas.microsoft.com/office/drawing/2014/main" val="3527329007"/>
                        </a:ext>
                      </a:extLst>
                    </a:gridCol>
                    <a:gridCol w="911679">
                      <a:extLst>
                        <a:ext uri="{9D8B030D-6E8A-4147-A177-3AD203B41FA5}">
                          <a16:colId xmlns:a16="http://schemas.microsoft.com/office/drawing/2014/main" val="2634396870"/>
                        </a:ext>
                      </a:extLst>
                    </a:gridCol>
                    <a:gridCol w="911679">
                      <a:extLst>
                        <a:ext uri="{9D8B030D-6E8A-4147-A177-3AD203B41FA5}">
                          <a16:colId xmlns:a16="http://schemas.microsoft.com/office/drawing/2014/main" val="651979287"/>
                        </a:ext>
                      </a:extLst>
                    </a:gridCol>
                    <a:gridCol w="911679">
                      <a:extLst>
                        <a:ext uri="{9D8B030D-6E8A-4147-A177-3AD203B41FA5}">
                          <a16:colId xmlns:a16="http://schemas.microsoft.com/office/drawing/2014/main" val="80234941"/>
                        </a:ext>
                      </a:extLst>
                    </a:gridCol>
                  </a:tblGrid>
                  <a:tr h="370840">
                    <a:tc>
                      <a:txBody>
                        <a:bodyPr/>
                        <a:lstStyle/>
                        <a:p>
                          <a:pPr algn="ctr"/>
                          <a14:m>
                            <m:oMathPara xmlns:m="http://schemas.openxmlformats.org/officeDocument/2006/math">
                              <m:oMathParaPr>
                                <m:jc m:val="center"/>
                              </m:oMathParaPr>
                              <m:oMath xmlns:m="http://schemas.openxmlformats.org/officeDocument/2006/math">
                                <m:r>
                                  <a:rPr lang="en-US" altLang="zh-TW" b="0" i="1" smtClean="0">
                                    <a:latin typeface="Cambria Math" panose="02040503050406030204" pitchFamily="18" charset="0"/>
                                  </a:rPr>
                                  <m:t>𝑖𝑛𝑑𝑒𝑥</m:t>
                                </m:r>
                              </m:oMath>
                            </m:oMathPara>
                          </a14:m>
                          <a:endParaRPr lang="zh-TW"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TW" i="1" dirty="0" smtClean="0">
                                    <a:latin typeface="Cambria Math" panose="02040503050406030204" pitchFamily="18" charset="0"/>
                                  </a:rPr>
                                  <m:t>1</m:t>
                                </m:r>
                              </m:oMath>
                            </m:oMathPara>
                          </a14:m>
                          <a:endParaRPr lang="zh-TW"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latin typeface="Cambria Math" panose="02040503050406030204" pitchFamily="18" charset="0"/>
                                  </a:rPr>
                                  <m:t>𝑖</m:t>
                                </m:r>
                              </m:oMath>
                            </m:oMathPara>
                          </a14:m>
                          <a:endParaRPr lang="zh-TW"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latin typeface="Cambria Math" panose="02040503050406030204" pitchFamily="18" charset="0"/>
                                  </a:rPr>
                                  <m:t>𝑛</m:t>
                                </m:r>
                                <m:r>
                                  <a:rPr lang="en-US" altLang="zh-TW" i="1" dirty="0" smtClean="0">
                                    <a:latin typeface="Cambria Math" panose="02040503050406030204" pitchFamily="18" charset="0"/>
                                  </a:rPr>
                                  <m:t>−1</m:t>
                                </m:r>
                              </m:oMath>
                            </m:oMathPara>
                          </a14:m>
                          <a:endParaRPr lang="zh-TW"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latin typeface="Cambria Math" panose="02040503050406030204" pitchFamily="18" charset="0"/>
                                  </a:rPr>
                                  <m:t>𝑛</m:t>
                                </m:r>
                              </m:oMath>
                            </m:oMathPara>
                          </a14:m>
                          <a:endParaRPr lang="zh-TW" altLang="en-US" dirty="0"/>
                        </a:p>
                      </a:txBody>
                      <a:tcPr anchor="ctr"/>
                    </a:tc>
                    <a:extLst>
                      <a:ext uri="{0D108BD9-81ED-4DB2-BD59-A6C34878D82A}">
                        <a16:rowId xmlns:a16="http://schemas.microsoft.com/office/drawing/2014/main" val="1967640266"/>
                      </a:ext>
                    </a:extLst>
                  </a:tr>
                  <a:tr h="370840">
                    <a:tc>
                      <a:txBody>
                        <a:bodyPr/>
                        <a:lstStyle/>
                        <a:p>
                          <a:pPr algn="ctr"/>
                          <a14:m>
                            <m:oMathPara xmlns:m="http://schemas.openxmlformats.org/officeDocument/2006/math">
                              <m:oMathParaPr>
                                <m:jc m:val="center"/>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1</m:t>
                                    </m:r>
                                  </m:sub>
                                </m:sSub>
                              </m:oMath>
                            </m:oMathPara>
                          </a14:m>
                          <a:endParaRPr lang="zh-TW" altLang="en-US" dirty="0"/>
                        </a:p>
                      </a:txBody>
                      <a:tcPr anchor="ctr"/>
                    </a:tc>
                    <a:tc>
                      <a:txBody>
                        <a:bodyPr/>
                        <a:lstStyle/>
                        <a:p>
                          <a:pPr algn="ctr"/>
                          <a:r>
                            <a:rPr lang="en-US" altLang="zh-TW" dirty="0">
                              <a:solidFill>
                                <a:srgbClr val="FF0000"/>
                              </a:solidFill>
                            </a:rPr>
                            <a:t>0</a:t>
                          </a:r>
                          <a:endParaRPr lang="zh-TW" altLang="en-US" dirty="0">
                            <a:solidFill>
                              <a:srgbClr val="FF0000"/>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dirty="0">
                              <a:solidFill>
                                <a:srgbClr val="FF0000"/>
                              </a:solidFill>
                            </a:rPr>
                            <a:t>2</a:t>
                          </a:r>
                          <a:endParaRPr lang="zh-TW" altLang="en-US" dirty="0">
                            <a:solidFill>
                              <a:srgbClr val="FF0000"/>
                            </a:solidFill>
                          </a:endParaRPr>
                        </a:p>
                      </a:txBody>
                      <a:tcPr anchor="ctr"/>
                    </a:tc>
                    <a:tc>
                      <a:txBody>
                        <a:bodyPr/>
                        <a:lstStyle/>
                        <a:p>
                          <a:pPr algn="ctr"/>
                          <a:r>
                            <a:rPr lang="en-US" altLang="zh-TW" dirty="0">
                              <a:solidFill>
                                <a:srgbClr val="00B050"/>
                              </a:solidFill>
                            </a:rPr>
                            <a:t>0</a:t>
                          </a:r>
                          <a:endParaRPr lang="zh-TW" altLang="en-US" dirty="0">
                            <a:solidFill>
                              <a:srgbClr val="00B050"/>
                            </a:solidFill>
                          </a:endParaRPr>
                        </a:p>
                      </a:txBody>
                      <a:tcPr anchor="ctr"/>
                    </a:tc>
                    <a:tc>
                      <a:txBody>
                        <a:bodyPr/>
                        <a:lstStyle/>
                        <a:p>
                          <a:pPr algn="ctr"/>
                          <a:r>
                            <a:rPr lang="en-US" altLang="zh-TW" dirty="0">
                              <a:solidFill>
                                <a:schemeClr val="tx1"/>
                              </a:solidFill>
                            </a:rPr>
                            <a:t>2</a:t>
                          </a:r>
                          <a:endParaRPr lang="zh-TW" altLang="en-US" dirty="0">
                            <a:solidFill>
                              <a:schemeClr val="tx1"/>
                            </a:solidFill>
                          </a:endParaRPr>
                        </a:p>
                      </a:txBody>
                      <a:tcPr anchor="ctr"/>
                    </a:tc>
                    <a:extLst>
                      <a:ext uri="{0D108BD9-81ED-4DB2-BD59-A6C34878D82A}">
                        <a16:rowId xmlns:a16="http://schemas.microsoft.com/office/drawing/2014/main" val="4265793401"/>
                      </a:ext>
                    </a:extLst>
                  </a:tr>
                  <a:tr h="370840">
                    <a:tc gridSpan="5">
                      <a:txBody>
                        <a:bodyPr/>
                        <a:lstStyle/>
                        <a:p>
                          <a:pPr algn="ctr"/>
                          <a:endParaRPr lang="zh-TW" altLang="en-US" dirty="0"/>
                        </a:p>
                      </a:txBody>
                      <a:tcPr anchor="ctr"/>
                    </a:tc>
                    <a:tc hMerge="1">
                      <a:txBody>
                        <a:bodyPr/>
                        <a:lstStyle/>
                        <a:p>
                          <a:pPr algn="ctr"/>
                          <a:endParaRPr lang="zh-TW" altLang="en-US" dirty="0">
                            <a:solidFill>
                              <a:srgbClr val="FF0000"/>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zh-TW" altLang="en-US" dirty="0">
                            <a:solidFill>
                              <a:srgbClr val="FF0000"/>
                            </a:solidFill>
                          </a:endParaRPr>
                        </a:p>
                      </a:txBody>
                      <a:tcPr anchor="ctr"/>
                    </a:tc>
                    <a:tc hMerge="1">
                      <a:txBody>
                        <a:bodyPr/>
                        <a:lstStyle/>
                        <a:p>
                          <a:pPr algn="ctr"/>
                          <a:endParaRPr lang="zh-TW" altLang="en-US" dirty="0">
                            <a:solidFill>
                              <a:srgbClr val="00B050"/>
                            </a:solidFill>
                          </a:endParaRPr>
                        </a:p>
                      </a:txBody>
                      <a:tcPr anchor="ctr"/>
                    </a:tc>
                    <a:tc hMerge="1">
                      <a:txBody>
                        <a:bodyPr/>
                        <a:lstStyle/>
                        <a:p>
                          <a:pPr algn="ctr"/>
                          <a:endParaRPr lang="zh-TW" altLang="en-US" dirty="0">
                            <a:solidFill>
                              <a:srgbClr val="00B050"/>
                            </a:solidFill>
                          </a:endParaRPr>
                        </a:p>
                      </a:txBody>
                      <a:tcPr anchor="ctr"/>
                    </a:tc>
                    <a:extLst>
                      <a:ext uri="{0D108BD9-81ED-4DB2-BD59-A6C34878D82A}">
                        <a16:rowId xmlns:a16="http://schemas.microsoft.com/office/drawing/2014/main" val="867984470"/>
                      </a:ext>
                    </a:extLst>
                  </a:tr>
                  <a:tr h="370840">
                    <a:tc>
                      <a:txBody>
                        <a:bodyPr/>
                        <a:lstStyle/>
                        <a:p>
                          <a:pPr algn="ctr"/>
                          <a14:m>
                            <m:oMathPara xmlns:m="http://schemas.openxmlformats.org/officeDocument/2006/math">
                              <m:oMathParaPr>
                                <m:jc m:val="center"/>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oMath>
                            </m:oMathPara>
                          </a14:m>
                          <a:endParaRPr lang="zh-TW" altLang="en-US"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TW" b="1" dirty="0">
                              <a:solidFill>
                                <a:srgbClr val="00B050"/>
                              </a:solidFill>
                            </a:rPr>
                            <a:t>0</a:t>
                          </a:r>
                          <a:endParaRPr lang="zh-TW" altLang="en-US" b="1" dirty="0">
                            <a:solidFill>
                              <a:srgbClr val="00B05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ap="flat" cmpd="sng" algn="ctr">
                          <a:solidFill>
                            <a:schemeClr val="tx1"/>
                          </a:solidFill>
                          <a:prstDash val="solid"/>
                          <a:round/>
                          <a:headEnd type="none" w="med" len="med"/>
                          <a:tailEnd type="none" w="med" len="med"/>
                        </a:lnBlToTr>
                      </a:tcPr>
                    </a:tc>
                    <a:tc>
                      <a:txBody>
                        <a:bodyPr/>
                        <a:lstStyle/>
                        <a:p>
                          <a:pPr algn="ctr"/>
                          <a:r>
                            <a:rPr lang="en-US" altLang="zh-TW" dirty="0">
                              <a:solidFill>
                                <a:srgbClr val="FF0000"/>
                              </a:solidFill>
                            </a:rPr>
                            <a:t>0</a:t>
                          </a:r>
                          <a:endParaRPr lang="zh-TW" altLang="en-US" dirty="0">
                            <a:solidFill>
                              <a:srgbClr val="FF0000"/>
                            </a:solidFill>
                          </a:endParaRPr>
                        </a:p>
                      </a:txBody>
                      <a:tcPr anchor="ctr">
                        <a:lnL w="12700" cap="flat" cmpd="sng" algn="ctr">
                          <a:solidFill>
                            <a:schemeClr val="tx1"/>
                          </a:solidFill>
                          <a:prstDash val="solid"/>
                          <a:round/>
                          <a:headEnd type="none" w="med" len="med"/>
                          <a:tailEnd type="none" w="med" len="med"/>
                        </a:lnL>
                      </a:tcPr>
                    </a:tc>
                    <a:tc>
                      <a:txBody>
                        <a:bodyPr/>
                        <a:lstStyle/>
                        <a:p>
                          <a:pPr algn="ctr"/>
                          <a:r>
                            <a:rPr lang="en-US" altLang="zh-TW" dirty="0">
                              <a:solidFill>
                                <a:srgbClr val="FF0000"/>
                              </a:solidFill>
                            </a:rPr>
                            <a:t>2</a:t>
                          </a:r>
                          <a:endParaRPr lang="zh-TW" altLang="en-US" dirty="0">
                            <a:solidFill>
                              <a:srgbClr val="FF0000"/>
                            </a:solidFill>
                          </a:endParaRPr>
                        </a:p>
                      </a:txBody>
                      <a:tcPr anchor="ctr"/>
                    </a:tc>
                    <a:tc>
                      <a:txBody>
                        <a:bodyPr/>
                        <a:lstStyle/>
                        <a:p>
                          <a:pPr algn="ctr"/>
                          <a:r>
                            <a:rPr lang="en-US" altLang="zh-TW" dirty="0">
                              <a:solidFill>
                                <a:schemeClr val="tx1"/>
                              </a:solidFill>
                            </a:rPr>
                            <a:t>2</a:t>
                          </a:r>
                          <a:endParaRPr lang="zh-TW" altLang="en-US" dirty="0">
                            <a:solidFill>
                              <a:schemeClr val="tx1"/>
                            </a:solidFill>
                          </a:endParaRPr>
                        </a:p>
                      </a:txBody>
                      <a:tcPr anchor="ctr">
                        <a:lnBlToTr w="12700" cap="flat" cmpd="sng" algn="ctr">
                          <a:solidFill>
                            <a:schemeClr val="tx1"/>
                          </a:solidFill>
                          <a:prstDash val="solid"/>
                          <a:round/>
                          <a:headEnd type="none" w="med" len="med"/>
                          <a:tailEnd type="none" w="med" len="med"/>
                        </a:lnBlToTr>
                      </a:tcPr>
                    </a:tc>
                    <a:extLst>
                      <a:ext uri="{0D108BD9-81ED-4DB2-BD59-A6C34878D82A}">
                        <a16:rowId xmlns:a16="http://schemas.microsoft.com/office/drawing/2014/main" val="3404578920"/>
                      </a:ext>
                    </a:extLst>
                  </a:tr>
                </a:tbl>
              </a:graphicData>
            </a:graphic>
          </p:graphicFrame>
        </mc:Choice>
        <mc:Fallback xmlns="">
          <p:graphicFrame>
            <p:nvGraphicFramePr>
              <p:cNvPr id="16" name="表格 15">
                <a:extLst>
                  <a:ext uri="{FF2B5EF4-FFF2-40B4-BE49-F238E27FC236}">
                    <a16:creationId xmlns:a16="http://schemas.microsoft.com/office/drawing/2014/main" id="{3E962F1C-FCE0-4481-81A7-2205F094F2B9}"/>
                  </a:ext>
                </a:extLst>
              </p:cNvPr>
              <p:cNvGraphicFramePr>
                <a:graphicFrameLocks noGrp="1"/>
              </p:cNvGraphicFramePr>
              <p:nvPr>
                <p:extLst>
                  <p:ext uri="{D42A27DB-BD31-4B8C-83A1-F6EECF244321}">
                    <p14:modId xmlns:p14="http://schemas.microsoft.com/office/powerpoint/2010/main" val="990634310"/>
                  </p:ext>
                </p:extLst>
              </p:nvPr>
            </p:nvGraphicFramePr>
            <p:xfrm>
              <a:off x="1154705" y="4519089"/>
              <a:ext cx="4558395" cy="1483360"/>
            </p:xfrm>
            <a:graphic>
              <a:graphicData uri="http://schemas.openxmlformats.org/drawingml/2006/table">
                <a:tbl>
                  <a:tblPr firstRow="1" bandRow="1">
                    <a:tableStyleId>{5940675A-B579-460E-94D1-54222C63F5DA}</a:tableStyleId>
                  </a:tblPr>
                  <a:tblGrid>
                    <a:gridCol w="911679">
                      <a:extLst>
                        <a:ext uri="{9D8B030D-6E8A-4147-A177-3AD203B41FA5}">
                          <a16:colId xmlns:a16="http://schemas.microsoft.com/office/drawing/2014/main" val="2616301296"/>
                        </a:ext>
                      </a:extLst>
                    </a:gridCol>
                    <a:gridCol w="911679">
                      <a:extLst>
                        <a:ext uri="{9D8B030D-6E8A-4147-A177-3AD203B41FA5}">
                          <a16:colId xmlns:a16="http://schemas.microsoft.com/office/drawing/2014/main" val="3527329007"/>
                        </a:ext>
                      </a:extLst>
                    </a:gridCol>
                    <a:gridCol w="911679">
                      <a:extLst>
                        <a:ext uri="{9D8B030D-6E8A-4147-A177-3AD203B41FA5}">
                          <a16:colId xmlns:a16="http://schemas.microsoft.com/office/drawing/2014/main" val="2634396870"/>
                        </a:ext>
                      </a:extLst>
                    </a:gridCol>
                    <a:gridCol w="911679">
                      <a:extLst>
                        <a:ext uri="{9D8B030D-6E8A-4147-A177-3AD203B41FA5}">
                          <a16:colId xmlns:a16="http://schemas.microsoft.com/office/drawing/2014/main" val="651979287"/>
                        </a:ext>
                      </a:extLst>
                    </a:gridCol>
                    <a:gridCol w="911679">
                      <a:extLst>
                        <a:ext uri="{9D8B030D-6E8A-4147-A177-3AD203B41FA5}">
                          <a16:colId xmlns:a16="http://schemas.microsoft.com/office/drawing/2014/main" val="80234941"/>
                        </a:ext>
                      </a:extLst>
                    </a:gridCol>
                  </a:tblGrid>
                  <a:tr h="370840">
                    <a:tc>
                      <a:txBody>
                        <a:bodyPr/>
                        <a:lstStyle/>
                        <a:p>
                          <a:endParaRPr lang="zh-TW"/>
                        </a:p>
                      </a:txBody>
                      <a:tcPr anchor="ctr">
                        <a:blipFill>
                          <a:blip r:embed="rId4"/>
                          <a:stretch>
                            <a:fillRect l="-667" t="-1639" r="-400667" b="-324590"/>
                          </a:stretch>
                        </a:blipFill>
                      </a:tcPr>
                    </a:tc>
                    <a:tc>
                      <a:txBody>
                        <a:bodyPr/>
                        <a:lstStyle/>
                        <a:p>
                          <a:endParaRPr lang="zh-TW"/>
                        </a:p>
                      </a:txBody>
                      <a:tcPr anchor="ctr">
                        <a:blipFill>
                          <a:blip r:embed="rId4"/>
                          <a:stretch>
                            <a:fillRect l="-100667" t="-1639" r="-300667" b="-324590"/>
                          </a:stretch>
                        </a:blipFill>
                      </a:tcPr>
                    </a:tc>
                    <a:tc>
                      <a:txBody>
                        <a:bodyPr/>
                        <a:lstStyle/>
                        <a:p>
                          <a:endParaRPr lang="zh-TW"/>
                        </a:p>
                      </a:txBody>
                      <a:tcPr anchor="ctr">
                        <a:blipFill>
                          <a:blip r:embed="rId4"/>
                          <a:stretch>
                            <a:fillRect l="-202013" t="-1639" r="-202685" b="-324590"/>
                          </a:stretch>
                        </a:blipFill>
                      </a:tcPr>
                    </a:tc>
                    <a:tc>
                      <a:txBody>
                        <a:bodyPr/>
                        <a:lstStyle/>
                        <a:p>
                          <a:endParaRPr lang="zh-TW"/>
                        </a:p>
                      </a:txBody>
                      <a:tcPr anchor="ctr">
                        <a:blipFill>
                          <a:blip r:embed="rId4"/>
                          <a:stretch>
                            <a:fillRect l="-300000" t="-1639" r="-101333" b="-324590"/>
                          </a:stretch>
                        </a:blipFill>
                      </a:tcPr>
                    </a:tc>
                    <a:tc>
                      <a:txBody>
                        <a:bodyPr/>
                        <a:lstStyle/>
                        <a:p>
                          <a:endParaRPr lang="zh-TW"/>
                        </a:p>
                      </a:txBody>
                      <a:tcPr anchor="ctr">
                        <a:blipFill>
                          <a:blip r:embed="rId4"/>
                          <a:stretch>
                            <a:fillRect l="-400000" t="-1639" r="-1333" b="-324590"/>
                          </a:stretch>
                        </a:blipFill>
                      </a:tcPr>
                    </a:tc>
                    <a:extLst>
                      <a:ext uri="{0D108BD9-81ED-4DB2-BD59-A6C34878D82A}">
                        <a16:rowId xmlns:a16="http://schemas.microsoft.com/office/drawing/2014/main" val="1967640266"/>
                      </a:ext>
                    </a:extLst>
                  </a:tr>
                  <a:tr h="370840">
                    <a:tc>
                      <a:txBody>
                        <a:bodyPr/>
                        <a:lstStyle/>
                        <a:p>
                          <a:endParaRPr lang="zh-TW"/>
                        </a:p>
                      </a:txBody>
                      <a:tcPr anchor="ctr">
                        <a:blipFill>
                          <a:blip r:embed="rId4"/>
                          <a:stretch>
                            <a:fillRect l="-667" t="-101639" r="-400667" b="-224590"/>
                          </a:stretch>
                        </a:blipFill>
                      </a:tcPr>
                    </a:tc>
                    <a:tc>
                      <a:txBody>
                        <a:bodyPr/>
                        <a:lstStyle/>
                        <a:p>
                          <a:pPr algn="ctr"/>
                          <a:r>
                            <a:rPr lang="en-US" altLang="zh-TW" dirty="0">
                              <a:solidFill>
                                <a:srgbClr val="FF0000"/>
                              </a:solidFill>
                            </a:rPr>
                            <a:t>0</a:t>
                          </a:r>
                          <a:endParaRPr lang="zh-TW" altLang="en-US" dirty="0">
                            <a:solidFill>
                              <a:srgbClr val="FF0000"/>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dirty="0">
                              <a:solidFill>
                                <a:srgbClr val="FF0000"/>
                              </a:solidFill>
                            </a:rPr>
                            <a:t>2</a:t>
                          </a:r>
                          <a:endParaRPr lang="zh-TW" altLang="en-US" dirty="0">
                            <a:solidFill>
                              <a:srgbClr val="FF0000"/>
                            </a:solidFill>
                          </a:endParaRPr>
                        </a:p>
                      </a:txBody>
                      <a:tcPr anchor="ctr"/>
                    </a:tc>
                    <a:tc>
                      <a:txBody>
                        <a:bodyPr/>
                        <a:lstStyle/>
                        <a:p>
                          <a:pPr algn="ctr"/>
                          <a:r>
                            <a:rPr lang="en-US" altLang="zh-TW" dirty="0">
                              <a:solidFill>
                                <a:srgbClr val="00B050"/>
                              </a:solidFill>
                            </a:rPr>
                            <a:t>0</a:t>
                          </a:r>
                          <a:endParaRPr lang="zh-TW" altLang="en-US" dirty="0">
                            <a:solidFill>
                              <a:srgbClr val="00B050"/>
                            </a:solidFill>
                          </a:endParaRPr>
                        </a:p>
                      </a:txBody>
                      <a:tcPr anchor="ctr"/>
                    </a:tc>
                    <a:tc>
                      <a:txBody>
                        <a:bodyPr/>
                        <a:lstStyle/>
                        <a:p>
                          <a:pPr algn="ctr"/>
                          <a:r>
                            <a:rPr lang="en-US" altLang="zh-TW" dirty="0">
                              <a:solidFill>
                                <a:schemeClr val="tx1"/>
                              </a:solidFill>
                            </a:rPr>
                            <a:t>2</a:t>
                          </a:r>
                          <a:endParaRPr lang="zh-TW" altLang="en-US" dirty="0">
                            <a:solidFill>
                              <a:schemeClr val="tx1"/>
                            </a:solidFill>
                          </a:endParaRPr>
                        </a:p>
                      </a:txBody>
                      <a:tcPr anchor="ctr"/>
                    </a:tc>
                    <a:extLst>
                      <a:ext uri="{0D108BD9-81ED-4DB2-BD59-A6C34878D82A}">
                        <a16:rowId xmlns:a16="http://schemas.microsoft.com/office/drawing/2014/main" val="4265793401"/>
                      </a:ext>
                    </a:extLst>
                  </a:tr>
                  <a:tr h="370840">
                    <a:tc gridSpan="5">
                      <a:txBody>
                        <a:bodyPr/>
                        <a:lstStyle/>
                        <a:p>
                          <a:pPr algn="ctr"/>
                          <a:endParaRPr lang="zh-TW" altLang="en-US" dirty="0"/>
                        </a:p>
                      </a:txBody>
                      <a:tcPr anchor="ctr"/>
                    </a:tc>
                    <a:tc hMerge="1">
                      <a:txBody>
                        <a:bodyPr/>
                        <a:lstStyle/>
                        <a:p>
                          <a:pPr algn="ctr"/>
                          <a:endParaRPr lang="zh-TW" altLang="en-US" dirty="0">
                            <a:solidFill>
                              <a:srgbClr val="FF0000"/>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zh-TW" altLang="en-US" dirty="0">
                            <a:solidFill>
                              <a:srgbClr val="FF0000"/>
                            </a:solidFill>
                          </a:endParaRPr>
                        </a:p>
                      </a:txBody>
                      <a:tcPr anchor="ctr"/>
                    </a:tc>
                    <a:tc hMerge="1">
                      <a:txBody>
                        <a:bodyPr/>
                        <a:lstStyle/>
                        <a:p>
                          <a:pPr algn="ctr"/>
                          <a:endParaRPr lang="zh-TW" altLang="en-US" dirty="0">
                            <a:solidFill>
                              <a:srgbClr val="00B050"/>
                            </a:solidFill>
                          </a:endParaRPr>
                        </a:p>
                      </a:txBody>
                      <a:tcPr anchor="ctr"/>
                    </a:tc>
                    <a:tc hMerge="1">
                      <a:txBody>
                        <a:bodyPr/>
                        <a:lstStyle/>
                        <a:p>
                          <a:pPr algn="ctr"/>
                          <a:endParaRPr lang="zh-TW" altLang="en-US" dirty="0">
                            <a:solidFill>
                              <a:srgbClr val="00B050"/>
                            </a:solidFill>
                          </a:endParaRPr>
                        </a:p>
                      </a:txBody>
                      <a:tcPr anchor="ctr"/>
                    </a:tc>
                    <a:extLst>
                      <a:ext uri="{0D108BD9-81ED-4DB2-BD59-A6C34878D82A}">
                        <a16:rowId xmlns:a16="http://schemas.microsoft.com/office/drawing/2014/main" val="867984470"/>
                      </a:ext>
                    </a:extLst>
                  </a:tr>
                  <a:tr h="370840">
                    <a:tc>
                      <a:txBody>
                        <a:bodyPr/>
                        <a:lstStyle/>
                        <a:p>
                          <a:endParaRPr lang="zh-TW"/>
                        </a:p>
                      </a:txBody>
                      <a:tcPr anchor="ctr">
                        <a:lnR w="12700" cap="flat" cmpd="sng" algn="ctr">
                          <a:solidFill>
                            <a:schemeClr val="tx1"/>
                          </a:solidFill>
                          <a:prstDash val="solid"/>
                          <a:round/>
                          <a:headEnd type="none" w="med" len="med"/>
                          <a:tailEnd type="none" w="med" len="med"/>
                        </a:lnR>
                        <a:blipFill>
                          <a:blip r:embed="rId4"/>
                          <a:stretch>
                            <a:fillRect l="-667" t="-301639" r="-400667" b="-24590"/>
                          </a:stretch>
                        </a:blipFill>
                      </a:tcPr>
                    </a:tc>
                    <a:tc>
                      <a:txBody>
                        <a:bodyPr/>
                        <a:lstStyle/>
                        <a:p>
                          <a:pPr algn="ctr"/>
                          <a:r>
                            <a:rPr lang="en-US" altLang="zh-TW" b="1" dirty="0">
                              <a:solidFill>
                                <a:srgbClr val="00B050"/>
                              </a:solidFill>
                            </a:rPr>
                            <a:t>0</a:t>
                          </a:r>
                          <a:endParaRPr lang="zh-TW" altLang="en-US" b="1" dirty="0">
                            <a:solidFill>
                              <a:srgbClr val="00B05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ap="flat" cmpd="sng" algn="ctr">
                          <a:solidFill>
                            <a:schemeClr val="tx1"/>
                          </a:solidFill>
                          <a:prstDash val="solid"/>
                          <a:round/>
                          <a:headEnd type="none" w="med" len="med"/>
                          <a:tailEnd type="none" w="med" len="med"/>
                        </a:lnBlToTr>
                      </a:tcPr>
                    </a:tc>
                    <a:tc>
                      <a:txBody>
                        <a:bodyPr/>
                        <a:lstStyle/>
                        <a:p>
                          <a:pPr algn="ctr"/>
                          <a:r>
                            <a:rPr lang="en-US" altLang="zh-TW" dirty="0">
                              <a:solidFill>
                                <a:srgbClr val="FF0000"/>
                              </a:solidFill>
                            </a:rPr>
                            <a:t>0</a:t>
                          </a:r>
                          <a:endParaRPr lang="zh-TW" altLang="en-US" dirty="0">
                            <a:solidFill>
                              <a:srgbClr val="FF0000"/>
                            </a:solidFill>
                          </a:endParaRPr>
                        </a:p>
                      </a:txBody>
                      <a:tcPr anchor="ctr">
                        <a:lnL w="12700" cap="flat" cmpd="sng" algn="ctr">
                          <a:solidFill>
                            <a:schemeClr val="tx1"/>
                          </a:solidFill>
                          <a:prstDash val="solid"/>
                          <a:round/>
                          <a:headEnd type="none" w="med" len="med"/>
                          <a:tailEnd type="none" w="med" len="med"/>
                        </a:lnL>
                      </a:tcPr>
                    </a:tc>
                    <a:tc>
                      <a:txBody>
                        <a:bodyPr/>
                        <a:lstStyle/>
                        <a:p>
                          <a:pPr algn="ctr"/>
                          <a:r>
                            <a:rPr lang="en-US" altLang="zh-TW" dirty="0">
                              <a:solidFill>
                                <a:srgbClr val="FF0000"/>
                              </a:solidFill>
                            </a:rPr>
                            <a:t>2</a:t>
                          </a:r>
                          <a:endParaRPr lang="zh-TW" altLang="en-US" dirty="0">
                            <a:solidFill>
                              <a:srgbClr val="FF0000"/>
                            </a:solidFill>
                          </a:endParaRPr>
                        </a:p>
                      </a:txBody>
                      <a:tcPr anchor="ctr"/>
                    </a:tc>
                    <a:tc>
                      <a:txBody>
                        <a:bodyPr/>
                        <a:lstStyle/>
                        <a:p>
                          <a:pPr algn="ctr"/>
                          <a:r>
                            <a:rPr lang="en-US" altLang="zh-TW" dirty="0">
                              <a:solidFill>
                                <a:schemeClr val="tx1"/>
                              </a:solidFill>
                            </a:rPr>
                            <a:t>2</a:t>
                          </a:r>
                          <a:endParaRPr lang="zh-TW" altLang="en-US" dirty="0">
                            <a:solidFill>
                              <a:schemeClr val="tx1"/>
                            </a:solidFill>
                          </a:endParaRPr>
                        </a:p>
                      </a:txBody>
                      <a:tcPr anchor="ctr">
                        <a:lnBlToTr w="12700" cap="flat" cmpd="sng" algn="ctr">
                          <a:solidFill>
                            <a:schemeClr val="tx1"/>
                          </a:solidFill>
                          <a:prstDash val="solid"/>
                          <a:round/>
                          <a:headEnd type="none" w="med" len="med"/>
                          <a:tailEnd type="none" w="med" len="med"/>
                        </a:lnBlToTr>
                      </a:tcPr>
                    </a:tc>
                    <a:extLst>
                      <a:ext uri="{0D108BD9-81ED-4DB2-BD59-A6C34878D82A}">
                        <a16:rowId xmlns:a16="http://schemas.microsoft.com/office/drawing/2014/main" val="340457892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0" name="表格 9">
                <a:extLst>
                  <a:ext uri="{FF2B5EF4-FFF2-40B4-BE49-F238E27FC236}">
                    <a16:creationId xmlns:a16="http://schemas.microsoft.com/office/drawing/2014/main" id="{2465713E-7B90-4449-87A8-6F6D36D7A756}"/>
                  </a:ext>
                </a:extLst>
              </p:cNvPr>
              <p:cNvGraphicFramePr>
                <a:graphicFrameLocks noGrp="1"/>
              </p:cNvGraphicFramePr>
              <p:nvPr>
                <p:extLst>
                  <p:ext uri="{D42A27DB-BD31-4B8C-83A1-F6EECF244321}">
                    <p14:modId xmlns:p14="http://schemas.microsoft.com/office/powerpoint/2010/main" val="968517613"/>
                  </p:ext>
                </p:extLst>
              </p:nvPr>
            </p:nvGraphicFramePr>
            <p:xfrm>
              <a:off x="1154705" y="2717697"/>
              <a:ext cx="5829992" cy="1483360"/>
            </p:xfrm>
            <a:graphic>
              <a:graphicData uri="http://schemas.openxmlformats.org/drawingml/2006/table">
                <a:tbl>
                  <a:tblPr firstRow="1" bandRow="1">
                    <a:tableStyleId>{5940675A-B579-460E-94D1-54222C63F5DA}</a:tableStyleId>
                  </a:tblPr>
                  <a:tblGrid>
                    <a:gridCol w="832856">
                      <a:extLst>
                        <a:ext uri="{9D8B030D-6E8A-4147-A177-3AD203B41FA5}">
                          <a16:colId xmlns:a16="http://schemas.microsoft.com/office/drawing/2014/main" val="2616301296"/>
                        </a:ext>
                      </a:extLst>
                    </a:gridCol>
                    <a:gridCol w="832856">
                      <a:extLst>
                        <a:ext uri="{9D8B030D-6E8A-4147-A177-3AD203B41FA5}">
                          <a16:colId xmlns:a16="http://schemas.microsoft.com/office/drawing/2014/main" val="3527329007"/>
                        </a:ext>
                      </a:extLst>
                    </a:gridCol>
                    <a:gridCol w="832856">
                      <a:extLst>
                        <a:ext uri="{9D8B030D-6E8A-4147-A177-3AD203B41FA5}">
                          <a16:colId xmlns:a16="http://schemas.microsoft.com/office/drawing/2014/main" val="1093192803"/>
                        </a:ext>
                      </a:extLst>
                    </a:gridCol>
                    <a:gridCol w="832856">
                      <a:extLst>
                        <a:ext uri="{9D8B030D-6E8A-4147-A177-3AD203B41FA5}">
                          <a16:colId xmlns:a16="http://schemas.microsoft.com/office/drawing/2014/main" val="2634396870"/>
                        </a:ext>
                      </a:extLst>
                    </a:gridCol>
                    <a:gridCol w="832856">
                      <a:extLst>
                        <a:ext uri="{9D8B030D-6E8A-4147-A177-3AD203B41FA5}">
                          <a16:colId xmlns:a16="http://schemas.microsoft.com/office/drawing/2014/main" val="3898494130"/>
                        </a:ext>
                      </a:extLst>
                    </a:gridCol>
                    <a:gridCol w="832856">
                      <a:extLst>
                        <a:ext uri="{9D8B030D-6E8A-4147-A177-3AD203B41FA5}">
                          <a16:colId xmlns:a16="http://schemas.microsoft.com/office/drawing/2014/main" val="651979287"/>
                        </a:ext>
                      </a:extLst>
                    </a:gridCol>
                    <a:gridCol w="832856">
                      <a:extLst>
                        <a:ext uri="{9D8B030D-6E8A-4147-A177-3AD203B41FA5}">
                          <a16:colId xmlns:a16="http://schemas.microsoft.com/office/drawing/2014/main" val="80234941"/>
                        </a:ext>
                      </a:extLst>
                    </a:gridCol>
                  </a:tblGrid>
                  <a:tr h="370840">
                    <a:tc>
                      <a:txBody>
                        <a:bodyPr/>
                        <a:lstStyle/>
                        <a:p>
                          <a:pPr algn="ctr"/>
                          <a14:m>
                            <m:oMathPara xmlns:m="http://schemas.openxmlformats.org/officeDocument/2006/math">
                              <m:oMathParaPr>
                                <m:jc m:val="center"/>
                              </m:oMathParaPr>
                              <m:oMath xmlns:m="http://schemas.openxmlformats.org/officeDocument/2006/math">
                                <m:r>
                                  <a:rPr lang="en-US" altLang="zh-TW" b="0" i="1" smtClean="0">
                                    <a:latin typeface="Cambria Math" panose="02040503050406030204" pitchFamily="18" charset="0"/>
                                  </a:rPr>
                                  <m:t>𝑖𝑛𝑑𝑒𝑥</m:t>
                                </m:r>
                              </m:oMath>
                            </m:oMathPara>
                          </a14:m>
                          <a:endParaRPr lang="zh-TW"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TW" i="1" dirty="0" smtClean="0">
                                    <a:latin typeface="Cambria Math" panose="02040503050406030204" pitchFamily="18" charset="0"/>
                                  </a:rPr>
                                  <m:t>1</m:t>
                                </m:r>
                              </m:oMath>
                            </m:oMathPara>
                          </a14:m>
                          <a:endParaRPr lang="zh-TW" altLang="en-US" dirty="0"/>
                        </a:p>
                      </a:txBody>
                      <a:tcPr anchor="ctr"/>
                    </a:tc>
                    <a:tc>
                      <a:txBody>
                        <a:bodyPr/>
                        <a:lstStyle/>
                        <a:p>
                          <a:pPr algn="ctr"/>
                          <a:r>
                            <a:rPr lang="en-US" altLang="zh-TW" dirty="0"/>
                            <a:t>…</a:t>
                          </a:r>
                          <a:endParaRPr lang="zh-TW"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latin typeface="Cambria Math" panose="02040503050406030204" pitchFamily="18" charset="0"/>
                                  </a:rPr>
                                  <m:t>𝑖</m:t>
                                </m:r>
                              </m:oMath>
                            </m:oMathPara>
                          </a14:m>
                          <a:endParaRPr lang="zh-TW" altLang="en-US" dirty="0"/>
                        </a:p>
                      </a:txBody>
                      <a:tcPr anchor="ctr"/>
                    </a:tc>
                    <a:tc>
                      <a:txBody>
                        <a:bodyPr/>
                        <a:lstStyle/>
                        <a:p>
                          <a:pPr algn="ctr"/>
                          <a:r>
                            <a:rPr lang="en-US" altLang="zh-TW" dirty="0"/>
                            <a:t>…</a:t>
                          </a:r>
                          <a:endParaRPr lang="zh-TW"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latin typeface="Cambria Math" panose="02040503050406030204" pitchFamily="18" charset="0"/>
                                  </a:rPr>
                                  <m:t>𝑛</m:t>
                                </m:r>
                                <m:r>
                                  <a:rPr lang="en-US" altLang="zh-TW" i="1" dirty="0" smtClean="0">
                                    <a:latin typeface="Cambria Math" panose="02040503050406030204" pitchFamily="18" charset="0"/>
                                  </a:rPr>
                                  <m:t>−1</m:t>
                                </m:r>
                              </m:oMath>
                            </m:oMathPara>
                          </a14:m>
                          <a:endParaRPr lang="zh-TW"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latin typeface="Cambria Math" panose="02040503050406030204" pitchFamily="18" charset="0"/>
                                  </a:rPr>
                                  <m:t>𝑛</m:t>
                                </m:r>
                              </m:oMath>
                            </m:oMathPara>
                          </a14:m>
                          <a:endParaRPr lang="zh-TW" altLang="en-US" dirty="0"/>
                        </a:p>
                      </a:txBody>
                      <a:tcPr anchor="ctr"/>
                    </a:tc>
                    <a:extLst>
                      <a:ext uri="{0D108BD9-81ED-4DB2-BD59-A6C34878D82A}">
                        <a16:rowId xmlns:a16="http://schemas.microsoft.com/office/drawing/2014/main" val="1967640266"/>
                      </a:ext>
                    </a:extLst>
                  </a:tr>
                  <a:tr h="370840">
                    <a:tc>
                      <a:txBody>
                        <a:bodyPr/>
                        <a:lstStyle/>
                        <a:p>
                          <a:pPr algn="ctr"/>
                          <a14:m>
                            <m:oMathPara xmlns:m="http://schemas.openxmlformats.org/officeDocument/2006/math">
                              <m:oMathParaPr>
                                <m:jc m:val="center"/>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1</m:t>
                                    </m:r>
                                  </m:sub>
                                </m:sSub>
                              </m:oMath>
                            </m:oMathPara>
                          </a14:m>
                          <a:endParaRPr lang="zh-TW" altLang="en-US" dirty="0"/>
                        </a:p>
                      </a:txBody>
                      <a:tcPr anchor="ctr"/>
                    </a:tc>
                    <a:tc>
                      <a:txBody>
                        <a:bodyPr/>
                        <a:lstStyle/>
                        <a:p>
                          <a:pPr algn="ctr"/>
                          <a:r>
                            <a:rPr lang="en-US" altLang="zh-TW" dirty="0">
                              <a:solidFill>
                                <a:srgbClr val="FF0000"/>
                              </a:solidFill>
                            </a:rPr>
                            <a:t>0</a:t>
                          </a:r>
                          <a:endParaRPr lang="zh-TW" altLang="en-US" dirty="0">
                            <a:solidFill>
                              <a:srgbClr val="FF0000"/>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dirty="0">
                              <a:solidFill>
                                <a:srgbClr val="FF0000"/>
                              </a:solidFill>
                            </a:rPr>
                            <a:t>1</a:t>
                          </a:r>
                          <a:endParaRPr lang="zh-TW" altLang="en-US" dirty="0">
                            <a:solidFill>
                              <a:srgbClr val="FF0000"/>
                            </a:solidFill>
                          </a:endParaRPr>
                        </a:p>
                      </a:txBody>
                      <a:tcPr anchor="ctr"/>
                    </a:tc>
                    <a:tc>
                      <a:txBody>
                        <a:bodyPr/>
                        <a:lstStyle/>
                        <a:p>
                          <a:pPr algn="ctr"/>
                          <a:r>
                            <a:rPr lang="en-US" altLang="zh-TW" dirty="0">
                              <a:solidFill>
                                <a:srgbClr val="FF0000"/>
                              </a:solidFill>
                            </a:rPr>
                            <a:t>2</a:t>
                          </a:r>
                          <a:endParaRPr lang="zh-TW" altLang="en-US" dirty="0">
                            <a:solidFill>
                              <a:srgbClr val="FF0000"/>
                            </a:solidFill>
                          </a:endParaRPr>
                        </a:p>
                      </a:txBody>
                      <a:tcPr anchor="ctr"/>
                    </a:tc>
                    <a:tc>
                      <a:txBody>
                        <a:bodyPr/>
                        <a:lstStyle/>
                        <a:p>
                          <a:pPr algn="ctr"/>
                          <a:r>
                            <a:rPr lang="en-US" altLang="zh-TW" dirty="0">
                              <a:solidFill>
                                <a:schemeClr val="tx1"/>
                              </a:solidFill>
                            </a:rPr>
                            <a:t>1</a:t>
                          </a:r>
                          <a:endParaRPr lang="zh-TW" altLang="en-US" dirty="0">
                            <a:solidFill>
                              <a:schemeClr val="tx1"/>
                            </a:solidFill>
                          </a:endParaRPr>
                        </a:p>
                      </a:txBody>
                      <a:tcPr anchor="ctr"/>
                    </a:tc>
                    <a:tc>
                      <a:txBody>
                        <a:bodyPr/>
                        <a:lstStyle/>
                        <a:p>
                          <a:pPr algn="ctr"/>
                          <a:r>
                            <a:rPr lang="en-US" altLang="zh-TW" dirty="0">
                              <a:solidFill>
                                <a:srgbClr val="00B050"/>
                              </a:solidFill>
                            </a:rPr>
                            <a:t>0</a:t>
                          </a:r>
                          <a:endParaRPr lang="zh-TW" altLang="en-US" dirty="0">
                            <a:solidFill>
                              <a:srgbClr val="00B050"/>
                            </a:solidFill>
                          </a:endParaRPr>
                        </a:p>
                      </a:txBody>
                      <a:tcPr anchor="ctr"/>
                    </a:tc>
                    <a:tc>
                      <a:txBody>
                        <a:bodyPr/>
                        <a:lstStyle/>
                        <a:p>
                          <a:pPr algn="ctr"/>
                          <a:r>
                            <a:rPr lang="en-US" altLang="zh-TW" dirty="0">
                              <a:solidFill>
                                <a:srgbClr val="00B050"/>
                              </a:solidFill>
                            </a:rPr>
                            <a:t>2</a:t>
                          </a:r>
                          <a:endParaRPr lang="zh-TW" altLang="en-US" dirty="0">
                            <a:solidFill>
                              <a:srgbClr val="00B050"/>
                            </a:solidFill>
                          </a:endParaRPr>
                        </a:p>
                      </a:txBody>
                      <a:tcPr anchor="ctr"/>
                    </a:tc>
                    <a:extLst>
                      <a:ext uri="{0D108BD9-81ED-4DB2-BD59-A6C34878D82A}">
                        <a16:rowId xmlns:a16="http://schemas.microsoft.com/office/drawing/2014/main" val="4265793401"/>
                      </a:ext>
                    </a:extLst>
                  </a:tr>
                  <a:tr h="370840">
                    <a:tc gridSpan="7">
                      <a:txBody>
                        <a:bodyPr/>
                        <a:lstStyle/>
                        <a:p>
                          <a:pPr algn="ctr"/>
                          <a:endParaRPr lang="zh-TW" altLang="en-US" dirty="0"/>
                        </a:p>
                      </a:txBody>
                      <a:tcPr anchor="ctr"/>
                    </a:tc>
                    <a:tc hMerge="1">
                      <a:txBody>
                        <a:bodyPr/>
                        <a:lstStyle/>
                        <a:p>
                          <a:pPr algn="ctr"/>
                          <a:endParaRPr lang="zh-TW" altLang="en-US" dirty="0">
                            <a:solidFill>
                              <a:srgbClr val="FF0000"/>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TW" altLang="en-US"/>
                        </a:p>
                      </a:txBody>
                      <a:tcPr/>
                    </a:tc>
                    <a:tc hMerge="1">
                      <a:txBody>
                        <a:bodyPr/>
                        <a:lstStyle/>
                        <a:p>
                          <a:pPr algn="ctr"/>
                          <a:endParaRPr lang="zh-TW" altLang="en-US" dirty="0">
                            <a:solidFill>
                              <a:srgbClr val="FF0000"/>
                            </a:solidFill>
                          </a:endParaRPr>
                        </a:p>
                      </a:txBody>
                      <a:tcPr anchor="ctr"/>
                    </a:tc>
                    <a:tc hMerge="1">
                      <a:txBody>
                        <a:bodyPr/>
                        <a:lstStyle/>
                        <a:p>
                          <a:endParaRPr lang="zh-TW" altLang="en-US"/>
                        </a:p>
                      </a:txBody>
                      <a:tcPr/>
                    </a:tc>
                    <a:tc hMerge="1">
                      <a:txBody>
                        <a:bodyPr/>
                        <a:lstStyle/>
                        <a:p>
                          <a:pPr algn="ctr"/>
                          <a:endParaRPr lang="zh-TW" altLang="en-US" dirty="0">
                            <a:solidFill>
                              <a:srgbClr val="00B050"/>
                            </a:solidFill>
                          </a:endParaRPr>
                        </a:p>
                      </a:txBody>
                      <a:tcPr anchor="ctr"/>
                    </a:tc>
                    <a:tc hMerge="1">
                      <a:txBody>
                        <a:bodyPr/>
                        <a:lstStyle/>
                        <a:p>
                          <a:pPr algn="ctr"/>
                          <a:endParaRPr lang="zh-TW" altLang="en-US" dirty="0">
                            <a:solidFill>
                              <a:srgbClr val="00B050"/>
                            </a:solidFill>
                          </a:endParaRPr>
                        </a:p>
                      </a:txBody>
                      <a:tcPr anchor="ctr"/>
                    </a:tc>
                    <a:extLst>
                      <a:ext uri="{0D108BD9-81ED-4DB2-BD59-A6C34878D82A}">
                        <a16:rowId xmlns:a16="http://schemas.microsoft.com/office/drawing/2014/main" val="867984470"/>
                      </a:ext>
                    </a:extLst>
                  </a:tr>
                  <a:tr h="370840">
                    <a:tc>
                      <a:txBody>
                        <a:bodyPr/>
                        <a:lstStyle/>
                        <a:p>
                          <a:pPr algn="ctr"/>
                          <a14:m>
                            <m:oMathPara xmlns:m="http://schemas.openxmlformats.org/officeDocument/2006/math">
                              <m:oMathParaPr>
                                <m:jc m:val="center"/>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oMath>
                            </m:oMathPara>
                          </a14:m>
                          <a:endParaRPr lang="zh-TW" altLang="en-US"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TW" dirty="0">
                              <a:solidFill>
                                <a:schemeClr val="tx1"/>
                              </a:solidFill>
                            </a:rPr>
                            <a:t>1</a:t>
                          </a:r>
                          <a:endParaRPr lang="zh-TW"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ap="flat" cmpd="sng" algn="ctr">
                          <a:noFill/>
                          <a:prstDash val="solid"/>
                          <a:round/>
                          <a:headEnd type="none" w="med" len="med"/>
                          <a:tailEnd type="none" w="med" len="med"/>
                        </a:lnBlToTr>
                      </a:tcPr>
                    </a:tc>
                    <a:tc>
                      <a:txBody>
                        <a:bodyPr/>
                        <a:lstStyle/>
                        <a:p>
                          <a:pPr algn="ctr"/>
                          <a:r>
                            <a:rPr lang="en-US" altLang="zh-TW" dirty="0">
                              <a:solidFill>
                                <a:srgbClr val="00B050"/>
                              </a:solidFill>
                            </a:rPr>
                            <a:t>0</a:t>
                          </a:r>
                          <a:endParaRPr lang="zh-TW" altLang="en-US" dirty="0">
                            <a:solidFill>
                              <a:srgbClr val="00B05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ap="flat" cmpd="sng" algn="ctr">
                          <a:solidFill>
                            <a:schemeClr val="tx1"/>
                          </a:solidFill>
                          <a:prstDash val="solid"/>
                          <a:round/>
                          <a:headEnd type="none" w="med" len="med"/>
                          <a:tailEnd type="none" w="med" len="med"/>
                        </a:lnBlToTr>
                      </a:tcPr>
                    </a:tc>
                    <a:tc>
                      <a:txBody>
                        <a:bodyPr/>
                        <a:lstStyle/>
                        <a:p>
                          <a:pPr algn="ctr"/>
                          <a:r>
                            <a:rPr lang="en-US" altLang="zh-TW" dirty="0">
                              <a:solidFill>
                                <a:srgbClr val="FF0000"/>
                              </a:solidFill>
                            </a:rPr>
                            <a:t>0</a:t>
                          </a:r>
                          <a:endParaRPr lang="zh-TW" altLang="en-US"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solidFill>
                                <a:srgbClr val="FF0000"/>
                              </a:solidFill>
                            </a:rPr>
                            <a:t>1</a:t>
                          </a:r>
                          <a:endParaRPr lang="zh-TW" altLang="en-US"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solidFill>
                                <a:srgbClr val="FF0000"/>
                              </a:solidFill>
                            </a:rPr>
                            <a:t>2</a:t>
                          </a:r>
                          <a:endParaRPr lang="zh-TW" altLang="en-US"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solidFill>
                                <a:srgbClr val="00B050"/>
                              </a:solidFill>
                            </a:rPr>
                            <a:t>2</a:t>
                          </a:r>
                          <a:endParaRPr lang="zh-TW" altLang="en-US" dirty="0">
                            <a:solidFill>
                              <a:srgbClr val="00B05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ap="flat" cmpd="sng" algn="ctr">
                          <a:solidFill>
                            <a:schemeClr val="tx1"/>
                          </a:solidFill>
                          <a:prstDash val="solid"/>
                          <a:round/>
                          <a:headEnd type="none" w="med" len="med"/>
                          <a:tailEnd type="none" w="med" len="med"/>
                        </a:lnBlToTr>
                      </a:tcPr>
                    </a:tc>
                    <a:extLst>
                      <a:ext uri="{0D108BD9-81ED-4DB2-BD59-A6C34878D82A}">
                        <a16:rowId xmlns:a16="http://schemas.microsoft.com/office/drawing/2014/main" val="3404578920"/>
                      </a:ext>
                    </a:extLst>
                  </a:tr>
                </a:tbl>
              </a:graphicData>
            </a:graphic>
          </p:graphicFrame>
        </mc:Choice>
        <mc:Fallback xmlns="">
          <p:graphicFrame>
            <p:nvGraphicFramePr>
              <p:cNvPr id="10" name="表格 9">
                <a:extLst>
                  <a:ext uri="{FF2B5EF4-FFF2-40B4-BE49-F238E27FC236}">
                    <a16:creationId xmlns:a16="http://schemas.microsoft.com/office/drawing/2014/main" id="{2465713E-7B90-4449-87A8-6F6D36D7A756}"/>
                  </a:ext>
                </a:extLst>
              </p:cNvPr>
              <p:cNvGraphicFramePr>
                <a:graphicFrameLocks noGrp="1"/>
              </p:cNvGraphicFramePr>
              <p:nvPr>
                <p:extLst>
                  <p:ext uri="{D42A27DB-BD31-4B8C-83A1-F6EECF244321}">
                    <p14:modId xmlns:p14="http://schemas.microsoft.com/office/powerpoint/2010/main" val="968517613"/>
                  </p:ext>
                </p:extLst>
              </p:nvPr>
            </p:nvGraphicFramePr>
            <p:xfrm>
              <a:off x="1154705" y="2717697"/>
              <a:ext cx="5829992" cy="1483360"/>
            </p:xfrm>
            <a:graphic>
              <a:graphicData uri="http://schemas.openxmlformats.org/drawingml/2006/table">
                <a:tbl>
                  <a:tblPr firstRow="1" bandRow="1">
                    <a:tableStyleId>{5940675A-B579-460E-94D1-54222C63F5DA}</a:tableStyleId>
                  </a:tblPr>
                  <a:tblGrid>
                    <a:gridCol w="832856">
                      <a:extLst>
                        <a:ext uri="{9D8B030D-6E8A-4147-A177-3AD203B41FA5}">
                          <a16:colId xmlns:a16="http://schemas.microsoft.com/office/drawing/2014/main" val="2616301296"/>
                        </a:ext>
                      </a:extLst>
                    </a:gridCol>
                    <a:gridCol w="832856">
                      <a:extLst>
                        <a:ext uri="{9D8B030D-6E8A-4147-A177-3AD203B41FA5}">
                          <a16:colId xmlns:a16="http://schemas.microsoft.com/office/drawing/2014/main" val="3527329007"/>
                        </a:ext>
                      </a:extLst>
                    </a:gridCol>
                    <a:gridCol w="832856">
                      <a:extLst>
                        <a:ext uri="{9D8B030D-6E8A-4147-A177-3AD203B41FA5}">
                          <a16:colId xmlns:a16="http://schemas.microsoft.com/office/drawing/2014/main" val="1093192803"/>
                        </a:ext>
                      </a:extLst>
                    </a:gridCol>
                    <a:gridCol w="832856">
                      <a:extLst>
                        <a:ext uri="{9D8B030D-6E8A-4147-A177-3AD203B41FA5}">
                          <a16:colId xmlns:a16="http://schemas.microsoft.com/office/drawing/2014/main" val="2634396870"/>
                        </a:ext>
                      </a:extLst>
                    </a:gridCol>
                    <a:gridCol w="832856">
                      <a:extLst>
                        <a:ext uri="{9D8B030D-6E8A-4147-A177-3AD203B41FA5}">
                          <a16:colId xmlns:a16="http://schemas.microsoft.com/office/drawing/2014/main" val="3898494130"/>
                        </a:ext>
                      </a:extLst>
                    </a:gridCol>
                    <a:gridCol w="832856">
                      <a:extLst>
                        <a:ext uri="{9D8B030D-6E8A-4147-A177-3AD203B41FA5}">
                          <a16:colId xmlns:a16="http://schemas.microsoft.com/office/drawing/2014/main" val="651979287"/>
                        </a:ext>
                      </a:extLst>
                    </a:gridCol>
                    <a:gridCol w="832856">
                      <a:extLst>
                        <a:ext uri="{9D8B030D-6E8A-4147-A177-3AD203B41FA5}">
                          <a16:colId xmlns:a16="http://schemas.microsoft.com/office/drawing/2014/main" val="80234941"/>
                        </a:ext>
                      </a:extLst>
                    </a:gridCol>
                  </a:tblGrid>
                  <a:tr h="370840">
                    <a:tc>
                      <a:txBody>
                        <a:bodyPr/>
                        <a:lstStyle/>
                        <a:p>
                          <a:endParaRPr lang="zh-TW"/>
                        </a:p>
                      </a:txBody>
                      <a:tcPr anchor="ctr">
                        <a:blipFill>
                          <a:blip r:embed="rId5"/>
                          <a:stretch>
                            <a:fillRect l="-730" t="-6557" r="-600000" b="-326230"/>
                          </a:stretch>
                        </a:blipFill>
                      </a:tcPr>
                    </a:tc>
                    <a:tc>
                      <a:txBody>
                        <a:bodyPr/>
                        <a:lstStyle/>
                        <a:p>
                          <a:endParaRPr lang="zh-TW"/>
                        </a:p>
                      </a:txBody>
                      <a:tcPr anchor="ctr">
                        <a:blipFill>
                          <a:blip r:embed="rId5"/>
                          <a:stretch>
                            <a:fillRect l="-101471" t="-6557" r="-504412" b="-326230"/>
                          </a:stretch>
                        </a:blipFill>
                      </a:tcPr>
                    </a:tc>
                    <a:tc>
                      <a:txBody>
                        <a:bodyPr/>
                        <a:lstStyle/>
                        <a:p>
                          <a:pPr algn="ctr"/>
                          <a:r>
                            <a:rPr lang="en-US" altLang="zh-TW" dirty="0"/>
                            <a:t>…</a:t>
                          </a:r>
                          <a:endParaRPr lang="zh-TW" altLang="en-US" dirty="0"/>
                        </a:p>
                      </a:txBody>
                      <a:tcPr anchor="ctr"/>
                    </a:tc>
                    <a:tc>
                      <a:txBody>
                        <a:bodyPr/>
                        <a:lstStyle/>
                        <a:p>
                          <a:endParaRPr lang="zh-TW"/>
                        </a:p>
                      </a:txBody>
                      <a:tcPr anchor="ctr">
                        <a:blipFill>
                          <a:blip r:embed="rId5"/>
                          <a:stretch>
                            <a:fillRect l="-300000" t="-6557" r="-300730" b="-326230"/>
                          </a:stretch>
                        </a:blipFill>
                      </a:tcPr>
                    </a:tc>
                    <a:tc>
                      <a:txBody>
                        <a:bodyPr/>
                        <a:lstStyle/>
                        <a:p>
                          <a:pPr algn="ctr"/>
                          <a:r>
                            <a:rPr lang="en-US" altLang="zh-TW" dirty="0"/>
                            <a:t>…</a:t>
                          </a:r>
                          <a:endParaRPr lang="zh-TW" altLang="en-US" dirty="0"/>
                        </a:p>
                      </a:txBody>
                      <a:tcPr anchor="ctr"/>
                    </a:tc>
                    <a:tc>
                      <a:txBody>
                        <a:bodyPr/>
                        <a:lstStyle/>
                        <a:p>
                          <a:endParaRPr lang="zh-TW"/>
                        </a:p>
                      </a:txBody>
                      <a:tcPr anchor="ctr">
                        <a:blipFill>
                          <a:blip r:embed="rId5"/>
                          <a:stretch>
                            <a:fillRect l="-503676" t="-6557" r="-102206" b="-326230"/>
                          </a:stretch>
                        </a:blipFill>
                      </a:tcPr>
                    </a:tc>
                    <a:tc>
                      <a:txBody>
                        <a:bodyPr/>
                        <a:lstStyle/>
                        <a:p>
                          <a:endParaRPr lang="zh-TW"/>
                        </a:p>
                      </a:txBody>
                      <a:tcPr anchor="ctr">
                        <a:blipFill>
                          <a:blip r:embed="rId5"/>
                          <a:stretch>
                            <a:fillRect l="-599270" t="-6557" r="-1460" b="-326230"/>
                          </a:stretch>
                        </a:blipFill>
                      </a:tcPr>
                    </a:tc>
                    <a:extLst>
                      <a:ext uri="{0D108BD9-81ED-4DB2-BD59-A6C34878D82A}">
                        <a16:rowId xmlns:a16="http://schemas.microsoft.com/office/drawing/2014/main" val="1967640266"/>
                      </a:ext>
                    </a:extLst>
                  </a:tr>
                  <a:tr h="370840">
                    <a:tc>
                      <a:txBody>
                        <a:bodyPr/>
                        <a:lstStyle/>
                        <a:p>
                          <a:endParaRPr lang="zh-TW"/>
                        </a:p>
                      </a:txBody>
                      <a:tcPr anchor="ctr">
                        <a:blipFill>
                          <a:blip r:embed="rId5"/>
                          <a:stretch>
                            <a:fillRect l="-730" t="-104839" r="-600000" b="-220968"/>
                          </a:stretch>
                        </a:blipFill>
                      </a:tcPr>
                    </a:tc>
                    <a:tc>
                      <a:txBody>
                        <a:bodyPr/>
                        <a:lstStyle/>
                        <a:p>
                          <a:pPr algn="ctr"/>
                          <a:r>
                            <a:rPr lang="en-US" altLang="zh-TW" dirty="0">
                              <a:solidFill>
                                <a:srgbClr val="FF0000"/>
                              </a:solidFill>
                            </a:rPr>
                            <a:t>0</a:t>
                          </a:r>
                          <a:endParaRPr lang="zh-TW" altLang="en-US" dirty="0">
                            <a:solidFill>
                              <a:srgbClr val="FF0000"/>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dirty="0">
                              <a:solidFill>
                                <a:srgbClr val="FF0000"/>
                              </a:solidFill>
                            </a:rPr>
                            <a:t>1</a:t>
                          </a:r>
                          <a:endParaRPr lang="zh-TW" altLang="en-US" dirty="0">
                            <a:solidFill>
                              <a:srgbClr val="FF0000"/>
                            </a:solidFill>
                          </a:endParaRPr>
                        </a:p>
                      </a:txBody>
                      <a:tcPr anchor="ctr"/>
                    </a:tc>
                    <a:tc>
                      <a:txBody>
                        <a:bodyPr/>
                        <a:lstStyle/>
                        <a:p>
                          <a:pPr algn="ctr"/>
                          <a:r>
                            <a:rPr lang="en-US" altLang="zh-TW" dirty="0">
                              <a:solidFill>
                                <a:srgbClr val="FF0000"/>
                              </a:solidFill>
                            </a:rPr>
                            <a:t>2</a:t>
                          </a:r>
                          <a:endParaRPr lang="zh-TW" altLang="en-US" dirty="0">
                            <a:solidFill>
                              <a:srgbClr val="FF0000"/>
                            </a:solidFill>
                          </a:endParaRPr>
                        </a:p>
                      </a:txBody>
                      <a:tcPr anchor="ctr"/>
                    </a:tc>
                    <a:tc>
                      <a:txBody>
                        <a:bodyPr/>
                        <a:lstStyle/>
                        <a:p>
                          <a:pPr algn="ctr"/>
                          <a:r>
                            <a:rPr lang="en-US" altLang="zh-TW" dirty="0">
                              <a:solidFill>
                                <a:schemeClr val="tx1"/>
                              </a:solidFill>
                            </a:rPr>
                            <a:t>1</a:t>
                          </a:r>
                          <a:endParaRPr lang="zh-TW" altLang="en-US" dirty="0">
                            <a:solidFill>
                              <a:schemeClr val="tx1"/>
                            </a:solidFill>
                          </a:endParaRPr>
                        </a:p>
                      </a:txBody>
                      <a:tcPr anchor="ctr"/>
                    </a:tc>
                    <a:tc>
                      <a:txBody>
                        <a:bodyPr/>
                        <a:lstStyle/>
                        <a:p>
                          <a:pPr algn="ctr"/>
                          <a:r>
                            <a:rPr lang="en-US" altLang="zh-TW" dirty="0">
                              <a:solidFill>
                                <a:srgbClr val="00B050"/>
                              </a:solidFill>
                            </a:rPr>
                            <a:t>0</a:t>
                          </a:r>
                          <a:endParaRPr lang="zh-TW" altLang="en-US" dirty="0">
                            <a:solidFill>
                              <a:srgbClr val="00B050"/>
                            </a:solidFill>
                          </a:endParaRPr>
                        </a:p>
                      </a:txBody>
                      <a:tcPr anchor="ctr"/>
                    </a:tc>
                    <a:tc>
                      <a:txBody>
                        <a:bodyPr/>
                        <a:lstStyle/>
                        <a:p>
                          <a:pPr algn="ctr"/>
                          <a:r>
                            <a:rPr lang="en-US" altLang="zh-TW" dirty="0">
                              <a:solidFill>
                                <a:srgbClr val="00B050"/>
                              </a:solidFill>
                            </a:rPr>
                            <a:t>2</a:t>
                          </a:r>
                          <a:endParaRPr lang="zh-TW" altLang="en-US" dirty="0">
                            <a:solidFill>
                              <a:srgbClr val="00B050"/>
                            </a:solidFill>
                          </a:endParaRPr>
                        </a:p>
                      </a:txBody>
                      <a:tcPr anchor="ctr"/>
                    </a:tc>
                    <a:extLst>
                      <a:ext uri="{0D108BD9-81ED-4DB2-BD59-A6C34878D82A}">
                        <a16:rowId xmlns:a16="http://schemas.microsoft.com/office/drawing/2014/main" val="4265793401"/>
                      </a:ext>
                    </a:extLst>
                  </a:tr>
                  <a:tr h="370840">
                    <a:tc gridSpan="7">
                      <a:txBody>
                        <a:bodyPr/>
                        <a:lstStyle/>
                        <a:p>
                          <a:pPr algn="ctr"/>
                          <a:endParaRPr lang="zh-TW" altLang="en-US" dirty="0"/>
                        </a:p>
                      </a:txBody>
                      <a:tcPr anchor="ctr"/>
                    </a:tc>
                    <a:tc hMerge="1">
                      <a:txBody>
                        <a:bodyPr/>
                        <a:lstStyle/>
                        <a:p>
                          <a:pPr algn="ctr"/>
                          <a:endParaRPr lang="zh-TW" altLang="en-US" dirty="0">
                            <a:solidFill>
                              <a:srgbClr val="FF0000"/>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TW" altLang="en-US"/>
                        </a:p>
                      </a:txBody>
                      <a:tcPr/>
                    </a:tc>
                    <a:tc hMerge="1">
                      <a:txBody>
                        <a:bodyPr/>
                        <a:lstStyle/>
                        <a:p>
                          <a:pPr algn="ctr"/>
                          <a:endParaRPr lang="zh-TW" altLang="en-US" dirty="0">
                            <a:solidFill>
                              <a:srgbClr val="FF0000"/>
                            </a:solidFill>
                          </a:endParaRPr>
                        </a:p>
                      </a:txBody>
                      <a:tcPr anchor="ctr"/>
                    </a:tc>
                    <a:tc hMerge="1">
                      <a:txBody>
                        <a:bodyPr/>
                        <a:lstStyle/>
                        <a:p>
                          <a:endParaRPr lang="zh-TW" altLang="en-US"/>
                        </a:p>
                      </a:txBody>
                      <a:tcPr/>
                    </a:tc>
                    <a:tc hMerge="1">
                      <a:txBody>
                        <a:bodyPr/>
                        <a:lstStyle/>
                        <a:p>
                          <a:pPr algn="ctr"/>
                          <a:endParaRPr lang="zh-TW" altLang="en-US" dirty="0">
                            <a:solidFill>
                              <a:srgbClr val="00B050"/>
                            </a:solidFill>
                          </a:endParaRPr>
                        </a:p>
                      </a:txBody>
                      <a:tcPr anchor="ctr"/>
                    </a:tc>
                    <a:tc hMerge="1">
                      <a:txBody>
                        <a:bodyPr/>
                        <a:lstStyle/>
                        <a:p>
                          <a:pPr algn="ctr"/>
                          <a:endParaRPr lang="zh-TW" altLang="en-US" dirty="0">
                            <a:solidFill>
                              <a:srgbClr val="00B050"/>
                            </a:solidFill>
                          </a:endParaRPr>
                        </a:p>
                      </a:txBody>
                      <a:tcPr anchor="ctr"/>
                    </a:tc>
                    <a:extLst>
                      <a:ext uri="{0D108BD9-81ED-4DB2-BD59-A6C34878D82A}">
                        <a16:rowId xmlns:a16="http://schemas.microsoft.com/office/drawing/2014/main" val="867984470"/>
                      </a:ext>
                    </a:extLst>
                  </a:tr>
                  <a:tr h="370840">
                    <a:tc>
                      <a:txBody>
                        <a:bodyPr/>
                        <a:lstStyle/>
                        <a:p>
                          <a:endParaRPr lang="zh-TW"/>
                        </a:p>
                      </a:txBody>
                      <a:tcPr anchor="ctr">
                        <a:lnR w="12700" cap="flat" cmpd="sng" algn="ctr">
                          <a:solidFill>
                            <a:schemeClr val="tx1"/>
                          </a:solidFill>
                          <a:prstDash val="solid"/>
                          <a:round/>
                          <a:headEnd type="none" w="med" len="med"/>
                          <a:tailEnd type="none" w="med" len="med"/>
                        </a:lnR>
                        <a:blipFill>
                          <a:blip r:embed="rId5"/>
                          <a:stretch>
                            <a:fillRect l="-730" t="-308197" r="-600000" b="-24590"/>
                          </a:stretch>
                        </a:blipFill>
                      </a:tcPr>
                    </a:tc>
                    <a:tc>
                      <a:txBody>
                        <a:bodyPr/>
                        <a:lstStyle/>
                        <a:p>
                          <a:pPr algn="ctr"/>
                          <a:r>
                            <a:rPr lang="en-US" altLang="zh-TW" dirty="0">
                              <a:solidFill>
                                <a:schemeClr val="tx1"/>
                              </a:solidFill>
                            </a:rPr>
                            <a:t>1</a:t>
                          </a:r>
                          <a:endParaRPr lang="zh-TW"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ap="flat" cmpd="sng" algn="ctr">
                          <a:noFill/>
                          <a:prstDash val="solid"/>
                          <a:round/>
                          <a:headEnd type="none" w="med" len="med"/>
                          <a:tailEnd type="none" w="med" len="med"/>
                        </a:lnBlToTr>
                      </a:tcPr>
                    </a:tc>
                    <a:tc>
                      <a:txBody>
                        <a:bodyPr/>
                        <a:lstStyle/>
                        <a:p>
                          <a:pPr algn="ctr"/>
                          <a:r>
                            <a:rPr lang="en-US" altLang="zh-TW" dirty="0">
                              <a:solidFill>
                                <a:srgbClr val="00B050"/>
                              </a:solidFill>
                            </a:rPr>
                            <a:t>0</a:t>
                          </a:r>
                          <a:endParaRPr lang="zh-TW" altLang="en-US" dirty="0">
                            <a:solidFill>
                              <a:srgbClr val="00B05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ap="flat" cmpd="sng" algn="ctr">
                          <a:solidFill>
                            <a:schemeClr val="tx1"/>
                          </a:solidFill>
                          <a:prstDash val="solid"/>
                          <a:round/>
                          <a:headEnd type="none" w="med" len="med"/>
                          <a:tailEnd type="none" w="med" len="med"/>
                        </a:lnBlToTr>
                      </a:tcPr>
                    </a:tc>
                    <a:tc>
                      <a:txBody>
                        <a:bodyPr/>
                        <a:lstStyle/>
                        <a:p>
                          <a:pPr algn="ctr"/>
                          <a:r>
                            <a:rPr lang="en-US" altLang="zh-TW" dirty="0">
                              <a:solidFill>
                                <a:srgbClr val="FF0000"/>
                              </a:solidFill>
                            </a:rPr>
                            <a:t>0</a:t>
                          </a:r>
                          <a:endParaRPr lang="zh-TW" altLang="en-US"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solidFill>
                                <a:srgbClr val="FF0000"/>
                              </a:solidFill>
                            </a:rPr>
                            <a:t>1</a:t>
                          </a:r>
                          <a:endParaRPr lang="zh-TW" altLang="en-US"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solidFill>
                                <a:srgbClr val="FF0000"/>
                              </a:solidFill>
                            </a:rPr>
                            <a:t>2</a:t>
                          </a:r>
                          <a:endParaRPr lang="zh-TW" altLang="en-US"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solidFill>
                                <a:srgbClr val="00B050"/>
                              </a:solidFill>
                            </a:rPr>
                            <a:t>2</a:t>
                          </a:r>
                          <a:endParaRPr lang="zh-TW" altLang="en-US" dirty="0">
                            <a:solidFill>
                              <a:srgbClr val="00B05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ap="flat" cmpd="sng" algn="ctr">
                          <a:solidFill>
                            <a:schemeClr val="tx1"/>
                          </a:solidFill>
                          <a:prstDash val="solid"/>
                          <a:round/>
                          <a:headEnd type="none" w="med" len="med"/>
                          <a:tailEnd type="none" w="med" len="med"/>
                        </a:lnBlToTr>
                      </a:tcPr>
                    </a:tc>
                    <a:extLst>
                      <a:ext uri="{0D108BD9-81ED-4DB2-BD59-A6C34878D82A}">
                        <a16:rowId xmlns:a16="http://schemas.microsoft.com/office/drawing/2014/main" val="3404578920"/>
                      </a:ext>
                    </a:extLst>
                  </a:tr>
                </a:tbl>
              </a:graphicData>
            </a:graphic>
          </p:graphicFrame>
        </mc:Fallback>
      </mc:AlternateContent>
      <p:sp>
        <p:nvSpPr>
          <p:cNvPr id="11" name="矩形 10">
            <a:extLst>
              <a:ext uri="{FF2B5EF4-FFF2-40B4-BE49-F238E27FC236}">
                <a16:creationId xmlns:a16="http://schemas.microsoft.com/office/drawing/2014/main" id="{AE2A85A0-8A81-4E3E-B820-54C21C5DBE22}"/>
              </a:ext>
            </a:extLst>
          </p:cNvPr>
          <p:cNvSpPr/>
          <p:nvPr/>
        </p:nvSpPr>
        <p:spPr>
          <a:xfrm>
            <a:off x="7122909" y="1793116"/>
            <a:ext cx="1063112" cy="369332"/>
          </a:xfrm>
          <a:prstGeom prst="rect">
            <a:avLst/>
          </a:prstGeom>
          <a:ln>
            <a:solidFill>
              <a:srgbClr val="002060"/>
            </a:solidFill>
          </a:ln>
        </p:spPr>
        <p:txBody>
          <a:bodyPr wrap="none">
            <a:spAutoFit/>
          </a:bodyPr>
          <a:lstStyle/>
          <a:p>
            <a:r>
              <a:rPr lang="en-US" altLang="zh-TW" b="0" i="0" dirty="0">
                <a:solidFill>
                  <a:srgbClr val="0070C0"/>
                </a:solidFill>
                <a:latin typeface="Times New Roman" panose="02020603050405020304" pitchFamily="18" charset="0"/>
                <a:cs typeface="Times New Roman" panose="02020603050405020304" pitchFamily="18" charset="0"/>
              </a:rPr>
              <a:t>Lemma 2</a:t>
            </a:r>
            <a:endParaRPr lang="zh-TW" altLang="en-US"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2382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222F4ADD-F9DA-4202-A4ED-239132DE7250}"/>
              </a:ext>
            </a:extLst>
          </p:cNvPr>
          <p:cNvSpPr>
            <a:spLocks noGrp="1"/>
          </p:cNvSpPr>
          <p:nvPr>
            <p:ph type="sldNum" sz="quarter" idx="12"/>
          </p:nvPr>
        </p:nvSpPr>
        <p:spPr/>
        <p:txBody>
          <a:bodyPr/>
          <a:lstStyle/>
          <a:p>
            <a:fld id="{872633CA-77E0-4863-94F8-E28139DFB2B4}" type="slidenum">
              <a:rPr lang="zh-TW" altLang="en-US" smtClean="0"/>
              <a:t>10</a:t>
            </a:fld>
            <a:endParaRPr lang="zh-TW" altLang="en-US"/>
          </a:p>
        </p:txBody>
      </p:sp>
      <p:sp>
        <p:nvSpPr>
          <p:cNvPr id="5" name="標題 1">
            <a:extLst>
              <a:ext uri="{FF2B5EF4-FFF2-40B4-BE49-F238E27FC236}">
                <a16:creationId xmlns:a16="http://schemas.microsoft.com/office/drawing/2014/main" id="{FEF0B28A-BF0C-4AED-8461-CBEAD77D334D}"/>
              </a:ext>
            </a:extLst>
          </p:cNvPr>
          <p:cNvSpPr txBox="1">
            <a:spLocks/>
          </p:cNvSpPr>
          <p:nvPr/>
        </p:nvSpPr>
        <p:spPr>
          <a:xfrm>
            <a:off x="402232" y="385081"/>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Grouping - ternary</a:t>
            </a:r>
            <a:endParaRPr lang="zh-TW" alt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標題 1">
                <a:extLst>
                  <a:ext uri="{FF2B5EF4-FFF2-40B4-BE49-F238E27FC236}">
                    <a16:creationId xmlns:a16="http://schemas.microsoft.com/office/drawing/2014/main" id="{763094B3-CC12-408A-AF35-67F3F2C58BD6}"/>
                  </a:ext>
                </a:extLst>
              </p:cNvPr>
              <p:cNvSpPr txBox="1">
                <a:spLocks/>
              </p:cNvSpPr>
              <p:nvPr/>
            </p:nvSpPr>
            <p:spPr>
              <a:xfrm>
                <a:off x="402232" y="680111"/>
                <a:ext cx="6720677" cy="14197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00000"/>
                  </a:lnSpc>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For fully ternary normalized string </a:t>
                </a:r>
                <a14:m>
                  <m:oMath xmlns:m="http://schemas.openxmlformats.org/officeDocument/2006/math">
                    <m:r>
                      <a:rPr lang="en-US" altLang="zh-TW" sz="2400" i="1" dirty="0" smtClean="0">
                        <a:latin typeface="Cambria Math" panose="02040503050406030204" pitchFamily="18" charset="0"/>
                        <a:cs typeface="Times New Roman" panose="02020603050405020304" pitchFamily="18" charset="0"/>
                      </a:rPr>
                      <m:t>𝑠</m:t>
                    </m:r>
                  </m:oMath>
                </a14:m>
                <a:endParaRPr lang="en-US" altLang="zh-TW" sz="2000" dirty="0">
                  <a:latin typeface="Times New Roman" panose="02020603050405020304" pitchFamily="18" charset="0"/>
                  <a:cs typeface="Times New Roman" panose="02020603050405020304" pitchFamily="18" charset="0"/>
                </a:endParaRPr>
              </a:p>
            </p:txBody>
          </p:sp>
        </mc:Choice>
        <mc:Fallback xmlns="">
          <p:sp>
            <p:nvSpPr>
              <p:cNvPr id="12" name="標題 1">
                <a:extLst>
                  <a:ext uri="{FF2B5EF4-FFF2-40B4-BE49-F238E27FC236}">
                    <a16:creationId xmlns:a16="http://schemas.microsoft.com/office/drawing/2014/main" id="{763094B3-CC12-408A-AF35-67F3F2C58BD6}"/>
                  </a:ext>
                </a:extLst>
              </p:cNvPr>
              <p:cNvSpPr txBox="1">
                <a:spLocks noRot="1" noChangeAspect="1" noMove="1" noResize="1" noEditPoints="1" noAdjustHandles="1" noChangeArrowheads="1" noChangeShapeType="1" noTextEdit="1"/>
              </p:cNvSpPr>
              <p:nvPr/>
            </p:nvSpPr>
            <p:spPr>
              <a:xfrm>
                <a:off x="402232" y="680111"/>
                <a:ext cx="6720677" cy="1419789"/>
              </a:xfrm>
              <a:prstGeom prst="rect">
                <a:avLst/>
              </a:prstGeom>
              <a:blipFill>
                <a:blip r:embed="rId2"/>
                <a:stretch>
                  <a:fillRect l="-127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標題 1">
                <a:extLst>
                  <a:ext uri="{FF2B5EF4-FFF2-40B4-BE49-F238E27FC236}">
                    <a16:creationId xmlns:a16="http://schemas.microsoft.com/office/drawing/2014/main" id="{003605E4-76B1-407E-B053-1A9609C6A242}"/>
                  </a:ext>
                </a:extLst>
              </p:cNvPr>
              <p:cNvSpPr txBox="1">
                <a:spLocks/>
              </p:cNvSpPr>
              <p:nvPr/>
            </p:nvSpPr>
            <p:spPr>
              <a:xfrm>
                <a:off x="1399822" y="1656931"/>
                <a:ext cx="5282472" cy="14197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TW" sz="2400" b="0" i="1" smtClean="0">
                              <a:solidFill>
                                <a:srgbClr val="0070C0"/>
                              </a:solidFill>
                              <a:latin typeface="Cambria Math" panose="02040503050406030204" pitchFamily="18" charset="0"/>
                              <a:cs typeface="Times New Roman" panose="02020603050405020304" pitchFamily="18" charset="0"/>
                            </a:rPr>
                          </m:ctrlPr>
                        </m:sSubPr>
                        <m:e>
                          <m:d>
                            <m:dPr>
                              <m:begChr m:val="⌈"/>
                              <m:endChr m:val="⌉"/>
                              <m:ctrlPr>
                                <a:rPr lang="en-US" altLang="zh-TW" sz="2400" i="1">
                                  <a:solidFill>
                                    <a:srgbClr val="0070C0"/>
                                  </a:solidFill>
                                  <a:latin typeface="Cambria Math" panose="02040503050406030204" pitchFamily="18" charset="0"/>
                                  <a:cs typeface="Times New Roman" panose="02020603050405020304" pitchFamily="18" charset="0"/>
                                </a:rPr>
                              </m:ctrlPr>
                            </m:dPr>
                            <m:e>
                              <m:f>
                                <m:fPr>
                                  <m:ctrlPr>
                                    <a:rPr lang="en-US" altLang="zh-TW" sz="2400" i="1">
                                      <a:solidFill>
                                        <a:srgbClr val="0070C0"/>
                                      </a:solidFill>
                                      <a:latin typeface="Cambria Math" panose="02040503050406030204" pitchFamily="18" charset="0"/>
                                      <a:cs typeface="Times New Roman" panose="02020603050405020304" pitchFamily="18" charset="0"/>
                                    </a:rPr>
                                  </m:ctrlPr>
                                </m:fPr>
                                <m:num>
                                  <m:r>
                                    <a:rPr lang="en-US" altLang="zh-TW" sz="2400" i="1">
                                      <a:solidFill>
                                        <a:srgbClr val="0070C0"/>
                                      </a:solidFill>
                                      <a:latin typeface="Cambria Math" panose="02040503050406030204" pitchFamily="18" charset="0"/>
                                      <a:cs typeface="Times New Roman" panose="02020603050405020304" pitchFamily="18" charset="0"/>
                                    </a:rPr>
                                    <m:t>|</m:t>
                                  </m:r>
                                  <m:r>
                                    <a:rPr lang="en-US" altLang="zh-TW" sz="2400" i="1">
                                      <a:solidFill>
                                        <a:srgbClr val="0070C0"/>
                                      </a:solidFill>
                                      <a:latin typeface="Cambria Math" panose="02040503050406030204" pitchFamily="18" charset="0"/>
                                      <a:cs typeface="Times New Roman" panose="02020603050405020304" pitchFamily="18" charset="0"/>
                                    </a:rPr>
                                    <m:t>𝑠</m:t>
                                  </m:r>
                                  <m:r>
                                    <a:rPr lang="en-US" altLang="zh-TW" sz="2400" i="1">
                                      <a:solidFill>
                                        <a:srgbClr val="0070C0"/>
                                      </a:solidFill>
                                      <a:latin typeface="Cambria Math" panose="02040503050406030204" pitchFamily="18" charset="0"/>
                                      <a:cs typeface="Times New Roman" panose="02020603050405020304" pitchFamily="18" charset="0"/>
                                    </a:rPr>
                                    <m:t>|−3</m:t>
                                  </m:r>
                                </m:num>
                                <m:den>
                                  <m:r>
                                    <a:rPr lang="en-US" altLang="zh-TW" sz="2400" i="1">
                                      <a:solidFill>
                                        <a:srgbClr val="0070C0"/>
                                      </a:solidFill>
                                      <a:latin typeface="Cambria Math" panose="02040503050406030204" pitchFamily="18" charset="0"/>
                                      <a:cs typeface="Times New Roman" panose="02020603050405020304" pitchFamily="18" charset="0"/>
                                    </a:rPr>
                                    <m:t>2</m:t>
                                  </m:r>
                                </m:den>
                              </m:f>
                            </m:e>
                          </m:d>
                          <m:r>
                            <a:rPr lang="en-US" altLang="zh-TW" sz="2400" b="0" i="1" smtClean="0">
                              <a:solidFill>
                                <a:srgbClr val="0070C0"/>
                              </a:solidFill>
                              <a:latin typeface="Cambria Math" panose="02040503050406030204" pitchFamily="18" charset="0"/>
                              <a:cs typeface="Times New Roman" panose="02020603050405020304" pitchFamily="18" charset="0"/>
                            </a:rPr>
                            <m:t>≤</m:t>
                          </m:r>
                          <m:r>
                            <a:rPr lang="en-US" altLang="zh-TW" sz="2400" b="0" i="1" smtClean="0">
                              <a:solidFill>
                                <a:srgbClr val="0070C0"/>
                              </a:solidFill>
                              <a:latin typeface="Cambria Math" panose="02040503050406030204" pitchFamily="18" charset="0"/>
                              <a:cs typeface="Times New Roman" panose="02020603050405020304" pitchFamily="18" charset="0"/>
                            </a:rPr>
                            <m:t>𝑑</m:t>
                          </m:r>
                        </m:e>
                        <m:sub>
                          <m:r>
                            <a:rPr lang="en-US" altLang="zh-TW" sz="2400" b="0" i="1" smtClean="0">
                              <a:solidFill>
                                <a:srgbClr val="0070C0"/>
                              </a:solidFill>
                              <a:latin typeface="Cambria Math" panose="02040503050406030204" pitchFamily="18" charset="0"/>
                              <a:cs typeface="Times New Roman" panose="02020603050405020304" pitchFamily="18" charset="0"/>
                            </a:rPr>
                            <m:t>𝑔</m:t>
                          </m:r>
                        </m:sub>
                      </m:sSub>
                      <m:d>
                        <m:dPr>
                          <m:ctrlPr>
                            <a:rPr lang="en-US" altLang="zh-TW" sz="2400" b="0" i="1" smtClean="0">
                              <a:solidFill>
                                <a:srgbClr val="0070C0"/>
                              </a:solidFill>
                              <a:latin typeface="Cambria Math" panose="02040503050406030204" pitchFamily="18" charset="0"/>
                              <a:cs typeface="Times New Roman" panose="02020603050405020304" pitchFamily="18" charset="0"/>
                            </a:rPr>
                          </m:ctrlPr>
                        </m:dPr>
                        <m:e>
                          <m:r>
                            <a:rPr lang="en-US" altLang="zh-TW" sz="2400" b="0" i="1" smtClean="0">
                              <a:solidFill>
                                <a:srgbClr val="0070C0"/>
                              </a:solidFill>
                              <a:latin typeface="Cambria Math" panose="02040503050406030204" pitchFamily="18" charset="0"/>
                              <a:cs typeface="Times New Roman" panose="02020603050405020304" pitchFamily="18" charset="0"/>
                            </a:rPr>
                            <m:t>𝑠</m:t>
                          </m:r>
                        </m:e>
                      </m:d>
                      <m:r>
                        <a:rPr lang="en-US" altLang="zh-TW" sz="2400" b="0" i="1" smtClean="0">
                          <a:solidFill>
                            <a:srgbClr val="0070C0"/>
                          </a:solidFill>
                          <a:latin typeface="Cambria Math" panose="02040503050406030204" pitchFamily="18" charset="0"/>
                          <a:cs typeface="Times New Roman" panose="02020603050405020304" pitchFamily="18" charset="0"/>
                        </a:rPr>
                        <m:t>≤</m:t>
                      </m:r>
                      <m:d>
                        <m:dPr>
                          <m:begChr m:val="⌈"/>
                          <m:endChr m:val="⌉"/>
                          <m:ctrlPr>
                            <a:rPr lang="en-US" altLang="zh-TW" sz="2400" b="0" i="1" smtClean="0">
                              <a:solidFill>
                                <a:srgbClr val="0070C0"/>
                              </a:solidFill>
                              <a:latin typeface="Cambria Math" panose="02040503050406030204" pitchFamily="18" charset="0"/>
                              <a:cs typeface="Times New Roman" panose="02020603050405020304" pitchFamily="18" charset="0"/>
                            </a:rPr>
                          </m:ctrlPr>
                        </m:dPr>
                        <m:e>
                          <m:f>
                            <m:fPr>
                              <m:ctrlPr>
                                <a:rPr lang="en-US" altLang="zh-TW" sz="2400" b="0" i="1" smtClean="0">
                                  <a:solidFill>
                                    <a:srgbClr val="0070C0"/>
                                  </a:solidFill>
                                  <a:latin typeface="Cambria Math" panose="02040503050406030204" pitchFamily="18" charset="0"/>
                                  <a:cs typeface="Times New Roman" panose="02020603050405020304" pitchFamily="18" charset="0"/>
                                </a:rPr>
                              </m:ctrlPr>
                            </m:fPr>
                            <m:num>
                              <m:d>
                                <m:dPr>
                                  <m:begChr m:val="|"/>
                                  <m:endChr m:val="|"/>
                                  <m:ctrlPr>
                                    <a:rPr lang="en-US" altLang="zh-TW" sz="2400" b="0" i="1" smtClean="0">
                                      <a:solidFill>
                                        <a:srgbClr val="0070C0"/>
                                      </a:solidFill>
                                      <a:latin typeface="Cambria Math" panose="02040503050406030204" pitchFamily="18" charset="0"/>
                                      <a:cs typeface="Times New Roman" panose="02020603050405020304" pitchFamily="18" charset="0"/>
                                    </a:rPr>
                                  </m:ctrlPr>
                                </m:dPr>
                                <m:e>
                                  <m:r>
                                    <a:rPr lang="en-US" altLang="zh-TW" sz="2400" b="0" i="1" smtClean="0">
                                      <a:solidFill>
                                        <a:srgbClr val="0070C0"/>
                                      </a:solidFill>
                                      <a:latin typeface="Cambria Math" panose="02040503050406030204" pitchFamily="18" charset="0"/>
                                      <a:cs typeface="Times New Roman" panose="02020603050405020304" pitchFamily="18" charset="0"/>
                                    </a:rPr>
                                    <m:t>𝑠</m:t>
                                  </m:r>
                                </m:e>
                              </m:d>
                              <m:r>
                                <a:rPr lang="en-US" altLang="zh-TW" sz="2400" b="0" i="1" smtClean="0">
                                  <a:solidFill>
                                    <a:srgbClr val="0070C0"/>
                                  </a:solidFill>
                                  <a:latin typeface="Cambria Math" panose="02040503050406030204" pitchFamily="18" charset="0"/>
                                  <a:cs typeface="Times New Roman" panose="02020603050405020304" pitchFamily="18" charset="0"/>
                                </a:rPr>
                                <m:t>−3</m:t>
                              </m:r>
                            </m:num>
                            <m:den>
                              <m:r>
                                <a:rPr lang="en-US" altLang="zh-TW" sz="2400" b="0" i="1" smtClean="0">
                                  <a:solidFill>
                                    <a:srgbClr val="0070C0"/>
                                  </a:solidFill>
                                  <a:latin typeface="Cambria Math" panose="02040503050406030204" pitchFamily="18" charset="0"/>
                                  <a:cs typeface="Times New Roman" panose="02020603050405020304" pitchFamily="18" charset="0"/>
                                </a:rPr>
                                <m:t>2</m:t>
                              </m:r>
                            </m:den>
                          </m:f>
                        </m:e>
                      </m:d>
                      <m:r>
                        <a:rPr lang="en-US" altLang="zh-TW" sz="2400" b="0" i="1" smtClean="0">
                          <a:solidFill>
                            <a:srgbClr val="0070C0"/>
                          </a:solidFill>
                          <a:latin typeface="Cambria Math" panose="02040503050406030204" pitchFamily="18" charset="0"/>
                          <a:cs typeface="Times New Roman" panose="02020603050405020304" pitchFamily="18" charset="0"/>
                        </a:rPr>
                        <m:t>+1</m:t>
                      </m:r>
                    </m:oMath>
                  </m:oMathPara>
                </a14:m>
                <a:endParaRPr lang="en-US" altLang="zh-TW" sz="2000" dirty="0">
                  <a:latin typeface="Times New Roman" panose="02020603050405020304" pitchFamily="18" charset="0"/>
                  <a:cs typeface="Times New Roman" panose="02020603050405020304" pitchFamily="18" charset="0"/>
                </a:endParaRPr>
              </a:p>
            </p:txBody>
          </p:sp>
        </mc:Choice>
        <mc:Fallback xmlns="">
          <p:sp>
            <p:nvSpPr>
              <p:cNvPr id="9" name="標題 1">
                <a:extLst>
                  <a:ext uri="{FF2B5EF4-FFF2-40B4-BE49-F238E27FC236}">
                    <a16:creationId xmlns:a16="http://schemas.microsoft.com/office/drawing/2014/main" id="{003605E4-76B1-407E-B053-1A9609C6A242}"/>
                  </a:ext>
                </a:extLst>
              </p:cNvPr>
              <p:cNvSpPr txBox="1">
                <a:spLocks noRot="1" noChangeAspect="1" noMove="1" noResize="1" noEditPoints="1" noAdjustHandles="1" noChangeArrowheads="1" noChangeShapeType="1" noTextEdit="1"/>
              </p:cNvSpPr>
              <p:nvPr/>
            </p:nvSpPr>
            <p:spPr>
              <a:xfrm>
                <a:off x="1399822" y="1656931"/>
                <a:ext cx="5282472" cy="1419789"/>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7" name="矩形 16">
                <a:extLst>
                  <a:ext uri="{FF2B5EF4-FFF2-40B4-BE49-F238E27FC236}">
                    <a16:creationId xmlns:a16="http://schemas.microsoft.com/office/drawing/2014/main" id="{E5BEFF51-947A-4079-878D-6F359EB2880E}"/>
                  </a:ext>
                </a:extLst>
              </p:cNvPr>
              <p:cNvSpPr/>
              <p:nvPr/>
            </p:nvSpPr>
            <p:spPr>
              <a:xfrm>
                <a:off x="1951813" y="2691975"/>
                <a:ext cx="107939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solidFill>
                            <a:srgbClr val="FF0000"/>
                          </a:solidFill>
                          <a:latin typeface="Cambria Math" panose="02040503050406030204" pitchFamily="18" charset="0"/>
                          <a:cs typeface="Times New Roman" panose="02020603050405020304" pitchFamily="18" charset="0"/>
                        </a:rPr>
                        <m:t>(</m:t>
                      </m:r>
                      <m:r>
                        <a:rPr lang="en-US" altLang="zh-TW" b="0" i="1" smtClean="0">
                          <a:solidFill>
                            <a:srgbClr val="FF0000"/>
                          </a:solidFill>
                          <a:latin typeface="Cambria Math" panose="02040503050406030204" pitchFamily="18" charset="0"/>
                          <a:cs typeface="Times New Roman" panose="02020603050405020304" pitchFamily="18" charset="0"/>
                        </a:rPr>
                        <m:t>𝐿𝑜𝑤𝑒𝑟</m:t>
                      </m:r>
                      <m:r>
                        <a:rPr lang="en-US" altLang="zh-TW" b="0" i="1" smtClean="0">
                          <a:solidFill>
                            <a:srgbClr val="FF0000"/>
                          </a:solidFill>
                          <a:latin typeface="Cambria Math" panose="02040503050406030204" pitchFamily="18" charset="0"/>
                          <a:cs typeface="Times New Roman" panose="02020603050405020304" pitchFamily="18" charset="0"/>
                        </a:rPr>
                        <m:t>)</m:t>
                      </m:r>
                    </m:oMath>
                  </m:oMathPara>
                </a14:m>
                <a:endParaRPr lang="en-US" altLang="zh-TW" dirty="0">
                  <a:solidFill>
                    <a:srgbClr val="FF0000"/>
                  </a:solidFill>
                  <a:latin typeface="Times New Roman" panose="02020603050405020304" pitchFamily="18" charset="0"/>
                  <a:cs typeface="Times New Roman" panose="02020603050405020304" pitchFamily="18" charset="0"/>
                </a:endParaRPr>
              </a:p>
            </p:txBody>
          </p:sp>
        </mc:Choice>
        <mc:Fallback>
          <p:sp>
            <p:nvSpPr>
              <p:cNvPr id="17" name="矩形 16">
                <a:extLst>
                  <a:ext uri="{FF2B5EF4-FFF2-40B4-BE49-F238E27FC236}">
                    <a16:creationId xmlns:a16="http://schemas.microsoft.com/office/drawing/2014/main" id="{E5BEFF51-947A-4079-878D-6F359EB2880E}"/>
                  </a:ext>
                </a:extLst>
              </p:cNvPr>
              <p:cNvSpPr>
                <a:spLocks noRot="1" noChangeAspect="1" noMove="1" noResize="1" noEditPoints="1" noAdjustHandles="1" noChangeArrowheads="1" noChangeShapeType="1" noTextEdit="1"/>
              </p:cNvSpPr>
              <p:nvPr/>
            </p:nvSpPr>
            <p:spPr>
              <a:xfrm>
                <a:off x="1951813" y="2691975"/>
                <a:ext cx="1079398" cy="369332"/>
              </a:xfrm>
              <a:prstGeom prst="rect">
                <a:avLst/>
              </a:prstGeom>
              <a:blipFill>
                <a:blip r:embed="rId4"/>
                <a:stretch>
                  <a:fillRect b="-15000"/>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8" name="矩形 17">
                <a:extLst>
                  <a:ext uri="{FF2B5EF4-FFF2-40B4-BE49-F238E27FC236}">
                    <a16:creationId xmlns:a16="http://schemas.microsoft.com/office/drawing/2014/main" id="{6A62F7A1-1ECD-4DEB-9EC2-7D004CB164CC}"/>
                  </a:ext>
                </a:extLst>
              </p:cNvPr>
              <p:cNvSpPr/>
              <p:nvPr/>
            </p:nvSpPr>
            <p:spPr>
              <a:xfrm>
                <a:off x="5131893" y="2691975"/>
                <a:ext cx="107779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solidFill>
                            <a:srgbClr val="FF0000"/>
                          </a:solidFill>
                          <a:latin typeface="Cambria Math" panose="02040503050406030204" pitchFamily="18" charset="0"/>
                          <a:cs typeface="Times New Roman" panose="02020603050405020304" pitchFamily="18" charset="0"/>
                        </a:rPr>
                        <m:t>(</m:t>
                      </m:r>
                      <m:r>
                        <a:rPr lang="en-US" altLang="zh-TW" b="0" i="1" smtClean="0">
                          <a:solidFill>
                            <a:srgbClr val="FF0000"/>
                          </a:solidFill>
                          <a:latin typeface="Cambria Math" panose="02040503050406030204" pitchFamily="18" charset="0"/>
                          <a:cs typeface="Times New Roman" panose="02020603050405020304" pitchFamily="18" charset="0"/>
                        </a:rPr>
                        <m:t>𝑈𝑝𝑝𝑒𝑟</m:t>
                      </m:r>
                      <m:r>
                        <a:rPr lang="en-US" altLang="zh-TW" b="0" i="1" smtClean="0">
                          <a:solidFill>
                            <a:srgbClr val="FF0000"/>
                          </a:solidFill>
                          <a:latin typeface="Cambria Math" panose="02040503050406030204" pitchFamily="18" charset="0"/>
                          <a:cs typeface="Times New Roman" panose="02020603050405020304" pitchFamily="18" charset="0"/>
                        </a:rPr>
                        <m:t>)</m:t>
                      </m:r>
                    </m:oMath>
                  </m:oMathPara>
                </a14:m>
                <a:endParaRPr lang="en-US" altLang="zh-TW" dirty="0">
                  <a:solidFill>
                    <a:srgbClr val="FF0000"/>
                  </a:solidFill>
                  <a:latin typeface="Times New Roman" panose="02020603050405020304" pitchFamily="18" charset="0"/>
                  <a:cs typeface="Times New Roman" panose="02020603050405020304" pitchFamily="18" charset="0"/>
                </a:endParaRPr>
              </a:p>
            </p:txBody>
          </p:sp>
        </mc:Choice>
        <mc:Fallback>
          <p:sp>
            <p:nvSpPr>
              <p:cNvPr id="18" name="矩形 17">
                <a:extLst>
                  <a:ext uri="{FF2B5EF4-FFF2-40B4-BE49-F238E27FC236}">
                    <a16:creationId xmlns:a16="http://schemas.microsoft.com/office/drawing/2014/main" id="{6A62F7A1-1ECD-4DEB-9EC2-7D004CB164CC}"/>
                  </a:ext>
                </a:extLst>
              </p:cNvPr>
              <p:cNvSpPr>
                <a:spLocks noRot="1" noChangeAspect="1" noMove="1" noResize="1" noEditPoints="1" noAdjustHandles="1" noChangeArrowheads="1" noChangeShapeType="1" noTextEdit="1"/>
              </p:cNvSpPr>
              <p:nvPr/>
            </p:nvSpPr>
            <p:spPr>
              <a:xfrm>
                <a:off x="5131893" y="2691975"/>
                <a:ext cx="1077796" cy="369332"/>
              </a:xfrm>
              <a:prstGeom prst="rect">
                <a:avLst/>
              </a:prstGeom>
              <a:blipFill>
                <a:blip r:embed="rId5"/>
                <a:stretch>
                  <a:fillRect b="-1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16" name="表格 15">
                <a:extLst>
                  <a:ext uri="{FF2B5EF4-FFF2-40B4-BE49-F238E27FC236}">
                    <a16:creationId xmlns:a16="http://schemas.microsoft.com/office/drawing/2014/main" id="{8AFB6FB0-A8E2-43BE-9229-5F59B40ED5C1}"/>
                  </a:ext>
                </a:extLst>
              </p:cNvPr>
              <p:cNvGraphicFramePr>
                <a:graphicFrameLocks noGrp="1"/>
              </p:cNvGraphicFramePr>
              <p:nvPr>
                <p:extLst>
                  <p:ext uri="{D42A27DB-BD31-4B8C-83A1-F6EECF244321}">
                    <p14:modId xmlns:p14="http://schemas.microsoft.com/office/powerpoint/2010/main" val="132268717"/>
                  </p:ext>
                </p:extLst>
              </p:nvPr>
            </p:nvGraphicFramePr>
            <p:xfrm>
              <a:off x="2201334" y="4534167"/>
              <a:ext cx="4741331" cy="1188720"/>
            </p:xfrm>
            <a:graphic>
              <a:graphicData uri="http://schemas.openxmlformats.org/drawingml/2006/table">
                <a:tbl>
                  <a:tblPr firstRow="1" bandRow="1">
                    <a:tableStyleId>{5940675A-B579-460E-94D1-54222C63F5DA}</a:tableStyleId>
                  </a:tblPr>
                  <a:tblGrid>
                    <a:gridCol w="677333">
                      <a:extLst>
                        <a:ext uri="{9D8B030D-6E8A-4147-A177-3AD203B41FA5}">
                          <a16:colId xmlns:a16="http://schemas.microsoft.com/office/drawing/2014/main" val="2616301296"/>
                        </a:ext>
                      </a:extLst>
                    </a:gridCol>
                    <a:gridCol w="677333">
                      <a:extLst>
                        <a:ext uri="{9D8B030D-6E8A-4147-A177-3AD203B41FA5}">
                          <a16:colId xmlns:a16="http://schemas.microsoft.com/office/drawing/2014/main" val="126961617"/>
                        </a:ext>
                      </a:extLst>
                    </a:gridCol>
                    <a:gridCol w="677333">
                      <a:extLst>
                        <a:ext uri="{9D8B030D-6E8A-4147-A177-3AD203B41FA5}">
                          <a16:colId xmlns:a16="http://schemas.microsoft.com/office/drawing/2014/main" val="2634396870"/>
                        </a:ext>
                      </a:extLst>
                    </a:gridCol>
                    <a:gridCol w="677333">
                      <a:extLst>
                        <a:ext uri="{9D8B030D-6E8A-4147-A177-3AD203B41FA5}">
                          <a16:colId xmlns:a16="http://schemas.microsoft.com/office/drawing/2014/main" val="1291176962"/>
                        </a:ext>
                      </a:extLst>
                    </a:gridCol>
                    <a:gridCol w="677333">
                      <a:extLst>
                        <a:ext uri="{9D8B030D-6E8A-4147-A177-3AD203B41FA5}">
                          <a16:colId xmlns:a16="http://schemas.microsoft.com/office/drawing/2014/main" val="651979287"/>
                        </a:ext>
                      </a:extLst>
                    </a:gridCol>
                    <a:gridCol w="677333">
                      <a:extLst>
                        <a:ext uri="{9D8B030D-6E8A-4147-A177-3AD203B41FA5}">
                          <a16:colId xmlns:a16="http://schemas.microsoft.com/office/drawing/2014/main" val="80234941"/>
                        </a:ext>
                      </a:extLst>
                    </a:gridCol>
                    <a:gridCol w="677333">
                      <a:extLst>
                        <a:ext uri="{9D8B030D-6E8A-4147-A177-3AD203B41FA5}">
                          <a16:colId xmlns:a16="http://schemas.microsoft.com/office/drawing/2014/main" val="2981945742"/>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𝑠</m:t>
                                </m:r>
                                <m:r>
                                  <a:rPr lang="en-US" altLang="zh-TW" sz="2000" b="0" i="1" smtClean="0">
                                    <a:latin typeface="Cambria Math" panose="02040503050406030204" pitchFamily="18" charset="0"/>
                                  </a:rPr>
                                  <m:t>|</m:t>
                                </m:r>
                              </m:oMath>
                            </m:oMathPara>
                          </a14:m>
                          <a:endParaRPr lang="zh-TW" altLang="en-US" sz="2000" dirty="0"/>
                        </a:p>
                      </a:txBody>
                      <a:tcPr anchor="ctr"/>
                    </a:tc>
                    <a:tc>
                      <a:txBody>
                        <a:bodyPr/>
                        <a:lstStyle/>
                        <a:p>
                          <a:pPr algn="ctr"/>
                          <a:r>
                            <a:rPr lang="en-US" altLang="zh-TW" sz="2000" dirty="0"/>
                            <a:t>5</a:t>
                          </a:r>
                          <a:endParaRPr lang="zh-TW" altLang="en-US" sz="2000" dirty="0"/>
                        </a:p>
                      </a:txBody>
                      <a:tcPr anchor="ctr"/>
                    </a:tc>
                    <a:tc>
                      <a:txBody>
                        <a:bodyPr/>
                        <a:lstStyle/>
                        <a:p>
                          <a:pPr algn="ctr"/>
                          <a:r>
                            <a:rPr lang="en-US" altLang="zh-TW" sz="2000" dirty="0"/>
                            <a:t>6</a:t>
                          </a:r>
                          <a:endParaRPr lang="zh-TW" altLang="en-US" sz="2000" dirty="0"/>
                        </a:p>
                      </a:txBody>
                      <a:tcPr anchor="ctr"/>
                    </a:tc>
                    <a:tc>
                      <a:txBody>
                        <a:bodyPr/>
                        <a:lstStyle/>
                        <a:p>
                          <a:pPr algn="ctr"/>
                          <a:r>
                            <a:rPr lang="en-US" altLang="zh-TW" sz="2000" dirty="0"/>
                            <a:t>7</a:t>
                          </a:r>
                          <a:endParaRPr lang="zh-TW" altLang="en-US" sz="2000" dirty="0"/>
                        </a:p>
                      </a:txBody>
                      <a:tcPr anchor="ctr"/>
                    </a:tc>
                    <a:tc>
                      <a:txBody>
                        <a:bodyPr/>
                        <a:lstStyle/>
                        <a:p>
                          <a:pPr algn="ctr"/>
                          <a:r>
                            <a:rPr lang="en-US" altLang="zh-TW" sz="2000" dirty="0"/>
                            <a:t>8</a:t>
                          </a:r>
                          <a:endParaRPr lang="zh-TW" altLang="en-US" sz="2000" dirty="0"/>
                        </a:p>
                      </a:txBody>
                      <a:tcPr anchor="ctr"/>
                    </a:tc>
                    <a:tc>
                      <a:txBody>
                        <a:bodyPr/>
                        <a:lstStyle/>
                        <a:p>
                          <a:pPr algn="ctr"/>
                          <a:r>
                            <a:rPr lang="en-US" altLang="zh-TW" sz="2000" dirty="0"/>
                            <a:t>9</a:t>
                          </a:r>
                          <a:endParaRPr lang="zh-TW" altLang="en-US" sz="2000" dirty="0"/>
                        </a:p>
                      </a:txBody>
                      <a:tcPr anchor="ctr"/>
                    </a:tc>
                    <a:tc>
                      <a:txBody>
                        <a:bodyPr/>
                        <a:lstStyle/>
                        <a:p>
                          <a:pPr algn="ctr"/>
                          <a:r>
                            <a:rPr lang="en-US" altLang="zh-TW" sz="2000" dirty="0"/>
                            <a:t>10</a:t>
                          </a:r>
                          <a:endParaRPr lang="zh-TW" altLang="en-US" sz="2000" dirty="0"/>
                        </a:p>
                      </a:txBody>
                      <a:tcPr anchor="ctr"/>
                    </a:tc>
                    <a:extLst>
                      <a:ext uri="{0D108BD9-81ED-4DB2-BD59-A6C34878D82A}">
                        <a16:rowId xmlns:a16="http://schemas.microsoft.com/office/drawing/2014/main" val="1967640266"/>
                      </a:ext>
                    </a:extLst>
                  </a:tr>
                  <a:tr h="370840">
                    <a:tc>
                      <a:txBody>
                        <a:bodyPr/>
                        <a:lstStyle/>
                        <a:p>
                          <a:pPr algn="ctr"/>
                          <a14:m>
                            <m:oMath xmlns:m="http://schemas.openxmlformats.org/officeDocument/2006/math">
                              <m:r>
                                <m:rPr>
                                  <m:sty m:val="p"/>
                                </m:rPr>
                                <a:rPr lang="en-US" altLang="zh-TW" sz="2000" b="0" i="1" smtClean="0">
                                  <a:latin typeface="Cambria Math" panose="02040503050406030204" pitchFamily="18" charset="0"/>
                                </a:rPr>
                                <m:t>L</m:t>
                              </m:r>
                            </m:oMath>
                          </a14:m>
                          <a:r>
                            <a:rPr lang="en-US" altLang="zh-TW" sz="2000" dirty="0"/>
                            <a:t>B</a:t>
                          </a:r>
                          <a:endParaRPr lang="zh-TW" altLang="en-US" sz="2000" dirty="0"/>
                        </a:p>
                      </a:txBody>
                      <a:tcPr anchor="ctr"/>
                    </a:tc>
                    <a:tc>
                      <a:txBody>
                        <a:bodyPr/>
                        <a:lstStyle/>
                        <a:p>
                          <a:pPr algn="ctr"/>
                          <a:r>
                            <a:rPr lang="en-US" altLang="zh-TW" sz="2000" dirty="0"/>
                            <a:t>1</a:t>
                          </a:r>
                          <a:endParaRPr lang="zh-TW" altLang="en-US" sz="2000" dirty="0"/>
                        </a:p>
                      </a:txBody>
                      <a:tcPr anchor="ctr"/>
                    </a:tc>
                    <a:tc>
                      <a:txBody>
                        <a:bodyPr/>
                        <a:lstStyle/>
                        <a:p>
                          <a:pPr algn="ctr"/>
                          <a:r>
                            <a:rPr lang="en-US" altLang="zh-TW" sz="2000" dirty="0"/>
                            <a:t>2</a:t>
                          </a:r>
                          <a:endParaRPr lang="zh-TW" altLang="en-US" sz="2000" dirty="0"/>
                        </a:p>
                      </a:txBody>
                      <a:tcPr anchor="ctr"/>
                    </a:tc>
                    <a:tc>
                      <a:txBody>
                        <a:bodyPr/>
                        <a:lstStyle/>
                        <a:p>
                          <a:pPr algn="ctr"/>
                          <a:r>
                            <a:rPr lang="en-US" altLang="zh-TW" sz="2000" dirty="0"/>
                            <a:t>2</a:t>
                          </a:r>
                          <a:endParaRPr lang="zh-TW" altLang="en-US" sz="2000" dirty="0"/>
                        </a:p>
                      </a:txBody>
                      <a:tcPr anchor="ctr"/>
                    </a:tc>
                    <a:tc>
                      <a:txBody>
                        <a:bodyPr/>
                        <a:lstStyle/>
                        <a:p>
                          <a:pPr algn="ctr"/>
                          <a:r>
                            <a:rPr lang="en-US" altLang="zh-TW" sz="2000" dirty="0"/>
                            <a:t>3</a:t>
                          </a:r>
                          <a:endParaRPr lang="zh-TW" altLang="en-US" sz="2000" dirty="0"/>
                        </a:p>
                      </a:txBody>
                      <a:tcPr anchor="ctr"/>
                    </a:tc>
                    <a:tc>
                      <a:txBody>
                        <a:bodyPr/>
                        <a:lstStyle/>
                        <a:p>
                          <a:pPr algn="ctr"/>
                          <a:r>
                            <a:rPr lang="en-US" altLang="zh-TW" sz="2000" dirty="0"/>
                            <a:t>3</a:t>
                          </a:r>
                          <a:endParaRPr lang="zh-TW" altLang="en-US" sz="2000" dirty="0"/>
                        </a:p>
                      </a:txBody>
                      <a:tcPr anchor="ctr"/>
                    </a:tc>
                    <a:tc>
                      <a:txBody>
                        <a:bodyPr/>
                        <a:lstStyle/>
                        <a:p>
                          <a:pPr algn="ctr"/>
                          <a:r>
                            <a:rPr lang="en-US" altLang="zh-TW" sz="2000" dirty="0"/>
                            <a:t>4</a:t>
                          </a:r>
                          <a:endParaRPr lang="zh-TW" altLang="en-US" sz="2000" dirty="0"/>
                        </a:p>
                      </a:txBody>
                      <a:tcPr anchor="ctr"/>
                    </a:tc>
                    <a:extLst>
                      <a:ext uri="{0D108BD9-81ED-4DB2-BD59-A6C34878D82A}">
                        <a16:rowId xmlns:a16="http://schemas.microsoft.com/office/drawing/2014/main" val="3398489603"/>
                      </a:ext>
                    </a:extLst>
                  </a:tr>
                  <a:tr h="370840">
                    <a:tc>
                      <a:txBody>
                        <a:bodyPr/>
                        <a:lstStyle/>
                        <a:p>
                          <a:pPr algn="ctr"/>
                          <a:r>
                            <a:rPr lang="en-US" altLang="zh-TW" sz="2000" dirty="0"/>
                            <a:t>UB</a:t>
                          </a:r>
                          <a:endParaRPr lang="zh-TW" altLang="en-US" sz="2000" dirty="0"/>
                        </a:p>
                      </a:txBody>
                      <a:tcPr anchor="ctr"/>
                    </a:tc>
                    <a:tc>
                      <a:txBody>
                        <a:bodyPr/>
                        <a:lstStyle/>
                        <a:p>
                          <a:pPr algn="ctr"/>
                          <a:r>
                            <a:rPr lang="en-US" altLang="zh-TW" sz="2000" dirty="0"/>
                            <a:t>2</a:t>
                          </a:r>
                          <a:endParaRPr lang="zh-TW" altLang="en-US" sz="2000" dirty="0"/>
                        </a:p>
                      </a:txBody>
                      <a:tcPr anchor="ctr"/>
                    </a:tc>
                    <a:tc>
                      <a:txBody>
                        <a:bodyPr/>
                        <a:lstStyle/>
                        <a:p>
                          <a:pPr algn="ctr"/>
                          <a:r>
                            <a:rPr lang="en-US" altLang="zh-TW" sz="2000" dirty="0"/>
                            <a:t>3</a:t>
                          </a:r>
                          <a:endParaRPr lang="zh-TW" altLang="en-US" sz="2000" dirty="0"/>
                        </a:p>
                      </a:txBody>
                      <a:tcPr anchor="ctr"/>
                    </a:tc>
                    <a:tc>
                      <a:txBody>
                        <a:bodyPr/>
                        <a:lstStyle/>
                        <a:p>
                          <a:pPr algn="ctr"/>
                          <a:r>
                            <a:rPr lang="en-US" altLang="zh-TW" sz="2000" dirty="0"/>
                            <a:t>3</a:t>
                          </a:r>
                          <a:endParaRPr lang="zh-TW" altLang="en-US" sz="2000" dirty="0"/>
                        </a:p>
                      </a:txBody>
                      <a:tcPr anchor="ctr"/>
                    </a:tc>
                    <a:tc>
                      <a:txBody>
                        <a:bodyPr/>
                        <a:lstStyle/>
                        <a:p>
                          <a:pPr algn="ctr"/>
                          <a:r>
                            <a:rPr lang="en-US" altLang="zh-TW" sz="2000" dirty="0"/>
                            <a:t>4</a:t>
                          </a:r>
                          <a:endParaRPr lang="zh-TW" altLang="en-US" sz="2000" dirty="0"/>
                        </a:p>
                      </a:txBody>
                      <a:tcPr anchor="ctr"/>
                    </a:tc>
                    <a:tc>
                      <a:txBody>
                        <a:bodyPr/>
                        <a:lstStyle/>
                        <a:p>
                          <a:pPr algn="ctr"/>
                          <a:r>
                            <a:rPr lang="en-US" altLang="zh-TW" sz="2000" dirty="0"/>
                            <a:t>4</a:t>
                          </a:r>
                          <a:endParaRPr lang="zh-TW" altLang="en-US" sz="2000" dirty="0"/>
                        </a:p>
                      </a:txBody>
                      <a:tcPr anchor="ctr"/>
                    </a:tc>
                    <a:tc>
                      <a:txBody>
                        <a:bodyPr/>
                        <a:lstStyle/>
                        <a:p>
                          <a:pPr algn="ctr"/>
                          <a:r>
                            <a:rPr lang="en-US" altLang="zh-TW" sz="2000" dirty="0"/>
                            <a:t>5</a:t>
                          </a:r>
                          <a:endParaRPr lang="zh-TW" altLang="en-US" sz="2000" dirty="0"/>
                        </a:p>
                      </a:txBody>
                      <a:tcPr anchor="ctr"/>
                    </a:tc>
                    <a:extLst>
                      <a:ext uri="{0D108BD9-81ED-4DB2-BD59-A6C34878D82A}">
                        <a16:rowId xmlns:a16="http://schemas.microsoft.com/office/drawing/2014/main" val="3431404441"/>
                      </a:ext>
                    </a:extLst>
                  </a:tr>
                </a:tbl>
              </a:graphicData>
            </a:graphic>
          </p:graphicFrame>
        </mc:Choice>
        <mc:Fallback xmlns="">
          <p:graphicFrame>
            <p:nvGraphicFramePr>
              <p:cNvPr id="16" name="表格 15">
                <a:extLst>
                  <a:ext uri="{FF2B5EF4-FFF2-40B4-BE49-F238E27FC236}">
                    <a16:creationId xmlns:a16="http://schemas.microsoft.com/office/drawing/2014/main" id="{8AFB6FB0-A8E2-43BE-9229-5F59B40ED5C1}"/>
                  </a:ext>
                </a:extLst>
              </p:cNvPr>
              <p:cNvGraphicFramePr>
                <a:graphicFrameLocks noGrp="1"/>
              </p:cNvGraphicFramePr>
              <p:nvPr>
                <p:extLst>
                  <p:ext uri="{D42A27DB-BD31-4B8C-83A1-F6EECF244321}">
                    <p14:modId xmlns:p14="http://schemas.microsoft.com/office/powerpoint/2010/main" val="132268717"/>
                  </p:ext>
                </p:extLst>
              </p:nvPr>
            </p:nvGraphicFramePr>
            <p:xfrm>
              <a:off x="2201334" y="4534167"/>
              <a:ext cx="4741331" cy="1188720"/>
            </p:xfrm>
            <a:graphic>
              <a:graphicData uri="http://schemas.openxmlformats.org/drawingml/2006/table">
                <a:tbl>
                  <a:tblPr firstRow="1" bandRow="1">
                    <a:tableStyleId>{5940675A-B579-460E-94D1-54222C63F5DA}</a:tableStyleId>
                  </a:tblPr>
                  <a:tblGrid>
                    <a:gridCol w="677333">
                      <a:extLst>
                        <a:ext uri="{9D8B030D-6E8A-4147-A177-3AD203B41FA5}">
                          <a16:colId xmlns:a16="http://schemas.microsoft.com/office/drawing/2014/main" val="2616301296"/>
                        </a:ext>
                      </a:extLst>
                    </a:gridCol>
                    <a:gridCol w="677333">
                      <a:extLst>
                        <a:ext uri="{9D8B030D-6E8A-4147-A177-3AD203B41FA5}">
                          <a16:colId xmlns:a16="http://schemas.microsoft.com/office/drawing/2014/main" val="126961617"/>
                        </a:ext>
                      </a:extLst>
                    </a:gridCol>
                    <a:gridCol w="677333">
                      <a:extLst>
                        <a:ext uri="{9D8B030D-6E8A-4147-A177-3AD203B41FA5}">
                          <a16:colId xmlns:a16="http://schemas.microsoft.com/office/drawing/2014/main" val="2634396870"/>
                        </a:ext>
                      </a:extLst>
                    </a:gridCol>
                    <a:gridCol w="677333">
                      <a:extLst>
                        <a:ext uri="{9D8B030D-6E8A-4147-A177-3AD203B41FA5}">
                          <a16:colId xmlns:a16="http://schemas.microsoft.com/office/drawing/2014/main" val="1291176962"/>
                        </a:ext>
                      </a:extLst>
                    </a:gridCol>
                    <a:gridCol w="677333">
                      <a:extLst>
                        <a:ext uri="{9D8B030D-6E8A-4147-A177-3AD203B41FA5}">
                          <a16:colId xmlns:a16="http://schemas.microsoft.com/office/drawing/2014/main" val="651979287"/>
                        </a:ext>
                      </a:extLst>
                    </a:gridCol>
                    <a:gridCol w="677333">
                      <a:extLst>
                        <a:ext uri="{9D8B030D-6E8A-4147-A177-3AD203B41FA5}">
                          <a16:colId xmlns:a16="http://schemas.microsoft.com/office/drawing/2014/main" val="80234941"/>
                        </a:ext>
                      </a:extLst>
                    </a:gridCol>
                    <a:gridCol w="677333">
                      <a:extLst>
                        <a:ext uri="{9D8B030D-6E8A-4147-A177-3AD203B41FA5}">
                          <a16:colId xmlns:a16="http://schemas.microsoft.com/office/drawing/2014/main" val="2981945742"/>
                        </a:ext>
                      </a:extLst>
                    </a:gridCol>
                  </a:tblGrid>
                  <a:tr h="396240">
                    <a:tc>
                      <a:txBody>
                        <a:bodyPr/>
                        <a:lstStyle/>
                        <a:p>
                          <a:endParaRPr lang="zh-TW"/>
                        </a:p>
                      </a:txBody>
                      <a:tcPr anchor="ctr">
                        <a:blipFill>
                          <a:blip r:embed="rId6"/>
                          <a:stretch>
                            <a:fillRect l="-901" t="-7692" r="-602703" b="-229231"/>
                          </a:stretch>
                        </a:blipFill>
                      </a:tcPr>
                    </a:tc>
                    <a:tc>
                      <a:txBody>
                        <a:bodyPr/>
                        <a:lstStyle/>
                        <a:p>
                          <a:pPr algn="ctr"/>
                          <a:r>
                            <a:rPr lang="en-US" altLang="zh-TW" sz="2000" dirty="0"/>
                            <a:t>5</a:t>
                          </a:r>
                          <a:endParaRPr lang="zh-TW" altLang="en-US" sz="2000" dirty="0"/>
                        </a:p>
                      </a:txBody>
                      <a:tcPr anchor="ctr"/>
                    </a:tc>
                    <a:tc>
                      <a:txBody>
                        <a:bodyPr/>
                        <a:lstStyle/>
                        <a:p>
                          <a:pPr algn="ctr"/>
                          <a:r>
                            <a:rPr lang="en-US" altLang="zh-TW" sz="2000" dirty="0"/>
                            <a:t>6</a:t>
                          </a:r>
                          <a:endParaRPr lang="zh-TW" altLang="en-US" sz="2000" dirty="0"/>
                        </a:p>
                      </a:txBody>
                      <a:tcPr anchor="ctr"/>
                    </a:tc>
                    <a:tc>
                      <a:txBody>
                        <a:bodyPr/>
                        <a:lstStyle/>
                        <a:p>
                          <a:pPr algn="ctr"/>
                          <a:r>
                            <a:rPr lang="en-US" altLang="zh-TW" sz="2000" dirty="0"/>
                            <a:t>7</a:t>
                          </a:r>
                          <a:endParaRPr lang="zh-TW" altLang="en-US" sz="2000" dirty="0"/>
                        </a:p>
                      </a:txBody>
                      <a:tcPr anchor="ctr"/>
                    </a:tc>
                    <a:tc>
                      <a:txBody>
                        <a:bodyPr/>
                        <a:lstStyle/>
                        <a:p>
                          <a:pPr algn="ctr"/>
                          <a:r>
                            <a:rPr lang="en-US" altLang="zh-TW" sz="2000" dirty="0"/>
                            <a:t>8</a:t>
                          </a:r>
                          <a:endParaRPr lang="zh-TW" altLang="en-US" sz="2000" dirty="0"/>
                        </a:p>
                      </a:txBody>
                      <a:tcPr anchor="ctr"/>
                    </a:tc>
                    <a:tc>
                      <a:txBody>
                        <a:bodyPr/>
                        <a:lstStyle/>
                        <a:p>
                          <a:pPr algn="ctr"/>
                          <a:r>
                            <a:rPr lang="en-US" altLang="zh-TW" sz="2000" dirty="0"/>
                            <a:t>9</a:t>
                          </a:r>
                          <a:endParaRPr lang="zh-TW" altLang="en-US" sz="2000" dirty="0"/>
                        </a:p>
                      </a:txBody>
                      <a:tcPr anchor="ctr"/>
                    </a:tc>
                    <a:tc>
                      <a:txBody>
                        <a:bodyPr/>
                        <a:lstStyle/>
                        <a:p>
                          <a:pPr algn="ctr"/>
                          <a:r>
                            <a:rPr lang="en-US" altLang="zh-TW" sz="2000" dirty="0"/>
                            <a:t>10</a:t>
                          </a:r>
                          <a:endParaRPr lang="zh-TW" altLang="en-US" sz="2000" dirty="0"/>
                        </a:p>
                      </a:txBody>
                      <a:tcPr anchor="ctr"/>
                    </a:tc>
                    <a:extLst>
                      <a:ext uri="{0D108BD9-81ED-4DB2-BD59-A6C34878D82A}">
                        <a16:rowId xmlns:a16="http://schemas.microsoft.com/office/drawing/2014/main" val="1967640266"/>
                      </a:ext>
                    </a:extLst>
                  </a:tr>
                  <a:tr h="396240">
                    <a:tc>
                      <a:txBody>
                        <a:bodyPr/>
                        <a:lstStyle/>
                        <a:p>
                          <a:endParaRPr lang="zh-TW"/>
                        </a:p>
                      </a:txBody>
                      <a:tcPr anchor="ctr">
                        <a:blipFill>
                          <a:blip r:embed="rId6"/>
                          <a:stretch>
                            <a:fillRect l="-901" t="-106061" r="-602703" b="-125758"/>
                          </a:stretch>
                        </a:blipFill>
                      </a:tcPr>
                    </a:tc>
                    <a:tc>
                      <a:txBody>
                        <a:bodyPr/>
                        <a:lstStyle/>
                        <a:p>
                          <a:pPr algn="ctr"/>
                          <a:r>
                            <a:rPr lang="en-US" altLang="zh-TW" sz="2000" dirty="0"/>
                            <a:t>1</a:t>
                          </a:r>
                          <a:endParaRPr lang="zh-TW" altLang="en-US" sz="2000" dirty="0"/>
                        </a:p>
                      </a:txBody>
                      <a:tcPr anchor="ctr"/>
                    </a:tc>
                    <a:tc>
                      <a:txBody>
                        <a:bodyPr/>
                        <a:lstStyle/>
                        <a:p>
                          <a:pPr algn="ctr"/>
                          <a:r>
                            <a:rPr lang="en-US" altLang="zh-TW" sz="2000" dirty="0"/>
                            <a:t>2</a:t>
                          </a:r>
                          <a:endParaRPr lang="zh-TW" altLang="en-US" sz="2000" dirty="0"/>
                        </a:p>
                      </a:txBody>
                      <a:tcPr anchor="ctr"/>
                    </a:tc>
                    <a:tc>
                      <a:txBody>
                        <a:bodyPr/>
                        <a:lstStyle/>
                        <a:p>
                          <a:pPr algn="ctr"/>
                          <a:r>
                            <a:rPr lang="en-US" altLang="zh-TW" sz="2000" dirty="0"/>
                            <a:t>2</a:t>
                          </a:r>
                          <a:endParaRPr lang="zh-TW" altLang="en-US" sz="2000" dirty="0"/>
                        </a:p>
                      </a:txBody>
                      <a:tcPr anchor="ctr"/>
                    </a:tc>
                    <a:tc>
                      <a:txBody>
                        <a:bodyPr/>
                        <a:lstStyle/>
                        <a:p>
                          <a:pPr algn="ctr"/>
                          <a:r>
                            <a:rPr lang="en-US" altLang="zh-TW" sz="2000" dirty="0"/>
                            <a:t>3</a:t>
                          </a:r>
                          <a:endParaRPr lang="zh-TW" altLang="en-US" sz="2000" dirty="0"/>
                        </a:p>
                      </a:txBody>
                      <a:tcPr anchor="ctr"/>
                    </a:tc>
                    <a:tc>
                      <a:txBody>
                        <a:bodyPr/>
                        <a:lstStyle/>
                        <a:p>
                          <a:pPr algn="ctr"/>
                          <a:r>
                            <a:rPr lang="en-US" altLang="zh-TW" sz="2000" dirty="0"/>
                            <a:t>3</a:t>
                          </a:r>
                          <a:endParaRPr lang="zh-TW" altLang="en-US" sz="2000" dirty="0"/>
                        </a:p>
                      </a:txBody>
                      <a:tcPr anchor="ctr"/>
                    </a:tc>
                    <a:tc>
                      <a:txBody>
                        <a:bodyPr/>
                        <a:lstStyle/>
                        <a:p>
                          <a:pPr algn="ctr"/>
                          <a:r>
                            <a:rPr lang="en-US" altLang="zh-TW" sz="2000" dirty="0"/>
                            <a:t>4</a:t>
                          </a:r>
                          <a:endParaRPr lang="zh-TW" altLang="en-US" sz="2000" dirty="0"/>
                        </a:p>
                      </a:txBody>
                      <a:tcPr anchor="ctr"/>
                    </a:tc>
                    <a:extLst>
                      <a:ext uri="{0D108BD9-81ED-4DB2-BD59-A6C34878D82A}">
                        <a16:rowId xmlns:a16="http://schemas.microsoft.com/office/drawing/2014/main" val="3398489603"/>
                      </a:ext>
                    </a:extLst>
                  </a:tr>
                  <a:tr h="396240">
                    <a:tc>
                      <a:txBody>
                        <a:bodyPr/>
                        <a:lstStyle/>
                        <a:p>
                          <a:pPr algn="ctr"/>
                          <a:r>
                            <a:rPr lang="en-US" altLang="zh-TW" sz="2000" dirty="0"/>
                            <a:t>UB</a:t>
                          </a:r>
                          <a:endParaRPr lang="zh-TW" altLang="en-US" sz="2000" dirty="0"/>
                        </a:p>
                      </a:txBody>
                      <a:tcPr anchor="ctr"/>
                    </a:tc>
                    <a:tc>
                      <a:txBody>
                        <a:bodyPr/>
                        <a:lstStyle/>
                        <a:p>
                          <a:pPr algn="ctr"/>
                          <a:r>
                            <a:rPr lang="en-US" altLang="zh-TW" sz="2000" dirty="0"/>
                            <a:t>2</a:t>
                          </a:r>
                          <a:endParaRPr lang="zh-TW" altLang="en-US" sz="2000" dirty="0"/>
                        </a:p>
                      </a:txBody>
                      <a:tcPr anchor="ctr"/>
                    </a:tc>
                    <a:tc>
                      <a:txBody>
                        <a:bodyPr/>
                        <a:lstStyle/>
                        <a:p>
                          <a:pPr algn="ctr"/>
                          <a:r>
                            <a:rPr lang="en-US" altLang="zh-TW" sz="2000" dirty="0"/>
                            <a:t>3</a:t>
                          </a:r>
                          <a:endParaRPr lang="zh-TW" altLang="en-US" sz="2000" dirty="0"/>
                        </a:p>
                      </a:txBody>
                      <a:tcPr anchor="ctr"/>
                    </a:tc>
                    <a:tc>
                      <a:txBody>
                        <a:bodyPr/>
                        <a:lstStyle/>
                        <a:p>
                          <a:pPr algn="ctr"/>
                          <a:r>
                            <a:rPr lang="en-US" altLang="zh-TW" sz="2000" dirty="0"/>
                            <a:t>3</a:t>
                          </a:r>
                          <a:endParaRPr lang="zh-TW" altLang="en-US" sz="2000" dirty="0"/>
                        </a:p>
                      </a:txBody>
                      <a:tcPr anchor="ctr"/>
                    </a:tc>
                    <a:tc>
                      <a:txBody>
                        <a:bodyPr/>
                        <a:lstStyle/>
                        <a:p>
                          <a:pPr algn="ctr"/>
                          <a:r>
                            <a:rPr lang="en-US" altLang="zh-TW" sz="2000" dirty="0"/>
                            <a:t>4</a:t>
                          </a:r>
                          <a:endParaRPr lang="zh-TW" altLang="en-US" sz="2000" dirty="0"/>
                        </a:p>
                      </a:txBody>
                      <a:tcPr anchor="ctr"/>
                    </a:tc>
                    <a:tc>
                      <a:txBody>
                        <a:bodyPr/>
                        <a:lstStyle/>
                        <a:p>
                          <a:pPr algn="ctr"/>
                          <a:r>
                            <a:rPr lang="en-US" altLang="zh-TW" sz="2000" dirty="0"/>
                            <a:t>4</a:t>
                          </a:r>
                          <a:endParaRPr lang="zh-TW" altLang="en-US" sz="2000" dirty="0"/>
                        </a:p>
                      </a:txBody>
                      <a:tcPr anchor="ctr"/>
                    </a:tc>
                    <a:tc>
                      <a:txBody>
                        <a:bodyPr/>
                        <a:lstStyle/>
                        <a:p>
                          <a:pPr algn="ctr"/>
                          <a:r>
                            <a:rPr lang="en-US" altLang="zh-TW" sz="2000" dirty="0"/>
                            <a:t>5</a:t>
                          </a:r>
                          <a:endParaRPr lang="zh-TW" altLang="en-US" sz="2000" dirty="0"/>
                        </a:p>
                      </a:txBody>
                      <a:tcPr anchor="ctr"/>
                    </a:tc>
                    <a:extLst>
                      <a:ext uri="{0D108BD9-81ED-4DB2-BD59-A6C34878D82A}">
                        <a16:rowId xmlns:a16="http://schemas.microsoft.com/office/drawing/2014/main" val="3431404441"/>
                      </a:ext>
                    </a:extLst>
                  </a:tr>
                </a:tbl>
              </a:graphicData>
            </a:graphic>
          </p:graphicFrame>
        </mc:Fallback>
      </mc:AlternateContent>
      <p:sp>
        <p:nvSpPr>
          <p:cNvPr id="20" name="標題 1">
            <a:extLst>
              <a:ext uri="{FF2B5EF4-FFF2-40B4-BE49-F238E27FC236}">
                <a16:creationId xmlns:a16="http://schemas.microsoft.com/office/drawing/2014/main" id="{80527401-C704-4630-84DA-9749F7E14BB1}"/>
              </a:ext>
            </a:extLst>
          </p:cNvPr>
          <p:cNvSpPr txBox="1">
            <a:spLocks/>
          </p:cNvSpPr>
          <p:nvPr/>
        </p:nvSpPr>
        <p:spPr>
          <a:xfrm>
            <a:off x="664315" y="1678336"/>
            <a:ext cx="814893" cy="239661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altLang="zh-TW" sz="12000" dirty="0">
                <a:solidFill>
                  <a:srgbClr val="0070C0"/>
                </a:solidFill>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21" name="標題 1">
                <a:extLst>
                  <a:ext uri="{FF2B5EF4-FFF2-40B4-BE49-F238E27FC236}">
                    <a16:creationId xmlns:a16="http://schemas.microsoft.com/office/drawing/2014/main" id="{68AD3ED4-4629-4BFB-9B2A-40D1100E557C}"/>
                  </a:ext>
                </a:extLst>
              </p:cNvPr>
              <p:cNvSpPr txBox="1">
                <a:spLocks/>
              </p:cNvSpPr>
              <p:nvPr/>
            </p:nvSpPr>
            <p:spPr>
              <a:xfrm>
                <a:off x="1549436" y="3016433"/>
                <a:ext cx="1884152" cy="14197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TW" sz="2400" b="0" i="1" smtClean="0">
                              <a:solidFill>
                                <a:srgbClr val="0070C0"/>
                              </a:solidFill>
                              <a:latin typeface="Cambria Math" panose="02040503050406030204" pitchFamily="18" charset="0"/>
                              <a:cs typeface="Times New Roman" panose="02020603050405020304" pitchFamily="18" charset="0"/>
                            </a:rPr>
                          </m:ctrlPr>
                        </m:sSubPr>
                        <m:e>
                          <m:r>
                            <a:rPr lang="en-US" altLang="zh-TW" sz="2400" b="0" i="1" smtClean="0">
                              <a:solidFill>
                                <a:srgbClr val="0070C0"/>
                              </a:solidFill>
                              <a:latin typeface="Cambria Math" panose="02040503050406030204" pitchFamily="18" charset="0"/>
                              <a:cs typeface="Times New Roman" panose="02020603050405020304" pitchFamily="18" charset="0"/>
                            </a:rPr>
                            <m:t>𝑑</m:t>
                          </m:r>
                        </m:e>
                        <m:sub>
                          <m:r>
                            <a:rPr lang="en-US" altLang="zh-TW" sz="2400" b="0" i="1" smtClean="0">
                              <a:solidFill>
                                <a:srgbClr val="0070C0"/>
                              </a:solidFill>
                              <a:latin typeface="Cambria Math" panose="02040503050406030204" pitchFamily="18" charset="0"/>
                              <a:cs typeface="Times New Roman" panose="02020603050405020304" pitchFamily="18" charset="0"/>
                            </a:rPr>
                            <m:t>𝑔</m:t>
                          </m:r>
                        </m:sub>
                      </m:sSub>
                      <m:d>
                        <m:dPr>
                          <m:ctrlPr>
                            <a:rPr lang="en-US" altLang="zh-TW" sz="2400" b="0" i="1" smtClean="0">
                              <a:solidFill>
                                <a:srgbClr val="0070C0"/>
                              </a:solidFill>
                              <a:latin typeface="Cambria Math" panose="02040503050406030204" pitchFamily="18" charset="0"/>
                              <a:cs typeface="Times New Roman" panose="02020603050405020304" pitchFamily="18" charset="0"/>
                            </a:rPr>
                          </m:ctrlPr>
                        </m:dPr>
                        <m:e>
                          <m:r>
                            <a:rPr lang="en-US" altLang="zh-TW" sz="2400" b="0" i="1" smtClean="0">
                              <a:solidFill>
                                <a:srgbClr val="0070C0"/>
                              </a:solidFill>
                              <a:latin typeface="Cambria Math" panose="02040503050406030204" pitchFamily="18" charset="0"/>
                              <a:cs typeface="Times New Roman" panose="02020603050405020304" pitchFamily="18" charset="0"/>
                            </a:rPr>
                            <m:t>𝑠</m:t>
                          </m:r>
                        </m:e>
                      </m:d>
                      <m:r>
                        <a:rPr lang="en-US" altLang="zh-TW" sz="2400" b="0" i="1" smtClean="0">
                          <a:solidFill>
                            <a:srgbClr val="0070C0"/>
                          </a:solidFill>
                          <a:latin typeface="Cambria Math" panose="02040503050406030204" pitchFamily="18" charset="0"/>
                          <a:cs typeface="Times New Roman" panose="02020603050405020304" pitchFamily="18" charset="0"/>
                        </a:rPr>
                        <m:t>=1</m:t>
                      </m:r>
                    </m:oMath>
                  </m:oMathPara>
                </a14:m>
                <a:endParaRPr lang="en-US" altLang="zh-TW" sz="2000" dirty="0">
                  <a:latin typeface="Times New Roman" panose="02020603050405020304" pitchFamily="18" charset="0"/>
                  <a:cs typeface="Times New Roman" panose="02020603050405020304" pitchFamily="18" charset="0"/>
                </a:endParaRPr>
              </a:p>
            </p:txBody>
          </p:sp>
        </mc:Choice>
        <mc:Fallback xmlns="">
          <p:sp>
            <p:nvSpPr>
              <p:cNvPr id="21" name="標題 1">
                <a:extLst>
                  <a:ext uri="{FF2B5EF4-FFF2-40B4-BE49-F238E27FC236}">
                    <a16:creationId xmlns:a16="http://schemas.microsoft.com/office/drawing/2014/main" id="{68AD3ED4-4629-4BFB-9B2A-40D1100E557C}"/>
                  </a:ext>
                </a:extLst>
              </p:cNvPr>
              <p:cNvSpPr txBox="1">
                <a:spLocks noRot="1" noChangeAspect="1" noMove="1" noResize="1" noEditPoints="1" noAdjustHandles="1" noChangeArrowheads="1" noChangeShapeType="1" noTextEdit="1"/>
              </p:cNvSpPr>
              <p:nvPr/>
            </p:nvSpPr>
            <p:spPr>
              <a:xfrm>
                <a:off x="1549436" y="3016433"/>
                <a:ext cx="1884152" cy="1419789"/>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2" name="標題 1">
                <a:extLst>
                  <a:ext uri="{FF2B5EF4-FFF2-40B4-BE49-F238E27FC236}">
                    <a16:creationId xmlns:a16="http://schemas.microsoft.com/office/drawing/2014/main" id="{F331E127-FA71-4405-8992-2828BDF6FDC4}"/>
                  </a:ext>
                </a:extLst>
              </p:cNvPr>
              <p:cNvSpPr txBox="1">
                <a:spLocks/>
              </p:cNvSpPr>
              <p:nvPr/>
            </p:nvSpPr>
            <p:spPr>
              <a:xfrm>
                <a:off x="6503864" y="3016433"/>
                <a:ext cx="1884152" cy="14197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14:m>
                  <m:oMathPara xmlns:m="http://schemas.openxmlformats.org/officeDocument/2006/math">
                    <m:oMathParaPr>
                      <m:jc m:val="centerGroup"/>
                    </m:oMathParaPr>
                    <m:oMath xmlns:m="http://schemas.openxmlformats.org/officeDocument/2006/math">
                      <m:d>
                        <m:dPr>
                          <m:begChr m:val="|"/>
                          <m:endChr m:val="|"/>
                          <m:ctrlPr>
                            <a:rPr lang="en-US" altLang="zh-TW" sz="2400" b="0" i="1" smtClean="0">
                              <a:solidFill>
                                <a:srgbClr val="0070C0"/>
                              </a:solidFill>
                              <a:latin typeface="Cambria Math" panose="02040503050406030204" pitchFamily="18" charset="0"/>
                              <a:cs typeface="Times New Roman" panose="02020603050405020304" pitchFamily="18" charset="0"/>
                            </a:rPr>
                          </m:ctrlPr>
                        </m:dPr>
                        <m:e>
                          <m:r>
                            <a:rPr lang="en-US" altLang="zh-TW" sz="2400" b="0" i="1" smtClean="0">
                              <a:solidFill>
                                <a:srgbClr val="0070C0"/>
                              </a:solidFill>
                              <a:latin typeface="Cambria Math" panose="02040503050406030204" pitchFamily="18" charset="0"/>
                              <a:cs typeface="Times New Roman" panose="02020603050405020304" pitchFamily="18" charset="0"/>
                            </a:rPr>
                            <m:t>𝑠</m:t>
                          </m:r>
                        </m:e>
                      </m:d>
                      <m:r>
                        <a:rPr lang="en-US" altLang="zh-TW" sz="2400" b="0" i="1" smtClean="0">
                          <a:solidFill>
                            <a:srgbClr val="0070C0"/>
                          </a:solidFill>
                          <a:latin typeface="Cambria Math" panose="02040503050406030204" pitchFamily="18" charset="0"/>
                          <a:cs typeface="Times New Roman" panose="02020603050405020304" pitchFamily="18" charset="0"/>
                        </a:rPr>
                        <m:t>=4</m:t>
                      </m:r>
                    </m:oMath>
                  </m:oMathPara>
                </a14:m>
                <a:endParaRPr lang="en-US" altLang="zh-TW" sz="2000" dirty="0">
                  <a:latin typeface="Times New Roman" panose="02020603050405020304" pitchFamily="18" charset="0"/>
                  <a:cs typeface="Times New Roman" panose="02020603050405020304" pitchFamily="18" charset="0"/>
                </a:endParaRPr>
              </a:p>
            </p:txBody>
          </p:sp>
        </mc:Choice>
        <mc:Fallback xmlns="">
          <p:sp>
            <p:nvSpPr>
              <p:cNvPr id="22" name="標題 1">
                <a:extLst>
                  <a:ext uri="{FF2B5EF4-FFF2-40B4-BE49-F238E27FC236}">
                    <a16:creationId xmlns:a16="http://schemas.microsoft.com/office/drawing/2014/main" id="{F331E127-FA71-4405-8992-2828BDF6FDC4}"/>
                  </a:ext>
                </a:extLst>
              </p:cNvPr>
              <p:cNvSpPr txBox="1">
                <a:spLocks noRot="1" noChangeAspect="1" noMove="1" noResize="1" noEditPoints="1" noAdjustHandles="1" noChangeArrowheads="1" noChangeShapeType="1" noTextEdit="1"/>
              </p:cNvSpPr>
              <p:nvPr/>
            </p:nvSpPr>
            <p:spPr>
              <a:xfrm>
                <a:off x="6503864" y="3016433"/>
                <a:ext cx="1884152" cy="1419789"/>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標題 1">
                <a:extLst>
                  <a:ext uri="{FF2B5EF4-FFF2-40B4-BE49-F238E27FC236}">
                    <a16:creationId xmlns:a16="http://schemas.microsoft.com/office/drawing/2014/main" id="{2728B346-55F5-4A76-A07E-D1E685A0D561}"/>
                  </a:ext>
                </a:extLst>
              </p:cNvPr>
              <p:cNvSpPr txBox="1">
                <a:spLocks/>
              </p:cNvSpPr>
              <p:nvPr/>
            </p:nvSpPr>
            <p:spPr>
              <a:xfrm>
                <a:off x="6503864" y="1592701"/>
                <a:ext cx="1884152" cy="14197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14:m>
                  <m:oMathPara xmlns:m="http://schemas.openxmlformats.org/officeDocument/2006/math">
                    <m:oMathParaPr>
                      <m:jc m:val="centerGroup"/>
                    </m:oMathParaPr>
                    <m:oMath xmlns:m="http://schemas.openxmlformats.org/officeDocument/2006/math">
                      <m:d>
                        <m:dPr>
                          <m:begChr m:val="|"/>
                          <m:endChr m:val="|"/>
                          <m:ctrlPr>
                            <a:rPr lang="en-US" altLang="zh-TW" sz="2400" b="0" i="1" smtClean="0">
                              <a:solidFill>
                                <a:srgbClr val="0070C0"/>
                              </a:solidFill>
                              <a:latin typeface="Cambria Math" panose="02040503050406030204" pitchFamily="18" charset="0"/>
                              <a:cs typeface="Times New Roman" panose="02020603050405020304" pitchFamily="18" charset="0"/>
                            </a:rPr>
                          </m:ctrlPr>
                        </m:dPr>
                        <m:e>
                          <m:r>
                            <a:rPr lang="en-US" altLang="zh-TW" sz="2400" b="0" i="1" smtClean="0">
                              <a:solidFill>
                                <a:srgbClr val="0070C0"/>
                              </a:solidFill>
                              <a:latin typeface="Cambria Math" panose="02040503050406030204" pitchFamily="18" charset="0"/>
                              <a:cs typeface="Times New Roman" panose="02020603050405020304" pitchFamily="18" charset="0"/>
                            </a:rPr>
                            <m:t>𝑠</m:t>
                          </m:r>
                        </m:e>
                      </m:d>
                      <m:r>
                        <a:rPr lang="en-US" altLang="zh-TW" sz="2400" b="0" i="1" smtClean="0">
                          <a:solidFill>
                            <a:srgbClr val="0070C0"/>
                          </a:solidFill>
                          <a:latin typeface="Cambria Math" panose="02040503050406030204" pitchFamily="18" charset="0"/>
                          <a:cs typeface="Times New Roman" panose="02020603050405020304" pitchFamily="18" charset="0"/>
                        </a:rPr>
                        <m:t>&gt;4</m:t>
                      </m:r>
                    </m:oMath>
                  </m:oMathPara>
                </a14:m>
                <a:endParaRPr lang="en-US" altLang="zh-TW" sz="2000" dirty="0">
                  <a:latin typeface="Times New Roman" panose="02020603050405020304" pitchFamily="18" charset="0"/>
                  <a:cs typeface="Times New Roman" panose="02020603050405020304" pitchFamily="18" charset="0"/>
                </a:endParaRPr>
              </a:p>
            </p:txBody>
          </p:sp>
        </mc:Choice>
        <mc:Fallback xmlns="">
          <p:sp>
            <p:nvSpPr>
              <p:cNvPr id="23" name="標題 1">
                <a:extLst>
                  <a:ext uri="{FF2B5EF4-FFF2-40B4-BE49-F238E27FC236}">
                    <a16:creationId xmlns:a16="http://schemas.microsoft.com/office/drawing/2014/main" id="{2728B346-55F5-4A76-A07E-D1E685A0D561}"/>
                  </a:ext>
                </a:extLst>
              </p:cNvPr>
              <p:cNvSpPr txBox="1">
                <a:spLocks noRot="1" noChangeAspect="1" noMove="1" noResize="1" noEditPoints="1" noAdjustHandles="1" noChangeArrowheads="1" noChangeShapeType="1" noTextEdit="1"/>
              </p:cNvSpPr>
              <p:nvPr/>
            </p:nvSpPr>
            <p:spPr>
              <a:xfrm>
                <a:off x="6503864" y="1592701"/>
                <a:ext cx="1884152" cy="1419789"/>
              </a:xfrm>
              <a:prstGeom prst="rect">
                <a:avLst/>
              </a:prstGeom>
              <a:blipFill>
                <a:blip r:embed="rId9"/>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515054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3" name="矩形 12">
                <a:extLst>
                  <a:ext uri="{FF2B5EF4-FFF2-40B4-BE49-F238E27FC236}">
                    <a16:creationId xmlns:a16="http://schemas.microsoft.com/office/drawing/2014/main" id="{62B6DAD4-D511-453F-9C52-1C4CF470AA40}"/>
                  </a:ext>
                </a:extLst>
              </p:cNvPr>
              <p:cNvSpPr/>
              <p:nvPr/>
            </p:nvSpPr>
            <p:spPr>
              <a:xfrm>
                <a:off x="895393" y="2236688"/>
                <a:ext cx="6100644" cy="1938992"/>
              </a:xfrm>
              <a:prstGeom prst="rect">
                <a:avLst/>
              </a:prstGeom>
            </p:spPr>
            <p:txBody>
              <a:bodyPr wrap="none">
                <a:spAutoFit/>
              </a:bodyPr>
              <a:lstStyle/>
              <a:p>
                <a:pPr marL="342900" indent="-342900">
                  <a:lnSpc>
                    <a:spcPct val="150000"/>
                  </a:lnSpc>
                  <a:buFont typeface="Arial" panose="020B0604020202020204" pitchFamily="34" charset="0"/>
                  <a:buChar char="•"/>
                </a:pPr>
                <a14:m>
                  <m:oMath xmlns:m="http://schemas.openxmlformats.org/officeDocument/2006/math">
                    <m:d>
                      <m:dPr>
                        <m:begChr m:val="|"/>
                        <m:endChr m:val="|"/>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𝑠</m:t>
                        </m:r>
                      </m:e>
                    </m:d>
                  </m:oMath>
                </a14:m>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is odd</a:t>
                </a:r>
                <a:r>
                  <a:rPr lang="zh-TW" altLang="en-US" sz="2000" dirty="0">
                    <a:latin typeface="Times New Roman" panose="02020603050405020304" pitchFamily="18" charset="0"/>
                    <a:cs typeface="Times New Roman" panose="02020603050405020304" pitchFamily="18" charset="0"/>
                  </a:rPr>
                  <a:t> → </a:t>
                </a:r>
                <a:r>
                  <a:rPr lang="en-US" altLang="zh-TW" sz="2000" dirty="0">
                    <a:latin typeface="Times New Roman" panose="02020603050405020304" pitchFamily="18" charset="0"/>
                    <a:cs typeface="Times New Roman" panose="02020603050405020304" pitchFamily="18" charset="0"/>
                  </a:rPr>
                  <a:t>reduce to 3 </a:t>
                </a:r>
              </a:p>
              <a:p>
                <a:pPr marL="342900" indent="-342900">
                  <a:lnSpc>
                    <a:spcPct val="150000"/>
                  </a:lnSpc>
                  <a:buFont typeface="Arial" panose="020B0604020202020204" pitchFamily="34" charset="0"/>
                  <a:buChar char="•"/>
                </a:pPr>
                <a:endParaRPr lang="en-US" altLang="zh-TW" sz="20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endParaRPr lang="en-US" altLang="zh-TW" sz="20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14:m>
                  <m:oMath xmlns:m="http://schemas.openxmlformats.org/officeDocument/2006/math">
                    <m:d>
                      <m:dPr>
                        <m:begChr m:val="|"/>
                        <m:endChr m:val="|"/>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𝑠</m:t>
                        </m:r>
                      </m:e>
                    </m:d>
                  </m:oMath>
                </a14:m>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is even</a:t>
                </a:r>
                <a:r>
                  <a:rPr lang="zh-TW" altLang="en-US" sz="2000" dirty="0">
                    <a:latin typeface="Times New Roman" panose="02020603050405020304" pitchFamily="18" charset="0"/>
                    <a:cs typeface="Times New Roman" panose="02020603050405020304" pitchFamily="18" charset="0"/>
                  </a:rPr>
                  <a:t> → </a:t>
                </a:r>
                <a:r>
                  <a:rPr lang="en-US" altLang="zh-TW" sz="2000" dirty="0">
                    <a:latin typeface="Times New Roman" panose="02020603050405020304" pitchFamily="18" charset="0"/>
                    <a:cs typeface="Times New Roman" panose="02020603050405020304" pitchFamily="18" charset="0"/>
                  </a:rPr>
                  <a:t>reduce to 4, and an </a:t>
                </a:r>
                <a:r>
                  <a:rPr lang="en-US" altLang="zh-TW" sz="2000" dirty="0">
                    <a:solidFill>
                      <a:srgbClr val="FF0000"/>
                    </a:solidFill>
                    <a:latin typeface="Times New Roman" panose="02020603050405020304" pitchFamily="18" charset="0"/>
                    <a:cs typeface="Times New Roman" panose="02020603050405020304" pitchFamily="18" charset="0"/>
                  </a:rPr>
                  <a:t>extra 1-transposition</a:t>
                </a:r>
              </a:p>
            </p:txBody>
          </p:sp>
        </mc:Choice>
        <mc:Fallback>
          <p:sp>
            <p:nvSpPr>
              <p:cNvPr id="13" name="矩形 12">
                <a:extLst>
                  <a:ext uri="{FF2B5EF4-FFF2-40B4-BE49-F238E27FC236}">
                    <a16:creationId xmlns:a16="http://schemas.microsoft.com/office/drawing/2014/main" id="{62B6DAD4-D511-453F-9C52-1C4CF470AA40}"/>
                  </a:ext>
                </a:extLst>
              </p:cNvPr>
              <p:cNvSpPr>
                <a:spLocks noRot="1" noChangeAspect="1" noMove="1" noResize="1" noEditPoints="1" noAdjustHandles="1" noChangeArrowheads="1" noChangeShapeType="1" noTextEdit="1"/>
              </p:cNvSpPr>
              <p:nvPr/>
            </p:nvSpPr>
            <p:spPr>
              <a:xfrm>
                <a:off x="895393" y="2236688"/>
                <a:ext cx="6100644" cy="1938992"/>
              </a:xfrm>
              <a:prstGeom prst="rect">
                <a:avLst/>
              </a:prstGeom>
              <a:blipFill>
                <a:blip r:embed="rId2"/>
                <a:stretch>
                  <a:fillRect l="-899" r="-300" b="-1887"/>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222F4ADD-F9DA-4202-A4ED-239132DE7250}"/>
              </a:ext>
            </a:extLst>
          </p:cNvPr>
          <p:cNvSpPr>
            <a:spLocks noGrp="1"/>
          </p:cNvSpPr>
          <p:nvPr>
            <p:ph type="sldNum" sz="quarter" idx="12"/>
          </p:nvPr>
        </p:nvSpPr>
        <p:spPr/>
        <p:txBody>
          <a:bodyPr/>
          <a:lstStyle/>
          <a:p>
            <a:fld id="{872633CA-77E0-4863-94F8-E28139DFB2B4}" type="slidenum">
              <a:rPr lang="zh-TW" altLang="en-US" smtClean="0"/>
              <a:t>11</a:t>
            </a:fld>
            <a:endParaRPr lang="zh-TW" altLang="en-US" dirty="0"/>
          </a:p>
        </p:txBody>
      </p:sp>
      <p:sp>
        <p:nvSpPr>
          <p:cNvPr id="5" name="標題 1">
            <a:extLst>
              <a:ext uri="{FF2B5EF4-FFF2-40B4-BE49-F238E27FC236}">
                <a16:creationId xmlns:a16="http://schemas.microsoft.com/office/drawing/2014/main" id="{FEF0B28A-BF0C-4AED-8461-CBEAD77D334D}"/>
              </a:ext>
            </a:extLst>
          </p:cNvPr>
          <p:cNvSpPr txBox="1">
            <a:spLocks/>
          </p:cNvSpPr>
          <p:nvPr/>
        </p:nvSpPr>
        <p:spPr>
          <a:xfrm>
            <a:off x="402232" y="385081"/>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Grouping - ternary</a:t>
            </a:r>
            <a:endParaRPr lang="zh-TW" altLang="en-US" sz="3200" dirty="0">
              <a:latin typeface="Times New Roman" panose="02020603050405020304" pitchFamily="18" charset="0"/>
              <a:cs typeface="Times New Roman" panose="02020603050405020304" pitchFamily="18" charset="0"/>
            </a:endParaRPr>
          </a:p>
        </p:txBody>
      </p:sp>
      <p:sp>
        <p:nvSpPr>
          <p:cNvPr id="11" name="標題 1">
            <a:extLst>
              <a:ext uri="{FF2B5EF4-FFF2-40B4-BE49-F238E27FC236}">
                <a16:creationId xmlns:a16="http://schemas.microsoft.com/office/drawing/2014/main" id="{9923A79E-6872-4CDA-88EE-D363EC34F6D3}"/>
              </a:ext>
            </a:extLst>
          </p:cNvPr>
          <p:cNvSpPr txBox="1">
            <a:spLocks/>
          </p:cNvSpPr>
          <p:nvPr/>
        </p:nvSpPr>
        <p:spPr>
          <a:xfrm>
            <a:off x="402232" y="1028578"/>
            <a:ext cx="2547445" cy="7257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00000"/>
              </a:lnSpc>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Lower bound:</a:t>
            </a:r>
          </a:p>
        </p:txBody>
      </p:sp>
      <mc:AlternateContent xmlns:mc="http://schemas.openxmlformats.org/markup-compatibility/2006">
        <mc:Choice xmlns:a14="http://schemas.microsoft.com/office/drawing/2010/main" Requires="a14">
          <p:sp>
            <p:nvSpPr>
              <p:cNvPr id="14" name="標題 1">
                <a:extLst>
                  <a:ext uri="{FF2B5EF4-FFF2-40B4-BE49-F238E27FC236}">
                    <a16:creationId xmlns:a16="http://schemas.microsoft.com/office/drawing/2014/main" id="{C1020498-7474-4EF2-87A3-4E88554827A3}"/>
                  </a:ext>
                </a:extLst>
              </p:cNvPr>
              <p:cNvSpPr txBox="1">
                <a:spLocks/>
              </p:cNvSpPr>
              <p:nvPr/>
            </p:nvSpPr>
            <p:spPr>
              <a:xfrm>
                <a:off x="1236500" y="4089690"/>
                <a:ext cx="5070994" cy="539972"/>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14:m>
                  <m:oMath xmlns:m="http://schemas.openxmlformats.org/officeDocument/2006/math">
                    <m:d>
                      <m:dPr>
                        <m:begChr m:val="|"/>
                        <m:endChr m:val="|"/>
                        <m:ctrlPr>
                          <a:rPr lang="en-US" altLang="zh-TW" sz="2000" i="1" smtClean="0">
                            <a:solidFill>
                              <a:srgbClr val="0070C0"/>
                            </a:solidFill>
                            <a:latin typeface="Cambria Math" panose="02040503050406030204" pitchFamily="18" charset="0"/>
                            <a:cs typeface="Times New Roman" panose="02020603050405020304" pitchFamily="18" charset="0"/>
                          </a:rPr>
                        </m:ctrlPr>
                      </m:dPr>
                      <m:e>
                        <m:r>
                          <a:rPr lang="en-US" altLang="zh-TW" sz="2000" i="1">
                            <a:solidFill>
                              <a:srgbClr val="0070C0"/>
                            </a:solidFill>
                            <a:latin typeface="Cambria Math" panose="02040503050406030204" pitchFamily="18" charset="0"/>
                            <a:cs typeface="Times New Roman" panose="02020603050405020304" pitchFamily="18" charset="0"/>
                          </a:rPr>
                          <m:t>𝑠</m:t>
                        </m:r>
                      </m:e>
                    </m:d>
                    <m:r>
                      <a:rPr lang="en-US" altLang="zh-TW" sz="2000" i="1">
                        <a:solidFill>
                          <a:srgbClr val="0070C0"/>
                        </a:solidFill>
                        <a:latin typeface="Cambria Math" panose="02040503050406030204" pitchFamily="18" charset="0"/>
                        <a:cs typeface="Times New Roman" panose="02020603050405020304" pitchFamily="18" charset="0"/>
                      </a:rPr>
                      <m:t> </m:t>
                    </m:r>
                  </m:oMath>
                </a14:m>
                <a:r>
                  <a:rPr lang="en-US" altLang="zh-TW" sz="2000" spc="600" dirty="0">
                    <a:solidFill>
                      <a:srgbClr val="0070C0"/>
                    </a:solidFill>
                    <a:latin typeface="Times New Roman" panose="02020603050405020304" pitchFamily="18" charset="0"/>
                    <a:cs typeface="Times New Roman" panose="02020603050405020304" pitchFamily="18" charset="0"/>
                  </a:rPr>
                  <a:t>=8</a:t>
                </a:r>
                <a:r>
                  <a:rPr lang="zh-TW" altLang="en-US" sz="2000" dirty="0">
                    <a:solidFill>
                      <a:srgbClr val="0070C0"/>
                    </a:solidFill>
                    <a:latin typeface="Times New Roman" panose="02020603050405020304" pitchFamily="18" charset="0"/>
                    <a:cs typeface="Times New Roman" panose="02020603050405020304" pitchFamily="18" charset="0"/>
                  </a:rPr>
                  <a:t>→ </a:t>
                </a:r>
                <a:r>
                  <a:rPr lang="en-US" altLang="zh-TW" sz="2000" dirty="0">
                    <a:solidFill>
                      <a:srgbClr val="0070C0"/>
                    </a:solidFill>
                    <a:latin typeface="Times New Roman" panose="02020603050405020304" pitchFamily="18" charset="0"/>
                    <a:cs typeface="Times New Roman" panose="02020603050405020304" pitchFamily="18" charset="0"/>
                  </a:rPr>
                  <a:t>6 </a:t>
                </a:r>
                <a:r>
                  <a:rPr lang="zh-TW" altLang="en-US" sz="2000" dirty="0">
                    <a:solidFill>
                      <a:srgbClr val="0070C0"/>
                    </a:solidFill>
                    <a:latin typeface="Times New Roman" panose="02020603050405020304" pitchFamily="18" charset="0"/>
                    <a:cs typeface="Times New Roman" panose="02020603050405020304" pitchFamily="18" charset="0"/>
                  </a:rPr>
                  <a:t>→ </a:t>
                </a:r>
                <a:r>
                  <a:rPr lang="en-US" altLang="zh-TW" sz="2000" dirty="0">
                    <a:solidFill>
                      <a:srgbClr val="0070C0"/>
                    </a:solidFill>
                    <a:latin typeface="Times New Roman" panose="02020603050405020304" pitchFamily="18" charset="0"/>
                    <a:cs typeface="Times New Roman" panose="02020603050405020304" pitchFamily="18" charset="0"/>
                  </a:rPr>
                  <a:t>4		</a:t>
                </a:r>
                <a14:m>
                  <m:oMath xmlns:m="http://schemas.openxmlformats.org/officeDocument/2006/math">
                    <m:sSub>
                      <m:sSubPr>
                        <m:ctrlPr>
                          <a:rPr lang="en-US" altLang="zh-TW" sz="2000" i="1">
                            <a:solidFill>
                              <a:srgbClr val="0070C0"/>
                            </a:solidFill>
                            <a:latin typeface="Cambria Math" panose="02040503050406030204" pitchFamily="18" charset="0"/>
                            <a:cs typeface="Times New Roman" panose="02020603050405020304" pitchFamily="18" charset="0"/>
                          </a:rPr>
                        </m:ctrlPr>
                      </m:sSubPr>
                      <m:e>
                        <m:r>
                          <a:rPr lang="en-US" altLang="zh-TW" sz="2000" i="1">
                            <a:solidFill>
                              <a:srgbClr val="0070C0"/>
                            </a:solidFill>
                            <a:latin typeface="Cambria Math" panose="02040503050406030204" pitchFamily="18" charset="0"/>
                            <a:cs typeface="Times New Roman" panose="02020603050405020304" pitchFamily="18" charset="0"/>
                          </a:rPr>
                          <m:t>𝑑</m:t>
                        </m:r>
                      </m:e>
                      <m:sub>
                        <m:r>
                          <a:rPr lang="en-US" altLang="zh-TW" sz="2000" i="1">
                            <a:solidFill>
                              <a:srgbClr val="0070C0"/>
                            </a:solidFill>
                            <a:latin typeface="Cambria Math" panose="02040503050406030204" pitchFamily="18" charset="0"/>
                            <a:cs typeface="Times New Roman" panose="02020603050405020304" pitchFamily="18" charset="0"/>
                          </a:rPr>
                          <m:t>𝑔</m:t>
                        </m:r>
                      </m:sub>
                    </m:sSub>
                    <m:d>
                      <m:dPr>
                        <m:ctrlPr>
                          <a:rPr lang="en-US" altLang="zh-TW" sz="2000" i="1">
                            <a:solidFill>
                              <a:srgbClr val="0070C0"/>
                            </a:solidFill>
                            <a:latin typeface="Cambria Math" panose="02040503050406030204" pitchFamily="18" charset="0"/>
                            <a:cs typeface="Times New Roman" panose="02020603050405020304" pitchFamily="18" charset="0"/>
                          </a:rPr>
                        </m:ctrlPr>
                      </m:dPr>
                      <m:e>
                        <m:r>
                          <a:rPr lang="en-US" altLang="zh-TW" sz="2000" i="1">
                            <a:solidFill>
                              <a:srgbClr val="0070C0"/>
                            </a:solidFill>
                            <a:latin typeface="Cambria Math" panose="02040503050406030204" pitchFamily="18" charset="0"/>
                            <a:cs typeface="Times New Roman" panose="02020603050405020304" pitchFamily="18" charset="0"/>
                          </a:rPr>
                          <m:t>𝑠</m:t>
                        </m:r>
                      </m:e>
                    </m:d>
                    <m:r>
                      <a:rPr lang="en-US" altLang="zh-TW" sz="2000" i="1">
                        <a:solidFill>
                          <a:srgbClr val="0070C0"/>
                        </a:solidFill>
                        <a:latin typeface="Cambria Math" panose="02040503050406030204" pitchFamily="18" charset="0"/>
                        <a:cs typeface="Times New Roman" panose="02020603050405020304" pitchFamily="18" charset="0"/>
                      </a:rPr>
                      <m:t>=</m:t>
                    </m:r>
                    <m:r>
                      <a:rPr lang="en-US" altLang="zh-TW" sz="2000" b="0" i="1" smtClean="0">
                        <a:solidFill>
                          <a:srgbClr val="0070C0"/>
                        </a:solidFill>
                        <a:latin typeface="Cambria Math" panose="02040503050406030204" pitchFamily="18" charset="0"/>
                        <a:cs typeface="Times New Roman" panose="02020603050405020304" pitchFamily="18" charset="0"/>
                      </a:rPr>
                      <m:t>2+</m:t>
                    </m:r>
                    <m:r>
                      <a:rPr lang="en-US" altLang="zh-TW" sz="2000" b="0" i="1" smtClean="0">
                        <a:solidFill>
                          <a:srgbClr val="FF0000"/>
                        </a:solidFill>
                        <a:latin typeface="Cambria Math" panose="02040503050406030204" pitchFamily="18" charset="0"/>
                        <a:cs typeface="Times New Roman" panose="02020603050405020304" pitchFamily="18" charset="0"/>
                      </a:rPr>
                      <m:t>1</m:t>
                    </m:r>
                    <m:r>
                      <a:rPr lang="en-US" altLang="zh-TW" sz="2000" b="0" i="1" smtClean="0">
                        <a:solidFill>
                          <a:srgbClr val="0070C0"/>
                        </a:solidFill>
                        <a:latin typeface="Cambria Math" panose="02040503050406030204" pitchFamily="18" charset="0"/>
                        <a:cs typeface="Times New Roman" panose="02020603050405020304" pitchFamily="18" charset="0"/>
                      </a:rPr>
                      <m:t>=3</m:t>
                    </m:r>
                  </m:oMath>
                </a14:m>
                <a:r>
                  <a:rPr lang="en-US" altLang="zh-TW" sz="2000" spc="600" dirty="0">
                    <a:solidFill>
                      <a:srgbClr val="0070C0"/>
                    </a:solidFill>
                    <a:latin typeface="Times New Roman" panose="02020603050405020304" pitchFamily="18" charset="0"/>
                    <a:cs typeface="Times New Roman" panose="02020603050405020304" pitchFamily="18" charset="0"/>
                  </a:rPr>
                  <a:t>  </a:t>
                </a:r>
              </a:p>
            </p:txBody>
          </p:sp>
        </mc:Choice>
        <mc:Fallback>
          <p:sp>
            <p:nvSpPr>
              <p:cNvPr id="14" name="標題 1">
                <a:extLst>
                  <a:ext uri="{FF2B5EF4-FFF2-40B4-BE49-F238E27FC236}">
                    <a16:creationId xmlns:a16="http://schemas.microsoft.com/office/drawing/2014/main" id="{C1020498-7474-4EF2-87A3-4E88554827A3}"/>
                  </a:ext>
                </a:extLst>
              </p:cNvPr>
              <p:cNvSpPr txBox="1">
                <a:spLocks noRot="1" noChangeAspect="1" noMove="1" noResize="1" noEditPoints="1" noAdjustHandles="1" noChangeArrowheads="1" noChangeShapeType="1" noTextEdit="1"/>
              </p:cNvSpPr>
              <p:nvPr/>
            </p:nvSpPr>
            <p:spPr>
              <a:xfrm>
                <a:off x="1236500" y="4089690"/>
                <a:ext cx="5070994" cy="539972"/>
              </a:xfrm>
              <a:prstGeom prst="rect">
                <a:avLst/>
              </a:prstGeom>
              <a:blipFill>
                <a:blip r:embed="rId3"/>
                <a:stretch>
                  <a:fillRect b="-340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標題 1">
                <a:extLst>
                  <a:ext uri="{FF2B5EF4-FFF2-40B4-BE49-F238E27FC236}">
                    <a16:creationId xmlns:a16="http://schemas.microsoft.com/office/drawing/2014/main" id="{19C345BB-FD82-4427-BEC3-2342C71AF68B}"/>
                  </a:ext>
                </a:extLst>
              </p:cNvPr>
              <p:cNvSpPr txBox="1">
                <a:spLocks/>
              </p:cNvSpPr>
              <p:nvPr/>
            </p:nvSpPr>
            <p:spPr>
              <a:xfrm>
                <a:off x="1236500" y="2712565"/>
                <a:ext cx="4238883" cy="53997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14:m>
                  <m:oMath xmlns:m="http://schemas.openxmlformats.org/officeDocument/2006/math">
                    <m:d>
                      <m:dPr>
                        <m:begChr m:val="|"/>
                        <m:endChr m:val="|"/>
                        <m:ctrlPr>
                          <a:rPr lang="en-US" altLang="zh-TW" sz="2000" i="1" smtClean="0">
                            <a:solidFill>
                              <a:srgbClr val="0070C0"/>
                            </a:solidFill>
                            <a:latin typeface="Cambria Math" panose="02040503050406030204" pitchFamily="18" charset="0"/>
                            <a:cs typeface="Times New Roman" panose="02020603050405020304" pitchFamily="18" charset="0"/>
                          </a:rPr>
                        </m:ctrlPr>
                      </m:dPr>
                      <m:e>
                        <m:r>
                          <a:rPr lang="en-US" altLang="zh-TW" sz="2000" i="1">
                            <a:solidFill>
                              <a:srgbClr val="0070C0"/>
                            </a:solidFill>
                            <a:latin typeface="Cambria Math" panose="02040503050406030204" pitchFamily="18" charset="0"/>
                            <a:cs typeface="Times New Roman" panose="02020603050405020304" pitchFamily="18" charset="0"/>
                          </a:rPr>
                          <m:t>𝑠</m:t>
                        </m:r>
                      </m:e>
                    </m:d>
                    <m:r>
                      <a:rPr lang="en-US" altLang="zh-TW" sz="2000" i="1">
                        <a:solidFill>
                          <a:srgbClr val="0070C0"/>
                        </a:solidFill>
                        <a:latin typeface="Cambria Math" panose="02040503050406030204" pitchFamily="18" charset="0"/>
                        <a:cs typeface="Times New Roman" panose="02020603050405020304" pitchFamily="18" charset="0"/>
                      </a:rPr>
                      <m:t> </m:t>
                    </m:r>
                  </m:oMath>
                </a14:m>
                <a:r>
                  <a:rPr lang="en-US" altLang="zh-TW" sz="2000" spc="600" dirty="0">
                    <a:solidFill>
                      <a:srgbClr val="0070C0"/>
                    </a:solidFill>
                    <a:latin typeface="Times New Roman" panose="02020603050405020304" pitchFamily="18" charset="0"/>
                    <a:cs typeface="Times New Roman" panose="02020603050405020304" pitchFamily="18" charset="0"/>
                  </a:rPr>
                  <a:t>=7</a:t>
                </a:r>
                <a:r>
                  <a:rPr lang="zh-TW" altLang="en-US" sz="2000" dirty="0">
                    <a:solidFill>
                      <a:srgbClr val="0070C0"/>
                    </a:solidFill>
                    <a:latin typeface="Times New Roman" panose="02020603050405020304" pitchFamily="18" charset="0"/>
                    <a:cs typeface="Times New Roman" panose="02020603050405020304" pitchFamily="18" charset="0"/>
                  </a:rPr>
                  <a:t>→ </a:t>
                </a:r>
                <a:r>
                  <a:rPr lang="en-US" altLang="zh-TW" sz="2000" dirty="0">
                    <a:solidFill>
                      <a:srgbClr val="0070C0"/>
                    </a:solidFill>
                    <a:latin typeface="Times New Roman" panose="02020603050405020304" pitchFamily="18" charset="0"/>
                    <a:cs typeface="Times New Roman" panose="02020603050405020304" pitchFamily="18" charset="0"/>
                  </a:rPr>
                  <a:t>5 </a:t>
                </a:r>
                <a:r>
                  <a:rPr lang="zh-TW" altLang="en-US" sz="2000" dirty="0">
                    <a:solidFill>
                      <a:srgbClr val="0070C0"/>
                    </a:solidFill>
                    <a:latin typeface="Times New Roman" panose="02020603050405020304" pitchFamily="18" charset="0"/>
                    <a:cs typeface="Times New Roman" panose="02020603050405020304" pitchFamily="18" charset="0"/>
                  </a:rPr>
                  <a:t>→ </a:t>
                </a:r>
                <a:r>
                  <a:rPr lang="en-US" altLang="zh-TW" sz="2000" dirty="0">
                    <a:solidFill>
                      <a:srgbClr val="0070C0"/>
                    </a:solidFill>
                    <a:latin typeface="Times New Roman" panose="02020603050405020304" pitchFamily="18" charset="0"/>
                    <a:cs typeface="Times New Roman" panose="02020603050405020304" pitchFamily="18" charset="0"/>
                  </a:rPr>
                  <a:t>3		</a:t>
                </a:r>
                <a14:m>
                  <m:oMath xmlns:m="http://schemas.openxmlformats.org/officeDocument/2006/math">
                    <m:sSub>
                      <m:sSubPr>
                        <m:ctrlPr>
                          <a:rPr lang="en-US" altLang="zh-TW" sz="2000" b="0" i="1" smtClean="0">
                            <a:solidFill>
                              <a:srgbClr val="0070C0"/>
                            </a:solidFill>
                            <a:latin typeface="Cambria Math" panose="02040503050406030204" pitchFamily="18" charset="0"/>
                            <a:cs typeface="Times New Roman" panose="02020603050405020304" pitchFamily="18" charset="0"/>
                          </a:rPr>
                        </m:ctrlPr>
                      </m:sSubPr>
                      <m:e>
                        <m:r>
                          <a:rPr lang="en-US" altLang="zh-TW" sz="2000" b="0" i="1" smtClean="0">
                            <a:solidFill>
                              <a:srgbClr val="0070C0"/>
                            </a:solidFill>
                            <a:latin typeface="Cambria Math" panose="02040503050406030204" pitchFamily="18" charset="0"/>
                            <a:cs typeface="Times New Roman" panose="02020603050405020304" pitchFamily="18" charset="0"/>
                          </a:rPr>
                          <m:t>𝑑</m:t>
                        </m:r>
                      </m:e>
                      <m:sub>
                        <m:r>
                          <a:rPr lang="en-US" altLang="zh-TW" sz="2000" b="0" i="1" smtClean="0">
                            <a:solidFill>
                              <a:srgbClr val="0070C0"/>
                            </a:solidFill>
                            <a:latin typeface="Cambria Math" panose="02040503050406030204" pitchFamily="18" charset="0"/>
                            <a:cs typeface="Times New Roman" panose="02020603050405020304" pitchFamily="18" charset="0"/>
                          </a:rPr>
                          <m:t>𝑔</m:t>
                        </m:r>
                      </m:sub>
                    </m:sSub>
                    <m:d>
                      <m:dPr>
                        <m:ctrlPr>
                          <a:rPr lang="en-US" altLang="zh-TW" sz="2000" b="0" i="1" smtClean="0">
                            <a:solidFill>
                              <a:srgbClr val="0070C0"/>
                            </a:solidFill>
                            <a:latin typeface="Cambria Math" panose="02040503050406030204" pitchFamily="18" charset="0"/>
                            <a:cs typeface="Times New Roman" panose="02020603050405020304" pitchFamily="18" charset="0"/>
                          </a:rPr>
                        </m:ctrlPr>
                      </m:dPr>
                      <m:e>
                        <m:r>
                          <a:rPr lang="en-US" altLang="zh-TW" sz="2000" b="0" i="1" smtClean="0">
                            <a:solidFill>
                              <a:srgbClr val="0070C0"/>
                            </a:solidFill>
                            <a:latin typeface="Cambria Math" panose="02040503050406030204" pitchFamily="18" charset="0"/>
                            <a:cs typeface="Times New Roman" panose="02020603050405020304" pitchFamily="18" charset="0"/>
                          </a:rPr>
                          <m:t>𝑠</m:t>
                        </m:r>
                      </m:e>
                    </m:d>
                    <m:r>
                      <a:rPr lang="en-US" altLang="zh-TW" sz="2000" b="0" i="1" smtClean="0">
                        <a:solidFill>
                          <a:srgbClr val="0070C0"/>
                        </a:solidFill>
                        <a:latin typeface="Cambria Math" panose="02040503050406030204" pitchFamily="18" charset="0"/>
                        <a:cs typeface="Times New Roman" panose="02020603050405020304" pitchFamily="18" charset="0"/>
                      </a:rPr>
                      <m:t>=2</m:t>
                    </m:r>
                  </m:oMath>
                </a14:m>
                <a:r>
                  <a:rPr lang="en-US" altLang="zh-TW" sz="2000" spc="600" dirty="0">
                    <a:solidFill>
                      <a:srgbClr val="0070C0"/>
                    </a:solidFill>
                    <a:latin typeface="Times New Roman" panose="02020603050405020304" pitchFamily="18" charset="0"/>
                    <a:cs typeface="Times New Roman" panose="02020603050405020304" pitchFamily="18" charset="0"/>
                  </a:rPr>
                  <a:t> </a:t>
                </a:r>
              </a:p>
            </p:txBody>
          </p:sp>
        </mc:Choice>
        <mc:Fallback xmlns="">
          <p:sp>
            <p:nvSpPr>
              <p:cNvPr id="15" name="標題 1">
                <a:extLst>
                  <a:ext uri="{FF2B5EF4-FFF2-40B4-BE49-F238E27FC236}">
                    <a16:creationId xmlns:a16="http://schemas.microsoft.com/office/drawing/2014/main" id="{19C345BB-FD82-4427-BEC3-2342C71AF68B}"/>
                  </a:ext>
                </a:extLst>
              </p:cNvPr>
              <p:cNvSpPr txBox="1">
                <a:spLocks noRot="1" noChangeAspect="1" noMove="1" noResize="1" noEditPoints="1" noAdjustHandles="1" noChangeArrowheads="1" noChangeShapeType="1" noTextEdit="1"/>
              </p:cNvSpPr>
              <p:nvPr/>
            </p:nvSpPr>
            <p:spPr>
              <a:xfrm>
                <a:off x="1236500" y="2712565"/>
                <a:ext cx="4238883" cy="539972"/>
              </a:xfrm>
              <a:prstGeom prst="rect">
                <a:avLst/>
              </a:prstGeom>
              <a:blipFill>
                <a:blip r:embed="rId4"/>
                <a:stretch>
                  <a:fillRect b="-4494"/>
                </a:stretch>
              </a:blipFill>
            </p:spPr>
            <p:txBody>
              <a:bodyPr/>
              <a:lstStyle/>
              <a:p>
                <a:r>
                  <a:rPr lang="zh-TW" altLang="en-US">
                    <a:noFill/>
                  </a:rPr>
                  <a:t> </a:t>
                </a:r>
              </a:p>
            </p:txBody>
          </p:sp>
        </mc:Fallback>
      </mc:AlternateContent>
      <p:sp>
        <p:nvSpPr>
          <p:cNvPr id="2" name="矩形 1">
            <a:extLst>
              <a:ext uri="{FF2B5EF4-FFF2-40B4-BE49-F238E27FC236}">
                <a16:creationId xmlns:a16="http://schemas.microsoft.com/office/drawing/2014/main" id="{6EB15A44-9B13-4AC1-9319-3118221312E5}"/>
              </a:ext>
            </a:extLst>
          </p:cNvPr>
          <p:cNvSpPr/>
          <p:nvPr/>
        </p:nvSpPr>
        <p:spPr>
          <a:xfrm>
            <a:off x="895393" y="1824743"/>
            <a:ext cx="7353214" cy="400110"/>
          </a:xfrm>
          <a:prstGeom prst="rect">
            <a:avLst/>
          </a:prstGeom>
        </p:spPr>
        <p:txBody>
          <a:bodyPr wrap="square">
            <a:spAutoFit/>
          </a:bodyPr>
          <a:lstStyle/>
          <a:p>
            <a:pPr>
              <a:lnSpc>
                <a:spcPct val="100000"/>
              </a:lnSpc>
            </a:pPr>
            <a:r>
              <a:rPr lang="en-US" altLang="zh-TW" sz="2000" dirty="0">
                <a:latin typeface="Times New Roman" panose="02020603050405020304" pitchFamily="18" charset="0"/>
                <a:cs typeface="Times New Roman" panose="02020603050405020304" pitchFamily="18" charset="0"/>
              </a:rPr>
              <a:t>We assume that in </a:t>
            </a:r>
            <a:r>
              <a:rPr lang="en-US" altLang="zh-TW" sz="2000" dirty="0">
                <a:solidFill>
                  <a:srgbClr val="0070C0"/>
                </a:solidFill>
                <a:latin typeface="Times New Roman" panose="02020603050405020304" pitchFamily="18" charset="0"/>
                <a:cs typeface="Times New Roman" panose="02020603050405020304" pitchFamily="18" charset="0"/>
              </a:rPr>
              <a:t>best case</a:t>
            </a:r>
            <a:r>
              <a:rPr lang="en-US" altLang="zh-TW" sz="2000" dirty="0">
                <a:latin typeface="Times New Roman" panose="02020603050405020304" pitchFamily="18" charset="0"/>
                <a:cs typeface="Times New Roman" panose="02020603050405020304" pitchFamily="18" charset="0"/>
              </a:rPr>
              <a:t>, we can use </a:t>
            </a:r>
            <a:r>
              <a:rPr lang="en-US" altLang="zh-TW" sz="2000" dirty="0">
                <a:solidFill>
                  <a:srgbClr val="FF0000"/>
                </a:solidFill>
                <a:latin typeface="Times New Roman" panose="02020603050405020304" pitchFamily="18" charset="0"/>
                <a:cs typeface="Times New Roman" panose="02020603050405020304" pitchFamily="18" charset="0"/>
              </a:rPr>
              <a:t>2-transposition in every step</a:t>
            </a:r>
          </a:p>
        </p:txBody>
      </p:sp>
      <mc:AlternateContent xmlns:mc="http://schemas.openxmlformats.org/markup-compatibility/2006" xmlns:a14="http://schemas.microsoft.com/office/drawing/2010/main">
        <mc:Choice Requires="a14">
          <p:graphicFrame>
            <p:nvGraphicFramePr>
              <p:cNvPr id="19" name="表格 18">
                <a:extLst>
                  <a:ext uri="{FF2B5EF4-FFF2-40B4-BE49-F238E27FC236}">
                    <a16:creationId xmlns:a16="http://schemas.microsoft.com/office/drawing/2014/main" id="{2A45CA71-FDD6-4903-B573-124379D995CB}"/>
                  </a:ext>
                </a:extLst>
              </p:cNvPr>
              <p:cNvGraphicFramePr>
                <a:graphicFrameLocks noGrp="1"/>
              </p:cNvGraphicFramePr>
              <p:nvPr>
                <p:extLst>
                  <p:ext uri="{D42A27DB-BD31-4B8C-83A1-F6EECF244321}">
                    <p14:modId xmlns:p14="http://schemas.microsoft.com/office/powerpoint/2010/main" val="3792841710"/>
                  </p:ext>
                </p:extLst>
              </p:nvPr>
            </p:nvGraphicFramePr>
            <p:xfrm>
              <a:off x="2201334" y="5182637"/>
              <a:ext cx="4741331" cy="792480"/>
            </p:xfrm>
            <a:graphic>
              <a:graphicData uri="http://schemas.openxmlformats.org/drawingml/2006/table">
                <a:tbl>
                  <a:tblPr firstRow="1" bandRow="1">
                    <a:tableStyleId>{5940675A-B579-460E-94D1-54222C63F5DA}</a:tableStyleId>
                  </a:tblPr>
                  <a:tblGrid>
                    <a:gridCol w="677333">
                      <a:extLst>
                        <a:ext uri="{9D8B030D-6E8A-4147-A177-3AD203B41FA5}">
                          <a16:colId xmlns:a16="http://schemas.microsoft.com/office/drawing/2014/main" val="2616301296"/>
                        </a:ext>
                      </a:extLst>
                    </a:gridCol>
                    <a:gridCol w="677333">
                      <a:extLst>
                        <a:ext uri="{9D8B030D-6E8A-4147-A177-3AD203B41FA5}">
                          <a16:colId xmlns:a16="http://schemas.microsoft.com/office/drawing/2014/main" val="126961617"/>
                        </a:ext>
                      </a:extLst>
                    </a:gridCol>
                    <a:gridCol w="677333">
                      <a:extLst>
                        <a:ext uri="{9D8B030D-6E8A-4147-A177-3AD203B41FA5}">
                          <a16:colId xmlns:a16="http://schemas.microsoft.com/office/drawing/2014/main" val="2634396870"/>
                        </a:ext>
                      </a:extLst>
                    </a:gridCol>
                    <a:gridCol w="677333">
                      <a:extLst>
                        <a:ext uri="{9D8B030D-6E8A-4147-A177-3AD203B41FA5}">
                          <a16:colId xmlns:a16="http://schemas.microsoft.com/office/drawing/2014/main" val="1291176962"/>
                        </a:ext>
                      </a:extLst>
                    </a:gridCol>
                    <a:gridCol w="677333">
                      <a:extLst>
                        <a:ext uri="{9D8B030D-6E8A-4147-A177-3AD203B41FA5}">
                          <a16:colId xmlns:a16="http://schemas.microsoft.com/office/drawing/2014/main" val="651979287"/>
                        </a:ext>
                      </a:extLst>
                    </a:gridCol>
                    <a:gridCol w="677333">
                      <a:extLst>
                        <a:ext uri="{9D8B030D-6E8A-4147-A177-3AD203B41FA5}">
                          <a16:colId xmlns:a16="http://schemas.microsoft.com/office/drawing/2014/main" val="80234941"/>
                        </a:ext>
                      </a:extLst>
                    </a:gridCol>
                    <a:gridCol w="677333">
                      <a:extLst>
                        <a:ext uri="{9D8B030D-6E8A-4147-A177-3AD203B41FA5}">
                          <a16:colId xmlns:a16="http://schemas.microsoft.com/office/drawing/2014/main" val="2981945742"/>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𝑠</m:t>
                                </m:r>
                                <m:r>
                                  <a:rPr lang="en-US" altLang="zh-TW" sz="2000" b="0" i="1" smtClean="0">
                                    <a:latin typeface="Cambria Math" panose="02040503050406030204" pitchFamily="18" charset="0"/>
                                  </a:rPr>
                                  <m:t>|</m:t>
                                </m:r>
                              </m:oMath>
                            </m:oMathPara>
                          </a14:m>
                          <a:endParaRPr lang="zh-TW" altLang="en-US" sz="2000" dirty="0"/>
                        </a:p>
                      </a:txBody>
                      <a:tcPr anchor="ctr"/>
                    </a:tc>
                    <a:tc>
                      <a:txBody>
                        <a:bodyPr/>
                        <a:lstStyle/>
                        <a:p>
                          <a:pPr algn="ctr"/>
                          <a:r>
                            <a:rPr lang="en-US" altLang="zh-TW" sz="2000" dirty="0"/>
                            <a:t>5</a:t>
                          </a:r>
                          <a:endParaRPr lang="zh-TW" altLang="en-US" sz="2000" dirty="0"/>
                        </a:p>
                      </a:txBody>
                      <a:tcPr anchor="ctr"/>
                    </a:tc>
                    <a:tc>
                      <a:txBody>
                        <a:bodyPr/>
                        <a:lstStyle/>
                        <a:p>
                          <a:pPr algn="ctr"/>
                          <a:r>
                            <a:rPr lang="en-US" altLang="zh-TW" sz="2000" dirty="0"/>
                            <a:t>6</a:t>
                          </a:r>
                          <a:endParaRPr lang="zh-TW" altLang="en-US" sz="2000" dirty="0"/>
                        </a:p>
                      </a:txBody>
                      <a:tcPr anchor="ctr"/>
                    </a:tc>
                    <a:tc>
                      <a:txBody>
                        <a:bodyPr/>
                        <a:lstStyle/>
                        <a:p>
                          <a:pPr algn="ctr"/>
                          <a:r>
                            <a:rPr lang="en-US" altLang="zh-TW" sz="2000" dirty="0"/>
                            <a:t>7</a:t>
                          </a:r>
                          <a:endParaRPr lang="zh-TW" altLang="en-US" sz="2000" dirty="0"/>
                        </a:p>
                      </a:txBody>
                      <a:tcPr anchor="ctr"/>
                    </a:tc>
                    <a:tc>
                      <a:txBody>
                        <a:bodyPr/>
                        <a:lstStyle/>
                        <a:p>
                          <a:pPr algn="ctr"/>
                          <a:r>
                            <a:rPr lang="en-US" altLang="zh-TW" sz="2000" dirty="0"/>
                            <a:t>8</a:t>
                          </a:r>
                          <a:endParaRPr lang="zh-TW" altLang="en-US" sz="2000" dirty="0"/>
                        </a:p>
                      </a:txBody>
                      <a:tcPr anchor="ctr"/>
                    </a:tc>
                    <a:tc>
                      <a:txBody>
                        <a:bodyPr/>
                        <a:lstStyle/>
                        <a:p>
                          <a:pPr algn="ctr"/>
                          <a:r>
                            <a:rPr lang="en-US" altLang="zh-TW" sz="2000" dirty="0"/>
                            <a:t>9</a:t>
                          </a:r>
                          <a:endParaRPr lang="zh-TW" altLang="en-US" sz="2000" dirty="0"/>
                        </a:p>
                      </a:txBody>
                      <a:tcPr anchor="ctr"/>
                    </a:tc>
                    <a:tc>
                      <a:txBody>
                        <a:bodyPr/>
                        <a:lstStyle/>
                        <a:p>
                          <a:pPr algn="ctr"/>
                          <a:r>
                            <a:rPr lang="en-US" altLang="zh-TW" sz="2000" dirty="0"/>
                            <a:t>10</a:t>
                          </a:r>
                          <a:endParaRPr lang="zh-TW" altLang="en-US" sz="2000" dirty="0"/>
                        </a:p>
                      </a:txBody>
                      <a:tcPr anchor="ctr"/>
                    </a:tc>
                    <a:extLst>
                      <a:ext uri="{0D108BD9-81ED-4DB2-BD59-A6C34878D82A}">
                        <a16:rowId xmlns:a16="http://schemas.microsoft.com/office/drawing/2014/main" val="1967640266"/>
                      </a:ext>
                    </a:extLst>
                  </a:tr>
                  <a:tr h="370840">
                    <a:tc>
                      <a:txBody>
                        <a:bodyPr/>
                        <a:lstStyle/>
                        <a:p>
                          <a:pPr algn="ctr"/>
                          <a14:m>
                            <m:oMath xmlns:m="http://schemas.openxmlformats.org/officeDocument/2006/math">
                              <m:r>
                                <m:rPr>
                                  <m:sty m:val="p"/>
                                </m:rPr>
                                <a:rPr lang="en-US" altLang="zh-TW" sz="2000" b="0" i="1" smtClean="0">
                                  <a:latin typeface="Cambria Math" panose="02040503050406030204" pitchFamily="18" charset="0"/>
                                </a:rPr>
                                <m:t>L</m:t>
                              </m:r>
                            </m:oMath>
                          </a14:m>
                          <a:r>
                            <a:rPr lang="en-US" altLang="zh-TW" sz="2000" dirty="0"/>
                            <a:t>B</a:t>
                          </a:r>
                          <a:endParaRPr lang="zh-TW" altLang="en-US" sz="2000" dirty="0"/>
                        </a:p>
                      </a:txBody>
                      <a:tcPr anchor="ctr"/>
                    </a:tc>
                    <a:tc>
                      <a:txBody>
                        <a:bodyPr/>
                        <a:lstStyle/>
                        <a:p>
                          <a:pPr algn="ctr"/>
                          <a:r>
                            <a:rPr lang="en-US" altLang="zh-TW" sz="2000" dirty="0"/>
                            <a:t>1</a:t>
                          </a:r>
                          <a:endParaRPr lang="zh-TW" altLang="en-US" sz="2000" dirty="0"/>
                        </a:p>
                      </a:txBody>
                      <a:tcPr anchor="ctr"/>
                    </a:tc>
                    <a:tc>
                      <a:txBody>
                        <a:bodyPr/>
                        <a:lstStyle/>
                        <a:p>
                          <a:pPr algn="ctr"/>
                          <a:r>
                            <a:rPr lang="en-US" altLang="zh-TW" sz="2000" dirty="0"/>
                            <a:t>2</a:t>
                          </a:r>
                          <a:endParaRPr lang="zh-TW" altLang="en-US" sz="2000" dirty="0"/>
                        </a:p>
                      </a:txBody>
                      <a:tcPr anchor="ctr"/>
                    </a:tc>
                    <a:tc>
                      <a:txBody>
                        <a:bodyPr/>
                        <a:lstStyle/>
                        <a:p>
                          <a:pPr algn="ctr"/>
                          <a:r>
                            <a:rPr lang="en-US" altLang="zh-TW" sz="2000" dirty="0"/>
                            <a:t>2</a:t>
                          </a:r>
                          <a:endParaRPr lang="zh-TW" altLang="en-US" sz="2000" dirty="0"/>
                        </a:p>
                      </a:txBody>
                      <a:tcPr anchor="ctr"/>
                    </a:tc>
                    <a:tc>
                      <a:txBody>
                        <a:bodyPr/>
                        <a:lstStyle/>
                        <a:p>
                          <a:pPr algn="ctr"/>
                          <a:r>
                            <a:rPr lang="en-US" altLang="zh-TW" sz="2000" dirty="0"/>
                            <a:t>3</a:t>
                          </a:r>
                          <a:endParaRPr lang="zh-TW" altLang="en-US" sz="2000" dirty="0"/>
                        </a:p>
                      </a:txBody>
                      <a:tcPr anchor="ctr"/>
                    </a:tc>
                    <a:tc>
                      <a:txBody>
                        <a:bodyPr/>
                        <a:lstStyle/>
                        <a:p>
                          <a:pPr algn="ctr"/>
                          <a:r>
                            <a:rPr lang="en-US" altLang="zh-TW" sz="2000" dirty="0"/>
                            <a:t>3</a:t>
                          </a:r>
                          <a:endParaRPr lang="zh-TW" altLang="en-US" sz="2000" dirty="0"/>
                        </a:p>
                      </a:txBody>
                      <a:tcPr anchor="ctr"/>
                    </a:tc>
                    <a:tc>
                      <a:txBody>
                        <a:bodyPr/>
                        <a:lstStyle/>
                        <a:p>
                          <a:pPr algn="ctr"/>
                          <a:r>
                            <a:rPr lang="en-US" altLang="zh-TW" sz="2000" dirty="0"/>
                            <a:t>4</a:t>
                          </a:r>
                          <a:endParaRPr lang="zh-TW" altLang="en-US" sz="2000" dirty="0"/>
                        </a:p>
                      </a:txBody>
                      <a:tcPr anchor="ctr"/>
                    </a:tc>
                    <a:extLst>
                      <a:ext uri="{0D108BD9-81ED-4DB2-BD59-A6C34878D82A}">
                        <a16:rowId xmlns:a16="http://schemas.microsoft.com/office/drawing/2014/main" val="3398489603"/>
                      </a:ext>
                    </a:extLst>
                  </a:tr>
                </a:tbl>
              </a:graphicData>
            </a:graphic>
          </p:graphicFrame>
        </mc:Choice>
        <mc:Fallback xmlns="">
          <p:graphicFrame>
            <p:nvGraphicFramePr>
              <p:cNvPr id="19" name="表格 18">
                <a:extLst>
                  <a:ext uri="{FF2B5EF4-FFF2-40B4-BE49-F238E27FC236}">
                    <a16:creationId xmlns:a16="http://schemas.microsoft.com/office/drawing/2014/main" id="{2A45CA71-FDD6-4903-B573-124379D995CB}"/>
                  </a:ext>
                </a:extLst>
              </p:cNvPr>
              <p:cNvGraphicFramePr>
                <a:graphicFrameLocks noGrp="1"/>
              </p:cNvGraphicFramePr>
              <p:nvPr>
                <p:extLst>
                  <p:ext uri="{D42A27DB-BD31-4B8C-83A1-F6EECF244321}">
                    <p14:modId xmlns:p14="http://schemas.microsoft.com/office/powerpoint/2010/main" val="3792841710"/>
                  </p:ext>
                </p:extLst>
              </p:nvPr>
            </p:nvGraphicFramePr>
            <p:xfrm>
              <a:off x="2201334" y="5182637"/>
              <a:ext cx="4741331" cy="792480"/>
            </p:xfrm>
            <a:graphic>
              <a:graphicData uri="http://schemas.openxmlformats.org/drawingml/2006/table">
                <a:tbl>
                  <a:tblPr firstRow="1" bandRow="1">
                    <a:tableStyleId>{5940675A-B579-460E-94D1-54222C63F5DA}</a:tableStyleId>
                  </a:tblPr>
                  <a:tblGrid>
                    <a:gridCol w="677333">
                      <a:extLst>
                        <a:ext uri="{9D8B030D-6E8A-4147-A177-3AD203B41FA5}">
                          <a16:colId xmlns:a16="http://schemas.microsoft.com/office/drawing/2014/main" val="2616301296"/>
                        </a:ext>
                      </a:extLst>
                    </a:gridCol>
                    <a:gridCol w="677333">
                      <a:extLst>
                        <a:ext uri="{9D8B030D-6E8A-4147-A177-3AD203B41FA5}">
                          <a16:colId xmlns:a16="http://schemas.microsoft.com/office/drawing/2014/main" val="126961617"/>
                        </a:ext>
                      </a:extLst>
                    </a:gridCol>
                    <a:gridCol w="677333">
                      <a:extLst>
                        <a:ext uri="{9D8B030D-6E8A-4147-A177-3AD203B41FA5}">
                          <a16:colId xmlns:a16="http://schemas.microsoft.com/office/drawing/2014/main" val="2634396870"/>
                        </a:ext>
                      </a:extLst>
                    </a:gridCol>
                    <a:gridCol w="677333">
                      <a:extLst>
                        <a:ext uri="{9D8B030D-6E8A-4147-A177-3AD203B41FA5}">
                          <a16:colId xmlns:a16="http://schemas.microsoft.com/office/drawing/2014/main" val="1291176962"/>
                        </a:ext>
                      </a:extLst>
                    </a:gridCol>
                    <a:gridCol w="677333">
                      <a:extLst>
                        <a:ext uri="{9D8B030D-6E8A-4147-A177-3AD203B41FA5}">
                          <a16:colId xmlns:a16="http://schemas.microsoft.com/office/drawing/2014/main" val="651979287"/>
                        </a:ext>
                      </a:extLst>
                    </a:gridCol>
                    <a:gridCol w="677333">
                      <a:extLst>
                        <a:ext uri="{9D8B030D-6E8A-4147-A177-3AD203B41FA5}">
                          <a16:colId xmlns:a16="http://schemas.microsoft.com/office/drawing/2014/main" val="80234941"/>
                        </a:ext>
                      </a:extLst>
                    </a:gridCol>
                    <a:gridCol w="677333">
                      <a:extLst>
                        <a:ext uri="{9D8B030D-6E8A-4147-A177-3AD203B41FA5}">
                          <a16:colId xmlns:a16="http://schemas.microsoft.com/office/drawing/2014/main" val="2981945742"/>
                        </a:ext>
                      </a:extLst>
                    </a:gridCol>
                  </a:tblGrid>
                  <a:tr h="396240">
                    <a:tc>
                      <a:txBody>
                        <a:bodyPr/>
                        <a:lstStyle/>
                        <a:p>
                          <a:endParaRPr lang="zh-TW"/>
                        </a:p>
                      </a:txBody>
                      <a:tcPr anchor="ctr">
                        <a:blipFill>
                          <a:blip r:embed="rId5"/>
                          <a:stretch>
                            <a:fillRect l="-901" t="-7576" r="-602703" b="-124242"/>
                          </a:stretch>
                        </a:blipFill>
                      </a:tcPr>
                    </a:tc>
                    <a:tc>
                      <a:txBody>
                        <a:bodyPr/>
                        <a:lstStyle/>
                        <a:p>
                          <a:pPr algn="ctr"/>
                          <a:r>
                            <a:rPr lang="en-US" altLang="zh-TW" sz="2000" dirty="0"/>
                            <a:t>5</a:t>
                          </a:r>
                          <a:endParaRPr lang="zh-TW" altLang="en-US" sz="2000" dirty="0"/>
                        </a:p>
                      </a:txBody>
                      <a:tcPr anchor="ctr"/>
                    </a:tc>
                    <a:tc>
                      <a:txBody>
                        <a:bodyPr/>
                        <a:lstStyle/>
                        <a:p>
                          <a:pPr algn="ctr"/>
                          <a:r>
                            <a:rPr lang="en-US" altLang="zh-TW" sz="2000" dirty="0"/>
                            <a:t>6</a:t>
                          </a:r>
                          <a:endParaRPr lang="zh-TW" altLang="en-US" sz="2000" dirty="0"/>
                        </a:p>
                      </a:txBody>
                      <a:tcPr anchor="ctr"/>
                    </a:tc>
                    <a:tc>
                      <a:txBody>
                        <a:bodyPr/>
                        <a:lstStyle/>
                        <a:p>
                          <a:pPr algn="ctr"/>
                          <a:r>
                            <a:rPr lang="en-US" altLang="zh-TW" sz="2000" dirty="0"/>
                            <a:t>7</a:t>
                          </a:r>
                          <a:endParaRPr lang="zh-TW" altLang="en-US" sz="2000" dirty="0"/>
                        </a:p>
                      </a:txBody>
                      <a:tcPr anchor="ctr"/>
                    </a:tc>
                    <a:tc>
                      <a:txBody>
                        <a:bodyPr/>
                        <a:lstStyle/>
                        <a:p>
                          <a:pPr algn="ctr"/>
                          <a:r>
                            <a:rPr lang="en-US" altLang="zh-TW" sz="2000" dirty="0"/>
                            <a:t>8</a:t>
                          </a:r>
                          <a:endParaRPr lang="zh-TW" altLang="en-US" sz="2000" dirty="0"/>
                        </a:p>
                      </a:txBody>
                      <a:tcPr anchor="ctr"/>
                    </a:tc>
                    <a:tc>
                      <a:txBody>
                        <a:bodyPr/>
                        <a:lstStyle/>
                        <a:p>
                          <a:pPr algn="ctr"/>
                          <a:r>
                            <a:rPr lang="en-US" altLang="zh-TW" sz="2000" dirty="0"/>
                            <a:t>9</a:t>
                          </a:r>
                          <a:endParaRPr lang="zh-TW" altLang="en-US" sz="2000" dirty="0"/>
                        </a:p>
                      </a:txBody>
                      <a:tcPr anchor="ctr"/>
                    </a:tc>
                    <a:tc>
                      <a:txBody>
                        <a:bodyPr/>
                        <a:lstStyle/>
                        <a:p>
                          <a:pPr algn="ctr"/>
                          <a:r>
                            <a:rPr lang="en-US" altLang="zh-TW" sz="2000" dirty="0"/>
                            <a:t>10</a:t>
                          </a:r>
                          <a:endParaRPr lang="zh-TW" altLang="en-US" sz="2000" dirty="0"/>
                        </a:p>
                      </a:txBody>
                      <a:tcPr anchor="ctr"/>
                    </a:tc>
                    <a:extLst>
                      <a:ext uri="{0D108BD9-81ED-4DB2-BD59-A6C34878D82A}">
                        <a16:rowId xmlns:a16="http://schemas.microsoft.com/office/drawing/2014/main" val="1967640266"/>
                      </a:ext>
                    </a:extLst>
                  </a:tr>
                  <a:tr h="396240">
                    <a:tc>
                      <a:txBody>
                        <a:bodyPr/>
                        <a:lstStyle/>
                        <a:p>
                          <a:endParaRPr lang="zh-TW"/>
                        </a:p>
                      </a:txBody>
                      <a:tcPr anchor="ctr">
                        <a:blipFill>
                          <a:blip r:embed="rId5"/>
                          <a:stretch>
                            <a:fillRect l="-901" t="-109231" r="-602703" b="-26154"/>
                          </a:stretch>
                        </a:blipFill>
                      </a:tcPr>
                    </a:tc>
                    <a:tc>
                      <a:txBody>
                        <a:bodyPr/>
                        <a:lstStyle/>
                        <a:p>
                          <a:pPr algn="ctr"/>
                          <a:r>
                            <a:rPr lang="en-US" altLang="zh-TW" sz="2000" dirty="0"/>
                            <a:t>1</a:t>
                          </a:r>
                          <a:endParaRPr lang="zh-TW" altLang="en-US" sz="2000" dirty="0"/>
                        </a:p>
                      </a:txBody>
                      <a:tcPr anchor="ctr"/>
                    </a:tc>
                    <a:tc>
                      <a:txBody>
                        <a:bodyPr/>
                        <a:lstStyle/>
                        <a:p>
                          <a:pPr algn="ctr"/>
                          <a:r>
                            <a:rPr lang="en-US" altLang="zh-TW" sz="2000" dirty="0"/>
                            <a:t>2</a:t>
                          </a:r>
                          <a:endParaRPr lang="zh-TW" altLang="en-US" sz="2000" dirty="0"/>
                        </a:p>
                      </a:txBody>
                      <a:tcPr anchor="ctr"/>
                    </a:tc>
                    <a:tc>
                      <a:txBody>
                        <a:bodyPr/>
                        <a:lstStyle/>
                        <a:p>
                          <a:pPr algn="ctr"/>
                          <a:r>
                            <a:rPr lang="en-US" altLang="zh-TW" sz="2000" dirty="0"/>
                            <a:t>2</a:t>
                          </a:r>
                          <a:endParaRPr lang="zh-TW" altLang="en-US" sz="2000" dirty="0"/>
                        </a:p>
                      </a:txBody>
                      <a:tcPr anchor="ctr"/>
                    </a:tc>
                    <a:tc>
                      <a:txBody>
                        <a:bodyPr/>
                        <a:lstStyle/>
                        <a:p>
                          <a:pPr algn="ctr"/>
                          <a:r>
                            <a:rPr lang="en-US" altLang="zh-TW" sz="2000" dirty="0"/>
                            <a:t>3</a:t>
                          </a:r>
                          <a:endParaRPr lang="zh-TW" altLang="en-US" sz="2000" dirty="0"/>
                        </a:p>
                      </a:txBody>
                      <a:tcPr anchor="ctr"/>
                    </a:tc>
                    <a:tc>
                      <a:txBody>
                        <a:bodyPr/>
                        <a:lstStyle/>
                        <a:p>
                          <a:pPr algn="ctr"/>
                          <a:r>
                            <a:rPr lang="en-US" altLang="zh-TW" sz="2000" dirty="0"/>
                            <a:t>3</a:t>
                          </a:r>
                          <a:endParaRPr lang="zh-TW" altLang="en-US" sz="2000" dirty="0"/>
                        </a:p>
                      </a:txBody>
                      <a:tcPr anchor="ctr"/>
                    </a:tc>
                    <a:tc>
                      <a:txBody>
                        <a:bodyPr/>
                        <a:lstStyle/>
                        <a:p>
                          <a:pPr algn="ctr"/>
                          <a:r>
                            <a:rPr lang="en-US" altLang="zh-TW" sz="2000" dirty="0"/>
                            <a:t>4</a:t>
                          </a:r>
                          <a:endParaRPr lang="zh-TW" altLang="en-US" sz="2000" dirty="0"/>
                        </a:p>
                      </a:txBody>
                      <a:tcPr anchor="ctr"/>
                    </a:tc>
                    <a:extLst>
                      <a:ext uri="{0D108BD9-81ED-4DB2-BD59-A6C34878D82A}">
                        <a16:rowId xmlns:a16="http://schemas.microsoft.com/office/drawing/2014/main" val="3398489603"/>
                      </a:ext>
                    </a:extLst>
                  </a:tr>
                </a:tbl>
              </a:graphicData>
            </a:graphic>
          </p:graphicFrame>
        </mc:Fallback>
      </mc:AlternateContent>
      <p:sp>
        <p:nvSpPr>
          <p:cNvPr id="10" name="標題 1">
            <a:extLst>
              <a:ext uri="{FF2B5EF4-FFF2-40B4-BE49-F238E27FC236}">
                <a16:creationId xmlns:a16="http://schemas.microsoft.com/office/drawing/2014/main" id="{D7FA4984-E5FD-4C80-87E6-34FFFCA5F90F}"/>
              </a:ext>
            </a:extLst>
          </p:cNvPr>
          <p:cNvSpPr txBox="1">
            <a:spLocks/>
          </p:cNvSpPr>
          <p:nvPr/>
        </p:nvSpPr>
        <p:spPr>
          <a:xfrm>
            <a:off x="1236498" y="3060600"/>
            <a:ext cx="5070993" cy="53997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altLang="zh-TW" sz="2000" dirty="0">
                <a:solidFill>
                  <a:srgbClr val="FF0000"/>
                </a:solidFill>
                <a:latin typeface="Times New Roman" panose="02020603050405020304" pitchFamily="18" charset="0"/>
                <a:cs typeface="Times New Roman" panose="02020603050405020304" pitchFamily="18" charset="0"/>
              </a:rPr>
              <a:t>10</a:t>
            </a:r>
            <a:r>
              <a:rPr lang="en-US" altLang="zh-TW" sz="2000" dirty="0">
                <a:solidFill>
                  <a:srgbClr val="00B050"/>
                </a:solidFill>
                <a:latin typeface="Times New Roman" panose="02020603050405020304" pitchFamily="18" charset="0"/>
                <a:cs typeface="Times New Roman" panose="02020603050405020304" pitchFamily="18" charset="0"/>
              </a:rPr>
              <a:t>1</a:t>
            </a:r>
            <a:r>
              <a:rPr lang="en-US" altLang="zh-TW" sz="2000" dirty="0">
                <a:latin typeface="Times New Roman" panose="02020603050405020304" pitchFamily="18" charset="0"/>
                <a:cs typeface="Times New Roman" panose="02020603050405020304" pitchFamily="18" charset="0"/>
              </a:rPr>
              <a:t>0102</a:t>
            </a:r>
            <a:r>
              <a:rPr lang="zh-TW" altLang="en-US" sz="2000" dirty="0">
                <a:latin typeface="Times New Roman" panose="02020603050405020304" pitchFamily="18" charset="0"/>
                <a:cs typeface="Times New Roman" panose="02020603050405020304" pitchFamily="18" charset="0"/>
              </a:rPr>
              <a:t>→</a:t>
            </a:r>
            <a:r>
              <a:rPr lang="en-US" altLang="zh-TW" sz="2000" b="1" u="sng" dirty="0">
                <a:latin typeface="Times New Roman" panose="02020603050405020304" pitchFamily="18" charset="0"/>
                <a:cs typeface="Times New Roman" panose="02020603050405020304" pitchFamily="18" charset="0"/>
              </a:rPr>
              <a:t>1100</a:t>
            </a:r>
            <a:r>
              <a:rPr lang="en-US" altLang="zh-TW" sz="2000" dirty="0">
                <a:latin typeface="Times New Roman" panose="02020603050405020304" pitchFamily="18" charset="0"/>
                <a:cs typeface="Times New Roman" panose="02020603050405020304" pitchFamily="18" charset="0"/>
              </a:rPr>
              <a:t>102</a:t>
            </a:r>
            <a:r>
              <a:rPr lang="zh-TW" altLang="en-US" sz="2000" dirty="0">
                <a:latin typeface="Times New Roman" panose="02020603050405020304" pitchFamily="18" charset="0"/>
                <a:cs typeface="Times New Roman" panose="02020603050405020304" pitchFamily="18" charset="0"/>
              </a:rPr>
              <a:t>→</a:t>
            </a:r>
            <a:r>
              <a:rPr lang="en-US" altLang="zh-TW" sz="2000" dirty="0">
                <a:solidFill>
                  <a:srgbClr val="FF0000"/>
                </a:solidFill>
                <a:latin typeface="Times New Roman" panose="02020603050405020304" pitchFamily="18" charset="0"/>
                <a:cs typeface="Times New Roman" panose="02020603050405020304" pitchFamily="18" charset="0"/>
              </a:rPr>
              <a:t>10</a:t>
            </a:r>
            <a:r>
              <a:rPr lang="en-US" altLang="zh-TW" sz="2000" dirty="0">
                <a:solidFill>
                  <a:srgbClr val="00B050"/>
                </a:solidFill>
                <a:latin typeface="Times New Roman" panose="02020603050405020304" pitchFamily="18" charset="0"/>
                <a:cs typeface="Times New Roman" panose="02020603050405020304" pitchFamily="18" charset="0"/>
              </a:rPr>
              <a:t>1</a:t>
            </a:r>
            <a:r>
              <a:rPr lang="en-US" altLang="zh-TW" sz="2000" dirty="0">
                <a:latin typeface="Times New Roman" panose="02020603050405020304" pitchFamily="18" charset="0"/>
                <a:cs typeface="Times New Roman" panose="02020603050405020304" pitchFamily="18" charset="0"/>
              </a:rPr>
              <a:t>02</a:t>
            </a:r>
            <a:r>
              <a:rPr lang="zh-TW" altLang="en-US" sz="2000" dirty="0">
                <a:latin typeface="Times New Roman" panose="02020603050405020304" pitchFamily="18" charset="0"/>
                <a:cs typeface="Times New Roman" panose="02020603050405020304" pitchFamily="18" charset="0"/>
              </a:rPr>
              <a:t>→</a:t>
            </a:r>
            <a:r>
              <a:rPr lang="en-US" altLang="zh-TW" sz="2000" b="1" u="sng" dirty="0">
                <a:latin typeface="Times New Roman" panose="02020603050405020304" pitchFamily="18" charset="0"/>
                <a:cs typeface="Times New Roman" panose="02020603050405020304" pitchFamily="18" charset="0"/>
              </a:rPr>
              <a:t>1100</a:t>
            </a:r>
            <a:r>
              <a:rPr lang="en-US" altLang="zh-TW" sz="2000" dirty="0">
                <a:latin typeface="Times New Roman" panose="02020603050405020304" pitchFamily="18" charset="0"/>
                <a:cs typeface="Times New Roman" panose="02020603050405020304" pitchFamily="18" charset="0"/>
              </a:rPr>
              <a:t>2</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102</a:t>
            </a:r>
          </a:p>
        </p:txBody>
      </p:sp>
      <p:sp>
        <p:nvSpPr>
          <p:cNvPr id="12" name="標題 1">
            <a:extLst>
              <a:ext uri="{FF2B5EF4-FFF2-40B4-BE49-F238E27FC236}">
                <a16:creationId xmlns:a16="http://schemas.microsoft.com/office/drawing/2014/main" id="{1D9F7077-2935-4D4C-AEB4-252ED5000F16}"/>
              </a:ext>
            </a:extLst>
          </p:cNvPr>
          <p:cNvSpPr txBox="1">
            <a:spLocks/>
          </p:cNvSpPr>
          <p:nvPr/>
        </p:nvSpPr>
        <p:spPr>
          <a:xfrm>
            <a:off x="1236498" y="4468380"/>
            <a:ext cx="6671001" cy="53997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altLang="zh-TW" sz="2000" dirty="0">
                <a:solidFill>
                  <a:srgbClr val="FF0000"/>
                </a:solidFill>
                <a:latin typeface="Times New Roman" panose="02020603050405020304" pitchFamily="18" charset="0"/>
                <a:cs typeface="Times New Roman" panose="02020603050405020304" pitchFamily="18" charset="0"/>
              </a:rPr>
              <a:t>10</a:t>
            </a:r>
            <a:r>
              <a:rPr lang="en-US" altLang="zh-TW" sz="2000" dirty="0">
                <a:solidFill>
                  <a:srgbClr val="00B050"/>
                </a:solidFill>
                <a:latin typeface="Times New Roman" panose="02020603050405020304" pitchFamily="18" charset="0"/>
                <a:cs typeface="Times New Roman" panose="02020603050405020304" pitchFamily="18" charset="0"/>
              </a:rPr>
              <a:t>1</a:t>
            </a:r>
            <a:r>
              <a:rPr lang="en-US" altLang="zh-TW" sz="2000" dirty="0">
                <a:latin typeface="Times New Roman" panose="02020603050405020304" pitchFamily="18" charset="0"/>
                <a:cs typeface="Times New Roman" panose="02020603050405020304" pitchFamily="18" charset="0"/>
              </a:rPr>
              <a:t>01012</a:t>
            </a:r>
            <a:r>
              <a:rPr lang="zh-TW" altLang="en-US" sz="2000" dirty="0">
                <a:latin typeface="Times New Roman" panose="02020603050405020304" pitchFamily="18" charset="0"/>
                <a:cs typeface="Times New Roman" panose="02020603050405020304" pitchFamily="18" charset="0"/>
              </a:rPr>
              <a:t>→</a:t>
            </a:r>
            <a:r>
              <a:rPr lang="en-US" altLang="zh-TW" sz="2000" b="1" u="sng" dirty="0">
                <a:latin typeface="Times New Roman" panose="02020603050405020304" pitchFamily="18" charset="0"/>
                <a:cs typeface="Times New Roman" panose="02020603050405020304" pitchFamily="18" charset="0"/>
              </a:rPr>
              <a:t>1100</a:t>
            </a:r>
            <a:r>
              <a:rPr lang="en-US" altLang="zh-TW" sz="2000" dirty="0">
                <a:latin typeface="Times New Roman" panose="02020603050405020304" pitchFamily="18" charset="0"/>
                <a:cs typeface="Times New Roman" panose="02020603050405020304" pitchFamily="18" charset="0"/>
              </a:rPr>
              <a:t>1012</a:t>
            </a:r>
            <a:r>
              <a:rPr lang="zh-TW" altLang="en-US" sz="2000" dirty="0">
                <a:latin typeface="Times New Roman" panose="02020603050405020304" pitchFamily="18" charset="0"/>
                <a:cs typeface="Times New Roman" panose="02020603050405020304" pitchFamily="18" charset="0"/>
              </a:rPr>
              <a:t>→</a:t>
            </a:r>
            <a:r>
              <a:rPr lang="en-US" altLang="zh-TW" sz="2000" dirty="0">
                <a:solidFill>
                  <a:srgbClr val="FF0000"/>
                </a:solidFill>
                <a:latin typeface="Times New Roman" panose="02020603050405020304" pitchFamily="18" charset="0"/>
                <a:cs typeface="Times New Roman" panose="02020603050405020304" pitchFamily="18" charset="0"/>
              </a:rPr>
              <a:t>10</a:t>
            </a:r>
            <a:r>
              <a:rPr lang="en-US" altLang="zh-TW" sz="2000" dirty="0">
                <a:solidFill>
                  <a:srgbClr val="00B050"/>
                </a:solidFill>
                <a:latin typeface="Times New Roman" panose="02020603050405020304" pitchFamily="18" charset="0"/>
                <a:cs typeface="Times New Roman" panose="02020603050405020304" pitchFamily="18" charset="0"/>
              </a:rPr>
              <a:t>1</a:t>
            </a:r>
            <a:r>
              <a:rPr lang="en-US" altLang="zh-TW" sz="2000" dirty="0">
                <a:latin typeface="Times New Roman" panose="02020603050405020304" pitchFamily="18" charset="0"/>
                <a:cs typeface="Times New Roman" panose="02020603050405020304" pitchFamily="18" charset="0"/>
              </a:rPr>
              <a:t>012</a:t>
            </a:r>
            <a:r>
              <a:rPr lang="zh-TW" altLang="en-US" sz="2000" dirty="0">
                <a:latin typeface="Times New Roman" panose="02020603050405020304" pitchFamily="18" charset="0"/>
                <a:cs typeface="Times New Roman" panose="02020603050405020304" pitchFamily="18" charset="0"/>
              </a:rPr>
              <a:t>→</a:t>
            </a:r>
            <a:r>
              <a:rPr lang="en-US" altLang="zh-TW" sz="2000" b="1" u="sng" dirty="0">
                <a:latin typeface="Times New Roman" panose="02020603050405020304" pitchFamily="18" charset="0"/>
                <a:cs typeface="Times New Roman" panose="02020603050405020304" pitchFamily="18" charset="0"/>
              </a:rPr>
              <a:t>1100</a:t>
            </a:r>
            <a:r>
              <a:rPr lang="en-US" altLang="zh-TW" sz="2000" dirty="0">
                <a:latin typeface="Times New Roman" panose="02020603050405020304" pitchFamily="18" charset="0"/>
                <a:cs typeface="Times New Roman" panose="02020603050405020304" pitchFamily="18" charset="0"/>
              </a:rPr>
              <a:t>12</a:t>
            </a:r>
            <a:r>
              <a:rPr lang="zh-TW" altLang="en-US" sz="2000" dirty="0">
                <a:latin typeface="Times New Roman" panose="02020603050405020304" pitchFamily="18" charset="0"/>
                <a:cs typeface="Times New Roman" panose="02020603050405020304" pitchFamily="18" charset="0"/>
              </a:rPr>
              <a:t>→</a:t>
            </a:r>
            <a:r>
              <a:rPr lang="en-US" altLang="zh-TW" sz="2000" dirty="0">
                <a:solidFill>
                  <a:srgbClr val="FF0000"/>
                </a:solidFill>
                <a:latin typeface="Times New Roman" panose="02020603050405020304" pitchFamily="18" charset="0"/>
                <a:cs typeface="Times New Roman" panose="02020603050405020304" pitchFamily="18" charset="0"/>
              </a:rPr>
              <a:t>1</a:t>
            </a:r>
            <a:r>
              <a:rPr lang="en-US" altLang="zh-TW" sz="2000" dirty="0">
                <a:solidFill>
                  <a:srgbClr val="00B050"/>
                </a:solidFill>
                <a:latin typeface="Times New Roman" panose="02020603050405020304" pitchFamily="18" charset="0"/>
                <a:cs typeface="Times New Roman" panose="02020603050405020304" pitchFamily="18" charset="0"/>
              </a:rPr>
              <a:t>0</a:t>
            </a:r>
            <a:r>
              <a:rPr lang="en-US" altLang="zh-TW" sz="2000" dirty="0">
                <a:latin typeface="Times New Roman" panose="02020603050405020304" pitchFamily="18" charset="0"/>
                <a:cs typeface="Times New Roman" panose="02020603050405020304" pitchFamily="18" charset="0"/>
              </a:rPr>
              <a:t>12</a:t>
            </a:r>
            <a:r>
              <a:rPr lang="zh-TW" altLang="en-US" sz="2000" dirty="0">
                <a:latin typeface="Times New Roman" panose="02020603050405020304" pitchFamily="18" charset="0"/>
                <a:cs typeface="Times New Roman" panose="02020603050405020304" pitchFamily="18" charset="0"/>
              </a:rPr>
              <a:t>→</a:t>
            </a:r>
            <a:r>
              <a:rPr lang="en-US" altLang="zh-TW" sz="2000" dirty="0">
                <a:latin typeface="Times New Roman" panose="02020603050405020304" pitchFamily="18" charset="0"/>
                <a:cs typeface="Times New Roman" panose="02020603050405020304" pitchFamily="18" charset="0"/>
              </a:rPr>
              <a:t>0</a:t>
            </a:r>
            <a:r>
              <a:rPr lang="en-US" altLang="zh-TW" sz="2000" b="1" u="sng" dirty="0">
                <a:latin typeface="Times New Roman" panose="02020603050405020304" pitchFamily="18" charset="0"/>
                <a:cs typeface="Times New Roman" panose="02020603050405020304" pitchFamily="18" charset="0"/>
              </a:rPr>
              <a:t>11</a:t>
            </a:r>
            <a:r>
              <a:rPr lang="en-US" altLang="zh-TW" sz="2000" dirty="0">
                <a:latin typeface="Times New Roman" panose="02020603050405020304" pitchFamily="18" charset="0"/>
                <a:cs typeface="Times New Roman" panose="02020603050405020304" pitchFamily="18" charset="0"/>
              </a:rPr>
              <a:t>2</a:t>
            </a:r>
            <a:r>
              <a:rPr lang="zh-TW" altLang="en-US" sz="2000" dirty="0">
                <a:latin typeface="Times New Roman" panose="02020603050405020304" pitchFamily="18" charset="0"/>
                <a:cs typeface="Times New Roman" panose="02020603050405020304" pitchFamily="18" charset="0"/>
              </a:rPr>
              <a:t>→</a:t>
            </a:r>
            <a:r>
              <a:rPr lang="en-US" altLang="zh-TW" sz="2000" dirty="0">
                <a:latin typeface="Times New Roman" panose="02020603050405020304" pitchFamily="18" charset="0"/>
                <a:cs typeface="Times New Roman" panose="02020603050405020304" pitchFamily="18" charset="0"/>
              </a:rPr>
              <a:t>012</a:t>
            </a:r>
          </a:p>
        </p:txBody>
      </p:sp>
    </p:spTree>
    <p:extLst>
      <p:ext uri="{BB962C8B-B14F-4D97-AF65-F5344CB8AC3E}">
        <p14:creationId xmlns:p14="http://schemas.microsoft.com/office/powerpoint/2010/main" val="3305392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222F4ADD-F9DA-4202-A4ED-239132DE7250}"/>
              </a:ext>
            </a:extLst>
          </p:cNvPr>
          <p:cNvSpPr>
            <a:spLocks noGrp="1"/>
          </p:cNvSpPr>
          <p:nvPr>
            <p:ph type="sldNum" sz="quarter" idx="12"/>
          </p:nvPr>
        </p:nvSpPr>
        <p:spPr/>
        <p:txBody>
          <a:bodyPr/>
          <a:lstStyle/>
          <a:p>
            <a:fld id="{872633CA-77E0-4863-94F8-E28139DFB2B4}" type="slidenum">
              <a:rPr lang="zh-TW" altLang="en-US" smtClean="0"/>
              <a:t>12</a:t>
            </a:fld>
            <a:endParaRPr lang="zh-TW" altLang="en-US"/>
          </a:p>
        </p:txBody>
      </p:sp>
      <p:sp>
        <p:nvSpPr>
          <p:cNvPr id="5" name="標題 1">
            <a:extLst>
              <a:ext uri="{FF2B5EF4-FFF2-40B4-BE49-F238E27FC236}">
                <a16:creationId xmlns:a16="http://schemas.microsoft.com/office/drawing/2014/main" id="{FEF0B28A-BF0C-4AED-8461-CBEAD77D334D}"/>
              </a:ext>
            </a:extLst>
          </p:cNvPr>
          <p:cNvSpPr txBox="1">
            <a:spLocks/>
          </p:cNvSpPr>
          <p:nvPr/>
        </p:nvSpPr>
        <p:spPr>
          <a:xfrm>
            <a:off x="402232" y="385081"/>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Grouping - ternary</a:t>
            </a:r>
            <a:endParaRPr lang="zh-TW" alt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標題 1">
                <a:extLst>
                  <a:ext uri="{FF2B5EF4-FFF2-40B4-BE49-F238E27FC236}">
                    <a16:creationId xmlns:a16="http://schemas.microsoft.com/office/drawing/2014/main" id="{763094B3-CC12-408A-AF35-67F3F2C58BD6}"/>
                  </a:ext>
                </a:extLst>
              </p:cNvPr>
              <p:cNvSpPr txBox="1">
                <a:spLocks/>
              </p:cNvSpPr>
              <p:nvPr/>
            </p:nvSpPr>
            <p:spPr>
              <a:xfrm>
                <a:off x="402232" y="680111"/>
                <a:ext cx="6720677" cy="14197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00000"/>
                  </a:lnSpc>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For fully ternary normalized string </a:t>
                </a:r>
                <a14:m>
                  <m:oMath xmlns:m="http://schemas.openxmlformats.org/officeDocument/2006/math">
                    <m:r>
                      <a:rPr lang="en-US" altLang="zh-TW" sz="2400" i="1" dirty="0" smtClean="0">
                        <a:latin typeface="Cambria Math" panose="02040503050406030204" pitchFamily="18" charset="0"/>
                        <a:cs typeface="Times New Roman" panose="02020603050405020304" pitchFamily="18" charset="0"/>
                      </a:rPr>
                      <m:t>𝑠</m:t>
                    </m:r>
                  </m:oMath>
                </a14:m>
                <a:r>
                  <a:rPr lang="en-US" altLang="zh-TW" sz="2000"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2000" b="0" i="0" dirty="0" smtClean="0">
                        <a:latin typeface="Cambria Math" panose="02040503050406030204" pitchFamily="18" charset="0"/>
                        <a:cs typeface="Times New Roman" panose="02020603050405020304" pitchFamily="18" charset="0"/>
                      </a:rPr>
                      <m:t>(</m:t>
                    </m:r>
                    <m:d>
                      <m:dPr>
                        <m:begChr m:val="|"/>
                        <m:endChr m:val="|"/>
                        <m:ctrlPr>
                          <a:rPr lang="en-US" altLang="zh-TW" sz="2000" b="0" i="1" dirty="0" smtClean="0">
                            <a:latin typeface="Cambria Math" panose="02040503050406030204" pitchFamily="18" charset="0"/>
                            <a:cs typeface="Times New Roman" panose="02020603050405020304" pitchFamily="18" charset="0"/>
                          </a:rPr>
                        </m:ctrlPr>
                      </m:dPr>
                      <m:e>
                        <m:r>
                          <a:rPr lang="en-US" altLang="zh-TW" sz="2000" b="0" i="1" dirty="0" smtClean="0">
                            <a:latin typeface="Cambria Math" panose="02040503050406030204" pitchFamily="18" charset="0"/>
                            <a:cs typeface="Times New Roman" panose="02020603050405020304" pitchFamily="18" charset="0"/>
                          </a:rPr>
                          <m:t>𝑠</m:t>
                        </m:r>
                      </m:e>
                    </m:d>
                    <m:r>
                      <a:rPr lang="en-US" altLang="zh-TW" sz="2000" b="0" i="1" dirty="0" smtClean="0">
                        <a:latin typeface="Cambria Math" panose="02040503050406030204" pitchFamily="18" charset="0"/>
                        <a:cs typeface="Times New Roman" panose="02020603050405020304" pitchFamily="18" charset="0"/>
                      </a:rPr>
                      <m:t>&gt;4)</m:t>
                    </m:r>
                  </m:oMath>
                </a14:m>
                <a:endParaRPr lang="en-US" altLang="zh-TW" sz="2000" dirty="0">
                  <a:latin typeface="Times New Roman" panose="02020603050405020304" pitchFamily="18" charset="0"/>
                  <a:cs typeface="Times New Roman" panose="02020603050405020304" pitchFamily="18" charset="0"/>
                </a:endParaRPr>
              </a:p>
            </p:txBody>
          </p:sp>
        </mc:Choice>
        <mc:Fallback xmlns="">
          <p:sp>
            <p:nvSpPr>
              <p:cNvPr id="12" name="標題 1">
                <a:extLst>
                  <a:ext uri="{FF2B5EF4-FFF2-40B4-BE49-F238E27FC236}">
                    <a16:creationId xmlns:a16="http://schemas.microsoft.com/office/drawing/2014/main" id="{763094B3-CC12-408A-AF35-67F3F2C58BD6}"/>
                  </a:ext>
                </a:extLst>
              </p:cNvPr>
              <p:cNvSpPr txBox="1">
                <a:spLocks noRot="1" noChangeAspect="1" noMove="1" noResize="1" noEditPoints="1" noAdjustHandles="1" noChangeArrowheads="1" noChangeShapeType="1" noTextEdit="1"/>
              </p:cNvSpPr>
              <p:nvPr/>
            </p:nvSpPr>
            <p:spPr>
              <a:xfrm>
                <a:off x="402232" y="680111"/>
                <a:ext cx="6720677" cy="1419789"/>
              </a:xfrm>
              <a:prstGeom prst="rect">
                <a:avLst/>
              </a:prstGeom>
              <a:blipFill>
                <a:blip r:embed="rId2"/>
                <a:stretch>
                  <a:fillRect l="-127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標題 1">
                <a:extLst>
                  <a:ext uri="{FF2B5EF4-FFF2-40B4-BE49-F238E27FC236}">
                    <a16:creationId xmlns:a16="http://schemas.microsoft.com/office/drawing/2014/main" id="{003605E4-76B1-407E-B053-1A9609C6A242}"/>
                  </a:ext>
                </a:extLst>
              </p:cNvPr>
              <p:cNvSpPr txBox="1">
                <a:spLocks/>
              </p:cNvSpPr>
              <p:nvPr/>
            </p:nvSpPr>
            <p:spPr>
              <a:xfrm>
                <a:off x="1930764" y="1561443"/>
                <a:ext cx="5282472" cy="14197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TW" sz="2400" b="0" i="1" smtClean="0">
                              <a:solidFill>
                                <a:srgbClr val="0070C0"/>
                              </a:solidFill>
                              <a:latin typeface="Cambria Math" panose="02040503050406030204" pitchFamily="18" charset="0"/>
                              <a:cs typeface="Times New Roman" panose="02020603050405020304" pitchFamily="18" charset="0"/>
                            </a:rPr>
                          </m:ctrlPr>
                        </m:sSubPr>
                        <m:e>
                          <m:d>
                            <m:dPr>
                              <m:begChr m:val="⌈"/>
                              <m:endChr m:val="⌉"/>
                              <m:ctrlPr>
                                <a:rPr lang="en-US" altLang="zh-TW" sz="2400" i="1">
                                  <a:solidFill>
                                    <a:srgbClr val="0070C0"/>
                                  </a:solidFill>
                                  <a:latin typeface="Cambria Math" panose="02040503050406030204" pitchFamily="18" charset="0"/>
                                  <a:cs typeface="Times New Roman" panose="02020603050405020304" pitchFamily="18" charset="0"/>
                                </a:rPr>
                              </m:ctrlPr>
                            </m:dPr>
                            <m:e>
                              <m:f>
                                <m:fPr>
                                  <m:ctrlPr>
                                    <a:rPr lang="en-US" altLang="zh-TW" sz="2400" i="1">
                                      <a:solidFill>
                                        <a:srgbClr val="0070C0"/>
                                      </a:solidFill>
                                      <a:latin typeface="Cambria Math" panose="02040503050406030204" pitchFamily="18" charset="0"/>
                                      <a:cs typeface="Times New Roman" panose="02020603050405020304" pitchFamily="18" charset="0"/>
                                    </a:rPr>
                                  </m:ctrlPr>
                                </m:fPr>
                                <m:num>
                                  <m:r>
                                    <a:rPr lang="en-US" altLang="zh-TW" sz="2400" i="1">
                                      <a:solidFill>
                                        <a:srgbClr val="0070C0"/>
                                      </a:solidFill>
                                      <a:latin typeface="Cambria Math" panose="02040503050406030204" pitchFamily="18" charset="0"/>
                                      <a:cs typeface="Times New Roman" panose="02020603050405020304" pitchFamily="18" charset="0"/>
                                    </a:rPr>
                                    <m:t>|</m:t>
                                  </m:r>
                                  <m:r>
                                    <a:rPr lang="en-US" altLang="zh-TW" sz="2400" i="1">
                                      <a:solidFill>
                                        <a:srgbClr val="0070C0"/>
                                      </a:solidFill>
                                      <a:latin typeface="Cambria Math" panose="02040503050406030204" pitchFamily="18" charset="0"/>
                                      <a:cs typeface="Times New Roman" panose="02020603050405020304" pitchFamily="18" charset="0"/>
                                    </a:rPr>
                                    <m:t>𝑠</m:t>
                                  </m:r>
                                  <m:r>
                                    <a:rPr lang="en-US" altLang="zh-TW" sz="2400" i="1">
                                      <a:solidFill>
                                        <a:srgbClr val="0070C0"/>
                                      </a:solidFill>
                                      <a:latin typeface="Cambria Math" panose="02040503050406030204" pitchFamily="18" charset="0"/>
                                      <a:cs typeface="Times New Roman" panose="02020603050405020304" pitchFamily="18" charset="0"/>
                                    </a:rPr>
                                    <m:t>|−3</m:t>
                                  </m:r>
                                </m:num>
                                <m:den>
                                  <m:r>
                                    <a:rPr lang="en-US" altLang="zh-TW" sz="2400" i="1">
                                      <a:solidFill>
                                        <a:srgbClr val="0070C0"/>
                                      </a:solidFill>
                                      <a:latin typeface="Cambria Math" panose="02040503050406030204" pitchFamily="18" charset="0"/>
                                      <a:cs typeface="Times New Roman" panose="02020603050405020304" pitchFamily="18" charset="0"/>
                                    </a:rPr>
                                    <m:t>2</m:t>
                                  </m:r>
                                </m:den>
                              </m:f>
                            </m:e>
                          </m:d>
                          <m:r>
                            <a:rPr lang="en-US" altLang="zh-TW" sz="2400" b="0" i="1" smtClean="0">
                              <a:solidFill>
                                <a:srgbClr val="0070C0"/>
                              </a:solidFill>
                              <a:latin typeface="Cambria Math" panose="02040503050406030204" pitchFamily="18" charset="0"/>
                              <a:cs typeface="Times New Roman" panose="02020603050405020304" pitchFamily="18" charset="0"/>
                            </a:rPr>
                            <m:t>≤</m:t>
                          </m:r>
                          <m:r>
                            <a:rPr lang="en-US" altLang="zh-TW" sz="2400" b="0" i="1" smtClean="0">
                              <a:solidFill>
                                <a:srgbClr val="0070C0"/>
                              </a:solidFill>
                              <a:latin typeface="Cambria Math" panose="02040503050406030204" pitchFamily="18" charset="0"/>
                              <a:cs typeface="Times New Roman" panose="02020603050405020304" pitchFamily="18" charset="0"/>
                            </a:rPr>
                            <m:t>𝑑</m:t>
                          </m:r>
                        </m:e>
                        <m:sub>
                          <m:r>
                            <a:rPr lang="en-US" altLang="zh-TW" sz="2400" b="0" i="1" smtClean="0">
                              <a:solidFill>
                                <a:srgbClr val="0070C0"/>
                              </a:solidFill>
                              <a:latin typeface="Cambria Math" panose="02040503050406030204" pitchFamily="18" charset="0"/>
                              <a:cs typeface="Times New Roman" panose="02020603050405020304" pitchFamily="18" charset="0"/>
                            </a:rPr>
                            <m:t>𝑔</m:t>
                          </m:r>
                        </m:sub>
                      </m:sSub>
                      <m:d>
                        <m:dPr>
                          <m:ctrlPr>
                            <a:rPr lang="en-US" altLang="zh-TW" sz="2400" b="0" i="1" smtClean="0">
                              <a:solidFill>
                                <a:srgbClr val="0070C0"/>
                              </a:solidFill>
                              <a:latin typeface="Cambria Math" panose="02040503050406030204" pitchFamily="18" charset="0"/>
                              <a:cs typeface="Times New Roman" panose="02020603050405020304" pitchFamily="18" charset="0"/>
                            </a:rPr>
                          </m:ctrlPr>
                        </m:dPr>
                        <m:e>
                          <m:r>
                            <a:rPr lang="en-US" altLang="zh-TW" sz="2400" b="0" i="1" smtClean="0">
                              <a:solidFill>
                                <a:srgbClr val="0070C0"/>
                              </a:solidFill>
                              <a:latin typeface="Cambria Math" panose="02040503050406030204" pitchFamily="18" charset="0"/>
                              <a:cs typeface="Times New Roman" panose="02020603050405020304" pitchFamily="18" charset="0"/>
                            </a:rPr>
                            <m:t>𝑠</m:t>
                          </m:r>
                        </m:e>
                      </m:d>
                      <m:r>
                        <a:rPr lang="en-US" altLang="zh-TW" sz="2400" b="0" i="1" smtClean="0">
                          <a:solidFill>
                            <a:srgbClr val="0070C0"/>
                          </a:solidFill>
                          <a:latin typeface="Cambria Math" panose="02040503050406030204" pitchFamily="18" charset="0"/>
                          <a:cs typeface="Times New Roman" panose="02020603050405020304" pitchFamily="18" charset="0"/>
                        </a:rPr>
                        <m:t>≤</m:t>
                      </m:r>
                      <m:d>
                        <m:dPr>
                          <m:begChr m:val="⌈"/>
                          <m:endChr m:val="⌉"/>
                          <m:ctrlPr>
                            <a:rPr lang="en-US" altLang="zh-TW" sz="2400" b="0" i="1" smtClean="0">
                              <a:solidFill>
                                <a:srgbClr val="0070C0"/>
                              </a:solidFill>
                              <a:latin typeface="Cambria Math" panose="02040503050406030204" pitchFamily="18" charset="0"/>
                              <a:cs typeface="Times New Roman" panose="02020603050405020304" pitchFamily="18" charset="0"/>
                            </a:rPr>
                          </m:ctrlPr>
                        </m:dPr>
                        <m:e>
                          <m:f>
                            <m:fPr>
                              <m:ctrlPr>
                                <a:rPr lang="en-US" altLang="zh-TW" sz="2400" b="0" i="1" smtClean="0">
                                  <a:solidFill>
                                    <a:srgbClr val="0070C0"/>
                                  </a:solidFill>
                                  <a:latin typeface="Cambria Math" panose="02040503050406030204" pitchFamily="18" charset="0"/>
                                  <a:cs typeface="Times New Roman" panose="02020603050405020304" pitchFamily="18" charset="0"/>
                                </a:rPr>
                              </m:ctrlPr>
                            </m:fPr>
                            <m:num>
                              <m:d>
                                <m:dPr>
                                  <m:begChr m:val="|"/>
                                  <m:endChr m:val="|"/>
                                  <m:ctrlPr>
                                    <a:rPr lang="en-US" altLang="zh-TW" sz="2400" b="0" i="1" smtClean="0">
                                      <a:solidFill>
                                        <a:srgbClr val="0070C0"/>
                                      </a:solidFill>
                                      <a:latin typeface="Cambria Math" panose="02040503050406030204" pitchFamily="18" charset="0"/>
                                      <a:cs typeface="Times New Roman" panose="02020603050405020304" pitchFamily="18" charset="0"/>
                                    </a:rPr>
                                  </m:ctrlPr>
                                </m:dPr>
                                <m:e>
                                  <m:r>
                                    <a:rPr lang="en-US" altLang="zh-TW" sz="2400" b="0" i="1" smtClean="0">
                                      <a:solidFill>
                                        <a:srgbClr val="0070C0"/>
                                      </a:solidFill>
                                      <a:latin typeface="Cambria Math" panose="02040503050406030204" pitchFamily="18" charset="0"/>
                                      <a:cs typeface="Times New Roman" panose="02020603050405020304" pitchFamily="18" charset="0"/>
                                    </a:rPr>
                                    <m:t>𝑠</m:t>
                                  </m:r>
                                </m:e>
                              </m:d>
                              <m:r>
                                <a:rPr lang="en-US" altLang="zh-TW" sz="2400" b="0" i="1" smtClean="0">
                                  <a:solidFill>
                                    <a:srgbClr val="0070C0"/>
                                  </a:solidFill>
                                  <a:latin typeface="Cambria Math" panose="02040503050406030204" pitchFamily="18" charset="0"/>
                                  <a:cs typeface="Times New Roman" panose="02020603050405020304" pitchFamily="18" charset="0"/>
                                </a:rPr>
                                <m:t>−3</m:t>
                              </m:r>
                            </m:num>
                            <m:den>
                              <m:r>
                                <a:rPr lang="en-US" altLang="zh-TW" sz="2400" b="0" i="1" smtClean="0">
                                  <a:solidFill>
                                    <a:srgbClr val="0070C0"/>
                                  </a:solidFill>
                                  <a:latin typeface="Cambria Math" panose="02040503050406030204" pitchFamily="18" charset="0"/>
                                  <a:cs typeface="Times New Roman" panose="02020603050405020304" pitchFamily="18" charset="0"/>
                                </a:rPr>
                                <m:t>2</m:t>
                              </m:r>
                            </m:den>
                          </m:f>
                        </m:e>
                      </m:d>
                      <m:r>
                        <a:rPr lang="en-US" altLang="zh-TW" sz="2400" b="0" i="1" smtClean="0">
                          <a:solidFill>
                            <a:srgbClr val="0070C0"/>
                          </a:solidFill>
                          <a:latin typeface="Cambria Math" panose="02040503050406030204" pitchFamily="18" charset="0"/>
                          <a:cs typeface="Times New Roman" panose="02020603050405020304" pitchFamily="18" charset="0"/>
                        </a:rPr>
                        <m:t>+1</m:t>
                      </m:r>
                    </m:oMath>
                  </m:oMathPara>
                </a14:m>
                <a:endParaRPr lang="en-US" altLang="zh-TW" sz="2000" dirty="0">
                  <a:latin typeface="Times New Roman" panose="02020603050405020304" pitchFamily="18" charset="0"/>
                  <a:cs typeface="Times New Roman" panose="02020603050405020304" pitchFamily="18" charset="0"/>
                </a:endParaRPr>
              </a:p>
            </p:txBody>
          </p:sp>
        </mc:Choice>
        <mc:Fallback xmlns="">
          <p:sp>
            <p:nvSpPr>
              <p:cNvPr id="9" name="標題 1">
                <a:extLst>
                  <a:ext uri="{FF2B5EF4-FFF2-40B4-BE49-F238E27FC236}">
                    <a16:creationId xmlns:a16="http://schemas.microsoft.com/office/drawing/2014/main" id="{003605E4-76B1-407E-B053-1A9609C6A242}"/>
                  </a:ext>
                </a:extLst>
              </p:cNvPr>
              <p:cNvSpPr txBox="1">
                <a:spLocks noRot="1" noChangeAspect="1" noMove="1" noResize="1" noEditPoints="1" noAdjustHandles="1" noChangeArrowheads="1" noChangeShapeType="1" noTextEdit="1"/>
              </p:cNvSpPr>
              <p:nvPr/>
            </p:nvSpPr>
            <p:spPr>
              <a:xfrm>
                <a:off x="1930764" y="1561443"/>
                <a:ext cx="5282472" cy="1419789"/>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E5BEFF51-947A-4079-878D-6F359EB2880E}"/>
                  </a:ext>
                </a:extLst>
              </p:cNvPr>
              <p:cNvSpPr/>
              <p:nvPr/>
            </p:nvSpPr>
            <p:spPr>
              <a:xfrm>
                <a:off x="2482755" y="2596487"/>
                <a:ext cx="107939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solidFill>
                            <a:srgbClr val="FF0000"/>
                          </a:solidFill>
                          <a:latin typeface="Cambria Math" panose="02040503050406030204" pitchFamily="18" charset="0"/>
                          <a:cs typeface="Times New Roman" panose="02020603050405020304" pitchFamily="18" charset="0"/>
                        </a:rPr>
                        <m:t>(</m:t>
                      </m:r>
                      <m:r>
                        <a:rPr lang="en-US" altLang="zh-TW" b="0" i="1" smtClean="0">
                          <a:solidFill>
                            <a:srgbClr val="FF0000"/>
                          </a:solidFill>
                          <a:latin typeface="Cambria Math" panose="02040503050406030204" pitchFamily="18" charset="0"/>
                          <a:cs typeface="Times New Roman" panose="02020603050405020304" pitchFamily="18" charset="0"/>
                        </a:rPr>
                        <m:t>𝐿𝑜𝑤𝑒𝑟</m:t>
                      </m:r>
                      <m:r>
                        <a:rPr lang="en-US" altLang="zh-TW" b="0" i="1" smtClean="0">
                          <a:solidFill>
                            <a:srgbClr val="FF0000"/>
                          </a:solidFill>
                          <a:latin typeface="Cambria Math" panose="02040503050406030204" pitchFamily="18" charset="0"/>
                          <a:cs typeface="Times New Roman" panose="02020603050405020304" pitchFamily="18" charset="0"/>
                        </a:rPr>
                        <m:t>)</m:t>
                      </m:r>
                    </m:oMath>
                  </m:oMathPara>
                </a14:m>
                <a:endParaRPr lang="en-US" altLang="zh-TW"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7" name="矩形 16">
                <a:extLst>
                  <a:ext uri="{FF2B5EF4-FFF2-40B4-BE49-F238E27FC236}">
                    <a16:creationId xmlns:a16="http://schemas.microsoft.com/office/drawing/2014/main" id="{E5BEFF51-947A-4079-878D-6F359EB2880E}"/>
                  </a:ext>
                </a:extLst>
              </p:cNvPr>
              <p:cNvSpPr>
                <a:spLocks noRot="1" noChangeAspect="1" noMove="1" noResize="1" noEditPoints="1" noAdjustHandles="1" noChangeArrowheads="1" noChangeShapeType="1" noTextEdit="1"/>
              </p:cNvSpPr>
              <p:nvPr/>
            </p:nvSpPr>
            <p:spPr>
              <a:xfrm>
                <a:off x="2482755" y="2596487"/>
                <a:ext cx="1079398" cy="369332"/>
              </a:xfrm>
              <a:prstGeom prst="rect">
                <a:avLst/>
              </a:prstGeom>
              <a:blipFill>
                <a:blip r:embed="rId4"/>
                <a:stretch>
                  <a:fillRect b="-1311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6A62F7A1-1ECD-4DEB-9EC2-7D004CB164CC}"/>
                  </a:ext>
                </a:extLst>
              </p:cNvPr>
              <p:cNvSpPr/>
              <p:nvPr/>
            </p:nvSpPr>
            <p:spPr>
              <a:xfrm>
                <a:off x="5662835" y="2596487"/>
                <a:ext cx="107779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solidFill>
                            <a:srgbClr val="FF0000"/>
                          </a:solidFill>
                          <a:latin typeface="Cambria Math" panose="02040503050406030204" pitchFamily="18" charset="0"/>
                          <a:cs typeface="Times New Roman" panose="02020603050405020304" pitchFamily="18" charset="0"/>
                        </a:rPr>
                        <m:t>(</m:t>
                      </m:r>
                      <m:r>
                        <a:rPr lang="en-US" altLang="zh-TW" b="0" i="1" smtClean="0">
                          <a:solidFill>
                            <a:srgbClr val="FF0000"/>
                          </a:solidFill>
                          <a:latin typeface="Cambria Math" panose="02040503050406030204" pitchFamily="18" charset="0"/>
                          <a:cs typeface="Times New Roman" panose="02020603050405020304" pitchFamily="18" charset="0"/>
                        </a:rPr>
                        <m:t>𝑈𝑝𝑝𝑒𝑟</m:t>
                      </m:r>
                      <m:r>
                        <a:rPr lang="en-US" altLang="zh-TW" b="0" i="1" smtClean="0">
                          <a:solidFill>
                            <a:srgbClr val="FF0000"/>
                          </a:solidFill>
                          <a:latin typeface="Cambria Math" panose="02040503050406030204" pitchFamily="18" charset="0"/>
                          <a:cs typeface="Times New Roman" panose="02020603050405020304" pitchFamily="18" charset="0"/>
                        </a:rPr>
                        <m:t>)</m:t>
                      </m:r>
                    </m:oMath>
                  </m:oMathPara>
                </a14:m>
                <a:endParaRPr lang="en-US" altLang="zh-TW"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8" name="矩形 17">
                <a:extLst>
                  <a:ext uri="{FF2B5EF4-FFF2-40B4-BE49-F238E27FC236}">
                    <a16:creationId xmlns:a16="http://schemas.microsoft.com/office/drawing/2014/main" id="{6A62F7A1-1ECD-4DEB-9EC2-7D004CB164CC}"/>
                  </a:ext>
                </a:extLst>
              </p:cNvPr>
              <p:cNvSpPr>
                <a:spLocks noRot="1" noChangeAspect="1" noMove="1" noResize="1" noEditPoints="1" noAdjustHandles="1" noChangeArrowheads="1" noChangeShapeType="1" noTextEdit="1"/>
              </p:cNvSpPr>
              <p:nvPr/>
            </p:nvSpPr>
            <p:spPr>
              <a:xfrm>
                <a:off x="5662835" y="2596487"/>
                <a:ext cx="1077796" cy="369332"/>
              </a:xfrm>
              <a:prstGeom prst="rect">
                <a:avLst/>
              </a:prstGeom>
              <a:blipFill>
                <a:blip r:embed="rId5"/>
                <a:stretch>
                  <a:fillRect b="-13115"/>
                </a:stretch>
              </a:blipFill>
            </p:spPr>
            <p:txBody>
              <a:bodyPr/>
              <a:lstStyle/>
              <a:p>
                <a:r>
                  <a:rPr lang="zh-TW" altLang="en-US">
                    <a:noFill/>
                  </a:rPr>
                  <a:t> </a:t>
                </a:r>
              </a:p>
            </p:txBody>
          </p:sp>
        </mc:Fallback>
      </mc:AlternateContent>
      <p:sp>
        <p:nvSpPr>
          <p:cNvPr id="10" name="標題 1">
            <a:extLst>
              <a:ext uri="{FF2B5EF4-FFF2-40B4-BE49-F238E27FC236}">
                <a16:creationId xmlns:a16="http://schemas.microsoft.com/office/drawing/2014/main" id="{B3FD47E5-14BA-42AC-B591-0A97DA6D2D95}"/>
              </a:ext>
            </a:extLst>
          </p:cNvPr>
          <p:cNvSpPr txBox="1">
            <a:spLocks/>
          </p:cNvSpPr>
          <p:nvPr/>
        </p:nvSpPr>
        <p:spPr>
          <a:xfrm>
            <a:off x="402232" y="3046285"/>
            <a:ext cx="6720677" cy="70080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00000"/>
              </a:lnSpc>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In upper bound:</a:t>
            </a:r>
          </a:p>
          <a:p>
            <a:pPr marL="800100" lvl="1" indent="-342900">
              <a:buFont typeface="Arial" panose="020B0604020202020204" pitchFamily="34" charset="0"/>
              <a:buChar char="•"/>
            </a:pPr>
            <a:r>
              <a:rPr lang="en-US" altLang="zh-TW" sz="100" dirty="0">
                <a:latin typeface="Times New Roman" panose="02020603050405020304" pitchFamily="18" charset="0"/>
                <a:cs typeface="Times New Roman" panose="02020603050405020304" pitchFamily="18" charset="0"/>
              </a:rPr>
              <a:t>e can give</a:t>
            </a:r>
          </a:p>
        </p:txBody>
      </p:sp>
      <mc:AlternateContent xmlns:mc="http://schemas.openxmlformats.org/markup-compatibility/2006">
        <mc:Choice xmlns:a14="http://schemas.microsoft.com/office/drawing/2010/main" Requires="a14">
          <p:sp>
            <p:nvSpPr>
              <p:cNvPr id="11" name="矩形 10">
                <a:extLst>
                  <a:ext uri="{FF2B5EF4-FFF2-40B4-BE49-F238E27FC236}">
                    <a16:creationId xmlns:a16="http://schemas.microsoft.com/office/drawing/2014/main" id="{FE241F99-63CC-4055-8BF3-E48847857445}"/>
                  </a:ext>
                </a:extLst>
              </p:cNvPr>
              <p:cNvSpPr/>
              <p:nvPr/>
            </p:nvSpPr>
            <p:spPr>
              <a:xfrm>
                <a:off x="826568" y="3878032"/>
                <a:ext cx="6055184" cy="732829"/>
              </a:xfrm>
              <a:prstGeom prst="rect">
                <a:avLst/>
              </a:prstGeom>
            </p:spPr>
            <p:txBody>
              <a:bodyPr wrap="none">
                <a:spAutoFit/>
              </a:bodyPr>
              <a:lstStyle/>
              <a:p>
                <a:pPr marL="342900" indent="-342900">
                  <a:buFont typeface="Arial" panose="020B0604020202020204" pitchFamily="34" charset="0"/>
                  <a:buChar char="•"/>
                </a:pPr>
                <a:r>
                  <a:rPr lang="en-US" altLang="zh-TW" sz="2000" dirty="0">
                    <a:latin typeface="Times New Roman" panose="02020603050405020304" pitchFamily="18" charset="0"/>
                    <a:cs typeface="Times New Roman" panose="02020603050405020304" pitchFamily="18" charset="0"/>
                  </a:rPr>
                  <a:t>When </a:t>
                </a:r>
                <a14:m>
                  <m:oMath xmlns:m="http://schemas.openxmlformats.org/officeDocument/2006/math">
                    <m:r>
                      <a:rPr lang="en-US" altLang="zh-TW" sz="2000" i="1">
                        <a:latin typeface="Cambria Math" panose="02040503050406030204" pitchFamily="18" charset="0"/>
                        <a:cs typeface="Times New Roman" panose="02020603050405020304" pitchFamily="18" charset="0"/>
                      </a:rPr>
                      <m:t>𝑛</m:t>
                    </m:r>
                    <m:r>
                      <a:rPr lang="en-US" altLang="zh-TW" sz="2000" i="1">
                        <a:latin typeface="Cambria Math" panose="02040503050406030204" pitchFamily="18" charset="0"/>
                        <a:cs typeface="Times New Roman" panose="02020603050405020304" pitchFamily="18" charset="0"/>
                      </a:rPr>
                      <m:t>=5</m:t>
                    </m:r>
                  </m:oMath>
                </a14:m>
                <a:r>
                  <a:rPr lang="en-US" altLang="zh-TW" sz="2000" dirty="0">
                    <a:latin typeface="Times New Roman" panose="02020603050405020304" pitchFamily="18" charset="0"/>
                    <a:cs typeface="Times New Roman" panose="02020603050405020304" pitchFamily="18" charset="0"/>
                  </a:rPr>
                  <a:t> and </a:t>
                </a:r>
                <a14:m>
                  <m:oMath xmlns:m="http://schemas.openxmlformats.org/officeDocument/2006/math">
                    <m:r>
                      <a:rPr lang="en-US" altLang="zh-TW" sz="2000" i="1">
                        <a:latin typeface="Cambria Math" panose="02040503050406030204" pitchFamily="18" charset="0"/>
                        <a:cs typeface="Times New Roman" panose="02020603050405020304" pitchFamily="18" charset="0"/>
                      </a:rPr>
                      <m:t>𝑛</m:t>
                    </m:r>
                    <m:r>
                      <a:rPr lang="en-US" altLang="zh-TW" sz="2000" i="1">
                        <a:latin typeface="Cambria Math" panose="02040503050406030204" pitchFamily="18" charset="0"/>
                        <a:cs typeface="Times New Roman" panose="02020603050405020304" pitchFamily="18" charset="0"/>
                      </a:rPr>
                      <m:t>=6,</m:t>
                    </m:r>
                    <m:sSub>
                      <m:sSubPr>
                        <m:ctrlPr>
                          <a:rPr lang="en-US" altLang="zh-TW" sz="2000" i="1">
                            <a:latin typeface="Cambria Math" panose="02040503050406030204" pitchFamily="18" charset="0"/>
                            <a:cs typeface="Times New Roman" panose="02020603050405020304" pitchFamily="18" charset="0"/>
                          </a:rPr>
                        </m:ctrlPr>
                      </m:sSubPr>
                      <m:e>
                        <m:r>
                          <a:rPr lang="en-US" altLang="zh-TW" sz="2000" i="1">
                            <a:latin typeface="Cambria Math" panose="02040503050406030204" pitchFamily="18" charset="0"/>
                            <a:cs typeface="Times New Roman" panose="02020603050405020304" pitchFamily="18" charset="0"/>
                          </a:rPr>
                          <m:t>𝑑</m:t>
                        </m:r>
                      </m:e>
                      <m:sub>
                        <m:r>
                          <a:rPr lang="en-US" altLang="zh-TW" sz="2000" i="1">
                            <a:latin typeface="Cambria Math" panose="02040503050406030204" pitchFamily="18" charset="0"/>
                            <a:cs typeface="Times New Roman" panose="02020603050405020304" pitchFamily="18" charset="0"/>
                          </a:rPr>
                          <m:t>𝑔</m:t>
                        </m:r>
                      </m:sub>
                    </m:sSub>
                    <m:d>
                      <m:dPr>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𝑠</m:t>
                        </m:r>
                      </m:e>
                    </m:d>
                    <m:r>
                      <a:rPr lang="en-US" altLang="zh-TW" sz="2000" i="1">
                        <a:latin typeface="Cambria Math" panose="02040503050406030204" pitchFamily="18" charset="0"/>
                        <a:cs typeface="Times New Roman" panose="02020603050405020304" pitchFamily="18" charset="0"/>
                      </a:rPr>
                      <m:t>=</m:t>
                    </m:r>
                  </m:oMath>
                </a14:m>
                <a:r>
                  <a:rPr lang="en-US" altLang="zh-TW" sz="2000" dirty="0">
                    <a:latin typeface="Times New Roman" panose="02020603050405020304" pitchFamily="18" charset="0"/>
                    <a:cs typeface="Times New Roman" panose="02020603050405020304" pitchFamily="18" charset="0"/>
                  </a:rPr>
                  <a:t> 2 and 3 </a:t>
                </a:r>
                <a:r>
                  <a:rPr lang="en-US" altLang="zh-TW" sz="2000" dirty="0" smtClean="0">
                    <a:latin typeface="Times New Roman" panose="02020603050405020304" pitchFamily="18" charset="0"/>
                    <a:cs typeface="Times New Roman" panose="02020603050405020304" pitchFamily="18" charset="0"/>
                  </a:rPr>
                  <a:t>respectively</a:t>
                </a:r>
              </a:p>
              <a:p>
                <a:pPr marL="342900" indent="-342900">
                  <a:buFont typeface="Arial" panose="020B0604020202020204" pitchFamily="34" charset="0"/>
                  <a:buChar char="•"/>
                </a:pPr>
                <a:endParaRPr lang="en-US" altLang="zh-TW" sz="2000" i="1" dirty="0">
                  <a:latin typeface="Cambria Math" panose="02040503050406030204" pitchFamily="18" charset="0"/>
                  <a:cs typeface="Times New Roman" panose="02020603050405020304" pitchFamily="18" charset="0"/>
                </a:endParaRPr>
              </a:p>
            </p:txBody>
          </p:sp>
        </mc:Choice>
        <mc:Fallback>
          <p:sp>
            <p:nvSpPr>
              <p:cNvPr id="11" name="矩形 10">
                <a:extLst>
                  <a:ext uri="{FF2B5EF4-FFF2-40B4-BE49-F238E27FC236}">
                    <a16:creationId xmlns:a16="http://schemas.microsoft.com/office/drawing/2014/main" id="{FE241F99-63CC-4055-8BF3-E48847857445}"/>
                  </a:ext>
                </a:extLst>
              </p:cNvPr>
              <p:cNvSpPr>
                <a:spLocks noRot="1" noChangeAspect="1" noMove="1" noResize="1" noEditPoints="1" noAdjustHandles="1" noChangeArrowheads="1" noChangeShapeType="1" noTextEdit="1"/>
              </p:cNvSpPr>
              <p:nvPr/>
            </p:nvSpPr>
            <p:spPr>
              <a:xfrm>
                <a:off x="826568" y="3878032"/>
                <a:ext cx="6055184" cy="732829"/>
              </a:xfrm>
              <a:prstGeom prst="rect">
                <a:avLst/>
              </a:prstGeom>
              <a:blipFill>
                <a:blip r:embed="rId6"/>
                <a:stretch>
                  <a:fillRect l="-906" t="-41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13" name="表格 12">
                <a:extLst>
                  <a:ext uri="{FF2B5EF4-FFF2-40B4-BE49-F238E27FC236}">
                    <a16:creationId xmlns:a16="http://schemas.microsoft.com/office/drawing/2014/main" id="{68277E36-F843-4D7A-85D4-6AAA219E60A7}"/>
                  </a:ext>
                </a:extLst>
              </p:cNvPr>
              <p:cNvGraphicFramePr>
                <a:graphicFrameLocks noGrp="1"/>
              </p:cNvGraphicFramePr>
              <p:nvPr>
                <p:extLst>
                  <p:ext uri="{D42A27DB-BD31-4B8C-83A1-F6EECF244321}">
                    <p14:modId xmlns:p14="http://schemas.microsoft.com/office/powerpoint/2010/main" val="4230115441"/>
                  </p:ext>
                </p:extLst>
              </p:nvPr>
            </p:nvGraphicFramePr>
            <p:xfrm>
              <a:off x="2203200" y="4456985"/>
              <a:ext cx="4737600" cy="792480"/>
            </p:xfrm>
            <a:graphic>
              <a:graphicData uri="http://schemas.openxmlformats.org/drawingml/2006/table">
                <a:tbl>
                  <a:tblPr firstRow="1" bandRow="1">
                    <a:tableStyleId>{5940675A-B579-460E-94D1-54222C63F5DA}</a:tableStyleId>
                  </a:tblPr>
                  <a:tblGrid>
                    <a:gridCol w="676800">
                      <a:extLst>
                        <a:ext uri="{9D8B030D-6E8A-4147-A177-3AD203B41FA5}">
                          <a16:colId xmlns:a16="http://schemas.microsoft.com/office/drawing/2014/main" val="2616301296"/>
                        </a:ext>
                      </a:extLst>
                    </a:gridCol>
                    <a:gridCol w="676800">
                      <a:extLst>
                        <a:ext uri="{9D8B030D-6E8A-4147-A177-3AD203B41FA5}">
                          <a16:colId xmlns:a16="http://schemas.microsoft.com/office/drawing/2014/main" val="126961617"/>
                        </a:ext>
                      </a:extLst>
                    </a:gridCol>
                    <a:gridCol w="676800">
                      <a:extLst>
                        <a:ext uri="{9D8B030D-6E8A-4147-A177-3AD203B41FA5}">
                          <a16:colId xmlns:a16="http://schemas.microsoft.com/office/drawing/2014/main" val="2634396870"/>
                        </a:ext>
                      </a:extLst>
                    </a:gridCol>
                    <a:gridCol w="676800">
                      <a:extLst>
                        <a:ext uri="{9D8B030D-6E8A-4147-A177-3AD203B41FA5}">
                          <a16:colId xmlns:a16="http://schemas.microsoft.com/office/drawing/2014/main" val="1291176962"/>
                        </a:ext>
                      </a:extLst>
                    </a:gridCol>
                    <a:gridCol w="676800">
                      <a:extLst>
                        <a:ext uri="{9D8B030D-6E8A-4147-A177-3AD203B41FA5}">
                          <a16:colId xmlns:a16="http://schemas.microsoft.com/office/drawing/2014/main" val="3107995535"/>
                        </a:ext>
                      </a:extLst>
                    </a:gridCol>
                    <a:gridCol w="676800">
                      <a:extLst>
                        <a:ext uri="{9D8B030D-6E8A-4147-A177-3AD203B41FA5}">
                          <a16:colId xmlns:a16="http://schemas.microsoft.com/office/drawing/2014/main" val="584830589"/>
                        </a:ext>
                      </a:extLst>
                    </a:gridCol>
                    <a:gridCol w="676800">
                      <a:extLst>
                        <a:ext uri="{9D8B030D-6E8A-4147-A177-3AD203B41FA5}">
                          <a16:colId xmlns:a16="http://schemas.microsoft.com/office/drawing/2014/main" val="1717022551"/>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𝑠</m:t>
                                </m:r>
                                <m:r>
                                  <a:rPr lang="en-US" altLang="zh-TW" sz="2000" b="0" i="1" smtClean="0">
                                    <a:latin typeface="Cambria Math" panose="02040503050406030204" pitchFamily="18" charset="0"/>
                                  </a:rPr>
                                  <m:t>|</m:t>
                                </m:r>
                              </m:oMath>
                            </m:oMathPara>
                          </a14:m>
                          <a:endParaRPr lang="zh-TW" altLang="en-US" sz="2000" dirty="0"/>
                        </a:p>
                      </a:txBody>
                      <a:tcPr anchor="ctr"/>
                    </a:tc>
                    <a:tc>
                      <a:txBody>
                        <a:bodyPr/>
                        <a:lstStyle/>
                        <a:p>
                          <a:pPr algn="ctr"/>
                          <a:r>
                            <a:rPr lang="en-US" altLang="zh-TW" sz="2000" dirty="0">
                              <a:solidFill>
                                <a:schemeClr val="accent2">
                                  <a:lumMod val="75000"/>
                                </a:schemeClr>
                              </a:solidFill>
                            </a:rPr>
                            <a:t>5</a:t>
                          </a:r>
                          <a:endParaRPr lang="zh-TW" altLang="en-US" sz="2000" dirty="0">
                            <a:solidFill>
                              <a:schemeClr val="accent2">
                                <a:lumMod val="75000"/>
                              </a:schemeClr>
                            </a:solidFill>
                          </a:endParaRPr>
                        </a:p>
                      </a:txBody>
                      <a:tcPr anchor="ctr"/>
                    </a:tc>
                    <a:tc>
                      <a:txBody>
                        <a:bodyPr/>
                        <a:lstStyle/>
                        <a:p>
                          <a:pPr algn="ctr"/>
                          <a:r>
                            <a:rPr lang="en-US" altLang="zh-TW" sz="2000" dirty="0"/>
                            <a:t>6</a:t>
                          </a:r>
                          <a:endParaRPr lang="zh-TW" altLang="en-US" sz="2000" dirty="0"/>
                        </a:p>
                      </a:txBody>
                      <a:tcPr anchor="ctr"/>
                    </a:tc>
                    <a:tc>
                      <a:txBody>
                        <a:bodyPr/>
                        <a:lstStyle/>
                        <a:p>
                          <a:pPr algn="ctr"/>
                          <a:r>
                            <a:rPr lang="en-US" altLang="zh-TW" sz="2000" dirty="0">
                              <a:solidFill>
                                <a:schemeClr val="accent2">
                                  <a:lumMod val="75000"/>
                                </a:schemeClr>
                              </a:solidFill>
                            </a:rPr>
                            <a:t>7</a:t>
                          </a:r>
                          <a:endParaRPr lang="zh-TW" altLang="en-US" sz="2000" dirty="0">
                            <a:solidFill>
                              <a:schemeClr val="accent2">
                                <a:lumMod val="75000"/>
                              </a:schemeClr>
                            </a:solidFill>
                          </a:endParaRPr>
                        </a:p>
                      </a:txBody>
                      <a:tcPr anchor="ctr"/>
                    </a:tc>
                    <a:tc>
                      <a:txBody>
                        <a:bodyPr/>
                        <a:lstStyle/>
                        <a:p>
                          <a:pPr algn="ctr"/>
                          <a:r>
                            <a:rPr lang="en-US" altLang="zh-TW" sz="2000" dirty="0"/>
                            <a:t>8</a:t>
                          </a:r>
                          <a:endParaRPr lang="zh-TW" altLang="en-US" sz="2000" dirty="0"/>
                        </a:p>
                      </a:txBody>
                      <a:tcPr anchor="ctr"/>
                    </a:tc>
                    <a:tc>
                      <a:txBody>
                        <a:bodyPr/>
                        <a:lstStyle/>
                        <a:p>
                          <a:pPr algn="ctr"/>
                          <a:r>
                            <a:rPr lang="en-US" altLang="zh-TW" sz="2000" dirty="0"/>
                            <a:t>9</a:t>
                          </a:r>
                          <a:endParaRPr lang="zh-TW" altLang="en-US" sz="2000" dirty="0"/>
                        </a:p>
                      </a:txBody>
                      <a:tcPr anchor="ctr"/>
                    </a:tc>
                    <a:tc>
                      <a:txBody>
                        <a:bodyPr/>
                        <a:lstStyle/>
                        <a:p>
                          <a:pPr algn="ctr"/>
                          <a:r>
                            <a:rPr lang="en-US" altLang="zh-TW" sz="2000" dirty="0"/>
                            <a:t>…</a:t>
                          </a:r>
                          <a:endParaRPr lang="zh-TW" altLang="en-US" sz="2000" dirty="0"/>
                        </a:p>
                      </a:txBody>
                      <a:tcPr anchor="ctr"/>
                    </a:tc>
                    <a:extLst>
                      <a:ext uri="{0D108BD9-81ED-4DB2-BD59-A6C34878D82A}">
                        <a16:rowId xmlns:a16="http://schemas.microsoft.com/office/drawing/2014/main" val="1967640266"/>
                      </a:ext>
                    </a:extLst>
                  </a:tr>
                  <a:tr h="370840">
                    <a:tc>
                      <a:txBody>
                        <a:bodyPr/>
                        <a:lstStyle/>
                        <a:p>
                          <a:pPr algn="ctr"/>
                          <a:r>
                            <a:rPr lang="en-US" altLang="zh-TW" sz="2000" dirty="0"/>
                            <a:t>UB</a:t>
                          </a:r>
                          <a:endParaRPr lang="zh-TW" altLang="en-US" sz="2000" dirty="0"/>
                        </a:p>
                      </a:txBody>
                      <a:tcPr anchor="ctr"/>
                    </a:tc>
                    <a:tc>
                      <a:txBody>
                        <a:bodyPr/>
                        <a:lstStyle/>
                        <a:p>
                          <a:pPr algn="ctr"/>
                          <a:r>
                            <a:rPr lang="en-US" altLang="zh-TW" sz="2000" dirty="0">
                              <a:solidFill>
                                <a:schemeClr val="accent2">
                                  <a:lumMod val="75000"/>
                                </a:schemeClr>
                              </a:solidFill>
                            </a:rPr>
                            <a:t>2</a:t>
                          </a:r>
                          <a:endParaRPr lang="zh-TW" altLang="en-US" sz="2000" dirty="0">
                            <a:solidFill>
                              <a:schemeClr val="accent2">
                                <a:lumMod val="75000"/>
                              </a:schemeClr>
                            </a:solidFill>
                          </a:endParaRPr>
                        </a:p>
                      </a:txBody>
                      <a:tcPr anchor="ctr"/>
                    </a:tc>
                    <a:tc>
                      <a:txBody>
                        <a:bodyPr/>
                        <a:lstStyle/>
                        <a:p>
                          <a:pPr algn="ctr"/>
                          <a:r>
                            <a:rPr lang="en-US" altLang="zh-TW" sz="2000" dirty="0"/>
                            <a:t>3</a:t>
                          </a:r>
                          <a:endParaRPr lang="zh-TW" altLang="en-US" sz="2000" dirty="0"/>
                        </a:p>
                      </a:txBody>
                      <a:tcPr anchor="ctr"/>
                    </a:tc>
                    <a:tc>
                      <a:txBody>
                        <a:bodyPr/>
                        <a:lstStyle/>
                        <a:p>
                          <a:pPr algn="ctr"/>
                          <a:r>
                            <a:rPr lang="en-US" altLang="zh-TW" sz="2000" dirty="0">
                              <a:solidFill>
                                <a:schemeClr val="accent2">
                                  <a:lumMod val="75000"/>
                                </a:schemeClr>
                              </a:solidFill>
                            </a:rPr>
                            <a:t>3</a:t>
                          </a:r>
                          <a:endParaRPr lang="zh-TW" altLang="en-US" sz="2000" dirty="0">
                            <a:solidFill>
                              <a:schemeClr val="accent2">
                                <a:lumMod val="75000"/>
                              </a:schemeClr>
                            </a:solidFill>
                          </a:endParaRPr>
                        </a:p>
                      </a:txBody>
                      <a:tcPr anchor="ctr"/>
                    </a:tc>
                    <a:tc>
                      <a:txBody>
                        <a:bodyPr/>
                        <a:lstStyle/>
                        <a:p>
                          <a:pPr algn="ctr"/>
                          <a:r>
                            <a:rPr lang="en-US" altLang="zh-TW" sz="2000" dirty="0"/>
                            <a:t>4</a:t>
                          </a:r>
                          <a:endParaRPr lang="zh-TW" altLang="en-US" sz="2000" dirty="0"/>
                        </a:p>
                      </a:txBody>
                      <a:tcPr anchor="ctr"/>
                    </a:tc>
                    <a:tc>
                      <a:txBody>
                        <a:bodyPr/>
                        <a:lstStyle/>
                        <a:p>
                          <a:pPr algn="ctr"/>
                          <a:r>
                            <a:rPr lang="en-US" altLang="zh-TW" sz="2000" dirty="0"/>
                            <a:t>4</a:t>
                          </a:r>
                          <a:endParaRPr lang="zh-TW" altLang="en-US" sz="2000" dirty="0"/>
                        </a:p>
                      </a:txBody>
                      <a:tcPr anchor="ctr"/>
                    </a:tc>
                    <a:tc>
                      <a:txBody>
                        <a:bodyPr/>
                        <a:lstStyle/>
                        <a:p>
                          <a:pPr algn="ctr"/>
                          <a:r>
                            <a:rPr lang="en-US" altLang="zh-TW" sz="2000" dirty="0"/>
                            <a:t>…</a:t>
                          </a:r>
                          <a:endParaRPr lang="zh-TW" altLang="en-US" sz="2000" dirty="0"/>
                        </a:p>
                      </a:txBody>
                      <a:tcPr anchor="ctr"/>
                    </a:tc>
                    <a:extLst>
                      <a:ext uri="{0D108BD9-81ED-4DB2-BD59-A6C34878D82A}">
                        <a16:rowId xmlns:a16="http://schemas.microsoft.com/office/drawing/2014/main" val="3431404441"/>
                      </a:ext>
                    </a:extLst>
                  </a:tr>
                </a:tbl>
              </a:graphicData>
            </a:graphic>
          </p:graphicFrame>
        </mc:Choice>
        <mc:Fallback xmlns="">
          <p:graphicFrame>
            <p:nvGraphicFramePr>
              <p:cNvPr id="13" name="表格 12">
                <a:extLst>
                  <a:ext uri="{FF2B5EF4-FFF2-40B4-BE49-F238E27FC236}">
                    <a16:creationId xmlns:a16="http://schemas.microsoft.com/office/drawing/2014/main" id="{68277E36-F843-4D7A-85D4-6AAA219E60A7}"/>
                  </a:ext>
                </a:extLst>
              </p:cNvPr>
              <p:cNvGraphicFramePr>
                <a:graphicFrameLocks noGrp="1"/>
              </p:cNvGraphicFramePr>
              <p:nvPr>
                <p:extLst>
                  <p:ext uri="{D42A27DB-BD31-4B8C-83A1-F6EECF244321}">
                    <p14:modId xmlns:p14="http://schemas.microsoft.com/office/powerpoint/2010/main" val="4230115441"/>
                  </p:ext>
                </p:extLst>
              </p:nvPr>
            </p:nvGraphicFramePr>
            <p:xfrm>
              <a:off x="2203200" y="4456985"/>
              <a:ext cx="4737600" cy="792480"/>
            </p:xfrm>
            <a:graphic>
              <a:graphicData uri="http://schemas.openxmlformats.org/drawingml/2006/table">
                <a:tbl>
                  <a:tblPr firstRow="1" bandRow="1">
                    <a:tableStyleId>{5940675A-B579-460E-94D1-54222C63F5DA}</a:tableStyleId>
                  </a:tblPr>
                  <a:tblGrid>
                    <a:gridCol w="676800">
                      <a:extLst>
                        <a:ext uri="{9D8B030D-6E8A-4147-A177-3AD203B41FA5}">
                          <a16:colId xmlns:a16="http://schemas.microsoft.com/office/drawing/2014/main" val="2616301296"/>
                        </a:ext>
                      </a:extLst>
                    </a:gridCol>
                    <a:gridCol w="676800">
                      <a:extLst>
                        <a:ext uri="{9D8B030D-6E8A-4147-A177-3AD203B41FA5}">
                          <a16:colId xmlns:a16="http://schemas.microsoft.com/office/drawing/2014/main" val="126961617"/>
                        </a:ext>
                      </a:extLst>
                    </a:gridCol>
                    <a:gridCol w="676800">
                      <a:extLst>
                        <a:ext uri="{9D8B030D-6E8A-4147-A177-3AD203B41FA5}">
                          <a16:colId xmlns:a16="http://schemas.microsoft.com/office/drawing/2014/main" val="2634396870"/>
                        </a:ext>
                      </a:extLst>
                    </a:gridCol>
                    <a:gridCol w="676800">
                      <a:extLst>
                        <a:ext uri="{9D8B030D-6E8A-4147-A177-3AD203B41FA5}">
                          <a16:colId xmlns:a16="http://schemas.microsoft.com/office/drawing/2014/main" val="1291176962"/>
                        </a:ext>
                      </a:extLst>
                    </a:gridCol>
                    <a:gridCol w="676800">
                      <a:extLst>
                        <a:ext uri="{9D8B030D-6E8A-4147-A177-3AD203B41FA5}">
                          <a16:colId xmlns:a16="http://schemas.microsoft.com/office/drawing/2014/main" val="3107995535"/>
                        </a:ext>
                      </a:extLst>
                    </a:gridCol>
                    <a:gridCol w="676800">
                      <a:extLst>
                        <a:ext uri="{9D8B030D-6E8A-4147-A177-3AD203B41FA5}">
                          <a16:colId xmlns:a16="http://schemas.microsoft.com/office/drawing/2014/main" val="584830589"/>
                        </a:ext>
                      </a:extLst>
                    </a:gridCol>
                    <a:gridCol w="676800">
                      <a:extLst>
                        <a:ext uri="{9D8B030D-6E8A-4147-A177-3AD203B41FA5}">
                          <a16:colId xmlns:a16="http://schemas.microsoft.com/office/drawing/2014/main" val="1717022551"/>
                        </a:ext>
                      </a:extLst>
                    </a:gridCol>
                  </a:tblGrid>
                  <a:tr h="396240">
                    <a:tc>
                      <a:txBody>
                        <a:bodyPr/>
                        <a:lstStyle/>
                        <a:p>
                          <a:endParaRPr lang="zh-TW"/>
                        </a:p>
                      </a:txBody>
                      <a:tcPr anchor="ctr">
                        <a:blipFill>
                          <a:blip r:embed="rId7"/>
                          <a:stretch>
                            <a:fillRect l="-901" t="-7576" r="-602703" b="-124242"/>
                          </a:stretch>
                        </a:blipFill>
                      </a:tcPr>
                    </a:tc>
                    <a:tc>
                      <a:txBody>
                        <a:bodyPr/>
                        <a:lstStyle/>
                        <a:p>
                          <a:pPr algn="ctr"/>
                          <a:r>
                            <a:rPr lang="en-US" altLang="zh-TW" sz="2000" dirty="0">
                              <a:solidFill>
                                <a:schemeClr val="accent2">
                                  <a:lumMod val="75000"/>
                                </a:schemeClr>
                              </a:solidFill>
                            </a:rPr>
                            <a:t>5</a:t>
                          </a:r>
                          <a:endParaRPr lang="zh-TW" altLang="en-US" sz="2000" dirty="0">
                            <a:solidFill>
                              <a:schemeClr val="accent2">
                                <a:lumMod val="75000"/>
                              </a:schemeClr>
                            </a:solidFill>
                          </a:endParaRPr>
                        </a:p>
                      </a:txBody>
                      <a:tcPr anchor="ctr"/>
                    </a:tc>
                    <a:tc>
                      <a:txBody>
                        <a:bodyPr/>
                        <a:lstStyle/>
                        <a:p>
                          <a:pPr algn="ctr"/>
                          <a:r>
                            <a:rPr lang="en-US" altLang="zh-TW" sz="2000" dirty="0"/>
                            <a:t>6</a:t>
                          </a:r>
                          <a:endParaRPr lang="zh-TW" altLang="en-US" sz="2000" dirty="0"/>
                        </a:p>
                      </a:txBody>
                      <a:tcPr anchor="ctr"/>
                    </a:tc>
                    <a:tc>
                      <a:txBody>
                        <a:bodyPr/>
                        <a:lstStyle/>
                        <a:p>
                          <a:pPr algn="ctr"/>
                          <a:r>
                            <a:rPr lang="en-US" altLang="zh-TW" sz="2000" dirty="0">
                              <a:solidFill>
                                <a:schemeClr val="accent2">
                                  <a:lumMod val="75000"/>
                                </a:schemeClr>
                              </a:solidFill>
                            </a:rPr>
                            <a:t>7</a:t>
                          </a:r>
                          <a:endParaRPr lang="zh-TW" altLang="en-US" sz="2000" dirty="0">
                            <a:solidFill>
                              <a:schemeClr val="accent2">
                                <a:lumMod val="75000"/>
                              </a:schemeClr>
                            </a:solidFill>
                          </a:endParaRPr>
                        </a:p>
                      </a:txBody>
                      <a:tcPr anchor="ctr"/>
                    </a:tc>
                    <a:tc>
                      <a:txBody>
                        <a:bodyPr/>
                        <a:lstStyle/>
                        <a:p>
                          <a:pPr algn="ctr"/>
                          <a:r>
                            <a:rPr lang="en-US" altLang="zh-TW" sz="2000" dirty="0"/>
                            <a:t>8</a:t>
                          </a:r>
                          <a:endParaRPr lang="zh-TW" altLang="en-US" sz="2000" dirty="0"/>
                        </a:p>
                      </a:txBody>
                      <a:tcPr anchor="ctr"/>
                    </a:tc>
                    <a:tc>
                      <a:txBody>
                        <a:bodyPr/>
                        <a:lstStyle/>
                        <a:p>
                          <a:pPr algn="ctr"/>
                          <a:r>
                            <a:rPr lang="en-US" altLang="zh-TW" sz="2000" dirty="0"/>
                            <a:t>9</a:t>
                          </a:r>
                          <a:endParaRPr lang="zh-TW" altLang="en-US" sz="2000" dirty="0"/>
                        </a:p>
                      </a:txBody>
                      <a:tcPr anchor="ctr"/>
                    </a:tc>
                    <a:tc>
                      <a:txBody>
                        <a:bodyPr/>
                        <a:lstStyle/>
                        <a:p>
                          <a:pPr algn="ctr"/>
                          <a:r>
                            <a:rPr lang="en-US" altLang="zh-TW" sz="2000" dirty="0"/>
                            <a:t>…</a:t>
                          </a:r>
                          <a:endParaRPr lang="zh-TW" altLang="en-US" sz="2000" dirty="0"/>
                        </a:p>
                      </a:txBody>
                      <a:tcPr anchor="ctr"/>
                    </a:tc>
                    <a:extLst>
                      <a:ext uri="{0D108BD9-81ED-4DB2-BD59-A6C34878D82A}">
                        <a16:rowId xmlns:a16="http://schemas.microsoft.com/office/drawing/2014/main" val="1967640266"/>
                      </a:ext>
                    </a:extLst>
                  </a:tr>
                  <a:tr h="396240">
                    <a:tc>
                      <a:txBody>
                        <a:bodyPr/>
                        <a:lstStyle/>
                        <a:p>
                          <a:pPr algn="ctr"/>
                          <a:r>
                            <a:rPr lang="en-US" altLang="zh-TW" sz="2000" dirty="0"/>
                            <a:t>UB</a:t>
                          </a:r>
                          <a:endParaRPr lang="zh-TW" altLang="en-US" sz="2000" dirty="0"/>
                        </a:p>
                      </a:txBody>
                      <a:tcPr anchor="ctr"/>
                    </a:tc>
                    <a:tc>
                      <a:txBody>
                        <a:bodyPr/>
                        <a:lstStyle/>
                        <a:p>
                          <a:pPr algn="ctr"/>
                          <a:r>
                            <a:rPr lang="en-US" altLang="zh-TW" sz="2000" dirty="0">
                              <a:solidFill>
                                <a:schemeClr val="accent2">
                                  <a:lumMod val="75000"/>
                                </a:schemeClr>
                              </a:solidFill>
                            </a:rPr>
                            <a:t>2</a:t>
                          </a:r>
                          <a:endParaRPr lang="zh-TW" altLang="en-US" sz="2000" dirty="0">
                            <a:solidFill>
                              <a:schemeClr val="accent2">
                                <a:lumMod val="75000"/>
                              </a:schemeClr>
                            </a:solidFill>
                          </a:endParaRPr>
                        </a:p>
                      </a:txBody>
                      <a:tcPr anchor="ctr"/>
                    </a:tc>
                    <a:tc>
                      <a:txBody>
                        <a:bodyPr/>
                        <a:lstStyle/>
                        <a:p>
                          <a:pPr algn="ctr"/>
                          <a:r>
                            <a:rPr lang="en-US" altLang="zh-TW" sz="2000" dirty="0"/>
                            <a:t>3</a:t>
                          </a:r>
                          <a:endParaRPr lang="zh-TW" altLang="en-US" sz="2000" dirty="0"/>
                        </a:p>
                      </a:txBody>
                      <a:tcPr anchor="ctr"/>
                    </a:tc>
                    <a:tc>
                      <a:txBody>
                        <a:bodyPr/>
                        <a:lstStyle/>
                        <a:p>
                          <a:pPr algn="ctr"/>
                          <a:r>
                            <a:rPr lang="en-US" altLang="zh-TW" sz="2000" dirty="0">
                              <a:solidFill>
                                <a:schemeClr val="accent2">
                                  <a:lumMod val="75000"/>
                                </a:schemeClr>
                              </a:solidFill>
                            </a:rPr>
                            <a:t>3</a:t>
                          </a:r>
                          <a:endParaRPr lang="zh-TW" altLang="en-US" sz="2000" dirty="0">
                            <a:solidFill>
                              <a:schemeClr val="accent2">
                                <a:lumMod val="75000"/>
                              </a:schemeClr>
                            </a:solidFill>
                          </a:endParaRPr>
                        </a:p>
                      </a:txBody>
                      <a:tcPr anchor="ctr"/>
                    </a:tc>
                    <a:tc>
                      <a:txBody>
                        <a:bodyPr/>
                        <a:lstStyle/>
                        <a:p>
                          <a:pPr algn="ctr"/>
                          <a:r>
                            <a:rPr lang="en-US" altLang="zh-TW" sz="2000" dirty="0"/>
                            <a:t>4</a:t>
                          </a:r>
                          <a:endParaRPr lang="zh-TW" altLang="en-US" sz="2000" dirty="0"/>
                        </a:p>
                      </a:txBody>
                      <a:tcPr anchor="ctr"/>
                    </a:tc>
                    <a:tc>
                      <a:txBody>
                        <a:bodyPr/>
                        <a:lstStyle/>
                        <a:p>
                          <a:pPr algn="ctr"/>
                          <a:r>
                            <a:rPr lang="en-US" altLang="zh-TW" sz="2000" dirty="0"/>
                            <a:t>4</a:t>
                          </a:r>
                          <a:endParaRPr lang="zh-TW" altLang="en-US" sz="2000" dirty="0"/>
                        </a:p>
                      </a:txBody>
                      <a:tcPr anchor="ctr"/>
                    </a:tc>
                    <a:tc>
                      <a:txBody>
                        <a:bodyPr/>
                        <a:lstStyle/>
                        <a:p>
                          <a:pPr algn="ctr"/>
                          <a:r>
                            <a:rPr lang="en-US" altLang="zh-TW" sz="2000" dirty="0"/>
                            <a:t>…</a:t>
                          </a:r>
                          <a:endParaRPr lang="zh-TW" altLang="en-US" sz="2000" dirty="0"/>
                        </a:p>
                      </a:txBody>
                      <a:tcPr anchor="ctr"/>
                    </a:tc>
                    <a:extLst>
                      <a:ext uri="{0D108BD9-81ED-4DB2-BD59-A6C34878D82A}">
                        <a16:rowId xmlns:a16="http://schemas.microsoft.com/office/drawing/2014/main" val="3431404441"/>
                      </a:ext>
                    </a:extLst>
                  </a:tr>
                </a:tbl>
              </a:graphicData>
            </a:graphic>
          </p:graphicFrame>
        </mc:Fallback>
      </mc:AlternateContent>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E50D3B9C-3073-41CA-8220-A20E24F3929B}"/>
                  </a:ext>
                </a:extLst>
              </p:cNvPr>
              <p:cNvSpPr/>
              <p:nvPr/>
            </p:nvSpPr>
            <p:spPr>
              <a:xfrm>
                <a:off x="4129056" y="3236681"/>
                <a:ext cx="4269887" cy="646331"/>
              </a:xfrm>
              <a:prstGeom prst="rect">
                <a:avLst/>
              </a:prstGeom>
            </p:spPr>
            <p:txBody>
              <a:bodyPr wrap="none">
                <a:spAutoFit/>
              </a:bodyPr>
              <a:lstStyle/>
              <a:p>
                <a14:m>
                  <m:oMath xmlns:m="http://schemas.openxmlformats.org/officeDocument/2006/math">
                    <m:r>
                      <a:rPr lang="en-US" altLang="zh-TW" b="0" i="1" smtClean="0">
                        <a:solidFill>
                          <a:srgbClr val="0070C0"/>
                        </a:solidFill>
                        <a:latin typeface="Cambria Math" panose="02040503050406030204" pitchFamily="18" charset="0"/>
                        <a:cs typeface="Times New Roman" panose="02020603050405020304" pitchFamily="18" charset="0"/>
                      </a:rPr>
                      <m:t>∵ </m:t>
                    </m:r>
                  </m:oMath>
                </a14:m>
                <a:r>
                  <a:rPr lang="en-US" altLang="zh-TW" dirty="0">
                    <a:solidFill>
                      <a:srgbClr val="0070C0"/>
                    </a:solidFill>
                    <a:latin typeface="Times New Roman" panose="02020603050405020304" pitchFamily="18" charset="0"/>
                    <a:cs typeface="Times New Roman" panose="02020603050405020304" pitchFamily="18" charset="0"/>
                  </a:rPr>
                  <a:t>Lemma 1:</a:t>
                </a:r>
              </a:p>
              <a:p>
                <a:r>
                  <a:rPr lang="en-US" altLang="zh-TW" dirty="0">
                    <a:solidFill>
                      <a:srgbClr val="0070C0"/>
                    </a:solidFill>
                    <a:latin typeface="Times New Roman" panose="02020603050405020304" pitchFamily="18" charset="0"/>
                    <a:cs typeface="Times New Roman" panose="02020603050405020304" pitchFamily="18" charset="0"/>
                  </a:rPr>
                  <a:t>	We can always perform 1-transposition</a:t>
                </a:r>
              </a:p>
            </p:txBody>
          </p:sp>
        </mc:Choice>
        <mc:Fallback xmlns="">
          <p:sp>
            <p:nvSpPr>
              <p:cNvPr id="14" name="矩形 13">
                <a:extLst>
                  <a:ext uri="{FF2B5EF4-FFF2-40B4-BE49-F238E27FC236}">
                    <a16:creationId xmlns:a16="http://schemas.microsoft.com/office/drawing/2014/main" id="{E50D3B9C-3073-41CA-8220-A20E24F3929B}"/>
                  </a:ext>
                </a:extLst>
              </p:cNvPr>
              <p:cNvSpPr>
                <a:spLocks noRot="1" noChangeAspect="1" noMove="1" noResize="1" noEditPoints="1" noAdjustHandles="1" noChangeArrowheads="1" noChangeShapeType="1" noTextEdit="1"/>
              </p:cNvSpPr>
              <p:nvPr/>
            </p:nvSpPr>
            <p:spPr>
              <a:xfrm>
                <a:off x="4129056" y="3236681"/>
                <a:ext cx="4269887" cy="646331"/>
              </a:xfrm>
              <a:prstGeom prst="rect">
                <a:avLst/>
              </a:prstGeom>
              <a:blipFill>
                <a:blip r:embed="rId8"/>
                <a:stretch>
                  <a:fillRect t="-5660" r="-571" b="-1415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矩形 14">
                <a:extLst>
                  <a:ext uri="{FF2B5EF4-FFF2-40B4-BE49-F238E27FC236}">
                    <a16:creationId xmlns:a16="http://schemas.microsoft.com/office/drawing/2014/main" id="{CE7D6D33-50D0-46F8-8936-541DE7EC556B}"/>
                  </a:ext>
                </a:extLst>
              </p:cNvPr>
              <p:cNvSpPr/>
              <p:nvPr/>
            </p:nvSpPr>
            <p:spPr>
              <a:xfrm>
                <a:off x="853887" y="5403365"/>
                <a:ext cx="4940776" cy="858505"/>
              </a:xfrm>
              <a:prstGeom prst="rect">
                <a:avLst/>
              </a:prstGeom>
            </p:spPr>
            <p:txBody>
              <a:bodyPr wrap="none">
                <a:spAutoFit/>
              </a:bodyPr>
              <a:lstStyle/>
              <a:p>
                <a:r>
                  <a:rPr lang="en-US" altLang="zh-TW" sz="2000" dirty="0">
                    <a:solidFill>
                      <a:srgbClr val="0070C0"/>
                    </a:solidFill>
                    <a:latin typeface="Times New Roman" panose="02020603050405020304" pitchFamily="18" charset="0"/>
                    <a:cs typeface="Times New Roman" panose="02020603050405020304" pitchFamily="18" charset="0"/>
                  </a:rPr>
                  <a:t>We would get bound of </a:t>
                </a:r>
                <a14:m>
                  <m:oMath xmlns:m="http://schemas.openxmlformats.org/officeDocument/2006/math">
                    <m:d>
                      <m:dPr>
                        <m:begChr m:val="⌈"/>
                        <m:endChr m:val="⌉"/>
                        <m:ctrlPr>
                          <a:rPr lang="en-US" altLang="zh-TW" sz="2000" i="1" smtClean="0">
                            <a:solidFill>
                              <a:srgbClr val="0070C0"/>
                            </a:solidFill>
                            <a:latin typeface="Cambria Math" panose="02040503050406030204" pitchFamily="18" charset="0"/>
                            <a:cs typeface="Times New Roman" panose="02020603050405020304" pitchFamily="18" charset="0"/>
                          </a:rPr>
                        </m:ctrlPr>
                      </m:dPr>
                      <m:e>
                        <m:f>
                          <m:fPr>
                            <m:ctrlPr>
                              <a:rPr lang="en-US" altLang="zh-TW" sz="2000" i="1">
                                <a:solidFill>
                                  <a:srgbClr val="0070C0"/>
                                </a:solidFill>
                                <a:latin typeface="Cambria Math" panose="02040503050406030204" pitchFamily="18" charset="0"/>
                                <a:cs typeface="Times New Roman" panose="02020603050405020304" pitchFamily="18" charset="0"/>
                              </a:rPr>
                            </m:ctrlPr>
                          </m:fPr>
                          <m:num>
                            <m:r>
                              <a:rPr lang="en-US" altLang="zh-TW" sz="2000" i="1">
                                <a:solidFill>
                                  <a:srgbClr val="0070C0"/>
                                </a:solidFill>
                                <a:latin typeface="Cambria Math" panose="02040503050406030204" pitchFamily="18" charset="0"/>
                                <a:cs typeface="Times New Roman" panose="02020603050405020304" pitchFamily="18" charset="0"/>
                              </a:rPr>
                              <m:t>|</m:t>
                            </m:r>
                            <m:r>
                              <a:rPr lang="en-US" altLang="zh-TW" sz="2000" i="1">
                                <a:solidFill>
                                  <a:srgbClr val="0070C0"/>
                                </a:solidFill>
                                <a:latin typeface="Cambria Math" panose="02040503050406030204" pitchFamily="18" charset="0"/>
                                <a:cs typeface="Times New Roman" panose="02020603050405020304" pitchFamily="18" charset="0"/>
                              </a:rPr>
                              <m:t>𝑠</m:t>
                            </m:r>
                            <m:r>
                              <a:rPr lang="en-US" altLang="zh-TW" sz="2000" i="1">
                                <a:solidFill>
                                  <a:srgbClr val="0070C0"/>
                                </a:solidFill>
                                <a:latin typeface="Cambria Math" panose="02040503050406030204" pitchFamily="18" charset="0"/>
                                <a:cs typeface="Times New Roman" panose="02020603050405020304" pitchFamily="18" charset="0"/>
                              </a:rPr>
                              <m:t>|−3</m:t>
                            </m:r>
                          </m:num>
                          <m:den>
                            <m:r>
                              <a:rPr lang="en-US" altLang="zh-TW" sz="2000" i="1">
                                <a:solidFill>
                                  <a:srgbClr val="0070C0"/>
                                </a:solidFill>
                                <a:latin typeface="Cambria Math" panose="02040503050406030204" pitchFamily="18" charset="0"/>
                                <a:cs typeface="Times New Roman" panose="02020603050405020304" pitchFamily="18" charset="0"/>
                              </a:rPr>
                              <m:t>2</m:t>
                            </m:r>
                          </m:den>
                        </m:f>
                      </m:e>
                    </m:d>
                  </m:oMath>
                </a14:m>
                <a:r>
                  <a:rPr lang="en-US" altLang="zh-TW" sz="2000" dirty="0">
                    <a:solidFill>
                      <a:srgbClr val="0070C0"/>
                    </a:solidFill>
                    <a:latin typeface="Times New Roman" panose="02020603050405020304" pitchFamily="18" charset="0"/>
                    <a:cs typeface="Times New Roman" panose="02020603050405020304" pitchFamily="18" charset="0"/>
                  </a:rPr>
                  <a:t>, </a:t>
                </a:r>
              </a:p>
              <a:p>
                <a:r>
                  <a:rPr lang="en-US" altLang="zh-TW" sz="2000" dirty="0">
                    <a:solidFill>
                      <a:srgbClr val="0070C0"/>
                    </a:solidFill>
                    <a:latin typeface="Times New Roman" panose="02020603050405020304" pitchFamily="18" charset="0"/>
                    <a:cs typeface="Times New Roman" panose="02020603050405020304" pitchFamily="18" charset="0"/>
                  </a:rPr>
                  <a:t>if we could give a 2-transposition at each step.</a:t>
                </a:r>
              </a:p>
            </p:txBody>
          </p:sp>
        </mc:Choice>
        <mc:Fallback xmlns="">
          <p:sp>
            <p:nvSpPr>
              <p:cNvPr id="15" name="矩形 14">
                <a:extLst>
                  <a:ext uri="{FF2B5EF4-FFF2-40B4-BE49-F238E27FC236}">
                    <a16:creationId xmlns:a16="http://schemas.microsoft.com/office/drawing/2014/main" id="{CE7D6D33-50D0-46F8-8936-541DE7EC556B}"/>
                  </a:ext>
                </a:extLst>
              </p:cNvPr>
              <p:cNvSpPr>
                <a:spLocks noRot="1" noChangeAspect="1" noMove="1" noResize="1" noEditPoints="1" noAdjustHandles="1" noChangeArrowheads="1" noChangeShapeType="1" noTextEdit="1"/>
              </p:cNvSpPr>
              <p:nvPr/>
            </p:nvSpPr>
            <p:spPr>
              <a:xfrm>
                <a:off x="853887" y="5403365"/>
                <a:ext cx="4940776" cy="858505"/>
              </a:xfrm>
              <a:prstGeom prst="rect">
                <a:avLst/>
              </a:prstGeom>
              <a:blipFill>
                <a:blip r:embed="rId9"/>
                <a:stretch>
                  <a:fillRect l="-1233" r="-370" b="-1205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666610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2D3DF1CE-E6D1-42EE-882E-5438A6745A90}"/>
                  </a:ext>
                </a:extLst>
              </p:cNvPr>
              <p:cNvSpPr/>
              <p:nvPr/>
            </p:nvSpPr>
            <p:spPr>
              <a:xfrm>
                <a:off x="741157" y="1680848"/>
                <a:ext cx="7080207" cy="960328"/>
              </a:xfrm>
              <a:prstGeom prst="rect">
                <a:avLst/>
              </a:prstGeom>
            </p:spPr>
            <p:txBody>
              <a:bodyPr wrap="square">
                <a:spAutoFit/>
              </a:bodyPr>
              <a:lstStyle/>
              <a:p>
                <a:pPr marL="342900" indent="-342900">
                  <a:lnSpc>
                    <a:spcPct val="150000"/>
                  </a:lnSpc>
                  <a:buFont typeface="Arial" panose="020B0604020202020204" pitchFamily="34" charset="0"/>
                  <a:buChar char="•"/>
                </a:pPr>
                <a:r>
                  <a:rPr lang="en-US" altLang="zh-TW" sz="2000" dirty="0">
                    <a:latin typeface="Times New Roman" panose="02020603050405020304" pitchFamily="18" charset="0"/>
                    <a:cs typeface="Times New Roman" panose="02020603050405020304" pitchFamily="18" charset="0"/>
                  </a:rPr>
                  <a:t>When </a:t>
                </a:r>
                <a14:m>
                  <m:oMath xmlns:m="http://schemas.openxmlformats.org/officeDocument/2006/math">
                    <m:r>
                      <a:rPr lang="en-US" altLang="zh-TW" sz="2000" b="0" i="1" smtClean="0">
                        <a:latin typeface="Cambria Math" panose="02040503050406030204" pitchFamily="18" charset="0"/>
                        <a:cs typeface="Times New Roman" panose="02020603050405020304" pitchFamily="18" charset="0"/>
                      </a:rPr>
                      <m:t>𝑛</m:t>
                    </m:r>
                    <m:r>
                      <a:rPr lang="en-US" altLang="zh-TW" sz="2000" b="0" i="1" smtClean="0">
                        <a:latin typeface="Cambria Math" panose="02040503050406030204" pitchFamily="18" charset="0"/>
                        <a:cs typeface="Times New Roman" panose="02020603050405020304" pitchFamily="18" charset="0"/>
                      </a:rPr>
                      <m:t>≥7,</m:t>
                    </m:r>
                  </m:oMath>
                </a14:m>
                <a:r>
                  <a:rPr lang="en-US" altLang="zh-TW" sz="2000" dirty="0">
                    <a:latin typeface="Times New Roman" panose="02020603050405020304" pitchFamily="18" charset="0"/>
                    <a:cs typeface="Times New Roman" panose="02020603050405020304" pitchFamily="18" charset="0"/>
                  </a:rPr>
                  <a:t> consider strings start with 1, all possible prefixes of length 4: </a:t>
                </a:r>
              </a:p>
            </p:txBody>
          </p:sp>
        </mc:Choice>
        <mc:Fallback xmlns="">
          <p:sp>
            <p:nvSpPr>
              <p:cNvPr id="16" name="矩形 15">
                <a:extLst>
                  <a:ext uri="{FF2B5EF4-FFF2-40B4-BE49-F238E27FC236}">
                    <a16:creationId xmlns:a16="http://schemas.microsoft.com/office/drawing/2014/main" id="{2D3DF1CE-E6D1-42EE-882E-5438A6745A90}"/>
                  </a:ext>
                </a:extLst>
              </p:cNvPr>
              <p:cNvSpPr>
                <a:spLocks noRot="1" noChangeAspect="1" noMove="1" noResize="1" noEditPoints="1" noAdjustHandles="1" noChangeArrowheads="1" noChangeShapeType="1" noTextEdit="1"/>
              </p:cNvSpPr>
              <p:nvPr/>
            </p:nvSpPr>
            <p:spPr>
              <a:xfrm>
                <a:off x="741157" y="1680848"/>
                <a:ext cx="7080207" cy="960328"/>
              </a:xfrm>
              <a:prstGeom prst="rect">
                <a:avLst/>
              </a:prstGeom>
              <a:blipFill>
                <a:blip r:embed="rId3"/>
                <a:stretch>
                  <a:fillRect l="-775" b="-10828"/>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222F4ADD-F9DA-4202-A4ED-239132DE7250}"/>
              </a:ext>
            </a:extLst>
          </p:cNvPr>
          <p:cNvSpPr>
            <a:spLocks noGrp="1"/>
          </p:cNvSpPr>
          <p:nvPr>
            <p:ph type="sldNum" sz="quarter" idx="12"/>
          </p:nvPr>
        </p:nvSpPr>
        <p:spPr/>
        <p:txBody>
          <a:bodyPr/>
          <a:lstStyle/>
          <a:p>
            <a:fld id="{872633CA-77E0-4863-94F8-E28139DFB2B4}" type="slidenum">
              <a:rPr lang="zh-TW" altLang="en-US" smtClean="0"/>
              <a:t>13</a:t>
            </a:fld>
            <a:endParaRPr lang="zh-TW" altLang="en-US"/>
          </a:p>
        </p:txBody>
      </p:sp>
      <p:sp>
        <p:nvSpPr>
          <p:cNvPr id="5" name="標題 1">
            <a:extLst>
              <a:ext uri="{FF2B5EF4-FFF2-40B4-BE49-F238E27FC236}">
                <a16:creationId xmlns:a16="http://schemas.microsoft.com/office/drawing/2014/main" id="{FEF0B28A-BF0C-4AED-8461-CBEAD77D334D}"/>
              </a:ext>
            </a:extLst>
          </p:cNvPr>
          <p:cNvSpPr txBox="1">
            <a:spLocks/>
          </p:cNvSpPr>
          <p:nvPr/>
        </p:nvSpPr>
        <p:spPr>
          <a:xfrm>
            <a:off x="402232" y="385081"/>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Grouping - ternary</a:t>
            </a:r>
            <a:endParaRPr lang="zh-TW" altLang="en-US" sz="3200" dirty="0">
              <a:latin typeface="Times New Roman" panose="02020603050405020304" pitchFamily="18" charset="0"/>
              <a:cs typeface="Times New Roman" panose="02020603050405020304" pitchFamily="18" charset="0"/>
            </a:endParaRPr>
          </a:p>
        </p:txBody>
      </p:sp>
      <p:sp>
        <p:nvSpPr>
          <p:cNvPr id="12" name="標題 1">
            <a:extLst>
              <a:ext uri="{FF2B5EF4-FFF2-40B4-BE49-F238E27FC236}">
                <a16:creationId xmlns:a16="http://schemas.microsoft.com/office/drawing/2014/main" id="{763094B3-CC12-408A-AF35-67F3F2C58BD6}"/>
              </a:ext>
            </a:extLst>
          </p:cNvPr>
          <p:cNvSpPr txBox="1">
            <a:spLocks/>
          </p:cNvSpPr>
          <p:nvPr/>
        </p:nvSpPr>
        <p:spPr>
          <a:xfrm>
            <a:off x="402232" y="680111"/>
            <a:ext cx="6720677" cy="14197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00000"/>
              </a:lnSpc>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Upper bound</a:t>
            </a:r>
            <a:endParaRPr lang="en-US" altLang="zh-TW" sz="2000" dirty="0">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39BF88A5-60E7-4608-8DCD-83556BB2A0E6}"/>
              </a:ext>
            </a:extLst>
          </p:cNvPr>
          <p:cNvPicPr>
            <a:picLocks noChangeAspect="1"/>
          </p:cNvPicPr>
          <p:nvPr/>
        </p:nvPicPr>
        <p:blipFill>
          <a:blip r:embed="rId4"/>
          <a:stretch>
            <a:fillRect/>
          </a:stretch>
        </p:blipFill>
        <p:spPr>
          <a:xfrm>
            <a:off x="1504670" y="2839094"/>
            <a:ext cx="6134659" cy="2624141"/>
          </a:xfrm>
          <a:prstGeom prst="rect">
            <a:avLst/>
          </a:prstGeom>
        </p:spPr>
      </p:pic>
      <p:sp>
        <p:nvSpPr>
          <p:cNvPr id="7" name="橢圓 6">
            <a:extLst>
              <a:ext uri="{FF2B5EF4-FFF2-40B4-BE49-F238E27FC236}">
                <a16:creationId xmlns:a16="http://schemas.microsoft.com/office/drawing/2014/main" id="{9F403280-C9DC-4877-89AD-F32259DA67B8}"/>
              </a:ext>
            </a:extLst>
          </p:cNvPr>
          <p:cNvSpPr/>
          <p:nvPr/>
        </p:nvSpPr>
        <p:spPr>
          <a:xfrm>
            <a:off x="1572972" y="4977237"/>
            <a:ext cx="862784" cy="45612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7" name="橢圓 16">
            <a:extLst>
              <a:ext uri="{FF2B5EF4-FFF2-40B4-BE49-F238E27FC236}">
                <a16:creationId xmlns:a16="http://schemas.microsoft.com/office/drawing/2014/main" id="{5688F474-6D99-4859-879A-AD90E0A7A0EB}"/>
              </a:ext>
            </a:extLst>
          </p:cNvPr>
          <p:cNvSpPr/>
          <p:nvPr/>
        </p:nvSpPr>
        <p:spPr>
          <a:xfrm>
            <a:off x="6708246" y="4977237"/>
            <a:ext cx="862784" cy="45612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3" name="矩形 12">
            <a:extLst>
              <a:ext uri="{FF2B5EF4-FFF2-40B4-BE49-F238E27FC236}">
                <a16:creationId xmlns:a16="http://schemas.microsoft.com/office/drawing/2014/main" id="{9ABE42C1-6B2E-426F-9D5A-E42BFBD00644}"/>
              </a:ext>
            </a:extLst>
          </p:cNvPr>
          <p:cNvSpPr/>
          <p:nvPr/>
        </p:nvSpPr>
        <p:spPr>
          <a:xfrm>
            <a:off x="6708246" y="5540461"/>
            <a:ext cx="1063112" cy="369332"/>
          </a:xfrm>
          <a:prstGeom prst="rect">
            <a:avLst/>
          </a:prstGeom>
          <a:ln>
            <a:solidFill>
              <a:srgbClr val="002060"/>
            </a:solidFill>
          </a:ln>
        </p:spPr>
        <p:txBody>
          <a:bodyPr wrap="none">
            <a:spAutoFit/>
          </a:bodyPr>
          <a:lstStyle/>
          <a:p>
            <a:r>
              <a:rPr lang="en-US" altLang="zh-TW" b="0" i="0" dirty="0">
                <a:solidFill>
                  <a:srgbClr val="0070C0"/>
                </a:solidFill>
                <a:latin typeface="Times New Roman" panose="02020603050405020304" pitchFamily="18" charset="0"/>
                <a:cs typeface="Times New Roman" panose="02020603050405020304" pitchFamily="18" charset="0"/>
              </a:rPr>
              <a:t>Lemma 2</a:t>
            </a:r>
            <a:endParaRPr lang="zh-TW" altLang="en-US" dirty="0">
              <a:solidFill>
                <a:srgbClr val="0070C0"/>
              </a:solidFill>
              <a:latin typeface="Times New Roman" panose="02020603050405020304" pitchFamily="18" charset="0"/>
              <a:cs typeface="Times New Roman" panose="02020603050405020304" pitchFamily="18" charset="0"/>
            </a:endParaRPr>
          </a:p>
        </p:txBody>
      </p:sp>
      <p:sp>
        <p:nvSpPr>
          <p:cNvPr id="2" name="文字方塊 1"/>
          <p:cNvSpPr txBox="1"/>
          <p:nvPr/>
        </p:nvSpPr>
        <p:spPr>
          <a:xfrm>
            <a:off x="1572972" y="2928135"/>
            <a:ext cx="1581194" cy="369332"/>
          </a:xfrm>
          <a:prstGeom prst="rect">
            <a:avLst/>
          </a:prstGeom>
          <a:noFill/>
        </p:spPr>
        <p:txBody>
          <a:bodyPr wrap="square" rtlCol="0">
            <a:spAutoFit/>
          </a:bodyPr>
          <a:lstStyle/>
          <a:p>
            <a:r>
              <a:rPr lang="en-US" altLang="zh-TW" dirty="0" smtClean="0">
                <a:latin typeface="Times New Roman" panose="02020603050405020304" pitchFamily="18" charset="0"/>
                <a:cs typeface="Times New Roman" panose="02020603050405020304" pitchFamily="18" charset="0"/>
              </a:rPr>
              <a:t>Ex: n = 7</a:t>
            </a:r>
            <a:endParaRPr lang="zh-TW" altLang="en-US" dirty="0">
              <a:latin typeface="Times New Roman" panose="02020603050405020304" pitchFamily="18" charset="0"/>
              <a:cs typeface="Times New Roman" panose="02020603050405020304" pitchFamily="18" charset="0"/>
            </a:endParaRPr>
          </a:p>
        </p:txBody>
      </p:sp>
      <p:sp>
        <p:nvSpPr>
          <p:cNvPr id="3" name="文字方塊 2"/>
          <p:cNvSpPr txBox="1"/>
          <p:nvPr/>
        </p:nvSpPr>
        <p:spPr>
          <a:xfrm>
            <a:off x="3154166" y="5433360"/>
            <a:ext cx="1109609" cy="923330"/>
          </a:xfrm>
          <a:prstGeom prst="rect">
            <a:avLst/>
          </a:prstGeom>
          <a:noFill/>
        </p:spPr>
        <p:txBody>
          <a:bodyPr wrap="square" rtlCol="0">
            <a:spAutoFit/>
          </a:bodyPr>
          <a:lstStyle/>
          <a:p>
            <a:r>
              <a:rPr lang="en-US" altLang="zh-TW" dirty="0" smtClean="0">
                <a:latin typeface="Times New Roman" panose="02020603050405020304" pitchFamily="18" charset="0"/>
                <a:cs typeface="Times New Roman" panose="02020603050405020304" pitchFamily="18" charset="0"/>
              </a:rPr>
              <a:t>1</a:t>
            </a:r>
            <a:r>
              <a:rPr lang="zh-TW" altLang="en-US" dirty="0" smtClean="0">
                <a:latin typeface="標楷體" panose="03000509000000000000" pitchFamily="65" charset="-120"/>
                <a:ea typeface="標楷體" panose="03000509000000000000" pitchFamily="65" charset="-120"/>
              </a:rPr>
              <a:t>結尾一定符合</a:t>
            </a:r>
            <a:r>
              <a:rPr lang="en-US" altLang="zh-TW" dirty="0" smtClean="0">
                <a:latin typeface="Times New Roman" panose="02020603050405020304" pitchFamily="18" charset="0"/>
                <a:cs typeface="Times New Roman" panose="02020603050405020304" pitchFamily="18" charset="0"/>
              </a:rPr>
              <a:t>lemma 2</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0425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7" grpId="0" animBg="1"/>
      <p:bldP spid="1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2D3DF1CE-E6D1-42EE-882E-5438A6745A90}"/>
              </a:ext>
            </a:extLst>
          </p:cNvPr>
          <p:cNvSpPr/>
          <p:nvPr/>
        </p:nvSpPr>
        <p:spPr>
          <a:xfrm>
            <a:off x="741157" y="1682284"/>
            <a:ext cx="4631094" cy="960328"/>
          </a:xfrm>
          <a:prstGeom prst="rect">
            <a:avLst/>
          </a:prstGeom>
        </p:spPr>
        <p:txBody>
          <a:bodyPr wrap="square">
            <a:spAutoFit/>
          </a:bodyPr>
          <a:lstStyle/>
          <a:p>
            <a:pPr marL="342900" indent="-342900">
              <a:lnSpc>
                <a:spcPct val="150000"/>
              </a:lnSpc>
              <a:buFont typeface="Arial" panose="020B0604020202020204" pitchFamily="34" charset="0"/>
              <a:buChar char="•"/>
            </a:pPr>
            <a:r>
              <a:rPr lang="en-US" altLang="zh-TW" sz="2000" dirty="0">
                <a:latin typeface="Times New Roman" panose="02020603050405020304" pitchFamily="18" charset="0"/>
                <a:cs typeface="Times New Roman" panose="02020603050405020304" pitchFamily="18" charset="0"/>
              </a:rPr>
              <a:t>After grouping, they are already sorted</a:t>
            </a:r>
          </a:p>
          <a:p>
            <a:pPr>
              <a:lnSpc>
                <a:spcPct val="150000"/>
              </a:lnSpc>
            </a:pPr>
            <a:r>
              <a:rPr lang="en-US" altLang="zh-TW" sz="2000" dirty="0">
                <a:latin typeface="Times New Roman" panose="02020603050405020304" pitchFamily="18" charset="0"/>
                <a:cs typeface="Times New Roman" panose="02020603050405020304" pitchFamily="18" charset="0"/>
              </a:rPr>
              <a:t>	(ascending or descending order)</a:t>
            </a:r>
            <a:r>
              <a:rPr lang="zh-TW" altLang="en-US" sz="2000" dirty="0">
                <a:latin typeface="Times New Roman" panose="02020603050405020304" pitchFamily="18" charset="0"/>
                <a:cs typeface="Times New Roman" panose="02020603050405020304" pitchFamily="18" charset="0"/>
              </a:rPr>
              <a:t> </a:t>
            </a:r>
            <a:endParaRPr lang="en-US" altLang="zh-TW" sz="2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標題 1">
                <a:extLst>
                  <a:ext uri="{FF2B5EF4-FFF2-40B4-BE49-F238E27FC236}">
                    <a16:creationId xmlns:a16="http://schemas.microsoft.com/office/drawing/2014/main" id="{45FE6B62-BD15-4253-9421-D204B25110F1}"/>
                  </a:ext>
                </a:extLst>
              </p:cNvPr>
              <p:cNvSpPr txBox="1">
                <a:spLocks/>
              </p:cNvSpPr>
              <p:nvPr/>
            </p:nvSpPr>
            <p:spPr>
              <a:xfrm>
                <a:off x="402232" y="1050610"/>
                <a:ext cx="5644006" cy="7078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00000"/>
                  </a:lnSpc>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Binary - sorting distance: </a:t>
                </a:r>
                <a14:m>
                  <m:oMath xmlns:m="http://schemas.openxmlformats.org/officeDocument/2006/math">
                    <m:sSub>
                      <m:sSubPr>
                        <m:ctrlPr>
                          <a:rPr lang="en-US" altLang="zh-TW" sz="2400" b="0" i="1" smtClean="0">
                            <a:latin typeface="Cambria Math" panose="02040503050406030204" pitchFamily="18" charset="0"/>
                            <a:cs typeface="Times New Roman" panose="02020603050405020304" pitchFamily="18" charset="0"/>
                          </a:rPr>
                        </m:ctrlPr>
                      </m:sSubPr>
                      <m:e>
                        <m:r>
                          <a:rPr lang="en-US" altLang="zh-TW" sz="2400" b="0" i="1" smtClean="0">
                            <a:latin typeface="Cambria Math" panose="02040503050406030204" pitchFamily="18" charset="0"/>
                            <a:cs typeface="Times New Roman" panose="02020603050405020304" pitchFamily="18" charset="0"/>
                          </a:rPr>
                          <m:t>𝑑</m:t>
                        </m:r>
                      </m:e>
                      <m:sub>
                        <m:r>
                          <a:rPr lang="en-US" altLang="zh-TW" sz="2400" b="0" i="1" smtClean="0">
                            <a:latin typeface="Cambria Math" panose="02040503050406030204" pitchFamily="18" charset="0"/>
                            <a:cs typeface="Times New Roman" panose="02020603050405020304" pitchFamily="18" charset="0"/>
                          </a:rPr>
                          <m:t>𝑠</m:t>
                        </m:r>
                      </m:sub>
                    </m:sSub>
                    <m:d>
                      <m:dPr>
                        <m:ctrlPr>
                          <a:rPr lang="en-US" altLang="zh-TW" sz="2400" b="0" i="1" smtClean="0">
                            <a:latin typeface="Cambria Math" panose="02040503050406030204" pitchFamily="18" charset="0"/>
                            <a:cs typeface="Times New Roman" panose="02020603050405020304" pitchFamily="18" charset="0"/>
                          </a:rPr>
                        </m:ctrlPr>
                      </m:dPr>
                      <m:e>
                        <m:r>
                          <a:rPr lang="en-US" altLang="zh-TW" sz="2400" b="0" i="1" smtClean="0">
                            <a:latin typeface="Cambria Math" panose="02040503050406030204" pitchFamily="18" charset="0"/>
                            <a:cs typeface="Times New Roman" panose="02020603050405020304" pitchFamily="18" charset="0"/>
                          </a:rPr>
                          <m:t>𝑠</m:t>
                        </m:r>
                      </m:e>
                    </m:d>
                    <m:r>
                      <a:rPr lang="en-US" altLang="zh-TW" sz="2400" b="0" i="1" smtClean="0">
                        <a:latin typeface="Cambria Math" panose="02040503050406030204" pitchFamily="18" charset="0"/>
                        <a:cs typeface="Times New Roman" panose="02020603050405020304" pitchFamily="18" charset="0"/>
                      </a:rPr>
                      <m:t>≤</m:t>
                    </m:r>
                    <m:d>
                      <m:dPr>
                        <m:begChr m:val="⌈"/>
                        <m:endChr m:val="⌉"/>
                        <m:ctrlPr>
                          <a:rPr lang="en-US" altLang="zh-TW" sz="2400" i="1">
                            <a:solidFill>
                              <a:srgbClr val="0070C0"/>
                            </a:solidFill>
                            <a:latin typeface="Cambria Math" panose="02040503050406030204" pitchFamily="18" charset="0"/>
                            <a:cs typeface="Times New Roman" panose="02020603050405020304" pitchFamily="18" charset="0"/>
                          </a:rPr>
                        </m:ctrlPr>
                      </m:dPr>
                      <m:e>
                        <m:f>
                          <m:fPr>
                            <m:ctrlPr>
                              <a:rPr lang="en-US" altLang="zh-TW" sz="2400" i="1">
                                <a:solidFill>
                                  <a:srgbClr val="0070C0"/>
                                </a:solidFill>
                                <a:latin typeface="Cambria Math" panose="02040503050406030204" pitchFamily="18" charset="0"/>
                                <a:cs typeface="Times New Roman" panose="02020603050405020304" pitchFamily="18" charset="0"/>
                              </a:rPr>
                            </m:ctrlPr>
                          </m:fPr>
                          <m:num>
                            <m:r>
                              <a:rPr lang="en-US" altLang="zh-TW" sz="2400" i="1">
                                <a:solidFill>
                                  <a:srgbClr val="0070C0"/>
                                </a:solidFill>
                                <a:latin typeface="Cambria Math" panose="02040503050406030204" pitchFamily="18" charset="0"/>
                                <a:cs typeface="Times New Roman" panose="02020603050405020304" pitchFamily="18" charset="0"/>
                              </a:rPr>
                              <m:t>|</m:t>
                            </m:r>
                            <m:r>
                              <a:rPr lang="en-US" altLang="zh-TW" sz="2400" i="1">
                                <a:solidFill>
                                  <a:srgbClr val="0070C0"/>
                                </a:solidFill>
                                <a:latin typeface="Cambria Math" panose="02040503050406030204" pitchFamily="18" charset="0"/>
                                <a:cs typeface="Times New Roman" panose="02020603050405020304" pitchFamily="18" charset="0"/>
                              </a:rPr>
                              <m:t>𝑠</m:t>
                            </m:r>
                            <m:r>
                              <a:rPr lang="en-US" altLang="zh-TW" sz="2400" i="1">
                                <a:solidFill>
                                  <a:srgbClr val="0070C0"/>
                                </a:solidFill>
                                <a:latin typeface="Cambria Math" panose="02040503050406030204" pitchFamily="18" charset="0"/>
                                <a:cs typeface="Times New Roman" panose="02020603050405020304" pitchFamily="18" charset="0"/>
                              </a:rPr>
                              <m:t>|−2</m:t>
                            </m:r>
                          </m:num>
                          <m:den>
                            <m:r>
                              <a:rPr lang="en-US" altLang="zh-TW" sz="2400" i="1">
                                <a:solidFill>
                                  <a:srgbClr val="0070C0"/>
                                </a:solidFill>
                                <a:latin typeface="Cambria Math" panose="02040503050406030204" pitchFamily="18" charset="0"/>
                                <a:cs typeface="Times New Roman" panose="02020603050405020304" pitchFamily="18" charset="0"/>
                              </a:rPr>
                              <m:t>2</m:t>
                            </m:r>
                          </m:den>
                        </m:f>
                      </m:e>
                    </m:d>
                  </m:oMath>
                </a14:m>
                <a:endParaRPr lang="en-US" altLang="zh-TW" sz="2400" dirty="0">
                  <a:latin typeface="Times New Roman" panose="02020603050405020304" pitchFamily="18" charset="0"/>
                  <a:cs typeface="Times New Roman" panose="02020603050405020304" pitchFamily="18" charset="0"/>
                </a:endParaRPr>
              </a:p>
            </p:txBody>
          </p:sp>
        </mc:Choice>
        <mc:Fallback xmlns="">
          <p:sp>
            <p:nvSpPr>
              <p:cNvPr id="10" name="標題 1">
                <a:extLst>
                  <a:ext uri="{FF2B5EF4-FFF2-40B4-BE49-F238E27FC236}">
                    <a16:creationId xmlns:a16="http://schemas.microsoft.com/office/drawing/2014/main" id="{45FE6B62-BD15-4253-9421-D204B25110F1}"/>
                  </a:ext>
                </a:extLst>
              </p:cNvPr>
              <p:cNvSpPr txBox="1">
                <a:spLocks noRot="1" noChangeAspect="1" noMove="1" noResize="1" noEditPoints="1" noAdjustHandles="1" noChangeArrowheads="1" noChangeShapeType="1" noTextEdit="1"/>
              </p:cNvSpPr>
              <p:nvPr/>
            </p:nvSpPr>
            <p:spPr>
              <a:xfrm>
                <a:off x="402232" y="1050610"/>
                <a:ext cx="5644006" cy="707886"/>
              </a:xfrm>
              <a:prstGeom prst="rect">
                <a:avLst/>
              </a:prstGeom>
              <a:blipFill>
                <a:blip r:embed="rId3"/>
                <a:stretch>
                  <a:fillRect l="-1512" b="-2586"/>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222F4ADD-F9DA-4202-A4ED-239132DE7250}"/>
              </a:ext>
            </a:extLst>
          </p:cNvPr>
          <p:cNvSpPr>
            <a:spLocks noGrp="1"/>
          </p:cNvSpPr>
          <p:nvPr>
            <p:ph type="sldNum" sz="quarter" idx="12"/>
          </p:nvPr>
        </p:nvSpPr>
        <p:spPr/>
        <p:txBody>
          <a:bodyPr/>
          <a:lstStyle/>
          <a:p>
            <a:fld id="{872633CA-77E0-4863-94F8-E28139DFB2B4}" type="slidenum">
              <a:rPr lang="zh-TW" altLang="en-US" smtClean="0"/>
              <a:t>14</a:t>
            </a:fld>
            <a:endParaRPr lang="zh-TW" altLang="en-US"/>
          </a:p>
        </p:txBody>
      </p:sp>
      <p:sp>
        <p:nvSpPr>
          <p:cNvPr id="5" name="標題 1">
            <a:extLst>
              <a:ext uri="{FF2B5EF4-FFF2-40B4-BE49-F238E27FC236}">
                <a16:creationId xmlns:a16="http://schemas.microsoft.com/office/drawing/2014/main" id="{FEF0B28A-BF0C-4AED-8461-CBEAD77D334D}"/>
              </a:ext>
            </a:extLst>
          </p:cNvPr>
          <p:cNvSpPr txBox="1">
            <a:spLocks/>
          </p:cNvSpPr>
          <p:nvPr/>
        </p:nvSpPr>
        <p:spPr>
          <a:xfrm>
            <a:off x="402232" y="385081"/>
            <a:ext cx="1594519"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Sorting </a:t>
            </a:r>
            <a:endParaRPr lang="zh-TW" altLang="en-US" sz="3200" dirty="0">
              <a:latin typeface="Times New Roman" panose="02020603050405020304" pitchFamily="18" charset="0"/>
              <a:cs typeface="Times New Roman" panose="02020603050405020304" pitchFamily="18" charset="0"/>
            </a:endParaRPr>
          </a:p>
        </p:txBody>
      </p:sp>
      <p:sp>
        <p:nvSpPr>
          <p:cNvPr id="11" name="矩形 10">
            <a:extLst>
              <a:ext uri="{FF2B5EF4-FFF2-40B4-BE49-F238E27FC236}">
                <a16:creationId xmlns:a16="http://schemas.microsoft.com/office/drawing/2014/main" id="{F20A50DF-D379-49FC-B86C-2E3564AC8265}"/>
              </a:ext>
            </a:extLst>
          </p:cNvPr>
          <p:cNvSpPr/>
          <p:nvPr/>
        </p:nvSpPr>
        <p:spPr>
          <a:xfrm>
            <a:off x="2113893" y="5111063"/>
            <a:ext cx="5565202" cy="369332"/>
          </a:xfrm>
          <a:prstGeom prst="rect">
            <a:avLst/>
          </a:prstGeom>
        </p:spPr>
        <p:txBody>
          <a:bodyPr wrap="square">
            <a:spAutoFit/>
          </a:bodyPr>
          <a:lstStyle/>
          <a:p>
            <a:r>
              <a:rPr lang="en-US" altLang="zh-TW" b="0" i="0" dirty="0">
                <a:solidFill>
                  <a:srgbClr val="0070C0"/>
                </a:solidFill>
                <a:latin typeface="Times New Roman" panose="02020603050405020304" pitchFamily="18" charset="0"/>
                <a:cs typeface="Times New Roman" panose="02020603050405020304" pitchFamily="18" charset="0"/>
              </a:rPr>
              <a:t>these 4 types need to be sorted by a more 0-transposition</a:t>
            </a:r>
            <a:endParaRPr lang="en-US" altLang="zh-TW" dirty="0">
              <a:solidFill>
                <a:srgbClr val="0070C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CF1987FB-0650-4B9F-86EA-B1DF1C1AF994}"/>
                  </a:ext>
                </a:extLst>
              </p:cNvPr>
              <p:cNvSpPr/>
              <p:nvPr/>
            </p:nvSpPr>
            <p:spPr>
              <a:xfrm>
                <a:off x="3083103" y="2555730"/>
                <a:ext cx="498855"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b="0" i="1" smtClean="0">
                          <a:solidFill>
                            <a:srgbClr val="0070C0"/>
                          </a:solidFill>
                          <a:latin typeface="Cambria Math" panose="02040503050406030204" pitchFamily="18" charset="0"/>
                          <a:cs typeface="Times New Roman" panose="02020603050405020304" pitchFamily="18" charset="0"/>
                        </a:rPr>
                        <m:t>10</m:t>
                      </m:r>
                    </m:oMath>
                  </m:oMathPara>
                </a14:m>
                <a:endParaRPr lang="en-US" altLang="zh-TW" dirty="0">
                  <a:solidFill>
                    <a:srgbClr val="0070C0"/>
                  </a:solidFill>
                  <a:latin typeface="Times New Roman" panose="02020603050405020304" pitchFamily="18" charset="0"/>
                  <a:cs typeface="Times New Roman" panose="02020603050405020304" pitchFamily="18" charset="0"/>
                </a:endParaRPr>
              </a:p>
            </p:txBody>
          </p:sp>
        </mc:Choice>
        <mc:Fallback xmlns="">
          <p:sp>
            <p:nvSpPr>
              <p:cNvPr id="14" name="矩形 13">
                <a:extLst>
                  <a:ext uri="{FF2B5EF4-FFF2-40B4-BE49-F238E27FC236}">
                    <a16:creationId xmlns:a16="http://schemas.microsoft.com/office/drawing/2014/main" id="{CF1987FB-0650-4B9F-86EA-B1DF1C1AF994}"/>
                  </a:ext>
                </a:extLst>
              </p:cNvPr>
              <p:cNvSpPr>
                <a:spLocks noRot="1" noChangeAspect="1" noMove="1" noResize="1" noEditPoints="1" noAdjustHandles="1" noChangeArrowheads="1" noChangeShapeType="1" noTextEdit="1"/>
              </p:cNvSpPr>
              <p:nvPr/>
            </p:nvSpPr>
            <p:spPr>
              <a:xfrm>
                <a:off x="3083103" y="2555730"/>
                <a:ext cx="498855" cy="369332"/>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標題 1">
                <a:extLst>
                  <a:ext uri="{FF2B5EF4-FFF2-40B4-BE49-F238E27FC236}">
                    <a16:creationId xmlns:a16="http://schemas.microsoft.com/office/drawing/2014/main" id="{B227470E-57F2-4E33-A24E-80B78732E9F3}"/>
                  </a:ext>
                </a:extLst>
              </p:cNvPr>
              <p:cNvSpPr txBox="1">
                <a:spLocks/>
              </p:cNvSpPr>
              <p:nvPr/>
            </p:nvSpPr>
            <p:spPr>
              <a:xfrm>
                <a:off x="402232" y="3429000"/>
                <a:ext cx="6558405" cy="8885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00000"/>
                  </a:lnSpc>
                  <a:buFont typeface="Arial" panose="020B0604020202020204" pitchFamily="34" charset="0"/>
                  <a:buChar char="•"/>
                </a:pPr>
                <a:r>
                  <a:rPr lang="en-US" altLang="zh-TW" sz="2400" dirty="0" smtClean="0">
                    <a:latin typeface="Times New Roman" panose="02020603050405020304" pitchFamily="18" charset="0"/>
                    <a:cs typeface="Times New Roman" panose="02020603050405020304" pitchFamily="18" charset="0"/>
                  </a:rPr>
                  <a:t>Ternary </a:t>
                </a:r>
                <a:r>
                  <a:rPr lang="en-US" altLang="zh-TW" sz="2400" dirty="0">
                    <a:latin typeface="Times New Roman" panose="02020603050405020304" pitchFamily="18" charset="0"/>
                    <a:cs typeface="Times New Roman" panose="02020603050405020304" pitchFamily="18" charset="0"/>
                  </a:rPr>
                  <a:t>- sorting distance: </a:t>
                </a:r>
                <a14:m>
                  <m:oMath xmlns:m="http://schemas.openxmlformats.org/officeDocument/2006/math">
                    <m:sSub>
                      <m:sSubPr>
                        <m:ctrlPr>
                          <a:rPr lang="en-US" altLang="zh-TW" sz="2400" b="0" i="1" smtClean="0">
                            <a:latin typeface="Cambria Math" panose="02040503050406030204" pitchFamily="18" charset="0"/>
                            <a:cs typeface="Times New Roman" panose="02020603050405020304" pitchFamily="18" charset="0"/>
                          </a:rPr>
                        </m:ctrlPr>
                      </m:sSubPr>
                      <m:e>
                        <m:r>
                          <a:rPr lang="en-US" altLang="zh-TW" sz="2400" b="0" i="1" smtClean="0">
                            <a:latin typeface="Cambria Math" panose="02040503050406030204" pitchFamily="18" charset="0"/>
                            <a:cs typeface="Times New Roman" panose="02020603050405020304" pitchFamily="18" charset="0"/>
                          </a:rPr>
                          <m:t>𝑑</m:t>
                        </m:r>
                      </m:e>
                      <m:sub>
                        <m:r>
                          <a:rPr lang="en-US" altLang="zh-TW" sz="2400" b="0" i="1" smtClean="0">
                            <a:latin typeface="Cambria Math" panose="02040503050406030204" pitchFamily="18" charset="0"/>
                            <a:cs typeface="Times New Roman" panose="02020603050405020304" pitchFamily="18" charset="0"/>
                          </a:rPr>
                          <m:t>𝑠</m:t>
                        </m:r>
                      </m:sub>
                    </m:sSub>
                    <m:d>
                      <m:dPr>
                        <m:ctrlPr>
                          <a:rPr lang="en-US" altLang="zh-TW" sz="2400" b="0" i="1" smtClean="0">
                            <a:latin typeface="Cambria Math" panose="02040503050406030204" pitchFamily="18" charset="0"/>
                            <a:cs typeface="Times New Roman" panose="02020603050405020304" pitchFamily="18" charset="0"/>
                          </a:rPr>
                        </m:ctrlPr>
                      </m:dPr>
                      <m:e>
                        <m:r>
                          <a:rPr lang="en-US" altLang="zh-TW" sz="2400" b="0" i="1" smtClean="0">
                            <a:latin typeface="Cambria Math" panose="02040503050406030204" pitchFamily="18" charset="0"/>
                            <a:cs typeface="Times New Roman" panose="02020603050405020304" pitchFamily="18" charset="0"/>
                          </a:rPr>
                          <m:t>𝑠</m:t>
                        </m:r>
                      </m:e>
                    </m:d>
                    <m:r>
                      <a:rPr lang="en-US" altLang="zh-TW" sz="2400" b="0" i="1" smtClean="0">
                        <a:latin typeface="Cambria Math" panose="02040503050406030204" pitchFamily="18" charset="0"/>
                        <a:cs typeface="Times New Roman" panose="02020603050405020304" pitchFamily="18" charset="0"/>
                      </a:rPr>
                      <m:t>≤</m:t>
                    </m:r>
                    <m:d>
                      <m:dPr>
                        <m:begChr m:val="⌈"/>
                        <m:endChr m:val="⌉"/>
                        <m:ctrlPr>
                          <a:rPr lang="en-US" altLang="zh-TW" sz="2400" i="1">
                            <a:solidFill>
                              <a:srgbClr val="0070C0"/>
                            </a:solidFill>
                            <a:latin typeface="Cambria Math" panose="02040503050406030204" pitchFamily="18" charset="0"/>
                            <a:cs typeface="Times New Roman" panose="02020603050405020304" pitchFamily="18" charset="0"/>
                          </a:rPr>
                        </m:ctrlPr>
                      </m:dPr>
                      <m:e>
                        <m:f>
                          <m:fPr>
                            <m:ctrlPr>
                              <a:rPr lang="en-US" altLang="zh-TW" sz="2400" i="1">
                                <a:solidFill>
                                  <a:srgbClr val="0070C0"/>
                                </a:solidFill>
                                <a:latin typeface="Cambria Math" panose="02040503050406030204" pitchFamily="18" charset="0"/>
                                <a:cs typeface="Times New Roman" panose="02020603050405020304" pitchFamily="18" charset="0"/>
                              </a:rPr>
                            </m:ctrlPr>
                          </m:fPr>
                          <m:num>
                            <m:r>
                              <a:rPr lang="en-US" altLang="zh-TW" sz="2400" i="1">
                                <a:solidFill>
                                  <a:srgbClr val="0070C0"/>
                                </a:solidFill>
                                <a:latin typeface="Cambria Math" panose="02040503050406030204" pitchFamily="18" charset="0"/>
                                <a:cs typeface="Times New Roman" panose="02020603050405020304" pitchFamily="18" charset="0"/>
                              </a:rPr>
                              <m:t>|</m:t>
                            </m:r>
                            <m:r>
                              <a:rPr lang="en-US" altLang="zh-TW" sz="2400" i="1">
                                <a:solidFill>
                                  <a:srgbClr val="0070C0"/>
                                </a:solidFill>
                                <a:latin typeface="Cambria Math" panose="02040503050406030204" pitchFamily="18" charset="0"/>
                                <a:cs typeface="Times New Roman" panose="02020603050405020304" pitchFamily="18" charset="0"/>
                              </a:rPr>
                              <m:t>𝑠</m:t>
                            </m:r>
                            <m:r>
                              <a:rPr lang="en-US" altLang="zh-TW" sz="2400" i="1">
                                <a:solidFill>
                                  <a:srgbClr val="0070C0"/>
                                </a:solidFill>
                                <a:latin typeface="Cambria Math" panose="02040503050406030204" pitchFamily="18" charset="0"/>
                                <a:cs typeface="Times New Roman" panose="02020603050405020304" pitchFamily="18" charset="0"/>
                              </a:rPr>
                              <m:t>|−3</m:t>
                            </m:r>
                          </m:num>
                          <m:den>
                            <m:r>
                              <a:rPr lang="en-US" altLang="zh-TW" sz="2400" i="1">
                                <a:solidFill>
                                  <a:srgbClr val="0070C0"/>
                                </a:solidFill>
                                <a:latin typeface="Cambria Math" panose="02040503050406030204" pitchFamily="18" charset="0"/>
                                <a:cs typeface="Times New Roman" panose="02020603050405020304" pitchFamily="18" charset="0"/>
                              </a:rPr>
                              <m:t>2</m:t>
                            </m:r>
                          </m:den>
                        </m:f>
                        <m:r>
                          <a:rPr lang="en-US" altLang="zh-TW" sz="2400" b="0" i="1" smtClean="0">
                            <a:solidFill>
                              <a:srgbClr val="0070C0"/>
                            </a:solidFill>
                            <a:latin typeface="Cambria Math" panose="02040503050406030204" pitchFamily="18" charset="0"/>
                            <a:cs typeface="Times New Roman" panose="02020603050405020304" pitchFamily="18" charset="0"/>
                          </a:rPr>
                          <m:t>+2</m:t>
                        </m:r>
                      </m:e>
                    </m:d>
                  </m:oMath>
                </a14:m>
                <a:endParaRPr lang="en-US" altLang="zh-TW" sz="2400" dirty="0">
                  <a:latin typeface="Times New Roman" panose="02020603050405020304" pitchFamily="18" charset="0"/>
                  <a:cs typeface="Times New Roman" panose="02020603050405020304" pitchFamily="18" charset="0"/>
                </a:endParaRPr>
              </a:p>
            </p:txBody>
          </p:sp>
        </mc:Choice>
        <mc:Fallback xmlns="">
          <p:sp>
            <p:nvSpPr>
              <p:cNvPr id="15" name="標題 1">
                <a:extLst>
                  <a:ext uri="{FF2B5EF4-FFF2-40B4-BE49-F238E27FC236}">
                    <a16:creationId xmlns:a16="http://schemas.microsoft.com/office/drawing/2014/main" id="{B227470E-57F2-4E33-A24E-80B78732E9F3}"/>
                  </a:ext>
                </a:extLst>
              </p:cNvPr>
              <p:cNvSpPr txBox="1">
                <a:spLocks noRot="1" noChangeAspect="1" noMove="1" noResize="1" noEditPoints="1" noAdjustHandles="1" noChangeArrowheads="1" noChangeShapeType="1" noTextEdit="1"/>
              </p:cNvSpPr>
              <p:nvPr/>
            </p:nvSpPr>
            <p:spPr>
              <a:xfrm>
                <a:off x="402232" y="3429000"/>
                <a:ext cx="6558405" cy="888554"/>
              </a:xfrm>
              <a:prstGeom prst="rect">
                <a:avLst/>
              </a:prstGeom>
              <a:blipFill>
                <a:blip r:embed="rId5"/>
                <a:stretch>
                  <a:fillRect l="-1301"/>
                </a:stretch>
              </a:blipFill>
            </p:spPr>
            <p:txBody>
              <a:bodyPr/>
              <a:lstStyle/>
              <a:p>
                <a:r>
                  <a:rPr lang="zh-TW" altLang="en-US">
                    <a:noFill/>
                  </a:rPr>
                  <a:t> </a:t>
                </a:r>
              </a:p>
            </p:txBody>
          </p:sp>
        </mc:Fallback>
      </mc:AlternateContent>
      <p:sp>
        <p:nvSpPr>
          <p:cNvPr id="18" name="矩形 17">
            <a:extLst>
              <a:ext uri="{FF2B5EF4-FFF2-40B4-BE49-F238E27FC236}">
                <a16:creationId xmlns:a16="http://schemas.microsoft.com/office/drawing/2014/main" id="{3EB6DE0D-5F99-465E-B189-CA6685B0562F}"/>
              </a:ext>
            </a:extLst>
          </p:cNvPr>
          <p:cNvSpPr/>
          <p:nvPr/>
        </p:nvSpPr>
        <p:spPr>
          <a:xfrm>
            <a:off x="762000" y="4228699"/>
            <a:ext cx="6198637" cy="960328"/>
          </a:xfrm>
          <a:prstGeom prst="rect">
            <a:avLst/>
          </a:prstGeom>
        </p:spPr>
        <p:txBody>
          <a:bodyPr wrap="square">
            <a:spAutoFit/>
          </a:bodyPr>
          <a:lstStyle/>
          <a:p>
            <a:pPr marL="342900" indent="-342900">
              <a:lnSpc>
                <a:spcPct val="150000"/>
              </a:lnSpc>
              <a:buFont typeface="Arial" panose="020B0604020202020204" pitchFamily="34" charset="0"/>
              <a:buChar char="•"/>
            </a:pPr>
            <a:r>
              <a:rPr lang="en-US" altLang="zh-TW" sz="2000" dirty="0">
                <a:latin typeface="Times New Roman" panose="02020603050405020304" pitchFamily="18" charset="0"/>
                <a:cs typeface="Times New Roman" panose="02020603050405020304" pitchFamily="18" charset="0"/>
              </a:rPr>
              <a:t>After grouping, we have some types of grouped strings:</a:t>
            </a:r>
          </a:p>
          <a:p>
            <a:pPr>
              <a:lnSpc>
                <a:spcPct val="150000"/>
              </a:lnSpc>
            </a:pPr>
            <a:r>
              <a:rPr lang="en-US" altLang="zh-TW" sz="2000" dirty="0">
                <a:latin typeface="Times New Roman" panose="02020603050405020304" pitchFamily="18" charset="0"/>
                <a:cs typeface="Times New Roman" panose="02020603050405020304" pitchFamily="18" charset="0"/>
              </a:rPr>
              <a:t>	</a:t>
            </a:r>
            <a:r>
              <a:rPr lang="en-US" altLang="zh-TW" sz="2000" dirty="0">
                <a:solidFill>
                  <a:srgbClr val="FF0000"/>
                </a:solidFill>
                <a:latin typeface="Times New Roman" panose="02020603050405020304" pitchFamily="18" charset="0"/>
                <a:cs typeface="Times New Roman" panose="02020603050405020304" pitchFamily="18" charset="0"/>
              </a:rPr>
              <a:t>012</a:t>
            </a:r>
            <a:r>
              <a:rPr lang="en-US" altLang="zh-TW" sz="2000" dirty="0">
                <a:latin typeface="Times New Roman" panose="02020603050405020304" pitchFamily="18" charset="0"/>
                <a:cs typeface="Times New Roman" panose="02020603050405020304" pitchFamily="18" charset="0"/>
              </a:rPr>
              <a:t>, 021, 102, 120, 201, </a:t>
            </a:r>
            <a:r>
              <a:rPr lang="en-US" altLang="zh-TW" sz="2000" dirty="0">
                <a:solidFill>
                  <a:srgbClr val="FF0000"/>
                </a:solidFill>
                <a:latin typeface="Times New Roman" panose="02020603050405020304" pitchFamily="18" charset="0"/>
                <a:cs typeface="Times New Roman" panose="02020603050405020304" pitchFamily="18" charset="0"/>
              </a:rPr>
              <a:t>210</a:t>
            </a:r>
          </a:p>
        </p:txBody>
      </p:sp>
      <p:sp>
        <p:nvSpPr>
          <p:cNvPr id="2" name="矩形 1">
            <a:extLst>
              <a:ext uri="{FF2B5EF4-FFF2-40B4-BE49-F238E27FC236}">
                <a16:creationId xmlns:a16="http://schemas.microsoft.com/office/drawing/2014/main" id="{D8BB5173-2DBA-4071-A481-AAC1A10E0799}"/>
              </a:ext>
            </a:extLst>
          </p:cNvPr>
          <p:cNvSpPr/>
          <p:nvPr/>
        </p:nvSpPr>
        <p:spPr>
          <a:xfrm>
            <a:off x="1763486" y="4821492"/>
            <a:ext cx="1978090" cy="295761"/>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9" name="矩形 18">
                <a:extLst>
                  <a:ext uri="{FF2B5EF4-FFF2-40B4-BE49-F238E27FC236}">
                    <a16:creationId xmlns:a16="http://schemas.microsoft.com/office/drawing/2014/main" id="{FEE4C936-7CA7-47E9-9B65-73FD3C482BF3}"/>
                  </a:ext>
                </a:extLst>
              </p:cNvPr>
              <p:cNvSpPr/>
              <p:nvPr/>
            </p:nvSpPr>
            <p:spPr>
              <a:xfrm>
                <a:off x="1615037" y="2555730"/>
                <a:ext cx="498855"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b="0" i="1" smtClean="0">
                          <a:solidFill>
                            <a:srgbClr val="0070C0"/>
                          </a:solidFill>
                          <a:latin typeface="Cambria Math" panose="02040503050406030204" pitchFamily="18" charset="0"/>
                          <a:cs typeface="Times New Roman" panose="02020603050405020304" pitchFamily="18" charset="0"/>
                        </a:rPr>
                        <m:t>01</m:t>
                      </m:r>
                    </m:oMath>
                  </m:oMathPara>
                </a14:m>
                <a:endParaRPr lang="en-US" altLang="zh-TW" dirty="0">
                  <a:solidFill>
                    <a:srgbClr val="0070C0"/>
                  </a:solidFill>
                  <a:latin typeface="Times New Roman" panose="02020603050405020304" pitchFamily="18" charset="0"/>
                  <a:cs typeface="Times New Roman" panose="02020603050405020304" pitchFamily="18" charset="0"/>
                </a:endParaRPr>
              </a:p>
            </p:txBody>
          </p:sp>
        </mc:Choice>
        <mc:Fallback xmlns="">
          <p:sp>
            <p:nvSpPr>
              <p:cNvPr id="19" name="矩形 18">
                <a:extLst>
                  <a:ext uri="{FF2B5EF4-FFF2-40B4-BE49-F238E27FC236}">
                    <a16:creationId xmlns:a16="http://schemas.microsoft.com/office/drawing/2014/main" id="{FEE4C936-7CA7-47E9-9B65-73FD3C482BF3}"/>
                  </a:ext>
                </a:extLst>
              </p:cNvPr>
              <p:cNvSpPr>
                <a:spLocks noRot="1" noChangeAspect="1" noMove="1" noResize="1" noEditPoints="1" noAdjustHandles="1" noChangeArrowheads="1" noChangeShapeType="1" noTextEdit="1"/>
              </p:cNvSpPr>
              <p:nvPr/>
            </p:nvSpPr>
            <p:spPr>
              <a:xfrm>
                <a:off x="1615037" y="2555730"/>
                <a:ext cx="498855" cy="369332"/>
              </a:xfrm>
              <a:prstGeom prst="rect">
                <a:avLst/>
              </a:prstGeom>
              <a:blipFill>
                <a:blip r:embed="rId6"/>
                <a:stretch>
                  <a:fillRect/>
                </a:stretch>
              </a:blipFill>
            </p:spPr>
            <p:txBody>
              <a:bodyPr/>
              <a:lstStyle/>
              <a:p>
                <a:r>
                  <a:rPr lang="zh-TW" altLang="en-US">
                    <a:noFill/>
                  </a:rPr>
                  <a:t> </a:t>
                </a:r>
              </a:p>
            </p:txBody>
          </p:sp>
        </mc:Fallback>
      </mc:AlternateContent>
      <p:sp>
        <p:nvSpPr>
          <p:cNvPr id="20" name="矩形 19">
            <a:extLst>
              <a:ext uri="{FF2B5EF4-FFF2-40B4-BE49-F238E27FC236}">
                <a16:creationId xmlns:a16="http://schemas.microsoft.com/office/drawing/2014/main" id="{EA74A35A-EFFF-4537-B9B0-1328EDD7D302}"/>
              </a:ext>
            </a:extLst>
          </p:cNvPr>
          <p:cNvSpPr/>
          <p:nvPr/>
        </p:nvSpPr>
        <p:spPr>
          <a:xfrm>
            <a:off x="1864463" y="676764"/>
            <a:ext cx="3211389" cy="369332"/>
          </a:xfrm>
          <a:prstGeom prst="rect">
            <a:avLst/>
          </a:prstGeom>
        </p:spPr>
        <p:txBody>
          <a:bodyPr wrap="square">
            <a:spAutoFit/>
          </a:bodyPr>
          <a:lstStyle/>
          <a:p>
            <a:r>
              <a:rPr lang="en-US" altLang="zh-TW" b="0" i="0" dirty="0">
                <a:solidFill>
                  <a:srgbClr val="0070C0"/>
                </a:solidFill>
                <a:latin typeface="Times New Roman" panose="02020603050405020304" pitchFamily="18" charset="0"/>
                <a:cs typeface="Times New Roman" panose="02020603050405020304" pitchFamily="18" charset="0"/>
              </a:rPr>
              <a:t>(Sorting = grouping + sorting)</a:t>
            </a:r>
            <a:endParaRPr lang="en-US" altLang="zh-TW"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086202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Thanks~</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872633CA-77E0-4863-94F8-E28139DFB2B4}" type="slidenum">
              <a:rPr lang="zh-TW" altLang="en-US" smtClean="0"/>
              <a:t>15</a:t>
            </a:fld>
            <a:endParaRPr lang="zh-TW" altLang="en-US"/>
          </a:p>
        </p:txBody>
      </p:sp>
    </p:spTree>
    <p:extLst>
      <p:ext uri="{BB962C8B-B14F-4D97-AF65-F5344CB8AC3E}">
        <p14:creationId xmlns:p14="http://schemas.microsoft.com/office/powerpoint/2010/main" val="3192103377"/>
      </p:ext>
    </p:extLst>
  </p:cSld>
  <p:clrMapOvr>
    <a:masterClrMapping/>
  </p:clrMapOvr>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47194</TotalTime>
  <Words>1387</Words>
  <Application>Microsoft Office PowerPoint</Application>
  <PresentationFormat>如螢幕大小 (4:3)</PresentationFormat>
  <Paragraphs>296</Paragraphs>
  <Slides>15</Slides>
  <Notes>5</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15</vt:i4>
      </vt:variant>
    </vt:vector>
  </HeadingPairs>
  <TitlesOfParts>
    <vt:vector size="24" baseType="lpstr">
      <vt:lpstr>新細明體</vt:lpstr>
      <vt:lpstr>標楷體</vt:lpstr>
      <vt:lpstr>Arial</vt:lpstr>
      <vt:lpstr>Arial Black</vt:lpstr>
      <vt:lpstr>Calibri</vt:lpstr>
      <vt:lpstr>Calibri Light</vt:lpstr>
      <vt:lpstr>Cambria Math</vt:lpstr>
      <vt:lpstr>Times New Roman</vt:lpstr>
      <vt:lpstr>Office 佈景主題</vt:lpstr>
      <vt:lpstr> Prefix transpositions on binary  and ternary strings</vt:lpstr>
      <vt:lpstr>Abstract</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GaryC</dc:creator>
  <cp:lastModifiedBy>沈之承</cp:lastModifiedBy>
  <cp:revision>517</cp:revision>
  <dcterms:created xsi:type="dcterms:W3CDTF">2017-09-25T08:45:50Z</dcterms:created>
  <dcterms:modified xsi:type="dcterms:W3CDTF">2024-03-12T09:27:38Z</dcterms:modified>
</cp:coreProperties>
</file>