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66" r:id="rId4"/>
    <p:sldId id="267" r:id="rId5"/>
    <p:sldId id="268" r:id="rId6"/>
    <p:sldId id="277" r:id="rId7"/>
    <p:sldId id="278" r:id="rId8"/>
    <p:sldId id="279" r:id="rId9"/>
    <p:sldId id="269" r:id="rId10"/>
    <p:sldId id="273" r:id="rId11"/>
    <p:sldId id="270" r:id="rId12"/>
    <p:sldId id="271" r:id="rId13"/>
    <p:sldId id="272" r:id="rId14"/>
    <p:sldId id="275" r:id="rId15"/>
    <p:sldId id="276" r:id="rId16"/>
    <p:sldId id="280"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78202" autoAdjust="0"/>
  </p:normalViewPr>
  <p:slideViewPr>
    <p:cSldViewPr snapToGrid="0">
      <p:cViewPr varScale="1">
        <p:scale>
          <a:sx n="47" d="100"/>
          <a:sy n="47" d="100"/>
        </p:scale>
        <p:origin x="125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2T09:29:11.285"/>
    </inkml:context>
    <inkml:brush xml:id="br0">
      <inkml:brushProperty name="width" value="0.05292" units="cm"/>
      <inkml:brushProperty name="height" value="0.05292" units="cm"/>
      <inkml:brushProperty name="color" value="#FF0000"/>
    </inkml:brush>
  </inkml:definitions>
  <inkml:trace contextRef="#ctx0" brushRef="#br0">6456 12506 0,'0'18'94,"0"-1"-78,0 1-1,17 0 1,-17-1-16,18 1 15,-18-1-15,0 1 16,0 0 0,18 35-1,-18 0 1,17-1 0,-17-16-1,18-19 1,-18 1-1,18 0 17,-18-1-17,0 1 1,0 35 0,17-18-1,1 18 1,0-18-1,-18 36 1,17-18 0,-17-36-16,0 36 15,0-35-15,0 0 16,0-1-16,18 19 16,-18-19-1,0 1-15,0 17 16,0 0-1,0-17 17,0 17-17,0-17 1,0 0 0</inkml:trace>
  <inkml:trace contextRef="#ctx0" brushRef="#br0" timeOffset="1982.3964">6579 12488 0,'18'0'31,"0"0"-15,-1 0 46,1 0-31,-1 0-15,-17 18 0,18-18-1,0 0 1,-1 0 0,19 18-1,17-1 1,0 1-1,-18 0 1,0-1 0,-35 18-1,35-35 1,-35 18 0,18 0-1,0-1 1,-18 19-1,17-36 17,-17 35-17,36 0 1,-36 0 0,17-17-1,1 17 1,-18 18-1,17-17 1,-17-19-16,0 36 16,0-35-16,0-1 15,0 19 1,0-19 0,0 1-1,0 17 1,0-17-1,-17 0 1,-1-18-16,18 17 0,-17 1 16,-36 35-1,35-36-15,-17 36 16,17-53-16,-17 36 16,17-36-16,1 17 15,17 1-15,-18-18 0,0 0 16,1 17-1,-19 19 1,1-19 0,-18 1-1,0 0 1,36-1-16,-19-17 16,36 18-16,-17-18 15,17-18 188</inkml:trace>
  <inkml:trace contextRef="#ctx0" brushRef="#br0" timeOffset="3508.2742">7338 12365 0,'0'17'31,"0"1"-15,0 0-1,0-1 1,0 19-1,0-1 1,0 18 0,0-18-1,0 0 1,0-17-16,0 17 16,0-17-1,0 0-15,17 35 16,-17-18-1,18 0 17,-18 0-17,0 1 1,0 17 0,0-36-16,18 36 15,-18-35-15,17 35 16,1 0-1,-18-36 1,0 19 0,0-1-1,0 0 1,0-17 0,0 17-1,0 0 1,0 18-1,0-35 17,0-1-17,0 1 1,0 0 0</inkml:trace>
  <inkml:trace contextRef="#ctx0" brushRef="#br0" timeOffset="5332.7892">7285 12471 0,'17'0'32,"1"0"-17,0 0-15,-1 0 16,-17-18 0,18 18-16,17 0 15,1 0 1,17 0 15,-36 0-31,1 0 16,-1 0-16,-17 18 15,18-18 1,-18 17 0,18 1-1,-1 0 1,-17-1-1,0 19 1,0-1 0,0 0-1,-17-17 1,17-1 15,-18-17-31,18 36 16,-35-36 15,35 17-15,-18-17-16,-17 18 15,17-18 1,18 18 0,-17-18-1,17 17 1,-18-17 15,36 0 157,-1 0-188,-17 18 15,71-18 1,-1 35-1,-34 0 1,17 18 0,-36-53-16,36 36 15,-35-36-15,-18 17 16,0 1-16,35-1 16,-35 1-16,35 17 15,-17 1 1,17 17 15,-17-18-15,-1 0-1,-17-17 1,0-1 0,0 1-1,0 0 1,0-1-1,0 19 1,0-19 0</inkml:trace>
  <inkml:trace contextRef="#ctx0" brushRef="#br0" timeOffset="6582.5899">8237 13335 0,'-17'0'15,"17"-18"16,-18 18-15,18-17 0,0-1-1,0-17 1,0-36 0,0 18-1,0-17 1,18 17-1,-1-18 1,1 1 0,0 17-1,-1 18 1,-17 17-16,0-17 16,18 17-1,0 0-15,-1-17 16,18 0 15,-35 17-31,18 1 16,0 17-16,-1-36 15,36 1 1,-35 17-16,0 1 16,-1 17-16,1 0 15,-18-18 1,35 0-1,-17 18 1,-1 0 0,1 18 15,-18 17-15,35 18-1,-35 18 1,0-54-1,0 36 1,0-35-16,0 35 16,0 17-1,0 1 1,0-53-16,-17 52 16,17-52-16,0 52 15,-18 1 1,18-53-16,0 70 15,0-71-15,0 1 16,0 0 0,-18-18 93</inkml:trace>
  <inkml:trace contextRef="#ctx0" brushRef="#br0" timeOffset="7142.9282">8308 12947 0,'18'0'47,"-1"0"-31,18 0-1,1 0 1,34 0 0,-34 0-1,-19 0 1,1 0 15</inkml:trace>
  <inkml:trace contextRef="#ctx0" brushRef="#br0" timeOffset="7835.9325">8925 12471 0,'18'0'62,"0"0"-46,17 0-1,35 17 1,-52-17-16,53 0 16,-54 0-16,1 0 0,17 0 15,0 0 1,-17 0 0</inkml:trace>
  <inkml:trace contextRef="#ctx0" brushRef="#br0" timeOffset="8414.9038">9172 12524 0,'0'0'0,"0"17"0,0 1 15,0 17-15,0 36 16,0 17 15,-17 35-15,-1-17-1,18-88-15,0 17 16,0-17-16,0-1 16,0 1-1,-18-18 16,18 18-31,-17 35 16,17 0 0,0-18-1,0-18 110,-18-17-125,0 0 32,1 0-32,-1 0 15,0 0 1</inkml:trace>
  <inkml:trace contextRef="#ctx0" brushRef="#br0" timeOffset="8853.8889">8872 13247 0,'18'0'47,"0"0"-32,35 17 1,17-17-1,-52 0-15,70 0 16,-70 0-16,52 0 16,-35 0-1,-17 0-15,0 0 16</inkml:trace>
  <inkml:trace contextRef="#ctx0" brushRef="#br0" timeOffset="9760.7512">9825 12453 0,'17'0'0,"-17"18"16,0-1-1,0 19 1,0-1 0,0-17-16,0 17 15,0-18-15,0 1 0,0 35 16,0 18 0,0 17-1,-35-18 16,35-52-31,-17 35 16,17-36-16,-18 1 0,0 17 16,1 36-1,17-53-15,-18 52 16,18-52-16,-18-18 0,-17 88 16,35-70-16,-35 70 15,35-71-15,-35 36 16,17-35-16,0 35 15,18-35-15,0-1 16,-17-17-16,17 18 16</inkml:trace>
  <inkml:trace contextRef="#ctx0" brushRef="#br0" timeOffset="11266.9231">9825 12629 0,'0'18'16,"0"17"-1,17 1 1,19 17 0,-1-1-1,-35-34-15,18 35 31,-1-53-31,1 53 16,0-35-16,-1 34 16,1-34-16,17 35 15,-17 0 1,17 0 0,-35-35-16,53 52 15,-53-52-15,35 35 16,1-18-1,-36-17-15,17-18 16,1 0 47,-18 17-1,0 1-46,17-18 77,-17-18-93,18 1 16,-18-36 0,18-18-1,-18 53-15,0-34 16,0 34-16,17-53 16,-17 1-1,18 17 16,-18 0-15,0 18 0,18-18-1,-18 17 1,0 1 0,0 18-1,0-1 1,17 18-1,-17-18 1,0 1 0,0-1-1,0 0 17,0 1-17,0-1 16,0 0-31,0 1 16,0-1-16,0 1 16,0-1-1,-17 18 126</inkml:trace>
  <inkml:trace contextRef="#ctx0" brushRef="#br0" timeOffset="13288.9977">14235 12418 0,'17'0'0,"36"0"15,35 0 1,-70 0-16,53 0 16,-54 0-16,1 0 15,35 0-15,17 0 31,-52 0-15,0 0-16,-1 0 16,1 0-16,-1 0 15,1 0 1,0 0 46,-1 0-46,-17 17-16,18-17 16,0 0-16,-1 0 15,1 0 1</inkml:trace>
  <inkml:trace contextRef="#ctx0" brushRef="#br0" timeOffset="14037.0557">14623 12435 0,'0'18'32,"0"0"-17,0-1-15,0 1 16,0 0-16,-18 35 15,18-36-15,-18 36 16,18 0 0,-17-35-16,-19 70 15,36-71-15,-17 54 16,-1 17 0,1-88-16,-1 71 15,0-54 1,18 19-1,0-19-15,-17 19 16,17-19-16,0 1 16,-18-18-1,18 18 1,0-1 0,0 1 30,0-1-30,0 1 0,-18-18-1,18 18-15</inkml:trace>
  <inkml:trace contextRef="#ctx0" brushRef="#br0" timeOffset="14765.751">14993 12541 0,'0'18'32,"0"0"-17,0-1-15,18 54 16,-18 17 0,17 0-1,-17-70 1,0 88-1,0-89-15,0 54 16,0 35 0,0-18-1,0-18 1,0-34 0,0-1-1,0-17 1,0-1-1,0 18 1</inkml:trace>
  <inkml:trace contextRef="#ctx0" brushRef="#br0" timeOffset="16094.0132">15081 12541 0,'18'0'31,"-18"-17"-15,35 17-16,0 0 15,1 0 1,-19 0 0,1 0-1,17 17 16,1 1-15,-19 0 0,1-18-16,-1 35 15,-17-18-15,18 1 16,-18 0 0,0-1-1,0 1 1,-18 0-1,18-1-15,-17 1 16,-1-18 0,18 18-16,-17-18 15,17 17 1,-18-17 0,-17 18-1,-18-1 16,17 1-15,1 0 0,0-18-1,17 0 1,1 17 0,34 1 109,1-18-110,0 0-15,-1 0 16,1 35-1,35-17 1,-36 17 0,1-17-16,17 17 15,-35-17-15,36 17 16,-1 18 0,-35-35-16,17 35 15,-17-36 1,0 1-16,0-1 15,0 36 1,0-35 0,0 0-1</inkml:trace>
  <inkml:trace contextRef="#ctx0" brushRef="#br0" timeOffset="17165.9806">15663 13370 0,'0'-17'47,"0"-1"-32,0 0 1,0 1-16,0-19 16,0 1-1,0-18 1,0 18 0,0-18-1,18 18 16,0-36-15,17 1 0,0-1-1,0 1 1,1-1 0,17 0-1,0 19 1,-1-1-1,1 17 1,-17 1 0,-36 17-1,17 18 1,1 0 31,-18 18-16,0 0-15,0-1-16,0 54 15,0-53-15,0 52 16,0-52-16,18 52 16,-18-52-16,17 52 15,1 1 1,-18 17-1,0 0 1,0-17 0,0 0-1,17-19 1,-17 19 0,0-18-1,18-53 1,-18 35-1,0-17-15,0-1 16,-18-17 47,1 0-48,17-17-15,-35-1 16</inkml:trace>
  <inkml:trace contextRef="#ctx0" brushRef="#br0" timeOffset="17698.6028">15734 13035 0,'18'0'47,"-1"0"-31,1 0-16,-1 0 15,1 0-15,17 0 16,-17 0 0,17 0-1,-17-18 16,0 18-15,17 0 0,18 0-1,-53-17 63</inkml:trace>
  <inkml:trace contextRef="#ctx0" brushRef="#br0" timeOffset="18233.9937">16245 12524 0,'18'0'0,"-18"-18"32,35 0-32,1 18 15,-19 0 16,1 0-15,17-17 0,18 17-1,0-18 1,-18 0 0,-17 18-1</inkml:trace>
  <inkml:trace contextRef="#ctx0" brushRef="#br0" timeOffset="18732.9072">16457 12524 0,'0'0'0,"0"35"16,0-17-1,0-1-15,0 54 16,0-1 0,18 18-1,-18 1 1,17-36 0,1-36-1,0 18 1,-18-17-16,0 0 15,0-1 1,0 1 0,0 17-1,0 1 1,0-1 0,0-17-1,-18-18 48,0 0-48</inkml:trace>
  <inkml:trace contextRef="#ctx0" brushRef="#br0" timeOffset="19191.7143">16369 13247 0,'18'0'63,"-18"17"-63,52-17 15,19 18 1,-18-18 0,-35 0-1,34 0 1,-34 0-16,0 0 0,-1 0 15,36 0 1,-53-18 109</inkml:trace>
  <inkml:trace contextRef="#ctx0" brushRef="#br0" timeOffset="19883.2301">17022 12577 0,'0'17'31,"0"1"-15,0 17-1,0 36 1,-18-1 0,18-52-16,-18 52 15,18-52-15,0 0 0,0 17 16,-17 18-1,17-18 1,0 18 0,0-18-1,-18-17 1,0 0 0,18-1 15,0 1 0</inkml:trace>
  <inkml:trace contextRef="#ctx0" brushRef="#br0" timeOffset="21176.1901">17004 12629 0,'0'18'15,"18"-18"17,-18 18-32,35-1 31,-35 1-31,35 17 15,-17-17-15,-1 0 16,19 34 0,-19-16-1,1-36-15,0 53 16,-1-53-16,1 35 16,17-17-1,-35-1-15,18 18 16,-1-35-16,1 18 15,0 0 1,-1-1-16,1 1 16,0-18-1,-1 0-15,-17 18 16,18-18 15,-18 17-15,35-17-1,-17 18 1,-1-18-16,-17 18 16,18-18 93,-18-18-93,18 18-16,-18-18 0,17-17 15,-17-18 1,0 35-16,36-34 31,-36 34-31,0 0 0,0-17 16,17 17-16,1-17 15,-18 17-15,0 1 16,18-1 0,-18-17-1,17-18 1,-17 0 0,0 18-1,0 0 1,0-1-1,0 19 1,0-1-16,0 0 16,0 1-1,0-1 1,0 0 31,0 1-32</inkml:trace>
  <inkml:trace contextRef="#ctx0" brushRef="#br0" timeOffset="23552.0751">8220 13811 0,'-18'0'109,"0"0"-109,18 18 0,-17 0 16,17-1-1,-18-17 32,1 18-31,-1-1-1,-17 19 1,-36 17 0,53-53-16,-35 35 15,53-17-15,-52-1 16,16 1 0,19-18-16,-19 53 15,19-53-15,-19 17 16,-16 36-1,34-53-15,-70 53 16,70-53-16,-70 53 16,-18 18-1,-17-18 1,34-18 0,36 0 15,53-17-31,-35-18 15,35 17-15,-17 1 16,-19-18 0,-17 53-1,0-18 1,-17 18 0,52-53-16,-70 53 15,70-35-15,-35 17 16,-17 0-1,52-35-15,-17 36 16,17-36-16,1 35 16,-54 18-1,18-18 1,-17 0 0,-1 1-1,54-19 1,-72 36-1,54-53-15,0 35 16,-18-17 0,35 0-1,18-1 1</inkml:trace>
  <inkml:trace contextRef="#ctx0" brushRef="#br0" timeOffset="25816.5994">8237 13829 0,'0'18'47,"0"-1"-16,0 1-15,0-1-16,0 1 16,0 0-1,-17 35 1,17 0 0,-18-18 15,18-18-31,-18 36 15,18-35-15,-17 17 16,17 18 0,0-35-16,-35 35 15,35-36-15,0 36 16,-18 18 0,0-36-1,1 18 1,17 18-1,-36-18 1,36-1 0,-17 19-1,-1-71-15,18 53 16,-18-53 0,18 35-16,0 18 31,-17-35-16,-1-1 1,18 1 15,0 0-31,0-1 16,0 1 0,0 0 30,-18-18-46,18 17 32,0 1-1,-17-18 0,17 18-15,0-1-1,0 1 1,-18-18 0,18 17-1,0 1 1,0 0 31,0-1-16,0 1 141</inkml:trace>
  <inkml:trace contextRef="#ctx0" brushRef="#br0" timeOffset="27385.7068">8308 13847 0,'18'0'31,"-1"0"-15,1 17 0,-1 1-1,1-18-15,0 35 16,-18-17-16,35-1 16,18 19-1,-53-19-15,88 54 16,-70-71-16,52 53 15,36 0 1,-106-36-16,71 36 16,-54-53-16,1 18 15,0 17-15,17-17 16,0-1 0,0 36 15,18-17-16,18 17 1,-18-18 0,0 0-1,-18-17 1,-35 17 0,53-17-1,-18-1 1,-35 19-1,36-19 1,-19 1 0,18-1-1,1 19 1,-36-19 0,17 1-1,1-18-15,-18 18 0,18-18 16,-1 17-1,-17 1-15,36 0 16,-36-1 0,17-17-16,1 18 15,-1-1 1,19 19 0,-1-19-1,-17 1-15,35 17 16,-36-35-16,18 0 15,1 18 1,-19 0 0,1-18 15,-18 17-15,18-17-1</inkml:trace>
  <inkml:trace contextRef="#ctx0" brushRef="#br0" timeOffset="28766.1415">4427 15557 0,'0'18'15,"0"0"1,0-1 15,0 1-15,0 0-1,0-1-15,0 1 16,0 0 0,0-1 15,18 1-16,0 0 1,-1-1 0,-17 1-16,0-1 15</inkml:trace>
  <inkml:trace contextRef="#ctx0" brushRef="#br0" timeOffset="30377.184">4427 15575 0,'0'-18'47,"18"18"-47,17 0 16,18 0-1,0 0 1,-35 0-16,17 0 16,-17 0-16,17 0 15,18 0 1,-36 0 0,36 0-1,-35 0-15,17 0 16,1 0-1,-1 0 1,-17 0 0,-18 18 15,0 0-15,0 17-1,-18-35-15,0 53 16,18-35-1,0-1 1,-17 1-16,-1 35 16,0 0-1,1-36 1,17 1 15,-18-18 0,18 18-31,-18-18 63,1 0-47,-1 0-1,0 0 1,1-18-1,-18 18 1,-1-18 0,1 1-1,17-1 1,1 18 15,-1 0-15,0 0 15,1 0 203,-1 0-77</inkml:trace>
  <inkml:trace contextRef="#ctx0" brushRef="#br0" timeOffset="31828.6798">5080 15575 0,'0'18'15,"0"-1"17,0 1-32,0 0 31,0-1-31,0 1 16,0 0-1,0-1-15,0 1 16,0 17-1,0 0 1,0-17 0,0 17-1,0-17 1,-18 0 0,18-1 46,0 1-46,18-18 77,-18 18-77,18-18 0,-1 0-1,1 0 1,0 0 0,-1 0-1,18 17 1,1-17-1,-19 0 1</inkml:trace>
  <inkml:trace contextRef="#ctx0" brushRef="#br0" timeOffset="33231.8779">5027 15610 0,'18'0'0,"-1"0"16,1 0-16,0 0 16,-1 0-16,19 0 15,-19 0 1,1 0 0,-1 0-1,19 0 1,-1 0-1,18 0 1,0 0 0,-36 0-1,1 0-15,0 0 16,-1 0 15,-17 18-31,0 0 63,0-1-48,0 1-15,0 0 16,0-1 0,0 1-1,0 0 1,0-1-1,0 18 1,0-17 0,0 0 31,0-1-32,-17-17 1,17 18-1,0 0 32,0-1-31,0 1-16,0 0 31,0-1 47,-18-17-62,0 0 62,1 0-31,-1 0-31,1 0 30,-1 0 1,0 0 31</inkml:trace>
  <inkml:trace contextRef="#ctx0" brushRef="#br0" timeOffset="34301.5452">5627 15557 0,'0'18'31,"0"0"-31,0 17 31,0 0-15,0 1-1,0 17 1,0-1 0,0 1-1,0-17 1,17-36 140,1 0-125,0 0-15,-1 0-16,1 0 16,0 0-1,17 0 1,18 17 0,-18-17-1,-17 0 1,-1 0-1,-17 18 1,-17-18 62,-1 0-62,0 0-16,18-18 0</inkml:trace>
  <inkml:trace contextRef="#ctx0" brushRef="#br0" timeOffset="35451.3909">5609 15522 0,'18'0'31,"-1"0"-31,19 0 16,-1 0 0,18 0-1,-18 0 1,-17 0-1,17 0 1,-17 0 0,-1 0-1,1 0 32,-18 18-31,35-1-1,-17-17 1,0 0-16,-1 18 16,-17 0-1,18-18-15,-18 17 32,0 1-32,0 0 31,17-1-31,-17 1 15,0 17 1,0 1 0,0-1-1,0 0 1,0 18 15,0-18-15,-17 1-1,17-1 1,-18-35 109,1 0-109,-1 0-1,0-18 17,1 18-17,-1 0 1</inkml:trace>
  <inkml:trace contextRef="#ctx0" brushRef="#br0" timeOffset="37113.8339">3775 15522 0,'17'0'15,"1"0"1,0 18-1,-1-18 1,-17 17-16,18 1 16,0-18-16,-18 18 0,0 17 15,17 53 1,1-52 0,-18-19-1,17-17 126,1 0-141,0 0 15,-1 0-15,54 18 16,-53-18-16,-1 0 0,107 17 16,-18 1-1,-89-18-15,71 18 16,-52-18-16,34 17 16,-17-17-1,-35 0 1,-36 0 46,0 0-30,1 0-1,-1 0-16,18-17 1,-17-1 0,-1 18-1,0 0 17,1 0-1,17-18 0,-18 18-15</inkml:trace>
  <inkml:trace contextRef="#ctx0" brushRef="#br0" timeOffset="38502.5382">3969 15522 0,'17'0'0,"1"0"31,0 0-15,-1 0 0,1 0 15,0 0-16,-1 0 1,18-17 0,1 17-1,-1-18 1,-17 18 0,-1 0-1,1 0 63,0 0-31,-1 0-16,-17 18 16,18-18-31,0 0-16,-1 0 16,-17 17 46,0 1-31,18-18-31,-1 53 32,-17 17-17,18-17 1,0-17-1</inkml:trace>
  <inkml:trace contextRef="#ctx0" brushRef="#br0" timeOffset="39823.2083">3034 15452 0,'0'17'62,"0"1"-46,0 0-16,0-1 16,0 1-1,0 17 1,0 18-1,0-18 1,0-17 0,0 17-1,0-17 1,0 0 0,0 17-1,0-18 1,0 1-1,0 0 48,18-18-47,-1 0 15,1 0-31,-1 0 15,19 17 1,52-17 0,-18 18-1,1-18 1,17 0 0,-35 0-1,-18 0 1,-17 0-16,0 0 15</inkml:trace>
  <inkml:trace contextRef="#ctx0" brushRef="#br0" timeOffset="41256.6345">3069 15469 0,'18'0'32,"-1"0"-17,1 0-15,35 18 16,-35-18-16,17 0 15,18 0 1,0 0 0,0 0-1,0 0 1,-18 0 0,-18 18-1,1-18-15,0 0 16,-18 17-1,17-17 1,1 0 0,-18 18 31,0-1-32,0 1 1,18-18-1,-18 18 17,0-1-17,0 19 1,0 17 0,0-36-1,0 1 32,0 0-47,0-1 16,0 1-1,0-1 48</inkml:trace>
  <inkml:trace contextRef="#ctx0" brushRef="#br0" timeOffset="44368.4565">6773 15610 0,'0'18'32,"0"0"-17,-17-18 1,17 17-16,0 1 31,0 0 0,0-1-15,-18-17-16,0 36 16,18-19 15,0 1-15,0-1-1,0 1 16,0 0 110,18-18-32,0 0-93,-18 17 0,0 1 62,0 0-63,0-1-15,0 1 16,0 0-16,17-18 63,1 17-48,0-17 16,-18 18-31,17-18 16,36 0 0,-35 0-1,17 0 1,0 0 0,18 17-1,-35-17 1,0 0 15,-18 18 0</inkml:trace>
  <inkml:trace contextRef="#ctx0" brushRef="#br0" timeOffset="46027.1688">6791 15628 0,'18'0'31,"-1"0"-16,-17-18-15,36 18 16,-19 0 0,1 0-1,-1 0 17,36 0-17,0 0 1,0 0-1,-35 18 1,-1-18 0,1 0-1,-18 18 157,0-1-156,0 1-16,0 0 15,0-1 1,0 1 0,0 0-1,0-1 1,0 18 0,0 1-1,0-19 1,0 1 15,0 0-15,0-1-1,18 1 1,-18 0 62,0-1-62,0 1 15</inkml:trace>
  <inkml:trace contextRef="#ctx0" brushRef="#br0" timeOffset="47306.9007">7285 15663 0,'0'18'47,"0"0"-16,0-1-31,17 1 16,-17 17-1,18 0 1,-18-17 0,0 0 15,0-1-15,0 1-1,0 0 1,0 17-1,0-17 1,18-18 140,-1 0-124,1 0-17,-18 17 1,18-17-16,-1 0 15,19 18 1,-19-18 0,1 0-16,0 0 47,-18 17-32,17-17 1</inkml:trace>
  <inkml:trace contextRef="#ctx0" brushRef="#br0" timeOffset="48394.5429">7338 15699 0,'17'0'79,"1"0"-64,0 0 1,-1 0-16,1 0 15,0 0 1,17 0 0,0 0-1,-17 0 1,17 0 0,0 0-1,1 0 1,-19 0-1,-17 17 95,0 1-79,0 0-15,0-1-16,0 18 15,0 18 1,18 0 0,-18-35-1,0 0 32,0-1-31,18 1-1,-18-1 48,0 1-48,17-18-15</inkml:trace>
  <inkml:trace contextRef="#ctx0" brushRef="#br0" timeOffset="49286.6452">7761 15699 0,'0'17'47,"0"1"-47,0 0 16,0-1-1,0 18 1,0-17 0,0 0-1,0 17 1,0-17 0,0-1-1,0 1 16,0 0-15,18-18 62,-1 0-47,1 0-15,0 0-16,-1 0 16,1 0-1,17 0 1,0 17 0,-17-17-1,0 0 1,-1 0-1,-34 0 79</inkml:trace>
  <inkml:trace contextRef="#ctx0" brushRef="#br0" timeOffset="50111.1809">7796 15734 0,'18'0'63,"0"0"-63,17-18 16,0 18-1,-17 0 1,-1 0-1,1 0 1,35 0 0,-35 0 15,-1 0-31,-17 18 109,0 0-93,0-1 0,0 1-16,0-1 15,0 19 1,0 17-1,0 0 1,0-18 0,0 0 15,0-53 78</inkml:trace>
  <inkml:trace contextRef="#ctx0" brushRef="#br0" timeOffset="51069.2601">8255 15699 0,'-18'17'15,"18"1"-15,0 0 16,0-1 0,0 1-16,0-1 15,0 1 1,0 0-16,0 35 15,0-36 1,18-17 140,0 0-156,-1 0 32,1 0-32,0 0 31,-1 0-31,1 0 15,17 0 1</inkml:trace>
  <inkml:trace contextRef="#ctx0" brushRef="#br0" timeOffset="51756.2845">8237 15699 0,'18'0'32,"0"0"-1,-1 0-15,1 0-16,17 0 15,-17 0 1,17 0-1,-17 0 17,-18 17 46,0 1-63,0 0-15,0-1 16,0 18 0,0 1-1,-18 17 1,18-36 0,0 1-1,-18 0 1</inkml:trace>
  <inkml:trace contextRef="#ctx0" brushRef="#br0" timeOffset="52349.472">8696 15716 0,'0'18'32,"0"0"-17,0-1-15,0 36 16,0-35-16,-18 35 15,18-36 1,0 1-16,0 17 16,0-17-1,0-1 1</inkml:trace>
  <inkml:trace contextRef="#ctx0" brushRef="#br0" timeOffset="53028.1809">8643 15734 0,'18'0'15,"-1"0"1,19 0 0,34 0-1,-17 0 1,-35 0-16,35 0 15,-36 0 1,1 0 0,0 0-1,-18 18 63,0-1-62,-18 1 0,18 17-1,-18 0 1,18-17-16,0 0 16,0-1-16,-17 1 15</inkml:trace>
  <inkml:trace contextRef="#ctx0" brushRef="#br0" timeOffset="53427.8446">8714 15928 0,'17'0'47,"1"0"-32,70 0 1,-35 0 0,-35 0-16,17 0 15,-35 18 32</inkml:trace>
  <inkml:trace contextRef="#ctx0" brushRef="#br0" timeOffset="54333.2816">9701 15416 0,'0'18'32,"0"0"-32,0 17 15,0-17-15,0 34 16,0-34-1,0 0-15,0 17 16,0 0 0,0-17 15,0 0 31</inkml:trace>
  <inkml:trace contextRef="#ctx0" brushRef="#br0" timeOffset="55101.7721">9701 15434 0,'36'0'31,"-19"0"-31,19 0 16,-19 0-16,18 0 15,-17 0-15,0 0 16,35 0-1,-36 0-15,36 0 16,-35 0 0,0 0-1,-1 0 95,-17 18-79,0-1-31,0 1 16,0 0-16,0-1 15,0 1-15,0-1 16,0 1-16,0 35 15,-17 0 1,-1 0 15,18 0-15</inkml:trace>
  <inkml:trace contextRef="#ctx0" brushRef="#br0" timeOffset="55592.6499">9719 15752 0,'18'0'46,"-1"0"-30,1 0-16,17 0 31,0 0-15,1 0 0</inkml:trace>
  <inkml:trace contextRef="#ctx0" brushRef="#br0" timeOffset="56531.4483">10142 15434 0,'0'18'16,"0"-1"-16,0 1 16,0 0-1,0-1-15,0 36 16,0 0-1,0-35-15,-17 35 16,17-36 0,0 1-1,17-18 110,1 0-125,0 0 0,17 0 16,35 0 0,-34 0-1,-1 0 1,-17 0-1</inkml:trace>
  <inkml:trace contextRef="#ctx0" brushRef="#br0" timeOffset="57270.4768">10072 15487 0,'17'0'16,"19"-18"-1,17 18 1,0 0 0,-36 0-16,36 0 15,-35 0 1,-1 0-16,36 0 15,-17 0 1,-1 0 15,-18 0-15,-17 18 31,0 0-16,0-1-31,0 1 16,-17 17-1,17 0 1,-18 1 0,18-19 15</inkml:trace>
  <inkml:trace contextRef="#ctx0" brushRef="#br0" timeOffset="58061.9185">10707 15487 0,'0'18'16,"0"-1"0,0 1-1,0-1 1,0 1-16,0 17 15,-18 1 1,1-1 15,17-17 47,17-18-15,1 0-63,-1 0 0,36 0 16,0 0-1,-35 0 1,0 0-1,-1 0 1</inkml:trace>
  <inkml:trace contextRef="#ctx0" brushRef="#br0" timeOffset="58915.5392">10760 15434 0,'17'0'110,"1"0"-95,0 0 1,-1 0-16,1 0 63,0 0-63,-1 0 15,1 18 1,-1-18-1,1 17 1,0-17 0,-18 18 31,0 0-16,0-1-16,0 1 17,0 17-17,0-17 1,0-1 0,0 19-1,-18-19 1</inkml:trace>
  <inkml:trace contextRef="#ctx0" brushRef="#br0" timeOffset="59660.844">11201 15434 0,'0'18'47,"0"-1"-47,0 1 15,-18 17 1,18-17-16,0 17 15,0-17-15,0 17 16,0-17 0,0-1-1,18-17 95,-1 0-110,1 0 15,17 0 1,36 0 0,-36 0-1,-17 0-15,17 0 16,-17 0-16,17 0 15,-17 0 1</inkml:trace>
  <inkml:trace contextRef="#ctx0" brushRef="#br0" timeOffset="60551.7455">11201 15487 0,'17'0'63,"1"0"-48,0-18-15,17 18 16,0-17 0,-17 17-1,-1 0 1,19 0 0,-1 0-1,0 0 1,-17 17-1,0-17 1,-1 18 15,-17 0 47,0-1-78,0 1 16,-17-1 0,17 1-1,0 0 1,0-1 15,0 1-31,-18 17 16,0 1-1</inkml:trace>
  <inkml:trace contextRef="#ctx0" brushRef="#br0" timeOffset="61324.8691">11642 15452 0,'0'35'31,"0"-17"-15,0-1-16,0 1 15,0 17 1,0 0-1,0 1 1,0-19 15,0 1 16,17-18 47,-17 18-94,18-18 0,0 0 16,-1 0-16,18 0 15,-17 0-15,17 0 16,-17 0-1</inkml:trace>
  <inkml:trace contextRef="#ctx0" brushRef="#br0" timeOffset="62072.2389">11677 15487 0,'18'0'62,"-1"0"-46,1 0-16,17 0 15,18 0 17,0 0-17,-35 0 1,-18 18 109,0-1-109,0 1-1,0-1-15,0 19 16,0 17-1,0-36 1</inkml:trace>
  <inkml:trace contextRef="#ctx0" brushRef="#br0" timeOffset="63790.695">15752 13899 0,'0'18'15,"-18"-18"-15,0 18 16,18-1-1,-17-17 17,-1 18-17,0 17 1,18-17 0,-35 17-1,0 0 1,17 1-1,-17 17 1,17-18 0,1-35-16,-19 53 15,19-53-15,-36 88 16,-53 0 0,88-88-16,-52 71 15,70-54-15,-18-17 0,-35 36 16,-35 52-1,35-18 17,35-70-32,-17 53 15,17-53-15,18 36 16,0-19-16,-35 1 16,35 0-16,-17-18 15,17 52 1,-36-34-1,36 0 1,0-1 0,-17-17-1,17 36 1,-18-19 0,0-17-16,18 18 15</inkml:trace>
  <inkml:trace contextRef="#ctx0" brushRef="#br0" timeOffset="64906.8591">15822 14041 0,'0'17'15,"0"1"1,0-1 0,0 36-1,0 0 1,-18 18 0,18-18-1,0-36-15,0 36 16,0-35-16,0 0 0,0 17 15,0 0 1,0 18 0,0-18-1,0 18 1,0 18 0,0-18-1,0 35 1,0-35-1,0-36 1,0 1 0,0 0-16,0-1 15,18-17 1,-18 18-16,0 17 16,0-17-16,0 0 15,0-1 1</inkml:trace>
  <inkml:trace contextRef="#ctx0" brushRef="#br0" timeOffset="66681.3039">15840 13882 0,'0'17'32,"17"-17"-17,-17 18-15,18-18 16,0 18 0,52 17-1,-17 18 1,-35-53-16,35 35 15,-36-35-15,36 18 16,18 17 0,-1 0-1,-17 1 1,0-19 0,-35-17-16,35 36 15,-36-36 1,36 35-16,-35-18 15,52 19 1,-52-36-16,0 17 0,52 19 16,36-1-1,-88-35-15,105 53 16,-87-53-16,52 35 16,0 18-1,-35-18 1,-36-35-16,54 36 15,-53-36-15,17 17 16,-17-17-16,52 18 16,-52-18-16,-1 18 0,54-18 15,-18 35 1,-18-35 0,-17 0-1,17 0 1,-35 17 15,18-17-15,-1 0-1,-17 18 1,18 0 0,0-18-1,-1 0 1,1 0-1,-18 17 1,18-17 0,-18 18-1,17-18 1,1 0 0,-1 0-1,1 0 1,0 18-1,-1-1 17,1-17-17,0 0 17</inkml:trace>
  <inkml:trace contextRef="#ctx0" brushRef="#br0" timeOffset="68058.042">13229 15540 0,'0'17'15,"0"1"1,18 17 0,-1-17-1,-17 0 32,0-1-31,18-17-16,0 36 15,-18-19 64,17 1-64</inkml:trace>
  <inkml:trace contextRef="#ctx0" brushRef="#br0" timeOffset="68810.8612">13353 15505 0,'17'0'32,"1"0"-32,17 0 15,-17 0-15,17 0 16,-17 0-1,-1 0-15,19 17 32,-1-17-17,0 0 1,-35 18 93,0-1-109,0 1 0,0 17 16,0 18 0,0-35-1,0 0 1,18-18 15,-18 17-15,0 1 62</inkml:trace>
  <inkml:trace contextRef="#ctx0" brushRef="#br0" timeOffset="69259.8301">13476 15752 0,'18'0'63,"-1"0"-63,19 0 15,-19 0-15,54 17 16,-54-17-16,54 0 16,0 0-1,-36 0 1,-53 0 62</inkml:trace>
  <inkml:trace contextRef="#ctx0" brushRef="#br0" timeOffset="69866.2087">13952 15540 0,'0'17'31,"0"1"-15,-17-18 0,17 71-1,0-18 1,0-36-16,0 1 16</inkml:trace>
  <inkml:trace contextRef="#ctx0" brushRef="#br0" timeOffset="70463.1303">13935 15557 0,'17'0'16,"1"0"-16,17 0 16,-17 0-1,17 0 1,-17 0 15,-1 0-15,-17 18 31,0 0-16,0-1-16,0 1 1,0 0 0,0-1-16,0 1 15,0 0 1,0-1 0</inkml:trace>
  <inkml:trace contextRef="#ctx0" brushRef="#br0" timeOffset="70863.525">13988 15716 0,'17'0'62,"1"0"-46,0 0-16,-1 0 16,18 0-1,-17 0 1,0 0-1</inkml:trace>
  <inkml:trace contextRef="#ctx0" brushRef="#br0" timeOffset="71582.1137">14252 15505 0,'0'35'31,"0"-18"-15,0 1-1,0 35 1,0-18 0,18 1-1,-18-19 1,17-17 62,1 0-78,0 0 16,17 0-16,0 0 15,-17 0-15,35 0 31,-35 0-31,-1 0 16,1 0 0,-1 0-1,19 0 1,-19 0 0</inkml:trace>
  <inkml:trace contextRef="#ctx0" brushRef="#br0" timeOffset="72300.7857">14340 15522 0,'18'-17'16,"0"17"15,-1 0-15,1 0-1,17 0 1,18 0 0,-35 0-1,-18 17 32,17-17-16,-17 18 1,0-1-17,0 1-15,0 0 16,0-1 0,-17 19-1,17-1 1,0 0 15,0-17-15</inkml:trace>
  <inkml:trace contextRef="#ctx0" brushRef="#br0" timeOffset="73050.3942">14676 15505 0,'0'17'15,"0"1"1,0-1-16,0 19 16,0-19-1,0 1-15,0 17 16,0 1 15,-18-19-15,18 1-1,18-18 63,-1 0-62,1 0 0,-1 0 62,1 0-63,0 18 1,17-18 0</inkml:trace>
  <inkml:trace contextRef="#ctx0" brushRef="#br0" timeOffset="73780.7371">14658 15540 0,'18'0'15,"-1"0"1,1 0 0,-1 0 15,1 0-16,17 0 1,-17 17 0,0-17-1,-1 0 1,-17 18 0,0 0 30,0-1-46,0 1 16,0 0 0,0-1-1,0 19 1,0-19 0,0 1-1,0 0 1</inkml:trace>
  <inkml:trace contextRef="#ctx0" brushRef="#br0" timeOffset="74496.1121">14958 15557 0,'0'18'16,"0"0"-1,0 17 1,0-17 0,17-1-1,-17 1 1,0 0 0,18-18-1,-18 17 1,18-17 15,-1 0 32,1 0-48,0 0-15,17 0 16,0 18-1,18-18 1,-18 0 0,-17 0-1,0 18 1,-36-18 109</inkml:trace>
  <inkml:trace contextRef="#ctx0" brushRef="#br0" timeOffset="75261.9819">15028 15540 0,'18'0'78,"0"0"-62,-1 0-16,19 0 15,-19 0 1,36 0 0,-18 0-1,1 0 1,-19 0 15,-17 17 32,0 1-48,0 0 1,0 17-1,-17-17 1,17-1 0,-18 1-1,18 0 1,0-1 0,0 1-1,-18-18-15,18 18 16</inkml:trace>
  <inkml:trace contextRef="#ctx0" brushRef="#br0" timeOffset="76460.0821">15522 15240 0,'0'18'15,"0"-1"1,0 19 0,0-19-1,0 18 1,0-17-1,0 0 1,0-1 0,0 1-1,0 0-15,18-1 16,-18 1 0,17-18 62,1 0-47,0 0-15,-1 0-16,1 0 15,17 0 1,-17 0-1,0 0 1</inkml:trace>
  <inkml:trace contextRef="#ctx0" brushRef="#br0" timeOffset="77288.2957">15575 15328 0,'18'0'78,"-1"0"-78,1 0 16,0 0-16,-1 0 16,1 0-1,0 0-15,-1 0 16,1 0 0,0 0 15,-18 18 94,0-1-125,0 1 31,0 0-31,0-1 31,0 19-31,0-19 16,0 1 0,-18-18 15,18 18-31</inkml:trace>
  <inkml:trace contextRef="#ctx0" brushRef="#br0" timeOffset="78090.6339">15928 15311 0,'0'17'47,"0"1"-47,0-1 15,0 19 1,0-19 0,0 1-1,0 0 1,0-1 15,0 1 47,18-18 0,-1 0-62,1 0-16,17 0 16,0 0-1,-17 0 1,0 0 15,-1 0-15,-17 18-1</inkml:trace>
  <inkml:trace contextRef="#ctx0" brushRef="#br0" timeOffset="78821.7627">15946 15275 0,'17'0'47,"1"0"-31,-1 0-16,36 0 15,0 0 1,0 0 15,-35 0-15,-1 0 31,-17 18-1,0 0-30,0-1 0,0 1-16,0-1 15,0 19 1,0 17 0,-17-53-1,17 17 1,0 1 15</inkml:trace>
  <inkml:trace contextRef="#ctx0" brushRef="#br0" timeOffset="79679.2831">16404 15275 0,'0'18'31,"0"0"-15,0-1-1,0 1 1,-17-1 0,17 1-1,0 0 1,0-1-1,-18 1 1,18 0-16,18-18 125,-1 0-109,1 0-1,-1 0 1,1 0 15,0 0-15,-1 0-1</inkml:trace>
  <inkml:trace contextRef="#ctx0" brushRef="#br0" timeOffset="80458.7185">16316 15275 0,'18'0'63,"-1"0"-63,1 0 31,0 0-15,-1 0-16,18 0 15,18 0 1,-35 0 0,0 0-1,-18 18 95,0 0-95,0-1 1,0 1-16,0-1 16,0 1 15,-18-18-31,18 18 15,0 17 1</inkml:trace>
  <inkml:trace contextRef="#ctx0" brushRef="#br0" timeOffset="81257.0652">16669 15293 0,'0'18'47,"0"-1"-31,0 1-16,0-1 15,0 1 1,0 0 0,0-1 15,17-17 16,1 0 15,0 0-46,-1 0-1,1 0 1,0 0-16,17 0 16,18 18-1,0-18 1,0 18 0,0-18-1,-36 0 1,18 0-1,-35 17-15</inkml:trace>
  <inkml:trace contextRef="#ctx0" brushRef="#br0" timeOffset="82122.8741">16810 15240 0,'17'0'93,"1"0"-77,-18 18 0,35-18-1,-17 0 1,0 0 0,-1 0-1,1 0 1,-18 17 46,0 1-46,0 0 0,0-1-1,0 1-15,0-1 31,0 1 1,0 0-1,0-1 0</inkml:trace>
  <inkml:trace contextRef="#ctx0" brushRef="#br0" timeOffset="82898.8221">17110 15169 0,'17'0'32,"-17"18"-32,0 0 31,0-1-31,0 1 16,0 17-1,0-17 1,0 0-1,0-1 1,0 18 0,18-35 109,0 0-78,-1 0-32</inkml:trace>
  <inkml:trace contextRef="#ctx0" brushRef="#br0" timeOffset="83844.7558">17127 15205 0,'18'0'78,"0"0"-47,-1 0-31,1 0 16,0 0 15,-1 0-15,1 0-1,-1 0 17,-17 17 14,0 1-14,0 0-17,0-1 1,0 1 15,0 0-31,0-1 31,0 1-31,-17-18 94,-1 0-31</inkml:trace>
  <inkml:trace contextRef="#ctx0" brushRef="#br0" timeOffset="85040.5493">17939 15081 0,'0'18'0,"0"0"15,0 34 1,0-16 0,0-19-1,0 54 1,0-53-16,0-1 15,0 1 1,17 17 0</inkml:trace>
  <inkml:trace contextRef="#ctx0" brushRef="#br0" timeOffset="85806.8444">17956 15187 0,'18'0'47,"0"-18"-47,-1 18 31,19 0-31,-1 0 16,35 0-1,1 0 16,-53 0-15,-18 18 31,0 0-31,17-18 15,-17 17-31,0 1 15,0 17 1,0 1 0,0-1-1,0-18 32,0 1-31</inkml:trace>
  <inkml:trace contextRef="#ctx0" brushRef="#br0" timeOffset="86569.7225">18256 15381 0,'-17'0'172,"-1"0"-141,0 0-15,1 0 0,-1 0-1,0 0-15,1 0 16,-1 0 15,0 0-15,1 0 203</inkml:trace>
  <inkml:trace contextRef="#ctx0" brushRef="#br0" timeOffset="88195.6345">18397 15187 0,'0'18'78,"0"-1"-63,0 1 1,0 0 0,0-1-1,0 1 1,0 0 15,0-1-15,0 1 15,0-1-15,0 1-1,18-18 157,0 0-156,-1 0 187,1 0-172,0 0-15,-18 18-1</inkml:trace>
  <inkml:trace contextRef="#ctx0" brushRef="#br0" timeOffset="89088.9025">18415 15205 0,'18'0'63,"-1"0"-48,1 0-15,17 0 16,-17-18 0,17 18-1,-17 0 48,-1 0-63,1 0 15,0 0 1,-1 0-16,1 0 16,-18 18 46,0-1-46,0 1-16,0 0 15,0-1 1,0 1 0,0 35-1,0-36 16</inkml:trace>
  <inkml:trace contextRef="#ctx0" brushRef="#br0" timeOffset="90210.0271">18891 15169 0,'0'18'31,"0"0"-15,0-1-1,0 19 1,0 34-1,0-35 1,0-17 0,0 0-16,18-18 109,0 0-93,-1 0-1,1 0 1,-1 0 0,-17-18-1,18 18 1,0 0 15,-18-18 32</inkml:trace>
  <inkml:trace contextRef="#ctx0" brushRef="#br0" timeOffset="90988.4359">18803 15169 0,'18'0'31,"-18"-17"-31,35 17 16,0-18 0,1 18-1,-1 0 1,-18 0-1,1 0 1,17 0 0,1 0-1,-19 0 1,1 0 0,0 0 30,-18 18 33,0-1-64,0 1 1,0 0-16,0 52 15,0-52 1,0 0 0,0-1 15,0 1-15,0-1-1,-18 1 1</inkml:trace>
  <inkml:trace contextRef="#ctx0" brushRef="#br0" timeOffset="92013.9124">19420 15099 0,'0'18'32,"0"-1"-17,0 1-15,0-1 16,18 19 0,-18-19 15,0 19-16,0-1 1,18-35 47,-1 0-48,-17 18 1,18-18-16,0 0 15,-1 0 1,1 0 125</inkml:trace>
  <inkml:trace contextRef="#ctx0" brushRef="#br0" timeOffset="92743.7629">19403 15099 0,'0'-18'78,"17"18"-47,1 0-31,-18-17 0,35 17 16,-35-18-1,18 18 1,0 0-16,-1 0 15,1 0 17,-18 18 46,0-1-63,0 1-15,0 17 16,-18 36 0,1-71-16,17 53 15</inkml:trace>
  <inkml:trace contextRef="#ctx0" brushRef="#br0" timeOffset="93904.5159">19844 15046 0,'0'18'16,"0"-1"-1,0 1 1,0 17 0,-18 0 15,18-17-16,0 0-15,0-1 32,0 1-17,0 0 1,0-1 0,18-17 62,-1 0-63,1 0 1,0 0-16,-1 0 16,19 0 15,-19 0-16,1 0-15,-1 0 16,1 0 15,0 0-15,-1 0 15,1 0-15,0 0 15</inkml:trace>
  <inkml:trace contextRef="#ctx0" brushRef="#br0" timeOffset="94903.5216">19914 15028 0,'18'0'78,"0"0"-78,-1 0 31,1 0-31,-1 0 16,1 0 0,0 0-1,-1 0 1,1 0 31,0 0-32,-1 18 1,1 0 0,-18-1-1,0 1 79,0 0-94,0-1 16,0 1-1,0-1-15,0 1 16,0 0 0</inkml:trace>
  <inkml:trace contextRef="#ctx0" brushRef="#br0" timeOffset="114768.5001">7426 15716 0,'0'18'172,"-18"-18"-157,18 18 1,-17-18-1,17 17 1,0 1 0,-18-18-1,18 17 32,0 1-16,0 0 48,-18-18-48,36 0 125,-18-18-156,18 18 0,-1-18 16,19-17 15,-1 35-15,-17 0-1,-18-17 63,17 17-62,-17-18-16,18 18 31,-18 18 94,-18-18-109,18 17-16,-17 1 15,-19-1 1,36 19 0,-35-19-1,35 1 1,-35 0 0,17 17-1,18-17 1,-18-18-16,18 17 15,-17-17 1,17 18 0,-18-1-16,-17-17 31,35 36-15,-18-36-1,18-18 95,18 18-110,-1 0 0,1-35 15,35 0 1,-35 35-16,17-36 15,-17 36-15,-1-17 16,19 17 0,-36-18-1,17 18 17,1-18-17,-1 18 1,1-35-1,0 17 1,17 18 0,-35-17-1,18 17 1,-18 17 156,0 1-157,0 0-15,0-1 16,-18 1 0,0 17-1,18-17 1,0 0-16,0-1 16,0 1-1,-17-18 1,17 17 78,0-34 124</inkml:trace>
  <inkml:trace contextRef="#ctx0" brushRef="#br0" timeOffset="116689.4772">7832 15716 0,'0'18'16,"0"0"0,0-1 30,-18-17-30,18 18-16,0-1 16,-35 19-1,35-1 1,-18-35 0,18 18-1,0-36 126,18 18-141,-1-18 15,1 1 1,17-19 0,1 1-1,-1 18 1,-18-1-16,19 0 16,-19 18-1,-17 18 110,0 0-109,0-1-1,0 1 1,-17-1 0,-1 19-1,0-19 1,18 1 0,0 0-1,-17-18 1,17-18 171,17 18-187,1-18 16,0 18-16,17-17 16,-35-1-16,18 18 0,17-18 15,-17 1 1,-1 17-16,-17-18 15,18 18 1,-18 18 78,0-1-79,0 1-15,-18 0 16,18-1 0,-17 1-1,17 0 1,-18-1 0,18 1-1,0-36 141</inkml:trace>
  <inkml:trace contextRef="#ctx0" brushRef="#br0" timeOffset="117822.7775">8326 15716 0,'0'18'15,"0"0"1,0-1-1,-18 1 1,0-18 0,18 17-16,18-17 156,0 0-140,17-35-1,-18 18 1,1-19-1,17 36 1,-17-17 0,-18 34 93,0 1-109,0 0 0,0 17 16,0 0 15,-18-17-15,1-1-1</inkml:trace>
  <inkml:trace contextRef="#ctx0" brushRef="#br0" timeOffset="118938.2636">8819 15716 0,'0'18'16,"0"0"0,-17 17-1,17-18 1,0 1-1,-18 0 1,1-18 0,17 35 15,-18-35-31,18 18 16,18-36 109,-1 18-125,-17-18 0,53 18 15,-35-17 1,-1-1-1,1 0-15,0 18 16,-1 0 15,-17 18 63,0 0-78,0-1-1,0 1-15,-17-18 16,-1 18 0,18-1-1,0-34 126</inkml:trace>
  <inkml:trace contextRef="#ctx0" brushRef="#br0" timeOffset="121990.998">16051 15328 0,'-17'18'78,"17"-1"-62,-18-17 15,18 18-16,-18-18 17,18 18-17,0-1 79,-17-17-94,-1 0 266,18 18-251,-17-18 48,17 18-48,17-18 79,-17-18-94,18 18 16,-18-18-16,17 18 15,19-17 1,-1-1 0,-17-17 15,-1 35-15,-17-18-1,0 36 79,0-1-78,0 1 15,-17 0-16,17-1 1,0 1-16,-18 0 16,0-18-1,1 35 1,34-35 140,-17-18-156,18 18 0,0-17 16,-1-1-1,19 0 1</inkml:trace>
  <inkml:trace contextRef="#ctx0" brushRef="#br0" timeOffset="123609.2961">16528 15311 0,'-18'0'46,"18"17"-30,-18-17 0,18 18-16,0-1 15,0 1 1,-17 0 0,-1-18-1,18 17 48,-18-17-63,18 36 15,-35-19 1,35 1 0,0-36 93,0 1-93,0-1-16,0 0 15,0 1 32,0-1-16,0 0-15,0 1 15,0-1-15,18 18 203,-18-17-48,17 17-155</inkml:trace>
  <inkml:trace contextRef="#ctx0" brushRef="#br0" timeOffset="125178.8413">16792 15258 0,'-17'0'0,"-1"17"16,0-17-1,1 36 1,-1-36 0,0 0-1,18 17 1,-17 1 0,17-1-1,-18-17 1,36 0 109,-1-17-125,1 17 15,17-18 1,18 1 0,-18-1-1,18 18 1,-53 18 156,-17-18-172,17 17 15,0 1-15,-18-1 16,0-17 47,18-17 108,18 17-171,0-18 16,-1 18 0,19-17-1</inkml:trace>
  <inkml:trace contextRef="#ctx0" brushRef="#br0" timeOffset="126532.1457">17339 15205 0,'-18'0'31,"18"17"-15,-17-17-1,17 18 1,0 0-16,-18-1 16,18 1-1,-18-18 1,1 0-16,-1 18 15,18-1-15,0-34 110,0-1-95,35 0 1,-35 1-16,0-1 31,-17 18 141,-1 18-172,18-1 16,-17-17-1,-1 0 1,18 18 0,-18-18-1,1 0 1,-1 0 93,18-18-109,0 1 16,0-1 0,0 0-1</inkml:trace>
  <inkml:trace contextRef="#ctx0" brushRef="#br0" timeOffset="128857.0784">16757 15346 0,'18'0'125,"-1"0"-125,1 0 15,-1 0 1,-17 17 15,18-17-31,-36 0 219,1 0-204,17 18 1,-18-18 62,1 0-31,34 0 141,1 0-173,-1 0 1,1 0 109,0 0-110,-1 0 1,1 0 0,0-18-1,35 18 1,-36 0 0,1 0-1</inkml:trace>
  <inkml:trace contextRef="#ctx0" brushRef="#br0" timeOffset="131911.6366">7532 15928 0,'17'0'62,"1"0"-46,-18-18 15,18 18-31,-18-17 203,0-1-125,-18 18-78,18-18 47,0 1-47,0-1 31,0 0-31,0 1 16,-18 17 31,18-18-31</inkml:trace>
  <inkml:trace contextRef="#ctx0" brushRef="#br0" timeOffset="139469.8122">10248 15487 0,'0'18'16,"0"-1"31,0 1-16,-17-18-31,17 17 16,-18-17 15,18 18-15,0 0 15,0-1-16,-18-17 1,18 18-16,0 0 16,0-1 46,-17-17-62,17 18 16,-18 0-1,18-1 17,18-17 93,-18-17-125,0-1 0,35 0 15,-17-17 1,17 17 0,-18-17-1,1 35 1,0-35-1,17 35 17,-35-18-32,18 1 15,-18 34 282,0 1-281,-36-1-1,1 19 1,0-19 0,35 1-16,-18 0 15,1-18-15,17 17 0,-18-17 16,0 18-16,1 17 16,-1-35-16,18 18 15,-18-18 1,-17 18-16,35 17 15,0-53 95,0 1-95,18 17-15,35-36 16,0-17 0,-53 36-16,35-1 15,-18 0-15,36-17 16,-17 17 0,-19 1-1,-17 34 173,-17-17-188,17 18 15,0 0-15,-18 17 16,-17-17 0,35-1-16,0 19 15,-18-36 1,18 17-16,-18 1 15,1 0 17,17-36 124,17 18-140,-17-18-16,18 18 0,0-17 15,-1-1 1,1 0-16,0 1 31,-1 17-15,-17-18 171</inkml:trace>
  <inkml:trace contextRef="#ctx0" brushRef="#br0" timeOffset="144286.4343">18486 15258 0,'0'17'31,"-18"-17"-31,0 0 16,18 18 0,0 0-1,-17-18 1,-1 0 15,18 17-15,-18-17-16,18 18 15,0-1-15,-17-17 16,17-17 109,0-1-109,17 18-1,-17-17-15,18 17 16,0-18-1,17-17 1,-35 17 0,18 18 31,-1 0-16,-17 18 141,0-1-157,-17-17-15,17 36 16,-18-36-16,0 17 16,18 1-1,-17-1-15,-19 1 16,54-18 156,0 0-157,-18-18-15,17-17 16,19 35 0,-1-35-1,0 17 1,0 1 15,1-1-15,-19 18-16,-17 18 125,-17-18-125,-1 17 15,-17 19 1,17 16 0,0-52-1,36 0 157,-18-17-172,0-1 0,18 18 16,35-35-1,-18 0 1,-17 17 0,-1 18-1,1-18 1,-36 18 93,18 18-109,0 0 0,-35-1 16,-18 19-1,35 16 1,-17-34 0,35 0-1,-18-18-15,1 17 16,17 1 0,0-36 93,0 1-93,0-1-16,17 0 15,-17-17 1,18 0-1,-18 17 1,0-17 0,0 17-1,0 36 235,0 0-218,18-18 14,-1 0-30,-17 17 0,0 1 62,-17-18-78,17 18 15</inkml:trace>
  <inkml:trace contextRef="#ctx0" brushRef="#br0" timeOffset="145295.6266">18856 15152 0,'0'0'0,"18"0"31,-1 0-31,1 0 16,17 0 0,-35-18 15</inkml:trace>
  <inkml:trace contextRef="#ctx0" brushRef="#br0" timeOffset="147301.7863">18962 15117 0,'0'17'156,"0"1"-140,-18-18-16,18 17 16,-17 36-1,-36 0 1,35-17 0,0-19-1,36-17 95,-18-17-110,18 17 0,17-18 15,-17-17 1,-1 17 15,1-17-15,-1 35-16,19-36 15,-19 36-15,-17-17 0,36 17 16,-1-18 0,-17 18-1,-18 18 95,0-1-95,0 1-15,-36 35 16,36-18 15,-17 1-15,-1-19-1,18 18 1,-35-17 0,17-18 77,18-18-30,0 1-48,0-1-15,18 18 16,-18-17-16,17-19 16,1 36-16,-18-17 0,35-19 15,1 19 1,-36-1 0,0 36 77,-18-18-93,0 17 0,-17 19 16,-18-1 0,18-17-1,35-1 1,-18-17 15,18 18-15,-17-1-1,17-34 63,0-1-62,17 18 0,-17-35-16,35 17 15,-35-17 1,18 17 0,-18 1-1,18 17 16,-18-18-15,0 36 62,-18-18-62,0 17-16,-34 36 15,34-53 1,36 0 93,-18-17-109,17 17 16,1-18 0,17-17-1,0-1 1</inkml:trace>
  <inkml:trace contextRef="#ctx0" brushRef="#br0" timeOffset="150101.5866">10813 15469 0,'-18'0'32,"18"18"-1,0 0-16,0-1 1,0 1-16,0-1 16,0 1-1,-18 0 1,1-18 0,34 0 62,-17-18-63,18 18-15,0-18 16,17-17 0,18 0-1,0 0 1,0-1-1,-18 19 1,-17 17 0,-18 17 93,0 1-93,-18-18-16,18 18 15,0 17 1,-18-17 0,1-1-1,-19 18 1,-17 18-1,18-35 1,35 0-16,-53 17 16,36-35-1,-1 0-15,18 18 16,-18-18-16,1 17 16,17-34 109,17 17-125,-17-18 15,0 0-15,36 1 16,-36-19-1,17 36-15,1 0 16,0-17-16,-18-1 31,0 36 79,0-1-79,-18-17-31,0 18 16,1 0-1,-1-1 16,18 1-31,-18-18 16,-35 18 0,36-18-1,-18 17 1,35-34 62,0-1-62,0 0-1,0-17 1,0 0 0,0 17-1,17-17 1,-17 17-1,18 18 1,-1 0 0,1 0 77,-18 18-14,18-18-17,-1 0-46,1 0 31,-18-18-32,18 18-15</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2T09:35:12.661"/>
    </inkml:context>
    <inkml:brush xml:id="br0">
      <inkml:brushProperty name="width" value="0.05292" units="cm"/>
      <inkml:brushProperty name="height" value="0.05292" units="cm"/>
      <inkml:brushProperty name="color" value="#FF0000"/>
    </inkml:brush>
  </inkml:definitions>
  <inkml:trace contextRef="#ctx0" brushRef="#br0">20655 12312 0,'0'-18'109,"0"1"-109,0-1 31,0 0-31,18 18 16,-18-35-1,0-18 1,17 18 0,1 17-1,-18-17 1,0 17 0,0-17-1,18 17 1,-1-34-1,1 52-15,-18-53 16,18 53-16,-1-36 16,1 19-16,17-19 15,-35 19 1,18-1 0,-1 18 140,-17 18-94,0-1-46,18 19 0,0 17-1,-18-36-15,17 71 16,1-70-16,-18 0 0,18 17 15,-18-17-15,35 17 16,-35-17 0,0-1 62,0 1-63,0-1 1,0 1 62</inkml:trace>
  <inkml:trace contextRef="#ctx0" brushRef="#br0" timeOffset="581.069">20796 12065 0,'18'0'62,"-18"-18"-62,35 18 16,0-17-1,-17 17-15,35 0 16,-35 0-16,17 0 16,-17 0-1,-1 0 1</inkml:trace>
  <inkml:trace contextRef="#ctx0" brushRef="#br0" timeOffset="1227.8678">21149 11836 0,'0'35'16,"0"-17"-16,0 35 15,0 17 1,0 1 0,0-54-16,0 19 15,0-19 1,0 18-1,0 1 1,0-1 0,0-17-1,0-1 1,0 1-16,0 0 16,-18-18-16,18 17 0</inkml:trace>
  <inkml:trace contextRef="#ctx0" brushRef="#br0" timeOffset="1984.1367">21184 11942 0,'18'0'47,"0"0"-32,17 0 1,-18 0 0,36 0-1,-35 0 1,0 0-16,-18 17 16,17-17-16,1 18 15,0-1 1,-18 1-1,0 0 32,-18-18-47,0 17 16,1-17-16,-1 0 16,18 18-1,-18-18 1,18 18-1,-17-18 1,17 17-16,-18-17 16</inkml:trace>
  <inkml:trace contextRef="#ctx0" brushRef="#br0" timeOffset="2556.4127">21590 11906 0,'0'18'16,"0"0"-1,0-1 1,0 1-16,0 52 16,0-52-16,0 35 15,0 35 1,18-17-1,-1-1 1,-17-35 0,0-17-1</inkml:trace>
  <inkml:trace contextRef="#ctx0" brushRef="#br0" timeOffset="3224.5033">21643 11906 0,'35'-17'15,"-17"17"32,-1 0-47,1 0 16,0 0 0,-1 0-1,19 17 1,-36 1-1,0 0 1,0-1 0,0 1 31,-18-18-32,0 0-15,1 17 31,-19-17-15,19 18 0,-1-18-1,1 0-15</inkml:trace>
  <inkml:trace contextRef="#ctx0" brushRef="#br0" timeOffset="3992.3379">21960 11765 0,'0'18'16,"0"-1"-1,0 19 1,-17 34-1,-1 18 1,0-17 0,1 0-1,-1-19 1,18-16 0,-17-1-1,34-35 110,1 0-109,-1-18-1,1 18-15,35 0 16,-35 0-16,-1-17 16,36 17-1,-17-18 1</inkml:trace>
  <inkml:trace contextRef="#ctx0" brushRef="#br0" timeOffset="4460.3595">22313 11836 0,'18'0'62,"-18"-18"-46,53 0-1,0 1 1,-18-1 0,-17 18-1,-1 0 1</inkml:trace>
  <inkml:trace contextRef="#ctx0" brushRef="#br0" timeOffset="4878.4994">22366 11783 0,'0'17'0,"0"19"15,-35 34 1,35-52-16,-18 70 16,18-70-16,-17-1 0,-1 54 15,0 17 1,18-17 0,0-54-1,-17 19 1,17-19-16,0-34 78</inkml:trace>
  <inkml:trace contextRef="#ctx0" brushRef="#br0" timeOffset="5253.6989">22278 12100 0,'18'0'16,"-1"0"-1,71 0 1,1-35 0,-1 35-1,-35-18 1,-36 18-16,19 0 15</inkml:trace>
  <inkml:trace contextRef="#ctx0" brushRef="#br0" timeOffset="5784.3936">22260 12400 0,'18'0'31,"0"0"-31,-1 0 16,36 0-1,0-35 1,-35 35-16,52-18 16,-70 1-16,71 17 15,-36-18 1,-17 0-1</inkml:trace>
  <inkml:trace contextRef="#ctx0" brushRef="#br0" timeOffset="6973.7787">23001 12047 0,'18'-17'47,"-1"17"-47,1 0 16,-18-36-16,53-16 15,17-19 1,19 0 0,-72 54-16,72-54 15,-72 54-15,71-54 16,18-17 0,-88 88-1,123-106 1,-123 88-16,52-35 15,36-35 1,-88 88-16,123-106 16,-124 106-16,89-88 15,18 18 1,-107 52-16,36-17 16,-35 17-16</inkml:trace>
  <inkml:trace contextRef="#ctx0" brushRef="#br0" timeOffset="28963.6031">24853 10707 0,'0'17'94,"0"1"-79,0 0 1,0-1 0,0 1-1,0 0 1,0 17-1,0-17 1,0 17 0,0-18-1,0 1 1,18-18 93,-1 0-109,1 0 16,17 0 0,18 0-1,-35 0 1,0 0-1,-1 0 1</inkml:trace>
  <inkml:trace contextRef="#ctx0" brushRef="#br0" timeOffset="29978.0231">24888 10707 0,'18'0'47,"0"0"-31,-18-18-16,35 1 16,-17 17-16,-1 0 15,1 0 32,0 0 0,-1 0-31,1 17 93,-18 1-62,0-1-32,0 1 1,17-18 0,-17 18-16,0-1 31,0 19-15,0-1-1,18-17 1,-18-1-1</inkml:trace>
  <inkml:trace contextRef="#ctx0" brushRef="#br0" timeOffset="30850.2753">25400 10689 0,'0'18'15,"0"17"1,0 0-1,0 1 1,0 17 0,0-18-1,0 18 17,0-36-17,0 1 16,18-18 32,-1 0-47,1 0 15,0 0-31,-1 0 0,1 0 0,52 0 15,-52 0 1,35 0-16,-18 0 16,-17 0-1,-18-18 79,-18 18-78</inkml:trace>
  <inkml:trace contextRef="#ctx0" brushRef="#br0" timeOffset="31481.1462">25541 10742 0,'18'0'63,"-1"-18"-47,1 18-16,17-17 15,18 17 1,-18 0-1,-17 0 1,0 0 15,-18 17 16,0 1-31,0 0-1,-36 17 1,36-17-16,-17 35 16,17-36-16,-18 18 15,18 18 1,0-35-16,0 17 16</inkml:trace>
  <inkml:trace contextRef="#ctx0" brushRef="#br0" timeOffset="32325.6451">26070 10619 0,'0'17'15,"0"1"1,0 0-16,0 34 16,0-34-1,0 53 1,0-54-16,0 1 0,0 17 16,0 0-1,0-17 1,-17 0-1,34-18 48,1 0-47,0 0-16,34 0 15,-16 0 1,34 0-1,18-18 1,-35 0 0,-35 18 15</inkml:trace>
  <inkml:trace contextRef="#ctx0" brushRef="#br0" timeOffset="32979.738">26106 10689 0,'0'-17'32,"17"17"-32,1 0 15,17 0 1,36 0 0,-1 0-1,18 0 1,-52 0-1,-19 0 1,-17 17 62,0 1-62,0-1-16,0 1 15,0 35 1,0-35-16,0 35 16,0-36-16,0 18 15,-17 1 1,17-1 0,-18-35-1,0 0 48</inkml:trace>
  <inkml:trace contextRef="#ctx0" brushRef="#br0" timeOffset="33843.5844">26670 10654 0,'0'18'0,"0"-1"16,0 1-16,18 35 31,-1 0-15,-17 17 0,0 1-1,0-18 1,18-53-1,0 0 48,-1 0-47,1 0-16,35 0 15,0 0 1,-36 0-16,36 0 15,-35 0 1,17 0-16,-17 0 16</inkml:trace>
  <inkml:trace contextRef="#ctx0" brushRef="#br0" timeOffset="34584.7033">26705 10707 0,'18'0'16,"0"-18"0,34 18-1,-16-17 1,17 17-1,0 0 1,-36 0 0,1 0 62,-1 0-78,1 0 15,0 17 1,-1-17 0,-17 35-1,0 18 1,0-17 0,0 17-1,0-18 1,0-18 15,0 19-31,0-19 16,0 19 15,0-19-15</inkml:trace>
  <inkml:trace contextRef="#ctx0" brushRef="#br0" timeOffset="35350.711">27411 10707 0,'0'17'31,"0"1"-15,0 17-16,0 1 31,0 17-15,0-18-1,0 18 1,0-36 62,17-17-62,1 0-16,0 0 15,-1 0-15,36 0 16,18 0-1,-18 0 1,0 0 0,-18-17 15,-17 17-15,-1 0-1</inkml:trace>
  <inkml:trace contextRef="#ctx0" brushRef="#br0" timeOffset="36174.3441">27446 10707 0,'18'0'46,"-1"0"-46,1 0 16,35-18 0,-18 18 15,-17 0-31,35 0 16,-36 0-16,19 0 15,-1 0 1,-17 0-1,-1 0 1,1 0 0,-18 18 77,0-1-93,0 1 16,0 0-16,0 17 16,0 18 15,0 0-15,-18 0-1,18-18 1,-17-35-1</inkml:trace>
  <inkml:trace contextRef="#ctx0" brushRef="#br0" timeOffset="37844.6695">23072 12065 0,'17'0'31,"1"0"-16,0 0-15,34 0 16,-34 0-16,70 0 16,-70 0-16,35 0 15,0 0 1,-18 0 0,0 0-1,18-18 1,-35 18-16,35-17 15,-36 17-15,36-18 16,0 18 0,-53-18-1,36 18 1,-19 0-16,1 0 16,35-17-1,35 17 1,0-18-1,0 18 1,36 0 0,-36 0-1,-35 0 1,0 0 0,-36 0-16,36-17 15,-35 17-15,17 0 16,-17 0-16,0 0 15</inkml:trace>
  <inkml:trace contextRef="#ctx0" brushRef="#br0" timeOffset="38872.7626">24924 11518 0,'0'18'32,"0"-1"-32,17 19 15,-17 17 1,0 17-1,0-52-15,18 35 16,-18-36 0,0 19-16,0-19 31,0 1 0,0 0 47,0-1-78,0 1 16,18-18 15,-1 0 0,19 0-31,16 0 16,-34 0 0,70 0-1,-70 0-15,17 0 16,-17 0-16,35 0 16,-36 0-16,-34 0 93,-1 0-77</inkml:trace>
  <inkml:trace contextRef="#ctx0" brushRef="#br0" timeOffset="39537.6997">25030 11571 0,'17'0'47,"1"0"-32,17 0-15,18 0 16,-35 0-16,52 0 31,-52 0-31,0 0 0,17 0 16,-18 0-16,1 0 16,-18 18 62,0-1-63,0 1-15,0 35 16,0 0 0,0-36-16,-18 54 15,18-53 1,0-1-16,0 19 15,0-19 17,-17-17 15,-1 0-32,18-17 1</inkml:trace>
  <inkml:trace contextRef="#ctx0" brushRef="#br0" timeOffset="40297.1196">25594 11518 0,'0'18'47,"0"-1"-47,0 1 16,0 0-16,18 17 15,-18 0 1,0-17-16,0 17 15,0-17 1,0-1-16,0 1 0,0 35 31,0-18-15,0-17 0,0 0-1,17-18 63,1 0-62,0 0-16,17 0 16,18-18-1,0 18 1,-18 0-1</inkml:trace>
  <inkml:trace contextRef="#ctx0" brushRef="#br0" timeOffset="40968.3735">25647 11589 0,'18'0'47,"-1"0"-32,1 0-15,17 0 16,0 0 0,-17 0-16,0 0 15,-1 0 1,1 0-1,0 0 17,-18 17-1,0 1-15,0 0-1,0 17 1,0 18-1,0-18 1,0 0 0,0-17-16,0 17 15,0-17 48</inkml:trace>
  <inkml:trace contextRef="#ctx0" brushRef="#br0" timeOffset="41675.1856">26194 11536 0,'0'17'16,"0"1"-1,0 0 1,0 35-1,-18 35 1,18-53 0,0 0-1,0-17 1,0 0 15,18-18 32,-1 0-63,1 0 0,35 0 31,0 0-15,-36 0-16,19 0 15,-19 0-15,1 0 16,35 0-1,0 0 1,-18 0 0,-52 0 62,-1 0-78,0 0 15</inkml:trace>
  <inkml:trace contextRef="#ctx0" brushRef="#br0" timeOffset="42366.9763">26282 11553 0,'18'0'32,"-1"0"-17,1 0 1,17 0 0,-17 0-16,35 0 15,-36 0-15,1 0 0,0 0 16,17 0-1,-17 0 1,-1 0-16,18 0 16,-17 0-16,0 0 15,-1 0 1,-17 18 15,0 0 0,0-1 1,0 19-17,0-19-15,-17 36 16,17-35-16,0-1 0,-18 1 16,18 35-1,0-35 1,-18-18-1,18 17 1</inkml:trace>
  <inkml:trace contextRef="#ctx0" brushRef="#br0" timeOffset="43086.3191">27023 11483 0,'0'18'15,"0"-1"1,0 1-1,0-1-15,0 36 16,-18 18 15,18-53-31,0 17 16,-18-18-16,18 1 0,0 0 31,18-18 47,0 0-46,-1 0-32,36 0 15,18 0 1,-1 0-1,-17 0 1,-17 0 15,-19 0-15,-34 0 62,-1 0-78</inkml:trace>
  <inkml:trace contextRef="#ctx0" brushRef="#br0" timeOffset="43903.9025">27040 11553 0,'18'0'62,"0"0"-46,-1 0-16,19 0 15,-1 0 1,-17 0 15,-1 0-15,1 0 0,-1 18-1,1-18 1,-18 18-1,18-18 1,-1 0 0,-17 17 46,0 1-46,0 0-1,0-1 1,0 1 0,0 0-1,0 17 1,-17 0 0,17-17-16,0 17 15,0-17-15,-18-1 16,18 1-1,0 0 1,0-1 0</inkml:trace>
  <inkml:trace contextRef="#ctx0" brushRef="#br0" timeOffset="44605.8353">27622 11501 0,'0'17'16,"0"1"-1,0-1-15,0 19 16,0 17 15,0-18-15,0 18 0,18-18-1,-18 18 1,0-35-1,0-1 1,18-17 47,-1 0-48,1 0 1,35 0-16,35 0 15,18 0 1,-53 0 15,-35 0-15,-1 0 0,-34 0 62,-1 0-78,0 0 15</inkml:trace>
  <inkml:trace contextRef="#ctx0" brushRef="#br0" timeOffset="45403.7256">27605 11536 0,'17'0'31,"1"0"-16,0 0-15,35 0 16,0 0 15,0 0-15,17 0 0,-17 0-1,-18 0 1,-17 0 46,0 0-46,-18 17 0,0 1-1,0 0 1,0-1-1,0 1 1,0 0 0,0-1-16,0 1 15,0 17 1,0-17-16,0 17 16,0-17-16,0 52 15,0-52-15,0 17 16,0 1-1</inkml:trace>
  <inkml:trace contextRef="#ctx0" brushRef="#br0" timeOffset="46712.9675">23019 12118 0,'17'0'16,"1"0"-1,0 0-15,17 0 16,-17 0-16,17 0 15,53 18 1,18 34 0,35-16-1,18-1 1,-124-35-16,124 53 16,-142-53-16,107 35 15,-1 18 1,-17-18-1,-35-17 1,-18 0 15,-36-18-31,19 0 16,-36 17-16,35 1 16,-18-18-16,19 18 15,-19-18-15,36 17 16,-35 1-1,0 0 1</inkml:trace>
  <inkml:trace contextRef="#ctx0" brushRef="#br0" timeOffset="47537.4235">24906 12418 0,'18'0'16,"-18"17"0,17 19-1,-17 17 1,0-36-16,0 54 16,18-54-1,-18 19-15,0-19 0,18 36 16,-18-35-1,0 0-15,0-1 32,0 1-17,0-1 1,17-17 31,1 0-32,0 0-15,17 0 16,53 0 0,0-17-1,36 17 1,-107 0-16,54-18 16,-53 18-16,-1 0 15,-17-17 79,-17 17-78,17-18-16,-18 18 15,0 0-15</inkml:trace>
  <inkml:trace contextRef="#ctx0" brushRef="#br0" timeOffset="48218.3555">24994 12382 0,'18'0'15,"0"0"-15,-1 0 16,1-17-1,35 17 1,-36 0-16,54 0 16,-53 0-16,87-18 15,19 1 1,-89 17 0,-17 0 15,-1 0-31,1 0 15,-18 17 32,0 1-31,0-1 0,0 19-1,0-1 1,0-17-16,0 17 15,0-17-15,0 17 16,0 53 0,0-70-16,0 52 15,0-52 1,-18-18 62</inkml:trace>
  <inkml:trace contextRef="#ctx0" brushRef="#br0" timeOffset="48910.2852">25753 12312 0,'0'35'15,"0"-17"1,0-1-1,0 54 1,0 0 0,0-54-16,0 54 15,0-54 1,0 1-16,0 17 16,0-17-1,17-18 32,1 0-31,17 0-1,18 0 1,-35 0-16,35 0 16,-36 0-16,36 0 15,-17 0 1,-36-18 93</inkml:trace>
  <inkml:trace contextRef="#ctx0" brushRef="#br0" timeOffset="49537.2783">25841 12312 0,'18'0'16,"-1"0"-16,1 0 0,35 0 15,-36 0-15,54 0 32,-36 0-32,-17 0 0,17 0 15,18 18 1,-35-18-16,-1 0 31,-17 17-15,0 1 15,0-1-15,0 36-1,-35 18 1,0 17 0,17-88-16,1 71 15,17-54 1,-18 19-16,18 17 15,0-18 17,0-18-17,0-34 32,0-1-47,0 1 0</inkml:trace>
  <inkml:trace contextRef="#ctx0" brushRef="#br0" timeOffset="50203.7882">26247 12277 0,'0'17'15,"17"19"1,-17-19-16,18 18 16,-18-17-16,0 35 15,0 18 1,0 17 0,0-18-1,0-34 1,18-36 46,-1 0-46,1 0-16,-1 0 16,36 0-1,36 0 1,-72 0-16,89 0 15,-88 0-15,35 0 16,17 0 0,-17-18-1,-18 0 1,-35 1 31,-17 17-32,-1 0 1,0-18-16</inkml:trace>
  <inkml:trace contextRef="#ctx0" brushRef="#br0" timeOffset="50906.7754">26388 12365 0,'17'0'47,"1"0"-47,0 0 16,17-18-1,0 1 1,-17 17-16,35 0 16,-36 0-16,1 0 0,53-18 15,-1 18 1,18 0 0,-70 0-16,35 0 15,-53 18 79,0-1-94,0 18 16,-18 54-1,-17 52 1,35-53-1</inkml:trace>
  <inkml:trace contextRef="#ctx0" brushRef="#br0" timeOffset="51571.7705">27111 12365 0,'0'17'32,"0"1"-17,0 17 1,0 18 0,0 0-1,0 0 1,0 0-1,0-35-15,-18 17 16,36-35 31,0 0-31,17 0-16,35 0 15,1 0 1,0 0-1,-36 0 17</inkml:trace>
  <inkml:trace contextRef="#ctx0" brushRef="#br0" timeOffset="52169.8047">27076 12400 0,'17'0'32,"19"-18"-17,34 18 1,36-35 0,-18 18-1,-70 17-15,35 0 16,-36 0-1,19-18-15,-36 36 79,0-1-79,0 36 15,0 35 1,-18 1-1,18-37 1,0-34 0</inkml:trace>
  <inkml:trace contextRef="#ctx0" brushRef="#br0" timeOffset="52758.5862">27993 12294 0,'0'18'15,"0"35"-15,-35 0 32,35 17-17,-18 1 1,0-1 0,18-52-1,18-18 48,0 0-48,-1 0-15,36 0 16,35 0 0,-17 0-1,-53 0-15,-1 0 16</inkml:trace>
  <inkml:trace contextRef="#ctx0" brushRef="#br0" timeOffset="53375.2016">27958 12330 0,'17'0'15,"1"0"1,52 0-1,-52-18-15,53 18 16,-54-18-16,1 18 16,0 0-1,-1 0-15,18 0 16,-17 0 0,0 0-16,-1 18 46,-17 0-30,0 17 0,0 35-1,-35 1 1,17 0 0,-17-19-1,35-34 1</inkml:trace>
  <inkml:trace contextRef="#ctx0" brushRef="#br0" timeOffset="57852.1487">25012 11589 0,'-18'0'0,"18"17"46,0 1-30,-17-18 15,17 18 1,-18-1-17,18 1 1,18-36 140,-18 1-140,17 17-1,1 0-15,0 0 16,-1-18 0,1 18-1,35-18 1,-18 18-1,-35 18 64,0 0-64,-18 17-15,1 0 16,-1 0 15,0 18-15,-17-35-1,35 0-15,0-36 110,18 18-95,-18-18-15,53-17 16,-53 17-16,35-34 16,-17 52-1,-1-18-15,1 0 16,-18 36 109,-18-18-125,18 18 0,-17-1 15,-36 18 1,53-17-16,-53 17 16,35-35-16,18 18 15,-17 0 1,-1-18 0,0 0-1,1 0 16,-1 0-31,18-18 32,0-17-17,18 17 1,-1-17 0,1 0-1,0 17 1,-18 0-1,17 18 1,1 0 0,-18 18 77,-18-18-93,18 18 16,-35 34 0,17-16-1,36-54 79,0 18-94,-1-35 16,54 0-1,17-18 1,-53 35 0,-35 0-1,0 36 79,0 0-94,-17 17 16,-1-35-16,-35 70 15,35-70-15,18 18 0,-53 35 16,36-35-1,-1-1 1,18-34 125,18 17-141,-18-18 15,53 0 1,-18-17 0,18 0-1,0 0 1,-18 17-1,-35 36 79,0-1-94,-17-17 0,-19 53 16,1 0 15,17-18-15,18 1-1,18-36 79,-18-18-94,18 18 0,17-18 16,-35 1-16,53-1 15,-36 18-15,1-35 16,0 17 0,-18 36 62,0-1-78,-18-17 15,18 36 1,-35-1 0,-18 0-1,53-17 1,-18-18 46,1 0-46,17-18-16,-18 18 16,-17-17-1,-1-19 1,36 19 15,0-1-15,-17 18-1,-1 0 32,0 0-47,1 18 16,17-1-16,-35 19 15,35-19-15,-36 19 16,19-19 0,17-34 31,0-1-32,17 0-15,19-35 16,-19 36 15,1-1-15,-1 18-1</inkml:trace>
  <inkml:trace contextRef="#ctx0" brushRef="#br0" timeOffset="63763.9176">25859 12347 0,'0'18'94,"-18"-18"-79,18 17 1,0 1 0,0 17-1,0-17 1,0 0 0,0-1-1,-18-17 16,18 18 1,-17-18-1,17-18 94,17 18-125,-17-17 16,18-19-1,0 19 1,-18 34 124,0 1-124,-18-18-16,18 18 16,0-1-16,-53 36 15,35-35-15,1 0 16,-1-1-16,-17 18 16,35-17-16,-18 0 15,1-18 1,34 0 31,-17-18-47,53-17 15,18 0 1,-18-1 0,-18 1-1,18 0 1,-36-1 15,1 1-15,0 35-16,-1-18 15,1 18 1,-36 0 78,18 18-94,-17-18 0,17 18 15,0-1-15,-36 1 16,36 0 0,-17-1-16,-18 19 15,17-36 1,-35 53-1,35-53-15,1 17 16,-1-17 0,18-17 15,0-1-15,35-35-1,1 0 1,-1-18-1,18 1 1,-36 35 0,1 17-1,-18 36 48,0-1-48,0 1-15,0 0 16,0-1 0,0 1-16,-18 17 15,1-35-15,-1 53 16,-17 0 0,35-35-16,-18 35 15,1-53-15,17-18 78,17 18-78,1-18 0,35-17 16,17-36 0,-17 18-1,-53 71 95,-17 0-95,17-1-15,-36 19 16,-17 34-1,1-17 1,16-18 0,36-17-1,0-36 48,0 1-48,18-18 1,-18 17-16,35-17 16,-17 35-16,-18-18 0,35-17 15,18-18 1,-35 35 0,-1 0-1,-17 36 48,0 0-63,0-1 15,0 1-15,-17 17 16,-36 18 0,53-35-16,-18 0 15,18-1 1,-18-17-16,36-17 78,-18-1-78,18 18 16,17-53-1,0 18 1,-17-1-1,0 36 1,-18 18 62,-18-18-78,18 18 0,-35 35 31,35-36-31,-53 19 16,53-19-16,-18 18 16,0-17-16,1 17 15,17-17-15,-18-18 0,18 18 16,0-1 0,0-34 62,0-1-78,0 0 0,18 1 15,-18-1-15,35-17 16,-35 17 0,35 18-16,-17-35 15,-18 53 79,0-1-78,0 1-16,-35-1 15,17 19 1,0-1-1,18-53 95,18 18-95,0 0 110,-1 0-109,-17-17 234,-17 17-234,-1 0 15,0 0-15,1 0-1,-1 0 1,1 0-1</inkml:trace>
  <inkml:trace contextRef="#ctx0" brushRef="#br0" timeOffset="72020.7386">29192 10583 0,'0'18'47,"0"0"-31,-17-18 0,17 17-1,0 19 1,0-19-1,-18 1 1,36-18 250,-1 0-251,1 0-15,35 17 16,17 1 0,-17 0-1,-17-18 16,-1 17-15,-35 1 0,18-18-1,-1 18 1,-17-1 0,0 1-1,0 0 1,0-1-1,-17-17 17,17 18-17,-18-1 1,0-17 0,1 18-1,-1-18 16,0 0-15,1 0 0,-1 0 15,0 0-15,1 0 15,-1 0-16,1 0 157,-1 0-125,0 0 16,18-18-32,-17 18-15</inkml:trace>
  <inkml:trace contextRef="#ctx0" brushRef="#br0" timeOffset="73118.0703">29192 10724 0,'18'0'157,"0"-17"-142,-1 17 1,1 0-1,0-18 1,17 18 0,18 0-1,-36-17 1,-17-1-16,18 18 16,0 0-1,-1 0-15,1 0 16,-18-18-1,18 18 1,-1 0 0,1 0-1,-1 0 1,1 0 0,0 0 77,-1 0-77</inkml:trace>
  <inkml:trace contextRef="#ctx0" brushRef="#br0" timeOffset="76219.1648">29333 11430 0,'18'0'47,"0"0"-31,-1 0 15,1 0-15,0 0-1,17 18 1,-17-1 0,-1 19-1,1-1 1,-18-18-1,0 1 1,0 0 15,0-1 1,-18-17-32,1 18 31,-1-18-31,0 0 15,1 0-15,-1 0 16,0 0 0,1 0-1,-1 0 1,18-18 0,18 18 62,-18-17-63,17 17-15,19 0 16,34 0 0,-17 0 15,-18 0-16,-35 17 1,18 1 0,-18 0-1,0-1 1,0 19 0,0-19-1,0 18 1,0-17-1,-18 0 1,1 17 0,-19-17-1,19-18-15,-1 17 16,1-17 0,-1 0-1,18 18 1,-18-18-16,1 0 15,17 18-15,-18-18 16,0 0 0,1 0-1,-1 0 1,0-18 0,1 0-1,-1 18 1,1 0-1,-1-17 1</inkml:trace>
  <inkml:trace contextRef="#ctx0" brushRef="#br0" timeOffset="81990.9175">29422 12312 0,'0'-18'32,"17"18"-32,1 0 15,17 0 1,0 0 15,18 0-15,-17 18-1,-1 0 1,-17-1 0,-18 1-1,0-1 1,0 1 0,0 0 30,0-1-30,0 1 15,-18-18-15,0 18-16,-17-1 16,17-17 15,-17 36-16,0-19 1,0 19 0,17-36-1,0 0 1,1 0 15,17 17 0,-18-17-15,36 0 78,-1 0-94,1 0 15,35 0 1,17 0 0,-52 0-16,53 0 15,-54 0-15,19 0 16,16 0 0,-16 0-1,-1 0 1</inkml:trace>
  <inkml:trace contextRef="#ctx0" brushRef="#br0" timeOffset="85054.4443">20814 13882 0,'0'17'31,"0"1"-15,0 0 15,0-1-15,0 1-1,0 0-15,0 17 16,18 0-1,-18 0 1,0 1 0,0-1-1,0-17 1,0-1 15,0 1-15,0 0-1,0-1 1,0 1 0</inkml:trace>
  <inkml:trace contextRef="#ctx0" brushRef="#br0" timeOffset="85539.9247">20884 14093 0,'18'0'16,"0"0"15,17 0-31,0 0 16,18-17 15,-35 17-31,17-18 16,-17 18-16,-1 0 0</inkml:trace>
  <inkml:trace contextRef="#ctx0" brushRef="#br0" timeOffset="86001.235">21131 13882 0,'0'17'31,"0"1"-31,0 0 15,0-1-15,0 1 16,0 0-16,18-1 16,0 19-1,-18-19-15,0 18 32,0-17-32,0 17 15,0-17-15,17 17 16,-17-17-16,0 0 15</inkml:trace>
  <inkml:trace contextRef="#ctx0" brushRef="#br0" timeOffset="87142.9659">21502 14023 0,'0'-18'16,"0"1"0,0-1-1,0 0 1,-18 1-1,1 17 32,-1 0-15,18 17 30,0 1-46,0 0-16,0-1 15,0 19-15,0 16 32,0-16-17,18-36 1,-18 17-1,35 1 1,-18-18 0,1 0 15,0-18-15,17-17-1,18 17 1,-35-17-1,-1 35 1,-17 18 78,0-1-79,0 1 1,18-18-16,-18 35 16,35-17-1,-35 0 1,18-18 46,-18-18 32</inkml:trace>
  <inkml:trace contextRef="#ctx0" brushRef="#br0" timeOffset="88175.6402">21890 13970 0,'0'18'94,"-18"-18"-94,18 17 16,-17-17-16,34 0 156,-17 18-140,18-18-16,-1 0 0,1 0 15,35 18 1,-18-18 0,-17 17-1,0-17 1,-18 18-16,0-1 15,0 1 17,0 0-32,0-1 31,0 1 0,-18-18-15,18 18-1,-18-18 1,1 0 15,-1 0-31,0 0 32,36 0 93,0 0-110,-18-18 1</inkml:trace>
  <inkml:trace contextRef="#ctx0" brushRef="#br0" timeOffset="89504.2176">22278 13758 0,'0'18'15,"0"0"1,0-1-16,0 1 15,0 0-15,0 52 16,0-52 0,0 35-16,0-36 0,0 54 15,0-54 1,0 36-16,-35 18 31,17-1-15,18-52-1,0-36 48,0 1-63,0-1 16,0 1-16,18-19 15,-1 36-15,1-53 16,0 36-16,17-36 15,-18 18 1,1 17 0,-18-17-1,18 17 1,17 18 15,0-18-15,-17 1-1,0 17 1,-18 17 0,17 19-1,1 17 1,-18-1 0,17-34-1,-17 0-15,0-1 16,0 1-16,0 0 15,0-1 1,0 1 47,0 0-48,0-1-15,0 1 141,0-1-110,0 1-31,-17-18 0,-1 35 16,1-17-1,17 0 1</inkml:trace>
  <inkml:trace contextRef="#ctx0" brushRef="#br0" timeOffset="93216.0474">22719 14393 0,'18'0'31,"-1"0"16,1 0-47,-18-17 15,17-1 1,1 18 0,-18-35-1,18 17 1,-18 0-1,0-34 1,0 34 0,17 0-1,-34 18 95,-1 0-95,0 0 1,18 18 0,0 0 15,-17-18-31,17 17 15,-18 1 1,18-1 15,0 1-15,-17-18 0,17 18-1,0-1 1,0 1 31,0 0-47,0-1 15,17-17 32,1 0-31,-18 18-1,17-18-15,1 18 16,0-18 15,-1 0-15,1 0 0,0 0-1,17 0 1,-17 0 15,-1 0-15,1 0-1,-1 0-15,1 0 16,-18-18 62</inkml:trace>
  <inkml:trace contextRef="#ctx0" brushRef="#br0" timeOffset="94119.178">23142 14111 0,'18'0'16,"-1"0"-1,1 0 1,0-18-1,35 18 1,-36 0-16,19-17 16,-19 17-16,36 0 15,-18 0 1,-17 0 0</inkml:trace>
  <inkml:trace contextRef="#ctx0" brushRef="#br0" timeOffset="94875.1906">23266 14217 0,'17'0'63,"1"0"-48,0 0-15,17 0 16,0 0 0,-17 0-1,-1 0 17,-34 0 186</inkml:trace>
  <inkml:trace contextRef="#ctx0" brushRef="#br0" timeOffset="101197.0567">23883 13776 0,'0'18'32,"0"-1"-1,0 1-31,0 0 31,0-1-15,0 1-16,-18-18 15,1 35 1,17 18 0,0-35-16,0 35 15,0-36-15,-18-17 16,18 18 0,0-1-16,0 1 15,0 17 1,0 1-1,0-1 1,35 0 0,-17-17-1,17 17 17,-17-17-17,17 17 1,-17-17-1,17-1 1,-17 1 0,-1 0-1,1-1 1,0-17 0,-1 18-1</inkml:trace>
  <inkml:trace contextRef="#ctx0" brushRef="#br0" timeOffset="107878.1571">24236 13882 0,'0'17'125,"0"1"-109,0 0 15,0-1 0,0 1-15,-18-18 15,18 18-31,18-18 188,-1 0-173,19 0 1,17 0-1,0 0 1,-53 17 15,0 1 1,0 0-17,17-1-15,-17 1 16,18-1-1,-18 1 1,0 17 0,0-17 15,0 0-15,-18-18-1,1 17 1,-1 1-1,0-18 1,1 0-16,-1 18 16,0-18-1,1 0 1,-1 0 0,0 0 15</inkml:trace>
  <inkml:trace contextRef="#ctx0" brushRef="#br0" timeOffset="108602.5445">24271 13882 0,'18'0'47,"-18"-18"-47,35 18 16,0-17-1,-17 17-15,0 0 16,-1 0 0,-17-18-16,18 18 62</inkml:trace>
  <inkml:trace contextRef="#ctx0" brushRef="#br0" timeOffset="109454.0363">24800 14270 0,'0'17'78,"-17"-17"-78,-1 18 15,0-18 1,1 18 0,-1-18-16,0 0 15,1 17-15</inkml:trace>
  <inkml:trace contextRef="#ctx0" brushRef="#br0" timeOffset="110461.5326">24959 13882 0,'18'0'16,"-1"0"-16,19-18 15,16 18 17,1 0-32,-17 0 31,-19 18-15,-17 52-1,0-17 1,0 0-1,-17-35 1,-1-1 0,0-17-16,1 18 15,-1-18 1,0 0-16,1 0 16,-1 0-1,1 0 1,34 0 46,1 0-46,-1 0-16,1 0 16,0 0-1,17 35 1,36 1-1,-36 17 1,-17-18 0,-18-18-16,0 1 15,0 0-15,0-1 32,-18-17-17,18 18-15,-18-18 16,1 0-1,-1 0-15,0 0 16,1 0 0,-1-18-16,18 1 31,-18 17-15,18-18 62</inkml:trace>
  <inkml:trace contextRef="#ctx0" brushRef="#br0" timeOffset="110892.7927">25471 14287 0,'0'18'15,"-18"0"1,0 17 0,1 0-1,-1-35 1,0 18-1,18 0 1,-17-18 0,-1 0 15</inkml:trace>
  <inkml:trace contextRef="#ctx0" brushRef="#br0" timeOffset="111859.151">25788 13847 0,'18'0'0,"-1"0"0,1 17 31,-18 1-31,35-18 16,-35 17-16,18 1 0,0-18 16,-1 35-1,-17 18 1,0 0-1,0-18 1,0 18 0,-17-53-16,-1 18 15,0-18 1,18 18-16,-17-18 16,-19 0-1,19 17 1,17 1-1,17-18 79,1 0-94,0 0 16,-1 0-1,19 0 1,-19 0 0,18 0-1,-17 0 63</inkml:trace>
  <inkml:trace contextRef="#ctx0" brushRef="#br0" timeOffset="112538.946">26282 13741 0,'35'17'16,"0"1"-1,1 17 1,-19-17-16,54 17 15,-53-35-15,35 53 16,-1-18 0,-34 1-1,-18-19 1,0 19 0,-18-36-16,-17 52 15,35-34-15,-35 17 16,-36 36-1,-17-36 17,88-17-32,-35 17 15,17-35-15,1 0 16,-1 0 31</inkml:trace>
  <inkml:trace contextRef="#ctx0" brushRef="#br0" timeOffset="120888.277">20884 14817 0,'0'17'0,"0"1"16,0 0 0,18 17-1,-18-18-15,0 19 16,0-19-16,0 36 15,0 0 1,0 0 0,0 18-1,0-18 1,0-36-16,0 36 16,0-35-1,0-1-15,0 19 16,0-19-1</inkml:trace>
  <inkml:trace contextRef="#ctx0" brushRef="#br0" timeOffset="121327.8361">20937 15169 0,'36'-17'31,"-19"17"-31,1 0 15,35-18 1,-36 18-16,19-17 16,-1 17-16,-17 0 15,-18-18 79</inkml:trace>
  <inkml:trace contextRef="#ctx0" brushRef="#br0" timeOffset="121792.1858">21184 14940 0,'0'18'31,"18"-18"-15,-18 35-1,18 18 1,-18 18 0,17-19-1,-17 1 1,0-17-1,0-1 1,18-35 0</inkml:trace>
  <inkml:trace contextRef="#ctx0" brushRef="#br0" timeOffset="123012.5334">21484 15134 0,'0'-17'0,"0"-1"16,-17-17 0,-1 35 46,0 0-31,1 0 1,17 17-17,-18 1 1,18 17 0,-18-17-1,18-1 1,0 1-1,0 0 17,0-1-1,18-17-15,-18 18-16,18-18 15,-1 0 32,1 0-31,0 0-1,-1 0 1,1-18 0,-18 1-1,17-1-15,-17 36 94,0-1-94,0 1 16,0 0-1,18-1-15,0 19 16,-1-36 46,1 0-46,-18 17 0,18-17-1,-1 18 1,-34-18 78,17-18-94</inkml:trace>
  <inkml:trace contextRef="#ctx0" brushRef="#br0" timeOffset="123929.6901">21855 15046 0,'0'18'31,"-18"-18"-15,18 17-1,-18-17 1,18 18-16,-17 0 16,17-1-16,-36-17 15,36 18 1,-35-18-1,35 17 32,18-17 63,-1 0-110,1 18 15,0 0 1,-1-1 0,-17 1-1,0 0 1,0 17-1,0-17-15,0-1 63,-17-17-47,17 18-1,-18-18-15,-17 0 16,17 0-1,0 0 17</inkml:trace>
  <inkml:trace contextRef="#ctx0" brushRef="#br0" timeOffset="125224.1543">21960 14799 0,'0'0'0,"0"18"31,0-1-31,0 1 16,0 0 0,0 34-1,0 19 1,0-53-16,0 52 15,0-52-15,0 52 16,0-17 0,0-17-1,0 17 1,0-36 0,18 1-1,-18-36 95,18 1-95,-1-1-15,1 0 16,0 1-16,52-54 15,-52 71-15,52-53 16,1 0 0,-36 36-1,-17 17 63,-18 17-62,0 1 0,0 0-16,0-1 15,0 18 1,0 1 0,0-19-16,0 1 15,0 0-15,0-1 16,0 19-1,0-19 1,0 1 31,0-1-16</inkml:trace>
  <inkml:trace contextRef="#ctx0" brushRef="#br0" timeOffset="126874.9781">22578 15205 0,'0'17'47,"0"1"-47,0 0 16,0 17-1,0-17-15,0 17 16,0-18-16,0 1 16,0 17-1,0-17 1,17-18 46,-17-18-46,36 18 0,-36-35-1,17 17 1,1 18-1,-18-17 1,0-1-16,18 18 63,-1 0-17,-17 18-30,0-1 0,18 19-16,17-1 15,-17 18 1,-1-53 0,-17 18-1,18-18 1,0 0 46,-18-18-62,0 0 16,0-17 0,17 17-1,-17-35 1,0 18-1,0 18 1,0-1 0,0 0 15,0 36 78,0 0-93</inkml:trace>
  <inkml:trace contextRef="#ctx0" brushRef="#br0" timeOffset="127455.9379">23213 15363 0,'17'0'63,"1"0"-48,0 0 1,-1 0-16,1 0 15,0 0 1,-1 0 0,1 0-1,-36 0 79</inkml:trace>
  <inkml:trace contextRef="#ctx0" brushRef="#br0" timeOffset="128247.2389">23160 15522 0,'17'0'94,"1"0"-79,0 0-15,-1 0 16,19 0 0,17 0-1,-36-17 1,1 17 0,17 0-1,-52 0 63</inkml:trace>
  <inkml:trace contextRef="#ctx0" brushRef="#br0" timeOffset="129739.8681">24042 15028 0,'17'0'47,"1"0"-31,0 0-16,-1 18 15,1-18-15,35 35 16,-35-35-16,-1 36 16,1-36-16,-1 35 15,1-35-15,-18 35 16,0 0 0,0 1-1,-18-1 1,-17-17 15,0-18-15,0 0-1,-1 0 1,19 0 0,-1 0-1,18-18 1,18 18 62,-1 0-78,19 0 16,17 0-1,-36 18-15,54-1 31,-54-17-31,19 18 16,-19-1 0,1-17-16,-18 18 15,0 0 1,0-1-16,0 1 16,0 17-1,0-17 1,0 0-1,-18-1 1,18 1 0,-35-18-1,0 17 1,-18 19 0,18-36-1,-1 0 1,1 0 15,17 0-15,1 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6669BC-E5CC-4BDA-BF3E-B382C46651E7}" type="datetimeFigureOut">
              <a:rPr lang="zh-TW" altLang="en-US" smtClean="0"/>
              <a:t>2024/3/12</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A452B-A5DA-4E05-9643-5EB6E17B4D7F}" type="slidenum">
              <a:rPr lang="zh-TW" altLang="en-US" smtClean="0"/>
              <a:t>‹#›</a:t>
            </a:fld>
            <a:endParaRPr lang="zh-TW" altLang="en-US"/>
          </a:p>
        </p:txBody>
      </p:sp>
    </p:spTree>
    <p:extLst>
      <p:ext uri="{BB962C8B-B14F-4D97-AF65-F5344CB8AC3E}">
        <p14:creationId xmlns:p14="http://schemas.microsoft.com/office/powerpoint/2010/main" val="1394903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a:t>
            </a:fld>
            <a:endParaRPr lang="zh-TW" altLang="en-US"/>
          </a:p>
        </p:txBody>
      </p:sp>
    </p:spTree>
    <p:extLst>
      <p:ext uri="{BB962C8B-B14F-4D97-AF65-F5344CB8AC3E}">
        <p14:creationId xmlns:p14="http://schemas.microsoft.com/office/powerpoint/2010/main" val="2294659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2</a:t>
            </a:fld>
            <a:endParaRPr lang="zh-TW" altLang="en-US"/>
          </a:p>
        </p:txBody>
      </p:sp>
    </p:spTree>
    <p:extLst>
      <p:ext uri="{BB962C8B-B14F-4D97-AF65-F5344CB8AC3E}">
        <p14:creationId xmlns:p14="http://schemas.microsoft.com/office/powerpoint/2010/main" val="3363733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這是</a:t>
            </a:r>
            <a:r>
              <a:rPr lang="en-US" altLang="zh-TW" dirty="0" err="1" smtClean="0"/>
              <a:t>wordle</a:t>
            </a:r>
            <a:r>
              <a:rPr lang="zh-TW" altLang="en-US" dirty="0" smtClean="0"/>
              <a:t>和</a:t>
            </a:r>
            <a:r>
              <a:rPr lang="en-US" altLang="zh-TW" dirty="0" err="1" smtClean="0"/>
              <a:t>nerdle</a:t>
            </a:r>
            <a:r>
              <a:rPr lang="zh-TW" altLang="en-US" dirty="0" smtClean="0"/>
              <a:t>的實際遊玩畫面。</a:t>
            </a:r>
            <a:endParaRPr lang="en-US" altLang="zh-TW" dirty="0" smtClean="0"/>
          </a:p>
          <a:p>
            <a:r>
              <a:rPr lang="en-US" altLang="zh-TW" dirty="0" err="1" smtClean="0"/>
              <a:t>Wordle</a:t>
            </a:r>
            <a:r>
              <a:rPr lang="zh-TW" altLang="en-US" dirty="0" smtClean="0"/>
              <a:t>要在限定次數內，猜出由五個字母所組成的單字。如果猜測的字母沒有出現在答案中，會顯示灰色，如果字母有出現在答案中，但是位置放錯了，會顯示黃色，如果字母的有出現在答案中，位置也放對了，會顯示綠色。</a:t>
            </a:r>
            <a:endParaRPr lang="en-US" altLang="zh-TW" dirty="0" smtClean="0"/>
          </a:p>
          <a:p>
            <a:endParaRPr lang="en-US" altLang="zh-TW" dirty="0" smtClean="0"/>
          </a:p>
          <a:p>
            <a:r>
              <a:rPr lang="zh-TW" altLang="en-US" dirty="0" smtClean="0"/>
              <a:t>這兩個遊戲玩法相似，並且都限制使用者只能輸入真正存在的單字或是能夠讓等式成立的解。</a:t>
            </a:r>
            <a:endParaRPr lang="en-US" altLang="zh-TW" dirty="0" smtClean="0"/>
          </a:p>
          <a:p>
            <a:r>
              <a:rPr lang="zh-TW" altLang="en-US" dirty="0" smtClean="0"/>
              <a:t>作者想要改進解答的策略，去減少</a:t>
            </a:r>
            <a:r>
              <a:rPr lang="zh-TW" altLang="en-US" sz="1200" b="0" i="0" kern="1200" dirty="0" smtClean="0">
                <a:solidFill>
                  <a:schemeClr val="tx1"/>
                </a:solidFill>
                <a:effectLst/>
                <a:latin typeface="+mn-lt"/>
                <a:ea typeface="+mn-ea"/>
                <a:cs typeface="+mn-cs"/>
              </a:rPr>
              <a:t>解題過程中所期望的平均猜測次數以及可能遭遇到的最壞情況</a:t>
            </a:r>
            <a:r>
              <a:rPr lang="zh-TW" altLang="en-US" dirty="0" smtClean="0"/>
              <a:t>的猜測次數。</a:t>
            </a:r>
            <a:r>
              <a:rPr lang="en-US" altLang="zh-TW" dirty="0" smtClean="0"/>
              <a:t>expected case</a:t>
            </a:r>
            <a:r>
              <a:rPr lang="zh-TW" altLang="en-US" dirty="0" smtClean="0"/>
              <a:t>和</a:t>
            </a:r>
            <a:r>
              <a:rPr lang="en-US" altLang="zh-TW" dirty="0" smtClean="0"/>
              <a:t>worst case</a:t>
            </a:r>
            <a:r>
              <a:rPr lang="zh-TW" altLang="en-US" dirty="0" smtClean="0"/>
              <a:t>。</a:t>
            </a:r>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3</a:t>
            </a:fld>
            <a:endParaRPr lang="zh-TW" altLang="en-US"/>
          </a:p>
        </p:txBody>
      </p:sp>
    </p:spTree>
    <p:extLst>
      <p:ext uri="{BB962C8B-B14F-4D97-AF65-F5344CB8AC3E}">
        <p14:creationId xmlns:p14="http://schemas.microsoft.com/office/powerpoint/2010/main" val="1527509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當猜測下一個單字時，會從</a:t>
            </a:r>
            <a:r>
              <a:rPr lang="en-US" altLang="zh-TW" dirty="0" smtClean="0"/>
              <a:t>Game list</a:t>
            </a:r>
            <a:r>
              <a:rPr lang="zh-TW" altLang="en-US" dirty="0" smtClean="0"/>
              <a:t>和</a:t>
            </a:r>
            <a:r>
              <a:rPr lang="en-US" altLang="zh-TW" dirty="0" smtClean="0"/>
              <a:t>Legal</a:t>
            </a:r>
            <a:r>
              <a:rPr lang="en-US" altLang="zh-TW" baseline="0" dirty="0" smtClean="0"/>
              <a:t> list</a:t>
            </a:r>
            <a:r>
              <a:rPr lang="zh-TW" altLang="en-US" baseline="0" dirty="0" smtClean="0"/>
              <a:t>中去選擇要猜的答案。</a:t>
            </a:r>
            <a:endParaRPr lang="en-US" altLang="zh-TW" baseline="0" dirty="0" smtClean="0"/>
          </a:p>
          <a:p>
            <a:r>
              <a:rPr lang="en-US" altLang="zh-TW" baseline="0" dirty="0" smtClean="0"/>
              <a:t>Game list</a:t>
            </a:r>
            <a:r>
              <a:rPr lang="zh-TW" altLang="en-US" baseline="0" dirty="0" smtClean="0"/>
              <a:t>跟</a:t>
            </a:r>
            <a:r>
              <a:rPr lang="en-US" altLang="zh-TW" baseline="0" dirty="0" smtClean="0"/>
              <a:t>Legal list</a:t>
            </a:r>
            <a:r>
              <a:rPr lang="zh-TW" altLang="en-US" baseline="0" dirty="0" smtClean="0"/>
              <a:t>裡面存放了很多單字。</a:t>
            </a:r>
            <a:endParaRPr lang="en-US" altLang="zh-TW" baseline="0" dirty="0" smtClean="0"/>
          </a:p>
          <a:p>
            <a:r>
              <a:rPr lang="en-US" altLang="zh-TW" baseline="0" dirty="0" smtClean="0"/>
              <a:t>Game list</a:t>
            </a:r>
            <a:r>
              <a:rPr lang="zh-TW" altLang="en-US" baseline="0" dirty="0" smtClean="0"/>
              <a:t>裡面是較常見的單字。</a:t>
            </a:r>
            <a:endParaRPr lang="en-US" altLang="zh-TW" baseline="0" dirty="0" smtClean="0"/>
          </a:p>
          <a:p>
            <a:endParaRPr lang="en-US" altLang="zh-TW" baseline="0" dirty="0" smtClean="0"/>
          </a:p>
          <a:p>
            <a:r>
              <a:rPr lang="zh-TW" altLang="en-US" dirty="0" smtClean="0"/>
              <a:t>而</a:t>
            </a:r>
            <a:r>
              <a:rPr lang="en-US" altLang="zh-TW" dirty="0" smtClean="0"/>
              <a:t>Legal list</a:t>
            </a:r>
            <a:r>
              <a:rPr lang="zh-TW" altLang="en-US" dirty="0" smtClean="0"/>
              <a:t>裡面存放的是所有能夠輸入的可行解，限制使用者只能輸入真實存在的單字，或是真正能夠成立的等式。像是</a:t>
            </a:r>
            <a:r>
              <a:rPr lang="en-US" altLang="zh-TW" dirty="0" err="1" smtClean="0"/>
              <a:t>wordle</a:t>
            </a:r>
            <a:r>
              <a:rPr lang="zh-TW" altLang="en-US" dirty="0" smtClean="0"/>
              <a:t>限制只能輸入五個字母的單字，則</a:t>
            </a:r>
            <a:r>
              <a:rPr lang="en-US" altLang="zh-TW" dirty="0" smtClean="0"/>
              <a:t>legal</a:t>
            </a:r>
            <a:r>
              <a:rPr lang="en-US" altLang="zh-TW" baseline="0" dirty="0" smtClean="0"/>
              <a:t> list</a:t>
            </a:r>
            <a:r>
              <a:rPr lang="zh-TW" altLang="en-US" baseline="0" dirty="0" smtClean="0"/>
              <a:t>會包含像是</a:t>
            </a:r>
            <a:r>
              <a:rPr lang="en-US" altLang="zh-TW" baseline="0" dirty="0" smtClean="0"/>
              <a:t>water</a:t>
            </a:r>
            <a:r>
              <a:rPr lang="zh-TW" altLang="en-US" baseline="0" dirty="0" smtClean="0"/>
              <a:t>、</a:t>
            </a:r>
            <a:r>
              <a:rPr lang="en-US" altLang="zh-TW" baseline="0" dirty="0" smtClean="0"/>
              <a:t>clock</a:t>
            </a:r>
            <a:r>
              <a:rPr lang="zh-TW" altLang="en-US" baseline="0" dirty="0" smtClean="0"/>
              <a:t>、</a:t>
            </a:r>
            <a:r>
              <a:rPr lang="en-US" altLang="zh-TW" baseline="0" dirty="0" smtClean="0"/>
              <a:t>cycle</a:t>
            </a:r>
            <a:r>
              <a:rPr lang="zh-TW" altLang="en-US" baseline="0" dirty="0" smtClean="0"/>
              <a:t>等只有五個字母所組成的單字。</a:t>
            </a:r>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4</a:t>
            </a:fld>
            <a:endParaRPr lang="zh-TW" altLang="en-US"/>
          </a:p>
        </p:txBody>
      </p:sp>
    </p:spTree>
    <p:extLst>
      <p:ext uri="{BB962C8B-B14F-4D97-AF65-F5344CB8AC3E}">
        <p14:creationId xmlns:p14="http://schemas.microsoft.com/office/powerpoint/2010/main" val="1413347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而猜測答案的過程可以用一個</a:t>
            </a:r>
            <a:r>
              <a:rPr lang="en-US" altLang="zh-TW" dirty="0" smtClean="0"/>
              <a:t>game tree</a:t>
            </a:r>
            <a:r>
              <a:rPr lang="zh-TW" altLang="en-US" dirty="0" smtClean="0"/>
              <a:t>表示，這棵樹由</a:t>
            </a:r>
            <a:r>
              <a:rPr lang="en-US" altLang="zh-TW" dirty="0" smtClean="0"/>
              <a:t>state node</a:t>
            </a:r>
            <a:r>
              <a:rPr lang="zh-TW" altLang="en-US" dirty="0" smtClean="0"/>
              <a:t>和</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Chance nodes</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兩種節點所組成。</a:t>
            </a:r>
            <a:endPar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State node</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是一個集合，裡面包含剩餘的可能的解。</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Chance node</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則表示猜測過程中所選中的解，根據不同的</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response</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，這個</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chance node</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會生成新的</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State nodes</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這個例子中，雙重圈圈代表</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state node</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，單個圈圈代表</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chance</a:t>
            </a:r>
            <a:r>
              <a:rPr lang="en-US" altLang="zh-TW" sz="1200" baseline="0" dirty="0" smtClean="0">
                <a:latin typeface="Times New Roman" panose="02020603050405020304" pitchFamily="18" charset="0"/>
                <a:ea typeface="標楷體" panose="03000509000000000000" pitchFamily="65" charset="-120"/>
                <a:cs typeface="Times New Roman" panose="02020603050405020304" pitchFamily="18" charset="0"/>
              </a:rPr>
              <a:t> node</a:t>
            </a:r>
            <a:r>
              <a:rPr lang="zh-TW" altLang="en-US" sz="1200" baseline="0" dirty="0" smtClean="0">
                <a:latin typeface="Times New Roman" panose="02020603050405020304" pitchFamily="18" charset="0"/>
                <a:ea typeface="標楷體" panose="03000509000000000000" pitchFamily="65" charset="-120"/>
                <a:cs typeface="Times New Roman" panose="02020603050405020304" pitchFamily="18" charset="0"/>
              </a:rPr>
              <a:t>，假設從</a:t>
            </a:r>
            <a:r>
              <a:rPr lang="en-US" altLang="zh-TW" sz="1200" baseline="0" dirty="0" smtClean="0">
                <a:latin typeface="Times New Roman" panose="02020603050405020304" pitchFamily="18" charset="0"/>
                <a:ea typeface="標楷體" panose="03000509000000000000" pitchFamily="65" charset="-120"/>
                <a:cs typeface="Times New Roman" panose="02020603050405020304" pitchFamily="18" charset="0"/>
              </a:rPr>
              <a:t>state node</a:t>
            </a:r>
            <a:r>
              <a:rPr lang="zh-TW" altLang="en-US" sz="1200" baseline="0" dirty="0" smtClean="0">
                <a:latin typeface="Times New Roman" panose="02020603050405020304" pitchFamily="18" charset="0"/>
                <a:ea typeface="標楷體" panose="03000509000000000000" pitchFamily="65" charset="-120"/>
                <a:cs typeface="Times New Roman" panose="02020603050405020304" pitchFamily="18" charset="0"/>
              </a:rPr>
              <a:t>中選中了</a:t>
            </a:r>
            <a:r>
              <a:rPr lang="en-US" altLang="zh-TW" sz="1200" baseline="0" dirty="0" smtClean="0">
                <a:latin typeface="Times New Roman" panose="02020603050405020304" pitchFamily="18" charset="0"/>
                <a:ea typeface="標楷體" panose="03000509000000000000" pitchFamily="65" charset="-120"/>
                <a:cs typeface="Times New Roman" panose="02020603050405020304" pitchFamily="18" charset="0"/>
              </a:rPr>
              <a:t>front</a:t>
            </a:r>
            <a:r>
              <a:rPr lang="zh-TW" altLang="en-US" sz="1200" baseline="0" dirty="0" smtClean="0">
                <a:latin typeface="Times New Roman" panose="02020603050405020304" pitchFamily="18" charset="0"/>
                <a:ea typeface="標楷體" panose="03000509000000000000" pitchFamily="65" charset="-120"/>
                <a:cs typeface="Times New Roman" panose="02020603050405020304" pitchFamily="18" charset="0"/>
              </a:rPr>
              <a:t>這個單字，會依據這個單字可能的</a:t>
            </a:r>
            <a:r>
              <a:rPr lang="en-US" altLang="zh-TW" sz="1200" baseline="0" dirty="0" smtClean="0">
                <a:latin typeface="Times New Roman" panose="02020603050405020304" pitchFamily="18" charset="0"/>
                <a:ea typeface="標楷體" panose="03000509000000000000" pitchFamily="65" charset="-120"/>
                <a:cs typeface="Times New Roman" panose="02020603050405020304" pitchFamily="18" charset="0"/>
              </a:rPr>
              <a:t>response</a:t>
            </a:r>
            <a:r>
              <a:rPr lang="zh-TW" altLang="en-US" sz="1200" baseline="0" dirty="0" smtClean="0">
                <a:latin typeface="Times New Roman" panose="02020603050405020304" pitchFamily="18" charset="0"/>
                <a:ea typeface="標楷體" panose="03000509000000000000" pitchFamily="65" charset="-120"/>
                <a:cs typeface="Times New Roman" panose="02020603050405020304" pitchFamily="18" charset="0"/>
              </a:rPr>
              <a:t>去衍伸出新的</a:t>
            </a:r>
            <a:r>
              <a:rPr lang="en-US" altLang="zh-TW" sz="1200" baseline="0" dirty="0" smtClean="0">
                <a:latin typeface="Times New Roman" panose="02020603050405020304" pitchFamily="18" charset="0"/>
                <a:ea typeface="標楷體" panose="03000509000000000000" pitchFamily="65" charset="-120"/>
                <a:cs typeface="Times New Roman" panose="02020603050405020304" pitchFamily="18" charset="0"/>
              </a:rPr>
              <a:t>state node</a:t>
            </a:r>
            <a:r>
              <a:rPr lang="zh-TW" altLang="en-US" sz="1200" baseline="0" dirty="0" smtClean="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dirty="0" smtClean="0"/>
          </a:p>
          <a:p>
            <a:r>
              <a:rPr lang="zh-TW" altLang="en-US" dirty="0" smtClean="0"/>
              <a:t>而當</a:t>
            </a:r>
            <a:r>
              <a:rPr lang="en-US" altLang="zh-TW" dirty="0" smtClean="0"/>
              <a:t>state node</a:t>
            </a:r>
            <a:r>
              <a:rPr lang="zh-TW" altLang="en-US" dirty="0" smtClean="0"/>
              <a:t>集合中只剩下一個元素時，那就是這一題的答案。</a:t>
            </a:r>
            <a:endParaRPr lang="en-US" altLang="zh-TW" dirty="0" smtClean="0"/>
          </a:p>
          <a:p>
            <a:r>
              <a:rPr lang="zh-TW" altLang="en-US" dirty="0" smtClean="0"/>
              <a:t>而這種只有一個元素的</a:t>
            </a:r>
            <a:r>
              <a:rPr lang="en-US" altLang="zh-TW" dirty="0" smtClean="0"/>
              <a:t>state node</a:t>
            </a:r>
            <a:r>
              <a:rPr lang="zh-TW" altLang="en-US" dirty="0" smtClean="0"/>
              <a:t>就是作者想要達到的目標。</a:t>
            </a:r>
            <a:endParaRPr lang="en-US" altLang="zh-TW" dirty="0" smtClean="0"/>
          </a:p>
          <a:p>
            <a:endParaRPr lang="en-US" altLang="zh-TW" dirty="0" smtClean="0"/>
          </a:p>
          <a:p>
            <a:r>
              <a:rPr lang="zh-TW" altLang="en-US" dirty="0" smtClean="0"/>
              <a:t>為了在平均情況和最壞情況下以盡可能用最少的猜測次數找到答案，作者嘗試了兩種方法，分別是</a:t>
            </a:r>
            <a:r>
              <a:rPr lang="en-US" altLang="zh-TW" dirty="0" smtClean="0"/>
              <a:t>Greedy</a:t>
            </a:r>
            <a:r>
              <a:rPr lang="zh-TW" altLang="en-US" dirty="0" smtClean="0"/>
              <a:t>和</a:t>
            </a:r>
            <a:r>
              <a:rPr lang="en-US" altLang="zh-TW" dirty="0" smtClean="0"/>
              <a:t>search</a:t>
            </a:r>
            <a:r>
              <a:rPr lang="en-US" altLang="zh-TW" baseline="0" dirty="0" smtClean="0"/>
              <a:t> method</a:t>
            </a:r>
            <a:r>
              <a:rPr lang="zh-TW" altLang="en-US" baseline="0" dirty="0" smtClean="0"/>
              <a:t>。</a:t>
            </a:r>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5</a:t>
            </a:fld>
            <a:endParaRPr lang="zh-TW" altLang="en-US"/>
          </a:p>
        </p:txBody>
      </p:sp>
    </p:spTree>
    <p:extLst>
      <p:ext uri="{BB962C8B-B14F-4D97-AF65-F5344CB8AC3E}">
        <p14:creationId xmlns:p14="http://schemas.microsoft.com/office/powerpoint/2010/main" val="3223702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接下來先講</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TPOA</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TPOA</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原本是被設計來解決</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AB game </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和</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 Mastermind</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的。</a:t>
            </a:r>
            <a:endPar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主要策略是盡可能地減少展開節點的數量。</a:t>
            </a:r>
            <a:endPar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TPOA</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執行步驟分為探索階段和利用階段。探索階段的</a:t>
            </a:r>
            <a:r>
              <a:rPr lang="zh-TW" altLang="en-US" sz="1200" b="0" i="0" kern="1200" dirty="0" smtClean="0">
                <a:solidFill>
                  <a:schemeClr val="tx1"/>
                </a:solidFill>
                <a:effectLst/>
                <a:latin typeface="+mn-lt"/>
                <a:ea typeface="+mn-ea"/>
                <a:cs typeface="+mn-cs"/>
              </a:rPr>
              <a:t>目標是發現有潛力的解決方案，每一層會</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根據分支因子</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k</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去做擴展，而超過某個深度，則一次只擴展一個節點。</a:t>
            </a:r>
            <a:endPar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而</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TPOA</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又有兩個變體，一個是左邊的一個是右邊的，它們的差異在於</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TPOA+</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在探索階段，每一層都會展開</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k</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個節點，而</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TPOA</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*在探索階段時，每一層都會減少展開的節點數量。</a:t>
            </a:r>
            <a:endPar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dirty="0" smtClean="0"/>
              <a:t>k</a:t>
            </a:r>
            <a:r>
              <a:rPr lang="zh-TW" altLang="en-US" dirty="0" smtClean="0"/>
              <a:t>是分支因子的數量，</a:t>
            </a:r>
            <a:r>
              <a:rPr lang="en-US" altLang="zh-TW" dirty="0" smtClean="0"/>
              <a:t>d</a:t>
            </a:r>
            <a:r>
              <a:rPr lang="zh-TW" altLang="en-US" dirty="0" smtClean="0"/>
              <a:t>是樹的深度。</a:t>
            </a:r>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6</a:t>
            </a:fld>
            <a:endParaRPr lang="zh-TW" altLang="en-US"/>
          </a:p>
        </p:txBody>
      </p:sp>
    </p:spTree>
    <p:extLst>
      <p:ext uri="{BB962C8B-B14F-4D97-AF65-F5344CB8AC3E}">
        <p14:creationId xmlns:p14="http://schemas.microsoft.com/office/powerpoint/2010/main" val="3795286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TPOA</a:t>
            </a:r>
            <a:r>
              <a:rPr lang="zh-TW" altLang="en-US" dirty="0" smtClean="0"/>
              <a:t>有兩個</a:t>
            </a:r>
            <a:r>
              <a:rPr lang="en-US" altLang="zh-TW" dirty="0" smtClean="0"/>
              <a:t>hash function</a:t>
            </a:r>
            <a:r>
              <a:rPr lang="zh-TW" altLang="en-US" dirty="0" smtClean="0"/>
              <a:t>，</a:t>
            </a:r>
            <a:r>
              <a:rPr lang="en-US" altLang="zh-TW" dirty="0" smtClean="0"/>
              <a:t>Hash e</a:t>
            </a:r>
            <a:r>
              <a:rPr lang="zh-TW" altLang="en-US" dirty="0" smtClean="0"/>
              <a:t>和</a:t>
            </a:r>
            <a:r>
              <a:rPr lang="en-US" altLang="zh-TW" dirty="0" smtClean="0"/>
              <a:t>Hash w</a:t>
            </a:r>
            <a:r>
              <a:rPr lang="zh-TW" altLang="en-US" dirty="0" smtClean="0"/>
              <a:t>，它們的作用是</a:t>
            </a:r>
            <a:r>
              <a:rPr lang="zh-TW" altLang="en-US" sz="1200" dirty="0" smtClean="0"/>
              <a:t>將所有的單字分類到不同</a:t>
            </a:r>
            <a:r>
              <a:rPr lang="en-US" altLang="zh-TW" sz="1200" dirty="0" smtClean="0"/>
              <a:t>group</a:t>
            </a:r>
            <a:r>
              <a:rPr lang="zh-TW" altLang="en-US" sz="1200" dirty="0" smtClean="0"/>
              <a:t>，如果單字有相同的</a:t>
            </a:r>
            <a:r>
              <a:rPr lang="en-US" altLang="zh-TW" sz="1200" dirty="0" smtClean="0"/>
              <a:t>hash value</a:t>
            </a:r>
            <a:r>
              <a:rPr lang="zh-TW" altLang="en-US" sz="1200" dirty="0" smtClean="0"/>
              <a:t>，也就是說當兩個單字猜測過後獲得類似的響應分布，就會被分配到同一個</a:t>
            </a:r>
            <a:r>
              <a:rPr lang="en-US" altLang="zh-TW" sz="1200" dirty="0" smtClean="0"/>
              <a:t>hash collision group(HCG)</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aseline="0" dirty="0" smtClean="0">
                <a:latin typeface="Times New Roman" panose="02020603050405020304" pitchFamily="18" charset="0"/>
                <a:ea typeface="標楷體" panose="03000509000000000000" pitchFamily="65" charset="-120"/>
                <a:cs typeface="Times New Roman" panose="02020603050405020304" pitchFamily="18" charset="0"/>
              </a:rPr>
              <a:t>Expected </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Hash</a:t>
            </a:r>
            <a:r>
              <a:rPr lang="zh-TW" altLang="en-US" sz="1200" b="0" i="0" kern="1200" dirty="0" smtClean="0">
                <a:solidFill>
                  <a:schemeClr val="tx1"/>
                </a:solidFill>
                <a:effectLst/>
                <a:latin typeface="+mn-lt"/>
                <a:ea typeface="+mn-ea"/>
                <a:cs typeface="+mn-cs"/>
              </a:rPr>
              <a:t>期望情況下最小化遊戲樹的外部路徑長度，假設有人猜了一個單字，全部都灰色的次數有</a:t>
            </a:r>
            <a:r>
              <a:rPr lang="en-US" altLang="zh-TW" sz="1200" b="0" i="0" kern="1200" dirty="0" smtClean="0">
                <a:solidFill>
                  <a:schemeClr val="tx1"/>
                </a:solidFill>
                <a:effectLst/>
                <a:latin typeface="+mn-lt"/>
                <a:ea typeface="+mn-ea"/>
                <a:cs typeface="+mn-cs"/>
              </a:rPr>
              <a:t>3</a:t>
            </a:r>
            <a:r>
              <a:rPr lang="zh-TW" altLang="en-US" sz="1200" b="0" i="0" kern="1200" dirty="0" smtClean="0">
                <a:solidFill>
                  <a:schemeClr val="tx1"/>
                </a:solidFill>
                <a:effectLst/>
                <a:latin typeface="+mn-lt"/>
                <a:ea typeface="+mn-ea"/>
                <a:cs typeface="+mn-cs"/>
              </a:rPr>
              <a:t>次，有一個字猜</a:t>
            </a:r>
            <a:endParaRPr lang="en-US" altLang="zh-TW"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Worse hash</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的目標是減少</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game tree</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的高度，只關心有幾個不同的回應。</a:t>
            </a:r>
            <a:endPar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7</a:t>
            </a:fld>
            <a:endParaRPr lang="zh-TW" altLang="en-US"/>
          </a:p>
        </p:txBody>
      </p:sp>
    </p:spTree>
    <p:extLst>
      <p:ext uri="{BB962C8B-B14F-4D97-AF65-F5344CB8AC3E}">
        <p14:creationId xmlns:p14="http://schemas.microsoft.com/office/powerpoint/2010/main" val="3966510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smtClean="0">
                <a:solidFill>
                  <a:schemeClr val="tx1"/>
                </a:solidFill>
                <a:effectLst/>
                <a:latin typeface="+mn-lt"/>
                <a:ea typeface="+mn-ea"/>
                <a:cs typeface="+mn-cs"/>
              </a:rPr>
              <a:t>接下來是</a:t>
            </a:r>
            <a:r>
              <a:rPr lang="en-US" altLang="zh-TW" sz="1200" b="0" i="0" kern="1200" dirty="0" smtClean="0">
                <a:solidFill>
                  <a:schemeClr val="tx1"/>
                </a:solidFill>
                <a:effectLst/>
                <a:latin typeface="+mn-lt"/>
                <a:ea typeface="+mn-ea"/>
                <a:cs typeface="+mn-cs"/>
              </a:rPr>
              <a:t>entropy</a:t>
            </a:r>
            <a:r>
              <a:rPr lang="zh-TW" altLang="en-US" sz="1200" b="0" i="0" kern="1200" dirty="0" smtClean="0">
                <a:solidFill>
                  <a:schemeClr val="tx1"/>
                </a:solidFill>
                <a:effectLst/>
                <a:latin typeface="+mn-lt"/>
                <a:ea typeface="+mn-ea"/>
                <a:cs typeface="+mn-cs"/>
              </a:rPr>
              <a:t>的部分，下面兩張圖分別是兩個單字可能得到的</a:t>
            </a:r>
            <a:r>
              <a:rPr lang="en-US" altLang="zh-TW" sz="1200" b="0" i="0" kern="1200" dirty="0" smtClean="0">
                <a:solidFill>
                  <a:schemeClr val="tx1"/>
                </a:solidFill>
                <a:effectLst/>
                <a:latin typeface="+mn-lt"/>
                <a:ea typeface="+mn-ea"/>
                <a:cs typeface="+mn-cs"/>
              </a:rPr>
              <a:t>response</a:t>
            </a:r>
            <a:r>
              <a:rPr lang="zh-TW" altLang="en-US" sz="1200" b="0" i="0" kern="1200" dirty="0" smtClean="0">
                <a:solidFill>
                  <a:schemeClr val="tx1"/>
                </a:solidFill>
                <a:effectLst/>
                <a:latin typeface="+mn-lt"/>
                <a:ea typeface="+mn-ea"/>
                <a:cs typeface="+mn-cs"/>
              </a:rPr>
              <a:t>，假設猜測</a:t>
            </a:r>
            <a:r>
              <a:rPr lang="en-US" altLang="zh-TW" sz="1200" b="0" i="0" kern="1200" dirty="0" smtClean="0">
                <a:solidFill>
                  <a:schemeClr val="tx1"/>
                </a:solidFill>
                <a:effectLst/>
                <a:latin typeface="+mn-lt"/>
                <a:ea typeface="+mn-ea"/>
                <a:cs typeface="+mn-cs"/>
              </a:rPr>
              <a:t>weary</a:t>
            </a:r>
            <a:r>
              <a:rPr lang="zh-TW" altLang="en-US" sz="1200" b="0" i="0" kern="1200" dirty="0" smtClean="0">
                <a:solidFill>
                  <a:schemeClr val="tx1"/>
                </a:solidFill>
                <a:effectLst/>
                <a:latin typeface="+mn-lt"/>
                <a:ea typeface="+mn-ea"/>
                <a:cs typeface="+mn-cs"/>
              </a:rPr>
              <a:t>，在這裡會針對</a:t>
            </a:r>
            <a:r>
              <a:rPr lang="en-US" altLang="zh-TW" sz="1200" b="0" i="0" kern="1200" dirty="0" smtClean="0">
                <a:solidFill>
                  <a:schemeClr val="tx1"/>
                </a:solidFill>
                <a:effectLst/>
                <a:latin typeface="+mn-lt"/>
                <a:ea typeface="+mn-ea"/>
                <a:cs typeface="+mn-cs"/>
              </a:rPr>
              <a:t>weary</a:t>
            </a:r>
            <a:r>
              <a:rPr lang="zh-TW" altLang="en-US" sz="1200" b="0" i="0" kern="1200" dirty="0" smtClean="0">
                <a:solidFill>
                  <a:schemeClr val="tx1"/>
                </a:solidFill>
                <a:effectLst/>
                <a:latin typeface="+mn-lt"/>
                <a:ea typeface="+mn-ea"/>
                <a:cs typeface="+mn-cs"/>
              </a:rPr>
              <a:t>可能會得到的</a:t>
            </a:r>
            <a:r>
              <a:rPr lang="en-US" altLang="zh-TW" sz="1200" b="0" i="0" kern="1200" dirty="0" smtClean="0">
                <a:solidFill>
                  <a:schemeClr val="tx1"/>
                </a:solidFill>
                <a:effectLst/>
                <a:latin typeface="+mn-lt"/>
                <a:ea typeface="+mn-ea"/>
                <a:cs typeface="+mn-cs"/>
              </a:rPr>
              <a:t>response</a:t>
            </a:r>
            <a:r>
              <a:rPr lang="zh-TW" altLang="en-US" sz="1200" b="0" i="0" kern="1200" dirty="0" smtClean="0">
                <a:solidFill>
                  <a:schemeClr val="tx1"/>
                </a:solidFill>
                <a:effectLst/>
                <a:latin typeface="+mn-lt"/>
                <a:ea typeface="+mn-ea"/>
                <a:cs typeface="+mn-cs"/>
              </a:rPr>
              <a:t>去列出所有可能，全部都是灰色的機率差不多是</a:t>
            </a:r>
            <a:r>
              <a:rPr lang="en-US" altLang="zh-TW" sz="1200" b="0" i="0" kern="1200" dirty="0" smtClean="0">
                <a:solidFill>
                  <a:schemeClr val="tx1"/>
                </a:solidFill>
                <a:effectLst/>
                <a:latin typeface="+mn-lt"/>
                <a:ea typeface="+mn-ea"/>
                <a:cs typeface="+mn-cs"/>
              </a:rPr>
              <a:t>14 percent</a:t>
            </a:r>
            <a:r>
              <a:rPr lang="zh-TW" altLang="en-US" sz="1200" b="0" i="0" kern="1200" dirty="0" smtClean="0">
                <a:solidFill>
                  <a:schemeClr val="tx1"/>
                </a:solidFill>
                <a:effectLst/>
                <a:latin typeface="+mn-lt"/>
                <a:ea typeface="+mn-ea"/>
                <a:cs typeface="+mn-cs"/>
              </a:rPr>
              <a:t>，四個灰色、一個位置放錯的機率是</a:t>
            </a:r>
            <a:r>
              <a:rPr lang="en-US" altLang="zh-TW" sz="1200" b="0" i="0" kern="1200" dirty="0" smtClean="0">
                <a:solidFill>
                  <a:schemeClr val="tx1"/>
                </a:solidFill>
                <a:effectLst/>
                <a:latin typeface="+mn-lt"/>
                <a:ea typeface="+mn-ea"/>
                <a:cs typeface="+mn-cs"/>
              </a:rPr>
              <a:t>4 percent</a:t>
            </a:r>
            <a:r>
              <a:rPr lang="zh-TW" altLang="en-US" sz="1200" b="0" i="0" kern="1200" dirty="0" smtClean="0">
                <a:solidFill>
                  <a:schemeClr val="tx1"/>
                </a:solidFill>
                <a:effectLst/>
                <a:latin typeface="+mn-lt"/>
                <a:ea typeface="+mn-ea"/>
                <a:cs typeface="+mn-cs"/>
              </a:rPr>
              <a:t>左右。</a:t>
            </a:r>
            <a:endParaRPr lang="en-US" altLang="zh-TW"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smtClean="0">
                <a:solidFill>
                  <a:schemeClr val="tx1"/>
                </a:solidFill>
                <a:effectLst/>
                <a:latin typeface="+mn-lt"/>
                <a:ea typeface="+mn-ea"/>
                <a:cs typeface="+mn-cs"/>
              </a:rPr>
              <a:t>每個狀況發生的機率都差不多時，商值越高，也就是說，</a:t>
            </a:r>
            <a:r>
              <a:rPr lang="zh-TW" altLang="en-US" dirty="0" smtClean="0"/>
              <a:t>當分布月平坦，商就越高</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smtClean="0">
                <a:solidFill>
                  <a:schemeClr val="tx1"/>
                </a:solidFill>
                <a:effectLst/>
                <a:latin typeface="+mn-lt"/>
                <a:ea typeface="+mn-ea"/>
                <a:cs typeface="+mn-cs"/>
              </a:rPr>
              <a:t>這個研究使用</a:t>
            </a:r>
            <a:r>
              <a:rPr lang="en-US" altLang="zh-TW" sz="1200" b="0" i="0" kern="1200" dirty="0" smtClean="0">
                <a:solidFill>
                  <a:schemeClr val="tx1"/>
                </a:solidFill>
                <a:effectLst/>
                <a:latin typeface="+mn-lt"/>
                <a:ea typeface="+mn-ea"/>
                <a:cs typeface="+mn-cs"/>
              </a:rPr>
              <a:t>entropy</a:t>
            </a:r>
            <a:r>
              <a:rPr lang="zh-TW" altLang="en-US" sz="1200" b="0" i="0" kern="1200" dirty="0" smtClean="0">
                <a:solidFill>
                  <a:schemeClr val="tx1"/>
                </a:solidFill>
                <a:effectLst/>
                <a:latin typeface="+mn-lt"/>
                <a:ea typeface="+mn-ea"/>
                <a:cs typeface="+mn-cs"/>
              </a:rPr>
              <a:t>的</a:t>
            </a:r>
            <a:r>
              <a:rPr lang="zh-CN" altLang="en-US" sz="1200" b="0" i="0" kern="1200" dirty="0" smtClean="0">
                <a:solidFill>
                  <a:schemeClr val="tx1"/>
                </a:solidFill>
                <a:effectLst/>
                <a:latin typeface="+mn-lt"/>
                <a:ea typeface="+mn-ea"/>
                <a:cs typeface="+mn-cs"/>
              </a:rPr>
              <a:t>核心</a:t>
            </a:r>
            <a:r>
              <a:rPr lang="zh-TW" altLang="en-US" sz="1200" b="0" i="0" kern="1200" dirty="0" smtClean="0">
                <a:solidFill>
                  <a:schemeClr val="tx1"/>
                </a:solidFill>
                <a:effectLst/>
                <a:latin typeface="+mn-lt"/>
                <a:ea typeface="+mn-ea"/>
                <a:cs typeface="+mn-cs"/>
              </a:rPr>
              <a:t>概念</a:t>
            </a:r>
            <a:r>
              <a:rPr lang="zh-CN" altLang="en-US" sz="1200" b="0" i="0" kern="1200" dirty="0" smtClean="0">
                <a:solidFill>
                  <a:schemeClr val="tx1"/>
                </a:solidFill>
                <a:effectLst/>
                <a:latin typeface="+mn-lt"/>
                <a:ea typeface="+mn-ea"/>
                <a:cs typeface="+mn-cs"/>
              </a:rPr>
              <a:t>是</a:t>
            </a:r>
            <a:r>
              <a:rPr lang="zh-TW" altLang="en-US"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在每一</a:t>
            </a:r>
            <a:r>
              <a:rPr lang="zh-TW" altLang="en-US" sz="1200" b="0" i="0" kern="1200" dirty="0" smtClean="0">
                <a:solidFill>
                  <a:schemeClr val="tx1"/>
                </a:solidFill>
                <a:effectLst/>
                <a:latin typeface="+mn-lt"/>
                <a:ea typeface="+mn-ea"/>
                <a:cs typeface="+mn-cs"/>
              </a:rPr>
              <a:t>輪猜測</a:t>
            </a:r>
            <a:r>
              <a:rPr lang="zh-CN" altLang="en-US" sz="1200" b="0" i="0" kern="1200" dirty="0" smtClean="0">
                <a:solidFill>
                  <a:schemeClr val="tx1"/>
                </a:solidFill>
                <a:effectLst/>
                <a:latin typeface="+mn-lt"/>
                <a:ea typeface="+mn-ea"/>
                <a:cs typeface="+mn-cs"/>
              </a:rPr>
              <a:t>中</a:t>
            </a:r>
            <a:r>
              <a:rPr lang="zh-TW" altLang="en-US" sz="1200" b="0" i="0" kern="1200" dirty="0" smtClean="0">
                <a:solidFill>
                  <a:schemeClr val="tx1"/>
                </a:solidFill>
                <a:effectLst/>
                <a:latin typeface="+mn-lt"/>
                <a:ea typeface="+mn-ea"/>
                <a:cs typeface="+mn-cs"/>
              </a:rPr>
              <a:t>，選擇</a:t>
            </a:r>
            <a:r>
              <a:rPr lang="zh-CN" altLang="en-US" sz="1200" b="0" i="0" kern="1200" dirty="0" smtClean="0">
                <a:solidFill>
                  <a:schemeClr val="tx1"/>
                </a:solidFill>
                <a:effectLst/>
                <a:latin typeface="+mn-lt"/>
                <a:ea typeface="+mn-ea"/>
                <a:cs typeface="+mn-cs"/>
              </a:rPr>
              <a:t>能</a:t>
            </a:r>
            <a:r>
              <a:rPr lang="zh-TW" altLang="en-US" sz="1200" b="0" i="0" kern="1200" dirty="0" smtClean="0">
                <a:solidFill>
                  <a:schemeClr val="tx1"/>
                </a:solidFill>
                <a:effectLst/>
                <a:latin typeface="+mn-lt"/>
                <a:ea typeface="+mn-ea"/>
                <a:cs typeface="+mn-cs"/>
              </a:rPr>
              <a:t>夠</a:t>
            </a:r>
            <a:r>
              <a:rPr lang="zh-CN" altLang="en-US" sz="1200" b="0" i="0" kern="1200" dirty="0" smtClean="0">
                <a:solidFill>
                  <a:schemeClr val="tx1"/>
                </a:solidFill>
                <a:effectLst/>
                <a:latin typeface="+mn-lt"/>
                <a:ea typeface="+mn-ea"/>
                <a:cs typeface="+mn-cs"/>
              </a:rPr>
              <a:t>提供最多期望</a:t>
            </a:r>
            <a:r>
              <a:rPr lang="zh-TW" altLang="en-US" sz="1200" b="0" i="0" kern="1200" dirty="0" smtClean="0">
                <a:solidFill>
                  <a:schemeClr val="tx1"/>
                </a:solidFill>
                <a:effectLst/>
                <a:latin typeface="+mn-lt"/>
                <a:ea typeface="+mn-ea"/>
                <a:cs typeface="+mn-cs"/>
              </a:rPr>
              <a:t>訊息</a:t>
            </a:r>
            <a:r>
              <a:rPr lang="zh-CN" altLang="en-US" sz="1200" b="0" i="0" kern="1200" dirty="0" smtClean="0">
                <a:solidFill>
                  <a:schemeClr val="tx1"/>
                </a:solidFill>
                <a:effectLst/>
                <a:latin typeface="+mn-lt"/>
                <a:ea typeface="+mn-ea"/>
                <a:cs typeface="+mn-cs"/>
              </a:rPr>
              <a:t>的</a:t>
            </a:r>
            <a:r>
              <a:rPr lang="zh-TW" altLang="en-US" sz="1200" b="0" i="0" kern="1200" dirty="0" smtClean="0">
                <a:solidFill>
                  <a:schemeClr val="tx1"/>
                </a:solidFill>
                <a:effectLst/>
                <a:latin typeface="+mn-lt"/>
                <a:ea typeface="+mn-ea"/>
                <a:cs typeface="+mn-cs"/>
              </a:rPr>
              <a:t>單字</a:t>
            </a:r>
            <a:r>
              <a:rPr lang="zh-CN" altLang="en-US" sz="1200" b="0" i="0" kern="1200" dirty="0" smtClean="0">
                <a:solidFill>
                  <a:schemeClr val="tx1"/>
                </a:solidFill>
                <a:effectLst/>
                <a:latin typeface="+mn-lt"/>
                <a:ea typeface="+mn-ea"/>
                <a:cs typeface="+mn-cs"/>
              </a:rPr>
              <a:t>，使</a:t>
            </a:r>
            <a:r>
              <a:rPr lang="zh-TW" altLang="en-US" sz="1200" b="0" i="0" kern="1200" dirty="0" smtClean="0">
                <a:solidFill>
                  <a:schemeClr val="tx1"/>
                </a:solidFill>
                <a:effectLst/>
                <a:latin typeface="+mn-lt"/>
                <a:ea typeface="+mn-ea"/>
                <a:cs typeface="+mn-cs"/>
              </a:rPr>
              <a:t>剩餘</a:t>
            </a:r>
            <a:r>
              <a:rPr lang="zh-CN" altLang="en-US" sz="1200" b="0" i="0" kern="1200" dirty="0" smtClean="0">
                <a:solidFill>
                  <a:schemeClr val="tx1"/>
                </a:solidFill>
                <a:effectLst/>
                <a:latin typeface="+mn-lt"/>
                <a:ea typeface="+mn-ea"/>
                <a:cs typeface="+mn-cs"/>
              </a:rPr>
              <a:t>的不</a:t>
            </a:r>
            <a:r>
              <a:rPr lang="zh-TW" altLang="en-US" sz="1200" b="0" i="0" kern="1200" dirty="0" smtClean="0">
                <a:solidFill>
                  <a:schemeClr val="tx1"/>
                </a:solidFill>
                <a:effectLst/>
                <a:latin typeface="+mn-lt"/>
                <a:ea typeface="+mn-ea"/>
                <a:cs typeface="+mn-cs"/>
              </a:rPr>
              <a:t>確定</a:t>
            </a:r>
            <a:r>
              <a:rPr lang="zh-CN" altLang="en-US" sz="1200" b="0" i="0" kern="1200" dirty="0" smtClean="0">
                <a:solidFill>
                  <a:schemeClr val="tx1"/>
                </a:solidFill>
                <a:effectLst/>
                <a:latin typeface="+mn-lt"/>
                <a:ea typeface="+mn-ea"/>
                <a:cs typeface="+mn-cs"/>
              </a:rPr>
              <a:t>性</a:t>
            </a:r>
            <a:r>
              <a:rPr lang="zh-TW" altLang="en-US" sz="1200" b="0" i="0" kern="1200" dirty="0" smtClean="0">
                <a:solidFill>
                  <a:schemeClr val="tx1"/>
                </a:solidFill>
                <a:effectLst/>
                <a:latin typeface="+mn-lt"/>
                <a:ea typeface="+mn-ea"/>
                <a:cs typeface="+mn-cs"/>
              </a:rPr>
              <a:t>盡</a:t>
            </a:r>
            <a:r>
              <a:rPr lang="zh-CN" altLang="en-US" sz="1200" b="0" i="0" kern="1200" dirty="0" smtClean="0">
                <a:solidFill>
                  <a:schemeClr val="tx1"/>
                </a:solidFill>
                <a:effectLst/>
                <a:latin typeface="+mn-lt"/>
                <a:ea typeface="+mn-ea"/>
                <a:cs typeface="+mn-cs"/>
              </a:rPr>
              <a:t>可能地降低。</a:t>
            </a: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smtClean="0">
                <a:solidFill>
                  <a:schemeClr val="tx1"/>
                </a:solidFill>
                <a:effectLst/>
                <a:latin typeface="+mn-lt"/>
                <a:ea typeface="+mn-ea"/>
                <a:cs typeface="+mn-cs"/>
              </a:rPr>
              <a:t>像是選擇出現頻率高的字母，像是</a:t>
            </a:r>
            <a:r>
              <a:rPr lang="en-US" altLang="zh-TW" sz="1200" b="0" i="0" kern="1200" dirty="0" smtClean="0">
                <a:solidFill>
                  <a:schemeClr val="tx1"/>
                </a:solidFill>
                <a:effectLst/>
                <a:latin typeface="+mn-lt"/>
                <a:ea typeface="+mn-ea"/>
                <a:cs typeface="+mn-cs"/>
              </a:rPr>
              <a:t>S</a:t>
            </a:r>
            <a:r>
              <a:rPr lang="zh-TW" altLang="en-US" sz="1200" b="0" i="0" kern="1200" dirty="0" smtClean="0">
                <a:solidFill>
                  <a:schemeClr val="tx1"/>
                </a:solidFill>
                <a:effectLst/>
                <a:latin typeface="+mn-lt"/>
                <a:ea typeface="+mn-ea"/>
                <a:cs typeface="+mn-cs"/>
              </a:rPr>
              <a:t>、</a:t>
            </a:r>
            <a:r>
              <a:rPr lang="en-US" altLang="zh-TW" sz="1200" b="0" i="0" kern="1200" dirty="0" smtClean="0">
                <a:solidFill>
                  <a:schemeClr val="tx1"/>
                </a:solidFill>
                <a:effectLst/>
                <a:latin typeface="+mn-lt"/>
                <a:ea typeface="+mn-ea"/>
                <a:cs typeface="+mn-cs"/>
              </a:rPr>
              <a:t>L</a:t>
            </a:r>
            <a:r>
              <a:rPr lang="zh-TW" altLang="en-US" sz="1200" b="0" i="0" kern="1200" dirty="0" smtClean="0">
                <a:solidFill>
                  <a:schemeClr val="tx1"/>
                </a:solidFill>
                <a:effectLst/>
                <a:latin typeface="+mn-lt"/>
                <a:ea typeface="+mn-ea"/>
                <a:cs typeface="+mn-cs"/>
              </a:rPr>
              <a:t>、</a:t>
            </a:r>
            <a:r>
              <a:rPr lang="en-US" altLang="zh-TW" sz="1200" b="0" i="0" kern="1200" dirty="0" smtClean="0">
                <a:solidFill>
                  <a:schemeClr val="tx1"/>
                </a:solidFill>
                <a:effectLst/>
                <a:latin typeface="+mn-lt"/>
                <a:ea typeface="+mn-ea"/>
                <a:cs typeface="+mn-cs"/>
              </a:rPr>
              <a:t>A</a:t>
            </a:r>
            <a:r>
              <a:rPr lang="zh-TW" altLang="en-US" sz="1200" b="0" i="0" kern="1200" dirty="0" smtClean="0">
                <a:solidFill>
                  <a:schemeClr val="tx1"/>
                </a:solidFill>
                <a:effectLst/>
                <a:latin typeface="+mn-lt"/>
                <a:ea typeface="+mn-ea"/>
                <a:cs typeface="+mn-cs"/>
              </a:rPr>
              <a:t>這些，而不去選擇</a:t>
            </a:r>
            <a:r>
              <a:rPr lang="en-US" altLang="zh-TW" sz="1200" b="0" i="0" kern="1200" dirty="0" smtClean="0">
                <a:solidFill>
                  <a:schemeClr val="tx1"/>
                </a:solidFill>
                <a:effectLst/>
                <a:latin typeface="+mn-lt"/>
                <a:ea typeface="+mn-ea"/>
                <a:cs typeface="+mn-cs"/>
              </a:rPr>
              <a:t>X</a:t>
            </a:r>
            <a:r>
              <a:rPr lang="zh-TW" altLang="en-US" sz="1200" b="0" i="0" kern="1200" dirty="0" smtClean="0">
                <a:solidFill>
                  <a:schemeClr val="tx1"/>
                </a:solidFill>
                <a:effectLst/>
                <a:latin typeface="+mn-lt"/>
                <a:ea typeface="+mn-ea"/>
                <a:cs typeface="+mn-cs"/>
              </a:rPr>
              <a:t>、</a:t>
            </a:r>
            <a:r>
              <a:rPr lang="en-US" altLang="zh-TW" sz="1200" b="0" i="0" kern="1200" dirty="0" smtClean="0">
                <a:solidFill>
                  <a:schemeClr val="tx1"/>
                </a:solidFill>
                <a:effectLst/>
                <a:latin typeface="+mn-lt"/>
                <a:ea typeface="+mn-ea"/>
                <a:cs typeface="+mn-cs"/>
              </a:rPr>
              <a:t>Y</a:t>
            </a:r>
            <a:r>
              <a:rPr lang="zh-TW" altLang="en-US" sz="1200" b="0" i="0" kern="1200" dirty="0" smtClean="0">
                <a:solidFill>
                  <a:schemeClr val="tx1"/>
                </a:solidFill>
                <a:effectLst/>
                <a:latin typeface="+mn-lt"/>
                <a:ea typeface="+mn-ea"/>
                <a:cs typeface="+mn-cs"/>
              </a:rPr>
              <a:t>、</a:t>
            </a:r>
            <a:r>
              <a:rPr lang="en-US" altLang="zh-TW" sz="1200" b="0" i="0" kern="1200" dirty="0" smtClean="0">
                <a:solidFill>
                  <a:schemeClr val="tx1"/>
                </a:solidFill>
                <a:effectLst/>
                <a:latin typeface="+mn-lt"/>
                <a:ea typeface="+mn-ea"/>
                <a:cs typeface="+mn-cs"/>
              </a:rPr>
              <a:t>Z</a:t>
            </a:r>
            <a:r>
              <a:rPr lang="zh-TW" altLang="en-US" sz="1200" b="0" i="0" kern="1200" dirty="0" smtClean="0">
                <a:solidFill>
                  <a:schemeClr val="tx1"/>
                </a:solidFill>
                <a:effectLst/>
                <a:latin typeface="+mn-lt"/>
                <a:ea typeface="+mn-ea"/>
                <a:cs typeface="+mn-cs"/>
              </a:rPr>
              <a:t>那種出現頻率比較低的字母。</a:t>
            </a:r>
            <a:endParaRPr lang="en-US" altLang="zh-TW"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smtClean="0">
                <a:solidFill>
                  <a:schemeClr val="tx1"/>
                </a:solidFill>
                <a:effectLst/>
                <a:latin typeface="+mn-lt"/>
                <a:ea typeface="+mn-ea"/>
                <a:cs typeface="+mn-cs"/>
              </a:rPr>
              <a:t>也就是說，從單字</a:t>
            </a:r>
            <a:r>
              <a:rPr lang="zh-CN" altLang="en-US" sz="1200" b="0" i="0" kern="1200" dirty="0" smtClean="0">
                <a:solidFill>
                  <a:schemeClr val="tx1"/>
                </a:solidFill>
                <a:effectLst/>
                <a:latin typeface="+mn-lt"/>
                <a:ea typeface="+mn-ea"/>
                <a:cs typeface="+mn-cs"/>
              </a:rPr>
              <a:t>所提供的</a:t>
            </a:r>
            <a:r>
              <a:rPr lang="zh-TW" altLang="en-US" sz="1200" b="0" i="0" kern="1200" dirty="0" smtClean="0">
                <a:solidFill>
                  <a:schemeClr val="tx1"/>
                </a:solidFill>
                <a:effectLst/>
                <a:latin typeface="+mn-lt"/>
                <a:ea typeface="+mn-ea"/>
                <a:cs typeface="+mn-cs"/>
              </a:rPr>
              <a:t>訊息</a:t>
            </a:r>
            <a:r>
              <a:rPr lang="zh-CN" altLang="en-US" sz="1200" b="0" i="0" kern="1200" dirty="0" smtClean="0">
                <a:solidFill>
                  <a:schemeClr val="tx1"/>
                </a:solidFill>
                <a:effectLst/>
                <a:latin typeface="+mn-lt"/>
                <a:ea typeface="+mn-ea"/>
                <a:cs typeface="+mn-cs"/>
              </a:rPr>
              <a:t>量</a:t>
            </a:r>
            <a:r>
              <a:rPr lang="zh-TW" altLang="en-US" sz="1200" b="0" i="0" kern="1200" dirty="0" smtClean="0">
                <a:solidFill>
                  <a:schemeClr val="tx1"/>
                </a:solidFill>
                <a:effectLst/>
                <a:latin typeface="+mn-lt"/>
                <a:ea typeface="+mn-ea"/>
                <a:cs typeface="+mn-cs"/>
              </a:rPr>
              <a:t>去進行猜測</a:t>
            </a:r>
            <a:r>
              <a:rPr lang="zh-CN" altLang="en-US" sz="1200" b="0" i="0" kern="1200" dirty="0" smtClean="0">
                <a:solidFill>
                  <a:schemeClr val="tx1"/>
                </a:solidFill>
                <a:effectLst/>
                <a:latin typeface="+mn-lt"/>
                <a:ea typeface="+mn-ea"/>
                <a:cs typeface="+mn-cs"/>
              </a:rPr>
              <a:t>，以便在</a:t>
            </a:r>
            <a:r>
              <a:rPr lang="zh-TW" altLang="en-US" sz="1200" b="0" i="0" kern="1200" dirty="0" smtClean="0">
                <a:solidFill>
                  <a:schemeClr val="tx1"/>
                </a:solidFill>
                <a:effectLst/>
                <a:latin typeface="+mn-lt"/>
                <a:ea typeface="+mn-ea"/>
                <a:cs typeface="+mn-cs"/>
              </a:rPr>
              <a:t>遊戲過程</a:t>
            </a:r>
            <a:r>
              <a:rPr lang="zh-CN" altLang="en-US" sz="1200" b="0" i="0" kern="1200" dirty="0" smtClean="0">
                <a:solidFill>
                  <a:schemeClr val="tx1"/>
                </a:solidFill>
                <a:effectLst/>
                <a:latin typeface="+mn-lt"/>
                <a:ea typeface="+mn-ea"/>
                <a:cs typeface="+mn-cs"/>
              </a:rPr>
              <a:t>中</a:t>
            </a:r>
            <a:r>
              <a:rPr lang="zh-TW" altLang="en-US" sz="1200" b="0" i="0" kern="1200" dirty="0" smtClean="0">
                <a:solidFill>
                  <a:schemeClr val="tx1"/>
                </a:solidFill>
                <a:effectLst/>
                <a:latin typeface="+mn-lt"/>
                <a:ea typeface="+mn-ea"/>
                <a:cs typeface="+mn-cs"/>
              </a:rPr>
              <a:t>達到最好的猜測策略</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smtClean="0">
                <a:solidFill>
                  <a:schemeClr val="tx1"/>
                </a:solidFill>
                <a:effectLst/>
                <a:latin typeface="+mn-lt"/>
                <a:ea typeface="+mn-ea"/>
                <a:cs typeface="+mn-cs"/>
              </a:rPr>
              <a:t>圖片是兩個單字在不同的結果的機率分布。</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橫軸是這個單字所有的結果，像是五個全都沒中就是五個灰色，而縱軸是那個情況發生的機率。例如，</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list</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中總共有</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12972</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個單字，</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WEARY</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一個字母都沒猜中的機率差不多是</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14%</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8</a:t>
            </a:fld>
            <a:endParaRPr lang="zh-TW" altLang="en-US"/>
          </a:p>
        </p:txBody>
      </p:sp>
    </p:spTree>
    <p:extLst>
      <p:ext uri="{BB962C8B-B14F-4D97-AF65-F5344CB8AC3E}">
        <p14:creationId xmlns:p14="http://schemas.microsoft.com/office/powerpoint/2010/main" val="2910691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當分布月平坦，商就越高</a:t>
            </a:r>
            <a:endParaRPr lang="en-US" altLang="zh-TW" dirty="0" smtClean="0"/>
          </a:p>
          <a:p>
            <a:r>
              <a:rPr lang="zh-TW" altLang="en-US" dirty="0" smtClean="0"/>
              <a:t>接下來是作者之前的研究，他將</a:t>
            </a:r>
            <a:r>
              <a:rPr lang="en-US" altLang="zh-TW" dirty="0" smtClean="0"/>
              <a:t>entropy</a:t>
            </a:r>
            <a:r>
              <a:rPr lang="zh-TW" altLang="en-US" dirty="0" smtClean="0"/>
              <a:t>的概念引入</a:t>
            </a:r>
            <a:r>
              <a:rPr lang="en-US" altLang="zh-TW" dirty="0" smtClean="0"/>
              <a:t>greedy</a:t>
            </a:r>
            <a:r>
              <a:rPr lang="zh-TW" altLang="en-US" dirty="0" smtClean="0"/>
              <a:t>，上面這個是最之前的顏就，下面這個是比較新的。</a:t>
            </a:r>
            <a:endParaRPr lang="en-US" altLang="zh-TW" dirty="0" smtClean="0"/>
          </a:p>
          <a:p>
            <a:endParaRPr lang="en-US" altLang="zh-TW" dirty="0" smtClean="0"/>
          </a:p>
          <a:p>
            <a:r>
              <a:rPr lang="en-US" altLang="zh-TW" dirty="0" smtClean="0"/>
              <a:t>G-V1</a:t>
            </a:r>
            <a:r>
              <a:rPr lang="zh-TW" altLang="en-US" dirty="0" smtClean="0"/>
              <a:t>會挑選</a:t>
            </a:r>
            <a:r>
              <a:rPr lang="en-US" altLang="zh-TW" dirty="0" smtClean="0"/>
              <a:t>entropy</a:t>
            </a:r>
            <a:r>
              <a:rPr lang="zh-TW" altLang="en-US" dirty="0" smtClean="0"/>
              <a:t>最大的作為下一次猜測。</a:t>
            </a:r>
            <a:endParaRPr lang="en-US" altLang="zh-TW" dirty="0" smtClean="0"/>
          </a:p>
          <a:p>
            <a:endParaRPr lang="en-US" altLang="zh-TW" dirty="0" smtClean="0"/>
          </a:p>
          <a:p>
            <a:r>
              <a:rPr lang="en-US" altLang="zh-TW" dirty="0" smtClean="0"/>
              <a:t>G-V4</a:t>
            </a:r>
            <a:r>
              <a:rPr lang="zh-TW" altLang="en-US" dirty="0" smtClean="0"/>
              <a:t>也是挑選</a:t>
            </a:r>
            <a:r>
              <a:rPr lang="en-US" altLang="zh-TW" dirty="0" smtClean="0"/>
              <a:t>entropy</a:t>
            </a:r>
            <a:r>
              <a:rPr lang="zh-TW" altLang="en-US" dirty="0" smtClean="0"/>
              <a:t>最大的作為下一次行動，但會</a:t>
            </a:r>
            <a:r>
              <a:rPr lang="zh-TW" altLang="en-US" sz="1200" b="0" i="0" kern="1200" dirty="0" smtClean="0">
                <a:solidFill>
                  <a:schemeClr val="tx1"/>
                </a:solidFill>
                <a:effectLst/>
                <a:latin typeface="+mn-lt"/>
                <a:ea typeface="+mn-ea"/>
                <a:cs typeface="+mn-cs"/>
              </a:rPr>
              <a:t>設定一個閾值，當剩餘可能答案集合的最大</a:t>
            </a:r>
            <a:r>
              <a:rPr lang="en-US" altLang="zh-TW" sz="1200" b="0" i="0" kern="1200" dirty="0" smtClean="0">
                <a:solidFill>
                  <a:schemeClr val="tx1"/>
                </a:solidFill>
                <a:effectLst/>
                <a:latin typeface="+mn-lt"/>
                <a:ea typeface="+mn-ea"/>
                <a:cs typeface="+mn-cs"/>
              </a:rPr>
              <a:t>entropy</a:t>
            </a:r>
            <a:r>
              <a:rPr lang="zh-TW" altLang="en-US" sz="1200" b="0" i="0" kern="1200" dirty="0" smtClean="0">
                <a:solidFill>
                  <a:schemeClr val="tx1"/>
                </a:solidFill>
                <a:effectLst/>
                <a:latin typeface="+mn-lt"/>
                <a:ea typeface="+mn-ea"/>
                <a:cs typeface="+mn-cs"/>
              </a:rPr>
              <a:t>低於閾值時，會再次考慮所有猜測。</a:t>
            </a:r>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9</a:t>
            </a:fld>
            <a:endParaRPr lang="zh-TW" altLang="en-US"/>
          </a:p>
        </p:txBody>
      </p:sp>
    </p:spTree>
    <p:extLst>
      <p:ext uri="{BB962C8B-B14F-4D97-AF65-F5344CB8AC3E}">
        <p14:creationId xmlns:p14="http://schemas.microsoft.com/office/powerpoint/2010/main" val="1263100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作者最後選用了</a:t>
            </a:r>
            <a:r>
              <a:rPr lang="en-US" altLang="zh-TW" dirty="0" smtClean="0"/>
              <a:t>G-V1</a:t>
            </a:r>
            <a:r>
              <a:rPr lang="zh-TW" altLang="en-US" dirty="0" smtClean="0"/>
              <a:t>結合</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TPOA</a:t>
            </a:r>
            <a:r>
              <a:rPr lang="en-US" altLang="zh-TW" sz="1200" baseline="3000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，選擇</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G-V1</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是因為它</a:t>
            </a:r>
            <a:r>
              <a:rPr lang="zh-TW" altLang="en-US" sz="1200" b="0" i="0" kern="1200" dirty="0" smtClean="0">
                <a:solidFill>
                  <a:schemeClr val="tx1"/>
                </a:solidFill>
                <a:effectLst/>
                <a:latin typeface="+mn-lt"/>
                <a:ea typeface="+mn-ea"/>
                <a:cs typeface="+mn-cs"/>
              </a:rPr>
              <a:t>足夠簡單且有效，而選擇</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TPOA</a:t>
            </a:r>
            <a:r>
              <a:rPr lang="en-US" altLang="zh-TW" sz="1200" baseline="30000"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是因為它每個層級都會減少分支因子，所以能在較少的搜尋時間內找到與</a:t>
            </a:r>
            <a:r>
              <a:rPr lang="en-US" altLang="zh-TW" sz="1200" dirty="0" smtClean="0">
                <a:latin typeface="Times New Roman" panose="02020603050405020304" pitchFamily="18" charset="0"/>
                <a:ea typeface="標楷體" panose="03000509000000000000" pitchFamily="65" charset="-120"/>
                <a:cs typeface="Times New Roman" panose="02020603050405020304" pitchFamily="18" charset="0"/>
              </a:rPr>
              <a:t>TPOA</a:t>
            </a:r>
            <a:r>
              <a:rPr lang="en-US" altLang="zh-TW" sz="1200" baseline="30000"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200" dirty="0" smtClean="0">
                <a:latin typeface="Times New Roman" panose="02020603050405020304" pitchFamily="18" charset="0"/>
                <a:ea typeface="標楷體" panose="03000509000000000000" pitchFamily="65" charset="-120"/>
                <a:cs typeface="Times New Roman" panose="02020603050405020304" pitchFamily="18" charset="0"/>
              </a:rPr>
              <a:t>相似的結果</a:t>
            </a:r>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10</a:t>
            </a:fld>
            <a:endParaRPr lang="zh-TW" altLang="en-US"/>
          </a:p>
        </p:txBody>
      </p:sp>
    </p:spTree>
    <p:extLst>
      <p:ext uri="{BB962C8B-B14F-4D97-AF65-F5344CB8AC3E}">
        <p14:creationId xmlns:p14="http://schemas.microsoft.com/office/powerpoint/2010/main" val="34650937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首先有兩個變數</a:t>
            </a:r>
            <a:r>
              <a:rPr lang="en-US" altLang="zh-TW" dirty="0" smtClean="0"/>
              <a:t>total</a:t>
            </a:r>
            <a:r>
              <a:rPr lang="zh-TW" altLang="en-US" dirty="0" smtClean="0"/>
              <a:t>和</a:t>
            </a:r>
            <a:r>
              <a:rPr lang="en-US" altLang="zh-TW" dirty="0" smtClean="0"/>
              <a:t>worst</a:t>
            </a:r>
            <a:r>
              <a:rPr lang="zh-TW" altLang="en-US" dirty="0" smtClean="0"/>
              <a:t>，分別用來記錄總共的猜測次數和最差情況下的猜測次數。</a:t>
            </a:r>
            <a:endParaRPr lang="en-US" altLang="zh-TW" dirty="0" smtClean="0"/>
          </a:p>
          <a:p>
            <a:r>
              <a:rPr lang="zh-TW" altLang="en-US" dirty="0" smtClean="0"/>
              <a:t>然後對於每個可能的答案在這個迴圈中做處理。</a:t>
            </a:r>
            <a:endParaRPr lang="en-US" altLang="zh-TW" dirty="0" smtClean="0"/>
          </a:p>
          <a:p>
            <a:endParaRPr lang="en-US" altLang="zh-TW" dirty="0" smtClean="0"/>
          </a:p>
          <a:p>
            <a:r>
              <a:rPr lang="zh-TW" altLang="en-US" sz="1200" b="0" i="0" kern="1200" dirty="0" smtClean="0">
                <a:solidFill>
                  <a:schemeClr val="tx1"/>
                </a:solidFill>
                <a:effectLst/>
                <a:latin typeface="+mn-lt"/>
                <a:ea typeface="+mn-ea"/>
                <a:cs typeface="+mn-cs"/>
              </a:rPr>
              <a:t>對於每個可能的答案，進行下面的操作：</a:t>
            </a:r>
          </a:p>
          <a:p>
            <a:pPr lvl="1"/>
            <a:r>
              <a:rPr lang="zh-TW" altLang="en-US" sz="1200" b="0" i="0" kern="1200" dirty="0" smtClean="0">
                <a:solidFill>
                  <a:schemeClr val="tx1"/>
                </a:solidFill>
                <a:effectLst/>
                <a:latin typeface="+mn-lt"/>
                <a:ea typeface="+mn-ea"/>
                <a:cs typeface="+mn-cs"/>
              </a:rPr>
              <a:t>把猜測次數</a:t>
            </a:r>
            <a:r>
              <a:rPr lang="en-US" altLang="zh-TW" sz="1200" b="0" i="0" kern="1200" dirty="0" smtClean="0">
                <a:solidFill>
                  <a:schemeClr val="tx1"/>
                </a:solidFill>
                <a:effectLst/>
                <a:latin typeface="+mn-lt"/>
                <a:ea typeface="+mn-ea"/>
                <a:cs typeface="+mn-cs"/>
              </a:rPr>
              <a:t>times</a:t>
            </a:r>
            <a:r>
              <a:rPr lang="zh-TW" altLang="en-US" sz="1200" b="0" i="0" kern="1200" dirty="0" smtClean="0">
                <a:solidFill>
                  <a:schemeClr val="tx1"/>
                </a:solidFill>
                <a:effectLst/>
                <a:latin typeface="+mn-lt"/>
                <a:ea typeface="+mn-ea"/>
                <a:cs typeface="+mn-cs"/>
              </a:rPr>
              <a:t>設為</a:t>
            </a:r>
            <a:r>
              <a:rPr lang="en-US" altLang="zh-TW" sz="1200" b="0" i="0" kern="1200" dirty="0" smtClean="0">
                <a:solidFill>
                  <a:schemeClr val="tx1"/>
                </a:solidFill>
                <a:effectLst/>
                <a:latin typeface="+mn-lt"/>
                <a:ea typeface="+mn-ea"/>
                <a:cs typeface="+mn-cs"/>
              </a:rPr>
              <a:t>0</a:t>
            </a:r>
            <a:r>
              <a:rPr lang="zh-TW" altLang="en-US" sz="1200" b="0" i="0" kern="1200" dirty="0" smtClean="0">
                <a:solidFill>
                  <a:schemeClr val="tx1"/>
                </a:solidFill>
                <a:effectLst/>
                <a:latin typeface="+mn-lt"/>
                <a:ea typeface="+mn-ea"/>
                <a:cs typeface="+mn-cs"/>
              </a:rPr>
              <a:t>，用來記錄目前答案的猜測次數。</a:t>
            </a:r>
          </a:p>
          <a:p>
            <a:pPr lvl="1"/>
            <a:r>
              <a:rPr lang="zh-TW" altLang="en-US" sz="1200" b="0" i="0" kern="1200" dirty="0" smtClean="0">
                <a:solidFill>
                  <a:schemeClr val="tx1"/>
                </a:solidFill>
                <a:effectLst/>
                <a:latin typeface="+mn-lt"/>
                <a:ea typeface="+mn-ea"/>
                <a:cs typeface="+mn-cs"/>
              </a:rPr>
              <a:t>重複下面的步驟，直到</a:t>
            </a:r>
            <a:r>
              <a:rPr lang="en-US" altLang="zh-TW" sz="1200" b="0" i="0" kern="1200" dirty="0" smtClean="0">
                <a:solidFill>
                  <a:schemeClr val="tx1"/>
                </a:solidFill>
                <a:effectLst/>
                <a:latin typeface="+mn-lt"/>
                <a:ea typeface="+mn-ea"/>
                <a:cs typeface="+mn-cs"/>
              </a:rPr>
              <a:t>chosen</a:t>
            </a:r>
            <a:r>
              <a:rPr lang="zh-TW" altLang="en-US" sz="1200" b="0" i="0" kern="1200" dirty="0" smtClean="0">
                <a:solidFill>
                  <a:schemeClr val="tx1"/>
                </a:solidFill>
                <a:effectLst/>
                <a:latin typeface="+mn-lt"/>
                <a:ea typeface="+mn-ea"/>
                <a:cs typeface="+mn-cs"/>
              </a:rPr>
              <a:t>等於答案：</a:t>
            </a:r>
          </a:p>
          <a:p>
            <a:pPr lvl="2"/>
            <a:r>
              <a:rPr lang="en-US" altLang="zh-TW" sz="1200" b="0" i="0" kern="1200" dirty="0" err="1" smtClean="0">
                <a:solidFill>
                  <a:schemeClr val="tx1"/>
                </a:solidFill>
                <a:effectLst/>
                <a:latin typeface="+mn-lt"/>
                <a:ea typeface="+mn-ea"/>
                <a:cs typeface="+mn-cs"/>
              </a:rPr>
              <a:t>Choose_action</a:t>
            </a:r>
            <a:r>
              <a:rPr lang="zh-TW" altLang="en-US" sz="1200" b="0" i="0" kern="1200" dirty="0" smtClean="0">
                <a:solidFill>
                  <a:schemeClr val="tx1"/>
                </a:solidFill>
                <a:effectLst/>
                <a:latin typeface="+mn-lt"/>
                <a:ea typeface="+mn-ea"/>
                <a:cs typeface="+mn-cs"/>
              </a:rPr>
              <a:t>指的是用選定的方法去選擇一個答案</a:t>
            </a:r>
            <a:r>
              <a:rPr lang="en-US" altLang="zh-TW" sz="1200" b="0" i="0" kern="1200" dirty="0" smtClean="0">
                <a:solidFill>
                  <a:schemeClr val="tx1"/>
                </a:solidFill>
                <a:effectLst/>
                <a:latin typeface="+mn-lt"/>
                <a:ea typeface="+mn-ea"/>
                <a:cs typeface="+mn-cs"/>
              </a:rPr>
              <a:t>chosen</a:t>
            </a:r>
            <a:r>
              <a:rPr lang="zh-TW" altLang="en-US" sz="1200" b="0" i="0" kern="1200" dirty="0" smtClean="0">
                <a:solidFill>
                  <a:schemeClr val="tx1"/>
                </a:solidFill>
                <a:effectLst/>
                <a:latin typeface="+mn-lt"/>
                <a:ea typeface="+mn-ea"/>
                <a:cs typeface="+mn-cs"/>
              </a:rPr>
              <a:t>，並將</a:t>
            </a:r>
            <a:r>
              <a:rPr lang="en-US" altLang="zh-TW" sz="1200" b="0" i="0" kern="1200" dirty="0" smtClean="0">
                <a:solidFill>
                  <a:schemeClr val="tx1"/>
                </a:solidFill>
                <a:effectLst/>
                <a:latin typeface="+mn-lt"/>
                <a:ea typeface="+mn-ea"/>
                <a:cs typeface="+mn-cs"/>
              </a:rPr>
              <a:t>times</a:t>
            </a:r>
            <a:r>
              <a:rPr lang="zh-TW" altLang="en-US" sz="1200" b="0" i="0" kern="1200" dirty="0" smtClean="0">
                <a:solidFill>
                  <a:schemeClr val="tx1"/>
                </a:solidFill>
                <a:effectLst/>
                <a:latin typeface="+mn-lt"/>
                <a:ea typeface="+mn-ea"/>
                <a:cs typeface="+mn-cs"/>
              </a:rPr>
              <a:t>增加</a:t>
            </a:r>
            <a:r>
              <a:rPr lang="en-US" altLang="zh-TW" sz="1200" b="0" i="0" kern="1200" dirty="0" smtClean="0">
                <a:solidFill>
                  <a:schemeClr val="tx1"/>
                </a:solidFill>
                <a:effectLst/>
                <a:latin typeface="+mn-lt"/>
                <a:ea typeface="+mn-ea"/>
                <a:cs typeface="+mn-cs"/>
              </a:rPr>
              <a:t>1</a:t>
            </a:r>
            <a:r>
              <a:rPr lang="zh-TW" altLang="en-US" sz="1200" b="0" i="0" kern="1200" dirty="0" smtClean="0">
                <a:solidFill>
                  <a:schemeClr val="tx1"/>
                </a:solidFill>
                <a:effectLst/>
                <a:latin typeface="+mn-lt"/>
                <a:ea typeface="+mn-ea"/>
                <a:cs typeface="+mn-cs"/>
              </a:rPr>
              <a:t>。</a:t>
            </a:r>
          </a:p>
          <a:p>
            <a:pPr lvl="1"/>
            <a:r>
              <a:rPr lang="zh-TW" altLang="en-US" sz="1200" b="0" i="0" kern="1200" dirty="0" smtClean="0">
                <a:solidFill>
                  <a:schemeClr val="tx1"/>
                </a:solidFill>
                <a:effectLst/>
                <a:latin typeface="+mn-lt"/>
                <a:ea typeface="+mn-ea"/>
                <a:cs typeface="+mn-cs"/>
              </a:rPr>
              <a:t>更新</a:t>
            </a:r>
            <a:r>
              <a:rPr lang="en-US" altLang="zh-TW" sz="1200" b="0" i="0" kern="1200" dirty="0" smtClean="0">
                <a:solidFill>
                  <a:schemeClr val="tx1"/>
                </a:solidFill>
                <a:effectLst/>
                <a:latin typeface="+mn-lt"/>
                <a:ea typeface="+mn-ea"/>
                <a:cs typeface="+mn-cs"/>
              </a:rPr>
              <a:t>total</a:t>
            </a:r>
            <a:r>
              <a:rPr lang="zh-TW" altLang="en-US" sz="1200" b="0" i="0" kern="1200" dirty="0" smtClean="0">
                <a:solidFill>
                  <a:schemeClr val="tx1"/>
                </a:solidFill>
                <a:effectLst/>
                <a:latin typeface="+mn-lt"/>
                <a:ea typeface="+mn-ea"/>
                <a:cs typeface="+mn-cs"/>
              </a:rPr>
              <a:t>為</a:t>
            </a:r>
            <a:r>
              <a:rPr lang="en-US" altLang="zh-TW" sz="1200" b="0" i="0" kern="1200" dirty="0" smtClean="0">
                <a:solidFill>
                  <a:schemeClr val="tx1"/>
                </a:solidFill>
                <a:effectLst/>
                <a:latin typeface="+mn-lt"/>
                <a:ea typeface="+mn-ea"/>
                <a:cs typeface="+mn-cs"/>
              </a:rPr>
              <a:t>total</a:t>
            </a:r>
            <a:r>
              <a:rPr lang="zh-TW" altLang="en-US" sz="1200" b="0" i="0" kern="1200" dirty="0" smtClean="0">
                <a:solidFill>
                  <a:schemeClr val="tx1"/>
                </a:solidFill>
                <a:effectLst/>
                <a:latin typeface="+mn-lt"/>
                <a:ea typeface="+mn-ea"/>
                <a:cs typeface="+mn-cs"/>
              </a:rPr>
              <a:t>加上</a:t>
            </a:r>
            <a:r>
              <a:rPr lang="en-US" altLang="zh-TW" sz="1200" b="0" i="0" kern="1200" dirty="0" smtClean="0">
                <a:solidFill>
                  <a:schemeClr val="tx1"/>
                </a:solidFill>
                <a:effectLst/>
                <a:latin typeface="+mn-lt"/>
                <a:ea typeface="+mn-ea"/>
                <a:cs typeface="+mn-cs"/>
              </a:rPr>
              <a:t>times</a:t>
            </a:r>
            <a:r>
              <a:rPr lang="zh-TW" altLang="en-US" sz="1200" b="0" i="0" kern="1200" dirty="0" smtClean="0">
                <a:solidFill>
                  <a:schemeClr val="tx1"/>
                </a:solidFill>
                <a:effectLst/>
                <a:latin typeface="+mn-lt"/>
                <a:ea typeface="+mn-ea"/>
                <a:cs typeface="+mn-cs"/>
              </a:rPr>
              <a:t>，同時更新</a:t>
            </a:r>
            <a:r>
              <a:rPr lang="en-US" altLang="zh-TW" sz="1200" b="0" i="0" kern="1200" dirty="0" smtClean="0">
                <a:solidFill>
                  <a:schemeClr val="tx1"/>
                </a:solidFill>
                <a:effectLst/>
                <a:latin typeface="+mn-lt"/>
                <a:ea typeface="+mn-ea"/>
                <a:cs typeface="+mn-cs"/>
              </a:rPr>
              <a:t>worst</a:t>
            </a:r>
            <a:r>
              <a:rPr lang="zh-TW" altLang="en-US" sz="1200" b="0" i="0" kern="1200" dirty="0" smtClean="0">
                <a:solidFill>
                  <a:schemeClr val="tx1"/>
                </a:solidFill>
                <a:effectLst/>
                <a:latin typeface="+mn-lt"/>
                <a:ea typeface="+mn-ea"/>
                <a:cs typeface="+mn-cs"/>
              </a:rPr>
              <a:t>為</a:t>
            </a:r>
            <a:r>
              <a:rPr lang="en-US" altLang="zh-TW" sz="1200" b="0" i="0" kern="1200" dirty="0" smtClean="0">
                <a:solidFill>
                  <a:schemeClr val="tx1"/>
                </a:solidFill>
                <a:effectLst/>
                <a:latin typeface="+mn-lt"/>
                <a:ea typeface="+mn-ea"/>
                <a:cs typeface="+mn-cs"/>
              </a:rPr>
              <a:t>total</a:t>
            </a:r>
            <a:r>
              <a:rPr lang="zh-TW" altLang="en-US" sz="1200" b="0" i="0" kern="1200" dirty="0" smtClean="0">
                <a:solidFill>
                  <a:schemeClr val="tx1"/>
                </a:solidFill>
                <a:effectLst/>
                <a:latin typeface="+mn-lt"/>
                <a:ea typeface="+mn-ea"/>
                <a:cs typeface="+mn-cs"/>
              </a:rPr>
              <a:t>和</a:t>
            </a:r>
            <a:r>
              <a:rPr lang="en-US" altLang="zh-TW" sz="1200" b="0" i="0" kern="1200" dirty="0" smtClean="0">
                <a:solidFill>
                  <a:schemeClr val="tx1"/>
                </a:solidFill>
                <a:effectLst/>
                <a:latin typeface="+mn-lt"/>
                <a:ea typeface="+mn-ea"/>
                <a:cs typeface="+mn-cs"/>
              </a:rPr>
              <a:t>times</a:t>
            </a:r>
            <a:r>
              <a:rPr lang="zh-TW" altLang="en-US" sz="1200" b="0" i="0" kern="1200" dirty="0" smtClean="0">
                <a:solidFill>
                  <a:schemeClr val="tx1"/>
                </a:solidFill>
                <a:effectLst/>
                <a:latin typeface="+mn-lt"/>
                <a:ea typeface="+mn-ea"/>
                <a:cs typeface="+mn-cs"/>
              </a:rPr>
              <a:t>中的最大值。</a:t>
            </a:r>
          </a:p>
          <a:p>
            <a:r>
              <a:rPr lang="zh-TW" altLang="en-US" sz="1200" b="0" i="0" kern="1200" dirty="0" smtClean="0">
                <a:solidFill>
                  <a:schemeClr val="tx1"/>
                </a:solidFill>
                <a:effectLst/>
                <a:latin typeface="+mn-lt"/>
                <a:ea typeface="+mn-ea"/>
                <a:cs typeface="+mn-cs"/>
              </a:rPr>
              <a:t>結束迴圈後，用所有答案的總猜測次數（</a:t>
            </a:r>
            <a:r>
              <a:rPr lang="en-US" altLang="zh-TW" sz="1200" b="0" i="0" kern="1200" dirty="0" smtClean="0">
                <a:solidFill>
                  <a:schemeClr val="tx1"/>
                </a:solidFill>
                <a:effectLst/>
                <a:latin typeface="+mn-lt"/>
                <a:ea typeface="+mn-ea"/>
                <a:cs typeface="+mn-cs"/>
              </a:rPr>
              <a:t>total</a:t>
            </a:r>
            <a:r>
              <a:rPr lang="zh-TW" altLang="en-US" sz="1200" b="0" i="0" kern="1200" dirty="0" smtClean="0">
                <a:solidFill>
                  <a:schemeClr val="tx1"/>
                </a:solidFill>
                <a:effectLst/>
                <a:latin typeface="+mn-lt"/>
                <a:ea typeface="+mn-ea"/>
                <a:cs typeface="+mn-cs"/>
              </a:rPr>
              <a:t>）去除以答案個數，得到平均猜測次數（</a:t>
            </a:r>
            <a:r>
              <a:rPr lang="en-US" altLang="zh-TW" sz="1200" b="0" i="0" kern="1200" dirty="0" smtClean="0">
                <a:solidFill>
                  <a:schemeClr val="tx1"/>
                </a:solidFill>
                <a:effectLst/>
                <a:latin typeface="+mn-lt"/>
                <a:ea typeface="+mn-ea"/>
                <a:cs typeface="+mn-cs"/>
              </a:rPr>
              <a:t>expected</a:t>
            </a:r>
            <a:r>
              <a:rPr lang="zh-TW" altLang="en-US" sz="1200" b="0" i="0" kern="1200" dirty="0" smtClean="0">
                <a:solidFill>
                  <a:schemeClr val="tx1"/>
                </a:solidFill>
                <a:effectLst/>
                <a:latin typeface="+mn-lt"/>
                <a:ea typeface="+mn-ea"/>
                <a:cs typeface="+mn-cs"/>
              </a:rPr>
              <a:t>）。</a:t>
            </a:r>
            <a:endParaRPr lang="en-US" altLang="zh-TW" sz="1200" b="0" i="0" kern="1200" dirty="0" smtClean="0">
              <a:solidFill>
                <a:schemeClr val="tx1"/>
              </a:solidFill>
              <a:effectLst/>
              <a:latin typeface="+mn-lt"/>
              <a:ea typeface="+mn-ea"/>
              <a:cs typeface="+mn-cs"/>
            </a:endParaRPr>
          </a:p>
          <a:p>
            <a:endParaRPr lang="en-US" altLang="zh-TW" sz="1200" b="0" i="0" kern="1200" dirty="0" smtClean="0">
              <a:solidFill>
                <a:schemeClr val="tx1"/>
              </a:solidFill>
              <a:effectLst/>
              <a:latin typeface="+mn-lt"/>
              <a:ea typeface="+mn-ea"/>
              <a:cs typeface="+mn-cs"/>
            </a:endParaRPr>
          </a:p>
          <a:p>
            <a:r>
              <a:rPr lang="zh-TW" altLang="en-US" dirty="0" smtClean="0"/>
              <a:t/>
            </a:r>
            <a:br>
              <a:rPr lang="zh-TW" altLang="en-US" dirty="0" smtClean="0"/>
            </a:br>
            <a:r>
              <a:rPr lang="zh-TW" altLang="en-US" sz="1200" b="0" i="0" kern="1200" dirty="0" smtClean="0">
                <a:solidFill>
                  <a:schemeClr val="tx1"/>
                </a:solidFill>
                <a:effectLst/>
                <a:latin typeface="+mn-lt"/>
                <a:ea typeface="+mn-ea"/>
                <a:cs typeface="+mn-cs"/>
              </a:rPr>
              <a:t>在這個算法中，</a:t>
            </a:r>
            <a:r>
              <a:rPr lang="en-US" altLang="zh-TW" sz="1200" b="0" i="0" kern="1200" dirty="0" smtClean="0">
                <a:solidFill>
                  <a:schemeClr val="tx1"/>
                </a:solidFill>
                <a:effectLst/>
                <a:latin typeface="+mn-lt"/>
                <a:ea typeface="+mn-ea"/>
                <a:cs typeface="+mn-cs"/>
              </a:rPr>
              <a:t>"chosen ← choose action()" </a:t>
            </a:r>
            <a:r>
              <a:rPr lang="zh-TW" altLang="en-US" sz="1200" b="0" i="0" kern="1200" dirty="0" smtClean="0">
                <a:solidFill>
                  <a:schemeClr val="tx1"/>
                </a:solidFill>
                <a:effectLst/>
                <a:latin typeface="+mn-lt"/>
                <a:ea typeface="+mn-ea"/>
                <a:cs typeface="+mn-cs"/>
              </a:rPr>
              <a:t>是指從一組可能的操作中選擇一個操作，這個操作將被應用於當前正在測試的單詞或等式。這個操作是通過實現遊戲策略來猜測答案的一個步驟。具體來說，這個步驟會根據所選擇的策略和遊戲狀態來決定下一步要採取的行動，例如根據已知信息選擇一個可能的答案或進行一個猜測以測試某些條件。在遊戲的每一輪中，這個步驟都會不斷重複，直到選擇的操作與正確答案相匹配為止。</a:t>
            </a:r>
          </a:p>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11</a:t>
            </a:fld>
            <a:endParaRPr lang="zh-TW" altLang="en-US"/>
          </a:p>
        </p:txBody>
      </p:sp>
    </p:spTree>
    <p:extLst>
      <p:ext uri="{BB962C8B-B14F-4D97-AF65-F5344CB8AC3E}">
        <p14:creationId xmlns:p14="http://schemas.microsoft.com/office/powerpoint/2010/main" val="2441695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smtClean="0">
                <a:solidFill>
                  <a:schemeClr val="tx1"/>
                </a:solidFill>
                <a:effectLst/>
                <a:latin typeface="+mn-lt"/>
                <a:ea typeface="+mn-ea"/>
                <a:cs typeface="+mn-cs"/>
              </a:rPr>
              <a:t>接下來是實驗結果，在</a:t>
            </a:r>
            <a:r>
              <a:rPr lang="en-US" altLang="zh-TW" sz="1200" b="0" i="0" kern="1200" dirty="0" err="1" smtClean="0">
                <a:solidFill>
                  <a:schemeClr val="tx1"/>
                </a:solidFill>
                <a:effectLst/>
                <a:latin typeface="+mn-lt"/>
                <a:ea typeface="+mn-ea"/>
                <a:cs typeface="+mn-cs"/>
              </a:rPr>
              <a:t>wordle</a:t>
            </a:r>
            <a:r>
              <a:rPr lang="zh-TW" altLang="en-US" sz="1200" b="0" i="0" kern="1200" dirty="0" smtClean="0">
                <a:solidFill>
                  <a:schemeClr val="tx1"/>
                </a:solidFill>
                <a:effectLst/>
                <a:latin typeface="+mn-lt"/>
                <a:ea typeface="+mn-ea"/>
                <a:cs typeface="+mn-cs"/>
              </a:rPr>
              <a:t>的猜測結果，達到了平均 </a:t>
            </a:r>
            <a:r>
              <a:rPr lang="en-US" altLang="zh-TW" sz="1200" b="0" i="0" kern="1200" dirty="0" smtClean="0">
                <a:solidFill>
                  <a:schemeClr val="tx1"/>
                </a:solidFill>
                <a:effectLst/>
                <a:latin typeface="+mn-lt"/>
                <a:ea typeface="+mn-ea"/>
                <a:cs typeface="+mn-cs"/>
              </a:rPr>
              <a:t>3.42117 </a:t>
            </a:r>
            <a:r>
              <a:rPr lang="zh-TW" altLang="en-US" sz="1200" b="0" i="0" kern="1200" dirty="0" smtClean="0">
                <a:solidFill>
                  <a:schemeClr val="tx1"/>
                </a:solidFill>
                <a:effectLst/>
                <a:latin typeface="+mn-lt"/>
                <a:ea typeface="+mn-ea"/>
                <a:cs typeface="+mn-cs"/>
              </a:rPr>
              <a:t>次，這與 </a:t>
            </a:r>
            <a:r>
              <a:rPr lang="en-US" altLang="zh-TW" sz="1200" b="0" i="0" kern="1200" dirty="0" smtClean="0">
                <a:solidFill>
                  <a:schemeClr val="tx1"/>
                </a:solidFill>
                <a:effectLst/>
                <a:latin typeface="+mn-lt"/>
                <a:ea typeface="+mn-ea"/>
                <a:cs typeface="+mn-cs"/>
              </a:rPr>
              <a:t>3Blue1Brown </a:t>
            </a:r>
            <a:r>
              <a:rPr lang="zh-TW" altLang="en-US" sz="1200" b="0" i="0" kern="1200" dirty="0" smtClean="0">
                <a:solidFill>
                  <a:schemeClr val="tx1"/>
                </a:solidFill>
                <a:effectLst/>
                <a:latin typeface="+mn-lt"/>
                <a:ea typeface="+mn-ea"/>
                <a:cs typeface="+mn-cs"/>
              </a:rPr>
              <a:t>和 </a:t>
            </a:r>
            <a:r>
              <a:rPr lang="en-US" altLang="zh-TW" sz="1200" b="0" i="0" kern="1200" dirty="0" smtClean="0">
                <a:solidFill>
                  <a:schemeClr val="tx1"/>
                </a:solidFill>
                <a:effectLst/>
                <a:latin typeface="+mn-lt"/>
                <a:ea typeface="+mn-ea"/>
                <a:cs typeface="+mn-cs"/>
              </a:rPr>
              <a:t>Jonathon </a:t>
            </a:r>
            <a:r>
              <a:rPr lang="zh-TW" altLang="en-US" sz="1200" b="0" i="0" kern="1200" dirty="0" smtClean="0">
                <a:solidFill>
                  <a:schemeClr val="tx1"/>
                </a:solidFill>
                <a:effectLst/>
                <a:latin typeface="+mn-lt"/>
                <a:ea typeface="+mn-ea"/>
                <a:cs typeface="+mn-cs"/>
              </a:rPr>
              <a:t>在 </a:t>
            </a:r>
            <a:r>
              <a:rPr lang="en-US" altLang="zh-TW" sz="1200" b="0" i="0" kern="1200" dirty="0" err="1" smtClean="0">
                <a:solidFill>
                  <a:schemeClr val="tx1"/>
                </a:solidFill>
                <a:effectLst/>
                <a:latin typeface="+mn-lt"/>
                <a:ea typeface="+mn-ea"/>
                <a:cs typeface="+mn-cs"/>
              </a:rPr>
              <a:t>Wordle</a:t>
            </a:r>
            <a:r>
              <a:rPr lang="en-US" altLang="zh-TW" sz="1200" b="0" i="0" kern="120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中發現的一致。</a:t>
            </a:r>
            <a:endParaRPr lang="en-US" altLang="zh-TW" sz="1200" b="0" i="0" kern="1200" dirty="0" smtClean="0">
              <a:solidFill>
                <a:schemeClr val="tx1"/>
              </a:solidFill>
              <a:effectLst/>
              <a:latin typeface="+mn-lt"/>
              <a:ea typeface="+mn-ea"/>
              <a:cs typeface="+mn-cs"/>
            </a:endParaRPr>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12</a:t>
            </a:fld>
            <a:endParaRPr lang="zh-TW" altLang="en-US"/>
          </a:p>
        </p:txBody>
      </p:sp>
    </p:spTree>
    <p:extLst>
      <p:ext uri="{BB962C8B-B14F-4D97-AF65-F5344CB8AC3E}">
        <p14:creationId xmlns:p14="http://schemas.microsoft.com/office/powerpoint/2010/main" val="13500015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smtClean="0">
                <a:solidFill>
                  <a:schemeClr val="tx1"/>
                </a:solidFill>
                <a:effectLst/>
                <a:latin typeface="+mn-lt"/>
                <a:ea typeface="+mn-ea"/>
                <a:cs typeface="+mn-cs"/>
              </a:rPr>
              <a:t>在</a:t>
            </a:r>
            <a:r>
              <a:rPr lang="en-US" altLang="zh-TW" sz="1200" b="0" i="0" kern="1200" dirty="0" err="1" smtClean="0">
                <a:solidFill>
                  <a:schemeClr val="tx1"/>
                </a:solidFill>
                <a:effectLst/>
                <a:latin typeface="+mn-lt"/>
                <a:ea typeface="+mn-ea"/>
                <a:cs typeface="+mn-cs"/>
              </a:rPr>
              <a:t>nerdle</a:t>
            </a:r>
            <a:r>
              <a:rPr lang="zh-TW" altLang="en-US" sz="1200" b="0" i="0" kern="1200" dirty="0" smtClean="0">
                <a:solidFill>
                  <a:schemeClr val="tx1"/>
                </a:solidFill>
                <a:effectLst/>
                <a:latin typeface="+mn-lt"/>
                <a:ea typeface="+mn-ea"/>
                <a:cs typeface="+mn-cs"/>
              </a:rPr>
              <a:t>中，達到了平均 </a:t>
            </a:r>
            <a:r>
              <a:rPr lang="en-US" altLang="zh-TW" sz="1200" b="0" i="0" kern="1200" dirty="0" smtClean="0">
                <a:solidFill>
                  <a:schemeClr val="tx1"/>
                </a:solidFill>
                <a:effectLst/>
                <a:latin typeface="+mn-lt"/>
                <a:ea typeface="+mn-ea"/>
                <a:cs typeface="+mn-cs"/>
              </a:rPr>
              <a:t>3.01947 </a:t>
            </a:r>
            <a:r>
              <a:rPr lang="zh-TW" altLang="en-US" sz="1200" b="0" i="0" kern="1200" dirty="0" smtClean="0">
                <a:solidFill>
                  <a:schemeClr val="tx1"/>
                </a:solidFill>
                <a:effectLst/>
                <a:latin typeface="+mn-lt"/>
                <a:ea typeface="+mn-ea"/>
                <a:cs typeface="+mn-cs"/>
              </a:rPr>
              <a:t>次，這是 </a:t>
            </a:r>
            <a:r>
              <a:rPr lang="en-US" altLang="zh-TW" sz="1200" b="0" i="0" kern="1200" dirty="0" err="1" smtClean="0">
                <a:solidFill>
                  <a:schemeClr val="tx1"/>
                </a:solidFill>
                <a:effectLst/>
                <a:latin typeface="+mn-lt"/>
                <a:ea typeface="+mn-ea"/>
                <a:cs typeface="+mn-cs"/>
              </a:rPr>
              <a:t>Nerdle</a:t>
            </a:r>
            <a:r>
              <a:rPr lang="en-US" altLang="zh-TW" sz="1200" b="0" i="0" kern="120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目前的最低猜測次數，而開局方程是“</a:t>
            </a:r>
            <a:r>
              <a:rPr lang="en-US" altLang="zh-TW" sz="1200" b="0" i="0" kern="1200" dirty="0" smtClean="0">
                <a:solidFill>
                  <a:schemeClr val="tx1"/>
                </a:solidFill>
                <a:effectLst/>
                <a:latin typeface="+mn-lt"/>
                <a:ea typeface="+mn-ea"/>
                <a:cs typeface="+mn-cs"/>
              </a:rPr>
              <a:t>52-34=18”</a:t>
            </a:r>
            <a:r>
              <a:rPr lang="zh-TW" altLang="en-US" sz="1200" b="0" i="0" kern="1200" dirty="0" smtClean="0">
                <a:solidFill>
                  <a:schemeClr val="tx1"/>
                </a:solidFill>
                <a:effectLst/>
                <a:latin typeface="+mn-lt"/>
                <a:ea typeface="+mn-ea"/>
                <a:cs typeface="+mn-cs"/>
              </a:rPr>
              <a:t>。先前的最佳人類策略平均需要 </a:t>
            </a:r>
            <a:r>
              <a:rPr lang="en-US" altLang="zh-TW" sz="1200" b="0" i="0" kern="1200" dirty="0" smtClean="0">
                <a:solidFill>
                  <a:schemeClr val="tx1"/>
                </a:solidFill>
                <a:effectLst/>
                <a:latin typeface="+mn-lt"/>
                <a:ea typeface="+mn-ea"/>
                <a:cs typeface="+mn-cs"/>
              </a:rPr>
              <a:t>3.449 </a:t>
            </a:r>
            <a:r>
              <a:rPr lang="zh-TW" altLang="en-US" sz="1200" b="0" i="0" kern="1200" dirty="0" smtClean="0">
                <a:solidFill>
                  <a:schemeClr val="tx1"/>
                </a:solidFill>
                <a:effectLst/>
                <a:latin typeface="+mn-lt"/>
                <a:ea typeface="+mn-ea"/>
                <a:cs typeface="+mn-cs"/>
              </a:rPr>
              <a:t>次，最差需要 </a:t>
            </a:r>
            <a:r>
              <a:rPr lang="en-US" altLang="zh-TW" sz="1200" b="0" i="0" kern="1200" dirty="0" smtClean="0">
                <a:solidFill>
                  <a:schemeClr val="tx1"/>
                </a:solidFill>
                <a:effectLst/>
                <a:latin typeface="+mn-lt"/>
                <a:ea typeface="+mn-ea"/>
                <a:cs typeface="+mn-cs"/>
              </a:rPr>
              <a:t>5 </a:t>
            </a:r>
            <a:r>
              <a:rPr lang="zh-TW" altLang="en-US" sz="1200" b="0" i="0" kern="1200" dirty="0" smtClean="0">
                <a:solidFill>
                  <a:schemeClr val="tx1"/>
                </a:solidFill>
                <a:effectLst/>
                <a:latin typeface="+mn-lt"/>
                <a:ea typeface="+mn-ea"/>
                <a:cs typeface="+mn-cs"/>
              </a:rPr>
              <a:t>次。這些結果表明，我們最後改進的搜索方法（</a:t>
            </a:r>
            <a:r>
              <a:rPr lang="en-US" altLang="zh-TW" sz="1200" b="0" i="0" kern="1200" dirty="0" smtClean="0">
                <a:solidFill>
                  <a:schemeClr val="tx1"/>
                </a:solidFill>
                <a:effectLst/>
                <a:latin typeface="+mn-lt"/>
                <a:ea typeface="+mn-ea"/>
                <a:cs typeface="+mn-cs"/>
              </a:rPr>
              <a:t>EBTPOA</a:t>
            </a:r>
            <a:r>
              <a:rPr lang="zh-TW" altLang="en-US" sz="1200" b="0" i="0" kern="1200" dirty="0" smtClean="0">
                <a:solidFill>
                  <a:schemeClr val="tx1"/>
                </a:solidFill>
                <a:effectLst/>
                <a:latin typeface="+mn-lt"/>
                <a:ea typeface="+mn-ea"/>
                <a:cs typeface="+mn-cs"/>
              </a:rPr>
              <a:t>）比貪婪方法和原始搜索方法效果更好。</a:t>
            </a:r>
            <a:endParaRPr lang="zh-TW" altLang="en-US" dirty="0" smtClean="0"/>
          </a:p>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13</a:t>
            </a:fld>
            <a:endParaRPr lang="zh-TW" altLang="en-US"/>
          </a:p>
        </p:txBody>
      </p:sp>
    </p:spTree>
    <p:extLst>
      <p:ext uri="{BB962C8B-B14F-4D97-AF65-F5344CB8AC3E}">
        <p14:creationId xmlns:p14="http://schemas.microsoft.com/office/powerpoint/2010/main" val="19700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不同的</a:t>
            </a:r>
            <a:r>
              <a:rPr lang="en-US" altLang="zh-TW" dirty="0" smtClean="0"/>
              <a:t>branching factor</a:t>
            </a:r>
            <a:r>
              <a:rPr lang="zh-TW" altLang="en-US" dirty="0" smtClean="0"/>
              <a:t>和深度對</a:t>
            </a:r>
            <a:r>
              <a:rPr lang="en-US" altLang="zh-TW" dirty="0" smtClean="0"/>
              <a:t>performance</a:t>
            </a:r>
            <a:r>
              <a:rPr lang="zh-TW" altLang="en-US" dirty="0" smtClean="0"/>
              <a:t>的影響。</a:t>
            </a:r>
            <a:endParaRPr lang="en-US" altLang="zh-TW" dirty="0" smtClean="0"/>
          </a:p>
          <a:p>
            <a:r>
              <a:rPr lang="zh-TW" altLang="en-US" dirty="0" smtClean="0"/>
              <a:t>左邊是變動</a:t>
            </a:r>
            <a:r>
              <a:rPr lang="en-US" altLang="zh-TW" dirty="0" smtClean="0"/>
              <a:t>branching factor</a:t>
            </a:r>
            <a:r>
              <a:rPr lang="zh-TW" altLang="en-US" dirty="0" smtClean="0"/>
              <a:t>，而深度不便的平均和最壞次數。</a:t>
            </a:r>
            <a:endParaRPr lang="en-US" altLang="zh-TW" dirty="0" smtClean="0"/>
          </a:p>
          <a:p>
            <a:r>
              <a:rPr lang="zh-TW" altLang="en-US" dirty="0" smtClean="0"/>
              <a:t>右邊的話，是</a:t>
            </a:r>
            <a:r>
              <a:rPr lang="en-US" altLang="zh-TW" dirty="0" smtClean="0"/>
              <a:t>branching factor</a:t>
            </a:r>
            <a:r>
              <a:rPr lang="zh-TW" altLang="en-US" dirty="0" smtClean="0"/>
              <a:t>固定，深度進行變動。</a:t>
            </a:r>
            <a:endParaRPr lang="en-US" altLang="zh-TW" dirty="0" smtClean="0"/>
          </a:p>
          <a:p>
            <a:r>
              <a:rPr lang="zh-TW" altLang="en-US" dirty="0" smtClean="0"/>
              <a:t>可以發現，</a:t>
            </a:r>
            <a:r>
              <a:rPr lang="en-US" altLang="zh-TW" dirty="0" smtClean="0"/>
              <a:t>branching facto</a:t>
            </a:r>
            <a:r>
              <a:rPr lang="zh-TW" altLang="en-US" dirty="0" smtClean="0"/>
              <a:t>為</a:t>
            </a:r>
            <a:r>
              <a:rPr lang="en-US" altLang="zh-TW" dirty="0" smtClean="0"/>
              <a:t>10</a:t>
            </a:r>
            <a:r>
              <a:rPr lang="zh-TW" altLang="en-US" dirty="0" smtClean="0"/>
              <a:t>，深度為</a:t>
            </a:r>
            <a:r>
              <a:rPr lang="en-US" altLang="zh-TW" dirty="0" smtClean="0"/>
              <a:t>2</a:t>
            </a:r>
            <a:r>
              <a:rPr lang="zh-TW" altLang="en-US" dirty="0" smtClean="0"/>
              <a:t>是最好的結果，再往上增加數量的話得到的結果也差不多。</a:t>
            </a:r>
            <a:endParaRPr lang="en-US" altLang="zh-TW" dirty="0" smtClean="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14</a:t>
            </a:fld>
            <a:endParaRPr lang="zh-TW" altLang="en-US"/>
          </a:p>
        </p:txBody>
      </p:sp>
    </p:spTree>
    <p:extLst>
      <p:ext uri="{BB962C8B-B14F-4D97-AF65-F5344CB8AC3E}">
        <p14:creationId xmlns:p14="http://schemas.microsoft.com/office/powerpoint/2010/main" val="2542924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最後是各種方法的比較</a:t>
            </a:r>
            <a:r>
              <a:rPr lang="zh-TW" altLang="en-US" sz="1200" b="0" i="0" kern="1200" dirty="0" smtClean="0">
                <a:solidFill>
                  <a:schemeClr val="tx1"/>
                </a:solidFill>
                <a:effectLst/>
                <a:latin typeface="+mn-lt"/>
                <a:ea typeface="+mn-ea"/>
                <a:cs typeface="+mn-cs"/>
              </a:rPr>
              <a:t>，有論文中已經證明 </a:t>
            </a:r>
            <a:r>
              <a:rPr lang="en-US" altLang="zh-TW" sz="1200" b="0" i="0" kern="1200" dirty="0" smtClean="0">
                <a:solidFill>
                  <a:schemeClr val="tx1"/>
                </a:solidFill>
                <a:effectLst/>
                <a:latin typeface="+mn-lt"/>
                <a:ea typeface="+mn-ea"/>
                <a:cs typeface="+mn-cs"/>
              </a:rPr>
              <a:t>3.42117 </a:t>
            </a:r>
            <a:r>
              <a:rPr lang="zh-TW" altLang="en-US" sz="1200" b="0" i="0" kern="1200" dirty="0" smtClean="0">
                <a:solidFill>
                  <a:schemeClr val="tx1"/>
                </a:solidFill>
                <a:effectLst/>
                <a:latin typeface="+mn-lt"/>
                <a:ea typeface="+mn-ea"/>
                <a:cs typeface="+mn-cs"/>
              </a:rPr>
              <a:t>是 使用</a:t>
            </a:r>
            <a:r>
              <a:rPr lang="en-US" altLang="zh-TW" sz="1200" b="0" i="0" kern="1200" dirty="0" smtClean="0">
                <a:solidFill>
                  <a:schemeClr val="tx1"/>
                </a:solidFill>
                <a:effectLst/>
                <a:latin typeface="+mn-lt"/>
                <a:ea typeface="+mn-ea"/>
                <a:cs typeface="+mn-cs"/>
              </a:rPr>
              <a:t>legal list </a:t>
            </a:r>
            <a:r>
              <a:rPr lang="zh-TW" altLang="en-US" sz="1200" b="0" i="0" kern="1200" dirty="0" smtClean="0">
                <a:solidFill>
                  <a:schemeClr val="tx1"/>
                </a:solidFill>
                <a:effectLst/>
                <a:latin typeface="+mn-lt"/>
                <a:ea typeface="+mn-ea"/>
                <a:cs typeface="+mn-cs"/>
              </a:rPr>
              <a:t>時，</a:t>
            </a:r>
            <a:r>
              <a:rPr lang="en-US" altLang="zh-TW" sz="1200" b="0" i="0" kern="1200" dirty="0" err="1" smtClean="0">
                <a:solidFill>
                  <a:schemeClr val="tx1"/>
                </a:solidFill>
                <a:effectLst/>
                <a:latin typeface="+mn-lt"/>
                <a:ea typeface="+mn-ea"/>
                <a:cs typeface="+mn-cs"/>
              </a:rPr>
              <a:t>Wordle</a:t>
            </a:r>
            <a:r>
              <a:rPr lang="en-US" altLang="zh-TW" sz="1200" b="0" i="0" kern="120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的平均最優解。</a:t>
            </a:r>
            <a:endParaRPr lang="zh-TW" altLang="en-US" dirty="0" smtClean="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15</a:t>
            </a:fld>
            <a:endParaRPr lang="zh-TW" altLang="en-US"/>
          </a:p>
        </p:txBody>
      </p:sp>
    </p:spTree>
    <p:extLst>
      <p:ext uri="{BB962C8B-B14F-4D97-AF65-F5344CB8AC3E}">
        <p14:creationId xmlns:p14="http://schemas.microsoft.com/office/powerpoint/2010/main" val="25851956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smtClean="0">
                <a:latin typeface="標楷體" panose="03000509000000000000" pitchFamily="65" charset="-120"/>
                <a:ea typeface="標楷體" panose="03000509000000000000" pitchFamily="65" charset="-120"/>
              </a:rPr>
              <a:t>在解決類似</a:t>
            </a:r>
            <a:r>
              <a:rPr lang="en-US" altLang="zh-TW" sz="1200" dirty="0" err="1" smtClean="0">
                <a:latin typeface="標楷體" panose="03000509000000000000" pitchFamily="65" charset="-120"/>
                <a:ea typeface="標楷體" panose="03000509000000000000" pitchFamily="65" charset="-120"/>
              </a:rPr>
              <a:t>Wordle</a:t>
            </a:r>
            <a:r>
              <a:rPr lang="zh-TW" altLang="en-US" sz="1200" dirty="0" smtClean="0">
                <a:latin typeface="標楷體" panose="03000509000000000000" pitchFamily="65" charset="-120"/>
                <a:ea typeface="標楷體" panose="03000509000000000000" pitchFamily="65" charset="-120"/>
              </a:rPr>
              <a:t>的遊戲時，我們的貪婪方法和搜索方法都有優勢。通過對我們初步的貪婪方法進行實驗，儘管在最壞情況下無法獲得最佳結果，但它在平均猜測次數上表現良好，找到了一種低猜測次數的策略。另一方面，搜索方法甚至可以進一步減少預期猜測次數和最大猜測次數。此外，通過將</a:t>
            </a:r>
            <a:r>
              <a:rPr lang="en-US" altLang="zh-TW" sz="1200" dirty="0" smtClean="0">
                <a:latin typeface="標楷體" panose="03000509000000000000" pitchFamily="65" charset="-120"/>
                <a:ea typeface="標楷體" panose="03000509000000000000" pitchFamily="65" charset="-120"/>
              </a:rPr>
              <a:t>TPOA</a:t>
            </a:r>
            <a:r>
              <a:rPr lang="zh-TW" altLang="en-US" sz="1200" dirty="0" smtClean="0">
                <a:latin typeface="標楷體" panose="03000509000000000000" pitchFamily="65" charset="-120"/>
                <a:ea typeface="標楷體" panose="03000509000000000000" pitchFamily="65" charset="-120"/>
              </a:rPr>
              <a:t>與熵的啟發式方法相結合，即成為</a:t>
            </a:r>
            <a:r>
              <a:rPr lang="en-US" altLang="zh-TW" sz="1200" dirty="0" smtClean="0">
                <a:latin typeface="標楷體" panose="03000509000000000000" pitchFamily="65" charset="-120"/>
                <a:ea typeface="標楷體" panose="03000509000000000000" pitchFamily="65" charset="-120"/>
              </a:rPr>
              <a:t>EBTPOA</a:t>
            </a:r>
            <a:r>
              <a:rPr lang="zh-TW" altLang="en-US" sz="1200" dirty="0" smtClean="0">
                <a:latin typeface="標楷體" panose="03000509000000000000" pitchFamily="65" charset="-120"/>
                <a:ea typeface="標楷體" panose="03000509000000000000" pitchFamily="65" charset="-120"/>
              </a:rPr>
              <a:t>，我們成功地以更高效的方式提高了其性能。同時，我們在</a:t>
            </a:r>
            <a:r>
              <a:rPr lang="en-US" altLang="zh-TW" sz="1200" dirty="0" err="1" smtClean="0">
                <a:latin typeface="標楷體" panose="03000509000000000000" pitchFamily="65" charset="-120"/>
                <a:ea typeface="標楷體" panose="03000509000000000000" pitchFamily="65" charset="-120"/>
              </a:rPr>
              <a:t>Wordle</a:t>
            </a:r>
            <a:r>
              <a:rPr lang="zh-TW" altLang="en-US" sz="1200" dirty="0" smtClean="0">
                <a:latin typeface="標楷體" panose="03000509000000000000" pitchFamily="65" charset="-120"/>
                <a:ea typeface="標楷體" panose="03000509000000000000" pitchFamily="65" charset="-120"/>
              </a:rPr>
              <a:t>中獲得了最優結果，在</a:t>
            </a:r>
            <a:r>
              <a:rPr lang="en-US" altLang="zh-TW" sz="1200" dirty="0" err="1" smtClean="0">
                <a:latin typeface="標楷體" panose="03000509000000000000" pitchFamily="65" charset="-120"/>
                <a:ea typeface="標楷體" panose="03000509000000000000" pitchFamily="65" charset="-120"/>
              </a:rPr>
              <a:t>Nerdle</a:t>
            </a:r>
            <a:r>
              <a:rPr lang="zh-TW" altLang="en-US" sz="1200" dirty="0" smtClean="0">
                <a:latin typeface="標楷體" panose="03000509000000000000" pitchFamily="65" charset="-120"/>
                <a:ea typeface="標楷體" panose="03000509000000000000" pitchFamily="65" charset="-120"/>
              </a:rPr>
              <a:t>中也達到了目前的最佳結果。</a:t>
            </a:r>
            <a:endParaRPr lang="en-US" altLang="zh-TW" sz="1200" dirty="0" smtClean="0">
              <a:latin typeface="標楷體" panose="03000509000000000000" pitchFamily="65" charset="-120"/>
              <a:ea typeface="標楷體" panose="03000509000000000000" pitchFamily="65" charset="-12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smtClean="0">
              <a:latin typeface="標楷體" panose="03000509000000000000" pitchFamily="65" charset="-120"/>
              <a:ea typeface="標楷體" panose="03000509000000000000" pitchFamily="65" charset="-12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100" dirty="0" smtClean="0">
                <a:latin typeface="標楷體" panose="03000509000000000000" pitchFamily="65" charset="-120"/>
                <a:ea typeface="標楷體" panose="03000509000000000000" pitchFamily="65" charset="-120"/>
              </a:rPr>
              <a:t/>
            </a:r>
            <a:br>
              <a:rPr lang="zh-TW" altLang="en-US" sz="1100" dirty="0" smtClean="0">
                <a:latin typeface="標楷體" panose="03000509000000000000" pitchFamily="65" charset="-120"/>
                <a:ea typeface="標楷體" panose="03000509000000000000" pitchFamily="65" charset="-120"/>
              </a:rPr>
            </a:br>
            <a:r>
              <a:rPr lang="en-US" altLang="zh-TW" sz="1100" dirty="0" smtClean="0"/>
              <a:t>Both our greedy methods, and search methods, have advantages when solving </a:t>
            </a:r>
            <a:r>
              <a:rPr lang="en-US" altLang="zh-TW" sz="1100" dirty="0" err="1" smtClean="0"/>
              <a:t>Wordle</a:t>
            </a:r>
            <a:r>
              <a:rPr lang="en-US" altLang="zh-TW" sz="1100" dirty="0" smtClean="0"/>
              <a:t>-like games. With experiments on our preliminary greedy methods, although we could not obtain the best result in the worst case, it did well in finding a strategy with low guess times on average. On the other hand, search methods could even further reduce the number of expected guess times and maximum guess times. Besides, by integrating TPOA with the heuristic of entropy, which becomes EBTPOA, we successfully improved its performance in a more efficient way. Also, we obtained the optimal result in </a:t>
            </a:r>
            <a:r>
              <a:rPr lang="en-US" altLang="zh-TW" sz="1100" dirty="0" err="1" smtClean="0"/>
              <a:t>Wordle</a:t>
            </a:r>
            <a:r>
              <a:rPr lang="en-US" altLang="zh-TW" sz="1100" dirty="0" smtClean="0"/>
              <a:t> and the best result at present in </a:t>
            </a:r>
            <a:r>
              <a:rPr lang="en-US" altLang="zh-TW" sz="1100" dirty="0" err="1" smtClean="0"/>
              <a:t>Nerdle</a:t>
            </a:r>
            <a:endParaRPr lang="en-US" altLang="zh-TW" sz="1100" dirty="0" smtClean="0">
              <a:latin typeface="標楷體" panose="03000509000000000000" pitchFamily="65" charset="-120"/>
              <a:ea typeface="標楷體" panose="03000509000000000000" pitchFamily="65" charset="-12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100" dirty="0" smtClean="0">
              <a:latin typeface="標楷體" panose="03000509000000000000" pitchFamily="65" charset="-120"/>
              <a:ea typeface="標楷體" panose="03000509000000000000" pitchFamily="65" charset="-120"/>
              <a:cs typeface="Times New Roman" panose="02020603050405020304" pitchFamily="18" charset="0"/>
            </a:endParaRPr>
          </a:p>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16</a:t>
            </a:fld>
            <a:endParaRPr lang="zh-TW" altLang="en-US"/>
          </a:p>
        </p:txBody>
      </p:sp>
    </p:spTree>
    <p:extLst>
      <p:ext uri="{BB962C8B-B14F-4D97-AF65-F5344CB8AC3E}">
        <p14:creationId xmlns:p14="http://schemas.microsoft.com/office/powerpoint/2010/main" val="2958932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2024/3/12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4187316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2024/3/12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1112048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2024/3/12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2948020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49626808-429A-4028-A4D4-897012403039}" type="datetimeFigureOut">
              <a:rPr lang="zh-TW" altLang="en-US" smtClean="0"/>
              <a:t>2024/3/12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333892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49626808-429A-4028-A4D4-897012403039}" type="datetimeFigureOut">
              <a:rPr lang="zh-TW" altLang="en-US" smtClean="0"/>
              <a:t>2024/3/12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3810811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49626808-429A-4028-A4D4-897012403039}" type="datetimeFigureOut">
              <a:rPr lang="zh-TW" altLang="en-US" smtClean="0"/>
              <a:t>2024/3/12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3946883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9626808-429A-4028-A4D4-897012403039}" type="datetimeFigureOut">
              <a:rPr lang="zh-TW" altLang="en-US" smtClean="0"/>
              <a:t>2024/3/12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4238548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49626808-429A-4028-A4D4-897012403039}" type="datetimeFigureOut">
              <a:rPr lang="zh-TW" altLang="en-US" smtClean="0"/>
              <a:t>2024/3/12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1173251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49626808-429A-4028-A4D4-897012403039}" type="datetimeFigureOut">
              <a:rPr lang="zh-TW" altLang="en-US" smtClean="0"/>
              <a:t>2024/3/12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4027975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2024/3/12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176724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2024/3/12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3488527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626808-429A-4028-A4D4-897012403039}" type="datetimeFigureOut">
              <a:rPr lang="zh-TW" altLang="en-US" smtClean="0"/>
              <a:t>2024/3/12</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1487578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customXml" Target="../ink/ink2.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932954"/>
            <a:ext cx="9144000" cy="2387600"/>
          </a:xfrm>
        </p:spPr>
        <p:txBody>
          <a:bodyPr>
            <a:noAutofit/>
          </a:bodyPr>
          <a:lstStyle/>
          <a:p>
            <a:r>
              <a:rPr lang="en-US" altLang="zh-TW" sz="4400" dirty="0" smtClean="0">
                <a:latin typeface="Times New Roman" panose="02020603050405020304" pitchFamily="18" charset="0"/>
                <a:cs typeface="Times New Roman" panose="02020603050405020304" pitchFamily="18" charset="0"/>
              </a:rPr>
              <a:t>Entropy-Based </a:t>
            </a:r>
            <a:r>
              <a:rPr lang="en-US" altLang="zh-TW" sz="4400" dirty="0">
                <a:latin typeface="Times New Roman" panose="02020603050405020304" pitchFamily="18" charset="0"/>
                <a:cs typeface="Times New Roman" panose="02020603050405020304" pitchFamily="18" charset="0"/>
              </a:rPr>
              <a:t>Two-Phase Optimization Algorithm for Solving </a:t>
            </a:r>
            <a:r>
              <a:rPr lang="en-US" altLang="zh-TW" sz="4400" dirty="0" err="1">
                <a:latin typeface="Times New Roman" panose="02020603050405020304" pitchFamily="18" charset="0"/>
                <a:cs typeface="Times New Roman" panose="02020603050405020304" pitchFamily="18" charset="0"/>
              </a:rPr>
              <a:t>Wordle</a:t>
            </a:r>
            <a:r>
              <a:rPr lang="en-US" altLang="zh-TW" sz="4400" dirty="0">
                <a:latin typeface="Times New Roman" panose="02020603050405020304" pitchFamily="18" charset="0"/>
                <a:cs typeface="Times New Roman" panose="02020603050405020304" pitchFamily="18" charset="0"/>
              </a:rPr>
              <a:t>-like Games</a:t>
            </a:r>
            <a:endParaRPr lang="en-US" altLang="zh-TW" sz="4400" b="1" i="0" dirty="0">
              <a:solidFill>
                <a:srgbClr val="333333"/>
              </a:solidFill>
              <a:effectLst/>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a:xfrm>
            <a:off x="183471" y="3749670"/>
            <a:ext cx="11825057" cy="1655762"/>
          </a:xfrm>
        </p:spPr>
        <p:txBody>
          <a:bodyPr>
            <a:normAutofit lnSpcReduction="10000"/>
          </a:bodyPr>
          <a:lstStyle/>
          <a:p>
            <a:r>
              <a:rPr lang="fi-FI" altLang="zh-TW" dirty="0">
                <a:latin typeface="Times New Roman" panose="02020603050405020304" pitchFamily="18" charset="0"/>
                <a:cs typeface="Times New Roman" panose="02020603050405020304" pitchFamily="18" charset="0"/>
              </a:rPr>
              <a:t>Yen-Chi </a:t>
            </a:r>
            <a:r>
              <a:rPr lang="fi-FI" altLang="zh-TW" dirty="0" smtClean="0">
                <a:latin typeface="Times New Roman" panose="02020603050405020304" pitchFamily="18" charset="0"/>
                <a:cs typeface="Times New Roman" panose="02020603050405020304" pitchFamily="18" charset="0"/>
              </a:rPr>
              <a:t>Chen</a:t>
            </a:r>
            <a:r>
              <a:rPr lang="fi-FI" altLang="zh-TW" dirty="0">
                <a:latin typeface="Times New Roman" panose="02020603050405020304" pitchFamily="18" charset="0"/>
                <a:cs typeface="Times New Roman" panose="02020603050405020304" pitchFamily="18" charset="0"/>
              </a:rPr>
              <a:t>, Hao-En </a:t>
            </a:r>
            <a:r>
              <a:rPr lang="fi-FI" altLang="zh-TW" dirty="0" smtClean="0">
                <a:latin typeface="Times New Roman" panose="02020603050405020304" pitchFamily="18" charset="0"/>
                <a:cs typeface="Times New Roman" panose="02020603050405020304" pitchFamily="18" charset="0"/>
              </a:rPr>
              <a:t>Kuan, </a:t>
            </a:r>
            <a:r>
              <a:rPr lang="en-US" altLang="zh-TW" dirty="0">
                <a:latin typeface="Times New Roman" panose="02020603050405020304" pitchFamily="18" charset="0"/>
                <a:cs typeface="Times New Roman" panose="02020603050405020304" pitchFamily="18" charset="0"/>
              </a:rPr>
              <a:t>Yen-Shun Lu, Tzu-Chun Chen, I-Chen </a:t>
            </a:r>
            <a:r>
              <a:rPr lang="en-US" altLang="zh-TW" dirty="0" smtClean="0">
                <a:latin typeface="Times New Roman" panose="02020603050405020304" pitchFamily="18" charset="0"/>
                <a:cs typeface="Times New Roman" panose="02020603050405020304" pitchFamily="18" charset="0"/>
              </a:rPr>
              <a:t>Wu</a:t>
            </a:r>
            <a:r>
              <a:rPr lang="en-US" altLang="zh-TW" b="0" i="0" u="none" strike="noStrike" dirty="0" smtClean="0">
                <a:effectLst/>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2022 International Conference on Technologies and Applications of Artificial Intelligence (TAAI)</a:t>
            </a:r>
            <a:endParaRPr lang="en-US" altLang="zh-TW" b="0" i="0" u="none" strike="noStrike" dirty="0">
              <a:effectLst/>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December </a:t>
            </a:r>
            <a:r>
              <a:rPr lang="en-US" altLang="zh-TW" dirty="0" smtClean="0">
                <a:latin typeface="Times New Roman" panose="02020603050405020304" pitchFamily="18" charset="0"/>
                <a:cs typeface="Times New Roman" panose="02020603050405020304" pitchFamily="18" charset="0"/>
              </a:rPr>
              <a:t>2022</a:t>
            </a:r>
            <a:r>
              <a:rPr lang="en-US" altLang="zh-TW" dirty="0">
                <a:latin typeface="Times New Roman" panose="02020603050405020304" pitchFamily="18" charset="0"/>
                <a:cs typeface="Times New Roman" panose="02020603050405020304" pitchFamily="18" charset="0"/>
              </a:rPr>
              <a:t>, Tainan, Taiwan</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smtClean="0">
                <a:latin typeface="Times New Roman"/>
                <a:ea typeface="Times New Roman"/>
                <a:cs typeface="Times New Roman"/>
                <a:sym typeface="Times New Roman"/>
              </a:rPr>
              <a:t>Presenter: </a:t>
            </a:r>
            <a:r>
              <a:rPr lang="en-US" altLang="zh-TW" sz="2000" dirty="0" smtClean="0">
                <a:latin typeface="Times New Roman"/>
                <a:ea typeface="Times New Roman"/>
                <a:cs typeface="Times New Roman"/>
                <a:sym typeface="Times New Roman"/>
              </a:rPr>
              <a:t>Wan-</a:t>
            </a:r>
            <a:r>
              <a:rPr lang="en-US" altLang="zh-TW" sz="2000" dirty="0">
                <a:latin typeface="Times New Roman"/>
                <a:ea typeface="Times New Roman"/>
                <a:cs typeface="Times New Roman"/>
                <a:sym typeface="Times New Roman"/>
              </a:rPr>
              <a:t>N</a:t>
            </a:r>
            <a:r>
              <a:rPr lang="en-US" altLang="zh-TW" sz="2000" dirty="0" smtClean="0">
                <a:latin typeface="Times New Roman"/>
                <a:ea typeface="Times New Roman"/>
                <a:cs typeface="Times New Roman"/>
                <a:sym typeface="Times New Roman"/>
              </a:rPr>
              <a:t>i </a:t>
            </a:r>
            <a:r>
              <a:rPr lang="en-US" altLang="zh-TW" sz="2000" dirty="0" err="1" smtClean="0">
                <a:latin typeface="Times New Roman"/>
                <a:ea typeface="Times New Roman"/>
                <a:cs typeface="Times New Roman"/>
                <a:sym typeface="Times New Roman"/>
              </a:rPr>
              <a:t>Ou</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smtClean="0">
                <a:latin typeface="Times New Roman"/>
                <a:ea typeface="Times New Roman"/>
                <a:cs typeface="Times New Roman"/>
                <a:sym typeface="Times New Roman"/>
              </a:rPr>
              <a:t>Mar.</a:t>
            </a:r>
            <a:r>
              <a:rPr lang="zh-TW" sz="2000" dirty="0" smtClean="0">
                <a:latin typeface="Times New Roman"/>
                <a:ea typeface="Times New Roman"/>
                <a:cs typeface="Times New Roman"/>
                <a:sym typeface="Times New Roman"/>
              </a:rPr>
              <a:t> </a:t>
            </a:r>
            <a:r>
              <a:rPr lang="en-US" altLang="zh-TW" sz="2000" dirty="0" smtClean="0">
                <a:latin typeface="Times New Roman"/>
                <a:ea typeface="Times New Roman"/>
                <a:cs typeface="Times New Roman"/>
                <a:sym typeface="Times New Roman"/>
              </a:rPr>
              <a:t>11</a:t>
            </a:r>
            <a:r>
              <a:rPr lang="zh-TW" sz="2000" dirty="0" smtClean="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4</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4243322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690688"/>
            <a:ext cx="10515600" cy="4351338"/>
          </a:xfrm>
        </p:spPr>
        <p:txBody>
          <a:bodyPr>
            <a:noAutofit/>
          </a:bodyPr>
          <a:lstStyle/>
          <a:p>
            <a:pPr marL="0" indent="0" algn="just">
              <a:buNone/>
            </a:pPr>
            <a:r>
              <a:rPr lang="en-US" altLang="zh-TW" sz="2400" dirty="0">
                <a:latin typeface="Times New Roman" panose="02020603050405020304" pitchFamily="18" charset="0"/>
                <a:cs typeface="Times New Roman" panose="02020603050405020304" pitchFamily="18" charset="0"/>
              </a:rPr>
              <a:t>	</a:t>
            </a:r>
            <a:r>
              <a:rPr lang="en-US" altLang="zh-TW" sz="2400" dirty="0" smtClean="0">
                <a:latin typeface="Times New Roman" panose="02020603050405020304" pitchFamily="18" charset="0"/>
                <a:cs typeface="Times New Roman" panose="02020603050405020304" pitchFamily="18" charset="0"/>
              </a:rPr>
              <a:t>In </a:t>
            </a:r>
            <a:r>
              <a:rPr lang="en-US" altLang="zh-TW" sz="2400" dirty="0">
                <a:latin typeface="Times New Roman" panose="02020603050405020304" pitchFamily="18" charset="0"/>
                <a:cs typeface="Times New Roman" panose="02020603050405020304" pitchFamily="18" charset="0"/>
              </a:rPr>
              <a:t>the past, a method called Two-Phase Optimization Algorithm (TPOA) was designed by Shan-Tai Chen to solve the game of Mastermind and the AB game efficiently. In this paper, we proposed a modified version called Entropy-Based TPOA (EBTPOA) for </a:t>
            </a:r>
            <a:r>
              <a:rPr lang="en-US" altLang="zh-TW" sz="2400" dirty="0" err="1">
                <a:latin typeface="Times New Roman" panose="02020603050405020304" pitchFamily="18" charset="0"/>
                <a:cs typeface="Times New Roman" panose="02020603050405020304" pitchFamily="18" charset="0"/>
              </a:rPr>
              <a:t>Wordle</a:t>
            </a:r>
            <a:r>
              <a:rPr lang="en-US" altLang="zh-TW" sz="2400" dirty="0">
                <a:latin typeface="Times New Roman" panose="02020603050405020304" pitchFamily="18" charset="0"/>
                <a:cs typeface="Times New Roman" panose="02020603050405020304" pitchFamily="18" charset="0"/>
              </a:rPr>
              <a:t>-like games. It is a combination of his algorithm and our previous work on </a:t>
            </a:r>
            <a:r>
              <a:rPr lang="en-US" altLang="zh-TW" sz="2400" dirty="0" err="1">
                <a:latin typeface="Times New Roman" panose="02020603050405020304" pitchFamily="18" charset="0"/>
                <a:cs typeface="Times New Roman" panose="02020603050405020304" pitchFamily="18" charset="0"/>
              </a:rPr>
              <a:t>Nerdle</a:t>
            </a:r>
            <a:r>
              <a:rPr lang="en-US" altLang="zh-TW" sz="2400" dirty="0">
                <a:latin typeface="Times New Roman" panose="02020603050405020304" pitchFamily="18" charset="0"/>
                <a:cs typeface="Times New Roman" panose="02020603050405020304" pitchFamily="18" charset="0"/>
              </a:rPr>
              <a:t> with greedy method. It focuses on not only effectiveness but also efficiency while finding optimal results. In </a:t>
            </a:r>
            <a:r>
              <a:rPr lang="en-US" altLang="zh-TW" sz="2400" dirty="0" err="1">
                <a:latin typeface="Times New Roman" panose="02020603050405020304" pitchFamily="18" charset="0"/>
                <a:cs typeface="Times New Roman" panose="02020603050405020304" pitchFamily="18" charset="0"/>
              </a:rPr>
              <a:t>Wordle</a:t>
            </a:r>
            <a:r>
              <a:rPr lang="en-US" altLang="zh-TW" sz="2400" dirty="0">
                <a:latin typeface="Times New Roman" panose="02020603050405020304" pitchFamily="18" charset="0"/>
                <a:cs typeface="Times New Roman" panose="02020603050405020304" pitchFamily="18" charset="0"/>
              </a:rPr>
              <a:t>-like games, EBTPOA performs better with fewer guess times on average than TPOA. In </a:t>
            </a:r>
            <a:r>
              <a:rPr lang="en-US" altLang="zh-TW" sz="2400" dirty="0" err="1">
                <a:latin typeface="Times New Roman" panose="02020603050405020304" pitchFamily="18" charset="0"/>
                <a:cs typeface="Times New Roman" panose="02020603050405020304" pitchFamily="18" charset="0"/>
              </a:rPr>
              <a:t>Wordle</a:t>
            </a:r>
            <a:r>
              <a:rPr lang="en-US" altLang="zh-TW" sz="2400" dirty="0">
                <a:latin typeface="Times New Roman" panose="02020603050405020304" pitchFamily="18" charset="0"/>
                <a:cs typeface="Times New Roman" panose="02020603050405020304" pitchFamily="18" charset="0"/>
              </a:rPr>
              <a:t>, EBTPOA hits the answer optimally within 3.42117 times on average, and 5 times in the worst case, and the best opening word is ”SALET”. In </a:t>
            </a:r>
            <a:r>
              <a:rPr lang="en-US" altLang="zh-TW" sz="2400" dirty="0" err="1">
                <a:latin typeface="Times New Roman" panose="02020603050405020304" pitchFamily="18" charset="0"/>
                <a:cs typeface="Times New Roman" panose="02020603050405020304" pitchFamily="18" charset="0"/>
              </a:rPr>
              <a:t>Nerdle</a:t>
            </a:r>
            <a:r>
              <a:rPr lang="en-US" altLang="zh-TW" sz="2400" dirty="0">
                <a:latin typeface="Times New Roman" panose="02020603050405020304" pitchFamily="18" charset="0"/>
                <a:cs typeface="Times New Roman" panose="02020603050405020304" pitchFamily="18" charset="0"/>
              </a:rPr>
              <a:t>, EBTPOA hits the answer within 3.01947 times on average, and 4 times in the worst case, and the best opening equation is ”52-34=18”. These are the best results up to date, and particularly none has achieved the result for </a:t>
            </a:r>
            <a:r>
              <a:rPr lang="en-US" altLang="zh-TW" sz="2400" dirty="0" err="1">
                <a:latin typeface="Times New Roman" panose="02020603050405020304" pitchFamily="18" charset="0"/>
                <a:cs typeface="Times New Roman" panose="02020603050405020304" pitchFamily="18" charset="0"/>
              </a:rPr>
              <a:t>Nerdle</a:t>
            </a:r>
            <a:r>
              <a:rPr lang="en-US" altLang="zh-TW" sz="2400" dirty="0">
                <a:latin typeface="Times New Roman" panose="02020603050405020304" pitchFamily="18" charset="0"/>
                <a:cs typeface="Times New Roman" panose="02020603050405020304" pitchFamily="18" charset="0"/>
              </a:rPr>
              <a:t> so far. As for efficiency, by expanding with fewer branches and limiting the depth of exploration, EBTPOA can obtain the optimal result with a lower time complexity compared to related works.</a:t>
            </a: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536330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err="1" smtClean="0">
                <a:latin typeface="Times New Roman" panose="02020603050405020304" pitchFamily="18" charset="0"/>
                <a:cs typeface="Times New Roman" panose="02020603050405020304" pitchFamily="18" charset="0"/>
              </a:rPr>
              <a:t>Wordle</a:t>
            </a:r>
            <a:r>
              <a:rPr lang="en-US" altLang="zh-TW" b="1" dirty="0" smtClean="0">
                <a:latin typeface="Times New Roman" panose="02020603050405020304" pitchFamily="18" charset="0"/>
                <a:cs typeface="Times New Roman" panose="02020603050405020304" pitchFamily="18" charset="0"/>
              </a:rPr>
              <a:t> &amp; </a:t>
            </a:r>
            <a:r>
              <a:rPr lang="en-US" altLang="zh-TW" b="1" dirty="0" err="1" smtClean="0">
                <a:latin typeface="Times New Roman" panose="02020603050405020304" pitchFamily="18" charset="0"/>
                <a:cs typeface="Times New Roman" panose="02020603050405020304" pitchFamily="18" charset="0"/>
              </a:rPr>
              <a:t>Nerdle</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3</a:t>
            </a:fld>
            <a:endParaRPr lang="zh-TW" altLang="en-US"/>
          </a:p>
        </p:txBody>
      </p:sp>
      <p:pic>
        <p:nvPicPr>
          <p:cNvPr id="5" name="圖片 4"/>
          <p:cNvPicPr>
            <a:picLocks noChangeAspect="1"/>
          </p:cNvPicPr>
          <p:nvPr/>
        </p:nvPicPr>
        <p:blipFill>
          <a:blip r:embed="rId3"/>
          <a:stretch>
            <a:fillRect/>
          </a:stretch>
        </p:blipFill>
        <p:spPr>
          <a:xfrm>
            <a:off x="2097498" y="1413102"/>
            <a:ext cx="7997003" cy="4557805"/>
          </a:xfrm>
          <a:prstGeom prst="rect">
            <a:avLst/>
          </a:prstGeom>
        </p:spPr>
      </p:pic>
    </p:spTree>
    <p:extLst>
      <p:ext uri="{BB962C8B-B14F-4D97-AF65-F5344CB8AC3E}">
        <p14:creationId xmlns:p14="http://schemas.microsoft.com/office/powerpoint/2010/main" val="2897784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3"/>
          <a:stretch>
            <a:fillRect/>
          </a:stretch>
        </p:blipFill>
        <p:spPr>
          <a:xfrm>
            <a:off x="2029232" y="1620499"/>
            <a:ext cx="7544870" cy="3306702"/>
          </a:xfrm>
          <a:prstGeom prst="rect">
            <a:avLst/>
          </a:prstGeom>
        </p:spPr>
      </p:pic>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smtClean="0">
                <a:latin typeface="Times New Roman" panose="02020603050405020304" pitchFamily="18" charset="0"/>
                <a:cs typeface="Times New Roman" panose="02020603050405020304" pitchFamily="18" charset="0"/>
              </a:rPr>
              <a:t>Game list &amp; Legal list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543867" y="5019851"/>
            <a:ext cx="10515600" cy="1151199"/>
          </a:xfrm>
        </p:spPr>
        <p:txBody>
          <a:bodyPr>
            <a:normAutofit/>
          </a:bodyPr>
          <a:lstStyle/>
          <a:p>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Game list:</a:t>
            </a:r>
            <a:r>
              <a:rPr lang="zh-TW" altLang="en-US" sz="2400" dirty="0" smtClean="0">
                <a:latin typeface="Times New Roman" panose="02020603050405020304" pitchFamily="18" charset="0"/>
                <a:ea typeface="標楷體" panose="03000509000000000000" pitchFamily="65" charset="-120"/>
                <a:cs typeface="Times New Roman" panose="02020603050405020304" pitchFamily="18" charset="0"/>
              </a:rPr>
              <a:t> 包含了可能作為答案的單字。</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 </a:t>
            </a:r>
          </a:p>
          <a:p>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Legal list: </a:t>
            </a:r>
            <a:r>
              <a:rPr lang="zh-TW" altLang="en-US" sz="2400" dirty="0" smtClean="0">
                <a:latin typeface="Times New Roman" panose="02020603050405020304" pitchFamily="18" charset="0"/>
                <a:ea typeface="標楷體" panose="03000509000000000000" pitchFamily="65" charset="-120"/>
                <a:cs typeface="Times New Roman" panose="02020603050405020304" pitchFamily="18" charset="0"/>
              </a:rPr>
              <a:t>包含了所有合法的單字。</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4</a:t>
            </a:fld>
            <a:endParaRPr lang="zh-TW" altLang="en-US"/>
          </a:p>
        </p:txBody>
      </p:sp>
    </p:spTree>
    <p:extLst>
      <p:ext uri="{BB962C8B-B14F-4D97-AF65-F5344CB8AC3E}">
        <p14:creationId xmlns:p14="http://schemas.microsoft.com/office/powerpoint/2010/main" val="4113494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p:cNvPicPr>
            <a:picLocks noChangeAspect="1"/>
          </p:cNvPicPr>
          <p:nvPr/>
        </p:nvPicPr>
        <p:blipFill>
          <a:blip r:embed="rId3"/>
          <a:stretch>
            <a:fillRect/>
          </a:stretch>
        </p:blipFill>
        <p:spPr>
          <a:xfrm>
            <a:off x="3201028" y="1346811"/>
            <a:ext cx="5789944" cy="4248639"/>
          </a:xfrm>
          <a:prstGeom prst="rect">
            <a:avLst/>
          </a:prstGeom>
        </p:spPr>
      </p:pic>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smtClean="0">
                <a:latin typeface="Times New Roman" panose="02020603050405020304" pitchFamily="18" charset="0"/>
                <a:cs typeface="Times New Roman" panose="02020603050405020304" pitchFamily="18" charset="0"/>
              </a:rPr>
              <a:t>Game Tree</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641839" y="5595450"/>
            <a:ext cx="10515600" cy="1151199"/>
          </a:xfrm>
        </p:spPr>
        <p:txBody>
          <a:bodyPr>
            <a:normAutofit/>
          </a:bodyPr>
          <a:lstStyle/>
          <a:p>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State nodes:</a:t>
            </a:r>
            <a:r>
              <a:rPr lang="zh-TW" altLang="en-US" sz="2400" dirty="0" smtClean="0">
                <a:latin typeface="Times New Roman" panose="02020603050405020304" pitchFamily="18" charset="0"/>
                <a:ea typeface="標楷體" panose="03000509000000000000" pitchFamily="65" charset="-120"/>
                <a:cs typeface="Times New Roman" panose="02020603050405020304" pitchFamily="18" charset="0"/>
              </a:rPr>
              <a:t> 一個集合，裡面包含剩餘的可能的解。</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 </a:t>
            </a:r>
          </a:p>
          <a:p>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Chance nodes: </a:t>
            </a:r>
            <a:r>
              <a:rPr lang="zh-TW" altLang="en-US" sz="2400" dirty="0" smtClean="0">
                <a:latin typeface="Times New Roman" panose="02020603050405020304" pitchFamily="18" charset="0"/>
                <a:ea typeface="標楷體" panose="03000509000000000000" pitchFamily="65" charset="-120"/>
                <a:cs typeface="Times New Roman" panose="02020603050405020304" pitchFamily="18" charset="0"/>
              </a:rPr>
              <a:t>表示選中的解，根據不同的</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response</a:t>
            </a:r>
            <a:r>
              <a:rPr lang="zh-TW" altLang="en-US" sz="2400" dirty="0" smtClean="0">
                <a:latin typeface="Times New Roman" panose="02020603050405020304" pitchFamily="18" charset="0"/>
                <a:ea typeface="標楷體" panose="03000509000000000000" pitchFamily="65" charset="-120"/>
                <a:cs typeface="Times New Roman" panose="02020603050405020304" pitchFamily="18" charset="0"/>
              </a:rPr>
              <a:t>會再生成新的</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State nodes</a:t>
            </a:r>
            <a:r>
              <a:rPr lang="zh-TW" altLang="en-US" sz="2400" dirty="0" smtClean="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5</a:t>
            </a:fld>
            <a:endParaRPr lang="zh-TW" altLang="en-US"/>
          </a:p>
        </p:txBody>
      </p:sp>
      <p:sp>
        <p:nvSpPr>
          <p:cNvPr id="5" name="文字方塊 4"/>
          <p:cNvSpPr txBox="1"/>
          <p:nvPr/>
        </p:nvSpPr>
        <p:spPr>
          <a:xfrm>
            <a:off x="1860449" y="3654818"/>
            <a:ext cx="1743170" cy="369332"/>
          </a:xfrm>
          <a:prstGeom prst="rect">
            <a:avLst/>
          </a:prstGeom>
          <a:noFill/>
        </p:spPr>
        <p:txBody>
          <a:bodyPr wrap="none" rtlCol="0">
            <a:spAutoFit/>
          </a:bodyPr>
          <a:lstStyle/>
          <a:p>
            <a:r>
              <a:rPr lang="en-US" altLang="zh-TW" dirty="0" smtClean="0">
                <a:latin typeface="Times New Roman" panose="02020603050405020304" pitchFamily="18" charset="0"/>
                <a:cs typeface="Times New Roman" panose="02020603050405020304" pitchFamily="18" charset="0"/>
              </a:rPr>
              <a:t>{</a:t>
            </a:r>
            <a:r>
              <a:rPr lang="en-US" altLang="zh-TW" dirty="0" err="1" smtClean="0">
                <a:latin typeface="Times New Roman" panose="02020603050405020304" pitchFamily="18" charset="0"/>
                <a:cs typeface="Times New Roman" panose="02020603050405020304" pitchFamily="18" charset="0"/>
              </a:rPr>
              <a:t>water,cycle</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7" name="文字方塊 6"/>
          <p:cNvSpPr txBox="1"/>
          <p:nvPr/>
        </p:nvSpPr>
        <p:spPr>
          <a:xfrm>
            <a:off x="4072613" y="3838853"/>
            <a:ext cx="1726755" cy="369332"/>
          </a:xfrm>
          <a:prstGeom prst="rect">
            <a:avLst/>
          </a:prstGeom>
          <a:noFill/>
        </p:spPr>
        <p:txBody>
          <a:bodyPr wrap="none" rtlCol="0">
            <a:spAutoFit/>
          </a:bodyPr>
          <a:lstStyle/>
          <a:p>
            <a:r>
              <a:rPr lang="en-US" altLang="zh-TW" dirty="0" smtClean="0">
                <a:latin typeface="Times New Roman" panose="02020603050405020304" pitchFamily="18" charset="0"/>
                <a:cs typeface="Times New Roman" panose="02020603050405020304" pitchFamily="18" charset="0"/>
              </a:rPr>
              <a:t>{</a:t>
            </a:r>
            <a:r>
              <a:rPr lang="en-US" altLang="zh-TW" dirty="0" err="1" smtClean="0">
                <a:latin typeface="Times New Roman" panose="02020603050405020304" pitchFamily="18" charset="0"/>
                <a:cs typeface="Times New Roman" panose="02020603050405020304" pitchFamily="18" charset="0"/>
              </a:rPr>
              <a:t>frame,fried</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42908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p:cNvPicPr>
            <a:picLocks noChangeAspect="1"/>
          </p:cNvPicPr>
          <p:nvPr/>
        </p:nvPicPr>
        <p:blipFill>
          <a:blip r:embed="rId3"/>
          <a:stretch>
            <a:fillRect/>
          </a:stretch>
        </p:blipFill>
        <p:spPr>
          <a:xfrm>
            <a:off x="1787588" y="3522133"/>
            <a:ext cx="8616824" cy="3016779"/>
          </a:xfrm>
          <a:prstGeom prst="rect">
            <a:avLst/>
          </a:prstGeom>
        </p:spPr>
      </p:pic>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a:xfrm>
            <a:off x="838200" y="184503"/>
            <a:ext cx="10515600" cy="1325563"/>
          </a:xfrm>
        </p:spPr>
        <p:txBody>
          <a:bodyPr/>
          <a:lstStyle/>
          <a:p>
            <a:pPr algn="ctr"/>
            <a:r>
              <a:rPr lang="en-US" altLang="zh-TW" b="1" dirty="0" smtClean="0">
                <a:latin typeface="Times New Roman" panose="02020603050405020304" pitchFamily="18" charset="0"/>
                <a:cs typeface="Times New Roman" panose="02020603050405020304" pitchFamily="18" charset="0"/>
              </a:rPr>
              <a:t>Two-Phase Optimization Algorithm(TPOA)</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235252"/>
            <a:ext cx="10515600" cy="2926468"/>
          </a:xfrm>
        </p:spPr>
        <p:txBody>
          <a:bodyPr>
            <a:normAutofit/>
          </a:bodyPr>
          <a:lstStyle/>
          <a:p>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Solve the AB game and Mastermind.</a:t>
            </a:r>
          </a:p>
          <a:p>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R</a:t>
            </a:r>
            <a:r>
              <a:rPr lang="en-US" altLang="zh-TW" sz="2000" dirty="0" smtClean="0">
                <a:latin typeface="Times New Roman" panose="02020603050405020304" pitchFamily="18" charset="0"/>
                <a:cs typeface="Times New Roman" panose="02020603050405020304" pitchFamily="18" charset="0"/>
              </a:rPr>
              <a:t>educe </a:t>
            </a:r>
            <a:r>
              <a:rPr lang="en-US" altLang="zh-TW" sz="2000" dirty="0">
                <a:latin typeface="Times New Roman" panose="02020603050405020304" pitchFamily="18" charset="0"/>
                <a:cs typeface="Times New Roman" panose="02020603050405020304" pitchFamily="18" charset="0"/>
              </a:rPr>
              <a:t>the number of expanded nodes during the exploration of the game tree as much as </a:t>
            </a:r>
            <a:r>
              <a:rPr lang="en-US" altLang="zh-TW" sz="2000" dirty="0" smtClean="0">
                <a:latin typeface="Times New Roman" panose="02020603050405020304" pitchFamily="18" charset="0"/>
                <a:cs typeface="Times New Roman" panose="02020603050405020304" pitchFamily="18" charset="0"/>
              </a:rPr>
              <a:t>possible.</a:t>
            </a:r>
          </a:p>
          <a:p>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TPOA</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分為</a:t>
            </a:r>
            <a:r>
              <a:rPr lang="en-US" altLang="zh-TW" sz="2000" dirty="0">
                <a:latin typeface="Times New Roman" panose="02020603050405020304" pitchFamily="18" charset="0"/>
                <a:cs typeface="Times New Roman" panose="02020603050405020304" pitchFamily="18" charset="0"/>
              </a:rPr>
              <a:t>exploration </a:t>
            </a:r>
            <a:r>
              <a:rPr lang="en-US" altLang="zh-TW" sz="2000" dirty="0" smtClean="0">
                <a:latin typeface="Times New Roman" panose="02020603050405020304" pitchFamily="18" charset="0"/>
                <a:cs typeface="Times New Roman" panose="02020603050405020304" pitchFamily="18" charset="0"/>
              </a:rPr>
              <a:t>phase</a:t>
            </a:r>
            <a:r>
              <a:rPr lang="zh-TW" altLang="en-US" sz="2000" dirty="0" smtClean="0">
                <a:latin typeface="Times New Roman" panose="02020603050405020304" pitchFamily="18" charset="0"/>
                <a:cs typeface="Times New Roman" panose="02020603050405020304" pitchFamily="18" charset="0"/>
              </a:rPr>
              <a:t> 和 </a:t>
            </a:r>
            <a:r>
              <a:rPr lang="en-US" altLang="zh-TW" sz="2000" dirty="0" smtClean="0">
                <a:latin typeface="Times New Roman" panose="02020603050405020304" pitchFamily="18" charset="0"/>
                <a:cs typeface="Times New Roman" panose="02020603050405020304" pitchFamily="18" charset="0"/>
              </a:rPr>
              <a:t>exploitation</a:t>
            </a:r>
            <a:r>
              <a:rPr lang="zh-TW" altLang="en-US" sz="2000" dirty="0" smtClean="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phase</a:t>
            </a:r>
          </a:p>
          <a:p>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TPOA</a:t>
            </a:r>
            <a:r>
              <a:rPr lang="en-US" altLang="zh-TW" sz="2000" baseline="30000"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baseline="300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 探索</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階段保持</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固定的</a:t>
            </a:r>
            <a:r>
              <a:rPr lang="en-US" altLang="zh-TW" sz="2000" dirty="0"/>
              <a:t>branching factor</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baseline="30000" dirty="0" smtClean="0">
                <a:latin typeface="Times New Roman" panose="02020603050405020304" pitchFamily="18" charset="0"/>
                <a:ea typeface="標楷體" panose="03000509000000000000" pitchFamily="65" charset="-120"/>
                <a:cs typeface="Times New Roman" panose="02020603050405020304" pitchFamily="18" charset="0"/>
              </a:rPr>
              <a:t>	</a:t>
            </a:r>
          </a:p>
          <a:p>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TPOA</a:t>
            </a:r>
            <a:r>
              <a:rPr lang="en-US" altLang="zh-TW" sz="2000" baseline="3000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 探索</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階段在每個深度</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層級，均勻地減少</a:t>
            </a:r>
            <a:r>
              <a:rPr lang="en-US" altLang="zh-TW" sz="2000" dirty="0"/>
              <a:t>branching factor</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6</a:t>
            </a:fld>
            <a:endParaRPr lang="zh-TW" altLang="en-US"/>
          </a:p>
        </p:txBody>
      </p:sp>
    </p:spTree>
    <p:extLst>
      <p:ext uri="{BB962C8B-B14F-4D97-AF65-F5344CB8AC3E}">
        <p14:creationId xmlns:p14="http://schemas.microsoft.com/office/powerpoint/2010/main" val="14961937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a:xfrm>
            <a:off x="838200" y="184503"/>
            <a:ext cx="10515600" cy="1325563"/>
          </a:xfrm>
        </p:spPr>
        <p:txBody>
          <a:bodyPr/>
          <a:lstStyle/>
          <a:p>
            <a:pPr algn="ctr"/>
            <a:r>
              <a:rPr lang="en-US" altLang="zh-TW" b="1" dirty="0" smtClean="0">
                <a:latin typeface="Times New Roman" panose="02020603050405020304" pitchFamily="18" charset="0"/>
                <a:cs typeface="Times New Roman" panose="02020603050405020304" pitchFamily="18" charset="0"/>
              </a:rPr>
              <a:t>Two-Phase Optimization Algorithm(TPOA)</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641652"/>
            <a:ext cx="10515600" cy="2926468"/>
          </a:xfrm>
        </p:spPr>
        <p:txBody>
          <a:bodyPr>
            <a:normAutofit/>
          </a:bodyPr>
          <a:lstStyle/>
          <a:p>
            <a:r>
              <a:rPr lang="zh-TW" altLang="en-US" sz="2000" dirty="0">
                <a:latin typeface="標楷體" panose="03000509000000000000" pitchFamily="65" charset="-120"/>
                <a:ea typeface="標楷體" panose="03000509000000000000" pitchFamily="65" charset="-120"/>
              </a:rPr>
              <a:t>將所有的單字分類到不同的</a:t>
            </a:r>
            <a:r>
              <a:rPr lang="en-US" altLang="zh-TW" sz="2000" dirty="0">
                <a:latin typeface="標楷體" panose="03000509000000000000" pitchFamily="65" charset="-120"/>
                <a:ea typeface="標楷體" panose="03000509000000000000" pitchFamily="65" charset="-120"/>
              </a:rPr>
              <a:t>group</a:t>
            </a:r>
            <a:r>
              <a:rPr lang="zh-TW" altLang="en-US" sz="2000" dirty="0">
                <a:latin typeface="標楷體" panose="03000509000000000000" pitchFamily="65" charset="-120"/>
                <a:ea typeface="標楷體" panose="03000509000000000000" pitchFamily="65" charset="-120"/>
              </a:rPr>
              <a:t>，如果單字有相同的</a:t>
            </a:r>
            <a:r>
              <a:rPr lang="en-US" altLang="zh-TW" sz="2000" dirty="0">
                <a:latin typeface="標楷體" panose="03000509000000000000" pitchFamily="65" charset="-120"/>
                <a:ea typeface="標楷體" panose="03000509000000000000" pitchFamily="65" charset="-120"/>
              </a:rPr>
              <a:t>hash value</a:t>
            </a:r>
            <a:r>
              <a:rPr lang="zh-TW" altLang="en-US" sz="2000" dirty="0">
                <a:latin typeface="標楷體" panose="03000509000000000000" pitchFamily="65" charset="-120"/>
                <a:ea typeface="標楷體" panose="03000509000000000000" pitchFamily="65" charset="-120"/>
              </a:rPr>
              <a:t>，就會被分配到同一個</a:t>
            </a:r>
            <a:r>
              <a:rPr lang="en-US" altLang="zh-TW" sz="2000" dirty="0">
                <a:latin typeface="標楷體" panose="03000509000000000000" pitchFamily="65" charset="-120"/>
                <a:ea typeface="標楷體" panose="03000509000000000000" pitchFamily="65" charset="-120"/>
              </a:rPr>
              <a:t>hash collision group(HCG)</a:t>
            </a:r>
          </a:p>
          <a:p>
            <a:pPr marL="0" indent="0">
              <a:buNone/>
            </a:pPr>
            <a:endParaRPr lang="en-US" altLang="zh-TW" sz="2000" b="1"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000" b="1" dirty="0" err="1" smtClean="0">
                <a:latin typeface="Times New Roman" panose="02020603050405020304" pitchFamily="18" charset="0"/>
                <a:ea typeface="標楷體" panose="03000509000000000000" pitchFamily="65" charset="-120"/>
                <a:cs typeface="Times New Roman" panose="02020603050405020304" pitchFamily="18" charset="0"/>
              </a:rPr>
              <a:t>Hash</a:t>
            </a:r>
            <a:r>
              <a:rPr lang="en-US" altLang="zh-TW" sz="2000" b="1" baseline="-25000" dirty="0" err="1" smtClean="0">
                <a:latin typeface="Times New Roman" panose="02020603050405020304" pitchFamily="18" charset="0"/>
                <a:ea typeface="標楷體" panose="03000509000000000000" pitchFamily="65" charset="-120"/>
                <a:cs typeface="Times New Roman" panose="02020603050405020304" pitchFamily="18" charset="0"/>
              </a:rPr>
              <a:t>e</a:t>
            </a:r>
            <a:r>
              <a:rPr lang="en-US" altLang="zh-TW" sz="2000" b="1" baseline="-25000" dirty="0" smtClean="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000" baseline="-250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a:t>designed for the </a:t>
            </a:r>
            <a:r>
              <a:rPr lang="en-US" altLang="zh-TW" sz="2000" b="1" dirty="0"/>
              <a:t>expected case</a:t>
            </a:r>
            <a:r>
              <a:rPr lang="en-US" altLang="zh-TW" sz="2000" dirty="0"/>
              <a:t>, it will sort the number of times for each response and ignore what the actual response is.</a:t>
            </a:r>
          </a:p>
          <a:p>
            <a:r>
              <a:rPr lang="en-US" altLang="zh-TW" sz="2000" b="1" dirty="0" err="1">
                <a:latin typeface="Times New Roman" panose="02020603050405020304" pitchFamily="18" charset="0"/>
                <a:ea typeface="標楷體" panose="03000509000000000000" pitchFamily="65" charset="-120"/>
                <a:cs typeface="Times New Roman" panose="02020603050405020304" pitchFamily="18" charset="0"/>
              </a:rPr>
              <a:t>Hash</a:t>
            </a:r>
            <a:r>
              <a:rPr lang="en-US" altLang="zh-TW" sz="2000" b="1" baseline="-25000" dirty="0" err="1">
                <a:latin typeface="Times New Roman" panose="02020603050405020304" pitchFamily="18" charset="0"/>
                <a:ea typeface="標楷體" panose="03000509000000000000" pitchFamily="65" charset="-120"/>
                <a:cs typeface="Times New Roman" panose="02020603050405020304" pitchFamily="18" charset="0"/>
              </a:rPr>
              <a:t>w</a:t>
            </a:r>
            <a:r>
              <a:rPr lang="en-US" altLang="zh-TW" sz="2000" b="1"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a:t>designed for the </a:t>
            </a:r>
            <a:r>
              <a:rPr lang="en-US" altLang="zh-TW" sz="2000" b="1" dirty="0"/>
              <a:t>worst case</a:t>
            </a:r>
            <a:r>
              <a:rPr lang="en-US" altLang="zh-TW" sz="2000" dirty="0"/>
              <a:t>, so it only cares how many different responses there are after a word is guessed.</a:t>
            </a:r>
          </a:p>
          <a:p>
            <a:endParaRPr lang="en-US" altLang="zh-TW" sz="2000" dirty="0" smtClean="0"/>
          </a:p>
          <a:p>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7</a:t>
            </a:fld>
            <a:endParaRPr lang="zh-TW" altLang="en-US"/>
          </a:p>
        </p:txBody>
      </p:sp>
      <mc:AlternateContent xmlns:mc="http://schemas.openxmlformats.org/markup-compatibility/2006" xmlns:p14="http://schemas.microsoft.com/office/powerpoint/2010/main">
        <mc:Choice Requires="p14">
          <p:contentPart p14:bwMode="auto" r:id="rId3">
            <p14:nvContentPartPr>
              <p14:cNvPr id="5" name="筆跡 4"/>
              <p14:cNvContentPartPr/>
              <p14:nvPr/>
            </p14:nvContentPartPr>
            <p14:xfrm>
              <a:off x="279440" y="4462689"/>
              <a:ext cx="6153480" cy="1321200"/>
            </p14:xfrm>
          </p:contentPart>
        </mc:Choice>
        <mc:Fallback xmlns="">
          <p:pic>
            <p:nvPicPr>
              <p:cNvPr id="5" name="筆跡 4"/>
              <p:cNvPicPr/>
              <p:nvPr/>
            </p:nvPicPr>
            <p:blipFill>
              <a:blip r:embed="rId4"/>
              <a:stretch>
                <a:fillRect/>
              </a:stretch>
            </p:blipFill>
            <p:spPr>
              <a:xfrm>
                <a:off x="270080" y="4453329"/>
                <a:ext cx="6172200" cy="1339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筆跡 5"/>
              <p14:cNvContentPartPr/>
              <p14:nvPr/>
            </p14:nvContentPartPr>
            <p14:xfrm>
              <a:off x="7435800" y="3809880"/>
              <a:ext cx="3308760" cy="1803960"/>
            </p14:xfrm>
          </p:contentPart>
        </mc:Choice>
        <mc:Fallback xmlns="">
          <p:pic>
            <p:nvPicPr>
              <p:cNvPr id="6" name="筆跡 5"/>
              <p:cNvPicPr/>
              <p:nvPr/>
            </p:nvPicPr>
            <p:blipFill>
              <a:blip r:embed="rId6"/>
              <a:stretch>
                <a:fillRect/>
              </a:stretch>
            </p:blipFill>
            <p:spPr>
              <a:xfrm>
                <a:off x="7426440" y="3800520"/>
                <a:ext cx="3327480" cy="1822680"/>
              </a:xfrm>
              <a:prstGeom prst="rect">
                <a:avLst/>
              </a:prstGeom>
            </p:spPr>
          </p:pic>
        </mc:Fallback>
      </mc:AlternateContent>
    </p:spTree>
    <p:extLst>
      <p:ext uri="{BB962C8B-B14F-4D97-AF65-F5344CB8AC3E}">
        <p14:creationId xmlns:p14="http://schemas.microsoft.com/office/powerpoint/2010/main" val="11059491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a:xfrm>
            <a:off x="838200" y="184503"/>
            <a:ext cx="10515600" cy="1325563"/>
          </a:xfrm>
        </p:spPr>
        <p:txBody>
          <a:bodyPr/>
          <a:lstStyle/>
          <a:p>
            <a:pPr algn="ctr"/>
            <a:r>
              <a:rPr lang="en-US" altLang="zh-TW" b="1" dirty="0" smtClean="0">
                <a:latin typeface="Times New Roman" panose="02020603050405020304" pitchFamily="18" charset="0"/>
                <a:cs typeface="Times New Roman" panose="02020603050405020304" pitchFamily="18" charset="0"/>
              </a:rPr>
              <a:t>Entropy(</a:t>
            </a:r>
            <a:r>
              <a:rPr lang="zh-TW" altLang="en-US" b="1" dirty="0">
                <a:latin typeface="Times New Roman" panose="02020603050405020304" pitchFamily="18" charset="0"/>
                <a:cs typeface="Times New Roman" panose="02020603050405020304" pitchFamily="18" charset="0"/>
              </a:rPr>
              <a:t>熵</a:t>
            </a:r>
            <a:r>
              <a:rPr lang="en-US" altLang="zh-TW" b="1" dirty="0" smtClean="0">
                <a:latin typeface="Times New Roman" panose="02020603050405020304" pitchFamily="18" charset="0"/>
                <a:cs typeface="Times New Roman" panose="02020603050405020304" pitchFamily="18" charset="0"/>
              </a:rPr>
              <a: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641652"/>
            <a:ext cx="10515600" cy="2926468"/>
          </a:xfrm>
        </p:spPr>
        <p:txBody>
          <a:bodyPr>
            <a:normAutofit/>
          </a:bodyPr>
          <a:lstStyle/>
          <a:p>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8</a:t>
            </a:fld>
            <a:endParaRPr lang="zh-TW" altLang="en-US"/>
          </a:p>
        </p:txBody>
      </p:sp>
      <p:pic>
        <p:nvPicPr>
          <p:cNvPr id="5" name="圖片 4"/>
          <p:cNvPicPr>
            <a:picLocks noChangeAspect="1"/>
          </p:cNvPicPr>
          <p:nvPr/>
        </p:nvPicPr>
        <p:blipFill>
          <a:blip r:embed="rId3"/>
          <a:stretch>
            <a:fillRect/>
          </a:stretch>
        </p:blipFill>
        <p:spPr>
          <a:xfrm>
            <a:off x="735206" y="2283085"/>
            <a:ext cx="10909221" cy="3739267"/>
          </a:xfrm>
          <a:prstGeom prst="rect">
            <a:avLst/>
          </a:prstGeom>
        </p:spPr>
      </p:pic>
      <p:pic>
        <p:nvPicPr>
          <p:cNvPr id="6" name="圖片 5"/>
          <p:cNvPicPr>
            <a:picLocks noChangeAspect="1"/>
          </p:cNvPicPr>
          <p:nvPr/>
        </p:nvPicPr>
        <p:blipFill rotWithShape="1">
          <a:blip r:embed="rId4"/>
          <a:srcRect l="-1" t="76133" r="78737" b="-1696"/>
          <a:stretch/>
        </p:blipFill>
        <p:spPr>
          <a:xfrm>
            <a:off x="4764269" y="2641600"/>
            <a:ext cx="985302" cy="643467"/>
          </a:xfrm>
          <a:prstGeom prst="rect">
            <a:avLst/>
          </a:prstGeom>
        </p:spPr>
      </p:pic>
      <p:pic>
        <p:nvPicPr>
          <p:cNvPr id="7" name="圖片 6"/>
          <p:cNvPicPr>
            <a:picLocks noChangeAspect="1"/>
          </p:cNvPicPr>
          <p:nvPr/>
        </p:nvPicPr>
        <p:blipFill rotWithShape="1">
          <a:blip r:embed="rId4"/>
          <a:srcRect l="-1" t="76133" r="78737" b="-1696"/>
          <a:stretch/>
        </p:blipFill>
        <p:spPr>
          <a:xfrm>
            <a:off x="10471492" y="2641600"/>
            <a:ext cx="985302" cy="643467"/>
          </a:xfrm>
          <a:prstGeom prst="rect">
            <a:avLst/>
          </a:prstGeom>
        </p:spPr>
      </p:pic>
      <p:cxnSp>
        <p:nvCxnSpPr>
          <p:cNvPr id="9" name="直線單箭頭接點 8"/>
          <p:cNvCxnSpPr>
            <a:endCxn id="6" idx="1"/>
          </p:cNvCxnSpPr>
          <p:nvPr/>
        </p:nvCxnSpPr>
        <p:spPr>
          <a:xfrm flipV="1">
            <a:off x="3589867" y="2963334"/>
            <a:ext cx="1174402" cy="14155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 name="直線單箭頭接點 10"/>
          <p:cNvCxnSpPr/>
          <p:nvPr/>
        </p:nvCxnSpPr>
        <p:spPr>
          <a:xfrm flipV="1">
            <a:off x="9019822" y="3104886"/>
            <a:ext cx="1354667" cy="146323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12" name="圖片 11"/>
          <p:cNvPicPr>
            <a:picLocks noChangeAspect="1"/>
          </p:cNvPicPr>
          <p:nvPr/>
        </p:nvPicPr>
        <p:blipFill>
          <a:blip r:embed="rId5"/>
          <a:stretch>
            <a:fillRect/>
          </a:stretch>
        </p:blipFill>
        <p:spPr>
          <a:xfrm>
            <a:off x="4436360" y="4486091"/>
            <a:ext cx="985302" cy="440544"/>
          </a:xfrm>
          <a:prstGeom prst="rect">
            <a:avLst/>
          </a:prstGeom>
        </p:spPr>
      </p:pic>
      <p:pic>
        <p:nvPicPr>
          <p:cNvPr id="13" name="圖片 12"/>
          <p:cNvPicPr>
            <a:picLocks noChangeAspect="1"/>
          </p:cNvPicPr>
          <p:nvPr/>
        </p:nvPicPr>
        <p:blipFill>
          <a:blip r:embed="rId5"/>
          <a:stretch>
            <a:fillRect/>
          </a:stretch>
        </p:blipFill>
        <p:spPr>
          <a:xfrm>
            <a:off x="10371494" y="4505231"/>
            <a:ext cx="985302" cy="440544"/>
          </a:xfrm>
          <a:prstGeom prst="rect">
            <a:avLst/>
          </a:prstGeom>
        </p:spPr>
      </p:pic>
      <p:cxnSp>
        <p:nvCxnSpPr>
          <p:cNvPr id="14" name="直線單箭頭接點 13"/>
          <p:cNvCxnSpPr/>
          <p:nvPr/>
        </p:nvCxnSpPr>
        <p:spPr>
          <a:xfrm flipV="1">
            <a:off x="3804356" y="4699706"/>
            <a:ext cx="632004" cy="40392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直線單箭頭接點 16"/>
          <p:cNvCxnSpPr>
            <a:endCxn id="13" idx="1"/>
          </p:cNvCxnSpPr>
          <p:nvPr/>
        </p:nvCxnSpPr>
        <p:spPr>
          <a:xfrm flipV="1">
            <a:off x="9403644" y="4725503"/>
            <a:ext cx="967850" cy="75606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9264549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smtClean="0">
                <a:latin typeface="Times New Roman" panose="02020603050405020304" pitchFamily="18" charset="0"/>
                <a:cs typeface="Times New Roman" panose="02020603050405020304" pitchFamily="18" charset="0"/>
              </a:rPr>
              <a:t>Greedy Method</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543867" y="1690689"/>
            <a:ext cx="10515600" cy="4480362"/>
          </a:xfrm>
        </p:spPr>
        <p:txBody>
          <a:bodyPr>
            <a:normAutofit/>
          </a:bodyPr>
          <a:lstStyle/>
          <a:p>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G-V1: </a:t>
            </a:r>
            <a:r>
              <a:rPr lang="en-US" altLang="zh-TW" sz="2400" dirty="0"/>
              <a:t>each time, it takes the remaining possible answers into consideration and finds the one contributing the largest entropy as the next action</a:t>
            </a:r>
            <a:r>
              <a:rPr lang="en-US" altLang="zh-TW" sz="2400" dirty="0" smtClean="0"/>
              <a:t>.</a:t>
            </a:r>
          </a:p>
          <a:p>
            <a:endPar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G-V4</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Once the maximum entropy of a set of remaining possible answers is less than a threshold value, which is the entropy of a distribution where all of the guesses cause the same response except the answer, the solver then takes all guesses into consideration again.</a:t>
            </a: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9</a:t>
            </a:fld>
            <a:endParaRPr lang="zh-TW" altLang="en-US"/>
          </a:p>
        </p:txBody>
      </p:sp>
    </p:spTree>
    <p:extLst>
      <p:ext uri="{BB962C8B-B14F-4D97-AF65-F5344CB8AC3E}">
        <p14:creationId xmlns:p14="http://schemas.microsoft.com/office/powerpoint/2010/main" val="4019674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smtClean="0">
                <a:latin typeface="Times New Roman" panose="02020603050405020304" pitchFamily="18" charset="0"/>
                <a:cs typeface="Times New Roman" panose="02020603050405020304" pitchFamily="18" charset="0"/>
              </a:rPr>
              <a:t>Search Method</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690688"/>
            <a:ext cx="10515600" cy="4552068"/>
          </a:xfrm>
        </p:spPr>
        <p:txBody>
          <a:bodyPr>
            <a:normAutofit/>
          </a:bodyPr>
          <a:lstStyle/>
          <a:p>
            <a:r>
              <a:rPr lang="en-US" altLang="zh-TW" sz="2400" u="sng" dirty="0" smtClean="0">
                <a:latin typeface="Times New Roman" panose="02020603050405020304" pitchFamily="18" charset="0"/>
                <a:ea typeface="標楷體" panose="03000509000000000000" pitchFamily="65" charset="-120"/>
                <a:cs typeface="Times New Roman" panose="02020603050405020304" pitchFamily="18" charset="0"/>
              </a:rPr>
              <a:t>Greedy (G-V1)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u="sng" dirty="0">
                <a:latin typeface="Times New Roman" panose="02020603050405020304" pitchFamily="18" charset="0"/>
                <a:ea typeface="標楷體" panose="03000509000000000000" pitchFamily="65" charset="-120"/>
                <a:cs typeface="Times New Roman" panose="02020603050405020304" pitchFamily="18" charset="0"/>
              </a:rPr>
              <a:t>TPOA</a:t>
            </a:r>
            <a:r>
              <a:rPr lang="en-US" altLang="zh-TW" sz="2400" u="sng" baseline="300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smtClean="0">
                <a:latin typeface="Times New Roman" panose="02020603050405020304" pitchFamily="18" charset="0"/>
                <a:ea typeface="標楷體" panose="03000509000000000000" pitchFamily="65" charset="-120"/>
                <a:cs typeface="Times New Roman" panose="02020603050405020304" pitchFamily="18" charset="0"/>
              </a:rPr>
              <a:t> ⭢ EBTPOA</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10</a:t>
            </a:fld>
            <a:endParaRPr lang="zh-TW" altLang="en-US"/>
          </a:p>
        </p:txBody>
      </p:sp>
      <p:pic>
        <p:nvPicPr>
          <p:cNvPr id="6" name="圖片 5"/>
          <p:cNvPicPr>
            <a:picLocks noChangeAspect="1"/>
          </p:cNvPicPr>
          <p:nvPr/>
        </p:nvPicPr>
        <p:blipFill rotWithShape="1">
          <a:blip r:embed="rId3"/>
          <a:srcRect l="49738" b="21043"/>
          <a:stretch/>
        </p:blipFill>
        <p:spPr>
          <a:xfrm>
            <a:off x="3930504" y="2775743"/>
            <a:ext cx="6602029" cy="3630981"/>
          </a:xfrm>
          <a:prstGeom prst="rect">
            <a:avLst/>
          </a:prstGeom>
        </p:spPr>
      </p:pic>
      <p:cxnSp>
        <p:nvCxnSpPr>
          <p:cNvPr id="8" name="直線單箭頭接點 7"/>
          <p:cNvCxnSpPr/>
          <p:nvPr/>
        </p:nvCxnSpPr>
        <p:spPr>
          <a:xfrm>
            <a:off x="4041422" y="2111022"/>
            <a:ext cx="541867" cy="745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flipH="1">
            <a:off x="2032000" y="2167467"/>
            <a:ext cx="81419" cy="1343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字方塊 10"/>
          <p:cNvSpPr txBox="1"/>
          <p:nvPr/>
        </p:nvSpPr>
        <p:spPr>
          <a:xfrm>
            <a:off x="530578" y="3510844"/>
            <a:ext cx="3002844" cy="369332"/>
          </a:xfrm>
          <a:prstGeom prst="rect">
            <a:avLst/>
          </a:prstGeom>
          <a:noFill/>
        </p:spPr>
        <p:txBody>
          <a:bodyPr wrap="square" rtlCol="0">
            <a:spAutoFit/>
          </a:bodyPr>
          <a:lstStyle/>
          <a:p>
            <a:r>
              <a:rPr lang="zh-TW" altLang="en-US" dirty="0" smtClean="0">
                <a:latin typeface="標楷體" panose="03000509000000000000" pitchFamily="65" charset="-120"/>
                <a:ea typeface="標楷體" panose="03000509000000000000" pitchFamily="65" charset="-120"/>
              </a:rPr>
              <a:t>每一輪選擇</a:t>
            </a:r>
            <a:r>
              <a:rPr lang="en-US" altLang="zh-TW" dirty="0" smtClean="0">
                <a:latin typeface="標楷體" panose="03000509000000000000" pitchFamily="65" charset="-120"/>
                <a:ea typeface="標楷體" panose="03000509000000000000" pitchFamily="65" charset="-120"/>
              </a:rPr>
              <a:t>entropy</a:t>
            </a:r>
            <a:r>
              <a:rPr lang="zh-TW" altLang="en-US" dirty="0" smtClean="0">
                <a:latin typeface="標楷體" panose="03000509000000000000" pitchFamily="65" charset="-120"/>
                <a:ea typeface="標楷體" panose="03000509000000000000" pitchFamily="65" charset="-120"/>
              </a:rPr>
              <a:t>最高的</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28593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p:cNvPicPr>
            <a:picLocks noChangeAspect="1"/>
          </p:cNvPicPr>
          <p:nvPr/>
        </p:nvPicPr>
        <p:blipFill>
          <a:blip r:embed="rId3"/>
          <a:stretch>
            <a:fillRect/>
          </a:stretch>
        </p:blipFill>
        <p:spPr>
          <a:xfrm>
            <a:off x="3161890" y="1165707"/>
            <a:ext cx="5868219" cy="4429743"/>
          </a:xfrm>
          <a:prstGeom prst="rect">
            <a:avLst/>
          </a:prstGeom>
        </p:spPr>
      </p:pic>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543867" y="5019851"/>
            <a:ext cx="10515600" cy="1151199"/>
          </a:xfrm>
        </p:spPr>
        <p:txBody>
          <a:bodyPr>
            <a:normAutofit/>
          </a:bodyPr>
          <a:lstStyle/>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11</a:t>
            </a:fld>
            <a:endParaRPr lang="zh-TW" altLang="en-US"/>
          </a:p>
        </p:txBody>
      </p:sp>
    </p:spTree>
    <p:extLst>
      <p:ext uri="{BB962C8B-B14F-4D97-AF65-F5344CB8AC3E}">
        <p14:creationId xmlns:p14="http://schemas.microsoft.com/office/powerpoint/2010/main" val="605064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smtClean="0">
                <a:latin typeface="Times New Roman" panose="02020603050405020304" pitchFamily="18" charset="0"/>
                <a:cs typeface="Times New Roman" panose="02020603050405020304" pitchFamily="18" charset="0"/>
              </a:rPr>
              <a:t>Solving </a:t>
            </a:r>
            <a:r>
              <a:rPr lang="en-US" altLang="zh-TW" b="1" dirty="0" err="1" smtClean="0">
                <a:latin typeface="Times New Roman" panose="02020603050405020304" pitchFamily="18" charset="0"/>
                <a:cs typeface="Times New Roman" panose="02020603050405020304" pitchFamily="18" charset="0"/>
              </a:rPr>
              <a:t>Wordle</a:t>
            </a:r>
            <a:r>
              <a:rPr lang="en-US" altLang="zh-TW" b="1" dirty="0" smtClean="0">
                <a:latin typeface="Times New Roman" panose="02020603050405020304" pitchFamily="18" charset="0"/>
                <a:cs typeface="Times New Roman" panose="02020603050405020304" pitchFamily="18" charset="0"/>
              </a:rPr>
              <a:t> With Game/Legal List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543867" y="5019851"/>
            <a:ext cx="10515600" cy="1151199"/>
          </a:xfrm>
        </p:spPr>
        <p:txBody>
          <a:bodyPr>
            <a:normAutofit/>
          </a:bodyPr>
          <a:lstStyle/>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12</a:t>
            </a:fld>
            <a:endParaRPr lang="zh-TW" altLang="en-US"/>
          </a:p>
        </p:txBody>
      </p:sp>
      <p:pic>
        <p:nvPicPr>
          <p:cNvPr id="5" name="圖片 4"/>
          <p:cNvPicPr>
            <a:picLocks noChangeAspect="1"/>
          </p:cNvPicPr>
          <p:nvPr/>
        </p:nvPicPr>
        <p:blipFill rotWithShape="1">
          <a:blip r:embed="rId3"/>
          <a:srcRect b="53589"/>
          <a:stretch/>
        </p:blipFill>
        <p:spPr>
          <a:xfrm>
            <a:off x="756356" y="1718910"/>
            <a:ext cx="5257800" cy="2877226"/>
          </a:xfrm>
          <a:prstGeom prst="rect">
            <a:avLst/>
          </a:prstGeom>
        </p:spPr>
      </p:pic>
      <p:pic>
        <p:nvPicPr>
          <p:cNvPr id="6" name="圖片 5"/>
          <p:cNvPicPr>
            <a:picLocks noChangeAspect="1"/>
          </p:cNvPicPr>
          <p:nvPr/>
        </p:nvPicPr>
        <p:blipFill rotWithShape="1">
          <a:blip r:embed="rId3"/>
          <a:srcRect t="54125"/>
          <a:stretch/>
        </p:blipFill>
        <p:spPr>
          <a:xfrm>
            <a:off x="6014156" y="1780344"/>
            <a:ext cx="5257800" cy="2844014"/>
          </a:xfrm>
          <a:prstGeom prst="rect">
            <a:avLst/>
          </a:prstGeom>
        </p:spPr>
      </p:pic>
    </p:spTree>
    <p:extLst>
      <p:ext uri="{BB962C8B-B14F-4D97-AF65-F5344CB8AC3E}">
        <p14:creationId xmlns:p14="http://schemas.microsoft.com/office/powerpoint/2010/main" val="2093874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Solving </a:t>
            </a:r>
            <a:r>
              <a:rPr lang="en-US" altLang="zh-TW" b="1" dirty="0" err="1" smtClean="0">
                <a:latin typeface="Times New Roman" panose="02020603050405020304" pitchFamily="18" charset="0"/>
                <a:cs typeface="Times New Roman" panose="02020603050405020304" pitchFamily="18" charset="0"/>
              </a:rPr>
              <a:t>Nerdle</a:t>
            </a:r>
            <a:r>
              <a:rPr lang="en-US" altLang="zh-TW" b="1" dirty="0" smtClean="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With Game/Legal List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543867" y="5019851"/>
            <a:ext cx="10515600" cy="1151199"/>
          </a:xfrm>
        </p:spPr>
        <p:txBody>
          <a:bodyPr>
            <a:normAutofit/>
          </a:bodyPr>
          <a:lstStyle/>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13</a:t>
            </a:fld>
            <a:endParaRPr lang="zh-TW" altLang="en-US"/>
          </a:p>
        </p:txBody>
      </p:sp>
      <p:pic>
        <p:nvPicPr>
          <p:cNvPr id="6" name="圖片 5"/>
          <p:cNvPicPr>
            <a:picLocks noChangeAspect="1"/>
          </p:cNvPicPr>
          <p:nvPr/>
        </p:nvPicPr>
        <p:blipFill rotWithShape="1">
          <a:blip r:embed="rId3"/>
          <a:srcRect b="50516"/>
          <a:stretch/>
        </p:blipFill>
        <p:spPr>
          <a:xfrm>
            <a:off x="838200" y="1690688"/>
            <a:ext cx="5253224" cy="2990852"/>
          </a:xfrm>
          <a:prstGeom prst="rect">
            <a:avLst/>
          </a:prstGeom>
        </p:spPr>
      </p:pic>
      <p:pic>
        <p:nvPicPr>
          <p:cNvPr id="7" name="圖片 6"/>
          <p:cNvPicPr>
            <a:picLocks noChangeAspect="1"/>
          </p:cNvPicPr>
          <p:nvPr/>
        </p:nvPicPr>
        <p:blipFill rotWithShape="1">
          <a:blip r:embed="rId3"/>
          <a:srcRect t="53120"/>
          <a:stretch/>
        </p:blipFill>
        <p:spPr>
          <a:xfrm>
            <a:off x="6091424" y="1875988"/>
            <a:ext cx="5253224" cy="2833433"/>
          </a:xfrm>
          <a:prstGeom prst="rect">
            <a:avLst/>
          </a:prstGeom>
        </p:spPr>
      </p:pic>
    </p:spTree>
    <p:extLst>
      <p:ext uri="{BB962C8B-B14F-4D97-AF65-F5344CB8AC3E}">
        <p14:creationId xmlns:p14="http://schemas.microsoft.com/office/powerpoint/2010/main" val="3015923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468076" y="5570276"/>
            <a:ext cx="10515600" cy="1151199"/>
          </a:xfrm>
        </p:spPr>
        <p:txBody>
          <a:bodyPr>
            <a:normAutofit/>
          </a:bodyPr>
          <a:lstStyle/>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14</a:t>
            </a:fld>
            <a:endParaRPr lang="zh-TW" altLang="en-US"/>
          </a:p>
        </p:txBody>
      </p:sp>
      <p:pic>
        <p:nvPicPr>
          <p:cNvPr id="5" name="圖片 4"/>
          <p:cNvPicPr>
            <a:picLocks noChangeAspect="1"/>
          </p:cNvPicPr>
          <p:nvPr/>
        </p:nvPicPr>
        <p:blipFill rotWithShape="1">
          <a:blip r:embed="rId3"/>
          <a:srcRect b="42136"/>
          <a:stretch/>
        </p:blipFill>
        <p:spPr>
          <a:xfrm>
            <a:off x="3084276" y="1396455"/>
            <a:ext cx="6023447" cy="3883040"/>
          </a:xfrm>
          <a:prstGeom prst="rect">
            <a:avLst/>
          </a:prstGeom>
        </p:spPr>
      </p:pic>
      <p:sp>
        <p:nvSpPr>
          <p:cNvPr id="9" name="標題 8"/>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2580689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err="1" smtClean="0">
                <a:latin typeface="Times New Roman" panose="02020603050405020304" pitchFamily="18" charset="0"/>
                <a:cs typeface="Times New Roman" panose="02020603050405020304" pitchFamily="18" charset="0"/>
              </a:rPr>
              <a:t>Avg</a:t>
            </a:r>
            <a:r>
              <a:rPr lang="en-US" altLang="zh-TW" b="1" dirty="0" smtClean="0">
                <a:latin typeface="Times New Roman" panose="02020603050405020304" pitchFamily="18" charset="0"/>
                <a:cs typeface="Times New Roman" panose="02020603050405020304" pitchFamily="18" charset="0"/>
              </a:rPr>
              <a:t>/Worst Performance</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543867" y="5019851"/>
            <a:ext cx="10515600" cy="1151199"/>
          </a:xfrm>
        </p:spPr>
        <p:txBody>
          <a:bodyPr>
            <a:normAutofit/>
          </a:bodyPr>
          <a:lstStyle/>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15</a:t>
            </a:fld>
            <a:endParaRPr lang="zh-TW" altLang="en-US"/>
          </a:p>
        </p:txBody>
      </p:sp>
      <p:pic>
        <p:nvPicPr>
          <p:cNvPr id="6" name="圖片 5"/>
          <p:cNvPicPr>
            <a:picLocks noChangeAspect="1"/>
          </p:cNvPicPr>
          <p:nvPr/>
        </p:nvPicPr>
        <p:blipFill rotWithShape="1">
          <a:blip r:embed="rId3"/>
          <a:srcRect t="61821"/>
          <a:stretch/>
        </p:blipFill>
        <p:spPr>
          <a:xfrm>
            <a:off x="2714153" y="1462484"/>
            <a:ext cx="6763694" cy="2876896"/>
          </a:xfrm>
          <a:prstGeom prst="rect">
            <a:avLst/>
          </a:prstGeom>
        </p:spPr>
      </p:pic>
    </p:spTree>
    <p:extLst>
      <p:ext uri="{BB962C8B-B14F-4D97-AF65-F5344CB8AC3E}">
        <p14:creationId xmlns:p14="http://schemas.microsoft.com/office/powerpoint/2010/main" val="2366894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a:xfrm>
            <a:off x="543867" y="3218609"/>
            <a:ext cx="10515600" cy="1325563"/>
          </a:xfrm>
        </p:spPr>
        <p:txBody>
          <a:bodyPr>
            <a:normAutofit/>
          </a:bodyPr>
          <a:lstStyle/>
          <a:p>
            <a:pPr algn="ctr"/>
            <a:r>
              <a:rPr lang="en-US" altLang="zh-TW" sz="3200" b="1" dirty="0" smtClean="0">
                <a:latin typeface="Times New Roman" panose="02020603050405020304" pitchFamily="18" charset="0"/>
                <a:cs typeface="Times New Roman" panose="02020603050405020304" pitchFamily="18" charset="0"/>
              </a:rPr>
              <a:t>Thanks</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543867" y="1591733"/>
            <a:ext cx="10515600" cy="4579317"/>
          </a:xfrm>
        </p:spPr>
        <p:txBody>
          <a:bodyPr>
            <a:normAutofit/>
          </a:bodyPr>
          <a:lstStyle/>
          <a:p>
            <a:endParaRPr lang="en-US" altLang="zh-TW" sz="1600" dirty="0" smtClean="0">
              <a:latin typeface="標楷體" panose="03000509000000000000" pitchFamily="65" charset="-120"/>
              <a:ea typeface="標楷體" panose="03000509000000000000" pitchFamily="65" charset="-12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16</a:t>
            </a:fld>
            <a:endParaRPr lang="zh-TW" altLang="en-US"/>
          </a:p>
        </p:txBody>
      </p:sp>
    </p:spTree>
    <p:extLst>
      <p:ext uri="{BB962C8B-B14F-4D97-AF65-F5344CB8AC3E}">
        <p14:creationId xmlns:p14="http://schemas.microsoft.com/office/powerpoint/2010/main" val="75853970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801</TotalTime>
  <Words>1920</Words>
  <Application>Microsoft Office PowerPoint</Application>
  <PresentationFormat>寬螢幕</PresentationFormat>
  <Paragraphs>143</Paragraphs>
  <Slides>16</Slides>
  <Notes>16</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16</vt:i4>
      </vt:variant>
    </vt:vector>
  </HeadingPairs>
  <TitlesOfParts>
    <vt:vector size="24" baseType="lpstr">
      <vt:lpstr>等线</vt:lpstr>
      <vt:lpstr>新細明體</vt:lpstr>
      <vt:lpstr>標楷體</vt:lpstr>
      <vt:lpstr>Arial</vt:lpstr>
      <vt:lpstr>Calibri</vt:lpstr>
      <vt:lpstr>Calibri Light</vt:lpstr>
      <vt:lpstr>Times New Roman</vt:lpstr>
      <vt:lpstr>Office 佈景主題</vt:lpstr>
      <vt:lpstr>Entropy-Based Two-Phase Optimization Algorithm for Solving Wordle-like Games</vt:lpstr>
      <vt:lpstr>Abstract</vt:lpstr>
      <vt:lpstr>Wordle &amp; Nerdle</vt:lpstr>
      <vt:lpstr>Game list &amp; Legal list</vt:lpstr>
      <vt:lpstr>Game Tree</vt:lpstr>
      <vt:lpstr>Two-Phase Optimization Algorithm(TPOA)</vt:lpstr>
      <vt:lpstr>Two-Phase Optimization Algorithm(TPOA)</vt:lpstr>
      <vt:lpstr>Entropy(熵)</vt:lpstr>
      <vt:lpstr>Greedy Method</vt:lpstr>
      <vt:lpstr>Search Method</vt:lpstr>
      <vt:lpstr>PowerPoint 簡報</vt:lpstr>
      <vt:lpstr>Solving Wordle With Game/Legal List</vt:lpstr>
      <vt:lpstr>Solving Nerdle With Game/Legal List</vt:lpstr>
      <vt:lpstr>PowerPoint 簡報</vt:lpstr>
      <vt:lpstr>Avg/Worst Performance</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Entropy-Based Two-Phase Optimization Algorithm for Solving Wordle-like Games</dc:title>
  <dc:creator>user</dc:creator>
  <cp:lastModifiedBy>user</cp:lastModifiedBy>
  <cp:revision>270</cp:revision>
  <dcterms:created xsi:type="dcterms:W3CDTF">2024-03-11T04:20:47Z</dcterms:created>
  <dcterms:modified xsi:type="dcterms:W3CDTF">2024-03-12T10:24:35Z</dcterms:modified>
</cp:coreProperties>
</file>