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317" r:id="rId4"/>
    <p:sldId id="335" r:id="rId5"/>
    <p:sldId id="336" r:id="rId6"/>
    <p:sldId id="337" r:id="rId7"/>
    <p:sldId id="327" r:id="rId8"/>
    <p:sldId id="338" r:id="rId9"/>
    <p:sldId id="340" r:id="rId10"/>
    <p:sldId id="339" r:id="rId11"/>
    <p:sldId id="269"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17"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4" autoAdjust="0"/>
    <p:restoredTop sz="96370" autoAdjust="0"/>
  </p:normalViewPr>
  <p:slideViewPr>
    <p:cSldViewPr snapToGrid="0">
      <p:cViewPr varScale="1">
        <p:scale>
          <a:sx n="114" d="100"/>
          <a:sy n="114"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3-12T00:26:26.150" idx="14">
    <p:pos x="10" y="10"/>
    <p:text>presented both algorithms with two sequences that are
similar but contain no warping of the time axis</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3-12T00:26:26.150" idx="15">
    <p:pos x="10" y="10"/>
    <p:text>presented both algorithms with two sequences that are
similar but contain no warping of the time axis</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03-12T00:26:26.150" idx="17">
    <p:pos x="10" y="10"/>
    <p:text>presented both algorithms with two sequences that are
similar but contain no warping of the time axis</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4-03-12T00:26:26.150" idx="16">
    <p:pos x="10" y="10"/>
    <p:text>presented both algorithms with two sequences that are
similar but contain no warping of the time axis</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2024/3/12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2024/3/12</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2024/3/12</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2024/3/12</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2024/3/12</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2024/3/12</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2024/3/12</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2024/3/12</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136525"/>
            <a:ext cx="10829676" cy="2387600"/>
          </a:xfrm>
        </p:spPr>
        <p:txBody>
          <a:bodyPr>
            <a:noAutofit/>
          </a:bodyPr>
          <a:lstStyle/>
          <a:p>
            <a:r>
              <a:rPr lang="en-US" altLang="zh-TW" sz="4800" dirty="0">
                <a:latin typeface="Times New Roman" panose="02020603050405020304" pitchFamily="18" charset="0"/>
                <a:cs typeface="Times New Roman" panose="02020603050405020304" pitchFamily="18" charset="0"/>
              </a:rPr>
              <a:t>Derivative Dynamic Time Warping</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2928597"/>
            <a:ext cx="9144000" cy="1655762"/>
          </a:xfrm>
        </p:spPr>
        <p:txBody>
          <a:bodyPr/>
          <a:lstStyle/>
          <a:p>
            <a:r>
              <a:rPr lang="en-US" altLang="zh-TW" dirty="0">
                <a:solidFill>
                  <a:srgbClr val="222222"/>
                </a:solidFill>
                <a:latin typeface="Times New Roman" panose="02020603050405020304" pitchFamily="18" charset="0"/>
                <a:cs typeface="Times New Roman" panose="02020603050405020304" pitchFamily="18" charset="0"/>
              </a:rPr>
              <a:t>Eamonn J. Keogh and Michael J. </a:t>
            </a:r>
            <a:r>
              <a:rPr lang="en-US" altLang="zh-TW" dirty="0" err="1">
                <a:solidFill>
                  <a:srgbClr val="222222"/>
                </a:solidFill>
                <a:latin typeface="Times New Roman" panose="02020603050405020304" pitchFamily="18" charset="0"/>
                <a:cs typeface="Times New Roman" panose="02020603050405020304" pitchFamily="18" charset="0"/>
              </a:rPr>
              <a:t>Pazzani</a:t>
            </a:r>
            <a:r>
              <a:rPr lang="en-US" altLang="zh-TW" b="0" i="0" dirty="0">
                <a:solidFill>
                  <a:srgbClr val="222222"/>
                </a:solidFill>
                <a:effectLst/>
                <a:latin typeface="Times New Roman" panose="02020603050405020304" pitchFamily="18" charset="0"/>
                <a:cs typeface="Times New Roman" panose="02020603050405020304" pitchFamily="18" charset="0"/>
              </a:rPr>
              <a:t>. Proceedings of the 2001 SIAM International Conference on Data Mining</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dirty="0">
                <a:solidFill>
                  <a:srgbClr val="202124"/>
                </a:solidFill>
                <a:latin typeface="Times New Roman" panose="02020603050405020304" pitchFamily="18" charset="0"/>
                <a:cs typeface="Times New Roman" panose="02020603050405020304" pitchFamily="18" charset="0"/>
              </a:rPr>
              <a:t>Mar</a:t>
            </a:r>
            <a:r>
              <a:rPr lang="en-US" altLang="zh-TW" sz="2400" b="0" i="0" dirty="0">
                <a:solidFill>
                  <a:srgbClr val="202124"/>
                </a:solidFill>
                <a:effectLst/>
                <a:latin typeface="Times New Roman" panose="02020603050405020304" pitchFamily="18" charset="0"/>
                <a:cs typeface="Times New Roman" panose="02020603050405020304" pitchFamily="18" charset="0"/>
              </a:rPr>
              <a:t>. 12,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Dynamic time warping (DTW) is a technique for aligning time series data, crucial for comparing or averaging sequences with different time axes. It's widely used across various fields including data mining, gesture recognition, robotics, speech processing, manufacturing, and medicine. Despite its success, DTW can yield problematic results due to "singularities," where it excessively warps the time axis to explain Y-axis variability. Existing solutions often constrain </a:t>
            </a:r>
            <a:r>
              <a:rPr lang="en-US" altLang="zh-TW" sz="2400" dirty="0" err="1">
                <a:latin typeface="Times New Roman" panose="02020603050405020304" pitchFamily="18" charset="0"/>
                <a:cs typeface="Times New Roman" panose="02020603050405020304" pitchFamily="18" charset="0"/>
              </a:rPr>
              <a:t>warpings</a:t>
            </a:r>
            <a:r>
              <a:rPr lang="en-US" altLang="zh-TW" sz="2400" dirty="0">
                <a:latin typeface="Times New Roman" panose="02020603050405020304" pitchFamily="18" charset="0"/>
                <a:cs typeface="Times New Roman" panose="02020603050405020304" pitchFamily="18" charset="0"/>
              </a:rPr>
              <a:t>, potentially missing the correct alignment. Additionally, DTW may fail to find natural alignments due to slight variations in feature heights. In this paper we address both these problems by introducing a modification of DTW. The crucial difference is in the features we consider when attempting to find the correct warping. Rather than use the raw data, we consider only the (estimated) local derivatives of the data</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Problem of DTW</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3</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712628"/>
            <a:ext cx="10515600"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5" name="圖片 4">
            <a:extLst>
              <a:ext uri="{FF2B5EF4-FFF2-40B4-BE49-F238E27FC236}">
                <a16:creationId xmlns:a16="http://schemas.microsoft.com/office/drawing/2014/main" id="{6B818076-4C94-832C-E8C1-959D6E54770D}"/>
              </a:ext>
            </a:extLst>
          </p:cNvPr>
          <p:cNvPicPr>
            <a:picLocks noChangeAspect="1"/>
          </p:cNvPicPr>
          <p:nvPr/>
        </p:nvPicPr>
        <p:blipFill>
          <a:blip r:embed="rId2"/>
          <a:stretch>
            <a:fillRect/>
          </a:stretch>
        </p:blipFill>
        <p:spPr>
          <a:xfrm>
            <a:off x="1102515" y="2671390"/>
            <a:ext cx="9984174" cy="2815516"/>
          </a:xfrm>
          <a:prstGeom prst="rect">
            <a:avLst/>
          </a:prstGeom>
        </p:spPr>
      </p:pic>
      <p:sp>
        <p:nvSpPr>
          <p:cNvPr id="8" name="橢圓 7">
            <a:extLst>
              <a:ext uri="{FF2B5EF4-FFF2-40B4-BE49-F238E27FC236}">
                <a16:creationId xmlns:a16="http://schemas.microsoft.com/office/drawing/2014/main" id="{C6C14857-295B-0EBA-B51B-3E341C963E13}"/>
              </a:ext>
            </a:extLst>
          </p:cNvPr>
          <p:cNvSpPr/>
          <p:nvPr/>
        </p:nvSpPr>
        <p:spPr>
          <a:xfrm>
            <a:off x="9908446" y="3603071"/>
            <a:ext cx="147507" cy="19085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35AF0B2A-FCCA-A2A9-7903-7B8F1094A81D}"/>
              </a:ext>
            </a:extLst>
          </p:cNvPr>
          <p:cNvSpPr/>
          <p:nvPr/>
        </p:nvSpPr>
        <p:spPr>
          <a:xfrm>
            <a:off x="8212822" y="4079148"/>
            <a:ext cx="152400" cy="1829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7676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Singularities</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838200" y="1712628"/>
            <a:ext cx="10515600" cy="4351338"/>
          </a:xfrm>
        </p:spPr>
        <p:txBody>
          <a:bodyPr/>
          <a:lstStyle/>
          <a:p>
            <a:pPr marL="0" indent="0">
              <a:buNone/>
            </a:pPr>
            <a:r>
              <a:rPr lang="en-US" altLang="zh-TW" sz="2400" dirty="0">
                <a:latin typeface="Times New Roman" panose="02020603050405020304" pitchFamily="18" charset="0"/>
                <a:cs typeface="Times New Roman" panose="02020603050405020304" pitchFamily="18" charset="0"/>
              </a:rPr>
              <a:t>It only considers a datapoints Y-axis value.</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6" name="圖片 5">
            <a:extLst>
              <a:ext uri="{FF2B5EF4-FFF2-40B4-BE49-F238E27FC236}">
                <a16:creationId xmlns:a16="http://schemas.microsoft.com/office/drawing/2014/main" id="{C4FA8950-671D-1ADF-2BE2-CA6E2955E02F}"/>
              </a:ext>
            </a:extLst>
          </p:cNvPr>
          <p:cNvPicPr>
            <a:picLocks noChangeAspect="1"/>
          </p:cNvPicPr>
          <p:nvPr/>
        </p:nvPicPr>
        <p:blipFill>
          <a:blip r:embed="rId2"/>
          <a:stretch>
            <a:fillRect/>
          </a:stretch>
        </p:blipFill>
        <p:spPr>
          <a:xfrm>
            <a:off x="1563674" y="3215171"/>
            <a:ext cx="9383434" cy="2457793"/>
          </a:xfrm>
          <a:prstGeom prst="rect">
            <a:avLst/>
          </a:prstGeom>
        </p:spPr>
      </p:pic>
      <p:cxnSp>
        <p:nvCxnSpPr>
          <p:cNvPr id="11" name="直線接點 10">
            <a:extLst>
              <a:ext uri="{FF2B5EF4-FFF2-40B4-BE49-F238E27FC236}">
                <a16:creationId xmlns:a16="http://schemas.microsoft.com/office/drawing/2014/main" id="{B570B9F1-F1C4-BA30-E731-6142BE897052}"/>
              </a:ext>
            </a:extLst>
          </p:cNvPr>
          <p:cNvCxnSpPr>
            <a:cxnSpLocks/>
          </p:cNvCxnSpPr>
          <p:nvPr/>
        </p:nvCxnSpPr>
        <p:spPr>
          <a:xfrm>
            <a:off x="7524925" y="3984771"/>
            <a:ext cx="0" cy="3691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A4FE48F4-152D-D0E2-AC10-80D50399066A}"/>
              </a:ext>
            </a:extLst>
          </p:cNvPr>
          <p:cNvCxnSpPr>
            <a:cxnSpLocks/>
          </p:cNvCxnSpPr>
          <p:nvPr/>
        </p:nvCxnSpPr>
        <p:spPr>
          <a:xfrm flipH="1">
            <a:off x="7290033" y="3984771"/>
            <a:ext cx="234892" cy="3685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31AC7F0E-DD82-0FD2-16D7-6E6361E8735D}"/>
              </a:ext>
            </a:extLst>
          </p:cNvPr>
          <p:cNvCxnSpPr>
            <a:cxnSpLocks/>
          </p:cNvCxnSpPr>
          <p:nvPr/>
        </p:nvCxnSpPr>
        <p:spPr>
          <a:xfrm flipV="1">
            <a:off x="6828639" y="4365796"/>
            <a:ext cx="1174458" cy="8389"/>
          </a:xfrm>
          <a:prstGeom prst="line">
            <a:avLst/>
          </a:prstGeom>
          <a:ln w="28575">
            <a:solidFill>
              <a:schemeClr val="accent4">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19628947-61E9-5DAA-4171-29BE4DABB586}"/>
              </a:ext>
            </a:extLst>
          </p:cNvPr>
          <p:cNvCxnSpPr/>
          <p:nvPr/>
        </p:nvCxnSpPr>
        <p:spPr>
          <a:xfrm>
            <a:off x="5201174" y="3632434"/>
            <a:ext cx="0" cy="11157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橢圓 27">
            <a:extLst>
              <a:ext uri="{FF2B5EF4-FFF2-40B4-BE49-F238E27FC236}">
                <a16:creationId xmlns:a16="http://schemas.microsoft.com/office/drawing/2014/main" id="{D1E151F1-3B5E-E044-CB6A-DD467D81D54F}"/>
              </a:ext>
            </a:extLst>
          </p:cNvPr>
          <p:cNvSpPr/>
          <p:nvPr/>
        </p:nvSpPr>
        <p:spPr>
          <a:xfrm>
            <a:off x="5127158" y="3542818"/>
            <a:ext cx="147507" cy="19085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A4CE87B6-1A88-443D-9A51-5B75849D32BE}"/>
              </a:ext>
            </a:extLst>
          </p:cNvPr>
          <p:cNvSpPr/>
          <p:nvPr/>
        </p:nvSpPr>
        <p:spPr>
          <a:xfrm>
            <a:off x="5118070" y="4633059"/>
            <a:ext cx="147507" cy="19085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7052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4F12-E1D8-1ABF-A483-9A4847217EF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A1B08DB-2384-6966-561D-D40D3F424C89}"/>
              </a:ext>
            </a:extLst>
          </p:cNvPr>
          <p:cNvSpPr>
            <a:spLocks noGrp="1"/>
          </p:cNvSpPr>
          <p:nvPr>
            <p:ph type="title"/>
          </p:nvPr>
        </p:nvSpPr>
        <p:spPr/>
        <p:txBody>
          <a:bodyPr>
            <a:normAutofit/>
          </a:bodyPr>
          <a:lstStyle/>
          <a:p>
            <a:pPr algn="ct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A9E3D312-B040-27A9-4380-AF713ACC5A29}"/>
              </a:ext>
            </a:extLst>
          </p:cNvPr>
          <p:cNvSpPr>
            <a:spLocks noGrp="1"/>
          </p:cNvSpPr>
          <p:nvPr>
            <p:ph type="sldNum" sz="quarter" idx="12"/>
          </p:nvPr>
        </p:nvSpPr>
        <p:spPr/>
        <p:txBody>
          <a:bodyPr/>
          <a:lstStyle/>
          <a:p>
            <a:fld id="{EFAEC03B-316C-4507-8207-D997BB28EB64}" type="slidenum">
              <a:rPr lang="zh-TW" altLang="en-US" smtClean="0"/>
              <a:t>5</a:t>
            </a:fld>
            <a:endParaRPr lang="zh-TW" altLang="en-US" dirty="0"/>
          </a:p>
        </p:txBody>
      </p:sp>
      <p:sp>
        <p:nvSpPr>
          <p:cNvPr id="7" name="內容版面配置區 6">
            <a:extLst>
              <a:ext uri="{FF2B5EF4-FFF2-40B4-BE49-F238E27FC236}">
                <a16:creationId xmlns:a16="http://schemas.microsoft.com/office/drawing/2014/main" id="{976445E6-E25F-5650-8882-E130A7079B07}"/>
              </a:ext>
            </a:extLst>
          </p:cNvPr>
          <p:cNvSpPr>
            <a:spLocks noGrp="1"/>
          </p:cNvSpPr>
          <p:nvPr>
            <p:ph idx="1"/>
          </p:nvPr>
        </p:nvSpPr>
        <p:spPr>
          <a:xfrm>
            <a:off x="836802" y="1712628"/>
            <a:ext cx="10515600"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13904655-9882-F413-7902-ABCE672E883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AC9CD0C8-6368-4C8E-6149-7616F602CF3D}"/>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4AC3A633-1BAC-A52C-BDB7-FB65A28E8CAF}"/>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9" name="手繪多邊形: 圖案 8">
            <a:extLst>
              <a:ext uri="{FF2B5EF4-FFF2-40B4-BE49-F238E27FC236}">
                <a16:creationId xmlns:a16="http://schemas.microsoft.com/office/drawing/2014/main" id="{48DD4E7F-D2A0-B010-0210-0175372F6744}"/>
              </a:ext>
            </a:extLst>
          </p:cNvPr>
          <p:cNvSpPr/>
          <p:nvPr/>
        </p:nvSpPr>
        <p:spPr>
          <a:xfrm>
            <a:off x="2841949" y="2092372"/>
            <a:ext cx="6505303" cy="3123964"/>
          </a:xfrm>
          <a:custGeom>
            <a:avLst/>
            <a:gdLst>
              <a:gd name="connsiteX0" fmla="*/ 0 w 6505303"/>
              <a:gd name="connsiteY0" fmla="*/ 1415549 h 3123964"/>
              <a:gd name="connsiteX1" fmla="*/ 1663337 w 6505303"/>
              <a:gd name="connsiteY1" fmla="*/ 57012 h 3123964"/>
              <a:gd name="connsiteX2" fmla="*/ 2760617 w 6505303"/>
              <a:gd name="connsiteY2" fmla="*/ 3113720 h 3123964"/>
              <a:gd name="connsiteX3" fmla="*/ 6505303 w 6505303"/>
              <a:gd name="connsiteY3" fmla="*/ 858200 h 3123964"/>
            </a:gdLst>
            <a:ahLst/>
            <a:cxnLst>
              <a:cxn ang="0">
                <a:pos x="connsiteX0" y="connsiteY0"/>
              </a:cxn>
              <a:cxn ang="0">
                <a:pos x="connsiteX1" y="connsiteY1"/>
              </a:cxn>
              <a:cxn ang="0">
                <a:pos x="connsiteX2" y="connsiteY2"/>
              </a:cxn>
              <a:cxn ang="0">
                <a:pos x="connsiteX3" y="connsiteY3"/>
              </a:cxn>
            </a:cxnLst>
            <a:rect l="l" t="t" r="r" b="b"/>
            <a:pathLst>
              <a:path w="6505303" h="3123964">
                <a:moveTo>
                  <a:pt x="0" y="1415549"/>
                </a:moveTo>
                <a:cubicBezTo>
                  <a:pt x="601617" y="594766"/>
                  <a:pt x="1203234" y="-226017"/>
                  <a:pt x="1663337" y="57012"/>
                </a:cubicBezTo>
                <a:cubicBezTo>
                  <a:pt x="2123440" y="340041"/>
                  <a:pt x="1953623" y="2980189"/>
                  <a:pt x="2760617" y="3113720"/>
                </a:cubicBezTo>
                <a:cubicBezTo>
                  <a:pt x="3567611" y="3247251"/>
                  <a:pt x="5036457" y="2052725"/>
                  <a:pt x="6505303" y="85820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手繪多邊形: 圖案 15">
            <a:extLst>
              <a:ext uri="{FF2B5EF4-FFF2-40B4-BE49-F238E27FC236}">
                <a16:creationId xmlns:a16="http://schemas.microsoft.com/office/drawing/2014/main" id="{99189C1D-363F-9EBF-77BA-BE255BFEFFF6}"/>
              </a:ext>
            </a:extLst>
          </p:cNvPr>
          <p:cNvSpPr/>
          <p:nvPr/>
        </p:nvSpPr>
        <p:spPr>
          <a:xfrm>
            <a:off x="2506670" y="1791280"/>
            <a:ext cx="7175863" cy="3403116"/>
          </a:xfrm>
          <a:custGeom>
            <a:avLst/>
            <a:gdLst>
              <a:gd name="connsiteX0" fmla="*/ 0 w 7175863"/>
              <a:gd name="connsiteY0" fmla="*/ 90066 h 3403116"/>
              <a:gd name="connsiteX1" fmla="*/ 1018903 w 7175863"/>
              <a:gd name="connsiteY1" fmla="*/ 420992 h 3403116"/>
              <a:gd name="connsiteX2" fmla="*/ 2220686 w 7175863"/>
              <a:gd name="connsiteY2" fmla="*/ 3399323 h 3403116"/>
              <a:gd name="connsiteX3" fmla="*/ 6122126 w 7175863"/>
              <a:gd name="connsiteY3" fmla="*/ 1091552 h 3403116"/>
              <a:gd name="connsiteX4" fmla="*/ 7175863 w 7175863"/>
              <a:gd name="connsiteY4" fmla="*/ 3251277 h 3403116"/>
              <a:gd name="connsiteX5" fmla="*/ 7175863 w 7175863"/>
              <a:gd name="connsiteY5" fmla="*/ 3251277 h 340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75863" h="3403116">
                <a:moveTo>
                  <a:pt x="0" y="90066"/>
                </a:moveTo>
                <a:cubicBezTo>
                  <a:pt x="324394" y="-20243"/>
                  <a:pt x="648789" y="-130551"/>
                  <a:pt x="1018903" y="420992"/>
                </a:cubicBezTo>
                <a:cubicBezTo>
                  <a:pt x="1389017" y="972535"/>
                  <a:pt x="1370149" y="3287563"/>
                  <a:pt x="2220686" y="3399323"/>
                </a:cubicBezTo>
                <a:cubicBezTo>
                  <a:pt x="3071223" y="3511083"/>
                  <a:pt x="5296263" y="1116226"/>
                  <a:pt x="6122126" y="1091552"/>
                </a:cubicBezTo>
                <a:cubicBezTo>
                  <a:pt x="6947989" y="1066878"/>
                  <a:pt x="7175863" y="3251277"/>
                  <a:pt x="7175863" y="3251277"/>
                </a:cubicBezTo>
                <a:lnTo>
                  <a:pt x="7175863" y="3251277"/>
                </a:lnTo>
              </a:path>
            </a:pathLst>
          </a:custGeom>
          <a:no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單箭頭接點 17">
            <a:extLst>
              <a:ext uri="{FF2B5EF4-FFF2-40B4-BE49-F238E27FC236}">
                <a16:creationId xmlns:a16="http://schemas.microsoft.com/office/drawing/2014/main" id="{CEBFC869-4ECD-4503-96C3-D0DB6D6892CD}"/>
              </a:ext>
            </a:extLst>
          </p:cNvPr>
          <p:cNvCxnSpPr>
            <a:cxnSpLocks/>
          </p:cNvCxnSpPr>
          <p:nvPr/>
        </p:nvCxnSpPr>
        <p:spPr>
          <a:xfrm flipV="1">
            <a:off x="1767840" y="121920"/>
            <a:ext cx="0" cy="61473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1C933AF4-7548-9E77-D70E-EED6E3E032A7}"/>
              </a:ext>
            </a:extLst>
          </p:cNvPr>
          <p:cNvCxnSpPr/>
          <p:nvPr/>
        </p:nvCxnSpPr>
        <p:spPr>
          <a:xfrm>
            <a:off x="1767840" y="6251846"/>
            <a:ext cx="926592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C6FA0437-ACC5-6610-9C74-6B90C703FBFE}"/>
              </a:ext>
            </a:extLst>
          </p:cNvPr>
          <p:cNvSpPr txBox="1"/>
          <p:nvPr/>
        </p:nvSpPr>
        <p:spPr>
          <a:xfrm>
            <a:off x="10700967" y="6346734"/>
            <a:ext cx="508831" cy="492443"/>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X</a:t>
            </a:r>
            <a:endParaRPr lang="zh-TW" altLang="en-US" sz="2600" dirty="0">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CE19AE2A-14EA-E2AD-6DD9-F51A5317DDDD}"/>
              </a:ext>
            </a:extLst>
          </p:cNvPr>
          <p:cNvSpPr txBox="1"/>
          <p:nvPr/>
        </p:nvSpPr>
        <p:spPr>
          <a:xfrm>
            <a:off x="1187631" y="96293"/>
            <a:ext cx="508831" cy="492443"/>
          </a:xfrm>
          <a:prstGeom prst="rect">
            <a:avLst/>
          </a:prstGeom>
          <a:noFill/>
        </p:spPr>
        <p:txBody>
          <a:bodyPr wrap="square" rtlCol="0">
            <a:spAutoFit/>
          </a:bodyPr>
          <a:lstStyle/>
          <a:p>
            <a:r>
              <a:rPr lang="en-US" altLang="zh-TW" sz="2600" dirty="0">
                <a:latin typeface="Times New Roman" panose="02020603050405020304" pitchFamily="18" charset="0"/>
                <a:cs typeface="Times New Roman" panose="02020603050405020304" pitchFamily="18" charset="0"/>
              </a:rPr>
              <a:t>Y</a:t>
            </a:r>
            <a:endParaRPr lang="zh-TW" altLang="en-US" sz="2600" dirty="0">
              <a:latin typeface="Times New Roman" panose="02020603050405020304" pitchFamily="18" charset="0"/>
              <a:cs typeface="Times New Roman" panose="02020603050405020304" pitchFamily="18" charset="0"/>
            </a:endParaRPr>
          </a:p>
        </p:txBody>
      </p:sp>
      <p:cxnSp>
        <p:nvCxnSpPr>
          <p:cNvPr id="30" name="直線接點 29">
            <a:extLst>
              <a:ext uri="{FF2B5EF4-FFF2-40B4-BE49-F238E27FC236}">
                <a16:creationId xmlns:a16="http://schemas.microsoft.com/office/drawing/2014/main" id="{B54DA6A7-1257-5BA8-A48D-650C70E795E1}"/>
              </a:ext>
            </a:extLst>
          </p:cNvPr>
          <p:cNvCxnSpPr>
            <a:cxnSpLocks/>
          </p:cNvCxnSpPr>
          <p:nvPr/>
        </p:nvCxnSpPr>
        <p:spPr>
          <a:xfrm flipV="1">
            <a:off x="1767840" y="2295840"/>
            <a:ext cx="4783962" cy="38057"/>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橢圓 32">
            <a:extLst>
              <a:ext uri="{FF2B5EF4-FFF2-40B4-BE49-F238E27FC236}">
                <a16:creationId xmlns:a16="http://schemas.microsoft.com/office/drawing/2014/main" id="{1F0F399E-3A5A-8550-A08D-E538B1B9ED2C}"/>
              </a:ext>
            </a:extLst>
          </p:cNvPr>
          <p:cNvSpPr/>
          <p:nvPr/>
        </p:nvSpPr>
        <p:spPr>
          <a:xfrm>
            <a:off x="3515924" y="2219441"/>
            <a:ext cx="147507" cy="190851"/>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9A0139F-7562-0D36-8AFF-207A9582D568}"/>
              </a:ext>
            </a:extLst>
          </p:cNvPr>
          <p:cNvSpPr/>
          <p:nvPr/>
        </p:nvSpPr>
        <p:spPr>
          <a:xfrm>
            <a:off x="3777450" y="2219442"/>
            <a:ext cx="147507" cy="190851"/>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FA6EDB84-ABD7-AE87-5E1A-662F1A801A0A}"/>
              </a:ext>
            </a:extLst>
          </p:cNvPr>
          <p:cNvSpPr txBox="1"/>
          <p:nvPr/>
        </p:nvSpPr>
        <p:spPr>
          <a:xfrm>
            <a:off x="3851203" y="2258012"/>
            <a:ext cx="508831" cy="492443"/>
          </a:xfrm>
          <a:prstGeom prst="rect">
            <a:avLst/>
          </a:prstGeom>
          <a:noFill/>
        </p:spPr>
        <p:txBody>
          <a:bodyPr wrap="square" rtlCol="0">
            <a:spAutoFit/>
          </a:bodyPr>
          <a:lstStyle/>
          <a:p>
            <a:r>
              <a:rPr lang="en-US" altLang="zh-TW" sz="2600" dirty="0">
                <a:solidFill>
                  <a:schemeClr val="accent2">
                    <a:lumMod val="75000"/>
                  </a:schemeClr>
                </a:solidFill>
                <a:latin typeface="Times New Roman" panose="02020603050405020304" pitchFamily="18" charset="0"/>
                <a:cs typeface="Times New Roman" panose="02020603050405020304" pitchFamily="18" charset="0"/>
              </a:rPr>
              <a:t>q</a:t>
            </a:r>
            <a:endParaRPr lang="zh-TW" altLang="en-US" sz="2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A0CB8EC4-BCD9-67C2-932A-DFEAC62DCD64}"/>
              </a:ext>
            </a:extLst>
          </p:cNvPr>
          <p:cNvSpPr txBox="1"/>
          <p:nvPr/>
        </p:nvSpPr>
        <p:spPr>
          <a:xfrm>
            <a:off x="3174732" y="1997485"/>
            <a:ext cx="508831" cy="492443"/>
          </a:xfrm>
          <a:prstGeom prst="rect">
            <a:avLst/>
          </a:prstGeom>
          <a:noFill/>
        </p:spPr>
        <p:txBody>
          <a:bodyPr wrap="square" rtlCol="0">
            <a:spAutoFit/>
          </a:bodyPr>
          <a:lstStyle/>
          <a:p>
            <a:r>
              <a:rPr lang="en-US" altLang="zh-TW" sz="2600" dirty="0">
                <a:solidFill>
                  <a:schemeClr val="accent2">
                    <a:lumMod val="75000"/>
                  </a:schemeClr>
                </a:solidFill>
                <a:latin typeface="Times New Roman" panose="02020603050405020304" pitchFamily="18" charset="0"/>
                <a:cs typeface="Times New Roman" panose="02020603050405020304" pitchFamily="18" charset="0"/>
              </a:rPr>
              <a:t>p</a:t>
            </a:r>
            <a:endParaRPr lang="zh-TW" altLang="en-US" sz="26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96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B025-E0EB-B7A5-C030-00A0212C742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0D9A506-E580-7E64-C9DE-03C53B934178}"/>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DDTW</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AFC68279-B433-D96B-B8A3-A3BE8383B52F}"/>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B5978ED4-BA4D-657C-130B-FE4BF4AED78B}"/>
              </a:ext>
            </a:extLst>
          </p:cNvPr>
          <p:cNvSpPr>
            <a:spLocks noGrp="1"/>
          </p:cNvSpPr>
          <p:nvPr>
            <p:ph idx="1"/>
          </p:nvPr>
        </p:nvSpPr>
        <p:spPr>
          <a:xfrm>
            <a:off x="838200" y="1712628"/>
            <a:ext cx="10515600" cy="4351338"/>
          </a:xfrm>
        </p:spPr>
        <p:txBody>
          <a:bodyPr/>
          <a:lstStyle/>
          <a:p>
            <a:r>
              <a:rPr lang="en-US" altLang="zh-TW" sz="2400" dirty="0">
                <a:latin typeface="Times New Roman" panose="02020603050405020304" pitchFamily="18" charset="0"/>
                <a:cs typeface="Times New Roman" panose="02020603050405020304" pitchFamily="18" charset="0"/>
              </a:rPr>
              <a:t>Considers the higher level feature of </a:t>
            </a:r>
            <a:r>
              <a:rPr lang="en-US" altLang="zh-TW" sz="2400" dirty="0">
                <a:solidFill>
                  <a:srgbClr val="FF0000"/>
                </a:solidFill>
                <a:latin typeface="Times New Roman" panose="02020603050405020304" pitchFamily="18" charset="0"/>
                <a:cs typeface="Times New Roman" panose="02020603050405020304" pitchFamily="18" charset="0"/>
              </a:rPr>
              <a:t>shape</a:t>
            </a:r>
          </a:p>
          <a:p>
            <a:r>
              <a:rPr lang="en-US" altLang="zh-TW" sz="2400" dirty="0">
                <a:latin typeface="Times New Roman" panose="02020603050405020304" pitchFamily="18" charset="0"/>
                <a:cs typeface="Times New Roman" panose="02020603050405020304" pitchFamily="18" charset="0"/>
              </a:rPr>
              <a:t>Obtain information about shape by considering the </a:t>
            </a:r>
            <a:r>
              <a:rPr lang="en-US" altLang="zh-TW" sz="2400" dirty="0">
                <a:solidFill>
                  <a:srgbClr val="FF0000"/>
                </a:solidFill>
                <a:latin typeface="Times New Roman" panose="02020603050405020304" pitchFamily="18" charset="0"/>
                <a:cs typeface="Times New Roman" panose="02020603050405020304" pitchFamily="18" charset="0"/>
              </a:rPr>
              <a:t>first derivative</a:t>
            </a:r>
          </a:p>
        </p:txBody>
      </p:sp>
      <p:sp>
        <p:nvSpPr>
          <p:cNvPr id="13" name="文字方塊 12">
            <a:extLst>
              <a:ext uri="{FF2B5EF4-FFF2-40B4-BE49-F238E27FC236}">
                <a16:creationId xmlns:a16="http://schemas.microsoft.com/office/drawing/2014/main" id="{75F84561-F571-B5C5-0AE8-767B27247E75}"/>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07B6A7C4-163D-F6AC-9D17-C0B2B2DA54D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1D4914E1-777A-E705-819F-0CEA7809AE3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5" name="圖片 4">
            <a:extLst>
              <a:ext uri="{FF2B5EF4-FFF2-40B4-BE49-F238E27FC236}">
                <a16:creationId xmlns:a16="http://schemas.microsoft.com/office/drawing/2014/main" id="{71E435AC-1D77-BB14-A5F3-6DF5F94BDA1F}"/>
              </a:ext>
            </a:extLst>
          </p:cNvPr>
          <p:cNvPicPr>
            <a:picLocks noChangeAspect="1"/>
          </p:cNvPicPr>
          <p:nvPr/>
        </p:nvPicPr>
        <p:blipFill>
          <a:blip r:embed="rId2"/>
          <a:stretch>
            <a:fillRect/>
          </a:stretch>
        </p:blipFill>
        <p:spPr>
          <a:xfrm>
            <a:off x="258520" y="3761767"/>
            <a:ext cx="5635785" cy="1169126"/>
          </a:xfrm>
          <a:prstGeom prst="rect">
            <a:avLst/>
          </a:prstGeom>
        </p:spPr>
      </p:pic>
      <p:sp>
        <p:nvSpPr>
          <p:cNvPr id="8" name="手繪多邊形: 圖案 7">
            <a:extLst>
              <a:ext uri="{FF2B5EF4-FFF2-40B4-BE49-F238E27FC236}">
                <a16:creationId xmlns:a16="http://schemas.microsoft.com/office/drawing/2014/main" id="{602E5F9A-67AB-35AE-757B-77929C312596}"/>
              </a:ext>
            </a:extLst>
          </p:cNvPr>
          <p:cNvSpPr/>
          <p:nvPr/>
        </p:nvSpPr>
        <p:spPr>
          <a:xfrm>
            <a:off x="5637402" y="3368911"/>
            <a:ext cx="6505303" cy="3123964"/>
          </a:xfrm>
          <a:custGeom>
            <a:avLst/>
            <a:gdLst>
              <a:gd name="connsiteX0" fmla="*/ 0 w 6505303"/>
              <a:gd name="connsiteY0" fmla="*/ 1415549 h 3123964"/>
              <a:gd name="connsiteX1" fmla="*/ 1663337 w 6505303"/>
              <a:gd name="connsiteY1" fmla="*/ 57012 h 3123964"/>
              <a:gd name="connsiteX2" fmla="*/ 2760617 w 6505303"/>
              <a:gd name="connsiteY2" fmla="*/ 3113720 h 3123964"/>
              <a:gd name="connsiteX3" fmla="*/ 6505303 w 6505303"/>
              <a:gd name="connsiteY3" fmla="*/ 858200 h 3123964"/>
            </a:gdLst>
            <a:ahLst/>
            <a:cxnLst>
              <a:cxn ang="0">
                <a:pos x="connsiteX0" y="connsiteY0"/>
              </a:cxn>
              <a:cxn ang="0">
                <a:pos x="connsiteX1" y="connsiteY1"/>
              </a:cxn>
              <a:cxn ang="0">
                <a:pos x="connsiteX2" y="connsiteY2"/>
              </a:cxn>
              <a:cxn ang="0">
                <a:pos x="connsiteX3" y="connsiteY3"/>
              </a:cxn>
            </a:cxnLst>
            <a:rect l="l" t="t" r="r" b="b"/>
            <a:pathLst>
              <a:path w="6505303" h="3123964">
                <a:moveTo>
                  <a:pt x="0" y="1415549"/>
                </a:moveTo>
                <a:cubicBezTo>
                  <a:pt x="601617" y="594766"/>
                  <a:pt x="1203234" y="-226017"/>
                  <a:pt x="1663337" y="57012"/>
                </a:cubicBezTo>
                <a:cubicBezTo>
                  <a:pt x="2123440" y="340041"/>
                  <a:pt x="1953623" y="2980189"/>
                  <a:pt x="2760617" y="3113720"/>
                </a:cubicBezTo>
                <a:cubicBezTo>
                  <a:pt x="3567611" y="3247251"/>
                  <a:pt x="5036457" y="2052725"/>
                  <a:pt x="6505303" y="85820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BEF248A3-4914-A6DC-BC72-C232390481FB}"/>
              </a:ext>
            </a:extLst>
          </p:cNvPr>
          <p:cNvSpPr txBox="1"/>
          <p:nvPr/>
        </p:nvSpPr>
        <p:spPr>
          <a:xfrm>
            <a:off x="6912200" y="2764923"/>
            <a:ext cx="508831" cy="492443"/>
          </a:xfrm>
          <a:prstGeom prst="rect">
            <a:avLst/>
          </a:prstGeom>
          <a:noFill/>
        </p:spPr>
        <p:txBody>
          <a:bodyPr wrap="square" rtlCol="0">
            <a:spAutoFit/>
          </a:bodyPr>
          <a:lstStyle/>
          <a:p>
            <a:r>
              <a:rPr lang="en-US" altLang="zh-TW" sz="2600" dirty="0">
                <a:solidFill>
                  <a:schemeClr val="accent2">
                    <a:lumMod val="75000"/>
                  </a:schemeClr>
                </a:solidFill>
                <a:latin typeface="Times New Roman" panose="02020603050405020304" pitchFamily="18" charset="0"/>
                <a:cs typeface="Times New Roman" panose="02020603050405020304" pitchFamily="18" charset="0"/>
              </a:rPr>
              <a:t>q</a:t>
            </a:r>
            <a:r>
              <a:rPr lang="en-US" altLang="zh-TW" sz="2600" baseline="-25000" dirty="0">
                <a:solidFill>
                  <a:schemeClr val="accent2">
                    <a:lumMod val="75000"/>
                  </a:schemeClr>
                </a:solidFill>
                <a:latin typeface="Times New Roman" panose="02020603050405020304" pitchFamily="18" charset="0"/>
                <a:cs typeface="Times New Roman" panose="02020603050405020304" pitchFamily="18" charset="0"/>
              </a:rPr>
              <a:t>i</a:t>
            </a:r>
            <a:endParaRPr lang="zh-TW" altLang="en-US" sz="2600" baseline="-25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1B035370-C196-4C90-886C-3B98B6F76C3B}"/>
              </a:ext>
            </a:extLst>
          </p:cNvPr>
          <p:cNvSpPr txBox="1"/>
          <p:nvPr/>
        </p:nvSpPr>
        <p:spPr>
          <a:xfrm>
            <a:off x="7260054" y="3014797"/>
            <a:ext cx="931816" cy="492443"/>
          </a:xfrm>
          <a:prstGeom prst="rect">
            <a:avLst/>
          </a:prstGeom>
          <a:noFill/>
        </p:spPr>
        <p:txBody>
          <a:bodyPr wrap="square" rtlCol="0">
            <a:spAutoFit/>
          </a:bodyPr>
          <a:lstStyle/>
          <a:p>
            <a:r>
              <a:rPr lang="en-US" altLang="zh-TW" sz="2600" dirty="0">
                <a:solidFill>
                  <a:schemeClr val="accent2">
                    <a:lumMod val="75000"/>
                  </a:schemeClr>
                </a:solidFill>
                <a:latin typeface="Times New Roman" panose="02020603050405020304" pitchFamily="18" charset="0"/>
                <a:cs typeface="Times New Roman" panose="02020603050405020304" pitchFamily="18" charset="0"/>
              </a:rPr>
              <a:t>q</a:t>
            </a:r>
            <a:r>
              <a:rPr lang="en-US" altLang="zh-TW" sz="2600" baseline="-25000" dirty="0">
                <a:solidFill>
                  <a:schemeClr val="accent2">
                    <a:lumMod val="75000"/>
                  </a:schemeClr>
                </a:solidFill>
                <a:latin typeface="Times New Roman" panose="02020603050405020304" pitchFamily="18" charset="0"/>
                <a:cs typeface="Times New Roman" panose="02020603050405020304" pitchFamily="18" charset="0"/>
              </a:rPr>
              <a:t>i+1</a:t>
            </a:r>
            <a:endParaRPr lang="zh-TW" altLang="en-US" sz="2600" baseline="-25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32FDE48F-B74C-74BE-EC71-2E4DE5EC3E76}"/>
              </a:ext>
            </a:extLst>
          </p:cNvPr>
          <p:cNvSpPr txBox="1"/>
          <p:nvPr/>
        </p:nvSpPr>
        <p:spPr>
          <a:xfrm>
            <a:off x="6354081" y="2965911"/>
            <a:ext cx="1066950" cy="492443"/>
          </a:xfrm>
          <a:prstGeom prst="rect">
            <a:avLst/>
          </a:prstGeom>
          <a:noFill/>
        </p:spPr>
        <p:txBody>
          <a:bodyPr wrap="square" rtlCol="0">
            <a:spAutoFit/>
          </a:bodyPr>
          <a:lstStyle/>
          <a:p>
            <a:r>
              <a:rPr lang="en-US" altLang="zh-TW" sz="2600" dirty="0">
                <a:solidFill>
                  <a:schemeClr val="accent2">
                    <a:lumMod val="75000"/>
                  </a:schemeClr>
                </a:solidFill>
                <a:latin typeface="Times New Roman" panose="02020603050405020304" pitchFamily="18" charset="0"/>
                <a:cs typeface="Times New Roman" panose="02020603050405020304" pitchFamily="18" charset="0"/>
              </a:rPr>
              <a:t>q</a:t>
            </a:r>
            <a:r>
              <a:rPr lang="en-US" altLang="zh-TW" sz="2600" baseline="-25000" dirty="0">
                <a:solidFill>
                  <a:schemeClr val="accent2">
                    <a:lumMod val="75000"/>
                  </a:schemeClr>
                </a:solidFill>
                <a:latin typeface="Times New Roman" panose="02020603050405020304" pitchFamily="18" charset="0"/>
                <a:cs typeface="Times New Roman" panose="02020603050405020304" pitchFamily="18" charset="0"/>
              </a:rPr>
              <a:t>i-1</a:t>
            </a:r>
            <a:endParaRPr lang="zh-TW" altLang="en-US" sz="2600" baseline="-25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21" name="橢圓 20">
            <a:extLst>
              <a:ext uri="{FF2B5EF4-FFF2-40B4-BE49-F238E27FC236}">
                <a16:creationId xmlns:a16="http://schemas.microsoft.com/office/drawing/2014/main" id="{57076121-2DC8-98B9-C6E0-D9123DA5EC48}"/>
              </a:ext>
            </a:extLst>
          </p:cNvPr>
          <p:cNvSpPr/>
          <p:nvPr/>
        </p:nvSpPr>
        <p:spPr>
          <a:xfrm>
            <a:off x="7019109" y="3273485"/>
            <a:ext cx="147507" cy="190851"/>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590CAAF7-2C54-915A-B09D-0FBBDAC1C487}"/>
              </a:ext>
            </a:extLst>
          </p:cNvPr>
          <p:cNvSpPr/>
          <p:nvPr/>
        </p:nvSpPr>
        <p:spPr>
          <a:xfrm>
            <a:off x="6687094" y="3397517"/>
            <a:ext cx="147507" cy="190851"/>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06791D0D-AE19-401E-7791-CC503431C701}"/>
              </a:ext>
            </a:extLst>
          </p:cNvPr>
          <p:cNvSpPr/>
          <p:nvPr/>
        </p:nvSpPr>
        <p:spPr>
          <a:xfrm>
            <a:off x="7347278" y="3496949"/>
            <a:ext cx="147507" cy="190851"/>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55314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5447"/>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7</a:t>
            </a:fld>
            <a:endParaRPr lang="zh-TW" altLang="en-US" dirty="0"/>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11" name="內容版面配置區 10">
            <a:extLst>
              <a:ext uri="{FF2B5EF4-FFF2-40B4-BE49-F238E27FC236}">
                <a16:creationId xmlns:a16="http://schemas.microsoft.com/office/drawing/2014/main" id="{2D4BE66B-6AC5-44DD-3FD1-F1FEE41D1542}"/>
              </a:ext>
            </a:extLst>
          </p:cNvPr>
          <p:cNvPicPr>
            <a:picLocks noGrp="1" noChangeAspect="1"/>
          </p:cNvPicPr>
          <p:nvPr>
            <p:ph idx="1"/>
          </p:nvPr>
        </p:nvPicPr>
        <p:blipFill>
          <a:blip r:embed="rId2"/>
          <a:stretch>
            <a:fillRect/>
          </a:stretch>
        </p:blipFill>
        <p:spPr>
          <a:xfrm>
            <a:off x="2446524" y="1859335"/>
            <a:ext cx="8706978" cy="4727847"/>
          </a:xfrm>
        </p:spPr>
      </p:pic>
      <p:sp>
        <p:nvSpPr>
          <p:cNvPr id="12" name="文字方塊 11">
            <a:extLst>
              <a:ext uri="{FF2B5EF4-FFF2-40B4-BE49-F238E27FC236}">
                <a16:creationId xmlns:a16="http://schemas.microsoft.com/office/drawing/2014/main" id="{A4A8B2B6-CC54-AB98-D123-91BD84D3CC43}"/>
              </a:ext>
            </a:extLst>
          </p:cNvPr>
          <p:cNvSpPr txBox="1"/>
          <p:nvPr/>
        </p:nvSpPr>
        <p:spPr>
          <a:xfrm>
            <a:off x="653381" y="1230177"/>
            <a:ext cx="289971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Spurious warping</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112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6C9A-10CA-F0F5-4E21-56C7AF3E52A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9120BAA-3B8C-9302-B30E-61ECDB19617A}"/>
              </a:ext>
            </a:extLst>
          </p:cNvPr>
          <p:cNvSpPr>
            <a:spLocks noGrp="1"/>
          </p:cNvSpPr>
          <p:nvPr>
            <p:ph type="title"/>
          </p:nvPr>
        </p:nvSpPr>
        <p:spPr>
          <a:xfrm>
            <a:off x="838200" y="135447"/>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2B72AA7-5D2C-5D08-7B66-ED4E8EE02C5D}"/>
              </a:ext>
            </a:extLst>
          </p:cNvPr>
          <p:cNvSpPr>
            <a:spLocks noGrp="1"/>
          </p:cNvSpPr>
          <p:nvPr>
            <p:ph type="sldNum" sz="quarter" idx="12"/>
          </p:nvPr>
        </p:nvSpPr>
        <p:spPr/>
        <p:txBody>
          <a:bodyPr/>
          <a:lstStyle/>
          <a:p>
            <a:fld id="{EFAEC03B-316C-4507-8207-D997BB28EB64}" type="slidenum">
              <a:rPr lang="zh-TW" altLang="en-US" smtClean="0"/>
              <a:t>8</a:t>
            </a:fld>
            <a:endParaRPr lang="zh-TW" altLang="en-US" dirty="0"/>
          </a:p>
        </p:txBody>
      </p:sp>
      <p:sp>
        <p:nvSpPr>
          <p:cNvPr id="13" name="文字方塊 12">
            <a:extLst>
              <a:ext uri="{FF2B5EF4-FFF2-40B4-BE49-F238E27FC236}">
                <a16:creationId xmlns:a16="http://schemas.microsoft.com/office/drawing/2014/main" id="{C453A841-0EB7-8874-DC59-9829ED0A7F4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D65550EE-1453-1591-CB26-43D1AA8AFE4D}"/>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D9FD011B-34CA-3885-07F4-E477B5DC2D31}"/>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2" name="文字方塊 11">
            <a:extLst>
              <a:ext uri="{FF2B5EF4-FFF2-40B4-BE49-F238E27FC236}">
                <a16:creationId xmlns:a16="http://schemas.microsoft.com/office/drawing/2014/main" id="{E2542E60-F0A5-1FB2-7371-D3D0F63F1107}"/>
              </a:ext>
            </a:extLst>
          </p:cNvPr>
          <p:cNvSpPr txBox="1"/>
          <p:nvPr/>
        </p:nvSpPr>
        <p:spPr>
          <a:xfrm>
            <a:off x="653381" y="1230177"/>
            <a:ext cx="289971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Spurious warping</a:t>
            </a:r>
            <a:endParaRPr lang="zh-TW" altLang="en-US" sz="24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052B9D85-8D36-B2D0-85B0-7201AD8817C0}"/>
              </a:ext>
            </a:extLst>
          </p:cNvPr>
          <p:cNvPicPr>
            <a:picLocks noGrp="1" noChangeAspect="1"/>
          </p:cNvPicPr>
          <p:nvPr>
            <p:ph idx="1"/>
          </p:nvPr>
        </p:nvPicPr>
        <p:blipFill>
          <a:blip r:embed="rId2"/>
          <a:stretch>
            <a:fillRect/>
          </a:stretch>
        </p:blipFill>
        <p:spPr>
          <a:xfrm>
            <a:off x="666436" y="2786572"/>
            <a:ext cx="2076740" cy="571580"/>
          </a:xfrm>
        </p:spPr>
      </p:pic>
      <p:pic>
        <p:nvPicPr>
          <p:cNvPr id="9" name="圖片 8">
            <a:extLst>
              <a:ext uri="{FF2B5EF4-FFF2-40B4-BE49-F238E27FC236}">
                <a16:creationId xmlns:a16="http://schemas.microsoft.com/office/drawing/2014/main" id="{0DE8B1AD-3A58-AC30-87B2-A72645584D28}"/>
              </a:ext>
            </a:extLst>
          </p:cNvPr>
          <p:cNvPicPr>
            <a:picLocks noChangeAspect="1"/>
          </p:cNvPicPr>
          <p:nvPr/>
        </p:nvPicPr>
        <p:blipFill>
          <a:blip r:embed="rId3"/>
          <a:stretch>
            <a:fillRect/>
          </a:stretch>
        </p:blipFill>
        <p:spPr>
          <a:xfrm>
            <a:off x="3905406" y="2357245"/>
            <a:ext cx="7516274" cy="2753109"/>
          </a:xfrm>
          <a:prstGeom prst="rect">
            <a:avLst/>
          </a:prstGeom>
        </p:spPr>
      </p:pic>
      <p:sp>
        <p:nvSpPr>
          <p:cNvPr id="10" name="文字方塊 9">
            <a:extLst>
              <a:ext uri="{FF2B5EF4-FFF2-40B4-BE49-F238E27FC236}">
                <a16:creationId xmlns:a16="http://schemas.microsoft.com/office/drawing/2014/main" id="{5A0EED89-744B-2606-A10C-3E56D7A13814}"/>
              </a:ext>
            </a:extLst>
          </p:cNvPr>
          <p:cNvSpPr txBox="1"/>
          <p:nvPr/>
        </p:nvSpPr>
        <p:spPr>
          <a:xfrm>
            <a:off x="653381" y="3534354"/>
            <a:ext cx="3439886" cy="707886"/>
          </a:xfrm>
          <a:prstGeom prst="rect">
            <a:avLst/>
          </a:prstGeom>
          <a:noFill/>
        </p:spPr>
        <p:txBody>
          <a:bodyPr wrap="square" rtlCol="0">
            <a:spAutoFit/>
          </a:bodyPr>
          <a:lstStyle/>
          <a:p>
            <a:pPr marL="285750" indent="-28575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K : warping path length</a:t>
            </a:r>
          </a:p>
          <a:p>
            <a:pPr marL="285750" indent="-28575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m : sequence length</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530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3BED5-58BC-B3C6-5BA6-03777E93441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4967915-F871-07C1-9E2A-8AF3C0B77284}"/>
              </a:ext>
            </a:extLst>
          </p:cNvPr>
          <p:cNvSpPr>
            <a:spLocks noGrp="1"/>
          </p:cNvSpPr>
          <p:nvPr>
            <p:ph type="title"/>
          </p:nvPr>
        </p:nvSpPr>
        <p:spPr>
          <a:xfrm>
            <a:off x="838200" y="135447"/>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342A33A7-D848-4C30-BC9C-137F90BCEC87}"/>
              </a:ext>
            </a:extLst>
          </p:cNvPr>
          <p:cNvSpPr>
            <a:spLocks noGrp="1"/>
          </p:cNvSpPr>
          <p:nvPr>
            <p:ph type="sldNum" sz="quarter" idx="12"/>
          </p:nvPr>
        </p:nvSpPr>
        <p:spPr/>
        <p:txBody>
          <a:bodyPr/>
          <a:lstStyle/>
          <a:p>
            <a:fld id="{EFAEC03B-316C-4507-8207-D997BB28EB64}" type="slidenum">
              <a:rPr lang="zh-TW" altLang="en-US" smtClean="0"/>
              <a:t>9</a:t>
            </a:fld>
            <a:endParaRPr lang="zh-TW" altLang="en-US" dirty="0"/>
          </a:p>
        </p:txBody>
      </p:sp>
      <p:sp>
        <p:nvSpPr>
          <p:cNvPr id="13" name="文字方塊 12">
            <a:extLst>
              <a:ext uri="{FF2B5EF4-FFF2-40B4-BE49-F238E27FC236}">
                <a16:creationId xmlns:a16="http://schemas.microsoft.com/office/drawing/2014/main" id="{F97C404F-5991-7CC5-3B27-0D1A7BA45A78}"/>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F98B0FA-55B6-C6EE-7BBF-834E26D3107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089412B8-5EA3-3B37-E4FC-80A6A93CD153}"/>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2" name="文字方塊 11">
            <a:extLst>
              <a:ext uri="{FF2B5EF4-FFF2-40B4-BE49-F238E27FC236}">
                <a16:creationId xmlns:a16="http://schemas.microsoft.com/office/drawing/2014/main" id="{A242772A-4AE6-5C92-24FE-37E87FD5B8D3}"/>
              </a:ext>
            </a:extLst>
          </p:cNvPr>
          <p:cNvSpPr txBox="1"/>
          <p:nvPr/>
        </p:nvSpPr>
        <p:spPr>
          <a:xfrm>
            <a:off x="653381" y="1230177"/>
            <a:ext cx="2899716" cy="461665"/>
          </a:xfrm>
          <a:prstGeom prst="rect">
            <a:avLst/>
          </a:prstGeom>
          <a:noFill/>
        </p:spPr>
        <p:txBody>
          <a:bodyPr wrap="square" rtlCol="0">
            <a:spAutoFit/>
          </a:bodyPr>
          <a:lstStyle/>
          <a:p>
            <a:r>
              <a:rPr lang="en-US" altLang="zh-TW" sz="2400" dirty="0"/>
              <a:t>Correct</a:t>
            </a:r>
            <a:r>
              <a:rPr lang="en-US" altLang="zh-TW" sz="2400" dirty="0">
                <a:latin typeface="Times New Roman" panose="02020603050405020304" pitchFamily="18" charset="0"/>
                <a:cs typeface="Times New Roman" panose="02020603050405020304" pitchFamily="18" charset="0"/>
              </a:rPr>
              <a:t> warping</a:t>
            </a:r>
            <a:endParaRPr lang="zh-TW" altLang="en-US" sz="24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E1F335D8-BDB0-9814-8172-823350728603}"/>
              </a:ext>
            </a:extLst>
          </p:cNvPr>
          <p:cNvPicPr>
            <a:picLocks noGrp="1" noChangeAspect="1"/>
          </p:cNvPicPr>
          <p:nvPr>
            <p:ph idx="1"/>
          </p:nvPr>
        </p:nvPicPr>
        <p:blipFill>
          <a:blip r:embed="rId2"/>
          <a:stretch>
            <a:fillRect/>
          </a:stretch>
        </p:blipFill>
        <p:spPr>
          <a:xfrm>
            <a:off x="1389993" y="1829291"/>
            <a:ext cx="9412013" cy="4344006"/>
          </a:xfrm>
        </p:spPr>
      </p:pic>
    </p:spTree>
    <p:extLst>
      <p:ext uri="{BB962C8B-B14F-4D97-AF65-F5344CB8AC3E}">
        <p14:creationId xmlns:p14="http://schemas.microsoft.com/office/powerpoint/2010/main" val="1211357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47304-9B87-B169-2195-5A533652F1E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55A43A5-0026-0E29-E742-38CFAEAE1BCB}"/>
              </a:ext>
            </a:extLst>
          </p:cNvPr>
          <p:cNvSpPr>
            <a:spLocks noGrp="1"/>
          </p:cNvSpPr>
          <p:nvPr>
            <p:ph type="title"/>
          </p:nvPr>
        </p:nvSpPr>
        <p:spPr>
          <a:xfrm>
            <a:off x="838200" y="135447"/>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B6DAB12-3BBC-1468-3C70-18DD543E46D8}"/>
              </a:ext>
            </a:extLst>
          </p:cNvPr>
          <p:cNvSpPr>
            <a:spLocks noGrp="1"/>
          </p:cNvSpPr>
          <p:nvPr>
            <p:ph type="sldNum" sz="quarter" idx="12"/>
          </p:nvPr>
        </p:nvSpPr>
        <p:spPr/>
        <p:txBody>
          <a:bodyPr/>
          <a:lstStyle/>
          <a:p>
            <a:fld id="{EFAEC03B-316C-4507-8207-D997BB28EB64}" type="slidenum">
              <a:rPr lang="zh-TW" altLang="en-US" smtClean="0"/>
              <a:t>10</a:t>
            </a:fld>
            <a:endParaRPr lang="zh-TW" altLang="en-US" dirty="0"/>
          </a:p>
        </p:txBody>
      </p:sp>
      <p:sp>
        <p:nvSpPr>
          <p:cNvPr id="13" name="文字方塊 12">
            <a:extLst>
              <a:ext uri="{FF2B5EF4-FFF2-40B4-BE49-F238E27FC236}">
                <a16:creationId xmlns:a16="http://schemas.microsoft.com/office/drawing/2014/main" id="{13824E3A-4DD0-1B2C-B3A8-EEDA0A187F9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27C95DDE-31F3-67C4-8F48-B6520BB8239B}"/>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67CA1F81-8F7E-C2DC-E9B2-9ADF32D9FB4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2" name="文字方塊 11">
            <a:extLst>
              <a:ext uri="{FF2B5EF4-FFF2-40B4-BE49-F238E27FC236}">
                <a16:creationId xmlns:a16="http://schemas.microsoft.com/office/drawing/2014/main" id="{38EF6B80-5B94-8764-D51E-2D43515BC7DE}"/>
              </a:ext>
            </a:extLst>
          </p:cNvPr>
          <p:cNvSpPr txBox="1"/>
          <p:nvPr/>
        </p:nvSpPr>
        <p:spPr>
          <a:xfrm>
            <a:off x="509681" y="1543535"/>
            <a:ext cx="2899716" cy="461665"/>
          </a:xfrm>
          <a:prstGeom prst="rect">
            <a:avLst/>
          </a:prstGeom>
          <a:noFill/>
        </p:spPr>
        <p:txBody>
          <a:bodyPr wrap="square" rtlCol="0">
            <a:spAutoFit/>
          </a:bodyPr>
          <a:lstStyle/>
          <a:p>
            <a:r>
              <a:rPr lang="en-US" altLang="zh-TW" sz="2400" dirty="0"/>
              <a:t>correct warping</a:t>
            </a:r>
            <a:endParaRPr lang="zh-TW" altLang="en-US" sz="2400" dirty="0">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DD9A67B2-372E-ADA8-F828-7FE7B15244F1}"/>
              </a:ext>
            </a:extLst>
          </p:cNvPr>
          <p:cNvPicPr>
            <a:picLocks noChangeAspect="1"/>
          </p:cNvPicPr>
          <p:nvPr/>
        </p:nvPicPr>
        <p:blipFill>
          <a:blip r:embed="rId2"/>
          <a:stretch>
            <a:fillRect/>
          </a:stretch>
        </p:blipFill>
        <p:spPr>
          <a:xfrm>
            <a:off x="1850558" y="2136658"/>
            <a:ext cx="9402487" cy="4163006"/>
          </a:xfrm>
          <a:prstGeom prst="rect">
            <a:avLst/>
          </a:prstGeom>
        </p:spPr>
      </p:pic>
      <p:sp>
        <p:nvSpPr>
          <p:cNvPr id="17" name="橢圓 16">
            <a:extLst>
              <a:ext uri="{FF2B5EF4-FFF2-40B4-BE49-F238E27FC236}">
                <a16:creationId xmlns:a16="http://schemas.microsoft.com/office/drawing/2014/main" id="{DA8B5963-5318-952A-59C9-C88C0FE98208}"/>
              </a:ext>
            </a:extLst>
          </p:cNvPr>
          <p:cNvSpPr/>
          <p:nvPr/>
        </p:nvSpPr>
        <p:spPr>
          <a:xfrm>
            <a:off x="3553097" y="2778034"/>
            <a:ext cx="365759" cy="46155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02796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11</a:t>
            </a:fld>
            <a:endParaRPr lang="zh-TW" altLang="en-US"/>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4892</TotalTime>
  <Words>264</Words>
  <Application>Microsoft Office PowerPoint</Application>
  <PresentationFormat>寬螢幕</PresentationFormat>
  <Paragraphs>41</Paragraphs>
  <Slides>11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Derivative Dynamic Time Warping</vt:lpstr>
      <vt:lpstr>ABSTRACT</vt:lpstr>
      <vt:lpstr>Problem of DTW</vt:lpstr>
      <vt:lpstr>Singularities</vt:lpstr>
      <vt:lpstr>PowerPoint 簡報</vt:lpstr>
      <vt:lpstr>DDTW</vt:lpstr>
      <vt:lpstr>Experiment</vt:lpstr>
      <vt:lpstr>Experiment</vt:lpstr>
      <vt:lpstr>Experiment</vt:lpstr>
      <vt:lpstr>Experiment</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31</cp:revision>
  <dcterms:created xsi:type="dcterms:W3CDTF">2023-09-05T08:57:34Z</dcterms:created>
  <dcterms:modified xsi:type="dcterms:W3CDTF">2024-03-12T04:01:46Z</dcterms:modified>
</cp:coreProperties>
</file>