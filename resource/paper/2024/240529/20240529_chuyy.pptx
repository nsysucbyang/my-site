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2"/>
  </p:notesMasterIdLst>
  <p:sldIdLst>
    <p:sldId id="256" r:id="rId2"/>
    <p:sldId id="257" r:id="rId3"/>
    <p:sldId id="286" r:id="rId4"/>
    <p:sldId id="260" r:id="rId5"/>
    <p:sldId id="287" r:id="rId6"/>
    <p:sldId id="261" r:id="rId7"/>
    <p:sldId id="262" r:id="rId8"/>
    <p:sldId id="263" r:id="rId9"/>
    <p:sldId id="264" r:id="rId10"/>
    <p:sldId id="265"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858"/>
    <p:restoredTop sz="95788"/>
  </p:normalViewPr>
  <p:slideViewPr>
    <p:cSldViewPr snapToGrid="0" snapToObjects="1">
      <p:cViewPr varScale="1">
        <p:scale>
          <a:sx n="129" d="100"/>
          <a:sy n="129" d="100"/>
        </p:scale>
        <p:origin x="49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685761-BC47-1640-B177-90544C5C7DE3}" type="datetimeFigureOut">
              <a:rPr kumimoji="1" lang="zh-TW" altLang="en-US" smtClean="0"/>
              <a:t>2024/5/29</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DF88BA-E6E4-4543-BA48-BA0FF57EDFDD}" type="slidenum">
              <a:rPr kumimoji="1" lang="zh-TW" altLang="en-US" smtClean="0"/>
              <a:t>‹#›</a:t>
            </a:fld>
            <a:endParaRPr kumimoji="1" lang="zh-TW" altLang="en-US"/>
          </a:p>
        </p:txBody>
      </p:sp>
    </p:spTree>
    <p:extLst>
      <p:ext uri="{BB962C8B-B14F-4D97-AF65-F5344CB8AC3E}">
        <p14:creationId xmlns:p14="http://schemas.microsoft.com/office/powerpoint/2010/main" val="129180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8AFC48-3333-9D44-9A46-EBD28493A784}"/>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2FDEA52E-50C8-2B46-853E-68D8E0AC5B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按一下以編輯母片副標題樣式</a:t>
            </a:r>
          </a:p>
        </p:txBody>
      </p:sp>
      <p:sp>
        <p:nvSpPr>
          <p:cNvPr id="4" name="日期版面配置區 3">
            <a:extLst>
              <a:ext uri="{FF2B5EF4-FFF2-40B4-BE49-F238E27FC236}">
                <a16:creationId xmlns:a16="http://schemas.microsoft.com/office/drawing/2014/main" id="{99949C8A-F130-D646-AB33-6ACF0EC20126}"/>
              </a:ext>
            </a:extLst>
          </p:cNvPr>
          <p:cNvSpPr>
            <a:spLocks noGrp="1"/>
          </p:cNvSpPr>
          <p:nvPr>
            <p:ph type="dt" sz="half" idx="10"/>
          </p:nvPr>
        </p:nvSpPr>
        <p:spPr/>
        <p:txBody>
          <a:bodyPr/>
          <a:lstStyle/>
          <a:p>
            <a:fld id="{1D559227-5104-0D4E-AE2B-CFC6EF24DF26}" type="datetime1">
              <a:rPr kumimoji="1" lang="zh-TW" altLang="en-US" smtClean="0"/>
              <a:t>2024/5/29</a:t>
            </a:fld>
            <a:endParaRPr kumimoji="1" lang="zh-TW" altLang="en-US"/>
          </a:p>
        </p:txBody>
      </p:sp>
      <p:sp>
        <p:nvSpPr>
          <p:cNvPr id="5" name="頁尾版面配置區 4">
            <a:extLst>
              <a:ext uri="{FF2B5EF4-FFF2-40B4-BE49-F238E27FC236}">
                <a16:creationId xmlns:a16="http://schemas.microsoft.com/office/drawing/2014/main" id="{E450D42D-775A-2146-B8BB-C9CE9A382E72}"/>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61E502A-64F7-7C4E-B509-954BE6D3A0A2}"/>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125589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580369-97FF-B548-BB55-CB8DCE6B8628}"/>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573028B2-5CCA-8C4B-A152-A6977DB014FE}"/>
              </a:ext>
            </a:extLst>
          </p:cNvPr>
          <p:cNvSpPr>
            <a:spLocks noGrp="1"/>
          </p:cNvSpPr>
          <p:nvPr>
            <p:ph idx="1"/>
          </p:nvPr>
        </p:nvSpPr>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32B847DA-2EF1-9E49-8F1B-E3D7D56E3B97}"/>
              </a:ext>
            </a:extLst>
          </p:cNvPr>
          <p:cNvSpPr>
            <a:spLocks noGrp="1"/>
          </p:cNvSpPr>
          <p:nvPr>
            <p:ph type="dt" sz="half" idx="10"/>
          </p:nvPr>
        </p:nvSpPr>
        <p:spPr/>
        <p:txBody>
          <a:bodyPr/>
          <a:lstStyle/>
          <a:p>
            <a:fld id="{6B7B55EC-044C-AD45-985E-A0F6561D9028}" type="datetime1">
              <a:rPr kumimoji="1" lang="zh-TW" altLang="en-US" smtClean="0"/>
              <a:t>2024/5/29</a:t>
            </a:fld>
            <a:endParaRPr kumimoji="1" lang="zh-TW" altLang="en-US"/>
          </a:p>
        </p:txBody>
      </p:sp>
      <p:sp>
        <p:nvSpPr>
          <p:cNvPr id="5" name="頁尾版面配置區 4">
            <a:extLst>
              <a:ext uri="{FF2B5EF4-FFF2-40B4-BE49-F238E27FC236}">
                <a16:creationId xmlns:a16="http://schemas.microsoft.com/office/drawing/2014/main" id="{6F09B162-6F92-BD4C-A01A-413E3321E0F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C6743639-9C98-CC43-9A7E-7827356595CB}"/>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996406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807A748-F79F-F346-8961-AA8DB18739C9}"/>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3E6C14E7-8AB9-AE4F-8AB3-D0046CEF4C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編輯母片文字樣式</a:t>
            </a:r>
          </a:p>
        </p:txBody>
      </p:sp>
      <p:sp>
        <p:nvSpPr>
          <p:cNvPr id="4" name="日期版面配置區 3">
            <a:extLst>
              <a:ext uri="{FF2B5EF4-FFF2-40B4-BE49-F238E27FC236}">
                <a16:creationId xmlns:a16="http://schemas.microsoft.com/office/drawing/2014/main" id="{17A4DA8E-2AC4-874C-948B-4FEBEEDEF653}"/>
              </a:ext>
            </a:extLst>
          </p:cNvPr>
          <p:cNvSpPr>
            <a:spLocks noGrp="1"/>
          </p:cNvSpPr>
          <p:nvPr>
            <p:ph type="dt" sz="half" idx="10"/>
          </p:nvPr>
        </p:nvSpPr>
        <p:spPr/>
        <p:txBody>
          <a:bodyPr/>
          <a:lstStyle/>
          <a:p>
            <a:fld id="{1BE45051-DBAB-7C4D-ADA4-56271E2E2BD3}" type="datetime1">
              <a:rPr kumimoji="1" lang="zh-TW" altLang="en-US" smtClean="0"/>
              <a:t>2024/5/29</a:t>
            </a:fld>
            <a:endParaRPr kumimoji="1" lang="zh-TW" altLang="en-US"/>
          </a:p>
        </p:txBody>
      </p:sp>
      <p:sp>
        <p:nvSpPr>
          <p:cNvPr id="5" name="頁尾版面配置區 4">
            <a:extLst>
              <a:ext uri="{FF2B5EF4-FFF2-40B4-BE49-F238E27FC236}">
                <a16:creationId xmlns:a16="http://schemas.microsoft.com/office/drawing/2014/main" id="{98E82387-02E0-C34C-8788-958DE14FAFBC}"/>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904864AD-726D-904D-9686-9656A2465A6A}"/>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507744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51106A-DE42-B644-B664-A92563662205}"/>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E99A4BD2-86D7-EF4D-8B1D-D7A873433A35}"/>
              </a:ext>
            </a:extLst>
          </p:cNvPr>
          <p:cNvSpPr>
            <a:spLocks noGrp="1"/>
          </p:cNvSpPr>
          <p:nvPr>
            <p:ph sz="half" idx="1"/>
          </p:nvPr>
        </p:nvSpPr>
        <p:spPr>
          <a:xfrm>
            <a:off x="838200" y="1825625"/>
            <a:ext cx="5181600" cy="435133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697BFE0C-75E1-374C-A1BE-B0F7AB5B1191}"/>
              </a:ext>
            </a:extLst>
          </p:cNvPr>
          <p:cNvSpPr>
            <a:spLocks noGrp="1"/>
          </p:cNvSpPr>
          <p:nvPr>
            <p:ph sz="half" idx="2"/>
          </p:nvPr>
        </p:nvSpPr>
        <p:spPr>
          <a:xfrm>
            <a:off x="6172200" y="1825625"/>
            <a:ext cx="5181600" cy="435133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8A42632B-169D-B247-A46A-487B2CEEEE45}"/>
              </a:ext>
            </a:extLst>
          </p:cNvPr>
          <p:cNvSpPr>
            <a:spLocks noGrp="1"/>
          </p:cNvSpPr>
          <p:nvPr>
            <p:ph type="dt" sz="half" idx="10"/>
          </p:nvPr>
        </p:nvSpPr>
        <p:spPr/>
        <p:txBody>
          <a:bodyPr/>
          <a:lstStyle/>
          <a:p>
            <a:fld id="{C1EF0564-7FFB-CA45-9BCE-B6282CFC5BC4}" type="datetime1">
              <a:rPr kumimoji="1" lang="zh-TW" altLang="en-US" smtClean="0"/>
              <a:t>2024/5/29</a:t>
            </a:fld>
            <a:endParaRPr kumimoji="1" lang="zh-TW" altLang="en-US"/>
          </a:p>
        </p:txBody>
      </p:sp>
      <p:sp>
        <p:nvSpPr>
          <p:cNvPr id="6" name="頁尾版面配置區 5">
            <a:extLst>
              <a:ext uri="{FF2B5EF4-FFF2-40B4-BE49-F238E27FC236}">
                <a16:creationId xmlns:a16="http://schemas.microsoft.com/office/drawing/2014/main" id="{E5B42995-7EC8-AD4B-B91A-DB5FDC9376BF}"/>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35303DE2-E496-1F41-A7FE-CF2E2D9DD903}"/>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2400202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983B446-AFD9-BC43-8D50-6C488C6FF28E}"/>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572EBCA2-C8A4-8C43-8427-BBA9B59598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編輯母片文字樣式</a:t>
            </a:r>
          </a:p>
        </p:txBody>
      </p:sp>
      <p:sp>
        <p:nvSpPr>
          <p:cNvPr id="4" name="內容版面配置區 3">
            <a:extLst>
              <a:ext uri="{FF2B5EF4-FFF2-40B4-BE49-F238E27FC236}">
                <a16:creationId xmlns:a16="http://schemas.microsoft.com/office/drawing/2014/main" id="{AA4AB07E-104F-1546-A76D-27C9172D2012}"/>
              </a:ext>
            </a:extLst>
          </p:cNvPr>
          <p:cNvSpPr>
            <a:spLocks noGrp="1"/>
          </p:cNvSpPr>
          <p:nvPr>
            <p:ph sz="half" idx="2"/>
          </p:nvPr>
        </p:nvSpPr>
        <p:spPr>
          <a:xfrm>
            <a:off x="839788" y="2505075"/>
            <a:ext cx="5157787" cy="368458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4EDA1436-7B7F-424E-BDF6-9B2679D978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編輯母片文字樣式</a:t>
            </a:r>
          </a:p>
        </p:txBody>
      </p:sp>
      <p:sp>
        <p:nvSpPr>
          <p:cNvPr id="6" name="內容版面配置區 5">
            <a:extLst>
              <a:ext uri="{FF2B5EF4-FFF2-40B4-BE49-F238E27FC236}">
                <a16:creationId xmlns:a16="http://schemas.microsoft.com/office/drawing/2014/main" id="{5EE7DA3D-69F7-CE40-B4D5-8558AC0D6BA6}"/>
              </a:ext>
            </a:extLst>
          </p:cNvPr>
          <p:cNvSpPr>
            <a:spLocks noGrp="1"/>
          </p:cNvSpPr>
          <p:nvPr>
            <p:ph sz="quarter" idx="4"/>
          </p:nvPr>
        </p:nvSpPr>
        <p:spPr>
          <a:xfrm>
            <a:off x="6172200" y="2505075"/>
            <a:ext cx="5183188" cy="368458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F204E6A0-241E-D240-ACC4-4197BB01AB8C}"/>
              </a:ext>
            </a:extLst>
          </p:cNvPr>
          <p:cNvSpPr>
            <a:spLocks noGrp="1"/>
          </p:cNvSpPr>
          <p:nvPr>
            <p:ph type="dt" sz="half" idx="10"/>
          </p:nvPr>
        </p:nvSpPr>
        <p:spPr/>
        <p:txBody>
          <a:bodyPr/>
          <a:lstStyle/>
          <a:p>
            <a:fld id="{F8B6BB58-657F-9B42-8F63-CE29A2D5959E}" type="datetime1">
              <a:rPr kumimoji="1" lang="zh-TW" altLang="en-US" smtClean="0"/>
              <a:t>2024/5/29</a:t>
            </a:fld>
            <a:endParaRPr kumimoji="1" lang="zh-TW" altLang="en-US"/>
          </a:p>
        </p:txBody>
      </p:sp>
      <p:sp>
        <p:nvSpPr>
          <p:cNvPr id="8" name="頁尾版面配置區 7">
            <a:extLst>
              <a:ext uri="{FF2B5EF4-FFF2-40B4-BE49-F238E27FC236}">
                <a16:creationId xmlns:a16="http://schemas.microsoft.com/office/drawing/2014/main" id="{D3B801A1-AF0A-B84E-96F6-29CFB5435F43}"/>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9600253E-5D94-6E45-8290-370C15F59897}"/>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87426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57E884-9D25-2945-A655-164A32436AEF}"/>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06A303C2-B14E-C04F-B1CE-D8018834AF75}"/>
              </a:ext>
            </a:extLst>
          </p:cNvPr>
          <p:cNvSpPr>
            <a:spLocks noGrp="1"/>
          </p:cNvSpPr>
          <p:nvPr>
            <p:ph type="dt" sz="half" idx="10"/>
          </p:nvPr>
        </p:nvSpPr>
        <p:spPr/>
        <p:txBody>
          <a:bodyPr/>
          <a:lstStyle/>
          <a:p>
            <a:fld id="{CDFA12DD-F92E-F841-AEA2-DD2F0B8AC128}" type="datetime1">
              <a:rPr kumimoji="1" lang="zh-TW" altLang="en-US" smtClean="0"/>
              <a:t>2024/5/29</a:t>
            </a:fld>
            <a:endParaRPr kumimoji="1" lang="zh-TW" altLang="en-US"/>
          </a:p>
        </p:txBody>
      </p:sp>
      <p:sp>
        <p:nvSpPr>
          <p:cNvPr id="4" name="頁尾版面配置區 3">
            <a:extLst>
              <a:ext uri="{FF2B5EF4-FFF2-40B4-BE49-F238E27FC236}">
                <a16:creationId xmlns:a16="http://schemas.microsoft.com/office/drawing/2014/main" id="{251ACB14-3C83-BF40-A08D-8B6551FEB45D}"/>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A5C06E59-8A0C-3B42-90EE-5E614E092B18}"/>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2477431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CB7FD22-44BD-D04C-B395-F3F22D97C84F}"/>
              </a:ext>
            </a:extLst>
          </p:cNvPr>
          <p:cNvSpPr>
            <a:spLocks noGrp="1"/>
          </p:cNvSpPr>
          <p:nvPr>
            <p:ph type="dt" sz="half" idx="10"/>
          </p:nvPr>
        </p:nvSpPr>
        <p:spPr/>
        <p:txBody>
          <a:bodyPr/>
          <a:lstStyle/>
          <a:p>
            <a:fld id="{1E4BAC9C-27AF-0445-AD50-816FC8B10FDD}" type="datetime1">
              <a:rPr kumimoji="1" lang="zh-TW" altLang="en-US" smtClean="0"/>
              <a:t>2024/5/29</a:t>
            </a:fld>
            <a:endParaRPr kumimoji="1" lang="zh-TW" altLang="en-US"/>
          </a:p>
        </p:txBody>
      </p:sp>
      <p:sp>
        <p:nvSpPr>
          <p:cNvPr id="3" name="頁尾版面配置區 2">
            <a:extLst>
              <a:ext uri="{FF2B5EF4-FFF2-40B4-BE49-F238E27FC236}">
                <a16:creationId xmlns:a16="http://schemas.microsoft.com/office/drawing/2014/main" id="{C444FE38-2187-8248-97D1-6F5606FAB126}"/>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65EF3BE3-3845-844D-A07F-F27C144C5EF4}"/>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514009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B493A6-EA88-8A46-9A8B-F872E6DC3C28}"/>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704C30A-146C-C947-844C-AAE8B3BE79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36B48693-0DB2-B84A-9B17-AABB613BF7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編輯母片文字樣式</a:t>
            </a:r>
          </a:p>
        </p:txBody>
      </p:sp>
      <p:sp>
        <p:nvSpPr>
          <p:cNvPr id="5" name="日期版面配置區 4">
            <a:extLst>
              <a:ext uri="{FF2B5EF4-FFF2-40B4-BE49-F238E27FC236}">
                <a16:creationId xmlns:a16="http://schemas.microsoft.com/office/drawing/2014/main" id="{CB4F527B-2D7C-E546-8E6E-59F97AC0B7A5}"/>
              </a:ext>
            </a:extLst>
          </p:cNvPr>
          <p:cNvSpPr>
            <a:spLocks noGrp="1"/>
          </p:cNvSpPr>
          <p:nvPr>
            <p:ph type="dt" sz="half" idx="10"/>
          </p:nvPr>
        </p:nvSpPr>
        <p:spPr/>
        <p:txBody>
          <a:bodyPr/>
          <a:lstStyle/>
          <a:p>
            <a:fld id="{37BB5826-6582-C149-8E57-B0E656F33930}" type="datetime1">
              <a:rPr kumimoji="1" lang="zh-TW" altLang="en-US" smtClean="0"/>
              <a:t>2024/5/29</a:t>
            </a:fld>
            <a:endParaRPr kumimoji="1" lang="zh-TW" altLang="en-US"/>
          </a:p>
        </p:txBody>
      </p:sp>
      <p:sp>
        <p:nvSpPr>
          <p:cNvPr id="6" name="頁尾版面配置區 5">
            <a:extLst>
              <a:ext uri="{FF2B5EF4-FFF2-40B4-BE49-F238E27FC236}">
                <a16:creationId xmlns:a16="http://schemas.microsoft.com/office/drawing/2014/main" id="{FBCBFEFC-0A9F-9B4C-A6C0-4A2E0277AC1B}"/>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794B559-2406-764E-A4B9-D824C5231CC6}"/>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1499344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E627F2-C5A6-0D4A-B798-19DCE18B44BA}"/>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080398C8-8B1E-B547-A326-BD1E129C8D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C07516E8-147F-294D-8085-25893538C3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編輯母片文字樣式</a:t>
            </a:r>
          </a:p>
        </p:txBody>
      </p:sp>
      <p:sp>
        <p:nvSpPr>
          <p:cNvPr id="5" name="日期版面配置區 4">
            <a:extLst>
              <a:ext uri="{FF2B5EF4-FFF2-40B4-BE49-F238E27FC236}">
                <a16:creationId xmlns:a16="http://schemas.microsoft.com/office/drawing/2014/main" id="{DD3358FF-DC99-1441-8DAF-FDDE3326FAD0}"/>
              </a:ext>
            </a:extLst>
          </p:cNvPr>
          <p:cNvSpPr>
            <a:spLocks noGrp="1"/>
          </p:cNvSpPr>
          <p:nvPr>
            <p:ph type="dt" sz="half" idx="10"/>
          </p:nvPr>
        </p:nvSpPr>
        <p:spPr/>
        <p:txBody>
          <a:bodyPr/>
          <a:lstStyle/>
          <a:p>
            <a:fld id="{CE3E1583-6ED2-5448-8362-DC2E2DF96F6E}" type="datetime1">
              <a:rPr kumimoji="1" lang="zh-TW" altLang="en-US" smtClean="0"/>
              <a:t>2024/5/29</a:t>
            </a:fld>
            <a:endParaRPr kumimoji="1" lang="zh-TW" altLang="en-US"/>
          </a:p>
        </p:txBody>
      </p:sp>
      <p:sp>
        <p:nvSpPr>
          <p:cNvPr id="6" name="頁尾版面配置區 5">
            <a:extLst>
              <a:ext uri="{FF2B5EF4-FFF2-40B4-BE49-F238E27FC236}">
                <a16:creationId xmlns:a16="http://schemas.microsoft.com/office/drawing/2014/main" id="{CCCD27CE-99AA-6E4E-9DBE-E31E2907AD9D}"/>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455623A4-40DB-5648-A636-5C55E052F991}"/>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129642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4E152E-7F75-8942-9848-51F47CBDB059}"/>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93B8AA00-30B6-A94A-B2F0-94FCA9255E94}"/>
              </a:ext>
            </a:extLst>
          </p:cNvPr>
          <p:cNvSpPr>
            <a:spLocks noGrp="1"/>
          </p:cNvSpPr>
          <p:nvPr>
            <p:ph type="body" orient="vert" idx="1"/>
          </p:nvPr>
        </p:nvSpPr>
        <p:spPr/>
        <p:txBody>
          <a:bodyPr vert="eaVert"/>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E95A9F1C-7E4C-884D-9A90-EDF2A6DBD779}"/>
              </a:ext>
            </a:extLst>
          </p:cNvPr>
          <p:cNvSpPr>
            <a:spLocks noGrp="1"/>
          </p:cNvSpPr>
          <p:nvPr>
            <p:ph type="dt" sz="half" idx="10"/>
          </p:nvPr>
        </p:nvSpPr>
        <p:spPr/>
        <p:txBody>
          <a:bodyPr/>
          <a:lstStyle/>
          <a:p>
            <a:fld id="{3CB91D62-DF39-2B4A-9C96-DAA8DA866A30}" type="datetime1">
              <a:rPr kumimoji="1" lang="zh-TW" altLang="en-US" smtClean="0"/>
              <a:t>2024/5/29</a:t>
            </a:fld>
            <a:endParaRPr kumimoji="1" lang="zh-TW" altLang="en-US"/>
          </a:p>
        </p:txBody>
      </p:sp>
      <p:sp>
        <p:nvSpPr>
          <p:cNvPr id="5" name="頁尾版面配置區 4">
            <a:extLst>
              <a:ext uri="{FF2B5EF4-FFF2-40B4-BE49-F238E27FC236}">
                <a16:creationId xmlns:a16="http://schemas.microsoft.com/office/drawing/2014/main" id="{EF12E854-2582-9F4E-8CFD-4D7ED3138D6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FE4CB08D-2F0B-CA45-8F57-E6B71AE4662A}"/>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725235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垂直標題 1">
            <a:extLst>
              <a:ext uri="{FF2B5EF4-FFF2-40B4-BE49-F238E27FC236}">
                <a16:creationId xmlns:a16="http://schemas.microsoft.com/office/drawing/2014/main" id="{9E14D04E-8318-224B-9272-AC5E0B731C3B}"/>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97D28947-C772-8143-9FC4-F0D4A51E2484}"/>
              </a:ext>
            </a:extLst>
          </p:cNvPr>
          <p:cNvSpPr>
            <a:spLocks noGrp="1"/>
          </p:cNvSpPr>
          <p:nvPr>
            <p:ph type="body" orient="vert" idx="1"/>
          </p:nvPr>
        </p:nvSpPr>
        <p:spPr>
          <a:xfrm>
            <a:off x="838200" y="365125"/>
            <a:ext cx="7734300" cy="5811838"/>
          </a:xfrm>
        </p:spPr>
        <p:txBody>
          <a:bodyPr vert="eaVert"/>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86C72D5E-B0ED-5047-A7FA-B2E657286FB5}"/>
              </a:ext>
            </a:extLst>
          </p:cNvPr>
          <p:cNvSpPr>
            <a:spLocks noGrp="1"/>
          </p:cNvSpPr>
          <p:nvPr>
            <p:ph type="dt" sz="half" idx="10"/>
          </p:nvPr>
        </p:nvSpPr>
        <p:spPr/>
        <p:txBody>
          <a:bodyPr/>
          <a:lstStyle/>
          <a:p>
            <a:fld id="{1C3AF8DB-CCF4-7A48-8850-2685985A08ED}" type="datetime1">
              <a:rPr kumimoji="1" lang="zh-TW" altLang="en-US" smtClean="0"/>
              <a:t>2024/5/29</a:t>
            </a:fld>
            <a:endParaRPr kumimoji="1" lang="zh-TW" altLang="en-US"/>
          </a:p>
        </p:txBody>
      </p:sp>
      <p:sp>
        <p:nvSpPr>
          <p:cNvPr id="5" name="頁尾版面配置區 4">
            <a:extLst>
              <a:ext uri="{FF2B5EF4-FFF2-40B4-BE49-F238E27FC236}">
                <a16:creationId xmlns:a16="http://schemas.microsoft.com/office/drawing/2014/main" id="{A4FA687B-D6E8-124C-B1FC-998BBF54F0A7}"/>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2D20F1B-4E62-4C4C-82A7-85B5304901D7}"/>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9616860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D05A8D0E-8330-F341-A098-517F99E9BF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7E117BF3-AF8D-E34D-9885-6A7A5C8DB2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4A2835D4-A14D-3A48-918A-80F589AD20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06BF9D-945A-9644-8C98-6072299715AD}" type="datetime1">
              <a:rPr kumimoji="1" lang="zh-TW" altLang="en-US" smtClean="0"/>
              <a:t>2024/5/29</a:t>
            </a:fld>
            <a:endParaRPr kumimoji="1" lang="zh-TW" altLang="en-US"/>
          </a:p>
        </p:txBody>
      </p:sp>
      <p:sp>
        <p:nvSpPr>
          <p:cNvPr id="5" name="頁尾版面配置區 4">
            <a:extLst>
              <a:ext uri="{FF2B5EF4-FFF2-40B4-BE49-F238E27FC236}">
                <a16:creationId xmlns:a16="http://schemas.microsoft.com/office/drawing/2014/main" id="{C74DF0F1-03B3-874C-95C1-565A03256B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31932831-0323-6F4F-B891-00A63D5522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2999265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5F607E-C288-1D47-8A1C-E7C69ED95BEB}"/>
              </a:ext>
            </a:extLst>
          </p:cNvPr>
          <p:cNvSpPr>
            <a:spLocks noGrp="1"/>
          </p:cNvSpPr>
          <p:nvPr>
            <p:ph type="ctrTitle"/>
          </p:nvPr>
        </p:nvSpPr>
        <p:spPr/>
        <p:txBody>
          <a:bodyPr>
            <a:normAutofit fontScale="90000"/>
          </a:bodyPr>
          <a:lstStyle/>
          <a:p>
            <a:r>
              <a:rPr kumimoji="1" lang="en-US" altLang="zh-TW" dirty="0">
                <a:latin typeface="Times New Roman" panose="02020603050405020304" pitchFamily="18" charset="0"/>
                <a:cs typeface="Times New Roman" panose="02020603050405020304" pitchFamily="18" charset="0"/>
              </a:rPr>
              <a:t>FCNN: Fourier Convolutional Neural Networks</a:t>
            </a:r>
            <a:endParaRPr kumimoji="1" lang="zh-TW" altLang="en-US"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8435B96C-9974-DE4C-8462-F823C1E2256B}"/>
              </a:ext>
            </a:extLst>
          </p:cNvPr>
          <p:cNvSpPr>
            <a:spLocks noGrp="1"/>
          </p:cNvSpPr>
          <p:nvPr>
            <p:ph type="subTitle" idx="1"/>
          </p:nvPr>
        </p:nvSpPr>
        <p:spPr>
          <a:xfrm>
            <a:off x="1524000" y="3602038"/>
            <a:ext cx="9144000" cy="1961024"/>
          </a:xfrm>
        </p:spPr>
        <p:txBody>
          <a:bodyPr>
            <a:normAutofit/>
          </a:bodyPr>
          <a:lstStyle/>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Harry Pratt, Bryan Williams, Frans </a:t>
            </a:r>
            <a:r>
              <a:rPr kumimoji="1" lang="en-US" altLang="zh-TW" dirty="0" err="1">
                <a:latin typeface="Times New Roman" panose="02020603050405020304" pitchFamily="18" charset="0"/>
                <a:cs typeface="Times New Roman" panose="02020603050405020304" pitchFamily="18" charset="0"/>
              </a:rPr>
              <a:t>Coenen</a:t>
            </a:r>
            <a:r>
              <a:rPr kumimoji="1" lang="en-US" altLang="zh-TW" dirty="0">
                <a:latin typeface="Times New Roman" panose="02020603050405020304" pitchFamily="18" charset="0"/>
                <a:cs typeface="Times New Roman" panose="02020603050405020304" pitchFamily="18" charset="0"/>
              </a:rPr>
              <a:t>, and </a:t>
            </a:r>
            <a:r>
              <a:rPr kumimoji="1" lang="en-US" altLang="zh-TW" dirty="0" err="1">
                <a:latin typeface="Times New Roman" panose="02020603050405020304" pitchFamily="18" charset="0"/>
                <a:cs typeface="Times New Roman" panose="02020603050405020304" pitchFamily="18" charset="0"/>
              </a:rPr>
              <a:t>Yalin</a:t>
            </a:r>
            <a:r>
              <a:rPr kumimoji="1" lang="en-US" altLang="zh-TW" dirty="0">
                <a:latin typeface="Times New Roman" panose="02020603050405020304" pitchFamily="18" charset="0"/>
                <a:cs typeface="Times New Roman" panose="02020603050405020304" pitchFamily="18" charset="0"/>
              </a:rPr>
              <a:t> Zheng</a:t>
            </a:r>
          </a:p>
          <a:p>
            <a:r>
              <a:rPr kumimoji="1" lang="en-US" altLang="zh-TW" dirty="0">
                <a:latin typeface="Times New Roman" panose="02020603050405020304" pitchFamily="18" charset="0"/>
                <a:cs typeface="Times New Roman" panose="02020603050405020304" pitchFamily="18" charset="0"/>
              </a:rPr>
              <a:t>Machine Learning and Knowledge Discovery in Databases: European Conference, Skopje, Macedonia, 2017.</a:t>
            </a:r>
            <a:endParaRPr kumimoji="1" lang="zh-TW" alt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22A5DE4-40CC-5144-89F0-861870F17BD1}"/>
              </a:ext>
            </a:extLst>
          </p:cNvPr>
          <p:cNvSpPr txBox="1"/>
          <p:nvPr/>
        </p:nvSpPr>
        <p:spPr>
          <a:xfrm>
            <a:off x="9043219" y="5563062"/>
            <a:ext cx="2352375" cy="646331"/>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Presenter: Yu-Yen Chu</a:t>
            </a:r>
          </a:p>
          <a:p>
            <a:r>
              <a:rPr lang="en-US" dirty="0">
                <a:latin typeface="Times New Roman" panose="02020603050405020304" pitchFamily="18" charset="0"/>
                <a:cs typeface="Times New Roman" panose="02020603050405020304" pitchFamily="18" charset="0"/>
              </a:rPr>
              <a:t>Date: May 29, 2024</a:t>
            </a:r>
          </a:p>
        </p:txBody>
      </p:sp>
    </p:spTree>
    <p:extLst>
      <p:ext uri="{BB962C8B-B14F-4D97-AF65-F5344CB8AC3E}">
        <p14:creationId xmlns:p14="http://schemas.microsoft.com/office/powerpoint/2010/main" val="694280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Abstract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pPr marL="0" indent="0">
              <a:buNone/>
            </a:pPr>
            <a:r>
              <a:rPr kumimoji="1" lang="en-US" altLang="zh-TW" dirty="0">
                <a:latin typeface="Times New Roman" panose="02020603050405020304" pitchFamily="18" charset="0"/>
                <a:cs typeface="Times New Roman" panose="02020603050405020304" pitchFamily="18" charset="0"/>
              </a:rPr>
              <a:t>The Fourier domain is used in computer vision and machine learning as image analysis tasks in the Fourier domain are analogous to spatial domain methods but are achieved using different operations. Convolutional Neural Networks (CNNs) use machine learning to achieve state-of-the-art results with respect to many computer vision tasks. One of the main limiting aspects of CNNs is the computational cost of updating a large number of convolution parameters. Further, in the spatial domain, larger images take exponentially longer than smaller image to train on CNNs due to the operations involved in convolution methods. Consequently, CNNs are often not a viable solution for large image computer vision tasks.</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2</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111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Abstract (Cont.)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normAutofit fontScale="92500" lnSpcReduction="10000"/>
          </a:bodyPr>
          <a:lstStyle/>
          <a:p>
            <a:pPr marL="0" indent="0">
              <a:buNone/>
            </a:pPr>
            <a:r>
              <a:rPr kumimoji="1" lang="en-US" altLang="zh-TW" dirty="0">
                <a:latin typeface="Times New Roman" panose="02020603050405020304" pitchFamily="18" charset="0"/>
                <a:cs typeface="Times New Roman" panose="02020603050405020304" pitchFamily="18" charset="0"/>
              </a:rPr>
              <a:t>In this paper a Fourier Convolution Neural Network (FCNN) is proposed whereby training is conducted entirely within the Fourier domain. The advantage offered is that there is a significant speed up in training time without loss of effectiveness. Using the proposed approach larger images can therefore be processed within viable computation time. The FCNN is fully described and evaluated. The evaluation was conducted using the benchmark Cifar10 and MNIST datasets, and a bespoke fundus retina image dataset. The results demonstrate that convolution in the Fourier domain gives a significant speed up without adversely affecting accuracy. For simplicity the proposed FCNN concept is presented in the context of a basic CNN architecture, however, the FCNN concept has the potential to improve the speed of any neural network system involving convolution.</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3</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0200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Convolutional Neural Network</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200" y="1690688"/>
            <a:ext cx="10515600" cy="5167311"/>
          </a:xfrm>
        </p:spPr>
        <p:txBody>
          <a:bodyPr>
            <a:normAutofit/>
          </a:bodyPr>
          <a:lstStyle/>
          <a:p>
            <a:r>
              <a:rPr kumimoji="1" lang="en-US" altLang="zh-TW" dirty="0">
                <a:latin typeface="Times New Roman" panose="02020603050405020304" pitchFamily="18" charset="0"/>
                <a:cs typeface="Times New Roman" panose="02020603050405020304" pitchFamily="18" charset="0"/>
              </a:rPr>
              <a:t>Convolution</a:t>
            </a: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Pooling</a:t>
            </a:r>
          </a:p>
          <a:p>
            <a:pPr lvl="1"/>
            <a:r>
              <a:rPr kumimoji="1" lang="en-US" altLang="zh-TW" dirty="0">
                <a:latin typeface="Times New Roman" panose="02020603050405020304" pitchFamily="18" charset="0"/>
                <a:cs typeface="Times New Roman" panose="02020603050405020304" pitchFamily="18" charset="0"/>
              </a:rPr>
              <a:t>max pooling</a:t>
            </a:r>
          </a:p>
          <a:p>
            <a:pPr lvl="1"/>
            <a:r>
              <a:rPr kumimoji="1" lang="en-US" altLang="zh-TW" dirty="0">
                <a:latin typeface="Times New Roman" panose="02020603050405020304" pitchFamily="18" charset="0"/>
                <a:cs typeface="Times New Roman" panose="02020603050405020304" pitchFamily="18" charset="0"/>
              </a:rPr>
              <a:t>average pooling</a:t>
            </a: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Flattening</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4</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0C82ED41-F15B-674D-B566-D2D14774C4C6}"/>
              </a:ext>
            </a:extLst>
          </p:cNvPr>
          <p:cNvGraphicFramePr>
            <a:graphicFrameLocks noGrp="1"/>
          </p:cNvGraphicFramePr>
          <p:nvPr>
            <p:extLst>
              <p:ext uri="{D42A27DB-BD31-4B8C-83A1-F6EECF244321}">
                <p14:modId xmlns:p14="http://schemas.microsoft.com/office/powerpoint/2010/main" val="2308429332"/>
              </p:ext>
            </p:extLst>
          </p:nvPr>
        </p:nvGraphicFramePr>
        <p:xfrm>
          <a:off x="4050169" y="1460755"/>
          <a:ext cx="1440000" cy="146304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4148122709"/>
                    </a:ext>
                  </a:extLst>
                </a:gridCol>
                <a:gridCol w="360000">
                  <a:extLst>
                    <a:ext uri="{9D8B030D-6E8A-4147-A177-3AD203B41FA5}">
                      <a16:colId xmlns:a16="http://schemas.microsoft.com/office/drawing/2014/main" val="1057469868"/>
                    </a:ext>
                  </a:extLst>
                </a:gridCol>
                <a:gridCol w="360000">
                  <a:extLst>
                    <a:ext uri="{9D8B030D-6E8A-4147-A177-3AD203B41FA5}">
                      <a16:colId xmlns:a16="http://schemas.microsoft.com/office/drawing/2014/main" val="3825656305"/>
                    </a:ext>
                  </a:extLst>
                </a:gridCol>
                <a:gridCol w="360000">
                  <a:extLst>
                    <a:ext uri="{9D8B030D-6E8A-4147-A177-3AD203B41FA5}">
                      <a16:colId xmlns:a16="http://schemas.microsoft.com/office/drawing/2014/main" val="129672748"/>
                    </a:ext>
                  </a:extLst>
                </a:gridCol>
              </a:tblGrid>
              <a:tr h="360000">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86279823"/>
                  </a:ext>
                </a:extLst>
              </a:tr>
              <a:tr h="360000">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74988091"/>
                  </a:ext>
                </a:extLst>
              </a:tr>
              <a:tr h="360000">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61393234"/>
                  </a:ext>
                </a:extLst>
              </a:tr>
              <a:tr h="360000">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498212977"/>
                  </a:ext>
                </a:extLst>
              </a:tr>
            </a:tbl>
          </a:graphicData>
        </a:graphic>
      </p:graphicFrame>
      <p:sp>
        <p:nvSpPr>
          <p:cNvPr id="6" name="文字方塊 5">
            <a:extLst>
              <a:ext uri="{FF2B5EF4-FFF2-40B4-BE49-F238E27FC236}">
                <a16:creationId xmlns:a16="http://schemas.microsoft.com/office/drawing/2014/main" id="{01073D94-A497-5949-A942-A21A9DD57034}"/>
              </a:ext>
            </a:extLst>
          </p:cNvPr>
          <p:cNvSpPr txBox="1"/>
          <p:nvPr/>
        </p:nvSpPr>
        <p:spPr>
          <a:xfrm>
            <a:off x="4183871" y="2929306"/>
            <a:ext cx="1153191" cy="369332"/>
          </a:xfrm>
          <a:prstGeom prst="rect">
            <a:avLst/>
          </a:prstGeom>
          <a:noFill/>
        </p:spPr>
        <p:txBody>
          <a:bodyPr wrap="square" rtlCol="0">
            <a:spAutoFit/>
          </a:bodyPr>
          <a:lstStyle/>
          <a:p>
            <a:r>
              <a:rPr kumimoji="1" lang="en-US" altLang="zh-TW" dirty="0">
                <a:latin typeface="Times New Roman" panose="02020603050405020304" pitchFamily="18" charset="0"/>
                <a:cs typeface="Times New Roman" panose="02020603050405020304" pitchFamily="18" charset="0"/>
              </a:rPr>
              <a:t>4x4 image</a:t>
            </a:r>
            <a:endParaRPr kumimoji="1" lang="zh-TW" altLang="en-US" dirty="0">
              <a:latin typeface="Times New Roman" panose="02020603050405020304" pitchFamily="18" charset="0"/>
              <a:cs typeface="Times New Roman" panose="02020603050405020304" pitchFamily="18" charset="0"/>
            </a:endParaRPr>
          </a:p>
        </p:txBody>
      </p:sp>
      <p:graphicFrame>
        <p:nvGraphicFramePr>
          <p:cNvPr id="7" name="表格 6">
            <a:extLst>
              <a:ext uri="{FF2B5EF4-FFF2-40B4-BE49-F238E27FC236}">
                <a16:creationId xmlns:a16="http://schemas.microsoft.com/office/drawing/2014/main" id="{83F0A738-A759-2C40-966F-A34929A4C395}"/>
              </a:ext>
            </a:extLst>
          </p:cNvPr>
          <p:cNvGraphicFramePr>
            <a:graphicFrameLocks noGrp="1"/>
          </p:cNvGraphicFramePr>
          <p:nvPr>
            <p:extLst>
              <p:ext uri="{D42A27DB-BD31-4B8C-83A1-F6EECF244321}">
                <p14:modId xmlns:p14="http://schemas.microsoft.com/office/powerpoint/2010/main" val="1182269777"/>
              </p:ext>
            </p:extLst>
          </p:nvPr>
        </p:nvGraphicFramePr>
        <p:xfrm>
          <a:off x="6523476" y="1820739"/>
          <a:ext cx="720000" cy="73152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4148122709"/>
                    </a:ext>
                  </a:extLst>
                </a:gridCol>
                <a:gridCol w="360000">
                  <a:extLst>
                    <a:ext uri="{9D8B030D-6E8A-4147-A177-3AD203B41FA5}">
                      <a16:colId xmlns:a16="http://schemas.microsoft.com/office/drawing/2014/main" val="1057469868"/>
                    </a:ext>
                  </a:extLst>
                </a:gridCol>
              </a:tblGrid>
              <a:tr h="365400">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86279823"/>
                  </a:ext>
                </a:extLst>
              </a:tr>
              <a:tr h="365400">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74988091"/>
                  </a:ext>
                </a:extLst>
              </a:tr>
            </a:tbl>
          </a:graphicData>
        </a:graphic>
      </p:graphicFrame>
      <p:sp>
        <p:nvSpPr>
          <p:cNvPr id="8" name="文字方塊 7">
            <a:extLst>
              <a:ext uri="{FF2B5EF4-FFF2-40B4-BE49-F238E27FC236}">
                <a16:creationId xmlns:a16="http://schemas.microsoft.com/office/drawing/2014/main" id="{7C2534DC-BA50-524B-AD53-62CA228FFC9A}"/>
              </a:ext>
            </a:extLst>
          </p:cNvPr>
          <p:cNvSpPr txBox="1"/>
          <p:nvPr/>
        </p:nvSpPr>
        <p:spPr>
          <a:xfrm>
            <a:off x="6270800" y="2552259"/>
            <a:ext cx="1194830" cy="369332"/>
          </a:xfrm>
          <a:prstGeom prst="rect">
            <a:avLst/>
          </a:prstGeom>
          <a:noFill/>
        </p:spPr>
        <p:txBody>
          <a:bodyPr wrap="square" rtlCol="0">
            <a:spAutoFit/>
          </a:bodyPr>
          <a:lstStyle/>
          <a:p>
            <a:r>
              <a:rPr kumimoji="1" lang="en-US" altLang="zh-TW" dirty="0">
                <a:latin typeface="Times New Roman" panose="02020603050405020304" pitchFamily="18" charset="0"/>
                <a:cs typeface="Times New Roman" panose="02020603050405020304" pitchFamily="18" charset="0"/>
              </a:rPr>
              <a:t>2x2 kernel</a:t>
            </a:r>
            <a:endParaRPr kumimoji="1" lang="zh-TW" altLang="en-US"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08F4ECDD-210B-424A-B290-304D6E9264C2}"/>
              </a:ext>
            </a:extLst>
          </p:cNvPr>
          <p:cNvSpPr txBox="1"/>
          <p:nvPr/>
        </p:nvSpPr>
        <p:spPr>
          <a:xfrm>
            <a:off x="8682733" y="2721143"/>
            <a:ext cx="738106" cy="369332"/>
          </a:xfrm>
          <a:prstGeom prst="rect">
            <a:avLst/>
          </a:prstGeom>
          <a:noFill/>
        </p:spPr>
        <p:txBody>
          <a:bodyPr wrap="square" rtlCol="0">
            <a:spAutoFit/>
          </a:bodyPr>
          <a:lstStyle/>
          <a:p>
            <a:r>
              <a:rPr kumimoji="1" lang="en-US" altLang="zh-TW" dirty="0">
                <a:latin typeface="Times New Roman" panose="02020603050405020304" pitchFamily="18" charset="0"/>
                <a:cs typeface="Times New Roman" panose="02020603050405020304" pitchFamily="18" charset="0"/>
              </a:rPr>
              <a:t>result</a:t>
            </a:r>
            <a:endParaRPr kumimoji="1" lang="zh-TW" altLang="en-US" dirty="0">
              <a:latin typeface="Times New Roman" panose="02020603050405020304" pitchFamily="18" charset="0"/>
              <a:cs typeface="Times New Roman" panose="02020603050405020304" pitchFamily="18" charset="0"/>
            </a:endParaRPr>
          </a:p>
        </p:txBody>
      </p:sp>
      <p:graphicFrame>
        <p:nvGraphicFramePr>
          <p:cNvPr id="15" name="表格 14">
            <a:extLst>
              <a:ext uri="{FF2B5EF4-FFF2-40B4-BE49-F238E27FC236}">
                <a16:creationId xmlns:a16="http://schemas.microsoft.com/office/drawing/2014/main" id="{99E4037B-AB51-6342-97F8-8BD207940735}"/>
              </a:ext>
            </a:extLst>
          </p:cNvPr>
          <p:cNvGraphicFramePr>
            <a:graphicFrameLocks noGrp="1"/>
          </p:cNvGraphicFramePr>
          <p:nvPr>
            <p:extLst>
              <p:ext uri="{D42A27DB-BD31-4B8C-83A1-F6EECF244321}">
                <p14:modId xmlns:p14="http://schemas.microsoft.com/office/powerpoint/2010/main" val="2732089553"/>
              </p:ext>
            </p:extLst>
          </p:nvPr>
        </p:nvGraphicFramePr>
        <p:xfrm>
          <a:off x="4040838" y="1460755"/>
          <a:ext cx="720000" cy="720000"/>
        </p:xfrm>
        <a:graphic>
          <a:graphicData uri="http://schemas.openxmlformats.org/drawingml/2006/table">
            <a:tbl>
              <a:tblPr/>
              <a:tblGrid>
                <a:gridCol w="720000">
                  <a:extLst>
                    <a:ext uri="{9D8B030D-6E8A-4147-A177-3AD203B41FA5}">
                      <a16:colId xmlns:a16="http://schemas.microsoft.com/office/drawing/2014/main" val="1858458167"/>
                    </a:ext>
                  </a:extLst>
                </a:gridCol>
              </a:tblGrid>
              <a:tr h="720000">
                <a:tc>
                  <a:txBody>
                    <a:bodyPr/>
                    <a:lstStyle/>
                    <a:p>
                      <a:endParaRPr lang="zh-TW" altLang="en-US" dirty="0"/>
                    </a:p>
                  </a:txBody>
                  <a:tcPr>
                    <a:lnL w="28575" cmpd="sng">
                      <a:solidFill>
                        <a:srgbClr val="FF0000"/>
                      </a:solidFill>
                      <a:prstDash val="solid"/>
                    </a:lnL>
                    <a:lnR w="28575" cmpd="sng">
                      <a:solidFill>
                        <a:srgbClr val="FF0000"/>
                      </a:solidFill>
                      <a:prstDash val="solid"/>
                    </a:lnR>
                    <a:lnT w="28575" cmpd="sng">
                      <a:solidFill>
                        <a:srgbClr val="FF0000"/>
                      </a:solidFill>
                      <a:prstDash val="solid"/>
                    </a:lnT>
                    <a:lnB w="28575" cmpd="sng">
                      <a:solidFill>
                        <a:srgbClr val="FF0000"/>
                      </a:solidFill>
                      <a:prstDash val="solid"/>
                    </a:lnB>
                  </a:tcPr>
                </a:tc>
                <a:extLst>
                  <a:ext uri="{0D108BD9-81ED-4DB2-BD59-A6C34878D82A}">
                    <a16:rowId xmlns:a16="http://schemas.microsoft.com/office/drawing/2014/main" val="1648325280"/>
                  </a:ext>
                </a:extLst>
              </a:tr>
            </a:tbl>
          </a:graphicData>
        </a:graphic>
      </p:graphicFrame>
      <p:cxnSp>
        <p:nvCxnSpPr>
          <p:cNvPr id="18" name="直線箭頭接點 17">
            <a:extLst>
              <a:ext uri="{FF2B5EF4-FFF2-40B4-BE49-F238E27FC236}">
                <a16:creationId xmlns:a16="http://schemas.microsoft.com/office/drawing/2014/main" id="{540BDD14-1D2C-AA41-B096-B369236A970C}"/>
              </a:ext>
            </a:extLst>
          </p:cNvPr>
          <p:cNvCxnSpPr/>
          <p:nvPr/>
        </p:nvCxnSpPr>
        <p:spPr>
          <a:xfrm>
            <a:off x="7662493" y="2180755"/>
            <a:ext cx="516835" cy="0"/>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9" name="文字方塊 18">
            <a:extLst>
              <a:ext uri="{FF2B5EF4-FFF2-40B4-BE49-F238E27FC236}">
                <a16:creationId xmlns:a16="http://schemas.microsoft.com/office/drawing/2014/main" id="{1B80C520-3273-B644-94BF-44DCBCB0DD28}"/>
              </a:ext>
            </a:extLst>
          </p:cNvPr>
          <p:cNvSpPr txBox="1"/>
          <p:nvPr/>
        </p:nvSpPr>
        <p:spPr>
          <a:xfrm>
            <a:off x="5823322" y="1993244"/>
            <a:ext cx="318052" cy="461665"/>
          </a:xfrm>
          <a:prstGeom prst="rect">
            <a:avLst/>
          </a:prstGeom>
          <a:noFill/>
        </p:spPr>
        <p:txBody>
          <a:bodyPr wrap="square" rtlCol="0">
            <a:spAutoFit/>
          </a:bodyPr>
          <a:lstStyle/>
          <a:p>
            <a:r>
              <a:rPr kumimoji="1" lang="en-US" altLang="zh-TW" sz="2400" dirty="0">
                <a:latin typeface="Times New Roman" panose="02020603050405020304" pitchFamily="18" charset="0"/>
                <a:cs typeface="Times New Roman" panose="02020603050405020304" pitchFamily="18" charset="0"/>
              </a:rPr>
              <a:t>*</a:t>
            </a:r>
            <a:endParaRPr kumimoji="1" lang="zh-TW" altLang="en-US" sz="2400" dirty="0">
              <a:latin typeface="Times New Roman" panose="02020603050405020304" pitchFamily="18" charset="0"/>
              <a:cs typeface="Times New Roman" panose="02020603050405020304" pitchFamily="18" charset="0"/>
            </a:endParaRPr>
          </a:p>
        </p:txBody>
      </p:sp>
      <p:sp>
        <p:nvSpPr>
          <p:cNvPr id="32" name="文字方塊 31">
            <a:extLst>
              <a:ext uri="{FF2B5EF4-FFF2-40B4-BE49-F238E27FC236}">
                <a16:creationId xmlns:a16="http://schemas.microsoft.com/office/drawing/2014/main" id="{B2B6C124-5721-4A45-93DA-08743348507E}"/>
              </a:ext>
            </a:extLst>
          </p:cNvPr>
          <p:cNvSpPr txBox="1"/>
          <p:nvPr/>
        </p:nvSpPr>
        <p:spPr>
          <a:xfrm>
            <a:off x="3868526" y="4619390"/>
            <a:ext cx="2113822" cy="369332"/>
          </a:xfrm>
          <a:prstGeom prst="rect">
            <a:avLst/>
          </a:prstGeom>
          <a:noFill/>
        </p:spPr>
        <p:txBody>
          <a:bodyPr wrap="square" rtlCol="0">
            <a:spAutoFit/>
          </a:bodyPr>
          <a:lstStyle/>
          <a:p>
            <a:r>
              <a:rPr kumimoji="1" lang="en-US" altLang="zh-TW" dirty="0">
                <a:latin typeface="Times New Roman" panose="02020603050405020304" pitchFamily="18" charset="0"/>
                <a:cs typeface="Times New Roman" panose="02020603050405020304" pitchFamily="18" charset="0"/>
              </a:rPr>
              <a:t>result of convolution</a:t>
            </a:r>
            <a:endParaRPr kumimoji="1" lang="zh-TW" altLang="en-US" dirty="0">
              <a:latin typeface="Times New Roman" panose="02020603050405020304" pitchFamily="18" charset="0"/>
              <a:cs typeface="Times New Roman" panose="02020603050405020304" pitchFamily="18" charset="0"/>
            </a:endParaRPr>
          </a:p>
        </p:txBody>
      </p:sp>
      <p:sp>
        <p:nvSpPr>
          <p:cNvPr id="36" name="文字方塊 35">
            <a:extLst>
              <a:ext uri="{FF2B5EF4-FFF2-40B4-BE49-F238E27FC236}">
                <a16:creationId xmlns:a16="http://schemas.microsoft.com/office/drawing/2014/main" id="{2662EBAC-0035-FB4F-9515-3FE5F647A005}"/>
              </a:ext>
            </a:extLst>
          </p:cNvPr>
          <p:cNvSpPr txBox="1"/>
          <p:nvPr/>
        </p:nvSpPr>
        <p:spPr>
          <a:xfrm>
            <a:off x="8682733" y="4401888"/>
            <a:ext cx="738106" cy="369332"/>
          </a:xfrm>
          <a:prstGeom prst="rect">
            <a:avLst/>
          </a:prstGeom>
          <a:noFill/>
        </p:spPr>
        <p:txBody>
          <a:bodyPr wrap="square" rtlCol="0">
            <a:spAutoFit/>
          </a:bodyPr>
          <a:lstStyle/>
          <a:p>
            <a:r>
              <a:rPr kumimoji="1" lang="en-US" altLang="zh-TW" dirty="0">
                <a:latin typeface="Times New Roman" panose="02020603050405020304" pitchFamily="18" charset="0"/>
                <a:cs typeface="Times New Roman" panose="02020603050405020304" pitchFamily="18" charset="0"/>
              </a:rPr>
              <a:t>result</a:t>
            </a:r>
            <a:endParaRPr kumimoji="1" lang="zh-TW" altLang="en-US" dirty="0">
              <a:latin typeface="Times New Roman" panose="02020603050405020304" pitchFamily="18" charset="0"/>
              <a:cs typeface="Times New Roman" panose="02020603050405020304" pitchFamily="18" charset="0"/>
            </a:endParaRPr>
          </a:p>
        </p:txBody>
      </p:sp>
      <p:cxnSp>
        <p:nvCxnSpPr>
          <p:cNvPr id="39" name="直線箭頭接點 38">
            <a:extLst>
              <a:ext uri="{FF2B5EF4-FFF2-40B4-BE49-F238E27FC236}">
                <a16:creationId xmlns:a16="http://schemas.microsoft.com/office/drawing/2014/main" id="{9FCDDD4A-BE38-2441-ABFE-EFE631600080}"/>
              </a:ext>
            </a:extLst>
          </p:cNvPr>
          <p:cNvCxnSpPr/>
          <p:nvPr/>
        </p:nvCxnSpPr>
        <p:spPr>
          <a:xfrm>
            <a:off x="6614149" y="4263966"/>
            <a:ext cx="516835" cy="0"/>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41" name="文字方塊 40">
            <a:extLst>
              <a:ext uri="{FF2B5EF4-FFF2-40B4-BE49-F238E27FC236}">
                <a16:creationId xmlns:a16="http://schemas.microsoft.com/office/drawing/2014/main" id="{57F3D8A2-A887-E44B-B771-2147C8732146}"/>
              </a:ext>
            </a:extLst>
          </p:cNvPr>
          <p:cNvSpPr txBox="1"/>
          <p:nvPr/>
        </p:nvSpPr>
        <p:spPr>
          <a:xfrm>
            <a:off x="5989056" y="3865962"/>
            <a:ext cx="1788839" cy="369332"/>
          </a:xfrm>
          <a:prstGeom prst="rect">
            <a:avLst/>
          </a:prstGeom>
          <a:noFill/>
        </p:spPr>
        <p:txBody>
          <a:bodyPr wrap="square" rtlCol="0">
            <a:spAutoFit/>
          </a:bodyPr>
          <a:lstStyle/>
          <a:p>
            <a:r>
              <a:rPr kumimoji="1" lang="en-US" altLang="zh-TW" dirty="0">
                <a:latin typeface="Times New Roman" panose="02020603050405020304" pitchFamily="18" charset="0"/>
                <a:cs typeface="Times New Roman" panose="02020603050405020304" pitchFamily="18" charset="0"/>
              </a:rPr>
              <a:t>2x2 max pooling</a:t>
            </a:r>
            <a:endParaRPr kumimoji="1" lang="zh-TW" altLang="en-US" dirty="0">
              <a:latin typeface="Times New Roman" panose="02020603050405020304" pitchFamily="18" charset="0"/>
              <a:cs typeface="Times New Roman" panose="02020603050405020304" pitchFamily="18" charset="0"/>
            </a:endParaRPr>
          </a:p>
        </p:txBody>
      </p:sp>
      <p:cxnSp>
        <p:nvCxnSpPr>
          <p:cNvPr id="45" name="直線箭頭接點 44">
            <a:extLst>
              <a:ext uri="{FF2B5EF4-FFF2-40B4-BE49-F238E27FC236}">
                <a16:creationId xmlns:a16="http://schemas.microsoft.com/office/drawing/2014/main" id="{BCB08B97-3CB1-404B-8D73-A41E81BF2D76}"/>
              </a:ext>
            </a:extLst>
          </p:cNvPr>
          <p:cNvCxnSpPr/>
          <p:nvPr/>
        </p:nvCxnSpPr>
        <p:spPr>
          <a:xfrm>
            <a:off x="6617464" y="5982652"/>
            <a:ext cx="516835" cy="0"/>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46" name="文字方塊 45">
            <a:extLst>
              <a:ext uri="{FF2B5EF4-FFF2-40B4-BE49-F238E27FC236}">
                <a16:creationId xmlns:a16="http://schemas.microsoft.com/office/drawing/2014/main" id="{1CFC4689-E514-3746-80AF-3AE6353BC44A}"/>
              </a:ext>
            </a:extLst>
          </p:cNvPr>
          <p:cNvSpPr txBox="1"/>
          <p:nvPr/>
        </p:nvSpPr>
        <p:spPr>
          <a:xfrm>
            <a:off x="6306987" y="5555976"/>
            <a:ext cx="1131158" cy="369332"/>
          </a:xfrm>
          <a:prstGeom prst="rect">
            <a:avLst/>
          </a:prstGeom>
          <a:noFill/>
        </p:spPr>
        <p:txBody>
          <a:bodyPr wrap="square" rtlCol="0">
            <a:spAutoFit/>
          </a:bodyPr>
          <a:lstStyle/>
          <a:p>
            <a:r>
              <a:rPr kumimoji="1" lang="en-US" altLang="zh-TW" dirty="0">
                <a:latin typeface="Times New Roman" panose="02020603050405020304" pitchFamily="18" charset="0"/>
                <a:cs typeface="Times New Roman" panose="02020603050405020304" pitchFamily="18" charset="0"/>
              </a:rPr>
              <a:t>flattening</a:t>
            </a:r>
            <a:endParaRPr kumimoji="1" lang="zh-TW" altLang="en-US" dirty="0">
              <a:latin typeface="Times New Roman" panose="02020603050405020304" pitchFamily="18" charset="0"/>
              <a:cs typeface="Times New Roman" panose="02020603050405020304" pitchFamily="18" charset="0"/>
            </a:endParaRPr>
          </a:p>
        </p:txBody>
      </p:sp>
      <p:sp>
        <p:nvSpPr>
          <p:cNvPr id="48" name="文字方塊 47">
            <a:extLst>
              <a:ext uri="{FF2B5EF4-FFF2-40B4-BE49-F238E27FC236}">
                <a16:creationId xmlns:a16="http://schemas.microsoft.com/office/drawing/2014/main" id="{EE3ACAC7-513F-1E40-96BD-BCCDBE041E87}"/>
              </a:ext>
            </a:extLst>
          </p:cNvPr>
          <p:cNvSpPr txBox="1"/>
          <p:nvPr/>
        </p:nvSpPr>
        <p:spPr>
          <a:xfrm>
            <a:off x="7745693" y="6402689"/>
            <a:ext cx="3102253" cy="369332"/>
          </a:xfrm>
          <a:prstGeom prst="rect">
            <a:avLst/>
          </a:prstGeom>
          <a:noFill/>
        </p:spPr>
        <p:txBody>
          <a:bodyPr wrap="square" rtlCol="0">
            <a:spAutoFit/>
          </a:bodyPr>
          <a:lstStyle/>
          <a:p>
            <a:r>
              <a:rPr kumimoji="1" lang="en-US" altLang="zh-TW" dirty="0">
                <a:latin typeface="Times New Roman" panose="02020603050405020304" pitchFamily="18" charset="0"/>
                <a:cs typeface="Times New Roman" panose="02020603050405020304" pitchFamily="18" charset="0"/>
              </a:rPr>
              <a:t>result (neural network’s input)</a:t>
            </a:r>
            <a:endParaRPr kumimoji="1" lang="zh-TW" altLang="en-US" dirty="0">
              <a:latin typeface="Times New Roman" panose="02020603050405020304" pitchFamily="18" charset="0"/>
              <a:cs typeface="Times New Roman" panose="02020603050405020304" pitchFamily="18" charset="0"/>
            </a:endParaRPr>
          </a:p>
        </p:txBody>
      </p:sp>
      <p:graphicFrame>
        <p:nvGraphicFramePr>
          <p:cNvPr id="49" name="表格 48">
            <a:extLst>
              <a:ext uri="{FF2B5EF4-FFF2-40B4-BE49-F238E27FC236}">
                <a16:creationId xmlns:a16="http://schemas.microsoft.com/office/drawing/2014/main" id="{CA66FADA-D68E-7E4D-88E8-5BF149F02B99}"/>
              </a:ext>
            </a:extLst>
          </p:cNvPr>
          <p:cNvGraphicFramePr>
            <a:graphicFrameLocks noGrp="1"/>
          </p:cNvGraphicFramePr>
          <p:nvPr>
            <p:extLst>
              <p:ext uri="{D42A27DB-BD31-4B8C-83A1-F6EECF244321}">
                <p14:modId xmlns:p14="http://schemas.microsoft.com/office/powerpoint/2010/main" val="2439336938"/>
              </p:ext>
            </p:extLst>
          </p:nvPr>
        </p:nvGraphicFramePr>
        <p:xfrm>
          <a:off x="8498937" y="1650573"/>
          <a:ext cx="1080000" cy="109728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4148122709"/>
                    </a:ext>
                  </a:extLst>
                </a:gridCol>
                <a:gridCol w="360000">
                  <a:extLst>
                    <a:ext uri="{9D8B030D-6E8A-4147-A177-3AD203B41FA5}">
                      <a16:colId xmlns:a16="http://schemas.microsoft.com/office/drawing/2014/main" val="1057469868"/>
                    </a:ext>
                  </a:extLst>
                </a:gridCol>
                <a:gridCol w="360000">
                  <a:extLst>
                    <a:ext uri="{9D8B030D-6E8A-4147-A177-3AD203B41FA5}">
                      <a16:colId xmlns:a16="http://schemas.microsoft.com/office/drawing/2014/main" val="1137881533"/>
                    </a:ext>
                  </a:extLst>
                </a:gridCol>
              </a:tblGrid>
              <a:tr h="365400">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86279823"/>
                  </a:ext>
                </a:extLst>
              </a:tr>
              <a:tr h="365400">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74988091"/>
                  </a:ext>
                </a:extLst>
              </a:tr>
              <a:tr h="365400">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263449287"/>
                  </a:ext>
                </a:extLst>
              </a:tr>
            </a:tbl>
          </a:graphicData>
        </a:graphic>
      </p:graphicFrame>
      <p:graphicFrame>
        <p:nvGraphicFramePr>
          <p:cNvPr id="50" name="表格 49">
            <a:extLst>
              <a:ext uri="{FF2B5EF4-FFF2-40B4-BE49-F238E27FC236}">
                <a16:creationId xmlns:a16="http://schemas.microsoft.com/office/drawing/2014/main" id="{D5D4A5CE-1B5A-6C40-8EDF-F005AD000182}"/>
              </a:ext>
            </a:extLst>
          </p:cNvPr>
          <p:cNvGraphicFramePr>
            <a:graphicFrameLocks noGrp="1"/>
          </p:cNvGraphicFramePr>
          <p:nvPr>
            <p:extLst>
              <p:ext uri="{D42A27DB-BD31-4B8C-83A1-F6EECF244321}">
                <p14:modId xmlns:p14="http://schemas.microsoft.com/office/powerpoint/2010/main" val="1929292772"/>
              </p:ext>
            </p:extLst>
          </p:nvPr>
        </p:nvGraphicFramePr>
        <p:xfrm>
          <a:off x="8502733" y="1651243"/>
          <a:ext cx="360000" cy="367200"/>
        </p:xfrm>
        <a:graphic>
          <a:graphicData uri="http://schemas.openxmlformats.org/drawingml/2006/table">
            <a:tbl>
              <a:tblPr/>
              <a:tblGrid>
                <a:gridCol w="360000">
                  <a:extLst>
                    <a:ext uri="{9D8B030D-6E8A-4147-A177-3AD203B41FA5}">
                      <a16:colId xmlns:a16="http://schemas.microsoft.com/office/drawing/2014/main" val="1858458167"/>
                    </a:ext>
                  </a:extLst>
                </a:gridCol>
              </a:tblGrid>
              <a:tr h="367200">
                <a:tc>
                  <a:txBody>
                    <a:bodyPr/>
                    <a:lstStyle/>
                    <a:p>
                      <a:endParaRPr lang="zh-TW" altLang="en-US" dirty="0"/>
                    </a:p>
                  </a:txBody>
                  <a:tcPr>
                    <a:lnL w="28575" cmpd="sng">
                      <a:solidFill>
                        <a:srgbClr val="FF0000"/>
                      </a:solidFill>
                      <a:prstDash val="solid"/>
                    </a:lnL>
                    <a:lnR w="28575" cmpd="sng">
                      <a:solidFill>
                        <a:srgbClr val="FF0000"/>
                      </a:solidFill>
                      <a:prstDash val="solid"/>
                    </a:lnR>
                    <a:lnT w="28575" cmpd="sng">
                      <a:solidFill>
                        <a:srgbClr val="FF0000"/>
                      </a:solidFill>
                      <a:prstDash val="solid"/>
                    </a:lnT>
                    <a:lnB w="28575" cmpd="sng">
                      <a:solidFill>
                        <a:srgbClr val="FF0000"/>
                      </a:solidFill>
                      <a:prstDash val="solid"/>
                    </a:lnB>
                  </a:tcPr>
                </a:tc>
                <a:extLst>
                  <a:ext uri="{0D108BD9-81ED-4DB2-BD59-A6C34878D82A}">
                    <a16:rowId xmlns:a16="http://schemas.microsoft.com/office/drawing/2014/main" val="1648325280"/>
                  </a:ext>
                </a:extLst>
              </a:tr>
            </a:tbl>
          </a:graphicData>
        </a:graphic>
      </p:graphicFrame>
      <p:graphicFrame>
        <p:nvGraphicFramePr>
          <p:cNvPr id="51" name="表格 50">
            <a:extLst>
              <a:ext uri="{FF2B5EF4-FFF2-40B4-BE49-F238E27FC236}">
                <a16:creationId xmlns:a16="http://schemas.microsoft.com/office/drawing/2014/main" id="{37C1223A-F4A1-AB4E-89EC-AE62BADE5031}"/>
              </a:ext>
            </a:extLst>
          </p:cNvPr>
          <p:cNvGraphicFramePr>
            <a:graphicFrameLocks noGrp="1"/>
          </p:cNvGraphicFramePr>
          <p:nvPr>
            <p:extLst>
              <p:ext uri="{D42A27DB-BD31-4B8C-83A1-F6EECF244321}">
                <p14:modId xmlns:p14="http://schemas.microsoft.com/office/powerpoint/2010/main" val="1283758744"/>
              </p:ext>
            </p:extLst>
          </p:nvPr>
        </p:nvGraphicFramePr>
        <p:xfrm>
          <a:off x="4230169" y="3522110"/>
          <a:ext cx="1080000" cy="109728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4148122709"/>
                    </a:ext>
                  </a:extLst>
                </a:gridCol>
                <a:gridCol w="360000">
                  <a:extLst>
                    <a:ext uri="{9D8B030D-6E8A-4147-A177-3AD203B41FA5}">
                      <a16:colId xmlns:a16="http://schemas.microsoft.com/office/drawing/2014/main" val="1057469868"/>
                    </a:ext>
                  </a:extLst>
                </a:gridCol>
                <a:gridCol w="360000">
                  <a:extLst>
                    <a:ext uri="{9D8B030D-6E8A-4147-A177-3AD203B41FA5}">
                      <a16:colId xmlns:a16="http://schemas.microsoft.com/office/drawing/2014/main" val="1137881533"/>
                    </a:ext>
                  </a:extLst>
                </a:gridCol>
              </a:tblGrid>
              <a:tr h="365400">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86279823"/>
                  </a:ext>
                </a:extLst>
              </a:tr>
              <a:tr h="365400">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74988091"/>
                  </a:ext>
                </a:extLst>
              </a:tr>
              <a:tr h="365400">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263449287"/>
                  </a:ext>
                </a:extLst>
              </a:tr>
            </a:tbl>
          </a:graphicData>
        </a:graphic>
      </p:graphicFrame>
      <p:graphicFrame>
        <p:nvGraphicFramePr>
          <p:cNvPr id="52" name="表格 51">
            <a:extLst>
              <a:ext uri="{FF2B5EF4-FFF2-40B4-BE49-F238E27FC236}">
                <a16:creationId xmlns:a16="http://schemas.microsoft.com/office/drawing/2014/main" id="{B150D54C-0EC9-5441-9E34-D4ECA07918A6}"/>
              </a:ext>
            </a:extLst>
          </p:cNvPr>
          <p:cNvGraphicFramePr>
            <a:graphicFrameLocks noGrp="1"/>
          </p:cNvGraphicFramePr>
          <p:nvPr>
            <p:extLst>
              <p:ext uri="{D42A27DB-BD31-4B8C-83A1-F6EECF244321}">
                <p14:modId xmlns:p14="http://schemas.microsoft.com/office/powerpoint/2010/main" val="2490014110"/>
              </p:ext>
            </p:extLst>
          </p:nvPr>
        </p:nvGraphicFramePr>
        <p:xfrm>
          <a:off x="8691786" y="3684518"/>
          <a:ext cx="720000" cy="73152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4148122709"/>
                    </a:ext>
                  </a:extLst>
                </a:gridCol>
                <a:gridCol w="360000">
                  <a:extLst>
                    <a:ext uri="{9D8B030D-6E8A-4147-A177-3AD203B41FA5}">
                      <a16:colId xmlns:a16="http://schemas.microsoft.com/office/drawing/2014/main" val="1057469868"/>
                    </a:ext>
                  </a:extLst>
                </a:gridCol>
              </a:tblGrid>
              <a:tr h="365400">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86279823"/>
                  </a:ext>
                </a:extLst>
              </a:tr>
              <a:tr h="365400">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74988091"/>
                  </a:ext>
                </a:extLst>
              </a:tr>
            </a:tbl>
          </a:graphicData>
        </a:graphic>
      </p:graphicFrame>
      <p:graphicFrame>
        <p:nvGraphicFramePr>
          <p:cNvPr id="53" name="表格 52">
            <a:extLst>
              <a:ext uri="{FF2B5EF4-FFF2-40B4-BE49-F238E27FC236}">
                <a16:creationId xmlns:a16="http://schemas.microsoft.com/office/drawing/2014/main" id="{6AE994A6-78FC-E94A-98C1-2750A7A24B9F}"/>
              </a:ext>
            </a:extLst>
          </p:cNvPr>
          <p:cNvGraphicFramePr>
            <a:graphicFrameLocks noGrp="1"/>
          </p:cNvGraphicFramePr>
          <p:nvPr>
            <p:extLst>
              <p:ext uri="{D42A27DB-BD31-4B8C-83A1-F6EECF244321}">
                <p14:modId xmlns:p14="http://schemas.microsoft.com/office/powerpoint/2010/main" val="1685799889"/>
              </p:ext>
            </p:extLst>
          </p:nvPr>
        </p:nvGraphicFramePr>
        <p:xfrm>
          <a:off x="4410169" y="5354482"/>
          <a:ext cx="720000" cy="73152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4148122709"/>
                    </a:ext>
                  </a:extLst>
                </a:gridCol>
                <a:gridCol w="360000">
                  <a:extLst>
                    <a:ext uri="{9D8B030D-6E8A-4147-A177-3AD203B41FA5}">
                      <a16:colId xmlns:a16="http://schemas.microsoft.com/office/drawing/2014/main" val="1057469868"/>
                    </a:ext>
                  </a:extLst>
                </a:gridCol>
              </a:tblGrid>
              <a:tr h="365400">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86279823"/>
                  </a:ext>
                </a:extLst>
              </a:tr>
              <a:tr h="365400">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74988091"/>
                  </a:ext>
                </a:extLst>
              </a:tr>
            </a:tbl>
          </a:graphicData>
        </a:graphic>
      </p:graphicFrame>
      <p:sp>
        <p:nvSpPr>
          <p:cNvPr id="54" name="文字方塊 53">
            <a:extLst>
              <a:ext uri="{FF2B5EF4-FFF2-40B4-BE49-F238E27FC236}">
                <a16:creationId xmlns:a16="http://schemas.microsoft.com/office/drawing/2014/main" id="{58993A55-CF49-AA40-8E61-D558075EB14A}"/>
              </a:ext>
            </a:extLst>
          </p:cNvPr>
          <p:cNvSpPr txBox="1"/>
          <p:nvPr/>
        </p:nvSpPr>
        <p:spPr>
          <a:xfrm>
            <a:off x="3908727" y="6086002"/>
            <a:ext cx="1722883" cy="369332"/>
          </a:xfrm>
          <a:prstGeom prst="rect">
            <a:avLst/>
          </a:prstGeom>
          <a:noFill/>
        </p:spPr>
        <p:txBody>
          <a:bodyPr wrap="square" rtlCol="0">
            <a:spAutoFit/>
          </a:bodyPr>
          <a:lstStyle/>
          <a:p>
            <a:r>
              <a:rPr kumimoji="1" lang="en-US" altLang="zh-TW" dirty="0">
                <a:latin typeface="Times New Roman" panose="02020603050405020304" pitchFamily="18" charset="0"/>
                <a:cs typeface="Times New Roman" panose="02020603050405020304" pitchFamily="18" charset="0"/>
              </a:rPr>
              <a:t>result of pooling</a:t>
            </a:r>
            <a:endParaRPr kumimoji="1" lang="zh-TW" altLang="en-US" dirty="0">
              <a:latin typeface="Times New Roman" panose="02020603050405020304" pitchFamily="18" charset="0"/>
              <a:cs typeface="Times New Roman" panose="02020603050405020304" pitchFamily="18" charset="0"/>
            </a:endParaRPr>
          </a:p>
        </p:txBody>
      </p:sp>
      <p:graphicFrame>
        <p:nvGraphicFramePr>
          <p:cNvPr id="55" name="表格 54">
            <a:extLst>
              <a:ext uri="{FF2B5EF4-FFF2-40B4-BE49-F238E27FC236}">
                <a16:creationId xmlns:a16="http://schemas.microsoft.com/office/drawing/2014/main" id="{2813638E-4739-854E-ACDF-9F2B79535520}"/>
              </a:ext>
            </a:extLst>
          </p:cNvPr>
          <p:cNvGraphicFramePr>
            <a:graphicFrameLocks noGrp="1"/>
          </p:cNvGraphicFramePr>
          <p:nvPr>
            <p:extLst>
              <p:ext uri="{D42A27DB-BD31-4B8C-83A1-F6EECF244321}">
                <p14:modId xmlns:p14="http://schemas.microsoft.com/office/powerpoint/2010/main" val="2542029888"/>
              </p:ext>
            </p:extLst>
          </p:nvPr>
        </p:nvGraphicFramePr>
        <p:xfrm>
          <a:off x="8855972" y="4944879"/>
          <a:ext cx="360000" cy="1463040"/>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4148122709"/>
                    </a:ext>
                  </a:extLst>
                </a:gridCol>
              </a:tblGrid>
              <a:tr h="365400">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86279823"/>
                  </a:ext>
                </a:extLst>
              </a:tr>
              <a:tr h="365400">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74988091"/>
                  </a:ext>
                </a:extLst>
              </a:tr>
              <a:tr h="365400">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53346553"/>
                  </a:ext>
                </a:extLst>
              </a:tr>
              <a:tr h="365400">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07011692"/>
                  </a:ext>
                </a:extLst>
              </a:tr>
            </a:tbl>
          </a:graphicData>
        </a:graphic>
      </p:graphicFrame>
      <p:graphicFrame>
        <p:nvGraphicFramePr>
          <p:cNvPr id="56" name="表格 55">
            <a:extLst>
              <a:ext uri="{FF2B5EF4-FFF2-40B4-BE49-F238E27FC236}">
                <a16:creationId xmlns:a16="http://schemas.microsoft.com/office/drawing/2014/main" id="{A23F4875-0DF0-0E47-B4C9-9196B00E684D}"/>
              </a:ext>
            </a:extLst>
          </p:cNvPr>
          <p:cNvGraphicFramePr>
            <a:graphicFrameLocks noGrp="1"/>
          </p:cNvGraphicFramePr>
          <p:nvPr>
            <p:extLst>
              <p:ext uri="{D42A27DB-BD31-4B8C-83A1-F6EECF244321}">
                <p14:modId xmlns:p14="http://schemas.microsoft.com/office/powerpoint/2010/main" val="1799689195"/>
              </p:ext>
            </p:extLst>
          </p:nvPr>
        </p:nvGraphicFramePr>
        <p:xfrm>
          <a:off x="4234696" y="3522110"/>
          <a:ext cx="720000" cy="720000"/>
        </p:xfrm>
        <a:graphic>
          <a:graphicData uri="http://schemas.openxmlformats.org/drawingml/2006/table">
            <a:tbl>
              <a:tblPr/>
              <a:tblGrid>
                <a:gridCol w="720000">
                  <a:extLst>
                    <a:ext uri="{9D8B030D-6E8A-4147-A177-3AD203B41FA5}">
                      <a16:colId xmlns:a16="http://schemas.microsoft.com/office/drawing/2014/main" val="1858458167"/>
                    </a:ext>
                  </a:extLst>
                </a:gridCol>
              </a:tblGrid>
              <a:tr h="720000">
                <a:tc>
                  <a:txBody>
                    <a:bodyPr/>
                    <a:lstStyle/>
                    <a:p>
                      <a:endParaRPr lang="zh-TW" altLang="en-US" dirty="0"/>
                    </a:p>
                  </a:txBody>
                  <a:tcPr>
                    <a:lnL w="28575" cmpd="sng">
                      <a:solidFill>
                        <a:srgbClr val="FF0000"/>
                      </a:solidFill>
                      <a:prstDash val="solid"/>
                    </a:lnL>
                    <a:lnR w="28575" cmpd="sng">
                      <a:solidFill>
                        <a:srgbClr val="FF0000"/>
                      </a:solidFill>
                      <a:prstDash val="solid"/>
                    </a:lnR>
                    <a:lnT w="28575" cmpd="sng">
                      <a:solidFill>
                        <a:srgbClr val="FF0000"/>
                      </a:solidFill>
                      <a:prstDash val="solid"/>
                    </a:lnT>
                    <a:lnB w="28575" cmpd="sng">
                      <a:solidFill>
                        <a:srgbClr val="FF0000"/>
                      </a:solidFill>
                      <a:prstDash val="solid"/>
                    </a:lnB>
                  </a:tcPr>
                </a:tc>
                <a:extLst>
                  <a:ext uri="{0D108BD9-81ED-4DB2-BD59-A6C34878D82A}">
                    <a16:rowId xmlns:a16="http://schemas.microsoft.com/office/drawing/2014/main" val="1648325280"/>
                  </a:ext>
                </a:extLst>
              </a:tr>
            </a:tbl>
          </a:graphicData>
        </a:graphic>
      </p:graphicFrame>
      <p:graphicFrame>
        <p:nvGraphicFramePr>
          <p:cNvPr id="57" name="表格 56">
            <a:extLst>
              <a:ext uri="{FF2B5EF4-FFF2-40B4-BE49-F238E27FC236}">
                <a16:creationId xmlns:a16="http://schemas.microsoft.com/office/drawing/2014/main" id="{7536C0A3-2E1D-6F4F-AA29-1B01302C5BA9}"/>
              </a:ext>
            </a:extLst>
          </p:cNvPr>
          <p:cNvGraphicFramePr>
            <a:graphicFrameLocks noGrp="1"/>
          </p:cNvGraphicFramePr>
          <p:nvPr>
            <p:extLst>
              <p:ext uri="{D42A27DB-BD31-4B8C-83A1-F6EECF244321}">
                <p14:modId xmlns:p14="http://schemas.microsoft.com/office/powerpoint/2010/main" val="97310947"/>
              </p:ext>
            </p:extLst>
          </p:nvPr>
        </p:nvGraphicFramePr>
        <p:xfrm>
          <a:off x="8693088" y="3682362"/>
          <a:ext cx="360000" cy="367200"/>
        </p:xfrm>
        <a:graphic>
          <a:graphicData uri="http://schemas.openxmlformats.org/drawingml/2006/table">
            <a:tbl>
              <a:tblPr/>
              <a:tblGrid>
                <a:gridCol w="360000">
                  <a:extLst>
                    <a:ext uri="{9D8B030D-6E8A-4147-A177-3AD203B41FA5}">
                      <a16:colId xmlns:a16="http://schemas.microsoft.com/office/drawing/2014/main" val="1858458167"/>
                    </a:ext>
                  </a:extLst>
                </a:gridCol>
              </a:tblGrid>
              <a:tr h="367200">
                <a:tc>
                  <a:txBody>
                    <a:bodyPr/>
                    <a:lstStyle/>
                    <a:p>
                      <a:endParaRPr lang="zh-TW" altLang="en-US" dirty="0"/>
                    </a:p>
                  </a:txBody>
                  <a:tcPr>
                    <a:lnL w="28575" cmpd="sng">
                      <a:solidFill>
                        <a:srgbClr val="FF0000"/>
                      </a:solidFill>
                      <a:prstDash val="solid"/>
                    </a:lnL>
                    <a:lnR w="28575" cmpd="sng">
                      <a:solidFill>
                        <a:srgbClr val="FF0000"/>
                      </a:solidFill>
                      <a:prstDash val="solid"/>
                    </a:lnR>
                    <a:lnT w="28575" cmpd="sng">
                      <a:solidFill>
                        <a:srgbClr val="FF0000"/>
                      </a:solidFill>
                      <a:prstDash val="solid"/>
                    </a:lnT>
                    <a:lnB w="28575" cmpd="sng">
                      <a:solidFill>
                        <a:srgbClr val="FF0000"/>
                      </a:solidFill>
                      <a:prstDash val="solid"/>
                    </a:lnB>
                  </a:tcPr>
                </a:tc>
                <a:extLst>
                  <a:ext uri="{0D108BD9-81ED-4DB2-BD59-A6C34878D82A}">
                    <a16:rowId xmlns:a16="http://schemas.microsoft.com/office/drawing/2014/main" val="1648325280"/>
                  </a:ext>
                </a:extLst>
              </a:tr>
            </a:tbl>
          </a:graphicData>
        </a:graphic>
      </p:graphicFrame>
    </p:spTree>
    <p:extLst>
      <p:ext uri="{BB962C8B-B14F-4D97-AF65-F5344CB8AC3E}">
        <p14:creationId xmlns:p14="http://schemas.microsoft.com/office/powerpoint/2010/main" val="2668748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群組 25">
            <a:extLst>
              <a:ext uri="{FF2B5EF4-FFF2-40B4-BE49-F238E27FC236}">
                <a16:creationId xmlns:a16="http://schemas.microsoft.com/office/drawing/2014/main" id="{D8FA81B7-3F51-6E44-9159-520609974F21}"/>
              </a:ext>
            </a:extLst>
          </p:cNvPr>
          <p:cNvGrpSpPr/>
          <p:nvPr/>
        </p:nvGrpSpPr>
        <p:grpSpPr>
          <a:xfrm>
            <a:off x="2735872" y="3014503"/>
            <a:ext cx="6720256" cy="3834673"/>
            <a:chOff x="2284395" y="3127252"/>
            <a:chExt cx="6720256" cy="3834673"/>
          </a:xfrm>
        </p:grpSpPr>
        <p:pic>
          <p:nvPicPr>
            <p:cNvPr id="9" name="圖片 8">
              <a:extLst>
                <a:ext uri="{FF2B5EF4-FFF2-40B4-BE49-F238E27FC236}">
                  <a16:creationId xmlns:a16="http://schemas.microsoft.com/office/drawing/2014/main" id="{AAB9B50E-C1E8-7144-942C-180853A0B2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42622" y="3358085"/>
              <a:ext cx="6562029" cy="3152179"/>
            </a:xfrm>
            <a:prstGeom prst="rect">
              <a:avLst/>
            </a:prstGeom>
          </p:spPr>
        </p:pic>
        <p:cxnSp>
          <p:nvCxnSpPr>
            <p:cNvPr id="11" name="直線箭頭接點 10">
              <a:extLst>
                <a:ext uri="{FF2B5EF4-FFF2-40B4-BE49-F238E27FC236}">
                  <a16:creationId xmlns:a16="http://schemas.microsoft.com/office/drawing/2014/main" id="{2D190C52-548F-7446-8F5C-3CEB511A804E}"/>
                </a:ext>
              </a:extLst>
            </p:cNvPr>
            <p:cNvCxnSpPr/>
            <p:nvPr/>
          </p:nvCxnSpPr>
          <p:spPr>
            <a:xfrm>
              <a:off x="2633870" y="3538330"/>
              <a:ext cx="0" cy="282119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箭頭接點 12">
              <a:extLst>
                <a:ext uri="{FF2B5EF4-FFF2-40B4-BE49-F238E27FC236}">
                  <a16:creationId xmlns:a16="http://schemas.microsoft.com/office/drawing/2014/main" id="{0209F24C-51AA-E543-877A-3DEC178196D2}"/>
                </a:ext>
              </a:extLst>
            </p:cNvPr>
            <p:cNvCxnSpPr/>
            <p:nvPr/>
          </p:nvCxnSpPr>
          <p:spPr>
            <a:xfrm>
              <a:off x="7427843" y="3538330"/>
              <a:ext cx="0" cy="282119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箭頭接點 13">
              <a:extLst>
                <a:ext uri="{FF2B5EF4-FFF2-40B4-BE49-F238E27FC236}">
                  <a16:creationId xmlns:a16="http://schemas.microsoft.com/office/drawing/2014/main" id="{3E378945-9F0F-494B-B2E4-B970D46FE8E5}"/>
                </a:ext>
              </a:extLst>
            </p:cNvPr>
            <p:cNvCxnSpPr>
              <a:cxnSpLocks/>
            </p:cNvCxnSpPr>
            <p:nvPr/>
          </p:nvCxnSpPr>
          <p:spPr>
            <a:xfrm>
              <a:off x="2633870" y="3538330"/>
              <a:ext cx="2832652"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箭頭接點 16">
              <a:extLst>
                <a:ext uri="{FF2B5EF4-FFF2-40B4-BE49-F238E27FC236}">
                  <a16:creationId xmlns:a16="http://schemas.microsoft.com/office/drawing/2014/main" id="{5A0A006E-4F63-694F-A070-B5CC9C5CEE74}"/>
                </a:ext>
              </a:extLst>
            </p:cNvPr>
            <p:cNvCxnSpPr>
              <a:cxnSpLocks/>
            </p:cNvCxnSpPr>
            <p:nvPr/>
          </p:nvCxnSpPr>
          <p:spPr>
            <a:xfrm>
              <a:off x="6008763" y="4948927"/>
              <a:ext cx="2832652"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文字方塊 17">
              <a:extLst>
                <a:ext uri="{FF2B5EF4-FFF2-40B4-BE49-F238E27FC236}">
                  <a16:creationId xmlns:a16="http://schemas.microsoft.com/office/drawing/2014/main" id="{4FA74839-92C0-9D47-86C4-D9D0F14F57FF}"/>
                </a:ext>
              </a:extLst>
            </p:cNvPr>
            <p:cNvSpPr txBox="1"/>
            <p:nvPr/>
          </p:nvSpPr>
          <p:spPr>
            <a:xfrm>
              <a:off x="2284395" y="6048599"/>
              <a:ext cx="308113" cy="461665"/>
            </a:xfrm>
            <a:prstGeom prst="rect">
              <a:avLst/>
            </a:prstGeom>
            <a:noFill/>
          </p:spPr>
          <p:txBody>
            <a:bodyPr wrap="square" rtlCol="0">
              <a:spAutoFit/>
            </a:bodyPr>
            <a:lstStyle/>
            <a:p>
              <a:r>
                <a:rPr kumimoji="1" lang="en-US" altLang="zh-TW" sz="2400" dirty="0">
                  <a:solidFill>
                    <a:srgbClr val="FF0000"/>
                  </a:solidFill>
                </a:rPr>
                <a:t>x</a:t>
              </a:r>
              <a:endParaRPr kumimoji="1" lang="zh-TW" altLang="en-US" sz="2400" dirty="0">
                <a:solidFill>
                  <a:srgbClr val="FF0000"/>
                </a:solidFill>
              </a:endParaRPr>
            </a:p>
          </p:txBody>
        </p:sp>
        <p:sp>
          <p:nvSpPr>
            <p:cNvPr id="19" name="文字方塊 18">
              <a:extLst>
                <a:ext uri="{FF2B5EF4-FFF2-40B4-BE49-F238E27FC236}">
                  <a16:creationId xmlns:a16="http://schemas.microsoft.com/office/drawing/2014/main" id="{6776D38E-0A5D-D84A-890B-4827082438F5}"/>
                </a:ext>
              </a:extLst>
            </p:cNvPr>
            <p:cNvSpPr txBox="1"/>
            <p:nvPr/>
          </p:nvSpPr>
          <p:spPr>
            <a:xfrm>
              <a:off x="5415523" y="3127252"/>
              <a:ext cx="308113" cy="461665"/>
            </a:xfrm>
            <a:prstGeom prst="rect">
              <a:avLst/>
            </a:prstGeom>
            <a:noFill/>
          </p:spPr>
          <p:txBody>
            <a:bodyPr wrap="square" rtlCol="0">
              <a:spAutoFit/>
            </a:bodyPr>
            <a:lstStyle/>
            <a:p>
              <a:r>
                <a:rPr kumimoji="1" lang="en-US" altLang="zh-TW" sz="2400" dirty="0">
                  <a:solidFill>
                    <a:srgbClr val="FF0000"/>
                  </a:solidFill>
                </a:rPr>
                <a:t>y</a:t>
              </a:r>
              <a:endParaRPr kumimoji="1" lang="zh-TW" altLang="en-US" sz="2400" dirty="0">
                <a:solidFill>
                  <a:srgbClr val="FF0000"/>
                </a:solidFill>
              </a:endParaRPr>
            </a:p>
          </p:txBody>
        </p:sp>
        <p:sp>
          <p:nvSpPr>
            <p:cNvPr id="20" name="文字方塊 19">
              <a:extLst>
                <a:ext uri="{FF2B5EF4-FFF2-40B4-BE49-F238E27FC236}">
                  <a16:creationId xmlns:a16="http://schemas.microsoft.com/office/drawing/2014/main" id="{F6356E80-6409-4546-93EE-8BE9A48F83D5}"/>
                </a:ext>
              </a:extLst>
            </p:cNvPr>
            <p:cNvSpPr txBox="1"/>
            <p:nvPr/>
          </p:nvSpPr>
          <p:spPr>
            <a:xfrm>
              <a:off x="7425089" y="5946131"/>
              <a:ext cx="308113" cy="461665"/>
            </a:xfrm>
            <a:prstGeom prst="rect">
              <a:avLst/>
            </a:prstGeom>
            <a:noFill/>
          </p:spPr>
          <p:txBody>
            <a:bodyPr wrap="square" rtlCol="0">
              <a:spAutoFit/>
            </a:bodyPr>
            <a:lstStyle/>
            <a:p>
              <a:r>
                <a:rPr kumimoji="1" lang="en-US" altLang="zh-TW" sz="2400" dirty="0">
                  <a:solidFill>
                    <a:srgbClr val="FF0000"/>
                  </a:solidFill>
                </a:rPr>
                <a:t>u</a:t>
              </a:r>
              <a:endParaRPr kumimoji="1" lang="zh-TW" altLang="en-US" sz="2400" dirty="0">
                <a:solidFill>
                  <a:srgbClr val="FF0000"/>
                </a:solidFill>
              </a:endParaRPr>
            </a:p>
          </p:txBody>
        </p:sp>
        <p:sp>
          <p:nvSpPr>
            <p:cNvPr id="21" name="文字方塊 20">
              <a:extLst>
                <a:ext uri="{FF2B5EF4-FFF2-40B4-BE49-F238E27FC236}">
                  <a16:creationId xmlns:a16="http://schemas.microsoft.com/office/drawing/2014/main" id="{E986769F-43B7-9846-ACAB-B20EFF9225A5}"/>
                </a:ext>
              </a:extLst>
            </p:cNvPr>
            <p:cNvSpPr txBox="1"/>
            <p:nvPr/>
          </p:nvSpPr>
          <p:spPr>
            <a:xfrm>
              <a:off x="8476228" y="4487262"/>
              <a:ext cx="308113" cy="461665"/>
            </a:xfrm>
            <a:prstGeom prst="rect">
              <a:avLst/>
            </a:prstGeom>
            <a:noFill/>
          </p:spPr>
          <p:txBody>
            <a:bodyPr wrap="square" rtlCol="0">
              <a:spAutoFit/>
            </a:bodyPr>
            <a:lstStyle/>
            <a:p>
              <a:r>
                <a:rPr kumimoji="1" lang="en-US" altLang="zh-TW" sz="2400" dirty="0">
                  <a:solidFill>
                    <a:srgbClr val="FF0000"/>
                  </a:solidFill>
                </a:rPr>
                <a:t>v</a:t>
              </a:r>
              <a:endParaRPr kumimoji="1" lang="zh-TW" altLang="en-US" sz="2400" dirty="0">
                <a:solidFill>
                  <a:srgbClr val="FF0000"/>
                </a:solidFill>
              </a:endParaRPr>
            </a:p>
          </p:txBody>
        </p:sp>
        <p:sp>
          <p:nvSpPr>
            <p:cNvPr id="22" name="文字方塊 21">
              <a:extLst>
                <a:ext uri="{FF2B5EF4-FFF2-40B4-BE49-F238E27FC236}">
                  <a16:creationId xmlns:a16="http://schemas.microsoft.com/office/drawing/2014/main" id="{06665D19-0610-4443-A6EE-358361C998BA}"/>
                </a:ext>
              </a:extLst>
            </p:cNvPr>
            <p:cNvSpPr txBox="1"/>
            <p:nvPr/>
          </p:nvSpPr>
          <p:spPr>
            <a:xfrm>
              <a:off x="3672509" y="6315594"/>
              <a:ext cx="755374" cy="369332"/>
            </a:xfrm>
            <a:prstGeom prst="rect">
              <a:avLst/>
            </a:prstGeom>
            <a:noFill/>
          </p:spPr>
          <p:txBody>
            <a:bodyPr wrap="square" rtlCol="0">
              <a:spAutoFit/>
            </a:bodyPr>
            <a:lstStyle/>
            <a:p>
              <a:pPr algn="ctr"/>
              <a:r>
                <a:rPr kumimoji="1" lang="en-US" altLang="zh-TW" dirty="0">
                  <a:latin typeface="Times New Roman" panose="02020603050405020304" pitchFamily="18" charset="0"/>
                  <a:cs typeface="Times New Roman" panose="02020603050405020304" pitchFamily="18" charset="0"/>
                </a:rPr>
                <a:t>image</a:t>
              </a:r>
              <a:endParaRPr kumimoji="1" lang="zh-TW" altLang="en-US" dirty="0">
                <a:latin typeface="Times New Roman" panose="02020603050405020304" pitchFamily="18" charset="0"/>
                <a:cs typeface="Times New Roman" panose="02020603050405020304" pitchFamily="18" charset="0"/>
              </a:endParaRPr>
            </a:p>
          </p:txBody>
        </p:sp>
        <p:sp>
          <p:nvSpPr>
            <p:cNvPr id="23" name="文字方塊 22">
              <a:extLst>
                <a:ext uri="{FF2B5EF4-FFF2-40B4-BE49-F238E27FC236}">
                  <a16:creationId xmlns:a16="http://schemas.microsoft.com/office/drawing/2014/main" id="{1C6605B2-7809-A74A-8A77-78E1951C9119}"/>
                </a:ext>
              </a:extLst>
            </p:cNvPr>
            <p:cNvSpPr txBox="1"/>
            <p:nvPr/>
          </p:nvSpPr>
          <p:spPr>
            <a:xfrm>
              <a:off x="6157449" y="6315594"/>
              <a:ext cx="2535279" cy="646331"/>
            </a:xfrm>
            <a:prstGeom prst="rect">
              <a:avLst/>
            </a:prstGeom>
            <a:noFill/>
          </p:spPr>
          <p:txBody>
            <a:bodyPr wrap="square" rtlCol="0">
              <a:spAutoFit/>
            </a:bodyPr>
            <a:lstStyle/>
            <a:p>
              <a:pPr algn="ctr"/>
              <a:r>
                <a:rPr kumimoji="1" lang="en-US" altLang="zh-TW" dirty="0">
                  <a:latin typeface="Times New Roman" panose="02020603050405020304" pitchFamily="18" charset="0"/>
                  <a:cs typeface="Times New Roman" panose="02020603050405020304" pitchFamily="18" charset="0"/>
                </a:rPr>
                <a:t>frequency magnitude</a:t>
              </a:r>
            </a:p>
            <a:p>
              <a:pPr algn="ctr"/>
              <a:r>
                <a:rPr kumimoji="1" lang="en-US" altLang="zh-TW" dirty="0">
                  <a:latin typeface="Times New Roman" panose="02020603050405020304" pitchFamily="18" charset="0"/>
                  <a:cs typeface="Times New Roman" panose="02020603050405020304" pitchFamily="18" charset="0"/>
                </a:rPr>
                <a:t>(after log transformation)</a:t>
              </a:r>
              <a:endParaRPr kumimoji="1" lang="zh-TW" altLang="en-US" dirty="0">
                <a:latin typeface="Times New Roman" panose="02020603050405020304" pitchFamily="18" charset="0"/>
                <a:cs typeface="Times New Roman" panose="02020603050405020304" pitchFamily="18" charset="0"/>
              </a:endParaRPr>
            </a:p>
          </p:txBody>
        </p:sp>
      </p:grpSp>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Fourier Transform</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N: the height of image	M: the width of image</a:t>
            </a:r>
          </a:p>
          <a:p>
            <a:r>
              <a:rPr kumimoji="1" lang="en-US" altLang="zh-TW" dirty="0">
                <a:latin typeface="Times New Roman" panose="02020603050405020304" pitchFamily="18" charset="0"/>
                <a:cs typeface="Times New Roman" panose="02020603050405020304" pitchFamily="18" charset="0"/>
              </a:rPr>
              <a:t>f(x, y): the pixel at (x, y)</a:t>
            </a:r>
          </a:p>
          <a:p>
            <a:r>
              <a:rPr kumimoji="1" lang="en-US" altLang="zh-TW" dirty="0">
                <a:latin typeface="Times New Roman" panose="02020603050405020304" pitchFamily="18" charset="0"/>
                <a:cs typeface="Times New Roman" panose="02020603050405020304" pitchFamily="18" charset="0"/>
              </a:rPr>
              <a:t>F(u, v): the frequency of (u, v)</a:t>
            </a:r>
          </a:p>
          <a:p>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5</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6" name="文字方塊 5">
                <a:extLst>
                  <a:ext uri="{FF2B5EF4-FFF2-40B4-BE49-F238E27FC236}">
                    <a16:creationId xmlns:a16="http://schemas.microsoft.com/office/drawing/2014/main" id="{112D9D2A-CE6A-EA44-8A4C-F3C44A9A8B15}"/>
                  </a:ext>
                </a:extLst>
              </p:cNvPr>
              <p:cNvSpPr txBox="1"/>
              <p:nvPr/>
            </p:nvSpPr>
            <p:spPr>
              <a:xfrm>
                <a:off x="5846717" y="508500"/>
                <a:ext cx="5989396" cy="107971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kumimoji="1" lang="en-US" altLang="zh-TW" sz="2400" b="0" i="1" smtClean="0">
                          <a:latin typeface="Cambria Math" panose="02040503050406030204" pitchFamily="18" charset="0"/>
                        </a:rPr>
                        <m:t>𝐹</m:t>
                      </m:r>
                      <m:d>
                        <m:dPr>
                          <m:ctrlPr>
                            <a:rPr kumimoji="1" lang="en-US" altLang="zh-TW" sz="2400" b="0" i="1" smtClean="0">
                              <a:latin typeface="Cambria Math" panose="02040503050406030204" pitchFamily="18" charset="0"/>
                            </a:rPr>
                          </m:ctrlPr>
                        </m:dPr>
                        <m:e>
                          <m:r>
                            <a:rPr kumimoji="1" lang="en-US" altLang="zh-TW" sz="2400" b="0" i="1" smtClean="0">
                              <a:latin typeface="Cambria Math" panose="02040503050406030204" pitchFamily="18" charset="0"/>
                            </a:rPr>
                            <m:t>𝑢</m:t>
                          </m:r>
                          <m:r>
                            <a:rPr kumimoji="1" lang="en-US" altLang="zh-TW" sz="2400" b="0" i="1" smtClean="0">
                              <a:latin typeface="Cambria Math" panose="02040503050406030204" pitchFamily="18" charset="0"/>
                            </a:rPr>
                            <m:t>, </m:t>
                          </m:r>
                          <m:r>
                            <a:rPr kumimoji="1" lang="en-US" altLang="zh-TW" sz="2400" b="0" i="1" smtClean="0">
                              <a:latin typeface="Cambria Math" panose="02040503050406030204" pitchFamily="18" charset="0"/>
                            </a:rPr>
                            <m:t>𝑣</m:t>
                          </m:r>
                        </m:e>
                      </m:d>
                      <m:r>
                        <a:rPr kumimoji="1" lang="en-US" altLang="zh-TW" sz="2400" b="0" i="1" smtClean="0">
                          <a:latin typeface="Cambria Math" panose="02040503050406030204" pitchFamily="18" charset="0"/>
                        </a:rPr>
                        <m:t>= </m:t>
                      </m:r>
                      <m:f>
                        <m:fPr>
                          <m:ctrlPr>
                            <a:rPr kumimoji="1" lang="en-US" altLang="zh-TW" sz="2400" b="0" i="1" smtClean="0">
                              <a:latin typeface="Cambria Math" panose="02040503050406030204" pitchFamily="18" charset="0"/>
                            </a:rPr>
                          </m:ctrlPr>
                        </m:fPr>
                        <m:num>
                          <m:r>
                            <a:rPr kumimoji="1" lang="en-US" altLang="zh-TW" sz="2400" b="0" i="1" smtClean="0">
                              <a:latin typeface="Cambria Math" panose="02040503050406030204" pitchFamily="18" charset="0"/>
                            </a:rPr>
                            <m:t>1</m:t>
                          </m:r>
                        </m:num>
                        <m:den>
                          <m:r>
                            <a:rPr kumimoji="1" lang="en-US" altLang="zh-TW" sz="2400" b="0" i="1" smtClean="0">
                              <a:latin typeface="Cambria Math" panose="02040503050406030204" pitchFamily="18" charset="0"/>
                            </a:rPr>
                            <m:t>𝑁</m:t>
                          </m:r>
                          <m:r>
                            <a:rPr kumimoji="1" lang="en-US" altLang="zh-TW" sz="2400" b="0" i="1" smtClean="0">
                              <a:latin typeface="Cambria Math" panose="02040503050406030204" pitchFamily="18" charset="0"/>
                            </a:rPr>
                            <m:t>∗</m:t>
                          </m:r>
                          <m:r>
                            <a:rPr kumimoji="1" lang="en-US" altLang="zh-TW" sz="2400" b="0" i="1" smtClean="0">
                              <a:latin typeface="Cambria Math" panose="02040503050406030204" pitchFamily="18" charset="0"/>
                            </a:rPr>
                            <m:t>𝑀</m:t>
                          </m:r>
                        </m:den>
                      </m:f>
                      <m:nary>
                        <m:naryPr>
                          <m:chr m:val="∑"/>
                          <m:ctrlPr>
                            <a:rPr kumimoji="1" lang="en-US" altLang="zh-TW" sz="2400" b="0" i="1" smtClean="0">
                              <a:latin typeface="Cambria Math" panose="02040503050406030204" pitchFamily="18" charset="0"/>
                            </a:rPr>
                          </m:ctrlPr>
                        </m:naryPr>
                        <m:sub>
                          <m:r>
                            <m:rPr>
                              <m:brk m:alnAt="23"/>
                            </m:rPr>
                            <a:rPr kumimoji="1" lang="en-US" altLang="zh-TW" sz="2400" b="0" i="1" smtClean="0">
                              <a:latin typeface="Cambria Math" panose="02040503050406030204" pitchFamily="18" charset="0"/>
                            </a:rPr>
                            <m:t>𝑥</m:t>
                          </m:r>
                          <m:r>
                            <a:rPr kumimoji="1" lang="en-US" altLang="zh-TW" sz="2400" b="0" i="1" smtClean="0">
                              <a:latin typeface="Cambria Math" panose="02040503050406030204" pitchFamily="18" charset="0"/>
                            </a:rPr>
                            <m:t>=0</m:t>
                          </m:r>
                        </m:sub>
                        <m:sup>
                          <m:r>
                            <a:rPr kumimoji="1" lang="en-US" altLang="zh-TW" sz="2400" b="0" i="1" smtClean="0">
                              <a:latin typeface="Cambria Math" panose="02040503050406030204" pitchFamily="18" charset="0"/>
                            </a:rPr>
                            <m:t>𝑁</m:t>
                          </m:r>
                          <m:r>
                            <a:rPr kumimoji="1" lang="en-US" altLang="zh-TW" sz="2400" b="0" i="1" smtClean="0">
                              <a:latin typeface="Cambria Math" panose="02040503050406030204" pitchFamily="18" charset="0"/>
                            </a:rPr>
                            <m:t>−1</m:t>
                          </m:r>
                        </m:sup>
                        <m:e>
                          <m:nary>
                            <m:naryPr>
                              <m:chr m:val="∑"/>
                              <m:ctrlPr>
                                <a:rPr kumimoji="1" lang="en-US" altLang="zh-TW" sz="2400" b="0" i="1" smtClean="0">
                                  <a:latin typeface="Cambria Math" panose="02040503050406030204" pitchFamily="18" charset="0"/>
                                </a:rPr>
                              </m:ctrlPr>
                            </m:naryPr>
                            <m:sub>
                              <m:r>
                                <m:rPr>
                                  <m:brk m:alnAt="23"/>
                                </m:rPr>
                                <a:rPr kumimoji="1" lang="en-US" altLang="zh-TW" sz="2400" b="0" i="1" smtClean="0">
                                  <a:latin typeface="Cambria Math" panose="02040503050406030204" pitchFamily="18" charset="0"/>
                                </a:rPr>
                                <m:t>𝑦</m:t>
                              </m:r>
                              <m:r>
                                <a:rPr kumimoji="1" lang="en-US" altLang="zh-TW" sz="2400" b="0" i="1" smtClean="0">
                                  <a:latin typeface="Cambria Math" panose="02040503050406030204" pitchFamily="18" charset="0"/>
                                </a:rPr>
                                <m:t>=0</m:t>
                              </m:r>
                            </m:sub>
                            <m:sup>
                              <m:r>
                                <a:rPr kumimoji="1" lang="en-US" altLang="zh-TW" sz="2400" b="0" i="1" smtClean="0">
                                  <a:latin typeface="Cambria Math" panose="02040503050406030204" pitchFamily="18" charset="0"/>
                                </a:rPr>
                                <m:t>𝑀</m:t>
                              </m:r>
                              <m:r>
                                <a:rPr kumimoji="1" lang="en-US" altLang="zh-TW" sz="2400" b="0" i="1" smtClean="0">
                                  <a:latin typeface="Cambria Math" panose="02040503050406030204" pitchFamily="18" charset="0"/>
                                </a:rPr>
                                <m:t>−1</m:t>
                              </m:r>
                            </m:sup>
                            <m:e>
                              <m:r>
                                <a:rPr kumimoji="1" lang="en-US" altLang="zh-TW" sz="2400" b="0" i="1" smtClean="0">
                                  <a:latin typeface="Cambria Math" panose="02040503050406030204" pitchFamily="18" charset="0"/>
                                </a:rPr>
                                <m:t>𝑓</m:t>
                              </m:r>
                              <m:r>
                                <a:rPr kumimoji="1" lang="en-US" altLang="zh-TW" sz="2400" b="0" i="1" smtClean="0">
                                  <a:latin typeface="Cambria Math" panose="02040503050406030204" pitchFamily="18" charset="0"/>
                                </a:rPr>
                                <m:t>(</m:t>
                              </m:r>
                              <m:r>
                                <a:rPr kumimoji="1" lang="en-US" altLang="zh-TW" sz="2400" b="0" i="1" smtClean="0">
                                  <a:latin typeface="Cambria Math" panose="02040503050406030204" pitchFamily="18" charset="0"/>
                                </a:rPr>
                                <m:t>𝑥</m:t>
                              </m:r>
                              <m:r>
                                <a:rPr kumimoji="1" lang="en-US" altLang="zh-TW" sz="2400" b="0" i="1" smtClean="0">
                                  <a:latin typeface="Cambria Math" panose="02040503050406030204" pitchFamily="18" charset="0"/>
                                </a:rPr>
                                <m:t>,</m:t>
                              </m:r>
                              <m:r>
                                <a:rPr kumimoji="1" lang="en-US" altLang="zh-TW" sz="2400" b="0" i="1" smtClean="0">
                                  <a:latin typeface="Cambria Math" panose="02040503050406030204" pitchFamily="18" charset="0"/>
                                </a:rPr>
                                <m:t>𝑦</m:t>
                              </m:r>
                              <m:r>
                                <a:rPr kumimoji="1" lang="en-US" altLang="zh-TW" sz="2400" b="0" i="1" smtClean="0">
                                  <a:latin typeface="Cambria Math" panose="02040503050406030204" pitchFamily="18" charset="0"/>
                                </a:rPr>
                                <m:t>)</m:t>
                              </m:r>
                              <m:sSup>
                                <m:sSupPr>
                                  <m:ctrlPr>
                                    <a:rPr kumimoji="1" lang="en-US" altLang="zh-TW" sz="2400" b="0" i="1" smtClean="0">
                                      <a:latin typeface="Cambria Math" panose="02040503050406030204" pitchFamily="18" charset="0"/>
                                    </a:rPr>
                                  </m:ctrlPr>
                                </m:sSupPr>
                                <m:e>
                                  <m:r>
                                    <a:rPr kumimoji="1" lang="en-US" altLang="zh-TW" sz="2400" b="0" i="1" smtClean="0">
                                      <a:latin typeface="Cambria Math" panose="02040503050406030204" pitchFamily="18" charset="0"/>
                                    </a:rPr>
                                    <m:t>𝑒</m:t>
                                  </m:r>
                                </m:e>
                                <m:sup>
                                  <m:r>
                                    <a:rPr kumimoji="1" lang="en-US" altLang="zh-TW" sz="2400" b="0" i="1" smtClean="0">
                                      <a:latin typeface="Cambria Math" panose="02040503050406030204" pitchFamily="18" charset="0"/>
                                    </a:rPr>
                                    <m:t>−2</m:t>
                                  </m:r>
                                  <m:r>
                                    <a:rPr kumimoji="1" lang="en-US" altLang="zh-TW" sz="2400" b="0" i="1" smtClean="0">
                                      <a:latin typeface="Cambria Math" panose="02040503050406030204" pitchFamily="18" charset="0"/>
                                      <a:ea typeface="Cambria Math" panose="02040503050406030204" pitchFamily="18" charset="0"/>
                                    </a:rPr>
                                    <m:t>𝜋</m:t>
                                  </m:r>
                                  <m:r>
                                    <a:rPr kumimoji="1" lang="en-US" altLang="zh-TW" sz="2400" b="0" i="1" smtClean="0">
                                      <a:latin typeface="Cambria Math" panose="02040503050406030204" pitchFamily="18" charset="0"/>
                                      <a:ea typeface="Cambria Math" panose="02040503050406030204" pitchFamily="18" charset="0"/>
                                    </a:rPr>
                                    <m:t>𝑖</m:t>
                                  </m:r>
                                  <m:r>
                                    <a:rPr kumimoji="1" lang="en-US" altLang="zh-TW" sz="2400" b="0" i="1" smtClean="0">
                                      <a:latin typeface="Cambria Math" panose="02040503050406030204" pitchFamily="18" charset="0"/>
                                      <a:ea typeface="Cambria Math" panose="02040503050406030204" pitchFamily="18" charset="0"/>
                                    </a:rPr>
                                    <m:t>(</m:t>
                                  </m:r>
                                  <m:f>
                                    <m:fPr>
                                      <m:ctrlPr>
                                        <a:rPr kumimoji="1" lang="en-US" altLang="zh-TW" sz="2400" b="0" i="1" smtClean="0">
                                          <a:latin typeface="Cambria Math" panose="02040503050406030204" pitchFamily="18" charset="0"/>
                                          <a:ea typeface="Cambria Math" panose="02040503050406030204" pitchFamily="18" charset="0"/>
                                        </a:rPr>
                                      </m:ctrlPr>
                                    </m:fPr>
                                    <m:num>
                                      <m:r>
                                        <a:rPr kumimoji="1" lang="en-US" altLang="zh-TW" sz="2400" b="0" i="1" smtClean="0">
                                          <a:latin typeface="Cambria Math" panose="02040503050406030204" pitchFamily="18" charset="0"/>
                                          <a:ea typeface="Cambria Math" panose="02040503050406030204" pitchFamily="18" charset="0"/>
                                        </a:rPr>
                                        <m:t>𝑢𝑥</m:t>
                                      </m:r>
                                    </m:num>
                                    <m:den>
                                      <m:r>
                                        <a:rPr kumimoji="1" lang="en-US" altLang="zh-TW" sz="2400" b="0" i="1" smtClean="0">
                                          <a:latin typeface="Cambria Math" panose="02040503050406030204" pitchFamily="18" charset="0"/>
                                          <a:ea typeface="Cambria Math" panose="02040503050406030204" pitchFamily="18" charset="0"/>
                                        </a:rPr>
                                        <m:t>𝑁</m:t>
                                      </m:r>
                                    </m:den>
                                  </m:f>
                                  <m:r>
                                    <a:rPr kumimoji="1" lang="en-US" altLang="zh-TW" sz="2400" b="0" i="1" smtClean="0">
                                      <a:latin typeface="Cambria Math" panose="02040503050406030204" pitchFamily="18" charset="0"/>
                                      <a:ea typeface="Cambria Math" panose="02040503050406030204" pitchFamily="18" charset="0"/>
                                    </a:rPr>
                                    <m:t> + </m:t>
                                  </m:r>
                                  <m:f>
                                    <m:fPr>
                                      <m:ctrlPr>
                                        <a:rPr kumimoji="1" lang="en-US" altLang="zh-TW" sz="2400" b="0" i="1" smtClean="0">
                                          <a:latin typeface="Cambria Math" panose="02040503050406030204" pitchFamily="18" charset="0"/>
                                          <a:ea typeface="Cambria Math" panose="02040503050406030204" pitchFamily="18" charset="0"/>
                                        </a:rPr>
                                      </m:ctrlPr>
                                    </m:fPr>
                                    <m:num>
                                      <m:r>
                                        <a:rPr kumimoji="1" lang="en-US" altLang="zh-TW" sz="2400" b="0" i="1" smtClean="0">
                                          <a:latin typeface="Cambria Math" panose="02040503050406030204" pitchFamily="18" charset="0"/>
                                          <a:ea typeface="Cambria Math" panose="02040503050406030204" pitchFamily="18" charset="0"/>
                                        </a:rPr>
                                        <m:t>𝑣𝑦</m:t>
                                      </m:r>
                                    </m:num>
                                    <m:den>
                                      <m:r>
                                        <a:rPr kumimoji="1" lang="en-US" altLang="zh-TW" sz="2400" b="0" i="1" smtClean="0">
                                          <a:latin typeface="Cambria Math" panose="02040503050406030204" pitchFamily="18" charset="0"/>
                                          <a:ea typeface="Cambria Math" panose="02040503050406030204" pitchFamily="18" charset="0"/>
                                        </a:rPr>
                                        <m:t>𝑀</m:t>
                                      </m:r>
                                    </m:den>
                                  </m:f>
                                  <m:r>
                                    <a:rPr kumimoji="1" lang="en-US" altLang="zh-TW" sz="2400" b="0" i="1" smtClean="0">
                                      <a:latin typeface="Cambria Math" panose="02040503050406030204" pitchFamily="18" charset="0"/>
                                      <a:ea typeface="Cambria Math" panose="02040503050406030204" pitchFamily="18" charset="0"/>
                                    </a:rPr>
                                    <m:t>)</m:t>
                                  </m:r>
                                </m:sup>
                              </m:sSup>
                            </m:e>
                          </m:nary>
                        </m:e>
                      </m:nary>
                    </m:oMath>
                  </m:oMathPara>
                </a14:m>
                <a:endParaRPr kumimoji="1" lang="zh-TW" altLang="en-US" sz="2400" dirty="0"/>
              </a:p>
            </p:txBody>
          </p:sp>
        </mc:Choice>
        <mc:Fallback>
          <p:sp>
            <p:nvSpPr>
              <p:cNvPr id="6" name="文字方塊 5">
                <a:extLst>
                  <a:ext uri="{FF2B5EF4-FFF2-40B4-BE49-F238E27FC236}">
                    <a16:creationId xmlns:a16="http://schemas.microsoft.com/office/drawing/2014/main" id="{112D9D2A-CE6A-EA44-8A4C-F3C44A9A8B15}"/>
                  </a:ext>
                </a:extLst>
              </p:cNvPr>
              <p:cNvSpPr txBox="1">
                <a:spLocks noRot="1" noChangeAspect="1" noMove="1" noResize="1" noEditPoints="1" noAdjustHandles="1" noChangeArrowheads="1" noChangeShapeType="1" noTextEdit="1"/>
              </p:cNvSpPr>
              <p:nvPr/>
            </p:nvSpPr>
            <p:spPr>
              <a:xfrm>
                <a:off x="5846717" y="508500"/>
                <a:ext cx="5989396" cy="1079719"/>
              </a:xfrm>
              <a:prstGeom prst="rect">
                <a:avLst/>
              </a:prstGeom>
              <a:blipFill>
                <a:blip r:embed="rId3"/>
                <a:stretch>
                  <a:fillRect l="-634" t="-109302" r="-423" b="-165116"/>
                </a:stretch>
              </a:blipFill>
            </p:spPr>
            <p:txBody>
              <a:bodyPr/>
              <a:lstStyle/>
              <a:p>
                <a:r>
                  <a:rPr lang="zh-TW" altLang="en-US">
                    <a:noFill/>
                  </a:rPr>
                  <a:t> </a:t>
                </a:r>
              </a:p>
            </p:txBody>
          </p:sp>
        </mc:Fallback>
      </mc:AlternateContent>
      <p:sp>
        <p:nvSpPr>
          <p:cNvPr id="7" name="文字方塊 6">
            <a:extLst>
              <a:ext uri="{FF2B5EF4-FFF2-40B4-BE49-F238E27FC236}">
                <a16:creationId xmlns:a16="http://schemas.microsoft.com/office/drawing/2014/main" id="{6F5A2485-4E3E-F54B-8945-DFC2563ACF3A}"/>
              </a:ext>
            </a:extLst>
          </p:cNvPr>
          <p:cNvSpPr txBox="1"/>
          <p:nvPr/>
        </p:nvSpPr>
        <p:spPr>
          <a:xfrm>
            <a:off x="41439" y="6361629"/>
            <a:ext cx="3091069" cy="461665"/>
          </a:xfrm>
          <a:prstGeom prst="rect">
            <a:avLst/>
          </a:prstGeom>
          <a:noFill/>
        </p:spPr>
        <p:txBody>
          <a:bodyPr wrap="square" rtlCol="0">
            <a:spAutoFit/>
          </a:bodyPr>
          <a:lstStyle/>
          <a:p>
            <a:r>
              <a:rPr kumimoji="1" lang="en-US" altLang="zh-TW" sz="1200" dirty="0">
                <a:latin typeface="Times New Roman" panose="02020603050405020304" pitchFamily="18" charset="0"/>
                <a:cs typeface="Times New Roman" panose="02020603050405020304" pitchFamily="18" charset="0"/>
              </a:rPr>
              <a:t>photo credit: https://</a:t>
            </a:r>
            <a:r>
              <a:rPr kumimoji="1" lang="en-US" altLang="zh-TW" sz="1200" dirty="0" err="1">
                <a:latin typeface="Times New Roman" panose="02020603050405020304" pitchFamily="18" charset="0"/>
                <a:cs typeface="Times New Roman" panose="02020603050405020304" pitchFamily="18" charset="0"/>
              </a:rPr>
              <a:t>ithelp.ithome.com.tw</a:t>
            </a:r>
            <a:r>
              <a:rPr kumimoji="1" lang="en-US" altLang="zh-TW" sz="1200" dirty="0">
                <a:latin typeface="Times New Roman" panose="02020603050405020304" pitchFamily="18" charset="0"/>
                <a:cs typeface="Times New Roman" panose="02020603050405020304" pitchFamily="18" charset="0"/>
              </a:rPr>
              <a:t>/articles/10329091</a:t>
            </a:r>
            <a:endParaRPr kumimoji="1" lang="zh-TW" alt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092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Fourier Convolution Neural Network</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487619" y="1839656"/>
            <a:ext cx="11261035" cy="5032375"/>
          </a:xfrm>
        </p:spPr>
        <p:txBody>
          <a:bodyPr>
            <a:normAutofit/>
          </a:bodyPr>
          <a:lstStyle/>
          <a:p>
            <a:r>
              <a:rPr kumimoji="1" lang="en-US" altLang="zh-TW" dirty="0">
                <a:latin typeface="Times New Roman" panose="02020603050405020304" pitchFamily="18" charset="0"/>
                <a:cs typeface="Times New Roman" panose="02020603050405020304" pitchFamily="18" charset="0"/>
              </a:rPr>
              <a:t>Two dimensional discrete Fourier transform</a:t>
            </a: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Algorithm</a:t>
            </a: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Kernels and images are converted to Fourier domain using FFT.</a:t>
            </a:r>
          </a:p>
          <a:p>
            <a:r>
              <a:rPr kumimoji="1" lang="en-US" altLang="zh-TW" dirty="0">
                <a:latin typeface="Times New Roman" panose="02020603050405020304" pitchFamily="18" charset="0"/>
                <a:cs typeface="Times New Roman" panose="02020603050405020304" pitchFamily="18" charset="0"/>
              </a:rPr>
              <a:t>No inverse FFT is needed. Training processes are worked in Fourier domain.</a:t>
            </a:r>
          </a:p>
          <a:p>
            <a:r>
              <a:rPr kumimoji="1" lang="en-US" altLang="zh-TW" dirty="0">
                <a:latin typeface="Times New Roman" panose="02020603050405020304" pitchFamily="18" charset="0"/>
                <a:cs typeface="Times New Roman" panose="02020603050405020304" pitchFamily="18" charset="0"/>
              </a:rPr>
              <a:t>Total multiplication and addition operations are reduced, and FCNN can train faster with large image.</a:t>
            </a: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6</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DEF1840B-DD85-9643-A213-82F1964AE2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619" y="2253267"/>
            <a:ext cx="4114800" cy="647700"/>
          </a:xfrm>
          <a:prstGeom prst="rect">
            <a:avLst/>
          </a:prstGeom>
        </p:spPr>
      </p:pic>
      <p:sp>
        <p:nvSpPr>
          <p:cNvPr id="9" name="文字方塊 8">
            <a:extLst>
              <a:ext uri="{FF2B5EF4-FFF2-40B4-BE49-F238E27FC236}">
                <a16:creationId xmlns:a16="http://schemas.microsoft.com/office/drawing/2014/main" id="{A353B279-FD5C-2B48-B7BE-3031D40523A4}"/>
              </a:ext>
            </a:extLst>
          </p:cNvPr>
          <p:cNvSpPr txBox="1"/>
          <p:nvPr/>
        </p:nvSpPr>
        <p:spPr>
          <a:xfrm>
            <a:off x="5202081" y="2392451"/>
            <a:ext cx="6546573" cy="646331"/>
          </a:xfrm>
          <a:prstGeom prst="rect">
            <a:avLst/>
          </a:prstGeom>
          <a:noFill/>
        </p:spPr>
        <p:txBody>
          <a:bodyPr wrap="square" rtlCol="0">
            <a:spAutoFit/>
          </a:bodyPr>
          <a:lstStyle/>
          <a:p>
            <a:r>
              <a:rPr kumimoji="1" lang="en-US" altLang="zh-TW" dirty="0">
                <a:latin typeface="Times New Roman" panose="02020603050405020304" pitchFamily="18" charset="0"/>
                <a:cs typeface="Times New Roman" panose="02020603050405020304" pitchFamily="18" charset="0"/>
              </a:rPr>
              <a:t>k: kernel, u: image, *: convolution, </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 Hadamard Pointwise Product</a:t>
            </a:r>
          </a:p>
          <a:p>
            <a:r>
              <a:rPr lang="en-US" altLang="zh-TW" dirty="0">
                <a:latin typeface="Times New Roman" panose="02020603050405020304" pitchFamily="18" charset="0"/>
                <a:cs typeface="Times New Roman" panose="02020603050405020304" pitchFamily="18" charset="0"/>
              </a:rPr>
              <a:t>~: the parameter in Fourier domain, </a:t>
            </a:r>
            <a:r>
              <a:rPr lang="en-US" altLang="zh-TW" dirty="0" err="1">
                <a:latin typeface="Times New Roman" panose="02020603050405020304" pitchFamily="18" charset="0"/>
                <a:cs typeface="Times New Roman" panose="02020603050405020304" pitchFamily="18" charset="0"/>
              </a:rPr>
              <a:t>N</a:t>
            </a:r>
            <a:r>
              <a:rPr lang="en-US" altLang="zh-TW" baseline="30000" dirty="0" err="1">
                <a:latin typeface="Times New Roman" panose="02020603050405020304" pitchFamily="18" charset="0"/>
                <a:cs typeface="Times New Roman" panose="02020603050405020304" pitchFamily="18" charset="0"/>
              </a:rPr>
              <a:t>k</a:t>
            </a:r>
            <a:r>
              <a:rPr lang="en-US" altLang="zh-TW" dirty="0">
                <a:latin typeface="Times New Roman" panose="02020603050405020304" pitchFamily="18" charset="0"/>
                <a:cs typeface="Times New Roman" panose="02020603050405020304" pitchFamily="18" charset="0"/>
              </a:rPr>
              <a:t>: # of kernel, N</a:t>
            </a:r>
            <a:r>
              <a:rPr lang="en-US" altLang="zh-TW" baseline="30000" dirty="0">
                <a:latin typeface="Times New Roman" panose="02020603050405020304" pitchFamily="18" charset="0"/>
                <a:cs typeface="Times New Roman" panose="02020603050405020304" pitchFamily="18" charset="0"/>
              </a:rPr>
              <a:t>u</a:t>
            </a:r>
            <a:r>
              <a:rPr lang="en-US" altLang="zh-TW" dirty="0">
                <a:latin typeface="Times New Roman" panose="02020603050405020304" pitchFamily="18" charset="0"/>
                <a:cs typeface="Times New Roman" panose="02020603050405020304" pitchFamily="18" charset="0"/>
              </a:rPr>
              <a:t>: # of image</a:t>
            </a:r>
          </a:p>
        </p:txBody>
      </p:sp>
      <p:grpSp>
        <p:nvGrpSpPr>
          <p:cNvPr id="12" name="群組 11">
            <a:extLst>
              <a:ext uri="{FF2B5EF4-FFF2-40B4-BE49-F238E27FC236}">
                <a16:creationId xmlns:a16="http://schemas.microsoft.com/office/drawing/2014/main" id="{988057F8-AE42-2840-9539-2E3852A25B7D}"/>
              </a:ext>
            </a:extLst>
          </p:cNvPr>
          <p:cNvGrpSpPr/>
          <p:nvPr/>
        </p:nvGrpSpPr>
        <p:grpSpPr>
          <a:xfrm>
            <a:off x="487619" y="3267209"/>
            <a:ext cx="6256130" cy="1534336"/>
            <a:chOff x="838200" y="2669660"/>
            <a:chExt cx="6256130" cy="1534336"/>
          </a:xfrm>
        </p:grpSpPr>
        <p:pic>
          <p:nvPicPr>
            <p:cNvPr id="8" name="圖片 7">
              <a:extLst>
                <a:ext uri="{FF2B5EF4-FFF2-40B4-BE49-F238E27FC236}">
                  <a16:creationId xmlns:a16="http://schemas.microsoft.com/office/drawing/2014/main" id="{A595959A-D2D4-F14C-8D0B-A6FDEBF6D9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669660"/>
              <a:ext cx="6256130" cy="1534336"/>
            </a:xfrm>
            <a:prstGeom prst="rect">
              <a:avLst/>
            </a:prstGeom>
          </p:spPr>
        </p:pic>
        <p:pic>
          <p:nvPicPr>
            <p:cNvPr id="11" name="圖片 10">
              <a:extLst>
                <a:ext uri="{FF2B5EF4-FFF2-40B4-BE49-F238E27FC236}">
                  <a16:creationId xmlns:a16="http://schemas.microsoft.com/office/drawing/2014/main" id="{2C9CC2A6-65FB-7A4A-AAA7-53F878FB48A8}"/>
                </a:ext>
              </a:extLst>
            </p:cNvPr>
            <p:cNvPicPr>
              <a:picLocks noChangeAspect="1"/>
            </p:cNvPicPr>
            <p:nvPr/>
          </p:nvPicPr>
          <p:blipFill rotWithShape="1">
            <a:blip r:embed="rId3">
              <a:extLst>
                <a:ext uri="{28A0092B-C50C-407E-A947-70E740481C1C}">
                  <a14:useLocalDpi xmlns:a14="http://schemas.microsoft.com/office/drawing/2010/main" val="0"/>
                </a:ext>
              </a:extLst>
            </a:blip>
            <a:srcRect l="52321" r="42913" b="75704"/>
            <a:stretch/>
          </p:blipFill>
          <p:spPr>
            <a:xfrm>
              <a:off x="6152321" y="3378760"/>
              <a:ext cx="298175" cy="372773"/>
            </a:xfrm>
            <a:prstGeom prst="rect">
              <a:avLst/>
            </a:prstGeom>
          </p:spPr>
        </p:pic>
      </p:grpSp>
      <p:pic>
        <p:nvPicPr>
          <p:cNvPr id="13" name="圖片 12">
            <a:extLst>
              <a:ext uri="{FF2B5EF4-FFF2-40B4-BE49-F238E27FC236}">
                <a16:creationId xmlns:a16="http://schemas.microsoft.com/office/drawing/2014/main" id="{759C180D-7EF8-F04F-B1D9-433AB23E34F3}"/>
              </a:ext>
            </a:extLst>
          </p:cNvPr>
          <p:cNvPicPr>
            <a:picLocks noChangeAspect="1"/>
          </p:cNvPicPr>
          <p:nvPr/>
        </p:nvPicPr>
        <p:blipFill rotWithShape="1">
          <a:blip r:embed="rId2">
            <a:extLst>
              <a:ext uri="{28A0092B-C50C-407E-A947-70E740481C1C}">
                <a14:useLocalDpi xmlns:a14="http://schemas.microsoft.com/office/drawing/2010/main" val="0"/>
              </a:ext>
            </a:extLst>
          </a:blip>
          <a:srcRect l="2763" t="9333" r="88783" b="26622"/>
          <a:stretch/>
        </p:blipFill>
        <p:spPr>
          <a:xfrm>
            <a:off x="7205870" y="1828663"/>
            <a:ext cx="347870" cy="414819"/>
          </a:xfrm>
          <a:prstGeom prst="rect">
            <a:avLst/>
          </a:prstGeom>
        </p:spPr>
      </p:pic>
    </p:spTree>
    <p:extLst>
      <p:ext uri="{BB962C8B-B14F-4D97-AF65-F5344CB8AC3E}">
        <p14:creationId xmlns:p14="http://schemas.microsoft.com/office/powerpoint/2010/main" val="1642702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Dataset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MNIST</a:t>
            </a:r>
          </a:p>
          <a:p>
            <a:pPr lvl="1"/>
            <a:r>
              <a:rPr kumimoji="1" lang="en-US" altLang="zh-TW" dirty="0">
                <a:latin typeface="Times New Roman" panose="02020603050405020304" pitchFamily="18" charset="0"/>
                <a:cs typeface="Times New Roman" panose="02020603050405020304" pitchFamily="18" charset="0"/>
              </a:rPr>
              <a:t>hand written numbers</a:t>
            </a:r>
          </a:p>
          <a:p>
            <a:pPr lvl="1"/>
            <a:r>
              <a:rPr kumimoji="1" lang="en-US" altLang="zh-TW" dirty="0">
                <a:latin typeface="Times New Roman" panose="02020603050405020304" pitchFamily="18" charset="0"/>
                <a:cs typeface="Times New Roman" panose="02020603050405020304" pitchFamily="18" charset="0"/>
              </a:rPr>
              <a:t>28x28 pixel, grayscale image</a:t>
            </a:r>
          </a:p>
          <a:p>
            <a:r>
              <a:rPr kumimoji="1" lang="en-US" altLang="zh-TW" dirty="0">
                <a:latin typeface="Times New Roman" panose="02020603050405020304" pitchFamily="18" charset="0"/>
                <a:cs typeface="Times New Roman" panose="02020603050405020304" pitchFamily="18" charset="0"/>
              </a:rPr>
              <a:t>Cifar10</a:t>
            </a:r>
          </a:p>
          <a:p>
            <a:pPr lvl="1"/>
            <a:r>
              <a:rPr kumimoji="1" lang="en-US" altLang="zh-TW" dirty="0">
                <a:latin typeface="Times New Roman" panose="02020603050405020304" pitchFamily="18" charset="0"/>
                <a:cs typeface="Times New Roman" panose="02020603050405020304" pitchFamily="18" charset="0"/>
              </a:rPr>
              <a:t>10 different categories: airplane, automobile, bird, cat, deer, dog, frog, horse, ship, truck</a:t>
            </a:r>
          </a:p>
          <a:p>
            <a:pPr lvl="1"/>
            <a:r>
              <a:rPr kumimoji="1" lang="en-US" altLang="zh-TW" dirty="0">
                <a:latin typeface="Times New Roman" panose="02020603050405020304" pitchFamily="18" charset="0"/>
                <a:cs typeface="Times New Roman" panose="02020603050405020304" pitchFamily="18" charset="0"/>
              </a:rPr>
              <a:t>32x32 pixel, color image</a:t>
            </a:r>
          </a:p>
          <a:p>
            <a:r>
              <a:rPr kumimoji="1" lang="en-US" altLang="zh-TW" dirty="0">
                <a:latin typeface="Times New Roman" panose="02020603050405020304" pitchFamily="18" charset="0"/>
                <a:cs typeface="Times New Roman" panose="02020603050405020304" pitchFamily="18" charset="0"/>
              </a:rPr>
              <a:t>Kaggle fundus images</a:t>
            </a:r>
          </a:p>
          <a:p>
            <a:pPr lvl="1"/>
            <a:r>
              <a:rPr kumimoji="1" lang="en-US" altLang="zh-TW" dirty="0">
                <a:latin typeface="Times New Roman" panose="02020603050405020304" pitchFamily="18" charset="0"/>
                <a:cs typeface="Times New Roman" panose="02020603050405020304" pitchFamily="18" charset="0"/>
              </a:rPr>
              <a:t>eye fundus</a:t>
            </a:r>
          </a:p>
          <a:p>
            <a:pPr lvl="1"/>
            <a:r>
              <a:rPr kumimoji="1" lang="en-US" altLang="zh-TW" dirty="0">
                <a:latin typeface="Times New Roman" panose="02020603050405020304" pitchFamily="18" charset="0"/>
                <a:cs typeface="Times New Roman" panose="02020603050405020304" pitchFamily="18" charset="0"/>
              </a:rPr>
              <a:t>large (about 3,000,000 pixels per image), color image</a:t>
            </a:r>
          </a:p>
          <a:p>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7</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7441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8</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CD7D1B5A-A802-8F4D-B693-A76097ED0C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17288"/>
            <a:ext cx="12192000" cy="5223423"/>
          </a:xfrm>
          <a:prstGeom prst="rect">
            <a:avLst/>
          </a:prstGeom>
        </p:spPr>
      </p:pic>
    </p:spTree>
    <p:extLst>
      <p:ext uri="{BB962C8B-B14F-4D97-AF65-F5344CB8AC3E}">
        <p14:creationId xmlns:p14="http://schemas.microsoft.com/office/powerpoint/2010/main" val="30514007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9</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2FE5B883-C2B0-6A43-9775-AEC9088F46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65926"/>
            <a:ext cx="12192000" cy="6126148"/>
          </a:xfrm>
          <a:prstGeom prst="rect">
            <a:avLst/>
          </a:prstGeom>
        </p:spPr>
      </p:pic>
    </p:spTree>
    <p:extLst>
      <p:ext uri="{BB962C8B-B14F-4D97-AF65-F5344CB8AC3E}">
        <p14:creationId xmlns:p14="http://schemas.microsoft.com/office/powerpoint/2010/main" val="9213036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10</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6CD270C9-F29D-2C4F-8FF7-9B1ACED2BA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64381"/>
            <a:ext cx="12192000" cy="4729238"/>
          </a:xfrm>
          <a:prstGeom prst="rect">
            <a:avLst/>
          </a:prstGeom>
        </p:spPr>
      </p:pic>
    </p:spTree>
    <p:extLst>
      <p:ext uri="{BB962C8B-B14F-4D97-AF65-F5344CB8AC3E}">
        <p14:creationId xmlns:p14="http://schemas.microsoft.com/office/powerpoint/2010/main" val="3417957150"/>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917</TotalTime>
  <Words>617</Words>
  <Application>Microsoft Macintosh PowerPoint</Application>
  <PresentationFormat>寬螢幕</PresentationFormat>
  <Paragraphs>124</Paragraphs>
  <Slides>10</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10</vt:i4>
      </vt:variant>
    </vt:vector>
  </HeadingPairs>
  <TitlesOfParts>
    <vt:vector size="17" baseType="lpstr">
      <vt:lpstr>新細明體</vt:lpstr>
      <vt:lpstr>Arial</vt:lpstr>
      <vt:lpstr>Calibri</vt:lpstr>
      <vt:lpstr>Calibri Light</vt:lpstr>
      <vt:lpstr>Cambria Math</vt:lpstr>
      <vt:lpstr>Times New Roman</vt:lpstr>
      <vt:lpstr>Office 佈景主題</vt:lpstr>
      <vt:lpstr>FCNN: Fourier Convolutional Neural Networks</vt:lpstr>
      <vt:lpstr>Abstract</vt:lpstr>
      <vt:lpstr>Abstract (Cont.)</vt:lpstr>
      <vt:lpstr>Convolutional Neural Network</vt:lpstr>
      <vt:lpstr>Fourier Transform</vt:lpstr>
      <vt:lpstr>Fourier Convolution Neural Network</vt:lpstr>
      <vt:lpstr>Dataset</vt:lpstr>
      <vt:lpstr>PowerPoint 簡報</vt:lpstr>
      <vt:lpstr>PowerPoint 簡報</vt:lpstr>
      <vt:lpstr>PowerPoint 簡報</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Microsoft Office 使用者</dc:creator>
  <cp:lastModifiedBy>Microsoft Office 使用者</cp:lastModifiedBy>
  <cp:revision>66</cp:revision>
  <dcterms:created xsi:type="dcterms:W3CDTF">2023-01-02T07:42:35Z</dcterms:created>
  <dcterms:modified xsi:type="dcterms:W3CDTF">2024-05-29T07:02:31Z</dcterms:modified>
</cp:coreProperties>
</file>