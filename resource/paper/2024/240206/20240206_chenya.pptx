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5"/>
  </p:notesMasterIdLst>
  <p:sldIdLst>
    <p:sldId id="256" r:id="rId2"/>
    <p:sldId id="265" r:id="rId3"/>
    <p:sldId id="275" r:id="rId4"/>
    <p:sldId id="274" r:id="rId5"/>
    <p:sldId id="273" r:id="rId6"/>
    <p:sldId id="257" r:id="rId7"/>
    <p:sldId id="271" r:id="rId8"/>
    <p:sldId id="267" r:id="rId9"/>
    <p:sldId id="266" r:id="rId10"/>
    <p:sldId id="263" r:id="rId11"/>
    <p:sldId id="268" r:id="rId12"/>
    <p:sldId id="269" r:id="rId13"/>
    <p:sldId id="270"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756"/>
    <p:restoredTop sz="95728"/>
  </p:normalViewPr>
  <p:slideViewPr>
    <p:cSldViewPr snapToGrid="0" snapToObjects="1">
      <p:cViewPr varScale="1">
        <p:scale>
          <a:sx n="109" d="100"/>
          <a:sy n="109" d="100"/>
        </p:scale>
        <p:origin x="44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C87B1E-D7BB-234A-BB61-4186E7CB5889}" type="datetimeFigureOut">
              <a:rPr kumimoji="1" lang="zh-TW" altLang="en-US" smtClean="0"/>
              <a:t>2024/2/6</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A56A01-BB7F-2749-98D2-EC6EAA37179B}" type="slidenum">
              <a:rPr kumimoji="1" lang="zh-TW" altLang="en-US" smtClean="0"/>
              <a:t>‹#›</a:t>
            </a:fld>
            <a:endParaRPr kumimoji="1" lang="zh-TW" altLang="en-US"/>
          </a:p>
        </p:txBody>
      </p:sp>
    </p:spTree>
    <p:extLst>
      <p:ext uri="{BB962C8B-B14F-4D97-AF65-F5344CB8AC3E}">
        <p14:creationId xmlns:p14="http://schemas.microsoft.com/office/powerpoint/2010/main" val="139445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3</a:t>
            </a:fld>
            <a:endParaRPr kumimoji="1" lang="zh-TW" altLang="en-US"/>
          </a:p>
        </p:txBody>
      </p:sp>
    </p:spTree>
    <p:extLst>
      <p:ext uri="{BB962C8B-B14F-4D97-AF65-F5344CB8AC3E}">
        <p14:creationId xmlns:p14="http://schemas.microsoft.com/office/powerpoint/2010/main" val="3610975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4</a:t>
            </a:fld>
            <a:endParaRPr kumimoji="1" lang="zh-TW" altLang="en-US"/>
          </a:p>
        </p:txBody>
      </p:sp>
    </p:spTree>
    <p:extLst>
      <p:ext uri="{BB962C8B-B14F-4D97-AF65-F5344CB8AC3E}">
        <p14:creationId xmlns:p14="http://schemas.microsoft.com/office/powerpoint/2010/main" val="29970443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5</a:t>
            </a:fld>
            <a:endParaRPr kumimoji="1" lang="zh-TW" altLang="en-US"/>
          </a:p>
        </p:txBody>
      </p:sp>
    </p:spTree>
    <p:extLst>
      <p:ext uri="{BB962C8B-B14F-4D97-AF65-F5344CB8AC3E}">
        <p14:creationId xmlns:p14="http://schemas.microsoft.com/office/powerpoint/2010/main" val="40591057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6</a:t>
            </a:fld>
            <a:endParaRPr kumimoji="1" lang="zh-TW" altLang="en-US"/>
          </a:p>
        </p:txBody>
      </p:sp>
    </p:spTree>
    <p:extLst>
      <p:ext uri="{BB962C8B-B14F-4D97-AF65-F5344CB8AC3E}">
        <p14:creationId xmlns:p14="http://schemas.microsoft.com/office/powerpoint/2010/main" val="1193936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7</a:t>
            </a:fld>
            <a:endParaRPr kumimoji="1" lang="zh-TW" altLang="en-US"/>
          </a:p>
        </p:txBody>
      </p:sp>
    </p:spTree>
    <p:extLst>
      <p:ext uri="{BB962C8B-B14F-4D97-AF65-F5344CB8AC3E}">
        <p14:creationId xmlns:p14="http://schemas.microsoft.com/office/powerpoint/2010/main" val="18645392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8</a:t>
            </a:fld>
            <a:endParaRPr kumimoji="1" lang="zh-TW" altLang="en-US"/>
          </a:p>
        </p:txBody>
      </p:sp>
    </p:spTree>
    <p:extLst>
      <p:ext uri="{BB962C8B-B14F-4D97-AF65-F5344CB8AC3E}">
        <p14:creationId xmlns:p14="http://schemas.microsoft.com/office/powerpoint/2010/main" val="42869031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9</a:t>
            </a:fld>
            <a:endParaRPr kumimoji="1" lang="zh-TW" altLang="en-US"/>
          </a:p>
        </p:txBody>
      </p:sp>
    </p:spTree>
    <p:extLst>
      <p:ext uri="{BB962C8B-B14F-4D97-AF65-F5344CB8AC3E}">
        <p14:creationId xmlns:p14="http://schemas.microsoft.com/office/powerpoint/2010/main" val="10491317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D501DD-7617-CF45-952C-148738FE8509}"/>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0349E178-73AA-644C-8223-66BF713642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B653253A-849A-4D45-A3E7-4D1991E4C901}"/>
              </a:ext>
            </a:extLst>
          </p:cNvPr>
          <p:cNvSpPr>
            <a:spLocks noGrp="1"/>
          </p:cNvSpPr>
          <p:nvPr>
            <p:ph type="dt" sz="half" idx="10"/>
          </p:nvPr>
        </p:nvSpPr>
        <p:spPr/>
        <p:txBody>
          <a:bodyPr/>
          <a:lstStyle/>
          <a:p>
            <a:fld id="{A2F653D5-883A-5840-B916-BEC4DF4506D5}" type="datetime1">
              <a:rPr kumimoji="1" lang="zh-TW" altLang="en-US" smtClean="0"/>
              <a:t>2024/2/6</a:t>
            </a:fld>
            <a:endParaRPr kumimoji="1" lang="zh-TW" altLang="en-US"/>
          </a:p>
        </p:txBody>
      </p:sp>
      <p:sp>
        <p:nvSpPr>
          <p:cNvPr id="5" name="頁尾版面配置區 4">
            <a:extLst>
              <a:ext uri="{FF2B5EF4-FFF2-40B4-BE49-F238E27FC236}">
                <a16:creationId xmlns:a16="http://schemas.microsoft.com/office/drawing/2014/main" id="{A6ECDC78-3D4D-404B-AFA4-5B8A4BFDC68F}"/>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BB6C002C-0479-C74D-9FB3-84645C0AAB3D}"/>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205809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7A464A-FDF4-3341-B07B-24B820E47B20}"/>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4FA333E2-9D9C-8C49-8592-A408903CFAD9}"/>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75D6F474-7FB1-5646-B2F2-525F8D173137}"/>
              </a:ext>
            </a:extLst>
          </p:cNvPr>
          <p:cNvSpPr>
            <a:spLocks noGrp="1"/>
          </p:cNvSpPr>
          <p:nvPr>
            <p:ph type="dt" sz="half" idx="10"/>
          </p:nvPr>
        </p:nvSpPr>
        <p:spPr/>
        <p:txBody>
          <a:bodyPr/>
          <a:lstStyle/>
          <a:p>
            <a:fld id="{252429E5-98E1-4140-9D90-8AD9B393DC63}" type="datetime1">
              <a:rPr kumimoji="1" lang="zh-TW" altLang="en-US" smtClean="0"/>
              <a:t>2024/2/6</a:t>
            </a:fld>
            <a:endParaRPr kumimoji="1" lang="zh-TW" altLang="en-US"/>
          </a:p>
        </p:txBody>
      </p:sp>
      <p:sp>
        <p:nvSpPr>
          <p:cNvPr id="5" name="頁尾版面配置區 4">
            <a:extLst>
              <a:ext uri="{FF2B5EF4-FFF2-40B4-BE49-F238E27FC236}">
                <a16:creationId xmlns:a16="http://schemas.microsoft.com/office/drawing/2014/main" id="{4534CE80-A870-164A-A65F-809FC9C002C8}"/>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E5BB9FA6-21BE-FF46-A0DD-80A4E3E45C48}"/>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238567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6485C0-58BA-C248-AFEC-796DBE7A28BC}"/>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80E020E7-FE89-E04B-A373-97BD15E9BA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C1132D52-ED19-E540-984A-CB07B5F73432}"/>
              </a:ext>
            </a:extLst>
          </p:cNvPr>
          <p:cNvSpPr>
            <a:spLocks noGrp="1"/>
          </p:cNvSpPr>
          <p:nvPr>
            <p:ph type="dt" sz="half" idx="10"/>
          </p:nvPr>
        </p:nvSpPr>
        <p:spPr/>
        <p:txBody>
          <a:bodyPr/>
          <a:lstStyle/>
          <a:p>
            <a:fld id="{0D40C34D-36C3-F34E-AF6E-5E7D513EECD1}" type="datetime1">
              <a:rPr kumimoji="1" lang="zh-TW" altLang="en-US" smtClean="0"/>
              <a:t>2024/2/6</a:t>
            </a:fld>
            <a:endParaRPr kumimoji="1" lang="zh-TW" altLang="en-US"/>
          </a:p>
        </p:txBody>
      </p:sp>
      <p:sp>
        <p:nvSpPr>
          <p:cNvPr id="5" name="頁尾版面配置區 4">
            <a:extLst>
              <a:ext uri="{FF2B5EF4-FFF2-40B4-BE49-F238E27FC236}">
                <a16:creationId xmlns:a16="http://schemas.microsoft.com/office/drawing/2014/main" id="{7A6BDAE5-6429-1646-BE72-C577966D27BC}"/>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1FD161E-0E50-D549-9D79-396E6719964B}"/>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3480730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C827E9-DFE9-224C-9899-DD344BC7F31A}"/>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BF56C89-BB60-5D4A-B951-F0C1C7545877}"/>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716C126F-4174-1949-9558-B4C272D36FDA}"/>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04765A31-2149-0648-8A59-90D896183FFF}"/>
              </a:ext>
            </a:extLst>
          </p:cNvPr>
          <p:cNvSpPr>
            <a:spLocks noGrp="1"/>
          </p:cNvSpPr>
          <p:nvPr>
            <p:ph type="dt" sz="half" idx="10"/>
          </p:nvPr>
        </p:nvSpPr>
        <p:spPr/>
        <p:txBody>
          <a:bodyPr/>
          <a:lstStyle/>
          <a:p>
            <a:fld id="{82B76D90-58FA-0641-BF29-5E2687B5D06E}" type="datetime1">
              <a:rPr kumimoji="1" lang="zh-TW" altLang="en-US" smtClean="0"/>
              <a:t>2024/2/6</a:t>
            </a:fld>
            <a:endParaRPr kumimoji="1" lang="zh-TW" altLang="en-US"/>
          </a:p>
        </p:txBody>
      </p:sp>
      <p:sp>
        <p:nvSpPr>
          <p:cNvPr id="6" name="頁尾版面配置區 5">
            <a:extLst>
              <a:ext uri="{FF2B5EF4-FFF2-40B4-BE49-F238E27FC236}">
                <a16:creationId xmlns:a16="http://schemas.microsoft.com/office/drawing/2014/main" id="{EEC8BAB3-FB47-3344-B999-5CB7AACA707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3B979C4-5F59-314A-943B-7732149E643F}"/>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347998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675BCB-A32E-984F-994B-6AD69C183376}"/>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EF3BBA48-11AB-EA42-B26E-97C56E55B8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C045D110-23DF-BA43-8D13-0E9505DCCED9}"/>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B0FA7828-C650-A046-B918-8845F0B6A8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D2DE3B6E-6238-D149-9212-48351BD8A3BD}"/>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4A5BA387-FB25-3242-BD50-C95AE8C57586}"/>
              </a:ext>
            </a:extLst>
          </p:cNvPr>
          <p:cNvSpPr>
            <a:spLocks noGrp="1"/>
          </p:cNvSpPr>
          <p:nvPr>
            <p:ph type="dt" sz="half" idx="10"/>
          </p:nvPr>
        </p:nvSpPr>
        <p:spPr/>
        <p:txBody>
          <a:bodyPr/>
          <a:lstStyle/>
          <a:p>
            <a:fld id="{65C3B0E6-B8C8-474E-B122-D8F5DE0AFAD2}" type="datetime1">
              <a:rPr kumimoji="1" lang="zh-TW" altLang="en-US" smtClean="0"/>
              <a:t>2024/2/6</a:t>
            </a:fld>
            <a:endParaRPr kumimoji="1" lang="zh-TW" altLang="en-US"/>
          </a:p>
        </p:txBody>
      </p:sp>
      <p:sp>
        <p:nvSpPr>
          <p:cNvPr id="8" name="頁尾版面配置區 7">
            <a:extLst>
              <a:ext uri="{FF2B5EF4-FFF2-40B4-BE49-F238E27FC236}">
                <a16:creationId xmlns:a16="http://schemas.microsoft.com/office/drawing/2014/main" id="{DEDC4116-BEB6-7E4E-A4A7-D2553343B24F}"/>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CD0F097C-57D7-B44E-A73C-8373F218B190}"/>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07589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114667-755C-594C-B649-0C584C797C69}"/>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3ABF655D-EEC9-1849-AFE9-30359B4DAFF8}"/>
              </a:ext>
            </a:extLst>
          </p:cNvPr>
          <p:cNvSpPr>
            <a:spLocks noGrp="1"/>
          </p:cNvSpPr>
          <p:nvPr>
            <p:ph type="dt" sz="half" idx="10"/>
          </p:nvPr>
        </p:nvSpPr>
        <p:spPr/>
        <p:txBody>
          <a:bodyPr/>
          <a:lstStyle/>
          <a:p>
            <a:fld id="{8869937B-9027-774A-B9FD-9279ACD255BD}" type="datetime1">
              <a:rPr kumimoji="1" lang="zh-TW" altLang="en-US" smtClean="0"/>
              <a:t>2024/2/6</a:t>
            </a:fld>
            <a:endParaRPr kumimoji="1" lang="zh-TW" altLang="en-US"/>
          </a:p>
        </p:txBody>
      </p:sp>
      <p:sp>
        <p:nvSpPr>
          <p:cNvPr id="4" name="頁尾版面配置區 3">
            <a:extLst>
              <a:ext uri="{FF2B5EF4-FFF2-40B4-BE49-F238E27FC236}">
                <a16:creationId xmlns:a16="http://schemas.microsoft.com/office/drawing/2014/main" id="{135848DC-EF7E-5E45-97D5-BB002916150F}"/>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BEF47D0D-FB63-C04A-88AA-4663F56A5B04}"/>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244298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730D0DAB-E3AB-C542-BAF1-FA0813FFFB56}"/>
              </a:ext>
            </a:extLst>
          </p:cNvPr>
          <p:cNvSpPr>
            <a:spLocks noGrp="1"/>
          </p:cNvSpPr>
          <p:nvPr>
            <p:ph type="dt" sz="half" idx="10"/>
          </p:nvPr>
        </p:nvSpPr>
        <p:spPr/>
        <p:txBody>
          <a:bodyPr/>
          <a:lstStyle/>
          <a:p>
            <a:fld id="{6C319104-FA4D-834B-9033-B46E2F34E77F}" type="datetime1">
              <a:rPr kumimoji="1" lang="zh-TW" altLang="en-US" smtClean="0"/>
              <a:t>2024/2/6</a:t>
            </a:fld>
            <a:endParaRPr kumimoji="1" lang="zh-TW" altLang="en-US"/>
          </a:p>
        </p:txBody>
      </p:sp>
      <p:sp>
        <p:nvSpPr>
          <p:cNvPr id="3" name="頁尾版面配置區 2">
            <a:extLst>
              <a:ext uri="{FF2B5EF4-FFF2-40B4-BE49-F238E27FC236}">
                <a16:creationId xmlns:a16="http://schemas.microsoft.com/office/drawing/2014/main" id="{A44257D8-EC9E-534F-9065-715A4574FDC7}"/>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F0029C47-757A-114F-A178-225027BD7FDF}"/>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786642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6441E4-4620-9244-B66E-26EC9ECBAE2B}"/>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A6E2631A-AADB-4344-B902-B53FE9F513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9D2930E1-81A7-6848-925D-24DF95107A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34A1FEB3-ECC3-AD41-BEA6-44C6F60FF1DE}"/>
              </a:ext>
            </a:extLst>
          </p:cNvPr>
          <p:cNvSpPr>
            <a:spLocks noGrp="1"/>
          </p:cNvSpPr>
          <p:nvPr>
            <p:ph type="dt" sz="half" idx="10"/>
          </p:nvPr>
        </p:nvSpPr>
        <p:spPr/>
        <p:txBody>
          <a:bodyPr/>
          <a:lstStyle/>
          <a:p>
            <a:fld id="{BAC173C6-1BDC-EF4C-9138-1B867971D82A}" type="datetime1">
              <a:rPr kumimoji="1" lang="zh-TW" altLang="en-US" smtClean="0"/>
              <a:t>2024/2/6</a:t>
            </a:fld>
            <a:endParaRPr kumimoji="1" lang="zh-TW" altLang="en-US"/>
          </a:p>
        </p:txBody>
      </p:sp>
      <p:sp>
        <p:nvSpPr>
          <p:cNvPr id="6" name="頁尾版面配置區 5">
            <a:extLst>
              <a:ext uri="{FF2B5EF4-FFF2-40B4-BE49-F238E27FC236}">
                <a16:creationId xmlns:a16="http://schemas.microsoft.com/office/drawing/2014/main" id="{42CC6D6D-32D3-0F46-8645-9348CDCC2DA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A0AFE86A-1C31-4A46-A584-5E4CEF4AEA2B}"/>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803353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1D89C4-8B50-834A-81C5-869F9DC9C0F0}"/>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D5534F9E-8511-5F4A-A82F-05692527D3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zh-TW" altLang="en-US"/>
              <a:t>按一下圖示以新增圖片</a:t>
            </a:r>
          </a:p>
        </p:txBody>
      </p:sp>
      <p:sp>
        <p:nvSpPr>
          <p:cNvPr id="4" name="文字版面配置區 3">
            <a:extLst>
              <a:ext uri="{FF2B5EF4-FFF2-40B4-BE49-F238E27FC236}">
                <a16:creationId xmlns:a16="http://schemas.microsoft.com/office/drawing/2014/main" id="{AB5567A0-F6B9-9340-A872-76C4D30942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9579205F-B98C-E943-92A5-27963140F3C8}"/>
              </a:ext>
            </a:extLst>
          </p:cNvPr>
          <p:cNvSpPr>
            <a:spLocks noGrp="1"/>
          </p:cNvSpPr>
          <p:nvPr>
            <p:ph type="dt" sz="half" idx="10"/>
          </p:nvPr>
        </p:nvSpPr>
        <p:spPr/>
        <p:txBody>
          <a:bodyPr/>
          <a:lstStyle/>
          <a:p>
            <a:fld id="{5708567F-5EDC-4F4F-93AF-7C8D00AA37FD}" type="datetime1">
              <a:rPr kumimoji="1" lang="zh-TW" altLang="en-US" smtClean="0"/>
              <a:t>2024/2/6</a:t>
            </a:fld>
            <a:endParaRPr kumimoji="1" lang="zh-TW" altLang="en-US"/>
          </a:p>
        </p:txBody>
      </p:sp>
      <p:sp>
        <p:nvSpPr>
          <p:cNvPr id="6" name="頁尾版面配置區 5">
            <a:extLst>
              <a:ext uri="{FF2B5EF4-FFF2-40B4-BE49-F238E27FC236}">
                <a16:creationId xmlns:a16="http://schemas.microsoft.com/office/drawing/2014/main" id="{30A25F96-ED76-8549-9FD6-2B59D2856A98}"/>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0696D537-3F67-CD44-B755-194C465EDB54}"/>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313491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D6AB28-6653-9C49-A992-A4247978B7D2}"/>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F6E57488-2CEC-AB48-B522-A9BF17B67ED1}"/>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5F9DC675-96A7-5740-944C-CAFED91F8875}"/>
              </a:ext>
            </a:extLst>
          </p:cNvPr>
          <p:cNvSpPr>
            <a:spLocks noGrp="1"/>
          </p:cNvSpPr>
          <p:nvPr>
            <p:ph type="dt" sz="half" idx="10"/>
          </p:nvPr>
        </p:nvSpPr>
        <p:spPr/>
        <p:txBody>
          <a:bodyPr/>
          <a:lstStyle/>
          <a:p>
            <a:fld id="{419ABB45-072B-E944-9661-5DAAF6BF234C}" type="datetime1">
              <a:rPr kumimoji="1" lang="zh-TW" altLang="en-US" smtClean="0"/>
              <a:t>2024/2/6</a:t>
            </a:fld>
            <a:endParaRPr kumimoji="1" lang="zh-TW" altLang="en-US"/>
          </a:p>
        </p:txBody>
      </p:sp>
      <p:sp>
        <p:nvSpPr>
          <p:cNvPr id="5" name="頁尾版面配置區 4">
            <a:extLst>
              <a:ext uri="{FF2B5EF4-FFF2-40B4-BE49-F238E27FC236}">
                <a16:creationId xmlns:a16="http://schemas.microsoft.com/office/drawing/2014/main" id="{EE19B60E-DE36-CE48-92C7-29C904047F0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8A11CB14-7E7D-DA4F-95BF-F4F6A71A702C}"/>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4137844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3137A97-13EF-684A-A0A9-0B2C4B915BF7}"/>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C14D9E75-6CF5-DE45-9FA4-3A5D546C876F}"/>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9846D7A-FDC0-584E-83DF-7CFDFE86ADAC}"/>
              </a:ext>
            </a:extLst>
          </p:cNvPr>
          <p:cNvSpPr>
            <a:spLocks noGrp="1"/>
          </p:cNvSpPr>
          <p:nvPr>
            <p:ph type="dt" sz="half" idx="10"/>
          </p:nvPr>
        </p:nvSpPr>
        <p:spPr/>
        <p:txBody>
          <a:bodyPr/>
          <a:lstStyle/>
          <a:p>
            <a:fld id="{FA3D0E93-5293-2E45-810C-52C7374A43E9}" type="datetime1">
              <a:rPr kumimoji="1" lang="zh-TW" altLang="en-US" smtClean="0"/>
              <a:t>2024/2/6</a:t>
            </a:fld>
            <a:endParaRPr kumimoji="1" lang="zh-TW" altLang="en-US"/>
          </a:p>
        </p:txBody>
      </p:sp>
      <p:sp>
        <p:nvSpPr>
          <p:cNvPr id="5" name="頁尾版面配置區 4">
            <a:extLst>
              <a:ext uri="{FF2B5EF4-FFF2-40B4-BE49-F238E27FC236}">
                <a16:creationId xmlns:a16="http://schemas.microsoft.com/office/drawing/2014/main" id="{B05227D2-8B70-D046-B3FE-419A3723BF4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0C29F65E-93FE-3541-912C-7DF85AF21685}"/>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853969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5422299C-DADF-924C-A256-3B359ECFB5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7E7C0D55-55DC-8A4F-8D1C-054CD64B89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D4F6F637-18F3-BD4C-908D-9F4BD7CEC2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2D2FFB-DAFA-B349-908F-41F05A7F02F7}" type="datetime1">
              <a:rPr kumimoji="1" lang="zh-TW" altLang="en-US" smtClean="0"/>
              <a:t>2024/2/6</a:t>
            </a:fld>
            <a:endParaRPr kumimoji="1" lang="zh-TW" altLang="en-US"/>
          </a:p>
        </p:txBody>
      </p:sp>
      <p:sp>
        <p:nvSpPr>
          <p:cNvPr id="5" name="頁尾版面配置區 4">
            <a:extLst>
              <a:ext uri="{FF2B5EF4-FFF2-40B4-BE49-F238E27FC236}">
                <a16:creationId xmlns:a16="http://schemas.microsoft.com/office/drawing/2014/main" id="{8189E3A8-AF3F-CA42-A297-2EE032B20F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CD309E7D-F646-F04E-B26F-BEF4E72885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396518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5C7C8A-452E-D943-890A-99D101A85538}"/>
              </a:ext>
            </a:extLst>
          </p:cNvPr>
          <p:cNvSpPr>
            <a:spLocks noGrp="1"/>
          </p:cNvSpPr>
          <p:nvPr>
            <p:ph type="ctrTitle"/>
          </p:nvPr>
        </p:nvSpPr>
        <p:spPr>
          <a:xfrm>
            <a:off x="1406769" y="1041400"/>
            <a:ext cx="9378462" cy="2387600"/>
          </a:xfrm>
        </p:spPr>
        <p:txBody>
          <a:bodyPr>
            <a:normAutofit/>
          </a:bodyPr>
          <a:lstStyle/>
          <a:p>
            <a:r>
              <a:rPr kumimoji="1" lang="en" altLang="zh-TW" sz="4800" dirty="0">
                <a:latin typeface="Times" pitchFamily="2" charset="0"/>
              </a:rPr>
              <a:t>Revealing Game Dynamics via Word Embeddings of Gameplay Data</a:t>
            </a:r>
            <a:endParaRPr kumimoji="1" lang="zh-TW" altLang="en-US" sz="4800" dirty="0">
              <a:latin typeface="Times" pitchFamily="2" charset="0"/>
            </a:endParaRPr>
          </a:p>
        </p:txBody>
      </p:sp>
      <p:sp>
        <p:nvSpPr>
          <p:cNvPr id="3" name="副標題 2">
            <a:extLst>
              <a:ext uri="{FF2B5EF4-FFF2-40B4-BE49-F238E27FC236}">
                <a16:creationId xmlns:a16="http://schemas.microsoft.com/office/drawing/2014/main" id="{AA9CE59C-0A7C-3340-9871-01BB9F00CC93}"/>
              </a:ext>
            </a:extLst>
          </p:cNvPr>
          <p:cNvSpPr>
            <a:spLocks noGrp="1"/>
          </p:cNvSpPr>
          <p:nvPr>
            <p:ph type="subTitle" idx="1"/>
          </p:nvPr>
        </p:nvSpPr>
        <p:spPr/>
        <p:txBody>
          <a:bodyPr>
            <a:normAutofit/>
          </a:bodyPr>
          <a:lstStyle/>
          <a:p>
            <a:pPr>
              <a:lnSpc>
                <a:spcPct val="100000"/>
              </a:lnSpc>
            </a:pPr>
            <a:r>
              <a:rPr lang="en" altLang="zh-TW" dirty="0" err="1">
                <a:latin typeface="Times" pitchFamily="2" charset="0"/>
              </a:rPr>
              <a:t>Youne`s</a:t>
            </a:r>
            <a:r>
              <a:rPr lang="en" altLang="zh-TW" dirty="0">
                <a:latin typeface="Times" pitchFamily="2" charset="0"/>
              </a:rPr>
              <a:t> </a:t>
            </a:r>
            <a:r>
              <a:rPr lang="en" altLang="zh-TW" dirty="0" err="1">
                <a:latin typeface="Times" pitchFamily="2" charset="0"/>
              </a:rPr>
              <a:t>Rabii</a:t>
            </a:r>
            <a:r>
              <a:rPr lang="en" altLang="zh-TW" dirty="0">
                <a:latin typeface="Times" pitchFamily="2" charset="0"/>
              </a:rPr>
              <a:t>, Michael Cook</a:t>
            </a:r>
          </a:p>
          <a:p>
            <a:pPr>
              <a:lnSpc>
                <a:spcPct val="100000"/>
              </a:lnSpc>
            </a:pPr>
            <a:r>
              <a:rPr lang="en" altLang="zh-TW" dirty="0">
                <a:latin typeface="Times" pitchFamily="2" charset="0"/>
              </a:rPr>
              <a:t>In Proceedings of</a:t>
            </a:r>
            <a:r>
              <a:rPr lang="zh-TW" altLang="en-US" dirty="0">
                <a:latin typeface="Times" pitchFamily="2" charset="0"/>
              </a:rPr>
              <a:t> </a:t>
            </a:r>
            <a:r>
              <a:rPr lang="en-US" altLang="zh-TW" dirty="0">
                <a:latin typeface="Times" pitchFamily="2" charset="0"/>
              </a:rPr>
              <a:t>the</a:t>
            </a:r>
            <a:r>
              <a:rPr lang="zh-TW" altLang="en-US" dirty="0">
                <a:latin typeface="Times" pitchFamily="2" charset="0"/>
              </a:rPr>
              <a:t> </a:t>
            </a:r>
            <a:r>
              <a:rPr lang="en" altLang="zh-TW" dirty="0">
                <a:latin typeface="Times" pitchFamily="2" charset="0"/>
              </a:rPr>
              <a:t>AAAI Conference on Artificial Intelligence and Interactive Digital Entertainment</a:t>
            </a:r>
            <a:r>
              <a:rPr lang="en-US" altLang="zh-TW" dirty="0">
                <a:latin typeface="Times" pitchFamily="2" charset="0"/>
              </a:rPr>
              <a:t>,</a:t>
            </a:r>
            <a:r>
              <a:rPr lang="zh-TW" altLang="en-US" dirty="0">
                <a:latin typeface="Times" pitchFamily="2" charset="0"/>
              </a:rPr>
              <a:t> </a:t>
            </a:r>
            <a:r>
              <a:rPr lang="en-US" altLang="zh-TW" dirty="0">
                <a:latin typeface="Times" pitchFamily="2" charset="0"/>
              </a:rPr>
              <a:t>2021</a:t>
            </a:r>
            <a:endParaRPr lang="en" altLang="zh-TW" dirty="0">
              <a:latin typeface="Times" pitchFamily="2" charset="0"/>
            </a:endParaRPr>
          </a:p>
        </p:txBody>
      </p:sp>
      <p:sp>
        <p:nvSpPr>
          <p:cNvPr id="4" name="文字方塊 3">
            <a:extLst>
              <a:ext uri="{FF2B5EF4-FFF2-40B4-BE49-F238E27FC236}">
                <a16:creationId xmlns:a16="http://schemas.microsoft.com/office/drawing/2014/main" id="{66ED1160-6DCB-BA45-A8E3-C0A533D93526}"/>
              </a:ext>
            </a:extLst>
          </p:cNvPr>
          <p:cNvSpPr txBox="1"/>
          <p:nvPr/>
        </p:nvSpPr>
        <p:spPr>
          <a:xfrm>
            <a:off x="9461868" y="5993027"/>
            <a:ext cx="2412263" cy="646331"/>
          </a:xfrm>
          <a:prstGeom prst="rect">
            <a:avLst/>
          </a:prstGeom>
          <a:noFill/>
        </p:spPr>
        <p:txBody>
          <a:bodyPr wrap="none" rtlCol="0">
            <a:spAutoFit/>
          </a:bodyPr>
          <a:lstStyle/>
          <a:p>
            <a:r>
              <a:rPr kumimoji="1" lang="en-US" altLang="zh-TW" dirty="0">
                <a:latin typeface="Times" pitchFamily="2" charset="0"/>
              </a:rPr>
              <a:t>Presenter: Yun-An Chen</a:t>
            </a:r>
          </a:p>
          <a:p>
            <a:r>
              <a:rPr kumimoji="1" lang="en-US" altLang="zh-TW" dirty="0">
                <a:latin typeface="Times" pitchFamily="2" charset="0"/>
              </a:rPr>
              <a:t>Date:</a:t>
            </a:r>
            <a:r>
              <a:rPr kumimoji="1" lang="zh-TW" altLang="en-US" dirty="0">
                <a:latin typeface="Times" pitchFamily="2" charset="0"/>
              </a:rPr>
              <a:t> </a:t>
            </a:r>
            <a:r>
              <a:rPr kumimoji="1" lang="en-US" altLang="zh-TW" dirty="0">
                <a:latin typeface="Times" pitchFamily="2" charset="0"/>
              </a:rPr>
              <a:t>Feb.</a:t>
            </a:r>
            <a:r>
              <a:rPr kumimoji="1" lang="zh-TW" altLang="en-US" dirty="0">
                <a:latin typeface="Times" pitchFamily="2" charset="0"/>
              </a:rPr>
              <a:t> </a:t>
            </a:r>
            <a:r>
              <a:rPr kumimoji="1" lang="en-US" altLang="zh-TW" dirty="0">
                <a:latin typeface="Times" pitchFamily="2" charset="0"/>
              </a:rPr>
              <a:t>6,</a:t>
            </a:r>
            <a:r>
              <a:rPr kumimoji="1" lang="zh-TW" altLang="en-US" dirty="0">
                <a:latin typeface="Times" pitchFamily="2" charset="0"/>
              </a:rPr>
              <a:t> </a:t>
            </a:r>
            <a:r>
              <a:rPr kumimoji="1" lang="en-US" altLang="zh-TW" dirty="0">
                <a:latin typeface="Times" pitchFamily="2" charset="0"/>
              </a:rPr>
              <a:t>2024</a:t>
            </a:r>
            <a:endParaRPr kumimoji="1" lang="zh-TW" altLang="en-US" dirty="0">
              <a:latin typeface="Times" pitchFamily="2" charset="0"/>
            </a:endParaRPr>
          </a:p>
        </p:txBody>
      </p:sp>
    </p:spTree>
    <p:extLst>
      <p:ext uri="{BB962C8B-B14F-4D97-AF65-F5344CB8AC3E}">
        <p14:creationId xmlns:p14="http://schemas.microsoft.com/office/powerpoint/2010/main" val="3994279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67C017-EEF6-AF41-82FB-650CB4935125}"/>
              </a:ext>
            </a:extLst>
          </p:cNvPr>
          <p:cNvSpPr>
            <a:spLocks noGrp="1"/>
          </p:cNvSpPr>
          <p:nvPr>
            <p:ph type="title"/>
          </p:nvPr>
        </p:nvSpPr>
        <p:spPr/>
        <p:txBody>
          <a:bodyPr/>
          <a:lstStyle/>
          <a:p>
            <a:r>
              <a:rPr kumimoji="1" lang="en-US" altLang="zh-TW" dirty="0">
                <a:latin typeface="Times" pitchFamily="2" charset="0"/>
              </a:rPr>
              <a:t>Abstract</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8D09F5D7-A24C-7540-ADEE-E8D83623F3F0}"/>
              </a:ext>
            </a:extLst>
          </p:cNvPr>
          <p:cNvSpPr>
            <a:spLocks noGrp="1"/>
          </p:cNvSpPr>
          <p:nvPr>
            <p:ph idx="1"/>
          </p:nvPr>
        </p:nvSpPr>
        <p:spPr>
          <a:xfrm>
            <a:off x="838200" y="1825624"/>
            <a:ext cx="10515600" cy="4530725"/>
          </a:xfrm>
        </p:spPr>
        <p:txBody>
          <a:bodyPr>
            <a:normAutofit/>
          </a:bodyPr>
          <a:lstStyle/>
          <a:p>
            <a:pPr marL="0" indent="0" algn="just">
              <a:lnSpc>
                <a:spcPct val="150000"/>
              </a:lnSpc>
              <a:buNone/>
            </a:pPr>
            <a:r>
              <a:rPr lang="en" altLang="zh-TW" sz="2400" dirty="0">
                <a:latin typeface="Times" pitchFamily="2" charset="0"/>
              </a:rPr>
              <a:t>In this paper</a:t>
            </a:r>
            <a:r>
              <a:rPr lang="en-US" altLang="zh-TW" sz="2400" dirty="0">
                <a:latin typeface="Times" pitchFamily="2" charset="0"/>
              </a:rPr>
              <a:t>,</a:t>
            </a:r>
            <a:r>
              <a:rPr lang="en" altLang="zh-TW" sz="2400" dirty="0">
                <a:latin typeface="Times" pitchFamily="2" charset="0"/>
              </a:rPr>
              <a:t> we show how word embeddings, a technique used most commonly for natural language processing, can be repurposed to </a:t>
            </a:r>
            <a:r>
              <a:rPr lang="en-US" altLang="zh-TW" sz="2400" dirty="0">
                <a:latin typeface="Times" pitchFamily="2" charset="0"/>
              </a:rPr>
              <a:t>analyze</a:t>
            </a:r>
            <a:r>
              <a:rPr lang="en" altLang="zh-TW" sz="2400" dirty="0">
                <a:latin typeface="Times" pitchFamily="2" charset="0"/>
              </a:rPr>
              <a:t> gameplay data. Using a large study of chess games and applying the popular Word2Vec algorithm, we show that the resulting vector representation can reveal both common knowledge and subtle details about the game, including relative piece values and the natural spatial flow of chess play. Our results suggest that word embeddings are a cheap and simple technique that can provide a broad overview of a game’s dynamics, helping designers and critics form new hypotheses about a game’s design, structure and flow.</a:t>
            </a:r>
          </a:p>
        </p:txBody>
      </p:sp>
      <p:sp>
        <p:nvSpPr>
          <p:cNvPr id="4" name="投影片編號版面配置區 3">
            <a:extLst>
              <a:ext uri="{FF2B5EF4-FFF2-40B4-BE49-F238E27FC236}">
                <a16:creationId xmlns:a16="http://schemas.microsoft.com/office/drawing/2014/main" id="{60FFF1FB-1064-484B-B5D3-305DF5596F8C}"/>
              </a:ext>
            </a:extLst>
          </p:cNvPr>
          <p:cNvSpPr>
            <a:spLocks noGrp="1"/>
          </p:cNvSpPr>
          <p:nvPr>
            <p:ph type="sldNum" sz="quarter" idx="12"/>
          </p:nvPr>
        </p:nvSpPr>
        <p:spPr/>
        <p:txBody>
          <a:bodyPr/>
          <a:lstStyle/>
          <a:p>
            <a:fld id="{D1303F21-0339-114F-A835-EDFAC68AEBBB}" type="slidenum">
              <a:rPr kumimoji="1" lang="zh-TW" altLang="en-US" smtClean="0"/>
              <a:t>2</a:t>
            </a:fld>
            <a:endParaRPr kumimoji="1" lang="zh-TW" altLang="en-US"/>
          </a:p>
        </p:txBody>
      </p:sp>
    </p:spTree>
    <p:extLst>
      <p:ext uri="{BB962C8B-B14F-4D97-AF65-F5344CB8AC3E}">
        <p14:creationId xmlns:p14="http://schemas.microsoft.com/office/powerpoint/2010/main" val="4069224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Chess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3</a:t>
            </a:fld>
            <a:endParaRPr kumimoji="1" lang="zh-TW" altLang="en-US" dirty="0"/>
          </a:p>
        </p:txBody>
      </p:sp>
      <p:sp>
        <p:nvSpPr>
          <p:cNvPr id="5" name="文字方塊 4">
            <a:extLst>
              <a:ext uri="{FF2B5EF4-FFF2-40B4-BE49-F238E27FC236}">
                <a16:creationId xmlns:a16="http://schemas.microsoft.com/office/drawing/2014/main" id="{394822BD-710A-0B4C-B220-FDB53FE39914}"/>
              </a:ext>
            </a:extLst>
          </p:cNvPr>
          <p:cNvSpPr txBox="1"/>
          <p:nvPr/>
        </p:nvSpPr>
        <p:spPr>
          <a:xfrm>
            <a:off x="4232031" y="1090246"/>
            <a:ext cx="184731" cy="369332"/>
          </a:xfrm>
          <a:prstGeom prst="rect">
            <a:avLst/>
          </a:prstGeom>
          <a:noFill/>
        </p:spPr>
        <p:txBody>
          <a:bodyPr wrap="none" rtlCol="0">
            <a:spAutoFit/>
          </a:bodyPr>
          <a:lstStyle/>
          <a:p>
            <a:endParaRPr kumimoji="1" lang="zh-TW" altLang="en-US" dirty="0"/>
          </a:p>
        </p:txBody>
      </p:sp>
      <p:pic>
        <p:nvPicPr>
          <p:cNvPr id="13" name="圖片 12" descr="一張含有 圖板遊戲, 國際象棋棋子, 室內遊戲和運動, 棋 的圖片&#10;&#10;自動產生的描述">
            <a:extLst>
              <a:ext uri="{FF2B5EF4-FFF2-40B4-BE49-F238E27FC236}">
                <a16:creationId xmlns:a16="http://schemas.microsoft.com/office/drawing/2014/main" id="{596B43C4-4846-664F-86DA-B123AF225A4F}"/>
              </a:ext>
            </a:extLst>
          </p:cNvPr>
          <p:cNvPicPr>
            <a:picLocks noChangeAspect="1"/>
          </p:cNvPicPr>
          <p:nvPr/>
        </p:nvPicPr>
        <p:blipFill rotWithShape="1">
          <a:blip r:embed="rId3"/>
          <a:srcRect r="1664" b="1805"/>
          <a:stretch/>
        </p:blipFill>
        <p:spPr>
          <a:xfrm>
            <a:off x="425054" y="1848071"/>
            <a:ext cx="3991708" cy="4062586"/>
          </a:xfrm>
          <a:prstGeom prst="rect">
            <a:avLst/>
          </a:prstGeom>
        </p:spPr>
      </p:pic>
      <p:grpSp>
        <p:nvGrpSpPr>
          <p:cNvPr id="19" name="群組 18">
            <a:extLst>
              <a:ext uri="{FF2B5EF4-FFF2-40B4-BE49-F238E27FC236}">
                <a16:creationId xmlns:a16="http://schemas.microsoft.com/office/drawing/2014/main" id="{2A3AA120-B6C4-0740-AFDF-5389912F1A72}"/>
              </a:ext>
            </a:extLst>
          </p:cNvPr>
          <p:cNvGrpSpPr/>
          <p:nvPr/>
        </p:nvGrpSpPr>
        <p:grpSpPr>
          <a:xfrm>
            <a:off x="4687537" y="671252"/>
            <a:ext cx="7079409" cy="5515496"/>
            <a:chOff x="4782388" y="574246"/>
            <a:chExt cx="7079409" cy="5515496"/>
          </a:xfrm>
        </p:grpSpPr>
        <p:pic>
          <p:nvPicPr>
            <p:cNvPr id="24" name="圖片 23" descr="一張含有 文字, 螢幕擷取畫面 的圖片&#10;&#10;自動產生的描述">
              <a:extLst>
                <a:ext uri="{FF2B5EF4-FFF2-40B4-BE49-F238E27FC236}">
                  <a16:creationId xmlns:a16="http://schemas.microsoft.com/office/drawing/2014/main" id="{18CAACE3-87D7-7B48-A6C8-59A258486B8C}"/>
                </a:ext>
              </a:extLst>
            </p:cNvPr>
            <p:cNvPicPr>
              <a:picLocks noChangeAspect="1"/>
            </p:cNvPicPr>
            <p:nvPr/>
          </p:nvPicPr>
          <p:blipFill rotWithShape="1">
            <a:blip r:embed="rId4"/>
            <a:srcRect t="83034"/>
            <a:stretch/>
          </p:blipFill>
          <p:spPr>
            <a:xfrm>
              <a:off x="9768072" y="3435958"/>
              <a:ext cx="2046726" cy="443406"/>
            </a:xfrm>
            <a:prstGeom prst="rect">
              <a:avLst/>
            </a:prstGeom>
          </p:spPr>
        </p:pic>
        <p:grpSp>
          <p:nvGrpSpPr>
            <p:cNvPr id="18" name="群組 17">
              <a:extLst>
                <a:ext uri="{FF2B5EF4-FFF2-40B4-BE49-F238E27FC236}">
                  <a16:creationId xmlns:a16="http://schemas.microsoft.com/office/drawing/2014/main" id="{FCB26EBE-D842-614A-B9C2-A3CD7FD08D70}"/>
                </a:ext>
              </a:extLst>
            </p:cNvPr>
            <p:cNvGrpSpPr/>
            <p:nvPr/>
          </p:nvGrpSpPr>
          <p:grpSpPr>
            <a:xfrm>
              <a:off x="4782388" y="1090246"/>
              <a:ext cx="7079409" cy="4999496"/>
              <a:chOff x="4772476" y="879231"/>
              <a:chExt cx="7079409" cy="4999496"/>
            </a:xfrm>
          </p:grpSpPr>
          <p:pic>
            <p:nvPicPr>
              <p:cNvPr id="6" name="圖片 5" descr="一張含有 螢幕擷取畫面, 正方形, 圖板遊戲, 遊戲 的圖片&#10;&#10;自動產生的描述">
                <a:extLst>
                  <a:ext uri="{FF2B5EF4-FFF2-40B4-BE49-F238E27FC236}">
                    <a16:creationId xmlns:a16="http://schemas.microsoft.com/office/drawing/2014/main" id="{66C7F3EB-CACB-4043-913C-12688B2EC087}"/>
                  </a:ext>
                </a:extLst>
              </p:cNvPr>
              <p:cNvPicPr>
                <a:picLocks noChangeAspect="1"/>
              </p:cNvPicPr>
              <p:nvPr/>
            </p:nvPicPr>
            <p:blipFill>
              <a:blip r:embed="rId5"/>
              <a:stretch>
                <a:fillRect/>
              </a:stretch>
            </p:blipFill>
            <p:spPr>
              <a:xfrm>
                <a:off x="4772476" y="879231"/>
                <a:ext cx="2190541" cy="2242696"/>
              </a:xfrm>
              <a:prstGeom prst="rect">
                <a:avLst/>
              </a:prstGeom>
            </p:spPr>
          </p:pic>
          <p:pic>
            <p:nvPicPr>
              <p:cNvPr id="8" name="圖片 7" descr="一張含有 正方形, 圖板遊戲, 螢幕擷取畫面, 室內遊戲和運動 的圖片&#10;&#10;自動產生的描述">
                <a:extLst>
                  <a:ext uri="{FF2B5EF4-FFF2-40B4-BE49-F238E27FC236}">
                    <a16:creationId xmlns:a16="http://schemas.microsoft.com/office/drawing/2014/main" id="{2FEFC42B-E07C-884D-B882-8AED88994C36}"/>
                  </a:ext>
                </a:extLst>
              </p:cNvPr>
              <p:cNvPicPr>
                <a:picLocks noChangeAspect="1"/>
              </p:cNvPicPr>
              <p:nvPr/>
            </p:nvPicPr>
            <p:blipFill>
              <a:blip r:embed="rId6"/>
              <a:stretch>
                <a:fillRect/>
              </a:stretch>
            </p:blipFill>
            <p:spPr>
              <a:xfrm>
                <a:off x="7212014" y="879231"/>
                <a:ext cx="2190297" cy="2242696"/>
              </a:xfrm>
              <a:prstGeom prst="rect">
                <a:avLst/>
              </a:prstGeom>
            </p:spPr>
          </p:pic>
          <p:pic>
            <p:nvPicPr>
              <p:cNvPr id="10" name="圖片 9" descr="一張含有 正方形, 圖板遊戲, 螢幕擷取畫面, 室內遊戲和運動 的圖片&#10;&#10;自動產生的描述">
                <a:extLst>
                  <a:ext uri="{FF2B5EF4-FFF2-40B4-BE49-F238E27FC236}">
                    <a16:creationId xmlns:a16="http://schemas.microsoft.com/office/drawing/2014/main" id="{85627026-3B1A-1441-ACDC-52D79B21E034}"/>
                  </a:ext>
                </a:extLst>
              </p:cNvPr>
              <p:cNvPicPr>
                <a:picLocks noChangeAspect="1"/>
              </p:cNvPicPr>
              <p:nvPr/>
            </p:nvPicPr>
            <p:blipFill>
              <a:blip r:embed="rId7"/>
              <a:stretch>
                <a:fillRect/>
              </a:stretch>
            </p:blipFill>
            <p:spPr>
              <a:xfrm>
                <a:off x="9651308" y="879231"/>
                <a:ext cx="2190297" cy="2242697"/>
              </a:xfrm>
              <a:prstGeom prst="rect">
                <a:avLst/>
              </a:prstGeom>
            </p:spPr>
          </p:pic>
          <p:pic>
            <p:nvPicPr>
              <p:cNvPr id="12" name="圖片 11" descr="一張含有 螢幕擷取畫面, 正方形, 遊戲, 圖板遊戲 的圖片&#10;&#10;自動產生的描述">
                <a:extLst>
                  <a:ext uri="{FF2B5EF4-FFF2-40B4-BE49-F238E27FC236}">
                    <a16:creationId xmlns:a16="http://schemas.microsoft.com/office/drawing/2014/main" id="{F4E15AE4-B894-9E40-908F-A44D9FF7E2F6}"/>
                  </a:ext>
                </a:extLst>
              </p:cNvPr>
              <p:cNvPicPr>
                <a:picLocks noChangeAspect="1"/>
              </p:cNvPicPr>
              <p:nvPr/>
            </p:nvPicPr>
            <p:blipFill>
              <a:blip r:embed="rId8"/>
              <a:stretch>
                <a:fillRect/>
              </a:stretch>
            </p:blipFill>
            <p:spPr>
              <a:xfrm>
                <a:off x="4772476" y="3636032"/>
                <a:ext cx="2200579" cy="2242695"/>
              </a:xfrm>
              <a:prstGeom prst="rect">
                <a:avLst/>
              </a:prstGeom>
            </p:spPr>
          </p:pic>
          <p:pic>
            <p:nvPicPr>
              <p:cNvPr id="15" name="圖片 14" descr="一張含有 正方形, 螢幕擷取畫面, 棋, 圖板遊戲 的圖片&#10;&#10;自動產生的描述">
                <a:extLst>
                  <a:ext uri="{FF2B5EF4-FFF2-40B4-BE49-F238E27FC236}">
                    <a16:creationId xmlns:a16="http://schemas.microsoft.com/office/drawing/2014/main" id="{CA59DFB4-1E84-724E-814D-5824387BAF97}"/>
                  </a:ext>
                </a:extLst>
              </p:cNvPr>
              <p:cNvPicPr>
                <a:picLocks noChangeAspect="1"/>
              </p:cNvPicPr>
              <p:nvPr/>
            </p:nvPicPr>
            <p:blipFill>
              <a:blip r:embed="rId9"/>
              <a:stretch>
                <a:fillRect/>
              </a:stretch>
            </p:blipFill>
            <p:spPr>
              <a:xfrm>
                <a:off x="7212014" y="3636032"/>
                <a:ext cx="2210959" cy="2242695"/>
              </a:xfrm>
              <a:prstGeom prst="rect">
                <a:avLst/>
              </a:prstGeom>
            </p:spPr>
          </p:pic>
          <p:pic>
            <p:nvPicPr>
              <p:cNvPr id="17" name="圖片 16" descr="一張含有 螢幕擷取畫面, 正方形, 棋, 圖板遊戲 的圖片&#10;&#10;自動產生的描述">
                <a:extLst>
                  <a:ext uri="{FF2B5EF4-FFF2-40B4-BE49-F238E27FC236}">
                    <a16:creationId xmlns:a16="http://schemas.microsoft.com/office/drawing/2014/main" id="{E643937D-9011-454E-8D07-341E67CB9A23}"/>
                  </a:ext>
                </a:extLst>
              </p:cNvPr>
              <p:cNvPicPr>
                <a:picLocks noChangeAspect="1"/>
              </p:cNvPicPr>
              <p:nvPr/>
            </p:nvPicPr>
            <p:blipFill>
              <a:blip r:embed="rId10"/>
              <a:stretch>
                <a:fillRect/>
              </a:stretch>
            </p:blipFill>
            <p:spPr>
              <a:xfrm>
                <a:off x="9651307" y="3636032"/>
                <a:ext cx="2200578" cy="2242695"/>
              </a:xfrm>
              <a:prstGeom prst="rect">
                <a:avLst/>
              </a:prstGeom>
            </p:spPr>
          </p:pic>
        </p:grpSp>
        <p:pic>
          <p:nvPicPr>
            <p:cNvPr id="21" name="圖片 20" descr="一張含有 文字, 螢幕擷取畫面 的圖片&#10;&#10;自動產生的描述">
              <a:extLst>
                <a:ext uri="{FF2B5EF4-FFF2-40B4-BE49-F238E27FC236}">
                  <a16:creationId xmlns:a16="http://schemas.microsoft.com/office/drawing/2014/main" id="{A5393375-BF45-5B40-A6D1-D0F91BB31749}"/>
                </a:ext>
              </a:extLst>
            </p:cNvPr>
            <p:cNvPicPr>
              <a:picLocks noChangeAspect="1"/>
            </p:cNvPicPr>
            <p:nvPr/>
          </p:nvPicPr>
          <p:blipFill rotWithShape="1">
            <a:blip r:embed="rId4"/>
            <a:srcRect r="-2815" b="81623"/>
            <a:stretch/>
          </p:blipFill>
          <p:spPr>
            <a:xfrm>
              <a:off x="4868585" y="609975"/>
              <a:ext cx="2104343" cy="480272"/>
            </a:xfrm>
            <a:prstGeom prst="rect">
              <a:avLst/>
            </a:prstGeom>
          </p:spPr>
        </p:pic>
        <p:pic>
          <p:nvPicPr>
            <p:cNvPr id="23" name="圖片 22" descr="一張含有 文字, 螢幕擷取畫面 的圖片&#10;&#10;自動產生的描述">
              <a:extLst>
                <a:ext uri="{FF2B5EF4-FFF2-40B4-BE49-F238E27FC236}">
                  <a16:creationId xmlns:a16="http://schemas.microsoft.com/office/drawing/2014/main" id="{CB3372ED-EFD2-A542-8926-4B819A528240}"/>
                </a:ext>
              </a:extLst>
            </p:cNvPr>
            <p:cNvPicPr>
              <a:picLocks noChangeAspect="1"/>
            </p:cNvPicPr>
            <p:nvPr/>
          </p:nvPicPr>
          <p:blipFill rotWithShape="1">
            <a:blip r:embed="rId4"/>
            <a:srcRect t="14188" b="65996"/>
            <a:stretch/>
          </p:blipFill>
          <p:spPr>
            <a:xfrm>
              <a:off x="7293711" y="574246"/>
              <a:ext cx="2046726" cy="517895"/>
            </a:xfrm>
            <a:prstGeom prst="rect">
              <a:avLst/>
            </a:prstGeom>
          </p:spPr>
        </p:pic>
        <p:pic>
          <p:nvPicPr>
            <p:cNvPr id="25" name="圖片 24" descr="一張含有 文字, 螢幕擷取畫面 的圖片&#10;&#10;自動產生的描述">
              <a:extLst>
                <a:ext uri="{FF2B5EF4-FFF2-40B4-BE49-F238E27FC236}">
                  <a16:creationId xmlns:a16="http://schemas.microsoft.com/office/drawing/2014/main" id="{458A3A08-BA79-4546-92E5-44ED3C4599C5}"/>
                </a:ext>
              </a:extLst>
            </p:cNvPr>
            <p:cNvPicPr>
              <a:picLocks noChangeAspect="1"/>
            </p:cNvPicPr>
            <p:nvPr/>
          </p:nvPicPr>
          <p:blipFill rotWithShape="1">
            <a:blip r:embed="rId4"/>
            <a:srcRect t="31588" b="48742"/>
            <a:stretch/>
          </p:blipFill>
          <p:spPr>
            <a:xfrm>
              <a:off x="9732970" y="609975"/>
              <a:ext cx="2046796" cy="514105"/>
            </a:xfrm>
            <a:prstGeom prst="rect">
              <a:avLst/>
            </a:prstGeom>
          </p:spPr>
        </p:pic>
        <p:pic>
          <p:nvPicPr>
            <p:cNvPr id="26" name="圖片 25" descr="一張含有 文字, 螢幕擷取畫面 的圖片&#10;&#10;自動產生的描述">
              <a:extLst>
                <a:ext uri="{FF2B5EF4-FFF2-40B4-BE49-F238E27FC236}">
                  <a16:creationId xmlns:a16="http://schemas.microsoft.com/office/drawing/2014/main" id="{15BDC0B3-3269-DD4E-B7C1-847EF89A767F}"/>
                </a:ext>
              </a:extLst>
            </p:cNvPr>
            <p:cNvPicPr>
              <a:picLocks noChangeAspect="1"/>
            </p:cNvPicPr>
            <p:nvPr/>
          </p:nvPicPr>
          <p:blipFill rotWithShape="1">
            <a:blip r:embed="rId4"/>
            <a:srcRect t="49280" b="33563"/>
            <a:stretch/>
          </p:blipFill>
          <p:spPr>
            <a:xfrm>
              <a:off x="4897393" y="3430961"/>
              <a:ext cx="2046726" cy="448403"/>
            </a:xfrm>
            <a:prstGeom prst="rect">
              <a:avLst/>
            </a:prstGeom>
          </p:spPr>
        </p:pic>
        <p:pic>
          <p:nvPicPr>
            <p:cNvPr id="27" name="圖片 26" descr="一張含有 文字, 螢幕擷取畫面 的圖片&#10;&#10;自動產生的描述">
              <a:extLst>
                <a:ext uri="{FF2B5EF4-FFF2-40B4-BE49-F238E27FC236}">
                  <a16:creationId xmlns:a16="http://schemas.microsoft.com/office/drawing/2014/main" id="{DFB9D0C8-AE79-0D44-B853-8F06214DD374}"/>
                </a:ext>
              </a:extLst>
            </p:cNvPr>
            <p:cNvPicPr>
              <a:picLocks noChangeAspect="1"/>
            </p:cNvPicPr>
            <p:nvPr/>
          </p:nvPicPr>
          <p:blipFill rotWithShape="1">
            <a:blip r:embed="rId4"/>
            <a:srcRect t="65989" b="16069"/>
            <a:stretch/>
          </p:blipFill>
          <p:spPr>
            <a:xfrm>
              <a:off x="7318154" y="3420700"/>
              <a:ext cx="2046726" cy="468923"/>
            </a:xfrm>
            <a:prstGeom prst="rect">
              <a:avLst/>
            </a:prstGeom>
          </p:spPr>
        </p:pic>
      </p:grpSp>
      <p:sp>
        <p:nvSpPr>
          <p:cNvPr id="28" name="文字方塊 27">
            <a:extLst>
              <a:ext uri="{FF2B5EF4-FFF2-40B4-BE49-F238E27FC236}">
                <a16:creationId xmlns:a16="http://schemas.microsoft.com/office/drawing/2014/main" id="{4C66372A-9182-F74C-96F3-A1C061B5B6BB}"/>
              </a:ext>
            </a:extLst>
          </p:cNvPr>
          <p:cNvSpPr txBox="1"/>
          <p:nvPr/>
        </p:nvSpPr>
        <p:spPr>
          <a:xfrm>
            <a:off x="8248867" y="6551418"/>
            <a:ext cx="2848708" cy="246221"/>
          </a:xfrm>
          <a:prstGeom prst="rect">
            <a:avLst/>
          </a:prstGeom>
          <a:noFill/>
        </p:spPr>
        <p:txBody>
          <a:bodyPr wrap="square">
            <a:spAutoFit/>
          </a:bodyPr>
          <a:lstStyle/>
          <a:p>
            <a:r>
              <a:rPr lang="en-US" altLang="zh-TW" sz="1000" dirty="0">
                <a:solidFill>
                  <a:schemeClr val="bg1">
                    <a:lumMod val="50000"/>
                  </a:schemeClr>
                </a:solidFill>
              </a:rPr>
              <a:t>Pictures:</a:t>
            </a:r>
            <a:r>
              <a:rPr lang="zh-TW" altLang="en-US" sz="1000" dirty="0">
                <a:solidFill>
                  <a:schemeClr val="bg1">
                    <a:lumMod val="50000"/>
                  </a:schemeClr>
                </a:solidFill>
              </a:rPr>
              <a:t> https://zh.wikipedia.org/zh-tw/國際象棋</a:t>
            </a:r>
          </a:p>
        </p:txBody>
      </p:sp>
    </p:spTree>
    <p:extLst>
      <p:ext uri="{BB962C8B-B14F-4D97-AF65-F5344CB8AC3E}">
        <p14:creationId xmlns:p14="http://schemas.microsoft.com/office/powerpoint/2010/main" val="3567507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Chess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4</a:t>
            </a:fld>
            <a:endParaRPr kumimoji="1" lang="zh-TW" altLang="en-US" dirty="0"/>
          </a:p>
        </p:txBody>
      </p:sp>
      <p:sp>
        <p:nvSpPr>
          <p:cNvPr id="5" name="文字方塊 4">
            <a:extLst>
              <a:ext uri="{FF2B5EF4-FFF2-40B4-BE49-F238E27FC236}">
                <a16:creationId xmlns:a16="http://schemas.microsoft.com/office/drawing/2014/main" id="{394822BD-710A-0B4C-B220-FDB53FE39914}"/>
              </a:ext>
            </a:extLst>
          </p:cNvPr>
          <p:cNvSpPr txBox="1"/>
          <p:nvPr/>
        </p:nvSpPr>
        <p:spPr>
          <a:xfrm>
            <a:off x="4232031" y="1090246"/>
            <a:ext cx="184731" cy="369332"/>
          </a:xfrm>
          <a:prstGeom prst="rect">
            <a:avLst/>
          </a:prstGeom>
          <a:noFill/>
        </p:spPr>
        <p:txBody>
          <a:bodyPr wrap="none" rtlCol="0">
            <a:spAutoFit/>
          </a:bodyPr>
          <a:lstStyle/>
          <a:p>
            <a:endParaRPr kumimoji="1" lang="zh-TW" altLang="en-US" dirty="0"/>
          </a:p>
        </p:txBody>
      </p:sp>
      <p:pic>
        <p:nvPicPr>
          <p:cNvPr id="6" name="圖片 5" descr="一張含有 圖板遊戲, 室內遊戲和運動, 遊戲, 桌遊 的圖片&#10;&#10;自動產生的描述">
            <a:extLst>
              <a:ext uri="{FF2B5EF4-FFF2-40B4-BE49-F238E27FC236}">
                <a16:creationId xmlns:a16="http://schemas.microsoft.com/office/drawing/2014/main" id="{337D01FB-02C6-6E42-8699-C56877905E80}"/>
              </a:ext>
            </a:extLst>
          </p:cNvPr>
          <p:cNvPicPr>
            <a:picLocks noChangeAspect="1"/>
          </p:cNvPicPr>
          <p:nvPr/>
        </p:nvPicPr>
        <p:blipFill rotWithShape="1">
          <a:blip r:embed="rId3"/>
          <a:srcRect l="3135" t="4294" r="4057"/>
          <a:stretch/>
        </p:blipFill>
        <p:spPr>
          <a:xfrm>
            <a:off x="1513366" y="2126899"/>
            <a:ext cx="4280095" cy="4329308"/>
          </a:xfrm>
          <a:prstGeom prst="rect">
            <a:avLst/>
          </a:prstGeom>
        </p:spPr>
      </p:pic>
      <p:pic>
        <p:nvPicPr>
          <p:cNvPr id="8" name="圖片 7" descr="一張含有 圖板遊戲, 遊戲, 室內遊戲和運動, 桌遊 的圖片&#10;&#10;自動產生的描述">
            <a:extLst>
              <a:ext uri="{FF2B5EF4-FFF2-40B4-BE49-F238E27FC236}">
                <a16:creationId xmlns:a16="http://schemas.microsoft.com/office/drawing/2014/main" id="{A965D309-E8D2-B546-A697-147401345941}"/>
              </a:ext>
            </a:extLst>
          </p:cNvPr>
          <p:cNvPicPr>
            <a:picLocks noChangeAspect="1"/>
          </p:cNvPicPr>
          <p:nvPr/>
        </p:nvPicPr>
        <p:blipFill>
          <a:blip r:embed="rId4"/>
          <a:stretch>
            <a:fillRect/>
          </a:stretch>
        </p:blipFill>
        <p:spPr>
          <a:xfrm>
            <a:off x="6398541" y="2125537"/>
            <a:ext cx="4280094" cy="4330670"/>
          </a:xfrm>
          <a:prstGeom prst="rect">
            <a:avLst/>
          </a:prstGeom>
        </p:spPr>
      </p:pic>
      <p:pic>
        <p:nvPicPr>
          <p:cNvPr id="9" name="圖片 8" descr="一張含有 文字, 數字, 螢幕擷取畫面, 字型 的圖片&#10;&#10;自動產生的描述">
            <a:extLst>
              <a:ext uri="{FF2B5EF4-FFF2-40B4-BE49-F238E27FC236}">
                <a16:creationId xmlns:a16="http://schemas.microsoft.com/office/drawing/2014/main" id="{899EF7B3-6853-784B-BA8A-1A3EBD0AD3A6}"/>
              </a:ext>
            </a:extLst>
          </p:cNvPr>
          <p:cNvPicPr>
            <a:picLocks noChangeAspect="1"/>
          </p:cNvPicPr>
          <p:nvPr/>
        </p:nvPicPr>
        <p:blipFill rotWithShape="1">
          <a:blip r:embed="rId5"/>
          <a:srcRect b="50000"/>
          <a:stretch/>
        </p:blipFill>
        <p:spPr>
          <a:xfrm>
            <a:off x="6800392" y="410375"/>
            <a:ext cx="3620415" cy="1359741"/>
          </a:xfrm>
          <a:prstGeom prst="rect">
            <a:avLst/>
          </a:prstGeom>
        </p:spPr>
      </p:pic>
    </p:spTree>
    <p:extLst>
      <p:ext uri="{BB962C8B-B14F-4D97-AF65-F5344CB8AC3E}">
        <p14:creationId xmlns:p14="http://schemas.microsoft.com/office/powerpoint/2010/main" val="229838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 altLang="zh-TW" dirty="0">
                <a:latin typeface="Times" pitchFamily="2" charset="0"/>
              </a:rPr>
              <a:t>Word</a:t>
            </a:r>
            <a:r>
              <a:rPr kumimoji="1" lang="zh-TW" altLang="en-US" dirty="0">
                <a:latin typeface="Times" pitchFamily="2" charset="0"/>
              </a:rPr>
              <a:t> </a:t>
            </a:r>
            <a:r>
              <a:rPr kumimoji="1" lang="en-US" altLang="zh-TW" dirty="0">
                <a:latin typeface="Times" pitchFamily="2" charset="0"/>
              </a:rPr>
              <a:t>embedding</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AEC2A638-FB11-BC41-B4C4-91EA30E22F7F}"/>
              </a:ext>
            </a:extLst>
          </p:cNvPr>
          <p:cNvSpPr>
            <a:spLocks noGrp="1"/>
          </p:cNvSpPr>
          <p:nvPr>
            <p:ph idx="1"/>
          </p:nvPr>
        </p:nvSpPr>
        <p:spPr>
          <a:xfrm>
            <a:off x="838201" y="1845041"/>
            <a:ext cx="10515600" cy="4351338"/>
          </a:xfrm>
        </p:spPr>
        <p:txBody>
          <a:bodyPr>
            <a:normAutofit/>
          </a:bodyPr>
          <a:lstStyle/>
          <a:p>
            <a:pPr>
              <a:lnSpc>
                <a:spcPct val="100000"/>
              </a:lnSpc>
            </a:pPr>
            <a:r>
              <a:rPr kumimoji="1" lang="en-US" altLang="zh-TW" sz="2400" dirty="0">
                <a:latin typeface="Times" pitchFamily="2" charset="0"/>
              </a:rPr>
              <a:t>A technique represents words as vectors, capturing semantic relationships based on contextual similarities in language.</a:t>
            </a:r>
          </a:p>
          <a:p>
            <a:pPr>
              <a:lnSpc>
                <a:spcPct val="100000"/>
              </a:lnSpc>
            </a:pPr>
            <a:r>
              <a:rPr kumimoji="1" lang="en-US" altLang="zh-TW" sz="2400" dirty="0">
                <a:latin typeface="Times" pitchFamily="2" charset="0"/>
              </a:rPr>
              <a:t>Representing text as numbers:</a:t>
            </a:r>
          </a:p>
          <a:p>
            <a:pPr lvl="1">
              <a:lnSpc>
                <a:spcPct val="100000"/>
              </a:lnSpc>
            </a:pPr>
            <a:r>
              <a:rPr kumimoji="1" lang="en-US" altLang="zh-TW" sz="2000" dirty="0">
                <a:latin typeface="Times" pitchFamily="2" charset="0"/>
              </a:rPr>
              <a:t>One-hot</a:t>
            </a:r>
            <a:r>
              <a:rPr kumimoji="1" lang="zh-TW" altLang="en-US" sz="2000" dirty="0">
                <a:latin typeface="Times" pitchFamily="2" charset="0"/>
              </a:rPr>
              <a:t> </a:t>
            </a:r>
            <a:r>
              <a:rPr kumimoji="1" lang="en-US" altLang="zh-TW" sz="2000" dirty="0">
                <a:latin typeface="Times" pitchFamily="2" charset="0"/>
              </a:rPr>
              <a:t>encodings</a:t>
            </a:r>
          </a:p>
          <a:p>
            <a:pPr lvl="1">
              <a:lnSpc>
                <a:spcPct val="100000"/>
              </a:lnSpc>
            </a:pPr>
            <a:r>
              <a:rPr kumimoji="1" lang="en-US" altLang="zh-TW" sz="2000" dirty="0">
                <a:latin typeface="Times" pitchFamily="2" charset="0"/>
              </a:rPr>
              <a:t>Encoding each word with a unique number</a:t>
            </a:r>
          </a:p>
          <a:p>
            <a:pPr lvl="1">
              <a:lnSpc>
                <a:spcPct val="100000"/>
              </a:lnSpc>
            </a:pPr>
            <a:r>
              <a:rPr kumimoji="1" lang="en-US" altLang="zh-TW" sz="2000" dirty="0">
                <a:latin typeface="Times" pitchFamily="2" charset="0"/>
              </a:rPr>
              <a:t>E.g.,</a:t>
            </a:r>
            <a:r>
              <a:rPr kumimoji="1" lang="zh-TW" altLang="en-US" sz="2000" dirty="0">
                <a:latin typeface="Times" pitchFamily="2" charset="0"/>
              </a:rPr>
              <a:t> </a:t>
            </a:r>
            <a:r>
              <a:rPr kumimoji="1" lang="en-US" altLang="zh-TW" sz="2000" dirty="0">
                <a:latin typeface="Times" pitchFamily="2" charset="0"/>
              </a:rPr>
              <a:t>“</a:t>
            </a:r>
            <a:r>
              <a:rPr kumimoji="1" lang="en" altLang="zh-TW" sz="2000" dirty="0">
                <a:latin typeface="Times" pitchFamily="2" charset="0"/>
              </a:rPr>
              <a:t>The cat sat on the mat</a:t>
            </a:r>
            <a:r>
              <a:rPr kumimoji="1" lang="en-US" altLang="zh-TW" sz="2000" dirty="0">
                <a:latin typeface="Times" pitchFamily="2" charset="0"/>
              </a:rPr>
              <a:t>”</a:t>
            </a: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5</a:t>
            </a:fld>
            <a:endParaRPr kumimoji="1" lang="zh-TW" altLang="en-US" dirty="0"/>
          </a:p>
        </p:txBody>
      </p:sp>
      <p:sp>
        <p:nvSpPr>
          <p:cNvPr id="5" name="文字方塊 4">
            <a:extLst>
              <a:ext uri="{FF2B5EF4-FFF2-40B4-BE49-F238E27FC236}">
                <a16:creationId xmlns:a16="http://schemas.microsoft.com/office/drawing/2014/main" id="{394822BD-710A-0B4C-B220-FDB53FE39914}"/>
              </a:ext>
            </a:extLst>
          </p:cNvPr>
          <p:cNvSpPr txBox="1"/>
          <p:nvPr/>
        </p:nvSpPr>
        <p:spPr>
          <a:xfrm>
            <a:off x="4232031" y="1090246"/>
            <a:ext cx="184731" cy="369332"/>
          </a:xfrm>
          <a:prstGeom prst="rect">
            <a:avLst/>
          </a:prstGeom>
          <a:noFill/>
        </p:spPr>
        <p:txBody>
          <a:bodyPr wrap="none" rtlCol="0">
            <a:spAutoFit/>
          </a:bodyPr>
          <a:lstStyle/>
          <a:p>
            <a:endParaRPr kumimoji="1" lang="zh-TW" altLang="en-US" dirty="0"/>
          </a:p>
        </p:txBody>
      </p:sp>
      <p:sp>
        <p:nvSpPr>
          <p:cNvPr id="9" name="文字方塊 8">
            <a:extLst>
              <a:ext uri="{FF2B5EF4-FFF2-40B4-BE49-F238E27FC236}">
                <a16:creationId xmlns:a16="http://schemas.microsoft.com/office/drawing/2014/main" id="{0A8CCF3D-9318-D348-9A45-9D77B1983130}"/>
              </a:ext>
            </a:extLst>
          </p:cNvPr>
          <p:cNvSpPr txBox="1"/>
          <p:nvPr/>
        </p:nvSpPr>
        <p:spPr>
          <a:xfrm>
            <a:off x="8856786" y="6635225"/>
            <a:ext cx="3335214" cy="246221"/>
          </a:xfrm>
          <a:prstGeom prst="rect">
            <a:avLst/>
          </a:prstGeom>
          <a:noFill/>
        </p:spPr>
        <p:txBody>
          <a:bodyPr wrap="square">
            <a:spAutoFit/>
          </a:bodyPr>
          <a:lstStyle/>
          <a:p>
            <a:r>
              <a:rPr lang="en-US" altLang="zh-TW" sz="1000" dirty="0">
                <a:solidFill>
                  <a:schemeClr val="bg1">
                    <a:lumMod val="50000"/>
                  </a:schemeClr>
                </a:solidFill>
                <a:latin typeface="Times New Roman" panose="02020603050405020304" pitchFamily="18" charset="0"/>
                <a:cs typeface="Times New Roman" panose="02020603050405020304" pitchFamily="18" charset="0"/>
              </a:rPr>
              <a:t>https://</a:t>
            </a:r>
            <a:r>
              <a:rPr lang="en-US" altLang="zh-TW" sz="1000" dirty="0" err="1">
                <a:solidFill>
                  <a:schemeClr val="bg1">
                    <a:lumMod val="50000"/>
                  </a:schemeClr>
                </a:solidFill>
                <a:latin typeface="Times New Roman" panose="02020603050405020304" pitchFamily="18" charset="0"/>
                <a:cs typeface="Times New Roman" panose="02020603050405020304" pitchFamily="18" charset="0"/>
              </a:rPr>
              <a:t>www.tensorflow.org</a:t>
            </a:r>
            <a:r>
              <a:rPr lang="en-US" altLang="zh-TW" sz="1000" dirty="0">
                <a:solidFill>
                  <a:schemeClr val="bg1">
                    <a:lumMod val="50000"/>
                  </a:schemeClr>
                </a:solidFill>
                <a:latin typeface="Times New Roman" panose="02020603050405020304" pitchFamily="18" charset="0"/>
                <a:cs typeface="Times New Roman" panose="02020603050405020304" pitchFamily="18" charset="0"/>
              </a:rPr>
              <a:t>/text/tutorials/</a:t>
            </a:r>
            <a:r>
              <a:rPr lang="en-US" altLang="zh-TW" sz="1000" dirty="0" err="1">
                <a:solidFill>
                  <a:schemeClr val="bg1">
                    <a:lumMod val="50000"/>
                  </a:schemeClr>
                </a:solidFill>
                <a:latin typeface="Times New Roman" panose="02020603050405020304" pitchFamily="18" charset="0"/>
                <a:cs typeface="Times New Roman" panose="02020603050405020304" pitchFamily="18" charset="0"/>
              </a:rPr>
              <a:t>word_embeddings</a:t>
            </a:r>
            <a:endParaRPr lang="zh-TW" altLang="en-US" sz="1000" dirty="0">
              <a:solidFill>
                <a:schemeClr val="bg1">
                  <a:lumMod val="50000"/>
                </a:schemeClr>
              </a:solidFill>
              <a:latin typeface="Times New Roman" panose="02020603050405020304" pitchFamily="18" charset="0"/>
              <a:cs typeface="Times New Roman" panose="02020603050405020304" pitchFamily="18" charset="0"/>
            </a:endParaRPr>
          </a:p>
        </p:txBody>
      </p:sp>
      <p:grpSp>
        <p:nvGrpSpPr>
          <p:cNvPr id="13" name="群組 12">
            <a:extLst>
              <a:ext uri="{FF2B5EF4-FFF2-40B4-BE49-F238E27FC236}">
                <a16:creationId xmlns:a16="http://schemas.microsoft.com/office/drawing/2014/main" id="{1AD4FB87-8916-2743-814F-0CF87DEDB195}"/>
              </a:ext>
            </a:extLst>
          </p:cNvPr>
          <p:cNvGrpSpPr/>
          <p:nvPr/>
        </p:nvGrpSpPr>
        <p:grpSpPr>
          <a:xfrm>
            <a:off x="6589810" y="3910135"/>
            <a:ext cx="4763989" cy="2366230"/>
            <a:chOff x="6909144" y="3984502"/>
            <a:chExt cx="4763989" cy="2366230"/>
          </a:xfrm>
        </p:grpSpPr>
        <p:pic>
          <p:nvPicPr>
            <p:cNvPr id="7" name="圖片 6" descr="一張含有 文字, 螢幕擷取畫面, 字型, 數字 的圖片&#10;&#10;自動產生的描述">
              <a:extLst>
                <a:ext uri="{FF2B5EF4-FFF2-40B4-BE49-F238E27FC236}">
                  <a16:creationId xmlns:a16="http://schemas.microsoft.com/office/drawing/2014/main" id="{A5D6DFA9-1349-BF45-9F65-D87E97CF8C8A}"/>
                </a:ext>
              </a:extLst>
            </p:cNvPr>
            <p:cNvPicPr>
              <a:picLocks noChangeAspect="1"/>
            </p:cNvPicPr>
            <p:nvPr/>
          </p:nvPicPr>
          <p:blipFill>
            <a:blip r:embed="rId3"/>
            <a:stretch>
              <a:fillRect/>
            </a:stretch>
          </p:blipFill>
          <p:spPr>
            <a:xfrm>
              <a:off x="6909144" y="3990120"/>
              <a:ext cx="2832734" cy="2360612"/>
            </a:xfrm>
            <a:prstGeom prst="rect">
              <a:avLst/>
            </a:prstGeom>
          </p:spPr>
        </p:pic>
        <p:sp>
          <p:nvSpPr>
            <p:cNvPr id="10" name="文字方塊 9">
              <a:extLst>
                <a:ext uri="{FF2B5EF4-FFF2-40B4-BE49-F238E27FC236}">
                  <a16:creationId xmlns:a16="http://schemas.microsoft.com/office/drawing/2014/main" id="{C7BBD9FD-0BA4-EA45-BB0C-DE14ABE7A6F8}"/>
                </a:ext>
              </a:extLst>
            </p:cNvPr>
            <p:cNvSpPr txBox="1"/>
            <p:nvPr/>
          </p:nvSpPr>
          <p:spPr>
            <a:xfrm>
              <a:off x="9997749" y="4905774"/>
              <a:ext cx="1592305" cy="369332"/>
            </a:xfrm>
            <a:prstGeom prst="rect">
              <a:avLst/>
            </a:prstGeom>
            <a:noFill/>
          </p:spPr>
          <p:txBody>
            <a:bodyPr wrap="square">
              <a:spAutoFit/>
            </a:bodyPr>
            <a:lstStyle/>
            <a:p>
              <a:r>
                <a:rPr lang="en-US" altLang="zh-TW" b="0" i="0" u="none" strike="noStrike" dirty="0">
                  <a:solidFill>
                    <a:srgbClr val="202124"/>
                  </a:solidFill>
                  <a:effectLst/>
                  <a:latin typeface="Times New Roman" panose="02020603050405020304" pitchFamily="18" charset="0"/>
                  <a:cs typeface="Times New Roman" panose="02020603050405020304" pitchFamily="18" charset="0"/>
                </a:rPr>
                <a:t>[5, 1, 4, 3, 5, 2]</a:t>
              </a:r>
              <a:endParaRPr lang="zh-TW" altLang="en-US" dirty="0">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4456C447-1C37-A14A-91D9-5586289AD47B}"/>
                </a:ext>
              </a:extLst>
            </p:cNvPr>
            <p:cNvSpPr txBox="1"/>
            <p:nvPr/>
          </p:nvSpPr>
          <p:spPr>
            <a:xfrm>
              <a:off x="9914671" y="3984502"/>
              <a:ext cx="1758462" cy="369332"/>
            </a:xfrm>
            <a:prstGeom prst="rect">
              <a:avLst/>
            </a:prstGeom>
            <a:noFill/>
          </p:spPr>
          <p:txBody>
            <a:bodyPr wrap="square">
              <a:spAutoFit/>
            </a:bodyPr>
            <a:lstStyle/>
            <a:p>
              <a:r>
                <a:rPr kumimoji="1" lang="en-US" altLang="zh-TW" sz="1800" b="1" dirty="0"/>
                <a:t>unique number</a:t>
              </a:r>
              <a:endParaRPr lang="zh-TW" altLang="en-US" b="1" dirty="0"/>
            </a:p>
          </p:txBody>
        </p:sp>
      </p:grpSp>
    </p:spTree>
    <p:extLst>
      <p:ext uri="{BB962C8B-B14F-4D97-AF65-F5344CB8AC3E}">
        <p14:creationId xmlns:p14="http://schemas.microsoft.com/office/powerpoint/2010/main" val="4225067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 altLang="zh-TW" dirty="0">
                <a:latin typeface="Times" pitchFamily="2" charset="0"/>
              </a:rPr>
              <a:t>Word2Vec</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6</a:t>
            </a:fld>
            <a:endParaRPr kumimoji="1" lang="zh-TW" altLang="en-US" dirty="0"/>
          </a:p>
        </p:txBody>
      </p:sp>
      <p:sp>
        <p:nvSpPr>
          <p:cNvPr id="5" name="文字方塊 4">
            <a:extLst>
              <a:ext uri="{FF2B5EF4-FFF2-40B4-BE49-F238E27FC236}">
                <a16:creationId xmlns:a16="http://schemas.microsoft.com/office/drawing/2014/main" id="{394822BD-710A-0B4C-B220-FDB53FE39914}"/>
              </a:ext>
            </a:extLst>
          </p:cNvPr>
          <p:cNvSpPr txBox="1"/>
          <p:nvPr/>
        </p:nvSpPr>
        <p:spPr>
          <a:xfrm>
            <a:off x="4232031" y="1090246"/>
            <a:ext cx="184731" cy="369332"/>
          </a:xfrm>
          <a:prstGeom prst="rect">
            <a:avLst/>
          </a:prstGeom>
          <a:noFill/>
        </p:spPr>
        <p:txBody>
          <a:bodyPr wrap="none" rtlCol="0">
            <a:spAutoFit/>
          </a:bodyPr>
          <a:lstStyle/>
          <a:p>
            <a:endParaRPr kumimoji="1" lang="zh-TW" altLang="en-US" dirty="0"/>
          </a:p>
        </p:txBody>
      </p:sp>
      <p:sp>
        <p:nvSpPr>
          <p:cNvPr id="9" name="文字方塊 8">
            <a:extLst>
              <a:ext uri="{FF2B5EF4-FFF2-40B4-BE49-F238E27FC236}">
                <a16:creationId xmlns:a16="http://schemas.microsoft.com/office/drawing/2014/main" id="{0A8CCF3D-9318-D348-9A45-9D77B1983130}"/>
              </a:ext>
            </a:extLst>
          </p:cNvPr>
          <p:cNvSpPr txBox="1"/>
          <p:nvPr/>
        </p:nvSpPr>
        <p:spPr>
          <a:xfrm>
            <a:off x="7408985" y="6611779"/>
            <a:ext cx="4783015" cy="246221"/>
          </a:xfrm>
          <a:prstGeom prst="rect">
            <a:avLst/>
          </a:prstGeom>
          <a:noFill/>
        </p:spPr>
        <p:txBody>
          <a:bodyPr wrap="square">
            <a:spAutoFit/>
          </a:bodyPr>
          <a:lstStyle/>
          <a:p>
            <a:r>
              <a:rPr lang="en-US" altLang="zh-TW" sz="1000" dirty="0">
                <a:solidFill>
                  <a:schemeClr val="bg1">
                    <a:lumMod val="50000"/>
                  </a:schemeClr>
                </a:solidFill>
                <a:latin typeface="Times New Roman" panose="02020603050405020304" pitchFamily="18" charset="0"/>
                <a:cs typeface="Times New Roman" panose="02020603050405020304" pitchFamily="18" charset="0"/>
              </a:rPr>
              <a:t>Picture:</a:t>
            </a:r>
            <a:r>
              <a:rPr lang="zh-TW" altLang="en-US" sz="1000" dirty="0">
                <a:solidFill>
                  <a:schemeClr val="bg1">
                    <a:lumMod val="50000"/>
                  </a:schemeClr>
                </a:solidFill>
                <a:latin typeface="Times New Roman" panose="02020603050405020304" pitchFamily="18" charset="0"/>
                <a:cs typeface="Times New Roman" panose="02020603050405020304" pitchFamily="18" charset="0"/>
              </a:rPr>
              <a:t>  </a:t>
            </a:r>
            <a:r>
              <a:rPr lang="en" altLang="zh-TW" sz="1000" dirty="0">
                <a:solidFill>
                  <a:schemeClr val="bg1">
                    <a:lumMod val="50000"/>
                  </a:schemeClr>
                </a:solidFill>
                <a:latin typeface="Times New Roman" panose="02020603050405020304" pitchFamily="18" charset="0"/>
                <a:cs typeface="Times New Roman" panose="02020603050405020304" pitchFamily="18" charset="0"/>
              </a:rPr>
              <a:t>Efficient Estimation of Word Representations in Vector Space</a:t>
            </a:r>
            <a:r>
              <a:rPr lang="en-US" altLang="zh-TW" sz="1000" dirty="0">
                <a:solidFill>
                  <a:schemeClr val="bg1">
                    <a:lumMod val="50000"/>
                  </a:schemeClr>
                </a:solidFill>
                <a:latin typeface="Times New Roman" panose="02020603050405020304" pitchFamily="18" charset="0"/>
                <a:cs typeface="Times New Roman" panose="02020603050405020304" pitchFamily="18" charset="0"/>
              </a:rPr>
              <a:t>.</a:t>
            </a:r>
            <a:r>
              <a:rPr lang="zh-TW" altLang="en-US" sz="1000" dirty="0">
                <a:solidFill>
                  <a:schemeClr val="bg1">
                    <a:lumMod val="50000"/>
                  </a:schemeClr>
                </a:solidFill>
                <a:latin typeface="Times New Roman" panose="02020603050405020304" pitchFamily="18" charset="0"/>
                <a:cs typeface="Times New Roman" panose="02020603050405020304" pitchFamily="18" charset="0"/>
              </a:rPr>
              <a:t> </a:t>
            </a:r>
            <a:r>
              <a:rPr lang="en" altLang="zh-TW" sz="1000" dirty="0">
                <a:solidFill>
                  <a:schemeClr val="bg1">
                    <a:lumMod val="50000"/>
                  </a:schemeClr>
                </a:solidFill>
                <a:latin typeface="Times New Roman" panose="02020603050405020304" pitchFamily="18" charset="0"/>
                <a:cs typeface="Times New Roman" panose="02020603050405020304" pitchFamily="18" charset="0"/>
              </a:rPr>
              <a:t>arXiv:1301.3781</a:t>
            </a:r>
            <a:r>
              <a:rPr lang="zh-TW" altLang="en-US" sz="1000" dirty="0">
                <a:solidFill>
                  <a:schemeClr val="bg1">
                    <a:lumMod val="50000"/>
                  </a:schemeClr>
                </a:solidFill>
                <a:latin typeface="Times New Roman" panose="02020603050405020304" pitchFamily="18" charset="0"/>
                <a:cs typeface="Times New Roman" panose="02020603050405020304" pitchFamily="18" charset="0"/>
              </a:rPr>
              <a:t> </a:t>
            </a:r>
          </a:p>
        </p:txBody>
      </p:sp>
      <p:grpSp>
        <p:nvGrpSpPr>
          <p:cNvPr id="18" name="群組 17">
            <a:extLst>
              <a:ext uri="{FF2B5EF4-FFF2-40B4-BE49-F238E27FC236}">
                <a16:creationId xmlns:a16="http://schemas.microsoft.com/office/drawing/2014/main" id="{5185765F-0B0B-6945-813F-34C8032E9C6D}"/>
              </a:ext>
            </a:extLst>
          </p:cNvPr>
          <p:cNvGrpSpPr/>
          <p:nvPr/>
        </p:nvGrpSpPr>
        <p:grpSpPr>
          <a:xfrm>
            <a:off x="2109267" y="1595629"/>
            <a:ext cx="7973466" cy="4897246"/>
            <a:chOff x="2109267" y="1595629"/>
            <a:chExt cx="7973466" cy="4897246"/>
          </a:xfrm>
        </p:grpSpPr>
        <p:pic>
          <p:nvPicPr>
            <p:cNvPr id="15" name="圖片 14" descr="一張含有 圖表, 行, 文字, 字型 的圖片&#10;&#10;自動產生的描述">
              <a:extLst>
                <a:ext uri="{FF2B5EF4-FFF2-40B4-BE49-F238E27FC236}">
                  <a16:creationId xmlns:a16="http://schemas.microsoft.com/office/drawing/2014/main" id="{C78EF22C-3640-614D-ACD7-CD64A9E4F415}"/>
                </a:ext>
              </a:extLst>
            </p:cNvPr>
            <p:cNvPicPr>
              <a:picLocks noChangeAspect="1"/>
            </p:cNvPicPr>
            <p:nvPr/>
          </p:nvPicPr>
          <p:blipFill>
            <a:blip r:embed="rId3"/>
            <a:stretch>
              <a:fillRect/>
            </a:stretch>
          </p:blipFill>
          <p:spPr>
            <a:xfrm>
              <a:off x="2109267" y="1595629"/>
              <a:ext cx="7973466" cy="4621284"/>
            </a:xfrm>
            <a:prstGeom prst="rect">
              <a:avLst/>
            </a:prstGeom>
          </p:spPr>
        </p:pic>
        <p:sp>
          <p:nvSpPr>
            <p:cNvPr id="17" name="文字方塊 16">
              <a:extLst>
                <a:ext uri="{FF2B5EF4-FFF2-40B4-BE49-F238E27FC236}">
                  <a16:creationId xmlns:a16="http://schemas.microsoft.com/office/drawing/2014/main" id="{58D67C1F-82B4-A349-92A7-3D287F8DD6EE}"/>
                </a:ext>
              </a:extLst>
            </p:cNvPr>
            <p:cNvSpPr txBox="1"/>
            <p:nvPr/>
          </p:nvSpPr>
          <p:spPr>
            <a:xfrm>
              <a:off x="2844087" y="6123543"/>
              <a:ext cx="2775888"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a:t>
              </a:r>
              <a:r>
                <a:rPr kumimoji="1" lang="en" altLang="zh-TW" dirty="0">
                  <a:latin typeface="Times New Roman" panose="02020603050405020304" pitchFamily="18" charset="0"/>
                  <a:cs typeface="Times New Roman" panose="02020603050405020304" pitchFamily="18" charset="0"/>
                </a:rPr>
                <a:t>Continuous Bag-of-Words</a:t>
              </a:r>
              <a:r>
                <a:rPr kumimoji="1" lang="en-US" altLang="zh-TW" dirty="0">
                  <a:latin typeface="Times New Roman" panose="02020603050405020304" pitchFamily="18" charset="0"/>
                  <a:cs typeface="Times New Roman" panose="02020603050405020304" pitchFamily="18" charset="0"/>
                </a:rPr>
                <a:t>)</a:t>
              </a:r>
              <a:endParaRPr kumimoji="1" lang="zh-TW" altLang="en-US"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392410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 altLang="zh-TW" dirty="0">
                <a:latin typeface="Times" pitchFamily="2" charset="0"/>
              </a:rPr>
              <a:t>Word</a:t>
            </a:r>
            <a:r>
              <a:rPr kumimoji="1" lang="zh-TW" altLang="en-US" dirty="0">
                <a:latin typeface="Times" pitchFamily="2" charset="0"/>
              </a:rPr>
              <a:t> </a:t>
            </a:r>
            <a:r>
              <a:rPr kumimoji="1" lang="en-US" altLang="zh-TW" dirty="0">
                <a:latin typeface="Times" pitchFamily="2" charset="0"/>
              </a:rPr>
              <a:t>similarity</a:t>
            </a:r>
            <a:endParaRPr kumimoji="1" lang="zh-TW" altLang="en-US" dirty="0">
              <a:latin typeface="Times" pitchFamily="2" charset="0"/>
            </a:endParaRP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AEC2A638-FB11-BC41-B4C4-91EA30E22F7F}"/>
                  </a:ext>
                </a:extLst>
              </p:cNvPr>
              <p:cNvSpPr>
                <a:spLocks noGrp="1"/>
              </p:cNvSpPr>
              <p:nvPr>
                <p:ph idx="1"/>
              </p:nvPr>
            </p:nvSpPr>
            <p:spPr>
              <a:xfrm>
                <a:off x="612531" y="1828121"/>
                <a:ext cx="10966938" cy="4351338"/>
              </a:xfrm>
            </p:spPr>
            <p:txBody>
              <a:bodyPr>
                <a:normAutofit/>
              </a:bodyPr>
              <a:lstStyle/>
              <a:p>
                <a:pPr>
                  <a:lnSpc>
                    <a:spcPct val="100000"/>
                  </a:lnSpc>
                </a:pPr>
                <a14:m>
                  <m:oMath xmlns:m="http://schemas.openxmlformats.org/officeDocument/2006/math">
                    <m:func>
                      <m:funcPr>
                        <m:ctrlPr>
                          <a:rPr kumimoji="1" lang="en-US" altLang="zh-TW" sz="2400" i="1" smtClean="0">
                            <a:latin typeface="Cambria Math" panose="02040503050406030204" pitchFamily="18" charset="0"/>
                          </a:rPr>
                        </m:ctrlPr>
                      </m:funcPr>
                      <m:fName>
                        <m:r>
                          <m:rPr>
                            <m:sty m:val="p"/>
                          </m:rPr>
                          <a:rPr kumimoji="1" lang="en-US" altLang="zh-TW" sz="2400" i="0" smtClean="0">
                            <a:latin typeface="Cambria Math" panose="02040503050406030204" pitchFamily="18" charset="0"/>
                          </a:rPr>
                          <m:t>cos</m:t>
                        </m:r>
                      </m:fName>
                      <m:e>
                        <m:r>
                          <a:rPr kumimoji="1" lang="en-US" altLang="zh-TW" sz="2400" i="1" smtClean="0">
                            <a:latin typeface="Cambria Math" panose="02040503050406030204" pitchFamily="18" charset="0"/>
                            <a:ea typeface="Cambria Math" panose="02040503050406030204" pitchFamily="18" charset="0"/>
                          </a:rPr>
                          <m:t>𝜃</m:t>
                        </m:r>
                      </m:e>
                    </m:func>
                    <m:r>
                      <a:rPr kumimoji="1" lang="en-US" altLang="zh-TW" sz="2400" b="0" i="1" smtClean="0">
                        <a:latin typeface="Cambria Math" panose="02040503050406030204" pitchFamily="18" charset="0"/>
                      </a:rPr>
                      <m:t>=</m:t>
                    </m:r>
                    <m:r>
                      <a:rPr kumimoji="1" lang="zh-TW" altLang="en-US" sz="2400" b="0" i="1" smtClean="0">
                        <a:latin typeface="Cambria Math" panose="02040503050406030204" pitchFamily="18" charset="0"/>
                      </a:rPr>
                      <m:t> </m:t>
                    </m:r>
                    <m:f>
                      <m:fPr>
                        <m:ctrlPr>
                          <a:rPr kumimoji="1" lang="en-US" altLang="zh-TW" sz="2400" b="0" i="1" smtClean="0">
                            <a:latin typeface="Cambria Math" panose="02040503050406030204" pitchFamily="18" charset="0"/>
                          </a:rPr>
                        </m:ctrlPr>
                      </m:fPr>
                      <m:num>
                        <m:r>
                          <a:rPr kumimoji="1" lang="en-US" altLang="zh-TW" sz="2400" b="0" i="1" smtClean="0">
                            <a:latin typeface="Cambria Math" panose="02040503050406030204" pitchFamily="18" charset="0"/>
                          </a:rPr>
                          <m:t>𝐴</m:t>
                        </m:r>
                        <m:r>
                          <a:rPr kumimoji="1" lang="zh-TW" altLang="en-US" sz="2400" b="0" i="1" smtClean="0">
                            <a:latin typeface="Cambria Math" panose="02040503050406030204" pitchFamily="18" charset="0"/>
                          </a:rPr>
                          <m:t> ∙ </m:t>
                        </m:r>
                        <m:r>
                          <a:rPr kumimoji="1" lang="en-US" altLang="zh-TW" sz="2400" b="0" i="1" smtClean="0">
                            <a:latin typeface="Cambria Math" panose="02040503050406030204" pitchFamily="18" charset="0"/>
                          </a:rPr>
                          <m:t>𝐵</m:t>
                        </m:r>
                      </m:num>
                      <m:den>
                        <m:r>
                          <a:rPr kumimoji="1" lang="en-US" altLang="zh-TW" sz="2400" b="0" i="1" smtClean="0">
                            <a:latin typeface="Cambria Math" panose="02040503050406030204" pitchFamily="18" charset="0"/>
                            <a:ea typeface="Cambria Math" panose="02040503050406030204" pitchFamily="18" charset="0"/>
                          </a:rPr>
                          <m:t>∥</m:t>
                        </m:r>
                        <m:r>
                          <a:rPr kumimoji="1" lang="en-US" altLang="zh-TW" sz="2400" b="0" i="1" smtClean="0">
                            <a:latin typeface="Cambria Math" panose="02040503050406030204" pitchFamily="18" charset="0"/>
                            <a:ea typeface="Cambria Math" panose="02040503050406030204" pitchFamily="18" charset="0"/>
                          </a:rPr>
                          <m:t>𝐴</m:t>
                        </m:r>
                        <m:r>
                          <a:rPr kumimoji="1" lang="en-US" altLang="zh-TW" sz="2400" b="0" i="1" smtClean="0">
                            <a:latin typeface="Cambria Math" panose="02040503050406030204" pitchFamily="18" charset="0"/>
                            <a:ea typeface="Cambria Math" panose="02040503050406030204" pitchFamily="18" charset="0"/>
                          </a:rPr>
                          <m:t>∥</m:t>
                        </m:r>
                        <m:r>
                          <a:rPr kumimoji="1" lang="zh-TW" altLang="en-US" sz="2400" b="0" i="1" smtClean="0">
                            <a:latin typeface="Cambria Math" panose="02040503050406030204" pitchFamily="18" charset="0"/>
                            <a:ea typeface="Cambria Math" panose="02040503050406030204" pitchFamily="18" charset="0"/>
                          </a:rPr>
                          <m:t> ∥</m:t>
                        </m:r>
                        <m:r>
                          <a:rPr kumimoji="1" lang="en-US" altLang="zh-TW" sz="2400" b="0" i="1" smtClean="0">
                            <a:latin typeface="Cambria Math" panose="02040503050406030204" pitchFamily="18" charset="0"/>
                            <a:ea typeface="Cambria Math" panose="02040503050406030204" pitchFamily="18" charset="0"/>
                          </a:rPr>
                          <m:t>𝐵</m:t>
                        </m:r>
                        <m:r>
                          <a:rPr kumimoji="1" lang="en-US" altLang="zh-TW" sz="2400" b="0" i="1" smtClean="0">
                            <a:latin typeface="Cambria Math" panose="02040503050406030204" pitchFamily="18" charset="0"/>
                            <a:ea typeface="Cambria Math" panose="02040503050406030204" pitchFamily="18" charset="0"/>
                          </a:rPr>
                          <m:t>∥</m:t>
                        </m:r>
                      </m:den>
                    </m:f>
                    <m:r>
                      <a:rPr kumimoji="1" lang="en-US" altLang="zh-TW" sz="2400" b="0" i="1" smtClean="0">
                        <a:latin typeface="Cambria Math" panose="02040503050406030204" pitchFamily="18" charset="0"/>
                      </a:rPr>
                      <m:t>=</m:t>
                    </m:r>
                    <m:r>
                      <a:rPr kumimoji="1" lang="zh-TW" altLang="en-US" sz="2400" b="0" i="1" smtClean="0">
                        <a:latin typeface="Cambria Math" panose="02040503050406030204" pitchFamily="18" charset="0"/>
                      </a:rPr>
                      <m:t> </m:t>
                    </m:r>
                    <m:f>
                      <m:fPr>
                        <m:ctrlPr>
                          <a:rPr kumimoji="1" lang="en-US" altLang="zh-TW" sz="2400" b="0" i="1" smtClean="0">
                            <a:latin typeface="Cambria Math" panose="02040503050406030204" pitchFamily="18" charset="0"/>
                          </a:rPr>
                        </m:ctrlPr>
                      </m:fPr>
                      <m:num>
                        <m:nary>
                          <m:naryPr>
                            <m:chr m:val="∑"/>
                            <m:ctrlPr>
                              <a:rPr kumimoji="1" lang="en-US" altLang="zh-TW" sz="2400" b="0" i="1" smtClean="0">
                                <a:latin typeface="Cambria Math" panose="02040503050406030204" pitchFamily="18" charset="0"/>
                              </a:rPr>
                            </m:ctrlPr>
                          </m:naryPr>
                          <m:sub>
                            <m:r>
                              <m:rPr>
                                <m:brk m:alnAt="23"/>
                              </m:rPr>
                              <a:rPr kumimoji="1" lang="en-US" altLang="zh-TW" sz="2400" b="0" i="1" smtClean="0">
                                <a:latin typeface="Cambria Math" panose="02040503050406030204" pitchFamily="18" charset="0"/>
                              </a:rPr>
                              <m:t>𝑖</m:t>
                            </m:r>
                            <m:r>
                              <a:rPr kumimoji="1" lang="en-US" altLang="zh-TW" sz="2400" b="0" i="1" smtClean="0">
                                <a:latin typeface="Cambria Math" panose="02040503050406030204" pitchFamily="18" charset="0"/>
                              </a:rPr>
                              <m:t>=1</m:t>
                            </m:r>
                          </m:sub>
                          <m:sup>
                            <m:r>
                              <a:rPr kumimoji="1" lang="en-US" altLang="zh-TW" sz="2400" b="0" i="1" smtClean="0">
                                <a:latin typeface="Cambria Math" panose="02040503050406030204" pitchFamily="18" charset="0"/>
                              </a:rPr>
                              <m:t>𝑛</m:t>
                            </m:r>
                          </m:sup>
                          <m:e>
                            <m:sSub>
                              <m:sSubPr>
                                <m:ctrlPr>
                                  <a:rPr kumimoji="1" lang="en-US" altLang="zh-TW" sz="2400" b="0" i="1" smtClean="0">
                                    <a:latin typeface="Cambria Math" panose="02040503050406030204" pitchFamily="18" charset="0"/>
                                  </a:rPr>
                                </m:ctrlPr>
                              </m:sSubPr>
                              <m:e>
                                <m:r>
                                  <a:rPr kumimoji="1" lang="en-US" altLang="zh-TW" sz="2400" b="0" i="1" smtClean="0">
                                    <a:latin typeface="Cambria Math" panose="02040503050406030204" pitchFamily="18" charset="0"/>
                                  </a:rPr>
                                  <m:t>𝐴</m:t>
                                </m:r>
                              </m:e>
                              <m:sub>
                                <m:r>
                                  <a:rPr kumimoji="1" lang="en-US" altLang="zh-TW" sz="2400" b="0" i="1" smtClean="0">
                                    <a:latin typeface="Cambria Math" panose="02040503050406030204" pitchFamily="18" charset="0"/>
                                  </a:rPr>
                                  <m:t>𝑖</m:t>
                                </m:r>
                              </m:sub>
                            </m:sSub>
                            <m:sSub>
                              <m:sSubPr>
                                <m:ctrlPr>
                                  <a:rPr kumimoji="1" lang="en-US" altLang="zh-TW" sz="2400" b="0" i="1" smtClean="0">
                                    <a:latin typeface="Cambria Math" panose="02040503050406030204" pitchFamily="18" charset="0"/>
                                  </a:rPr>
                                </m:ctrlPr>
                              </m:sSubPr>
                              <m:e>
                                <m:r>
                                  <a:rPr kumimoji="1" lang="en-US" altLang="zh-TW" sz="2400" b="0" i="1" smtClean="0">
                                    <a:latin typeface="Cambria Math" panose="02040503050406030204" pitchFamily="18" charset="0"/>
                                  </a:rPr>
                                  <m:t>𝐵</m:t>
                                </m:r>
                              </m:e>
                              <m:sub>
                                <m:r>
                                  <a:rPr kumimoji="1" lang="en-US" altLang="zh-TW" sz="2400" b="0" i="1" smtClean="0">
                                    <a:latin typeface="Cambria Math" panose="02040503050406030204" pitchFamily="18" charset="0"/>
                                  </a:rPr>
                                  <m:t>𝑖</m:t>
                                </m:r>
                              </m:sub>
                            </m:sSub>
                          </m:e>
                        </m:nary>
                      </m:num>
                      <m:den>
                        <m:rad>
                          <m:radPr>
                            <m:degHide m:val="on"/>
                            <m:ctrlPr>
                              <a:rPr kumimoji="1" lang="en-US" altLang="zh-TW" sz="2400" b="0" i="1" smtClean="0">
                                <a:latin typeface="Cambria Math" panose="02040503050406030204" pitchFamily="18" charset="0"/>
                              </a:rPr>
                            </m:ctrlPr>
                          </m:radPr>
                          <m:deg/>
                          <m:e>
                            <m:nary>
                              <m:naryPr>
                                <m:chr m:val="∑"/>
                                <m:ctrlPr>
                                  <a:rPr kumimoji="1" lang="en-US" altLang="zh-TW" sz="2400" b="0" i="1" smtClean="0">
                                    <a:latin typeface="Cambria Math" panose="02040503050406030204" pitchFamily="18" charset="0"/>
                                  </a:rPr>
                                </m:ctrlPr>
                              </m:naryPr>
                              <m:sub>
                                <m:r>
                                  <m:rPr>
                                    <m:brk m:alnAt="23"/>
                                  </m:rPr>
                                  <a:rPr kumimoji="1" lang="en-US" altLang="zh-TW" sz="2400" b="0" i="1" smtClean="0">
                                    <a:latin typeface="Cambria Math" panose="02040503050406030204" pitchFamily="18" charset="0"/>
                                  </a:rPr>
                                  <m:t>𝑖</m:t>
                                </m:r>
                                <m:r>
                                  <a:rPr kumimoji="1" lang="en-US" altLang="zh-TW" sz="2400" b="0" i="1" smtClean="0">
                                    <a:latin typeface="Cambria Math" panose="02040503050406030204" pitchFamily="18" charset="0"/>
                                  </a:rPr>
                                  <m:t>=1</m:t>
                                </m:r>
                              </m:sub>
                              <m:sup>
                                <m:r>
                                  <a:rPr kumimoji="1" lang="en-US" altLang="zh-TW" sz="2400" b="0" i="1" smtClean="0">
                                    <a:latin typeface="Cambria Math" panose="02040503050406030204" pitchFamily="18" charset="0"/>
                                  </a:rPr>
                                  <m:t>𝑛</m:t>
                                </m:r>
                              </m:sup>
                              <m:e>
                                <m:sSup>
                                  <m:sSupPr>
                                    <m:ctrlPr>
                                      <a:rPr kumimoji="1" lang="en-US" altLang="zh-TW" sz="2400" b="0" i="1" smtClean="0">
                                        <a:latin typeface="Cambria Math" panose="02040503050406030204" pitchFamily="18" charset="0"/>
                                      </a:rPr>
                                    </m:ctrlPr>
                                  </m:sSupPr>
                                  <m:e>
                                    <m:sSub>
                                      <m:sSubPr>
                                        <m:ctrlPr>
                                          <a:rPr kumimoji="1" lang="en-US" altLang="zh-TW" sz="2400" b="0" i="1" smtClean="0">
                                            <a:latin typeface="Cambria Math" panose="02040503050406030204" pitchFamily="18" charset="0"/>
                                          </a:rPr>
                                        </m:ctrlPr>
                                      </m:sSubPr>
                                      <m:e>
                                        <m:r>
                                          <a:rPr kumimoji="1" lang="en-US" altLang="zh-TW" sz="2400" b="0" i="1" smtClean="0">
                                            <a:latin typeface="Cambria Math" panose="02040503050406030204" pitchFamily="18" charset="0"/>
                                          </a:rPr>
                                          <m:t>𝐴</m:t>
                                        </m:r>
                                      </m:e>
                                      <m:sub>
                                        <m:r>
                                          <a:rPr kumimoji="1" lang="en-US" altLang="zh-TW" sz="2400" b="0" i="1" smtClean="0">
                                            <a:latin typeface="Cambria Math" panose="02040503050406030204" pitchFamily="18" charset="0"/>
                                          </a:rPr>
                                          <m:t>𝑖</m:t>
                                        </m:r>
                                      </m:sub>
                                    </m:sSub>
                                  </m:e>
                                  <m:sup>
                                    <m:r>
                                      <a:rPr kumimoji="1" lang="en-US" altLang="zh-TW" sz="2400" b="0" i="1" smtClean="0">
                                        <a:latin typeface="Cambria Math" panose="02040503050406030204" pitchFamily="18" charset="0"/>
                                      </a:rPr>
                                      <m:t>2</m:t>
                                    </m:r>
                                  </m:sup>
                                </m:sSup>
                              </m:e>
                            </m:nary>
                          </m:e>
                        </m:rad>
                        <m:r>
                          <a:rPr kumimoji="1" lang="zh-TW" altLang="en-US" sz="2400" b="0" i="1" smtClean="0">
                            <a:latin typeface="Cambria Math" panose="02040503050406030204" pitchFamily="18" charset="0"/>
                          </a:rPr>
                          <m:t> </m:t>
                        </m:r>
                        <m:r>
                          <a:rPr kumimoji="1" lang="en-US" altLang="zh-TW" sz="2400" b="0" i="1" smtClean="0">
                            <a:latin typeface="Cambria Math" panose="02040503050406030204" pitchFamily="18" charset="0"/>
                            <a:ea typeface="Cambria Math" panose="02040503050406030204" pitchFamily="18" charset="0"/>
                          </a:rPr>
                          <m:t>∙</m:t>
                        </m:r>
                        <m:r>
                          <a:rPr kumimoji="1" lang="zh-TW" altLang="en-US" sz="2400" b="0" i="1" smtClean="0">
                            <a:latin typeface="Cambria Math" panose="02040503050406030204" pitchFamily="18" charset="0"/>
                            <a:ea typeface="Cambria Math" panose="02040503050406030204" pitchFamily="18" charset="0"/>
                          </a:rPr>
                          <m:t> </m:t>
                        </m:r>
                        <m:rad>
                          <m:radPr>
                            <m:degHide m:val="on"/>
                            <m:ctrlPr>
                              <a:rPr kumimoji="1" lang="zh-TW" altLang="en-US" sz="2400" b="0" i="1" smtClean="0">
                                <a:latin typeface="Cambria Math" panose="02040503050406030204" pitchFamily="18" charset="0"/>
                              </a:rPr>
                            </m:ctrlPr>
                          </m:radPr>
                          <m:deg/>
                          <m:e>
                            <m:nary>
                              <m:naryPr>
                                <m:chr m:val="∑"/>
                                <m:ctrlPr>
                                  <a:rPr kumimoji="1" lang="zh-TW" altLang="en-US" sz="2400" b="0" i="1" smtClean="0">
                                    <a:latin typeface="Cambria Math" panose="02040503050406030204" pitchFamily="18" charset="0"/>
                                  </a:rPr>
                                </m:ctrlPr>
                              </m:naryPr>
                              <m:sub>
                                <m:r>
                                  <m:rPr>
                                    <m:brk m:alnAt="23"/>
                                  </m:rPr>
                                  <a:rPr kumimoji="1" lang="en-US" altLang="zh-TW" sz="2400" b="0" i="1" smtClean="0">
                                    <a:latin typeface="Cambria Math" panose="02040503050406030204" pitchFamily="18" charset="0"/>
                                  </a:rPr>
                                  <m:t>𝑖</m:t>
                                </m:r>
                                <m:r>
                                  <a:rPr kumimoji="1" lang="en-US" altLang="zh-TW" sz="2400" b="0" i="1" smtClean="0">
                                    <a:latin typeface="Cambria Math" panose="02040503050406030204" pitchFamily="18" charset="0"/>
                                  </a:rPr>
                                  <m:t>=1</m:t>
                                </m:r>
                              </m:sub>
                              <m:sup>
                                <m:r>
                                  <a:rPr kumimoji="1" lang="en-US" altLang="zh-TW" sz="2400" b="0" i="1" smtClean="0">
                                    <a:latin typeface="Cambria Math" panose="02040503050406030204" pitchFamily="18" charset="0"/>
                                  </a:rPr>
                                  <m:t>𝑛</m:t>
                                </m:r>
                              </m:sup>
                              <m:e>
                                <m:sSup>
                                  <m:sSupPr>
                                    <m:ctrlPr>
                                      <a:rPr kumimoji="1" lang="en-US" altLang="zh-TW" sz="2400" b="0" i="1" smtClean="0">
                                        <a:latin typeface="Cambria Math" panose="02040503050406030204" pitchFamily="18" charset="0"/>
                                      </a:rPr>
                                    </m:ctrlPr>
                                  </m:sSupPr>
                                  <m:e>
                                    <m:sSub>
                                      <m:sSubPr>
                                        <m:ctrlPr>
                                          <a:rPr kumimoji="1" lang="en-US" altLang="zh-TW" sz="2400" b="0" i="1" smtClean="0">
                                            <a:latin typeface="Cambria Math" panose="02040503050406030204" pitchFamily="18" charset="0"/>
                                          </a:rPr>
                                        </m:ctrlPr>
                                      </m:sSubPr>
                                      <m:e>
                                        <m:r>
                                          <a:rPr kumimoji="1" lang="en-US" altLang="zh-TW" sz="2400" b="0" i="1" smtClean="0">
                                            <a:latin typeface="Cambria Math" panose="02040503050406030204" pitchFamily="18" charset="0"/>
                                          </a:rPr>
                                          <m:t>𝐵</m:t>
                                        </m:r>
                                      </m:e>
                                      <m:sub>
                                        <m:r>
                                          <a:rPr kumimoji="1" lang="en-US" altLang="zh-TW" sz="2400" b="0" i="1" smtClean="0">
                                            <a:latin typeface="Cambria Math" panose="02040503050406030204" pitchFamily="18" charset="0"/>
                                          </a:rPr>
                                          <m:t>𝑖</m:t>
                                        </m:r>
                                      </m:sub>
                                    </m:sSub>
                                  </m:e>
                                  <m:sup>
                                    <m:r>
                                      <a:rPr kumimoji="1" lang="en-US" altLang="zh-TW" sz="2400" b="0" i="1" smtClean="0">
                                        <a:latin typeface="Cambria Math" panose="02040503050406030204" pitchFamily="18" charset="0"/>
                                      </a:rPr>
                                      <m:t>2</m:t>
                                    </m:r>
                                  </m:sup>
                                </m:sSup>
                              </m:e>
                            </m:nary>
                          </m:e>
                        </m:rad>
                      </m:den>
                    </m:f>
                  </m:oMath>
                </a14:m>
                <a:endParaRPr kumimoji="1" lang="en-US" altLang="zh-TW" sz="2400" dirty="0">
                  <a:latin typeface="Times" pitchFamily="2" charset="0"/>
                </a:endParaRPr>
              </a:p>
            </p:txBody>
          </p:sp>
        </mc:Choice>
        <mc:Fallback xmlns="">
          <p:sp>
            <p:nvSpPr>
              <p:cNvPr id="3" name="內容版面配置區 2">
                <a:extLst>
                  <a:ext uri="{FF2B5EF4-FFF2-40B4-BE49-F238E27FC236}">
                    <a16:creationId xmlns:a16="http://schemas.microsoft.com/office/drawing/2014/main" id="{AEC2A638-FB11-BC41-B4C4-91EA30E22F7F}"/>
                  </a:ext>
                </a:extLst>
              </p:cNvPr>
              <p:cNvSpPr>
                <a:spLocks noGrp="1" noRot="1" noChangeAspect="1" noMove="1" noResize="1" noEditPoints="1" noAdjustHandles="1" noChangeArrowheads="1" noChangeShapeType="1" noTextEdit="1"/>
              </p:cNvSpPr>
              <p:nvPr>
                <p:ph idx="1"/>
              </p:nvPr>
            </p:nvSpPr>
            <p:spPr>
              <a:xfrm>
                <a:off x="612531" y="1828121"/>
                <a:ext cx="10966938" cy="4351338"/>
              </a:xfrm>
              <a:blipFill>
                <a:blip r:embed="rId3"/>
                <a:stretch>
                  <a:fillRect l="-809" t="-9329"/>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7</a:t>
            </a:fld>
            <a:endParaRPr kumimoji="1" lang="zh-TW" altLang="en-US" dirty="0"/>
          </a:p>
        </p:txBody>
      </p:sp>
      <p:sp>
        <p:nvSpPr>
          <p:cNvPr id="5" name="文字方塊 4">
            <a:extLst>
              <a:ext uri="{FF2B5EF4-FFF2-40B4-BE49-F238E27FC236}">
                <a16:creationId xmlns:a16="http://schemas.microsoft.com/office/drawing/2014/main" id="{394822BD-710A-0B4C-B220-FDB53FE39914}"/>
              </a:ext>
            </a:extLst>
          </p:cNvPr>
          <p:cNvSpPr txBox="1"/>
          <p:nvPr/>
        </p:nvSpPr>
        <p:spPr>
          <a:xfrm>
            <a:off x="4232031" y="1090246"/>
            <a:ext cx="184731" cy="369332"/>
          </a:xfrm>
          <a:prstGeom prst="rect">
            <a:avLst/>
          </a:prstGeom>
          <a:noFill/>
        </p:spPr>
        <p:txBody>
          <a:bodyPr wrap="none" rtlCol="0">
            <a:spAutoFit/>
          </a:bodyPr>
          <a:lstStyle/>
          <a:p>
            <a:endParaRPr kumimoji="1" lang="zh-TW" altLang="en-US" dirty="0"/>
          </a:p>
        </p:txBody>
      </p:sp>
      <p:pic>
        <p:nvPicPr>
          <p:cNvPr id="7" name="圖片 6" descr="一張含有 文字, 行, 圖表, 螢幕擷取畫面 的圖片&#10;&#10;自動產生的描述">
            <a:extLst>
              <a:ext uri="{FF2B5EF4-FFF2-40B4-BE49-F238E27FC236}">
                <a16:creationId xmlns:a16="http://schemas.microsoft.com/office/drawing/2014/main" id="{9FCA2575-C54C-2440-B74D-44CFC4D2DCBD}"/>
              </a:ext>
            </a:extLst>
          </p:cNvPr>
          <p:cNvPicPr>
            <a:picLocks noChangeAspect="1"/>
          </p:cNvPicPr>
          <p:nvPr/>
        </p:nvPicPr>
        <p:blipFill rotWithShape="1">
          <a:blip r:embed="rId4"/>
          <a:srcRect b="9213"/>
          <a:stretch/>
        </p:blipFill>
        <p:spPr>
          <a:xfrm>
            <a:off x="607006" y="3087892"/>
            <a:ext cx="10972463" cy="3407896"/>
          </a:xfrm>
          <a:prstGeom prst="rect">
            <a:avLst/>
          </a:prstGeom>
        </p:spPr>
      </p:pic>
      <p:sp>
        <p:nvSpPr>
          <p:cNvPr id="9" name="文字方塊 8">
            <a:extLst>
              <a:ext uri="{FF2B5EF4-FFF2-40B4-BE49-F238E27FC236}">
                <a16:creationId xmlns:a16="http://schemas.microsoft.com/office/drawing/2014/main" id="{0A8CCF3D-9318-D348-9A45-9D77B1983130}"/>
              </a:ext>
            </a:extLst>
          </p:cNvPr>
          <p:cNvSpPr txBox="1"/>
          <p:nvPr/>
        </p:nvSpPr>
        <p:spPr>
          <a:xfrm>
            <a:off x="9170377" y="6635225"/>
            <a:ext cx="3021623" cy="246221"/>
          </a:xfrm>
          <a:prstGeom prst="rect">
            <a:avLst/>
          </a:prstGeom>
          <a:noFill/>
        </p:spPr>
        <p:txBody>
          <a:bodyPr wrap="square">
            <a:spAutoFit/>
          </a:bodyPr>
          <a:lstStyle/>
          <a:p>
            <a:r>
              <a:rPr lang="en-US" altLang="zh-TW" sz="1000" dirty="0">
                <a:solidFill>
                  <a:schemeClr val="bg1">
                    <a:lumMod val="50000"/>
                  </a:schemeClr>
                </a:solidFill>
                <a:latin typeface="Times New Roman" panose="02020603050405020304" pitchFamily="18" charset="0"/>
                <a:cs typeface="Times New Roman" panose="02020603050405020304" pitchFamily="18" charset="0"/>
              </a:rPr>
              <a:t>Picture:</a:t>
            </a:r>
            <a:r>
              <a:rPr lang="zh-TW" altLang="en-US" sz="1000" dirty="0">
                <a:solidFill>
                  <a:schemeClr val="bg1">
                    <a:lumMod val="50000"/>
                  </a:schemeClr>
                </a:solidFill>
                <a:latin typeface="Times New Roman" panose="02020603050405020304" pitchFamily="18" charset="0"/>
                <a:cs typeface="Times New Roman" panose="02020603050405020304" pitchFamily="18" charset="0"/>
              </a:rPr>
              <a:t> https://ithelp.ithome.com.tw/articles/10268777</a:t>
            </a:r>
          </a:p>
        </p:txBody>
      </p:sp>
    </p:spTree>
    <p:extLst>
      <p:ext uri="{BB962C8B-B14F-4D97-AF65-F5344CB8AC3E}">
        <p14:creationId xmlns:p14="http://schemas.microsoft.com/office/powerpoint/2010/main" val="1947975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lang="en" altLang="zh-TW">
                <a:latin typeface="Times" pitchFamily="2" charset="0"/>
              </a:rPr>
              <a:t>Problem Setup</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AEC2A638-FB11-BC41-B4C4-91EA30E22F7F}"/>
              </a:ext>
            </a:extLst>
          </p:cNvPr>
          <p:cNvSpPr>
            <a:spLocks noGrp="1"/>
          </p:cNvSpPr>
          <p:nvPr>
            <p:ph idx="1"/>
          </p:nvPr>
        </p:nvSpPr>
        <p:spPr>
          <a:xfrm>
            <a:off x="838200" y="1825624"/>
            <a:ext cx="10515600" cy="4530726"/>
          </a:xfrm>
        </p:spPr>
        <p:txBody>
          <a:bodyPr>
            <a:normAutofit/>
          </a:bodyPr>
          <a:lstStyle/>
          <a:p>
            <a:pPr>
              <a:lnSpc>
                <a:spcPct val="100000"/>
              </a:lnSpc>
            </a:pPr>
            <a:r>
              <a:rPr kumimoji="1" lang="en-US" altLang="zh-TW" sz="2400" dirty="0">
                <a:latin typeface="Times" pitchFamily="2" charset="0"/>
              </a:rPr>
              <a:t>Dataset:</a:t>
            </a:r>
            <a:r>
              <a:rPr kumimoji="1" lang="zh-TW" altLang="en-US" sz="2400" dirty="0">
                <a:latin typeface="Times" pitchFamily="2" charset="0"/>
              </a:rPr>
              <a:t> </a:t>
            </a:r>
            <a:r>
              <a:rPr kumimoji="1" lang="en" altLang="zh-TW" sz="2400" dirty="0">
                <a:latin typeface="Times" pitchFamily="2" charset="0"/>
              </a:rPr>
              <a:t>250,000 chess games from the </a:t>
            </a:r>
            <a:r>
              <a:rPr kumimoji="1" lang="en" altLang="zh-TW" sz="2400" dirty="0" err="1">
                <a:latin typeface="Times" pitchFamily="2" charset="0"/>
              </a:rPr>
              <a:t>Lichess</a:t>
            </a:r>
            <a:r>
              <a:rPr kumimoji="1" lang="en" altLang="zh-TW" sz="2400" dirty="0">
                <a:latin typeface="Times" pitchFamily="2" charset="0"/>
              </a:rPr>
              <a:t> Open Database</a:t>
            </a:r>
            <a:r>
              <a:rPr kumimoji="1" lang="en-US" altLang="zh-TW" sz="2400" dirty="0">
                <a:latin typeface="Times" pitchFamily="2" charset="0"/>
              </a:rPr>
              <a:t>.</a:t>
            </a:r>
          </a:p>
          <a:p>
            <a:pPr>
              <a:lnSpc>
                <a:spcPct val="100000"/>
              </a:lnSpc>
            </a:pPr>
            <a:r>
              <a:rPr kumimoji="1" lang="en-US" altLang="zh-TW" sz="2400" dirty="0">
                <a:latin typeface="Times" pitchFamily="2" charset="0"/>
              </a:rPr>
              <a:t>Word2Vec</a:t>
            </a:r>
            <a:r>
              <a:rPr kumimoji="1" lang="zh-TW" altLang="en-US" sz="2400" dirty="0">
                <a:latin typeface="Times" pitchFamily="2" charset="0"/>
              </a:rPr>
              <a:t> </a:t>
            </a:r>
            <a:r>
              <a:rPr kumimoji="1" lang="en-US" altLang="zh-TW" sz="2400" dirty="0">
                <a:latin typeface="Times" pitchFamily="2" charset="0"/>
              </a:rPr>
              <a:t>implementation:</a:t>
            </a:r>
            <a:r>
              <a:rPr kumimoji="1" lang="zh-TW" altLang="en-US" sz="2400" dirty="0">
                <a:latin typeface="Times" pitchFamily="2" charset="0"/>
              </a:rPr>
              <a:t> </a:t>
            </a:r>
            <a:r>
              <a:rPr kumimoji="1" lang="en" altLang="zh-TW" sz="2400" dirty="0" err="1">
                <a:latin typeface="Times" pitchFamily="2" charset="0"/>
              </a:rPr>
              <a:t>Gensim</a:t>
            </a:r>
            <a:r>
              <a:rPr kumimoji="1" lang="en-US" altLang="zh-TW" sz="2400" dirty="0">
                <a:latin typeface="Times" pitchFamily="2" charset="0"/>
              </a:rPr>
              <a:t>.</a:t>
            </a:r>
          </a:p>
          <a:p>
            <a:pPr>
              <a:lnSpc>
                <a:spcPct val="100000"/>
              </a:lnSpc>
            </a:pPr>
            <a:r>
              <a:rPr kumimoji="1" lang="en-US" altLang="zh-TW" sz="2400" dirty="0">
                <a:latin typeface="Times" pitchFamily="2" charset="0"/>
              </a:rPr>
              <a:t>Game logs:</a:t>
            </a:r>
            <a:r>
              <a:rPr kumimoji="1" lang="zh-TW" altLang="en-US" sz="2400" dirty="0">
                <a:latin typeface="Times" pitchFamily="2" charset="0"/>
              </a:rPr>
              <a:t> </a:t>
            </a:r>
            <a:r>
              <a:rPr kumimoji="1" lang="en" altLang="zh-TW" sz="2400" dirty="0">
                <a:latin typeface="Times" pitchFamily="2" charset="0"/>
              </a:rPr>
              <a:t>converting </a:t>
            </a:r>
            <a:r>
              <a:rPr kumimoji="1" lang="en-US" altLang="zh-TW" sz="2400" dirty="0">
                <a:latin typeface="Times" pitchFamily="2" charset="0"/>
              </a:rPr>
              <a:t>the</a:t>
            </a:r>
            <a:r>
              <a:rPr kumimoji="1" lang="zh-TW" altLang="en-US" sz="2400" dirty="0">
                <a:latin typeface="Times" pitchFamily="2" charset="0"/>
              </a:rPr>
              <a:t> </a:t>
            </a:r>
            <a:r>
              <a:rPr kumimoji="1" lang="en-US" altLang="zh-TW" sz="2400" dirty="0">
                <a:latin typeface="Times" pitchFamily="2" charset="0"/>
              </a:rPr>
              <a:t>Portable Game Notation (PGN) format</a:t>
            </a:r>
            <a:r>
              <a:rPr kumimoji="1" lang="zh-TW" altLang="en-US" sz="2400" dirty="0">
                <a:latin typeface="Times" pitchFamily="2" charset="0"/>
              </a:rPr>
              <a:t> </a:t>
            </a:r>
            <a:r>
              <a:rPr kumimoji="1" lang="en" altLang="zh-TW" sz="2400" dirty="0">
                <a:latin typeface="Times" pitchFamily="2" charset="0"/>
              </a:rPr>
              <a:t>into a more verbose language</a:t>
            </a:r>
            <a:r>
              <a:rPr kumimoji="1" lang="en-US" altLang="zh-TW" sz="2400" dirty="0">
                <a:latin typeface="Times" pitchFamily="2" charset="0"/>
              </a:rPr>
              <a:t>.</a:t>
            </a:r>
          </a:p>
          <a:p>
            <a:pPr lvl="1">
              <a:lnSpc>
                <a:spcPct val="100000"/>
              </a:lnSpc>
            </a:pPr>
            <a:r>
              <a:rPr kumimoji="1" lang="en-US" altLang="zh-TW" dirty="0">
                <a:latin typeface="Times" pitchFamily="2" charset="0"/>
              </a:rPr>
              <a:t>Each game log begins with the </a:t>
            </a:r>
            <a:r>
              <a:rPr kumimoji="1" lang="en-US" altLang="zh-TW" i="1" dirty="0">
                <a:latin typeface="Times" pitchFamily="2" charset="0"/>
              </a:rPr>
              <a:t>Start token</a:t>
            </a:r>
            <a:r>
              <a:rPr kumimoji="1" lang="en-US" altLang="zh-TW" dirty="0">
                <a:latin typeface="Times" pitchFamily="2" charset="0"/>
              </a:rPr>
              <a:t> and ends with the </a:t>
            </a:r>
            <a:r>
              <a:rPr kumimoji="1" lang="en-US" altLang="zh-TW" i="1" dirty="0">
                <a:latin typeface="Times" pitchFamily="2" charset="0"/>
              </a:rPr>
              <a:t>End token</a:t>
            </a:r>
            <a:r>
              <a:rPr kumimoji="1" lang="en-US" altLang="zh-TW" dirty="0">
                <a:latin typeface="Times" pitchFamily="2" charset="0"/>
              </a:rPr>
              <a:t>.</a:t>
            </a:r>
          </a:p>
          <a:p>
            <a:pPr lvl="1">
              <a:lnSpc>
                <a:spcPct val="100000"/>
              </a:lnSpc>
            </a:pPr>
            <a:r>
              <a:rPr kumimoji="1" lang="en-US" altLang="zh-TW" dirty="0">
                <a:latin typeface="Times" pitchFamily="2" charset="0"/>
              </a:rPr>
              <a:t>For each turn of the game,</a:t>
            </a:r>
            <a:r>
              <a:rPr kumimoji="1" lang="zh-TW" altLang="en-US" dirty="0">
                <a:latin typeface="Times" pitchFamily="2" charset="0"/>
              </a:rPr>
              <a:t> </a:t>
            </a:r>
            <a:r>
              <a:rPr kumimoji="1" lang="en-US" altLang="zh-TW" dirty="0">
                <a:latin typeface="Times" pitchFamily="2" charset="0"/>
              </a:rPr>
              <a:t>adding a new line of tokens with the syntax:</a:t>
            </a:r>
          </a:p>
          <a:p>
            <a:pPr lvl="2">
              <a:lnSpc>
                <a:spcPct val="100000"/>
              </a:lnSpc>
            </a:pPr>
            <a:r>
              <a:rPr kumimoji="1" lang="en-US" altLang="zh-TW" sz="2200" dirty="0">
                <a:latin typeface="Times" pitchFamily="2" charset="0"/>
              </a:rPr>
              <a:t>Turn [</a:t>
            </a:r>
            <a:r>
              <a:rPr kumimoji="1" lang="en-US" altLang="zh-TW" sz="2200" dirty="0">
                <a:solidFill>
                  <a:srgbClr val="7030A0"/>
                </a:solidFill>
                <a:latin typeface="Times" pitchFamily="2" charset="0"/>
              </a:rPr>
              <a:t>Player</a:t>
            </a:r>
            <a:r>
              <a:rPr kumimoji="1" lang="en-US" altLang="zh-TW" sz="2200" dirty="0">
                <a:latin typeface="Times" pitchFamily="2" charset="0"/>
              </a:rPr>
              <a:t>] [</a:t>
            </a:r>
            <a:r>
              <a:rPr kumimoji="1" lang="en-US" altLang="zh-TW" sz="2200" dirty="0">
                <a:solidFill>
                  <a:schemeClr val="accent5">
                    <a:lumMod val="75000"/>
                  </a:schemeClr>
                </a:solidFill>
                <a:latin typeface="Times" pitchFamily="2" charset="0"/>
              </a:rPr>
              <a:t>Piece</a:t>
            </a:r>
            <a:r>
              <a:rPr kumimoji="1" lang="en-US" altLang="zh-TW" sz="2200" dirty="0">
                <a:latin typeface="Times" pitchFamily="2" charset="0"/>
              </a:rPr>
              <a:t>] [</a:t>
            </a:r>
            <a:r>
              <a:rPr kumimoji="1" lang="en-US" altLang="zh-TW" sz="2200" dirty="0">
                <a:solidFill>
                  <a:schemeClr val="accent6">
                    <a:lumMod val="75000"/>
                  </a:schemeClr>
                </a:solidFill>
                <a:latin typeface="Times" pitchFamily="2" charset="0"/>
              </a:rPr>
              <a:t>Start</a:t>
            </a:r>
            <a:r>
              <a:rPr kumimoji="1" lang="en-US" altLang="zh-TW" sz="2200" dirty="0">
                <a:latin typeface="Times" pitchFamily="2" charset="0"/>
              </a:rPr>
              <a:t>] [</a:t>
            </a:r>
            <a:r>
              <a:rPr kumimoji="1" lang="en-US" altLang="zh-TW" sz="2200" dirty="0">
                <a:solidFill>
                  <a:schemeClr val="accent6">
                    <a:lumMod val="75000"/>
                  </a:schemeClr>
                </a:solidFill>
                <a:latin typeface="Times" pitchFamily="2" charset="0"/>
              </a:rPr>
              <a:t>Dest</a:t>
            </a:r>
            <a:r>
              <a:rPr kumimoji="1" lang="en-US" altLang="zh-TW" sz="2200" dirty="0">
                <a:latin typeface="Times" pitchFamily="2" charset="0"/>
              </a:rPr>
              <a:t>] [</a:t>
            </a:r>
            <a:r>
              <a:rPr kumimoji="1" lang="en-US" altLang="zh-TW" sz="2200" dirty="0">
                <a:solidFill>
                  <a:schemeClr val="accent1">
                    <a:lumMod val="75000"/>
                  </a:schemeClr>
                </a:solidFill>
                <a:latin typeface="Times" pitchFamily="2" charset="0"/>
              </a:rPr>
              <a:t>Actions</a:t>
            </a:r>
            <a:r>
              <a:rPr kumimoji="1" lang="en-US" altLang="zh-TW" sz="2200" dirty="0">
                <a:latin typeface="Times" pitchFamily="2" charset="0"/>
              </a:rPr>
              <a:t>] [</a:t>
            </a:r>
            <a:r>
              <a:rPr kumimoji="1" lang="en-US" altLang="zh-TW" sz="2200" dirty="0">
                <a:solidFill>
                  <a:schemeClr val="accent2">
                    <a:lumMod val="75000"/>
                  </a:schemeClr>
                </a:solidFill>
                <a:latin typeface="Times" pitchFamily="2" charset="0"/>
              </a:rPr>
              <a:t>State</a:t>
            </a:r>
            <a:r>
              <a:rPr kumimoji="1" lang="en-US" altLang="zh-TW" sz="2200" dirty="0">
                <a:latin typeface="Times" pitchFamily="2" charset="0"/>
              </a:rPr>
              <a:t>]</a:t>
            </a:r>
          </a:p>
          <a:p>
            <a:pPr lvl="2">
              <a:lnSpc>
                <a:spcPct val="100000"/>
              </a:lnSpc>
            </a:pPr>
            <a:r>
              <a:rPr kumimoji="1" lang="en-US" altLang="zh-TW" sz="2200" dirty="0">
                <a:solidFill>
                  <a:srgbClr val="7030A0"/>
                </a:solidFill>
                <a:latin typeface="Times" pitchFamily="2" charset="0"/>
              </a:rPr>
              <a:t>Black</a:t>
            </a:r>
            <a:r>
              <a:rPr kumimoji="1" lang="en-US" altLang="zh-TW" sz="2200" dirty="0">
                <a:latin typeface="Times" pitchFamily="2" charset="0"/>
              </a:rPr>
              <a:t> moved </a:t>
            </a:r>
            <a:r>
              <a:rPr kumimoji="1" lang="en-US" altLang="zh-TW" sz="2200" dirty="0">
                <a:solidFill>
                  <a:schemeClr val="accent5">
                    <a:lumMod val="75000"/>
                  </a:schemeClr>
                </a:solidFill>
                <a:latin typeface="Times" pitchFamily="2" charset="0"/>
              </a:rPr>
              <a:t>a Pawn </a:t>
            </a:r>
            <a:r>
              <a:rPr kumimoji="1" lang="en-US" altLang="zh-TW" sz="2200" dirty="0">
                <a:latin typeface="Times" pitchFamily="2" charset="0"/>
              </a:rPr>
              <a:t>from </a:t>
            </a:r>
            <a:r>
              <a:rPr kumimoji="1" lang="en-US" altLang="zh-TW" sz="2200" dirty="0">
                <a:solidFill>
                  <a:schemeClr val="accent6">
                    <a:lumMod val="75000"/>
                  </a:schemeClr>
                </a:solidFill>
                <a:latin typeface="Times" pitchFamily="2" charset="0"/>
              </a:rPr>
              <a:t>(5,1) </a:t>
            </a:r>
            <a:r>
              <a:rPr kumimoji="1" lang="en-US" altLang="zh-TW" sz="2200" dirty="0">
                <a:latin typeface="Times" pitchFamily="2" charset="0"/>
              </a:rPr>
              <a:t>to </a:t>
            </a:r>
            <a:r>
              <a:rPr kumimoji="1" lang="en-US" altLang="zh-TW" sz="2200" dirty="0">
                <a:solidFill>
                  <a:schemeClr val="accent6">
                    <a:lumMod val="75000"/>
                  </a:schemeClr>
                </a:solidFill>
                <a:latin typeface="Times" pitchFamily="2" charset="0"/>
              </a:rPr>
              <a:t>(5,0)</a:t>
            </a:r>
            <a:r>
              <a:rPr kumimoji="1" lang="en-US" altLang="zh-TW" sz="2200" dirty="0">
                <a:latin typeface="Times" pitchFamily="2" charset="0"/>
              </a:rPr>
              <a:t>, </a:t>
            </a:r>
            <a:r>
              <a:rPr kumimoji="1" lang="en-US" altLang="zh-TW" sz="2200" dirty="0">
                <a:solidFill>
                  <a:schemeClr val="accent5">
                    <a:lumMod val="50000"/>
                  </a:schemeClr>
                </a:solidFill>
                <a:latin typeface="Times" pitchFamily="2" charset="0"/>
              </a:rPr>
              <a:t>promoting it to a Queen</a:t>
            </a:r>
            <a:r>
              <a:rPr kumimoji="1" lang="en-US" altLang="zh-TW" sz="2200" dirty="0">
                <a:latin typeface="Times" pitchFamily="2" charset="0"/>
              </a:rPr>
              <a:t>. The game is </a:t>
            </a:r>
            <a:r>
              <a:rPr kumimoji="1" lang="en-US" altLang="zh-TW" sz="2200" dirty="0">
                <a:solidFill>
                  <a:schemeClr val="accent2">
                    <a:lumMod val="75000"/>
                  </a:schemeClr>
                </a:solidFill>
                <a:latin typeface="Times" pitchFamily="2" charset="0"/>
              </a:rPr>
              <a:t>in check</a:t>
            </a:r>
            <a:r>
              <a:rPr kumimoji="1" lang="en-US" altLang="zh-TW" sz="2200" dirty="0">
                <a:latin typeface="Times" pitchFamily="2" charset="0"/>
              </a:rPr>
              <a:t>.</a:t>
            </a:r>
          </a:p>
          <a:p>
            <a:pPr lvl="2">
              <a:lnSpc>
                <a:spcPct val="100000"/>
              </a:lnSpc>
            </a:pPr>
            <a:r>
              <a:rPr kumimoji="1" lang="en-US" altLang="zh-TW" sz="2200" dirty="0">
                <a:latin typeface="Times" pitchFamily="2" charset="0"/>
              </a:rPr>
              <a:t>Turn </a:t>
            </a:r>
            <a:r>
              <a:rPr kumimoji="1" lang="en-US" altLang="zh-TW" sz="2200" dirty="0">
                <a:solidFill>
                  <a:srgbClr val="7030A0"/>
                </a:solidFill>
                <a:latin typeface="Times" pitchFamily="2" charset="0"/>
              </a:rPr>
              <a:t>Black</a:t>
            </a:r>
            <a:r>
              <a:rPr kumimoji="1" lang="en-US" altLang="zh-TW" sz="2200" dirty="0">
                <a:latin typeface="Times" pitchFamily="2" charset="0"/>
              </a:rPr>
              <a:t> </a:t>
            </a:r>
            <a:r>
              <a:rPr kumimoji="1" lang="en-US" altLang="zh-TW" sz="2200" dirty="0">
                <a:solidFill>
                  <a:schemeClr val="accent5">
                    <a:lumMod val="75000"/>
                  </a:schemeClr>
                </a:solidFill>
                <a:latin typeface="Times" pitchFamily="2" charset="0"/>
              </a:rPr>
              <a:t>Pawn</a:t>
            </a:r>
            <a:r>
              <a:rPr kumimoji="1" lang="en-US" altLang="zh-TW" sz="2200" dirty="0">
                <a:latin typeface="Times" pitchFamily="2" charset="0"/>
              </a:rPr>
              <a:t> </a:t>
            </a:r>
            <a:r>
              <a:rPr kumimoji="1" lang="en-US" altLang="zh-TW" sz="2200" dirty="0">
                <a:solidFill>
                  <a:schemeClr val="accent6">
                    <a:lumMod val="75000"/>
                  </a:schemeClr>
                </a:solidFill>
                <a:latin typeface="Times" pitchFamily="2" charset="0"/>
              </a:rPr>
              <a:t>C5</a:t>
            </a:r>
            <a:r>
              <a:rPr kumimoji="1" lang="zh-TW" altLang="en-US" sz="2200" dirty="0">
                <a:solidFill>
                  <a:schemeClr val="accent6">
                    <a:lumMod val="75000"/>
                  </a:schemeClr>
                </a:solidFill>
                <a:latin typeface="Times" pitchFamily="2" charset="0"/>
              </a:rPr>
              <a:t> </a:t>
            </a:r>
            <a:r>
              <a:rPr kumimoji="1" lang="en-US" altLang="zh-TW" sz="2200" dirty="0">
                <a:solidFill>
                  <a:schemeClr val="accent6">
                    <a:lumMod val="75000"/>
                  </a:schemeClr>
                </a:solidFill>
                <a:latin typeface="Times" pitchFamily="2" charset="0"/>
              </a:rPr>
              <a:t>R1 C5</a:t>
            </a:r>
            <a:r>
              <a:rPr kumimoji="1" lang="zh-TW" altLang="en-US" sz="2200" dirty="0">
                <a:solidFill>
                  <a:schemeClr val="accent6">
                    <a:lumMod val="75000"/>
                  </a:schemeClr>
                </a:solidFill>
                <a:latin typeface="Times" pitchFamily="2" charset="0"/>
              </a:rPr>
              <a:t> </a:t>
            </a:r>
            <a:r>
              <a:rPr kumimoji="1" lang="en-US" altLang="zh-TW" sz="2200" dirty="0">
                <a:solidFill>
                  <a:schemeClr val="accent6">
                    <a:lumMod val="75000"/>
                  </a:schemeClr>
                </a:solidFill>
                <a:latin typeface="Times" pitchFamily="2" charset="0"/>
              </a:rPr>
              <a:t>R0</a:t>
            </a:r>
            <a:r>
              <a:rPr kumimoji="1" lang="en-US" altLang="zh-TW" sz="2200" dirty="0">
                <a:latin typeface="Times" pitchFamily="2" charset="0"/>
              </a:rPr>
              <a:t> </a:t>
            </a:r>
            <a:r>
              <a:rPr kumimoji="1" lang="en-US" altLang="zh-TW" sz="2200" dirty="0">
                <a:solidFill>
                  <a:schemeClr val="accent1">
                    <a:lumMod val="75000"/>
                  </a:schemeClr>
                </a:solidFill>
                <a:latin typeface="Times" pitchFamily="2" charset="0"/>
              </a:rPr>
              <a:t>promote</a:t>
            </a:r>
            <a:r>
              <a:rPr kumimoji="1" lang="en-US" altLang="zh-TW" sz="2200" dirty="0">
                <a:latin typeface="Times" pitchFamily="2" charset="0"/>
              </a:rPr>
              <a:t> </a:t>
            </a:r>
            <a:r>
              <a:rPr kumimoji="1" lang="en-US" altLang="zh-TW" sz="2200" dirty="0">
                <a:solidFill>
                  <a:schemeClr val="accent5">
                    <a:lumMod val="50000"/>
                  </a:schemeClr>
                </a:solidFill>
                <a:latin typeface="Times" pitchFamily="2" charset="0"/>
              </a:rPr>
              <a:t>Queen</a:t>
            </a:r>
            <a:r>
              <a:rPr kumimoji="1" lang="zh-TW" altLang="en-US" sz="2200" dirty="0">
                <a:solidFill>
                  <a:schemeClr val="accent5">
                    <a:lumMod val="50000"/>
                  </a:schemeClr>
                </a:solidFill>
                <a:latin typeface="Times" pitchFamily="2" charset="0"/>
              </a:rPr>
              <a:t> </a:t>
            </a:r>
            <a:r>
              <a:rPr kumimoji="1" lang="en-US" altLang="zh-TW" sz="2200" dirty="0">
                <a:solidFill>
                  <a:schemeClr val="accent2">
                    <a:lumMod val="75000"/>
                  </a:schemeClr>
                </a:solidFill>
                <a:latin typeface="Times" pitchFamily="2" charset="0"/>
              </a:rPr>
              <a:t>check</a:t>
            </a:r>
            <a:r>
              <a:rPr kumimoji="1" lang="en-US" altLang="zh-TW" sz="2200" dirty="0">
                <a:latin typeface="Times" pitchFamily="2" charset="0"/>
              </a:rPr>
              <a:t>.</a:t>
            </a: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8</a:t>
            </a:fld>
            <a:endParaRPr kumimoji="1" lang="zh-TW" altLang="en-US" dirty="0"/>
          </a:p>
        </p:txBody>
      </p:sp>
    </p:spTree>
    <p:extLst>
      <p:ext uri="{BB962C8B-B14F-4D97-AF65-F5344CB8AC3E}">
        <p14:creationId xmlns:p14="http://schemas.microsoft.com/office/powerpoint/2010/main" val="27461461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lang="en" altLang="zh-TW" dirty="0">
                <a:latin typeface="Times" pitchFamily="2" charset="0"/>
              </a:rPr>
              <a:t>Problem Setup</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9</a:t>
            </a:fld>
            <a:endParaRPr kumimoji="1" lang="zh-TW" altLang="en-US" dirty="0"/>
          </a:p>
        </p:txBody>
      </p:sp>
      <p:pic>
        <p:nvPicPr>
          <p:cNvPr id="6" name="圖片 5" descr="一張含有 文字, 螢幕擷取畫面, 字型, 數字 的圖片&#10;&#10;自動產生的描述">
            <a:extLst>
              <a:ext uri="{FF2B5EF4-FFF2-40B4-BE49-F238E27FC236}">
                <a16:creationId xmlns:a16="http://schemas.microsoft.com/office/drawing/2014/main" id="{9C98466F-DE3A-CC46-B6B9-0BEBC5894D0D}"/>
              </a:ext>
            </a:extLst>
          </p:cNvPr>
          <p:cNvPicPr>
            <a:picLocks noChangeAspect="1"/>
          </p:cNvPicPr>
          <p:nvPr/>
        </p:nvPicPr>
        <p:blipFill>
          <a:blip r:embed="rId3"/>
          <a:stretch>
            <a:fillRect/>
          </a:stretch>
        </p:blipFill>
        <p:spPr>
          <a:xfrm>
            <a:off x="838200" y="2157046"/>
            <a:ext cx="5566619" cy="3528268"/>
          </a:xfrm>
          <a:prstGeom prst="rect">
            <a:avLst/>
          </a:prstGeom>
        </p:spPr>
      </p:pic>
      <p:pic>
        <p:nvPicPr>
          <p:cNvPr id="8" name="圖片 7" descr="一張含有 文字, 螢幕擷取畫面, 字型, 數字 的圖片&#10;&#10;自動產生的描述">
            <a:extLst>
              <a:ext uri="{FF2B5EF4-FFF2-40B4-BE49-F238E27FC236}">
                <a16:creationId xmlns:a16="http://schemas.microsoft.com/office/drawing/2014/main" id="{6D6F32C4-A224-6043-AAE0-48D246580A28}"/>
              </a:ext>
            </a:extLst>
          </p:cNvPr>
          <p:cNvPicPr>
            <a:picLocks noChangeAspect="1"/>
          </p:cNvPicPr>
          <p:nvPr/>
        </p:nvPicPr>
        <p:blipFill>
          <a:blip r:embed="rId4"/>
          <a:stretch>
            <a:fillRect/>
          </a:stretch>
        </p:blipFill>
        <p:spPr>
          <a:xfrm>
            <a:off x="6541477" y="94595"/>
            <a:ext cx="5083678" cy="6668810"/>
          </a:xfrm>
          <a:prstGeom prst="rect">
            <a:avLst/>
          </a:prstGeom>
        </p:spPr>
      </p:pic>
    </p:spTree>
    <p:extLst>
      <p:ext uri="{BB962C8B-B14F-4D97-AF65-F5344CB8AC3E}">
        <p14:creationId xmlns:p14="http://schemas.microsoft.com/office/powerpoint/2010/main" val="2726618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內容版面配置區 8">
            <a:extLst>
              <a:ext uri="{FF2B5EF4-FFF2-40B4-BE49-F238E27FC236}">
                <a16:creationId xmlns:a16="http://schemas.microsoft.com/office/drawing/2014/main" id="{64A77833-0447-604F-BD78-7E7ACC94FC82}"/>
              </a:ext>
            </a:extLst>
          </p:cNvPr>
          <p:cNvSpPr>
            <a:spLocks noGrp="1"/>
          </p:cNvSpPr>
          <p:nvPr>
            <p:ph idx="1"/>
          </p:nvPr>
        </p:nvSpPr>
        <p:spPr>
          <a:xfrm>
            <a:off x="782515" y="1847850"/>
            <a:ext cx="5805855" cy="4351338"/>
          </a:xfrm>
        </p:spPr>
        <p:txBody>
          <a:bodyPr/>
          <a:lstStyle/>
          <a:p>
            <a:r>
              <a:rPr lang="en-US" altLang="zh-TW" dirty="0">
                <a:latin typeface="Times New Roman" panose="02020603050405020304" pitchFamily="18" charset="0"/>
                <a:cs typeface="Times New Roman" panose="02020603050405020304" pitchFamily="18" charset="0"/>
              </a:rPr>
              <a:t>T</a:t>
            </a:r>
            <a:r>
              <a:rPr lang="en" altLang="zh-TW" dirty="0">
                <a:latin typeface="Times New Roman" panose="02020603050405020304" pitchFamily="18" charset="0"/>
                <a:cs typeface="Times New Roman" panose="02020603050405020304" pitchFamily="18" charset="0"/>
              </a:rPr>
              <a:t>he similarity of each piece token to the Checkmate token</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lang="en" altLang="zh-TW" dirty="0">
                <a:latin typeface="Times" pitchFamily="2" charset="0"/>
              </a:rPr>
              <a:t>Relative Piece Value</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10</a:t>
            </a:fld>
            <a:endParaRPr kumimoji="1" lang="zh-TW" altLang="en-US"/>
          </a:p>
        </p:txBody>
      </p:sp>
      <p:pic>
        <p:nvPicPr>
          <p:cNvPr id="5" name="圖片 4" descr="一張含有 文字, 字型, 螢幕擷取畫面, 數字 的圖片&#10;&#10;自動產生的描述">
            <a:extLst>
              <a:ext uri="{FF2B5EF4-FFF2-40B4-BE49-F238E27FC236}">
                <a16:creationId xmlns:a16="http://schemas.microsoft.com/office/drawing/2014/main" id="{0AF7C2D4-49EF-DC4D-9C16-3A8F3F739C59}"/>
              </a:ext>
            </a:extLst>
          </p:cNvPr>
          <p:cNvPicPr>
            <a:picLocks noChangeAspect="1"/>
          </p:cNvPicPr>
          <p:nvPr/>
        </p:nvPicPr>
        <p:blipFill>
          <a:blip r:embed="rId2"/>
          <a:stretch>
            <a:fillRect/>
          </a:stretch>
        </p:blipFill>
        <p:spPr>
          <a:xfrm>
            <a:off x="587842" y="3614158"/>
            <a:ext cx="6000528" cy="1742440"/>
          </a:xfrm>
          <a:prstGeom prst="rect">
            <a:avLst/>
          </a:prstGeom>
        </p:spPr>
      </p:pic>
      <p:grpSp>
        <p:nvGrpSpPr>
          <p:cNvPr id="3" name="群組 2">
            <a:extLst>
              <a:ext uri="{FF2B5EF4-FFF2-40B4-BE49-F238E27FC236}">
                <a16:creationId xmlns:a16="http://schemas.microsoft.com/office/drawing/2014/main" id="{B424804A-0C51-2341-9C70-183220E35A3E}"/>
              </a:ext>
            </a:extLst>
          </p:cNvPr>
          <p:cNvGrpSpPr/>
          <p:nvPr/>
        </p:nvGrpSpPr>
        <p:grpSpPr>
          <a:xfrm>
            <a:off x="6783043" y="871967"/>
            <a:ext cx="5027957" cy="5484383"/>
            <a:chOff x="6933098" y="1373617"/>
            <a:chExt cx="5027957" cy="5484383"/>
          </a:xfrm>
        </p:grpSpPr>
        <p:pic>
          <p:nvPicPr>
            <p:cNvPr id="7" name="圖片 6" descr="一張含有 文字, 樣式, 螢幕擷取畫面 的圖片&#10;&#10;自動產生的描述">
              <a:extLst>
                <a:ext uri="{FF2B5EF4-FFF2-40B4-BE49-F238E27FC236}">
                  <a16:creationId xmlns:a16="http://schemas.microsoft.com/office/drawing/2014/main" id="{8D41A9F9-BF63-B24F-9906-BD8DFD2C21A9}"/>
                </a:ext>
              </a:extLst>
            </p:cNvPr>
            <p:cNvPicPr>
              <a:picLocks noChangeAspect="1"/>
            </p:cNvPicPr>
            <p:nvPr/>
          </p:nvPicPr>
          <p:blipFill rotWithShape="1">
            <a:blip r:embed="rId3"/>
            <a:srcRect b="13821"/>
            <a:stretch/>
          </p:blipFill>
          <p:spPr>
            <a:xfrm>
              <a:off x="6933098" y="1373617"/>
              <a:ext cx="5027957" cy="5484383"/>
            </a:xfrm>
            <a:prstGeom prst="rect">
              <a:avLst/>
            </a:prstGeom>
          </p:spPr>
        </p:pic>
        <p:sp>
          <p:nvSpPr>
            <p:cNvPr id="8" name="矩形 7">
              <a:extLst>
                <a:ext uri="{FF2B5EF4-FFF2-40B4-BE49-F238E27FC236}">
                  <a16:creationId xmlns:a16="http://schemas.microsoft.com/office/drawing/2014/main" id="{B35474ED-2F3A-DA42-AA9E-22C6BB0CEE59}"/>
                </a:ext>
              </a:extLst>
            </p:cNvPr>
            <p:cNvSpPr/>
            <p:nvPr/>
          </p:nvSpPr>
          <p:spPr>
            <a:xfrm>
              <a:off x="10900117" y="1884973"/>
              <a:ext cx="131299" cy="612042"/>
            </a:xfrm>
            <a:prstGeom prst="rect">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grpSp>
    </p:spTree>
    <p:extLst>
      <p:ext uri="{BB962C8B-B14F-4D97-AF65-F5344CB8AC3E}">
        <p14:creationId xmlns:p14="http://schemas.microsoft.com/office/powerpoint/2010/main" val="1836791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descr="一張含有 文字, 螢幕擷取畫面, 字型, 數字 的圖片&#10;&#10;自動產生的描述">
            <a:extLst>
              <a:ext uri="{FF2B5EF4-FFF2-40B4-BE49-F238E27FC236}">
                <a16:creationId xmlns:a16="http://schemas.microsoft.com/office/drawing/2014/main" id="{9F9AB204-DFDB-BF48-91CD-FB1B59DBB5AB}"/>
              </a:ext>
            </a:extLst>
          </p:cNvPr>
          <p:cNvPicPr>
            <a:picLocks noChangeAspect="1"/>
          </p:cNvPicPr>
          <p:nvPr/>
        </p:nvPicPr>
        <p:blipFill rotWithShape="1">
          <a:blip r:embed="rId2"/>
          <a:srcRect l="8929" r="12857" b="20378"/>
          <a:stretch/>
        </p:blipFill>
        <p:spPr>
          <a:xfrm>
            <a:off x="7837253" y="1690688"/>
            <a:ext cx="4289894" cy="4351338"/>
          </a:xfrm>
          <a:prstGeom prst="rect">
            <a:avLst/>
          </a:prstGeom>
        </p:spPr>
      </p:pic>
      <mc:AlternateContent xmlns:mc="http://schemas.openxmlformats.org/markup-compatibility/2006" xmlns:a14="http://schemas.microsoft.com/office/drawing/2010/main">
        <mc:Choice Requires="a14">
          <p:sp>
            <p:nvSpPr>
              <p:cNvPr id="9" name="內容版面配置區 8">
                <a:extLst>
                  <a:ext uri="{FF2B5EF4-FFF2-40B4-BE49-F238E27FC236}">
                    <a16:creationId xmlns:a16="http://schemas.microsoft.com/office/drawing/2014/main" id="{64A77833-0447-604F-BD78-7E7ACC94FC82}"/>
                  </a:ext>
                </a:extLst>
              </p:cNvPr>
              <p:cNvSpPr>
                <a:spLocks noGrp="1"/>
              </p:cNvSpPr>
              <p:nvPr>
                <p:ph idx="1"/>
              </p:nvPr>
            </p:nvSpPr>
            <p:spPr>
              <a:xfrm>
                <a:off x="838200" y="1866900"/>
                <a:ext cx="7086600" cy="4351338"/>
              </a:xfrm>
            </p:spPr>
            <p:txBody>
              <a:bodyPr/>
              <a:lstStyle/>
              <a:p>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h</m:t>
                        </m:r>
                      </m:e>
                      <m:sub>
                        <m:r>
                          <a:rPr lang="en-US" altLang="zh-TW" b="0" i="1" smtClean="0">
                            <a:latin typeface="Cambria Math" panose="02040503050406030204" pitchFamily="18" charset="0"/>
                          </a:rPr>
                          <m:t>𝑖𝑗</m:t>
                        </m:r>
                      </m:sub>
                    </m:sSub>
                    <m:r>
                      <a:rPr lang="en-US" altLang="zh-TW" b="0" i="0" smtClean="0">
                        <a:latin typeface="Cambria Math" panose="02040503050406030204" pitchFamily="18" charset="0"/>
                      </a:rPr>
                      <m:t>=</m:t>
                    </m:r>
                    <m:r>
                      <m:rPr>
                        <m:sty m:val="p"/>
                      </m:rPr>
                      <a:rPr lang="en-US" altLang="zh-TW" b="0" i="0" smtClean="0">
                        <a:latin typeface="Cambria Math" panose="02040503050406030204" pitchFamily="18" charset="0"/>
                      </a:rPr>
                      <m:t>dist</m:t>
                    </m:r>
                    <m:d>
                      <m:dPr>
                        <m:ctrlPr>
                          <a:rPr lang="en-US" altLang="zh-TW" b="0" i="1" smtClean="0">
                            <a:latin typeface="Cambria Math" panose="02040503050406030204" pitchFamily="18" charset="0"/>
                          </a:rPr>
                        </m:ctrlPr>
                      </m:dPr>
                      <m:e>
                        <m:r>
                          <m:rPr>
                            <m:sty m:val="p"/>
                          </m:rPr>
                          <a:rPr lang="en-US" altLang="zh-TW" b="0" i="0" smtClean="0">
                            <a:latin typeface="Cambria Math" panose="02040503050406030204" pitchFamily="18" charset="0"/>
                          </a:rPr>
                          <m:t>V</m:t>
                        </m:r>
                        <m:d>
                          <m:dPr>
                            <m:ctrlPr>
                              <a:rPr lang="en-US" altLang="zh-TW" b="0" i="1" smtClean="0">
                                <a:latin typeface="Cambria Math" panose="02040503050406030204" pitchFamily="18" charset="0"/>
                              </a:rPr>
                            </m:ctrlPr>
                          </m:dPr>
                          <m:e>
                            <m:r>
                              <m:rPr>
                                <m:sty m:val="p"/>
                              </m:rPr>
                              <a:rPr lang="en-US" altLang="zh-TW" b="0" i="0" smtClean="0">
                                <a:latin typeface="Cambria Math" panose="02040503050406030204" pitchFamily="18" charset="0"/>
                              </a:rPr>
                              <m:t>m</m:t>
                            </m:r>
                          </m:e>
                        </m:d>
                        <m:r>
                          <a:rPr lang="en-US" altLang="zh-TW" b="0" i="0" smtClean="0">
                            <a:latin typeface="Cambria Math" panose="02040503050406030204" pitchFamily="18" charset="0"/>
                          </a:rPr>
                          <m:t>,</m:t>
                        </m:r>
                        <m:r>
                          <a:rPr lang="zh-TW" altLang="en-US" b="0" i="0" smtClean="0">
                            <a:latin typeface="Cambria Math" panose="02040503050406030204" pitchFamily="18" charset="0"/>
                          </a:rPr>
                          <m:t> </m:t>
                        </m:r>
                        <m:r>
                          <m:rPr>
                            <m:sty m:val="p"/>
                          </m:rPr>
                          <a:rPr lang="en-US" altLang="zh-TW" b="0" i="0" smtClean="0">
                            <a:latin typeface="Cambria Math" panose="02040503050406030204" pitchFamily="18" charset="0"/>
                          </a:rPr>
                          <m:t>V</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𝑟</m:t>
                                </m:r>
                              </m:e>
                              <m:sub>
                                <m:r>
                                  <a:rPr lang="en-US" altLang="zh-TW" b="0" i="1" smtClean="0">
                                    <a:latin typeface="Cambria Math" panose="02040503050406030204" pitchFamily="18" charset="0"/>
                                  </a:rPr>
                                  <m:t>𝑖</m:t>
                                </m:r>
                              </m:sub>
                            </m:sSub>
                          </m:e>
                        </m:d>
                      </m:e>
                    </m:d>
                    <m:r>
                      <a:rPr lang="en-US" altLang="zh-TW">
                        <a:latin typeface="Cambria Math" panose="02040503050406030204" pitchFamily="18" charset="0"/>
                      </a:rPr>
                      <m:t>+</m:t>
                    </m:r>
                    <m:r>
                      <m:rPr>
                        <m:sty m:val="p"/>
                      </m:rPr>
                      <a:rPr lang="en-US" altLang="zh-TW">
                        <a:latin typeface="Cambria Math" panose="02040503050406030204" pitchFamily="18" charset="0"/>
                      </a:rPr>
                      <m:t>dist</m:t>
                    </m:r>
                    <m:d>
                      <m:dPr>
                        <m:ctrlPr>
                          <a:rPr lang="en-US" altLang="zh-TW" i="1">
                            <a:latin typeface="Cambria Math" panose="02040503050406030204" pitchFamily="18" charset="0"/>
                          </a:rPr>
                        </m:ctrlPr>
                      </m:dPr>
                      <m:e>
                        <m:r>
                          <m:rPr>
                            <m:sty m:val="p"/>
                          </m:rPr>
                          <a:rPr lang="en-US" altLang="zh-TW">
                            <a:latin typeface="Cambria Math" panose="02040503050406030204" pitchFamily="18" charset="0"/>
                          </a:rPr>
                          <m:t>V</m:t>
                        </m:r>
                        <m:d>
                          <m:dPr>
                            <m:ctrlPr>
                              <a:rPr lang="en-US" altLang="zh-TW" i="1">
                                <a:latin typeface="Cambria Math" panose="02040503050406030204" pitchFamily="18" charset="0"/>
                              </a:rPr>
                            </m:ctrlPr>
                          </m:dPr>
                          <m:e>
                            <m:r>
                              <m:rPr>
                                <m:sty m:val="p"/>
                              </m:rPr>
                              <a:rPr lang="en-US" altLang="zh-TW">
                                <a:latin typeface="Cambria Math" panose="02040503050406030204" pitchFamily="18" charset="0"/>
                              </a:rPr>
                              <m:t>m</m:t>
                            </m:r>
                          </m:e>
                        </m:d>
                        <m:r>
                          <a:rPr lang="en-US" altLang="zh-TW">
                            <a:latin typeface="Cambria Math" panose="02040503050406030204" pitchFamily="18" charset="0"/>
                          </a:rPr>
                          <m:t>,</m:t>
                        </m:r>
                        <m:r>
                          <a:rPr lang="zh-TW" altLang="en-US">
                            <a:latin typeface="Cambria Math" panose="02040503050406030204" pitchFamily="18" charset="0"/>
                          </a:rPr>
                          <m:t> </m:t>
                        </m:r>
                        <m:r>
                          <m:rPr>
                            <m:sty m:val="p"/>
                          </m:rPr>
                          <a:rPr lang="en-US" altLang="zh-TW">
                            <a:latin typeface="Cambria Math" panose="02040503050406030204" pitchFamily="18" charset="0"/>
                          </a:rPr>
                          <m:t>V</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𝑗</m:t>
                                </m:r>
                              </m:sub>
                            </m:sSub>
                          </m:e>
                        </m:d>
                      </m:e>
                    </m:d>
                  </m:oMath>
                </a14:m>
                <a:endParaRPr lang="en-US" altLang="zh-TW" dirty="0"/>
              </a:p>
              <a:p>
                <a:pPr lvl="1"/>
                <a:endParaRPr lang="en-US" altLang="zh-TW" dirty="0"/>
              </a:p>
              <a:p>
                <a:pPr lvl="1"/>
                <a:r>
                  <a:rPr lang="en-US" altLang="zh-TW" dirty="0">
                    <a:latin typeface="Cambria Math" panose="02040503050406030204" pitchFamily="18" charset="0"/>
                    <a:ea typeface="Cambria Math" panose="02040503050406030204" pitchFamily="18" charset="0"/>
                  </a:rPr>
                  <a:t>m:</a:t>
                </a:r>
                <a:r>
                  <a:rPr lang="zh-TW" altLang="en-US" dirty="0">
                    <a:latin typeface="Cambria Math" panose="02040503050406030204" pitchFamily="18" charset="0"/>
                    <a:ea typeface="Cambria Math" panose="02040503050406030204" pitchFamily="18" charset="0"/>
                  </a:rPr>
                  <a:t> </a:t>
                </a:r>
                <a:r>
                  <a:rPr lang="en-US" altLang="zh-TW" dirty="0">
                    <a:latin typeface="Times New Roman" panose="02020603050405020304" pitchFamily="18" charset="0"/>
                    <a:ea typeface="Cambria Math" panose="02040503050406030204" pitchFamily="18" charset="0"/>
                    <a:cs typeface="Times New Roman" panose="02020603050405020304" pitchFamily="18" charset="0"/>
                  </a:rPr>
                  <a:t>checkmate</a:t>
                </a:r>
                <a:r>
                  <a:rPr lang="zh-TW" altLang="en-US" dirty="0">
                    <a:latin typeface="Times New Roman" panose="02020603050405020304" pitchFamily="18" charset="0"/>
                    <a:ea typeface="Cambria Math" panose="02040503050406030204" pitchFamily="18" charset="0"/>
                    <a:cs typeface="Times New Roman" panose="02020603050405020304" pitchFamily="18" charset="0"/>
                  </a:rPr>
                  <a:t> </a:t>
                </a:r>
                <a:r>
                  <a:rPr lang="en-US" altLang="zh-TW" dirty="0">
                    <a:latin typeface="Times New Roman" panose="02020603050405020304" pitchFamily="18" charset="0"/>
                    <a:ea typeface="Cambria Math" panose="02040503050406030204" pitchFamily="18" charset="0"/>
                    <a:cs typeface="Times New Roman" panose="02020603050405020304" pitchFamily="18" charset="0"/>
                  </a:rPr>
                  <a:t>token</a:t>
                </a:r>
              </a:p>
              <a:p>
                <a:pPr lvl="1"/>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𝑉</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𝑥</m:t>
                    </m:r>
                    <m:r>
                      <a:rPr lang="en-US" altLang="zh-TW" b="0" i="1" smtClean="0">
                        <a:latin typeface="Cambria Math" panose="02040503050406030204" pitchFamily="18" charset="0"/>
                        <a:cs typeface="Times New Roman" panose="02020603050405020304" pitchFamily="18" charset="0"/>
                      </a:rPr>
                      <m:t>)</m:t>
                    </m:r>
                  </m:oMath>
                </a14:m>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the</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vector</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of</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the</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token</a:t>
                </a:r>
                <a:r>
                  <a:rPr lang="zh-TW" altLang="en-US" dirty="0">
                    <a:latin typeface="Times New Roman" panose="02020603050405020304" pitchFamily="18" charset="0"/>
                    <a:cs typeface="Times New Roman" panose="02020603050405020304" pitchFamily="18" charset="0"/>
                  </a:rPr>
                  <a:t> </a:t>
                </a:r>
                <a14:m>
                  <m:oMath xmlns:m="http://schemas.openxmlformats.org/officeDocument/2006/math">
                    <m:r>
                      <a:rPr lang="en-US" altLang="zh-TW" i="1">
                        <a:latin typeface="Cambria Math" panose="02040503050406030204" pitchFamily="18" charset="0"/>
                        <a:cs typeface="Times New Roman" panose="02020603050405020304" pitchFamily="18" charset="0"/>
                      </a:rPr>
                      <m:t>𝑥</m:t>
                    </m:r>
                  </m:oMath>
                </a14:m>
                <a:endParaRPr lang="en-US" altLang="zh-TW" dirty="0">
                  <a:latin typeface="Times New Roman" panose="02020603050405020304" pitchFamily="18" charset="0"/>
                  <a:cs typeface="Times New Roman" panose="02020603050405020304" pitchFamily="18" charset="0"/>
                </a:endParaRPr>
              </a:p>
              <a:p>
                <a:pPr lvl="1"/>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𝑑𝑖𝑠𝑡</m:t>
                    </m:r>
                  </m:oMath>
                </a14:m>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the</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cosine</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distance</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function</a:t>
                </a:r>
                <a:endParaRPr lang="zh-TW" altLang="en-US" dirty="0">
                  <a:latin typeface="Times New Roman" panose="02020603050405020304" pitchFamily="18" charset="0"/>
                  <a:cs typeface="Times New Roman" panose="02020603050405020304" pitchFamily="18" charset="0"/>
                </a:endParaRPr>
              </a:p>
            </p:txBody>
          </p:sp>
        </mc:Choice>
        <mc:Fallback xmlns="">
          <p:sp>
            <p:nvSpPr>
              <p:cNvPr id="9" name="內容版面配置區 8">
                <a:extLst>
                  <a:ext uri="{FF2B5EF4-FFF2-40B4-BE49-F238E27FC236}">
                    <a16:creationId xmlns:a16="http://schemas.microsoft.com/office/drawing/2014/main" id="{64A77833-0447-604F-BD78-7E7ACC94FC82}"/>
                  </a:ext>
                </a:extLst>
              </p:cNvPr>
              <p:cNvSpPr>
                <a:spLocks noGrp="1" noRot="1" noChangeAspect="1" noMove="1" noResize="1" noEditPoints="1" noAdjustHandles="1" noChangeArrowheads="1" noChangeShapeType="1" noTextEdit="1"/>
              </p:cNvSpPr>
              <p:nvPr>
                <p:ph idx="1"/>
              </p:nvPr>
            </p:nvSpPr>
            <p:spPr>
              <a:xfrm>
                <a:off x="838200" y="1866900"/>
                <a:ext cx="7086600" cy="4351338"/>
              </a:xfrm>
              <a:blipFill>
                <a:blip r:embed="rId3"/>
                <a:stretch>
                  <a:fillRect l="-1613"/>
                </a:stretch>
              </a:blipFill>
            </p:spPr>
            <p:txBody>
              <a:bodyPr/>
              <a:lstStyle/>
              <a:p>
                <a:r>
                  <a:rPr lang="zh-TW" altLang="en-US">
                    <a:noFill/>
                  </a:rPr>
                  <a:t> </a:t>
                </a:r>
              </a:p>
            </p:txBody>
          </p:sp>
        </mc:Fallback>
      </mc:AlternateContent>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lang="en" altLang="zh-TW" dirty="0">
                <a:latin typeface="Times" pitchFamily="2" charset="0"/>
              </a:rPr>
              <a:t>Spatial Relationships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11</a:t>
            </a:fld>
            <a:endParaRPr kumimoji="1" lang="zh-TW" altLang="en-US"/>
          </a:p>
        </p:txBody>
      </p:sp>
      <p:pic>
        <p:nvPicPr>
          <p:cNvPr id="10" name="圖片 9" descr="一張含有 文字, 螢幕擷取畫面, 字型, 數字 的圖片&#10;&#10;自動產生的描述">
            <a:extLst>
              <a:ext uri="{FF2B5EF4-FFF2-40B4-BE49-F238E27FC236}">
                <a16:creationId xmlns:a16="http://schemas.microsoft.com/office/drawing/2014/main" id="{DF0F30F9-5361-CD40-B6C5-310AC0471F5E}"/>
              </a:ext>
            </a:extLst>
          </p:cNvPr>
          <p:cNvPicPr>
            <a:picLocks noChangeAspect="1"/>
          </p:cNvPicPr>
          <p:nvPr/>
        </p:nvPicPr>
        <p:blipFill rotWithShape="1">
          <a:blip r:embed="rId2"/>
          <a:srcRect t="83546"/>
          <a:stretch/>
        </p:blipFill>
        <p:spPr>
          <a:xfrm>
            <a:off x="2913562" y="5234813"/>
            <a:ext cx="4923691" cy="807213"/>
          </a:xfrm>
          <a:prstGeom prst="rect">
            <a:avLst/>
          </a:prstGeom>
        </p:spPr>
      </p:pic>
    </p:spTree>
    <p:extLst>
      <p:ext uri="{BB962C8B-B14F-4D97-AF65-F5344CB8AC3E}">
        <p14:creationId xmlns:p14="http://schemas.microsoft.com/office/powerpoint/2010/main" val="1716052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內容版面配置區 8">
            <a:extLst>
              <a:ext uri="{FF2B5EF4-FFF2-40B4-BE49-F238E27FC236}">
                <a16:creationId xmlns:a16="http://schemas.microsoft.com/office/drawing/2014/main" id="{64A77833-0447-604F-BD78-7E7ACC94FC82}"/>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T</a:t>
            </a:r>
            <a:r>
              <a:rPr lang="en" altLang="zh-TW" dirty="0">
                <a:latin typeface="Times New Roman" panose="02020603050405020304" pitchFamily="18" charset="0"/>
                <a:cs typeface="Times New Roman" panose="02020603050405020304" pitchFamily="18" charset="0"/>
              </a:rPr>
              <a:t>he use of </a:t>
            </a:r>
            <a:r>
              <a:rPr lang="en" altLang="zh-TW" dirty="0">
                <a:solidFill>
                  <a:schemeClr val="accent6">
                    <a:lumMod val="50000"/>
                  </a:schemeClr>
                </a:solidFill>
                <a:latin typeface="Times New Roman" panose="02020603050405020304" pitchFamily="18" charset="0"/>
                <a:cs typeface="Times New Roman" panose="02020603050405020304" pitchFamily="18" charset="0"/>
              </a:rPr>
              <a:t>vector arithmetic</a:t>
            </a:r>
            <a:r>
              <a:rPr lang="en" altLang="zh-TW" dirty="0">
                <a:latin typeface="Times New Roman" panose="02020603050405020304" pitchFamily="18" charset="0"/>
                <a:cs typeface="Times New Roman" panose="02020603050405020304" pitchFamily="18" charset="0"/>
              </a:rPr>
              <a:t> to express relationships between words</a:t>
            </a:r>
            <a:r>
              <a:rPr lang="en-US" altLang="zh-TW" dirty="0">
                <a:latin typeface="Times New Roman" panose="02020603050405020304" pitchFamily="18" charset="0"/>
                <a:cs typeface="Times New Roman" panose="02020603050405020304" pitchFamily="18" charset="0"/>
              </a:rPr>
              <a:t>.</a:t>
            </a:r>
          </a:p>
          <a:p>
            <a:pPr lvl="1"/>
            <a:r>
              <a:rPr lang="en" altLang="zh-TW" dirty="0">
                <a:latin typeface="Times New Roman" panose="02020603050405020304" pitchFamily="18" charset="0"/>
                <a:cs typeface="Times New Roman" panose="02020603050405020304" pitchFamily="18" charset="0"/>
              </a:rPr>
              <a:t>king – man + woman = queen</a:t>
            </a:r>
          </a:p>
          <a:p>
            <a:pPr lvl="1"/>
            <a:r>
              <a:rPr lang="en" altLang="zh-TW" dirty="0">
                <a:latin typeface="Times New Roman" panose="02020603050405020304" pitchFamily="18" charset="0"/>
                <a:cs typeface="Times New Roman" panose="02020603050405020304" pitchFamily="18" charset="0"/>
              </a:rPr>
              <a:t>Paris – France + Morocco</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Rabat</a:t>
            </a:r>
            <a:endParaRPr lang="en-US" altLang="zh-TW" dirty="0">
              <a:latin typeface="Times New Roman" panose="02020603050405020304" pitchFamily="18" charset="0"/>
              <a:cs typeface="Times New Roman" panose="02020603050405020304" pitchFamily="18" charset="0"/>
            </a:endParaRPr>
          </a:p>
          <a:p>
            <a:pPr lvl="1"/>
            <a:r>
              <a:rPr lang="en-US" altLang="zh-TW" dirty="0">
                <a:solidFill>
                  <a:srgbClr val="C00000"/>
                </a:solidFill>
                <a:latin typeface="Times New Roman" panose="02020603050405020304" pitchFamily="18" charset="0"/>
                <a:cs typeface="Times New Roman" panose="02020603050405020304" pitchFamily="18" charset="0"/>
              </a:rPr>
              <a:t>Queen</a:t>
            </a:r>
            <a:r>
              <a:rPr lang="en" altLang="zh-TW" dirty="0">
                <a:solidFill>
                  <a:srgbClr val="C00000"/>
                </a:solidFill>
                <a:latin typeface="Times New Roman" panose="02020603050405020304" pitchFamily="18" charset="0"/>
                <a:cs typeface="Times New Roman" panose="02020603050405020304" pitchFamily="18" charset="0"/>
              </a:rPr>
              <a:t> – </a:t>
            </a:r>
            <a:r>
              <a:rPr lang="en-US" altLang="zh-TW" dirty="0">
                <a:solidFill>
                  <a:srgbClr val="C00000"/>
                </a:solidFill>
                <a:latin typeface="Times New Roman" panose="02020603050405020304" pitchFamily="18" charset="0"/>
                <a:cs typeface="Times New Roman" panose="02020603050405020304" pitchFamily="18" charset="0"/>
              </a:rPr>
              <a:t>Pawn</a:t>
            </a:r>
            <a:r>
              <a:rPr lang="en" altLang="zh-TW" dirty="0">
                <a:solidFill>
                  <a:srgbClr val="C00000"/>
                </a:solidFill>
                <a:latin typeface="Times New Roman" panose="02020603050405020304" pitchFamily="18" charset="0"/>
                <a:cs typeface="Times New Roman" panose="02020603050405020304" pitchFamily="18" charset="0"/>
              </a:rPr>
              <a:t> + </a:t>
            </a:r>
            <a:r>
              <a:rPr lang="en-US" altLang="zh-TW" dirty="0">
                <a:solidFill>
                  <a:srgbClr val="C00000"/>
                </a:solidFill>
                <a:latin typeface="Times New Roman" panose="02020603050405020304" pitchFamily="18" charset="0"/>
                <a:cs typeface="Times New Roman" panose="02020603050405020304" pitchFamily="18" charset="0"/>
              </a:rPr>
              <a:t>King</a:t>
            </a:r>
            <a:r>
              <a:rPr lang="zh-TW" altLang="en-US" dirty="0">
                <a:solidFill>
                  <a:srgbClr val="C00000"/>
                </a:solidFill>
                <a:latin typeface="Times New Roman" panose="02020603050405020304" pitchFamily="18" charset="0"/>
                <a:cs typeface="Times New Roman" panose="02020603050405020304" pitchFamily="18" charset="0"/>
              </a:rPr>
              <a:t> </a:t>
            </a:r>
            <a:r>
              <a:rPr lang="en-US" altLang="zh-TW" dirty="0">
                <a:solidFill>
                  <a:srgbClr val="C00000"/>
                </a:solidFill>
                <a:latin typeface="Times New Roman" panose="02020603050405020304" pitchFamily="18" charset="0"/>
                <a:cs typeface="Times New Roman" panose="02020603050405020304" pitchFamily="18" charset="0"/>
              </a:rPr>
              <a:t>=</a:t>
            </a:r>
            <a:r>
              <a:rPr lang="zh-TW" altLang="en-US" dirty="0">
                <a:solidFill>
                  <a:srgbClr val="C00000"/>
                </a:solidFill>
                <a:latin typeface="Times New Roman" panose="02020603050405020304" pitchFamily="18" charset="0"/>
                <a:cs typeface="Times New Roman" panose="02020603050405020304" pitchFamily="18" charset="0"/>
              </a:rPr>
              <a:t> </a:t>
            </a:r>
            <a:r>
              <a:rPr lang="en-US" altLang="zh-TW" dirty="0">
                <a:solidFill>
                  <a:srgbClr val="C00000"/>
                </a:solidFill>
                <a:latin typeface="Times New Roman" panose="02020603050405020304" pitchFamily="18" charset="0"/>
                <a:cs typeface="Times New Roman" panose="02020603050405020304" pitchFamily="18" charset="0"/>
              </a:rPr>
              <a:t>?</a:t>
            </a:r>
          </a:p>
        </p:txBody>
      </p:sp>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lang="en" altLang="zh-TW" dirty="0">
                <a:latin typeface="Times" pitchFamily="2" charset="0"/>
              </a:rPr>
              <a:t>Special Piece Relationships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12</a:t>
            </a:fld>
            <a:endParaRPr kumimoji="1" lang="zh-TW" altLang="en-US"/>
          </a:p>
        </p:txBody>
      </p:sp>
      <p:grpSp>
        <p:nvGrpSpPr>
          <p:cNvPr id="8" name="群組 7">
            <a:extLst>
              <a:ext uri="{FF2B5EF4-FFF2-40B4-BE49-F238E27FC236}">
                <a16:creationId xmlns:a16="http://schemas.microsoft.com/office/drawing/2014/main" id="{A8C02B57-7F86-2C48-AF21-95EF880D5F59}"/>
              </a:ext>
            </a:extLst>
          </p:cNvPr>
          <p:cNvGrpSpPr/>
          <p:nvPr/>
        </p:nvGrpSpPr>
        <p:grpSpPr>
          <a:xfrm>
            <a:off x="2597150" y="4468935"/>
            <a:ext cx="6997700" cy="1460500"/>
            <a:chOff x="2597150" y="4468935"/>
            <a:chExt cx="6997700" cy="1460500"/>
          </a:xfrm>
        </p:grpSpPr>
        <p:pic>
          <p:nvPicPr>
            <p:cNvPr id="5" name="圖片 4" descr="一張含有 文字, 字型, 螢幕擷取畫面, 行 的圖片&#10;&#10;自動產生的描述">
              <a:extLst>
                <a:ext uri="{FF2B5EF4-FFF2-40B4-BE49-F238E27FC236}">
                  <a16:creationId xmlns:a16="http://schemas.microsoft.com/office/drawing/2014/main" id="{7EBD0420-3593-7649-A9F9-48C4728E8B04}"/>
                </a:ext>
              </a:extLst>
            </p:cNvPr>
            <p:cNvPicPr>
              <a:picLocks noChangeAspect="1"/>
            </p:cNvPicPr>
            <p:nvPr/>
          </p:nvPicPr>
          <p:blipFill>
            <a:blip r:embed="rId2"/>
            <a:stretch>
              <a:fillRect/>
            </a:stretch>
          </p:blipFill>
          <p:spPr>
            <a:xfrm>
              <a:off x="2597150" y="4468935"/>
              <a:ext cx="6997700" cy="1460500"/>
            </a:xfrm>
            <a:prstGeom prst="rect">
              <a:avLst/>
            </a:prstGeom>
          </p:spPr>
        </p:pic>
        <p:sp>
          <p:nvSpPr>
            <p:cNvPr id="7" name="矩形 6">
              <a:extLst>
                <a:ext uri="{FF2B5EF4-FFF2-40B4-BE49-F238E27FC236}">
                  <a16:creationId xmlns:a16="http://schemas.microsoft.com/office/drawing/2014/main" id="{911633D2-ED4A-B649-A5BA-44159FBCC0E2}"/>
                </a:ext>
              </a:extLst>
            </p:cNvPr>
            <p:cNvSpPr/>
            <p:nvPr/>
          </p:nvSpPr>
          <p:spPr>
            <a:xfrm>
              <a:off x="6506307" y="4468935"/>
              <a:ext cx="715107" cy="57198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grpSp>
    </p:spTree>
    <p:extLst>
      <p:ext uri="{BB962C8B-B14F-4D97-AF65-F5344CB8AC3E}">
        <p14:creationId xmlns:p14="http://schemas.microsoft.com/office/powerpoint/2010/main" val="272642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descr="一張含有 文字, 螢幕擷取畫面, 行, 圖表 的圖片&#10;&#10;自動產生的描述">
            <a:extLst>
              <a:ext uri="{FF2B5EF4-FFF2-40B4-BE49-F238E27FC236}">
                <a16:creationId xmlns:a16="http://schemas.microsoft.com/office/drawing/2014/main" id="{6A2336FC-B765-3541-8EDE-06A4FB5548AF}"/>
              </a:ext>
            </a:extLst>
          </p:cNvPr>
          <p:cNvPicPr>
            <a:picLocks noGrp="1" noChangeAspect="1"/>
          </p:cNvPicPr>
          <p:nvPr>
            <p:ph idx="1"/>
          </p:nvPr>
        </p:nvPicPr>
        <p:blipFill>
          <a:blip r:embed="rId2"/>
          <a:stretch>
            <a:fillRect/>
          </a:stretch>
        </p:blipFill>
        <p:spPr>
          <a:xfrm>
            <a:off x="838200" y="1693155"/>
            <a:ext cx="5002649" cy="4799720"/>
          </a:xfrm>
        </p:spPr>
      </p:pic>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lang="en" altLang="zh-TW" dirty="0">
                <a:latin typeface="Times" pitchFamily="2" charset="0"/>
              </a:rPr>
              <a:t>Stability of Results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13</a:t>
            </a:fld>
            <a:endParaRPr kumimoji="1" lang="zh-TW" altLang="en-US"/>
          </a:p>
        </p:txBody>
      </p:sp>
      <p:pic>
        <p:nvPicPr>
          <p:cNvPr id="7" name="圖片 6" descr="一張含有 文字, 螢幕擷取畫面, 行, 圖表 的圖片&#10;&#10;自動產生的描述">
            <a:extLst>
              <a:ext uri="{FF2B5EF4-FFF2-40B4-BE49-F238E27FC236}">
                <a16:creationId xmlns:a16="http://schemas.microsoft.com/office/drawing/2014/main" id="{ED6FE804-DD00-8C4C-B7AB-CA9108A7D080}"/>
              </a:ext>
            </a:extLst>
          </p:cNvPr>
          <p:cNvPicPr>
            <a:picLocks noChangeAspect="1"/>
          </p:cNvPicPr>
          <p:nvPr/>
        </p:nvPicPr>
        <p:blipFill>
          <a:blip r:embed="rId3"/>
          <a:stretch>
            <a:fillRect/>
          </a:stretch>
        </p:blipFill>
        <p:spPr>
          <a:xfrm>
            <a:off x="6096000" y="1804939"/>
            <a:ext cx="4911207" cy="4576152"/>
          </a:xfrm>
          <a:prstGeom prst="rect">
            <a:avLst/>
          </a:prstGeom>
        </p:spPr>
      </p:pic>
    </p:spTree>
    <p:extLst>
      <p:ext uri="{BB962C8B-B14F-4D97-AF65-F5344CB8AC3E}">
        <p14:creationId xmlns:p14="http://schemas.microsoft.com/office/powerpoint/2010/main" val="396882361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3_chenya" id="{B41F7EED-78E0-1445-87EF-5AF1DA6E0F58}" vid="{D32384A1-BBDA-0D4F-B76D-4F110ED03311}"/>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佈景主題</Template>
  <TotalTime>2671</TotalTime>
  <Words>510</Words>
  <Application>Microsoft Macintosh PowerPoint</Application>
  <PresentationFormat>寬螢幕</PresentationFormat>
  <Paragraphs>68</Paragraphs>
  <Slides>13</Slides>
  <Notes>7</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13</vt:i4>
      </vt:variant>
    </vt:vector>
  </HeadingPairs>
  <TitlesOfParts>
    <vt:vector size="20" baseType="lpstr">
      <vt:lpstr>Times</vt:lpstr>
      <vt:lpstr>Arial</vt:lpstr>
      <vt:lpstr>Calibri</vt:lpstr>
      <vt:lpstr>Calibri Light</vt:lpstr>
      <vt:lpstr>Cambria Math</vt:lpstr>
      <vt:lpstr>Times New Roman</vt:lpstr>
      <vt:lpstr>Office 佈景主題</vt:lpstr>
      <vt:lpstr>Revealing Game Dynamics via Word Embeddings of Gameplay Data</vt:lpstr>
      <vt:lpstr>Abstract</vt:lpstr>
      <vt:lpstr>Chess</vt:lpstr>
      <vt:lpstr>Chess</vt:lpstr>
      <vt:lpstr>Word embedding</vt:lpstr>
      <vt:lpstr>Word2Vec</vt:lpstr>
      <vt:lpstr>Word similarity</vt:lpstr>
      <vt:lpstr>Problem Setup</vt:lpstr>
      <vt:lpstr>Problem Setup</vt:lpstr>
      <vt:lpstr>Relative Piece Value</vt:lpstr>
      <vt:lpstr>Spatial Relationships</vt:lpstr>
      <vt:lpstr>Special Piece Relationships</vt:lpstr>
      <vt:lpstr>Stability of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M113040012</dc:creator>
  <cp:lastModifiedBy>M113040012</cp:lastModifiedBy>
  <cp:revision>98</cp:revision>
  <dcterms:created xsi:type="dcterms:W3CDTF">2024-01-28T13:51:55Z</dcterms:created>
  <dcterms:modified xsi:type="dcterms:W3CDTF">2024-02-06T07:06:26Z</dcterms:modified>
</cp:coreProperties>
</file>