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9" r:id="rId3"/>
    <p:sldId id="260" r:id="rId4"/>
    <p:sldId id="262" r:id="rId5"/>
    <p:sldId id="271" r:id="rId6"/>
    <p:sldId id="264" r:id="rId7"/>
    <p:sldId id="263" r:id="rId8"/>
    <p:sldId id="265" r:id="rId9"/>
    <p:sldId id="269" r:id="rId10"/>
    <p:sldId id="279" r:id="rId11"/>
    <p:sldId id="26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0" r:id="rId20"/>
    <p:sldId id="281" r:id="rId21"/>
    <p:sldId id="282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B4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188" autoAdjust="0"/>
  </p:normalViewPr>
  <p:slideViewPr>
    <p:cSldViewPr snapToGrid="0">
      <p:cViewPr varScale="1">
        <p:scale>
          <a:sx n="55" d="100"/>
          <a:sy n="55" d="100"/>
        </p:scale>
        <p:origin x="13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39E260-B3BD-4AA2-BF3E-5644AA41395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63028063-8625-4A3A-B137-C2C1CC9D829A}">
      <dgm:prSet phldrT="[文字]" custT="1"/>
      <dgm:spPr/>
      <dgm:t>
        <a:bodyPr/>
        <a:lstStyle/>
        <a:p>
          <a:r>
            <a: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Non-singular</a:t>
          </a:r>
          <a:endParaRPr lang="zh-TW" altLang="en-US" sz="3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C6B64E-9BD3-41FA-8B81-9FD022B5FA66}" type="parTrans" cxnId="{5F634B0D-DFF8-46F3-AC5E-B0404A2FC236}">
      <dgm:prSet/>
      <dgm:spPr/>
      <dgm:t>
        <a:bodyPr/>
        <a:lstStyle/>
        <a:p>
          <a:endParaRPr lang="zh-TW" altLang="en-US"/>
        </a:p>
      </dgm:t>
    </dgm:pt>
    <dgm:pt modelId="{C1B9781F-DFA0-4809-8118-D8D8AFD3DF51}" type="sibTrans" cxnId="{5F634B0D-DFF8-46F3-AC5E-B0404A2FC236}">
      <dgm:prSet/>
      <dgm:spPr/>
      <dgm:t>
        <a:bodyPr/>
        <a:lstStyle/>
        <a:p>
          <a:endParaRPr lang="zh-TW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558ACBF-DDD5-4EC8-B139-6A3427DD8C43}">
          <dgm:prSet phldrT="[文字]" custT="1"/>
          <dgm:spPr/>
          <dgm:t>
            <a:bodyPr/>
            <a:lstStyle/>
            <a:p>
              <a:r>
                <a: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Expressed as </a:t>
              </a:r>
              <a14:m>
                <m:oMath xmlns:m="http://schemas.openxmlformats.org/officeDocument/2006/math">
                  <m:r>
                    <a:rPr kumimoji="1" lang="en-US" altLang="zh-TW" sz="360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𝐼</m:t>
                  </m:r>
                  <m:r>
                    <a:rPr kumimoji="1" lang="en-US" altLang="zh-TW" sz="3600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+</m:t>
                  </m:r>
                  <m:sSup>
                    <m:sSupPr>
                      <m:ctrlPr>
                        <a:rPr kumimoji="1" lang="en-US" altLang="zh-TW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pPr>
                    <m:e>
                      <m:r>
                        <a:rPr kumimoji="1" lang="en-US" altLang="zh-TW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</m:e>
                    <m:sup>
                      <m:r>
                        <a:rPr kumimoji="1" lang="en-US" altLang="zh-TW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</m:sup>
                  </m:sSup>
                </m:oMath>
              </a14:m>
              <a:endParaRPr lang="zh-TW" altLang="en-US" sz="3600" dirty="0"/>
            </a:p>
          </dgm:t>
        </dgm:pt>
      </mc:Choice>
      <mc:Fallback xmlns="">
        <dgm:pt modelId="{1558ACBF-DDD5-4EC8-B139-6A3427DD8C43}">
          <dgm:prSet phldrT="[文字]" custT="1"/>
          <dgm:spPr/>
          <dgm:t>
            <a:bodyPr/>
            <a:lstStyle/>
            <a:p>
              <a:r>
                <a: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Expressed as </a:t>
              </a:r>
              <a:r>
                <a:rPr kumimoji="1" lang="en-US" altLang="zh-TW" sz="3600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𝐼+𝐿^𝑎</a:t>
              </a:r>
              <a:endParaRPr lang="zh-TW" altLang="en-US" sz="3600" dirty="0"/>
            </a:p>
          </dgm:t>
        </dgm:pt>
      </mc:Fallback>
    </mc:AlternateContent>
    <dgm:pt modelId="{C1B20B81-29D5-4C9E-9638-7551CB2D459A}" type="parTrans" cxnId="{AB62E046-EA39-4987-9E58-30FAFCB80A49}">
      <dgm:prSet/>
      <dgm:spPr/>
      <dgm:t>
        <a:bodyPr/>
        <a:lstStyle/>
        <a:p>
          <a:endParaRPr lang="zh-TW" altLang="en-US"/>
        </a:p>
      </dgm:t>
    </dgm:pt>
    <dgm:pt modelId="{1B58A94C-42AC-40C8-ADC5-59E70FA7133D}" type="sibTrans" cxnId="{AB62E046-EA39-4987-9E58-30FAFCB80A49}">
      <dgm:prSet/>
      <dgm:spPr/>
      <dgm:t>
        <a:bodyPr/>
        <a:lstStyle/>
        <a:p>
          <a:endParaRPr lang="zh-TW" altLang="en-US"/>
        </a:p>
      </dgm:t>
    </dgm:pt>
    <dgm:pt modelId="{BA858FEA-2E54-4043-8A15-DB4A29D3E958}" type="pres">
      <dgm:prSet presAssocID="{8D39E260-B3BD-4AA2-BF3E-5644AA41395D}" presName="compositeShape" presStyleCnt="0">
        <dgm:presLayoutVars>
          <dgm:chMax val="7"/>
          <dgm:dir/>
          <dgm:resizeHandles val="exact"/>
        </dgm:presLayoutVars>
      </dgm:prSet>
      <dgm:spPr/>
    </dgm:pt>
    <dgm:pt modelId="{9235C748-7168-4E0C-B683-E311D15BBF0B}" type="pres">
      <dgm:prSet presAssocID="{63028063-8625-4A3A-B137-C2C1CC9D829A}" presName="circ1" presStyleLbl="vennNode1" presStyleIdx="0" presStyleCnt="2"/>
      <dgm:spPr/>
    </dgm:pt>
    <dgm:pt modelId="{ACC25548-6AC1-4564-91C9-7FC6A1D32F6A}" type="pres">
      <dgm:prSet presAssocID="{63028063-8625-4A3A-B137-C2C1CC9D829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399B61A-E032-45A4-A86A-94795C3F9831}" type="pres">
      <dgm:prSet presAssocID="{1558ACBF-DDD5-4EC8-B139-6A3427DD8C43}" presName="circ2" presStyleLbl="vennNode1" presStyleIdx="1" presStyleCnt="2"/>
      <dgm:spPr/>
    </dgm:pt>
    <dgm:pt modelId="{35780048-7F14-4907-A660-6B3839770AA8}" type="pres">
      <dgm:prSet presAssocID="{1558ACBF-DDD5-4EC8-B139-6A3427DD8C4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F634B0D-DFF8-46F3-AC5E-B0404A2FC236}" srcId="{8D39E260-B3BD-4AA2-BF3E-5644AA41395D}" destId="{63028063-8625-4A3A-B137-C2C1CC9D829A}" srcOrd="0" destOrd="0" parTransId="{AFC6B64E-9BD3-41FA-8B81-9FD022B5FA66}" sibTransId="{C1B9781F-DFA0-4809-8118-D8D8AFD3DF51}"/>
    <dgm:cxn modelId="{4DD17B27-0776-4C17-8A0A-EC655C5D2FE9}" type="presOf" srcId="{63028063-8625-4A3A-B137-C2C1CC9D829A}" destId="{9235C748-7168-4E0C-B683-E311D15BBF0B}" srcOrd="0" destOrd="0" presId="urn:microsoft.com/office/officeart/2005/8/layout/venn1"/>
    <dgm:cxn modelId="{7584125F-0426-4465-ABCD-C13F1BECCE45}" type="presOf" srcId="{63028063-8625-4A3A-B137-C2C1CC9D829A}" destId="{ACC25548-6AC1-4564-91C9-7FC6A1D32F6A}" srcOrd="1" destOrd="0" presId="urn:microsoft.com/office/officeart/2005/8/layout/venn1"/>
    <dgm:cxn modelId="{0A338943-CCDE-4327-97A9-4940D1A80CD2}" type="presOf" srcId="{8D39E260-B3BD-4AA2-BF3E-5644AA41395D}" destId="{BA858FEA-2E54-4043-8A15-DB4A29D3E958}" srcOrd="0" destOrd="0" presId="urn:microsoft.com/office/officeart/2005/8/layout/venn1"/>
    <dgm:cxn modelId="{AB62E046-EA39-4987-9E58-30FAFCB80A49}" srcId="{8D39E260-B3BD-4AA2-BF3E-5644AA41395D}" destId="{1558ACBF-DDD5-4EC8-B139-6A3427DD8C43}" srcOrd="1" destOrd="0" parTransId="{C1B20B81-29D5-4C9E-9638-7551CB2D459A}" sibTransId="{1B58A94C-42AC-40C8-ADC5-59E70FA7133D}"/>
    <dgm:cxn modelId="{5A6D669F-383D-45A5-B729-3AF556874C87}" type="presOf" srcId="{1558ACBF-DDD5-4EC8-B139-6A3427DD8C43}" destId="{3399B61A-E032-45A4-A86A-94795C3F9831}" srcOrd="0" destOrd="0" presId="urn:microsoft.com/office/officeart/2005/8/layout/venn1"/>
    <dgm:cxn modelId="{953EE9DA-C5E7-492E-ABAC-A09F30677EFD}" type="presOf" srcId="{1558ACBF-DDD5-4EC8-B139-6A3427DD8C43}" destId="{35780048-7F14-4907-A660-6B3839770AA8}" srcOrd="1" destOrd="0" presId="urn:microsoft.com/office/officeart/2005/8/layout/venn1"/>
    <dgm:cxn modelId="{8A920218-D8F5-4294-B71A-74B50FCA458B}" type="presParOf" srcId="{BA858FEA-2E54-4043-8A15-DB4A29D3E958}" destId="{9235C748-7168-4E0C-B683-E311D15BBF0B}" srcOrd="0" destOrd="0" presId="urn:microsoft.com/office/officeart/2005/8/layout/venn1"/>
    <dgm:cxn modelId="{1C72222D-8F72-44D4-A1C4-FEB4D3CF77C6}" type="presParOf" srcId="{BA858FEA-2E54-4043-8A15-DB4A29D3E958}" destId="{ACC25548-6AC1-4564-91C9-7FC6A1D32F6A}" srcOrd="1" destOrd="0" presId="urn:microsoft.com/office/officeart/2005/8/layout/venn1"/>
    <dgm:cxn modelId="{09898633-4C2F-4D2C-BDE8-FADFD484D6B5}" type="presParOf" srcId="{BA858FEA-2E54-4043-8A15-DB4A29D3E958}" destId="{3399B61A-E032-45A4-A86A-94795C3F9831}" srcOrd="2" destOrd="0" presId="urn:microsoft.com/office/officeart/2005/8/layout/venn1"/>
    <dgm:cxn modelId="{23232817-69C8-4DE7-ADA0-ADC8A2CF9D93}" type="presParOf" srcId="{BA858FEA-2E54-4043-8A15-DB4A29D3E958}" destId="{35780048-7F14-4907-A660-6B3839770AA8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39E260-B3BD-4AA2-BF3E-5644AA41395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63028063-8625-4A3A-B137-C2C1CC9D829A}">
      <dgm:prSet phldrT="[文字]" custT="1"/>
      <dgm:spPr/>
      <dgm:t>
        <a:bodyPr/>
        <a:lstStyle/>
        <a:p>
          <a:r>
            <a: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Non-singular</a:t>
          </a:r>
          <a:endParaRPr lang="zh-TW" altLang="en-US" sz="3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C6B64E-9BD3-41FA-8B81-9FD022B5FA66}" type="parTrans" cxnId="{5F634B0D-DFF8-46F3-AC5E-B0404A2FC236}">
      <dgm:prSet/>
      <dgm:spPr/>
      <dgm:t>
        <a:bodyPr/>
        <a:lstStyle/>
        <a:p>
          <a:endParaRPr lang="zh-TW" altLang="en-US"/>
        </a:p>
      </dgm:t>
    </dgm:pt>
    <dgm:pt modelId="{C1B9781F-DFA0-4809-8118-D8D8AFD3DF51}" type="sibTrans" cxnId="{5F634B0D-DFF8-46F3-AC5E-B0404A2FC236}">
      <dgm:prSet/>
      <dgm:spPr/>
      <dgm:t>
        <a:bodyPr/>
        <a:lstStyle/>
        <a:p>
          <a:endParaRPr lang="zh-TW" altLang="en-US"/>
        </a:p>
      </dgm:t>
    </dgm:pt>
    <dgm:pt modelId="{1558ACBF-DDD5-4EC8-B139-6A3427DD8C43}">
      <dgm:prSet phldrT="[文字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zh-TW" altLang="en-US">
              <a:noFill/>
            </a:rPr>
            <a:t> </a:t>
          </a:r>
        </a:p>
      </dgm:t>
    </dgm:pt>
    <dgm:pt modelId="{C1B20B81-29D5-4C9E-9638-7551CB2D459A}" type="parTrans" cxnId="{AB62E046-EA39-4987-9E58-30FAFCB80A49}">
      <dgm:prSet/>
      <dgm:spPr/>
      <dgm:t>
        <a:bodyPr/>
        <a:lstStyle/>
        <a:p>
          <a:endParaRPr lang="zh-TW" altLang="en-US"/>
        </a:p>
      </dgm:t>
    </dgm:pt>
    <dgm:pt modelId="{1B58A94C-42AC-40C8-ADC5-59E70FA7133D}" type="sibTrans" cxnId="{AB62E046-EA39-4987-9E58-30FAFCB80A49}">
      <dgm:prSet/>
      <dgm:spPr/>
      <dgm:t>
        <a:bodyPr/>
        <a:lstStyle/>
        <a:p>
          <a:endParaRPr lang="zh-TW" altLang="en-US"/>
        </a:p>
      </dgm:t>
    </dgm:pt>
    <dgm:pt modelId="{BA858FEA-2E54-4043-8A15-DB4A29D3E958}" type="pres">
      <dgm:prSet presAssocID="{8D39E260-B3BD-4AA2-BF3E-5644AA41395D}" presName="compositeShape" presStyleCnt="0">
        <dgm:presLayoutVars>
          <dgm:chMax val="7"/>
          <dgm:dir/>
          <dgm:resizeHandles val="exact"/>
        </dgm:presLayoutVars>
      </dgm:prSet>
      <dgm:spPr/>
    </dgm:pt>
    <dgm:pt modelId="{9235C748-7168-4E0C-B683-E311D15BBF0B}" type="pres">
      <dgm:prSet presAssocID="{63028063-8625-4A3A-B137-C2C1CC9D829A}" presName="circ1" presStyleLbl="vennNode1" presStyleIdx="0" presStyleCnt="2"/>
      <dgm:spPr/>
    </dgm:pt>
    <dgm:pt modelId="{ACC25548-6AC1-4564-91C9-7FC6A1D32F6A}" type="pres">
      <dgm:prSet presAssocID="{63028063-8625-4A3A-B137-C2C1CC9D829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399B61A-E032-45A4-A86A-94795C3F9831}" type="pres">
      <dgm:prSet presAssocID="{1558ACBF-DDD5-4EC8-B139-6A3427DD8C43}" presName="circ2" presStyleLbl="vennNode1" presStyleIdx="1" presStyleCnt="2"/>
      <dgm:spPr/>
    </dgm:pt>
    <dgm:pt modelId="{35780048-7F14-4907-A660-6B3839770AA8}" type="pres">
      <dgm:prSet presAssocID="{1558ACBF-DDD5-4EC8-B139-6A3427DD8C4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F634B0D-DFF8-46F3-AC5E-B0404A2FC236}" srcId="{8D39E260-B3BD-4AA2-BF3E-5644AA41395D}" destId="{63028063-8625-4A3A-B137-C2C1CC9D829A}" srcOrd="0" destOrd="0" parTransId="{AFC6B64E-9BD3-41FA-8B81-9FD022B5FA66}" sibTransId="{C1B9781F-DFA0-4809-8118-D8D8AFD3DF51}"/>
    <dgm:cxn modelId="{4DD17B27-0776-4C17-8A0A-EC655C5D2FE9}" type="presOf" srcId="{63028063-8625-4A3A-B137-C2C1CC9D829A}" destId="{9235C748-7168-4E0C-B683-E311D15BBF0B}" srcOrd="0" destOrd="0" presId="urn:microsoft.com/office/officeart/2005/8/layout/venn1"/>
    <dgm:cxn modelId="{7584125F-0426-4465-ABCD-C13F1BECCE45}" type="presOf" srcId="{63028063-8625-4A3A-B137-C2C1CC9D829A}" destId="{ACC25548-6AC1-4564-91C9-7FC6A1D32F6A}" srcOrd="1" destOrd="0" presId="urn:microsoft.com/office/officeart/2005/8/layout/venn1"/>
    <dgm:cxn modelId="{0A338943-CCDE-4327-97A9-4940D1A80CD2}" type="presOf" srcId="{8D39E260-B3BD-4AA2-BF3E-5644AA41395D}" destId="{BA858FEA-2E54-4043-8A15-DB4A29D3E958}" srcOrd="0" destOrd="0" presId="urn:microsoft.com/office/officeart/2005/8/layout/venn1"/>
    <dgm:cxn modelId="{AB62E046-EA39-4987-9E58-30FAFCB80A49}" srcId="{8D39E260-B3BD-4AA2-BF3E-5644AA41395D}" destId="{1558ACBF-DDD5-4EC8-B139-6A3427DD8C43}" srcOrd="1" destOrd="0" parTransId="{C1B20B81-29D5-4C9E-9638-7551CB2D459A}" sibTransId="{1B58A94C-42AC-40C8-ADC5-59E70FA7133D}"/>
    <dgm:cxn modelId="{5A6D669F-383D-45A5-B729-3AF556874C87}" type="presOf" srcId="{1558ACBF-DDD5-4EC8-B139-6A3427DD8C43}" destId="{3399B61A-E032-45A4-A86A-94795C3F9831}" srcOrd="0" destOrd="0" presId="urn:microsoft.com/office/officeart/2005/8/layout/venn1"/>
    <dgm:cxn modelId="{953EE9DA-C5E7-492E-ABAC-A09F30677EFD}" type="presOf" srcId="{1558ACBF-DDD5-4EC8-B139-6A3427DD8C43}" destId="{35780048-7F14-4907-A660-6B3839770AA8}" srcOrd="1" destOrd="0" presId="urn:microsoft.com/office/officeart/2005/8/layout/venn1"/>
    <dgm:cxn modelId="{8A920218-D8F5-4294-B71A-74B50FCA458B}" type="presParOf" srcId="{BA858FEA-2E54-4043-8A15-DB4A29D3E958}" destId="{9235C748-7168-4E0C-B683-E311D15BBF0B}" srcOrd="0" destOrd="0" presId="urn:microsoft.com/office/officeart/2005/8/layout/venn1"/>
    <dgm:cxn modelId="{1C72222D-8F72-44D4-A1C4-FEB4D3CF77C6}" type="presParOf" srcId="{BA858FEA-2E54-4043-8A15-DB4A29D3E958}" destId="{ACC25548-6AC1-4564-91C9-7FC6A1D32F6A}" srcOrd="1" destOrd="0" presId="urn:microsoft.com/office/officeart/2005/8/layout/venn1"/>
    <dgm:cxn modelId="{09898633-4C2F-4D2C-BDE8-FADFD484D6B5}" type="presParOf" srcId="{BA858FEA-2E54-4043-8A15-DB4A29D3E958}" destId="{3399B61A-E032-45A4-A86A-94795C3F9831}" srcOrd="2" destOrd="0" presId="urn:microsoft.com/office/officeart/2005/8/layout/venn1"/>
    <dgm:cxn modelId="{23232817-69C8-4DE7-ADA0-ADC8A2CF9D93}" type="presParOf" srcId="{BA858FEA-2E54-4043-8A15-DB4A29D3E958}" destId="{35780048-7F14-4907-A660-6B3839770AA8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5C748-7168-4E0C-B683-E311D15BBF0B}">
      <dsp:nvSpPr>
        <dsp:cNvPr id="0" name=""/>
        <dsp:cNvSpPr/>
      </dsp:nvSpPr>
      <dsp:spPr>
        <a:xfrm>
          <a:off x="1626775" y="12094"/>
          <a:ext cx="4422398" cy="44223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Non-singular</a:t>
          </a:r>
          <a:endParaRPr lang="zh-TW" altLang="en-US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44317" y="533590"/>
        <a:ext cx="2549851" cy="3379406"/>
      </dsp:txXfrm>
    </dsp:sp>
    <dsp:sp modelId="{3399B61A-E032-45A4-A86A-94795C3F9831}">
      <dsp:nvSpPr>
        <dsp:cNvPr id="0" name=""/>
        <dsp:cNvSpPr/>
      </dsp:nvSpPr>
      <dsp:spPr>
        <a:xfrm>
          <a:off x="4814089" y="12094"/>
          <a:ext cx="4422398" cy="44223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Expressed as </a:t>
          </a:r>
          <a14:m xmlns:a14="http://schemas.microsoft.com/office/drawing/2010/main">
            <m:oMath xmlns:m="http://schemas.openxmlformats.org/officeDocument/2006/math">
              <m:r>
                <a:rPr kumimoji="1" lang="en-US" altLang="zh-TW" sz="360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𝐼</m:t>
              </m:r>
              <m:r>
                <a:rPr kumimoji="1" lang="en-US" altLang="zh-TW" sz="3600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+</m:t>
              </m:r>
              <m:sSup>
                <m:sSupPr>
                  <m:ctrlPr>
                    <a:rPr kumimoji="1" lang="en-US" altLang="zh-TW" sz="3600" i="1" kern="120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pPr>
                <m:e>
                  <m:r>
                    <a:rPr kumimoji="1" lang="en-US" altLang="zh-TW" sz="3600" i="1" kern="120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𝐿</m:t>
                  </m:r>
                </m:e>
                <m:sup>
                  <m:r>
                    <a:rPr kumimoji="1" lang="en-US" altLang="zh-TW" sz="3600" i="1" kern="120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𝑎</m:t>
                  </m:r>
                </m:sup>
              </m:sSup>
            </m:oMath>
          </a14:m>
          <a:endParaRPr lang="zh-TW" altLang="en-US" sz="3600" kern="1200" dirty="0"/>
        </a:p>
      </dsp:txBody>
      <dsp:txXfrm>
        <a:off x="6069094" y="533590"/>
        <a:ext cx="2549851" cy="3379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FD21D-BF96-479C-982E-44D0F1FCD264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800E6-BF8B-4688-BB24-9F5263D571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936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論文連結</a:t>
            </a:r>
            <a:endParaRPr kumimoji="1" lang="en-US" altLang="zh-TW" dirty="0"/>
          </a:p>
          <a:p>
            <a:r>
              <a:rPr kumimoji="1" lang="en-US" altLang="zh-TW" dirty="0"/>
              <a:t>https://www.pnas.org/doi/epdf/10.1073/pnas.61.1.25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09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PRNG </a:t>
            </a:r>
            <a:r>
              <a:rPr kumimoji="1" lang="zh-TW" altLang="en-US" dirty="0"/>
              <a:t>產生的 </a:t>
            </a:r>
            <a:r>
              <a:rPr kumimoji="1" lang="en-US" altLang="zh-TW" dirty="0"/>
              <a:t>random number </a:t>
            </a:r>
            <a:r>
              <a:rPr kumimoji="1" lang="zh-TW" altLang="en-US" dirty="0"/>
              <a:t>其實是確定的</a:t>
            </a:r>
            <a:r>
              <a:rPr kumimoji="1" lang="en-US" altLang="zh-TW" dirty="0"/>
              <a:t>(deterministic)</a:t>
            </a:r>
          </a:p>
          <a:p>
            <a:r>
              <a:rPr kumimoji="1" lang="zh-TW" altLang="en-US" dirty="0"/>
              <a:t>基於 </a:t>
            </a:r>
            <a:r>
              <a:rPr kumimoji="1" lang="en-US" altLang="zh-TW" dirty="0"/>
              <a:t>seed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807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論文討論的</a:t>
            </a:r>
            <a:r>
              <a:rPr kumimoji="1" lang="en-US" altLang="zh-TW" dirty="0"/>
              <a:t>PRNG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3654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Pi </a:t>
            </a:r>
            <a:r>
              <a:rPr kumimoji="1" lang="zh-TW" altLang="en-US" dirty="0"/>
              <a:t>是</a:t>
            </a:r>
            <a:endParaRPr kumimoji="1" lang="en-US" altLang="zh-TW" dirty="0"/>
          </a:p>
          <a:p>
            <a:r>
              <a:rPr kumimoji="1" lang="en-US" altLang="zh-TW" dirty="0"/>
              <a:t>2. n</a:t>
            </a:r>
            <a:r>
              <a:rPr kumimoji="1" lang="zh-TW" altLang="en-US" dirty="0"/>
              <a:t>個</a:t>
            </a:r>
            <a:r>
              <a:rPr kumimoji="1" lang="en-US" altLang="zh-TW" dirty="0"/>
              <a:t>u</a:t>
            </a:r>
            <a:r>
              <a:rPr kumimoji="1" lang="zh-TW" altLang="en-US" dirty="0"/>
              <a:t>所形成的</a:t>
            </a:r>
            <a:r>
              <a:rPr kumimoji="1" lang="en-US" altLang="zh-TW" dirty="0"/>
              <a:t>tuple</a:t>
            </a:r>
          </a:p>
          <a:p>
            <a:r>
              <a:rPr kumimoji="1" lang="en-US" altLang="zh-TW" dirty="0"/>
              <a:t>1. n</a:t>
            </a:r>
            <a:r>
              <a:rPr kumimoji="1" lang="zh-TW" altLang="en-US" dirty="0"/>
              <a:t>維空間中的點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9273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N</a:t>
            </a:r>
            <a:r>
              <a:rPr kumimoji="1" lang="zh-TW" altLang="en-US" dirty="0"/>
              <a:t>維空間的 </a:t>
            </a:r>
            <a:r>
              <a:rPr kumimoji="1" lang="en-US" altLang="zh-TW" dirty="0"/>
              <a:t>unit cube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56490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51437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找到滿足公式的</a:t>
            </a:r>
            <a:r>
              <a:rPr kumimoji="1" lang="en-US" altLang="zh-TW" dirty="0"/>
              <a:t>c1~cn</a:t>
            </a:r>
            <a:r>
              <a:rPr kumimoji="1" lang="zh-TW" altLang="en-US" dirty="0"/>
              <a:t>，所有的點會處於下面的平行超平面上</a:t>
            </a:r>
            <a:endParaRPr kumimoji="1" lang="en-US" altLang="zh-TW" dirty="0"/>
          </a:p>
          <a:p>
            <a:r>
              <a:rPr kumimoji="1" lang="zh-TW" altLang="en-US" dirty="0"/>
              <a:t>也就是說當滿足這個條件時，超平面數量會更少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6919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60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7354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0459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補充，</a:t>
            </a:r>
            <a:r>
              <a:rPr kumimoji="1" lang="en-US" altLang="zh-TW" dirty="0"/>
              <a:t>LCG</a:t>
            </a:r>
            <a:r>
              <a:rPr kumimoji="1" lang="zh-TW" altLang="en-US" dirty="0"/>
              <a:t>也會符合論文的發現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2499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論文連結</a:t>
            </a:r>
            <a:endParaRPr kumimoji="1" lang="en-US" altLang="zh-TW" dirty="0"/>
          </a:p>
          <a:p>
            <a:r>
              <a:rPr kumimoji="1" lang="en-US" altLang="zh-TW" dirty="0"/>
              <a:t>https://www.jstatsoft.org/article/view/v008i14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10832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36959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5187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任何 </a:t>
            </a:r>
            <a:r>
              <a:rPr kumimoji="1" lang="en-US" altLang="zh-TW" dirty="0" err="1"/>
              <a:t>nxn</a:t>
            </a:r>
            <a:r>
              <a:rPr kumimoji="1" lang="en-US" altLang="zh-TW" dirty="0"/>
              <a:t>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non-singular matrix </a:t>
            </a:r>
            <a:r>
              <a:rPr kumimoji="1" lang="zh-TW" altLang="en-US" dirty="0"/>
              <a:t>都可以使 </a:t>
            </a:r>
            <a:r>
              <a:rPr kumimoji="1" lang="en-US" altLang="zh-TW" dirty="0"/>
              <a:t>period </a:t>
            </a:r>
            <a:r>
              <a:rPr kumimoji="1" lang="zh-TW" altLang="en-US" dirty="0"/>
              <a:t>為 </a:t>
            </a:r>
            <a:r>
              <a:rPr kumimoji="1" lang="en-US" altLang="zh-TW" dirty="0"/>
              <a:t>2^n-1</a:t>
            </a:r>
          </a:p>
          <a:p>
            <a:r>
              <a:rPr kumimoji="1" lang="zh-TW" altLang="en-US" dirty="0"/>
              <a:t>但是矩陣運算的成本很高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906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329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kumimoji="1" lang="en-US" altLang="zh-TW" dirty="0"/>
              <a:t>non-singular </a:t>
            </a:r>
            <a:r>
              <a:rPr kumimoji="1" lang="zh-TW" altLang="en-US" dirty="0"/>
              <a:t>可以保證 </a:t>
            </a:r>
            <a:r>
              <a:rPr kumimoji="1" lang="en-US" altLang="zh-TW" dirty="0"/>
              <a:t>period </a:t>
            </a:r>
            <a:r>
              <a:rPr kumimoji="1" lang="zh-TW" altLang="en-US" dirty="0"/>
              <a:t>為 </a:t>
            </a:r>
            <a:r>
              <a:rPr kumimoji="1" lang="en-US" altLang="zh-TW" dirty="0"/>
              <a:t>2^n-1</a:t>
            </a:r>
          </a:p>
          <a:p>
            <a:pPr marL="228600" indent="-228600">
              <a:buAutoNum type="arabicPeriod"/>
            </a:pPr>
            <a:r>
              <a:rPr kumimoji="1" lang="zh-TW" altLang="en-US" dirty="0"/>
              <a:t>表示成 </a:t>
            </a:r>
            <a:r>
              <a:rPr kumimoji="1" lang="en-US" altLang="zh-TW" dirty="0" err="1"/>
              <a:t>I+La</a:t>
            </a:r>
            <a:r>
              <a:rPr kumimoji="1" lang="en-US" altLang="zh-TW" dirty="0"/>
              <a:t> </a:t>
            </a:r>
            <a:r>
              <a:rPr kumimoji="1" lang="zh-TW" altLang="en-US" dirty="0"/>
              <a:t>可以用</a:t>
            </a:r>
            <a:r>
              <a:rPr kumimoji="1" lang="en-US" altLang="zh-TW" dirty="0"/>
              <a:t> bitwise </a:t>
            </a:r>
            <a:r>
              <a:rPr kumimoji="1" lang="zh-TW" altLang="en-US" dirty="0"/>
              <a:t>取代矩陣乘法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3908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05852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9748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09643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137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26B02-21CC-44D0-9CD5-BFC853832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A36A82-1489-4022-A7E2-28C4C908A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4BD812-B600-45AC-9A66-D776F674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687E7D-6CC2-4166-AA9D-1F6A5631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68B100-1295-438B-90D3-487EE1A4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63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689F37-B6F9-41C9-B3DA-D0FFAE97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A44E87-5769-48EE-B953-AE7D733B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774CBB-FFEB-482E-81EC-E1239B89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C919CD-6B68-420C-8E81-A414F691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E93167-BE22-4D5C-8B4E-88E4486A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158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101AF9-91BA-4AE1-8483-4DDA45A0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E8BA73-6937-488E-ADE9-BC7576759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47EF2E-E145-4BB6-A827-F4EA10CD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15F903-5930-4990-9E5F-CF36D0EB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1A4792-8DE6-4917-B57D-045E4360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23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8C3C8-75F2-4962-85C0-B1EB75C9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4EA971-6E29-421C-89E5-9BCE2280F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1DFC00-F58B-4359-ABA3-D7400072F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55FEE0-F523-44EC-BEA1-49DA9FC7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E93FE8-CCFA-4879-9D19-A18AD34B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D1AF11-CF6B-4B1F-95CC-1BAB850E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14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8B1E0-51A1-4E7A-A18E-76B2330A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4A0E0C-76B6-4EFE-9CD6-54CA82A4C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B60BE0-1A3A-4595-91F3-448F5678F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8CA7E51-0072-46AE-AF25-D9B0B6E97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B12FEC-3918-4AB1-B8D5-8F579A520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CE5CF0E-FAC2-4640-AF9E-30CC1DE7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9E84CF1-438F-4047-AD85-E271F3EB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32773BD-943B-4F37-B8B1-04B98053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37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893D89-BBAD-4D92-99E2-E835483F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88F47C-1F0E-4762-9A43-B1AE4451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41D9460-7D1D-401A-8CAB-64C0E3B1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DD827AB-51F4-4247-B2B6-C73CFBAF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A9DFDE-82DF-4628-8AF2-11874100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F0B9EE-F903-4FD0-B4A5-40900DDB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CE498E-E1BB-4E27-943A-10A5F3E4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6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CF183-1FDA-46BD-B3C8-197DEF01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70C092-CADF-4E59-A374-8A10B8C2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4E7EA7-402C-4638-A70D-A67C9647F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4061BF-06BE-46A9-87FF-8CB66112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B8F5F-B12E-4BF9-823E-AA7A5E59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8B9242-6404-43E8-B8A2-8F4CC8B8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26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BD502F-79C1-41DE-A505-BF47D93B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96EAB69-801D-4484-9CDB-8743A8A4D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357D14-9D30-4004-A23F-9C0F5AD15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C85B0A-17F1-4A9C-AFEA-6507B1A2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FA6154-8029-4D45-9C23-B8E70062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BC0EC0-9CE0-47BF-9656-AFA4D548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03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80441-3DEC-46CB-A62D-1D832F4C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3BA409-9C19-42C1-AEC3-F861A6F01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CF9005-5C9B-4DEA-9D54-9D0E0A73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ECD77-868E-4E36-96C9-516379E7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D635AC-BF23-4F3C-94F0-350145B0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6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80E3CFB-D284-4B79-97E2-FF5ECD6A7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EEBBB6-FCB7-4849-9F97-0998277EE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71855F-7F47-43A5-A2B7-DED70814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5656E3-AA5E-425A-B2DE-FEF93B8A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00F4D-DD71-4158-947D-29B4D1E5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3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56A63A-A313-4520-A4B9-F6025A75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247C57-EF40-4985-81B2-6C8651643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AB606F-6505-43A3-A009-C4A37431E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BC79B-B8D8-4CA3-9AD2-35393C1E2569}" type="datetimeFigureOut">
              <a:rPr lang="zh-TW" altLang="en-US" smtClean="0"/>
              <a:t>2024/4/2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D252F0-8A97-4E76-B50A-2AA65C900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2266F1-357C-4F6A-A4D5-BFCF118C1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7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seudorandom_number_generato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rsaglia%27s_theore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379" y="1041400"/>
            <a:ext cx="10699242" cy="2387600"/>
          </a:xfrm>
        </p:spPr>
        <p:txBody>
          <a:bodyPr>
            <a:noAutofit/>
          </a:bodyPr>
          <a:lstStyle/>
          <a:p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Numbers Fall Mainly </a:t>
            </a:r>
            <a:r>
              <a:rPr kumimoji="1" lang="en-US" altLang="zh-TW" sz="440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Planes</a:t>
            </a:r>
            <a:endParaRPr kumimoji="1" lang="en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Marsaglia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National Academy of Sciences, 61(1), 25-28. 1968.</a:t>
            </a:r>
            <a:endParaRPr lang="en-US" altLang="zh-TW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-Yu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819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Random Number Generator(PRNG)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4026"/>
            <a:ext cx="10863804" cy="444785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pseudorandom number generator (PRNG), also known as a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bit generator (DRBG), is an algorithm for generating a sequence of numbers whose properties approximate the properties of sequences of random numbers. The PRNG-generated sequence is not truly random, because it is completely determined by an initial value, called the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PRNG's seed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Wikipedia, "Pseudo Random Number Generator"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127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Multiplicative Congruential Generator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4098" y="2965621"/>
                <a:ext cx="10863804" cy="92675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zh-TW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r>
                        <a:rPr kumimoji="1"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sSub>
                        <m:sSubPr>
                          <m:ctrlPr>
                            <a:rPr kumimoji="1" lang="en-US" altLang="zh-TW" sz="4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zh-TW" sz="4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mod</m:t>
                      </m:r>
                      <m:r>
                        <a:rPr kumimoji="1"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098" y="2965621"/>
                <a:ext cx="10863804" cy="9267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5227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Marsaglia’s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theorem</a:t>
            </a:r>
            <a:r>
              <a:rPr kumimoji="1"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</m:t>
                      </m:r>
                    </m:oMath>
                  </m:oMathPara>
                </a14:m>
                <a:endParaRPr kumimoji="1"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kumimoji="1" lang="en-US" altLang="zh-TW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</m:sub>
                          </m:sSub>
                        </m:e>
                      </m:d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</m:t>
                      </m:r>
                    </m:oMath>
                  </m:oMathPara>
                </a14:m>
                <a:endParaRPr kumimoji="1"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point in n-cube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7042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N-cube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 descr="一張含有 螢幕擷取畫面, 鮮豔, 行, 正方形 的圖片&#10;&#10;自動產生的描述">
            <a:extLst>
              <a:ext uri="{FF2B5EF4-FFF2-40B4-BE49-F238E27FC236}">
                <a16:creationId xmlns:a16="http://schemas.microsoft.com/office/drawing/2014/main" id="{8D524CE6-61F6-A027-97B8-A89E8E7C9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211" y="1416050"/>
            <a:ext cx="5821578" cy="5076825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2825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Marsaglia’s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theorem - Bound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n-tuples of resulting random numbers lie in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kumimoji="1" lang="en-US" altLang="zh-TW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!</m:t>
                            </m:r>
                            <m:r>
                              <a:rPr kumimoji="1" lang="en-US" altLang="zh-TW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d>
                      </m:e>
                      <m:sup>
                        <m:r>
                          <a:rPr kumimoji="1" lang="en-US" altLang="zh-TW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kumimoji="1" lang="en-US" altLang="zh-TW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kumimoji="1" lang="en-US" altLang="zh-TW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hyperplanes.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178" t="-2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489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Marsaglia’s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theorem – Parallel Hyperplane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kumimoji="1"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 </m:t>
                    </m:r>
                    <m:sSub>
                      <m:sSubPr>
                        <m:ctrlP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satisfy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p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p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kumimoji="1"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≡0</m:t>
                      </m:r>
                      <m:r>
                        <a:rPr kumimoji="1"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mod</m:t>
                      </m:r>
                      <m:r>
                        <a:rPr kumimoji="1"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kumimoji="1"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of the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lie in hyperplanes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=0,±1, ±…</m:t>
                      </m:r>
                    </m:oMath>
                  </m:oMathPara>
                </a14:m>
                <a:endParaRPr kumimoji="1"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at most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+…+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US" altLang="zh-TW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TW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parallel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hyperplanes.</a:t>
                </a:r>
                <a:endParaRPr kumimoji="1"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1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2768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Demonstration of </a:t>
            </a:r>
            <a:r>
              <a:rPr kumimoji="1"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Marsaglia’s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Theorem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 descr="一張含有 圖表, 行 的圖片&#10;&#10;自動產生的描述">
            <a:extLst>
              <a:ext uri="{FF2B5EF4-FFF2-40B4-BE49-F238E27FC236}">
                <a16:creationId xmlns:a16="http://schemas.microsoft.com/office/drawing/2014/main" id="{BF511CCC-46F0-4380-E3F3-909C3ABA2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796" y="1690688"/>
            <a:ext cx="4688407" cy="4688407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4336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kumimoji="1" lang="en-US" altLang="zh-TW" b="1">
                <a:latin typeface="Times New Roman" panose="02020603050405020304" pitchFamily="18" charset="0"/>
                <a:cs typeface="Times New Roman" panose="02020603050405020304" pitchFamily="18" charset="0"/>
              </a:rPr>
              <a:t>Schematic Diagram</a:t>
            </a:r>
            <a:endParaRPr kumimoji="1" lang="zh-TW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EA50056-A258-5792-A515-0779E218B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579005" cy="3908586"/>
          </a:xfrm>
        </p:spPr>
        <p:txBody>
          <a:bodyPr>
            <a:normAutofit fontScale="92500" lnSpcReduction="10000"/>
          </a:bodyPr>
          <a:lstStyle/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Three-dimensional plot of 100,000 values generated with RANDU. Each point represents 3 consecutive pseudorandom values. It is clearly seen that the points fall in 15 two-dimensional planes.</a:t>
            </a:r>
          </a:p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</a:p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Wikipedia, "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Marsaglia’s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theorem"</a:t>
            </a:r>
            <a:endParaRPr lang="zh-TW" altLang="en-US" sz="2000" dirty="0"/>
          </a:p>
        </p:txBody>
      </p:sp>
      <p:pic>
        <p:nvPicPr>
          <p:cNvPr id="7" name="內容版面配置區 4">
            <a:extLst>
              <a:ext uri="{FF2B5EF4-FFF2-40B4-BE49-F238E27FC236}">
                <a16:creationId xmlns:a16="http://schemas.microsoft.com/office/drawing/2014/main" id="{5B3E95C6-3563-7013-AC29-125BAF52E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138" y="1330302"/>
            <a:ext cx="7299817" cy="419739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7D7E222-40AC-AD4D-BFFA-C06E99EC5475}" type="slidenum">
              <a:rPr kumimoji="1" lang="zh-TW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kumimoji="1" lang="zh-TW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79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zh-TW" sz="3200" b="1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 Bound for the Number of Planes Containing All n-tuples</a:t>
            </a:r>
          </a:p>
        </p:txBody>
      </p:sp>
      <p:pic>
        <p:nvPicPr>
          <p:cNvPr id="10" name="內容版面配置區 6">
            <a:extLst>
              <a:ext uri="{FF2B5EF4-FFF2-40B4-BE49-F238E27FC236}">
                <a16:creationId xmlns:a16="http://schemas.microsoft.com/office/drawing/2014/main" id="{FF20EBA2-C150-34DD-DCBC-71DD91F8B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2495562"/>
            <a:ext cx="10905066" cy="275352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7D7E222-40AC-AD4D-BFFA-C06E99EC5475}" type="slidenum">
              <a:rPr kumimoji="1" lang="en-US" altLang="zh-TW" smtClean="0"/>
              <a:pPr>
                <a:spcAft>
                  <a:spcPts val="600"/>
                </a:spcAft>
              </a:pPr>
              <a:t>10</a:t>
            </a:fld>
            <a:endParaRPr kumimoji="1" lang="en-US" altLang="zh-TW"/>
          </a:p>
        </p:txBody>
      </p:sp>
    </p:spTree>
    <p:extLst>
      <p:ext uri="{BB962C8B-B14F-4D97-AF65-F5344CB8AC3E}">
        <p14:creationId xmlns:p14="http://schemas.microsoft.com/office/powerpoint/2010/main" val="1835532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Congruential Generator(LCG)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4098" y="2935018"/>
                <a:ext cx="10863804" cy="9879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zh-TW" sz="4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kumimoji="1" lang="en-US" altLang="zh-TW" sz="4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4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TW" sz="4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kumimoji="1" lang="en-US" altLang="zh-TW" sz="4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kumimoji="1"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zh-TW" sz="4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mod</m:t>
                      </m:r>
                      <m:r>
                        <a:rPr kumimoji="1"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1"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098" y="2935018"/>
                <a:ext cx="10863804" cy="9879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3397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379" y="1041400"/>
            <a:ext cx="10699242" cy="2387600"/>
          </a:xfrm>
        </p:spPr>
        <p:txBody>
          <a:bodyPr>
            <a:noAutofit/>
          </a:bodyPr>
          <a:lstStyle/>
          <a:p>
            <a:r>
              <a:rPr kumimoji="1" lang="en-US" altLang="zh-TW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Xorshift</a:t>
            </a:r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RNGs</a:t>
            </a:r>
            <a:endParaRPr kumimoji="1" lang="en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Marsaglia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Statistical software, 8, 1-6. 2003.</a:t>
            </a:r>
            <a:endParaRPr lang="en-US" altLang="zh-TW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-Yu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16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Description of a class of simple, extremely fast random number generators (RNGs) with periods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k = 32, 64, 96, 128, 160, 192. </a:t>
                </a:r>
                <a:b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RNGs seem to pass tests of randomness very well.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178" t="-549" r="-11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046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of RNG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()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one-to-one function on seed set </a:t>
                </a:r>
                <a14:m>
                  <m:oMath xmlns:m="http://schemas.openxmlformats.org/officeDocument/2006/math">
                    <m:r>
                      <a:rPr kumimoji="1" lang="zh-TW" alt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𝒵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element in </a:t>
                </a:r>
                <a14:m>
                  <m:oMath xmlns:m="http://schemas.openxmlformats.org/officeDocument/2006/math">
                    <m:r>
                      <a:rPr kumimoji="1"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𝒵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</a:t>
                </a:r>
                <a:r>
                  <a:rPr kumimoji="1" lang="en-US" altLang="zh-TW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have the period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178" t="-549" r="-11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14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3882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(1/2)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kumimoji="1" lang="zh-TW" alt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𝒵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set of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1∗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binary vector,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element in </a:t>
                </a:r>
                <a14:m>
                  <m:oMath xmlns:m="http://schemas.openxmlformats.org/officeDocument/2006/math">
                    <m:r>
                      <a:rPr kumimoji="1"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𝒵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binary matrix.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kumimoji="1" lang="sv-SE" altLang="zh-TW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kumimoji="1" lang="sv-SE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sv-SE" altLang="zh-TW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kumimoji="1" lang="sv-SE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kumimoji="1" lang="sv-SE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sv-SE" altLang="zh-TW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sSup>
                      <m:sSupPr>
                        <m:ctrlPr>
                          <a:rPr kumimoji="1" lang="sv-SE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sv-SE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p>
                        <m:r>
                          <a:rPr kumimoji="1" lang="sv-SE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kumimoji="1" lang="sv-SE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kumimoji="1" lang="sv-SE" altLang="zh-TW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sSup>
                      <m:sSupPr>
                        <m:ctrlPr>
                          <a:rPr kumimoji="1" lang="sv-SE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sv-SE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p>
                        <m:r>
                          <a:rPr kumimoji="1" lang="sv-SE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kumimoji="1" lang="sv-SE" altLang="zh-TW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period k if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order k.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every non-null initial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1∗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binary vector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it is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necessary and sufficient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that, in the group of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non-singular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1"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kumimoji="1"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binary matrices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order of 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178" t="-549" r="-11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15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59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(2/2)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equivalent to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⊕</m:t>
                    </m:r>
                    <m:d>
                      <m:d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kumimoji="1"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≪</m:t>
                        </m:r>
                        <m:r>
                          <a:rPr kumimoji="1"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matrix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kumimoji="1"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expressed as </a:t>
                </a:r>
                <a:br>
                  <a:rPr kumimoji="1"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kumimoji="1"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identity matrix shift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=2,  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kumimoji="1"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kumimoji="1"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p>
                      </m:sSup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⊕</m:t>
                      </m:r>
                      <m:d>
                        <m:d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≪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505" t="-274" r="-842" b="-3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16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0285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17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內容版面配置區 4">
                <a:extLst>
                  <a:ext uri="{FF2B5EF4-FFF2-40B4-BE49-F238E27FC236}">
                    <a16:creationId xmlns:a16="http://schemas.microsoft.com/office/drawing/2014/main" id="{F09672AB-69F5-115F-9AF0-20937800E29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42492925"/>
                  </p:ext>
                </p:extLst>
              </p:nvPr>
            </p:nvGraphicFramePr>
            <p:xfrm>
              <a:off x="838200" y="1644650"/>
              <a:ext cx="10863263" cy="444658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內容版面配置區 4">
                <a:extLst>
                  <a:ext uri="{FF2B5EF4-FFF2-40B4-BE49-F238E27FC236}">
                    <a16:creationId xmlns:a16="http://schemas.microsoft.com/office/drawing/2014/main" id="{F09672AB-69F5-115F-9AF0-20937800E29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42492925"/>
                  </p:ext>
                </p:extLst>
              </p:nvPr>
            </p:nvGraphicFramePr>
            <p:xfrm>
              <a:off x="838200" y="1644650"/>
              <a:ext cx="10863263" cy="444658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67830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Every Possible Arguments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kumimoji="1" lang="en-US" altLang="zh-TW" b="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kumimoji="1" lang="en-US" altLang="zh-TW" b="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32-bits</a:t>
                </a:r>
                <a:r>
                  <a:rPr kumimoji="1" lang="en-US" altLang="zh-TW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integer,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≤32</m:t>
                    </m:r>
                  </m:oMath>
                </a14:m>
                <a:endParaRPr kumimoji="1" lang="en-US" altLang="zh-TW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20000"/>
                  </a:lnSpc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 possibilities (a), 0 non-singular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20000"/>
                  </a:lnSpc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1024 possibilities (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0 non-singular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120000"/>
                  </a:lnSpc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32768 possibilities (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a,b,c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kumimoji="1"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81 non-singular</a:t>
                </a:r>
              </a:p>
              <a:p>
                <a:pPr lvl="1" algn="just">
                  <a:lnSpc>
                    <a:spcPct val="120000"/>
                  </a:lnSpc>
                </a:pPr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07ADD39-1B71-A342-8554-691195C55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4026"/>
                <a:ext cx="10863804" cy="4447855"/>
              </a:xfrm>
              <a:blipFill>
                <a:blip r:embed="rId3"/>
                <a:stretch>
                  <a:fillRect l="-1010" t="-5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18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1382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 Triples (</a:t>
            </a:r>
            <a:r>
              <a:rPr kumimoji="1"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a&lt;c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19</a:t>
            </a:fld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1B25E8F-5A07-53D9-2F22-019B66E1F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2845" y="2517570"/>
            <a:ext cx="11866309" cy="2610034"/>
          </a:xfrm>
        </p:spPr>
      </p:pic>
    </p:spTree>
    <p:extLst>
      <p:ext uri="{BB962C8B-B14F-4D97-AF65-F5344CB8AC3E}">
        <p14:creationId xmlns:p14="http://schemas.microsoft.com/office/powerpoint/2010/main" val="282332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Xorshift</a:t>
            </a:r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20</a:t>
            </a:fld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F442B85-E4FE-EC23-A81D-103B2FF7F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51793" y="1690688"/>
            <a:ext cx="6288413" cy="3847964"/>
          </a:xfrm>
        </p:spPr>
      </p:pic>
    </p:spTree>
    <p:extLst>
      <p:ext uri="{BB962C8B-B14F-4D97-AF65-F5344CB8AC3E}">
        <p14:creationId xmlns:p14="http://schemas.microsoft.com/office/powerpoint/2010/main" val="1644781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Comparation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21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內容版面配置區 4">
                <a:extLst>
                  <a:ext uri="{FF2B5EF4-FFF2-40B4-BE49-F238E27FC236}">
                    <a16:creationId xmlns:a16="http://schemas.microsoft.com/office/drawing/2014/main" id="{E1649FE9-D506-5A5B-1A1B-D162F1A72F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51516400"/>
                  </p:ext>
                </p:extLst>
              </p:nvPr>
            </p:nvGraphicFramePr>
            <p:xfrm>
              <a:off x="838200" y="2651760"/>
              <a:ext cx="10515600" cy="155448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466355217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3028435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xorshift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LCG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07927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zh-TW" altLang="en-US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period </a:t>
                          </a:r>
                          <a:r>
                            <a:rPr lang="en-US" altLang="zh-TW" sz="28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 all 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seed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Some seed with short period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0078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Only </a:t>
                          </a:r>
                          <a:r>
                            <a:rPr lang="en-US" altLang="zh-TW" sz="2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exclusiveOR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and shift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Use integer multiplication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54037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內容版面配置區 4">
                <a:extLst>
                  <a:ext uri="{FF2B5EF4-FFF2-40B4-BE49-F238E27FC236}">
                    <a16:creationId xmlns:a16="http://schemas.microsoft.com/office/drawing/2014/main" id="{E1649FE9-D506-5A5B-1A1B-D162F1A72F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51516400"/>
                  </p:ext>
                </p:extLst>
              </p:nvPr>
            </p:nvGraphicFramePr>
            <p:xfrm>
              <a:off x="838200" y="2651760"/>
              <a:ext cx="10515600" cy="155448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466355217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30284355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xorshift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LCG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079277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16" t="-111765" r="-100232" b="-1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Some seed with short period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00782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Only </a:t>
                          </a:r>
                          <a:r>
                            <a:rPr lang="en-US" altLang="zh-TW" sz="28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exclusiveOR</a:t>
                          </a:r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and shift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Use integer multiplication</a:t>
                          </a:r>
                          <a:endPara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540375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84051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871</Words>
  <Application>Microsoft Office PowerPoint</Application>
  <PresentationFormat>寬螢幕</PresentationFormat>
  <Paragraphs>130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Office 佈景主題</vt:lpstr>
      <vt:lpstr>Random Numbers Fall Mainly in the Planes</vt:lpstr>
      <vt:lpstr>Pseudo Random Number Generator(PRNG)</vt:lpstr>
      <vt:lpstr>Multiplicative Congruential Generator</vt:lpstr>
      <vt:lpstr>Marsaglia’s theorem - Point</vt:lpstr>
      <vt:lpstr>N-cube</vt:lpstr>
      <vt:lpstr>Marsaglia’s theorem - Bound</vt:lpstr>
      <vt:lpstr>Marsaglia’s theorem – Parallel Hyperplane</vt:lpstr>
      <vt:lpstr>Visual Demonstration of Marsaglia’s Theorem</vt:lpstr>
      <vt:lpstr>Schematic Diagram</vt:lpstr>
      <vt:lpstr>Upper Bound for the Number of Planes Containing All n-tuples</vt:lpstr>
      <vt:lpstr>Linear Congruential Generator(LCG)</vt:lpstr>
      <vt:lpstr>Xorshift RNGs</vt:lpstr>
      <vt:lpstr>Abstract</vt:lpstr>
      <vt:lpstr>Period of RNG</vt:lpstr>
      <vt:lpstr>Algorithm (1/2)</vt:lpstr>
      <vt:lpstr>Algorithm (2/2)</vt:lpstr>
      <vt:lpstr>Choose T</vt:lpstr>
      <vt:lpstr>Check Every Possible Arguments</vt:lpstr>
      <vt:lpstr>81 Triples (a,b,c), a&lt;c</vt:lpstr>
      <vt:lpstr>Xorshift Code</vt:lpstr>
      <vt:lpstr>Comparation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陳彥宇</dc:creator>
  <cp:lastModifiedBy>pplab</cp:lastModifiedBy>
  <cp:revision>348</cp:revision>
  <dcterms:created xsi:type="dcterms:W3CDTF">2023-09-07T12:25:39Z</dcterms:created>
  <dcterms:modified xsi:type="dcterms:W3CDTF">2024-04-02T11:56:27Z</dcterms:modified>
</cp:coreProperties>
</file>