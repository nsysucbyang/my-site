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3"/>
  </p:notesMasterIdLst>
  <p:sldIdLst>
    <p:sldId id="256" r:id="rId2"/>
    <p:sldId id="265" r:id="rId3"/>
    <p:sldId id="266" r:id="rId4"/>
    <p:sldId id="267" r:id="rId5"/>
    <p:sldId id="257" r:id="rId6"/>
    <p:sldId id="278" r:id="rId7"/>
    <p:sldId id="276" r:id="rId8"/>
    <p:sldId id="285" r:id="rId9"/>
    <p:sldId id="268" r:id="rId10"/>
    <p:sldId id="277" r:id="rId11"/>
    <p:sldId id="270" r:id="rId12"/>
    <p:sldId id="287" r:id="rId13"/>
    <p:sldId id="271" r:id="rId14"/>
    <p:sldId id="274" r:id="rId15"/>
    <p:sldId id="284" r:id="rId16"/>
    <p:sldId id="283" r:id="rId17"/>
    <p:sldId id="286" r:id="rId18"/>
    <p:sldId id="275" r:id="rId19"/>
    <p:sldId id="263" r:id="rId20"/>
    <p:sldId id="288" r:id="rId21"/>
    <p:sldId id="279"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56"/>
    <p:restoredTop sz="95728"/>
  </p:normalViewPr>
  <p:slideViewPr>
    <p:cSldViewPr snapToGrid="0" snapToObjects="1">
      <p:cViewPr varScale="1">
        <p:scale>
          <a:sx n="109" d="100"/>
          <a:sy n="109" d="100"/>
        </p:scale>
        <p:origin x="4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2024/4/2</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1193936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3336862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7</a:t>
            </a:fld>
            <a:endParaRPr kumimoji="1" lang="zh-TW" altLang="en-US"/>
          </a:p>
        </p:txBody>
      </p:sp>
    </p:spTree>
    <p:extLst>
      <p:ext uri="{BB962C8B-B14F-4D97-AF65-F5344CB8AC3E}">
        <p14:creationId xmlns:p14="http://schemas.microsoft.com/office/powerpoint/2010/main" val="1059095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8</a:t>
            </a:fld>
            <a:endParaRPr kumimoji="1" lang="zh-TW" altLang="en-US"/>
          </a:p>
        </p:txBody>
      </p:sp>
    </p:spTree>
    <p:extLst>
      <p:ext uri="{BB962C8B-B14F-4D97-AF65-F5344CB8AC3E}">
        <p14:creationId xmlns:p14="http://schemas.microsoft.com/office/powerpoint/2010/main" val="3592058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934877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10</a:t>
            </a:fld>
            <a:endParaRPr kumimoji="1" lang="zh-TW" altLang="en-US"/>
          </a:p>
        </p:txBody>
      </p:sp>
    </p:spTree>
    <p:extLst>
      <p:ext uri="{BB962C8B-B14F-4D97-AF65-F5344CB8AC3E}">
        <p14:creationId xmlns:p14="http://schemas.microsoft.com/office/powerpoint/2010/main" val="4247395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11</a:t>
            </a:fld>
            <a:endParaRPr kumimoji="1" lang="zh-TW" altLang="en-US"/>
          </a:p>
        </p:txBody>
      </p:sp>
    </p:spTree>
    <p:extLst>
      <p:ext uri="{BB962C8B-B14F-4D97-AF65-F5344CB8AC3E}">
        <p14:creationId xmlns:p14="http://schemas.microsoft.com/office/powerpoint/2010/main" val="1343279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12</a:t>
            </a:fld>
            <a:endParaRPr kumimoji="1" lang="zh-TW" altLang="en-US"/>
          </a:p>
        </p:txBody>
      </p:sp>
    </p:spTree>
    <p:extLst>
      <p:ext uri="{BB962C8B-B14F-4D97-AF65-F5344CB8AC3E}">
        <p14:creationId xmlns:p14="http://schemas.microsoft.com/office/powerpoint/2010/main" val="245413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13</a:t>
            </a:fld>
            <a:endParaRPr kumimoji="1" lang="zh-TW" altLang="en-US"/>
          </a:p>
        </p:txBody>
      </p:sp>
    </p:spTree>
    <p:extLst>
      <p:ext uri="{BB962C8B-B14F-4D97-AF65-F5344CB8AC3E}">
        <p14:creationId xmlns:p14="http://schemas.microsoft.com/office/powerpoint/2010/main" val="3656365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14</a:t>
            </a:fld>
            <a:endParaRPr kumimoji="1" lang="zh-TW" altLang="en-US"/>
          </a:p>
        </p:txBody>
      </p:sp>
    </p:spTree>
    <p:extLst>
      <p:ext uri="{BB962C8B-B14F-4D97-AF65-F5344CB8AC3E}">
        <p14:creationId xmlns:p14="http://schemas.microsoft.com/office/powerpoint/2010/main" val="79929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15</a:t>
            </a:fld>
            <a:endParaRPr kumimoji="1" lang="zh-TW" altLang="en-US"/>
          </a:p>
        </p:txBody>
      </p:sp>
    </p:spTree>
    <p:extLst>
      <p:ext uri="{BB962C8B-B14F-4D97-AF65-F5344CB8AC3E}">
        <p14:creationId xmlns:p14="http://schemas.microsoft.com/office/powerpoint/2010/main" val="3473241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16</a:t>
            </a:fld>
            <a:endParaRPr kumimoji="1" lang="zh-TW" altLang="en-US"/>
          </a:p>
        </p:txBody>
      </p:sp>
    </p:spTree>
    <p:extLst>
      <p:ext uri="{BB962C8B-B14F-4D97-AF65-F5344CB8AC3E}">
        <p14:creationId xmlns:p14="http://schemas.microsoft.com/office/powerpoint/2010/main" val="616659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17</a:t>
            </a:fld>
            <a:endParaRPr kumimoji="1" lang="zh-TW" altLang="en-US"/>
          </a:p>
        </p:txBody>
      </p:sp>
    </p:spTree>
    <p:extLst>
      <p:ext uri="{BB962C8B-B14F-4D97-AF65-F5344CB8AC3E}">
        <p14:creationId xmlns:p14="http://schemas.microsoft.com/office/powerpoint/2010/main" val="339456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18</a:t>
            </a:fld>
            <a:endParaRPr kumimoji="1" lang="zh-TW" altLang="en-US"/>
          </a:p>
        </p:txBody>
      </p:sp>
    </p:spTree>
    <p:extLst>
      <p:ext uri="{BB962C8B-B14F-4D97-AF65-F5344CB8AC3E}">
        <p14:creationId xmlns:p14="http://schemas.microsoft.com/office/powerpoint/2010/main" val="2034667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2024/4/2</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2024/4/2</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2024/4/2</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2024/4/2</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2024/4/2</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2024/4/2</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2024/4/2</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2024/4/2</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2024/4/2</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2024/4/2</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2024/4/2</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2024/4/2</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kumimoji="1" lang="en" altLang="zh-TW" sz="4800" dirty="0">
                <a:latin typeface="Times" pitchFamily="2" charset="0"/>
              </a:rPr>
              <a:t>The </a:t>
            </a:r>
            <a:r>
              <a:rPr kumimoji="1" lang="en" altLang="zh-TW" sz="4800" dirty="0" err="1">
                <a:latin typeface="Times" pitchFamily="2" charset="0"/>
              </a:rPr>
              <a:t>Hanabi</a:t>
            </a:r>
            <a:r>
              <a:rPr kumimoji="1" lang="en" altLang="zh-TW" sz="4800" dirty="0">
                <a:latin typeface="Times" pitchFamily="2" charset="0"/>
              </a:rPr>
              <a:t> challenge: A new frontier for AI research</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a:xfrm>
            <a:off x="1090246" y="3602036"/>
            <a:ext cx="10011508" cy="3037322"/>
          </a:xfrm>
        </p:spPr>
        <p:txBody>
          <a:bodyPr>
            <a:normAutofit/>
          </a:bodyPr>
          <a:lstStyle/>
          <a:p>
            <a:pPr>
              <a:lnSpc>
                <a:spcPct val="100000"/>
              </a:lnSpc>
            </a:pPr>
            <a:endParaRPr lang="en" altLang="zh-TW" dirty="0">
              <a:latin typeface="Times" pitchFamily="2" charset="0"/>
            </a:endParaRPr>
          </a:p>
          <a:p>
            <a:pPr>
              <a:lnSpc>
                <a:spcPct val="100000"/>
              </a:lnSpc>
            </a:pPr>
            <a:r>
              <a:rPr lang="en" altLang="zh-TW" sz="2200" dirty="0">
                <a:latin typeface="Times" pitchFamily="2" charset="0"/>
              </a:rPr>
              <a:t>Nolan Bard, Jakob N. Foerster, </a:t>
            </a:r>
            <a:r>
              <a:rPr lang="en" altLang="zh-TW" sz="2200" dirty="0" err="1">
                <a:latin typeface="Times" pitchFamily="2" charset="0"/>
              </a:rPr>
              <a:t>Sarath</a:t>
            </a:r>
            <a:r>
              <a:rPr lang="en" altLang="zh-TW" sz="2200" dirty="0">
                <a:latin typeface="Times" pitchFamily="2" charset="0"/>
              </a:rPr>
              <a:t> </a:t>
            </a:r>
            <a:r>
              <a:rPr lang="en" altLang="zh-TW" sz="2200" dirty="0" err="1">
                <a:latin typeface="Times" pitchFamily="2" charset="0"/>
              </a:rPr>
              <a:t>Chandar</a:t>
            </a:r>
            <a:r>
              <a:rPr lang="en" altLang="zh-TW" sz="2200" dirty="0">
                <a:latin typeface="Times" pitchFamily="2" charset="0"/>
              </a:rPr>
              <a:t>, Neil Burch, Marc </a:t>
            </a:r>
            <a:r>
              <a:rPr lang="en" altLang="zh-TW" sz="2200" dirty="0" err="1">
                <a:latin typeface="Times" pitchFamily="2" charset="0"/>
              </a:rPr>
              <a:t>Lanctot</a:t>
            </a:r>
            <a:r>
              <a:rPr lang="en" altLang="zh-TW" sz="2200" dirty="0">
                <a:latin typeface="Times" pitchFamily="2" charset="0"/>
              </a:rPr>
              <a:t>, H. Francis Song, Emilio </a:t>
            </a:r>
            <a:r>
              <a:rPr lang="en" altLang="zh-TW" sz="2200" dirty="0" err="1">
                <a:latin typeface="Times" pitchFamily="2" charset="0"/>
              </a:rPr>
              <a:t>Parisotto</a:t>
            </a:r>
            <a:r>
              <a:rPr lang="en" altLang="zh-TW" sz="2200" dirty="0">
                <a:latin typeface="Times" pitchFamily="2" charset="0"/>
              </a:rPr>
              <a:t>, Vincent Dumoulin, Subhodeep </a:t>
            </a:r>
            <a:r>
              <a:rPr lang="en" altLang="zh-TW" sz="2200" dirty="0" err="1">
                <a:latin typeface="Times" pitchFamily="2" charset="0"/>
              </a:rPr>
              <a:t>Moitra</a:t>
            </a:r>
            <a:r>
              <a:rPr lang="en" altLang="zh-TW" sz="2200" dirty="0">
                <a:latin typeface="Times" pitchFamily="2" charset="0"/>
              </a:rPr>
              <a:t>, Edward Hughes, Iain Dunning, </a:t>
            </a:r>
            <a:r>
              <a:rPr lang="en" altLang="zh-TW" sz="2200" dirty="0" err="1">
                <a:latin typeface="Times" pitchFamily="2" charset="0"/>
              </a:rPr>
              <a:t>Shibl</a:t>
            </a:r>
            <a:r>
              <a:rPr lang="en" altLang="zh-TW" sz="2200" dirty="0">
                <a:latin typeface="Times" pitchFamily="2" charset="0"/>
              </a:rPr>
              <a:t> Mourad, Hugo Larochelle, Marc G. Bellemare</a:t>
            </a:r>
            <a:r>
              <a:rPr lang="en-US" altLang="zh-TW" sz="2200" dirty="0">
                <a:latin typeface="Times" pitchFamily="2" charset="0"/>
              </a:rPr>
              <a:t>,</a:t>
            </a:r>
            <a:r>
              <a:rPr lang="zh-TW" altLang="en-US" sz="2200" dirty="0">
                <a:latin typeface="Times" pitchFamily="2" charset="0"/>
              </a:rPr>
              <a:t> </a:t>
            </a:r>
            <a:r>
              <a:rPr lang="en-US" altLang="zh-TW" sz="2200" dirty="0">
                <a:latin typeface="Times" pitchFamily="2" charset="0"/>
              </a:rPr>
              <a:t>and</a:t>
            </a:r>
            <a:r>
              <a:rPr lang="en" altLang="zh-TW" sz="2200" dirty="0">
                <a:latin typeface="Times" pitchFamily="2" charset="0"/>
              </a:rPr>
              <a:t> Michael Bowling</a:t>
            </a:r>
          </a:p>
          <a:p>
            <a:pPr>
              <a:lnSpc>
                <a:spcPct val="100000"/>
              </a:lnSpc>
            </a:pPr>
            <a:r>
              <a:rPr lang="en" altLang="zh-TW" sz="2200" dirty="0">
                <a:latin typeface="Times" pitchFamily="2" charset="0"/>
              </a:rPr>
              <a:t>Artificial Intelligence, 280, 103216</a:t>
            </a:r>
            <a:r>
              <a:rPr lang="en-US" altLang="zh-TW" sz="2200" dirty="0">
                <a:latin typeface="Times" pitchFamily="2" charset="0"/>
              </a:rPr>
              <a:t>,</a:t>
            </a:r>
            <a:r>
              <a:rPr lang="zh-TW" altLang="en-US" sz="2200" dirty="0">
                <a:latin typeface="Times" pitchFamily="2" charset="0"/>
              </a:rPr>
              <a:t> </a:t>
            </a:r>
            <a:r>
              <a:rPr lang="en-US" altLang="zh-TW" sz="2200" dirty="0">
                <a:latin typeface="Times" pitchFamily="2" charset="0"/>
              </a:rPr>
              <a:t>2020</a:t>
            </a:r>
            <a:endParaRPr lang="en" altLang="zh-TW" sz="2200" dirty="0">
              <a:latin typeface="Times" pitchFamily="2" charset="0"/>
            </a:endParaRP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Apr.</a:t>
            </a:r>
            <a:r>
              <a:rPr kumimoji="1" lang="zh-TW" altLang="en-US" dirty="0">
                <a:latin typeface="Times" pitchFamily="2" charset="0"/>
              </a:rPr>
              <a:t> </a:t>
            </a:r>
            <a:r>
              <a:rPr kumimoji="1" lang="en-US" altLang="zh-TW" dirty="0">
                <a:latin typeface="Times" pitchFamily="2" charset="0"/>
              </a:rPr>
              <a:t>2,</a:t>
            </a:r>
            <a:r>
              <a:rPr kumimoji="1" lang="zh-TW" altLang="en-US" dirty="0">
                <a:latin typeface="Times" pitchFamily="2" charset="0"/>
              </a:rPr>
              <a:t> </a:t>
            </a:r>
            <a:r>
              <a:rPr kumimoji="1" lang="en-US" altLang="zh-TW" dirty="0">
                <a:latin typeface="Times" pitchFamily="2" charset="0"/>
              </a:rPr>
              <a:t>2024</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Abstract(1/3)</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rmAutofit/>
          </a:bodyPr>
          <a:lstStyle/>
          <a:p>
            <a:pPr marL="0" indent="0" algn="just">
              <a:lnSpc>
                <a:spcPct val="150000"/>
              </a:lnSpc>
              <a:buNone/>
            </a:pPr>
            <a:r>
              <a:rPr lang="en" altLang="zh-TW" sz="2400" dirty="0">
                <a:latin typeface="Times" pitchFamily="2" charset="0"/>
              </a:rPr>
              <a:t>From the early days of computing, games have been important testbeds for studying how well machines can do sophisticated decision making. In recent years, machine learning has made dramatic advances with artificial agents reaching superhuman performance in challenge domains like Go, Atari, and some variants of poker. As with their predecessors of chess, checkers, and backgammon, these game domains have driven research by providing sophisticated yet well-defined challenges for artificial intelligence practitioners.</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Abstract(2/3)</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 altLang="zh-TW" sz="2400" dirty="0">
                <a:latin typeface="Times" pitchFamily="2" charset="0"/>
              </a:rPr>
              <a:t>We continue this tradition by proposing the game of </a:t>
            </a:r>
            <a:r>
              <a:rPr lang="en" altLang="zh-TW" sz="2400" dirty="0" err="1">
                <a:latin typeface="Times" pitchFamily="2" charset="0"/>
              </a:rPr>
              <a:t>Hanabi</a:t>
            </a:r>
            <a:r>
              <a:rPr lang="en" altLang="zh-TW" sz="2400" dirty="0">
                <a:latin typeface="Times" pitchFamily="2" charset="0"/>
              </a:rPr>
              <a:t> as a new challenge domain with novel problems that arise from its combination of purely cooperative gameplay with two to five players and imperfect information. In particular, we argue that </a:t>
            </a:r>
            <a:r>
              <a:rPr lang="en" altLang="zh-TW" sz="2400" dirty="0" err="1">
                <a:latin typeface="Times" pitchFamily="2" charset="0"/>
              </a:rPr>
              <a:t>Hanabi</a:t>
            </a:r>
            <a:r>
              <a:rPr lang="en" altLang="zh-TW" sz="2400" dirty="0">
                <a:latin typeface="Times" pitchFamily="2" charset="0"/>
              </a:rPr>
              <a:t> elevates reasoning about the beliefs and intentions of other agents to the foreground. We believe developing novel techniques for such theory of mind reasoning will not only be crucial for success in </a:t>
            </a:r>
            <a:r>
              <a:rPr lang="en" altLang="zh-TW" sz="2400" dirty="0" err="1">
                <a:latin typeface="Times" pitchFamily="2" charset="0"/>
              </a:rPr>
              <a:t>Hanabi</a:t>
            </a:r>
            <a:r>
              <a:rPr lang="en" altLang="zh-TW" sz="2400" dirty="0">
                <a:latin typeface="Times" pitchFamily="2" charset="0"/>
              </a:rPr>
              <a:t>, but also in broader collaborative efforts, especially those with human partners.</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Abstract(3/3)</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 altLang="zh-TW" sz="2400" dirty="0">
                <a:latin typeface="Times" pitchFamily="2" charset="0"/>
              </a:rPr>
              <a:t>To facilitate future research, we introduce the open-source </a:t>
            </a:r>
            <a:r>
              <a:rPr lang="en" altLang="zh-TW" sz="2400" dirty="0" err="1">
                <a:latin typeface="Times" pitchFamily="2" charset="0"/>
              </a:rPr>
              <a:t>Hanabi</a:t>
            </a:r>
            <a:r>
              <a:rPr lang="en" altLang="zh-TW" sz="2400" dirty="0">
                <a:latin typeface="Times" pitchFamily="2" charset="0"/>
              </a:rPr>
              <a:t> Learning Environment, propose an experimental framework for the research community to evaluate algorithmic advances, and assess the performance of current state-of-the-art techniques.</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a:p>
        </p:txBody>
      </p:sp>
    </p:spTree>
    <p:extLst>
      <p:ext uri="{BB962C8B-B14F-4D97-AF65-F5344CB8AC3E}">
        <p14:creationId xmlns:p14="http://schemas.microsoft.com/office/powerpoint/2010/main" val="2874395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lang="en-US" altLang="zh-TW" dirty="0" err="1">
                <a:latin typeface="Times" pitchFamily="2" charset="0"/>
              </a:rPr>
              <a:t>Hanabi</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p:pic>
        <p:nvPicPr>
          <p:cNvPr id="18" name="圖片 17" descr="一張含有 視窗, 油畫, 馬若雷勒藍, 藍色 的圖片&#10;&#10;自動產生的描述">
            <a:extLst>
              <a:ext uri="{FF2B5EF4-FFF2-40B4-BE49-F238E27FC236}">
                <a16:creationId xmlns:a16="http://schemas.microsoft.com/office/drawing/2014/main" id="{1AE20585-067E-03FA-3F8F-DFB2D3B3F935}"/>
              </a:ext>
            </a:extLst>
          </p:cNvPr>
          <p:cNvPicPr>
            <a:picLocks noChangeAspect="1"/>
          </p:cNvPicPr>
          <p:nvPr/>
        </p:nvPicPr>
        <p:blipFill>
          <a:blip r:embed="rId3"/>
          <a:stretch>
            <a:fillRect/>
          </a:stretch>
        </p:blipFill>
        <p:spPr>
          <a:xfrm>
            <a:off x="2038333" y="1690688"/>
            <a:ext cx="8115333" cy="4579815"/>
          </a:xfrm>
          <a:prstGeom prst="rect">
            <a:avLst/>
          </a:prstGeom>
        </p:spPr>
      </p:pic>
      <p:sp>
        <p:nvSpPr>
          <p:cNvPr id="20" name="文字方塊 19">
            <a:extLst>
              <a:ext uri="{FF2B5EF4-FFF2-40B4-BE49-F238E27FC236}">
                <a16:creationId xmlns:a16="http://schemas.microsoft.com/office/drawing/2014/main" id="{7D2CBE1B-8156-223C-A4BC-646D47A8FD00}"/>
              </a:ext>
            </a:extLst>
          </p:cNvPr>
          <p:cNvSpPr txBox="1"/>
          <p:nvPr/>
        </p:nvSpPr>
        <p:spPr>
          <a:xfrm>
            <a:off x="211014" y="6396335"/>
            <a:ext cx="9554309" cy="461665"/>
          </a:xfrm>
          <a:prstGeom prst="rect">
            <a:avLst/>
          </a:prstGeom>
          <a:noFill/>
        </p:spPr>
        <p:txBody>
          <a:bodyPr wrap="square">
            <a:spAutoFit/>
          </a:bodyPr>
          <a:lstStyle/>
          <a:p>
            <a:r>
              <a:rPr lang="en-US" altLang="zh-TW"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Picture:</a:t>
            </a:r>
            <a:r>
              <a:rPr lang="zh-TW" altLang="en-US"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 </a:t>
            </a:r>
            <a:r>
              <a:rPr lang="en" altLang="zh-TW"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Cox, C., De Silva, J., </a:t>
            </a:r>
            <a:r>
              <a:rPr lang="en" altLang="zh-TW" sz="1200" b="0" i="0" u="none" strike="noStrike" dirty="0" err="1">
                <a:solidFill>
                  <a:schemeClr val="tx1">
                    <a:lumMod val="50000"/>
                    <a:lumOff val="50000"/>
                  </a:schemeClr>
                </a:solidFill>
                <a:effectLst/>
                <a:latin typeface="Times New Roman" panose="02020603050405020304" pitchFamily="18" charset="0"/>
                <a:cs typeface="Times New Roman" panose="02020603050405020304" pitchFamily="18" charset="0"/>
              </a:rPr>
              <a:t>Deorsey</a:t>
            </a:r>
            <a:r>
              <a:rPr lang="en" altLang="zh-TW"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 P., </a:t>
            </a:r>
            <a:r>
              <a:rPr lang="en" altLang="zh-TW" sz="1200" b="0" i="0" u="none" strike="noStrike" dirty="0" err="1">
                <a:solidFill>
                  <a:schemeClr val="tx1">
                    <a:lumMod val="50000"/>
                    <a:lumOff val="50000"/>
                  </a:schemeClr>
                </a:solidFill>
                <a:effectLst/>
                <a:latin typeface="Times New Roman" panose="02020603050405020304" pitchFamily="18" charset="0"/>
                <a:cs typeface="Times New Roman" panose="02020603050405020304" pitchFamily="18" charset="0"/>
              </a:rPr>
              <a:t>Kenter</a:t>
            </a:r>
            <a:r>
              <a:rPr lang="en" altLang="zh-TW"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 F. H., </a:t>
            </a:r>
            <a:r>
              <a:rPr lang="en" altLang="zh-TW" sz="1200" b="0" i="0" u="none" strike="noStrike" dirty="0" err="1">
                <a:solidFill>
                  <a:schemeClr val="tx1">
                    <a:lumMod val="50000"/>
                    <a:lumOff val="50000"/>
                  </a:schemeClr>
                </a:solidFill>
                <a:effectLst/>
                <a:latin typeface="Times New Roman" panose="02020603050405020304" pitchFamily="18" charset="0"/>
                <a:cs typeface="Times New Roman" panose="02020603050405020304" pitchFamily="18" charset="0"/>
              </a:rPr>
              <a:t>Retter</a:t>
            </a:r>
            <a:r>
              <a:rPr lang="en" altLang="zh-TW"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 T., &amp; Tobin, J. (2015). How to make the perfect fireworks display: Two strategies for </a:t>
            </a:r>
            <a:r>
              <a:rPr lang="en" altLang="zh-TW" sz="1200" b="0" i="0" u="none" strike="noStrike" dirty="0" err="1">
                <a:solidFill>
                  <a:schemeClr val="tx1">
                    <a:lumMod val="50000"/>
                    <a:lumOff val="50000"/>
                  </a:schemeClr>
                </a:solidFill>
                <a:effectLst/>
                <a:latin typeface="Times New Roman" panose="02020603050405020304" pitchFamily="18" charset="0"/>
                <a:cs typeface="Times New Roman" panose="02020603050405020304" pitchFamily="18" charset="0"/>
              </a:rPr>
              <a:t>hanabi</a:t>
            </a:r>
            <a:r>
              <a:rPr lang="en" altLang="zh-TW"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 </a:t>
            </a:r>
            <a:r>
              <a:rPr lang="en" altLang="zh-TW" sz="1200" b="0" i="1"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Mathematics Magazine</a:t>
            </a:r>
            <a:r>
              <a:rPr lang="en" altLang="zh-TW"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 </a:t>
            </a:r>
            <a:r>
              <a:rPr lang="en" altLang="zh-TW" sz="1200" b="0" i="1"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88</a:t>
            </a:r>
            <a:r>
              <a:rPr lang="en" altLang="zh-TW" sz="1200" b="0" i="0" u="none" strike="noStrike" dirty="0">
                <a:solidFill>
                  <a:schemeClr val="tx1">
                    <a:lumMod val="50000"/>
                    <a:lumOff val="50000"/>
                  </a:schemeClr>
                </a:solidFill>
                <a:effectLst/>
                <a:latin typeface="Times New Roman" panose="02020603050405020304" pitchFamily="18" charset="0"/>
                <a:cs typeface="Times New Roman" panose="02020603050405020304" pitchFamily="18" charset="0"/>
              </a:rPr>
              <a:t>(5), 323-336.</a:t>
            </a:r>
            <a:endPar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2410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lang="en-US" altLang="zh-TW" dirty="0" err="1">
                <a:latin typeface="Times" pitchFamily="2" charset="0"/>
              </a:rPr>
              <a:t>Hanabi</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grpSp>
        <p:nvGrpSpPr>
          <p:cNvPr id="5" name="群組 4">
            <a:extLst>
              <a:ext uri="{FF2B5EF4-FFF2-40B4-BE49-F238E27FC236}">
                <a16:creationId xmlns:a16="http://schemas.microsoft.com/office/drawing/2014/main" id="{EE9B5249-4FC2-1078-DF7E-00321403BB06}"/>
              </a:ext>
            </a:extLst>
          </p:cNvPr>
          <p:cNvGrpSpPr/>
          <p:nvPr/>
        </p:nvGrpSpPr>
        <p:grpSpPr>
          <a:xfrm>
            <a:off x="1988893" y="1613844"/>
            <a:ext cx="9660549" cy="4929824"/>
            <a:chOff x="1988893" y="1613844"/>
            <a:chExt cx="9660549" cy="4929824"/>
          </a:xfrm>
        </p:grpSpPr>
        <p:pic>
          <p:nvPicPr>
            <p:cNvPr id="10" name="圖片 9" descr="一張含有 文字, 軟體, 多媒體軟體, 繪圖軟體 的圖片&#10;&#10;自動產生的描述">
              <a:extLst>
                <a:ext uri="{FF2B5EF4-FFF2-40B4-BE49-F238E27FC236}">
                  <a16:creationId xmlns:a16="http://schemas.microsoft.com/office/drawing/2014/main" id="{CBD02053-C262-2D3D-7172-A6AE3F79B7AB}"/>
                </a:ext>
              </a:extLst>
            </p:cNvPr>
            <p:cNvPicPr>
              <a:picLocks noChangeAspect="1"/>
            </p:cNvPicPr>
            <p:nvPr/>
          </p:nvPicPr>
          <p:blipFill rotWithShape="1">
            <a:blip r:embed="rId3"/>
            <a:srcRect r="16920"/>
            <a:stretch/>
          </p:blipFill>
          <p:spPr>
            <a:xfrm>
              <a:off x="1988893" y="1613844"/>
              <a:ext cx="8214214" cy="4929824"/>
            </a:xfrm>
            <a:prstGeom prst="rect">
              <a:avLst/>
            </a:prstGeom>
          </p:spPr>
        </p:pic>
        <p:sp>
          <p:nvSpPr>
            <p:cNvPr id="3" name="文字方塊 2">
              <a:extLst>
                <a:ext uri="{FF2B5EF4-FFF2-40B4-BE49-F238E27FC236}">
                  <a16:creationId xmlns:a16="http://schemas.microsoft.com/office/drawing/2014/main" id="{0DC43AB7-AC75-D0E9-6F48-115386698E5C}"/>
                </a:ext>
              </a:extLst>
            </p:cNvPr>
            <p:cNvSpPr txBox="1"/>
            <p:nvPr/>
          </p:nvSpPr>
          <p:spPr>
            <a:xfrm>
              <a:off x="5275385" y="4720936"/>
              <a:ext cx="1210547" cy="52322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kumimoji="1" lang="en-US" altLang="zh-TW" sz="2800" dirty="0">
                  <a:latin typeface="Times New Roman" panose="02020603050405020304" pitchFamily="18" charset="0"/>
                  <a:cs typeface="Times New Roman" panose="02020603050405020304" pitchFamily="18" charset="0"/>
                </a:rPr>
                <a:t>Stacks</a:t>
              </a:r>
              <a:endParaRPr kumimoji="1" lang="zh-TW" altLang="en-US" sz="28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E7408F54-B5D1-0B34-1329-73FDDC855D04}"/>
                </a:ext>
              </a:extLst>
            </p:cNvPr>
            <p:cNvSpPr txBox="1"/>
            <p:nvPr/>
          </p:nvSpPr>
          <p:spPr>
            <a:xfrm>
              <a:off x="2392974" y="2690137"/>
              <a:ext cx="2507639" cy="52322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kumimoji="1" lang="en-US" altLang="zh-TW" sz="2800" dirty="0">
                  <a:latin typeface="Times New Roman" panose="02020603050405020304" pitchFamily="18" charset="0"/>
                  <a:cs typeface="Times New Roman" panose="02020603050405020304" pitchFamily="18" charset="0"/>
                </a:rPr>
                <a:t>Deck</a:t>
              </a:r>
              <a:r>
                <a:rPr kumimoji="1" lang="zh-TW" altLang="en-US" sz="2800" dirty="0">
                  <a:latin typeface="Times New Roman" panose="02020603050405020304" pitchFamily="18" charset="0"/>
                  <a:cs typeface="Times New Roman" panose="02020603050405020304" pitchFamily="18" charset="0"/>
                </a:rPr>
                <a:t> </a:t>
              </a:r>
              <a:r>
                <a:rPr kumimoji="1" lang="en-US" altLang="zh-TW" sz="2800" dirty="0">
                  <a:latin typeface="Times New Roman" panose="02020603050405020304" pitchFamily="18" charset="0"/>
                  <a:cs typeface="Times New Roman" panose="02020603050405020304" pitchFamily="18" charset="0"/>
                </a:rPr>
                <a:t>(50</a:t>
              </a:r>
              <a:r>
                <a:rPr kumimoji="1" lang="zh-TW" altLang="en-US" sz="2800" dirty="0">
                  <a:latin typeface="Times New Roman" panose="02020603050405020304" pitchFamily="18" charset="0"/>
                  <a:cs typeface="Times New Roman" panose="02020603050405020304" pitchFamily="18" charset="0"/>
                </a:rPr>
                <a:t> </a:t>
              </a:r>
              <a:r>
                <a:rPr kumimoji="1" lang="en-US" altLang="zh-TW" sz="2800" dirty="0">
                  <a:latin typeface="Times New Roman" panose="02020603050405020304" pitchFamily="18" charset="0"/>
                  <a:cs typeface="Times New Roman" panose="02020603050405020304" pitchFamily="18" charset="0"/>
                </a:rPr>
                <a:t>cards)</a:t>
              </a:r>
              <a:endParaRPr kumimoji="1" lang="zh-TW" altLang="en-US" sz="28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E11003F4-BB6E-A23F-5EBB-8AD49141ED0D}"/>
                </a:ext>
              </a:extLst>
            </p:cNvPr>
            <p:cNvSpPr txBox="1"/>
            <p:nvPr/>
          </p:nvSpPr>
          <p:spPr>
            <a:xfrm>
              <a:off x="8665919" y="2677797"/>
              <a:ext cx="2983523" cy="523220"/>
            </a:xfrm>
            <a:prstGeom prst="rect">
              <a:avLst/>
            </a:prstGeom>
            <a:ln w="38100">
              <a:solidFill>
                <a:srgbClr val="00B0F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kumimoji="1" lang="en-US" altLang="zh-TW" sz="2800" dirty="0">
                  <a:latin typeface="Times New Roman" panose="02020603050405020304" pitchFamily="18" charset="0"/>
                  <a:cs typeface="Times New Roman" panose="02020603050405020304" pitchFamily="18" charset="0"/>
                </a:rPr>
                <a:t>Information</a:t>
              </a:r>
              <a:r>
                <a:rPr kumimoji="1" lang="zh-TW" altLang="en-US" sz="2800" dirty="0">
                  <a:latin typeface="Times New Roman" panose="02020603050405020304" pitchFamily="18" charset="0"/>
                  <a:cs typeface="Times New Roman" panose="02020603050405020304" pitchFamily="18" charset="0"/>
                </a:rPr>
                <a:t> </a:t>
              </a:r>
              <a:r>
                <a:rPr kumimoji="1" lang="en-US" altLang="zh-TW" sz="2800" dirty="0">
                  <a:latin typeface="Times New Roman" panose="02020603050405020304" pitchFamily="18" charset="0"/>
                  <a:cs typeface="Times New Roman" panose="02020603050405020304" pitchFamily="18" charset="0"/>
                </a:rPr>
                <a:t>token</a:t>
              </a:r>
              <a:endParaRPr kumimoji="1" lang="zh-TW" altLang="en-US" sz="2800" dirty="0">
                <a:latin typeface="Times New Roman" panose="02020603050405020304" pitchFamily="18" charset="0"/>
                <a:cs typeface="Times New Roman" panose="02020603050405020304" pitchFamily="18" charset="0"/>
              </a:endParaRPr>
            </a:p>
          </p:txBody>
        </p:sp>
      </p:grpSp>
      <p:sp>
        <p:nvSpPr>
          <p:cNvPr id="14" name="文字方塊 13">
            <a:extLst>
              <a:ext uri="{FF2B5EF4-FFF2-40B4-BE49-F238E27FC236}">
                <a16:creationId xmlns:a16="http://schemas.microsoft.com/office/drawing/2014/main" id="{345A1286-8342-914D-0966-84ACCB3F55D7}"/>
              </a:ext>
            </a:extLst>
          </p:cNvPr>
          <p:cNvSpPr txBox="1"/>
          <p:nvPr/>
        </p:nvSpPr>
        <p:spPr>
          <a:xfrm>
            <a:off x="3136840" y="6109352"/>
            <a:ext cx="1441938" cy="52322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kumimoji="1" lang="en-US" altLang="zh-TW" sz="2800" dirty="0">
                <a:latin typeface="Times New Roman" panose="02020603050405020304" pitchFamily="18" charset="0"/>
                <a:cs typeface="Times New Roman" panose="02020603050405020304" pitchFamily="18" charset="0"/>
              </a:rPr>
              <a:t>Discards</a:t>
            </a:r>
            <a:endParaRPr kumimoji="1" lang="zh-TW" altLang="en-US" sz="28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FFAF59A1-FDD5-25B2-DEC4-59D7FBD76A4A}"/>
              </a:ext>
            </a:extLst>
          </p:cNvPr>
          <p:cNvSpPr txBox="1"/>
          <p:nvPr/>
        </p:nvSpPr>
        <p:spPr>
          <a:xfrm>
            <a:off x="6485932" y="6601555"/>
            <a:ext cx="4402930" cy="276999"/>
          </a:xfrm>
          <a:prstGeom prst="rect">
            <a:avLst/>
          </a:prstGeom>
          <a:noFill/>
        </p:spPr>
        <p:txBody>
          <a:bodyPr wrap="square">
            <a:spAutoFit/>
          </a:bodyPr>
          <a:lstStyle/>
          <a:p>
            <a:r>
              <a:rPr lang="en-US" altLang="zh-TW" sz="1200" dirty="0">
                <a:solidFill>
                  <a:schemeClr val="tx1">
                    <a:lumMod val="50000"/>
                    <a:lumOff val="50000"/>
                  </a:schemeClr>
                </a:solidFill>
                <a:latin typeface="Times New Roman" panose="02020603050405020304" pitchFamily="18" charset="0"/>
                <a:cs typeface="Times New Roman" panose="02020603050405020304" pitchFamily="18" charset="0"/>
              </a:rPr>
              <a:t>Picture:</a:t>
            </a:r>
            <a:r>
              <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rPr>
              <a:t> https://en.boardgamearena.com/gamepanel?game=hanabi</a:t>
            </a:r>
          </a:p>
        </p:txBody>
      </p:sp>
    </p:spTree>
    <p:extLst>
      <p:ext uri="{BB962C8B-B14F-4D97-AF65-F5344CB8AC3E}">
        <p14:creationId xmlns:p14="http://schemas.microsoft.com/office/powerpoint/2010/main" val="1854292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a:xfrm>
            <a:off x="838200" y="365125"/>
            <a:ext cx="10515600" cy="1325563"/>
          </a:xfrm>
        </p:spPr>
        <p:txBody>
          <a:bodyPr anchor="ctr">
            <a:normAutofit/>
          </a:bodyPr>
          <a:lstStyle/>
          <a:p>
            <a:r>
              <a:rPr lang="en-US" altLang="zh-TW">
                <a:latin typeface="Times New Roman" panose="02020603050405020304" pitchFamily="18" charset="0"/>
                <a:cs typeface="Times New Roman" panose="02020603050405020304" pitchFamily="18" charset="0"/>
              </a:rPr>
              <a:t>Hanabi</a:t>
            </a:r>
            <a:endParaRPr kumimoji="1" lang="zh-TW" altLang="en-US" dirty="0">
              <a:latin typeface="Times New Roman" panose="02020603050405020304" pitchFamily="18" charset="0"/>
              <a:cs typeface="Times New Roman" panose="02020603050405020304" pitchFamily="18" charset="0"/>
            </a:endParaRPr>
          </a:p>
        </p:txBody>
      </p:sp>
      <p:sp>
        <p:nvSpPr>
          <p:cNvPr id="5" name="內容版面配置區 4">
            <a:extLst>
              <a:ext uri="{FF2B5EF4-FFF2-40B4-BE49-F238E27FC236}">
                <a16:creationId xmlns:a16="http://schemas.microsoft.com/office/drawing/2014/main" id="{0A7A6B77-E612-7CE1-261D-AF487368131F}"/>
              </a:ext>
            </a:extLst>
          </p:cNvPr>
          <p:cNvSpPr>
            <a:spLocks noGrp="1"/>
          </p:cNvSpPr>
          <p:nvPr>
            <p:ph sz="half" idx="1"/>
          </p:nvPr>
        </p:nvSpPr>
        <p:spPr>
          <a:xfrm>
            <a:off x="838200" y="1825625"/>
            <a:ext cx="4390292" cy="4351338"/>
          </a:xfrm>
        </p:spPr>
        <p:txBody>
          <a:bodyPr>
            <a:noAutofit/>
          </a:bodyPr>
          <a:lstStyle/>
          <a:p>
            <a:r>
              <a:rPr lang="en-US" altLang="zh-TW" sz="2400" dirty="0">
                <a:latin typeface="Times New Roman" panose="02020603050405020304" pitchFamily="18" charset="0"/>
                <a:cs typeface="Times New Roman" panose="02020603050405020304" pitchFamily="18" charset="0"/>
              </a:rPr>
              <a:t>Actions:</a:t>
            </a:r>
          </a:p>
          <a:p>
            <a:pPr lvl="1"/>
            <a:r>
              <a:rPr lang="en-US" altLang="zh-TW" sz="2200" dirty="0">
                <a:latin typeface="Times New Roman" panose="02020603050405020304" pitchFamily="18" charset="0"/>
                <a:cs typeface="Times New Roman" panose="02020603050405020304" pitchFamily="18" charset="0"/>
              </a:rPr>
              <a:t>H</a:t>
            </a:r>
            <a:r>
              <a:rPr lang="en" altLang="zh-TW" sz="2200" dirty="0">
                <a:latin typeface="Times New Roman" panose="02020603050405020304" pitchFamily="18" charset="0"/>
                <a:cs typeface="Times New Roman" panose="02020603050405020304" pitchFamily="18" charset="0"/>
              </a:rPr>
              <a:t>int</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(rank</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or</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color).</a:t>
            </a:r>
          </a:p>
          <a:p>
            <a:pPr lvl="1"/>
            <a:r>
              <a:rPr lang="en" altLang="zh-TW" sz="2200" dirty="0">
                <a:latin typeface="Times New Roman" panose="02020603050405020304" pitchFamily="18" charset="0"/>
                <a:cs typeface="Times New Roman" panose="02020603050405020304" pitchFamily="18" charset="0"/>
              </a:rPr>
              <a:t>Discard</a:t>
            </a:r>
            <a:r>
              <a:rPr lang="en-US" altLang="zh-TW" sz="2200" dirty="0">
                <a:latin typeface="Times New Roman" panose="02020603050405020304" pitchFamily="18" charset="0"/>
                <a:cs typeface="Times New Roman" panose="02020603050405020304" pitchFamily="18" charset="0"/>
              </a:rPr>
              <a:t>.</a:t>
            </a:r>
            <a:endParaRPr lang="en" altLang="zh-TW" sz="2200" dirty="0">
              <a:latin typeface="Times New Roman" panose="02020603050405020304" pitchFamily="18" charset="0"/>
              <a:cs typeface="Times New Roman" panose="02020603050405020304" pitchFamily="18" charset="0"/>
            </a:endParaRPr>
          </a:p>
          <a:p>
            <a:pPr lvl="1"/>
            <a:r>
              <a:rPr lang="en" altLang="zh-TW" sz="2200" dirty="0">
                <a:latin typeface="Times New Roman" panose="02020603050405020304" pitchFamily="18" charset="0"/>
                <a:cs typeface="Times New Roman" panose="02020603050405020304" pitchFamily="18" charset="0"/>
              </a:rPr>
              <a:t>Play</a:t>
            </a:r>
            <a:r>
              <a:rPr lang="en-US" altLang="zh-TW" sz="2200" dirty="0">
                <a:latin typeface="Times New Roman" panose="02020603050405020304" pitchFamily="18" charset="0"/>
                <a:cs typeface="Times New Roman" panose="02020603050405020304" pitchFamily="18" charset="0"/>
              </a:rPr>
              <a:t>.</a:t>
            </a:r>
          </a:p>
          <a:p>
            <a:r>
              <a:rPr lang="en-US" altLang="zh-TW" sz="2400" dirty="0">
                <a:latin typeface="Times New Roman" panose="02020603050405020304" pitchFamily="18" charset="0"/>
                <a:cs typeface="Times New Roman" panose="02020603050405020304" pitchFamily="18" charset="0"/>
              </a:rPr>
              <a:t>Game over: </a:t>
            </a:r>
          </a:p>
          <a:p>
            <a:pPr lvl="1"/>
            <a:r>
              <a:rPr lang="en-US" altLang="zh-TW" sz="2200" dirty="0">
                <a:latin typeface="Times New Roman" panose="02020603050405020304" pitchFamily="18" charset="0"/>
                <a:cs typeface="Times New Roman" panose="02020603050405020304" pitchFamily="18" charset="0"/>
              </a:rPr>
              <a:t>Complete all five stacks.</a:t>
            </a:r>
          </a:p>
          <a:p>
            <a:pPr lvl="1"/>
            <a:r>
              <a:rPr lang="en-US" altLang="zh-TW" sz="2200" dirty="0">
                <a:latin typeface="Times New Roman" panose="02020603050405020304" pitchFamily="18" charset="0"/>
                <a:cs typeface="Times New Roman" panose="02020603050405020304" pitchFamily="18" charset="0"/>
              </a:rPr>
              <a:t>Three lives have been lost.</a:t>
            </a:r>
          </a:p>
          <a:p>
            <a:pPr lvl="1"/>
            <a:r>
              <a:rPr lang="en-US" altLang="zh-TW" sz="2200" dirty="0">
                <a:latin typeface="Times New Roman" panose="02020603050405020304" pitchFamily="18" charset="0"/>
                <a:cs typeface="Times New Roman" panose="02020603050405020304" pitchFamily="18" charset="0"/>
              </a:rPr>
              <a:t>A player draws the last card from the deck and every player has taken one final turn.</a:t>
            </a: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D1303F21-0339-114F-A835-EDFAC68AEBBB}" type="slidenum">
              <a:rPr kumimoji="1" lang="zh-TW" altLang="en-US" smtClean="0"/>
              <a:pPr>
                <a:spcAft>
                  <a:spcPts val="600"/>
                </a:spcAft>
              </a:pPr>
              <a:t>7</a:t>
            </a:fld>
            <a:endParaRPr kumimoji="1" lang="zh-TW" altLang="en-US"/>
          </a:p>
        </p:txBody>
      </p:sp>
      <p:pic>
        <p:nvPicPr>
          <p:cNvPr id="6" name="圖片 5" descr="一張含有 文字, 軟體, 多媒體軟體, 繪圖軟體 的圖片&#10;&#10;自動產生的描述">
            <a:extLst>
              <a:ext uri="{FF2B5EF4-FFF2-40B4-BE49-F238E27FC236}">
                <a16:creationId xmlns:a16="http://schemas.microsoft.com/office/drawing/2014/main" id="{914C56A8-BD57-575A-07B7-1FF983599C63}"/>
              </a:ext>
            </a:extLst>
          </p:cNvPr>
          <p:cNvPicPr>
            <a:picLocks noChangeAspect="1"/>
          </p:cNvPicPr>
          <p:nvPr/>
        </p:nvPicPr>
        <p:blipFill rotWithShape="1">
          <a:blip r:embed="rId3"/>
          <a:srcRect r="16920"/>
          <a:stretch/>
        </p:blipFill>
        <p:spPr>
          <a:xfrm>
            <a:off x="5565161" y="1690688"/>
            <a:ext cx="6244471" cy="3747667"/>
          </a:xfrm>
          <a:prstGeom prst="rect">
            <a:avLst/>
          </a:prstGeom>
        </p:spPr>
      </p:pic>
      <p:sp>
        <p:nvSpPr>
          <p:cNvPr id="7" name="文字方塊 6">
            <a:extLst>
              <a:ext uri="{FF2B5EF4-FFF2-40B4-BE49-F238E27FC236}">
                <a16:creationId xmlns:a16="http://schemas.microsoft.com/office/drawing/2014/main" id="{AA909086-D0A7-E634-BB53-18A36A69D217}"/>
              </a:ext>
            </a:extLst>
          </p:cNvPr>
          <p:cNvSpPr txBox="1"/>
          <p:nvPr/>
        </p:nvSpPr>
        <p:spPr>
          <a:xfrm>
            <a:off x="6485932" y="6601555"/>
            <a:ext cx="4402930" cy="276999"/>
          </a:xfrm>
          <a:prstGeom prst="rect">
            <a:avLst/>
          </a:prstGeom>
          <a:noFill/>
        </p:spPr>
        <p:txBody>
          <a:bodyPr wrap="square">
            <a:spAutoFit/>
          </a:bodyPr>
          <a:lstStyle/>
          <a:p>
            <a:r>
              <a:rPr lang="en-US" altLang="zh-TW" sz="1200" dirty="0">
                <a:solidFill>
                  <a:schemeClr val="tx1">
                    <a:lumMod val="50000"/>
                    <a:lumOff val="50000"/>
                  </a:schemeClr>
                </a:solidFill>
                <a:latin typeface="Times New Roman" panose="02020603050405020304" pitchFamily="18" charset="0"/>
                <a:cs typeface="Times New Roman" panose="02020603050405020304" pitchFamily="18" charset="0"/>
              </a:rPr>
              <a:t>Picture:</a:t>
            </a:r>
            <a:r>
              <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rPr>
              <a:t> https://en.boardgamearena.com/gamepanel?game=hanabi</a:t>
            </a:r>
          </a:p>
        </p:txBody>
      </p:sp>
    </p:spTree>
    <p:extLst>
      <p:ext uri="{BB962C8B-B14F-4D97-AF65-F5344CB8AC3E}">
        <p14:creationId xmlns:p14="http://schemas.microsoft.com/office/powerpoint/2010/main" val="1008533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Strategy</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dirty="0"/>
          </a:p>
        </p:txBody>
      </p:sp>
      <p:pic>
        <p:nvPicPr>
          <p:cNvPr id="8" name="圖片 7" descr="一張含有 螢幕擷取畫面, Rectangle, 設計 的圖片&#10;&#10;自動產生的描述">
            <a:extLst>
              <a:ext uri="{FF2B5EF4-FFF2-40B4-BE49-F238E27FC236}">
                <a16:creationId xmlns:a16="http://schemas.microsoft.com/office/drawing/2014/main" id="{509341AF-64F2-1887-077C-34CB7DAF86FF}"/>
              </a:ext>
            </a:extLst>
          </p:cNvPr>
          <p:cNvPicPr>
            <a:picLocks noChangeAspect="1"/>
          </p:cNvPicPr>
          <p:nvPr/>
        </p:nvPicPr>
        <p:blipFill>
          <a:blip r:embed="rId3"/>
          <a:stretch>
            <a:fillRect/>
          </a:stretch>
        </p:blipFill>
        <p:spPr>
          <a:xfrm>
            <a:off x="328481" y="2013011"/>
            <a:ext cx="11535037" cy="4021015"/>
          </a:xfrm>
          <a:prstGeom prst="rect">
            <a:avLst/>
          </a:prstGeom>
        </p:spPr>
      </p:pic>
      <p:sp>
        <p:nvSpPr>
          <p:cNvPr id="5" name="文字方塊 4">
            <a:extLst>
              <a:ext uri="{FF2B5EF4-FFF2-40B4-BE49-F238E27FC236}">
                <a16:creationId xmlns:a16="http://schemas.microsoft.com/office/drawing/2014/main" id="{4EDD5006-52C5-A89A-E579-05BFDD397F3B}"/>
              </a:ext>
            </a:extLst>
          </p:cNvPr>
          <p:cNvSpPr txBox="1"/>
          <p:nvPr/>
        </p:nvSpPr>
        <p:spPr>
          <a:xfrm>
            <a:off x="8088687" y="490358"/>
            <a:ext cx="3774831" cy="1200329"/>
          </a:xfrm>
          <a:prstGeom prst="rect">
            <a:avLst/>
          </a:prstGeom>
          <a:noFill/>
        </p:spPr>
        <p:txBody>
          <a:bodyPr wrap="square">
            <a:spAutoFit/>
          </a:bodyPr>
          <a:lstStyle/>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Lower</a:t>
            </a:r>
            <a:r>
              <a:rPr lang="en" altLang="zh-TW" sz="2400" dirty="0">
                <a:latin typeface="Times New Roman" panose="02020603050405020304" pitchFamily="18" charset="0"/>
                <a:cs typeface="Times New Roman" panose="02020603050405020304" pitchFamily="18" charset="0"/>
              </a:rPr>
              <a:t>-ranked cards</a:t>
            </a:r>
            <a:endParaRPr lang="en-US" altLang="zh-TW"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 altLang="zh-TW" sz="2400" dirty="0">
                <a:latin typeface="Times New Roman" panose="02020603050405020304" pitchFamily="18" charset="0"/>
                <a:cs typeface="Times New Roman" panose="02020603050405020304" pitchFamily="18" charset="0"/>
              </a:rPr>
              <a:t>Implicit communication</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Finesse</a:t>
            </a:r>
            <a:endParaRPr lang="en"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62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lang="en-US" altLang="zh-TW" dirty="0">
                <a:latin typeface="Times" pitchFamily="2" charset="0"/>
              </a:rPr>
              <a:t>T</a:t>
            </a:r>
            <a:r>
              <a:rPr lang="en" altLang="zh-TW" dirty="0">
                <a:latin typeface="Times" pitchFamily="2" charset="0"/>
              </a:rPr>
              <a:t>he challenge</a:t>
            </a:r>
            <a:r>
              <a:rPr lang="en-US" altLang="zh-TW" dirty="0">
                <a:latin typeface="Times" pitchFamily="2" charset="0"/>
              </a:rPr>
              <a:t>s</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p:txBody>
          <a:bodyPr>
            <a:normAutofit/>
          </a:bodyPr>
          <a:lstStyle/>
          <a:p>
            <a:pPr>
              <a:lnSpc>
                <a:spcPct val="100000"/>
              </a:lnSpc>
            </a:pPr>
            <a:r>
              <a:rPr kumimoji="1" lang="en-US" altLang="zh-TW" dirty="0">
                <a:latin typeface="Times" pitchFamily="2" charset="0"/>
              </a:rPr>
              <a:t>Imperfect</a:t>
            </a:r>
            <a:r>
              <a:rPr kumimoji="1" lang="zh-TW" altLang="en-US" dirty="0">
                <a:latin typeface="Times" pitchFamily="2" charset="0"/>
              </a:rPr>
              <a:t> </a:t>
            </a:r>
            <a:r>
              <a:rPr kumimoji="1" lang="en-US" altLang="zh-TW" dirty="0">
                <a:latin typeface="Times" pitchFamily="2" charset="0"/>
              </a:rPr>
              <a:t>information environments.</a:t>
            </a:r>
          </a:p>
          <a:p>
            <a:pPr>
              <a:lnSpc>
                <a:spcPct val="100000"/>
              </a:lnSpc>
            </a:pPr>
            <a:r>
              <a:rPr kumimoji="1" lang="en-US" altLang="zh-TW" dirty="0">
                <a:latin typeface="Times" pitchFamily="2" charset="0"/>
              </a:rPr>
              <a:t>No “cheap-talk” communication channel.</a:t>
            </a:r>
          </a:p>
          <a:p>
            <a:pPr>
              <a:lnSpc>
                <a:spcPct val="100000"/>
              </a:lnSpc>
            </a:pPr>
            <a:r>
              <a:rPr kumimoji="1" lang="en-US" altLang="zh-TW" dirty="0">
                <a:latin typeface="Times" pitchFamily="2" charset="0"/>
              </a:rPr>
              <a:t>Self-play learning</a:t>
            </a:r>
          </a:p>
          <a:p>
            <a:pPr lvl="1">
              <a:lnSpc>
                <a:spcPct val="100000"/>
              </a:lnSpc>
            </a:pPr>
            <a:r>
              <a:rPr kumimoji="1" lang="en-US" altLang="zh-TW" dirty="0">
                <a:latin typeface="Times" pitchFamily="2" charset="0"/>
              </a:rPr>
              <a:t>Sample limited regime (SL)</a:t>
            </a:r>
          </a:p>
          <a:p>
            <a:pPr lvl="1">
              <a:lnSpc>
                <a:spcPct val="100000"/>
              </a:lnSpc>
            </a:pPr>
            <a:r>
              <a:rPr kumimoji="1" lang="en-US" altLang="zh-TW" dirty="0">
                <a:latin typeface="Times" pitchFamily="2" charset="0"/>
              </a:rPr>
              <a:t>Unlimited regime (UL)</a:t>
            </a:r>
          </a:p>
          <a:p>
            <a:pPr>
              <a:lnSpc>
                <a:spcPct val="100000"/>
              </a:lnSpc>
            </a:pPr>
            <a:r>
              <a:rPr kumimoji="1" lang="en-US" altLang="zh-TW" dirty="0">
                <a:latin typeface="Times" pitchFamily="2" charset="0"/>
              </a:rPr>
              <a:t>Ad-hoc teams</a:t>
            </a: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p:spTree>
    <p:extLst>
      <p:ext uri="{BB962C8B-B14F-4D97-AF65-F5344CB8AC3E}">
        <p14:creationId xmlns:p14="http://schemas.microsoft.com/office/powerpoint/2010/main" val="1547232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lang="en" altLang="zh-TW" dirty="0">
                <a:latin typeface="Times" pitchFamily="2" charset="0"/>
              </a:rPr>
              <a:t>Problem </a:t>
            </a:r>
            <a:r>
              <a:rPr lang="en-US" altLang="zh-TW" dirty="0">
                <a:latin typeface="Times" pitchFamily="2" charset="0"/>
              </a:rPr>
              <a:t>setup</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p:txBody>
          <a:bodyPr>
            <a:normAutofit/>
          </a:bodyPr>
          <a:lstStyle/>
          <a:p>
            <a:pPr>
              <a:lnSpc>
                <a:spcPct val="100000"/>
              </a:lnSpc>
            </a:pPr>
            <a:r>
              <a:rPr kumimoji="1" lang="en-US" altLang="zh-TW" dirty="0">
                <a:latin typeface="Times" pitchFamily="2" charset="0"/>
              </a:rPr>
              <a:t>Open-source</a:t>
            </a:r>
            <a:r>
              <a:rPr kumimoji="1" lang="zh-TW" altLang="en-US" dirty="0">
                <a:latin typeface="Times" pitchFamily="2" charset="0"/>
              </a:rPr>
              <a:t> </a:t>
            </a:r>
            <a:r>
              <a:rPr kumimoji="1" lang="en-US" altLang="zh-TW" dirty="0">
                <a:latin typeface="Times" pitchFamily="2" charset="0"/>
              </a:rPr>
              <a:t>environments:</a:t>
            </a:r>
            <a:r>
              <a:rPr kumimoji="1" lang="zh-TW" altLang="en-US" dirty="0">
                <a:latin typeface="Times" pitchFamily="2" charset="0"/>
              </a:rPr>
              <a:t> </a:t>
            </a:r>
            <a:r>
              <a:rPr kumimoji="1" lang="en-US" altLang="zh-TW" dirty="0" err="1">
                <a:latin typeface="Times" pitchFamily="2" charset="0"/>
              </a:rPr>
              <a:t>Openai</a:t>
            </a:r>
            <a:r>
              <a:rPr kumimoji="1" lang="en-US" altLang="zh-TW" dirty="0">
                <a:latin typeface="Times" pitchFamily="2" charset="0"/>
              </a:rPr>
              <a:t> gym</a:t>
            </a:r>
          </a:p>
          <a:p>
            <a:pPr>
              <a:lnSpc>
                <a:spcPct val="100000"/>
              </a:lnSpc>
            </a:pPr>
            <a:r>
              <a:rPr kumimoji="1" lang="en-US" altLang="zh-TW" dirty="0">
                <a:latin typeface="Times" pitchFamily="2" charset="0"/>
              </a:rPr>
              <a:t>Learning agents</a:t>
            </a:r>
          </a:p>
          <a:p>
            <a:pPr lvl="1">
              <a:lnSpc>
                <a:spcPct val="100000"/>
              </a:lnSpc>
            </a:pPr>
            <a:r>
              <a:rPr kumimoji="1" lang="en-US" altLang="zh-TW" dirty="0">
                <a:latin typeface="Times" pitchFamily="2" charset="0"/>
              </a:rPr>
              <a:t>Actor-Critic-</a:t>
            </a:r>
            <a:r>
              <a:rPr kumimoji="1" lang="en-US" altLang="zh-TW" dirty="0" err="1">
                <a:latin typeface="Times" pitchFamily="2" charset="0"/>
              </a:rPr>
              <a:t>Hanabi</a:t>
            </a:r>
            <a:r>
              <a:rPr kumimoji="1" lang="en-US" altLang="zh-TW" dirty="0">
                <a:latin typeface="Times" pitchFamily="2" charset="0"/>
              </a:rPr>
              <a:t>-Agent</a:t>
            </a:r>
          </a:p>
          <a:p>
            <a:pPr lvl="1">
              <a:lnSpc>
                <a:spcPct val="100000"/>
              </a:lnSpc>
            </a:pPr>
            <a:r>
              <a:rPr kumimoji="1" lang="en-US" altLang="zh-TW" dirty="0">
                <a:latin typeface="Times" pitchFamily="2" charset="0"/>
              </a:rPr>
              <a:t>Rainbow-Agent</a:t>
            </a:r>
          </a:p>
          <a:p>
            <a:pPr lvl="1">
              <a:lnSpc>
                <a:spcPct val="100000"/>
              </a:lnSpc>
            </a:pPr>
            <a:r>
              <a:rPr kumimoji="1" lang="en-US" altLang="zh-TW" dirty="0">
                <a:latin typeface="Times" pitchFamily="2" charset="0"/>
              </a:rPr>
              <a:t>BAD-Agent</a:t>
            </a:r>
          </a:p>
          <a:p>
            <a:pPr>
              <a:lnSpc>
                <a:spcPct val="100000"/>
              </a:lnSpc>
            </a:pPr>
            <a:r>
              <a:rPr kumimoji="1" lang="en-US" altLang="zh-TW" dirty="0">
                <a:latin typeface="Times" pitchFamily="2" charset="0"/>
              </a:rPr>
              <a:t>Rule-based approaches</a:t>
            </a:r>
          </a:p>
          <a:p>
            <a:pPr lvl="1">
              <a:lnSpc>
                <a:spcPct val="100000"/>
              </a:lnSpc>
            </a:pPr>
            <a:r>
              <a:rPr kumimoji="1" lang="en-US" altLang="zh-TW" dirty="0" err="1">
                <a:latin typeface="Times" pitchFamily="2" charset="0"/>
              </a:rPr>
              <a:t>SmartBot</a:t>
            </a:r>
            <a:endParaRPr kumimoji="1" lang="en-US" altLang="zh-TW" dirty="0">
              <a:latin typeface="Times" pitchFamily="2" charset="0"/>
            </a:endParaRPr>
          </a:p>
          <a:p>
            <a:pPr lvl="1">
              <a:lnSpc>
                <a:spcPct val="100000"/>
              </a:lnSpc>
            </a:pPr>
            <a:r>
              <a:rPr kumimoji="1" lang="en-US" altLang="zh-TW" dirty="0" err="1">
                <a:latin typeface="Times" pitchFamily="2" charset="0"/>
              </a:rPr>
              <a:t>HatBot</a:t>
            </a:r>
            <a:r>
              <a:rPr kumimoji="1" lang="en-US" altLang="zh-TW" dirty="0">
                <a:latin typeface="Times" pitchFamily="2" charset="0"/>
              </a:rPr>
              <a:t> and </a:t>
            </a:r>
            <a:r>
              <a:rPr kumimoji="1" lang="en-US" altLang="zh-TW" dirty="0" err="1">
                <a:latin typeface="Times" pitchFamily="2" charset="0"/>
              </a:rPr>
              <a:t>WTFWThat</a:t>
            </a:r>
            <a:endParaRPr kumimoji="1" lang="en-US" altLang="zh-TW" dirty="0">
              <a:latin typeface="Times" pitchFamily="2" charset="0"/>
            </a:endParaRPr>
          </a:p>
          <a:p>
            <a:pPr lvl="1">
              <a:lnSpc>
                <a:spcPct val="100000"/>
              </a:lnSpc>
            </a:pPr>
            <a:r>
              <a:rPr kumimoji="1" lang="en-US" altLang="zh-TW" dirty="0" err="1">
                <a:latin typeface="Times" pitchFamily="2" charset="0"/>
              </a:rPr>
              <a:t>FireFlower</a:t>
            </a:r>
            <a:endParaRPr kumimoji="1" lang="en-US" altLang="zh-TW"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dirty="0"/>
          </a:p>
        </p:txBody>
      </p:sp>
    </p:spTree>
    <p:extLst>
      <p:ext uri="{BB962C8B-B14F-4D97-AF65-F5344CB8AC3E}">
        <p14:creationId xmlns:p14="http://schemas.microsoft.com/office/powerpoint/2010/main" val="1417753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Actor-Critic-</a:t>
            </a:r>
            <a:r>
              <a:rPr kumimoji="1" lang="en-US" altLang="zh-TW" dirty="0" err="1">
                <a:latin typeface="Times" pitchFamily="2" charset="0"/>
              </a:rPr>
              <a:t>Hanabi</a:t>
            </a:r>
            <a:r>
              <a:rPr kumimoji="1" lang="en-US" altLang="zh-TW" dirty="0">
                <a:latin typeface="Times" pitchFamily="2" charset="0"/>
              </a:rPr>
              <a:t>-Agent</a:t>
            </a:r>
            <a:r>
              <a:rPr kumimoji="1" lang="zh-TW" altLang="en-US" dirty="0">
                <a:latin typeface="Times" pitchFamily="2" charset="0"/>
              </a:rPr>
              <a:t> </a:t>
            </a:r>
            <a:r>
              <a:rPr kumimoji="1" lang="en-US" altLang="zh-TW" dirty="0">
                <a:latin typeface="Times" pitchFamily="2" charset="0"/>
              </a:rPr>
              <a:t>(ACHA)</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dirty="0"/>
          </a:p>
        </p:txBody>
      </p:sp>
      <p:sp>
        <p:nvSpPr>
          <p:cNvPr id="21" name="文字方塊 20">
            <a:extLst>
              <a:ext uri="{FF2B5EF4-FFF2-40B4-BE49-F238E27FC236}">
                <a16:creationId xmlns:a16="http://schemas.microsoft.com/office/drawing/2014/main" id="{F05D1B4C-4473-B9E8-2C1A-43B56EFF8E9B}"/>
              </a:ext>
            </a:extLst>
          </p:cNvPr>
          <p:cNvSpPr txBox="1"/>
          <p:nvPr/>
        </p:nvSpPr>
        <p:spPr>
          <a:xfrm>
            <a:off x="838200" y="6536347"/>
            <a:ext cx="9536723" cy="276999"/>
          </a:xfrm>
          <a:prstGeom prst="rect">
            <a:avLst/>
          </a:prstGeom>
          <a:noFill/>
        </p:spPr>
        <p:txBody>
          <a:bodyPr wrap="square" rtlCol="0">
            <a:spAutoFit/>
          </a:bodyPr>
          <a:lstStyle/>
          <a:p>
            <a:r>
              <a:rPr lang="en-US" altLang="zh-TW" sz="1200" dirty="0">
                <a:solidFill>
                  <a:schemeClr val="tx1">
                    <a:lumMod val="50000"/>
                    <a:lumOff val="50000"/>
                  </a:schemeClr>
                </a:solidFill>
                <a:latin typeface="Times New Roman" panose="02020603050405020304" pitchFamily="18" charset="0"/>
                <a:cs typeface="Times New Roman" panose="02020603050405020304" pitchFamily="18" charset="0"/>
              </a:rPr>
              <a:t>Picture:</a:t>
            </a:r>
            <a:r>
              <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altLang="zh-TW" sz="1200" dirty="0">
                <a:solidFill>
                  <a:schemeClr val="tx1">
                    <a:lumMod val="50000"/>
                    <a:lumOff val="50000"/>
                  </a:schemeClr>
                </a:solidFill>
                <a:latin typeface="Times New Roman" panose="02020603050405020304" pitchFamily="18" charset="0"/>
                <a:cs typeface="Times New Roman" panose="02020603050405020304" pitchFamily="18" charset="0"/>
              </a:rPr>
              <a:t>https://</a:t>
            </a:r>
            <a:r>
              <a:rPr lang="en-US"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aemah.github.io</a:t>
            </a:r>
            <a:r>
              <a:rPr lang="en-US" altLang="zh-TW" sz="1200" dirty="0">
                <a:solidFill>
                  <a:schemeClr val="tx1">
                    <a:lumMod val="50000"/>
                    <a:lumOff val="50000"/>
                  </a:schemeClr>
                </a:solidFill>
                <a:latin typeface="Times New Roman" panose="02020603050405020304" pitchFamily="18" charset="0"/>
                <a:cs typeface="Times New Roman" panose="02020603050405020304" pitchFamily="18" charset="0"/>
              </a:rPr>
              <a:t>/2018/06/26/A3C/</a:t>
            </a:r>
            <a:endPar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pic>
        <p:nvPicPr>
          <p:cNvPr id="31" name="圖片 30" descr="一張含有 文字, 螢幕擷取畫面, 圖表, 設計 的圖片&#10;&#10;自動產生的描述">
            <a:extLst>
              <a:ext uri="{FF2B5EF4-FFF2-40B4-BE49-F238E27FC236}">
                <a16:creationId xmlns:a16="http://schemas.microsoft.com/office/drawing/2014/main" id="{9D4A7FA0-E239-BB4B-AD29-F8360C7913A5}"/>
              </a:ext>
            </a:extLst>
          </p:cNvPr>
          <p:cNvPicPr>
            <a:picLocks noChangeAspect="1"/>
          </p:cNvPicPr>
          <p:nvPr/>
        </p:nvPicPr>
        <p:blipFill>
          <a:blip r:embed="rId3"/>
          <a:stretch>
            <a:fillRect/>
          </a:stretch>
        </p:blipFill>
        <p:spPr>
          <a:xfrm>
            <a:off x="1516314" y="1482810"/>
            <a:ext cx="5123323" cy="4957518"/>
          </a:xfrm>
          <a:prstGeom prst="rect">
            <a:avLst/>
          </a:prstGeom>
        </p:spPr>
      </p:pic>
      <p:grpSp>
        <p:nvGrpSpPr>
          <p:cNvPr id="41" name="群組 40">
            <a:extLst>
              <a:ext uri="{FF2B5EF4-FFF2-40B4-BE49-F238E27FC236}">
                <a16:creationId xmlns:a16="http://schemas.microsoft.com/office/drawing/2014/main" id="{3F1AB7ED-F04E-D0EB-8180-ADFF246724A6}"/>
              </a:ext>
            </a:extLst>
          </p:cNvPr>
          <p:cNvGrpSpPr/>
          <p:nvPr/>
        </p:nvGrpSpPr>
        <p:grpSpPr>
          <a:xfrm>
            <a:off x="7532076" y="1871756"/>
            <a:ext cx="1987061" cy="3939320"/>
            <a:chOff x="8258908" y="2469516"/>
            <a:chExt cx="1723292" cy="3533066"/>
          </a:xfrm>
        </p:grpSpPr>
        <p:sp>
          <p:nvSpPr>
            <p:cNvPr id="36" name="矩形 35">
              <a:extLst>
                <a:ext uri="{FF2B5EF4-FFF2-40B4-BE49-F238E27FC236}">
                  <a16:creationId xmlns:a16="http://schemas.microsoft.com/office/drawing/2014/main" id="{42022889-3250-556D-1FF4-D15B91F778C6}"/>
                </a:ext>
              </a:extLst>
            </p:cNvPr>
            <p:cNvSpPr/>
            <p:nvPr/>
          </p:nvSpPr>
          <p:spPr>
            <a:xfrm>
              <a:off x="8258908" y="5475043"/>
              <a:ext cx="1723292" cy="52753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2000" dirty="0">
                  <a:solidFill>
                    <a:schemeClr val="tx1"/>
                  </a:solidFill>
                  <a:latin typeface="Times New Roman" panose="02020603050405020304" pitchFamily="18" charset="0"/>
                  <a:cs typeface="Times New Roman" panose="02020603050405020304" pitchFamily="18" charset="0"/>
                </a:rPr>
                <a:t>Observations</a:t>
              </a:r>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AABAB18A-FF66-30C6-2534-B33610056E77}"/>
                </a:ext>
              </a:extLst>
            </p:cNvPr>
            <p:cNvSpPr/>
            <p:nvPr/>
          </p:nvSpPr>
          <p:spPr>
            <a:xfrm>
              <a:off x="8258908" y="4590469"/>
              <a:ext cx="1723292" cy="63410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2000" dirty="0">
                  <a:solidFill>
                    <a:schemeClr val="tx1"/>
                  </a:solidFill>
                  <a:latin typeface="Times New Roman" panose="02020603050405020304" pitchFamily="18" charset="0"/>
                  <a:cs typeface="Times New Roman" panose="02020603050405020304" pitchFamily="18" charset="0"/>
                </a:rPr>
                <a:t>256-unit</a:t>
              </a:r>
            </a:p>
            <a:p>
              <a:pPr algn="ctr"/>
              <a:r>
                <a:rPr kumimoji="1" lang="en-US" altLang="zh-TW" sz="2000" dirty="0">
                  <a:solidFill>
                    <a:schemeClr val="tx1"/>
                  </a:solidFill>
                  <a:latin typeface="Times New Roman" panose="02020603050405020304" pitchFamily="18" charset="0"/>
                  <a:cs typeface="Times New Roman" panose="02020603050405020304" pitchFamily="18" charset="0"/>
                </a:rPr>
                <a:t>hidden</a:t>
              </a:r>
              <a:r>
                <a:rPr kumimoji="1" lang="zh-TW" altLang="en-US" sz="2000" dirty="0">
                  <a:solidFill>
                    <a:schemeClr val="tx1"/>
                  </a:solidFill>
                  <a:latin typeface="Times New Roman" panose="02020603050405020304" pitchFamily="18" charset="0"/>
                  <a:cs typeface="Times New Roman" panose="02020603050405020304" pitchFamily="18" charset="0"/>
                </a:rPr>
                <a:t> </a:t>
              </a:r>
              <a:r>
                <a:rPr kumimoji="1" lang="en-US" altLang="zh-TW" sz="2000" dirty="0">
                  <a:solidFill>
                    <a:schemeClr val="tx1"/>
                  </a:solidFill>
                  <a:latin typeface="Times New Roman" panose="02020603050405020304" pitchFamily="18" charset="0"/>
                  <a:cs typeface="Times New Roman" panose="02020603050405020304" pitchFamily="18" charset="0"/>
                </a:rPr>
                <a:t>layer</a:t>
              </a:r>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38" name="矩形 37">
              <a:extLst>
                <a:ext uri="{FF2B5EF4-FFF2-40B4-BE49-F238E27FC236}">
                  <a16:creationId xmlns:a16="http://schemas.microsoft.com/office/drawing/2014/main" id="{0C8BDF29-1E60-D7D1-4B33-FCAC05B0857E}"/>
                </a:ext>
              </a:extLst>
            </p:cNvPr>
            <p:cNvSpPr/>
            <p:nvPr/>
          </p:nvSpPr>
          <p:spPr>
            <a:xfrm>
              <a:off x="8258908" y="3810509"/>
              <a:ext cx="1723292" cy="63410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2000" dirty="0">
                  <a:solidFill>
                    <a:schemeClr val="tx1"/>
                  </a:solidFill>
                  <a:latin typeface="Times New Roman" panose="02020603050405020304" pitchFamily="18" charset="0"/>
                  <a:cs typeface="Times New Roman" panose="02020603050405020304" pitchFamily="18" charset="0"/>
                </a:rPr>
                <a:t>256-unit</a:t>
              </a:r>
            </a:p>
            <a:p>
              <a:pPr algn="ctr"/>
              <a:r>
                <a:rPr kumimoji="1" lang="en-US" altLang="zh-TW" sz="2000" dirty="0">
                  <a:solidFill>
                    <a:schemeClr val="tx1"/>
                  </a:solidFill>
                  <a:latin typeface="Times New Roman" panose="02020603050405020304" pitchFamily="18" charset="0"/>
                  <a:cs typeface="Times New Roman" panose="02020603050405020304" pitchFamily="18" charset="0"/>
                </a:rPr>
                <a:t>LSTM</a:t>
              </a:r>
              <a:r>
                <a:rPr kumimoji="1" lang="zh-TW" altLang="en-US" sz="2000" dirty="0">
                  <a:solidFill>
                    <a:schemeClr val="tx1"/>
                  </a:solidFill>
                  <a:latin typeface="Times New Roman" panose="02020603050405020304" pitchFamily="18" charset="0"/>
                  <a:cs typeface="Times New Roman" panose="02020603050405020304" pitchFamily="18" charset="0"/>
                </a:rPr>
                <a:t> </a:t>
              </a:r>
              <a:r>
                <a:rPr kumimoji="1" lang="en-US" altLang="zh-TW" sz="2000" dirty="0">
                  <a:solidFill>
                    <a:schemeClr val="tx1"/>
                  </a:solidFill>
                  <a:latin typeface="Times New Roman" panose="02020603050405020304" pitchFamily="18" charset="0"/>
                  <a:cs typeface="Times New Roman" panose="02020603050405020304" pitchFamily="18" charset="0"/>
                </a:rPr>
                <a:t>layer</a:t>
              </a:r>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39" name="矩形 38">
              <a:extLst>
                <a:ext uri="{FF2B5EF4-FFF2-40B4-BE49-F238E27FC236}">
                  <a16:creationId xmlns:a16="http://schemas.microsoft.com/office/drawing/2014/main" id="{7BB579AB-52B9-928D-4717-2D4B3E411DBE}"/>
                </a:ext>
              </a:extLst>
            </p:cNvPr>
            <p:cNvSpPr/>
            <p:nvPr/>
          </p:nvSpPr>
          <p:spPr>
            <a:xfrm>
              <a:off x="8258908" y="3030549"/>
              <a:ext cx="1723292" cy="634102"/>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2000" dirty="0">
                  <a:solidFill>
                    <a:schemeClr val="tx1"/>
                  </a:solidFill>
                  <a:latin typeface="Times New Roman" panose="02020603050405020304" pitchFamily="18" charset="0"/>
                  <a:cs typeface="Times New Roman" panose="02020603050405020304" pitchFamily="18" charset="0"/>
                </a:rPr>
                <a:t>256-unit</a:t>
              </a:r>
            </a:p>
            <a:p>
              <a:pPr algn="ctr"/>
              <a:r>
                <a:rPr kumimoji="1" lang="en-US" altLang="zh-TW" sz="2000" dirty="0">
                  <a:solidFill>
                    <a:schemeClr val="tx1"/>
                  </a:solidFill>
                  <a:latin typeface="Times New Roman" panose="02020603050405020304" pitchFamily="18" charset="0"/>
                  <a:cs typeface="Times New Roman" panose="02020603050405020304" pitchFamily="18" charset="0"/>
                </a:rPr>
                <a:t>LSTM</a:t>
              </a:r>
              <a:r>
                <a:rPr kumimoji="1" lang="zh-TW" altLang="en-US" sz="2000" dirty="0">
                  <a:solidFill>
                    <a:schemeClr val="tx1"/>
                  </a:solidFill>
                  <a:latin typeface="Times New Roman" panose="02020603050405020304" pitchFamily="18" charset="0"/>
                  <a:cs typeface="Times New Roman" panose="02020603050405020304" pitchFamily="18" charset="0"/>
                </a:rPr>
                <a:t> </a:t>
              </a:r>
              <a:r>
                <a:rPr kumimoji="1" lang="en-US" altLang="zh-TW" sz="2000" dirty="0">
                  <a:solidFill>
                    <a:schemeClr val="tx1"/>
                  </a:solidFill>
                  <a:latin typeface="Times New Roman" panose="02020603050405020304" pitchFamily="18" charset="0"/>
                  <a:cs typeface="Times New Roman" panose="02020603050405020304" pitchFamily="18" charset="0"/>
                </a:rPr>
                <a:t>layer</a:t>
              </a:r>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E28E644C-9925-E843-D4F2-845AD0740391}"/>
                </a:ext>
              </a:extLst>
            </p:cNvPr>
            <p:cNvSpPr/>
            <p:nvPr/>
          </p:nvSpPr>
          <p:spPr>
            <a:xfrm>
              <a:off x="8258908" y="2469516"/>
              <a:ext cx="1723292" cy="40978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2000" dirty="0" err="1">
                  <a:solidFill>
                    <a:schemeClr val="tx1"/>
                  </a:solidFill>
                  <a:latin typeface="Times New Roman" panose="02020603050405020304" pitchFamily="18" charset="0"/>
                  <a:cs typeface="Times New Roman" panose="02020603050405020304" pitchFamily="18" charset="0"/>
                </a:rPr>
                <a:t>Softmax</a:t>
              </a:r>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grpSp>
      <p:sp>
        <p:nvSpPr>
          <p:cNvPr id="43" name="文字方塊 42">
            <a:extLst>
              <a:ext uri="{FF2B5EF4-FFF2-40B4-BE49-F238E27FC236}">
                <a16:creationId xmlns:a16="http://schemas.microsoft.com/office/drawing/2014/main" id="{95367A60-78B9-E539-14BB-164B7A851679}"/>
              </a:ext>
            </a:extLst>
          </p:cNvPr>
          <p:cNvSpPr txBox="1"/>
          <p:nvPr/>
        </p:nvSpPr>
        <p:spPr>
          <a:xfrm>
            <a:off x="9982200" y="4898259"/>
            <a:ext cx="1776048" cy="1323439"/>
          </a:xfrm>
          <a:prstGeom prst="rect">
            <a:avLst/>
          </a:prstGeom>
          <a:noFill/>
        </p:spPr>
        <p:txBody>
          <a:bodyPr wrap="square">
            <a:spAutoFit/>
          </a:bodyPr>
          <a:lstStyle/>
          <a:p>
            <a:r>
              <a:rPr lang="en" altLang="zh-TW" sz="2000" dirty="0">
                <a:solidFill>
                  <a:schemeClr val="accent6">
                    <a:lumMod val="50000"/>
                  </a:schemeClr>
                </a:solidFill>
                <a:effectLst/>
                <a:latin typeface="Times New Roman" panose="02020603050405020304" pitchFamily="18" charset="0"/>
                <a:cs typeface="Times New Roman" panose="02020603050405020304" pitchFamily="18" charset="0"/>
              </a:rPr>
              <a:t>Discard</a:t>
            </a:r>
            <a:r>
              <a:rPr lang="zh-TW" altLang="en-US" sz="2000" dirty="0">
                <a:solidFill>
                  <a:schemeClr val="accent6">
                    <a:lumMod val="50000"/>
                  </a:schemeClr>
                </a:solidFill>
                <a:effectLst/>
                <a:latin typeface="Times New Roman" panose="02020603050405020304" pitchFamily="18" charset="0"/>
                <a:cs typeface="Times New Roman" panose="02020603050405020304" pitchFamily="18" charset="0"/>
              </a:rPr>
              <a:t> </a:t>
            </a:r>
            <a:r>
              <a:rPr lang="en-US" altLang="zh-TW" sz="2000" dirty="0">
                <a:solidFill>
                  <a:schemeClr val="accent6">
                    <a:lumMod val="50000"/>
                  </a:schemeClr>
                </a:solidFill>
                <a:effectLst/>
                <a:latin typeface="Times New Roman" panose="02020603050405020304" pitchFamily="18" charset="0"/>
                <a:cs typeface="Times New Roman" panose="02020603050405020304" pitchFamily="18" charset="0"/>
              </a:rPr>
              <a:t>1~5</a:t>
            </a:r>
            <a:endParaRPr lang="en" altLang="zh-TW" sz="2000" dirty="0">
              <a:solidFill>
                <a:schemeClr val="accent6">
                  <a:lumMod val="50000"/>
                </a:schemeClr>
              </a:solidFill>
              <a:effectLst/>
              <a:latin typeface="Times New Roman" panose="02020603050405020304" pitchFamily="18" charset="0"/>
              <a:cs typeface="Times New Roman" panose="02020603050405020304" pitchFamily="18" charset="0"/>
            </a:endParaRPr>
          </a:p>
          <a:p>
            <a:r>
              <a:rPr lang="en" altLang="zh-TW" sz="2000" dirty="0">
                <a:solidFill>
                  <a:schemeClr val="accent6">
                    <a:lumMod val="50000"/>
                  </a:schemeClr>
                </a:solidFill>
                <a:effectLst/>
                <a:latin typeface="Times New Roman" panose="02020603050405020304" pitchFamily="18" charset="0"/>
                <a:cs typeface="Times New Roman" panose="02020603050405020304" pitchFamily="18" charset="0"/>
              </a:rPr>
              <a:t>Play</a:t>
            </a:r>
            <a:r>
              <a:rPr lang="zh-TW" altLang="en-US" sz="2000" dirty="0">
                <a:solidFill>
                  <a:schemeClr val="accent6">
                    <a:lumMod val="50000"/>
                  </a:schemeClr>
                </a:solidFill>
                <a:effectLst/>
                <a:latin typeface="Times New Roman" panose="02020603050405020304" pitchFamily="18" charset="0"/>
                <a:cs typeface="Times New Roman" panose="02020603050405020304" pitchFamily="18" charset="0"/>
              </a:rPr>
              <a:t> </a:t>
            </a:r>
            <a:r>
              <a:rPr lang="en-US" altLang="zh-TW" sz="2000" dirty="0">
                <a:solidFill>
                  <a:schemeClr val="accent6">
                    <a:lumMod val="50000"/>
                  </a:schemeClr>
                </a:solidFill>
                <a:effectLst/>
                <a:latin typeface="Times New Roman" panose="02020603050405020304" pitchFamily="18" charset="0"/>
                <a:cs typeface="Times New Roman" panose="02020603050405020304" pitchFamily="18" charset="0"/>
              </a:rPr>
              <a:t>1~5</a:t>
            </a:r>
            <a:endParaRPr lang="en" altLang="zh-TW" sz="2000" dirty="0">
              <a:solidFill>
                <a:schemeClr val="accent6">
                  <a:lumMod val="50000"/>
                </a:schemeClr>
              </a:solidFill>
              <a:effectLst/>
              <a:latin typeface="Times New Roman" panose="02020603050405020304" pitchFamily="18" charset="0"/>
              <a:cs typeface="Times New Roman" panose="02020603050405020304" pitchFamily="18" charset="0"/>
            </a:endParaRPr>
          </a:p>
          <a:p>
            <a:r>
              <a:rPr lang="en" altLang="zh-TW" sz="2000" dirty="0">
                <a:solidFill>
                  <a:schemeClr val="accent6">
                    <a:lumMod val="50000"/>
                  </a:schemeClr>
                </a:solidFill>
                <a:effectLst/>
                <a:latin typeface="Times New Roman" panose="02020603050405020304" pitchFamily="18" charset="0"/>
                <a:cs typeface="Times New Roman" panose="02020603050405020304" pitchFamily="18" charset="0"/>
              </a:rPr>
              <a:t>Hint color</a:t>
            </a:r>
            <a:r>
              <a:rPr lang="zh-TW" altLang="en-US" sz="2000" dirty="0">
                <a:solidFill>
                  <a:schemeClr val="accent6">
                    <a:lumMod val="50000"/>
                  </a:schemeClr>
                </a:solidFill>
                <a:effectLst/>
                <a:latin typeface="Times New Roman" panose="02020603050405020304" pitchFamily="18" charset="0"/>
                <a:cs typeface="Times New Roman" panose="02020603050405020304" pitchFamily="18" charset="0"/>
              </a:rPr>
              <a:t> </a:t>
            </a:r>
            <a:r>
              <a:rPr lang="en-US" altLang="zh-TW" sz="2000" dirty="0">
                <a:solidFill>
                  <a:schemeClr val="accent6">
                    <a:lumMod val="50000"/>
                  </a:schemeClr>
                </a:solidFill>
                <a:effectLst/>
                <a:latin typeface="Times New Roman" panose="02020603050405020304" pitchFamily="18" charset="0"/>
                <a:cs typeface="Times New Roman" panose="02020603050405020304" pitchFamily="18" charset="0"/>
              </a:rPr>
              <a:t>1~5</a:t>
            </a:r>
            <a:endParaRPr lang="en" altLang="zh-TW" sz="2000" dirty="0">
              <a:solidFill>
                <a:schemeClr val="accent6">
                  <a:lumMod val="50000"/>
                </a:schemeClr>
              </a:solidFill>
              <a:latin typeface="Times New Roman" panose="02020603050405020304" pitchFamily="18" charset="0"/>
              <a:cs typeface="Times New Roman" panose="02020603050405020304" pitchFamily="18" charset="0"/>
            </a:endParaRPr>
          </a:p>
          <a:p>
            <a:r>
              <a:rPr lang="en" altLang="zh-TW" sz="2000" dirty="0">
                <a:solidFill>
                  <a:schemeClr val="accent6">
                    <a:lumMod val="50000"/>
                  </a:schemeClr>
                </a:solidFill>
                <a:effectLst/>
                <a:latin typeface="Times New Roman" panose="02020603050405020304" pitchFamily="18" charset="0"/>
                <a:cs typeface="Times New Roman" panose="02020603050405020304" pitchFamily="18" charset="0"/>
              </a:rPr>
              <a:t>Hint rank </a:t>
            </a:r>
            <a:r>
              <a:rPr lang="en-US" altLang="zh-TW" sz="2000" dirty="0">
                <a:solidFill>
                  <a:schemeClr val="accent6">
                    <a:lumMod val="50000"/>
                  </a:schemeClr>
                </a:solidFill>
                <a:effectLst/>
                <a:latin typeface="Times New Roman" panose="02020603050405020304" pitchFamily="18" charset="0"/>
                <a:cs typeface="Times New Roman" panose="02020603050405020304" pitchFamily="18" charset="0"/>
              </a:rPr>
              <a:t>1~5</a:t>
            </a:r>
            <a:endParaRPr lang="en" altLang="zh-TW" sz="2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44" name="左大括弧 43">
            <a:extLst>
              <a:ext uri="{FF2B5EF4-FFF2-40B4-BE49-F238E27FC236}">
                <a16:creationId xmlns:a16="http://schemas.microsoft.com/office/drawing/2014/main" id="{8F302C2C-2A11-446A-6CCA-02FFBE20EE20}"/>
              </a:ext>
            </a:extLst>
          </p:cNvPr>
          <p:cNvSpPr/>
          <p:nvPr/>
        </p:nvSpPr>
        <p:spPr>
          <a:xfrm>
            <a:off x="9542583" y="5079315"/>
            <a:ext cx="463063" cy="914400"/>
          </a:xfrm>
          <a:prstGeom prst="lef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cxnSp>
        <p:nvCxnSpPr>
          <p:cNvPr id="46" name="直線箭頭接點 45">
            <a:extLst>
              <a:ext uri="{FF2B5EF4-FFF2-40B4-BE49-F238E27FC236}">
                <a16:creationId xmlns:a16="http://schemas.microsoft.com/office/drawing/2014/main" id="{BD03E7EB-9E5E-A959-2CEC-995D2CEEB1BB}"/>
              </a:ext>
            </a:extLst>
          </p:cNvPr>
          <p:cNvCxnSpPr>
            <a:stCxn id="36" idx="0"/>
            <a:endCxn id="37" idx="2"/>
          </p:cNvCxnSpPr>
          <p:nvPr/>
        </p:nvCxnSpPr>
        <p:spPr>
          <a:xfrm flipV="1">
            <a:off x="8525607" y="4943604"/>
            <a:ext cx="0" cy="279273"/>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箭頭接點 46">
            <a:extLst>
              <a:ext uri="{FF2B5EF4-FFF2-40B4-BE49-F238E27FC236}">
                <a16:creationId xmlns:a16="http://schemas.microsoft.com/office/drawing/2014/main" id="{BD9D3F2A-6CEE-49E5-274E-7B6CC588AFB2}"/>
              </a:ext>
            </a:extLst>
          </p:cNvPr>
          <p:cNvCxnSpPr>
            <a:cxnSpLocks/>
            <a:stCxn id="37" idx="0"/>
            <a:endCxn id="38" idx="2"/>
          </p:cNvCxnSpPr>
          <p:nvPr/>
        </p:nvCxnSpPr>
        <p:spPr>
          <a:xfrm flipV="1">
            <a:off x="8525607" y="4073960"/>
            <a:ext cx="0" cy="162629"/>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箭頭接點 49">
            <a:extLst>
              <a:ext uri="{FF2B5EF4-FFF2-40B4-BE49-F238E27FC236}">
                <a16:creationId xmlns:a16="http://schemas.microsoft.com/office/drawing/2014/main" id="{9942EE11-C18A-5C1B-BBE6-887B626FDDAC}"/>
              </a:ext>
            </a:extLst>
          </p:cNvPr>
          <p:cNvCxnSpPr>
            <a:cxnSpLocks/>
            <a:stCxn id="38" idx="0"/>
            <a:endCxn id="39" idx="2"/>
          </p:cNvCxnSpPr>
          <p:nvPr/>
        </p:nvCxnSpPr>
        <p:spPr>
          <a:xfrm flipV="1">
            <a:off x="8525607" y="3204315"/>
            <a:ext cx="0" cy="16263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箭頭接點 52">
            <a:extLst>
              <a:ext uri="{FF2B5EF4-FFF2-40B4-BE49-F238E27FC236}">
                <a16:creationId xmlns:a16="http://schemas.microsoft.com/office/drawing/2014/main" id="{5AC8F186-1F26-7559-2160-CCBE42DE2841}"/>
              </a:ext>
            </a:extLst>
          </p:cNvPr>
          <p:cNvCxnSpPr>
            <a:cxnSpLocks/>
            <a:stCxn id="39" idx="0"/>
            <a:endCxn id="40" idx="2"/>
          </p:cNvCxnSpPr>
          <p:nvPr/>
        </p:nvCxnSpPr>
        <p:spPr>
          <a:xfrm flipV="1">
            <a:off x="8525607" y="2328655"/>
            <a:ext cx="0" cy="168645"/>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3276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a:extLst>
              <a:ext uri="{FF2B5EF4-FFF2-40B4-BE49-F238E27FC236}">
                <a16:creationId xmlns:a16="http://schemas.microsoft.com/office/drawing/2014/main" id="{5262C08D-BEB5-6A4E-04E8-874E87A28D9D}"/>
              </a:ext>
            </a:extLst>
          </p:cNvPr>
          <p:cNvSpPr>
            <a:spLocks noGrp="1"/>
          </p:cNvSpPr>
          <p:nvPr>
            <p:ph idx="1"/>
          </p:nvPr>
        </p:nvSpPr>
        <p:spPr>
          <a:xfrm>
            <a:off x="838200" y="1825625"/>
            <a:ext cx="3073616" cy="4351338"/>
          </a:xfrm>
        </p:spPr>
        <p:txBody>
          <a:bodyPr/>
          <a:lstStyle/>
          <a:p>
            <a:r>
              <a:rPr lang="en" altLang="zh-TW" dirty="0">
                <a:latin typeface="Times New Roman" panose="02020603050405020304" pitchFamily="18" charset="0"/>
                <a:cs typeface="Times New Roman" panose="02020603050405020304" pitchFamily="18" charset="0"/>
              </a:rPr>
              <a:t>20 billion steps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dirty="0"/>
          </a:p>
        </p:txBody>
      </p:sp>
      <p:grpSp>
        <p:nvGrpSpPr>
          <p:cNvPr id="34" name="群組 33">
            <a:extLst>
              <a:ext uri="{FF2B5EF4-FFF2-40B4-BE49-F238E27FC236}">
                <a16:creationId xmlns:a16="http://schemas.microsoft.com/office/drawing/2014/main" id="{65C767AF-D4AB-FE5F-6DDE-D39292664365}"/>
              </a:ext>
            </a:extLst>
          </p:cNvPr>
          <p:cNvGrpSpPr/>
          <p:nvPr/>
        </p:nvGrpSpPr>
        <p:grpSpPr>
          <a:xfrm>
            <a:off x="4306862" y="237881"/>
            <a:ext cx="6651892" cy="6382237"/>
            <a:chOff x="2437884" y="236614"/>
            <a:chExt cx="6651892" cy="6382237"/>
          </a:xfrm>
        </p:grpSpPr>
        <p:grpSp>
          <p:nvGrpSpPr>
            <p:cNvPr id="19" name="群組 18">
              <a:extLst>
                <a:ext uri="{FF2B5EF4-FFF2-40B4-BE49-F238E27FC236}">
                  <a16:creationId xmlns:a16="http://schemas.microsoft.com/office/drawing/2014/main" id="{2E01D763-650E-DFE3-2065-FDF48EDAC97C}"/>
                </a:ext>
              </a:extLst>
            </p:cNvPr>
            <p:cNvGrpSpPr/>
            <p:nvPr/>
          </p:nvGrpSpPr>
          <p:grpSpPr>
            <a:xfrm>
              <a:off x="2437884" y="236614"/>
              <a:ext cx="6651892" cy="3212483"/>
              <a:chOff x="101553" y="3763691"/>
              <a:chExt cx="5967811" cy="2553845"/>
            </a:xfrm>
          </p:grpSpPr>
          <p:pic>
            <p:nvPicPr>
              <p:cNvPr id="6" name="圖片 5" descr="一張含有 繪圖, 文字, 行, 螢幕擷取畫面 的圖片&#10;&#10;自動產生的描述">
                <a:extLst>
                  <a:ext uri="{FF2B5EF4-FFF2-40B4-BE49-F238E27FC236}">
                    <a16:creationId xmlns:a16="http://schemas.microsoft.com/office/drawing/2014/main" id="{6E74CCB0-372A-948F-DB45-850A051FCDE9}"/>
                  </a:ext>
                </a:extLst>
              </p:cNvPr>
              <p:cNvPicPr>
                <a:picLocks noChangeAspect="1"/>
              </p:cNvPicPr>
              <p:nvPr/>
            </p:nvPicPr>
            <p:blipFill>
              <a:blip r:embed="rId3"/>
              <a:stretch>
                <a:fillRect/>
              </a:stretch>
            </p:blipFill>
            <p:spPr>
              <a:xfrm>
                <a:off x="101553" y="3763691"/>
                <a:ext cx="2959471" cy="2548209"/>
              </a:xfrm>
              <a:prstGeom prst="rect">
                <a:avLst/>
              </a:prstGeom>
            </p:spPr>
          </p:pic>
          <p:pic>
            <p:nvPicPr>
              <p:cNvPr id="12" name="圖片 11" descr="一張含有 文字, 行, 繪圖, 螢幕擷取畫面 的圖片&#10;&#10;自動產生的描述">
                <a:extLst>
                  <a:ext uri="{FF2B5EF4-FFF2-40B4-BE49-F238E27FC236}">
                    <a16:creationId xmlns:a16="http://schemas.microsoft.com/office/drawing/2014/main" id="{CA378DA9-F56C-6498-62FC-E7CF983FF3EF}"/>
                  </a:ext>
                </a:extLst>
              </p:cNvPr>
              <p:cNvPicPr>
                <a:picLocks noChangeAspect="1"/>
              </p:cNvPicPr>
              <p:nvPr/>
            </p:nvPicPr>
            <p:blipFill>
              <a:blip r:embed="rId4"/>
              <a:stretch>
                <a:fillRect/>
              </a:stretch>
            </p:blipFill>
            <p:spPr>
              <a:xfrm>
                <a:off x="3061024" y="3765706"/>
                <a:ext cx="2959471" cy="2551830"/>
              </a:xfrm>
              <a:prstGeom prst="rect">
                <a:avLst/>
              </a:prstGeom>
            </p:spPr>
          </p:pic>
          <p:sp>
            <p:nvSpPr>
              <p:cNvPr id="13" name="文字方塊 12">
                <a:extLst>
                  <a:ext uri="{FF2B5EF4-FFF2-40B4-BE49-F238E27FC236}">
                    <a16:creationId xmlns:a16="http://schemas.microsoft.com/office/drawing/2014/main" id="{1ABB0989-6801-552D-B64C-A4F822AA68D5}"/>
                  </a:ext>
                </a:extLst>
              </p:cNvPr>
              <p:cNvSpPr txBox="1"/>
              <p:nvPr/>
            </p:nvSpPr>
            <p:spPr>
              <a:xfrm>
                <a:off x="1073189" y="5618683"/>
                <a:ext cx="1316322" cy="369332"/>
              </a:xfrm>
              <a:prstGeom prst="rect">
                <a:avLst/>
              </a:prstGeom>
              <a:noFill/>
            </p:spPr>
            <p:txBody>
              <a:bodyPr wrap="none" rtlCol="0">
                <a:spAutoFit/>
              </a:bodyPr>
              <a:lstStyle/>
              <a:p>
                <a:pPr algn="ctr"/>
                <a:r>
                  <a:rPr kumimoji="1" lang="en-US" altLang="zh-TW" dirty="0">
                    <a:latin typeface="Times New Roman" panose="02020603050405020304" pitchFamily="18" charset="0"/>
                    <a:cs typeface="Times New Roman" panose="02020603050405020304" pitchFamily="18" charset="0"/>
                  </a:rPr>
                  <a:t>Two</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players</a:t>
                </a:r>
                <a:endParaRPr kumimoji="1"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4891C0DE-4606-B015-3AAD-F1B0730B1C2A}"/>
                  </a:ext>
                </a:extLst>
              </p:cNvPr>
              <p:cNvSpPr txBox="1"/>
              <p:nvPr/>
            </p:nvSpPr>
            <p:spPr>
              <a:xfrm>
                <a:off x="3966905" y="5618683"/>
                <a:ext cx="1447832" cy="369332"/>
              </a:xfrm>
              <a:prstGeom prst="rect">
                <a:avLst/>
              </a:prstGeom>
              <a:noFill/>
            </p:spPr>
            <p:txBody>
              <a:bodyPr wrap="none" rtlCol="0">
                <a:spAutoFit/>
              </a:bodyPr>
              <a:lstStyle/>
              <a:p>
                <a:pPr algn="ctr"/>
                <a:r>
                  <a:rPr kumimoji="1" lang="en-US" altLang="zh-TW" dirty="0">
                    <a:latin typeface="Times New Roman" panose="02020603050405020304" pitchFamily="18" charset="0"/>
                    <a:cs typeface="Times New Roman" panose="02020603050405020304" pitchFamily="18" charset="0"/>
                  </a:rPr>
                  <a:t>Three</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players</a:t>
                </a:r>
                <a:endParaRPr kumimoji="1" lang="zh-TW" altLang="en-US" dirty="0">
                  <a:latin typeface="Times New Roman" panose="02020603050405020304" pitchFamily="18" charset="0"/>
                  <a:cs typeface="Times New Roman" panose="02020603050405020304" pitchFamily="18" charset="0"/>
                </a:endParaRPr>
              </a:p>
            </p:txBody>
          </p:sp>
          <p:cxnSp>
            <p:nvCxnSpPr>
              <p:cNvPr id="18" name="直線接點 17">
                <a:extLst>
                  <a:ext uri="{FF2B5EF4-FFF2-40B4-BE49-F238E27FC236}">
                    <a16:creationId xmlns:a16="http://schemas.microsoft.com/office/drawing/2014/main" id="{B4F3F32A-1E2F-9AF2-4D73-14B04B8D8055}"/>
                  </a:ext>
                </a:extLst>
              </p:cNvPr>
              <p:cNvCxnSpPr>
                <a:cxnSpLocks/>
              </p:cNvCxnSpPr>
              <p:nvPr/>
            </p:nvCxnSpPr>
            <p:spPr>
              <a:xfrm>
                <a:off x="217708" y="4297562"/>
                <a:ext cx="5851656" cy="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7" name="群組 16">
              <a:extLst>
                <a:ext uri="{FF2B5EF4-FFF2-40B4-BE49-F238E27FC236}">
                  <a16:creationId xmlns:a16="http://schemas.microsoft.com/office/drawing/2014/main" id="{690865C0-7544-0358-B43B-F8EA775D72A0}"/>
                </a:ext>
              </a:extLst>
            </p:cNvPr>
            <p:cNvGrpSpPr/>
            <p:nvPr/>
          </p:nvGrpSpPr>
          <p:grpSpPr>
            <a:xfrm>
              <a:off x="2492354" y="3529036"/>
              <a:ext cx="6597422" cy="3089815"/>
              <a:chOff x="6020495" y="3732306"/>
              <a:chExt cx="6071858" cy="2621337"/>
            </a:xfrm>
          </p:grpSpPr>
          <p:pic>
            <p:nvPicPr>
              <p:cNvPr id="21" name="圖片 20" descr="一張含有 行, 圖表, 繪圖, 螢幕擷取畫面 的圖片&#10;&#10;自動產生的描述">
                <a:extLst>
                  <a:ext uri="{FF2B5EF4-FFF2-40B4-BE49-F238E27FC236}">
                    <a16:creationId xmlns:a16="http://schemas.microsoft.com/office/drawing/2014/main" id="{2D791C47-5E1B-C45E-0580-50A0EFED2875}"/>
                  </a:ext>
                </a:extLst>
              </p:cNvPr>
              <p:cNvPicPr>
                <a:picLocks noChangeAspect="1"/>
              </p:cNvPicPr>
              <p:nvPr/>
            </p:nvPicPr>
            <p:blipFill>
              <a:blip r:embed="rId5"/>
              <a:stretch>
                <a:fillRect/>
              </a:stretch>
            </p:blipFill>
            <p:spPr>
              <a:xfrm>
                <a:off x="9015046" y="3732306"/>
                <a:ext cx="3077307" cy="2618630"/>
              </a:xfrm>
              <a:prstGeom prst="rect">
                <a:avLst/>
              </a:prstGeom>
            </p:spPr>
          </p:pic>
          <p:pic>
            <p:nvPicPr>
              <p:cNvPr id="22" name="圖片 21" descr="一張含有 繪圖, 圖表, 文字, 行 的圖片&#10;&#10;自動產生的描述">
                <a:extLst>
                  <a:ext uri="{FF2B5EF4-FFF2-40B4-BE49-F238E27FC236}">
                    <a16:creationId xmlns:a16="http://schemas.microsoft.com/office/drawing/2014/main" id="{07F962A2-3C39-FD3B-4575-AF2C6838EB41}"/>
                  </a:ext>
                </a:extLst>
              </p:cNvPr>
              <p:cNvPicPr>
                <a:picLocks noChangeAspect="1"/>
              </p:cNvPicPr>
              <p:nvPr/>
            </p:nvPicPr>
            <p:blipFill>
              <a:blip r:embed="rId6"/>
              <a:stretch>
                <a:fillRect/>
              </a:stretch>
            </p:blipFill>
            <p:spPr>
              <a:xfrm>
                <a:off x="6020495" y="3739616"/>
                <a:ext cx="2994551" cy="2614027"/>
              </a:xfrm>
              <a:prstGeom prst="rect">
                <a:avLst/>
              </a:prstGeom>
            </p:spPr>
          </p:pic>
          <p:sp>
            <p:nvSpPr>
              <p:cNvPr id="26" name="文字方塊 25">
                <a:extLst>
                  <a:ext uri="{FF2B5EF4-FFF2-40B4-BE49-F238E27FC236}">
                    <a16:creationId xmlns:a16="http://schemas.microsoft.com/office/drawing/2014/main" id="{E03AD346-1C9E-DE02-8297-F183158AE5C1}"/>
                  </a:ext>
                </a:extLst>
              </p:cNvPr>
              <p:cNvSpPr txBox="1"/>
              <p:nvPr/>
            </p:nvSpPr>
            <p:spPr>
              <a:xfrm>
                <a:off x="6984229" y="5622189"/>
                <a:ext cx="1345240" cy="369332"/>
              </a:xfrm>
              <a:prstGeom prst="rect">
                <a:avLst/>
              </a:prstGeom>
              <a:noFill/>
            </p:spPr>
            <p:txBody>
              <a:bodyPr wrap="none" rtlCol="0">
                <a:spAutoFit/>
              </a:bodyPr>
              <a:lstStyle/>
              <a:p>
                <a:pPr algn="ctr"/>
                <a:r>
                  <a:rPr kumimoji="1" lang="en-US" altLang="zh-TW" dirty="0">
                    <a:latin typeface="Times New Roman" panose="02020603050405020304" pitchFamily="18" charset="0"/>
                    <a:cs typeface="Times New Roman" panose="02020603050405020304" pitchFamily="18" charset="0"/>
                  </a:rPr>
                  <a:t>Four</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players</a:t>
                </a:r>
                <a:endParaRPr kumimoji="1" lang="zh-TW" altLang="en-US" dirty="0">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894AF9FE-599E-7D70-506E-3F41A9B6EC93}"/>
                  </a:ext>
                </a:extLst>
              </p:cNvPr>
              <p:cNvSpPr txBox="1"/>
              <p:nvPr/>
            </p:nvSpPr>
            <p:spPr>
              <a:xfrm>
                <a:off x="10035844" y="5618683"/>
                <a:ext cx="1319592" cy="369332"/>
              </a:xfrm>
              <a:prstGeom prst="rect">
                <a:avLst/>
              </a:prstGeom>
              <a:noFill/>
            </p:spPr>
            <p:txBody>
              <a:bodyPr wrap="none" rtlCol="0">
                <a:spAutoFit/>
              </a:bodyPr>
              <a:lstStyle/>
              <a:p>
                <a:pPr algn="ctr"/>
                <a:r>
                  <a:rPr kumimoji="1" lang="en-US" altLang="zh-TW" dirty="0">
                    <a:latin typeface="Times New Roman" panose="02020603050405020304" pitchFamily="18" charset="0"/>
                    <a:cs typeface="Times New Roman" panose="02020603050405020304" pitchFamily="18" charset="0"/>
                  </a:rPr>
                  <a:t>Five</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players</a:t>
                </a:r>
                <a:endParaRPr kumimoji="1" lang="zh-TW" altLang="en-US" dirty="0">
                  <a:latin typeface="Times New Roman" panose="02020603050405020304" pitchFamily="18" charset="0"/>
                  <a:cs typeface="Times New Roman" panose="02020603050405020304" pitchFamily="18" charset="0"/>
                </a:endParaRPr>
              </a:p>
            </p:txBody>
          </p:sp>
          <p:cxnSp>
            <p:nvCxnSpPr>
              <p:cNvPr id="28" name="直線接點 27">
                <a:extLst>
                  <a:ext uri="{FF2B5EF4-FFF2-40B4-BE49-F238E27FC236}">
                    <a16:creationId xmlns:a16="http://schemas.microsoft.com/office/drawing/2014/main" id="{02BC0B71-17AC-C5A3-783F-061949F5B780}"/>
                  </a:ext>
                </a:extLst>
              </p:cNvPr>
              <p:cNvCxnSpPr>
                <a:cxnSpLocks/>
              </p:cNvCxnSpPr>
              <p:nvPr/>
            </p:nvCxnSpPr>
            <p:spPr>
              <a:xfrm>
                <a:off x="6020495" y="4278923"/>
                <a:ext cx="6071858" cy="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grpSp>
      <p:sp>
        <p:nvSpPr>
          <p:cNvPr id="5" name="文字方塊 4">
            <a:extLst>
              <a:ext uri="{FF2B5EF4-FFF2-40B4-BE49-F238E27FC236}">
                <a16:creationId xmlns:a16="http://schemas.microsoft.com/office/drawing/2014/main" id="{F448920A-ECE3-2232-ED12-5A47C06E77B3}"/>
              </a:ext>
            </a:extLst>
          </p:cNvPr>
          <p:cNvSpPr txBox="1"/>
          <p:nvPr/>
        </p:nvSpPr>
        <p:spPr>
          <a:xfrm>
            <a:off x="5691823" y="963690"/>
            <a:ext cx="1859280" cy="400094"/>
          </a:xfrm>
          <a:prstGeom prst="rect">
            <a:avLst/>
          </a:prstGeom>
          <a:noFill/>
        </p:spPr>
        <p:txBody>
          <a:bodyPr wrap="square">
            <a:spAutoFit/>
          </a:bodyPr>
          <a:lstStyle/>
          <a:p>
            <a:r>
              <a:rPr lang="en" altLang="zh-TW" sz="2000" dirty="0">
                <a:solidFill>
                  <a:srgbClr val="C00000"/>
                </a:solidFill>
                <a:latin typeface="Times New Roman" panose="02020603050405020304" pitchFamily="18" charset="0"/>
                <a:cs typeface="Times New Roman" panose="02020603050405020304" pitchFamily="18" charset="0"/>
              </a:rPr>
              <a:t>A</a:t>
            </a:r>
            <a:r>
              <a:rPr lang="zh-TW" altLang="en-US" sz="2000" dirty="0">
                <a:solidFill>
                  <a:srgbClr val="C00000"/>
                </a:solidFill>
                <a:latin typeface="Times New Roman" panose="02020603050405020304" pitchFamily="18" charset="0"/>
                <a:cs typeface="Times New Roman" panose="02020603050405020304" pitchFamily="18" charset="0"/>
              </a:rPr>
              <a:t>mateur </a:t>
            </a:r>
            <a:r>
              <a:rPr lang="en-US" altLang="zh-TW" sz="2000" dirty="0">
                <a:solidFill>
                  <a:srgbClr val="C00000"/>
                </a:solidFill>
                <a:latin typeface="Times New Roman" panose="02020603050405020304" pitchFamily="18" charset="0"/>
                <a:cs typeface="Times New Roman" panose="02020603050405020304" pitchFamily="18" charset="0"/>
              </a:rPr>
              <a:t>player</a:t>
            </a:r>
            <a:endParaRPr lang="zh-TW" altLang="en-US" sz="20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5207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Rainbow-Agent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p:txBody>
          <a:bodyPr>
            <a:normAutofit/>
          </a:bodyPr>
          <a:lstStyle/>
          <a:p>
            <a:pPr>
              <a:lnSpc>
                <a:spcPct val="100000"/>
              </a:lnSpc>
            </a:pPr>
            <a:r>
              <a:rPr kumimoji="1" lang="en-US" altLang="zh-TW" dirty="0">
                <a:latin typeface="Times" pitchFamily="2" charset="0"/>
              </a:rPr>
              <a:t>Deep Q-Networks algorithm</a:t>
            </a:r>
            <a:r>
              <a:rPr kumimoji="1" lang="zh-TW" altLang="en-US" dirty="0">
                <a:latin typeface="Times" pitchFamily="2" charset="0"/>
              </a:rPr>
              <a:t> </a:t>
            </a:r>
            <a:r>
              <a:rPr kumimoji="1" lang="en-US" altLang="zh-TW" dirty="0">
                <a:latin typeface="Times" pitchFamily="2" charset="0"/>
              </a:rPr>
              <a:t>(DQN).</a:t>
            </a: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dirty="0"/>
          </a:p>
        </p:txBody>
      </p:sp>
      <p:pic>
        <p:nvPicPr>
          <p:cNvPr id="31" name="圖片 30" descr="一張含有 文字, 圖表, 行, 白色 的圖片&#10;&#10;自動產生的描述">
            <a:extLst>
              <a:ext uri="{FF2B5EF4-FFF2-40B4-BE49-F238E27FC236}">
                <a16:creationId xmlns:a16="http://schemas.microsoft.com/office/drawing/2014/main" id="{A9E62703-4130-6CCF-6D03-1CED6E250830}"/>
              </a:ext>
            </a:extLst>
          </p:cNvPr>
          <p:cNvPicPr>
            <a:picLocks noChangeAspect="1"/>
          </p:cNvPicPr>
          <p:nvPr/>
        </p:nvPicPr>
        <p:blipFill>
          <a:blip r:embed="rId3"/>
          <a:stretch>
            <a:fillRect/>
          </a:stretch>
        </p:blipFill>
        <p:spPr>
          <a:xfrm>
            <a:off x="2209800" y="2505137"/>
            <a:ext cx="7772400" cy="3671826"/>
          </a:xfrm>
          <a:prstGeom prst="rect">
            <a:avLst/>
          </a:prstGeom>
        </p:spPr>
      </p:pic>
      <p:sp>
        <p:nvSpPr>
          <p:cNvPr id="33" name="文字方塊 32">
            <a:extLst>
              <a:ext uri="{FF2B5EF4-FFF2-40B4-BE49-F238E27FC236}">
                <a16:creationId xmlns:a16="http://schemas.microsoft.com/office/drawing/2014/main" id="{6618F8BD-4971-67FD-FDAA-C63A57A9C080}"/>
              </a:ext>
            </a:extLst>
          </p:cNvPr>
          <p:cNvSpPr txBox="1"/>
          <p:nvPr/>
        </p:nvSpPr>
        <p:spPr>
          <a:xfrm>
            <a:off x="838200" y="6538912"/>
            <a:ext cx="9571891" cy="276999"/>
          </a:xfrm>
          <a:prstGeom prst="rect">
            <a:avLst/>
          </a:prstGeom>
          <a:noFill/>
        </p:spPr>
        <p:txBody>
          <a:bodyPr wrap="square">
            <a:spAutoFit/>
          </a:bodyPr>
          <a:lstStyle/>
          <a:p>
            <a:r>
              <a:rPr lang="en-US" altLang="zh-TW" sz="1200" b="0" i="0" u="none" strike="noStrike" dirty="0">
                <a:solidFill>
                  <a:srgbClr val="606870"/>
                </a:solidFill>
                <a:effectLst/>
                <a:latin typeface="Times New Roman" panose="02020603050405020304" pitchFamily="18" charset="0"/>
                <a:cs typeface="Times New Roman" panose="02020603050405020304" pitchFamily="18" charset="0"/>
              </a:rPr>
              <a:t>Picture:</a:t>
            </a:r>
            <a:r>
              <a:rPr lang="zh-TW" altLang="en-US" sz="1200" b="0" i="0" u="none" strike="noStrike" dirty="0">
                <a:solidFill>
                  <a:srgbClr val="606870"/>
                </a:solidFill>
                <a:effectLst/>
                <a:latin typeface="Times New Roman" panose="02020603050405020304" pitchFamily="18" charset="0"/>
                <a:cs typeface="Times New Roman" panose="02020603050405020304" pitchFamily="18" charset="0"/>
              </a:rPr>
              <a:t> </a:t>
            </a:r>
            <a:r>
              <a:rPr lang="en" altLang="zh-TW" sz="1200" b="0" i="0" u="none" strike="noStrike" dirty="0">
                <a:solidFill>
                  <a:srgbClr val="606870"/>
                </a:solidFill>
                <a:effectLst/>
                <a:latin typeface="Times New Roman" panose="02020603050405020304" pitchFamily="18" charset="0"/>
                <a:cs typeface="Times New Roman" panose="02020603050405020304" pitchFamily="18" charset="0"/>
              </a:rPr>
              <a:t>https://</a:t>
            </a:r>
            <a:r>
              <a:rPr lang="en" altLang="zh-TW" sz="1200" b="0" i="0" u="none" strike="noStrike" dirty="0" err="1">
                <a:solidFill>
                  <a:srgbClr val="606870"/>
                </a:solidFill>
                <a:effectLst/>
                <a:latin typeface="Times New Roman" panose="02020603050405020304" pitchFamily="18" charset="0"/>
                <a:cs typeface="Times New Roman" panose="02020603050405020304" pitchFamily="18" charset="0"/>
              </a:rPr>
              <a:t>towardsdatascience.com</a:t>
            </a:r>
            <a:r>
              <a:rPr lang="en" altLang="zh-TW" sz="1200" b="0" i="0" u="none" strike="noStrike" dirty="0">
                <a:solidFill>
                  <a:srgbClr val="606870"/>
                </a:solidFill>
                <a:effectLst/>
                <a:latin typeface="Times New Roman" panose="02020603050405020304" pitchFamily="18" charset="0"/>
                <a:cs typeface="Times New Roman" panose="02020603050405020304" pitchFamily="18" charset="0"/>
              </a:rPr>
              <a:t>/using-deep-q-learning-in-fifa-18-to-perfect-the-art-of-free-kicks-f2e4e979ee66</a:t>
            </a:r>
            <a:endParaRPr lang="zh-TW" altLang="en-US" sz="1200" dirty="0">
              <a:latin typeface="Times New Roman" panose="02020603050405020304" pitchFamily="18" charset="0"/>
              <a:cs typeface="Times New Roman" panose="02020603050405020304" pitchFamily="18" charset="0"/>
            </a:endParaRPr>
          </a:p>
        </p:txBody>
      </p:sp>
      <p:sp>
        <p:nvSpPr>
          <p:cNvPr id="34" name="文字方塊 33">
            <a:extLst>
              <a:ext uri="{FF2B5EF4-FFF2-40B4-BE49-F238E27FC236}">
                <a16:creationId xmlns:a16="http://schemas.microsoft.com/office/drawing/2014/main" id="{7F0D6FE8-6718-5C54-0EDE-CF2137458078}"/>
              </a:ext>
            </a:extLst>
          </p:cNvPr>
          <p:cNvSpPr txBox="1"/>
          <p:nvPr/>
        </p:nvSpPr>
        <p:spPr>
          <a:xfrm>
            <a:off x="8150470" y="1825625"/>
            <a:ext cx="3663459" cy="707886"/>
          </a:xfrm>
          <a:prstGeom prst="rect">
            <a:avLst/>
          </a:prstGeom>
          <a:noFill/>
        </p:spPr>
        <p:txBody>
          <a:bodyPr wrap="square">
            <a:spAutoFit/>
          </a:bodyPr>
          <a:lstStyle/>
          <a:p>
            <a:r>
              <a:rPr lang="en-US" altLang="zh-TW" sz="2000" dirty="0">
                <a:solidFill>
                  <a:schemeClr val="accent6">
                    <a:lumMod val="50000"/>
                  </a:schemeClr>
                </a:solidFill>
                <a:latin typeface="Times New Roman" panose="02020603050405020304" pitchFamily="18" charset="0"/>
                <a:cs typeface="Times New Roman" panose="02020603050405020304" pitchFamily="18" charset="0"/>
              </a:rPr>
              <a:t>Q(s,</a:t>
            </a:r>
            <a:r>
              <a:rPr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lang="en-US" altLang="zh-TW" sz="2000" dirty="0">
                <a:solidFill>
                  <a:schemeClr val="accent6">
                    <a:lumMod val="50000"/>
                  </a:schemeClr>
                </a:solidFill>
                <a:latin typeface="Times New Roman" panose="02020603050405020304" pitchFamily="18" charset="0"/>
                <a:cs typeface="Times New Roman" panose="02020603050405020304" pitchFamily="18" charset="0"/>
              </a:rPr>
              <a:t>a):</a:t>
            </a:r>
            <a:r>
              <a:rPr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lang="en-US" altLang="zh-TW" sz="2000" dirty="0">
                <a:solidFill>
                  <a:schemeClr val="accent6">
                    <a:lumMod val="50000"/>
                  </a:schemeClr>
                </a:solidFill>
                <a:latin typeface="Times New Roman" panose="02020603050405020304" pitchFamily="18" charset="0"/>
                <a:cs typeface="Times New Roman" panose="02020603050405020304" pitchFamily="18" charset="0"/>
              </a:rPr>
              <a:t>T</a:t>
            </a:r>
            <a:r>
              <a:rPr lang="en" altLang="zh-TW" sz="2000" b="0" i="0" u="none" strike="noStrike" dirty="0">
                <a:solidFill>
                  <a:schemeClr val="accent6">
                    <a:lumMod val="50000"/>
                  </a:schemeClr>
                </a:solidFill>
                <a:effectLst/>
                <a:latin typeface="Times New Roman" panose="02020603050405020304" pitchFamily="18" charset="0"/>
                <a:cs typeface="Times New Roman" panose="02020603050405020304" pitchFamily="18" charset="0"/>
              </a:rPr>
              <a:t>he </a:t>
            </a:r>
            <a:r>
              <a:rPr lang="en-US" altLang="zh-TW" sz="2000" b="0" i="0" u="none" strike="noStrike" dirty="0">
                <a:solidFill>
                  <a:schemeClr val="accent6">
                    <a:lumMod val="50000"/>
                  </a:schemeClr>
                </a:solidFill>
                <a:effectLst/>
                <a:latin typeface="Times New Roman" panose="02020603050405020304" pitchFamily="18" charset="0"/>
                <a:cs typeface="Times New Roman" panose="02020603050405020304" pitchFamily="18" charset="0"/>
              </a:rPr>
              <a:t>expected</a:t>
            </a:r>
            <a:r>
              <a:rPr lang="zh-TW" altLang="en-US" sz="2000" b="0" i="0" u="none" strike="noStrike" dirty="0">
                <a:solidFill>
                  <a:schemeClr val="accent6">
                    <a:lumMod val="50000"/>
                  </a:schemeClr>
                </a:solidFill>
                <a:effectLst/>
                <a:latin typeface="Times New Roman" panose="02020603050405020304" pitchFamily="18" charset="0"/>
                <a:cs typeface="Times New Roman" panose="02020603050405020304" pitchFamily="18" charset="0"/>
              </a:rPr>
              <a:t> </a:t>
            </a:r>
            <a:r>
              <a:rPr lang="en" altLang="zh-TW" sz="2000" b="0" i="0" u="none" strike="noStrike" dirty="0">
                <a:solidFill>
                  <a:schemeClr val="accent6">
                    <a:lumMod val="50000"/>
                  </a:schemeClr>
                </a:solidFill>
                <a:effectLst/>
                <a:latin typeface="Times New Roman" panose="02020603050405020304" pitchFamily="18" charset="0"/>
                <a:cs typeface="Times New Roman" panose="02020603050405020304" pitchFamily="18" charset="0"/>
              </a:rPr>
              <a:t>value of an action in a particular state.</a:t>
            </a:r>
            <a:endParaRPr lang="zh-TW" altLang="en-US" sz="2000" dirty="0">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829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err="1">
                <a:latin typeface="Times" pitchFamily="2" charset="0"/>
              </a:rPr>
              <a:t>HatBot</a:t>
            </a:r>
            <a:endParaRPr kumimoji="1" lang="zh-TW" altLang="en-US" dirty="0">
              <a:latin typeface="Times" pitchFamily="2" charset="0"/>
            </a:endParaRPr>
          </a:p>
        </p:txBody>
      </p:sp>
      <p:pic>
        <p:nvPicPr>
          <p:cNvPr id="6" name="內容版面配置區 5">
            <a:extLst>
              <a:ext uri="{FF2B5EF4-FFF2-40B4-BE49-F238E27FC236}">
                <a16:creationId xmlns:a16="http://schemas.microsoft.com/office/drawing/2014/main" id="{08585F41-2611-D83F-746C-8CB94EEF7D26}"/>
              </a:ext>
            </a:extLst>
          </p:cNvPr>
          <p:cNvPicPr>
            <a:picLocks noGrp="1" noChangeAspect="1"/>
          </p:cNvPicPr>
          <p:nvPr>
            <p:ph idx="1"/>
          </p:nvPr>
        </p:nvPicPr>
        <p:blipFill>
          <a:blip r:embed="rId3"/>
          <a:stretch>
            <a:fillRect/>
          </a:stretch>
        </p:blipFill>
        <p:spPr>
          <a:xfrm>
            <a:off x="2062443" y="1751670"/>
            <a:ext cx="8067114" cy="4604680"/>
          </a:xfrm>
        </p:spPr>
      </p:pic>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dirty="0"/>
          </a:p>
        </p:txBody>
      </p:sp>
      <p:sp>
        <p:nvSpPr>
          <p:cNvPr id="8" name="文字方塊 7">
            <a:extLst>
              <a:ext uri="{FF2B5EF4-FFF2-40B4-BE49-F238E27FC236}">
                <a16:creationId xmlns:a16="http://schemas.microsoft.com/office/drawing/2014/main" id="{35F3B3ED-2054-DB17-E354-DD239C3614A7}"/>
              </a:ext>
            </a:extLst>
          </p:cNvPr>
          <p:cNvSpPr txBox="1"/>
          <p:nvPr/>
        </p:nvSpPr>
        <p:spPr>
          <a:xfrm>
            <a:off x="621323" y="6555845"/>
            <a:ext cx="5228492" cy="276999"/>
          </a:xfrm>
          <a:prstGeom prst="rect">
            <a:avLst/>
          </a:prstGeom>
          <a:noFill/>
        </p:spPr>
        <p:txBody>
          <a:bodyPr wrap="square">
            <a:spAutoFit/>
          </a:bodyPr>
          <a:lstStyle/>
          <a:p>
            <a:r>
              <a:rPr lang="en-US" altLang="zh-TW" sz="1200" dirty="0">
                <a:solidFill>
                  <a:schemeClr val="tx1">
                    <a:lumMod val="50000"/>
                    <a:lumOff val="50000"/>
                  </a:schemeClr>
                </a:solidFill>
                <a:latin typeface="Times New Roman" panose="02020603050405020304" pitchFamily="18" charset="0"/>
                <a:cs typeface="Times New Roman" panose="02020603050405020304" pitchFamily="18" charset="0"/>
              </a:rPr>
              <a:t>Picture:</a:t>
            </a:r>
            <a:r>
              <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rPr>
              <a:t> https://www.youtube.com/watch?v=N5vJSNXPEwA</a:t>
            </a:r>
          </a:p>
        </p:txBody>
      </p:sp>
      <p:sp>
        <p:nvSpPr>
          <p:cNvPr id="9" name="文字方塊 8">
            <a:extLst>
              <a:ext uri="{FF2B5EF4-FFF2-40B4-BE49-F238E27FC236}">
                <a16:creationId xmlns:a16="http://schemas.microsoft.com/office/drawing/2014/main" id="{6B8DF914-8648-6E7C-1902-857D1BD84ED8}"/>
              </a:ext>
            </a:extLst>
          </p:cNvPr>
          <p:cNvSpPr txBox="1"/>
          <p:nvPr/>
        </p:nvSpPr>
        <p:spPr>
          <a:xfrm>
            <a:off x="8174324" y="1910861"/>
            <a:ext cx="1711570" cy="523220"/>
          </a:xfrm>
          <a:prstGeom prst="rect">
            <a:avLst/>
          </a:prstGeom>
          <a:noFill/>
        </p:spPr>
        <p:txBody>
          <a:bodyPr wrap="square" rtlCol="0">
            <a:spAutoFit/>
          </a:bodyPr>
          <a:lstStyle/>
          <a:p>
            <a:r>
              <a:rPr kumimoji="1" lang="en-US" altLang="zh-TW" sz="2800" dirty="0">
                <a:latin typeface="Times New Roman" panose="02020603050405020304" pitchFamily="18" charset="0"/>
                <a:cs typeface="Times New Roman" panose="02020603050405020304" pitchFamily="18" charset="0"/>
              </a:rPr>
              <a:t>Hat</a:t>
            </a:r>
            <a:r>
              <a:rPr kumimoji="1" lang="zh-TW" altLang="en-US" sz="2800" dirty="0">
                <a:latin typeface="Times New Roman" panose="02020603050405020304" pitchFamily="18" charset="0"/>
                <a:cs typeface="Times New Roman" panose="02020603050405020304" pitchFamily="18" charset="0"/>
              </a:rPr>
              <a:t> </a:t>
            </a:r>
            <a:r>
              <a:rPr kumimoji="1" lang="en-US" altLang="zh-TW" sz="2800" dirty="0">
                <a:latin typeface="Times New Roman" panose="02020603050405020304" pitchFamily="18" charset="0"/>
                <a:cs typeface="Times New Roman" panose="02020603050405020304" pitchFamily="18" charset="0"/>
              </a:rPr>
              <a:t>puzzle</a:t>
            </a:r>
            <a:endParaRPr kumimoji="1" lang="zh-TW" altLang="en-US" sz="2800" dirty="0">
              <a:latin typeface="Times New Roman" panose="02020603050405020304" pitchFamily="18" charset="0"/>
              <a:cs typeface="Times New Roman" panose="02020603050405020304" pitchFamily="18" charset="0"/>
            </a:endParaRPr>
          </a:p>
        </p:txBody>
      </p:sp>
      <p:sp>
        <p:nvSpPr>
          <p:cNvPr id="11" name="橢圓圖說文字 10">
            <a:extLst>
              <a:ext uri="{FF2B5EF4-FFF2-40B4-BE49-F238E27FC236}">
                <a16:creationId xmlns:a16="http://schemas.microsoft.com/office/drawing/2014/main" id="{4CAF8234-A155-57FB-B9D3-2AD1A1B9E112}"/>
              </a:ext>
            </a:extLst>
          </p:cNvPr>
          <p:cNvSpPr/>
          <p:nvPr/>
        </p:nvSpPr>
        <p:spPr>
          <a:xfrm>
            <a:off x="3648401" y="2110847"/>
            <a:ext cx="1298738" cy="523220"/>
          </a:xfrm>
          <a:custGeom>
            <a:avLst/>
            <a:gdLst>
              <a:gd name="connsiteX0" fmla="*/ 90197 w 1298738"/>
              <a:gd name="connsiteY0" fmla="*/ 867671 h 523220"/>
              <a:gd name="connsiteX1" fmla="*/ 311138 w 1298738"/>
              <a:gd name="connsiteY1" fmla="*/ 484931 h 523220"/>
              <a:gd name="connsiteX2" fmla="*/ 427953 w 1298738"/>
              <a:gd name="connsiteY2" fmla="*/ 15677 h 523220"/>
              <a:gd name="connsiteX3" fmla="*/ 853647 w 1298738"/>
              <a:gd name="connsiteY3" fmla="*/ 13281 h 523220"/>
              <a:gd name="connsiteX4" fmla="*/ 1012192 w 1298738"/>
              <a:gd name="connsiteY4" fmla="*/ 478575 h 523220"/>
              <a:gd name="connsiteX5" fmla="*/ 543422 w 1298738"/>
              <a:gd name="connsiteY5" fmla="*/ 519714 h 523220"/>
              <a:gd name="connsiteX6" fmla="*/ 90197 w 1298738"/>
              <a:gd name="connsiteY6" fmla="*/ 867671 h 52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8738" h="523220" fill="none" extrusionOk="0">
                <a:moveTo>
                  <a:pt x="90197" y="867671"/>
                </a:moveTo>
                <a:cubicBezTo>
                  <a:pt x="189678" y="733365"/>
                  <a:pt x="241005" y="610152"/>
                  <a:pt x="311138" y="484931"/>
                </a:cubicBezTo>
                <a:cubicBezTo>
                  <a:pt x="-146548" y="420380"/>
                  <a:pt x="-135257" y="87551"/>
                  <a:pt x="427953" y="15677"/>
                </a:cubicBezTo>
                <a:cubicBezTo>
                  <a:pt x="576936" y="-36687"/>
                  <a:pt x="719320" y="7858"/>
                  <a:pt x="853647" y="13281"/>
                </a:cubicBezTo>
                <a:cubicBezTo>
                  <a:pt x="1413051" y="34851"/>
                  <a:pt x="1471614" y="349386"/>
                  <a:pt x="1012192" y="478575"/>
                </a:cubicBezTo>
                <a:cubicBezTo>
                  <a:pt x="862627" y="512803"/>
                  <a:pt x="709331" y="527698"/>
                  <a:pt x="543422" y="519714"/>
                </a:cubicBezTo>
                <a:cubicBezTo>
                  <a:pt x="326474" y="674722"/>
                  <a:pt x="271718" y="760622"/>
                  <a:pt x="90197" y="867671"/>
                </a:cubicBezTo>
                <a:close/>
              </a:path>
              <a:path w="1298738" h="523220" stroke="0" extrusionOk="0">
                <a:moveTo>
                  <a:pt x="90197" y="867671"/>
                </a:moveTo>
                <a:cubicBezTo>
                  <a:pt x="154801" y="768714"/>
                  <a:pt x="237807" y="624636"/>
                  <a:pt x="311138" y="484931"/>
                </a:cubicBezTo>
                <a:cubicBezTo>
                  <a:pt x="-133133" y="374734"/>
                  <a:pt x="-96893" y="35140"/>
                  <a:pt x="427953" y="15677"/>
                </a:cubicBezTo>
                <a:cubicBezTo>
                  <a:pt x="541807" y="-22127"/>
                  <a:pt x="700769" y="24224"/>
                  <a:pt x="853647" y="13281"/>
                </a:cubicBezTo>
                <a:cubicBezTo>
                  <a:pt x="1366148" y="117036"/>
                  <a:pt x="1444714" y="309293"/>
                  <a:pt x="1012192" y="478575"/>
                </a:cubicBezTo>
                <a:cubicBezTo>
                  <a:pt x="883023" y="485091"/>
                  <a:pt x="691448" y="520423"/>
                  <a:pt x="543422" y="519714"/>
                </a:cubicBezTo>
                <a:cubicBezTo>
                  <a:pt x="416293" y="628027"/>
                  <a:pt x="202110" y="788045"/>
                  <a:pt x="90197" y="867671"/>
                </a:cubicBezTo>
                <a:close/>
              </a:path>
            </a:pathLst>
          </a:custGeom>
          <a:solidFill>
            <a:schemeClr val="bg1"/>
          </a:solidFill>
          <a:ln>
            <a:solidFill>
              <a:schemeClr val="bg1"/>
            </a:solidFill>
            <a:extLst>
              <a:ext uri="{C807C97D-BFC1-408E-A445-0C87EB9F89A2}">
                <ask:lineSketchStyleProps xmlns:ask="http://schemas.microsoft.com/office/drawing/2018/sketchyshapes" sd="1219033472">
                  <a:prstGeom prst="wedgeEllipseCallout">
                    <a:avLst>
                      <a:gd name="adj1" fmla="val -43055"/>
                      <a:gd name="adj2" fmla="val 115833"/>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latin typeface="Times New Roman" panose="02020603050405020304" pitchFamily="18" charset="0"/>
                <a:cs typeface="Times New Roman" panose="02020603050405020304" pitchFamily="18" charset="0"/>
              </a:rPr>
              <a:t>Black</a:t>
            </a:r>
            <a:endParaRPr kumimoji="1" lang="zh-TW"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540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6">
            <a:extLst>
              <a:ext uri="{FF2B5EF4-FFF2-40B4-BE49-F238E27FC236}">
                <a16:creationId xmlns:a16="http://schemas.microsoft.com/office/drawing/2014/main" id="{30D7BF06-4950-280F-11D0-72B20E5936CE}"/>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5 players</a:t>
            </a:r>
            <a:r>
              <a:rPr lang="en-US" altLang="zh-TW" dirty="0">
                <a:latin typeface="Times New Roman" panose="02020603050405020304" pitchFamily="18" charset="0"/>
                <a:cs typeface="Times New Roman" panose="02020603050405020304" pitchFamily="18" charset="0"/>
              </a:rPr>
              <a:t>:</a:t>
            </a:r>
            <a:r>
              <a:rPr lang="en" altLang="zh-TW" dirty="0">
                <a:latin typeface="Times New Roman" panose="02020603050405020304" pitchFamily="18" charset="0"/>
                <a:cs typeface="Times New Roman" panose="02020603050405020304" pitchFamily="18" charset="0"/>
              </a:rPr>
              <a:t> P</a:t>
            </a:r>
            <a:r>
              <a:rPr lang="en" altLang="zh-TW" baseline="-25000" dirty="0">
                <a:latin typeface="Times New Roman" panose="02020603050405020304" pitchFamily="18" charset="0"/>
                <a:cs typeface="Times New Roman" panose="02020603050405020304" pitchFamily="18" charset="0"/>
              </a:rPr>
              <a:t>1</a:t>
            </a:r>
            <a:r>
              <a:rPr lang="en" altLang="zh-TW" dirty="0">
                <a:latin typeface="Times New Roman" panose="02020603050405020304" pitchFamily="18" charset="0"/>
                <a:cs typeface="Times New Roman" panose="02020603050405020304" pitchFamily="18" charset="0"/>
              </a:rPr>
              <a:t>, P</a:t>
            </a:r>
            <a:r>
              <a:rPr lang="en" altLang="zh-TW" baseline="-25000" dirty="0">
                <a:latin typeface="Times New Roman" panose="02020603050405020304" pitchFamily="18" charset="0"/>
                <a:cs typeface="Times New Roman" panose="02020603050405020304" pitchFamily="18" charset="0"/>
              </a:rPr>
              <a:t>2</a:t>
            </a:r>
            <a:r>
              <a:rPr lang="en" altLang="zh-TW" dirty="0">
                <a:latin typeface="Times New Roman" panose="02020603050405020304" pitchFamily="18" charset="0"/>
                <a:cs typeface="Times New Roman" panose="02020603050405020304" pitchFamily="18" charset="0"/>
              </a:rPr>
              <a:t>, ..., P</a:t>
            </a:r>
            <a:r>
              <a:rPr lang="en" altLang="zh-TW" baseline="-25000" dirty="0">
                <a:latin typeface="Times New Roman" panose="02020603050405020304" pitchFamily="18" charset="0"/>
                <a:cs typeface="Times New Roman" panose="02020603050405020304" pitchFamily="18" charset="0"/>
              </a:rPr>
              <a:t>5</a:t>
            </a:r>
            <a:r>
              <a:rPr lang="en" altLang="zh-TW" dirty="0">
                <a:latin typeface="Times New Roman" panose="02020603050405020304" pitchFamily="18" charset="0"/>
                <a:cs typeface="Times New Roman" panose="02020603050405020304" pitchFamily="18" charset="0"/>
              </a:rPr>
              <a:t>.</a:t>
            </a:r>
          </a:p>
          <a:p>
            <a:r>
              <a:rPr lang="en" altLang="zh-TW" dirty="0">
                <a:latin typeface="Times New Roman" panose="02020603050405020304" pitchFamily="18" charset="0"/>
                <a:cs typeface="Times New Roman" panose="02020603050405020304" pitchFamily="18" charset="0"/>
              </a:rPr>
              <a:t>8 different “color hat” : 0, 1, ..., 7.</a:t>
            </a:r>
          </a:p>
          <a:p>
            <a:r>
              <a:rPr lang="en-US" altLang="zh-TW" dirty="0">
                <a:latin typeface="Times New Roman" panose="02020603050405020304" pitchFamily="18" charset="0"/>
                <a:cs typeface="Times New Roman" panose="02020603050405020304" pitchFamily="18" charset="0"/>
              </a:rPr>
              <a:t>Player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Player</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P</a:t>
            </a:r>
            <a:r>
              <a:rPr lang="en" altLang="zh-TW" baseline="-25000" dirty="0">
                <a:latin typeface="Times New Roman" panose="02020603050405020304" pitchFamily="18" charset="0"/>
                <a:cs typeface="Times New Roman" panose="02020603050405020304" pitchFamily="18" charset="0"/>
              </a:rPr>
              <a:t>i</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i</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&gt;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a:t>
            </a:r>
            <a:endParaRPr lang="en" altLang="zh-TW"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a:latin typeface="Times" pitchFamily="2" charset="0"/>
              </a:rPr>
              <a:t>Multiple color hat guessing game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15</a:t>
            </a:fld>
            <a:endParaRPr kumimoji="1" lang="zh-TW" altLang="en-US" dirty="0"/>
          </a:p>
        </p:txBody>
      </p:sp>
      <p:sp>
        <p:nvSpPr>
          <p:cNvPr id="3" name="文字方塊 2">
            <a:extLst>
              <a:ext uri="{FF2B5EF4-FFF2-40B4-BE49-F238E27FC236}">
                <a16:creationId xmlns:a16="http://schemas.microsoft.com/office/drawing/2014/main" id="{D0F66B9E-9305-0AEE-8C75-E12FA79412E5}"/>
              </a:ext>
            </a:extLst>
          </p:cNvPr>
          <p:cNvSpPr txBox="1"/>
          <p:nvPr/>
        </p:nvSpPr>
        <p:spPr>
          <a:xfrm>
            <a:off x="609598" y="6356350"/>
            <a:ext cx="10152185" cy="461665"/>
          </a:xfrm>
          <a:prstGeom prst="rect">
            <a:avLst/>
          </a:prstGeom>
          <a:noFill/>
        </p:spPr>
        <p:txBody>
          <a:bodyPr wrap="square">
            <a:spAutoFit/>
          </a:bodyPr>
          <a:lstStyle/>
          <a:p>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Cox, C., De Silva, J.,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Deorsey</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P.,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Kenter</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F. H.,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Retter</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T., &amp; Tobin, J. (2015). How to make the perfect fireworks display: Two strategies for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hanabi</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Mathematics Magazine, 88(5), 323-336.</a:t>
            </a:r>
            <a:endPar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pic>
        <p:nvPicPr>
          <p:cNvPr id="12" name="圖片 11" descr="一張含有 字型, 白色, 圖形, 文字 的圖片&#10;&#10;自動產生的描述">
            <a:extLst>
              <a:ext uri="{FF2B5EF4-FFF2-40B4-BE49-F238E27FC236}">
                <a16:creationId xmlns:a16="http://schemas.microsoft.com/office/drawing/2014/main" id="{4465BC18-5BBB-F65F-1107-5E1A30CE9720}"/>
              </a:ext>
            </a:extLst>
          </p:cNvPr>
          <p:cNvPicPr>
            <a:picLocks noChangeAspect="1"/>
          </p:cNvPicPr>
          <p:nvPr/>
        </p:nvPicPr>
        <p:blipFill>
          <a:blip r:embed="rId3"/>
          <a:stretch>
            <a:fillRect/>
          </a:stretch>
        </p:blipFill>
        <p:spPr>
          <a:xfrm>
            <a:off x="2541953" y="3429000"/>
            <a:ext cx="2184400" cy="723900"/>
          </a:xfrm>
          <a:prstGeom prst="rect">
            <a:avLst/>
          </a:prstGeom>
        </p:spPr>
      </p:pic>
      <p:pic>
        <p:nvPicPr>
          <p:cNvPr id="14" name="圖片 13" descr="一張含有 字型, 文字, 白色, 筆跡 的圖片&#10;&#10;自動產生的描述">
            <a:extLst>
              <a:ext uri="{FF2B5EF4-FFF2-40B4-BE49-F238E27FC236}">
                <a16:creationId xmlns:a16="http://schemas.microsoft.com/office/drawing/2014/main" id="{1F361DE6-8CBA-410F-B041-7139FAA08178}"/>
              </a:ext>
            </a:extLst>
          </p:cNvPr>
          <p:cNvPicPr>
            <a:picLocks noChangeAspect="1"/>
          </p:cNvPicPr>
          <p:nvPr/>
        </p:nvPicPr>
        <p:blipFill rotWithShape="1">
          <a:blip r:embed="rId4"/>
          <a:srcRect r="1528"/>
          <a:stretch/>
        </p:blipFill>
        <p:spPr>
          <a:xfrm>
            <a:off x="2541953" y="5247298"/>
            <a:ext cx="2738803" cy="736600"/>
          </a:xfrm>
          <a:prstGeom prst="rect">
            <a:avLst/>
          </a:prstGeom>
        </p:spPr>
      </p:pic>
      <p:sp>
        <p:nvSpPr>
          <p:cNvPr id="17" name="文字方塊 16">
            <a:extLst>
              <a:ext uri="{FF2B5EF4-FFF2-40B4-BE49-F238E27FC236}">
                <a16:creationId xmlns:a16="http://schemas.microsoft.com/office/drawing/2014/main" id="{FA531233-7B40-3966-E8B5-A8F127FD21E3}"/>
              </a:ext>
            </a:extLst>
          </p:cNvPr>
          <p:cNvSpPr txBox="1"/>
          <p:nvPr/>
        </p:nvSpPr>
        <p:spPr>
          <a:xfrm>
            <a:off x="7624883" y="5996496"/>
            <a:ext cx="3359640" cy="246221"/>
          </a:xfrm>
          <a:prstGeom prst="rect">
            <a:avLst/>
          </a:prstGeom>
          <a:noFill/>
        </p:spPr>
        <p:txBody>
          <a:bodyPr wrap="square">
            <a:spAutoFit/>
          </a:bodyPr>
          <a:lstStyle/>
          <a:p>
            <a:r>
              <a:rPr lang="en-US" altLang="zh-TW" sz="1000" dirty="0">
                <a:solidFill>
                  <a:schemeClr val="tx1">
                    <a:lumMod val="50000"/>
                    <a:lumOff val="50000"/>
                  </a:schemeClr>
                </a:solidFill>
                <a:latin typeface="Times New Roman" panose="02020603050405020304" pitchFamily="18" charset="0"/>
                <a:cs typeface="Times New Roman" panose="02020603050405020304" pitchFamily="18" charset="0"/>
              </a:rPr>
              <a:t>Picture:</a:t>
            </a:r>
            <a:r>
              <a:rPr lang="zh-TW" altLang="en-US" sz="1000" dirty="0">
                <a:solidFill>
                  <a:schemeClr val="tx1">
                    <a:lumMod val="50000"/>
                    <a:lumOff val="50000"/>
                  </a:schemeClr>
                </a:solidFill>
                <a:latin typeface="Times New Roman" panose="02020603050405020304" pitchFamily="18" charset="0"/>
                <a:cs typeface="Times New Roman" panose="02020603050405020304" pitchFamily="18" charset="0"/>
              </a:rPr>
              <a:t> https://www.youtube.com/watch?v=N5vJSNXPEwA</a:t>
            </a:r>
          </a:p>
        </p:txBody>
      </p:sp>
      <p:grpSp>
        <p:nvGrpSpPr>
          <p:cNvPr id="25" name="群組 24">
            <a:extLst>
              <a:ext uri="{FF2B5EF4-FFF2-40B4-BE49-F238E27FC236}">
                <a16:creationId xmlns:a16="http://schemas.microsoft.com/office/drawing/2014/main" id="{5908B271-E975-93B1-4909-55474EF7C0DA}"/>
              </a:ext>
            </a:extLst>
          </p:cNvPr>
          <p:cNvGrpSpPr/>
          <p:nvPr/>
        </p:nvGrpSpPr>
        <p:grpSpPr>
          <a:xfrm>
            <a:off x="7465649" y="1825625"/>
            <a:ext cx="4004409" cy="4158273"/>
            <a:chOff x="7624883" y="2720387"/>
            <a:chExt cx="3136900" cy="3263511"/>
          </a:xfrm>
        </p:grpSpPr>
        <p:pic>
          <p:nvPicPr>
            <p:cNvPr id="16" name="圖片 15" descr="一張含有 藝術, 圖解 的圖片&#10;&#10;描述是以中可信度自動產生">
              <a:extLst>
                <a:ext uri="{FF2B5EF4-FFF2-40B4-BE49-F238E27FC236}">
                  <a16:creationId xmlns:a16="http://schemas.microsoft.com/office/drawing/2014/main" id="{D4B3FE15-72AB-D11A-9AC9-B86E4D79757A}"/>
                </a:ext>
              </a:extLst>
            </p:cNvPr>
            <p:cNvPicPr>
              <a:picLocks noChangeAspect="1"/>
            </p:cNvPicPr>
            <p:nvPr/>
          </p:nvPicPr>
          <p:blipFill>
            <a:blip r:embed="rId5"/>
            <a:stretch>
              <a:fillRect/>
            </a:stretch>
          </p:blipFill>
          <p:spPr>
            <a:xfrm>
              <a:off x="7624883" y="3240698"/>
              <a:ext cx="3136900" cy="2743200"/>
            </a:xfrm>
            <a:prstGeom prst="rect">
              <a:avLst/>
            </a:prstGeom>
          </p:spPr>
        </p:pic>
        <p:sp>
          <p:nvSpPr>
            <p:cNvPr id="18" name="文字方塊 17">
              <a:extLst>
                <a:ext uri="{FF2B5EF4-FFF2-40B4-BE49-F238E27FC236}">
                  <a16:creationId xmlns:a16="http://schemas.microsoft.com/office/drawing/2014/main" id="{65CE7470-DC5B-CC18-826F-6EF696C270FC}"/>
                </a:ext>
              </a:extLst>
            </p:cNvPr>
            <p:cNvSpPr txBox="1"/>
            <p:nvPr/>
          </p:nvSpPr>
          <p:spPr>
            <a:xfrm>
              <a:off x="10234247" y="4381465"/>
              <a:ext cx="285302" cy="410635"/>
            </a:xfrm>
            <a:prstGeom prst="rect">
              <a:avLst/>
            </a:prstGeom>
            <a:noFill/>
          </p:spPr>
          <p:txBody>
            <a:bodyPr wrap="none" rtlCol="0">
              <a:spAutoFit/>
            </a:bodyPr>
            <a:lstStyle/>
            <a:p>
              <a:r>
                <a:rPr kumimoji="1" lang="en-US" altLang="zh-TW" sz="2800" b="1" dirty="0">
                  <a:solidFill>
                    <a:schemeClr val="accent6">
                      <a:lumMod val="75000"/>
                    </a:schemeClr>
                  </a:solidFill>
                  <a:latin typeface="Times New Roman" panose="02020603050405020304" pitchFamily="18" charset="0"/>
                  <a:cs typeface="Times New Roman" panose="02020603050405020304" pitchFamily="18" charset="0"/>
                </a:rPr>
                <a:t>4</a:t>
              </a:r>
              <a:endParaRPr kumimoji="1" lang="zh-TW" altLang="en-US" sz="28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AB84E0EF-C228-3DE0-1265-C1894C343309}"/>
                </a:ext>
              </a:extLst>
            </p:cNvPr>
            <p:cNvSpPr txBox="1"/>
            <p:nvPr/>
          </p:nvSpPr>
          <p:spPr>
            <a:xfrm>
              <a:off x="9638593" y="4150632"/>
              <a:ext cx="285302" cy="410635"/>
            </a:xfrm>
            <a:prstGeom prst="rect">
              <a:avLst/>
            </a:prstGeom>
            <a:noFill/>
          </p:spPr>
          <p:txBody>
            <a:bodyPr wrap="none" rtlCol="0">
              <a:spAutoFit/>
            </a:bodyPr>
            <a:lstStyle/>
            <a:p>
              <a:r>
                <a:rPr kumimoji="1" lang="en-US" altLang="zh-TW" sz="2800" b="1" dirty="0">
                  <a:solidFill>
                    <a:schemeClr val="accent5">
                      <a:lumMod val="75000"/>
                    </a:schemeClr>
                  </a:solidFill>
                  <a:latin typeface="Times New Roman" panose="02020603050405020304" pitchFamily="18" charset="0"/>
                  <a:cs typeface="Times New Roman" panose="02020603050405020304" pitchFamily="18" charset="0"/>
                </a:rPr>
                <a:t>5</a:t>
              </a:r>
              <a:endParaRPr kumimoji="1" lang="zh-TW" altLang="en-US" sz="28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752E381D-28A8-C093-5AE8-FE9971FF5BD8}"/>
                </a:ext>
              </a:extLst>
            </p:cNvPr>
            <p:cNvSpPr txBox="1"/>
            <p:nvPr/>
          </p:nvSpPr>
          <p:spPr>
            <a:xfrm>
              <a:off x="9024056" y="3790950"/>
              <a:ext cx="285302" cy="410635"/>
            </a:xfrm>
            <a:prstGeom prst="rect">
              <a:avLst/>
            </a:prstGeom>
            <a:noFill/>
          </p:spPr>
          <p:txBody>
            <a:bodyPr wrap="none" rtlCol="0">
              <a:spAutoFit/>
            </a:bodyPr>
            <a:lstStyle/>
            <a:p>
              <a:r>
                <a:rPr kumimoji="1" lang="en-US" altLang="zh-TW" sz="2800" b="1" dirty="0">
                  <a:solidFill>
                    <a:srgbClr val="FF0000"/>
                  </a:solidFill>
                  <a:latin typeface="Times New Roman" panose="02020603050405020304" pitchFamily="18" charset="0"/>
                  <a:cs typeface="Times New Roman" panose="02020603050405020304" pitchFamily="18" charset="0"/>
                </a:rPr>
                <a:t>1</a:t>
              </a:r>
              <a:endParaRPr kumimoji="1" lang="zh-TW" altLang="en-US" sz="2800" b="1" dirty="0">
                <a:solidFill>
                  <a:srgbClr val="FF0000"/>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1DD6340D-46DA-9FF9-7C07-18FA2F1CD061}"/>
                </a:ext>
              </a:extLst>
            </p:cNvPr>
            <p:cNvSpPr txBox="1"/>
            <p:nvPr/>
          </p:nvSpPr>
          <p:spPr>
            <a:xfrm>
              <a:off x="8392524" y="3560117"/>
              <a:ext cx="285302" cy="410635"/>
            </a:xfrm>
            <a:prstGeom prst="rect">
              <a:avLst/>
            </a:prstGeom>
            <a:noFill/>
          </p:spPr>
          <p:txBody>
            <a:bodyPr wrap="none" rtlCol="0">
              <a:spAutoFit/>
            </a:bodyPr>
            <a:lstStyle/>
            <a:p>
              <a:r>
                <a:rPr kumimoji="1" lang="en-US" altLang="zh-TW" sz="2800" b="1" dirty="0">
                  <a:solidFill>
                    <a:schemeClr val="accent4">
                      <a:lumMod val="75000"/>
                    </a:schemeClr>
                  </a:solidFill>
                  <a:latin typeface="Times New Roman" panose="02020603050405020304" pitchFamily="18" charset="0"/>
                  <a:cs typeface="Times New Roman" panose="02020603050405020304" pitchFamily="18" charset="0"/>
                </a:rPr>
                <a:t>3</a:t>
              </a:r>
              <a:endParaRPr kumimoji="1" lang="zh-TW" altLang="en-US" sz="2800"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23" name="橢圓圖說文字 22">
              <a:extLst>
                <a:ext uri="{FF2B5EF4-FFF2-40B4-BE49-F238E27FC236}">
                  <a16:creationId xmlns:a16="http://schemas.microsoft.com/office/drawing/2014/main" id="{A6C1D116-0C1E-4CA5-98E0-C7D0FB027A61}"/>
                </a:ext>
              </a:extLst>
            </p:cNvPr>
            <p:cNvSpPr/>
            <p:nvPr/>
          </p:nvSpPr>
          <p:spPr>
            <a:xfrm>
              <a:off x="7823248" y="2720387"/>
              <a:ext cx="738553" cy="461595"/>
            </a:xfrm>
            <a:prstGeom prst="wedgeEllipseCallout">
              <a:avLst>
                <a:gd name="adj1" fmla="val -43055"/>
                <a:gd name="adj2" fmla="val 11583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2800" b="1" dirty="0">
                  <a:solidFill>
                    <a:schemeClr val="tx1"/>
                  </a:solidFill>
                  <a:latin typeface="Times New Roman" panose="02020603050405020304" pitchFamily="18" charset="0"/>
                  <a:cs typeface="Times New Roman" panose="02020603050405020304" pitchFamily="18" charset="0"/>
                </a:rPr>
                <a:t>5</a:t>
              </a:r>
              <a:endParaRPr kumimoji="1" lang="zh-TW" altLang="en-US" sz="2800" b="1" dirty="0">
                <a:solidFill>
                  <a:schemeClr val="tx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291459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16</a:t>
            </a:fld>
            <a:endParaRPr kumimoji="1" lang="zh-TW" altLang="en-US" dirty="0"/>
          </a:p>
        </p:txBody>
      </p:sp>
      <p:sp>
        <p:nvSpPr>
          <p:cNvPr id="8" name="文字方塊 7">
            <a:extLst>
              <a:ext uri="{FF2B5EF4-FFF2-40B4-BE49-F238E27FC236}">
                <a16:creationId xmlns:a16="http://schemas.microsoft.com/office/drawing/2014/main" id="{35F3B3ED-2054-DB17-E354-DD239C3614A7}"/>
              </a:ext>
            </a:extLst>
          </p:cNvPr>
          <p:cNvSpPr txBox="1"/>
          <p:nvPr/>
        </p:nvSpPr>
        <p:spPr>
          <a:xfrm>
            <a:off x="609598" y="6356350"/>
            <a:ext cx="10152185" cy="461665"/>
          </a:xfrm>
          <a:prstGeom prst="rect">
            <a:avLst/>
          </a:prstGeom>
          <a:noFill/>
        </p:spPr>
        <p:txBody>
          <a:bodyPr wrap="square">
            <a:spAutoFit/>
          </a:bodyPr>
          <a:lstStyle/>
          <a:p>
            <a:r>
              <a:rPr lang="en-US" altLang="zh-TW" sz="1200" dirty="0">
                <a:solidFill>
                  <a:schemeClr val="tx1">
                    <a:lumMod val="50000"/>
                    <a:lumOff val="50000"/>
                  </a:schemeClr>
                </a:solidFill>
                <a:latin typeface="Times New Roman" panose="02020603050405020304" pitchFamily="18" charset="0"/>
                <a:cs typeface="Times New Roman" panose="02020603050405020304" pitchFamily="18" charset="0"/>
              </a:rPr>
              <a:t>Picture:</a:t>
            </a:r>
            <a:r>
              <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Cox, C., De Silva, J.,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Deorsey</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P.,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Kenter</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F. H.,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Retter</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T., &amp; Tobin, J. (2015). How to make the perfect fireworks display: Two strategies for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hanabi</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Mathematics Magazine, 88(5), 323-336.</a:t>
            </a:r>
            <a:endPar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6B8DF914-8648-6E7C-1902-857D1BD84ED8}"/>
              </a:ext>
            </a:extLst>
          </p:cNvPr>
          <p:cNvSpPr txBox="1"/>
          <p:nvPr/>
        </p:nvSpPr>
        <p:spPr>
          <a:xfrm>
            <a:off x="8174324" y="1910861"/>
            <a:ext cx="1711570" cy="523220"/>
          </a:xfrm>
          <a:prstGeom prst="rect">
            <a:avLst/>
          </a:prstGeom>
          <a:noFill/>
        </p:spPr>
        <p:txBody>
          <a:bodyPr wrap="square" rtlCol="0">
            <a:spAutoFit/>
          </a:bodyPr>
          <a:lstStyle/>
          <a:p>
            <a:r>
              <a:rPr kumimoji="1" lang="en-US" altLang="zh-TW" sz="2800" dirty="0">
                <a:latin typeface="Times New Roman" panose="02020603050405020304" pitchFamily="18" charset="0"/>
                <a:cs typeface="Times New Roman" panose="02020603050405020304" pitchFamily="18" charset="0"/>
              </a:rPr>
              <a:t>Hat</a:t>
            </a:r>
            <a:r>
              <a:rPr kumimoji="1" lang="zh-TW" altLang="en-US" sz="2800" dirty="0">
                <a:latin typeface="Times New Roman" panose="02020603050405020304" pitchFamily="18" charset="0"/>
                <a:cs typeface="Times New Roman" panose="02020603050405020304" pitchFamily="18" charset="0"/>
              </a:rPr>
              <a:t> </a:t>
            </a:r>
            <a:r>
              <a:rPr kumimoji="1" lang="en-US" altLang="zh-TW" sz="2800" dirty="0">
                <a:latin typeface="Times New Roman" panose="02020603050405020304" pitchFamily="18" charset="0"/>
                <a:cs typeface="Times New Roman" panose="02020603050405020304" pitchFamily="18" charset="0"/>
              </a:rPr>
              <a:t>puzzle</a:t>
            </a:r>
            <a:endParaRPr kumimoji="1" lang="zh-TW" altLang="en-US" sz="2800" dirty="0">
              <a:latin typeface="Times New Roman" panose="02020603050405020304" pitchFamily="18" charset="0"/>
              <a:cs typeface="Times New Roman" panose="02020603050405020304" pitchFamily="18" charset="0"/>
            </a:endParaRPr>
          </a:p>
        </p:txBody>
      </p:sp>
      <p:pic>
        <p:nvPicPr>
          <p:cNvPr id="5" name="圖片 4" descr="一張含有 文字, 螢幕擷取畫面, 設計 的圖片&#10;&#10;自動產生的描述">
            <a:extLst>
              <a:ext uri="{FF2B5EF4-FFF2-40B4-BE49-F238E27FC236}">
                <a16:creationId xmlns:a16="http://schemas.microsoft.com/office/drawing/2014/main" id="{4D86B605-4BB7-8A29-D9F8-D16C3E67BED3}"/>
              </a:ext>
            </a:extLst>
          </p:cNvPr>
          <p:cNvPicPr>
            <a:picLocks noChangeAspect="1"/>
          </p:cNvPicPr>
          <p:nvPr/>
        </p:nvPicPr>
        <p:blipFill>
          <a:blip r:embed="rId3"/>
          <a:stretch>
            <a:fillRect/>
          </a:stretch>
        </p:blipFill>
        <p:spPr>
          <a:xfrm>
            <a:off x="2861406" y="421454"/>
            <a:ext cx="9096131" cy="5688737"/>
          </a:xfrm>
          <a:prstGeom prst="rect">
            <a:avLst/>
          </a:prstGeom>
        </p:spPr>
      </p:pic>
      <p:sp>
        <p:nvSpPr>
          <p:cNvPr id="15" name="文字方塊 14">
            <a:extLst>
              <a:ext uri="{FF2B5EF4-FFF2-40B4-BE49-F238E27FC236}">
                <a16:creationId xmlns:a16="http://schemas.microsoft.com/office/drawing/2014/main" id="{823D3D0F-4059-81CD-1500-75851B1A57EB}"/>
              </a:ext>
            </a:extLst>
          </p:cNvPr>
          <p:cNvSpPr txBox="1"/>
          <p:nvPr/>
        </p:nvSpPr>
        <p:spPr>
          <a:xfrm>
            <a:off x="410311" y="741310"/>
            <a:ext cx="2168768" cy="286232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altLang="zh-TW" sz="2000" dirty="0">
                <a:solidFill>
                  <a:srgbClr val="FF0000"/>
                </a:solidFill>
                <a:effectLst/>
                <a:latin typeface="Times New Roman" panose="02020603050405020304" pitchFamily="18" charset="0"/>
                <a:cs typeface="Times New Roman" panose="02020603050405020304" pitchFamily="18" charset="0"/>
              </a:rPr>
              <a:t>Number</a:t>
            </a:r>
            <a:endParaRPr lang="en" altLang="zh-TW" sz="2000" dirty="0">
              <a:solidFill>
                <a:srgbClr val="FF0000"/>
              </a:solidFill>
              <a:effectLst/>
              <a:latin typeface="Times New Roman" panose="02020603050405020304" pitchFamily="18" charset="0"/>
              <a:cs typeface="Times New Roman" panose="02020603050405020304" pitchFamily="18" charset="0"/>
            </a:endParaRPr>
          </a:p>
          <a:p>
            <a:r>
              <a:rPr lang="en" altLang="zh-TW" sz="2000" dirty="0">
                <a:effectLst/>
                <a:latin typeface="Times New Roman" panose="02020603050405020304" pitchFamily="18" charset="0"/>
                <a:cs typeface="Times New Roman" panose="02020603050405020304" pitchFamily="18" charset="0"/>
              </a:rPr>
              <a:t>0. </a:t>
            </a:r>
            <a:r>
              <a:rPr lang="zh-TW" altLang="en-US" sz="2000" dirty="0">
                <a:effectLst/>
                <a:latin typeface="Times New Roman" panose="02020603050405020304" pitchFamily="18" charset="0"/>
                <a:cs typeface="Times New Roman" panose="02020603050405020304" pitchFamily="18" charset="0"/>
              </a:rPr>
              <a:t> </a:t>
            </a:r>
            <a:r>
              <a:rPr lang="en" altLang="zh-TW" sz="2000" dirty="0">
                <a:effectLst/>
                <a:latin typeface="Times New Roman" panose="02020603050405020304" pitchFamily="18" charset="0"/>
                <a:cs typeface="Times New Roman" panose="02020603050405020304" pitchFamily="18" charset="0"/>
              </a:rPr>
              <a:t>Play card c</a:t>
            </a:r>
            <a:r>
              <a:rPr lang="en" altLang="zh-TW" sz="2000" baseline="-25000" dirty="0">
                <a:effectLst/>
                <a:latin typeface="Times New Roman" panose="02020603050405020304" pitchFamily="18" charset="0"/>
                <a:cs typeface="Times New Roman" panose="02020603050405020304" pitchFamily="18" charset="0"/>
              </a:rPr>
              <a:t>1</a:t>
            </a:r>
            <a:r>
              <a:rPr lang="en" altLang="zh-TW" sz="2000" dirty="0">
                <a:effectLst/>
                <a:latin typeface="Times New Roman" panose="02020603050405020304" pitchFamily="18" charset="0"/>
                <a:cs typeface="Times New Roman" panose="02020603050405020304" pitchFamily="18" charset="0"/>
              </a:rPr>
              <a:t> </a:t>
            </a:r>
          </a:p>
          <a:p>
            <a:pPr marL="342900" indent="-342900">
              <a:buFont typeface="+mj-lt"/>
              <a:buAutoNum type="arabicPeriod"/>
            </a:pPr>
            <a:r>
              <a:rPr lang="en" altLang="zh-TW" sz="2000" dirty="0">
                <a:effectLst/>
                <a:latin typeface="Times New Roman" panose="02020603050405020304" pitchFamily="18" charset="0"/>
                <a:cs typeface="Times New Roman" panose="02020603050405020304" pitchFamily="18" charset="0"/>
              </a:rPr>
              <a:t>Play card c</a:t>
            </a:r>
            <a:r>
              <a:rPr lang="en" altLang="zh-TW" sz="2000" baseline="-25000" dirty="0">
                <a:effectLst/>
                <a:latin typeface="Times New Roman" panose="02020603050405020304" pitchFamily="18" charset="0"/>
                <a:cs typeface="Times New Roman" panose="02020603050405020304" pitchFamily="18" charset="0"/>
              </a:rPr>
              <a:t>2</a:t>
            </a:r>
            <a:r>
              <a:rPr lang="en" altLang="zh-TW" sz="2000" dirty="0">
                <a:effectLst/>
                <a:latin typeface="Times New Roman" panose="02020603050405020304" pitchFamily="18" charset="0"/>
                <a:cs typeface="Times New Roman" panose="02020603050405020304" pitchFamily="18" charset="0"/>
              </a:rPr>
              <a:t> </a:t>
            </a:r>
          </a:p>
          <a:p>
            <a:pPr marL="342900" indent="-342900">
              <a:buFont typeface="+mj-lt"/>
              <a:buAutoNum type="arabicPeriod"/>
            </a:pPr>
            <a:r>
              <a:rPr lang="en" altLang="zh-TW" sz="2000" dirty="0">
                <a:effectLst/>
                <a:latin typeface="Times New Roman" panose="02020603050405020304" pitchFamily="18" charset="0"/>
                <a:cs typeface="Times New Roman" panose="02020603050405020304" pitchFamily="18" charset="0"/>
              </a:rPr>
              <a:t>Play card c</a:t>
            </a:r>
            <a:r>
              <a:rPr lang="en" altLang="zh-TW" sz="2000" baseline="-25000" dirty="0">
                <a:effectLst/>
                <a:latin typeface="Times New Roman" panose="02020603050405020304" pitchFamily="18" charset="0"/>
                <a:cs typeface="Times New Roman" panose="02020603050405020304" pitchFamily="18" charset="0"/>
              </a:rPr>
              <a:t>3</a:t>
            </a:r>
            <a:r>
              <a:rPr lang="en" altLang="zh-TW" sz="2000" dirty="0">
                <a:effectLst/>
                <a:latin typeface="Times New Roman" panose="02020603050405020304" pitchFamily="18" charset="0"/>
                <a:cs typeface="Times New Roman" panose="02020603050405020304" pitchFamily="18" charset="0"/>
              </a:rPr>
              <a:t> </a:t>
            </a:r>
          </a:p>
          <a:p>
            <a:pPr marL="342900" indent="-342900">
              <a:buFont typeface="+mj-lt"/>
              <a:buAutoNum type="arabicPeriod"/>
            </a:pPr>
            <a:r>
              <a:rPr lang="en" altLang="zh-TW" sz="2000" dirty="0">
                <a:effectLst/>
                <a:latin typeface="Times New Roman" panose="02020603050405020304" pitchFamily="18" charset="0"/>
                <a:cs typeface="Times New Roman" panose="02020603050405020304" pitchFamily="18" charset="0"/>
              </a:rPr>
              <a:t>Play card c</a:t>
            </a:r>
            <a:r>
              <a:rPr lang="en" altLang="zh-TW" sz="2000" baseline="-25000" dirty="0">
                <a:effectLst/>
                <a:latin typeface="Times New Roman" panose="02020603050405020304" pitchFamily="18" charset="0"/>
                <a:cs typeface="Times New Roman" panose="02020603050405020304" pitchFamily="18" charset="0"/>
              </a:rPr>
              <a:t>4</a:t>
            </a:r>
            <a:r>
              <a:rPr lang="en" altLang="zh-TW" sz="2000" dirty="0">
                <a:effectLst/>
                <a:latin typeface="Times New Roman" panose="02020603050405020304" pitchFamily="18" charset="0"/>
                <a:cs typeface="Times New Roman" panose="02020603050405020304" pitchFamily="18" charset="0"/>
              </a:rPr>
              <a:t> </a:t>
            </a:r>
            <a:endParaRPr lang="en" altLang="zh-TW"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 altLang="zh-TW" sz="2000" dirty="0">
                <a:effectLst/>
                <a:latin typeface="Times New Roman" panose="02020603050405020304" pitchFamily="18" charset="0"/>
                <a:cs typeface="Times New Roman" panose="02020603050405020304" pitchFamily="18" charset="0"/>
              </a:rPr>
              <a:t>Discard card c</a:t>
            </a:r>
            <a:r>
              <a:rPr lang="en" altLang="zh-TW" sz="2000" baseline="-25000" dirty="0">
                <a:effectLst/>
                <a:latin typeface="Times New Roman" panose="02020603050405020304" pitchFamily="18" charset="0"/>
                <a:cs typeface="Times New Roman" panose="02020603050405020304" pitchFamily="18" charset="0"/>
              </a:rPr>
              <a:t>1</a:t>
            </a:r>
          </a:p>
          <a:p>
            <a:pPr marL="342900" indent="-342900">
              <a:buFont typeface="+mj-lt"/>
              <a:buAutoNum type="arabicPeriod"/>
            </a:pPr>
            <a:r>
              <a:rPr lang="en" altLang="zh-TW" sz="2000" dirty="0">
                <a:effectLst/>
                <a:latin typeface="Times New Roman" panose="02020603050405020304" pitchFamily="18" charset="0"/>
                <a:cs typeface="Times New Roman" panose="02020603050405020304" pitchFamily="18" charset="0"/>
              </a:rPr>
              <a:t>Discard card c</a:t>
            </a:r>
            <a:r>
              <a:rPr lang="en" altLang="zh-TW" sz="2000" baseline="-25000" dirty="0">
                <a:effectLst/>
                <a:latin typeface="Times New Roman" panose="02020603050405020304" pitchFamily="18" charset="0"/>
                <a:cs typeface="Times New Roman" panose="02020603050405020304" pitchFamily="18" charset="0"/>
              </a:rPr>
              <a:t>2</a:t>
            </a:r>
          </a:p>
          <a:p>
            <a:pPr marL="342900" indent="-342900">
              <a:buFont typeface="+mj-lt"/>
              <a:buAutoNum type="arabicPeriod"/>
            </a:pPr>
            <a:r>
              <a:rPr lang="en" altLang="zh-TW" sz="2000" dirty="0">
                <a:effectLst/>
                <a:latin typeface="Times New Roman" panose="02020603050405020304" pitchFamily="18" charset="0"/>
                <a:cs typeface="Times New Roman" panose="02020603050405020304" pitchFamily="18" charset="0"/>
              </a:rPr>
              <a:t>Discard card c</a:t>
            </a:r>
            <a:r>
              <a:rPr lang="en" altLang="zh-TW" sz="2000" baseline="-25000" dirty="0">
                <a:effectLst/>
                <a:latin typeface="Times New Roman" panose="02020603050405020304" pitchFamily="18" charset="0"/>
                <a:cs typeface="Times New Roman" panose="02020603050405020304" pitchFamily="18" charset="0"/>
              </a:rPr>
              <a:t>3</a:t>
            </a:r>
            <a:r>
              <a:rPr lang="en" altLang="zh-TW" sz="2000" dirty="0">
                <a:effectLst/>
                <a:latin typeface="Times New Roman" panose="02020603050405020304" pitchFamily="18" charset="0"/>
                <a:cs typeface="Times New Roman" panose="02020603050405020304" pitchFamily="18" charset="0"/>
              </a:rPr>
              <a:t> </a:t>
            </a:r>
          </a:p>
          <a:p>
            <a:pPr marL="342900" indent="-342900">
              <a:buFont typeface="+mj-lt"/>
              <a:buAutoNum type="arabicPeriod"/>
            </a:pPr>
            <a:r>
              <a:rPr lang="en" altLang="zh-TW" sz="2000" dirty="0">
                <a:effectLst/>
                <a:latin typeface="Times New Roman" panose="02020603050405020304" pitchFamily="18" charset="0"/>
                <a:cs typeface="Times New Roman" panose="02020603050405020304" pitchFamily="18" charset="0"/>
              </a:rPr>
              <a:t>Discard card c</a:t>
            </a:r>
            <a:r>
              <a:rPr lang="en" altLang="zh-TW" sz="2000" baseline="-25000" dirty="0">
                <a:effectLst/>
                <a:latin typeface="Times New Roman" panose="02020603050405020304" pitchFamily="18" charset="0"/>
                <a:cs typeface="Times New Roman" panose="02020603050405020304" pitchFamily="18" charset="0"/>
              </a:rPr>
              <a:t>4</a:t>
            </a:r>
            <a:r>
              <a:rPr lang="en" altLang="zh-TW" sz="2000" dirty="0">
                <a:effectLst/>
                <a:latin typeface="Times New Roman" panose="02020603050405020304" pitchFamily="18" charset="0"/>
                <a:cs typeface="Times New Roman" panose="02020603050405020304" pitchFamily="18" charset="0"/>
              </a:rPr>
              <a:t> </a:t>
            </a:r>
            <a:endParaRPr lang="en" altLang="zh-TW" sz="2000"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6D7B5DDC-7FC8-FE3F-9CD8-32FDC385FCC7}"/>
              </a:ext>
            </a:extLst>
          </p:cNvPr>
          <p:cNvSpPr txBox="1"/>
          <p:nvPr/>
        </p:nvSpPr>
        <p:spPr>
          <a:xfrm>
            <a:off x="410311" y="4318271"/>
            <a:ext cx="2168768" cy="1323439"/>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altLang="zh-TW" sz="2000" dirty="0">
                <a:latin typeface="Times New Roman" panose="02020603050405020304" pitchFamily="18" charset="0"/>
                <a:cs typeface="Times New Roman" panose="02020603050405020304" pitchFamily="18" charset="0"/>
              </a:rPr>
              <a:t>Priority</a:t>
            </a:r>
          </a:p>
          <a:p>
            <a:pPr marL="342900"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Playable</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card</a:t>
            </a:r>
          </a:p>
          <a:p>
            <a:pPr marL="342900"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Dead</a:t>
            </a:r>
            <a:r>
              <a:rPr lang="en" altLang="zh-TW" sz="2000" dirty="0">
                <a:latin typeface="Times New Roman" panose="02020603050405020304" pitchFamily="18" charset="0"/>
                <a:cs typeface="Times New Roman" panose="02020603050405020304" pitchFamily="18" charset="0"/>
              </a:rPr>
              <a:t> card</a:t>
            </a:r>
          </a:p>
          <a:p>
            <a:pPr marL="342900" indent="-342900">
              <a:buFont typeface="Arial" panose="020B0604020202020204" pitchFamily="34" charset="0"/>
              <a:buChar char="•"/>
            </a:pPr>
            <a:r>
              <a:rPr lang="en" altLang="zh-TW" sz="2000" dirty="0">
                <a:latin typeface="Times New Roman" panose="02020603050405020304" pitchFamily="18" charset="0"/>
                <a:cs typeface="Times New Roman" panose="02020603050405020304" pitchFamily="18" charset="0"/>
              </a:rPr>
              <a:t>Indispensable</a:t>
            </a:r>
          </a:p>
        </p:txBody>
      </p:sp>
    </p:spTree>
    <p:extLst>
      <p:ext uri="{BB962C8B-B14F-4D97-AF65-F5344CB8AC3E}">
        <p14:creationId xmlns:p14="http://schemas.microsoft.com/office/powerpoint/2010/main" val="2094720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D717F1BA-80E1-36A2-9FA1-A5034850402F}"/>
              </a:ext>
            </a:extLst>
          </p:cNvPr>
          <p:cNvSpPr>
            <a:spLocks noGrp="1"/>
          </p:cNvSpPr>
          <p:nvPr>
            <p:ph idx="1"/>
          </p:nvPr>
        </p:nvSpPr>
        <p:spPr>
          <a:xfrm>
            <a:off x="221230" y="1615133"/>
            <a:ext cx="4953001" cy="4351338"/>
          </a:xfrm>
        </p:spPr>
        <p:txBody>
          <a:bodyPr>
            <a:normAutofit/>
          </a:bodyPr>
          <a:lstStyle/>
          <a:p>
            <a:pPr marL="0" indent="0">
              <a:buNone/>
            </a:pPr>
            <a:r>
              <a:rPr lang="en" altLang="zh-TW" sz="2400" dirty="0">
                <a:latin typeface="Times New Roman" panose="02020603050405020304" pitchFamily="18" charset="0"/>
                <a:cs typeface="Times New Roman" panose="02020603050405020304" pitchFamily="18" charset="0"/>
              </a:rPr>
              <a:t>0. Rank hint to the player in position 1</a:t>
            </a:r>
          </a:p>
          <a:p>
            <a:pPr marL="0" indent="0">
              <a:buNone/>
            </a:pPr>
            <a:r>
              <a:rPr lang="en" altLang="zh-TW" sz="2400" dirty="0">
                <a:latin typeface="Times New Roman" panose="02020603050405020304" pitchFamily="18" charset="0"/>
                <a:cs typeface="Times New Roman" panose="02020603050405020304" pitchFamily="18" charset="0"/>
              </a:rPr>
              <a:t>1. Rank hint to the player in position 2</a:t>
            </a:r>
          </a:p>
          <a:p>
            <a:pPr marL="0" indent="0">
              <a:buNone/>
            </a:pPr>
            <a:r>
              <a:rPr lang="en-US" altLang="zh-TW" sz="2400" dirty="0">
                <a:latin typeface="Times New Roman" panose="02020603050405020304" pitchFamily="18" charset="0"/>
                <a:cs typeface="Times New Roman" panose="02020603050405020304" pitchFamily="18" charset="0"/>
              </a:rPr>
              <a:t>2</a:t>
            </a:r>
            <a:r>
              <a:rPr lang="en" altLang="zh-TW" sz="2400" dirty="0">
                <a:latin typeface="Times New Roman" panose="02020603050405020304" pitchFamily="18" charset="0"/>
                <a:cs typeface="Times New Roman" panose="02020603050405020304" pitchFamily="18" charset="0"/>
              </a:rPr>
              <a:t>. Rank hint to the player in position </a:t>
            </a:r>
            <a:r>
              <a:rPr lang="en-US" altLang="zh-TW" sz="2400" dirty="0">
                <a:latin typeface="Times New Roman" panose="02020603050405020304" pitchFamily="18" charset="0"/>
                <a:cs typeface="Times New Roman" panose="02020603050405020304" pitchFamily="18" charset="0"/>
              </a:rPr>
              <a:t>3</a:t>
            </a:r>
            <a:r>
              <a:rPr lang="en" altLang="zh-TW" sz="2400" dirty="0">
                <a:latin typeface="Times New Roman" panose="02020603050405020304" pitchFamily="18" charset="0"/>
                <a:cs typeface="Times New Roman" panose="02020603050405020304" pitchFamily="18" charset="0"/>
              </a:rPr>
              <a:t> </a:t>
            </a:r>
          </a:p>
          <a:p>
            <a:pPr marL="0" indent="0">
              <a:buNone/>
            </a:pPr>
            <a:r>
              <a:rPr lang="en" altLang="zh-TW" sz="2400" dirty="0">
                <a:latin typeface="Times New Roman" panose="02020603050405020304" pitchFamily="18" charset="0"/>
                <a:cs typeface="Times New Roman" panose="02020603050405020304" pitchFamily="18" charset="0"/>
              </a:rPr>
              <a:t>3. Rank hint to the player in position 4</a:t>
            </a:r>
          </a:p>
          <a:p>
            <a:pPr marL="0" indent="0">
              <a:buNone/>
            </a:pPr>
            <a:r>
              <a:rPr lang="en" altLang="zh-TW" sz="2400" dirty="0">
                <a:solidFill>
                  <a:schemeClr val="tx1">
                    <a:lumMod val="65000"/>
                    <a:lumOff val="35000"/>
                  </a:schemeClr>
                </a:solidFill>
                <a:latin typeface="Times New Roman" panose="02020603050405020304" pitchFamily="18" charset="0"/>
                <a:cs typeface="Times New Roman" panose="02020603050405020304" pitchFamily="18" charset="0"/>
              </a:rPr>
              <a:t>4. Suit hint to the player in position 1</a:t>
            </a:r>
          </a:p>
          <a:p>
            <a:pPr marL="0" indent="0">
              <a:buNone/>
            </a:pPr>
            <a:r>
              <a:rPr lang="en" altLang="zh-TW" sz="2400" dirty="0">
                <a:solidFill>
                  <a:schemeClr val="tx1">
                    <a:lumMod val="65000"/>
                    <a:lumOff val="35000"/>
                  </a:schemeClr>
                </a:solidFill>
                <a:latin typeface="Times New Roman" panose="02020603050405020304" pitchFamily="18" charset="0"/>
                <a:cs typeface="Times New Roman" panose="02020603050405020304" pitchFamily="18" charset="0"/>
              </a:rPr>
              <a:t>5. Suit hint to the player in position 2 </a:t>
            </a:r>
          </a:p>
          <a:p>
            <a:pPr marL="0" indent="0">
              <a:buNone/>
            </a:pPr>
            <a:r>
              <a:rPr lang="en" altLang="zh-TW" sz="2400" dirty="0">
                <a:solidFill>
                  <a:schemeClr val="tx1">
                    <a:lumMod val="65000"/>
                    <a:lumOff val="35000"/>
                  </a:schemeClr>
                </a:solidFill>
                <a:highlight>
                  <a:srgbClr val="FFFF00"/>
                </a:highlight>
                <a:latin typeface="Times New Roman" panose="02020603050405020304" pitchFamily="18" charset="0"/>
                <a:cs typeface="Times New Roman" panose="02020603050405020304" pitchFamily="18" charset="0"/>
              </a:rPr>
              <a:t>6. Suit hint to the player in position 3</a:t>
            </a:r>
          </a:p>
          <a:p>
            <a:pPr marL="0" indent="0">
              <a:buNone/>
            </a:pPr>
            <a:r>
              <a:rPr lang="en" altLang="zh-TW" sz="2400" dirty="0">
                <a:solidFill>
                  <a:schemeClr val="tx1">
                    <a:lumMod val="65000"/>
                    <a:lumOff val="35000"/>
                  </a:schemeClr>
                </a:solidFill>
                <a:latin typeface="Times New Roman" panose="02020603050405020304" pitchFamily="18" charset="0"/>
                <a:cs typeface="Times New Roman" panose="02020603050405020304" pitchFamily="18" charset="0"/>
              </a:rPr>
              <a:t>7. Suit hint to the player in position 4</a:t>
            </a:r>
            <a:endParaRPr lang="zh-TW" altLang="en-US" sz="24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17</a:t>
            </a:fld>
            <a:endParaRPr kumimoji="1" lang="zh-TW" altLang="en-US" dirty="0"/>
          </a:p>
        </p:txBody>
      </p:sp>
      <p:sp>
        <p:nvSpPr>
          <p:cNvPr id="8" name="文字方塊 7">
            <a:extLst>
              <a:ext uri="{FF2B5EF4-FFF2-40B4-BE49-F238E27FC236}">
                <a16:creationId xmlns:a16="http://schemas.microsoft.com/office/drawing/2014/main" id="{35F3B3ED-2054-DB17-E354-DD239C3614A7}"/>
              </a:ext>
            </a:extLst>
          </p:cNvPr>
          <p:cNvSpPr txBox="1"/>
          <p:nvPr/>
        </p:nvSpPr>
        <p:spPr>
          <a:xfrm>
            <a:off x="609598" y="6356350"/>
            <a:ext cx="10152185" cy="461665"/>
          </a:xfrm>
          <a:prstGeom prst="rect">
            <a:avLst/>
          </a:prstGeom>
          <a:noFill/>
        </p:spPr>
        <p:txBody>
          <a:bodyPr wrap="square">
            <a:spAutoFit/>
          </a:bodyPr>
          <a:lstStyle/>
          <a:p>
            <a:r>
              <a:rPr lang="en-US" altLang="zh-TW" sz="1200" dirty="0">
                <a:solidFill>
                  <a:schemeClr val="tx1">
                    <a:lumMod val="50000"/>
                    <a:lumOff val="50000"/>
                  </a:schemeClr>
                </a:solidFill>
                <a:latin typeface="Times New Roman" panose="02020603050405020304" pitchFamily="18" charset="0"/>
                <a:cs typeface="Times New Roman" panose="02020603050405020304" pitchFamily="18" charset="0"/>
              </a:rPr>
              <a:t>Picture:</a:t>
            </a:r>
            <a:r>
              <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Cox, C., De Silva, J.,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Deorsey</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P.,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Kenter</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F. H.,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Retter</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T., &amp; Tobin, J. (2015). How to make the perfect fireworks display: Two strategies for </a:t>
            </a:r>
            <a:r>
              <a:rPr lang="en" altLang="zh-TW" sz="1200" dirty="0" err="1">
                <a:solidFill>
                  <a:schemeClr val="tx1">
                    <a:lumMod val="50000"/>
                    <a:lumOff val="50000"/>
                  </a:schemeClr>
                </a:solidFill>
                <a:latin typeface="Times New Roman" panose="02020603050405020304" pitchFamily="18" charset="0"/>
                <a:cs typeface="Times New Roman" panose="02020603050405020304" pitchFamily="18" charset="0"/>
              </a:rPr>
              <a:t>hanabi</a:t>
            </a:r>
            <a:r>
              <a:rPr lang="en" altLang="zh-TW" sz="1200" dirty="0">
                <a:solidFill>
                  <a:schemeClr val="tx1">
                    <a:lumMod val="50000"/>
                    <a:lumOff val="50000"/>
                  </a:schemeClr>
                </a:solidFill>
                <a:latin typeface="Times New Roman" panose="02020603050405020304" pitchFamily="18" charset="0"/>
                <a:cs typeface="Times New Roman" panose="02020603050405020304" pitchFamily="18" charset="0"/>
              </a:rPr>
              <a:t>. Mathematics Magazine, 88(5), 323-336.</a:t>
            </a:r>
            <a:endParaRPr lang="zh-TW" alt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pic>
        <p:nvPicPr>
          <p:cNvPr id="5" name="圖片 4" descr="一張含有 文字, 螢幕擷取畫面, 設計 的圖片&#10;&#10;自動產生的描述">
            <a:extLst>
              <a:ext uri="{FF2B5EF4-FFF2-40B4-BE49-F238E27FC236}">
                <a16:creationId xmlns:a16="http://schemas.microsoft.com/office/drawing/2014/main" id="{4D86B605-4BB7-8A29-D9F8-D16C3E67BED3}"/>
              </a:ext>
            </a:extLst>
          </p:cNvPr>
          <p:cNvPicPr>
            <a:picLocks noChangeAspect="1"/>
          </p:cNvPicPr>
          <p:nvPr/>
        </p:nvPicPr>
        <p:blipFill>
          <a:blip r:embed="rId3"/>
          <a:stretch>
            <a:fillRect/>
          </a:stretch>
        </p:blipFill>
        <p:spPr>
          <a:xfrm>
            <a:off x="5326631" y="1375200"/>
            <a:ext cx="6567938" cy="4107600"/>
          </a:xfrm>
          <a:prstGeom prst="rect">
            <a:avLst/>
          </a:prstGeom>
        </p:spPr>
      </p:pic>
      <p:sp>
        <p:nvSpPr>
          <p:cNvPr id="6" name="矩形 5">
            <a:extLst>
              <a:ext uri="{FF2B5EF4-FFF2-40B4-BE49-F238E27FC236}">
                <a16:creationId xmlns:a16="http://schemas.microsoft.com/office/drawing/2014/main" id="{C2D2B27F-B363-5828-0AB6-B90A0C89E5B8}"/>
              </a:ext>
            </a:extLst>
          </p:cNvPr>
          <p:cNvSpPr/>
          <p:nvPr/>
        </p:nvSpPr>
        <p:spPr>
          <a:xfrm>
            <a:off x="10386646" y="1101969"/>
            <a:ext cx="1507923" cy="2327031"/>
          </a:xfrm>
          <a:prstGeom prst="rect">
            <a:avLst/>
          </a:prstGeom>
          <a:noFill/>
          <a:ln w="38100">
            <a:solidFill>
              <a:schemeClr val="accent4">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TW" altLang="en-US"/>
          </a:p>
        </p:txBody>
      </p:sp>
    </p:spTree>
    <p:extLst>
      <p:ext uri="{BB962C8B-B14F-4D97-AF65-F5344CB8AC3E}">
        <p14:creationId xmlns:p14="http://schemas.microsoft.com/office/powerpoint/2010/main" val="1935804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err="1">
                <a:latin typeface="Times" pitchFamily="2" charset="0"/>
              </a:rPr>
              <a:t>FireFlower</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p:txBody>
          <a:bodyPr>
            <a:normAutofit/>
          </a:bodyPr>
          <a:lstStyle/>
          <a:p>
            <a:pPr>
              <a:lnSpc>
                <a:spcPct val="100000"/>
              </a:lnSpc>
            </a:pPr>
            <a:r>
              <a:rPr kumimoji="1" lang="en-US" altLang="zh-TW" dirty="0">
                <a:latin typeface="Times" pitchFamily="2" charset="0"/>
              </a:rPr>
              <a:t>Implements a set of human-style conventions.</a:t>
            </a:r>
          </a:p>
          <a:p>
            <a:pPr>
              <a:lnSpc>
                <a:spcPct val="100000"/>
              </a:lnSpc>
            </a:pPr>
            <a:r>
              <a:rPr kumimoji="1" lang="en-US" altLang="zh-TW" dirty="0">
                <a:latin typeface="Times" pitchFamily="2" charset="0"/>
              </a:rPr>
              <a:t>Hints generally indicate play cards, and generally newer cards first.</a:t>
            </a:r>
          </a:p>
          <a:p>
            <a:pPr>
              <a:lnSpc>
                <a:spcPct val="100000"/>
              </a:lnSpc>
            </a:pPr>
            <a:r>
              <a:rPr kumimoji="1" lang="en-US" altLang="zh-TW" dirty="0">
                <a:latin typeface="Times" pitchFamily="2" charset="0"/>
              </a:rPr>
              <a:t>Hints “chain” on to other hints.</a:t>
            </a:r>
          </a:p>
          <a:p>
            <a:pPr lvl="1">
              <a:lnSpc>
                <a:spcPct val="100000"/>
              </a:lnSpc>
            </a:pPr>
            <a:r>
              <a:rPr kumimoji="1" lang="en-US" altLang="zh-TW" dirty="0">
                <a:latin typeface="Times" pitchFamily="2" charset="0"/>
              </a:rPr>
              <a:t>If A hints to B a playable </a:t>
            </a:r>
            <a:r>
              <a:rPr kumimoji="1" lang="en-US" altLang="zh-TW" dirty="0">
                <a:solidFill>
                  <a:srgbClr val="FF0000"/>
                </a:solidFill>
                <a:latin typeface="Times" pitchFamily="2" charset="0"/>
              </a:rPr>
              <a:t>red 2</a:t>
            </a:r>
            <a:r>
              <a:rPr kumimoji="1" lang="en-US" altLang="zh-TW" dirty="0">
                <a:latin typeface="Times" pitchFamily="2" charset="0"/>
              </a:rPr>
              <a:t> as </a:t>
            </a:r>
            <a:r>
              <a:rPr kumimoji="1" lang="en-US" altLang="zh-TW" dirty="0">
                <a:solidFill>
                  <a:srgbClr val="FF0000"/>
                </a:solidFill>
                <a:latin typeface="Times" pitchFamily="2" charset="0"/>
              </a:rPr>
              <a:t>red</a:t>
            </a:r>
          </a:p>
          <a:p>
            <a:pPr lvl="1">
              <a:lnSpc>
                <a:spcPct val="100000"/>
              </a:lnSpc>
            </a:pPr>
            <a:r>
              <a:rPr kumimoji="1" lang="en-US" altLang="zh-TW" dirty="0">
                <a:latin typeface="Times" pitchFamily="2" charset="0"/>
              </a:rPr>
              <a:t>B hint back to A a </a:t>
            </a:r>
            <a:r>
              <a:rPr kumimoji="1" lang="en-US" altLang="zh-TW" dirty="0">
                <a:solidFill>
                  <a:srgbClr val="FF0000"/>
                </a:solidFill>
                <a:latin typeface="Times" pitchFamily="2" charset="0"/>
              </a:rPr>
              <a:t>red</a:t>
            </a:r>
            <a:r>
              <a:rPr kumimoji="1" lang="zh-TW" altLang="en-US" dirty="0">
                <a:solidFill>
                  <a:srgbClr val="FF0000"/>
                </a:solidFill>
                <a:latin typeface="Times" pitchFamily="2" charset="0"/>
              </a:rPr>
              <a:t> </a:t>
            </a:r>
            <a:r>
              <a:rPr kumimoji="1" lang="en-US" altLang="zh-TW" dirty="0">
                <a:solidFill>
                  <a:srgbClr val="FF0000"/>
                </a:solidFill>
                <a:latin typeface="Times" pitchFamily="2" charset="0"/>
              </a:rPr>
              <a:t>3</a:t>
            </a:r>
            <a:r>
              <a:rPr kumimoji="1" lang="en-US" altLang="zh-TW" dirty="0">
                <a:latin typeface="Times" pitchFamily="2" charset="0"/>
              </a:rPr>
              <a:t> in A’s hand as </a:t>
            </a:r>
            <a:r>
              <a:rPr kumimoji="1" lang="en-US" altLang="zh-TW" dirty="0">
                <a:solidFill>
                  <a:srgbClr val="FF0000"/>
                </a:solidFill>
                <a:latin typeface="Times" pitchFamily="2" charset="0"/>
              </a:rPr>
              <a:t>red</a:t>
            </a:r>
            <a:r>
              <a:rPr kumimoji="1" lang="en-US" altLang="zh-TW" dirty="0">
                <a:latin typeface="Times" pitchFamily="2" charset="0"/>
              </a:rPr>
              <a:t>.</a:t>
            </a:r>
          </a:p>
          <a:p>
            <a:pPr>
              <a:lnSpc>
                <a:spcPct val="100000"/>
              </a:lnSpc>
            </a:pPr>
            <a:r>
              <a:rPr kumimoji="1" lang="en-US" altLang="zh-TW" dirty="0">
                <a:latin typeface="Times" pitchFamily="2" charset="0"/>
              </a:rPr>
              <a:t>Discards probably useless cards.</a:t>
            </a:r>
          </a:p>
          <a:p>
            <a:pPr>
              <a:lnSpc>
                <a:spcPct val="100000"/>
              </a:lnSpc>
            </a:pPr>
            <a:r>
              <a:rPr kumimoji="1" lang="en-US" altLang="zh-TW" dirty="0">
                <a:latin typeface="Times" pitchFamily="2" charset="0"/>
              </a:rPr>
              <a:t>Discarding known playable cards signals to the teammates that they have a copy of that card.</a:t>
            </a: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18</a:t>
            </a:fld>
            <a:endParaRPr kumimoji="1" lang="zh-TW" altLang="en-US" dirty="0"/>
          </a:p>
        </p:txBody>
      </p:sp>
    </p:spTree>
    <p:extLst>
      <p:ext uri="{BB962C8B-B14F-4D97-AF65-F5344CB8AC3E}">
        <p14:creationId xmlns:p14="http://schemas.microsoft.com/office/powerpoint/2010/main" val="1809368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文字, 收據, 螢幕擷取畫面, 數字 的圖片&#10;&#10;自動產生的描述">
            <a:extLst>
              <a:ext uri="{FF2B5EF4-FFF2-40B4-BE49-F238E27FC236}">
                <a16:creationId xmlns:a16="http://schemas.microsoft.com/office/drawing/2014/main" id="{E3FA0D70-9264-5BF7-98ED-BBCD90427877}"/>
              </a:ext>
            </a:extLst>
          </p:cNvPr>
          <p:cNvPicPr>
            <a:picLocks noGrp="1" noChangeAspect="1"/>
          </p:cNvPicPr>
          <p:nvPr>
            <p:ph idx="1"/>
          </p:nvPr>
        </p:nvPicPr>
        <p:blipFill>
          <a:blip r:embed="rId2"/>
          <a:stretch>
            <a:fillRect/>
          </a:stretch>
        </p:blipFill>
        <p:spPr>
          <a:xfrm>
            <a:off x="838200" y="1839615"/>
            <a:ext cx="10515600" cy="4367808"/>
          </a:xfrm>
        </p:spPr>
      </p:pic>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Experimental results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19</a:t>
            </a:fld>
            <a:endParaRPr kumimoji="1" lang="zh-TW" altLang="en-US"/>
          </a:p>
        </p:txBody>
      </p:sp>
    </p:spTree>
    <p:extLst>
      <p:ext uri="{BB962C8B-B14F-4D97-AF65-F5344CB8AC3E}">
        <p14:creationId xmlns:p14="http://schemas.microsoft.com/office/powerpoint/2010/main" val="1836791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Experimental results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20</a:t>
            </a:fld>
            <a:endParaRPr kumimoji="1" lang="zh-TW" altLang="en-US"/>
          </a:p>
        </p:txBody>
      </p:sp>
      <p:pic>
        <p:nvPicPr>
          <p:cNvPr id="8" name="內容版面配置區 7" descr="一張含有 螢幕擷取畫面, 鮮豔, 正方形, 行 的圖片&#10;&#10;自動產生的描述">
            <a:extLst>
              <a:ext uri="{FF2B5EF4-FFF2-40B4-BE49-F238E27FC236}">
                <a16:creationId xmlns:a16="http://schemas.microsoft.com/office/drawing/2014/main" id="{48D8ACEF-E768-7D68-17F3-13C5809445BA}"/>
              </a:ext>
            </a:extLst>
          </p:cNvPr>
          <p:cNvPicPr>
            <a:picLocks noGrp="1" noChangeAspect="1"/>
          </p:cNvPicPr>
          <p:nvPr>
            <p:ph idx="1"/>
          </p:nvPr>
        </p:nvPicPr>
        <p:blipFill>
          <a:blip r:embed="rId2"/>
          <a:stretch>
            <a:fillRect/>
          </a:stretch>
        </p:blipFill>
        <p:spPr>
          <a:xfrm>
            <a:off x="506476" y="1474787"/>
            <a:ext cx="11179048" cy="4881563"/>
          </a:xfrm>
        </p:spPr>
      </p:pic>
      <p:sp>
        <p:nvSpPr>
          <p:cNvPr id="5" name="文字方塊 4">
            <a:extLst>
              <a:ext uri="{FF2B5EF4-FFF2-40B4-BE49-F238E27FC236}">
                <a16:creationId xmlns:a16="http://schemas.microsoft.com/office/drawing/2014/main" id="{084799E9-1107-C2B7-0406-C6C75CC15770}"/>
              </a:ext>
            </a:extLst>
          </p:cNvPr>
          <p:cNvSpPr txBox="1"/>
          <p:nvPr/>
        </p:nvSpPr>
        <p:spPr>
          <a:xfrm>
            <a:off x="9583616" y="1013122"/>
            <a:ext cx="1482970" cy="461665"/>
          </a:xfrm>
          <a:prstGeom prst="rect">
            <a:avLst/>
          </a:prstGeom>
          <a:noFill/>
        </p:spPr>
        <p:txBody>
          <a:bodyPr wrap="square">
            <a:spAutoFit/>
          </a:bodyPr>
          <a:lstStyle/>
          <a:p>
            <a:r>
              <a:rPr lang="en" altLang="zh-TW" sz="2400" dirty="0">
                <a:effectLst/>
                <a:latin typeface="Times New Roman" panose="02020603050405020304" pitchFamily="18" charset="0"/>
                <a:cs typeface="Times New Roman" panose="02020603050405020304" pitchFamily="18" charset="0"/>
              </a:rPr>
              <a:t>1000 trials </a:t>
            </a:r>
            <a:endParaRPr lang="en"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898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US" altLang="zh-TW" dirty="0">
                <a:latin typeface="Times" pitchFamily="2" charset="0"/>
              </a:rPr>
              <a:t>Conclusion</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21</a:t>
            </a:fld>
            <a:endParaRPr kumimoji="1" lang="zh-TW" altLang="en-US"/>
          </a:p>
        </p:txBody>
      </p:sp>
      <p:sp>
        <p:nvSpPr>
          <p:cNvPr id="6" name="內容版面配置區 5">
            <a:extLst>
              <a:ext uri="{FF2B5EF4-FFF2-40B4-BE49-F238E27FC236}">
                <a16:creationId xmlns:a16="http://schemas.microsoft.com/office/drawing/2014/main" id="{1852094D-7306-8F91-F38E-3498A43DE2EE}"/>
              </a:ext>
            </a:extLst>
          </p:cNvPr>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Limited</a:t>
            </a:r>
            <a:r>
              <a:rPr lang="en" altLang="zh-TW" dirty="0">
                <a:latin typeface="Times New Roman" panose="02020603050405020304" pitchFamily="18" charset="0"/>
                <a:cs typeface="Times New Roman" panose="02020603050405020304" pitchFamily="18" charset="0"/>
              </a:rPr>
              <a:t> success</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Algorithms </a:t>
            </a:r>
            <a:r>
              <a:rPr lang="en-US" altLang="zh-TW" dirty="0">
                <a:latin typeface="Times New Roman" panose="02020603050405020304" pitchFamily="18" charset="0"/>
                <a:cs typeface="Times New Roman" panose="02020603050405020304" pitchFamily="18" charset="0"/>
              </a:rPr>
              <a:t>are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insufficient to surpass hand-coded bots in self-play</a:t>
            </a:r>
            <a:r>
              <a:rPr lang="en-US" altLang="zh-TW" dirty="0">
                <a:latin typeface="Times New Roman" panose="02020603050405020304" pitchFamily="18" charset="0"/>
                <a:cs typeface="Times New Roman" panose="02020603050405020304" pitchFamily="18" charset="0"/>
              </a:rPr>
              <a:t>.</a:t>
            </a:r>
            <a:endParaRPr lang="en" altLang="zh-TW" dirty="0">
              <a:latin typeface="Times New Roman" panose="02020603050405020304" pitchFamily="18" charset="0"/>
              <a:cs typeface="Times New Roman" panose="02020603050405020304" pitchFamily="18" charset="0"/>
            </a:endParaRPr>
          </a:p>
          <a:p>
            <a:r>
              <a:rPr lang="en" altLang="zh-TW" dirty="0">
                <a:latin typeface="Times New Roman" panose="02020603050405020304" pitchFamily="18" charset="0"/>
                <a:cs typeface="Times New Roman" panose="02020603050405020304" pitchFamily="18" charset="0"/>
              </a:rPr>
              <a:t>Failure in ad-hoc team setting: Agents </a:t>
            </a:r>
            <a:r>
              <a:rPr lang="en-US" altLang="zh-TW" dirty="0">
                <a:latin typeface="Times New Roman" panose="02020603050405020304" pitchFamily="18" charset="0"/>
                <a:cs typeface="Times New Roman" panose="02020603050405020304" pitchFamily="18" charset="0"/>
              </a:rPr>
              <a:t>are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unable to collaborate with unknown teammates</a:t>
            </a:r>
            <a:r>
              <a:rPr lang="en-US" altLang="zh-TW" dirty="0">
                <a:latin typeface="Times New Roman" panose="02020603050405020304" pitchFamily="18" charset="0"/>
                <a:cs typeface="Times New Roman" panose="02020603050405020304" pitchFamily="18" charset="0"/>
              </a:rPr>
              <a:t>.</a:t>
            </a:r>
            <a:endParaRPr lang="en" altLang="zh-TW" dirty="0">
              <a:latin typeface="Times New Roman" panose="02020603050405020304" pitchFamily="18" charset="0"/>
              <a:cs typeface="Times New Roman" panose="02020603050405020304" pitchFamily="18" charset="0"/>
            </a:endParaRPr>
          </a:p>
          <a:p>
            <a:r>
              <a:rPr lang="en" altLang="zh-TW" dirty="0">
                <a:latin typeface="Times New Roman" panose="02020603050405020304" pitchFamily="18" charset="0"/>
                <a:cs typeface="Times New Roman" panose="02020603050405020304" pitchFamily="18" charset="0"/>
              </a:rPr>
              <a:t>Importance of</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human </a:t>
            </a:r>
            <a:r>
              <a:rPr lang="en" altLang="zh-TW" dirty="0" err="1">
                <a:latin typeface="Times New Roman" panose="02020603050405020304" pitchFamily="18" charset="0"/>
                <a:cs typeface="Times New Roman" panose="02020603050405020304" pitchFamily="18" charset="0"/>
              </a:rPr>
              <a:t>Hanabi</a:t>
            </a:r>
            <a:r>
              <a:rPr lang="en" altLang="zh-TW" dirty="0">
                <a:latin typeface="Times New Roman" panose="02020603050405020304" pitchFamily="18" charset="0"/>
                <a:cs typeface="Times New Roman" panose="02020603050405020304" pitchFamily="18" charset="0"/>
              </a:rPr>
              <a:t> gameplay</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theory</a:t>
            </a:r>
            <a:r>
              <a:rPr lang="en-US" altLang="zh-TW" dirty="0">
                <a:latin typeface="Times New Roman" panose="02020603050405020304" pitchFamily="18" charset="0"/>
                <a:cs typeface="Times New Roman" panose="02020603050405020304" pitchFamily="18" charset="0"/>
              </a:rPr>
              <a:t>.</a:t>
            </a:r>
            <a:endParaRPr lang="en"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096159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5209</TotalTime>
  <Words>1077</Words>
  <Application>Microsoft Macintosh PowerPoint</Application>
  <PresentationFormat>寬螢幕</PresentationFormat>
  <Paragraphs>166</Paragraphs>
  <Slides>21</Slides>
  <Notes>14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21</vt:i4>
      </vt:variant>
    </vt:vector>
  </HeadingPairs>
  <TitlesOfParts>
    <vt:vector size="27" baseType="lpstr">
      <vt:lpstr>Times</vt:lpstr>
      <vt:lpstr>Arial</vt:lpstr>
      <vt:lpstr>Calibri</vt:lpstr>
      <vt:lpstr>Calibri Light</vt:lpstr>
      <vt:lpstr>Times New Roman</vt:lpstr>
      <vt:lpstr>Office 佈景主題</vt:lpstr>
      <vt:lpstr>The Hanabi challenge: A new frontier for AI research</vt:lpstr>
      <vt:lpstr>Abstract(1/3)</vt:lpstr>
      <vt:lpstr>Abstract(2/3)</vt:lpstr>
      <vt:lpstr>Abstract(3/3)</vt:lpstr>
      <vt:lpstr>Hanabi</vt:lpstr>
      <vt:lpstr>Hanabi</vt:lpstr>
      <vt:lpstr>Hanabi</vt:lpstr>
      <vt:lpstr>Strategy</vt:lpstr>
      <vt:lpstr>The challenges</vt:lpstr>
      <vt:lpstr>Problem setup</vt:lpstr>
      <vt:lpstr>Actor-Critic-Hanabi-Agent (ACHA)</vt:lpstr>
      <vt:lpstr>PowerPoint 簡報</vt:lpstr>
      <vt:lpstr>Rainbow-Agent</vt:lpstr>
      <vt:lpstr>HatBot</vt:lpstr>
      <vt:lpstr>Multiple color hat guessing game</vt:lpstr>
      <vt:lpstr>PowerPoint 簡報</vt:lpstr>
      <vt:lpstr>PowerPoint 簡報</vt:lpstr>
      <vt:lpstr>FireFlower</vt:lpstr>
      <vt:lpstr>Experimental results</vt:lpstr>
      <vt:lpstr>Experimental 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M113040012</dc:creator>
  <cp:lastModifiedBy>M113040012</cp:lastModifiedBy>
  <cp:revision>221</cp:revision>
  <dcterms:created xsi:type="dcterms:W3CDTF">2024-03-28T08:48:34Z</dcterms:created>
  <dcterms:modified xsi:type="dcterms:W3CDTF">2024-04-02T08:10:52Z</dcterms:modified>
</cp:coreProperties>
</file>