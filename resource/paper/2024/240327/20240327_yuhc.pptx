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8"/>
  </p:notesMasterIdLst>
  <p:sldIdLst>
    <p:sldId id="256" r:id="rId2"/>
    <p:sldId id="257" r:id="rId3"/>
    <p:sldId id="335" r:id="rId4"/>
    <p:sldId id="336" r:id="rId5"/>
    <p:sldId id="258" r:id="rId6"/>
    <p:sldId id="344" r:id="rId7"/>
    <p:sldId id="326" r:id="rId8"/>
    <p:sldId id="337" r:id="rId9"/>
    <p:sldId id="342" r:id="rId10"/>
    <p:sldId id="338" r:id="rId11"/>
    <p:sldId id="339" r:id="rId12"/>
    <p:sldId id="340" r:id="rId13"/>
    <p:sldId id="341" r:id="rId14"/>
    <p:sldId id="319" r:id="rId15"/>
    <p:sldId id="343" r:id="rId16"/>
    <p:sldId id="295"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00FF00"/>
    <a:srgbClr val="F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69537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64920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8055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45648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78900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20164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97831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3817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68016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17197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69936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40062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e56bd8716d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1e56bd8716d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TW"/>
              <a:t>Given a string S of length n, an integer p ∈ [1..n] is a period of S if S[i] = S[i + p] for all i ∈ [1..n − p].</a:t>
            </a:r>
            <a:endParaRPr/>
          </a:p>
          <a:p>
            <a:pPr marL="0" lvl="0" indent="0" algn="l" rtl="0">
              <a:lnSpc>
                <a:spcPct val="100000"/>
              </a:lnSpc>
              <a:spcBef>
                <a:spcPts val="0"/>
              </a:spcBef>
              <a:spcAft>
                <a:spcPts val="0"/>
              </a:spcAft>
              <a:buSzPts val="1100"/>
              <a:buNone/>
            </a:pPr>
            <a:r>
              <a:rPr lang="zh-TW"/>
              <a:t>S[|S| − p + 1] = c</a:t>
            </a:r>
            <a:endParaRPr/>
          </a:p>
        </p:txBody>
      </p:sp>
    </p:spTree>
    <p:extLst>
      <p:ext uri="{BB962C8B-B14F-4D97-AF65-F5344CB8AC3E}">
        <p14:creationId xmlns:p14="http://schemas.microsoft.com/office/powerpoint/2010/main" val="1518939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778"/>
              <a:buNone/>
            </a:pPr>
            <a:r>
              <a:rPr lang="en-US" altLang="zh-TW" sz="4000" dirty="0">
                <a:latin typeface="Times New Roman"/>
                <a:ea typeface="Times New Roman"/>
                <a:cs typeface="Times New Roman"/>
                <a:sym typeface="Times New Roman"/>
              </a:rPr>
              <a:t>The use of least significant bit (LSB) and knight tour algorithm </a:t>
            </a:r>
            <a:br>
              <a:rPr lang="en-US" altLang="zh-TW" sz="4000" dirty="0">
                <a:latin typeface="Times New Roman"/>
                <a:ea typeface="Times New Roman"/>
                <a:cs typeface="Times New Roman"/>
                <a:sym typeface="Times New Roman"/>
              </a:rPr>
            </a:br>
            <a:r>
              <a:rPr lang="en-US" altLang="zh-TW" sz="4000" dirty="0">
                <a:latin typeface="Times New Roman"/>
                <a:ea typeface="Times New Roman"/>
                <a:cs typeface="Times New Roman"/>
                <a:sym typeface="Times New Roman"/>
              </a:rPr>
              <a:t>for image steganography of cover image</a:t>
            </a:r>
            <a:endParaRPr lang="en-US" sz="4000" dirty="0">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100"/>
              <a:buNone/>
            </a:pPr>
            <a:r>
              <a:rPr lang="pl-PL" altLang="zh-TW" sz="1800" dirty="0">
                <a:solidFill>
                  <a:schemeClr val="dk1"/>
                </a:solidFill>
                <a:latin typeface="Times New Roman"/>
                <a:ea typeface="Times New Roman"/>
                <a:cs typeface="Times New Roman"/>
                <a:sym typeface="Times New Roman"/>
              </a:rPr>
              <a:t>Soo Ann Nie, Ghazali Sulong, Rozniza Ali, Andrew Abel</a:t>
            </a:r>
            <a:endParaRPr lang="en-US" altLang="zh-TW" sz="1800"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1100"/>
              <a:buNone/>
            </a:pPr>
            <a:r>
              <a:rPr lang="en-US" altLang="zh-TW" sz="1800" dirty="0">
                <a:solidFill>
                  <a:schemeClr val="dk1"/>
                </a:solidFill>
                <a:latin typeface="Times New Roman"/>
                <a:ea typeface="Times New Roman"/>
                <a:cs typeface="Times New Roman"/>
                <a:sym typeface="Times New Roman"/>
              </a:rPr>
              <a:t>International Journal of Electrical and Computer Engineering(IJECE</a:t>
            </a:r>
            <a:r>
              <a:rPr lang="en-US" altLang="zh-TW" sz="1800">
                <a:solidFill>
                  <a:schemeClr val="dk1"/>
                </a:solidFill>
                <a:latin typeface="Times New Roman"/>
                <a:ea typeface="Times New Roman"/>
                <a:cs typeface="Times New Roman"/>
                <a:sym typeface="Times New Roman"/>
              </a:rPr>
              <a:t>), 9.6, </a:t>
            </a:r>
            <a:r>
              <a:rPr lang="en-US" altLang="zh-TW" sz="1800" dirty="0">
                <a:solidFill>
                  <a:schemeClr val="dk1"/>
                </a:solidFill>
                <a:latin typeface="Times New Roman"/>
                <a:ea typeface="Times New Roman"/>
                <a:cs typeface="Times New Roman"/>
                <a:sym typeface="Times New Roman"/>
              </a:rPr>
              <a:t>5218-5226.</a:t>
            </a:r>
            <a:endParaRPr lang="pl-PL" sz="1800" dirty="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zh-TW" sz="2400" b="0" i="0" u="none" strike="noStrike" cap="none" dirty="0">
                <a:solidFill>
                  <a:srgbClr val="000000"/>
                </a:solidFill>
                <a:latin typeface="Times New Roman"/>
                <a:ea typeface="Times New Roman"/>
                <a:cs typeface="Times New Roman"/>
                <a:sym typeface="Times New Roman"/>
              </a:rPr>
              <a:t>Presenter: </a:t>
            </a:r>
            <a:r>
              <a:rPr lang="zh-TW" sz="2400" dirty="0">
                <a:latin typeface="Times New Roman"/>
                <a:ea typeface="Times New Roman"/>
                <a:cs typeface="Times New Roman"/>
                <a:sym typeface="Times New Roman"/>
              </a:rPr>
              <a:t>Hsin-Chang Yu</a:t>
            </a:r>
            <a:endParaRPr sz="2400" b="0" i="0" u="none" strike="noStrike" cap="none" dirty="0">
              <a:solidFill>
                <a:srgbClr val="000000"/>
              </a:solidFill>
              <a:latin typeface="Times New Roman"/>
              <a:ea typeface="Times New Roman"/>
              <a:cs typeface="Times New Roman"/>
              <a:sym typeface="Times New Roman"/>
            </a:endParaRPr>
          </a:p>
          <a:p>
            <a:pPr marL="0" marR="0" lvl="0" indent="0" algn="r" rtl="0">
              <a:lnSpc>
                <a:spcPct val="100000"/>
              </a:lnSpc>
              <a:spcBef>
                <a:spcPts val="0"/>
              </a:spcBef>
              <a:spcAft>
                <a:spcPts val="0"/>
              </a:spcAft>
              <a:buClr>
                <a:srgbClr val="000000"/>
              </a:buClr>
              <a:buSzPts val="2400"/>
              <a:buFont typeface="Arial"/>
              <a:buNone/>
            </a:pPr>
            <a:r>
              <a:rPr lang="zh-TW" sz="2400" b="0" i="0" u="none" strike="noStrike" cap="none" dirty="0">
                <a:solidFill>
                  <a:srgbClr val="000000"/>
                </a:solidFill>
                <a:latin typeface="Times New Roman"/>
                <a:ea typeface="Times New Roman"/>
                <a:cs typeface="Times New Roman"/>
                <a:sym typeface="Times New Roman"/>
              </a:rPr>
              <a:t>Date: </a:t>
            </a:r>
            <a:r>
              <a:rPr lang="en-US" altLang="zh-TW" sz="2400" b="0" i="0" u="none" strike="noStrike" cap="none" dirty="0">
                <a:solidFill>
                  <a:srgbClr val="000000"/>
                </a:solidFill>
                <a:latin typeface="Times New Roman"/>
                <a:ea typeface="Times New Roman"/>
                <a:cs typeface="Times New Roman"/>
                <a:sym typeface="Times New Roman"/>
              </a:rPr>
              <a:t>Mar</a:t>
            </a:r>
            <a:r>
              <a:rPr lang="zh-TW" sz="2400" b="0" i="0" u="none" strike="noStrike" cap="none" dirty="0">
                <a:solidFill>
                  <a:srgbClr val="000000"/>
                </a:solidFill>
                <a:latin typeface="Times New Roman"/>
                <a:ea typeface="Times New Roman"/>
                <a:cs typeface="Times New Roman"/>
                <a:sym typeface="Times New Roman"/>
              </a:rPr>
              <a:t>. </a:t>
            </a:r>
            <a:r>
              <a:rPr lang="en-US" altLang="zh-TW" sz="2400" b="0" i="0" u="none" strike="noStrike" cap="none" dirty="0">
                <a:solidFill>
                  <a:srgbClr val="000000"/>
                </a:solidFill>
                <a:latin typeface="Times New Roman"/>
                <a:ea typeface="Times New Roman"/>
                <a:cs typeface="Times New Roman"/>
                <a:sym typeface="Times New Roman"/>
              </a:rPr>
              <a:t>27</a:t>
            </a:r>
            <a:r>
              <a:rPr lang="zh-TW" sz="2400" b="0" i="0" u="none" strike="noStrike" cap="none" dirty="0">
                <a:solidFill>
                  <a:srgbClr val="000000"/>
                </a:solidFill>
                <a:latin typeface="Times New Roman"/>
                <a:ea typeface="Times New Roman"/>
                <a:cs typeface="Times New Roman"/>
                <a:sym typeface="Times New Roman"/>
              </a:rPr>
              <a:t>, 202</a:t>
            </a:r>
            <a:r>
              <a:rPr lang="en-US" altLang="zh-TW" sz="2400" b="0" i="0" u="none" strike="noStrike" cap="none" dirty="0">
                <a:solidFill>
                  <a:srgbClr val="000000"/>
                </a:solidFill>
                <a:latin typeface="Times New Roman"/>
                <a:ea typeface="Times New Roman"/>
                <a:cs typeface="Times New Roman"/>
                <a:sym typeface="Times New Roman"/>
              </a:rPr>
              <a:t>4</a:t>
            </a:r>
            <a:endParaRPr sz="2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Steganography is one of the method to communicate in a hidden way. In another word, steganography literally means the practice of hiding messages or information within another data. Previous studies have proposed various steganography techniques using different approaches including Least Significant Bit (LSB),</a:t>
            </a:r>
            <a:r>
              <a:rPr lang="zh-TW" altLang="en-US" sz="2400" dirty="0">
                <a:solidFill>
                  <a:schemeClr val="dk1"/>
                </a:solidFill>
                <a:latin typeface="Times New Roman"/>
                <a:ea typeface="Times New Roman"/>
                <a:cs typeface="Times New Roman"/>
                <a:sym typeface="Times New Roman"/>
              </a:rPr>
              <a:t> </a:t>
            </a:r>
            <a:r>
              <a:rPr lang="en-US" altLang="zh-TW" sz="2400" dirty="0">
                <a:solidFill>
                  <a:schemeClr val="dk1"/>
                </a:solidFill>
                <a:latin typeface="Times New Roman"/>
                <a:ea typeface="Times New Roman"/>
                <a:cs typeface="Times New Roman"/>
                <a:sym typeface="Times New Roman"/>
              </a:rPr>
              <a:t>Discrete Cosine Transform (DCT) and Discrete Wavelet</a:t>
            </a:r>
            <a:r>
              <a:rPr lang="zh-TW" altLang="en-US" sz="2400" dirty="0">
                <a:solidFill>
                  <a:schemeClr val="dk1"/>
                </a:solidFill>
                <a:latin typeface="Times New Roman"/>
                <a:ea typeface="Times New Roman"/>
                <a:cs typeface="Times New Roman"/>
                <a:sym typeface="Times New Roman"/>
              </a:rPr>
              <a:t> </a:t>
            </a:r>
            <a:r>
              <a:rPr lang="en-US" altLang="zh-TW" sz="2400" dirty="0">
                <a:solidFill>
                  <a:schemeClr val="dk1"/>
                </a:solidFill>
                <a:latin typeface="Times New Roman"/>
                <a:ea typeface="Times New Roman"/>
                <a:cs typeface="Times New Roman"/>
                <a:sym typeface="Times New Roman"/>
              </a:rPr>
              <a:t>Transform (DWT).</a:t>
            </a: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699" y="1152475"/>
            <a:ext cx="8590253"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However, different approaches still have its own weaknesses. Therefore image stenography using Knight Tour Algorithm with Least Significant Bit (LSB) technique is presented. The main</a:t>
            </a:r>
            <a:r>
              <a:rPr lang="zh-TW" altLang="en-US" sz="2400" dirty="0">
                <a:solidFill>
                  <a:schemeClr val="dk1"/>
                </a:solidFill>
                <a:latin typeface="Times New Roman"/>
                <a:ea typeface="Times New Roman"/>
                <a:cs typeface="Times New Roman"/>
                <a:sym typeface="Times New Roman"/>
              </a:rPr>
              <a:t> </a:t>
            </a:r>
            <a:r>
              <a:rPr lang="en-US" altLang="zh-TW" sz="2400" dirty="0">
                <a:solidFill>
                  <a:schemeClr val="dk1"/>
                </a:solidFill>
                <a:latin typeface="Times New Roman"/>
                <a:ea typeface="Times New Roman"/>
                <a:cs typeface="Times New Roman"/>
                <a:sym typeface="Times New Roman"/>
              </a:rPr>
              <a:t>objective is to improve the security factor in the </a:t>
            </a:r>
            <a:r>
              <a:rPr lang="en-US" altLang="zh-TW" sz="2400" dirty="0" err="1">
                <a:solidFill>
                  <a:schemeClr val="dk1"/>
                </a:solidFill>
                <a:latin typeface="Times New Roman"/>
                <a:ea typeface="Times New Roman"/>
                <a:cs typeface="Times New Roman"/>
                <a:sym typeface="Times New Roman"/>
              </a:rPr>
              <a:t>stego</a:t>
            </a:r>
            <a:r>
              <a:rPr lang="en-US" altLang="zh-TW" sz="2400" dirty="0">
                <a:solidFill>
                  <a:schemeClr val="dk1"/>
                </a:solidFill>
                <a:latin typeface="Times New Roman"/>
                <a:ea typeface="Times New Roman"/>
                <a:cs typeface="Times New Roman"/>
                <a:sym typeface="Times New Roman"/>
              </a:rPr>
              <a:t> image. Basically, the proposed technique is divided into two parts which are the sender and receiver side. Then, steganalysis which is a type of attack on stenography algorithm is used to detect the secret message in the cover image by the statistical analysis of pixel values.</a:t>
            </a: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3</a:t>
            </a:fld>
            <a:endParaRPr/>
          </a:p>
        </p:txBody>
      </p:sp>
    </p:spTree>
    <p:extLst>
      <p:ext uri="{BB962C8B-B14F-4D97-AF65-F5344CB8AC3E}">
        <p14:creationId xmlns:p14="http://schemas.microsoft.com/office/powerpoint/2010/main" val="1285262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Chi Square Statistical Attach which is one of the type of steganalysis is used to detect these near-equal Po Vs in images and bases the probability of embedding on how close to equal the even pixel values and their corresponding odd pixel values are in the test image. The Knight Tour Algorithm is applied due to the common Least Significant Bit technique that is weak in security and easily decoded by outsider.</a:t>
            </a: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4</a:t>
            </a:fld>
            <a:endParaRPr/>
          </a:p>
        </p:txBody>
      </p:sp>
    </p:spTree>
    <p:extLst>
      <p:ext uri="{BB962C8B-B14F-4D97-AF65-F5344CB8AC3E}">
        <p14:creationId xmlns:p14="http://schemas.microsoft.com/office/powerpoint/2010/main" val="719424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5</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sz="2800" dirty="0">
                <a:latin typeface="Times New Roman"/>
                <a:ea typeface="Times New Roman"/>
                <a:cs typeface="Times New Roman"/>
                <a:sym typeface="Times New Roman"/>
              </a:rPr>
              <a:t>Knight’s Tour</a:t>
            </a:r>
            <a:endParaRPr lang="zh-TW" altLang="en-US" dirty="0"/>
          </a:p>
        </p:txBody>
      </p:sp>
      <p:pic>
        <p:nvPicPr>
          <p:cNvPr id="1026" name="Picture 2">
            <a:extLst>
              <a:ext uri="{FF2B5EF4-FFF2-40B4-BE49-F238E27FC236}">
                <a16:creationId xmlns:a16="http://schemas.microsoft.com/office/drawing/2014/main" id="{B2A4084F-1A9A-42FA-A12B-E731B2544204}"/>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966184"/>
            <a:ext cx="3602691" cy="36026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he Knight's Tour - SOUL OF MATHEMATICS">
            <a:extLst>
              <a:ext uri="{FF2B5EF4-FFF2-40B4-BE49-F238E27FC236}">
                <a16:creationId xmlns:a16="http://schemas.microsoft.com/office/drawing/2014/main" id="{1045C8ED-2753-4A36-9245-2CFB41685535}"/>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28534" y="1176854"/>
            <a:ext cx="3190875" cy="31813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6</a:t>
            </a:fld>
            <a:endParaRPr/>
          </a:p>
        </p:txBody>
      </p:sp>
      <p:pic>
        <p:nvPicPr>
          <p:cNvPr id="2054" name="Picture 6">
            <a:extLst>
              <a:ext uri="{FF2B5EF4-FFF2-40B4-BE49-F238E27FC236}">
                <a16:creationId xmlns:a16="http://schemas.microsoft.com/office/drawing/2014/main" id="{DBEB738C-8055-4A40-97A9-B3116EDB31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48367"/>
            <a:ext cx="4511488" cy="451148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1199A049-7584-4FB4-8302-C4831E72EC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51729"/>
            <a:ext cx="4511488" cy="4511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19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7</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pPr marL="0" lvl="0" indent="0" algn="l" rtl="0">
              <a:lnSpc>
                <a:spcPct val="115000"/>
              </a:lnSpc>
              <a:spcBef>
                <a:spcPts val="0"/>
              </a:spcBef>
              <a:spcAft>
                <a:spcPts val="0"/>
              </a:spcAft>
              <a:buSzPts val="1800"/>
              <a:buNone/>
            </a:pPr>
            <a:r>
              <a:rPr lang="en-US" altLang="zh-TW" dirty="0">
                <a:latin typeface="Times New Roman"/>
                <a:ea typeface="Times New Roman"/>
                <a:cs typeface="Times New Roman"/>
                <a:sym typeface="Times New Roman"/>
              </a:rPr>
              <a:t>Least Significant Bit (LSB)</a:t>
            </a:r>
            <a:r>
              <a:rPr lang="zh-TW" altLang="en-US" dirty="0">
                <a:latin typeface="Times New Roman"/>
                <a:ea typeface="Times New Roman"/>
                <a:cs typeface="Times New Roman"/>
                <a:sym typeface="Times New Roman"/>
              </a:rPr>
              <a:t> </a:t>
            </a:r>
            <a:r>
              <a:rPr lang="en-US" altLang="zh-TW" dirty="0">
                <a:latin typeface="Times New Roman"/>
                <a:ea typeface="Times New Roman"/>
                <a:cs typeface="Times New Roman"/>
                <a:sym typeface="Times New Roman"/>
              </a:rPr>
              <a:t>Steganography</a:t>
            </a:r>
            <a:endParaRPr lang="en-US" altLang="zh-TW" sz="2800" dirty="0">
              <a:solidFill>
                <a:schemeClr val="dk1"/>
              </a:solidFill>
              <a:latin typeface="Times New Roman"/>
              <a:ea typeface="Times New Roman"/>
              <a:cs typeface="Times New Roman"/>
              <a:sym typeface="Times New Roman"/>
            </a:endParaRPr>
          </a:p>
        </p:txBody>
      </p:sp>
      <p:sp>
        <p:nvSpPr>
          <p:cNvPr id="2" name="矩形 1">
            <a:extLst>
              <a:ext uri="{FF2B5EF4-FFF2-40B4-BE49-F238E27FC236}">
                <a16:creationId xmlns:a16="http://schemas.microsoft.com/office/drawing/2014/main" id="{A63EC700-A513-45EC-A152-0EC794CD2962}"/>
              </a:ext>
            </a:extLst>
          </p:cNvPr>
          <p:cNvSpPr/>
          <p:nvPr/>
        </p:nvSpPr>
        <p:spPr>
          <a:xfrm>
            <a:off x="1327096" y="1432112"/>
            <a:ext cx="2467536" cy="20036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27B469B6-8582-45EF-83DF-C2464A2C8914}"/>
              </a:ext>
            </a:extLst>
          </p:cNvPr>
          <p:cNvSpPr/>
          <p:nvPr/>
        </p:nvSpPr>
        <p:spPr>
          <a:xfrm>
            <a:off x="5079698" y="1432112"/>
            <a:ext cx="2467536" cy="2003612"/>
          </a:xfrm>
          <a:prstGeom prst="rect">
            <a:avLst/>
          </a:prstGeom>
          <a:solidFill>
            <a:srgbClr val="FC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660349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8</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pPr marL="0" lvl="0" indent="0" algn="l" rtl="0">
              <a:lnSpc>
                <a:spcPct val="115000"/>
              </a:lnSpc>
              <a:spcBef>
                <a:spcPts val="0"/>
              </a:spcBef>
              <a:spcAft>
                <a:spcPts val="0"/>
              </a:spcAft>
              <a:buSzPts val="1800"/>
              <a:buNone/>
            </a:pPr>
            <a:r>
              <a:rPr lang="en-US" altLang="zh-TW" dirty="0">
                <a:latin typeface="Times New Roman"/>
                <a:ea typeface="Times New Roman"/>
                <a:cs typeface="Times New Roman"/>
                <a:sym typeface="Times New Roman"/>
              </a:rPr>
              <a:t>Least Significant Bit (LSB)</a:t>
            </a:r>
            <a:r>
              <a:rPr lang="zh-TW" altLang="en-US" dirty="0">
                <a:latin typeface="Times New Roman"/>
                <a:ea typeface="Times New Roman"/>
                <a:cs typeface="Times New Roman"/>
                <a:sym typeface="Times New Roman"/>
              </a:rPr>
              <a:t> </a:t>
            </a:r>
            <a:r>
              <a:rPr lang="en-US" altLang="zh-TW" dirty="0">
                <a:latin typeface="Times New Roman"/>
                <a:ea typeface="Times New Roman"/>
                <a:cs typeface="Times New Roman"/>
                <a:sym typeface="Times New Roman"/>
              </a:rPr>
              <a:t>Steganography</a:t>
            </a:r>
            <a:endParaRPr lang="en-US" altLang="zh-TW" sz="2800" dirty="0">
              <a:solidFill>
                <a:schemeClr val="dk1"/>
              </a:solidFill>
              <a:latin typeface="Times New Roman"/>
              <a:ea typeface="Times New Roman"/>
              <a:cs typeface="Times New Roman"/>
              <a:sym typeface="Times New Roman"/>
            </a:endParaRPr>
          </a:p>
        </p:txBody>
      </p:sp>
      <p:sp>
        <p:nvSpPr>
          <p:cNvPr id="2" name="矩形 1">
            <a:extLst>
              <a:ext uri="{FF2B5EF4-FFF2-40B4-BE49-F238E27FC236}">
                <a16:creationId xmlns:a16="http://schemas.microsoft.com/office/drawing/2014/main" id="{A63EC700-A513-45EC-A152-0EC794CD2962}"/>
              </a:ext>
            </a:extLst>
          </p:cNvPr>
          <p:cNvSpPr/>
          <p:nvPr/>
        </p:nvSpPr>
        <p:spPr>
          <a:xfrm>
            <a:off x="1327096" y="1432112"/>
            <a:ext cx="2467536" cy="20036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27B469B6-8582-45EF-83DF-C2464A2C8914}"/>
              </a:ext>
            </a:extLst>
          </p:cNvPr>
          <p:cNvSpPr/>
          <p:nvPr/>
        </p:nvSpPr>
        <p:spPr>
          <a:xfrm>
            <a:off x="5079698" y="1436305"/>
            <a:ext cx="2467536" cy="2003612"/>
          </a:xfrm>
          <a:prstGeom prst="rect">
            <a:avLst/>
          </a:prstGeom>
          <a:solidFill>
            <a:srgbClr val="FC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 name="表格 4">
            <a:extLst>
              <a:ext uri="{FF2B5EF4-FFF2-40B4-BE49-F238E27FC236}">
                <a16:creationId xmlns:a16="http://schemas.microsoft.com/office/drawing/2014/main" id="{70396656-9EA1-4470-B505-9A5116F010A8}"/>
              </a:ext>
            </a:extLst>
          </p:cNvPr>
          <p:cNvGraphicFramePr>
            <a:graphicFrameLocks noGrp="1"/>
          </p:cNvGraphicFramePr>
          <p:nvPr>
            <p:extLst>
              <p:ext uri="{D42A27DB-BD31-4B8C-83A1-F6EECF244321}">
                <p14:modId xmlns:p14="http://schemas.microsoft.com/office/powerpoint/2010/main" val="843082095"/>
              </p:ext>
            </p:extLst>
          </p:nvPr>
        </p:nvGraphicFramePr>
        <p:xfrm>
          <a:off x="1327096" y="3623493"/>
          <a:ext cx="2467536" cy="757612"/>
        </p:xfrm>
        <a:graphic>
          <a:graphicData uri="http://schemas.openxmlformats.org/drawingml/2006/table">
            <a:tbl>
              <a:tblPr firstRow="1" bandRow="1">
                <a:tableStyleId>{5C22544A-7EE6-4342-B048-85BDC9FD1C3A}</a:tableStyleId>
              </a:tblPr>
              <a:tblGrid>
                <a:gridCol w="1429551">
                  <a:extLst>
                    <a:ext uri="{9D8B030D-6E8A-4147-A177-3AD203B41FA5}">
                      <a16:colId xmlns:a16="http://schemas.microsoft.com/office/drawing/2014/main" val="3136473109"/>
                    </a:ext>
                  </a:extLst>
                </a:gridCol>
                <a:gridCol w="497541">
                  <a:extLst>
                    <a:ext uri="{9D8B030D-6E8A-4147-A177-3AD203B41FA5}">
                      <a16:colId xmlns:a16="http://schemas.microsoft.com/office/drawing/2014/main" val="3057634721"/>
                    </a:ext>
                  </a:extLst>
                </a:gridCol>
                <a:gridCol w="540444">
                  <a:extLst>
                    <a:ext uri="{9D8B030D-6E8A-4147-A177-3AD203B41FA5}">
                      <a16:colId xmlns:a16="http://schemas.microsoft.com/office/drawing/2014/main" val="1233643208"/>
                    </a:ext>
                  </a:extLst>
                </a:gridCol>
              </a:tblGrid>
              <a:tr h="378806">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0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FF"/>
                    </a:solidFill>
                  </a:tcPr>
                </a:tc>
                <a:extLst>
                  <a:ext uri="{0D108BD9-81ED-4DB2-BD59-A6C34878D82A}">
                    <a16:rowId xmlns:a16="http://schemas.microsoft.com/office/drawing/2014/main" val="211716292"/>
                  </a:ext>
                </a:extLst>
              </a:tr>
              <a:tr h="378806">
                <a:tc>
                  <a:txBody>
                    <a:bodyPr/>
                    <a:lstStyle/>
                    <a:p>
                      <a:pPr algn="ctr"/>
                      <a:r>
                        <a:rPr lang="en-US" altLang="zh-TW" dirty="0"/>
                        <a:t>255(11111111)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9236994"/>
                  </a:ext>
                </a:extLst>
              </a:tr>
            </a:tbl>
          </a:graphicData>
        </a:graphic>
      </p:graphicFrame>
      <p:graphicFrame>
        <p:nvGraphicFramePr>
          <p:cNvPr id="8" name="表格 4">
            <a:extLst>
              <a:ext uri="{FF2B5EF4-FFF2-40B4-BE49-F238E27FC236}">
                <a16:creationId xmlns:a16="http://schemas.microsoft.com/office/drawing/2014/main" id="{83BF0EC5-F44F-469D-BD4D-D7E3B040A92E}"/>
              </a:ext>
            </a:extLst>
          </p:cNvPr>
          <p:cNvGraphicFramePr>
            <a:graphicFrameLocks noGrp="1"/>
          </p:cNvGraphicFramePr>
          <p:nvPr>
            <p:extLst>
              <p:ext uri="{D42A27DB-BD31-4B8C-83A1-F6EECF244321}">
                <p14:modId xmlns:p14="http://schemas.microsoft.com/office/powerpoint/2010/main" val="3135132037"/>
              </p:ext>
            </p:extLst>
          </p:nvPr>
        </p:nvGraphicFramePr>
        <p:xfrm>
          <a:off x="5079698" y="3623493"/>
          <a:ext cx="2467536" cy="757612"/>
        </p:xfrm>
        <a:graphic>
          <a:graphicData uri="http://schemas.openxmlformats.org/drawingml/2006/table">
            <a:tbl>
              <a:tblPr firstRow="1" bandRow="1">
                <a:tableStyleId>{5C22544A-7EE6-4342-B048-85BDC9FD1C3A}</a:tableStyleId>
              </a:tblPr>
              <a:tblGrid>
                <a:gridCol w="1429551">
                  <a:extLst>
                    <a:ext uri="{9D8B030D-6E8A-4147-A177-3AD203B41FA5}">
                      <a16:colId xmlns:a16="http://schemas.microsoft.com/office/drawing/2014/main" val="3136473109"/>
                    </a:ext>
                  </a:extLst>
                </a:gridCol>
                <a:gridCol w="497541">
                  <a:extLst>
                    <a:ext uri="{9D8B030D-6E8A-4147-A177-3AD203B41FA5}">
                      <a16:colId xmlns:a16="http://schemas.microsoft.com/office/drawing/2014/main" val="3057634721"/>
                    </a:ext>
                  </a:extLst>
                </a:gridCol>
                <a:gridCol w="540444">
                  <a:extLst>
                    <a:ext uri="{9D8B030D-6E8A-4147-A177-3AD203B41FA5}">
                      <a16:colId xmlns:a16="http://schemas.microsoft.com/office/drawing/2014/main" val="1233643208"/>
                    </a:ext>
                  </a:extLst>
                </a:gridCol>
              </a:tblGrid>
              <a:tr h="378806">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0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FF"/>
                    </a:solidFill>
                  </a:tcPr>
                </a:tc>
                <a:extLst>
                  <a:ext uri="{0D108BD9-81ED-4DB2-BD59-A6C34878D82A}">
                    <a16:rowId xmlns:a16="http://schemas.microsoft.com/office/drawing/2014/main" val="211716292"/>
                  </a:ext>
                </a:extLst>
              </a:tr>
              <a:tr h="378806">
                <a:tc>
                  <a:txBody>
                    <a:bodyPr/>
                    <a:lstStyle/>
                    <a:p>
                      <a:pPr algn="ctr"/>
                      <a:r>
                        <a:rPr lang="en-US" altLang="zh-TW" dirty="0"/>
                        <a:t>252(11111100)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9236994"/>
                  </a:ext>
                </a:extLst>
              </a:tr>
            </a:tbl>
          </a:graphicData>
        </a:graphic>
      </p:graphicFrame>
    </p:spTree>
    <p:extLst>
      <p:ext uri="{BB962C8B-B14F-4D97-AF65-F5344CB8AC3E}">
        <p14:creationId xmlns:p14="http://schemas.microsoft.com/office/powerpoint/2010/main" val="2888746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9</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pPr marL="0" lvl="0" indent="0" algn="l" rtl="0">
              <a:lnSpc>
                <a:spcPct val="115000"/>
              </a:lnSpc>
              <a:spcBef>
                <a:spcPts val="0"/>
              </a:spcBef>
              <a:spcAft>
                <a:spcPts val="0"/>
              </a:spcAft>
              <a:buSzPts val="1800"/>
              <a:buNone/>
            </a:pPr>
            <a:r>
              <a:rPr lang="en-US" altLang="zh-TW" dirty="0" err="1">
                <a:latin typeface="Times New Roman"/>
                <a:ea typeface="Times New Roman"/>
                <a:cs typeface="Times New Roman"/>
                <a:sym typeface="Times New Roman"/>
              </a:rPr>
              <a:t>Stego</a:t>
            </a:r>
            <a:r>
              <a:rPr lang="en-US" altLang="zh-TW" dirty="0">
                <a:latin typeface="Times New Roman"/>
                <a:ea typeface="Times New Roman"/>
                <a:cs typeface="Times New Roman"/>
                <a:sym typeface="Times New Roman"/>
              </a:rPr>
              <a:t> Image</a:t>
            </a:r>
            <a:endParaRPr lang="en-US" altLang="zh-TW" sz="2800" dirty="0">
              <a:solidFill>
                <a:schemeClr val="dk1"/>
              </a:solidFill>
              <a:latin typeface="Times New Roman"/>
              <a:ea typeface="Times New Roman"/>
              <a:cs typeface="Times New Roman"/>
              <a:sym typeface="Times New Roman"/>
            </a:endParaRPr>
          </a:p>
        </p:txBody>
      </p:sp>
      <p:pic>
        <p:nvPicPr>
          <p:cNvPr id="10" name="圖片 9">
            <a:extLst>
              <a:ext uri="{FF2B5EF4-FFF2-40B4-BE49-F238E27FC236}">
                <a16:creationId xmlns:a16="http://schemas.microsoft.com/office/drawing/2014/main" id="{85B79A68-C0E2-411D-8BF6-084912D237B1}"/>
              </a:ext>
            </a:extLst>
          </p:cNvPr>
          <p:cNvPicPr>
            <a:picLocks noChangeAspect="1"/>
          </p:cNvPicPr>
          <p:nvPr/>
        </p:nvPicPr>
        <p:blipFill>
          <a:blip r:embed="rId3"/>
          <a:stretch>
            <a:fillRect/>
          </a:stretch>
        </p:blipFill>
        <p:spPr>
          <a:xfrm>
            <a:off x="1600200" y="1062037"/>
            <a:ext cx="5943600" cy="3019425"/>
          </a:xfrm>
          <a:prstGeom prst="rect">
            <a:avLst/>
          </a:prstGeom>
        </p:spPr>
      </p:pic>
    </p:spTree>
    <p:extLst>
      <p:ext uri="{BB962C8B-B14F-4D97-AF65-F5344CB8AC3E}">
        <p14:creationId xmlns:p14="http://schemas.microsoft.com/office/powerpoint/2010/main" val="2648501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10</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pPr marL="0" lvl="0" indent="0" algn="l" rtl="0">
              <a:lnSpc>
                <a:spcPct val="115000"/>
              </a:lnSpc>
              <a:spcBef>
                <a:spcPts val="0"/>
              </a:spcBef>
              <a:spcAft>
                <a:spcPts val="0"/>
              </a:spcAft>
              <a:buSzPts val="1800"/>
              <a:buNone/>
            </a:pPr>
            <a:r>
              <a:rPr lang="en-US" altLang="zh-TW" sz="2800" dirty="0">
                <a:solidFill>
                  <a:schemeClr val="dk1"/>
                </a:solidFill>
                <a:latin typeface="Times New Roman"/>
                <a:ea typeface="Times New Roman"/>
                <a:cs typeface="Times New Roman"/>
                <a:sym typeface="Times New Roman"/>
              </a:rPr>
              <a:t>Sender and Receiver</a:t>
            </a:r>
          </a:p>
        </p:txBody>
      </p:sp>
      <p:pic>
        <p:nvPicPr>
          <p:cNvPr id="14" name="圖片 13">
            <a:extLst>
              <a:ext uri="{FF2B5EF4-FFF2-40B4-BE49-F238E27FC236}">
                <a16:creationId xmlns:a16="http://schemas.microsoft.com/office/drawing/2014/main" id="{1082058D-C169-4814-96A1-91E59877FDE4}"/>
              </a:ext>
            </a:extLst>
          </p:cNvPr>
          <p:cNvPicPr>
            <a:picLocks noChangeAspect="1"/>
          </p:cNvPicPr>
          <p:nvPr/>
        </p:nvPicPr>
        <p:blipFill>
          <a:blip r:embed="rId3"/>
          <a:stretch>
            <a:fillRect/>
          </a:stretch>
        </p:blipFill>
        <p:spPr>
          <a:xfrm>
            <a:off x="104548" y="1376067"/>
            <a:ext cx="3767082" cy="3663791"/>
          </a:xfrm>
          <a:prstGeom prst="rect">
            <a:avLst/>
          </a:prstGeom>
        </p:spPr>
      </p:pic>
      <p:pic>
        <p:nvPicPr>
          <p:cNvPr id="16" name="圖片 15">
            <a:extLst>
              <a:ext uri="{FF2B5EF4-FFF2-40B4-BE49-F238E27FC236}">
                <a16:creationId xmlns:a16="http://schemas.microsoft.com/office/drawing/2014/main" id="{7B89BB6A-5C12-4CC5-8476-2421EA38FE42}"/>
              </a:ext>
            </a:extLst>
          </p:cNvPr>
          <p:cNvPicPr>
            <a:picLocks noChangeAspect="1"/>
          </p:cNvPicPr>
          <p:nvPr/>
        </p:nvPicPr>
        <p:blipFill>
          <a:blip r:embed="rId4"/>
          <a:stretch>
            <a:fillRect/>
          </a:stretch>
        </p:blipFill>
        <p:spPr>
          <a:xfrm>
            <a:off x="5634318" y="757635"/>
            <a:ext cx="3509682" cy="4299181"/>
          </a:xfrm>
          <a:prstGeom prst="rect">
            <a:avLst/>
          </a:prstGeom>
        </p:spPr>
      </p:pic>
      <p:pic>
        <p:nvPicPr>
          <p:cNvPr id="12" name="圖片 11">
            <a:extLst>
              <a:ext uri="{FF2B5EF4-FFF2-40B4-BE49-F238E27FC236}">
                <a16:creationId xmlns:a16="http://schemas.microsoft.com/office/drawing/2014/main" id="{D901878E-D182-45CF-A6B3-AD7233AA8574}"/>
              </a:ext>
            </a:extLst>
          </p:cNvPr>
          <p:cNvPicPr>
            <a:picLocks noChangeAspect="1"/>
          </p:cNvPicPr>
          <p:nvPr/>
        </p:nvPicPr>
        <p:blipFill>
          <a:blip r:embed="rId5"/>
          <a:stretch>
            <a:fillRect/>
          </a:stretch>
        </p:blipFill>
        <p:spPr>
          <a:xfrm>
            <a:off x="3450250" y="86683"/>
            <a:ext cx="2243500" cy="1642563"/>
          </a:xfrm>
          <a:prstGeom prst="rect">
            <a:avLst/>
          </a:prstGeom>
        </p:spPr>
      </p:pic>
    </p:spTree>
    <p:extLst>
      <p:ext uri="{BB962C8B-B14F-4D97-AF65-F5344CB8AC3E}">
        <p14:creationId xmlns:p14="http://schemas.microsoft.com/office/powerpoint/2010/main" val="1787939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11</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pPr marL="0" lvl="0" indent="0" algn="l" rtl="0">
              <a:lnSpc>
                <a:spcPct val="115000"/>
              </a:lnSpc>
              <a:spcBef>
                <a:spcPts val="0"/>
              </a:spcBef>
              <a:spcAft>
                <a:spcPts val="0"/>
              </a:spcAft>
              <a:buSzPts val="1800"/>
              <a:buNone/>
            </a:pPr>
            <a:r>
              <a:rPr lang="en-US" altLang="zh-TW" sz="2800" dirty="0">
                <a:solidFill>
                  <a:schemeClr val="dk1"/>
                </a:solidFill>
                <a:latin typeface="Times New Roman"/>
                <a:ea typeface="Times New Roman"/>
                <a:cs typeface="Times New Roman"/>
                <a:sym typeface="Times New Roman"/>
              </a:rPr>
              <a:t>Embedding Stage</a:t>
            </a:r>
          </a:p>
        </p:txBody>
      </p:sp>
      <p:pic>
        <p:nvPicPr>
          <p:cNvPr id="3" name="圖片 2">
            <a:extLst>
              <a:ext uri="{FF2B5EF4-FFF2-40B4-BE49-F238E27FC236}">
                <a16:creationId xmlns:a16="http://schemas.microsoft.com/office/drawing/2014/main" id="{47EDDD53-87B6-440E-842E-9B7CA0D117F7}"/>
              </a:ext>
            </a:extLst>
          </p:cNvPr>
          <p:cNvPicPr>
            <a:picLocks noChangeAspect="1"/>
          </p:cNvPicPr>
          <p:nvPr/>
        </p:nvPicPr>
        <p:blipFill>
          <a:blip r:embed="rId3"/>
          <a:stretch>
            <a:fillRect/>
          </a:stretch>
        </p:blipFill>
        <p:spPr>
          <a:xfrm>
            <a:off x="4195159" y="445025"/>
            <a:ext cx="3727721" cy="4464424"/>
          </a:xfrm>
          <a:prstGeom prst="rect">
            <a:avLst/>
          </a:prstGeom>
        </p:spPr>
      </p:pic>
      <p:pic>
        <p:nvPicPr>
          <p:cNvPr id="6" name="圖片 5">
            <a:extLst>
              <a:ext uri="{FF2B5EF4-FFF2-40B4-BE49-F238E27FC236}">
                <a16:creationId xmlns:a16="http://schemas.microsoft.com/office/drawing/2014/main" id="{95FB8A47-11BE-4F39-B569-3E9D1B0BBC61}"/>
              </a:ext>
            </a:extLst>
          </p:cNvPr>
          <p:cNvPicPr>
            <a:picLocks noChangeAspect="1"/>
          </p:cNvPicPr>
          <p:nvPr/>
        </p:nvPicPr>
        <p:blipFill>
          <a:blip r:embed="rId4"/>
          <a:stretch>
            <a:fillRect/>
          </a:stretch>
        </p:blipFill>
        <p:spPr>
          <a:xfrm>
            <a:off x="313128" y="3434196"/>
            <a:ext cx="3743951" cy="1110910"/>
          </a:xfrm>
          <a:prstGeom prst="rect">
            <a:avLst/>
          </a:prstGeom>
        </p:spPr>
      </p:pic>
    </p:spTree>
    <p:extLst>
      <p:ext uri="{BB962C8B-B14F-4D97-AF65-F5344CB8AC3E}">
        <p14:creationId xmlns:p14="http://schemas.microsoft.com/office/powerpoint/2010/main" val="3337382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12</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pPr marL="0" lvl="0" indent="0" algn="l" rtl="0">
              <a:lnSpc>
                <a:spcPct val="115000"/>
              </a:lnSpc>
              <a:spcBef>
                <a:spcPts val="0"/>
              </a:spcBef>
              <a:spcAft>
                <a:spcPts val="0"/>
              </a:spcAft>
              <a:buSzPts val="1800"/>
              <a:buNone/>
            </a:pPr>
            <a:r>
              <a:rPr lang="en-US" altLang="zh-TW" dirty="0">
                <a:latin typeface="Times New Roman"/>
                <a:ea typeface="Times New Roman"/>
                <a:cs typeface="Times New Roman"/>
                <a:sym typeface="Times New Roman"/>
              </a:rPr>
              <a:t>Algorithm</a:t>
            </a:r>
            <a:endParaRPr lang="en-US" altLang="zh-TW" sz="2800" dirty="0">
              <a:solidFill>
                <a:schemeClr val="dk1"/>
              </a:solidFill>
              <a:latin typeface="Times New Roman"/>
              <a:ea typeface="Times New Roman"/>
              <a:cs typeface="Times New Roman"/>
              <a:sym typeface="Times New Roman"/>
            </a:endParaRPr>
          </a:p>
        </p:txBody>
      </p:sp>
      <p:pic>
        <p:nvPicPr>
          <p:cNvPr id="5" name="圖片 4">
            <a:extLst>
              <a:ext uri="{FF2B5EF4-FFF2-40B4-BE49-F238E27FC236}">
                <a16:creationId xmlns:a16="http://schemas.microsoft.com/office/drawing/2014/main" id="{645AB532-46CF-4C1F-A0CA-F7E5A8F5EE50}"/>
              </a:ext>
            </a:extLst>
          </p:cNvPr>
          <p:cNvPicPr>
            <a:picLocks noChangeAspect="1"/>
          </p:cNvPicPr>
          <p:nvPr/>
        </p:nvPicPr>
        <p:blipFill>
          <a:blip r:embed="rId3"/>
          <a:stretch>
            <a:fillRect/>
          </a:stretch>
        </p:blipFill>
        <p:spPr>
          <a:xfrm>
            <a:off x="2106425" y="1017725"/>
            <a:ext cx="4890493" cy="3645492"/>
          </a:xfrm>
          <a:prstGeom prst="rect">
            <a:avLst/>
          </a:prstGeom>
        </p:spPr>
      </p:pic>
    </p:spTree>
    <p:extLst>
      <p:ext uri="{BB962C8B-B14F-4D97-AF65-F5344CB8AC3E}">
        <p14:creationId xmlns:p14="http://schemas.microsoft.com/office/powerpoint/2010/main" val="4288373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13</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pPr marL="0" lvl="0" indent="0" algn="l" rtl="0">
              <a:lnSpc>
                <a:spcPct val="115000"/>
              </a:lnSpc>
              <a:spcBef>
                <a:spcPts val="0"/>
              </a:spcBef>
              <a:spcAft>
                <a:spcPts val="0"/>
              </a:spcAft>
              <a:buSzPts val="1800"/>
              <a:buNone/>
            </a:pPr>
            <a:r>
              <a:rPr lang="en-US" altLang="zh-TW" dirty="0">
                <a:latin typeface="Times New Roman"/>
                <a:ea typeface="Times New Roman"/>
                <a:cs typeface="Times New Roman"/>
                <a:sym typeface="Times New Roman"/>
              </a:rPr>
              <a:t>Extraction Stage</a:t>
            </a:r>
            <a:endParaRPr lang="en-US" altLang="zh-TW" sz="2800" dirty="0">
              <a:solidFill>
                <a:schemeClr val="dk1"/>
              </a:solidFill>
              <a:latin typeface="Times New Roman"/>
              <a:ea typeface="Times New Roman"/>
              <a:cs typeface="Times New Roman"/>
              <a:sym typeface="Times New Roman"/>
            </a:endParaRPr>
          </a:p>
        </p:txBody>
      </p:sp>
      <p:pic>
        <p:nvPicPr>
          <p:cNvPr id="3" name="圖片 2">
            <a:extLst>
              <a:ext uri="{FF2B5EF4-FFF2-40B4-BE49-F238E27FC236}">
                <a16:creationId xmlns:a16="http://schemas.microsoft.com/office/drawing/2014/main" id="{D6972A7E-96B4-41E6-AEA9-21F3AAE162D3}"/>
              </a:ext>
            </a:extLst>
          </p:cNvPr>
          <p:cNvPicPr>
            <a:picLocks noChangeAspect="1"/>
          </p:cNvPicPr>
          <p:nvPr/>
        </p:nvPicPr>
        <p:blipFill>
          <a:blip r:embed="rId3"/>
          <a:stretch>
            <a:fillRect/>
          </a:stretch>
        </p:blipFill>
        <p:spPr>
          <a:xfrm>
            <a:off x="2758128" y="0"/>
            <a:ext cx="4152178" cy="5143500"/>
          </a:xfrm>
          <a:prstGeom prst="rect">
            <a:avLst/>
          </a:prstGeom>
        </p:spPr>
      </p:pic>
    </p:spTree>
    <p:extLst>
      <p:ext uri="{BB962C8B-B14F-4D97-AF65-F5344CB8AC3E}">
        <p14:creationId xmlns:p14="http://schemas.microsoft.com/office/powerpoint/2010/main" val="2577996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14</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ea typeface="Times New Roman"/>
                <a:cs typeface="Times New Roman"/>
                <a:sym typeface="Times New Roman"/>
              </a:rPr>
              <a:t>Result</a:t>
            </a:r>
            <a:endParaRPr lang="zh-TW" altLang="en-US" dirty="0"/>
          </a:p>
        </p:txBody>
      </p:sp>
      <p:pic>
        <p:nvPicPr>
          <p:cNvPr id="9" name="圖片 8">
            <a:extLst>
              <a:ext uri="{FF2B5EF4-FFF2-40B4-BE49-F238E27FC236}">
                <a16:creationId xmlns:a16="http://schemas.microsoft.com/office/drawing/2014/main" id="{58A6D778-241E-4EA3-B4AD-41862633C5D9}"/>
              </a:ext>
            </a:extLst>
          </p:cNvPr>
          <p:cNvPicPr>
            <a:picLocks noChangeAspect="1"/>
          </p:cNvPicPr>
          <p:nvPr/>
        </p:nvPicPr>
        <p:blipFill>
          <a:blip r:embed="rId3"/>
          <a:stretch>
            <a:fillRect/>
          </a:stretch>
        </p:blipFill>
        <p:spPr>
          <a:xfrm>
            <a:off x="0" y="991329"/>
            <a:ext cx="9144000" cy="3671888"/>
          </a:xfrm>
          <a:prstGeom prst="rect">
            <a:avLst/>
          </a:prstGeom>
        </p:spPr>
      </p:pic>
    </p:spTree>
    <p:extLst>
      <p:ext uri="{BB962C8B-B14F-4D97-AF65-F5344CB8AC3E}">
        <p14:creationId xmlns:p14="http://schemas.microsoft.com/office/powerpoint/2010/main" val="3926580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15</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ea typeface="Times New Roman"/>
                <a:cs typeface="Times New Roman"/>
                <a:sym typeface="Times New Roman"/>
              </a:rPr>
              <a:t>Result</a:t>
            </a:r>
            <a:endParaRPr lang="zh-TW" altLang="en-US" dirty="0"/>
          </a:p>
        </p:txBody>
      </p:sp>
      <p:pic>
        <p:nvPicPr>
          <p:cNvPr id="3" name="圖片 2">
            <a:extLst>
              <a:ext uri="{FF2B5EF4-FFF2-40B4-BE49-F238E27FC236}">
                <a16:creationId xmlns:a16="http://schemas.microsoft.com/office/drawing/2014/main" id="{49E41A86-455D-4F3B-B051-323886D1A937}"/>
              </a:ext>
            </a:extLst>
          </p:cNvPr>
          <p:cNvPicPr>
            <a:picLocks noChangeAspect="1"/>
          </p:cNvPicPr>
          <p:nvPr/>
        </p:nvPicPr>
        <p:blipFill>
          <a:blip r:embed="rId3"/>
          <a:stretch>
            <a:fillRect/>
          </a:stretch>
        </p:blipFill>
        <p:spPr>
          <a:xfrm>
            <a:off x="0" y="1017725"/>
            <a:ext cx="9144000" cy="3680424"/>
          </a:xfrm>
          <a:prstGeom prst="rect">
            <a:avLst/>
          </a:prstGeom>
        </p:spPr>
      </p:pic>
    </p:spTree>
    <p:extLst>
      <p:ext uri="{BB962C8B-B14F-4D97-AF65-F5344CB8AC3E}">
        <p14:creationId xmlns:p14="http://schemas.microsoft.com/office/powerpoint/2010/main" val="645709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0" y="1754841"/>
            <a:ext cx="9144000" cy="1902759"/>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ct val="111111"/>
              <a:buNone/>
            </a:pPr>
            <a:r>
              <a:rPr lang="en-US" sz="4800" dirty="0">
                <a:latin typeface="Times New Roman"/>
                <a:ea typeface="Times New Roman"/>
                <a:cs typeface="Times New Roman"/>
                <a:sym typeface="Times New Roman"/>
              </a:rPr>
              <a:t>Thanks</a:t>
            </a:r>
            <a:endParaRPr dirty="0">
              <a:latin typeface="Times New Roman"/>
              <a:ea typeface="Times New Roman"/>
              <a:cs typeface="Times New Roman"/>
              <a:sym typeface="Times New Roman"/>
            </a:endParaRPr>
          </a:p>
        </p:txBody>
      </p:sp>
      <p:sp>
        <p:nvSpPr>
          <p:cNvPr id="111" name="Google Shape;111;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16</a:t>
            </a:fld>
            <a:endParaRPr/>
          </a:p>
        </p:txBody>
      </p:sp>
    </p:spTree>
    <p:extLst>
      <p:ext uri="{BB962C8B-B14F-4D97-AF65-F5344CB8AC3E}">
        <p14:creationId xmlns:p14="http://schemas.microsoft.com/office/powerpoint/2010/main" val="214628215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2133</TotalTime>
  <Words>400</Words>
  <Application>Microsoft Office PowerPoint</Application>
  <PresentationFormat>如螢幕大小 (16:9)</PresentationFormat>
  <Paragraphs>47</Paragraphs>
  <Slides>16</Slides>
  <Notes>16</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16</vt:i4>
      </vt:variant>
    </vt:vector>
  </HeadingPairs>
  <TitlesOfParts>
    <vt:vector size="19" baseType="lpstr">
      <vt:lpstr>Arial</vt:lpstr>
      <vt:lpstr>Times New Roman</vt:lpstr>
      <vt:lpstr>Simple Light</vt:lpstr>
      <vt:lpstr>The use of least significant bit (LSB) and knight tour algorithm  for image steganography of cover image</vt:lpstr>
      <vt:lpstr>Abstract</vt:lpstr>
      <vt:lpstr>Abstract</vt:lpstr>
      <vt:lpstr>Abstract</vt:lpstr>
      <vt:lpstr>Knight’s Tour</vt:lpstr>
      <vt:lpstr>PowerPoint 簡報</vt:lpstr>
      <vt:lpstr>Least Significant Bit (LSB) Steganography</vt:lpstr>
      <vt:lpstr>Least Significant Bit (LSB) Steganography</vt:lpstr>
      <vt:lpstr>Stego Image</vt:lpstr>
      <vt:lpstr>Sender and Receiver</vt:lpstr>
      <vt:lpstr>Embedding Stage</vt:lpstr>
      <vt:lpstr>Algorithm</vt:lpstr>
      <vt:lpstr>Extraction Stage</vt:lpstr>
      <vt:lpstr>Result</vt:lpstr>
      <vt:lpstr>Result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Order-preserving pattern matching with k mismatches</dc:title>
  <cp:lastModifiedBy>鑫昌 俞</cp:lastModifiedBy>
  <cp:revision>112</cp:revision>
  <dcterms:modified xsi:type="dcterms:W3CDTF">2024-03-27T07:06:17Z</dcterms:modified>
</cp:coreProperties>
</file>