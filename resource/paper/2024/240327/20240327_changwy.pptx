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2"/>
  </p:notesMasterIdLst>
  <p:sldIdLst>
    <p:sldId id="256" r:id="rId2"/>
    <p:sldId id="265" r:id="rId3"/>
    <p:sldId id="267" r:id="rId4"/>
    <p:sldId id="283" r:id="rId5"/>
    <p:sldId id="316" r:id="rId6"/>
    <p:sldId id="318" r:id="rId7"/>
    <p:sldId id="319" r:id="rId8"/>
    <p:sldId id="320" r:id="rId9"/>
    <p:sldId id="291" r:id="rId10"/>
    <p:sldId id="321" r:id="rId1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95" autoAdjust="0"/>
    <p:restoredTop sz="89286" autoAdjust="0"/>
  </p:normalViewPr>
  <p:slideViewPr>
    <p:cSldViewPr snapToGrid="0" snapToObjects="1">
      <p:cViewPr varScale="1">
        <p:scale>
          <a:sx n="58" d="100"/>
          <a:sy n="58" d="100"/>
        </p:scale>
        <p:origin x="95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C87B1E-D7BB-234A-BB61-4186E7CB5889}" type="datetimeFigureOut">
              <a:rPr kumimoji="1" lang="zh-TW" altLang="en-US" smtClean="0"/>
              <a:t>2024/3/27</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A56A01-BB7F-2749-98D2-EC6EAA37179B}" type="slidenum">
              <a:rPr kumimoji="1" lang="zh-TW" altLang="en-US" smtClean="0"/>
              <a:t>‹#›</a:t>
            </a:fld>
            <a:endParaRPr kumimoji="1" lang="zh-TW" altLang="en-US"/>
          </a:p>
        </p:txBody>
      </p:sp>
    </p:spTree>
    <p:extLst>
      <p:ext uri="{BB962C8B-B14F-4D97-AF65-F5344CB8AC3E}">
        <p14:creationId xmlns:p14="http://schemas.microsoft.com/office/powerpoint/2010/main" val="139445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2</a:t>
            </a:fld>
            <a:endParaRPr kumimoji="1" lang="zh-TW" altLang="en-US"/>
          </a:p>
        </p:txBody>
      </p:sp>
    </p:spTree>
    <p:extLst>
      <p:ext uri="{BB962C8B-B14F-4D97-AF65-F5344CB8AC3E}">
        <p14:creationId xmlns:p14="http://schemas.microsoft.com/office/powerpoint/2010/main" val="6817184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3</a:t>
            </a:fld>
            <a:endParaRPr kumimoji="1" lang="zh-TW" altLang="en-US"/>
          </a:p>
        </p:txBody>
      </p:sp>
    </p:spTree>
    <p:extLst>
      <p:ext uri="{BB962C8B-B14F-4D97-AF65-F5344CB8AC3E}">
        <p14:creationId xmlns:p14="http://schemas.microsoft.com/office/powerpoint/2010/main" val="34497886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4</a:t>
            </a:fld>
            <a:endParaRPr kumimoji="1" lang="zh-TW" altLang="en-US"/>
          </a:p>
        </p:txBody>
      </p:sp>
    </p:spTree>
    <p:extLst>
      <p:ext uri="{BB962C8B-B14F-4D97-AF65-F5344CB8AC3E}">
        <p14:creationId xmlns:p14="http://schemas.microsoft.com/office/powerpoint/2010/main" val="25829327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5</a:t>
            </a:fld>
            <a:endParaRPr kumimoji="1" lang="zh-TW" altLang="en-US"/>
          </a:p>
        </p:txBody>
      </p:sp>
    </p:spTree>
    <p:extLst>
      <p:ext uri="{BB962C8B-B14F-4D97-AF65-F5344CB8AC3E}">
        <p14:creationId xmlns:p14="http://schemas.microsoft.com/office/powerpoint/2010/main" val="19653011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6</a:t>
            </a:fld>
            <a:endParaRPr kumimoji="1" lang="zh-TW" altLang="en-US"/>
          </a:p>
        </p:txBody>
      </p:sp>
    </p:spTree>
    <p:extLst>
      <p:ext uri="{BB962C8B-B14F-4D97-AF65-F5344CB8AC3E}">
        <p14:creationId xmlns:p14="http://schemas.microsoft.com/office/powerpoint/2010/main" val="8021434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7</a:t>
            </a:fld>
            <a:endParaRPr kumimoji="1" lang="zh-TW" altLang="en-US"/>
          </a:p>
        </p:txBody>
      </p:sp>
    </p:spTree>
    <p:extLst>
      <p:ext uri="{BB962C8B-B14F-4D97-AF65-F5344CB8AC3E}">
        <p14:creationId xmlns:p14="http://schemas.microsoft.com/office/powerpoint/2010/main" val="13572962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8</a:t>
            </a:fld>
            <a:endParaRPr kumimoji="1" lang="zh-TW" altLang="en-US"/>
          </a:p>
        </p:txBody>
      </p:sp>
    </p:spTree>
    <p:extLst>
      <p:ext uri="{BB962C8B-B14F-4D97-AF65-F5344CB8AC3E}">
        <p14:creationId xmlns:p14="http://schemas.microsoft.com/office/powerpoint/2010/main" val="29808104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9</a:t>
            </a:fld>
            <a:endParaRPr kumimoji="1" lang="zh-TW" altLang="en-US"/>
          </a:p>
        </p:txBody>
      </p:sp>
    </p:spTree>
    <p:extLst>
      <p:ext uri="{BB962C8B-B14F-4D97-AF65-F5344CB8AC3E}">
        <p14:creationId xmlns:p14="http://schemas.microsoft.com/office/powerpoint/2010/main" val="36055356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SBNDM4</a:t>
            </a:r>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10</a:t>
            </a:fld>
            <a:endParaRPr kumimoji="1" lang="zh-TW" altLang="en-US"/>
          </a:p>
        </p:txBody>
      </p:sp>
    </p:spTree>
    <p:extLst>
      <p:ext uri="{BB962C8B-B14F-4D97-AF65-F5344CB8AC3E}">
        <p14:creationId xmlns:p14="http://schemas.microsoft.com/office/powerpoint/2010/main" val="1307659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D501DD-7617-CF45-952C-148738FE8509}"/>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0349E178-73AA-644C-8223-66BF713642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按一下以編輯母片子標題樣式</a:t>
            </a:r>
          </a:p>
        </p:txBody>
      </p:sp>
      <p:sp>
        <p:nvSpPr>
          <p:cNvPr id="4" name="日期版面配置區 3">
            <a:extLst>
              <a:ext uri="{FF2B5EF4-FFF2-40B4-BE49-F238E27FC236}">
                <a16:creationId xmlns:a16="http://schemas.microsoft.com/office/drawing/2014/main" id="{B653253A-849A-4D45-A3E7-4D1991E4C901}"/>
              </a:ext>
            </a:extLst>
          </p:cNvPr>
          <p:cNvSpPr>
            <a:spLocks noGrp="1"/>
          </p:cNvSpPr>
          <p:nvPr>
            <p:ph type="dt" sz="half" idx="10"/>
          </p:nvPr>
        </p:nvSpPr>
        <p:spPr/>
        <p:txBody>
          <a:bodyPr/>
          <a:lstStyle/>
          <a:p>
            <a:fld id="{A2F653D5-883A-5840-B916-BEC4DF4506D5}" type="datetime1">
              <a:rPr kumimoji="1" lang="zh-TW" altLang="en-US" smtClean="0"/>
              <a:t>2024/3/27</a:t>
            </a:fld>
            <a:endParaRPr kumimoji="1" lang="zh-TW" altLang="en-US"/>
          </a:p>
        </p:txBody>
      </p:sp>
      <p:sp>
        <p:nvSpPr>
          <p:cNvPr id="5" name="頁尾版面配置區 4">
            <a:extLst>
              <a:ext uri="{FF2B5EF4-FFF2-40B4-BE49-F238E27FC236}">
                <a16:creationId xmlns:a16="http://schemas.microsoft.com/office/drawing/2014/main" id="{A6ECDC78-3D4D-404B-AFA4-5B8A4BFDC68F}"/>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BB6C002C-0479-C74D-9FB3-84645C0AAB3D}"/>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205809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7A464A-FDF4-3341-B07B-24B820E47B20}"/>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4FA333E2-9D9C-8C49-8592-A408903CFAD9}"/>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75D6F474-7FB1-5646-B2F2-525F8D173137}"/>
              </a:ext>
            </a:extLst>
          </p:cNvPr>
          <p:cNvSpPr>
            <a:spLocks noGrp="1"/>
          </p:cNvSpPr>
          <p:nvPr>
            <p:ph type="dt" sz="half" idx="10"/>
          </p:nvPr>
        </p:nvSpPr>
        <p:spPr/>
        <p:txBody>
          <a:bodyPr/>
          <a:lstStyle/>
          <a:p>
            <a:fld id="{252429E5-98E1-4140-9D90-8AD9B393DC63}" type="datetime1">
              <a:rPr kumimoji="1" lang="zh-TW" altLang="en-US" smtClean="0"/>
              <a:t>2024/3/27</a:t>
            </a:fld>
            <a:endParaRPr kumimoji="1" lang="zh-TW" altLang="en-US"/>
          </a:p>
        </p:txBody>
      </p:sp>
      <p:sp>
        <p:nvSpPr>
          <p:cNvPr id="5" name="頁尾版面配置區 4">
            <a:extLst>
              <a:ext uri="{FF2B5EF4-FFF2-40B4-BE49-F238E27FC236}">
                <a16:creationId xmlns:a16="http://schemas.microsoft.com/office/drawing/2014/main" id="{4534CE80-A870-164A-A65F-809FC9C002C8}"/>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E5BB9FA6-21BE-FF46-A0DD-80A4E3E45C48}"/>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238567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6485C0-58BA-C248-AFEC-796DBE7A28BC}"/>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80E020E7-FE89-E04B-A373-97BD15E9BAA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按一下以編輯母片文字樣式</a:t>
            </a:r>
          </a:p>
        </p:txBody>
      </p:sp>
      <p:sp>
        <p:nvSpPr>
          <p:cNvPr id="4" name="日期版面配置區 3">
            <a:extLst>
              <a:ext uri="{FF2B5EF4-FFF2-40B4-BE49-F238E27FC236}">
                <a16:creationId xmlns:a16="http://schemas.microsoft.com/office/drawing/2014/main" id="{C1132D52-ED19-E540-984A-CB07B5F73432}"/>
              </a:ext>
            </a:extLst>
          </p:cNvPr>
          <p:cNvSpPr>
            <a:spLocks noGrp="1"/>
          </p:cNvSpPr>
          <p:nvPr>
            <p:ph type="dt" sz="half" idx="10"/>
          </p:nvPr>
        </p:nvSpPr>
        <p:spPr/>
        <p:txBody>
          <a:bodyPr/>
          <a:lstStyle/>
          <a:p>
            <a:fld id="{0D40C34D-36C3-F34E-AF6E-5E7D513EECD1}" type="datetime1">
              <a:rPr kumimoji="1" lang="zh-TW" altLang="en-US" smtClean="0"/>
              <a:t>2024/3/27</a:t>
            </a:fld>
            <a:endParaRPr kumimoji="1" lang="zh-TW" altLang="en-US"/>
          </a:p>
        </p:txBody>
      </p:sp>
      <p:sp>
        <p:nvSpPr>
          <p:cNvPr id="5" name="頁尾版面配置區 4">
            <a:extLst>
              <a:ext uri="{FF2B5EF4-FFF2-40B4-BE49-F238E27FC236}">
                <a16:creationId xmlns:a16="http://schemas.microsoft.com/office/drawing/2014/main" id="{7A6BDAE5-6429-1646-BE72-C577966D27BC}"/>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1FD161E-0E50-D549-9D79-396E6719964B}"/>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3480730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2C827E9-DFE9-224C-9899-DD344BC7F31A}"/>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6BF56C89-BB60-5D4A-B951-F0C1C7545877}"/>
              </a:ext>
            </a:extLst>
          </p:cNvPr>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716C126F-4174-1949-9558-B4C272D36FDA}"/>
              </a:ext>
            </a:extLst>
          </p:cNvPr>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04765A31-2149-0648-8A59-90D896183FFF}"/>
              </a:ext>
            </a:extLst>
          </p:cNvPr>
          <p:cNvSpPr>
            <a:spLocks noGrp="1"/>
          </p:cNvSpPr>
          <p:nvPr>
            <p:ph type="dt" sz="half" idx="10"/>
          </p:nvPr>
        </p:nvSpPr>
        <p:spPr/>
        <p:txBody>
          <a:bodyPr/>
          <a:lstStyle/>
          <a:p>
            <a:fld id="{82B76D90-58FA-0641-BF29-5E2687B5D06E}" type="datetime1">
              <a:rPr kumimoji="1" lang="zh-TW" altLang="en-US" smtClean="0"/>
              <a:t>2024/3/27</a:t>
            </a:fld>
            <a:endParaRPr kumimoji="1" lang="zh-TW" altLang="en-US"/>
          </a:p>
        </p:txBody>
      </p:sp>
      <p:sp>
        <p:nvSpPr>
          <p:cNvPr id="6" name="頁尾版面配置區 5">
            <a:extLst>
              <a:ext uri="{FF2B5EF4-FFF2-40B4-BE49-F238E27FC236}">
                <a16:creationId xmlns:a16="http://schemas.microsoft.com/office/drawing/2014/main" id="{EEC8BAB3-FB47-3344-B999-5CB7AACA7071}"/>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93B979C4-5F59-314A-943B-7732149E643F}"/>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347998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5675BCB-A32E-984F-994B-6AD69C183376}"/>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EF3BBA48-11AB-EA42-B26E-97C56E55B8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a:extLst>
              <a:ext uri="{FF2B5EF4-FFF2-40B4-BE49-F238E27FC236}">
                <a16:creationId xmlns:a16="http://schemas.microsoft.com/office/drawing/2014/main" id="{C045D110-23DF-BA43-8D13-0E9505DCCED9}"/>
              </a:ext>
            </a:extLst>
          </p:cNvPr>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B0FA7828-C650-A046-B918-8845F0B6A8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a:extLst>
              <a:ext uri="{FF2B5EF4-FFF2-40B4-BE49-F238E27FC236}">
                <a16:creationId xmlns:a16="http://schemas.microsoft.com/office/drawing/2014/main" id="{D2DE3B6E-6238-D149-9212-48351BD8A3BD}"/>
              </a:ext>
            </a:extLst>
          </p:cNvPr>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4A5BA387-FB25-3242-BD50-C95AE8C57586}"/>
              </a:ext>
            </a:extLst>
          </p:cNvPr>
          <p:cNvSpPr>
            <a:spLocks noGrp="1"/>
          </p:cNvSpPr>
          <p:nvPr>
            <p:ph type="dt" sz="half" idx="10"/>
          </p:nvPr>
        </p:nvSpPr>
        <p:spPr/>
        <p:txBody>
          <a:bodyPr/>
          <a:lstStyle/>
          <a:p>
            <a:fld id="{65C3B0E6-B8C8-474E-B122-D8F5DE0AFAD2}" type="datetime1">
              <a:rPr kumimoji="1" lang="zh-TW" altLang="en-US" smtClean="0"/>
              <a:t>2024/3/27</a:t>
            </a:fld>
            <a:endParaRPr kumimoji="1" lang="zh-TW" altLang="en-US"/>
          </a:p>
        </p:txBody>
      </p:sp>
      <p:sp>
        <p:nvSpPr>
          <p:cNvPr id="8" name="頁尾版面配置區 7">
            <a:extLst>
              <a:ext uri="{FF2B5EF4-FFF2-40B4-BE49-F238E27FC236}">
                <a16:creationId xmlns:a16="http://schemas.microsoft.com/office/drawing/2014/main" id="{DEDC4116-BEB6-7E4E-A4A7-D2553343B24F}"/>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CD0F097C-57D7-B44E-A73C-8373F218B190}"/>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075894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8114667-755C-594C-B649-0C584C797C69}"/>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3ABF655D-EEC9-1849-AFE9-30359B4DAFF8}"/>
              </a:ext>
            </a:extLst>
          </p:cNvPr>
          <p:cNvSpPr>
            <a:spLocks noGrp="1"/>
          </p:cNvSpPr>
          <p:nvPr>
            <p:ph type="dt" sz="half" idx="10"/>
          </p:nvPr>
        </p:nvSpPr>
        <p:spPr/>
        <p:txBody>
          <a:bodyPr/>
          <a:lstStyle/>
          <a:p>
            <a:fld id="{8869937B-9027-774A-B9FD-9279ACD255BD}" type="datetime1">
              <a:rPr kumimoji="1" lang="zh-TW" altLang="en-US" smtClean="0"/>
              <a:t>2024/3/27</a:t>
            </a:fld>
            <a:endParaRPr kumimoji="1" lang="zh-TW" altLang="en-US"/>
          </a:p>
        </p:txBody>
      </p:sp>
      <p:sp>
        <p:nvSpPr>
          <p:cNvPr id="4" name="頁尾版面配置區 3">
            <a:extLst>
              <a:ext uri="{FF2B5EF4-FFF2-40B4-BE49-F238E27FC236}">
                <a16:creationId xmlns:a16="http://schemas.microsoft.com/office/drawing/2014/main" id="{135848DC-EF7E-5E45-97D5-BB002916150F}"/>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BEF47D0D-FB63-C04A-88AA-4663F56A5B04}"/>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244298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730D0DAB-E3AB-C542-BAF1-FA0813FFFB56}"/>
              </a:ext>
            </a:extLst>
          </p:cNvPr>
          <p:cNvSpPr>
            <a:spLocks noGrp="1"/>
          </p:cNvSpPr>
          <p:nvPr>
            <p:ph type="dt" sz="half" idx="10"/>
          </p:nvPr>
        </p:nvSpPr>
        <p:spPr/>
        <p:txBody>
          <a:bodyPr/>
          <a:lstStyle/>
          <a:p>
            <a:fld id="{6C319104-FA4D-834B-9033-B46E2F34E77F}" type="datetime1">
              <a:rPr kumimoji="1" lang="zh-TW" altLang="en-US" smtClean="0"/>
              <a:t>2024/3/27</a:t>
            </a:fld>
            <a:endParaRPr kumimoji="1" lang="zh-TW" altLang="en-US"/>
          </a:p>
        </p:txBody>
      </p:sp>
      <p:sp>
        <p:nvSpPr>
          <p:cNvPr id="3" name="頁尾版面配置區 2">
            <a:extLst>
              <a:ext uri="{FF2B5EF4-FFF2-40B4-BE49-F238E27FC236}">
                <a16:creationId xmlns:a16="http://schemas.microsoft.com/office/drawing/2014/main" id="{A44257D8-EC9E-534F-9065-715A4574FDC7}"/>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F0029C47-757A-114F-A178-225027BD7FDF}"/>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786642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96441E4-4620-9244-B66E-26EC9ECBAE2B}"/>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A6E2631A-AADB-4344-B902-B53FE9F513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9D2930E1-81A7-6848-925D-24DF95107A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34A1FEB3-ECC3-AD41-BEA6-44C6F60FF1DE}"/>
              </a:ext>
            </a:extLst>
          </p:cNvPr>
          <p:cNvSpPr>
            <a:spLocks noGrp="1"/>
          </p:cNvSpPr>
          <p:nvPr>
            <p:ph type="dt" sz="half" idx="10"/>
          </p:nvPr>
        </p:nvSpPr>
        <p:spPr/>
        <p:txBody>
          <a:bodyPr/>
          <a:lstStyle/>
          <a:p>
            <a:fld id="{BAC173C6-1BDC-EF4C-9138-1B867971D82A}" type="datetime1">
              <a:rPr kumimoji="1" lang="zh-TW" altLang="en-US" smtClean="0"/>
              <a:t>2024/3/27</a:t>
            </a:fld>
            <a:endParaRPr kumimoji="1" lang="zh-TW" altLang="en-US"/>
          </a:p>
        </p:txBody>
      </p:sp>
      <p:sp>
        <p:nvSpPr>
          <p:cNvPr id="6" name="頁尾版面配置區 5">
            <a:extLst>
              <a:ext uri="{FF2B5EF4-FFF2-40B4-BE49-F238E27FC236}">
                <a16:creationId xmlns:a16="http://schemas.microsoft.com/office/drawing/2014/main" id="{42CC6D6D-32D3-0F46-8645-9348CDCC2DA1}"/>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A0AFE86A-1C31-4A46-A584-5E4CEF4AEA2B}"/>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8033532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E1D89C4-8B50-834A-81C5-869F9DC9C0F0}"/>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D5534F9E-8511-5F4A-A82F-05692527D3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zh-TW" altLang="en-US"/>
              <a:t>按一下圖示以新增圖片</a:t>
            </a:r>
          </a:p>
        </p:txBody>
      </p:sp>
      <p:sp>
        <p:nvSpPr>
          <p:cNvPr id="4" name="文字版面配置區 3">
            <a:extLst>
              <a:ext uri="{FF2B5EF4-FFF2-40B4-BE49-F238E27FC236}">
                <a16:creationId xmlns:a16="http://schemas.microsoft.com/office/drawing/2014/main" id="{AB5567A0-F6B9-9340-A872-76C4D30942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9579205F-B98C-E943-92A5-27963140F3C8}"/>
              </a:ext>
            </a:extLst>
          </p:cNvPr>
          <p:cNvSpPr>
            <a:spLocks noGrp="1"/>
          </p:cNvSpPr>
          <p:nvPr>
            <p:ph type="dt" sz="half" idx="10"/>
          </p:nvPr>
        </p:nvSpPr>
        <p:spPr/>
        <p:txBody>
          <a:bodyPr/>
          <a:lstStyle/>
          <a:p>
            <a:fld id="{5708567F-5EDC-4F4F-93AF-7C8D00AA37FD}" type="datetime1">
              <a:rPr kumimoji="1" lang="zh-TW" altLang="en-US" smtClean="0"/>
              <a:t>2024/3/27</a:t>
            </a:fld>
            <a:endParaRPr kumimoji="1" lang="zh-TW" altLang="en-US"/>
          </a:p>
        </p:txBody>
      </p:sp>
      <p:sp>
        <p:nvSpPr>
          <p:cNvPr id="6" name="頁尾版面配置區 5">
            <a:extLst>
              <a:ext uri="{FF2B5EF4-FFF2-40B4-BE49-F238E27FC236}">
                <a16:creationId xmlns:a16="http://schemas.microsoft.com/office/drawing/2014/main" id="{30A25F96-ED76-8549-9FD6-2B59D2856A98}"/>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0696D537-3F67-CD44-B755-194C465EDB54}"/>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3134918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D6AB28-6653-9C49-A992-A4247978B7D2}"/>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F6E57488-2CEC-AB48-B522-A9BF17B67ED1}"/>
              </a:ext>
            </a:extLst>
          </p:cNvPr>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5F9DC675-96A7-5740-944C-CAFED91F8875}"/>
              </a:ext>
            </a:extLst>
          </p:cNvPr>
          <p:cNvSpPr>
            <a:spLocks noGrp="1"/>
          </p:cNvSpPr>
          <p:nvPr>
            <p:ph type="dt" sz="half" idx="10"/>
          </p:nvPr>
        </p:nvSpPr>
        <p:spPr/>
        <p:txBody>
          <a:bodyPr/>
          <a:lstStyle/>
          <a:p>
            <a:fld id="{419ABB45-072B-E944-9661-5DAAF6BF234C}" type="datetime1">
              <a:rPr kumimoji="1" lang="zh-TW" altLang="en-US" smtClean="0"/>
              <a:t>2024/3/27</a:t>
            </a:fld>
            <a:endParaRPr kumimoji="1" lang="zh-TW" altLang="en-US"/>
          </a:p>
        </p:txBody>
      </p:sp>
      <p:sp>
        <p:nvSpPr>
          <p:cNvPr id="5" name="頁尾版面配置區 4">
            <a:extLst>
              <a:ext uri="{FF2B5EF4-FFF2-40B4-BE49-F238E27FC236}">
                <a16:creationId xmlns:a16="http://schemas.microsoft.com/office/drawing/2014/main" id="{EE19B60E-DE36-CE48-92C7-29C904047F0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8A11CB14-7E7D-DA4F-95BF-F4F6A71A702C}"/>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4137844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3137A97-13EF-684A-A0A9-0B2C4B915BF7}"/>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C14D9E75-6CF5-DE45-9FA4-3A5D546C876F}"/>
              </a:ext>
            </a:extLst>
          </p:cNvPr>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B9846D7A-FDC0-584E-83DF-7CFDFE86ADAC}"/>
              </a:ext>
            </a:extLst>
          </p:cNvPr>
          <p:cNvSpPr>
            <a:spLocks noGrp="1"/>
          </p:cNvSpPr>
          <p:nvPr>
            <p:ph type="dt" sz="half" idx="10"/>
          </p:nvPr>
        </p:nvSpPr>
        <p:spPr/>
        <p:txBody>
          <a:bodyPr/>
          <a:lstStyle/>
          <a:p>
            <a:fld id="{FA3D0E93-5293-2E45-810C-52C7374A43E9}" type="datetime1">
              <a:rPr kumimoji="1" lang="zh-TW" altLang="en-US" smtClean="0"/>
              <a:t>2024/3/27</a:t>
            </a:fld>
            <a:endParaRPr kumimoji="1" lang="zh-TW" altLang="en-US"/>
          </a:p>
        </p:txBody>
      </p:sp>
      <p:sp>
        <p:nvSpPr>
          <p:cNvPr id="5" name="頁尾版面配置區 4">
            <a:extLst>
              <a:ext uri="{FF2B5EF4-FFF2-40B4-BE49-F238E27FC236}">
                <a16:creationId xmlns:a16="http://schemas.microsoft.com/office/drawing/2014/main" id="{B05227D2-8B70-D046-B3FE-419A3723BF43}"/>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0C29F65E-93FE-3541-912C-7DF85AF21685}"/>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853969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5422299C-DADF-924C-A256-3B359ECFB5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7E7C0D55-55DC-8A4F-8D1C-054CD64B89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D4F6F637-18F3-BD4C-908D-9F4BD7CEC2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2D2FFB-DAFA-B349-908F-41F05A7F02F7}" type="datetime1">
              <a:rPr kumimoji="1" lang="zh-TW" altLang="en-US" smtClean="0"/>
              <a:t>2024/3/27</a:t>
            </a:fld>
            <a:endParaRPr kumimoji="1" lang="zh-TW" altLang="en-US"/>
          </a:p>
        </p:txBody>
      </p:sp>
      <p:sp>
        <p:nvSpPr>
          <p:cNvPr id="5" name="頁尾版面配置區 4">
            <a:extLst>
              <a:ext uri="{FF2B5EF4-FFF2-40B4-BE49-F238E27FC236}">
                <a16:creationId xmlns:a16="http://schemas.microsoft.com/office/drawing/2014/main" id="{8189E3A8-AF3F-CA42-A297-2EE032B20F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CD309E7D-F646-F04E-B26F-BEF4E72885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3965180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5C7C8A-452E-D943-890A-99D101A85538}"/>
              </a:ext>
            </a:extLst>
          </p:cNvPr>
          <p:cNvSpPr>
            <a:spLocks noGrp="1"/>
          </p:cNvSpPr>
          <p:nvPr>
            <p:ph type="ctrTitle"/>
          </p:nvPr>
        </p:nvSpPr>
        <p:spPr>
          <a:xfrm>
            <a:off x="762000" y="1121683"/>
            <a:ext cx="10668000" cy="2387600"/>
          </a:xfrm>
        </p:spPr>
        <p:txBody>
          <a:bodyPr anchor="ctr">
            <a:normAutofit/>
          </a:bodyPr>
          <a:lstStyle/>
          <a:p>
            <a:r>
              <a:rPr kumimoji="1" lang="en-US" altLang="zh-TW" sz="4800" dirty="0">
                <a:latin typeface="Times New Roman" panose="02020603050405020304" pitchFamily="18" charset="0"/>
                <a:cs typeface="Times New Roman" panose="02020603050405020304" pitchFamily="18" charset="0"/>
              </a:rPr>
              <a:t>Order-Preserving Matching with Filtration</a:t>
            </a:r>
            <a:endParaRPr kumimoji="1" lang="zh-TW" altLang="en-US" sz="4800" dirty="0">
              <a:latin typeface="Times" pitchFamily="2" charset="0"/>
            </a:endParaRPr>
          </a:p>
        </p:txBody>
      </p:sp>
      <p:sp>
        <p:nvSpPr>
          <p:cNvPr id="3" name="副標題 2">
            <a:extLst>
              <a:ext uri="{FF2B5EF4-FFF2-40B4-BE49-F238E27FC236}">
                <a16:creationId xmlns:a16="http://schemas.microsoft.com/office/drawing/2014/main" id="{AA9CE59C-0A7C-3340-9871-01BB9F00CC93}"/>
              </a:ext>
            </a:extLst>
          </p:cNvPr>
          <p:cNvSpPr>
            <a:spLocks noGrp="1"/>
          </p:cNvSpPr>
          <p:nvPr>
            <p:ph type="subTitle" idx="1"/>
          </p:nvPr>
        </p:nvSpPr>
        <p:spPr>
          <a:xfrm>
            <a:off x="447675" y="3565526"/>
            <a:ext cx="11296650" cy="1655762"/>
          </a:xfrm>
        </p:spPr>
        <p:txBody>
          <a:bodyPr>
            <a:noAutofit/>
          </a:bodyPr>
          <a:lstStyle/>
          <a:p>
            <a:pPr>
              <a:lnSpc>
                <a:spcPct val="100000"/>
              </a:lnSpc>
            </a:pPr>
            <a:r>
              <a:rPr lang="pl-PL" altLang="zh-TW" dirty="0">
                <a:latin typeface="Times New Roman" panose="02020603050405020304" pitchFamily="18" charset="0"/>
                <a:cs typeface="Times New Roman" panose="02020603050405020304" pitchFamily="18" charset="0"/>
              </a:rPr>
              <a:t>Tamanna Chhabra and Jorma Tarhio</a:t>
            </a:r>
            <a:endParaRPr lang="en-US" altLang="zh-TW" dirty="0">
              <a:latin typeface="Times New Roman" panose="02020603050405020304" pitchFamily="18" charset="0"/>
              <a:cs typeface="Times New Roman" panose="02020603050405020304" pitchFamily="18" charset="0"/>
            </a:endParaRPr>
          </a:p>
          <a:p>
            <a:pPr>
              <a:lnSpc>
                <a:spcPct val="100000"/>
              </a:lnSpc>
            </a:pPr>
            <a:r>
              <a:rPr lang="en-US" altLang="zh-TW" dirty="0">
                <a:latin typeface="Times New Roman" panose="02020603050405020304" pitchFamily="18" charset="0"/>
                <a:cs typeface="Times New Roman" panose="02020603050405020304" pitchFamily="18" charset="0"/>
              </a:rPr>
              <a:t>13th International Symposium, SEA 2014, Copenhagen, Denmark, June 29 - July 1, 2014</a:t>
            </a:r>
          </a:p>
        </p:txBody>
      </p:sp>
      <p:sp>
        <p:nvSpPr>
          <p:cNvPr id="4" name="文字方塊 3">
            <a:extLst>
              <a:ext uri="{FF2B5EF4-FFF2-40B4-BE49-F238E27FC236}">
                <a16:creationId xmlns:a16="http://schemas.microsoft.com/office/drawing/2014/main" id="{66ED1160-6DCB-BA45-A8E3-C0A533D93526}"/>
              </a:ext>
            </a:extLst>
          </p:cNvPr>
          <p:cNvSpPr txBox="1"/>
          <p:nvPr/>
        </p:nvSpPr>
        <p:spPr>
          <a:xfrm>
            <a:off x="9461868" y="5993027"/>
            <a:ext cx="2573012" cy="646331"/>
          </a:xfrm>
          <a:prstGeom prst="rect">
            <a:avLst/>
          </a:prstGeom>
          <a:noFill/>
        </p:spPr>
        <p:txBody>
          <a:bodyPr wrap="none" rtlCol="0">
            <a:spAutoFit/>
          </a:bodyPr>
          <a:lstStyle/>
          <a:p>
            <a:r>
              <a:rPr kumimoji="1" lang="en-US" altLang="zh-TW" dirty="0">
                <a:latin typeface="Times" pitchFamily="2" charset="0"/>
              </a:rPr>
              <a:t>Presenter: Wen-Yu Chang</a:t>
            </a:r>
          </a:p>
          <a:p>
            <a:r>
              <a:rPr kumimoji="1" lang="en-US" altLang="zh-TW" dirty="0">
                <a:latin typeface="Times" pitchFamily="2" charset="0"/>
              </a:rPr>
              <a:t>Date:</a:t>
            </a:r>
            <a:r>
              <a:rPr kumimoji="1" lang="zh-TW" altLang="en-US" dirty="0">
                <a:latin typeface="Times" pitchFamily="2" charset="0"/>
              </a:rPr>
              <a:t> </a:t>
            </a:r>
            <a:r>
              <a:rPr kumimoji="1" lang="en-US" altLang="zh-TW" dirty="0">
                <a:latin typeface="Times" pitchFamily="2" charset="0"/>
              </a:rPr>
              <a:t>Mar.</a:t>
            </a:r>
            <a:r>
              <a:rPr kumimoji="1" lang="zh-TW" altLang="en-US" dirty="0">
                <a:latin typeface="Times" pitchFamily="2" charset="0"/>
              </a:rPr>
              <a:t> </a:t>
            </a:r>
            <a:r>
              <a:rPr kumimoji="1" lang="en-US" altLang="zh-TW" dirty="0">
                <a:latin typeface="Times" pitchFamily="2" charset="0"/>
              </a:rPr>
              <a:t>27,</a:t>
            </a:r>
            <a:r>
              <a:rPr kumimoji="1" lang="zh-TW" altLang="en-US" dirty="0">
                <a:latin typeface="Times" pitchFamily="2" charset="0"/>
              </a:rPr>
              <a:t> </a:t>
            </a:r>
            <a:r>
              <a:rPr kumimoji="1" lang="en-US" altLang="zh-TW" dirty="0">
                <a:latin typeface="Times" pitchFamily="2" charset="0"/>
              </a:rPr>
              <a:t>2024</a:t>
            </a:r>
            <a:endParaRPr kumimoji="1" lang="zh-TW" altLang="en-US" dirty="0">
              <a:latin typeface="Times" pitchFamily="2" charset="0"/>
            </a:endParaRPr>
          </a:p>
        </p:txBody>
      </p:sp>
    </p:spTree>
    <p:extLst>
      <p:ext uri="{BB962C8B-B14F-4D97-AF65-F5344CB8AC3E}">
        <p14:creationId xmlns:p14="http://schemas.microsoft.com/office/powerpoint/2010/main" val="3994279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67C017-EEF6-AF41-82FB-650CB4935125}"/>
              </a:ext>
            </a:extLst>
          </p:cNvPr>
          <p:cNvSpPr>
            <a:spLocks noGrp="1"/>
          </p:cNvSpPr>
          <p:nvPr>
            <p:ph type="title"/>
          </p:nvPr>
        </p:nvSpPr>
        <p:spPr/>
        <p:txBody>
          <a:bodyPr/>
          <a:lstStyle/>
          <a:p>
            <a:r>
              <a:rPr kumimoji="1" lang="en-US" altLang="zh-TW" dirty="0">
                <a:latin typeface="Times" pitchFamily="2" charset="0"/>
              </a:rPr>
              <a:t>Abstract</a:t>
            </a:r>
            <a:endParaRPr kumimoji="1" lang="zh-TW" altLang="en-US" dirty="0">
              <a:latin typeface="Times" pitchFamily="2" charset="0"/>
            </a:endParaRPr>
          </a:p>
        </p:txBody>
      </p:sp>
      <p:sp>
        <p:nvSpPr>
          <p:cNvPr id="3" name="內容版面配置區 2">
            <a:extLst>
              <a:ext uri="{FF2B5EF4-FFF2-40B4-BE49-F238E27FC236}">
                <a16:creationId xmlns:a16="http://schemas.microsoft.com/office/drawing/2014/main" id="{8D09F5D7-A24C-7540-ADEE-E8D83623F3F0}"/>
              </a:ext>
            </a:extLst>
          </p:cNvPr>
          <p:cNvSpPr>
            <a:spLocks noGrp="1"/>
          </p:cNvSpPr>
          <p:nvPr>
            <p:ph idx="1"/>
          </p:nvPr>
        </p:nvSpPr>
        <p:spPr>
          <a:xfrm>
            <a:off x="838200" y="1481138"/>
            <a:ext cx="10515600" cy="4351338"/>
          </a:xfrm>
        </p:spPr>
        <p:txBody>
          <a:bodyPr>
            <a:noAutofit/>
          </a:bodyPr>
          <a:lstStyle/>
          <a:p>
            <a:pPr marL="0" indent="0" algn="just">
              <a:lnSpc>
                <a:spcPct val="150000"/>
              </a:lnSpc>
              <a:buNone/>
            </a:pPr>
            <a:r>
              <a:rPr lang="en-US" altLang="zh-TW" sz="2400" dirty="0">
                <a:latin typeface="Times" panose="02020603050405020304" pitchFamily="18" charset="0"/>
                <a:cs typeface="Times" panose="02020603050405020304" pitchFamily="18" charset="0"/>
              </a:rPr>
              <a:t>The problem of order-preserving matching has gained attention lately. The text and the pattern consist of numbers. The task is to find all substrings in the text which have the same relative order as the pattern. The problem has applications in analysis of time series like stock market or weather data. Solutions based on the KMP and BMH algorithms have been presented earlier. We present a new sublinear solution based on filtration. Any algorithm for exact string matching can be used as a filtering method. If the filtration algorithm is sublinear, the total method is sublinear on average. We show by practical experiments that the new solution is more efficient than earlier algorithms.</a:t>
            </a:r>
            <a:endParaRPr lang="en" altLang="zh-TW" sz="2400" dirty="0">
              <a:latin typeface="Times" panose="02020603050405020304" pitchFamily="18" charset="0"/>
              <a:cs typeface="Times" panose="02020603050405020304" pitchFamily="18" charset="0"/>
            </a:endParaRPr>
          </a:p>
        </p:txBody>
      </p:sp>
      <p:sp>
        <p:nvSpPr>
          <p:cNvPr id="4" name="投影片編號版面配置區 3">
            <a:extLst>
              <a:ext uri="{FF2B5EF4-FFF2-40B4-BE49-F238E27FC236}">
                <a16:creationId xmlns:a16="http://schemas.microsoft.com/office/drawing/2014/main" id="{60FFF1FB-1064-484B-B5D3-305DF5596F8C}"/>
              </a:ext>
            </a:extLst>
          </p:cNvPr>
          <p:cNvSpPr>
            <a:spLocks noGrp="1"/>
          </p:cNvSpPr>
          <p:nvPr>
            <p:ph type="sldNum" sz="quarter" idx="12"/>
          </p:nvPr>
        </p:nvSpPr>
        <p:spPr/>
        <p:txBody>
          <a:bodyPr/>
          <a:lstStyle/>
          <a:p>
            <a:fld id="{D1303F21-0339-114F-A835-EDFAC68AEBBB}" type="slidenum">
              <a:rPr kumimoji="1" lang="zh-TW" altLang="en-US" smtClean="0"/>
              <a:t>2</a:t>
            </a:fld>
            <a:endParaRPr kumimoji="1" lang="zh-TW" altLang="en-US"/>
          </a:p>
        </p:txBody>
      </p:sp>
    </p:spTree>
    <p:extLst>
      <p:ext uri="{BB962C8B-B14F-4D97-AF65-F5344CB8AC3E}">
        <p14:creationId xmlns:p14="http://schemas.microsoft.com/office/powerpoint/2010/main" val="4069224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Order-preserving matching</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3</a:t>
            </a:fld>
            <a:endParaRPr kumimoji="1" lang="zh-TW" altLang="en-US" dirty="0"/>
          </a:p>
        </p:txBody>
      </p:sp>
      <p:pic>
        <p:nvPicPr>
          <p:cNvPr id="6" name="圖片 5">
            <a:extLst>
              <a:ext uri="{FF2B5EF4-FFF2-40B4-BE49-F238E27FC236}">
                <a16:creationId xmlns:a16="http://schemas.microsoft.com/office/drawing/2014/main" id="{8EBB2623-D4AB-428A-A4F3-FB26E070BE7D}"/>
              </a:ext>
            </a:extLst>
          </p:cNvPr>
          <p:cNvPicPr>
            <a:picLocks noChangeAspect="1"/>
          </p:cNvPicPr>
          <p:nvPr/>
        </p:nvPicPr>
        <p:blipFill>
          <a:blip r:embed="rId3"/>
          <a:stretch>
            <a:fillRect/>
          </a:stretch>
        </p:blipFill>
        <p:spPr>
          <a:xfrm>
            <a:off x="1531866" y="2505604"/>
            <a:ext cx="9128267" cy="3812208"/>
          </a:xfrm>
          <a:prstGeom prst="rect">
            <a:avLst/>
          </a:prstGeom>
        </p:spPr>
      </p:pic>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DB6380F3-9B3E-4C90-A0ED-730FDF568279}"/>
                  </a:ext>
                </a:extLst>
              </p:cNvPr>
              <p:cNvSpPr txBox="1"/>
              <p:nvPr/>
            </p:nvSpPr>
            <p:spPr>
              <a:xfrm>
                <a:off x="838199" y="1672662"/>
                <a:ext cx="10515601" cy="830997"/>
              </a:xfrm>
              <a:prstGeom prst="rect">
                <a:avLst/>
              </a:prstGeom>
              <a:noFill/>
            </p:spPr>
            <p:txBody>
              <a:bodyPr wrap="square" rtlCol="0">
                <a:spAutoFit/>
              </a:bodyPr>
              <a:lstStyle/>
              <a:p>
                <a:pPr marL="342900" indent="-342900">
                  <a:buFont typeface="Arial" panose="020B0604020202020204" pitchFamily="34" charset="0"/>
                  <a:buChar char="•"/>
                </a:pPr>
                <a14:m>
                  <m:oMath xmlns:m="http://schemas.openxmlformats.org/officeDocument/2006/math">
                    <m:r>
                      <a:rPr lang="en-US" altLang="zh-TW" sz="2400" b="0" i="1" smtClean="0">
                        <a:latin typeface="Cambria Math" panose="02040503050406030204" pitchFamily="18" charset="0"/>
                        <a:cs typeface="Times" panose="02020603050405020304" pitchFamily="18" charset="0"/>
                      </a:rPr>
                      <m:t>𝑇</m:t>
                    </m:r>
                    <m:r>
                      <a:rPr lang="en-US" altLang="zh-TW" sz="2400" b="0" i="1" smtClean="0">
                        <a:latin typeface="Cambria Math" panose="02040503050406030204" pitchFamily="18" charset="0"/>
                        <a:cs typeface="Times" panose="02020603050405020304" pitchFamily="18" charset="0"/>
                      </a:rPr>
                      <m:t>=22, 85, 79, </m:t>
                    </m:r>
                    <m:r>
                      <a:rPr lang="en-US" altLang="zh-TW" sz="2400" i="1">
                        <a:latin typeface="Cambria Math" panose="02040503050406030204" pitchFamily="18" charset="0"/>
                        <a:cs typeface="Times" panose="02020603050405020304" pitchFamily="18" charset="0"/>
                      </a:rPr>
                      <m:t>24, 42, 27,62, 40, 32, 47, 69, 55, 25</m:t>
                    </m:r>
                  </m:oMath>
                </a14:m>
                <a:endParaRPr lang="en-US" altLang="zh-TW" sz="2400" dirty="0">
                  <a:latin typeface="Times" panose="02020603050405020304" pitchFamily="18" charset="0"/>
                  <a:cs typeface="Times" panose="02020603050405020304" pitchFamily="18" charset="0"/>
                </a:endParaRPr>
              </a:p>
              <a:p>
                <a:pPr marL="342900" indent="-342900">
                  <a:buFont typeface="Arial" panose="020B0604020202020204" pitchFamily="34" charset="0"/>
                  <a:buChar char="•"/>
                </a:pPr>
                <a14:m>
                  <m:oMath xmlns:m="http://schemas.openxmlformats.org/officeDocument/2006/math">
                    <m:r>
                      <m:rPr>
                        <m:nor/>
                      </m:rPr>
                      <a:rPr lang="en-US" altLang="zh-TW" sz="2400" b="0" i="1" smtClean="0">
                        <a:latin typeface="Cambria Math" panose="02040503050406030204" pitchFamily="18" charset="0"/>
                        <a:cs typeface="Times" panose="02020603050405020304" pitchFamily="18" charset="0"/>
                      </a:rPr>
                      <m:t>P</m:t>
                    </m:r>
                    <m:r>
                      <a:rPr lang="en-US" altLang="zh-TW" sz="2400" i="1">
                        <a:latin typeface="Cambria Math" panose="02040503050406030204" pitchFamily="18" charset="0"/>
                        <a:cs typeface="Times" panose="02020603050405020304" pitchFamily="18" charset="0"/>
                      </a:rPr>
                      <m:t>=</m:t>
                    </m:r>
                    <m:r>
                      <m:rPr>
                        <m:nor/>
                      </m:rPr>
                      <a:rPr lang="en-US" altLang="zh-TW" sz="2400">
                        <a:latin typeface="Cambria Math" panose="02040503050406030204" pitchFamily="18" charset="0"/>
                        <a:cs typeface="Times" panose="02020603050405020304" pitchFamily="18" charset="0"/>
                      </a:rPr>
                      <m:t>10, 22, 15, 30, 20, 18, 27</m:t>
                    </m:r>
                  </m:oMath>
                </a14:m>
                <a:endParaRPr lang="en-US" altLang="zh-TW" sz="2400" dirty="0">
                  <a:latin typeface="Times" panose="02020603050405020304" pitchFamily="18" charset="0"/>
                  <a:cs typeface="Times" panose="02020603050405020304" pitchFamily="18" charset="0"/>
                </a:endParaRPr>
              </a:p>
            </p:txBody>
          </p:sp>
        </mc:Choice>
        <mc:Fallback xmlns="">
          <p:sp>
            <p:nvSpPr>
              <p:cNvPr id="9" name="文字方塊 8">
                <a:extLst>
                  <a:ext uri="{FF2B5EF4-FFF2-40B4-BE49-F238E27FC236}">
                    <a16:creationId xmlns:a16="http://schemas.microsoft.com/office/drawing/2014/main" id="{DB6380F3-9B3E-4C90-A0ED-730FDF568279}"/>
                  </a:ext>
                </a:extLst>
              </p:cNvPr>
              <p:cNvSpPr txBox="1">
                <a:spLocks noRot="1" noChangeAspect="1" noMove="1" noResize="1" noEditPoints="1" noAdjustHandles="1" noChangeArrowheads="1" noChangeShapeType="1" noTextEdit="1"/>
              </p:cNvSpPr>
              <p:nvPr/>
            </p:nvSpPr>
            <p:spPr>
              <a:xfrm>
                <a:off x="838199" y="1672662"/>
                <a:ext cx="10515601" cy="830997"/>
              </a:xfrm>
              <a:prstGeom prst="rect">
                <a:avLst/>
              </a:prstGeom>
              <a:blipFill>
                <a:blip r:embed="rId4"/>
                <a:stretch>
                  <a:fillRect l="-753" t="-2920" b="-1313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0870110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Filtration</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4</a:t>
            </a:fld>
            <a:endParaRPr kumimoji="1" lang="zh-TW" altLang="en-US" dirty="0"/>
          </a:p>
        </p:txBody>
      </p:sp>
      <mc:AlternateContent xmlns:mc="http://schemas.openxmlformats.org/markup-compatibility/2006" xmlns:a14="http://schemas.microsoft.com/office/drawing/2010/main">
        <mc:Choice Requires="a14">
          <p:graphicFrame>
            <p:nvGraphicFramePr>
              <p:cNvPr id="3" name="表格 6">
                <a:extLst>
                  <a:ext uri="{FF2B5EF4-FFF2-40B4-BE49-F238E27FC236}">
                    <a16:creationId xmlns:a16="http://schemas.microsoft.com/office/drawing/2014/main" id="{42174BB8-A6CB-46BD-8270-49270CF8530C}"/>
                  </a:ext>
                </a:extLst>
              </p:cNvPr>
              <p:cNvGraphicFramePr>
                <a:graphicFrameLocks noGrp="1"/>
              </p:cNvGraphicFramePr>
              <p:nvPr>
                <p:extLst>
                  <p:ext uri="{D42A27DB-BD31-4B8C-83A1-F6EECF244321}">
                    <p14:modId xmlns:p14="http://schemas.microsoft.com/office/powerpoint/2010/main" val="2731849566"/>
                  </p:ext>
                </p:extLst>
              </p:nvPr>
            </p:nvGraphicFramePr>
            <p:xfrm>
              <a:off x="3568379" y="4187092"/>
              <a:ext cx="4638680" cy="1707855"/>
            </p:xfrm>
            <a:graphic>
              <a:graphicData uri="http://schemas.openxmlformats.org/drawingml/2006/table">
                <a:tbl>
                  <a:tblPr firstRow="1" bandRow="1">
                    <a:tableStyleId>{5C22544A-7EE6-4342-B048-85BDC9FD1C3A}</a:tableStyleId>
                  </a:tblPr>
                  <a:tblGrid>
                    <a:gridCol w="579835">
                      <a:extLst>
                        <a:ext uri="{9D8B030D-6E8A-4147-A177-3AD203B41FA5}">
                          <a16:colId xmlns:a16="http://schemas.microsoft.com/office/drawing/2014/main" val="3242848539"/>
                        </a:ext>
                      </a:extLst>
                    </a:gridCol>
                    <a:gridCol w="579835">
                      <a:extLst>
                        <a:ext uri="{9D8B030D-6E8A-4147-A177-3AD203B41FA5}">
                          <a16:colId xmlns:a16="http://schemas.microsoft.com/office/drawing/2014/main" val="735761456"/>
                        </a:ext>
                      </a:extLst>
                    </a:gridCol>
                    <a:gridCol w="579835">
                      <a:extLst>
                        <a:ext uri="{9D8B030D-6E8A-4147-A177-3AD203B41FA5}">
                          <a16:colId xmlns:a16="http://schemas.microsoft.com/office/drawing/2014/main" val="1529620551"/>
                        </a:ext>
                      </a:extLst>
                    </a:gridCol>
                    <a:gridCol w="579835">
                      <a:extLst>
                        <a:ext uri="{9D8B030D-6E8A-4147-A177-3AD203B41FA5}">
                          <a16:colId xmlns:a16="http://schemas.microsoft.com/office/drawing/2014/main" val="2402787438"/>
                        </a:ext>
                      </a:extLst>
                    </a:gridCol>
                    <a:gridCol w="579835">
                      <a:extLst>
                        <a:ext uri="{9D8B030D-6E8A-4147-A177-3AD203B41FA5}">
                          <a16:colId xmlns:a16="http://schemas.microsoft.com/office/drawing/2014/main" val="2695976807"/>
                        </a:ext>
                      </a:extLst>
                    </a:gridCol>
                    <a:gridCol w="579835">
                      <a:extLst>
                        <a:ext uri="{9D8B030D-6E8A-4147-A177-3AD203B41FA5}">
                          <a16:colId xmlns:a16="http://schemas.microsoft.com/office/drawing/2014/main" val="1649336562"/>
                        </a:ext>
                      </a:extLst>
                    </a:gridCol>
                    <a:gridCol w="579835">
                      <a:extLst>
                        <a:ext uri="{9D8B030D-6E8A-4147-A177-3AD203B41FA5}">
                          <a16:colId xmlns:a16="http://schemas.microsoft.com/office/drawing/2014/main" val="3999504219"/>
                        </a:ext>
                      </a:extLst>
                    </a:gridCol>
                    <a:gridCol w="579835">
                      <a:extLst>
                        <a:ext uri="{9D8B030D-6E8A-4147-A177-3AD203B41FA5}">
                          <a16:colId xmlns:a16="http://schemas.microsoft.com/office/drawing/2014/main" val="2218091838"/>
                        </a:ext>
                      </a:extLst>
                    </a:gridCol>
                  </a:tblGrid>
                  <a:tr h="569285">
                    <a:tc>
                      <a:txBody>
                        <a:bodyPr/>
                        <a:lstStyle/>
                        <a:p>
                          <a:pPr algn="ctr"/>
                          <a14:m>
                            <m:oMathPara xmlns:m="http://schemas.openxmlformats.org/officeDocument/2006/math">
                              <m:oMathParaPr>
                                <m:jc m:val="centerGroup"/>
                              </m:oMathParaPr>
                              <m:oMath xmlns:m="http://schemas.openxmlformats.org/officeDocument/2006/math">
                                <m:r>
                                  <a:rPr lang="en-US" altLang="zh-TW" sz="2400" b="0" i="1" dirty="0" smtClean="0">
                                    <a:solidFill>
                                      <a:schemeClr val="tx1"/>
                                    </a:solidFill>
                                    <a:latin typeface="Cambria Math" panose="02040503050406030204" pitchFamily="18" charset="0"/>
                                    <a:cs typeface="Times" panose="02020603050405020304" pitchFamily="18" charset="0"/>
                                  </a:rPr>
                                  <m:t>𝑖</m:t>
                                </m:r>
                              </m:oMath>
                            </m:oMathPara>
                          </a14:m>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2726943"/>
                      </a:ext>
                    </a:extLst>
                  </a:tr>
                  <a:tr h="569285">
                    <a:tc>
                      <a:txBody>
                        <a:bodyPr/>
                        <a:lstStyle/>
                        <a:p>
                          <a:pPr algn="ctr"/>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panose="02020603050405020304" pitchFamily="18" charset="0"/>
                                  </a:rPr>
                                  <m:t>𝑃</m:t>
                                </m:r>
                              </m:oMath>
                            </m:oMathPara>
                          </a14:m>
                          <a:endParaRPr lang="zh-TW" altLang="en-US" sz="2400" b="0" i="1"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18</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45053646"/>
                      </a:ext>
                    </a:extLst>
                  </a:tr>
                  <a:tr h="569285">
                    <a:tc>
                      <a:txBody>
                        <a:bodyPr/>
                        <a:lstStyle/>
                        <a:p>
                          <a:pPr algn="ctr"/>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panose="02020603050405020304" pitchFamily="18" charset="0"/>
                                  </a:rPr>
                                  <m:t>𝑃</m:t>
                                </m:r>
                                <m:r>
                                  <a:rPr lang="en-US" altLang="zh-TW" sz="2400" b="0" i="1" smtClean="0">
                                    <a:solidFill>
                                      <a:schemeClr val="tx1"/>
                                    </a:solidFill>
                                    <a:latin typeface="Cambria Math" panose="02040503050406030204" pitchFamily="18" charset="0"/>
                                    <a:cs typeface="Times" panose="02020603050405020304" pitchFamily="18" charset="0"/>
                                  </a:rPr>
                                  <m:t>′</m:t>
                                </m:r>
                              </m:oMath>
                            </m:oMathPara>
                          </a14:m>
                          <a:endParaRPr lang="zh-TW" altLang="en-US" sz="2400" b="0" i="1"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9765776"/>
                      </a:ext>
                    </a:extLst>
                  </a:tr>
                </a:tbl>
              </a:graphicData>
            </a:graphic>
          </p:graphicFrame>
        </mc:Choice>
        <mc:Fallback xmlns="">
          <p:graphicFrame>
            <p:nvGraphicFramePr>
              <p:cNvPr id="3" name="表格 6">
                <a:extLst>
                  <a:ext uri="{FF2B5EF4-FFF2-40B4-BE49-F238E27FC236}">
                    <a16:creationId xmlns:a16="http://schemas.microsoft.com/office/drawing/2014/main" id="{42174BB8-A6CB-46BD-8270-49270CF8530C}"/>
                  </a:ext>
                </a:extLst>
              </p:cNvPr>
              <p:cNvGraphicFramePr>
                <a:graphicFrameLocks noGrp="1"/>
              </p:cNvGraphicFramePr>
              <p:nvPr>
                <p:extLst>
                  <p:ext uri="{D42A27DB-BD31-4B8C-83A1-F6EECF244321}">
                    <p14:modId xmlns:p14="http://schemas.microsoft.com/office/powerpoint/2010/main" val="2731849566"/>
                  </p:ext>
                </p:extLst>
              </p:nvPr>
            </p:nvGraphicFramePr>
            <p:xfrm>
              <a:off x="3568379" y="4187092"/>
              <a:ext cx="4638680" cy="1707855"/>
            </p:xfrm>
            <a:graphic>
              <a:graphicData uri="http://schemas.openxmlformats.org/drawingml/2006/table">
                <a:tbl>
                  <a:tblPr firstRow="1" bandRow="1">
                    <a:tableStyleId>{5C22544A-7EE6-4342-B048-85BDC9FD1C3A}</a:tableStyleId>
                  </a:tblPr>
                  <a:tblGrid>
                    <a:gridCol w="579835">
                      <a:extLst>
                        <a:ext uri="{9D8B030D-6E8A-4147-A177-3AD203B41FA5}">
                          <a16:colId xmlns:a16="http://schemas.microsoft.com/office/drawing/2014/main" val="3242848539"/>
                        </a:ext>
                      </a:extLst>
                    </a:gridCol>
                    <a:gridCol w="579835">
                      <a:extLst>
                        <a:ext uri="{9D8B030D-6E8A-4147-A177-3AD203B41FA5}">
                          <a16:colId xmlns:a16="http://schemas.microsoft.com/office/drawing/2014/main" val="735761456"/>
                        </a:ext>
                      </a:extLst>
                    </a:gridCol>
                    <a:gridCol w="579835">
                      <a:extLst>
                        <a:ext uri="{9D8B030D-6E8A-4147-A177-3AD203B41FA5}">
                          <a16:colId xmlns:a16="http://schemas.microsoft.com/office/drawing/2014/main" val="1529620551"/>
                        </a:ext>
                      </a:extLst>
                    </a:gridCol>
                    <a:gridCol w="579835">
                      <a:extLst>
                        <a:ext uri="{9D8B030D-6E8A-4147-A177-3AD203B41FA5}">
                          <a16:colId xmlns:a16="http://schemas.microsoft.com/office/drawing/2014/main" val="2402787438"/>
                        </a:ext>
                      </a:extLst>
                    </a:gridCol>
                    <a:gridCol w="579835">
                      <a:extLst>
                        <a:ext uri="{9D8B030D-6E8A-4147-A177-3AD203B41FA5}">
                          <a16:colId xmlns:a16="http://schemas.microsoft.com/office/drawing/2014/main" val="2695976807"/>
                        </a:ext>
                      </a:extLst>
                    </a:gridCol>
                    <a:gridCol w="579835">
                      <a:extLst>
                        <a:ext uri="{9D8B030D-6E8A-4147-A177-3AD203B41FA5}">
                          <a16:colId xmlns:a16="http://schemas.microsoft.com/office/drawing/2014/main" val="1649336562"/>
                        </a:ext>
                      </a:extLst>
                    </a:gridCol>
                    <a:gridCol w="579835">
                      <a:extLst>
                        <a:ext uri="{9D8B030D-6E8A-4147-A177-3AD203B41FA5}">
                          <a16:colId xmlns:a16="http://schemas.microsoft.com/office/drawing/2014/main" val="3999504219"/>
                        </a:ext>
                      </a:extLst>
                    </a:gridCol>
                    <a:gridCol w="579835">
                      <a:extLst>
                        <a:ext uri="{9D8B030D-6E8A-4147-A177-3AD203B41FA5}">
                          <a16:colId xmlns:a16="http://schemas.microsoft.com/office/drawing/2014/main" val="2218091838"/>
                        </a:ext>
                      </a:extLst>
                    </a:gridCol>
                  </a:tblGrid>
                  <a:tr h="569285">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53" t="-1064" r="-704211" b="-213830"/>
                          </a:stretch>
                        </a:blip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2726943"/>
                      </a:ext>
                    </a:extLst>
                  </a:tr>
                  <a:tr h="569285">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53" t="-101064" r="-704211" b="-113830"/>
                          </a:stretch>
                        </a:blip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18</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45053646"/>
                      </a:ext>
                    </a:extLst>
                  </a:tr>
                  <a:tr h="569285">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53" t="-201064" r="-704211" b="-13830"/>
                          </a:stretch>
                        </a:blip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976577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7" name="表格 6">
                <a:extLst>
                  <a:ext uri="{FF2B5EF4-FFF2-40B4-BE49-F238E27FC236}">
                    <a16:creationId xmlns:a16="http://schemas.microsoft.com/office/drawing/2014/main" id="{C58826CB-538A-44DF-8C5A-2F3BEE217C68}"/>
                  </a:ext>
                </a:extLst>
              </p:cNvPr>
              <p:cNvGraphicFramePr>
                <a:graphicFrameLocks noGrp="1"/>
              </p:cNvGraphicFramePr>
              <p:nvPr>
                <p:extLst>
                  <p:ext uri="{D42A27DB-BD31-4B8C-83A1-F6EECF244321}">
                    <p14:modId xmlns:p14="http://schemas.microsoft.com/office/powerpoint/2010/main" val="4262964308"/>
                  </p:ext>
                </p:extLst>
              </p:nvPr>
            </p:nvGraphicFramePr>
            <p:xfrm>
              <a:off x="1838324" y="2370709"/>
              <a:ext cx="8098790" cy="1707855"/>
            </p:xfrm>
            <a:graphic>
              <a:graphicData uri="http://schemas.openxmlformats.org/drawingml/2006/table">
                <a:tbl>
                  <a:tblPr firstRow="1" bandRow="1">
                    <a:tableStyleId>{5C22544A-7EE6-4342-B048-85BDC9FD1C3A}</a:tableStyleId>
                  </a:tblPr>
                  <a:tblGrid>
                    <a:gridCol w="578485">
                      <a:extLst>
                        <a:ext uri="{9D8B030D-6E8A-4147-A177-3AD203B41FA5}">
                          <a16:colId xmlns:a16="http://schemas.microsoft.com/office/drawing/2014/main" val="3242848539"/>
                        </a:ext>
                      </a:extLst>
                    </a:gridCol>
                    <a:gridCol w="578485">
                      <a:extLst>
                        <a:ext uri="{9D8B030D-6E8A-4147-A177-3AD203B41FA5}">
                          <a16:colId xmlns:a16="http://schemas.microsoft.com/office/drawing/2014/main" val="735761456"/>
                        </a:ext>
                      </a:extLst>
                    </a:gridCol>
                    <a:gridCol w="578485">
                      <a:extLst>
                        <a:ext uri="{9D8B030D-6E8A-4147-A177-3AD203B41FA5}">
                          <a16:colId xmlns:a16="http://schemas.microsoft.com/office/drawing/2014/main" val="1529620551"/>
                        </a:ext>
                      </a:extLst>
                    </a:gridCol>
                    <a:gridCol w="578485">
                      <a:extLst>
                        <a:ext uri="{9D8B030D-6E8A-4147-A177-3AD203B41FA5}">
                          <a16:colId xmlns:a16="http://schemas.microsoft.com/office/drawing/2014/main" val="2402787438"/>
                        </a:ext>
                      </a:extLst>
                    </a:gridCol>
                    <a:gridCol w="578485">
                      <a:extLst>
                        <a:ext uri="{9D8B030D-6E8A-4147-A177-3AD203B41FA5}">
                          <a16:colId xmlns:a16="http://schemas.microsoft.com/office/drawing/2014/main" val="2695976807"/>
                        </a:ext>
                      </a:extLst>
                    </a:gridCol>
                    <a:gridCol w="578485">
                      <a:extLst>
                        <a:ext uri="{9D8B030D-6E8A-4147-A177-3AD203B41FA5}">
                          <a16:colId xmlns:a16="http://schemas.microsoft.com/office/drawing/2014/main" val="1649336562"/>
                        </a:ext>
                      </a:extLst>
                    </a:gridCol>
                    <a:gridCol w="578485">
                      <a:extLst>
                        <a:ext uri="{9D8B030D-6E8A-4147-A177-3AD203B41FA5}">
                          <a16:colId xmlns:a16="http://schemas.microsoft.com/office/drawing/2014/main" val="3999504219"/>
                        </a:ext>
                      </a:extLst>
                    </a:gridCol>
                    <a:gridCol w="578485">
                      <a:extLst>
                        <a:ext uri="{9D8B030D-6E8A-4147-A177-3AD203B41FA5}">
                          <a16:colId xmlns:a16="http://schemas.microsoft.com/office/drawing/2014/main" val="2218091838"/>
                        </a:ext>
                      </a:extLst>
                    </a:gridCol>
                    <a:gridCol w="578485">
                      <a:extLst>
                        <a:ext uri="{9D8B030D-6E8A-4147-A177-3AD203B41FA5}">
                          <a16:colId xmlns:a16="http://schemas.microsoft.com/office/drawing/2014/main" val="523606344"/>
                        </a:ext>
                      </a:extLst>
                    </a:gridCol>
                    <a:gridCol w="578485">
                      <a:extLst>
                        <a:ext uri="{9D8B030D-6E8A-4147-A177-3AD203B41FA5}">
                          <a16:colId xmlns:a16="http://schemas.microsoft.com/office/drawing/2014/main" val="69381609"/>
                        </a:ext>
                      </a:extLst>
                    </a:gridCol>
                    <a:gridCol w="578485">
                      <a:extLst>
                        <a:ext uri="{9D8B030D-6E8A-4147-A177-3AD203B41FA5}">
                          <a16:colId xmlns:a16="http://schemas.microsoft.com/office/drawing/2014/main" val="588276304"/>
                        </a:ext>
                      </a:extLst>
                    </a:gridCol>
                    <a:gridCol w="578485">
                      <a:extLst>
                        <a:ext uri="{9D8B030D-6E8A-4147-A177-3AD203B41FA5}">
                          <a16:colId xmlns:a16="http://schemas.microsoft.com/office/drawing/2014/main" val="3912963722"/>
                        </a:ext>
                      </a:extLst>
                    </a:gridCol>
                    <a:gridCol w="578485">
                      <a:extLst>
                        <a:ext uri="{9D8B030D-6E8A-4147-A177-3AD203B41FA5}">
                          <a16:colId xmlns:a16="http://schemas.microsoft.com/office/drawing/2014/main" val="2197016472"/>
                        </a:ext>
                      </a:extLst>
                    </a:gridCol>
                    <a:gridCol w="578485">
                      <a:extLst>
                        <a:ext uri="{9D8B030D-6E8A-4147-A177-3AD203B41FA5}">
                          <a16:colId xmlns:a16="http://schemas.microsoft.com/office/drawing/2014/main" val="3526809827"/>
                        </a:ext>
                      </a:extLst>
                    </a:gridCol>
                  </a:tblGrid>
                  <a:tr h="569285">
                    <a:tc>
                      <a:txBody>
                        <a:bodyPr/>
                        <a:lstStyle/>
                        <a:p>
                          <a:pPr algn="ctr"/>
                          <a14:m>
                            <m:oMathPara xmlns:m="http://schemas.openxmlformats.org/officeDocument/2006/math">
                              <m:oMathParaPr>
                                <m:jc m:val="centerGroup"/>
                              </m:oMathParaPr>
                              <m:oMath xmlns:m="http://schemas.openxmlformats.org/officeDocument/2006/math">
                                <m:r>
                                  <a:rPr lang="en-US" altLang="zh-TW" sz="2400" b="0" i="1" dirty="0" smtClean="0">
                                    <a:solidFill>
                                      <a:schemeClr val="tx1"/>
                                    </a:solidFill>
                                    <a:latin typeface="Cambria Math" panose="02040503050406030204" pitchFamily="18" charset="0"/>
                                    <a:cs typeface="Times" panose="02020603050405020304" pitchFamily="18" charset="0"/>
                                  </a:rPr>
                                  <m:t>𝑖</m:t>
                                </m:r>
                              </m:oMath>
                            </m:oMathPara>
                          </a14:m>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8</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9</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2726943"/>
                      </a:ext>
                    </a:extLst>
                  </a:tr>
                  <a:tr h="569285">
                    <a:tc>
                      <a:txBody>
                        <a:bodyPr/>
                        <a:lstStyle/>
                        <a:p>
                          <a:pPr algn="ctr"/>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panose="02020603050405020304" pitchFamily="18" charset="0"/>
                                  </a:rPr>
                                  <m:t>𝑇</m:t>
                                </m:r>
                              </m:oMath>
                            </m:oMathPara>
                          </a14:m>
                          <a:endParaRPr lang="zh-TW" altLang="en-US" sz="2400" b="0" i="1"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85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79</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69</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45053646"/>
                      </a:ext>
                    </a:extLst>
                  </a:tr>
                  <a:tr h="569285">
                    <a:tc>
                      <a:txBody>
                        <a:bodyPr/>
                        <a:lstStyle/>
                        <a:p>
                          <a:pPr algn="just"/>
                          <a14:m>
                            <m:oMathPara xmlns:m="http://schemas.openxmlformats.org/officeDocument/2006/math">
                              <m:oMathParaPr>
                                <m:jc m:val="center"/>
                              </m:oMathParaPr>
                              <m:oMath xmlns:m="http://schemas.openxmlformats.org/officeDocument/2006/math">
                                <m:r>
                                  <a:rPr lang="en-US" altLang="zh-TW" sz="2400" b="0" i="1" smtClean="0">
                                    <a:solidFill>
                                      <a:schemeClr val="tx1"/>
                                    </a:solidFill>
                                    <a:latin typeface="Cambria Math" panose="02040503050406030204" pitchFamily="18" charset="0"/>
                                    <a:cs typeface="Times" panose="02020603050405020304" pitchFamily="18" charset="0"/>
                                  </a:rPr>
                                  <m:t>𝑇</m:t>
                                </m:r>
                                <m:r>
                                  <a:rPr lang="en-US" altLang="zh-TW" sz="2400" b="0" i="1" smtClean="0">
                                    <a:solidFill>
                                      <a:schemeClr val="tx1"/>
                                    </a:solidFill>
                                    <a:latin typeface="Cambria Math" panose="02040503050406030204" pitchFamily="18" charset="0"/>
                                    <a:cs typeface="Times" panose="02020603050405020304" pitchFamily="18" charset="0"/>
                                  </a:rPr>
                                  <m:t>′</m:t>
                                </m:r>
                              </m:oMath>
                            </m:oMathPara>
                          </a14:m>
                          <a:endParaRPr lang="zh-TW" altLang="en-US" sz="2400" b="0" i="1"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9765776"/>
                      </a:ext>
                    </a:extLst>
                  </a:tr>
                </a:tbl>
              </a:graphicData>
            </a:graphic>
          </p:graphicFrame>
        </mc:Choice>
        <mc:Fallback xmlns="">
          <p:graphicFrame>
            <p:nvGraphicFramePr>
              <p:cNvPr id="7" name="表格 6">
                <a:extLst>
                  <a:ext uri="{FF2B5EF4-FFF2-40B4-BE49-F238E27FC236}">
                    <a16:creationId xmlns:a16="http://schemas.microsoft.com/office/drawing/2014/main" id="{C58826CB-538A-44DF-8C5A-2F3BEE217C68}"/>
                  </a:ext>
                </a:extLst>
              </p:cNvPr>
              <p:cNvGraphicFramePr>
                <a:graphicFrameLocks noGrp="1"/>
              </p:cNvGraphicFramePr>
              <p:nvPr>
                <p:extLst>
                  <p:ext uri="{D42A27DB-BD31-4B8C-83A1-F6EECF244321}">
                    <p14:modId xmlns:p14="http://schemas.microsoft.com/office/powerpoint/2010/main" val="4262964308"/>
                  </p:ext>
                </p:extLst>
              </p:nvPr>
            </p:nvGraphicFramePr>
            <p:xfrm>
              <a:off x="1838324" y="2370709"/>
              <a:ext cx="8098790" cy="1707855"/>
            </p:xfrm>
            <a:graphic>
              <a:graphicData uri="http://schemas.openxmlformats.org/drawingml/2006/table">
                <a:tbl>
                  <a:tblPr firstRow="1" bandRow="1">
                    <a:tableStyleId>{5C22544A-7EE6-4342-B048-85BDC9FD1C3A}</a:tableStyleId>
                  </a:tblPr>
                  <a:tblGrid>
                    <a:gridCol w="578485">
                      <a:extLst>
                        <a:ext uri="{9D8B030D-6E8A-4147-A177-3AD203B41FA5}">
                          <a16:colId xmlns:a16="http://schemas.microsoft.com/office/drawing/2014/main" val="3242848539"/>
                        </a:ext>
                      </a:extLst>
                    </a:gridCol>
                    <a:gridCol w="578485">
                      <a:extLst>
                        <a:ext uri="{9D8B030D-6E8A-4147-A177-3AD203B41FA5}">
                          <a16:colId xmlns:a16="http://schemas.microsoft.com/office/drawing/2014/main" val="735761456"/>
                        </a:ext>
                      </a:extLst>
                    </a:gridCol>
                    <a:gridCol w="578485">
                      <a:extLst>
                        <a:ext uri="{9D8B030D-6E8A-4147-A177-3AD203B41FA5}">
                          <a16:colId xmlns:a16="http://schemas.microsoft.com/office/drawing/2014/main" val="1529620551"/>
                        </a:ext>
                      </a:extLst>
                    </a:gridCol>
                    <a:gridCol w="578485">
                      <a:extLst>
                        <a:ext uri="{9D8B030D-6E8A-4147-A177-3AD203B41FA5}">
                          <a16:colId xmlns:a16="http://schemas.microsoft.com/office/drawing/2014/main" val="2402787438"/>
                        </a:ext>
                      </a:extLst>
                    </a:gridCol>
                    <a:gridCol w="578485">
                      <a:extLst>
                        <a:ext uri="{9D8B030D-6E8A-4147-A177-3AD203B41FA5}">
                          <a16:colId xmlns:a16="http://schemas.microsoft.com/office/drawing/2014/main" val="2695976807"/>
                        </a:ext>
                      </a:extLst>
                    </a:gridCol>
                    <a:gridCol w="578485">
                      <a:extLst>
                        <a:ext uri="{9D8B030D-6E8A-4147-A177-3AD203B41FA5}">
                          <a16:colId xmlns:a16="http://schemas.microsoft.com/office/drawing/2014/main" val="1649336562"/>
                        </a:ext>
                      </a:extLst>
                    </a:gridCol>
                    <a:gridCol w="578485">
                      <a:extLst>
                        <a:ext uri="{9D8B030D-6E8A-4147-A177-3AD203B41FA5}">
                          <a16:colId xmlns:a16="http://schemas.microsoft.com/office/drawing/2014/main" val="3999504219"/>
                        </a:ext>
                      </a:extLst>
                    </a:gridCol>
                    <a:gridCol w="578485">
                      <a:extLst>
                        <a:ext uri="{9D8B030D-6E8A-4147-A177-3AD203B41FA5}">
                          <a16:colId xmlns:a16="http://schemas.microsoft.com/office/drawing/2014/main" val="2218091838"/>
                        </a:ext>
                      </a:extLst>
                    </a:gridCol>
                    <a:gridCol w="578485">
                      <a:extLst>
                        <a:ext uri="{9D8B030D-6E8A-4147-A177-3AD203B41FA5}">
                          <a16:colId xmlns:a16="http://schemas.microsoft.com/office/drawing/2014/main" val="523606344"/>
                        </a:ext>
                      </a:extLst>
                    </a:gridCol>
                    <a:gridCol w="578485">
                      <a:extLst>
                        <a:ext uri="{9D8B030D-6E8A-4147-A177-3AD203B41FA5}">
                          <a16:colId xmlns:a16="http://schemas.microsoft.com/office/drawing/2014/main" val="69381609"/>
                        </a:ext>
                      </a:extLst>
                    </a:gridCol>
                    <a:gridCol w="578485">
                      <a:extLst>
                        <a:ext uri="{9D8B030D-6E8A-4147-A177-3AD203B41FA5}">
                          <a16:colId xmlns:a16="http://schemas.microsoft.com/office/drawing/2014/main" val="588276304"/>
                        </a:ext>
                      </a:extLst>
                    </a:gridCol>
                    <a:gridCol w="578485">
                      <a:extLst>
                        <a:ext uri="{9D8B030D-6E8A-4147-A177-3AD203B41FA5}">
                          <a16:colId xmlns:a16="http://schemas.microsoft.com/office/drawing/2014/main" val="3912963722"/>
                        </a:ext>
                      </a:extLst>
                    </a:gridCol>
                    <a:gridCol w="578485">
                      <a:extLst>
                        <a:ext uri="{9D8B030D-6E8A-4147-A177-3AD203B41FA5}">
                          <a16:colId xmlns:a16="http://schemas.microsoft.com/office/drawing/2014/main" val="2197016472"/>
                        </a:ext>
                      </a:extLst>
                    </a:gridCol>
                    <a:gridCol w="578485">
                      <a:extLst>
                        <a:ext uri="{9D8B030D-6E8A-4147-A177-3AD203B41FA5}">
                          <a16:colId xmlns:a16="http://schemas.microsoft.com/office/drawing/2014/main" val="3526809827"/>
                        </a:ext>
                      </a:extLst>
                    </a:gridCol>
                  </a:tblGrid>
                  <a:tr h="569285">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53" t="-1064" r="-1302105" b="-213830"/>
                          </a:stretch>
                        </a:blip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8</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9</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2726943"/>
                      </a:ext>
                    </a:extLst>
                  </a:tr>
                  <a:tr h="569285">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53" t="-101064" r="-1302105" b="-113830"/>
                          </a:stretch>
                        </a:blip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85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79</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69</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45053646"/>
                      </a:ext>
                    </a:extLst>
                  </a:tr>
                  <a:tr h="569285">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53" t="-201064" r="-1302105" b="-13830"/>
                          </a:stretch>
                        </a:blip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9765776"/>
                      </a:ext>
                    </a:extLst>
                  </a:tr>
                </a:tbl>
              </a:graphicData>
            </a:graphic>
          </p:graphicFrame>
        </mc:Fallback>
      </mc:AlternateContent>
      <p:sp>
        <p:nvSpPr>
          <p:cNvPr id="5" name="矩形 4">
            <a:extLst>
              <a:ext uri="{FF2B5EF4-FFF2-40B4-BE49-F238E27FC236}">
                <a16:creationId xmlns:a16="http://schemas.microsoft.com/office/drawing/2014/main" id="{3519C284-97E7-40DD-ADBE-23E2FDE45A9D}"/>
              </a:ext>
            </a:extLst>
          </p:cNvPr>
          <p:cNvSpPr/>
          <p:nvPr/>
        </p:nvSpPr>
        <p:spPr>
          <a:xfrm>
            <a:off x="4163785" y="3510636"/>
            <a:ext cx="3483427" cy="56792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a:extLst>
              <a:ext uri="{FF2B5EF4-FFF2-40B4-BE49-F238E27FC236}">
                <a16:creationId xmlns:a16="http://schemas.microsoft.com/office/drawing/2014/main" id="{6F17FCDF-21D1-4328-A7B6-BC6A47835FF7}"/>
              </a:ext>
            </a:extLst>
          </p:cNvPr>
          <p:cNvSpPr/>
          <p:nvPr/>
        </p:nvSpPr>
        <p:spPr>
          <a:xfrm>
            <a:off x="4163786" y="5328549"/>
            <a:ext cx="3483426" cy="56792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370A0662-C92D-44CE-B6D4-14552BCC32EA}"/>
                  </a:ext>
                </a:extLst>
              </p:cNvPr>
              <p:cNvSpPr txBox="1"/>
              <p:nvPr/>
            </p:nvSpPr>
            <p:spPr>
              <a:xfrm>
                <a:off x="838199" y="1672662"/>
                <a:ext cx="10515601" cy="461665"/>
              </a:xfrm>
              <a:prstGeom prst="rect">
                <a:avLst/>
              </a:prstGeom>
              <a:noFill/>
            </p:spPr>
            <p:txBody>
              <a:bodyPr wrap="square" rtlCol="0">
                <a:spAutoFit/>
              </a:bodyPr>
              <a:lstStyle/>
              <a:p>
                <a:pPr marL="342900" indent="-342900">
                  <a:buFont typeface="Arial" panose="020B0604020202020204" pitchFamily="34" charset="0"/>
                  <a:buChar char="•"/>
                </a:pPr>
                <a:r>
                  <a:rPr lang="en-US" altLang="zh-TW" sz="2400" dirty="0">
                    <a:latin typeface="Times" panose="02020603050405020304" pitchFamily="18" charset="0"/>
                    <a:cs typeface="Times" panose="02020603050405020304" pitchFamily="18" charset="0"/>
                  </a:rPr>
                  <a:t>It does not correspond to an actual match of </a:t>
                </a:r>
                <a14:m>
                  <m:oMath xmlns:m="http://schemas.openxmlformats.org/officeDocument/2006/math">
                    <m:r>
                      <a:rPr lang="en-US" altLang="zh-TW" sz="2400" i="1" dirty="0" smtClean="0">
                        <a:latin typeface="Cambria Math" panose="02040503050406030204" pitchFamily="18" charset="0"/>
                        <a:cs typeface="Times" panose="02020603050405020304" pitchFamily="18" charset="0"/>
                      </a:rPr>
                      <m:t>𝑃</m:t>
                    </m:r>
                  </m:oMath>
                </a14:m>
                <a:r>
                  <a:rPr lang="en-US" altLang="zh-TW" sz="2400" dirty="0">
                    <a:latin typeface="Times" panose="02020603050405020304" pitchFamily="18" charset="0"/>
                    <a:cs typeface="Times" panose="02020603050405020304" pitchFamily="18" charset="0"/>
                  </a:rPr>
                  <a:t> in </a:t>
                </a:r>
                <a14:m>
                  <m:oMath xmlns:m="http://schemas.openxmlformats.org/officeDocument/2006/math">
                    <m:r>
                      <a:rPr lang="en-US" altLang="zh-TW" sz="2400" i="1" dirty="0" smtClean="0">
                        <a:latin typeface="Cambria Math" panose="02040503050406030204" pitchFamily="18" charset="0"/>
                        <a:cs typeface="Times" panose="02020603050405020304" pitchFamily="18" charset="0"/>
                      </a:rPr>
                      <m:t>𝑇</m:t>
                    </m:r>
                  </m:oMath>
                </a14:m>
                <a:r>
                  <a:rPr lang="en-US" altLang="zh-TW" sz="2400" dirty="0">
                    <a:latin typeface="Times" panose="02020603050405020304" pitchFamily="18" charset="0"/>
                    <a:cs typeface="Times" panose="02020603050405020304" pitchFamily="18" charset="0"/>
                  </a:rPr>
                  <a:t>.</a:t>
                </a:r>
              </a:p>
            </p:txBody>
          </p:sp>
        </mc:Choice>
        <mc:Fallback xmlns="">
          <p:sp>
            <p:nvSpPr>
              <p:cNvPr id="9" name="文字方塊 8">
                <a:extLst>
                  <a:ext uri="{FF2B5EF4-FFF2-40B4-BE49-F238E27FC236}">
                    <a16:creationId xmlns:a16="http://schemas.microsoft.com/office/drawing/2014/main" id="{370A0662-C92D-44CE-B6D4-14552BCC32EA}"/>
                  </a:ext>
                </a:extLst>
              </p:cNvPr>
              <p:cNvSpPr txBox="1">
                <a:spLocks noRot="1" noChangeAspect="1" noMove="1" noResize="1" noEditPoints="1" noAdjustHandles="1" noChangeArrowheads="1" noChangeShapeType="1" noTextEdit="1"/>
              </p:cNvSpPr>
              <p:nvPr/>
            </p:nvSpPr>
            <p:spPr>
              <a:xfrm>
                <a:off x="838199" y="1672662"/>
                <a:ext cx="10515601" cy="461665"/>
              </a:xfrm>
              <a:prstGeom prst="rect">
                <a:avLst/>
              </a:prstGeom>
              <a:blipFill>
                <a:blip r:embed="rId5"/>
                <a:stretch>
                  <a:fillRect l="-753" t="-10526" b="-2894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4337170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Verification</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5</a:t>
            </a:fld>
            <a:endParaRPr kumimoji="1" lang="zh-TW" altLang="en-US" dirty="0"/>
          </a:p>
        </p:txBody>
      </p:sp>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3670D7EF-220E-4141-907E-4326F7D19DF2}"/>
                  </a:ext>
                </a:extLst>
              </p:cNvPr>
              <p:cNvSpPr txBox="1"/>
              <p:nvPr/>
            </p:nvSpPr>
            <p:spPr>
              <a:xfrm>
                <a:off x="838199" y="1672662"/>
                <a:ext cx="10515601" cy="461665"/>
              </a:xfrm>
              <a:prstGeom prst="rect">
                <a:avLst/>
              </a:prstGeom>
              <a:noFill/>
            </p:spPr>
            <p:txBody>
              <a:bodyPr wrap="square" rtlCol="0">
                <a:spAutoFit/>
              </a:bodyPr>
              <a:lstStyle/>
              <a:p>
                <a:pPr marL="342900" indent="-342900">
                  <a:buFont typeface="Arial" panose="020B0604020202020204" pitchFamily="34" charset="0"/>
                  <a:buChar char="•"/>
                </a:pPr>
                <a:r>
                  <a:rPr lang="en-US" altLang="zh-TW" sz="2400" dirty="0">
                    <a:latin typeface="Times" panose="02020603050405020304" pitchFamily="18" charset="0"/>
                    <a:cs typeface="Times" panose="02020603050405020304" pitchFamily="18" charset="0"/>
                  </a:rPr>
                  <a:t>Auxiliary table </a:t>
                </a:r>
                <a14:m>
                  <m:oMath xmlns:m="http://schemas.openxmlformats.org/officeDocument/2006/math">
                    <m:r>
                      <a:rPr lang="en-US" altLang="zh-TW" sz="2400" i="1" dirty="0" smtClean="0">
                        <a:latin typeface="Cambria Math" panose="02040503050406030204" pitchFamily="18" charset="0"/>
                        <a:cs typeface="Times" panose="02020603050405020304" pitchFamily="18" charset="0"/>
                      </a:rPr>
                      <m:t>𝑟</m:t>
                    </m:r>
                  </m:oMath>
                </a14:m>
                <a:endParaRPr lang="en-US" altLang="zh-TW" sz="2400" dirty="0">
                  <a:latin typeface="Times" panose="02020603050405020304" pitchFamily="18" charset="0"/>
                  <a:cs typeface="Times" panose="02020603050405020304" pitchFamily="18" charset="0"/>
                </a:endParaRPr>
              </a:p>
            </p:txBody>
          </p:sp>
        </mc:Choice>
        <mc:Fallback xmlns="">
          <p:sp>
            <p:nvSpPr>
              <p:cNvPr id="6" name="文字方塊 5">
                <a:extLst>
                  <a:ext uri="{FF2B5EF4-FFF2-40B4-BE49-F238E27FC236}">
                    <a16:creationId xmlns:a16="http://schemas.microsoft.com/office/drawing/2014/main" id="{3670D7EF-220E-4141-907E-4326F7D19DF2}"/>
                  </a:ext>
                </a:extLst>
              </p:cNvPr>
              <p:cNvSpPr txBox="1">
                <a:spLocks noRot="1" noChangeAspect="1" noMove="1" noResize="1" noEditPoints="1" noAdjustHandles="1" noChangeArrowheads="1" noChangeShapeType="1" noTextEdit="1"/>
              </p:cNvSpPr>
              <p:nvPr/>
            </p:nvSpPr>
            <p:spPr>
              <a:xfrm>
                <a:off x="838199" y="1672662"/>
                <a:ext cx="10515601" cy="461665"/>
              </a:xfrm>
              <a:prstGeom prst="rect">
                <a:avLst/>
              </a:prstGeom>
              <a:blipFill>
                <a:blip r:embed="rId3"/>
                <a:stretch>
                  <a:fillRect l="-753" t="-10526" b="-2894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7" name="表格 6">
                <a:extLst>
                  <a:ext uri="{FF2B5EF4-FFF2-40B4-BE49-F238E27FC236}">
                    <a16:creationId xmlns:a16="http://schemas.microsoft.com/office/drawing/2014/main" id="{3B6AE702-2BB1-4D28-BA09-7C29703D8405}"/>
                  </a:ext>
                </a:extLst>
              </p:cNvPr>
              <p:cNvGraphicFramePr>
                <a:graphicFrameLocks noGrp="1"/>
              </p:cNvGraphicFramePr>
              <p:nvPr>
                <p:extLst>
                  <p:ext uri="{D42A27DB-BD31-4B8C-83A1-F6EECF244321}">
                    <p14:modId xmlns:p14="http://schemas.microsoft.com/office/powerpoint/2010/main" val="3265229261"/>
                  </p:ext>
                </p:extLst>
              </p:nvPr>
            </p:nvGraphicFramePr>
            <p:xfrm>
              <a:off x="1245047" y="2260655"/>
              <a:ext cx="4850952" cy="1707855"/>
            </p:xfrm>
            <a:graphic>
              <a:graphicData uri="http://schemas.openxmlformats.org/drawingml/2006/table">
                <a:tbl>
                  <a:tblPr firstRow="1" bandRow="1">
                    <a:tableStyleId>{5C22544A-7EE6-4342-B048-85BDC9FD1C3A}</a:tableStyleId>
                  </a:tblPr>
                  <a:tblGrid>
                    <a:gridCol w="827562">
                      <a:extLst>
                        <a:ext uri="{9D8B030D-6E8A-4147-A177-3AD203B41FA5}">
                          <a16:colId xmlns:a16="http://schemas.microsoft.com/office/drawing/2014/main" val="3242848539"/>
                        </a:ext>
                      </a:extLst>
                    </a:gridCol>
                    <a:gridCol w="574770">
                      <a:extLst>
                        <a:ext uri="{9D8B030D-6E8A-4147-A177-3AD203B41FA5}">
                          <a16:colId xmlns:a16="http://schemas.microsoft.com/office/drawing/2014/main" val="735761456"/>
                        </a:ext>
                      </a:extLst>
                    </a:gridCol>
                    <a:gridCol w="574770">
                      <a:extLst>
                        <a:ext uri="{9D8B030D-6E8A-4147-A177-3AD203B41FA5}">
                          <a16:colId xmlns:a16="http://schemas.microsoft.com/office/drawing/2014/main" val="1529620551"/>
                        </a:ext>
                      </a:extLst>
                    </a:gridCol>
                    <a:gridCol w="574770">
                      <a:extLst>
                        <a:ext uri="{9D8B030D-6E8A-4147-A177-3AD203B41FA5}">
                          <a16:colId xmlns:a16="http://schemas.microsoft.com/office/drawing/2014/main" val="2402787438"/>
                        </a:ext>
                      </a:extLst>
                    </a:gridCol>
                    <a:gridCol w="574770">
                      <a:extLst>
                        <a:ext uri="{9D8B030D-6E8A-4147-A177-3AD203B41FA5}">
                          <a16:colId xmlns:a16="http://schemas.microsoft.com/office/drawing/2014/main" val="2695976807"/>
                        </a:ext>
                      </a:extLst>
                    </a:gridCol>
                    <a:gridCol w="574770">
                      <a:extLst>
                        <a:ext uri="{9D8B030D-6E8A-4147-A177-3AD203B41FA5}">
                          <a16:colId xmlns:a16="http://schemas.microsoft.com/office/drawing/2014/main" val="1649336562"/>
                        </a:ext>
                      </a:extLst>
                    </a:gridCol>
                    <a:gridCol w="574770">
                      <a:extLst>
                        <a:ext uri="{9D8B030D-6E8A-4147-A177-3AD203B41FA5}">
                          <a16:colId xmlns:a16="http://schemas.microsoft.com/office/drawing/2014/main" val="3999504219"/>
                        </a:ext>
                      </a:extLst>
                    </a:gridCol>
                    <a:gridCol w="574770">
                      <a:extLst>
                        <a:ext uri="{9D8B030D-6E8A-4147-A177-3AD203B41FA5}">
                          <a16:colId xmlns:a16="http://schemas.microsoft.com/office/drawing/2014/main" val="2218091838"/>
                        </a:ext>
                      </a:extLst>
                    </a:gridCol>
                  </a:tblGrid>
                  <a:tr h="569285">
                    <a:tc>
                      <a:txBody>
                        <a:bodyPr/>
                        <a:lstStyle/>
                        <a:p>
                          <a:pPr algn="ctr"/>
                          <a14:m>
                            <m:oMathPara xmlns:m="http://schemas.openxmlformats.org/officeDocument/2006/math">
                              <m:oMathParaPr>
                                <m:jc m:val="centerGroup"/>
                              </m:oMathParaPr>
                              <m:oMath xmlns:m="http://schemas.openxmlformats.org/officeDocument/2006/math">
                                <m:r>
                                  <a:rPr lang="en-US" altLang="zh-TW" sz="2400" b="0" i="1" dirty="0" smtClean="0">
                                    <a:solidFill>
                                      <a:schemeClr val="tx1"/>
                                    </a:solidFill>
                                    <a:latin typeface="Cambria Math" panose="02040503050406030204" pitchFamily="18" charset="0"/>
                                    <a:cs typeface="Times" panose="02020603050405020304" pitchFamily="18" charset="0"/>
                                  </a:rPr>
                                  <m:t>𝑖</m:t>
                                </m:r>
                              </m:oMath>
                            </m:oMathPara>
                          </a14:m>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2726943"/>
                      </a:ext>
                    </a:extLst>
                  </a:tr>
                  <a:tr h="569285">
                    <a:tc>
                      <a:txBody>
                        <a:bodyPr/>
                        <a:lstStyle/>
                        <a:p>
                          <a:pPr algn="ctr"/>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panose="02020603050405020304" pitchFamily="18" charset="0"/>
                                  </a:rPr>
                                  <m:t>𝑃</m:t>
                                </m:r>
                              </m:oMath>
                            </m:oMathPara>
                          </a14:m>
                          <a:endParaRPr lang="zh-TW" altLang="en-US" sz="2400" b="0" i="1"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18</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45053646"/>
                      </a:ext>
                    </a:extLst>
                  </a:tr>
                  <a:tr h="569285">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rank</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9765776"/>
                      </a:ext>
                    </a:extLst>
                  </a:tr>
                </a:tbl>
              </a:graphicData>
            </a:graphic>
          </p:graphicFrame>
        </mc:Choice>
        <mc:Fallback xmlns="">
          <p:graphicFrame>
            <p:nvGraphicFramePr>
              <p:cNvPr id="7" name="表格 6">
                <a:extLst>
                  <a:ext uri="{FF2B5EF4-FFF2-40B4-BE49-F238E27FC236}">
                    <a16:creationId xmlns:a16="http://schemas.microsoft.com/office/drawing/2014/main" id="{3B6AE702-2BB1-4D28-BA09-7C29703D8405}"/>
                  </a:ext>
                </a:extLst>
              </p:cNvPr>
              <p:cNvGraphicFramePr>
                <a:graphicFrameLocks noGrp="1"/>
              </p:cNvGraphicFramePr>
              <p:nvPr>
                <p:extLst>
                  <p:ext uri="{D42A27DB-BD31-4B8C-83A1-F6EECF244321}">
                    <p14:modId xmlns:p14="http://schemas.microsoft.com/office/powerpoint/2010/main" val="3265229261"/>
                  </p:ext>
                </p:extLst>
              </p:nvPr>
            </p:nvGraphicFramePr>
            <p:xfrm>
              <a:off x="1245047" y="2260655"/>
              <a:ext cx="4850952" cy="1707855"/>
            </p:xfrm>
            <a:graphic>
              <a:graphicData uri="http://schemas.openxmlformats.org/drawingml/2006/table">
                <a:tbl>
                  <a:tblPr firstRow="1" bandRow="1">
                    <a:tableStyleId>{5C22544A-7EE6-4342-B048-85BDC9FD1C3A}</a:tableStyleId>
                  </a:tblPr>
                  <a:tblGrid>
                    <a:gridCol w="827562">
                      <a:extLst>
                        <a:ext uri="{9D8B030D-6E8A-4147-A177-3AD203B41FA5}">
                          <a16:colId xmlns:a16="http://schemas.microsoft.com/office/drawing/2014/main" val="3242848539"/>
                        </a:ext>
                      </a:extLst>
                    </a:gridCol>
                    <a:gridCol w="574770">
                      <a:extLst>
                        <a:ext uri="{9D8B030D-6E8A-4147-A177-3AD203B41FA5}">
                          <a16:colId xmlns:a16="http://schemas.microsoft.com/office/drawing/2014/main" val="735761456"/>
                        </a:ext>
                      </a:extLst>
                    </a:gridCol>
                    <a:gridCol w="574770">
                      <a:extLst>
                        <a:ext uri="{9D8B030D-6E8A-4147-A177-3AD203B41FA5}">
                          <a16:colId xmlns:a16="http://schemas.microsoft.com/office/drawing/2014/main" val="1529620551"/>
                        </a:ext>
                      </a:extLst>
                    </a:gridCol>
                    <a:gridCol w="574770">
                      <a:extLst>
                        <a:ext uri="{9D8B030D-6E8A-4147-A177-3AD203B41FA5}">
                          <a16:colId xmlns:a16="http://schemas.microsoft.com/office/drawing/2014/main" val="2402787438"/>
                        </a:ext>
                      </a:extLst>
                    </a:gridCol>
                    <a:gridCol w="574770">
                      <a:extLst>
                        <a:ext uri="{9D8B030D-6E8A-4147-A177-3AD203B41FA5}">
                          <a16:colId xmlns:a16="http://schemas.microsoft.com/office/drawing/2014/main" val="2695976807"/>
                        </a:ext>
                      </a:extLst>
                    </a:gridCol>
                    <a:gridCol w="574770">
                      <a:extLst>
                        <a:ext uri="{9D8B030D-6E8A-4147-A177-3AD203B41FA5}">
                          <a16:colId xmlns:a16="http://schemas.microsoft.com/office/drawing/2014/main" val="1649336562"/>
                        </a:ext>
                      </a:extLst>
                    </a:gridCol>
                    <a:gridCol w="574770">
                      <a:extLst>
                        <a:ext uri="{9D8B030D-6E8A-4147-A177-3AD203B41FA5}">
                          <a16:colId xmlns:a16="http://schemas.microsoft.com/office/drawing/2014/main" val="3999504219"/>
                        </a:ext>
                      </a:extLst>
                    </a:gridCol>
                    <a:gridCol w="574770">
                      <a:extLst>
                        <a:ext uri="{9D8B030D-6E8A-4147-A177-3AD203B41FA5}">
                          <a16:colId xmlns:a16="http://schemas.microsoft.com/office/drawing/2014/main" val="2218091838"/>
                        </a:ext>
                      </a:extLst>
                    </a:gridCol>
                  </a:tblGrid>
                  <a:tr h="569285">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35" t="-1064" r="-487500" b="-213830"/>
                          </a:stretch>
                        </a:blip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2726943"/>
                      </a:ext>
                    </a:extLst>
                  </a:tr>
                  <a:tr h="569285">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35" t="-101064" r="-487500" b="-113830"/>
                          </a:stretch>
                        </a:blip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18</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45053646"/>
                      </a:ext>
                    </a:extLst>
                  </a:tr>
                  <a:tr h="569285">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rank</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9765776"/>
                      </a:ext>
                    </a:extLst>
                  </a:tr>
                </a:tbl>
              </a:graphicData>
            </a:graphic>
          </p:graphicFrame>
        </mc:Fallback>
      </mc:AlternateContent>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57BAC983-BA0B-4A41-9F88-AD22DA694416}"/>
                  </a:ext>
                </a:extLst>
              </p:cNvPr>
              <p:cNvSpPr txBox="1"/>
              <p:nvPr/>
            </p:nvSpPr>
            <p:spPr>
              <a:xfrm>
                <a:off x="6330043" y="1669768"/>
                <a:ext cx="5257800" cy="464559"/>
              </a:xfrm>
              <a:prstGeom prst="rect">
                <a:avLst/>
              </a:prstGeom>
              <a:noFill/>
            </p:spPr>
            <p:txBody>
              <a:bodyPr wrap="square" rtlCol="0">
                <a:spAutoFit/>
              </a:bodyPr>
              <a:lstStyle/>
              <a:p>
                <a:pPr marL="342900" indent="-342900">
                  <a:buFont typeface="Arial" panose="020B0604020202020204" pitchFamily="34" charset="0"/>
                  <a:buChar char="•"/>
                </a:pPr>
                <a:r>
                  <a:rPr lang="en-US" altLang="zh-TW" sz="2400" dirty="0">
                    <a:latin typeface="Times" panose="02020603050405020304" pitchFamily="18" charset="0"/>
                    <a:cs typeface="Times" panose="02020603050405020304" pitchFamily="18" charset="0"/>
                  </a:rPr>
                  <a:t>Binary vector </a:t>
                </a:r>
                <a14:m>
                  <m:oMath xmlns:m="http://schemas.openxmlformats.org/officeDocument/2006/math">
                    <m:r>
                      <a:rPr lang="en-US" altLang="zh-TW" sz="2400" i="1" dirty="0" smtClean="0">
                        <a:latin typeface="Cambria Math" panose="02040503050406030204" pitchFamily="18" charset="0"/>
                        <a:cs typeface="Times" panose="02020603050405020304" pitchFamily="18" charset="0"/>
                      </a:rPr>
                      <m:t>𝐸</m:t>
                    </m:r>
                  </m:oMath>
                </a14:m>
                <a:endParaRPr lang="en-US" altLang="zh-TW" sz="2400" dirty="0">
                  <a:latin typeface="Times" panose="02020603050405020304" pitchFamily="18" charset="0"/>
                  <a:cs typeface="Times" panose="02020603050405020304" pitchFamily="18" charset="0"/>
                </a:endParaRPr>
              </a:p>
            </p:txBody>
          </p:sp>
        </mc:Choice>
        <mc:Fallback xmlns="">
          <p:sp>
            <p:nvSpPr>
              <p:cNvPr id="9" name="文字方塊 8">
                <a:extLst>
                  <a:ext uri="{FF2B5EF4-FFF2-40B4-BE49-F238E27FC236}">
                    <a16:creationId xmlns:a16="http://schemas.microsoft.com/office/drawing/2014/main" id="{57BAC983-BA0B-4A41-9F88-AD22DA694416}"/>
                  </a:ext>
                </a:extLst>
              </p:cNvPr>
              <p:cNvSpPr txBox="1">
                <a:spLocks noRot="1" noChangeAspect="1" noMove="1" noResize="1" noEditPoints="1" noAdjustHandles="1" noChangeArrowheads="1" noChangeShapeType="1" noTextEdit="1"/>
              </p:cNvSpPr>
              <p:nvPr/>
            </p:nvSpPr>
            <p:spPr>
              <a:xfrm>
                <a:off x="6330043" y="1669768"/>
                <a:ext cx="5257800" cy="464559"/>
              </a:xfrm>
              <a:prstGeom prst="rect">
                <a:avLst/>
              </a:prstGeom>
              <a:blipFill>
                <a:blip r:embed="rId5"/>
                <a:stretch>
                  <a:fillRect l="-1506" t="-10526" b="-2894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10" name="表格 9">
                <a:extLst>
                  <a:ext uri="{FF2B5EF4-FFF2-40B4-BE49-F238E27FC236}">
                    <a16:creationId xmlns:a16="http://schemas.microsoft.com/office/drawing/2014/main" id="{69F70E54-D71C-49BC-95B9-A743B31198C3}"/>
                  </a:ext>
                </a:extLst>
              </p:cNvPr>
              <p:cNvGraphicFramePr>
                <a:graphicFrameLocks noGrp="1"/>
              </p:cNvGraphicFramePr>
              <p:nvPr>
                <p:extLst>
                  <p:ext uri="{D42A27DB-BD31-4B8C-83A1-F6EECF244321}">
                    <p14:modId xmlns:p14="http://schemas.microsoft.com/office/powerpoint/2010/main" val="477846270"/>
                  </p:ext>
                </p:extLst>
              </p:nvPr>
            </p:nvGraphicFramePr>
            <p:xfrm>
              <a:off x="6736890" y="2260655"/>
              <a:ext cx="4850952" cy="1138570"/>
            </p:xfrm>
            <a:graphic>
              <a:graphicData uri="http://schemas.openxmlformats.org/drawingml/2006/table">
                <a:tbl>
                  <a:tblPr firstRow="1" bandRow="1">
                    <a:tableStyleId>{5C22544A-7EE6-4342-B048-85BDC9FD1C3A}</a:tableStyleId>
                  </a:tblPr>
                  <a:tblGrid>
                    <a:gridCol w="827562">
                      <a:extLst>
                        <a:ext uri="{9D8B030D-6E8A-4147-A177-3AD203B41FA5}">
                          <a16:colId xmlns:a16="http://schemas.microsoft.com/office/drawing/2014/main" val="3242848539"/>
                        </a:ext>
                      </a:extLst>
                    </a:gridCol>
                    <a:gridCol w="574770">
                      <a:extLst>
                        <a:ext uri="{9D8B030D-6E8A-4147-A177-3AD203B41FA5}">
                          <a16:colId xmlns:a16="http://schemas.microsoft.com/office/drawing/2014/main" val="735761456"/>
                        </a:ext>
                      </a:extLst>
                    </a:gridCol>
                    <a:gridCol w="574770">
                      <a:extLst>
                        <a:ext uri="{9D8B030D-6E8A-4147-A177-3AD203B41FA5}">
                          <a16:colId xmlns:a16="http://schemas.microsoft.com/office/drawing/2014/main" val="1529620551"/>
                        </a:ext>
                      </a:extLst>
                    </a:gridCol>
                    <a:gridCol w="574770">
                      <a:extLst>
                        <a:ext uri="{9D8B030D-6E8A-4147-A177-3AD203B41FA5}">
                          <a16:colId xmlns:a16="http://schemas.microsoft.com/office/drawing/2014/main" val="2402787438"/>
                        </a:ext>
                      </a:extLst>
                    </a:gridCol>
                    <a:gridCol w="574770">
                      <a:extLst>
                        <a:ext uri="{9D8B030D-6E8A-4147-A177-3AD203B41FA5}">
                          <a16:colId xmlns:a16="http://schemas.microsoft.com/office/drawing/2014/main" val="2695976807"/>
                        </a:ext>
                      </a:extLst>
                    </a:gridCol>
                    <a:gridCol w="574770">
                      <a:extLst>
                        <a:ext uri="{9D8B030D-6E8A-4147-A177-3AD203B41FA5}">
                          <a16:colId xmlns:a16="http://schemas.microsoft.com/office/drawing/2014/main" val="1649336562"/>
                        </a:ext>
                      </a:extLst>
                    </a:gridCol>
                    <a:gridCol w="574770">
                      <a:extLst>
                        <a:ext uri="{9D8B030D-6E8A-4147-A177-3AD203B41FA5}">
                          <a16:colId xmlns:a16="http://schemas.microsoft.com/office/drawing/2014/main" val="3999504219"/>
                        </a:ext>
                      </a:extLst>
                    </a:gridCol>
                    <a:gridCol w="574770">
                      <a:extLst>
                        <a:ext uri="{9D8B030D-6E8A-4147-A177-3AD203B41FA5}">
                          <a16:colId xmlns:a16="http://schemas.microsoft.com/office/drawing/2014/main" val="2218091838"/>
                        </a:ext>
                      </a:extLst>
                    </a:gridCol>
                  </a:tblGrid>
                  <a:tr h="569285">
                    <a:tc>
                      <a:txBody>
                        <a:bodyPr/>
                        <a:lstStyle/>
                        <a:p>
                          <a:pPr algn="ctr"/>
                          <a14:m>
                            <m:oMathPara xmlns:m="http://schemas.openxmlformats.org/officeDocument/2006/math">
                              <m:oMathParaPr>
                                <m:jc m:val="centerGroup"/>
                              </m:oMathParaPr>
                              <m:oMath xmlns:m="http://schemas.openxmlformats.org/officeDocument/2006/math">
                                <m:r>
                                  <a:rPr lang="en-US" altLang="zh-TW" sz="2400" b="0" i="1" dirty="0" smtClean="0">
                                    <a:solidFill>
                                      <a:schemeClr val="tx1"/>
                                    </a:solidFill>
                                    <a:latin typeface="Cambria Math" panose="02040503050406030204" pitchFamily="18" charset="0"/>
                                    <a:cs typeface="Times" panose="02020603050405020304" pitchFamily="18" charset="0"/>
                                  </a:rPr>
                                  <m:t>𝑖</m:t>
                                </m:r>
                              </m:oMath>
                            </m:oMathPara>
                          </a14:m>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2726943"/>
                      </a:ext>
                    </a:extLst>
                  </a:tr>
                  <a:tr h="569285">
                    <a:tc>
                      <a:txBody>
                        <a:bodyPr/>
                        <a:lstStyle/>
                        <a:p>
                          <a:pPr algn="ctr"/>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panose="02020603050405020304" pitchFamily="18" charset="0"/>
                                  </a:rPr>
                                  <m:t>𝑃</m:t>
                                </m:r>
                              </m:oMath>
                            </m:oMathPara>
                          </a14:m>
                          <a:endParaRPr lang="zh-TW" altLang="en-US" sz="2400" b="0" i="1"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18</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2545053646"/>
                      </a:ext>
                    </a:extLst>
                  </a:tr>
                </a:tbl>
              </a:graphicData>
            </a:graphic>
          </p:graphicFrame>
        </mc:Choice>
        <mc:Fallback xmlns="">
          <p:graphicFrame>
            <p:nvGraphicFramePr>
              <p:cNvPr id="10" name="表格 9">
                <a:extLst>
                  <a:ext uri="{FF2B5EF4-FFF2-40B4-BE49-F238E27FC236}">
                    <a16:creationId xmlns:a16="http://schemas.microsoft.com/office/drawing/2014/main" id="{69F70E54-D71C-49BC-95B9-A743B31198C3}"/>
                  </a:ext>
                </a:extLst>
              </p:cNvPr>
              <p:cNvGraphicFramePr>
                <a:graphicFrameLocks noGrp="1"/>
              </p:cNvGraphicFramePr>
              <p:nvPr>
                <p:extLst>
                  <p:ext uri="{D42A27DB-BD31-4B8C-83A1-F6EECF244321}">
                    <p14:modId xmlns:p14="http://schemas.microsoft.com/office/powerpoint/2010/main" val="477846270"/>
                  </p:ext>
                </p:extLst>
              </p:nvPr>
            </p:nvGraphicFramePr>
            <p:xfrm>
              <a:off x="6736890" y="2260655"/>
              <a:ext cx="4850952" cy="1138570"/>
            </p:xfrm>
            <a:graphic>
              <a:graphicData uri="http://schemas.openxmlformats.org/drawingml/2006/table">
                <a:tbl>
                  <a:tblPr firstRow="1" bandRow="1">
                    <a:tableStyleId>{5C22544A-7EE6-4342-B048-85BDC9FD1C3A}</a:tableStyleId>
                  </a:tblPr>
                  <a:tblGrid>
                    <a:gridCol w="827562">
                      <a:extLst>
                        <a:ext uri="{9D8B030D-6E8A-4147-A177-3AD203B41FA5}">
                          <a16:colId xmlns:a16="http://schemas.microsoft.com/office/drawing/2014/main" val="3242848539"/>
                        </a:ext>
                      </a:extLst>
                    </a:gridCol>
                    <a:gridCol w="574770">
                      <a:extLst>
                        <a:ext uri="{9D8B030D-6E8A-4147-A177-3AD203B41FA5}">
                          <a16:colId xmlns:a16="http://schemas.microsoft.com/office/drawing/2014/main" val="735761456"/>
                        </a:ext>
                      </a:extLst>
                    </a:gridCol>
                    <a:gridCol w="574770">
                      <a:extLst>
                        <a:ext uri="{9D8B030D-6E8A-4147-A177-3AD203B41FA5}">
                          <a16:colId xmlns:a16="http://schemas.microsoft.com/office/drawing/2014/main" val="1529620551"/>
                        </a:ext>
                      </a:extLst>
                    </a:gridCol>
                    <a:gridCol w="574770">
                      <a:extLst>
                        <a:ext uri="{9D8B030D-6E8A-4147-A177-3AD203B41FA5}">
                          <a16:colId xmlns:a16="http://schemas.microsoft.com/office/drawing/2014/main" val="2402787438"/>
                        </a:ext>
                      </a:extLst>
                    </a:gridCol>
                    <a:gridCol w="574770">
                      <a:extLst>
                        <a:ext uri="{9D8B030D-6E8A-4147-A177-3AD203B41FA5}">
                          <a16:colId xmlns:a16="http://schemas.microsoft.com/office/drawing/2014/main" val="2695976807"/>
                        </a:ext>
                      </a:extLst>
                    </a:gridCol>
                    <a:gridCol w="574770">
                      <a:extLst>
                        <a:ext uri="{9D8B030D-6E8A-4147-A177-3AD203B41FA5}">
                          <a16:colId xmlns:a16="http://schemas.microsoft.com/office/drawing/2014/main" val="1649336562"/>
                        </a:ext>
                      </a:extLst>
                    </a:gridCol>
                    <a:gridCol w="574770">
                      <a:extLst>
                        <a:ext uri="{9D8B030D-6E8A-4147-A177-3AD203B41FA5}">
                          <a16:colId xmlns:a16="http://schemas.microsoft.com/office/drawing/2014/main" val="3999504219"/>
                        </a:ext>
                      </a:extLst>
                    </a:gridCol>
                    <a:gridCol w="574770">
                      <a:extLst>
                        <a:ext uri="{9D8B030D-6E8A-4147-A177-3AD203B41FA5}">
                          <a16:colId xmlns:a16="http://schemas.microsoft.com/office/drawing/2014/main" val="2218091838"/>
                        </a:ext>
                      </a:extLst>
                    </a:gridCol>
                  </a:tblGrid>
                  <a:tr h="569285">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735" t="-1064" r="-486765" b="-113830"/>
                          </a:stretch>
                        </a:blip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2726943"/>
                      </a:ext>
                    </a:extLst>
                  </a:tr>
                  <a:tr h="569285">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735" t="-101064" r="-486765" b="-13830"/>
                          </a:stretch>
                        </a:blip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18</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254505364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 name="表格 4">
                <a:extLst>
                  <a:ext uri="{FF2B5EF4-FFF2-40B4-BE49-F238E27FC236}">
                    <a16:creationId xmlns:a16="http://schemas.microsoft.com/office/drawing/2014/main" id="{255D48B4-066D-4BEC-A115-3813D640864E}"/>
                  </a:ext>
                </a:extLst>
              </p:cNvPr>
              <p:cNvGraphicFramePr>
                <a:graphicFrameLocks noGrp="1"/>
              </p:cNvGraphicFramePr>
              <p:nvPr>
                <p:extLst>
                  <p:ext uri="{D42A27DB-BD31-4B8C-83A1-F6EECF244321}">
                    <p14:modId xmlns:p14="http://schemas.microsoft.com/office/powerpoint/2010/main" val="3183748188"/>
                  </p:ext>
                </p:extLst>
              </p:nvPr>
            </p:nvGraphicFramePr>
            <p:xfrm>
              <a:off x="1245047" y="4094838"/>
              <a:ext cx="4850952" cy="569285"/>
            </p:xfrm>
            <a:graphic>
              <a:graphicData uri="http://schemas.openxmlformats.org/drawingml/2006/table">
                <a:tbl>
                  <a:tblPr firstRow="1" bandRow="1">
                    <a:tableStyleId>{5C22544A-7EE6-4342-B048-85BDC9FD1C3A}</a:tableStyleId>
                  </a:tblPr>
                  <a:tblGrid>
                    <a:gridCol w="827562">
                      <a:extLst>
                        <a:ext uri="{9D8B030D-6E8A-4147-A177-3AD203B41FA5}">
                          <a16:colId xmlns:a16="http://schemas.microsoft.com/office/drawing/2014/main" val="369628437"/>
                        </a:ext>
                      </a:extLst>
                    </a:gridCol>
                    <a:gridCol w="574770">
                      <a:extLst>
                        <a:ext uri="{9D8B030D-6E8A-4147-A177-3AD203B41FA5}">
                          <a16:colId xmlns:a16="http://schemas.microsoft.com/office/drawing/2014/main" val="2349181650"/>
                        </a:ext>
                      </a:extLst>
                    </a:gridCol>
                    <a:gridCol w="574770">
                      <a:extLst>
                        <a:ext uri="{9D8B030D-6E8A-4147-A177-3AD203B41FA5}">
                          <a16:colId xmlns:a16="http://schemas.microsoft.com/office/drawing/2014/main" val="1895732180"/>
                        </a:ext>
                      </a:extLst>
                    </a:gridCol>
                    <a:gridCol w="574770">
                      <a:extLst>
                        <a:ext uri="{9D8B030D-6E8A-4147-A177-3AD203B41FA5}">
                          <a16:colId xmlns:a16="http://schemas.microsoft.com/office/drawing/2014/main" val="1379170929"/>
                        </a:ext>
                      </a:extLst>
                    </a:gridCol>
                    <a:gridCol w="574770">
                      <a:extLst>
                        <a:ext uri="{9D8B030D-6E8A-4147-A177-3AD203B41FA5}">
                          <a16:colId xmlns:a16="http://schemas.microsoft.com/office/drawing/2014/main" val="473685413"/>
                        </a:ext>
                      </a:extLst>
                    </a:gridCol>
                    <a:gridCol w="574770">
                      <a:extLst>
                        <a:ext uri="{9D8B030D-6E8A-4147-A177-3AD203B41FA5}">
                          <a16:colId xmlns:a16="http://schemas.microsoft.com/office/drawing/2014/main" val="3513712360"/>
                        </a:ext>
                      </a:extLst>
                    </a:gridCol>
                    <a:gridCol w="574770">
                      <a:extLst>
                        <a:ext uri="{9D8B030D-6E8A-4147-A177-3AD203B41FA5}">
                          <a16:colId xmlns:a16="http://schemas.microsoft.com/office/drawing/2014/main" val="2002089880"/>
                        </a:ext>
                      </a:extLst>
                    </a:gridCol>
                    <a:gridCol w="574770">
                      <a:extLst>
                        <a:ext uri="{9D8B030D-6E8A-4147-A177-3AD203B41FA5}">
                          <a16:colId xmlns:a16="http://schemas.microsoft.com/office/drawing/2014/main" val="2734391666"/>
                        </a:ext>
                      </a:extLst>
                    </a:gridCol>
                  </a:tblGrid>
                  <a:tr h="569285">
                    <a:tc>
                      <a:txBody>
                        <a:bodyPr/>
                        <a:lstStyle/>
                        <a:p>
                          <a:pPr algn="ctr"/>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panose="02020603050405020304" pitchFamily="18" charset="0"/>
                                  </a:rPr>
                                  <m:t>𝑟</m:t>
                                </m:r>
                              </m:oMath>
                            </m:oMathPara>
                          </a14:m>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851583"/>
                      </a:ext>
                    </a:extLst>
                  </a:tr>
                </a:tbl>
              </a:graphicData>
            </a:graphic>
          </p:graphicFrame>
        </mc:Choice>
        <mc:Fallback xmlns="">
          <p:graphicFrame>
            <p:nvGraphicFramePr>
              <p:cNvPr id="5" name="表格 4">
                <a:extLst>
                  <a:ext uri="{FF2B5EF4-FFF2-40B4-BE49-F238E27FC236}">
                    <a16:creationId xmlns:a16="http://schemas.microsoft.com/office/drawing/2014/main" id="{255D48B4-066D-4BEC-A115-3813D640864E}"/>
                  </a:ext>
                </a:extLst>
              </p:cNvPr>
              <p:cNvGraphicFramePr>
                <a:graphicFrameLocks noGrp="1"/>
              </p:cNvGraphicFramePr>
              <p:nvPr>
                <p:extLst>
                  <p:ext uri="{D42A27DB-BD31-4B8C-83A1-F6EECF244321}">
                    <p14:modId xmlns:p14="http://schemas.microsoft.com/office/powerpoint/2010/main" val="3183748188"/>
                  </p:ext>
                </p:extLst>
              </p:nvPr>
            </p:nvGraphicFramePr>
            <p:xfrm>
              <a:off x="1245047" y="4094838"/>
              <a:ext cx="4850952" cy="569285"/>
            </p:xfrm>
            <a:graphic>
              <a:graphicData uri="http://schemas.openxmlformats.org/drawingml/2006/table">
                <a:tbl>
                  <a:tblPr firstRow="1" bandRow="1">
                    <a:tableStyleId>{5C22544A-7EE6-4342-B048-85BDC9FD1C3A}</a:tableStyleId>
                  </a:tblPr>
                  <a:tblGrid>
                    <a:gridCol w="827562">
                      <a:extLst>
                        <a:ext uri="{9D8B030D-6E8A-4147-A177-3AD203B41FA5}">
                          <a16:colId xmlns:a16="http://schemas.microsoft.com/office/drawing/2014/main" val="369628437"/>
                        </a:ext>
                      </a:extLst>
                    </a:gridCol>
                    <a:gridCol w="574770">
                      <a:extLst>
                        <a:ext uri="{9D8B030D-6E8A-4147-A177-3AD203B41FA5}">
                          <a16:colId xmlns:a16="http://schemas.microsoft.com/office/drawing/2014/main" val="2349181650"/>
                        </a:ext>
                      </a:extLst>
                    </a:gridCol>
                    <a:gridCol w="574770">
                      <a:extLst>
                        <a:ext uri="{9D8B030D-6E8A-4147-A177-3AD203B41FA5}">
                          <a16:colId xmlns:a16="http://schemas.microsoft.com/office/drawing/2014/main" val="1895732180"/>
                        </a:ext>
                      </a:extLst>
                    </a:gridCol>
                    <a:gridCol w="574770">
                      <a:extLst>
                        <a:ext uri="{9D8B030D-6E8A-4147-A177-3AD203B41FA5}">
                          <a16:colId xmlns:a16="http://schemas.microsoft.com/office/drawing/2014/main" val="1379170929"/>
                        </a:ext>
                      </a:extLst>
                    </a:gridCol>
                    <a:gridCol w="574770">
                      <a:extLst>
                        <a:ext uri="{9D8B030D-6E8A-4147-A177-3AD203B41FA5}">
                          <a16:colId xmlns:a16="http://schemas.microsoft.com/office/drawing/2014/main" val="473685413"/>
                        </a:ext>
                      </a:extLst>
                    </a:gridCol>
                    <a:gridCol w="574770">
                      <a:extLst>
                        <a:ext uri="{9D8B030D-6E8A-4147-A177-3AD203B41FA5}">
                          <a16:colId xmlns:a16="http://schemas.microsoft.com/office/drawing/2014/main" val="3513712360"/>
                        </a:ext>
                      </a:extLst>
                    </a:gridCol>
                    <a:gridCol w="574770">
                      <a:extLst>
                        <a:ext uri="{9D8B030D-6E8A-4147-A177-3AD203B41FA5}">
                          <a16:colId xmlns:a16="http://schemas.microsoft.com/office/drawing/2014/main" val="2002089880"/>
                        </a:ext>
                      </a:extLst>
                    </a:gridCol>
                    <a:gridCol w="574770">
                      <a:extLst>
                        <a:ext uri="{9D8B030D-6E8A-4147-A177-3AD203B41FA5}">
                          <a16:colId xmlns:a16="http://schemas.microsoft.com/office/drawing/2014/main" val="2734391666"/>
                        </a:ext>
                      </a:extLst>
                    </a:gridCol>
                  </a:tblGrid>
                  <a:tr h="569285">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735" t="-1053" r="-487500" b="-13684"/>
                          </a:stretch>
                        </a:blip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85158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1" name="表格 10">
                <a:extLst>
                  <a:ext uri="{FF2B5EF4-FFF2-40B4-BE49-F238E27FC236}">
                    <a16:creationId xmlns:a16="http://schemas.microsoft.com/office/drawing/2014/main" id="{47D76897-79B2-403A-8DF8-839B49FF91B3}"/>
                  </a:ext>
                </a:extLst>
              </p:cNvPr>
              <p:cNvGraphicFramePr>
                <a:graphicFrameLocks noGrp="1"/>
              </p:cNvGraphicFramePr>
              <p:nvPr>
                <p:extLst>
                  <p:ext uri="{D42A27DB-BD31-4B8C-83A1-F6EECF244321}">
                    <p14:modId xmlns:p14="http://schemas.microsoft.com/office/powerpoint/2010/main" val="1028198775"/>
                  </p:ext>
                </p:extLst>
              </p:nvPr>
            </p:nvGraphicFramePr>
            <p:xfrm>
              <a:off x="6736891" y="3525553"/>
              <a:ext cx="4850952" cy="569285"/>
            </p:xfrm>
            <a:graphic>
              <a:graphicData uri="http://schemas.openxmlformats.org/drawingml/2006/table">
                <a:tbl>
                  <a:tblPr firstRow="1" bandRow="1">
                    <a:tableStyleId>{5C22544A-7EE6-4342-B048-85BDC9FD1C3A}</a:tableStyleId>
                  </a:tblPr>
                  <a:tblGrid>
                    <a:gridCol w="827562">
                      <a:extLst>
                        <a:ext uri="{9D8B030D-6E8A-4147-A177-3AD203B41FA5}">
                          <a16:colId xmlns:a16="http://schemas.microsoft.com/office/drawing/2014/main" val="919673241"/>
                        </a:ext>
                      </a:extLst>
                    </a:gridCol>
                    <a:gridCol w="574770">
                      <a:extLst>
                        <a:ext uri="{9D8B030D-6E8A-4147-A177-3AD203B41FA5}">
                          <a16:colId xmlns:a16="http://schemas.microsoft.com/office/drawing/2014/main" val="3770535230"/>
                        </a:ext>
                      </a:extLst>
                    </a:gridCol>
                    <a:gridCol w="574770">
                      <a:extLst>
                        <a:ext uri="{9D8B030D-6E8A-4147-A177-3AD203B41FA5}">
                          <a16:colId xmlns:a16="http://schemas.microsoft.com/office/drawing/2014/main" val="3389758933"/>
                        </a:ext>
                      </a:extLst>
                    </a:gridCol>
                    <a:gridCol w="574770">
                      <a:extLst>
                        <a:ext uri="{9D8B030D-6E8A-4147-A177-3AD203B41FA5}">
                          <a16:colId xmlns:a16="http://schemas.microsoft.com/office/drawing/2014/main" val="131532624"/>
                        </a:ext>
                      </a:extLst>
                    </a:gridCol>
                    <a:gridCol w="574770">
                      <a:extLst>
                        <a:ext uri="{9D8B030D-6E8A-4147-A177-3AD203B41FA5}">
                          <a16:colId xmlns:a16="http://schemas.microsoft.com/office/drawing/2014/main" val="1219013724"/>
                        </a:ext>
                      </a:extLst>
                    </a:gridCol>
                    <a:gridCol w="574770">
                      <a:extLst>
                        <a:ext uri="{9D8B030D-6E8A-4147-A177-3AD203B41FA5}">
                          <a16:colId xmlns:a16="http://schemas.microsoft.com/office/drawing/2014/main" val="2236565949"/>
                        </a:ext>
                      </a:extLst>
                    </a:gridCol>
                    <a:gridCol w="574770">
                      <a:extLst>
                        <a:ext uri="{9D8B030D-6E8A-4147-A177-3AD203B41FA5}">
                          <a16:colId xmlns:a16="http://schemas.microsoft.com/office/drawing/2014/main" val="3884808780"/>
                        </a:ext>
                      </a:extLst>
                    </a:gridCol>
                    <a:gridCol w="574770">
                      <a:extLst>
                        <a:ext uri="{9D8B030D-6E8A-4147-A177-3AD203B41FA5}">
                          <a16:colId xmlns:a16="http://schemas.microsoft.com/office/drawing/2014/main" val="2051620721"/>
                        </a:ext>
                      </a:extLst>
                    </a:gridCol>
                  </a:tblGrid>
                  <a:tr h="569285">
                    <a:tc>
                      <a:txBody>
                        <a:bodyPr/>
                        <a:lstStyle/>
                        <a:p>
                          <a:pPr algn="ctr"/>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panose="02020603050405020304" pitchFamily="18" charset="0"/>
                                  </a:rPr>
                                  <m:t>𝐸</m:t>
                                </m:r>
                              </m:oMath>
                            </m:oMathPara>
                          </a14:m>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89411083"/>
                      </a:ext>
                    </a:extLst>
                  </a:tr>
                </a:tbl>
              </a:graphicData>
            </a:graphic>
          </p:graphicFrame>
        </mc:Choice>
        <mc:Fallback xmlns="">
          <p:graphicFrame>
            <p:nvGraphicFramePr>
              <p:cNvPr id="11" name="表格 10">
                <a:extLst>
                  <a:ext uri="{FF2B5EF4-FFF2-40B4-BE49-F238E27FC236}">
                    <a16:creationId xmlns:a16="http://schemas.microsoft.com/office/drawing/2014/main" id="{47D76897-79B2-403A-8DF8-839B49FF91B3}"/>
                  </a:ext>
                </a:extLst>
              </p:cNvPr>
              <p:cNvGraphicFramePr>
                <a:graphicFrameLocks noGrp="1"/>
              </p:cNvGraphicFramePr>
              <p:nvPr>
                <p:extLst>
                  <p:ext uri="{D42A27DB-BD31-4B8C-83A1-F6EECF244321}">
                    <p14:modId xmlns:p14="http://schemas.microsoft.com/office/powerpoint/2010/main" val="1028198775"/>
                  </p:ext>
                </p:extLst>
              </p:nvPr>
            </p:nvGraphicFramePr>
            <p:xfrm>
              <a:off x="6736891" y="3525553"/>
              <a:ext cx="4850952" cy="569285"/>
            </p:xfrm>
            <a:graphic>
              <a:graphicData uri="http://schemas.openxmlformats.org/drawingml/2006/table">
                <a:tbl>
                  <a:tblPr firstRow="1" bandRow="1">
                    <a:tableStyleId>{5C22544A-7EE6-4342-B048-85BDC9FD1C3A}</a:tableStyleId>
                  </a:tblPr>
                  <a:tblGrid>
                    <a:gridCol w="827562">
                      <a:extLst>
                        <a:ext uri="{9D8B030D-6E8A-4147-A177-3AD203B41FA5}">
                          <a16:colId xmlns:a16="http://schemas.microsoft.com/office/drawing/2014/main" val="919673241"/>
                        </a:ext>
                      </a:extLst>
                    </a:gridCol>
                    <a:gridCol w="574770">
                      <a:extLst>
                        <a:ext uri="{9D8B030D-6E8A-4147-A177-3AD203B41FA5}">
                          <a16:colId xmlns:a16="http://schemas.microsoft.com/office/drawing/2014/main" val="3770535230"/>
                        </a:ext>
                      </a:extLst>
                    </a:gridCol>
                    <a:gridCol w="574770">
                      <a:extLst>
                        <a:ext uri="{9D8B030D-6E8A-4147-A177-3AD203B41FA5}">
                          <a16:colId xmlns:a16="http://schemas.microsoft.com/office/drawing/2014/main" val="3389758933"/>
                        </a:ext>
                      </a:extLst>
                    </a:gridCol>
                    <a:gridCol w="574770">
                      <a:extLst>
                        <a:ext uri="{9D8B030D-6E8A-4147-A177-3AD203B41FA5}">
                          <a16:colId xmlns:a16="http://schemas.microsoft.com/office/drawing/2014/main" val="131532624"/>
                        </a:ext>
                      </a:extLst>
                    </a:gridCol>
                    <a:gridCol w="574770">
                      <a:extLst>
                        <a:ext uri="{9D8B030D-6E8A-4147-A177-3AD203B41FA5}">
                          <a16:colId xmlns:a16="http://schemas.microsoft.com/office/drawing/2014/main" val="1219013724"/>
                        </a:ext>
                      </a:extLst>
                    </a:gridCol>
                    <a:gridCol w="574770">
                      <a:extLst>
                        <a:ext uri="{9D8B030D-6E8A-4147-A177-3AD203B41FA5}">
                          <a16:colId xmlns:a16="http://schemas.microsoft.com/office/drawing/2014/main" val="2236565949"/>
                        </a:ext>
                      </a:extLst>
                    </a:gridCol>
                    <a:gridCol w="574770">
                      <a:extLst>
                        <a:ext uri="{9D8B030D-6E8A-4147-A177-3AD203B41FA5}">
                          <a16:colId xmlns:a16="http://schemas.microsoft.com/office/drawing/2014/main" val="3884808780"/>
                        </a:ext>
                      </a:extLst>
                    </a:gridCol>
                    <a:gridCol w="574770">
                      <a:extLst>
                        <a:ext uri="{9D8B030D-6E8A-4147-A177-3AD203B41FA5}">
                          <a16:colId xmlns:a16="http://schemas.microsoft.com/office/drawing/2014/main" val="2051620721"/>
                        </a:ext>
                      </a:extLst>
                    </a:gridCol>
                  </a:tblGrid>
                  <a:tr h="569285">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735" t="-1064" r="-486765" b="-14894"/>
                          </a:stretch>
                        </a:blip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89411083"/>
                      </a:ext>
                    </a:extLst>
                  </a:tr>
                </a:tbl>
              </a:graphicData>
            </a:graphic>
          </p:graphicFrame>
        </mc:Fallback>
      </mc:AlternateContent>
    </p:spTree>
    <p:extLst>
      <p:ext uri="{BB962C8B-B14F-4D97-AF65-F5344CB8AC3E}">
        <p14:creationId xmlns:p14="http://schemas.microsoft.com/office/powerpoint/2010/main" val="731730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Mismatch</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6</a:t>
            </a:fld>
            <a:endParaRPr kumimoji="1" lang="zh-TW" altLang="en-US" dirty="0"/>
          </a:p>
        </p:txBody>
      </p:sp>
      <mc:AlternateContent xmlns:mc="http://schemas.openxmlformats.org/markup-compatibility/2006" xmlns:a14="http://schemas.microsoft.com/office/drawing/2010/main">
        <mc:Choice Requires="a14">
          <p:graphicFrame>
            <p:nvGraphicFramePr>
              <p:cNvPr id="8" name="表格 7">
                <a:extLst>
                  <a:ext uri="{FF2B5EF4-FFF2-40B4-BE49-F238E27FC236}">
                    <a16:creationId xmlns:a16="http://schemas.microsoft.com/office/drawing/2014/main" id="{59517EA4-7957-4F6C-A154-7D8E2946CD26}"/>
                  </a:ext>
                </a:extLst>
              </p:cNvPr>
              <p:cNvGraphicFramePr>
                <a:graphicFrameLocks noGrp="1"/>
              </p:cNvGraphicFramePr>
              <p:nvPr>
                <p:extLst>
                  <p:ext uri="{D42A27DB-BD31-4B8C-83A1-F6EECF244321}">
                    <p14:modId xmlns:p14="http://schemas.microsoft.com/office/powerpoint/2010/main" val="521299650"/>
                  </p:ext>
                </p:extLst>
              </p:nvPr>
            </p:nvGraphicFramePr>
            <p:xfrm>
              <a:off x="6525260" y="1690688"/>
              <a:ext cx="4627880" cy="1707855"/>
            </p:xfrm>
            <a:graphic>
              <a:graphicData uri="http://schemas.openxmlformats.org/drawingml/2006/table">
                <a:tbl>
                  <a:tblPr firstRow="1" bandRow="1">
                    <a:tableStyleId>{5C22544A-7EE6-4342-B048-85BDC9FD1C3A}</a:tableStyleId>
                  </a:tblPr>
                  <a:tblGrid>
                    <a:gridCol w="578485">
                      <a:extLst>
                        <a:ext uri="{9D8B030D-6E8A-4147-A177-3AD203B41FA5}">
                          <a16:colId xmlns:a16="http://schemas.microsoft.com/office/drawing/2014/main" val="3242848539"/>
                        </a:ext>
                      </a:extLst>
                    </a:gridCol>
                    <a:gridCol w="578485">
                      <a:extLst>
                        <a:ext uri="{9D8B030D-6E8A-4147-A177-3AD203B41FA5}">
                          <a16:colId xmlns:a16="http://schemas.microsoft.com/office/drawing/2014/main" val="2695976807"/>
                        </a:ext>
                      </a:extLst>
                    </a:gridCol>
                    <a:gridCol w="578485">
                      <a:extLst>
                        <a:ext uri="{9D8B030D-6E8A-4147-A177-3AD203B41FA5}">
                          <a16:colId xmlns:a16="http://schemas.microsoft.com/office/drawing/2014/main" val="1649336562"/>
                        </a:ext>
                      </a:extLst>
                    </a:gridCol>
                    <a:gridCol w="578485">
                      <a:extLst>
                        <a:ext uri="{9D8B030D-6E8A-4147-A177-3AD203B41FA5}">
                          <a16:colId xmlns:a16="http://schemas.microsoft.com/office/drawing/2014/main" val="3999504219"/>
                        </a:ext>
                      </a:extLst>
                    </a:gridCol>
                    <a:gridCol w="578485">
                      <a:extLst>
                        <a:ext uri="{9D8B030D-6E8A-4147-A177-3AD203B41FA5}">
                          <a16:colId xmlns:a16="http://schemas.microsoft.com/office/drawing/2014/main" val="2218091838"/>
                        </a:ext>
                      </a:extLst>
                    </a:gridCol>
                    <a:gridCol w="578485">
                      <a:extLst>
                        <a:ext uri="{9D8B030D-6E8A-4147-A177-3AD203B41FA5}">
                          <a16:colId xmlns:a16="http://schemas.microsoft.com/office/drawing/2014/main" val="523606344"/>
                        </a:ext>
                      </a:extLst>
                    </a:gridCol>
                    <a:gridCol w="578485">
                      <a:extLst>
                        <a:ext uri="{9D8B030D-6E8A-4147-A177-3AD203B41FA5}">
                          <a16:colId xmlns:a16="http://schemas.microsoft.com/office/drawing/2014/main" val="69381609"/>
                        </a:ext>
                      </a:extLst>
                    </a:gridCol>
                    <a:gridCol w="578485">
                      <a:extLst>
                        <a:ext uri="{9D8B030D-6E8A-4147-A177-3AD203B41FA5}">
                          <a16:colId xmlns:a16="http://schemas.microsoft.com/office/drawing/2014/main" val="588276304"/>
                        </a:ext>
                      </a:extLst>
                    </a:gridCol>
                  </a:tblGrid>
                  <a:tr h="569285">
                    <a:tc>
                      <a:txBody>
                        <a:bodyPr/>
                        <a:lstStyle/>
                        <a:p>
                          <a:pPr algn="ctr"/>
                          <a14:m>
                            <m:oMathPara xmlns:m="http://schemas.openxmlformats.org/officeDocument/2006/math">
                              <m:oMathParaPr>
                                <m:jc m:val="centerGroup"/>
                              </m:oMathParaPr>
                              <m:oMath xmlns:m="http://schemas.openxmlformats.org/officeDocument/2006/math">
                                <m:r>
                                  <a:rPr lang="en-US" altLang="zh-TW" sz="2400" b="0" i="1" dirty="0" smtClean="0">
                                    <a:solidFill>
                                      <a:schemeClr val="tx1"/>
                                    </a:solidFill>
                                    <a:latin typeface="Cambria Math" panose="02040503050406030204" pitchFamily="18" charset="0"/>
                                    <a:cs typeface="Times" panose="02020603050405020304" pitchFamily="18" charset="0"/>
                                  </a:rPr>
                                  <m:t>𝑖</m:t>
                                </m:r>
                              </m:oMath>
                            </m:oMathPara>
                          </a14:m>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2726943"/>
                      </a:ext>
                    </a:extLst>
                  </a:tr>
                  <a:tr h="569285">
                    <a:tc>
                      <a:txBody>
                        <a:bodyPr/>
                        <a:lstStyle/>
                        <a:p>
                          <a:pPr algn="ctr"/>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panose="02020603050405020304" pitchFamily="18" charset="0"/>
                                  </a:rPr>
                                  <m:t>𝑇</m:t>
                                </m:r>
                              </m:oMath>
                            </m:oMathPara>
                          </a14:m>
                          <a:endParaRPr lang="zh-TW" altLang="en-US" sz="2400" b="0" i="1"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rgbClr val="FF0000"/>
                              </a:solidFill>
                              <a:latin typeface="Times" panose="02020603050405020304" pitchFamily="18" charset="0"/>
                              <a:cs typeface="Times" panose="02020603050405020304" pitchFamily="18" charset="0"/>
                            </a:rPr>
                            <a:t>29</a:t>
                          </a:r>
                          <a:endParaRPr lang="zh-TW" altLang="en-US" sz="2400" b="0" dirty="0">
                            <a:solidFill>
                              <a:srgbClr val="FF0000"/>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rgbClr val="FF0000"/>
                              </a:solidFill>
                              <a:latin typeface="Times" panose="02020603050405020304" pitchFamily="18" charset="0"/>
                              <a:cs typeface="Times" panose="02020603050405020304" pitchFamily="18" charset="0"/>
                            </a:rPr>
                            <a:t>27</a:t>
                          </a:r>
                          <a:endParaRPr lang="zh-TW" altLang="en-US" sz="2400" b="0" dirty="0">
                            <a:solidFill>
                              <a:srgbClr val="FF0000"/>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45053646"/>
                      </a:ext>
                    </a:extLst>
                  </a:tr>
                  <a:tr h="569285">
                    <a:tc>
                      <a:txBody>
                        <a:bodyPr/>
                        <a:lstStyle/>
                        <a:p>
                          <a:pPr algn="ctr"/>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panose="02020603050405020304" pitchFamily="18" charset="0"/>
                                  </a:rPr>
                                  <m:t>𝑃</m:t>
                                </m:r>
                              </m:oMath>
                            </m:oMathPara>
                          </a14:m>
                          <a:endParaRPr lang="zh-TW" altLang="en-US" sz="2400" b="0" i="1"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18</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9765776"/>
                      </a:ext>
                    </a:extLst>
                  </a:tr>
                </a:tbl>
              </a:graphicData>
            </a:graphic>
          </p:graphicFrame>
        </mc:Choice>
        <mc:Fallback xmlns="">
          <p:graphicFrame>
            <p:nvGraphicFramePr>
              <p:cNvPr id="8" name="表格 7">
                <a:extLst>
                  <a:ext uri="{FF2B5EF4-FFF2-40B4-BE49-F238E27FC236}">
                    <a16:creationId xmlns:a16="http://schemas.microsoft.com/office/drawing/2014/main" id="{59517EA4-7957-4F6C-A154-7D8E2946CD26}"/>
                  </a:ext>
                </a:extLst>
              </p:cNvPr>
              <p:cNvGraphicFramePr>
                <a:graphicFrameLocks noGrp="1"/>
              </p:cNvGraphicFramePr>
              <p:nvPr>
                <p:extLst>
                  <p:ext uri="{D42A27DB-BD31-4B8C-83A1-F6EECF244321}">
                    <p14:modId xmlns:p14="http://schemas.microsoft.com/office/powerpoint/2010/main" val="521299650"/>
                  </p:ext>
                </p:extLst>
              </p:nvPr>
            </p:nvGraphicFramePr>
            <p:xfrm>
              <a:off x="6525260" y="1690688"/>
              <a:ext cx="4627880" cy="1707855"/>
            </p:xfrm>
            <a:graphic>
              <a:graphicData uri="http://schemas.openxmlformats.org/drawingml/2006/table">
                <a:tbl>
                  <a:tblPr firstRow="1" bandRow="1">
                    <a:tableStyleId>{5C22544A-7EE6-4342-B048-85BDC9FD1C3A}</a:tableStyleId>
                  </a:tblPr>
                  <a:tblGrid>
                    <a:gridCol w="578485">
                      <a:extLst>
                        <a:ext uri="{9D8B030D-6E8A-4147-A177-3AD203B41FA5}">
                          <a16:colId xmlns:a16="http://schemas.microsoft.com/office/drawing/2014/main" val="3242848539"/>
                        </a:ext>
                      </a:extLst>
                    </a:gridCol>
                    <a:gridCol w="578485">
                      <a:extLst>
                        <a:ext uri="{9D8B030D-6E8A-4147-A177-3AD203B41FA5}">
                          <a16:colId xmlns:a16="http://schemas.microsoft.com/office/drawing/2014/main" val="2695976807"/>
                        </a:ext>
                      </a:extLst>
                    </a:gridCol>
                    <a:gridCol w="578485">
                      <a:extLst>
                        <a:ext uri="{9D8B030D-6E8A-4147-A177-3AD203B41FA5}">
                          <a16:colId xmlns:a16="http://schemas.microsoft.com/office/drawing/2014/main" val="1649336562"/>
                        </a:ext>
                      </a:extLst>
                    </a:gridCol>
                    <a:gridCol w="578485">
                      <a:extLst>
                        <a:ext uri="{9D8B030D-6E8A-4147-A177-3AD203B41FA5}">
                          <a16:colId xmlns:a16="http://schemas.microsoft.com/office/drawing/2014/main" val="3999504219"/>
                        </a:ext>
                      </a:extLst>
                    </a:gridCol>
                    <a:gridCol w="578485">
                      <a:extLst>
                        <a:ext uri="{9D8B030D-6E8A-4147-A177-3AD203B41FA5}">
                          <a16:colId xmlns:a16="http://schemas.microsoft.com/office/drawing/2014/main" val="2218091838"/>
                        </a:ext>
                      </a:extLst>
                    </a:gridCol>
                    <a:gridCol w="578485">
                      <a:extLst>
                        <a:ext uri="{9D8B030D-6E8A-4147-A177-3AD203B41FA5}">
                          <a16:colId xmlns:a16="http://schemas.microsoft.com/office/drawing/2014/main" val="523606344"/>
                        </a:ext>
                      </a:extLst>
                    </a:gridCol>
                    <a:gridCol w="578485">
                      <a:extLst>
                        <a:ext uri="{9D8B030D-6E8A-4147-A177-3AD203B41FA5}">
                          <a16:colId xmlns:a16="http://schemas.microsoft.com/office/drawing/2014/main" val="69381609"/>
                        </a:ext>
                      </a:extLst>
                    </a:gridCol>
                    <a:gridCol w="578485">
                      <a:extLst>
                        <a:ext uri="{9D8B030D-6E8A-4147-A177-3AD203B41FA5}">
                          <a16:colId xmlns:a16="http://schemas.microsoft.com/office/drawing/2014/main" val="588276304"/>
                        </a:ext>
                      </a:extLst>
                    </a:gridCol>
                  </a:tblGrid>
                  <a:tr h="569285">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53" t="-1064" r="-702105" b="-212766"/>
                          </a:stretch>
                        </a:blip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2726943"/>
                      </a:ext>
                    </a:extLst>
                  </a:tr>
                  <a:tr h="569285">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53" t="-102151" r="-702105" b="-115054"/>
                          </a:stretch>
                        </a:blipFill>
                      </a:tcPr>
                    </a:tc>
                    <a:tc>
                      <a:txBody>
                        <a:bodyPr/>
                        <a:lstStyle/>
                        <a:p>
                          <a:pPr algn="ctr"/>
                          <a:r>
                            <a:rPr lang="en-US" altLang="zh-TW" sz="2400" b="0" dirty="0">
                              <a:solidFill>
                                <a:srgbClr val="FF0000"/>
                              </a:solidFill>
                              <a:latin typeface="Times" panose="02020603050405020304" pitchFamily="18" charset="0"/>
                              <a:cs typeface="Times" panose="02020603050405020304" pitchFamily="18" charset="0"/>
                            </a:rPr>
                            <a:t>29</a:t>
                          </a:r>
                          <a:endParaRPr lang="zh-TW" altLang="en-US" sz="2400" b="0" dirty="0">
                            <a:solidFill>
                              <a:srgbClr val="FF0000"/>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rgbClr val="FF0000"/>
                              </a:solidFill>
                              <a:latin typeface="Times" panose="02020603050405020304" pitchFamily="18" charset="0"/>
                              <a:cs typeface="Times" panose="02020603050405020304" pitchFamily="18" charset="0"/>
                            </a:rPr>
                            <a:t>27</a:t>
                          </a:r>
                          <a:endParaRPr lang="zh-TW" altLang="en-US" sz="2400" b="0" dirty="0">
                            <a:solidFill>
                              <a:srgbClr val="FF0000"/>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45053646"/>
                      </a:ext>
                    </a:extLst>
                  </a:tr>
                  <a:tr h="569285">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53" t="-200000" r="-702105" b="-13830"/>
                          </a:stretch>
                        </a:blip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18</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976577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 name="表格 2">
                <a:extLst>
                  <a:ext uri="{FF2B5EF4-FFF2-40B4-BE49-F238E27FC236}">
                    <a16:creationId xmlns:a16="http://schemas.microsoft.com/office/drawing/2014/main" id="{74CFC8FC-40F6-4EBE-A589-8EB8DA802D6B}"/>
                  </a:ext>
                </a:extLst>
              </p:cNvPr>
              <p:cNvGraphicFramePr>
                <a:graphicFrameLocks noGrp="1"/>
              </p:cNvGraphicFramePr>
              <p:nvPr>
                <p:extLst>
                  <p:ext uri="{D42A27DB-BD31-4B8C-83A1-F6EECF244321}">
                    <p14:modId xmlns:p14="http://schemas.microsoft.com/office/powerpoint/2010/main" val="3298899507"/>
                  </p:ext>
                </p:extLst>
              </p:nvPr>
            </p:nvGraphicFramePr>
            <p:xfrm>
              <a:off x="6553750" y="3585536"/>
              <a:ext cx="4599390" cy="569285"/>
            </p:xfrm>
            <a:graphic>
              <a:graphicData uri="http://schemas.openxmlformats.org/drawingml/2006/table">
                <a:tbl>
                  <a:tblPr firstRow="1" bandRow="1">
                    <a:tableStyleId>{5C22544A-7EE6-4342-B048-85BDC9FD1C3A}</a:tableStyleId>
                  </a:tblPr>
                  <a:tblGrid>
                    <a:gridCol w="576000">
                      <a:extLst>
                        <a:ext uri="{9D8B030D-6E8A-4147-A177-3AD203B41FA5}">
                          <a16:colId xmlns:a16="http://schemas.microsoft.com/office/drawing/2014/main" val="1349991979"/>
                        </a:ext>
                      </a:extLst>
                    </a:gridCol>
                    <a:gridCol w="574770">
                      <a:extLst>
                        <a:ext uri="{9D8B030D-6E8A-4147-A177-3AD203B41FA5}">
                          <a16:colId xmlns:a16="http://schemas.microsoft.com/office/drawing/2014/main" val="37451203"/>
                        </a:ext>
                      </a:extLst>
                    </a:gridCol>
                    <a:gridCol w="574770">
                      <a:extLst>
                        <a:ext uri="{9D8B030D-6E8A-4147-A177-3AD203B41FA5}">
                          <a16:colId xmlns:a16="http://schemas.microsoft.com/office/drawing/2014/main" val="810131409"/>
                        </a:ext>
                      </a:extLst>
                    </a:gridCol>
                    <a:gridCol w="574770">
                      <a:extLst>
                        <a:ext uri="{9D8B030D-6E8A-4147-A177-3AD203B41FA5}">
                          <a16:colId xmlns:a16="http://schemas.microsoft.com/office/drawing/2014/main" val="4206810790"/>
                        </a:ext>
                      </a:extLst>
                    </a:gridCol>
                    <a:gridCol w="574770">
                      <a:extLst>
                        <a:ext uri="{9D8B030D-6E8A-4147-A177-3AD203B41FA5}">
                          <a16:colId xmlns:a16="http://schemas.microsoft.com/office/drawing/2014/main" val="1144930059"/>
                        </a:ext>
                      </a:extLst>
                    </a:gridCol>
                    <a:gridCol w="574770">
                      <a:extLst>
                        <a:ext uri="{9D8B030D-6E8A-4147-A177-3AD203B41FA5}">
                          <a16:colId xmlns:a16="http://schemas.microsoft.com/office/drawing/2014/main" val="1181438874"/>
                        </a:ext>
                      </a:extLst>
                    </a:gridCol>
                    <a:gridCol w="574770">
                      <a:extLst>
                        <a:ext uri="{9D8B030D-6E8A-4147-A177-3AD203B41FA5}">
                          <a16:colId xmlns:a16="http://schemas.microsoft.com/office/drawing/2014/main" val="2079949316"/>
                        </a:ext>
                      </a:extLst>
                    </a:gridCol>
                    <a:gridCol w="574770">
                      <a:extLst>
                        <a:ext uri="{9D8B030D-6E8A-4147-A177-3AD203B41FA5}">
                          <a16:colId xmlns:a16="http://schemas.microsoft.com/office/drawing/2014/main" val="3447317541"/>
                        </a:ext>
                      </a:extLst>
                    </a:gridCol>
                  </a:tblGrid>
                  <a:tr h="569285">
                    <a:tc>
                      <a:txBody>
                        <a:bodyPr/>
                        <a:lstStyle/>
                        <a:p>
                          <a:pPr algn="ctr"/>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panose="02020603050405020304" pitchFamily="18" charset="0"/>
                                  </a:rPr>
                                  <m:t>𝑟</m:t>
                                </m:r>
                              </m:oMath>
                            </m:oMathPara>
                          </a14:m>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72911574"/>
                      </a:ext>
                    </a:extLst>
                  </a:tr>
                </a:tbl>
              </a:graphicData>
            </a:graphic>
          </p:graphicFrame>
        </mc:Choice>
        <mc:Fallback xmlns="">
          <p:graphicFrame>
            <p:nvGraphicFramePr>
              <p:cNvPr id="3" name="表格 2">
                <a:extLst>
                  <a:ext uri="{FF2B5EF4-FFF2-40B4-BE49-F238E27FC236}">
                    <a16:creationId xmlns:a16="http://schemas.microsoft.com/office/drawing/2014/main" id="{74CFC8FC-40F6-4EBE-A589-8EB8DA802D6B}"/>
                  </a:ext>
                </a:extLst>
              </p:cNvPr>
              <p:cNvGraphicFramePr>
                <a:graphicFrameLocks noGrp="1"/>
              </p:cNvGraphicFramePr>
              <p:nvPr>
                <p:extLst>
                  <p:ext uri="{D42A27DB-BD31-4B8C-83A1-F6EECF244321}">
                    <p14:modId xmlns:p14="http://schemas.microsoft.com/office/powerpoint/2010/main" val="3298899507"/>
                  </p:ext>
                </p:extLst>
              </p:nvPr>
            </p:nvGraphicFramePr>
            <p:xfrm>
              <a:off x="6553750" y="3585536"/>
              <a:ext cx="4599390" cy="569285"/>
            </p:xfrm>
            <a:graphic>
              <a:graphicData uri="http://schemas.openxmlformats.org/drawingml/2006/table">
                <a:tbl>
                  <a:tblPr firstRow="1" bandRow="1">
                    <a:tableStyleId>{5C22544A-7EE6-4342-B048-85BDC9FD1C3A}</a:tableStyleId>
                  </a:tblPr>
                  <a:tblGrid>
                    <a:gridCol w="576000">
                      <a:extLst>
                        <a:ext uri="{9D8B030D-6E8A-4147-A177-3AD203B41FA5}">
                          <a16:colId xmlns:a16="http://schemas.microsoft.com/office/drawing/2014/main" val="1349991979"/>
                        </a:ext>
                      </a:extLst>
                    </a:gridCol>
                    <a:gridCol w="574770">
                      <a:extLst>
                        <a:ext uri="{9D8B030D-6E8A-4147-A177-3AD203B41FA5}">
                          <a16:colId xmlns:a16="http://schemas.microsoft.com/office/drawing/2014/main" val="37451203"/>
                        </a:ext>
                      </a:extLst>
                    </a:gridCol>
                    <a:gridCol w="574770">
                      <a:extLst>
                        <a:ext uri="{9D8B030D-6E8A-4147-A177-3AD203B41FA5}">
                          <a16:colId xmlns:a16="http://schemas.microsoft.com/office/drawing/2014/main" val="810131409"/>
                        </a:ext>
                      </a:extLst>
                    </a:gridCol>
                    <a:gridCol w="574770">
                      <a:extLst>
                        <a:ext uri="{9D8B030D-6E8A-4147-A177-3AD203B41FA5}">
                          <a16:colId xmlns:a16="http://schemas.microsoft.com/office/drawing/2014/main" val="4206810790"/>
                        </a:ext>
                      </a:extLst>
                    </a:gridCol>
                    <a:gridCol w="574770">
                      <a:extLst>
                        <a:ext uri="{9D8B030D-6E8A-4147-A177-3AD203B41FA5}">
                          <a16:colId xmlns:a16="http://schemas.microsoft.com/office/drawing/2014/main" val="1144930059"/>
                        </a:ext>
                      </a:extLst>
                    </a:gridCol>
                    <a:gridCol w="574770">
                      <a:extLst>
                        <a:ext uri="{9D8B030D-6E8A-4147-A177-3AD203B41FA5}">
                          <a16:colId xmlns:a16="http://schemas.microsoft.com/office/drawing/2014/main" val="1181438874"/>
                        </a:ext>
                      </a:extLst>
                    </a:gridCol>
                    <a:gridCol w="574770">
                      <a:extLst>
                        <a:ext uri="{9D8B030D-6E8A-4147-A177-3AD203B41FA5}">
                          <a16:colId xmlns:a16="http://schemas.microsoft.com/office/drawing/2014/main" val="2079949316"/>
                        </a:ext>
                      </a:extLst>
                    </a:gridCol>
                    <a:gridCol w="574770">
                      <a:extLst>
                        <a:ext uri="{9D8B030D-6E8A-4147-A177-3AD203B41FA5}">
                          <a16:colId xmlns:a16="http://schemas.microsoft.com/office/drawing/2014/main" val="3447317541"/>
                        </a:ext>
                      </a:extLst>
                    </a:gridCol>
                  </a:tblGrid>
                  <a:tr h="569285">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53" t="-1064" r="-696842" b="-13830"/>
                          </a:stretch>
                        </a:blip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72911574"/>
                      </a:ext>
                    </a:extLst>
                  </a:tr>
                </a:tbl>
              </a:graphicData>
            </a:graphic>
          </p:graphicFrame>
        </mc:Fallback>
      </mc:AlternateContent>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1FA9ED3E-A981-462B-958C-BC0D54C687FC}"/>
                  </a:ext>
                </a:extLst>
              </p:cNvPr>
              <p:cNvSpPr txBox="1"/>
              <p:nvPr/>
            </p:nvSpPr>
            <p:spPr>
              <a:xfrm>
                <a:off x="838199" y="1672662"/>
                <a:ext cx="5257801" cy="1866793"/>
              </a:xfrm>
              <a:prstGeom prst="rect">
                <a:avLst/>
              </a:prstGeom>
              <a:noFill/>
            </p:spPr>
            <p:txBody>
              <a:bodyPr wrap="square" rtlCol="0">
                <a:spAutoFit/>
              </a:bodyPr>
              <a:lstStyle/>
              <a:p>
                <a:pPr marL="342900" indent="-342900">
                  <a:lnSpc>
                    <a:spcPct val="150000"/>
                  </a:lnSpc>
                  <a:buFont typeface="Arial" panose="020B0604020202020204" pitchFamily="34" charset="0"/>
                  <a:buChar char="•"/>
                </a:pPr>
                <a14:m>
                  <m:oMath xmlns:m="http://schemas.openxmlformats.org/officeDocument/2006/math">
                    <m:sSub>
                      <m:sSubPr>
                        <m:ctrlPr>
                          <a:rPr lang="en-US" altLang="zh-TW" sz="2400" i="1" smtClean="0">
                            <a:latin typeface="Cambria Math" panose="02040503050406030204" pitchFamily="18" charset="0"/>
                            <a:cs typeface="Times" panose="02020603050405020304" pitchFamily="18" charset="0"/>
                          </a:rPr>
                        </m:ctrlPr>
                      </m:sSubPr>
                      <m:e>
                        <m:r>
                          <a:rPr lang="en-US" altLang="zh-TW" sz="2400" b="0" i="1" smtClean="0">
                            <a:latin typeface="Cambria Math" panose="02040503050406030204" pitchFamily="18" charset="0"/>
                            <a:cs typeface="Times" panose="02020603050405020304" pitchFamily="18" charset="0"/>
                          </a:rPr>
                          <m:t>𝑡</m:t>
                        </m:r>
                      </m:e>
                      <m:sub>
                        <m:r>
                          <a:rPr lang="en-US" altLang="zh-TW" sz="2400" b="0" i="1" smtClean="0">
                            <a:latin typeface="Cambria Math" panose="02040503050406030204" pitchFamily="18" charset="0"/>
                            <a:cs typeface="Times" panose="02020603050405020304" pitchFamily="18" charset="0"/>
                          </a:rPr>
                          <m:t>𝑗</m:t>
                        </m:r>
                        <m:r>
                          <a:rPr lang="en-US" altLang="zh-TW" sz="2400" b="0" i="1" smtClean="0">
                            <a:latin typeface="Cambria Math" panose="02040503050406030204" pitchFamily="18" charset="0"/>
                            <a:cs typeface="Times" panose="02020603050405020304" pitchFamily="18" charset="0"/>
                          </a:rPr>
                          <m:t>−1+</m:t>
                        </m:r>
                        <m:r>
                          <a:rPr lang="en-US" altLang="zh-TW" sz="2400" b="0" i="1" smtClean="0">
                            <a:latin typeface="Cambria Math" panose="02040503050406030204" pitchFamily="18" charset="0"/>
                            <a:cs typeface="Times" panose="02020603050405020304" pitchFamily="18" charset="0"/>
                          </a:rPr>
                          <m:t>𝑟</m:t>
                        </m:r>
                        <m:r>
                          <a:rPr lang="en-US" altLang="zh-TW" sz="2400" b="0" i="1" smtClean="0">
                            <a:latin typeface="Cambria Math" panose="02040503050406030204" pitchFamily="18" charset="0"/>
                            <a:cs typeface="Times" panose="02020603050405020304" pitchFamily="18" charset="0"/>
                          </a:rPr>
                          <m:t>[</m:t>
                        </m:r>
                        <m:r>
                          <a:rPr lang="en-US" altLang="zh-TW" sz="2400" b="0" i="1" smtClean="0">
                            <a:latin typeface="Cambria Math" panose="02040503050406030204" pitchFamily="18" charset="0"/>
                            <a:cs typeface="Times" panose="02020603050405020304" pitchFamily="18" charset="0"/>
                          </a:rPr>
                          <m:t>𝑖</m:t>
                        </m:r>
                        <m:r>
                          <a:rPr lang="en-US" altLang="zh-TW" sz="2400" b="0" i="1" smtClean="0">
                            <a:latin typeface="Cambria Math" panose="02040503050406030204" pitchFamily="18" charset="0"/>
                            <a:cs typeface="Times" panose="02020603050405020304" pitchFamily="18" charset="0"/>
                          </a:rPr>
                          <m:t>]</m:t>
                        </m:r>
                      </m:sub>
                    </m:sSub>
                    <m:r>
                      <a:rPr lang="en-US" altLang="zh-TW" sz="2400" b="0" i="1" smtClean="0">
                        <a:latin typeface="Cambria Math" panose="02040503050406030204" pitchFamily="18" charset="0"/>
                        <a:cs typeface="Times" panose="02020603050405020304" pitchFamily="18" charset="0"/>
                      </a:rPr>
                      <m:t>&gt;</m:t>
                    </m:r>
                    <m:sSub>
                      <m:sSubPr>
                        <m:ctrlPr>
                          <a:rPr lang="en-US" altLang="zh-TW" sz="2400" i="1">
                            <a:latin typeface="Cambria Math" panose="02040503050406030204" pitchFamily="18" charset="0"/>
                            <a:cs typeface="Times" panose="02020603050405020304" pitchFamily="18" charset="0"/>
                          </a:rPr>
                        </m:ctrlPr>
                      </m:sSubPr>
                      <m:e>
                        <m:r>
                          <a:rPr lang="en-US" altLang="zh-TW" sz="2400" i="1">
                            <a:latin typeface="Cambria Math" panose="02040503050406030204" pitchFamily="18" charset="0"/>
                            <a:cs typeface="Times" panose="02020603050405020304" pitchFamily="18" charset="0"/>
                          </a:rPr>
                          <m:t>𝑡</m:t>
                        </m:r>
                      </m:e>
                      <m:sub>
                        <m:r>
                          <a:rPr lang="en-US" altLang="zh-TW" sz="2400" i="1">
                            <a:latin typeface="Cambria Math" panose="02040503050406030204" pitchFamily="18" charset="0"/>
                            <a:cs typeface="Times" panose="02020603050405020304" pitchFamily="18" charset="0"/>
                          </a:rPr>
                          <m:t>𝑗</m:t>
                        </m:r>
                        <m:r>
                          <a:rPr lang="en-US" altLang="zh-TW" sz="2400" i="1">
                            <a:latin typeface="Cambria Math" panose="02040503050406030204" pitchFamily="18" charset="0"/>
                            <a:cs typeface="Times" panose="02020603050405020304" pitchFamily="18" charset="0"/>
                          </a:rPr>
                          <m:t>−1+</m:t>
                        </m:r>
                        <m:r>
                          <a:rPr lang="en-US" altLang="zh-TW" sz="2400" i="1">
                            <a:latin typeface="Cambria Math" panose="02040503050406030204" pitchFamily="18" charset="0"/>
                            <a:cs typeface="Times" panose="02020603050405020304" pitchFamily="18" charset="0"/>
                          </a:rPr>
                          <m:t>𝑟</m:t>
                        </m:r>
                        <m:r>
                          <a:rPr lang="en-US" altLang="zh-TW" sz="2400" i="1">
                            <a:latin typeface="Cambria Math" panose="02040503050406030204" pitchFamily="18" charset="0"/>
                            <a:cs typeface="Times" panose="02020603050405020304" pitchFamily="18" charset="0"/>
                          </a:rPr>
                          <m:t>[</m:t>
                        </m:r>
                        <m:r>
                          <a:rPr lang="en-US" altLang="zh-TW" sz="2400" i="1">
                            <a:latin typeface="Cambria Math" panose="02040503050406030204" pitchFamily="18" charset="0"/>
                            <a:cs typeface="Times" panose="02020603050405020304" pitchFamily="18" charset="0"/>
                          </a:rPr>
                          <m:t>𝑖</m:t>
                        </m:r>
                        <m:r>
                          <a:rPr lang="en-US" altLang="zh-TW" sz="2400" b="0" i="1" smtClean="0">
                            <a:latin typeface="Cambria Math" panose="02040503050406030204" pitchFamily="18" charset="0"/>
                            <a:cs typeface="Times" panose="02020603050405020304" pitchFamily="18" charset="0"/>
                          </a:rPr>
                          <m:t>+1</m:t>
                        </m:r>
                        <m:r>
                          <a:rPr lang="en-US" altLang="zh-TW" sz="2400" i="1">
                            <a:latin typeface="Cambria Math" panose="02040503050406030204" pitchFamily="18" charset="0"/>
                            <a:cs typeface="Times" panose="02020603050405020304" pitchFamily="18" charset="0"/>
                          </a:rPr>
                          <m:t>]</m:t>
                        </m:r>
                      </m:sub>
                    </m:sSub>
                  </m:oMath>
                </a14:m>
                <a:endParaRPr lang="en-US" altLang="zh-TW" sz="2400" dirty="0">
                  <a:latin typeface="Times" panose="02020603050405020304" pitchFamily="18" charset="0"/>
                  <a:cs typeface="Times" panose="02020603050405020304" pitchFamily="18" charset="0"/>
                </a:endParaRPr>
              </a:p>
              <a:p>
                <a:pPr marL="342900" indent="-342900">
                  <a:lnSpc>
                    <a:spcPct val="150000"/>
                  </a:lnSpc>
                  <a:buFont typeface="Arial" panose="020B0604020202020204" pitchFamily="34" charset="0"/>
                  <a:buChar char="•"/>
                </a:pPr>
                <a14:m>
                  <m:oMath xmlns:m="http://schemas.openxmlformats.org/officeDocument/2006/math">
                    <m:sSub>
                      <m:sSubPr>
                        <m:ctrlPr>
                          <a:rPr lang="en-US" altLang="zh-TW" sz="2400" i="1" smtClean="0">
                            <a:latin typeface="Cambria Math" panose="02040503050406030204" pitchFamily="18" charset="0"/>
                            <a:cs typeface="Times" panose="02020603050405020304" pitchFamily="18" charset="0"/>
                          </a:rPr>
                        </m:ctrlPr>
                      </m:sSubPr>
                      <m:e>
                        <m:r>
                          <a:rPr lang="en-US" altLang="zh-TW" sz="2400" b="0" i="1" smtClean="0">
                            <a:latin typeface="Cambria Math" panose="02040503050406030204" pitchFamily="18" charset="0"/>
                            <a:cs typeface="Times" panose="02020603050405020304" pitchFamily="18" charset="0"/>
                          </a:rPr>
                          <m:t>𝑡</m:t>
                        </m:r>
                      </m:e>
                      <m:sub>
                        <m:r>
                          <a:rPr lang="en-US" altLang="zh-TW" sz="2400" b="0" i="1" smtClean="0">
                            <a:latin typeface="Cambria Math" panose="02040503050406030204" pitchFamily="18" charset="0"/>
                            <a:cs typeface="Times" panose="02020603050405020304" pitchFamily="18" charset="0"/>
                          </a:rPr>
                          <m:t>𝑗</m:t>
                        </m:r>
                        <m:r>
                          <a:rPr lang="en-US" altLang="zh-TW" sz="2400" b="0" i="1" smtClean="0">
                            <a:latin typeface="Cambria Math" panose="02040503050406030204" pitchFamily="18" charset="0"/>
                            <a:cs typeface="Times" panose="02020603050405020304" pitchFamily="18" charset="0"/>
                          </a:rPr>
                          <m:t>−1+</m:t>
                        </m:r>
                        <m:r>
                          <a:rPr lang="en-US" altLang="zh-TW" sz="2400" b="0" i="1" smtClean="0">
                            <a:latin typeface="Cambria Math" panose="02040503050406030204" pitchFamily="18" charset="0"/>
                            <a:cs typeface="Times" panose="02020603050405020304" pitchFamily="18" charset="0"/>
                          </a:rPr>
                          <m:t>𝑟</m:t>
                        </m:r>
                        <m:r>
                          <a:rPr lang="en-US" altLang="zh-TW" sz="2400" b="0" i="1" smtClean="0">
                            <a:latin typeface="Cambria Math" panose="02040503050406030204" pitchFamily="18" charset="0"/>
                            <a:cs typeface="Times" panose="02020603050405020304" pitchFamily="18" charset="0"/>
                          </a:rPr>
                          <m:t>[</m:t>
                        </m:r>
                        <m:r>
                          <a:rPr lang="en-US" altLang="zh-TW" sz="2400" b="0" i="1" smtClean="0">
                            <a:latin typeface="Cambria Math" panose="02040503050406030204" pitchFamily="18" charset="0"/>
                            <a:cs typeface="Times" panose="02020603050405020304" pitchFamily="18" charset="0"/>
                          </a:rPr>
                          <m:t>𝑖</m:t>
                        </m:r>
                        <m:r>
                          <a:rPr lang="en-US" altLang="zh-TW" sz="2400" b="0" i="1" smtClean="0">
                            <a:latin typeface="Cambria Math" panose="02040503050406030204" pitchFamily="18" charset="0"/>
                            <a:cs typeface="Times" panose="02020603050405020304" pitchFamily="18" charset="0"/>
                          </a:rPr>
                          <m:t>]</m:t>
                        </m:r>
                      </m:sub>
                    </m:sSub>
                    <m:r>
                      <a:rPr lang="en-US" altLang="zh-TW" sz="2400" b="0" i="1" smtClean="0">
                        <a:latin typeface="Cambria Math" panose="02040503050406030204" pitchFamily="18" charset="0"/>
                        <a:cs typeface="Times" panose="02020603050405020304" pitchFamily="18" charset="0"/>
                      </a:rPr>
                      <m:t>=</m:t>
                    </m:r>
                    <m:sSub>
                      <m:sSubPr>
                        <m:ctrlPr>
                          <a:rPr lang="en-US" altLang="zh-TW" sz="2400" i="1">
                            <a:latin typeface="Cambria Math" panose="02040503050406030204" pitchFamily="18" charset="0"/>
                            <a:cs typeface="Times" panose="02020603050405020304" pitchFamily="18" charset="0"/>
                          </a:rPr>
                        </m:ctrlPr>
                      </m:sSubPr>
                      <m:e>
                        <m:r>
                          <a:rPr lang="en-US" altLang="zh-TW" sz="2400" i="1">
                            <a:latin typeface="Cambria Math" panose="02040503050406030204" pitchFamily="18" charset="0"/>
                            <a:cs typeface="Times" panose="02020603050405020304" pitchFamily="18" charset="0"/>
                          </a:rPr>
                          <m:t>𝑡</m:t>
                        </m:r>
                      </m:e>
                      <m:sub>
                        <m:r>
                          <a:rPr lang="en-US" altLang="zh-TW" sz="2400" i="1">
                            <a:latin typeface="Cambria Math" panose="02040503050406030204" pitchFamily="18" charset="0"/>
                            <a:cs typeface="Times" panose="02020603050405020304" pitchFamily="18" charset="0"/>
                          </a:rPr>
                          <m:t>𝑗</m:t>
                        </m:r>
                        <m:r>
                          <a:rPr lang="en-US" altLang="zh-TW" sz="2400" i="1">
                            <a:latin typeface="Cambria Math" panose="02040503050406030204" pitchFamily="18" charset="0"/>
                            <a:cs typeface="Times" panose="02020603050405020304" pitchFamily="18" charset="0"/>
                          </a:rPr>
                          <m:t>−1+</m:t>
                        </m:r>
                        <m:r>
                          <a:rPr lang="en-US" altLang="zh-TW" sz="2400" i="1">
                            <a:latin typeface="Cambria Math" panose="02040503050406030204" pitchFamily="18" charset="0"/>
                            <a:cs typeface="Times" panose="02020603050405020304" pitchFamily="18" charset="0"/>
                          </a:rPr>
                          <m:t>𝑟</m:t>
                        </m:r>
                        <m:r>
                          <a:rPr lang="en-US" altLang="zh-TW" sz="2400" i="1">
                            <a:latin typeface="Cambria Math" panose="02040503050406030204" pitchFamily="18" charset="0"/>
                            <a:cs typeface="Times" panose="02020603050405020304" pitchFamily="18" charset="0"/>
                          </a:rPr>
                          <m:t>[</m:t>
                        </m:r>
                        <m:r>
                          <a:rPr lang="en-US" altLang="zh-TW" sz="2400" i="1">
                            <a:latin typeface="Cambria Math" panose="02040503050406030204" pitchFamily="18" charset="0"/>
                            <a:cs typeface="Times" panose="02020603050405020304" pitchFamily="18" charset="0"/>
                          </a:rPr>
                          <m:t>𝑖</m:t>
                        </m:r>
                        <m:r>
                          <a:rPr lang="en-US" altLang="zh-TW" sz="2400" b="0" i="1" smtClean="0">
                            <a:latin typeface="Cambria Math" panose="02040503050406030204" pitchFamily="18" charset="0"/>
                            <a:cs typeface="Times" panose="02020603050405020304" pitchFamily="18" charset="0"/>
                          </a:rPr>
                          <m:t>+1</m:t>
                        </m:r>
                        <m:r>
                          <a:rPr lang="en-US" altLang="zh-TW" sz="2400" i="1">
                            <a:latin typeface="Cambria Math" panose="02040503050406030204" pitchFamily="18" charset="0"/>
                            <a:cs typeface="Times" panose="02020603050405020304" pitchFamily="18" charset="0"/>
                          </a:rPr>
                          <m:t>]</m:t>
                        </m:r>
                      </m:sub>
                    </m:sSub>
                  </m:oMath>
                </a14:m>
                <a:r>
                  <a:rPr lang="en-US" altLang="zh-TW" sz="2400" dirty="0">
                    <a:latin typeface="Times" panose="02020603050405020304" pitchFamily="18" charset="0"/>
                    <a:cs typeface="Times" panose="02020603050405020304" pitchFamily="18" charset="0"/>
                  </a:rPr>
                  <a:t> and </a:t>
                </a:r>
                <a14:m>
                  <m:oMath xmlns:m="http://schemas.openxmlformats.org/officeDocument/2006/math">
                    <m:r>
                      <a:rPr lang="en-US" altLang="zh-TW" sz="2400" b="0" i="1" smtClean="0">
                        <a:latin typeface="Cambria Math" panose="02040503050406030204" pitchFamily="18" charset="0"/>
                        <a:cs typeface="Times" panose="02020603050405020304" pitchFamily="18" charset="0"/>
                      </a:rPr>
                      <m:t>𝐸</m:t>
                    </m:r>
                    <m:d>
                      <m:dPr>
                        <m:begChr m:val="["/>
                        <m:endChr m:val="]"/>
                        <m:ctrlPr>
                          <a:rPr lang="en-US" altLang="zh-TW" sz="2400" b="0" i="1" smtClean="0">
                            <a:latin typeface="Cambria Math" panose="02040503050406030204" pitchFamily="18" charset="0"/>
                            <a:cs typeface="Times" panose="02020603050405020304" pitchFamily="18" charset="0"/>
                          </a:rPr>
                        </m:ctrlPr>
                      </m:dPr>
                      <m:e>
                        <m:r>
                          <a:rPr lang="en-US" altLang="zh-TW" sz="2400" b="0" i="1" smtClean="0">
                            <a:latin typeface="Cambria Math" panose="02040503050406030204" pitchFamily="18" charset="0"/>
                            <a:cs typeface="Times" panose="02020603050405020304" pitchFamily="18" charset="0"/>
                          </a:rPr>
                          <m:t>𝑖</m:t>
                        </m:r>
                      </m:e>
                    </m:d>
                    <m:r>
                      <a:rPr lang="en-US" altLang="zh-TW" sz="2400" b="0" i="1" smtClean="0">
                        <a:latin typeface="Cambria Math" panose="02040503050406030204" pitchFamily="18" charset="0"/>
                        <a:cs typeface="Times" panose="02020603050405020304" pitchFamily="18" charset="0"/>
                      </a:rPr>
                      <m:t>=0</m:t>
                    </m:r>
                  </m:oMath>
                </a14:m>
                <a:endParaRPr lang="en-US" altLang="zh-TW" sz="2400" dirty="0">
                  <a:latin typeface="Times" panose="02020603050405020304" pitchFamily="18" charset="0"/>
                  <a:cs typeface="Times" panose="02020603050405020304" pitchFamily="18" charset="0"/>
                </a:endParaRPr>
              </a:p>
              <a:p>
                <a:pPr marL="342900" indent="-342900">
                  <a:lnSpc>
                    <a:spcPct val="150000"/>
                  </a:lnSpc>
                  <a:buFont typeface="Arial" panose="020B0604020202020204" pitchFamily="34" charset="0"/>
                  <a:buChar char="•"/>
                </a:pPr>
                <a:r>
                  <a:rPr lang="en-US" altLang="zh-TW" sz="2400" dirty="0">
                    <a:latin typeface="Times" panose="02020603050405020304" pitchFamily="18" charset="0"/>
                    <a:cs typeface="Times" panose="02020603050405020304" pitchFamily="18" charset="0"/>
                  </a:rPr>
                  <a:t> </a:t>
                </a:r>
                <a14:m>
                  <m:oMath xmlns:m="http://schemas.openxmlformats.org/officeDocument/2006/math">
                    <m:sSub>
                      <m:sSubPr>
                        <m:ctrlPr>
                          <a:rPr lang="en-US" altLang="zh-TW" sz="2400" i="1" smtClean="0">
                            <a:latin typeface="Cambria Math" panose="02040503050406030204" pitchFamily="18" charset="0"/>
                            <a:cs typeface="Times" panose="02020603050405020304" pitchFamily="18" charset="0"/>
                          </a:rPr>
                        </m:ctrlPr>
                      </m:sSubPr>
                      <m:e>
                        <m:r>
                          <a:rPr lang="en-US" altLang="zh-TW" sz="2400" b="0" i="1" smtClean="0">
                            <a:latin typeface="Cambria Math" panose="02040503050406030204" pitchFamily="18" charset="0"/>
                            <a:cs typeface="Times" panose="02020603050405020304" pitchFamily="18" charset="0"/>
                          </a:rPr>
                          <m:t>𝑡</m:t>
                        </m:r>
                      </m:e>
                      <m:sub>
                        <m:r>
                          <a:rPr lang="en-US" altLang="zh-TW" sz="2400" b="0" i="1" smtClean="0">
                            <a:latin typeface="Cambria Math" panose="02040503050406030204" pitchFamily="18" charset="0"/>
                            <a:cs typeface="Times" panose="02020603050405020304" pitchFamily="18" charset="0"/>
                          </a:rPr>
                          <m:t>𝑗</m:t>
                        </m:r>
                        <m:r>
                          <a:rPr lang="en-US" altLang="zh-TW" sz="2400" b="0" i="1" smtClean="0">
                            <a:latin typeface="Cambria Math" panose="02040503050406030204" pitchFamily="18" charset="0"/>
                            <a:cs typeface="Times" panose="02020603050405020304" pitchFamily="18" charset="0"/>
                          </a:rPr>
                          <m:t>−1+</m:t>
                        </m:r>
                        <m:r>
                          <a:rPr lang="en-US" altLang="zh-TW" sz="2400" b="0" i="1" smtClean="0">
                            <a:latin typeface="Cambria Math" panose="02040503050406030204" pitchFamily="18" charset="0"/>
                            <a:cs typeface="Times" panose="02020603050405020304" pitchFamily="18" charset="0"/>
                          </a:rPr>
                          <m:t>𝑟</m:t>
                        </m:r>
                        <m:r>
                          <a:rPr lang="en-US" altLang="zh-TW" sz="2400" b="0" i="1" smtClean="0">
                            <a:latin typeface="Cambria Math" panose="02040503050406030204" pitchFamily="18" charset="0"/>
                            <a:cs typeface="Times" panose="02020603050405020304" pitchFamily="18" charset="0"/>
                          </a:rPr>
                          <m:t>[</m:t>
                        </m:r>
                        <m:r>
                          <a:rPr lang="en-US" altLang="zh-TW" sz="2400" b="0" i="1" smtClean="0">
                            <a:latin typeface="Cambria Math" panose="02040503050406030204" pitchFamily="18" charset="0"/>
                            <a:cs typeface="Times" panose="02020603050405020304" pitchFamily="18" charset="0"/>
                          </a:rPr>
                          <m:t>𝑖</m:t>
                        </m:r>
                        <m:r>
                          <a:rPr lang="en-US" altLang="zh-TW" sz="2400" b="0" i="1" smtClean="0">
                            <a:latin typeface="Cambria Math" panose="02040503050406030204" pitchFamily="18" charset="0"/>
                            <a:cs typeface="Times" panose="02020603050405020304" pitchFamily="18" charset="0"/>
                          </a:rPr>
                          <m:t>]</m:t>
                        </m:r>
                      </m:sub>
                    </m:sSub>
                    <m:r>
                      <a:rPr lang="en-US" altLang="zh-TW" sz="2400" b="0" i="1" smtClean="0">
                        <a:latin typeface="Cambria Math" panose="02040503050406030204" pitchFamily="18" charset="0"/>
                        <a:cs typeface="Times" panose="02020603050405020304" pitchFamily="18" charset="0"/>
                      </a:rPr>
                      <m:t>&lt;</m:t>
                    </m:r>
                    <m:sSub>
                      <m:sSubPr>
                        <m:ctrlPr>
                          <a:rPr lang="en-US" altLang="zh-TW" sz="2400" i="1">
                            <a:latin typeface="Cambria Math" panose="02040503050406030204" pitchFamily="18" charset="0"/>
                            <a:cs typeface="Times" panose="02020603050405020304" pitchFamily="18" charset="0"/>
                          </a:rPr>
                        </m:ctrlPr>
                      </m:sSubPr>
                      <m:e>
                        <m:r>
                          <a:rPr lang="en-US" altLang="zh-TW" sz="2400" i="1">
                            <a:latin typeface="Cambria Math" panose="02040503050406030204" pitchFamily="18" charset="0"/>
                            <a:cs typeface="Times" panose="02020603050405020304" pitchFamily="18" charset="0"/>
                          </a:rPr>
                          <m:t>𝑡</m:t>
                        </m:r>
                      </m:e>
                      <m:sub>
                        <m:r>
                          <a:rPr lang="en-US" altLang="zh-TW" sz="2400" i="1">
                            <a:latin typeface="Cambria Math" panose="02040503050406030204" pitchFamily="18" charset="0"/>
                            <a:cs typeface="Times" panose="02020603050405020304" pitchFamily="18" charset="0"/>
                          </a:rPr>
                          <m:t>𝑗</m:t>
                        </m:r>
                        <m:r>
                          <a:rPr lang="en-US" altLang="zh-TW" sz="2400" i="1">
                            <a:latin typeface="Cambria Math" panose="02040503050406030204" pitchFamily="18" charset="0"/>
                            <a:cs typeface="Times" panose="02020603050405020304" pitchFamily="18" charset="0"/>
                          </a:rPr>
                          <m:t>−1+</m:t>
                        </m:r>
                        <m:r>
                          <a:rPr lang="en-US" altLang="zh-TW" sz="2400" i="1">
                            <a:latin typeface="Cambria Math" panose="02040503050406030204" pitchFamily="18" charset="0"/>
                            <a:cs typeface="Times" panose="02020603050405020304" pitchFamily="18" charset="0"/>
                          </a:rPr>
                          <m:t>𝑟</m:t>
                        </m:r>
                        <m:r>
                          <a:rPr lang="en-US" altLang="zh-TW" sz="2400" i="1">
                            <a:latin typeface="Cambria Math" panose="02040503050406030204" pitchFamily="18" charset="0"/>
                            <a:cs typeface="Times" panose="02020603050405020304" pitchFamily="18" charset="0"/>
                          </a:rPr>
                          <m:t>[</m:t>
                        </m:r>
                        <m:r>
                          <a:rPr lang="en-US" altLang="zh-TW" sz="2400" i="1">
                            <a:latin typeface="Cambria Math" panose="02040503050406030204" pitchFamily="18" charset="0"/>
                            <a:cs typeface="Times" panose="02020603050405020304" pitchFamily="18" charset="0"/>
                          </a:rPr>
                          <m:t>𝑖</m:t>
                        </m:r>
                        <m:r>
                          <a:rPr lang="en-US" altLang="zh-TW" sz="2400" b="0" i="1" smtClean="0">
                            <a:latin typeface="Cambria Math" panose="02040503050406030204" pitchFamily="18" charset="0"/>
                            <a:cs typeface="Times" panose="02020603050405020304" pitchFamily="18" charset="0"/>
                          </a:rPr>
                          <m:t>+1</m:t>
                        </m:r>
                        <m:r>
                          <a:rPr lang="en-US" altLang="zh-TW" sz="2400" i="1">
                            <a:latin typeface="Cambria Math" panose="02040503050406030204" pitchFamily="18" charset="0"/>
                            <a:cs typeface="Times" panose="02020603050405020304" pitchFamily="18" charset="0"/>
                          </a:rPr>
                          <m:t>]</m:t>
                        </m:r>
                      </m:sub>
                    </m:sSub>
                  </m:oMath>
                </a14:m>
                <a:r>
                  <a:rPr lang="en-US" altLang="zh-TW" sz="2400" dirty="0">
                    <a:latin typeface="Times" panose="02020603050405020304" pitchFamily="18" charset="0"/>
                    <a:cs typeface="Times" panose="02020603050405020304" pitchFamily="18" charset="0"/>
                  </a:rPr>
                  <a:t> and </a:t>
                </a:r>
                <a14:m>
                  <m:oMath xmlns:m="http://schemas.openxmlformats.org/officeDocument/2006/math">
                    <m:r>
                      <a:rPr lang="en-US" altLang="zh-TW" sz="2400" b="0" i="1" smtClean="0">
                        <a:latin typeface="Cambria Math" panose="02040503050406030204" pitchFamily="18" charset="0"/>
                        <a:cs typeface="Times" panose="02020603050405020304" pitchFamily="18" charset="0"/>
                      </a:rPr>
                      <m:t>𝐸</m:t>
                    </m:r>
                    <m:d>
                      <m:dPr>
                        <m:begChr m:val="["/>
                        <m:endChr m:val="]"/>
                        <m:ctrlPr>
                          <a:rPr lang="en-US" altLang="zh-TW" sz="2400" b="0" i="1" smtClean="0">
                            <a:latin typeface="Cambria Math" panose="02040503050406030204" pitchFamily="18" charset="0"/>
                            <a:cs typeface="Times" panose="02020603050405020304" pitchFamily="18" charset="0"/>
                          </a:rPr>
                        </m:ctrlPr>
                      </m:dPr>
                      <m:e>
                        <m:r>
                          <a:rPr lang="en-US" altLang="zh-TW" sz="2400" b="0" i="1" smtClean="0">
                            <a:latin typeface="Cambria Math" panose="02040503050406030204" pitchFamily="18" charset="0"/>
                            <a:cs typeface="Times" panose="02020603050405020304" pitchFamily="18" charset="0"/>
                          </a:rPr>
                          <m:t>𝑖</m:t>
                        </m:r>
                      </m:e>
                    </m:d>
                    <m:r>
                      <a:rPr lang="en-US" altLang="zh-TW" sz="2400" b="0" i="1" smtClean="0">
                        <a:latin typeface="Cambria Math" panose="02040503050406030204" pitchFamily="18" charset="0"/>
                        <a:cs typeface="Times" panose="02020603050405020304" pitchFamily="18" charset="0"/>
                      </a:rPr>
                      <m:t>=1</m:t>
                    </m:r>
                  </m:oMath>
                </a14:m>
                <a:endParaRPr lang="en-US" altLang="zh-TW" sz="2400" dirty="0">
                  <a:latin typeface="Times" panose="02020603050405020304" pitchFamily="18" charset="0"/>
                  <a:cs typeface="Times" panose="02020603050405020304" pitchFamily="18" charset="0"/>
                </a:endParaRPr>
              </a:p>
            </p:txBody>
          </p:sp>
        </mc:Choice>
        <mc:Fallback xmlns="">
          <p:sp>
            <p:nvSpPr>
              <p:cNvPr id="9" name="文字方塊 8">
                <a:extLst>
                  <a:ext uri="{FF2B5EF4-FFF2-40B4-BE49-F238E27FC236}">
                    <a16:creationId xmlns:a16="http://schemas.microsoft.com/office/drawing/2014/main" id="{1FA9ED3E-A981-462B-958C-BC0D54C687FC}"/>
                  </a:ext>
                </a:extLst>
              </p:cNvPr>
              <p:cNvSpPr txBox="1">
                <a:spLocks noRot="1" noChangeAspect="1" noMove="1" noResize="1" noEditPoints="1" noAdjustHandles="1" noChangeArrowheads="1" noChangeShapeType="1" noTextEdit="1"/>
              </p:cNvSpPr>
              <p:nvPr/>
            </p:nvSpPr>
            <p:spPr>
              <a:xfrm>
                <a:off x="838199" y="1672662"/>
                <a:ext cx="5257801" cy="1866793"/>
              </a:xfrm>
              <a:prstGeom prst="rect">
                <a:avLst/>
              </a:prstGeom>
              <a:blipFill>
                <a:blip r:embed="rId5"/>
                <a:stretch>
                  <a:fillRect l="-1506" b="-423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5" name="表格 4">
                <a:extLst>
                  <a:ext uri="{FF2B5EF4-FFF2-40B4-BE49-F238E27FC236}">
                    <a16:creationId xmlns:a16="http://schemas.microsoft.com/office/drawing/2014/main" id="{717E320C-761D-4280-9402-829FF1DD02F2}"/>
                  </a:ext>
                </a:extLst>
              </p:cNvPr>
              <p:cNvGraphicFramePr>
                <a:graphicFrameLocks noGrp="1"/>
              </p:cNvGraphicFramePr>
              <p:nvPr>
                <p:extLst>
                  <p:ext uri="{D42A27DB-BD31-4B8C-83A1-F6EECF244321}">
                    <p14:modId xmlns:p14="http://schemas.microsoft.com/office/powerpoint/2010/main" val="1625804820"/>
                  </p:ext>
                </p:extLst>
              </p:nvPr>
            </p:nvGraphicFramePr>
            <p:xfrm>
              <a:off x="6553750" y="4341814"/>
              <a:ext cx="4599390" cy="569285"/>
            </p:xfrm>
            <a:graphic>
              <a:graphicData uri="http://schemas.openxmlformats.org/drawingml/2006/table">
                <a:tbl>
                  <a:tblPr firstRow="1" bandRow="1">
                    <a:tableStyleId>{5C22544A-7EE6-4342-B048-85BDC9FD1C3A}</a:tableStyleId>
                  </a:tblPr>
                  <a:tblGrid>
                    <a:gridCol w="576000">
                      <a:extLst>
                        <a:ext uri="{9D8B030D-6E8A-4147-A177-3AD203B41FA5}">
                          <a16:colId xmlns:a16="http://schemas.microsoft.com/office/drawing/2014/main" val="3637172813"/>
                        </a:ext>
                      </a:extLst>
                    </a:gridCol>
                    <a:gridCol w="574770">
                      <a:extLst>
                        <a:ext uri="{9D8B030D-6E8A-4147-A177-3AD203B41FA5}">
                          <a16:colId xmlns:a16="http://schemas.microsoft.com/office/drawing/2014/main" val="3321482952"/>
                        </a:ext>
                      </a:extLst>
                    </a:gridCol>
                    <a:gridCol w="574770">
                      <a:extLst>
                        <a:ext uri="{9D8B030D-6E8A-4147-A177-3AD203B41FA5}">
                          <a16:colId xmlns:a16="http://schemas.microsoft.com/office/drawing/2014/main" val="1142082149"/>
                        </a:ext>
                      </a:extLst>
                    </a:gridCol>
                    <a:gridCol w="574770">
                      <a:extLst>
                        <a:ext uri="{9D8B030D-6E8A-4147-A177-3AD203B41FA5}">
                          <a16:colId xmlns:a16="http://schemas.microsoft.com/office/drawing/2014/main" val="1781092824"/>
                        </a:ext>
                      </a:extLst>
                    </a:gridCol>
                    <a:gridCol w="574770">
                      <a:extLst>
                        <a:ext uri="{9D8B030D-6E8A-4147-A177-3AD203B41FA5}">
                          <a16:colId xmlns:a16="http://schemas.microsoft.com/office/drawing/2014/main" val="1599247259"/>
                        </a:ext>
                      </a:extLst>
                    </a:gridCol>
                    <a:gridCol w="574770">
                      <a:extLst>
                        <a:ext uri="{9D8B030D-6E8A-4147-A177-3AD203B41FA5}">
                          <a16:colId xmlns:a16="http://schemas.microsoft.com/office/drawing/2014/main" val="2162084949"/>
                        </a:ext>
                      </a:extLst>
                    </a:gridCol>
                    <a:gridCol w="574770">
                      <a:extLst>
                        <a:ext uri="{9D8B030D-6E8A-4147-A177-3AD203B41FA5}">
                          <a16:colId xmlns:a16="http://schemas.microsoft.com/office/drawing/2014/main" val="2340052702"/>
                        </a:ext>
                      </a:extLst>
                    </a:gridCol>
                    <a:gridCol w="574770">
                      <a:extLst>
                        <a:ext uri="{9D8B030D-6E8A-4147-A177-3AD203B41FA5}">
                          <a16:colId xmlns:a16="http://schemas.microsoft.com/office/drawing/2014/main" val="146475956"/>
                        </a:ext>
                      </a:extLst>
                    </a:gridCol>
                  </a:tblGrid>
                  <a:tr h="569285">
                    <a:tc>
                      <a:txBody>
                        <a:bodyPr/>
                        <a:lstStyle/>
                        <a:p>
                          <a:pPr algn="ctr"/>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panose="02020603050405020304" pitchFamily="18" charset="0"/>
                                  </a:rPr>
                                  <m:t>𝐸</m:t>
                                </m:r>
                              </m:oMath>
                            </m:oMathPara>
                          </a14:m>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46134386"/>
                      </a:ext>
                    </a:extLst>
                  </a:tr>
                </a:tbl>
              </a:graphicData>
            </a:graphic>
          </p:graphicFrame>
        </mc:Choice>
        <mc:Fallback xmlns="">
          <p:graphicFrame>
            <p:nvGraphicFramePr>
              <p:cNvPr id="5" name="表格 4">
                <a:extLst>
                  <a:ext uri="{FF2B5EF4-FFF2-40B4-BE49-F238E27FC236}">
                    <a16:creationId xmlns:a16="http://schemas.microsoft.com/office/drawing/2014/main" id="{717E320C-761D-4280-9402-829FF1DD02F2}"/>
                  </a:ext>
                </a:extLst>
              </p:cNvPr>
              <p:cNvGraphicFramePr>
                <a:graphicFrameLocks noGrp="1"/>
              </p:cNvGraphicFramePr>
              <p:nvPr>
                <p:extLst>
                  <p:ext uri="{D42A27DB-BD31-4B8C-83A1-F6EECF244321}">
                    <p14:modId xmlns:p14="http://schemas.microsoft.com/office/powerpoint/2010/main" val="1625804820"/>
                  </p:ext>
                </p:extLst>
              </p:nvPr>
            </p:nvGraphicFramePr>
            <p:xfrm>
              <a:off x="6553750" y="4341814"/>
              <a:ext cx="4599390" cy="569285"/>
            </p:xfrm>
            <a:graphic>
              <a:graphicData uri="http://schemas.openxmlformats.org/drawingml/2006/table">
                <a:tbl>
                  <a:tblPr firstRow="1" bandRow="1">
                    <a:tableStyleId>{5C22544A-7EE6-4342-B048-85BDC9FD1C3A}</a:tableStyleId>
                  </a:tblPr>
                  <a:tblGrid>
                    <a:gridCol w="576000">
                      <a:extLst>
                        <a:ext uri="{9D8B030D-6E8A-4147-A177-3AD203B41FA5}">
                          <a16:colId xmlns:a16="http://schemas.microsoft.com/office/drawing/2014/main" val="3637172813"/>
                        </a:ext>
                      </a:extLst>
                    </a:gridCol>
                    <a:gridCol w="574770">
                      <a:extLst>
                        <a:ext uri="{9D8B030D-6E8A-4147-A177-3AD203B41FA5}">
                          <a16:colId xmlns:a16="http://schemas.microsoft.com/office/drawing/2014/main" val="3321482952"/>
                        </a:ext>
                      </a:extLst>
                    </a:gridCol>
                    <a:gridCol w="574770">
                      <a:extLst>
                        <a:ext uri="{9D8B030D-6E8A-4147-A177-3AD203B41FA5}">
                          <a16:colId xmlns:a16="http://schemas.microsoft.com/office/drawing/2014/main" val="1142082149"/>
                        </a:ext>
                      </a:extLst>
                    </a:gridCol>
                    <a:gridCol w="574770">
                      <a:extLst>
                        <a:ext uri="{9D8B030D-6E8A-4147-A177-3AD203B41FA5}">
                          <a16:colId xmlns:a16="http://schemas.microsoft.com/office/drawing/2014/main" val="1781092824"/>
                        </a:ext>
                      </a:extLst>
                    </a:gridCol>
                    <a:gridCol w="574770">
                      <a:extLst>
                        <a:ext uri="{9D8B030D-6E8A-4147-A177-3AD203B41FA5}">
                          <a16:colId xmlns:a16="http://schemas.microsoft.com/office/drawing/2014/main" val="1599247259"/>
                        </a:ext>
                      </a:extLst>
                    </a:gridCol>
                    <a:gridCol w="574770">
                      <a:extLst>
                        <a:ext uri="{9D8B030D-6E8A-4147-A177-3AD203B41FA5}">
                          <a16:colId xmlns:a16="http://schemas.microsoft.com/office/drawing/2014/main" val="2162084949"/>
                        </a:ext>
                      </a:extLst>
                    </a:gridCol>
                    <a:gridCol w="574770">
                      <a:extLst>
                        <a:ext uri="{9D8B030D-6E8A-4147-A177-3AD203B41FA5}">
                          <a16:colId xmlns:a16="http://schemas.microsoft.com/office/drawing/2014/main" val="2340052702"/>
                        </a:ext>
                      </a:extLst>
                    </a:gridCol>
                    <a:gridCol w="574770">
                      <a:extLst>
                        <a:ext uri="{9D8B030D-6E8A-4147-A177-3AD203B41FA5}">
                          <a16:colId xmlns:a16="http://schemas.microsoft.com/office/drawing/2014/main" val="146475956"/>
                        </a:ext>
                      </a:extLst>
                    </a:gridCol>
                  </a:tblGrid>
                  <a:tr h="569285">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53" t="-1064" r="-696842" b="-13830"/>
                          </a:stretch>
                        </a:blip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46134386"/>
                      </a:ext>
                    </a:extLst>
                  </a:tr>
                </a:tbl>
              </a:graphicData>
            </a:graphic>
          </p:graphicFrame>
        </mc:Fallback>
      </mc:AlternateContent>
    </p:spTree>
    <p:extLst>
      <p:ext uri="{BB962C8B-B14F-4D97-AF65-F5344CB8AC3E}">
        <p14:creationId xmlns:p14="http://schemas.microsoft.com/office/powerpoint/2010/main" val="2106576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Mismatch</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7</a:t>
            </a:fld>
            <a:endParaRPr kumimoji="1" lang="zh-TW" altLang="en-US" dirty="0"/>
          </a:p>
        </p:txBody>
      </p:sp>
      <mc:AlternateContent xmlns:mc="http://schemas.openxmlformats.org/markup-compatibility/2006" xmlns:a14="http://schemas.microsoft.com/office/drawing/2010/main">
        <mc:Choice Requires="a14">
          <p:graphicFrame>
            <p:nvGraphicFramePr>
              <p:cNvPr id="8" name="表格 7">
                <a:extLst>
                  <a:ext uri="{FF2B5EF4-FFF2-40B4-BE49-F238E27FC236}">
                    <a16:creationId xmlns:a16="http://schemas.microsoft.com/office/drawing/2014/main" id="{59517EA4-7957-4F6C-A154-7D8E2946CD26}"/>
                  </a:ext>
                </a:extLst>
              </p:cNvPr>
              <p:cNvGraphicFramePr>
                <a:graphicFrameLocks noGrp="1"/>
              </p:cNvGraphicFramePr>
              <p:nvPr>
                <p:extLst>
                  <p:ext uri="{D42A27DB-BD31-4B8C-83A1-F6EECF244321}">
                    <p14:modId xmlns:p14="http://schemas.microsoft.com/office/powerpoint/2010/main" val="565299141"/>
                  </p:ext>
                </p:extLst>
              </p:nvPr>
            </p:nvGraphicFramePr>
            <p:xfrm>
              <a:off x="6525260" y="1690688"/>
              <a:ext cx="4627880" cy="1707855"/>
            </p:xfrm>
            <a:graphic>
              <a:graphicData uri="http://schemas.openxmlformats.org/drawingml/2006/table">
                <a:tbl>
                  <a:tblPr firstRow="1" bandRow="1">
                    <a:tableStyleId>{5C22544A-7EE6-4342-B048-85BDC9FD1C3A}</a:tableStyleId>
                  </a:tblPr>
                  <a:tblGrid>
                    <a:gridCol w="578485">
                      <a:extLst>
                        <a:ext uri="{9D8B030D-6E8A-4147-A177-3AD203B41FA5}">
                          <a16:colId xmlns:a16="http://schemas.microsoft.com/office/drawing/2014/main" val="3242848539"/>
                        </a:ext>
                      </a:extLst>
                    </a:gridCol>
                    <a:gridCol w="578485">
                      <a:extLst>
                        <a:ext uri="{9D8B030D-6E8A-4147-A177-3AD203B41FA5}">
                          <a16:colId xmlns:a16="http://schemas.microsoft.com/office/drawing/2014/main" val="2695976807"/>
                        </a:ext>
                      </a:extLst>
                    </a:gridCol>
                    <a:gridCol w="578485">
                      <a:extLst>
                        <a:ext uri="{9D8B030D-6E8A-4147-A177-3AD203B41FA5}">
                          <a16:colId xmlns:a16="http://schemas.microsoft.com/office/drawing/2014/main" val="1649336562"/>
                        </a:ext>
                      </a:extLst>
                    </a:gridCol>
                    <a:gridCol w="578485">
                      <a:extLst>
                        <a:ext uri="{9D8B030D-6E8A-4147-A177-3AD203B41FA5}">
                          <a16:colId xmlns:a16="http://schemas.microsoft.com/office/drawing/2014/main" val="3999504219"/>
                        </a:ext>
                      </a:extLst>
                    </a:gridCol>
                    <a:gridCol w="578485">
                      <a:extLst>
                        <a:ext uri="{9D8B030D-6E8A-4147-A177-3AD203B41FA5}">
                          <a16:colId xmlns:a16="http://schemas.microsoft.com/office/drawing/2014/main" val="2218091838"/>
                        </a:ext>
                      </a:extLst>
                    </a:gridCol>
                    <a:gridCol w="578485">
                      <a:extLst>
                        <a:ext uri="{9D8B030D-6E8A-4147-A177-3AD203B41FA5}">
                          <a16:colId xmlns:a16="http://schemas.microsoft.com/office/drawing/2014/main" val="523606344"/>
                        </a:ext>
                      </a:extLst>
                    </a:gridCol>
                    <a:gridCol w="578485">
                      <a:extLst>
                        <a:ext uri="{9D8B030D-6E8A-4147-A177-3AD203B41FA5}">
                          <a16:colId xmlns:a16="http://schemas.microsoft.com/office/drawing/2014/main" val="69381609"/>
                        </a:ext>
                      </a:extLst>
                    </a:gridCol>
                    <a:gridCol w="578485">
                      <a:extLst>
                        <a:ext uri="{9D8B030D-6E8A-4147-A177-3AD203B41FA5}">
                          <a16:colId xmlns:a16="http://schemas.microsoft.com/office/drawing/2014/main" val="588276304"/>
                        </a:ext>
                      </a:extLst>
                    </a:gridCol>
                  </a:tblGrid>
                  <a:tr h="569285">
                    <a:tc>
                      <a:txBody>
                        <a:bodyPr/>
                        <a:lstStyle/>
                        <a:p>
                          <a:pPr algn="ctr"/>
                          <a14:m>
                            <m:oMathPara xmlns:m="http://schemas.openxmlformats.org/officeDocument/2006/math">
                              <m:oMathParaPr>
                                <m:jc m:val="centerGroup"/>
                              </m:oMathParaPr>
                              <m:oMath xmlns:m="http://schemas.openxmlformats.org/officeDocument/2006/math">
                                <m:r>
                                  <a:rPr lang="en-US" altLang="zh-TW" sz="2400" b="0" i="1" dirty="0" smtClean="0">
                                    <a:solidFill>
                                      <a:schemeClr val="tx1"/>
                                    </a:solidFill>
                                    <a:latin typeface="Cambria Math" panose="02040503050406030204" pitchFamily="18" charset="0"/>
                                    <a:cs typeface="Times" panose="02020603050405020304" pitchFamily="18" charset="0"/>
                                  </a:rPr>
                                  <m:t>𝑖</m:t>
                                </m:r>
                              </m:oMath>
                            </m:oMathPara>
                          </a14:m>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2726943"/>
                      </a:ext>
                    </a:extLst>
                  </a:tr>
                  <a:tr h="569285">
                    <a:tc>
                      <a:txBody>
                        <a:bodyPr/>
                        <a:lstStyle/>
                        <a:p>
                          <a:pPr algn="ctr"/>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panose="02020603050405020304" pitchFamily="18" charset="0"/>
                                  </a:rPr>
                                  <m:t>𝑇</m:t>
                                </m:r>
                              </m:oMath>
                            </m:oMathPara>
                          </a14:m>
                          <a:endParaRPr lang="zh-TW" altLang="en-US" sz="2400" b="0" i="1"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400" b="0" kern="1200" dirty="0">
                              <a:solidFill>
                                <a:srgbClr val="FF0000"/>
                              </a:solidFill>
                              <a:latin typeface="Times" panose="02020603050405020304" pitchFamily="18" charset="0"/>
                              <a:ea typeface="+mn-ea"/>
                              <a:cs typeface="Times" panose="02020603050405020304" pitchFamily="18" charset="0"/>
                            </a:rPr>
                            <a:t>42</a:t>
                          </a:r>
                          <a:endParaRPr lang="zh-TW" altLang="en-US" sz="2400" b="0" kern="1200" dirty="0">
                            <a:solidFill>
                              <a:srgbClr val="FF0000"/>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400" b="0" kern="1200" dirty="0">
                              <a:solidFill>
                                <a:srgbClr val="FF0000"/>
                              </a:solidFill>
                              <a:latin typeface="Times" panose="02020603050405020304" pitchFamily="18" charset="0"/>
                              <a:ea typeface="+mn-ea"/>
                              <a:cs typeface="Times" panose="02020603050405020304" pitchFamily="18" charset="0"/>
                            </a:rPr>
                            <a:t>42</a:t>
                          </a:r>
                          <a:endParaRPr lang="zh-TW" altLang="en-US" sz="2400" b="0" kern="1200" dirty="0">
                            <a:solidFill>
                              <a:srgbClr val="FF0000"/>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45053646"/>
                      </a:ext>
                    </a:extLst>
                  </a:tr>
                  <a:tr h="569285">
                    <a:tc>
                      <a:txBody>
                        <a:bodyPr/>
                        <a:lstStyle/>
                        <a:p>
                          <a:pPr algn="ctr"/>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panose="02020603050405020304" pitchFamily="18" charset="0"/>
                                  </a:rPr>
                                  <m:t>𝑃</m:t>
                                </m:r>
                              </m:oMath>
                            </m:oMathPara>
                          </a14:m>
                          <a:endParaRPr lang="zh-TW" altLang="en-US" sz="2400" b="0" i="1"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18</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9765776"/>
                      </a:ext>
                    </a:extLst>
                  </a:tr>
                </a:tbl>
              </a:graphicData>
            </a:graphic>
          </p:graphicFrame>
        </mc:Choice>
        <mc:Fallback xmlns="">
          <p:graphicFrame>
            <p:nvGraphicFramePr>
              <p:cNvPr id="8" name="表格 7">
                <a:extLst>
                  <a:ext uri="{FF2B5EF4-FFF2-40B4-BE49-F238E27FC236}">
                    <a16:creationId xmlns:a16="http://schemas.microsoft.com/office/drawing/2014/main" id="{59517EA4-7957-4F6C-A154-7D8E2946CD26}"/>
                  </a:ext>
                </a:extLst>
              </p:cNvPr>
              <p:cNvGraphicFramePr>
                <a:graphicFrameLocks noGrp="1"/>
              </p:cNvGraphicFramePr>
              <p:nvPr>
                <p:extLst>
                  <p:ext uri="{D42A27DB-BD31-4B8C-83A1-F6EECF244321}">
                    <p14:modId xmlns:p14="http://schemas.microsoft.com/office/powerpoint/2010/main" val="565299141"/>
                  </p:ext>
                </p:extLst>
              </p:nvPr>
            </p:nvGraphicFramePr>
            <p:xfrm>
              <a:off x="6525260" y="1690688"/>
              <a:ext cx="4627880" cy="1707855"/>
            </p:xfrm>
            <a:graphic>
              <a:graphicData uri="http://schemas.openxmlformats.org/drawingml/2006/table">
                <a:tbl>
                  <a:tblPr firstRow="1" bandRow="1">
                    <a:tableStyleId>{5C22544A-7EE6-4342-B048-85BDC9FD1C3A}</a:tableStyleId>
                  </a:tblPr>
                  <a:tblGrid>
                    <a:gridCol w="578485">
                      <a:extLst>
                        <a:ext uri="{9D8B030D-6E8A-4147-A177-3AD203B41FA5}">
                          <a16:colId xmlns:a16="http://schemas.microsoft.com/office/drawing/2014/main" val="3242848539"/>
                        </a:ext>
                      </a:extLst>
                    </a:gridCol>
                    <a:gridCol w="578485">
                      <a:extLst>
                        <a:ext uri="{9D8B030D-6E8A-4147-A177-3AD203B41FA5}">
                          <a16:colId xmlns:a16="http://schemas.microsoft.com/office/drawing/2014/main" val="2695976807"/>
                        </a:ext>
                      </a:extLst>
                    </a:gridCol>
                    <a:gridCol w="578485">
                      <a:extLst>
                        <a:ext uri="{9D8B030D-6E8A-4147-A177-3AD203B41FA5}">
                          <a16:colId xmlns:a16="http://schemas.microsoft.com/office/drawing/2014/main" val="1649336562"/>
                        </a:ext>
                      </a:extLst>
                    </a:gridCol>
                    <a:gridCol w="578485">
                      <a:extLst>
                        <a:ext uri="{9D8B030D-6E8A-4147-A177-3AD203B41FA5}">
                          <a16:colId xmlns:a16="http://schemas.microsoft.com/office/drawing/2014/main" val="3999504219"/>
                        </a:ext>
                      </a:extLst>
                    </a:gridCol>
                    <a:gridCol w="578485">
                      <a:extLst>
                        <a:ext uri="{9D8B030D-6E8A-4147-A177-3AD203B41FA5}">
                          <a16:colId xmlns:a16="http://schemas.microsoft.com/office/drawing/2014/main" val="2218091838"/>
                        </a:ext>
                      </a:extLst>
                    </a:gridCol>
                    <a:gridCol w="578485">
                      <a:extLst>
                        <a:ext uri="{9D8B030D-6E8A-4147-A177-3AD203B41FA5}">
                          <a16:colId xmlns:a16="http://schemas.microsoft.com/office/drawing/2014/main" val="523606344"/>
                        </a:ext>
                      </a:extLst>
                    </a:gridCol>
                    <a:gridCol w="578485">
                      <a:extLst>
                        <a:ext uri="{9D8B030D-6E8A-4147-A177-3AD203B41FA5}">
                          <a16:colId xmlns:a16="http://schemas.microsoft.com/office/drawing/2014/main" val="69381609"/>
                        </a:ext>
                      </a:extLst>
                    </a:gridCol>
                    <a:gridCol w="578485">
                      <a:extLst>
                        <a:ext uri="{9D8B030D-6E8A-4147-A177-3AD203B41FA5}">
                          <a16:colId xmlns:a16="http://schemas.microsoft.com/office/drawing/2014/main" val="588276304"/>
                        </a:ext>
                      </a:extLst>
                    </a:gridCol>
                  </a:tblGrid>
                  <a:tr h="569285">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53" t="-1064" r="-702105" b="-212766"/>
                          </a:stretch>
                        </a:blip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2726943"/>
                      </a:ext>
                    </a:extLst>
                  </a:tr>
                  <a:tr h="569285">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53" t="-102151" r="-702105" b="-115054"/>
                          </a:stretch>
                        </a:blip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400" b="0" kern="1200" dirty="0">
                              <a:solidFill>
                                <a:srgbClr val="FF0000"/>
                              </a:solidFill>
                              <a:latin typeface="Times" panose="02020603050405020304" pitchFamily="18" charset="0"/>
                              <a:ea typeface="+mn-ea"/>
                              <a:cs typeface="Times" panose="02020603050405020304" pitchFamily="18" charset="0"/>
                            </a:rPr>
                            <a:t>42</a:t>
                          </a:r>
                          <a:endParaRPr lang="zh-TW" altLang="en-US" sz="2400" b="0" kern="1200" dirty="0">
                            <a:solidFill>
                              <a:srgbClr val="FF0000"/>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400" b="0" kern="1200" dirty="0">
                              <a:solidFill>
                                <a:srgbClr val="FF0000"/>
                              </a:solidFill>
                              <a:latin typeface="Times" panose="02020603050405020304" pitchFamily="18" charset="0"/>
                              <a:ea typeface="+mn-ea"/>
                              <a:cs typeface="Times" panose="02020603050405020304" pitchFamily="18" charset="0"/>
                            </a:rPr>
                            <a:t>42</a:t>
                          </a:r>
                          <a:endParaRPr lang="zh-TW" altLang="en-US" sz="2400" b="0" kern="1200" dirty="0">
                            <a:solidFill>
                              <a:srgbClr val="FF0000"/>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45053646"/>
                      </a:ext>
                    </a:extLst>
                  </a:tr>
                  <a:tr h="569285">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53" t="-200000" r="-702105" b="-13830"/>
                          </a:stretch>
                        </a:blip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18</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976577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 name="表格 2">
                <a:extLst>
                  <a:ext uri="{FF2B5EF4-FFF2-40B4-BE49-F238E27FC236}">
                    <a16:creationId xmlns:a16="http://schemas.microsoft.com/office/drawing/2014/main" id="{74CFC8FC-40F6-4EBE-A589-8EB8DA802D6B}"/>
                  </a:ext>
                </a:extLst>
              </p:cNvPr>
              <p:cNvGraphicFramePr>
                <a:graphicFrameLocks noGrp="1"/>
              </p:cNvGraphicFramePr>
              <p:nvPr>
                <p:extLst>
                  <p:ext uri="{D42A27DB-BD31-4B8C-83A1-F6EECF244321}">
                    <p14:modId xmlns:p14="http://schemas.microsoft.com/office/powerpoint/2010/main" val="4259175702"/>
                  </p:ext>
                </p:extLst>
              </p:nvPr>
            </p:nvGraphicFramePr>
            <p:xfrm>
              <a:off x="6553750" y="3585536"/>
              <a:ext cx="4599390" cy="569285"/>
            </p:xfrm>
            <a:graphic>
              <a:graphicData uri="http://schemas.openxmlformats.org/drawingml/2006/table">
                <a:tbl>
                  <a:tblPr firstRow="1" bandRow="1">
                    <a:tableStyleId>{5C22544A-7EE6-4342-B048-85BDC9FD1C3A}</a:tableStyleId>
                  </a:tblPr>
                  <a:tblGrid>
                    <a:gridCol w="576000">
                      <a:extLst>
                        <a:ext uri="{9D8B030D-6E8A-4147-A177-3AD203B41FA5}">
                          <a16:colId xmlns:a16="http://schemas.microsoft.com/office/drawing/2014/main" val="1349991979"/>
                        </a:ext>
                      </a:extLst>
                    </a:gridCol>
                    <a:gridCol w="574770">
                      <a:extLst>
                        <a:ext uri="{9D8B030D-6E8A-4147-A177-3AD203B41FA5}">
                          <a16:colId xmlns:a16="http://schemas.microsoft.com/office/drawing/2014/main" val="37451203"/>
                        </a:ext>
                      </a:extLst>
                    </a:gridCol>
                    <a:gridCol w="574770">
                      <a:extLst>
                        <a:ext uri="{9D8B030D-6E8A-4147-A177-3AD203B41FA5}">
                          <a16:colId xmlns:a16="http://schemas.microsoft.com/office/drawing/2014/main" val="810131409"/>
                        </a:ext>
                      </a:extLst>
                    </a:gridCol>
                    <a:gridCol w="574770">
                      <a:extLst>
                        <a:ext uri="{9D8B030D-6E8A-4147-A177-3AD203B41FA5}">
                          <a16:colId xmlns:a16="http://schemas.microsoft.com/office/drawing/2014/main" val="4206810790"/>
                        </a:ext>
                      </a:extLst>
                    </a:gridCol>
                    <a:gridCol w="574770">
                      <a:extLst>
                        <a:ext uri="{9D8B030D-6E8A-4147-A177-3AD203B41FA5}">
                          <a16:colId xmlns:a16="http://schemas.microsoft.com/office/drawing/2014/main" val="1144930059"/>
                        </a:ext>
                      </a:extLst>
                    </a:gridCol>
                    <a:gridCol w="574770">
                      <a:extLst>
                        <a:ext uri="{9D8B030D-6E8A-4147-A177-3AD203B41FA5}">
                          <a16:colId xmlns:a16="http://schemas.microsoft.com/office/drawing/2014/main" val="1181438874"/>
                        </a:ext>
                      </a:extLst>
                    </a:gridCol>
                    <a:gridCol w="574770">
                      <a:extLst>
                        <a:ext uri="{9D8B030D-6E8A-4147-A177-3AD203B41FA5}">
                          <a16:colId xmlns:a16="http://schemas.microsoft.com/office/drawing/2014/main" val="2079949316"/>
                        </a:ext>
                      </a:extLst>
                    </a:gridCol>
                    <a:gridCol w="574770">
                      <a:extLst>
                        <a:ext uri="{9D8B030D-6E8A-4147-A177-3AD203B41FA5}">
                          <a16:colId xmlns:a16="http://schemas.microsoft.com/office/drawing/2014/main" val="3447317541"/>
                        </a:ext>
                      </a:extLst>
                    </a:gridCol>
                  </a:tblGrid>
                  <a:tr h="569285">
                    <a:tc>
                      <a:txBody>
                        <a:bodyPr/>
                        <a:lstStyle/>
                        <a:p>
                          <a:pPr algn="ctr"/>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panose="02020603050405020304" pitchFamily="18" charset="0"/>
                                  </a:rPr>
                                  <m:t>𝑟</m:t>
                                </m:r>
                              </m:oMath>
                            </m:oMathPara>
                          </a14:m>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72911574"/>
                      </a:ext>
                    </a:extLst>
                  </a:tr>
                </a:tbl>
              </a:graphicData>
            </a:graphic>
          </p:graphicFrame>
        </mc:Choice>
        <mc:Fallback xmlns="">
          <p:graphicFrame>
            <p:nvGraphicFramePr>
              <p:cNvPr id="3" name="表格 2">
                <a:extLst>
                  <a:ext uri="{FF2B5EF4-FFF2-40B4-BE49-F238E27FC236}">
                    <a16:creationId xmlns:a16="http://schemas.microsoft.com/office/drawing/2014/main" id="{74CFC8FC-40F6-4EBE-A589-8EB8DA802D6B}"/>
                  </a:ext>
                </a:extLst>
              </p:cNvPr>
              <p:cNvGraphicFramePr>
                <a:graphicFrameLocks noGrp="1"/>
              </p:cNvGraphicFramePr>
              <p:nvPr>
                <p:extLst>
                  <p:ext uri="{D42A27DB-BD31-4B8C-83A1-F6EECF244321}">
                    <p14:modId xmlns:p14="http://schemas.microsoft.com/office/powerpoint/2010/main" val="4259175702"/>
                  </p:ext>
                </p:extLst>
              </p:nvPr>
            </p:nvGraphicFramePr>
            <p:xfrm>
              <a:off x="6553750" y="3585536"/>
              <a:ext cx="4599390" cy="569285"/>
            </p:xfrm>
            <a:graphic>
              <a:graphicData uri="http://schemas.openxmlformats.org/drawingml/2006/table">
                <a:tbl>
                  <a:tblPr firstRow="1" bandRow="1">
                    <a:tableStyleId>{5C22544A-7EE6-4342-B048-85BDC9FD1C3A}</a:tableStyleId>
                  </a:tblPr>
                  <a:tblGrid>
                    <a:gridCol w="576000">
                      <a:extLst>
                        <a:ext uri="{9D8B030D-6E8A-4147-A177-3AD203B41FA5}">
                          <a16:colId xmlns:a16="http://schemas.microsoft.com/office/drawing/2014/main" val="1349991979"/>
                        </a:ext>
                      </a:extLst>
                    </a:gridCol>
                    <a:gridCol w="574770">
                      <a:extLst>
                        <a:ext uri="{9D8B030D-6E8A-4147-A177-3AD203B41FA5}">
                          <a16:colId xmlns:a16="http://schemas.microsoft.com/office/drawing/2014/main" val="37451203"/>
                        </a:ext>
                      </a:extLst>
                    </a:gridCol>
                    <a:gridCol w="574770">
                      <a:extLst>
                        <a:ext uri="{9D8B030D-6E8A-4147-A177-3AD203B41FA5}">
                          <a16:colId xmlns:a16="http://schemas.microsoft.com/office/drawing/2014/main" val="810131409"/>
                        </a:ext>
                      </a:extLst>
                    </a:gridCol>
                    <a:gridCol w="574770">
                      <a:extLst>
                        <a:ext uri="{9D8B030D-6E8A-4147-A177-3AD203B41FA5}">
                          <a16:colId xmlns:a16="http://schemas.microsoft.com/office/drawing/2014/main" val="4206810790"/>
                        </a:ext>
                      </a:extLst>
                    </a:gridCol>
                    <a:gridCol w="574770">
                      <a:extLst>
                        <a:ext uri="{9D8B030D-6E8A-4147-A177-3AD203B41FA5}">
                          <a16:colId xmlns:a16="http://schemas.microsoft.com/office/drawing/2014/main" val="1144930059"/>
                        </a:ext>
                      </a:extLst>
                    </a:gridCol>
                    <a:gridCol w="574770">
                      <a:extLst>
                        <a:ext uri="{9D8B030D-6E8A-4147-A177-3AD203B41FA5}">
                          <a16:colId xmlns:a16="http://schemas.microsoft.com/office/drawing/2014/main" val="1181438874"/>
                        </a:ext>
                      </a:extLst>
                    </a:gridCol>
                    <a:gridCol w="574770">
                      <a:extLst>
                        <a:ext uri="{9D8B030D-6E8A-4147-A177-3AD203B41FA5}">
                          <a16:colId xmlns:a16="http://schemas.microsoft.com/office/drawing/2014/main" val="2079949316"/>
                        </a:ext>
                      </a:extLst>
                    </a:gridCol>
                    <a:gridCol w="574770">
                      <a:extLst>
                        <a:ext uri="{9D8B030D-6E8A-4147-A177-3AD203B41FA5}">
                          <a16:colId xmlns:a16="http://schemas.microsoft.com/office/drawing/2014/main" val="3447317541"/>
                        </a:ext>
                      </a:extLst>
                    </a:gridCol>
                  </a:tblGrid>
                  <a:tr h="569285">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53" t="-1064" r="-696842" b="-13830"/>
                          </a:stretch>
                        </a:blip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72911574"/>
                      </a:ext>
                    </a:extLst>
                  </a:tr>
                </a:tbl>
              </a:graphicData>
            </a:graphic>
          </p:graphicFrame>
        </mc:Fallback>
      </mc:AlternateContent>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1FA9ED3E-A981-462B-958C-BC0D54C687FC}"/>
                  </a:ext>
                </a:extLst>
              </p:cNvPr>
              <p:cNvSpPr txBox="1"/>
              <p:nvPr/>
            </p:nvSpPr>
            <p:spPr>
              <a:xfrm>
                <a:off x="838199" y="1672662"/>
                <a:ext cx="5257801" cy="1866793"/>
              </a:xfrm>
              <a:prstGeom prst="rect">
                <a:avLst/>
              </a:prstGeom>
              <a:noFill/>
            </p:spPr>
            <p:txBody>
              <a:bodyPr wrap="square" rtlCol="0">
                <a:spAutoFit/>
              </a:bodyPr>
              <a:lstStyle/>
              <a:p>
                <a:pPr marL="342900" indent="-342900">
                  <a:lnSpc>
                    <a:spcPct val="150000"/>
                  </a:lnSpc>
                  <a:buFont typeface="Arial" panose="020B0604020202020204" pitchFamily="34" charset="0"/>
                  <a:buChar char="•"/>
                </a:pPr>
                <a14:m>
                  <m:oMath xmlns:m="http://schemas.openxmlformats.org/officeDocument/2006/math">
                    <m:sSub>
                      <m:sSubPr>
                        <m:ctrlPr>
                          <a:rPr lang="en-US" altLang="zh-TW" sz="2400" i="1" smtClean="0">
                            <a:latin typeface="Cambria Math" panose="02040503050406030204" pitchFamily="18" charset="0"/>
                            <a:cs typeface="Times" panose="02020603050405020304" pitchFamily="18" charset="0"/>
                          </a:rPr>
                        </m:ctrlPr>
                      </m:sSubPr>
                      <m:e>
                        <m:r>
                          <a:rPr lang="en-US" altLang="zh-TW" sz="2400" b="0" i="1" smtClean="0">
                            <a:latin typeface="Cambria Math" panose="02040503050406030204" pitchFamily="18" charset="0"/>
                            <a:cs typeface="Times" panose="02020603050405020304" pitchFamily="18" charset="0"/>
                          </a:rPr>
                          <m:t>𝑡</m:t>
                        </m:r>
                      </m:e>
                      <m:sub>
                        <m:r>
                          <a:rPr lang="en-US" altLang="zh-TW" sz="2400" b="0" i="1" smtClean="0">
                            <a:latin typeface="Cambria Math" panose="02040503050406030204" pitchFamily="18" charset="0"/>
                            <a:cs typeface="Times" panose="02020603050405020304" pitchFamily="18" charset="0"/>
                          </a:rPr>
                          <m:t>𝑗</m:t>
                        </m:r>
                        <m:r>
                          <a:rPr lang="en-US" altLang="zh-TW" sz="2400" b="0" i="1" smtClean="0">
                            <a:latin typeface="Cambria Math" panose="02040503050406030204" pitchFamily="18" charset="0"/>
                            <a:cs typeface="Times" panose="02020603050405020304" pitchFamily="18" charset="0"/>
                          </a:rPr>
                          <m:t>−1+</m:t>
                        </m:r>
                        <m:r>
                          <a:rPr lang="en-US" altLang="zh-TW" sz="2400" b="0" i="1" smtClean="0">
                            <a:latin typeface="Cambria Math" panose="02040503050406030204" pitchFamily="18" charset="0"/>
                            <a:cs typeface="Times" panose="02020603050405020304" pitchFamily="18" charset="0"/>
                          </a:rPr>
                          <m:t>𝑟</m:t>
                        </m:r>
                        <m:r>
                          <a:rPr lang="en-US" altLang="zh-TW" sz="2400" b="0" i="1" smtClean="0">
                            <a:latin typeface="Cambria Math" panose="02040503050406030204" pitchFamily="18" charset="0"/>
                            <a:cs typeface="Times" panose="02020603050405020304" pitchFamily="18" charset="0"/>
                          </a:rPr>
                          <m:t>[</m:t>
                        </m:r>
                        <m:r>
                          <a:rPr lang="en-US" altLang="zh-TW" sz="2400" b="0" i="1" smtClean="0">
                            <a:latin typeface="Cambria Math" panose="02040503050406030204" pitchFamily="18" charset="0"/>
                            <a:cs typeface="Times" panose="02020603050405020304" pitchFamily="18" charset="0"/>
                          </a:rPr>
                          <m:t>𝑖</m:t>
                        </m:r>
                        <m:r>
                          <a:rPr lang="en-US" altLang="zh-TW" sz="2400" b="0" i="1" smtClean="0">
                            <a:latin typeface="Cambria Math" panose="02040503050406030204" pitchFamily="18" charset="0"/>
                            <a:cs typeface="Times" panose="02020603050405020304" pitchFamily="18" charset="0"/>
                          </a:rPr>
                          <m:t>]</m:t>
                        </m:r>
                      </m:sub>
                    </m:sSub>
                    <m:r>
                      <a:rPr lang="en-US" altLang="zh-TW" sz="2400" b="0" i="1" smtClean="0">
                        <a:latin typeface="Cambria Math" panose="02040503050406030204" pitchFamily="18" charset="0"/>
                        <a:cs typeface="Times" panose="02020603050405020304" pitchFamily="18" charset="0"/>
                      </a:rPr>
                      <m:t>&gt;</m:t>
                    </m:r>
                    <m:sSub>
                      <m:sSubPr>
                        <m:ctrlPr>
                          <a:rPr lang="en-US" altLang="zh-TW" sz="2400" i="1">
                            <a:latin typeface="Cambria Math" panose="02040503050406030204" pitchFamily="18" charset="0"/>
                            <a:cs typeface="Times" panose="02020603050405020304" pitchFamily="18" charset="0"/>
                          </a:rPr>
                        </m:ctrlPr>
                      </m:sSubPr>
                      <m:e>
                        <m:r>
                          <a:rPr lang="en-US" altLang="zh-TW" sz="2400" i="1">
                            <a:latin typeface="Cambria Math" panose="02040503050406030204" pitchFamily="18" charset="0"/>
                            <a:cs typeface="Times" panose="02020603050405020304" pitchFamily="18" charset="0"/>
                          </a:rPr>
                          <m:t>𝑡</m:t>
                        </m:r>
                      </m:e>
                      <m:sub>
                        <m:r>
                          <a:rPr lang="en-US" altLang="zh-TW" sz="2400" i="1">
                            <a:latin typeface="Cambria Math" panose="02040503050406030204" pitchFamily="18" charset="0"/>
                            <a:cs typeface="Times" panose="02020603050405020304" pitchFamily="18" charset="0"/>
                          </a:rPr>
                          <m:t>𝑗</m:t>
                        </m:r>
                        <m:r>
                          <a:rPr lang="en-US" altLang="zh-TW" sz="2400" i="1">
                            <a:latin typeface="Cambria Math" panose="02040503050406030204" pitchFamily="18" charset="0"/>
                            <a:cs typeface="Times" panose="02020603050405020304" pitchFamily="18" charset="0"/>
                          </a:rPr>
                          <m:t>−1+</m:t>
                        </m:r>
                        <m:r>
                          <a:rPr lang="en-US" altLang="zh-TW" sz="2400" i="1">
                            <a:latin typeface="Cambria Math" panose="02040503050406030204" pitchFamily="18" charset="0"/>
                            <a:cs typeface="Times" panose="02020603050405020304" pitchFamily="18" charset="0"/>
                          </a:rPr>
                          <m:t>𝑟</m:t>
                        </m:r>
                        <m:r>
                          <a:rPr lang="en-US" altLang="zh-TW" sz="2400" i="1">
                            <a:latin typeface="Cambria Math" panose="02040503050406030204" pitchFamily="18" charset="0"/>
                            <a:cs typeface="Times" panose="02020603050405020304" pitchFamily="18" charset="0"/>
                          </a:rPr>
                          <m:t>[</m:t>
                        </m:r>
                        <m:r>
                          <a:rPr lang="en-US" altLang="zh-TW" sz="2400" i="1">
                            <a:latin typeface="Cambria Math" panose="02040503050406030204" pitchFamily="18" charset="0"/>
                            <a:cs typeface="Times" panose="02020603050405020304" pitchFamily="18" charset="0"/>
                          </a:rPr>
                          <m:t>𝑖</m:t>
                        </m:r>
                        <m:r>
                          <a:rPr lang="en-US" altLang="zh-TW" sz="2400" b="0" i="1" smtClean="0">
                            <a:latin typeface="Cambria Math" panose="02040503050406030204" pitchFamily="18" charset="0"/>
                            <a:cs typeface="Times" panose="02020603050405020304" pitchFamily="18" charset="0"/>
                          </a:rPr>
                          <m:t>+1</m:t>
                        </m:r>
                        <m:r>
                          <a:rPr lang="en-US" altLang="zh-TW" sz="2400" i="1">
                            <a:latin typeface="Cambria Math" panose="02040503050406030204" pitchFamily="18" charset="0"/>
                            <a:cs typeface="Times" panose="02020603050405020304" pitchFamily="18" charset="0"/>
                          </a:rPr>
                          <m:t>]</m:t>
                        </m:r>
                      </m:sub>
                    </m:sSub>
                  </m:oMath>
                </a14:m>
                <a:endParaRPr lang="en-US" altLang="zh-TW" sz="2400" dirty="0">
                  <a:latin typeface="Times" panose="02020603050405020304" pitchFamily="18" charset="0"/>
                  <a:cs typeface="Times" panose="02020603050405020304" pitchFamily="18" charset="0"/>
                </a:endParaRPr>
              </a:p>
              <a:p>
                <a:pPr marL="342900" indent="-342900">
                  <a:lnSpc>
                    <a:spcPct val="150000"/>
                  </a:lnSpc>
                  <a:buFont typeface="Arial" panose="020B0604020202020204" pitchFamily="34" charset="0"/>
                  <a:buChar char="•"/>
                </a:pPr>
                <a14:m>
                  <m:oMath xmlns:m="http://schemas.openxmlformats.org/officeDocument/2006/math">
                    <m:sSub>
                      <m:sSubPr>
                        <m:ctrlPr>
                          <a:rPr lang="en-US" altLang="zh-TW" sz="2400" i="1" smtClean="0">
                            <a:latin typeface="Cambria Math" panose="02040503050406030204" pitchFamily="18" charset="0"/>
                            <a:cs typeface="Times" panose="02020603050405020304" pitchFamily="18" charset="0"/>
                          </a:rPr>
                        </m:ctrlPr>
                      </m:sSubPr>
                      <m:e>
                        <m:r>
                          <a:rPr lang="en-US" altLang="zh-TW" sz="2400" b="0" i="1" smtClean="0">
                            <a:latin typeface="Cambria Math" panose="02040503050406030204" pitchFamily="18" charset="0"/>
                            <a:cs typeface="Times" panose="02020603050405020304" pitchFamily="18" charset="0"/>
                          </a:rPr>
                          <m:t>𝑡</m:t>
                        </m:r>
                      </m:e>
                      <m:sub>
                        <m:r>
                          <a:rPr lang="en-US" altLang="zh-TW" sz="2400" b="0" i="1" smtClean="0">
                            <a:latin typeface="Cambria Math" panose="02040503050406030204" pitchFamily="18" charset="0"/>
                            <a:cs typeface="Times" panose="02020603050405020304" pitchFamily="18" charset="0"/>
                          </a:rPr>
                          <m:t>𝑗</m:t>
                        </m:r>
                        <m:r>
                          <a:rPr lang="en-US" altLang="zh-TW" sz="2400" b="0" i="1" smtClean="0">
                            <a:latin typeface="Cambria Math" panose="02040503050406030204" pitchFamily="18" charset="0"/>
                            <a:cs typeface="Times" panose="02020603050405020304" pitchFamily="18" charset="0"/>
                          </a:rPr>
                          <m:t>−1+</m:t>
                        </m:r>
                        <m:r>
                          <a:rPr lang="en-US" altLang="zh-TW" sz="2400" b="0" i="1" smtClean="0">
                            <a:latin typeface="Cambria Math" panose="02040503050406030204" pitchFamily="18" charset="0"/>
                            <a:cs typeface="Times" panose="02020603050405020304" pitchFamily="18" charset="0"/>
                          </a:rPr>
                          <m:t>𝑟</m:t>
                        </m:r>
                        <m:r>
                          <a:rPr lang="en-US" altLang="zh-TW" sz="2400" b="0" i="1" smtClean="0">
                            <a:latin typeface="Cambria Math" panose="02040503050406030204" pitchFamily="18" charset="0"/>
                            <a:cs typeface="Times" panose="02020603050405020304" pitchFamily="18" charset="0"/>
                          </a:rPr>
                          <m:t>[</m:t>
                        </m:r>
                        <m:r>
                          <a:rPr lang="en-US" altLang="zh-TW" sz="2400" b="0" i="1" smtClean="0">
                            <a:latin typeface="Cambria Math" panose="02040503050406030204" pitchFamily="18" charset="0"/>
                            <a:cs typeface="Times" panose="02020603050405020304" pitchFamily="18" charset="0"/>
                          </a:rPr>
                          <m:t>𝑖</m:t>
                        </m:r>
                        <m:r>
                          <a:rPr lang="en-US" altLang="zh-TW" sz="2400" b="0" i="1" smtClean="0">
                            <a:latin typeface="Cambria Math" panose="02040503050406030204" pitchFamily="18" charset="0"/>
                            <a:cs typeface="Times" panose="02020603050405020304" pitchFamily="18" charset="0"/>
                          </a:rPr>
                          <m:t>]</m:t>
                        </m:r>
                      </m:sub>
                    </m:sSub>
                    <m:r>
                      <a:rPr lang="en-US" altLang="zh-TW" sz="2400" b="0" i="1" smtClean="0">
                        <a:latin typeface="Cambria Math" panose="02040503050406030204" pitchFamily="18" charset="0"/>
                        <a:cs typeface="Times" panose="02020603050405020304" pitchFamily="18" charset="0"/>
                      </a:rPr>
                      <m:t>=</m:t>
                    </m:r>
                    <m:sSub>
                      <m:sSubPr>
                        <m:ctrlPr>
                          <a:rPr lang="en-US" altLang="zh-TW" sz="2400" i="1">
                            <a:latin typeface="Cambria Math" panose="02040503050406030204" pitchFamily="18" charset="0"/>
                            <a:cs typeface="Times" panose="02020603050405020304" pitchFamily="18" charset="0"/>
                          </a:rPr>
                        </m:ctrlPr>
                      </m:sSubPr>
                      <m:e>
                        <m:r>
                          <a:rPr lang="en-US" altLang="zh-TW" sz="2400" i="1">
                            <a:latin typeface="Cambria Math" panose="02040503050406030204" pitchFamily="18" charset="0"/>
                            <a:cs typeface="Times" panose="02020603050405020304" pitchFamily="18" charset="0"/>
                          </a:rPr>
                          <m:t>𝑡</m:t>
                        </m:r>
                      </m:e>
                      <m:sub>
                        <m:r>
                          <a:rPr lang="en-US" altLang="zh-TW" sz="2400" i="1">
                            <a:latin typeface="Cambria Math" panose="02040503050406030204" pitchFamily="18" charset="0"/>
                            <a:cs typeface="Times" panose="02020603050405020304" pitchFamily="18" charset="0"/>
                          </a:rPr>
                          <m:t>𝑗</m:t>
                        </m:r>
                        <m:r>
                          <a:rPr lang="en-US" altLang="zh-TW" sz="2400" i="1">
                            <a:latin typeface="Cambria Math" panose="02040503050406030204" pitchFamily="18" charset="0"/>
                            <a:cs typeface="Times" panose="02020603050405020304" pitchFamily="18" charset="0"/>
                          </a:rPr>
                          <m:t>−1+</m:t>
                        </m:r>
                        <m:r>
                          <a:rPr lang="en-US" altLang="zh-TW" sz="2400" i="1">
                            <a:latin typeface="Cambria Math" panose="02040503050406030204" pitchFamily="18" charset="0"/>
                            <a:cs typeface="Times" panose="02020603050405020304" pitchFamily="18" charset="0"/>
                          </a:rPr>
                          <m:t>𝑟</m:t>
                        </m:r>
                        <m:r>
                          <a:rPr lang="en-US" altLang="zh-TW" sz="2400" i="1">
                            <a:latin typeface="Cambria Math" panose="02040503050406030204" pitchFamily="18" charset="0"/>
                            <a:cs typeface="Times" panose="02020603050405020304" pitchFamily="18" charset="0"/>
                          </a:rPr>
                          <m:t>[</m:t>
                        </m:r>
                        <m:r>
                          <a:rPr lang="en-US" altLang="zh-TW" sz="2400" i="1">
                            <a:latin typeface="Cambria Math" panose="02040503050406030204" pitchFamily="18" charset="0"/>
                            <a:cs typeface="Times" panose="02020603050405020304" pitchFamily="18" charset="0"/>
                          </a:rPr>
                          <m:t>𝑖</m:t>
                        </m:r>
                        <m:r>
                          <a:rPr lang="en-US" altLang="zh-TW" sz="2400" b="0" i="1" smtClean="0">
                            <a:latin typeface="Cambria Math" panose="02040503050406030204" pitchFamily="18" charset="0"/>
                            <a:cs typeface="Times" panose="02020603050405020304" pitchFamily="18" charset="0"/>
                          </a:rPr>
                          <m:t>+1</m:t>
                        </m:r>
                        <m:r>
                          <a:rPr lang="en-US" altLang="zh-TW" sz="2400" i="1">
                            <a:latin typeface="Cambria Math" panose="02040503050406030204" pitchFamily="18" charset="0"/>
                            <a:cs typeface="Times" panose="02020603050405020304" pitchFamily="18" charset="0"/>
                          </a:rPr>
                          <m:t>]</m:t>
                        </m:r>
                      </m:sub>
                    </m:sSub>
                  </m:oMath>
                </a14:m>
                <a:r>
                  <a:rPr lang="en-US" altLang="zh-TW" sz="2400" dirty="0">
                    <a:latin typeface="Times" panose="02020603050405020304" pitchFamily="18" charset="0"/>
                    <a:cs typeface="Times" panose="02020603050405020304" pitchFamily="18" charset="0"/>
                  </a:rPr>
                  <a:t> and </a:t>
                </a:r>
                <a14:m>
                  <m:oMath xmlns:m="http://schemas.openxmlformats.org/officeDocument/2006/math">
                    <m:r>
                      <a:rPr lang="en-US" altLang="zh-TW" sz="2400" b="0" i="1" smtClean="0">
                        <a:latin typeface="Cambria Math" panose="02040503050406030204" pitchFamily="18" charset="0"/>
                        <a:cs typeface="Times" panose="02020603050405020304" pitchFamily="18" charset="0"/>
                      </a:rPr>
                      <m:t>𝐸</m:t>
                    </m:r>
                    <m:d>
                      <m:dPr>
                        <m:begChr m:val="["/>
                        <m:endChr m:val="]"/>
                        <m:ctrlPr>
                          <a:rPr lang="en-US" altLang="zh-TW" sz="2400" b="0" i="1" smtClean="0">
                            <a:latin typeface="Cambria Math" panose="02040503050406030204" pitchFamily="18" charset="0"/>
                            <a:cs typeface="Times" panose="02020603050405020304" pitchFamily="18" charset="0"/>
                          </a:rPr>
                        </m:ctrlPr>
                      </m:dPr>
                      <m:e>
                        <m:r>
                          <a:rPr lang="en-US" altLang="zh-TW" sz="2400" b="0" i="1" smtClean="0">
                            <a:latin typeface="Cambria Math" panose="02040503050406030204" pitchFamily="18" charset="0"/>
                            <a:cs typeface="Times" panose="02020603050405020304" pitchFamily="18" charset="0"/>
                          </a:rPr>
                          <m:t>𝑖</m:t>
                        </m:r>
                      </m:e>
                    </m:d>
                    <m:r>
                      <a:rPr lang="en-US" altLang="zh-TW" sz="2400" b="0" i="1" smtClean="0">
                        <a:latin typeface="Cambria Math" panose="02040503050406030204" pitchFamily="18" charset="0"/>
                        <a:cs typeface="Times" panose="02020603050405020304" pitchFamily="18" charset="0"/>
                      </a:rPr>
                      <m:t>=0</m:t>
                    </m:r>
                  </m:oMath>
                </a14:m>
                <a:endParaRPr lang="en-US" altLang="zh-TW" sz="2400" dirty="0">
                  <a:latin typeface="Times" panose="02020603050405020304" pitchFamily="18" charset="0"/>
                  <a:cs typeface="Times" panose="02020603050405020304" pitchFamily="18" charset="0"/>
                </a:endParaRPr>
              </a:p>
              <a:p>
                <a:pPr marL="342900" indent="-342900">
                  <a:lnSpc>
                    <a:spcPct val="150000"/>
                  </a:lnSpc>
                  <a:buFont typeface="Arial" panose="020B0604020202020204" pitchFamily="34" charset="0"/>
                  <a:buChar char="•"/>
                </a:pPr>
                <a:r>
                  <a:rPr lang="en-US" altLang="zh-TW" sz="2400" dirty="0">
                    <a:latin typeface="Times" panose="02020603050405020304" pitchFamily="18" charset="0"/>
                    <a:cs typeface="Times" panose="02020603050405020304" pitchFamily="18" charset="0"/>
                  </a:rPr>
                  <a:t> </a:t>
                </a:r>
                <a14:m>
                  <m:oMath xmlns:m="http://schemas.openxmlformats.org/officeDocument/2006/math">
                    <m:sSub>
                      <m:sSubPr>
                        <m:ctrlPr>
                          <a:rPr lang="en-US" altLang="zh-TW" sz="2400" i="1" smtClean="0">
                            <a:latin typeface="Cambria Math" panose="02040503050406030204" pitchFamily="18" charset="0"/>
                            <a:cs typeface="Times" panose="02020603050405020304" pitchFamily="18" charset="0"/>
                          </a:rPr>
                        </m:ctrlPr>
                      </m:sSubPr>
                      <m:e>
                        <m:r>
                          <a:rPr lang="en-US" altLang="zh-TW" sz="2400" b="0" i="1" smtClean="0">
                            <a:latin typeface="Cambria Math" panose="02040503050406030204" pitchFamily="18" charset="0"/>
                            <a:cs typeface="Times" panose="02020603050405020304" pitchFamily="18" charset="0"/>
                          </a:rPr>
                          <m:t>𝑡</m:t>
                        </m:r>
                      </m:e>
                      <m:sub>
                        <m:r>
                          <a:rPr lang="en-US" altLang="zh-TW" sz="2400" b="0" i="1" smtClean="0">
                            <a:latin typeface="Cambria Math" panose="02040503050406030204" pitchFamily="18" charset="0"/>
                            <a:cs typeface="Times" panose="02020603050405020304" pitchFamily="18" charset="0"/>
                          </a:rPr>
                          <m:t>𝑗</m:t>
                        </m:r>
                        <m:r>
                          <a:rPr lang="en-US" altLang="zh-TW" sz="2400" b="0" i="1" smtClean="0">
                            <a:latin typeface="Cambria Math" panose="02040503050406030204" pitchFamily="18" charset="0"/>
                            <a:cs typeface="Times" panose="02020603050405020304" pitchFamily="18" charset="0"/>
                          </a:rPr>
                          <m:t>−1+</m:t>
                        </m:r>
                        <m:r>
                          <a:rPr lang="en-US" altLang="zh-TW" sz="2400" b="0" i="1" smtClean="0">
                            <a:latin typeface="Cambria Math" panose="02040503050406030204" pitchFamily="18" charset="0"/>
                            <a:cs typeface="Times" panose="02020603050405020304" pitchFamily="18" charset="0"/>
                          </a:rPr>
                          <m:t>𝑟</m:t>
                        </m:r>
                        <m:r>
                          <a:rPr lang="en-US" altLang="zh-TW" sz="2400" b="0" i="1" smtClean="0">
                            <a:latin typeface="Cambria Math" panose="02040503050406030204" pitchFamily="18" charset="0"/>
                            <a:cs typeface="Times" panose="02020603050405020304" pitchFamily="18" charset="0"/>
                          </a:rPr>
                          <m:t>[</m:t>
                        </m:r>
                        <m:r>
                          <a:rPr lang="en-US" altLang="zh-TW" sz="2400" b="0" i="1" smtClean="0">
                            <a:latin typeface="Cambria Math" panose="02040503050406030204" pitchFamily="18" charset="0"/>
                            <a:cs typeface="Times" panose="02020603050405020304" pitchFamily="18" charset="0"/>
                          </a:rPr>
                          <m:t>𝑖</m:t>
                        </m:r>
                        <m:r>
                          <a:rPr lang="en-US" altLang="zh-TW" sz="2400" b="0" i="1" smtClean="0">
                            <a:latin typeface="Cambria Math" panose="02040503050406030204" pitchFamily="18" charset="0"/>
                            <a:cs typeface="Times" panose="02020603050405020304" pitchFamily="18" charset="0"/>
                          </a:rPr>
                          <m:t>]</m:t>
                        </m:r>
                      </m:sub>
                    </m:sSub>
                    <m:r>
                      <a:rPr lang="en-US" altLang="zh-TW" sz="2400" b="0" i="1" smtClean="0">
                        <a:latin typeface="Cambria Math" panose="02040503050406030204" pitchFamily="18" charset="0"/>
                        <a:cs typeface="Times" panose="02020603050405020304" pitchFamily="18" charset="0"/>
                      </a:rPr>
                      <m:t>&lt;</m:t>
                    </m:r>
                    <m:sSub>
                      <m:sSubPr>
                        <m:ctrlPr>
                          <a:rPr lang="en-US" altLang="zh-TW" sz="2400" i="1">
                            <a:latin typeface="Cambria Math" panose="02040503050406030204" pitchFamily="18" charset="0"/>
                            <a:cs typeface="Times" panose="02020603050405020304" pitchFamily="18" charset="0"/>
                          </a:rPr>
                        </m:ctrlPr>
                      </m:sSubPr>
                      <m:e>
                        <m:r>
                          <a:rPr lang="en-US" altLang="zh-TW" sz="2400" i="1">
                            <a:latin typeface="Cambria Math" panose="02040503050406030204" pitchFamily="18" charset="0"/>
                            <a:cs typeface="Times" panose="02020603050405020304" pitchFamily="18" charset="0"/>
                          </a:rPr>
                          <m:t>𝑡</m:t>
                        </m:r>
                      </m:e>
                      <m:sub>
                        <m:r>
                          <a:rPr lang="en-US" altLang="zh-TW" sz="2400" i="1">
                            <a:latin typeface="Cambria Math" panose="02040503050406030204" pitchFamily="18" charset="0"/>
                            <a:cs typeface="Times" panose="02020603050405020304" pitchFamily="18" charset="0"/>
                          </a:rPr>
                          <m:t>𝑗</m:t>
                        </m:r>
                        <m:r>
                          <a:rPr lang="en-US" altLang="zh-TW" sz="2400" i="1">
                            <a:latin typeface="Cambria Math" panose="02040503050406030204" pitchFamily="18" charset="0"/>
                            <a:cs typeface="Times" panose="02020603050405020304" pitchFamily="18" charset="0"/>
                          </a:rPr>
                          <m:t>−1+</m:t>
                        </m:r>
                        <m:r>
                          <a:rPr lang="en-US" altLang="zh-TW" sz="2400" i="1">
                            <a:latin typeface="Cambria Math" panose="02040503050406030204" pitchFamily="18" charset="0"/>
                            <a:cs typeface="Times" panose="02020603050405020304" pitchFamily="18" charset="0"/>
                          </a:rPr>
                          <m:t>𝑟</m:t>
                        </m:r>
                        <m:r>
                          <a:rPr lang="en-US" altLang="zh-TW" sz="2400" i="1">
                            <a:latin typeface="Cambria Math" panose="02040503050406030204" pitchFamily="18" charset="0"/>
                            <a:cs typeface="Times" panose="02020603050405020304" pitchFamily="18" charset="0"/>
                          </a:rPr>
                          <m:t>[</m:t>
                        </m:r>
                        <m:r>
                          <a:rPr lang="en-US" altLang="zh-TW" sz="2400" i="1">
                            <a:latin typeface="Cambria Math" panose="02040503050406030204" pitchFamily="18" charset="0"/>
                            <a:cs typeface="Times" panose="02020603050405020304" pitchFamily="18" charset="0"/>
                          </a:rPr>
                          <m:t>𝑖</m:t>
                        </m:r>
                        <m:r>
                          <a:rPr lang="en-US" altLang="zh-TW" sz="2400" b="0" i="1" smtClean="0">
                            <a:latin typeface="Cambria Math" panose="02040503050406030204" pitchFamily="18" charset="0"/>
                            <a:cs typeface="Times" panose="02020603050405020304" pitchFamily="18" charset="0"/>
                          </a:rPr>
                          <m:t>+1</m:t>
                        </m:r>
                        <m:r>
                          <a:rPr lang="en-US" altLang="zh-TW" sz="2400" i="1">
                            <a:latin typeface="Cambria Math" panose="02040503050406030204" pitchFamily="18" charset="0"/>
                            <a:cs typeface="Times" panose="02020603050405020304" pitchFamily="18" charset="0"/>
                          </a:rPr>
                          <m:t>]</m:t>
                        </m:r>
                      </m:sub>
                    </m:sSub>
                  </m:oMath>
                </a14:m>
                <a:r>
                  <a:rPr lang="en-US" altLang="zh-TW" sz="2400" dirty="0">
                    <a:latin typeface="Times" panose="02020603050405020304" pitchFamily="18" charset="0"/>
                    <a:cs typeface="Times" panose="02020603050405020304" pitchFamily="18" charset="0"/>
                  </a:rPr>
                  <a:t> and </a:t>
                </a:r>
                <a14:m>
                  <m:oMath xmlns:m="http://schemas.openxmlformats.org/officeDocument/2006/math">
                    <m:r>
                      <a:rPr lang="en-US" altLang="zh-TW" sz="2400" b="0" i="1" smtClean="0">
                        <a:latin typeface="Cambria Math" panose="02040503050406030204" pitchFamily="18" charset="0"/>
                        <a:cs typeface="Times" panose="02020603050405020304" pitchFamily="18" charset="0"/>
                      </a:rPr>
                      <m:t>𝐸</m:t>
                    </m:r>
                    <m:d>
                      <m:dPr>
                        <m:begChr m:val="["/>
                        <m:endChr m:val="]"/>
                        <m:ctrlPr>
                          <a:rPr lang="en-US" altLang="zh-TW" sz="2400" b="0" i="1" smtClean="0">
                            <a:latin typeface="Cambria Math" panose="02040503050406030204" pitchFamily="18" charset="0"/>
                            <a:cs typeface="Times" panose="02020603050405020304" pitchFamily="18" charset="0"/>
                          </a:rPr>
                        </m:ctrlPr>
                      </m:dPr>
                      <m:e>
                        <m:r>
                          <a:rPr lang="en-US" altLang="zh-TW" sz="2400" b="0" i="1" smtClean="0">
                            <a:latin typeface="Cambria Math" panose="02040503050406030204" pitchFamily="18" charset="0"/>
                            <a:cs typeface="Times" panose="02020603050405020304" pitchFamily="18" charset="0"/>
                          </a:rPr>
                          <m:t>𝑖</m:t>
                        </m:r>
                      </m:e>
                    </m:d>
                    <m:r>
                      <a:rPr lang="en-US" altLang="zh-TW" sz="2400" b="0" i="1" smtClean="0">
                        <a:latin typeface="Cambria Math" panose="02040503050406030204" pitchFamily="18" charset="0"/>
                        <a:cs typeface="Times" panose="02020603050405020304" pitchFamily="18" charset="0"/>
                      </a:rPr>
                      <m:t>=1</m:t>
                    </m:r>
                  </m:oMath>
                </a14:m>
                <a:endParaRPr lang="en-US" altLang="zh-TW" sz="2400" dirty="0">
                  <a:latin typeface="Times" panose="02020603050405020304" pitchFamily="18" charset="0"/>
                  <a:cs typeface="Times" panose="02020603050405020304" pitchFamily="18" charset="0"/>
                </a:endParaRPr>
              </a:p>
            </p:txBody>
          </p:sp>
        </mc:Choice>
        <mc:Fallback xmlns="">
          <p:sp>
            <p:nvSpPr>
              <p:cNvPr id="9" name="文字方塊 8">
                <a:extLst>
                  <a:ext uri="{FF2B5EF4-FFF2-40B4-BE49-F238E27FC236}">
                    <a16:creationId xmlns:a16="http://schemas.microsoft.com/office/drawing/2014/main" id="{1FA9ED3E-A981-462B-958C-BC0D54C687FC}"/>
                  </a:ext>
                </a:extLst>
              </p:cNvPr>
              <p:cNvSpPr txBox="1">
                <a:spLocks noRot="1" noChangeAspect="1" noMove="1" noResize="1" noEditPoints="1" noAdjustHandles="1" noChangeArrowheads="1" noChangeShapeType="1" noTextEdit="1"/>
              </p:cNvSpPr>
              <p:nvPr/>
            </p:nvSpPr>
            <p:spPr>
              <a:xfrm>
                <a:off x="838199" y="1672662"/>
                <a:ext cx="5257801" cy="1866793"/>
              </a:xfrm>
              <a:prstGeom prst="rect">
                <a:avLst/>
              </a:prstGeom>
              <a:blipFill>
                <a:blip r:embed="rId5"/>
                <a:stretch>
                  <a:fillRect l="-1506" b="-423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5" name="表格 4">
                <a:extLst>
                  <a:ext uri="{FF2B5EF4-FFF2-40B4-BE49-F238E27FC236}">
                    <a16:creationId xmlns:a16="http://schemas.microsoft.com/office/drawing/2014/main" id="{A160979E-D47E-45D3-9C80-E136FAB5C568}"/>
                  </a:ext>
                </a:extLst>
              </p:cNvPr>
              <p:cNvGraphicFramePr>
                <a:graphicFrameLocks noGrp="1"/>
              </p:cNvGraphicFramePr>
              <p:nvPr>
                <p:extLst>
                  <p:ext uri="{D42A27DB-BD31-4B8C-83A1-F6EECF244321}">
                    <p14:modId xmlns:p14="http://schemas.microsoft.com/office/powerpoint/2010/main" val="4264774109"/>
                  </p:ext>
                </p:extLst>
              </p:nvPr>
            </p:nvGraphicFramePr>
            <p:xfrm>
              <a:off x="6553750" y="4341814"/>
              <a:ext cx="4599390" cy="569285"/>
            </p:xfrm>
            <a:graphic>
              <a:graphicData uri="http://schemas.openxmlformats.org/drawingml/2006/table">
                <a:tbl>
                  <a:tblPr firstRow="1" bandRow="1">
                    <a:tableStyleId>{5C22544A-7EE6-4342-B048-85BDC9FD1C3A}</a:tableStyleId>
                  </a:tblPr>
                  <a:tblGrid>
                    <a:gridCol w="576000">
                      <a:extLst>
                        <a:ext uri="{9D8B030D-6E8A-4147-A177-3AD203B41FA5}">
                          <a16:colId xmlns:a16="http://schemas.microsoft.com/office/drawing/2014/main" val="614726648"/>
                        </a:ext>
                      </a:extLst>
                    </a:gridCol>
                    <a:gridCol w="574770">
                      <a:extLst>
                        <a:ext uri="{9D8B030D-6E8A-4147-A177-3AD203B41FA5}">
                          <a16:colId xmlns:a16="http://schemas.microsoft.com/office/drawing/2014/main" val="759941114"/>
                        </a:ext>
                      </a:extLst>
                    </a:gridCol>
                    <a:gridCol w="574770">
                      <a:extLst>
                        <a:ext uri="{9D8B030D-6E8A-4147-A177-3AD203B41FA5}">
                          <a16:colId xmlns:a16="http://schemas.microsoft.com/office/drawing/2014/main" val="3111005747"/>
                        </a:ext>
                      </a:extLst>
                    </a:gridCol>
                    <a:gridCol w="574770">
                      <a:extLst>
                        <a:ext uri="{9D8B030D-6E8A-4147-A177-3AD203B41FA5}">
                          <a16:colId xmlns:a16="http://schemas.microsoft.com/office/drawing/2014/main" val="2235445289"/>
                        </a:ext>
                      </a:extLst>
                    </a:gridCol>
                    <a:gridCol w="574770">
                      <a:extLst>
                        <a:ext uri="{9D8B030D-6E8A-4147-A177-3AD203B41FA5}">
                          <a16:colId xmlns:a16="http://schemas.microsoft.com/office/drawing/2014/main" val="307412273"/>
                        </a:ext>
                      </a:extLst>
                    </a:gridCol>
                    <a:gridCol w="574770">
                      <a:extLst>
                        <a:ext uri="{9D8B030D-6E8A-4147-A177-3AD203B41FA5}">
                          <a16:colId xmlns:a16="http://schemas.microsoft.com/office/drawing/2014/main" val="11079073"/>
                        </a:ext>
                      </a:extLst>
                    </a:gridCol>
                    <a:gridCol w="574770">
                      <a:extLst>
                        <a:ext uri="{9D8B030D-6E8A-4147-A177-3AD203B41FA5}">
                          <a16:colId xmlns:a16="http://schemas.microsoft.com/office/drawing/2014/main" val="2130899349"/>
                        </a:ext>
                      </a:extLst>
                    </a:gridCol>
                    <a:gridCol w="574770">
                      <a:extLst>
                        <a:ext uri="{9D8B030D-6E8A-4147-A177-3AD203B41FA5}">
                          <a16:colId xmlns:a16="http://schemas.microsoft.com/office/drawing/2014/main" val="2263849220"/>
                        </a:ext>
                      </a:extLst>
                    </a:gridCol>
                  </a:tblGrid>
                  <a:tr h="569285">
                    <a:tc>
                      <a:txBody>
                        <a:bodyPr/>
                        <a:lstStyle/>
                        <a:p>
                          <a:pPr algn="ctr"/>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panose="02020603050405020304" pitchFamily="18" charset="0"/>
                                  </a:rPr>
                                  <m:t>𝐸</m:t>
                                </m:r>
                              </m:oMath>
                            </m:oMathPara>
                          </a14:m>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400" b="0" kern="1200" dirty="0">
                              <a:solidFill>
                                <a:srgbClr val="FF0000"/>
                              </a:solidFill>
                              <a:latin typeface="Times" panose="02020603050405020304" pitchFamily="18" charset="0"/>
                              <a:ea typeface="+mn-ea"/>
                              <a:cs typeface="Times" panose="02020603050405020304" pitchFamily="18" charset="0"/>
                            </a:rPr>
                            <a:t>0</a:t>
                          </a:r>
                          <a:endParaRPr lang="zh-TW" altLang="en-US" sz="2400" b="0" kern="1200" dirty="0">
                            <a:solidFill>
                              <a:srgbClr val="FF0000"/>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64499285"/>
                      </a:ext>
                    </a:extLst>
                  </a:tr>
                </a:tbl>
              </a:graphicData>
            </a:graphic>
          </p:graphicFrame>
        </mc:Choice>
        <mc:Fallback xmlns="">
          <p:graphicFrame>
            <p:nvGraphicFramePr>
              <p:cNvPr id="5" name="表格 4">
                <a:extLst>
                  <a:ext uri="{FF2B5EF4-FFF2-40B4-BE49-F238E27FC236}">
                    <a16:creationId xmlns:a16="http://schemas.microsoft.com/office/drawing/2014/main" id="{A160979E-D47E-45D3-9C80-E136FAB5C568}"/>
                  </a:ext>
                </a:extLst>
              </p:cNvPr>
              <p:cNvGraphicFramePr>
                <a:graphicFrameLocks noGrp="1"/>
              </p:cNvGraphicFramePr>
              <p:nvPr>
                <p:extLst>
                  <p:ext uri="{D42A27DB-BD31-4B8C-83A1-F6EECF244321}">
                    <p14:modId xmlns:p14="http://schemas.microsoft.com/office/powerpoint/2010/main" val="4264774109"/>
                  </p:ext>
                </p:extLst>
              </p:nvPr>
            </p:nvGraphicFramePr>
            <p:xfrm>
              <a:off x="6553750" y="4341814"/>
              <a:ext cx="4599390" cy="569285"/>
            </p:xfrm>
            <a:graphic>
              <a:graphicData uri="http://schemas.openxmlformats.org/drawingml/2006/table">
                <a:tbl>
                  <a:tblPr firstRow="1" bandRow="1">
                    <a:tableStyleId>{5C22544A-7EE6-4342-B048-85BDC9FD1C3A}</a:tableStyleId>
                  </a:tblPr>
                  <a:tblGrid>
                    <a:gridCol w="576000">
                      <a:extLst>
                        <a:ext uri="{9D8B030D-6E8A-4147-A177-3AD203B41FA5}">
                          <a16:colId xmlns:a16="http://schemas.microsoft.com/office/drawing/2014/main" val="614726648"/>
                        </a:ext>
                      </a:extLst>
                    </a:gridCol>
                    <a:gridCol w="574770">
                      <a:extLst>
                        <a:ext uri="{9D8B030D-6E8A-4147-A177-3AD203B41FA5}">
                          <a16:colId xmlns:a16="http://schemas.microsoft.com/office/drawing/2014/main" val="759941114"/>
                        </a:ext>
                      </a:extLst>
                    </a:gridCol>
                    <a:gridCol w="574770">
                      <a:extLst>
                        <a:ext uri="{9D8B030D-6E8A-4147-A177-3AD203B41FA5}">
                          <a16:colId xmlns:a16="http://schemas.microsoft.com/office/drawing/2014/main" val="3111005747"/>
                        </a:ext>
                      </a:extLst>
                    </a:gridCol>
                    <a:gridCol w="574770">
                      <a:extLst>
                        <a:ext uri="{9D8B030D-6E8A-4147-A177-3AD203B41FA5}">
                          <a16:colId xmlns:a16="http://schemas.microsoft.com/office/drawing/2014/main" val="2235445289"/>
                        </a:ext>
                      </a:extLst>
                    </a:gridCol>
                    <a:gridCol w="574770">
                      <a:extLst>
                        <a:ext uri="{9D8B030D-6E8A-4147-A177-3AD203B41FA5}">
                          <a16:colId xmlns:a16="http://schemas.microsoft.com/office/drawing/2014/main" val="307412273"/>
                        </a:ext>
                      </a:extLst>
                    </a:gridCol>
                    <a:gridCol w="574770">
                      <a:extLst>
                        <a:ext uri="{9D8B030D-6E8A-4147-A177-3AD203B41FA5}">
                          <a16:colId xmlns:a16="http://schemas.microsoft.com/office/drawing/2014/main" val="11079073"/>
                        </a:ext>
                      </a:extLst>
                    </a:gridCol>
                    <a:gridCol w="574770">
                      <a:extLst>
                        <a:ext uri="{9D8B030D-6E8A-4147-A177-3AD203B41FA5}">
                          <a16:colId xmlns:a16="http://schemas.microsoft.com/office/drawing/2014/main" val="2130899349"/>
                        </a:ext>
                      </a:extLst>
                    </a:gridCol>
                    <a:gridCol w="574770">
                      <a:extLst>
                        <a:ext uri="{9D8B030D-6E8A-4147-A177-3AD203B41FA5}">
                          <a16:colId xmlns:a16="http://schemas.microsoft.com/office/drawing/2014/main" val="2263849220"/>
                        </a:ext>
                      </a:extLst>
                    </a:gridCol>
                  </a:tblGrid>
                  <a:tr h="569285">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53" t="-1064" r="-696842" b="-13830"/>
                          </a:stretch>
                        </a:blip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400" b="0" kern="1200" dirty="0">
                              <a:solidFill>
                                <a:srgbClr val="FF0000"/>
                              </a:solidFill>
                              <a:latin typeface="Times" panose="02020603050405020304" pitchFamily="18" charset="0"/>
                              <a:ea typeface="+mn-ea"/>
                              <a:cs typeface="Times" panose="02020603050405020304" pitchFamily="18" charset="0"/>
                            </a:rPr>
                            <a:t>0</a:t>
                          </a:r>
                          <a:endParaRPr lang="zh-TW" altLang="en-US" sz="2400" b="0" kern="1200" dirty="0">
                            <a:solidFill>
                              <a:srgbClr val="FF0000"/>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64499285"/>
                      </a:ext>
                    </a:extLst>
                  </a:tr>
                </a:tbl>
              </a:graphicData>
            </a:graphic>
          </p:graphicFrame>
        </mc:Fallback>
      </mc:AlternateContent>
    </p:spTree>
    <p:extLst>
      <p:ext uri="{BB962C8B-B14F-4D97-AF65-F5344CB8AC3E}">
        <p14:creationId xmlns:p14="http://schemas.microsoft.com/office/powerpoint/2010/main" val="5163260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Mismatch</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8</a:t>
            </a:fld>
            <a:endParaRPr kumimoji="1" lang="zh-TW" altLang="en-US" dirty="0"/>
          </a:p>
        </p:txBody>
      </p:sp>
      <mc:AlternateContent xmlns:mc="http://schemas.openxmlformats.org/markup-compatibility/2006" xmlns:a14="http://schemas.microsoft.com/office/drawing/2010/main">
        <mc:Choice Requires="a14">
          <p:graphicFrame>
            <p:nvGraphicFramePr>
              <p:cNvPr id="8" name="表格 7">
                <a:extLst>
                  <a:ext uri="{FF2B5EF4-FFF2-40B4-BE49-F238E27FC236}">
                    <a16:creationId xmlns:a16="http://schemas.microsoft.com/office/drawing/2014/main" id="{59517EA4-7957-4F6C-A154-7D8E2946CD26}"/>
                  </a:ext>
                </a:extLst>
              </p:cNvPr>
              <p:cNvGraphicFramePr>
                <a:graphicFrameLocks noGrp="1"/>
              </p:cNvGraphicFramePr>
              <p:nvPr>
                <p:extLst>
                  <p:ext uri="{D42A27DB-BD31-4B8C-83A1-F6EECF244321}">
                    <p14:modId xmlns:p14="http://schemas.microsoft.com/office/powerpoint/2010/main" val="4224774335"/>
                  </p:ext>
                </p:extLst>
              </p:nvPr>
            </p:nvGraphicFramePr>
            <p:xfrm>
              <a:off x="6525260" y="1690688"/>
              <a:ext cx="4627880" cy="1707855"/>
            </p:xfrm>
            <a:graphic>
              <a:graphicData uri="http://schemas.openxmlformats.org/drawingml/2006/table">
                <a:tbl>
                  <a:tblPr firstRow="1" bandRow="1">
                    <a:tableStyleId>{5C22544A-7EE6-4342-B048-85BDC9FD1C3A}</a:tableStyleId>
                  </a:tblPr>
                  <a:tblGrid>
                    <a:gridCol w="578485">
                      <a:extLst>
                        <a:ext uri="{9D8B030D-6E8A-4147-A177-3AD203B41FA5}">
                          <a16:colId xmlns:a16="http://schemas.microsoft.com/office/drawing/2014/main" val="3242848539"/>
                        </a:ext>
                      </a:extLst>
                    </a:gridCol>
                    <a:gridCol w="578485">
                      <a:extLst>
                        <a:ext uri="{9D8B030D-6E8A-4147-A177-3AD203B41FA5}">
                          <a16:colId xmlns:a16="http://schemas.microsoft.com/office/drawing/2014/main" val="2695976807"/>
                        </a:ext>
                      </a:extLst>
                    </a:gridCol>
                    <a:gridCol w="578485">
                      <a:extLst>
                        <a:ext uri="{9D8B030D-6E8A-4147-A177-3AD203B41FA5}">
                          <a16:colId xmlns:a16="http://schemas.microsoft.com/office/drawing/2014/main" val="1649336562"/>
                        </a:ext>
                      </a:extLst>
                    </a:gridCol>
                    <a:gridCol w="578485">
                      <a:extLst>
                        <a:ext uri="{9D8B030D-6E8A-4147-A177-3AD203B41FA5}">
                          <a16:colId xmlns:a16="http://schemas.microsoft.com/office/drawing/2014/main" val="3999504219"/>
                        </a:ext>
                      </a:extLst>
                    </a:gridCol>
                    <a:gridCol w="578485">
                      <a:extLst>
                        <a:ext uri="{9D8B030D-6E8A-4147-A177-3AD203B41FA5}">
                          <a16:colId xmlns:a16="http://schemas.microsoft.com/office/drawing/2014/main" val="2218091838"/>
                        </a:ext>
                      </a:extLst>
                    </a:gridCol>
                    <a:gridCol w="578485">
                      <a:extLst>
                        <a:ext uri="{9D8B030D-6E8A-4147-A177-3AD203B41FA5}">
                          <a16:colId xmlns:a16="http://schemas.microsoft.com/office/drawing/2014/main" val="523606344"/>
                        </a:ext>
                      </a:extLst>
                    </a:gridCol>
                    <a:gridCol w="578485">
                      <a:extLst>
                        <a:ext uri="{9D8B030D-6E8A-4147-A177-3AD203B41FA5}">
                          <a16:colId xmlns:a16="http://schemas.microsoft.com/office/drawing/2014/main" val="69381609"/>
                        </a:ext>
                      </a:extLst>
                    </a:gridCol>
                    <a:gridCol w="578485">
                      <a:extLst>
                        <a:ext uri="{9D8B030D-6E8A-4147-A177-3AD203B41FA5}">
                          <a16:colId xmlns:a16="http://schemas.microsoft.com/office/drawing/2014/main" val="588276304"/>
                        </a:ext>
                      </a:extLst>
                    </a:gridCol>
                  </a:tblGrid>
                  <a:tr h="569285">
                    <a:tc>
                      <a:txBody>
                        <a:bodyPr/>
                        <a:lstStyle/>
                        <a:p>
                          <a:pPr algn="ctr"/>
                          <a14:m>
                            <m:oMathPara xmlns:m="http://schemas.openxmlformats.org/officeDocument/2006/math">
                              <m:oMathParaPr>
                                <m:jc m:val="centerGroup"/>
                              </m:oMathParaPr>
                              <m:oMath xmlns:m="http://schemas.openxmlformats.org/officeDocument/2006/math">
                                <m:r>
                                  <a:rPr lang="en-US" altLang="zh-TW" sz="2400" b="0" i="1" dirty="0" smtClean="0">
                                    <a:solidFill>
                                      <a:schemeClr val="tx1"/>
                                    </a:solidFill>
                                    <a:latin typeface="Cambria Math" panose="02040503050406030204" pitchFamily="18" charset="0"/>
                                    <a:cs typeface="Times" panose="02020603050405020304" pitchFamily="18" charset="0"/>
                                  </a:rPr>
                                  <m:t>𝑖</m:t>
                                </m:r>
                              </m:oMath>
                            </m:oMathPara>
                          </a14:m>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2726943"/>
                      </a:ext>
                    </a:extLst>
                  </a:tr>
                  <a:tr h="569285">
                    <a:tc>
                      <a:txBody>
                        <a:bodyPr/>
                        <a:lstStyle/>
                        <a:p>
                          <a:pPr algn="ctr"/>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panose="02020603050405020304" pitchFamily="18" charset="0"/>
                                  </a:rPr>
                                  <m:t>𝑇</m:t>
                                </m:r>
                              </m:oMath>
                            </m:oMathPara>
                          </a14:m>
                          <a:endParaRPr lang="zh-TW" altLang="en-US" sz="2400" b="0" i="1"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29</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400" b="0" kern="1200" dirty="0">
                              <a:solidFill>
                                <a:srgbClr val="FF0000"/>
                              </a:solidFill>
                              <a:latin typeface="Times" panose="02020603050405020304" pitchFamily="18" charset="0"/>
                              <a:ea typeface="+mn-ea"/>
                              <a:cs typeface="Times" panose="02020603050405020304" pitchFamily="18" charset="0"/>
                            </a:rPr>
                            <a:t>27</a:t>
                          </a:r>
                          <a:endParaRPr lang="zh-TW" altLang="en-US" sz="2400" b="0" kern="1200" dirty="0">
                            <a:solidFill>
                              <a:srgbClr val="FF0000"/>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400" b="0" kern="1200" dirty="0">
                              <a:solidFill>
                                <a:srgbClr val="FF0000"/>
                              </a:solidFill>
                              <a:latin typeface="Times" panose="02020603050405020304" pitchFamily="18" charset="0"/>
                              <a:ea typeface="+mn-ea"/>
                              <a:cs typeface="Times" panose="02020603050405020304" pitchFamily="18" charset="0"/>
                            </a:rPr>
                            <a:t>32</a:t>
                          </a:r>
                          <a:endParaRPr lang="zh-TW" altLang="en-US" sz="2400" b="0" kern="1200" dirty="0">
                            <a:solidFill>
                              <a:srgbClr val="FF0000"/>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45053646"/>
                      </a:ext>
                    </a:extLst>
                  </a:tr>
                  <a:tr h="569285">
                    <a:tc>
                      <a:txBody>
                        <a:bodyPr/>
                        <a:lstStyle/>
                        <a:p>
                          <a:pPr algn="ctr"/>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panose="02020603050405020304" pitchFamily="18" charset="0"/>
                                  </a:rPr>
                                  <m:t>𝑃</m:t>
                                </m:r>
                              </m:oMath>
                            </m:oMathPara>
                          </a14:m>
                          <a:endParaRPr lang="zh-TW" altLang="en-US" sz="2400" b="0" i="1"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9765776"/>
                      </a:ext>
                    </a:extLst>
                  </a:tr>
                </a:tbl>
              </a:graphicData>
            </a:graphic>
          </p:graphicFrame>
        </mc:Choice>
        <mc:Fallback xmlns="">
          <p:graphicFrame>
            <p:nvGraphicFramePr>
              <p:cNvPr id="8" name="表格 7">
                <a:extLst>
                  <a:ext uri="{FF2B5EF4-FFF2-40B4-BE49-F238E27FC236}">
                    <a16:creationId xmlns:a16="http://schemas.microsoft.com/office/drawing/2014/main" id="{59517EA4-7957-4F6C-A154-7D8E2946CD26}"/>
                  </a:ext>
                </a:extLst>
              </p:cNvPr>
              <p:cNvGraphicFramePr>
                <a:graphicFrameLocks noGrp="1"/>
              </p:cNvGraphicFramePr>
              <p:nvPr>
                <p:extLst>
                  <p:ext uri="{D42A27DB-BD31-4B8C-83A1-F6EECF244321}">
                    <p14:modId xmlns:p14="http://schemas.microsoft.com/office/powerpoint/2010/main" val="4224774335"/>
                  </p:ext>
                </p:extLst>
              </p:nvPr>
            </p:nvGraphicFramePr>
            <p:xfrm>
              <a:off x="6525260" y="1690688"/>
              <a:ext cx="4627880" cy="1707855"/>
            </p:xfrm>
            <a:graphic>
              <a:graphicData uri="http://schemas.openxmlformats.org/drawingml/2006/table">
                <a:tbl>
                  <a:tblPr firstRow="1" bandRow="1">
                    <a:tableStyleId>{5C22544A-7EE6-4342-B048-85BDC9FD1C3A}</a:tableStyleId>
                  </a:tblPr>
                  <a:tblGrid>
                    <a:gridCol w="578485">
                      <a:extLst>
                        <a:ext uri="{9D8B030D-6E8A-4147-A177-3AD203B41FA5}">
                          <a16:colId xmlns:a16="http://schemas.microsoft.com/office/drawing/2014/main" val="3242848539"/>
                        </a:ext>
                      </a:extLst>
                    </a:gridCol>
                    <a:gridCol w="578485">
                      <a:extLst>
                        <a:ext uri="{9D8B030D-6E8A-4147-A177-3AD203B41FA5}">
                          <a16:colId xmlns:a16="http://schemas.microsoft.com/office/drawing/2014/main" val="2695976807"/>
                        </a:ext>
                      </a:extLst>
                    </a:gridCol>
                    <a:gridCol w="578485">
                      <a:extLst>
                        <a:ext uri="{9D8B030D-6E8A-4147-A177-3AD203B41FA5}">
                          <a16:colId xmlns:a16="http://schemas.microsoft.com/office/drawing/2014/main" val="1649336562"/>
                        </a:ext>
                      </a:extLst>
                    </a:gridCol>
                    <a:gridCol w="578485">
                      <a:extLst>
                        <a:ext uri="{9D8B030D-6E8A-4147-A177-3AD203B41FA5}">
                          <a16:colId xmlns:a16="http://schemas.microsoft.com/office/drawing/2014/main" val="3999504219"/>
                        </a:ext>
                      </a:extLst>
                    </a:gridCol>
                    <a:gridCol w="578485">
                      <a:extLst>
                        <a:ext uri="{9D8B030D-6E8A-4147-A177-3AD203B41FA5}">
                          <a16:colId xmlns:a16="http://schemas.microsoft.com/office/drawing/2014/main" val="2218091838"/>
                        </a:ext>
                      </a:extLst>
                    </a:gridCol>
                    <a:gridCol w="578485">
                      <a:extLst>
                        <a:ext uri="{9D8B030D-6E8A-4147-A177-3AD203B41FA5}">
                          <a16:colId xmlns:a16="http://schemas.microsoft.com/office/drawing/2014/main" val="523606344"/>
                        </a:ext>
                      </a:extLst>
                    </a:gridCol>
                    <a:gridCol w="578485">
                      <a:extLst>
                        <a:ext uri="{9D8B030D-6E8A-4147-A177-3AD203B41FA5}">
                          <a16:colId xmlns:a16="http://schemas.microsoft.com/office/drawing/2014/main" val="69381609"/>
                        </a:ext>
                      </a:extLst>
                    </a:gridCol>
                    <a:gridCol w="578485">
                      <a:extLst>
                        <a:ext uri="{9D8B030D-6E8A-4147-A177-3AD203B41FA5}">
                          <a16:colId xmlns:a16="http://schemas.microsoft.com/office/drawing/2014/main" val="588276304"/>
                        </a:ext>
                      </a:extLst>
                    </a:gridCol>
                  </a:tblGrid>
                  <a:tr h="569285">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53" t="-1064" r="-702105" b="-212766"/>
                          </a:stretch>
                        </a:blip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2726943"/>
                      </a:ext>
                    </a:extLst>
                  </a:tr>
                  <a:tr h="569285">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53" t="-102151" r="-702105" b="-115054"/>
                          </a:stretch>
                        </a:blip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29</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400" b="0" kern="1200" dirty="0">
                              <a:solidFill>
                                <a:srgbClr val="FF0000"/>
                              </a:solidFill>
                              <a:latin typeface="Times" panose="02020603050405020304" pitchFamily="18" charset="0"/>
                              <a:ea typeface="+mn-ea"/>
                              <a:cs typeface="Times" panose="02020603050405020304" pitchFamily="18" charset="0"/>
                            </a:rPr>
                            <a:t>27</a:t>
                          </a:r>
                          <a:endParaRPr lang="zh-TW" altLang="en-US" sz="2400" b="0" kern="1200" dirty="0">
                            <a:solidFill>
                              <a:srgbClr val="FF0000"/>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400" b="0" kern="1200" dirty="0">
                              <a:solidFill>
                                <a:srgbClr val="FF0000"/>
                              </a:solidFill>
                              <a:latin typeface="Times" panose="02020603050405020304" pitchFamily="18" charset="0"/>
                              <a:ea typeface="+mn-ea"/>
                              <a:cs typeface="Times" panose="02020603050405020304" pitchFamily="18" charset="0"/>
                            </a:rPr>
                            <a:t>32</a:t>
                          </a:r>
                          <a:endParaRPr lang="zh-TW" altLang="en-US" sz="2400" b="0" kern="1200" dirty="0">
                            <a:solidFill>
                              <a:srgbClr val="FF0000"/>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45053646"/>
                      </a:ext>
                    </a:extLst>
                  </a:tr>
                  <a:tr h="569285">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53" t="-200000" r="-702105" b="-13830"/>
                          </a:stretch>
                        </a:blip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976577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 name="表格 2">
                <a:extLst>
                  <a:ext uri="{FF2B5EF4-FFF2-40B4-BE49-F238E27FC236}">
                    <a16:creationId xmlns:a16="http://schemas.microsoft.com/office/drawing/2014/main" id="{74CFC8FC-40F6-4EBE-A589-8EB8DA802D6B}"/>
                  </a:ext>
                </a:extLst>
              </p:cNvPr>
              <p:cNvGraphicFramePr>
                <a:graphicFrameLocks noGrp="1"/>
              </p:cNvGraphicFramePr>
              <p:nvPr>
                <p:extLst>
                  <p:ext uri="{D42A27DB-BD31-4B8C-83A1-F6EECF244321}">
                    <p14:modId xmlns:p14="http://schemas.microsoft.com/office/powerpoint/2010/main" val="2102014229"/>
                  </p:ext>
                </p:extLst>
              </p:nvPr>
            </p:nvGraphicFramePr>
            <p:xfrm>
              <a:off x="6553750" y="3585536"/>
              <a:ext cx="4599390" cy="569285"/>
            </p:xfrm>
            <a:graphic>
              <a:graphicData uri="http://schemas.openxmlformats.org/drawingml/2006/table">
                <a:tbl>
                  <a:tblPr firstRow="1" bandRow="1">
                    <a:tableStyleId>{5C22544A-7EE6-4342-B048-85BDC9FD1C3A}</a:tableStyleId>
                  </a:tblPr>
                  <a:tblGrid>
                    <a:gridCol w="576000">
                      <a:extLst>
                        <a:ext uri="{9D8B030D-6E8A-4147-A177-3AD203B41FA5}">
                          <a16:colId xmlns:a16="http://schemas.microsoft.com/office/drawing/2014/main" val="1349991979"/>
                        </a:ext>
                      </a:extLst>
                    </a:gridCol>
                    <a:gridCol w="574770">
                      <a:extLst>
                        <a:ext uri="{9D8B030D-6E8A-4147-A177-3AD203B41FA5}">
                          <a16:colId xmlns:a16="http://schemas.microsoft.com/office/drawing/2014/main" val="37451203"/>
                        </a:ext>
                      </a:extLst>
                    </a:gridCol>
                    <a:gridCol w="574770">
                      <a:extLst>
                        <a:ext uri="{9D8B030D-6E8A-4147-A177-3AD203B41FA5}">
                          <a16:colId xmlns:a16="http://schemas.microsoft.com/office/drawing/2014/main" val="810131409"/>
                        </a:ext>
                      </a:extLst>
                    </a:gridCol>
                    <a:gridCol w="574770">
                      <a:extLst>
                        <a:ext uri="{9D8B030D-6E8A-4147-A177-3AD203B41FA5}">
                          <a16:colId xmlns:a16="http://schemas.microsoft.com/office/drawing/2014/main" val="4206810790"/>
                        </a:ext>
                      </a:extLst>
                    </a:gridCol>
                    <a:gridCol w="574770">
                      <a:extLst>
                        <a:ext uri="{9D8B030D-6E8A-4147-A177-3AD203B41FA5}">
                          <a16:colId xmlns:a16="http://schemas.microsoft.com/office/drawing/2014/main" val="1144930059"/>
                        </a:ext>
                      </a:extLst>
                    </a:gridCol>
                    <a:gridCol w="574770">
                      <a:extLst>
                        <a:ext uri="{9D8B030D-6E8A-4147-A177-3AD203B41FA5}">
                          <a16:colId xmlns:a16="http://schemas.microsoft.com/office/drawing/2014/main" val="1181438874"/>
                        </a:ext>
                      </a:extLst>
                    </a:gridCol>
                    <a:gridCol w="574770">
                      <a:extLst>
                        <a:ext uri="{9D8B030D-6E8A-4147-A177-3AD203B41FA5}">
                          <a16:colId xmlns:a16="http://schemas.microsoft.com/office/drawing/2014/main" val="2079949316"/>
                        </a:ext>
                      </a:extLst>
                    </a:gridCol>
                    <a:gridCol w="574770">
                      <a:extLst>
                        <a:ext uri="{9D8B030D-6E8A-4147-A177-3AD203B41FA5}">
                          <a16:colId xmlns:a16="http://schemas.microsoft.com/office/drawing/2014/main" val="3447317541"/>
                        </a:ext>
                      </a:extLst>
                    </a:gridCol>
                  </a:tblGrid>
                  <a:tr h="569285">
                    <a:tc>
                      <a:txBody>
                        <a:bodyPr/>
                        <a:lstStyle/>
                        <a:p>
                          <a:pPr algn="ctr"/>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panose="02020603050405020304" pitchFamily="18" charset="0"/>
                                  </a:rPr>
                                  <m:t>𝑟</m:t>
                                </m:r>
                              </m:oMath>
                            </m:oMathPara>
                          </a14:m>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72911574"/>
                      </a:ext>
                    </a:extLst>
                  </a:tr>
                </a:tbl>
              </a:graphicData>
            </a:graphic>
          </p:graphicFrame>
        </mc:Choice>
        <mc:Fallback xmlns="">
          <p:graphicFrame>
            <p:nvGraphicFramePr>
              <p:cNvPr id="3" name="表格 2">
                <a:extLst>
                  <a:ext uri="{FF2B5EF4-FFF2-40B4-BE49-F238E27FC236}">
                    <a16:creationId xmlns:a16="http://schemas.microsoft.com/office/drawing/2014/main" id="{74CFC8FC-40F6-4EBE-A589-8EB8DA802D6B}"/>
                  </a:ext>
                </a:extLst>
              </p:cNvPr>
              <p:cNvGraphicFramePr>
                <a:graphicFrameLocks noGrp="1"/>
              </p:cNvGraphicFramePr>
              <p:nvPr>
                <p:extLst>
                  <p:ext uri="{D42A27DB-BD31-4B8C-83A1-F6EECF244321}">
                    <p14:modId xmlns:p14="http://schemas.microsoft.com/office/powerpoint/2010/main" val="2102014229"/>
                  </p:ext>
                </p:extLst>
              </p:nvPr>
            </p:nvGraphicFramePr>
            <p:xfrm>
              <a:off x="6553750" y="3585536"/>
              <a:ext cx="4599390" cy="569285"/>
            </p:xfrm>
            <a:graphic>
              <a:graphicData uri="http://schemas.openxmlformats.org/drawingml/2006/table">
                <a:tbl>
                  <a:tblPr firstRow="1" bandRow="1">
                    <a:tableStyleId>{5C22544A-7EE6-4342-B048-85BDC9FD1C3A}</a:tableStyleId>
                  </a:tblPr>
                  <a:tblGrid>
                    <a:gridCol w="576000">
                      <a:extLst>
                        <a:ext uri="{9D8B030D-6E8A-4147-A177-3AD203B41FA5}">
                          <a16:colId xmlns:a16="http://schemas.microsoft.com/office/drawing/2014/main" val="1349991979"/>
                        </a:ext>
                      </a:extLst>
                    </a:gridCol>
                    <a:gridCol w="574770">
                      <a:extLst>
                        <a:ext uri="{9D8B030D-6E8A-4147-A177-3AD203B41FA5}">
                          <a16:colId xmlns:a16="http://schemas.microsoft.com/office/drawing/2014/main" val="37451203"/>
                        </a:ext>
                      </a:extLst>
                    </a:gridCol>
                    <a:gridCol w="574770">
                      <a:extLst>
                        <a:ext uri="{9D8B030D-6E8A-4147-A177-3AD203B41FA5}">
                          <a16:colId xmlns:a16="http://schemas.microsoft.com/office/drawing/2014/main" val="810131409"/>
                        </a:ext>
                      </a:extLst>
                    </a:gridCol>
                    <a:gridCol w="574770">
                      <a:extLst>
                        <a:ext uri="{9D8B030D-6E8A-4147-A177-3AD203B41FA5}">
                          <a16:colId xmlns:a16="http://schemas.microsoft.com/office/drawing/2014/main" val="4206810790"/>
                        </a:ext>
                      </a:extLst>
                    </a:gridCol>
                    <a:gridCol w="574770">
                      <a:extLst>
                        <a:ext uri="{9D8B030D-6E8A-4147-A177-3AD203B41FA5}">
                          <a16:colId xmlns:a16="http://schemas.microsoft.com/office/drawing/2014/main" val="1144930059"/>
                        </a:ext>
                      </a:extLst>
                    </a:gridCol>
                    <a:gridCol w="574770">
                      <a:extLst>
                        <a:ext uri="{9D8B030D-6E8A-4147-A177-3AD203B41FA5}">
                          <a16:colId xmlns:a16="http://schemas.microsoft.com/office/drawing/2014/main" val="1181438874"/>
                        </a:ext>
                      </a:extLst>
                    </a:gridCol>
                    <a:gridCol w="574770">
                      <a:extLst>
                        <a:ext uri="{9D8B030D-6E8A-4147-A177-3AD203B41FA5}">
                          <a16:colId xmlns:a16="http://schemas.microsoft.com/office/drawing/2014/main" val="2079949316"/>
                        </a:ext>
                      </a:extLst>
                    </a:gridCol>
                    <a:gridCol w="574770">
                      <a:extLst>
                        <a:ext uri="{9D8B030D-6E8A-4147-A177-3AD203B41FA5}">
                          <a16:colId xmlns:a16="http://schemas.microsoft.com/office/drawing/2014/main" val="3447317541"/>
                        </a:ext>
                      </a:extLst>
                    </a:gridCol>
                  </a:tblGrid>
                  <a:tr h="569285">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53" t="-1064" r="-696842" b="-13830"/>
                          </a:stretch>
                        </a:blip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72911574"/>
                      </a:ext>
                    </a:extLst>
                  </a:tr>
                </a:tbl>
              </a:graphicData>
            </a:graphic>
          </p:graphicFrame>
        </mc:Fallback>
      </mc:AlternateContent>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1FA9ED3E-A981-462B-958C-BC0D54C687FC}"/>
                  </a:ext>
                </a:extLst>
              </p:cNvPr>
              <p:cNvSpPr txBox="1"/>
              <p:nvPr/>
            </p:nvSpPr>
            <p:spPr>
              <a:xfrm>
                <a:off x="838199" y="1672662"/>
                <a:ext cx="5257801" cy="1866793"/>
              </a:xfrm>
              <a:prstGeom prst="rect">
                <a:avLst/>
              </a:prstGeom>
              <a:noFill/>
            </p:spPr>
            <p:txBody>
              <a:bodyPr wrap="square" rtlCol="0">
                <a:spAutoFit/>
              </a:bodyPr>
              <a:lstStyle/>
              <a:p>
                <a:pPr marL="342900" indent="-342900">
                  <a:lnSpc>
                    <a:spcPct val="150000"/>
                  </a:lnSpc>
                  <a:buFont typeface="Arial" panose="020B0604020202020204" pitchFamily="34" charset="0"/>
                  <a:buChar char="•"/>
                </a:pPr>
                <a14:m>
                  <m:oMath xmlns:m="http://schemas.openxmlformats.org/officeDocument/2006/math">
                    <m:sSub>
                      <m:sSubPr>
                        <m:ctrlPr>
                          <a:rPr lang="en-US" altLang="zh-TW" sz="2400" i="1" smtClean="0">
                            <a:latin typeface="Cambria Math" panose="02040503050406030204" pitchFamily="18" charset="0"/>
                            <a:cs typeface="Times" panose="02020603050405020304" pitchFamily="18" charset="0"/>
                          </a:rPr>
                        </m:ctrlPr>
                      </m:sSubPr>
                      <m:e>
                        <m:r>
                          <a:rPr lang="en-US" altLang="zh-TW" sz="2400" b="0" i="1" smtClean="0">
                            <a:latin typeface="Cambria Math" panose="02040503050406030204" pitchFamily="18" charset="0"/>
                            <a:cs typeface="Times" panose="02020603050405020304" pitchFamily="18" charset="0"/>
                          </a:rPr>
                          <m:t>𝑡</m:t>
                        </m:r>
                      </m:e>
                      <m:sub>
                        <m:r>
                          <a:rPr lang="en-US" altLang="zh-TW" sz="2400" b="0" i="1" smtClean="0">
                            <a:latin typeface="Cambria Math" panose="02040503050406030204" pitchFamily="18" charset="0"/>
                            <a:cs typeface="Times" panose="02020603050405020304" pitchFamily="18" charset="0"/>
                          </a:rPr>
                          <m:t>𝑗</m:t>
                        </m:r>
                        <m:r>
                          <a:rPr lang="en-US" altLang="zh-TW" sz="2400" b="0" i="1" smtClean="0">
                            <a:latin typeface="Cambria Math" panose="02040503050406030204" pitchFamily="18" charset="0"/>
                            <a:cs typeface="Times" panose="02020603050405020304" pitchFamily="18" charset="0"/>
                          </a:rPr>
                          <m:t>−1+</m:t>
                        </m:r>
                        <m:r>
                          <a:rPr lang="en-US" altLang="zh-TW" sz="2400" b="0" i="1" smtClean="0">
                            <a:latin typeface="Cambria Math" panose="02040503050406030204" pitchFamily="18" charset="0"/>
                            <a:cs typeface="Times" panose="02020603050405020304" pitchFamily="18" charset="0"/>
                          </a:rPr>
                          <m:t>𝑟</m:t>
                        </m:r>
                        <m:r>
                          <a:rPr lang="en-US" altLang="zh-TW" sz="2400" b="0" i="1" smtClean="0">
                            <a:latin typeface="Cambria Math" panose="02040503050406030204" pitchFamily="18" charset="0"/>
                            <a:cs typeface="Times" panose="02020603050405020304" pitchFamily="18" charset="0"/>
                          </a:rPr>
                          <m:t>[</m:t>
                        </m:r>
                        <m:r>
                          <a:rPr lang="en-US" altLang="zh-TW" sz="2400" b="0" i="1" smtClean="0">
                            <a:latin typeface="Cambria Math" panose="02040503050406030204" pitchFamily="18" charset="0"/>
                            <a:cs typeface="Times" panose="02020603050405020304" pitchFamily="18" charset="0"/>
                          </a:rPr>
                          <m:t>𝑖</m:t>
                        </m:r>
                        <m:r>
                          <a:rPr lang="en-US" altLang="zh-TW" sz="2400" b="0" i="1" smtClean="0">
                            <a:latin typeface="Cambria Math" panose="02040503050406030204" pitchFamily="18" charset="0"/>
                            <a:cs typeface="Times" panose="02020603050405020304" pitchFamily="18" charset="0"/>
                          </a:rPr>
                          <m:t>]</m:t>
                        </m:r>
                      </m:sub>
                    </m:sSub>
                    <m:r>
                      <a:rPr lang="en-US" altLang="zh-TW" sz="2400" b="0" i="1" smtClean="0">
                        <a:latin typeface="Cambria Math" panose="02040503050406030204" pitchFamily="18" charset="0"/>
                        <a:cs typeface="Times" panose="02020603050405020304" pitchFamily="18" charset="0"/>
                      </a:rPr>
                      <m:t>&gt;</m:t>
                    </m:r>
                    <m:sSub>
                      <m:sSubPr>
                        <m:ctrlPr>
                          <a:rPr lang="en-US" altLang="zh-TW" sz="2400" i="1">
                            <a:latin typeface="Cambria Math" panose="02040503050406030204" pitchFamily="18" charset="0"/>
                            <a:cs typeface="Times" panose="02020603050405020304" pitchFamily="18" charset="0"/>
                          </a:rPr>
                        </m:ctrlPr>
                      </m:sSubPr>
                      <m:e>
                        <m:r>
                          <a:rPr lang="en-US" altLang="zh-TW" sz="2400" i="1">
                            <a:latin typeface="Cambria Math" panose="02040503050406030204" pitchFamily="18" charset="0"/>
                            <a:cs typeface="Times" panose="02020603050405020304" pitchFamily="18" charset="0"/>
                          </a:rPr>
                          <m:t>𝑡</m:t>
                        </m:r>
                      </m:e>
                      <m:sub>
                        <m:r>
                          <a:rPr lang="en-US" altLang="zh-TW" sz="2400" i="1">
                            <a:latin typeface="Cambria Math" panose="02040503050406030204" pitchFamily="18" charset="0"/>
                            <a:cs typeface="Times" panose="02020603050405020304" pitchFamily="18" charset="0"/>
                          </a:rPr>
                          <m:t>𝑗</m:t>
                        </m:r>
                        <m:r>
                          <a:rPr lang="en-US" altLang="zh-TW" sz="2400" i="1">
                            <a:latin typeface="Cambria Math" panose="02040503050406030204" pitchFamily="18" charset="0"/>
                            <a:cs typeface="Times" panose="02020603050405020304" pitchFamily="18" charset="0"/>
                          </a:rPr>
                          <m:t>−1+</m:t>
                        </m:r>
                        <m:r>
                          <a:rPr lang="en-US" altLang="zh-TW" sz="2400" i="1">
                            <a:latin typeface="Cambria Math" panose="02040503050406030204" pitchFamily="18" charset="0"/>
                            <a:cs typeface="Times" panose="02020603050405020304" pitchFamily="18" charset="0"/>
                          </a:rPr>
                          <m:t>𝑟</m:t>
                        </m:r>
                        <m:r>
                          <a:rPr lang="en-US" altLang="zh-TW" sz="2400" i="1">
                            <a:latin typeface="Cambria Math" panose="02040503050406030204" pitchFamily="18" charset="0"/>
                            <a:cs typeface="Times" panose="02020603050405020304" pitchFamily="18" charset="0"/>
                          </a:rPr>
                          <m:t>[</m:t>
                        </m:r>
                        <m:r>
                          <a:rPr lang="en-US" altLang="zh-TW" sz="2400" i="1">
                            <a:latin typeface="Cambria Math" panose="02040503050406030204" pitchFamily="18" charset="0"/>
                            <a:cs typeface="Times" panose="02020603050405020304" pitchFamily="18" charset="0"/>
                          </a:rPr>
                          <m:t>𝑖</m:t>
                        </m:r>
                        <m:r>
                          <a:rPr lang="en-US" altLang="zh-TW" sz="2400" b="0" i="1" smtClean="0">
                            <a:latin typeface="Cambria Math" panose="02040503050406030204" pitchFamily="18" charset="0"/>
                            <a:cs typeface="Times" panose="02020603050405020304" pitchFamily="18" charset="0"/>
                          </a:rPr>
                          <m:t>+1</m:t>
                        </m:r>
                        <m:r>
                          <a:rPr lang="en-US" altLang="zh-TW" sz="2400" i="1">
                            <a:latin typeface="Cambria Math" panose="02040503050406030204" pitchFamily="18" charset="0"/>
                            <a:cs typeface="Times" panose="02020603050405020304" pitchFamily="18" charset="0"/>
                          </a:rPr>
                          <m:t>]</m:t>
                        </m:r>
                      </m:sub>
                    </m:sSub>
                  </m:oMath>
                </a14:m>
                <a:endParaRPr lang="en-US" altLang="zh-TW" sz="2400" dirty="0">
                  <a:latin typeface="Times" panose="02020603050405020304" pitchFamily="18" charset="0"/>
                  <a:cs typeface="Times" panose="02020603050405020304" pitchFamily="18" charset="0"/>
                </a:endParaRPr>
              </a:p>
              <a:p>
                <a:pPr marL="342900" indent="-342900">
                  <a:lnSpc>
                    <a:spcPct val="150000"/>
                  </a:lnSpc>
                  <a:buFont typeface="Arial" panose="020B0604020202020204" pitchFamily="34" charset="0"/>
                  <a:buChar char="•"/>
                </a:pPr>
                <a14:m>
                  <m:oMath xmlns:m="http://schemas.openxmlformats.org/officeDocument/2006/math">
                    <m:sSub>
                      <m:sSubPr>
                        <m:ctrlPr>
                          <a:rPr lang="en-US" altLang="zh-TW" sz="2400" i="1" smtClean="0">
                            <a:latin typeface="Cambria Math" panose="02040503050406030204" pitchFamily="18" charset="0"/>
                            <a:cs typeface="Times" panose="02020603050405020304" pitchFamily="18" charset="0"/>
                          </a:rPr>
                        </m:ctrlPr>
                      </m:sSubPr>
                      <m:e>
                        <m:r>
                          <a:rPr lang="en-US" altLang="zh-TW" sz="2400" b="0" i="1" smtClean="0">
                            <a:latin typeface="Cambria Math" panose="02040503050406030204" pitchFamily="18" charset="0"/>
                            <a:cs typeface="Times" panose="02020603050405020304" pitchFamily="18" charset="0"/>
                          </a:rPr>
                          <m:t>𝑡</m:t>
                        </m:r>
                      </m:e>
                      <m:sub>
                        <m:r>
                          <a:rPr lang="en-US" altLang="zh-TW" sz="2400" b="0" i="1" smtClean="0">
                            <a:latin typeface="Cambria Math" panose="02040503050406030204" pitchFamily="18" charset="0"/>
                            <a:cs typeface="Times" panose="02020603050405020304" pitchFamily="18" charset="0"/>
                          </a:rPr>
                          <m:t>𝑗</m:t>
                        </m:r>
                        <m:r>
                          <a:rPr lang="en-US" altLang="zh-TW" sz="2400" b="0" i="1" smtClean="0">
                            <a:latin typeface="Cambria Math" panose="02040503050406030204" pitchFamily="18" charset="0"/>
                            <a:cs typeface="Times" panose="02020603050405020304" pitchFamily="18" charset="0"/>
                          </a:rPr>
                          <m:t>−1+</m:t>
                        </m:r>
                        <m:r>
                          <a:rPr lang="en-US" altLang="zh-TW" sz="2400" b="0" i="1" smtClean="0">
                            <a:latin typeface="Cambria Math" panose="02040503050406030204" pitchFamily="18" charset="0"/>
                            <a:cs typeface="Times" panose="02020603050405020304" pitchFamily="18" charset="0"/>
                          </a:rPr>
                          <m:t>𝑟</m:t>
                        </m:r>
                        <m:r>
                          <a:rPr lang="en-US" altLang="zh-TW" sz="2400" b="0" i="1" smtClean="0">
                            <a:latin typeface="Cambria Math" panose="02040503050406030204" pitchFamily="18" charset="0"/>
                            <a:cs typeface="Times" panose="02020603050405020304" pitchFamily="18" charset="0"/>
                          </a:rPr>
                          <m:t>[</m:t>
                        </m:r>
                        <m:r>
                          <a:rPr lang="en-US" altLang="zh-TW" sz="2400" b="0" i="1" smtClean="0">
                            <a:latin typeface="Cambria Math" panose="02040503050406030204" pitchFamily="18" charset="0"/>
                            <a:cs typeface="Times" panose="02020603050405020304" pitchFamily="18" charset="0"/>
                          </a:rPr>
                          <m:t>𝑖</m:t>
                        </m:r>
                        <m:r>
                          <a:rPr lang="en-US" altLang="zh-TW" sz="2400" b="0" i="1" smtClean="0">
                            <a:latin typeface="Cambria Math" panose="02040503050406030204" pitchFamily="18" charset="0"/>
                            <a:cs typeface="Times" panose="02020603050405020304" pitchFamily="18" charset="0"/>
                          </a:rPr>
                          <m:t>]</m:t>
                        </m:r>
                      </m:sub>
                    </m:sSub>
                    <m:r>
                      <a:rPr lang="en-US" altLang="zh-TW" sz="2400" b="0" i="1" smtClean="0">
                        <a:latin typeface="Cambria Math" panose="02040503050406030204" pitchFamily="18" charset="0"/>
                        <a:cs typeface="Times" panose="02020603050405020304" pitchFamily="18" charset="0"/>
                      </a:rPr>
                      <m:t>=</m:t>
                    </m:r>
                    <m:sSub>
                      <m:sSubPr>
                        <m:ctrlPr>
                          <a:rPr lang="en-US" altLang="zh-TW" sz="2400" i="1">
                            <a:latin typeface="Cambria Math" panose="02040503050406030204" pitchFamily="18" charset="0"/>
                            <a:cs typeface="Times" panose="02020603050405020304" pitchFamily="18" charset="0"/>
                          </a:rPr>
                        </m:ctrlPr>
                      </m:sSubPr>
                      <m:e>
                        <m:r>
                          <a:rPr lang="en-US" altLang="zh-TW" sz="2400" i="1">
                            <a:latin typeface="Cambria Math" panose="02040503050406030204" pitchFamily="18" charset="0"/>
                            <a:cs typeface="Times" panose="02020603050405020304" pitchFamily="18" charset="0"/>
                          </a:rPr>
                          <m:t>𝑡</m:t>
                        </m:r>
                      </m:e>
                      <m:sub>
                        <m:r>
                          <a:rPr lang="en-US" altLang="zh-TW" sz="2400" i="1">
                            <a:latin typeface="Cambria Math" panose="02040503050406030204" pitchFamily="18" charset="0"/>
                            <a:cs typeface="Times" panose="02020603050405020304" pitchFamily="18" charset="0"/>
                          </a:rPr>
                          <m:t>𝑗</m:t>
                        </m:r>
                        <m:r>
                          <a:rPr lang="en-US" altLang="zh-TW" sz="2400" i="1">
                            <a:latin typeface="Cambria Math" panose="02040503050406030204" pitchFamily="18" charset="0"/>
                            <a:cs typeface="Times" panose="02020603050405020304" pitchFamily="18" charset="0"/>
                          </a:rPr>
                          <m:t>−1+</m:t>
                        </m:r>
                        <m:r>
                          <a:rPr lang="en-US" altLang="zh-TW" sz="2400" i="1">
                            <a:latin typeface="Cambria Math" panose="02040503050406030204" pitchFamily="18" charset="0"/>
                            <a:cs typeface="Times" panose="02020603050405020304" pitchFamily="18" charset="0"/>
                          </a:rPr>
                          <m:t>𝑟</m:t>
                        </m:r>
                        <m:r>
                          <a:rPr lang="en-US" altLang="zh-TW" sz="2400" i="1">
                            <a:latin typeface="Cambria Math" panose="02040503050406030204" pitchFamily="18" charset="0"/>
                            <a:cs typeface="Times" panose="02020603050405020304" pitchFamily="18" charset="0"/>
                          </a:rPr>
                          <m:t>[</m:t>
                        </m:r>
                        <m:r>
                          <a:rPr lang="en-US" altLang="zh-TW" sz="2400" i="1">
                            <a:latin typeface="Cambria Math" panose="02040503050406030204" pitchFamily="18" charset="0"/>
                            <a:cs typeface="Times" panose="02020603050405020304" pitchFamily="18" charset="0"/>
                          </a:rPr>
                          <m:t>𝑖</m:t>
                        </m:r>
                        <m:r>
                          <a:rPr lang="en-US" altLang="zh-TW" sz="2400" b="0" i="1" smtClean="0">
                            <a:latin typeface="Cambria Math" panose="02040503050406030204" pitchFamily="18" charset="0"/>
                            <a:cs typeface="Times" panose="02020603050405020304" pitchFamily="18" charset="0"/>
                          </a:rPr>
                          <m:t>+1</m:t>
                        </m:r>
                        <m:r>
                          <a:rPr lang="en-US" altLang="zh-TW" sz="2400" i="1">
                            <a:latin typeface="Cambria Math" panose="02040503050406030204" pitchFamily="18" charset="0"/>
                            <a:cs typeface="Times" panose="02020603050405020304" pitchFamily="18" charset="0"/>
                          </a:rPr>
                          <m:t>]</m:t>
                        </m:r>
                      </m:sub>
                    </m:sSub>
                  </m:oMath>
                </a14:m>
                <a:r>
                  <a:rPr lang="en-US" altLang="zh-TW" sz="2400" dirty="0">
                    <a:latin typeface="Times" panose="02020603050405020304" pitchFamily="18" charset="0"/>
                    <a:cs typeface="Times" panose="02020603050405020304" pitchFamily="18" charset="0"/>
                  </a:rPr>
                  <a:t> and </a:t>
                </a:r>
                <a14:m>
                  <m:oMath xmlns:m="http://schemas.openxmlformats.org/officeDocument/2006/math">
                    <m:r>
                      <a:rPr lang="en-US" altLang="zh-TW" sz="2400" b="0" i="1" smtClean="0">
                        <a:latin typeface="Cambria Math" panose="02040503050406030204" pitchFamily="18" charset="0"/>
                        <a:cs typeface="Times" panose="02020603050405020304" pitchFamily="18" charset="0"/>
                      </a:rPr>
                      <m:t>𝐸</m:t>
                    </m:r>
                    <m:d>
                      <m:dPr>
                        <m:begChr m:val="["/>
                        <m:endChr m:val="]"/>
                        <m:ctrlPr>
                          <a:rPr lang="en-US" altLang="zh-TW" sz="2400" b="0" i="1" smtClean="0">
                            <a:latin typeface="Cambria Math" panose="02040503050406030204" pitchFamily="18" charset="0"/>
                            <a:cs typeface="Times" panose="02020603050405020304" pitchFamily="18" charset="0"/>
                          </a:rPr>
                        </m:ctrlPr>
                      </m:dPr>
                      <m:e>
                        <m:r>
                          <a:rPr lang="en-US" altLang="zh-TW" sz="2400" b="0" i="1" smtClean="0">
                            <a:latin typeface="Cambria Math" panose="02040503050406030204" pitchFamily="18" charset="0"/>
                            <a:cs typeface="Times" panose="02020603050405020304" pitchFamily="18" charset="0"/>
                          </a:rPr>
                          <m:t>𝑖</m:t>
                        </m:r>
                      </m:e>
                    </m:d>
                    <m:r>
                      <a:rPr lang="en-US" altLang="zh-TW" sz="2400" b="0" i="1" smtClean="0">
                        <a:latin typeface="Cambria Math" panose="02040503050406030204" pitchFamily="18" charset="0"/>
                        <a:cs typeface="Times" panose="02020603050405020304" pitchFamily="18" charset="0"/>
                      </a:rPr>
                      <m:t>=0</m:t>
                    </m:r>
                  </m:oMath>
                </a14:m>
                <a:endParaRPr lang="en-US" altLang="zh-TW" sz="2400" dirty="0">
                  <a:latin typeface="Times" panose="02020603050405020304" pitchFamily="18" charset="0"/>
                  <a:cs typeface="Times" panose="02020603050405020304" pitchFamily="18" charset="0"/>
                </a:endParaRPr>
              </a:p>
              <a:p>
                <a:pPr marL="342900" indent="-342900">
                  <a:lnSpc>
                    <a:spcPct val="150000"/>
                  </a:lnSpc>
                  <a:buFont typeface="Arial" panose="020B0604020202020204" pitchFamily="34" charset="0"/>
                  <a:buChar char="•"/>
                </a:pPr>
                <a:r>
                  <a:rPr lang="en-US" altLang="zh-TW" sz="2400" dirty="0">
                    <a:latin typeface="Times" panose="02020603050405020304" pitchFamily="18" charset="0"/>
                    <a:cs typeface="Times" panose="02020603050405020304" pitchFamily="18" charset="0"/>
                  </a:rPr>
                  <a:t> </a:t>
                </a:r>
                <a14:m>
                  <m:oMath xmlns:m="http://schemas.openxmlformats.org/officeDocument/2006/math">
                    <m:sSub>
                      <m:sSubPr>
                        <m:ctrlPr>
                          <a:rPr lang="en-US" altLang="zh-TW" sz="2400" i="1" smtClean="0">
                            <a:latin typeface="Cambria Math" panose="02040503050406030204" pitchFamily="18" charset="0"/>
                            <a:cs typeface="Times" panose="02020603050405020304" pitchFamily="18" charset="0"/>
                          </a:rPr>
                        </m:ctrlPr>
                      </m:sSubPr>
                      <m:e>
                        <m:r>
                          <a:rPr lang="en-US" altLang="zh-TW" sz="2400" b="0" i="1" smtClean="0">
                            <a:latin typeface="Cambria Math" panose="02040503050406030204" pitchFamily="18" charset="0"/>
                            <a:cs typeface="Times" panose="02020603050405020304" pitchFamily="18" charset="0"/>
                          </a:rPr>
                          <m:t>𝑡</m:t>
                        </m:r>
                      </m:e>
                      <m:sub>
                        <m:r>
                          <a:rPr lang="en-US" altLang="zh-TW" sz="2400" b="0" i="1" smtClean="0">
                            <a:latin typeface="Cambria Math" panose="02040503050406030204" pitchFamily="18" charset="0"/>
                            <a:cs typeface="Times" panose="02020603050405020304" pitchFamily="18" charset="0"/>
                          </a:rPr>
                          <m:t>𝑗</m:t>
                        </m:r>
                        <m:r>
                          <a:rPr lang="en-US" altLang="zh-TW" sz="2400" b="0" i="1" smtClean="0">
                            <a:latin typeface="Cambria Math" panose="02040503050406030204" pitchFamily="18" charset="0"/>
                            <a:cs typeface="Times" panose="02020603050405020304" pitchFamily="18" charset="0"/>
                          </a:rPr>
                          <m:t>−1+</m:t>
                        </m:r>
                        <m:r>
                          <a:rPr lang="en-US" altLang="zh-TW" sz="2400" b="0" i="1" smtClean="0">
                            <a:latin typeface="Cambria Math" panose="02040503050406030204" pitchFamily="18" charset="0"/>
                            <a:cs typeface="Times" panose="02020603050405020304" pitchFamily="18" charset="0"/>
                          </a:rPr>
                          <m:t>𝑟</m:t>
                        </m:r>
                        <m:r>
                          <a:rPr lang="en-US" altLang="zh-TW" sz="2400" b="0" i="1" smtClean="0">
                            <a:latin typeface="Cambria Math" panose="02040503050406030204" pitchFamily="18" charset="0"/>
                            <a:cs typeface="Times" panose="02020603050405020304" pitchFamily="18" charset="0"/>
                          </a:rPr>
                          <m:t>[</m:t>
                        </m:r>
                        <m:r>
                          <a:rPr lang="en-US" altLang="zh-TW" sz="2400" b="0" i="1" smtClean="0">
                            <a:latin typeface="Cambria Math" panose="02040503050406030204" pitchFamily="18" charset="0"/>
                            <a:cs typeface="Times" panose="02020603050405020304" pitchFamily="18" charset="0"/>
                          </a:rPr>
                          <m:t>𝑖</m:t>
                        </m:r>
                        <m:r>
                          <a:rPr lang="en-US" altLang="zh-TW" sz="2400" b="0" i="1" smtClean="0">
                            <a:latin typeface="Cambria Math" panose="02040503050406030204" pitchFamily="18" charset="0"/>
                            <a:cs typeface="Times" panose="02020603050405020304" pitchFamily="18" charset="0"/>
                          </a:rPr>
                          <m:t>]</m:t>
                        </m:r>
                      </m:sub>
                    </m:sSub>
                    <m:r>
                      <a:rPr lang="en-US" altLang="zh-TW" sz="2400" b="0" i="1" smtClean="0">
                        <a:latin typeface="Cambria Math" panose="02040503050406030204" pitchFamily="18" charset="0"/>
                        <a:cs typeface="Times" panose="02020603050405020304" pitchFamily="18" charset="0"/>
                      </a:rPr>
                      <m:t>&lt;</m:t>
                    </m:r>
                    <m:sSub>
                      <m:sSubPr>
                        <m:ctrlPr>
                          <a:rPr lang="en-US" altLang="zh-TW" sz="2400" i="1">
                            <a:latin typeface="Cambria Math" panose="02040503050406030204" pitchFamily="18" charset="0"/>
                            <a:cs typeface="Times" panose="02020603050405020304" pitchFamily="18" charset="0"/>
                          </a:rPr>
                        </m:ctrlPr>
                      </m:sSubPr>
                      <m:e>
                        <m:r>
                          <a:rPr lang="en-US" altLang="zh-TW" sz="2400" i="1">
                            <a:latin typeface="Cambria Math" panose="02040503050406030204" pitchFamily="18" charset="0"/>
                            <a:cs typeface="Times" panose="02020603050405020304" pitchFamily="18" charset="0"/>
                          </a:rPr>
                          <m:t>𝑡</m:t>
                        </m:r>
                      </m:e>
                      <m:sub>
                        <m:r>
                          <a:rPr lang="en-US" altLang="zh-TW" sz="2400" i="1">
                            <a:latin typeface="Cambria Math" panose="02040503050406030204" pitchFamily="18" charset="0"/>
                            <a:cs typeface="Times" panose="02020603050405020304" pitchFamily="18" charset="0"/>
                          </a:rPr>
                          <m:t>𝑗</m:t>
                        </m:r>
                        <m:r>
                          <a:rPr lang="en-US" altLang="zh-TW" sz="2400" i="1">
                            <a:latin typeface="Cambria Math" panose="02040503050406030204" pitchFamily="18" charset="0"/>
                            <a:cs typeface="Times" panose="02020603050405020304" pitchFamily="18" charset="0"/>
                          </a:rPr>
                          <m:t>−1+</m:t>
                        </m:r>
                        <m:r>
                          <a:rPr lang="en-US" altLang="zh-TW" sz="2400" i="1">
                            <a:latin typeface="Cambria Math" panose="02040503050406030204" pitchFamily="18" charset="0"/>
                            <a:cs typeface="Times" panose="02020603050405020304" pitchFamily="18" charset="0"/>
                          </a:rPr>
                          <m:t>𝑟</m:t>
                        </m:r>
                        <m:r>
                          <a:rPr lang="en-US" altLang="zh-TW" sz="2400" i="1">
                            <a:latin typeface="Cambria Math" panose="02040503050406030204" pitchFamily="18" charset="0"/>
                            <a:cs typeface="Times" panose="02020603050405020304" pitchFamily="18" charset="0"/>
                          </a:rPr>
                          <m:t>[</m:t>
                        </m:r>
                        <m:r>
                          <a:rPr lang="en-US" altLang="zh-TW" sz="2400" i="1">
                            <a:latin typeface="Cambria Math" panose="02040503050406030204" pitchFamily="18" charset="0"/>
                            <a:cs typeface="Times" panose="02020603050405020304" pitchFamily="18" charset="0"/>
                          </a:rPr>
                          <m:t>𝑖</m:t>
                        </m:r>
                        <m:r>
                          <a:rPr lang="en-US" altLang="zh-TW" sz="2400" b="0" i="1" smtClean="0">
                            <a:latin typeface="Cambria Math" panose="02040503050406030204" pitchFamily="18" charset="0"/>
                            <a:cs typeface="Times" panose="02020603050405020304" pitchFamily="18" charset="0"/>
                          </a:rPr>
                          <m:t>+1</m:t>
                        </m:r>
                        <m:r>
                          <a:rPr lang="en-US" altLang="zh-TW" sz="2400" i="1">
                            <a:latin typeface="Cambria Math" panose="02040503050406030204" pitchFamily="18" charset="0"/>
                            <a:cs typeface="Times" panose="02020603050405020304" pitchFamily="18" charset="0"/>
                          </a:rPr>
                          <m:t>]</m:t>
                        </m:r>
                      </m:sub>
                    </m:sSub>
                  </m:oMath>
                </a14:m>
                <a:r>
                  <a:rPr lang="en-US" altLang="zh-TW" sz="2400" dirty="0">
                    <a:latin typeface="Times" panose="02020603050405020304" pitchFamily="18" charset="0"/>
                    <a:cs typeface="Times" panose="02020603050405020304" pitchFamily="18" charset="0"/>
                  </a:rPr>
                  <a:t> and </a:t>
                </a:r>
                <a14:m>
                  <m:oMath xmlns:m="http://schemas.openxmlformats.org/officeDocument/2006/math">
                    <m:r>
                      <a:rPr lang="en-US" altLang="zh-TW" sz="2400" b="0" i="1" smtClean="0">
                        <a:latin typeface="Cambria Math" panose="02040503050406030204" pitchFamily="18" charset="0"/>
                        <a:cs typeface="Times" panose="02020603050405020304" pitchFamily="18" charset="0"/>
                      </a:rPr>
                      <m:t>𝐸</m:t>
                    </m:r>
                    <m:d>
                      <m:dPr>
                        <m:begChr m:val="["/>
                        <m:endChr m:val="]"/>
                        <m:ctrlPr>
                          <a:rPr lang="en-US" altLang="zh-TW" sz="2400" b="0" i="1" smtClean="0">
                            <a:latin typeface="Cambria Math" panose="02040503050406030204" pitchFamily="18" charset="0"/>
                            <a:cs typeface="Times" panose="02020603050405020304" pitchFamily="18" charset="0"/>
                          </a:rPr>
                        </m:ctrlPr>
                      </m:dPr>
                      <m:e>
                        <m:r>
                          <a:rPr lang="en-US" altLang="zh-TW" sz="2400" b="0" i="1" smtClean="0">
                            <a:latin typeface="Cambria Math" panose="02040503050406030204" pitchFamily="18" charset="0"/>
                            <a:cs typeface="Times" panose="02020603050405020304" pitchFamily="18" charset="0"/>
                          </a:rPr>
                          <m:t>𝑖</m:t>
                        </m:r>
                      </m:e>
                    </m:d>
                    <m:r>
                      <a:rPr lang="en-US" altLang="zh-TW" sz="2400" b="0" i="1" smtClean="0">
                        <a:latin typeface="Cambria Math" panose="02040503050406030204" pitchFamily="18" charset="0"/>
                        <a:cs typeface="Times" panose="02020603050405020304" pitchFamily="18" charset="0"/>
                      </a:rPr>
                      <m:t>=1</m:t>
                    </m:r>
                  </m:oMath>
                </a14:m>
                <a:endParaRPr lang="en-US" altLang="zh-TW" sz="2400" dirty="0">
                  <a:latin typeface="Times" panose="02020603050405020304" pitchFamily="18" charset="0"/>
                  <a:cs typeface="Times" panose="02020603050405020304" pitchFamily="18" charset="0"/>
                </a:endParaRPr>
              </a:p>
            </p:txBody>
          </p:sp>
        </mc:Choice>
        <mc:Fallback xmlns="">
          <p:sp>
            <p:nvSpPr>
              <p:cNvPr id="9" name="文字方塊 8">
                <a:extLst>
                  <a:ext uri="{FF2B5EF4-FFF2-40B4-BE49-F238E27FC236}">
                    <a16:creationId xmlns:a16="http://schemas.microsoft.com/office/drawing/2014/main" id="{1FA9ED3E-A981-462B-958C-BC0D54C687FC}"/>
                  </a:ext>
                </a:extLst>
              </p:cNvPr>
              <p:cNvSpPr txBox="1">
                <a:spLocks noRot="1" noChangeAspect="1" noMove="1" noResize="1" noEditPoints="1" noAdjustHandles="1" noChangeArrowheads="1" noChangeShapeType="1" noTextEdit="1"/>
              </p:cNvSpPr>
              <p:nvPr/>
            </p:nvSpPr>
            <p:spPr>
              <a:xfrm>
                <a:off x="838199" y="1672662"/>
                <a:ext cx="5257801" cy="1866793"/>
              </a:xfrm>
              <a:prstGeom prst="rect">
                <a:avLst/>
              </a:prstGeom>
              <a:blipFill>
                <a:blip r:embed="rId5"/>
                <a:stretch>
                  <a:fillRect l="-1506" b="-423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5" name="表格 4">
                <a:extLst>
                  <a:ext uri="{FF2B5EF4-FFF2-40B4-BE49-F238E27FC236}">
                    <a16:creationId xmlns:a16="http://schemas.microsoft.com/office/drawing/2014/main" id="{0EF2E7A7-D05A-4DA1-A02B-9E0A402FCDB8}"/>
                  </a:ext>
                </a:extLst>
              </p:cNvPr>
              <p:cNvGraphicFramePr>
                <a:graphicFrameLocks noGrp="1"/>
              </p:cNvGraphicFramePr>
              <p:nvPr>
                <p:extLst>
                  <p:ext uri="{D42A27DB-BD31-4B8C-83A1-F6EECF244321}">
                    <p14:modId xmlns:p14="http://schemas.microsoft.com/office/powerpoint/2010/main" val="2712889276"/>
                  </p:ext>
                </p:extLst>
              </p:nvPr>
            </p:nvGraphicFramePr>
            <p:xfrm>
              <a:off x="6553750" y="4341814"/>
              <a:ext cx="4599390" cy="569285"/>
            </p:xfrm>
            <a:graphic>
              <a:graphicData uri="http://schemas.openxmlformats.org/drawingml/2006/table">
                <a:tbl>
                  <a:tblPr firstRow="1" bandRow="1">
                    <a:tableStyleId>{5C22544A-7EE6-4342-B048-85BDC9FD1C3A}</a:tableStyleId>
                  </a:tblPr>
                  <a:tblGrid>
                    <a:gridCol w="576000">
                      <a:extLst>
                        <a:ext uri="{9D8B030D-6E8A-4147-A177-3AD203B41FA5}">
                          <a16:colId xmlns:a16="http://schemas.microsoft.com/office/drawing/2014/main" val="1109866774"/>
                        </a:ext>
                      </a:extLst>
                    </a:gridCol>
                    <a:gridCol w="574770">
                      <a:extLst>
                        <a:ext uri="{9D8B030D-6E8A-4147-A177-3AD203B41FA5}">
                          <a16:colId xmlns:a16="http://schemas.microsoft.com/office/drawing/2014/main" val="2152951612"/>
                        </a:ext>
                      </a:extLst>
                    </a:gridCol>
                    <a:gridCol w="574770">
                      <a:extLst>
                        <a:ext uri="{9D8B030D-6E8A-4147-A177-3AD203B41FA5}">
                          <a16:colId xmlns:a16="http://schemas.microsoft.com/office/drawing/2014/main" val="126681384"/>
                        </a:ext>
                      </a:extLst>
                    </a:gridCol>
                    <a:gridCol w="574770">
                      <a:extLst>
                        <a:ext uri="{9D8B030D-6E8A-4147-A177-3AD203B41FA5}">
                          <a16:colId xmlns:a16="http://schemas.microsoft.com/office/drawing/2014/main" val="3189032265"/>
                        </a:ext>
                      </a:extLst>
                    </a:gridCol>
                    <a:gridCol w="574770">
                      <a:extLst>
                        <a:ext uri="{9D8B030D-6E8A-4147-A177-3AD203B41FA5}">
                          <a16:colId xmlns:a16="http://schemas.microsoft.com/office/drawing/2014/main" val="622923342"/>
                        </a:ext>
                      </a:extLst>
                    </a:gridCol>
                    <a:gridCol w="574770">
                      <a:extLst>
                        <a:ext uri="{9D8B030D-6E8A-4147-A177-3AD203B41FA5}">
                          <a16:colId xmlns:a16="http://schemas.microsoft.com/office/drawing/2014/main" val="1691278547"/>
                        </a:ext>
                      </a:extLst>
                    </a:gridCol>
                    <a:gridCol w="574770">
                      <a:extLst>
                        <a:ext uri="{9D8B030D-6E8A-4147-A177-3AD203B41FA5}">
                          <a16:colId xmlns:a16="http://schemas.microsoft.com/office/drawing/2014/main" val="2865136917"/>
                        </a:ext>
                      </a:extLst>
                    </a:gridCol>
                    <a:gridCol w="574770">
                      <a:extLst>
                        <a:ext uri="{9D8B030D-6E8A-4147-A177-3AD203B41FA5}">
                          <a16:colId xmlns:a16="http://schemas.microsoft.com/office/drawing/2014/main" val="1757725100"/>
                        </a:ext>
                      </a:extLst>
                    </a:gridCol>
                  </a:tblGrid>
                  <a:tr h="569285">
                    <a:tc>
                      <a:txBody>
                        <a:bodyPr/>
                        <a:lstStyle/>
                        <a:p>
                          <a:pPr algn="ctr"/>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cs typeface="Times" panose="02020603050405020304" pitchFamily="18" charset="0"/>
                                  </a:rPr>
                                  <m:t>𝐸</m:t>
                                </m:r>
                              </m:oMath>
                            </m:oMathPara>
                          </a14:m>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400" b="0" kern="1200" dirty="0">
                              <a:solidFill>
                                <a:srgbClr val="FF0000"/>
                              </a:solidFill>
                              <a:latin typeface="Times" panose="02020603050405020304" pitchFamily="18" charset="0"/>
                              <a:ea typeface="+mn-ea"/>
                              <a:cs typeface="Times" panose="02020603050405020304" pitchFamily="18" charset="0"/>
                            </a:rPr>
                            <a:t>1</a:t>
                          </a:r>
                          <a:endParaRPr lang="zh-TW" altLang="en-US" sz="2400" b="0" kern="1200" dirty="0">
                            <a:solidFill>
                              <a:srgbClr val="FF0000"/>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268191"/>
                      </a:ext>
                    </a:extLst>
                  </a:tr>
                </a:tbl>
              </a:graphicData>
            </a:graphic>
          </p:graphicFrame>
        </mc:Choice>
        <mc:Fallback xmlns="">
          <p:graphicFrame>
            <p:nvGraphicFramePr>
              <p:cNvPr id="5" name="表格 4">
                <a:extLst>
                  <a:ext uri="{FF2B5EF4-FFF2-40B4-BE49-F238E27FC236}">
                    <a16:creationId xmlns:a16="http://schemas.microsoft.com/office/drawing/2014/main" id="{0EF2E7A7-D05A-4DA1-A02B-9E0A402FCDB8}"/>
                  </a:ext>
                </a:extLst>
              </p:cNvPr>
              <p:cNvGraphicFramePr>
                <a:graphicFrameLocks noGrp="1"/>
              </p:cNvGraphicFramePr>
              <p:nvPr>
                <p:extLst>
                  <p:ext uri="{D42A27DB-BD31-4B8C-83A1-F6EECF244321}">
                    <p14:modId xmlns:p14="http://schemas.microsoft.com/office/powerpoint/2010/main" val="2712889276"/>
                  </p:ext>
                </p:extLst>
              </p:nvPr>
            </p:nvGraphicFramePr>
            <p:xfrm>
              <a:off x="6553750" y="4341814"/>
              <a:ext cx="4599390" cy="569285"/>
            </p:xfrm>
            <a:graphic>
              <a:graphicData uri="http://schemas.openxmlformats.org/drawingml/2006/table">
                <a:tbl>
                  <a:tblPr firstRow="1" bandRow="1">
                    <a:tableStyleId>{5C22544A-7EE6-4342-B048-85BDC9FD1C3A}</a:tableStyleId>
                  </a:tblPr>
                  <a:tblGrid>
                    <a:gridCol w="576000">
                      <a:extLst>
                        <a:ext uri="{9D8B030D-6E8A-4147-A177-3AD203B41FA5}">
                          <a16:colId xmlns:a16="http://schemas.microsoft.com/office/drawing/2014/main" val="1109866774"/>
                        </a:ext>
                      </a:extLst>
                    </a:gridCol>
                    <a:gridCol w="574770">
                      <a:extLst>
                        <a:ext uri="{9D8B030D-6E8A-4147-A177-3AD203B41FA5}">
                          <a16:colId xmlns:a16="http://schemas.microsoft.com/office/drawing/2014/main" val="2152951612"/>
                        </a:ext>
                      </a:extLst>
                    </a:gridCol>
                    <a:gridCol w="574770">
                      <a:extLst>
                        <a:ext uri="{9D8B030D-6E8A-4147-A177-3AD203B41FA5}">
                          <a16:colId xmlns:a16="http://schemas.microsoft.com/office/drawing/2014/main" val="126681384"/>
                        </a:ext>
                      </a:extLst>
                    </a:gridCol>
                    <a:gridCol w="574770">
                      <a:extLst>
                        <a:ext uri="{9D8B030D-6E8A-4147-A177-3AD203B41FA5}">
                          <a16:colId xmlns:a16="http://schemas.microsoft.com/office/drawing/2014/main" val="3189032265"/>
                        </a:ext>
                      </a:extLst>
                    </a:gridCol>
                    <a:gridCol w="574770">
                      <a:extLst>
                        <a:ext uri="{9D8B030D-6E8A-4147-A177-3AD203B41FA5}">
                          <a16:colId xmlns:a16="http://schemas.microsoft.com/office/drawing/2014/main" val="622923342"/>
                        </a:ext>
                      </a:extLst>
                    </a:gridCol>
                    <a:gridCol w="574770">
                      <a:extLst>
                        <a:ext uri="{9D8B030D-6E8A-4147-A177-3AD203B41FA5}">
                          <a16:colId xmlns:a16="http://schemas.microsoft.com/office/drawing/2014/main" val="1691278547"/>
                        </a:ext>
                      </a:extLst>
                    </a:gridCol>
                    <a:gridCol w="574770">
                      <a:extLst>
                        <a:ext uri="{9D8B030D-6E8A-4147-A177-3AD203B41FA5}">
                          <a16:colId xmlns:a16="http://schemas.microsoft.com/office/drawing/2014/main" val="2865136917"/>
                        </a:ext>
                      </a:extLst>
                    </a:gridCol>
                    <a:gridCol w="574770">
                      <a:extLst>
                        <a:ext uri="{9D8B030D-6E8A-4147-A177-3AD203B41FA5}">
                          <a16:colId xmlns:a16="http://schemas.microsoft.com/office/drawing/2014/main" val="1757725100"/>
                        </a:ext>
                      </a:extLst>
                    </a:gridCol>
                  </a:tblGrid>
                  <a:tr h="569285">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53" t="-1064" r="-696842" b="-13830"/>
                          </a:stretch>
                        </a:blip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400" b="0" kern="1200" dirty="0">
                              <a:solidFill>
                                <a:srgbClr val="FF0000"/>
                              </a:solidFill>
                              <a:latin typeface="Times" panose="02020603050405020304" pitchFamily="18" charset="0"/>
                              <a:ea typeface="+mn-ea"/>
                              <a:cs typeface="Times" panose="02020603050405020304" pitchFamily="18" charset="0"/>
                            </a:rPr>
                            <a:t>1</a:t>
                          </a:r>
                          <a:endParaRPr lang="zh-TW" altLang="en-US" sz="2400" b="0" kern="1200" dirty="0">
                            <a:solidFill>
                              <a:srgbClr val="FF0000"/>
                            </a:solidFill>
                            <a:latin typeface="Times" panose="02020603050405020304" pitchFamily="18" charset="0"/>
                            <a:ea typeface="+mn-ea"/>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268191"/>
                      </a:ext>
                    </a:extLst>
                  </a:tr>
                </a:tbl>
              </a:graphicData>
            </a:graphic>
          </p:graphicFrame>
        </mc:Fallback>
      </mc:AlternateContent>
    </p:spTree>
    <p:extLst>
      <p:ext uri="{BB962C8B-B14F-4D97-AF65-F5344CB8AC3E}">
        <p14:creationId xmlns:p14="http://schemas.microsoft.com/office/powerpoint/2010/main" val="13334780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Time Complexity</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9</a:t>
            </a:fld>
            <a:endParaRPr kumimoji="1" lang="zh-TW" altLang="en-US" dirty="0"/>
          </a:p>
        </p:txBody>
      </p:sp>
      <mc:AlternateContent xmlns:mc="http://schemas.openxmlformats.org/markup-compatibility/2006">
        <mc:Choice xmlns:a14="http://schemas.microsoft.com/office/drawing/2010/main" Requires="a14">
          <p:sp>
            <p:nvSpPr>
              <p:cNvPr id="5" name="文字方塊 4">
                <a:extLst>
                  <a:ext uri="{FF2B5EF4-FFF2-40B4-BE49-F238E27FC236}">
                    <a16:creationId xmlns:a16="http://schemas.microsoft.com/office/drawing/2014/main" id="{A5A7D3B6-7359-441B-AB5E-314EC32E34DE}"/>
                  </a:ext>
                </a:extLst>
              </p:cNvPr>
              <p:cNvSpPr txBox="1"/>
              <p:nvPr/>
            </p:nvSpPr>
            <p:spPr>
              <a:xfrm>
                <a:off x="838199" y="1691866"/>
                <a:ext cx="10515601" cy="113396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altLang="zh-TW" sz="2400" dirty="0">
                    <a:latin typeface="Times" panose="02020603050405020304" pitchFamily="18" charset="0"/>
                    <a:cs typeface="Times" panose="02020603050405020304" pitchFamily="18" charset="0"/>
                  </a:rPr>
                  <a:t>Total algorithm: O</a:t>
                </a:r>
                <a14:m>
                  <m:oMath xmlns:m="http://schemas.openxmlformats.org/officeDocument/2006/math">
                    <m:r>
                      <a:rPr lang="en-US" altLang="zh-TW" sz="2400" i="1" dirty="0" smtClean="0">
                        <a:latin typeface="Cambria Math" panose="02040503050406030204" pitchFamily="18" charset="0"/>
                        <a:cs typeface="Times" panose="02020603050405020304" pitchFamily="18" charset="0"/>
                      </a:rPr>
                      <m:t>(</m:t>
                    </m:r>
                    <m:r>
                      <a:rPr lang="en-US" altLang="zh-TW" sz="2400" b="0" i="1" dirty="0" smtClean="0">
                        <a:latin typeface="Cambria Math" panose="02040503050406030204" pitchFamily="18" charset="0"/>
                        <a:cs typeface="Times" panose="02020603050405020304" pitchFamily="18" charset="0"/>
                      </a:rPr>
                      <m:t>𝑛𝑚</m:t>
                    </m:r>
                    <m:r>
                      <a:rPr lang="en-US" altLang="zh-TW" sz="2400" b="0" i="1" dirty="0" smtClean="0">
                        <a:latin typeface="Cambria Math" panose="02040503050406030204" pitchFamily="18" charset="0"/>
                        <a:cs typeface="Times" panose="02020603050405020304" pitchFamily="18" charset="0"/>
                      </a:rPr>
                      <m:t>)</m:t>
                    </m:r>
                  </m:oMath>
                </a14:m>
                <a:r>
                  <a:rPr lang="zh-TW" altLang="en-US" sz="2400" dirty="0">
                    <a:latin typeface="Times" panose="02020603050405020304" pitchFamily="18" charset="0"/>
                    <a:cs typeface="Times" panose="02020603050405020304" pitchFamily="18" charset="0"/>
                  </a:rPr>
                  <a:t> </a:t>
                </a:r>
                <a:r>
                  <a:rPr lang="en-US" altLang="zh-TW" sz="2400" dirty="0">
                    <a:latin typeface="Times" panose="02020603050405020304" pitchFamily="18" charset="0"/>
                    <a:cs typeface="Times" panose="02020603050405020304" pitchFamily="18" charset="0"/>
                  </a:rPr>
                  <a:t>in the worst case</a:t>
                </a:r>
              </a:p>
              <a:p>
                <a:pPr marL="342900" indent="-342900">
                  <a:lnSpc>
                    <a:spcPct val="150000"/>
                  </a:lnSpc>
                  <a:buFont typeface="Arial" panose="020B0604020202020204" pitchFamily="34" charset="0"/>
                  <a:buChar char="•"/>
                </a:pPr>
                <a:r>
                  <a:rPr lang="en-US" altLang="zh-TW" sz="2400" dirty="0">
                    <a:latin typeface="Times" panose="02020603050405020304" pitchFamily="18" charset="0"/>
                    <a:cs typeface="Times" panose="02020603050405020304" pitchFamily="18" charset="0"/>
                  </a:rPr>
                  <a:t>Preprocessing: O</a:t>
                </a:r>
                <a14:m>
                  <m:oMath xmlns:m="http://schemas.openxmlformats.org/officeDocument/2006/math">
                    <m:r>
                      <a:rPr lang="en-US" altLang="zh-TW" sz="2400" i="1" dirty="0" smtClean="0">
                        <a:latin typeface="Cambria Math" panose="02040503050406030204" pitchFamily="18" charset="0"/>
                        <a:cs typeface="Times" panose="02020603050405020304" pitchFamily="18" charset="0"/>
                      </a:rPr>
                      <m:t>(</m:t>
                    </m:r>
                    <m:r>
                      <a:rPr lang="en-US" altLang="zh-TW" sz="2400" b="0" i="1" dirty="0" smtClean="0">
                        <a:latin typeface="Cambria Math" panose="02040503050406030204" pitchFamily="18" charset="0"/>
                        <a:cs typeface="Times" panose="02020603050405020304" pitchFamily="18" charset="0"/>
                      </a:rPr>
                      <m:t>𝑚</m:t>
                    </m:r>
                    <m:func>
                      <m:funcPr>
                        <m:ctrlPr>
                          <a:rPr lang="en-US" altLang="zh-TW" sz="2400" b="0" i="1" dirty="0" smtClean="0">
                            <a:latin typeface="Cambria Math" panose="02040503050406030204" pitchFamily="18" charset="0"/>
                            <a:cs typeface="Times" panose="02020603050405020304" pitchFamily="18" charset="0"/>
                          </a:rPr>
                        </m:ctrlPr>
                      </m:funcPr>
                      <m:fName>
                        <m:r>
                          <m:rPr>
                            <m:sty m:val="p"/>
                          </m:rPr>
                          <a:rPr lang="en-US" altLang="zh-TW" sz="2400" b="0" i="0" dirty="0" smtClean="0">
                            <a:latin typeface="Cambria Math" panose="02040503050406030204" pitchFamily="18" charset="0"/>
                            <a:cs typeface="Times" panose="02020603050405020304" pitchFamily="18" charset="0"/>
                          </a:rPr>
                          <m:t>log</m:t>
                        </m:r>
                      </m:fName>
                      <m:e>
                        <m:r>
                          <a:rPr lang="en-US" altLang="zh-TW" sz="2400" b="0" i="1" dirty="0" smtClean="0">
                            <a:latin typeface="Cambria Math" panose="02040503050406030204" pitchFamily="18" charset="0"/>
                            <a:cs typeface="Times" panose="02020603050405020304" pitchFamily="18" charset="0"/>
                          </a:rPr>
                          <m:t>𝑚</m:t>
                        </m:r>
                      </m:e>
                    </m:func>
                    <m:r>
                      <a:rPr lang="en-US" altLang="zh-TW" sz="2400" i="1" dirty="0" smtClean="0">
                        <a:latin typeface="Cambria Math" panose="02040503050406030204" pitchFamily="18" charset="0"/>
                        <a:cs typeface="Times" panose="02020603050405020304" pitchFamily="18" charset="0"/>
                      </a:rPr>
                      <m:t>)</m:t>
                    </m:r>
                  </m:oMath>
                </a14:m>
                <a:endParaRPr lang="en-US" altLang="zh-TW" sz="2400" dirty="0">
                  <a:latin typeface="Times" panose="02020603050405020304" pitchFamily="18" charset="0"/>
                  <a:cs typeface="Times" panose="02020603050405020304" pitchFamily="18" charset="0"/>
                </a:endParaRPr>
              </a:p>
            </p:txBody>
          </p:sp>
        </mc:Choice>
        <mc:Fallback>
          <p:sp>
            <p:nvSpPr>
              <p:cNvPr id="5" name="文字方塊 4">
                <a:extLst>
                  <a:ext uri="{FF2B5EF4-FFF2-40B4-BE49-F238E27FC236}">
                    <a16:creationId xmlns:a16="http://schemas.microsoft.com/office/drawing/2014/main" id="{A5A7D3B6-7359-441B-AB5E-314EC32E34DE}"/>
                  </a:ext>
                </a:extLst>
              </p:cNvPr>
              <p:cNvSpPr txBox="1">
                <a:spLocks noRot="1" noChangeAspect="1" noMove="1" noResize="1" noEditPoints="1" noAdjustHandles="1" noChangeArrowheads="1" noChangeShapeType="1" noTextEdit="1"/>
              </p:cNvSpPr>
              <p:nvPr/>
            </p:nvSpPr>
            <p:spPr>
              <a:xfrm>
                <a:off x="838199" y="1691866"/>
                <a:ext cx="10515601" cy="1133965"/>
              </a:xfrm>
              <a:prstGeom prst="rect">
                <a:avLst/>
              </a:prstGeom>
              <a:blipFill>
                <a:blip r:embed="rId3"/>
                <a:stretch>
                  <a:fillRect l="-753" b="-1182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7303448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Experiments</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10</a:t>
            </a:fld>
            <a:endParaRPr kumimoji="1" lang="zh-TW" altLang="en-US" dirty="0"/>
          </a:p>
        </p:txBody>
      </p:sp>
      <p:pic>
        <p:nvPicPr>
          <p:cNvPr id="6" name="圖片 5">
            <a:extLst>
              <a:ext uri="{FF2B5EF4-FFF2-40B4-BE49-F238E27FC236}">
                <a16:creationId xmlns:a16="http://schemas.microsoft.com/office/drawing/2014/main" id="{998D6B8C-B589-4BE7-81A8-8225532CD663}"/>
              </a:ext>
            </a:extLst>
          </p:cNvPr>
          <p:cNvPicPr>
            <a:picLocks noChangeAspect="1"/>
          </p:cNvPicPr>
          <p:nvPr/>
        </p:nvPicPr>
        <p:blipFill>
          <a:blip r:embed="rId3"/>
          <a:stretch>
            <a:fillRect/>
          </a:stretch>
        </p:blipFill>
        <p:spPr>
          <a:xfrm>
            <a:off x="4199939" y="136525"/>
            <a:ext cx="6821333" cy="6584950"/>
          </a:xfrm>
          <a:prstGeom prst="rect">
            <a:avLst/>
          </a:prstGeom>
        </p:spPr>
      </p:pic>
    </p:spTree>
    <p:extLst>
      <p:ext uri="{BB962C8B-B14F-4D97-AF65-F5344CB8AC3E}">
        <p14:creationId xmlns:p14="http://schemas.microsoft.com/office/powerpoint/2010/main" val="2882579935"/>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3_chenya" id="{B41F7EED-78E0-1445-87EF-5AF1DA6E0F58}" vid="{D32384A1-BBDA-0D4F-B76D-4F110ED03311}"/>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佈景主題</Template>
  <TotalTime>7374</TotalTime>
  <Words>572</Words>
  <Application>Microsoft Office PowerPoint</Application>
  <PresentationFormat>寬螢幕</PresentationFormat>
  <Paragraphs>292</Paragraphs>
  <Slides>10</Slides>
  <Notes>9</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10</vt:i4>
      </vt:variant>
    </vt:vector>
  </HeadingPairs>
  <TitlesOfParts>
    <vt:vector size="17" baseType="lpstr">
      <vt:lpstr>Arial</vt:lpstr>
      <vt:lpstr>Calibri</vt:lpstr>
      <vt:lpstr>Calibri Light</vt:lpstr>
      <vt:lpstr>Cambria Math</vt:lpstr>
      <vt:lpstr>Times</vt:lpstr>
      <vt:lpstr>Times New Roman</vt:lpstr>
      <vt:lpstr>Office 佈景主題</vt:lpstr>
      <vt:lpstr>Order-Preserving Matching with Filtration</vt:lpstr>
      <vt:lpstr>Abstract</vt:lpstr>
      <vt:lpstr>Order-preserving matching</vt:lpstr>
      <vt:lpstr>Filtration</vt:lpstr>
      <vt:lpstr>Verification</vt:lpstr>
      <vt:lpstr>Mismatch</vt:lpstr>
      <vt:lpstr>Mismatch</vt:lpstr>
      <vt:lpstr>Mismatch</vt:lpstr>
      <vt:lpstr>Time Complexity</vt:lpstr>
      <vt:lpstr>Experiments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M113040012</dc:creator>
  <cp:lastModifiedBy>張紋瑜</cp:lastModifiedBy>
  <cp:revision>232</cp:revision>
  <dcterms:created xsi:type="dcterms:W3CDTF">2023-07-01T04:19:29Z</dcterms:created>
  <dcterms:modified xsi:type="dcterms:W3CDTF">2024-03-27T09:18:19Z</dcterms:modified>
</cp:coreProperties>
</file>