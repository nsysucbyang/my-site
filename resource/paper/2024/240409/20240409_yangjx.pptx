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317" r:id="rId4"/>
    <p:sldId id="335" r:id="rId5"/>
    <p:sldId id="341" r:id="rId6"/>
    <p:sldId id="342" r:id="rId7"/>
    <p:sldId id="344" r:id="rId8"/>
    <p:sldId id="346" r:id="rId9"/>
    <p:sldId id="347" r:id="rId10"/>
    <p:sldId id="269"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楊景翔" initials="楊" lastIdx="18" clrIdx="0">
    <p:extLst>
      <p:ext uri="{19B8F6BF-5375-455C-9EA6-DF929625EA0E}">
        <p15:presenceInfo xmlns:p15="http://schemas.microsoft.com/office/powerpoint/2012/main" userId="S::1082941@ncyu.edu.tw::045835ec-170e-42bc-81c6-09db8fcf29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34" autoAdjust="0"/>
    <p:restoredTop sz="96370" autoAdjust="0"/>
  </p:normalViewPr>
  <p:slideViewPr>
    <p:cSldViewPr snapToGrid="0">
      <p:cViewPr varScale="1">
        <p:scale>
          <a:sx n="86" d="100"/>
          <a:sy n="86" d="100"/>
        </p:scale>
        <p:origin x="7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4-08T23:18:42.244" idx="18">
    <p:pos x="6458" y="2267"/>
    <p:text>些方法需要以某種方式模擬硬體設備，但硬體設備會推陳出新，且不同硬體有不同特性，所以要能在不同硬體上運行是有困難的</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7BF28-E50E-4388-A3E5-4D39E480B765}" type="datetimeFigureOut">
              <a:rPr lang="zh-TW" altLang="en-US" smtClean="0"/>
              <a:t>2024/4/9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711A4-5F0E-4DF4-937D-81F030A1E9AA}" type="slidenum">
              <a:rPr lang="zh-TW" altLang="en-US" smtClean="0"/>
              <a:t>‹#›</a:t>
            </a:fld>
            <a:endParaRPr lang="zh-TW" altLang="en-US"/>
          </a:p>
        </p:txBody>
      </p:sp>
    </p:spTree>
    <p:extLst>
      <p:ext uri="{BB962C8B-B14F-4D97-AF65-F5344CB8AC3E}">
        <p14:creationId xmlns:p14="http://schemas.microsoft.com/office/powerpoint/2010/main" val="200425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CA8AC1E3-A6AB-47A3-8E64-C9F1D5D81A55}" type="datetime1">
              <a:rPr lang="zh-TW" altLang="en-US" smtClean="0"/>
              <a:t>2024/4/9</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08FE8941-C9FC-4970-9D6F-BA72DC037752}" type="datetime1">
              <a:rPr lang="zh-TW" altLang="en-US" smtClean="0"/>
              <a:t>2024/4/9</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2039AE5F-5202-44CB-B5B5-2322DF70600B}" type="datetime1">
              <a:rPr lang="zh-TW" altLang="en-US" smtClean="0"/>
              <a:t>2024/4/9</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0C3542C7-36FE-4BA7-9A3F-4A6D1DADBE08}" type="datetime1">
              <a:rPr lang="zh-TW" altLang="en-US" smtClean="0"/>
              <a:t>2024/4/9</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6719B4E3-C1A0-407D-A8C4-223029942A11}" type="datetime1">
              <a:rPr lang="zh-TW" altLang="en-US" smtClean="0"/>
              <a:t>2024/4/9</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610827EF-4BCA-4B2D-96BC-800DE09072A1}" type="datetime1">
              <a:rPr lang="zh-TW" altLang="en-US" smtClean="0"/>
              <a:t>2024/4/9</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F1579947-85DC-4C95-80F0-0C9A313E1A00}" type="datetime1">
              <a:rPr lang="zh-TW" altLang="en-US" smtClean="0"/>
              <a:t>2024/4/9</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E504CBE8-F2E5-4D8C-86BB-4F11DA33B21D}" type="datetime1">
              <a:rPr lang="zh-TW" altLang="en-US" smtClean="0"/>
              <a:t>2024/4/9</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D81B16DB-9686-447D-9D68-9652B275986F}" type="datetime1">
              <a:rPr lang="zh-TW" altLang="en-US" smtClean="0"/>
              <a:t>2024/4/9</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5B06E588-B95B-4AB0-81F5-2FBB811781EB}" type="datetime1">
              <a:rPr lang="zh-TW" altLang="en-US" smtClean="0"/>
              <a:t>2024/4/9</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6FF611F3-4FA6-41B2-81A4-6CC88E543A04}" type="datetime1">
              <a:rPr lang="zh-TW" altLang="en-US" smtClean="0"/>
              <a:t>2024/4/9</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CC5AE-261C-4E50-A59B-D2A2B1270A69}" type="datetime1">
              <a:rPr lang="zh-TW" altLang="en-US" smtClean="0"/>
              <a:t>2024/4/9</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81162" y="136525"/>
            <a:ext cx="10829676" cy="2387600"/>
          </a:xfrm>
        </p:spPr>
        <p:txBody>
          <a:bodyPr>
            <a:noAutofit/>
          </a:bodyPr>
          <a:lstStyle/>
          <a:p>
            <a:r>
              <a:rPr lang="en-US" altLang="zh-TW" sz="4800" dirty="0">
                <a:latin typeface="Times New Roman" panose="02020603050405020304" pitchFamily="18" charset="0"/>
                <a:cs typeface="Times New Roman" panose="02020603050405020304" pitchFamily="18" charset="0"/>
              </a:rPr>
              <a:t>Dude, is my code constant time?</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2928597"/>
            <a:ext cx="9144000" cy="1655762"/>
          </a:xfrm>
        </p:spPr>
        <p:txBody>
          <a:bodyPr/>
          <a:lstStyle/>
          <a:p>
            <a:r>
              <a:rPr lang="en-US" altLang="zh-TW" b="0" i="0" dirty="0" err="1">
                <a:solidFill>
                  <a:srgbClr val="222222"/>
                </a:solidFill>
                <a:effectLst/>
                <a:latin typeface="Times New Roman" panose="02020603050405020304" pitchFamily="18" charset="0"/>
                <a:cs typeface="Times New Roman" panose="02020603050405020304" pitchFamily="18" charset="0"/>
              </a:rPr>
              <a:t>Reparaz</a:t>
            </a:r>
            <a:r>
              <a:rPr lang="en-US" altLang="zh-TW" b="0" i="0" dirty="0">
                <a:solidFill>
                  <a:srgbClr val="222222"/>
                </a:solidFill>
                <a:effectLst/>
                <a:latin typeface="Times New Roman" panose="02020603050405020304" pitchFamily="18" charset="0"/>
                <a:cs typeface="Times New Roman" panose="02020603050405020304" pitchFamily="18" charset="0"/>
              </a:rPr>
              <a:t>, Oscar, Josep </a:t>
            </a:r>
            <a:r>
              <a:rPr lang="en-US" altLang="zh-TW" b="0" i="0" dirty="0" err="1">
                <a:solidFill>
                  <a:srgbClr val="222222"/>
                </a:solidFill>
                <a:effectLst/>
                <a:latin typeface="Times New Roman" panose="02020603050405020304" pitchFamily="18" charset="0"/>
                <a:cs typeface="Times New Roman" panose="02020603050405020304" pitchFamily="18" charset="0"/>
              </a:rPr>
              <a:t>Balasch</a:t>
            </a:r>
            <a:r>
              <a:rPr lang="en-US" altLang="zh-TW" b="0" i="0" dirty="0">
                <a:solidFill>
                  <a:srgbClr val="222222"/>
                </a:solidFill>
                <a:effectLst/>
                <a:latin typeface="Times New Roman" panose="02020603050405020304" pitchFamily="18" charset="0"/>
                <a:cs typeface="Times New Roman" panose="02020603050405020304" pitchFamily="18" charset="0"/>
              </a:rPr>
              <a:t>, and Ingrid </a:t>
            </a:r>
            <a:r>
              <a:rPr lang="en-US" altLang="zh-TW" b="0" i="0" dirty="0" err="1">
                <a:solidFill>
                  <a:srgbClr val="222222"/>
                </a:solidFill>
                <a:effectLst/>
                <a:latin typeface="Times New Roman" panose="02020603050405020304" pitchFamily="18" charset="0"/>
                <a:cs typeface="Times New Roman" panose="02020603050405020304" pitchFamily="18" charset="0"/>
              </a:rPr>
              <a:t>Verbauwhede</a:t>
            </a:r>
            <a:r>
              <a:rPr lang="en-US" altLang="zh-TW" b="0" i="0" dirty="0">
                <a:solidFill>
                  <a:srgbClr val="222222"/>
                </a:solidFill>
                <a:effectLst/>
                <a:latin typeface="Times New Roman" panose="02020603050405020304" pitchFamily="18" charset="0"/>
                <a:cs typeface="Times New Roman" panose="02020603050405020304" pitchFamily="18" charset="0"/>
              </a:rPr>
              <a:t>. </a:t>
            </a:r>
          </a:p>
          <a:p>
            <a:r>
              <a:rPr lang="en-US" altLang="zh-TW" b="0" dirty="0">
                <a:solidFill>
                  <a:srgbClr val="222222"/>
                </a:solidFill>
                <a:effectLst/>
                <a:latin typeface="Times New Roman" panose="02020603050405020304" pitchFamily="18" charset="0"/>
                <a:cs typeface="Times New Roman" panose="02020603050405020304" pitchFamily="18" charset="0"/>
              </a:rPr>
              <a:t>Design, Automation &amp; Test in Europe Conference &amp; Exhibition (DATE), </a:t>
            </a:r>
            <a:r>
              <a:rPr lang="en-US" altLang="zh-TW" b="0" i="1" dirty="0">
                <a:solidFill>
                  <a:srgbClr val="222222"/>
                </a:solidFill>
                <a:effectLst/>
                <a:latin typeface="Times New Roman" panose="02020603050405020304" pitchFamily="18" charset="0"/>
                <a:cs typeface="Times New Roman" panose="02020603050405020304" pitchFamily="18" charset="0"/>
              </a:rPr>
              <a:t>2017</a:t>
            </a:r>
            <a:r>
              <a:rPr lang="en-US" altLang="zh-TW" b="0" i="0" dirty="0">
                <a:solidFill>
                  <a:srgbClr val="222222"/>
                </a:solidFill>
                <a:effectLst/>
                <a:latin typeface="Times New Roman" panose="02020603050405020304" pitchFamily="18" charset="0"/>
                <a:cs typeface="Times New Roman" panose="02020603050405020304" pitchFamily="18" charset="0"/>
              </a:rPr>
              <a:t>. IEEE, 2017.</a:t>
            </a:r>
            <a:endParaRPr lang="zh-TW" altLang="en-US" dirty="0">
              <a:solidFill>
                <a:srgbClr val="333333"/>
              </a:solidFill>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Jing-Xiang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Yang</a:t>
            </a:r>
          </a:p>
          <a:p>
            <a:r>
              <a:rPr lang="en-US" altLang="zh-TW" sz="2400" dirty="0">
                <a:latin typeface="Times New Roman" panose="02020603050405020304" pitchFamily="18" charset="0"/>
                <a:cs typeface="Times New Roman" panose="02020603050405020304" pitchFamily="18" charset="0"/>
              </a:rPr>
              <a:t>Date : </a:t>
            </a:r>
            <a:r>
              <a:rPr lang="en-US" altLang="zh-TW" sz="2400" dirty="0">
                <a:solidFill>
                  <a:srgbClr val="202124"/>
                </a:solidFill>
                <a:latin typeface="Times New Roman" panose="02020603050405020304" pitchFamily="18" charset="0"/>
                <a:cs typeface="Times New Roman" panose="02020603050405020304" pitchFamily="18" charset="0"/>
              </a:rPr>
              <a:t>Apr</a:t>
            </a:r>
            <a:r>
              <a:rPr lang="en-US" altLang="zh-TW" sz="2400" b="0" i="0" dirty="0">
                <a:solidFill>
                  <a:srgbClr val="202124"/>
                </a:solidFill>
                <a:effectLst/>
                <a:latin typeface="Times New Roman" panose="02020603050405020304" pitchFamily="18" charset="0"/>
                <a:cs typeface="Times New Roman" panose="02020603050405020304" pitchFamily="18" charset="0"/>
              </a:rPr>
              <a:t>. 9, </a:t>
            </a:r>
            <a:r>
              <a:rPr lang="en-US" altLang="zh-TW" sz="2400" dirty="0">
                <a:latin typeface="Times New Roman" panose="02020603050405020304" pitchFamily="18" charset="0"/>
                <a:cs typeface="Times New Roman" panose="02020603050405020304" pitchFamily="18" charset="0"/>
              </a:rPr>
              <a:t>2024</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E74A8C-340A-9F93-5512-3E18A247C87B}"/>
              </a:ext>
            </a:extLst>
          </p:cNvPr>
          <p:cNvSpPr>
            <a:spLocks noGrp="1"/>
          </p:cNvSpPr>
          <p:nvPr>
            <p:ph type="sldNum" sz="quarter" idx="12"/>
          </p:nvPr>
        </p:nvSpPr>
        <p:spPr/>
        <p:txBody>
          <a:bodyPr/>
          <a:lstStyle/>
          <a:p>
            <a:fld id="{EFAEC03B-316C-4507-8207-D997BB28EB64}" type="slidenum">
              <a:rPr lang="zh-TW" altLang="en-US" smtClean="0"/>
              <a:t>1</a:t>
            </a:fld>
            <a:endParaRPr lang="zh-TW" altLang="en-US" dirty="0"/>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This paper introduces </a:t>
            </a:r>
            <a:r>
              <a:rPr lang="en-US" altLang="zh-TW" sz="2400" dirty="0" err="1">
                <a:latin typeface="Times New Roman" panose="02020603050405020304" pitchFamily="18" charset="0"/>
                <a:cs typeface="Times New Roman" panose="02020603050405020304" pitchFamily="18" charset="0"/>
              </a:rPr>
              <a:t>dudect</a:t>
            </a:r>
            <a:r>
              <a:rPr lang="en-US" altLang="zh-TW" sz="2400" dirty="0">
                <a:latin typeface="Times New Roman" panose="02020603050405020304" pitchFamily="18" charset="0"/>
                <a:cs typeface="Times New Roman" panose="02020603050405020304" pitchFamily="18" charset="0"/>
              </a:rPr>
              <a:t>: a tool to assess whether a piece of code runs in constant time or not on a given platform. We base our approach on leakage detection techniques, resulting in a very compact, easy to use and easy to maintain tool. Our methodology fits in around 300 lines of C and runs on the target platform. The approach is substantially different from previous solutions. Contrary to others, our solution requires no modeling of hardware behavior. Our solution can be used in black-box testing, yet benefits from implementation details if available. We show the effectiveness of our approach by detecting several variable-time cryptographic implementations. We place a prototype implementation of </a:t>
            </a:r>
            <a:r>
              <a:rPr lang="en-US" altLang="zh-TW" sz="2400" dirty="0" err="1">
                <a:latin typeface="Times New Roman" panose="02020603050405020304" pitchFamily="18" charset="0"/>
                <a:cs typeface="Times New Roman" panose="02020603050405020304" pitchFamily="18" charset="0"/>
              </a:rPr>
              <a:t>dudect</a:t>
            </a:r>
            <a:r>
              <a:rPr lang="en-US" altLang="zh-TW" sz="2400" dirty="0">
                <a:latin typeface="Times New Roman" panose="02020603050405020304" pitchFamily="18" charset="0"/>
                <a:cs typeface="Times New Roman" panose="02020603050405020304" pitchFamily="18" charset="0"/>
              </a:rPr>
              <a:t> in the public domain</a:t>
            </a:r>
            <a:r>
              <a:rPr lang="en-US" altLang="zh-TW" sz="1600" dirty="0"/>
              <a: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2</a:t>
            </a:fld>
            <a:endParaRPr lang="zh-TW" altLang="en-US"/>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err="1">
                <a:latin typeface="Times New Roman" panose="02020603050405020304" pitchFamily="18" charset="0"/>
                <a:cs typeface="Times New Roman" panose="02020603050405020304" pitchFamily="18" charset="0"/>
              </a:rPr>
              <a:t>Dudect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3</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09587" y="1826879"/>
            <a:ext cx="11127377" cy="5031121"/>
          </a:xfrm>
          <a:noFill/>
        </p:spPr>
        <p:txBody>
          <a:bodyPr wrap="square" rtlCol="0">
            <a:spAutoFit/>
          </a:bodyPr>
          <a:lstStyle/>
          <a:p>
            <a:r>
              <a:rPr lang="en-US" altLang="zh-TW" sz="2400" b="0" i="0" dirty="0">
                <a:effectLst/>
                <a:latin typeface="Times New Roman" panose="02020603050405020304" pitchFamily="18" charset="0"/>
                <a:cs typeface="Times New Roman" panose="02020603050405020304" pitchFamily="18" charset="0"/>
              </a:rPr>
              <a:t>Some supposed constant-time implementations turned out not to be.</a:t>
            </a:r>
          </a:p>
          <a:p>
            <a:pPr marL="0" indent="0">
              <a:buNone/>
            </a:pPr>
            <a:r>
              <a:rPr lang="en-US" altLang="zh-TW" sz="2400" dirty="0">
                <a:latin typeface="Times New Roman" panose="02020603050405020304" pitchFamily="18" charset="0"/>
                <a:cs typeface="Times New Roman" panose="02020603050405020304" pitchFamily="18" charset="0"/>
              </a:rPr>
              <a:t>   (This raises the possibility that they may be vulnerable to timing attacks</a:t>
            </a:r>
            <a:r>
              <a:rPr lang="en-US" altLang="zh-TW" sz="1100" b="0" i="0" dirty="0">
                <a:solidFill>
                  <a:srgbClr val="ECECEC"/>
                </a:solidFill>
                <a:effectLst/>
                <a:latin typeface="Söhne"/>
              </a:rPr>
              <a:t>.</a:t>
            </a:r>
            <a:r>
              <a:rPr lang="en-US" altLang="zh-TW" sz="2400" dirty="0">
                <a:latin typeface="Times New Roman" panose="02020603050405020304" pitchFamily="18" charset="0"/>
                <a:cs typeface="Times New Roman" panose="02020603050405020304" pitchFamily="18" charset="0"/>
              </a:rPr>
              <a:t>)</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There are several tools already for detection of variable time code</a:t>
            </a:r>
          </a:p>
          <a:p>
            <a:pPr marL="0" indent="0">
              <a:buNone/>
            </a:pPr>
            <a:r>
              <a:rPr lang="en-US" altLang="zh-TW" sz="2400" dirty="0">
                <a:latin typeface="Times New Roman" panose="02020603050405020304" pitchFamily="18" charset="0"/>
                <a:cs typeface="Times New Roman" panose="02020603050405020304" pitchFamily="18" charset="0"/>
              </a:rPr>
              <a:t>   (common drawback : these methods have to model somehow the hardware)</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err="1">
                <a:latin typeface="Times New Roman" panose="02020603050405020304" pitchFamily="18" charset="0"/>
                <a:cs typeface="Times New Roman" panose="02020603050405020304" pitchFamily="18" charset="0"/>
              </a:rPr>
              <a:t>Dudect</a:t>
            </a:r>
            <a:r>
              <a:rPr lang="en-US" altLang="zh-TW" sz="2400" dirty="0">
                <a:latin typeface="Times New Roman" panose="02020603050405020304" pitchFamily="18" charset="0"/>
                <a:cs typeface="Times New Roman" panose="02020603050405020304" pitchFamily="18" charset="0"/>
              </a:rPr>
              <a:t> rely on </a:t>
            </a:r>
            <a:r>
              <a:rPr lang="en-US" altLang="zh-TW" sz="2400" dirty="0">
                <a:solidFill>
                  <a:srgbClr val="FF0000"/>
                </a:solidFill>
                <a:latin typeface="Times New Roman" panose="02020603050405020304" pitchFamily="18" charset="0"/>
                <a:cs typeface="Times New Roman" panose="02020603050405020304" pitchFamily="18" charset="0"/>
              </a:rPr>
              <a:t>statistical analysis </a:t>
            </a:r>
            <a:r>
              <a:rPr lang="en-US" altLang="zh-TW" sz="2400" dirty="0">
                <a:latin typeface="Times New Roman" panose="02020603050405020304" pitchFamily="18" charset="0"/>
                <a:cs typeface="Times New Roman" panose="02020603050405020304" pitchFamily="18" charset="0"/>
              </a:rPr>
              <a:t>of execution timing</a:t>
            </a:r>
          </a:p>
          <a:p>
            <a:pPr marL="0" indent="0">
              <a:buNone/>
            </a:pPr>
            <a:r>
              <a:rPr lang="en-US" altLang="zh-TW" sz="2400" dirty="0">
                <a:latin typeface="Times New Roman" panose="02020603050405020304" pitchFamily="18" charset="0"/>
                <a:cs typeface="Times New Roman" panose="02020603050405020304" pitchFamily="18" charset="0"/>
              </a:rPr>
              <a:t>  (Measure execution time for two input data classes</a:t>
            </a:r>
            <a:r>
              <a:rPr lang="en-US" altLang="zh-TW" sz="1600" b="0" i="0" dirty="0">
                <a:solidFill>
                  <a:srgbClr val="ECECEC"/>
                </a:solidFill>
                <a:effectLst/>
                <a:latin typeface="Söhne"/>
              </a:rPr>
              <a:t>, </a:t>
            </a:r>
            <a:r>
              <a:rPr lang="en-US" altLang="zh-TW" sz="2400" dirty="0">
                <a:latin typeface="Times New Roman" panose="02020603050405020304" pitchFamily="18" charset="0"/>
                <a:cs typeface="Times New Roman" panose="02020603050405020304" pitchFamily="18" charset="0"/>
              </a:rPr>
              <a:t>then check their timing distributions)</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916076" y="2971800"/>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347676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Step 1: Measure execution time</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4</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64028" y="1847850"/>
            <a:ext cx="11179629" cy="4351338"/>
          </a:xfrm>
        </p:spPr>
        <p:txBody>
          <a:bodyPr/>
          <a:lstStyle/>
          <a:p>
            <a:r>
              <a:rPr lang="en-US" altLang="zh-TW" sz="2400" dirty="0">
                <a:latin typeface="Times New Roman" panose="02020603050405020304" pitchFamily="18" charset="0"/>
                <a:cs typeface="Times New Roman" panose="02020603050405020304" pitchFamily="18" charset="0"/>
              </a:rPr>
              <a:t>Tow classes of data</a:t>
            </a:r>
          </a:p>
          <a:p>
            <a:pPr marL="457200" indent="-457200">
              <a:buFont typeface="+mj-lt"/>
              <a:buAutoNum type="arabicPeriod"/>
            </a:pPr>
            <a:r>
              <a:rPr lang="en-US" altLang="zh-TW" sz="2400" dirty="0">
                <a:latin typeface="Times New Roman" panose="02020603050405020304" pitchFamily="18" charset="0"/>
                <a:cs typeface="Times New Roman" panose="02020603050405020304" pitchFamily="18" charset="0"/>
              </a:rPr>
              <a:t>All input data will be set to fixed values</a:t>
            </a:r>
          </a:p>
          <a:p>
            <a:pPr marL="457200" indent="-457200">
              <a:buFont typeface="+mj-lt"/>
              <a:buAutoNum type="arabicPeriod"/>
            </a:pPr>
            <a:r>
              <a:rPr lang="en-US" altLang="zh-TW" sz="2400" dirty="0">
                <a:latin typeface="Times New Roman" panose="02020603050405020304" pitchFamily="18" charset="0"/>
                <a:cs typeface="Times New Roman" panose="02020603050405020304" pitchFamily="18" charset="0"/>
              </a:rPr>
              <a:t>All input data will be generated randomly.</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1600" dirty="0"/>
          </a:p>
          <a:p>
            <a:pPr marL="0" indent="0">
              <a:buNone/>
            </a:pPr>
            <a:r>
              <a:rPr lang="en-US" altLang="zh-TW" sz="2400" dirty="0">
                <a:latin typeface="Times New Roman" panose="02020603050405020304" pitchFamily="18" charset="0"/>
                <a:cs typeface="Times New Roman" panose="02020603050405020304" pitchFamily="18" charset="0"/>
              </a:rPr>
              <a:t>Minimize the effect of environmental =&gt; each measurement corresponds to a randomly chosen class</a:t>
            </a:r>
          </a:p>
          <a:p>
            <a:pPr marL="0" indent="0">
              <a:buNone/>
            </a:pPr>
            <a:r>
              <a:rPr lang="en-US" altLang="zh-TW" sz="2400" dirty="0">
                <a:latin typeface="Times New Roman" panose="02020603050405020304" pitchFamily="18" charset="0"/>
                <a:cs typeface="Times New Roman" panose="02020603050405020304" pitchFamily="18" charset="0"/>
              </a:rPr>
              <a:t>   </a:t>
            </a: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167052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Step 2: Applying post-processing</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5</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64028" y="1847850"/>
            <a:ext cx="11527972" cy="4351338"/>
          </a:xfrm>
        </p:spPr>
        <p:txBody>
          <a:bodyPr/>
          <a:lstStyle/>
          <a:p>
            <a:r>
              <a:rPr lang="en-US" altLang="zh-TW" sz="2400" dirty="0">
                <a:latin typeface="Times New Roman" panose="02020603050405020304" pitchFamily="18" charset="0"/>
                <a:cs typeface="Times New Roman" panose="02020603050405020304" pitchFamily="18" charset="0"/>
              </a:rPr>
              <a:t>Cropping   </a:t>
            </a:r>
          </a:p>
          <a:p>
            <a:pPr marL="0" indent="0">
              <a:buNone/>
            </a:pPr>
            <a:r>
              <a:rPr lang="en-US" altLang="zh-TW" sz="2400" dirty="0">
                <a:latin typeface="Times New Roman" panose="02020603050405020304" pitchFamily="18" charset="0"/>
                <a:cs typeface="Times New Roman" panose="02020603050405020304" pitchFamily="18" charset="0"/>
              </a:rPr>
              <a:t>   External influences such as system interrupts may affect the recorded time.</a:t>
            </a:r>
          </a:p>
          <a:p>
            <a:pPr marL="0" indent="0">
              <a:buNone/>
            </a:pPr>
            <a:r>
              <a:rPr lang="en-US" altLang="zh-TW" sz="2400" dirty="0">
                <a:latin typeface="Times New Roman" panose="02020603050405020304" pitchFamily="18" charset="0"/>
                <a:cs typeface="Times New Roman" panose="02020603050405020304" pitchFamily="18" charset="0"/>
              </a:rPr>
              <a:t>            can include parts irrelevant to the experiment</a:t>
            </a:r>
            <a:endParaRPr lang="en-US" altLang="zh-TW" sz="1600" dirty="0">
              <a:solidFill>
                <a:srgbClr val="ECECEC"/>
              </a:solidFill>
              <a:latin typeface="Söhne"/>
              <a:cs typeface="Times New Roman" panose="02020603050405020304" pitchFamily="18" charset="0"/>
            </a:endParaRPr>
          </a:p>
          <a:p>
            <a:pPr marL="0" indent="0">
              <a:buNone/>
            </a:pPr>
            <a:r>
              <a:rPr lang="en-US" altLang="zh-TW" sz="1600" b="0" i="0" dirty="0">
                <a:solidFill>
                  <a:srgbClr val="ECECEC"/>
                </a:solidFill>
                <a:effectLst/>
                <a:latin typeface="Söhne"/>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Discard measurements that are larger than a fixed</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Higher-order preprocessing</a:t>
            </a:r>
          </a:p>
          <a:p>
            <a:pPr marL="0" indent="0">
              <a:buNone/>
            </a:pPr>
            <a:r>
              <a:rPr lang="en-US" altLang="zh-TW" sz="2400" dirty="0">
                <a:latin typeface="Times New Roman" panose="02020603050405020304" pitchFamily="18" charset="0"/>
                <a:cs typeface="Times New Roman" panose="02020603050405020304" pitchFamily="18" charset="0"/>
              </a:rPr>
              <a:t>   Depending on the statistical test, different processing mechanisms can be used.</a:t>
            </a:r>
          </a:p>
          <a:p>
            <a:pPr marL="0" indent="0">
              <a:buNone/>
            </a:pPr>
            <a:r>
              <a:rPr lang="en-US" altLang="zh-TW" sz="2400" dirty="0">
                <a:latin typeface="Times New Roman" panose="02020603050405020304" pitchFamily="18" charset="0"/>
                <a:cs typeface="Times New Roman" panose="02020603050405020304" pitchFamily="18" charset="0"/>
              </a:rPr>
              <a:t>   </a:t>
            </a: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箭號: 向右 3">
            <a:extLst>
              <a:ext uri="{FF2B5EF4-FFF2-40B4-BE49-F238E27FC236}">
                <a16:creationId xmlns:a16="http://schemas.microsoft.com/office/drawing/2014/main" id="{EE7133D8-8E2E-1A56-5CDF-F68FF9654326}"/>
              </a:ext>
            </a:extLst>
          </p:cNvPr>
          <p:cNvSpPr/>
          <p:nvPr/>
        </p:nvSpPr>
        <p:spPr>
          <a:xfrm>
            <a:off x="992777" y="2799685"/>
            <a:ext cx="522514" cy="3484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80270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Step 3: Applying statistical test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6</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64028" y="1943644"/>
            <a:ext cx="11179629" cy="4351338"/>
          </a:xfrm>
        </p:spPr>
        <p:txBody>
          <a:bodyPr/>
          <a:lstStyle/>
          <a:p>
            <a:r>
              <a:rPr lang="en-US" altLang="zh-TW" sz="2400" dirty="0">
                <a:latin typeface="Times New Roman" panose="02020603050405020304" pitchFamily="18" charset="0"/>
                <a:cs typeface="Times New Roman" panose="02020603050405020304" pitchFamily="18" charset="0"/>
              </a:rPr>
              <a:t>Build null hypothesis : the two timing distributions are equal </a:t>
            </a:r>
          </a:p>
          <a:p>
            <a:r>
              <a:rPr lang="en-US" altLang="zh-TW" sz="2400" dirty="0">
                <a:latin typeface="Times New Roman" panose="02020603050405020304" pitchFamily="18" charset="0"/>
                <a:cs typeface="Times New Roman" panose="02020603050405020304" pitchFamily="18" charset="0"/>
              </a:rPr>
              <a:t>Use Welch’s t-test : tests for equivalence of means</a:t>
            </a:r>
          </a:p>
          <a:p>
            <a:pPr marL="0" indent="0">
              <a:buNone/>
            </a:pPr>
            <a:r>
              <a:rPr lang="en-US" altLang="zh-TW" sz="2400" dirty="0">
                <a:latin typeface="Times New Roman" panose="02020603050405020304" pitchFamily="18" charset="0"/>
                <a:cs typeface="Times New Roman" panose="02020603050405020304" pitchFamily="18" charset="0"/>
              </a:rPr>
              <a:t>   (Reject the null hypothesis  =&gt;  execution time is not constant. )</a:t>
            </a: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928667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Memory comparison</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7</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742406" y="1690688"/>
            <a:ext cx="11179629" cy="4914356"/>
          </a:xfrm>
        </p:spPr>
        <p:txBody>
          <a:bodyPr>
            <a:normAutofit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Input</a:t>
            </a:r>
          </a:p>
          <a:p>
            <a:r>
              <a:rPr lang="en-US" altLang="zh-TW" sz="2400" dirty="0">
                <a:latin typeface="Times New Roman" panose="02020603050405020304" pitchFamily="18" charset="0"/>
                <a:cs typeface="Times New Roman" panose="02020603050405020304" pitchFamily="18" charset="0"/>
              </a:rPr>
              <a:t>s = “secret”</a:t>
            </a:r>
          </a:p>
          <a:p>
            <a:r>
              <a:rPr lang="en-US" altLang="zh-TW" sz="2400" dirty="0">
                <a:latin typeface="Times New Roman" panose="02020603050405020304" pitchFamily="18" charset="0"/>
                <a:cs typeface="Times New Roman" panose="02020603050405020304" pitchFamily="18" charset="0"/>
              </a:rPr>
              <a:t>first class : fixes the input to “s”</a:t>
            </a:r>
          </a:p>
          <a:p>
            <a:r>
              <a:rPr lang="en-US" altLang="zh-TW" sz="2400" dirty="0">
                <a:latin typeface="Times New Roman" panose="02020603050405020304" pitchFamily="18" charset="0"/>
                <a:cs typeface="Times New Roman" panose="02020603050405020304" pitchFamily="18" charset="0"/>
              </a:rPr>
              <a:t>second class : uniformly distributed random 16-byte strings</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(a) Variable-time implementation</a:t>
            </a:r>
          </a:p>
          <a:p>
            <a:pPr marL="0" indent="0">
              <a:buNone/>
            </a:pPr>
            <a:r>
              <a:rPr lang="en-US" altLang="zh-TW" sz="2400" dirty="0">
                <a:latin typeface="Times New Roman" panose="02020603050405020304" pitchFamily="18" charset="0"/>
                <a:cs typeface="Times New Roman" panose="02020603050405020304" pitchFamily="18" charset="0"/>
              </a:rPr>
              <a:t>      (Based on </a:t>
            </a:r>
            <a:r>
              <a:rPr lang="en-US" altLang="zh-TW" sz="2400" dirty="0" err="1">
                <a:latin typeface="Times New Roman" panose="02020603050405020304" pitchFamily="18" charset="0"/>
                <a:cs typeface="Times New Roman" panose="02020603050405020304" pitchFamily="18" charset="0"/>
              </a:rPr>
              <a:t>memcmp</a:t>
            </a:r>
            <a:r>
              <a:rPr lang="en-US" altLang="zh-TW" sz="2400" dirty="0">
                <a:latin typeface="Times New Roman" panose="02020603050405020304" pitchFamily="18" charset="0"/>
                <a:cs typeface="Times New Roman" panose="02020603050405020304" pitchFamily="18" charset="0"/>
              </a:rPr>
              <a:t> function =&gt; abort early on mismatch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(b) Constant-time implementation</a:t>
            </a:r>
          </a:p>
          <a:p>
            <a:pPr marL="0" indent="0">
              <a:buNone/>
            </a:pPr>
            <a:r>
              <a:rPr lang="en-US" altLang="zh-TW" sz="2400" dirty="0">
                <a:latin typeface="Times New Roman" panose="02020603050405020304" pitchFamily="18" charset="0"/>
                <a:cs typeface="Times New Roman" panose="02020603050405020304" pitchFamily="18" charset="0"/>
              </a:rPr>
              <a:t>      (By logical operations =&gt; does not abort early on mismatch)</a:t>
            </a: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1848859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Variable-time implementation</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8</a:t>
            </a:fld>
            <a:endParaRPr lang="zh-TW" altLang="en-US" dirty="0"/>
          </a:p>
        </p:txBody>
      </p:sp>
      <p:pic>
        <p:nvPicPr>
          <p:cNvPr id="5" name="內容版面配置區 4">
            <a:extLst>
              <a:ext uri="{FF2B5EF4-FFF2-40B4-BE49-F238E27FC236}">
                <a16:creationId xmlns:a16="http://schemas.microsoft.com/office/drawing/2014/main" id="{25B3FD2D-3EEA-DD72-8A9D-C941DB24FCAF}"/>
              </a:ext>
            </a:extLst>
          </p:cNvPr>
          <p:cNvPicPr>
            <a:picLocks noGrp="1" noChangeAspect="1"/>
          </p:cNvPicPr>
          <p:nvPr>
            <p:ph idx="1"/>
          </p:nvPr>
        </p:nvPicPr>
        <p:blipFill>
          <a:blip r:embed="rId2"/>
          <a:stretch>
            <a:fillRect/>
          </a:stretch>
        </p:blipFill>
        <p:spPr>
          <a:xfrm>
            <a:off x="99903" y="2285994"/>
            <a:ext cx="5651799" cy="3262051"/>
          </a:xfrm>
        </p:spPr>
      </p:pic>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8" name="圖片 7">
            <a:extLst>
              <a:ext uri="{FF2B5EF4-FFF2-40B4-BE49-F238E27FC236}">
                <a16:creationId xmlns:a16="http://schemas.microsoft.com/office/drawing/2014/main" id="{F8EA603B-57DB-DE26-06FB-CBFFBE0DD65E}"/>
              </a:ext>
            </a:extLst>
          </p:cNvPr>
          <p:cNvPicPr>
            <a:picLocks noChangeAspect="1"/>
          </p:cNvPicPr>
          <p:nvPr/>
        </p:nvPicPr>
        <p:blipFill>
          <a:blip r:embed="rId3"/>
          <a:stretch>
            <a:fillRect/>
          </a:stretch>
        </p:blipFill>
        <p:spPr>
          <a:xfrm>
            <a:off x="5751702" y="2514592"/>
            <a:ext cx="5716398" cy="2867302"/>
          </a:xfrm>
          <a:prstGeom prst="rect">
            <a:avLst/>
          </a:prstGeom>
        </p:spPr>
      </p:pic>
      <p:cxnSp>
        <p:nvCxnSpPr>
          <p:cNvPr id="10" name="接點: 弧形 9">
            <a:extLst>
              <a:ext uri="{FF2B5EF4-FFF2-40B4-BE49-F238E27FC236}">
                <a16:creationId xmlns:a16="http://schemas.microsoft.com/office/drawing/2014/main" id="{4DD1FAAA-CC20-B322-1572-2B3AE05AC4CB}"/>
              </a:ext>
            </a:extLst>
          </p:cNvPr>
          <p:cNvCxnSpPr>
            <a:cxnSpLocks/>
          </p:cNvCxnSpPr>
          <p:nvPr/>
        </p:nvCxnSpPr>
        <p:spPr>
          <a:xfrm rot="16200000" flipV="1">
            <a:off x="1331671" y="2157367"/>
            <a:ext cx="1016251" cy="7144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A5EA315C-B561-00F6-0AC9-87993895811E}"/>
              </a:ext>
            </a:extLst>
          </p:cNvPr>
          <p:cNvSpPr txBox="1"/>
          <p:nvPr/>
        </p:nvSpPr>
        <p:spPr>
          <a:xfrm>
            <a:off x="690264" y="1508551"/>
            <a:ext cx="229906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Second time</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0AA0ED37-F6F4-B49D-AD9E-678E57122F6E}"/>
              </a:ext>
            </a:extLst>
          </p:cNvPr>
          <p:cNvSpPr txBox="1"/>
          <p:nvPr/>
        </p:nvSpPr>
        <p:spPr>
          <a:xfrm>
            <a:off x="5531804" y="5348105"/>
            <a:ext cx="7254241"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 value larger than 4.5 =&gt; distributions are different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97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Constant-time implementation</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9</a:t>
            </a:fld>
            <a:endParaRPr lang="zh-TW" altLang="en-US" dirty="0"/>
          </a:p>
        </p:txBody>
      </p:sp>
      <p:pic>
        <p:nvPicPr>
          <p:cNvPr id="5" name="內容版面配置區 4">
            <a:extLst>
              <a:ext uri="{FF2B5EF4-FFF2-40B4-BE49-F238E27FC236}">
                <a16:creationId xmlns:a16="http://schemas.microsoft.com/office/drawing/2014/main" id="{F203E010-C30D-26ED-1317-485333AEF6AC}"/>
              </a:ext>
            </a:extLst>
          </p:cNvPr>
          <p:cNvPicPr>
            <a:picLocks noGrp="1" noChangeAspect="1"/>
          </p:cNvPicPr>
          <p:nvPr>
            <p:ph idx="1"/>
          </p:nvPr>
        </p:nvPicPr>
        <p:blipFill>
          <a:blip r:embed="rId2"/>
          <a:stretch>
            <a:fillRect/>
          </a:stretch>
        </p:blipFill>
        <p:spPr>
          <a:xfrm>
            <a:off x="424873" y="2231643"/>
            <a:ext cx="5504843" cy="3132540"/>
          </a:xfrm>
        </p:spPr>
      </p:pic>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8" name="圖片 7">
            <a:extLst>
              <a:ext uri="{FF2B5EF4-FFF2-40B4-BE49-F238E27FC236}">
                <a16:creationId xmlns:a16="http://schemas.microsoft.com/office/drawing/2014/main" id="{42EA09CF-71E4-E55C-C713-E8B4835BA19A}"/>
              </a:ext>
            </a:extLst>
          </p:cNvPr>
          <p:cNvPicPr>
            <a:picLocks noChangeAspect="1"/>
          </p:cNvPicPr>
          <p:nvPr/>
        </p:nvPicPr>
        <p:blipFill>
          <a:blip r:embed="rId3"/>
          <a:stretch>
            <a:fillRect/>
          </a:stretch>
        </p:blipFill>
        <p:spPr>
          <a:xfrm>
            <a:off x="6025511" y="2377877"/>
            <a:ext cx="5504844" cy="3020840"/>
          </a:xfrm>
          <a:prstGeom prst="rect">
            <a:avLst/>
          </a:prstGeom>
        </p:spPr>
      </p:pic>
    </p:spTree>
    <p:extLst>
      <p:ext uri="{BB962C8B-B14F-4D97-AF65-F5344CB8AC3E}">
        <p14:creationId xmlns:p14="http://schemas.microsoft.com/office/powerpoint/2010/main" val="602955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p>
        </p:txBody>
      </p:sp>
      <p:sp>
        <p:nvSpPr>
          <p:cNvPr id="3" name="投影片編號版面配置區 2">
            <a:extLst>
              <a:ext uri="{FF2B5EF4-FFF2-40B4-BE49-F238E27FC236}">
                <a16:creationId xmlns:a16="http://schemas.microsoft.com/office/drawing/2014/main" id="{470088EC-5D8D-9A95-DC6D-2DD90021AD39}"/>
              </a:ext>
            </a:extLst>
          </p:cNvPr>
          <p:cNvSpPr>
            <a:spLocks noGrp="1"/>
          </p:cNvSpPr>
          <p:nvPr>
            <p:ph type="sldNum" sz="quarter" idx="12"/>
          </p:nvPr>
        </p:nvSpPr>
        <p:spPr/>
        <p:txBody>
          <a:bodyPr/>
          <a:lstStyle/>
          <a:p>
            <a:fld id="{EFAEC03B-316C-4507-8207-D997BB28EB64}" type="slidenum">
              <a:rPr lang="zh-TW" altLang="en-US" smtClean="0"/>
              <a:t>10</a:t>
            </a:fld>
            <a:endParaRPr lang="zh-TW" altLang="en-US"/>
          </a:p>
        </p:txBody>
      </p:sp>
    </p:spTree>
    <p:extLst>
      <p:ext uri="{BB962C8B-B14F-4D97-AF65-F5344CB8AC3E}">
        <p14:creationId xmlns:p14="http://schemas.microsoft.com/office/powerpoint/2010/main" val="38199053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5207</TotalTime>
  <Words>479</Words>
  <Application>Microsoft Office PowerPoint</Application>
  <PresentationFormat>寬螢幕</PresentationFormat>
  <Paragraphs>65</Paragraphs>
  <Slides>10</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Söhne</vt:lpstr>
      <vt:lpstr>Arial</vt:lpstr>
      <vt:lpstr>Calibri</vt:lpstr>
      <vt:lpstr>Calibri Light</vt:lpstr>
      <vt:lpstr>Times New Roman</vt:lpstr>
      <vt:lpstr>Office 佈景主題</vt:lpstr>
      <vt:lpstr>Dude, is my code constant time?</vt:lpstr>
      <vt:lpstr>ABSTRACT</vt:lpstr>
      <vt:lpstr>Dudect</vt:lpstr>
      <vt:lpstr>Step 1: Measure execution time</vt:lpstr>
      <vt:lpstr>Step 2: Applying post-processing</vt:lpstr>
      <vt:lpstr>Step 3: Applying statistical test</vt:lpstr>
      <vt:lpstr>Memory comparison</vt:lpstr>
      <vt:lpstr>Variable-time implementation</vt:lpstr>
      <vt:lpstr>Constant-time implementation</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33</cp:revision>
  <dcterms:created xsi:type="dcterms:W3CDTF">2023-09-05T08:57:34Z</dcterms:created>
  <dcterms:modified xsi:type="dcterms:W3CDTF">2024-04-09T09:20:41Z</dcterms:modified>
</cp:coreProperties>
</file>