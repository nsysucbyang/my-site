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64" r:id="rId3"/>
    <p:sldId id="262" r:id="rId4"/>
    <p:sldId id="263" r:id="rId5"/>
    <p:sldId id="265" r:id="rId6"/>
    <p:sldId id="267" r:id="rId7"/>
    <p:sldId id="269" r:id="rId8"/>
    <p:sldId id="270" r:id="rId9"/>
    <p:sldId id="291" r:id="rId10"/>
    <p:sldId id="293" r:id="rId11"/>
    <p:sldId id="271" r:id="rId12"/>
    <p:sldId id="292" r:id="rId13"/>
    <p:sldId id="272" r:id="rId14"/>
    <p:sldId id="273" r:id="rId15"/>
    <p:sldId id="274" r:id="rId16"/>
    <p:sldId id="275" r:id="rId17"/>
    <p:sldId id="289" r:id="rId18"/>
    <p:sldId id="276" r:id="rId19"/>
    <p:sldId id="277" r:id="rId20"/>
    <p:sldId id="278" r:id="rId21"/>
    <p:sldId id="279" r:id="rId22"/>
    <p:sldId id="290" r:id="rId23"/>
    <p:sldId id="295" r:id="rId24"/>
    <p:sldId id="283" r:id="rId25"/>
    <p:sldId id="284" r:id="rId26"/>
    <p:sldId id="281" r:id="rId27"/>
    <p:sldId id="282" r:id="rId28"/>
    <p:sldId id="297" r:id="rId29"/>
    <p:sldId id="285" r:id="rId30"/>
    <p:sldId id="286" r:id="rId31"/>
    <p:sldId id="296"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62808" autoAdjust="0"/>
  </p:normalViewPr>
  <p:slideViewPr>
    <p:cSldViewPr snapToGrid="0">
      <p:cViewPr varScale="1">
        <p:scale>
          <a:sx n="43" d="100"/>
          <a:sy n="43" d="100"/>
        </p:scale>
        <p:origin x="178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23988C-31FC-400F-BF79-FE561904CB54}" type="datetimeFigureOut">
              <a:rPr lang="zh-TW" altLang="en-US" smtClean="0"/>
              <a:t>2024/4/9</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70385A-3A9F-4826-B5A3-522D762D8382}" type="slidenum">
              <a:rPr lang="zh-TW" altLang="en-US" smtClean="0"/>
              <a:t>‹#›</a:t>
            </a:fld>
            <a:endParaRPr lang="zh-TW" altLang="en-US"/>
          </a:p>
        </p:txBody>
      </p:sp>
    </p:spTree>
    <p:extLst>
      <p:ext uri="{BB962C8B-B14F-4D97-AF65-F5344CB8AC3E}">
        <p14:creationId xmlns:p14="http://schemas.microsoft.com/office/powerpoint/2010/main" val="464720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老師學長姊們大家好，我今天要報告的是，</a:t>
            </a:r>
            <a:r>
              <a:rPr lang="en-US" altLang="zh-TW" dirty="0"/>
              <a:t>I-TWEC</a:t>
            </a:r>
            <a:r>
              <a:rPr lang="zh-TW" altLang="en-US" dirty="0"/>
              <a:t>，</a:t>
            </a:r>
            <a:r>
              <a:rPr lang="en-US" altLang="zh-TW" sz="1200" dirty="0">
                <a:latin typeface="Times New Roman" panose="02020603050405020304" pitchFamily="18" charset="0"/>
                <a:cs typeface="Times New Roman" panose="02020603050405020304" pitchFamily="18" charset="0"/>
              </a:rPr>
              <a:t>Interactive clustering tool for Twitter</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a:t>
            </a:fld>
            <a:endParaRPr lang="zh-TW" altLang="en-US"/>
          </a:p>
        </p:txBody>
      </p:sp>
    </p:spTree>
    <p:extLst>
      <p:ext uri="{BB962C8B-B14F-4D97-AF65-F5344CB8AC3E}">
        <p14:creationId xmlns:p14="http://schemas.microsoft.com/office/powerpoint/2010/main" val="1014848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a:t>
            </a:fld>
            <a:endParaRPr lang="zh-TW" altLang="en-US"/>
          </a:p>
        </p:txBody>
      </p:sp>
    </p:spTree>
    <p:extLst>
      <p:ext uri="{BB962C8B-B14F-4D97-AF65-F5344CB8AC3E}">
        <p14:creationId xmlns:p14="http://schemas.microsoft.com/office/powerpoint/2010/main" val="3450280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這篇論文提到</a:t>
            </a:r>
            <a:r>
              <a:rPr lang="en-US" altLang="zh-TW" sz="1200" b="0" i="0" kern="1200" dirty="0">
                <a:solidFill>
                  <a:schemeClr val="tx1"/>
                </a:solidFill>
                <a:effectLst/>
                <a:latin typeface="+mn-lt"/>
                <a:ea typeface="+mn-ea"/>
                <a:cs typeface="+mn-cs"/>
              </a:rPr>
              <a:t>twitter</a:t>
            </a:r>
            <a:r>
              <a:rPr lang="zh-TW" altLang="en-US" sz="1200" b="0" i="0" kern="1200" dirty="0">
                <a:solidFill>
                  <a:schemeClr val="tx1"/>
                </a:solidFill>
                <a:effectLst/>
                <a:latin typeface="+mn-lt"/>
                <a:ea typeface="+mn-ea"/>
                <a:cs typeface="+mn-cs"/>
              </a:rPr>
              <a:t>會聚集大眾對某件事情的觀點，也提供了很多的資訊，但其龐大的推文量是一個巨大的挑戰。</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聚類是一種技術，可以用來更好地理解這樣龐大的數據量。作者發現沒有一個具類工具是設計給</a:t>
            </a:r>
            <a:r>
              <a:rPr lang="en-US" altLang="zh-TW" sz="1200" b="0" i="0" kern="1200" dirty="0">
                <a:solidFill>
                  <a:schemeClr val="tx1"/>
                </a:solidFill>
                <a:effectLst/>
                <a:latin typeface="+mn-lt"/>
                <a:ea typeface="+mn-ea"/>
                <a:cs typeface="+mn-cs"/>
              </a:rPr>
              <a:t>twitter</a:t>
            </a:r>
            <a:r>
              <a:rPr lang="zh-TW" altLang="en-US" sz="1200" b="0" i="0" kern="1200" dirty="0">
                <a:solidFill>
                  <a:schemeClr val="tx1"/>
                </a:solidFill>
                <a:effectLst/>
                <a:latin typeface="+mn-lt"/>
                <a:ea typeface="+mn-ea"/>
                <a:cs typeface="+mn-cs"/>
              </a:rPr>
              <a:t>使用的。</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I-TWEC</a:t>
            </a:r>
            <a:r>
              <a:rPr lang="zh-TW" altLang="en-US" sz="1200" b="0" i="0" kern="1200" dirty="0">
                <a:solidFill>
                  <a:schemeClr val="tx1"/>
                </a:solidFill>
                <a:effectLst/>
                <a:latin typeface="+mn-lt"/>
                <a:ea typeface="+mn-ea"/>
                <a:cs typeface="+mn-cs"/>
              </a:rPr>
              <a:t>是一個基於</a:t>
            </a:r>
            <a:r>
              <a:rPr lang="en-US" altLang="zh-TW" sz="1200" b="0" i="0" kern="1200" dirty="0">
                <a:solidFill>
                  <a:schemeClr val="tx1"/>
                </a:solidFill>
                <a:effectLst/>
                <a:latin typeface="+mn-lt"/>
                <a:ea typeface="+mn-ea"/>
                <a:cs typeface="+mn-cs"/>
              </a:rPr>
              <a:t>Web</a:t>
            </a:r>
            <a:r>
              <a:rPr lang="zh-TW" altLang="en-US" sz="1200" b="0" i="0" kern="1200" dirty="0">
                <a:solidFill>
                  <a:schemeClr val="tx1"/>
                </a:solidFill>
                <a:effectLst/>
                <a:latin typeface="+mn-lt"/>
                <a:ea typeface="+mn-ea"/>
                <a:cs typeface="+mn-cs"/>
              </a:rPr>
              <a:t>的推文聚類工具，用戶可以上傳其數據，並通過不同的可視化方式呈現結果，進一步使用戶可以根據語義相似性互動地選擇和合併聚類。</a:t>
            </a:r>
            <a:r>
              <a:rPr lang="en-US" altLang="zh-TW" sz="1200" b="0" i="0" kern="1200" dirty="0">
                <a:solidFill>
                  <a:schemeClr val="tx1"/>
                </a:solidFill>
                <a:effectLst/>
                <a:latin typeface="+mn-lt"/>
                <a:ea typeface="+mn-ea"/>
                <a:cs typeface="+mn-cs"/>
              </a:rPr>
              <a:t>I-TWEC</a:t>
            </a:r>
            <a:r>
              <a:rPr lang="zh-TW" altLang="en-US" sz="1200" b="0" i="0" kern="1200" dirty="0">
                <a:solidFill>
                  <a:schemeClr val="tx1"/>
                </a:solidFill>
                <a:effectLst/>
                <a:latin typeface="+mn-lt"/>
                <a:ea typeface="+mn-ea"/>
                <a:cs typeface="+mn-cs"/>
              </a:rPr>
              <a:t>將詞彙聚類和語義聚類作為兩個連續的階段實現。</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在推文的詞彙聚類中，最長公共子序列是一個被廣泛接受的相似度度量，但其成本很高，因此不適用於大數據集，例如通過</a:t>
            </a:r>
            <a:r>
              <a:rPr lang="en-US" altLang="zh-TW" sz="1200" b="0" i="0" kern="1200" dirty="0">
                <a:solidFill>
                  <a:schemeClr val="tx1"/>
                </a:solidFill>
                <a:effectLst/>
                <a:latin typeface="+mn-lt"/>
                <a:ea typeface="+mn-ea"/>
                <a:cs typeface="+mn-cs"/>
              </a:rPr>
              <a:t>Twitter</a:t>
            </a:r>
            <a:r>
              <a:rPr lang="zh-TW" altLang="en-US" sz="1200" b="0" i="0" kern="1200" dirty="0">
                <a:solidFill>
                  <a:schemeClr val="tx1"/>
                </a:solidFill>
                <a:effectLst/>
                <a:latin typeface="+mn-lt"/>
                <a:ea typeface="+mn-ea"/>
                <a:cs typeface="+mn-cs"/>
              </a:rPr>
              <a:t>收集的數據。為了克服這一挑戰，我們在</a:t>
            </a:r>
            <a:r>
              <a:rPr lang="en-US" altLang="zh-TW" sz="1200" b="0" i="0" kern="1200" dirty="0">
                <a:solidFill>
                  <a:schemeClr val="tx1"/>
                </a:solidFill>
                <a:effectLst/>
                <a:latin typeface="+mn-lt"/>
                <a:ea typeface="+mn-ea"/>
                <a:cs typeface="+mn-cs"/>
              </a:rPr>
              <a:t>I-TWEC</a:t>
            </a:r>
            <a:r>
              <a:rPr lang="zh-TW" altLang="en-US" sz="1200" b="0" i="0" kern="1200" dirty="0">
                <a:solidFill>
                  <a:schemeClr val="tx1"/>
                </a:solidFill>
                <a:effectLst/>
                <a:latin typeface="+mn-lt"/>
                <a:ea typeface="+mn-ea"/>
                <a:cs typeface="+mn-cs"/>
              </a:rPr>
              <a:t>中實現了基於後綴樹的索引結構，以基於最長公共子串相似性來高效地聚類推文，這是最長公共子序列的一個近似值。我們進行的實驗表明，</a:t>
            </a:r>
            <a:r>
              <a:rPr lang="en-US" altLang="zh-TW" sz="1200" b="0" i="0" kern="1200" dirty="0">
                <a:solidFill>
                  <a:schemeClr val="tx1"/>
                </a:solidFill>
                <a:effectLst/>
                <a:latin typeface="+mn-lt"/>
                <a:ea typeface="+mn-ea"/>
                <a:cs typeface="+mn-cs"/>
              </a:rPr>
              <a:t>I-TWEC</a:t>
            </a:r>
            <a:r>
              <a:rPr lang="zh-TW" altLang="en-US" sz="1200" b="0" i="0" kern="1200" dirty="0">
                <a:solidFill>
                  <a:schemeClr val="tx1"/>
                </a:solidFill>
                <a:effectLst/>
                <a:latin typeface="+mn-lt"/>
                <a:ea typeface="+mn-ea"/>
                <a:cs typeface="+mn-cs"/>
              </a:rPr>
              <a:t>的詞彙聚類階段可以在比使用最長公共子序列和後綴樹的基準方法所需時間的一小部分時間內產生具有可比較的聚類質量的結果。我們還對基於文檔的</a:t>
            </a:r>
            <a:r>
              <a:rPr lang="en-US" altLang="zh-TW" sz="1200" b="0" i="0" kern="1200" dirty="0">
                <a:solidFill>
                  <a:schemeClr val="tx1"/>
                </a:solidFill>
                <a:effectLst/>
                <a:latin typeface="+mn-lt"/>
                <a:ea typeface="+mn-ea"/>
                <a:cs typeface="+mn-cs"/>
              </a:rPr>
              <a:t>k-means</a:t>
            </a:r>
            <a:r>
              <a:rPr lang="zh-TW" altLang="en-US" sz="1200" b="0" i="0" kern="1200" dirty="0">
                <a:solidFill>
                  <a:schemeClr val="tx1"/>
                </a:solidFill>
                <a:effectLst/>
                <a:latin typeface="+mn-lt"/>
                <a:ea typeface="+mn-ea"/>
                <a:cs typeface="+mn-cs"/>
              </a:rPr>
              <a:t>聚類算法進行了實驗，以及一種最先進的基於詞的後綴樹聚類算法，結果表明</a:t>
            </a:r>
            <a:r>
              <a:rPr lang="en-US" altLang="zh-TW" sz="1200" b="0" i="0" kern="1200" dirty="0">
                <a:solidFill>
                  <a:schemeClr val="tx1"/>
                </a:solidFill>
                <a:effectLst/>
                <a:latin typeface="+mn-lt"/>
                <a:ea typeface="+mn-ea"/>
                <a:cs typeface="+mn-cs"/>
              </a:rPr>
              <a:t>I-TWEC</a:t>
            </a:r>
            <a:r>
              <a:rPr lang="zh-TW" altLang="en-US" sz="1200" b="0" i="0" kern="1200" dirty="0">
                <a:solidFill>
                  <a:schemeClr val="tx1"/>
                </a:solidFill>
                <a:effectLst/>
                <a:latin typeface="+mn-lt"/>
                <a:ea typeface="+mn-ea"/>
                <a:cs typeface="+mn-cs"/>
              </a:rPr>
              <a:t>在時間上表現優於最先進的算法，且具有可比較的聚類質量。</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3</a:t>
            </a:fld>
            <a:endParaRPr lang="zh-TW" altLang="en-US"/>
          </a:p>
        </p:txBody>
      </p:sp>
    </p:spTree>
    <p:extLst>
      <p:ext uri="{BB962C8B-B14F-4D97-AF65-F5344CB8AC3E}">
        <p14:creationId xmlns:p14="http://schemas.microsoft.com/office/powerpoint/2010/main" val="2254168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這裡提到人們會在</a:t>
            </a:r>
            <a:r>
              <a:rPr lang="en-US" altLang="zh-TW" sz="1200" kern="1200" dirty="0">
                <a:solidFill>
                  <a:schemeClr val="tx1"/>
                </a:solidFill>
                <a:effectLst/>
                <a:latin typeface="+mn-lt"/>
                <a:ea typeface="+mn-ea"/>
                <a:cs typeface="+mn-cs"/>
              </a:rPr>
              <a:t>twitter</a:t>
            </a:r>
            <a:r>
              <a:rPr lang="zh-TW" altLang="en-US" sz="1200" kern="1200" dirty="0">
                <a:solidFill>
                  <a:schemeClr val="tx1"/>
                </a:solidFill>
                <a:effectLst/>
                <a:latin typeface="+mn-lt"/>
                <a:ea typeface="+mn-ea"/>
                <a:cs typeface="+mn-cs"/>
              </a:rPr>
              <a:t>上發表自己的觀點，這對於了解社會趨勢是有幫助的。</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但推文的數量龐大，且很多是重複或是相似的，</a:t>
            </a:r>
            <a:r>
              <a:rPr lang="zh-TW" altLang="zh-TW" sz="1200" kern="1200" dirty="0">
                <a:solidFill>
                  <a:schemeClr val="tx1"/>
                </a:solidFill>
                <a:effectLst/>
                <a:latin typeface="+mn-lt"/>
                <a:ea typeface="+mn-ea"/>
                <a:cs typeface="+mn-cs"/>
              </a:rPr>
              <a:t>因此，</a:t>
            </a:r>
            <a:r>
              <a:rPr lang="en-US" altLang="zh-TW" sz="1200" kern="1200" dirty="0">
                <a:solidFill>
                  <a:schemeClr val="tx1"/>
                </a:solidFill>
                <a:effectLst/>
                <a:latin typeface="+mn-lt"/>
                <a:ea typeface="+mn-ea"/>
                <a:cs typeface="+mn-cs"/>
              </a:rPr>
              <a:t>Twitter</a:t>
            </a:r>
            <a:r>
              <a:rPr lang="zh-TW" altLang="zh-TW" sz="1200" kern="1200" dirty="0">
                <a:solidFill>
                  <a:schemeClr val="tx1"/>
                </a:solidFill>
                <a:effectLst/>
                <a:latin typeface="+mn-lt"/>
                <a:ea typeface="+mn-ea"/>
                <a:cs typeface="+mn-cs"/>
              </a:rPr>
              <a:t>需要</a:t>
            </a:r>
            <a:r>
              <a:rPr lang="zh-TW" altLang="en-US" sz="1200" kern="1200" dirty="0">
                <a:solidFill>
                  <a:schemeClr val="tx1"/>
                </a:solidFill>
                <a:effectLst/>
                <a:latin typeface="+mn-lt"/>
                <a:ea typeface="+mn-ea"/>
                <a:cs typeface="+mn-cs"/>
              </a:rPr>
              <a:t>使用</a:t>
            </a:r>
            <a:r>
              <a:rPr lang="zh-TW" altLang="zh-TW" sz="1200" kern="1200" dirty="0">
                <a:solidFill>
                  <a:schemeClr val="tx1"/>
                </a:solidFill>
                <a:effectLst/>
                <a:latin typeface="+mn-lt"/>
                <a:ea typeface="+mn-ea"/>
                <a:cs typeface="+mn-cs"/>
              </a:rPr>
              <a:t>詞彙聚類來</a:t>
            </a:r>
            <a:r>
              <a:rPr lang="zh-TW" altLang="en-US" sz="1200" kern="1200" dirty="0">
                <a:solidFill>
                  <a:schemeClr val="tx1"/>
                </a:solidFill>
                <a:effectLst/>
                <a:latin typeface="+mn-lt"/>
                <a:ea typeface="+mn-ea"/>
                <a:cs typeface="+mn-cs"/>
              </a:rPr>
              <a:t>刪除</a:t>
            </a:r>
            <a:r>
              <a:rPr lang="zh-TW" altLang="zh-TW" sz="1200" kern="1200" dirty="0">
                <a:solidFill>
                  <a:schemeClr val="tx1"/>
                </a:solidFill>
                <a:effectLst/>
                <a:latin typeface="+mn-lt"/>
                <a:ea typeface="+mn-ea"/>
                <a:cs typeface="+mn-cs"/>
              </a:rPr>
              <a:t>相似的推文內容</a:t>
            </a:r>
            <a:r>
              <a:rPr lang="zh-TW" altLang="en-US" sz="1200" kern="1200" dirty="0">
                <a:solidFill>
                  <a:schemeClr val="tx1"/>
                </a:solidFill>
                <a:effectLst/>
                <a:latin typeface="+mn-lt"/>
                <a:ea typeface="+mn-ea"/>
                <a:cs typeface="+mn-cs"/>
              </a:rPr>
              <a:t>，以減少分析量</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但是傳統的聚類不適用於推特，因為推特通常很短，而且沒有特定的書寫格式。所以作者所實現的是針對推特的聚類方法跟工具。</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4</a:t>
            </a:fld>
            <a:endParaRPr lang="zh-TW" altLang="en-US"/>
          </a:p>
        </p:txBody>
      </p:sp>
    </p:spTree>
    <p:extLst>
      <p:ext uri="{BB962C8B-B14F-4D97-AF65-F5344CB8AC3E}">
        <p14:creationId xmlns:p14="http://schemas.microsoft.com/office/powerpoint/2010/main" val="29476411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這份研究實現了兩種聚類方式跟一個語意合併方法。</a:t>
            </a:r>
            <a:endParaRPr lang="en-US" altLang="zh-TW" dirty="0"/>
          </a:p>
          <a:p>
            <a:r>
              <a:rPr lang="zh-TW" altLang="en-US" dirty="0"/>
              <a:t>第一個聚類方式是基於</a:t>
            </a:r>
            <a:r>
              <a:rPr lang="en-US" altLang="zh-TW" dirty="0"/>
              <a:t>LCS</a:t>
            </a:r>
            <a:r>
              <a:rPr lang="zh-TW" altLang="en-US" dirty="0"/>
              <a:t>的詞彙聚類、第二個聚類方式是使用後綴樹。</a:t>
            </a:r>
            <a:endParaRPr lang="en-US" altLang="zh-TW" dirty="0"/>
          </a:p>
          <a:p>
            <a:r>
              <a:rPr lang="zh-TW" altLang="en-US" dirty="0"/>
              <a:t>比較兩個聚類方法後，發現</a:t>
            </a:r>
            <a:r>
              <a:rPr lang="en-US" altLang="zh-TW" sz="1200" kern="1200" dirty="0">
                <a:solidFill>
                  <a:schemeClr val="tx1"/>
                </a:solidFill>
                <a:effectLst/>
                <a:latin typeface="+mn-lt"/>
                <a:ea typeface="+mn-ea"/>
                <a:cs typeface="+mn-cs"/>
              </a:rPr>
              <a:t>ST-TWEC </a:t>
            </a:r>
            <a:r>
              <a:rPr lang="zh-TW" altLang="en-US" sz="1200" kern="1200" dirty="0">
                <a:solidFill>
                  <a:schemeClr val="tx1"/>
                </a:solidFill>
                <a:effectLst/>
                <a:latin typeface="+mn-lt"/>
                <a:ea typeface="+mn-ea"/>
                <a:cs typeface="+mn-cs"/>
              </a:rPr>
              <a:t>有和</a:t>
            </a:r>
            <a:r>
              <a:rPr lang="en-US" altLang="zh-TW" sz="1200" kern="1200" dirty="0">
                <a:solidFill>
                  <a:schemeClr val="tx1"/>
                </a:solidFill>
                <a:effectLst/>
                <a:latin typeface="+mn-lt"/>
                <a:ea typeface="+mn-ea"/>
                <a:cs typeface="+mn-cs"/>
              </a:rPr>
              <a:t> LCS-Lex </a:t>
            </a:r>
            <a:r>
              <a:rPr lang="zh-TW" altLang="en-US" sz="1200" kern="1200" dirty="0">
                <a:solidFill>
                  <a:schemeClr val="tx1"/>
                </a:solidFill>
                <a:effectLst/>
                <a:latin typeface="+mn-lt"/>
                <a:ea typeface="+mn-ea"/>
                <a:cs typeface="+mn-cs"/>
              </a:rPr>
              <a:t>一樣好</a:t>
            </a:r>
            <a:r>
              <a:rPr lang="zh-TW" altLang="zh-TW" sz="1200" kern="1200" dirty="0">
                <a:solidFill>
                  <a:schemeClr val="tx1"/>
                </a:solidFill>
                <a:effectLst/>
                <a:latin typeface="+mn-lt"/>
                <a:ea typeface="+mn-ea"/>
                <a:cs typeface="+mn-cs"/>
              </a:rPr>
              <a:t>的聚類，</a:t>
            </a:r>
            <a:r>
              <a:rPr lang="zh-TW" altLang="en-US" sz="1200" kern="1200" dirty="0">
                <a:solidFill>
                  <a:schemeClr val="tx1"/>
                </a:solidFill>
                <a:effectLst/>
                <a:latin typeface="+mn-lt"/>
                <a:ea typeface="+mn-ea"/>
                <a:cs typeface="+mn-cs"/>
              </a:rPr>
              <a:t>但</a:t>
            </a:r>
            <a:r>
              <a:rPr lang="zh-TW" altLang="zh-TW" sz="1200" kern="1200" dirty="0">
                <a:solidFill>
                  <a:schemeClr val="tx1"/>
                </a:solidFill>
                <a:effectLst/>
                <a:latin typeface="+mn-lt"/>
                <a:ea typeface="+mn-ea"/>
                <a:cs typeface="+mn-cs"/>
              </a:rPr>
              <a:t>在時間</a:t>
            </a:r>
            <a:r>
              <a:rPr lang="zh-TW" altLang="en-US" sz="1200" kern="1200" dirty="0">
                <a:solidFill>
                  <a:schemeClr val="tx1"/>
                </a:solidFill>
                <a:effectLst/>
                <a:latin typeface="+mn-lt"/>
                <a:ea typeface="+mn-ea"/>
                <a:cs typeface="+mn-cs"/>
              </a:rPr>
              <a:t>上比</a:t>
            </a:r>
            <a:r>
              <a:rPr lang="en-US" altLang="zh-TW" sz="1200" kern="1200" dirty="0">
                <a:solidFill>
                  <a:schemeClr val="tx1"/>
                </a:solidFill>
                <a:effectLst/>
                <a:latin typeface="+mn-lt"/>
                <a:ea typeface="+mn-ea"/>
                <a:cs typeface="+mn-cs"/>
              </a:rPr>
              <a:t> LCS</a:t>
            </a:r>
            <a:r>
              <a:rPr lang="zh-TW" altLang="en-US" sz="1200" kern="1200" dirty="0">
                <a:solidFill>
                  <a:schemeClr val="tx1"/>
                </a:solidFill>
                <a:effectLst/>
                <a:latin typeface="+mn-lt"/>
                <a:ea typeface="+mn-ea"/>
                <a:cs typeface="+mn-cs"/>
              </a:rPr>
              <a:t>好，所以最後選用的方法是</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r>
              <a:rPr lang="zh-TW" altLang="en-US" dirty="0"/>
              <a:t>詞彙聚類之後，會有很多個聚類，每個聚類的標籤是聚類內推文的</a:t>
            </a:r>
            <a:r>
              <a:rPr lang="en-US" altLang="zh-TW" dirty="0"/>
              <a:t>common</a:t>
            </a:r>
            <a:r>
              <a:rPr lang="en-US" altLang="zh-TW" baseline="0" dirty="0"/>
              <a:t> </a:t>
            </a:r>
            <a:r>
              <a:rPr lang="en-US" altLang="zh-TW" dirty="0"/>
              <a:t>substring</a:t>
            </a:r>
            <a:r>
              <a:rPr lang="zh-TW" altLang="en-US" dirty="0"/>
              <a:t>，但如果這些聚類有相似的語意的話，要將它們合併，就會使用</a:t>
            </a:r>
            <a:r>
              <a:rPr lang="en-US" altLang="zh-TW" dirty="0"/>
              <a:t>I-TWEC</a:t>
            </a:r>
            <a:r>
              <a:rPr lang="zh-TW" altLang="en-US" dirty="0"/>
              <a:t>來把具有相似語意的聚類進行合併。</a:t>
            </a:r>
            <a:endParaRPr lang="en-US" altLang="zh-TW" dirty="0"/>
          </a:p>
          <a:p>
            <a:endParaRPr lang="en-US" altLang="zh-TW" dirty="0"/>
          </a:p>
          <a:p>
            <a:r>
              <a:rPr lang="zh-TW" altLang="en-US" dirty="0"/>
              <a:t>接下來我會從</a:t>
            </a:r>
            <a:r>
              <a:rPr lang="en-US" altLang="zh-TW" dirty="0"/>
              <a:t>LCS</a:t>
            </a:r>
            <a:r>
              <a:rPr lang="zh-TW" altLang="en-US" dirty="0"/>
              <a:t> </a:t>
            </a:r>
            <a:r>
              <a:rPr lang="en-US" altLang="zh-TW" dirty="0"/>
              <a:t>lexical</a:t>
            </a:r>
            <a:r>
              <a:rPr lang="zh-TW" altLang="en-US" dirty="0"/>
              <a:t>、</a:t>
            </a:r>
            <a:r>
              <a:rPr lang="en-US" altLang="zh-TW" dirty="0"/>
              <a:t>ST-TWEC</a:t>
            </a:r>
            <a:r>
              <a:rPr lang="zh-TW" altLang="en-US" dirty="0"/>
              <a:t>、</a:t>
            </a:r>
            <a:r>
              <a:rPr lang="en-US" altLang="zh-TW" dirty="0"/>
              <a:t>I-TWEC</a:t>
            </a:r>
            <a:r>
              <a:rPr lang="zh-TW" altLang="en-US" dirty="0"/>
              <a:t>來做介紹。</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5</a:t>
            </a:fld>
            <a:endParaRPr lang="zh-TW" altLang="en-US"/>
          </a:p>
        </p:txBody>
      </p:sp>
    </p:spTree>
    <p:extLst>
      <p:ext uri="{BB962C8B-B14F-4D97-AF65-F5344CB8AC3E}">
        <p14:creationId xmlns:p14="http://schemas.microsoft.com/office/powerpoint/2010/main" val="2854308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首先是</a:t>
            </a:r>
            <a:r>
              <a:rPr lang="en-US" altLang="zh-TW" sz="1200" b="0" i="0" kern="1200" dirty="0">
                <a:solidFill>
                  <a:schemeClr val="tx1"/>
                </a:solidFill>
                <a:effectLst/>
                <a:latin typeface="+mn-lt"/>
                <a:ea typeface="+mn-ea"/>
                <a:cs typeface="+mn-cs"/>
              </a:rPr>
              <a:t>LCS-Lexical</a:t>
            </a:r>
            <a:r>
              <a:rPr lang="zh-TW" altLang="en-US" sz="1200" b="0" i="0" kern="1200" dirty="0">
                <a:solidFill>
                  <a:schemeClr val="tx1"/>
                </a:solidFill>
                <a:effectLst/>
                <a:latin typeface="+mn-lt"/>
                <a:ea typeface="+mn-ea"/>
                <a:cs typeface="+mn-cs"/>
              </a:rPr>
              <a:t>，這個方法的目標是在兩個字串</a:t>
            </a:r>
            <a:r>
              <a:rPr lang="en-US" altLang="zh-TW" sz="1200" b="0" i="0" kern="1200" dirty="0">
                <a:solidFill>
                  <a:schemeClr val="tx1"/>
                </a:solidFill>
                <a:effectLst/>
                <a:latin typeface="+mn-lt"/>
                <a:ea typeface="+mn-ea"/>
                <a:cs typeface="+mn-cs"/>
              </a:rPr>
              <a:t>X</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Y</a:t>
            </a:r>
            <a:r>
              <a:rPr lang="zh-TW" altLang="en-US" sz="1200" b="0" i="0" kern="1200" dirty="0">
                <a:solidFill>
                  <a:schemeClr val="tx1"/>
                </a:solidFill>
                <a:effectLst/>
                <a:latin typeface="+mn-lt"/>
                <a:ea typeface="+mn-ea"/>
                <a:cs typeface="+mn-cs"/>
              </a:rPr>
              <a:t>之間找到最長的</a:t>
            </a:r>
            <a:r>
              <a:rPr lang="en-US" altLang="zh-TW" sz="1200" b="0" i="0" kern="1200" dirty="0">
                <a:solidFill>
                  <a:schemeClr val="tx1"/>
                </a:solidFill>
                <a:effectLst/>
                <a:latin typeface="+mn-lt"/>
                <a:ea typeface="+mn-ea"/>
                <a:cs typeface="+mn-cs"/>
              </a:rPr>
              <a:t>common sequence</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X</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Y</a:t>
            </a:r>
            <a:r>
              <a:rPr lang="zh-TW" altLang="en-US" sz="1200" b="0" i="0" kern="1200" dirty="0">
                <a:solidFill>
                  <a:schemeClr val="tx1"/>
                </a:solidFill>
                <a:effectLst/>
                <a:latin typeface="+mn-lt"/>
                <a:ea typeface="+mn-ea"/>
                <a:cs typeface="+mn-cs"/>
              </a:rPr>
              <a:t>是字串，</a:t>
            </a:r>
            <a:r>
              <a:rPr lang="en-US" altLang="zh-TW" sz="1200" b="0" i="0" kern="1200" dirty="0">
                <a:solidFill>
                  <a:schemeClr val="tx1"/>
                </a:solidFill>
                <a:effectLst/>
                <a:latin typeface="+mn-lt"/>
                <a:ea typeface="+mn-ea"/>
                <a:cs typeface="+mn-cs"/>
              </a:rPr>
              <a:t>Xi</a:t>
            </a:r>
            <a:r>
              <a:rPr lang="zh-TW" altLang="en-US" sz="1200" b="0" i="0" kern="1200" dirty="0">
                <a:solidFill>
                  <a:schemeClr val="tx1"/>
                </a:solidFill>
                <a:effectLst/>
                <a:latin typeface="+mn-lt"/>
                <a:ea typeface="+mn-ea"/>
                <a:cs typeface="+mn-cs"/>
              </a:rPr>
              <a:t>代表</a:t>
            </a:r>
            <a:r>
              <a:rPr lang="en-US" altLang="zh-TW" sz="1200" b="0" i="0" kern="1200" dirty="0">
                <a:solidFill>
                  <a:schemeClr val="tx1"/>
                </a:solidFill>
                <a:effectLst/>
                <a:latin typeface="+mn-lt"/>
                <a:ea typeface="+mn-ea"/>
                <a:cs typeface="+mn-cs"/>
              </a:rPr>
              <a:t>X</a:t>
            </a:r>
            <a:r>
              <a:rPr lang="zh-TW" altLang="en-US" sz="1200" b="0" i="0" kern="1200" dirty="0">
                <a:solidFill>
                  <a:schemeClr val="tx1"/>
                </a:solidFill>
                <a:effectLst/>
                <a:latin typeface="+mn-lt"/>
                <a:ea typeface="+mn-ea"/>
                <a:cs typeface="+mn-cs"/>
              </a:rPr>
              <a:t>從第一個字母到第</a:t>
            </a:r>
            <a:r>
              <a:rPr lang="en-US" altLang="zh-TW" sz="1200" b="0" i="0" kern="1200" dirty="0" err="1">
                <a:solidFill>
                  <a:schemeClr val="tx1"/>
                </a:solidFill>
                <a:effectLst/>
                <a:latin typeface="+mn-lt"/>
                <a:ea typeface="+mn-ea"/>
                <a:cs typeface="+mn-cs"/>
              </a:rPr>
              <a:t>i</a:t>
            </a:r>
            <a:r>
              <a:rPr lang="zh-TW" altLang="en-US" sz="1200" b="0" i="0" kern="1200" dirty="0">
                <a:solidFill>
                  <a:schemeClr val="tx1"/>
                </a:solidFill>
                <a:effectLst/>
                <a:latin typeface="+mn-lt"/>
                <a:ea typeface="+mn-ea"/>
                <a:cs typeface="+mn-cs"/>
              </a:rPr>
              <a:t>個字母的的字串。</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公式一可以用來計算兩個字串之間的</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長度。</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當</a:t>
            </a:r>
            <a:r>
              <a:rPr lang="en-US" altLang="zh-TW" sz="1200" b="0" i="0" kern="1200" dirty="0" err="1">
                <a:solidFill>
                  <a:schemeClr val="tx1"/>
                </a:solidFill>
                <a:effectLst/>
                <a:latin typeface="+mn-lt"/>
                <a:ea typeface="+mn-ea"/>
                <a:cs typeface="+mn-cs"/>
              </a:rPr>
              <a:t>i</a:t>
            </a:r>
            <a:r>
              <a:rPr lang="zh-TW" altLang="en-US" sz="1200" b="0" i="0" kern="1200" dirty="0">
                <a:solidFill>
                  <a:schemeClr val="tx1"/>
                </a:solidFill>
                <a:effectLst/>
                <a:latin typeface="+mn-lt"/>
                <a:ea typeface="+mn-ea"/>
                <a:cs typeface="+mn-cs"/>
              </a:rPr>
              <a:t>或</a:t>
            </a:r>
            <a:r>
              <a:rPr lang="en-US" altLang="zh-TW" sz="1200" b="0" i="0" kern="1200" dirty="0">
                <a:solidFill>
                  <a:schemeClr val="tx1"/>
                </a:solidFill>
                <a:effectLst/>
                <a:latin typeface="+mn-lt"/>
                <a:ea typeface="+mn-ea"/>
                <a:cs typeface="+mn-cs"/>
              </a:rPr>
              <a:t>j</a:t>
            </a:r>
            <a:r>
              <a:rPr lang="zh-TW" altLang="en-US" sz="1200" b="0" i="0" kern="1200" dirty="0">
                <a:solidFill>
                  <a:schemeClr val="tx1"/>
                </a:solidFill>
                <a:effectLst/>
                <a:latin typeface="+mn-lt"/>
                <a:ea typeface="+mn-ea"/>
                <a:cs typeface="+mn-cs"/>
              </a:rPr>
              <a:t>的值為</a:t>
            </a:r>
            <a:r>
              <a:rPr lang="en-US" altLang="zh-TW" sz="1200" b="0" i="0" kern="1200" dirty="0">
                <a:solidFill>
                  <a:schemeClr val="tx1"/>
                </a:solidFill>
                <a:effectLst/>
                <a:latin typeface="+mn-lt"/>
                <a:ea typeface="+mn-ea"/>
                <a:cs typeface="+mn-cs"/>
              </a:rPr>
              <a:t>0</a:t>
            </a:r>
            <a:r>
              <a:rPr lang="zh-TW" altLang="en-US" sz="1200" b="0" i="0" kern="1200" dirty="0">
                <a:solidFill>
                  <a:schemeClr val="tx1"/>
                </a:solidFill>
                <a:effectLst/>
                <a:latin typeface="+mn-lt"/>
                <a:ea typeface="+mn-ea"/>
                <a:cs typeface="+mn-cs"/>
              </a:rPr>
              <a:t>時，代表至少有一個字串還沒有開始，所以</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為</a:t>
            </a:r>
            <a:r>
              <a:rPr lang="en-US" altLang="zh-TW" sz="1200" b="0" i="0" kern="1200" dirty="0">
                <a:solidFill>
                  <a:schemeClr val="tx1"/>
                </a:solidFill>
                <a:effectLst/>
                <a:latin typeface="+mn-lt"/>
                <a:ea typeface="+mn-ea"/>
                <a:cs typeface="+mn-cs"/>
              </a:rPr>
              <a:t>0</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如果</a:t>
            </a:r>
            <a:r>
              <a:rPr lang="en-US" altLang="zh-TW" sz="1200" b="0" i="0" kern="1200" dirty="0">
                <a:solidFill>
                  <a:schemeClr val="tx1"/>
                </a:solidFill>
                <a:effectLst/>
                <a:latin typeface="+mn-lt"/>
                <a:ea typeface="+mn-ea"/>
                <a:cs typeface="+mn-cs"/>
              </a:rPr>
              <a:t>Xi</a:t>
            </a:r>
            <a:r>
              <a:rPr lang="zh-TW" altLang="en-US" sz="1200" b="0" i="0" kern="1200" dirty="0">
                <a:solidFill>
                  <a:schemeClr val="tx1"/>
                </a:solidFill>
                <a:effectLst/>
                <a:latin typeface="+mn-lt"/>
                <a:ea typeface="+mn-ea"/>
                <a:cs typeface="+mn-cs"/>
              </a:rPr>
              <a:t>和</a:t>
            </a:r>
            <a:r>
              <a:rPr lang="en-US" altLang="zh-TW" sz="1200" b="0" i="0" kern="1200" dirty="0" err="1">
                <a:solidFill>
                  <a:schemeClr val="tx1"/>
                </a:solidFill>
                <a:effectLst/>
                <a:latin typeface="+mn-lt"/>
                <a:ea typeface="+mn-ea"/>
                <a:cs typeface="+mn-cs"/>
              </a:rPr>
              <a:t>Yj</a:t>
            </a:r>
            <a:r>
              <a:rPr lang="zh-TW" altLang="en-US" sz="1200" b="0" i="0" kern="1200" dirty="0">
                <a:solidFill>
                  <a:schemeClr val="tx1"/>
                </a:solidFill>
                <a:effectLst/>
                <a:latin typeface="+mn-lt"/>
                <a:ea typeface="+mn-ea"/>
                <a:cs typeface="+mn-cs"/>
              </a:rPr>
              <a:t>的字母相同（</a:t>
            </a:r>
            <a:r>
              <a:rPr lang="en-US" altLang="zh-TW" sz="1200" b="0" i="0" kern="1200" dirty="0">
                <a:solidFill>
                  <a:schemeClr val="tx1"/>
                </a:solidFill>
                <a:effectLst/>
                <a:latin typeface="+mn-lt"/>
                <a:ea typeface="+mn-ea"/>
                <a:cs typeface="+mn-cs"/>
              </a:rPr>
              <a:t>xi = </a:t>
            </a:r>
            <a:r>
              <a:rPr lang="en-US" altLang="zh-TW" sz="1200" b="0" i="0" kern="1200" dirty="0" err="1">
                <a:solidFill>
                  <a:schemeClr val="tx1"/>
                </a:solidFill>
                <a:effectLst/>
                <a:latin typeface="+mn-lt"/>
                <a:ea typeface="+mn-ea"/>
                <a:cs typeface="+mn-cs"/>
              </a:rPr>
              <a:t>yj</a:t>
            </a:r>
            <a:r>
              <a:rPr lang="zh-TW" altLang="en-US" sz="1200" b="0" i="0" kern="1200" dirty="0">
                <a:solidFill>
                  <a:schemeClr val="tx1"/>
                </a:solidFill>
                <a:effectLst/>
                <a:latin typeface="+mn-lt"/>
                <a:ea typeface="+mn-ea"/>
                <a:cs typeface="+mn-cs"/>
              </a:rPr>
              <a:t>），就把前一個的</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長度加</a:t>
            </a:r>
            <a:r>
              <a:rPr lang="en-US" altLang="zh-TW" sz="1200" b="0" i="0" kern="1200" dirty="0">
                <a:solidFill>
                  <a:schemeClr val="tx1"/>
                </a:solidFill>
                <a:effectLst/>
                <a:latin typeface="+mn-lt"/>
                <a:ea typeface="+mn-ea"/>
                <a:cs typeface="+mn-cs"/>
              </a:rPr>
              <a:t>1</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如果</a:t>
            </a:r>
            <a:r>
              <a:rPr lang="en-US" altLang="zh-TW" sz="1200" b="0" i="0" kern="1200" dirty="0">
                <a:solidFill>
                  <a:schemeClr val="tx1"/>
                </a:solidFill>
                <a:effectLst/>
                <a:latin typeface="+mn-lt"/>
                <a:ea typeface="+mn-ea"/>
                <a:cs typeface="+mn-cs"/>
              </a:rPr>
              <a:t>Xi</a:t>
            </a:r>
            <a:r>
              <a:rPr lang="zh-TW" altLang="en-US" sz="1200" b="0" i="0" kern="1200" dirty="0">
                <a:solidFill>
                  <a:schemeClr val="tx1"/>
                </a:solidFill>
                <a:effectLst/>
                <a:latin typeface="+mn-lt"/>
                <a:ea typeface="+mn-ea"/>
                <a:cs typeface="+mn-cs"/>
              </a:rPr>
              <a:t>和</a:t>
            </a:r>
            <a:r>
              <a:rPr lang="en-US" altLang="zh-TW" sz="1200" b="0" i="0" kern="1200" dirty="0" err="1">
                <a:solidFill>
                  <a:schemeClr val="tx1"/>
                </a:solidFill>
                <a:effectLst/>
                <a:latin typeface="+mn-lt"/>
                <a:ea typeface="+mn-ea"/>
                <a:cs typeface="+mn-cs"/>
              </a:rPr>
              <a:t>Yj</a:t>
            </a:r>
            <a:r>
              <a:rPr lang="zh-TW" altLang="en-US" sz="1200" b="0" i="0" kern="1200" dirty="0">
                <a:solidFill>
                  <a:schemeClr val="tx1"/>
                </a:solidFill>
                <a:effectLst/>
                <a:latin typeface="+mn-lt"/>
                <a:ea typeface="+mn-ea"/>
                <a:cs typeface="+mn-cs"/>
              </a:rPr>
              <a:t>的字母不一樣，則</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取前一個</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中最大的那個值，代表兩個字串之間的最大共同部分。</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公式二代表</a:t>
            </a:r>
            <a:r>
              <a:rPr lang="en-US" altLang="zh-TW" sz="1200" b="0" i="0" kern="1200" dirty="0" err="1">
                <a:solidFill>
                  <a:schemeClr val="tx1"/>
                </a:solidFill>
                <a:effectLst/>
                <a:latin typeface="+mn-lt"/>
                <a:ea typeface="+mn-ea"/>
                <a:cs typeface="+mn-cs"/>
              </a:rPr>
              <a:t>ti</a:t>
            </a:r>
            <a:r>
              <a:rPr lang="zh-TW" altLang="en-US" sz="1200" b="0" i="0" kern="1200" dirty="0">
                <a:solidFill>
                  <a:schemeClr val="tx1"/>
                </a:solidFill>
                <a:effectLst/>
                <a:latin typeface="+mn-lt"/>
                <a:ea typeface="+mn-ea"/>
                <a:cs typeface="+mn-cs"/>
              </a:rPr>
              <a:t>和</a:t>
            </a:r>
            <a:r>
              <a:rPr lang="en-US" altLang="zh-TW" sz="1200" b="0" i="0" kern="1200" dirty="0" err="1">
                <a:solidFill>
                  <a:schemeClr val="tx1"/>
                </a:solidFill>
                <a:effectLst/>
                <a:latin typeface="+mn-lt"/>
                <a:ea typeface="+mn-ea"/>
                <a:cs typeface="+mn-cs"/>
              </a:rPr>
              <a:t>tj</a:t>
            </a:r>
            <a:r>
              <a:rPr lang="zh-TW" altLang="en-US" sz="1200" b="0" i="0" kern="1200" dirty="0">
                <a:solidFill>
                  <a:schemeClr val="tx1"/>
                </a:solidFill>
                <a:effectLst/>
                <a:latin typeface="+mn-lt"/>
                <a:ea typeface="+mn-ea"/>
                <a:cs typeface="+mn-cs"/>
              </a:rPr>
              <a:t>兩個推文之間的相似度。</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分子部分是</a:t>
            </a:r>
            <a:r>
              <a:rPr lang="en-US" altLang="zh-TW" sz="1200" b="0" i="0" kern="1200" dirty="0" err="1">
                <a:solidFill>
                  <a:schemeClr val="tx1"/>
                </a:solidFill>
                <a:effectLst/>
                <a:latin typeface="+mn-lt"/>
                <a:ea typeface="+mn-ea"/>
                <a:cs typeface="+mn-cs"/>
              </a:rPr>
              <a:t>ti</a:t>
            </a:r>
            <a:r>
              <a:rPr lang="zh-TW" altLang="en-US" sz="1200" b="0" i="0" kern="1200" dirty="0">
                <a:solidFill>
                  <a:schemeClr val="tx1"/>
                </a:solidFill>
                <a:effectLst/>
                <a:latin typeface="+mn-lt"/>
                <a:ea typeface="+mn-ea"/>
                <a:cs typeface="+mn-cs"/>
              </a:rPr>
              <a:t>和</a:t>
            </a:r>
            <a:r>
              <a:rPr lang="en-US" altLang="zh-TW" sz="1200" b="0" i="0" kern="1200" dirty="0" err="1">
                <a:solidFill>
                  <a:schemeClr val="tx1"/>
                </a:solidFill>
                <a:effectLst/>
                <a:latin typeface="+mn-lt"/>
                <a:ea typeface="+mn-ea"/>
                <a:cs typeface="+mn-cs"/>
              </a:rPr>
              <a:t>tj</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LCS</a:t>
            </a:r>
            <a:r>
              <a:rPr lang="zh-TW" altLang="en-US" sz="1200" b="0" i="0" kern="1200" dirty="0">
                <a:solidFill>
                  <a:schemeClr val="tx1"/>
                </a:solidFill>
                <a:effectLst/>
                <a:latin typeface="+mn-lt"/>
                <a:ea typeface="+mn-ea"/>
                <a:cs typeface="+mn-cs"/>
              </a:rPr>
              <a:t>長度的兩倍；</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分母部分是把</a:t>
            </a:r>
            <a:r>
              <a:rPr lang="en-US" altLang="zh-TW" sz="1200" b="0" i="0" kern="1200" dirty="0" err="1">
                <a:solidFill>
                  <a:schemeClr val="tx1"/>
                </a:solidFill>
                <a:effectLst/>
                <a:latin typeface="+mn-lt"/>
                <a:ea typeface="+mn-ea"/>
                <a:cs typeface="+mn-cs"/>
              </a:rPr>
              <a:t>ti</a:t>
            </a:r>
            <a:r>
              <a:rPr lang="zh-TW" altLang="en-US" sz="1200" b="0" i="0" kern="1200" dirty="0">
                <a:solidFill>
                  <a:schemeClr val="tx1"/>
                </a:solidFill>
                <a:effectLst/>
                <a:latin typeface="+mn-lt"/>
                <a:ea typeface="+mn-ea"/>
                <a:cs typeface="+mn-cs"/>
              </a:rPr>
              <a:t>和</a:t>
            </a:r>
            <a:r>
              <a:rPr lang="en-US" altLang="zh-TW" sz="1200" b="0" i="0" kern="1200" dirty="0" err="1">
                <a:solidFill>
                  <a:schemeClr val="tx1"/>
                </a:solidFill>
                <a:effectLst/>
                <a:latin typeface="+mn-lt"/>
                <a:ea typeface="+mn-ea"/>
                <a:cs typeface="+mn-cs"/>
              </a:rPr>
              <a:t>tj</a:t>
            </a:r>
            <a:r>
              <a:rPr lang="zh-TW" altLang="en-US" sz="1200" b="0" i="0" kern="1200" dirty="0">
                <a:solidFill>
                  <a:schemeClr val="tx1"/>
                </a:solidFill>
                <a:effectLst/>
                <a:latin typeface="+mn-lt"/>
                <a:ea typeface="+mn-ea"/>
                <a:cs typeface="+mn-cs"/>
              </a:rPr>
              <a:t>的長度相加。</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這樣可以用來評估兩個推文之間的相似性，值越大代表越相似，這個值之後會和閾值進行比較，如果</a:t>
            </a:r>
            <a:r>
              <a:rPr lang="en-US" altLang="zh-TW" sz="1200" b="0" i="0" kern="1200" dirty="0">
                <a:solidFill>
                  <a:schemeClr val="tx1"/>
                </a:solidFill>
                <a:effectLst/>
                <a:latin typeface="+mn-lt"/>
                <a:ea typeface="+mn-ea"/>
                <a:cs typeface="+mn-cs"/>
              </a:rPr>
              <a:t>normalized score</a:t>
            </a:r>
            <a:r>
              <a:rPr lang="zh-TW" altLang="en-US" sz="1200" b="0" i="0" kern="1200" dirty="0">
                <a:solidFill>
                  <a:schemeClr val="tx1"/>
                </a:solidFill>
                <a:effectLst/>
                <a:latin typeface="+mn-lt"/>
                <a:ea typeface="+mn-ea"/>
                <a:cs typeface="+mn-cs"/>
              </a:rPr>
              <a:t>大於某個閾值，就會歸入該聚類。</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6</a:t>
            </a:fld>
            <a:endParaRPr lang="zh-TW" altLang="en-US"/>
          </a:p>
        </p:txBody>
      </p:sp>
    </p:spTree>
    <p:extLst>
      <p:ext uri="{BB962C8B-B14F-4D97-AF65-F5344CB8AC3E}">
        <p14:creationId xmlns:p14="http://schemas.microsoft.com/office/powerpoint/2010/main" val="4629390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這是基於詞彙的</a:t>
            </a:r>
            <a:r>
              <a:rPr lang="en-US" altLang="zh-TW" dirty="0"/>
              <a:t>LCS</a:t>
            </a:r>
            <a:r>
              <a:rPr lang="zh-TW" altLang="en-US" dirty="0"/>
              <a:t>的演算法。</a:t>
            </a:r>
            <a:endParaRPr lang="en-US" altLang="zh-TW" dirty="0"/>
          </a:p>
          <a:p>
            <a:r>
              <a:rPr lang="zh-TW" altLang="en-US" sz="1200" b="0" i="0" kern="1200" dirty="0">
                <a:solidFill>
                  <a:schemeClr val="tx1"/>
                </a:solidFill>
                <a:effectLst/>
                <a:latin typeface="+mn-lt"/>
                <a:ea typeface="+mn-ea"/>
                <a:cs typeface="+mn-cs"/>
              </a:rPr>
              <a:t>首先有一個空集合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用來存放所有的聚類結果。</a:t>
            </a:r>
          </a:p>
          <a:p>
            <a:r>
              <a:rPr lang="zh-TW" altLang="en-US" sz="1200" b="0" i="0" kern="1200" dirty="0">
                <a:solidFill>
                  <a:schemeClr val="tx1"/>
                </a:solidFill>
                <a:effectLst/>
                <a:latin typeface="+mn-lt"/>
                <a:ea typeface="+mn-ea"/>
                <a:cs typeface="+mn-cs"/>
              </a:rPr>
              <a:t>對於每一個推文 </a:t>
            </a:r>
            <a:r>
              <a:rPr lang="en-US" altLang="zh-TW" sz="1200" b="0" i="0" kern="1200" dirty="0" err="1">
                <a:solidFill>
                  <a:schemeClr val="tx1"/>
                </a:solidFill>
                <a:effectLst/>
                <a:latin typeface="+mn-lt"/>
                <a:ea typeface="+mn-ea"/>
                <a:cs typeface="+mn-cs"/>
              </a:rPr>
              <a:t>ti</a:t>
            </a:r>
            <a:r>
              <a:rPr lang="zh-TW" altLang="en-US" sz="1200" b="0" i="0" kern="1200" dirty="0">
                <a:solidFill>
                  <a:schemeClr val="tx1"/>
                </a:solidFill>
                <a:effectLst/>
                <a:latin typeface="+mn-lt"/>
                <a:ea typeface="+mn-ea"/>
                <a:cs typeface="+mn-cs"/>
              </a:rPr>
              <a:t>，都先把</a:t>
            </a:r>
            <a:r>
              <a:rPr lang="en-US" altLang="zh-TW" sz="1200" b="0" i="0" kern="1200" dirty="0" err="1">
                <a:solidFill>
                  <a:schemeClr val="tx1"/>
                </a:solidFill>
                <a:effectLst/>
                <a:latin typeface="+mn-lt"/>
                <a:ea typeface="+mn-ea"/>
                <a:cs typeface="+mn-cs"/>
              </a:rPr>
              <a:t>ti.isClustered</a:t>
            </a:r>
            <a:r>
              <a:rPr lang="zh-TW" altLang="en-US" sz="1200" b="0" i="0" kern="1200" dirty="0">
                <a:solidFill>
                  <a:schemeClr val="tx1"/>
                </a:solidFill>
                <a:effectLst/>
                <a:latin typeface="+mn-lt"/>
                <a:ea typeface="+mn-ea"/>
                <a:cs typeface="+mn-cs"/>
              </a:rPr>
              <a:t>設置為 </a:t>
            </a:r>
            <a:r>
              <a:rPr lang="en-US" altLang="zh-TW" sz="1200" b="0" i="0" kern="1200" dirty="0">
                <a:solidFill>
                  <a:schemeClr val="tx1"/>
                </a:solidFill>
                <a:effectLst/>
                <a:latin typeface="+mn-lt"/>
                <a:ea typeface="+mn-ea"/>
                <a:cs typeface="+mn-cs"/>
              </a:rPr>
              <a:t>false</a:t>
            </a:r>
            <a:r>
              <a:rPr lang="zh-TW" altLang="en-US" sz="1200" b="0" i="0" kern="1200" dirty="0">
                <a:solidFill>
                  <a:schemeClr val="tx1"/>
                </a:solidFill>
                <a:effectLst/>
                <a:latin typeface="+mn-lt"/>
                <a:ea typeface="+mn-ea"/>
                <a:cs typeface="+mn-cs"/>
              </a:rPr>
              <a:t>，代表該推文還沒有被聚類。</a:t>
            </a:r>
          </a:p>
          <a:p>
            <a:r>
              <a:rPr lang="zh-TW" altLang="en-US" sz="1200" b="0" i="0" kern="1200" dirty="0">
                <a:solidFill>
                  <a:schemeClr val="tx1"/>
                </a:solidFill>
                <a:effectLst/>
                <a:latin typeface="+mn-lt"/>
                <a:ea typeface="+mn-ea"/>
                <a:cs typeface="+mn-cs"/>
              </a:rPr>
              <a:t>然後遍歷所有推文，對每一個還沒被聚類的推文 </a:t>
            </a:r>
            <a:r>
              <a:rPr lang="en-US" altLang="zh-TW" sz="1200" b="0" i="0" kern="1200" dirty="0" err="1">
                <a:solidFill>
                  <a:schemeClr val="tx1"/>
                </a:solidFill>
                <a:effectLst/>
                <a:latin typeface="+mn-lt"/>
                <a:ea typeface="+mn-ea"/>
                <a:cs typeface="+mn-cs"/>
              </a:rPr>
              <a:t>ti</a:t>
            </a:r>
            <a:r>
              <a:rPr lang="zh-TW" altLang="en-US" sz="1200" b="0" i="0" kern="1200" dirty="0">
                <a:solidFill>
                  <a:schemeClr val="tx1"/>
                </a:solidFill>
                <a:effectLst/>
                <a:latin typeface="+mn-lt"/>
                <a:ea typeface="+mn-ea"/>
                <a:cs typeface="+mn-cs"/>
              </a:rPr>
              <a:t>：</a:t>
            </a:r>
            <a:br>
              <a:rPr lang="zh-TW" altLang="en-US" sz="1200" b="0" i="0" kern="1200" dirty="0">
                <a:solidFill>
                  <a:schemeClr val="tx1"/>
                </a:solidFill>
                <a:effectLst/>
                <a:latin typeface="+mn-lt"/>
                <a:ea typeface="+mn-ea"/>
                <a:cs typeface="+mn-cs"/>
              </a:rPr>
            </a:br>
            <a:r>
              <a:rPr lang="zh-TW" altLang="en-US" sz="1200" b="0" i="0" kern="1200" dirty="0">
                <a:solidFill>
                  <a:schemeClr val="tx1"/>
                </a:solidFill>
                <a:effectLst/>
                <a:latin typeface="+mn-lt"/>
                <a:ea typeface="+mn-ea"/>
                <a:cs typeface="+mn-cs"/>
              </a:rPr>
              <a:t>創建一個新的聚類 </a:t>
            </a:r>
            <a:r>
              <a:rPr lang="en-US" altLang="zh-TW" sz="1200" b="0" i="0" kern="1200" dirty="0">
                <a:solidFill>
                  <a:schemeClr val="tx1"/>
                </a:solidFill>
                <a:effectLst/>
                <a:latin typeface="+mn-lt"/>
                <a:ea typeface="+mn-ea"/>
                <a:cs typeface="+mn-cs"/>
              </a:rPr>
              <a:t>c</a:t>
            </a:r>
            <a:r>
              <a:rPr lang="zh-TW" altLang="en-US" sz="1200" b="0" i="0" kern="1200" dirty="0">
                <a:solidFill>
                  <a:schemeClr val="tx1"/>
                </a:solidFill>
                <a:effectLst/>
                <a:latin typeface="+mn-lt"/>
                <a:ea typeface="+mn-ea"/>
                <a:cs typeface="+mn-cs"/>
              </a:rPr>
              <a:t>，將 </a:t>
            </a:r>
            <a:r>
              <a:rPr lang="en-US" altLang="zh-TW" sz="1200" b="0" i="0" kern="1200" dirty="0" err="1">
                <a:solidFill>
                  <a:schemeClr val="tx1"/>
                </a:solidFill>
                <a:effectLst/>
                <a:latin typeface="+mn-lt"/>
                <a:ea typeface="+mn-ea"/>
                <a:cs typeface="+mn-cs"/>
              </a:rPr>
              <a:t>ti</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加入其中。</a:t>
            </a:r>
            <a:br>
              <a:rPr lang="zh-TW" altLang="en-US" sz="1200" b="0" i="0" kern="1200" dirty="0">
                <a:solidFill>
                  <a:schemeClr val="tx1"/>
                </a:solidFill>
                <a:effectLst/>
                <a:latin typeface="+mn-lt"/>
                <a:ea typeface="+mn-ea"/>
                <a:cs typeface="+mn-cs"/>
              </a:rPr>
            </a:br>
            <a:r>
              <a:rPr lang="zh-TW" altLang="en-US" sz="1200" b="0" i="0" kern="1200" dirty="0">
                <a:solidFill>
                  <a:schemeClr val="tx1"/>
                </a:solidFill>
                <a:effectLst/>
                <a:latin typeface="+mn-lt"/>
                <a:ea typeface="+mn-ea"/>
                <a:cs typeface="+mn-cs"/>
              </a:rPr>
              <a:t>對每一個比 </a:t>
            </a:r>
            <a:r>
              <a:rPr lang="en-US" altLang="zh-TW" sz="1200" b="0" i="0" kern="1200" dirty="0" err="1">
                <a:solidFill>
                  <a:schemeClr val="tx1"/>
                </a:solidFill>
                <a:effectLst/>
                <a:latin typeface="+mn-lt"/>
                <a:ea typeface="+mn-ea"/>
                <a:cs typeface="+mn-cs"/>
              </a:rPr>
              <a:t>ti</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後面，且還沒被聚類的推文 </a:t>
            </a:r>
            <a:r>
              <a:rPr lang="en-US" altLang="zh-TW" sz="1200" b="0" i="0" kern="1200" dirty="0" err="1">
                <a:solidFill>
                  <a:schemeClr val="tx1"/>
                </a:solidFill>
                <a:effectLst/>
                <a:latin typeface="+mn-lt"/>
                <a:ea typeface="+mn-ea"/>
                <a:cs typeface="+mn-cs"/>
              </a:rPr>
              <a:t>tj</a:t>
            </a:r>
            <a:r>
              <a:rPr lang="zh-TW" altLang="en-US" sz="1200" b="0" i="0" kern="1200" dirty="0">
                <a:solidFill>
                  <a:schemeClr val="tx1"/>
                </a:solidFill>
                <a:effectLst/>
                <a:latin typeface="+mn-lt"/>
                <a:ea typeface="+mn-ea"/>
                <a:cs typeface="+mn-cs"/>
              </a:rPr>
              <a:t>，如果這兩個推文的相似度超過閾值就把 </a:t>
            </a:r>
            <a:r>
              <a:rPr lang="en-US" altLang="zh-TW" sz="1200" b="0" i="0" kern="1200" dirty="0" err="1">
                <a:solidFill>
                  <a:schemeClr val="tx1"/>
                </a:solidFill>
                <a:effectLst/>
                <a:latin typeface="+mn-lt"/>
                <a:ea typeface="+mn-ea"/>
                <a:cs typeface="+mn-cs"/>
              </a:rPr>
              <a:t>tj</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加入聚類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中。</a:t>
            </a:r>
            <a:br>
              <a:rPr lang="zh-TW" altLang="en-US" sz="1200" b="0" i="0" kern="1200" dirty="0">
                <a:solidFill>
                  <a:schemeClr val="tx1"/>
                </a:solidFill>
                <a:effectLst/>
                <a:latin typeface="+mn-lt"/>
                <a:ea typeface="+mn-ea"/>
                <a:cs typeface="+mn-cs"/>
              </a:rPr>
            </a:br>
            <a:r>
              <a:rPr lang="zh-TW" altLang="en-US" sz="1200" b="0" i="0" kern="1200" dirty="0">
                <a:solidFill>
                  <a:schemeClr val="tx1"/>
                </a:solidFill>
                <a:effectLst/>
                <a:latin typeface="+mn-lt"/>
                <a:ea typeface="+mn-ea"/>
                <a:cs typeface="+mn-cs"/>
              </a:rPr>
              <a:t>如果聚類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的大小超過 </a:t>
            </a:r>
            <a:r>
              <a:rPr lang="en-US" altLang="zh-TW" sz="1200" b="0" i="0" kern="1200" dirty="0">
                <a:solidFill>
                  <a:schemeClr val="tx1"/>
                </a:solidFill>
                <a:effectLst/>
                <a:latin typeface="+mn-lt"/>
                <a:ea typeface="+mn-ea"/>
                <a:cs typeface="+mn-cs"/>
              </a:rPr>
              <a:t>k</a:t>
            </a:r>
            <a:r>
              <a:rPr lang="zh-TW" altLang="en-US" sz="1200" b="0" i="0" kern="1200" dirty="0">
                <a:solidFill>
                  <a:schemeClr val="tx1"/>
                </a:solidFill>
                <a:effectLst/>
                <a:latin typeface="+mn-lt"/>
                <a:ea typeface="+mn-ea"/>
                <a:cs typeface="+mn-cs"/>
              </a:rPr>
              <a:t>，也就是說某個聚類裡面所含的推蚊數量超過</a:t>
            </a:r>
            <a:r>
              <a:rPr lang="en-US" altLang="zh-TW" sz="1200" b="0" i="0" kern="1200" dirty="0">
                <a:solidFill>
                  <a:schemeClr val="tx1"/>
                </a:solidFill>
                <a:effectLst/>
                <a:latin typeface="+mn-lt"/>
                <a:ea typeface="+mn-ea"/>
                <a:cs typeface="+mn-cs"/>
              </a:rPr>
              <a:t>k</a:t>
            </a:r>
            <a:r>
              <a:rPr lang="zh-TW" altLang="en-US" sz="1200" b="0" i="0" kern="1200" dirty="0">
                <a:solidFill>
                  <a:schemeClr val="tx1"/>
                </a:solidFill>
                <a:effectLst/>
                <a:latin typeface="+mn-lt"/>
                <a:ea typeface="+mn-ea"/>
                <a:cs typeface="+mn-cs"/>
              </a:rPr>
              <a:t>個，就把聚類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加入集合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中，並將 </a:t>
            </a:r>
            <a:r>
              <a:rPr lang="en-US" altLang="zh-TW" sz="1200" b="0" i="0" kern="1200" dirty="0">
                <a:solidFill>
                  <a:schemeClr val="tx1"/>
                </a:solidFill>
                <a:effectLst/>
                <a:latin typeface="+mn-lt"/>
                <a:ea typeface="+mn-ea"/>
                <a:cs typeface="+mn-cs"/>
              </a:rPr>
              <a:t>c </a:t>
            </a:r>
            <a:r>
              <a:rPr lang="zh-TW" altLang="en-US" sz="1200" b="0" i="0" kern="1200" dirty="0">
                <a:solidFill>
                  <a:schemeClr val="tx1"/>
                </a:solidFill>
                <a:effectLst/>
                <a:latin typeface="+mn-lt"/>
                <a:ea typeface="+mn-ea"/>
                <a:cs typeface="+mn-cs"/>
              </a:rPr>
              <a:t>中的所有推文標記為已聚類。</a:t>
            </a:r>
            <a:endParaRPr lang="en-US" altLang="zh-TW" sz="1200" b="0" i="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最後返回 </a:t>
            </a:r>
            <a:r>
              <a:rPr lang="en-US" altLang="zh-TW" sz="1200" b="0" i="0" kern="1200" dirty="0">
                <a:solidFill>
                  <a:schemeClr val="tx1"/>
                </a:solidFill>
                <a:effectLst/>
                <a:latin typeface="+mn-lt"/>
                <a:ea typeface="+mn-ea"/>
                <a:cs typeface="+mn-cs"/>
              </a:rPr>
              <a:t>C</a:t>
            </a:r>
            <a:r>
              <a:rPr lang="zh-TW" altLang="en-US" sz="1200" b="0" i="0" kern="1200" dirty="0">
                <a:solidFill>
                  <a:schemeClr val="tx1"/>
                </a:solidFill>
                <a:effectLst/>
                <a:latin typeface="+mn-lt"/>
                <a:ea typeface="+mn-ea"/>
                <a:cs typeface="+mn-cs"/>
              </a:rPr>
              <a:t>，也就是所有的聚類結果。</a:t>
            </a:r>
            <a:endParaRPr lang="en-US" altLang="zh-TW" sz="1200" b="0" i="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整體來說就是通過比較推文之間的相似度，把相似的推文聚在一起。</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200" b="0" i="0" kern="1200" dirty="0">
                <a:solidFill>
                  <a:schemeClr val="tx1"/>
                </a:solidFill>
                <a:effectLst/>
                <a:latin typeface="+mn-lt"/>
                <a:ea typeface="+mn-ea"/>
                <a:cs typeface="+mn-cs"/>
              </a:rPr>
              <a:t>//</a:t>
            </a:r>
            <a:r>
              <a:rPr lang="en-US" altLang="zh-TW" sz="1200" dirty="0">
                <a:latin typeface="Times New Roman" panose="02020603050405020304" pitchFamily="18" charset="0"/>
                <a:cs typeface="Times New Roman" panose="02020603050405020304" pitchFamily="18" charset="0"/>
              </a:rPr>
              <a:t>O(N</a:t>
            </a:r>
            <a:r>
              <a:rPr lang="en-US" altLang="zh-TW" sz="1200" baseline="30000" dirty="0">
                <a:latin typeface="Times New Roman" panose="02020603050405020304" pitchFamily="18" charset="0"/>
                <a:cs typeface="Times New Roman" panose="02020603050405020304" pitchFamily="18" charset="0"/>
              </a:rPr>
              <a:t>2</a:t>
            </a:r>
            <a:r>
              <a:rPr lang="en-US" altLang="zh-TW" sz="1200" dirty="0">
                <a:latin typeface="Times New Roman" panose="02020603050405020304" pitchFamily="18" charset="0"/>
                <a:cs typeface="Times New Roman" panose="02020603050405020304" pitchFamily="18" charset="0"/>
              </a:rPr>
              <a:t>*L</a:t>
            </a:r>
            <a:r>
              <a:rPr lang="en-US" altLang="zh-TW" sz="1200" baseline="30000" dirty="0">
                <a:latin typeface="Times New Roman" panose="02020603050405020304" pitchFamily="18" charset="0"/>
                <a:cs typeface="Times New Roman" panose="02020603050405020304" pitchFamily="18" charset="0"/>
              </a:rPr>
              <a:t>2</a:t>
            </a:r>
            <a:r>
              <a:rPr lang="en-US" altLang="zh-TW" sz="1200" dirty="0">
                <a:latin typeface="Times New Roman" panose="02020603050405020304" pitchFamily="18" charset="0"/>
                <a:cs typeface="Times New Roman" panose="02020603050405020304" pitchFamily="18" charset="0"/>
              </a:rPr>
              <a:t>)</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是推蚊數量，</a:t>
            </a:r>
            <a:r>
              <a:rPr lang="en-US" altLang="zh-TW" sz="1200" b="0" i="0" kern="1200" dirty="0">
                <a:solidFill>
                  <a:schemeClr val="tx1"/>
                </a:solidFill>
                <a:effectLst/>
                <a:latin typeface="+mn-lt"/>
                <a:ea typeface="+mn-ea"/>
                <a:cs typeface="+mn-cs"/>
              </a:rPr>
              <a:t>L</a:t>
            </a:r>
            <a:r>
              <a:rPr lang="zh-TW" altLang="en-US" sz="1200" b="0" i="0" kern="1200" dirty="0">
                <a:solidFill>
                  <a:schemeClr val="tx1"/>
                </a:solidFill>
                <a:effectLst/>
                <a:latin typeface="+mn-lt"/>
                <a:ea typeface="+mn-ea"/>
                <a:cs typeface="+mn-cs"/>
              </a:rPr>
              <a:t>是推文的最大長度，由於推特的特性，他的值是</a:t>
            </a:r>
            <a:r>
              <a:rPr lang="en-US" altLang="zh-TW" sz="1200" b="0" i="0" kern="1200" dirty="0">
                <a:solidFill>
                  <a:schemeClr val="tx1"/>
                </a:solidFill>
                <a:effectLst/>
                <a:latin typeface="+mn-lt"/>
                <a:ea typeface="+mn-ea"/>
                <a:cs typeface="+mn-cs"/>
              </a:rPr>
              <a:t>140</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zh-TW" sz="1200" kern="1200" dirty="0">
                <a:solidFill>
                  <a:schemeClr val="tx1"/>
                </a:solidFill>
                <a:effectLst/>
                <a:latin typeface="+mn-lt"/>
                <a:ea typeface="+mn-ea"/>
                <a:cs typeface="+mn-cs"/>
              </a:rPr>
              <a:t>屬於</a:t>
            </a:r>
            <a:r>
              <a:rPr lang="zh-TW" altLang="en-US" sz="1200" kern="1200" dirty="0">
                <a:solidFill>
                  <a:schemeClr val="tx1"/>
                </a:solidFill>
                <a:effectLst/>
                <a:latin typeface="+mn-lt"/>
                <a:ea typeface="+mn-ea"/>
                <a:cs typeface="+mn-cs"/>
              </a:rPr>
              <a:t>某個聚類</a:t>
            </a:r>
            <a:r>
              <a:rPr lang="zh-TW" altLang="zh-TW" sz="1200" kern="1200" dirty="0">
                <a:solidFill>
                  <a:schemeClr val="tx1"/>
                </a:solidFill>
                <a:effectLst/>
                <a:latin typeface="+mn-lt"/>
                <a:ea typeface="+mn-ea"/>
                <a:cs typeface="+mn-cs"/>
              </a:rPr>
              <a:t>的每個推文與該</a:t>
            </a:r>
            <a:r>
              <a:rPr lang="zh-TW" altLang="en-US" sz="1200" kern="1200" dirty="0">
                <a:solidFill>
                  <a:schemeClr val="tx1"/>
                </a:solidFill>
                <a:effectLst/>
                <a:latin typeface="+mn-lt"/>
                <a:ea typeface="+mn-ea"/>
                <a:cs typeface="+mn-cs"/>
              </a:rPr>
              <a:t>劇類</a:t>
            </a:r>
            <a:r>
              <a:rPr lang="zh-TW" altLang="zh-TW" sz="1200" kern="1200" dirty="0">
                <a:solidFill>
                  <a:schemeClr val="tx1"/>
                </a:solidFill>
                <a:effectLst/>
                <a:latin typeface="+mn-lt"/>
                <a:ea typeface="+mn-ea"/>
                <a:cs typeface="+mn-cs"/>
              </a:rPr>
              <a:t>的代表性推文的相似性都高於閾值。</a:t>
            </a:r>
            <a:r>
              <a:rPr lang="zh-TW" altLang="en-US" sz="1200" kern="1200" dirty="0">
                <a:solidFill>
                  <a:schemeClr val="tx1"/>
                </a:solidFill>
                <a:effectLst/>
                <a:latin typeface="+mn-lt"/>
                <a:ea typeface="+mn-ea"/>
                <a:cs typeface="+mn-cs"/>
              </a:rPr>
              <a:t>但要</a:t>
            </a:r>
            <a:r>
              <a:rPr lang="zh-TW" altLang="zh-TW" sz="1200" kern="1200" dirty="0">
                <a:solidFill>
                  <a:schemeClr val="tx1"/>
                </a:solidFill>
                <a:effectLst/>
                <a:latin typeface="+mn-lt"/>
                <a:ea typeface="+mn-ea"/>
                <a:cs typeface="+mn-cs"/>
              </a:rPr>
              <a:t>注意的是，並不存在保證簇中任意兩個推文之間的相似性高於閾值。</a:t>
            </a:r>
            <a:endParaRPr lang="en-US" altLang="zh-TW" sz="1200" b="0" i="0" kern="1200" dirty="0">
              <a:solidFill>
                <a:schemeClr val="tx1"/>
              </a:solidFill>
              <a:effectLst/>
              <a:latin typeface="+mn-lt"/>
              <a:ea typeface="+mn-ea"/>
              <a:cs typeface="+mn-cs"/>
            </a:endParaRPr>
          </a:p>
          <a:p>
            <a:endParaRPr lang="zh-TW" altLang="en-US" sz="1200" b="0" i="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7</a:t>
            </a:fld>
            <a:endParaRPr lang="zh-TW" altLang="en-US"/>
          </a:p>
        </p:txBody>
      </p:sp>
    </p:spTree>
    <p:extLst>
      <p:ext uri="{BB962C8B-B14F-4D97-AF65-F5344CB8AC3E}">
        <p14:creationId xmlns:p14="http://schemas.microsoft.com/office/powerpoint/2010/main" val="17527044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接下來是</a:t>
            </a:r>
            <a:r>
              <a:rPr lang="en-US" altLang="zh-TW" dirty="0"/>
              <a:t>ST-TWEC</a:t>
            </a:r>
            <a:r>
              <a:rPr lang="zh-TW" altLang="en-US" dirty="0"/>
              <a:t>，它使用的是</a:t>
            </a:r>
            <a:r>
              <a:rPr lang="en-US" altLang="zh-TW" dirty="0"/>
              <a:t>common substring</a:t>
            </a:r>
            <a:r>
              <a:rPr lang="zh-TW" altLang="en-US" dirty="0"/>
              <a:t>，跟</a:t>
            </a:r>
            <a:r>
              <a:rPr lang="en-US" altLang="zh-TW" dirty="0"/>
              <a:t>subsequence</a:t>
            </a:r>
            <a:r>
              <a:rPr lang="zh-TW" altLang="en-US" dirty="0"/>
              <a:t>不同，</a:t>
            </a:r>
            <a:r>
              <a:rPr lang="en-US" altLang="zh-TW" dirty="0"/>
              <a:t>substring</a:t>
            </a:r>
            <a:r>
              <a:rPr lang="zh-TW" altLang="en-US" dirty="0"/>
              <a:t>是連續的字串。</a:t>
            </a:r>
            <a:endParaRPr lang="en-US" altLang="zh-TW" dirty="0"/>
          </a:p>
          <a:p>
            <a:r>
              <a:rPr lang="en-US" altLang="zh-TW" dirty="0"/>
              <a:t>ST-TWEC</a:t>
            </a:r>
            <a:r>
              <a:rPr lang="zh-TW" altLang="en-US" dirty="0"/>
              <a:t>的目標是創建一組</a:t>
            </a:r>
            <a:r>
              <a:rPr lang="en-US" altLang="zh-TW" dirty="0"/>
              <a:t>cluster</a:t>
            </a:r>
            <a:r>
              <a:rPr lang="zh-TW" altLang="en-US" dirty="0"/>
              <a:t>，這個</a:t>
            </a:r>
            <a:r>
              <a:rPr lang="en-US" altLang="zh-TW" dirty="0"/>
              <a:t>cluster</a:t>
            </a:r>
            <a:r>
              <a:rPr lang="zh-TW" altLang="en-US" dirty="0"/>
              <a:t>中的每個推文的</a:t>
            </a:r>
            <a:r>
              <a:rPr lang="en-US" altLang="zh-TW" dirty="0"/>
              <a:t>common</a:t>
            </a:r>
            <a:r>
              <a:rPr lang="en-US" altLang="zh-TW" baseline="0" dirty="0"/>
              <a:t> substring</a:t>
            </a:r>
            <a:r>
              <a:rPr lang="zh-TW" altLang="en-US" baseline="0" dirty="0"/>
              <a:t>長度都會大於一個閾值。</a:t>
            </a:r>
            <a:endParaRPr lang="en-US" altLang="zh-TW" baseline="0" dirty="0"/>
          </a:p>
          <a:p>
            <a:endParaRPr lang="en-US" altLang="zh-TW" baseline="0" dirty="0"/>
          </a:p>
          <a:p>
            <a:r>
              <a:rPr lang="en-US" altLang="zh-TW" baseline="0" dirty="0"/>
              <a:t>(</a:t>
            </a:r>
            <a:r>
              <a:rPr lang="zh-TW" altLang="en-US" baseline="0" dirty="0"/>
              <a:t>在一個聚類中，所有推文的</a:t>
            </a:r>
            <a:r>
              <a:rPr lang="en-US" altLang="zh-TW" baseline="0" dirty="0"/>
              <a:t>common substring</a:t>
            </a:r>
            <a:r>
              <a:rPr lang="zh-TW" altLang="en-US" baseline="0" dirty="0"/>
              <a:t>會做為該聚類的</a:t>
            </a:r>
            <a:r>
              <a:rPr lang="en-US" altLang="zh-TW" baseline="0" dirty="0"/>
              <a:t>label</a:t>
            </a:r>
            <a:r>
              <a:rPr lang="zh-TW" altLang="en-US" baseline="0" dirty="0"/>
              <a:t>。</a:t>
            </a:r>
            <a:endParaRPr lang="en-US" altLang="zh-TW" baseline="0"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8</a:t>
            </a:fld>
            <a:endParaRPr lang="zh-TW" altLang="en-US"/>
          </a:p>
        </p:txBody>
      </p:sp>
    </p:spTree>
    <p:extLst>
      <p:ext uri="{BB962C8B-B14F-4D97-AF65-F5344CB8AC3E}">
        <p14:creationId xmlns:p14="http://schemas.microsoft.com/office/powerpoint/2010/main" val="13014586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zh-TW" altLang="en-US" dirty="0"/>
              <a:t>接下來是</a:t>
            </a:r>
            <a:r>
              <a:rPr lang="en-US" altLang="zh-TW" dirty="0"/>
              <a:t>ST-TWEC</a:t>
            </a:r>
            <a:r>
              <a:rPr lang="zh-TW" altLang="en-US" dirty="0"/>
              <a:t>的四個步驟：</a:t>
            </a:r>
            <a:endParaRPr lang="en-US" altLang="zh-TW" dirty="0"/>
          </a:p>
          <a:p>
            <a:pPr algn="l"/>
            <a:endParaRPr lang="en-US" altLang="zh-TW" dirty="0"/>
          </a:p>
          <a:p>
            <a:r>
              <a:rPr lang="zh-TW" altLang="en-US" dirty="0"/>
              <a:t>第一步進行預處理，把連結、使用者名稱等去除掉，把推文轉為小寫，最後再把少於五個字母的推文移除。</a:t>
            </a:r>
            <a:endParaRPr lang="en-US" altLang="zh-TW" dirty="0"/>
          </a:p>
          <a:p>
            <a:r>
              <a:rPr lang="zh-TW" altLang="en-US" dirty="0"/>
              <a:t>第二步是建立一個後綴樹來找推文之間的</a:t>
            </a:r>
            <a:r>
              <a:rPr lang="en-US" altLang="zh-TW" dirty="0"/>
              <a:t>common</a:t>
            </a:r>
            <a:r>
              <a:rPr lang="en-US" altLang="zh-TW" baseline="0" dirty="0"/>
              <a:t> </a:t>
            </a:r>
            <a:r>
              <a:rPr lang="en-US" altLang="zh-TW" dirty="0"/>
              <a:t>substring</a:t>
            </a:r>
            <a:r>
              <a:rPr lang="zh-TW" altLang="en-US" dirty="0"/>
              <a:t>。</a:t>
            </a:r>
            <a:endParaRPr lang="en-US" altLang="zh-TW" dirty="0"/>
          </a:p>
          <a:p>
            <a:r>
              <a:rPr lang="zh-TW" altLang="en-US" dirty="0"/>
              <a:t>在這棵樹中，根結點到內部節點的路徑代表一個唯一的</a:t>
            </a:r>
            <a:r>
              <a:rPr lang="en-US" altLang="zh-TW" dirty="0"/>
              <a:t>substring</a:t>
            </a:r>
            <a:r>
              <a:rPr lang="zh-TW" altLang="en-US" dirty="0"/>
              <a:t>，而從根部到葉節點，代表一個或多個推文的後綴。</a:t>
            </a:r>
            <a:endParaRPr lang="en-US" altLang="zh-TW" dirty="0"/>
          </a:p>
          <a:p>
            <a:endParaRPr lang="en-US" altLang="zh-TW" dirty="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latin typeface="標楷體" panose="03000509000000000000" pitchFamily="65" charset="-120"/>
                <a:ea typeface="標楷體" panose="03000509000000000000" pitchFamily="65" charset="-120"/>
              </a:rPr>
              <a:t>在這個方法中，每個節點會做為聚類的基礎，並為每個節點定義一個對應的聚類。</a:t>
            </a:r>
            <a:endParaRPr lang="en-US" altLang="zh-TW" dirty="0">
              <a:latin typeface="標楷體" panose="03000509000000000000" pitchFamily="65" charset="-120"/>
              <a:ea typeface="標楷體" panose="03000509000000000000" pitchFamily="65" charset="-120"/>
            </a:endParaRPr>
          </a:p>
          <a:p>
            <a:endParaRPr lang="en-US" altLang="zh-TW"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9</a:t>
            </a:fld>
            <a:endParaRPr lang="zh-TW" altLang="en-US"/>
          </a:p>
        </p:txBody>
      </p:sp>
    </p:spTree>
    <p:extLst>
      <p:ext uri="{BB962C8B-B14F-4D97-AF65-F5344CB8AC3E}">
        <p14:creationId xmlns:p14="http://schemas.microsoft.com/office/powerpoint/2010/main" val="25811075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第三步驟聚類，每個節點都是聚類的基礎，給定一個節點</a:t>
            </a:r>
            <a:r>
              <a:rPr lang="en-US" altLang="zh-TW" dirty="0"/>
              <a:t>n</a:t>
            </a:r>
            <a:r>
              <a:rPr lang="zh-TW" altLang="en-US" dirty="0"/>
              <a:t>，這個節點</a:t>
            </a:r>
            <a:r>
              <a:rPr lang="en-US" altLang="zh-TW" dirty="0"/>
              <a:t>n</a:t>
            </a:r>
            <a:r>
              <a:rPr lang="zh-TW" altLang="en-US" dirty="0"/>
              <a:t>所對應到的</a:t>
            </a:r>
            <a:r>
              <a:rPr lang="en-US" altLang="zh-TW" dirty="0"/>
              <a:t>cluster</a:t>
            </a:r>
            <a:r>
              <a:rPr lang="zh-TW" altLang="en-US" dirty="0"/>
              <a:t>就是</a:t>
            </a:r>
            <a:r>
              <a:rPr lang="en-US" altLang="zh-TW" dirty="0" err="1"/>
              <a:t>cn</a:t>
            </a:r>
            <a:r>
              <a:rPr lang="zh-TW" altLang="en-US" dirty="0"/>
              <a:t>。</a:t>
            </a:r>
            <a:endParaRPr lang="en-US" altLang="zh-TW" dirty="0"/>
          </a:p>
          <a:p>
            <a:r>
              <a:rPr lang="zh-TW" altLang="en-US" dirty="0"/>
              <a:t>如果要把一個推文分類進</a:t>
            </a:r>
            <a:r>
              <a:rPr lang="en-US" altLang="zh-TW" dirty="0" err="1"/>
              <a:t>cn</a:t>
            </a:r>
            <a:r>
              <a:rPr lang="zh-TW" altLang="en-US" dirty="0"/>
              <a:t>的話，要滿足以下這兩個條件，該推文必須包含節點</a:t>
            </a:r>
            <a:r>
              <a:rPr lang="en-US" altLang="zh-TW" dirty="0"/>
              <a:t>n</a:t>
            </a:r>
            <a:r>
              <a:rPr lang="zh-TW" altLang="en-US" dirty="0"/>
              <a:t>所代表的字串，同時，節點</a:t>
            </a:r>
            <a:r>
              <a:rPr lang="en-US" altLang="zh-TW" dirty="0"/>
              <a:t>n</a:t>
            </a:r>
            <a:r>
              <a:rPr lang="zh-TW" altLang="en-US" dirty="0"/>
              <a:t>所代表的字串長度跟推文長度的比要大於一個閾值，這個閾值是使用者自己定義的。</a:t>
            </a:r>
            <a:endParaRPr lang="en-US" altLang="zh-TW" dirty="0"/>
          </a:p>
          <a:p>
            <a:endParaRPr lang="en-US" altLang="zh-TW" dirty="0"/>
          </a:p>
          <a:p>
            <a:r>
              <a:rPr lang="zh-TW" altLang="en-US" dirty="0"/>
              <a:t>第四步驟是重疊檢測，目標是</a:t>
            </a:r>
            <a:r>
              <a:rPr lang="zh-TW" altLang="en-US" sz="1200" b="0" i="0" kern="1200" dirty="0">
                <a:solidFill>
                  <a:schemeClr val="tx1"/>
                </a:solidFill>
                <a:effectLst/>
                <a:latin typeface="+mn-lt"/>
                <a:ea typeface="+mn-ea"/>
                <a:cs typeface="+mn-cs"/>
              </a:rPr>
              <a:t>減少後綴樹中的重疊比率，也就是減少一個推文同時出現在多個聚類的情況。</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可以比較祖先節點跟子節點之間的關係來偵測重疊情況，如果符合以下其中一個條件，會把子節點跟他的父節點做合併。</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條件一是祖先節點節點和子節點的推文數量比率低於</a:t>
            </a:r>
            <a:r>
              <a:rPr lang="en-US" altLang="zh-TW" sz="1200" b="0" i="0" kern="1200" dirty="0">
                <a:solidFill>
                  <a:schemeClr val="tx1"/>
                </a:solidFill>
                <a:effectLst/>
                <a:latin typeface="+mn-lt"/>
                <a:ea typeface="+mn-ea"/>
                <a:cs typeface="+mn-cs"/>
              </a:rPr>
              <a:t>1.2</a:t>
            </a:r>
            <a:r>
              <a:rPr lang="zh-TW" altLang="en-US" sz="1200" b="0" i="0" kern="1200" dirty="0">
                <a:solidFill>
                  <a:schemeClr val="tx1"/>
                </a:solidFill>
                <a:effectLst/>
                <a:latin typeface="+mn-lt"/>
                <a:ea typeface="+mn-ea"/>
                <a:cs typeface="+mn-cs"/>
              </a:rPr>
              <a:t>，條件二是祖先節點跟子節點的</a:t>
            </a:r>
            <a:r>
              <a:rPr lang="en-US" altLang="zh-TW" sz="1200" b="0" i="0" kern="1200" dirty="0">
                <a:solidFill>
                  <a:schemeClr val="tx1"/>
                </a:solidFill>
                <a:effectLst/>
                <a:latin typeface="+mn-lt"/>
                <a:ea typeface="+mn-ea"/>
                <a:cs typeface="+mn-cs"/>
              </a:rPr>
              <a:t>substring</a:t>
            </a:r>
            <a:r>
              <a:rPr lang="zh-TW" altLang="en-US" sz="1200" b="0" i="0" kern="1200" dirty="0">
                <a:solidFill>
                  <a:schemeClr val="tx1"/>
                </a:solidFill>
                <a:effectLst/>
                <a:latin typeface="+mn-lt"/>
                <a:ea typeface="+mn-ea"/>
                <a:cs typeface="+mn-cs"/>
              </a:rPr>
              <a:t>長度比率高於</a:t>
            </a:r>
            <a:r>
              <a:rPr lang="en-US" altLang="zh-TW" sz="1200" b="0" i="0" kern="1200" dirty="0">
                <a:solidFill>
                  <a:schemeClr val="tx1"/>
                </a:solidFill>
                <a:effectLst/>
                <a:latin typeface="+mn-lt"/>
                <a:ea typeface="+mn-ea"/>
                <a:cs typeface="+mn-cs"/>
              </a:rPr>
              <a:t>0.8</a:t>
            </a:r>
            <a:r>
              <a:rPr lang="zh-TW" altLang="en-US" sz="1200" b="0" i="0" kern="1200" dirty="0">
                <a:solidFill>
                  <a:schemeClr val="tx1"/>
                </a:solidFill>
                <a:effectLst/>
                <a:latin typeface="+mn-lt"/>
                <a:ea typeface="+mn-ea"/>
                <a:cs typeface="+mn-cs"/>
              </a:rPr>
              <a:t>。</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10</a:t>
            </a:fld>
            <a:endParaRPr lang="zh-TW" altLang="en-US"/>
          </a:p>
        </p:txBody>
      </p:sp>
    </p:spTree>
    <p:extLst>
      <p:ext uri="{BB962C8B-B14F-4D97-AF65-F5344CB8AC3E}">
        <p14:creationId xmlns:p14="http://schemas.microsoft.com/office/powerpoint/2010/main" val="28880676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最後是合併相似聚類的部分，因為人類可能使用不同的詞彙去表達相同的語意，雖然已經使用</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去進行詞彙聚類了，但</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並沒有考慮到語意。</a:t>
            </a: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所以在詞類聚類之後，需要把相似語意的聚類做合併，可以根據以下公式算出來的</a:t>
            </a:r>
            <a:r>
              <a:rPr lang="zh-TW" altLang="zh-TW" sz="1200" kern="1200" dirty="0">
                <a:solidFill>
                  <a:schemeClr val="tx1"/>
                </a:solidFill>
                <a:effectLst/>
                <a:latin typeface="+mn-lt"/>
                <a:ea typeface="+mn-ea"/>
                <a:cs typeface="+mn-cs"/>
              </a:rPr>
              <a:t>語義</a:t>
            </a:r>
            <a:r>
              <a:rPr lang="zh-TW" altLang="en-US" sz="1200" kern="1200" dirty="0">
                <a:solidFill>
                  <a:schemeClr val="tx1"/>
                </a:solidFill>
                <a:effectLst/>
                <a:latin typeface="+mn-lt"/>
                <a:ea typeface="+mn-ea"/>
                <a:cs typeface="+mn-cs"/>
              </a:rPr>
              <a:t>相似度去合併聚類。</a:t>
            </a:r>
            <a:endParaRPr lang="zh-TW" alt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要計算</a:t>
            </a:r>
            <a:r>
              <a:rPr lang="zh-TW" altLang="zh-TW" sz="1200" kern="1200" dirty="0">
                <a:solidFill>
                  <a:schemeClr val="tx1"/>
                </a:solidFill>
                <a:effectLst/>
                <a:latin typeface="+mn-lt"/>
                <a:ea typeface="+mn-ea"/>
                <a:cs typeface="+mn-cs"/>
              </a:rPr>
              <a:t>標籤之間的相關性分數，首先</a:t>
            </a:r>
            <a:r>
              <a:rPr lang="zh-TW" altLang="en-US" sz="1200" kern="1200" dirty="0">
                <a:solidFill>
                  <a:schemeClr val="tx1"/>
                </a:solidFill>
                <a:effectLst/>
                <a:latin typeface="+mn-lt"/>
                <a:ea typeface="+mn-ea"/>
                <a:cs typeface="+mn-cs"/>
              </a:rPr>
              <a:t>給定</a:t>
            </a:r>
            <a:r>
              <a:rPr lang="zh-TW" altLang="zh-TW" sz="1200" kern="1200" dirty="0">
                <a:solidFill>
                  <a:schemeClr val="tx1"/>
                </a:solidFill>
                <a:effectLst/>
                <a:latin typeface="+mn-lt"/>
                <a:ea typeface="+mn-ea"/>
                <a:cs typeface="+mn-cs"/>
              </a:rPr>
              <a:t>兩個聚類</a:t>
            </a:r>
            <a:r>
              <a:rPr lang="en-US" altLang="zh-TW" sz="1200" kern="1200" dirty="0">
                <a:solidFill>
                  <a:schemeClr val="tx1"/>
                </a:solidFill>
                <a:effectLst/>
                <a:latin typeface="+mn-lt"/>
                <a:ea typeface="+mn-ea"/>
                <a:cs typeface="+mn-cs"/>
              </a:rPr>
              <a:t> ci </a:t>
            </a:r>
            <a:r>
              <a:rPr lang="zh-TW" altLang="zh-TW" sz="1200" kern="1200" dirty="0">
                <a:solidFill>
                  <a:schemeClr val="tx1"/>
                </a:solidFill>
                <a:effectLst/>
                <a:latin typeface="+mn-lt"/>
                <a:ea typeface="+mn-ea"/>
                <a:cs typeface="+mn-cs"/>
              </a:rPr>
              <a:t>和</a:t>
            </a:r>
            <a:r>
              <a:rPr lang="en-US" altLang="zh-TW" sz="1200" kern="1200" dirty="0">
                <a:solidFill>
                  <a:schemeClr val="tx1"/>
                </a:solidFill>
                <a:effectLst/>
                <a:latin typeface="+mn-lt"/>
                <a:ea typeface="+mn-ea"/>
                <a:cs typeface="+mn-cs"/>
              </a:rPr>
              <a:t> </a:t>
            </a:r>
            <a:r>
              <a:rPr lang="en-US" altLang="zh-TW" sz="1200" kern="1200" dirty="0" err="1">
                <a:solidFill>
                  <a:schemeClr val="tx1"/>
                </a:solidFill>
                <a:effectLst/>
                <a:latin typeface="+mn-lt"/>
                <a:ea typeface="+mn-ea"/>
                <a:cs typeface="+mn-cs"/>
              </a:rPr>
              <a:t>cj</a:t>
            </a:r>
            <a:r>
              <a:rPr lang="zh-TW" altLang="en-US" sz="1200" kern="1200" dirty="0">
                <a:solidFill>
                  <a:schemeClr val="tx1"/>
                </a:solidFill>
                <a:effectLst/>
                <a:latin typeface="+mn-lt"/>
                <a:ea typeface="+mn-ea"/>
                <a:cs typeface="+mn-cs"/>
              </a:rPr>
              <a:t>，並</a:t>
            </a:r>
            <a:r>
              <a:rPr lang="zh-TW" altLang="zh-TW" sz="1200" kern="1200" dirty="0">
                <a:solidFill>
                  <a:schemeClr val="tx1"/>
                </a:solidFill>
                <a:effectLst/>
                <a:latin typeface="+mn-lt"/>
                <a:ea typeface="+mn-ea"/>
                <a:cs typeface="+mn-cs"/>
              </a:rPr>
              <a:t>計算每個</a:t>
            </a:r>
            <a:r>
              <a:rPr lang="zh-TW" altLang="en-US" sz="1200" kern="1200" dirty="0">
                <a:solidFill>
                  <a:schemeClr val="tx1"/>
                </a:solidFill>
                <a:effectLst/>
                <a:latin typeface="+mn-lt"/>
                <a:ea typeface="+mn-ea"/>
                <a:cs typeface="+mn-cs"/>
              </a:rPr>
              <a:t>聚類</a:t>
            </a:r>
            <a:r>
              <a:rPr lang="zh-TW" altLang="zh-TW" sz="1200" kern="1200" dirty="0">
                <a:solidFill>
                  <a:schemeClr val="tx1"/>
                </a:solidFill>
                <a:effectLst/>
                <a:latin typeface="+mn-lt"/>
                <a:ea typeface="+mn-ea"/>
                <a:cs typeface="+mn-cs"/>
              </a:rPr>
              <a:t>詞嵌入</a:t>
            </a:r>
            <a:r>
              <a:rPr lang="zh-TW" altLang="en-US" sz="1200" kern="1200" dirty="0">
                <a:solidFill>
                  <a:schemeClr val="tx1"/>
                </a:solidFill>
                <a:effectLst/>
                <a:latin typeface="+mn-lt"/>
                <a:ea typeface="+mn-ea"/>
                <a:cs typeface="+mn-cs"/>
              </a:rPr>
              <a:t>向量</a:t>
            </a:r>
            <a:r>
              <a:rPr lang="zh-TW" altLang="zh-TW" sz="1200" kern="1200" dirty="0">
                <a:solidFill>
                  <a:schemeClr val="tx1"/>
                </a:solidFill>
                <a:effectLst/>
                <a:latin typeface="+mn-lt"/>
                <a:ea typeface="+mn-ea"/>
                <a:cs typeface="+mn-cs"/>
              </a:rPr>
              <a:t>的平均值</a:t>
            </a:r>
            <a:r>
              <a:rPr lang="en-US" altLang="zh-TW" sz="1200" kern="1200" dirty="0">
                <a:solidFill>
                  <a:schemeClr val="tx1"/>
                </a:solidFill>
                <a:effectLst/>
                <a:latin typeface="+mn-lt"/>
                <a:ea typeface="+mn-ea"/>
                <a:cs typeface="+mn-cs"/>
              </a:rPr>
              <a:t>mi</a:t>
            </a:r>
            <a:r>
              <a:rPr lang="zh-TW" altLang="en-US" sz="1200" kern="1200" dirty="0">
                <a:solidFill>
                  <a:schemeClr val="tx1"/>
                </a:solidFill>
                <a:effectLst/>
                <a:latin typeface="+mn-lt"/>
                <a:ea typeface="+mn-ea"/>
                <a:cs typeface="+mn-cs"/>
              </a:rPr>
              <a:t>跟</a:t>
            </a:r>
            <a:r>
              <a:rPr lang="en-US" altLang="zh-TW" sz="1200" kern="1200" dirty="0" err="1">
                <a:solidFill>
                  <a:schemeClr val="tx1"/>
                </a:solidFill>
                <a:effectLst/>
                <a:latin typeface="+mn-lt"/>
                <a:ea typeface="+mn-ea"/>
                <a:cs typeface="+mn-cs"/>
              </a:rPr>
              <a:t>mj</a:t>
            </a:r>
            <a:r>
              <a:rPr lang="zh-TW" altLang="zh-TW" sz="1200" kern="1200" dirty="0">
                <a:solidFill>
                  <a:schemeClr val="tx1"/>
                </a:solidFill>
                <a:effectLst/>
                <a:latin typeface="+mn-lt"/>
                <a:ea typeface="+mn-ea"/>
                <a:cs typeface="+mn-cs"/>
              </a:rPr>
              <a:t>，然後使用余弦相似度</a:t>
            </a:r>
            <a:r>
              <a:rPr lang="zh-TW" altLang="en-US" sz="1200" kern="1200" dirty="0">
                <a:solidFill>
                  <a:schemeClr val="tx1"/>
                </a:solidFill>
                <a:effectLst/>
                <a:latin typeface="+mn-lt"/>
                <a:ea typeface="+mn-ea"/>
                <a:cs typeface="+mn-cs"/>
              </a:rPr>
              <a:t>去計算兩個聚類的相關性分數</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zh-TW" sz="120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11</a:t>
            </a:fld>
            <a:endParaRPr lang="zh-TW" altLang="en-US"/>
          </a:p>
        </p:txBody>
      </p:sp>
    </p:spTree>
    <p:extLst>
      <p:ext uri="{BB962C8B-B14F-4D97-AF65-F5344CB8AC3E}">
        <p14:creationId xmlns:p14="http://schemas.microsoft.com/office/powerpoint/2010/main" val="3555889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然後是作者做的系統，</a:t>
            </a:r>
            <a:r>
              <a:rPr lang="en-US" altLang="zh-TW" dirty="0"/>
              <a:t>server</a:t>
            </a:r>
            <a:r>
              <a:rPr lang="zh-TW" altLang="en-US" dirty="0"/>
              <a:t>端負責前面所提到的閾處理、後綴樹、聚類、相關性分數等計算。</a:t>
            </a:r>
            <a:endParaRPr lang="en-US" altLang="zh-TW" dirty="0"/>
          </a:p>
          <a:p>
            <a:r>
              <a:rPr lang="en-US" altLang="zh-TW" dirty="0"/>
              <a:t>client</a:t>
            </a:r>
            <a:r>
              <a:rPr lang="zh-TW" altLang="en-US" dirty="0"/>
              <a:t>端則是能夠讓使用者上船推文集還有可視化跟調整閾值還有合併聚類的功能。</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12</a:t>
            </a:fld>
            <a:endParaRPr lang="zh-TW" altLang="en-US"/>
          </a:p>
        </p:txBody>
      </p:sp>
    </p:spTree>
    <p:extLst>
      <p:ext uri="{BB962C8B-B14F-4D97-AF65-F5344CB8AC3E}">
        <p14:creationId xmlns:p14="http://schemas.microsoft.com/office/powerpoint/2010/main" val="41824364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 1 </a:t>
            </a:r>
            <a:r>
              <a:rPr lang="zh-TW" altLang="zh-TW" sz="1200" kern="1200" dirty="0">
                <a:solidFill>
                  <a:schemeClr val="tx1"/>
                </a:solidFill>
                <a:effectLst/>
                <a:latin typeface="+mn-lt"/>
                <a:ea typeface="+mn-ea"/>
                <a:cs typeface="+mn-cs"/>
              </a:rPr>
              <a:t>顯示了</a:t>
            </a:r>
            <a:r>
              <a:rPr lang="en-US" altLang="zh-TW" sz="1200" kern="1200" dirty="0">
                <a:solidFill>
                  <a:schemeClr val="tx1"/>
                </a:solidFill>
                <a:effectLst/>
                <a:latin typeface="+mn-lt"/>
                <a:ea typeface="+mn-ea"/>
                <a:cs typeface="+mn-cs"/>
              </a:rPr>
              <a:t>server</a:t>
            </a:r>
            <a:r>
              <a:rPr lang="zh-TW" altLang="zh-TW" sz="1200" kern="1200" dirty="0">
                <a:solidFill>
                  <a:schemeClr val="tx1"/>
                </a:solidFill>
                <a:effectLst/>
                <a:latin typeface="+mn-lt"/>
                <a:ea typeface="+mn-ea"/>
                <a:cs typeface="+mn-cs"/>
              </a:rPr>
              <a:t>端</a:t>
            </a:r>
            <a:r>
              <a:rPr lang="zh-TW" altLang="en-US" sz="1200" kern="1200" dirty="0">
                <a:solidFill>
                  <a:schemeClr val="tx1"/>
                </a:solidFill>
                <a:effectLst/>
                <a:latin typeface="+mn-lt"/>
                <a:ea typeface="+mn-ea"/>
                <a:cs typeface="+mn-cs"/>
              </a:rPr>
              <a:t>如何進行</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首先從推文集合，進行預處理得到一個更乾淨的推文集，基於這個推文集去建立後綴樹，刪除相似推文，建立聚類，刪除重複的推文，最後再為每個聚類分配標籤。</a:t>
            </a:r>
            <a:endParaRPr lang="zh-TW" altLang="zh-TW" sz="1200" kern="1200" dirty="0">
              <a:solidFill>
                <a:schemeClr val="tx1"/>
              </a:solidFill>
              <a:effectLst/>
              <a:latin typeface="+mn-lt"/>
              <a:ea typeface="+mn-ea"/>
              <a:cs typeface="+mn-cs"/>
            </a:endParaRPr>
          </a:p>
          <a:p>
            <a:r>
              <a:rPr lang="en-US" altLang="zh-TW" dirty="0"/>
              <a:t>overlapping</a:t>
            </a:r>
            <a:r>
              <a:rPr lang="zh-TW" altLang="en-US" dirty="0"/>
              <a:t>的部分，是考慮到一個推文可能會被分配到多個不同的聚類，這個時候會把他留在最大的聚類中，並把推文從其他較小的聚類中刪除。</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13</a:t>
            </a:fld>
            <a:endParaRPr lang="zh-TW" altLang="en-US"/>
          </a:p>
        </p:txBody>
      </p:sp>
    </p:spTree>
    <p:extLst>
      <p:ext uri="{BB962C8B-B14F-4D97-AF65-F5344CB8AC3E}">
        <p14:creationId xmlns:p14="http://schemas.microsoft.com/office/powerpoint/2010/main" val="182612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再來是重新聚類，</a:t>
            </a:r>
            <a:r>
              <a:rPr lang="zh-TW" altLang="zh-TW" sz="1200" kern="1200" dirty="0">
                <a:solidFill>
                  <a:schemeClr val="tx1"/>
                </a:solidFill>
                <a:effectLst/>
                <a:latin typeface="+mn-lt"/>
                <a:ea typeface="+mn-ea"/>
                <a:cs typeface="+mn-cs"/>
              </a:rPr>
              <a:t>聚類創建之後</a:t>
            </a:r>
            <a:r>
              <a:rPr lang="zh-TW" altLang="en-US" sz="1200" kern="1200" dirty="0">
                <a:solidFill>
                  <a:schemeClr val="tx1"/>
                </a:solidFill>
                <a:effectLst/>
                <a:latin typeface="+mn-lt"/>
                <a:ea typeface="+mn-ea"/>
                <a:cs typeface="+mn-cs"/>
              </a:rPr>
              <a:t>使用者還可以再</a:t>
            </a:r>
            <a:r>
              <a:rPr lang="zh-TW" altLang="zh-TW" sz="1200" kern="1200" dirty="0">
                <a:solidFill>
                  <a:schemeClr val="tx1"/>
                </a:solidFill>
                <a:effectLst/>
                <a:latin typeface="+mn-lt"/>
                <a:ea typeface="+mn-ea"/>
                <a:cs typeface="+mn-cs"/>
              </a:rPr>
              <a:t>更改</a:t>
            </a:r>
            <a:r>
              <a:rPr lang="zh-TW" altLang="en-US" sz="1200" kern="1200" dirty="0">
                <a:solidFill>
                  <a:schemeClr val="tx1"/>
                </a:solidFill>
                <a:effectLst/>
                <a:latin typeface="+mn-lt"/>
                <a:ea typeface="+mn-ea"/>
                <a:cs typeface="+mn-cs"/>
              </a:rPr>
              <a:t>閾值</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更改閾值之後</a:t>
            </a:r>
            <a:r>
              <a:rPr lang="zh-TW" altLang="zh-TW" sz="1200" kern="1200" dirty="0">
                <a:solidFill>
                  <a:schemeClr val="tx1"/>
                </a:solidFill>
                <a:effectLst/>
                <a:latin typeface="+mn-lt"/>
                <a:ea typeface="+mn-ea"/>
                <a:cs typeface="+mn-cs"/>
              </a:rPr>
              <a:t>會觸發聚類的重建。</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因為推文集的資料都一樣，所以</a:t>
            </a:r>
            <a:r>
              <a:rPr lang="zh-TW" altLang="zh-TW" sz="1200" kern="1200" dirty="0">
                <a:solidFill>
                  <a:schemeClr val="tx1"/>
                </a:solidFill>
                <a:effectLst/>
                <a:latin typeface="+mn-lt"/>
                <a:ea typeface="+mn-ea"/>
                <a:cs typeface="+mn-cs"/>
              </a:rPr>
              <a:t>後綴樹只</a:t>
            </a:r>
            <a:r>
              <a:rPr lang="zh-TW" altLang="en-US" sz="1200" kern="1200" dirty="0">
                <a:solidFill>
                  <a:schemeClr val="tx1"/>
                </a:solidFill>
                <a:effectLst/>
                <a:latin typeface="+mn-lt"/>
                <a:ea typeface="+mn-ea"/>
                <a:cs typeface="+mn-cs"/>
              </a:rPr>
              <a:t>會</a:t>
            </a:r>
            <a:r>
              <a:rPr lang="zh-TW" altLang="zh-TW" sz="1200" kern="1200" dirty="0">
                <a:solidFill>
                  <a:schemeClr val="tx1"/>
                </a:solidFill>
                <a:effectLst/>
                <a:latin typeface="+mn-lt"/>
                <a:ea typeface="+mn-ea"/>
                <a:cs typeface="+mn-cs"/>
              </a:rPr>
              <a:t>構建一次，</a:t>
            </a:r>
            <a:r>
              <a:rPr lang="zh-TW" altLang="en-US" sz="1200" kern="1200" dirty="0">
                <a:solidFill>
                  <a:schemeClr val="tx1"/>
                </a:solidFill>
                <a:effectLst/>
                <a:latin typeface="+mn-lt"/>
                <a:ea typeface="+mn-ea"/>
                <a:cs typeface="+mn-cs"/>
              </a:rPr>
              <a:t>使用者</a:t>
            </a:r>
            <a:r>
              <a:rPr lang="zh-TW" altLang="zh-TW" sz="1200" kern="1200" dirty="0">
                <a:solidFill>
                  <a:schemeClr val="tx1"/>
                </a:solidFill>
                <a:effectLst/>
                <a:latin typeface="+mn-lt"/>
                <a:ea typeface="+mn-ea"/>
                <a:cs typeface="+mn-cs"/>
              </a:rPr>
              <a:t>可以更改閾值</a:t>
            </a:r>
            <a:r>
              <a:rPr lang="zh-TW" altLang="en-US" sz="1200" kern="1200" dirty="0">
                <a:solidFill>
                  <a:schemeClr val="tx1"/>
                </a:solidFill>
                <a:effectLst/>
                <a:latin typeface="+mn-lt"/>
                <a:ea typeface="+mn-ea"/>
                <a:cs typeface="+mn-cs"/>
              </a:rPr>
              <a:t>來</a:t>
            </a:r>
            <a:r>
              <a:rPr lang="zh-TW" altLang="zh-TW" sz="1200" kern="1200" dirty="0">
                <a:solidFill>
                  <a:schemeClr val="tx1"/>
                </a:solidFill>
                <a:effectLst/>
                <a:latin typeface="+mn-lt"/>
                <a:ea typeface="+mn-ea"/>
                <a:cs typeface="+mn-cs"/>
              </a:rPr>
              <a:t>獲得不同的聚類，</a:t>
            </a:r>
            <a:r>
              <a:rPr lang="zh-TW" altLang="en-US" sz="1200" kern="1200" dirty="0">
                <a:solidFill>
                  <a:schemeClr val="tx1"/>
                </a:solidFill>
                <a:effectLst/>
                <a:latin typeface="+mn-lt"/>
                <a:ea typeface="+mn-ea"/>
                <a:cs typeface="+mn-cs"/>
              </a:rPr>
              <a:t>重新進行</a:t>
            </a:r>
            <a:r>
              <a:rPr lang="zh-TW" altLang="zh-TW" sz="1200" kern="1200" dirty="0">
                <a:solidFill>
                  <a:schemeClr val="tx1"/>
                </a:solidFill>
                <a:effectLst/>
                <a:latin typeface="+mn-lt"/>
                <a:ea typeface="+mn-ea"/>
                <a:cs typeface="+mn-cs"/>
              </a:rPr>
              <a:t>聚類</a:t>
            </a:r>
            <a:r>
              <a:rPr lang="zh-TW" altLang="en-US" sz="1200" kern="1200" dirty="0">
                <a:solidFill>
                  <a:schemeClr val="tx1"/>
                </a:solidFill>
                <a:effectLst/>
                <a:latin typeface="+mn-lt"/>
                <a:ea typeface="+mn-ea"/>
                <a:cs typeface="+mn-cs"/>
              </a:rPr>
              <a:t>以</a:t>
            </a:r>
            <a:r>
              <a:rPr lang="zh-TW" altLang="zh-TW" sz="1200" kern="1200" dirty="0">
                <a:solidFill>
                  <a:schemeClr val="tx1"/>
                </a:solidFill>
                <a:effectLst/>
                <a:latin typeface="+mn-lt"/>
                <a:ea typeface="+mn-ea"/>
                <a:cs typeface="+mn-cs"/>
              </a:rPr>
              <a:t>及其後面的階段。</a:t>
            </a:r>
            <a:endParaRPr lang="en-US" altLang="zh-TW" sz="1200" kern="1200" dirty="0">
              <a:solidFill>
                <a:schemeClr val="tx1"/>
              </a:solidFill>
              <a:effectLst/>
              <a:latin typeface="+mn-lt"/>
              <a:ea typeface="+mn-ea"/>
              <a:cs typeface="+mn-cs"/>
            </a:endParaRPr>
          </a:p>
          <a:p>
            <a:r>
              <a:rPr lang="zh-TW" altLang="zh-TW"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 2 </a:t>
            </a:r>
            <a:r>
              <a:rPr lang="zh-TW" altLang="zh-TW" sz="1200" kern="1200" dirty="0">
                <a:solidFill>
                  <a:schemeClr val="tx1"/>
                </a:solidFill>
                <a:effectLst/>
                <a:latin typeface="+mn-lt"/>
                <a:ea typeface="+mn-ea"/>
                <a:cs typeface="+mn-cs"/>
              </a:rPr>
              <a:t>顯示了重新聚類的機制</a:t>
            </a:r>
            <a:r>
              <a:rPr lang="zh-TW" altLang="en-US" sz="1200" kern="1200" dirty="0">
                <a:solidFill>
                  <a:schemeClr val="tx1"/>
                </a:solidFill>
                <a:effectLst/>
                <a:latin typeface="+mn-lt"/>
                <a:ea typeface="+mn-ea"/>
                <a:cs typeface="+mn-cs"/>
              </a:rPr>
              <a:t>，把聚類結果可視化之後，使用者可以調整閾值，進行重新聚類，也可以調整相關性分數的閾值</a:t>
            </a:r>
            <a:r>
              <a:rPr lang="zh-TW" altLang="zh-TW" sz="1200" kern="1200" dirty="0">
                <a:solidFill>
                  <a:schemeClr val="tx1"/>
                </a:solidFill>
                <a:effectLst/>
                <a:latin typeface="+mn-lt"/>
                <a:ea typeface="+mn-ea"/>
                <a:cs typeface="+mn-cs"/>
              </a:rPr>
              <a:t>。</a:t>
            </a:r>
          </a:p>
          <a:p>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計算聚類之間的語義相關</a:t>
            </a:r>
            <a:r>
              <a:rPr lang="zh-TW" altLang="en-US" sz="1200" kern="1200" dirty="0">
                <a:solidFill>
                  <a:schemeClr val="tx1"/>
                </a:solidFill>
                <a:effectLst/>
                <a:latin typeface="+mn-lt"/>
                <a:ea typeface="+mn-ea"/>
                <a:cs typeface="+mn-cs"/>
              </a:rPr>
              <a:t>性</a:t>
            </a:r>
            <a:r>
              <a:rPr lang="zh-TW" altLang="zh-TW" sz="1200" kern="1200" dirty="0">
                <a:solidFill>
                  <a:schemeClr val="tx1"/>
                </a:solidFill>
                <a:effectLst/>
                <a:latin typeface="+mn-lt"/>
                <a:ea typeface="+mn-ea"/>
                <a:cs typeface="+mn-cs"/>
              </a:rPr>
              <a:t>分數以進行互動合併。</a:t>
            </a:r>
            <a:r>
              <a:rPr lang="zh-TW" altLang="en-US" sz="1200" kern="1200" dirty="0">
                <a:solidFill>
                  <a:schemeClr val="tx1"/>
                </a:solidFill>
                <a:effectLst/>
                <a:latin typeface="+mn-lt"/>
                <a:ea typeface="+mn-ea"/>
                <a:cs typeface="+mn-cs"/>
              </a:rPr>
              <a:t>這個</a:t>
            </a:r>
            <a:r>
              <a:rPr lang="zh-TW" altLang="zh-TW" sz="1200" kern="1200" dirty="0">
                <a:solidFill>
                  <a:schemeClr val="tx1"/>
                </a:solidFill>
                <a:effectLst/>
                <a:latin typeface="+mn-lt"/>
                <a:ea typeface="+mn-ea"/>
                <a:cs typeface="+mn-cs"/>
              </a:rPr>
              <a:t>計算</a:t>
            </a:r>
            <a:r>
              <a:rPr lang="zh-TW" altLang="en-US" sz="1200" kern="1200" dirty="0">
                <a:solidFill>
                  <a:schemeClr val="tx1"/>
                </a:solidFill>
                <a:effectLst/>
                <a:latin typeface="+mn-lt"/>
                <a:ea typeface="+mn-ea"/>
                <a:cs typeface="+mn-cs"/>
              </a:rPr>
              <a:t>會</a:t>
            </a:r>
            <a:r>
              <a:rPr lang="zh-TW" altLang="zh-TW" sz="1200" kern="1200" dirty="0">
                <a:solidFill>
                  <a:schemeClr val="tx1"/>
                </a:solidFill>
                <a:effectLst/>
                <a:latin typeface="+mn-lt"/>
                <a:ea typeface="+mn-ea"/>
                <a:cs typeface="+mn-cs"/>
              </a:rPr>
              <a:t>在伺服器端異步執行。計算結果被反序列化到檔案系統，並在客戶端請求時序列化。</a:t>
            </a:r>
            <a:r>
              <a:rPr lang="en-US" altLang="zh-TW" sz="1200" kern="1200" dirty="0">
                <a:solidFill>
                  <a:schemeClr val="tx1"/>
                </a:solidFill>
                <a:effectLst/>
                <a:latin typeface="+mn-lt"/>
                <a:ea typeface="+mn-ea"/>
                <a:cs typeface="+mn-cs"/>
              </a:rPr>
              <a:t>)</a:t>
            </a:r>
            <a:endParaRPr lang="zh-TW" altLang="zh-TW" sz="1200" kern="1200" dirty="0">
              <a:solidFill>
                <a:schemeClr val="tx1"/>
              </a:solidFill>
              <a:effectLst/>
              <a:latin typeface="+mn-lt"/>
              <a:ea typeface="+mn-ea"/>
              <a:cs typeface="+mn-cs"/>
            </a:endParaRPr>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14</a:t>
            </a:fld>
            <a:endParaRPr lang="zh-TW" altLang="en-US"/>
          </a:p>
        </p:txBody>
      </p:sp>
    </p:spTree>
    <p:extLst>
      <p:ext uri="{BB962C8B-B14F-4D97-AF65-F5344CB8AC3E}">
        <p14:creationId xmlns:p14="http://schemas.microsoft.com/office/powerpoint/2010/main" val="3218133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這是聚類好之後的使用者介面，每個氣泡跟長條都是一個聚類。</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15</a:t>
            </a:fld>
            <a:endParaRPr lang="zh-TW" altLang="en-US"/>
          </a:p>
        </p:txBody>
      </p:sp>
    </p:spTree>
    <p:extLst>
      <p:ext uri="{BB962C8B-B14F-4D97-AF65-F5344CB8AC3E}">
        <p14:creationId xmlns:p14="http://schemas.microsoft.com/office/powerpoint/2010/main" val="47480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接下來是合併聚類的介面。</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如果兩個聚類標籤之間的語義相似性分數大於一個閾值，標籤之間會有一條路徑。選擇連接的聚類標籤，可以把它們合併成一個聚類。</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合併聚類的過程</a:t>
            </a:r>
            <a:r>
              <a:rPr lang="zh-TW" altLang="en-US" sz="1200" kern="1200" dirty="0">
                <a:solidFill>
                  <a:schemeClr val="tx1"/>
                </a:solidFill>
                <a:effectLst/>
                <a:latin typeface="+mn-lt"/>
                <a:ea typeface="+mn-ea"/>
                <a:cs typeface="+mn-cs"/>
              </a:rPr>
              <a:t>會</a:t>
            </a:r>
            <a:r>
              <a:rPr lang="zh-TW" altLang="zh-TW" sz="1200" kern="1200" dirty="0">
                <a:solidFill>
                  <a:schemeClr val="tx1"/>
                </a:solidFill>
                <a:effectLst/>
                <a:latin typeface="+mn-lt"/>
                <a:ea typeface="+mn-ea"/>
                <a:cs typeface="+mn-cs"/>
              </a:rPr>
              <a:t>持續進行，直到用戶停止或沒有更多需要合併的聚類為止。</a:t>
            </a:r>
            <a:r>
              <a:rPr lang="en-US" altLang="zh-TW" sz="1200" kern="1200" dirty="0">
                <a:solidFill>
                  <a:schemeClr val="tx1"/>
                </a:solidFill>
                <a:effectLst/>
                <a:latin typeface="+mn-lt"/>
                <a:ea typeface="+mn-ea"/>
                <a:cs typeface="+mn-cs"/>
              </a:rPr>
              <a:t>)</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16</a:t>
            </a:fld>
            <a:endParaRPr lang="zh-TW" altLang="en-US"/>
          </a:p>
        </p:txBody>
      </p:sp>
    </p:spTree>
    <p:extLst>
      <p:ext uri="{BB962C8B-B14F-4D97-AF65-F5344CB8AC3E}">
        <p14:creationId xmlns:p14="http://schemas.microsoft.com/office/powerpoint/2010/main" val="1392620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接下來是實驗的評估。</a:t>
            </a:r>
            <a:endParaRPr lang="en-US" altLang="zh-TW" dirty="0"/>
          </a:p>
          <a:p>
            <a:r>
              <a:rPr lang="zh-TW" altLang="en-US" dirty="0"/>
              <a:t>作者採用了以下四個標籤的推文集，每個標籤有</a:t>
            </a:r>
            <a:r>
              <a:rPr lang="en-US" altLang="zh-TW" dirty="0"/>
              <a:t>1</a:t>
            </a:r>
            <a:r>
              <a:rPr lang="zh-TW" altLang="en-US" dirty="0"/>
              <a:t>萬</a:t>
            </a:r>
            <a:r>
              <a:rPr lang="en-US" altLang="zh-TW" dirty="0"/>
              <a:t>5</a:t>
            </a:r>
            <a:r>
              <a:rPr lang="zh-TW" altLang="en-US" dirty="0"/>
              <a:t>千條推文，總共有</a:t>
            </a:r>
            <a:r>
              <a:rPr lang="en-US" altLang="zh-TW" dirty="0"/>
              <a:t>6</a:t>
            </a:r>
            <a:r>
              <a:rPr lang="zh-TW" altLang="en-US" dirty="0"/>
              <a:t>萬條。</a:t>
            </a:r>
            <a:endParaRPr lang="en-US" altLang="zh-TW" dirty="0"/>
          </a:p>
          <a:p>
            <a:r>
              <a:rPr lang="zh-TW" altLang="en-US" dirty="0"/>
              <a:t>然後對每個推文集創建聚類。</a:t>
            </a:r>
            <a:endParaRPr lang="en-US" altLang="zh-TW" dirty="0"/>
          </a:p>
          <a:p>
            <a:endParaRPr lang="en-US" altLang="zh-TW" dirty="0"/>
          </a:p>
          <a:p>
            <a:r>
              <a:rPr lang="zh-TW" altLang="en-US" dirty="0"/>
              <a:t>公式四用來計算聚類內部相似度，帶入公式五可以算出平均聚類內相似度</a:t>
            </a:r>
            <a:r>
              <a:rPr lang="en-US" altLang="zh-TW" dirty="0"/>
              <a:t>(m</a:t>
            </a:r>
            <a:r>
              <a:rPr lang="zh-TW" altLang="en-US" dirty="0"/>
              <a:t>是</a:t>
            </a:r>
            <a:r>
              <a:rPr lang="en-US" altLang="zh-TW" dirty="0"/>
              <a:t>cluster</a:t>
            </a:r>
            <a:r>
              <a:rPr lang="zh-TW" altLang="en-US" dirty="0"/>
              <a:t>數量</a:t>
            </a:r>
            <a:r>
              <a:rPr lang="en-US" altLang="zh-TW" dirty="0"/>
              <a:t>)</a:t>
            </a:r>
            <a:r>
              <a:rPr lang="zh-TW" altLang="en-US" dirty="0"/>
              <a:t>，</a:t>
            </a:r>
            <a:endParaRPr lang="en-US" altLang="zh-TW" dirty="0"/>
          </a:p>
          <a:p>
            <a:r>
              <a:rPr lang="zh-TW" altLang="en-US" dirty="0"/>
              <a:t>帶入公式六可以計算加權平均聚類內相似度，也就是把聚類大小</a:t>
            </a:r>
            <a:r>
              <a:rPr lang="en-US" altLang="zh-TW" dirty="0"/>
              <a:t>|ci|</a:t>
            </a:r>
            <a:r>
              <a:rPr lang="zh-TW" altLang="en-US" dirty="0"/>
              <a:t>考慮進去，所得到的加權平均聚類內相似度。</a:t>
            </a:r>
            <a:endParaRPr lang="en-US" altLang="zh-TW" dirty="0"/>
          </a:p>
          <a:p>
            <a:endParaRPr lang="en-US" altLang="zh-TW" dirty="0"/>
          </a:p>
          <a:p>
            <a:r>
              <a:rPr lang="zh-TW" altLang="en-US" dirty="0"/>
              <a:t>公式七用來計算聚類純度，也就是</a:t>
            </a:r>
            <a:r>
              <a:rPr lang="zh-TW" altLang="en-US" sz="1200" b="0" i="0" kern="1200" dirty="0">
                <a:solidFill>
                  <a:schemeClr val="tx1"/>
                </a:solidFill>
                <a:effectLst/>
                <a:latin typeface="+mn-lt"/>
                <a:ea typeface="+mn-ea"/>
                <a:cs typeface="+mn-cs"/>
              </a:rPr>
              <a:t>相同標籤的資料在同一聚類中的比例有多高。</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a:t>
            </a:r>
            <a:r>
              <a:rPr lang="zh-TW" altLang="en-US" dirty="0"/>
              <a:t>對每個聚類</a:t>
            </a:r>
            <a:r>
              <a:rPr lang="en-US" altLang="zh-TW" dirty="0"/>
              <a:t>ci</a:t>
            </a:r>
            <a:r>
              <a:rPr lang="zh-TW" altLang="en-US" dirty="0"/>
              <a:t>，把該劇類中數量最多的標籤的數量除以聚類中所有推文樹量的總和，然後將所有聚類的這個比例求平均。</a:t>
            </a:r>
            <a:r>
              <a:rPr lang="en-US" altLang="zh-TW" dirty="0"/>
              <a:t>)</a:t>
            </a:r>
            <a:endParaRPr lang="zh-TW" altLang="en-US" dirty="0"/>
          </a:p>
          <a:p>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17</a:t>
            </a:fld>
            <a:endParaRPr lang="zh-TW" altLang="en-US"/>
          </a:p>
        </p:txBody>
      </p:sp>
    </p:spTree>
    <p:extLst>
      <p:ext uri="{BB962C8B-B14F-4D97-AF65-F5344CB8AC3E}">
        <p14:creationId xmlns:p14="http://schemas.microsoft.com/office/powerpoint/2010/main" val="3996670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首先比較</a:t>
            </a:r>
            <a:r>
              <a:rPr lang="en-US" altLang="zh-TW" dirty="0"/>
              <a:t>ST-TWEC</a:t>
            </a:r>
            <a:r>
              <a:rPr lang="zh-TW" altLang="en-US" dirty="0"/>
              <a:t>跟</a:t>
            </a:r>
            <a:r>
              <a:rPr lang="en-US" altLang="zh-TW" dirty="0"/>
              <a:t>LCS-Lexical</a:t>
            </a:r>
            <a:r>
              <a:rPr lang="zh-TW" altLang="en-US" dirty="0"/>
              <a:t>。</a:t>
            </a:r>
            <a:endParaRPr lang="en-US" altLang="zh-TW" dirty="0"/>
          </a:p>
          <a:p>
            <a:r>
              <a:rPr lang="zh-TW" altLang="en-US" dirty="0"/>
              <a:t>圖五跟六分別是</a:t>
            </a:r>
            <a:r>
              <a:rPr lang="en-US" altLang="zh-TW" dirty="0"/>
              <a:t>ST-TWEC</a:t>
            </a:r>
            <a:r>
              <a:rPr lang="zh-TW" altLang="en-US" dirty="0"/>
              <a:t>跟</a:t>
            </a:r>
            <a:r>
              <a:rPr lang="en-US" altLang="zh-TW" dirty="0"/>
              <a:t>LCS-lexical</a:t>
            </a:r>
            <a:r>
              <a:rPr lang="zh-TW" altLang="en-US" dirty="0"/>
              <a:t>在不同閾值時，進行聚類所花費的時間。</a:t>
            </a:r>
            <a:endParaRPr lang="en-US" altLang="zh-TW" dirty="0"/>
          </a:p>
          <a:p>
            <a:r>
              <a:rPr lang="en-US" altLang="zh-TW" dirty="0"/>
              <a:t>ST-TWEC</a:t>
            </a:r>
            <a:r>
              <a:rPr lang="zh-TW" altLang="en-US" dirty="0"/>
              <a:t>的所需時間範圍是</a:t>
            </a:r>
            <a:r>
              <a:rPr lang="en-US" altLang="zh-TW" dirty="0"/>
              <a:t>23.8</a:t>
            </a:r>
            <a:r>
              <a:rPr lang="zh-TW" altLang="en-US" dirty="0"/>
              <a:t>秒到</a:t>
            </a:r>
            <a:r>
              <a:rPr lang="en-US" altLang="zh-TW" dirty="0"/>
              <a:t>25.5</a:t>
            </a:r>
            <a:r>
              <a:rPr lang="zh-TW" altLang="en-US" dirty="0"/>
              <a:t>，而</a:t>
            </a:r>
            <a:r>
              <a:rPr lang="en-US" altLang="zh-TW" dirty="0"/>
              <a:t>LCS</a:t>
            </a:r>
            <a:r>
              <a:rPr lang="zh-TW" altLang="en-US" dirty="0"/>
              <a:t>則是</a:t>
            </a:r>
            <a:r>
              <a:rPr lang="en-US" altLang="zh-TW" dirty="0"/>
              <a:t>6825</a:t>
            </a:r>
            <a:r>
              <a:rPr lang="zh-TW" altLang="en-US" dirty="0"/>
              <a:t>秒到</a:t>
            </a:r>
            <a:r>
              <a:rPr lang="en-US" altLang="zh-TW" dirty="0"/>
              <a:t>45472</a:t>
            </a:r>
            <a:r>
              <a:rPr lang="zh-TW" altLang="en-US" dirty="0"/>
              <a:t>秒之間。</a:t>
            </a:r>
            <a:endParaRPr lang="en-US" altLang="zh-TW"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18</a:t>
            </a:fld>
            <a:endParaRPr lang="zh-TW" altLang="en-US"/>
          </a:p>
        </p:txBody>
      </p:sp>
    </p:spTree>
    <p:extLst>
      <p:ext uri="{BB962C8B-B14F-4D97-AF65-F5344CB8AC3E}">
        <p14:creationId xmlns:p14="http://schemas.microsoft.com/office/powerpoint/2010/main" val="33603486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圖七跟圖八分別是不同閾值之下，兩種方法聚類的數量和未聚類的推文數量。</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19</a:t>
            </a:fld>
            <a:endParaRPr lang="zh-TW" altLang="en-US"/>
          </a:p>
        </p:txBody>
      </p:sp>
    </p:spTree>
    <p:extLst>
      <p:ext uri="{BB962C8B-B14F-4D97-AF65-F5344CB8AC3E}">
        <p14:creationId xmlns:p14="http://schemas.microsoft.com/office/powerpoint/2010/main" val="3373782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圖九是聚類內平均相似度，圖十是加權平均聚類內相似度。</a:t>
            </a:r>
            <a:endParaRPr lang="en-US" altLang="zh-TW" dirty="0"/>
          </a:p>
          <a:p>
            <a:r>
              <a:rPr lang="zh-TW" altLang="en-US" dirty="0"/>
              <a:t>可以發現，</a:t>
            </a:r>
            <a:r>
              <a:rPr lang="zh-TW" altLang="zh-TW" sz="1200" kern="1200" dirty="0">
                <a:solidFill>
                  <a:schemeClr val="tx1"/>
                </a:solidFill>
                <a:effectLst/>
                <a:latin typeface="+mn-lt"/>
                <a:ea typeface="+mn-ea"/>
                <a:cs typeface="+mn-cs"/>
              </a:rPr>
              <a:t>閾值越大，聚類內相似度就越大，從</a:t>
            </a:r>
            <a:r>
              <a:rPr lang="en-US" altLang="zh-TW" sz="1200" kern="1200" dirty="0">
                <a:solidFill>
                  <a:schemeClr val="tx1"/>
                </a:solidFill>
                <a:effectLst/>
                <a:latin typeface="+mn-lt"/>
                <a:ea typeface="+mn-ea"/>
                <a:cs typeface="+mn-cs"/>
              </a:rPr>
              <a:t>0.3</a:t>
            </a:r>
            <a:r>
              <a:rPr lang="zh-TW" altLang="zh-TW" sz="1200" kern="1200" dirty="0">
                <a:solidFill>
                  <a:schemeClr val="tx1"/>
                </a:solidFill>
                <a:effectLst/>
                <a:latin typeface="+mn-lt"/>
                <a:ea typeface="+mn-ea"/>
                <a:cs typeface="+mn-cs"/>
              </a:rPr>
              <a:t>變</a:t>
            </a:r>
            <a:r>
              <a:rPr lang="zh-TW" altLang="en-US"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0.4</a:t>
            </a:r>
            <a:r>
              <a:rPr lang="zh-TW" altLang="zh-TW" sz="1200" kern="1200" dirty="0">
                <a:solidFill>
                  <a:schemeClr val="tx1"/>
                </a:solidFill>
                <a:effectLst/>
                <a:latin typeface="+mn-lt"/>
                <a:ea typeface="+mn-ea"/>
                <a:cs typeface="+mn-cs"/>
              </a:rPr>
              <a:t>的</a:t>
            </a:r>
            <a:r>
              <a:rPr lang="zh-TW" altLang="en-US" sz="1200" kern="1200" dirty="0">
                <a:solidFill>
                  <a:schemeClr val="tx1"/>
                </a:solidFill>
                <a:effectLst/>
                <a:latin typeface="+mn-lt"/>
                <a:ea typeface="+mn-ea"/>
                <a:cs typeface="+mn-cs"/>
              </a:rPr>
              <a:t>時有</a:t>
            </a:r>
            <a:r>
              <a:rPr lang="zh-TW" altLang="zh-TW" sz="1200" kern="1200" dirty="0">
                <a:solidFill>
                  <a:schemeClr val="tx1"/>
                </a:solidFill>
                <a:effectLst/>
                <a:latin typeface="+mn-lt"/>
                <a:ea typeface="+mn-ea"/>
                <a:cs typeface="+mn-cs"/>
              </a:rPr>
              <a:t>最大的</a:t>
            </a:r>
            <a:r>
              <a:rPr lang="zh-TW" altLang="en-US" sz="1200" kern="1200" dirty="0">
                <a:solidFill>
                  <a:schemeClr val="tx1"/>
                </a:solidFill>
                <a:effectLst/>
                <a:latin typeface="+mn-lt"/>
                <a:ea typeface="+mn-ea"/>
                <a:cs typeface="+mn-cs"/>
              </a:rPr>
              <a:t>進步</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但是</a:t>
            </a:r>
            <a:r>
              <a:rPr lang="zh-TW" altLang="zh-TW" sz="1200" kern="1200" dirty="0">
                <a:solidFill>
                  <a:schemeClr val="tx1"/>
                </a:solidFill>
                <a:effectLst/>
                <a:latin typeface="+mn-lt"/>
                <a:ea typeface="+mn-ea"/>
                <a:cs typeface="+mn-cs"/>
              </a:rPr>
              <a:t>增加閾值會</a:t>
            </a:r>
            <a:r>
              <a:rPr lang="zh-TW" altLang="en-US" sz="1200" kern="1200" dirty="0">
                <a:solidFill>
                  <a:schemeClr val="tx1"/>
                </a:solidFill>
                <a:effectLst/>
                <a:latin typeface="+mn-lt"/>
                <a:ea typeface="+mn-ea"/>
                <a:cs typeface="+mn-cs"/>
              </a:rPr>
              <a:t>導致</a:t>
            </a:r>
            <a:r>
              <a:rPr lang="zh-TW" altLang="zh-TW" sz="1200" kern="1200" dirty="0">
                <a:solidFill>
                  <a:schemeClr val="tx1"/>
                </a:solidFill>
                <a:effectLst/>
                <a:latin typeface="+mn-lt"/>
                <a:ea typeface="+mn-ea"/>
                <a:cs typeface="+mn-cs"/>
              </a:rPr>
              <a:t>未聚類推文的數量</a:t>
            </a:r>
            <a:r>
              <a:rPr lang="zh-TW" altLang="en-US" sz="1200" kern="1200" dirty="0">
                <a:solidFill>
                  <a:schemeClr val="tx1"/>
                </a:solidFill>
                <a:effectLst/>
                <a:latin typeface="+mn-lt"/>
                <a:ea typeface="+mn-ea"/>
                <a:cs typeface="+mn-cs"/>
              </a:rPr>
              <a:t>增加</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作者</a:t>
            </a:r>
            <a:r>
              <a:rPr lang="zh-TW" altLang="zh-TW" sz="1200" kern="1200" dirty="0">
                <a:solidFill>
                  <a:schemeClr val="tx1"/>
                </a:solidFill>
                <a:effectLst/>
                <a:latin typeface="+mn-lt"/>
                <a:ea typeface="+mn-ea"/>
                <a:cs typeface="+mn-cs"/>
              </a:rPr>
              <a:t>希望</a:t>
            </a:r>
            <a:r>
              <a:rPr lang="zh-TW" altLang="en-US" sz="1200" kern="1200" dirty="0">
                <a:solidFill>
                  <a:schemeClr val="tx1"/>
                </a:solidFill>
                <a:effectLst/>
                <a:latin typeface="+mn-lt"/>
                <a:ea typeface="+mn-ea"/>
                <a:cs typeface="+mn-cs"/>
              </a:rPr>
              <a:t>未聚類的推文</a:t>
            </a:r>
            <a:r>
              <a:rPr lang="zh-TW" altLang="zh-TW" sz="1200" kern="1200" dirty="0">
                <a:solidFill>
                  <a:schemeClr val="tx1"/>
                </a:solidFill>
                <a:effectLst/>
                <a:latin typeface="+mn-lt"/>
                <a:ea typeface="+mn-ea"/>
                <a:cs typeface="+mn-cs"/>
              </a:rPr>
              <a:t>數量</a:t>
            </a:r>
            <a:r>
              <a:rPr lang="zh-TW" altLang="en-US"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盡可能</a:t>
            </a:r>
            <a:r>
              <a:rPr lang="zh-TW" altLang="en-US" sz="1200" kern="1200" dirty="0">
                <a:solidFill>
                  <a:schemeClr val="tx1"/>
                </a:solidFill>
                <a:effectLst/>
                <a:latin typeface="+mn-lt"/>
                <a:ea typeface="+mn-ea"/>
                <a:cs typeface="+mn-cs"/>
              </a:rPr>
              <a:t>的少一點</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所以</a:t>
            </a:r>
            <a:r>
              <a:rPr lang="zh-TW" altLang="zh-TW" sz="1200" kern="1200" dirty="0">
                <a:solidFill>
                  <a:schemeClr val="tx1"/>
                </a:solidFill>
                <a:effectLst/>
                <a:latin typeface="+mn-lt"/>
                <a:ea typeface="+mn-ea"/>
                <a:cs typeface="+mn-cs"/>
              </a:rPr>
              <a:t>選擇</a:t>
            </a:r>
            <a:r>
              <a:rPr lang="en-US" altLang="zh-TW" sz="1200" kern="1200" dirty="0">
                <a:solidFill>
                  <a:schemeClr val="tx1"/>
                </a:solidFill>
                <a:effectLst/>
                <a:latin typeface="+mn-lt"/>
                <a:ea typeface="+mn-ea"/>
                <a:cs typeface="+mn-cs"/>
              </a:rPr>
              <a:t>0.4</a:t>
            </a:r>
            <a:r>
              <a:rPr lang="zh-TW" altLang="zh-TW" sz="1200" kern="1200" dirty="0">
                <a:solidFill>
                  <a:schemeClr val="tx1"/>
                </a:solidFill>
                <a:effectLst/>
                <a:latin typeface="+mn-lt"/>
                <a:ea typeface="+mn-ea"/>
                <a:cs typeface="+mn-cs"/>
              </a:rPr>
              <a:t>作為實驗</a:t>
            </a:r>
            <a:r>
              <a:rPr lang="zh-TW" altLang="en-US" sz="1200" kern="1200" dirty="0">
                <a:solidFill>
                  <a:schemeClr val="tx1"/>
                </a:solidFill>
                <a:effectLst/>
                <a:latin typeface="+mn-lt"/>
                <a:ea typeface="+mn-ea"/>
                <a:cs typeface="+mn-cs"/>
              </a:rPr>
              <a:t>的</a:t>
            </a:r>
            <a:r>
              <a:rPr lang="zh-TW" altLang="zh-TW" sz="1200" kern="1200" dirty="0">
                <a:solidFill>
                  <a:schemeClr val="tx1"/>
                </a:solidFill>
                <a:effectLst/>
                <a:latin typeface="+mn-lt"/>
                <a:ea typeface="+mn-ea"/>
                <a:cs typeface="+mn-cs"/>
              </a:rPr>
              <a:t>閾值值。</a:t>
            </a:r>
          </a:p>
          <a:p>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20</a:t>
            </a:fld>
            <a:endParaRPr lang="zh-TW" altLang="en-US"/>
          </a:p>
        </p:txBody>
      </p:sp>
    </p:spTree>
    <p:extLst>
      <p:ext uri="{BB962C8B-B14F-4D97-AF65-F5344CB8AC3E}">
        <p14:creationId xmlns:p14="http://schemas.microsoft.com/office/powerpoint/2010/main" val="2017429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再來是不同閾值下，聚類內的純度。</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21</a:t>
            </a:fld>
            <a:endParaRPr lang="zh-TW" altLang="en-US"/>
          </a:p>
        </p:txBody>
      </p:sp>
    </p:spTree>
    <p:extLst>
      <p:ext uri="{BB962C8B-B14F-4D97-AF65-F5344CB8AC3E}">
        <p14:creationId xmlns:p14="http://schemas.microsoft.com/office/powerpoint/2010/main" val="3143261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接下來作者讓</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去跟</a:t>
            </a:r>
            <a:r>
              <a:rPr lang="en-US" altLang="zh-TW" sz="1200" kern="1200" dirty="0">
                <a:solidFill>
                  <a:schemeClr val="tx1"/>
                </a:solidFill>
                <a:effectLst/>
                <a:latin typeface="+mn-lt"/>
                <a:ea typeface="+mn-ea"/>
                <a:cs typeface="+mn-cs"/>
              </a:rPr>
              <a:t>NSTC</a:t>
            </a:r>
            <a:r>
              <a:rPr lang="zh-TW" altLang="zh-TW" sz="1200" kern="1200" dirty="0">
                <a:solidFill>
                  <a:schemeClr val="tx1"/>
                </a:solidFill>
                <a:effectLst/>
                <a:latin typeface="+mn-lt"/>
                <a:ea typeface="+mn-ea"/>
                <a:cs typeface="+mn-cs"/>
              </a:rPr>
              <a:t>進行比較</a:t>
            </a:r>
            <a:r>
              <a:rPr lang="zh-TW" altLang="en-US"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r>
              <a:rPr lang="en-US" altLang="zh-TW" sz="1200" kern="1200" dirty="0">
                <a:solidFill>
                  <a:schemeClr val="tx1"/>
                </a:solidFill>
                <a:effectLst/>
                <a:latin typeface="+mn-lt"/>
                <a:ea typeface="+mn-ea"/>
                <a:cs typeface="+mn-cs"/>
              </a:rPr>
              <a:t>NSTC</a:t>
            </a:r>
            <a:r>
              <a:rPr lang="zh-TW" altLang="zh-TW" sz="1200" kern="1200" dirty="0">
                <a:solidFill>
                  <a:schemeClr val="tx1"/>
                </a:solidFill>
                <a:effectLst/>
                <a:latin typeface="+mn-lt"/>
                <a:ea typeface="+mn-ea"/>
                <a:cs typeface="+mn-cs"/>
              </a:rPr>
              <a:t>主要利用</a:t>
            </a:r>
            <a:r>
              <a:rPr lang="en-US" altLang="zh-TW" sz="1200" kern="1200" dirty="0">
                <a:solidFill>
                  <a:schemeClr val="tx1"/>
                </a:solidFill>
                <a:effectLst/>
                <a:latin typeface="+mn-lt"/>
                <a:ea typeface="+mn-ea"/>
                <a:cs typeface="+mn-cs"/>
              </a:rPr>
              <a:t>word based</a:t>
            </a:r>
            <a:r>
              <a:rPr lang="zh-TW" altLang="zh-TW" sz="1200" kern="1200" dirty="0">
                <a:solidFill>
                  <a:schemeClr val="tx1"/>
                </a:solidFill>
                <a:effectLst/>
                <a:latin typeface="+mn-lt"/>
                <a:ea typeface="+mn-ea"/>
                <a:cs typeface="+mn-cs"/>
              </a:rPr>
              <a:t>的</a:t>
            </a:r>
            <a:r>
              <a:rPr lang="zh-TW" altLang="en-US" sz="1200" kern="1200" dirty="0">
                <a:solidFill>
                  <a:schemeClr val="tx1"/>
                </a:solidFill>
                <a:effectLst/>
                <a:latin typeface="+mn-lt"/>
                <a:ea typeface="+mn-ea"/>
                <a:cs typeface="+mn-cs"/>
              </a:rPr>
              <a:t>後綴樹。</a:t>
            </a:r>
            <a:r>
              <a:rPr lang="en-US" altLang="zh-TW" sz="1200" kern="1200" dirty="0">
                <a:solidFill>
                  <a:schemeClr val="tx1"/>
                </a:solidFill>
                <a:effectLst/>
                <a:latin typeface="+mn-lt"/>
                <a:ea typeface="+mn-ea"/>
                <a:cs typeface="+mn-cs"/>
              </a:rPr>
              <a:t>(STC)</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zh-TW" sz="1200" kern="1200" dirty="0">
                <a:solidFill>
                  <a:schemeClr val="tx1"/>
                </a:solidFill>
                <a:effectLst/>
                <a:latin typeface="+mn-lt"/>
                <a:ea typeface="+mn-ea"/>
                <a:cs typeface="+mn-cs"/>
              </a:rPr>
              <a:t>但</a:t>
            </a:r>
            <a:r>
              <a:rPr lang="zh-TW" altLang="en-US" sz="1200" kern="1200" dirty="0">
                <a:solidFill>
                  <a:schemeClr val="tx1"/>
                </a:solidFill>
                <a:effectLst/>
                <a:latin typeface="+mn-lt"/>
                <a:ea typeface="+mn-ea"/>
                <a:cs typeface="+mn-cs"/>
              </a:rPr>
              <a:t>它</a:t>
            </a:r>
            <a:r>
              <a:rPr lang="zh-TW" altLang="zh-TW" sz="1200" kern="1200" dirty="0">
                <a:solidFill>
                  <a:schemeClr val="tx1"/>
                </a:solidFill>
                <a:effectLst/>
                <a:latin typeface="+mn-lt"/>
                <a:ea typeface="+mn-ea"/>
                <a:cs typeface="+mn-cs"/>
              </a:rPr>
              <a:t>將</a:t>
            </a:r>
            <a:r>
              <a:rPr lang="zh-TW" altLang="en-US" sz="1200" b="0" i="0" kern="1200" dirty="0">
                <a:solidFill>
                  <a:schemeClr val="tx1"/>
                </a:solidFill>
                <a:effectLst/>
                <a:latin typeface="+mn-lt"/>
                <a:ea typeface="+mn-ea"/>
                <a:cs typeface="+mn-cs"/>
              </a:rPr>
              <a:t>後綴樹中的所有節點映射到</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維向量空間模型</a:t>
            </a:r>
            <a:r>
              <a:rPr lang="en-US" altLang="zh-TW" sz="1200" b="0" i="0" kern="1200" dirty="0">
                <a:solidFill>
                  <a:schemeClr val="tx1"/>
                </a:solidFill>
                <a:effectLst/>
                <a:latin typeface="+mn-lt"/>
                <a:ea typeface="+mn-ea"/>
                <a:cs typeface="+mn-cs"/>
              </a:rPr>
              <a:t>(VSD)</a:t>
            </a:r>
            <a:r>
              <a:rPr lang="zh-TW" altLang="en-US" sz="1200" b="0" i="0" kern="1200" dirty="0">
                <a:solidFill>
                  <a:schemeClr val="tx1"/>
                </a:solidFill>
                <a:effectLst/>
                <a:latin typeface="+mn-lt"/>
                <a:ea typeface="+mn-ea"/>
                <a:cs typeface="+mn-cs"/>
              </a:rPr>
              <a:t>，其中</a:t>
            </a:r>
            <a:r>
              <a:rPr lang="en-US" altLang="zh-TW" sz="1200" b="0" i="0" kern="1200" dirty="0">
                <a:solidFill>
                  <a:schemeClr val="tx1"/>
                </a:solidFill>
                <a:effectLst/>
                <a:latin typeface="+mn-lt"/>
                <a:ea typeface="+mn-ea"/>
                <a:cs typeface="+mn-cs"/>
              </a:rPr>
              <a:t>M</a:t>
            </a:r>
            <a:r>
              <a:rPr lang="zh-TW" altLang="en-US" sz="1200" b="0" i="0" kern="1200" dirty="0">
                <a:solidFill>
                  <a:schemeClr val="tx1"/>
                </a:solidFill>
                <a:effectLst/>
                <a:latin typeface="+mn-lt"/>
                <a:ea typeface="+mn-ea"/>
                <a:cs typeface="+mn-cs"/>
              </a:rPr>
              <a:t>是節點的總數。</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每個文檔</a:t>
            </a:r>
            <a:r>
              <a:rPr lang="en-US" altLang="zh-TW" sz="1200" b="0" i="0" kern="1200" dirty="0">
                <a:solidFill>
                  <a:schemeClr val="tx1"/>
                </a:solidFill>
                <a:effectLst/>
                <a:latin typeface="+mn-lt"/>
                <a:ea typeface="+mn-ea"/>
                <a:cs typeface="+mn-cs"/>
              </a:rPr>
              <a:t>d</a:t>
            </a:r>
            <a:r>
              <a:rPr lang="zh-TW" altLang="en-US" sz="1200" b="0" i="0" kern="1200" dirty="0">
                <a:solidFill>
                  <a:schemeClr val="tx1"/>
                </a:solidFill>
                <a:effectLst/>
                <a:latin typeface="+mn-lt"/>
                <a:ea typeface="+mn-ea"/>
                <a:cs typeface="+mn-cs"/>
              </a:rPr>
              <a:t>會被表示為公式八中的形式。</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每個元素表示成</a:t>
            </a:r>
            <a:r>
              <a:rPr lang="en-US" altLang="zh-TW" sz="1200" b="0" i="0" kern="1200" dirty="0">
                <a:solidFill>
                  <a:schemeClr val="tx1"/>
                </a:solidFill>
                <a:effectLst/>
                <a:latin typeface="+mn-lt"/>
                <a:ea typeface="+mn-ea"/>
                <a:cs typeface="+mn-cs"/>
              </a:rPr>
              <a:t>w(</a:t>
            </a:r>
            <a:r>
              <a:rPr lang="en-US" altLang="zh-TW" sz="1200" b="0" i="0" kern="1200" dirty="0" err="1">
                <a:solidFill>
                  <a:schemeClr val="tx1"/>
                </a:solidFill>
                <a:effectLst/>
                <a:latin typeface="+mn-lt"/>
                <a:ea typeface="+mn-ea"/>
                <a:cs typeface="+mn-cs"/>
              </a:rPr>
              <a:t>n,d</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，代表文黨</a:t>
            </a:r>
            <a:r>
              <a:rPr lang="en-US" altLang="zh-TW" sz="1200" b="0" i="0" kern="1200" dirty="0">
                <a:solidFill>
                  <a:schemeClr val="tx1"/>
                </a:solidFill>
                <a:effectLst/>
                <a:latin typeface="+mn-lt"/>
                <a:ea typeface="+mn-ea"/>
                <a:cs typeface="+mn-cs"/>
              </a:rPr>
              <a:t>d</a:t>
            </a:r>
            <a:r>
              <a:rPr lang="zh-TW" altLang="en-US" sz="1200" b="0" i="0" kern="1200" dirty="0">
                <a:solidFill>
                  <a:schemeClr val="tx1"/>
                </a:solidFill>
                <a:effectLst/>
                <a:latin typeface="+mn-lt"/>
                <a:ea typeface="+mn-ea"/>
                <a:cs typeface="+mn-cs"/>
              </a:rPr>
              <a:t>中，節點</a:t>
            </a:r>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的權重。</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而公式九可以計算</a:t>
            </a:r>
            <a:r>
              <a:rPr lang="en-US" altLang="zh-TW" sz="1200" b="0" i="0" kern="1200" dirty="0">
                <a:solidFill>
                  <a:schemeClr val="tx1"/>
                </a:solidFill>
                <a:effectLst/>
                <a:latin typeface="+mn-lt"/>
                <a:ea typeface="+mn-ea"/>
                <a:cs typeface="+mn-cs"/>
              </a:rPr>
              <a:t>d</a:t>
            </a:r>
            <a:r>
              <a:rPr lang="zh-TW" altLang="en-US" sz="1200" b="0" i="0" kern="1200" dirty="0">
                <a:solidFill>
                  <a:schemeClr val="tx1"/>
                </a:solidFill>
                <a:effectLst/>
                <a:latin typeface="+mn-lt"/>
                <a:ea typeface="+mn-ea"/>
                <a:cs typeface="+mn-cs"/>
              </a:rPr>
              <a:t>中，節點</a:t>
            </a:r>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的權重，</a:t>
            </a:r>
            <a:r>
              <a:rPr lang="en-US" altLang="zh-TW" sz="1200" b="0" i="0" kern="1200" dirty="0" err="1">
                <a:solidFill>
                  <a:schemeClr val="tx1"/>
                </a:solidFill>
                <a:effectLst/>
                <a:latin typeface="+mn-lt"/>
                <a:ea typeface="+mn-ea"/>
                <a:cs typeface="+mn-cs"/>
              </a:rPr>
              <a:t>tf</a:t>
            </a:r>
            <a:r>
              <a:rPr lang="en-US" altLang="zh-TW" sz="1200" b="0" i="0" kern="1200" dirty="0">
                <a:solidFill>
                  <a:schemeClr val="tx1"/>
                </a:solidFill>
                <a:effectLst/>
                <a:latin typeface="+mn-lt"/>
                <a:ea typeface="+mn-ea"/>
                <a:cs typeface="+mn-cs"/>
              </a:rPr>
              <a:t>(</a:t>
            </a:r>
            <a:r>
              <a:rPr lang="en-US" altLang="zh-TW" sz="1200" b="0" i="0" kern="1200" dirty="0" err="1">
                <a:solidFill>
                  <a:schemeClr val="tx1"/>
                </a:solidFill>
                <a:effectLst/>
                <a:latin typeface="+mn-lt"/>
                <a:ea typeface="+mn-ea"/>
                <a:cs typeface="+mn-cs"/>
              </a:rPr>
              <a:t>n,d</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指的是文檔</a:t>
            </a:r>
            <a:r>
              <a:rPr lang="en-US" altLang="zh-TW" sz="1200" b="0" i="0" kern="1200" dirty="0">
                <a:solidFill>
                  <a:schemeClr val="tx1"/>
                </a:solidFill>
                <a:effectLst/>
                <a:latin typeface="+mn-lt"/>
                <a:ea typeface="+mn-ea"/>
                <a:cs typeface="+mn-cs"/>
              </a:rPr>
              <a:t>d</a:t>
            </a:r>
            <a:r>
              <a:rPr lang="zh-TW" altLang="en-US" sz="1200" b="0" i="0" kern="1200" dirty="0">
                <a:solidFill>
                  <a:schemeClr val="tx1"/>
                </a:solidFill>
                <a:effectLst/>
                <a:latin typeface="+mn-lt"/>
                <a:ea typeface="+mn-ea"/>
                <a:cs typeface="+mn-cs"/>
              </a:rPr>
              <a:t>經過節點</a:t>
            </a:r>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的總遍歷次數，</a:t>
            </a:r>
            <a:r>
              <a:rPr lang="en-US" altLang="zh-TW" sz="1200" b="0" i="0" kern="1200" dirty="0" err="1">
                <a:solidFill>
                  <a:schemeClr val="tx1"/>
                </a:solidFill>
                <a:effectLst/>
                <a:latin typeface="+mn-lt"/>
                <a:ea typeface="+mn-ea"/>
                <a:cs typeface="+mn-cs"/>
              </a:rPr>
              <a:t>df</a:t>
            </a:r>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代表遍歷節點</a:t>
            </a:r>
            <a:r>
              <a:rPr lang="en-US" altLang="zh-TW" sz="1200" b="0" i="0" kern="1200" dirty="0">
                <a:solidFill>
                  <a:schemeClr val="tx1"/>
                </a:solidFill>
                <a:effectLst/>
                <a:latin typeface="+mn-lt"/>
                <a:ea typeface="+mn-ea"/>
                <a:cs typeface="+mn-cs"/>
              </a:rPr>
              <a:t>n</a:t>
            </a:r>
            <a:r>
              <a:rPr lang="zh-TW" altLang="en-US" sz="1200" b="0" i="0" kern="1200" dirty="0">
                <a:solidFill>
                  <a:schemeClr val="tx1"/>
                </a:solidFill>
                <a:effectLst/>
                <a:latin typeface="+mn-lt"/>
                <a:ea typeface="+mn-ea"/>
                <a:cs typeface="+mn-cs"/>
              </a:rPr>
              <a:t>的不同文檔有幾個。</a:t>
            </a:r>
            <a:endParaRPr lang="en-US" altLang="zh-TW" sz="1200" b="0" i="0" kern="1200" dirty="0">
              <a:solidFill>
                <a:schemeClr val="tx1"/>
              </a:solidFill>
              <a:effectLst/>
              <a:latin typeface="+mn-lt"/>
              <a:ea typeface="+mn-ea"/>
              <a:cs typeface="+mn-cs"/>
            </a:endParaRPr>
          </a:p>
          <a:p>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然後</a:t>
            </a:r>
            <a:r>
              <a:rPr lang="en-US" altLang="zh-TW" sz="1200" b="0" i="0" kern="1200" dirty="0">
                <a:solidFill>
                  <a:schemeClr val="tx1"/>
                </a:solidFill>
                <a:effectLst/>
                <a:latin typeface="+mn-lt"/>
                <a:ea typeface="+mn-ea"/>
                <a:cs typeface="+mn-cs"/>
              </a:rPr>
              <a:t>NSTC</a:t>
            </a:r>
            <a:r>
              <a:rPr lang="zh-TW" altLang="en-US" sz="1200" b="0" i="0" kern="1200" dirty="0">
                <a:solidFill>
                  <a:schemeClr val="tx1"/>
                </a:solidFill>
                <a:effectLst/>
                <a:latin typeface="+mn-lt"/>
                <a:ea typeface="+mn-ea"/>
                <a:cs typeface="+mn-cs"/>
              </a:rPr>
              <a:t>使用（</a:t>
            </a:r>
            <a:r>
              <a:rPr lang="en-US" altLang="zh-TW" sz="1200" b="0" i="0" kern="1200" dirty="0">
                <a:solidFill>
                  <a:schemeClr val="tx1"/>
                </a:solidFill>
                <a:effectLst/>
                <a:latin typeface="+mn-lt"/>
                <a:ea typeface="+mn-ea"/>
                <a:cs typeface="+mn-cs"/>
              </a:rPr>
              <a:t>GAHC</a:t>
            </a:r>
            <a:r>
              <a:rPr lang="zh-TW" altLang="en-US" sz="1200" b="0" i="0" kern="1200" dirty="0">
                <a:solidFill>
                  <a:schemeClr val="tx1"/>
                </a:solidFill>
                <a:effectLst/>
                <a:latin typeface="+mn-lt"/>
                <a:ea typeface="+mn-ea"/>
                <a:cs typeface="+mn-cs"/>
              </a:rPr>
              <a:t>）和餘弦相似度來計算文檔之間的相似度。</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22</a:t>
            </a:fld>
            <a:endParaRPr lang="zh-TW" altLang="en-US"/>
          </a:p>
        </p:txBody>
      </p:sp>
    </p:spTree>
    <p:extLst>
      <p:ext uri="{BB962C8B-B14F-4D97-AF65-F5344CB8AC3E}">
        <p14:creationId xmlns:p14="http://schemas.microsoft.com/office/powerpoint/2010/main" val="4157766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在時間方面，</a:t>
            </a:r>
            <a:r>
              <a:rPr lang="en-US" altLang="zh-TW" dirty="0"/>
              <a:t>NSTC</a:t>
            </a:r>
            <a:r>
              <a:rPr lang="zh-TW" altLang="en-US" dirty="0"/>
              <a:t>花費了</a:t>
            </a:r>
            <a:r>
              <a:rPr lang="en-US" altLang="zh-TW" dirty="0"/>
              <a:t>910</a:t>
            </a:r>
            <a:r>
              <a:rPr lang="zh-TW" altLang="en-US" dirty="0"/>
              <a:t>到</a:t>
            </a:r>
            <a:r>
              <a:rPr lang="en-US" altLang="zh-TW" dirty="0"/>
              <a:t>938</a:t>
            </a:r>
            <a:r>
              <a:rPr lang="zh-TW" altLang="en-US" dirty="0"/>
              <a:t>秒完成聚類，相較之下，前面有提到</a:t>
            </a:r>
            <a:r>
              <a:rPr lang="en-US" altLang="zh-TW" dirty="0"/>
              <a:t>ST-TWEC</a:t>
            </a:r>
            <a:r>
              <a:rPr lang="zh-TW" altLang="en-US" dirty="0"/>
              <a:t>只需要花</a:t>
            </a:r>
            <a:r>
              <a:rPr lang="en-US" altLang="zh-TW" sz="1200" kern="1200" dirty="0">
                <a:solidFill>
                  <a:schemeClr val="tx1"/>
                </a:solidFill>
                <a:effectLst/>
                <a:latin typeface="+mn-lt"/>
                <a:ea typeface="+mn-ea"/>
                <a:cs typeface="+mn-cs"/>
              </a:rPr>
              <a:t>23.8 </a:t>
            </a:r>
            <a:r>
              <a:rPr lang="zh-TW" altLang="zh-TW"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 25.5</a:t>
            </a:r>
            <a:r>
              <a:rPr lang="zh-TW" altLang="en-US" sz="1200" kern="1200" dirty="0">
                <a:solidFill>
                  <a:schemeClr val="tx1"/>
                </a:solidFill>
                <a:effectLst/>
                <a:latin typeface="+mn-lt"/>
                <a:ea typeface="+mn-ea"/>
                <a:cs typeface="+mn-cs"/>
              </a:rPr>
              <a:t>秒。</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23</a:t>
            </a:fld>
            <a:endParaRPr lang="zh-TW" altLang="en-US"/>
          </a:p>
        </p:txBody>
      </p:sp>
    </p:spTree>
    <p:extLst>
      <p:ext uri="{BB962C8B-B14F-4D97-AF65-F5344CB8AC3E}">
        <p14:creationId xmlns:p14="http://schemas.microsoft.com/office/powerpoint/2010/main" val="2768854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圖十九跟圖二十是不同</a:t>
            </a:r>
            <a:r>
              <a:rPr lang="en-US" altLang="zh-TW" dirty="0" err="1"/>
              <a:t>maxclusters</a:t>
            </a:r>
            <a:r>
              <a:rPr lang="zh-TW" altLang="en-US" dirty="0"/>
              <a:t>之下，未聚類的推蚊數量跟平均聚類內相似度。</a:t>
            </a:r>
            <a:r>
              <a:rPr lang="en-US" altLang="zh-TW" sz="1200" kern="1200" dirty="0" err="1">
                <a:solidFill>
                  <a:schemeClr val="tx1"/>
                </a:solidFill>
                <a:effectLst/>
                <a:latin typeface="+mn-lt"/>
                <a:ea typeface="+mn-ea"/>
                <a:cs typeface="+mn-cs"/>
              </a:rPr>
              <a:t>maxCluster</a:t>
            </a:r>
            <a:r>
              <a:rPr lang="zh-TW" altLang="en-US" sz="1200" kern="1200" dirty="0">
                <a:solidFill>
                  <a:schemeClr val="tx1"/>
                </a:solidFill>
                <a:effectLst/>
                <a:latin typeface="+mn-lt"/>
                <a:ea typeface="+mn-ea"/>
                <a:cs typeface="+mn-cs"/>
              </a:rPr>
              <a:t>用來限制聚類數量的最大值。</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24</a:t>
            </a:fld>
            <a:endParaRPr lang="zh-TW" altLang="en-US"/>
          </a:p>
        </p:txBody>
      </p:sp>
    </p:spTree>
    <p:extLst>
      <p:ext uri="{BB962C8B-B14F-4D97-AF65-F5344CB8AC3E}">
        <p14:creationId xmlns:p14="http://schemas.microsoft.com/office/powerpoint/2010/main" val="484130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effectLst/>
                <a:latin typeface="+mn-lt"/>
                <a:ea typeface="+mn-ea"/>
                <a:cs typeface="+mn-cs"/>
              </a:rPr>
              <a:t>左圖是</a:t>
            </a:r>
            <a:r>
              <a:rPr lang="en-US" altLang="zh-TW" sz="1200" kern="1200" dirty="0">
                <a:solidFill>
                  <a:schemeClr val="tx1"/>
                </a:solidFill>
                <a:effectLst/>
                <a:latin typeface="+mn-lt"/>
                <a:ea typeface="+mn-ea"/>
                <a:cs typeface="+mn-cs"/>
              </a:rPr>
              <a:t>NSTC</a:t>
            </a:r>
            <a:r>
              <a:rPr lang="zh-TW" altLang="en-US" sz="1200" kern="1200" dirty="0">
                <a:solidFill>
                  <a:schemeClr val="tx1"/>
                </a:solidFill>
                <a:effectLst/>
                <a:latin typeface="+mn-lt"/>
                <a:ea typeface="+mn-ea"/>
                <a:cs typeface="+mn-cs"/>
              </a:rPr>
              <a:t>在不同</a:t>
            </a:r>
            <a:r>
              <a:rPr lang="en-US" altLang="zh-TW" sz="1200" kern="1200" dirty="0" err="1">
                <a:solidFill>
                  <a:schemeClr val="tx1"/>
                </a:solidFill>
                <a:effectLst/>
                <a:latin typeface="+mn-lt"/>
                <a:ea typeface="+mn-ea"/>
                <a:cs typeface="+mn-cs"/>
              </a:rPr>
              <a:t>maxClusters</a:t>
            </a:r>
            <a:r>
              <a:rPr lang="zh-TW" altLang="en-US" sz="1200" kern="1200" dirty="0">
                <a:solidFill>
                  <a:schemeClr val="tx1"/>
                </a:solidFill>
                <a:effectLst/>
                <a:latin typeface="+mn-lt"/>
                <a:ea typeface="+mn-ea"/>
                <a:cs typeface="+mn-cs"/>
              </a:rPr>
              <a:t>下的聚類內純度，另外，從之前的圖表可以知道</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的純度通常都在</a:t>
            </a:r>
            <a:r>
              <a:rPr lang="en-US" altLang="zh-TW" sz="1200" kern="1200" dirty="0">
                <a:solidFill>
                  <a:schemeClr val="tx1"/>
                </a:solidFill>
                <a:effectLst/>
                <a:latin typeface="+mn-lt"/>
                <a:ea typeface="+mn-ea"/>
                <a:cs typeface="+mn-cs"/>
              </a:rPr>
              <a:t>0.95</a:t>
            </a:r>
            <a:r>
              <a:rPr lang="zh-TW" altLang="en-US" sz="1200" kern="1200" dirty="0">
                <a:solidFill>
                  <a:schemeClr val="tx1"/>
                </a:solidFill>
                <a:effectLst/>
                <a:latin typeface="+mn-lt"/>
                <a:ea typeface="+mn-ea"/>
                <a:cs typeface="+mn-cs"/>
              </a:rPr>
              <a:t>以上。</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接下來是把</a:t>
            </a:r>
            <a:r>
              <a:rPr lang="en-US" altLang="zh-TW" sz="1200" kern="1200" dirty="0">
                <a:solidFill>
                  <a:schemeClr val="tx1"/>
                </a:solidFill>
                <a:effectLst/>
                <a:latin typeface="+mn-lt"/>
                <a:ea typeface="+mn-ea"/>
                <a:cs typeface="+mn-cs"/>
              </a:rPr>
              <a:t>NSTC</a:t>
            </a:r>
            <a:r>
              <a:rPr lang="zh-TW" altLang="en-US" sz="1200" kern="1200" dirty="0">
                <a:solidFill>
                  <a:schemeClr val="tx1"/>
                </a:solidFill>
                <a:effectLst/>
                <a:latin typeface="+mn-lt"/>
                <a:ea typeface="+mn-ea"/>
                <a:cs typeface="+mn-cs"/>
              </a:rPr>
              <a:t>跟</a:t>
            </a:r>
            <a:r>
              <a:rPr lang="en-US" altLang="zh-TW" sz="1200" kern="1200" dirty="0">
                <a:solidFill>
                  <a:schemeClr val="tx1"/>
                </a:solidFill>
                <a:effectLst/>
                <a:latin typeface="+mn-lt"/>
                <a:ea typeface="+mn-ea"/>
                <a:cs typeface="+mn-cs"/>
              </a:rPr>
              <a:t> ST-TWEC </a:t>
            </a:r>
            <a:r>
              <a:rPr lang="zh-TW" altLang="en-US" sz="1200" kern="1200" dirty="0">
                <a:solidFill>
                  <a:schemeClr val="tx1"/>
                </a:solidFill>
                <a:effectLst/>
                <a:latin typeface="+mn-lt"/>
                <a:ea typeface="+mn-ea"/>
                <a:cs typeface="+mn-cs"/>
              </a:rPr>
              <a:t>做</a:t>
            </a:r>
            <a:r>
              <a:rPr lang="zh-TW" altLang="zh-TW" sz="1200" kern="1200" dirty="0">
                <a:solidFill>
                  <a:schemeClr val="tx1"/>
                </a:solidFill>
                <a:effectLst/>
                <a:latin typeface="+mn-lt"/>
                <a:ea typeface="+mn-ea"/>
                <a:cs typeface="+mn-cs"/>
              </a:rPr>
              <a:t>比較</a:t>
            </a:r>
            <a:r>
              <a:rPr lang="en-US" altLang="zh-TW"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閾值為</a:t>
            </a:r>
            <a:r>
              <a:rPr lang="en-US" altLang="zh-TW" sz="1200" kern="1200" dirty="0">
                <a:solidFill>
                  <a:schemeClr val="tx1"/>
                </a:solidFill>
                <a:effectLst/>
                <a:latin typeface="+mn-lt"/>
                <a:ea typeface="+mn-ea"/>
                <a:cs typeface="+mn-cs"/>
              </a:rPr>
              <a:t> 0.4)</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作者把</a:t>
            </a:r>
            <a:r>
              <a:rPr lang="en-US" altLang="zh-TW" sz="1200" kern="1200" dirty="0">
                <a:solidFill>
                  <a:schemeClr val="tx1"/>
                </a:solidFill>
                <a:effectLst/>
                <a:latin typeface="+mn-lt"/>
                <a:ea typeface="+mn-ea"/>
                <a:cs typeface="+mn-cs"/>
              </a:rPr>
              <a:t> </a:t>
            </a:r>
            <a:r>
              <a:rPr lang="en-US" altLang="zh-TW" sz="1200" kern="1200" dirty="0" err="1">
                <a:solidFill>
                  <a:schemeClr val="tx1"/>
                </a:solidFill>
                <a:effectLst/>
                <a:latin typeface="+mn-lt"/>
                <a:ea typeface="+mn-ea"/>
                <a:cs typeface="+mn-cs"/>
              </a:rPr>
              <a:t>maxClusters</a:t>
            </a:r>
            <a:r>
              <a:rPr lang="en-US" altLang="zh-TW" sz="1200" kern="1200" dirty="0">
                <a:solidFill>
                  <a:schemeClr val="tx1"/>
                </a:solidFill>
                <a:effectLst/>
                <a:latin typeface="+mn-lt"/>
                <a:ea typeface="+mn-ea"/>
                <a:cs typeface="+mn-cs"/>
              </a:rPr>
              <a:t> </a:t>
            </a:r>
            <a:r>
              <a:rPr lang="zh-TW" altLang="zh-TW" sz="1200" kern="1200" dirty="0">
                <a:solidFill>
                  <a:schemeClr val="tx1"/>
                </a:solidFill>
                <a:effectLst/>
                <a:latin typeface="+mn-lt"/>
                <a:ea typeface="+mn-ea"/>
                <a:cs typeface="+mn-cs"/>
              </a:rPr>
              <a:t>值設置為</a:t>
            </a:r>
            <a:r>
              <a:rPr lang="en-US" altLang="zh-TW" sz="1200" kern="1200" dirty="0">
                <a:solidFill>
                  <a:schemeClr val="tx1"/>
                </a:solidFill>
                <a:effectLst/>
                <a:latin typeface="+mn-lt"/>
                <a:ea typeface="+mn-ea"/>
                <a:cs typeface="+mn-cs"/>
              </a:rPr>
              <a:t> 500 </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所以把</a:t>
            </a:r>
            <a:r>
              <a:rPr lang="zh-TW" altLang="zh-TW" sz="1200" kern="1200" dirty="0">
                <a:solidFill>
                  <a:schemeClr val="tx1"/>
                </a:solidFill>
                <a:effectLst/>
                <a:latin typeface="+mn-lt"/>
                <a:ea typeface="+mn-ea"/>
                <a:cs typeface="+mn-cs"/>
              </a:rPr>
              <a:t>該方法稱為</a:t>
            </a:r>
            <a:r>
              <a:rPr lang="en-US" altLang="zh-TW" sz="1200" kern="1200" dirty="0">
                <a:solidFill>
                  <a:schemeClr val="tx1"/>
                </a:solidFill>
                <a:effectLst/>
                <a:latin typeface="+mn-lt"/>
                <a:ea typeface="+mn-ea"/>
                <a:cs typeface="+mn-cs"/>
              </a:rPr>
              <a:t> NSTC-500</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endParaRPr lang="en-US" altLang="zh-TW" sz="1200" kern="1200" dirty="0">
              <a:solidFill>
                <a:schemeClr val="tx1"/>
              </a:solidFill>
              <a:effectLst/>
              <a:latin typeface="+mn-lt"/>
              <a:ea typeface="+mn-ea"/>
              <a:cs typeface="+mn-cs"/>
            </a:endParaRPr>
          </a:p>
          <a:p>
            <a:r>
              <a:rPr lang="zh-TW" altLang="en-US" sz="1200" kern="1200" dirty="0">
                <a:solidFill>
                  <a:schemeClr val="tx1"/>
                </a:solidFill>
                <a:effectLst/>
                <a:latin typeface="+mn-lt"/>
                <a:ea typeface="+mn-ea"/>
                <a:cs typeface="+mn-cs"/>
              </a:rPr>
              <a:t>右邊是兩個方法遇到不同數量的推文時，所花費的時間</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可以發現不管是純度還是時間，</a:t>
            </a:r>
            <a:r>
              <a:rPr lang="en-US" altLang="zh-TW" sz="1200" kern="1200" dirty="0">
                <a:solidFill>
                  <a:schemeClr val="tx1"/>
                </a:solidFill>
                <a:effectLst/>
                <a:latin typeface="+mn-lt"/>
                <a:ea typeface="+mn-ea"/>
                <a:cs typeface="+mn-cs"/>
              </a:rPr>
              <a:t>ST-TWEC</a:t>
            </a:r>
            <a:r>
              <a:rPr lang="zh-TW" altLang="en-US" sz="1200" kern="1200" dirty="0">
                <a:solidFill>
                  <a:schemeClr val="tx1"/>
                </a:solidFill>
                <a:effectLst/>
                <a:latin typeface="+mn-lt"/>
                <a:ea typeface="+mn-ea"/>
                <a:cs typeface="+mn-cs"/>
              </a:rPr>
              <a:t>普遍比</a:t>
            </a:r>
            <a:r>
              <a:rPr lang="en-US" altLang="zh-TW" sz="1200" kern="1200" dirty="0">
                <a:solidFill>
                  <a:schemeClr val="tx1"/>
                </a:solidFill>
                <a:effectLst/>
                <a:latin typeface="+mn-lt"/>
                <a:ea typeface="+mn-ea"/>
                <a:cs typeface="+mn-cs"/>
              </a:rPr>
              <a:t>NSTC</a:t>
            </a:r>
            <a:r>
              <a:rPr lang="zh-TW" altLang="en-US" sz="1200" kern="1200" dirty="0">
                <a:solidFill>
                  <a:schemeClr val="tx1"/>
                </a:solidFill>
                <a:effectLst/>
                <a:latin typeface="+mn-lt"/>
                <a:ea typeface="+mn-ea"/>
                <a:cs typeface="+mn-cs"/>
              </a:rPr>
              <a:t>好。</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25</a:t>
            </a:fld>
            <a:endParaRPr lang="zh-TW" altLang="en-US"/>
          </a:p>
        </p:txBody>
      </p:sp>
    </p:spTree>
    <p:extLst>
      <p:ext uri="{BB962C8B-B14F-4D97-AF65-F5344CB8AC3E}">
        <p14:creationId xmlns:p14="http://schemas.microsoft.com/office/powerpoint/2010/main" val="6346142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zh-TW"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 15 </a:t>
            </a:r>
            <a:r>
              <a:rPr lang="zh-TW" altLang="zh-TW" sz="1200" kern="1200" dirty="0">
                <a:solidFill>
                  <a:schemeClr val="tx1"/>
                </a:solidFill>
                <a:effectLst/>
                <a:latin typeface="+mn-lt"/>
                <a:ea typeface="+mn-ea"/>
                <a:cs typeface="+mn-cs"/>
              </a:rPr>
              <a:t>和</a:t>
            </a:r>
            <a:r>
              <a:rPr lang="en-US" altLang="zh-TW" sz="1200" kern="1200" dirty="0">
                <a:solidFill>
                  <a:schemeClr val="tx1"/>
                </a:solidFill>
                <a:effectLst/>
                <a:latin typeface="+mn-lt"/>
                <a:ea typeface="+mn-ea"/>
                <a:cs typeface="+mn-cs"/>
              </a:rPr>
              <a:t> 16 </a:t>
            </a:r>
            <a:r>
              <a:rPr lang="zh-TW" altLang="zh-TW" sz="1200" kern="1200" dirty="0">
                <a:solidFill>
                  <a:schemeClr val="tx1"/>
                </a:solidFill>
                <a:effectLst/>
                <a:latin typeface="+mn-lt"/>
                <a:ea typeface="+mn-ea"/>
                <a:cs typeface="+mn-cs"/>
              </a:rPr>
              <a:t>顯示了</a:t>
            </a:r>
            <a:r>
              <a:rPr lang="zh-TW" altLang="en-US" sz="1200" kern="1200" dirty="0">
                <a:solidFill>
                  <a:schemeClr val="tx1"/>
                </a:solidFill>
                <a:effectLst/>
                <a:latin typeface="+mn-lt"/>
                <a:ea typeface="+mn-ea"/>
                <a:cs typeface="+mn-cs"/>
              </a:rPr>
              <a:t>父子節點長度的</a:t>
            </a:r>
            <a:r>
              <a:rPr lang="zh-TW" altLang="zh-TW" sz="1200" kern="1200" dirty="0">
                <a:solidFill>
                  <a:schemeClr val="tx1"/>
                </a:solidFill>
                <a:effectLst/>
                <a:latin typeface="+mn-lt"/>
                <a:ea typeface="+mn-ea"/>
                <a:cs typeface="+mn-cs"/>
              </a:rPr>
              <a:t>比率變化</a:t>
            </a:r>
            <a:r>
              <a:rPr lang="zh-TW" altLang="en-US"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對聚類質量的影響，</a:t>
            </a:r>
            <a:r>
              <a:rPr lang="zh-TW" altLang="en-US" sz="1200" kern="1200" dirty="0">
                <a:solidFill>
                  <a:schemeClr val="tx1"/>
                </a:solidFill>
                <a:effectLst/>
                <a:latin typeface="+mn-lt"/>
                <a:ea typeface="+mn-ea"/>
                <a:cs typeface="+mn-cs"/>
              </a:rPr>
              <a:t>作者</a:t>
            </a:r>
            <a:r>
              <a:rPr lang="zh-TW" altLang="zh-TW" sz="1200" kern="1200" dirty="0">
                <a:solidFill>
                  <a:schemeClr val="tx1"/>
                </a:solidFill>
                <a:effectLst/>
                <a:latin typeface="+mn-lt"/>
                <a:ea typeface="+mn-ea"/>
                <a:cs typeface="+mn-cs"/>
              </a:rPr>
              <a:t>通過聚類數量、未聚類推文數量、平均</a:t>
            </a:r>
            <a:r>
              <a:rPr lang="zh-TW" altLang="en-US" sz="1200" kern="1200" dirty="0">
                <a:solidFill>
                  <a:schemeClr val="tx1"/>
                </a:solidFill>
                <a:effectLst/>
                <a:latin typeface="+mn-lt"/>
                <a:ea typeface="+mn-ea"/>
                <a:cs typeface="+mn-cs"/>
              </a:rPr>
              <a:t>聚類</a:t>
            </a:r>
            <a:r>
              <a:rPr lang="zh-TW" altLang="zh-TW" sz="1200" kern="1200" dirty="0">
                <a:solidFill>
                  <a:schemeClr val="tx1"/>
                </a:solidFill>
                <a:effectLst/>
                <a:latin typeface="+mn-lt"/>
                <a:ea typeface="+mn-ea"/>
                <a:cs typeface="+mn-cs"/>
              </a:rPr>
              <a:t>內相似度和純度分數來衡量。</a:t>
            </a: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可以</a:t>
            </a:r>
            <a:r>
              <a:rPr lang="zh-TW" altLang="zh-TW" sz="1200" kern="1200" dirty="0">
                <a:solidFill>
                  <a:schemeClr val="tx1"/>
                </a:solidFill>
                <a:effectLst/>
                <a:latin typeface="+mn-lt"/>
                <a:ea typeface="+mn-ea"/>
                <a:cs typeface="+mn-cs"/>
              </a:rPr>
              <a:t>觀察到在</a:t>
            </a:r>
            <a:r>
              <a:rPr lang="en-US" altLang="zh-TW" sz="1200" kern="1200" dirty="0">
                <a:solidFill>
                  <a:schemeClr val="tx1"/>
                </a:solidFill>
                <a:effectLst/>
                <a:latin typeface="+mn-lt"/>
                <a:ea typeface="+mn-ea"/>
                <a:cs typeface="+mn-cs"/>
              </a:rPr>
              <a:t> 0.6</a:t>
            </a:r>
            <a:r>
              <a:rPr lang="zh-TW" altLang="en-US" sz="1200" kern="1200" dirty="0">
                <a:solidFill>
                  <a:schemeClr val="tx1"/>
                </a:solidFill>
                <a:effectLst/>
                <a:latin typeface="+mn-lt"/>
                <a:ea typeface="+mn-ea"/>
                <a:cs typeface="+mn-cs"/>
              </a:rPr>
              <a:t>到</a:t>
            </a:r>
            <a:r>
              <a:rPr lang="en-US" altLang="zh-TW" sz="1200" kern="1200" dirty="0">
                <a:solidFill>
                  <a:schemeClr val="tx1"/>
                </a:solidFill>
                <a:effectLst/>
                <a:latin typeface="+mn-lt"/>
                <a:ea typeface="+mn-ea"/>
                <a:cs typeface="+mn-cs"/>
              </a:rPr>
              <a:t>0.7 </a:t>
            </a:r>
            <a:r>
              <a:rPr lang="zh-TW" altLang="en-US" sz="1200" kern="1200" dirty="0">
                <a:solidFill>
                  <a:schemeClr val="tx1"/>
                </a:solidFill>
                <a:effectLst/>
                <a:latin typeface="+mn-lt"/>
                <a:ea typeface="+mn-ea"/>
                <a:cs typeface="+mn-cs"/>
              </a:rPr>
              <a:t>這個</a:t>
            </a:r>
            <a:r>
              <a:rPr lang="zh-TW" altLang="zh-TW" sz="1200" kern="1200" dirty="0">
                <a:solidFill>
                  <a:schemeClr val="tx1"/>
                </a:solidFill>
                <a:effectLst/>
                <a:latin typeface="+mn-lt"/>
                <a:ea typeface="+mn-ea"/>
                <a:cs typeface="+mn-cs"/>
              </a:rPr>
              <a:t>範圍內</a:t>
            </a:r>
            <a:r>
              <a:rPr lang="zh-TW" altLang="en-US" sz="1200" kern="1200" dirty="0">
                <a:solidFill>
                  <a:schemeClr val="tx1"/>
                </a:solidFill>
                <a:effectLst/>
                <a:latin typeface="+mn-lt"/>
                <a:ea typeface="+mn-ea"/>
                <a:cs typeface="+mn-cs"/>
              </a:rPr>
              <a:t>，數值</a:t>
            </a:r>
            <a:r>
              <a:rPr lang="zh-TW" altLang="zh-TW" sz="1200" kern="1200" dirty="0">
                <a:solidFill>
                  <a:schemeClr val="tx1"/>
                </a:solidFill>
                <a:effectLst/>
                <a:latin typeface="+mn-lt"/>
                <a:ea typeface="+mn-ea"/>
                <a:cs typeface="+mn-cs"/>
              </a:rPr>
              <a:t>有明顯的增加，</a:t>
            </a:r>
            <a:r>
              <a:rPr lang="zh-TW" altLang="en-US" sz="1200" kern="1200" dirty="0">
                <a:solidFill>
                  <a:schemeClr val="tx1"/>
                </a:solidFill>
                <a:effectLst/>
                <a:latin typeface="+mn-lt"/>
                <a:ea typeface="+mn-ea"/>
                <a:cs typeface="+mn-cs"/>
              </a:rPr>
              <a:t>但</a:t>
            </a:r>
            <a:r>
              <a:rPr lang="zh-TW" altLang="zh-TW" sz="1200" kern="1200" dirty="0">
                <a:solidFill>
                  <a:schemeClr val="tx1"/>
                </a:solidFill>
                <a:effectLst/>
                <a:latin typeface="+mn-lt"/>
                <a:ea typeface="+mn-ea"/>
                <a:cs typeface="+mn-cs"/>
              </a:rPr>
              <a:t>在比率為</a:t>
            </a:r>
            <a:r>
              <a:rPr lang="en-US" altLang="zh-TW" sz="1200" kern="1200" dirty="0">
                <a:solidFill>
                  <a:schemeClr val="tx1"/>
                </a:solidFill>
                <a:effectLst/>
                <a:latin typeface="+mn-lt"/>
                <a:ea typeface="+mn-ea"/>
                <a:cs typeface="+mn-cs"/>
              </a:rPr>
              <a:t> 0.7 </a:t>
            </a:r>
            <a:r>
              <a:rPr lang="zh-TW" altLang="en-US" sz="1200" kern="1200" dirty="0">
                <a:solidFill>
                  <a:schemeClr val="tx1"/>
                </a:solidFill>
                <a:effectLst/>
                <a:latin typeface="+mn-lt"/>
                <a:ea typeface="+mn-ea"/>
                <a:cs typeface="+mn-cs"/>
              </a:rPr>
              <a:t>之</a:t>
            </a:r>
            <a:r>
              <a:rPr lang="zh-TW" altLang="zh-TW" sz="1200" kern="1200" dirty="0">
                <a:solidFill>
                  <a:schemeClr val="tx1"/>
                </a:solidFill>
                <a:effectLst/>
                <a:latin typeface="+mn-lt"/>
                <a:ea typeface="+mn-ea"/>
                <a:cs typeface="+mn-cs"/>
              </a:rPr>
              <a:t>後</a:t>
            </a:r>
            <a:r>
              <a:rPr lang="zh-TW" altLang="en-US" sz="1200" kern="1200" dirty="0">
                <a:solidFill>
                  <a:schemeClr val="tx1"/>
                </a:solidFill>
                <a:effectLst/>
                <a:latin typeface="+mn-lt"/>
                <a:ea typeface="+mn-ea"/>
                <a:cs typeface="+mn-cs"/>
              </a:rPr>
              <a:t>就沒甚麼改變</a:t>
            </a:r>
            <a:r>
              <a:rPr lang="zh-TW" altLang="zh-TW" sz="1200" kern="1200" dirty="0">
                <a:solidFill>
                  <a:schemeClr val="tx1"/>
                </a:solidFill>
                <a:effectLst/>
                <a:latin typeface="+mn-lt"/>
                <a:ea typeface="+mn-ea"/>
                <a:cs typeface="+mn-cs"/>
              </a:rPr>
              <a:t>。</a:t>
            </a:r>
            <a:r>
              <a:rPr lang="zh-TW" altLang="en-US" sz="1200" kern="1200" dirty="0">
                <a:solidFill>
                  <a:schemeClr val="tx1"/>
                </a:solidFill>
                <a:effectLst/>
                <a:latin typeface="+mn-lt"/>
                <a:ea typeface="+mn-ea"/>
                <a:cs typeface="+mn-cs"/>
              </a:rPr>
              <a:t>所以把</a:t>
            </a:r>
            <a:r>
              <a:rPr lang="zh-TW" altLang="zh-TW" sz="1200" kern="1200" dirty="0">
                <a:solidFill>
                  <a:schemeClr val="tx1"/>
                </a:solidFill>
                <a:effectLst/>
                <a:latin typeface="+mn-lt"/>
                <a:ea typeface="+mn-ea"/>
                <a:cs typeface="+mn-cs"/>
              </a:rPr>
              <a:t>該比率設置為</a:t>
            </a:r>
            <a:r>
              <a:rPr lang="en-US" altLang="zh-TW" sz="1200" kern="1200" dirty="0">
                <a:solidFill>
                  <a:schemeClr val="tx1"/>
                </a:solidFill>
                <a:effectLst/>
                <a:latin typeface="+mn-lt"/>
                <a:ea typeface="+mn-ea"/>
                <a:cs typeface="+mn-cs"/>
              </a:rPr>
              <a:t> 0.8</a:t>
            </a:r>
            <a:r>
              <a:rPr lang="zh-TW" altLang="zh-TW" sz="1200" kern="1200" dirty="0">
                <a:solidFill>
                  <a:schemeClr val="tx1"/>
                </a:solidFill>
                <a:effectLst/>
                <a:latin typeface="+mn-lt"/>
                <a:ea typeface="+mn-ea"/>
                <a:cs typeface="+mn-cs"/>
              </a:rPr>
              <a:t>。</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26</a:t>
            </a:fld>
            <a:endParaRPr lang="zh-TW" altLang="en-US"/>
          </a:p>
        </p:txBody>
      </p:sp>
    </p:spTree>
    <p:extLst>
      <p:ext uri="{BB962C8B-B14F-4D97-AF65-F5344CB8AC3E}">
        <p14:creationId xmlns:p14="http://schemas.microsoft.com/office/powerpoint/2010/main" val="10397944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17</a:t>
            </a:r>
            <a:r>
              <a:rPr lang="zh-TW" altLang="en-US" sz="1200" kern="1200" dirty="0">
                <a:solidFill>
                  <a:schemeClr val="tx1"/>
                </a:solidFill>
                <a:effectLst/>
                <a:latin typeface="+mn-lt"/>
                <a:ea typeface="+mn-ea"/>
                <a:cs typeface="+mn-cs"/>
              </a:rPr>
              <a:t>跟圖</a:t>
            </a:r>
            <a:r>
              <a:rPr lang="en-US" altLang="zh-TW" sz="1200" kern="1200" dirty="0">
                <a:solidFill>
                  <a:schemeClr val="tx1"/>
                </a:solidFill>
                <a:effectLst/>
                <a:latin typeface="+mn-lt"/>
                <a:ea typeface="+mn-ea"/>
                <a:cs typeface="+mn-cs"/>
              </a:rPr>
              <a:t>18</a:t>
            </a:r>
            <a:r>
              <a:rPr lang="zh-TW" altLang="zh-TW" sz="1200" kern="1200" dirty="0">
                <a:solidFill>
                  <a:schemeClr val="tx1"/>
                </a:solidFill>
                <a:effectLst/>
                <a:latin typeface="+mn-lt"/>
                <a:ea typeface="+mn-ea"/>
                <a:cs typeface="+mn-cs"/>
              </a:rPr>
              <a:t>顯示了</a:t>
            </a:r>
            <a:r>
              <a:rPr lang="zh-TW" altLang="en-US" sz="1200" kern="1200" dirty="0">
                <a:solidFill>
                  <a:schemeClr val="tx1"/>
                </a:solidFill>
                <a:effectLst/>
                <a:latin typeface="+mn-lt"/>
                <a:ea typeface="+mn-ea"/>
                <a:cs typeface="+mn-cs"/>
              </a:rPr>
              <a:t>父節點跟子節點內的推文數量的</a:t>
            </a:r>
            <a:r>
              <a:rPr lang="zh-TW" altLang="zh-TW" sz="1200" kern="1200" dirty="0">
                <a:solidFill>
                  <a:schemeClr val="tx1"/>
                </a:solidFill>
                <a:effectLst/>
                <a:latin typeface="+mn-lt"/>
                <a:ea typeface="+mn-ea"/>
                <a:cs typeface="+mn-cs"/>
              </a:rPr>
              <a:t>比率變化</a:t>
            </a:r>
            <a:r>
              <a:rPr lang="zh-TW" altLang="en-US" sz="1200" kern="1200" dirty="0">
                <a:solidFill>
                  <a:schemeClr val="tx1"/>
                </a:solidFill>
                <a:effectLst/>
                <a:latin typeface="+mn-lt"/>
                <a:ea typeface="+mn-ea"/>
                <a:cs typeface="+mn-cs"/>
              </a:rPr>
              <a:t>，</a:t>
            </a:r>
            <a:r>
              <a:rPr lang="zh-TW" altLang="zh-TW" sz="1200" kern="1200" dirty="0">
                <a:solidFill>
                  <a:schemeClr val="tx1"/>
                </a:solidFill>
                <a:effectLst/>
                <a:latin typeface="+mn-lt"/>
                <a:ea typeface="+mn-ea"/>
                <a:cs typeface="+mn-cs"/>
              </a:rPr>
              <a:t>對聚類質量的影響，</a:t>
            </a:r>
            <a:r>
              <a:rPr lang="zh-TW" altLang="en-US" sz="1200" kern="1200" dirty="0">
                <a:solidFill>
                  <a:schemeClr val="tx1"/>
                </a:solidFill>
                <a:effectLst/>
                <a:latin typeface="+mn-lt"/>
                <a:ea typeface="+mn-ea"/>
                <a:cs typeface="+mn-cs"/>
              </a:rPr>
              <a:t>圖</a:t>
            </a:r>
            <a:r>
              <a:rPr lang="en-US" altLang="zh-TW" sz="1200" kern="1200" dirty="0">
                <a:solidFill>
                  <a:schemeClr val="tx1"/>
                </a:solidFill>
                <a:effectLst/>
                <a:latin typeface="+mn-lt"/>
                <a:ea typeface="+mn-ea"/>
                <a:cs typeface="+mn-cs"/>
              </a:rPr>
              <a:t>17</a:t>
            </a:r>
            <a:r>
              <a:rPr lang="zh-TW" altLang="en-US" sz="1200" kern="1200" dirty="0">
                <a:solidFill>
                  <a:schemeClr val="tx1"/>
                </a:solidFill>
                <a:effectLst/>
                <a:latin typeface="+mn-lt"/>
                <a:ea typeface="+mn-ea"/>
                <a:cs typeface="+mn-cs"/>
              </a:rPr>
              <a:t>可以</a:t>
            </a:r>
            <a:r>
              <a:rPr lang="zh-TW" altLang="zh-TW" sz="1200" kern="1200" dirty="0">
                <a:solidFill>
                  <a:schemeClr val="tx1"/>
                </a:solidFill>
                <a:effectLst/>
                <a:latin typeface="+mn-lt"/>
                <a:ea typeface="+mn-ea"/>
                <a:cs typeface="+mn-cs"/>
              </a:rPr>
              <a:t>觀察到平均</a:t>
            </a:r>
            <a:r>
              <a:rPr lang="zh-TW" altLang="en-US" sz="1200" kern="1200" dirty="0">
                <a:solidFill>
                  <a:schemeClr val="tx1"/>
                </a:solidFill>
                <a:effectLst/>
                <a:latin typeface="+mn-lt"/>
                <a:ea typeface="+mn-ea"/>
                <a:cs typeface="+mn-cs"/>
              </a:rPr>
              <a:t>聚類</a:t>
            </a:r>
            <a:r>
              <a:rPr lang="zh-TW" altLang="zh-TW" sz="1200" kern="1200" dirty="0">
                <a:solidFill>
                  <a:schemeClr val="tx1"/>
                </a:solidFill>
                <a:effectLst/>
                <a:latin typeface="+mn-lt"/>
                <a:ea typeface="+mn-ea"/>
                <a:cs typeface="+mn-cs"/>
              </a:rPr>
              <a:t>內相似度</a:t>
            </a:r>
            <a:r>
              <a:rPr lang="zh-TW" altLang="en-US" sz="1200" kern="1200" dirty="0">
                <a:solidFill>
                  <a:schemeClr val="tx1"/>
                </a:solidFill>
                <a:effectLst/>
                <a:latin typeface="+mn-lt"/>
                <a:ea typeface="+mn-ea"/>
                <a:cs typeface="+mn-cs"/>
              </a:rPr>
              <a:t>跟</a:t>
            </a:r>
            <a:r>
              <a:rPr lang="zh-TW" altLang="zh-TW" sz="1200" kern="1200" dirty="0">
                <a:solidFill>
                  <a:schemeClr val="tx1"/>
                </a:solidFill>
                <a:effectLst/>
                <a:latin typeface="+mn-lt"/>
                <a:ea typeface="+mn-ea"/>
                <a:cs typeface="+mn-cs"/>
              </a:rPr>
              <a:t>純度沒有明顯變化。</a:t>
            </a:r>
            <a:endParaRPr lang="en-US" altLang="zh-TW"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200" kern="1200" dirty="0">
                <a:solidFill>
                  <a:schemeClr val="tx1"/>
                </a:solidFill>
                <a:effectLst/>
                <a:latin typeface="+mn-lt"/>
                <a:ea typeface="+mn-ea"/>
                <a:cs typeface="+mn-cs"/>
              </a:rPr>
              <a:t>但是</a:t>
            </a:r>
            <a:r>
              <a:rPr lang="zh-TW" altLang="zh-TW" sz="1200" kern="1200" dirty="0">
                <a:solidFill>
                  <a:schemeClr val="tx1"/>
                </a:solidFill>
                <a:effectLst/>
                <a:latin typeface="+mn-lt"/>
                <a:ea typeface="+mn-ea"/>
                <a:cs typeface="+mn-cs"/>
              </a:rPr>
              <a:t>當比率從</a:t>
            </a:r>
            <a:r>
              <a:rPr lang="en-US" altLang="zh-TW" sz="1200" kern="1200" dirty="0">
                <a:solidFill>
                  <a:schemeClr val="tx1"/>
                </a:solidFill>
                <a:effectLst/>
                <a:latin typeface="+mn-lt"/>
                <a:ea typeface="+mn-ea"/>
                <a:cs typeface="+mn-cs"/>
              </a:rPr>
              <a:t> 1.1 </a:t>
            </a:r>
            <a:r>
              <a:rPr lang="zh-TW" altLang="zh-TW" sz="1200" kern="1200" dirty="0">
                <a:solidFill>
                  <a:schemeClr val="tx1"/>
                </a:solidFill>
                <a:effectLst/>
                <a:latin typeface="+mn-lt"/>
                <a:ea typeface="+mn-ea"/>
                <a:cs typeface="+mn-cs"/>
              </a:rPr>
              <a:t>增加到</a:t>
            </a:r>
            <a:r>
              <a:rPr lang="en-US" altLang="zh-TW" sz="1200" kern="1200" dirty="0">
                <a:solidFill>
                  <a:schemeClr val="tx1"/>
                </a:solidFill>
                <a:effectLst/>
                <a:latin typeface="+mn-lt"/>
                <a:ea typeface="+mn-ea"/>
                <a:cs typeface="+mn-cs"/>
              </a:rPr>
              <a:t> 1.2 </a:t>
            </a:r>
            <a:r>
              <a:rPr lang="zh-TW" altLang="zh-TW" sz="1200" kern="1200" dirty="0">
                <a:solidFill>
                  <a:schemeClr val="tx1"/>
                </a:solidFill>
                <a:effectLst/>
                <a:latin typeface="+mn-lt"/>
                <a:ea typeface="+mn-ea"/>
                <a:cs typeface="+mn-cs"/>
              </a:rPr>
              <a:t>時，</a:t>
            </a:r>
            <a:r>
              <a:rPr lang="en-US" altLang="zh-TW" sz="1200" kern="1200" dirty="0">
                <a:solidFill>
                  <a:schemeClr val="tx1"/>
                </a:solidFill>
                <a:effectLst/>
                <a:latin typeface="+mn-lt"/>
                <a:ea typeface="+mn-ea"/>
                <a:cs typeface="+mn-cs"/>
              </a:rPr>
              <a:t>ST-TWEC </a:t>
            </a:r>
            <a:r>
              <a:rPr lang="zh-TW" altLang="zh-TW" sz="1200" kern="1200" dirty="0">
                <a:solidFill>
                  <a:schemeClr val="tx1"/>
                </a:solidFill>
                <a:effectLst/>
                <a:latin typeface="+mn-lt"/>
                <a:ea typeface="+mn-ea"/>
                <a:cs typeface="+mn-cs"/>
              </a:rPr>
              <a:t>的時間性能顯著改善。</a:t>
            </a:r>
            <a:r>
              <a:rPr lang="zh-TW" altLang="en-US" sz="1200" kern="1200" dirty="0">
                <a:solidFill>
                  <a:schemeClr val="tx1"/>
                </a:solidFill>
                <a:effectLst/>
                <a:latin typeface="+mn-lt"/>
                <a:ea typeface="+mn-ea"/>
                <a:cs typeface="+mn-cs"/>
              </a:rPr>
              <a:t>所以</a:t>
            </a:r>
            <a:r>
              <a:rPr lang="zh-TW" altLang="zh-TW" sz="1200" kern="1200" dirty="0">
                <a:solidFill>
                  <a:schemeClr val="tx1"/>
                </a:solidFill>
                <a:effectLst/>
                <a:latin typeface="+mn-lt"/>
                <a:ea typeface="+mn-ea"/>
                <a:cs typeface="+mn-cs"/>
              </a:rPr>
              <a:t>選擇了</a:t>
            </a:r>
            <a:r>
              <a:rPr lang="en-US" altLang="zh-TW" sz="1200" kern="1200" dirty="0">
                <a:solidFill>
                  <a:schemeClr val="tx1"/>
                </a:solidFill>
                <a:effectLst/>
                <a:latin typeface="+mn-lt"/>
                <a:ea typeface="+mn-ea"/>
                <a:cs typeface="+mn-cs"/>
              </a:rPr>
              <a:t> 1.2 </a:t>
            </a:r>
            <a:r>
              <a:rPr lang="zh-TW" altLang="zh-TW" sz="1200" kern="1200" dirty="0">
                <a:solidFill>
                  <a:schemeClr val="tx1"/>
                </a:solidFill>
                <a:effectLst/>
                <a:latin typeface="+mn-lt"/>
                <a:ea typeface="+mn-ea"/>
                <a:cs typeface="+mn-cs"/>
              </a:rPr>
              <a:t>作為比率。</a:t>
            </a:r>
            <a:endParaRPr lang="zh-TW" altLang="en-US" dirty="0"/>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27</a:t>
            </a:fld>
            <a:endParaRPr lang="zh-TW" altLang="en-US"/>
          </a:p>
        </p:txBody>
      </p:sp>
    </p:spTree>
    <p:extLst>
      <p:ext uri="{BB962C8B-B14F-4D97-AF65-F5344CB8AC3E}">
        <p14:creationId xmlns:p14="http://schemas.microsoft.com/office/powerpoint/2010/main" val="2659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a:t>最後，作者對</a:t>
            </a:r>
            <a:r>
              <a:rPr lang="en-US" altLang="zh-TW" dirty="0"/>
              <a:t>k-means</a:t>
            </a:r>
            <a:r>
              <a:rPr lang="zh-TW" altLang="en-US" dirty="0"/>
              <a:t>、</a:t>
            </a:r>
            <a:r>
              <a:rPr lang="en-US" altLang="zh-TW" dirty="0"/>
              <a:t>NSTC</a:t>
            </a:r>
            <a:r>
              <a:rPr lang="zh-TW" altLang="en-US" dirty="0"/>
              <a:t>、</a:t>
            </a:r>
            <a:r>
              <a:rPr lang="en-US" altLang="zh-TW" dirty="0"/>
              <a:t>LCS-Lex</a:t>
            </a:r>
            <a:r>
              <a:rPr lang="zh-TW" altLang="en-US" dirty="0"/>
              <a:t>、</a:t>
            </a:r>
            <a:r>
              <a:rPr lang="en-US" altLang="zh-TW" dirty="0"/>
              <a:t>ST-TWEC</a:t>
            </a:r>
            <a:r>
              <a:rPr lang="zh-TW" altLang="en-US" dirty="0"/>
              <a:t>這四種方法所得到的聚類品質進行比較，</a:t>
            </a:r>
            <a:r>
              <a:rPr lang="zh-TW" altLang="zh-TW" sz="1200" kern="1200" dirty="0">
                <a:solidFill>
                  <a:schemeClr val="tx1"/>
                </a:solidFill>
                <a:effectLst/>
                <a:latin typeface="+mn-lt"/>
                <a:ea typeface="+mn-ea"/>
                <a:cs typeface="+mn-cs"/>
              </a:rPr>
              <a:t>使用</a:t>
            </a:r>
            <a:r>
              <a:rPr lang="zh-TW" altLang="en-US" sz="1200" kern="1200" dirty="0">
                <a:solidFill>
                  <a:schemeClr val="tx1"/>
                </a:solidFill>
                <a:effectLst/>
                <a:latin typeface="+mn-lt"/>
                <a:ea typeface="+mn-ea"/>
                <a:cs typeface="+mn-cs"/>
              </a:rPr>
              <a:t>了</a:t>
            </a:r>
            <a:r>
              <a:rPr lang="en-US" altLang="zh-TW" sz="1200" kern="1200" dirty="0">
                <a:solidFill>
                  <a:schemeClr val="tx1"/>
                </a:solidFill>
                <a:effectLst/>
                <a:latin typeface="+mn-lt"/>
                <a:ea typeface="+mn-ea"/>
                <a:cs typeface="+mn-cs"/>
              </a:rPr>
              <a:t> Precision</a:t>
            </a:r>
            <a:r>
              <a:rPr lang="zh-TW" altLang="zh-TW" sz="1200" kern="1200" dirty="0">
                <a:solidFill>
                  <a:schemeClr val="tx1"/>
                </a:solidFill>
                <a:effectLst/>
                <a:latin typeface="+mn-lt"/>
                <a:ea typeface="+mn-ea"/>
                <a:cs typeface="+mn-cs"/>
              </a:rPr>
              <a:t>、</a:t>
            </a:r>
            <a:r>
              <a:rPr lang="en-US" altLang="zh-TW" sz="1200" kern="1200" dirty="0">
                <a:solidFill>
                  <a:schemeClr val="tx1"/>
                </a:solidFill>
                <a:effectLst/>
                <a:latin typeface="+mn-lt"/>
                <a:ea typeface="+mn-ea"/>
                <a:cs typeface="+mn-cs"/>
              </a:rPr>
              <a:t>Recall </a:t>
            </a:r>
            <a:r>
              <a:rPr lang="zh-TW" altLang="zh-TW" sz="1200" kern="1200" dirty="0">
                <a:solidFill>
                  <a:schemeClr val="tx1"/>
                </a:solidFill>
                <a:effectLst/>
                <a:latin typeface="+mn-lt"/>
                <a:ea typeface="+mn-ea"/>
                <a:cs typeface="+mn-cs"/>
              </a:rPr>
              <a:t>和</a:t>
            </a:r>
            <a:r>
              <a:rPr lang="en-US" altLang="zh-TW" sz="1200" kern="1200" dirty="0">
                <a:solidFill>
                  <a:schemeClr val="tx1"/>
                </a:solidFill>
                <a:effectLst/>
                <a:latin typeface="+mn-lt"/>
                <a:ea typeface="+mn-ea"/>
                <a:cs typeface="+mn-cs"/>
              </a:rPr>
              <a:t> F-Score</a:t>
            </a:r>
            <a:r>
              <a:rPr lang="zh-TW" altLang="en-US" sz="1200" kern="1200" dirty="0">
                <a:solidFill>
                  <a:schemeClr val="tx1"/>
                </a:solidFill>
                <a:effectLst/>
                <a:latin typeface="+mn-lt"/>
                <a:ea typeface="+mn-ea"/>
                <a:cs typeface="+mn-cs"/>
              </a:rPr>
              <a:t>去做評比</a:t>
            </a:r>
            <a:r>
              <a:rPr lang="zh-TW" altLang="en-US" dirty="0"/>
              <a:t>。</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28</a:t>
            </a:fld>
            <a:endParaRPr lang="zh-TW" altLang="en-US"/>
          </a:p>
        </p:txBody>
      </p:sp>
    </p:spTree>
    <p:extLst>
      <p:ext uri="{BB962C8B-B14F-4D97-AF65-F5344CB8AC3E}">
        <p14:creationId xmlns:p14="http://schemas.microsoft.com/office/powerpoint/2010/main" val="32034800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接下來是四種方法在不同的聚類中的</a:t>
            </a:r>
            <a:r>
              <a:rPr lang="en-US" altLang="zh-TW" dirty="0"/>
              <a:t>Precision</a:t>
            </a:r>
            <a:r>
              <a:rPr lang="zh-TW" altLang="en-US" dirty="0"/>
              <a:t>、</a:t>
            </a:r>
            <a:r>
              <a:rPr lang="en-US" altLang="zh-TW" dirty="0"/>
              <a:t>recall</a:t>
            </a:r>
            <a:r>
              <a:rPr lang="zh-TW" altLang="en-US" dirty="0"/>
              <a:t>跟</a:t>
            </a:r>
            <a:r>
              <a:rPr lang="en-US" altLang="zh-TW" dirty="0"/>
              <a:t>F-Score</a:t>
            </a:r>
            <a:r>
              <a:rPr lang="zh-TW" altLang="en-US" dirty="0"/>
              <a:t>。</a:t>
            </a:r>
            <a:endParaRPr lang="en-US" altLang="zh-TW" dirty="0"/>
          </a:p>
          <a:p>
            <a:r>
              <a:rPr lang="zh-TW" altLang="en-US" dirty="0"/>
              <a:t>左邊這張是在</a:t>
            </a:r>
            <a:r>
              <a:rPr lang="en-US" altLang="zh-TW" dirty="0" err="1"/>
              <a:t>charlie</a:t>
            </a:r>
            <a:r>
              <a:rPr lang="zh-TW" altLang="en-US" dirty="0"/>
              <a:t>這個聚類的結果，右邊是在</a:t>
            </a:r>
            <a:r>
              <a:rPr lang="en-US" altLang="zh-TW" dirty="0" err="1"/>
              <a:t>christmas</a:t>
            </a:r>
            <a:r>
              <a:rPr lang="zh-TW" altLang="en-US" dirty="0"/>
              <a:t>這個聚類的結果</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29</a:t>
            </a:fld>
            <a:endParaRPr lang="zh-TW" altLang="en-US"/>
          </a:p>
        </p:txBody>
      </p:sp>
    </p:spTree>
    <p:extLst>
      <p:ext uri="{BB962C8B-B14F-4D97-AF65-F5344CB8AC3E}">
        <p14:creationId xmlns:p14="http://schemas.microsoft.com/office/powerpoint/2010/main" val="15963599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左邊這張是在</a:t>
            </a:r>
            <a:r>
              <a:rPr lang="en-US" altLang="zh-TW" dirty="0" err="1"/>
              <a:t>nba</a:t>
            </a:r>
            <a:r>
              <a:rPr lang="zh-TW" altLang="en-US" dirty="0"/>
              <a:t>這個聚類的結果，右邊是在</a:t>
            </a:r>
            <a:r>
              <a:rPr lang="en-US" altLang="zh-TW" dirty="0"/>
              <a:t>trump</a:t>
            </a:r>
            <a:r>
              <a:rPr lang="zh-TW" altLang="en-US" dirty="0"/>
              <a:t>這個聚類的結果</a:t>
            </a:r>
            <a:endParaRPr lang="en-US" altLang="zh-TW" dirty="0"/>
          </a:p>
          <a:p>
            <a:r>
              <a:rPr lang="zh-TW" altLang="en-US" dirty="0"/>
              <a:t>從上一張投影片跟這張投影片可以發現，</a:t>
            </a:r>
            <a:r>
              <a:rPr lang="en-US" altLang="zh-TW" dirty="0"/>
              <a:t>LCS</a:t>
            </a:r>
            <a:r>
              <a:rPr lang="zh-TW" altLang="en-US" dirty="0"/>
              <a:t>跟</a:t>
            </a:r>
            <a:r>
              <a:rPr lang="en-US" altLang="zh-TW" dirty="0"/>
              <a:t>ST-TWEC</a:t>
            </a:r>
            <a:r>
              <a:rPr lang="zh-TW" altLang="en-US" dirty="0"/>
              <a:t>的結果普遍優於</a:t>
            </a:r>
            <a:r>
              <a:rPr lang="en-US" altLang="zh-TW" dirty="0"/>
              <a:t>k-means</a:t>
            </a:r>
            <a:r>
              <a:rPr lang="zh-TW" altLang="en-US" dirty="0"/>
              <a:t>跟</a:t>
            </a:r>
            <a:r>
              <a:rPr lang="en-US" altLang="zh-TW" dirty="0"/>
              <a:t>NSTC</a:t>
            </a:r>
            <a:r>
              <a:rPr lang="zh-TW" altLang="en-US" dirty="0"/>
              <a:t>，</a:t>
            </a:r>
            <a:endParaRPr lang="en-US" altLang="zh-TW" dirty="0"/>
          </a:p>
          <a:p>
            <a:r>
              <a:rPr lang="zh-TW" altLang="en-US" dirty="0"/>
              <a:t>但是根據之前的圖表可以知道，雖然</a:t>
            </a:r>
            <a:r>
              <a:rPr lang="en-US" altLang="zh-TW" dirty="0"/>
              <a:t>ST-TWEC</a:t>
            </a:r>
            <a:r>
              <a:rPr lang="zh-TW" altLang="en-US" dirty="0"/>
              <a:t>跟</a:t>
            </a:r>
            <a:r>
              <a:rPr lang="en-US" altLang="zh-TW" dirty="0"/>
              <a:t>LCS</a:t>
            </a:r>
            <a:r>
              <a:rPr lang="zh-TW" altLang="en-US" dirty="0"/>
              <a:t>的所得到的聚類質量差不多，但是</a:t>
            </a:r>
            <a:r>
              <a:rPr lang="en-US" altLang="zh-TW" dirty="0"/>
              <a:t>ST-TWEC</a:t>
            </a:r>
            <a:r>
              <a:rPr lang="zh-TW" altLang="en-US" dirty="0"/>
              <a:t>在時間方面上會比</a:t>
            </a:r>
            <a:r>
              <a:rPr lang="en-US" altLang="zh-TW" dirty="0"/>
              <a:t>LCS</a:t>
            </a:r>
            <a:r>
              <a:rPr lang="zh-TW" altLang="en-US" dirty="0"/>
              <a:t>好。</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30</a:t>
            </a:fld>
            <a:endParaRPr lang="zh-TW" altLang="en-US"/>
          </a:p>
        </p:txBody>
      </p:sp>
    </p:spTree>
    <p:extLst>
      <p:ext uri="{BB962C8B-B14F-4D97-AF65-F5344CB8AC3E}">
        <p14:creationId xmlns:p14="http://schemas.microsoft.com/office/powerpoint/2010/main" val="183942058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我的報告到此結束，謝謝大家。</a:t>
            </a:r>
          </a:p>
        </p:txBody>
      </p:sp>
      <p:sp>
        <p:nvSpPr>
          <p:cNvPr id="4" name="投影片編號版面配置區 3"/>
          <p:cNvSpPr>
            <a:spLocks noGrp="1"/>
          </p:cNvSpPr>
          <p:nvPr>
            <p:ph type="sldNum" sz="quarter" idx="10"/>
          </p:nvPr>
        </p:nvSpPr>
        <p:spPr/>
        <p:txBody>
          <a:bodyPr/>
          <a:lstStyle/>
          <a:p>
            <a:fld id="{8670385A-3A9F-4826-B5A3-522D762D8382}" type="slidenum">
              <a:rPr lang="zh-TW" altLang="en-US" smtClean="0"/>
              <a:t>31</a:t>
            </a:fld>
            <a:endParaRPr lang="zh-TW" altLang="en-US"/>
          </a:p>
        </p:txBody>
      </p:sp>
    </p:spTree>
    <p:extLst>
      <p:ext uri="{BB962C8B-B14F-4D97-AF65-F5344CB8AC3E}">
        <p14:creationId xmlns:p14="http://schemas.microsoft.com/office/powerpoint/2010/main" val="3454861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187316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12048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2948020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33892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81081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9468837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238548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173251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4027975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76724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348852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626808-429A-4028-A4D4-897012403039}" type="datetimeFigureOut">
              <a:rPr lang="zh-TW" altLang="en-US" smtClean="0"/>
              <a:t>2024/4/9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0AB6D81-95DE-485F-B5F2-D8EB09B7804D}" type="slidenum">
              <a:rPr lang="zh-TW" altLang="en-US" smtClean="0"/>
              <a:t>‹#›</a:t>
            </a:fld>
            <a:endParaRPr lang="zh-TW" altLang="en-US"/>
          </a:p>
        </p:txBody>
      </p:sp>
    </p:spTree>
    <p:extLst>
      <p:ext uri="{BB962C8B-B14F-4D97-AF65-F5344CB8AC3E}">
        <p14:creationId xmlns:p14="http://schemas.microsoft.com/office/powerpoint/2010/main" val="1487578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60615" y="2769961"/>
            <a:ext cx="11070770" cy="832077"/>
          </a:xfrm>
        </p:spPr>
        <p:txBody>
          <a:bodyPr>
            <a:normAutofit/>
          </a:bodyPr>
          <a:lstStyle/>
          <a:p>
            <a:r>
              <a:rPr lang="en-US" altLang="zh-TW" sz="4400" dirty="0">
                <a:latin typeface="Times New Roman" panose="02020603050405020304" pitchFamily="18" charset="0"/>
                <a:cs typeface="Times New Roman" panose="02020603050405020304" pitchFamily="18" charset="0"/>
              </a:rPr>
              <a:t>I-TWEC: Interactive clustering tool for Twitter</a:t>
            </a:r>
            <a:endParaRPr lang="zh-TW" altLang="en-US" sz="4400"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524000" y="3890412"/>
            <a:ext cx="9144000" cy="1655762"/>
          </a:xfrm>
        </p:spPr>
        <p:txBody>
          <a:bodyPr/>
          <a:lstStyle/>
          <a:p>
            <a:r>
              <a:rPr lang="en-US" altLang="zh-TW" dirty="0" err="1">
                <a:latin typeface="Times New Roman" panose="02020603050405020304" pitchFamily="18" charset="0"/>
                <a:cs typeface="Times New Roman" panose="02020603050405020304" pitchFamily="18" charset="0"/>
              </a:rPr>
              <a:t>Inanç</a:t>
            </a:r>
            <a:r>
              <a:rPr lang="en-US" altLang="zh-TW" dirty="0">
                <a:latin typeface="Times New Roman" panose="02020603050405020304" pitchFamily="18" charset="0"/>
                <a:cs typeface="Times New Roman" panose="02020603050405020304" pitchFamily="18" charset="0"/>
              </a:rPr>
              <a:t> Arın, </a:t>
            </a:r>
            <a:r>
              <a:rPr lang="en-US" altLang="zh-TW" dirty="0" err="1">
                <a:latin typeface="Times New Roman" panose="02020603050405020304" pitchFamily="18" charset="0"/>
                <a:cs typeface="Times New Roman" panose="02020603050405020304" pitchFamily="18" charset="0"/>
              </a:rPr>
              <a:t>Mert</a:t>
            </a:r>
            <a:r>
              <a:rPr lang="en-US" altLang="zh-TW" dirty="0">
                <a:latin typeface="Times New Roman" panose="02020603050405020304" pitchFamily="18" charset="0"/>
                <a:cs typeface="Times New Roman" panose="02020603050405020304" pitchFamily="18" charset="0"/>
              </a:rPr>
              <a:t> Kemal </a:t>
            </a:r>
            <a:r>
              <a:rPr lang="en-US" altLang="zh-TW" dirty="0" err="1">
                <a:latin typeface="Times New Roman" panose="02020603050405020304" pitchFamily="18" charset="0"/>
                <a:cs typeface="Times New Roman" panose="02020603050405020304" pitchFamily="18" charset="0"/>
              </a:rPr>
              <a:t>Erpam</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Yücel</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Saygın</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Expert Systems With Applications, Vol. 96, pp. 1–13.</a:t>
            </a:r>
          </a:p>
          <a:p>
            <a:r>
              <a:rPr lang="en-US" altLang="zh-TW" dirty="0">
                <a:latin typeface="Times New Roman" panose="02020603050405020304" pitchFamily="18" charset="0"/>
                <a:cs typeface="Times New Roman" panose="02020603050405020304" pitchFamily="18" charset="0"/>
              </a:rPr>
              <a:t>15 April 2018</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Wan-Ni </a:t>
            </a:r>
            <a:r>
              <a:rPr lang="en-US" altLang="zh-TW" sz="2000" dirty="0" err="1">
                <a:latin typeface="Times New Roman"/>
                <a:ea typeface="Times New Roman"/>
                <a:cs typeface="Times New Roman"/>
                <a:sym typeface="Times New Roman"/>
              </a:rPr>
              <a:t>Ou</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April.</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09</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4</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364917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Abstract(1/2)</a:t>
            </a:r>
            <a:endParaRPr lang="zh-TW" altLang="en-US" b="1" dirty="0">
              <a:latin typeface="Times New Roman" panose="02020603050405020304" pitchFamily="18" charset="0"/>
              <a:cs typeface="Times New Roman" panose="02020603050405020304" pitchFamily="18" charset="0"/>
            </a:endParaRPr>
          </a:p>
        </p:txBody>
      </p:sp>
      <p:sp>
        <p:nvSpPr>
          <p:cNvPr id="5"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351338"/>
          </a:xfrm>
        </p:spPr>
        <p:txBody>
          <a:bodyPr>
            <a:noAutofit/>
          </a:bodyPr>
          <a:lstStyle/>
          <a:p>
            <a:pPr marL="0" indent="0" algn="just">
              <a:buNone/>
            </a:pPr>
            <a:r>
              <a:rPr lang="en-US" altLang="zh-TW" sz="2400" dirty="0">
                <a:latin typeface="Times New Roman" panose="02020603050405020304" pitchFamily="18" charset="0"/>
                <a:cs typeface="Times New Roman" panose="02020603050405020304" pitchFamily="18" charset="0"/>
              </a:rPr>
              <a:t>	Social media provides a medium for people to express themselves on different issues. Twitter has gained a lot of popularity in the past decade as a social media platform where people create micro-blogs providing a valuable data source to understand trends and public opinion. However, the volume of tweets even on specific topics may reach millions creating a big challenge for the analyst. Clustering is a technique which can be utilized to better understand such large volumes of data. The main idea of clustering is to group similar tweets into batches in order to find patterns, to summarize, and to compress a large dataset. Though clustering is a natural technique for the analysis of tweets, there is no clustering tool specifically designed for Twitter data that utilizes lexical and semantic similarities; and that can be readily used by non-technical experts such as social scientists. I-TWEC is a web based tweet clustering tool where users can upload their data and the resulting clusters are presented with different visualizations which further enable the user to interactively select and merge clusters based on their semantic similarity.</a:t>
            </a:r>
          </a:p>
        </p:txBody>
      </p:sp>
    </p:spTree>
    <p:extLst>
      <p:ext uri="{BB962C8B-B14F-4D97-AF65-F5344CB8AC3E}">
        <p14:creationId xmlns:p14="http://schemas.microsoft.com/office/powerpoint/2010/main" val="3577167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690688"/>
            <a:ext cx="10515600" cy="4877166"/>
          </a:xfrm>
        </p:spPr>
        <p:txBody>
          <a:bodyPr>
            <a:noAutofit/>
          </a:bodyPr>
          <a:lstStyle/>
          <a:p>
            <a:pPr marL="0" indent="0" algn="just">
              <a:buNone/>
            </a:pPr>
            <a:r>
              <a:rPr lang="en-US" altLang="zh-TW" sz="2400" dirty="0">
                <a:latin typeface="Times New Roman" panose="02020603050405020304" pitchFamily="18" charset="0"/>
                <a:cs typeface="Times New Roman" panose="02020603050405020304" pitchFamily="18" charset="0"/>
              </a:rPr>
              <a:t>I-TWEC has the lexical and semantic clustering components implemented as two consecutive phases. For the lexical clustering of tweets, Longest Common Subsequence is a widely accepted similarity metric, however it is also very costly, and therefore not applicable to large data sets such as the ones collected through Twitter. In order to overcome that challenge, we have implemented a suffix tree based index structure in I-TWEC to efficiently cluster tweets based on the Longest Common Substring similarity which is an approximation of the Longest Common Subsequence. Experiments we have conducted show that lexical clustering phase of I-TWEC can produce results with comparable clustering quality in a fraction of the time required by the baseline methods which use Longest Common Subsequence and Suffix Tree. We have also experimented with a k-means document clustering as well as a state-of-the-art </a:t>
            </a:r>
            <a:r>
              <a:rPr lang="en-US" altLang="zh-TW" sz="2400" dirty="0" err="1">
                <a:latin typeface="Times New Roman" panose="02020603050405020304" pitchFamily="18" charset="0"/>
                <a:cs typeface="Times New Roman" panose="02020603050405020304" pitchFamily="18" charset="0"/>
              </a:rPr>
              <a:t>wordbased</a:t>
            </a:r>
            <a:r>
              <a:rPr lang="en-US" altLang="zh-TW" sz="2400" dirty="0">
                <a:latin typeface="Times New Roman" panose="02020603050405020304" pitchFamily="18" charset="0"/>
                <a:cs typeface="Times New Roman" panose="02020603050405020304" pitchFamily="18" charset="0"/>
              </a:rPr>
              <a:t> suffix tree clustering algorithm and the results show that I-TWEC outperforms the state-of-the-art in terms of time with comparable clustering quality.</a:t>
            </a:r>
          </a:p>
          <a:p>
            <a:pPr marL="0" indent="0" algn="just">
              <a:buNone/>
            </a:pPr>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Abstract(2/2)</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6110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380444"/>
            <a:ext cx="11897032" cy="5384149"/>
          </a:xfrm>
        </p:spPr>
        <p:txBody>
          <a:bodyPr>
            <a:noAutofit/>
          </a:bodyPr>
          <a:lstStyle/>
          <a:p>
            <a:r>
              <a:rPr lang="en-US" altLang="zh-TW" sz="2400" dirty="0">
                <a:latin typeface="Times New Roman" panose="02020603050405020304" pitchFamily="18" charset="0"/>
                <a:cs typeface="Times New Roman" panose="02020603050405020304" pitchFamily="18" charset="0"/>
              </a:rPr>
              <a:t>People are constantly sharing their opinions towards events and life on Twitter, hence it may be considered as the digital reflection of our society. But many tweets are duplicates, they do not contribute much information in terms of content analysis.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Eliminating duplicate or similar tweets and reducing the number of tweets for analysis is lexical clustering.</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Clustering is an effective technique for understanding large volumes of tweet data, but traditional document clustering algorithms cannot be directly applied to tweets due to their unique characteristics: </a:t>
            </a:r>
          </a:p>
          <a:p>
            <a:pPr marL="914400" lvl="1" indent="-457200">
              <a:buFont typeface="+mj-lt"/>
              <a:buAutoNum type="arabicPeriod"/>
            </a:pPr>
            <a:r>
              <a:rPr lang="en-US" altLang="zh-TW" sz="2000" dirty="0">
                <a:latin typeface="Times New Roman" panose="02020603050405020304" pitchFamily="18" charset="0"/>
                <a:cs typeface="Times New Roman" panose="02020603050405020304" pitchFamily="18" charset="0"/>
              </a:rPr>
              <a:t>Tweets are very short, therefore standard document clustering algorithms which use word-based similarity metrics will not work well for tweets;</a:t>
            </a:r>
          </a:p>
          <a:p>
            <a:pPr marL="914400" lvl="1" indent="-457200">
              <a:buFont typeface="+mj-lt"/>
              <a:buAutoNum type="arabicPeriod"/>
            </a:pPr>
            <a:r>
              <a:rPr lang="en-US" altLang="zh-TW" sz="2000" dirty="0">
                <a:latin typeface="Times New Roman" panose="02020603050405020304" pitchFamily="18" charset="0"/>
                <a:cs typeface="Times New Roman" panose="02020603050405020304" pitchFamily="18" charset="0"/>
              </a:rPr>
              <a:t>Twitter has no writing format, and people can use informal language, emoticons, abbreviations, and misspellings.</a:t>
            </a: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Introduction(1/2)</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4594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4877166"/>
          </a:xfrm>
        </p:spPr>
        <p:txBody>
          <a:bodyPr>
            <a:noAutofit/>
          </a:bodyPr>
          <a:lstStyle/>
          <a:p>
            <a:r>
              <a:rPr lang="en-US" altLang="zh-TW" sz="2400" b="1" dirty="0">
                <a:latin typeface="Times New Roman" panose="02020603050405020304" pitchFamily="18" charset="0"/>
                <a:cs typeface="Times New Roman" panose="02020603050405020304" pitchFamily="18" charset="0"/>
              </a:rPr>
              <a:t>Tweet clustering</a:t>
            </a:r>
            <a:r>
              <a:rPr lang="zh-TW" altLang="en-US" sz="2400" b="1" dirty="0">
                <a:latin typeface="Times New Roman" panose="02020603050405020304" pitchFamily="18" charset="0"/>
                <a:cs typeface="Times New Roman" panose="02020603050405020304" pitchFamily="18" charset="0"/>
              </a:rPr>
              <a:t>：</a:t>
            </a:r>
            <a:r>
              <a:rPr lang="en-US" altLang="zh-TW" sz="2400" b="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aim to create a set of clusters C = {c1, c2, … ,cm} for a set of tweets </a:t>
            </a:r>
          </a:p>
          <a:p>
            <a:pPr marL="0" indent="0">
              <a:buNone/>
            </a:pPr>
            <a:r>
              <a:rPr lang="en-US" altLang="zh-TW" sz="2400" dirty="0">
                <a:latin typeface="Times New Roman" panose="02020603050405020304" pitchFamily="18" charset="0"/>
                <a:cs typeface="Times New Roman" panose="02020603050405020304" pitchFamily="18" charset="0"/>
              </a:rPr>
              <a:t>   T = {t1, t2, … , </a:t>
            </a:r>
            <a:r>
              <a:rPr lang="en-US" altLang="zh-TW" sz="2400" dirty="0" err="1">
                <a:latin typeface="Times New Roman" panose="02020603050405020304" pitchFamily="18" charset="0"/>
                <a:cs typeface="Times New Roman" panose="02020603050405020304" pitchFamily="18" charset="0"/>
              </a:rPr>
              <a:t>tn</a:t>
            </a:r>
            <a:r>
              <a:rPr lang="en-US" altLang="zh-TW" sz="2400" dirty="0">
                <a:latin typeface="Times New Roman" panose="02020603050405020304" pitchFamily="18" charset="0"/>
                <a:cs typeface="Times New Roman" panose="02020603050405020304" pitchFamily="18" charset="0"/>
              </a:rPr>
              <a:t> } where m&lt;=n .</a:t>
            </a:r>
          </a:p>
          <a:p>
            <a:pPr marL="914400" lvl="1" indent="-457200">
              <a:buFont typeface="+mj-lt"/>
              <a:buAutoNum type="arabicPeriod"/>
            </a:pPr>
            <a:r>
              <a:rPr lang="en-US" altLang="zh-TW" sz="2000" dirty="0">
                <a:latin typeface="Times New Roman" panose="02020603050405020304" pitchFamily="18" charset="0"/>
                <a:cs typeface="Times New Roman" panose="02020603050405020304" pitchFamily="18" charset="0"/>
              </a:rPr>
              <a:t>Lexical threshold-based clustering using Longest Common Subsequence (LCS-Lex)</a:t>
            </a:r>
          </a:p>
          <a:p>
            <a:pPr marL="914400" lvl="1" indent="-457200">
              <a:buFont typeface="+mj-lt"/>
              <a:buAutoNum type="arabicPeriod"/>
            </a:pPr>
            <a:r>
              <a:rPr lang="en-US" altLang="zh-TW" sz="2000" dirty="0">
                <a:latin typeface="Times New Roman" panose="02020603050405020304" pitchFamily="18" charset="0"/>
                <a:cs typeface="Times New Roman" panose="02020603050405020304" pitchFamily="18" charset="0"/>
              </a:rPr>
              <a:t>Clustering based on suffix trees (ST-TWEC).</a:t>
            </a:r>
          </a:p>
          <a:p>
            <a:endParaRPr lang="en-US" altLang="zh-TW" sz="2400" dirty="0">
              <a:latin typeface="Times New Roman" panose="02020603050405020304" pitchFamily="18" charset="0"/>
              <a:cs typeface="Times New Roman" panose="02020603050405020304" pitchFamily="18" charset="0"/>
            </a:endParaRPr>
          </a:p>
          <a:p>
            <a:r>
              <a:rPr lang="en-US" altLang="zh-TW" sz="2400" b="1" dirty="0">
                <a:latin typeface="Times New Roman" panose="02020603050405020304" pitchFamily="18" charset="0"/>
                <a:cs typeface="Times New Roman" panose="02020603050405020304" pitchFamily="18" charset="0"/>
              </a:rPr>
              <a:t>Interactive Tweet Clustering Tool (I-TWEC)</a:t>
            </a:r>
            <a:r>
              <a:rPr lang="zh-TW" altLang="en-US" sz="2400" b="1" dirty="0">
                <a:latin typeface="Times New Roman" panose="02020603050405020304" pitchFamily="18" charset="0"/>
                <a:cs typeface="Times New Roman" panose="02020603050405020304" pitchFamily="18" charset="0"/>
              </a:rPr>
              <a:t>：</a:t>
            </a:r>
            <a:r>
              <a:rPr lang="en-US" altLang="zh-TW" sz="2400" b="1"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Combines lexical and semantic similarity and achieves efficient clustering through suffix trees.</a:t>
            </a:r>
          </a:p>
          <a:p>
            <a:endParaRPr lang="en-US" altLang="zh-TW" sz="2400" dirty="0">
              <a:latin typeface="Times New Roman" panose="02020603050405020304" pitchFamily="18" charset="0"/>
              <a:cs typeface="Times New Roman" panose="02020603050405020304" pitchFamily="18" charset="0"/>
            </a:endParaRPr>
          </a:p>
          <a:p>
            <a:r>
              <a:rPr lang="en-US" altLang="zh-TW" sz="2400" b="1" dirty="0">
                <a:latin typeface="Times New Roman" panose="02020603050405020304" pitchFamily="18" charset="0"/>
                <a:cs typeface="Times New Roman" panose="02020603050405020304" pitchFamily="18" charset="0"/>
              </a:rPr>
              <a:t>Result</a:t>
            </a:r>
            <a:r>
              <a:rPr lang="zh-TW" altLang="en-US" sz="2400" b="1"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Found that ST-TWEC performs well in terms of time complexity and outperforms other state-of-the-art clustering methods.</a:t>
            </a: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Introduction(2/2)</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777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787298"/>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X, Y</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：字串</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Xi = x1x2 . . . xi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：代表</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X</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字串從第</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個直到第</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個字母的字串</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985684" y="263544"/>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Lexical threshold-based clustering using Longest Common Subsequence (LCS-Lex)</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94969" y="2584338"/>
            <a:ext cx="7920954" cy="1658010"/>
          </a:xfrm>
          <a:prstGeom prst="rect">
            <a:avLst/>
          </a:prstGeom>
        </p:spPr>
      </p:pic>
      <p:sp>
        <p:nvSpPr>
          <p:cNvPr id="6" name="內容版面配置區 2">
            <a:extLst>
              <a:ext uri="{FF2B5EF4-FFF2-40B4-BE49-F238E27FC236}">
                <a16:creationId xmlns:a16="http://schemas.microsoft.com/office/drawing/2014/main" id="{1929CBE0-F345-4810-B322-95D978A6AA0F}"/>
              </a:ext>
            </a:extLst>
          </p:cNvPr>
          <p:cNvSpPr txBox="1">
            <a:spLocks/>
          </p:cNvSpPr>
          <p:nvPr/>
        </p:nvSpPr>
        <p:spPr>
          <a:xfrm>
            <a:off x="294968" y="4803549"/>
            <a:ext cx="11897032" cy="11668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ti</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tj</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：代表推文集合中，第</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i</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個和第</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j</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個推文</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pic>
        <p:nvPicPr>
          <p:cNvPr id="7" name="圖片 6"/>
          <p:cNvPicPr>
            <a:picLocks noChangeAspect="1"/>
          </p:cNvPicPr>
          <p:nvPr/>
        </p:nvPicPr>
        <p:blipFill>
          <a:blip r:embed="rId4"/>
          <a:stretch>
            <a:fillRect/>
          </a:stretch>
        </p:blipFill>
        <p:spPr>
          <a:xfrm>
            <a:off x="341580" y="5354994"/>
            <a:ext cx="7874342" cy="877562"/>
          </a:xfrm>
          <a:prstGeom prst="rect">
            <a:avLst/>
          </a:prstGeom>
        </p:spPr>
      </p:pic>
    </p:spTree>
    <p:extLst>
      <p:ext uri="{BB962C8B-B14F-4D97-AF65-F5344CB8AC3E}">
        <p14:creationId xmlns:p14="http://schemas.microsoft.com/office/powerpoint/2010/main" val="2546224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Lexical threshold-based clustering using Longest Common Subsequence (LCS-Lex)</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821619" y="1690688"/>
            <a:ext cx="5195709" cy="5319416"/>
          </a:xfrm>
          <a:prstGeom prst="rect">
            <a:avLst/>
          </a:prstGeom>
        </p:spPr>
      </p:pic>
    </p:spTree>
    <p:extLst>
      <p:ext uri="{BB962C8B-B14F-4D97-AF65-F5344CB8AC3E}">
        <p14:creationId xmlns:p14="http://schemas.microsoft.com/office/powerpoint/2010/main" val="177812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4252912"/>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：一則推文</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：推文</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的</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length</a:t>
            </a: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Common substring of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ti</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tj</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：同時出現在兩則推文中的字串</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Note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substring and subsequence are different.</a:t>
            </a:r>
          </a:p>
          <a:p>
            <a:pPr marL="0" indent="0">
              <a:buNone/>
            </a:pP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 substring</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連續、</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subsequence</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非連續</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p>
          <a:p>
            <a:pPr marL="0" indent="0">
              <a:buNone/>
            </a:pP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Aim to create a set of cluster C = </a:t>
            </a:r>
            <a:r>
              <a:rPr lang="en-US" altLang="zh-TW" dirty="0">
                <a:latin typeface="Times New Roman" panose="02020603050405020304" pitchFamily="18" charset="0"/>
                <a:ea typeface="標楷體" panose="03000509000000000000" pitchFamily="65" charset="-120"/>
                <a:cs typeface="Times New Roman" panose="02020603050405020304" pitchFamily="18" charset="0"/>
              </a:rPr>
              <a:t>{c1, c2, . . ., cm} that the length of the common substring of tweets inside a cluster is above a threshold.</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ST-TWEC: Suffix tree based tweet clustering method</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(1/3)</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1221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7"/>
            <a:ext cx="11897032" cy="5036683"/>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Preprocessing</a:t>
            </a:r>
          </a:p>
          <a:p>
            <a:pPr lvl="1"/>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Remove link</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username</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retweet tags and punctuation marks.</a:t>
            </a:r>
          </a:p>
          <a:p>
            <a:pPr lvl="1"/>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Transfer all tweets into lower case and adjust white space.</a:t>
            </a:r>
          </a:p>
          <a:p>
            <a:pPr lvl="1"/>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Remove tweets which contain less than 5 character.</a:t>
            </a:r>
          </a:p>
          <a:p>
            <a:pPr marL="914400" lvl="1" indent="-457200">
              <a:buFont typeface="+mj-lt"/>
              <a:buAutoNum type="arabicPeriod"/>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Suffix tree</a:t>
            </a:r>
          </a:p>
          <a:p>
            <a:pPr lvl="1"/>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Construct a suffix tree to detect the common substrings between tweets.</a:t>
            </a: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ST-TWEC: Suffix tree based tweet clustering method (2/3)</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2709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7"/>
            <a:ext cx="11897032" cy="5036683"/>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Clustering</a:t>
            </a:r>
          </a:p>
          <a:p>
            <a:pPr lvl="1"/>
            <a:r>
              <a:rPr lang="en-US" altLang="zh-TW" sz="2000" dirty="0">
                <a:latin typeface="Times New Roman" panose="02020603050405020304" pitchFamily="18" charset="0"/>
                <a:cs typeface="Times New Roman" panose="02020603050405020304" pitchFamily="18" charset="0"/>
              </a:rPr>
              <a:t>Each node is a basis for clusters, and a cluster corresponding to each node. Given a node n and its corresponding cluster Cn, we define a tweet to be a member of the cluster </a:t>
            </a:r>
            <a:r>
              <a:rPr lang="en-US" altLang="zh-TW" sz="2000" dirty="0" err="1">
                <a:latin typeface="Times New Roman" panose="02020603050405020304" pitchFamily="18" charset="0"/>
                <a:cs typeface="Times New Roman" panose="02020603050405020304" pitchFamily="18" charset="0"/>
              </a:rPr>
              <a:t>cn</a:t>
            </a:r>
            <a:r>
              <a:rPr lang="en-US" altLang="zh-TW" sz="2000" dirty="0">
                <a:latin typeface="Times New Roman" panose="02020603050405020304" pitchFamily="18" charset="0"/>
                <a:cs typeface="Times New Roman" panose="02020603050405020304" pitchFamily="18" charset="0"/>
              </a:rPr>
              <a:t>, </a:t>
            </a:r>
            <a:r>
              <a:rPr lang="en-US" altLang="zh-TW" sz="2000" dirty="0" err="1">
                <a:latin typeface="Times New Roman" panose="02020603050405020304" pitchFamily="18" charset="0"/>
                <a:cs typeface="Times New Roman" panose="02020603050405020304" pitchFamily="18" charset="0"/>
              </a:rPr>
              <a:t>iff</a:t>
            </a:r>
            <a:r>
              <a:rPr lang="en-US" altLang="zh-TW" sz="2000" dirty="0">
                <a:latin typeface="Times New Roman" panose="02020603050405020304" pitchFamily="18" charset="0"/>
                <a:cs typeface="Times New Roman" panose="02020603050405020304" pitchFamily="18" charset="0"/>
              </a:rPr>
              <a:t>:</a:t>
            </a:r>
          </a:p>
          <a:p>
            <a:pPr marL="1371600" lvl="2" indent="-457200">
              <a:buFont typeface="+mj-lt"/>
              <a:buAutoNum type="arabicPeriod"/>
            </a:pPr>
            <a:r>
              <a:rPr lang="en-US" altLang="zh-TW" dirty="0">
                <a:latin typeface="Times New Roman" panose="02020603050405020304" pitchFamily="18" charset="0"/>
                <a:cs typeface="Times New Roman" panose="02020603050405020304" pitchFamily="18" charset="0"/>
              </a:rPr>
              <a:t>Tweet contains the string which node n represents (denoted as </a:t>
            </a:r>
            <a:r>
              <a:rPr lang="en-US" altLang="zh-TW" dirty="0" err="1">
                <a:latin typeface="Times New Roman" panose="02020603050405020304" pitchFamily="18" charset="0"/>
                <a:cs typeface="Times New Roman" panose="02020603050405020304" pitchFamily="18" charset="0"/>
              </a:rPr>
              <a:t>n.string</a:t>
            </a:r>
            <a:r>
              <a:rPr lang="en-US" altLang="zh-TW" dirty="0">
                <a:latin typeface="Times New Roman" panose="02020603050405020304" pitchFamily="18" charset="0"/>
                <a:cs typeface="Times New Roman" panose="02020603050405020304" pitchFamily="18" charset="0"/>
              </a:rPr>
              <a:t>)</a:t>
            </a:r>
          </a:p>
          <a:p>
            <a:pPr marL="1371600" lvl="2" indent="-457200">
              <a:buFont typeface="+mj-lt"/>
              <a:buAutoNum type="arabicPeriod"/>
            </a:pPr>
            <a:r>
              <a:rPr lang="en-US" altLang="zh-TW" dirty="0">
                <a:latin typeface="Times New Roman" panose="02020603050405020304" pitchFamily="18" charset="0"/>
                <a:cs typeface="Times New Roman" panose="02020603050405020304" pitchFamily="18" charset="0"/>
              </a:rPr>
              <a:t>length(</a:t>
            </a:r>
            <a:r>
              <a:rPr lang="en-US" altLang="zh-TW" dirty="0" err="1">
                <a:latin typeface="Times New Roman" panose="02020603050405020304" pitchFamily="18" charset="0"/>
                <a:cs typeface="Times New Roman" panose="02020603050405020304" pitchFamily="18" charset="0"/>
              </a:rPr>
              <a:t>n.string</a:t>
            </a:r>
            <a:r>
              <a:rPr lang="en-US" altLang="zh-TW" dirty="0">
                <a:latin typeface="Times New Roman" panose="02020603050405020304" pitchFamily="18" charset="0"/>
                <a:cs typeface="Times New Roman" panose="02020603050405020304" pitchFamily="18" charset="0"/>
              </a:rPr>
              <a:t>) / length(tweet) &gt; </a:t>
            </a:r>
            <a:r>
              <a:rPr lang="en-US" altLang="zh-TW" dirty="0" err="1">
                <a:latin typeface="Times New Roman" panose="02020603050405020304" pitchFamily="18" charset="0"/>
                <a:cs typeface="Times New Roman" panose="02020603050405020304" pitchFamily="18" charset="0"/>
              </a:rPr>
              <a:t>thrCluster</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Overlapping</a:t>
            </a:r>
          </a:p>
          <a:p>
            <a:pPr lvl="1"/>
            <a:r>
              <a:rPr lang="en-US" altLang="zh-TW" dirty="0">
                <a:latin typeface="Times New Roman" panose="02020603050405020304" pitchFamily="18" charset="0"/>
                <a:cs typeface="Times New Roman" panose="02020603050405020304" pitchFamily="18" charset="0"/>
              </a:rPr>
              <a:t>Use nodes to approximate overlapping and examine nodes with parental relationships.</a:t>
            </a:r>
          </a:p>
          <a:p>
            <a:pPr lvl="1"/>
            <a:r>
              <a:rPr lang="en-US" altLang="zh-TW" dirty="0">
                <a:latin typeface="Times New Roman" panose="02020603050405020304" pitchFamily="18" charset="0"/>
                <a:cs typeface="Times New Roman" panose="02020603050405020304" pitchFamily="18" charset="0"/>
              </a:rPr>
              <a:t>Mark a child node as a duplicate node and merge it with its parent if it satisfies any of the following conditions:</a:t>
            </a:r>
          </a:p>
          <a:p>
            <a:pPr marL="1371600" lvl="2" indent="-457200">
              <a:buFont typeface="+mj-lt"/>
              <a:buAutoNum type="arabicPeriod"/>
            </a:pPr>
            <a:r>
              <a:rPr lang="en-US" altLang="zh-TW" dirty="0">
                <a:latin typeface="Times New Roman" panose="02020603050405020304" pitchFamily="18" charset="0"/>
                <a:cs typeface="Times New Roman" panose="02020603050405020304" pitchFamily="18" charset="0"/>
              </a:rPr>
              <a:t>The ratio of the number of tweets in an ancestral node to the number of tweets in its child node is below 1.2.</a:t>
            </a:r>
          </a:p>
          <a:p>
            <a:pPr marL="1371600" lvl="2" indent="-457200">
              <a:buFont typeface="+mj-lt"/>
              <a:buAutoNum type="arabicPeriod"/>
            </a:pPr>
            <a:r>
              <a:rPr lang="en-US" altLang="zh-TW" dirty="0">
                <a:latin typeface="Times New Roman" panose="02020603050405020304" pitchFamily="18" charset="0"/>
                <a:cs typeface="Times New Roman" panose="02020603050405020304" pitchFamily="18" charset="0"/>
              </a:rPr>
              <a:t>The ratio of the length of the substring of an ancestral node to the length of the substring of its child is above 0.8.</a:t>
            </a:r>
          </a:p>
          <a:p>
            <a:pPr marL="457200" lvl="1" indent="0">
              <a:buNone/>
            </a:pPr>
            <a:r>
              <a:rPr lang="en-US" altLang="zh-TW" sz="2000" dirty="0">
                <a:latin typeface="Times New Roman" panose="02020603050405020304" pitchFamily="18" charset="0"/>
                <a:ea typeface="標楷體" panose="03000509000000000000" pitchFamily="65" charset="-120"/>
                <a:cs typeface="Times New Roman" panose="02020603050405020304" pitchFamily="18" charset="0"/>
                <a:hlinkClick r:id="rId3" action="ppaction://hlinksldjump"/>
              </a:rPr>
              <a:t>(The reason why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hlinkClick r:id="rId3" action="ppaction://hlinksldjump"/>
              </a:rPr>
              <a:t>choosen</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hlinkClick r:id="rId3" action="ppaction://hlinksldjump"/>
              </a:rPr>
              <a:t> 1.2 and 0.8 as the ratio.)</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1" indent="-457200">
              <a:buFont typeface="+mj-lt"/>
              <a:buAutoNum type="arabicPeriod"/>
            </a:pP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ST-TWEC: Suffix tree based tweet clustering method (3/3)</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2312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7"/>
            <a:ext cx="11897032" cy="3247969"/>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tweets which convey the same meaning with different words. These tweets may be assigned to different clusters, because in ST-TWEC, tweets are clustered based on their string similarity, not considering their semantics. </a:t>
            </a:r>
          </a:p>
          <a:p>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If clusters are semantically similar, they need to be merged. Users can merge clusters based on semantic relatedness which measures how related are a given set of words.</a:t>
            </a: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ci,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cj</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：聚類</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mi,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mj</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：該聚類的平均詞嵌入向量</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Interactive merging</a:t>
            </a:r>
            <a:r>
              <a:rPr lang="zh-TW" altLang="en-US" b="1" dirty="0">
                <a:latin typeface="Times New Roman" panose="02020603050405020304" pitchFamily="18" charset="0"/>
                <a:cs typeface="Times New Roman" panose="02020603050405020304" pitchFamily="18" charset="0"/>
              </a:rPr>
              <a:t> </a:t>
            </a:r>
            <a:r>
              <a:rPr lang="en-US" altLang="zh-TW" b="1" dirty="0">
                <a:latin typeface="Times New Roman" panose="02020603050405020304" pitchFamily="18" charset="0"/>
                <a:cs typeface="Times New Roman" panose="02020603050405020304" pitchFamily="18" charset="0"/>
              </a:rPr>
              <a:t>(I-TWEC)</a:t>
            </a:r>
            <a:endParaRPr lang="zh-TW" altLang="en-US"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2523626" y="4938657"/>
            <a:ext cx="7144747" cy="790685"/>
          </a:xfrm>
          <a:prstGeom prst="rect">
            <a:avLst/>
          </a:prstGeom>
        </p:spPr>
      </p:pic>
    </p:spTree>
    <p:extLst>
      <p:ext uri="{BB962C8B-B14F-4D97-AF65-F5344CB8AC3E}">
        <p14:creationId xmlns:p14="http://schemas.microsoft.com/office/powerpoint/2010/main" val="1855774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4511992"/>
          </a:xfrm>
        </p:spPr>
        <p:txBody>
          <a:bodyPr>
            <a:noAutofit/>
          </a:bodyPr>
          <a:lstStyle/>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Server</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預處理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刪除連結、用戶名、標點符號、過濾低於五個字的推文</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a:t>
            </a: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建立後綴樹</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基於後綴樹建立</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cluster</a:t>
            </a: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計算</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cluster</a:t>
            </a: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之間的相關性分數</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Client</a:t>
            </a: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上傳推文集</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將聚類結果可視化</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調整聚類閾值 </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(default threshold = 0.4)</a:t>
            </a:r>
          </a:p>
          <a:p>
            <a:pPr marL="914400" lvl="1" indent="-457200">
              <a:buFont typeface="+mj-lt"/>
              <a:buAutoNum type="arabicPeriod"/>
            </a:pPr>
            <a:r>
              <a:rPr lang="zh-TW" altLang="en-US" sz="2000" dirty="0">
                <a:latin typeface="Times New Roman" panose="02020603050405020304" pitchFamily="18" charset="0"/>
                <a:ea typeface="標楷體" panose="03000509000000000000" pitchFamily="65" charset="-120"/>
                <a:cs typeface="Times New Roman" panose="02020603050405020304" pitchFamily="18" charset="0"/>
              </a:rPr>
              <a:t>根據相關性分數合併聚類</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lvl="1"/>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Interactive system</a:t>
            </a:r>
            <a:endParaRPr lang="zh-TW"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87394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Clustering process</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066805" y="1544675"/>
            <a:ext cx="10058390" cy="4927596"/>
          </a:xfrm>
          <a:prstGeom prst="rect">
            <a:avLst/>
          </a:prstGeom>
        </p:spPr>
      </p:pic>
    </p:spTree>
    <p:extLst>
      <p:ext uri="{BB962C8B-B14F-4D97-AF65-F5344CB8AC3E}">
        <p14:creationId xmlns:p14="http://schemas.microsoft.com/office/powerpoint/2010/main" val="1169870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Re-clustering process</a:t>
            </a:r>
            <a:endParaRPr lang="zh-TW" altLang="en-US"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1597360" y="1454691"/>
            <a:ext cx="9292247" cy="4796646"/>
          </a:xfrm>
          <a:prstGeom prst="rect">
            <a:avLst/>
          </a:prstGeom>
        </p:spPr>
      </p:pic>
    </p:spTree>
    <p:extLst>
      <p:ext uri="{BB962C8B-B14F-4D97-AF65-F5344CB8AC3E}">
        <p14:creationId xmlns:p14="http://schemas.microsoft.com/office/powerpoint/2010/main" val="3729591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GUI</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440551" y="1408660"/>
            <a:ext cx="9310898" cy="5114045"/>
          </a:xfrm>
          <a:prstGeom prst="rect">
            <a:avLst/>
          </a:prstGeom>
        </p:spPr>
      </p:pic>
    </p:spTree>
    <p:extLst>
      <p:ext uri="{BB962C8B-B14F-4D97-AF65-F5344CB8AC3E}">
        <p14:creationId xmlns:p14="http://schemas.microsoft.com/office/powerpoint/2010/main" val="22813300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Cluster merging GUI</a:t>
            </a:r>
            <a:endParaRPr lang="zh-TW" altLang="en-US"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947817" y="1328989"/>
            <a:ext cx="10296365" cy="4986096"/>
          </a:xfrm>
          <a:prstGeom prst="rect">
            <a:avLst/>
          </a:prstGeom>
        </p:spPr>
      </p:pic>
    </p:spTree>
    <p:extLst>
      <p:ext uri="{BB962C8B-B14F-4D97-AF65-F5344CB8AC3E}">
        <p14:creationId xmlns:p14="http://schemas.microsoft.com/office/powerpoint/2010/main" val="221234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84667" y="1004095"/>
            <a:ext cx="11897032" cy="1166812"/>
          </a:xfrm>
        </p:spPr>
        <p:txBody>
          <a:bodyPr>
            <a:noAutofit/>
          </a:bodyPr>
          <a:lstStyle/>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採用四個推文集，分別為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jesuisCharlie</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christmas</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nba</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 #trump</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，每個推文集有</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15k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，總共</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60k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則推文。</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a:p>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對每個推文集</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D</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 </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{t1, t2, …, </a:t>
            </a:r>
            <a:r>
              <a:rPr lang="en-US" altLang="zh-TW" sz="2400" dirty="0" err="1">
                <a:latin typeface="Times New Roman" panose="02020603050405020304" pitchFamily="18" charset="0"/>
                <a:ea typeface="標楷體" panose="03000509000000000000" pitchFamily="65" charset="-120"/>
                <a:cs typeface="Times New Roman" panose="02020603050405020304" pitchFamily="18" charset="0"/>
              </a:rPr>
              <a:t>tn</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創建一組聚類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 = {c1,c2, …, cm}</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，使每個聚類</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ci</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至少有</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個推文，</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k</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預設為</a:t>
            </a:r>
            <a:r>
              <a:rPr lang="en-US" altLang="zh-TW" sz="2400" dirty="0">
                <a:latin typeface="Times New Roman" panose="02020603050405020304" pitchFamily="18" charset="0"/>
                <a:ea typeface="標楷體" panose="03000509000000000000" pitchFamily="65" charset="-120"/>
                <a:cs typeface="Times New Roman" panose="02020603050405020304" pitchFamily="18" charset="0"/>
              </a:rPr>
              <a:t>2</a:t>
            </a:r>
            <a:r>
              <a:rPr lang="zh-TW" altLang="en-US" sz="2400" dirty="0">
                <a:latin typeface="Times New Roman" panose="02020603050405020304" pitchFamily="18" charset="0"/>
                <a:ea typeface="標楷體" panose="03000509000000000000" pitchFamily="65" charset="-120"/>
                <a:cs typeface="Times New Roman" panose="02020603050405020304" pitchFamily="18" charset="0"/>
              </a:rPr>
              <a:t>。</a:t>
            </a:r>
            <a:endParaRPr lang="en-US" altLang="zh-TW" sz="24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975383" y="0"/>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Experimental evaluation</a:t>
            </a:r>
            <a:endParaRPr lang="zh-TW" altLang="en-US"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rotWithShape="1">
          <a:blip r:embed="rId3"/>
          <a:srcRect t="64721"/>
          <a:stretch/>
        </p:blipFill>
        <p:spPr>
          <a:xfrm>
            <a:off x="2197843" y="3738714"/>
            <a:ext cx="8097380" cy="1952643"/>
          </a:xfrm>
          <a:prstGeom prst="rect">
            <a:avLst/>
          </a:prstGeom>
        </p:spPr>
      </p:pic>
      <p:pic>
        <p:nvPicPr>
          <p:cNvPr id="2" name="圖片 1"/>
          <p:cNvPicPr>
            <a:picLocks noChangeAspect="1"/>
          </p:cNvPicPr>
          <p:nvPr/>
        </p:nvPicPr>
        <p:blipFill rotWithShape="1">
          <a:blip r:embed="rId3"/>
          <a:srcRect b="72830"/>
          <a:stretch/>
        </p:blipFill>
        <p:spPr>
          <a:xfrm>
            <a:off x="2184493" y="2423092"/>
            <a:ext cx="8097380" cy="1503819"/>
          </a:xfrm>
          <a:prstGeom prst="rect">
            <a:avLst/>
          </a:prstGeom>
        </p:spPr>
      </p:pic>
      <p:pic>
        <p:nvPicPr>
          <p:cNvPr id="8" name="圖片 7"/>
          <p:cNvPicPr>
            <a:picLocks noChangeAspect="1"/>
          </p:cNvPicPr>
          <p:nvPr/>
        </p:nvPicPr>
        <p:blipFill>
          <a:blip r:embed="rId4"/>
          <a:stretch>
            <a:fillRect/>
          </a:stretch>
        </p:blipFill>
        <p:spPr>
          <a:xfrm>
            <a:off x="2289282" y="5691357"/>
            <a:ext cx="7887801" cy="990738"/>
          </a:xfrm>
          <a:prstGeom prst="rect">
            <a:avLst/>
          </a:prstGeom>
        </p:spPr>
      </p:pic>
    </p:spTree>
    <p:extLst>
      <p:ext uri="{BB962C8B-B14F-4D97-AF65-F5344CB8AC3E}">
        <p14:creationId xmlns:p14="http://schemas.microsoft.com/office/powerpoint/2010/main" val="4288596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43135" y="1593271"/>
            <a:ext cx="11905730" cy="3664522"/>
          </a:xfrm>
          <a:prstGeom prst="rect">
            <a:avLst/>
          </a:prstGeom>
        </p:spPr>
      </p:pic>
      <p:sp>
        <p:nvSpPr>
          <p:cNvPr id="6"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3600" b="1" dirty="0">
                <a:latin typeface="Times New Roman" panose="02020603050405020304" pitchFamily="18" charset="0"/>
                <a:cs typeface="Times New Roman" panose="02020603050405020304" pitchFamily="18" charset="0"/>
              </a:rPr>
              <a:t>Compare ST-TWEC with LCS-Lex (1/4)</a:t>
            </a:r>
            <a:endParaRPr lang="zh-TW" alt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21440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3600" b="1" dirty="0">
                <a:latin typeface="Times New Roman" panose="02020603050405020304" pitchFamily="18" charset="0"/>
                <a:cs typeface="Times New Roman" panose="02020603050405020304" pitchFamily="18" charset="0"/>
              </a:rPr>
              <a:t>Compare ST-TWEC with LCS-Lex (2/4)</a:t>
            </a:r>
            <a:endParaRPr lang="zh-TW" altLang="en-US" sz="3600"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521420" y="2305926"/>
            <a:ext cx="5495612" cy="4008667"/>
          </a:xfrm>
          <a:prstGeom prst="rect">
            <a:avLst/>
          </a:prstGeom>
        </p:spPr>
      </p:pic>
      <p:pic>
        <p:nvPicPr>
          <p:cNvPr id="6" name="圖片 5"/>
          <p:cNvPicPr>
            <a:picLocks noChangeAspect="1"/>
          </p:cNvPicPr>
          <p:nvPr/>
        </p:nvPicPr>
        <p:blipFill>
          <a:blip r:embed="rId4"/>
          <a:stretch>
            <a:fillRect/>
          </a:stretch>
        </p:blipFill>
        <p:spPr>
          <a:xfrm>
            <a:off x="6243484" y="2379439"/>
            <a:ext cx="5968751" cy="3861640"/>
          </a:xfrm>
          <a:prstGeom prst="rect">
            <a:avLst/>
          </a:prstGeom>
        </p:spPr>
      </p:pic>
    </p:spTree>
    <p:extLst>
      <p:ext uri="{BB962C8B-B14F-4D97-AF65-F5344CB8AC3E}">
        <p14:creationId xmlns:p14="http://schemas.microsoft.com/office/powerpoint/2010/main" val="3640619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294968" y="1740385"/>
            <a:ext cx="5399370" cy="3501096"/>
          </a:xfrm>
          <a:prstGeom prst="rect">
            <a:avLst/>
          </a:prstGeom>
        </p:spPr>
      </p:pic>
      <p:pic>
        <p:nvPicPr>
          <p:cNvPr id="7" name="圖片 6"/>
          <p:cNvPicPr>
            <a:picLocks noChangeAspect="1"/>
          </p:cNvPicPr>
          <p:nvPr/>
        </p:nvPicPr>
        <p:blipFill>
          <a:blip r:embed="rId4"/>
          <a:stretch>
            <a:fillRect/>
          </a:stretch>
        </p:blipFill>
        <p:spPr>
          <a:xfrm>
            <a:off x="6214988" y="1690688"/>
            <a:ext cx="5552978" cy="3607951"/>
          </a:xfrm>
          <a:prstGeom prst="rect">
            <a:avLst/>
          </a:prstGeom>
        </p:spPr>
      </p:pic>
      <p:pic>
        <p:nvPicPr>
          <p:cNvPr id="8" name="圖片 7"/>
          <p:cNvPicPr>
            <a:picLocks noChangeAspect="1"/>
          </p:cNvPicPr>
          <p:nvPr/>
        </p:nvPicPr>
        <p:blipFill rotWithShape="1">
          <a:blip r:embed="rId5"/>
          <a:srcRect t="64722" b="18423"/>
          <a:stretch/>
        </p:blipFill>
        <p:spPr>
          <a:xfrm>
            <a:off x="644797" y="5531407"/>
            <a:ext cx="6788720" cy="782169"/>
          </a:xfrm>
          <a:prstGeom prst="rect">
            <a:avLst/>
          </a:prstGeom>
        </p:spPr>
      </p:pic>
      <p:pic>
        <p:nvPicPr>
          <p:cNvPr id="9" name="圖片 8"/>
          <p:cNvPicPr>
            <a:picLocks noChangeAspect="1"/>
          </p:cNvPicPr>
          <p:nvPr/>
        </p:nvPicPr>
        <p:blipFill rotWithShape="1">
          <a:blip r:embed="rId5"/>
          <a:srcRect t="83459"/>
          <a:stretch/>
        </p:blipFill>
        <p:spPr>
          <a:xfrm>
            <a:off x="6413710" y="5600054"/>
            <a:ext cx="6777943" cy="766343"/>
          </a:xfrm>
          <a:prstGeom prst="rect">
            <a:avLst/>
          </a:prstGeom>
        </p:spPr>
      </p:pic>
      <p:sp>
        <p:nvSpPr>
          <p:cNvPr id="11"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3600" b="1" dirty="0">
                <a:latin typeface="Times New Roman" panose="02020603050405020304" pitchFamily="18" charset="0"/>
                <a:cs typeface="Times New Roman" panose="02020603050405020304" pitchFamily="18" charset="0"/>
              </a:rPr>
              <a:t>Compare ST-TWEC with LCS-Lex (3/4)</a:t>
            </a:r>
            <a:endParaRPr lang="zh-TW" alt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2466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a:blip r:embed="rId3"/>
          <a:stretch>
            <a:fillRect/>
          </a:stretch>
        </p:blipFill>
        <p:spPr>
          <a:xfrm>
            <a:off x="3324929" y="1274000"/>
            <a:ext cx="5542141" cy="3853585"/>
          </a:xfrm>
          <a:prstGeom prst="rect">
            <a:avLst/>
          </a:prstGeom>
        </p:spPr>
      </p:pic>
      <p:pic>
        <p:nvPicPr>
          <p:cNvPr id="7" name="圖片 6"/>
          <p:cNvPicPr>
            <a:picLocks noChangeAspect="1"/>
          </p:cNvPicPr>
          <p:nvPr/>
        </p:nvPicPr>
        <p:blipFill>
          <a:blip r:embed="rId4"/>
          <a:stretch>
            <a:fillRect/>
          </a:stretch>
        </p:blipFill>
        <p:spPr>
          <a:xfrm>
            <a:off x="2752464" y="5576177"/>
            <a:ext cx="6982039" cy="876971"/>
          </a:xfrm>
          <a:prstGeom prst="rect">
            <a:avLst/>
          </a:prstGeom>
        </p:spPr>
      </p:pic>
      <p:sp>
        <p:nvSpPr>
          <p:cNvPr id="8"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3600" b="1" dirty="0">
                <a:latin typeface="Times New Roman" panose="02020603050405020304" pitchFamily="18" charset="0"/>
                <a:cs typeface="Times New Roman" panose="02020603050405020304" pitchFamily="18" charset="0"/>
              </a:rPr>
              <a:t>Compare ST-TWEC with LCS-Lex (4/4)</a:t>
            </a:r>
            <a:endParaRPr lang="zh-TW" altLang="en-US" sz="3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9327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4635368"/>
            <a:ext cx="11897032" cy="1166812"/>
          </a:xfrm>
        </p:spPr>
        <p:txBody>
          <a:bodyPr>
            <a:noAutofit/>
          </a:bodyPr>
          <a:lstStyle/>
          <a:p>
            <a:r>
              <a:rPr lang="en-US" altLang="zh-TW" sz="2400" dirty="0"/>
              <a:t>New suffix tree document clustering algorithm (NSTC)</a:t>
            </a: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And then use Group-average Agglomerative Hierarchical Clustering(GAHC)</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and</a:t>
            </a: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cosine </a:t>
            </a:r>
            <a:r>
              <a:rPr lang="en-US" altLang="zh-TW" sz="2400" dirty="0" err="1">
                <a:latin typeface="Times New Roman" panose="02020603050405020304" pitchFamily="18" charset="0"/>
                <a:cs typeface="Times New Roman" panose="02020603050405020304" pitchFamily="18" charset="0"/>
              </a:rPr>
              <a:t>similaritymetric</a:t>
            </a:r>
            <a:r>
              <a:rPr lang="en-US" altLang="zh-TW" sz="2400" dirty="0">
                <a:latin typeface="Times New Roman" panose="02020603050405020304" pitchFamily="18" charset="0"/>
                <a:cs typeface="Times New Roman" panose="02020603050405020304" pitchFamily="18" charset="0"/>
              </a:rPr>
              <a:t> to calculate the similarity between documents.</a:t>
            </a:r>
          </a:p>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Compare ST-TWEC with NSTC (1/4)</a:t>
            </a:r>
            <a:endParaRPr lang="zh-TW" altLang="en-US" b="1" dirty="0">
              <a:latin typeface="Times New Roman" panose="02020603050405020304" pitchFamily="18" charset="0"/>
              <a:cs typeface="Times New Roman" panose="02020603050405020304" pitchFamily="18" charset="0"/>
            </a:endParaRPr>
          </a:p>
        </p:txBody>
      </p:sp>
      <p:pic>
        <p:nvPicPr>
          <p:cNvPr id="3" name="圖片 2"/>
          <p:cNvPicPr>
            <a:picLocks noChangeAspect="1"/>
          </p:cNvPicPr>
          <p:nvPr/>
        </p:nvPicPr>
        <p:blipFill rotWithShape="1">
          <a:blip r:embed="rId3"/>
          <a:srcRect b="84459"/>
          <a:stretch/>
        </p:blipFill>
        <p:spPr>
          <a:xfrm>
            <a:off x="2143906" y="2464183"/>
            <a:ext cx="7811590" cy="550749"/>
          </a:xfrm>
          <a:prstGeom prst="rect">
            <a:avLst/>
          </a:prstGeom>
        </p:spPr>
      </p:pic>
      <p:pic>
        <p:nvPicPr>
          <p:cNvPr id="8" name="圖片 7"/>
          <p:cNvPicPr>
            <a:picLocks noChangeAspect="1"/>
          </p:cNvPicPr>
          <p:nvPr/>
        </p:nvPicPr>
        <p:blipFill rotWithShape="1">
          <a:blip r:embed="rId3"/>
          <a:srcRect t="77346"/>
          <a:stretch/>
        </p:blipFill>
        <p:spPr>
          <a:xfrm>
            <a:off x="2143906" y="3316096"/>
            <a:ext cx="7811590" cy="802806"/>
          </a:xfrm>
          <a:prstGeom prst="rect">
            <a:avLst/>
          </a:prstGeom>
        </p:spPr>
      </p:pic>
    </p:spTree>
    <p:extLst>
      <p:ext uri="{BB962C8B-B14F-4D97-AF65-F5344CB8AC3E}">
        <p14:creationId xmlns:p14="http://schemas.microsoft.com/office/powerpoint/2010/main" val="2199262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Compare ST-TWEC with NSTC (2/4)</a:t>
            </a:r>
            <a:endParaRPr lang="zh-TW" altLang="en-US" b="1"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3390722" y="1815948"/>
            <a:ext cx="5410555" cy="3795712"/>
          </a:xfrm>
          <a:prstGeom prst="rect">
            <a:avLst/>
          </a:prstGeom>
        </p:spPr>
      </p:pic>
    </p:spTree>
    <p:extLst>
      <p:ext uri="{BB962C8B-B14F-4D97-AF65-F5344CB8AC3E}">
        <p14:creationId xmlns:p14="http://schemas.microsoft.com/office/powerpoint/2010/main" val="15373582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Compare ST-TWEC with NSTC (3/4)</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6129496" y="1921049"/>
            <a:ext cx="5540234" cy="3517491"/>
          </a:xfrm>
          <a:prstGeom prst="rect">
            <a:avLst/>
          </a:prstGeom>
        </p:spPr>
      </p:pic>
      <p:pic>
        <p:nvPicPr>
          <p:cNvPr id="6" name="圖片 5"/>
          <p:cNvPicPr>
            <a:picLocks noChangeAspect="1"/>
          </p:cNvPicPr>
          <p:nvPr/>
        </p:nvPicPr>
        <p:blipFill>
          <a:blip r:embed="rId4"/>
          <a:stretch>
            <a:fillRect/>
          </a:stretch>
        </p:blipFill>
        <p:spPr>
          <a:xfrm>
            <a:off x="294966" y="1921049"/>
            <a:ext cx="5744303" cy="3519237"/>
          </a:xfrm>
          <a:prstGeom prst="rect">
            <a:avLst/>
          </a:prstGeom>
        </p:spPr>
      </p:pic>
    </p:spTree>
    <p:extLst>
      <p:ext uri="{BB962C8B-B14F-4D97-AF65-F5344CB8AC3E}">
        <p14:creationId xmlns:p14="http://schemas.microsoft.com/office/powerpoint/2010/main" val="2754896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Compare ST-TWEC with NSTC (4/4)</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5647173" y="1812877"/>
            <a:ext cx="6130573" cy="3743861"/>
          </a:xfrm>
          <a:prstGeom prst="rect">
            <a:avLst/>
          </a:prstGeom>
        </p:spPr>
      </p:pic>
      <p:pic>
        <p:nvPicPr>
          <p:cNvPr id="6" name="圖片 5"/>
          <p:cNvPicPr>
            <a:picLocks noChangeAspect="1"/>
          </p:cNvPicPr>
          <p:nvPr/>
        </p:nvPicPr>
        <p:blipFill>
          <a:blip r:embed="rId4"/>
          <a:stretch>
            <a:fillRect/>
          </a:stretch>
        </p:blipFill>
        <p:spPr>
          <a:xfrm>
            <a:off x="294968" y="1690688"/>
            <a:ext cx="5146038" cy="3541360"/>
          </a:xfrm>
          <a:prstGeom prst="rect">
            <a:avLst/>
          </a:prstGeom>
        </p:spPr>
      </p:pic>
    </p:spTree>
    <p:extLst>
      <p:ext uri="{BB962C8B-B14F-4D97-AF65-F5344CB8AC3E}">
        <p14:creationId xmlns:p14="http://schemas.microsoft.com/office/powerpoint/2010/main" val="3941976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Quantity at different ratios (1/2)</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331479" y="1690688"/>
            <a:ext cx="5555324" cy="3657497"/>
          </a:xfrm>
          <a:prstGeom prst="rect">
            <a:avLst/>
          </a:prstGeom>
        </p:spPr>
      </p:pic>
      <p:pic>
        <p:nvPicPr>
          <p:cNvPr id="3" name="圖片 2"/>
          <p:cNvPicPr>
            <a:picLocks noChangeAspect="1"/>
          </p:cNvPicPr>
          <p:nvPr/>
        </p:nvPicPr>
        <p:blipFill>
          <a:blip r:embed="rId4"/>
          <a:stretch>
            <a:fillRect/>
          </a:stretch>
        </p:blipFill>
        <p:spPr>
          <a:xfrm>
            <a:off x="6096000" y="1624875"/>
            <a:ext cx="5676194" cy="3789122"/>
          </a:xfrm>
          <a:prstGeom prst="rect">
            <a:avLst/>
          </a:prstGeom>
        </p:spPr>
      </p:pic>
      <p:sp>
        <p:nvSpPr>
          <p:cNvPr id="4" name="文字方塊 3"/>
          <p:cNvSpPr txBox="1"/>
          <p:nvPr/>
        </p:nvSpPr>
        <p:spPr>
          <a:xfrm>
            <a:off x="9163788" y="6304415"/>
            <a:ext cx="2608406" cy="369332"/>
          </a:xfrm>
          <a:prstGeom prst="rect">
            <a:avLst/>
          </a:prstGeom>
          <a:noFill/>
        </p:spPr>
        <p:txBody>
          <a:bodyPr wrap="none" rtlCol="0">
            <a:spAutoFit/>
          </a:bodyPr>
          <a:lstStyle/>
          <a:p>
            <a:r>
              <a:rPr lang="en-US" altLang="zh-TW" dirty="0">
                <a:latin typeface="Times New Roman" panose="02020603050405020304" pitchFamily="18" charset="0"/>
                <a:ea typeface="標楷體" panose="03000509000000000000" pitchFamily="65" charset="-120"/>
                <a:cs typeface="Times New Roman" panose="02020603050405020304" pitchFamily="18" charset="0"/>
                <a:hlinkClick r:id="rId5" action="ppaction://hlinksldjump"/>
              </a:rPr>
              <a:t>(Back to 4.2 Overlapping)</a:t>
            </a:r>
            <a:endParaRPr lang="zh-TW" altLang="en-US" dirty="0"/>
          </a:p>
        </p:txBody>
      </p:sp>
    </p:spTree>
    <p:extLst>
      <p:ext uri="{BB962C8B-B14F-4D97-AF65-F5344CB8AC3E}">
        <p14:creationId xmlns:p14="http://schemas.microsoft.com/office/powerpoint/2010/main" val="40220730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b="1" dirty="0">
                <a:latin typeface="Times New Roman" panose="02020603050405020304" pitchFamily="18" charset="0"/>
                <a:cs typeface="Times New Roman" panose="02020603050405020304" pitchFamily="18" charset="0"/>
              </a:rPr>
              <a:t>Quantity at different ratios (2/2)</a:t>
            </a:r>
            <a:endParaRPr lang="zh-TW" altLang="en-US" b="1"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139046" y="1806030"/>
            <a:ext cx="5814430" cy="3927023"/>
          </a:xfrm>
          <a:prstGeom prst="rect">
            <a:avLst/>
          </a:prstGeom>
        </p:spPr>
      </p:pic>
      <p:pic>
        <p:nvPicPr>
          <p:cNvPr id="3" name="圖片 2"/>
          <p:cNvPicPr>
            <a:picLocks noChangeAspect="1"/>
          </p:cNvPicPr>
          <p:nvPr/>
        </p:nvPicPr>
        <p:blipFill>
          <a:blip r:embed="rId4"/>
          <a:stretch>
            <a:fillRect/>
          </a:stretch>
        </p:blipFill>
        <p:spPr>
          <a:xfrm>
            <a:off x="5953476" y="1806030"/>
            <a:ext cx="5953476" cy="3709110"/>
          </a:xfrm>
          <a:prstGeom prst="rect">
            <a:avLst/>
          </a:prstGeom>
        </p:spPr>
      </p:pic>
    </p:spTree>
    <p:extLst>
      <p:ext uri="{BB962C8B-B14F-4D97-AF65-F5344CB8AC3E}">
        <p14:creationId xmlns:p14="http://schemas.microsoft.com/office/powerpoint/2010/main" val="2941234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4000" b="1" dirty="0">
                <a:latin typeface="Times New Roman" panose="02020603050405020304" pitchFamily="18" charset="0"/>
                <a:cs typeface="Times New Roman" panose="02020603050405020304" pitchFamily="18" charset="0"/>
              </a:rPr>
              <a:t>k-means</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NSTC</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LCS-Lex</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ST-TWEC</a:t>
            </a:r>
            <a:r>
              <a:rPr lang="zh-TW" altLang="en-US" sz="4000" b="1" dirty="0">
                <a:latin typeface="Times New Roman" panose="02020603050405020304" pitchFamily="18" charset="0"/>
                <a:cs typeface="Times New Roman" panose="02020603050405020304" pitchFamily="18" charset="0"/>
              </a:rPr>
              <a:t> </a:t>
            </a:r>
            <a:r>
              <a:rPr lang="en-US" altLang="zh-TW" sz="4000" b="1" dirty="0">
                <a:latin typeface="Times New Roman" panose="02020603050405020304" pitchFamily="18" charset="0"/>
                <a:cs typeface="Times New Roman" panose="02020603050405020304" pitchFamily="18" charset="0"/>
              </a:rPr>
              <a:t>(1/3)</a:t>
            </a:r>
            <a:endParaRPr lang="zh-TW" altLang="en-US" sz="4000" b="1" dirty="0">
              <a:latin typeface="Times New Roman" panose="02020603050405020304" pitchFamily="18" charset="0"/>
              <a:cs typeface="Times New Roman" panose="02020603050405020304" pitchFamily="18" charset="0"/>
            </a:endParaRPr>
          </a:p>
        </p:txBody>
      </p:sp>
      <p:pic>
        <p:nvPicPr>
          <p:cNvPr id="7" name="圖片 6"/>
          <p:cNvPicPr>
            <a:picLocks noChangeAspect="1"/>
          </p:cNvPicPr>
          <p:nvPr/>
        </p:nvPicPr>
        <p:blipFill>
          <a:blip r:embed="rId3"/>
          <a:stretch>
            <a:fillRect/>
          </a:stretch>
        </p:blipFill>
        <p:spPr>
          <a:xfrm>
            <a:off x="2287058" y="2296850"/>
            <a:ext cx="7878274" cy="1886213"/>
          </a:xfrm>
          <a:prstGeom prst="rect">
            <a:avLst/>
          </a:prstGeom>
        </p:spPr>
      </p:pic>
      <p:pic>
        <p:nvPicPr>
          <p:cNvPr id="8" name="圖片 7"/>
          <p:cNvPicPr>
            <a:picLocks noChangeAspect="1"/>
          </p:cNvPicPr>
          <p:nvPr/>
        </p:nvPicPr>
        <p:blipFill>
          <a:blip r:embed="rId4"/>
          <a:stretch>
            <a:fillRect/>
          </a:stretch>
        </p:blipFill>
        <p:spPr>
          <a:xfrm>
            <a:off x="2048899" y="4276612"/>
            <a:ext cx="8116433" cy="943107"/>
          </a:xfrm>
          <a:prstGeom prst="rect">
            <a:avLst/>
          </a:prstGeom>
        </p:spPr>
      </p:pic>
    </p:spTree>
    <p:extLst>
      <p:ext uri="{BB962C8B-B14F-4D97-AF65-F5344CB8AC3E}">
        <p14:creationId xmlns:p14="http://schemas.microsoft.com/office/powerpoint/2010/main" val="17407172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pic>
        <p:nvPicPr>
          <p:cNvPr id="6" name="圖片 5"/>
          <p:cNvPicPr>
            <a:picLocks noChangeAspect="1"/>
          </p:cNvPicPr>
          <p:nvPr/>
        </p:nvPicPr>
        <p:blipFill>
          <a:blip r:embed="rId3"/>
          <a:stretch>
            <a:fillRect/>
          </a:stretch>
        </p:blipFill>
        <p:spPr>
          <a:xfrm>
            <a:off x="294968" y="1690688"/>
            <a:ext cx="5298402" cy="3926341"/>
          </a:xfrm>
          <a:prstGeom prst="rect">
            <a:avLst/>
          </a:prstGeom>
        </p:spPr>
      </p:pic>
      <p:pic>
        <p:nvPicPr>
          <p:cNvPr id="7" name="圖片 6"/>
          <p:cNvPicPr>
            <a:picLocks noChangeAspect="1"/>
          </p:cNvPicPr>
          <p:nvPr/>
        </p:nvPicPr>
        <p:blipFill>
          <a:blip r:embed="rId4"/>
          <a:stretch>
            <a:fillRect/>
          </a:stretch>
        </p:blipFill>
        <p:spPr>
          <a:xfrm>
            <a:off x="6250075" y="1700214"/>
            <a:ext cx="5585423" cy="3913245"/>
          </a:xfrm>
          <a:prstGeom prst="rect">
            <a:avLst/>
          </a:prstGeom>
        </p:spPr>
      </p:pic>
      <p:sp>
        <p:nvSpPr>
          <p:cNvPr id="8"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4000" b="1" dirty="0">
                <a:latin typeface="Times New Roman" panose="02020603050405020304" pitchFamily="18" charset="0"/>
                <a:cs typeface="Times New Roman" panose="02020603050405020304" pitchFamily="18" charset="0"/>
              </a:rPr>
              <a:t>k-means</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NSTC</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LCS-Lex</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ST-TWEC</a:t>
            </a:r>
            <a:r>
              <a:rPr lang="zh-TW" altLang="en-US" sz="4000" b="1" dirty="0">
                <a:latin typeface="Times New Roman" panose="02020603050405020304" pitchFamily="18" charset="0"/>
                <a:cs typeface="Times New Roman" panose="02020603050405020304" pitchFamily="18" charset="0"/>
              </a:rPr>
              <a:t> </a:t>
            </a:r>
            <a:r>
              <a:rPr lang="en-US" altLang="zh-TW" sz="4000" b="1" dirty="0">
                <a:latin typeface="Times New Roman" panose="02020603050405020304" pitchFamily="18" charset="0"/>
                <a:cs typeface="Times New Roman" panose="02020603050405020304" pitchFamily="18" charset="0"/>
              </a:rPr>
              <a:t>(2/3)</a:t>
            </a:r>
            <a:endParaRPr lang="zh-TW" alt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7754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pic>
        <p:nvPicPr>
          <p:cNvPr id="2" name="圖片 1"/>
          <p:cNvPicPr>
            <a:picLocks noChangeAspect="1"/>
          </p:cNvPicPr>
          <p:nvPr/>
        </p:nvPicPr>
        <p:blipFill>
          <a:blip r:embed="rId3"/>
          <a:stretch>
            <a:fillRect/>
          </a:stretch>
        </p:blipFill>
        <p:spPr>
          <a:xfrm>
            <a:off x="339642" y="1690688"/>
            <a:ext cx="5838991" cy="3846457"/>
          </a:xfrm>
          <a:prstGeom prst="rect">
            <a:avLst/>
          </a:prstGeom>
        </p:spPr>
      </p:pic>
      <p:pic>
        <p:nvPicPr>
          <p:cNvPr id="3" name="圖片 2"/>
          <p:cNvPicPr>
            <a:picLocks noChangeAspect="1"/>
          </p:cNvPicPr>
          <p:nvPr/>
        </p:nvPicPr>
        <p:blipFill>
          <a:blip r:embed="rId4"/>
          <a:stretch>
            <a:fillRect/>
          </a:stretch>
        </p:blipFill>
        <p:spPr>
          <a:xfrm>
            <a:off x="6223307" y="1690688"/>
            <a:ext cx="5533047" cy="3846457"/>
          </a:xfrm>
          <a:prstGeom prst="rect">
            <a:avLst/>
          </a:prstGeom>
        </p:spPr>
      </p:pic>
      <p:sp>
        <p:nvSpPr>
          <p:cNvPr id="7" name="標題 1">
            <a:extLst>
              <a:ext uri="{FF2B5EF4-FFF2-40B4-BE49-F238E27FC236}">
                <a16:creationId xmlns:a16="http://schemas.microsoft.com/office/drawing/2014/main" id="{F1DA6C9D-47B3-4859-86BB-23AC7F205200}"/>
              </a:ext>
            </a:extLst>
          </p:cNvPr>
          <p:cNvSpPr>
            <a:spLocks noGrp="1"/>
          </p:cNvSpPr>
          <p:nvPr>
            <p:ph type="title"/>
          </p:nvPr>
        </p:nvSpPr>
        <p:spPr>
          <a:xfrm>
            <a:off x="838200" y="365125"/>
            <a:ext cx="10515600" cy="1325563"/>
          </a:xfrm>
        </p:spPr>
        <p:txBody>
          <a:bodyPr>
            <a:normAutofit/>
          </a:bodyPr>
          <a:lstStyle/>
          <a:p>
            <a:pPr algn="ctr"/>
            <a:r>
              <a:rPr lang="en-US" altLang="zh-TW" sz="4000" b="1" dirty="0">
                <a:latin typeface="Times New Roman" panose="02020603050405020304" pitchFamily="18" charset="0"/>
                <a:cs typeface="Times New Roman" panose="02020603050405020304" pitchFamily="18" charset="0"/>
              </a:rPr>
              <a:t>k-means</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NSTC</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LCS-Lex</a:t>
            </a:r>
            <a:r>
              <a:rPr lang="zh-TW" altLang="en-US" sz="4000" b="1" dirty="0">
                <a:latin typeface="Times New Roman" panose="02020603050405020304" pitchFamily="18" charset="0"/>
                <a:cs typeface="Times New Roman" panose="02020603050405020304" pitchFamily="18" charset="0"/>
              </a:rPr>
              <a:t>、</a:t>
            </a:r>
            <a:r>
              <a:rPr lang="en-US" altLang="zh-TW" sz="4000" b="1" dirty="0">
                <a:latin typeface="Times New Roman" panose="02020603050405020304" pitchFamily="18" charset="0"/>
                <a:cs typeface="Times New Roman" panose="02020603050405020304" pitchFamily="18" charset="0"/>
              </a:rPr>
              <a:t>ST-TWEC</a:t>
            </a:r>
            <a:r>
              <a:rPr lang="zh-TW" altLang="en-US" sz="4000" b="1" dirty="0">
                <a:latin typeface="Times New Roman" panose="02020603050405020304" pitchFamily="18" charset="0"/>
                <a:cs typeface="Times New Roman" panose="02020603050405020304" pitchFamily="18" charset="0"/>
              </a:rPr>
              <a:t> </a:t>
            </a:r>
            <a:r>
              <a:rPr lang="en-US" altLang="zh-TW" sz="4000" b="1" dirty="0">
                <a:latin typeface="Times New Roman" panose="02020603050405020304" pitchFamily="18" charset="0"/>
                <a:cs typeface="Times New Roman" panose="02020603050405020304" pitchFamily="18" charset="0"/>
              </a:rPr>
              <a:t>(3/3)</a:t>
            </a:r>
            <a:endParaRPr lang="zh-TW" alt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411323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294968" y="1690688"/>
            <a:ext cx="11897032" cy="1166812"/>
          </a:xfrm>
        </p:spPr>
        <p:txBody>
          <a:bodyPr>
            <a:noAutofit/>
          </a:bodyPr>
          <a:lstStyle/>
          <a:p>
            <a:endParaRPr lang="en-US" altLang="zh-TW" sz="2400" dirty="0">
              <a:latin typeface="Times New Roman" panose="02020603050405020304" pitchFamily="18" charset="0"/>
              <a:cs typeface="Times New Roman" panose="02020603050405020304" pitchFamily="18" charset="0"/>
            </a:endParaRPr>
          </a:p>
        </p:txBody>
      </p:sp>
      <p:sp>
        <p:nvSpPr>
          <p:cNvPr id="5" name="標題 1">
            <a:extLst>
              <a:ext uri="{FF2B5EF4-FFF2-40B4-BE49-F238E27FC236}">
                <a16:creationId xmlns:a16="http://schemas.microsoft.com/office/drawing/2014/main" id="{F1DA6C9D-47B3-4859-86BB-23AC7F205200}"/>
              </a:ext>
            </a:extLst>
          </p:cNvPr>
          <p:cNvSpPr>
            <a:spLocks noGrp="1"/>
          </p:cNvSpPr>
          <p:nvPr>
            <p:ph type="title"/>
          </p:nvPr>
        </p:nvSpPr>
        <p:spPr>
          <a:xfrm>
            <a:off x="4955318" y="2633763"/>
            <a:ext cx="2576332" cy="1325563"/>
          </a:xfrm>
        </p:spPr>
        <p:txBody>
          <a:bodyPr>
            <a:normAutofit/>
          </a:bodyPr>
          <a:lstStyle/>
          <a:p>
            <a:pPr algn="ctr"/>
            <a:r>
              <a:rPr lang="en-US" altLang="zh-TW" sz="3200" b="1" dirty="0">
                <a:latin typeface="Times New Roman" panose="02020603050405020304" pitchFamily="18" charset="0"/>
                <a:cs typeface="Times New Roman" panose="02020603050405020304" pitchFamily="18" charset="0"/>
              </a:rPr>
              <a:t>Thanks</a:t>
            </a:r>
            <a:endParaRPr lang="zh-TW" alt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33340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3292</TotalTime>
  <Words>4451</Words>
  <Application>Microsoft Office PowerPoint</Application>
  <PresentationFormat>寬螢幕</PresentationFormat>
  <Paragraphs>258</Paragraphs>
  <Slides>31</Slides>
  <Notes>31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31</vt:i4>
      </vt:variant>
    </vt:vector>
  </HeadingPairs>
  <TitlesOfParts>
    <vt:vector size="37" baseType="lpstr">
      <vt:lpstr>標楷體</vt:lpstr>
      <vt:lpstr>Arial</vt:lpstr>
      <vt:lpstr>Calibri</vt:lpstr>
      <vt:lpstr>Calibri Light</vt:lpstr>
      <vt:lpstr>Times New Roman</vt:lpstr>
      <vt:lpstr>Office 佈景主題</vt:lpstr>
      <vt:lpstr>I-TWEC: Interactive clustering tool for Twitter</vt:lpstr>
      <vt:lpstr>Abstract(1/2)</vt:lpstr>
      <vt:lpstr>Abstract(2/2)</vt:lpstr>
      <vt:lpstr>Introduction(1/2)</vt:lpstr>
      <vt:lpstr>Introduction(2/2)</vt:lpstr>
      <vt:lpstr>Lexical threshold-based clustering using Longest Common Subsequence (LCS-Lex)</vt:lpstr>
      <vt:lpstr>Lexical threshold-based clustering using Longest Common Subsequence (LCS-Lex)</vt:lpstr>
      <vt:lpstr>ST-TWEC: Suffix tree based tweet clustering method (1/3)</vt:lpstr>
      <vt:lpstr>ST-TWEC: Suffix tree based tweet clustering method (2/3)</vt:lpstr>
      <vt:lpstr>ST-TWEC: Suffix tree based tweet clustering method (3/3)</vt:lpstr>
      <vt:lpstr>Interactive merging (I-TWEC)</vt:lpstr>
      <vt:lpstr>Interactive system</vt:lpstr>
      <vt:lpstr>Clustering process</vt:lpstr>
      <vt:lpstr>Re-clustering process</vt:lpstr>
      <vt:lpstr>GUI</vt:lpstr>
      <vt:lpstr>Cluster merging GUI</vt:lpstr>
      <vt:lpstr>Experimental evaluation</vt:lpstr>
      <vt:lpstr>Compare ST-TWEC with LCS-Lex (1/4)</vt:lpstr>
      <vt:lpstr>Compare ST-TWEC with LCS-Lex (2/4)</vt:lpstr>
      <vt:lpstr>Compare ST-TWEC with LCS-Lex (3/4)</vt:lpstr>
      <vt:lpstr>Compare ST-TWEC with LCS-Lex (4/4)</vt:lpstr>
      <vt:lpstr>Compare ST-TWEC with NSTC (1/4)</vt:lpstr>
      <vt:lpstr>Compare ST-TWEC with NSTC (2/4)</vt:lpstr>
      <vt:lpstr>Compare ST-TWEC with NSTC (3/4)</vt:lpstr>
      <vt:lpstr>Compare ST-TWEC with NSTC (4/4)</vt:lpstr>
      <vt:lpstr>Quantity at different ratios (1/2)</vt:lpstr>
      <vt:lpstr>Quantity at different ratios (2/2)</vt:lpstr>
      <vt:lpstr>k-means、NSTC、LCS-Lex、ST-TWEC (1/3)</vt:lpstr>
      <vt:lpstr>k-means、NSTC、LCS-Lex、ST-TWEC (2/3)</vt:lpstr>
      <vt:lpstr>k-means、NSTC、LCS-Lex、ST-TWEC (3/3)</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pplab</cp:lastModifiedBy>
  <cp:revision>672</cp:revision>
  <dcterms:created xsi:type="dcterms:W3CDTF">2024-03-29T12:17:05Z</dcterms:created>
  <dcterms:modified xsi:type="dcterms:W3CDTF">2024-04-09T11:15:29Z</dcterms:modified>
</cp:coreProperties>
</file>