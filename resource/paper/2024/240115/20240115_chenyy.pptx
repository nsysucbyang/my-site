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handoutMasterIdLst>
    <p:handoutMasterId r:id="rId66"/>
  </p:handoutMasterIdLst>
  <p:sldIdLst>
    <p:sldId id="257" r:id="rId2"/>
    <p:sldId id="259" r:id="rId3"/>
    <p:sldId id="260" r:id="rId4"/>
    <p:sldId id="261" r:id="rId5"/>
    <p:sldId id="262"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9" r:id="rId20"/>
    <p:sldId id="280" r:id="rId21"/>
    <p:sldId id="281" r:id="rId22"/>
    <p:sldId id="282" r:id="rId23"/>
    <p:sldId id="283" r:id="rId24"/>
    <p:sldId id="284" r:id="rId25"/>
    <p:sldId id="285" r:id="rId26"/>
    <p:sldId id="286" r:id="rId27"/>
    <p:sldId id="287" r:id="rId28"/>
    <p:sldId id="288" r:id="rId29"/>
    <p:sldId id="289" r:id="rId30"/>
    <p:sldId id="291" r:id="rId31"/>
    <p:sldId id="292" r:id="rId32"/>
    <p:sldId id="293" r:id="rId33"/>
    <p:sldId id="294" r:id="rId34"/>
    <p:sldId id="295" r:id="rId35"/>
    <p:sldId id="296" r:id="rId36"/>
    <p:sldId id="297" r:id="rId37"/>
    <p:sldId id="298" r:id="rId38"/>
    <p:sldId id="299" r:id="rId39"/>
    <p:sldId id="300" r:id="rId40"/>
    <p:sldId id="302" r:id="rId41"/>
    <p:sldId id="301" r:id="rId42"/>
    <p:sldId id="303" r:id="rId43"/>
    <p:sldId id="304" r:id="rId44"/>
    <p:sldId id="305" r:id="rId45"/>
    <p:sldId id="306" r:id="rId46"/>
    <p:sldId id="307" r:id="rId47"/>
    <p:sldId id="308" r:id="rId48"/>
    <p:sldId id="309" r:id="rId49"/>
    <p:sldId id="311" r:id="rId50"/>
    <p:sldId id="310" r:id="rId51"/>
    <p:sldId id="312" r:id="rId52"/>
    <p:sldId id="314" r:id="rId53"/>
    <p:sldId id="313" r:id="rId54"/>
    <p:sldId id="315" r:id="rId55"/>
    <p:sldId id="316" r:id="rId56"/>
    <p:sldId id="318" r:id="rId57"/>
    <p:sldId id="317" r:id="rId58"/>
    <p:sldId id="319" r:id="rId59"/>
    <p:sldId id="320" r:id="rId60"/>
    <p:sldId id="321" r:id="rId61"/>
    <p:sldId id="323" r:id="rId62"/>
    <p:sldId id="322" r:id="rId63"/>
    <p:sldId id="324" r:id="rId6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168" autoAdjust="0"/>
  </p:normalViewPr>
  <p:slideViewPr>
    <p:cSldViewPr snapToGrid="0">
      <p:cViewPr varScale="1">
        <p:scale>
          <a:sx n="62" d="100"/>
          <a:sy n="62" d="100"/>
        </p:scale>
        <p:origin x="145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951F4AF6-1BC3-7599-4D99-940EBECF31F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3D1C5756-6AA8-185D-17BF-4C33EE60ED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DE4B79-A723-4241-B731-B407DF551596}" type="datetimeFigureOut">
              <a:rPr lang="zh-TW" altLang="en-US" smtClean="0"/>
              <a:t>2024/1/15</a:t>
            </a:fld>
            <a:endParaRPr lang="zh-TW" altLang="en-US"/>
          </a:p>
        </p:txBody>
      </p:sp>
      <p:sp>
        <p:nvSpPr>
          <p:cNvPr id="4" name="頁尾版面配置區 3">
            <a:extLst>
              <a:ext uri="{FF2B5EF4-FFF2-40B4-BE49-F238E27FC236}">
                <a16:creationId xmlns:a16="http://schemas.microsoft.com/office/drawing/2014/main" id="{B12E0B0B-6E9F-EA56-621F-227778315F2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838BE178-659D-024C-9BF7-535A9944C8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67D028-193E-45B3-AD35-EF85E401A198}" type="slidenum">
              <a:rPr lang="zh-TW" altLang="en-US" smtClean="0"/>
              <a:t>‹#›</a:t>
            </a:fld>
            <a:endParaRPr lang="zh-TW" altLang="en-US"/>
          </a:p>
        </p:txBody>
      </p:sp>
    </p:spTree>
    <p:extLst>
      <p:ext uri="{BB962C8B-B14F-4D97-AF65-F5344CB8AC3E}">
        <p14:creationId xmlns:p14="http://schemas.microsoft.com/office/powerpoint/2010/main" val="16705052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B34788-CA12-473B-9992-A07C9C152525}" type="datetimeFigureOut">
              <a:rPr lang="zh-TW" altLang="en-US" smtClean="0"/>
              <a:t>2024/1/15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7CF30C-F373-4444-A388-CFEF68B7E41F}" type="slidenum">
              <a:rPr lang="zh-TW" altLang="en-US" smtClean="0"/>
              <a:t>‹#›</a:t>
            </a:fld>
            <a:endParaRPr lang="zh-TW" altLang="en-US"/>
          </a:p>
        </p:txBody>
      </p:sp>
    </p:spTree>
    <p:extLst>
      <p:ext uri="{BB962C8B-B14F-4D97-AF65-F5344CB8AC3E}">
        <p14:creationId xmlns:p14="http://schemas.microsoft.com/office/powerpoint/2010/main" val="3663042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1</a:t>
            </a:fld>
            <a:endParaRPr kumimoji="1" lang="zh-TW" altLang="en-US"/>
          </a:p>
        </p:txBody>
      </p:sp>
    </p:spTree>
    <p:extLst>
      <p:ext uri="{BB962C8B-B14F-4D97-AF65-F5344CB8AC3E}">
        <p14:creationId xmlns:p14="http://schemas.microsoft.com/office/powerpoint/2010/main" val="4058093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3ED3EC9A-E9ED-9349-8355-BBED17A59AE8}" type="slidenum">
              <a:rPr kumimoji="1" lang="zh-TW" altLang="en-US" smtClean="0"/>
              <a:t>2</a:t>
            </a:fld>
            <a:endParaRPr kumimoji="1" lang="zh-TW" altLang="en-US"/>
          </a:p>
        </p:txBody>
      </p:sp>
    </p:spTree>
    <p:extLst>
      <p:ext uri="{BB962C8B-B14F-4D97-AF65-F5344CB8AC3E}">
        <p14:creationId xmlns:p14="http://schemas.microsoft.com/office/powerpoint/2010/main" val="1678077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Node</a:t>
            </a:r>
            <a:r>
              <a:rPr lang="zh-TW" altLang="en-US" dirty="0"/>
              <a:t>跆拳道學生</a:t>
            </a:r>
            <a:endParaRPr lang="en-US" altLang="zh-TW" dirty="0"/>
          </a:p>
          <a:p>
            <a:r>
              <a:rPr lang="en-US" altLang="zh-TW" dirty="0"/>
              <a:t>Edge</a:t>
            </a:r>
            <a:r>
              <a:rPr lang="zh-TW" altLang="en-US" dirty="0"/>
              <a:t>對戰紀錄</a:t>
            </a:r>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16</a:t>
            </a:fld>
            <a:endParaRPr lang="zh-TW" altLang="en-US"/>
          </a:p>
        </p:txBody>
      </p:sp>
    </p:spTree>
    <p:extLst>
      <p:ext uri="{BB962C8B-B14F-4D97-AF65-F5344CB8AC3E}">
        <p14:creationId xmlns:p14="http://schemas.microsoft.com/office/powerpoint/2010/main" val="1423515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Cora </a:t>
            </a:r>
            <a:r>
              <a:rPr lang="zh-TW" altLang="en-US" dirty="0"/>
              <a:t>引用圖</a:t>
            </a:r>
            <a:r>
              <a:rPr lang="en-US" altLang="zh-TW" b="1" dirty="0"/>
              <a:t>types of problems</a:t>
            </a:r>
          </a:p>
          <a:p>
            <a:endParaRPr lang="zh-TW" altLang="en-US"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17</a:t>
            </a:fld>
            <a:endParaRPr lang="zh-TW" altLang="en-US"/>
          </a:p>
        </p:txBody>
      </p:sp>
    </p:spTree>
    <p:extLst>
      <p:ext uri="{BB962C8B-B14F-4D97-AF65-F5344CB8AC3E}">
        <p14:creationId xmlns:p14="http://schemas.microsoft.com/office/powerpoint/2010/main" val="4196087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18</a:t>
            </a:fld>
            <a:endParaRPr lang="zh-TW" altLang="en-US"/>
          </a:p>
        </p:txBody>
      </p:sp>
    </p:spTree>
    <p:extLst>
      <p:ext uri="{BB962C8B-B14F-4D97-AF65-F5344CB8AC3E}">
        <p14:creationId xmlns:p14="http://schemas.microsoft.com/office/powerpoint/2010/main" val="4245435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19</a:t>
            </a:fld>
            <a:endParaRPr lang="zh-TW" altLang="en-US"/>
          </a:p>
        </p:txBody>
      </p:sp>
    </p:spTree>
    <p:extLst>
      <p:ext uri="{BB962C8B-B14F-4D97-AF65-F5344CB8AC3E}">
        <p14:creationId xmlns:p14="http://schemas.microsoft.com/office/powerpoint/2010/main" val="4130449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跆拳道分兩個老師</a:t>
            </a:r>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20</a:t>
            </a:fld>
            <a:endParaRPr lang="zh-TW" altLang="en-US"/>
          </a:p>
        </p:txBody>
      </p:sp>
    </p:spTree>
    <p:extLst>
      <p:ext uri="{BB962C8B-B14F-4D97-AF65-F5344CB8AC3E}">
        <p14:creationId xmlns:p14="http://schemas.microsoft.com/office/powerpoint/2010/main" val="3298240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人物的關係</a:t>
            </a:r>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21</a:t>
            </a:fld>
            <a:endParaRPr lang="zh-TW" altLang="en-US"/>
          </a:p>
        </p:txBody>
      </p:sp>
    </p:spTree>
    <p:extLst>
      <p:ext uri="{BB962C8B-B14F-4D97-AF65-F5344CB8AC3E}">
        <p14:creationId xmlns:p14="http://schemas.microsoft.com/office/powerpoint/2010/main" val="2246961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人物的關係</a:t>
            </a:r>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22</a:t>
            </a:fld>
            <a:endParaRPr lang="zh-TW" altLang="en-US"/>
          </a:p>
        </p:txBody>
      </p:sp>
    </p:spTree>
    <p:extLst>
      <p:ext uri="{BB962C8B-B14F-4D97-AF65-F5344CB8AC3E}">
        <p14:creationId xmlns:p14="http://schemas.microsoft.com/office/powerpoint/2010/main" val="3007888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人物的關係</a:t>
            </a:r>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23</a:t>
            </a:fld>
            <a:endParaRPr lang="zh-TW" altLang="en-US"/>
          </a:p>
        </p:txBody>
      </p:sp>
    </p:spTree>
    <p:extLst>
      <p:ext uri="{BB962C8B-B14F-4D97-AF65-F5344CB8AC3E}">
        <p14:creationId xmlns:p14="http://schemas.microsoft.com/office/powerpoint/2010/main" val="34073864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24</a:t>
            </a:fld>
            <a:endParaRPr lang="zh-TW" altLang="en-US"/>
          </a:p>
        </p:txBody>
      </p:sp>
    </p:spTree>
    <p:extLst>
      <p:ext uri="{BB962C8B-B14F-4D97-AF65-F5344CB8AC3E}">
        <p14:creationId xmlns:p14="http://schemas.microsoft.com/office/powerpoint/2010/main" val="5906436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前三個很容易，因為可以用</a:t>
            </a:r>
            <a:r>
              <a:rPr lang="en-US" altLang="zh-TW" dirty="0"/>
              <a:t>vector</a:t>
            </a:r>
            <a:r>
              <a:rPr lang="zh-TW" altLang="en-US" dirty="0"/>
              <a:t>表示，而</a:t>
            </a:r>
            <a:r>
              <a:rPr lang="en-US" altLang="zh-TW" dirty="0"/>
              <a:t>NN</a:t>
            </a:r>
            <a:r>
              <a:rPr lang="zh-TW" altLang="en-US" dirty="0"/>
              <a:t>對</a:t>
            </a:r>
            <a:r>
              <a:rPr lang="en-US" altLang="zh-TW" dirty="0"/>
              <a:t>vector</a:t>
            </a:r>
            <a:r>
              <a:rPr lang="zh-TW" altLang="en-US" dirty="0"/>
              <a:t>是友好的</a:t>
            </a:r>
            <a:endParaRPr lang="en-US" altLang="zh-TW" dirty="0"/>
          </a:p>
          <a:p>
            <a:r>
              <a:rPr lang="zh-TW" altLang="en-US" dirty="0"/>
              <a:t>連接性可以使用鄰接矩陣</a:t>
            </a:r>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25</a:t>
            </a:fld>
            <a:endParaRPr lang="zh-TW" altLang="en-US"/>
          </a:p>
        </p:txBody>
      </p:sp>
    </p:spTree>
    <p:extLst>
      <p:ext uri="{BB962C8B-B14F-4D97-AF65-F5344CB8AC3E}">
        <p14:creationId xmlns:p14="http://schemas.microsoft.com/office/powerpoint/2010/main" val="37089284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228600" indent="-228600">
              <a:buAutoNum type="arabicPeriod"/>
            </a:pPr>
            <a:r>
              <a:rPr lang="zh-TW" altLang="en-US" dirty="0"/>
              <a:t>大而稀疏</a:t>
            </a:r>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26</a:t>
            </a:fld>
            <a:endParaRPr lang="zh-TW" altLang="en-US"/>
          </a:p>
        </p:txBody>
      </p:sp>
    </p:spTree>
    <p:extLst>
      <p:ext uri="{BB962C8B-B14F-4D97-AF65-F5344CB8AC3E}">
        <p14:creationId xmlns:p14="http://schemas.microsoft.com/office/powerpoint/2010/main" val="34597587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buNone/>
            </a:pPr>
            <a:r>
              <a:rPr lang="zh-TW" altLang="en-US" dirty="0"/>
              <a:t>多個鄰接矩陣都表示相同的圖，應該要在</a:t>
            </a:r>
            <a:r>
              <a:rPr lang="en-US" altLang="zh-TW" dirty="0"/>
              <a:t>NN</a:t>
            </a:r>
            <a:r>
              <a:rPr lang="zh-TW" altLang="en-US" dirty="0"/>
              <a:t>有相同的結果</a:t>
            </a:r>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27</a:t>
            </a:fld>
            <a:endParaRPr lang="zh-TW" altLang="en-US"/>
          </a:p>
        </p:txBody>
      </p:sp>
    </p:spTree>
    <p:extLst>
      <p:ext uri="{BB962C8B-B14F-4D97-AF65-F5344CB8AC3E}">
        <p14:creationId xmlns:p14="http://schemas.microsoft.com/office/powerpoint/2010/main" val="28668869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buNone/>
            </a:pPr>
            <a:r>
              <a:rPr lang="zh-TW" altLang="en-US" dirty="0"/>
              <a:t>第一條</a:t>
            </a:r>
            <a:r>
              <a:rPr lang="en-US" altLang="zh-TW" dirty="0"/>
              <a:t>edge</a:t>
            </a:r>
            <a:r>
              <a:rPr lang="zh-TW" altLang="en-US" dirty="0"/>
              <a:t>對應到</a:t>
            </a:r>
            <a:r>
              <a:rPr lang="en-US" altLang="zh-TW" dirty="0"/>
              <a:t>Adjacency List</a:t>
            </a:r>
            <a:r>
              <a:rPr lang="zh-TW" altLang="en-US" dirty="0"/>
              <a:t>的第一項，代表此邊的兩頂點</a:t>
            </a:r>
            <a:endParaRPr lang="en-US" altLang="zh-TW" dirty="0"/>
          </a:p>
          <a:p>
            <a:pPr marL="0" indent="0">
              <a:buNone/>
            </a:pPr>
            <a:r>
              <a:rPr lang="zh-TW" altLang="en-US" dirty="0"/>
              <a:t>只儲存實際存在的邊</a:t>
            </a:r>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28</a:t>
            </a:fld>
            <a:endParaRPr lang="zh-TW" altLang="en-US"/>
          </a:p>
        </p:txBody>
      </p:sp>
    </p:spTree>
    <p:extLst>
      <p:ext uri="{BB962C8B-B14F-4D97-AF65-F5344CB8AC3E}">
        <p14:creationId xmlns:p14="http://schemas.microsoft.com/office/powerpoint/2010/main" val="10124161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buNone/>
            </a:pPr>
            <a:r>
              <a:rPr lang="zh-TW" altLang="en-US"/>
              <a:t>可以對圖上的信息進行轉換，並且轉換後這些信息會變有用</a:t>
            </a:r>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29</a:t>
            </a:fld>
            <a:endParaRPr lang="zh-TW" altLang="en-US"/>
          </a:p>
        </p:txBody>
      </p:sp>
    </p:spTree>
    <p:extLst>
      <p:ext uri="{BB962C8B-B14F-4D97-AF65-F5344CB8AC3E}">
        <p14:creationId xmlns:p14="http://schemas.microsoft.com/office/powerpoint/2010/main" val="11892381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人物的關係</a:t>
            </a:r>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30</a:t>
            </a:fld>
            <a:endParaRPr lang="zh-TW" altLang="en-US"/>
          </a:p>
        </p:txBody>
      </p:sp>
    </p:spTree>
    <p:extLst>
      <p:ext uri="{BB962C8B-B14F-4D97-AF65-F5344CB8AC3E}">
        <p14:creationId xmlns:p14="http://schemas.microsoft.com/office/powerpoint/2010/main" val="30935079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頂點、邊、全局 的</a:t>
            </a:r>
            <a:r>
              <a:rPr lang="en-US" altLang="zh-TW" dirty="0"/>
              <a:t>vector</a:t>
            </a:r>
            <a:r>
              <a:rPr lang="zh-TW" altLang="en-US" dirty="0"/>
              <a:t>都有一個</a:t>
            </a:r>
            <a:r>
              <a:rPr lang="en-US" altLang="zh-TW" dirty="0"/>
              <a:t>MLP(</a:t>
            </a:r>
            <a:r>
              <a:rPr lang="zh-TW" altLang="en-US" dirty="0"/>
              <a:t>多層感知機</a:t>
            </a:r>
            <a:r>
              <a:rPr lang="en-US" altLang="zh-TW" dirty="0"/>
              <a:t>)</a:t>
            </a:r>
            <a:r>
              <a:rPr lang="zh-TW" altLang="en-US" dirty="0"/>
              <a:t>，這三個</a:t>
            </a:r>
            <a:r>
              <a:rPr lang="en-US" altLang="zh-TW" dirty="0"/>
              <a:t>MLP</a:t>
            </a:r>
            <a:r>
              <a:rPr lang="zh-TW" altLang="en-US" dirty="0"/>
              <a:t>組成</a:t>
            </a:r>
            <a:r>
              <a:rPr lang="en-US" altLang="zh-TW" dirty="0"/>
              <a:t>GNN</a:t>
            </a:r>
            <a:r>
              <a:rPr lang="zh-TW" altLang="en-US" dirty="0"/>
              <a:t>的一個</a:t>
            </a:r>
            <a:r>
              <a:rPr lang="en-US" altLang="zh-TW" dirty="0"/>
              <a:t>layer</a:t>
            </a:r>
            <a:r>
              <a:rPr lang="zh-TW" altLang="en-US" dirty="0"/>
              <a:t>，不管圖有多大一層就是只有三個</a:t>
            </a:r>
            <a:r>
              <a:rPr lang="en-US" altLang="zh-TW" dirty="0"/>
              <a:t>MLP</a:t>
            </a:r>
          </a:p>
          <a:p>
            <a:pPr marL="228600" indent="-228600">
              <a:buAutoNum type="arabicPeriod"/>
            </a:pPr>
            <a:r>
              <a:rPr lang="zh-TW" altLang="en-US" dirty="0"/>
              <a:t>屬性變換，連接性不改變</a:t>
            </a:r>
            <a:endParaRPr lang="en-US" altLang="zh-TW" dirty="0"/>
          </a:p>
          <a:p>
            <a:pPr marL="228600" indent="-228600">
              <a:buAutoNum type="arabicPeriod"/>
            </a:pPr>
            <a:r>
              <a:rPr lang="en-US" altLang="zh-TW" dirty="0"/>
              <a:t>MLP</a:t>
            </a:r>
            <a:r>
              <a:rPr lang="zh-TW" altLang="en-US" dirty="0"/>
              <a:t>對象量獨自作轉換，所以對排序後的結果會一樣</a:t>
            </a:r>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31</a:t>
            </a:fld>
            <a:endParaRPr lang="zh-TW" altLang="en-US"/>
          </a:p>
        </p:txBody>
      </p:sp>
    </p:spTree>
    <p:extLst>
      <p:ext uri="{BB962C8B-B14F-4D97-AF65-F5344CB8AC3E}">
        <p14:creationId xmlns:p14="http://schemas.microsoft.com/office/powerpoint/2010/main" val="1167441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多層轉換後，用最後一層的資訊當作全連接層的輸出，用來分類</a:t>
            </a:r>
            <a:r>
              <a:rPr lang="en-US" altLang="zh-TW" dirty="0"/>
              <a:t>(Classification)</a:t>
            </a:r>
          </a:p>
          <a:p>
            <a:r>
              <a:rPr lang="zh-TW" altLang="en-US" dirty="0"/>
              <a:t>跆拳道學生，分類老師問題</a:t>
            </a:r>
            <a:endParaRPr lang="en-US" altLang="zh-TW" dirty="0"/>
          </a:p>
          <a:p>
            <a:r>
              <a:rPr lang="zh-TW" altLang="en-US" dirty="0"/>
              <a:t>適用於所有問題，</a:t>
            </a:r>
            <a:r>
              <a:rPr lang="en-US" altLang="zh-TW" dirty="0"/>
              <a:t>Node Edge Graph</a:t>
            </a:r>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32</a:t>
            </a:fld>
            <a:endParaRPr lang="zh-TW" altLang="en-US"/>
          </a:p>
        </p:txBody>
      </p:sp>
    </p:spTree>
    <p:extLst>
      <p:ext uri="{BB962C8B-B14F-4D97-AF65-F5344CB8AC3E}">
        <p14:creationId xmlns:p14="http://schemas.microsoft.com/office/powerpoint/2010/main" val="35261825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原本並沒有哪個屬性的特徵，但是目標問題必須要對他作預測</a:t>
            </a:r>
            <a:endParaRPr lang="en-US" altLang="zh-TW" dirty="0"/>
          </a:p>
          <a:p>
            <a:r>
              <a:rPr lang="en-US" altLang="zh-TW" dirty="0"/>
              <a:t>Ex:</a:t>
            </a:r>
            <a:r>
              <a:rPr lang="zh-TW" altLang="en-US" dirty="0"/>
              <a:t>缺少</a:t>
            </a:r>
            <a:r>
              <a:rPr lang="en-US" altLang="zh-TW" dirty="0"/>
              <a:t>node</a:t>
            </a:r>
            <a:r>
              <a:rPr lang="zh-TW" altLang="en-US" dirty="0"/>
              <a:t>的屬性，用鄰邊</a:t>
            </a:r>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33</a:t>
            </a:fld>
            <a:endParaRPr lang="zh-TW" altLang="en-US"/>
          </a:p>
        </p:txBody>
      </p:sp>
    </p:spTree>
    <p:extLst>
      <p:ext uri="{BB962C8B-B14F-4D97-AF65-F5344CB8AC3E}">
        <p14:creationId xmlns:p14="http://schemas.microsoft.com/office/powerpoint/2010/main" val="34729482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34</a:t>
            </a:fld>
            <a:endParaRPr lang="zh-TW" altLang="en-US"/>
          </a:p>
        </p:txBody>
      </p:sp>
    </p:spTree>
    <p:extLst>
      <p:ext uri="{BB962C8B-B14F-4D97-AF65-F5344CB8AC3E}">
        <p14:creationId xmlns:p14="http://schemas.microsoft.com/office/powerpoint/2010/main" val="27110684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35</a:t>
            </a:fld>
            <a:endParaRPr lang="zh-TW" altLang="en-US"/>
          </a:p>
        </p:txBody>
      </p:sp>
    </p:spTree>
    <p:extLst>
      <p:ext uri="{BB962C8B-B14F-4D97-AF65-F5344CB8AC3E}">
        <p14:creationId xmlns:p14="http://schemas.microsoft.com/office/powerpoint/2010/main" val="39218775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36</a:t>
            </a:fld>
            <a:endParaRPr lang="zh-TW" altLang="en-US"/>
          </a:p>
        </p:txBody>
      </p:sp>
    </p:spTree>
    <p:extLst>
      <p:ext uri="{BB962C8B-B14F-4D97-AF65-F5344CB8AC3E}">
        <p14:creationId xmlns:p14="http://schemas.microsoft.com/office/powerpoint/2010/main" val="31438671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經過多層，屬性已經發生轉換</a:t>
            </a:r>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37</a:t>
            </a:fld>
            <a:endParaRPr lang="zh-TW" altLang="en-US"/>
          </a:p>
        </p:txBody>
      </p:sp>
    </p:spTree>
    <p:extLst>
      <p:ext uri="{BB962C8B-B14F-4D97-AF65-F5344CB8AC3E}">
        <p14:creationId xmlns:p14="http://schemas.microsoft.com/office/powerpoint/2010/main" val="31573195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Layer</a:t>
            </a:r>
            <a:r>
              <a:rPr lang="zh-TW" altLang="en-US" dirty="0"/>
              <a:t>並沒有考慮到連接性</a:t>
            </a:r>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38</a:t>
            </a:fld>
            <a:endParaRPr lang="zh-TW" altLang="en-US"/>
          </a:p>
        </p:txBody>
      </p:sp>
    </p:spTree>
    <p:extLst>
      <p:ext uri="{BB962C8B-B14F-4D97-AF65-F5344CB8AC3E}">
        <p14:creationId xmlns:p14="http://schemas.microsoft.com/office/powerpoint/2010/main" val="10444625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類似</a:t>
            </a:r>
            <a:r>
              <a:rPr lang="en-US" altLang="zh-TW" dirty="0"/>
              <a:t>CNN</a:t>
            </a:r>
            <a:r>
              <a:rPr lang="zh-TW" altLang="en-US" dirty="0"/>
              <a:t> 的</a:t>
            </a:r>
            <a:r>
              <a:rPr lang="en-US" altLang="zh-TW" dirty="0"/>
              <a:t>convolution</a:t>
            </a:r>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39</a:t>
            </a:fld>
            <a:endParaRPr lang="zh-TW" altLang="en-US"/>
          </a:p>
        </p:txBody>
      </p:sp>
    </p:spTree>
    <p:extLst>
      <p:ext uri="{BB962C8B-B14F-4D97-AF65-F5344CB8AC3E}">
        <p14:creationId xmlns:p14="http://schemas.microsoft.com/office/powerpoint/2010/main" val="13886991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40</a:t>
            </a:fld>
            <a:endParaRPr lang="zh-TW" altLang="en-US"/>
          </a:p>
        </p:txBody>
      </p:sp>
    </p:spTree>
    <p:extLst>
      <p:ext uri="{BB962C8B-B14F-4D97-AF65-F5344CB8AC3E}">
        <p14:creationId xmlns:p14="http://schemas.microsoft.com/office/powerpoint/2010/main" val="2010185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從鄰居</a:t>
            </a:r>
            <a:r>
              <a:rPr lang="en-US" altLang="zh-TW" dirty="0"/>
              <a:t>node pooling</a:t>
            </a:r>
            <a:r>
              <a:rPr lang="zh-TW" altLang="en-US" dirty="0"/>
              <a:t>到自己</a:t>
            </a:r>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41</a:t>
            </a:fld>
            <a:endParaRPr lang="zh-TW" altLang="en-US"/>
          </a:p>
        </p:txBody>
      </p:sp>
    </p:spTree>
    <p:extLst>
      <p:ext uri="{BB962C8B-B14F-4D97-AF65-F5344CB8AC3E}">
        <p14:creationId xmlns:p14="http://schemas.microsoft.com/office/powerpoint/2010/main" val="17993942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就算我們使用</a:t>
            </a:r>
            <a:r>
              <a:rPr lang="en-US" altLang="zh-TW" dirty="0"/>
              <a:t>convolution layer</a:t>
            </a:r>
            <a:r>
              <a:rPr lang="zh-TW" altLang="en-US" dirty="0"/>
              <a:t>讓</a:t>
            </a:r>
            <a:r>
              <a:rPr lang="en-US" altLang="zh-TW" dirty="0"/>
              <a:t>node</a:t>
            </a:r>
            <a:r>
              <a:rPr lang="zh-TW" altLang="en-US" dirty="0"/>
              <a:t>的資訊可以</a:t>
            </a:r>
            <a:r>
              <a:rPr lang="en-US" altLang="zh-TW" dirty="0"/>
              <a:t>passing</a:t>
            </a:r>
            <a:r>
              <a:rPr lang="zh-TW" altLang="en-US" dirty="0"/>
              <a:t>到</a:t>
            </a:r>
            <a:r>
              <a:rPr lang="en-US" altLang="zh-TW" dirty="0"/>
              <a:t>node</a:t>
            </a:r>
            <a:r>
              <a:rPr lang="zh-TW" altLang="en-US" dirty="0"/>
              <a:t>，</a:t>
            </a:r>
            <a:endParaRPr lang="en-US" altLang="zh-TW" dirty="0"/>
          </a:p>
          <a:p>
            <a:r>
              <a:rPr lang="zh-TW" altLang="en-US" dirty="0"/>
              <a:t>如果我要對</a:t>
            </a:r>
            <a:r>
              <a:rPr lang="en-US" altLang="zh-TW" dirty="0"/>
              <a:t>node</a:t>
            </a:r>
            <a:r>
              <a:rPr lang="zh-TW" altLang="en-US" dirty="0"/>
              <a:t>作分類，從頭到尾都只用</a:t>
            </a:r>
            <a:r>
              <a:rPr lang="en-US" altLang="zh-TW" dirty="0"/>
              <a:t>node</a:t>
            </a:r>
            <a:r>
              <a:rPr lang="zh-TW" altLang="en-US" dirty="0"/>
              <a:t>的</a:t>
            </a:r>
            <a:r>
              <a:rPr lang="en-US" altLang="zh-TW" dirty="0"/>
              <a:t>feature</a:t>
            </a:r>
            <a:r>
              <a:rPr lang="zh-TW" altLang="en-US" dirty="0"/>
              <a:t>作轉換，</a:t>
            </a:r>
            <a:endParaRPr lang="en-US" altLang="zh-TW" dirty="0"/>
          </a:p>
          <a:p>
            <a:r>
              <a:rPr lang="en-US" altLang="zh-TW" dirty="0"/>
              <a:t>Ex:</a:t>
            </a:r>
            <a:r>
              <a:rPr lang="zh-TW" altLang="en-US" dirty="0"/>
              <a:t>跆拳道</a:t>
            </a:r>
            <a:r>
              <a:rPr lang="en-US" altLang="zh-TW" dirty="0"/>
              <a:t>(</a:t>
            </a:r>
            <a:r>
              <a:rPr lang="zh-TW" altLang="en-US" dirty="0"/>
              <a:t>身高，體重</a:t>
            </a:r>
            <a:r>
              <a:rPr lang="en-US" altLang="zh-TW" dirty="0"/>
              <a:t>)</a:t>
            </a:r>
            <a:r>
              <a:rPr lang="zh-TW" altLang="en-US" dirty="0"/>
              <a:t>，但是其實</a:t>
            </a:r>
            <a:r>
              <a:rPr lang="en-US" altLang="zh-TW" dirty="0"/>
              <a:t>Edge(</a:t>
            </a:r>
            <a:r>
              <a:rPr lang="zh-TW" altLang="en-US" dirty="0"/>
              <a:t>對戰紀錄</a:t>
            </a:r>
            <a:r>
              <a:rPr lang="en-US" altLang="zh-TW" dirty="0"/>
              <a:t>)</a:t>
            </a:r>
            <a:r>
              <a:rPr lang="zh-TW" altLang="en-US" dirty="0"/>
              <a:t>對這個問題也是有用的資訊</a:t>
            </a:r>
            <a:endParaRPr lang="en-US" altLang="zh-TW" dirty="0"/>
          </a:p>
          <a:p>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42</a:t>
            </a:fld>
            <a:endParaRPr lang="zh-TW" altLang="en-US"/>
          </a:p>
        </p:txBody>
      </p:sp>
    </p:spTree>
    <p:extLst>
      <p:ext uri="{BB962C8B-B14F-4D97-AF65-F5344CB8AC3E}">
        <p14:creationId xmlns:p14="http://schemas.microsoft.com/office/powerpoint/2010/main" val="18920570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不知道哪一個先比較好</a:t>
            </a:r>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43</a:t>
            </a:fld>
            <a:endParaRPr lang="zh-TW" altLang="en-US"/>
          </a:p>
        </p:txBody>
      </p:sp>
    </p:spTree>
    <p:extLst>
      <p:ext uri="{BB962C8B-B14F-4D97-AF65-F5344CB8AC3E}">
        <p14:creationId xmlns:p14="http://schemas.microsoft.com/office/powerpoint/2010/main" val="28967507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44</a:t>
            </a:fld>
            <a:endParaRPr lang="zh-TW" altLang="en-US"/>
          </a:p>
        </p:txBody>
      </p:sp>
    </p:spTree>
    <p:extLst>
      <p:ext uri="{BB962C8B-B14F-4D97-AF65-F5344CB8AC3E}">
        <p14:creationId xmlns:p14="http://schemas.microsoft.com/office/powerpoint/2010/main" val="34481059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大而稀疏，</a:t>
            </a:r>
            <a:r>
              <a:rPr lang="en-US" altLang="zh-TW" dirty="0"/>
              <a:t>message passing</a:t>
            </a:r>
            <a:r>
              <a:rPr lang="zh-TW" altLang="en-US" dirty="0"/>
              <a:t>太慢</a:t>
            </a:r>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45</a:t>
            </a:fld>
            <a:endParaRPr lang="zh-TW" altLang="en-US"/>
          </a:p>
        </p:txBody>
      </p:sp>
    </p:spTree>
    <p:extLst>
      <p:ext uri="{BB962C8B-B14F-4D97-AF65-F5344CB8AC3E}">
        <p14:creationId xmlns:p14="http://schemas.microsoft.com/office/powerpoint/2010/main" val="38686930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46</a:t>
            </a:fld>
            <a:endParaRPr lang="zh-TW" altLang="en-US"/>
          </a:p>
        </p:txBody>
      </p:sp>
    </p:spTree>
    <p:extLst>
      <p:ext uri="{BB962C8B-B14F-4D97-AF65-F5344CB8AC3E}">
        <p14:creationId xmlns:p14="http://schemas.microsoft.com/office/powerpoint/2010/main" val="20578032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47</a:t>
            </a:fld>
            <a:endParaRPr lang="zh-TW" altLang="en-US"/>
          </a:p>
        </p:txBody>
      </p:sp>
    </p:spTree>
    <p:extLst>
      <p:ext uri="{BB962C8B-B14F-4D97-AF65-F5344CB8AC3E}">
        <p14:creationId xmlns:p14="http://schemas.microsoft.com/office/powerpoint/2010/main" val="31776088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48</a:t>
            </a:fld>
            <a:endParaRPr lang="zh-TW" altLang="en-US"/>
          </a:p>
        </p:txBody>
      </p:sp>
    </p:spTree>
    <p:extLst>
      <p:ext uri="{BB962C8B-B14F-4D97-AF65-F5344CB8AC3E}">
        <p14:creationId xmlns:p14="http://schemas.microsoft.com/office/powerpoint/2010/main" val="23876048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49</a:t>
            </a:fld>
            <a:endParaRPr lang="zh-TW" altLang="en-US"/>
          </a:p>
        </p:txBody>
      </p:sp>
    </p:spTree>
    <p:extLst>
      <p:ext uri="{BB962C8B-B14F-4D97-AF65-F5344CB8AC3E}">
        <p14:creationId xmlns:p14="http://schemas.microsoft.com/office/powerpoint/2010/main" val="27781728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Supervise learning</a:t>
            </a:r>
          </a:p>
          <a:p>
            <a:r>
              <a:rPr lang="zh-TW" altLang="en-US" dirty="0"/>
              <a:t>有</a:t>
            </a:r>
            <a:r>
              <a:rPr lang="en-US" altLang="zh-TW" dirty="0"/>
              <a:t>p</a:t>
            </a:r>
            <a:r>
              <a:rPr lang="zh-TW" altLang="en-US" dirty="0"/>
              <a:t>個圖，第</a:t>
            </a:r>
            <a:r>
              <a:rPr lang="en-US" altLang="zh-TW" dirty="0" err="1"/>
              <a:t>i</a:t>
            </a:r>
            <a:r>
              <a:rPr lang="zh-TW" altLang="en-US" dirty="0"/>
              <a:t>個圖有</a:t>
            </a:r>
            <a:r>
              <a:rPr lang="en-US" altLang="zh-TW" dirty="0"/>
              <a:t>qi</a:t>
            </a:r>
            <a:r>
              <a:rPr lang="zh-TW" altLang="en-US" dirty="0"/>
              <a:t>個</a:t>
            </a:r>
            <a:r>
              <a:rPr lang="en-US" altLang="zh-TW" dirty="0"/>
              <a:t>node</a:t>
            </a:r>
          </a:p>
          <a:p>
            <a:r>
              <a:rPr lang="en-US" altLang="zh-TW" dirty="0" err="1"/>
              <a:t>ti,j</a:t>
            </a:r>
            <a:r>
              <a:rPr lang="zh-TW" altLang="en-US" dirty="0"/>
              <a:t>則是此點的目標</a:t>
            </a:r>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50</a:t>
            </a:fld>
            <a:endParaRPr lang="zh-TW" altLang="en-US"/>
          </a:p>
        </p:txBody>
      </p:sp>
    </p:spTree>
    <p:extLst>
      <p:ext uri="{BB962C8B-B14F-4D97-AF65-F5344CB8AC3E}">
        <p14:creationId xmlns:p14="http://schemas.microsoft.com/office/powerpoint/2010/main" val="36454536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51</a:t>
            </a:fld>
            <a:endParaRPr lang="zh-TW" altLang="en-US"/>
          </a:p>
        </p:txBody>
      </p:sp>
    </p:spTree>
    <p:extLst>
      <p:ext uri="{BB962C8B-B14F-4D97-AF65-F5344CB8AC3E}">
        <p14:creationId xmlns:p14="http://schemas.microsoft.com/office/powerpoint/2010/main" val="32364373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F</a:t>
            </a:r>
            <a:r>
              <a:rPr lang="zh-TW" altLang="en-US" dirty="0"/>
              <a:t>是</a:t>
            </a:r>
            <a:r>
              <a:rPr lang="en-US" altLang="zh-TW" b="1" dirty="0">
                <a:latin typeface="Times New Roman" panose="02020603050405020304" pitchFamily="18" charset="0"/>
                <a:cs typeface="Times New Roman" panose="02020603050405020304" pitchFamily="18" charset="0"/>
              </a:rPr>
              <a:t>Local transition function</a:t>
            </a:r>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52</a:t>
            </a:fld>
            <a:endParaRPr lang="zh-TW" altLang="en-US"/>
          </a:p>
        </p:txBody>
      </p:sp>
    </p:spTree>
    <p:extLst>
      <p:ext uri="{BB962C8B-B14F-4D97-AF65-F5344CB8AC3E}">
        <p14:creationId xmlns:p14="http://schemas.microsoft.com/office/powerpoint/2010/main" val="10009637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53</a:t>
            </a:fld>
            <a:endParaRPr lang="zh-TW" altLang="en-US"/>
          </a:p>
        </p:txBody>
      </p:sp>
    </p:spTree>
    <p:extLst>
      <p:ext uri="{BB962C8B-B14F-4D97-AF65-F5344CB8AC3E}">
        <p14:creationId xmlns:p14="http://schemas.microsoft.com/office/powerpoint/2010/main" val="335697436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F</a:t>
            </a:r>
            <a:r>
              <a:rPr lang="zh-TW" altLang="en-US" dirty="0"/>
              <a:t>是</a:t>
            </a:r>
            <a:r>
              <a:rPr lang="en-US" altLang="zh-TW" b="1" dirty="0">
                <a:latin typeface="Times New Roman" panose="02020603050405020304" pitchFamily="18" charset="0"/>
                <a:cs typeface="Times New Roman" panose="02020603050405020304" pitchFamily="18" charset="0"/>
              </a:rPr>
              <a:t>Global transition function</a:t>
            </a:r>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54</a:t>
            </a:fld>
            <a:endParaRPr lang="zh-TW" altLang="en-US"/>
          </a:p>
        </p:txBody>
      </p:sp>
    </p:spTree>
    <p:extLst>
      <p:ext uri="{BB962C8B-B14F-4D97-AF65-F5344CB8AC3E}">
        <p14:creationId xmlns:p14="http://schemas.microsoft.com/office/powerpoint/2010/main" val="1406035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55</a:t>
            </a:fld>
            <a:endParaRPr lang="zh-TW" altLang="en-US"/>
          </a:p>
        </p:txBody>
      </p:sp>
    </p:spTree>
    <p:extLst>
      <p:ext uri="{BB962C8B-B14F-4D97-AF65-F5344CB8AC3E}">
        <p14:creationId xmlns:p14="http://schemas.microsoft.com/office/powerpoint/2010/main" val="225015222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映射的不動點的存在性和唯一性</a:t>
            </a:r>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56</a:t>
            </a:fld>
            <a:endParaRPr lang="zh-TW" altLang="en-US"/>
          </a:p>
        </p:txBody>
      </p:sp>
    </p:spTree>
    <p:extLst>
      <p:ext uri="{BB962C8B-B14F-4D97-AF65-F5344CB8AC3E}">
        <p14:creationId xmlns:p14="http://schemas.microsoft.com/office/powerpoint/2010/main" val="38969396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F</a:t>
            </a:r>
            <a:r>
              <a:rPr lang="zh-TW" altLang="en-US" dirty="0"/>
              <a:t> 是 壓縮映射</a:t>
            </a:r>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57</a:t>
            </a:fld>
            <a:endParaRPr lang="zh-TW" altLang="en-US"/>
          </a:p>
        </p:txBody>
      </p:sp>
    </p:spTree>
    <p:extLst>
      <p:ext uri="{BB962C8B-B14F-4D97-AF65-F5344CB8AC3E}">
        <p14:creationId xmlns:p14="http://schemas.microsoft.com/office/powerpoint/2010/main" val="36836162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58</a:t>
            </a:fld>
            <a:endParaRPr lang="zh-TW" altLang="en-US"/>
          </a:p>
        </p:txBody>
      </p:sp>
    </p:spTree>
    <p:extLst>
      <p:ext uri="{BB962C8B-B14F-4D97-AF65-F5344CB8AC3E}">
        <p14:creationId xmlns:p14="http://schemas.microsoft.com/office/powerpoint/2010/main" val="4738820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59</a:t>
            </a:fld>
            <a:endParaRPr lang="zh-TW" altLang="en-US"/>
          </a:p>
        </p:txBody>
      </p:sp>
    </p:spTree>
    <p:extLst>
      <p:ext uri="{BB962C8B-B14F-4D97-AF65-F5344CB8AC3E}">
        <p14:creationId xmlns:p14="http://schemas.microsoft.com/office/powerpoint/2010/main" val="30242027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60</a:t>
            </a:fld>
            <a:endParaRPr lang="zh-TW" altLang="en-US"/>
          </a:p>
        </p:txBody>
      </p:sp>
    </p:spTree>
    <p:extLst>
      <p:ext uri="{BB962C8B-B14F-4D97-AF65-F5344CB8AC3E}">
        <p14:creationId xmlns:p14="http://schemas.microsoft.com/office/powerpoint/2010/main" val="9610995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61</a:t>
            </a:fld>
            <a:endParaRPr lang="zh-TW" altLang="en-US"/>
          </a:p>
        </p:txBody>
      </p:sp>
    </p:spTree>
    <p:extLst>
      <p:ext uri="{BB962C8B-B14F-4D97-AF65-F5344CB8AC3E}">
        <p14:creationId xmlns:p14="http://schemas.microsoft.com/office/powerpoint/2010/main" val="365178328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62</a:t>
            </a:fld>
            <a:endParaRPr lang="zh-TW" altLang="en-US"/>
          </a:p>
        </p:txBody>
      </p:sp>
    </p:spTree>
    <p:extLst>
      <p:ext uri="{BB962C8B-B14F-4D97-AF65-F5344CB8AC3E}">
        <p14:creationId xmlns:p14="http://schemas.microsoft.com/office/powerpoint/2010/main" val="336813827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727CF30C-F373-4444-A388-CFEF68B7E41F}" type="slidenum">
              <a:rPr lang="zh-TW" altLang="en-US" smtClean="0"/>
              <a:t>63</a:t>
            </a:fld>
            <a:endParaRPr lang="zh-TW" altLang="en-US"/>
          </a:p>
        </p:txBody>
      </p:sp>
    </p:spTree>
    <p:extLst>
      <p:ext uri="{BB962C8B-B14F-4D97-AF65-F5344CB8AC3E}">
        <p14:creationId xmlns:p14="http://schemas.microsoft.com/office/powerpoint/2010/main" val="1455166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7F08B1-F5C9-E605-B0BA-4D4D7DE0437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EBC8E53B-407A-1FEC-A1FF-566307E727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C2A8B61E-34BF-8FEE-B9B7-85181ADEBFAA}"/>
              </a:ext>
            </a:extLst>
          </p:cNvPr>
          <p:cNvSpPr>
            <a:spLocks noGrp="1"/>
          </p:cNvSpPr>
          <p:nvPr>
            <p:ph type="dt" sz="half" idx="10"/>
          </p:nvPr>
        </p:nvSpPr>
        <p:spPr/>
        <p:txBody>
          <a:bodyPr/>
          <a:lstStyle/>
          <a:p>
            <a:fld id="{B8D627E5-4C36-4BBE-9FE2-F0861701D925}" type="datetime1">
              <a:rPr lang="zh-TW" altLang="en-US" smtClean="0"/>
              <a:t>2024/1/15</a:t>
            </a:fld>
            <a:endParaRPr lang="zh-TW" altLang="en-US"/>
          </a:p>
        </p:txBody>
      </p:sp>
      <p:sp>
        <p:nvSpPr>
          <p:cNvPr id="5" name="頁尾版面配置區 4">
            <a:extLst>
              <a:ext uri="{FF2B5EF4-FFF2-40B4-BE49-F238E27FC236}">
                <a16:creationId xmlns:a16="http://schemas.microsoft.com/office/drawing/2014/main" id="{E43259F9-B430-5321-7781-1511406495F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C169EF4-1C0A-4CC0-D4EC-3EA898391A0A}"/>
              </a:ext>
            </a:extLst>
          </p:cNvPr>
          <p:cNvSpPr>
            <a:spLocks noGrp="1"/>
          </p:cNvSpPr>
          <p:nvPr>
            <p:ph type="sldNum" sz="quarter" idx="12"/>
          </p:nvPr>
        </p:nvSpPr>
        <p:spPr/>
        <p:txBody>
          <a:bodyPr/>
          <a:lstStyle/>
          <a:p>
            <a:fld id="{EABF9873-7952-4BBF-BE6E-D6479BF557AE}" type="slidenum">
              <a:rPr lang="zh-TW" altLang="en-US" smtClean="0"/>
              <a:t>‹#›</a:t>
            </a:fld>
            <a:endParaRPr lang="zh-TW" altLang="en-US"/>
          </a:p>
        </p:txBody>
      </p:sp>
    </p:spTree>
    <p:extLst>
      <p:ext uri="{BB962C8B-B14F-4D97-AF65-F5344CB8AC3E}">
        <p14:creationId xmlns:p14="http://schemas.microsoft.com/office/powerpoint/2010/main" val="3697728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D7C824-5D42-B6E2-B681-64845ACB193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F7A4A39-9096-4942-056B-76991C6C13B3}"/>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20DCA13-D9BB-E38D-647D-4E4FA93FCAC6}"/>
              </a:ext>
            </a:extLst>
          </p:cNvPr>
          <p:cNvSpPr>
            <a:spLocks noGrp="1"/>
          </p:cNvSpPr>
          <p:nvPr>
            <p:ph type="dt" sz="half" idx="10"/>
          </p:nvPr>
        </p:nvSpPr>
        <p:spPr/>
        <p:txBody>
          <a:bodyPr/>
          <a:lstStyle/>
          <a:p>
            <a:fld id="{B21F750D-242E-4995-957F-56BB67C4467B}" type="datetime1">
              <a:rPr lang="zh-TW" altLang="en-US" smtClean="0"/>
              <a:t>2024/1/15</a:t>
            </a:fld>
            <a:endParaRPr lang="zh-TW" altLang="en-US"/>
          </a:p>
        </p:txBody>
      </p:sp>
      <p:sp>
        <p:nvSpPr>
          <p:cNvPr id="5" name="頁尾版面配置區 4">
            <a:extLst>
              <a:ext uri="{FF2B5EF4-FFF2-40B4-BE49-F238E27FC236}">
                <a16:creationId xmlns:a16="http://schemas.microsoft.com/office/drawing/2014/main" id="{108E6FBC-3831-BA23-257A-8FB5EFD5179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7F6F3E0-0768-0964-33C3-D9940461CF27}"/>
              </a:ext>
            </a:extLst>
          </p:cNvPr>
          <p:cNvSpPr>
            <a:spLocks noGrp="1"/>
          </p:cNvSpPr>
          <p:nvPr>
            <p:ph type="sldNum" sz="quarter" idx="12"/>
          </p:nvPr>
        </p:nvSpPr>
        <p:spPr/>
        <p:txBody>
          <a:bodyPr/>
          <a:lstStyle/>
          <a:p>
            <a:fld id="{EABF9873-7952-4BBF-BE6E-D6479BF557AE}" type="slidenum">
              <a:rPr lang="zh-TW" altLang="en-US" smtClean="0"/>
              <a:t>‹#›</a:t>
            </a:fld>
            <a:endParaRPr lang="zh-TW" altLang="en-US"/>
          </a:p>
        </p:txBody>
      </p:sp>
    </p:spTree>
    <p:extLst>
      <p:ext uri="{BB962C8B-B14F-4D97-AF65-F5344CB8AC3E}">
        <p14:creationId xmlns:p14="http://schemas.microsoft.com/office/powerpoint/2010/main" val="3640276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CB4799-E9A0-87C9-D8EF-44B44ED70320}"/>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11648320-4DA3-9ECC-9638-44E0239148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534EB3B4-0A93-0EDC-2EB5-D73368685E79}"/>
              </a:ext>
            </a:extLst>
          </p:cNvPr>
          <p:cNvSpPr>
            <a:spLocks noGrp="1"/>
          </p:cNvSpPr>
          <p:nvPr>
            <p:ph type="dt" sz="half" idx="10"/>
          </p:nvPr>
        </p:nvSpPr>
        <p:spPr/>
        <p:txBody>
          <a:bodyPr/>
          <a:lstStyle/>
          <a:p>
            <a:fld id="{E1E7D238-A2CF-4BAD-8C61-D5545B3F507E}" type="datetime1">
              <a:rPr lang="zh-TW" altLang="en-US" smtClean="0"/>
              <a:t>2024/1/15</a:t>
            </a:fld>
            <a:endParaRPr lang="zh-TW" altLang="en-US"/>
          </a:p>
        </p:txBody>
      </p:sp>
      <p:sp>
        <p:nvSpPr>
          <p:cNvPr id="5" name="頁尾版面配置區 4">
            <a:extLst>
              <a:ext uri="{FF2B5EF4-FFF2-40B4-BE49-F238E27FC236}">
                <a16:creationId xmlns:a16="http://schemas.microsoft.com/office/drawing/2014/main" id="{7109F298-5132-36CB-5C4F-1B3D066DCF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DC87FFF-FCA3-508C-ACE7-8507011E8A9A}"/>
              </a:ext>
            </a:extLst>
          </p:cNvPr>
          <p:cNvSpPr>
            <a:spLocks noGrp="1"/>
          </p:cNvSpPr>
          <p:nvPr>
            <p:ph type="sldNum" sz="quarter" idx="12"/>
          </p:nvPr>
        </p:nvSpPr>
        <p:spPr/>
        <p:txBody>
          <a:bodyPr/>
          <a:lstStyle/>
          <a:p>
            <a:fld id="{EABF9873-7952-4BBF-BE6E-D6479BF557AE}" type="slidenum">
              <a:rPr lang="zh-TW" altLang="en-US" smtClean="0"/>
              <a:t>‹#›</a:t>
            </a:fld>
            <a:endParaRPr lang="zh-TW" altLang="en-US"/>
          </a:p>
        </p:txBody>
      </p:sp>
    </p:spTree>
    <p:extLst>
      <p:ext uri="{BB962C8B-B14F-4D97-AF65-F5344CB8AC3E}">
        <p14:creationId xmlns:p14="http://schemas.microsoft.com/office/powerpoint/2010/main" val="2648469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C059B69-3F6B-45BF-98C9-FEB48C39572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666E7E0-EA0D-3713-96DD-4088A78ADE10}"/>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A8BE5EEE-1EAC-78D1-8D1D-D30F031F8F46}"/>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10462A01-80F7-6BC6-7A22-72F9398802F2}"/>
              </a:ext>
            </a:extLst>
          </p:cNvPr>
          <p:cNvSpPr>
            <a:spLocks noGrp="1"/>
          </p:cNvSpPr>
          <p:nvPr>
            <p:ph type="dt" sz="half" idx="10"/>
          </p:nvPr>
        </p:nvSpPr>
        <p:spPr/>
        <p:txBody>
          <a:bodyPr/>
          <a:lstStyle/>
          <a:p>
            <a:fld id="{50B5CFC0-08FC-464B-83D4-5F2A8E940A6B}" type="datetime1">
              <a:rPr lang="zh-TW" altLang="en-US" smtClean="0"/>
              <a:t>2024/1/15</a:t>
            </a:fld>
            <a:endParaRPr lang="zh-TW" altLang="en-US"/>
          </a:p>
        </p:txBody>
      </p:sp>
      <p:sp>
        <p:nvSpPr>
          <p:cNvPr id="6" name="頁尾版面配置區 5">
            <a:extLst>
              <a:ext uri="{FF2B5EF4-FFF2-40B4-BE49-F238E27FC236}">
                <a16:creationId xmlns:a16="http://schemas.microsoft.com/office/drawing/2014/main" id="{5267E4F0-8180-CDB2-40CB-8337D81E0ABB}"/>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D357C26-CDB5-6788-C9EF-07D2511AA0C4}"/>
              </a:ext>
            </a:extLst>
          </p:cNvPr>
          <p:cNvSpPr>
            <a:spLocks noGrp="1"/>
          </p:cNvSpPr>
          <p:nvPr>
            <p:ph type="sldNum" sz="quarter" idx="12"/>
          </p:nvPr>
        </p:nvSpPr>
        <p:spPr/>
        <p:txBody>
          <a:bodyPr/>
          <a:lstStyle/>
          <a:p>
            <a:fld id="{EABF9873-7952-4BBF-BE6E-D6479BF557AE}" type="slidenum">
              <a:rPr lang="zh-TW" altLang="en-US" smtClean="0"/>
              <a:t>‹#›</a:t>
            </a:fld>
            <a:endParaRPr lang="zh-TW" altLang="en-US"/>
          </a:p>
        </p:txBody>
      </p:sp>
    </p:spTree>
    <p:extLst>
      <p:ext uri="{BB962C8B-B14F-4D97-AF65-F5344CB8AC3E}">
        <p14:creationId xmlns:p14="http://schemas.microsoft.com/office/powerpoint/2010/main" val="4216487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246361-3BC3-00A9-4619-DD4A73282350}"/>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D00C39F9-4DB8-B441-EF61-2DC6384043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4C74CF67-FD28-D885-F62C-83A5001A6AE1}"/>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34267362-C396-5E52-FE1F-635C5691BF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243BBFE5-88D3-0AC1-E3DD-945191DC39D9}"/>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E45C5344-B7D7-71B9-AA1C-C17BDFE578EF}"/>
              </a:ext>
            </a:extLst>
          </p:cNvPr>
          <p:cNvSpPr>
            <a:spLocks noGrp="1"/>
          </p:cNvSpPr>
          <p:nvPr>
            <p:ph type="dt" sz="half" idx="10"/>
          </p:nvPr>
        </p:nvSpPr>
        <p:spPr/>
        <p:txBody>
          <a:bodyPr/>
          <a:lstStyle/>
          <a:p>
            <a:fld id="{FB0509F9-6FA5-4452-8BA7-5F406471A85A}" type="datetime1">
              <a:rPr lang="zh-TW" altLang="en-US" smtClean="0"/>
              <a:t>2024/1/15</a:t>
            </a:fld>
            <a:endParaRPr lang="zh-TW" altLang="en-US"/>
          </a:p>
        </p:txBody>
      </p:sp>
      <p:sp>
        <p:nvSpPr>
          <p:cNvPr id="8" name="頁尾版面配置區 7">
            <a:extLst>
              <a:ext uri="{FF2B5EF4-FFF2-40B4-BE49-F238E27FC236}">
                <a16:creationId xmlns:a16="http://schemas.microsoft.com/office/drawing/2014/main" id="{B67ADD52-DB9C-4997-975D-E68D3EDF0289}"/>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ECA1D599-EF99-38E4-2D16-899947AFCCB5}"/>
              </a:ext>
            </a:extLst>
          </p:cNvPr>
          <p:cNvSpPr>
            <a:spLocks noGrp="1"/>
          </p:cNvSpPr>
          <p:nvPr>
            <p:ph type="sldNum" sz="quarter" idx="12"/>
          </p:nvPr>
        </p:nvSpPr>
        <p:spPr/>
        <p:txBody>
          <a:bodyPr/>
          <a:lstStyle/>
          <a:p>
            <a:fld id="{EABF9873-7952-4BBF-BE6E-D6479BF557AE}" type="slidenum">
              <a:rPr lang="zh-TW" altLang="en-US" smtClean="0"/>
              <a:t>‹#›</a:t>
            </a:fld>
            <a:endParaRPr lang="zh-TW" altLang="en-US"/>
          </a:p>
        </p:txBody>
      </p:sp>
    </p:spTree>
    <p:extLst>
      <p:ext uri="{BB962C8B-B14F-4D97-AF65-F5344CB8AC3E}">
        <p14:creationId xmlns:p14="http://schemas.microsoft.com/office/powerpoint/2010/main" val="1523823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E803B96-37AC-2DAA-E5D2-CEE912085957}"/>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0373015-2C89-4224-F25A-BC5A327561E0}"/>
              </a:ext>
            </a:extLst>
          </p:cNvPr>
          <p:cNvSpPr>
            <a:spLocks noGrp="1"/>
          </p:cNvSpPr>
          <p:nvPr>
            <p:ph type="dt" sz="half" idx="10"/>
          </p:nvPr>
        </p:nvSpPr>
        <p:spPr/>
        <p:txBody>
          <a:bodyPr/>
          <a:lstStyle/>
          <a:p>
            <a:fld id="{4F70823D-7AF2-432F-BB42-87C0EAD5DC11}" type="datetime1">
              <a:rPr lang="zh-TW" altLang="en-US" smtClean="0"/>
              <a:t>2024/1/15</a:t>
            </a:fld>
            <a:endParaRPr lang="zh-TW" altLang="en-US"/>
          </a:p>
        </p:txBody>
      </p:sp>
      <p:sp>
        <p:nvSpPr>
          <p:cNvPr id="4" name="頁尾版面配置區 3">
            <a:extLst>
              <a:ext uri="{FF2B5EF4-FFF2-40B4-BE49-F238E27FC236}">
                <a16:creationId xmlns:a16="http://schemas.microsoft.com/office/drawing/2014/main" id="{0D46BE41-C201-1C6A-D1D5-A3A82E6EB13F}"/>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C141C57-66BB-6CB7-59D7-29839BAA6A23}"/>
              </a:ext>
            </a:extLst>
          </p:cNvPr>
          <p:cNvSpPr>
            <a:spLocks noGrp="1"/>
          </p:cNvSpPr>
          <p:nvPr>
            <p:ph type="sldNum" sz="quarter" idx="12"/>
          </p:nvPr>
        </p:nvSpPr>
        <p:spPr/>
        <p:txBody>
          <a:bodyPr/>
          <a:lstStyle/>
          <a:p>
            <a:fld id="{EABF9873-7952-4BBF-BE6E-D6479BF557AE}" type="slidenum">
              <a:rPr lang="zh-TW" altLang="en-US" smtClean="0"/>
              <a:t>‹#›</a:t>
            </a:fld>
            <a:endParaRPr lang="zh-TW" altLang="en-US"/>
          </a:p>
        </p:txBody>
      </p:sp>
    </p:spTree>
    <p:extLst>
      <p:ext uri="{BB962C8B-B14F-4D97-AF65-F5344CB8AC3E}">
        <p14:creationId xmlns:p14="http://schemas.microsoft.com/office/powerpoint/2010/main" val="1515636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60227ED-A275-3D4C-5C95-7B7FA2848242}"/>
              </a:ext>
            </a:extLst>
          </p:cNvPr>
          <p:cNvSpPr>
            <a:spLocks noGrp="1"/>
          </p:cNvSpPr>
          <p:nvPr>
            <p:ph type="dt" sz="half" idx="10"/>
          </p:nvPr>
        </p:nvSpPr>
        <p:spPr/>
        <p:txBody>
          <a:bodyPr/>
          <a:lstStyle/>
          <a:p>
            <a:fld id="{80BB8EAC-2D21-4944-B88C-0B7AE7BFAD43}" type="datetime1">
              <a:rPr lang="zh-TW" altLang="en-US" smtClean="0"/>
              <a:t>2024/1/15</a:t>
            </a:fld>
            <a:endParaRPr lang="zh-TW" altLang="en-US"/>
          </a:p>
        </p:txBody>
      </p:sp>
      <p:sp>
        <p:nvSpPr>
          <p:cNvPr id="3" name="頁尾版面配置區 2">
            <a:extLst>
              <a:ext uri="{FF2B5EF4-FFF2-40B4-BE49-F238E27FC236}">
                <a16:creationId xmlns:a16="http://schemas.microsoft.com/office/drawing/2014/main" id="{1C988EBE-6C5E-9C24-57BE-CD9BA25A3AD3}"/>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AD22DA8D-45FC-584B-439B-1116018DB1E7}"/>
              </a:ext>
            </a:extLst>
          </p:cNvPr>
          <p:cNvSpPr>
            <a:spLocks noGrp="1"/>
          </p:cNvSpPr>
          <p:nvPr>
            <p:ph type="sldNum" sz="quarter" idx="12"/>
          </p:nvPr>
        </p:nvSpPr>
        <p:spPr/>
        <p:txBody>
          <a:bodyPr/>
          <a:lstStyle/>
          <a:p>
            <a:fld id="{EABF9873-7952-4BBF-BE6E-D6479BF557AE}" type="slidenum">
              <a:rPr lang="zh-TW" altLang="en-US" smtClean="0"/>
              <a:t>‹#›</a:t>
            </a:fld>
            <a:endParaRPr lang="zh-TW" altLang="en-US"/>
          </a:p>
        </p:txBody>
      </p:sp>
    </p:spTree>
    <p:extLst>
      <p:ext uri="{BB962C8B-B14F-4D97-AF65-F5344CB8AC3E}">
        <p14:creationId xmlns:p14="http://schemas.microsoft.com/office/powerpoint/2010/main" val="3262979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01DF36-B313-9CE2-4C27-76190EAFCEF0}"/>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D3DEA7D2-215A-9A45-21CA-B3D8B74440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5CD06111-BD58-230A-BCA4-EBA35FEACD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BEA845E7-A737-6A43-6B35-DEA243F7BE85}"/>
              </a:ext>
            </a:extLst>
          </p:cNvPr>
          <p:cNvSpPr>
            <a:spLocks noGrp="1"/>
          </p:cNvSpPr>
          <p:nvPr>
            <p:ph type="dt" sz="half" idx="10"/>
          </p:nvPr>
        </p:nvSpPr>
        <p:spPr/>
        <p:txBody>
          <a:bodyPr/>
          <a:lstStyle/>
          <a:p>
            <a:fld id="{F23C5D7D-97B5-4FF0-8E6A-8652816F31FE}" type="datetime1">
              <a:rPr lang="zh-TW" altLang="en-US" smtClean="0"/>
              <a:t>2024/1/15</a:t>
            </a:fld>
            <a:endParaRPr lang="zh-TW" altLang="en-US"/>
          </a:p>
        </p:txBody>
      </p:sp>
      <p:sp>
        <p:nvSpPr>
          <p:cNvPr id="6" name="頁尾版面配置區 5">
            <a:extLst>
              <a:ext uri="{FF2B5EF4-FFF2-40B4-BE49-F238E27FC236}">
                <a16:creationId xmlns:a16="http://schemas.microsoft.com/office/drawing/2014/main" id="{5A1EF4DF-9608-9E15-9EA2-964E91CCB7E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F6CFD5B0-BC0C-C529-F342-51D33F02FE9C}"/>
              </a:ext>
            </a:extLst>
          </p:cNvPr>
          <p:cNvSpPr>
            <a:spLocks noGrp="1"/>
          </p:cNvSpPr>
          <p:nvPr>
            <p:ph type="sldNum" sz="quarter" idx="12"/>
          </p:nvPr>
        </p:nvSpPr>
        <p:spPr/>
        <p:txBody>
          <a:bodyPr/>
          <a:lstStyle/>
          <a:p>
            <a:fld id="{EABF9873-7952-4BBF-BE6E-D6479BF557AE}" type="slidenum">
              <a:rPr lang="zh-TW" altLang="en-US" smtClean="0"/>
              <a:t>‹#›</a:t>
            </a:fld>
            <a:endParaRPr lang="zh-TW" altLang="en-US"/>
          </a:p>
        </p:txBody>
      </p:sp>
    </p:spTree>
    <p:extLst>
      <p:ext uri="{BB962C8B-B14F-4D97-AF65-F5344CB8AC3E}">
        <p14:creationId xmlns:p14="http://schemas.microsoft.com/office/powerpoint/2010/main" val="129441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076064-EE76-EE52-8C11-9F1F15037CD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7A986C48-506A-F31F-6D6F-74E6FB2418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2816E2EA-74BF-A1DD-A457-962FA30F4C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6F13E9E-9E61-FD54-10FD-FC24DBB52C6D}"/>
              </a:ext>
            </a:extLst>
          </p:cNvPr>
          <p:cNvSpPr>
            <a:spLocks noGrp="1"/>
          </p:cNvSpPr>
          <p:nvPr>
            <p:ph type="dt" sz="half" idx="10"/>
          </p:nvPr>
        </p:nvSpPr>
        <p:spPr/>
        <p:txBody>
          <a:bodyPr/>
          <a:lstStyle/>
          <a:p>
            <a:fld id="{7734C224-76B6-47CE-948A-0C4C3A4EF5E2}" type="datetime1">
              <a:rPr lang="zh-TW" altLang="en-US" smtClean="0"/>
              <a:t>2024/1/15</a:t>
            </a:fld>
            <a:endParaRPr lang="zh-TW" altLang="en-US"/>
          </a:p>
        </p:txBody>
      </p:sp>
      <p:sp>
        <p:nvSpPr>
          <p:cNvPr id="6" name="頁尾版面配置區 5">
            <a:extLst>
              <a:ext uri="{FF2B5EF4-FFF2-40B4-BE49-F238E27FC236}">
                <a16:creationId xmlns:a16="http://schemas.microsoft.com/office/drawing/2014/main" id="{DC449FF8-CD6B-F021-BA85-8B73FD2BE27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9A38FFF-D25A-C9A9-F42C-F180185AAE35}"/>
              </a:ext>
            </a:extLst>
          </p:cNvPr>
          <p:cNvSpPr>
            <a:spLocks noGrp="1"/>
          </p:cNvSpPr>
          <p:nvPr>
            <p:ph type="sldNum" sz="quarter" idx="12"/>
          </p:nvPr>
        </p:nvSpPr>
        <p:spPr/>
        <p:txBody>
          <a:bodyPr/>
          <a:lstStyle/>
          <a:p>
            <a:fld id="{EABF9873-7952-4BBF-BE6E-D6479BF557AE}" type="slidenum">
              <a:rPr lang="zh-TW" altLang="en-US" smtClean="0"/>
              <a:t>‹#›</a:t>
            </a:fld>
            <a:endParaRPr lang="zh-TW" altLang="en-US"/>
          </a:p>
        </p:txBody>
      </p:sp>
    </p:spTree>
    <p:extLst>
      <p:ext uri="{BB962C8B-B14F-4D97-AF65-F5344CB8AC3E}">
        <p14:creationId xmlns:p14="http://schemas.microsoft.com/office/powerpoint/2010/main" val="273465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1674DE0-F011-0914-E6B8-6B59F3A7DC8E}"/>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81EB5984-D23F-BF8D-E8DB-7E66C12C71EF}"/>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FC79F64-700D-2F5B-3F2D-08A666BD36CC}"/>
              </a:ext>
            </a:extLst>
          </p:cNvPr>
          <p:cNvSpPr>
            <a:spLocks noGrp="1"/>
          </p:cNvSpPr>
          <p:nvPr>
            <p:ph type="dt" sz="half" idx="10"/>
          </p:nvPr>
        </p:nvSpPr>
        <p:spPr/>
        <p:txBody>
          <a:bodyPr/>
          <a:lstStyle/>
          <a:p>
            <a:fld id="{88C5A8AA-4745-4325-BBC8-183F9D26B94B}" type="datetime1">
              <a:rPr lang="zh-TW" altLang="en-US" smtClean="0"/>
              <a:t>2024/1/15</a:t>
            </a:fld>
            <a:endParaRPr lang="zh-TW" altLang="en-US"/>
          </a:p>
        </p:txBody>
      </p:sp>
      <p:sp>
        <p:nvSpPr>
          <p:cNvPr id="5" name="頁尾版面配置區 4">
            <a:extLst>
              <a:ext uri="{FF2B5EF4-FFF2-40B4-BE49-F238E27FC236}">
                <a16:creationId xmlns:a16="http://schemas.microsoft.com/office/drawing/2014/main" id="{AB85868D-B116-1FC4-D811-968AE332120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7249547-B148-B961-07E5-986E0F2D1663}"/>
              </a:ext>
            </a:extLst>
          </p:cNvPr>
          <p:cNvSpPr>
            <a:spLocks noGrp="1"/>
          </p:cNvSpPr>
          <p:nvPr>
            <p:ph type="sldNum" sz="quarter" idx="12"/>
          </p:nvPr>
        </p:nvSpPr>
        <p:spPr/>
        <p:txBody>
          <a:bodyPr/>
          <a:lstStyle/>
          <a:p>
            <a:fld id="{EABF9873-7952-4BBF-BE6E-D6479BF557AE}" type="slidenum">
              <a:rPr lang="zh-TW" altLang="en-US" smtClean="0"/>
              <a:t>‹#›</a:t>
            </a:fld>
            <a:endParaRPr lang="zh-TW" altLang="en-US"/>
          </a:p>
        </p:txBody>
      </p:sp>
    </p:spTree>
    <p:extLst>
      <p:ext uri="{BB962C8B-B14F-4D97-AF65-F5344CB8AC3E}">
        <p14:creationId xmlns:p14="http://schemas.microsoft.com/office/powerpoint/2010/main" val="1729383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1B2E7A76-CAE3-34B5-E00E-013DB15BFCAE}"/>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0000EC71-961A-BAD4-5E79-51ECEC427917}"/>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11AE7FF-8725-CFB2-1579-1F3ECAFC1334}"/>
              </a:ext>
            </a:extLst>
          </p:cNvPr>
          <p:cNvSpPr>
            <a:spLocks noGrp="1"/>
          </p:cNvSpPr>
          <p:nvPr>
            <p:ph type="dt" sz="half" idx="10"/>
          </p:nvPr>
        </p:nvSpPr>
        <p:spPr/>
        <p:txBody>
          <a:bodyPr/>
          <a:lstStyle/>
          <a:p>
            <a:fld id="{7D19BB6C-8A6F-4FAD-8D21-FB3959E1C850}" type="datetime1">
              <a:rPr lang="zh-TW" altLang="en-US" smtClean="0"/>
              <a:t>2024/1/15</a:t>
            </a:fld>
            <a:endParaRPr lang="zh-TW" altLang="en-US"/>
          </a:p>
        </p:txBody>
      </p:sp>
      <p:sp>
        <p:nvSpPr>
          <p:cNvPr id="5" name="頁尾版面配置區 4">
            <a:extLst>
              <a:ext uri="{FF2B5EF4-FFF2-40B4-BE49-F238E27FC236}">
                <a16:creationId xmlns:a16="http://schemas.microsoft.com/office/drawing/2014/main" id="{41729E81-710E-E2F2-E3C7-56D8EB1CC46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2DEA1B3-C03D-A950-70D2-3A341964FC3D}"/>
              </a:ext>
            </a:extLst>
          </p:cNvPr>
          <p:cNvSpPr>
            <a:spLocks noGrp="1"/>
          </p:cNvSpPr>
          <p:nvPr>
            <p:ph type="sldNum" sz="quarter" idx="12"/>
          </p:nvPr>
        </p:nvSpPr>
        <p:spPr/>
        <p:txBody>
          <a:bodyPr/>
          <a:lstStyle/>
          <a:p>
            <a:fld id="{EABF9873-7952-4BBF-BE6E-D6479BF557AE}" type="slidenum">
              <a:rPr lang="zh-TW" altLang="en-US" smtClean="0"/>
              <a:t>‹#›</a:t>
            </a:fld>
            <a:endParaRPr lang="zh-TW" altLang="en-US"/>
          </a:p>
        </p:txBody>
      </p:sp>
    </p:spTree>
    <p:extLst>
      <p:ext uri="{BB962C8B-B14F-4D97-AF65-F5344CB8AC3E}">
        <p14:creationId xmlns:p14="http://schemas.microsoft.com/office/powerpoint/2010/main" val="2634673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BD8C19A0-68BC-553E-D65C-9EEEE5ED81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1BCC9F7-5DC0-F771-A939-9F624B5A2B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E66079B-AB3A-84C7-437A-1C3743A747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05D8E5-D857-428A-A46C-415EC3BC9387}" type="datetime1">
              <a:rPr lang="zh-TW" altLang="en-US" smtClean="0"/>
              <a:t>2024/1/15</a:t>
            </a:fld>
            <a:endParaRPr lang="zh-TW" altLang="en-US"/>
          </a:p>
        </p:txBody>
      </p:sp>
      <p:sp>
        <p:nvSpPr>
          <p:cNvPr id="5" name="頁尾版面配置區 4">
            <a:extLst>
              <a:ext uri="{FF2B5EF4-FFF2-40B4-BE49-F238E27FC236}">
                <a16:creationId xmlns:a16="http://schemas.microsoft.com/office/drawing/2014/main" id="{8404B3D7-76E6-3B56-540E-5A81C50B79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F2E4D561-EEB4-8310-76DC-CA0C6F745B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BF9873-7952-4BBF-BE6E-D6479BF557AE}" type="slidenum">
              <a:rPr lang="zh-TW" altLang="en-US" smtClean="0"/>
              <a:t>‹#›</a:t>
            </a:fld>
            <a:endParaRPr lang="zh-TW" altLang="en-US"/>
          </a:p>
        </p:txBody>
      </p:sp>
    </p:spTree>
    <p:extLst>
      <p:ext uri="{BB962C8B-B14F-4D97-AF65-F5344CB8AC3E}">
        <p14:creationId xmlns:p14="http://schemas.microsoft.com/office/powerpoint/2010/main" val="29394924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5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5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5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6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B36ABE-AAF8-A44E-9A2F-7BC45939FD43}"/>
              </a:ext>
            </a:extLst>
          </p:cNvPr>
          <p:cNvSpPr>
            <a:spLocks noGrp="1"/>
          </p:cNvSpPr>
          <p:nvPr>
            <p:ph type="ctrTitle"/>
          </p:nvPr>
        </p:nvSpPr>
        <p:spPr>
          <a:xfrm>
            <a:off x="746379" y="1041400"/>
            <a:ext cx="10699242" cy="2387600"/>
          </a:xfrm>
        </p:spPr>
        <p:txBody>
          <a:bodyPr>
            <a:noAutofit/>
          </a:bodyPr>
          <a:lstStyle/>
          <a:p>
            <a:r>
              <a:rPr kumimoji="1" lang="en-US" altLang="zh-TW" sz="4800" dirty="0">
                <a:latin typeface="Times New Roman" panose="02020603050405020304" pitchFamily="18" charset="0"/>
                <a:cs typeface="Times New Roman" panose="02020603050405020304" pitchFamily="18" charset="0"/>
              </a:rPr>
              <a:t>The Graph Neural Network Model</a:t>
            </a:r>
            <a:endParaRPr kumimoji="1" lang="en" altLang="zh-TW"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E5B5F14B-80FA-484A-93C9-1FC3F30ECA32}"/>
              </a:ext>
            </a:extLst>
          </p:cNvPr>
          <p:cNvSpPr>
            <a:spLocks noGrp="1"/>
          </p:cNvSpPr>
          <p:nvPr>
            <p:ph type="subTitle" idx="1"/>
          </p:nvPr>
        </p:nvSpPr>
        <p:spPr/>
        <p:txBody>
          <a:bodyPr>
            <a:normAutofit fontScale="92500"/>
          </a:bodyPr>
          <a:lstStyle/>
          <a:p>
            <a:pPr fontAlgn="ctr"/>
            <a:r>
              <a:rPr lang="en-US" altLang="zh-TW" dirty="0">
                <a:latin typeface="Times New Roman" panose="02020603050405020304" pitchFamily="18" charset="0"/>
                <a:cs typeface="Times New Roman" panose="02020603050405020304" pitchFamily="18" charset="0"/>
              </a:rPr>
              <a:t>Franco </a:t>
            </a:r>
            <a:r>
              <a:rPr lang="en-US" altLang="zh-TW" dirty="0" err="1">
                <a:latin typeface="Times New Roman" panose="02020603050405020304" pitchFamily="18" charset="0"/>
                <a:cs typeface="Times New Roman" panose="02020603050405020304" pitchFamily="18" charset="0"/>
              </a:rPr>
              <a:t>Scarselli</a:t>
            </a:r>
            <a:r>
              <a:rPr lang="en-US" altLang="zh-TW" dirty="0">
                <a:latin typeface="Times New Roman" panose="02020603050405020304" pitchFamily="18" charset="0"/>
                <a:cs typeface="Times New Roman" panose="02020603050405020304" pitchFamily="18" charset="0"/>
              </a:rPr>
              <a:t>, Marco Gori, Ah Chung Tsoi, Markus </a:t>
            </a:r>
            <a:r>
              <a:rPr lang="en-US" altLang="zh-TW" dirty="0" err="1">
                <a:latin typeface="Times New Roman" panose="02020603050405020304" pitchFamily="18" charset="0"/>
                <a:cs typeface="Times New Roman" panose="02020603050405020304" pitchFamily="18" charset="0"/>
              </a:rPr>
              <a:t>Hagenbuchner</a:t>
            </a:r>
            <a:r>
              <a:rPr lang="en-US" altLang="zh-TW" dirty="0">
                <a:latin typeface="Times New Roman" panose="02020603050405020304" pitchFamily="18" charset="0"/>
                <a:cs typeface="Times New Roman" panose="02020603050405020304" pitchFamily="18" charset="0"/>
              </a:rPr>
              <a:t>, and</a:t>
            </a:r>
          </a:p>
          <a:p>
            <a:pPr fontAlgn="ctr"/>
            <a:r>
              <a:rPr lang="en-US" altLang="zh-TW" dirty="0">
                <a:latin typeface="Times New Roman" panose="02020603050405020304" pitchFamily="18" charset="0"/>
                <a:cs typeface="Times New Roman" panose="02020603050405020304" pitchFamily="18" charset="0"/>
              </a:rPr>
              <a:t>Gabriele </a:t>
            </a:r>
            <a:r>
              <a:rPr lang="en-US" altLang="zh-TW" dirty="0" err="1">
                <a:latin typeface="Times New Roman" panose="02020603050405020304" pitchFamily="18" charset="0"/>
                <a:cs typeface="Times New Roman" panose="02020603050405020304" pitchFamily="18" charset="0"/>
              </a:rPr>
              <a:t>Monfardini</a:t>
            </a:r>
            <a:endParaRPr lang="en-US" altLang="zh-TW" dirty="0">
              <a:latin typeface="Times New Roman" panose="02020603050405020304" pitchFamily="18" charset="0"/>
              <a:cs typeface="Times New Roman" panose="02020603050405020304" pitchFamily="18" charset="0"/>
            </a:endParaRPr>
          </a:p>
          <a:p>
            <a:pPr fontAlgn="ctr"/>
            <a:r>
              <a:rPr lang="en-US" altLang="zh-TW" dirty="0">
                <a:latin typeface="Times New Roman" panose="02020603050405020304" pitchFamily="18" charset="0"/>
                <a:cs typeface="Times New Roman" panose="02020603050405020304" pitchFamily="18" charset="0"/>
              </a:rPr>
              <a:t>IEEE Transactions on Neural Networks ( Volume: 20, Issue: 1, January 2009) </a:t>
            </a:r>
          </a:p>
        </p:txBody>
      </p:sp>
      <p:sp>
        <p:nvSpPr>
          <p:cNvPr id="4" name="副標題 2">
            <a:extLst>
              <a:ext uri="{FF2B5EF4-FFF2-40B4-BE49-F238E27FC236}">
                <a16:creationId xmlns:a16="http://schemas.microsoft.com/office/drawing/2014/main" id="{0F52706B-9798-8F45-B922-E99F0F5C4CA1}"/>
              </a:ext>
            </a:extLst>
          </p:cNvPr>
          <p:cNvSpPr txBox="1">
            <a:spLocks/>
          </p:cNvSpPr>
          <p:nvPr/>
        </p:nvSpPr>
        <p:spPr>
          <a:xfrm>
            <a:off x="8322197" y="6002973"/>
            <a:ext cx="3584053" cy="660717"/>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 altLang="zh-TW" dirty="0">
                <a:latin typeface="Times New Roman" panose="02020603050405020304" pitchFamily="18" charset="0"/>
                <a:cs typeface="Times New Roman" panose="02020603050405020304" pitchFamily="18" charset="0"/>
              </a:rPr>
              <a:t>Presenter: Y</a:t>
            </a:r>
            <a:r>
              <a:rPr kumimoji="1" lang="en-US" altLang="zh-TW" dirty="0" err="1">
                <a:latin typeface="Times New Roman" panose="02020603050405020304" pitchFamily="18" charset="0"/>
                <a:cs typeface="Times New Roman" panose="02020603050405020304" pitchFamily="18" charset="0"/>
              </a:rPr>
              <a:t>en</a:t>
            </a:r>
            <a:r>
              <a:rPr kumimoji="1" lang="en" altLang="zh-TW" dirty="0">
                <a:latin typeface="Times New Roman" panose="02020603050405020304" pitchFamily="18" charset="0"/>
                <a:cs typeface="Times New Roman" panose="02020603050405020304" pitchFamily="18" charset="0"/>
              </a:rPr>
              <a:t>-Yu </a:t>
            </a:r>
            <a:r>
              <a:rPr kumimoji="1" lang="en-US" altLang="zh-TW" dirty="0">
                <a:latin typeface="Times New Roman" panose="02020603050405020304" pitchFamily="18" charset="0"/>
                <a:cs typeface="Times New Roman" panose="02020603050405020304" pitchFamily="18" charset="0"/>
              </a:rPr>
              <a:t>Chen</a:t>
            </a:r>
            <a:endParaRPr kumimoji="1" lang="en" altLang="zh-TW" dirty="0">
              <a:latin typeface="Times New Roman" panose="02020603050405020304" pitchFamily="18" charset="0"/>
              <a:cs typeface="Times New Roman" panose="02020603050405020304" pitchFamily="18" charset="0"/>
            </a:endParaRPr>
          </a:p>
          <a:p>
            <a:r>
              <a:rPr kumimoji="1" lang="en" altLang="zh-TW" dirty="0">
                <a:latin typeface="Times New Roman" panose="02020603050405020304" pitchFamily="18" charset="0"/>
                <a:cs typeface="Times New Roman" panose="02020603050405020304" pitchFamily="18" charset="0"/>
              </a:rPr>
              <a:t>Date: </a:t>
            </a:r>
            <a:r>
              <a:rPr kumimoji="1" lang="en-US" altLang="zh-TW" dirty="0">
                <a:latin typeface="Times New Roman" panose="02020603050405020304" pitchFamily="18" charset="0"/>
                <a:cs typeface="Times New Roman" panose="02020603050405020304" pitchFamily="18" charset="0"/>
              </a:rPr>
              <a:t>Jan</a:t>
            </a:r>
            <a:r>
              <a:rPr kumimoji="1" lang="en" altLang="zh-TW" dirty="0">
                <a:latin typeface="Times New Roman" panose="02020603050405020304" pitchFamily="18" charset="0"/>
                <a:cs typeface="Times New Roman" panose="02020603050405020304" pitchFamily="18" charset="0"/>
              </a:rPr>
              <a:t>.</a:t>
            </a:r>
            <a:r>
              <a:rPr kumimoji="1" lang="en-US" altLang="zh-TW" dirty="0">
                <a:latin typeface="Times New Roman" panose="02020603050405020304" pitchFamily="18" charset="0"/>
                <a:cs typeface="Times New Roman" panose="02020603050405020304" pitchFamily="18" charset="0"/>
              </a:rPr>
              <a:t>15</a:t>
            </a:r>
            <a:r>
              <a:rPr kumimoji="1" lang="en" altLang="zh-TW" dirty="0">
                <a:latin typeface="Times New Roman" panose="02020603050405020304" pitchFamily="18" charset="0"/>
                <a:cs typeface="Times New Roman" panose="02020603050405020304" pitchFamily="18" charset="0"/>
              </a:rPr>
              <a:t>, 2024</a:t>
            </a:r>
          </a:p>
        </p:txBody>
      </p:sp>
      <p:sp>
        <p:nvSpPr>
          <p:cNvPr id="5" name="投影片編號版面配置區 4">
            <a:extLst>
              <a:ext uri="{FF2B5EF4-FFF2-40B4-BE49-F238E27FC236}">
                <a16:creationId xmlns:a16="http://schemas.microsoft.com/office/drawing/2014/main" id="{032B7474-514A-C100-3FE0-0743F8BBCD74}"/>
              </a:ext>
            </a:extLst>
          </p:cNvPr>
          <p:cNvSpPr>
            <a:spLocks noGrp="1"/>
          </p:cNvSpPr>
          <p:nvPr>
            <p:ph type="sldNum" sz="quarter" idx="12"/>
          </p:nvPr>
        </p:nvSpPr>
        <p:spPr/>
        <p:txBody>
          <a:bodyPr/>
          <a:lstStyle/>
          <a:p>
            <a:fld id="{EABF9873-7952-4BBF-BE6E-D6479BF557AE}" type="slidenum">
              <a:rPr lang="zh-TW" altLang="en-US" smtClean="0"/>
              <a:t>1</a:t>
            </a:fld>
            <a:endParaRPr lang="zh-TW" altLang="en-US" dirty="0"/>
          </a:p>
        </p:txBody>
      </p:sp>
    </p:spTree>
    <p:extLst>
      <p:ext uri="{BB962C8B-B14F-4D97-AF65-F5344CB8AC3E}">
        <p14:creationId xmlns:p14="http://schemas.microsoft.com/office/powerpoint/2010/main" val="827819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4C3FE5-9629-F44B-A553-021C82D579AA}"/>
              </a:ext>
            </a:extLst>
          </p:cNvPr>
          <p:cNvSpPr>
            <a:spLocks noGrp="1"/>
          </p:cNvSpPr>
          <p:nvPr>
            <p:ph type="title"/>
          </p:nvPr>
        </p:nvSpPr>
        <p:spPr/>
        <p:txBody>
          <a:bodyPr/>
          <a:lstStyle/>
          <a:p>
            <a:r>
              <a:rPr kumimoji="1" lang="en-US" altLang="zh-TW" b="1" dirty="0">
                <a:latin typeface="Times New Roman" panose="02020603050405020304" pitchFamily="18" charset="0"/>
                <a:cs typeface="Times New Roman" panose="02020603050405020304" pitchFamily="18" charset="0"/>
              </a:rPr>
              <a:t>Abstract </a:t>
            </a:r>
            <a:endParaRPr kumimoji="1" lang="zh-TW" altLang="en-US"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B07ADD39-1B71-A342-8554-691195C55742}"/>
                  </a:ext>
                </a:extLst>
              </p:cNvPr>
              <p:cNvSpPr>
                <a:spLocks noGrp="1"/>
              </p:cNvSpPr>
              <p:nvPr>
                <p:ph idx="1"/>
              </p:nvPr>
            </p:nvSpPr>
            <p:spPr>
              <a:xfrm>
                <a:off x="838200" y="1520456"/>
                <a:ext cx="10863804" cy="5103628"/>
              </a:xfrm>
            </p:spPr>
            <p:txBody>
              <a:bodyPr>
                <a:normAutofit fontScale="85000" lnSpcReduction="10000"/>
              </a:bodyPr>
              <a:lstStyle/>
              <a:p>
                <a:pPr marL="0" indent="0">
                  <a:lnSpc>
                    <a:spcPct val="120000"/>
                  </a:lnSpc>
                  <a:buNone/>
                </a:pPr>
                <a:r>
                  <a:rPr kumimoji="1" lang="en-US" altLang="zh-TW" dirty="0">
                    <a:latin typeface="Times New Roman" panose="02020603050405020304" pitchFamily="18" charset="0"/>
                    <a:cs typeface="Times New Roman" panose="02020603050405020304" pitchFamily="18" charset="0"/>
                  </a:rPr>
                  <a:t>Many underlying relationships among data in several areas of science and engineering, e.g., computer vision, molecular chemistry, molecular biology, pattern recognition, and data mining, can be represented in terms of graphs. In this paper, we propose a new neural network model, called graph neural network (GNN) model, that extends existing neural network methods for processing the data represented in graph domains. This GNN model, which can directly process most of the practically useful types of graphs, e.g., acyclic, cyclic, directed, and undirected, implements a function</a:t>
                </a:r>
                <a14:m>
                  <m:oMath xmlns:m="http://schemas.openxmlformats.org/officeDocument/2006/math">
                    <m:r>
                      <a:rPr kumimoji="1" lang="en-US" altLang="zh-TW" b="0" i="0" smtClean="0">
                        <a:latin typeface="Cambria Math" panose="02040503050406030204" pitchFamily="18" charset="0"/>
                        <a:cs typeface="Times New Roman" panose="02020603050405020304" pitchFamily="18" charset="0"/>
                      </a:rPr>
                      <m:t> </m:t>
                    </m:r>
                    <m:r>
                      <a:rPr kumimoji="1" lang="zh-TW" altLang="en-US" i="1" smtClean="0">
                        <a:latin typeface="Cambria Math" panose="02040503050406030204" pitchFamily="18" charset="0"/>
                        <a:cs typeface="Times New Roman" panose="02020603050405020304" pitchFamily="18" charset="0"/>
                      </a:rPr>
                      <m:t>𝜏</m:t>
                    </m:r>
                    <m:d>
                      <m:dPr>
                        <m:ctrlPr>
                          <a:rPr kumimoji="1" lang="en-US" altLang="zh-TW" i="1" smtClean="0">
                            <a:latin typeface="Cambria Math" panose="02040503050406030204" pitchFamily="18" charset="0"/>
                            <a:cs typeface="Times New Roman" panose="02020603050405020304" pitchFamily="18" charset="0"/>
                          </a:rPr>
                        </m:ctrlPr>
                      </m:dPr>
                      <m:e>
                        <m:r>
                          <a:rPr kumimoji="1" lang="en-US" altLang="zh-TW" b="0" i="1" smtClean="0">
                            <a:latin typeface="Cambria Math" panose="02040503050406030204" pitchFamily="18" charset="0"/>
                            <a:cs typeface="Times New Roman" panose="02020603050405020304" pitchFamily="18" charset="0"/>
                          </a:rPr>
                          <m:t>𝐺</m:t>
                        </m:r>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𝑛</m:t>
                        </m:r>
                      </m:e>
                    </m:d>
                    <m:r>
                      <a:rPr kumimoji="1"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kumimoji="1" lang="en-US" altLang="zh-TW" i="1" smtClean="0">
                            <a:latin typeface="Cambria Math" panose="02040503050406030204" pitchFamily="18" charset="0"/>
                            <a:ea typeface="Cambria Math" panose="02040503050406030204" pitchFamily="18" charset="0"/>
                            <a:cs typeface="Times New Roman" panose="02020603050405020304" pitchFamily="18" charset="0"/>
                          </a:rPr>
                        </m:ctrlPr>
                      </m:sSupPr>
                      <m:e>
                        <m:r>
                          <a:rPr kumimoji="1" lang="en-US" altLang="zh-TW" i="1" smtClean="0">
                            <a:latin typeface="Cambria Math" panose="02040503050406030204" pitchFamily="18" charset="0"/>
                            <a:ea typeface="Cambria Math" panose="02040503050406030204" pitchFamily="18" charset="0"/>
                            <a:cs typeface="Times New Roman" panose="02020603050405020304" pitchFamily="18" charset="0"/>
                          </a:rPr>
                          <m:t>ℝ</m:t>
                        </m:r>
                      </m:e>
                      <m:sup>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𝑚</m:t>
                        </m:r>
                      </m:sup>
                    </m:sSup>
                    <m:r>
                      <a:rPr kumimoji="1" lang="en-US" altLang="zh-TW" b="0" i="0" smtClean="0">
                        <a:latin typeface="Cambria Math" panose="02040503050406030204" pitchFamily="18" charset="0"/>
                        <a:ea typeface="Cambria Math" panose="02040503050406030204" pitchFamily="18" charset="0"/>
                        <a:cs typeface="Times New Roman" panose="02020603050405020304" pitchFamily="18" charset="0"/>
                      </a:rPr>
                      <m:t> </m:t>
                    </m:r>
                  </m:oMath>
                </a14:m>
                <a:r>
                  <a:rPr kumimoji="1" lang="en-US" altLang="zh-TW" dirty="0">
                    <a:latin typeface="Times New Roman" panose="02020603050405020304" pitchFamily="18" charset="0"/>
                    <a:cs typeface="Times New Roman" panose="02020603050405020304" pitchFamily="18" charset="0"/>
                  </a:rPr>
                  <a:t>that maps a graph G and one of its nodes n into an m-dimensional Euclidean space. A supervised learning algorithm is derived to estimate the parameters of the proposed GNN model. The computational cost of the proposed algorithm is also considered. Some experimental results are shown to validate the proposed learning algorithm, and to demonstrate its generalization capabilities.</a:t>
                </a:r>
              </a:p>
            </p:txBody>
          </p:sp>
        </mc:Choice>
        <mc:Fallback xmlns="">
          <p:sp>
            <p:nvSpPr>
              <p:cNvPr id="3" name="內容版面配置區 2">
                <a:extLst>
                  <a:ext uri="{FF2B5EF4-FFF2-40B4-BE49-F238E27FC236}">
                    <a16:creationId xmlns:a16="http://schemas.microsoft.com/office/drawing/2014/main" id="{B07ADD39-1B71-A342-8554-691195C55742}"/>
                  </a:ext>
                </a:extLst>
              </p:cNvPr>
              <p:cNvSpPr>
                <a:spLocks noGrp="1" noRot="1" noChangeAspect="1" noMove="1" noResize="1" noEditPoints="1" noAdjustHandles="1" noChangeArrowheads="1" noChangeShapeType="1" noTextEdit="1"/>
              </p:cNvSpPr>
              <p:nvPr>
                <p:ph idx="1"/>
              </p:nvPr>
            </p:nvSpPr>
            <p:spPr>
              <a:xfrm>
                <a:off x="838200" y="1520456"/>
                <a:ext cx="10863804" cy="5103628"/>
              </a:xfrm>
              <a:blipFill>
                <a:blip r:embed="rId3"/>
                <a:stretch>
                  <a:fillRect l="-898" t="-716" r="-1403"/>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FB393EE6-9AC4-F348-A300-5C4F6D5A38DA}"/>
              </a:ext>
            </a:extLst>
          </p:cNvPr>
          <p:cNvSpPr>
            <a:spLocks noGrp="1"/>
          </p:cNvSpPr>
          <p:nvPr>
            <p:ph type="sldNum" sz="quarter" idx="12"/>
          </p:nvPr>
        </p:nvSpPr>
        <p:spPr/>
        <p:txBody>
          <a:bodyPr/>
          <a:lstStyle/>
          <a:p>
            <a:fld id="{37D7E222-40AC-AD4D-BFFA-C06E99EC5475}" type="slidenum">
              <a:rPr kumimoji="1" lang="zh-TW" altLang="en-US" smtClean="0"/>
              <a:t>2</a:t>
            </a:fld>
            <a:endParaRPr kumimoji="1" lang="zh-TW" altLang="en-US"/>
          </a:p>
        </p:txBody>
      </p:sp>
    </p:spTree>
    <p:extLst>
      <p:ext uri="{BB962C8B-B14F-4D97-AF65-F5344CB8AC3E}">
        <p14:creationId xmlns:p14="http://schemas.microsoft.com/office/powerpoint/2010/main" val="58127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A Gentle Introduction to Graph Neural Networks</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E30A0DE3-B167-7323-C05F-84F174A77CD8}"/>
              </a:ext>
            </a:extLst>
          </p:cNvPr>
          <p:cNvSpPr>
            <a:spLocks noGrp="1"/>
          </p:cNvSpPr>
          <p:nvPr>
            <p:ph idx="1"/>
          </p:nvPr>
        </p:nvSpPr>
        <p:spPr/>
        <p:txBody>
          <a:bodyPr>
            <a:normAutofit/>
          </a:bodyPr>
          <a:lstStyle/>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Benjamin Sanchez-</a:t>
            </a:r>
            <a:r>
              <a:rPr lang="en-US" altLang="zh-TW" dirty="0" err="1">
                <a:latin typeface="Times New Roman" panose="02020603050405020304" pitchFamily="18" charset="0"/>
                <a:cs typeface="Times New Roman" panose="02020603050405020304" pitchFamily="18" charset="0"/>
              </a:rPr>
              <a:t>Lengeling</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Emily </a:t>
            </a:r>
            <a:r>
              <a:rPr lang="en-US" altLang="zh-TW" dirty="0" err="1">
                <a:latin typeface="Times New Roman" panose="02020603050405020304" pitchFamily="18" charset="0"/>
                <a:cs typeface="Times New Roman" panose="02020603050405020304" pitchFamily="18" charset="0"/>
              </a:rPr>
              <a:t>Reif</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Adam Pearce</a:t>
            </a:r>
          </a:p>
          <a:p>
            <a:r>
              <a:rPr lang="en-US" altLang="zh-TW" dirty="0">
                <a:latin typeface="Times New Roman" panose="02020603050405020304" pitchFamily="18" charset="0"/>
                <a:cs typeface="Times New Roman" panose="02020603050405020304" pitchFamily="18" charset="0"/>
              </a:rPr>
              <a:t>Alexander B. </a:t>
            </a:r>
            <a:r>
              <a:rPr lang="en-US" altLang="zh-TW" dirty="0" err="1">
                <a:latin typeface="Times New Roman" panose="02020603050405020304" pitchFamily="18" charset="0"/>
                <a:cs typeface="Times New Roman" panose="02020603050405020304" pitchFamily="18" charset="0"/>
              </a:rPr>
              <a:t>Wiltschko</a:t>
            </a:r>
            <a:endParaRPr lang="en-US" altLang="zh-TW" dirty="0">
              <a:latin typeface="Times New Roman" panose="02020603050405020304" pitchFamily="18" charset="0"/>
              <a:cs typeface="Times New Roman" panose="02020603050405020304" pitchFamily="18" charset="0"/>
            </a:endParaRPr>
          </a:p>
          <a:p>
            <a:endParaRPr lang="zh-TW" altLang="en-US" dirty="0"/>
          </a:p>
        </p:txBody>
      </p:sp>
      <p:sp>
        <p:nvSpPr>
          <p:cNvPr id="4" name="投影片編號版面配置區 3">
            <a:extLst>
              <a:ext uri="{FF2B5EF4-FFF2-40B4-BE49-F238E27FC236}">
                <a16:creationId xmlns:a16="http://schemas.microsoft.com/office/drawing/2014/main" id="{7A9533C1-F3AC-0946-A63D-E00E1DD254BF}"/>
              </a:ext>
            </a:extLst>
          </p:cNvPr>
          <p:cNvSpPr>
            <a:spLocks noGrp="1"/>
          </p:cNvSpPr>
          <p:nvPr>
            <p:ph type="sldNum" sz="quarter" idx="12"/>
          </p:nvPr>
        </p:nvSpPr>
        <p:spPr/>
        <p:txBody>
          <a:bodyPr/>
          <a:lstStyle/>
          <a:p>
            <a:fld id="{EABF9873-7952-4BBF-BE6E-D6479BF557AE}" type="slidenum">
              <a:rPr lang="zh-TW" altLang="en-US" smtClean="0"/>
              <a:t>3</a:t>
            </a:fld>
            <a:endParaRPr lang="zh-TW" altLang="en-US"/>
          </a:p>
        </p:txBody>
      </p:sp>
    </p:spTree>
    <p:extLst>
      <p:ext uri="{BB962C8B-B14F-4D97-AF65-F5344CB8AC3E}">
        <p14:creationId xmlns:p14="http://schemas.microsoft.com/office/powerpoint/2010/main" val="2094941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What is Graph</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E30A0DE3-B167-7323-C05F-84F174A77CD8}"/>
              </a:ext>
            </a:extLst>
          </p:cNvPr>
          <p:cNvSpPr>
            <a:spLocks noGrp="1"/>
          </p:cNvSpPr>
          <p:nvPr>
            <p:ph idx="1"/>
          </p:nvPr>
        </p:nvSpPr>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A graph represents the relations (edges) between a collection of entities (nodes).</a:t>
            </a:r>
            <a:endParaRPr lang="zh-TW" altLang="en-US" dirty="0"/>
          </a:p>
        </p:txBody>
      </p:sp>
      <p:sp>
        <p:nvSpPr>
          <p:cNvPr id="4" name="投影片編號版面配置區 3">
            <a:extLst>
              <a:ext uri="{FF2B5EF4-FFF2-40B4-BE49-F238E27FC236}">
                <a16:creationId xmlns:a16="http://schemas.microsoft.com/office/drawing/2014/main" id="{A5822A20-923B-6586-A7BE-8CB5A3AE3EDB}"/>
              </a:ext>
            </a:extLst>
          </p:cNvPr>
          <p:cNvSpPr>
            <a:spLocks noGrp="1"/>
          </p:cNvSpPr>
          <p:nvPr>
            <p:ph type="sldNum" sz="quarter" idx="12"/>
          </p:nvPr>
        </p:nvSpPr>
        <p:spPr/>
        <p:txBody>
          <a:bodyPr/>
          <a:lstStyle/>
          <a:p>
            <a:fld id="{EABF9873-7952-4BBF-BE6E-D6479BF557AE}" type="slidenum">
              <a:rPr lang="zh-TW" altLang="en-US" smtClean="0"/>
              <a:t>4</a:t>
            </a:fld>
            <a:endParaRPr lang="zh-TW" altLang="en-US"/>
          </a:p>
        </p:txBody>
      </p:sp>
    </p:spTree>
    <p:extLst>
      <p:ext uri="{BB962C8B-B14F-4D97-AF65-F5344CB8AC3E}">
        <p14:creationId xmlns:p14="http://schemas.microsoft.com/office/powerpoint/2010/main" val="574983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Vertex Attributes</a:t>
            </a:r>
          </a:p>
        </p:txBody>
      </p:sp>
      <p:sp>
        <p:nvSpPr>
          <p:cNvPr id="7" name="內容版面配置區 6">
            <a:extLst>
              <a:ext uri="{FF2B5EF4-FFF2-40B4-BE49-F238E27FC236}">
                <a16:creationId xmlns:a16="http://schemas.microsoft.com/office/drawing/2014/main" id="{4E9D77CA-4519-DC56-0866-1DC28EC2696C}"/>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Node identity</a:t>
            </a:r>
          </a:p>
          <a:p>
            <a:r>
              <a:rPr lang="en-US" altLang="zh-TW" dirty="0">
                <a:latin typeface="Times New Roman" panose="02020603050405020304" pitchFamily="18" charset="0"/>
                <a:cs typeface="Times New Roman" panose="02020603050405020304" pitchFamily="18" charset="0"/>
              </a:rPr>
              <a:t>Number of neighbors</a:t>
            </a:r>
            <a:endParaRPr lang="zh-TW" altLang="en-US" dirty="0">
              <a:latin typeface="Times New Roman" panose="02020603050405020304" pitchFamily="18" charset="0"/>
              <a:cs typeface="Times New Roman" panose="02020603050405020304" pitchFamily="18" charset="0"/>
            </a:endParaRPr>
          </a:p>
        </p:txBody>
      </p:sp>
      <p:pic>
        <p:nvPicPr>
          <p:cNvPr id="11" name="圖片 10">
            <a:extLst>
              <a:ext uri="{FF2B5EF4-FFF2-40B4-BE49-F238E27FC236}">
                <a16:creationId xmlns:a16="http://schemas.microsoft.com/office/drawing/2014/main" id="{6CF1E319-FC2C-D184-DED8-10E3BC37B036}"/>
              </a:ext>
            </a:extLst>
          </p:cNvPr>
          <p:cNvPicPr>
            <a:picLocks noChangeAspect="1"/>
          </p:cNvPicPr>
          <p:nvPr/>
        </p:nvPicPr>
        <p:blipFill>
          <a:blip r:embed="rId2"/>
          <a:stretch>
            <a:fillRect/>
          </a:stretch>
        </p:blipFill>
        <p:spPr>
          <a:xfrm>
            <a:off x="6096000" y="1690688"/>
            <a:ext cx="4346364" cy="4167458"/>
          </a:xfrm>
          <a:prstGeom prst="rect">
            <a:avLst/>
          </a:prstGeom>
        </p:spPr>
      </p:pic>
      <p:sp>
        <p:nvSpPr>
          <p:cNvPr id="3" name="投影片編號版面配置區 2">
            <a:extLst>
              <a:ext uri="{FF2B5EF4-FFF2-40B4-BE49-F238E27FC236}">
                <a16:creationId xmlns:a16="http://schemas.microsoft.com/office/drawing/2014/main" id="{04DB255D-B372-F566-7CC7-EB1E30C8D6DD}"/>
              </a:ext>
            </a:extLst>
          </p:cNvPr>
          <p:cNvSpPr>
            <a:spLocks noGrp="1"/>
          </p:cNvSpPr>
          <p:nvPr>
            <p:ph type="sldNum" sz="quarter" idx="12"/>
          </p:nvPr>
        </p:nvSpPr>
        <p:spPr/>
        <p:txBody>
          <a:bodyPr/>
          <a:lstStyle/>
          <a:p>
            <a:fld id="{EABF9873-7952-4BBF-BE6E-D6479BF557AE}" type="slidenum">
              <a:rPr lang="zh-TW" altLang="en-US" smtClean="0"/>
              <a:t>5</a:t>
            </a:fld>
            <a:endParaRPr lang="zh-TW" altLang="en-US"/>
          </a:p>
        </p:txBody>
      </p:sp>
    </p:spTree>
    <p:extLst>
      <p:ext uri="{BB962C8B-B14F-4D97-AF65-F5344CB8AC3E}">
        <p14:creationId xmlns:p14="http://schemas.microsoft.com/office/powerpoint/2010/main" val="3236215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Edge Attributes and Directions</a:t>
            </a:r>
          </a:p>
        </p:txBody>
      </p:sp>
      <p:sp>
        <p:nvSpPr>
          <p:cNvPr id="7" name="內容版面配置區 6">
            <a:extLst>
              <a:ext uri="{FF2B5EF4-FFF2-40B4-BE49-F238E27FC236}">
                <a16:creationId xmlns:a16="http://schemas.microsoft.com/office/drawing/2014/main" id="{4E9D77CA-4519-DC56-0866-1DC28EC2696C}"/>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Edge identity</a:t>
            </a:r>
          </a:p>
          <a:p>
            <a:r>
              <a:rPr lang="en-US" altLang="zh-TW" dirty="0">
                <a:latin typeface="Times New Roman" panose="02020603050405020304" pitchFamily="18" charset="0"/>
                <a:cs typeface="Times New Roman" panose="02020603050405020304" pitchFamily="18" charset="0"/>
              </a:rPr>
              <a:t>Edge weight</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6D7E22C-37CA-C4C0-63F8-C56CEB32E6F3}"/>
              </a:ext>
            </a:extLst>
          </p:cNvPr>
          <p:cNvPicPr>
            <a:picLocks noChangeAspect="1"/>
          </p:cNvPicPr>
          <p:nvPr/>
        </p:nvPicPr>
        <p:blipFill>
          <a:blip r:embed="rId2"/>
          <a:stretch>
            <a:fillRect/>
          </a:stretch>
        </p:blipFill>
        <p:spPr>
          <a:xfrm>
            <a:off x="6096000" y="1825625"/>
            <a:ext cx="4215347" cy="4028919"/>
          </a:xfrm>
          <a:prstGeom prst="rect">
            <a:avLst/>
          </a:prstGeom>
        </p:spPr>
      </p:pic>
      <p:sp>
        <p:nvSpPr>
          <p:cNvPr id="3" name="投影片編號版面配置區 2">
            <a:extLst>
              <a:ext uri="{FF2B5EF4-FFF2-40B4-BE49-F238E27FC236}">
                <a16:creationId xmlns:a16="http://schemas.microsoft.com/office/drawing/2014/main" id="{D0985FAA-7EFB-5733-8DF3-0EA1A6D58898}"/>
              </a:ext>
            </a:extLst>
          </p:cNvPr>
          <p:cNvSpPr>
            <a:spLocks noGrp="1"/>
          </p:cNvSpPr>
          <p:nvPr>
            <p:ph type="sldNum" sz="quarter" idx="12"/>
          </p:nvPr>
        </p:nvSpPr>
        <p:spPr/>
        <p:txBody>
          <a:bodyPr/>
          <a:lstStyle/>
          <a:p>
            <a:fld id="{EABF9873-7952-4BBF-BE6E-D6479BF557AE}" type="slidenum">
              <a:rPr lang="zh-TW" altLang="en-US" smtClean="0"/>
              <a:t>6</a:t>
            </a:fld>
            <a:endParaRPr lang="zh-TW" altLang="en-US"/>
          </a:p>
        </p:txBody>
      </p:sp>
    </p:spTree>
    <p:extLst>
      <p:ext uri="{BB962C8B-B14F-4D97-AF65-F5344CB8AC3E}">
        <p14:creationId xmlns:p14="http://schemas.microsoft.com/office/powerpoint/2010/main" val="3809035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Global Attributes</a:t>
            </a:r>
          </a:p>
        </p:txBody>
      </p:sp>
      <p:sp>
        <p:nvSpPr>
          <p:cNvPr id="7" name="內容版面配置區 6">
            <a:extLst>
              <a:ext uri="{FF2B5EF4-FFF2-40B4-BE49-F238E27FC236}">
                <a16:creationId xmlns:a16="http://schemas.microsoft.com/office/drawing/2014/main" id="{4E9D77CA-4519-DC56-0866-1DC28EC2696C}"/>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Number of identity</a:t>
            </a:r>
          </a:p>
          <a:p>
            <a:r>
              <a:rPr lang="en-US" altLang="zh-TW" dirty="0">
                <a:latin typeface="Times New Roman" panose="02020603050405020304" pitchFamily="18" charset="0"/>
                <a:cs typeface="Times New Roman" panose="02020603050405020304" pitchFamily="18" charset="0"/>
              </a:rPr>
              <a:t>Longest path</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ED70D8E0-D8F8-18FA-5F86-5A61182A8500}"/>
              </a:ext>
            </a:extLst>
          </p:cNvPr>
          <p:cNvPicPr>
            <a:picLocks noChangeAspect="1"/>
          </p:cNvPicPr>
          <p:nvPr/>
        </p:nvPicPr>
        <p:blipFill>
          <a:blip r:embed="rId2"/>
          <a:stretch>
            <a:fillRect/>
          </a:stretch>
        </p:blipFill>
        <p:spPr>
          <a:xfrm>
            <a:off x="6096000" y="1690688"/>
            <a:ext cx="3918459" cy="3795712"/>
          </a:xfrm>
          <a:prstGeom prst="rect">
            <a:avLst/>
          </a:prstGeom>
        </p:spPr>
      </p:pic>
      <p:sp>
        <p:nvSpPr>
          <p:cNvPr id="3" name="投影片編號版面配置區 2">
            <a:extLst>
              <a:ext uri="{FF2B5EF4-FFF2-40B4-BE49-F238E27FC236}">
                <a16:creationId xmlns:a16="http://schemas.microsoft.com/office/drawing/2014/main" id="{EFC3561D-660A-39A2-8672-3679053BB57C}"/>
              </a:ext>
            </a:extLst>
          </p:cNvPr>
          <p:cNvSpPr>
            <a:spLocks noGrp="1"/>
          </p:cNvSpPr>
          <p:nvPr>
            <p:ph type="sldNum" sz="quarter" idx="12"/>
          </p:nvPr>
        </p:nvSpPr>
        <p:spPr/>
        <p:txBody>
          <a:bodyPr/>
          <a:lstStyle/>
          <a:p>
            <a:fld id="{EABF9873-7952-4BBF-BE6E-D6479BF557AE}" type="slidenum">
              <a:rPr lang="zh-TW" altLang="en-US" smtClean="0"/>
              <a:t>7</a:t>
            </a:fld>
            <a:endParaRPr lang="zh-TW" altLang="en-US"/>
          </a:p>
        </p:txBody>
      </p:sp>
    </p:spTree>
    <p:extLst>
      <p:ext uri="{BB962C8B-B14F-4D97-AF65-F5344CB8AC3E}">
        <p14:creationId xmlns:p14="http://schemas.microsoft.com/office/powerpoint/2010/main" val="4205423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Store Information</a:t>
            </a:r>
          </a:p>
        </p:txBody>
      </p:sp>
      <p:pic>
        <p:nvPicPr>
          <p:cNvPr id="14" name="內容版面配置區 13">
            <a:extLst>
              <a:ext uri="{FF2B5EF4-FFF2-40B4-BE49-F238E27FC236}">
                <a16:creationId xmlns:a16="http://schemas.microsoft.com/office/drawing/2014/main" id="{A961050C-D9F4-CE88-3572-813CAA35A422}"/>
              </a:ext>
            </a:extLst>
          </p:cNvPr>
          <p:cNvPicPr>
            <a:picLocks noGrp="1" noChangeAspect="1"/>
          </p:cNvPicPr>
          <p:nvPr>
            <p:ph idx="1"/>
          </p:nvPr>
        </p:nvPicPr>
        <p:blipFill>
          <a:blip r:embed="rId2"/>
          <a:stretch>
            <a:fillRect/>
          </a:stretch>
        </p:blipFill>
        <p:spPr>
          <a:xfrm>
            <a:off x="2327583" y="2400955"/>
            <a:ext cx="7536833" cy="3200677"/>
          </a:xfrm>
        </p:spPr>
      </p:pic>
      <p:sp>
        <p:nvSpPr>
          <p:cNvPr id="3" name="投影片編號版面配置區 2">
            <a:extLst>
              <a:ext uri="{FF2B5EF4-FFF2-40B4-BE49-F238E27FC236}">
                <a16:creationId xmlns:a16="http://schemas.microsoft.com/office/drawing/2014/main" id="{BDB6E05A-6E53-53B9-4EC9-5202F520E75D}"/>
              </a:ext>
            </a:extLst>
          </p:cNvPr>
          <p:cNvSpPr>
            <a:spLocks noGrp="1"/>
          </p:cNvSpPr>
          <p:nvPr>
            <p:ph type="sldNum" sz="quarter" idx="12"/>
          </p:nvPr>
        </p:nvSpPr>
        <p:spPr/>
        <p:txBody>
          <a:bodyPr/>
          <a:lstStyle/>
          <a:p>
            <a:fld id="{EABF9873-7952-4BBF-BE6E-D6479BF557AE}" type="slidenum">
              <a:rPr lang="zh-TW" altLang="en-US" smtClean="0"/>
              <a:t>8</a:t>
            </a:fld>
            <a:endParaRPr lang="zh-TW" altLang="en-US"/>
          </a:p>
        </p:txBody>
      </p:sp>
    </p:spTree>
    <p:extLst>
      <p:ext uri="{BB962C8B-B14F-4D97-AF65-F5344CB8AC3E}">
        <p14:creationId xmlns:p14="http://schemas.microsoft.com/office/powerpoint/2010/main" val="1672442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Store Information</a:t>
            </a:r>
          </a:p>
        </p:txBody>
      </p:sp>
      <p:pic>
        <p:nvPicPr>
          <p:cNvPr id="21" name="內容版面配置區 20">
            <a:extLst>
              <a:ext uri="{FF2B5EF4-FFF2-40B4-BE49-F238E27FC236}">
                <a16:creationId xmlns:a16="http://schemas.microsoft.com/office/drawing/2014/main" id="{93BB9E06-71C0-EF1E-EBE8-7B41E8CF78EE}"/>
              </a:ext>
            </a:extLst>
          </p:cNvPr>
          <p:cNvPicPr>
            <a:picLocks noGrp="1" noChangeAspect="1"/>
          </p:cNvPicPr>
          <p:nvPr>
            <p:ph idx="1"/>
          </p:nvPr>
        </p:nvPicPr>
        <p:blipFill>
          <a:blip r:embed="rId2"/>
          <a:stretch>
            <a:fillRect/>
          </a:stretch>
        </p:blipFill>
        <p:spPr>
          <a:xfrm>
            <a:off x="2342825" y="2458110"/>
            <a:ext cx="7506350" cy="3086367"/>
          </a:xfrm>
        </p:spPr>
      </p:pic>
      <p:sp>
        <p:nvSpPr>
          <p:cNvPr id="3" name="投影片編號版面配置區 2">
            <a:extLst>
              <a:ext uri="{FF2B5EF4-FFF2-40B4-BE49-F238E27FC236}">
                <a16:creationId xmlns:a16="http://schemas.microsoft.com/office/drawing/2014/main" id="{20A29E99-D56F-B742-5A8D-B09AA6992612}"/>
              </a:ext>
            </a:extLst>
          </p:cNvPr>
          <p:cNvSpPr>
            <a:spLocks noGrp="1"/>
          </p:cNvSpPr>
          <p:nvPr>
            <p:ph type="sldNum" sz="quarter" idx="12"/>
          </p:nvPr>
        </p:nvSpPr>
        <p:spPr/>
        <p:txBody>
          <a:bodyPr/>
          <a:lstStyle/>
          <a:p>
            <a:fld id="{EABF9873-7952-4BBF-BE6E-D6479BF557AE}" type="slidenum">
              <a:rPr lang="zh-TW" altLang="en-US" smtClean="0"/>
              <a:t>9</a:t>
            </a:fld>
            <a:endParaRPr lang="zh-TW" altLang="en-US"/>
          </a:p>
        </p:txBody>
      </p:sp>
    </p:spTree>
    <p:extLst>
      <p:ext uri="{BB962C8B-B14F-4D97-AF65-F5344CB8AC3E}">
        <p14:creationId xmlns:p14="http://schemas.microsoft.com/office/powerpoint/2010/main" val="3575693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Store Information</a:t>
            </a:r>
          </a:p>
        </p:txBody>
      </p:sp>
      <p:pic>
        <p:nvPicPr>
          <p:cNvPr id="6" name="內容版面配置區 5">
            <a:extLst>
              <a:ext uri="{FF2B5EF4-FFF2-40B4-BE49-F238E27FC236}">
                <a16:creationId xmlns:a16="http://schemas.microsoft.com/office/drawing/2014/main" id="{2AD37534-F3CF-EAF6-24D7-DCB5AB3C40CB}"/>
              </a:ext>
            </a:extLst>
          </p:cNvPr>
          <p:cNvPicPr>
            <a:picLocks noGrp="1" noChangeAspect="1"/>
          </p:cNvPicPr>
          <p:nvPr>
            <p:ph idx="1"/>
          </p:nvPr>
        </p:nvPicPr>
        <p:blipFill>
          <a:blip r:embed="rId2"/>
          <a:stretch>
            <a:fillRect/>
          </a:stretch>
        </p:blipFill>
        <p:spPr>
          <a:xfrm>
            <a:off x="3554510" y="3444986"/>
            <a:ext cx="5082980" cy="1112616"/>
          </a:xfrm>
        </p:spPr>
      </p:pic>
      <p:sp>
        <p:nvSpPr>
          <p:cNvPr id="3" name="投影片編號版面配置區 2">
            <a:extLst>
              <a:ext uri="{FF2B5EF4-FFF2-40B4-BE49-F238E27FC236}">
                <a16:creationId xmlns:a16="http://schemas.microsoft.com/office/drawing/2014/main" id="{A6BB1DD9-31DC-4C02-E00C-E9FF380E53C7}"/>
              </a:ext>
            </a:extLst>
          </p:cNvPr>
          <p:cNvSpPr>
            <a:spLocks noGrp="1"/>
          </p:cNvSpPr>
          <p:nvPr>
            <p:ph type="sldNum" sz="quarter" idx="12"/>
          </p:nvPr>
        </p:nvSpPr>
        <p:spPr/>
        <p:txBody>
          <a:bodyPr/>
          <a:lstStyle/>
          <a:p>
            <a:fld id="{EABF9873-7952-4BBF-BE6E-D6479BF557AE}" type="slidenum">
              <a:rPr lang="zh-TW" altLang="en-US" smtClean="0"/>
              <a:t>10</a:t>
            </a:fld>
            <a:endParaRPr lang="zh-TW" altLang="en-US"/>
          </a:p>
        </p:txBody>
      </p:sp>
    </p:spTree>
    <p:extLst>
      <p:ext uri="{BB962C8B-B14F-4D97-AF65-F5344CB8AC3E}">
        <p14:creationId xmlns:p14="http://schemas.microsoft.com/office/powerpoint/2010/main" val="1851996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Images as Graphs</a:t>
            </a:r>
          </a:p>
        </p:txBody>
      </p:sp>
      <p:pic>
        <p:nvPicPr>
          <p:cNvPr id="7" name="內容版面配置區 6">
            <a:extLst>
              <a:ext uri="{FF2B5EF4-FFF2-40B4-BE49-F238E27FC236}">
                <a16:creationId xmlns:a16="http://schemas.microsoft.com/office/drawing/2014/main" id="{5C284BF1-BF50-BFDD-D875-E9EA668216BF}"/>
              </a:ext>
            </a:extLst>
          </p:cNvPr>
          <p:cNvPicPr>
            <a:picLocks noGrp="1" noChangeAspect="1"/>
          </p:cNvPicPr>
          <p:nvPr>
            <p:ph idx="1"/>
          </p:nvPr>
        </p:nvPicPr>
        <p:blipFill>
          <a:blip r:embed="rId2"/>
          <a:stretch>
            <a:fillRect/>
          </a:stretch>
        </p:blipFill>
        <p:spPr>
          <a:xfrm>
            <a:off x="43273" y="1933450"/>
            <a:ext cx="12105453" cy="4172382"/>
          </a:xfrm>
        </p:spPr>
      </p:pic>
      <p:sp>
        <p:nvSpPr>
          <p:cNvPr id="3" name="投影片編號版面配置區 2">
            <a:extLst>
              <a:ext uri="{FF2B5EF4-FFF2-40B4-BE49-F238E27FC236}">
                <a16:creationId xmlns:a16="http://schemas.microsoft.com/office/drawing/2014/main" id="{CADA64DE-6635-7177-984F-9A3E75E2FE5C}"/>
              </a:ext>
            </a:extLst>
          </p:cNvPr>
          <p:cNvSpPr>
            <a:spLocks noGrp="1"/>
          </p:cNvSpPr>
          <p:nvPr>
            <p:ph type="sldNum" sz="quarter" idx="12"/>
          </p:nvPr>
        </p:nvSpPr>
        <p:spPr/>
        <p:txBody>
          <a:bodyPr/>
          <a:lstStyle/>
          <a:p>
            <a:fld id="{EABF9873-7952-4BBF-BE6E-D6479BF557AE}" type="slidenum">
              <a:rPr lang="zh-TW" altLang="en-US" smtClean="0"/>
              <a:t>11</a:t>
            </a:fld>
            <a:endParaRPr lang="zh-TW" altLang="en-US"/>
          </a:p>
        </p:txBody>
      </p:sp>
    </p:spTree>
    <p:extLst>
      <p:ext uri="{BB962C8B-B14F-4D97-AF65-F5344CB8AC3E}">
        <p14:creationId xmlns:p14="http://schemas.microsoft.com/office/powerpoint/2010/main" val="3362387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Text as Graphs</a:t>
            </a:r>
          </a:p>
        </p:txBody>
      </p:sp>
      <p:pic>
        <p:nvPicPr>
          <p:cNvPr id="7" name="內容版面配置區 6">
            <a:extLst>
              <a:ext uri="{FF2B5EF4-FFF2-40B4-BE49-F238E27FC236}">
                <a16:creationId xmlns:a16="http://schemas.microsoft.com/office/drawing/2014/main" id="{F713DF14-F9F8-695A-92D9-EC511BB221C7}"/>
              </a:ext>
            </a:extLst>
          </p:cNvPr>
          <p:cNvPicPr>
            <a:picLocks noGrp="1" noChangeAspect="1"/>
          </p:cNvPicPr>
          <p:nvPr>
            <p:ph idx="1"/>
          </p:nvPr>
        </p:nvPicPr>
        <p:blipFill>
          <a:blip r:embed="rId2"/>
          <a:stretch>
            <a:fillRect/>
          </a:stretch>
        </p:blipFill>
        <p:spPr>
          <a:xfrm>
            <a:off x="1541224" y="2198343"/>
            <a:ext cx="9109552" cy="3661683"/>
          </a:xfrm>
        </p:spPr>
      </p:pic>
      <p:sp>
        <p:nvSpPr>
          <p:cNvPr id="3" name="投影片編號版面配置區 2">
            <a:extLst>
              <a:ext uri="{FF2B5EF4-FFF2-40B4-BE49-F238E27FC236}">
                <a16:creationId xmlns:a16="http://schemas.microsoft.com/office/drawing/2014/main" id="{AE24147F-097B-B3D0-FB5D-2AA83F4F36E0}"/>
              </a:ext>
            </a:extLst>
          </p:cNvPr>
          <p:cNvSpPr>
            <a:spLocks noGrp="1"/>
          </p:cNvSpPr>
          <p:nvPr>
            <p:ph type="sldNum" sz="quarter" idx="12"/>
          </p:nvPr>
        </p:nvSpPr>
        <p:spPr/>
        <p:txBody>
          <a:bodyPr/>
          <a:lstStyle/>
          <a:p>
            <a:fld id="{EABF9873-7952-4BBF-BE6E-D6479BF557AE}" type="slidenum">
              <a:rPr lang="zh-TW" altLang="en-US" smtClean="0"/>
              <a:t>12</a:t>
            </a:fld>
            <a:endParaRPr lang="zh-TW" altLang="en-US"/>
          </a:p>
        </p:txBody>
      </p:sp>
    </p:spTree>
    <p:extLst>
      <p:ext uri="{BB962C8B-B14F-4D97-AF65-F5344CB8AC3E}">
        <p14:creationId xmlns:p14="http://schemas.microsoft.com/office/powerpoint/2010/main" val="2806778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Molecules as Graphs</a:t>
            </a:r>
          </a:p>
        </p:txBody>
      </p:sp>
      <p:pic>
        <p:nvPicPr>
          <p:cNvPr id="6" name="內容版面配置區 5">
            <a:extLst>
              <a:ext uri="{FF2B5EF4-FFF2-40B4-BE49-F238E27FC236}">
                <a16:creationId xmlns:a16="http://schemas.microsoft.com/office/drawing/2014/main" id="{CE249ECC-A33C-464A-66AC-B012D1F64A78}"/>
              </a:ext>
            </a:extLst>
          </p:cNvPr>
          <p:cNvPicPr>
            <a:picLocks noGrp="1" noChangeAspect="1"/>
          </p:cNvPicPr>
          <p:nvPr>
            <p:ph idx="1"/>
          </p:nvPr>
        </p:nvPicPr>
        <p:blipFill>
          <a:blip r:embed="rId2"/>
          <a:stretch>
            <a:fillRect/>
          </a:stretch>
        </p:blipFill>
        <p:spPr>
          <a:xfrm>
            <a:off x="838199" y="1820678"/>
            <a:ext cx="4608871" cy="4498036"/>
          </a:xfrm>
        </p:spPr>
      </p:pic>
      <p:pic>
        <p:nvPicPr>
          <p:cNvPr id="9" name="圖片 8">
            <a:extLst>
              <a:ext uri="{FF2B5EF4-FFF2-40B4-BE49-F238E27FC236}">
                <a16:creationId xmlns:a16="http://schemas.microsoft.com/office/drawing/2014/main" id="{CB09DBB1-43B2-0449-E521-6DF7DF78E4D2}"/>
              </a:ext>
            </a:extLst>
          </p:cNvPr>
          <p:cNvPicPr>
            <a:picLocks noChangeAspect="1"/>
          </p:cNvPicPr>
          <p:nvPr/>
        </p:nvPicPr>
        <p:blipFill>
          <a:blip r:embed="rId3"/>
          <a:stretch>
            <a:fillRect/>
          </a:stretch>
        </p:blipFill>
        <p:spPr>
          <a:xfrm>
            <a:off x="6744932" y="237659"/>
            <a:ext cx="4256218" cy="3829473"/>
          </a:xfrm>
          <a:prstGeom prst="rect">
            <a:avLst/>
          </a:prstGeom>
        </p:spPr>
      </p:pic>
      <p:pic>
        <p:nvPicPr>
          <p:cNvPr id="11" name="圖片 10">
            <a:extLst>
              <a:ext uri="{FF2B5EF4-FFF2-40B4-BE49-F238E27FC236}">
                <a16:creationId xmlns:a16="http://schemas.microsoft.com/office/drawing/2014/main" id="{300898A5-B2A7-9B19-9271-030295183327}"/>
              </a:ext>
            </a:extLst>
          </p:cNvPr>
          <p:cNvPicPr>
            <a:picLocks noChangeAspect="1"/>
          </p:cNvPicPr>
          <p:nvPr/>
        </p:nvPicPr>
        <p:blipFill>
          <a:blip r:embed="rId4"/>
          <a:stretch>
            <a:fillRect/>
          </a:stretch>
        </p:blipFill>
        <p:spPr>
          <a:xfrm>
            <a:off x="6897842" y="4041007"/>
            <a:ext cx="3950398" cy="2277707"/>
          </a:xfrm>
          <a:prstGeom prst="rect">
            <a:avLst/>
          </a:prstGeom>
        </p:spPr>
      </p:pic>
      <p:sp>
        <p:nvSpPr>
          <p:cNvPr id="3" name="投影片編號版面配置區 2">
            <a:extLst>
              <a:ext uri="{FF2B5EF4-FFF2-40B4-BE49-F238E27FC236}">
                <a16:creationId xmlns:a16="http://schemas.microsoft.com/office/drawing/2014/main" id="{51916E56-F601-A47F-9605-D5BFB381BD21}"/>
              </a:ext>
            </a:extLst>
          </p:cNvPr>
          <p:cNvSpPr>
            <a:spLocks noGrp="1"/>
          </p:cNvSpPr>
          <p:nvPr>
            <p:ph type="sldNum" sz="quarter" idx="12"/>
          </p:nvPr>
        </p:nvSpPr>
        <p:spPr/>
        <p:txBody>
          <a:bodyPr/>
          <a:lstStyle/>
          <a:p>
            <a:fld id="{EABF9873-7952-4BBF-BE6E-D6479BF557AE}" type="slidenum">
              <a:rPr lang="zh-TW" altLang="en-US" smtClean="0"/>
              <a:t>13</a:t>
            </a:fld>
            <a:endParaRPr lang="zh-TW" altLang="en-US"/>
          </a:p>
        </p:txBody>
      </p:sp>
    </p:spTree>
    <p:extLst>
      <p:ext uri="{BB962C8B-B14F-4D97-AF65-F5344CB8AC3E}">
        <p14:creationId xmlns:p14="http://schemas.microsoft.com/office/powerpoint/2010/main" val="2014649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Molecules as Graphs</a:t>
            </a:r>
          </a:p>
        </p:txBody>
      </p:sp>
      <p:pic>
        <p:nvPicPr>
          <p:cNvPr id="7" name="內容版面配置區 6">
            <a:extLst>
              <a:ext uri="{FF2B5EF4-FFF2-40B4-BE49-F238E27FC236}">
                <a16:creationId xmlns:a16="http://schemas.microsoft.com/office/drawing/2014/main" id="{95710ABC-A29F-E94C-9D34-DA49C296A4D5}"/>
              </a:ext>
            </a:extLst>
          </p:cNvPr>
          <p:cNvPicPr>
            <a:picLocks noGrp="1" noChangeAspect="1"/>
          </p:cNvPicPr>
          <p:nvPr>
            <p:ph idx="1"/>
          </p:nvPr>
        </p:nvPicPr>
        <p:blipFill>
          <a:blip r:embed="rId2"/>
          <a:stretch>
            <a:fillRect/>
          </a:stretch>
        </p:blipFill>
        <p:spPr>
          <a:xfrm>
            <a:off x="427173" y="1626643"/>
            <a:ext cx="4818933" cy="4828728"/>
          </a:xfrm>
        </p:spPr>
      </p:pic>
      <p:pic>
        <p:nvPicPr>
          <p:cNvPr id="10" name="圖片 9">
            <a:extLst>
              <a:ext uri="{FF2B5EF4-FFF2-40B4-BE49-F238E27FC236}">
                <a16:creationId xmlns:a16="http://schemas.microsoft.com/office/drawing/2014/main" id="{066DA43B-14D7-F4DD-66B9-DA8F50B702E6}"/>
              </a:ext>
            </a:extLst>
          </p:cNvPr>
          <p:cNvPicPr>
            <a:picLocks noChangeAspect="1"/>
          </p:cNvPicPr>
          <p:nvPr/>
        </p:nvPicPr>
        <p:blipFill>
          <a:blip r:embed="rId3"/>
          <a:stretch>
            <a:fillRect/>
          </a:stretch>
        </p:blipFill>
        <p:spPr>
          <a:xfrm>
            <a:off x="6808244" y="3839806"/>
            <a:ext cx="3603268" cy="2907536"/>
          </a:xfrm>
          <a:prstGeom prst="rect">
            <a:avLst/>
          </a:prstGeom>
        </p:spPr>
      </p:pic>
      <p:pic>
        <p:nvPicPr>
          <p:cNvPr id="13" name="圖片 12">
            <a:extLst>
              <a:ext uri="{FF2B5EF4-FFF2-40B4-BE49-F238E27FC236}">
                <a16:creationId xmlns:a16="http://schemas.microsoft.com/office/drawing/2014/main" id="{F2948662-9795-4FC2-D1BE-809301FC6253}"/>
              </a:ext>
            </a:extLst>
          </p:cNvPr>
          <p:cNvPicPr>
            <a:picLocks noChangeAspect="1"/>
          </p:cNvPicPr>
          <p:nvPr/>
        </p:nvPicPr>
        <p:blipFill>
          <a:blip r:embed="rId4"/>
          <a:stretch>
            <a:fillRect/>
          </a:stretch>
        </p:blipFill>
        <p:spPr>
          <a:xfrm>
            <a:off x="6945896" y="110658"/>
            <a:ext cx="3603268" cy="3834494"/>
          </a:xfrm>
          <a:prstGeom prst="rect">
            <a:avLst/>
          </a:prstGeom>
        </p:spPr>
      </p:pic>
      <p:sp>
        <p:nvSpPr>
          <p:cNvPr id="3" name="投影片編號版面配置區 2">
            <a:extLst>
              <a:ext uri="{FF2B5EF4-FFF2-40B4-BE49-F238E27FC236}">
                <a16:creationId xmlns:a16="http://schemas.microsoft.com/office/drawing/2014/main" id="{6BC8CD9C-BEC2-7BB8-8072-E7DB39D80F9A}"/>
              </a:ext>
            </a:extLst>
          </p:cNvPr>
          <p:cNvSpPr>
            <a:spLocks noGrp="1"/>
          </p:cNvSpPr>
          <p:nvPr>
            <p:ph type="sldNum" sz="quarter" idx="12"/>
          </p:nvPr>
        </p:nvSpPr>
        <p:spPr/>
        <p:txBody>
          <a:bodyPr/>
          <a:lstStyle/>
          <a:p>
            <a:fld id="{EABF9873-7952-4BBF-BE6E-D6479BF557AE}" type="slidenum">
              <a:rPr lang="zh-TW" altLang="en-US" smtClean="0"/>
              <a:t>14</a:t>
            </a:fld>
            <a:endParaRPr lang="zh-TW" altLang="en-US"/>
          </a:p>
        </p:txBody>
      </p:sp>
    </p:spTree>
    <p:extLst>
      <p:ext uri="{BB962C8B-B14F-4D97-AF65-F5344CB8AC3E}">
        <p14:creationId xmlns:p14="http://schemas.microsoft.com/office/powerpoint/2010/main" val="39299323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Social Networks as Graphs</a:t>
            </a:r>
          </a:p>
        </p:txBody>
      </p:sp>
      <p:pic>
        <p:nvPicPr>
          <p:cNvPr id="6" name="內容版面配置區 5">
            <a:extLst>
              <a:ext uri="{FF2B5EF4-FFF2-40B4-BE49-F238E27FC236}">
                <a16:creationId xmlns:a16="http://schemas.microsoft.com/office/drawing/2014/main" id="{79DC25E6-51DB-6438-151B-20FD68613411}"/>
              </a:ext>
            </a:extLst>
          </p:cNvPr>
          <p:cNvPicPr>
            <a:picLocks noGrp="1" noChangeAspect="1"/>
          </p:cNvPicPr>
          <p:nvPr>
            <p:ph idx="1"/>
          </p:nvPr>
        </p:nvPicPr>
        <p:blipFill>
          <a:blip r:embed="rId2"/>
          <a:stretch>
            <a:fillRect/>
          </a:stretch>
        </p:blipFill>
        <p:spPr>
          <a:xfrm>
            <a:off x="838200" y="1495027"/>
            <a:ext cx="5159477" cy="5206382"/>
          </a:xfrm>
        </p:spPr>
      </p:pic>
      <p:pic>
        <p:nvPicPr>
          <p:cNvPr id="9" name="圖片 8">
            <a:extLst>
              <a:ext uri="{FF2B5EF4-FFF2-40B4-BE49-F238E27FC236}">
                <a16:creationId xmlns:a16="http://schemas.microsoft.com/office/drawing/2014/main" id="{1D1F6EBF-848C-45C2-3C4E-C13C3F4895EF}"/>
              </a:ext>
            </a:extLst>
          </p:cNvPr>
          <p:cNvPicPr>
            <a:picLocks noChangeAspect="1"/>
          </p:cNvPicPr>
          <p:nvPr/>
        </p:nvPicPr>
        <p:blipFill>
          <a:blip r:embed="rId3"/>
          <a:stretch>
            <a:fillRect/>
          </a:stretch>
        </p:blipFill>
        <p:spPr>
          <a:xfrm>
            <a:off x="7610168" y="709196"/>
            <a:ext cx="4385187" cy="5898660"/>
          </a:xfrm>
          <a:prstGeom prst="rect">
            <a:avLst/>
          </a:prstGeom>
        </p:spPr>
      </p:pic>
      <p:pic>
        <p:nvPicPr>
          <p:cNvPr id="11" name="圖片 10" descr="一張含有 服裝, 人員, 人的臉孔, 藝術 的圖片&#10;&#10;自動產生的描述">
            <a:extLst>
              <a:ext uri="{FF2B5EF4-FFF2-40B4-BE49-F238E27FC236}">
                <a16:creationId xmlns:a16="http://schemas.microsoft.com/office/drawing/2014/main" id="{F1FD4A34-43FA-219E-9F8E-9A9B39BFAB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94325" y="4621161"/>
            <a:ext cx="2508842" cy="2080248"/>
          </a:xfrm>
          <a:prstGeom prst="rect">
            <a:avLst/>
          </a:prstGeom>
        </p:spPr>
      </p:pic>
      <p:sp>
        <p:nvSpPr>
          <p:cNvPr id="3" name="投影片編號版面配置區 2">
            <a:extLst>
              <a:ext uri="{FF2B5EF4-FFF2-40B4-BE49-F238E27FC236}">
                <a16:creationId xmlns:a16="http://schemas.microsoft.com/office/drawing/2014/main" id="{A4F880BC-DC14-77EA-7C22-B82F9228A62B}"/>
              </a:ext>
            </a:extLst>
          </p:cNvPr>
          <p:cNvSpPr>
            <a:spLocks noGrp="1"/>
          </p:cNvSpPr>
          <p:nvPr>
            <p:ph type="sldNum" sz="quarter" idx="12"/>
          </p:nvPr>
        </p:nvSpPr>
        <p:spPr/>
        <p:txBody>
          <a:bodyPr/>
          <a:lstStyle/>
          <a:p>
            <a:fld id="{EABF9873-7952-4BBF-BE6E-D6479BF557AE}" type="slidenum">
              <a:rPr lang="zh-TW" altLang="en-US" smtClean="0"/>
              <a:t>15</a:t>
            </a:fld>
            <a:endParaRPr lang="zh-TW" altLang="en-US"/>
          </a:p>
        </p:txBody>
      </p:sp>
    </p:spTree>
    <p:extLst>
      <p:ext uri="{BB962C8B-B14F-4D97-AF65-F5344CB8AC3E}">
        <p14:creationId xmlns:p14="http://schemas.microsoft.com/office/powerpoint/2010/main" val="37019616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Social Networks as Graphs</a:t>
            </a:r>
          </a:p>
        </p:txBody>
      </p:sp>
      <p:pic>
        <p:nvPicPr>
          <p:cNvPr id="7" name="內容版面配置區 6">
            <a:extLst>
              <a:ext uri="{FF2B5EF4-FFF2-40B4-BE49-F238E27FC236}">
                <a16:creationId xmlns:a16="http://schemas.microsoft.com/office/drawing/2014/main" id="{B16354B9-57C6-3024-2E22-5E47B986871A}"/>
              </a:ext>
            </a:extLst>
          </p:cNvPr>
          <p:cNvPicPr>
            <a:picLocks noGrp="1" noChangeAspect="1"/>
          </p:cNvPicPr>
          <p:nvPr>
            <p:ph idx="1"/>
          </p:nvPr>
        </p:nvPicPr>
        <p:blipFill>
          <a:blip r:embed="rId3"/>
          <a:stretch>
            <a:fillRect/>
          </a:stretch>
        </p:blipFill>
        <p:spPr>
          <a:xfrm>
            <a:off x="480847" y="1465341"/>
            <a:ext cx="5155353" cy="5155353"/>
          </a:xfrm>
        </p:spPr>
      </p:pic>
      <p:pic>
        <p:nvPicPr>
          <p:cNvPr id="10" name="圖片 9">
            <a:extLst>
              <a:ext uri="{FF2B5EF4-FFF2-40B4-BE49-F238E27FC236}">
                <a16:creationId xmlns:a16="http://schemas.microsoft.com/office/drawing/2014/main" id="{43F9FE08-14C2-7655-1D77-64F46D7FA7D9}"/>
              </a:ext>
            </a:extLst>
          </p:cNvPr>
          <p:cNvPicPr>
            <a:picLocks noChangeAspect="1"/>
          </p:cNvPicPr>
          <p:nvPr/>
        </p:nvPicPr>
        <p:blipFill>
          <a:blip r:embed="rId4"/>
          <a:stretch>
            <a:fillRect/>
          </a:stretch>
        </p:blipFill>
        <p:spPr>
          <a:xfrm>
            <a:off x="5636200" y="2578230"/>
            <a:ext cx="4850313" cy="4131099"/>
          </a:xfrm>
          <a:prstGeom prst="rect">
            <a:avLst/>
          </a:prstGeom>
        </p:spPr>
      </p:pic>
      <p:pic>
        <p:nvPicPr>
          <p:cNvPr id="13" name="圖片 12" descr="一張含有 體育, 人員, 肢體接觸運動, 技擊運動 的圖片&#10;&#10;自動產生的描述">
            <a:extLst>
              <a:ext uri="{FF2B5EF4-FFF2-40B4-BE49-F238E27FC236}">
                <a16:creationId xmlns:a16="http://schemas.microsoft.com/office/drawing/2014/main" id="{C625BB29-F176-FA2E-A367-E53DB36165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23710" y="1027906"/>
            <a:ext cx="3410974" cy="3189055"/>
          </a:xfrm>
          <a:prstGeom prst="rect">
            <a:avLst/>
          </a:prstGeom>
        </p:spPr>
      </p:pic>
      <p:sp>
        <p:nvSpPr>
          <p:cNvPr id="3" name="投影片編號版面配置區 2">
            <a:extLst>
              <a:ext uri="{FF2B5EF4-FFF2-40B4-BE49-F238E27FC236}">
                <a16:creationId xmlns:a16="http://schemas.microsoft.com/office/drawing/2014/main" id="{BCEC53E9-40F9-94E0-1DE8-BD80C8F2609C}"/>
              </a:ext>
            </a:extLst>
          </p:cNvPr>
          <p:cNvSpPr>
            <a:spLocks noGrp="1"/>
          </p:cNvSpPr>
          <p:nvPr>
            <p:ph type="sldNum" sz="quarter" idx="12"/>
          </p:nvPr>
        </p:nvSpPr>
        <p:spPr/>
        <p:txBody>
          <a:bodyPr/>
          <a:lstStyle/>
          <a:p>
            <a:fld id="{EABF9873-7952-4BBF-BE6E-D6479BF557AE}" type="slidenum">
              <a:rPr lang="zh-TW" altLang="en-US" smtClean="0"/>
              <a:t>16</a:t>
            </a:fld>
            <a:endParaRPr lang="zh-TW" altLang="en-US"/>
          </a:p>
        </p:txBody>
      </p:sp>
    </p:spTree>
    <p:extLst>
      <p:ext uri="{BB962C8B-B14F-4D97-AF65-F5344CB8AC3E}">
        <p14:creationId xmlns:p14="http://schemas.microsoft.com/office/powerpoint/2010/main" val="361360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endParaRPr lang="en-US" altLang="zh-TW" b="1"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9DC66DAE-8060-0EB5-AA2B-164E8B6A30B6}"/>
              </a:ext>
            </a:extLst>
          </p:cNvPr>
          <p:cNvPicPr>
            <a:picLocks noGrp="1" noChangeAspect="1"/>
          </p:cNvPicPr>
          <p:nvPr>
            <p:ph idx="1"/>
          </p:nvPr>
        </p:nvPicPr>
        <p:blipFill>
          <a:blip r:embed="rId3"/>
          <a:stretch>
            <a:fillRect/>
          </a:stretch>
        </p:blipFill>
        <p:spPr>
          <a:xfrm>
            <a:off x="1123402" y="1690688"/>
            <a:ext cx="9945195" cy="4701365"/>
          </a:xfrm>
        </p:spPr>
      </p:pic>
      <p:sp>
        <p:nvSpPr>
          <p:cNvPr id="3" name="投影片編號版面配置區 2">
            <a:extLst>
              <a:ext uri="{FF2B5EF4-FFF2-40B4-BE49-F238E27FC236}">
                <a16:creationId xmlns:a16="http://schemas.microsoft.com/office/drawing/2014/main" id="{D530174C-9EA1-EF5B-C2A5-60DCF46CF2A4}"/>
              </a:ext>
            </a:extLst>
          </p:cNvPr>
          <p:cNvSpPr>
            <a:spLocks noGrp="1"/>
          </p:cNvSpPr>
          <p:nvPr>
            <p:ph type="sldNum" sz="quarter" idx="12"/>
          </p:nvPr>
        </p:nvSpPr>
        <p:spPr/>
        <p:txBody>
          <a:bodyPr/>
          <a:lstStyle/>
          <a:p>
            <a:fld id="{EABF9873-7952-4BBF-BE6E-D6479BF557AE}" type="slidenum">
              <a:rPr lang="zh-TW" altLang="en-US" smtClean="0"/>
              <a:t>17</a:t>
            </a:fld>
            <a:endParaRPr lang="zh-TW" altLang="en-US"/>
          </a:p>
        </p:txBody>
      </p:sp>
    </p:spTree>
    <p:extLst>
      <p:ext uri="{BB962C8B-B14F-4D97-AF65-F5344CB8AC3E}">
        <p14:creationId xmlns:p14="http://schemas.microsoft.com/office/powerpoint/2010/main" val="35641401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Types of Problems</a:t>
            </a:r>
          </a:p>
        </p:txBody>
      </p:sp>
      <p:sp>
        <p:nvSpPr>
          <p:cNvPr id="4" name="內容版面配置區 3">
            <a:extLst>
              <a:ext uri="{FF2B5EF4-FFF2-40B4-BE49-F238E27FC236}">
                <a16:creationId xmlns:a16="http://schemas.microsoft.com/office/drawing/2014/main" id="{0901768D-34DF-B2FD-3DE6-8E8C00571E3F}"/>
              </a:ext>
            </a:extLst>
          </p:cNvPr>
          <p:cNvSpPr>
            <a:spLocks noGrp="1"/>
          </p:cNvSpPr>
          <p:nvPr>
            <p:ph idx="1"/>
          </p:nvPr>
        </p:nvSpPr>
        <p:spPr/>
        <p:txBody>
          <a:bodyPr/>
          <a:lstStyle/>
          <a:p>
            <a:endParaRPr lang="zh-TW" altLang="en-US"/>
          </a:p>
        </p:txBody>
      </p:sp>
      <p:sp>
        <p:nvSpPr>
          <p:cNvPr id="3" name="投影片編號版面配置區 2">
            <a:extLst>
              <a:ext uri="{FF2B5EF4-FFF2-40B4-BE49-F238E27FC236}">
                <a16:creationId xmlns:a16="http://schemas.microsoft.com/office/drawing/2014/main" id="{BA8F12BB-B0AE-1BFE-8A6A-FFD508369C2D}"/>
              </a:ext>
            </a:extLst>
          </p:cNvPr>
          <p:cNvSpPr>
            <a:spLocks noGrp="1"/>
          </p:cNvSpPr>
          <p:nvPr>
            <p:ph type="sldNum" sz="quarter" idx="12"/>
          </p:nvPr>
        </p:nvSpPr>
        <p:spPr/>
        <p:txBody>
          <a:bodyPr/>
          <a:lstStyle/>
          <a:p>
            <a:fld id="{EABF9873-7952-4BBF-BE6E-D6479BF557AE}" type="slidenum">
              <a:rPr lang="zh-TW" altLang="en-US" smtClean="0"/>
              <a:t>18</a:t>
            </a:fld>
            <a:endParaRPr lang="zh-TW" altLang="en-US"/>
          </a:p>
        </p:txBody>
      </p:sp>
    </p:spTree>
    <p:extLst>
      <p:ext uri="{BB962C8B-B14F-4D97-AF65-F5344CB8AC3E}">
        <p14:creationId xmlns:p14="http://schemas.microsoft.com/office/powerpoint/2010/main" val="2904783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Graph-level Task</a:t>
            </a:r>
          </a:p>
        </p:txBody>
      </p:sp>
      <p:pic>
        <p:nvPicPr>
          <p:cNvPr id="7" name="內容版面配置區 6">
            <a:extLst>
              <a:ext uri="{FF2B5EF4-FFF2-40B4-BE49-F238E27FC236}">
                <a16:creationId xmlns:a16="http://schemas.microsoft.com/office/drawing/2014/main" id="{8F5A2A1F-ADBA-45CF-54F7-CE9FD5E1C6B3}"/>
              </a:ext>
            </a:extLst>
          </p:cNvPr>
          <p:cNvPicPr>
            <a:picLocks noGrp="1" noChangeAspect="1"/>
          </p:cNvPicPr>
          <p:nvPr>
            <p:ph idx="1"/>
          </p:nvPr>
        </p:nvPicPr>
        <p:blipFill>
          <a:blip r:embed="rId3"/>
          <a:stretch>
            <a:fillRect/>
          </a:stretch>
        </p:blipFill>
        <p:spPr>
          <a:xfrm>
            <a:off x="1830585" y="1690688"/>
            <a:ext cx="8530830" cy="4628943"/>
          </a:xfrm>
        </p:spPr>
      </p:pic>
      <p:sp>
        <p:nvSpPr>
          <p:cNvPr id="3" name="投影片編號版面配置區 2">
            <a:extLst>
              <a:ext uri="{FF2B5EF4-FFF2-40B4-BE49-F238E27FC236}">
                <a16:creationId xmlns:a16="http://schemas.microsoft.com/office/drawing/2014/main" id="{72C2ED42-91E1-7548-2C25-F0683F335A4C}"/>
              </a:ext>
            </a:extLst>
          </p:cNvPr>
          <p:cNvSpPr>
            <a:spLocks noGrp="1"/>
          </p:cNvSpPr>
          <p:nvPr>
            <p:ph type="sldNum" sz="quarter" idx="12"/>
          </p:nvPr>
        </p:nvSpPr>
        <p:spPr/>
        <p:txBody>
          <a:bodyPr/>
          <a:lstStyle/>
          <a:p>
            <a:fld id="{EABF9873-7952-4BBF-BE6E-D6479BF557AE}" type="slidenum">
              <a:rPr lang="zh-TW" altLang="en-US" smtClean="0"/>
              <a:t>19</a:t>
            </a:fld>
            <a:endParaRPr lang="zh-TW" altLang="en-US"/>
          </a:p>
        </p:txBody>
      </p:sp>
    </p:spTree>
    <p:extLst>
      <p:ext uri="{BB962C8B-B14F-4D97-AF65-F5344CB8AC3E}">
        <p14:creationId xmlns:p14="http://schemas.microsoft.com/office/powerpoint/2010/main" val="42691533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Node-level Task</a:t>
            </a:r>
          </a:p>
        </p:txBody>
      </p:sp>
      <p:pic>
        <p:nvPicPr>
          <p:cNvPr id="6" name="內容版面配置區 5">
            <a:extLst>
              <a:ext uri="{FF2B5EF4-FFF2-40B4-BE49-F238E27FC236}">
                <a16:creationId xmlns:a16="http://schemas.microsoft.com/office/drawing/2014/main" id="{0D241589-63F9-0B95-990A-DFED5703D9C6}"/>
              </a:ext>
            </a:extLst>
          </p:cNvPr>
          <p:cNvPicPr>
            <a:picLocks noGrp="1" noChangeAspect="1"/>
          </p:cNvPicPr>
          <p:nvPr>
            <p:ph idx="1"/>
          </p:nvPr>
        </p:nvPicPr>
        <p:blipFill>
          <a:blip r:embed="rId3"/>
          <a:stretch>
            <a:fillRect/>
          </a:stretch>
        </p:blipFill>
        <p:spPr>
          <a:xfrm>
            <a:off x="1830870" y="1690688"/>
            <a:ext cx="8530259" cy="4608994"/>
          </a:xfrm>
        </p:spPr>
      </p:pic>
      <p:sp>
        <p:nvSpPr>
          <p:cNvPr id="3" name="投影片編號版面配置區 2">
            <a:extLst>
              <a:ext uri="{FF2B5EF4-FFF2-40B4-BE49-F238E27FC236}">
                <a16:creationId xmlns:a16="http://schemas.microsoft.com/office/drawing/2014/main" id="{CB98E2F5-F05A-ECD2-3D19-E28AB8F5045E}"/>
              </a:ext>
            </a:extLst>
          </p:cNvPr>
          <p:cNvSpPr>
            <a:spLocks noGrp="1"/>
          </p:cNvSpPr>
          <p:nvPr>
            <p:ph type="sldNum" sz="quarter" idx="12"/>
          </p:nvPr>
        </p:nvSpPr>
        <p:spPr/>
        <p:txBody>
          <a:bodyPr/>
          <a:lstStyle/>
          <a:p>
            <a:fld id="{EABF9873-7952-4BBF-BE6E-D6479BF557AE}" type="slidenum">
              <a:rPr lang="zh-TW" altLang="en-US" smtClean="0"/>
              <a:t>20</a:t>
            </a:fld>
            <a:endParaRPr lang="zh-TW" altLang="en-US"/>
          </a:p>
        </p:txBody>
      </p:sp>
    </p:spTree>
    <p:extLst>
      <p:ext uri="{BB962C8B-B14F-4D97-AF65-F5344CB8AC3E}">
        <p14:creationId xmlns:p14="http://schemas.microsoft.com/office/powerpoint/2010/main" val="2302583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Edge-level Task</a:t>
            </a:r>
          </a:p>
        </p:txBody>
      </p:sp>
      <p:pic>
        <p:nvPicPr>
          <p:cNvPr id="11" name="內容版面配置區 10">
            <a:extLst>
              <a:ext uri="{FF2B5EF4-FFF2-40B4-BE49-F238E27FC236}">
                <a16:creationId xmlns:a16="http://schemas.microsoft.com/office/drawing/2014/main" id="{FD9598EE-E445-BF12-CF9D-FD367B09219C}"/>
              </a:ext>
            </a:extLst>
          </p:cNvPr>
          <p:cNvPicPr>
            <a:picLocks noGrp="1" noChangeAspect="1"/>
          </p:cNvPicPr>
          <p:nvPr>
            <p:ph idx="1"/>
          </p:nvPr>
        </p:nvPicPr>
        <p:blipFill>
          <a:blip r:embed="rId3"/>
          <a:stretch>
            <a:fillRect/>
          </a:stretch>
        </p:blipFill>
        <p:spPr>
          <a:xfrm>
            <a:off x="172630" y="2323663"/>
            <a:ext cx="11846739" cy="3456247"/>
          </a:xfrm>
        </p:spPr>
      </p:pic>
      <p:sp>
        <p:nvSpPr>
          <p:cNvPr id="3" name="投影片編號版面配置區 2">
            <a:extLst>
              <a:ext uri="{FF2B5EF4-FFF2-40B4-BE49-F238E27FC236}">
                <a16:creationId xmlns:a16="http://schemas.microsoft.com/office/drawing/2014/main" id="{2D649272-F14E-8361-9048-F44C8D18D5AC}"/>
              </a:ext>
            </a:extLst>
          </p:cNvPr>
          <p:cNvSpPr>
            <a:spLocks noGrp="1"/>
          </p:cNvSpPr>
          <p:nvPr>
            <p:ph type="sldNum" sz="quarter" idx="12"/>
          </p:nvPr>
        </p:nvSpPr>
        <p:spPr/>
        <p:txBody>
          <a:bodyPr/>
          <a:lstStyle/>
          <a:p>
            <a:fld id="{EABF9873-7952-4BBF-BE6E-D6479BF557AE}" type="slidenum">
              <a:rPr lang="zh-TW" altLang="en-US" smtClean="0"/>
              <a:t>21</a:t>
            </a:fld>
            <a:endParaRPr lang="zh-TW" altLang="en-US"/>
          </a:p>
        </p:txBody>
      </p:sp>
    </p:spTree>
    <p:extLst>
      <p:ext uri="{BB962C8B-B14F-4D97-AF65-F5344CB8AC3E}">
        <p14:creationId xmlns:p14="http://schemas.microsoft.com/office/powerpoint/2010/main" val="10001184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Edge-level Task</a:t>
            </a:r>
          </a:p>
        </p:txBody>
      </p:sp>
      <p:pic>
        <p:nvPicPr>
          <p:cNvPr id="8" name="內容版面配置區 7">
            <a:extLst>
              <a:ext uri="{FF2B5EF4-FFF2-40B4-BE49-F238E27FC236}">
                <a16:creationId xmlns:a16="http://schemas.microsoft.com/office/drawing/2014/main" id="{D0F1906C-3146-254F-23F6-8B9A3155AEF2}"/>
              </a:ext>
            </a:extLst>
          </p:cNvPr>
          <p:cNvPicPr>
            <a:picLocks noGrp="1" noChangeAspect="1"/>
          </p:cNvPicPr>
          <p:nvPr>
            <p:ph idx="1"/>
          </p:nvPr>
        </p:nvPicPr>
        <p:blipFill>
          <a:blip r:embed="rId3"/>
          <a:stretch>
            <a:fillRect/>
          </a:stretch>
        </p:blipFill>
        <p:spPr>
          <a:xfrm>
            <a:off x="1578975" y="1528216"/>
            <a:ext cx="9034050" cy="4964659"/>
          </a:xfrm>
        </p:spPr>
      </p:pic>
      <p:sp>
        <p:nvSpPr>
          <p:cNvPr id="3" name="投影片編號版面配置區 2">
            <a:extLst>
              <a:ext uri="{FF2B5EF4-FFF2-40B4-BE49-F238E27FC236}">
                <a16:creationId xmlns:a16="http://schemas.microsoft.com/office/drawing/2014/main" id="{7CFED88E-27F2-CE7E-7E65-95C026EEF205}"/>
              </a:ext>
            </a:extLst>
          </p:cNvPr>
          <p:cNvSpPr>
            <a:spLocks noGrp="1"/>
          </p:cNvSpPr>
          <p:nvPr>
            <p:ph type="sldNum" sz="quarter" idx="12"/>
          </p:nvPr>
        </p:nvSpPr>
        <p:spPr/>
        <p:txBody>
          <a:bodyPr/>
          <a:lstStyle/>
          <a:p>
            <a:fld id="{EABF9873-7952-4BBF-BE6E-D6479BF557AE}" type="slidenum">
              <a:rPr lang="zh-TW" altLang="en-US" smtClean="0"/>
              <a:t>22</a:t>
            </a:fld>
            <a:endParaRPr lang="zh-TW" altLang="en-US"/>
          </a:p>
        </p:txBody>
      </p:sp>
    </p:spTree>
    <p:extLst>
      <p:ext uri="{BB962C8B-B14F-4D97-AF65-F5344CB8AC3E}">
        <p14:creationId xmlns:p14="http://schemas.microsoft.com/office/powerpoint/2010/main" val="124670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Edge-level Task</a:t>
            </a:r>
          </a:p>
        </p:txBody>
      </p:sp>
      <p:pic>
        <p:nvPicPr>
          <p:cNvPr id="6" name="內容版面配置區 5">
            <a:extLst>
              <a:ext uri="{FF2B5EF4-FFF2-40B4-BE49-F238E27FC236}">
                <a16:creationId xmlns:a16="http://schemas.microsoft.com/office/drawing/2014/main" id="{F8EFA421-6CE2-CA1E-C682-A3D743EA9F88}"/>
              </a:ext>
            </a:extLst>
          </p:cNvPr>
          <p:cNvPicPr>
            <a:picLocks noGrp="1" noChangeAspect="1"/>
          </p:cNvPicPr>
          <p:nvPr>
            <p:ph idx="1"/>
          </p:nvPr>
        </p:nvPicPr>
        <p:blipFill>
          <a:blip r:embed="rId3"/>
          <a:stretch>
            <a:fillRect/>
          </a:stretch>
        </p:blipFill>
        <p:spPr>
          <a:xfrm>
            <a:off x="406585" y="2180917"/>
            <a:ext cx="11378830" cy="3373217"/>
          </a:xfrm>
        </p:spPr>
      </p:pic>
      <p:sp>
        <p:nvSpPr>
          <p:cNvPr id="3" name="投影片編號版面配置區 2">
            <a:extLst>
              <a:ext uri="{FF2B5EF4-FFF2-40B4-BE49-F238E27FC236}">
                <a16:creationId xmlns:a16="http://schemas.microsoft.com/office/drawing/2014/main" id="{66E4D520-978A-3DFC-C7AE-3E2463835B0B}"/>
              </a:ext>
            </a:extLst>
          </p:cNvPr>
          <p:cNvSpPr>
            <a:spLocks noGrp="1"/>
          </p:cNvSpPr>
          <p:nvPr>
            <p:ph type="sldNum" sz="quarter" idx="12"/>
          </p:nvPr>
        </p:nvSpPr>
        <p:spPr/>
        <p:txBody>
          <a:bodyPr/>
          <a:lstStyle/>
          <a:p>
            <a:fld id="{EABF9873-7952-4BBF-BE6E-D6479BF557AE}" type="slidenum">
              <a:rPr lang="zh-TW" altLang="en-US" smtClean="0"/>
              <a:t>23</a:t>
            </a:fld>
            <a:endParaRPr lang="zh-TW" altLang="en-US"/>
          </a:p>
        </p:txBody>
      </p:sp>
    </p:spTree>
    <p:extLst>
      <p:ext uri="{BB962C8B-B14F-4D97-AF65-F5344CB8AC3E}">
        <p14:creationId xmlns:p14="http://schemas.microsoft.com/office/powerpoint/2010/main" val="11179145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The Challenges of Using Graphs in Machine Learning</a:t>
            </a:r>
          </a:p>
        </p:txBody>
      </p:sp>
      <p:sp>
        <p:nvSpPr>
          <p:cNvPr id="4" name="內容版面配置區 3">
            <a:extLst>
              <a:ext uri="{FF2B5EF4-FFF2-40B4-BE49-F238E27FC236}">
                <a16:creationId xmlns:a16="http://schemas.microsoft.com/office/drawing/2014/main" id="{EBE3620B-1693-10C9-CE28-4CF0D6D5AC9D}"/>
              </a:ext>
            </a:extLst>
          </p:cNvPr>
          <p:cNvSpPr>
            <a:spLocks noGrp="1"/>
          </p:cNvSpPr>
          <p:nvPr>
            <p:ph idx="1"/>
          </p:nvPr>
        </p:nvSpPr>
        <p:spPr/>
        <p:txBody>
          <a:bodyPr/>
          <a:lstStyle/>
          <a:p>
            <a:endParaRPr lang="zh-TW" altLang="en-US"/>
          </a:p>
        </p:txBody>
      </p:sp>
      <p:sp>
        <p:nvSpPr>
          <p:cNvPr id="3" name="投影片編號版面配置區 2">
            <a:extLst>
              <a:ext uri="{FF2B5EF4-FFF2-40B4-BE49-F238E27FC236}">
                <a16:creationId xmlns:a16="http://schemas.microsoft.com/office/drawing/2014/main" id="{AFA533F0-3132-9E44-1F16-317C5AE34FC9}"/>
              </a:ext>
            </a:extLst>
          </p:cNvPr>
          <p:cNvSpPr>
            <a:spLocks noGrp="1"/>
          </p:cNvSpPr>
          <p:nvPr>
            <p:ph type="sldNum" sz="quarter" idx="12"/>
          </p:nvPr>
        </p:nvSpPr>
        <p:spPr/>
        <p:txBody>
          <a:bodyPr/>
          <a:lstStyle/>
          <a:p>
            <a:fld id="{EABF9873-7952-4BBF-BE6E-D6479BF557AE}" type="slidenum">
              <a:rPr lang="zh-TW" altLang="en-US" smtClean="0"/>
              <a:t>24</a:t>
            </a:fld>
            <a:endParaRPr lang="zh-TW" altLang="en-US"/>
          </a:p>
        </p:txBody>
      </p:sp>
    </p:spTree>
    <p:extLst>
      <p:ext uri="{BB962C8B-B14F-4D97-AF65-F5344CB8AC3E}">
        <p14:creationId xmlns:p14="http://schemas.microsoft.com/office/powerpoint/2010/main" val="885264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Type of </a:t>
            </a:r>
            <a:r>
              <a:rPr lang="en-US" altLang="zh-TW" b="1" dirty="0" err="1">
                <a:latin typeface="Times New Roman" panose="02020603050405020304" pitchFamily="18" charset="0"/>
                <a:cs typeface="Times New Roman" panose="02020603050405020304" pitchFamily="18" charset="0"/>
              </a:rPr>
              <a:t>Infromation</a:t>
            </a:r>
            <a:endParaRPr lang="en-US" altLang="zh-TW" b="1"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EBE3620B-1693-10C9-CE28-4CF0D6D5AC9D}"/>
              </a:ext>
            </a:extLst>
          </p:cNvPr>
          <p:cNvSpPr>
            <a:spLocks noGrp="1"/>
          </p:cNvSpPr>
          <p:nvPr>
            <p:ph idx="1"/>
          </p:nvPr>
        </p:nvSpPr>
        <p:spPr/>
        <p:txBody>
          <a:bodyPr>
            <a:normAutofit/>
          </a:bodyPr>
          <a:lstStyle/>
          <a:p>
            <a:r>
              <a:rPr lang="en-US" altLang="zh-TW" dirty="0">
                <a:latin typeface="Times New Roman" panose="02020603050405020304" pitchFamily="18" charset="0"/>
                <a:cs typeface="Times New Roman" panose="02020603050405020304" pitchFamily="18" charset="0"/>
              </a:rPr>
              <a:t>Nodes</a:t>
            </a:r>
          </a:p>
          <a:p>
            <a:r>
              <a:rPr lang="en-US" altLang="zh-TW" dirty="0">
                <a:latin typeface="Times New Roman" panose="02020603050405020304" pitchFamily="18" charset="0"/>
                <a:cs typeface="Times New Roman" panose="02020603050405020304" pitchFamily="18" charset="0"/>
              </a:rPr>
              <a:t>Edges</a:t>
            </a:r>
          </a:p>
          <a:p>
            <a:r>
              <a:rPr lang="en-US" altLang="zh-TW" dirty="0">
                <a:latin typeface="Times New Roman" panose="02020603050405020304" pitchFamily="18" charset="0"/>
                <a:cs typeface="Times New Roman" panose="02020603050405020304" pitchFamily="18" charset="0"/>
              </a:rPr>
              <a:t>Global-content</a:t>
            </a:r>
          </a:p>
          <a:p>
            <a:r>
              <a:rPr lang="en-US" altLang="zh-TW" dirty="0">
                <a:latin typeface="Times New Roman" panose="02020603050405020304" pitchFamily="18" charset="0"/>
                <a:cs typeface="Times New Roman" panose="02020603050405020304" pitchFamily="18" charset="0"/>
              </a:rPr>
              <a:t>Connectivity</a:t>
            </a:r>
          </a:p>
          <a:p>
            <a:pPr lvl="1"/>
            <a:r>
              <a:rPr lang="en-US" altLang="zh-TW" sz="2800" dirty="0">
                <a:latin typeface="Times New Roman" panose="02020603050405020304" pitchFamily="18" charset="0"/>
                <a:cs typeface="Times New Roman" panose="02020603050405020304" pitchFamily="18" charset="0"/>
              </a:rPr>
              <a:t>Adjacency matrix</a:t>
            </a:r>
            <a:endParaRPr lang="zh-TW" altLang="en-US" sz="2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7E485CFD-36AB-3B16-B9BC-62F9953E3BB3}"/>
              </a:ext>
            </a:extLst>
          </p:cNvPr>
          <p:cNvSpPr>
            <a:spLocks noGrp="1"/>
          </p:cNvSpPr>
          <p:nvPr>
            <p:ph type="sldNum" sz="quarter" idx="12"/>
          </p:nvPr>
        </p:nvSpPr>
        <p:spPr/>
        <p:txBody>
          <a:bodyPr/>
          <a:lstStyle/>
          <a:p>
            <a:fld id="{EABF9873-7952-4BBF-BE6E-D6479BF557AE}" type="slidenum">
              <a:rPr lang="zh-TW" altLang="en-US" smtClean="0"/>
              <a:t>25</a:t>
            </a:fld>
            <a:endParaRPr lang="zh-TW" altLang="en-US"/>
          </a:p>
        </p:txBody>
      </p:sp>
    </p:spTree>
    <p:extLst>
      <p:ext uri="{BB962C8B-B14F-4D97-AF65-F5344CB8AC3E}">
        <p14:creationId xmlns:p14="http://schemas.microsoft.com/office/powerpoint/2010/main" val="32500649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Challenges of Adjacency Matrix</a:t>
            </a:r>
            <a:r>
              <a:rPr lang="zh-TW" altLang="en-US" b="1" dirty="0">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1</a:t>
            </a:r>
            <a:endParaRPr lang="zh-TW" altLang="en-US" b="1"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EBE3620B-1693-10C9-CE28-4CF0D6D5AC9D}"/>
              </a:ext>
            </a:extLst>
          </p:cNvPr>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Large and sparse adjacency matrices, which are space-inefficient.</a:t>
            </a:r>
          </a:p>
        </p:txBody>
      </p:sp>
      <p:sp>
        <p:nvSpPr>
          <p:cNvPr id="3" name="投影片編號版面配置區 2">
            <a:extLst>
              <a:ext uri="{FF2B5EF4-FFF2-40B4-BE49-F238E27FC236}">
                <a16:creationId xmlns:a16="http://schemas.microsoft.com/office/drawing/2014/main" id="{05D4FF96-114E-9B06-9076-6D3912575837}"/>
              </a:ext>
            </a:extLst>
          </p:cNvPr>
          <p:cNvSpPr>
            <a:spLocks noGrp="1"/>
          </p:cNvSpPr>
          <p:nvPr>
            <p:ph type="sldNum" sz="quarter" idx="12"/>
          </p:nvPr>
        </p:nvSpPr>
        <p:spPr/>
        <p:txBody>
          <a:bodyPr/>
          <a:lstStyle/>
          <a:p>
            <a:fld id="{EABF9873-7952-4BBF-BE6E-D6479BF557AE}" type="slidenum">
              <a:rPr lang="zh-TW" altLang="en-US" smtClean="0"/>
              <a:t>26</a:t>
            </a:fld>
            <a:endParaRPr lang="zh-TW" altLang="en-US"/>
          </a:p>
        </p:txBody>
      </p:sp>
    </p:spTree>
    <p:extLst>
      <p:ext uri="{BB962C8B-B14F-4D97-AF65-F5344CB8AC3E}">
        <p14:creationId xmlns:p14="http://schemas.microsoft.com/office/powerpoint/2010/main" val="40053626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Challenges of Adjacency Matrix</a:t>
            </a:r>
            <a:r>
              <a:rPr lang="zh-TW" altLang="en-US" b="1" dirty="0">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2</a:t>
            </a:r>
            <a:endParaRPr lang="zh-TW" altLang="en-US" b="1"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99817C59-39C8-8268-E00E-67743BA6C00E}"/>
              </a:ext>
            </a:extLst>
          </p:cNvPr>
          <p:cNvPicPr>
            <a:picLocks noGrp="1" noChangeAspect="1"/>
          </p:cNvPicPr>
          <p:nvPr>
            <p:ph idx="1"/>
          </p:nvPr>
        </p:nvPicPr>
        <p:blipFill>
          <a:blip r:embed="rId3"/>
          <a:stretch>
            <a:fillRect/>
          </a:stretch>
        </p:blipFill>
        <p:spPr>
          <a:xfrm>
            <a:off x="1675163" y="1412392"/>
            <a:ext cx="8661050" cy="2413512"/>
          </a:xfrm>
        </p:spPr>
      </p:pic>
      <p:pic>
        <p:nvPicPr>
          <p:cNvPr id="7" name="圖片 6">
            <a:extLst>
              <a:ext uri="{FF2B5EF4-FFF2-40B4-BE49-F238E27FC236}">
                <a16:creationId xmlns:a16="http://schemas.microsoft.com/office/drawing/2014/main" id="{01AB170D-7168-795A-6C89-4BA7DE24F778}"/>
              </a:ext>
            </a:extLst>
          </p:cNvPr>
          <p:cNvPicPr>
            <a:picLocks noChangeAspect="1"/>
          </p:cNvPicPr>
          <p:nvPr/>
        </p:nvPicPr>
        <p:blipFill>
          <a:blip r:embed="rId4"/>
          <a:stretch>
            <a:fillRect/>
          </a:stretch>
        </p:blipFill>
        <p:spPr>
          <a:xfrm>
            <a:off x="1253578" y="3192864"/>
            <a:ext cx="9504220" cy="3545867"/>
          </a:xfrm>
          <a:prstGeom prst="rect">
            <a:avLst/>
          </a:prstGeom>
        </p:spPr>
      </p:pic>
      <p:sp>
        <p:nvSpPr>
          <p:cNvPr id="3" name="投影片編號版面配置區 2">
            <a:extLst>
              <a:ext uri="{FF2B5EF4-FFF2-40B4-BE49-F238E27FC236}">
                <a16:creationId xmlns:a16="http://schemas.microsoft.com/office/drawing/2014/main" id="{57C9722D-AF77-9AE1-3E2C-680D5A3A1894}"/>
              </a:ext>
            </a:extLst>
          </p:cNvPr>
          <p:cNvSpPr>
            <a:spLocks noGrp="1"/>
          </p:cNvSpPr>
          <p:nvPr>
            <p:ph type="sldNum" sz="quarter" idx="12"/>
          </p:nvPr>
        </p:nvSpPr>
        <p:spPr/>
        <p:txBody>
          <a:bodyPr/>
          <a:lstStyle/>
          <a:p>
            <a:fld id="{EABF9873-7952-4BBF-BE6E-D6479BF557AE}" type="slidenum">
              <a:rPr lang="zh-TW" altLang="en-US" smtClean="0"/>
              <a:t>27</a:t>
            </a:fld>
            <a:endParaRPr lang="zh-TW" altLang="en-US"/>
          </a:p>
        </p:txBody>
      </p:sp>
    </p:spTree>
    <p:extLst>
      <p:ext uri="{BB962C8B-B14F-4D97-AF65-F5344CB8AC3E}">
        <p14:creationId xmlns:p14="http://schemas.microsoft.com/office/powerpoint/2010/main" val="37756571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Adjacency List</a:t>
            </a:r>
            <a:endParaRPr lang="zh-TW" altLang="en-US" b="1"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2788933B-6042-2964-08A3-FE86F620FBA4}"/>
              </a:ext>
            </a:extLst>
          </p:cNvPr>
          <p:cNvPicPr>
            <a:picLocks noGrp="1" noChangeAspect="1"/>
          </p:cNvPicPr>
          <p:nvPr>
            <p:ph idx="1"/>
          </p:nvPr>
        </p:nvPicPr>
        <p:blipFill>
          <a:blip r:embed="rId3"/>
          <a:stretch>
            <a:fillRect/>
          </a:stretch>
        </p:blipFill>
        <p:spPr>
          <a:xfrm>
            <a:off x="1047308" y="1444182"/>
            <a:ext cx="10097383" cy="5048693"/>
          </a:xfrm>
        </p:spPr>
      </p:pic>
      <p:sp>
        <p:nvSpPr>
          <p:cNvPr id="3" name="投影片編號版面配置區 2">
            <a:extLst>
              <a:ext uri="{FF2B5EF4-FFF2-40B4-BE49-F238E27FC236}">
                <a16:creationId xmlns:a16="http://schemas.microsoft.com/office/drawing/2014/main" id="{C0667FA6-9967-6086-CE82-7B18479AD7F0}"/>
              </a:ext>
            </a:extLst>
          </p:cNvPr>
          <p:cNvSpPr>
            <a:spLocks noGrp="1"/>
          </p:cNvSpPr>
          <p:nvPr>
            <p:ph type="sldNum" sz="quarter" idx="12"/>
          </p:nvPr>
        </p:nvSpPr>
        <p:spPr/>
        <p:txBody>
          <a:bodyPr/>
          <a:lstStyle/>
          <a:p>
            <a:fld id="{EABF9873-7952-4BBF-BE6E-D6479BF557AE}" type="slidenum">
              <a:rPr lang="zh-TW" altLang="en-US" smtClean="0"/>
              <a:t>28</a:t>
            </a:fld>
            <a:endParaRPr lang="zh-TW" altLang="en-US"/>
          </a:p>
        </p:txBody>
      </p:sp>
    </p:spTree>
    <p:extLst>
      <p:ext uri="{BB962C8B-B14F-4D97-AF65-F5344CB8AC3E}">
        <p14:creationId xmlns:p14="http://schemas.microsoft.com/office/powerpoint/2010/main" val="14320360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Graph Neural Networks</a:t>
            </a:r>
            <a:endParaRPr lang="zh-TW" altLang="en-US" b="1"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EBE3620B-1693-10C9-CE28-4CF0D6D5AC9D}"/>
              </a:ext>
            </a:extLst>
          </p:cNvPr>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A GNN is an optimizable transformation on all attributes of the graph (nodes, edges, global-context) that preserves graph symmetries (permutation invariances).</a:t>
            </a:r>
          </a:p>
        </p:txBody>
      </p:sp>
      <p:sp>
        <p:nvSpPr>
          <p:cNvPr id="3" name="投影片編號版面配置區 2">
            <a:extLst>
              <a:ext uri="{FF2B5EF4-FFF2-40B4-BE49-F238E27FC236}">
                <a16:creationId xmlns:a16="http://schemas.microsoft.com/office/drawing/2014/main" id="{7EE39BFE-208C-B56E-079A-A565BBB1492F}"/>
              </a:ext>
            </a:extLst>
          </p:cNvPr>
          <p:cNvSpPr>
            <a:spLocks noGrp="1"/>
          </p:cNvSpPr>
          <p:nvPr>
            <p:ph type="sldNum" sz="quarter" idx="12"/>
          </p:nvPr>
        </p:nvSpPr>
        <p:spPr/>
        <p:txBody>
          <a:bodyPr/>
          <a:lstStyle/>
          <a:p>
            <a:fld id="{EABF9873-7952-4BBF-BE6E-D6479BF557AE}" type="slidenum">
              <a:rPr lang="zh-TW" altLang="en-US" smtClean="0"/>
              <a:t>29</a:t>
            </a:fld>
            <a:endParaRPr lang="zh-TW" altLang="en-US"/>
          </a:p>
        </p:txBody>
      </p:sp>
    </p:spTree>
    <p:extLst>
      <p:ext uri="{BB962C8B-B14F-4D97-AF65-F5344CB8AC3E}">
        <p14:creationId xmlns:p14="http://schemas.microsoft.com/office/powerpoint/2010/main" val="2718944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Graph Neural Networks</a:t>
            </a:r>
          </a:p>
        </p:txBody>
      </p:sp>
      <p:sp>
        <p:nvSpPr>
          <p:cNvPr id="4" name="內容版面配置區 3">
            <a:extLst>
              <a:ext uri="{FF2B5EF4-FFF2-40B4-BE49-F238E27FC236}">
                <a16:creationId xmlns:a16="http://schemas.microsoft.com/office/drawing/2014/main" id="{C75ADCDF-5BB2-C919-552A-4D9BDBE5D3C6}"/>
              </a:ext>
            </a:extLst>
          </p:cNvPr>
          <p:cNvSpPr>
            <a:spLocks noGrp="1"/>
          </p:cNvSpPr>
          <p:nvPr>
            <p:ph idx="1"/>
          </p:nvPr>
        </p:nvSpPr>
        <p:spPr/>
        <p:txBody>
          <a:bodyPr/>
          <a:lstStyle/>
          <a:p>
            <a:r>
              <a:rPr lang="en-US" altLang="zh-TW" dirty="0">
                <a:latin typeface="Times New Roman" panose="02020603050405020304" pitchFamily="18" charset="0"/>
                <a:ea typeface="Tahoma" panose="020B0604030504040204" pitchFamily="34" charset="0"/>
                <a:cs typeface="Times New Roman" panose="02020603050405020304" pitchFamily="18" charset="0"/>
              </a:rPr>
              <a:t>Framework: message passing neural network</a:t>
            </a:r>
          </a:p>
          <a:p>
            <a:r>
              <a:rPr lang="en-US" altLang="zh-TW" dirty="0">
                <a:latin typeface="Times New Roman" panose="02020603050405020304" pitchFamily="18" charset="0"/>
                <a:ea typeface="Tahoma" panose="020B0604030504040204" pitchFamily="34" charset="0"/>
                <a:cs typeface="Times New Roman" panose="02020603050405020304" pitchFamily="18" charset="0"/>
              </a:rPr>
              <a:t>Architecture: graph-in, graph-out</a:t>
            </a:r>
          </a:p>
          <a:p>
            <a:r>
              <a:rPr lang="en-US" altLang="zh-TW" dirty="0">
                <a:latin typeface="Times New Roman" panose="02020603050405020304" pitchFamily="18" charset="0"/>
                <a:ea typeface="Tahoma" panose="020B0604030504040204" pitchFamily="34" charset="0"/>
                <a:cs typeface="Times New Roman" panose="02020603050405020304" pitchFamily="18" charset="0"/>
              </a:rPr>
              <a:t>Progressively transform these embeddings, without changing the connectivity of the input graph</a:t>
            </a:r>
            <a:endParaRPr lang="zh-TW" altLang="en-US"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7F16AF57-E207-7FD2-04F4-CD4A7D6F9C2E}"/>
              </a:ext>
            </a:extLst>
          </p:cNvPr>
          <p:cNvSpPr>
            <a:spLocks noGrp="1"/>
          </p:cNvSpPr>
          <p:nvPr>
            <p:ph type="sldNum" sz="quarter" idx="12"/>
          </p:nvPr>
        </p:nvSpPr>
        <p:spPr/>
        <p:txBody>
          <a:bodyPr/>
          <a:lstStyle/>
          <a:p>
            <a:fld id="{EABF9873-7952-4BBF-BE6E-D6479BF557AE}" type="slidenum">
              <a:rPr lang="zh-TW" altLang="en-US" smtClean="0"/>
              <a:t>30</a:t>
            </a:fld>
            <a:endParaRPr lang="zh-TW" altLang="en-US"/>
          </a:p>
        </p:txBody>
      </p:sp>
    </p:spTree>
    <p:extLst>
      <p:ext uri="{BB962C8B-B14F-4D97-AF65-F5344CB8AC3E}">
        <p14:creationId xmlns:p14="http://schemas.microsoft.com/office/powerpoint/2010/main" val="33308327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GNN Layer</a:t>
            </a:r>
          </a:p>
        </p:txBody>
      </p:sp>
      <p:pic>
        <p:nvPicPr>
          <p:cNvPr id="5" name="內容版面配置區 4">
            <a:extLst>
              <a:ext uri="{FF2B5EF4-FFF2-40B4-BE49-F238E27FC236}">
                <a16:creationId xmlns:a16="http://schemas.microsoft.com/office/drawing/2014/main" id="{66631EA1-B197-A5A6-82E8-001E5981B67F}"/>
              </a:ext>
            </a:extLst>
          </p:cNvPr>
          <p:cNvPicPr>
            <a:picLocks noGrp="1" noChangeAspect="1"/>
          </p:cNvPicPr>
          <p:nvPr>
            <p:ph idx="1"/>
          </p:nvPr>
        </p:nvPicPr>
        <p:blipFill>
          <a:blip r:embed="rId3"/>
          <a:stretch>
            <a:fillRect/>
          </a:stretch>
        </p:blipFill>
        <p:spPr>
          <a:xfrm>
            <a:off x="583317" y="2099329"/>
            <a:ext cx="11025366" cy="3258211"/>
          </a:xfrm>
        </p:spPr>
      </p:pic>
      <p:sp>
        <p:nvSpPr>
          <p:cNvPr id="3" name="投影片編號版面配置區 2">
            <a:extLst>
              <a:ext uri="{FF2B5EF4-FFF2-40B4-BE49-F238E27FC236}">
                <a16:creationId xmlns:a16="http://schemas.microsoft.com/office/drawing/2014/main" id="{4BC5E4A8-12E8-36F6-2A9A-81CE5FCB542B}"/>
              </a:ext>
            </a:extLst>
          </p:cNvPr>
          <p:cNvSpPr>
            <a:spLocks noGrp="1"/>
          </p:cNvSpPr>
          <p:nvPr>
            <p:ph type="sldNum" sz="quarter" idx="12"/>
          </p:nvPr>
        </p:nvSpPr>
        <p:spPr/>
        <p:txBody>
          <a:bodyPr/>
          <a:lstStyle/>
          <a:p>
            <a:fld id="{EABF9873-7952-4BBF-BE6E-D6479BF557AE}" type="slidenum">
              <a:rPr lang="zh-TW" altLang="en-US" smtClean="0"/>
              <a:t>31</a:t>
            </a:fld>
            <a:endParaRPr lang="zh-TW" altLang="en-US"/>
          </a:p>
        </p:txBody>
      </p:sp>
    </p:spTree>
    <p:extLst>
      <p:ext uri="{BB962C8B-B14F-4D97-AF65-F5344CB8AC3E}">
        <p14:creationId xmlns:p14="http://schemas.microsoft.com/office/powerpoint/2010/main" val="7386196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GNN</a:t>
            </a:r>
            <a:r>
              <a:rPr lang="zh-TW" altLang="en-US" b="1" dirty="0">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Prediction</a:t>
            </a:r>
          </a:p>
        </p:txBody>
      </p:sp>
      <p:pic>
        <p:nvPicPr>
          <p:cNvPr id="7" name="內容版面配置區 6">
            <a:extLst>
              <a:ext uri="{FF2B5EF4-FFF2-40B4-BE49-F238E27FC236}">
                <a16:creationId xmlns:a16="http://schemas.microsoft.com/office/drawing/2014/main" id="{8D57B83B-8D42-6ED3-740F-68BE8F266B4F}"/>
              </a:ext>
            </a:extLst>
          </p:cNvPr>
          <p:cNvPicPr>
            <a:picLocks noGrp="1" noChangeAspect="1"/>
          </p:cNvPicPr>
          <p:nvPr>
            <p:ph idx="1"/>
          </p:nvPr>
        </p:nvPicPr>
        <p:blipFill>
          <a:blip r:embed="rId3"/>
          <a:stretch>
            <a:fillRect/>
          </a:stretch>
        </p:blipFill>
        <p:spPr>
          <a:xfrm>
            <a:off x="1489542" y="1898610"/>
            <a:ext cx="9212915" cy="3294941"/>
          </a:xfrm>
        </p:spPr>
      </p:pic>
      <p:pic>
        <p:nvPicPr>
          <p:cNvPr id="9" name="圖片 8">
            <a:extLst>
              <a:ext uri="{FF2B5EF4-FFF2-40B4-BE49-F238E27FC236}">
                <a16:creationId xmlns:a16="http://schemas.microsoft.com/office/drawing/2014/main" id="{F5B584A2-2017-94C2-1DB1-8FB9F87FCD63}"/>
              </a:ext>
            </a:extLst>
          </p:cNvPr>
          <p:cNvPicPr>
            <a:picLocks noChangeAspect="1"/>
          </p:cNvPicPr>
          <p:nvPr/>
        </p:nvPicPr>
        <p:blipFill>
          <a:blip r:embed="rId4"/>
          <a:stretch>
            <a:fillRect/>
          </a:stretch>
        </p:blipFill>
        <p:spPr>
          <a:xfrm>
            <a:off x="6159867" y="5401473"/>
            <a:ext cx="4542590" cy="1091402"/>
          </a:xfrm>
          <a:prstGeom prst="rect">
            <a:avLst/>
          </a:prstGeom>
        </p:spPr>
      </p:pic>
      <p:sp>
        <p:nvSpPr>
          <p:cNvPr id="3" name="投影片編號版面配置區 2">
            <a:extLst>
              <a:ext uri="{FF2B5EF4-FFF2-40B4-BE49-F238E27FC236}">
                <a16:creationId xmlns:a16="http://schemas.microsoft.com/office/drawing/2014/main" id="{3866DB08-B9F1-E472-D364-501EEC1955F0}"/>
              </a:ext>
            </a:extLst>
          </p:cNvPr>
          <p:cNvSpPr>
            <a:spLocks noGrp="1"/>
          </p:cNvSpPr>
          <p:nvPr>
            <p:ph type="sldNum" sz="quarter" idx="12"/>
          </p:nvPr>
        </p:nvSpPr>
        <p:spPr/>
        <p:txBody>
          <a:bodyPr/>
          <a:lstStyle/>
          <a:p>
            <a:fld id="{EABF9873-7952-4BBF-BE6E-D6479BF557AE}" type="slidenum">
              <a:rPr lang="zh-TW" altLang="en-US" smtClean="0"/>
              <a:t>32</a:t>
            </a:fld>
            <a:endParaRPr lang="zh-TW" altLang="en-US"/>
          </a:p>
        </p:txBody>
      </p:sp>
    </p:spTree>
    <p:extLst>
      <p:ext uri="{BB962C8B-B14F-4D97-AF65-F5344CB8AC3E}">
        <p14:creationId xmlns:p14="http://schemas.microsoft.com/office/powerpoint/2010/main" val="31696108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a:latin typeface="Times New Roman" panose="02020603050405020304" pitchFamily="18" charset="0"/>
                <a:cs typeface="Times New Roman" panose="02020603050405020304" pitchFamily="18" charset="0"/>
              </a:rPr>
              <a:t>Pooling</a:t>
            </a:r>
            <a:endParaRPr lang="en-US" altLang="zh-TW" b="1"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id="{0BE6819E-61B6-7AED-3BAC-08D701FC4FED}"/>
              </a:ext>
            </a:extLst>
          </p:cNvPr>
          <p:cNvPicPr>
            <a:picLocks noGrp="1" noChangeAspect="1"/>
          </p:cNvPicPr>
          <p:nvPr>
            <p:ph idx="1"/>
          </p:nvPr>
        </p:nvPicPr>
        <p:blipFill>
          <a:blip r:embed="rId3"/>
          <a:stretch>
            <a:fillRect/>
          </a:stretch>
        </p:blipFill>
        <p:spPr>
          <a:xfrm>
            <a:off x="94540" y="2546825"/>
            <a:ext cx="3795089" cy="3170195"/>
          </a:xfrm>
        </p:spPr>
      </p:pic>
      <p:pic>
        <p:nvPicPr>
          <p:cNvPr id="9" name="圖片 8">
            <a:extLst>
              <a:ext uri="{FF2B5EF4-FFF2-40B4-BE49-F238E27FC236}">
                <a16:creationId xmlns:a16="http://schemas.microsoft.com/office/drawing/2014/main" id="{D1EA8690-8F6A-270B-C4C6-892AE7AF862D}"/>
              </a:ext>
            </a:extLst>
          </p:cNvPr>
          <p:cNvPicPr>
            <a:picLocks noChangeAspect="1"/>
          </p:cNvPicPr>
          <p:nvPr/>
        </p:nvPicPr>
        <p:blipFill>
          <a:blip r:embed="rId4"/>
          <a:stretch>
            <a:fillRect/>
          </a:stretch>
        </p:blipFill>
        <p:spPr>
          <a:xfrm>
            <a:off x="3822035" y="2841171"/>
            <a:ext cx="4327938" cy="2992819"/>
          </a:xfrm>
          <a:prstGeom prst="rect">
            <a:avLst/>
          </a:prstGeom>
        </p:spPr>
      </p:pic>
      <p:pic>
        <p:nvPicPr>
          <p:cNvPr id="11" name="圖片 10">
            <a:extLst>
              <a:ext uri="{FF2B5EF4-FFF2-40B4-BE49-F238E27FC236}">
                <a16:creationId xmlns:a16="http://schemas.microsoft.com/office/drawing/2014/main" id="{B5A1D513-4351-AE18-3D99-B7F0D04E8B09}"/>
              </a:ext>
            </a:extLst>
          </p:cNvPr>
          <p:cNvPicPr>
            <a:picLocks noChangeAspect="1"/>
          </p:cNvPicPr>
          <p:nvPr/>
        </p:nvPicPr>
        <p:blipFill>
          <a:blip r:embed="rId5"/>
          <a:stretch>
            <a:fillRect/>
          </a:stretch>
        </p:blipFill>
        <p:spPr>
          <a:xfrm>
            <a:off x="8149973" y="2737342"/>
            <a:ext cx="3734124" cy="2979678"/>
          </a:xfrm>
          <a:prstGeom prst="rect">
            <a:avLst/>
          </a:prstGeom>
        </p:spPr>
      </p:pic>
      <p:sp>
        <p:nvSpPr>
          <p:cNvPr id="12" name="橢圓 11">
            <a:extLst>
              <a:ext uri="{FF2B5EF4-FFF2-40B4-BE49-F238E27FC236}">
                <a16:creationId xmlns:a16="http://schemas.microsoft.com/office/drawing/2014/main" id="{78E941A5-5661-62A6-7AA7-7545A7C3A6AD}"/>
              </a:ext>
            </a:extLst>
          </p:cNvPr>
          <p:cNvSpPr/>
          <p:nvPr/>
        </p:nvSpPr>
        <p:spPr>
          <a:xfrm>
            <a:off x="5747658" y="4304922"/>
            <a:ext cx="270146" cy="245306"/>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a:extLst>
              <a:ext uri="{FF2B5EF4-FFF2-40B4-BE49-F238E27FC236}">
                <a16:creationId xmlns:a16="http://schemas.microsoft.com/office/drawing/2014/main" id="{8BA823F6-E3FF-D2D8-3583-08DE3C2E9C1E}"/>
              </a:ext>
            </a:extLst>
          </p:cNvPr>
          <p:cNvSpPr/>
          <p:nvPr/>
        </p:nvSpPr>
        <p:spPr>
          <a:xfrm>
            <a:off x="1601056" y="3293116"/>
            <a:ext cx="216000" cy="216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a:extLst>
              <a:ext uri="{FF2B5EF4-FFF2-40B4-BE49-F238E27FC236}">
                <a16:creationId xmlns:a16="http://schemas.microsoft.com/office/drawing/2014/main" id="{7EDF5495-A666-86D8-5657-1792A930588A}"/>
              </a:ext>
            </a:extLst>
          </p:cNvPr>
          <p:cNvSpPr/>
          <p:nvPr/>
        </p:nvSpPr>
        <p:spPr>
          <a:xfrm>
            <a:off x="8273142" y="3978523"/>
            <a:ext cx="216000" cy="216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投影片編號版面配置區 2">
            <a:extLst>
              <a:ext uri="{FF2B5EF4-FFF2-40B4-BE49-F238E27FC236}">
                <a16:creationId xmlns:a16="http://schemas.microsoft.com/office/drawing/2014/main" id="{D8C29C13-4273-7E14-C40C-2983EF4DA990}"/>
              </a:ext>
            </a:extLst>
          </p:cNvPr>
          <p:cNvSpPr>
            <a:spLocks noGrp="1"/>
          </p:cNvSpPr>
          <p:nvPr>
            <p:ph type="sldNum" sz="quarter" idx="12"/>
          </p:nvPr>
        </p:nvSpPr>
        <p:spPr/>
        <p:txBody>
          <a:bodyPr/>
          <a:lstStyle/>
          <a:p>
            <a:fld id="{EABF9873-7952-4BBF-BE6E-D6479BF557AE}" type="slidenum">
              <a:rPr lang="zh-TW" altLang="en-US" smtClean="0"/>
              <a:t>33</a:t>
            </a:fld>
            <a:endParaRPr lang="zh-TW" altLang="en-US"/>
          </a:p>
        </p:txBody>
      </p:sp>
    </p:spTree>
    <p:extLst>
      <p:ext uri="{BB962C8B-B14F-4D97-AF65-F5344CB8AC3E}">
        <p14:creationId xmlns:p14="http://schemas.microsoft.com/office/powerpoint/2010/main" val="15450513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Pooling to Node</a:t>
            </a:r>
          </a:p>
        </p:txBody>
      </p:sp>
      <p:pic>
        <p:nvPicPr>
          <p:cNvPr id="10" name="內容版面配置區 9">
            <a:extLst>
              <a:ext uri="{FF2B5EF4-FFF2-40B4-BE49-F238E27FC236}">
                <a16:creationId xmlns:a16="http://schemas.microsoft.com/office/drawing/2014/main" id="{E550B213-8FBD-5923-AEC4-4E3DACA30B2D}"/>
              </a:ext>
            </a:extLst>
          </p:cNvPr>
          <p:cNvPicPr>
            <a:picLocks noGrp="1" noChangeAspect="1"/>
          </p:cNvPicPr>
          <p:nvPr>
            <p:ph idx="1"/>
          </p:nvPr>
        </p:nvPicPr>
        <p:blipFill rotWithShape="1">
          <a:blip r:embed="rId3"/>
          <a:srcRect b="29843"/>
          <a:stretch/>
        </p:blipFill>
        <p:spPr>
          <a:xfrm>
            <a:off x="566518" y="2104861"/>
            <a:ext cx="11058963" cy="3207368"/>
          </a:xfrm>
        </p:spPr>
      </p:pic>
      <p:sp>
        <p:nvSpPr>
          <p:cNvPr id="3" name="投影片編號版面配置區 2">
            <a:extLst>
              <a:ext uri="{FF2B5EF4-FFF2-40B4-BE49-F238E27FC236}">
                <a16:creationId xmlns:a16="http://schemas.microsoft.com/office/drawing/2014/main" id="{2D836421-3BD4-2450-58B5-1ADCB3A53C44}"/>
              </a:ext>
            </a:extLst>
          </p:cNvPr>
          <p:cNvSpPr>
            <a:spLocks noGrp="1"/>
          </p:cNvSpPr>
          <p:nvPr>
            <p:ph type="sldNum" sz="quarter" idx="12"/>
          </p:nvPr>
        </p:nvSpPr>
        <p:spPr/>
        <p:txBody>
          <a:bodyPr/>
          <a:lstStyle/>
          <a:p>
            <a:fld id="{EABF9873-7952-4BBF-BE6E-D6479BF557AE}" type="slidenum">
              <a:rPr lang="zh-TW" altLang="en-US" smtClean="0"/>
              <a:t>34</a:t>
            </a:fld>
            <a:endParaRPr lang="zh-TW" altLang="en-US"/>
          </a:p>
        </p:txBody>
      </p:sp>
    </p:spTree>
    <p:extLst>
      <p:ext uri="{BB962C8B-B14F-4D97-AF65-F5344CB8AC3E}">
        <p14:creationId xmlns:p14="http://schemas.microsoft.com/office/powerpoint/2010/main" val="826472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Pooling to Edge</a:t>
            </a:r>
          </a:p>
        </p:txBody>
      </p:sp>
      <p:pic>
        <p:nvPicPr>
          <p:cNvPr id="4" name="內容版面配置區 3">
            <a:extLst>
              <a:ext uri="{FF2B5EF4-FFF2-40B4-BE49-F238E27FC236}">
                <a16:creationId xmlns:a16="http://schemas.microsoft.com/office/drawing/2014/main" id="{BE29FDFA-9FB7-B922-72EC-DAD2DDB37B46}"/>
              </a:ext>
            </a:extLst>
          </p:cNvPr>
          <p:cNvPicPr>
            <a:picLocks noGrp="1" noChangeAspect="1"/>
          </p:cNvPicPr>
          <p:nvPr>
            <p:ph idx="1"/>
          </p:nvPr>
        </p:nvPicPr>
        <p:blipFill>
          <a:blip r:embed="rId3"/>
          <a:stretch>
            <a:fillRect/>
          </a:stretch>
        </p:blipFill>
        <p:spPr>
          <a:xfrm>
            <a:off x="706938" y="2069507"/>
            <a:ext cx="10778123" cy="3634605"/>
          </a:xfrm>
        </p:spPr>
      </p:pic>
      <p:sp>
        <p:nvSpPr>
          <p:cNvPr id="3" name="投影片編號版面配置區 2">
            <a:extLst>
              <a:ext uri="{FF2B5EF4-FFF2-40B4-BE49-F238E27FC236}">
                <a16:creationId xmlns:a16="http://schemas.microsoft.com/office/drawing/2014/main" id="{60183EFE-4D67-6600-816A-3F2D353D4009}"/>
              </a:ext>
            </a:extLst>
          </p:cNvPr>
          <p:cNvSpPr>
            <a:spLocks noGrp="1"/>
          </p:cNvSpPr>
          <p:nvPr>
            <p:ph type="sldNum" sz="quarter" idx="12"/>
          </p:nvPr>
        </p:nvSpPr>
        <p:spPr/>
        <p:txBody>
          <a:bodyPr/>
          <a:lstStyle/>
          <a:p>
            <a:fld id="{EABF9873-7952-4BBF-BE6E-D6479BF557AE}" type="slidenum">
              <a:rPr lang="zh-TW" altLang="en-US" smtClean="0"/>
              <a:t>35</a:t>
            </a:fld>
            <a:endParaRPr lang="zh-TW" altLang="en-US"/>
          </a:p>
        </p:txBody>
      </p:sp>
    </p:spTree>
    <p:extLst>
      <p:ext uri="{BB962C8B-B14F-4D97-AF65-F5344CB8AC3E}">
        <p14:creationId xmlns:p14="http://schemas.microsoft.com/office/powerpoint/2010/main" val="17891723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Pooling to Global</a:t>
            </a:r>
          </a:p>
        </p:txBody>
      </p:sp>
      <p:pic>
        <p:nvPicPr>
          <p:cNvPr id="4" name="內容版面配置區 3">
            <a:extLst>
              <a:ext uri="{FF2B5EF4-FFF2-40B4-BE49-F238E27FC236}">
                <a16:creationId xmlns:a16="http://schemas.microsoft.com/office/drawing/2014/main" id="{F1990B67-4431-B516-AD13-9205A67D3C07}"/>
              </a:ext>
            </a:extLst>
          </p:cNvPr>
          <p:cNvPicPr>
            <a:picLocks noGrp="1" noChangeAspect="1"/>
          </p:cNvPicPr>
          <p:nvPr>
            <p:ph idx="1"/>
          </p:nvPr>
        </p:nvPicPr>
        <p:blipFill>
          <a:blip r:embed="rId3"/>
          <a:stretch>
            <a:fillRect/>
          </a:stretch>
        </p:blipFill>
        <p:spPr>
          <a:xfrm>
            <a:off x="603713" y="2279063"/>
            <a:ext cx="10984574" cy="3483169"/>
          </a:xfrm>
        </p:spPr>
      </p:pic>
      <p:sp>
        <p:nvSpPr>
          <p:cNvPr id="3" name="投影片編號版面配置區 2">
            <a:extLst>
              <a:ext uri="{FF2B5EF4-FFF2-40B4-BE49-F238E27FC236}">
                <a16:creationId xmlns:a16="http://schemas.microsoft.com/office/drawing/2014/main" id="{DF9A4820-C5CA-7373-CC99-0B17B18D23B2}"/>
              </a:ext>
            </a:extLst>
          </p:cNvPr>
          <p:cNvSpPr>
            <a:spLocks noGrp="1"/>
          </p:cNvSpPr>
          <p:nvPr>
            <p:ph type="sldNum" sz="quarter" idx="12"/>
          </p:nvPr>
        </p:nvSpPr>
        <p:spPr/>
        <p:txBody>
          <a:bodyPr/>
          <a:lstStyle/>
          <a:p>
            <a:fld id="{EABF9873-7952-4BBF-BE6E-D6479BF557AE}" type="slidenum">
              <a:rPr lang="zh-TW" altLang="en-US" smtClean="0"/>
              <a:t>36</a:t>
            </a:fld>
            <a:endParaRPr lang="zh-TW" altLang="en-US"/>
          </a:p>
        </p:txBody>
      </p:sp>
    </p:spTree>
    <p:extLst>
      <p:ext uri="{BB962C8B-B14F-4D97-AF65-F5344CB8AC3E}">
        <p14:creationId xmlns:p14="http://schemas.microsoft.com/office/powerpoint/2010/main" val="39202030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The Simplest GNN Model</a:t>
            </a:r>
          </a:p>
        </p:txBody>
      </p:sp>
      <p:pic>
        <p:nvPicPr>
          <p:cNvPr id="4" name="內容版面配置區 3">
            <a:extLst>
              <a:ext uri="{FF2B5EF4-FFF2-40B4-BE49-F238E27FC236}">
                <a16:creationId xmlns:a16="http://schemas.microsoft.com/office/drawing/2014/main" id="{7F173D20-2317-EB9B-7EA9-371075E114B9}"/>
              </a:ext>
            </a:extLst>
          </p:cNvPr>
          <p:cNvPicPr>
            <a:picLocks noGrp="1" noChangeAspect="1"/>
          </p:cNvPicPr>
          <p:nvPr>
            <p:ph idx="1"/>
          </p:nvPr>
        </p:nvPicPr>
        <p:blipFill>
          <a:blip r:embed="rId3"/>
          <a:stretch>
            <a:fillRect/>
          </a:stretch>
        </p:blipFill>
        <p:spPr>
          <a:xfrm>
            <a:off x="92528" y="2410857"/>
            <a:ext cx="12006943" cy="2594996"/>
          </a:xfrm>
        </p:spPr>
      </p:pic>
      <p:sp>
        <p:nvSpPr>
          <p:cNvPr id="3" name="投影片編號版面配置區 2">
            <a:extLst>
              <a:ext uri="{FF2B5EF4-FFF2-40B4-BE49-F238E27FC236}">
                <a16:creationId xmlns:a16="http://schemas.microsoft.com/office/drawing/2014/main" id="{B9212AD2-E713-3756-59A2-3EA0DC04A1FA}"/>
              </a:ext>
            </a:extLst>
          </p:cNvPr>
          <p:cNvSpPr>
            <a:spLocks noGrp="1"/>
          </p:cNvSpPr>
          <p:nvPr>
            <p:ph type="sldNum" sz="quarter" idx="12"/>
          </p:nvPr>
        </p:nvSpPr>
        <p:spPr/>
        <p:txBody>
          <a:bodyPr/>
          <a:lstStyle/>
          <a:p>
            <a:fld id="{EABF9873-7952-4BBF-BE6E-D6479BF557AE}" type="slidenum">
              <a:rPr lang="zh-TW" altLang="en-US" smtClean="0"/>
              <a:t>37</a:t>
            </a:fld>
            <a:endParaRPr lang="zh-TW" altLang="en-US" dirty="0"/>
          </a:p>
        </p:txBody>
      </p:sp>
    </p:spTree>
    <p:extLst>
      <p:ext uri="{BB962C8B-B14F-4D97-AF65-F5344CB8AC3E}">
        <p14:creationId xmlns:p14="http://schemas.microsoft.com/office/powerpoint/2010/main" val="26101493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Simplest Model Problem</a:t>
            </a:r>
          </a:p>
        </p:txBody>
      </p:sp>
      <p:sp>
        <p:nvSpPr>
          <p:cNvPr id="6" name="內容版面配置區 5">
            <a:extLst>
              <a:ext uri="{FF2B5EF4-FFF2-40B4-BE49-F238E27FC236}">
                <a16:creationId xmlns:a16="http://schemas.microsoft.com/office/drawing/2014/main" id="{C3AF34AD-4831-3E42-D15C-67DFA24FEFD8}"/>
              </a:ext>
            </a:extLst>
          </p:cNvPr>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Not using the connectivity of the graph at all inside the GNN layer. Each node is processed independently</a:t>
            </a:r>
            <a:endParaRPr lang="zh-TW" altLang="en-US"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DA0220B0-F642-53A3-304F-09C313F1C6B0}"/>
              </a:ext>
            </a:extLst>
          </p:cNvPr>
          <p:cNvSpPr>
            <a:spLocks noGrp="1"/>
          </p:cNvSpPr>
          <p:nvPr>
            <p:ph type="sldNum" sz="quarter" idx="12"/>
          </p:nvPr>
        </p:nvSpPr>
        <p:spPr/>
        <p:txBody>
          <a:bodyPr/>
          <a:lstStyle/>
          <a:p>
            <a:fld id="{EABF9873-7952-4BBF-BE6E-D6479BF557AE}" type="slidenum">
              <a:rPr lang="zh-TW" altLang="en-US" smtClean="0"/>
              <a:t>38</a:t>
            </a:fld>
            <a:endParaRPr lang="zh-TW" altLang="en-US"/>
          </a:p>
        </p:txBody>
      </p:sp>
    </p:spTree>
    <p:extLst>
      <p:ext uri="{BB962C8B-B14F-4D97-AF65-F5344CB8AC3E}">
        <p14:creationId xmlns:p14="http://schemas.microsoft.com/office/powerpoint/2010/main" val="17131285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Passing Messages</a:t>
            </a:r>
          </a:p>
        </p:txBody>
      </p:sp>
      <p:pic>
        <p:nvPicPr>
          <p:cNvPr id="4" name="內容版面配置區 3">
            <a:extLst>
              <a:ext uri="{FF2B5EF4-FFF2-40B4-BE49-F238E27FC236}">
                <a16:creationId xmlns:a16="http://schemas.microsoft.com/office/drawing/2014/main" id="{5233C454-FC08-A70F-45B6-385924535CC7}"/>
              </a:ext>
            </a:extLst>
          </p:cNvPr>
          <p:cNvPicPr>
            <a:picLocks noGrp="1" noChangeAspect="1"/>
          </p:cNvPicPr>
          <p:nvPr>
            <p:ph idx="1"/>
          </p:nvPr>
        </p:nvPicPr>
        <p:blipFill rotWithShape="1">
          <a:blip r:embed="rId3"/>
          <a:srcRect b="17913"/>
          <a:stretch/>
        </p:blipFill>
        <p:spPr>
          <a:xfrm>
            <a:off x="269169" y="1825625"/>
            <a:ext cx="11653662" cy="4270375"/>
          </a:xfrm>
        </p:spPr>
      </p:pic>
      <p:sp>
        <p:nvSpPr>
          <p:cNvPr id="3" name="投影片編號版面配置區 2">
            <a:extLst>
              <a:ext uri="{FF2B5EF4-FFF2-40B4-BE49-F238E27FC236}">
                <a16:creationId xmlns:a16="http://schemas.microsoft.com/office/drawing/2014/main" id="{DB26F513-A2D7-3F83-2A28-C2CEEE785135}"/>
              </a:ext>
            </a:extLst>
          </p:cNvPr>
          <p:cNvSpPr>
            <a:spLocks noGrp="1"/>
          </p:cNvSpPr>
          <p:nvPr>
            <p:ph type="sldNum" sz="quarter" idx="12"/>
          </p:nvPr>
        </p:nvSpPr>
        <p:spPr/>
        <p:txBody>
          <a:bodyPr/>
          <a:lstStyle/>
          <a:p>
            <a:fld id="{EABF9873-7952-4BBF-BE6E-D6479BF557AE}" type="slidenum">
              <a:rPr lang="zh-TW" altLang="en-US" smtClean="0"/>
              <a:t>39</a:t>
            </a:fld>
            <a:endParaRPr lang="zh-TW" altLang="en-US"/>
          </a:p>
        </p:txBody>
      </p:sp>
    </p:spTree>
    <p:extLst>
      <p:ext uri="{BB962C8B-B14F-4D97-AF65-F5344CB8AC3E}">
        <p14:creationId xmlns:p14="http://schemas.microsoft.com/office/powerpoint/2010/main" val="33262109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Convolution of CNN</a:t>
            </a:r>
          </a:p>
        </p:txBody>
      </p:sp>
      <p:pic>
        <p:nvPicPr>
          <p:cNvPr id="3" name="內容版面配置區 2">
            <a:extLst>
              <a:ext uri="{FF2B5EF4-FFF2-40B4-BE49-F238E27FC236}">
                <a16:creationId xmlns:a16="http://schemas.microsoft.com/office/drawing/2014/main" id="{35DC58D2-EE2F-23D0-7BA3-6BCAD581879B}"/>
              </a:ext>
            </a:extLst>
          </p:cNvPr>
          <p:cNvPicPr>
            <a:picLocks noGrp="1" noChangeAspect="1"/>
          </p:cNvPicPr>
          <p:nvPr>
            <p:ph idx="1"/>
          </p:nvPr>
        </p:nvPicPr>
        <p:blipFill rotWithShape="1">
          <a:blip r:embed="rId3"/>
          <a:srcRect t="9299"/>
          <a:stretch/>
        </p:blipFill>
        <p:spPr>
          <a:xfrm>
            <a:off x="233775" y="1803400"/>
            <a:ext cx="11724449" cy="3987800"/>
          </a:xfrm>
          <a:prstGeom prst="rect">
            <a:avLst/>
          </a:prstGeom>
        </p:spPr>
      </p:pic>
      <p:sp>
        <p:nvSpPr>
          <p:cNvPr id="4" name="投影片編號版面配置區 3">
            <a:extLst>
              <a:ext uri="{FF2B5EF4-FFF2-40B4-BE49-F238E27FC236}">
                <a16:creationId xmlns:a16="http://schemas.microsoft.com/office/drawing/2014/main" id="{2B06E044-8594-004D-B7B6-6C1BAB9A8E7E}"/>
              </a:ext>
            </a:extLst>
          </p:cNvPr>
          <p:cNvSpPr>
            <a:spLocks noGrp="1"/>
          </p:cNvSpPr>
          <p:nvPr>
            <p:ph type="sldNum" sz="quarter" idx="12"/>
          </p:nvPr>
        </p:nvSpPr>
        <p:spPr/>
        <p:txBody>
          <a:bodyPr/>
          <a:lstStyle/>
          <a:p>
            <a:fld id="{EABF9873-7952-4BBF-BE6E-D6479BF557AE}" type="slidenum">
              <a:rPr lang="zh-TW" altLang="en-US" smtClean="0"/>
              <a:t>40</a:t>
            </a:fld>
            <a:endParaRPr lang="zh-TW" altLang="en-US"/>
          </a:p>
        </p:txBody>
      </p:sp>
    </p:spTree>
    <p:extLst>
      <p:ext uri="{BB962C8B-B14F-4D97-AF65-F5344CB8AC3E}">
        <p14:creationId xmlns:p14="http://schemas.microsoft.com/office/powerpoint/2010/main" val="29553020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Simple Message Passing Model</a:t>
            </a:r>
          </a:p>
        </p:txBody>
      </p:sp>
      <p:pic>
        <p:nvPicPr>
          <p:cNvPr id="4" name="內容版面配置區 3">
            <a:extLst>
              <a:ext uri="{FF2B5EF4-FFF2-40B4-BE49-F238E27FC236}">
                <a16:creationId xmlns:a16="http://schemas.microsoft.com/office/drawing/2014/main" id="{B2403611-42BB-62AD-FFAD-F6E7BC24B5B5}"/>
              </a:ext>
            </a:extLst>
          </p:cNvPr>
          <p:cNvPicPr>
            <a:picLocks noGrp="1" noChangeAspect="1"/>
          </p:cNvPicPr>
          <p:nvPr>
            <p:ph idx="1"/>
          </p:nvPr>
        </p:nvPicPr>
        <p:blipFill rotWithShape="1">
          <a:blip r:embed="rId3"/>
          <a:srcRect b="25502"/>
          <a:stretch/>
        </p:blipFill>
        <p:spPr>
          <a:xfrm>
            <a:off x="54733" y="2024062"/>
            <a:ext cx="12082533" cy="3779838"/>
          </a:xfrm>
        </p:spPr>
      </p:pic>
      <p:sp>
        <p:nvSpPr>
          <p:cNvPr id="3" name="投影片編號版面配置區 2">
            <a:extLst>
              <a:ext uri="{FF2B5EF4-FFF2-40B4-BE49-F238E27FC236}">
                <a16:creationId xmlns:a16="http://schemas.microsoft.com/office/drawing/2014/main" id="{DFF02C87-CD35-7814-0C36-EC1A3750A74A}"/>
              </a:ext>
            </a:extLst>
          </p:cNvPr>
          <p:cNvSpPr>
            <a:spLocks noGrp="1"/>
          </p:cNvSpPr>
          <p:nvPr>
            <p:ph type="sldNum" sz="quarter" idx="12"/>
          </p:nvPr>
        </p:nvSpPr>
        <p:spPr/>
        <p:txBody>
          <a:bodyPr/>
          <a:lstStyle/>
          <a:p>
            <a:fld id="{EABF9873-7952-4BBF-BE6E-D6479BF557AE}" type="slidenum">
              <a:rPr lang="zh-TW" altLang="en-US" smtClean="0"/>
              <a:t>41</a:t>
            </a:fld>
            <a:endParaRPr lang="zh-TW" altLang="en-US"/>
          </a:p>
        </p:txBody>
      </p:sp>
    </p:spTree>
    <p:extLst>
      <p:ext uri="{BB962C8B-B14F-4D97-AF65-F5344CB8AC3E}">
        <p14:creationId xmlns:p14="http://schemas.microsoft.com/office/powerpoint/2010/main" val="5551330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Learning Edge Representations</a:t>
            </a:r>
          </a:p>
        </p:txBody>
      </p:sp>
      <p:pic>
        <p:nvPicPr>
          <p:cNvPr id="4" name="內容版面配置區 3">
            <a:extLst>
              <a:ext uri="{FF2B5EF4-FFF2-40B4-BE49-F238E27FC236}">
                <a16:creationId xmlns:a16="http://schemas.microsoft.com/office/drawing/2014/main" id="{05202266-2975-3006-9D9A-3AED300C2B64}"/>
              </a:ext>
            </a:extLst>
          </p:cNvPr>
          <p:cNvPicPr>
            <a:picLocks noGrp="1" noChangeAspect="1"/>
          </p:cNvPicPr>
          <p:nvPr>
            <p:ph idx="1"/>
          </p:nvPr>
        </p:nvPicPr>
        <p:blipFill rotWithShape="1">
          <a:blip r:embed="rId3"/>
          <a:srcRect b="26961"/>
          <a:stretch/>
        </p:blipFill>
        <p:spPr>
          <a:xfrm>
            <a:off x="84565" y="2130425"/>
            <a:ext cx="12022869" cy="3876675"/>
          </a:xfrm>
        </p:spPr>
      </p:pic>
      <p:sp>
        <p:nvSpPr>
          <p:cNvPr id="3" name="投影片編號版面配置區 2">
            <a:extLst>
              <a:ext uri="{FF2B5EF4-FFF2-40B4-BE49-F238E27FC236}">
                <a16:creationId xmlns:a16="http://schemas.microsoft.com/office/drawing/2014/main" id="{275E7958-C2CF-2E78-6E52-D512205544C0}"/>
              </a:ext>
            </a:extLst>
          </p:cNvPr>
          <p:cNvSpPr>
            <a:spLocks noGrp="1"/>
          </p:cNvSpPr>
          <p:nvPr>
            <p:ph type="sldNum" sz="quarter" idx="12"/>
          </p:nvPr>
        </p:nvSpPr>
        <p:spPr/>
        <p:txBody>
          <a:bodyPr/>
          <a:lstStyle/>
          <a:p>
            <a:fld id="{EABF9873-7952-4BBF-BE6E-D6479BF557AE}" type="slidenum">
              <a:rPr lang="zh-TW" altLang="en-US" smtClean="0"/>
              <a:t>42</a:t>
            </a:fld>
            <a:endParaRPr lang="zh-TW" altLang="en-US"/>
          </a:p>
        </p:txBody>
      </p:sp>
    </p:spTree>
    <p:extLst>
      <p:ext uri="{BB962C8B-B14F-4D97-AF65-F5344CB8AC3E}">
        <p14:creationId xmlns:p14="http://schemas.microsoft.com/office/powerpoint/2010/main" val="13110655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Pooling Order</a:t>
            </a:r>
          </a:p>
        </p:txBody>
      </p:sp>
      <p:pic>
        <p:nvPicPr>
          <p:cNvPr id="4" name="內容版面配置區 3">
            <a:extLst>
              <a:ext uri="{FF2B5EF4-FFF2-40B4-BE49-F238E27FC236}">
                <a16:creationId xmlns:a16="http://schemas.microsoft.com/office/drawing/2014/main" id="{B436A135-598B-05FF-8236-9D010124C40C}"/>
              </a:ext>
            </a:extLst>
          </p:cNvPr>
          <p:cNvPicPr>
            <a:picLocks noGrp="1" noChangeAspect="1"/>
          </p:cNvPicPr>
          <p:nvPr>
            <p:ph idx="1"/>
          </p:nvPr>
        </p:nvPicPr>
        <p:blipFill>
          <a:blip r:embed="rId3"/>
          <a:stretch>
            <a:fillRect/>
          </a:stretch>
        </p:blipFill>
        <p:spPr>
          <a:xfrm>
            <a:off x="164856" y="2083452"/>
            <a:ext cx="11862288" cy="4126848"/>
          </a:xfrm>
        </p:spPr>
      </p:pic>
      <p:sp>
        <p:nvSpPr>
          <p:cNvPr id="3" name="投影片編號版面配置區 2">
            <a:extLst>
              <a:ext uri="{FF2B5EF4-FFF2-40B4-BE49-F238E27FC236}">
                <a16:creationId xmlns:a16="http://schemas.microsoft.com/office/drawing/2014/main" id="{410D2E98-3663-E291-CF54-B0785F8ECE04}"/>
              </a:ext>
            </a:extLst>
          </p:cNvPr>
          <p:cNvSpPr>
            <a:spLocks noGrp="1"/>
          </p:cNvSpPr>
          <p:nvPr>
            <p:ph type="sldNum" sz="quarter" idx="12"/>
          </p:nvPr>
        </p:nvSpPr>
        <p:spPr/>
        <p:txBody>
          <a:bodyPr/>
          <a:lstStyle/>
          <a:p>
            <a:fld id="{EABF9873-7952-4BBF-BE6E-D6479BF557AE}" type="slidenum">
              <a:rPr lang="zh-TW" altLang="en-US" smtClean="0"/>
              <a:t>43</a:t>
            </a:fld>
            <a:endParaRPr lang="zh-TW" altLang="en-US"/>
          </a:p>
        </p:txBody>
      </p:sp>
    </p:spTree>
    <p:extLst>
      <p:ext uri="{BB962C8B-B14F-4D97-AF65-F5344CB8AC3E}">
        <p14:creationId xmlns:p14="http://schemas.microsoft.com/office/powerpoint/2010/main" val="21568343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Weave Layer</a:t>
            </a:r>
          </a:p>
        </p:txBody>
      </p:sp>
      <p:pic>
        <p:nvPicPr>
          <p:cNvPr id="4" name="內容版面配置區 3">
            <a:extLst>
              <a:ext uri="{FF2B5EF4-FFF2-40B4-BE49-F238E27FC236}">
                <a16:creationId xmlns:a16="http://schemas.microsoft.com/office/drawing/2014/main" id="{88CBA19F-2DDB-1909-F847-1582705DB474}"/>
              </a:ext>
            </a:extLst>
          </p:cNvPr>
          <p:cNvPicPr>
            <a:picLocks noGrp="1" noChangeAspect="1"/>
          </p:cNvPicPr>
          <p:nvPr>
            <p:ph idx="1"/>
          </p:nvPr>
        </p:nvPicPr>
        <p:blipFill rotWithShape="1">
          <a:blip r:embed="rId3"/>
          <a:srcRect b="24918"/>
          <a:stretch/>
        </p:blipFill>
        <p:spPr>
          <a:xfrm>
            <a:off x="229431" y="2092325"/>
            <a:ext cx="11733137" cy="3673475"/>
          </a:xfrm>
        </p:spPr>
      </p:pic>
      <p:sp>
        <p:nvSpPr>
          <p:cNvPr id="3" name="投影片編號版面配置區 2">
            <a:extLst>
              <a:ext uri="{FF2B5EF4-FFF2-40B4-BE49-F238E27FC236}">
                <a16:creationId xmlns:a16="http://schemas.microsoft.com/office/drawing/2014/main" id="{4804FAB5-57AE-61A4-16FA-8151207BF618}"/>
              </a:ext>
            </a:extLst>
          </p:cNvPr>
          <p:cNvSpPr>
            <a:spLocks noGrp="1"/>
          </p:cNvSpPr>
          <p:nvPr>
            <p:ph type="sldNum" sz="quarter" idx="12"/>
          </p:nvPr>
        </p:nvSpPr>
        <p:spPr/>
        <p:txBody>
          <a:bodyPr/>
          <a:lstStyle/>
          <a:p>
            <a:fld id="{EABF9873-7952-4BBF-BE6E-D6479BF557AE}" type="slidenum">
              <a:rPr lang="zh-TW" altLang="en-US" smtClean="0"/>
              <a:t>44</a:t>
            </a:fld>
            <a:endParaRPr lang="zh-TW" altLang="en-US"/>
          </a:p>
        </p:txBody>
      </p:sp>
    </p:spTree>
    <p:extLst>
      <p:ext uri="{BB962C8B-B14F-4D97-AF65-F5344CB8AC3E}">
        <p14:creationId xmlns:p14="http://schemas.microsoft.com/office/powerpoint/2010/main" val="19655096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Adding Global Representations</a:t>
            </a:r>
          </a:p>
        </p:txBody>
      </p:sp>
      <p:sp>
        <p:nvSpPr>
          <p:cNvPr id="6" name="內容版面配置區 5">
            <a:extLst>
              <a:ext uri="{FF2B5EF4-FFF2-40B4-BE49-F238E27FC236}">
                <a16:creationId xmlns:a16="http://schemas.microsoft.com/office/drawing/2014/main" id="{C3AF34AD-4831-3E42-D15C-67DFA24FEFD8}"/>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Large and sparse Graph</a:t>
            </a:r>
          </a:p>
          <a:p>
            <a:r>
              <a:rPr lang="en-US" altLang="zh-TW" dirty="0">
                <a:latin typeface="Times New Roman" panose="02020603050405020304" pitchFamily="18" charset="0"/>
                <a:cs typeface="Times New Roman" panose="02020603050405020304" pitchFamily="18" charset="0"/>
              </a:rPr>
              <a:t>Master node or context vector</a:t>
            </a:r>
          </a:p>
          <a:p>
            <a:r>
              <a:rPr lang="en-US" altLang="zh-TW" dirty="0">
                <a:latin typeface="Times New Roman" panose="02020603050405020304" pitchFamily="18" charset="0"/>
                <a:cs typeface="Times New Roman" panose="02020603050405020304" pitchFamily="18" charset="0"/>
              </a:rPr>
              <a:t>Abstract</a:t>
            </a:r>
          </a:p>
          <a:p>
            <a:endParaRPr lang="zh-TW" altLang="en-US" dirty="0"/>
          </a:p>
        </p:txBody>
      </p:sp>
      <p:sp>
        <p:nvSpPr>
          <p:cNvPr id="3" name="投影片編號版面配置區 2">
            <a:extLst>
              <a:ext uri="{FF2B5EF4-FFF2-40B4-BE49-F238E27FC236}">
                <a16:creationId xmlns:a16="http://schemas.microsoft.com/office/drawing/2014/main" id="{9C0FFE77-A919-6500-5CE0-BBCAFA03656F}"/>
              </a:ext>
            </a:extLst>
          </p:cNvPr>
          <p:cNvSpPr>
            <a:spLocks noGrp="1"/>
          </p:cNvSpPr>
          <p:nvPr>
            <p:ph type="sldNum" sz="quarter" idx="12"/>
          </p:nvPr>
        </p:nvSpPr>
        <p:spPr/>
        <p:txBody>
          <a:bodyPr/>
          <a:lstStyle/>
          <a:p>
            <a:fld id="{EABF9873-7952-4BBF-BE6E-D6479BF557AE}" type="slidenum">
              <a:rPr lang="zh-TW" altLang="en-US" smtClean="0"/>
              <a:t>45</a:t>
            </a:fld>
            <a:endParaRPr lang="zh-TW" altLang="en-US"/>
          </a:p>
        </p:txBody>
      </p:sp>
    </p:spTree>
    <p:extLst>
      <p:ext uri="{BB962C8B-B14F-4D97-AF65-F5344CB8AC3E}">
        <p14:creationId xmlns:p14="http://schemas.microsoft.com/office/powerpoint/2010/main" val="7568335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Graph Nets Layer</a:t>
            </a:r>
          </a:p>
        </p:txBody>
      </p:sp>
      <p:pic>
        <p:nvPicPr>
          <p:cNvPr id="4" name="內容版面配置區 3">
            <a:extLst>
              <a:ext uri="{FF2B5EF4-FFF2-40B4-BE49-F238E27FC236}">
                <a16:creationId xmlns:a16="http://schemas.microsoft.com/office/drawing/2014/main" id="{18BD8706-7DE2-7CD6-74E2-EB130588BD8F}"/>
              </a:ext>
            </a:extLst>
          </p:cNvPr>
          <p:cNvPicPr>
            <a:picLocks noGrp="1" noChangeAspect="1"/>
          </p:cNvPicPr>
          <p:nvPr>
            <p:ph idx="1"/>
          </p:nvPr>
        </p:nvPicPr>
        <p:blipFill rotWithShape="1">
          <a:blip r:embed="rId3"/>
          <a:srcRect b="25502"/>
          <a:stretch/>
        </p:blipFill>
        <p:spPr>
          <a:xfrm>
            <a:off x="154657" y="1960562"/>
            <a:ext cx="11882686" cy="3741738"/>
          </a:xfrm>
        </p:spPr>
      </p:pic>
      <p:sp>
        <p:nvSpPr>
          <p:cNvPr id="3" name="投影片編號版面配置區 2">
            <a:extLst>
              <a:ext uri="{FF2B5EF4-FFF2-40B4-BE49-F238E27FC236}">
                <a16:creationId xmlns:a16="http://schemas.microsoft.com/office/drawing/2014/main" id="{BF134E60-43EF-9A15-8090-904D4528090B}"/>
              </a:ext>
            </a:extLst>
          </p:cNvPr>
          <p:cNvSpPr>
            <a:spLocks noGrp="1"/>
          </p:cNvSpPr>
          <p:nvPr>
            <p:ph type="sldNum" sz="quarter" idx="12"/>
          </p:nvPr>
        </p:nvSpPr>
        <p:spPr/>
        <p:txBody>
          <a:bodyPr/>
          <a:lstStyle/>
          <a:p>
            <a:fld id="{EABF9873-7952-4BBF-BE6E-D6479BF557AE}" type="slidenum">
              <a:rPr lang="zh-TW" altLang="en-US" smtClean="0"/>
              <a:t>46</a:t>
            </a:fld>
            <a:endParaRPr lang="zh-TW" altLang="en-US"/>
          </a:p>
        </p:txBody>
      </p:sp>
    </p:spTree>
    <p:extLst>
      <p:ext uri="{BB962C8B-B14F-4D97-AF65-F5344CB8AC3E}">
        <p14:creationId xmlns:p14="http://schemas.microsoft.com/office/powerpoint/2010/main" val="25139586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Message Passing Model</a:t>
            </a:r>
          </a:p>
        </p:txBody>
      </p:sp>
      <p:pic>
        <p:nvPicPr>
          <p:cNvPr id="7" name="內容版面配置區 6">
            <a:extLst>
              <a:ext uri="{FF2B5EF4-FFF2-40B4-BE49-F238E27FC236}">
                <a16:creationId xmlns:a16="http://schemas.microsoft.com/office/drawing/2014/main" id="{32B3DDBC-24C1-524B-7217-382EF294F0CC}"/>
              </a:ext>
            </a:extLst>
          </p:cNvPr>
          <p:cNvPicPr>
            <a:picLocks noGrp="1" noChangeAspect="1"/>
          </p:cNvPicPr>
          <p:nvPr>
            <p:ph idx="1"/>
          </p:nvPr>
        </p:nvPicPr>
        <p:blipFill>
          <a:blip r:embed="rId3"/>
          <a:stretch>
            <a:fillRect/>
          </a:stretch>
        </p:blipFill>
        <p:spPr>
          <a:xfrm>
            <a:off x="211791" y="2030785"/>
            <a:ext cx="11768418" cy="4268415"/>
          </a:xfrm>
        </p:spPr>
      </p:pic>
      <p:sp>
        <p:nvSpPr>
          <p:cNvPr id="3" name="投影片編號版面配置區 2">
            <a:extLst>
              <a:ext uri="{FF2B5EF4-FFF2-40B4-BE49-F238E27FC236}">
                <a16:creationId xmlns:a16="http://schemas.microsoft.com/office/drawing/2014/main" id="{A84DBFA8-B4C6-B838-DE19-A8987CCC78F5}"/>
              </a:ext>
            </a:extLst>
          </p:cNvPr>
          <p:cNvSpPr>
            <a:spLocks noGrp="1"/>
          </p:cNvSpPr>
          <p:nvPr>
            <p:ph type="sldNum" sz="quarter" idx="12"/>
          </p:nvPr>
        </p:nvSpPr>
        <p:spPr/>
        <p:txBody>
          <a:bodyPr/>
          <a:lstStyle/>
          <a:p>
            <a:fld id="{EABF9873-7952-4BBF-BE6E-D6479BF557AE}" type="slidenum">
              <a:rPr lang="zh-TW" altLang="en-US" smtClean="0"/>
              <a:t>47</a:t>
            </a:fld>
            <a:endParaRPr lang="zh-TW" altLang="en-US"/>
          </a:p>
        </p:txBody>
      </p:sp>
    </p:spTree>
    <p:extLst>
      <p:ext uri="{BB962C8B-B14F-4D97-AF65-F5344CB8AC3E}">
        <p14:creationId xmlns:p14="http://schemas.microsoft.com/office/powerpoint/2010/main" val="435229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Message Passing Model</a:t>
            </a:r>
          </a:p>
        </p:txBody>
      </p:sp>
      <p:pic>
        <p:nvPicPr>
          <p:cNvPr id="7" name="內容版面配置區 6">
            <a:extLst>
              <a:ext uri="{FF2B5EF4-FFF2-40B4-BE49-F238E27FC236}">
                <a16:creationId xmlns:a16="http://schemas.microsoft.com/office/drawing/2014/main" id="{9A7F2D19-DC60-A156-B8FA-50ED06CD08C8}"/>
              </a:ext>
            </a:extLst>
          </p:cNvPr>
          <p:cNvPicPr>
            <a:picLocks noGrp="1" noChangeAspect="1"/>
          </p:cNvPicPr>
          <p:nvPr>
            <p:ph idx="1"/>
          </p:nvPr>
        </p:nvPicPr>
        <p:blipFill>
          <a:blip r:embed="rId3"/>
          <a:stretch>
            <a:fillRect/>
          </a:stretch>
        </p:blipFill>
        <p:spPr>
          <a:xfrm>
            <a:off x="362522" y="1690688"/>
            <a:ext cx="11466956" cy="4747073"/>
          </a:xfrm>
        </p:spPr>
      </p:pic>
      <p:sp>
        <p:nvSpPr>
          <p:cNvPr id="3" name="投影片編號版面配置區 2">
            <a:extLst>
              <a:ext uri="{FF2B5EF4-FFF2-40B4-BE49-F238E27FC236}">
                <a16:creationId xmlns:a16="http://schemas.microsoft.com/office/drawing/2014/main" id="{8D5AEE15-6FA5-1D04-01C4-B561385A8A98}"/>
              </a:ext>
            </a:extLst>
          </p:cNvPr>
          <p:cNvSpPr>
            <a:spLocks noGrp="1"/>
          </p:cNvSpPr>
          <p:nvPr>
            <p:ph type="sldNum" sz="quarter" idx="12"/>
          </p:nvPr>
        </p:nvSpPr>
        <p:spPr/>
        <p:txBody>
          <a:bodyPr/>
          <a:lstStyle/>
          <a:p>
            <a:fld id="{EABF9873-7952-4BBF-BE6E-D6479BF557AE}" type="slidenum">
              <a:rPr lang="zh-TW" altLang="en-US" smtClean="0"/>
              <a:t>48</a:t>
            </a:fld>
            <a:endParaRPr lang="zh-TW" altLang="en-US"/>
          </a:p>
        </p:txBody>
      </p:sp>
    </p:spTree>
    <p:extLst>
      <p:ext uri="{BB962C8B-B14F-4D97-AF65-F5344CB8AC3E}">
        <p14:creationId xmlns:p14="http://schemas.microsoft.com/office/powerpoint/2010/main" val="8353381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Feature for Node n</a:t>
            </a:r>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ADDC4425-C16D-3AA4-952B-90A53B56812B}"/>
                  </a:ext>
                </a:extLst>
              </p:cNvPr>
              <p:cNvSpPr>
                <a:spLocks noGrp="1"/>
              </p:cNvSpPr>
              <p:nvPr>
                <p:ph idx="1"/>
              </p:nvPr>
            </p:nvSpPr>
            <p:spPr/>
            <p:txBody>
              <a:bodyPr/>
              <a:lstStyle/>
              <a:p>
                <a14:m>
                  <m:oMath xmlns:m="http://schemas.openxmlformats.org/officeDocument/2006/math">
                    <m:r>
                      <a:rPr lang="en-US" altLang="zh-TW" sz="4000" b="0" i="1" smtClean="0">
                        <a:latin typeface="Cambria Math" panose="02040503050406030204" pitchFamily="18" charset="0"/>
                      </a:rPr>
                      <m:t>𝑛𝑒</m:t>
                    </m:r>
                    <m:d>
                      <m:dPr>
                        <m:begChr m:val="["/>
                        <m:endChr m:val="]"/>
                        <m:ctrlPr>
                          <a:rPr lang="en-US" altLang="zh-TW" sz="4000" b="0" i="1" smtClean="0">
                            <a:latin typeface="Cambria Math" panose="02040503050406030204" pitchFamily="18" charset="0"/>
                          </a:rPr>
                        </m:ctrlPr>
                      </m:dPr>
                      <m:e>
                        <m:r>
                          <a:rPr lang="en-US" altLang="zh-TW" sz="4000" b="0" i="1" smtClean="0">
                            <a:latin typeface="Cambria Math" panose="02040503050406030204" pitchFamily="18" charset="0"/>
                          </a:rPr>
                          <m:t>𝑛</m:t>
                        </m:r>
                      </m:e>
                    </m:d>
                  </m:oMath>
                </a14:m>
                <a:endParaRPr lang="en-US" altLang="zh-TW" sz="4000" b="0" dirty="0"/>
              </a:p>
              <a:p>
                <a14:m>
                  <m:oMath xmlns:m="http://schemas.openxmlformats.org/officeDocument/2006/math">
                    <m:r>
                      <a:rPr lang="en-US" altLang="zh-TW" sz="4000" b="0" i="1" smtClean="0">
                        <a:latin typeface="Cambria Math" panose="02040503050406030204" pitchFamily="18" charset="0"/>
                      </a:rPr>
                      <m:t>𝑐𝑜</m:t>
                    </m:r>
                    <m:d>
                      <m:dPr>
                        <m:begChr m:val="["/>
                        <m:endChr m:val="]"/>
                        <m:ctrlPr>
                          <a:rPr lang="en-US" altLang="zh-TW" sz="4000" b="0" i="1" smtClean="0">
                            <a:latin typeface="Cambria Math" panose="02040503050406030204" pitchFamily="18" charset="0"/>
                          </a:rPr>
                        </m:ctrlPr>
                      </m:dPr>
                      <m:e>
                        <m:r>
                          <a:rPr lang="en-US" altLang="zh-TW" sz="4000" b="0" i="1" smtClean="0">
                            <a:latin typeface="Cambria Math" panose="02040503050406030204" pitchFamily="18" charset="0"/>
                          </a:rPr>
                          <m:t>𝑛</m:t>
                        </m:r>
                      </m:e>
                    </m:d>
                  </m:oMath>
                </a14:m>
                <a:endParaRPr lang="en-US" altLang="zh-TW" sz="4000" b="0" dirty="0"/>
              </a:p>
              <a:p>
                <a14:m>
                  <m:oMath xmlns:m="http://schemas.openxmlformats.org/officeDocument/2006/math">
                    <m:sSub>
                      <m:sSubPr>
                        <m:ctrlPr>
                          <a:rPr lang="en-US" altLang="zh-TW" sz="4000" b="0" i="1" smtClean="0">
                            <a:latin typeface="Cambria Math" panose="02040503050406030204" pitchFamily="18" charset="0"/>
                          </a:rPr>
                        </m:ctrlPr>
                      </m:sSubPr>
                      <m:e>
                        <m:r>
                          <a:rPr lang="en-US" altLang="zh-TW" sz="4000" b="0" i="1" smtClean="0">
                            <a:latin typeface="Cambria Math" panose="02040503050406030204" pitchFamily="18" charset="0"/>
                          </a:rPr>
                          <m:t>𝑙</m:t>
                        </m:r>
                      </m:e>
                      <m:sub>
                        <m:r>
                          <a:rPr lang="en-US" altLang="zh-TW" sz="4000" b="0" i="1" smtClean="0">
                            <a:latin typeface="Cambria Math" panose="02040503050406030204" pitchFamily="18" charset="0"/>
                          </a:rPr>
                          <m:t>𝑛</m:t>
                        </m:r>
                      </m:sub>
                    </m:sSub>
                  </m:oMath>
                </a14:m>
                <a:endParaRPr lang="en-US" altLang="zh-TW" sz="4000" b="0" dirty="0"/>
              </a:p>
              <a:p>
                <a14:m>
                  <m:oMath xmlns:m="http://schemas.openxmlformats.org/officeDocument/2006/math">
                    <m:sSub>
                      <m:sSubPr>
                        <m:ctrlPr>
                          <a:rPr lang="en-US" altLang="zh-TW" sz="4000" b="0" i="1" smtClean="0">
                            <a:latin typeface="Cambria Math" panose="02040503050406030204" pitchFamily="18" charset="0"/>
                          </a:rPr>
                        </m:ctrlPr>
                      </m:sSubPr>
                      <m:e>
                        <m:r>
                          <a:rPr lang="en-US" altLang="zh-TW" sz="4000" b="0" i="1" smtClean="0">
                            <a:latin typeface="Cambria Math" panose="02040503050406030204" pitchFamily="18" charset="0"/>
                          </a:rPr>
                          <m:t>𝑙</m:t>
                        </m:r>
                      </m:e>
                      <m:sub>
                        <m:d>
                          <m:dPr>
                            <m:ctrlPr>
                              <a:rPr lang="en-US" altLang="zh-TW" sz="4000" b="0" i="1" smtClean="0">
                                <a:latin typeface="Cambria Math" panose="02040503050406030204" pitchFamily="18" charset="0"/>
                              </a:rPr>
                            </m:ctrlPr>
                          </m:dPr>
                          <m:e>
                            <m:sSub>
                              <m:sSubPr>
                                <m:ctrlPr>
                                  <a:rPr lang="en-US" altLang="zh-TW" sz="4000" b="0" i="1" smtClean="0">
                                    <a:latin typeface="Cambria Math" panose="02040503050406030204" pitchFamily="18" charset="0"/>
                                  </a:rPr>
                                </m:ctrlPr>
                              </m:sSubPr>
                              <m:e>
                                <m:r>
                                  <a:rPr lang="en-US" altLang="zh-TW" sz="4000" b="0" i="1" smtClean="0">
                                    <a:latin typeface="Cambria Math" panose="02040503050406030204" pitchFamily="18" charset="0"/>
                                  </a:rPr>
                                  <m:t>𝑛</m:t>
                                </m:r>
                              </m:e>
                              <m:sub>
                                <m:r>
                                  <a:rPr lang="en-US" altLang="zh-TW" sz="4000" b="0" i="1" smtClean="0">
                                    <a:latin typeface="Cambria Math" panose="02040503050406030204" pitchFamily="18" charset="0"/>
                                  </a:rPr>
                                  <m:t>1</m:t>
                                </m:r>
                              </m:sub>
                            </m:sSub>
                            <m:r>
                              <a:rPr lang="en-US" altLang="zh-TW" sz="4000" b="0" i="1" smtClean="0">
                                <a:latin typeface="Cambria Math" panose="02040503050406030204" pitchFamily="18" charset="0"/>
                              </a:rPr>
                              <m:t>,</m:t>
                            </m:r>
                            <m:sSub>
                              <m:sSubPr>
                                <m:ctrlPr>
                                  <a:rPr lang="en-US" altLang="zh-TW" sz="4000" b="0" i="1" smtClean="0">
                                    <a:latin typeface="Cambria Math" panose="02040503050406030204" pitchFamily="18" charset="0"/>
                                  </a:rPr>
                                </m:ctrlPr>
                              </m:sSubPr>
                              <m:e>
                                <m:r>
                                  <a:rPr lang="en-US" altLang="zh-TW" sz="4000" b="0" i="1" smtClean="0">
                                    <a:latin typeface="Cambria Math" panose="02040503050406030204" pitchFamily="18" charset="0"/>
                                  </a:rPr>
                                  <m:t>𝑛</m:t>
                                </m:r>
                              </m:e>
                              <m:sub>
                                <m:r>
                                  <a:rPr lang="en-US" altLang="zh-TW" sz="4000" b="0" i="1" smtClean="0">
                                    <a:latin typeface="Cambria Math" panose="02040503050406030204" pitchFamily="18" charset="0"/>
                                  </a:rPr>
                                  <m:t>2</m:t>
                                </m:r>
                              </m:sub>
                            </m:sSub>
                          </m:e>
                        </m:d>
                      </m:sub>
                    </m:sSub>
                  </m:oMath>
                </a14:m>
                <a:endParaRPr lang="en-US" altLang="zh-TW" sz="4000" b="0" dirty="0"/>
              </a:p>
              <a:p>
                <a14:m>
                  <m:oMath xmlns:m="http://schemas.openxmlformats.org/officeDocument/2006/math">
                    <m:r>
                      <a:rPr lang="en-US" altLang="zh-TW" sz="4000" b="0" i="1" smtClean="0">
                        <a:latin typeface="Cambria Math" panose="02040503050406030204" pitchFamily="18" charset="0"/>
                      </a:rPr>
                      <m:t>𝑙</m:t>
                    </m:r>
                  </m:oMath>
                </a14:m>
                <a:endParaRPr lang="en-US" altLang="zh-TW" sz="4000" b="0" dirty="0"/>
              </a:p>
              <a:p>
                <a:endParaRPr lang="en-US" altLang="zh-TW" b="0" dirty="0"/>
              </a:p>
              <a:p>
                <a:endParaRPr lang="zh-TW" altLang="en-US" dirty="0"/>
              </a:p>
            </p:txBody>
          </p:sp>
        </mc:Choice>
        <mc:Fallback xmlns="">
          <p:sp>
            <p:nvSpPr>
              <p:cNvPr id="4" name="內容版面配置區 3">
                <a:extLst>
                  <a:ext uri="{FF2B5EF4-FFF2-40B4-BE49-F238E27FC236}">
                    <a16:creationId xmlns:a16="http://schemas.microsoft.com/office/drawing/2014/main" id="{ADDC4425-C16D-3AA4-952B-90A53B56812B}"/>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zh-TW" altLang="en-US">
                    <a:noFill/>
                  </a:rPr>
                  <a:t> </a:t>
                </a:r>
              </a:p>
            </p:txBody>
          </p:sp>
        </mc:Fallback>
      </mc:AlternateContent>
      <p:sp>
        <p:nvSpPr>
          <p:cNvPr id="3" name="投影片編號版面配置區 2">
            <a:extLst>
              <a:ext uri="{FF2B5EF4-FFF2-40B4-BE49-F238E27FC236}">
                <a16:creationId xmlns:a16="http://schemas.microsoft.com/office/drawing/2014/main" id="{48255220-5D37-59F2-8961-B256C57EF13D}"/>
              </a:ext>
            </a:extLst>
          </p:cNvPr>
          <p:cNvSpPr>
            <a:spLocks noGrp="1"/>
          </p:cNvSpPr>
          <p:nvPr>
            <p:ph type="sldNum" sz="quarter" idx="12"/>
          </p:nvPr>
        </p:nvSpPr>
        <p:spPr/>
        <p:txBody>
          <a:bodyPr/>
          <a:lstStyle/>
          <a:p>
            <a:fld id="{EABF9873-7952-4BBF-BE6E-D6479BF557AE}" type="slidenum">
              <a:rPr lang="zh-TW" altLang="en-US" smtClean="0"/>
              <a:t>49</a:t>
            </a:fld>
            <a:endParaRPr lang="zh-TW" altLang="en-US"/>
          </a:p>
        </p:txBody>
      </p:sp>
    </p:spTree>
    <p:extLst>
      <p:ext uri="{BB962C8B-B14F-4D97-AF65-F5344CB8AC3E}">
        <p14:creationId xmlns:p14="http://schemas.microsoft.com/office/powerpoint/2010/main" val="23696097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Learning Set</a:t>
            </a:r>
          </a:p>
        </p:txBody>
      </p:sp>
      <p:pic>
        <p:nvPicPr>
          <p:cNvPr id="11" name="內容版面配置區 10">
            <a:extLst>
              <a:ext uri="{FF2B5EF4-FFF2-40B4-BE49-F238E27FC236}">
                <a16:creationId xmlns:a16="http://schemas.microsoft.com/office/drawing/2014/main" id="{91FA7AED-A0DD-8634-67BA-934478D492FB}"/>
              </a:ext>
            </a:extLst>
          </p:cNvPr>
          <p:cNvPicPr>
            <a:picLocks noGrp="1" noChangeAspect="1"/>
          </p:cNvPicPr>
          <p:nvPr>
            <p:ph idx="1"/>
          </p:nvPr>
        </p:nvPicPr>
        <p:blipFill>
          <a:blip r:embed="rId3"/>
          <a:stretch>
            <a:fillRect/>
          </a:stretch>
        </p:blipFill>
        <p:spPr>
          <a:xfrm>
            <a:off x="839629" y="2890855"/>
            <a:ext cx="10514171" cy="857770"/>
          </a:xfrm>
        </p:spPr>
      </p:pic>
      <p:pic>
        <p:nvPicPr>
          <p:cNvPr id="13" name="圖片 12">
            <a:extLst>
              <a:ext uri="{FF2B5EF4-FFF2-40B4-BE49-F238E27FC236}">
                <a16:creationId xmlns:a16="http://schemas.microsoft.com/office/drawing/2014/main" id="{B0EC4585-ECF5-3F00-EFB2-90782AFB05F3}"/>
              </a:ext>
            </a:extLst>
          </p:cNvPr>
          <p:cNvPicPr>
            <a:picLocks noChangeAspect="1"/>
          </p:cNvPicPr>
          <p:nvPr/>
        </p:nvPicPr>
        <p:blipFill>
          <a:blip r:embed="rId4"/>
          <a:stretch>
            <a:fillRect/>
          </a:stretch>
        </p:blipFill>
        <p:spPr>
          <a:xfrm>
            <a:off x="2984361" y="3851802"/>
            <a:ext cx="5596715" cy="612973"/>
          </a:xfrm>
          <a:prstGeom prst="rect">
            <a:avLst/>
          </a:prstGeom>
        </p:spPr>
      </p:pic>
      <p:pic>
        <p:nvPicPr>
          <p:cNvPr id="15" name="圖片 14">
            <a:extLst>
              <a:ext uri="{FF2B5EF4-FFF2-40B4-BE49-F238E27FC236}">
                <a16:creationId xmlns:a16="http://schemas.microsoft.com/office/drawing/2014/main" id="{15BAB2A7-9BDA-AD2B-EBAF-AF9B261519E4}"/>
              </a:ext>
            </a:extLst>
          </p:cNvPr>
          <p:cNvPicPr>
            <a:picLocks noChangeAspect="1"/>
          </p:cNvPicPr>
          <p:nvPr/>
        </p:nvPicPr>
        <p:blipFill>
          <a:blip r:embed="rId5"/>
          <a:stretch>
            <a:fillRect/>
          </a:stretch>
        </p:blipFill>
        <p:spPr>
          <a:xfrm>
            <a:off x="8581076" y="3748625"/>
            <a:ext cx="1464043" cy="819326"/>
          </a:xfrm>
          <a:prstGeom prst="rect">
            <a:avLst/>
          </a:prstGeom>
        </p:spPr>
      </p:pic>
      <p:sp>
        <p:nvSpPr>
          <p:cNvPr id="3" name="投影片編號版面配置區 2">
            <a:extLst>
              <a:ext uri="{FF2B5EF4-FFF2-40B4-BE49-F238E27FC236}">
                <a16:creationId xmlns:a16="http://schemas.microsoft.com/office/drawing/2014/main" id="{E67AB310-D4D4-15A9-A766-CBB8C03D7867}"/>
              </a:ext>
            </a:extLst>
          </p:cNvPr>
          <p:cNvSpPr>
            <a:spLocks noGrp="1"/>
          </p:cNvSpPr>
          <p:nvPr>
            <p:ph type="sldNum" sz="quarter" idx="12"/>
          </p:nvPr>
        </p:nvSpPr>
        <p:spPr/>
        <p:txBody>
          <a:bodyPr/>
          <a:lstStyle/>
          <a:p>
            <a:fld id="{EABF9873-7952-4BBF-BE6E-D6479BF557AE}" type="slidenum">
              <a:rPr lang="zh-TW" altLang="en-US" smtClean="0"/>
              <a:t>50</a:t>
            </a:fld>
            <a:endParaRPr lang="zh-TW" altLang="en-US"/>
          </a:p>
        </p:txBody>
      </p:sp>
    </p:spTree>
    <p:extLst>
      <p:ext uri="{BB962C8B-B14F-4D97-AF65-F5344CB8AC3E}">
        <p14:creationId xmlns:p14="http://schemas.microsoft.com/office/powerpoint/2010/main" val="317384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Set of A Pair</a:t>
            </a:r>
          </a:p>
        </p:txBody>
      </p:sp>
      <p:pic>
        <p:nvPicPr>
          <p:cNvPr id="5" name="內容版面配置區 4">
            <a:extLst>
              <a:ext uri="{FF2B5EF4-FFF2-40B4-BE49-F238E27FC236}">
                <a16:creationId xmlns:a16="http://schemas.microsoft.com/office/drawing/2014/main" id="{F9864082-9B4B-961C-40E0-98DE5B20F1F4}"/>
              </a:ext>
            </a:extLst>
          </p:cNvPr>
          <p:cNvPicPr>
            <a:picLocks noGrp="1" noChangeAspect="1"/>
          </p:cNvPicPr>
          <p:nvPr>
            <p:ph idx="1"/>
          </p:nvPr>
        </p:nvPicPr>
        <p:blipFill>
          <a:blip r:embed="rId3"/>
          <a:stretch>
            <a:fillRect/>
          </a:stretch>
        </p:blipFill>
        <p:spPr>
          <a:xfrm>
            <a:off x="838200" y="2227090"/>
            <a:ext cx="3956839" cy="516110"/>
          </a:xfrm>
        </p:spPr>
      </p:pic>
      <p:pic>
        <p:nvPicPr>
          <p:cNvPr id="7" name="圖片 6">
            <a:extLst>
              <a:ext uri="{FF2B5EF4-FFF2-40B4-BE49-F238E27FC236}">
                <a16:creationId xmlns:a16="http://schemas.microsoft.com/office/drawing/2014/main" id="{8483C83A-8BD9-54F7-C605-40D9A20E3DA5}"/>
              </a:ext>
            </a:extLst>
          </p:cNvPr>
          <p:cNvPicPr>
            <a:picLocks noChangeAspect="1"/>
          </p:cNvPicPr>
          <p:nvPr/>
        </p:nvPicPr>
        <p:blipFill>
          <a:blip r:embed="rId4"/>
          <a:stretch>
            <a:fillRect/>
          </a:stretch>
        </p:blipFill>
        <p:spPr>
          <a:xfrm>
            <a:off x="838200" y="3278340"/>
            <a:ext cx="5380464" cy="516111"/>
          </a:xfrm>
          <a:prstGeom prst="rect">
            <a:avLst/>
          </a:prstGeom>
        </p:spPr>
      </p:pic>
      <p:pic>
        <p:nvPicPr>
          <p:cNvPr id="9" name="圖片 8">
            <a:extLst>
              <a:ext uri="{FF2B5EF4-FFF2-40B4-BE49-F238E27FC236}">
                <a16:creationId xmlns:a16="http://schemas.microsoft.com/office/drawing/2014/main" id="{B8651EDB-EC7C-567D-95B8-209D2197B3D6}"/>
              </a:ext>
            </a:extLst>
          </p:cNvPr>
          <p:cNvPicPr>
            <a:picLocks noChangeAspect="1"/>
          </p:cNvPicPr>
          <p:nvPr/>
        </p:nvPicPr>
        <p:blipFill>
          <a:blip r:embed="rId5"/>
          <a:stretch>
            <a:fillRect/>
          </a:stretch>
        </p:blipFill>
        <p:spPr>
          <a:xfrm>
            <a:off x="6275207" y="3278341"/>
            <a:ext cx="4343922" cy="516110"/>
          </a:xfrm>
          <a:prstGeom prst="rect">
            <a:avLst/>
          </a:prstGeom>
        </p:spPr>
      </p:pic>
      <p:sp>
        <p:nvSpPr>
          <p:cNvPr id="3" name="投影片編號版面配置區 2">
            <a:extLst>
              <a:ext uri="{FF2B5EF4-FFF2-40B4-BE49-F238E27FC236}">
                <a16:creationId xmlns:a16="http://schemas.microsoft.com/office/drawing/2014/main" id="{F667D14A-FF6D-B5C4-51CE-D36D05106B2C}"/>
              </a:ext>
            </a:extLst>
          </p:cNvPr>
          <p:cNvSpPr>
            <a:spLocks noGrp="1"/>
          </p:cNvSpPr>
          <p:nvPr>
            <p:ph type="sldNum" sz="quarter" idx="12"/>
          </p:nvPr>
        </p:nvSpPr>
        <p:spPr/>
        <p:txBody>
          <a:bodyPr/>
          <a:lstStyle/>
          <a:p>
            <a:fld id="{EABF9873-7952-4BBF-BE6E-D6479BF557AE}" type="slidenum">
              <a:rPr lang="zh-TW" altLang="en-US" smtClean="0"/>
              <a:t>51</a:t>
            </a:fld>
            <a:endParaRPr lang="zh-TW" altLang="en-US"/>
          </a:p>
        </p:txBody>
      </p:sp>
    </p:spTree>
    <p:extLst>
      <p:ext uri="{BB962C8B-B14F-4D97-AF65-F5344CB8AC3E}">
        <p14:creationId xmlns:p14="http://schemas.microsoft.com/office/powerpoint/2010/main" val="39475905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Local Transition Function</a:t>
            </a:r>
          </a:p>
        </p:txBody>
      </p:sp>
      <p:pic>
        <p:nvPicPr>
          <p:cNvPr id="9" name="內容版面配置區 8">
            <a:extLst>
              <a:ext uri="{FF2B5EF4-FFF2-40B4-BE49-F238E27FC236}">
                <a16:creationId xmlns:a16="http://schemas.microsoft.com/office/drawing/2014/main" id="{3D3AF566-435B-2DBB-2AC5-88D4B514FB05}"/>
              </a:ext>
            </a:extLst>
          </p:cNvPr>
          <p:cNvPicPr>
            <a:picLocks noGrp="1" noChangeAspect="1"/>
          </p:cNvPicPr>
          <p:nvPr>
            <p:ph idx="1"/>
          </p:nvPr>
        </p:nvPicPr>
        <p:blipFill>
          <a:blip r:embed="rId3"/>
          <a:stretch>
            <a:fillRect/>
          </a:stretch>
        </p:blipFill>
        <p:spPr>
          <a:xfrm>
            <a:off x="2623393" y="2641339"/>
            <a:ext cx="6945214" cy="1575321"/>
          </a:xfrm>
        </p:spPr>
      </p:pic>
      <p:sp>
        <p:nvSpPr>
          <p:cNvPr id="3" name="投影片編號版面配置區 2">
            <a:extLst>
              <a:ext uri="{FF2B5EF4-FFF2-40B4-BE49-F238E27FC236}">
                <a16:creationId xmlns:a16="http://schemas.microsoft.com/office/drawing/2014/main" id="{6FD5CB28-425A-D5F6-F9E0-2BAEB2C6885D}"/>
              </a:ext>
            </a:extLst>
          </p:cNvPr>
          <p:cNvSpPr>
            <a:spLocks noGrp="1"/>
          </p:cNvSpPr>
          <p:nvPr>
            <p:ph type="sldNum" sz="quarter" idx="12"/>
          </p:nvPr>
        </p:nvSpPr>
        <p:spPr/>
        <p:txBody>
          <a:bodyPr/>
          <a:lstStyle/>
          <a:p>
            <a:fld id="{EABF9873-7952-4BBF-BE6E-D6479BF557AE}" type="slidenum">
              <a:rPr lang="zh-TW" altLang="en-US" smtClean="0"/>
              <a:t>52</a:t>
            </a:fld>
            <a:endParaRPr lang="zh-TW" altLang="en-US"/>
          </a:p>
        </p:txBody>
      </p:sp>
    </p:spTree>
    <p:extLst>
      <p:ext uri="{BB962C8B-B14F-4D97-AF65-F5344CB8AC3E}">
        <p14:creationId xmlns:p14="http://schemas.microsoft.com/office/powerpoint/2010/main" val="35957736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endParaRPr lang="en-US" altLang="zh-TW" b="1"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4EE37A22-ED95-F391-DFE8-3A76AE6820F5}"/>
              </a:ext>
            </a:extLst>
          </p:cNvPr>
          <p:cNvPicPr>
            <a:picLocks noGrp="1" noChangeAspect="1"/>
          </p:cNvPicPr>
          <p:nvPr>
            <p:ph idx="1"/>
          </p:nvPr>
        </p:nvPicPr>
        <p:blipFill>
          <a:blip r:embed="rId3"/>
          <a:stretch>
            <a:fillRect/>
          </a:stretch>
        </p:blipFill>
        <p:spPr>
          <a:xfrm>
            <a:off x="2358777" y="68883"/>
            <a:ext cx="7474445" cy="6720234"/>
          </a:xfrm>
        </p:spPr>
      </p:pic>
      <p:sp>
        <p:nvSpPr>
          <p:cNvPr id="3" name="投影片編號版面配置區 2">
            <a:extLst>
              <a:ext uri="{FF2B5EF4-FFF2-40B4-BE49-F238E27FC236}">
                <a16:creationId xmlns:a16="http://schemas.microsoft.com/office/drawing/2014/main" id="{3AEFCF71-D5C9-37F9-FABA-11E57915E256}"/>
              </a:ext>
            </a:extLst>
          </p:cNvPr>
          <p:cNvSpPr>
            <a:spLocks noGrp="1"/>
          </p:cNvSpPr>
          <p:nvPr>
            <p:ph type="sldNum" sz="quarter" idx="12"/>
          </p:nvPr>
        </p:nvSpPr>
        <p:spPr/>
        <p:txBody>
          <a:bodyPr/>
          <a:lstStyle/>
          <a:p>
            <a:fld id="{EABF9873-7952-4BBF-BE6E-D6479BF557AE}" type="slidenum">
              <a:rPr lang="zh-TW" altLang="en-US" smtClean="0"/>
              <a:t>53</a:t>
            </a:fld>
            <a:endParaRPr lang="zh-TW" altLang="en-US"/>
          </a:p>
        </p:txBody>
      </p:sp>
    </p:spTree>
    <p:extLst>
      <p:ext uri="{BB962C8B-B14F-4D97-AF65-F5344CB8AC3E}">
        <p14:creationId xmlns:p14="http://schemas.microsoft.com/office/powerpoint/2010/main" val="5771116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Global Transition Function</a:t>
            </a:r>
          </a:p>
        </p:txBody>
      </p:sp>
      <p:pic>
        <p:nvPicPr>
          <p:cNvPr id="5" name="內容版面配置區 4">
            <a:extLst>
              <a:ext uri="{FF2B5EF4-FFF2-40B4-BE49-F238E27FC236}">
                <a16:creationId xmlns:a16="http://schemas.microsoft.com/office/drawing/2014/main" id="{EDEF0CEB-C05A-0A0A-9767-AC55E6B3A90E}"/>
              </a:ext>
            </a:extLst>
          </p:cNvPr>
          <p:cNvPicPr>
            <a:picLocks noGrp="1" noChangeAspect="1"/>
          </p:cNvPicPr>
          <p:nvPr>
            <p:ph idx="1"/>
          </p:nvPr>
        </p:nvPicPr>
        <p:blipFill>
          <a:blip r:embed="rId3"/>
          <a:stretch>
            <a:fillRect/>
          </a:stretch>
        </p:blipFill>
        <p:spPr>
          <a:xfrm>
            <a:off x="4258470" y="2563240"/>
            <a:ext cx="3675059" cy="1731519"/>
          </a:xfrm>
        </p:spPr>
      </p:pic>
      <p:sp>
        <p:nvSpPr>
          <p:cNvPr id="3" name="投影片編號版面配置區 2">
            <a:extLst>
              <a:ext uri="{FF2B5EF4-FFF2-40B4-BE49-F238E27FC236}">
                <a16:creationId xmlns:a16="http://schemas.microsoft.com/office/drawing/2014/main" id="{9B1D180C-5B31-30E5-DBE2-0C08BAB604C2}"/>
              </a:ext>
            </a:extLst>
          </p:cNvPr>
          <p:cNvSpPr>
            <a:spLocks noGrp="1"/>
          </p:cNvSpPr>
          <p:nvPr>
            <p:ph type="sldNum" sz="quarter" idx="12"/>
          </p:nvPr>
        </p:nvSpPr>
        <p:spPr/>
        <p:txBody>
          <a:bodyPr/>
          <a:lstStyle/>
          <a:p>
            <a:fld id="{EABF9873-7952-4BBF-BE6E-D6479BF557AE}" type="slidenum">
              <a:rPr lang="zh-TW" altLang="en-US" smtClean="0"/>
              <a:t>54</a:t>
            </a:fld>
            <a:endParaRPr lang="zh-TW" altLang="en-US"/>
          </a:p>
        </p:txBody>
      </p:sp>
    </p:spTree>
    <p:extLst>
      <p:ext uri="{BB962C8B-B14F-4D97-AF65-F5344CB8AC3E}">
        <p14:creationId xmlns:p14="http://schemas.microsoft.com/office/powerpoint/2010/main" val="21364991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Contraction Mapping</a:t>
            </a:r>
          </a:p>
        </p:txBody>
      </p:sp>
      <p:pic>
        <p:nvPicPr>
          <p:cNvPr id="5" name="內容版面配置區 4" descr="一張含有 行, 圖表, 平行, 文字 的圖片&#10;&#10;自動產生的描述">
            <a:extLst>
              <a:ext uri="{FF2B5EF4-FFF2-40B4-BE49-F238E27FC236}">
                <a16:creationId xmlns:a16="http://schemas.microsoft.com/office/drawing/2014/main" id="{75A7ECFC-5CB0-3288-F0D3-F806F4284789}"/>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b="7839"/>
          <a:stretch/>
        </p:blipFill>
        <p:spPr>
          <a:xfrm>
            <a:off x="1122362" y="1483519"/>
            <a:ext cx="9947276" cy="4828381"/>
          </a:xfrm>
        </p:spPr>
      </p:pic>
      <p:sp>
        <p:nvSpPr>
          <p:cNvPr id="3" name="投影片編號版面配置區 2">
            <a:extLst>
              <a:ext uri="{FF2B5EF4-FFF2-40B4-BE49-F238E27FC236}">
                <a16:creationId xmlns:a16="http://schemas.microsoft.com/office/drawing/2014/main" id="{46681557-CD87-A608-179F-F7BB76938516}"/>
              </a:ext>
            </a:extLst>
          </p:cNvPr>
          <p:cNvSpPr>
            <a:spLocks noGrp="1"/>
          </p:cNvSpPr>
          <p:nvPr>
            <p:ph type="sldNum" sz="quarter" idx="12"/>
          </p:nvPr>
        </p:nvSpPr>
        <p:spPr/>
        <p:txBody>
          <a:bodyPr/>
          <a:lstStyle/>
          <a:p>
            <a:fld id="{EABF9873-7952-4BBF-BE6E-D6479BF557AE}" type="slidenum">
              <a:rPr lang="zh-TW" altLang="en-US" smtClean="0"/>
              <a:t>55</a:t>
            </a:fld>
            <a:endParaRPr lang="zh-TW" altLang="en-US"/>
          </a:p>
        </p:txBody>
      </p:sp>
    </p:spTree>
    <p:extLst>
      <p:ext uri="{BB962C8B-B14F-4D97-AF65-F5344CB8AC3E}">
        <p14:creationId xmlns:p14="http://schemas.microsoft.com/office/powerpoint/2010/main" val="12740173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Banach Fixed-point Theorem</a:t>
            </a:r>
          </a:p>
        </p:txBody>
      </p:sp>
      <p:pic>
        <p:nvPicPr>
          <p:cNvPr id="9" name="內容版面配置區 8" descr="一張含有 行, 圖表, 設計, 藝術 的圖片&#10;&#10;自動產生的描述">
            <a:extLst>
              <a:ext uri="{FF2B5EF4-FFF2-40B4-BE49-F238E27FC236}">
                <a16:creationId xmlns:a16="http://schemas.microsoft.com/office/drawing/2014/main" id="{78E129EB-79F8-4FEB-5A6C-818EF8A4BFA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33625" y="1016794"/>
            <a:ext cx="7524750" cy="6019800"/>
          </a:xfrm>
        </p:spPr>
      </p:pic>
      <p:sp>
        <p:nvSpPr>
          <p:cNvPr id="3" name="投影片編號版面配置區 2">
            <a:extLst>
              <a:ext uri="{FF2B5EF4-FFF2-40B4-BE49-F238E27FC236}">
                <a16:creationId xmlns:a16="http://schemas.microsoft.com/office/drawing/2014/main" id="{76EE9C5F-4736-D81F-32B9-8B9EA9C336D0}"/>
              </a:ext>
            </a:extLst>
          </p:cNvPr>
          <p:cNvSpPr>
            <a:spLocks noGrp="1"/>
          </p:cNvSpPr>
          <p:nvPr>
            <p:ph type="sldNum" sz="quarter" idx="12"/>
          </p:nvPr>
        </p:nvSpPr>
        <p:spPr/>
        <p:txBody>
          <a:bodyPr/>
          <a:lstStyle/>
          <a:p>
            <a:fld id="{EABF9873-7952-4BBF-BE6E-D6479BF557AE}" type="slidenum">
              <a:rPr lang="zh-TW" altLang="en-US" smtClean="0"/>
              <a:t>56</a:t>
            </a:fld>
            <a:endParaRPr lang="zh-TW" altLang="en-US"/>
          </a:p>
        </p:txBody>
      </p:sp>
    </p:spTree>
    <p:extLst>
      <p:ext uri="{BB962C8B-B14F-4D97-AF65-F5344CB8AC3E}">
        <p14:creationId xmlns:p14="http://schemas.microsoft.com/office/powerpoint/2010/main" val="25040232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Fixed-point Iteration</a:t>
            </a:r>
          </a:p>
        </p:txBody>
      </p:sp>
      <p:pic>
        <p:nvPicPr>
          <p:cNvPr id="14" name="內容版面配置區 13">
            <a:extLst>
              <a:ext uri="{FF2B5EF4-FFF2-40B4-BE49-F238E27FC236}">
                <a16:creationId xmlns:a16="http://schemas.microsoft.com/office/drawing/2014/main" id="{12E96661-D20F-3E38-DF7F-500E8160C80E}"/>
              </a:ext>
            </a:extLst>
          </p:cNvPr>
          <p:cNvPicPr>
            <a:picLocks noGrp="1" noChangeAspect="1"/>
          </p:cNvPicPr>
          <p:nvPr>
            <p:ph idx="1"/>
          </p:nvPr>
        </p:nvPicPr>
        <p:blipFill>
          <a:blip r:embed="rId3"/>
          <a:stretch>
            <a:fillRect/>
          </a:stretch>
        </p:blipFill>
        <p:spPr>
          <a:xfrm>
            <a:off x="3428941" y="4132818"/>
            <a:ext cx="5334110" cy="1034493"/>
          </a:xfrm>
        </p:spPr>
      </p:pic>
      <p:pic>
        <p:nvPicPr>
          <p:cNvPr id="15" name="圖片 14">
            <a:extLst>
              <a:ext uri="{FF2B5EF4-FFF2-40B4-BE49-F238E27FC236}">
                <a16:creationId xmlns:a16="http://schemas.microsoft.com/office/drawing/2014/main" id="{16B7FCFB-52A8-5471-D81B-946CAE081C2C}"/>
              </a:ext>
            </a:extLst>
          </p:cNvPr>
          <p:cNvPicPr>
            <a:picLocks noChangeAspect="1"/>
          </p:cNvPicPr>
          <p:nvPr/>
        </p:nvPicPr>
        <p:blipFill>
          <a:blip r:embed="rId4"/>
          <a:stretch>
            <a:fillRect/>
          </a:stretch>
        </p:blipFill>
        <p:spPr>
          <a:xfrm>
            <a:off x="240281" y="3148559"/>
            <a:ext cx="11711431" cy="560881"/>
          </a:xfrm>
          <a:prstGeom prst="rect">
            <a:avLst/>
          </a:prstGeom>
        </p:spPr>
      </p:pic>
      <p:sp>
        <p:nvSpPr>
          <p:cNvPr id="3" name="投影片編號版面配置區 2">
            <a:extLst>
              <a:ext uri="{FF2B5EF4-FFF2-40B4-BE49-F238E27FC236}">
                <a16:creationId xmlns:a16="http://schemas.microsoft.com/office/drawing/2014/main" id="{58656D12-AC2E-CA27-2C95-7A2D6D952F3D}"/>
              </a:ext>
            </a:extLst>
          </p:cNvPr>
          <p:cNvSpPr>
            <a:spLocks noGrp="1"/>
          </p:cNvSpPr>
          <p:nvPr>
            <p:ph type="sldNum" sz="quarter" idx="12"/>
          </p:nvPr>
        </p:nvSpPr>
        <p:spPr/>
        <p:txBody>
          <a:bodyPr/>
          <a:lstStyle/>
          <a:p>
            <a:fld id="{EABF9873-7952-4BBF-BE6E-D6479BF557AE}" type="slidenum">
              <a:rPr lang="zh-TW" altLang="en-US" smtClean="0"/>
              <a:t>57</a:t>
            </a:fld>
            <a:endParaRPr lang="zh-TW" altLang="en-US"/>
          </a:p>
        </p:txBody>
      </p:sp>
    </p:spTree>
    <p:extLst>
      <p:ext uri="{BB962C8B-B14F-4D97-AF65-F5344CB8AC3E}">
        <p14:creationId xmlns:p14="http://schemas.microsoft.com/office/powerpoint/2010/main" val="27326333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The Learning Algorithm</a:t>
            </a:r>
          </a:p>
        </p:txBody>
      </p:sp>
      <p:pic>
        <p:nvPicPr>
          <p:cNvPr id="5" name="內容版面配置區 4">
            <a:extLst>
              <a:ext uri="{FF2B5EF4-FFF2-40B4-BE49-F238E27FC236}">
                <a16:creationId xmlns:a16="http://schemas.microsoft.com/office/drawing/2014/main" id="{E22D7BFA-E967-92F8-F86B-09B3466E8E79}"/>
              </a:ext>
            </a:extLst>
          </p:cNvPr>
          <p:cNvPicPr>
            <a:picLocks noGrp="1" noChangeAspect="1"/>
          </p:cNvPicPr>
          <p:nvPr>
            <p:ph idx="1"/>
          </p:nvPr>
        </p:nvPicPr>
        <p:blipFill>
          <a:blip r:embed="rId3"/>
          <a:stretch>
            <a:fillRect/>
          </a:stretch>
        </p:blipFill>
        <p:spPr>
          <a:xfrm>
            <a:off x="2355662" y="2708009"/>
            <a:ext cx="7480676" cy="1771739"/>
          </a:xfrm>
        </p:spPr>
      </p:pic>
      <p:sp>
        <p:nvSpPr>
          <p:cNvPr id="3" name="投影片編號版面配置區 2">
            <a:extLst>
              <a:ext uri="{FF2B5EF4-FFF2-40B4-BE49-F238E27FC236}">
                <a16:creationId xmlns:a16="http://schemas.microsoft.com/office/drawing/2014/main" id="{2C15B3D0-37BC-9225-4449-06D67D6BFFAA}"/>
              </a:ext>
            </a:extLst>
          </p:cNvPr>
          <p:cNvSpPr>
            <a:spLocks noGrp="1"/>
          </p:cNvSpPr>
          <p:nvPr>
            <p:ph type="sldNum" sz="quarter" idx="12"/>
          </p:nvPr>
        </p:nvSpPr>
        <p:spPr/>
        <p:txBody>
          <a:bodyPr/>
          <a:lstStyle/>
          <a:p>
            <a:fld id="{EABF9873-7952-4BBF-BE6E-D6479BF557AE}" type="slidenum">
              <a:rPr lang="zh-TW" altLang="en-US" smtClean="0"/>
              <a:t>58</a:t>
            </a:fld>
            <a:endParaRPr lang="zh-TW" altLang="en-US"/>
          </a:p>
        </p:txBody>
      </p:sp>
    </p:spTree>
    <p:extLst>
      <p:ext uri="{BB962C8B-B14F-4D97-AF65-F5344CB8AC3E}">
        <p14:creationId xmlns:p14="http://schemas.microsoft.com/office/powerpoint/2010/main" val="14551066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Proof</a:t>
            </a:r>
          </a:p>
        </p:txBody>
      </p:sp>
      <p:sp>
        <p:nvSpPr>
          <p:cNvPr id="4" name="內容版面配置區 3">
            <a:extLst>
              <a:ext uri="{FF2B5EF4-FFF2-40B4-BE49-F238E27FC236}">
                <a16:creationId xmlns:a16="http://schemas.microsoft.com/office/drawing/2014/main" id="{ADDC4425-C16D-3AA4-952B-90A53B56812B}"/>
              </a:ext>
            </a:extLst>
          </p:cNvPr>
          <p:cNvSpPr>
            <a:spLocks noGrp="1"/>
          </p:cNvSpPr>
          <p:nvPr>
            <p:ph idx="1"/>
          </p:nvPr>
        </p:nvSpPr>
        <p:spPr/>
        <p:txBody>
          <a:bodyPr/>
          <a:lstStyle/>
          <a:p>
            <a:pPr marL="514350" indent="-514350">
              <a:buFont typeface="+mj-lt"/>
              <a:buAutoNum type="arabicPeriod"/>
            </a:pPr>
            <a:r>
              <a:rPr lang="en-US" altLang="zh-TW" dirty="0">
                <a:latin typeface="Times New Roman" panose="02020603050405020304" pitchFamily="18" charset="0"/>
                <a:cs typeface="Times New Roman" panose="02020603050405020304" pitchFamily="18" charset="0"/>
              </a:rPr>
              <a:t>Differentiable</a:t>
            </a:r>
          </a:p>
          <a:p>
            <a:pPr marL="514350" indent="-514350">
              <a:buFont typeface="+mj-lt"/>
              <a:buAutoNum type="arabicPeriod"/>
            </a:pPr>
            <a:r>
              <a:rPr lang="en-US" altLang="zh-TW" dirty="0">
                <a:latin typeface="Times New Roman" panose="02020603050405020304" pitchFamily="18" charset="0"/>
                <a:cs typeface="Times New Roman" panose="02020603050405020304" pitchFamily="18" charset="0"/>
              </a:rPr>
              <a:t>Back propagation</a:t>
            </a:r>
          </a:p>
          <a:p>
            <a:pPr marL="514350" indent="-514350">
              <a:buFont typeface="+mj-lt"/>
              <a:buAutoNum type="arabicPeriod"/>
            </a:pPr>
            <a:endParaRPr lang="zh-TW" altLang="en-US" dirty="0"/>
          </a:p>
        </p:txBody>
      </p:sp>
      <p:pic>
        <p:nvPicPr>
          <p:cNvPr id="6" name="圖片 5">
            <a:extLst>
              <a:ext uri="{FF2B5EF4-FFF2-40B4-BE49-F238E27FC236}">
                <a16:creationId xmlns:a16="http://schemas.microsoft.com/office/drawing/2014/main" id="{639303E3-F647-3983-B940-E5C692C5117A}"/>
              </a:ext>
            </a:extLst>
          </p:cNvPr>
          <p:cNvPicPr>
            <a:picLocks noChangeAspect="1"/>
          </p:cNvPicPr>
          <p:nvPr/>
        </p:nvPicPr>
        <p:blipFill>
          <a:blip r:embed="rId3"/>
          <a:stretch>
            <a:fillRect/>
          </a:stretch>
        </p:blipFill>
        <p:spPr>
          <a:xfrm>
            <a:off x="1535331" y="3121759"/>
            <a:ext cx="9121338" cy="1502615"/>
          </a:xfrm>
          <a:prstGeom prst="rect">
            <a:avLst/>
          </a:prstGeom>
        </p:spPr>
      </p:pic>
      <p:pic>
        <p:nvPicPr>
          <p:cNvPr id="8" name="圖片 7">
            <a:extLst>
              <a:ext uri="{FF2B5EF4-FFF2-40B4-BE49-F238E27FC236}">
                <a16:creationId xmlns:a16="http://schemas.microsoft.com/office/drawing/2014/main" id="{2B045DB3-4109-8713-C87B-1466A94C00AB}"/>
              </a:ext>
            </a:extLst>
          </p:cNvPr>
          <p:cNvPicPr>
            <a:picLocks noChangeAspect="1"/>
          </p:cNvPicPr>
          <p:nvPr/>
        </p:nvPicPr>
        <p:blipFill>
          <a:blip r:embed="rId4"/>
          <a:stretch>
            <a:fillRect/>
          </a:stretch>
        </p:blipFill>
        <p:spPr>
          <a:xfrm>
            <a:off x="2216164" y="4757724"/>
            <a:ext cx="7759671" cy="1285889"/>
          </a:xfrm>
          <a:prstGeom prst="rect">
            <a:avLst/>
          </a:prstGeom>
        </p:spPr>
      </p:pic>
      <p:sp>
        <p:nvSpPr>
          <p:cNvPr id="3" name="投影片編號版面配置區 2">
            <a:extLst>
              <a:ext uri="{FF2B5EF4-FFF2-40B4-BE49-F238E27FC236}">
                <a16:creationId xmlns:a16="http://schemas.microsoft.com/office/drawing/2014/main" id="{F8CBC9AD-4FA8-94C3-F3A4-B50565843686}"/>
              </a:ext>
            </a:extLst>
          </p:cNvPr>
          <p:cNvSpPr>
            <a:spLocks noGrp="1"/>
          </p:cNvSpPr>
          <p:nvPr>
            <p:ph type="sldNum" sz="quarter" idx="12"/>
          </p:nvPr>
        </p:nvSpPr>
        <p:spPr/>
        <p:txBody>
          <a:bodyPr/>
          <a:lstStyle/>
          <a:p>
            <a:fld id="{EABF9873-7952-4BBF-BE6E-D6479BF557AE}" type="slidenum">
              <a:rPr lang="zh-TW" altLang="en-US" smtClean="0"/>
              <a:t>59</a:t>
            </a:fld>
            <a:endParaRPr lang="zh-TW" altLang="en-US"/>
          </a:p>
        </p:txBody>
      </p:sp>
    </p:spTree>
    <p:extLst>
      <p:ext uri="{BB962C8B-B14F-4D97-AF65-F5344CB8AC3E}">
        <p14:creationId xmlns:p14="http://schemas.microsoft.com/office/powerpoint/2010/main" val="25948700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Initial State</a:t>
            </a:r>
          </a:p>
        </p:txBody>
      </p:sp>
      <p:pic>
        <p:nvPicPr>
          <p:cNvPr id="11" name="內容版面配置區 10">
            <a:extLst>
              <a:ext uri="{FF2B5EF4-FFF2-40B4-BE49-F238E27FC236}">
                <a16:creationId xmlns:a16="http://schemas.microsoft.com/office/drawing/2014/main" id="{6CBAE784-BC92-CA34-3F7F-39C37E418022}"/>
              </a:ext>
            </a:extLst>
          </p:cNvPr>
          <p:cNvPicPr>
            <a:picLocks noGrp="1" noChangeAspect="1"/>
          </p:cNvPicPr>
          <p:nvPr>
            <p:ph idx="1"/>
          </p:nvPr>
        </p:nvPicPr>
        <p:blipFill>
          <a:blip r:embed="rId3"/>
          <a:stretch>
            <a:fillRect/>
          </a:stretch>
        </p:blipFill>
        <p:spPr>
          <a:xfrm>
            <a:off x="4496391" y="1932788"/>
            <a:ext cx="3199218" cy="2992423"/>
          </a:xfrm>
        </p:spPr>
      </p:pic>
      <p:sp>
        <p:nvSpPr>
          <p:cNvPr id="3" name="投影片編號版面配置區 2">
            <a:extLst>
              <a:ext uri="{FF2B5EF4-FFF2-40B4-BE49-F238E27FC236}">
                <a16:creationId xmlns:a16="http://schemas.microsoft.com/office/drawing/2014/main" id="{790ACA3A-E91B-3612-82BA-CEB259A00E1D}"/>
              </a:ext>
            </a:extLst>
          </p:cNvPr>
          <p:cNvSpPr>
            <a:spLocks noGrp="1"/>
          </p:cNvSpPr>
          <p:nvPr>
            <p:ph type="sldNum" sz="quarter" idx="12"/>
          </p:nvPr>
        </p:nvSpPr>
        <p:spPr/>
        <p:txBody>
          <a:bodyPr/>
          <a:lstStyle/>
          <a:p>
            <a:fld id="{EABF9873-7952-4BBF-BE6E-D6479BF557AE}" type="slidenum">
              <a:rPr lang="zh-TW" altLang="en-US" smtClean="0"/>
              <a:t>60</a:t>
            </a:fld>
            <a:endParaRPr lang="zh-TW" altLang="en-US"/>
          </a:p>
        </p:txBody>
      </p:sp>
    </p:spTree>
    <p:extLst>
      <p:ext uri="{BB962C8B-B14F-4D97-AF65-F5344CB8AC3E}">
        <p14:creationId xmlns:p14="http://schemas.microsoft.com/office/powerpoint/2010/main" val="15416739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5">
            <a:extLst>
              <a:ext uri="{FF2B5EF4-FFF2-40B4-BE49-F238E27FC236}">
                <a16:creationId xmlns:a16="http://schemas.microsoft.com/office/drawing/2014/main" id="{2B4E919C-0233-2B72-62CF-C1D51C736BEF}"/>
              </a:ext>
            </a:extLst>
          </p:cNvPr>
          <p:cNvPicPr>
            <a:picLocks noGrp="1" noChangeAspect="1"/>
          </p:cNvPicPr>
          <p:nvPr>
            <p:ph idx="1"/>
          </p:nvPr>
        </p:nvPicPr>
        <p:blipFill>
          <a:blip r:embed="rId3"/>
          <a:stretch>
            <a:fillRect/>
          </a:stretch>
        </p:blipFill>
        <p:spPr>
          <a:xfrm>
            <a:off x="2891672" y="479425"/>
            <a:ext cx="7976158" cy="6127750"/>
          </a:xfrm>
        </p:spPr>
      </p:pic>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Next State</a:t>
            </a:r>
          </a:p>
        </p:txBody>
      </p:sp>
      <p:sp>
        <p:nvSpPr>
          <p:cNvPr id="3" name="投影片編號版面配置區 2">
            <a:extLst>
              <a:ext uri="{FF2B5EF4-FFF2-40B4-BE49-F238E27FC236}">
                <a16:creationId xmlns:a16="http://schemas.microsoft.com/office/drawing/2014/main" id="{173902FF-EABA-A85A-A59E-09BA690CE7D0}"/>
              </a:ext>
            </a:extLst>
          </p:cNvPr>
          <p:cNvSpPr>
            <a:spLocks noGrp="1"/>
          </p:cNvSpPr>
          <p:nvPr>
            <p:ph type="sldNum" sz="quarter" idx="12"/>
          </p:nvPr>
        </p:nvSpPr>
        <p:spPr/>
        <p:txBody>
          <a:bodyPr/>
          <a:lstStyle/>
          <a:p>
            <a:fld id="{EABF9873-7952-4BBF-BE6E-D6479BF557AE}" type="slidenum">
              <a:rPr lang="zh-TW" altLang="en-US" smtClean="0"/>
              <a:t>61</a:t>
            </a:fld>
            <a:endParaRPr lang="zh-TW" altLang="en-US"/>
          </a:p>
        </p:txBody>
      </p:sp>
    </p:spTree>
    <p:extLst>
      <p:ext uri="{BB962C8B-B14F-4D97-AF65-F5344CB8AC3E}">
        <p14:creationId xmlns:p14="http://schemas.microsoft.com/office/powerpoint/2010/main" val="13679266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Process</a:t>
            </a:r>
          </a:p>
        </p:txBody>
      </p:sp>
      <p:pic>
        <p:nvPicPr>
          <p:cNvPr id="7" name="內容版面配置區 6">
            <a:extLst>
              <a:ext uri="{FF2B5EF4-FFF2-40B4-BE49-F238E27FC236}">
                <a16:creationId xmlns:a16="http://schemas.microsoft.com/office/drawing/2014/main" id="{71AA1C41-807A-E186-AB16-247D24A858AA}"/>
              </a:ext>
            </a:extLst>
          </p:cNvPr>
          <p:cNvPicPr>
            <a:picLocks noGrp="1" noChangeAspect="1"/>
          </p:cNvPicPr>
          <p:nvPr>
            <p:ph idx="1"/>
          </p:nvPr>
        </p:nvPicPr>
        <p:blipFill>
          <a:blip r:embed="rId3"/>
          <a:stretch>
            <a:fillRect/>
          </a:stretch>
        </p:blipFill>
        <p:spPr>
          <a:xfrm>
            <a:off x="1422886" y="1545265"/>
            <a:ext cx="9346228" cy="5175099"/>
          </a:xfrm>
        </p:spPr>
      </p:pic>
      <p:sp>
        <p:nvSpPr>
          <p:cNvPr id="3" name="投影片編號版面配置區 2">
            <a:extLst>
              <a:ext uri="{FF2B5EF4-FFF2-40B4-BE49-F238E27FC236}">
                <a16:creationId xmlns:a16="http://schemas.microsoft.com/office/drawing/2014/main" id="{02D49EFB-FB91-0E8C-FF59-11C486F81643}"/>
              </a:ext>
            </a:extLst>
          </p:cNvPr>
          <p:cNvSpPr>
            <a:spLocks noGrp="1"/>
          </p:cNvSpPr>
          <p:nvPr>
            <p:ph type="sldNum" sz="quarter" idx="12"/>
          </p:nvPr>
        </p:nvSpPr>
        <p:spPr/>
        <p:txBody>
          <a:bodyPr/>
          <a:lstStyle/>
          <a:p>
            <a:fld id="{EABF9873-7952-4BBF-BE6E-D6479BF557AE}" type="slidenum">
              <a:rPr lang="zh-TW" altLang="en-US" smtClean="0"/>
              <a:t>62</a:t>
            </a:fld>
            <a:endParaRPr lang="zh-TW" altLang="en-US"/>
          </a:p>
        </p:txBody>
      </p:sp>
    </p:spTree>
    <p:extLst>
      <p:ext uri="{BB962C8B-B14F-4D97-AF65-F5344CB8AC3E}">
        <p14:creationId xmlns:p14="http://schemas.microsoft.com/office/powerpoint/2010/main" val="31023234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518F0-20AF-CC93-540A-6B8F39F79AD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Experimental Result</a:t>
            </a:r>
          </a:p>
        </p:txBody>
      </p:sp>
      <p:pic>
        <p:nvPicPr>
          <p:cNvPr id="6" name="內容版面配置區 5">
            <a:extLst>
              <a:ext uri="{FF2B5EF4-FFF2-40B4-BE49-F238E27FC236}">
                <a16:creationId xmlns:a16="http://schemas.microsoft.com/office/drawing/2014/main" id="{1968D0D8-ADB5-C840-25AE-2A77B02DF0F9}"/>
              </a:ext>
            </a:extLst>
          </p:cNvPr>
          <p:cNvPicPr>
            <a:picLocks noGrp="1" noChangeAspect="1"/>
          </p:cNvPicPr>
          <p:nvPr>
            <p:ph idx="1"/>
          </p:nvPr>
        </p:nvPicPr>
        <p:blipFill>
          <a:blip r:embed="rId3"/>
          <a:stretch>
            <a:fillRect/>
          </a:stretch>
        </p:blipFill>
        <p:spPr>
          <a:xfrm>
            <a:off x="1084452" y="1690688"/>
            <a:ext cx="10023096" cy="4802187"/>
          </a:xfrm>
        </p:spPr>
      </p:pic>
      <p:sp>
        <p:nvSpPr>
          <p:cNvPr id="3" name="投影片編號版面配置區 2">
            <a:extLst>
              <a:ext uri="{FF2B5EF4-FFF2-40B4-BE49-F238E27FC236}">
                <a16:creationId xmlns:a16="http://schemas.microsoft.com/office/drawing/2014/main" id="{1CA0C52E-8732-AB12-B477-32ADEBBD5FED}"/>
              </a:ext>
            </a:extLst>
          </p:cNvPr>
          <p:cNvSpPr>
            <a:spLocks noGrp="1"/>
          </p:cNvSpPr>
          <p:nvPr>
            <p:ph type="sldNum" sz="quarter" idx="12"/>
          </p:nvPr>
        </p:nvSpPr>
        <p:spPr/>
        <p:txBody>
          <a:bodyPr/>
          <a:lstStyle/>
          <a:p>
            <a:fld id="{EABF9873-7952-4BBF-BE6E-D6479BF557AE}" type="slidenum">
              <a:rPr lang="zh-TW" altLang="en-US" smtClean="0"/>
              <a:t>63</a:t>
            </a:fld>
            <a:endParaRPr lang="zh-TW" altLang="en-US"/>
          </a:p>
        </p:txBody>
      </p:sp>
    </p:spTree>
    <p:extLst>
      <p:ext uri="{BB962C8B-B14F-4D97-AF65-F5344CB8AC3E}">
        <p14:creationId xmlns:p14="http://schemas.microsoft.com/office/powerpoint/2010/main" val="215356597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370</TotalTime>
  <Words>1038</Words>
  <Application>Microsoft Office PowerPoint</Application>
  <PresentationFormat>寬螢幕</PresentationFormat>
  <Paragraphs>252</Paragraphs>
  <Slides>63</Slides>
  <Notes>50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63</vt:i4>
      </vt:variant>
    </vt:vector>
  </HeadingPairs>
  <TitlesOfParts>
    <vt:vector size="70" baseType="lpstr">
      <vt:lpstr>Aptos</vt:lpstr>
      <vt:lpstr>Arial</vt:lpstr>
      <vt:lpstr>Calibri</vt:lpstr>
      <vt:lpstr>Calibri Light</vt:lpstr>
      <vt:lpstr>Cambria Math</vt:lpstr>
      <vt:lpstr>Times New Roman</vt:lpstr>
      <vt:lpstr>Office 佈景主題</vt:lpstr>
      <vt:lpstr>The Graph Neural Network Model</vt:lpstr>
      <vt:lpstr>Abstract </vt:lpstr>
      <vt:lpstr>A Gentle Introduction to Graph Neural Networks</vt:lpstr>
      <vt:lpstr>What is Graph</vt:lpstr>
      <vt:lpstr>Vertex Attributes</vt:lpstr>
      <vt:lpstr>Edge Attributes and Directions</vt:lpstr>
      <vt:lpstr>Global Attributes</vt:lpstr>
      <vt:lpstr>Store Information</vt:lpstr>
      <vt:lpstr>Store Information</vt:lpstr>
      <vt:lpstr>Store Information</vt:lpstr>
      <vt:lpstr>Images as Graphs</vt:lpstr>
      <vt:lpstr>Text as Graphs</vt:lpstr>
      <vt:lpstr>Molecules as Graphs</vt:lpstr>
      <vt:lpstr>Molecules as Graphs</vt:lpstr>
      <vt:lpstr>Social Networks as Graphs</vt:lpstr>
      <vt:lpstr>Social Networks as Graphs</vt:lpstr>
      <vt:lpstr>PowerPoint 簡報</vt:lpstr>
      <vt:lpstr>Types of Problems</vt:lpstr>
      <vt:lpstr>Graph-level Task</vt:lpstr>
      <vt:lpstr>Node-level Task</vt:lpstr>
      <vt:lpstr>Edge-level Task</vt:lpstr>
      <vt:lpstr>Edge-level Task</vt:lpstr>
      <vt:lpstr>Edge-level Task</vt:lpstr>
      <vt:lpstr>The Challenges of Using Graphs in Machine Learning</vt:lpstr>
      <vt:lpstr>Type of Infromation</vt:lpstr>
      <vt:lpstr>Challenges of Adjacency Matrix 1</vt:lpstr>
      <vt:lpstr>Challenges of Adjacency Matrix 2</vt:lpstr>
      <vt:lpstr>Adjacency List</vt:lpstr>
      <vt:lpstr>Graph Neural Networks</vt:lpstr>
      <vt:lpstr>Graph Neural Networks</vt:lpstr>
      <vt:lpstr>GNN Layer</vt:lpstr>
      <vt:lpstr>GNN Prediction</vt:lpstr>
      <vt:lpstr>Pooling</vt:lpstr>
      <vt:lpstr>Pooling to Node</vt:lpstr>
      <vt:lpstr>Pooling to Edge</vt:lpstr>
      <vt:lpstr>Pooling to Global</vt:lpstr>
      <vt:lpstr>The Simplest GNN Model</vt:lpstr>
      <vt:lpstr>Simplest Model Problem</vt:lpstr>
      <vt:lpstr>Passing Messages</vt:lpstr>
      <vt:lpstr>Convolution of CNN</vt:lpstr>
      <vt:lpstr>Simple Message Passing Model</vt:lpstr>
      <vt:lpstr>Learning Edge Representations</vt:lpstr>
      <vt:lpstr>Pooling Order</vt:lpstr>
      <vt:lpstr>Weave Layer</vt:lpstr>
      <vt:lpstr>Adding Global Representations</vt:lpstr>
      <vt:lpstr>Graph Nets Layer</vt:lpstr>
      <vt:lpstr>Message Passing Model</vt:lpstr>
      <vt:lpstr>Message Passing Model</vt:lpstr>
      <vt:lpstr>Feature for Node n</vt:lpstr>
      <vt:lpstr>Learning Set</vt:lpstr>
      <vt:lpstr>Set of A Pair</vt:lpstr>
      <vt:lpstr>Local Transition Function</vt:lpstr>
      <vt:lpstr>PowerPoint 簡報</vt:lpstr>
      <vt:lpstr>Global Transition Function</vt:lpstr>
      <vt:lpstr>Contraction Mapping</vt:lpstr>
      <vt:lpstr>Banach Fixed-point Theorem</vt:lpstr>
      <vt:lpstr>Fixed-point Iteration</vt:lpstr>
      <vt:lpstr>The Learning Algorithm</vt:lpstr>
      <vt:lpstr>Proof</vt:lpstr>
      <vt:lpstr>Initial State</vt:lpstr>
      <vt:lpstr>Next State</vt:lpstr>
      <vt:lpstr>Process</vt:lpstr>
      <vt:lpstr>Experimental Result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dockyu</dc:creator>
  <cp:lastModifiedBy>鈺宸 林</cp:lastModifiedBy>
  <cp:revision>200</cp:revision>
  <dcterms:created xsi:type="dcterms:W3CDTF">2024-01-12T16:09:19Z</dcterms:created>
  <dcterms:modified xsi:type="dcterms:W3CDTF">2024-01-15T09:43:08Z</dcterms:modified>
</cp:coreProperties>
</file>