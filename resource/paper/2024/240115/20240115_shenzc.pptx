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4"/>
  </p:notesMasterIdLst>
  <p:sldIdLst>
    <p:sldId id="256" r:id="rId2"/>
    <p:sldId id="257" r:id="rId3"/>
    <p:sldId id="290" r:id="rId4"/>
    <p:sldId id="291" r:id="rId5"/>
    <p:sldId id="299" r:id="rId6"/>
    <p:sldId id="292" r:id="rId7"/>
    <p:sldId id="293" r:id="rId8"/>
    <p:sldId id="297" r:id="rId9"/>
    <p:sldId id="296" r:id="rId10"/>
    <p:sldId id="294" r:id="rId11"/>
    <p:sldId id="295" r:id="rId12"/>
    <p:sldId id="298" r:id="rId13"/>
    <p:sldId id="300" r:id="rId14"/>
    <p:sldId id="301" r:id="rId15"/>
    <p:sldId id="302" r:id="rId16"/>
    <p:sldId id="305" r:id="rId17"/>
    <p:sldId id="303" r:id="rId18"/>
    <p:sldId id="306" r:id="rId19"/>
    <p:sldId id="307" r:id="rId20"/>
    <p:sldId id="308" r:id="rId21"/>
    <p:sldId id="304" r:id="rId22"/>
    <p:sldId id="309"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B5FBEBF5-6C27-43DA-9D2C-B1537964028B}">
          <p14:sldIdLst>
            <p14:sldId id="256"/>
            <p14:sldId id="257"/>
            <p14:sldId id="290"/>
            <p14:sldId id="291"/>
            <p14:sldId id="299"/>
            <p14:sldId id="292"/>
            <p14:sldId id="293"/>
            <p14:sldId id="297"/>
            <p14:sldId id="296"/>
            <p14:sldId id="294"/>
            <p14:sldId id="295"/>
            <p14:sldId id="298"/>
            <p14:sldId id="300"/>
            <p14:sldId id="301"/>
            <p14:sldId id="302"/>
            <p14:sldId id="305"/>
            <p14:sldId id="303"/>
            <p14:sldId id="306"/>
            <p14:sldId id="307"/>
            <p14:sldId id="308"/>
          </p14:sldIdLst>
        </p14:section>
        <p14:section name="test" id="{5A0672B8-76E0-491A-93E0-1923641389C1}">
          <p14:sldIdLst>
            <p14:sldId id="304"/>
            <p14:sldId id="30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81733" autoAdjust="0"/>
  </p:normalViewPr>
  <p:slideViewPr>
    <p:cSldViewPr snapToGrid="0">
      <p:cViewPr varScale="1">
        <p:scale>
          <a:sx n="91" d="100"/>
          <a:sy n="91" d="100"/>
        </p:scale>
        <p:origin x="2208"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2024/1/15</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以色列 拉馬干 巴伊蘭大學</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581215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1078065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885145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3174500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7011072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7997181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4210059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13386379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28513871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37621939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20575164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14</a:t>
            </a:fld>
            <a:endParaRPr lang="zh-TW" altLang="en-US"/>
          </a:p>
        </p:txBody>
      </p:sp>
    </p:spTree>
    <p:extLst>
      <p:ext uri="{BB962C8B-B14F-4D97-AF65-F5344CB8AC3E}">
        <p14:creationId xmlns:p14="http://schemas.microsoft.com/office/powerpoint/2010/main" val="2057740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15</a:t>
            </a:fld>
            <a:endParaRPr lang="zh-TW" altLang="en-US"/>
          </a:p>
        </p:txBody>
      </p:sp>
    </p:spTree>
    <p:extLst>
      <p:ext uri="{BB962C8B-B14F-4D97-AF65-F5344CB8AC3E}">
        <p14:creationId xmlns:p14="http://schemas.microsoft.com/office/powerpoint/2010/main" val="10200779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16</a:t>
            </a:fld>
            <a:endParaRPr lang="zh-TW" altLang="en-US"/>
          </a:p>
        </p:txBody>
      </p:sp>
    </p:spTree>
    <p:extLst>
      <p:ext uri="{BB962C8B-B14F-4D97-AF65-F5344CB8AC3E}">
        <p14:creationId xmlns:p14="http://schemas.microsoft.com/office/powerpoint/2010/main" val="20467596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17</a:t>
            </a:fld>
            <a:endParaRPr lang="zh-TW" altLang="en-US"/>
          </a:p>
        </p:txBody>
      </p:sp>
    </p:spTree>
    <p:extLst>
      <p:ext uri="{BB962C8B-B14F-4D97-AF65-F5344CB8AC3E}">
        <p14:creationId xmlns:p14="http://schemas.microsoft.com/office/powerpoint/2010/main" val="12805531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18</a:t>
            </a:fld>
            <a:endParaRPr lang="zh-TW" altLang="en-US"/>
          </a:p>
        </p:txBody>
      </p:sp>
    </p:spTree>
    <p:extLst>
      <p:ext uri="{BB962C8B-B14F-4D97-AF65-F5344CB8AC3E}">
        <p14:creationId xmlns:p14="http://schemas.microsoft.com/office/powerpoint/2010/main" val="15943403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19</a:t>
            </a:fld>
            <a:endParaRPr lang="zh-TW" altLang="en-US"/>
          </a:p>
        </p:txBody>
      </p:sp>
    </p:spTree>
    <p:extLst>
      <p:ext uri="{BB962C8B-B14F-4D97-AF65-F5344CB8AC3E}">
        <p14:creationId xmlns:p14="http://schemas.microsoft.com/office/powerpoint/2010/main" val="10438062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20</a:t>
            </a:fld>
            <a:endParaRPr lang="zh-TW" altLang="en-US"/>
          </a:p>
        </p:txBody>
      </p:sp>
    </p:spTree>
    <p:extLst>
      <p:ext uri="{BB962C8B-B14F-4D97-AF65-F5344CB8AC3E}">
        <p14:creationId xmlns:p14="http://schemas.microsoft.com/office/powerpoint/2010/main" val="2445222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21</a:t>
            </a:fld>
            <a:endParaRPr lang="zh-TW" altLang="en-US"/>
          </a:p>
        </p:txBody>
      </p:sp>
    </p:spTree>
    <p:extLst>
      <p:ext uri="{BB962C8B-B14F-4D97-AF65-F5344CB8AC3E}">
        <p14:creationId xmlns:p14="http://schemas.microsoft.com/office/powerpoint/2010/main" val="2926806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37765B31-2511-4B59-85CD-FE81550B112F}" type="datetime1">
              <a:rPr lang="zh-TW" altLang="en-US" smtClean="0"/>
              <a:t>2024/1/15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BF3BFE1-3FF9-4076-BFE3-436A899C6CFC}" type="datetime1">
              <a:rPr lang="zh-TW" altLang="en-US" smtClean="0"/>
              <a:t>2024/1/15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CEC3635F-B179-4E14-9FEF-30274F37C964}" type="datetime1">
              <a:rPr lang="zh-TW" altLang="en-US" smtClean="0"/>
              <a:t>2024/1/15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471D61C-B526-46B0-B991-3372D0F0EC91}" type="datetime1">
              <a:rPr lang="zh-TW" altLang="en-US" smtClean="0"/>
              <a:t>2024/1/15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06A488-6A5E-462F-A078-C1B45B9FC688}" type="datetime1">
              <a:rPr lang="zh-TW" altLang="en-US" smtClean="0"/>
              <a:t>2024/1/15</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D42DF501-4962-473D-B6D8-A7428BF1B6D4}" type="datetime1">
              <a:rPr lang="zh-TW" altLang="en-US" smtClean="0"/>
              <a:t>2024/1/15</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72C89F-7B98-4BDD-B73A-1D10077A1F27}" type="datetime1">
              <a:rPr lang="zh-TW" altLang="en-US" smtClean="0"/>
              <a:t>2024/1/15</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B9409844-160F-4E54-862A-C6CCEBCF4E40}" type="datetime1">
              <a:rPr lang="zh-TW" altLang="en-US" smtClean="0"/>
              <a:t>2024/1/15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77C98F-9D28-4915-ABD0-95B43831494A}" type="datetime1">
              <a:rPr lang="zh-TW" altLang="en-US" smtClean="0"/>
              <a:t>2024/1/15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AEFE765-5314-4951-98B4-C5C6DE7CD530}" type="datetime1">
              <a:rPr lang="zh-TW" altLang="en-US" smtClean="0"/>
              <a:t>2024/1/15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3990DED-4DF0-4E86-AB35-9CE8B4D53C52}" type="datetime1">
              <a:rPr lang="zh-TW" altLang="en-US" smtClean="0"/>
              <a:t>2024/1/15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AE8280-42F1-400D-A234-BF7D1153CCE2}" type="datetime1">
              <a:rPr lang="zh-TW" altLang="en-US" smtClean="0"/>
              <a:t>2024/1/15</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13" Type="http://schemas.openxmlformats.org/officeDocument/2006/relationships/image" Target="../media/image33.png"/><Relationship Id="rId18" Type="http://schemas.openxmlformats.org/officeDocument/2006/relationships/image" Target="../media/image38.png"/><Relationship Id="rId26" Type="http://schemas.openxmlformats.org/officeDocument/2006/relationships/image" Target="../media/image46.png"/><Relationship Id="rId39" Type="http://schemas.openxmlformats.org/officeDocument/2006/relationships/image" Target="../media/image59.png"/><Relationship Id="rId21" Type="http://schemas.openxmlformats.org/officeDocument/2006/relationships/image" Target="../media/image41.png"/><Relationship Id="rId34" Type="http://schemas.openxmlformats.org/officeDocument/2006/relationships/image" Target="../media/image54.png"/><Relationship Id="rId42" Type="http://schemas.openxmlformats.org/officeDocument/2006/relationships/image" Target="../media/image62.png"/><Relationship Id="rId47" Type="http://schemas.openxmlformats.org/officeDocument/2006/relationships/image" Target="../media/image67.png"/><Relationship Id="rId50" Type="http://schemas.openxmlformats.org/officeDocument/2006/relationships/image" Target="../media/image70.png"/><Relationship Id="rId7" Type="http://schemas.openxmlformats.org/officeDocument/2006/relationships/image" Target="../media/image27.png"/><Relationship Id="rId2" Type="http://schemas.openxmlformats.org/officeDocument/2006/relationships/notesSlide" Target="../notesSlides/notesSlide7.xml"/><Relationship Id="rId16" Type="http://schemas.openxmlformats.org/officeDocument/2006/relationships/image" Target="../media/image36.png"/><Relationship Id="rId29" Type="http://schemas.openxmlformats.org/officeDocument/2006/relationships/image" Target="../media/image49.png"/><Relationship Id="rId11" Type="http://schemas.openxmlformats.org/officeDocument/2006/relationships/image" Target="../media/image31.png"/><Relationship Id="rId24" Type="http://schemas.openxmlformats.org/officeDocument/2006/relationships/image" Target="../media/image44.png"/><Relationship Id="rId32" Type="http://schemas.openxmlformats.org/officeDocument/2006/relationships/image" Target="../media/image52.png"/><Relationship Id="rId37" Type="http://schemas.openxmlformats.org/officeDocument/2006/relationships/image" Target="../media/image57.png"/><Relationship Id="rId40" Type="http://schemas.openxmlformats.org/officeDocument/2006/relationships/image" Target="../media/image60.png"/><Relationship Id="rId45" Type="http://schemas.openxmlformats.org/officeDocument/2006/relationships/image" Target="../media/image65.png"/><Relationship Id="rId5" Type="http://schemas.openxmlformats.org/officeDocument/2006/relationships/image" Target="../media/image25.png"/><Relationship Id="rId15" Type="http://schemas.openxmlformats.org/officeDocument/2006/relationships/image" Target="../media/image35.png"/><Relationship Id="rId23" Type="http://schemas.openxmlformats.org/officeDocument/2006/relationships/image" Target="../media/image43.png"/><Relationship Id="rId28" Type="http://schemas.openxmlformats.org/officeDocument/2006/relationships/image" Target="../media/image48.png"/><Relationship Id="rId36" Type="http://schemas.openxmlformats.org/officeDocument/2006/relationships/image" Target="../media/image56.png"/><Relationship Id="rId49" Type="http://schemas.openxmlformats.org/officeDocument/2006/relationships/image" Target="../media/image69.png"/><Relationship Id="rId10" Type="http://schemas.openxmlformats.org/officeDocument/2006/relationships/image" Target="../media/image30.png"/><Relationship Id="rId19" Type="http://schemas.openxmlformats.org/officeDocument/2006/relationships/image" Target="../media/image39.png"/><Relationship Id="rId31" Type="http://schemas.openxmlformats.org/officeDocument/2006/relationships/image" Target="../media/image51.png"/><Relationship Id="rId44" Type="http://schemas.openxmlformats.org/officeDocument/2006/relationships/image" Target="../media/image64.png"/><Relationship Id="rId52" Type="http://schemas.openxmlformats.org/officeDocument/2006/relationships/image" Target="../media/image72.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 Id="rId22" Type="http://schemas.openxmlformats.org/officeDocument/2006/relationships/image" Target="../media/image42.png"/><Relationship Id="rId27" Type="http://schemas.openxmlformats.org/officeDocument/2006/relationships/image" Target="../media/image47.png"/><Relationship Id="rId30" Type="http://schemas.openxmlformats.org/officeDocument/2006/relationships/image" Target="../media/image50.png"/><Relationship Id="rId35" Type="http://schemas.openxmlformats.org/officeDocument/2006/relationships/image" Target="../media/image55.png"/><Relationship Id="rId43" Type="http://schemas.openxmlformats.org/officeDocument/2006/relationships/image" Target="../media/image63.png"/><Relationship Id="rId48" Type="http://schemas.openxmlformats.org/officeDocument/2006/relationships/image" Target="../media/image68.png"/><Relationship Id="rId8" Type="http://schemas.openxmlformats.org/officeDocument/2006/relationships/image" Target="../media/image28.png"/><Relationship Id="rId51" Type="http://schemas.openxmlformats.org/officeDocument/2006/relationships/image" Target="../media/image71.png"/><Relationship Id="rId3" Type="http://schemas.openxmlformats.org/officeDocument/2006/relationships/image" Target="../media/image23.png"/><Relationship Id="rId12" Type="http://schemas.openxmlformats.org/officeDocument/2006/relationships/image" Target="../media/image32.png"/><Relationship Id="rId17" Type="http://schemas.openxmlformats.org/officeDocument/2006/relationships/image" Target="../media/image37.png"/><Relationship Id="rId25" Type="http://schemas.openxmlformats.org/officeDocument/2006/relationships/image" Target="../media/image45.png"/><Relationship Id="rId33" Type="http://schemas.openxmlformats.org/officeDocument/2006/relationships/image" Target="../media/image53.png"/><Relationship Id="rId38" Type="http://schemas.openxmlformats.org/officeDocument/2006/relationships/image" Target="../media/image58.png"/><Relationship Id="rId46" Type="http://schemas.openxmlformats.org/officeDocument/2006/relationships/image" Target="../media/image66.png"/><Relationship Id="rId20" Type="http://schemas.openxmlformats.org/officeDocument/2006/relationships/image" Target="../media/image40.png"/><Relationship Id="rId41"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1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12.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94.png"/><Relationship Id="rId3" Type="http://schemas.openxmlformats.org/officeDocument/2006/relationships/image" Target="../media/image84.png"/><Relationship Id="rId7" Type="http://schemas.openxmlformats.org/officeDocument/2006/relationships/image" Target="../media/image88.png"/><Relationship Id="rId12" Type="http://schemas.openxmlformats.org/officeDocument/2006/relationships/image" Target="../media/image9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92.png"/><Relationship Id="rId5" Type="http://schemas.openxmlformats.org/officeDocument/2006/relationships/image" Target="../media/image86.png"/><Relationship Id="rId15" Type="http://schemas.openxmlformats.org/officeDocument/2006/relationships/image" Target="../media/image96.png"/><Relationship Id="rId10" Type="http://schemas.openxmlformats.org/officeDocument/2006/relationships/image" Target="../media/image91.png"/><Relationship Id="rId4" Type="http://schemas.openxmlformats.org/officeDocument/2006/relationships/image" Target="../media/image85.png"/><Relationship Id="rId9" Type="http://schemas.openxmlformats.org/officeDocument/2006/relationships/image" Target="../media/image90.png"/><Relationship Id="rId14" Type="http://schemas.openxmlformats.org/officeDocument/2006/relationships/image" Target="../media/image95.png"/></Relationships>
</file>

<file path=ppt/slides/_rels/slide1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image" Target="../media/image103.png"/><Relationship Id="rId3" Type="http://schemas.openxmlformats.org/officeDocument/2006/relationships/image" Target="../media/image84.png"/><Relationship Id="rId7" Type="http://schemas.openxmlformats.org/officeDocument/2006/relationships/image" Target="../media/image88.png"/><Relationship Id="rId12" Type="http://schemas.openxmlformats.org/officeDocument/2006/relationships/image" Target="../media/image9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102.png"/><Relationship Id="rId5" Type="http://schemas.openxmlformats.org/officeDocument/2006/relationships/image" Target="../media/image86.png"/><Relationship Id="rId15" Type="http://schemas.openxmlformats.org/officeDocument/2006/relationships/image" Target="../media/image105.png"/><Relationship Id="rId10" Type="http://schemas.openxmlformats.org/officeDocument/2006/relationships/image" Target="../media/image101.png"/><Relationship Id="rId4" Type="http://schemas.openxmlformats.org/officeDocument/2006/relationships/image" Target="../media/image99.png"/><Relationship Id="rId9" Type="http://schemas.openxmlformats.org/officeDocument/2006/relationships/image" Target="../media/image90.png"/><Relationship Id="rId14" Type="http://schemas.openxmlformats.org/officeDocument/2006/relationships/image" Target="../media/image104.png"/></Relationships>
</file>

<file path=ppt/slides/_rels/slide15.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86.png"/><Relationship Id="rId7" Type="http://schemas.openxmlformats.org/officeDocument/2006/relationships/image" Target="../media/image93.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90.png"/><Relationship Id="rId11" Type="http://schemas.openxmlformats.org/officeDocument/2006/relationships/image" Target="../media/image109.png"/><Relationship Id="rId5" Type="http://schemas.openxmlformats.org/officeDocument/2006/relationships/image" Target="../media/image88.png"/><Relationship Id="rId10" Type="http://schemas.openxmlformats.org/officeDocument/2006/relationships/image" Target="../media/image108.png"/><Relationship Id="rId4" Type="http://schemas.openxmlformats.org/officeDocument/2006/relationships/image" Target="../media/image87.png"/><Relationship Id="rId9" Type="http://schemas.openxmlformats.org/officeDocument/2006/relationships/image" Target="../media/image107.png"/></Relationships>
</file>

<file path=ppt/slides/_rels/slide16.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86.png"/><Relationship Id="rId7" Type="http://schemas.openxmlformats.org/officeDocument/2006/relationships/image" Target="../media/image10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0.png"/><Relationship Id="rId10" Type="http://schemas.openxmlformats.org/officeDocument/2006/relationships/image" Target="../media/image107.png"/><Relationship Id="rId4" Type="http://schemas.openxmlformats.org/officeDocument/2006/relationships/image" Target="../media/image87.png"/><Relationship Id="rId9" Type="http://schemas.openxmlformats.org/officeDocument/2006/relationships/image" Target="../media/image111.png"/></Relationships>
</file>

<file path=ppt/slides/_rels/slide17.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86.png"/><Relationship Id="rId7" Type="http://schemas.openxmlformats.org/officeDocument/2006/relationships/image" Target="../media/image112.png"/><Relationship Id="rId12" Type="http://schemas.openxmlformats.org/officeDocument/2006/relationships/image" Target="../media/image117.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93.png"/><Relationship Id="rId11" Type="http://schemas.openxmlformats.org/officeDocument/2006/relationships/image" Target="../media/image116.png"/><Relationship Id="rId5" Type="http://schemas.openxmlformats.org/officeDocument/2006/relationships/image" Target="../media/image90.png"/><Relationship Id="rId10" Type="http://schemas.openxmlformats.org/officeDocument/2006/relationships/image" Target="../media/image115.png"/><Relationship Id="rId4" Type="http://schemas.openxmlformats.org/officeDocument/2006/relationships/image" Target="../media/image87.png"/><Relationship Id="rId9" Type="http://schemas.openxmlformats.org/officeDocument/2006/relationships/image" Target="../media/image114.png"/></Relationships>
</file>

<file path=ppt/slides/_rels/slide18.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18.png"/><Relationship Id="rId7" Type="http://schemas.openxmlformats.org/officeDocument/2006/relationships/image" Target="../media/image11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13.png"/><Relationship Id="rId5" Type="http://schemas.openxmlformats.org/officeDocument/2006/relationships/image" Target="../media/image119.png"/><Relationship Id="rId4" Type="http://schemas.openxmlformats.org/officeDocument/2006/relationships/image" Target="../media/image87.png"/><Relationship Id="rId9" Type="http://schemas.openxmlformats.org/officeDocument/2006/relationships/image" Target="../media/image121.png"/></Relationships>
</file>

<file path=ppt/slides/_rels/slide19.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118.png"/><Relationship Id="rId7" Type="http://schemas.openxmlformats.org/officeDocument/2006/relationships/image" Target="../media/image124.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87.png"/><Relationship Id="rId9" Type="http://schemas.openxmlformats.org/officeDocument/2006/relationships/image" Target="../media/image126.png"/></Relationships>
</file>

<file path=ppt/slides/_rels/slide20.xml.rels><?xml version="1.0" encoding="UTF-8" standalone="yes"?>
<Relationships xmlns="http://schemas.openxmlformats.org/package/2006/relationships"><Relationship Id="rId8" Type="http://schemas.openxmlformats.org/officeDocument/2006/relationships/image" Target="../media/image126.png"/><Relationship Id="rId3" Type="http://schemas.openxmlformats.org/officeDocument/2006/relationships/image" Target="../media/image118.png"/><Relationship Id="rId7" Type="http://schemas.openxmlformats.org/officeDocument/2006/relationships/image" Target="../media/image12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png"/></Relationships>
</file>

<file path=ppt/slides/_rels/slide2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1253778" y="842069"/>
            <a:ext cx="6636444" cy="1601036"/>
          </a:xfrm>
        </p:spPr>
        <p:txBody>
          <a:bodyPr>
            <a:noAutofit/>
          </a:bodyPr>
          <a:lstStyle/>
          <a:p>
            <a:pPr>
              <a:lnSpc>
                <a:spcPct val="150000"/>
              </a:lnSpc>
            </a:pPr>
            <a:r>
              <a:rPr lang="en-US" altLang="zh-TW" sz="3600" dirty="0">
                <a:latin typeface="Times New Roman" panose="02020603050405020304" pitchFamily="18" charset="0"/>
                <a:cs typeface="Times New Roman" panose="02020603050405020304" pitchFamily="18" charset="0"/>
              </a:rPr>
              <a:t> Quick greedy computation for minimum common string partition</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0" y="3329054"/>
            <a:ext cx="9144000" cy="1162936"/>
          </a:xfrm>
        </p:spPr>
        <p:txBody>
          <a:bodyPr>
            <a:noAutofit/>
          </a:bodyPr>
          <a:lstStyle/>
          <a:p>
            <a:r>
              <a:rPr lang="en-US" altLang="zh-TW" dirty="0">
                <a:latin typeface="Times New Roman" panose="02020603050405020304" pitchFamily="18" charset="0"/>
                <a:ea typeface="+mj-ea"/>
                <a:cs typeface="Times New Roman" panose="02020603050405020304" pitchFamily="18" charset="0"/>
              </a:rPr>
              <a:t>Isaac Goldstein, Moshe </a:t>
            </a:r>
            <a:r>
              <a:rPr lang="en-US" altLang="zh-TW" dirty="0" err="1">
                <a:latin typeface="Times New Roman" panose="02020603050405020304" pitchFamily="18" charset="0"/>
                <a:ea typeface="+mj-ea"/>
                <a:cs typeface="Times New Roman" panose="02020603050405020304" pitchFamily="18" charset="0"/>
              </a:rPr>
              <a:t>Lewenstein</a:t>
            </a:r>
            <a:endParaRPr lang="en-US" altLang="zh-TW" dirty="0">
              <a:latin typeface="Times New Roman" panose="02020603050405020304" pitchFamily="18" charset="0"/>
              <a:ea typeface="+mj-ea"/>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Theoretical Computer Science 542 (2014) 98–107</a:t>
            </a:r>
            <a:endParaRPr lang="zh-TW" altLang="en-US" dirty="0">
              <a:latin typeface="Times New Roman" panose="02020603050405020304" pitchFamily="18" charset="0"/>
              <a:ea typeface="+mj-ea"/>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5489688" y="5361647"/>
            <a:ext cx="2715491"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1800" dirty="0" err="1">
                <a:latin typeface="Times New Roman" panose="02020603050405020304" pitchFamily="18" charset="0"/>
                <a:ea typeface="標楷體" panose="03000509000000000000" pitchFamily="65" charset="-120"/>
                <a:cs typeface="Times New Roman" panose="02020603050405020304" pitchFamily="18" charset="0"/>
              </a:rPr>
              <a:t>Zhi</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-Cheng Shen</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2024/01/15</a:t>
            </a:r>
          </a:p>
        </p:txBody>
      </p:sp>
    </p:spTree>
    <p:extLst>
      <p:ext uri="{BB962C8B-B14F-4D97-AF65-F5344CB8AC3E}">
        <p14:creationId xmlns:p14="http://schemas.microsoft.com/office/powerpoint/2010/main" val="261172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Abstract (1/2)</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mc:AlternateContent xmlns:mc="http://schemas.openxmlformats.org/markup-compatibility/2006" xmlns:a14="http://schemas.microsoft.com/office/drawing/2010/main">
        <mc:Choice Requires="a14">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471956" y="998092"/>
                <a:ext cx="7886700" cy="5553983"/>
              </a:xfrm>
            </p:spPr>
            <p:txBody>
              <a:bodyPr>
                <a:normAutofit/>
              </a:bodyPr>
              <a:lstStyle/>
              <a:p>
                <a:pPr>
                  <a:lnSpc>
                    <a:spcPct val="110000"/>
                  </a:lnSpc>
                </a:pPr>
                <a:r>
                  <a:rPr lang="en-US" altLang="zh-TW" sz="2400" dirty="0">
                    <a:latin typeface="Times New Roman" panose="02020603050405020304" pitchFamily="18" charset="0"/>
                    <a:cs typeface="Times New Roman" panose="02020603050405020304" pitchFamily="18" charset="0"/>
                  </a:rPr>
                  <a:t>In the minimum common string partition problem one is given two strings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𝑆</m:t>
                    </m:r>
                  </m:oMath>
                </a14:m>
                <a:r>
                  <a:rPr lang="en-US" altLang="zh-TW" sz="2400" dirty="0">
                    <a:latin typeface="Times New Roman" panose="02020603050405020304" pitchFamily="18" charset="0"/>
                    <a:cs typeface="Times New Roman" panose="02020603050405020304" pitchFamily="18" charset="0"/>
                  </a:rPr>
                  <a:t> and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𝑇</m:t>
                    </m:r>
                  </m:oMath>
                </a14:m>
                <a:r>
                  <a:rPr lang="en-US" altLang="zh-TW" sz="2400" dirty="0">
                    <a:latin typeface="Times New Roman" panose="02020603050405020304" pitchFamily="18" charset="0"/>
                    <a:cs typeface="Times New Roman" panose="02020603050405020304" pitchFamily="18" charset="0"/>
                  </a:rPr>
                  <a:t> with the same character statistics and one seeks for the smallest partition of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𝑆</m:t>
                    </m:r>
                  </m:oMath>
                </a14:m>
                <a:r>
                  <a:rPr lang="en-US" altLang="zh-TW" sz="2400" dirty="0">
                    <a:latin typeface="Times New Roman" panose="02020603050405020304" pitchFamily="18" charset="0"/>
                    <a:cs typeface="Times New Roman" panose="02020603050405020304" pitchFamily="18" charset="0"/>
                  </a:rPr>
                  <a:t> into substrings so that </a:t>
                </a:r>
                <a14:m>
                  <m:oMath xmlns:m="http://schemas.openxmlformats.org/officeDocument/2006/math">
                    <m:r>
                      <a:rPr lang="en-US" altLang="zh-TW" sz="2400" i="1" dirty="0" smtClean="0">
                        <a:latin typeface="Cambria Math" panose="02040503050406030204" pitchFamily="18" charset="0"/>
                        <a:cs typeface="Times New Roman" panose="02020603050405020304" pitchFamily="18" charset="0"/>
                      </a:rPr>
                      <m:t>𝑇</m:t>
                    </m:r>
                  </m:oMath>
                </a14:m>
                <a:r>
                  <a:rPr lang="en-US" altLang="zh-TW" sz="2400" dirty="0">
                    <a:latin typeface="Times New Roman" panose="02020603050405020304" pitchFamily="18" charset="0"/>
                    <a:cs typeface="Times New Roman" panose="02020603050405020304" pitchFamily="18" charset="0"/>
                  </a:rPr>
                  <a:t> can also be partitioned into the same substring multiset. The problem is fundamental in several variants of edit distance with block operations, e.g. signed reversal distance with duplicates and edit distance with moves.</a:t>
                </a:r>
              </a:p>
              <a:p>
                <a:pPr>
                  <a:lnSpc>
                    <a:spcPct val="110000"/>
                  </a:lnSpc>
                </a:pPr>
                <a:r>
                  <a:rPr lang="en-US" altLang="zh-TW" sz="2400" dirty="0">
                    <a:latin typeface="Times New Roman" panose="02020603050405020304" pitchFamily="18" charset="0"/>
                    <a:cs typeface="Times New Roman" panose="02020603050405020304" pitchFamily="18" charset="0"/>
                  </a:rPr>
                  <a:t>The minimum common string partition problem is known to be NP-complete and the best approximation algorithm known has an approximation factor of </a:t>
                </a:r>
                <a14:m>
                  <m:oMath xmlns:m="http://schemas.openxmlformats.org/officeDocument/2006/math">
                    <m:r>
                      <m:rPr>
                        <m:sty m:val="p"/>
                      </m:rPr>
                      <a:rPr lang="en-US" altLang="zh-TW" sz="2400" i="1" dirty="0" smtClean="0">
                        <a:latin typeface="Cambria Math" panose="02040503050406030204" pitchFamily="18" charset="0"/>
                        <a:cs typeface="Times New Roman" panose="02020603050405020304" pitchFamily="18" charset="0"/>
                      </a:rPr>
                      <m:t>O</m:t>
                    </m:r>
                    <m:r>
                      <a:rPr lang="en-US" altLang="zh-TW" sz="2400" b="0" i="1" dirty="0" smtClean="0">
                        <a:latin typeface="Cambria Math" panose="02040503050406030204" pitchFamily="18" charset="0"/>
                        <a:cs typeface="Times New Roman" panose="02020603050405020304" pitchFamily="18" charset="0"/>
                      </a:rPr>
                      <m:t>(</m:t>
                    </m:r>
                    <m:func>
                      <m:funcPr>
                        <m:ctrlPr>
                          <a:rPr lang="en-US" altLang="zh-TW" sz="2400" b="0" i="1" dirty="0" smtClean="0">
                            <a:latin typeface="Cambria Math" panose="02040503050406030204" pitchFamily="18" charset="0"/>
                            <a:cs typeface="Times New Roman" panose="02020603050405020304" pitchFamily="18" charset="0"/>
                          </a:rPr>
                        </m:ctrlPr>
                      </m:funcPr>
                      <m:fName>
                        <m:r>
                          <m:rPr>
                            <m:sty m:val="p"/>
                          </m:rPr>
                          <a:rPr lang="en-US" altLang="zh-TW" sz="2400" b="0" i="0" dirty="0" smtClean="0">
                            <a:latin typeface="Cambria Math" panose="02040503050406030204" pitchFamily="18" charset="0"/>
                            <a:cs typeface="Times New Roman" panose="02020603050405020304" pitchFamily="18" charset="0"/>
                          </a:rPr>
                          <m:t>log</m:t>
                        </m:r>
                      </m:fName>
                      <m:e>
                        <m:r>
                          <a:rPr lang="en-US" altLang="zh-TW" sz="2400" b="0" i="1" dirty="0" smtClean="0">
                            <a:latin typeface="Cambria Math" panose="02040503050406030204" pitchFamily="18" charset="0"/>
                            <a:cs typeface="Times New Roman" panose="02020603050405020304" pitchFamily="18" charset="0"/>
                          </a:rPr>
                          <m:t>𝑛</m:t>
                        </m:r>
                      </m:e>
                    </m:func>
                    <m:func>
                      <m:funcPr>
                        <m:ctrlPr>
                          <a:rPr lang="en-US" altLang="zh-TW" sz="2400" b="0" i="1" dirty="0" smtClean="0">
                            <a:latin typeface="Cambria Math" panose="02040503050406030204" pitchFamily="18" charset="0"/>
                            <a:cs typeface="Times New Roman" panose="02020603050405020304" pitchFamily="18" charset="0"/>
                          </a:rPr>
                        </m:ctrlPr>
                      </m:funcPr>
                      <m:fName>
                        <m:sSup>
                          <m:sSupPr>
                            <m:ctrlPr>
                              <a:rPr lang="en-US" altLang="zh-TW" sz="2400" b="0" i="1" dirty="0" smtClean="0">
                                <a:latin typeface="Cambria Math" panose="02040503050406030204" pitchFamily="18" charset="0"/>
                                <a:cs typeface="Times New Roman" panose="02020603050405020304" pitchFamily="18" charset="0"/>
                              </a:rPr>
                            </m:ctrlPr>
                          </m:sSupPr>
                          <m:e>
                            <m:r>
                              <m:rPr>
                                <m:sty m:val="p"/>
                              </m:rPr>
                              <a:rPr lang="en-US" altLang="zh-TW" sz="2400" b="0" i="0" dirty="0" smtClean="0">
                                <a:latin typeface="Cambria Math" panose="02040503050406030204" pitchFamily="18" charset="0"/>
                                <a:cs typeface="Times New Roman" panose="02020603050405020304" pitchFamily="18" charset="0"/>
                              </a:rPr>
                              <m:t>log</m:t>
                            </m:r>
                          </m:e>
                          <m:sup>
                            <m:r>
                              <a:rPr lang="en-US" altLang="zh-TW" sz="2400" b="0" i="1" dirty="0" smtClean="0">
                                <a:latin typeface="Cambria Math" panose="02040503050406030204" pitchFamily="18" charset="0"/>
                                <a:cs typeface="Times New Roman" panose="02020603050405020304" pitchFamily="18" charset="0"/>
                              </a:rPr>
                              <m:t>∗</m:t>
                            </m:r>
                          </m:sup>
                        </m:sSup>
                      </m:fName>
                      <m:e>
                        <m:r>
                          <a:rPr lang="en-US" altLang="zh-TW" sz="2400" b="0" i="1" dirty="0" smtClean="0">
                            <a:latin typeface="Cambria Math" panose="02040503050406030204" pitchFamily="18" charset="0"/>
                            <a:cs typeface="Times New Roman" panose="02020603050405020304" pitchFamily="18" charset="0"/>
                          </a:rPr>
                          <m:t>𝑛</m:t>
                        </m:r>
                      </m:e>
                    </m:func>
                    <m:r>
                      <a:rPr lang="en-US" altLang="zh-TW" sz="2400" i="1" dirty="0" smtClean="0">
                        <a:latin typeface="Cambria Math" panose="02040503050406030204" pitchFamily="18" charset="0"/>
                        <a:cs typeface="Times New Roman" panose="02020603050405020304" pitchFamily="18" charset="0"/>
                      </a:rPr>
                      <m:t>)</m:t>
                    </m:r>
                  </m:oMath>
                </a14:m>
                <a:r>
                  <a:rPr lang="en-US" altLang="zh-TW" sz="2400" dirty="0">
                    <a:latin typeface="Times New Roman" panose="02020603050405020304" pitchFamily="18" charset="0"/>
                    <a:cs typeface="Times New Roman" panose="02020603050405020304" pitchFamily="18" charset="0"/>
                  </a:rPr>
                  <a:t>. Since the minimum common string partition problem is of utmost practical importance one seeks a heuristic that will usually have a low approximation factor and will run fast.</a:t>
                </a:r>
              </a:p>
            </p:txBody>
          </p:sp>
        </mc:Choice>
        <mc:Fallback xmlns="">
          <p:sp>
            <p:nvSpPr>
              <p:cNvPr id="7" name="內容版面配置區 6">
                <a:extLst>
                  <a:ext uri="{FF2B5EF4-FFF2-40B4-BE49-F238E27FC236}">
                    <a16:creationId xmlns:a16="http://schemas.microsoft.com/office/drawing/2014/main" id="{878CA31B-C758-4215-B281-353CA02EC37A}"/>
                  </a:ext>
                </a:extLst>
              </p:cNvPr>
              <p:cNvSpPr>
                <a:spLocks noGrp="1" noRot="1" noChangeAspect="1" noMove="1" noResize="1" noEditPoints="1" noAdjustHandles="1" noChangeArrowheads="1" noChangeShapeType="1" noTextEdit="1"/>
              </p:cNvSpPr>
              <p:nvPr>
                <p:ph idx="1"/>
              </p:nvPr>
            </p:nvSpPr>
            <p:spPr>
              <a:xfrm>
                <a:off x="471956" y="998092"/>
                <a:ext cx="7886700" cy="5553983"/>
              </a:xfrm>
              <a:blipFill>
                <a:blip r:embed="rId3"/>
                <a:stretch>
                  <a:fillRect l="-1005" t="-659" r="-1777" b="-11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0478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Abstract (2/2)</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471956" y="998092"/>
            <a:ext cx="8200088" cy="5553983"/>
          </a:xfrm>
        </p:spPr>
        <p:txBody>
          <a:bodyPr vert="horz" lIns="91440" tIns="45720" rIns="91440" bIns="45720" rtlCol="0">
            <a:normAutofit lnSpcReduction="10000"/>
          </a:bodyPr>
          <a:lstStyle/>
          <a:p>
            <a:pPr>
              <a:lnSpc>
                <a:spcPct val="150000"/>
              </a:lnSpc>
            </a:pPr>
            <a:r>
              <a:rPr lang="en-US" altLang="zh-TW" sz="2400" dirty="0">
                <a:latin typeface="Times New Roman" panose="02020603050405020304" pitchFamily="18" charset="0"/>
                <a:cs typeface="Times New Roman" panose="02020603050405020304" pitchFamily="18" charset="0"/>
              </a:rPr>
              <a:t>A simple greedy algorithm is known, which iteratively choose non-overlapping longest common substrings of the input strings. This algorithm has been well-studied from an approximation point of view and it has been shown to have a bad worst case approximation factor. However, all the bad approximation factors presented so far stem from complicated recursive construction. In practice the greedy algorithm seems to have small approximation factors. However, the best current implementation of greedy runs in quadratic time.</a:t>
            </a:r>
          </a:p>
          <a:p>
            <a:pPr>
              <a:lnSpc>
                <a:spcPct val="150000"/>
              </a:lnSpc>
            </a:pPr>
            <a:r>
              <a:rPr lang="en-US" altLang="zh-TW" sz="2400" dirty="0">
                <a:latin typeface="Times New Roman" panose="02020603050405020304" pitchFamily="18" charset="0"/>
                <a:cs typeface="Times New Roman" panose="02020603050405020304" pitchFamily="18" charset="0"/>
              </a:rPr>
              <a:t>We propose a novel method to implement greedy in linear time.</a:t>
            </a:r>
            <a:endParaRPr lang="zh-TW"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622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MCSP problem</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4</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471956" y="998092"/>
            <a:ext cx="8327572" cy="5553983"/>
          </a:xfrm>
        </p:spPr>
        <p:txBody>
          <a:bodyPr>
            <a:normAutofit/>
          </a:bodyPr>
          <a:lstStyle/>
          <a:p>
            <a:pPr>
              <a:lnSpc>
                <a:spcPct val="150000"/>
              </a:lnSpc>
            </a:pPr>
            <a:r>
              <a:rPr lang="en-US" altLang="zh-TW" sz="2400" dirty="0">
                <a:latin typeface="Times New Roman" panose="02020603050405020304" pitchFamily="18" charset="0"/>
                <a:cs typeface="Times New Roman" panose="02020603050405020304" pitchFamily="18" charset="0"/>
              </a:rPr>
              <a:t>The minimum common string partition problem</a:t>
            </a:r>
            <a:endParaRPr lang="zh-TW" altLang="en-US" sz="2400" dirty="0">
              <a:latin typeface="Times New Roman" panose="02020603050405020304" pitchFamily="18" charset="0"/>
              <a:cs typeface="Times New Roman" panose="02020603050405020304" pitchFamily="18" charset="0"/>
            </a:endParaRPr>
          </a:p>
        </p:txBody>
      </p:sp>
      <p:sp>
        <p:nvSpPr>
          <p:cNvPr id="3" name="矩形 2">
            <a:extLst>
              <a:ext uri="{FF2B5EF4-FFF2-40B4-BE49-F238E27FC236}">
                <a16:creationId xmlns:a16="http://schemas.microsoft.com/office/drawing/2014/main" id="{D35DAA33-390A-40C0-AA58-4C9DA6CD35B1}"/>
              </a:ext>
            </a:extLst>
          </p:cNvPr>
          <p:cNvSpPr/>
          <p:nvPr/>
        </p:nvSpPr>
        <p:spPr>
          <a:xfrm>
            <a:off x="567649" y="1668222"/>
            <a:ext cx="7791007" cy="830997"/>
          </a:xfrm>
          <a:prstGeom prst="rect">
            <a:avLst/>
          </a:prstGeom>
        </p:spPr>
        <p:txBody>
          <a:bodyPr wrap="square">
            <a:spAutoFit/>
          </a:bodyPr>
          <a:lstStyle/>
          <a:p>
            <a:r>
              <a:rPr lang="en-US" altLang="zh-TW" sz="2400" b="1" dirty="0">
                <a:solidFill>
                  <a:srgbClr val="000000"/>
                </a:solidFill>
                <a:latin typeface="Times New Roman" panose="02020603050405020304" pitchFamily="18" charset="0"/>
                <a:cs typeface="Times New Roman" panose="02020603050405020304" pitchFamily="18" charset="0"/>
              </a:rPr>
              <a:t>Input:</a:t>
            </a:r>
            <a:r>
              <a:rPr lang="en-US" altLang="zh-TW" sz="2400" b="1" dirty="0">
                <a:solidFill>
                  <a:srgbClr val="000000"/>
                </a:solidFill>
                <a:latin typeface="FELOO K+ Gulliver"/>
              </a:rPr>
              <a:t> </a:t>
            </a:r>
            <a:r>
              <a:rPr lang="en-US" altLang="zh-TW" sz="2400" dirty="0">
                <a:solidFill>
                  <a:srgbClr val="000000"/>
                </a:solidFill>
                <a:latin typeface="Times New Roman" panose="02020603050405020304" pitchFamily="18" charset="0"/>
                <a:cs typeface="Times New Roman" panose="02020603050405020304" pitchFamily="18" charset="0"/>
              </a:rPr>
              <a:t>Two </a:t>
            </a:r>
            <a:r>
              <a:rPr lang="en-US" altLang="zh-TW" sz="2400" dirty="0" err="1">
                <a:solidFill>
                  <a:srgbClr val="0070C0"/>
                </a:solidFill>
                <a:latin typeface="Times New Roman" panose="02020603050405020304" pitchFamily="18" charset="0"/>
                <a:cs typeface="Times New Roman" panose="02020603050405020304" pitchFamily="18" charset="0"/>
              </a:rPr>
              <a:t>equi</a:t>
            </a:r>
            <a:r>
              <a:rPr lang="en-US" altLang="zh-TW" sz="2400" dirty="0">
                <a:solidFill>
                  <a:srgbClr val="0070C0"/>
                </a:solidFill>
                <a:latin typeface="Times New Roman" panose="02020603050405020304" pitchFamily="18" charset="0"/>
                <a:cs typeface="Times New Roman" panose="02020603050405020304" pitchFamily="18" charset="0"/>
              </a:rPr>
              <a:t>-statistic</a:t>
            </a:r>
            <a:r>
              <a:rPr lang="en-US" altLang="zh-TW" sz="2400" dirty="0">
                <a:solidFill>
                  <a:srgbClr val="000000"/>
                </a:solidFill>
                <a:latin typeface="Times New Roman" panose="02020603050405020304" pitchFamily="18" charset="0"/>
                <a:cs typeface="Times New Roman" panose="02020603050405020304" pitchFamily="18" charset="0"/>
              </a:rPr>
              <a:t> strings </a:t>
            </a:r>
            <a:r>
              <a:rPr lang="en-US" altLang="zh-TW" sz="2400" i="1" dirty="0">
                <a:solidFill>
                  <a:srgbClr val="000000"/>
                </a:solidFill>
                <a:latin typeface="Times New Roman" panose="02020603050405020304" pitchFamily="18" charset="0"/>
                <a:cs typeface="Times New Roman" panose="02020603050405020304" pitchFamily="18" charset="0"/>
              </a:rPr>
              <a:t>S </a:t>
            </a:r>
            <a:r>
              <a:rPr lang="en-US" altLang="zh-TW" sz="2400" dirty="0">
                <a:solidFill>
                  <a:srgbClr val="000000"/>
                </a:solidFill>
                <a:latin typeface="Times New Roman" panose="02020603050405020304" pitchFamily="18" charset="0"/>
                <a:cs typeface="Times New Roman" panose="02020603050405020304" pitchFamily="18" charset="0"/>
              </a:rPr>
              <a:t>and </a:t>
            </a:r>
            <a:r>
              <a:rPr lang="en-US" altLang="zh-TW" sz="2400" i="1" dirty="0">
                <a:solidFill>
                  <a:srgbClr val="000000"/>
                </a:solidFill>
                <a:latin typeface="Times New Roman" panose="02020603050405020304" pitchFamily="18" charset="0"/>
                <a:cs typeface="Times New Roman" panose="02020603050405020304" pitchFamily="18" charset="0"/>
              </a:rPr>
              <a:t>T</a:t>
            </a:r>
            <a:endParaRPr lang="en-US" altLang="zh-TW" sz="2400" dirty="0">
              <a:solidFill>
                <a:srgbClr val="000000"/>
              </a:solidFill>
              <a:latin typeface="Times New Roman" panose="02020603050405020304" pitchFamily="18" charset="0"/>
              <a:cs typeface="Times New Roman" panose="02020603050405020304" pitchFamily="18" charset="0"/>
            </a:endParaRPr>
          </a:p>
          <a:p>
            <a:r>
              <a:rPr lang="en-US" altLang="zh-TW" sz="2400" b="1" dirty="0">
                <a:solidFill>
                  <a:srgbClr val="000000"/>
                </a:solidFill>
                <a:latin typeface="Times New Roman" panose="02020603050405020304" pitchFamily="18" charset="0"/>
                <a:cs typeface="Times New Roman" panose="02020603050405020304" pitchFamily="18" charset="0"/>
              </a:rPr>
              <a:t>Output:</a:t>
            </a:r>
            <a:r>
              <a:rPr lang="en-US" altLang="zh-TW" sz="2400" b="1" dirty="0">
                <a:solidFill>
                  <a:srgbClr val="000000"/>
                </a:solidFill>
                <a:latin typeface="FELOO K+ Gulliver"/>
              </a:rPr>
              <a:t> </a:t>
            </a:r>
            <a:r>
              <a:rPr lang="en-US" altLang="zh-TW" sz="2400" dirty="0">
                <a:solidFill>
                  <a:srgbClr val="000000"/>
                </a:solidFill>
                <a:latin typeface="Times New Roman" panose="02020603050405020304" pitchFamily="18" charset="0"/>
                <a:cs typeface="Times New Roman" panose="02020603050405020304" pitchFamily="18" charset="0"/>
              </a:rPr>
              <a:t>A common string partition </a:t>
            </a:r>
            <a:r>
              <a:rPr lang="en-US" altLang="zh-TW" sz="2400" i="1" dirty="0">
                <a:solidFill>
                  <a:srgbClr val="000000"/>
                </a:solidFill>
                <a:latin typeface="Times New Roman" panose="02020603050405020304" pitchFamily="18" charset="0"/>
                <a:cs typeface="Times New Roman" panose="02020603050405020304" pitchFamily="18" charset="0"/>
              </a:rPr>
              <a:t>B</a:t>
            </a:r>
            <a:r>
              <a:rPr lang="en-US" altLang="zh-TW" sz="1000" dirty="0">
                <a:solidFill>
                  <a:srgbClr val="000000"/>
                </a:solidFill>
                <a:latin typeface="Times New Roman" panose="02020603050405020304" pitchFamily="18" charset="0"/>
                <a:cs typeface="Times New Roman" panose="02020603050405020304" pitchFamily="18" charset="0"/>
              </a:rPr>
              <a:t>1</a:t>
            </a:r>
            <a:r>
              <a:rPr lang="en-US" altLang="zh-TW" sz="2400" dirty="0">
                <a:solidFill>
                  <a:srgbClr val="000000"/>
                </a:solidFill>
                <a:latin typeface="Times New Roman" panose="02020603050405020304" pitchFamily="18" charset="0"/>
                <a:cs typeface="Times New Roman" panose="02020603050405020304" pitchFamily="18" charset="0"/>
              </a:rPr>
              <a:t>, ..., </a:t>
            </a:r>
            <a:r>
              <a:rPr lang="en-US" altLang="zh-TW" sz="2400" i="1" dirty="0" err="1">
                <a:solidFill>
                  <a:srgbClr val="000000"/>
                </a:solidFill>
                <a:latin typeface="Times New Roman" panose="02020603050405020304" pitchFamily="18" charset="0"/>
                <a:cs typeface="Times New Roman" panose="02020603050405020304" pitchFamily="18" charset="0"/>
              </a:rPr>
              <a:t>B</a:t>
            </a:r>
            <a:r>
              <a:rPr lang="en-US" altLang="zh-TW" sz="1000" i="1" dirty="0" err="1">
                <a:solidFill>
                  <a:srgbClr val="000000"/>
                </a:solidFill>
                <a:latin typeface="Times New Roman" panose="02020603050405020304" pitchFamily="18" charset="0"/>
                <a:cs typeface="Times New Roman" panose="02020603050405020304" pitchFamily="18" charset="0"/>
              </a:rPr>
              <a:t>l</a:t>
            </a:r>
            <a:r>
              <a:rPr lang="en-US" altLang="zh-TW" sz="1000" i="1" dirty="0">
                <a:solidFill>
                  <a:srgbClr val="000000"/>
                </a:solidFill>
                <a:latin typeface="Times New Roman" panose="02020603050405020304" pitchFamily="18" charset="0"/>
                <a:cs typeface="Times New Roman" panose="02020603050405020304" pitchFamily="18" charset="0"/>
              </a:rPr>
              <a:t>  </a:t>
            </a:r>
            <a:r>
              <a:rPr lang="en-US" altLang="zh-TW" sz="2400" i="1" dirty="0">
                <a:solidFill>
                  <a:srgbClr val="000000"/>
                </a:solidFill>
                <a:latin typeface="Times New Roman" panose="02020603050405020304" pitchFamily="18" charset="0"/>
                <a:cs typeface="Times New Roman" panose="02020603050405020304" pitchFamily="18" charset="0"/>
              </a:rPr>
              <a:t>( l</a:t>
            </a:r>
            <a:r>
              <a:rPr lang="en-US" altLang="zh-TW" sz="2400" dirty="0">
                <a:solidFill>
                  <a:srgbClr val="000000"/>
                </a:solidFill>
                <a:latin typeface="Times New Roman" panose="02020603050405020304" pitchFamily="18" charset="0"/>
                <a:cs typeface="Times New Roman" panose="02020603050405020304" pitchFamily="18" charset="0"/>
              </a:rPr>
              <a:t> </a:t>
            </a:r>
            <a:r>
              <a:rPr lang="en-US" altLang="zh-TW" sz="2400" dirty="0">
                <a:solidFill>
                  <a:srgbClr val="0070C0"/>
                </a:solidFill>
                <a:latin typeface="Times New Roman" panose="02020603050405020304" pitchFamily="18" charset="0"/>
                <a:cs typeface="Times New Roman" panose="02020603050405020304" pitchFamily="18" charset="0"/>
              </a:rPr>
              <a:t>minimized</a:t>
            </a:r>
            <a:r>
              <a:rPr lang="en-US" altLang="zh-TW" sz="2400" dirty="0">
                <a:solidFill>
                  <a:srgbClr val="000000"/>
                </a:solidFill>
                <a:latin typeface="Times New Roman" panose="02020603050405020304" pitchFamily="18" charset="0"/>
                <a:cs typeface="Times New Roman" panose="02020603050405020304" pitchFamily="18" charset="0"/>
              </a:rPr>
              <a:t> )</a:t>
            </a:r>
            <a:endParaRPr lang="zh-TW" altLang="en-US" sz="2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F40F00AD-3156-41BB-AE69-E3902BAC556D}"/>
                  </a:ext>
                </a:extLst>
              </p:cNvPr>
              <p:cNvSpPr/>
              <p:nvPr/>
            </p:nvSpPr>
            <p:spPr>
              <a:xfrm>
                <a:off x="2712631" y="2845633"/>
                <a:ext cx="281955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𝑏</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𝑏</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oMath>
                  </m:oMathPara>
                </a14:m>
                <a:endParaRPr lang="zh-TW" altLang="en-US" sz="2800" dirty="0"/>
              </a:p>
            </p:txBody>
          </p:sp>
        </mc:Choice>
        <mc:Fallback xmlns="">
          <p:sp>
            <p:nvSpPr>
              <p:cNvPr id="5" name="矩形 4">
                <a:extLst>
                  <a:ext uri="{FF2B5EF4-FFF2-40B4-BE49-F238E27FC236}">
                    <a16:creationId xmlns:a16="http://schemas.microsoft.com/office/drawing/2014/main" id="{F40F00AD-3156-41BB-AE69-E3902BAC556D}"/>
                  </a:ext>
                </a:extLst>
              </p:cNvPr>
              <p:cNvSpPr>
                <a:spLocks noRot="1" noChangeAspect="1" noMove="1" noResize="1" noEditPoints="1" noAdjustHandles="1" noChangeArrowheads="1" noChangeShapeType="1" noTextEdit="1"/>
              </p:cNvSpPr>
              <p:nvPr/>
            </p:nvSpPr>
            <p:spPr>
              <a:xfrm>
                <a:off x="2712631" y="2845633"/>
                <a:ext cx="2819554" cy="523220"/>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0FD164E6-59E1-47C2-A0DF-E8088EC94F80}"/>
                  </a:ext>
                </a:extLst>
              </p:cNvPr>
              <p:cNvSpPr/>
              <p:nvPr/>
            </p:nvSpPr>
            <p:spPr>
              <a:xfrm>
                <a:off x="2712631" y="3429000"/>
                <a:ext cx="284289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𝑇</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𝑏</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𝑏</m:t>
                      </m:r>
                    </m:oMath>
                  </m:oMathPara>
                </a14:m>
                <a:endParaRPr lang="zh-TW" altLang="en-US" sz="2800" dirty="0"/>
              </a:p>
            </p:txBody>
          </p:sp>
        </mc:Choice>
        <mc:Fallback xmlns="">
          <p:sp>
            <p:nvSpPr>
              <p:cNvPr id="8" name="矩形 7">
                <a:extLst>
                  <a:ext uri="{FF2B5EF4-FFF2-40B4-BE49-F238E27FC236}">
                    <a16:creationId xmlns:a16="http://schemas.microsoft.com/office/drawing/2014/main" id="{0FD164E6-59E1-47C2-A0DF-E8088EC94F80}"/>
                  </a:ext>
                </a:extLst>
              </p:cNvPr>
              <p:cNvSpPr>
                <a:spLocks noRot="1" noChangeAspect="1" noMove="1" noResize="1" noEditPoints="1" noAdjustHandles="1" noChangeArrowheads="1" noChangeShapeType="1" noTextEdit="1"/>
              </p:cNvSpPr>
              <p:nvPr/>
            </p:nvSpPr>
            <p:spPr>
              <a:xfrm>
                <a:off x="2712631" y="3429000"/>
                <a:ext cx="2842894" cy="523220"/>
              </a:xfrm>
              <a:prstGeom prst="rect">
                <a:avLst/>
              </a:prstGeom>
              <a:blipFill>
                <a:blip r:embed="rId4"/>
                <a:stretch>
                  <a:fillRect/>
                </a:stretch>
              </a:blipFill>
            </p:spPr>
            <p:txBody>
              <a:bodyPr/>
              <a:lstStyle/>
              <a:p>
                <a:r>
                  <a:rPr lang="zh-TW" altLang="en-US">
                    <a:noFill/>
                  </a:rPr>
                  <a:t> </a:t>
                </a:r>
              </a:p>
            </p:txBody>
          </p:sp>
        </mc:Fallback>
      </mc:AlternateContent>
      <p:cxnSp>
        <p:nvCxnSpPr>
          <p:cNvPr id="9" name="直線單箭頭接點 8">
            <a:extLst>
              <a:ext uri="{FF2B5EF4-FFF2-40B4-BE49-F238E27FC236}">
                <a16:creationId xmlns:a16="http://schemas.microsoft.com/office/drawing/2014/main" id="{BBA29C91-0E83-4432-B23C-AE7294C81BB5}"/>
              </a:ext>
            </a:extLst>
          </p:cNvPr>
          <p:cNvCxnSpPr>
            <a:cxnSpLocks/>
          </p:cNvCxnSpPr>
          <p:nvPr/>
        </p:nvCxnSpPr>
        <p:spPr>
          <a:xfrm flipH="1">
            <a:off x="4110738" y="4154199"/>
            <a:ext cx="11670" cy="59542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344B02A9-6DCE-4A86-AC65-CC142ECA0DD0}"/>
                  </a:ext>
                </a:extLst>
              </p:cNvPr>
              <p:cNvSpPr/>
              <p:nvPr/>
            </p:nvSpPr>
            <p:spPr>
              <a:xfrm>
                <a:off x="2712631" y="5037849"/>
                <a:ext cx="281955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mtClean="0">
                          <a:solidFill>
                            <a:srgbClr val="002060"/>
                          </a:solidFill>
                          <a:latin typeface="Cambria Math" panose="02040503050406030204" pitchFamily="18" charset="0"/>
                        </a:rPr>
                        <m:t>𝑎</m:t>
                      </m:r>
                      <m:r>
                        <a:rPr lang="en-US" altLang="zh-TW" sz="2800" b="0" i="1" smtClean="0">
                          <a:solidFill>
                            <a:srgbClr val="002060"/>
                          </a:solidFill>
                          <a:latin typeface="Cambria Math" panose="02040503050406030204" pitchFamily="18" charset="0"/>
                        </a:rPr>
                        <m:t> </m:t>
                      </m:r>
                      <m:r>
                        <a:rPr lang="en-US" altLang="zh-TW" sz="2800" b="0" i="1" smtClean="0">
                          <a:solidFill>
                            <a:srgbClr val="002060"/>
                          </a:solidFill>
                          <a:latin typeface="Cambria Math" panose="02040503050406030204" pitchFamily="18" charset="0"/>
                        </a:rPr>
                        <m:t>𝑏</m:t>
                      </m:r>
                      <m:r>
                        <a:rPr lang="en-US" altLang="zh-TW" sz="2800" b="0" i="1" smtClean="0">
                          <a:solidFill>
                            <a:srgbClr val="002060"/>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𝑎</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𝑎</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𝑏</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𝑐</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𝑎</m:t>
                      </m:r>
                    </m:oMath>
                  </m:oMathPara>
                </a14:m>
                <a:endParaRPr lang="zh-TW" altLang="en-US" sz="2800" dirty="0"/>
              </a:p>
            </p:txBody>
          </p:sp>
        </mc:Choice>
        <mc:Fallback xmlns="">
          <p:sp>
            <p:nvSpPr>
              <p:cNvPr id="11" name="矩形 10">
                <a:extLst>
                  <a:ext uri="{FF2B5EF4-FFF2-40B4-BE49-F238E27FC236}">
                    <a16:creationId xmlns:a16="http://schemas.microsoft.com/office/drawing/2014/main" id="{344B02A9-6DCE-4A86-AC65-CC142ECA0DD0}"/>
                  </a:ext>
                </a:extLst>
              </p:cNvPr>
              <p:cNvSpPr>
                <a:spLocks noRot="1" noChangeAspect="1" noMove="1" noResize="1" noEditPoints="1" noAdjustHandles="1" noChangeArrowheads="1" noChangeShapeType="1" noTextEdit="1"/>
              </p:cNvSpPr>
              <p:nvPr/>
            </p:nvSpPr>
            <p:spPr>
              <a:xfrm>
                <a:off x="2712631" y="5037849"/>
                <a:ext cx="2819554" cy="523220"/>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7C4B14CE-556C-49A5-AD33-1C1B4C7AFC0C}"/>
                  </a:ext>
                </a:extLst>
              </p:cNvPr>
              <p:cNvSpPr/>
              <p:nvPr/>
            </p:nvSpPr>
            <p:spPr>
              <a:xfrm>
                <a:off x="2712631" y="5621216"/>
                <a:ext cx="284289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𝑇</m:t>
                      </m:r>
                      <m:r>
                        <a:rPr lang="en-US" altLang="zh-TW" sz="2800" b="0" i="1" smtClean="0">
                          <a:latin typeface="Cambria Math" panose="02040503050406030204" pitchFamily="18" charset="0"/>
                        </a:rPr>
                        <m:t>=</m:t>
                      </m:r>
                      <m:r>
                        <a:rPr lang="en-US" altLang="zh-TW" sz="2800" b="0" i="1" smtClean="0">
                          <a:solidFill>
                            <a:schemeClr val="accent2">
                              <a:lumMod val="75000"/>
                            </a:schemeClr>
                          </a:solidFill>
                          <a:latin typeface="Cambria Math" panose="02040503050406030204" pitchFamily="18" charset="0"/>
                        </a:rPr>
                        <m:t>𝑎</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𝑎</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𝑏</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𝑐</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𝑎</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rgbClr val="002060"/>
                          </a:solidFill>
                          <a:latin typeface="Cambria Math" panose="02040503050406030204" pitchFamily="18" charset="0"/>
                        </a:rPr>
                        <m:t>𝑎</m:t>
                      </m:r>
                      <m:r>
                        <a:rPr lang="en-US" altLang="zh-TW" sz="2800" b="0" i="1" smtClean="0">
                          <a:solidFill>
                            <a:srgbClr val="002060"/>
                          </a:solidFill>
                          <a:latin typeface="Cambria Math" panose="02040503050406030204" pitchFamily="18" charset="0"/>
                        </a:rPr>
                        <m:t> </m:t>
                      </m:r>
                      <m:r>
                        <a:rPr lang="en-US" altLang="zh-TW" sz="2800" b="0" i="1" smtClean="0">
                          <a:solidFill>
                            <a:srgbClr val="002060"/>
                          </a:solidFill>
                          <a:latin typeface="Cambria Math" panose="02040503050406030204" pitchFamily="18" charset="0"/>
                        </a:rPr>
                        <m:t>𝑏</m:t>
                      </m:r>
                    </m:oMath>
                  </m:oMathPara>
                </a14:m>
                <a:endParaRPr lang="zh-TW" altLang="en-US" sz="2800" dirty="0"/>
              </a:p>
            </p:txBody>
          </p:sp>
        </mc:Choice>
        <mc:Fallback xmlns="">
          <p:sp>
            <p:nvSpPr>
              <p:cNvPr id="12" name="矩形 11">
                <a:extLst>
                  <a:ext uri="{FF2B5EF4-FFF2-40B4-BE49-F238E27FC236}">
                    <a16:creationId xmlns:a16="http://schemas.microsoft.com/office/drawing/2014/main" id="{7C4B14CE-556C-49A5-AD33-1C1B4C7AFC0C}"/>
                  </a:ext>
                </a:extLst>
              </p:cNvPr>
              <p:cNvSpPr>
                <a:spLocks noRot="1" noChangeAspect="1" noMove="1" noResize="1" noEditPoints="1" noAdjustHandles="1" noChangeArrowheads="1" noChangeShapeType="1" noTextEdit="1"/>
              </p:cNvSpPr>
              <p:nvPr/>
            </p:nvSpPr>
            <p:spPr>
              <a:xfrm>
                <a:off x="2712631" y="5621216"/>
                <a:ext cx="2842894" cy="523220"/>
              </a:xfrm>
              <a:prstGeom prst="rect">
                <a:avLst/>
              </a:prstGeom>
              <a:blipFill>
                <a:blip r:embed="rId6"/>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981183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CE8C7919-7663-4E40-AA3D-6A55F2FAF484}"/>
              </a:ext>
            </a:extLst>
          </p:cNvPr>
          <p:cNvSpPr>
            <a:spLocks noGrp="1"/>
          </p:cNvSpPr>
          <p:nvPr>
            <p:ph idx="1"/>
          </p:nvPr>
        </p:nvSpPr>
        <p:spPr>
          <a:xfrm>
            <a:off x="628650" y="1421588"/>
            <a:ext cx="7886700" cy="4351338"/>
          </a:xfrm>
        </p:spPr>
        <p:txBody>
          <a:bodyPr vert="horz" lIns="91440" tIns="45720" rIns="91440" bIns="45720" rtlCol="0">
            <a:normAutofit/>
          </a:bodyPr>
          <a:lstStyle/>
          <a:p>
            <a:pPr marL="0" indent="0">
              <a:lnSpc>
                <a:spcPct val="100000"/>
              </a:lnSpc>
              <a:buNone/>
            </a:pP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1. </a:t>
            </a:r>
            <a:r>
              <a:rPr lang="en-US" altLang="zh-TW" sz="2200" dirty="0" err="1">
                <a:latin typeface="Times New Roman" panose="02020603050405020304" pitchFamily="18" charset="0"/>
                <a:ea typeface="標楷體" panose="03000509000000000000" pitchFamily="65" charset="-120"/>
                <a:cs typeface="Times New Roman" panose="02020603050405020304" pitchFamily="18" charset="0"/>
              </a:rPr>
              <a:t>equi</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-statistic: </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兩字串的字元組成相同，順序不同</a:t>
            </a:r>
          </a:p>
          <a:p>
            <a:pPr marL="0" indent="0">
              <a:lnSpc>
                <a:spcPct val="100000"/>
              </a:lnSpc>
              <a:buNone/>
            </a:pP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2. </a:t>
            </a:r>
            <a:r>
              <a:rPr lang="en-US" altLang="zh-TW" sz="2200" dirty="0" err="1">
                <a:latin typeface="Times New Roman" panose="02020603050405020304" pitchFamily="18" charset="0"/>
                <a:ea typeface="標楷體" panose="03000509000000000000" pitchFamily="65" charset="-120"/>
                <a:cs typeface="Times New Roman" panose="02020603050405020304" pitchFamily="18" charset="0"/>
              </a:rPr>
              <a:t>equi</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-statistic</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的兩字串，必存在一組</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common string partition</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，即每個</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block</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為一個字母，共</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n</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個</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假設字串長度為</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n)block</a:t>
            </a:r>
          </a:p>
          <a:p>
            <a:pPr marL="0" indent="0">
              <a:lnSpc>
                <a:spcPct val="100000"/>
              </a:lnSpc>
              <a:buNone/>
            </a:pP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3. </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兩字串若存在一個</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common string partition</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，必為</a:t>
            </a:r>
            <a:r>
              <a:rPr lang="en-US" altLang="zh-TW" sz="2200" dirty="0" err="1">
                <a:latin typeface="Times New Roman" panose="02020603050405020304" pitchFamily="18" charset="0"/>
                <a:ea typeface="標楷體" panose="03000509000000000000" pitchFamily="65" charset="-120"/>
                <a:cs typeface="Times New Roman" panose="02020603050405020304" pitchFamily="18" charset="0"/>
              </a:rPr>
              <a:t>equi</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-statistic</a:t>
            </a:r>
          </a:p>
          <a:p>
            <a:pPr marL="0" indent="0">
              <a:lnSpc>
                <a:spcPct val="100000"/>
              </a:lnSpc>
              <a:buNone/>
            </a:pP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	i.e. 2,3</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等價</a:t>
            </a:r>
            <a:endParaRPr lang="en-US" altLang="zh-TW" sz="2200" dirty="0">
              <a:latin typeface="Times New Roman" panose="02020603050405020304" pitchFamily="18" charset="0"/>
              <a:ea typeface="標楷體" panose="03000509000000000000" pitchFamily="65" charset="-120"/>
              <a:cs typeface="Times New Roman" panose="02020603050405020304" pitchFamily="18" charset="0"/>
            </a:endParaRPr>
          </a:p>
          <a:p>
            <a:pPr marL="0" indent="0">
              <a:lnSpc>
                <a:spcPct val="100000"/>
              </a:lnSpc>
              <a:buNone/>
            </a:pP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4. </a:t>
            </a:r>
            <a:r>
              <a:rPr lang="en-US" altLang="zh-TW" sz="2200" dirty="0" err="1">
                <a:latin typeface="Times New Roman" panose="02020603050405020304" pitchFamily="18" charset="0"/>
                <a:ea typeface="標楷體" panose="03000509000000000000" pitchFamily="65" charset="-120"/>
                <a:cs typeface="Times New Roman" panose="02020603050405020304" pitchFamily="18" charset="0"/>
              </a:rPr>
              <a:t>equi</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-statistic</a:t>
            </a:r>
            <a:r>
              <a:rPr lang="zh-TW" altLang="en-US" sz="2200" dirty="0">
                <a:latin typeface="Times New Roman" panose="02020603050405020304" pitchFamily="18" charset="0"/>
                <a:ea typeface="標楷體" panose="03000509000000000000" pitchFamily="65" charset="-120"/>
                <a:cs typeface="Times New Roman" panose="02020603050405020304" pitchFamily="18" charset="0"/>
              </a:rPr>
              <a:t>的兩字串，可能有不只一組</a:t>
            </a:r>
            <a:r>
              <a:rPr lang="en-US" altLang="zh-TW" sz="2200" dirty="0">
                <a:latin typeface="Times New Roman" panose="02020603050405020304" pitchFamily="18" charset="0"/>
                <a:ea typeface="標楷體" panose="03000509000000000000" pitchFamily="65" charset="-120"/>
                <a:cs typeface="Times New Roman" panose="02020603050405020304" pitchFamily="18" charset="0"/>
              </a:rPr>
              <a:t>common string partition</a:t>
            </a:r>
            <a:endParaRPr lang="zh-TW" altLang="en-US" sz="2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CCE3AA96-C4B3-4A3B-8189-BF2AD0610232}"/>
              </a:ext>
            </a:extLst>
          </p:cNvPr>
          <p:cNvSpPr>
            <a:spLocks noGrp="1"/>
          </p:cNvSpPr>
          <p:nvPr>
            <p:ph type="sldNum" sz="quarter" idx="12"/>
          </p:nvPr>
        </p:nvSpPr>
        <p:spPr/>
        <p:txBody>
          <a:bodyPr/>
          <a:lstStyle/>
          <a:p>
            <a:fld id="{872633CA-77E0-4863-94F8-E28139DFB2B4}" type="slidenum">
              <a:rPr lang="zh-TW" altLang="en-US" smtClean="0"/>
              <a:t>5</a:t>
            </a:fld>
            <a:endParaRPr lang="zh-TW" altLang="en-US"/>
          </a:p>
        </p:txBody>
      </p:sp>
      <p:sp>
        <p:nvSpPr>
          <p:cNvPr id="5" name="標題 1">
            <a:extLst>
              <a:ext uri="{FF2B5EF4-FFF2-40B4-BE49-F238E27FC236}">
                <a16:creationId xmlns:a16="http://schemas.microsoft.com/office/drawing/2014/main" id="{49A99946-9F85-4AC7-B318-EEB338558531}"/>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Properties of </a:t>
            </a:r>
            <a:r>
              <a:rPr lang="en-US" altLang="zh-TW" sz="3200" dirty="0" err="1">
                <a:latin typeface="Times New Roman" panose="02020603050405020304" pitchFamily="18" charset="0"/>
                <a:ea typeface="標楷體" panose="03000509000000000000" pitchFamily="65" charset="-120"/>
                <a:cs typeface="Times New Roman" panose="02020603050405020304" pitchFamily="18" charset="0"/>
              </a:rPr>
              <a:t>equi</a:t>
            </a:r>
            <a:r>
              <a:rPr lang="en-US" altLang="zh-TW" sz="3200" dirty="0">
                <a:latin typeface="Times New Roman" panose="02020603050405020304" pitchFamily="18" charset="0"/>
                <a:ea typeface="標楷體" panose="03000509000000000000" pitchFamily="65" charset="-120"/>
                <a:cs typeface="Times New Roman" panose="02020603050405020304" pitchFamily="18" charset="0"/>
              </a:rPr>
              <a:t>-statistic strings</a:t>
            </a:r>
            <a:endParaRPr lang="zh-TW" altLang="en-US" sz="3200" dirty="0">
              <a:latin typeface="Times New Roman" panose="02020603050405020304" pitchFamily="18" charset="0"/>
              <a:cs typeface="Times New Roman" panose="02020603050405020304" pitchFamily="18" charset="0"/>
            </a:endParaRPr>
          </a:p>
        </p:txBody>
      </p:sp>
      <p:grpSp>
        <p:nvGrpSpPr>
          <p:cNvPr id="11" name="群組 10">
            <a:extLst>
              <a:ext uri="{FF2B5EF4-FFF2-40B4-BE49-F238E27FC236}">
                <a16:creationId xmlns:a16="http://schemas.microsoft.com/office/drawing/2014/main" id="{0C1E8C1F-15C3-4632-9EAC-4C2FDBB5D8FF}"/>
              </a:ext>
            </a:extLst>
          </p:cNvPr>
          <p:cNvGrpSpPr/>
          <p:nvPr/>
        </p:nvGrpSpPr>
        <p:grpSpPr>
          <a:xfrm>
            <a:off x="1072652" y="4343132"/>
            <a:ext cx="2588593" cy="1405707"/>
            <a:chOff x="583555" y="4267834"/>
            <a:chExt cx="2588593" cy="1405707"/>
          </a:xfrm>
        </p:grpSpPr>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9E0DCE0-8733-4972-BF7C-8AA8FB3E4163}"/>
                    </a:ext>
                  </a:extLst>
                </p:cNvPr>
                <p:cNvSpPr/>
                <p:nvPr/>
              </p:nvSpPr>
              <p:spPr>
                <a:xfrm>
                  <a:off x="628650" y="4267834"/>
                  <a:ext cx="194258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𝑆</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𝑏</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𝑐</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𝑑</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𝑒</m:t>
                        </m:r>
                      </m:oMath>
                    </m:oMathPara>
                  </a14:m>
                  <a:endParaRPr lang="zh-TW" altLang="en-US" sz="2400" dirty="0"/>
                </a:p>
              </p:txBody>
            </p:sp>
          </mc:Choice>
          <mc:Fallback xmlns="">
            <p:sp>
              <p:nvSpPr>
                <p:cNvPr id="6" name="矩形 5">
                  <a:extLst>
                    <a:ext uri="{FF2B5EF4-FFF2-40B4-BE49-F238E27FC236}">
                      <a16:creationId xmlns:a16="http://schemas.microsoft.com/office/drawing/2014/main" id="{39E0DCE0-8733-4972-BF7C-8AA8FB3E4163}"/>
                    </a:ext>
                  </a:extLst>
                </p:cNvPr>
                <p:cNvSpPr>
                  <a:spLocks noRot="1" noChangeAspect="1" noMove="1" noResize="1" noEditPoints="1" noAdjustHandles="1" noChangeArrowheads="1" noChangeShapeType="1" noTextEdit="1"/>
                </p:cNvSpPr>
                <p:nvPr/>
              </p:nvSpPr>
              <p:spPr>
                <a:xfrm>
                  <a:off x="628650" y="4267834"/>
                  <a:ext cx="1942583" cy="461665"/>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6FDF9073-0F2F-498B-AF92-8B5E608656C1}"/>
                    </a:ext>
                  </a:extLst>
                </p:cNvPr>
                <p:cNvSpPr/>
                <p:nvPr/>
              </p:nvSpPr>
              <p:spPr>
                <a:xfrm>
                  <a:off x="628650" y="4729499"/>
                  <a:ext cx="196252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𝑇</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𝑒</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𝑑</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𝑐</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𝑏</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𝑎</m:t>
                        </m:r>
                      </m:oMath>
                    </m:oMathPara>
                  </a14:m>
                  <a:endParaRPr lang="zh-TW" altLang="en-US" sz="2400" dirty="0"/>
                </a:p>
              </p:txBody>
            </p:sp>
          </mc:Choice>
          <mc:Fallback xmlns="">
            <p:sp>
              <p:nvSpPr>
                <p:cNvPr id="7" name="矩形 6">
                  <a:extLst>
                    <a:ext uri="{FF2B5EF4-FFF2-40B4-BE49-F238E27FC236}">
                      <a16:creationId xmlns:a16="http://schemas.microsoft.com/office/drawing/2014/main" id="{6FDF9073-0F2F-498B-AF92-8B5E608656C1}"/>
                    </a:ext>
                  </a:extLst>
                </p:cNvPr>
                <p:cNvSpPr>
                  <a:spLocks noRot="1" noChangeAspect="1" noMove="1" noResize="1" noEditPoints="1" noAdjustHandles="1" noChangeArrowheads="1" noChangeShapeType="1" noTextEdit="1"/>
                </p:cNvSpPr>
                <p:nvPr/>
              </p:nvSpPr>
              <p:spPr>
                <a:xfrm>
                  <a:off x="628650" y="4729499"/>
                  <a:ext cx="1962525" cy="461665"/>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DA505BB0-EEE5-4BD3-8118-F9E87D7C44E4}"/>
                    </a:ext>
                  </a:extLst>
                </p:cNvPr>
                <p:cNvSpPr/>
                <p:nvPr/>
              </p:nvSpPr>
              <p:spPr>
                <a:xfrm>
                  <a:off x="583555" y="5211876"/>
                  <a:ext cx="258859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1" i="1" smtClean="0">
                            <a:solidFill>
                              <a:srgbClr val="002060"/>
                            </a:solidFill>
                            <a:latin typeface="Cambria Math" panose="02040503050406030204" pitchFamily="18" charset="0"/>
                          </a:rPr>
                          <m:t>𝑪𝑺𝑷</m:t>
                        </m:r>
                        <m:r>
                          <a:rPr lang="en-US" altLang="zh-TW" sz="2400" b="1" i="1" smtClean="0">
                            <a:solidFill>
                              <a:srgbClr val="002060"/>
                            </a:solidFill>
                            <a:latin typeface="Cambria Math" panose="02040503050406030204" pitchFamily="18" charset="0"/>
                          </a:rPr>
                          <m:t>=</m:t>
                        </m:r>
                        <m:r>
                          <a:rPr lang="en-US" altLang="zh-TW" sz="2400" b="1" i="1" smtClean="0">
                            <a:solidFill>
                              <a:srgbClr val="002060"/>
                            </a:solidFill>
                            <a:latin typeface="Cambria Math" panose="02040503050406030204" pitchFamily="18" charset="0"/>
                          </a:rPr>
                          <m:t>𝒂</m:t>
                        </m:r>
                        <m:r>
                          <a:rPr lang="en-US" altLang="zh-TW" sz="2400" b="1" i="1" smtClean="0">
                            <a:solidFill>
                              <a:srgbClr val="002060"/>
                            </a:solidFill>
                            <a:latin typeface="Cambria Math" panose="02040503050406030204" pitchFamily="18" charset="0"/>
                          </a:rPr>
                          <m:t>, </m:t>
                        </m:r>
                        <m:r>
                          <a:rPr lang="en-US" altLang="zh-TW" sz="2400" b="1" i="1" smtClean="0">
                            <a:solidFill>
                              <a:srgbClr val="002060"/>
                            </a:solidFill>
                            <a:latin typeface="Cambria Math" panose="02040503050406030204" pitchFamily="18" charset="0"/>
                          </a:rPr>
                          <m:t>𝒃</m:t>
                        </m:r>
                        <m:r>
                          <a:rPr lang="en-US" altLang="zh-TW" sz="2400" b="1" i="1" smtClean="0">
                            <a:solidFill>
                              <a:srgbClr val="002060"/>
                            </a:solidFill>
                            <a:latin typeface="Cambria Math" panose="02040503050406030204" pitchFamily="18" charset="0"/>
                          </a:rPr>
                          <m:t>, </m:t>
                        </m:r>
                        <m:r>
                          <a:rPr lang="en-US" altLang="zh-TW" sz="2400" b="1" i="1" smtClean="0">
                            <a:solidFill>
                              <a:srgbClr val="002060"/>
                            </a:solidFill>
                            <a:latin typeface="Cambria Math" panose="02040503050406030204" pitchFamily="18" charset="0"/>
                          </a:rPr>
                          <m:t>𝒄</m:t>
                        </m:r>
                        <m:r>
                          <a:rPr lang="en-US" altLang="zh-TW" sz="2400" b="1" i="1" smtClean="0">
                            <a:solidFill>
                              <a:srgbClr val="002060"/>
                            </a:solidFill>
                            <a:latin typeface="Cambria Math" panose="02040503050406030204" pitchFamily="18" charset="0"/>
                          </a:rPr>
                          <m:t>, </m:t>
                        </m:r>
                        <m:r>
                          <a:rPr lang="en-US" altLang="zh-TW" sz="2400" b="1" i="1" smtClean="0">
                            <a:solidFill>
                              <a:srgbClr val="002060"/>
                            </a:solidFill>
                            <a:latin typeface="Cambria Math" panose="02040503050406030204" pitchFamily="18" charset="0"/>
                          </a:rPr>
                          <m:t>𝒅</m:t>
                        </m:r>
                        <m:r>
                          <a:rPr lang="en-US" altLang="zh-TW" sz="2400" b="1" i="1" smtClean="0">
                            <a:solidFill>
                              <a:srgbClr val="002060"/>
                            </a:solidFill>
                            <a:latin typeface="Cambria Math" panose="02040503050406030204" pitchFamily="18" charset="0"/>
                          </a:rPr>
                          <m:t>, </m:t>
                        </m:r>
                        <m:r>
                          <a:rPr lang="en-US" altLang="zh-TW" sz="2400" b="1" i="1" smtClean="0">
                            <a:solidFill>
                              <a:srgbClr val="002060"/>
                            </a:solidFill>
                            <a:latin typeface="Cambria Math" panose="02040503050406030204" pitchFamily="18" charset="0"/>
                          </a:rPr>
                          <m:t>𝒆</m:t>
                        </m:r>
                      </m:oMath>
                    </m:oMathPara>
                  </a14:m>
                  <a:endParaRPr lang="zh-TW" altLang="en-US" sz="2400" b="1" dirty="0">
                    <a:solidFill>
                      <a:srgbClr val="002060"/>
                    </a:solidFill>
                  </a:endParaRPr>
                </a:p>
              </p:txBody>
            </p:sp>
          </mc:Choice>
          <mc:Fallback xmlns="">
            <p:sp>
              <p:nvSpPr>
                <p:cNvPr id="17" name="矩形 16">
                  <a:extLst>
                    <a:ext uri="{FF2B5EF4-FFF2-40B4-BE49-F238E27FC236}">
                      <a16:creationId xmlns:a16="http://schemas.microsoft.com/office/drawing/2014/main" id="{DA505BB0-EEE5-4BD3-8118-F9E87D7C44E4}"/>
                    </a:ext>
                  </a:extLst>
                </p:cNvPr>
                <p:cNvSpPr>
                  <a:spLocks noRot="1" noChangeAspect="1" noMove="1" noResize="1" noEditPoints="1" noAdjustHandles="1" noChangeArrowheads="1" noChangeShapeType="1" noTextEdit="1"/>
                </p:cNvSpPr>
                <p:nvPr/>
              </p:nvSpPr>
              <p:spPr>
                <a:xfrm>
                  <a:off x="583555" y="5211876"/>
                  <a:ext cx="2588593" cy="461665"/>
                </a:xfrm>
                <a:prstGeom prst="rect">
                  <a:avLst/>
                </a:prstGeom>
                <a:blipFill>
                  <a:blip r:embed="rId5"/>
                  <a:stretch>
                    <a:fillRect/>
                  </a:stretch>
                </a:blipFill>
              </p:spPr>
              <p:txBody>
                <a:bodyPr/>
                <a:lstStyle/>
                <a:p>
                  <a:r>
                    <a:rPr lang="zh-TW" altLang="en-US">
                      <a:noFill/>
                    </a:rPr>
                    <a:t> </a:t>
                  </a:r>
                </a:p>
              </p:txBody>
            </p:sp>
          </mc:Fallback>
        </mc:AlternateContent>
      </p:grpSp>
      <p:sp>
        <p:nvSpPr>
          <p:cNvPr id="10" name="弧形 9">
            <a:extLst>
              <a:ext uri="{FF2B5EF4-FFF2-40B4-BE49-F238E27FC236}">
                <a16:creationId xmlns:a16="http://schemas.microsoft.com/office/drawing/2014/main" id="{B1A6778C-CA05-4D53-8D05-62232AFD806A}"/>
              </a:ext>
            </a:extLst>
          </p:cNvPr>
          <p:cNvSpPr/>
          <p:nvPr/>
        </p:nvSpPr>
        <p:spPr>
          <a:xfrm rot="13180268">
            <a:off x="177771" y="2068309"/>
            <a:ext cx="3247054" cy="2721382"/>
          </a:xfrm>
          <a:prstGeom prst="arc">
            <a:avLst/>
          </a:prstGeom>
          <a:ln w="28575">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FD04A016-7C2C-4199-84A7-5A1B53EC7122}"/>
                  </a:ext>
                </a:extLst>
              </p:cNvPr>
              <p:cNvSpPr/>
              <p:nvPr/>
            </p:nvSpPr>
            <p:spPr>
              <a:xfrm>
                <a:off x="4572000" y="3911863"/>
                <a:ext cx="244105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𝑆</m:t>
                      </m:r>
                      <m:r>
                        <a:rPr lang="en-US" altLang="zh-TW" sz="2400" b="0" i="1" smtClean="0">
                          <a:latin typeface="Cambria Math" panose="02040503050406030204" pitchFamily="18" charset="0"/>
                        </a:rPr>
                        <m:t>=</m:t>
                      </m:r>
                      <m:r>
                        <a:rPr lang="en-US" altLang="zh-TW" sz="2400" i="1">
                          <a:latin typeface="Cambria Math" panose="02040503050406030204" pitchFamily="18" charset="0"/>
                        </a:rPr>
                        <m:t>𝑎</m:t>
                      </m:r>
                      <m:r>
                        <a:rPr lang="en-US" altLang="zh-TW" sz="2400" i="1">
                          <a:latin typeface="Cambria Math" panose="02040503050406030204" pitchFamily="18" charset="0"/>
                        </a:rPr>
                        <m:t> </m:t>
                      </m:r>
                      <m:r>
                        <a:rPr lang="en-US" altLang="zh-TW" sz="2400" i="1" smtClean="0">
                          <a:solidFill>
                            <a:schemeClr val="tx1"/>
                          </a:solidFill>
                          <a:latin typeface="Cambria Math" panose="02040503050406030204" pitchFamily="18" charset="0"/>
                        </a:rPr>
                        <m:t>𝑏</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𝑏</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𝑐</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oMath>
                  </m:oMathPara>
                </a14:m>
                <a:endParaRPr lang="zh-TW" altLang="en-US" sz="2400" dirty="0"/>
              </a:p>
            </p:txBody>
          </p:sp>
        </mc:Choice>
        <mc:Fallback xmlns="">
          <p:sp>
            <p:nvSpPr>
              <p:cNvPr id="12" name="矩形 11">
                <a:extLst>
                  <a:ext uri="{FF2B5EF4-FFF2-40B4-BE49-F238E27FC236}">
                    <a16:creationId xmlns:a16="http://schemas.microsoft.com/office/drawing/2014/main" id="{FD04A016-7C2C-4199-84A7-5A1B53EC7122}"/>
                  </a:ext>
                </a:extLst>
              </p:cNvPr>
              <p:cNvSpPr>
                <a:spLocks noRot="1" noChangeAspect="1" noMove="1" noResize="1" noEditPoints="1" noAdjustHandles="1" noChangeArrowheads="1" noChangeShapeType="1" noTextEdit="1"/>
              </p:cNvSpPr>
              <p:nvPr/>
            </p:nvSpPr>
            <p:spPr>
              <a:xfrm>
                <a:off x="4572000" y="3911863"/>
                <a:ext cx="2441053" cy="461665"/>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ECA6CE89-849C-4CFE-8A40-F57AC3DF8F53}"/>
                  </a:ext>
                </a:extLst>
              </p:cNvPr>
              <p:cNvSpPr/>
              <p:nvPr/>
            </p:nvSpPr>
            <p:spPr>
              <a:xfrm>
                <a:off x="4572000" y="4343132"/>
                <a:ext cx="245939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𝑇</m:t>
                      </m:r>
                      <m:r>
                        <a:rPr lang="en-US" altLang="zh-TW" sz="2400" i="1">
                          <a:latin typeface="Cambria Math" panose="02040503050406030204" pitchFamily="18" charset="0"/>
                        </a:rPr>
                        <m:t>=</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𝑏</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𝑐</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𝑏</m:t>
                      </m:r>
                    </m:oMath>
                  </m:oMathPara>
                </a14:m>
                <a:endParaRPr lang="zh-TW" altLang="en-US" sz="2400" i="1" dirty="0">
                  <a:latin typeface="Cambria Math" panose="02040503050406030204" pitchFamily="18" charset="0"/>
                </a:endParaRPr>
              </a:p>
            </p:txBody>
          </p:sp>
        </mc:Choice>
        <mc:Fallback xmlns="">
          <p:sp>
            <p:nvSpPr>
              <p:cNvPr id="13" name="矩形 12">
                <a:extLst>
                  <a:ext uri="{FF2B5EF4-FFF2-40B4-BE49-F238E27FC236}">
                    <a16:creationId xmlns:a16="http://schemas.microsoft.com/office/drawing/2014/main" id="{ECA6CE89-849C-4CFE-8A40-F57AC3DF8F53}"/>
                  </a:ext>
                </a:extLst>
              </p:cNvPr>
              <p:cNvSpPr>
                <a:spLocks noRot="1" noChangeAspect="1" noMove="1" noResize="1" noEditPoints="1" noAdjustHandles="1" noChangeArrowheads="1" noChangeShapeType="1" noTextEdit="1"/>
              </p:cNvSpPr>
              <p:nvPr/>
            </p:nvSpPr>
            <p:spPr>
              <a:xfrm>
                <a:off x="4572000" y="4343132"/>
                <a:ext cx="2459391" cy="461665"/>
              </a:xfrm>
              <a:prstGeom prst="rect">
                <a:avLst/>
              </a:prstGeom>
              <a:blipFill>
                <a:blip r:embed="rId7"/>
                <a:stretch>
                  <a:fillRect/>
                </a:stretch>
              </a:blipFill>
            </p:spPr>
            <p:txBody>
              <a:bodyPr/>
              <a:lstStyle/>
              <a:p>
                <a:r>
                  <a:rPr lang="zh-TW" altLang="en-US">
                    <a:noFill/>
                  </a:rPr>
                  <a:t> </a:t>
                </a:r>
              </a:p>
            </p:txBody>
          </p:sp>
        </mc:Fallback>
      </mc:AlternateContent>
      <p:sp>
        <p:nvSpPr>
          <p:cNvPr id="14" name="矩形 13">
            <a:extLst>
              <a:ext uri="{FF2B5EF4-FFF2-40B4-BE49-F238E27FC236}">
                <a16:creationId xmlns:a16="http://schemas.microsoft.com/office/drawing/2014/main" id="{D159DD57-5D82-432D-B083-51AFE5CB9757}"/>
              </a:ext>
            </a:extLst>
          </p:cNvPr>
          <p:cNvSpPr/>
          <p:nvPr/>
        </p:nvSpPr>
        <p:spPr>
          <a:xfrm>
            <a:off x="4572000" y="4865677"/>
            <a:ext cx="184731" cy="461665"/>
          </a:xfrm>
          <a:prstGeom prst="rect">
            <a:avLst/>
          </a:prstGeom>
        </p:spPr>
        <p:txBody>
          <a:bodyPr wrap="none">
            <a:spAutoFit/>
          </a:bodyPr>
          <a:lstStyle/>
          <a:p>
            <a:endParaRPr lang="zh-TW" altLang="en-US" sz="2400" i="1" dirty="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6C1EDC06-9E6B-4839-8BFF-80BD6DD07411}"/>
                  </a:ext>
                </a:extLst>
              </p:cNvPr>
              <p:cNvSpPr/>
              <p:nvPr/>
            </p:nvSpPr>
            <p:spPr>
              <a:xfrm>
                <a:off x="4571999" y="4881166"/>
                <a:ext cx="251857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solidFill>
                                <a:srgbClr val="002060"/>
                              </a:solidFill>
                              <a:latin typeface="Cambria Math" panose="02040503050406030204" pitchFamily="18" charset="0"/>
                            </a:rPr>
                          </m:ctrlPr>
                        </m:sSubPr>
                        <m:e>
                          <m:r>
                            <a:rPr lang="en-US" altLang="zh-TW" sz="2400" b="1" i="1" smtClean="0">
                              <a:solidFill>
                                <a:srgbClr val="002060"/>
                              </a:solidFill>
                              <a:latin typeface="Cambria Math" panose="02040503050406030204" pitchFamily="18" charset="0"/>
                            </a:rPr>
                            <m:t>𝑪𝑺𝑷</m:t>
                          </m:r>
                        </m:e>
                        <m:sub>
                          <m:r>
                            <a:rPr lang="en-US" altLang="zh-TW" sz="2400" b="1" i="1" smtClean="0">
                              <a:solidFill>
                                <a:srgbClr val="002060"/>
                              </a:solidFill>
                              <a:latin typeface="Cambria Math" panose="02040503050406030204" pitchFamily="18" charset="0"/>
                            </a:rPr>
                            <m:t>𝟏</m:t>
                          </m:r>
                        </m:sub>
                      </m:sSub>
                      <m:r>
                        <a:rPr lang="en-US" altLang="zh-TW" sz="2400" b="1" i="1" smtClean="0">
                          <a:solidFill>
                            <a:srgbClr val="002060"/>
                          </a:solidFill>
                          <a:latin typeface="Cambria Math" panose="02040503050406030204" pitchFamily="18" charset="0"/>
                        </a:rPr>
                        <m:t>:</m:t>
                      </m:r>
                      <m:r>
                        <a:rPr lang="en-US" altLang="zh-TW" sz="2400" b="1" i="1" smtClean="0">
                          <a:solidFill>
                            <a:srgbClr val="002060"/>
                          </a:solidFill>
                          <a:latin typeface="Cambria Math" panose="02040503050406030204" pitchFamily="18" charset="0"/>
                        </a:rPr>
                        <m:t>𝒂𝒂𝒃𝒄𝒂</m:t>
                      </m:r>
                      <m:r>
                        <a:rPr lang="en-US" altLang="zh-TW" sz="2400" b="1" i="1" smtClean="0">
                          <a:solidFill>
                            <a:srgbClr val="002060"/>
                          </a:solidFill>
                          <a:latin typeface="Cambria Math" panose="02040503050406030204" pitchFamily="18" charset="0"/>
                        </a:rPr>
                        <m:t>, </m:t>
                      </m:r>
                      <m:r>
                        <a:rPr lang="en-US" altLang="zh-TW" sz="2400" b="1" i="1" smtClean="0">
                          <a:solidFill>
                            <a:srgbClr val="002060"/>
                          </a:solidFill>
                          <a:latin typeface="Cambria Math" panose="02040503050406030204" pitchFamily="18" charset="0"/>
                        </a:rPr>
                        <m:t>𝒂𝒃</m:t>
                      </m:r>
                    </m:oMath>
                  </m:oMathPara>
                </a14:m>
                <a:endParaRPr lang="zh-TW" altLang="en-US" sz="2400" b="1" i="1" dirty="0">
                  <a:solidFill>
                    <a:srgbClr val="002060"/>
                  </a:solidFill>
                  <a:latin typeface="Cambria Math" panose="02040503050406030204" pitchFamily="18" charset="0"/>
                </a:endParaRPr>
              </a:p>
            </p:txBody>
          </p:sp>
        </mc:Choice>
        <mc:Fallback xmlns="">
          <p:sp>
            <p:nvSpPr>
              <p:cNvPr id="15" name="矩形 14">
                <a:extLst>
                  <a:ext uri="{FF2B5EF4-FFF2-40B4-BE49-F238E27FC236}">
                    <a16:creationId xmlns:a16="http://schemas.microsoft.com/office/drawing/2014/main" id="{6C1EDC06-9E6B-4839-8BFF-80BD6DD07411}"/>
                  </a:ext>
                </a:extLst>
              </p:cNvPr>
              <p:cNvSpPr>
                <a:spLocks noRot="1" noChangeAspect="1" noMove="1" noResize="1" noEditPoints="1" noAdjustHandles="1" noChangeArrowheads="1" noChangeShapeType="1" noTextEdit="1"/>
              </p:cNvSpPr>
              <p:nvPr/>
            </p:nvSpPr>
            <p:spPr>
              <a:xfrm>
                <a:off x="4571999" y="4881166"/>
                <a:ext cx="2518575" cy="461665"/>
              </a:xfrm>
              <a:prstGeom prst="rect">
                <a:avLst/>
              </a:prstGeom>
              <a:blipFill>
                <a:blip r:embed="rId8"/>
                <a:stretch>
                  <a:fillRect b="-5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B3084A06-8BDF-4D1A-873B-FEDA82385567}"/>
                  </a:ext>
                </a:extLst>
              </p:cNvPr>
              <p:cNvSpPr/>
              <p:nvPr/>
            </p:nvSpPr>
            <p:spPr>
              <a:xfrm>
                <a:off x="4571999" y="5311261"/>
                <a:ext cx="263238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400" b="1" i="1" smtClean="0">
                              <a:solidFill>
                                <a:srgbClr val="002060"/>
                              </a:solidFill>
                              <a:latin typeface="Cambria Math" panose="02040503050406030204" pitchFamily="18" charset="0"/>
                            </a:rPr>
                          </m:ctrlPr>
                        </m:sSubPr>
                        <m:e>
                          <m:r>
                            <a:rPr lang="en-US" altLang="zh-TW" sz="2400" b="1" i="1" smtClean="0">
                              <a:solidFill>
                                <a:srgbClr val="002060"/>
                              </a:solidFill>
                              <a:latin typeface="Cambria Math" panose="02040503050406030204" pitchFamily="18" charset="0"/>
                            </a:rPr>
                            <m:t>𝑪𝑺𝑷</m:t>
                          </m:r>
                        </m:e>
                        <m:sub>
                          <m:r>
                            <a:rPr lang="en-US" altLang="zh-TW" sz="2400" b="1" i="1" smtClean="0">
                              <a:solidFill>
                                <a:srgbClr val="002060"/>
                              </a:solidFill>
                              <a:latin typeface="Cambria Math" panose="02040503050406030204" pitchFamily="18" charset="0"/>
                            </a:rPr>
                            <m:t>𝟐</m:t>
                          </m:r>
                        </m:sub>
                      </m:sSub>
                      <m:r>
                        <a:rPr lang="en-US" altLang="zh-TW" sz="2400" b="1" i="1" smtClean="0">
                          <a:solidFill>
                            <a:srgbClr val="002060"/>
                          </a:solidFill>
                          <a:latin typeface="Cambria Math" panose="02040503050406030204" pitchFamily="18" charset="0"/>
                        </a:rPr>
                        <m:t>:</m:t>
                      </m:r>
                      <m:r>
                        <a:rPr lang="en-US" altLang="zh-TW" sz="2400" b="1" i="1" smtClean="0">
                          <a:solidFill>
                            <a:srgbClr val="002060"/>
                          </a:solidFill>
                          <a:latin typeface="Cambria Math" panose="02040503050406030204" pitchFamily="18" charset="0"/>
                        </a:rPr>
                        <m:t>𝒂𝒂𝒃</m:t>
                      </m:r>
                      <m:r>
                        <a:rPr lang="en-US" altLang="zh-TW" sz="2400" b="1" i="1" smtClean="0">
                          <a:solidFill>
                            <a:srgbClr val="002060"/>
                          </a:solidFill>
                          <a:latin typeface="Cambria Math" panose="02040503050406030204" pitchFamily="18" charset="0"/>
                        </a:rPr>
                        <m:t>, </m:t>
                      </m:r>
                      <m:r>
                        <a:rPr lang="en-US" altLang="zh-TW" sz="2400" b="1" i="1" smtClean="0">
                          <a:solidFill>
                            <a:srgbClr val="002060"/>
                          </a:solidFill>
                          <a:latin typeface="Cambria Math" panose="02040503050406030204" pitchFamily="18" charset="0"/>
                        </a:rPr>
                        <m:t>𝒄𝒂</m:t>
                      </m:r>
                      <m:r>
                        <a:rPr lang="en-US" altLang="zh-TW" sz="2400" b="1" i="1" smtClean="0">
                          <a:solidFill>
                            <a:srgbClr val="002060"/>
                          </a:solidFill>
                          <a:latin typeface="Cambria Math" panose="02040503050406030204" pitchFamily="18" charset="0"/>
                        </a:rPr>
                        <m:t>, </m:t>
                      </m:r>
                      <m:r>
                        <a:rPr lang="en-US" altLang="zh-TW" sz="2400" b="1" i="1" smtClean="0">
                          <a:solidFill>
                            <a:srgbClr val="002060"/>
                          </a:solidFill>
                          <a:latin typeface="Cambria Math" panose="02040503050406030204" pitchFamily="18" charset="0"/>
                        </a:rPr>
                        <m:t>𝒂𝒃</m:t>
                      </m:r>
                    </m:oMath>
                  </m:oMathPara>
                </a14:m>
                <a:endParaRPr lang="zh-TW" altLang="en-US" sz="2400" b="1" i="1" dirty="0">
                  <a:solidFill>
                    <a:srgbClr val="002060"/>
                  </a:solidFill>
                  <a:latin typeface="Cambria Math" panose="02040503050406030204" pitchFamily="18" charset="0"/>
                </a:endParaRPr>
              </a:p>
            </p:txBody>
          </p:sp>
        </mc:Choice>
        <mc:Fallback xmlns="">
          <p:sp>
            <p:nvSpPr>
              <p:cNvPr id="16" name="矩形 15">
                <a:extLst>
                  <a:ext uri="{FF2B5EF4-FFF2-40B4-BE49-F238E27FC236}">
                    <a16:creationId xmlns:a16="http://schemas.microsoft.com/office/drawing/2014/main" id="{B3084A06-8BDF-4D1A-873B-FEDA82385567}"/>
                  </a:ext>
                </a:extLst>
              </p:cNvPr>
              <p:cNvSpPr>
                <a:spLocks noRot="1" noChangeAspect="1" noMove="1" noResize="1" noEditPoints="1" noAdjustHandles="1" noChangeArrowheads="1" noChangeShapeType="1" noTextEdit="1"/>
              </p:cNvSpPr>
              <p:nvPr/>
            </p:nvSpPr>
            <p:spPr>
              <a:xfrm>
                <a:off x="4571999" y="5311261"/>
                <a:ext cx="2632387" cy="461665"/>
              </a:xfrm>
              <a:prstGeom prst="rect">
                <a:avLst/>
              </a:prstGeom>
              <a:blipFill>
                <a:blip r:embed="rId9"/>
                <a:stretch>
                  <a:fillRect b="-5263"/>
                </a:stretch>
              </a:blipFill>
            </p:spPr>
            <p:txBody>
              <a:bodyPr/>
              <a:lstStyle/>
              <a:p>
                <a:r>
                  <a:rPr lang="zh-TW" altLang="en-US">
                    <a:noFill/>
                  </a:rPr>
                  <a:t> </a:t>
                </a:r>
              </a:p>
            </p:txBody>
          </p:sp>
        </mc:Fallback>
      </mc:AlternateContent>
      <p:sp>
        <p:nvSpPr>
          <p:cNvPr id="23" name="矩形 22">
            <a:extLst>
              <a:ext uri="{FF2B5EF4-FFF2-40B4-BE49-F238E27FC236}">
                <a16:creationId xmlns:a16="http://schemas.microsoft.com/office/drawing/2014/main" id="{48F12D4E-CC02-4A67-878F-2697B16C4CED}"/>
              </a:ext>
            </a:extLst>
          </p:cNvPr>
          <p:cNvSpPr/>
          <p:nvPr/>
        </p:nvSpPr>
        <p:spPr>
          <a:xfrm>
            <a:off x="1072652" y="5287174"/>
            <a:ext cx="2632387" cy="402784"/>
          </a:xfrm>
          <a:prstGeom prst="rect">
            <a:avLst/>
          </a:prstGeom>
          <a:no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4" name="矩形 23">
            <a:extLst>
              <a:ext uri="{FF2B5EF4-FFF2-40B4-BE49-F238E27FC236}">
                <a16:creationId xmlns:a16="http://schemas.microsoft.com/office/drawing/2014/main" id="{A32A06D6-88F0-47E7-ADB8-3A3F7A0868F9}"/>
              </a:ext>
            </a:extLst>
          </p:cNvPr>
          <p:cNvSpPr/>
          <p:nvPr/>
        </p:nvSpPr>
        <p:spPr>
          <a:xfrm>
            <a:off x="4566770" y="4908477"/>
            <a:ext cx="2632387" cy="402784"/>
          </a:xfrm>
          <a:prstGeom prst="rect">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342000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nodePh="1">
                                  <p:stCondLst>
                                    <p:cond delay="0"/>
                                  </p:stCondLst>
                                  <p:endCondLst>
                                    <p:cond evt="begin" delay="0">
                                      <p:tn val="19"/>
                                    </p:cond>
                                  </p:end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left)">
                                      <p:cBhvr>
                                        <p:cTn id="32" dur="250"/>
                                        <p:tgtEl>
                                          <p:spTgt spid="24"/>
                                        </p:tgtEl>
                                      </p:cBhvr>
                                    </p:animEffect>
                                  </p:childTnLst>
                                </p:cTn>
                              </p:par>
                              <p:par>
                                <p:cTn id="33" presetID="22" presetClass="entr" presetSubtype="8" fill="hold" grpId="0" nodeType="withEffect" nodePh="1">
                                  <p:stCondLst>
                                    <p:cond delay="0"/>
                                  </p:stCondLst>
                                  <p:endCondLst>
                                    <p:cond evt="begin" delay="0">
                                      <p:tn val="33"/>
                                    </p:cond>
                                  </p:endCondLst>
                                  <p:childTnLst>
                                    <p:set>
                                      <p:cBhvr>
                                        <p:cTn id="34" dur="1" fill="hold">
                                          <p:stCondLst>
                                            <p:cond delay="0"/>
                                          </p:stCondLst>
                                        </p:cTn>
                                        <p:tgtEl>
                                          <p:spTgt spid="23"/>
                                        </p:tgtEl>
                                        <p:attrNameLst>
                                          <p:attrName>style.visibility</p:attrName>
                                        </p:attrNameLst>
                                      </p:cBhvr>
                                      <p:to>
                                        <p:strVal val="visible"/>
                                      </p:to>
                                    </p:set>
                                    <p:animEffect transition="in" filter="wipe(left)">
                                      <p:cBhvr>
                                        <p:cTn id="35" dur="2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P spid="13" grpId="0"/>
      <p:bldP spid="14" grpId="0"/>
      <p:bldP spid="15" grpId="0"/>
      <p:bldP spid="16" grpId="0"/>
      <p:bldP spid="23" grpId="0"/>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The GREEDY algorithm</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6</a:t>
            </a:fld>
            <a:endParaRPr lang="zh-TW" altLang="en-US" dirty="0"/>
          </a:p>
        </p:txBody>
      </p:sp>
      <mc:AlternateContent xmlns:mc="http://schemas.openxmlformats.org/markup-compatibility/2006" xmlns:a14="http://schemas.microsoft.com/office/drawing/2010/main">
        <mc:Choice Requires="a14">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471956" y="998092"/>
                <a:ext cx="8327572" cy="5553983"/>
              </a:xfrm>
            </p:spPr>
            <p:txBody>
              <a:bodyPr>
                <a:normAutofit/>
              </a:bodyPr>
              <a:lstStyle/>
              <a:p>
                <a:pPr marL="0" indent="0">
                  <a:lnSpc>
                    <a:spcPct val="100000"/>
                  </a:lnSpc>
                  <a:buNone/>
                </a:pPr>
                <a:r>
                  <a:rPr lang="en-US" altLang="zh-TW" sz="2200" dirty="0">
                    <a:latin typeface="Times New Roman" panose="02020603050405020304" pitchFamily="18" charset="0"/>
                    <a:cs typeface="Times New Roman" panose="02020603050405020304" pitchFamily="18" charset="0"/>
                  </a:rPr>
                  <a:t>while (</a:t>
                </a:r>
                <a:r>
                  <a:rPr lang="zh-TW" altLang="en-US" sz="2200" dirty="0">
                    <a:latin typeface="標楷體" panose="03000509000000000000" pitchFamily="65" charset="-120"/>
                    <a:ea typeface="標楷體" panose="03000509000000000000" pitchFamily="65" charset="-120"/>
                    <a:cs typeface="Times New Roman" panose="02020603050405020304" pitchFamily="18" charset="0"/>
                  </a:rPr>
                  <a:t>還有</a:t>
                </a:r>
                <a:r>
                  <a:rPr lang="en-US" altLang="zh-TW" sz="2200" dirty="0">
                    <a:latin typeface="Times New Roman" panose="02020603050405020304" pitchFamily="18" charset="0"/>
                    <a:cs typeface="Times New Roman" panose="02020603050405020304" pitchFamily="18" charset="0"/>
                  </a:rPr>
                  <a:t> unmarked letters){</a:t>
                </a:r>
              </a:p>
              <a:p>
                <a:pPr marL="0" indent="0">
                  <a:lnSpc>
                    <a:spcPct val="100000"/>
                  </a:lnSpc>
                  <a:buNone/>
                </a:pPr>
                <a:r>
                  <a:rPr lang="en-US" altLang="zh-TW" sz="2200" dirty="0">
                    <a:latin typeface="Times New Roman" panose="02020603050405020304" pitchFamily="18" charset="0"/>
                    <a:cs typeface="Times New Roman" panose="02020603050405020304" pitchFamily="18" charset="0"/>
                  </a:rPr>
                  <a:t>	find </a:t>
                </a:r>
                <a14:m>
                  <m:oMath xmlns:m="http://schemas.openxmlformats.org/officeDocument/2006/math">
                    <m:r>
                      <a:rPr lang="en-US" altLang="zh-TW" sz="2200" i="1" dirty="0" smtClean="0">
                        <a:latin typeface="Cambria Math" panose="02040503050406030204" pitchFamily="18" charset="0"/>
                        <a:cs typeface="Times New Roman" panose="02020603050405020304" pitchFamily="18" charset="0"/>
                      </a:rPr>
                      <m:t>𝐿𝐶𝑆</m:t>
                    </m:r>
                  </m:oMath>
                </a14:m>
                <a:r>
                  <a:rPr lang="en-US" altLang="zh-TW" sz="2200" dirty="0">
                    <a:latin typeface="Times New Roman" panose="02020603050405020304" pitchFamily="18" charset="0"/>
                    <a:cs typeface="Times New Roman" panose="02020603050405020304" pitchFamily="18" charset="0"/>
                  </a:rPr>
                  <a:t>(longest common </a:t>
                </a:r>
                <a:r>
                  <a:rPr lang="en-US" altLang="zh-TW" sz="2200" dirty="0">
                    <a:solidFill>
                      <a:srgbClr val="FF0000"/>
                    </a:solidFill>
                    <a:latin typeface="Times New Roman" panose="02020603050405020304" pitchFamily="18" charset="0"/>
                    <a:cs typeface="Times New Roman" panose="02020603050405020304" pitchFamily="18" charset="0"/>
                  </a:rPr>
                  <a:t>substring</a:t>
                </a:r>
                <a:r>
                  <a:rPr lang="en-US" altLang="zh-TW" sz="2200" dirty="0">
                    <a:latin typeface="Times New Roman" panose="02020603050405020304" pitchFamily="18" charset="0"/>
                    <a:cs typeface="Times New Roman" panose="02020603050405020304" pitchFamily="18" charset="0"/>
                  </a:rPr>
                  <a:t>) with all unmarked letters</a:t>
                </a:r>
              </a:p>
              <a:p>
                <a:pPr marL="0" indent="0">
                  <a:lnSpc>
                    <a:spcPct val="100000"/>
                  </a:lnSpc>
                  <a:buNone/>
                </a:pPr>
                <a:r>
                  <a:rPr lang="en-US" altLang="zh-TW" sz="2200" dirty="0">
                    <a:latin typeface="Times New Roman" panose="02020603050405020304" pitchFamily="18" charset="0"/>
                    <a:cs typeface="Times New Roman" panose="02020603050405020304" pitchFamily="18" charset="0"/>
                  </a:rPr>
                  <a:t>	mark all letters in </a:t>
                </a:r>
                <a14:m>
                  <m:oMath xmlns:m="http://schemas.openxmlformats.org/officeDocument/2006/math">
                    <m:r>
                      <a:rPr lang="en-US" altLang="zh-TW" sz="2200" i="1" dirty="0" smtClean="0">
                        <a:latin typeface="Cambria Math" panose="02040503050406030204" pitchFamily="18" charset="0"/>
                        <a:cs typeface="Times New Roman" panose="02020603050405020304" pitchFamily="18" charset="0"/>
                      </a:rPr>
                      <m:t>𝐿𝐶𝑆</m:t>
                    </m:r>
                  </m:oMath>
                </a14:m>
                <a:endParaRPr lang="en-US" altLang="zh-TW" sz="2200" dirty="0">
                  <a:latin typeface="Times New Roman" panose="02020603050405020304" pitchFamily="18" charset="0"/>
                  <a:cs typeface="Times New Roman" panose="02020603050405020304" pitchFamily="18" charset="0"/>
                </a:endParaRPr>
              </a:p>
              <a:p>
                <a:pPr marL="0" indent="0">
                  <a:lnSpc>
                    <a:spcPct val="100000"/>
                  </a:lnSpc>
                  <a:buNone/>
                </a:pPr>
                <a:r>
                  <a:rPr lang="en-US" altLang="zh-TW" sz="2200" dirty="0">
                    <a:latin typeface="Times New Roman" panose="02020603050405020304" pitchFamily="18" charset="0"/>
                    <a:cs typeface="Times New Roman" panose="02020603050405020304" pitchFamily="18" charset="0"/>
                  </a:rPr>
                  <a:t>}</a:t>
                </a:r>
                <a:endParaRPr lang="zh-TW" altLang="en-US" sz="2200" dirty="0">
                  <a:latin typeface="Times New Roman" panose="02020603050405020304" pitchFamily="18" charset="0"/>
                  <a:cs typeface="Times New Roman" panose="02020603050405020304" pitchFamily="18" charset="0"/>
                </a:endParaRPr>
              </a:p>
            </p:txBody>
          </p:sp>
        </mc:Choice>
        <mc:Fallback xmlns="">
          <p:sp>
            <p:nvSpPr>
              <p:cNvPr id="7" name="內容版面配置區 6">
                <a:extLst>
                  <a:ext uri="{FF2B5EF4-FFF2-40B4-BE49-F238E27FC236}">
                    <a16:creationId xmlns:a16="http://schemas.microsoft.com/office/drawing/2014/main" id="{878CA31B-C758-4215-B281-353CA02EC37A}"/>
                  </a:ext>
                </a:extLst>
              </p:cNvPr>
              <p:cNvSpPr>
                <a:spLocks noGrp="1" noRot="1" noChangeAspect="1" noMove="1" noResize="1" noEditPoints="1" noAdjustHandles="1" noChangeArrowheads="1" noChangeShapeType="1" noTextEdit="1"/>
              </p:cNvSpPr>
              <p:nvPr>
                <p:ph idx="1"/>
              </p:nvPr>
            </p:nvSpPr>
            <p:spPr>
              <a:xfrm>
                <a:off x="471956" y="998092"/>
                <a:ext cx="8327572" cy="5553983"/>
              </a:xfrm>
              <a:blipFill>
                <a:blip r:embed="rId3"/>
                <a:stretch>
                  <a:fillRect l="-952" t="-76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CD5CB7F7-32D5-42A6-A8AC-2E6FCAF5BD68}"/>
                  </a:ext>
                </a:extLst>
              </p:cNvPr>
              <p:cNvSpPr/>
              <p:nvPr/>
            </p:nvSpPr>
            <p:spPr>
              <a:xfrm>
                <a:off x="1481744" y="3045090"/>
                <a:ext cx="244105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𝑆</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𝑏</m:t>
                      </m:r>
                      <m:r>
                        <a:rPr lang="en-US" altLang="zh-TW" sz="2400" b="0" i="1" smtClean="0">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𝑎</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𝑎</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𝑏</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𝑐</m:t>
                      </m:r>
                      <m:r>
                        <a:rPr lang="en-US" altLang="zh-TW" sz="2400" b="0" i="1" smtClean="0">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𝑎</m:t>
                      </m:r>
                    </m:oMath>
                  </m:oMathPara>
                </a14:m>
                <a:endParaRPr lang="zh-TW" altLang="en-US" sz="2400" dirty="0"/>
              </a:p>
            </p:txBody>
          </p:sp>
        </mc:Choice>
        <mc:Fallback xmlns="">
          <p:sp>
            <p:nvSpPr>
              <p:cNvPr id="13" name="矩形 12">
                <a:extLst>
                  <a:ext uri="{FF2B5EF4-FFF2-40B4-BE49-F238E27FC236}">
                    <a16:creationId xmlns:a16="http://schemas.microsoft.com/office/drawing/2014/main" id="{CD5CB7F7-32D5-42A6-A8AC-2E6FCAF5BD68}"/>
                  </a:ext>
                </a:extLst>
              </p:cNvPr>
              <p:cNvSpPr>
                <a:spLocks noRot="1" noChangeAspect="1" noMove="1" noResize="1" noEditPoints="1" noAdjustHandles="1" noChangeArrowheads="1" noChangeShapeType="1" noTextEdit="1"/>
              </p:cNvSpPr>
              <p:nvPr/>
            </p:nvSpPr>
            <p:spPr>
              <a:xfrm>
                <a:off x="1481744" y="3045090"/>
                <a:ext cx="2441053" cy="461665"/>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7FCB4222-107A-472D-AAF4-F27ABF190BBC}"/>
                  </a:ext>
                </a:extLst>
              </p:cNvPr>
              <p:cNvSpPr/>
              <p:nvPr/>
            </p:nvSpPr>
            <p:spPr>
              <a:xfrm>
                <a:off x="1481744" y="3628457"/>
                <a:ext cx="246099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𝑇</m:t>
                      </m:r>
                      <m:r>
                        <a:rPr lang="en-US" altLang="zh-TW" sz="2400" b="0" i="1" smtClean="0">
                          <a:latin typeface="Cambria Math" panose="02040503050406030204" pitchFamily="18" charset="0"/>
                        </a:rPr>
                        <m:t>=</m:t>
                      </m:r>
                      <m:r>
                        <a:rPr lang="en-US" altLang="zh-TW" sz="2400" b="0" i="1" smtClean="0">
                          <a:solidFill>
                            <a:schemeClr val="accent2">
                              <a:lumMod val="75000"/>
                            </a:schemeClr>
                          </a:solidFill>
                          <a:latin typeface="Cambria Math" panose="02040503050406030204" pitchFamily="18" charset="0"/>
                        </a:rPr>
                        <m:t>𝑎</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𝑎</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𝑏</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𝑐</m:t>
                      </m:r>
                      <m:r>
                        <a:rPr lang="en-US" altLang="zh-TW" sz="2400" b="0" i="1" smtClean="0">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𝑎</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𝑎</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𝑏</m:t>
                      </m:r>
                    </m:oMath>
                  </m:oMathPara>
                </a14:m>
                <a:endParaRPr lang="zh-TW" altLang="en-US" sz="2400" dirty="0"/>
              </a:p>
            </p:txBody>
          </p:sp>
        </mc:Choice>
        <mc:Fallback xmlns="">
          <p:sp>
            <p:nvSpPr>
              <p:cNvPr id="14" name="矩形 13">
                <a:extLst>
                  <a:ext uri="{FF2B5EF4-FFF2-40B4-BE49-F238E27FC236}">
                    <a16:creationId xmlns:a16="http://schemas.microsoft.com/office/drawing/2014/main" id="{7FCB4222-107A-472D-AAF4-F27ABF190BBC}"/>
                  </a:ext>
                </a:extLst>
              </p:cNvPr>
              <p:cNvSpPr>
                <a:spLocks noRot="1" noChangeAspect="1" noMove="1" noResize="1" noEditPoints="1" noAdjustHandles="1" noChangeArrowheads="1" noChangeShapeType="1" noTextEdit="1"/>
              </p:cNvSpPr>
              <p:nvPr/>
            </p:nvSpPr>
            <p:spPr>
              <a:xfrm>
                <a:off x="1481744" y="3628457"/>
                <a:ext cx="2460995" cy="461665"/>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CD2F8D6E-EC4C-4FDF-A571-9E43985D446D}"/>
                  </a:ext>
                </a:extLst>
              </p:cNvPr>
              <p:cNvSpPr/>
              <p:nvPr/>
            </p:nvSpPr>
            <p:spPr>
              <a:xfrm>
                <a:off x="1481744" y="4467480"/>
                <a:ext cx="230178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𝐿𝐶𝑆</m:t>
                      </m:r>
                      <m:r>
                        <a:rPr lang="en-US" altLang="zh-TW" sz="2400" b="0" i="1" smtClean="0">
                          <a:latin typeface="Cambria Math" panose="02040503050406030204" pitchFamily="18" charset="0"/>
                        </a:rPr>
                        <m:t>=</m:t>
                      </m:r>
                      <m:r>
                        <a:rPr lang="en-US" altLang="zh-TW" sz="2400" b="0" i="1" smtClean="0">
                          <a:solidFill>
                            <a:schemeClr val="accent2">
                              <a:lumMod val="75000"/>
                            </a:schemeClr>
                          </a:solidFill>
                          <a:latin typeface="Cambria Math" panose="02040503050406030204" pitchFamily="18" charset="0"/>
                        </a:rPr>
                        <m:t>𝑎</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𝑎</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𝑏</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𝑐</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𝑎</m:t>
                      </m:r>
                    </m:oMath>
                  </m:oMathPara>
                </a14:m>
                <a:endParaRPr lang="zh-TW" altLang="en-US" sz="2400" dirty="0"/>
              </a:p>
            </p:txBody>
          </p:sp>
        </mc:Choice>
        <mc:Fallback xmlns="">
          <p:sp>
            <p:nvSpPr>
              <p:cNvPr id="15" name="矩形 14">
                <a:extLst>
                  <a:ext uri="{FF2B5EF4-FFF2-40B4-BE49-F238E27FC236}">
                    <a16:creationId xmlns:a16="http://schemas.microsoft.com/office/drawing/2014/main" id="{CD2F8D6E-EC4C-4FDF-A571-9E43985D446D}"/>
                  </a:ext>
                </a:extLst>
              </p:cNvPr>
              <p:cNvSpPr>
                <a:spLocks noRot="1" noChangeAspect="1" noMove="1" noResize="1" noEditPoints="1" noAdjustHandles="1" noChangeArrowheads="1" noChangeShapeType="1" noTextEdit="1"/>
              </p:cNvSpPr>
              <p:nvPr/>
            </p:nvSpPr>
            <p:spPr>
              <a:xfrm>
                <a:off x="1481744" y="4467480"/>
                <a:ext cx="2301784" cy="461665"/>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D2554DEA-0A13-4206-B411-5A09BF5F3F54}"/>
                  </a:ext>
                </a:extLst>
              </p:cNvPr>
              <p:cNvSpPr/>
              <p:nvPr/>
            </p:nvSpPr>
            <p:spPr>
              <a:xfrm>
                <a:off x="4866745" y="3045090"/>
                <a:ext cx="244105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𝑆</m:t>
                      </m:r>
                      <m:r>
                        <a:rPr lang="en-US" altLang="zh-TW" sz="2400" b="0" i="1" smtClean="0">
                          <a:latin typeface="Cambria Math" panose="02040503050406030204" pitchFamily="18" charset="0"/>
                        </a:rPr>
                        <m:t>=</m:t>
                      </m:r>
                      <m:r>
                        <a:rPr lang="en-US" altLang="zh-TW" sz="2400" b="0" i="1" smtClean="0">
                          <a:solidFill>
                            <a:schemeClr val="tx1"/>
                          </a:solidFill>
                          <a:latin typeface="Cambria Math" panose="02040503050406030204" pitchFamily="18" charset="0"/>
                        </a:rPr>
                        <m:t>𝑎</m:t>
                      </m:r>
                      <m:r>
                        <a:rPr lang="en-US" altLang="zh-TW" sz="2400" b="0" i="1" smtClean="0">
                          <a:solidFill>
                            <a:schemeClr val="tx1"/>
                          </a:solidFill>
                          <a:latin typeface="Cambria Math" panose="02040503050406030204" pitchFamily="18" charset="0"/>
                        </a:rPr>
                        <m:t> </m:t>
                      </m:r>
                      <m:r>
                        <a:rPr lang="en-US" altLang="zh-TW" sz="2400" b="0" i="1" smtClean="0">
                          <a:solidFill>
                            <a:schemeClr val="tx1"/>
                          </a:solidFill>
                          <a:latin typeface="Cambria Math" panose="02040503050406030204" pitchFamily="18" charset="0"/>
                        </a:rPr>
                        <m:t>𝑏</m:t>
                      </m:r>
                      <m:r>
                        <a:rPr lang="en-US" altLang="zh-TW" sz="2400" b="0" i="1" smtClean="0">
                          <a:solidFill>
                            <a:schemeClr val="tx1"/>
                          </a:solidFill>
                          <a:latin typeface="Cambria Math" panose="02040503050406030204" pitchFamily="18" charset="0"/>
                        </a:rPr>
                        <m:t> </m:t>
                      </m:r>
                      <m:r>
                        <a:rPr lang="en-US" altLang="zh-TW" sz="2400" b="0" i="1" smtClean="0">
                          <a:solidFill>
                            <a:schemeClr val="bg1">
                              <a:lumMod val="85000"/>
                            </a:schemeClr>
                          </a:solidFill>
                          <a:latin typeface="Cambria Math" panose="02040503050406030204" pitchFamily="18" charset="0"/>
                        </a:rPr>
                        <m:t>𝑎</m:t>
                      </m:r>
                      <m:r>
                        <a:rPr lang="en-US" altLang="zh-TW" sz="2400" b="0" i="1" smtClean="0">
                          <a:solidFill>
                            <a:schemeClr val="bg1">
                              <a:lumMod val="85000"/>
                            </a:schemeClr>
                          </a:solidFill>
                          <a:latin typeface="Cambria Math" panose="02040503050406030204" pitchFamily="18" charset="0"/>
                        </a:rPr>
                        <m:t> </m:t>
                      </m:r>
                      <m:r>
                        <a:rPr lang="en-US" altLang="zh-TW" sz="2400" b="0" i="1" smtClean="0">
                          <a:solidFill>
                            <a:schemeClr val="bg1">
                              <a:lumMod val="85000"/>
                            </a:schemeClr>
                          </a:solidFill>
                          <a:latin typeface="Cambria Math" panose="02040503050406030204" pitchFamily="18" charset="0"/>
                        </a:rPr>
                        <m:t>𝑎</m:t>
                      </m:r>
                      <m:r>
                        <a:rPr lang="en-US" altLang="zh-TW" sz="2400" b="0" i="1" smtClean="0">
                          <a:solidFill>
                            <a:schemeClr val="bg1">
                              <a:lumMod val="85000"/>
                            </a:schemeClr>
                          </a:solidFill>
                          <a:latin typeface="Cambria Math" panose="02040503050406030204" pitchFamily="18" charset="0"/>
                        </a:rPr>
                        <m:t> </m:t>
                      </m:r>
                      <m:r>
                        <a:rPr lang="en-US" altLang="zh-TW" sz="2400" b="0" i="1" smtClean="0">
                          <a:solidFill>
                            <a:schemeClr val="bg1">
                              <a:lumMod val="85000"/>
                            </a:schemeClr>
                          </a:solidFill>
                          <a:latin typeface="Cambria Math" panose="02040503050406030204" pitchFamily="18" charset="0"/>
                        </a:rPr>
                        <m:t>𝑏</m:t>
                      </m:r>
                      <m:r>
                        <a:rPr lang="en-US" altLang="zh-TW" sz="2400" b="0" i="1" smtClean="0">
                          <a:solidFill>
                            <a:schemeClr val="bg1">
                              <a:lumMod val="85000"/>
                            </a:schemeClr>
                          </a:solidFill>
                          <a:latin typeface="Cambria Math" panose="02040503050406030204" pitchFamily="18" charset="0"/>
                        </a:rPr>
                        <m:t> </m:t>
                      </m:r>
                      <m:r>
                        <a:rPr lang="en-US" altLang="zh-TW" sz="2400" b="0" i="1" smtClean="0">
                          <a:solidFill>
                            <a:schemeClr val="bg1">
                              <a:lumMod val="85000"/>
                            </a:schemeClr>
                          </a:solidFill>
                          <a:latin typeface="Cambria Math" panose="02040503050406030204" pitchFamily="18" charset="0"/>
                        </a:rPr>
                        <m:t>𝑐</m:t>
                      </m:r>
                      <m:r>
                        <a:rPr lang="en-US" altLang="zh-TW" sz="2400" b="0" i="1" smtClean="0">
                          <a:latin typeface="Cambria Math" panose="02040503050406030204" pitchFamily="18" charset="0"/>
                        </a:rPr>
                        <m:t> </m:t>
                      </m:r>
                      <m:r>
                        <a:rPr lang="en-US" altLang="zh-TW" sz="2400" b="0" i="1" smtClean="0">
                          <a:latin typeface="Cambria Math" panose="02040503050406030204" pitchFamily="18" charset="0"/>
                        </a:rPr>
                        <m:t>𝑎</m:t>
                      </m:r>
                    </m:oMath>
                  </m:oMathPara>
                </a14:m>
                <a:endParaRPr lang="zh-TW" altLang="en-US" sz="2400" dirty="0"/>
              </a:p>
            </p:txBody>
          </p:sp>
        </mc:Choice>
        <mc:Fallback xmlns="">
          <p:sp>
            <p:nvSpPr>
              <p:cNvPr id="16" name="矩形 15">
                <a:extLst>
                  <a:ext uri="{FF2B5EF4-FFF2-40B4-BE49-F238E27FC236}">
                    <a16:creationId xmlns:a16="http://schemas.microsoft.com/office/drawing/2014/main" id="{D2554DEA-0A13-4206-B411-5A09BF5F3F54}"/>
                  </a:ext>
                </a:extLst>
              </p:cNvPr>
              <p:cNvSpPr>
                <a:spLocks noRot="1" noChangeAspect="1" noMove="1" noResize="1" noEditPoints="1" noAdjustHandles="1" noChangeArrowheads="1" noChangeShapeType="1" noTextEdit="1"/>
              </p:cNvSpPr>
              <p:nvPr/>
            </p:nvSpPr>
            <p:spPr>
              <a:xfrm>
                <a:off x="4866745" y="3045090"/>
                <a:ext cx="2441053" cy="461665"/>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CCBF5AC3-AC79-4626-928D-13AA9E5591D5}"/>
                  </a:ext>
                </a:extLst>
              </p:cNvPr>
              <p:cNvSpPr/>
              <p:nvPr/>
            </p:nvSpPr>
            <p:spPr>
              <a:xfrm>
                <a:off x="4866745" y="3628457"/>
                <a:ext cx="246099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solidFill>
                            <a:schemeClr val="tx1"/>
                          </a:solidFill>
                          <a:latin typeface="Cambria Math" panose="02040503050406030204" pitchFamily="18" charset="0"/>
                        </a:rPr>
                        <m:t>𝑇</m:t>
                      </m:r>
                      <m:r>
                        <a:rPr lang="en-US" altLang="zh-TW" sz="2400" i="1" smtClean="0">
                          <a:solidFill>
                            <a:schemeClr val="tx1"/>
                          </a:solidFill>
                          <a:latin typeface="Cambria Math" panose="02040503050406030204" pitchFamily="18" charset="0"/>
                        </a:rPr>
                        <m:t>=</m:t>
                      </m:r>
                      <m:r>
                        <a:rPr lang="en-US" altLang="zh-TW" sz="2400" i="1">
                          <a:solidFill>
                            <a:schemeClr val="bg1">
                              <a:lumMod val="85000"/>
                            </a:schemeClr>
                          </a:solidFill>
                          <a:latin typeface="Cambria Math" panose="02040503050406030204" pitchFamily="18" charset="0"/>
                        </a:rPr>
                        <m:t>𝑎</m:t>
                      </m:r>
                      <m:r>
                        <a:rPr lang="en-US" altLang="zh-TW" sz="2400" i="1">
                          <a:solidFill>
                            <a:schemeClr val="bg1">
                              <a:lumMod val="85000"/>
                            </a:schemeClr>
                          </a:solidFill>
                          <a:latin typeface="Cambria Math" panose="02040503050406030204" pitchFamily="18" charset="0"/>
                        </a:rPr>
                        <m:t> </m:t>
                      </m:r>
                      <m:r>
                        <a:rPr lang="en-US" altLang="zh-TW" sz="2400" i="1">
                          <a:solidFill>
                            <a:schemeClr val="bg1">
                              <a:lumMod val="85000"/>
                            </a:schemeClr>
                          </a:solidFill>
                          <a:latin typeface="Cambria Math" panose="02040503050406030204" pitchFamily="18" charset="0"/>
                        </a:rPr>
                        <m:t>𝑎</m:t>
                      </m:r>
                      <m:r>
                        <a:rPr lang="en-US" altLang="zh-TW" sz="2400" i="1">
                          <a:solidFill>
                            <a:schemeClr val="bg1">
                              <a:lumMod val="85000"/>
                            </a:schemeClr>
                          </a:solidFill>
                          <a:latin typeface="Cambria Math" panose="02040503050406030204" pitchFamily="18" charset="0"/>
                        </a:rPr>
                        <m:t> </m:t>
                      </m:r>
                      <m:r>
                        <a:rPr lang="en-US" altLang="zh-TW" sz="2400" i="1">
                          <a:solidFill>
                            <a:schemeClr val="bg1">
                              <a:lumMod val="85000"/>
                            </a:schemeClr>
                          </a:solidFill>
                          <a:latin typeface="Cambria Math" panose="02040503050406030204" pitchFamily="18" charset="0"/>
                        </a:rPr>
                        <m:t>𝑏</m:t>
                      </m:r>
                      <m:r>
                        <a:rPr lang="en-US" altLang="zh-TW" sz="2400" i="1">
                          <a:solidFill>
                            <a:schemeClr val="bg1">
                              <a:lumMod val="85000"/>
                            </a:schemeClr>
                          </a:solidFill>
                          <a:latin typeface="Cambria Math" panose="02040503050406030204" pitchFamily="18" charset="0"/>
                        </a:rPr>
                        <m:t> </m:t>
                      </m:r>
                      <m:r>
                        <a:rPr lang="en-US" altLang="zh-TW" sz="2400" i="1" smtClean="0">
                          <a:solidFill>
                            <a:schemeClr val="bg1">
                              <a:lumMod val="85000"/>
                            </a:schemeClr>
                          </a:solidFill>
                          <a:latin typeface="Cambria Math" panose="02040503050406030204" pitchFamily="18" charset="0"/>
                        </a:rPr>
                        <m:t>𝑐</m:t>
                      </m:r>
                      <m:r>
                        <a:rPr lang="en-US" altLang="zh-TW" sz="2400" i="1" smtClean="0">
                          <a:solidFill>
                            <a:schemeClr val="tx1"/>
                          </a:solidFill>
                          <a:latin typeface="Cambria Math" panose="02040503050406030204" pitchFamily="18" charset="0"/>
                        </a:rPr>
                        <m:t> </m:t>
                      </m:r>
                      <m:r>
                        <a:rPr lang="en-US" altLang="zh-TW" sz="2400" i="1" smtClean="0">
                          <a:solidFill>
                            <a:schemeClr val="bg1">
                              <a:lumMod val="85000"/>
                            </a:schemeClr>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𝑏</m:t>
                      </m:r>
                    </m:oMath>
                  </m:oMathPara>
                </a14:m>
                <a:endParaRPr lang="zh-TW" altLang="en-US" sz="2400" i="1" dirty="0">
                  <a:solidFill>
                    <a:schemeClr val="bg1">
                      <a:lumMod val="85000"/>
                    </a:schemeClr>
                  </a:solidFill>
                  <a:latin typeface="Cambria Math" panose="02040503050406030204" pitchFamily="18" charset="0"/>
                </a:endParaRPr>
              </a:p>
            </p:txBody>
          </p:sp>
        </mc:Choice>
        <mc:Fallback xmlns="">
          <p:sp>
            <p:nvSpPr>
              <p:cNvPr id="17" name="矩形 16">
                <a:extLst>
                  <a:ext uri="{FF2B5EF4-FFF2-40B4-BE49-F238E27FC236}">
                    <a16:creationId xmlns:a16="http://schemas.microsoft.com/office/drawing/2014/main" id="{CCBF5AC3-AC79-4626-928D-13AA9E5591D5}"/>
                  </a:ext>
                </a:extLst>
              </p:cNvPr>
              <p:cNvSpPr>
                <a:spLocks noRot="1" noChangeAspect="1" noMove="1" noResize="1" noEditPoints="1" noAdjustHandles="1" noChangeArrowheads="1" noChangeShapeType="1" noTextEdit="1"/>
              </p:cNvSpPr>
              <p:nvPr/>
            </p:nvSpPr>
            <p:spPr>
              <a:xfrm>
                <a:off x="4866745" y="3628457"/>
                <a:ext cx="2460995" cy="461665"/>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A5AF5256-6AC6-4925-98D3-EB30E3E495D5}"/>
                  </a:ext>
                </a:extLst>
              </p:cNvPr>
              <p:cNvSpPr/>
              <p:nvPr/>
            </p:nvSpPr>
            <p:spPr>
              <a:xfrm>
                <a:off x="4866745" y="4467480"/>
                <a:ext cx="1590948" cy="461665"/>
              </a:xfrm>
              <a:prstGeom prst="rect">
                <a:avLst/>
              </a:prstGeom>
            </p:spPr>
            <p:txBody>
              <a:bodyPr wrap="none">
                <a:spAutoFit/>
              </a:bodyPr>
              <a:lstStyle/>
              <a:p>
                <a14:m>
                  <m:oMath xmlns:m="http://schemas.openxmlformats.org/officeDocument/2006/math">
                    <m:r>
                      <a:rPr lang="en-US" altLang="zh-TW" sz="2400" b="0" i="1" smtClean="0">
                        <a:latin typeface="Cambria Math" panose="02040503050406030204" pitchFamily="18" charset="0"/>
                      </a:rPr>
                      <m:t>𝐿𝐶𝑆</m:t>
                    </m:r>
                    <m:r>
                      <a:rPr lang="en-US" altLang="zh-TW" sz="2400" b="0" i="1" smtClean="0">
                        <a:latin typeface="Cambria Math" panose="02040503050406030204" pitchFamily="18" charset="0"/>
                      </a:rPr>
                      <m:t>=</m:t>
                    </m:r>
                    <m:r>
                      <a:rPr lang="en-US" altLang="zh-TW" sz="2400" b="0" i="1" smtClean="0">
                        <a:solidFill>
                          <a:srgbClr val="00B050"/>
                        </a:solidFill>
                        <a:latin typeface="Cambria Math" panose="02040503050406030204" pitchFamily="18" charset="0"/>
                      </a:rPr>
                      <m:t>𝑎</m:t>
                    </m:r>
                    <m:r>
                      <a:rPr lang="en-US" altLang="zh-TW" sz="2400" b="0" i="1" smtClean="0">
                        <a:solidFill>
                          <a:srgbClr val="00B050"/>
                        </a:solidFill>
                        <a:latin typeface="Cambria Math" panose="02040503050406030204" pitchFamily="18" charset="0"/>
                      </a:rPr>
                      <m:t> </m:t>
                    </m:r>
                    <m:r>
                      <a:rPr lang="en-US" altLang="zh-TW" sz="2400" b="0" i="1" smtClean="0">
                        <a:solidFill>
                          <a:srgbClr val="00B050"/>
                        </a:solidFill>
                        <a:latin typeface="Cambria Math" panose="02040503050406030204" pitchFamily="18" charset="0"/>
                      </a:rPr>
                      <m:t>𝑏</m:t>
                    </m:r>
                  </m:oMath>
                </a14:m>
                <a:r>
                  <a:rPr lang="zh-TW" altLang="en-US" sz="2400" dirty="0">
                    <a:solidFill>
                      <a:srgbClr val="00B050"/>
                    </a:solidFill>
                  </a:rPr>
                  <a:t> </a:t>
                </a:r>
                <a:endParaRPr lang="zh-TW" altLang="en-US" sz="2400" dirty="0"/>
              </a:p>
            </p:txBody>
          </p:sp>
        </mc:Choice>
        <mc:Fallback xmlns="">
          <p:sp>
            <p:nvSpPr>
              <p:cNvPr id="18" name="矩形 17">
                <a:extLst>
                  <a:ext uri="{FF2B5EF4-FFF2-40B4-BE49-F238E27FC236}">
                    <a16:creationId xmlns:a16="http://schemas.microsoft.com/office/drawing/2014/main" id="{A5AF5256-6AC6-4925-98D3-EB30E3E495D5}"/>
                  </a:ext>
                </a:extLst>
              </p:cNvPr>
              <p:cNvSpPr>
                <a:spLocks noRot="1" noChangeAspect="1" noMove="1" noResize="1" noEditPoints="1" noAdjustHandles="1" noChangeArrowheads="1" noChangeShapeType="1" noTextEdit="1"/>
              </p:cNvSpPr>
              <p:nvPr/>
            </p:nvSpPr>
            <p:spPr>
              <a:xfrm>
                <a:off x="4866745" y="4467480"/>
                <a:ext cx="1590948" cy="461665"/>
              </a:xfrm>
              <a:prstGeom prst="rect">
                <a:avLst/>
              </a:prstGeom>
              <a:blipFill>
                <a:blip r:embed="rId9"/>
                <a:stretch>
                  <a:fillRect l="-766"/>
                </a:stretch>
              </a:blipFill>
            </p:spPr>
            <p:txBody>
              <a:bodyPr/>
              <a:lstStyle/>
              <a:p>
                <a:r>
                  <a:rPr lang="zh-TW" altLang="en-US">
                    <a:noFill/>
                  </a:rPr>
                  <a:t> </a:t>
                </a:r>
              </a:p>
            </p:txBody>
          </p:sp>
        </mc:Fallback>
      </mc:AlternateContent>
      <p:grpSp>
        <p:nvGrpSpPr>
          <p:cNvPr id="27" name="群組 26">
            <a:extLst>
              <a:ext uri="{FF2B5EF4-FFF2-40B4-BE49-F238E27FC236}">
                <a16:creationId xmlns:a16="http://schemas.microsoft.com/office/drawing/2014/main" id="{F0CA5E86-4ECF-415A-BB4A-E44F2C11D78E}"/>
              </a:ext>
            </a:extLst>
          </p:cNvPr>
          <p:cNvGrpSpPr/>
          <p:nvPr/>
        </p:nvGrpSpPr>
        <p:grpSpPr>
          <a:xfrm>
            <a:off x="587042" y="5161885"/>
            <a:ext cx="7656528" cy="954107"/>
            <a:chOff x="329606" y="5387916"/>
            <a:chExt cx="7656528" cy="954107"/>
          </a:xfrm>
        </p:grpSpPr>
        <p:sp>
          <p:nvSpPr>
            <p:cNvPr id="22" name="矩形 21">
              <a:extLst>
                <a:ext uri="{FF2B5EF4-FFF2-40B4-BE49-F238E27FC236}">
                  <a16:creationId xmlns:a16="http://schemas.microsoft.com/office/drawing/2014/main" id="{B69DEC6A-D9DC-4B15-9CD1-B25B2AB058E4}"/>
                </a:ext>
              </a:extLst>
            </p:cNvPr>
            <p:cNvSpPr/>
            <p:nvPr/>
          </p:nvSpPr>
          <p:spPr>
            <a:xfrm>
              <a:off x="329606" y="5387916"/>
              <a:ext cx="3502163" cy="954107"/>
            </a:xfrm>
            <a:prstGeom prst="rect">
              <a:avLst/>
            </a:prstGeom>
          </p:spPr>
          <p:txBody>
            <a:bodyPr wrap="square">
              <a:spAutoFit/>
            </a:bodyPr>
            <a:lstStyle/>
            <a:p>
              <a:pPr algn="ctr"/>
              <a:r>
                <a:rPr lang="en-US" altLang="zh-TW" sz="2800" i="0" dirty="0">
                  <a:latin typeface="Calibri" panose="020F0502020204030204" pitchFamily="34" charset="0"/>
                  <a:cs typeface="Calibri" panose="020F0502020204030204" pitchFamily="34" charset="0"/>
                </a:rPr>
                <a:t>minimum common</a:t>
              </a:r>
              <a:r>
                <a:rPr lang="en-US" altLang="zh-TW" sz="2800" b="0" i="0" dirty="0">
                  <a:latin typeface="Calibri" panose="020F0502020204030204" pitchFamily="34" charset="0"/>
                  <a:cs typeface="Calibri" panose="020F0502020204030204" pitchFamily="34" charset="0"/>
                </a:rPr>
                <a:t> </a:t>
              </a:r>
              <a:endParaRPr lang="en-US" altLang="zh-TW" sz="2800" b="0" i="1" dirty="0">
                <a:latin typeface="Calibri" panose="020F0502020204030204" pitchFamily="34" charset="0"/>
                <a:cs typeface="Calibri" panose="020F0502020204030204" pitchFamily="34" charset="0"/>
              </a:endParaRPr>
            </a:p>
            <a:p>
              <a:pPr algn="ctr"/>
              <a:r>
                <a:rPr lang="en-US" altLang="zh-TW" sz="2800" i="0" dirty="0">
                  <a:latin typeface="Calibri" panose="020F0502020204030204" pitchFamily="34" charset="0"/>
                  <a:cs typeface="Calibri" panose="020F0502020204030204" pitchFamily="34" charset="0"/>
                </a:rPr>
                <a:t>string partition</a:t>
              </a:r>
              <a:r>
                <a:rPr lang="en-US" altLang="zh-TW" sz="2800" b="0" i="0" dirty="0">
                  <a:latin typeface="Calibri" panose="020F0502020204030204" pitchFamily="34" charset="0"/>
                  <a:cs typeface="Calibri" panose="020F0502020204030204" pitchFamily="34" charset="0"/>
                </a:rPr>
                <a:t>(MCSP)</a:t>
              </a:r>
              <a:endParaRPr lang="zh-TW" altLang="en-US" sz="28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9E87AD78-5A05-4DDC-B938-73A099BCC9EE}"/>
                    </a:ext>
                  </a:extLst>
                </p:cNvPr>
                <p:cNvSpPr/>
                <p:nvPr/>
              </p:nvSpPr>
              <p:spPr>
                <a:xfrm>
                  <a:off x="3665361" y="5615408"/>
                  <a:ext cx="4320773" cy="50674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 </m:t>
                        </m:r>
                        <m:r>
                          <a:rPr lang="en-US" altLang="zh-TW" sz="2400" i="1">
                            <a:solidFill>
                              <a:schemeClr val="accent2">
                                <a:lumMod val="75000"/>
                              </a:schemeClr>
                            </a:solidFill>
                            <a:latin typeface="Cambria Math" panose="02040503050406030204" pitchFamily="18" charset="0"/>
                          </a:rPr>
                          <m:t>𝑎</m:t>
                        </m:r>
                        <m:r>
                          <a:rPr lang="en-US" altLang="zh-TW" sz="2400" i="1">
                            <a:solidFill>
                              <a:schemeClr val="accent2">
                                <a:lumMod val="75000"/>
                              </a:schemeClr>
                            </a:solidFill>
                            <a:latin typeface="Cambria Math" panose="02040503050406030204" pitchFamily="18" charset="0"/>
                          </a:rPr>
                          <m:t> </m:t>
                        </m:r>
                        <m:r>
                          <a:rPr lang="en-US" altLang="zh-TW" sz="2400" i="1">
                            <a:solidFill>
                              <a:schemeClr val="accent2">
                                <a:lumMod val="75000"/>
                              </a:schemeClr>
                            </a:solidFill>
                            <a:latin typeface="Cambria Math" panose="02040503050406030204" pitchFamily="18" charset="0"/>
                          </a:rPr>
                          <m:t>𝑎</m:t>
                        </m:r>
                        <m:r>
                          <a:rPr lang="en-US" altLang="zh-TW" sz="2400" i="1">
                            <a:solidFill>
                              <a:schemeClr val="accent2">
                                <a:lumMod val="75000"/>
                              </a:schemeClr>
                            </a:solidFill>
                            <a:latin typeface="Cambria Math" panose="02040503050406030204" pitchFamily="18" charset="0"/>
                          </a:rPr>
                          <m:t> </m:t>
                        </m:r>
                        <m:r>
                          <a:rPr lang="en-US" altLang="zh-TW" sz="2400" i="1">
                            <a:solidFill>
                              <a:schemeClr val="accent2">
                                <a:lumMod val="75000"/>
                              </a:schemeClr>
                            </a:solidFill>
                            <a:latin typeface="Cambria Math" panose="02040503050406030204" pitchFamily="18" charset="0"/>
                          </a:rPr>
                          <m:t>𝑏</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𝑐</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𝑎</m:t>
                        </m:r>
                        <m:d>
                          <m:dPr>
                            <m:ctrlPr>
                              <a:rPr lang="en-US" altLang="zh-TW" sz="2400" i="1">
                                <a:solidFill>
                                  <a:schemeClr val="accent2">
                                    <a:lumMod val="75000"/>
                                  </a:schemeClr>
                                </a:solidFill>
                                <a:latin typeface="Cambria Math" panose="02040503050406030204" pitchFamily="18" charset="0"/>
                              </a:rPr>
                            </m:ctrlPr>
                          </m:dPr>
                          <m:e>
                            <m:sSub>
                              <m:sSubPr>
                                <m:ctrlPr>
                                  <a:rPr lang="en-US" altLang="zh-TW" sz="2400" i="1">
                                    <a:solidFill>
                                      <a:schemeClr val="accent2">
                                        <a:lumMod val="75000"/>
                                      </a:schemeClr>
                                    </a:solidFill>
                                    <a:latin typeface="Cambria Math" panose="02040503050406030204" pitchFamily="18" charset="0"/>
                                  </a:rPr>
                                </m:ctrlPr>
                              </m:sSubPr>
                              <m:e>
                                <m:r>
                                  <a:rPr lang="en-US" altLang="zh-TW" sz="2400" b="0" i="1" smtClean="0">
                                    <a:solidFill>
                                      <a:schemeClr val="accent2">
                                        <a:lumMod val="75000"/>
                                      </a:schemeClr>
                                    </a:solidFill>
                                    <a:latin typeface="Cambria Math" panose="02040503050406030204" pitchFamily="18" charset="0"/>
                                  </a:rPr>
                                  <m:t>𝐵</m:t>
                                </m:r>
                              </m:e>
                              <m:sub>
                                <m:r>
                                  <a:rPr lang="en-US" altLang="zh-TW" sz="2400" i="1">
                                    <a:solidFill>
                                      <a:schemeClr val="accent2">
                                        <a:lumMod val="75000"/>
                                      </a:schemeClr>
                                    </a:solidFill>
                                    <a:latin typeface="Cambria Math" panose="02040503050406030204" pitchFamily="18" charset="0"/>
                                  </a:rPr>
                                  <m:t>1</m:t>
                                </m:r>
                              </m:sub>
                            </m:sSub>
                          </m:e>
                        </m:d>
                        <m:r>
                          <a:rPr lang="en-US" altLang="zh-TW" sz="2400" i="1">
                            <a:latin typeface="Cambria Math" panose="02040503050406030204" pitchFamily="18" charset="0"/>
                          </a:rPr>
                          <m:t>,</m:t>
                        </m:r>
                        <m:r>
                          <a:rPr lang="zh-TW" altLang="en-US" sz="2400" i="1" smtClean="0">
                            <a:latin typeface="Cambria Math" panose="02040503050406030204" pitchFamily="18" charset="0"/>
                          </a:rPr>
                          <m:t>　</m:t>
                        </m:r>
                        <m:r>
                          <a:rPr lang="en-US" altLang="zh-TW" sz="2400" i="1" smtClean="0">
                            <a:solidFill>
                              <a:srgbClr val="00B050"/>
                            </a:solidFill>
                            <a:latin typeface="Cambria Math" panose="02040503050406030204" pitchFamily="18" charset="0"/>
                          </a:rPr>
                          <m:t>𝑎</m:t>
                        </m:r>
                        <m:r>
                          <a:rPr lang="en-US" altLang="zh-TW" sz="2400" i="1" smtClean="0">
                            <a:solidFill>
                              <a:srgbClr val="00B050"/>
                            </a:solidFill>
                            <a:latin typeface="Cambria Math" panose="02040503050406030204" pitchFamily="18" charset="0"/>
                          </a:rPr>
                          <m:t> </m:t>
                        </m:r>
                        <m:r>
                          <a:rPr lang="en-US" altLang="zh-TW" sz="2400" i="1" smtClean="0">
                            <a:solidFill>
                              <a:srgbClr val="00B050"/>
                            </a:solidFill>
                            <a:latin typeface="Cambria Math" panose="02040503050406030204" pitchFamily="18" charset="0"/>
                          </a:rPr>
                          <m:t>𝑏</m:t>
                        </m:r>
                        <m:d>
                          <m:dPr>
                            <m:ctrlPr>
                              <a:rPr lang="en-US" altLang="zh-TW" sz="2400" i="1">
                                <a:solidFill>
                                  <a:srgbClr val="00B050"/>
                                </a:solidFill>
                                <a:latin typeface="Cambria Math" panose="02040503050406030204" pitchFamily="18" charset="0"/>
                              </a:rPr>
                            </m:ctrlPr>
                          </m:dPr>
                          <m:e>
                            <m:sSub>
                              <m:sSubPr>
                                <m:ctrlPr>
                                  <a:rPr lang="en-US" altLang="zh-TW" sz="2400" i="1">
                                    <a:solidFill>
                                      <a:srgbClr val="00B050"/>
                                    </a:solidFill>
                                    <a:latin typeface="Cambria Math" panose="02040503050406030204" pitchFamily="18" charset="0"/>
                                  </a:rPr>
                                </m:ctrlPr>
                              </m:sSubPr>
                              <m:e>
                                <m:r>
                                  <a:rPr lang="en-US" altLang="zh-TW" sz="2400" b="0" i="1" smtClean="0">
                                    <a:solidFill>
                                      <a:srgbClr val="00B050"/>
                                    </a:solidFill>
                                    <a:latin typeface="Cambria Math" panose="02040503050406030204" pitchFamily="18" charset="0"/>
                                  </a:rPr>
                                  <m:t>𝐵</m:t>
                                </m:r>
                              </m:e>
                              <m:sub>
                                <m:r>
                                  <a:rPr lang="en-US" altLang="zh-TW" sz="2400" i="1">
                                    <a:solidFill>
                                      <a:srgbClr val="00B050"/>
                                    </a:solidFill>
                                    <a:latin typeface="Cambria Math" panose="02040503050406030204" pitchFamily="18" charset="0"/>
                                  </a:rPr>
                                  <m:t>2</m:t>
                                </m:r>
                              </m:sub>
                            </m:sSub>
                          </m:e>
                        </m:d>
                      </m:oMath>
                    </m:oMathPara>
                  </a14:m>
                  <a:endParaRPr lang="zh-TW" altLang="en-US" sz="2400" dirty="0"/>
                </a:p>
              </p:txBody>
            </p:sp>
          </mc:Choice>
          <mc:Fallback xmlns="">
            <p:sp>
              <p:nvSpPr>
                <p:cNvPr id="10" name="矩形 9">
                  <a:extLst>
                    <a:ext uri="{FF2B5EF4-FFF2-40B4-BE49-F238E27FC236}">
                      <a16:creationId xmlns:a16="http://schemas.microsoft.com/office/drawing/2014/main" id="{9E87AD78-5A05-4DDC-B938-73A099BCC9EE}"/>
                    </a:ext>
                  </a:extLst>
                </p:cNvPr>
                <p:cNvSpPr>
                  <a:spLocks noRot="1" noChangeAspect="1" noMove="1" noResize="1" noEditPoints="1" noAdjustHandles="1" noChangeArrowheads="1" noChangeShapeType="1" noTextEdit="1"/>
                </p:cNvSpPr>
                <p:nvPr/>
              </p:nvSpPr>
              <p:spPr>
                <a:xfrm>
                  <a:off x="3665361" y="5615408"/>
                  <a:ext cx="4320773" cy="506742"/>
                </a:xfrm>
                <a:prstGeom prst="rect">
                  <a:avLst/>
                </a:prstGeom>
                <a:blipFill>
                  <a:blip r:embed="rId10"/>
                  <a:stretch>
                    <a:fillRect/>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57607E13-C9B5-41BB-8879-E22E77FDFC4C}"/>
                  </a:ext>
                </a:extLst>
              </p:cNvPr>
              <p:cNvSpPr/>
              <p:nvPr/>
            </p:nvSpPr>
            <p:spPr>
              <a:xfrm>
                <a:off x="5478141" y="3045883"/>
                <a:ext cx="523875" cy="461665"/>
              </a:xfrm>
              <a:prstGeom prst="rect">
                <a:avLst/>
              </a:prstGeom>
              <a:solidFill>
                <a:schemeClr val="bg1"/>
              </a:solid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400" b="1" i="1" smtClean="0">
                          <a:solidFill>
                            <a:srgbClr val="00B050"/>
                          </a:solidFill>
                          <a:latin typeface="Cambria Math" panose="02040503050406030204" pitchFamily="18" charset="0"/>
                        </a:rPr>
                        <m:t>𝒂</m:t>
                      </m:r>
                      <m:r>
                        <a:rPr lang="en-US" altLang="zh-TW" sz="2400" b="1" i="1" smtClean="0">
                          <a:solidFill>
                            <a:srgbClr val="00B050"/>
                          </a:solidFill>
                          <a:latin typeface="Cambria Math" panose="02040503050406030204" pitchFamily="18" charset="0"/>
                        </a:rPr>
                        <m:t> </m:t>
                      </m:r>
                      <m:r>
                        <a:rPr lang="en-US" altLang="zh-TW" sz="2400" b="1" i="1" smtClean="0">
                          <a:solidFill>
                            <a:srgbClr val="00B050"/>
                          </a:solidFill>
                          <a:latin typeface="Cambria Math" panose="02040503050406030204" pitchFamily="18" charset="0"/>
                        </a:rPr>
                        <m:t>𝒃</m:t>
                      </m:r>
                    </m:oMath>
                  </m:oMathPara>
                </a14:m>
                <a:endParaRPr lang="zh-TW" altLang="en-US" sz="2400" b="1" dirty="0">
                  <a:solidFill>
                    <a:srgbClr val="00B050"/>
                  </a:solidFill>
                </a:endParaRPr>
              </a:p>
            </p:txBody>
          </p:sp>
        </mc:Choice>
        <mc:Fallback xmlns="">
          <p:sp>
            <p:nvSpPr>
              <p:cNvPr id="30" name="矩形 29">
                <a:extLst>
                  <a:ext uri="{FF2B5EF4-FFF2-40B4-BE49-F238E27FC236}">
                    <a16:creationId xmlns:a16="http://schemas.microsoft.com/office/drawing/2014/main" id="{57607E13-C9B5-41BB-8879-E22E77FDFC4C}"/>
                  </a:ext>
                </a:extLst>
              </p:cNvPr>
              <p:cNvSpPr>
                <a:spLocks noRot="1" noChangeAspect="1" noMove="1" noResize="1" noEditPoints="1" noAdjustHandles="1" noChangeArrowheads="1" noChangeShapeType="1" noTextEdit="1"/>
              </p:cNvSpPr>
              <p:nvPr/>
            </p:nvSpPr>
            <p:spPr>
              <a:xfrm>
                <a:off x="5478141" y="3045883"/>
                <a:ext cx="523875" cy="461665"/>
              </a:xfrm>
              <a:prstGeom prst="rect">
                <a:avLst/>
              </a:prstGeom>
              <a:blipFill>
                <a:blip r:embed="rId11"/>
                <a:stretch>
                  <a:fillRect r="-22093"/>
                </a:stretch>
              </a:blipFill>
              <a:ln>
                <a:no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261FF89B-A686-47F3-BFE3-FAB2CD4E39D9}"/>
                  </a:ext>
                </a:extLst>
              </p:cNvPr>
              <p:cNvSpPr/>
              <p:nvPr/>
            </p:nvSpPr>
            <p:spPr>
              <a:xfrm>
                <a:off x="6679540" y="3637981"/>
                <a:ext cx="523875" cy="461665"/>
              </a:xfrm>
              <a:prstGeom prst="rect">
                <a:avLst/>
              </a:prstGeom>
              <a:solidFill>
                <a:schemeClr val="bg1"/>
              </a:solid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400" b="1" i="1" smtClean="0">
                          <a:solidFill>
                            <a:srgbClr val="00B050"/>
                          </a:solidFill>
                          <a:latin typeface="Cambria Math" panose="02040503050406030204" pitchFamily="18" charset="0"/>
                        </a:rPr>
                        <m:t>𝒂</m:t>
                      </m:r>
                      <m:r>
                        <a:rPr lang="en-US" altLang="zh-TW" sz="2400" b="1" i="1" smtClean="0">
                          <a:solidFill>
                            <a:srgbClr val="00B050"/>
                          </a:solidFill>
                          <a:latin typeface="Cambria Math" panose="02040503050406030204" pitchFamily="18" charset="0"/>
                        </a:rPr>
                        <m:t> </m:t>
                      </m:r>
                      <m:r>
                        <a:rPr lang="en-US" altLang="zh-TW" sz="2400" b="1" i="1" smtClean="0">
                          <a:solidFill>
                            <a:srgbClr val="00B050"/>
                          </a:solidFill>
                          <a:latin typeface="Cambria Math" panose="02040503050406030204" pitchFamily="18" charset="0"/>
                        </a:rPr>
                        <m:t>𝒃</m:t>
                      </m:r>
                    </m:oMath>
                  </m:oMathPara>
                </a14:m>
                <a:endParaRPr lang="zh-TW" altLang="en-US" sz="2400" b="1" dirty="0">
                  <a:solidFill>
                    <a:srgbClr val="00B050"/>
                  </a:solidFill>
                </a:endParaRPr>
              </a:p>
            </p:txBody>
          </p:sp>
        </mc:Choice>
        <mc:Fallback xmlns="">
          <p:sp>
            <p:nvSpPr>
              <p:cNvPr id="31" name="矩形 30">
                <a:extLst>
                  <a:ext uri="{FF2B5EF4-FFF2-40B4-BE49-F238E27FC236}">
                    <a16:creationId xmlns:a16="http://schemas.microsoft.com/office/drawing/2014/main" id="{261FF89B-A686-47F3-BFE3-FAB2CD4E39D9}"/>
                  </a:ext>
                </a:extLst>
              </p:cNvPr>
              <p:cNvSpPr>
                <a:spLocks noRot="1" noChangeAspect="1" noMove="1" noResize="1" noEditPoints="1" noAdjustHandles="1" noChangeArrowheads="1" noChangeShapeType="1" noTextEdit="1"/>
              </p:cNvSpPr>
              <p:nvPr/>
            </p:nvSpPr>
            <p:spPr>
              <a:xfrm>
                <a:off x="6679540" y="3637981"/>
                <a:ext cx="523875" cy="461665"/>
              </a:xfrm>
              <a:prstGeom prst="rect">
                <a:avLst/>
              </a:prstGeom>
              <a:blipFill>
                <a:blip r:embed="rId12"/>
                <a:stretch>
                  <a:fillRect r="-22093"/>
                </a:stretch>
              </a:blipFill>
              <a:ln>
                <a:noFill/>
              </a:ln>
            </p:spPr>
            <p:txBody>
              <a:bodyPr/>
              <a:lstStyle/>
              <a:p>
                <a:r>
                  <a:rPr lang="zh-TW" altLang="en-US">
                    <a:noFill/>
                  </a:rPr>
                  <a:t> </a:t>
                </a:r>
              </a:p>
            </p:txBody>
          </p:sp>
        </mc:Fallback>
      </mc:AlternateContent>
    </p:spTree>
    <p:extLst>
      <p:ext uri="{BB962C8B-B14F-4D97-AF65-F5344CB8AC3E}">
        <p14:creationId xmlns:p14="http://schemas.microsoft.com/office/powerpoint/2010/main" val="308723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1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1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30" grpId="0" animBg="1"/>
      <p:bldP spid="3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Suffix tree of </a:t>
            </a:r>
            <a:r>
              <a:rPr lang="en-US" altLang="zh-TW" sz="2800" dirty="0">
                <a:latin typeface="Times New Roman" panose="02020603050405020304" pitchFamily="18" charset="0"/>
                <a:cs typeface="Times New Roman" panose="02020603050405020304" pitchFamily="18" charset="0"/>
              </a:rPr>
              <a:t>S$T#</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7</a:t>
            </a:fld>
            <a:endParaRPr lang="zh-TW" altLang="en-US" dirty="0"/>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CD5CB7F7-32D5-42A6-A8AC-2E6FCAF5BD68}"/>
                  </a:ext>
                </a:extLst>
              </p:cNvPr>
              <p:cNvSpPr/>
              <p:nvPr/>
            </p:nvSpPr>
            <p:spPr>
              <a:xfrm>
                <a:off x="5784402" y="259032"/>
                <a:ext cx="244105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𝑆</m:t>
                      </m:r>
                      <m:r>
                        <a:rPr lang="en-US" altLang="zh-TW" sz="2400" b="0" i="1" smtClean="0">
                          <a:latin typeface="Cambria Math" panose="02040503050406030204" pitchFamily="18" charset="0"/>
                        </a:rPr>
                        <m:t>=</m:t>
                      </m:r>
                      <m:r>
                        <a:rPr lang="en-US" altLang="zh-TW" sz="2400" i="1">
                          <a:latin typeface="Cambria Math" panose="02040503050406030204" pitchFamily="18" charset="0"/>
                        </a:rPr>
                        <m:t>𝑎</m:t>
                      </m:r>
                      <m:r>
                        <a:rPr lang="en-US" altLang="zh-TW" sz="2400" i="1">
                          <a:latin typeface="Cambria Math" panose="02040503050406030204" pitchFamily="18" charset="0"/>
                        </a:rPr>
                        <m:t> </m:t>
                      </m:r>
                      <m:r>
                        <a:rPr lang="en-US" altLang="zh-TW" sz="2400" i="1" smtClean="0">
                          <a:solidFill>
                            <a:schemeClr val="tx1"/>
                          </a:solidFill>
                          <a:latin typeface="Cambria Math" panose="02040503050406030204" pitchFamily="18" charset="0"/>
                        </a:rPr>
                        <m:t>𝑏</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𝑏</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𝑐</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oMath>
                  </m:oMathPara>
                </a14:m>
                <a:endParaRPr lang="zh-TW" altLang="en-US" sz="2400" dirty="0"/>
              </a:p>
            </p:txBody>
          </p:sp>
        </mc:Choice>
        <mc:Fallback xmlns="">
          <p:sp>
            <p:nvSpPr>
              <p:cNvPr id="13" name="矩形 12">
                <a:extLst>
                  <a:ext uri="{FF2B5EF4-FFF2-40B4-BE49-F238E27FC236}">
                    <a16:creationId xmlns:a16="http://schemas.microsoft.com/office/drawing/2014/main" id="{CD5CB7F7-32D5-42A6-A8AC-2E6FCAF5BD68}"/>
                  </a:ext>
                </a:extLst>
              </p:cNvPr>
              <p:cNvSpPr>
                <a:spLocks noRot="1" noChangeAspect="1" noMove="1" noResize="1" noEditPoints="1" noAdjustHandles="1" noChangeArrowheads="1" noChangeShapeType="1" noTextEdit="1"/>
              </p:cNvSpPr>
              <p:nvPr/>
            </p:nvSpPr>
            <p:spPr>
              <a:xfrm>
                <a:off x="5784402" y="259032"/>
                <a:ext cx="2441053" cy="461665"/>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7FCB4222-107A-472D-AAF4-F27ABF190BBC}"/>
                  </a:ext>
                </a:extLst>
              </p:cNvPr>
              <p:cNvSpPr/>
              <p:nvPr/>
            </p:nvSpPr>
            <p:spPr>
              <a:xfrm>
                <a:off x="5784402" y="690301"/>
                <a:ext cx="245939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𝑇</m:t>
                      </m:r>
                      <m:r>
                        <a:rPr lang="en-US" altLang="zh-TW" sz="2400" i="1">
                          <a:latin typeface="Cambria Math" panose="02040503050406030204" pitchFamily="18" charset="0"/>
                        </a:rPr>
                        <m:t>=</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𝑏</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𝑐</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𝑏</m:t>
                      </m:r>
                    </m:oMath>
                  </m:oMathPara>
                </a14:m>
                <a:endParaRPr lang="zh-TW" altLang="en-US" sz="2400" i="1" dirty="0">
                  <a:latin typeface="Cambria Math" panose="02040503050406030204" pitchFamily="18" charset="0"/>
                </a:endParaRPr>
              </a:p>
            </p:txBody>
          </p:sp>
        </mc:Choice>
        <mc:Fallback xmlns="">
          <p:sp>
            <p:nvSpPr>
              <p:cNvPr id="14" name="矩形 13">
                <a:extLst>
                  <a:ext uri="{FF2B5EF4-FFF2-40B4-BE49-F238E27FC236}">
                    <a16:creationId xmlns:a16="http://schemas.microsoft.com/office/drawing/2014/main" id="{7FCB4222-107A-472D-AAF4-F27ABF190BBC}"/>
                  </a:ext>
                </a:extLst>
              </p:cNvPr>
              <p:cNvSpPr>
                <a:spLocks noRot="1" noChangeAspect="1" noMove="1" noResize="1" noEditPoints="1" noAdjustHandles="1" noChangeArrowheads="1" noChangeShapeType="1" noTextEdit="1"/>
              </p:cNvSpPr>
              <p:nvPr/>
            </p:nvSpPr>
            <p:spPr>
              <a:xfrm>
                <a:off x="5784402" y="690301"/>
                <a:ext cx="2459391" cy="461665"/>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A847F6DA-C38F-43ED-9623-D402D3A60028}"/>
                  </a:ext>
                </a:extLst>
              </p:cNvPr>
              <p:cNvSpPr/>
              <p:nvPr/>
            </p:nvSpPr>
            <p:spPr>
              <a:xfrm>
                <a:off x="5784402" y="1085581"/>
                <a:ext cx="2858796" cy="461665"/>
              </a:xfrm>
              <a:prstGeom prst="rect">
                <a:avLst/>
              </a:prstGeom>
            </p:spPr>
            <p:txBody>
              <a:bodyPr wrap="none">
                <a:spAutoFit/>
              </a:bodyPr>
              <a:lstStyle/>
              <a:p>
                <a14:m>
                  <m:oMath xmlns:m="http://schemas.openxmlformats.org/officeDocument/2006/math">
                    <m:r>
                      <a:rPr lang="en-US" altLang="zh-TW" sz="2400" i="1" smtClean="0">
                        <a:latin typeface="Cambria Math" panose="02040503050406030204" pitchFamily="18" charset="0"/>
                      </a:rPr>
                      <m:t>𝑎𝑏𝑎𝑎𝑏𝑐𝑎</m:t>
                    </m:r>
                    <m:r>
                      <a:rPr lang="en-US" altLang="zh-TW" sz="2400" b="0" i="1" smtClean="0">
                        <a:latin typeface="Cambria Math" panose="02040503050406030204" pitchFamily="18" charset="0"/>
                      </a:rPr>
                      <m:t>$</m:t>
                    </m:r>
                    <m:r>
                      <a:rPr lang="en-US" altLang="zh-TW" sz="2400" i="1">
                        <a:latin typeface="Cambria Math" panose="02040503050406030204" pitchFamily="18" charset="0"/>
                      </a:rPr>
                      <m:t>𝑎𝑎𝑏𝑐𝑎𝑎𝑏</m:t>
                    </m:r>
                  </m:oMath>
                </a14:m>
                <a:r>
                  <a:rPr lang="en-US" altLang="zh-TW" sz="2400" dirty="0">
                    <a:latin typeface="Cambria Math" panose="02040503050406030204" pitchFamily="18" charset="0"/>
                  </a:rPr>
                  <a:t>#</a:t>
                </a:r>
                <a:endParaRPr lang="zh-TW" altLang="en-US" sz="2400" dirty="0">
                  <a:latin typeface="Cambria Math" panose="02040503050406030204" pitchFamily="18" charset="0"/>
                </a:endParaRPr>
              </a:p>
            </p:txBody>
          </p:sp>
        </mc:Choice>
        <mc:Fallback xmlns="">
          <p:sp>
            <p:nvSpPr>
              <p:cNvPr id="24" name="矩形 23">
                <a:extLst>
                  <a:ext uri="{FF2B5EF4-FFF2-40B4-BE49-F238E27FC236}">
                    <a16:creationId xmlns:a16="http://schemas.microsoft.com/office/drawing/2014/main" id="{A847F6DA-C38F-43ED-9623-D402D3A60028}"/>
                  </a:ext>
                </a:extLst>
              </p:cNvPr>
              <p:cNvSpPr>
                <a:spLocks noRot="1" noChangeAspect="1" noMove="1" noResize="1" noEditPoints="1" noAdjustHandles="1" noChangeArrowheads="1" noChangeShapeType="1" noTextEdit="1"/>
              </p:cNvSpPr>
              <p:nvPr/>
            </p:nvSpPr>
            <p:spPr>
              <a:xfrm>
                <a:off x="5784402" y="1085581"/>
                <a:ext cx="2858796" cy="461665"/>
              </a:xfrm>
              <a:prstGeom prst="rect">
                <a:avLst/>
              </a:prstGeom>
              <a:blipFill>
                <a:blip r:embed="rId5"/>
                <a:stretch>
                  <a:fillRect l="-640" t="-10526" r="-2132" b="-28947"/>
                </a:stretch>
              </a:blipFill>
            </p:spPr>
            <p:txBody>
              <a:bodyPr/>
              <a:lstStyle/>
              <a:p>
                <a:r>
                  <a:rPr lang="zh-TW" altLang="en-US">
                    <a:noFill/>
                  </a:rPr>
                  <a:t> </a:t>
                </a:r>
              </a:p>
            </p:txBody>
          </p:sp>
        </mc:Fallback>
      </mc:AlternateContent>
      <p:sp>
        <p:nvSpPr>
          <p:cNvPr id="8" name="橢圓 7">
            <a:extLst>
              <a:ext uri="{FF2B5EF4-FFF2-40B4-BE49-F238E27FC236}">
                <a16:creationId xmlns:a16="http://schemas.microsoft.com/office/drawing/2014/main" id="{43A236C3-A529-4769-ACB0-62F060344671}"/>
              </a:ext>
            </a:extLst>
          </p:cNvPr>
          <p:cNvSpPr/>
          <p:nvPr/>
        </p:nvSpPr>
        <p:spPr>
          <a:xfrm>
            <a:off x="3885079" y="1290255"/>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7B387093-4E4D-4664-A156-60B8AF4FC121}"/>
                  </a:ext>
                </a:extLst>
              </p:cNvPr>
              <p:cNvSpPr/>
              <p:nvPr/>
            </p:nvSpPr>
            <p:spPr>
              <a:xfrm>
                <a:off x="2414834" y="2775208"/>
                <a:ext cx="3714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𝑏</m:t>
                      </m:r>
                    </m:oMath>
                  </m:oMathPara>
                </a14:m>
                <a:endParaRPr lang="zh-TW" altLang="en-US" dirty="0"/>
              </a:p>
            </p:txBody>
          </p:sp>
        </mc:Choice>
        <mc:Fallback xmlns="">
          <p:sp>
            <p:nvSpPr>
              <p:cNvPr id="9" name="矩形 8">
                <a:extLst>
                  <a:ext uri="{FF2B5EF4-FFF2-40B4-BE49-F238E27FC236}">
                    <a16:creationId xmlns:a16="http://schemas.microsoft.com/office/drawing/2014/main" id="{7B387093-4E4D-4664-A156-60B8AF4FC121}"/>
                  </a:ext>
                </a:extLst>
              </p:cNvPr>
              <p:cNvSpPr>
                <a:spLocks noRot="1" noChangeAspect="1" noMove="1" noResize="1" noEditPoints="1" noAdjustHandles="1" noChangeArrowheads="1" noChangeShapeType="1" noTextEdit="1"/>
              </p:cNvSpPr>
              <p:nvPr/>
            </p:nvSpPr>
            <p:spPr>
              <a:xfrm>
                <a:off x="2414834" y="2775208"/>
                <a:ext cx="371448" cy="369332"/>
              </a:xfrm>
              <a:prstGeom prst="rect">
                <a:avLst/>
              </a:prstGeom>
              <a:blipFill>
                <a:blip r:embed="rId6"/>
                <a:stretch>
                  <a:fillRect/>
                </a:stretch>
              </a:blipFill>
            </p:spPr>
            <p:txBody>
              <a:bodyPr/>
              <a:lstStyle/>
              <a:p>
                <a:r>
                  <a:rPr lang="zh-TW" altLang="en-US">
                    <a:noFill/>
                  </a:rPr>
                  <a:t> </a:t>
                </a:r>
              </a:p>
            </p:txBody>
          </p:sp>
        </mc:Fallback>
      </mc:AlternateContent>
      <p:cxnSp>
        <p:nvCxnSpPr>
          <p:cNvPr id="12" name="直線接點 11">
            <a:extLst>
              <a:ext uri="{FF2B5EF4-FFF2-40B4-BE49-F238E27FC236}">
                <a16:creationId xmlns:a16="http://schemas.microsoft.com/office/drawing/2014/main" id="{4F3F4CE9-2B9C-432E-ABB5-F217F4D5A933}"/>
              </a:ext>
            </a:extLst>
          </p:cNvPr>
          <p:cNvCxnSpPr>
            <a:cxnSpLocks/>
            <a:stCxn id="8" idx="3"/>
            <a:endCxn id="29" idx="6"/>
          </p:cNvCxnSpPr>
          <p:nvPr/>
        </p:nvCxnSpPr>
        <p:spPr>
          <a:xfrm flipH="1">
            <a:off x="2860899" y="1422639"/>
            <a:ext cx="1046893" cy="103442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9" name="橢圓 28">
            <a:extLst>
              <a:ext uri="{FF2B5EF4-FFF2-40B4-BE49-F238E27FC236}">
                <a16:creationId xmlns:a16="http://schemas.microsoft.com/office/drawing/2014/main" id="{0F9D8340-8B1A-4810-BBCE-E205AC681214}"/>
              </a:ext>
            </a:extLst>
          </p:cNvPr>
          <p:cNvSpPr/>
          <p:nvPr/>
        </p:nvSpPr>
        <p:spPr>
          <a:xfrm>
            <a:off x="2705802" y="2379510"/>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4" name="直線接點 33">
            <a:extLst>
              <a:ext uri="{FF2B5EF4-FFF2-40B4-BE49-F238E27FC236}">
                <a16:creationId xmlns:a16="http://schemas.microsoft.com/office/drawing/2014/main" id="{1649F97F-D544-4DF5-85FF-AD971D8DC1CF}"/>
              </a:ext>
            </a:extLst>
          </p:cNvPr>
          <p:cNvCxnSpPr>
            <a:cxnSpLocks/>
            <a:endCxn id="37" idx="7"/>
          </p:cNvCxnSpPr>
          <p:nvPr/>
        </p:nvCxnSpPr>
        <p:spPr>
          <a:xfrm flipH="1">
            <a:off x="2174921" y="2440423"/>
            <a:ext cx="640710" cy="782712"/>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0BF4AA99-92DD-46C2-9088-E2179C699FB6}"/>
                  </a:ext>
                </a:extLst>
              </p:cNvPr>
              <p:cNvSpPr/>
              <p:nvPr/>
            </p:nvSpPr>
            <p:spPr>
              <a:xfrm>
                <a:off x="2984109" y="1773764"/>
                <a:ext cx="3714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i="1" smtClean="0">
                          <a:latin typeface="Cambria Math" panose="02040503050406030204" pitchFamily="18" charset="0"/>
                        </a:rPr>
                        <m:t>𝑎</m:t>
                      </m:r>
                    </m:oMath>
                  </m:oMathPara>
                </a14:m>
                <a:endParaRPr lang="zh-TW" altLang="en-US" dirty="0"/>
              </a:p>
            </p:txBody>
          </p:sp>
        </mc:Choice>
        <mc:Fallback xmlns="">
          <p:sp>
            <p:nvSpPr>
              <p:cNvPr id="35" name="矩形 34">
                <a:extLst>
                  <a:ext uri="{FF2B5EF4-FFF2-40B4-BE49-F238E27FC236}">
                    <a16:creationId xmlns:a16="http://schemas.microsoft.com/office/drawing/2014/main" id="{0BF4AA99-92DD-46C2-9088-E2179C699FB6}"/>
                  </a:ext>
                </a:extLst>
              </p:cNvPr>
              <p:cNvSpPr>
                <a:spLocks noRot="1" noChangeAspect="1" noMove="1" noResize="1" noEditPoints="1" noAdjustHandles="1" noChangeArrowheads="1" noChangeShapeType="1" noTextEdit="1"/>
              </p:cNvSpPr>
              <p:nvPr/>
            </p:nvSpPr>
            <p:spPr>
              <a:xfrm>
                <a:off x="2984109" y="1773764"/>
                <a:ext cx="371448" cy="369332"/>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矩形 35">
                <a:extLst>
                  <a:ext uri="{FF2B5EF4-FFF2-40B4-BE49-F238E27FC236}">
                    <a16:creationId xmlns:a16="http://schemas.microsoft.com/office/drawing/2014/main" id="{43782A3F-618E-4F81-A42C-DA8676CF1D7E}"/>
                  </a:ext>
                </a:extLst>
              </p:cNvPr>
              <p:cNvSpPr/>
              <p:nvPr/>
            </p:nvSpPr>
            <p:spPr>
              <a:xfrm>
                <a:off x="1270195" y="3691665"/>
                <a:ext cx="68723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𝑎</m:t>
                      </m:r>
                      <m:r>
                        <a:rPr lang="en-US" altLang="zh-TW" b="0" i="1" smtClean="0">
                          <a:latin typeface="Cambria Math" panose="02040503050406030204" pitchFamily="18" charset="0"/>
                        </a:rPr>
                        <m:t>..#</m:t>
                      </m:r>
                    </m:oMath>
                  </m:oMathPara>
                </a14:m>
                <a:endParaRPr lang="zh-TW" altLang="en-US" dirty="0"/>
              </a:p>
            </p:txBody>
          </p:sp>
        </mc:Choice>
        <mc:Fallback xmlns="">
          <p:sp>
            <p:nvSpPr>
              <p:cNvPr id="36" name="矩形 35">
                <a:extLst>
                  <a:ext uri="{FF2B5EF4-FFF2-40B4-BE49-F238E27FC236}">
                    <a16:creationId xmlns:a16="http://schemas.microsoft.com/office/drawing/2014/main" id="{43782A3F-618E-4F81-A42C-DA8676CF1D7E}"/>
                  </a:ext>
                </a:extLst>
              </p:cNvPr>
              <p:cNvSpPr>
                <a:spLocks noRot="1" noChangeAspect="1" noMove="1" noResize="1" noEditPoints="1" noAdjustHandles="1" noChangeArrowheads="1" noChangeShapeType="1" noTextEdit="1"/>
              </p:cNvSpPr>
              <p:nvPr/>
            </p:nvSpPr>
            <p:spPr>
              <a:xfrm>
                <a:off x="1270195" y="3691665"/>
                <a:ext cx="687239" cy="369332"/>
              </a:xfrm>
              <a:prstGeom prst="rect">
                <a:avLst/>
              </a:prstGeom>
              <a:blipFill>
                <a:blip r:embed="rId8"/>
                <a:stretch>
                  <a:fillRect/>
                </a:stretch>
              </a:blipFill>
            </p:spPr>
            <p:txBody>
              <a:bodyPr/>
              <a:lstStyle/>
              <a:p>
                <a:r>
                  <a:rPr lang="zh-TW" altLang="en-US">
                    <a:noFill/>
                  </a:rPr>
                  <a:t> </a:t>
                </a:r>
              </a:p>
            </p:txBody>
          </p:sp>
        </mc:Fallback>
      </mc:AlternateContent>
      <p:sp>
        <p:nvSpPr>
          <p:cNvPr id="37" name="橢圓 36">
            <a:extLst>
              <a:ext uri="{FF2B5EF4-FFF2-40B4-BE49-F238E27FC236}">
                <a16:creationId xmlns:a16="http://schemas.microsoft.com/office/drawing/2014/main" id="{63451D25-A6A3-42C0-AA46-D8725C41A022}"/>
              </a:ext>
            </a:extLst>
          </p:cNvPr>
          <p:cNvSpPr/>
          <p:nvPr/>
        </p:nvSpPr>
        <p:spPr>
          <a:xfrm>
            <a:off x="2042537" y="3200422"/>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8" name="直線接點 37">
            <a:extLst>
              <a:ext uri="{FF2B5EF4-FFF2-40B4-BE49-F238E27FC236}">
                <a16:creationId xmlns:a16="http://schemas.microsoft.com/office/drawing/2014/main" id="{2F8735E3-A671-46E9-AE7A-BCAFCF85BD1F}"/>
              </a:ext>
            </a:extLst>
          </p:cNvPr>
          <p:cNvCxnSpPr>
            <a:cxnSpLocks/>
            <a:stCxn id="37" idx="3"/>
            <a:endCxn id="39" idx="7"/>
          </p:cNvCxnSpPr>
          <p:nvPr/>
        </p:nvCxnSpPr>
        <p:spPr>
          <a:xfrm flipH="1">
            <a:off x="1778524" y="3332806"/>
            <a:ext cx="286726" cy="783904"/>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24" name="群組 223">
            <a:extLst>
              <a:ext uri="{FF2B5EF4-FFF2-40B4-BE49-F238E27FC236}">
                <a16:creationId xmlns:a16="http://schemas.microsoft.com/office/drawing/2014/main" id="{82ABC87B-205A-4A8B-BFE5-1A4BD8629F9D}"/>
              </a:ext>
            </a:extLst>
          </p:cNvPr>
          <p:cNvGrpSpPr/>
          <p:nvPr/>
        </p:nvGrpSpPr>
        <p:grpSpPr>
          <a:xfrm>
            <a:off x="1536410" y="4093997"/>
            <a:ext cx="365805" cy="484504"/>
            <a:chOff x="1450155" y="3846728"/>
            <a:chExt cx="365805" cy="484504"/>
          </a:xfrm>
        </p:grpSpPr>
        <p:sp>
          <p:nvSpPr>
            <p:cNvPr id="39" name="橢圓 38">
              <a:extLst>
                <a:ext uri="{FF2B5EF4-FFF2-40B4-BE49-F238E27FC236}">
                  <a16:creationId xmlns:a16="http://schemas.microsoft.com/office/drawing/2014/main" id="{3D23655E-6CC0-48AC-A299-51A8C0C09951}"/>
                </a:ext>
              </a:extLst>
            </p:cNvPr>
            <p:cNvSpPr/>
            <p:nvPr/>
          </p:nvSpPr>
          <p:spPr>
            <a:xfrm>
              <a:off x="1559885" y="3846728"/>
              <a:ext cx="155097" cy="155097"/>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2" name="矩形 41">
                  <a:extLst>
                    <a:ext uri="{FF2B5EF4-FFF2-40B4-BE49-F238E27FC236}">
                      <a16:creationId xmlns:a16="http://schemas.microsoft.com/office/drawing/2014/main" id="{8B7868D5-7C3E-4C26-9F76-61F9CB71009A}"/>
                    </a:ext>
                  </a:extLst>
                </p:cNvPr>
                <p:cNvSpPr/>
                <p:nvPr/>
              </p:nvSpPr>
              <p:spPr>
                <a:xfrm>
                  <a:off x="1450155" y="3961900"/>
                  <a:ext cx="36580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1</m:t>
                        </m:r>
                      </m:oMath>
                    </m:oMathPara>
                  </a14:m>
                  <a:endParaRPr lang="zh-TW" altLang="en-US" dirty="0"/>
                </a:p>
              </p:txBody>
            </p:sp>
          </mc:Choice>
          <mc:Fallback xmlns="">
            <p:sp>
              <p:nvSpPr>
                <p:cNvPr id="42" name="矩形 41">
                  <a:extLst>
                    <a:ext uri="{FF2B5EF4-FFF2-40B4-BE49-F238E27FC236}">
                      <a16:creationId xmlns:a16="http://schemas.microsoft.com/office/drawing/2014/main" id="{8B7868D5-7C3E-4C26-9F76-61F9CB71009A}"/>
                    </a:ext>
                  </a:extLst>
                </p:cNvPr>
                <p:cNvSpPr>
                  <a:spLocks noRot="1" noChangeAspect="1" noMove="1" noResize="1" noEditPoints="1" noAdjustHandles="1" noChangeArrowheads="1" noChangeShapeType="1" noTextEdit="1"/>
                </p:cNvSpPr>
                <p:nvPr/>
              </p:nvSpPr>
              <p:spPr>
                <a:xfrm>
                  <a:off x="1450155" y="3961900"/>
                  <a:ext cx="365805" cy="369332"/>
                </a:xfrm>
                <a:prstGeom prst="rect">
                  <a:avLst/>
                </a:prstGeom>
                <a:blipFill>
                  <a:blip r:embed="rId9"/>
                  <a:stretch>
                    <a:fillRect/>
                  </a:stretch>
                </a:blipFill>
              </p:spPr>
              <p:txBody>
                <a:bodyPr/>
                <a:lstStyle/>
                <a:p>
                  <a:r>
                    <a:rPr lang="zh-TW" altLang="en-US">
                      <a:noFill/>
                    </a:rPr>
                    <a:t> </a:t>
                  </a:r>
                </a:p>
              </p:txBody>
            </p:sp>
          </mc:Fallback>
        </mc:AlternateContent>
      </p:grpSp>
      <p:sp>
        <p:nvSpPr>
          <p:cNvPr id="43" name="橢圓 42">
            <a:extLst>
              <a:ext uri="{FF2B5EF4-FFF2-40B4-BE49-F238E27FC236}">
                <a16:creationId xmlns:a16="http://schemas.microsoft.com/office/drawing/2014/main" id="{56FFDFC4-AF84-4105-B250-802176086715}"/>
              </a:ext>
            </a:extLst>
          </p:cNvPr>
          <p:cNvSpPr/>
          <p:nvPr/>
        </p:nvSpPr>
        <p:spPr>
          <a:xfrm>
            <a:off x="2696114" y="3990973"/>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4" name="矩形 43">
                <a:extLst>
                  <a:ext uri="{FF2B5EF4-FFF2-40B4-BE49-F238E27FC236}">
                    <a16:creationId xmlns:a16="http://schemas.microsoft.com/office/drawing/2014/main" id="{F2F5B7F9-C565-4A70-B747-DCCF812B8464}"/>
                  </a:ext>
                </a:extLst>
              </p:cNvPr>
              <p:cNvSpPr/>
              <p:nvPr/>
            </p:nvSpPr>
            <p:spPr>
              <a:xfrm>
                <a:off x="2421661" y="3417744"/>
                <a:ext cx="3506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𝑐</m:t>
                      </m:r>
                    </m:oMath>
                  </m:oMathPara>
                </a14:m>
                <a:endParaRPr lang="zh-TW" altLang="en-US" dirty="0"/>
              </a:p>
            </p:txBody>
          </p:sp>
        </mc:Choice>
        <mc:Fallback xmlns="">
          <p:sp>
            <p:nvSpPr>
              <p:cNvPr id="44" name="矩形 43">
                <a:extLst>
                  <a:ext uri="{FF2B5EF4-FFF2-40B4-BE49-F238E27FC236}">
                    <a16:creationId xmlns:a16="http://schemas.microsoft.com/office/drawing/2014/main" id="{F2F5B7F9-C565-4A70-B747-DCCF812B8464}"/>
                  </a:ext>
                </a:extLst>
              </p:cNvPr>
              <p:cNvSpPr>
                <a:spLocks noRot="1" noChangeAspect="1" noMove="1" noResize="1" noEditPoints="1" noAdjustHandles="1" noChangeArrowheads="1" noChangeShapeType="1" noTextEdit="1"/>
              </p:cNvSpPr>
              <p:nvPr/>
            </p:nvSpPr>
            <p:spPr>
              <a:xfrm>
                <a:off x="2421661" y="3417744"/>
                <a:ext cx="350672" cy="369332"/>
              </a:xfrm>
              <a:prstGeom prst="rect">
                <a:avLst/>
              </a:prstGeom>
              <a:blipFill>
                <a:blip r:embed="rId10"/>
                <a:stretch>
                  <a:fillRect/>
                </a:stretch>
              </a:blipFill>
            </p:spPr>
            <p:txBody>
              <a:bodyPr/>
              <a:lstStyle/>
              <a:p>
                <a:r>
                  <a:rPr lang="zh-TW" altLang="en-US">
                    <a:noFill/>
                  </a:rPr>
                  <a:t> </a:t>
                </a:r>
              </a:p>
            </p:txBody>
          </p:sp>
        </mc:Fallback>
      </mc:AlternateContent>
      <p:cxnSp>
        <p:nvCxnSpPr>
          <p:cNvPr id="45" name="直線接點 44">
            <a:extLst>
              <a:ext uri="{FF2B5EF4-FFF2-40B4-BE49-F238E27FC236}">
                <a16:creationId xmlns:a16="http://schemas.microsoft.com/office/drawing/2014/main" id="{C957D904-DBF0-4121-B38D-35DAE06C6FE8}"/>
              </a:ext>
            </a:extLst>
          </p:cNvPr>
          <p:cNvCxnSpPr>
            <a:cxnSpLocks/>
            <a:stCxn id="37" idx="3"/>
            <a:endCxn id="52" idx="6"/>
          </p:cNvCxnSpPr>
          <p:nvPr/>
        </p:nvCxnSpPr>
        <p:spPr>
          <a:xfrm flipH="1">
            <a:off x="767315" y="3332806"/>
            <a:ext cx="1297935" cy="666616"/>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2C36027C-F569-42B9-8158-7179BB382850}"/>
              </a:ext>
            </a:extLst>
          </p:cNvPr>
          <p:cNvCxnSpPr>
            <a:cxnSpLocks/>
            <a:stCxn id="37" idx="4"/>
            <a:endCxn id="43" idx="0"/>
          </p:cNvCxnSpPr>
          <p:nvPr/>
        </p:nvCxnSpPr>
        <p:spPr>
          <a:xfrm>
            <a:off x="2120086" y="3355519"/>
            <a:ext cx="653577" cy="635454"/>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矩形 50">
                <a:extLst>
                  <a:ext uri="{FF2B5EF4-FFF2-40B4-BE49-F238E27FC236}">
                    <a16:creationId xmlns:a16="http://schemas.microsoft.com/office/drawing/2014/main" id="{8CA419CB-5BC7-468A-80E8-60CD7AF3C322}"/>
                  </a:ext>
                </a:extLst>
              </p:cNvPr>
              <p:cNvSpPr/>
              <p:nvPr/>
            </p:nvSpPr>
            <p:spPr>
              <a:xfrm>
                <a:off x="1955681" y="1893733"/>
                <a:ext cx="38023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xmlns="">
          <p:sp>
            <p:nvSpPr>
              <p:cNvPr id="51" name="矩形 50">
                <a:extLst>
                  <a:ext uri="{FF2B5EF4-FFF2-40B4-BE49-F238E27FC236}">
                    <a16:creationId xmlns:a16="http://schemas.microsoft.com/office/drawing/2014/main" id="{8CA419CB-5BC7-468A-80E8-60CD7AF3C322}"/>
                  </a:ext>
                </a:extLst>
              </p:cNvPr>
              <p:cNvSpPr>
                <a:spLocks noRot="1" noChangeAspect="1" noMove="1" noResize="1" noEditPoints="1" noAdjustHandles="1" noChangeArrowheads="1" noChangeShapeType="1" noTextEdit="1"/>
              </p:cNvSpPr>
              <p:nvPr/>
            </p:nvSpPr>
            <p:spPr>
              <a:xfrm>
                <a:off x="1955681" y="1893733"/>
                <a:ext cx="380232" cy="369332"/>
              </a:xfrm>
              <a:prstGeom prst="rect">
                <a:avLst/>
              </a:prstGeom>
              <a:blipFill>
                <a:blip r:embed="rId11"/>
                <a:stretch>
                  <a:fillRect/>
                </a:stretch>
              </a:blipFill>
            </p:spPr>
            <p:txBody>
              <a:bodyPr/>
              <a:lstStyle/>
              <a:p>
                <a:r>
                  <a:rPr lang="zh-TW" altLang="en-US">
                    <a:noFill/>
                  </a:rPr>
                  <a:t> </a:t>
                </a:r>
              </a:p>
            </p:txBody>
          </p:sp>
        </mc:Fallback>
      </mc:AlternateContent>
      <p:grpSp>
        <p:nvGrpSpPr>
          <p:cNvPr id="223" name="群組 222">
            <a:extLst>
              <a:ext uri="{FF2B5EF4-FFF2-40B4-BE49-F238E27FC236}">
                <a16:creationId xmlns:a16="http://schemas.microsoft.com/office/drawing/2014/main" id="{835E5A8D-B03E-422A-89E9-E2C08A28C168}"/>
              </a:ext>
            </a:extLst>
          </p:cNvPr>
          <p:cNvGrpSpPr/>
          <p:nvPr/>
        </p:nvGrpSpPr>
        <p:grpSpPr>
          <a:xfrm>
            <a:off x="442743" y="3921873"/>
            <a:ext cx="494046" cy="446880"/>
            <a:chOff x="337918" y="3284191"/>
            <a:chExt cx="494046" cy="446880"/>
          </a:xfrm>
        </p:grpSpPr>
        <p:sp>
          <p:nvSpPr>
            <p:cNvPr id="52" name="橢圓 51">
              <a:extLst>
                <a:ext uri="{FF2B5EF4-FFF2-40B4-BE49-F238E27FC236}">
                  <a16:creationId xmlns:a16="http://schemas.microsoft.com/office/drawing/2014/main" id="{CDFDE725-20F0-4A1F-8817-DD583F6901B7}"/>
                </a:ext>
              </a:extLst>
            </p:cNvPr>
            <p:cNvSpPr/>
            <p:nvPr/>
          </p:nvSpPr>
          <p:spPr>
            <a:xfrm>
              <a:off x="507393" y="3284191"/>
              <a:ext cx="155097" cy="155097"/>
            </a:xfrm>
            <a:prstGeom prst="ellipse">
              <a:avLst/>
            </a:prstGeom>
            <a:solidFill>
              <a:schemeClr val="accent4">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53" name="矩形 52">
                  <a:extLst>
                    <a:ext uri="{FF2B5EF4-FFF2-40B4-BE49-F238E27FC236}">
                      <a16:creationId xmlns:a16="http://schemas.microsoft.com/office/drawing/2014/main" id="{7AE08F26-D6C0-4241-8250-837AB9E351DC}"/>
                    </a:ext>
                  </a:extLst>
                </p:cNvPr>
                <p:cNvSpPr/>
                <p:nvPr/>
              </p:nvSpPr>
              <p:spPr>
                <a:xfrm>
                  <a:off x="337918" y="3361739"/>
                  <a:ext cx="49404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14</m:t>
                        </m:r>
                      </m:oMath>
                    </m:oMathPara>
                  </a14:m>
                  <a:endParaRPr lang="zh-TW" altLang="en-US" dirty="0"/>
                </a:p>
              </p:txBody>
            </p:sp>
          </mc:Choice>
          <mc:Fallback xmlns="">
            <p:sp>
              <p:nvSpPr>
                <p:cNvPr id="53" name="矩形 52">
                  <a:extLst>
                    <a:ext uri="{FF2B5EF4-FFF2-40B4-BE49-F238E27FC236}">
                      <a16:creationId xmlns:a16="http://schemas.microsoft.com/office/drawing/2014/main" id="{7AE08F26-D6C0-4241-8250-837AB9E351DC}"/>
                    </a:ext>
                  </a:extLst>
                </p:cNvPr>
                <p:cNvSpPr>
                  <a:spLocks noRot="1" noChangeAspect="1" noMove="1" noResize="1" noEditPoints="1" noAdjustHandles="1" noChangeArrowheads="1" noChangeShapeType="1" noTextEdit="1"/>
                </p:cNvSpPr>
                <p:nvPr/>
              </p:nvSpPr>
              <p:spPr>
                <a:xfrm>
                  <a:off x="337918" y="3361739"/>
                  <a:ext cx="494046" cy="369332"/>
                </a:xfrm>
                <a:prstGeom prst="rect">
                  <a:avLst/>
                </a:prstGeom>
                <a:blipFill>
                  <a:blip r:embed="rId12"/>
                  <a:stretch>
                    <a:fillRect/>
                  </a:stretch>
                </a:blipFill>
              </p:spPr>
              <p:txBody>
                <a:bodyPr/>
                <a:lstStyle/>
                <a:p>
                  <a:r>
                    <a:rPr lang="zh-TW" altLang="en-US">
                      <a:noFill/>
                    </a:rPr>
                    <a:t> </a:t>
                  </a:r>
                </a:p>
              </p:txBody>
            </p:sp>
          </mc:Fallback>
        </mc:AlternateContent>
      </p:grpSp>
      <p:cxnSp>
        <p:nvCxnSpPr>
          <p:cNvPr id="54" name="直線接點 53">
            <a:extLst>
              <a:ext uri="{FF2B5EF4-FFF2-40B4-BE49-F238E27FC236}">
                <a16:creationId xmlns:a16="http://schemas.microsoft.com/office/drawing/2014/main" id="{52E4D155-6B18-46D4-AB74-A81DFE53E06F}"/>
              </a:ext>
            </a:extLst>
          </p:cNvPr>
          <p:cNvCxnSpPr>
            <a:cxnSpLocks/>
            <a:stCxn id="43" idx="5"/>
            <a:endCxn id="70" idx="0"/>
          </p:cNvCxnSpPr>
          <p:nvPr/>
        </p:nvCxnSpPr>
        <p:spPr>
          <a:xfrm flipH="1">
            <a:off x="2606051" y="4123357"/>
            <a:ext cx="222447" cy="61582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6" name="直線接點 55">
            <a:extLst>
              <a:ext uri="{FF2B5EF4-FFF2-40B4-BE49-F238E27FC236}">
                <a16:creationId xmlns:a16="http://schemas.microsoft.com/office/drawing/2014/main" id="{54257A61-D30E-4824-A3B8-25048693D806}"/>
              </a:ext>
            </a:extLst>
          </p:cNvPr>
          <p:cNvCxnSpPr>
            <a:cxnSpLocks/>
            <a:stCxn id="29" idx="5"/>
            <a:endCxn id="79" idx="1"/>
          </p:cNvCxnSpPr>
          <p:nvPr/>
        </p:nvCxnSpPr>
        <p:spPr>
          <a:xfrm>
            <a:off x="2838186" y="2511894"/>
            <a:ext cx="873335" cy="63627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id="{56BFDE7C-6E92-4B08-9A9D-8DA3EFFD9194}"/>
              </a:ext>
            </a:extLst>
          </p:cNvPr>
          <p:cNvCxnSpPr>
            <a:cxnSpLocks/>
            <a:stCxn id="81" idx="4"/>
            <a:endCxn id="88" idx="0"/>
          </p:cNvCxnSpPr>
          <p:nvPr/>
        </p:nvCxnSpPr>
        <p:spPr>
          <a:xfrm flipH="1">
            <a:off x="3747174" y="4084939"/>
            <a:ext cx="361627" cy="635193"/>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40" name="群組 239">
            <a:extLst>
              <a:ext uri="{FF2B5EF4-FFF2-40B4-BE49-F238E27FC236}">
                <a16:creationId xmlns:a16="http://schemas.microsoft.com/office/drawing/2014/main" id="{C1BF7E0E-D053-4540-889C-3E6A8BA7F6F0}"/>
              </a:ext>
            </a:extLst>
          </p:cNvPr>
          <p:cNvGrpSpPr/>
          <p:nvPr/>
        </p:nvGrpSpPr>
        <p:grpSpPr>
          <a:xfrm>
            <a:off x="1996630" y="5490870"/>
            <a:ext cx="365805" cy="470009"/>
            <a:chOff x="1184568" y="5447865"/>
            <a:chExt cx="365805" cy="470009"/>
          </a:xfrm>
        </p:grpSpPr>
        <p:sp>
          <p:nvSpPr>
            <p:cNvPr id="60" name="橢圓 59">
              <a:extLst>
                <a:ext uri="{FF2B5EF4-FFF2-40B4-BE49-F238E27FC236}">
                  <a16:creationId xmlns:a16="http://schemas.microsoft.com/office/drawing/2014/main" id="{F81BFDD5-6117-430C-8B67-F3D76EBE167E}"/>
                </a:ext>
              </a:extLst>
            </p:cNvPr>
            <p:cNvSpPr/>
            <p:nvPr/>
          </p:nvSpPr>
          <p:spPr>
            <a:xfrm>
              <a:off x="1312529" y="5447865"/>
              <a:ext cx="155097" cy="155097"/>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62" name="矩形 61">
                  <a:extLst>
                    <a:ext uri="{FF2B5EF4-FFF2-40B4-BE49-F238E27FC236}">
                      <a16:creationId xmlns:a16="http://schemas.microsoft.com/office/drawing/2014/main" id="{C3C8E40A-6738-4F03-BB48-14917A2E55A5}"/>
                    </a:ext>
                  </a:extLst>
                </p:cNvPr>
                <p:cNvSpPr/>
                <p:nvPr/>
              </p:nvSpPr>
              <p:spPr>
                <a:xfrm>
                  <a:off x="1184568" y="5548542"/>
                  <a:ext cx="36580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4</m:t>
                        </m:r>
                      </m:oMath>
                    </m:oMathPara>
                  </a14:m>
                  <a:endParaRPr lang="zh-TW" altLang="en-US" dirty="0"/>
                </a:p>
              </p:txBody>
            </p:sp>
          </mc:Choice>
          <mc:Fallback xmlns="">
            <p:sp>
              <p:nvSpPr>
                <p:cNvPr id="62" name="矩形 61">
                  <a:extLst>
                    <a:ext uri="{FF2B5EF4-FFF2-40B4-BE49-F238E27FC236}">
                      <a16:creationId xmlns:a16="http://schemas.microsoft.com/office/drawing/2014/main" id="{C3C8E40A-6738-4F03-BB48-14917A2E55A5}"/>
                    </a:ext>
                  </a:extLst>
                </p:cNvPr>
                <p:cNvSpPr>
                  <a:spLocks noRot="1" noChangeAspect="1" noMove="1" noResize="1" noEditPoints="1" noAdjustHandles="1" noChangeArrowheads="1" noChangeShapeType="1" noTextEdit="1"/>
                </p:cNvSpPr>
                <p:nvPr/>
              </p:nvSpPr>
              <p:spPr>
                <a:xfrm>
                  <a:off x="1184568" y="5548542"/>
                  <a:ext cx="365805" cy="369332"/>
                </a:xfrm>
                <a:prstGeom prst="rect">
                  <a:avLst/>
                </a:prstGeom>
                <a:blipFill>
                  <a:blip r:embed="rId13"/>
                  <a:stretch>
                    <a:fillRect/>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63" name="矩形 62">
                <a:extLst>
                  <a:ext uri="{FF2B5EF4-FFF2-40B4-BE49-F238E27FC236}">
                    <a16:creationId xmlns:a16="http://schemas.microsoft.com/office/drawing/2014/main" id="{F8763A98-0D97-44AC-BBAA-5D0C400398CE}"/>
                  </a:ext>
                </a:extLst>
              </p:cNvPr>
              <p:cNvSpPr/>
              <p:nvPr/>
            </p:nvSpPr>
            <p:spPr>
              <a:xfrm>
                <a:off x="2345281" y="4262967"/>
                <a:ext cx="3714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𝑎</m:t>
                      </m:r>
                    </m:oMath>
                  </m:oMathPara>
                </a14:m>
                <a:endParaRPr lang="zh-TW" altLang="en-US" dirty="0"/>
              </a:p>
            </p:txBody>
          </p:sp>
        </mc:Choice>
        <mc:Fallback xmlns="">
          <p:sp>
            <p:nvSpPr>
              <p:cNvPr id="63" name="矩形 62">
                <a:extLst>
                  <a:ext uri="{FF2B5EF4-FFF2-40B4-BE49-F238E27FC236}">
                    <a16:creationId xmlns:a16="http://schemas.microsoft.com/office/drawing/2014/main" id="{F8763A98-0D97-44AC-BBAA-5D0C400398CE}"/>
                  </a:ext>
                </a:extLst>
              </p:cNvPr>
              <p:cNvSpPr>
                <a:spLocks noRot="1" noChangeAspect="1" noMove="1" noResize="1" noEditPoints="1" noAdjustHandles="1" noChangeArrowheads="1" noChangeShapeType="1" noTextEdit="1"/>
              </p:cNvSpPr>
              <p:nvPr/>
            </p:nvSpPr>
            <p:spPr>
              <a:xfrm>
                <a:off x="2345281" y="4262967"/>
                <a:ext cx="371448" cy="369332"/>
              </a:xfrm>
              <a:prstGeom prst="rect">
                <a:avLst/>
              </a:prstGeom>
              <a:blipFill>
                <a:blip r:embed="rId14"/>
                <a:stretch>
                  <a:fillRect/>
                </a:stretch>
              </a:blipFill>
            </p:spPr>
            <p:txBody>
              <a:bodyPr/>
              <a:lstStyle/>
              <a:p>
                <a:r>
                  <a:rPr lang="zh-TW" altLang="en-US">
                    <a:noFill/>
                  </a:rPr>
                  <a:t> </a:t>
                </a:r>
              </a:p>
            </p:txBody>
          </p:sp>
        </mc:Fallback>
      </mc:AlternateContent>
      <p:grpSp>
        <p:nvGrpSpPr>
          <p:cNvPr id="239" name="群組 238">
            <a:extLst>
              <a:ext uri="{FF2B5EF4-FFF2-40B4-BE49-F238E27FC236}">
                <a16:creationId xmlns:a16="http://schemas.microsoft.com/office/drawing/2014/main" id="{AE18F603-C364-4F2F-98AE-33175441A9F7}"/>
              </a:ext>
            </a:extLst>
          </p:cNvPr>
          <p:cNvGrpSpPr/>
          <p:nvPr/>
        </p:nvGrpSpPr>
        <p:grpSpPr>
          <a:xfrm>
            <a:off x="2576108" y="5496931"/>
            <a:ext cx="494046" cy="479124"/>
            <a:chOff x="1743581" y="5415621"/>
            <a:chExt cx="494046" cy="479124"/>
          </a:xfrm>
        </p:grpSpPr>
        <p:sp>
          <p:nvSpPr>
            <p:cNvPr id="64" name="橢圓 63">
              <a:extLst>
                <a:ext uri="{FF2B5EF4-FFF2-40B4-BE49-F238E27FC236}">
                  <a16:creationId xmlns:a16="http://schemas.microsoft.com/office/drawing/2014/main" id="{B88330D5-DC2D-4F4A-9194-0DDC41F8295D}"/>
                </a:ext>
              </a:extLst>
            </p:cNvPr>
            <p:cNvSpPr/>
            <p:nvPr/>
          </p:nvSpPr>
          <p:spPr>
            <a:xfrm>
              <a:off x="1933708" y="5415621"/>
              <a:ext cx="155097" cy="155097"/>
            </a:xfrm>
            <a:prstGeom prst="ellipse">
              <a:avLst/>
            </a:prstGeom>
            <a:solidFill>
              <a:schemeClr val="accent4">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65" name="矩形 64">
                  <a:extLst>
                    <a:ext uri="{FF2B5EF4-FFF2-40B4-BE49-F238E27FC236}">
                      <a16:creationId xmlns:a16="http://schemas.microsoft.com/office/drawing/2014/main" id="{A89633A7-8421-4018-8B51-2CD6AEDABAF6}"/>
                    </a:ext>
                  </a:extLst>
                </p:cNvPr>
                <p:cNvSpPr/>
                <p:nvPr/>
              </p:nvSpPr>
              <p:spPr>
                <a:xfrm>
                  <a:off x="1743581" y="5525413"/>
                  <a:ext cx="49404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10</m:t>
                        </m:r>
                      </m:oMath>
                    </m:oMathPara>
                  </a14:m>
                  <a:endParaRPr lang="zh-TW" altLang="en-US" dirty="0"/>
                </a:p>
              </p:txBody>
            </p:sp>
          </mc:Choice>
          <mc:Fallback xmlns="">
            <p:sp>
              <p:nvSpPr>
                <p:cNvPr id="65" name="矩形 64">
                  <a:extLst>
                    <a:ext uri="{FF2B5EF4-FFF2-40B4-BE49-F238E27FC236}">
                      <a16:creationId xmlns:a16="http://schemas.microsoft.com/office/drawing/2014/main" id="{A89633A7-8421-4018-8B51-2CD6AEDABAF6}"/>
                    </a:ext>
                  </a:extLst>
                </p:cNvPr>
                <p:cNvSpPr>
                  <a:spLocks noRot="1" noChangeAspect="1" noMove="1" noResize="1" noEditPoints="1" noAdjustHandles="1" noChangeArrowheads="1" noChangeShapeType="1" noTextEdit="1"/>
                </p:cNvSpPr>
                <p:nvPr/>
              </p:nvSpPr>
              <p:spPr>
                <a:xfrm>
                  <a:off x="1743581" y="5525413"/>
                  <a:ext cx="494046" cy="369332"/>
                </a:xfrm>
                <a:prstGeom prst="rect">
                  <a:avLst/>
                </a:prstGeom>
                <a:blipFill>
                  <a:blip r:embed="rId15"/>
                  <a:stretch>
                    <a:fillRect/>
                  </a:stretch>
                </a:blipFill>
              </p:spPr>
              <p:txBody>
                <a:bodyPr/>
                <a:lstStyle/>
                <a:p>
                  <a:r>
                    <a:rPr lang="zh-TW" altLang="en-US">
                      <a:noFill/>
                    </a:rPr>
                    <a:t> </a:t>
                  </a:r>
                </a:p>
              </p:txBody>
            </p:sp>
          </mc:Fallback>
        </mc:AlternateContent>
      </p:grpSp>
      <p:sp>
        <p:nvSpPr>
          <p:cNvPr id="70" name="橢圓 69">
            <a:extLst>
              <a:ext uri="{FF2B5EF4-FFF2-40B4-BE49-F238E27FC236}">
                <a16:creationId xmlns:a16="http://schemas.microsoft.com/office/drawing/2014/main" id="{5717ECC4-0A00-4EE0-9468-1E57FD40E792}"/>
              </a:ext>
            </a:extLst>
          </p:cNvPr>
          <p:cNvSpPr/>
          <p:nvPr/>
        </p:nvSpPr>
        <p:spPr>
          <a:xfrm>
            <a:off x="2528502" y="4739182"/>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71" name="直線接點 70">
            <a:extLst>
              <a:ext uri="{FF2B5EF4-FFF2-40B4-BE49-F238E27FC236}">
                <a16:creationId xmlns:a16="http://schemas.microsoft.com/office/drawing/2014/main" id="{99E37CDA-E3E8-4AF1-ADF0-46245BCF7675}"/>
              </a:ext>
            </a:extLst>
          </p:cNvPr>
          <p:cNvCxnSpPr>
            <a:cxnSpLocks/>
            <a:stCxn id="70" idx="4"/>
            <a:endCxn id="64" idx="0"/>
          </p:cNvCxnSpPr>
          <p:nvPr/>
        </p:nvCxnSpPr>
        <p:spPr>
          <a:xfrm>
            <a:off x="2606051" y="4894279"/>
            <a:ext cx="237733" cy="602652"/>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3" name="直線接點 72">
            <a:extLst>
              <a:ext uri="{FF2B5EF4-FFF2-40B4-BE49-F238E27FC236}">
                <a16:creationId xmlns:a16="http://schemas.microsoft.com/office/drawing/2014/main" id="{C9C63034-3DAD-46C6-A0E2-ABD51B92644A}"/>
              </a:ext>
            </a:extLst>
          </p:cNvPr>
          <p:cNvCxnSpPr>
            <a:cxnSpLocks/>
            <a:stCxn id="70" idx="3"/>
            <a:endCxn id="60" idx="7"/>
          </p:cNvCxnSpPr>
          <p:nvPr/>
        </p:nvCxnSpPr>
        <p:spPr>
          <a:xfrm flipH="1">
            <a:off x="2256975" y="4871566"/>
            <a:ext cx="294240" cy="64201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4" name="矩形 73">
                <a:extLst>
                  <a:ext uri="{FF2B5EF4-FFF2-40B4-BE49-F238E27FC236}">
                    <a16:creationId xmlns:a16="http://schemas.microsoft.com/office/drawing/2014/main" id="{14880A06-D557-4CF3-856B-1258B7D456C8}"/>
                  </a:ext>
                </a:extLst>
              </p:cNvPr>
              <p:cNvSpPr/>
              <p:nvPr/>
            </p:nvSpPr>
            <p:spPr>
              <a:xfrm>
                <a:off x="2708002" y="5059219"/>
                <a:ext cx="62254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TW" i="1" smtClean="0">
                          <a:latin typeface="Cambria Math" panose="02040503050406030204" pitchFamily="18" charset="0"/>
                        </a:rPr>
                        <m:t>a</m:t>
                      </m:r>
                      <m:r>
                        <a:rPr lang="en-US" altLang="zh-TW" b="0" i="1" smtClean="0">
                          <a:latin typeface="Cambria Math" panose="02040503050406030204" pitchFamily="18" charset="0"/>
                        </a:rPr>
                        <m:t>𝑏</m:t>
                      </m:r>
                      <m:r>
                        <a:rPr lang="en-US" altLang="zh-TW" b="0" i="1" smtClean="0">
                          <a:latin typeface="Cambria Math" panose="02040503050406030204" pitchFamily="18" charset="0"/>
                        </a:rPr>
                        <m:t>#</m:t>
                      </m:r>
                    </m:oMath>
                  </m:oMathPara>
                </a14:m>
                <a:endParaRPr lang="zh-TW" altLang="en-US" dirty="0"/>
              </a:p>
            </p:txBody>
          </p:sp>
        </mc:Choice>
        <mc:Fallback xmlns="">
          <p:sp>
            <p:nvSpPr>
              <p:cNvPr id="74" name="矩形 73">
                <a:extLst>
                  <a:ext uri="{FF2B5EF4-FFF2-40B4-BE49-F238E27FC236}">
                    <a16:creationId xmlns:a16="http://schemas.microsoft.com/office/drawing/2014/main" id="{14880A06-D557-4CF3-856B-1258B7D456C8}"/>
                  </a:ext>
                </a:extLst>
              </p:cNvPr>
              <p:cNvSpPr>
                <a:spLocks noRot="1" noChangeAspect="1" noMove="1" noResize="1" noEditPoints="1" noAdjustHandles="1" noChangeArrowheads="1" noChangeShapeType="1" noTextEdit="1"/>
              </p:cNvSpPr>
              <p:nvPr/>
            </p:nvSpPr>
            <p:spPr>
              <a:xfrm>
                <a:off x="2708002" y="5059219"/>
                <a:ext cx="622543" cy="369332"/>
              </a:xfrm>
              <a:prstGeom prst="rect">
                <a:avLst/>
              </a:prstGeom>
              <a:blipFill>
                <a:blip r:embed="rId1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5" name="矩形 74">
                <a:extLst>
                  <a:ext uri="{FF2B5EF4-FFF2-40B4-BE49-F238E27FC236}">
                    <a16:creationId xmlns:a16="http://schemas.microsoft.com/office/drawing/2014/main" id="{D4A917DD-8328-4D17-BB41-033B2FFEE622}"/>
                  </a:ext>
                </a:extLst>
              </p:cNvPr>
              <p:cNvSpPr/>
              <p:nvPr/>
            </p:nvSpPr>
            <p:spPr>
              <a:xfrm>
                <a:off x="1587278" y="5016785"/>
                <a:ext cx="8812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𝑎</m:t>
                      </m:r>
                      <m:r>
                        <a:rPr lang="en-US" altLang="zh-TW" b="0" i="1" smtClean="0">
                          <a:latin typeface="Cambria Math" panose="02040503050406030204" pitchFamily="18" charset="0"/>
                        </a:rPr>
                        <m:t>…#</m:t>
                      </m:r>
                    </m:oMath>
                  </m:oMathPara>
                </a14:m>
                <a:endParaRPr lang="zh-TW" altLang="en-US" dirty="0"/>
              </a:p>
            </p:txBody>
          </p:sp>
        </mc:Choice>
        <mc:Fallback xmlns="">
          <p:sp>
            <p:nvSpPr>
              <p:cNvPr id="75" name="矩形 74">
                <a:extLst>
                  <a:ext uri="{FF2B5EF4-FFF2-40B4-BE49-F238E27FC236}">
                    <a16:creationId xmlns:a16="http://schemas.microsoft.com/office/drawing/2014/main" id="{D4A917DD-8328-4D17-BB41-033B2FFEE622}"/>
                  </a:ext>
                </a:extLst>
              </p:cNvPr>
              <p:cNvSpPr>
                <a:spLocks noRot="1" noChangeAspect="1" noMove="1" noResize="1" noEditPoints="1" noAdjustHandles="1" noChangeArrowheads="1" noChangeShapeType="1" noTextEdit="1"/>
              </p:cNvSpPr>
              <p:nvPr/>
            </p:nvSpPr>
            <p:spPr>
              <a:xfrm>
                <a:off x="1587278" y="5016785"/>
                <a:ext cx="881203" cy="369332"/>
              </a:xfrm>
              <a:prstGeom prst="rect">
                <a:avLst/>
              </a:prstGeom>
              <a:blipFill>
                <a:blip r:embed="rId1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7" name="矩形 76">
                <a:extLst>
                  <a:ext uri="{FF2B5EF4-FFF2-40B4-BE49-F238E27FC236}">
                    <a16:creationId xmlns:a16="http://schemas.microsoft.com/office/drawing/2014/main" id="{5CE9AD3C-0577-4637-A164-8FEF0DA08BDA}"/>
                  </a:ext>
                </a:extLst>
              </p:cNvPr>
              <p:cNvSpPr/>
              <p:nvPr/>
            </p:nvSpPr>
            <p:spPr>
              <a:xfrm>
                <a:off x="3338272" y="2579845"/>
                <a:ext cx="3714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𝑎</m:t>
                      </m:r>
                    </m:oMath>
                  </m:oMathPara>
                </a14:m>
                <a:endParaRPr lang="zh-TW" altLang="en-US" dirty="0"/>
              </a:p>
            </p:txBody>
          </p:sp>
        </mc:Choice>
        <mc:Fallback xmlns="">
          <p:sp>
            <p:nvSpPr>
              <p:cNvPr id="77" name="矩形 76">
                <a:extLst>
                  <a:ext uri="{FF2B5EF4-FFF2-40B4-BE49-F238E27FC236}">
                    <a16:creationId xmlns:a16="http://schemas.microsoft.com/office/drawing/2014/main" id="{5CE9AD3C-0577-4637-A164-8FEF0DA08BDA}"/>
                  </a:ext>
                </a:extLst>
              </p:cNvPr>
              <p:cNvSpPr>
                <a:spLocks noRot="1" noChangeAspect="1" noMove="1" noResize="1" noEditPoints="1" noAdjustHandles="1" noChangeArrowheads="1" noChangeShapeType="1" noTextEdit="1"/>
              </p:cNvSpPr>
              <p:nvPr/>
            </p:nvSpPr>
            <p:spPr>
              <a:xfrm>
                <a:off x="3338272" y="2579845"/>
                <a:ext cx="371448" cy="369332"/>
              </a:xfrm>
              <a:prstGeom prst="rect">
                <a:avLst/>
              </a:prstGeom>
              <a:blipFill>
                <a:blip r:embed="rId18"/>
                <a:stretch>
                  <a:fillRect/>
                </a:stretch>
              </a:blipFill>
            </p:spPr>
            <p:txBody>
              <a:bodyPr/>
              <a:lstStyle/>
              <a:p>
                <a:r>
                  <a:rPr lang="zh-TW" altLang="en-US">
                    <a:noFill/>
                  </a:rPr>
                  <a:t> </a:t>
                </a:r>
              </a:p>
            </p:txBody>
          </p:sp>
        </mc:Fallback>
      </mc:AlternateContent>
      <p:sp>
        <p:nvSpPr>
          <p:cNvPr id="79" name="橢圓 78">
            <a:extLst>
              <a:ext uri="{FF2B5EF4-FFF2-40B4-BE49-F238E27FC236}">
                <a16:creationId xmlns:a16="http://schemas.microsoft.com/office/drawing/2014/main" id="{E180A097-FF2E-4BE2-88F3-1AE2F2438B1D}"/>
              </a:ext>
            </a:extLst>
          </p:cNvPr>
          <p:cNvSpPr/>
          <p:nvPr/>
        </p:nvSpPr>
        <p:spPr>
          <a:xfrm>
            <a:off x="3688808" y="3125459"/>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80" name="直線接點 79">
            <a:extLst>
              <a:ext uri="{FF2B5EF4-FFF2-40B4-BE49-F238E27FC236}">
                <a16:creationId xmlns:a16="http://schemas.microsoft.com/office/drawing/2014/main" id="{CAB4320D-334B-4C87-BCBB-CBA46897062E}"/>
              </a:ext>
            </a:extLst>
          </p:cNvPr>
          <p:cNvCxnSpPr>
            <a:cxnSpLocks/>
            <a:stCxn id="79" idx="5"/>
            <a:endCxn id="81" idx="0"/>
          </p:cNvCxnSpPr>
          <p:nvPr/>
        </p:nvCxnSpPr>
        <p:spPr>
          <a:xfrm>
            <a:off x="3821192" y="3257843"/>
            <a:ext cx="287609" cy="671999"/>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81" name="橢圓 80">
            <a:extLst>
              <a:ext uri="{FF2B5EF4-FFF2-40B4-BE49-F238E27FC236}">
                <a16:creationId xmlns:a16="http://schemas.microsoft.com/office/drawing/2014/main" id="{19813C1E-D930-45B0-9F1A-77A2E01A18A1}"/>
              </a:ext>
            </a:extLst>
          </p:cNvPr>
          <p:cNvSpPr/>
          <p:nvPr/>
        </p:nvSpPr>
        <p:spPr>
          <a:xfrm>
            <a:off x="4031252" y="3929842"/>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84" name="矩形 83">
                <a:extLst>
                  <a:ext uri="{FF2B5EF4-FFF2-40B4-BE49-F238E27FC236}">
                    <a16:creationId xmlns:a16="http://schemas.microsoft.com/office/drawing/2014/main" id="{7AD9D19A-45DD-472F-9BA3-C09F20839403}"/>
                  </a:ext>
                </a:extLst>
              </p:cNvPr>
              <p:cNvSpPr/>
              <p:nvPr/>
            </p:nvSpPr>
            <p:spPr>
              <a:xfrm>
                <a:off x="3653076" y="3517535"/>
                <a:ext cx="3714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𝑏</m:t>
                      </m:r>
                    </m:oMath>
                  </m:oMathPara>
                </a14:m>
                <a:endParaRPr lang="zh-TW" altLang="en-US" dirty="0"/>
              </a:p>
            </p:txBody>
          </p:sp>
        </mc:Choice>
        <mc:Fallback xmlns="">
          <p:sp>
            <p:nvSpPr>
              <p:cNvPr id="84" name="矩形 83">
                <a:extLst>
                  <a:ext uri="{FF2B5EF4-FFF2-40B4-BE49-F238E27FC236}">
                    <a16:creationId xmlns:a16="http://schemas.microsoft.com/office/drawing/2014/main" id="{7AD9D19A-45DD-472F-9BA3-C09F20839403}"/>
                  </a:ext>
                </a:extLst>
              </p:cNvPr>
              <p:cNvSpPr>
                <a:spLocks noRot="1" noChangeAspect="1" noMove="1" noResize="1" noEditPoints="1" noAdjustHandles="1" noChangeArrowheads="1" noChangeShapeType="1" noTextEdit="1"/>
              </p:cNvSpPr>
              <p:nvPr/>
            </p:nvSpPr>
            <p:spPr>
              <a:xfrm>
                <a:off x="3653076" y="3517535"/>
                <a:ext cx="371448" cy="369332"/>
              </a:xfrm>
              <a:prstGeom prst="rect">
                <a:avLst/>
              </a:prstGeom>
              <a:blipFill>
                <a:blip r:embed="rId1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7" name="矩形 86">
                <a:extLst>
                  <a:ext uri="{FF2B5EF4-FFF2-40B4-BE49-F238E27FC236}">
                    <a16:creationId xmlns:a16="http://schemas.microsoft.com/office/drawing/2014/main" id="{1FE0B1C1-C4F8-4FC8-AF9E-76439409A6D2}"/>
                  </a:ext>
                </a:extLst>
              </p:cNvPr>
              <p:cNvSpPr/>
              <p:nvPr/>
            </p:nvSpPr>
            <p:spPr>
              <a:xfrm>
                <a:off x="3537634" y="4166733"/>
                <a:ext cx="3506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𝑐</m:t>
                      </m:r>
                    </m:oMath>
                  </m:oMathPara>
                </a14:m>
                <a:endParaRPr lang="zh-TW" altLang="en-US" dirty="0"/>
              </a:p>
            </p:txBody>
          </p:sp>
        </mc:Choice>
        <mc:Fallback xmlns="">
          <p:sp>
            <p:nvSpPr>
              <p:cNvPr id="87" name="矩形 86">
                <a:extLst>
                  <a:ext uri="{FF2B5EF4-FFF2-40B4-BE49-F238E27FC236}">
                    <a16:creationId xmlns:a16="http://schemas.microsoft.com/office/drawing/2014/main" id="{1FE0B1C1-C4F8-4FC8-AF9E-76439409A6D2}"/>
                  </a:ext>
                </a:extLst>
              </p:cNvPr>
              <p:cNvSpPr>
                <a:spLocks noRot="1" noChangeAspect="1" noMove="1" noResize="1" noEditPoints="1" noAdjustHandles="1" noChangeArrowheads="1" noChangeShapeType="1" noTextEdit="1"/>
              </p:cNvSpPr>
              <p:nvPr/>
            </p:nvSpPr>
            <p:spPr>
              <a:xfrm>
                <a:off x="3537634" y="4166733"/>
                <a:ext cx="350672" cy="369332"/>
              </a:xfrm>
              <a:prstGeom prst="rect">
                <a:avLst/>
              </a:prstGeom>
              <a:blipFill>
                <a:blip r:embed="rId20"/>
                <a:stretch>
                  <a:fillRect/>
                </a:stretch>
              </a:blipFill>
            </p:spPr>
            <p:txBody>
              <a:bodyPr/>
              <a:lstStyle/>
              <a:p>
                <a:r>
                  <a:rPr lang="zh-TW" altLang="en-US">
                    <a:noFill/>
                  </a:rPr>
                  <a:t> </a:t>
                </a:r>
              </a:p>
            </p:txBody>
          </p:sp>
        </mc:Fallback>
      </mc:AlternateContent>
      <p:sp>
        <p:nvSpPr>
          <p:cNvPr id="88" name="橢圓 87">
            <a:extLst>
              <a:ext uri="{FF2B5EF4-FFF2-40B4-BE49-F238E27FC236}">
                <a16:creationId xmlns:a16="http://schemas.microsoft.com/office/drawing/2014/main" id="{0D4C851A-002B-4B2F-A68E-90E9F78EAEC9}"/>
              </a:ext>
            </a:extLst>
          </p:cNvPr>
          <p:cNvSpPr/>
          <p:nvPr/>
        </p:nvSpPr>
        <p:spPr>
          <a:xfrm>
            <a:off x="3669625" y="4720132"/>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1" name="直線接點 90">
            <a:extLst>
              <a:ext uri="{FF2B5EF4-FFF2-40B4-BE49-F238E27FC236}">
                <a16:creationId xmlns:a16="http://schemas.microsoft.com/office/drawing/2014/main" id="{4DB281E0-EF94-48F6-AAD4-84245FE4785A}"/>
              </a:ext>
            </a:extLst>
          </p:cNvPr>
          <p:cNvCxnSpPr>
            <a:cxnSpLocks/>
            <a:stCxn id="88" idx="4"/>
            <a:endCxn id="94" idx="0"/>
          </p:cNvCxnSpPr>
          <p:nvPr/>
        </p:nvCxnSpPr>
        <p:spPr>
          <a:xfrm>
            <a:off x="3747174" y="4875229"/>
            <a:ext cx="334723" cy="608353"/>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矩形 91">
                <a:extLst>
                  <a:ext uri="{FF2B5EF4-FFF2-40B4-BE49-F238E27FC236}">
                    <a16:creationId xmlns:a16="http://schemas.microsoft.com/office/drawing/2014/main" id="{76C0B7AA-AB9D-4B11-A016-9B5A1B0A41DB}"/>
                  </a:ext>
                </a:extLst>
              </p:cNvPr>
              <p:cNvSpPr/>
              <p:nvPr/>
            </p:nvSpPr>
            <p:spPr>
              <a:xfrm>
                <a:off x="3535911" y="5037505"/>
                <a:ext cx="3714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𝑎</m:t>
                      </m:r>
                    </m:oMath>
                  </m:oMathPara>
                </a14:m>
                <a:endParaRPr lang="zh-TW" altLang="en-US" dirty="0"/>
              </a:p>
            </p:txBody>
          </p:sp>
        </mc:Choice>
        <mc:Fallback xmlns="">
          <p:sp>
            <p:nvSpPr>
              <p:cNvPr id="92" name="矩形 91">
                <a:extLst>
                  <a:ext uri="{FF2B5EF4-FFF2-40B4-BE49-F238E27FC236}">
                    <a16:creationId xmlns:a16="http://schemas.microsoft.com/office/drawing/2014/main" id="{76C0B7AA-AB9D-4B11-A016-9B5A1B0A41DB}"/>
                  </a:ext>
                </a:extLst>
              </p:cNvPr>
              <p:cNvSpPr>
                <a:spLocks noRot="1" noChangeAspect="1" noMove="1" noResize="1" noEditPoints="1" noAdjustHandles="1" noChangeArrowheads="1" noChangeShapeType="1" noTextEdit="1"/>
              </p:cNvSpPr>
              <p:nvPr/>
            </p:nvSpPr>
            <p:spPr>
              <a:xfrm>
                <a:off x="3535911" y="5037505"/>
                <a:ext cx="371448" cy="369332"/>
              </a:xfrm>
              <a:prstGeom prst="rect">
                <a:avLst/>
              </a:prstGeom>
              <a:blipFill>
                <a:blip r:embed="rId21"/>
                <a:stretch>
                  <a:fillRect/>
                </a:stretch>
              </a:blipFill>
            </p:spPr>
            <p:txBody>
              <a:bodyPr/>
              <a:lstStyle/>
              <a:p>
                <a:r>
                  <a:rPr lang="zh-TW" altLang="en-US">
                    <a:noFill/>
                  </a:rPr>
                  <a:t> </a:t>
                </a:r>
              </a:p>
            </p:txBody>
          </p:sp>
        </mc:Fallback>
      </mc:AlternateContent>
      <p:sp>
        <p:nvSpPr>
          <p:cNvPr id="94" name="橢圓 93">
            <a:extLst>
              <a:ext uri="{FF2B5EF4-FFF2-40B4-BE49-F238E27FC236}">
                <a16:creationId xmlns:a16="http://schemas.microsoft.com/office/drawing/2014/main" id="{F39A86E3-B3D9-43C0-A303-F30A23261BB3}"/>
              </a:ext>
            </a:extLst>
          </p:cNvPr>
          <p:cNvSpPr/>
          <p:nvPr/>
        </p:nvSpPr>
        <p:spPr>
          <a:xfrm>
            <a:off x="4004348" y="5483582"/>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7" name="直線接點 96">
            <a:extLst>
              <a:ext uri="{FF2B5EF4-FFF2-40B4-BE49-F238E27FC236}">
                <a16:creationId xmlns:a16="http://schemas.microsoft.com/office/drawing/2014/main" id="{6FECAD84-05EA-4BBE-9709-E5FB85B6EF77}"/>
              </a:ext>
            </a:extLst>
          </p:cNvPr>
          <p:cNvCxnSpPr>
            <a:cxnSpLocks/>
          </p:cNvCxnSpPr>
          <p:nvPr/>
        </p:nvCxnSpPr>
        <p:spPr>
          <a:xfrm flipH="1">
            <a:off x="3695490" y="5653536"/>
            <a:ext cx="367635" cy="739974"/>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8" name="矩形 97">
                <a:extLst>
                  <a:ext uri="{FF2B5EF4-FFF2-40B4-BE49-F238E27FC236}">
                    <a16:creationId xmlns:a16="http://schemas.microsoft.com/office/drawing/2014/main" id="{FF42B326-4C8D-4C96-9A52-35D1EC73CD83}"/>
                  </a:ext>
                </a:extLst>
              </p:cNvPr>
              <p:cNvSpPr/>
              <p:nvPr/>
            </p:nvSpPr>
            <p:spPr>
              <a:xfrm>
                <a:off x="3110192" y="5787660"/>
                <a:ext cx="8812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𝑎</m:t>
                      </m:r>
                      <m:r>
                        <a:rPr lang="en-US" altLang="zh-TW" b="0" i="1" smtClean="0">
                          <a:latin typeface="Cambria Math" panose="02040503050406030204" pitchFamily="18" charset="0"/>
                        </a:rPr>
                        <m:t>…#</m:t>
                      </m:r>
                    </m:oMath>
                  </m:oMathPara>
                </a14:m>
                <a:endParaRPr lang="zh-TW" altLang="en-US" dirty="0"/>
              </a:p>
            </p:txBody>
          </p:sp>
        </mc:Choice>
        <mc:Fallback xmlns="">
          <p:sp>
            <p:nvSpPr>
              <p:cNvPr id="98" name="矩形 97">
                <a:extLst>
                  <a:ext uri="{FF2B5EF4-FFF2-40B4-BE49-F238E27FC236}">
                    <a16:creationId xmlns:a16="http://schemas.microsoft.com/office/drawing/2014/main" id="{FF42B326-4C8D-4C96-9A52-35D1EC73CD83}"/>
                  </a:ext>
                </a:extLst>
              </p:cNvPr>
              <p:cNvSpPr>
                <a:spLocks noRot="1" noChangeAspect="1" noMove="1" noResize="1" noEditPoints="1" noAdjustHandles="1" noChangeArrowheads="1" noChangeShapeType="1" noTextEdit="1"/>
              </p:cNvSpPr>
              <p:nvPr/>
            </p:nvSpPr>
            <p:spPr>
              <a:xfrm>
                <a:off x="3110192" y="5787660"/>
                <a:ext cx="881203" cy="369332"/>
              </a:xfrm>
              <a:prstGeom prst="rect">
                <a:avLst/>
              </a:prstGeom>
              <a:blipFill>
                <a:blip r:embed="rId22"/>
                <a:stretch>
                  <a:fillRect/>
                </a:stretch>
              </a:blipFill>
            </p:spPr>
            <p:txBody>
              <a:bodyPr/>
              <a:lstStyle/>
              <a:p>
                <a:r>
                  <a:rPr lang="zh-TW" altLang="en-US">
                    <a:noFill/>
                  </a:rPr>
                  <a:t> </a:t>
                </a:r>
              </a:p>
            </p:txBody>
          </p:sp>
        </mc:Fallback>
      </mc:AlternateContent>
      <p:grpSp>
        <p:nvGrpSpPr>
          <p:cNvPr id="233" name="群組 232">
            <a:extLst>
              <a:ext uri="{FF2B5EF4-FFF2-40B4-BE49-F238E27FC236}">
                <a16:creationId xmlns:a16="http://schemas.microsoft.com/office/drawing/2014/main" id="{108C8D54-BF39-40C8-9B4C-E5304AD4B7C1}"/>
              </a:ext>
            </a:extLst>
          </p:cNvPr>
          <p:cNvGrpSpPr/>
          <p:nvPr/>
        </p:nvGrpSpPr>
        <p:grpSpPr>
          <a:xfrm>
            <a:off x="3534414" y="6322375"/>
            <a:ext cx="365806" cy="467166"/>
            <a:chOff x="2867664" y="6174683"/>
            <a:chExt cx="365806" cy="467166"/>
          </a:xfrm>
        </p:grpSpPr>
        <p:sp>
          <p:nvSpPr>
            <p:cNvPr id="96" name="橢圓 95">
              <a:extLst>
                <a:ext uri="{FF2B5EF4-FFF2-40B4-BE49-F238E27FC236}">
                  <a16:creationId xmlns:a16="http://schemas.microsoft.com/office/drawing/2014/main" id="{22A75BAD-C8AE-4FE3-AA3A-4D4E9BF388D8}"/>
                </a:ext>
              </a:extLst>
            </p:cNvPr>
            <p:cNvSpPr/>
            <p:nvPr/>
          </p:nvSpPr>
          <p:spPr>
            <a:xfrm>
              <a:off x="2963847" y="6174683"/>
              <a:ext cx="155097" cy="155097"/>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99" name="矩形 98">
                  <a:extLst>
                    <a:ext uri="{FF2B5EF4-FFF2-40B4-BE49-F238E27FC236}">
                      <a16:creationId xmlns:a16="http://schemas.microsoft.com/office/drawing/2014/main" id="{8D5A72B4-79F6-43B9-B9CD-36E19FBE4A5E}"/>
                    </a:ext>
                  </a:extLst>
                </p:cNvPr>
                <p:cNvSpPr/>
                <p:nvPr/>
              </p:nvSpPr>
              <p:spPr>
                <a:xfrm>
                  <a:off x="2867664" y="6272517"/>
                  <a:ext cx="36580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3</m:t>
                        </m:r>
                      </m:oMath>
                    </m:oMathPara>
                  </a14:m>
                  <a:endParaRPr lang="zh-TW" altLang="en-US" dirty="0"/>
                </a:p>
              </p:txBody>
            </p:sp>
          </mc:Choice>
          <mc:Fallback xmlns="">
            <p:sp>
              <p:nvSpPr>
                <p:cNvPr id="99" name="矩形 98">
                  <a:extLst>
                    <a:ext uri="{FF2B5EF4-FFF2-40B4-BE49-F238E27FC236}">
                      <a16:creationId xmlns:a16="http://schemas.microsoft.com/office/drawing/2014/main" id="{8D5A72B4-79F6-43B9-B9CD-36E19FBE4A5E}"/>
                    </a:ext>
                  </a:extLst>
                </p:cNvPr>
                <p:cNvSpPr>
                  <a:spLocks noRot="1" noChangeAspect="1" noMove="1" noResize="1" noEditPoints="1" noAdjustHandles="1" noChangeArrowheads="1" noChangeShapeType="1" noTextEdit="1"/>
                </p:cNvSpPr>
                <p:nvPr/>
              </p:nvSpPr>
              <p:spPr>
                <a:xfrm>
                  <a:off x="2867664" y="6272517"/>
                  <a:ext cx="365806" cy="369332"/>
                </a:xfrm>
                <a:prstGeom prst="rect">
                  <a:avLst/>
                </a:prstGeom>
                <a:blipFill>
                  <a:blip r:embed="rId23"/>
                  <a:stretch>
                    <a:fillRect/>
                  </a:stretch>
                </a:blipFill>
              </p:spPr>
              <p:txBody>
                <a:bodyPr/>
                <a:lstStyle/>
                <a:p>
                  <a:r>
                    <a:rPr lang="zh-TW" altLang="en-US">
                      <a:noFill/>
                    </a:rPr>
                    <a:t> </a:t>
                  </a:r>
                </a:p>
              </p:txBody>
            </p:sp>
          </mc:Fallback>
        </mc:AlternateContent>
      </p:grpSp>
      <p:cxnSp>
        <p:nvCxnSpPr>
          <p:cNvPr id="103" name="直線接點 102">
            <a:extLst>
              <a:ext uri="{FF2B5EF4-FFF2-40B4-BE49-F238E27FC236}">
                <a16:creationId xmlns:a16="http://schemas.microsoft.com/office/drawing/2014/main" id="{8A7D0C83-B6A1-496C-8F54-2367473C4CC6}"/>
              </a:ext>
            </a:extLst>
          </p:cNvPr>
          <p:cNvCxnSpPr>
            <a:cxnSpLocks/>
            <a:stCxn id="94" idx="4"/>
            <a:endCxn id="102" idx="1"/>
          </p:cNvCxnSpPr>
          <p:nvPr/>
        </p:nvCxnSpPr>
        <p:spPr>
          <a:xfrm>
            <a:off x="4081897" y="5638679"/>
            <a:ext cx="308063" cy="706409"/>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4" name="矩形 103">
                <a:extLst>
                  <a:ext uri="{FF2B5EF4-FFF2-40B4-BE49-F238E27FC236}">
                    <a16:creationId xmlns:a16="http://schemas.microsoft.com/office/drawing/2014/main" id="{6F0A4952-4A2C-4178-B40B-7943AA663FE2}"/>
                  </a:ext>
                </a:extLst>
              </p:cNvPr>
              <p:cNvSpPr/>
              <p:nvPr/>
            </p:nvSpPr>
            <p:spPr>
              <a:xfrm>
                <a:off x="4188515" y="5772339"/>
                <a:ext cx="62254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TW" i="1" smtClean="0">
                          <a:latin typeface="Cambria Math" panose="02040503050406030204" pitchFamily="18" charset="0"/>
                        </a:rPr>
                        <m:t>a</m:t>
                      </m:r>
                      <m:r>
                        <a:rPr lang="en-US" altLang="zh-TW" b="0" i="1" smtClean="0">
                          <a:latin typeface="Cambria Math" panose="02040503050406030204" pitchFamily="18" charset="0"/>
                        </a:rPr>
                        <m:t>𝑏</m:t>
                      </m:r>
                      <m:r>
                        <a:rPr lang="en-US" altLang="zh-TW" b="0" i="1" smtClean="0">
                          <a:latin typeface="Cambria Math" panose="02040503050406030204" pitchFamily="18" charset="0"/>
                        </a:rPr>
                        <m:t>#</m:t>
                      </m:r>
                    </m:oMath>
                  </m:oMathPara>
                </a14:m>
                <a:endParaRPr lang="zh-TW" altLang="en-US" dirty="0"/>
              </a:p>
            </p:txBody>
          </p:sp>
        </mc:Choice>
        <mc:Fallback xmlns="">
          <p:sp>
            <p:nvSpPr>
              <p:cNvPr id="104" name="矩形 103">
                <a:extLst>
                  <a:ext uri="{FF2B5EF4-FFF2-40B4-BE49-F238E27FC236}">
                    <a16:creationId xmlns:a16="http://schemas.microsoft.com/office/drawing/2014/main" id="{6F0A4952-4A2C-4178-B40B-7943AA663FE2}"/>
                  </a:ext>
                </a:extLst>
              </p:cNvPr>
              <p:cNvSpPr>
                <a:spLocks noRot="1" noChangeAspect="1" noMove="1" noResize="1" noEditPoints="1" noAdjustHandles="1" noChangeArrowheads="1" noChangeShapeType="1" noTextEdit="1"/>
              </p:cNvSpPr>
              <p:nvPr/>
            </p:nvSpPr>
            <p:spPr>
              <a:xfrm>
                <a:off x="4188515" y="5772339"/>
                <a:ext cx="622543" cy="369332"/>
              </a:xfrm>
              <a:prstGeom prst="rect">
                <a:avLst/>
              </a:prstGeom>
              <a:blipFill>
                <a:blip r:embed="rId24"/>
                <a:stretch>
                  <a:fillRect/>
                </a:stretch>
              </a:blipFill>
            </p:spPr>
            <p:txBody>
              <a:bodyPr/>
              <a:lstStyle/>
              <a:p>
                <a:r>
                  <a:rPr lang="zh-TW" altLang="en-US">
                    <a:noFill/>
                  </a:rPr>
                  <a:t> </a:t>
                </a:r>
              </a:p>
            </p:txBody>
          </p:sp>
        </mc:Fallback>
      </mc:AlternateContent>
      <p:grpSp>
        <p:nvGrpSpPr>
          <p:cNvPr id="232" name="群組 231">
            <a:extLst>
              <a:ext uri="{FF2B5EF4-FFF2-40B4-BE49-F238E27FC236}">
                <a16:creationId xmlns:a16="http://schemas.microsoft.com/office/drawing/2014/main" id="{BAC727E6-1E07-4959-8A8C-3AE5A3673308}"/>
              </a:ext>
            </a:extLst>
          </p:cNvPr>
          <p:cNvGrpSpPr/>
          <p:nvPr/>
        </p:nvGrpSpPr>
        <p:grpSpPr>
          <a:xfrm>
            <a:off x="4273773" y="6322375"/>
            <a:ext cx="365806" cy="462755"/>
            <a:chOff x="3496109" y="6179094"/>
            <a:chExt cx="365806" cy="462755"/>
          </a:xfrm>
        </p:grpSpPr>
        <p:sp>
          <p:nvSpPr>
            <p:cNvPr id="102" name="橢圓 101">
              <a:extLst>
                <a:ext uri="{FF2B5EF4-FFF2-40B4-BE49-F238E27FC236}">
                  <a16:creationId xmlns:a16="http://schemas.microsoft.com/office/drawing/2014/main" id="{D1B37239-A6DD-41C6-B6CB-AF3570F4BB5A}"/>
                </a:ext>
              </a:extLst>
            </p:cNvPr>
            <p:cNvSpPr/>
            <p:nvPr/>
          </p:nvSpPr>
          <p:spPr>
            <a:xfrm>
              <a:off x="3589583" y="6179094"/>
              <a:ext cx="155097" cy="155097"/>
            </a:xfrm>
            <a:prstGeom prst="ellipse">
              <a:avLst/>
            </a:prstGeom>
            <a:solidFill>
              <a:schemeClr val="accent4">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05" name="矩形 104">
                  <a:extLst>
                    <a:ext uri="{FF2B5EF4-FFF2-40B4-BE49-F238E27FC236}">
                      <a16:creationId xmlns:a16="http://schemas.microsoft.com/office/drawing/2014/main" id="{667DACC0-CCFC-4ECD-A09B-345E62D11B52}"/>
                    </a:ext>
                  </a:extLst>
                </p:cNvPr>
                <p:cNvSpPr/>
                <p:nvPr/>
              </p:nvSpPr>
              <p:spPr>
                <a:xfrm>
                  <a:off x="3496109" y="6272517"/>
                  <a:ext cx="36580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9</m:t>
                        </m:r>
                      </m:oMath>
                    </m:oMathPara>
                  </a14:m>
                  <a:endParaRPr lang="zh-TW" altLang="en-US" dirty="0"/>
                </a:p>
              </p:txBody>
            </p:sp>
          </mc:Choice>
          <mc:Fallback xmlns="">
            <p:sp>
              <p:nvSpPr>
                <p:cNvPr id="105" name="矩形 104">
                  <a:extLst>
                    <a:ext uri="{FF2B5EF4-FFF2-40B4-BE49-F238E27FC236}">
                      <a16:creationId xmlns:a16="http://schemas.microsoft.com/office/drawing/2014/main" id="{667DACC0-CCFC-4ECD-A09B-345E62D11B52}"/>
                    </a:ext>
                  </a:extLst>
                </p:cNvPr>
                <p:cNvSpPr>
                  <a:spLocks noRot="1" noChangeAspect="1" noMove="1" noResize="1" noEditPoints="1" noAdjustHandles="1" noChangeArrowheads="1" noChangeShapeType="1" noTextEdit="1"/>
                </p:cNvSpPr>
                <p:nvPr/>
              </p:nvSpPr>
              <p:spPr>
                <a:xfrm>
                  <a:off x="3496109" y="6272517"/>
                  <a:ext cx="365806" cy="369332"/>
                </a:xfrm>
                <a:prstGeom prst="rect">
                  <a:avLst/>
                </a:prstGeom>
                <a:blipFill>
                  <a:blip r:embed="rId25"/>
                  <a:stretch>
                    <a:fillRect/>
                  </a:stretch>
                </a:blipFill>
              </p:spPr>
              <p:txBody>
                <a:bodyPr/>
                <a:lstStyle/>
                <a:p>
                  <a:r>
                    <a:rPr lang="zh-TW" altLang="en-US">
                      <a:noFill/>
                    </a:rPr>
                    <a:t> </a:t>
                  </a:r>
                </a:p>
              </p:txBody>
            </p:sp>
          </mc:Fallback>
        </mc:AlternateContent>
      </p:grpSp>
      <p:cxnSp>
        <p:nvCxnSpPr>
          <p:cNvPr id="106" name="直線接點 105">
            <a:extLst>
              <a:ext uri="{FF2B5EF4-FFF2-40B4-BE49-F238E27FC236}">
                <a16:creationId xmlns:a16="http://schemas.microsoft.com/office/drawing/2014/main" id="{00A62EB4-5B6B-4659-9198-0E52768D026B}"/>
              </a:ext>
            </a:extLst>
          </p:cNvPr>
          <p:cNvCxnSpPr>
            <a:cxnSpLocks/>
            <a:stCxn id="8" idx="5"/>
            <a:endCxn id="112" idx="1"/>
          </p:cNvCxnSpPr>
          <p:nvPr/>
        </p:nvCxnSpPr>
        <p:spPr>
          <a:xfrm>
            <a:off x="4017463" y="1422639"/>
            <a:ext cx="1458234" cy="956871"/>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 name="矩形 108">
                <a:extLst>
                  <a:ext uri="{FF2B5EF4-FFF2-40B4-BE49-F238E27FC236}">
                    <a16:creationId xmlns:a16="http://schemas.microsoft.com/office/drawing/2014/main" id="{F0332882-B3E8-4536-A4E9-4E8F351D9275}"/>
                  </a:ext>
                </a:extLst>
              </p:cNvPr>
              <p:cNvSpPr/>
              <p:nvPr/>
            </p:nvSpPr>
            <p:spPr>
              <a:xfrm>
                <a:off x="4558488" y="1871025"/>
                <a:ext cx="3714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𝑏</m:t>
                      </m:r>
                    </m:oMath>
                  </m:oMathPara>
                </a14:m>
                <a:endParaRPr lang="zh-TW" altLang="en-US" dirty="0"/>
              </a:p>
            </p:txBody>
          </p:sp>
        </mc:Choice>
        <mc:Fallback xmlns="">
          <p:sp>
            <p:nvSpPr>
              <p:cNvPr id="109" name="矩形 108">
                <a:extLst>
                  <a:ext uri="{FF2B5EF4-FFF2-40B4-BE49-F238E27FC236}">
                    <a16:creationId xmlns:a16="http://schemas.microsoft.com/office/drawing/2014/main" id="{F0332882-B3E8-4536-A4E9-4E8F351D9275}"/>
                  </a:ext>
                </a:extLst>
              </p:cNvPr>
              <p:cNvSpPr>
                <a:spLocks noRot="1" noChangeAspect="1" noMove="1" noResize="1" noEditPoints="1" noAdjustHandles="1" noChangeArrowheads="1" noChangeShapeType="1" noTextEdit="1"/>
              </p:cNvSpPr>
              <p:nvPr/>
            </p:nvSpPr>
            <p:spPr>
              <a:xfrm>
                <a:off x="4558488" y="1871025"/>
                <a:ext cx="371448" cy="369332"/>
              </a:xfrm>
              <a:prstGeom prst="rect">
                <a:avLst/>
              </a:prstGeom>
              <a:blipFill>
                <a:blip r:embed="rId26"/>
                <a:stretch>
                  <a:fillRect/>
                </a:stretch>
              </a:blipFill>
            </p:spPr>
            <p:txBody>
              <a:bodyPr/>
              <a:lstStyle/>
              <a:p>
                <a:r>
                  <a:rPr lang="zh-TW" altLang="en-US">
                    <a:noFill/>
                  </a:rPr>
                  <a:t> </a:t>
                </a:r>
              </a:p>
            </p:txBody>
          </p:sp>
        </mc:Fallback>
      </mc:AlternateContent>
      <p:sp>
        <p:nvSpPr>
          <p:cNvPr id="112" name="橢圓 111">
            <a:extLst>
              <a:ext uri="{FF2B5EF4-FFF2-40B4-BE49-F238E27FC236}">
                <a16:creationId xmlns:a16="http://schemas.microsoft.com/office/drawing/2014/main" id="{AA96E9D3-17E8-47B5-B48A-31A0A53A0E95}"/>
              </a:ext>
            </a:extLst>
          </p:cNvPr>
          <p:cNvSpPr/>
          <p:nvPr/>
        </p:nvSpPr>
        <p:spPr>
          <a:xfrm>
            <a:off x="5452984" y="2356797"/>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13" name="直線接點 112">
            <a:extLst>
              <a:ext uri="{FF2B5EF4-FFF2-40B4-BE49-F238E27FC236}">
                <a16:creationId xmlns:a16="http://schemas.microsoft.com/office/drawing/2014/main" id="{FF463A60-90AD-46C7-940B-510C591AE2BC}"/>
              </a:ext>
            </a:extLst>
          </p:cNvPr>
          <p:cNvCxnSpPr>
            <a:cxnSpLocks/>
            <a:stCxn id="112" idx="5"/>
            <a:endCxn id="125" idx="1"/>
          </p:cNvCxnSpPr>
          <p:nvPr/>
        </p:nvCxnSpPr>
        <p:spPr>
          <a:xfrm>
            <a:off x="5585368" y="2489181"/>
            <a:ext cx="226766" cy="62832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6" name="直線接點 115">
            <a:extLst>
              <a:ext uri="{FF2B5EF4-FFF2-40B4-BE49-F238E27FC236}">
                <a16:creationId xmlns:a16="http://schemas.microsoft.com/office/drawing/2014/main" id="{6112DCE4-468C-4BB1-9A7C-A1DD106F47BE}"/>
              </a:ext>
            </a:extLst>
          </p:cNvPr>
          <p:cNvCxnSpPr>
            <a:cxnSpLocks/>
            <a:stCxn id="112" idx="3"/>
          </p:cNvCxnSpPr>
          <p:nvPr/>
        </p:nvCxnSpPr>
        <p:spPr>
          <a:xfrm flipH="1">
            <a:off x="5163331" y="2489181"/>
            <a:ext cx="312366" cy="704441"/>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78" name="群組 277">
            <a:extLst>
              <a:ext uri="{FF2B5EF4-FFF2-40B4-BE49-F238E27FC236}">
                <a16:creationId xmlns:a16="http://schemas.microsoft.com/office/drawing/2014/main" id="{AC8EC939-8CB4-4FAB-94AD-22F770E34CBB}"/>
              </a:ext>
            </a:extLst>
          </p:cNvPr>
          <p:cNvGrpSpPr/>
          <p:nvPr/>
        </p:nvGrpSpPr>
        <p:grpSpPr>
          <a:xfrm>
            <a:off x="4941351" y="3109307"/>
            <a:ext cx="371448" cy="467221"/>
            <a:chOff x="4941351" y="3109307"/>
            <a:chExt cx="371448" cy="467221"/>
          </a:xfrm>
        </p:grpSpPr>
        <mc:AlternateContent xmlns:mc="http://schemas.openxmlformats.org/markup-compatibility/2006" xmlns:a14="http://schemas.microsoft.com/office/drawing/2010/main">
          <mc:Choice Requires="a14">
            <p:sp>
              <p:nvSpPr>
                <p:cNvPr id="115" name="矩形 114">
                  <a:extLst>
                    <a:ext uri="{FF2B5EF4-FFF2-40B4-BE49-F238E27FC236}">
                      <a16:creationId xmlns:a16="http://schemas.microsoft.com/office/drawing/2014/main" id="{836D39EC-C214-4130-B3E8-5829A3C28DD4}"/>
                    </a:ext>
                  </a:extLst>
                </p:cNvPr>
                <p:cNvSpPr/>
                <p:nvPr/>
              </p:nvSpPr>
              <p:spPr>
                <a:xfrm>
                  <a:off x="4941351" y="3207196"/>
                  <a:ext cx="371448"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2</m:t>
                        </m:r>
                      </m:oMath>
                    </m:oMathPara>
                  </a14:m>
                  <a:endParaRPr lang="zh-TW" altLang="en-US" dirty="0"/>
                </a:p>
              </p:txBody>
            </p:sp>
          </mc:Choice>
          <mc:Fallback xmlns="">
            <p:sp>
              <p:nvSpPr>
                <p:cNvPr id="115" name="矩形 114">
                  <a:extLst>
                    <a:ext uri="{FF2B5EF4-FFF2-40B4-BE49-F238E27FC236}">
                      <a16:creationId xmlns:a16="http://schemas.microsoft.com/office/drawing/2014/main" id="{836D39EC-C214-4130-B3E8-5829A3C28DD4}"/>
                    </a:ext>
                  </a:extLst>
                </p:cNvPr>
                <p:cNvSpPr>
                  <a:spLocks noRot="1" noChangeAspect="1" noMove="1" noResize="1" noEditPoints="1" noAdjustHandles="1" noChangeArrowheads="1" noChangeShapeType="1" noTextEdit="1"/>
                </p:cNvSpPr>
                <p:nvPr/>
              </p:nvSpPr>
              <p:spPr>
                <a:xfrm>
                  <a:off x="4941351" y="3207196"/>
                  <a:ext cx="371448" cy="369332"/>
                </a:xfrm>
                <a:prstGeom prst="rect">
                  <a:avLst/>
                </a:prstGeom>
                <a:blipFill>
                  <a:blip r:embed="rId27"/>
                  <a:stretch>
                    <a:fillRect/>
                  </a:stretch>
                </a:blipFill>
              </p:spPr>
              <p:txBody>
                <a:bodyPr/>
                <a:lstStyle/>
                <a:p>
                  <a:r>
                    <a:rPr lang="zh-TW" altLang="en-US">
                      <a:noFill/>
                    </a:rPr>
                    <a:t> </a:t>
                  </a:r>
                </a:p>
              </p:txBody>
            </p:sp>
          </mc:Fallback>
        </mc:AlternateContent>
        <p:sp>
          <p:nvSpPr>
            <p:cNvPr id="122" name="橢圓 121">
              <a:extLst>
                <a:ext uri="{FF2B5EF4-FFF2-40B4-BE49-F238E27FC236}">
                  <a16:creationId xmlns:a16="http://schemas.microsoft.com/office/drawing/2014/main" id="{E7F609E7-BE70-450A-9155-DF1C2EA9188D}"/>
                </a:ext>
              </a:extLst>
            </p:cNvPr>
            <p:cNvSpPr/>
            <p:nvPr/>
          </p:nvSpPr>
          <p:spPr>
            <a:xfrm>
              <a:off x="5045159" y="3109307"/>
              <a:ext cx="155097" cy="155097"/>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mc:AlternateContent xmlns:mc="http://schemas.openxmlformats.org/markup-compatibility/2006" xmlns:a14="http://schemas.microsoft.com/office/drawing/2010/main">
        <mc:Choice Requires="a14">
          <p:sp>
            <p:nvSpPr>
              <p:cNvPr id="124" name="矩形 123">
                <a:extLst>
                  <a:ext uri="{FF2B5EF4-FFF2-40B4-BE49-F238E27FC236}">
                    <a16:creationId xmlns:a16="http://schemas.microsoft.com/office/drawing/2014/main" id="{E1CA9868-8434-4100-B6E6-FA4A5D03667B}"/>
                  </a:ext>
                </a:extLst>
              </p:cNvPr>
              <p:cNvSpPr/>
              <p:nvPr/>
            </p:nvSpPr>
            <p:spPr>
              <a:xfrm>
                <a:off x="4636785" y="2589698"/>
                <a:ext cx="764184"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𝑎</m:t>
                      </m:r>
                      <m:r>
                        <a:rPr lang="en-US" altLang="zh-TW" b="0" i="1" smtClean="0">
                          <a:latin typeface="Cambria Math" panose="02040503050406030204" pitchFamily="18" charset="0"/>
                        </a:rPr>
                        <m:t>…#</m:t>
                      </m:r>
                    </m:oMath>
                  </m:oMathPara>
                </a14:m>
                <a:endParaRPr lang="zh-TW" altLang="en-US" dirty="0"/>
              </a:p>
            </p:txBody>
          </p:sp>
        </mc:Choice>
        <mc:Fallback xmlns="">
          <p:sp>
            <p:nvSpPr>
              <p:cNvPr id="124" name="矩形 123">
                <a:extLst>
                  <a:ext uri="{FF2B5EF4-FFF2-40B4-BE49-F238E27FC236}">
                    <a16:creationId xmlns:a16="http://schemas.microsoft.com/office/drawing/2014/main" id="{E1CA9868-8434-4100-B6E6-FA4A5D03667B}"/>
                  </a:ext>
                </a:extLst>
              </p:cNvPr>
              <p:cNvSpPr>
                <a:spLocks noRot="1" noChangeAspect="1" noMove="1" noResize="1" noEditPoints="1" noAdjustHandles="1" noChangeArrowheads="1" noChangeShapeType="1" noTextEdit="1"/>
              </p:cNvSpPr>
              <p:nvPr/>
            </p:nvSpPr>
            <p:spPr>
              <a:xfrm>
                <a:off x="4636785" y="2589698"/>
                <a:ext cx="764184" cy="369332"/>
              </a:xfrm>
              <a:prstGeom prst="rect">
                <a:avLst/>
              </a:prstGeom>
              <a:blipFill>
                <a:blip r:embed="rId28"/>
                <a:stretch>
                  <a:fillRect/>
                </a:stretch>
              </a:blipFill>
            </p:spPr>
            <p:txBody>
              <a:bodyPr/>
              <a:lstStyle/>
              <a:p>
                <a:r>
                  <a:rPr lang="zh-TW" altLang="en-US">
                    <a:noFill/>
                  </a:rPr>
                  <a:t> </a:t>
                </a:r>
              </a:p>
            </p:txBody>
          </p:sp>
        </mc:Fallback>
      </mc:AlternateContent>
      <p:sp>
        <p:nvSpPr>
          <p:cNvPr id="125" name="橢圓 124">
            <a:extLst>
              <a:ext uri="{FF2B5EF4-FFF2-40B4-BE49-F238E27FC236}">
                <a16:creationId xmlns:a16="http://schemas.microsoft.com/office/drawing/2014/main" id="{25BD9E1E-26FC-4325-9D8A-A25E2564D720}"/>
              </a:ext>
            </a:extLst>
          </p:cNvPr>
          <p:cNvSpPr/>
          <p:nvPr/>
        </p:nvSpPr>
        <p:spPr>
          <a:xfrm>
            <a:off x="5789421" y="3094789"/>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26" name="矩形 125">
                <a:extLst>
                  <a:ext uri="{FF2B5EF4-FFF2-40B4-BE49-F238E27FC236}">
                    <a16:creationId xmlns:a16="http://schemas.microsoft.com/office/drawing/2014/main" id="{724EF9F5-DC9D-4C63-9491-26708661EB79}"/>
                  </a:ext>
                </a:extLst>
              </p:cNvPr>
              <p:cNvSpPr/>
              <p:nvPr/>
            </p:nvSpPr>
            <p:spPr>
              <a:xfrm>
                <a:off x="5650700" y="2673678"/>
                <a:ext cx="350672"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𝑐</m:t>
                      </m:r>
                    </m:oMath>
                  </m:oMathPara>
                </a14:m>
                <a:endParaRPr lang="zh-TW" altLang="en-US" dirty="0"/>
              </a:p>
            </p:txBody>
          </p:sp>
        </mc:Choice>
        <mc:Fallback xmlns="">
          <p:sp>
            <p:nvSpPr>
              <p:cNvPr id="126" name="矩形 125">
                <a:extLst>
                  <a:ext uri="{FF2B5EF4-FFF2-40B4-BE49-F238E27FC236}">
                    <a16:creationId xmlns:a16="http://schemas.microsoft.com/office/drawing/2014/main" id="{724EF9F5-DC9D-4C63-9491-26708661EB79}"/>
                  </a:ext>
                </a:extLst>
              </p:cNvPr>
              <p:cNvSpPr>
                <a:spLocks noRot="1" noChangeAspect="1" noMove="1" noResize="1" noEditPoints="1" noAdjustHandles="1" noChangeArrowheads="1" noChangeShapeType="1" noTextEdit="1"/>
              </p:cNvSpPr>
              <p:nvPr/>
            </p:nvSpPr>
            <p:spPr>
              <a:xfrm>
                <a:off x="5650700" y="2673678"/>
                <a:ext cx="350672" cy="369332"/>
              </a:xfrm>
              <a:prstGeom prst="rect">
                <a:avLst/>
              </a:prstGeom>
              <a:blipFill>
                <a:blip r:embed="rId29"/>
                <a:stretch>
                  <a:fillRect/>
                </a:stretch>
              </a:blipFill>
            </p:spPr>
            <p:txBody>
              <a:bodyPr/>
              <a:lstStyle/>
              <a:p>
                <a:r>
                  <a:rPr lang="zh-TW" altLang="en-US">
                    <a:noFill/>
                  </a:rPr>
                  <a:t> </a:t>
                </a:r>
              </a:p>
            </p:txBody>
          </p:sp>
        </mc:Fallback>
      </mc:AlternateContent>
      <p:cxnSp>
        <p:nvCxnSpPr>
          <p:cNvPr id="127" name="直線接點 126">
            <a:extLst>
              <a:ext uri="{FF2B5EF4-FFF2-40B4-BE49-F238E27FC236}">
                <a16:creationId xmlns:a16="http://schemas.microsoft.com/office/drawing/2014/main" id="{03086048-A628-43D3-B06C-C6A73729BA1C}"/>
              </a:ext>
            </a:extLst>
          </p:cNvPr>
          <p:cNvCxnSpPr>
            <a:cxnSpLocks/>
            <a:stCxn id="125" idx="4"/>
            <a:endCxn id="132" idx="0"/>
          </p:cNvCxnSpPr>
          <p:nvPr/>
        </p:nvCxnSpPr>
        <p:spPr>
          <a:xfrm>
            <a:off x="5866970" y="3249886"/>
            <a:ext cx="109155" cy="53719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2" name="橢圓 131">
            <a:extLst>
              <a:ext uri="{FF2B5EF4-FFF2-40B4-BE49-F238E27FC236}">
                <a16:creationId xmlns:a16="http://schemas.microsoft.com/office/drawing/2014/main" id="{F43A0315-995E-44FF-A8C8-B87B94B865F5}"/>
              </a:ext>
            </a:extLst>
          </p:cNvPr>
          <p:cNvSpPr/>
          <p:nvPr/>
        </p:nvSpPr>
        <p:spPr>
          <a:xfrm>
            <a:off x="5898576" y="3787076"/>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33" name="直線接點 132">
            <a:extLst>
              <a:ext uri="{FF2B5EF4-FFF2-40B4-BE49-F238E27FC236}">
                <a16:creationId xmlns:a16="http://schemas.microsoft.com/office/drawing/2014/main" id="{34F89D99-67FB-4D3A-803D-2ECECF857F00}"/>
              </a:ext>
            </a:extLst>
          </p:cNvPr>
          <p:cNvCxnSpPr>
            <a:cxnSpLocks/>
            <a:stCxn id="167" idx="5"/>
            <a:endCxn id="169" idx="1"/>
          </p:cNvCxnSpPr>
          <p:nvPr/>
        </p:nvCxnSpPr>
        <p:spPr>
          <a:xfrm>
            <a:off x="7502400" y="2418550"/>
            <a:ext cx="376551" cy="581638"/>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4" name="矩形 133">
                <a:extLst>
                  <a:ext uri="{FF2B5EF4-FFF2-40B4-BE49-F238E27FC236}">
                    <a16:creationId xmlns:a16="http://schemas.microsoft.com/office/drawing/2014/main" id="{4E54986C-D6C3-4AD7-838B-F34EBE9D89D9}"/>
                  </a:ext>
                </a:extLst>
              </p:cNvPr>
              <p:cNvSpPr/>
              <p:nvPr/>
            </p:nvSpPr>
            <p:spPr>
              <a:xfrm>
                <a:off x="5547565" y="3375991"/>
                <a:ext cx="369588"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𝑎</m:t>
                      </m:r>
                    </m:oMath>
                  </m:oMathPara>
                </a14:m>
                <a:endParaRPr lang="zh-TW" altLang="en-US" dirty="0"/>
              </a:p>
            </p:txBody>
          </p:sp>
        </mc:Choice>
        <mc:Fallback xmlns="">
          <p:sp>
            <p:nvSpPr>
              <p:cNvPr id="134" name="矩形 133">
                <a:extLst>
                  <a:ext uri="{FF2B5EF4-FFF2-40B4-BE49-F238E27FC236}">
                    <a16:creationId xmlns:a16="http://schemas.microsoft.com/office/drawing/2014/main" id="{4E54986C-D6C3-4AD7-838B-F34EBE9D89D9}"/>
                  </a:ext>
                </a:extLst>
              </p:cNvPr>
              <p:cNvSpPr>
                <a:spLocks noRot="1" noChangeAspect="1" noMove="1" noResize="1" noEditPoints="1" noAdjustHandles="1" noChangeArrowheads="1" noChangeShapeType="1" noTextEdit="1"/>
              </p:cNvSpPr>
              <p:nvPr/>
            </p:nvSpPr>
            <p:spPr>
              <a:xfrm>
                <a:off x="5547565" y="3375991"/>
                <a:ext cx="369588" cy="369332"/>
              </a:xfrm>
              <a:prstGeom prst="rect">
                <a:avLst/>
              </a:prstGeom>
              <a:blipFill>
                <a:blip r:embed="rId30"/>
                <a:stretch>
                  <a:fillRect/>
                </a:stretch>
              </a:blipFill>
            </p:spPr>
            <p:txBody>
              <a:bodyPr/>
              <a:lstStyle/>
              <a:p>
                <a:r>
                  <a:rPr lang="zh-TW" altLang="en-US">
                    <a:noFill/>
                  </a:rPr>
                  <a:t> </a:t>
                </a:r>
              </a:p>
            </p:txBody>
          </p:sp>
        </mc:Fallback>
      </mc:AlternateContent>
      <p:cxnSp>
        <p:nvCxnSpPr>
          <p:cNvPr id="135" name="直線接點 134">
            <a:extLst>
              <a:ext uri="{FF2B5EF4-FFF2-40B4-BE49-F238E27FC236}">
                <a16:creationId xmlns:a16="http://schemas.microsoft.com/office/drawing/2014/main" id="{7CB812B3-88E5-44A8-9681-17FA80CEDBC0}"/>
              </a:ext>
            </a:extLst>
          </p:cNvPr>
          <p:cNvCxnSpPr>
            <a:cxnSpLocks/>
          </p:cNvCxnSpPr>
          <p:nvPr/>
        </p:nvCxnSpPr>
        <p:spPr>
          <a:xfrm flipH="1">
            <a:off x="5568394" y="3930409"/>
            <a:ext cx="367635" cy="739974"/>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6" name="矩形 135">
                <a:extLst>
                  <a:ext uri="{FF2B5EF4-FFF2-40B4-BE49-F238E27FC236}">
                    <a16:creationId xmlns:a16="http://schemas.microsoft.com/office/drawing/2014/main" id="{4362D9B3-8905-4B29-A817-A06D824B1F28}"/>
                  </a:ext>
                </a:extLst>
              </p:cNvPr>
              <p:cNvSpPr/>
              <p:nvPr/>
            </p:nvSpPr>
            <p:spPr>
              <a:xfrm>
                <a:off x="4903199" y="4094175"/>
                <a:ext cx="8812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𝑎</m:t>
                      </m:r>
                      <m:r>
                        <a:rPr lang="en-US" altLang="zh-TW" b="0" i="1" smtClean="0">
                          <a:latin typeface="Cambria Math" panose="02040503050406030204" pitchFamily="18" charset="0"/>
                        </a:rPr>
                        <m:t>…#</m:t>
                      </m:r>
                    </m:oMath>
                  </m:oMathPara>
                </a14:m>
                <a:endParaRPr lang="zh-TW" altLang="en-US" dirty="0"/>
              </a:p>
            </p:txBody>
          </p:sp>
        </mc:Choice>
        <mc:Fallback xmlns="">
          <p:sp>
            <p:nvSpPr>
              <p:cNvPr id="136" name="矩形 135">
                <a:extLst>
                  <a:ext uri="{FF2B5EF4-FFF2-40B4-BE49-F238E27FC236}">
                    <a16:creationId xmlns:a16="http://schemas.microsoft.com/office/drawing/2014/main" id="{4362D9B3-8905-4B29-A817-A06D824B1F28}"/>
                  </a:ext>
                </a:extLst>
              </p:cNvPr>
              <p:cNvSpPr>
                <a:spLocks noRot="1" noChangeAspect="1" noMove="1" noResize="1" noEditPoints="1" noAdjustHandles="1" noChangeArrowheads="1" noChangeShapeType="1" noTextEdit="1"/>
              </p:cNvSpPr>
              <p:nvPr/>
            </p:nvSpPr>
            <p:spPr>
              <a:xfrm>
                <a:off x="4903199" y="4094175"/>
                <a:ext cx="881203" cy="369332"/>
              </a:xfrm>
              <a:prstGeom prst="rect">
                <a:avLst/>
              </a:prstGeom>
              <a:blipFill>
                <a:blip r:embed="rId31"/>
                <a:stretch>
                  <a:fillRect/>
                </a:stretch>
              </a:blipFill>
            </p:spPr>
            <p:txBody>
              <a:bodyPr/>
              <a:lstStyle/>
              <a:p>
                <a:r>
                  <a:rPr lang="zh-TW" altLang="en-US">
                    <a:noFill/>
                  </a:rPr>
                  <a:t> </a:t>
                </a:r>
              </a:p>
            </p:txBody>
          </p:sp>
        </mc:Fallback>
      </mc:AlternateContent>
      <p:grpSp>
        <p:nvGrpSpPr>
          <p:cNvPr id="255" name="群組 254">
            <a:extLst>
              <a:ext uri="{FF2B5EF4-FFF2-40B4-BE49-F238E27FC236}">
                <a16:creationId xmlns:a16="http://schemas.microsoft.com/office/drawing/2014/main" id="{246BB46B-AE6A-49EE-AE2B-1463B5B68C36}"/>
              </a:ext>
            </a:extLst>
          </p:cNvPr>
          <p:cNvGrpSpPr/>
          <p:nvPr/>
        </p:nvGrpSpPr>
        <p:grpSpPr>
          <a:xfrm>
            <a:off x="5319514" y="4643010"/>
            <a:ext cx="371448" cy="467624"/>
            <a:chOff x="4510231" y="4691567"/>
            <a:chExt cx="371448" cy="467624"/>
          </a:xfrm>
        </p:grpSpPr>
        <p:sp>
          <p:nvSpPr>
            <p:cNvPr id="137" name="橢圓 136">
              <a:extLst>
                <a:ext uri="{FF2B5EF4-FFF2-40B4-BE49-F238E27FC236}">
                  <a16:creationId xmlns:a16="http://schemas.microsoft.com/office/drawing/2014/main" id="{D1D79FF8-B5E0-4F9D-935B-EDFC7BED21A7}"/>
                </a:ext>
              </a:extLst>
            </p:cNvPr>
            <p:cNvSpPr/>
            <p:nvPr/>
          </p:nvSpPr>
          <p:spPr>
            <a:xfrm>
              <a:off x="4626740" y="4691567"/>
              <a:ext cx="155097" cy="155097"/>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38" name="矩形 137">
                  <a:extLst>
                    <a:ext uri="{FF2B5EF4-FFF2-40B4-BE49-F238E27FC236}">
                      <a16:creationId xmlns:a16="http://schemas.microsoft.com/office/drawing/2014/main" id="{B9554911-3A8A-4DF2-82D0-E7EB0C913B51}"/>
                    </a:ext>
                  </a:extLst>
                </p:cNvPr>
                <p:cNvSpPr/>
                <p:nvPr/>
              </p:nvSpPr>
              <p:spPr>
                <a:xfrm>
                  <a:off x="4510231" y="4789859"/>
                  <a:ext cx="3714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5</m:t>
                        </m:r>
                      </m:oMath>
                    </m:oMathPara>
                  </a14:m>
                  <a:endParaRPr lang="zh-TW" altLang="en-US" dirty="0"/>
                </a:p>
              </p:txBody>
            </p:sp>
          </mc:Choice>
          <mc:Fallback xmlns="">
            <p:sp>
              <p:nvSpPr>
                <p:cNvPr id="138" name="矩形 137">
                  <a:extLst>
                    <a:ext uri="{FF2B5EF4-FFF2-40B4-BE49-F238E27FC236}">
                      <a16:creationId xmlns:a16="http://schemas.microsoft.com/office/drawing/2014/main" id="{B9554911-3A8A-4DF2-82D0-E7EB0C913B51}"/>
                    </a:ext>
                  </a:extLst>
                </p:cNvPr>
                <p:cNvSpPr>
                  <a:spLocks noRot="1" noChangeAspect="1" noMove="1" noResize="1" noEditPoints="1" noAdjustHandles="1" noChangeArrowheads="1" noChangeShapeType="1" noTextEdit="1"/>
                </p:cNvSpPr>
                <p:nvPr/>
              </p:nvSpPr>
              <p:spPr>
                <a:xfrm>
                  <a:off x="4510231" y="4789859"/>
                  <a:ext cx="371448" cy="369332"/>
                </a:xfrm>
                <a:prstGeom prst="rect">
                  <a:avLst/>
                </a:prstGeom>
                <a:blipFill>
                  <a:blip r:embed="rId32"/>
                  <a:stretch>
                    <a:fillRect/>
                  </a:stretch>
                </a:blipFill>
              </p:spPr>
              <p:txBody>
                <a:bodyPr/>
                <a:lstStyle/>
                <a:p>
                  <a:r>
                    <a:rPr lang="zh-TW" altLang="en-US">
                      <a:noFill/>
                    </a:rPr>
                    <a:t> </a:t>
                  </a:r>
                </a:p>
              </p:txBody>
            </p:sp>
          </mc:Fallback>
        </mc:AlternateContent>
      </p:grpSp>
      <p:cxnSp>
        <p:nvCxnSpPr>
          <p:cNvPr id="139" name="直線接點 138">
            <a:extLst>
              <a:ext uri="{FF2B5EF4-FFF2-40B4-BE49-F238E27FC236}">
                <a16:creationId xmlns:a16="http://schemas.microsoft.com/office/drawing/2014/main" id="{081D4D1E-8957-4369-851C-CE2A03077CDC}"/>
              </a:ext>
            </a:extLst>
          </p:cNvPr>
          <p:cNvCxnSpPr>
            <a:cxnSpLocks/>
            <a:endCxn id="142" idx="1"/>
          </p:cNvCxnSpPr>
          <p:nvPr/>
        </p:nvCxnSpPr>
        <p:spPr>
          <a:xfrm>
            <a:off x="6002260" y="3888813"/>
            <a:ext cx="486378" cy="821113"/>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1" name="矩形 140">
                <a:extLst>
                  <a:ext uri="{FF2B5EF4-FFF2-40B4-BE49-F238E27FC236}">
                    <a16:creationId xmlns:a16="http://schemas.microsoft.com/office/drawing/2014/main" id="{F650AE4F-BE77-411D-9DDF-A77ADE60831C}"/>
                  </a:ext>
                </a:extLst>
              </p:cNvPr>
              <p:cNvSpPr/>
              <p:nvPr/>
            </p:nvSpPr>
            <p:spPr>
              <a:xfrm>
                <a:off x="6289952" y="4146556"/>
                <a:ext cx="622543"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TW" i="1" smtClean="0">
                          <a:latin typeface="Cambria Math" panose="02040503050406030204" pitchFamily="18" charset="0"/>
                        </a:rPr>
                        <m:t>a</m:t>
                      </m:r>
                      <m:r>
                        <a:rPr lang="en-US" altLang="zh-TW" b="0" i="1" smtClean="0">
                          <a:latin typeface="Cambria Math" panose="02040503050406030204" pitchFamily="18" charset="0"/>
                        </a:rPr>
                        <m:t>𝑏</m:t>
                      </m:r>
                      <m:r>
                        <a:rPr lang="en-US" altLang="zh-TW" b="0" i="1" smtClean="0">
                          <a:latin typeface="Cambria Math" panose="02040503050406030204" pitchFamily="18" charset="0"/>
                        </a:rPr>
                        <m:t>#</m:t>
                      </m:r>
                    </m:oMath>
                  </m:oMathPara>
                </a14:m>
                <a:endParaRPr lang="zh-TW" altLang="en-US" dirty="0"/>
              </a:p>
            </p:txBody>
          </p:sp>
        </mc:Choice>
        <mc:Fallback xmlns="">
          <p:sp>
            <p:nvSpPr>
              <p:cNvPr id="141" name="矩形 140">
                <a:extLst>
                  <a:ext uri="{FF2B5EF4-FFF2-40B4-BE49-F238E27FC236}">
                    <a16:creationId xmlns:a16="http://schemas.microsoft.com/office/drawing/2014/main" id="{F650AE4F-BE77-411D-9DDF-A77ADE60831C}"/>
                  </a:ext>
                </a:extLst>
              </p:cNvPr>
              <p:cNvSpPr>
                <a:spLocks noRot="1" noChangeAspect="1" noMove="1" noResize="1" noEditPoints="1" noAdjustHandles="1" noChangeArrowheads="1" noChangeShapeType="1" noTextEdit="1"/>
              </p:cNvSpPr>
              <p:nvPr/>
            </p:nvSpPr>
            <p:spPr>
              <a:xfrm>
                <a:off x="6289952" y="4146556"/>
                <a:ext cx="622543" cy="369332"/>
              </a:xfrm>
              <a:prstGeom prst="rect">
                <a:avLst/>
              </a:prstGeom>
              <a:blipFill>
                <a:blip r:embed="rId33"/>
                <a:stretch>
                  <a:fillRect/>
                </a:stretch>
              </a:blipFill>
            </p:spPr>
            <p:txBody>
              <a:bodyPr/>
              <a:lstStyle/>
              <a:p>
                <a:r>
                  <a:rPr lang="zh-TW" altLang="en-US">
                    <a:noFill/>
                  </a:rPr>
                  <a:t> </a:t>
                </a:r>
              </a:p>
            </p:txBody>
          </p:sp>
        </mc:Fallback>
      </mc:AlternateContent>
      <p:grpSp>
        <p:nvGrpSpPr>
          <p:cNvPr id="256" name="群組 255">
            <a:extLst>
              <a:ext uri="{FF2B5EF4-FFF2-40B4-BE49-F238E27FC236}">
                <a16:creationId xmlns:a16="http://schemas.microsoft.com/office/drawing/2014/main" id="{5766B778-F065-4BC1-A158-4633F004D39F}"/>
              </a:ext>
            </a:extLst>
          </p:cNvPr>
          <p:cNvGrpSpPr/>
          <p:nvPr/>
        </p:nvGrpSpPr>
        <p:grpSpPr>
          <a:xfrm>
            <a:off x="6305776" y="4687213"/>
            <a:ext cx="494046" cy="468167"/>
            <a:chOff x="5244390" y="4680616"/>
            <a:chExt cx="494046" cy="468167"/>
          </a:xfrm>
        </p:grpSpPr>
        <p:sp>
          <p:nvSpPr>
            <p:cNvPr id="142" name="橢圓 141">
              <a:extLst>
                <a:ext uri="{FF2B5EF4-FFF2-40B4-BE49-F238E27FC236}">
                  <a16:creationId xmlns:a16="http://schemas.microsoft.com/office/drawing/2014/main" id="{C4EECADB-E94E-446C-93EC-7A92EBC6D58F}"/>
                </a:ext>
              </a:extLst>
            </p:cNvPr>
            <p:cNvSpPr/>
            <p:nvPr/>
          </p:nvSpPr>
          <p:spPr>
            <a:xfrm>
              <a:off x="5404539" y="4680616"/>
              <a:ext cx="155097" cy="155097"/>
            </a:xfrm>
            <a:prstGeom prst="ellipse">
              <a:avLst/>
            </a:prstGeom>
            <a:solidFill>
              <a:schemeClr val="accent4">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43" name="矩形 142">
                  <a:extLst>
                    <a:ext uri="{FF2B5EF4-FFF2-40B4-BE49-F238E27FC236}">
                      <a16:creationId xmlns:a16="http://schemas.microsoft.com/office/drawing/2014/main" id="{700E0A06-9F8A-4964-A2E1-656814B1C85E}"/>
                    </a:ext>
                  </a:extLst>
                </p:cNvPr>
                <p:cNvSpPr/>
                <p:nvPr/>
              </p:nvSpPr>
              <p:spPr>
                <a:xfrm>
                  <a:off x="5244390" y="4779451"/>
                  <a:ext cx="49404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11</m:t>
                        </m:r>
                      </m:oMath>
                    </m:oMathPara>
                  </a14:m>
                  <a:endParaRPr lang="zh-TW" altLang="en-US" dirty="0"/>
                </a:p>
              </p:txBody>
            </p:sp>
          </mc:Choice>
          <mc:Fallback xmlns="">
            <p:sp>
              <p:nvSpPr>
                <p:cNvPr id="143" name="矩形 142">
                  <a:extLst>
                    <a:ext uri="{FF2B5EF4-FFF2-40B4-BE49-F238E27FC236}">
                      <a16:creationId xmlns:a16="http://schemas.microsoft.com/office/drawing/2014/main" id="{700E0A06-9F8A-4964-A2E1-656814B1C85E}"/>
                    </a:ext>
                  </a:extLst>
                </p:cNvPr>
                <p:cNvSpPr>
                  <a:spLocks noRot="1" noChangeAspect="1" noMove="1" noResize="1" noEditPoints="1" noAdjustHandles="1" noChangeArrowheads="1" noChangeShapeType="1" noTextEdit="1"/>
                </p:cNvSpPr>
                <p:nvPr/>
              </p:nvSpPr>
              <p:spPr>
                <a:xfrm>
                  <a:off x="5244390" y="4779451"/>
                  <a:ext cx="494046" cy="369332"/>
                </a:xfrm>
                <a:prstGeom prst="rect">
                  <a:avLst/>
                </a:prstGeom>
                <a:blipFill>
                  <a:blip r:embed="rId34"/>
                  <a:stretch>
                    <a:fillRect/>
                  </a:stretch>
                </a:blipFill>
              </p:spPr>
              <p:txBody>
                <a:bodyPr/>
                <a:lstStyle/>
                <a:p>
                  <a:r>
                    <a:rPr lang="zh-TW" altLang="en-US">
                      <a:noFill/>
                    </a:rPr>
                    <a:t> </a:t>
                  </a:r>
                </a:p>
              </p:txBody>
            </p:sp>
          </mc:Fallback>
        </mc:AlternateContent>
      </p:grpSp>
      <p:cxnSp>
        <p:nvCxnSpPr>
          <p:cNvPr id="161" name="直線接點 160">
            <a:extLst>
              <a:ext uri="{FF2B5EF4-FFF2-40B4-BE49-F238E27FC236}">
                <a16:creationId xmlns:a16="http://schemas.microsoft.com/office/drawing/2014/main" id="{5B6D5277-79E7-4F54-AC0C-758CE8CB7A53}"/>
              </a:ext>
            </a:extLst>
          </p:cNvPr>
          <p:cNvCxnSpPr>
            <a:cxnSpLocks/>
            <a:stCxn id="8" idx="5"/>
            <a:endCxn id="167" idx="1"/>
          </p:cNvCxnSpPr>
          <p:nvPr/>
        </p:nvCxnSpPr>
        <p:spPr>
          <a:xfrm>
            <a:off x="4017463" y="1422639"/>
            <a:ext cx="3375266" cy="88624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2" name="矩形 161">
                <a:extLst>
                  <a:ext uri="{FF2B5EF4-FFF2-40B4-BE49-F238E27FC236}">
                    <a16:creationId xmlns:a16="http://schemas.microsoft.com/office/drawing/2014/main" id="{0D7B66A2-6181-47AA-95A9-620DF44D8952}"/>
                  </a:ext>
                </a:extLst>
              </p:cNvPr>
              <p:cNvSpPr/>
              <p:nvPr/>
            </p:nvSpPr>
            <p:spPr>
              <a:xfrm>
                <a:off x="5629924" y="1604704"/>
                <a:ext cx="371448"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𝑐</m:t>
                      </m:r>
                    </m:oMath>
                  </m:oMathPara>
                </a14:m>
                <a:endParaRPr lang="zh-TW" altLang="en-US" dirty="0"/>
              </a:p>
            </p:txBody>
          </p:sp>
        </mc:Choice>
        <mc:Fallback xmlns="">
          <p:sp>
            <p:nvSpPr>
              <p:cNvPr id="162" name="矩形 161">
                <a:extLst>
                  <a:ext uri="{FF2B5EF4-FFF2-40B4-BE49-F238E27FC236}">
                    <a16:creationId xmlns:a16="http://schemas.microsoft.com/office/drawing/2014/main" id="{0D7B66A2-6181-47AA-95A9-620DF44D8952}"/>
                  </a:ext>
                </a:extLst>
              </p:cNvPr>
              <p:cNvSpPr>
                <a:spLocks noRot="1" noChangeAspect="1" noMove="1" noResize="1" noEditPoints="1" noAdjustHandles="1" noChangeArrowheads="1" noChangeShapeType="1" noTextEdit="1"/>
              </p:cNvSpPr>
              <p:nvPr/>
            </p:nvSpPr>
            <p:spPr>
              <a:xfrm>
                <a:off x="5629924" y="1604704"/>
                <a:ext cx="371448" cy="369332"/>
              </a:xfrm>
              <a:prstGeom prst="rect">
                <a:avLst/>
              </a:prstGeom>
              <a:blipFill>
                <a:blip r:embed="rId35"/>
                <a:stretch>
                  <a:fillRect/>
                </a:stretch>
              </a:blipFill>
            </p:spPr>
            <p:txBody>
              <a:bodyPr/>
              <a:lstStyle/>
              <a:p>
                <a:r>
                  <a:rPr lang="zh-TW" altLang="en-US">
                    <a:noFill/>
                  </a:rPr>
                  <a:t> </a:t>
                </a:r>
              </a:p>
            </p:txBody>
          </p:sp>
        </mc:Fallback>
      </mc:AlternateContent>
      <p:cxnSp>
        <p:nvCxnSpPr>
          <p:cNvPr id="165" name="直線接點 164">
            <a:extLst>
              <a:ext uri="{FF2B5EF4-FFF2-40B4-BE49-F238E27FC236}">
                <a16:creationId xmlns:a16="http://schemas.microsoft.com/office/drawing/2014/main" id="{125CD514-6986-48F8-A08C-79258583FA2F}"/>
              </a:ext>
            </a:extLst>
          </p:cNvPr>
          <p:cNvCxnSpPr>
            <a:cxnSpLocks/>
            <a:stCxn id="169" idx="4"/>
            <a:endCxn id="173" idx="7"/>
          </p:cNvCxnSpPr>
          <p:nvPr/>
        </p:nvCxnSpPr>
        <p:spPr>
          <a:xfrm flipH="1">
            <a:off x="7625806" y="3132572"/>
            <a:ext cx="307981" cy="72633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67" name="橢圓 166">
            <a:extLst>
              <a:ext uri="{FF2B5EF4-FFF2-40B4-BE49-F238E27FC236}">
                <a16:creationId xmlns:a16="http://schemas.microsoft.com/office/drawing/2014/main" id="{6794CDC4-B4CA-45A5-85BA-1641B55EB9B2}"/>
              </a:ext>
            </a:extLst>
          </p:cNvPr>
          <p:cNvSpPr/>
          <p:nvPr/>
        </p:nvSpPr>
        <p:spPr>
          <a:xfrm>
            <a:off x="7370016" y="2286166"/>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9" name="橢圓 168">
            <a:extLst>
              <a:ext uri="{FF2B5EF4-FFF2-40B4-BE49-F238E27FC236}">
                <a16:creationId xmlns:a16="http://schemas.microsoft.com/office/drawing/2014/main" id="{3BA85CF1-CA0E-4D66-91F8-C65D5C6BB5CC}"/>
              </a:ext>
            </a:extLst>
          </p:cNvPr>
          <p:cNvSpPr/>
          <p:nvPr/>
        </p:nvSpPr>
        <p:spPr>
          <a:xfrm>
            <a:off x="7856238" y="2977475"/>
            <a:ext cx="155097" cy="155097"/>
          </a:xfrm>
          <a:prstGeom prst="ellipse">
            <a:avLst/>
          </a:prstGeom>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70" name="矩形 169">
                <a:extLst>
                  <a:ext uri="{FF2B5EF4-FFF2-40B4-BE49-F238E27FC236}">
                    <a16:creationId xmlns:a16="http://schemas.microsoft.com/office/drawing/2014/main" id="{5BF0F482-14C8-4CC1-841B-4D6BB69E902E}"/>
                  </a:ext>
                </a:extLst>
              </p:cNvPr>
              <p:cNvSpPr/>
              <p:nvPr/>
            </p:nvSpPr>
            <p:spPr>
              <a:xfrm>
                <a:off x="7808260" y="2460892"/>
                <a:ext cx="36958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𝑎</m:t>
                      </m:r>
                    </m:oMath>
                  </m:oMathPara>
                </a14:m>
                <a:endParaRPr lang="zh-TW" altLang="en-US" dirty="0"/>
              </a:p>
            </p:txBody>
          </p:sp>
        </mc:Choice>
        <mc:Fallback xmlns="">
          <p:sp>
            <p:nvSpPr>
              <p:cNvPr id="170" name="矩形 169">
                <a:extLst>
                  <a:ext uri="{FF2B5EF4-FFF2-40B4-BE49-F238E27FC236}">
                    <a16:creationId xmlns:a16="http://schemas.microsoft.com/office/drawing/2014/main" id="{5BF0F482-14C8-4CC1-841B-4D6BB69E902E}"/>
                  </a:ext>
                </a:extLst>
              </p:cNvPr>
              <p:cNvSpPr>
                <a:spLocks noRot="1" noChangeAspect="1" noMove="1" noResize="1" noEditPoints="1" noAdjustHandles="1" noChangeArrowheads="1" noChangeShapeType="1" noTextEdit="1"/>
              </p:cNvSpPr>
              <p:nvPr/>
            </p:nvSpPr>
            <p:spPr>
              <a:xfrm>
                <a:off x="7808260" y="2460892"/>
                <a:ext cx="369588" cy="369332"/>
              </a:xfrm>
              <a:prstGeom prst="rect">
                <a:avLst/>
              </a:prstGeom>
              <a:blipFill>
                <a:blip r:embed="rId3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4" name="矩形 173">
                <a:extLst>
                  <a:ext uri="{FF2B5EF4-FFF2-40B4-BE49-F238E27FC236}">
                    <a16:creationId xmlns:a16="http://schemas.microsoft.com/office/drawing/2014/main" id="{C28B716D-5562-462E-8760-2E3EEA036141}"/>
                  </a:ext>
                </a:extLst>
              </p:cNvPr>
              <p:cNvSpPr/>
              <p:nvPr/>
            </p:nvSpPr>
            <p:spPr>
              <a:xfrm>
                <a:off x="6944170" y="3391862"/>
                <a:ext cx="8812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𝑎</m:t>
                      </m:r>
                      <m:r>
                        <a:rPr lang="en-US" altLang="zh-TW" b="0" i="1" smtClean="0">
                          <a:latin typeface="Cambria Math" panose="02040503050406030204" pitchFamily="18" charset="0"/>
                        </a:rPr>
                        <m:t>…#</m:t>
                      </m:r>
                    </m:oMath>
                  </m:oMathPara>
                </a14:m>
                <a:endParaRPr lang="zh-TW" altLang="en-US" dirty="0"/>
              </a:p>
            </p:txBody>
          </p:sp>
        </mc:Choice>
        <mc:Fallback xmlns="">
          <p:sp>
            <p:nvSpPr>
              <p:cNvPr id="174" name="矩形 173">
                <a:extLst>
                  <a:ext uri="{FF2B5EF4-FFF2-40B4-BE49-F238E27FC236}">
                    <a16:creationId xmlns:a16="http://schemas.microsoft.com/office/drawing/2014/main" id="{C28B716D-5562-462E-8760-2E3EEA036141}"/>
                  </a:ext>
                </a:extLst>
              </p:cNvPr>
              <p:cNvSpPr>
                <a:spLocks noRot="1" noChangeAspect="1" noMove="1" noResize="1" noEditPoints="1" noAdjustHandles="1" noChangeArrowheads="1" noChangeShapeType="1" noTextEdit="1"/>
              </p:cNvSpPr>
              <p:nvPr/>
            </p:nvSpPr>
            <p:spPr>
              <a:xfrm>
                <a:off x="6944170" y="3391862"/>
                <a:ext cx="881203" cy="369332"/>
              </a:xfrm>
              <a:prstGeom prst="rect">
                <a:avLst/>
              </a:prstGeom>
              <a:blipFill>
                <a:blip r:embed="rId37"/>
                <a:stretch>
                  <a:fillRect/>
                </a:stretch>
              </a:blipFill>
            </p:spPr>
            <p:txBody>
              <a:bodyPr/>
              <a:lstStyle/>
              <a:p>
                <a:r>
                  <a:rPr lang="zh-TW" altLang="en-US">
                    <a:noFill/>
                  </a:rPr>
                  <a:t> </a:t>
                </a:r>
              </a:p>
            </p:txBody>
          </p:sp>
        </mc:Fallback>
      </mc:AlternateContent>
      <p:grpSp>
        <p:nvGrpSpPr>
          <p:cNvPr id="257" name="群組 256">
            <a:extLst>
              <a:ext uri="{FF2B5EF4-FFF2-40B4-BE49-F238E27FC236}">
                <a16:creationId xmlns:a16="http://schemas.microsoft.com/office/drawing/2014/main" id="{02EC865A-0F91-41A6-B9A8-9ABAC7A2269E}"/>
              </a:ext>
            </a:extLst>
          </p:cNvPr>
          <p:cNvGrpSpPr/>
          <p:nvPr/>
        </p:nvGrpSpPr>
        <p:grpSpPr>
          <a:xfrm>
            <a:off x="7374565" y="3836196"/>
            <a:ext cx="371448" cy="459551"/>
            <a:chOff x="7300926" y="3760449"/>
            <a:chExt cx="371448" cy="459551"/>
          </a:xfrm>
        </p:grpSpPr>
        <p:sp>
          <p:nvSpPr>
            <p:cNvPr id="173" name="橢圓 172">
              <a:extLst>
                <a:ext uri="{FF2B5EF4-FFF2-40B4-BE49-F238E27FC236}">
                  <a16:creationId xmlns:a16="http://schemas.microsoft.com/office/drawing/2014/main" id="{D92D2A1B-4376-4E53-94F0-9F49992B90D6}"/>
                </a:ext>
              </a:extLst>
            </p:cNvPr>
            <p:cNvSpPr/>
            <p:nvPr/>
          </p:nvSpPr>
          <p:spPr>
            <a:xfrm>
              <a:off x="7419783" y="3760449"/>
              <a:ext cx="155097" cy="155097"/>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79" name="矩形 178">
                  <a:extLst>
                    <a:ext uri="{FF2B5EF4-FFF2-40B4-BE49-F238E27FC236}">
                      <a16:creationId xmlns:a16="http://schemas.microsoft.com/office/drawing/2014/main" id="{2D9201DF-FE62-41B9-BB59-C17FA89D2890}"/>
                    </a:ext>
                  </a:extLst>
                </p:cNvPr>
                <p:cNvSpPr/>
                <p:nvPr/>
              </p:nvSpPr>
              <p:spPr>
                <a:xfrm>
                  <a:off x="7300926" y="3850668"/>
                  <a:ext cx="37144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6</m:t>
                        </m:r>
                      </m:oMath>
                    </m:oMathPara>
                  </a14:m>
                  <a:endParaRPr lang="zh-TW" altLang="en-US" dirty="0"/>
                </a:p>
              </p:txBody>
            </p:sp>
          </mc:Choice>
          <mc:Fallback xmlns="">
            <p:sp>
              <p:nvSpPr>
                <p:cNvPr id="179" name="矩形 178">
                  <a:extLst>
                    <a:ext uri="{FF2B5EF4-FFF2-40B4-BE49-F238E27FC236}">
                      <a16:creationId xmlns:a16="http://schemas.microsoft.com/office/drawing/2014/main" id="{2D9201DF-FE62-41B9-BB59-C17FA89D2890}"/>
                    </a:ext>
                  </a:extLst>
                </p:cNvPr>
                <p:cNvSpPr>
                  <a:spLocks noRot="1" noChangeAspect="1" noMove="1" noResize="1" noEditPoints="1" noAdjustHandles="1" noChangeArrowheads="1" noChangeShapeType="1" noTextEdit="1"/>
                </p:cNvSpPr>
                <p:nvPr/>
              </p:nvSpPr>
              <p:spPr>
                <a:xfrm>
                  <a:off x="7300926" y="3850668"/>
                  <a:ext cx="371448" cy="369332"/>
                </a:xfrm>
                <a:prstGeom prst="rect">
                  <a:avLst/>
                </a:prstGeom>
                <a:blipFill>
                  <a:blip r:embed="rId38"/>
                  <a:stretch>
                    <a:fillRect/>
                  </a:stretch>
                </a:blipFill>
              </p:spPr>
              <p:txBody>
                <a:bodyPr/>
                <a:lstStyle/>
                <a:p>
                  <a:r>
                    <a:rPr lang="zh-TW" altLang="en-US">
                      <a:noFill/>
                    </a:rPr>
                    <a:t> </a:t>
                  </a:r>
                </a:p>
              </p:txBody>
            </p:sp>
          </mc:Fallback>
        </mc:AlternateContent>
      </p:grpSp>
      <p:cxnSp>
        <p:nvCxnSpPr>
          <p:cNvPr id="180" name="直線接點 179">
            <a:extLst>
              <a:ext uri="{FF2B5EF4-FFF2-40B4-BE49-F238E27FC236}">
                <a16:creationId xmlns:a16="http://schemas.microsoft.com/office/drawing/2014/main" id="{74DF3B0B-F0EA-475A-BFCC-5C6A8C90DE03}"/>
              </a:ext>
            </a:extLst>
          </p:cNvPr>
          <p:cNvCxnSpPr>
            <a:cxnSpLocks/>
            <a:stCxn id="169" idx="4"/>
            <a:endCxn id="182" idx="0"/>
          </p:cNvCxnSpPr>
          <p:nvPr/>
        </p:nvCxnSpPr>
        <p:spPr>
          <a:xfrm>
            <a:off x="7933787" y="3132572"/>
            <a:ext cx="425521" cy="682027"/>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1" name="矩形 180">
                <a:extLst>
                  <a:ext uri="{FF2B5EF4-FFF2-40B4-BE49-F238E27FC236}">
                    <a16:creationId xmlns:a16="http://schemas.microsoft.com/office/drawing/2014/main" id="{CF3BD8D7-1050-4582-8847-7681514006DC}"/>
                  </a:ext>
                </a:extLst>
              </p:cNvPr>
              <p:cNvSpPr/>
              <p:nvPr/>
            </p:nvSpPr>
            <p:spPr>
              <a:xfrm>
                <a:off x="8170875" y="3358639"/>
                <a:ext cx="62254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altLang="zh-TW" i="1" smtClean="0">
                          <a:latin typeface="Cambria Math" panose="02040503050406030204" pitchFamily="18" charset="0"/>
                        </a:rPr>
                        <m:t>a</m:t>
                      </m:r>
                      <m:r>
                        <a:rPr lang="en-US" altLang="zh-TW" b="0" i="1" smtClean="0">
                          <a:latin typeface="Cambria Math" panose="02040503050406030204" pitchFamily="18" charset="0"/>
                        </a:rPr>
                        <m:t>𝑏</m:t>
                      </m:r>
                      <m:r>
                        <a:rPr lang="en-US" altLang="zh-TW" b="0" i="1" smtClean="0">
                          <a:latin typeface="Cambria Math" panose="02040503050406030204" pitchFamily="18" charset="0"/>
                        </a:rPr>
                        <m:t>#</m:t>
                      </m:r>
                    </m:oMath>
                  </m:oMathPara>
                </a14:m>
                <a:endParaRPr lang="zh-TW" altLang="en-US" dirty="0"/>
              </a:p>
            </p:txBody>
          </p:sp>
        </mc:Choice>
        <mc:Fallback xmlns="">
          <p:sp>
            <p:nvSpPr>
              <p:cNvPr id="181" name="矩形 180">
                <a:extLst>
                  <a:ext uri="{FF2B5EF4-FFF2-40B4-BE49-F238E27FC236}">
                    <a16:creationId xmlns:a16="http://schemas.microsoft.com/office/drawing/2014/main" id="{CF3BD8D7-1050-4582-8847-7681514006DC}"/>
                  </a:ext>
                </a:extLst>
              </p:cNvPr>
              <p:cNvSpPr>
                <a:spLocks noRot="1" noChangeAspect="1" noMove="1" noResize="1" noEditPoints="1" noAdjustHandles="1" noChangeArrowheads="1" noChangeShapeType="1" noTextEdit="1"/>
              </p:cNvSpPr>
              <p:nvPr/>
            </p:nvSpPr>
            <p:spPr>
              <a:xfrm>
                <a:off x="8170875" y="3358639"/>
                <a:ext cx="622543" cy="369332"/>
              </a:xfrm>
              <a:prstGeom prst="rect">
                <a:avLst/>
              </a:prstGeom>
              <a:blipFill>
                <a:blip r:embed="rId39"/>
                <a:stretch>
                  <a:fillRect/>
                </a:stretch>
              </a:blipFill>
            </p:spPr>
            <p:txBody>
              <a:bodyPr/>
              <a:lstStyle/>
              <a:p>
                <a:r>
                  <a:rPr lang="zh-TW" altLang="en-US">
                    <a:noFill/>
                  </a:rPr>
                  <a:t> </a:t>
                </a:r>
              </a:p>
            </p:txBody>
          </p:sp>
        </mc:Fallback>
      </mc:AlternateContent>
      <p:grpSp>
        <p:nvGrpSpPr>
          <p:cNvPr id="258" name="群組 257">
            <a:extLst>
              <a:ext uri="{FF2B5EF4-FFF2-40B4-BE49-F238E27FC236}">
                <a16:creationId xmlns:a16="http://schemas.microsoft.com/office/drawing/2014/main" id="{DC5FE376-D7A3-4834-8594-4F26096BDF50}"/>
              </a:ext>
            </a:extLst>
          </p:cNvPr>
          <p:cNvGrpSpPr/>
          <p:nvPr/>
        </p:nvGrpSpPr>
        <p:grpSpPr>
          <a:xfrm>
            <a:off x="8129662" y="3814599"/>
            <a:ext cx="494046" cy="474720"/>
            <a:chOff x="7739589" y="3737268"/>
            <a:chExt cx="494046" cy="474720"/>
          </a:xfrm>
        </p:grpSpPr>
        <p:sp>
          <p:nvSpPr>
            <p:cNvPr id="182" name="橢圓 181">
              <a:extLst>
                <a:ext uri="{FF2B5EF4-FFF2-40B4-BE49-F238E27FC236}">
                  <a16:creationId xmlns:a16="http://schemas.microsoft.com/office/drawing/2014/main" id="{5F766330-5A42-43A4-8CA9-BCCFBFC70F49}"/>
                </a:ext>
              </a:extLst>
            </p:cNvPr>
            <p:cNvSpPr/>
            <p:nvPr/>
          </p:nvSpPr>
          <p:spPr>
            <a:xfrm>
              <a:off x="7891686" y="3737268"/>
              <a:ext cx="155097" cy="155097"/>
            </a:xfrm>
            <a:prstGeom prst="ellipse">
              <a:avLst/>
            </a:prstGeom>
            <a:solidFill>
              <a:schemeClr val="accent4">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83" name="矩形 182">
                  <a:extLst>
                    <a:ext uri="{FF2B5EF4-FFF2-40B4-BE49-F238E27FC236}">
                      <a16:creationId xmlns:a16="http://schemas.microsoft.com/office/drawing/2014/main" id="{894F9B32-5E62-4F78-B4A4-2A1A7F83EFF2}"/>
                    </a:ext>
                  </a:extLst>
                </p:cNvPr>
                <p:cNvSpPr/>
                <p:nvPr/>
              </p:nvSpPr>
              <p:spPr>
                <a:xfrm>
                  <a:off x="7739589" y="3842656"/>
                  <a:ext cx="494046"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12</m:t>
                        </m:r>
                      </m:oMath>
                    </m:oMathPara>
                  </a14:m>
                  <a:endParaRPr lang="zh-TW" altLang="en-US" dirty="0"/>
                </a:p>
              </p:txBody>
            </p:sp>
          </mc:Choice>
          <mc:Fallback xmlns="">
            <p:sp>
              <p:nvSpPr>
                <p:cNvPr id="183" name="矩形 182">
                  <a:extLst>
                    <a:ext uri="{FF2B5EF4-FFF2-40B4-BE49-F238E27FC236}">
                      <a16:creationId xmlns:a16="http://schemas.microsoft.com/office/drawing/2014/main" id="{894F9B32-5E62-4F78-B4A4-2A1A7F83EFF2}"/>
                    </a:ext>
                  </a:extLst>
                </p:cNvPr>
                <p:cNvSpPr>
                  <a:spLocks noRot="1" noChangeAspect="1" noMove="1" noResize="1" noEditPoints="1" noAdjustHandles="1" noChangeArrowheads="1" noChangeShapeType="1" noTextEdit="1"/>
                </p:cNvSpPr>
                <p:nvPr/>
              </p:nvSpPr>
              <p:spPr>
                <a:xfrm>
                  <a:off x="7739589" y="3842656"/>
                  <a:ext cx="494046" cy="369332"/>
                </a:xfrm>
                <a:prstGeom prst="rect">
                  <a:avLst/>
                </a:prstGeom>
                <a:blipFill>
                  <a:blip r:embed="rId40"/>
                  <a:stretch>
                    <a:fillRect/>
                  </a:stretch>
                </a:blipFill>
              </p:spPr>
              <p:txBody>
                <a:bodyPr/>
                <a:lstStyle/>
                <a:p>
                  <a:r>
                    <a:rPr lang="zh-TW" altLang="en-US">
                      <a:noFill/>
                    </a:rPr>
                    <a:t> </a:t>
                  </a:r>
                </a:p>
              </p:txBody>
            </p:sp>
          </mc:Fallback>
        </mc:AlternateContent>
      </p:grpSp>
      <p:cxnSp>
        <p:nvCxnSpPr>
          <p:cNvPr id="187" name="直線接點 186">
            <a:extLst>
              <a:ext uri="{FF2B5EF4-FFF2-40B4-BE49-F238E27FC236}">
                <a16:creationId xmlns:a16="http://schemas.microsoft.com/office/drawing/2014/main" id="{1B774ECD-B119-4D0D-AC41-0DA840C149C4}"/>
              </a:ext>
            </a:extLst>
          </p:cNvPr>
          <p:cNvCxnSpPr>
            <a:cxnSpLocks/>
            <a:stCxn id="29" idx="3"/>
            <a:endCxn id="191" idx="6"/>
          </p:cNvCxnSpPr>
          <p:nvPr/>
        </p:nvCxnSpPr>
        <p:spPr>
          <a:xfrm flipH="1">
            <a:off x="791474" y="2511894"/>
            <a:ext cx="1937041" cy="779610"/>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2" name="矩形 191">
                <a:extLst>
                  <a:ext uri="{FF2B5EF4-FFF2-40B4-BE49-F238E27FC236}">
                    <a16:creationId xmlns:a16="http://schemas.microsoft.com/office/drawing/2014/main" id="{89AF9787-1C5F-46CB-9F94-5653E3ECAC2A}"/>
                  </a:ext>
                </a:extLst>
              </p:cNvPr>
              <p:cNvSpPr/>
              <p:nvPr/>
            </p:nvSpPr>
            <p:spPr>
              <a:xfrm>
                <a:off x="907918" y="2661323"/>
                <a:ext cx="8812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𝑎</m:t>
                      </m:r>
                      <m:r>
                        <a:rPr lang="en-US" altLang="zh-TW" b="0" i="1" smtClean="0">
                          <a:latin typeface="Cambria Math" panose="02040503050406030204" pitchFamily="18" charset="0"/>
                        </a:rPr>
                        <m:t>…#</m:t>
                      </m:r>
                    </m:oMath>
                  </m:oMathPara>
                </a14:m>
                <a:endParaRPr lang="zh-TW" altLang="en-US" dirty="0"/>
              </a:p>
            </p:txBody>
          </p:sp>
        </mc:Choice>
        <mc:Fallback xmlns="">
          <p:sp>
            <p:nvSpPr>
              <p:cNvPr id="192" name="矩形 191">
                <a:extLst>
                  <a:ext uri="{FF2B5EF4-FFF2-40B4-BE49-F238E27FC236}">
                    <a16:creationId xmlns:a16="http://schemas.microsoft.com/office/drawing/2014/main" id="{89AF9787-1C5F-46CB-9F94-5653E3ECAC2A}"/>
                  </a:ext>
                </a:extLst>
              </p:cNvPr>
              <p:cNvSpPr>
                <a:spLocks noRot="1" noChangeAspect="1" noMove="1" noResize="1" noEditPoints="1" noAdjustHandles="1" noChangeArrowheads="1" noChangeShapeType="1" noTextEdit="1"/>
              </p:cNvSpPr>
              <p:nvPr/>
            </p:nvSpPr>
            <p:spPr>
              <a:xfrm>
                <a:off x="907918" y="2661323"/>
                <a:ext cx="881203" cy="369332"/>
              </a:xfrm>
              <a:prstGeom prst="rect">
                <a:avLst/>
              </a:prstGeom>
              <a:blipFill>
                <a:blip r:embed="rId41"/>
                <a:stretch>
                  <a:fillRect/>
                </a:stretch>
              </a:blipFill>
            </p:spPr>
            <p:txBody>
              <a:bodyPr/>
              <a:lstStyle/>
              <a:p>
                <a:r>
                  <a:rPr lang="zh-TW" altLang="en-US">
                    <a:noFill/>
                  </a:rPr>
                  <a:t> </a:t>
                </a:r>
              </a:p>
            </p:txBody>
          </p:sp>
        </mc:Fallback>
      </mc:AlternateContent>
      <p:grpSp>
        <p:nvGrpSpPr>
          <p:cNvPr id="221" name="群組 220">
            <a:extLst>
              <a:ext uri="{FF2B5EF4-FFF2-40B4-BE49-F238E27FC236}">
                <a16:creationId xmlns:a16="http://schemas.microsoft.com/office/drawing/2014/main" id="{6CD7A38A-F252-4069-8581-05D2CC899C83}"/>
              </a:ext>
            </a:extLst>
          </p:cNvPr>
          <p:cNvGrpSpPr/>
          <p:nvPr/>
        </p:nvGrpSpPr>
        <p:grpSpPr>
          <a:xfrm>
            <a:off x="523111" y="3213955"/>
            <a:ext cx="365806" cy="468596"/>
            <a:chOff x="856355" y="2514499"/>
            <a:chExt cx="365806" cy="468596"/>
          </a:xfrm>
        </p:grpSpPr>
        <p:sp>
          <p:nvSpPr>
            <p:cNvPr id="191" name="橢圓 190">
              <a:extLst>
                <a:ext uri="{FF2B5EF4-FFF2-40B4-BE49-F238E27FC236}">
                  <a16:creationId xmlns:a16="http://schemas.microsoft.com/office/drawing/2014/main" id="{7BBFDCE7-4C29-4437-A1D2-65F2B49E29F4}"/>
                </a:ext>
              </a:extLst>
            </p:cNvPr>
            <p:cNvSpPr/>
            <p:nvPr/>
          </p:nvSpPr>
          <p:spPr>
            <a:xfrm>
              <a:off x="969621" y="2514499"/>
              <a:ext cx="155097" cy="155097"/>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96" name="矩形 195">
                  <a:extLst>
                    <a:ext uri="{FF2B5EF4-FFF2-40B4-BE49-F238E27FC236}">
                      <a16:creationId xmlns:a16="http://schemas.microsoft.com/office/drawing/2014/main" id="{B802D6C8-A354-484A-8530-85833D4EC483}"/>
                    </a:ext>
                  </a:extLst>
                </p:cNvPr>
                <p:cNvSpPr/>
                <p:nvPr/>
              </p:nvSpPr>
              <p:spPr>
                <a:xfrm>
                  <a:off x="856355" y="2613763"/>
                  <a:ext cx="36580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7</m:t>
                        </m:r>
                      </m:oMath>
                    </m:oMathPara>
                  </a14:m>
                  <a:endParaRPr lang="zh-TW" altLang="en-US" dirty="0"/>
                </a:p>
              </p:txBody>
            </p:sp>
          </mc:Choice>
          <mc:Fallback xmlns="">
            <p:sp>
              <p:nvSpPr>
                <p:cNvPr id="196" name="矩形 195">
                  <a:extLst>
                    <a:ext uri="{FF2B5EF4-FFF2-40B4-BE49-F238E27FC236}">
                      <a16:creationId xmlns:a16="http://schemas.microsoft.com/office/drawing/2014/main" id="{B802D6C8-A354-484A-8530-85833D4EC483}"/>
                    </a:ext>
                  </a:extLst>
                </p:cNvPr>
                <p:cNvSpPr>
                  <a:spLocks noRot="1" noChangeAspect="1" noMove="1" noResize="1" noEditPoints="1" noAdjustHandles="1" noChangeArrowheads="1" noChangeShapeType="1" noTextEdit="1"/>
                </p:cNvSpPr>
                <p:nvPr/>
              </p:nvSpPr>
              <p:spPr>
                <a:xfrm>
                  <a:off x="856355" y="2613763"/>
                  <a:ext cx="365806" cy="369332"/>
                </a:xfrm>
                <a:prstGeom prst="rect">
                  <a:avLst/>
                </a:prstGeom>
                <a:blipFill>
                  <a:blip r:embed="rId42"/>
                  <a:stretch>
                    <a:fillRect/>
                  </a:stretch>
                </a:blipFill>
              </p:spPr>
              <p:txBody>
                <a:bodyPr/>
                <a:lstStyle/>
                <a:p>
                  <a:r>
                    <a:rPr lang="zh-TW" altLang="en-US">
                      <a:noFill/>
                    </a:rPr>
                    <a:t> </a:t>
                  </a:r>
                </a:p>
              </p:txBody>
            </p:sp>
          </mc:Fallback>
        </mc:AlternateContent>
      </p:grpSp>
      <p:cxnSp>
        <p:nvCxnSpPr>
          <p:cNvPr id="204" name="直線接點 203">
            <a:extLst>
              <a:ext uri="{FF2B5EF4-FFF2-40B4-BE49-F238E27FC236}">
                <a16:creationId xmlns:a16="http://schemas.microsoft.com/office/drawing/2014/main" id="{A1FA1738-954E-4735-8087-472692225BB6}"/>
              </a:ext>
            </a:extLst>
          </p:cNvPr>
          <p:cNvCxnSpPr>
            <a:cxnSpLocks/>
            <a:stCxn id="8" idx="3"/>
            <a:endCxn id="208" idx="6"/>
          </p:cNvCxnSpPr>
          <p:nvPr/>
        </p:nvCxnSpPr>
        <p:spPr>
          <a:xfrm flipH="1">
            <a:off x="1481291" y="1422639"/>
            <a:ext cx="2426501" cy="339336"/>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6" name="矩形 205">
                <a:extLst>
                  <a:ext uri="{FF2B5EF4-FFF2-40B4-BE49-F238E27FC236}">
                    <a16:creationId xmlns:a16="http://schemas.microsoft.com/office/drawing/2014/main" id="{E80693DF-A62A-4FDA-B5BB-DFE4F7F30E28}"/>
                  </a:ext>
                </a:extLst>
              </p:cNvPr>
              <p:cNvSpPr/>
              <p:nvPr/>
            </p:nvSpPr>
            <p:spPr>
              <a:xfrm>
                <a:off x="2170635" y="1291014"/>
                <a:ext cx="88120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r>
                        <a:rPr lang="en-US" altLang="zh-TW" b="0" i="1" smtClean="0">
                          <a:latin typeface="Cambria Math" panose="02040503050406030204" pitchFamily="18" charset="0"/>
                        </a:rPr>
                        <m:t>𝑎</m:t>
                      </m:r>
                      <m:r>
                        <a:rPr lang="en-US" altLang="zh-TW" b="0" i="1" smtClean="0">
                          <a:latin typeface="Cambria Math" panose="02040503050406030204" pitchFamily="18" charset="0"/>
                        </a:rPr>
                        <m:t>…#</m:t>
                      </m:r>
                    </m:oMath>
                  </m:oMathPara>
                </a14:m>
                <a:endParaRPr lang="zh-TW" altLang="en-US" dirty="0"/>
              </a:p>
            </p:txBody>
          </p:sp>
        </mc:Choice>
        <mc:Fallback xmlns="">
          <p:sp>
            <p:nvSpPr>
              <p:cNvPr id="206" name="矩形 205">
                <a:extLst>
                  <a:ext uri="{FF2B5EF4-FFF2-40B4-BE49-F238E27FC236}">
                    <a16:creationId xmlns:a16="http://schemas.microsoft.com/office/drawing/2014/main" id="{E80693DF-A62A-4FDA-B5BB-DFE4F7F30E28}"/>
                  </a:ext>
                </a:extLst>
              </p:cNvPr>
              <p:cNvSpPr>
                <a:spLocks noRot="1" noChangeAspect="1" noMove="1" noResize="1" noEditPoints="1" noAdjustHandles="1" noChangeArrowheads="1" noChangeShapeType="1" noTextEdit="1"/>
              </p:cNvSpPr>
              <p:nvPr/>
            </p:nvSpPr>
            <p:spPr>
              <a:xfrm>
                <a:off x="2170635" y="1291014"/>
                <a:ext cx="881203" cy="369332"/>
              </a:xfrm>
              <a:prstGeom prst="rect">
                <a:avLst/>
              </a:prstGeom>
              <a:blipFill>
                <a:blip r:embed="rId43"/>
                <a:stretch>
                  <a:fillRect/>
                </a:stretch>
              </a:blipFill>
            </p:spPr>
            <p:txBody>
              <a:bodyPr/>
              <a:lstStyle/>
              <a:p>
                <a:r>
                  <a:rPr lang="zh-TW" altLang="en-US">
                    <a:noFill/>
                  </a:rPr>
                  <a:t> </a:t>
                </a:r>
              </a:p>
            </p:txBody>
          </p:sp>
        </mc:Fallback>
      </mc:AlternateContent>
      <p:grpSp>
        <p:nvGrpSpPr>
          <p:cNvPr id="220" name="群組 219">
            <a:extLst>
              <a:ext uri="{FF2B5EF4-FFF2-40B4-BE49-F238E27FC236}">
                <a16:creationId xmlns:a16="http://schemas.microsoft.com/office/drawing/2014/main" id="{A57701FC-DC3B-4E2F-9903-DB2AC81303F3}"/>
              </a:ext>
            </a:extLst>
          </p:cNvPr>
          <p:cNvGrpSpPr/>
          <p:nvPr/>
        </p:nvGrpSpPr>
        <p:grpSpPr>
          <a:xfrm>
            <a:off x="1220839" y="1684426"/>
            <a:ext cx="365806" cy="471497"/>
            <a:chOff x="1396793" y="1605420"/>
            <a:chExt cx="365806" cy="471497"/>
          </a:xfrm>
        </p:grpSpPr>
        <p:sp>
          <p:nvSpPr>
            <p:cNvPr id="208" name="橢圓 207">
              <a:extLst>
                <a:ext uri="{FF2B5EF4-FFF2-40B4-BE49-F238E27FC236}">
                  <a16:creationId xmlns:a16="http://schemas.microsoft.com/office/drawing/2014/main" id="{B8614C37-ADF8-4EA0-90B6-04B3F5FA738A}"/>
                </a:ext>
              </a:extLst>
            </p:cNvPr>
            <p:cNvSpPr/>
            <p:nvPr/>
          </p:nvSpPr>
          <p:spPr>
            <a:xfrm>
              <a:off x="1502148" y="1605420"/>
              <a:ext cx="155097" cy="155097"/>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09" name="矩形 208">
                  <a:extLst>
                    <a:ext uri="{FF2B5EF4-FFF2-40B4-BE49-F238E27FC236}">
                      <a16:creationId xmlns:a16="http://schemas.microsoft.com/office/drawing/2014/main" id="{CB462894-27F5-4405-ABFB-49215930714B}"/>
                    </a:ext>
                  </a:extLst>
                </p:cNvPr>
                <p:cNvSpPr/>
                <p:nvPr/>
              </p:nvSpPr>
              <p:spPr>
                <a:xfrm>
                  <a:off x="1396793" y="1707585"/>
                  <a:ext cx="36580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8</m:t>
                        </m:r>
                      </m:oMath>
                    </m:oMathPara>
                  </a14:m>
                  <a:endParaRPr lang="zh-TW" altLang="en-US" dirty="0"/>
                </a:p>
              </p:txBody>
            </p:sp>
          </mc:Choice>
          <mc:Fallback xmlns="">
            <p:sp>
              <p:nvSpPr>
                <p:cNvPr id="209" name="矩形 208">
                  <a:extLst>
                    <a:ext uri="{FF2B5EF4-FFF2-40B4-BE49-F238E27FC236}">
                      <a16:creationId xmlns:a16="http://schemas.microsoft.com/office/drawing/2014/main" id="{CB462894-27F5-4405-ABFB-49215930714B}"/>
                    </a:ext>
                  </a:extLst>
                </p:cNvPr>
                <p:cNvSpPr>
                  <a:spLocks noRot="1" noChangeAspect="1" noMove="1" noResize="1" noEditPoints="1" noAdjustHandles="1" noChangeArrowheads="1" noChangeShapeType="1" noTextEdit="1"/>
                </p:cNvSpPr>
                <p:nvPr/>
              </p:nvSpPr>
              <p:spPr>
                <a:xfrm>
                  <a:off x="1396793" y="1707585"/>
                  <a:ext cx="365806" cy="369332"/>
                </a:xfrm>
                <a:prstGeom prst="rect">
                  <a:avLst/>
                </a:prstGeom>
                <a:blipFill>
                  <a:blip r:embed="rId44"/>
                  <a:stretch>
                    <a:fillRect/>
                  </a:stretch>
                </a:blipFill>
              </p:spPr>
              <p:txBody>
                <a:bodyPr/>
                <a:lstStyle/>
                <a:p>
                  <a:r>
                    <a:rPr lang="zh-TW" altLang="en-US">
                      <a:noFill/>
                    </a:rPr>
                    <a:t> </a:t>
                  </a:r>
                </a:p>
              </p:txBody>
            </p:sp>
          </mc:Fallback>
        </mc:AlternateContent>
      </p:grpSp>
      <p:cxnSp>
        <p:nvCxnSpPr>
          <p:cNvPr id="210" name="直線接點 209">
            <a:extLst>
              <a:ext uri="{FF2B5EF4-FFF2-40B4-BE49-F238E27FC236}">
                <a16:creationId xmlns:a16="http://schemas.microsoft.com/office/drawing/2014/main" id="{D2BA7704-EAE2-4BBA-BB7C-4E1C5B3F336C}"/>
              </a:ext>
            </a:extLst>
          </p:cNvPr>
          <p:cNvCxnSpPr>
            <a:cxnSpLocks/>
            <a:stCxn id="8" idx="3"/>
            <a:endCxn id="215" idx="6"/>
          </p:cNvCxnSpPr>
          <p:nvPr/>
        </p:nvCxnSpPr>
        <p:spPr>
          <a:xfrm flipH="1">
            <a:off x="898345" y="1422639"/>
            <a:ext cx="3009447" cy="888838"/>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218" name="群組 217">
            <a:extLst>
              <a:ext uri="{FF2B5EF4-FFF2-40B4-BE49-F238E27FC236}">
                <a16:creationId xmlns:a16="http://schemas.microsoft.com/office/drawing/2014/main" id="{D1BE919E-EA20-4C1D-AD40-02FCDFA28B77}"/>
              </a:ext>
            </a:extLst>
          </p:cNvPr>
          <p:cNvGrpSpPr/>
          <p:nvPr/>
        </p:nvGrpSpPr>
        <p:grpSpPr>
          <a:xfrm>
            <a:off x="546814" y="2233928"/>
            <a:ext cx="494046" cy="459994"/>
            <a:chOff x="546711" y="1980281"/>
            <a:chExt cx="494046" cy="459994"/>
          </a:xfrm>
        </p:grpSpPr>
        <p:sp>
          <p:nvSpPr>
            <p:cNvPr id="215" name="橢圓 214">
              <a:extLst>
                <a:ext uri="{FF2B5EF4-FFF2-40B4-BE49-F238E27FC236}">
                  <a16:creationId xmlns:a16="http://schemas.microsoft.com/office/drawing/2014/main" id="{AA1637DD-D172-4CCF-BCD8-D591DE197F1E}"/>
                </a:ext>
              </a:extLst>
            </p:cNvPr>
            <p:cNvSpPr/>
            <p:nvPr/>
          </p:nvSpPr>
          <p:spPr>
            <a:xfrm>
              <a:off x="743145" y="1980281"/>
              <a:ext cx="155097" cy="155097"/>
            </a:xfrm>
            <a:prstGeom prst="ellipse">
              <a:avLst/>
            </a:prstGeom>
            <a:solidFill>
              <a:schemeClr val="accent4">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17" name="矩形 216">
                  <a:extLst>
                    <a:ext uri="{FF2B5EF4-FFF2-40B4-BE49-F238E27FC236}">
                      <a16:creationId xmlns:a16="http://schemas.microsoft.com/office/drawing/2014/main" id="{3CE30ABF-457F-4BE0-AEAE-CBA2CB06D259}"/>
                    </a:ext>
                  </a:extLst>
                </p:cNvPr>
                <p:cNvSpPr/>
                <p:nvPr/>
              </p:nvSpPr>
              <p:spPr>
                <a:xfrm>
                  <a:off x="546711" y="2070943"/>
                  <a:ext cx="49404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16</m:t>
                        </m:r>
                      </m:oMath>
                    </m:oMathPara>
                  </a14:m>
                  <a:endParaRPr lang="zh-TW" altLang="en-US" dirty="0"/>
                </a:p>
              </p:txBody>
            </p:sp>
          </mc:Choice>
          <mc:Fallback xmlns="">
            <p:sp>
              <p:nvSpPr>
                <p:cNvPr id="217" name="矩形 216">
                  <a:extLst>
                    <a:ext uri="{FF2B5EF4-FFF2-40B4-BE49-F238E27FC236}">
                      <a16:creationId xmlns:a16="http://schemas.microsoft.com/office/drawing/2014/main" id="{3CE30ABF-457F-4BE0-AEAE-CBA2CB06D259}"/>
                    </a:ext>
                  </a:extLst>
                </p:cNvPr>
                <p:cNvSpPr>
                  <a:spLocks noRot="1" noChangeAspect="1" noMove="1" noResize="1" noEditPoints="1" noAdjustHandles="1" noChangeArrowheads="1" noChangeShapeType="1" noTextEdit="1"/>
                </p:cNvSpPr>
                <p:nvPr/>
              </p:nvSpPr>
              <p:spPr>
                <a:xfrm>
                  <a:off x="546711" y="2070943"/>
                  <a:ext cx="494046" cy="369332"/>
                </a:xfrm>
                <a:prstGeom prst="rect">
                  <a:avLst/>
                </a:prstGeom>
                <a:blipFill>
                  <a:blip r:embed="rId45"/>
                  <a:stretch>
                    <a:fillRect/>
                  </a:stretch>
                </a:blipFill>
              </p:spPr>
              <p:txBody>
                <a:bodyPr/>
                <a:lstStyle/>
                <a:p>
                  <a:r>
                    <a:rPr lang="zh-TW" altLang="en-US">
                      <a:noFill/>
                    </a:rPr>
                    <a:t> </a:t>
                  </a:r>
                </a:p>
              </p:txBody>
            </p:sp>
          </mc:Fallback>
        </mc:AlternateContent>
      </p:grpSp>
      <p:cxnSp>
        <p:nvCxnSpPr>
          <p:cNvPr id="225" name="直線接點 224">
            <a:extLst>
              <a:ext uri="{FF2B5EF4-FFF2-40B4-BE49-F238E27FC236}">
                <a16:creationId xmlns:a16="http://schemas.microsoft.com/office/drawing/2014/main" id="{7E40691D-AB36-4DB5-A610-8D052CF46F6B}"/>
              </a:ext>
            </a:extLst>
          </p:cNvPr>
          <p:cNvCxnSpPr>
            <a:cxnSpLocks/>
            <a:stCxn id="81" idx="5"/>
            <a:endCxn id="58" idx="1"/>
          </p:cNvCxnSpPr>
          <p:nvPr/>
        </p:nvCxnSpPr>
        <p:spPr>
          <a:xfrm>
            <a:off x="4163636" y="4062226"/>
            <a:ext cx="381190" cy="649884"/>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5" name="矩形 234">
                <a:extLst>
                  <a:ext uri="{FF2B5EF4-FFF2-40B4-BE49-F238E27FC236}">
                    <a16:creationId xmlns:a16="http://schemas.microsoft.com/office/drawing/2014/main" id="{1872EC62-AC38-4C9B-BAB2-152F25EED840}"/>
                  </a:ext>
                </a:extLst>
              </p:cNvPr>
              <p:cNvSpPr/>
              <p:nvPr/>
            </p:nvSpPr>
            <p:spPr>
              <a:xfrm>
                <a:off x="1001015" y="3445267"/>
                <a:ext cx="38023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xmlns="">
          <p:sp>
            <p:nvSpPr>
              <p:cNvPr id="235" name="矩形 234">
                <a:extLst>
                  <a:ext uri="{FF2B5EF4-FFF2-40B4-BE49-F238E27FC236}">
                    <a16:creationId xmlns:a16="http://schemas.microsoft.com/office/drawing/2014/main" id="{1872EC62-AC38-4C9B-BAB2-152F25EED840}"/>
                  </a:ext>
                </a:extLst>
              </p:cNvPr>
              <p:cNvSpPr>
                <a:spLocks noRot="1" noChangeAspect="1" noMove="1" noResize="1" noEditPoints="1" noAdjustHandles="1" noChangeArrowheads="1" noChangeShapeType="1" noTextEdit="1"/>
              </p:cNvSpPr>
              <p:nvPr/>
            </p:nvSpPr>
            <p:spPr>
              <a:xfrm>
                <a:off x="1001015" y="3445267"/>
                <a:ext cx="380232" cy="369332"/>
              </a:xfrm>
              <a:prstGeom prst="rect">
                <a:avLst/>
              </a:prstGeom>
              <a:blipFill>
                <a:blip r:embed="rId4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4" name="矩形 253">
                <a:extLst>
                  <a:ext uri="{FF2B5EF4-FFF2-40B4-BE49-F238E27FC236}">
                    <a16:creationId xmlns:a16="http://schemas.microsoft.com/office/drawing/2014/main" id="{744D2D29-FBFE-413A-9B60-1F7A5FCF2552}"/>
                  </a:ext>
                </a:extLst>
              </p:cNvPr>
              <p:cNvSpPr/>
              <p:nvPr/>
            </p:nvSpPr>
            <p:spPr>
              <a:xfrm>
                <a:off x="4336596" y="4125071"/>
                <a:ext cx="38023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m:t>
                      </m:r>
                    </m:oMath>
                  </m:oMathPara>
                </a14:m>
                <a:endParaRPr lang="zh-TW" altLang="en-US" dirty="0"/>
              </a:p>
            </p:txBody>
          </p:sp>
        </mc:Choice>
        <mc:Fallback xmlns="">
          <p:sp>
            <p:nvSpPr>
              <p:cNvPr id="254" name="矩形 253">
                <a:extLst>
                  <a:ext uri="{FF2B5EF4-FFF2-40B4-BE49-F238E27FC236}">
                    <a16:creationId xmlns:a16="http://schemas.microsoft.com/office/drawing/2014/main" id="{744D2D29-FBFE-413A-9B60-1F7A5FCF2552}"/>
                  </a:ext>
                </a:extLst>
              </p:cNvPr>
              <p:cNvSpPr>
                <a:spLocks noRot="1" noChangeAspect="1" noMove="1" noResize="1" noEditPoints="1" noAdjustHandles="1" noChangeArrowheads="1" noChangeShapeType="1" noTextEdit="1"/>
              </p:cNvSpPr>
              <p:nvPr/>
            </p:nvSpPr>
            <p:spPr>
              <a:xfrm>
                <a:off x="4336596" y="4125071"/>
                <a:ext cx="380232" cy="369332"/>
              </a:xfrm>
              <a:prstGeom prst="rect">
                <a:avLst/>
              </a:prstGeom>
              <a:blipFill>
                <a:blip r:embed="rId47"/>
                <a:stretch>
                  <a:fillRect/>
                </a:stretch>
              </a:blipFill>
            </p:spPr>
            <p:txBody>
              <a:bodyPr/>
              <a:lstStyle/>
              <a:p>
                <a:r>
                  <a:rPr lang="zh-TW" altLang="en-US">
                    <a:noFill/>
                  </a:rPr>
                  <a:t> </a:t>
                </a:r>
              </a:p>
            </p:txBody>
          </p:sp>
        </mc:Fallback>
      </mc:AlternateContent>
      <p:grpSp>
        <p:nvGrpSpPr>
          <p:cNvPr id="276" name="群組 275">
            <a:extLst>
              <a:ext uri="{FF2B5EF4-FFF2-40B4-BE49-F238E27FC236}">
                <a16:creationId xmlns:a16="http://schemas.microsoft.com/office/drawing/2014/main" id="{43A6511E-B85D-43D2-A744-4136BB1CB738}"/>
              </a:ext>
            </a:extLst>
          </p:cNvPr>
          <p:cNvGrpSpPr/>
          <p:nvPr/>
        </p:nvGrpSpPr>
        <p:grpSpPr>
          <a:xfrm>
            <a:off x="4379182" y="4689397"/>
            <a:ext cx="429926" cy="478042"/>
            <a:chOff x="4245832" y="4689397"/>
            <a:chExt cx="429926" cy="478042"/>
          </a:xfrm>
        </p:grpSpPr>
        <p:sp>
          <p:nvSpPr>
            <p:cNvPr id="58" name="橢圓 57">
              <a:extLst>
                <a:ext uri="{FF2B5EF4-FFF2-40B4-BE49-F238E27FC236}">
                  <a16:creationId xmlns:a16="http://schemas.microsoft.com/office/drawing/2014/main" id="{D1809C2C-AFAB-4D2D-98F3-AB9C8B44863D}"/>
                </a:ext>
              </a:extLst>
            </p:cNvPr>
            <p:cNvSpPr/>
            <p:nvPr/>
          </p:nvSpPr>
          <p:spPr>
            <a:xfrm>
              <a:off x="4388763" y="4689397"/>
              <a:ext cx="155097" cy="155097"/>
            </a:xfrm>
            <a:prstGeom prst="ellipse">
              <a:avLst/>
            </a:prstGeom>
            <a:solidFill>
              <a:schemeClr val="accent4">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75" name="矩形 274">
                  <a:extLst>
                    <a:ext uri="{FF2B5EF4-FFF2-40B4-BE49-F238E27FC236}">
                      <a16:creationId xmlns:a16="http://schemas.microsoft.com/office/drawing/2014/main" id="{0FE2AC9B-AE22-41AB-87AF-B819B85AECAF}"/>
                    </a:ext>
                  </a:extLst>
                </p:cNvPr>
                <p:cNvSpPr/>
                <p:nvPr/>
              </p:nvSpPr>
              <p:spPr>
                <a:xfrm>
                  <a:off x="4245832" y="4798107"/>
                  <a:ext cx="429926" cy="369332"/>
                </a:xfrm>
                <a:prstGeom prst="rect">
                  <a:avLst/>
                </a:prstGeom>
              </p:spPr>
              <p:txBody>
                <a:bodyPr wrap="none">
                  <a:spAutoFit/>
                </a:bodyPr>
                <a:lstStyle/>
                <a:p>
                  <a14:m>
                    <m:oMath xmlns:m="http://schemas.openxmlformats.org/officeDocument/2006/math">
                      <m:r>
                        <a:rPr lang="en-US" altLang="zh-TW" i="1">
                          <a:latin typeface="Cambria Math" panose="02040503050406030204" pitchFamily="18" charset="0"/>
                        </a:rPr>
                        <m:t>1</m:t>
                      </m:r>
                    </m:oMath>
                  </a14:m>
                  <a:r>
                    <a:rPr lang="en-US" altLang="zh-TW" dirty="0"/>
                    <a:t>3</a:t>
                  </a:r>
                  <a:endParaRPr lang="zh-TW" altLang="en-US" dirty="0"/>
                </a:p>
              </p:txBody>
            </p:sp>
          </mc:Choice>
          <mc:Fallback xmlns="">
            <p:sp>
              <p:nvSpPr>
                <p:cNvPr id="275" name="矩形 274">
                  <a:extLst>
                    <a:ext uri="{FF2B5EF4-FFF2-40B4-BE49-F238E27FC236}">
                      <a16:creationId xmlns:a16="http://schemas.microsoft.com/office/drawing/2014/main" id="{0FE2AC9B-AE22-41AB-87AF-B819B85AECAF}"/>
                    </a:ext>
                  </a:extLst>
                </p:cNvPr>
                <p:cNvSpPr>
                  <a:spLocks noRot="1" noChangeAspect="1" noMove="1" noResize="1" noEditPoints="1" noAdjustHandles="1" noChangeArrowheads="1" noChangeShapeType="1" noTextEdit="1"/>
                </p:cNvSpPr>
                <p:nvPr/>
              </p:nvSpPr>
              <p:spPr>
                <a:xfrm>
                  <a:off x="4245832" y="4798107"/>
                  <a:ext cx="429926" cy="369332"/>
                </a:xfrm>
                <a:prstGeom prst="rect">
                  <a:avLst/>
                </a:prstGeom>
                <a:blipFill>
                  <a:blip r:embed="rId48"/>
                  <a:stretch>
                    <a:fillRect t="-8197" r="-11268" b="-24590"/>
                  </a:stretch>
                </a:blipFill>
              </p:spPr>
              <p:txBody>
                <a:bodyPr/>
                <a:lstStyle/>
                <a:p>
                  <a:r>
                    <a:rPr lang="zh-TW" altLang="en-US">
                      <a:noFill/>
                    </a:rPr>
                    <a:t> </a:t>
                  </a:r>
                </a:p>
              </p:txBody>
            </p:sp>
          </mc:Fallback>
        </mc:AlternateContent>
      </p:grpSp>
      <p:grpSp>
        <p:nvGrpSpPr>
          <p:cNvPr id="296" name="群組 295">
            <a:extLst>
              <a:ext uri="{FF2B5EF4-FFF2-40B4-BE49-F238E27FC236}">
                <a16:creationId xmlns:a16="http://schemas.microsoft.com/office/drawing/2014/main" id="{9443EF0B-B1B6-44BA-B8EF-FBA369318FA3}"/>
              </a:ext>
            </a:extLst>
          </p:cNvPr>
          <p:cNvGrpSpPr/>
          <p:nvPr/>
        </p:nvGrpSpPr>
        <p:grpSpPr>
          <a:xfrm>
            <a:off x="6460730" y="3074011"/>
            <a:ext cx="494046" cy="455499"/>
            <a:chOff x="7768251" y="3737268"/>
            <a:chExt cx="494046" cy="455499"/>
          </a:xfrm>
        </p:grpSpPr>
        <p:sp>
          <p:nvSpPr>
            <p:cNvPr id="297" name="橢圓 296">
              <a:extLst>
                <a:ext uri="{FF2B5EF4-FFF2-40B4-BE49-F238E27FC236}">
                  <a16:creationId xmlns:a16="http://schemas.microsoft.com/office/drawing/2014/main" id="{1E4E97AA-200A-4E45-B778-9DE2C0EFB713}"/>
                </a:ext>
              </a:extLst>
            </p:cNvPr>
            <p:cNvSpPr/>
            <p:nvPr/>
          </p:nvSpPr>
          <p:spPr>
            <a:xfrm>
              <a:off x="7891686" y="3737268"/>
              <a:ext cx="155097" cy="155097"/>
            </a:xfrm>
            <a:prstGeom prst="ellipse">
              <a:avLst/>
            </a:prstGeom>
            <a:solidFill>
              <a:schemeClr val="accent4">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98" name="矩形 297">
                  <a:extLst>
                    <a:ext uri="{FF2B5EF4-FFF2-40B4-BE49-F238E27FC236}">
                      <a16:creationId xmlns:a16="http://schemas.microsoft.com/office/drawing/2014/main" id="{960073A0-36F3-48EB-B9C0-A6024FAC68C1}"/>
                    </a:ext>
                  </a:extLst>
                </p:cNvPr>
                <p:cNvSpPr/>
                <p:nvPr/>
              </p:nvSpPr>
              <p:spPr>
                <a:xfrm>
                  <a:off x="7768251" y="3823435"/>
                  <a:ext cx="494046" cy="369332"/>
                </a:xfrm>
                <a:prstGeom prst="rect">
                  <a:avLst/>
                </a:prstGeom>
              </p:spPr>
              <p:txBody>
                <a:bodyPr wrap="square">
                  <a:spAutoFit/>
                </a:bodyPr>
                <a:lstStyle/>
                <a:p>
                  <a14:m>
                    <m:oMath xmlns:m="http://schemas.openxmlformats.org/officeDocument/2006/math">
                      <m:r>
                        <a:rPr lang="en-US" altLang="zh-TW" b="0" i="1" smtClean="0">
                          <a:latin typeface="Cambria Math" panose="02040503050406030204" pitchFamily="18" charset="0"/>
                        </a:rPr>
                        <m:t>1</m:t>
                      </m:r>
                    </m:oMath>
                  </a14:m>
                  <a:r>
                    <a:rPr lang="en-US" altLang="zh-TW" dirty="0"/>
                    <a:t>5</a:t>
                  </a:r>
                  <a:endParaRPr lang="zh-TW" altLang="en-US" dirty="0"/>
                </a:p>
              </p:txBody>
            </p:sp>
          </mc:Choice>
          <mc:Fallback xmlns="">
            <p:sp>
              <p:nvSpPr>
                <p:cNvPr id="298" name="矩形 297">
                  <a:extLst>
                    <a:ext uri="{FF2B5EF4-FFF2-40B4-BE49-F238E27FC236}">
                      <a16:creationId xmlns:a16="http://schemas.microsoft.com/office/drawing/2014/main" id="{960073A0-36F3-48EB-B9C0-A6024FAC68C1}"/>
                    </a:ext>
                  </a:extLst>
                </p:cNvPr>
                <p:cNvSpPr>
                  <a:spLocks noRot="1" noChangeAspect="1" noMove="1" noResize="1" noEditPoints="1" noAdjustHandles="1" noChangeArrowheads="1" noChangeShapeType="1" noTextEdit="1"/>
                </p:cNvSpPr>
                <p:nvPr/>
              </p:nvSpPr>
              <p:spPr>
                <a:xfrm>
                  <a:off x="7768251" y="3823435"/>
                  <a:ext cx="494046" cy="369332"/>
                </a:xfrm>
                <a:prstGeom prst="rect">
                  <a:avLst/>
                </a:prstGeom>
                <a:blipFill>
                  <a:blip r:embed="rId49"/>
                  <a:stretch>
                    <a:fillRect t="-8197" b="-24590"/>
                  </a:stretch>
                </a:blipFill>
              </p:spPr>
              <p:txBody>
                <a:bodyPr/>
                <a:lstStyle/>
                <a:p>
                  <a:r>
                    <a:rPr lang="zh-TW" altLang="en-US">
                      <a:noFill/>
                    </a:rPr>
                    <a:t> </a:t>
                  </a:r>
                </a:p>
              </p:txBody>
            </p:sp>
          </mc:Fallback>
        </mc:AlternateContent>
      </p:grpSp>
      <p:cxnSp>
        <p:nvCxnSpPr>
          <p:cNvPr id="299" name="直線接點 298">
            <a:extLst>
              <a:ext uri="{FF2B5EF4-FFF2-40B4-BE49-F238E27FC236}">
                <a16:creationId xmlns:a16="http://schemas.microsoft.com/office/drawing/2014/main" id="{6D809E22-5334-4415-A346-BAE96A014723}"/>
              </a:ext>
            </a:extLst>
          </p:cNvPr>
          <p:cNvCxnSpPr>
            <a:cxnSpLocks/>
            <a:stCxn id="112" idx="6"/>
            <a:endCxn id="297" idx="1"/>
          </p:cNvCxnSpPr>
          <p:nvPr/>
        </p:nvCxnSpPr>
        <p:spPr>
          <a:xfrm>
            <a:off x="5608081" y="2434346"/>
            <a:ext cx="998797" cy="662378"/>
          </a:xfrm>
          <a:prstGeom prst="line">
            <a:avLst/>
          </a:prstGeom>
          <a:ln w="127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4" name="矩形 303">
                <a:extLst>
                  <a:ext uri="{FF2B5EF4-FFF2-40B4-BE49-F238E27FC236}">
                    <a16:creationId xmlns:a16="http://schemas.microsoft.com/office/drawing/2014/main" id="{81E1E6CE-97AB-4767-ACB4-CE8059CCE8E4}"/>
                  </a:ext>
                </a:extLst>
              </p:cNvPr>
              <p:cNvSpPr/>
              <p:nvPr/>
            </p:nvSpPr>
            <p:spPr>
              <a:xfrm>
                <a:off x="6201320" y="2579845"/>
                <a:ext cx="350672"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rPr>
                        <m:t>#</m:t>
                      </m:r>
                    </m:oMath>
                  </m:oMathPara>
                </a14:m>
                <a:endParaRPr lang="zh-TW" altLang="en-US" dirty="0"/>
              </a:p>
            </p:txBody>
          </p:sp>
        </mc:Choice>
        <mc:Fallback xmlns="">
          <p:sp>
            <p:nvSpPr>
              <p:cNvPr id="304" name="矩形 303">
                <a:extLst>
                  <a:ext uri="{FF2B5EF4-FFF2-40B4-BE49-F238E27FC236}">
                    <a16:creationId xmlns:a16="http://schemas.microsoft.com/office/drawing/2014/main" id="{81E1E6CE-97AB-4767-ACB4-CE8059CCE8E4}"/>
                  </a:ext>
                </a:extLst>
              </p:cNvPr>
              <p:cNvSpPr>
                <a:spLocks noRot="1" noChangeAspect="1" noMove="1" noResize="1" noEditPoints="1" noAdjustHandles="1" noChangeArrowheads="1" noChangeShapeType="1" noTextEdit="1"/>
              </p:cNvSpPr>
              <p:nvPr/>
            </p:nvSpPr>
            <p:spPr>
              <a:xfrm>
                <a:off x="6201320" y="2579845"/>
                <a:ext cx="350672" cy="369332"/>
              </a:xfrm>
              <a:prstGeom prst="rect">
                <a:avLst/>
              </a:prstGeom>
              <a:blipFill>
                <a:blip r:embed="rId50"/>
                <a:stretch>
                  <a:fillRect/>
                </a:stretch>
              </a:blipFill>
            </p:spPr>
            <p:txBody>
              <a:bodyPr/>
              <a:lstStyle/>
              <a:p>
                <a:r>
                  <a:rPr lang="zh-TW" altLang="en-US">
                    <a:noFill/>
                  </a:rPr>
                  <a:t> </a:t>
                </a:r>
              </a:p>
            </p:txBody>
          </p:sp>
        </mc:Fallback>
      </mc:AlternateContent>
      <p:grpSp>
        <p:nvGrpSpPr>
          <p:cNvPr id="327" name="群組 326">
            <a:extLst>
              <a:ext uri="{FF2B5EF4-FFF2-40B4-BE49-F238E27FC236}">
                <a16:creationId xmlns:a16="http://schemas.microsoft.com/office/drawing/2014/main" id="{60AEBC2A-1366-4060-A0D9-91618B19AE9A}"/>
              </a:ext>
            </a:extLst>
          </p:cNvPr>
          <p:cNvGrpSpPr/>
          <p:nvPr/>
        </p:nvGrpSpPr>
        <p:grpSpPr>
          <a:xfrm>
            <a:off x="6813670" y="5042463"/>
            <a:ext cx="1315992" cy="721158"/>
            <a:chOff x="6757398" y="5635694"/>
            <a:chExt cx="1315992" cy="721158"/>
          </a:xfrm>
        </p:grpSpPr>
        <p:sp>
          <p:nvSpPr>
            <p:cNvPr id="188" name="橢圓 187">
              <a:extLst>
                <a:ext uri="{FF2B5EF4-FFF2-40B4-BE49-F238E27FC236}">
                  <a16:creationId xmlns:a16="http://schemas.microsoft.com/office/drawing/2014/main" id="{4D62DD63-CF4D-44D3-90CC-477260EC7C99}"/>
                </a:ext>
              </a:extLst>
            </p:cNvPr>
            <p:cNvSpPr/>
            <p:nvPr/>
          </p:nvSpPr>
          <p:spPr>
            <a:xfrm>
              <a:off x="6757398" y="5752183"/>
              <a:ext cx="155097" cy="155097"/>
            </a:xfrm>
            <a:prstGeom prst="ellipse">
              <a:avLst/>
            </a:prstGeom>
            <a:solidFill>
              <a:schemeClr val="accent4">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4" name="矩形 313">
              <a:extLst>
                <a:ext uri="{FF2B5EF4-FFF2-40B4-BE49-F238E27FC236}">
                  <a16:creationId xmlns:a16="http://schemas.microsoft.com/office/drawing/2014/main" id="{8EB77E99-708D-401C-8CC9-50BC5E9829EB}"/>
                </a:ext>
              </a:extLst>
            </p:cNvPr>
            <p:cNvSpPr/>
            <p:nvPr/>
          </p:nvSpPr>
          <p:spPr>
            <a:xfrm>
              <a:off x="6912495" y="5635694"/>
              <a:ext cx="1160895" cy="369332"/>
            </a:xfrm>
            <a:prstGeom prst="rect">
              <a:avLst/>
            </a:prstGeom>
          </p:spPr>
          <p:txBody>
            <a:bodyPr wrap="none">
              <a:spAutoFit/>
            </a:bodyPr>
            <a:lstStyle/>
            <a:p>
              <a:r>
                <a:rPr lang="en-US" altLang="zh-TW" dirty="0">
                  <a:latin typeface="Cambria Math" panose="02040503050406030204" pitchFamily="18" charset="0"/>
                </a:rPr>
                <a:t>suffix of T</a:t>
              </a:r>
              <a:endParaRPr lang="zh-TW" altLang="en-US" dirty="0">
                <a:latin typeface="Cambria Math" panose="02040503050406030204" pitchFamily="18" charset="0"/>
              </a:endParaRPr>
            </a:p>
          </p:txBody>
        </p:sp>
        <p:sp>
          <p:nvSpPr>
            <p:cNvPr id="315" name="橢圓 314">
              <a:extLst>
                <a:ext uri="{FF2B5EF4-FFF2-40B4-BE49-F238E27FC236}">
                  <a16:creationId xmlns:a16="http://schemas.microsoft.com/office/drawing/2014/main" id="{4B62CE0E-ACD5-4647-9A45-F55939A44352}"/>
                </a:ext>
              </a:extLst>
            </p:cNvPr>
            <p:cNvSpPr/>
            <p:nvPr/>
          </p:nvSpPr>
          <p:spPr>
            <a:xfrm>
              <a:off x="6757398" y="6085804"/>
              <a:ext cx="155097" cy="155097"/>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TW" altLang="en-US"/>
            </a:p>
          </p:txBody>
        </p:sp>
        <p:sp>
          <p:nvSpPr>
            <p:cNvPr id="316" name="矩形 315">
              <a:extLst>
                <a:ext uri="{FF2B5EF4-FFF2-40B4-BE49-F238E27FC236}">
                  <a16:creationId xmlns:a16="http://schemas.microsoft.com/office/drawing/2014/main" id="{317C1DE6-0A4C-4485-B04F-902B6DD55107}"/>
                </a:ext>
              </a:extLst>
            </p:cNvPr>
            <p:cNvSpPr/>
            <p:nvPr/>
          </p:nvSpPr>
          <p:spPr>
            <a:xfrm>
              <a:off x="6912495" y="5987520"/>
              <a:ext cx="1138453" cy="369332"/>
            </a:xfrm>
            <a:prstGeom prst="rect">
              <a:avLst/>
            </a:prstGeom>
          </p:spPr>
          <p:txBody>
            <a:bodyPr wrap="none">
              <a:spAutoFit/>
            </a:bodyPr>
            <a:lstStyle/>
            <a:p>
              <a:r>
                <a:rPr lang="en-US" altLang="zh-TW" dirty="0">
                  <a:latin typeface="Cambria Math" panose="02040503050406030204" pitchFamily="18" charset="0"/>
                </a:rPr>
                <a:t>suffix of S</a:t>
              </a:r>
              <a:endParaRPr lang="zh-TW" altLang="en-US" dirty="0">
                <a:latin typeface="Cambria Math" panose="02040503050406030204" pitchFamily="18" charset="0"/>
              </a:endParaRPr>
            </a:p>
          </p:txBody>
        </p:sp>
      </p:grpSp>
      <p:sp>
        <p:nvSpPr>
          <p:cNvPr id="325" name="橢圓 324">
            <a:extLst>
              <a:ext uri="{FF2B5EF4-FFF2-40B4-BE49-F238E27FC236}">
                <a16:creationId xmlns:a16="http://schemas.microsoft.com/office/drawing/2014/main" id="{9A857A30-F7A7-419D-BCEA-434FB502B570}"/>
              </a:ext>
            </a:extLst>
          </p:cNvPr>
          <p:cNvSpPr/>
          <p:nvPr/>
        </p:nvSpPr>
        <p:spPr>
          <a:xfrm>
            <a:off x="3747174" y="5386117"/>
            <a:ext cx="667647" cy="39008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mc:AlternateContent xmlns:mc="http://schemas.openxmlformats.org/markup-compatibility/2006" xmlns:a14="http://schemas.microsoft.com/office/drawing/2010/main">
        <mc:Choice Requires="a14">
          <p:sp>
            <p:nvSpPr>
              <p:cNvPr id="326" name="矩形 325">
                <a:extLst>
                  <a:ext uri="{FF2B5EF4-FFF2-40B4-BE49-F238E27FC236}">
                    <a16:creationId xmlns:a16="http://schemas.microsoft.com/office/drawing/2014/main" id="{A65F0E11-60F7-4A73-99D4-3824CB2F0C4F}"/>
                  </a:ext>
                </a:extLst>
              </p:cNvPr>
              <p:cNvSpPr/>
              <p:nvPr/>
            </p:nvSpPr>
            <p:spPr>
              <a:xfrm>
                <a:off x="471956" y="848764"/>
                <a:ext cx="133895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solidFill>
                            <a:schemeClr val="accent5">
                              <a:lumMod val="75000"/>
                            </a:schemeClr>
                          </a:solidFill>
                          <a:latin typeface="Cambria Math" panose="02040503050406030204" pitchFamily="18" charset="0"/>
                        </a:rPr>
                        <m:t>𝑟</m:t>
                      </m:r>
                      <m:r>
                        <a:rPr lang="en-US" altLang="zh-TW" sz="2400" b="0" i="1" smtClean="0">
                          <a:solidFill>
                            <a:schemeClr val="accent5">
                              <a:lumMod val="75000"/>
                            </a:schemeClr>
                          </a:solidFill>
                          <a:latin typeface="Cambria Math" panose="02040503050406030204" pitchFamily="18" charset="0"/>
                        </a:rPr>
                        <m:t>𝑜𝑢𝑛𝑑</m:t>
                      </m:r>
                      <m:r>
                        <a:rPr lang="en-US" altLang="zh-TW" sz="2400" b="0" i="1" smtClean="0">
                          <a:solidFill>
                            <a:schemeClr val="accent5">
                              <a:lumMod val="75000"/>
                            </a:schemeClr>
                          </a:solidFill>
                          <a:latin typeface="Cambria Math" panose="02040503050406030204" pitchFamily="18" charset="0"/>
                        </a:rPr>
                        <m:t> 1</m:t>
                      </m:r>
                    </m:oMath>
                  </m:oMathPara>
                </a14:m>
                <a:endParaRPr lang="zh-TW" altLang="en-US" sz="2400" dirty="0">
                  <a:solidFill>
                    <a:schemeClr val="accent5">
                      <a:lumMod val="75000"/>
                    </a:schemeClr>
                  </a:solidFill>
                  <a:latin typeface="Cambria Math" panose="02040503050406030204" pitchFamily="18" charset="0"/>
                </a:endParaRPr>
              </a:p>
            </p:txBody>
          </p:sp>
        </mc:Choice>
        <mc:Fallback xmlns="">
          <p:sp>
            <p:nvSpPr>
              <p:cNvPr id="326" name="矩形 325">
                <a:extLst>
                  <a:ext uri="{FF2B5EF4-FFF2-40B4-BE49-F238E27FC236}">
                    <a16:creationId xmlns:a16="http://schemas.microsoft.com/office/drawing/2014/main" id="{A65F0E11-60F7-4A73-99D4-3824CB2F0C4F}"/>
                  </a:ext>
                </a:extLst>
              </p:cNvPr>
              <p:cNvSpPr>
                <a:spLocks noRot="1" noChangeAspect="1" noMove="1" noResize="1" noEditPoints="1" noAdjustHandles="1" noChangeArrowheads="1" noChangeShapeType="1" noTextEdit="1"/>
              </p:cNvSpPr>
              <p:nvPr/>
            </p:nvSpPr>
            <p:spPr>
              <a:xfrm>
                <a:off x="471956" y="848764"/>
                <a:ext cx="1338956" cy="461665"/>
              </a:xfrm>
              <a:prstGeom prst="rect">
                <a:avLst/>
              </a:prstGeom>
              <a:blipFill>
                <a:blip r:embed="rId5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8" name="矩形 327">
                <a:extLst>
                  <a:ext uri="{FF2B5EF4-FFF2-40B4-BE49-F238E27FC236}">
                    <a16:creationId xmlns:a16="http://schemas.microsoft.com/office/drawing/2014/main" id="{E50F2F20-035A-4C0C-A6B3-D875B4FEAB83}"/>
                  </a:ext>
                </a:extLst>
              </p:cNvPr>
              <p:cNvSpPr/>
              <p:nvPr/>
            </p:nvSpPr>
            <p:spPr>
              <a:xfrm>
                <a:off x="5000060" y="5872847"/>
                <a:ext cx="310386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solidFill>
                            <a:srgbClr val="FF0000"/>
                          </a:solidFill>
                          <a:latin typeface="Cambria Math" panose="02040503050406030204" pitchFamily="18" charset="0"/>
                        </a:rPr>
                        <m:t>𝐶𝑢𝑟𝑟𝑒𝑛𝑡𝐿𝐶𝑆</m:t>
                      </m:r>
                      <m:r>
                        <a:rPr lang="en-US" altLang="zh-TW" sz="2400" b="0" i="1" smtClean="0">
                          <a:solidFill>
                            <a:srgbClr val="FF0000"/>
                          </a:solidFill>
                          <a:latin typeface="Cambria Math" panose="02040503050406030204" pitchFamily="18" charset="0"/>
                        </a:rPr>
                        <m:t>=</m:t>
                      </m:r>
                      <m:r>
                        <a:rPr lang="en-US" altLang="zh-TW" sz="2400" b="0" i="1" smtClean="0">
                          <a:solidFill>
                            <a:srgbClr val="FF0000"/>
                          </a:solidFill>
                          <a:latin typeface="Cambria Math" panose="02040503050406030204" pitchFamily="18" charset="0"/>
                        </a:rPr>
                        <m:t>𝑎𝑎𝑏𝑐𝑎</m:t>
                      </m:r>
                    </m:oMath>
                  </m:oMathPara>
                </a14:m>
                <a:endParaRPr lang="zh-TW" altLang="en-US" sz="2400" dirty="0">
                  <a:solidFill>
                    <a:srgbClr val="FF0000"/>
                  </a:solidFill>
                </a:endParaRPr>
              </a:p>
            </p:txBody>
          </p:sp>
        </mc:Choice>
        <mc:Fallback xmlns="">
          <p:sp>
            <p:nvSpPr>
              <p:cNvPr id="328" name="矩形 327">
                <a:extLst>
                  <a:ext uri="{FF2B5EF4-FFF2-40B4-BE49-F238E27FC236}">
                    <a16:creationId xmlns:a16="http://schemas.microsoft.com/office/drawing/2014/main" id="{E50F2F20-035A-4C0C-A6B3-D875B4FEAB83}"/>
                  </a:ext>
                </a:extLst>
              </p:cNvPr>
              <p:cNvSpPr>
                <a:spLocks noRot="1" noChangeAspect="1" noMove="1" noResize="1" noEditPoints="1" noAdjustHandles="1" noChangeArrowheads="1" noChangeShapeType="1" noTextEdit="1"/>
              </p:cNvSpPr>
              <p:nvPr/>
            </p:nvSpPr>
            <p:spPr>
              <a:xfrm>
                <a:off x="5000060" y="5872847"/>
                <a:ext cx="3103863" cy="461665"/>
              </a:xfrm>
              <a:prstGeom prst="rect">
                <a:avLst/>
              </a:prstGeom>
              <a:blipFill>
                <a:blip r:embed="rId52"/>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132033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5"/>
                                        </p:tgtEl>
                                        <p:attrNameLst>
                                          <p:attrName>style.visibility</p:attrName>
                                        </p:attrNameLst>
                                      </p:cBhvr>
                                      <p:to>
                                        <p:strVal val="visible"/>
                                      </p:to>
                                    </p:set>
                                    <p:animEffect transition="in" filter="fade">
                                      <p:cBhvr>
                                        <p:cTn id="7" dur="500"/>
                                        <p:tgtEl>
                                          <p:spTgt spid="32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28"/>
                                        </p:tgtEl>
                                        <p:attrNameLst>
                                          <p:attrName>style.visibility</p:attrName>
                                        </p:attrNameLst>
                                      </p:cBhvr>
                                      <p:to>
                                        <p:strVal val="visible"/>
                                      </p:to>
                                    </p:set>
                                    <p:animEffect transition="in" filter="fade">
                                      <p:cBhvr>
                                        <p:cTn id="11" dur="500"/>
                                        <p:tgtEl>
                                          <p:spTgt spid="328"/>
                                        </p:tgtEl>
                                      </p:cBhvr>
                                    </p:animEffect>
                                  </p:childTnLst>
                                </p:cTn>
                              </p:par>
                              <p:par>
                                <p:cTn id="12" presetID="3" presetClass="emph" presetSubtype="2" fill="hold" grpId="0" nodeType="withEffect">
                                  <p:stCondLst>
                                    <p:cond delay="0"/>
                                  </p:stCondLst>
                                  <p:childTnLst>
                                    <p:animClr clrSpc="rgb" dir="cw">
                                      <p:cBhvr override="childStyle">
                                        <p:cTn id="13" dur="500" fill="hold"/>
                                        <p:tgtEl>
                                          <p:spTgt spid="35"/>
                                        </p:tgtEl>
                                        <p:attrNameLst>
                                          <p:attrName>style.color</p:attrName>
                                        </p:attrNameLst>
                                      </p:cBhvr>
                                      <p:to>
                                        <a:srgbClr val="FF1F1F"/>
                                      </p:to>
                                    </p:animClr>
                                  </p:childTnLst>
                                </p:cTn>
                              </p:par>
                              <p:par>
                                <p:cTn id="14" presetID="3" presetClass="emph" presetSubtype="2" fill="hold" grpId="0" nodeType="withEffect">
                                  <p:stCondLst>
                                    <p:cond delay="0"/>
                                  </p:stCondLst>
                                  <p:childTnLst>
                                    <p:animClr clrSpc="rgb" dir="cw">
                                      <p:cBhvr override="childStyle">
                                        <p:cTn id="15" dur="500" fill="hold"/>
                                        <p:tgtEl>
                                          <p:spTgt spid="77"/>
                                        </p:tgtEl>
                                        <p:attrNameLst>
                                          <p:attrName>style.color</p:attrName>
                                        </p:attrNameLst>
                                      </p:cBhvr>
                                      <p:to>
                                        <a:srgbClr val="FF1F1F"/>
                                      </p:to>
                                    </p:animClr>
                                  </p:childTnLst>
                                </p:cTn>
                              </p:par>
                              <p:par>
                                <p:cTn id="16" presetID="3" presetClass="emph" presetSubtype="2" fill="hold" grpId="0" nodeType="withEffect">
                                  <p:stCondLst>
                                    <p:cond delay="0"/>
                                  </p:stCondLst>
                                  <p:childTnLst>
                                    <p:animClr clrSpc="rgb" dir="cw">
                                      <p:cBhvr override="childStyle">
                                        <p:cTn id="17" dur="500" fill="hold"/>
                                        <p:tgtEl>
                                          <p:spTgt spid="84"/>
                                        </p:tgtEl>
                                        <p:attrNameLst>
                                          <p:attrName>style.color</p:attrName>
                                        </p:attrNameLst>
                                      </p:cBhvr>
                                      <p:to>
                                        <a:srgbClr val="FF1F1F"/>
                                      </p:to>
                                    </p:animClr>
                                  </p:childTnLst>
                                </p:cTn>
                              </p:par>
                              <p:par>
                                <p:cTn id="18" presetID="3" presetClass="emph" presetSubtype="2" fill="hold" grpId="0" nodeType="withEffect">
                                  <p:stCondLst>
                                    <p:cond delay="0"/>
                                  </p:stCondLst>
                                  <p:childTnLst>
                                    <p:animClr clrSpc="rgb" dir="cw">
                                      <p:cBhvr override="childStyle">
                                        <p:cTn id="19" dur="500" fill="hold"/>
                                        <p:tgtEl>
                                          <p:spTgt spid="87"/>
                                        </p:tgtEl>
                                        <p:attrNameLst>
                                          <p:attrName>style.color</p:attrName>
                                        </p:attrNameLst>
                                      </p:cBhvr>
                                      <p:to>
                                        <a:srgbClr val="FF1F1F"/>
                                      </p:to>
                                    </p:animClr>
                                  </p:childTnLst>
                                </p:cTn>
                              </p:par>
                              <p:par>
                                <p:cTn id="20" presetID="3" presetClass="emph" presetSubtype="2" fill="hold" grpId="0" nodeType="withEffect">
                                  <p:stCondLst>
                                    <p:cond delay="0"/>
                                  </p:stCondLst>
                                  <p:childTnLst>
                                    <p:animClr clrSpc="rgb" dir="cw">
                                      <p:cBhvr override="childStyle">
                                        <p:cTn id="21" dur="500" fill="hold"/>
                                        <p:tgtEl>
                                          <p:spTgt spid="92"/>
                                        </p:tgtEl>
                                        <p:attrNameLst>
                                          <p:attrName>style.color</p:attrName>
                                        </p:attrNameLst>
                                      </p:cBhvr>
                                      <p:to>
                                        <a:srgbClr val="FF1F1F"/>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77" grpId="0"/>
      <p:bldP spid="84" grpId="0"/>
      <p:bldP spid="87" grpId="0"/>
      <p:bldP spid="92" grpId="0"/>
      <p:bldP spid="325" grpId="0" animBg="1"/>
      <p:bldP spid="32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8</a:t>
            </a:fld>
            <a:endParaRPr lang="zh-TW" altLang="en-US" dirty="0"/>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CD5CB7F7-32D5-42A6-A8AC-2E6FCAF5BD68}"/>
                  </a:ext>
                </a:extLst>
              </p:cNvPr>
              <p:cNvSpPr/>
              <p:nvPr/>
            </p:nvSpPr>
            <p:spPr>
              <a:xfrm>
                <a:off x="5784402" y="259032"/>
                <a:ext cx="124309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𝑆</m:t>
                      </m:r>
                      <m:r>
                        <a:rPr lang="en-US" altLang="zh-TW" sz="2400" b="0" i="1" smtClean="0">
                          <a:latin typeface="Cambria Math" panose="02040503050406030204" pitchFamily="18" charset="0"/>
                        </a:rPr>
                        <m:t>=</m:t>
                      </m:r>
                      <m:r>
                        <a:rPr lang="en-US" altLang="zh-TW" sz="2400" i="1">
                          <a:latin typeface="Cambria Math" panose="02040503050406030204" pitchFamily="18" charset="0"/>
                        </a:rPr>
                        <m:t>𝑎</m:t>
                      </m:r>
                      <m:r>
                        <a:rPr lang="en-US" altLang="zh-TW" sz="2400" i="1">
                          <a:latin typeface="Cambria Math" panose="02040503050406030204" pitchFamily="18" charset="0"/>
                        </a:rPr>
                        <m:t> </m:t>
                      </m:r>
                      <m:r>
                        <a:rPr lang="en-US" altLang="zh-TW" sz="2400" i="1" smtClean="0">
                          <a:solidFill>
                            <a:schemeClr val="tx1"/>
                          </a:solidFill>
                          <a:latin typeface="Cambria Math" panose="02040503050406030204" pitchFamily="18" charset="0"/>
                        </a:rPr>
                        <m:t>𝑏</m:t>
                      </m:r>
                    </m:oMath>
                  </m:oMathPara>
                </a14:m>
                <a:endParaRPr lang="zh-TW" altLang="en-US" sz="2400" dirty="0"/>
              </a:p>
            </p:txBody>
          </p:sp>
        </mc:Choice>
        <mc:Fallback xmlns="">
          <p:sp>
            <p:nvSpPr>
              <p:cNvPr id="13" name="矩形 12">
                <a:extLst>
                  <a:ext uri="{FF2B5EF4-FFF2-40B4-BE49-F238E27FC236}">
                    <a16:creationId xmlns:a16="http://schemas.microsoft.com/office/drawing/2014/main" id="{CD5CB7F7-32D5-42A6-A8AC-2E6FCAF5BD68}"/>
                  </a:ext>
                </a:extLst>
              </p:cNvPr>
              <p:cNvSpPr>
                <a:spLocks noRot="1" noChangeAspect="1" noMove="1" noResize="1" noEditPoints="1" noAdjustHandles="1" noChangeArrowheads="1" noChangeShapeType="1" noTextEdit="1"/>
              </p:cNvSpPr>
              <p:nvPr/>
            </p:nvSpPr>
            <p:spPr>
              <a:xfrm>
                <a:off x="5784402" y="259032"/>
                <a:ext cx="1243096" cy="461665"/>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7FCB4222-107A-472D-AAF4-F27ABF190BBC}"/>
                  </a:ext>
                </a:extLst>
              </p:cNvPr>
              <p:cNvSpPr/>
              <p:nvPr/>
            </p:nvSpPr>
            <p:spPr>
              <a:xfrm>
                <a:off x="5784402" y="690301"/>
                <a:ext cx="126143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rPr>
                        <m:t>𝑇</m:t>
                      </m:r>
                      <m:r>
                        <a:rPr lang="en-US" altLang="zh-TW" sz="2400" b="0" i="1" smtClean="0">
                          <a:solidFill>
                            <a:schemeClr val="tx1"/>
                          </a:solidFill>
                          <a:latin typeface="Cambria Math" panose="02040503050406030204" pitchFamily="18" charset="0"/>
                        </a:rPr>
                        <m:t>=</m:t>
                      </m:r>
                      <m:r>
                        <a:rPr lang="en-US" altLang="zh-TW" sz="2400" i="1" smtClean="0">
                          <a:solidFill>
                            <a:schemeClr val="tx1"/>
                          </a:solidFill>
                          <a:latin typeface="Cambria Math" panose="02040503050406030204" pitchFamily="18" charset="0"/>
                        </a:rPr>
                        <m:t>𝑎</m:t>
                      </m:r>
                      <m:r>
                        <a:rPr lang="en-US" altLang="zh-TW" sz="2400" i="1" smtClean="0">
                          <a:solidFill>
                            <a:schemeClr val="tx1"/>
                          </a:solidFill>
                          <a:latin typeface="Cambria Math" panose="02040503050406030204" pitchFamily="18" charset="0"/>
                        </a:rPr>
                        <m:t> </m:t>
                      </m:r>
                      <m:r>
                        <a:rPr lang="en-US" altLang="zh-TW" sz="2400" i="1" smtClean="0">
                          <a:solidFill>
                            <a:schemeClr val="tx1"/>
                          </a:solidFill>
                          <a:latin typeface="Cambria Math" panose="02040503050406030204" pitchFamily="18" charset="0"/>
                        </a:rPr>
                        <m:t>𝑏</m:t>
                      </m:r>
                    </m:oMath>
                  </m:oMathPara>
                </a14:m>
                <a:endParaRPr lang="zh-TW" altLang="en-US" sz="2400" i="1" dirty="0">
                  <a:latin typeface="Cambria Math" panose="02040503050406030204" pitchFamily="18" charset="0"/>
                </a:endParaRPr>
              </a:p>
            </p:txBody>
          </p:sp>
        </mc:Choice>
        <mc:Fallback xmlns="">
          <p:sp>
            <p:nvSpPr>
              <p:cNvPr id="14" name="矩形 13">
                <a:extLst>
                  <a:ext uri="{FF2B5EF4-FFF2-40B4-BE49-F238E27FC236}">
                    <a16:creationId xmlns:a16="http://schemas.microsoft.com/office/drawing/2014/main" id="{7FCB4222-107A-472D-AAF4-F27ABF190BBC}"/>
                  </a:ext>
                </a:extLst>
              </p:cNvPr>
              <p:cNvSpPr>
                <a:spLocks noRot="1" noChangeAspect="1" noMove="1" noResize="1" noEditPoints="1" noAdjustHandles="1" noChangeArrowheads="1" noChangeShapeType="1" noTextEdit="1"/>
              </p:cNvSpPr>
              <p:nvPr/>
            </p:nvSpPr>
            <p:spPr>
              <a:xfrm>
                <a:off x="5784402" y="690301"/>
                <a:ext cx="1261435" cy="461665"/>
              </a:xfrm>
              <a:prstGeom prst="rect">
                <a:avLst/>
              </a:prstGeom>
              <a:blipFill>
                <a:blip r:embed="rId4"/>
                <a:stretch>
                  <a:fillRect/>
                </a:stretch>
              </a:blipFill>
            </p:spPr>
            <p:txBody>
              <a:bodyPr/>
              <a:lstStyle/>
              <a:p>
                <a:r>
                  <a:rPr lang="zh-TW" altLang="en-US">
                    <a:noFill/>
                  </a:rPr>
                  <a:t> </a:t>
                </a:r>
              </a:p>
            </p:txBody>
          </p:sp>
        </mc:Fallback>
      </mc:AlternateContent>
      <p:sp>
        <p:nvSpPr>
          <p:cNvPr id="144" name="標題 1">
            <a:extLst>
              <a:ext uri="{FF2B5EF4-FFF2-40B4-BE49-F238E27FC236}">
                <a16:creationId xmlns:a16="http://schemas.microsoft.com/office/drawing/2014/main" id="{BEB4C4FE-92DC-49E9-BA31-B5B03EB1851E}"/>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Suffix tree of </a:t>
            </a:r>
            <a:r>
              <a:rPr lang="en-US" altLang="zh-TW" sz="2800" dirty="0">
                <a:latin typeface="Times New Roman" panose="02020603050405020304" pitchFamily="18" charset="0"/>
                <a:cs typeface="Times New Roman" panose="02020603050405020304" pitchFamily="18" charset="0"/>
              </a:rPr>
              <a:t>S$T#</a:t>
            </a:r>
            <a:endParaRPr lang="zh-TW" alt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6" name="矩形 145">
                <a:extLst>
                  <a:ext uri="{FF2B5EF4-FFF2-40B4-BE49-F238E27FC236}">
                    <a16:creationId xmlns:a16="http://schemas.microsoft.com/office/drawing/2014/main" id="{85490B02-A3C1-4CB9-8913-37D8DBFC0CA4}"/>
                  </a:ext>
                </a:extLst>
              </p:cNvPr>
              <p:cNvSpPr/>
              <p:nvPr/>
            </p:nvSpPr>
            <p:spPr>
              <a:xfrm>
                <a:off x="471956" y="848764"/>
                <a:ext cx="133895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solidFill>
                            <a:schemeClr val="accent5">
                              <a:lumMod val="75000"/>
                            </a:schemeClr>
                          </a:solidFill>
                          <a:latin typeface="Cambria Math" panose="02040503050406030204" pitchFamily="18" charset="0"/>
                        </a:rPr>
                        <m:t>𝑟</m:t>
                      </m:r>
                      <m:r>
                        <a:rPr lang="en-US" altLang="zh-TW" sz="2400" b="0" i="1" smtClean="0">
                          <a:solidFill>
                            <a:schemeClr val="accent5">
                              <a:lumMod val="75000"/>
                            </a:schemeClr>
                          </a:solidFill>
                          <a:latin typeface="Cambria Math" panose="02040503050406030204" pitchFamily="18" charset="0"/>
                        </a:rPr>
                        <m:t>𝑜𝑢𝑛𝑑</m:t>
                      </m:r>
                      <m:r>
                        <a:rPr lang="en-US" altLang="zh-TW" sz="2400" b="0" i="1" smtClean="0">
                          <a:solidFill>
                            <a:schemeClr val="accent5">
                              <a:lumMod val="75000"/>
                            </a:schemeClr>
                          </a:solidFill>
                          <a:latin typeface="Cambria Math" panose="02040503050406030204" pitchFamily="18" charset="0"/>
                        </a:rPr>
                        <m:t> 2</m:t>
                      </m:r>
                    </m:oMath>
                  </m:oMathPara>
                </a14:m>
                <a:endParaRPr lang="zh-TW" altLang="en-US" sz="2400" dirty="0">
                  <a:solidFill>
                    <a:schemeClr val="accent5">
                      <a:lumMod val="75000"/>
                    </a:schemeClr>
                  </a:solidFill>
                  <a:latin typeface="Cambria Math" panose="02040503050406030204" pitchFamily="18" charset="0"/>
                </a:endParaRPr>
              </a:p>
            </p:txBody>
          </p:sp>
        </mc:Choice>
        <mc:Fallback xmlns="">
          <p:sp>
            <p:nvSpPr>
              <p:cNvPr id="146" name="矩形 145">
                <a:extLst>
                  <a:ext uri="{FF2B5EF4-FFF2-40B4-BE49-F238E27FC236}">
                    <a16:creationId xmlns:a16="http://schemas.microsoft.com/office/drawing/2014/main" id="{85490B02-A3C1-4CB9-8913-37D8DBFC0CA4}"/>
                  </a:ext>
                </a:extLst>
              </p:cNvPr>
              <p:cNvSpPr>
                <a:spLocks noRot="1" noChangeAspect="1" noMove="1" noResize="1" noEditPoints="1" noAdjustHandles="1" noChangeArrowheads="1" noChangeShapeType="1" noTextEdit="1"/>
              </p:cNvSpPr>
              <p:nvPr/>
            </p:nvSpPr>
            <p:spPr>
              <a:xfrm>
                <a:off x="471956" y="848764"/>
                <a:ext cx="1338956" cy="461665"/>
              </a:xfrm>
              <a:prstGeom prst="rect">
                <a:avLst/>
              </a:prstGeom>
              <a:blipFill>
                <a:blip r:embed="rId5"/>
                <a:stretch>
                  <a:fillRect/>
                </a:stretch>
              </a:blipFill>
            </p:spPr>
            <p:txBody>
              <a:bodyPr/>
              <a:lstStyle/>
              <a:p>
                <a:r>
                  <a:rPr lang="zh-TW" altLang="en-US">
                    <a:noFill/>
                  </a:rPr>
                  <a:t> </a:t>
                </a:r>
              </a:p>
            </p:txBody>
          </p:sp>
        </mc:Fallback>
      </mc:AlternateContent>
      <p:grpSp>
        <p:nvGrpSpPr>
          <p:cNvPr id="147" name="群組 146">
            <a:extLst>
              <a:ext uri="{FF2B5EF4-FFF2-40B4-BE49-F238E27FC236}">
                <a16:creationId xmlns:a16="http://schemas.microsoft.com/office/drawing/2014/main" id="{45CAD42F-AB4B-40AA-AD8C-5425C7B6BE8D}"/>
              </a:ext>
            </a:extLst>
          </p:cNvPr>
          <p:cNvGrpSpPr/>
          <p:nvPr/>
        </p:nvGrpSpPr>
        <p:grpSpPr>
          <a:xfrm>
            <a:off x="587042" y="4268750"/>
            <a:ext cx="7656528" cy="954107"/>
            <a:chOff x="329606" y="5387916"/>
            <a:chExt cx="7656528" cy="954107"/>
          </a:xfrm>
        </p:grpSpPr>
        <p:sp>
          <p:nvSpPr>
            <p:cNvPr id="148" name="矩形 147">
              <a:extLst>
                <a:ext uri="{FF2B5EF4-FFF2-40B4-BE49-F238E27FC236}">
                  <a16:creationId xmlns:a16="http://schemas.microsoft.com/office/drawing/2014/main" id="{2E2E4F2F-C603-40FC-9572-F9FB812B9790}"/>
                </a:ext>
              </a:extLst>
            </p:cNvPr>
            <p:cNvSpPr/>
            <p:nvPr/>
          </p:nvSpPr>
          <p:spPr>
            <a:xfrm>
              <a:off x="329606" y="5387916"/>
              <a:ext cx="3502163" cy="954107"/>
            </a:xfrm>
            <a:prstGeom prst="rect">
              <a:avLst/>
            </a:prstGeom>
          </p:spPr>
          <p:txBody>
            <a:bodyPr wrap="square">
              <a:spAutoFit/>
            </a:bodyPr>
            <a:lstStyle/>
            <a:p>
              <a:pPr algn="ctr"/>
              <a:r>
                <a:rPr lang="en-US" altLang="zh-TW" sz="2800" i="0" dirty="0">
                  <a:latin typeface="Calibri" panose="020F0502020204030204" pitchFamily="34" charset="0"/>
                  <a:cs typeface="Calibri" panose="020F0502020204030204" pitchFamily="34" charset="0"/>
                </a:rPr>
                <a:t>minimum common</a:t>
              </a:r>
              <a:r>
                <a:rPr lang="en-US" altLang="zh-TW" sz="2800" b="0" i="0" dirty="0">
                  <a:latin typeface="Calibri" panose="020F0502020204030204" pitchFamily="34" charset="0"/>
                  <a:cs typeface="Calibri" panose="020F0502020204030204" pitchFamily="34" charset="0"/>
                </a:rPr>
                <a:t> </a:t>
              </a:r>
              <a:endParaRPr lang="en-US" altLang="zh-TW" sz="2800" b="0" i="1" dirty="0">
                <a:latin typeface="Calibri" panose="020F0502020204030204" pitchFamily="34" charset="0"/>
                <a:cs typeface="Calibri" panose="020F0502020204030204" pitchFamily="34" charset="0"/>
              </a:endParaRPr>
            </a:p>
            <a:p>
              <a:pPr algn="ctr"/>
              <a:r>
                <a:rPr lang="en-US" altLang="zh-TW" sz="2800" i="0" dirty="0">
                  <a:latin typeface="Calibri" panose="020F0502020204030204" pitchFamily="34" charset="0"/>
                  <a:cs typeface="Calibri" panose="020F0502020204030204" pitchFamily="34" charset="0"/>
                </a:rPr>
                <a:t>string partition</a:t>
              </a:r>
              <a:r>
                <a:rPr lang="en-US" altLang="zh-TW" sz="2800" b="0" i="0" dirty="0">
                  <a:latin typeface="Calibri" panose="020F0502020204030204" pitchFamily="34" charset="0"/>
                  <a:cs typeface="Calibri" panose="020F0502020204030204" pitchFamily="34" charset="0"/>
                </a:rPr>
                <a:t>(MCSP)</a:t>
              </a:r>
              <a:endParaRPr lang="zh-TW" altLang="en-US" sz="280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49" name="矩形 148">
                  <a:extLst>
                    <a:ext uri="{FF2B5EF4-FFF2-40B4-BE49-F238E27FC236}">
                      <a16:creationId xmlns:a16="http://schemas.microsoft.com/office/drawing/2014/main" id="{CBFDE58D-BF98-4EB2-98BB-139E5507E2B3}"/>
                    </a:ext>
                  </a:extLst>
                </p:cNvPr>
                <p:cNvSpPr/>
                <p:nvPr/>
              </p:nvSpPr>
              <p:spPr>
                <a:xfrm>
                  <a:off x="3665361" y="5615408"/>
                  <a:ext cx="4320773" cy="50674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 </m:t>
                        </m:r>
                        <m:r>
                          <a:rPr lang="en-US" altLang="zh-TW" sz="2400" i="1">
                            <a:solidFill>
                              <a:schemeClr val="accent2">
                                <a:lumMod val="75000"/>
                              </a:schemeClr>
                            </a:solidFill>
                            <a:latin typeface="Cambria Math" panose="02040503050406030204" pitchFamily="18" charset="0"/>
                          </a:rPr>
                          <m:t>𝑎</m:t>
                        </m:r>
                        <m:r>
                          <a:rPr lang="en-US" altLang="zh-TW" sz="2400" i="1">
                            <a:solidFill>
                              <a:schemeClr val="accent2">
                                <a:lumMod val="75000"/>
                              </a:schemeClr>
                            </a:solidFill>
                            <a:latin typeface="Cambria Math" panose="02040503050406030204" pitchFamily="18" charset="0"/>
                          </a:rPr>
                          <m:t> </m:t>
                        </m:r>
                        <m:r>
                          <a:rPr lang="en-US" altLang="zh-TW" sz="2400" i="1">
                            <a:solidFill>
                              <a:schemeClr val="accent2">
                                <a:lumMod val="75000"/>
                              </a:schemeClr>
                            </a:solidFill>
                            <a:latin typeface="Cambria Math" panose="02040503050406030204" pitchFamily="18" charset="0"/>
                          </a:rPr>
                          <m:t>𝑎</m:t>
                        </m:r>
                        <m:r>
                          <a:rPr lang="en-US" altLang="zh-TW" sz="2400" i="1">
                            <a:solidFill>
                              <a:schemeClr val="accent2">
                                <a:lumMod val="75000"/>
                              </a:schemeClr>
                            </a:solidFill>
                            <a:latin typeface="Cambria Math" panose="02040503050406030204" pitchFamily="18" charset="0"/>
                          </a:rPr>
                          <m:t> </m:t>
                        </m:r>
                        <m:r>
                          <a:rPr lang="en-US" altLang="zh-TW" sz="2400" i="1">
                            <a:solidFill>
                              <a:schemeClr val="accent2">
                                <a:lumMod val="75000"/>
                              </a:schemeClr>
                            </a:solidFill>
                            <a:latin typeface="Cambria Math" panose="02040503050406030204" pitchFamily="18" charset="0"/>
                          </a:rPr>
                          <m:t>𝑏</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𝑐</m:t>
                        </m:r>
                        <m:r>
                          <a:rPr lang="en-US" altLang="zh-TW" sz="2400" b="0" i="1" smtClean="0">
                            <a:solidFill>
                              <a:schemeClr val="accent2">
                                <a:lumMod val="75000"/>
                              </a:schemeClr>
                            </a:solidFill>
                            <a:latin typeface="Cambria Math" panose="02040503050406030204" pitchFamily="18" charset="0"/>
                          </a:rPr>
                          <m:t> </m:t>
                        </m:r>
                        <m:r>
                          <a:rPr lang="en-US" altLang="zh-TW" sz="2400" b="0" i="1" smtClean="0">
                            <a:solidFill>
                              <a:schemeClr val="accent2">
                                <a:lumMod val="75000"/>
                              </a:schemeClr>
                            </a:solidFill>
                            <a:latin typeface="Cambria Math" panose="02040503050406030204" pitchFamily="18" charset="0"/>
                          </a:rPr>
                          <m:t>𝑎</m:t>
                        </m:r>
                        <m:d>
                          <m:dPr>
                            <m:ctrlPr>
                              <a:rPr lang="en-US" altLang="zh-TW" sz="2400" i="1">
                                <a:solidFill>
                                  <a:schemeClr val="accent2">
                                    <a:lumMod val="75000"/>
                                  </a:schemeClr>
                                </a:solidFill>
                                <a:latin typeface="Cambria Math" panose="02040503050406030204" pitchFamily="18" charset="0"/>
                              </a:rPr>
                            </m:ctrlPr>
                          </m:dPr>
                          <m:e>
                            <m:sSub>
                              <m:sSubPr>
                                <m:ctrlPr>
                                  <a:rPr lang="en-US" altLang="zh-TW" sz="2400" i="1">
                                    <a:solidFill>
                                      <a:schemeClr val="accent2">
                                        <a:lumMod val="75000"/>
                                      </a:schemeClr>
                                    </a:solidFill>
                                    <a:latin typeface="Cambria Math" panose="02040503050406030204" pitchFamily="18" charset="0"/>
                                  </a:rPr>
                                </m:ctrlPr>
                              </m:sSubPr>
                              <m:e>
                                <m:r>
                                  <a:rPr lang="en-US" altLang="zh-TW" sz="2400" b="0" i="1" smtClean="0">
                                    <a:solidFill>
                                      <a:schemeClr val="accent2">
                                        <a:lumMod val="75000"/>
                                      </a:schemeClr>
                                    </a:solidFill>
                                    <a:latin typeface="Cambria Math" panose="02040503050406030204" pitchFamily="18" charset="0"/>
                                  </a:rPr>
                                  <m:t>𝐵</m:t>
                                </m:r>
                              </m:e>
                              <m:sub>
                                <m:r>
                                  <a:rPr lang="en-US" altLang="zh-TW" sz="2400" i="1">
                                    <a:solidFill>
                                      <a:schemeClr val="accent2">
                                        <a:lumMod val="75000"/>
                                      </a:schemeClr>
                                    </a:solidFill>
                                    <a:latin typeface="Cambria Math" panose="02040503050406030204" pitchFamily="18" charset="0"/>
                                  </a:rPr>
                                  <m:t>1</m:t>
                                </m:r>
                              </m:sub>
                            </m:sSub>
                          </m:e>
                        </m:d>
                        <m:r>
                          <a:rPr lang="en-US" altLang="zh-TW" sz="2400" i="1">
                            <a:latin typeface="Cambria Math" panose="02040503050406030204" pitchFamily="18" charset="0"/>
                          </a:rPr>
                          <m:t>,</m:t>
                        </m:r>
                        <m:r>
                          <a:rPr lang="zh-TW" altLang="en-US" sz="2400" i="1" smtClean="0">
                            <a:latin typeface="Cambria Math" panose="02040503050406030204" pitchFamily="18" charset="0"/>
                          </a:rPr>
                          <m:t>　</m:t>
                        </m:r>
                        <m:r>
                          <a:rPr lang="en-US" altLang="zh-TW" sz="2400" i="1" smtClean="0">
                            <a:solidFill>
                              <a:srgbClr val="00B050"/>
                            </a:solidFill>
                            <a:latin typeface="Cambria Math" panose="02040503050406030204" pitchFamily="18" charset="0"/>
                          </a:rPr>
                          <m:t>𝑎</m:t>
                        </m:r>
                        <m:r>
                          <a:rPr lang="en-US" altLang="zh-TW" sz="2400" i="1" smtClean="0">
                            <a:solidFill>
                              <a:srgbClr val="00B050"/>
                            </a:solidFill>
                            <a:latin typeface="Cambria Math" panose="02040503050406030204" pitchFamily="18" charset="0"/>
                          </a:rPr>
                          <m:t> </m:t>
                        </m:r>
                        <m:r>
                          <a:rPr lang="en-US" altLang="zh-TW" sz="2400" i="1" smtClean="0">
                            <a:solidFill>
                              <a:srgbClr val="00B050"/>
                            </a:solidFill>
                            <a:latin typeface="Cambria Math" panose="02040503050406030204" pitchFamily="18" charset="0"/>
                          </a:rPr>
                          <m:t>𝑏</m:t>
                        </m:r>
                        <m:d>
                          <m:dPr>
                            <m:ctrlPr>
                              <a:rPr lang="en-US" altLang="zh-TW" sz="2400" i="1">
                                <a:solidFill>
                                  <a:srgbClr val="00B050"/>
                                </a:solidFill>
                                <a:latin typeface="Cambria Math" panose="02040503050406030204" pitchFamily="18" charset="0"/>
                              </a:rPr>
                            </m:ctrlPr>
                          </m:dPr>
                          <m:e>
                            <m:sSub>
                              <m:sSubPr>
                                <m:ctrlPr>
                                  <a:rPr lang="en-US" altLang="zh-TW" sz="2400" i="1">
                                    <a:solidFill>
                                      <a:srgbClr val="00B050"/>
                                    </a:solidFill>
                                    <a:latin typeface="Cambria Math" panose="02040503050406030204" pitchFamily="18" charset="0"/>
                                  </a:rPr>
                                </m:ctrlPr>
                              </m:sSubPr>
                              <m:e>
                                <m:r>
                                  <a:rPr lang="en-US" altLang="zh-TW" sz="2400" b="0" i="1" smtClean="0">
                                    <a:solidFill>
                                      <a:srgbClr val="00B050"/>
                                    </a:solidFill>
                                    <a:latin typeface="Cambria Math" panose="02040503050406030204" pitchFamily="18" charset="0"/>
                                  </a:rPr>
                                  <m:t>𝐵</m:t>
                                </m:r>
                              </m:e>
                              <m:sub>
                                <m:r>
                                  <a:rPr lang="en-US" altLang="zh-TW" sz="2400" i="1">
                                    <a:solidFill>
                                      <a:srgbClr val="00B050"/>
                                    </a:solidFill>
                                    <a:latin typeface="Cambria Math" panose="02040503050406030204" pitchFamily="18" charset="0"/>
                                  </a:rPr>
                                  <m:t>2</m:t>
                                </m:r>
                              </m:sub>
                            </m:sSub>
                          </m:e>
                        </m:d>
                      </m:oMath>
                    </m:oMathPara>
                  </a14:m>
                  <a:endParaRPr lang="zh-TW" altLang="en-US" sz="2400" dirty="0"/>
                </a:p>
              </p:txBody>
            </p:sp>
          </mc:Choice>
          <mc:Fallback xmlns="">
            <p:sp>
              <p:nvSpPr>
                <p:cNvPr id="149" name="矩形 148">
                  <a:extLst>
                    <a:ext uri="{FF2B5EF4-FFF2-40B4-BE49-F238E27FC236}">
                      <a16:creationId xmlns:a16="http://schemas.microsoft.com/office/drawing/2014/main" id="{CBFDE58D-BF98-4EB2-98BB-139E5507E2B3}"/>
                    </a:ext>
                  </a:extLst>
                </p:cNvPr>
                <p:cNvSpPr>
                  <a:spLocks noRot="1" noChangeAspect="1" noMove="1" noResize="1" noEditPoints="1" noAdjustHandles="1" noChangeArrowheads="1" noChangeShapeType="1" noTextEdit="1"/>
                </p:cNvSpPr>
                <p:nvPr/>
              </p:nvSpPr>
              <p:spPr>
                <a:xfrm>
                  <a:off x="3665361" y="5615408"/>
                  <a:ext cx="4320773" cy="506742"/>
                </a:xfrm>
                <a:prstGeom prst="rect">
                  <a:avLst/>
                </a:prstGeom>
                <a:blipFill>
                  <a:blip r:embed="rId6"/>
                  <a:stretch>
                    <a:fillRect/>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150" name="矩形 149">
                <a:extLst>
                  <a:ext uri="{FF2B5EF4-FFF2-40B4-BE49-F238E27FC236}">
                    <a16:creationId xmlns:a16="http://schemas.microsoft.com/office/drawing/2014/main" id="{F0D90404-B6CB-4E69-9237-3EA60984DA32}"/>
                  </a:ext>
                </a:extLst>
              </p:cNvPr>
              <p:cNvSpPr/>
              <p:nvPr/>
            </p:nvSpPr>
            <p:spPr>
              <a:xfrm>
                <a:off x="3847793" y="2054669"/>
                <a:ext cx="48282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solidFill>
                            <a:schemeClr val="tx1"/>
                          </a:solidFill>
                          <a:latin typeface="Cambria Math" panose="02040503050406030204" pitchFamily="18" charset="0"/>
                        </a:rPr>
                        <m:t>…</m:t>
                      </m:r>
                    </m:oMath>
                  </m:oMathPara>
                </a14:m>
                <a:endParaRPr lang="zh-TW" altLang="en-US" sz="2400" i="1" dirty="0">
                  <a:latin typeface="Cambria Math" panose="02040503050406030204" pitchFamily="18" charset="0"/>
                </a:endParaRPr>
              </a:p>
            </p:txBody>
          </p:sp>
        </mc:Choice>
        <mc:Fallback xmlns="">
          <p:sp>
            <p:nvSpPr>
              <p:cNvPr id="150" name="矩形 149">
                <a:extLst>
                  <a:ext uri="{FF2B5EF4-FFF2-40B4-BE49-F238E27FC236}">
                    <a16:creationId xmlns:a16="http://schemas.microsoft.com/office/drawing/2014/main" id="{F0D90404-B6CB-4E69-9237-3EA60984DA32}"/>
                  </a:ext>
                </a:extLst>
              </p:cNvPr>
              <p:cNvSpPr>
                <a:spLocks noRot="1" noChangeAspect="1" noMove="1" noResize="1" noEditPoints="1" noAdjustHandles="1" noChangeArrowheads="1" noChangeShapeType="1" noTextEdit="1"/>
              </p:cNvSpPr>
              <p:nvPr/>
            </p:nvSpPr>
            <p:spPr>
              <a:xfrm>
                <a:off x="3847793" y="2054669"/>
                <a:ext cx="482824" cy="461665"/>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1" name="矩形 150">
                <a:extLst>
                  <a:ext uri="{FF2B5EF4-FFF2-40B4-BE49-F238E27FC236}">
                    <a16:creationId xmlns:a16="http://schemas.microsoft.com/office/drawing/2014/main" id="{C6BE120D-8D4A-46B4-8043-A481E5E2FA01}"/>
                  </a:ext>
                </a:extLst>
              </p:cNvPr>
              <p:cNvSpPr/>
              <p:nvPr/>
            </p:nvSpPr>
            <p:spPr>
              <a:xfrm>
                <a:off x="5784402" y="1085581"/>
                <a:ext cx="1214115" cy="461665"/>
              </a:xfrm>
              <a:prstGeom prst="rect">
                <a:avLst/>
              </a:prstGeom>
            </p:spPr>
            <p:txBody>
              <a:bodyPr wrap="none">
                <a:spAutoFit/>
              </a:bodyPr>
              <a:lstStyle/>
              <a:p>
                <a14:m>
                  <m:oMath xmlns:m="http://schemas.openxmlformats.org/officeDocument/2006/math">
                    <m:r>
                      <a:rPr lang="en-US" altLang="zh-TW" sz="2400" i="1" smtClean="0">
                        <a:latin typeface="Cambria Math" panose="02040503050406030204" pitchFamily="18" charset="0"/>
                      </a:rPr>
                      <m:t>𝑎𝑏</m:t>
                    </m:r>
                    <m:r>
                      <a:rPr lang="en-US" altLang="zh-TW" sz="2400" b="0" i="1" smtClean="0">
                        <a:latin typeface="Cambria Math" panose="02040503050406030204" pitchFamily="18" charset="0"/>
                      </a:rPr>
                      <m:t>$</m:t>
                    </m:r>
                    <m:r>
                      <a:rPr lang="en-US" altLang="zh-TW" sz="2400" i="1">
                        <a:latin typeface="Cambria Math" panose="02040503050406030204" pitchFamily="18" charset="0"/>
                      </a:rPr>
                      <m:t>𝑎𝑏</m:t>
                    </m:r>
                  </m:oMath>
                </a14:m>
                <a:r>
                  <a:rPr lang="en-US" altLang="zh-TW" sz="2400" dirty="0">
                    <a:latin typeface="Cambria Math" panose="02040503050406030204" pitchFamily="18" charset="0"/>
                  </a:rPr>
                  <a:t>#</a:t>
                </a:r>
                <a:endParaRPr lang="zh-TW" altLang="en-US" sz="2400" dirty="0">
                  <a:latin typeface="Cambria Math" panose="02040503050406030204" pitchFamily="18" charset="0"/>
                </a:endParaRPr>
              </a:p>
            </p:txBody>
          </p:sp>
        </mc:Choice>
        <mc:Fallback xmlns="">
          <p:sp>
            <p:nvSpPr>
              <p:cNvPr id="151" name="矩形 150">
                <a:extLst>
                  <a:ext uri="{FF2B5EF4-FFF2-40B4-BE49-F238E27FC236}">
                    <a16:creationId xmlns:a16="http://schemas.microsoft.com/office/drawing/2014/main" id="{C6BE120D-8D4A-46B4-8043-A481E5E2FA01}"/>
                  </a:ext>
                </a:extLst>
              </p:cNvPr>
              <p:cNvSpPr>
                <a:spLocks noRot="1" noChangeAspect="1" noMove="1" noResize="1" noEditPoints="1" noAdjustHandles="1" noChangeArrowheads="1" noChangeShapeType="1" noTextEdit="1"/>
              </p:cNvSpPr>
              <p:nvPr/>
            </p:nvSpPr>
            <p:spPr>
              <a:xfrm>
                <a:off x="5784402" y="1085581"/>
                <a:ext cx="1214115" cy="461665"/>
              </a:xfrm>
              <a:prstGeom prst="rect">
                <a:avLst/>
              </a:prstGeom>
              <a:blipFill>
                <a:blip r:embed="rId8"/>
                <a:stretch>
                  <a:fillRect l="-1508" t="-10526" r="-6533" b="-2894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433130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7"/>
                                        </p:tgtEl>
                                        <p:attrNameLst>
                                          <p:attrName>style.visibility</p:attrName>
                                        </p:attrNameLst>
                                      </p:cBhvr>
                                      <p:to>
                                        <p:strVal val="visible"/>
                                      </p:to>
                                    </p:set>
                                    <p:animEffect transition="in" filter="fade">
                                      <p:cBhvr>
                                        <p:cTn id="7" dur="500"/>
                                        <p:tgtEl>
                                          <p:spTgt spid="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9</a:t>
            </a:fld>
            <a:endParaRPr lang="zh-TW" altLang="en-US" dirty="0"/>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CD5CB7F7-32D5-42A6-A8AC-2E6FCAF5BD68}"/>
                  </a:ext>
                </a:extLst>
              </p:cNvPr>
              <p:cNvSpPr/>
              <p:nvPr/>
            </p:nvSpPr>
            <p:spPr>
              <a:xfrm>
                <a:off x="4276451" y="226124"/>
                <a:ext cx="332969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mtClean="0">
                          <a:solidFill>
                            <a:schemeClr val="accent2">
                              <a:lumMod val="75000"/>
                            </a:schemeClr>
                          </a:solidFill>
                          <a:latin typeface="Cambria Math" panose="02040503050406030204" pitchFamily="18" charset="0"/>
                        </a:rPr>
                        <m:t>𝑐</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𝑎</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𝑏</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4">
                              <a:lumMod val="75000"/>
                            </a:schemeClr>
                          </a:solidFill>
                          <a:latin typeface="Cambria Math" panose="02040503050406030204" pitchFamily="18" charset="0"/>
                        </a:rPr>
                        <m:t>𝑐</m:t>
                      </m:r>
                      <m:r>
                        <a:rPr lang="en-US" altLang="zh-TW" sz="2800" b="0" i="1" smtClean="0">
                          <a:solidFill>
                            <a:schemeClr val="accent4">
                              <a:lumMod val="75000"/>
                            </a:schemeClr>
                          </a:solidFill>
                          <a:latin typeface="Cambria Math" panose="02040503050406030204" pitchFamily="18" charset="0"/>
                        </a:rPr>
                        <m:t> </m:t>
                      </m:r>
                      <m:r>
                        <a:rPr lang="en-US" altLang="zh-TW" sz="2800" b="0" i="1" smtClean="0">
                          <a:solidFill>
                            <a:srgbClr val="00B050"/>
                          </a:solidFill>
                          <a:latin typeface="Cambria Math" panose="02040503050406030204" pitchFamily="18" charset="0"/>
                        </a:rPr>
                        <m:t>𝑎</m:t>
                      </m:r>
                      <m:r>
                        <a:rPr lang="en-US" altLang="zh-TW" sz="2800" b="0" i="1" smtClean="0">
                          <a:solidFill>
                            <a:srgbClr val="00B050"/>
                          </a:solidFill>
                          <a:latin typeface="Cambria Math" panose="02040503050406030204" pitchFamily="18" charset="0"/>
                        </a:rPr>
                        <m:t> </m:t>
                      </m:r>
                      <m:r>
                        <a:rPr lang="en-US" altLang="zh-TW" sz="2800" b="0" i="1" smtClean="0">
                          <a:solidFill>
                            <a:srgbClr val="00B050"/>
                          </a:solidFill>
                          <a:latin typeface="Cambria Math" panose="02040503050406030204" pitchFamily="18" charset="0"/>
                        </a:rPr>
                        <m:t>𝑐</m:t>
                      </m:r>
                      <m:r>
                        <a:rPr lang="en-US" altLang="zh-TW" sz="2800" b="0" i="1" smtClean="0">
                          <a:solidFill>
                            <a:srgbClr val="00B050"/>
                          </a:solidFill>
                          <a:latin typeface="Cambria Math" panose="02040503050406030204" pitchFamily="18" charset="0"/>
                        </a:rPr>
                        <m:t> </m:t>
                      </m:r>
                      <m:r>
                        <a:rPr lang="en-US" altLang="zh-TW" sz="2800" b="0" i="1" smtClean="0">
                          <a:solidFill>
                            <a:srgbClr val="7030A0"/>
                          </a:solidFill>
                          <a:latin typeface="Cambria Math" panose="02040503050406030204" pitchFamily="18" charset="0"/>
                        </a:rPr>
                        <m:t>𝑎</m:t>
                      </m:r>
                      <m:r>
                        <a:rPr lang="en-US" altLang="zh-TW" sz="2800" b="0" i="1" smtClean="0">
                          <a:solidFill>
                            <a:srgbClr val="7030A0"/>
                          </a:solidFill>
                          <a:latin typeface="Cambria Math" panose="02040503050406030204" pitchFamily="18" charset="0"/>
                        </a:rPr>
                        <m:t> </m:t>
                      </m:r>
                      <m:r>
                        <a:rPr lang="en-US" altLang="zh-TW" sz="2800" b="0" i="1" smtClean="0">
                          <a:solidFill>
                            <a:srgbClr val="7030A0"/>
                          </a:solidFill>
                          <a:latin typeface="Cambria Math" panose="02040503050406030204" pitchFamily="18" charset="0"/>
                        </a:rPr>
                        <m:t>𝑎</m:t>
                      </m:r>
                      <m:r>
                        <a:rPr lang="en-US" altLang="zh-TW" sz="2800" b="0" i="1" smtClean="0">
                          <a:solidFill>
                            <a:srgbClr val="7030A0"/>
                          </a:solidFill>
                          <a:latin typeface="Cambria Math" panose="02040503050406030204" pitchFamily="18" charset="0"/>
                        </a:rPr>
                        <m:t> </m:t>
                      </m:r>
                      <m:r>
                        <a:rPr lang="en-US" altLang="zh-TW" sz="2800" b="0" i="1" smtClean="0">
                          <a:solidFill>
                            <a:srgbClr val="7030A0"/>
                          </a:solidFill>
                          <a:latin typeface="Cambria Math" panose="02040503050406030204" pitchFamily="18" charset="0"/>
                        </a:rPr>
                        <m:t>𝑏</m:t>
                      </m:r>
                    </m:oMath>
                  </m:oMathPara>
                </a14:m>
                <a:endParaRPr lang="zh-TW" altLang="en-US" sz="2800" dirty="0"/>
              </a:p>
            </p:txBody>
          </p:sp>
        </mc:Choice>
        <mc:Fallback xmlns="">
          <p:sp>
            <p:nvSpPr>
              <p:cNvPr id="13" name="矩形 12">
                <a:extLst>
                  <a:ext uri="{FF2B5EF4-FFF2-40B4-BE49-F238E27FC236}">
                    <a16:creationId xmlns:a16="http://schemas.microsoft.com/office/drawing/2014/main" id="{CD5CB7F7-32D5-42A6-A8AC-2E6FCAF5BD68}"/>
                  </a:ext>
                </a:extLst>
              </p:cNvPr>
              <p:cNvSpPr>
                <a:spLocks noRot="1" noChangeAspect="1" noMove="1" noResize="1" noEditPoints="1" noAdjustHandles="1" noChangeArrowheads="1" noChangeShapeType="1" noTextEdit="1"/>
              </p:cNvSpPr>
              <p:nvPr/>
            </p:nvSpPr>
            <p:spPr>
              <a:xfrm>
                <a:off x="4276451" y="226124"/>
                <a:ext cx="3329694" cy="523220"/>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7FCB4222-107A-472D-AAF4-F27ABF190BBC}"/>
                  </a:ext>
                </a:extLst>
              </p:cNvPr>
              <p:cNvSpPr/>
              <p:nvPr/>
            </p:nvSpPr>
            <p:spPr>
              <a:xfrm>
                <a:off x="4276451" y="657393"/>
                <a:ext cx="334982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𝑇</m:t>
                      </m:r>
                      <m:r>
                        <a:rPr lang="en-US" altLang="zh-TW" sz="2800" i="1">
                          <a:latin typeface="Cambria Math" panose="02040503050406030204" pitchFamily="18" charset="0"/>
                        </a:rPr>
                        <m:t>=</m:t>
                      </m:r>
                      <m:r>
                        <a:rPr lang="en-US" altLang="zh-TW" sz="2800" i="1" smtClean="0">
                          <a:solidFill>
                            <a:schemeClr val="accent2">
                              <a:lumMod val="75000"/>
                            </a:schemeClr>
                          </a:solidFill>
                          <a:latin typeface="Cambria Math" panose="02040503050406030204" pitchFamily="18" charset="0"/>
                        </a:rPr>
                        <m:t>𝑐</m:t>
                      </m:r>
                      <m:r>
                        <a:rPr lang="en-US" altLang="zh-TW" sz="2800" i="1" smtClean="0">
                          <a:solidFill>
                            <a:schemeClr val="accent2">
                              <a:lumMod val="75000"/>
                            </a:schemeClr>
                          </a:solidFill>
                          <a:latin typeface="Cambria Math" panose="02040503050406030204" pitchFamily="18" charset="0"/>
                        </a:rPr>
                        <m:t> </m:t>
                      </m:r>
                      <m:r>
                        <a:rPr lang="en-US" altLang="zh-TW" sz="2800" i="1" smtClean="0">
                          <a:solidFill>
                            <a:schemeClr val="accent2">
                              <a:lumMod val="75000"/>
                            </a:schemeClr>
                          </a:solidFill>
                          <a:latin typeface="Cambria Math" panose="02040503050406030204" pitchFamily="18" charset="0"/>
                        </a:rPr>
                        <m:t>𝑎</m:t>
                      </m:r>
                      <m:r>
                        <a:rPr lang="en-US" altLang="zh-TW" sz="2800" i="1" smtClean="0">
                          <a:solidFill>
                            <a:schemeClr val="accent2">
                              <a:lumMod val="75000"/>
                            </a:schemeClr>
                          </a:solidFill>
                          <a:latin typeface="Cambria Math" panose="02040503050406030204" pitchFamily="18" charset="0"/>
                        </a:rPr>
                        <m:t> </m:t>
                      </m:r>
                      <m:r>
                        <a:rPr lang="en-US" altLang="zh-TW" sz="2800" i="1" smtClean="0">
                          <a:solidFill>
                            <a:schemeClr val="accent2">
                              <a:lumMod val="75000"/>
                            </a:schemeClr>
                          </a:solidFill>
                          <a:latin typeface="Cambria Math" panose="02040503050406030204" pitchFamily="18" charset="0"/>
                        </a:rPr>
                        <m:t>𝑏</m:t>
                      </m:r>
                      <m:r>
                        <a:rPr lang="en-US" altLang="zh-TW" sz="2800" i="1" smtClean="0">
                          <a:solidFill>
                            <a:schemeClr val="accent2">
                              <a:lumMod val="75000"/>
                            </a:schemeClr>
                          </a:solidFill>
                          <a:latin typeface="Cambria Math" panose="02040503050406030204" pitchFamily="18" charset="0"/>
                        </a:rPr>
                        <m:t> </m:t>
                      </m:r>
                      <m:r>
                        <a:rPr lang="en-US" altLang="zh-TW" sz="2800" i="1" smtClean="0">
                          <a:solidFill>
                            <a:srgbClr val="7030A0"/>
                          </a:solidFill>
                          <a:latin typeface="Cambria Math" panose="02040503050406030204" pitchFamily="18" charset="0"/>
                        </a:rPr>
                        <m:t>𝑎</m:t>
                      </m:r>
                      <m:r>
                        <a:rPr lang="en-US" altLang="zh-TW" sz="2800" i="1" smtClean="0">
                          <a:solidFill>
                            <a:srgbClr val="7030A0"/>
                          </a:solidFill>
                          <a:latin typeface="Cambria Math" panose="02040503050406030204" pitchFamily="18" charset="0"/>
                        </a:rPr>
                        <m:t> </m:t>
                      </m:r>
                      <m:r>
                        <a:rPr lang="en-US" altLang="zh-TW" sz="2800" i="1" smtClean="0">
                          <a:solidFill>
                            <a:srgbClr val="7030A0"/>
                          </a:solidFill>
                          <a:latin typeface="Cambria Math" panose="02040503050406030204" pitchFamily="18" charset="0"/>
                        </a:rPr>
                        <m:t>𝑎</m:t>
                      </m:r>
                      <m:r>
                        <a:rPr lang="en-US" altLang="zh-TW" sz="2800" i="1" smtClean="0">
                          <a:solidFill>
                            <a:srgbClr val="7030A0"/>
                          </a:solidFill>
                          <a:latin typeface="Cambria Math" panose="02040503050406030204" pitchFamily="18" charset="0"/>
                        </a:rPr>
                        <m:t> </m:t>
                      </m:r>
                      <m:r>
                        <a:rPr lang="en-US" altLang="zh-TW" sz="2800" i="1" smtClean="0">
                          <a:solidFill>
                            <a:srgbClr val="7030A0"/>
                          </a:solidFill>
                          <a:latin typeface="Cambria Math" panose="02040503050406030204" pitchFamily="18" charset="0"/>
                        </a:rPr>
                        <m:t>𝑏</m:t>
                      </m:r>
                      <m:r>
                        <a:rPr lang="en-US" altLang="zh-TW" sz="2800" i="1" smtClean="0">
                          <a:solidFill>
                            <a:srgbClr val="7030A0"/>
                          </a:solidFill>
                          <a:latin typeface="Cambria Math" panose="02040503050406030204" pitchFamily="18" charset="0"/>
                        </a:rPr>
                        <m:t> </m:t>
                      </m:r>
                      <m:r>
                        <a:rPr lang="en-US" altLang="zh-TW" sz="2800" i="1" smtClean="0">
                          <a:solidFill>
                            <a:srgbClr val="00B050"/>
                          </a:solidFill>
                          <a:latin typeface="Cambria Math" panose="02040503050406030204" pitchFamily="18" charset="0"/>
                        </a:rPr>
                        <m:t>𝑎</m:t>
                      </m:r>
                      <m:r>
                        <a:rPr lang="en-US" altLang="zh-TW" sz="2800" i="1" smtClean="0">
                          <a:solidFill>
                            <a:srgbClr val="00B050"/>
                          </a:solidFill>
                          <a:latin typeface="Cambria Math" panose="02040503050406030204" pitchFamily="18" charset="0"/>
                        </a:rPr>
                        <m:t> </m:t>
                      </m:r>
                      <m:r>
                        <a:rPr lang="en-US" altLang="zh-TW" sz="2800" i="1" smtClean="0">
                          <a:solidFill>
                            <a:srgbClr val="00B050"/>
                          </a:solidFill>
                          <a:latin typeface="Cambria Math" panose="02040503050406030204" pitchFamily="18" charset="0"/>
                        </a:rPr>
                        <m:t>𝑐</m:t>
                      </m:r>
                      <m:r>
                        <a:rPr lang="en-US" altLang="zh-TW" sz="2800" i="1" smtClean="0">
                          <a:solidFill>
                            <a:srgbClr val="00B050"/>
                          </a:solidFill>
                          <a:latin typeface="Cambria Math" panose="02040503050406030204" pitchFamily="18" charset="0"/>
                        </a:rPr>
                        <m:t> </m:t>
                      </m:r>
                      <m:r>
                        <a:rPr lang="en-US" altLang="zh-TW" sz="2800" i="1" smtClean="0">
                          <a:solidFill>
                            <a:schemeClr val="accent4">
                              <a:lumMod val="75000"/>
                            </a:schemeClr>
                          </a:solidFill>
                          <a:latin typeface="Cambria Math" panose="02040503050406030204" pitchFamily="18" charset="0"/>
                        </a:rPr>
                        <m:t>𝑐</m:t>
                      </m:r>
                    </m:oMath>
                  </m:oMathPara>
                </a14:m>
                <a:endParaRPr lang="zh-TW" altLang="en-US" sz="2800" i="1" dirty="0">
                  <a:latin typeface="Cambria Math" panose="02040503050406030204" pitchFamily="18" charset="0"/>
                </a:endParaRPr>
              </a:p>
            </p:txBody>
          </p:sp>
        </mc:Choice>
        <mc:Fallback xmlns="">
          <p:sp>
            <p:nvSpPr>
              <p:cNvPr id="14" name="矩形 13">
                <a:extLst>
                  <a:ext uri="{FF2B5EF4-FFF2-40B4-BE49-F238E27FC236}">
                    <a16:creationId xmlns:a16="http://schemas.microsoft.com/office/drawing/2014/main" id="{7FCB4222-107A-472D-AAF4-F27ABF190BBC}"/>
                  </a:ext>
                </a:extLst>
              </p:cNvPr>
              <p:cNvSpPr>
                <a:spLocks noRot="1" noChangeAspect="1" noMove="1" noResize="1" noEditPoints="1" noAdjustHandles="1" noChangeArrowheads="1" noChangeShapeType="1" noTextEdit="1"/>
              </p:cNvSpPr>
              <p:nvPr/>
            </p:nvSpPr>
            <p:spPr>
              <a:xfrm>
                <a:off x="4276451" y="657393"/>
                <a:ext cx="3349828" cy="523220"/>
              </a:xfrm>
              <a:prstGeom prst="rect">
                <a:avLst/>
              </a:prstGeom>
              <a:blipFill>
                <a:blip r:embed="rId4"/>
                <a:stretch>
                  <a:fillRect/>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97DE67D6-3BBA-43F1-B1ED-7CBBB51F474D}"/>
              </a:ext>
            </a:extLst>
          </p:cNvPr>
          <p:cNvPicPr>
            <a:picLocks noChangeAspect="1"/>
          </p:cNvPicPr>
          <p:nvPr/>
        </p:nvPicPr>
        <p:blipFill>
          <a:blip r:embed="rId5"/>
          <a:stretch>
            <a:fillRect/>
          </a:stretch>
        </p:blipFill>
        <p:spPr>
          <a:xfrm>
            <a:off x="0" y="1927362"/>
            <a:ext cx="9144000" cy="4394579"/>
          </a:xfrm>
          <a:prstGeom prst="rect">
            <a:avLst/>
          </a:prstGeom>
        </p:spPr>
      </p:pic>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A847F6DA-C38F-43ED-9623-D402D3A60028}"/>
                  </a:ext>
                </a:extLst>
              </p:cNvPr>
              <p:cNvSpPr/>
              <p:nvPr/>
            </p:nvSpPr>
            <p:spPr>
              <a:xfrm>
                <a:off x="4276451" y="1180613"/>
                <a:ext cx="405130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smtClean="0">
                          <a:latin typeface="Cambria Math" panose="02040503050406030204" pitchFamily="18" charset="0"/>
                        </a:rPr>
                        <m:t>𝑐𝑎𝑏</m:t>
                      </m:r>
                      <m:r>
                        <a:rPr lang="en-US" altLang="zh-TW" sz="2800" b="0" i="1" smtClean="0">
                          <a:latin typeface="Cambria Math" panose="02040503050406030204" pitchFamily="18" charset="0"/>
                        </a:rPr>
                        <m:t>𝑐</m:t>
                      </m:r>
                      <m:r>
                        <a:rPr lang="en-US" altLang="zh-TW" sz="2800" i="1" smtClean="0">
                          <a:latin typeface="Cambria Math" panose="02040503050406030204" pitchFamily="18" charset="0"/>
                        </a:rPr>
                        <m:t>𝑎</m:t>
                      </m:r>
                      <m:r>
                        <a:rPr lang="en-US" altLang="zh-TW" sz="2800" b="0" i="1" smtClean="0">
                          <a:latin typeface="Cambria Math" panose="02040503050406030204" pitchFamily="18" charset="0"/>
                        </a:rPr>
                        <m:t>𝑐𝑎</m:t>
                      </m:r>
                      <m:r>
                        <a:rPr lang="en-US" altLang="zh-TW" sz="2800" i="1" smtClean="0">
                          <a:latin typeface="Cambria Math" panose="02040503050406030204" pitchFamily="18" charset="0"/>
                        </a:rPr>
                        <m:t>𝑎</m:t>
                      </m:r>
                      <m:r>
                        <a:rPr lang="en-US" altLang="zh-TW" sz="2800" b="0" i="1" smtClean="0">
                          <a:latin typeface="Cambria Math" panose="02040503050406030204" pitchFamily="18" charset="0"/>
                        </a:rPr>
                        <m:t>𝑏</m:t>
                      </m:r>
                      <m:r>
                        <m:rPr>
                          <m:nor/>
                        </m:rPr>
                        <a:rPr lang="en-US" altLang="zh-TW" sz="2800" dirty="0">
                          <a:latin typeface="Cambria Math" panose="02040503050406030204" pitchFamily="18" charset="0"/>
                        </a:rPr>
                        <m:t>$</m:t>
                      </m:r>
                      <m:r>
                        <a:rPr lang="en-US" altLang="zh-TW" sz="2800" b="0" i="1" smtClean="0">
                          <a:latin typeface="Cambria Math" panose="02040503050406030204" pitchFamily="18" charset="0"/>
                        </a:rPr>
                        <m:t>𝑐𝑎𝑏𝑎𝑎𝑏𝑎𝑐𝑐</m:t>
                      </m:r>
                      <m:r>
                        <a:rPr lang="en-US" altLang="zh-TW" sz="2800" i="1">
                          <a:latin typeface="Cambria Math" panose="02040503050406030204" pitchFamily="18" charset="0"/>
                        </a:rPr>
                        <m:t>#</m:t>
                      </m:r>
                    </m:oMath>
                  </m:oMathPara>
                </a14:m>
                <a:endParaRPr lang="zh-TW" altLang="en-US" sz="2800" dirty="0">
                  <a:latin typeface="Cambria Math" panose="02040503050406030204" pitchFamily="18" charset="0"/>
                </a:endParaRPr>
              </a:p>
            </p:txBody>
          </p:sp>
        </mc:Choice>
        <mc:Fallback xmlns="">
          <p:sp>
            <p:nvSpPr>
              <p:cNvPr id="24" name="矩形 23">
                <a:extLst>
                  <a:ext uri="{FF2B5EF4-FFF2-40B4-BE49-F238E27FC236}">
                    <a16:creationId xmlns:a16="http://schemas.microsoft.com/office/drawing/2014/main" id="{A847F6DA-C38F-43ED-9623-D402D3A60028}"/>
                  </a:ext>
                </a:extLst>
              </p:cNvPr>
              <p:cNvSpPr>
                <a:spLocks noRot="1" noChangeAspect="1" noMove="1" noResize="1" noEditPoints="1" noAdjustHandles="1" noChangeArrowheads="1" noChangeShapeType="1" noTextEdit="1"/>
              </p:cNvSpPr>
              <p:nvPr/>
            </p:nvSpPr>
            <p:spPr>
              <a:xfrm>
                <a:off x="4276451" y="1180613"/>
                <a:ext cx="4051302" cy="523220"/>
              </a:xfrm>
              <a:prstGeom prst="rect">
                <a:avLst/>
              </a:prstGeom>
              <a:blipFill>
                <a:blip r:embed="rId6"/>
                <a:stretch>
                  <a:fillRect/>
                </a:stretch>
              </a:blipFill>
            </p:spPr>
            <p:txBody>
              <a:bodyPr/>
              <a:lstStyle/>
              <a:p>
                <a:r>
                  <a:rPr lang="zh-TW" altLang="en-US">
                    <a:noFill/>
                  </a:rPr>
                  <a:t> </a:t>
                </a:r>
              </a:p>
            </p:txBody>
          </p:sp>
        </mc:Fallback>
      </mc:AlternateContent>
      <p:sp>
        <p:nvSpPr>
          <p:cNvPr id="10" name="標題 1">
            <a:extLst>
              <a:ext uri="{FF2B5EF4-FFF2-40B4-BE49-F238E27FC236}">
                <a16:creationId xmlns:a16="http://schemas.microsoft.com/office/drawing/2014/main" id="{6CD95B9F-20C1-47C1-A6F4-51B467084E9D}"/>
              </a:ext>
            </a:extLst>
          </p:cNvPr>
          <p:cNvSpPr>
            <a:spLocks noGrp="1"/>
          </p:cNvSpPr>
          <p:nvPr>
            <p:ph type="title"/>
          </p:nvPr>
        </p:nvSpPr>
        <p:spPr>
          <a:xfrm>
            <a:off x="471956" y="414725"/>
            <a:ext cx="3606558"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Suffix tree of </a:t>
            </a:r>
            <a:r>
              <a:rPr lang="en-US" altLang="zh-TW" sz="2800" dirty="0">
                <a:latin typeface="Times New Roman" panose="02020603050405020304" pitchFamily="18" charset="0"/>
                <a:cs typeface="Times New Roman" panose="02020603050405020304" pitchFamily="18" charset="0"/>
              </a:rPr>
              <a:t>S$T#</a:t>
            </a:r>
            <a:endParaRPr lang="zh-TW" altLang="en-US" sz="3200" dirty="0">
              <a:latin typeface="Times New Roman" panose="02020603050405020304" pitchFamily="18" charset="0"/>
              <a:cs typeface="Times New Roman" panose="02020603050405020304" pitchFamily="18" charset="0"/>
            </a:endParaRPr>
          </a:p>
        </p:txBody>
      </p:sp>
      <p:cxnSp>
        <p:nvCxnSpPr>
          <p:cNvPr id="11" name="直線接點 10">
            <a:extLst>
              <a:ext uri="{FF2B5EF4-FFF2-40B4-BE49-F238E27FC236}">
                <a16:creationId xmlns:a16="http://schemas.microsoft.com/office/drawing/2014/main" id="{FBCD0D48-07F2-4BF9-9168-4F1F6F16F70E}"/>
              </a:ext>
            </a:extLst>
          </p:cNvPr>
          <p:cNvCxnSpPr>
            <a:cxnSpLocks/>
          </p:cNvCxnSpPr>
          <p:nvPr/>
        </p:nvCxnSpPr>
        <p:spPr>
          <a:xfrm>
            <a:off x="5060250" y="657393"/>
            <a:ext cx="789034" cy="0"/>
          </a:xfrm>
          <a:prstGeom prst="line">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線接點 14">
            <a:extLst>
              <a:ext uri="{FF2B5EF4-FFF2-40B4-BE49-F238E27FC236}">
                <a16:creationId xmlns:a16="http://schemas.microsoft.com/office/drawing/2014/main" id="{1FF2B3FB-2F11-4FA9-B65B-9228E4AC9B38}"/>
              </a:ext>
            </a:extLst>
          </p:cNvPr>
          <p:cNvCxnSpPr>
            <a:cxnSpLocks/>
          </p:cNvCxnSpPr>
          <p:nvPr/>
        </p:nvCxnSpPr>
        <p:spPr>
          <a:xfrm>
            <a:off x="5917500" y="657393"/>
            <a:ext cx="159450" cy="0"/>
          </a:xfrm>
          <a:prstGeom prst="line">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線接點 16">
            <a:extLst>
              <a:ext uri="{FF2B5EF4-FFF2-40B4-BE49-F238E27FC236}">
                <a16:creationId xmlns:a16="http://schemas.microsoft.com/office/drawing/2014/main" id="{239FE872-4698-4376-B0BE-3D8E3B071446}"/>
              </a:ext>
            </a:extLst>
          </p:cNvPr>
          <p:cNvCxnSpPr>
            <a:cxnSpLocks/>
          </p:cNvCxnSpPr>
          <p:nvPr/>
        </p:nvCxnSpPr>
        <p:spPr>
          <a:xfrm>
            <a:off x="6146100" y="657393"/>
            <a:ext cx="435675" cy="0"/>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9" name="直線接點 18">
            <a:extLst>
              <a:ext uri="{FF2B5EF4-FFF2-40B4-BE49-F238E27FC236}">
                <a16:creationId xmlns:a16="http://schemas.microsoft.com/office/drawing/2014/main" id="{4D6C6F02-7F03-4EBE-A49A-8FB6F15BD0CD}"/>
              </a:ext>
            </a:extLst>
          </p:cNvPr>
          <p:cNvCxnSpPr>
            <a:cxnSpLocks/>
          </p:cNvCxnSpPr>
          <p:nvPr/>
        </p:nvCxnSpPr>
        <p:spPr>
          <a:xfrm>
            <a:off x="6669975" y="657393"/>
            <a:ext cx="816675" cy="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5118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Suffix Skeleton Tree</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10</a:t>
            </a:fld>
            <a:endParaRPr lang="zh-TW" altLang="en-US" dirty="0"/>
          </a:p>
        </p:txBody>
      </p:sp>
      <p:pic>
        <p:nvPicPr>
          <p:cNvPr id="3" name="圖片 2">
            <a:extLst>
              <a:ext uri="{FF2B5EF4-FFF2-40B4-BE49-F238E27FC236}">
                <a16:creationId xmlns:a16="http://schemas.microsoft.com/office/drawing/2014/main" id="{90686613-D464-459A-A4E0-027E6C1C9203}"/>
              </a:ext>
            </a:extLst>
          </p:cNvPr>
          <p:cNvPicPr>
            <a:picLocks noChangeAspect="1"/>
          </p:cNvPicPr>
          <p:nvPr/>
        </p:nvPicPr>
        <p:blipFill>
          <a:blip r:embed="rId3"/>
          <a:stretch>
            <a:fillRect/>
          </a:stretch>
        </p:blipFill>
        <p:spPr>
          <a:xfrm>
            <a:off x="0" y="1938844"/>
            <a:ext cx="8908733" cy="4209269"/>
          </a:xfrm>
          <a:prstGeom prst="rect">
            <a:avLst/>
          </a:prstGeom>
        </p:spPr>
      </p:pic>
      <p:sp>
        <p:nvSpPr>
          <p:cNvPr id="9" name="標題 1">
            <a:extLst>
              <a:ext uri="{FF2B5EF4-FFF2-40B4-BE49-F238E27FC236}">
                <a16:creationId xmlns:a16="http://schemas.microsoft.com/office/drawing/2014/main" id="{759AAF3C-5102-4850-8CEC-CD1031A23516}"/>
              </a:ext>
            </a:extLst>
          </p:cNvPr>
          <p:cNvSpPr txBox="1">
            <a:spLocks/>
          </p:cNvSpPr>
          <p:nvPr/>
        </p:nvSpPr>
        <p:spPr>
          <a:xfrm>
            <a:off x="7506587" y="1594670"/>
            <a:ext cx="1402146" cy="583367"/>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0070C0"/>
                </a:solidFill>
                <a:latin typeface="Gill Sans MT" panose="020B0502020104020203" pitchFamily="34" charset="0"/>
                <a:cs typeface="Times New Roman" panose="02020603050405020304" pitchFamily="18" charset="0"/>
              </a:rPr>
              <a:t>essential node</a:t>
            </a:r>
            <a:endParaRPr lang="zh-TW" altLang="en-US" sz="2000" b="1" dirty="0">
              <a:solidFill>
                <a:srgbClr val="0070C0"/>
              </a:solidFill>
              <a:latin typeface="Gill Sans MT" panose="020B0502020104020203" pitchFamily="34" charset="0"/>
              <a:cs typeface="Times New Roman" panose="02020603050405020304" pitchFamily="18" charset="0"/>
            </a:endParaRPr>
          </a:p>
        </p:txBody>
      </p:sp>
      <p:sp>
        <p:nvSpPr>
          <p:cNvPr id="11" name="標題 1">
            <a:extLst>
              <a:ext uri="{FF2B5EF4-FFF2-40B4-BE49-F238E27FC236}">
                <a16:creationId xmlns:a16="http://schemas.microsoft.com/office/drawing/2014/main" id="{8C1A0977-CE68-4876-9CCF-E0590633FABD}"/>
              </a:ext>
            </a:extLst>
          </p:cNvPr>
          <p:cNvSpPr txBox="1">
            <a:spLocks/>
          </p:cNvSpPr>
          <p:nvPr/>
        </p:nvSpPr>
        <p:spPr>
          <a:xfrm>
            <a:off x="5907873" y="2636661"/>
            <a:ext cx="1100153"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92D050"/>
                </a:solidFill>
                <a:latin typeface="Gill Sans MT" panose="020B0502020104020203" pitchFamily="34" charset="0"/>
                <a:cs typeface="Times New Roman" panose="02020603050405020304" pitchFamily="18" charset="0"/>
              </a:rPr>
              <a:t>S-node</a:t>
            </a:r>
            <a:endParaRPr lang="zh-TW" altLang="en-US" sz="2000" b="1" dirty="0">
              <a:solidFill>
                <a:srgbClr val="92D050"/>
              </a:solidFill>
              <a:latin typeface="Gill Sans MT" panose="020B0502020104020203" pitchFamily="34" charset="0"/>
              <a:cs typeface="Times New Roman" panose="02020603050405020304" pitchFamily="18" charset="0"/>
            </a:endParaRPr>
          </a:p>
        </p:txBody>
      </p:sp>
      <p:sp>
        <p:nvSpPr>
          <p:cNvPr id="12" name="標題 1">
            <a:extLst>
              <a:ext uri="{FF2B5EF4-FFF2-40B4-BE49-F238E27FC236}">
                <a16:creationId xmlns:a16="http://schemas.microsoft.com/office/drawing/2014/main" id="{D23FD178-A983-4BAC-BC76-CD94973E7944}"/>
              </a:ext>
            </a:extLst>
          </p:cNvPr>
          <p:cNvSpPr txBox="1">
            <a:spLocks/>
          </p:cNvSpPr>
          <p:nvPr/>
        </p:nvSpPr>
        <p:spPr>
          <a:xfrm>
            <a:off x="8000642" y="3751794"/>
            <a:ext cx="1100153"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chemeClr val="accent4">
                    <a:lumMod val="60000"/>
                    <a:lumOff val="40000"/>
                  </a:schemeClr>
                </a:solidFill>
                <a:latin typeface="Gill Sans MT" panose="020B0502020104020203" pitchFamily="34" charset="0"/>
                <a:cs typeface="Times New Roman" panose="02020603050405020304" pitchFamily="18" charset="0"/>
              </a:rPr>
              <a:t>T-node</a:t>
            </a:r>
            <a:endParaRPr lang="zh-TW" altLang="en-US" sz="2000" b="1" dirty="0">
              <a:solidFill>
                <a:schemeClr val="accent4">
                  <a:lumMod val="60000"/>
                  <a:lumOff val="40000"/>
                </a:schemeClr>
              </a:solidFill>
              <a:latin typeface="Gill Sans MT" panose="020B0502020104020203" pitchFamily="34" charset="0"/>
              <a:cs typeface="Times New Roman" panose="02020603050405020304" pitchFamily="18" charset="0"/>
            </a:endParaRPr>
          </a:p>
        </p:txBody>
      </p:sp>
    </p:spTree>
    <p:extLst>
      <p:ext uri="{BB962C8B-B14F-4D97-AF65-F5344CB8AC3E}">
        <p14:creationId xmlns:p14="http://schemas.microsoft.com/office/powerpoint/2010/main" val="2930168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Suffix Skeleton Tree</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11</a:t>
            </a:fld>
            <a:endParaRPr lang="zh-TW" altLang="en-US" dirty="0"/>
          </a:p>
        </p:txBody>
      </p:sp>
      <p:pic>
        <p:nvPicPr>
          <p:cNvPr id="3" name="圖片 2">
            <a:extLst>
              <a:ext uri="{FF2B5EF4-FFF2-40B4-BE49-F238E27FC236}">
                <a16:creationId xmlns:a16="http://schemas.microsoft.com/office/drawing/2014/main" id="{90686613-D464-459A-A4E0-027E6C1C9203}"/>
              </a:ext>
            </a:extLst>
          </p:cNvPr>
          <p:cNvPicPr>
            <a:picLocks noChangeAspect="1"/>
          </p:cNvPicPr>
          <p:nvPr/>
        </p:nvPicPr>
        <p:blipFill>
          <a:blip r:embed="rId3"/>
          <a:stretch>
            <a:fillRect/>
          </a:stretch>
        </p:blipFill>
        <p:spPr>
          <a:xfrm>
            <a:off x="471956" y="3436017"/>
            <a:ext cx="6953531" cy="3285459"/>
          </a:xfrm>
          <a:prstGeom prst="rect">
            <a:avLst/>
          </a:prstGeom>
          <a:ln>
            <a:solidFill>
              <a:schemeClr val="tx1"/>
            </a:solidFill>
          </a:ln>
        </p:spPr>
      </p:pic>
      <p:pic>
        <p:nvPicPr>
          <p:cNvPr id="5" name="圖片 4">
            <a:extLst>
              <a:ext uri="{FF2B5EF4-FFF2-40B4-BE49-F238E27FC236}">
                <a16:creationId xmlns:a16="http://schemas.microsoft.com/office/drawing/2014/main" id="{A18BA97A-ACF3-401A-ADE1-F332B169A806}"/>
              </a:ext>
            </a:extLst>
          </p:cNvPr>
          <p:cNvPicPr>
            <a:picLocks noChangeAspect="1"/>
          </p:cNvPicPr>
          <p:nvPr/>
        </p:nvPicPr>
        <p:blipFill>
          <a:blip r:embed="rId4"/>
          <a:stretch>
            <a:fillRect/>
          </a:stretch>
        </p:blipFill>
        <p:spPr>
          <a:xfrm>
            <a:off x="471956" y="136523"/>
            <a:ext cx="6807653" cy="3148935"/>
          </a:xfrm>
          <a:prstGeom prst="rect">
            <a:avLst/>
          </a:prstGeom>
          <a:ln>
            <a:solidFill>
              <a:schemeClr val="tx1"/>
            </a:solidFill>
          </a:ln>
        </p:spPr>
      </p:pic>
    </p:spTree>
    <p:extLst>
      <p:ext uri="{BB962C8B-B14F-4D97-AF65-F5344CB8AC3E}">
        <p14:creationId xmlns:p14="http://schemas.microsoft.com/office/powerpoint/2010/main" val="2683796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12</a:t>
            </a:fld>
            <a:endParaRPr lang="zh-TW" altLang="en-US" dirty="0"/>
          </a:p>
        </p:txBody>
      </p:sp>
      <p:sp>
        <p:nvSpPr>
          <p:cNvPr id="144" name="標題 1">
            <a:extLst>
              <a:ext uri="{FF2B5EF4-FFF2-40B4-BE49-F238E27FC236}">
                <a16:creationId xmlns:a16="http://schemas.microsoft.com/office/drawing/2014/main" id="{BEB4C4FE-92DC-49E9-BA31-B5B03EB1851E}"/>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LPB Array</a:t>
            </a:r>
            <a:endParaRPr lang="zh-TW" altLang="en-US" sz="3200" dirty="0">
              <a:latin typeface="Times New Roman" panose="02020603050405020304" pitchFamily="18" charset="0"/>
              <a:cs typeface="Times New Roman" panose="02020603050405020304" pitchFamily="18" charset="0"/>
            </a:endParaRPr>
          </a:p>
        </p:txBody>
      </p:sp>
      <p:sp>
        <p:nvSpPr>
          <p:cNvPr id="15" name="內容版面配置區 6">
            <a:extLst>
              <a:ext uri="{FF2B5EF4-FFF2-40B4-BE49-F238E27FC236}">
                <a16:creationId xmlns:a16="http://schemas.microsoft.com/office/drawing/2014/main" id="{45387554-66BD-46A2-9CE4-80CF9ABB89B8}"/>
              </a:ext>
            </a:extLst>
          </p:cNvPr>
          <p:cNvSpPr txBox="1">
            <a:spLocks/>
          </p:cNvSpPr>
          <p:nvPr/>
        </p:nvSpPr>
        <p:spPr>
          <a:xfrm>
            <a:off x="471956" y="998092"/>
            <a:ext cx="8327572" cy="5553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TW" sz="2400" dirty="0">
                <a:latin typeface="Times New Roman" panose="02020603050405020304" pitchFamily="18" charset="0"/>
                <a:cs typeface="Times New Roman" panose="02020603050405020304" pitchFamily="18" charset="0"/>
              </a:rPr>
              <a:t>The Longest Prefix Bucket Array</a:t>
            </a:r>
            <a:endParaRPr lang="zh-TW" altLang="en-US" sz="2400"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id="{5F384487-5BB7-4BB0-99D1-9314FA35479D}"/>
              </a:ext>
            </a:extLst>
          </p:cNvPr>
          <p:cNvPicPr>
            <a:picLocks noChangeAspect="1"/>
          </p:cNvPicPr>
          <p:nvPr/>
        </p:nvPicPr>
        <p:blipFill>
          <a:blip r:embed="rId3"/>
          <a:stretch>
            <a:fillRect/>
          </a:stretch>
        </p:blipFill>
        <p:spPr>
          <a:xfrm>
            <a:off x="1309687" y="1619784"/>
            <a:ext cx="6524625" cy="3105150"/>
          </a:xfrm>
          <a:prstGeom prst="rect">
            <a:avLst/>
          </a:prstGeom>
        </p:spPr>
      </p:pic>
      <p:graphicFrame>
        <p:nvGraphicFramePr>
          <p:cNvPr id="9" name="表格 8">
            <a:extLst>
              <a:ext uri="{FF2B5EF4-FFF2-40B4-BE49-F238E27FC236}">
                <a16:creationId xmlns:a16="http://schemas.microsoft.com/office/drawing/2014/main" id="{CED2CC08-5B0E-4719-A11B-2F1D84641CDB}"/>
              </a:ext>
            </a:extLst>
          </p:cNvPr>
          <p:cNvGraphicFramePr>
            <a:graphicFrameLocks noGrp="1"/>
          </p:cNvGraphicFramePr>
          <p:nvPr>
            <p:extLst>
              <p:ext uri="{D42A27DB-BD31-4B8C-83A1-F6EECF244321}">
                <p14:modId xmlns:p14="http://schemas.microsoft.com/office/powerpoint/2010/main" val="1846452761"/>
              </p:ext>
            </p:extLst>
          </p:nvPr>
        </p:nvGraphicFramePr>
        <p:xfrm>
          <a:off x="1367307" y="4823250"/>
          <a:ext cx="6095997" cy="37084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val="184306604"/>
                    </a:ext>
                  </a:extLst>
                </a:gridCol>
                <a:gridCol w="677333">
                  <a:extLst>
                    <a:ext uri="{9D8B030D-6E8A-4147-A177-3AD203B41FA5}">
                      <a16:colId xmlns:a16="http://schemas.microsoft.com/office/drawing/2014/main" val="1731048100"/>
                    </a:ext>
                  </a:extLst>
                </a:gridCol>
                <a:gridCol w="677333">
                  <a:extLst>
                    <a:ext uri="{9D8B030D-6E8A-4147-A177-3AD203B41FA5}">
                      <a16:colId xmlns:a16="http://schemas.microsoft.com/office/drawing/2014/main" val="1688476900"/>
                    </a:ext>
                  </a:extLst>
                </a:gridCol>
                <a:gridCol w="677333">
                  <a:extLst>
                    <a:ext uri="{9D8B030D-6E8A-4147-A177-3AD203B41FA5}">
                      <a16:colId xmlns:a16="http://schemas.microsoft.com/office/drawing/2014/main" val="1704851491"/>
                    </a:ext>
                  </a:extLst>
                </a:gridCol>
                <a:gridCol w="677333">
                  <a:extLst>
                    <a:ext uri="{9D8B030D-6E8A-4147-A177-3AD203B41FA5}">
                      <a16:colId xmlns:a16="http://schemas.microsoft.com/office/drawing/2014/main" val="1998974524"/>
                    </a:ext>
                  </a:extLst>
                </a:gridCol>
                <a:gridCol w="677333">
                  <a:extLst>
                    <a:ext uri="{9D8B030D-6E8A-4147-A177-3AD203B41FA5}">
                      <a16:colId xmlns:a16="http://schemas.microsoft.com/office/drawing/2014/main" val="3853749183"/>
                    </a:ext>
                  </a:extLst>
                </a:gridCol>
                <a:gridCol w="677333">
                  <a:extLst>
                    <a:ext uri="{9D8B030D-6E8A-4147-A177-3AD203B41FA5}">
                      <a16:colId xmlns:a16="http://schemas.microsoft.com/office/drawing/2014/main" val="391626377"/>
                    </a:ext>
                  </a:extLst>
                </a:gridCol>
                <a:gridCol w="677333">
                  <a:extLst>
                    <a:ext uri="{9D8B030D-6E8A-4147-A177-3AD203B41FA5}">
                      <a16:colId xmlns:a16="http://schemas.microsoft.com/office/drawing/2014/main" val="2559129209"/>
                    </a:ext>
                  </a:extLst>
                </a:gridCol>
                <a:gridCol w="677333">
                  <a:extLst>
                    <a:ext uri="{9D8B030D-6E8A-4147-A177-3AD203B41FA5}">
                      <a16:colId xmlns:a16="http://schemas.microsoft.com/office/drawing/2014/main" val="2227559916"/>
                    </a:ext>
                  </a:extLst>
                </a:gridCol>
              </a:tblGrid>
              <a:tr h="370840">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r>
                        <a:rPr lang="en-US" altLang="zh-TW" dirty="0"/>
                        <a:t>7</a:t>
                      </a:r>
                      <a:endParaRPr lang="zh-TW" altLang="en-US" dirty="0"/>
                    </a:p>
                  </a:txBody>
                  <a:tcPr anchor="ctr"/>
                </a:tc>
                <a:tc>
                  <a:txBody>
                    <a:bodyPr/>
                    <a:lstStyle/>
                    <a:p>
                      <a:pPr algn="ctr"/>
                      <a:r>
                        <a:rPr lang="en-US" altLang="zh-TW" dirty="0"/>
                        <a:t>8</a:t>
                      </a:r>
                      <a:endParaRPr lang="zh-TW" altLang="en-US" dirty="0"/>
                    </a:p>
                  </a:txBody>
                  <a:tcPr anchor="ctr"/>
                </a:tc>
                <a:tc>
                  <a:txBody>
                    <a:bodyPr/>
                    <a:lstStyle/>
                    <a:p>
                      <a:pPr algn="ctr"/>
                      <a:r>
                        <a:rPr lang="en-US" altLang="zh-TW" dirty="0"/>
                        <a:t>9</a:t>
                      </a:r>
                      <a:endParaRPr lang="zh-TW" altLang="en-US" dirty="0"/>
                    </a:p>
                  </a:txBody>
                  <a:tcPr anchor="ctr"/>
                </a:tc>
                <a:extLst>
                  <a:ext uri="{0D108BD9-81ED-4DB2-BD59-A6C34878D82A}">
                    <a16:rowId xmlns:a16="http://schemas.microsoft.com/office/drawing/2014/main" val="2394764283"/>
                  </a:ext>
                </a:extLst>
              </a:tr>
            </a:tbl>
          </a:graphicData>
        </a:graphic>
      </p:graphicFrame>
      <p:sp>
        <p:nvSpPr>
          <p:cNvPr id="10" name="橢圓 9">
            <a:extLst>
              <a:ext uri="{FF2B5EF4-FFF2-40B4-BE49-F238E27FC236}">
                <a16:creationId xmlns:a16="http://schemas.microsoft.com/office/drawing/2014/main" id="{2AD86059-AAAA-4132-AB59-36CF8F683D3C}"/>
              </a:ext>
            </a:extLst>
          </p:cNvPr>
          <p:cNvSpPr/>
          <p:nvPr/>
        </p:nvSpPr>
        <p:spPr>
          <a:xfrm>
            <a:off x="6613450" y="1839433"/>
            <a:ext cx="414671" cy="38277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74C04617-D8FD-48BB-B28B-E9C631671E1A}"/>
                  </a:ext>
                </a:extLst>
              </p:cNvPr>
              <p:cNvSpPr/>
              <p:nvPr/>
            </p:nvSpPr>
            <p:spPr>
              <a:xfrm>
                <a:off x="6558249" y="1396793"/>
                <a:ext cx="4698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1</m:t>
                          </m:r>
                        </m:sub>
                      </m:sSub>
                    </m:oMath>
                  </m:oMathPara>
                </a14:m>
                <a:endParaRPr lang="zh-TW" altLang="en-US" i="1" dirty="0">
                  <a:solidFill>
                    <a:srgbClr val="FF0000"/>
                  </a:solidFill>
                  <a:latin typeface="Cambria Math" panose="02040503050406030204" pitchFamily="18" charset="0"/>
                </a:endParaRPr>
              </a:p>
            </p:txBody>
          </p:sp>
        </mc:Choice>
        <mc:Fallback xmlns="">
          <p:sp>
            <p:nvSpPr>
              <p:cNvPr id="23" name="矩形 22">
                <a:extLst>
                  <a:ext uri="{FF2B5EF4-FFF2-40B4-BE49-F238E27FC236}">
                    <a16:creationId xmlns:a16="http://schemas.microsoft.com/office/drawing/2014/main" id="{74C04617-D8FD-48BB-B28B-E9C631671E1A}"/>
                  </a:ext>
                </a:extLst>
              </p:cNvPr>
              <p:cNvSpPr>
                <a:spLocks noRot="1" noChangeAspect="1" noMove="1" noResize="1" noEditPoints="1" noAdjustHandles="1" noChangeArrowheads="1" noChangeShapeType="1" noTextEdit="1"/>
              </p:cNvSpPr>
              <p:nvPr/>
            </p:nvSpPr>
            <p:spPr>
              <a:xfrm>
                <a:off x="6558249" y="1396793"/>
                <a:ext cx="469872" cy="369332"/>
              </a:xfrm>
              <a:prstGeom prst="rect">
                <a:avLst/>
              </a:prstGeom>
              <a:blipFill>
                <a:blip r:embed="rId4"/>
                <a:stretch>
                  <a:fillRect/>
                </a:stretch>
              </a:blipFill>
            </p:spPr>
            <p:txBody>
              <a:bodyPr/>
              <a:lstStyle/>
              <a:p>
                <a:r>
                  <a:rPr lang="zh-TW" altLang="en-US">
                    <a:noFill/>
                  </a:rPr>
                  <a:t> </a:t>
                </a:r>
              </a:p>
            </p:txBody>
          </p:sp>
        </mc:Fallback>
      </mc:AlternateContent>
      <p:cxnSp>
        <p:nvCxnSpPr>
          <p:cNvPr id="17" name="直線單箭頭接點 16">
            <a:extLst>
              <a:ext uri="{FF2B5EF4-FFF2-40B4-BE49-F238E27FC236}">
                <a16:creationId xmlns:a16="http://schemas.microsoft.com/office/drawing/2014/main" id="{F49A02D6-DBBA-4FD9-8857-8DD266D83D5F}"/>
              </a:ext>
            </a:extLst>
          </p:cNvPr>
          <p:cNvCxnSpPr>
            <a:cxnSpLocks/>
          </p:cNvCxnSpPr>
          <p:nvPr/>
        </p:nvCxnSpPr>
        <p:spPr>
          <a:xfrm>
            <a:off x="1711842"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52948B29-4E80-40E8-AE4D-3B8F1E85EC7C}"/>
                  </a:ext>
                </a:extLst>
              </p:cNvPr>
              <p:cNvSpPr/>
              <p:nvPr/>
            </p:nvSpPr>
            <p:spPr>
              <a:xfrm>
                <a:off x="1476906" y="5355976"/>
                <a:ext cx="4698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1</m:t>
                          </m:r>
                        </m:sub>
                      </m:sSub>
                    </m:oMath>
                  </m:oMathPara>
                </a14:m>
                <a:endParaRPr lang="zh-TW" altLang="en-US" i="1" dirty="0">
                  <a:solidFill>
                    <a:srgbClr val="FF0000"/>
                  </a:solidFill>
                  <a:latin typeface="Cambria Math" panose="02040503050406030204" pitchFamily="18" charset="0"/>
                </a:endParaRPr>
              </a:p>
            </p:txBody>
          </p:sp>
        </mc:Choice>
        <mc:Fallback xmlns="">
          <p:sp>
            <p:nvSpPr>
              <p:cNvPr id="27" name="矩形 26">
                <a:extLst>
                  <a:ext uri="{FF2B5EF4-FFF2-40B4-BE49-F238E27FC236}">
                    <a16:creationId xmlns:a16="http://schemas.microsoft.com/office/drawing/2014/main" id="{52948B29-4E80-40E8-AE4D-3B8F1E85EC7C}"/>
                  </a:ext>
                </a:extLst>
              </p:cNvPr>
              <p:cNvSpPr>
                <a:spLocks noRot="1" noChangeAspect="1" noMove="1" noResize="1" noEditPoints="1" noAdjustHandles="1" noChangeArrowheads="1" noChangeShapeType="1" noTextEdit="1"/>
              </p:cNvSpPr>
              <p:nvPr/>
            </p:nvSpPr>
            <p:spPr>
              <a:xfrm>
                <a:off x="1476906" y="5355976"/>
                <a:ext cx="469872" cy="369332"/>
              </a:xfrm>
              <a:prstGeom prst="rect">
                <a:avLst/>
              </a:prstGeom>
              <a:blipFill>
                <a:blip r:embed="rId5"/>
                <a:stretch>
                  <a:fillRect b="-1667"/>
                </a:stretch>
              </a:blipFill>
            </p:spPr>
            <p:txBody>
              <a:bodyPr/>
              <a:lstStyle/>
              <a:p>
                <a:r>
                  <a:rPr lang="zh-TW" altLang="en-US">
                    <a:noFill/>
                  </a:rPr>
                  <a:t> </a:t>
                </a:r>
              </a:p>
            </p:txBody>
          </p:sp>
        </mc:Fallback>
      </mc:AlternateContent>
      <p:grpSp>
        <p:nvGrpSpPr>
          <p:cNvPr id="20" name="群組 19">
            <a:extLst>
              <a:ext uri="{FF2B5EF4-FFF2-40B4-BE49-F238E27FC236}">
                <a16:creationId xmlns:a16="http://schemas.microsoft.com/office/drawing/2014/main" id="{AC07034D-5FBB-4C1A-9F30-1627D60023CE}"/>
              </a:ext>
            </a:extLst>
          </p:cNvPr>
          <p:cNvGrpSpPr/>
          <p:nvPr/>
        </p:nvGrpSpPr>
        <p:grpSpPr>
          <a:xfrm>
            <a:off x="2142041" y="5194090"/>
            <a:ext cx="475195" cy="531218"/>
            <a:chOff x="2142041" y="5194090"/>
            <a:chExt cx="475195" cy="531218"/>
          </a:xfrm>
        </p:grpSpPr>
        <p:cxnSp>
          <p:nvCxnSpPr>
            <p:cNvPr id="30" name="直線單箭頭接點 29">
              <a:extLst>
                <a:ext uri="{FF2B5EF4-FFF2-40B4-BE49-F238E27FC236}">
                  <a16:creationId xmlns:a16="http://schemas.microsoft.com/office/drawing/2014/main" id="{0095A320-6347-4D2C-865A-333D9C149A16}"/>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AE26580E-D880-4367-A6CA-146D492FBCB2}"/>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2</m:t>
                            </m:r>
                          </m:sub>
                        </m:sSub>
                      </m:oMath>
                    </m:oMathPara>
                  </a14:m>
                  <a:endParaRPr lang="zh-TW" altLang="en-US" i="1" dirty="0">
                    <a:solidFill>
                      <a:srgbClr val="FF0000"/>
                    </a:solidFill>
                    <a:latin typeface="Cambria Math" panose="02040503050406030204" pitchFamily="18" charset="0"/>
                  </a:endParaRPr>
                </a:p>
              </p:txBody>
            </p:sp>
          </mc:Choice>
          <mc:Fallback xmlns="">
            <p:sp>
              <p:nvSpPr>
                <p:cNvPr id="31" name="矩形 30">
                  <a:extLst>
                    <a:ext uri="{FF2B5EF4-FFF2-40B4-BE49-F238E27FC236}">
                      <a16:creationId xmlns:a16="http://schemas.microsoft.com/office/drawing/2014/main" id="{AE26580E-D880-4367-A6CA-146D492FBCB2}"/>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6"/>
                  <a:stretch>
                    <a:fillRect b="-1667"/>
                  </a:stretch>
                </a:blipFill>
              </p:spPr>
              <p:txBody>
                <a:bodyPr/>
                <a:lstStyle/>
                <a:p>
                  <a:r>
                    <a:rPr lang="zh-TW" altLang="en-US">
                      <a:noFill/>
                    </a:rPr>
                    <a:t> </a:t>
                  </a:r>
                </a:p>
              </p:txBody>
            </p:sp>
          </mc:Fallback>
        </mc:AlternateContent>
      </p:grpSp>
      <p:grpSp>
        <p:nvGrpSpPr>
          <p:cNvPr id="35" name="群組 34">
            <a:extLst>
              <a:ext uri="{FF2B5EF4-FFF2-40B4-BE49-F238E27FC236}">
                <a16:creationId xmlns:a16="http://schemas.microsoft.com/office/drawing/2014/main" id="{C6D22B99-DB6B-45DA-BFD4-6474FC86C3B9}"/>
              </a:ext>
            </a:extLst>
          </p:cNvPr>
          <p:cNvGrpSpPr/>
          <p:nvPr/>
        </p:nvGrpSpPr>
        <p:grpSpPr>
          <a:xfrm>
            <a:off x="2823569" y="5194090"/>
            <a:ext cx="475195" cy="531218"/>
            <a:chOff x="2142041" y="5194090"/>
            <a:chExt cx="475195" cy="531218"/>
          </a:xfrm>
        </p:grpSpPr>
        <p:cxnSp>
          <p:nvCxnSpPr>
            <p:cNvPr id="36" name="直線單箭頭接點 35">
              <a:extLst>
                <a:ext uri="{FF2B5EF4-FFF2-40B4-BE49-F238E27FC236}">
                  <a16:creationId xmlns:a16="http://schemas.microsoft.com/office/drawing/2014/main" id="{5AC47D69-E7CD-4A5C-93BC-DDBE17DA0933}"/>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410090F0-1457-46BF-9121-7F320E7D0005}"/>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4</m:t>
                            </m:r>
                          </m:sub>
                        </m:sSub>
                      </m:oMath>
                    </m:oMathPara>
                  </a14:m>
                  <a:endParaRPr lang="zh-TW" altLang="en-US" i="1" dirty="0">
                    <a:solidFill>
                      <a:srgbClr val="FF0000"/>
                    </a:solidFill>
                    <a:latin typeface="Cambria Math" panose="02040503050406030204" pitchFamily="18" charset="0"/>
                  </a:endParaRPr>
                </a:p>
              </p:txBody>
            </p:sp>
          </mc:Choice>
          <mc:Fallback xmlns="">
            <p:sp>
              <p:nvSpPr>
                <p:cNvPr id="37" name="矩形 36">
                  <a:extLst>
                    <a:ext uri="{FF2B5EF4-FFF2-40B4-BE49-F238E27FC236}">
                      <a16:creationId xmlns:a16="http://schemas.microsoft.com/office/drawing/2014/main" id="{410090F0-1457-46BF-9121-7F320E7D0005}"/>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7"/>
                  <a:stretch>
                    <a:fillRect b="-1667"/>
                  </a:stretch>
                </a:blipFill>
              </p:spPr>
              <p:txBody>
                <a:bodyPr/>
                <a:lstStyle/>
                <a:p>
                  <a:r>
                    <a:rPr lang="zh-TW" altLang="en-US">
                      <a:noFill/>
                    </a:rPr>
                    <a:t> </a:t>
                  </a:r>
                </a:p>
              </p:txBody>
            </p:sp>
          </mc:Fallback>
        </mc:AlternateContent>
      </p:grpSp>
      <p:sp>
        <p:nvSpPr>
          <p:cNvPr id="38" name="橢圓 37">
            <a:extLst>
              <a:ext uri="{FF2B5EF4-FFF2-40B4-BE49-F238E27FC236}">
                <a16:creationId xmlns:a16="http://schemas.microsoft.com/office/drawing/2014/main" id="{143B29AB-B4C7-47E8-A41C-33828221F1B5}"/>
              </a:ext>
            </a:extLst>
          </p:cNvPr>
          <p:cNvSpPr/>
          <p:nvPr/>
        </p:nvSpPr>
        <p:spPr>
          <a:xfrm>
            <a:off x="5927650" y="2913853"/>
            <a:ext cx="414671" cy="38277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DFE52E48-B7CD-4ACF-8BFC-9D17D5B77DEA}"/>
                  </a:ext>
                </a:extLst>
              </p:cNvPr>
              <p:cNvSpPr/>
              <p:nvPr/>
            </p:nvSpPr>
            <p:spPr>
              <a:xfrm>
                <a:off x="3719343" y="2684450"/>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2</m:t>
                          </m:r>
                        </m:sub>
                      </m:sSub>
                    </m:oMath>
                  </m:oMathPara>
                </a14:m>
                <a:endParaRPr lang="zh-TW" altLang="en-US" i="1" dirty="0">
                  <a:solidFill>
                    <a:srgbClr val="FF0000"/>
                  </a:solidFill>
                  <a:latin typeface="Cambria Math" panose="02040503050406030204" pitchFamily="18" charset="0"/>
                </a:endParaRPr>
              </a:p>
            </p:txBody>
          </p:sp>
        </mc:Choice>
        <mc:Fallback xmlns="">
          <p:sp>
            <p:nvSpPr>
              <p:cNvPr id="39" name="矩形 38">
                <a:extLst>
                  <a:ext uri="{FF2B5EF4-FFF2-40B4-BE49-F238E27FC236}">
                    <a16:creationId xmlns:a16="http://schemas.microsoft.com/office/drawing/2014/main" id="{DFE52E48-B7CD-4ACF-8BFC-9D17D5B77DEA}"/>
                  </a:ext>
                </a:extLst>
              </p:cNvPr>
              <p:cNvSpPr>
                <a:spLocks noRot="1" noChangeAspect="1" noMove="1" noResize="1" noEditPoints="1" noAdjustHandles="1" noChangeArrowheads="1" noChangeShapeType="1" noTextEdit="1"/>
              </p:cNvSpPr>
              <p:nvPr/>
            </p:nvSpPr>
            <p:spPr>
              <a:xfrm>
                <a:off x="3719343" y="2684450"/>
                <a:ext cx="475195" cy="369332"/>
              </a:xfrm>
              <a:prstGeom prst="rect">
                <a:avLst/>
              </a:prstGeom>
              <a:blipFill>
                <a:blip r:embed="rId8"/>
                <a:stretch>
                  <a:fillRect/>
                </a:stretch>
              </a:blipFill>
            </p:spPr>
            <p:txBody>
              <a:bodyPr/>
              <a:lstStyle/>
              <a:p>
                <a:r>
                  <a:rPr lang="zh-TW" altLang="en-US">
                    <a:noFill/>
                  </a:rPr>
                  <a:t> </a:t>
                </a:r>
              </a:p>
            </p:txBody>
          </p:sp>
        </mc:Fallback>
      </mc:AlternateContent>
      <p:sp>
        <p:nvSpPr>
          <p:cNvPr id="40" name="橢圓 39">
            <a:extLst>
              <a:ext uri="{FF2B5EF4-FFF2-40B4-BE49-F238E27FC236}">
                <a16:creationId xmlns:a16="http://schemas.microsoft.com/office/drawing/2014/main" id="{9828D65D-26D6-42FE-8273-63E20F18FEE0}"/>
              </a:ext>
            </a:extLst>
          </p:cNvPr>
          <p:cNvSpPr/>
          <p:nvPr/>
        </p:nvSpPr>
        <p:spPr>
          <a:xfrm>
            <a:off x="3765475" y="3075035"/>
            <a:ext cx="414671" cy="38277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41" name="群組 40">
            <a:extLst>
              <a:ext uri="{FF2B5EF4-FFF2-40B4-BE49-F238E27FC236}">
                <a16:creationId xmlns:a16="http://schemas.microsoft.com/office/drawing/2014/main" id="{93275F92-A4E8-460F-ACC9-50615CD3D895}"/>
              </a:ext>
            </a:extLst>
          </p:cNvPr>
          <p:cNvGrpSpPr/>
          <p:nvPr/>
        </p:nvGrpSpPr>
        <p:grpSpPr>
          <a:xfrm>
            <a:off x="2142041" y="5725308"/>
            <a:ext cx="475195" cy="531218"/>
            <a:chOff x="2142041" y="5194090"/>
            <a:chExt cx="475195" cy="531218"/>
          </a:xfrm>
        </p:grpSpPr>
        <p:cxnSp>
          <p:nvCxnSpPr>
            <p:cNvPr id="42" name="直線單箭頭接點 41">
              <a:extLst>
                <a:ext uri="{FF2B5EF4-FFF2-40B4-BE49-F238E27FC236}">
                  <a16:creationId xmlns:a16="http://schemas.microsoft.com/office/drawing/2014/main" id="{07A5211C-6FA0-42A7-9A25-C0FADCAC0D5E}"/>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E21F4AA1-7069-4511-B895-7302B6AD7BD3}"/>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3</m:t>
                            </m:r>
                          </m:sub>
                        </m:sSub>
                      </m:oMath>
                    </m:oMathPara>
                  </a14:m>
                  <a:endParaRPr lang="zh-TW" altLang="en-US" i="1" dirty="0">
                    <a:solidFill>
                      <a:srgbClr val="FF0000"/>
                    </a:solidFill>
                    <a:latin typeface="Cambria Math" panose="02040503050406030204" pitchFamily="18" charset="0"/>
                  </a:endParaRPr>
                </a:p>
              </p:txBody>
            </p:sp>
          </mc:Choice>
          <mc:Fallback xmlns="">
            <p:sp>
              <p:nvSpPr>
                <p:cNvPr id="43" name="矩形 42">
                  <a:extLst>
                    <a:ext uri="{FF2B5EF4-FFF2-40B4-BE49-F238E27FC236}">
                      <a16:creationId xmlns:a16="http://schemas.microsoft.com/office/drawing/2014/main" id="{E21F4AA1-7069-4511-B895-7302B6AD7BD3}"/>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9"/>
                  <a:stretch>
                    <a:fillRect b="-1667"/>
                  </a:stretch>
                </a:blipFill>
              </p:spPr>
              <p:txBody>
                <a:bodyPr/>
                <a:lstStyle/>
                <a:p>
                  <a:r>
                    <a:rPr lang="zh-TW" altLang="en-US">
                      <a:noFill/>
                    </a:rPr>
                    <a:t> </a:t>
                  </a:r>
                </a:p>
              </p:txBody>
            </p:sp>
          </mc:Fallback>
        </mc:AlternateContent>
      </p:grpSp>
      <p:sp>
        <p:nvSpPr>
          <p:cNvPr id="44" name="橢圓 43">
            <a:extLst>
              <a:ext uri="{FF2B5EF4-FFF2-40B4-BE49-F238E27FC236}">
                <a16:creationId xmlns:a16="http://schemas.microsoft.com/office/drawing/2014/main" id="{C5B66967-C20F-41C0-BCBF-A3B34FD77B80}"/>
              </a:ext>
            </a:extLst>
          </p:cNvPr>
          <p:cNvSpPr/>
          <p:nvPr/>
        </p:nvSpPr>
        <p:spPr>
          <a:xfrm>
            <a:off x="4886778" y="2862396"/>
            <a:ext cx="414671" cy="38277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E1F2C04A-1BA5-4E44-82D6-10F454AB828C}"/>
                  </a:ext>
                </a:extLst>
              </p:cNvPr>
              <p:cNvSpPr/>
              <p:nvPr/>
            </p:nvSpPr>
            <p:spPr>
              <a:xfrm>
                <a:off x="5208980" y="3123223"/>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3</m:t>
                          </m:r>
                        </m:sub>
                      </m:sSub>
                    </m:oMath>
                  </m:oMathPara>
                </a14:m>
                <a:endParaRPr lang="zh-TW" altLang="en-US" i="1" dirty="0">
                  <a:solidFill>
                    <a:srgbClr val="FF0000"/>
                  </a:solidFill>
                  <a:latin typeface="Cambria Math" panose="02040503050406030204" pitchFamily="18" charset="0"/>
                </a:endParaRPr>
              </a:p>
            </p:txBody>
          </p:sp>
        </mc:Choice>
        <mc:Fallback xmlns="">
          <p:sp>
            <p:nvSpPr>
              <p:cNvPr id="45" name="矩形 44">
                <a:extLst>
                  <a:ext uri="{FF2B5EF4-FFF2-40B4-BE49-F238E27FC236}">
                    <a16:creationId xmlns:a16="http://schemas.microsoft.com/office/drawing/2014/main" id="{E1F2C04A-1BA5-4E44-82D6-10F454AB828C}"/>
                  </a:ext>
                </a:extLst>
              </p:cNvPr>
              <p:cNvSpPr>
                <a:spLocks noRot="1" noChangeAspect="1" noMove="1" noResize="1" noEditPoints="1" noAdjustHandles="1" noChangeArrowheads="1" noChangeShapeType="1" noTextEdit="1"/>
              </p:cNvSpPr>
              <p:nvPr/>
            </p:nvSpPr>
            <p:spPr>
              <a:xfrm>
                <a:off x="5208980" y="3123223"/>
                <a:ext cx="475195" cy="369332"/>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矩形 45">
                <a:extLst>
                  <a:ext uri="{FF2B5EF4-FFF2-40B4-BE49-F238E27FC236}">
                    <a16:creationId xmlns:a16="http://schemas.microsoft.com/office/drawing/2014/main" id="{7425AE64-0192-4F04-94A9-B88C965445A8}"/>
                  </a:ext>
                </a:extLst>
              </p:cNvPr>
              <p:cNvSpPr/>
              <p:nvPr/>
            </p:nvSpPr>
            <p:spPr>
              <a:xfrm>
                <a:off x="6261716" y="3085355"/>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4</m:t>
                          </m:r>
                        </m:sub>
                      </m:sSub>
                    </m:oMath>
                  </m:oMathPara>
                </a14:m>
                <a:endParaRPr lang="zh-TW" altLang="en-US" i="1" dirty="0">
                  <a:solidFill>
                    <a:srgbClr val="FF0000"/>
                  </a:solidFill>
                  <a:latin typeface="Cambria Math" panose="02040503050406030204" pitchFamily="18" charset="0"/>
                </a:endParaRPr>
              </a:p>
            </p:txBody>
          </p:sp>
        </mc:Choice>
        <mc:Fallback xmlns="">
          <p:sp>
            <p:nvSpPr>
              <p:cNvPr id="46" name="矩形 45">
                <a:extLst>
                  <a:ext uri="{FF2B5EF4-FFF2-40B4-BE49-F238E27FC236}">
                    <a16:creationId xmlns:a16="http://schemas.microsoft.com/office/drawing/2014/main" id="{7425AE64-0192-4F04-94A9-B88C965445A8}"/>
                  </a:ext>
                </a:extLst>
              </p:cNvPr>
              <p:cNvSpPr>
                <a:spLocks noRot="1" noChangeAspect="1" noMove="1" noResize="1" noEditPoints="1" noAdjustHandles="1" noChangeArrowheads="1" noChangeShapeType="1" noTextEdit="1"/>
              </p:cNvSpPr>
              <p:nvPr/>
            </p:nvSpPr>
            <p:spPr>
              <a:xfrm>
                <a:off x="6261716" y="3085355"/>
                <a:ext cx="475195" cy="369332"/>
              </a:xfrm>
              <a:prstGeom prst="rect">
                <a:avLst/>
              </a:prstGeom>
              <a:blipFill>
                <a:blip r:embed="rId11"/>
                <a:stretch>
                  <a:fillRect/>
                </a:stretch>
              </a:blipFill>
            </p:spPr>
            <p:txBody>
              <a:bodyPr/>
              <a:lstStyle/>
              <a:p>
                <a:r>
                  <a:rPr lang="zh-TW" altLang="en-US">
                    <a:noFill/>
                  </a:rPr>
                  <a:t> </a:t>
                </a:r>
              </a:p>
            </p:txBody>
          </p:sp>
        </mc:Fallback>
      </mc:AlternateContent>
      <p:grpSp>
        <p:nvGrpSpPr>
          <p:cNvPr id="47" name="群組 46">
            <a:extLst>
              <a:ext uri="{FF2B5EF4-FFF2-40B4-BE49-F238E27FC236}">
                <a16:creationId xmlns:a16="http://schemas.microsoft.com/office/drawing/2014/main" id="{B2ECAEA9-B93C-48C5-84FD-C047B18B816E}"/>
              </a:ext>
            </a:extLst>
          </p:cNvPr>
          <p:cNvGrpSpPr/>
          <p:nvPr/>
        </p:nvGrpSpPr>
        <p:grpSpPr>
          <a:xfrm>
            <a:off x="2823569" y="5725308"/>
            <a:ext cx="475195" cy="531218"/>
            <a:chOff x="2142041" y="5194090"/>
            <a:chExt cx="475195" cy="531218"/>
          </a:xfrm>
        </p:grpSpPr>
        <p:cxnSp>
          <p:nvCxnSpPr>
            <p:cNvPr id="48" name="直線單箭頭接點 47">
              <a:extLst>
                <a:ext uri="{FF2B5EF4-FFF2-40B4-BE49-F238E27FC236}">
                  <a16:creationId xmlns:a16="http://schemas.microsoft.com/office/drawing/2014/main" id="{265CA813-48E7-4530-BE85-4DA212019DC3}"/>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矩形 48">
                  <a:extLst>
                    <a:ext uri="{FF2B5EF4-FFF2-40B4-BE49-F238E27FC236}">
                      <a16:creationId xmlns:a16="http://schemas.microsoft.com/office/drawing/2014/main" id="{7B4CF5AA-D264-4261-9013-2C33A67C7755}"/>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5</m:t>
                            </m:r>
                          </m:sub>
                        </m:sSub>
                      </m:oMath>
                    </m:oMathPara>
                  </a14:m>
                  <a:endParaRPr lang="zh-TW" altLang="en-US" i="1" dirty="0">
                    <a:solidFill>
                      <a:srgbClr val="FF0000"/>
                    </a:solidFill>
                    <a:latin typeface="Cambria Math" panose="02040503050406030204" pitchFamily="18" charset="0"/>
                  </a:endParaRPr>
                </a:p>
              </p:txBody>
            </p:sp>
          </mc:Choice>
          <mc:Fallback xmlns="">
            <p:sp>
              <p:nvSpPr>
                <p:cNvPr id="49" name="矩形 48">
                  <a:extLst>
                    <a:ext uri="{FF2B5EF4-FFF2-40B4-BE49-F238E27FC236}">
                      <a16:creationId xmlns:a16="http://schemas.microsoft.com/office/drawing/2014/main" id="{7B4CF5AA-D264-4261-9013-2C33A67C7755}"/>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12"/>
                  <a:stretch>
                    <a:fillRect b="-1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50" name="矩形 49">
                <a:extLst>
                  <a:ext uri="{FF2B5EF4-FFF2-40B4-BE49-F238E27FC236}">
                    <a16:creationId xmlns:a16="http://schemas.microsoft.com/office/drawing/2014/main" id="{A274DA95-83DF-4310-98D3-22A7BB00A43A}"/>
                  </a:ext>
                </a:extLst>
              </p:cNvPr>
              <p:cNvSpPr/>
              <p:nvPr/>
            </p:nvSpPr>
            <p:spPr>
              <a:xfrm>
                <a:off x="1329268" y="3038415"/>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5</m:t>
                          </m:r>
                        </m:sub>
                      </m:sSub>
                    </m:oMath>
                  </m:oMathPara>
                </a14:m>
                <a:endParaRPr lang="zh-TW" altLang="en-US" i="1" dirty="0">
                  <a:solidFill>
                    <a:srgbClr val="FF0000"/>
                  </a:solidFill>
                  <a:latin typeface="Cambria Math" panose="02040503050406030204" pitchFamily="18" charset="0"/>
                </a:endParaRPr>
              </a:p>
            </p:txBody>
          </p:sp>
        </mc:Choice>
        <mc:Fallback xmlns="">
          <p:sp>
            <p:nvSpPr>
              <p:cNvPr id="50" name="矩形 49">
                <a:extLst>
                  <a:ext uri="{FF2B5EF4-FFF2-40B4-BE49-F238E27FC236}">
                    <a16:creationId xmlns:a16="http://schemas.microsoft.com/office/drawing/2014/main" id="{A274DA95-83DF-4310-98D3-22A7BB00A43A}"/>
                  </a:ext>
                </a:extLst>
              </p:cNvPr>
              <p:cNvSpPr>
                <a:spLocks noRot="1" noChangeAspect="1" noMove="1" noResize="1" noEditPoints="1" noAdjustHandles="1" noChangeArrowheads="1" noChangeShapeType="1" noTextEdit="1"/>
              </p:cNvSpPr>
              <p:nvPr/>
            </p:nvSpPr>
            <p:spPr>
              <a:xfrm>
                <a:off x="1329268" y="3038415"/>
                <a:ext cx="475195" cy="369332"/>
              </a:xfrm>
              <a:prstGeom prst="rect">
                <a:avLst/>
              </a:prstGeom>
              <a:blipFill>
                <a:blip r:embed="rId13"/>
                <a:stretch>
                  <a:fillRect b="-1639"/>
                </a:stretch>
              </a:blipFill>
            </p:spPr>
            <p:txBody>
              <a:bodyPr/>
              <a:lstStyle/>
              <a:p>
                <a:r>
                  <a:rPr lang="zh-TW" altLang="en-US">
                    <a:noFill/>
                  </a:rPr>
                  <a:t> </a:t>
                </a:r>
              </a:p>
            </p:txBody>
          </p:sp>
        </mc:Fallback>
      </mc:AlternateContent>
      <p:sp>
        <p:nvSpPr>
          <p:cNvPr id="51" name="橢圓 50">
            <a:extLst>
              <a:ext uri="{FF2B5EF4-FFF2-40B4-BE49-F238E27FC236}">
                <a16:creationId xmlns:a16="http://schemas.microsoft.com/office/drawing/2014/main" id="{5D5810A9-0879-44A1-A8FE-C311B9FE1B42}"/>
              </a:ext>
            </a:extLst>
          </p:cNvPr>
          <p:cNvSpPr/>
          <p:nvPr/>
        </p:nvSpPr>
        <p:spPr>
          <a:xfrm>
            <a:off x="1375400" y="3429000"/>
            <a:ext cx="414671" cy="38277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52" name="矩形 51">
                <a:extLst>
                  <a:ext uri="{FF2B5EF4-FFF2-40B4-BE49-F238E27FC236}">
                    <a16:creationId xmlns:a16="http://schemas.microsoft.com/office/drawing/2014/main" id="{78B473AD-2ADF-473D-98A3-E474E9B379AA}"/>
                  </a:ext>
                </a:extLst>
              </p:cNvPr>
              <p:cNvSpPr/>
              <p:nvPr/>
            </p:nvSpPr>
            <p:spPr>
              <a:xfrm>
                <a:off x="4276451" y="226124"/>
                <a:ext cx="332969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𝑏</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𝑏</m:t>
                      </m:r>
                    </m:oMath>
                  </m:oMathPara>
                </a14:m>
                <a:endParaRPr lang="zh-TW" altLang="en-US" sz="2800" dirty="0"/>
              </a:p>
            </p:txBody>
          </p:sp>
        </mc:Choice>
        <mc:Fallback xmlns="">
          <p:sp>
            <p:nvSpPr>
              <p:cNvPr id="52" name="矩形 51">
                <a:extLst>
                  <a:ext uri="{FF2B5EF4-FFF2-40B4-BE49-F238E27FC236}">
                    <a16:creationId xmlns:a16="http://schemas.microsoft.com/office/drawing/2014/main" id="{78B473AD-2ADF-473D-98A3-E474E9B379AA}"/>
                  </a:ext>
                </a:extLst>
              </p:cNvPr>
              <p:cNvSpPr>
                <a:spLocks noRot="1" noChangeAspect="1" noMove="1" noResize="1" noEditPoints="1" noAdjustHandles="1" noChangeArrowheads="1" noChangeShapeType="1" noTextEdit="1"/>
              </p:cNvSpPr>
              <p:nvPr/>
            </p:nvSpPr>
            <p:spPr>
              <a:xfrm>
                <a:off x="4276451" y="226124"/>
                <a:ext cx="3329694" cy="523220"/>
              </a:xfrm>
              <a:prstGeom prst="rect">
                <a:avLst/>
              </a:prstGeom>
              <a:blipFill>
                <a:blip r:embed="rId1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矩形 52">
                <a:extLst>
                  <a:ext uri="{FF2B5EF4-FFF2-40B4-BE49-F238E27FC236}">
                    <a16:creationId xmlns:a16="http://schemas.microsoft.com/office/drawing/2014/main" id="{433E0DC0-DE2E-4C45-9BC6-8DF70793BD2A}"/>
                  </a:ext>
                </a:extLst>
              </p:cNvPr>
              <p:cNvSpPr/>
              <p:nvPr/>
            </p:nvSpPr>
            <p:spPr>
              <a:xfrm>
                <a:off x="4276451" y="657393"/>
                <a:ext cx="334982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𝑇</m:t>
                      </m:r>
                      <m:r>
                        <a:rPr lang="en-US" altLang="zh-TW" sz="2800" i="1">
                          <a:latin typeface="Cambria Math" panose="02040503050406030204" pitchFamily="18" charset="0"/>
                        </a:rPr>
                        <m:t>=</m:t>
                      </m:r>
                      <m:r>
                        <a:rPr lang="en-US" altLang="zh-TW" sz="2800" i="1">
                          <a:latin typeface="Cambria Math" panose="02040503050406030204" pitchFamily="18" charset="0"/>
                        </a:rPr>
                        <m:t>𝑐</m:t>
                      </m:r>
                      <m:r>
                        <a:rPr lang="en-US" altLang="zh-TW" sz="2800" i="1">
                          <a:latin typeface="Cambria Math" panose="02040503050406030204" pitchFamily="18" charset="0"/>
                        </a:rPr>
                        <m:t> </m:t>
                      </m:r>
                      <m:r>
                        <a:rPr lang="en-US" altLang="zh-TW" sz="2800" i="1">
                          <a:latin typeface="Cambria Math" panose="02040503050406030204" pitchFamily="18" charset="0"/>
                        </a:rPr>
                        <m:t>𝑎</m:t>
                      </m:r>
                      <m:r>
                        <a:rPr lang="en-US" altLang="zh-TW" sz="2800" i="1">
                          <a:latin typeface="Cambria Math" panose="02040503050406030204" pitchFamily="18" charset="0"/>
                        </a:rPr>
                        <m:t> </m:t>
                      </m:r>
                      <m:r>
                        <a:rPr lang="en-US" altLang="zh-TW" sz="2800" i="1">
                          <a:latin typeface="Cambria Math" panose="02040503050406030204" pitchFamily="18" charset="0"/>
                        </a:rPr>
                        <m:t>𝑏</m:t>
                      </m:r>
                      <m:r>
                        <a:rPr lang="en-US" altLang="zh-TW" sz="2800" i="1">
                          <a:latin typeface="Cambria Math" panose="02040503050406030204" pitchFamily="18" charset="0"/>
                        </a:rPr>
                        <m:t> </m:t>
                      </m:r>
                      <m:r>
                        <a:rPr lang="en-US" altLang="zh-TW" sz="2800" i="1">
                          <a:latin typeface="Cambria Math" panose="02040503050406030204" pitchFamily="18" charset="0"/>
                        </a:rPr>
                        <m:t>𝑎</m:t>
                      </m:r>
                      <m:r>
                        <a:rPr lang="en-US" altLang="zh-TW" sz="2800" i="1">
                          <a:latin typeface="Cambria Math" panose="02040503050406030204" pitchFamily="18" charset="0"/>
                        </a:rPr>
                        <m:t> </m:t>
                      </m:r>
                      <m:r>
                        <a:rPr lang="en-US" altLang="zh-TW" sz="2800" i="1">
                          <a:latin typeface="Cambria Math" panose="02040503050406030204" pitchFamily="18" charset="0"/>
                        </a:rPr>
                        <m:t>𝑎</m:t>
                      </m:r>
                      <m:r>
                        <a:rPr lang="en-US" altLang="zh-TW" sz="2800" i="1">
                          <a:latin typeface="Cambria Math" panose="02040503050406030204" pitchFamily="18" charset="0"/>
                        </a:rPr>
                        <m:t> </m:t>
                      </m:r>
                      <m:r>
                        <a:rPr lang="en-US" altLang="zh-TW" sz="2800" i="1">
                          <a:latin typeface="Cambria Math" panose="02040503050406030204" pitchFamily="18" charset="0"/>
                        </a:rPr>
                        <m:t>𝑏</m:t>
                      </m:r>
                      <m:r>
                        <a:rPr lang="en-US" altLang="zh-TW" sz="2800" i="1">
                          <a:latin typeface="Cambria Math" panose="02040503050406030204" pitchFamily="18" charset="0"/>
                        </a:rPr>
                        <m:t> </m:t>
                      </m:r>
                      <m:r>
                        <a:rPr lang="en-US" altLang="zh-TW" sz="2800" i="1">
                          <a:latin typeface="Cambria Math" panose="02040503050406030204" pitchFamily="18" charset="0"/>
                        </a:rPr>
                        <m:t>𝑎</m:t>
                      </m:r>
                      <m:r>
                        <a:rPr lang="en-US" altLang="zh-TW" sz="2800" i="1">
                          <a:latin typeface="Cambria Math" panose="02040503050406030204" pitchFamily="18" charset="0"/>
                        </a:rPr>
                        <m:t> </m:t>
                      </m:r>
                      <m:r>
                        <a:rPr lang="en-US" altLang="zh-TW" sz="2800" i="1">
                          <a:latin typeface="Cambria Math" panose="02040503050406030204" pitchFamily="18" charset="0"/>
                        </a:rPr>
                        <m:t>𝑐</m:t>
                      </m:r>
                      <m:r>
                        <a:rPr lang="en-US" altLang="zh-TW" sz="2800" i="1">
                          <a:latin typeface="Cambria Math" panose="02040503050406030204" pitchFamily="18" charset="0"/>
                        </a:rPr>
                        <m:t> </m:t>
                      </m:r>
                      <m:r>
                        <a:rPr lang="en-US" altLang="zh-TW" sz="2800" i="1">
                          <a:latin typeface="Cambria Math" panose="02040503050406030204" pitchFamily="18" charset="0"/>
                        </a:rPr>
                        <m:t>𝑐</m:t>
                      </m:r>
                    </m:oMath>
                  </m:oMathPara>
                </a14:m>
                <a:endParaRPr lang="zh-TW" altLang="en-US" sz="2800" i="1" dirty="0">
                  <a:latin typeface="Cambria Math" panose="02040503050406030204" pitchFamily="18" charset="0"/>
                </a:endParaRPr>
              </a:p>
            </p:txBody>
          </p:sp>
        </mc:Choice>
        <mc:Fallback xmlns="">
          <p:sp>
            <p:nvSpPr>
              <p:cNvPr id="53" name="矩形 52">
                <a:extLst>
                  <a:ext uri="{FF2B5EF4-FFF2-40B4-BE49-F238E27FC236}">
                    <a16:creationId xmlns:a16="http://schemas.microsoft.com/office/drawing/2014/main" id="{433E0DC0-DE2E-4C45-9BC6-8DF70793BD2A}"/>
                  </a:ext>
                </a:extLst>
              </p:cNvPr>
              <p:cNvSpPr>
                <a:spLocks noRot="1" noChangeAspect="1" noMove="1" noResize="1" noEditPoints="1" noAdjustHandles="1" noChangeArrowheads="1" noChangeShapeType="1" noTextEdit="1"/>
              </p:cNvSpPr>
              <p:nvPr/>
            </p:nvSpPr>
            <p:spPr>
              <a:xfrm>
                <a:off x="4276451" y="657393"/>
                <a:ext cx="3349828" cy="523220"/>
              </a:xfrm>
              <a:prstGeom prst="rect">
                <a:avLst/>
              </a:prstGeom>
              <a:blipFill>
                <a:blip r:embed="rId15"/>
                <a:stretch>
                  <a:fillRect/>
                </a:stretch>
              </a:blipFill>
            </p:spPr>
            <p:txBody>
              <a:bodyPr/>
              <a:lstStyle/>
              <a:p>
                <a:r>
                  <a:rPr lang="zh-TW" altLang="en-US">
                    <a:noFill/>
                  </a:rPr>
                  <a:t> </a:t>
                </a:r>
              </a:p>
            </p:txBody>
          </p:sp>
        </mc:Fallback>
      </mc:AlternateContent>
      <p:sp>
        <p:nvSpPr>
          <p:cNvPr id="54" name="標題 1">
            <a:extLst>
              <a:ext uri="{FF2B5EF4-FFF2-40B4-BE49-F238E27FC236}">
                <a16:creationId xmlns:a16="http://schemas.microsoft.com/office/drawing/2014/main" id="{720553EE-86C9-44EA-999B-DD03298955BF}"/>
              </a:ext>
            </a:extLst>
          </p:cNvPr>
          <p:cNvSpPr txBox="1">
            <a:spLocks/>
          </p:cNvSpPr>
          <p:nvPr/>
        </p:nvSpPr>
        <p:spPr>
          <a:xfrm>
            <a:off x="4976176" y="5355976"/>
            <a:ext cx="1100153" cy="58336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002060"/>
                </a:solidFill>
                <a:latin typeface="Gill Sans MT" panose="020B0502020104020203" pitchFamily="34" charset="0"/>
                <a:cs typeface="Times New Roman" panose="02020603050405020304" pitchFamily="18" charset="0"/>
              </a:rPr>
              <a:t>Maximal Pointer</a:t>
            </a:r>
            <a:endParaRPr lang="zh-TW" altLang="en-US" sz="2000" b="1" dirty="0">
              <a:solidFill>
                <a:srgbClr val="002060"/>
              </a:solidFill>
              <a:latin typeface="Gill Sans MT" panose="020B0502020104020203" pitchFamily="34" charset="0"/>
              <a:cs typeface="Times New Roman" panose="02020603050405020304" pitchFamily="18" charset="0"/>
            </a:endParaRPr>
          </a:p>
        </p:txBody>
      </p:sp>
      <p:cxnSp>
        <p:nvCxnSpPr>
          <p:cNvPr id="58" name="直線單箭頭接點 57">
            <a:extLst>
              <a:ext uri="{FF2B5EF4-FFF2-40B4-BE49-F238E27FC236}">
                <a16:creationId xmlns:a16="http://schemas.microsoft.com/office/drawing/2014/main" id="{375C7430-0270-4875-8C9B-5BE494AF75E6}"/>
              </a:ext>
            </a:extLst>
          </p:cNvPr>
          <p:cNvCxnSpPr>
            <a:cxnSpLocks/>
          </p:cNvCxnSpPr>
          <p:nvPr/>
        </p:nvCxnSpPr>
        <p:spPr>
          <a:xfrm flipH="1" flipV="1">
            <a:off x="6233109" y="5217213"/>
            <a:ext cx="587676" cy="22562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grpSp>
        <p:nvGrpSpPr>
          <p:cNvPr id="61" name="群組 60">
            <a:extLst>
              <a:ext uri="{FF2B5EF4-FFF2-40B4-BE49-F238E27FC236}">
                <a16:creationId xmlns:a16="http://schemas.microsoft.com/office/drawing/2014/main" id="{77F71A1C-8EBC-4E59-A3F5-D134351D0BB0}"/>
              </a:ext>
            </a:extLst>
          </p:cNvPr>
          <p:cNvGrpSpPr/>
          <p:nvPr/>
        </p:nvGrpSpPr>
        <p:grpSpPr>
          <a:xfrm>
            <a:off x="7315200" y="4824758"/>
            <a:ext cx="1551524" cy="338554"/>
            <a:chOff x="1851096" y="4976156"/>
            <a:chExt cx="1551524" cy="338554"/>
          </a:xfrm>
        </p:grpSpPr>
        <p:cxnSp>
          <p:nvCxnSpPr>
            <p:cNvPr id="62" name="直線單箭頭接點 61">
              <a:extLst>
                <a:ext uri="{FF2B5EF4-FFF2-40B4-BE49-F238E27FC236}">
                  <a16:creationId xmlns:a16="http://schemas.microsoft.com/office/drawing/2014/main" id="{B9114C1C-2648-45FC-8A01-7DE8AE0A0C20}"/>
                </a:ext>
              </a:extLst>
            </p:cNvPr>
            <p:cNvCxnSpPr>
              <a:cxnSpLocks/>
            </p:cNvCxnSpPr>
            <p:nvPr/>
          </p:nvCxnSpPr>
          <p:spPr>
            <a:xfrm>
              <a:off x="1851096" y="5160068"/>
              <a:ext cx="31107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矩形 62">
              <a:extLst>
                <a:ext uri="{FF2B5EF4-FFF2-40B4-BE49-F238E27FC236}">
                  <a16:creationId xmlns:a16="http://schemas.microsoft.com/office/drawing/2014/main" id="{76542BBE-A3A7-4B76-A42E-1B83FFED07A0}"/>
                </a:ext>
              </a:extLst>
            </p:cNvPr>
            <p:cNvSpPr/>
            <p:nvPr/>
          </p:nvSpPr>
          <p:spPr>
            <a:xfrm>
              <a:off x="2164781" y="4976156"/>
              <a:ext cx="1237839" cy="338554"/>
            </a:xfrm>
            <a:prstGeom prst="rect">
              <a:avLst/>
            </a:prstGeom>
          </p:spPr>
          <p:txBody>
            <a:bodyPr wrap="none">
              <a:spAutoFit/>
            </a:bodyPr>
            <a:lstStyle/>
            <a:p>
              <a:r>
                <a:rPr lang="en-US" altLang="zh-TW" sz="1600" b="1" dirty="0">
                  <a:solidFill>
                    <a:srgbClr val="0070C0"/>
                  </a:solidFill>
                  <a:latin typeface="Cambria Math" panose="02040503050406030204" pitchFamily="18" charset="0"/>
                </a:rPr>
                <a:t>string depth</a:t>
              </a:r>
              <a:endParaRPr lang="zh-TW" altLang="en-US" sz="1600" b="1" dirty="0">
                <a:solidFill>
                  <a:srgbClr val="0070C0"/>
                </a:solidFill>
                <a:latin typeface="Cambria Math" panose="02040503050406030204" pitchFamily="18" charset="0"/>
              </a:endParaRPr>
            </a:p>
          </p:txBody>
        </p:sp>
      </p:grpSp>
      <p:cxnSp>
        <p:nvCxnSpPr>
          <p:cNvPr id="55" name="直線單箭頭接點 54">
            <a:extLst>
              <a:ext uri="{FF2B5EF4-FFF2-40B4-BE49-F238E27FC236}">
                <a16:creationId xmlns:a16="http://schemas.microsoft.com/office/drawing/2014/main" id="{375C7430-0270-4875-8C9B-5BE494AF75E6}"/>
              </a:ext>
            </a:extLst>
          </p:cNvPr>
          <p:cNvCxnSpPr>
            <a:cxnSpLocks/>
          </p:cNvCxnSpPr>
          <p:nvPr/>
        </p:nvCxnSpPr>
        <p:spPr>
          <a:xfrm flipH="1" flipV="1">
            <a:off x="3363306" y="5239815"/>
            <a:ext cx="1765270" cy="56024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 name="文字方塊 2"/>
          <p:cNvSpPr txBox="1"/>
          <p:nvPr/>
        </p:nvSpPr>
        <p:spPr>
          <a:xfrm>
            <a:off x="6670214" y="5387847"/>
            <a:ext cx="1688442" cy="371984"/>
          </a:xfrm>
          <a:prstGeom prst="rect">
            <a:avLst/>
          </a:prstGeom>
          <a:noFill/>
        </p:spPr>
        <p:txBody>
          <a:bodyPr wrap="square" rtlCol="0">
            <a:spAutoFit/>
          </a:bodyPr>
          <a:lstStyle/>
          <a:p>
            <a:r>
              <a:rPr lang="en-US" altLang="zh-TW" dirty="0">
                <a:solidFill>
                  <a:srgbClr val="FF0000"/>
                </a:solidFill>
              </a:rPr>
              <a:t>preprocess</a:t>
            </a:r>
            <a:endParaRPr lang="zh-TW" altLang="en-US" dirty="0">
              <a:solidFill>
                <a:srgbClr val="FF0000"/>
              </a:solidFill>
            </a:endParaRPr>
          </a:p>
        </p:txBody>
      </p:sp>
    </p:spTree>
    <p:extLst>
      <p:ext uri="{BB962C8B-B14F-4D97-AF65-F5344CB8AC3E}">
        <p14:creationId xmlns:p14="http://schemas.microsoft.com/office/powerpoint/2010/main" val="2334199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F11363E4-09D1-4C4B-87E5-C1534B87191E}"/>
              </a:ext>
            </a:extLst>
          </p:cNvPr>
          <p:cNvSpPr>
            <a:spLocks noGrp="1"/>
          </p:cNvSpPr>
          <p:nvPr>
            <p:ph type="sldNum" sz="quarter" idx="12"/>
          </p:nvPr>
        </p:nvSpPr>
        <p:spPr/>
        <p:txBody>
          <a:bodyPr/>
          <a:lstStyle/>
          <a:p>
            <a:fld id="{872633CA-77E0-4863-94F8-E28139DFB2B4}" type="slidenum">
              <a:rPr lang="zh-TW" altLang="en-US" smtClean="0"/>
              <a:t>13</a:t>
            </a:fld>
            <a:endParaRPr lang="zh-TW" altLang="en-US"/>
          </a:p>
        </p:txBody>
      </p:sp>
      <p:sp>
        <p:nvSpPr>
          <p:cNvPr id="6" name="標題 1">
            <a:extLst>
              <a:ext uri="{FF2B5EF4-FFF2-40B4-BE49-F238E27FC236}">
                <a16:creationId xmlns:a16="http://schemas.microsoft.com/office/drawing/2014/main" id="{7233E5C0-A221-4DDC-BC91-D886D3C15775}"/>
              </a:ext>
            </a:extLst>
          </p:cNvPr>
          <p:cNvSpPr txBox="1">
            <a:spLocks/>
          </p:cNvSpPr>
          <p:nvPr/>
        </p:nvSpPr>
        <p:spPr>
          <a:xfrm>
            <a:off x="471956" y="414725"/>
            <a:ext cx="7886700" cy="5833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3200" dirty="0">
                <a:latin typeface="Times New Roman" panose="02020603050405020304" pitchFamily="18" charset="0"/>
                <a:cs typeface="Times New Roman" panose="02020603050405020304" pitchFamily="18" charset="0"/>
              </a:rPr>
              <a:t>Update Suffix Skeleton Tree </a:t>
            </a:r>
            <a:endParaRPr lang="zh-TW" altLang="en-US" sz="3200"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id="{F76F3081-3DDA-497C-8402-9D9F708A7B28}"/>
              </a:ext>
            </a:extLst>
          </p:cNvPr>
          <p:cNvPicPr>
            <a:picLocks noChangeAspect="1"/>
          </p:cNvPicPr>
          <p:nvPr/>
        </p:nvPicPr>
        <p:blipFill>
          <a:blip r:embed="rId2"/>
          <a:stretch>
            <a:fillRect/>
          </a:stretch>
        </p:blipFill>
        <p:spPr>
          <a:xfrm>
            <a:off x="1625810" y="1113690"/>
            <a:ext cx="5578992" cy="5127062"/>
          </a:xfrm>
          <a:prstGeom prst="rect">
            <a:avLst/>
          </a:prstGeom>
        </p:spPr>
      </p:pic>
      <p:pic>
        <p:nvPicPr>
          <p:cNvPr id="8" name="圖片 7">
            <a:extLst>
              <a:ext uri="{FF2B5EF4-FFF2-40B4-BE49-F238E27FC236}">
                <a16:creationId xmlns:a16="http://schemas.microsoft.com/office/drawing/2014/main" id="{6D6526D1-A702-41D6-816F-FB9CF5414BCE}"/>
              </a:ext>
            </a:extLst>
          </p:cNvPr>
          <p:cNvPicPr>
            <a:picLocks noChangeAspect="1"/>
          </p:cNvPicPr>
          <p:nvPr/>
        </p:nvPicPr>
        <p:blipFill>
          <a:blip r:embed="rId3"/>
          <a:stretch>
            <a:fillRect/>
          </a:stretch>
        </p:blipFill>
        <p:spPr>
          <a:xfrm>
            <a:off x="4659055" y="2562447"/>
            <a:ext cx="400050" cy="424969"/>
          </a:xfrm>
          <a:prstGeom prst="rect">
            <a:avLst/>
          </a:prstGeom>
        </p:spPr>
      </p:pic>
      <p:cxnSp>
        <p:nvCxnSpPr>
          <p:cNvPr id="9" name="直線接點 8">
            <a:extLst>
              <a:ext uri="{FF2B5EF4-FFF2-40B4-BE49-F238E27FC236}">
                <a16:creationId xmlns:a16="http://schemas.microsoft.com/office/drawing/2014/main" id="{A6A6F173-D7B2-406B-B479-1DD163A93F86}"/>
              </a:ext>
            </a:extLst>
          </p:cNvPr>
          <p:cNvCxnSpPr>
            <a:cxnSpLocks/>
          </p:cNvCxnSpPr>
          <p:nvPr/>
        </p:nvCxnSpPr>
        <p:spPr>
          <a:xfrm>
            <a:off x="1939198" y="2987416"/>
            <a:ext cx="446059" cy="29269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橢圓 12">
            <a:extLst>
              <a:ext uri="{FF2B5EF4-FFF2-40B4-BE49-F238E27FC236}">
                <a16:creationId xmlns:a16="http://schemas.microsoft.com/office/drawing/2014/main" id="{E1AF59E0-755F-47A9-9E4D-149C0FA7E689}"/>
              </a:ext>
            </a:extLst>
          </p:cNvPr>
          <p:cNvSpPr/>
          <p:nvPr/>
        </p:nvSpPr>
        <p:spPr>
          <a:xfrm>
            <a:off x="4285722" y="2394999"/>
            <a:ext cx="1978267" cy="759864"/>
          </a:xfrm>
          <a:prstGeom prst="ellipse">
            <a:avLst/>
          </a:prstGeom>
          <a:noFill/>
          <a:ln w="38100">
            <a:solidFill>
              <a:srgbClr val="92D05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3277293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14</a:t>
            </a:fld>
            <a:endParaRPr lang="zh-TW" altLang="en-US" dirty="0"/>
          </a:p>
        </p:txBody>
      </p:sp>
      <p:sp>
        <p:nvSpPr>
          <p:cNvPr id="144" name="標題 1">
            <a:extLst>
              <a:ext uri="{FF2B5EF4-FFF2-40B4-BE49-F238E27FC236}">
                <a16:creationId xmlns:a16="http://schemas.microsoft.com/office/drawing/2014/main" id="{BEB4C4FE-92DC-49E9-BA31-B5B03EB1851E}"/>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First Round(Before)</a:t>
            </a:r>
            <a:endParaRPr lang="zh-TW" altLang="en-US" sz="3200" dirty="0">
              <a:latin typeface="Times New Roman" panose="02020603050405020304" pitchFamily="18" charset="0"/>
              <a:cs typeface="Times New Roman" panose="02020603050405020304" pitchFamily="18" charset="0"/>
            </a:endParaRPr>
          </a:p>
        </p:txBody>
      </p:sp>
      <p:sp>
        <p:nvSpPr>
          <p:cNvPr id="15" name="內容版面配置區 6">
            <a:extLst>
              <a:ext uri="{FF2B5EF4-FFF2-40B4-BE49-F238E27FC236}">
                <a16:creationId xmlns:a16="http://schemas.microsoft.com/office/drawing/2014/main" id="{45387554-66BD-46A2-9CE4-80CF9ABB89B8}"/>
              </a:ext>
            </a:extLst>
          </p:cNvPr>
          <p:cNvSpPr txBox="1">
            <a:spLocks/>
          </p:cNvSpPr>
          <p:nvPr/>
        </p:nvSpPr>
        <p:spPr>
          <a:xfrm>
            <a:off x="471956" y="998092"/>
            <a:ext cx="8327572" cy="5553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TW" sz="2400" dirty="0">
                <a:latin typeface="Times New Roman" panose="02020603050405020304" pitchFamily="18" charset="0"/>
                <a:cs typeface="Times New Roman" panose="02020603050405020304" pitchFamily="18" charset="0"/>
              </a:rPr>
              <a:t>The Longest Prefix Bucket Array</a:t>
            </a:r>
            <a:endParaRPr lang="zh-TW" altLang="en-US" sz="2400" dirty="0">
              <a:latin typeface="Times New Roman" panose="02020603050405020304" pitchFamily="18" charset="0"/>
              <a:cs typeface="Times New Roman" panose="02020603050405020304" pitchFamily="18" charset="0"/>
            </a:endParaRPr>
          </a:p>
        </p:txBody>
      </p:sp>
      <p:pic>
        <p:nvPicPr>
          <p:cNvPr id="7" name="圖片 6">
            <a:extLst>
              <a:ext uri="{FF2B5EF4-FFF2-40B4-BE49-F238E27FC236}">
                <a16:creationId xmlns:a16="http://schemas.microsoft.com/office/drawing/2014/main" id="{5F384487-5BB7-4BB0-99D1-9314FA35479D}"/>
              </a:ext>
            </a:extLst>
          </p:cNvPr>
          <p:cNvPicPr>
            <a:picLocks noChangeAspect="1"/>
          </p:cNvPicPr>
          <p:nvPr/>
        </p:nvPicPr>
        <p:blipFill>
          <a:blip r:embed="rId3"/>
          <a:stretch>
            <a:fillRect/>
          </a:stretch>
        </p:blipFill>
        <p:spPr>
          <a:xfrm>
            <a:off x="1309687" y="1619784"/>
            <a:ext cx="6524625" cy="3105150"/>
          </a:xfrm>
          <a:prstGeom prst="rect">
            <a:avLst/>
          </a:prstGeom>
        </p:spPr>
      </p:pic>
      <p:graphicFrame>
        <p:nvGraphicFramePr>
          <p:cNvPr id="9" name="表格 8">
            <a:extLst>
              <a:ext uri="{FF2B5EF4-FFF2-40B4-BE49-F238E27FC236}">
                <a16:creationId xmlns:a16="http://schemas.microsoft.com/office/drawing/2014/main" id="{CED2CC08-5B0E-4719-A11B-2F1D84641CDB}"/>
              </a:ext>
            </a:extLst>
          </p:cNvPr>
          <p:cNvGraphicFramePr>
            <a:graphicFrameLocks noGrp="1"/>
          </p:cNvGraphicFramePr>
          <p:nvPr/>
        </p:nvGraphicFramePr>
        <p:xfrm>
          <a:off x="1367307" y="4823250"/>
          <a:ext cx="6095997" cy="37084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val="184306604"/>
                    </a:ext>
                  </a:extLst>
                </a:gridCol>
                <a:gridCol w="677333">
                  <a:extLst>
                    <a:ext uri="{9D8B030D-6E8A-4147-A177-3AD203B41FA5}">
                      <a16:colId xmlns:a16="http://schemas.microsoft.com/office/drawing/2014/main" val="1731048100"/>
                    </a:ext>
                  </a:extLst>
                </a:gridCol>
                <a:gridCol w="677333">
                  <a:extLst>
                    <a:ext uri="{9D8B030D-6E8A-4147-A177-3AD203B41FA5}">
                      <a16:colId xmlns:a16="http://schemas.microsoft.com/office/drawing/2014/main" val="1688476900"/>
                    </a:ext>
                  </a:extLst>
                </a:gridCol>
                <a:gridCol w="677333">
                  <a:extLst>
                    <a:ext uri="{9D8B030D-6E8A-4147-A177-3AD203B41FA5}">
                      <a16:colId xmlns:a16="http://schemas.microsoft.com/office/drawing/2014/main" val="1704851491"/>
                    </a:ext>
                  </a:extLst>
                </a:gridCol>
                <a:gridCol w="677333">
                  <a:extLst>
                    <a:ext uri="{9D8B030D-6E8A-4147-A177-3AD203B41FA5}">
                      <a16:colId xmlns:a16="http://schemas.microsoft.com/office/drawing/2014/main" val="1998974524"/>
                    </a:ext>
                  </a:extLst>
                </a:gridCol>
                <a:gridCol w="677333">
                  <a:extLst>
                    <a:ext uri="{9D8B030D-6E8A-4147-A177-3AD203B41FA5}">
                      <a16:colId xmlns:a16="http://schemas.microsoft.com/office/drawing/2014/main" val="3853749183"/>
                    </a:ext>
                  </a:extLst>
                </a:gridCol>
                <a:gridCol w="677333">
                  <a:extLst>
                    <a:ext uri="{9D8B030D-6E8A-4147-A177-3AD203B41FA5}">
                      <a16:colId xmlns:a16="http://schemas.microsoft.com/office/drawing/2014/main" val="391626377"/>
                    </a:ext>
                  </a:extLst>
                </a:gridCol>
                <a:gridCol w="677333">
                  <a:extLst>
                    <a:ext uri="{9D8B030D-6E8A-4147-A177-3AD203B41FA5}">
                      <a16:colId xmlns:a16="http://schemas.microsoft.com/office/drawing/2014/main" val="2559129209"/>
                    </a:ext>
                  </a:extLst>
                </a:gridCol>
                <a:gridCol w="677333">
                  <a:extLst>
                    <a:ext uri="{9D8B030D-6E8A-4147-A177-3AD203B41FA5}">
                      <a16:colId xmlns:a16="http://schemas.microsoft.com/office/drawing/2014/main" val="2227559916"/>
                    </a:ext>
                  </a:extLst>
                </a:gridCol>
              </a:tblGrid>
              <a:tr h="370840">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r>
                        <a:rPr lang="en-US" altLang="zh-TW" dirty="0"/>
                        <a:t>7</a:t>
                      </a:r>
                      <a:endParaRPr lang="zh-TW" altLang="en-US" dirty="0"/>
                    </a:p>
                  </a:txBody>
                  <a:tcPr anchor="ctr"/>
                </a:tc>
                <a:tc>
                  <a:txBody>
                    <a:bodyPr/>
                    <a:lstStyle/>
                    <a:p>
                      <a:pPr algn="ctr"/>
                      <a:r>
                        <a:rPr lang="en-US" altLang="zh-TW" dirty="0"/>
                        <a:t>8</a:t>
                      </a:r>
                      <a:endParaRPr lang="zh-TW" altLang="en-US" dirty="0"/>
                    </a:p>
                  </a:txBody>
                  <a:tcPr anchor="ctr"/>
                </a:tc>
                <a:tc>
                  <a:txBody>
                    <a:bodyPr/>
                    <a:lstStyle/>
                    <a:p>
                      <a:pPr algn="ctr"/>
                      <a:r>
                        <a:rPr lang="en-US" altLang="zh-TW" dirty="0"/>
                        <a:t>9</a:t>
                      </a:r>
                      <a:endParaRPr lang="zh-TW" altLang="en-US" dirty="0"/>
                    </a:p>
                  </a:txBody>
                  <a:tcPr anchor="ctr"/>
                </a:tc>
                <a:extLst>
                  <a:ext uri="{0D108BD9-81ED-4DB2-BD59-A6C34878D82A}">
                    <a16:rowId xmlns:a16="http://schemas.microsoft.com/office/drawing/2014/main" val="2394764283"/>
                  </a:ext>
                </a:extLst>
              </a:tr>
            </a:tbl>
          </a:graphicData>
        </a:graphic>
      </p:graphicFrame>
      <p:sp>
        <p:nvSpPr>
          <p:cNvPr id="10" name="橢圓 9">
            <a:extLst>
              <a:ext uri="{FF2B5EF4-FFF2-40B4-BE49-F238E27FC236}">
                <a16:creationId xmlns:a16="http://schemas.microsoft.com/office/drawing/2014/main" id="{2AD86059-AAAA-4132-AB59-36CF8F683D3C}"/>
              </a:ext>
            </a:extLst>
          </p:cNvPr>
          <p:cNvSpPr/>
          <p:nvPr/>
        </p:nvSpPr>
        <p:spPr>
          <a:xfrm>
            <a:off x="2796235" y="4782296"/>
            <a:ext cx="502524" cy="94301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74C04617-D8FD-48BB-B28B-E9C631671E1A}"/>
                  </a:ext>
                </a:extLst>
              </p:cNvPr>
              <p:cNvSpPr/>
              <p:nvPr/>
            </p:nvSpPr>
            <p:spPr>
              <a:xfrm>
                <a:off x="6802799" y="1799998"/>
                <a:ext cx="4698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1</m:t>
                          </m:r>
                        </m:sub>
                      </m:sSub>
                    </m:oMath>
                  </m:oMathPara>
                </a14:m>
                <a:endParaRPr lang="zh-TW" altLang="en-US" i="1" dirty="0">
                  <a:solidFill>
                    <a:srgbClr val="FF0000"/>
                  </a:solidFill>
                  <a:latin typeface="Cambria Math" panose="02040503050406030204" pitchFamily="18" charset="0"/>
                </a:endParaRPr>
              </a:p>
            </p:txBody>
          </p:sp>
        </mc:Choice>
        <mc:Fallback xmlns="">
          <p:sp>
            <p:nvSpPr>
              <p:cNvPr id="23" name="矩形 22">
                <a:extLst>
                  <a:ext uri="{FF2B5EF4-FFF2-40B4-BE49-F238E27FC236}">
                    <a16:creationId xmlns:a16="http://schemas.microsoft.com/office/drawing/2014/main" id="{74C04617-D8FD-48BB-B28B-E9C631671E1A}"/>
                  </a:ext>
                </a:extLst>
              </p:cNvPr>
              <p:cNvSpPr>
                <a:spLocks noRot="1" noChangeAspect="1" noMove="1" noResize="1" noEditPoints="1" noAdjustHandles="1" noChangeArrowheads="1" noChangeShapeType="1" noTextEdit="1"/>
              </p:cNvSpPr>
              <p:nvPr/>
            </p:nvSpPr>
            <p:spPr>
              <a:xfrm>
                <a:off x="6802799" y="1799998"/>
                <a:ext cx="469872" cy="369332"/>
              </a:xfrm>
              <a:prstGeom prst="rect">
                <a:avLst/>
              </a:prstGeom>
              <a:blipFill>
                <a:blip r:embed="rId4"/>
                <a:stretch>
                  <a:fillRect/>
                </a:stretch>
              </a:blipFill>
            </p:spPr>
            <p:txBody>
              <a:bodyPr/>
              <a:lstStyle/>
              <a:p>
                <a:r>
                  <a:rPr lang="zh-TW" altLang="en-US">
                    <a:noFill/>
                  </a:rPr>
                  <a:t> </a:t>
                </a:r>
              </a:p>
            </p:txBody>
          </p:sp>
        </mc:Fallback>
      </mc:AlternateContent>
      <p:cxnSp>
        <p:nvCxnSpPr>
          <p:cNvPr id="17" name="直線單箭頭接點 16">
            <a:extLst>
              <a:ext uri="{FF2B5EF4-FFF2-40B4-BE49-F238E27FC236}">
                <a16:creationId xmlns:a16="http://schemas.microsoft.com/office/drawing/2014/main" id="{F49A02D6-DBBA-4FD9-8857-8DD266D83D5F}"/>
              </a:ext>
            </a:extLst>
          </p:cNvPr>
          <p:cNvCxnSpPr>
            <a:cxnSpLocks/>
          </p:cNvCxnSpPr>
          <p:nvPr/>
        </p:nvCxnSpPr>
        <p:spPr>
          <a:xfrm>
            <a:off x="1711842"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52948B29-4E80-40E8-AE4D-3B8F1E85EC7C}"/>
                  </a:ext>
                </a:extLst>
              </p:cNvPr>
              <p:cNvSpPr/>
              <p:nvPr/>
            </p:nvSpPr>
            <p:spPr>
              <a:xfrm>
                <a:off x="1476906" y="5355976"/>
                <a:ext cx="4698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1</m:t>
                          </m:r>
                        </m:sub>
                      </m:sSub>
                    </m:oMath>
                  </m:oMathPara>
                </a14:m>
                <a:endParaRPr lang="zh-TW" altLang="en-US" i="1" dirty="0">
                  <a:solidFill>
                    <a:srgbClr val="FF0000"/>
                  </a:solidFill>
                  <a:latin typeface="Cambria Math" panose="02040503050406030204" pitchFamily="18" charset="0"/>
                </a:endParaRPr>
              </a:p>
            </p:txBody>
          </p:sp>
        </mc:Choice>
        <mc:Fallback xmlns="">
          <p:sp>
            <p:nvSpPr>
              <p:cNvPr id="27" name="矩形 26">
                <a:extLst>
                  <a:ext uri="{FF2B5EF4-FFF2-40B4-BE49-F238E27FC236}">
                    <a16:creationId xmlns:a16="http://schemas.microsoft.com/office/drawing/2014/main" id="{52948B29-4E80-40E8-AE4D-3B8F1E85EC7C}"/>
                  </a:ext>
                </a:extLst>
              </p:cNvPr>
              <p:cNvSpPr>
                <a:spLocks noRot="1" noChangeAspect="1" noMove="1" noResize="1" noEditPoints="1" noAdjustHandles="1" noChangeArrowheads="1" noChangeShapeType="1" noTextEdit="1"/>
              </p:cNvSpPr>
              <p:nvPr/>
            </p:nvSpPr>
            <p:spPr>
              <a:xfrm>
                <a:off x="1476906" y="5355976"/>
                <a:ext cx="469872" cy="369332"/>
              </a:xfrm>
              <a:prstGeom prst="rect">
                <a:avLst/>
              </a:prstGeom>
              <a:blipFill>
                <a:blip r:embed="rId5"/>
                <a:stretch>
                  <a:fillRect b="-1667"/>
                </a:stretch>
              </a:blipFill>
            </p:spPr>
            <p:txBody>
              <a:bodyPr/>
              <a:lstStyle/>
              <a:p>
                <a:r>
                  <a:rPr lang="zh-TW" altLang="en-US">
                    <a:noFill/>
                  </a:rPr>
                  <a:t> </a:t>
                </a:r>
              </a:p>
            </p:txBody>
          </p:sp>
        </mc:Fallback>
      </mc:AlternateContent>
      <p:grpSp>
        <p:nvGrpSpPr>
          <p:cNvPr id="20" name="群組 19">
            <a:extLst>
              <a:ext uri="{FF2B5EF4-FFF2-40B4-BE49-F238E27FC236}">
                <a16:creationId xmlns:a16="http://schemas.microsoft.com/office/drawing/2014/main" id="{AC07034D-5FBB-4C1A-9F30-1627D60023CE}"/>
              </a:ext>
            </a:extLst>
          </p:cNvPr>
          <p:cNvGrpSpPr/>
          <p:nvPr/>
        </p:nvGrpSpPr>
        <p:grpSpPr>
          <a:xfrm>
            <a:off x="2142041" y="5194090"/>
            <a:ext cx="475195" cy="531218"/>
            <a:chOff x="2142041" y="5194090"/>
            <a:chExt cx="475195" cy="531218"/>
          </a:xfrm>
        </p:grpSpPr>
        <p:cxnSp>
          <p:nvCxnSpPr>
            <p:cNvPr id="30" name="直線單箭頭接點 29">
              <a:extLst>
                <a:ext uri="{FF2B5EF4-FFF2-40B4-BE49-F238E27FC236}">
                  <a16:creationId xmlns:a16="http://schemas.microsoft.com/office/drawing/2014/main" id="{0095A320-6347-4D2C-865A-333D9C149A16}"/>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AE26580E-D880-4367-A6CA-146D492FBCB2}"/>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2</m:t>
                            </m:r>
                          </m:sub>
                        </m:sSub>
                      </m:oMath>
                    </m:oMathPara>
                  </a14:m>
                  <a:endParaRPr lang="zh-TW" altLang="en-US" i="1" dirty="0">
                    <a:solidFill>
                      <a:srgbClr val="FF0000"/>
                    </a:solidFill>
                    <a:latin typeface="Cambria Math" panose="02040503050406030204" pitchFamily="18" charset="0"/>
                  </a:endParaRPr>
                </a:p>
              </p:txBody>
            </p:sp>
          </mc:Choice>
          <mc:Fallback xmlns="">
            <p:sp>
              <p:nvSpPr>
                <p:cNvPr id="31" name="矩形 30">
                  <a:extLst>
                    <a:ext uri="{FF2B5EF4-FFF2-40B4-BE49-F238E27FC236}">
                      <a16:creationId xmlns:a16="http://schemas.microsoft.com/office/drawing/2014/main" id="{AE26580E-D880-4367-A6CA-146D492FBCB2}"/>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6"/>
                  <a:stretch>
                    <a:fillRect b="-1667"/>
                  </a:stretch>
                </a:blipFill>
              </p:spPr>
              <p:txBody>
                <a:bodyPr/>
                <a:lstStyle/>
                <a:p>
                  <a:r>
                    <a:rPr lang="zh-TW" altLang="en-US">
                      <a:noFill/>
                    </a:rPr>
                    <a:t> </a:t>
                  </a:r>
                </a:p>
              </p:txBody>
            </p:sp>
          </mc:Fallback>
        </mc:AlternateContent>
      </p:grpSp>
      <p:grpSp>
        <p:nvGrpSpPr>
          <p:cNvPr id="35" name="群組 34">
            <a:extLst>
              <a:ext uri="{FF2B5EF4-FFF2-40B4-BE49-F238E27FC236}">
                <a16:creationId xmlns:a16="http://schemas.microsoft.com/office/drawing/2014/main" id="{C6D22B99-DB6B-45DA-BFD4-6474FC86C3B9}"/>
              </a:ext>
            </a:extLst>
          </p:cNvPr>
          <p:cNvGrpSpPr/>
          <p:nvPr/>
        </p:nvGrpSpPr>
        <p:grpSpPr>
          <a:xfrm>
            <a:off x="2823569" y="5194090"/>
            <a:ext cx="475195" cy="531218"/>
            <a:chOff x="2142041" y="5194090"/>
            <a:chExt cx="475195" cy="531218"/>
          </a:xfrm>
        </p:grpSpPr>
        <p:cxnSp>
          <p:nvCxnSpPr>
            <p:cNvPr id="36" name="直線單箭頭接點 35">
              <a:extLst>
                <a:ext uri="{FF2B5EF4-FFF2-40B4-BE49-F238E27FC236}">
                  <a16:creationId xmlns:a16="http://schemas.microsoft.com/office/drawing/2014/main" id="{5AC47D69-E7CD-4A5C-93BC-DDBE17DA0933}"/>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410090F0-1457-46BF-9121-7F320E7D0005}"/>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4</m:t>
                            </m:r>
                          </m:sub>
                        </m:sSub>
                      </m:oMath>
                    </m:oMathPara>
                  </a14:m>
                  <a:endParaRPr lang="zh-TW" altLang="en-US" i="1" dirty="0">
                    <a:solidFill>
                      <a:srgbClr val="FF0000"/>
                    </a:solidFill>
                    <a:latin typeface="Cambria Math" panose="02040503050406030204" pitchFamily="18" charset="0"/>
                  </a:endParaRPr>
                </a:p>
              </p:txBody>
            </p:sp>
          </mc:Choice>
          <mc:Fallback xmlns="">
            <p:sp>
              <p:nvSpPr>
                <p:cNvPr id="37" name="矩形 36">
                  <a:extLst>
                    <a:ext uri="{FF2B5EF4-FFF2-40B4-BE49-F238E27FC236}">
                      <a16:creationId xmlns:a16="http://schemas.microsoft.com/office/drawing/2014/main" id="{410090F0-1457-46BF-9121-7F320E7D0005}"/>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7"/>
                  <a:stretch>
                    <a:fillRect b="-1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DFE52E48-B7CD-4ACF-8BFC-9D17D5B77DEA}"/>
                  </a:ext>
                </a:extLst>
              </p:cNvPr>
              <p:cNvSpPr/>
              <p:nvPr/>
            </p:nvSpPr>
            <p:spPr>
              <a:xfrm>
                <a:off x="4006166" y="3059668"/>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2</m:t>
                          </m:r>
                        </m:sub>
                      </m:sSub>
                    </m:oMath>
                  </m:oMathPara>
                </a14:m>
                <a:endParaRPr lang="zh-TW" altLang="en-US" i="1" dirty="0">
                  <a:solidFill>
                    <a:srgbClr val="FF0000"/>
                  </a:solidFill>
                  <a:latin typeface="Cambria Math" panose="02040503050406030204" pitchFamily="18" charset="0"/>
                </a:endParaRPr>
              </a:p>
            </p:txBody>
          </p:sp>
        </mc:Choice>
        <mc:Fallback xmlns="">
          <p:sp>
            <p:nvSpPr>
              <p:cNvPr id="39" name="矩形 38">
                <a:extLst>
                  <a:ext uri="{FF2B5EF4-FFF2-40B4-BE49-F238E27FC236}">
                    <a16:creationId xmlns:a16="http://schemas.microsoft.com/office/drawing/2014/main" id="{DFE52E48-B7CD-4ACF-8BFC-9D17D5B77DEA}"/>
                  </a:ext>
                </a:extLst>
              </p:cNvPr>
              <p:cNvSpPr>
                <a:spLocks noRot="1" noChangeAspect="1" noMove="1" noResize="1" noEditPoints="1" noAdjustHandles="1" noChangeArrowheads="1" noChangeShapeType="1" noTextEdit="1"/>
              </p:cNvSpPr>
              <p:nvPr/>
            </p:nvSpPr>
            <p:spPr>
              <a:xfrm>
                <a:off x="4006166" y="3059668"/>
                <a:ext cx="475195" cy="369332"/>
              </a:xfrm>
              <a:prstGeom prst="rect">
                <a:avLst/>
              </a:prstGeom>
              <a:blipFill>
                <a:blip r:embed="rId8"/>
                <a:stretch>
                  <a:fillRect/>
                </a:stretch>
              </a:blipFill>
            </p:spPr>
            <p:txBody>
              <a:bodyPr/>
              <a:lstStyle/>
              <a:p>
                <a:r>
                  <a:rPr lang="zh-TW" altLang="en-US">
                    <a:noFill/>
                  </a:rPr>
                  <a:t> </a:t>
                </a:r>
              </a:p>
            </p:txBody>
          </p:sp>
        </mc:Fallback>
      </mc:AlternateContent>
      <p:grpSp>
        <p:nvGrpSpPr>
          <p:cNvPr id="41" name="群組 40">
            <a:extLst>
              <a:ext uri="{FF2B5EF4-FFF2-40B4-BE49-F238E27FC236}">
                <a16:creationId xmlns:a16="http://schemas.microsoft.com/office/drawing/2014/main" id="{93275F92-A4E8-460F-ACC9-50615CD3D895}"/>
              </a:ext>
            </a:extLst>
          </p:cNvPr>
          <p:cNvGrpSpPr/>
          <p:nvPr/>
        </p:nvGrpSpPr>
        <p:grpSpPr>
          <a:xfrm>
            <a:off x="2142041" y="5725308"/>
            <a:ext cx="475195" cy="531218"/>
            <a:chOff x="2142041" y="5194090"/>
            <a:chExt cx="475195" cy="531218"/>
          </a:xfrm>
        </p:grpSpPr>
        <p:cxnSp>
          <p:nvCxnSpPr>
            <p:cNvPr id="42" name="直線單箭頭接點 41">
              <a:extLst>
                <a:ext uri="{FF2B5EF4-FFF2-40B4-BE49-F238E27FC236}">
                  <a16:creationId xmlns:a16="http://schemas.microsoft.com/office/drawing/2014/main" id="{07A5211C-6FA0-42A7-9A25-C0FADCAC0D5E}"/>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E21F4AA1-7069-4511-B895-7302B6AD7BD3}"/>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3</m:t>
                            </m:r>
                          </m:sub>
                        </m:sSub>
                      </m:oMath>
                    </m:oMathPara>
                  </a14:m>
                  <a:endParaRPr lang="zh-TW" altLang="en-US" i="1" dirty="0">
                    <a:solidFill>
                      <a:srgbClr val="FF0000"/>
                    </a:solidFill>
                    <a:latin typeface="Cambria Math" panose="02040503050406030204" pitchFamily="18" charset="0"/>
                  </a:endParaRPr>
                </a:p>
              </p:txBody>
            </p:sp>
          </mc:Choice>
          <mc:Fallback xmlns="">
            <p:sp>
              <p:nvSpPr>
                <p:cNvPr id="43" name="矩形 42">
                  <a:extLst>
                    <a:ext uri="{FF2B5EF4-FFF2-40B4-BE49-F238E27FC236}">
                      <a16:creationId xmlns:a16="http://schemas.microsoft.com/office/drawing/2014/main" id="{E21F4AA1-7069-4511-B895-7302B6AD7BD3}"/>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9"/>
                  <a:stretch>
                    <a:fillRect b="-1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E1F2C04A-1BA5-4E44-82D6-10F454AB828C}"/>
                  </a:ext>
                </a:extLst>
              </p:cNvPr>
              <p:cNvSpPr/>
              <p:nvPr/>
            </p:nvSpPr>
            <p:spPr>
              <a:xfrm>
                <a:off x="5090341" y="2902602"/>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3</m:t>
                          </m:r>
                        </m:sub>
                      </m:sSub>
                    </m:oMath>
                  </m:oMathPara>
                </a14:m>
                <a:endParaRPr lang="zh-TW" altLang="en-US" i="1" dirty="0">
                  <a:solidFill>
                    <a:srgbClr val="FF0000"/>
                  </a:solidFill>
                  <a:latin typeface="Cambria Math" panose="02040503050406030204" pitchFamily="18" charset="0"/>
                </a:endParaRPr>
              </a:p>
            </p:txBody>
          </p:sp>
        </mc:Choice>
        <mc:Fallback xmlns="">
          <p:sp>
            <p:nvSpPr>
              <p:cNvPr id="45" name="矩形 44">
                <a:extLst>
                  <a:ext uri="{FF2B5EF4-FFF2-40B4-BE49-F238E27FC236}">
                    <a16:creationId xmlns:a16="http://schemas.microsoft.com/office/drawing/2014/main" id="{E1F2C04A-1BA5-4E44-82D6-10F454AB828C}"/>
                  </a:ext>
                </a:extLst>
              </p:cNvPr>
              <p:cNvSpPr>
                <a:spLocks noRot="1" noChangeAspect="1" noMove="1" noResize="1" noEditPoints="1" noAdjustHandles="1" noChangeArrowheads="1" noChangeShapeType="1" noTextEdit="1"/>
              </p:cNvSpPr>
              <p:nvPr/>
            </p:nvSpPr>
            <p:spPr>
              <a:xfrm>
                <a:off x="5090341" y="2902602"/>
                <a:ext cx="475195" cy="369332"/>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矩形 45">
                <a:extLst>
                  <a:ext uri="{FF2B5EF4-FFF2-40B4-BE49-F238E27FC236}">
                    <a16:creationId xmlns:a16="http://schemas.microsoft.com/office/drawing/2014/main" id="{7425AE64-0192-4F04-94A9-B88C965445A8}"/>
                  </a:ext>
                </a:extLst>
              </p:cNvPr>
              <p:cNvSpPr/>
              <p:nvPr/>
            </p:nvSpPr>
            <p:spPr>
              <a:xfrm>
                <a:off x="6076329" y="2902602"/>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4</m:t>
                          </m:r>
                        </m:sub>
                      </m:sSub>
                    </m:oMath>
                  </m:oMathPara>
                </a14:m>
                <a:endParaRPr lang="zh-TW" altLang="en-US" i="1" dirty="0">
                  <a:solidFill>
                    <a:srgbClr val="FF0000"/>
                  </a:solidFill>
                  <a:latin typeface="Cambria Math" panose="02040503050406030204" pitchFamily="18" charset="0"/>
                </a:endParaRPr>
              </a:p>
            </p:txBody>
          </p:sp>
        </mc:Choice>
        <mc:Fallback xmlns="">
          <p:sp>
            <p:nvSpPr>
              <p:cNvPr id="46" name="矩形 45">
                <a:extLst>
                  <a:ext uri="{FF2B5EF4-FFF2-40B4-BE49-F238E27FC236}">
                    <a16:creationId xmlns:a16="http://schemas.microsoft.com/office/drawing/2014/main" id="{7425AE64-0192-4F04-94A9-B88C965445A8}"/>
                  </a:ext>
                </a:extLst>
              </p:cNvPr>
              <p:cNvSpPr>
                <a:spLocks noRot="1" noChangeAspect="1" noMove="1" noResize="1" noEditPoints="1" noAdjustHandles="1" noChangeArrowheads="1" noChangeShapeType="1" noTextEdit="1"/>
              </p:cNvSpPr>
              <p:nvPr/>
            </p:nvSpPr>
            <p:spPr>
              <a:xfrm>
                <a:off x="6076329" y="2902602"/>
                <a:ext cx="475195" cy="369332"/>
              </a:xfrm>
              <a:prstGeom prst="rect">
                <a:avLst/>
              </a:prstGeom>
              <a:blipFill>
                <a:blip r:embed="rId11"/>
                <a:stretch>
                  <a:fillRect/>
                </a:stretch>
              </a:blipFill>
            </p:spPr>
            <p:txBody>
              <a:bodyPr/>
              <a:lstStyle/>
              <a:p>
                <a:r>
                  <a:rPr lang="zh-TW" altLang="en-US">
                    <a:noFill/>
                  </a:rPr>
                  <a:t> </a:t>
                </a:r>
              </a:p>
            </p:txBody>
          </p:sp>
        </mc:Fallback>
      </mc:AlternateContent>
      <p:grpSp>
        <p:nvGrpSpPr>
          <p:cNvPr id="47" name="群組 46">
            <a:extLst>
              <a:ext uri="{FF2B5EF4-FFF2-40B4-BE49-F238E27FC236}">
                <a16:creationId xmlns:a16="http://schemas.microsoft.com/office/drawing/2014/main" id="{B2ECAEA9-B93C-48C5-84FD-C047B18B816E}"/>
              </a:ext>
            </a:extLst>
          </p:cNvPr>
          <p:cNvGrpSpPr/>
          <p:nvPr/>
        </p:nvGrpSpPr>
        <p:grpSpPr>
          <a:xfrm>
            <a:off x="2823569" y="5725308"/>
            <a:ext cx="475195" cy="531218"/>
            <a:chOff x="2142041" y="5194090"/>
            <a:chExt cx="475195" cy="531218"/>
          </a:xfrm>
        </p:grpSpPr>
        <p:cxnSp>
          <p:nvCxnSpPr>
            <p:cNvPr id="48" name="直線單箭頭接點 47">
              <a:extLst>
                <a:ext uri="{FF2B5EF4-FFF2-40B4-BE49-F238E27FC236}">
                  <a16:creationId xmlns:a16="http://schemas.microsoft.com/office/drawing/2014/main" id="{265CA813-48E7-4530-BE85-4DA212019DC3}"/>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矩形 48">
                  <a:extLst>
                    <a:ext uri="{FF2B5EF4-FFF2-40B4-BE49-F238E27FC236}">
                      <a16:creationId xmlns:a16="http://schemas.microsoft.com/office/drawing/2014/main" id="{7B4CF5AA-D264-4261-9013-2C33A67C7755}"/>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5</m:t>
                            </m:r>
                          </m:sub>
                        </m:sSub>
                      </m:oMath>
                    </m:oMathPara>
                  </a14:m>
                  <a:endParaRPr lang="zh-TW" altLang="en-US" i="1" dirty="0">
                    <a:solidFill>
                      <a:srgbClr val="FF0000"/>
                    </a:solidFill>
                    <a:latin typeface="Cambria Math" panose="02040503050406030204" pitchFamily="18" charset="0"/>
                  </a:endParaRPr>
                </a:p>
              </p:txBody>
            </p:sp>
          </mc:Choice>
          <mc:Fallback xmlns="">
            <p:sp>
              <p:nvSpPr>
                <p:cNvPr id="49" name="矩形 48">
                  <a:extLst>
                    <a:ext uri="{FF2B5EF4-FFF2-40B4-BE49-F238E27FC236}">
                      <a16:creationId xmlns:a16="http://schemas.microsoft.com/office/drawing/2014/main" id="{7B4CF5AA-D264-4261-9013-2C33A67C7755}"/>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12"/>
                  <a:stretch>
                    <a:fillRect b="-1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50" name="矩形 49">
                <a:extLst>
                  <a:ext uri="{FF2B5EF4-FFF2-40B4-BE49-F238E27FC236}">
                    <a16:creationId xmlns:a16="http://schemas.microsoft.com/office/drawing/2014/main" id="{A274DA95-83DF-4310-98D3-22A7BB00A43A}"/>
                  </a:ext>
                </a:extLst>
              </p:cNvPr>
              <p:cNvSpPr/>
              <p:nvPr/>
            </p:nvSpPr>
            <p:spPr>
              <a:xfrm>
                <a:off x="1581324" y="3405751"/>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5</m:t>
                          </m:r>
                        </m:sub>
                      </m:sSub>
                    </m:oMath>
                  </m:oMathPara>
                </a14:m>
                <a:endParaRPr lang="zh-TW" altLang="en-US" i="1" dirty="0">
                  <a:solidFill>
                    <a:srgbClr val="FF0000"/>
                  </a:solidFill>
                  <a:latin typeface="Cambria Math" panose="02040503050406030204" pitchFamily="18" charset="0"/>
                </a:endParaRPr>
              </a:p>
            </p:txBody>
          </p:sp>
        </mc:Choice>
        <mc:Fallback xmlns="">
          <p:sp>
            <p:nvSpPr>
              <p:cNvPr id="50" name="矩形 49">
                <a:extLst>
                  <a:ext uri="{FF2B5EF4-FFF2-40B4-BE49-F238E27FC236}">
                    <a16:creationId xmlns:a16="http://schemas.microsoft.com/office/drawing/2014/main" id="{A274DA95-83DF-4310-98D3-22A7BB00A43A}"/>
                  </a:ext>
                </a:extLst>
              </p:cNvPr>
              <p:cNvSpPr>
                <a:spLocks noRot="1" noChangeAspect="1" noMove="1" noResize="1" noEditPoints="1" noAdjustHandles="1" noChangeArrowheads="1" noChangeShapeType="1" noTextEdit="1"/>
              </p:cNvSpPr>
              <p:nvPr/>
            </p:nvSpPr>
            <p:spPr>
              <a:xfrm>
                <a:off x="1581324" y="3405751"/>
                <a:ext cx="475195" cy="369332"/>
              </a:xfrm>
              <a:prstGeom prst="rect">
                <a:avLst/>
              </a:prstGeom>
              <a:blipFill>
                <a:blip r:embed="rId13"/>
                <a:stretch>
                  <a:fillRect b="-1667"/>
                </a:stretch>
              </a:blipFill>
            </p:spPr>
            <p:txBody>
              <a:bodyPr/>
              <a:lstStyle/>
              <a:p>
                <a:r>
                  <a:rPr lang="zh-TW" altLang="en-US">
                    <a:noFill/>
                  </a:rPr>
                  <a:t> </a:t>
                </a:r>
              </a:p>
            </p:txBody>
          </p:sp>
        </mc:Fallback>
      </mc:AlternateContent>
      <p:sp>
        <p:nvSpPr>
          <p:cNvPr id="54" name="標題 1">
            <a:extLst>
              <a:ext uri="{FF2B5EF4-FFF2-40B4-BE49-F238E27FC236}">
                <a16:creationId xmlns:a16="http://schemas.microsoft.com/office/drawing/2014/main" id="{720553EE-86C9-44EA-999B-DD03298955BF}"/>
              </a:ext>
            </a:extLst>
          </p:cNvPr>
          <p:cNvSpPr txBox="1">
            <a:spLocks/>
          </p:cNvSpPr>
          <p:nvPr/>
        </p:nvSpPr>
        <p:spPr>
          <a:xfrm>
            <a:off x="4976176" y="5355976"/>
            <a:ext cx="1100153" cy="58336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002060"/>
                </a:solidFill>
                <a:latin typeface="Gill Sans MT" panose="020B0502020104020203" pitchFamily="34" charset="0"/>
                <a:cs typeface="Times New Roman" panose="02020603050405020304" pitchFamily="18" charset="0"/>
              </a:rPr>
              <a:t>Maximal Pointer</a:t>
            </a:r>
            <a:endParaRPr lang="zh-TW" altLang="en-US" sz="2000" b="1" dirty="0">
              <a:solidFill>
                <a:srgbClr val="002060"/>
              </a:solidFill>
              <a:latin typeface="Gill Sans MT" panose="020B0502020104020203" pitchFamily="34" charset="0"/>
              <a:cs typeface="Times New Roman" panose="02020603050405020304" pitchFamily="18" charset="0"/>
            </a:endParaRPr>
          </a:p>
        </p:txBody>
      </p:sp>
      <p:cxnSp>
        <p:nvCxnSpPr>
          <p:cNvPr id="58" name="直線單箭頭接點 57">
            <a:extLst>
              <a:ext uri="{FF2B5EF4-FFF2-40B4-BE49-F238E27FC236}">
                <a16:creationId xmlns:a16="http://schemas.microsoft.com/office/drawing/2014/main" id="{375C7430-0270-4875-8C9B-5BE494AF75E6}"/>
              </a:ext>
            </a:extLst>
          </p:cNvPr>
          <p:cNvCxnSpPr>
            <a:cxnSpLocks/>
            <a:stCxn id="54" idx="1"/>
          </p:cNvCxnSpPr>
          <p:nvPr/>
        </p:nvCxnSpPr>
        <p:spPr>
          <a:xfrm flipH="1" flipV="1">
            <a:off x="3210906" y="5087415"/>
            <a:ext cx="1765270" cy="56024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接點 54">
            <a:extLst>
              <a:ext uri="{FF2B5EF4-FFF2-40B4-BE49-F238E27FC236}">
                <a16:creationId xmlns:a16="http://schemas.microsoft.com/office/drawing/2014/main" id="{817FDE0A-2BE6-40CE-9451-CB9A4525E790}"/>
              </a:ext>
            </a:extLst>
          </p:cNvPr>
          <p:cNvCxnSpPr>
            <a:cxnSpLocks/>
          </p:cNvCxnSpPr>
          <p:nvPr/>
        </p:nvCxnSpPr>
        <p:spPr>
          <a:xfrm>
            <a:off x="6360044" y="3612351"/>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直線接點 55">
            <a:extLst>
              <a:ext uri="{FF2B5EF4-FFF2-40B4-BE49-F238E27FC236}">
                <a16:creationId xmlns:a16="http://schemas.microsoft.com/office/drawing/2014/main" id="{8688EEAC-587A-4421-80CE-DAF640A715AB}"/>
              </a:ext>
            </a:extLst>
          </p:cNvPr>
          <p:cNvCxnSpPr>
            <a:cxnSpLocks/>
          </p:cNvCxnSpPr>
          <p:nvPr/>
        </p:nvCxnSpPr>
        <p:spPr>
          <a:xfrm>
            <a:off x="5740113" y="3590417"/>
            <a:ext cx="294466" cy="47497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矩形 56">
                <a:extLst>
                  <a:ext uri="{FF2B5EF4-FFF2-40B4-BE49-F238E27FC236}">
                    <a16:creationId xmlns:a16="http://schemas.microsoft.com/office/drawing/2014/main" id="{3CC932C1-A9BE-4D5C-A3FD-FDB56C773EBE}"/>
                  </a:ext>
                </a:extLst>
              </p:cNvPr>
              <p:cNvSpPr/>
              <p:nvPr/>
            </p:nvSpPr>
            <p:spPr>
              <a:xfrm>
                <a:off x="5435396" y="226124"/>
                <a:ext cx="332969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𝑏</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𝑎</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𝑎</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𝑏</m:t>
                      </m:r>
                    </m:oMath>
                  </m:oMathPara>
                </a14:m>
                <a:endParaRPr lang="zh-TW" altLang="en-US" sz="2800" dirty="0"/>
              </a:p>
            </p:txBody>
          </p:sp>
        </mc:Choice>
        <mc:Fallback xmlns="">
          <p:sp>
            <p:nvSpPr>
              <p:cNvPr id="57" name="矩形 56">
                <a:extLst>
                  <a:ext uri="{FF2B5EF4-FFF2-40B4-BE49-F238E27FC236}">
                    <a16:creationId xmlns:a16="http://schemas.microsoft.com/office/drawing/2014/main" id="{3CC932C1-A9BE-4D5C-A3FD-FDB56C773EBE}"/>
                  </a:ext>
                </a:extLst>
              </p:cNvPr>
              <p:cNvSpPr>
                <a:spLocks noRot="1" noChangeAspect="1" noMove="1" noResize="1" noEditPoints="1" noAdjustHandles="1" noChangeArrowheads="1" noChangeShapeType="1" noTextEdit="1"/>
              </p:cNvSpPr>
              <p:nvPr/>
            </p:nvSpPr>
            <p:spPr>
              <a:xfrm>
                <a:off x="5435396" y="226124"/>
                <a:ext cx="3329694" cy="523220"/>
              </a:xfrm>
              <a:prstGeom prst="rect">
                <a:avLst/>
              </a:prstGeom>
              <a:blipFill>
                <a:blip r:embed="rId1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9" name="矩形 58">
                <a:extLst>
                  <a:ext uri="{FF2B5EF4-FFF2-40B4-BE49-F238E27FC236}">
                    <a16:creationId xmlns:a16="http://schemas.microsoft.com/office/drawing/2014/main" id="{2BD86430-B394-45DE-B0E3-997442511121}"/>
                  </a:ext>
                </a:extLst>
              </p:cNvPr>
              <p:cNvSpPr/>
              <p:nvPr/>
            </p:nvSpPr>
            <p:spPr>
              <a:xfrm>
                <a:off x="5435396" y="657393"/>
                <a:ext cx="334982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𝑇</m:t>
                      </m:r>
                      <m:r>
                        <a:rPr lang="en-US" altLang="zh-TW" sz="2800" i="1">
                          <a:latin typeface="Cambria Math" panose="02040503050406030204" pitchFamily="18" charset="0"/>
                        </a:rPr>
                        <m:t>=</m:t>
                      </m:r>
                      <m:r>
                        <a:rPr lang="en-US" altLang="zh-TW" sz="2800" i="1">
                          <a:latin typeface="Cambria Math" panose="02040503050406030204" pitchFamily="18" charset="0"/>
                        </a:rPr>
                        <m:t>𝑐</m:t>
                      </m:r>
                      <m:r>
                        <a:rPr lang="en-US" altLang="zh-TW" sz="2800" i="1">
                          <a:latin typeface="Cambria Math" panose="02040503050406030204" pitchFamily="18" charset="0"/>
                        </a:rPr>
                        <m:t> </m:t>
                      </m:r>
                      <m:r>
                        <a:rPr lang="en-US" altLang="zh-TW" sz="2800" i="1">
                          <a:latin typeface="Cambria Math" panose="02040503050406030204" pitchFamily="18" charset="0"/>
                        </a:rPr>
                        <m:t>𝑎</m:t>
                      </m:r>
                      <m:r>
                        <a:rPr lang="en-US" altLang="zh-TW" sz="2800" i="1">
                          <a:latin typeface="Cambria Math" panose="02040503050406030204" pitchFamily="18" charset="0"/>
                        </a:rPr>
                        <m:t> </m:t>
                      </m:r>
                      <m:r>
                        <a:rPr lang="en-US" altLang="zh-TW" sz="2800" i="1">
                          <a:latin typeface="Cambria Math" panose="02040503050406030204" pitchFamily="18" charset="0"/>
                        </a:rPr>
                        <m:t>𝑏</m:t>
                      </m:r>
                      <m:r>
                        <a:rPr lang="en-US" altLang="zh-TW" sz="2800" i="1">
                          <a:latin typeface="Cambria Math" panose="02040503050406030204" pitchFamily="18" charset="0"/>
                        </a:rPr>
                        <m:t> </m:t>
                      </m:r>
                      <m:r>
                        <a:rPr lang="en-US" altLang="zh-TW" sz="2800" i="1" smtClean="0">
                          <a:solidFill>
                            <a:schemeClr val="accent2">
                              <a:lumMod val="75000"/>
                            </a:schemeClr>
                          </a:solidFill>
                          <a:latin typeface="Cambria Math" panose="02040503050406030204" pitchFamily="18" charset="0"/>
                        </a:rPr>
                        <m:t>𝑎</m:t>
                      </m:r>
                      <m:r>
                        <a:rPr lang="en-US" altLang="zh-TW" sz="2800" i="1" smtClean="0">
                          <a:solidFill>
                            <a:schemeClr val="accent2">
                              <a:lumMod val="75000"/>
                            </a:schemeClr>
                          </a:solidFill>
                          <a:latin typeface="Cambria Math" panose="02040503050406030204" pitchFamily="18" charset="0"/>
                        </a:rPr>
                        <m:t> </m:t>
                      </m:r>
                      <m:r>
                        <a:rPr lang="en-US" altLang="zh-TW" sz="2800" i="1" smtClean="0">
                          <a:solidFill>
                            <a:schemeClr val="accent2">
                              <a:lumMod val="75000"/>
                            </a:schemeClr>
                          </a:solidFill>
                          <a:latin typeface="Cambria Math" panose="02040503050406030204" pitchFamily="18" charset="0"/>
                        </a:rPr>
                        <m:t>𝑎</m:t>
                      </m:r>
                      <m:r>
                        <a:rPr lang="en-US" altLang="zh-TW" sz="2800" i="1" smtClean="0">
                          <a:solidFill>
                            <a:schemeClr val="accent2">
                              <a:lumMod val="75000"/>
                            </a:schemeClr>
                          </a:solidFill>
                          <a:latin typeface="Cambria Math" panose="02040503050406030204" pitchFamily="18" charset="0"/>
                        </a:rPr>
                        <m:t> </m:t>
                      </m:r>
                      <m:r>
                        <a:rPr lang="en-US" altLang="zh-TW" sz="2800" i="1" smtClean="0">
                          <a:solidFill>
                            <a:schemeClr val="accent2">
                              <a:lumMod val="75000"/>
                            </a:schemeClr>
                          </a:solidFill>
                          <a:latin typeface="Cambria Math" panose="02040503050406030204" pitchFamily="18" charset="0"/>
                        </a:rPr>
                        <m:t>𝑏</m:t>
                      </m:r>
                      <m:r>
                        <a:rPr lang="en-US" altLang="zh-TW" sz="2800" i="1" smtClean="0">
                          <a:solidFill>
                            <a:schemeClr val="accent2">
                              <a:lumMod val="75000"/>
                            </a:schemeClr>
                          </a:solidFill>
                          <a:latin typeface="Cambria Math" panose="02040503050406030204" pitchFamily="18" charset="0"/>
                        </a:rPr>
                        <m:t> </m:t>
                      </m:r>
                      <m:r>
                        <a:rPr lang="en-US" altLang="zh-TW" sz="2800" i="1">
                          <a:latin typeface="Cambria Math" panose="02040503050406030204" pitchFamily="18" charset="0"/>
                        </a:rPr>
                        <m:t>𝑎</m:t>
                      </m:r>
                      <m:r>
                        <a:rPr lang="en-US" altLang="zh-TW" sz="2800" i="1">
                          <a:latin typeface="Cambria Math" panose="02040503050406030204" pitchFamily="18" charset="0"/>
                        </a:rPr>
                        <m:t> </m:t>
                      </m:r>
                      <m:r>
                        <a:rPr lang="en-US" altLang="zh-TW" sz="2800" i="1">
                          <a:latin typeface="Cambria Math" panose="02040503050406030204" pitchFamily="18" charset="0"/>
                        </a:rPr>
                        <m:t>𝑐</m:t>
                      </m:r>
                      <m:r>
                        <a:rPr lang="en-US" altLang="zh-TW" sz="2800" i="1">
                          <a:latin typeface="Cambria Math" panose="02040503050406030204" pitchFamily="18" charset="0"/>
                        </a:rPr>
                        <m:t> </m:t>
                      </m:r>
                      <m:r>
                        <a:rPr lang="en-US" altLang="zh-TW" sz="2800" i="1">
                          <a:latin typeface="Cambria Math" panose="02040503050406030204" pitchFamily="18" charset="0"/>
                        </a:rPr>
                        <m:t>𝑐</m:t>
                      </m:r>
                    </m:oMath>
                  </m:oMathPara>
                </a14:m>
                <a:endParaRPr lang="zh-TW" altLang="en-US" sz="2800" i="1" dirty="0">
                  <a:latin typeface="Cambria Math" panose="02040503050406030204" pitchFamily="18" charset="0"/>
                </a:endParaRPr>
              </a:p>
            </p:txBody>
          </p:sp>
        </mc:Choice>
        <mc:Fallback xmlns="">
          <p:sp>
            <p:nvSpPr>
              <p:cNvPr id="59" name="矩形 58">
                <a:extLst>
                  <a:ext uri="{FF2B5EF4-FFF2-40B4-BE49-F238E27FC236}">
                    <a16:creationId xmlns:a16="http://schemas.microsoft.com/office/drawing/2014/main" id="{2BD86430-B394-45DE-B0E3-997442511121}"/>
                  </a:ext>
                </a:extLst>
              </p:cNvPr>
              <p:cNvSpPr>
                <a:spLocks noRot="1" noChangeAspect="1" noMove="1" noResize="1" noEditPoints="1" noAdjustHandles="1" noChangeArrowheads="1" noChangeShapeType="1" noTextEdit="1"/>
              </p:cNvSpPr>
              <p:nvPr/>
            </p:nvSpPr>
            <p:spPr>
              <a:xfrm>
                <a:off x="5435396" y="657393"/>
                <a:ext cx="3349828" cy="523220"/>
              </a:xfrm>
              <a:prstGeom prst="rect">
                <a:avLst/>
              </a:prstGeom>
              <a:blipFill>
                <a:blip r:embed="rId15"/>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7756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par>
                                <p:cTn id="8" presetID="10" presetClass="entr" presetSubtype="0" fill="hold"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fade">
                                      <p:cBhvr>
                                        <p:cTn id="10"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15</a:t>
            </a:fld>
            <a:endParaRPr lang="zh-TW" altLang="en-US" dirty="0"/>
          </a:p>
        </p:txBody>
      </p:sp>
      <p:sp>
        <p:nvSpPr>
          <p:cNvPr id="144" name="標題 1">
            <a:extLst>
              <a:ext uri="{FF2B5EF4-FFF2-40B4-BE49-F238E27FC236}">
                <a16:creationId xmlns:a16="http://schemas.microsoft.com/office/drawing/2014/main" id="{BEB4C4FE-92DC-49E9-BA31-B5B03EB1851E}"/>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First Round(After)</a:t>
            </a:r>
            <a:endParaRPr lang="zh-TW" altLang="en-US" sz="3200" dirty="0">
              <a:latin typeface="Times New Roman" panose="02020603050405020304" pitchFamily="18" charset="0"/>
              <a:cs typeface="Times New Roman" panose="02020603050405020304" pitchFamily="18" charset="0"/>
            </a:endParaRPr>
          </a:p>
        </p:txBody>
      </p:sp>
      <p:sp>
        <p:nvSpPr>
          <p:cNvPr id="15" name="內容版面配置區 6">
            <a:extLst>
              <a:ext uri="{FF2B5EF4-FFF2-40B4-BE49-F238E27FC236}">
                <a16:creationId xmlns:a16="http://schemas.microsoft.com/office/drawing/2014/main" id="{45387554-66BD-46A2-9CE4-80CF9ABB89B8}"/>
              </a:ext>
            </a:extLst>
          </p:cNvPr>
          <p:cNvSpPr txBox="1">
            <a:spLocks/>
          </p:cNvSpPr>
          <p:nvPr/>
        </p:nvSpPr>
        <p:spPr>
          <a:xfrm>
            <a:off x="471956" y="998092"/>
            <a:ext cx="8327572" cy="5553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TW" sz="2400" dirty="0">
                <a:latin typeface="Times New Roman" panose="02020603050405020304" pitchFamily="18" charset="0"/>
                <a:cs typeface="Times New Roman" panose="02020603050405020304" pitchFamily="18" charset="0"/>
              </a:rPr>
              <a:t>The Longest Prefix Bucket Array</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9" name="表格 8">
            <a:extLst>
              <a:ext uri="{FF2B5EF4-FFF2-40B4-BE49-F238E27FC236}">
                <a16:creationId xmlns:a16="http://schemas.microsoft.com/office/drawing/2014/main" id="{CED2CC08-5B0E-4719-A11B-2F1D84641CDB}"/>
              </a:ext>
            </a:extLst>
          </p:cNvPr>
          <p:cNvGraphicFramePr>
            <a:graphicFrameLocks noGrp="1"/>
          </p:cNvGraphicFramePr>
          <p:nvPr/>
        </p:nvGraphicFramePr>
        <p:xfrm>
          <a:off x="1367307" y="4823250"/>
          <a:ext cx="6095997" cy="37084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val="184306604"/>
                    </a:ext>
                  </a:extLst>
                </a:gridCol>
                <a:gridCol w="677333">
                  <a:extLst>
                    <a:ext uri="{9D8B030D-6E8A-4147-A177-3AD203B41FA5}">
                      <a16:colId xmlns:a16="http://schemas.microsoft.com/office/drawing/2014/main" val="1731048100"/>
                    </a:ext>
                  </a:extLst>
                </a:gridCol>
                <a:gridCol w="677333">
                  <a:extLst>
                    <a:ext uri="{9D8B030D-6E8A-4147-A177-3AD203B41FA5}">
                      <a16:colId xmlns:a16="http://schemas.microsoft.com/office/drawing/2014/main" val="1688476900"/>
                    </a:ext>
                  </a:extLst>
                </a:gridCol>
                <a:gridCol w="677333">
                  <a:extLst>
                    <a:ext uri="{9D8B030D-6E8A-4147-A177-3AD203B41FA5}">
                      <a16:colId xmlns:a16="http://schemas.microsoft.com/office/drawing/2014/main" val="1704851491"/>
                    </a:ext>
                  </a:extLst>
                </a:gridCol>
                <a:gridCol w="677333">
                  <a:extLst>
                    <a:ext uri="{9D8B030D-6E8A-4147-A177-3AD203B41FA5}">
                      <a16:colId xmlns:a16="http://schemas.microsoft.com/office/drawing/2014/main" val="1998974524"/>
                    </a:ext>
                  </a:extLst>
                </a:gridCol>
                <a:gridCol w="677333">
                  <a:extLst>
                    <a:ext uri="{9D8B030D-6E8A-4147-A177-3AD203B41FA5}">
                      <a16:colId xmlns:a16="http://schemas.microsoft.com/office/drawing/2014/main" val="3853749183"/>
                    </a:ext>
                  </a:extLst>
                </a:gridCol>
                <a:gridCol w="677333">
                  <a:extLst>
                    <a:ext uri="{9D8B030D-6E8A-4147-A177-3AD203B41FA5}">
                      <a16:colId xmlns:a16="http://schemas.microsoft.com/office/drawing/2014/main" val="391626377"/>
                    </a:ext>
                  </a:extLst>
                </a:gridCol>
                <a:gridCol w="677333">
                  <a:extLst>
                    <a:ext uri="{9D8B030D-6E8A-4147-A177-3AD203B41FA5}">
                      <a16:colId xmlns:a16="http://schemas.microsoft.com/office/drawing/2014/main" val="2559129209"/>
                    </a:ext>
                  </a:extLst>
                </a:gridCol>
                <a:gridCol w="677333">
                  <a:extLst>
                    <a:ext uri="{9D8B030D-6E8A-4147-A177-3AD203B41FA5}">
                      <a16:colId xmlns:a16="http://schemas.microsoft.com/office/drawing/2014/main" val="2227559916"/>
                    </a:ext>
                  </a:extLst>
                </a:gridCol>
              </a:tblGrid>
              <a:tr h="370840">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r>
                        <a:rPr lang="en-US" altLang="zh-TW" dirty="0"/>
                        <a:t>7</a:t>
                      </a:r>
                      <a:endParaRPr lang="zh-TW" altLang="en-US" dirty="0"/>
                    </a:p>
                  </a:txBody>
                  <a:tcPr anchor="ctr"/>
                </a:tc>
                <a:tc>
                  <a:txBody>
                    <a:bodyPr/>
                    <a:lstStyle/>
                    <a:p>
                      <a:pPr algn="ctr"/>
                      <a:r>
                        <a:rPr lang="en-US" altLang="zh-TW" dirty="0"/>
                        <a:t>8</a:t>
                      </a:r>
                      <a:endParaRPr lang="zh-TW" altLang="en-US" dirty="0"/>
                    </a:p>
                  </a:txBody>
                  <a:tcPr anchor="ctr"/>
                </a:tc>
                <a:tc>
                  <a:txBody>
                    <a:bodyPr/>
                    <a:lstStyle/>
                    <a:p>
                      <a:pPr algn="ctr"/>
                      <a:r>
                        <a:rPr lang="en-US" altLang="zh-TW" dirty="0"/>
                        <a:t>9</a:t>
                      </a:r>
                      <a:endParaRPr lang="zh-TW" altLang="en-US" dirty="0"/>
                    </a:p>
                  </a:txBody>
                  <a:tcPr anchor="ctr"/>
                </a:tc>
                <a:extLst>
                  <a:ext uri="{0D108BD9-81ED-4DB2-BD59-A6C34878D82A}">
                    <a16:rowId xmlns:a16="http://schemas.microsoft.com/office/drawing/2014/main" val="2394764283"/>
                  </a:ext>
                </a:extLst>
              </a:tr>
            </a:tbl>
          </a:graphicData>
        </a:graphic>
      </p:graphicFrame>
      <p:sp>
        <p:nvSpPr>
          <p:cNvPr id="10" name="橢圓 9">
            <a:extLst>
              <a:ext uri="{FF2B5EF4-FFF2-40B4-BE49-F238E27FC236}">
                <a16:creationId xmlns:a16="http://schemas.microsoft.com/office/drawing/2014/main" id="{2AD86059-AAAA-4132-AB59-36CF8F683D3C}"/>
              </a:ext>
            </a:extLst>
          </p:cNvPr>
          <p:cNvSpPr/>
          <p:nvPr/>
        </p:nvSpPr>
        <p:spPr>
          <a:xfrm>
            <a:off x="2796235" y="4782296"/>
            <a:ext cx="502524" cy="943012"/>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7" name="直線單箭頭接點 16">
            <a:extLst>
              <a:ext uri="{FF2B5EF4-FFF2-40B4-BE49-F238E27FC236}">
                <a16:creationId xmlns:a16="http://schemas.microsoft.com/office/drawing/2014/main" id="{F49A02D6-DBBA-4FD9-8857-8DD266D83D5F}"/>
              </a:ext>
            </a:extLst>
          </p:cNvPr>
          <p:cNvCxnSpPr>
            <a:cxnSpLocks/>
          </p:cNvCxnSpPr>
          <p:nvPr/>
        </p:nvCxnSpPr>
        <p:spPr>
          <a:xfrm>
            <a:off x="1711842"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52948B29-4E80-40E8-AE4D-3B8F1E85EC7C}"/>
                  </a:ext>
                </a:extLst>
              </p:cNvPr>
              <p:cNvSpPr/>
              <p:nvPr/>
            </p:nvSpPr>
            <p:spPr>
              <a:xfrm>
                <a:off x="1476906" y="5355976"/>
                <a:ext cx="4698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1</m:t>
                          </m:r>
                        </m:sub>
                      </m:sSub>
                    </m:oMath>
                  </m:oMathPara>
                </a14:m>
                <a:endParaRPr lang="zh-TW" altLang="en-US" i="1" dirty="0">
                  <a:solidFill>
                    <a:srgbClr val="FF0000"/>
                  </a:solidFill>
                  <a:latin typeface="Cambria Math" panose="02040503050406030204" pitchFamily="18" charset="0"/>
                </a:endParaRPr>
              </a:p>
            </p:txBody>
          </p:sp>
        </mc:Choice>
        <mc:Fallback xmlns="">
          <p:sp>
            <p:nvSpPr>
              <p:cNvPr id="27" name="矩形 26">
                <a:extLst>
                  <a:ext uri="{FF2B5EF4-FFF2-40B4-BE49-F238E27FC236}">
                    <a16:creationId xmlns:a16="http://schemas.microsoft.com/office/drawing/2014/main" id="{52948B29-4E80-40E8-AE4D-3B8F1E85EC7C}"/>
                  </a:ext>
                </a:extLst>
              </p:cNvPr>
              <p:cNvSpPr>
                <a:spLocks noRot="1" noChangeAspect="1" noMove="1" noResize="1" noEditPoints="1" noAdjustHandles="1" noChangeArrowheads="1" noChangeShapeType="1" noTextEdit="1"/>
              </p:cNvSpPr>
              <p:nvPr/>
            </p:nvSpPr>
            <p:spPr>
              <a:xfrm>
                <a:off x="1476906" y="5355976"/>
                <a:ext cx="469872" cy="369332"/>
              </a:xfrm>
              <a:prstGeom prst="rect">
                <a:avLst/>
              </a:prstGeom>
              <a:blipFill>
                <a:blip r:embed="rId3"/>
                <a:stretch>
                  <a:fillRect b="-1667"/>
                </a:stretch>
              </a:blipFill>
            </p:spPr>
            <p:txBody>
              <a:bodyPr/>
              <a:lstStyle/>
              <a:p>
                <a:r>
                  <a:rPr lang="zh-TW" altLang="en-US">
                    <a:noFill/>
                  </a:rPr>
                  <a:t> </a:t>
                </a:r>
              </a:p>
            </p:txBody>
          </p:sp>
        </mc:Fallback>
      </mc:AlternateContent>
      <p:grpSp>
        <p:nvGrpSpPr>
          <p:cNvPr id="20" name="群組 19">
            <a:extLst>
              <a:ext uri="{FF2B5EF4-FFF2-40B4-BE49-F238E27FC236}">
                <a16:creationId xmlns:a16="http://schemas.microsoft.com/office/drawing/2014/main" id="{AC07034D-5FBB-4C1A-9F30-1627D60023CE}"/>
              </a:ext>
            </a:extLst>
          </p:cNvPr>
          <p:cNvGrpSpPr/>
          <p:nvPr/>
        </p:nvGrpSpPr>
        <p:grpSpPr>
          <a:xfrm>
            <a:off x="2142041" y="5194090"/>
            <a:ext cx="475195" cy="531218"/>
            <a:chOff x="2142041" y="5194090"/>
            <a:chExt cx="475195" cy="531218"/>
          </a:xfrm>
        </p:grpSpPr>
        <p:cxnSp>
          <p:nvCxnSpPr>
            <p:cNvPr id="30" name="直線單箭頭接點 29">
              <a:extLst>
                <a:ext uri="{FF2B5EF4-FFF2-40B4-BE49-F238E27FC236}">
                  <a16:creationId xmlns:a16="http://schemas.microsoft.com/office/drawing/2014/main" id="{0095A320-6347-4D2C-865A-333D9C149A16}"/>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AE26580E-D880-4367-A6CA-146D492FBCB2}"/>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2</m:t>
                            </m:r>
                          </m:sub>
                        </m:sSub>
                      </m:oMath>
                    </m:oMathPara>
                  </a14:m>
                  <a:endParaRPr lang="zh-TW" altLang="en-US" i="1" dirty="0">
                    <a:solidFill>
                      <a:srgbClr val="FF0000"/>
                    </a:solidFill>
                    <a:latin typeface="Cambria Math" panose="02040503050406030204" pitchFamily="18" charset="0"/>
                  </a:endParaRPr>
                </a:p>
              </p:txBody>
            </p:sp>
          </mc:Choice>
          <mc:Fallback xmlns="">
            <p:sp>
              <p:nvSpPr>
                <p:cNvPr id="31" name="矩形 30">
                  <a:extLst>
                    <a:ext uri="{FF2B5EF4-FFF2-40B4-BE49-F238E27FC236}">
                      <a16:creationId xmlns:a16="http://schemas.microsoft.com/office/drawing/2014/main" id="{AE26580E-D880-4367-A6CA-146D492FBCB2}"/>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4"/>
                  <a:stretch>
                    <a:fillRect b="-1667"/>
                  </a:stretch>
                </a:blipFill>
              </p:spPr>
              <p:txBody>
                <a:bodyPr/>
                <a:lstStyle/>
                <a:p>
                  <a:r>
                    <a:rPr lang="zh-TW" altLang="en-US">
                      <a:noFill/>
                    </a:rPr>
                    <a:t> </a:t>
                  </a:r>
                </a:p>
              </p:txBody>
            </p:sp>
          </mc:Fallback>
        </mc:AlternateContent>
      </p:grpSp>
      <p:grpSp>
        <p:nvGrpSpPr>
          <p:cNvPr id="35" name="群組 34">
            <a:extLst>
              <a:ext uri="{FF2B5EF4-FFF2-40B4-BE49-F238E27FC236}">
                <a16:creationId xmlns:a16="http://schemas.microsoft.com/office/drawing/2014/main" id="{C6D22B99-DB6B-45DA-BFD4-6474FC86C3B9}"/>
              </a:ext>
            </a:extLst>
          </p:cNvPr>
          <p:cNvGrpSpPr/>
          <p:nvPr/>
        </p:nvGrpSpPr>
        <p:grpSpPr>
          <a:xfrm>
            <a:off x="2823569" y="5194090"/>
            <a:ext cx="475195" cy="531218"/>
            <a:chOff x="2142041" y="5194090"/>
            <a:chExt cx="475195" cy="531218"/>
          </a:xfrm>
        </p:grpSpPr>
        <p:cxnSp>
          <p:nvCxnSpPr>
            <p:cNvPr id="36" name="直線單箭頭接點 35">
              <a:extLst>
                <a:ext uri="{FF2B5EF4-FFF2-40B4-BE49-F238E27FC236}">
                  <a16:creationId xmlns:a16="http://schemas.microsoft.com/office/drawing/2014/main" id="{5AC47D69-E7CD-4A5C-93BC-DDBE17DA0933}"/>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410090F0-1457-46BF-9121-7F320E7D0005}"/>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4</m:t>
                            </m:r>
                          </m:sub>
                        </m:sSub>
                      </m:oMath>
                    </m:oMathPara>
                  </a14:m>
                  <a:endParaRPr lang="zh-TW" altLang="en-US" i="1" dirty="0">
                    <a:solidFill>
                      <a:srgbClr val="FF0000"/>
                    </a:solidFill>
                    <a:latin typeface="Cambria Math" panose="02040503050406030204" pitchFamily="18" charset="0"/>
                  </a:endParaRPr>
                </a:p>
              </p:txBody>
            </p:sp>
          </mc:Choice>
          <mc:Fallback xmlns="">
            <p:sp>
              <p:nvSpPr>
                <p:cNvPr id="37" name="矩形 36">
                  <a:extLst>
                    <a:ext uri="{FF2B5EF4-FFF2-40B4-BE49-F238E27FC236}">
                      <a16:creationId xmlns:a16="http://schemas.microsoft.com/office/drawing/2014/main" id="{410090F0-1457-46BF-9121-7F320E7D0005}"/>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5"/>
                  <a:stretch>
                    <a:fillRect b="-1667"/>
                  </a:stretch>
                </a:blipFill>
              </p:spPr>
              <p:txBody>
                <a:bodyPr/>
                <a:lstStyle/>
                <a:p>
                  <a:r>
                    <a:rPr lang="zh-TW" altLang="en-US">
                      <a:noFill/>
                    </a:rPr>
                    <a:t> </a:t>
                  </a:r>
                </a:p>
              </p:txBody>
            </p:sp>
          </mc:Fallback>
        </mc:AlternateContent>
      </p:grpSp>
      <p:grpSp>
        <p:nvGrpSpPr>
          <p:cNvPr id="41" name="群組 40">
            <a:extLst>
              <a:ext uri="{FF2B5EF4-FFF2-40B4-BE49-F238E27FC236}">
                <a16:creationId xmlns:a16="http://schemas.microsoft.com/office/drawing/2014/main" id="{93275F92-A4E8-460F-ACC9-50615CD3D895}"/>
              </a:ext>
            </a:extLst>
          </p:cNvPr>
          <p:cNvGrpSpPr/>
          <p:nvPr/>
        </p:nvGrpSpPr>
        <p:grpSpPr>
          <a:xfrm>
            <a:off x="2142041" y="5725308"/>
            <a:ext cx="475195" cy="531218"/>
            <a:chOff x="2142041" y="5194090"/>
            <a:chExt cx="475195" cy="531218"/>
          </a:xfrm>
        </p:grpSpPr>
        <p:cxnSp>
          <p:nvCxnSpPr>
            <p:cNvPr id="42" name="直線單箭頭接點 41">
              <a:extLst>
                <a:ext uri="{FF2B5EF4-FFF2-40B4-BE49-F238E27FC236}">
                  <a16:creationId xmlns:a16="http://schemas.microsoft.com/office/drawing/2014/main" id="{07A5211C-6FA0-42A7-9A25-C0FADCAC0D5E}"/>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E21F4AA1-7069-4511-B895-7302B6AD7BD3}"/>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3</m:t>
                            </m:r>
                          </m:sub>
                        </m:sSub>
                      </m:oMath>
                    </m:oMathPara>
                  </a14:m>
                  <a:endParaRPr lang="zh-TW" altLang="en-US" i="1" dirty="0">
                    <a:solidFill>
                      <a:srgbClr val="FF0000"/>
                    </a:solidFill>
                    <a:latin typeface="Cambria Math" panose="02040503050406030204" pitchFamily="18" charset="0"/>
                  </a:endParaRPr>
                </a:p>
              </p:txBody>
            </p:sp>
          </mc:Choice>
          <mc:Fallback xmlns="">
            <p:sp>
              <p:nvSpPr>
                <p:cNvPr id="43" name="矩形 42">
                  <a:extLst>
                    <a:ext uri="{FF2B5EF4-FFF2-40B4-BE49-F238E27FC236}">
                      <a16:creationId xmlns:a16="http://schemas.microsoft.com/office/drawing/2014/main" id="{E21F4AA1-7069-4511-B895-7302B6AD7BD3}"/>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6"/>
                  <a:stretch>
                    <a:fillRect b="-1667"/>
                  </a:stretch>
                </a:blipFill>
              </p:spPr>
              <p:txBody>
                <a:bodyPr/>
                <a:lstStyle/>
                <a:p>
                  <a:r>
                    <a:rPr lang="zh-TW" altLang="en-US">
                      <a:noFill/>
                    </a:rPr>
                    <a:t> </a:t>
                  </a:r>
                </a:p>
              </p:txBody>
            </p:sp>
          </mc:Fallback>
        </mc:AlternateContent>
      </p:grpSp>
      <p:grpSp>
        <p:nvGrpSpPr>
          <p:cNvPr id="47" name="群組 46">
            <a:extLst>
              <a:ext uri="{FF2B5EF4-FFF2-40B4-BE49-F238E27FC236}">
                <a16:creationId xmlns:a16="http://schemas.microsoft.com/office/drawing/2014/main" id="{B2ECAEA9-B93C-48C5-84FD-C047B18B816E}"/>
              </a:ext>
            </a:extLst>
          </p:cNvPr>
          <p:cNvGrpSpPr/>
          <p:nvPr/>
        </p:nvGrpSpPr>
        <p:grpSpPr>
          <a:xfrm>
            <a:off x="2823569" y="5725308"/>
            <a:ext cx="475195" cy="531218"/>
            <a:chOff x="2142041" y="5194090"/>
            <a:chExt cx="475195" cy="531218"/>
          </a:xfrm>
        </p:grpSpPr>
        <p:cxnSp>
          <p:nvCxnSpPr>
            <p:cNvPr id="48" name="直線單箭頭接點 47">
              <a:extLst>
                <a:ext uri="{FF2B5EF4-FFF2-40B4-BE49-F238E27FC236}">
                  <a16:creationId xmlns:a16="http://schemas.microsoft.com/office/drawing/2014/main" id="{265CA813-48E7-4530-BE85-4DA212019DC3}"/>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矩形 48">
                  <a:extLst>
                    <a:ext uri="{FF2B5EF4-FFF2-40B4-BE49-F238E27FC236}">
                      <a16:creationId xmlns:a16="http://schemas.microsoft.com/office/drawing/2014/main" id="{7B4CF5AA-D264-4261-9013-2C33A67C7755}"/>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5</m:t>
                            </m:r>
                          </m:sub>
                        </m:sSub>
                      </m:oMath>
                    </m:oMathPara>
                  </a14:m>
                  <a:endParaRPr lang="zh-TW" altLang="en-US" i="1" dirty="0">
                    <a:solidFill>
                      <a:srgbClr val="FF0000"/>
                    </a:solidFill>
                    <a:latin typeface="Cambria Math" panose="02040503050406030204" pitchFamily="18" charset="0"/>
                  </a:endParaRPr>
                </a:p>
              </p:txBody>
            </p:sp>
          </mc:Choice>
          <mc:Fallback xmlns="">
            <p:sp>
              <p:nvSpPr>
                <p:cNvPr id="49" name="矩形 48">
                  <a:extLst>
                    <a:ext uri="{FF2B5EF4-FFF2-40B4-BE49-F238E27FC236}">
                      <a16:creationId xmlns:a16="http://schemas.microsoft.com/office/drawing/2014/main" id="{7B4CF5AA-D264-4261-9013-2C33A67C7755}"/>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7"/>
                  <a:stretch>
                    <a:fillRect b="-1667"/>
                  </a:stretch>
                </a:blipFill>
              </p:spPr>
              <p:txBody>
                <a:bodyPr/>
                <a:lstStyle/>
                <a:p>
                  <a:r>
                    <a:rPr lang="zh-TW" altLang="en-US">
                      <a:noFill/>
                    </a:rPr>
                    <a:t> </a:t>
                  </a:r>
                </a:p>
              </p:txBody>
            </p:sp>
          </mc:Fallback>
        </mc:AlternateContent>
      </p:grpSp>
      <p:sp>
        <p:nvSpPr>
          <p:cNvPr id="54" name="標題 1">
            <a:extLst>
              <a:ext uri="{FF2B5EF4-FFF2-40B4-BE49-F238E27FC236}">
                <a16:creationId xmlns:a16="http://schemas.microsoft.com/office/drawing/2014/main" id="{720553EE-86C9-44EA-999B-DD03298955BF}"/>
              </a:ext>
            </a:extLst>
          </p:cNvPr>
          <p:cNvSpPr txBox="1">
            <a:spLocks/>
          </p:cNvSpPr>
          <p:nvPr/>
        </p:nvSpPr>
        <p:spPr>
          <a:xfrm>
            <a:off x="4976176" y="5355976"/>
            <a:ext cx="1100153" cy="58336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002060"/>
                </a:solidFill>
                <a:latin typeface="Gill Sans MT" panose="020B0502020104020203" pitchFamily="34" charset="0"/>
                <a:cs typeface="Times New Roman" panose="02020603050405020304" pitchFamily="18" charset="0"/>
              </a:rPr>
              <a:t>Maximal Pointer</a:t>
            </a:r>
            <a:endParaRPr lang="zh-TW" altLang="en-US" sz="2000" b="1" dirty="0">
              <a:solidFill>
                <a:srgbClr val="002060"/>
              </a:solidFill>
              <a:latin typeface="Gill Sans MT" panose="020B0502020104020203" pitchFamily="34" charset="0"/>
              <a:cs typeface="Times New Roman" panose="02020603050405020304" pitchFamily="18" charset="0"/>
            </a:endParaRPr>
          </a:p>
        </p:txBody>
      </p:sp>
      <p:cxnSp>
        <p:nvCxnSpPr>
          <p:cNvPr id="58" name="直線單箭頭接點 57">
            <a:extLst>
              <a:ext uri="{FF2B5EF4-FFF2-40B4-BE49-F238E27FC236}">
                <a16:creationId xmlns:a16="http://schemas.microsoft.com/office/drawing/2014/main" id="{375C7430-0270-4875-8C9B-5BE494AF75E6}"/>
              </a:ext>
            </a:extLst>
          </p:cNvPr>
          <p:cNvCxnSpPr>
            <a:cxnSpLocks/>
            <a:stCxn id="54" idx="1"/>
          </p:cNvCxnSpPr>
          <p:nvPr/>
        </p:nvCxnSpPr>
        <p:spPr>
          <a:xfrm flipH="1" flipV="1">
            <a:off x="3210906" y="5087415"/>
            <a:ext cx="1765270" cy="56024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pic>
        <p:nvPicPr>
          <p:cNvPr id="2" name="圖片 1">
            <a:extLst>
              <a:ext uri="{FF2B5EF4-FFF2-40B4-BE49-F238E27FC236}">
                <a16:creationId xmlns:a16="http://schemas.microsoft.com/office/drawing/2014/main" id="{E184D136-32A0-40D7-9DBA-DCE7660890FE}"/>
              </a:ext>
            </a:extLst>
          </p:cNvPr>
          <p:cNvPicPr>
            <a:picLocks noChangeAspect="1"/>
          </p:cNvPicPr>
          <p:nvPr/>
        </p:nvPicPr>
        <p:blipFill rotWithShape="1">
          <a:blip r:embed="rId8"/>
          <a:srcRect l="3577" t="6833" r="2656" b="33999"/>
          <a:stretch/>
        </p:blipFill>
        <p:spPr>
          <a:xfrm>
            <a:off x="1265273" y="1581458"/>
            <a:ext cx="6570921" cy="3079905"/>
          </a:xfrm>
          <a:prstGeom prst="rect">
            <a:avLst/>
          </a:prstGeom>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27449843-9733-434E-BE30-4226E1B4EDEA}"/>
                  </a:ext>
                </a:extLst>
              </p:cNvPr>
              <p:cNvSpPr/>
              <p:nvPr/>
            </p:nvSpPr>
            <p:spPr>
              <a:xfrm>
                <a:off x="4276451" y="5987019"/>
                <a:ext cx="1511952"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partition: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𝑎𝑎𝑏</m:t>
                    </m:r>
                    <m:r>
                      <a:rPr lang="en-US" altLang="zh-TW" i="1" dirty="0" smtClean="0">
                        <a:latin typeface="Cambria Math" panose="02040503050406030204" pitchFamily="18" charset="0"/>
                        <a:cs typeface="Times New Roman" panose="02020603050405020304" pitchFamily="18" charset="0"/>
                      </a:rPr>
                      <m:t> </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27449843-9733-434E-BE30-4226E1B4EDEA}"/>
                  </a:ext>
                </a:extLst>
              </p:cNvPr>
              <p:cNvSpPr>
                <a:spLocks noRot="1" noChangeAspect="1" noMove="1" noResize="1" noEditPoints="1" noAdjustHandles="1" noChangeArrowheads="1" noChangeShapeType="1" noTextEdit="1"/>
              </p:cNvSpPr>
              <p:nvPr/>
            </p:nvSpPr>
            <p:spPr>
              <a:xfrm>
                <a:off x="4276451" y="5987019"/>
                <a:ext cx="1511952" cy="369332"/>
              </a:xfrm>
              <a:prstGeom prst="rect">
                <a:avLst/>
              </a:prstGeom>
              <a:blipFill>
                <a:blip r:embed="rId9"/>
                <a:stretch>
                  <a:fillRect l="-3629"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E4732B46-2F72-40B9-A76E-D04162253CD0}"/>
                  </a:ext>
                </a:extLst>
              </p:cNvPr>
              <p:cNvSpPr/>
              <p:nvPr/>
            </p:nvSpPr>
            <p:spPr>
              <a:xfrm>
                <a:off x="5435396" y="226124"/>
                <a:ext cx="332969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𝑏</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trike="sngStrike" smtClean="0">
                          <a:solidFill>
                            <a:schemeClr val="accent2">
                              <a:lumMod val="75000"/>
                            </a:schemeClr>
                          </a:solidFill>
                          <a:latin typeface="Cambria Math" panose="02040503050406030204" pitchFamily="18" charset="0"/>
                        </a:rPr>
                        <m:t>𝑎</m:t>
                      </m:r>
                      <m:r>
                        <a:rPr lang="en-US" altLang="zh-TW" sz="2800" b="0" i="1" strike="sngStrike" smtClean="0">
                          <a:solidFill>
                            <a:schemeClr val="accent2">
                              <a:lumMod val="75000"/>
                            </a:schemeClr>
                          </a:solidFill>
                          <a:latin typeface="Cambria Math" panose="02040503050406030204" pitchFamily="18" charset="0"/>
                        </a:rPr>
                        <m:t> </m:t>
                      </m:r>
                      <m:r>
                        <a:rPr lang="en-US" altLang="zh-TW" sz="2800" b="0" i="1" strike="sngStrike" smtClean="0">
                          <a:solidFill>
                            <a:schemeClr val="accent2">
                              <a:lumMod val="75000"/>
                            </a:schemeClr>
                          </a:solidFill>
                          <a:latin typeface="Cambria Math" panose="02040503050406030204" pitchFamily="18" charset="0"/>
                        </a:rPr>
                        <m:t>𝑎</m:t>
                      </m:r>
                      <m:r>
                        <a:rPr lang="en-US" altLang="zh-TW" sz="2800" b="0" i="1" strike="sngStrike" smtClean="0">
                          <a:solidFill>
                            <a:schemeClr val="accent2">
                              <a:lumMod val="75000"/>
                            </a:schemeClr>
                          </a:solidFill>
                          <a:latin typeface="Cambria Math" panose="02040503050406030204" pitchFamily="18" charset="0"/>
                        </a:rPr>
                        <m:t> </m:t>
                      </m:r>
                      <m:r>
                        <a:rPr lang="en-US" altLang="zh-TW" sz="2800" b="0" i="1" strike="sngStrike" smtClean="0">
                          <a:solidFill>
                            <a:schemeClr val="accent2">
                              <a:lumMod val="75000"/>
                            </a:schemeClr>
                          </a:solidFill>
                          <a:latin typeface="Cambria Math" panose="02040503050406030204" pitchFamily="18" charset="0"/>
                        </a:rPr>
                        <m:t>𝑏</m:t>
                      </m:r>
                    </m:oMath>
                  </m:oMathPara>
                </a14:m>
                <a:endParaRPr lang="zh-TW" altLang="en-US" sz="2800" strike="sngStrike" dirty="0"/>
              </a:p>
            </p:txBody>
          </p:sp>
        </mc:Choice>
        <mc:Fallback xmlns="">
          <p:sp>
            <p:nvSpPr>
              <p:cNvPr id="33" name="矩形 32">
                <a:extLst>
                  <a:ext uri="{FF2B5EF4-FFF2-40B4-BE49-F238E27FC236}">
                    <a16:creationId xmlns:a16="http://schemas.microsoft.com/office/drawing/2014/main" id="{E4732B46-2F72-40B9-A76E-D04162253CD0}"/>
                  </a:ext>
                </a:extLst>
              </p:cNvPr>
              <p:cNvSpPr>
                <a:spLocks noRot="1" noChangeAspect="1" noMove="1" noResize="1" noEditPoints="1" noAdjustHandles="1" noChangeArrowheads="1" noChangeShapeType="1" noTextEdit="1"/>
              </p:cNvSpPr>
              <p:nvPr/>
            </p:nvSpPr>
            <p:spPr>
              <a:xfrm>
                <a:off x="5435396" y="226124"/>
                <a:ext cx="3329694" cy="523220"/>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id="{6F7CDAEF-39FD-4E9B-A2E2-92A8DC59B19C}"/>
                  </a:ext>
                </a:extLst>
              </p:cNvPr>
              <p:cNvSpPr/>
              <p:nvPr/>
            </p:nvSpPr>
            <p:spPr>
              <a:xfrm>
                <a:off x="5435396" y="657393"/>
                <a:ext cx="334982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𝑇</m:t>
                      </m:r>
                      <m:r>
                        <a:rPr lang="en-US" altLang="zh-TW" sz="2800" i="1">
                          <a:latin typeface="Cambria Math" panose="02040503050406030204" pitchFamily="18" charset="0"/>
                        </a:rPr>
                        <m:t>=</m:t>
                      </m:r>
                      <m:r>
                        <a:rPr lang="en-US" altLang="zh-TW" sz="2800" i="1">
                          <a:latin typeface="Cambria Math" panose="02040503050406030204" pitchFamily="18" charset="0"/>
                        </a:rPr>
                        <m:t>𝑐</m:t>
                      </m:r>
                      <m:r>
                        <a:rPr lang="en-US" altLang="zh-TW" sz="2800" i="1">
                          <a:latin typeface="Cambria Math" panose="02040503050406030204" pitchFamily="18" charset="0"/>
                        </a:rPr>
                        <m:t> </m:t>
                      </m:r>
                      <m:r>
                        <a:rPr lang="en-US" altLang="zh-TW" sz="2800" i="1">
                          <a:latin typeface="Cambria Math" panose="02040503050406030204" pitchFamily="18" charset="0"/>
                        </a:rPr>
                        <m:t>𝑎</m:t>
                      </m:r>
                      <m:r>
                        <a:rPr lang="en-US" altLang="zh-TW" sz="2800" i="1">
                          <a:latin typeface="Cambria Math" panose="02040503050406030204" pitchFamily="18" charset="0"/>
                        </a:rPr>
                        <m:t> </m:t>
                      </m:r>
                      <m:r>
                        <a:rPr lang="en-US" altLang="zh-TW" sz="2800" i="1">
                          <a:latin typeface="Cambria Math" panose="02040503050406030204" pitchFamily="18" charset="0"/>
                        </a:rPr>
                        <m:t>𝑏</m:t>
                      </m:r>
                      <m:r>
                        <a:rPr lang="en-US" altLang="zh-TW" sz="2800" i="1">
                          <a:latin typeface="Cambria Math" panose="02040503050406030204" pitchFamily="18" charset="0"/>
                        </a:rPr>
                        <m:t> </m:t>
                      </m:r>
                      <m:r>
                        <a:rPr lang="en-US" altLang="zh-TW" sz="2800" i="1" strike="sngStrike" smtClean="0">
                          <a:solidFill>
                            <a:schemeClr val="accent2">
                              <a:lumMod val="75000"/>
                            </a:schemeClr>
                          </a:solidFill>
                          <a:latin typeface="Cambria Math" panose="02040503050406030204" pitchFamily="18" charset="0"/>
                        </a:rPr>
                        <m:t>𝑎</m:t>
                      </m:r>
                      <m:r>
                        <a:rPr lang="en-US" altLang="zh-TW" sz="2800" i="1" strike="sngStrike" smtClean="0">
                          <a:solidFill>
                            <a:schemeClr val="accent2">
                              <a:lumMod val="75000"/>
                            </a:schemeClr>
                          </a:solidFill>
                          <a:latin typeface="Cambria Math" panose="02040503050406030204" pitchFamily="18" charset="0"/>
                        </a:rPr>
                        <m:t> </m:t>
                      </m:r>
                      <m:r>
                        <a:rPr lang="en-US" altLang="zh-TW" sz="2800" i="1" strike="sngStrike" smtClean="0">
                          <a:solidFill>
                            <a:schemeClr val="accent2">
                              <a:lumMod val="75000"/>
                            </a:schemeClr>
                          </a:solidFill>
                          <a:latin typeface="Cambria Math" panose="02040503050406030204" pitchFamily="18" charset="0"/>
                        </a:rPr>
                        <m:t>𝑎</m:t>
                      </m:r>
                      <m:r>
                        <a:rPr lang="en-US" altLang="zh-TW" sz="2800" i="1" strike="sngStrike" smtClean="0">
                          <a:solidFill>
                            <a:schemeClr val="accent2">
                              <a:lumMod val="75000"/>
                            </a:schemeClr>
                          </a:solidFill>
                          <a:latin typeface="Cambria Math" panose="02040503050406030204" pitchFamily="18" charset="0"/>
                        </a:rPr>
                        <m:t> </m:t>
                      </m:r>
                      <m:r>
                        <a:rPr lang="en-US" altLang="zh-TW" sz="2800" i="1" strike="sngStrike" smtClean="0">
                          <a:solidFill>
                            <a:schemeClr val="accent2">
                              <a:lumMod val="75000"/>
                            </a:schemeClr>
                          </a:solidFill>
                          <a:latin typeface="Cambria Math" panose="02040503050406030204" pitchFamily="18" charset="0"/>
                        </a:rPr>
                        <m:t>𝑏</m:t>
                      </m:r>
                      <m:r>
                        <a:rPr lang="en-US" altLang="zh-TW" sz="2800" i="1">
                          <a:solidFill>
                            <a:schemeClr val="accent2">
                              <a:lumMod val="75000"/>
                            </a:schemeClr>
                          </a:solidFill>
                          <a:latin typeface="Cambria Math" panose="02040503050406030204" pitchFamily="18" charset="0"/>
                        </a:rPr>
                        <m:t> </m:t>
                      </m:r>
                      <m:r>
                        <a:rPr lang="en-US" altLang="zh-TW" sz="2800" i="1">
                          <a:latin typeface="Cambria Math" panose="02040503050406030204" pitchFamily="18" charset="0"/>
                        </a:rPr>
                        <m:t>𝑎</m:t>
                      </m:r>
                      <m:r>
                        <a:rPr lang="en-US" altLang="zh-TW" sz="2800" i="1">
                          <a:latin typeface="Cambria Math" panose="02040503050406030204" pitchFamily="18" charset="0"/>
                        </a:rPr>
                        <m:t> </m:t>
                      </m:r>
                      <m:r>
                        <a:rPr lang="en-US" altLang="zh-TW" sz="2800" i="1">
                          <a:latin typeface="Cambria Math" panose="02040503050406030204" pitchFamily="18" charset="0"/>
                        </a:rPr>
                        <m:t>𝑐</m:t>
                      </m:r>
                      <m:r>
                        <a:rPr lang="en-US" altLang="zh-TW" sz="2800" i="1">
                          <a:latin typeface="Cambria Math" panose="02040503050406030204" pitchFamily="18" charset="0"/>
                        </a:rPr>
                        <m:t> </m:t>
                      </m:r>
                      <m:r>
                        <a:rPr lang="en-US" altLang="zh-TW" sz="2800" i="1">
                          <a:latin typeface="Cambria Math" panose="02040503050406030204" pitchFamily="18" charset="0"/>
                        </a:rPr>
                        <m:t>𝑐</m:t>
                      </m:r>
                    </m:oMath>
                  </m:oMathPara>
                </a14:m>
                <a:endParaRPr lang="zh-TW" altLang="en-US" sz="2800" i="1" dirty="0">
                  <a:latin typeface="Cambria Math" panose="02040503050406030204" pitchFamily="18" charset="0"/>
                </a:endParaRPr>
              </a:p>
            </p:txBody>
          </p:sp>
        </mc:Choice>
        <mc:Fallback xmlns="">
          <p:sp>
            <p:nvSpPr>
              <p:cNvPr id="34" name="矩形 33">
                <a:extLst>
                  <a:ext uri="{FF2B5EF4-FFF2-40B4-BE49-F238E27FC236}">
                    <a16:creationId xmlns:a16="http://schemas.microsoft.com/office/drawing/2014/main" id="{6F7CDAEF-39FD-4E9B-A2E2-92A8DC59B19C}"/>
                  </a:ext>
                </a:extLst>
              </p:cNvPr>
              <p:cNvSpPr>
                <a:spLocks noRot="1" noChangeAspect="1" noMove="1" noResize="1" noEditPoints="1" noAdjustHandles="1" noChangeArrowheads="1" noChangeShapeType="1" noTextEdit="1"/>
              </p:cNvSpPr>
              <p:nvPr/>
            </p:nvSpPr>
            <p:spPr>
              <a:xfrm>
                <a:off x="5435396" y="657393"/>
                <a:ext cx="3349828" cy="523220"/>
              </a:xfrm>
              <a:prstGeom prst="rect">
                <a:avLst/>
              </a:prstGeom>
              <a:blipFill>
                <a:blip r:embed="rId11"/>
                <a:stretch>
                  <a:fillRect/>
                </a:stretch>
              </a:blipFill>
            </p:spPr>
            <p:txBody>
              <a:bodyPr/>
              <a:lstStyle/>
              <a:p>
                <a:r>
                  <a:rPr lang="zh-TW" altLang="en-US">
                    <a:noFill/>
                  </a:rPr>
                  <a:t> </a:t>
                </a:r>
              </a:p>
            </p:txBody>
          </p:sp>
        </mc:Fallback>
      </mc:AlternateContent>
      <p:cxnSp>
        <p:nvCxnSpPr>
          <p:cNvPr id="38" name="直線接點 37">
            <a:extLst>
              <a:ext uri="{FF2B5EF4-FFF2-40B4-BE49-F238E27FC236}">
                <a16:creationId xmlns:a16="http://schemas.microsoft.com/office/drawing/2014/main" id="{031B58BE-4990-4ADE-8687-6274613D30EA}"/>
              </a:ext>
            </a:extLst>
          </p:cNvPr>
          <p:cNvCxnSpPr>
            <a:cxnSpLocks/>
          </p:cNvCxnSpPr>
          <p:nvPr/>
        </p:nvCxnSpPr>
        <p:spPr>
          <a:xfrm>
            <a:off x="7322870" y="3202480"/>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id="{74BDE3F0-6BE8-485F-803F-6FEAFA2B0DC4}"/>
              </a:ext>
            </a:extLst>
          </p:cNvPr>
          <p:cNvCxnSpPr>
            <a:cxnSpLocks/>
          </p:cNvCxnSpPr>
          <p:nvPr/>
        </p:nvCxnSpPr>
        <p:spPr>
          <a:xfrm>
            <a:off x="5647969" y="4130146"/>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94B7AB31-046A-45F5-A5D4-558E6F30C237}"/>
              </a:ext>
            </a:extLst>
          </p:cNvPr>
          <p:cNvCxnSpPr>
            <a:cxnSpLocks/>
          </p:cNvCxnSpPr>
          <p:nvPr/>
        </p:nvCxnSpPr>
        <p:spPr>
          <a:xfrm>
            <a:off x="6317516" y="2466560"/>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直線接點 50">
            <a:extLst>
              <a:ext uri="{FF2B5EF4-FFF2-40B4-BE49-F238E27FC236}">
                <a16:creationId xmlns:a16="http://schemas.microsoft.com/office/drawing/2014/main" id="{7CF106CB-1114-49C0-A226-3CF7EDDAAF1B}"/>
              </a:ext>
            </a:extLst>
          </p:cNvPr>
          <p:cNvCxnSpPr>
            <a:cxnSpLocks/>
          </p:cNvCxnSpPr>
          <p:nvPr/>
        </p:nvCxnSpPr>
        <p:spPr>
          <a:xfrm>
            <a:off x="4835742" y="3548563"/>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2351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par>
                                <p:cTn id="11" presetID="10" presetClass="entr" presetSubtype="0"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500"/>
                                        <p:tgtEl>
                                          <p:spTgt spid="44"/>
                                        </p:tgtEl>
                                      </p:cBhvr>
                                    </p:animEffect>
                                  </p:childTnLst>
                                </p:cTn>
                              </p:par>
                              <p:par>
                                <p:cTn id="14" presetID="10" presetClass="entr" presetSubtype="0" fill="hold" nodeType="with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fade">
                                      <p:cBhvr>
                                        <p:cTn id="16"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16</a:t>
            </a:fld>
            <a:endParaRPr lang="zh-TW" altLang="en-US" dirty="0"/>
          </a:p>
        </p:txBody>
      </p:sp>
      <p:sp>
        <p:nvSpPr>
          <p:cNvPr id="144" name="標題 1">
            <a:extLst>
              <a:ext uri="{FF2B5EF4-FFF2-40B4-BE49-F238E27FC236}">
                <a16:creationId xmlns:a16="http://schemas.microsoft.com/office/drawing/2014/main" id="{BEB4C4FE-92DC-49E9-BA31-B5B03EB1851E}"/>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Second Round(Before)</a:t>
            </a:r>
            <a:endParaRPr lang="zh-TW" altLang="en-US" sz="3200" dirty="0">
              <a:latin typeface="Times New Roman" panose="02020603050405020304" pitchFamily="18" charset="0"/>
              <a:cs typeface="Times New Roman" panose="02020603050405020304" pitchFamily="18" charset="0"/>
            </a:endParaRPr>
          </a:p>
        </p:txBody>
      </p:sp>
      <p:sp>
        <p:nvSpPr>
          <p:cNvPr id="15" name="內容版面配置區 6">
            <a:extLst>
              <a:ext uri="{FF2B5EF4-FFF2-40B4-BE49-F238E27FC236}">
                <a16:creationId xmlns:a16="http://schemas.microsoft.com/office/drawing/2014/main" id="{45387554-66BD-46A2-9CE4-80CF9ABB89B8}"/>
              </a:ext>
            </a:extLst>
          </p:cNvPr>
          <p:cNvSpPr txBox="1">
            <a:spLocks/>
          </p:cNvSpPr>
          <p:nvPr/>
        </p:nvSpPr>
        <p:spPr>
          <a:xfrm>
            <a:off x="471956" y="998092"/>
            <a:ext cx="8327572" cy="5553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TW" sz="2400" dirty="0">
                <a:latin typeface="Times New Roman" panose="02020603050405020304" pitchFamily="18" charset="0"/>
                <a:cs typeface="Times New Roman" panose="02020603050405020304" pitchFamily="18" charset="0"/>
              </a:rPr>
              <a:t>The Longest Prefix Bucket Array</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9" name="表格 8">
            <a:extLst>
              <a:ext uri="{FF2B5EF4-FFF2-40B4-BE49-F238E27FC236}">
                <a16:creationId xmlns:a16="http://schemas.microsoft.com/office/drawing/2014/main" id="{CED2CC08-5B0E-4719-A11B-2F1D84641CDB}"/>
              </a:ext>
            </a:extLst>
          </p:cNvPr>
          <p:cNvGraphicFramePr>
            <a:graphicFrameLocks noGrp="1"/>
          </p:cNvGraphicFramePr>
          <p:nvPr/>
        </p:nvGraphicFramePr>
        <p:xfrm>
          <a:off x="1367307" y="4823250"/>
          <a:ext cx="6095997" cy="37084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val="184306604"/>
                    </a:ext>
                  </a:extLst>
                </a:gridCol>
                <a:gridCol w="677333">
                  <a:extLst>
                    <a:ext uri="{9D8B030D-6E8A-4147-A177-3AD203B41FA5}">
                      <a16:colId xmlns:a16="http://schemas.microsoft.com/office/drawing/2014/main" val="1731048100"/>
                    </a:ext>
                  </a:extLst>
                </a:gridCol>
                <a:gridCol w="677333">
                  <a:extLst>
                    <a:ext uri="{9D8B030D-6E8A-4147-A177-3AD203B41FA5}">
                      <a16:colId xmlns:a16="http://schemas.microsoft.com/office/drawing/2014/main" val="1688476900"/>
                    </a:ext>
                  </a:extLst>
                </a:gridCol>
                <a:gridCol w="677333">
                  <a:extLst>
                    <a:ext uri="{9D8B030D-6E8A-4147-A177-3AD203B41FA5}">
                      <a16:colId xmlns:a16="http://schemas.microsoft.com/office/drawing/2014/main" val="1704851491"/>
                    </a:ext>
                  </a:extLst>
                </a:gridCol>
                <a:gridCol w="677333">
                  <a:extLst>
                    <a:ext uri="{9D8B030D-6E8A-4147-A177-3AD203B41FA5}">
                      <a16:colId xmlns:a16="http://schemas.microsoft.com/office/drawing/2014/main" val="1998974524"/>
                    </a:ext>
                  </a:extLst>
                </a:gridCol>
                <a:gridCol w="677333">
                  <a:extLst>
                    <a:ext uri="{9D8B030D-6E8A-4147-A177-3AD203B41FA5}">
                      <a16:colId xmlns:a16="http://schemas.microsoft.com/office/drawing/2014/main" val="3853749183"/>
                    </a:ext>
                  </a:extLst>
                </a:gridCol>
                <a:gridCol w="677333">
                  <a:extLst>
                    <a:ext uri="{9D8B030D-6E8A-4147-A177-3AD203B41FA5}">
                      <a16:colId xmlns:a16="http://schemas.microsoft.com/office/drawing/2014/main" val="391626377"/>
                    </a:ext>
                  </a:extLst>
                </a:gridCol>
                <a:gridCol w="677333">
                  <a:extLst>
                    <a:ext uri="{9D8B030D-6E8A-4147-A177-3AD203B41FA5}">
                      <a16:colId xmlns:a16="http://schemas.microsoft.com/office/drawing/2014/main" val="2559129209"/>
                    </a:ext>
                  </a:extLst>
                </a:gridCol>
                <a:gridCol w="677333">
                  <a:extLst>
                    <a:ext uri="{9D8B030D-6E8A-4147-A177-3AD203B41FA5}">
                      <a16:colId xmlns:a16="http://schemas.microsoft.com/office/drawing/2014/main" val="2227559916"/>
                    </a:ext>
                  </a:extLst>
                </a:gridCol>
              </a:tblGrid>
              <a:tr h="370840">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r>
                        <a:rPr lang="en-US" altLang="zh-TW" dirty="0"/>
                        <a:t>7</a:t>
                      </a:r>
                      <a:endParaRPr lang="zh-TW" altLang="en-US" dirty="0"/>
                    </a:p>
                  </a:txBody>
                  <a:tcPr anchor="ctr"/>
                </a:tc>
                <a:tc>
                  <a:txBody>
                    <a:bodyPr/>
                    <a:lstStyle/>
                    <a:p>
                      <a:pPr algn="ctr"/>
                      <a:r>
                        <a:rPr lang="en-US" altLang="zh-TW" dirty="0"/>
                        <a:t>8</a:t>
                      </a:r>
                      <a:endParaRPr lang="zh-TW" altLang="en-US" dirty="0"/>
                    </a:p>
                  </a:txBody>
                  <a:tcPr anchor="ctr"/>
                </a:tc>
                <a:tc>
                  <a:txBody>
                    <a:bodyPr/>
                    <a:lstStyle/>
                    <a:p>
                      <a:pPr algn="ctr"/>
                      <a:r>
                        <a:rPr lang="en-US" altLang="zh-TW" dirty="0"/>
                        <a:t>9</a:t>
                      </a:r>
                      <a:endParaRPr lang="zh-TW" altLang="en-US" dirty="0"/>
                    </a:p>
                  </a:txBody>
                  <a:tcPr anchor="ctr"/>
                </a:tc>
                <a:extLst>
                  <a:ext uri="{0D108BD9-81ED-4DB2-BD59-A6C34878D82A}">
                    <a16:rowId xmlns:a16="http://schemas.microsoft.com/office/drawing/2014/main" val="2394764283"/>
                  </a:ext>
                </a:extLst>
              </a:tr>
            </a:tbl>
          </a:graphicData>
        </a:graphic>
      </p:graphicFrame>
      <p:sp>
        <p:nvSpPr>
          <p:cNvPr id="10" name="橢圓 9">
            <a:extLst>
              <a:ext uri="{FF2B5EF4-FFF2-40B4-BE49-F238E27FC236}">
                <a16:creationId xmlns:a16="http://schemas.microsoft.com/office/drawing/2014/main" id="{2AD86059-AAAA-4132-AB59-36CF8F683D3C}"/>
              </a:ext>
            </a:extLst>
          </p:cNvPr>
          <p:cNvSpPr/>
          <p:nvPr/>
        </p:nvSpPr>
        <p:spPr>
          <a:xfrm>
            <a:off x="2815092" y="5859907"/>
            <a:ext cx="502524" cy="48051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7" name="直線單箭頭接點 16">
            <a:extLst>
              <a:ext uri="{FF2B5EF4-FFF2-40B4-BE49-F238E27FC236}">
                <a16:creationId xmlns:a16="http://schemas.microsoft.com/office/drawing/2014/main" id="{F49A02D6-DBBA-4FD9-8857-8DD266D83D5F}"/>
              </a:ext>
            </a:extLst>
          </p:cNvPr>
          <p:cNvCxnSpPr>
            <a:cxnSpLocks/>
          </p:cNvCxnSpPr>
          <p:nvPr/>
        </p:nvCxnSpPr>
        <p:spPr>
          <a:xfrm>
            <a:off x="1711842"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52948B29-4E80-40E8-AE4D-3B8F1E85EC7C}"/>
                  </a:ext>
                </a:extLst>
              </p:cNvPr>
              <p:cNvSpPr/>
              <p:nvPr/>
            </p:nvSpPr>
            <p:spPr>
              <a:xfrm>
                <a:off x="1476906" y="5355976"/>
                <a:ext cx="4698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1</m:t>
                          </m:r>
                        </m:sub>
                      </m:sSub>
                    </m:oMath>
                  </m:oMathPara>
                </a14:m>
                <a:endParaRPr lang="zh-TW" altLang="en-US" i="1" dirty="0">
                  <a:solidFill>
                    <a:srgbClr val="FF0000"/>
                  </a:solidFill>
                  <a:latin typeface="Cambria Math" panose="02040503050406030204" pitchFamily="18" charset="0"/>
                </a:endParaRPr>
              </a:p>
            </p:txBody>
          </p:sp>
        </mc:Choice>
        <mc:Fallback xmlns="">
          <p:sp>
            <p:nvSpPr>
              <p:cNvPr id="27" name="矩形 26">
                <a:extLst>
                  <a:ext uri="{FF2B5EF4-FFF2-40B4-BE49-F238E27FC236}">
                    <a16:creationId xmlns:a16="http://schemas.microsoft.com/office/drawing/2014/main" id="{52948B29-4E80-40E8-AE4D-3B8F1E85EC7C}"/>
                  </a:ext>
                </a:extLst>
              </p:cNvPr>
              <p:cNvSpPr>
                <a:spLocks noRot="1" noChangeAspect="1" noMove="1" noResize="1" noEditPoints="1" noAdjustHandles="1" noChangeArrowheads="1" noChangeShapeType="1" noTextEdit="1"/>
              </p:cNvSpPr>
              <p:nvPr/>
            </p:nvSpPr>
            <p:spPr>
              <a:xfrm>
                <a:off x="1476906" y="5355976"/>
                <a:ext cx="469872" cy="369332"/>
              </a:xfrm>
              <a:prstGeom prst="rect">
                <a:avLst/>
              </a:prstGeom>
              <a:blipFill>
                <a:blip r:embed="rId3"/>
                <a:stretch>
                  <a:fillRect b="-1667"/>
                </a:stretch>
              </a:blipFill>
            </p:spPr>
            <p:txBody>
              <a:bodyPr/>
              <a:lstStyle/>
              <a:p>
                <a:r>
                  <a:rPr lang="zh-TW" altLang="en-US">
                    <a:noFill/>
                  </a:rPr>
                  <a:t> </a:t>
                </a:r>
              </a:p>
            </p:txBody>
          </p:sp>
        </mc:Fallback>
      </mc:AlternateContent>
      <p:grpSp>
        <p:nvGrpSpPr>
          <p:cNvPr id="20" name="群組 19">
            <a:extLst>
              <a:ext uri="{FF2B5EF4-FFF2-40B4-BE49-F238E27FC236}">
                <a16:creationId xmlns:a16="http://schemas.microsoft.com/office/drawing/2014/main" id="{AC07034D-5FBB-4C1A-9F30-1627D60023CE}"/>
              </a:ext>
            </a:extLst>
          </p:cNvPr>
          <p:cNvGrpSpPr/>
          <p:nvPr/>
        </p:nvGrpSpPr>
        <p:grpSpPr>
          <a:xfrm>
            <a:off x="2142041" y="5194090"/>
            <a:ext cx="475195" cy="531218"/>
            <a:chOff x="2142041" y="5194090"/>
            <a:chExt cx="475195" cy="531218"/>
          </a:xfrm>
        </p:grpSpPr>
        <p:cxnSp>
          <p:nvCxnSpPr>
            <p:cNvPr id="30" name="直線單箭頭接點 29">
              <a:extLst>
                <a:ext uri="{FF2B5EF4-FFF2-40B4-BE49-F238E27FC236}">
                  <a16:creationId xmlns:a16="http://schemas.microsoft.com/office/drawing/2014/main" id="{0095A320-6347-4D2C-865A-333D9C149A16}"/>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AE26580E-D880-4367-A6CA-146D492FBCB2}"/>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2</m:t>
                            </m:r>
                          </m:sub>
                        </m:sSub>
                      </m:oMath>
                    </m:oMathPara>
                  </a14:m>
                  <a:endParaRPr lang="zh-TW" altLang="en-US" i="1" dirty="0">
                    <a:solidFill>
                      <a:srgbClr val="FF0000"/>
                    </a:solidFill>
                    <a:latin typeface="Cambria Math" panose="02040503050406030204" pitchFamily="18" charset="0"/>
                  </a:endParaRPr>
                </a:p>
              </p:txBody>
            </p:sp>
          </mc:Choice>
          <mc:Fallback xmlns="">
            <p:sp>
              <p:nvSpPr>
                <p:cNvPr id="31" name="矩形 30">
                  <a:extLst>
                    <a:ext uri="{FF2B5EF4-FFF2-40B4-BE49-F238E27FC236}">
                      <a16:creationId xmlns:a16="http://schemas.microsoft.com/office/drawing/2014/main" id="{AE26580E-D880-4367-A6CA-146D492FBCB2}"/>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4"/>
                  <a:stretch>
                    <a:fillRect b="-1667"/>
                  </a:stretch>
                </a:blipFill>
              </p:spPr>
              <p:txBody>
                <a:bodyPr/>
                <a:lstStyle/>
                <a:p>
                  <a:r>
                    <a:rPr lang="zh-TW" altLang="en-US">
                      <a:noFill/>
                    </a:rPr>
                    <a:t> </a:t>
                  </a:r>
                </a:p>
              </p:txBody>
            </p:sp>
          </mc:Fallback>
        </mc:AlternateContent>
      </p:grpSp>
      <p:grpSp>
        <p:nvGrpSpPr>
          <p:cNvPr id="41" name="群組 40">
            <a:extLst>
              <a:ext uri="{FF2B5EF4-FFF2-40B4-BE49-F238E27FC236}">
                <a16:creationId xmlns:a16="http://schemas.microsoft.com/office/drawing/2014/main" id="{93275F92-A4E8-460F-ACC9-50615CD3D895}"/>
              </a:ext>
            </a:extLst>
          </p:cNvPr>
          <p:cNvGrpSpPr/>
          <p:nvPr/>
        </p:nvGrpSpPr>
        <p:grpSpPr>
          <a:xfrm>
            <a:off x="2142041" y="5725308"/>
            <a:ext cx="475195" cy="531218"/>
            <a:chOff x="2142041" y="5194090"/>
            <a:chExt cx="475195" cy="531218"/>
          </a:xfrm>
        </p:grpSpPr>
        <p:cxnSp>
          <p:nvCxnSpPr>
            <p:cNvPr id="42" name="直線單箭頭接點 41">
              <a:extLst>
                <a:ext uri="{FF2B5EF4-FFF2-40B4-BE49-F238E27FC236}">
                  <a16:creationId xmlns:a16="http://schemas.microsoft.com/office/drawing/2014/main" id="{07A5211C-6FA0-42A7-9A25-C0FADCAC0D5E}"/>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E21F4AA1-7069-4511-B895-7302B6AD7BD3}"/>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3</m:t>
                            </m:r>
                          </m:sub>
                        </m:sSub>
                      </m:oMath>
                    </m:oMathPara>
                  </a14:m>
                  <a:endParaRPr lang="zh-TW" altLang="en-US" i="1" dirty="0">
                    <a:solidFill>
                      <a:srgbClr val="FF0000"/>
                    </a:solidFill>
                    <a:latin typeface="Cambria Math" panose="02040503050406030204" pitchFamily="18" charset="0"/>
                  </a:endParaRPr>
                </a:p>
              </p:txBody>
            </p:sp>
          </mc:Choice>
          <mc:Fallback xmlns="">
            <p:sp>
              <p:nvSpPr>
                <p:cNvPr id="43" name="矩形 42">
                  <a:extLst>
                    <a:ext uri="{FF2B5EF4-FFF2-40B4-BE49-F238E27FC236}">
                      <a16:creationId xmlns:a16="http://schemas.microsoft.com/office/drawing/2014/main" id="{E21F4AA1-7069-4511-B895-7302B6AD7BD3}"/>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5"/>
                  <a:stretch>
                    <a:fillRect b="-1667"/>
                  </a:stretch>
                </a:blipFill>
              </p:spPr>
              <p:txBody>
                <a:bodyPr/>
                <a:lstStyle/>
                <a:p>
                  <a:r>
                    <a:rPr lang="zh-TW" altLang="en-US">
                      <a:noFill/>
                    </a:rPr>
                    <a:t> </a:t>
                  </a:r>
                </a:p>
              </p:txBody>
            </p:sp>
          </mc:Fallback>
        </mc:AlternateContent>
      </p:grpSp>
      <p:grpSp>
        <p:nvGrpSpPr>
          <p:cNvPr id="47" name="群組 46">
            <a:extLst>
              <a:ext uri="{FF2B5EF4-FFF2-40B4-BE49-F238E27FC236}">
                <a16:creationId xmlns:a16="http://schemas.microsoft.com/office/drawing/2014/main" id="{B2ECAEA9-B93C-48C5-84FD-C047B18B816E}"/>
              </a:ext>
            </a:extLst>
          </p:cNvPr>
          <p:cNvGrpSpPr/>
          <p:nvPr/>
        </p:nvGrpSpPr>
        <p:grpSpPr>
          <a:xfrm>
            <a:off x="2823569" y="5725308"/>
            <a:ext cx="475195" cy="531218"/>
            <a:chOff x="2142041" y="5194090"/>
            <a:chExt cx="475195" cy="531218"/>
          </a:xfrm>
        </p:grpSpPr>
        <p:cxnSp>
          <p:nvCxnSpPr>
            <p:cNvPr id="48" name="直線單箭頭接點 47">
              <a:extLst>
                <a:ext uri="{FF2B5EF4-FFF2-40B4-BE49-F238E27FC236}">
                  <a16:creationId xmlns:a16="http://schemas.microsoft.com/office/drawing/2014/main" id="{265CA813-48E7-4530-BE85-4DA212019DC3}"/>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矩形 48">
                  <a:extLst>
                    <a:ext uri="{FF2B5EF4-FFF2-40B4-BE49-F238E27FC236}">
                      <a16:creationId xmlns:a16="http://schemas.microsoft.com/office/drawing/2014/main" id="{7B4CF5AA-D264-4261-9013-2C33A67C7755}"/>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5</m:t>
                            </m:r>
                          </m:sub>
                        </m:sSub>
                      </m:oMath>
                    </m:oMathPara>
                  </a14:m>
                  <a:endParaRPr lang="zh-TW" altLang="en-US" i="1" dirty="0">
                    <a:solidFill>
                      <a:srgbClr val="FF0000"/>
                    </a:solidFill>
                    <a:latin typeface="Cambria Math" panose="02040503050406030204" pitchFamily="18" charset="0"/>
                  </a:endParaRPr>
                </a:p>
              </p:txBody>
            </p:sp>
          </mc:Choice>
          <mc:Fallback xmlns="">
            <p:sp>
              <p:nvSpPr>
                <p:cNvPr id="49" name="矩形 48">
                  <a:extLst>
                    <a:ext uri="{FF2B5EF4-FFF2-40B4-BE49-F238E27FC236}">
                      <a16:creationId xmlns:a16="http://schemas.microsoft.com/office/drawing/2014/main" id="{7B4CF5AA-D264-4261-9013-2C33A67C7755}"/>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6"/>
                  <a:stretch>
                    <a:fillRect b="-1667"/>
                  </a:stretch>
                </a:blipFill>
              </p:spPr>
              <p:txBody>
                <a:bodyPr/>
                <a:lstStyle/>
                <a:p>
                  <a:r>
                    <a:rPr lang="zh-TW" altLang="en-US">
                      <a:noFill/>
                    </a:rPr>
                    <a:t> </a:t>
                  </a:r>
                </a:p>
              </p:txBody>
            </p:sp>
          </mc:Fallback>
        </mc:AlternateContent>
      </p:grpSp>
      <p:sp>
        <p:nvSpPr>
          <p:cNvPr id="54" name="標題 1">
            <a:extLst>
              <a:ext uri="{FF2B5EF4-FFF2-40B4-BE49-F238E27FC236}">
                <a16:creationId xmlns:a16="http://schemas.microsoft.com/office/drawing/2014/main" id="{720553EE-86C9-44EA-999B-DD03298955BF}"/>
              </a:ext>
            </a:extLst>
          </p:cNvPr>
          <p:cNvSpPr txBox="1">
            <a:spLocks/>
          </p:cNvSpPr>
          <p:nvPr/>
        </p:nvSpPr>
        <p:spPr>
          <a:xfrm>
            <a:off x="4976176" y="5355976"/>
            <a:ext cx="1100153" cy="58336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002060"/>
                </a:solidFill>
                <a:latin typeface="Gill Sans MT" panose="020B0502020104020203" pitchFamily="34" charset="0"/>
                <a:cs typeface="Times New Roman" panose="02020603050405020304" pitchFamily="18" charset="0"/>
              </a:rPr>
              <a:t>Maximal Pointer</a:t>
            </a:r>
            <a:endParaRPr lang="zh-TW" altLang="en-US" sz="2000" b="1" dirty="0">
              <a:solidFill>
                <a:srgbClr val="002060"/>
              </a:solidFill>
              <a:latin typeface="Gill Sans MT" panose="020B0502020104020203" pitchFamily="34" charset="0"/>
              <a:cs typeface="Times New Roman" panose="02020603050405020304" pitchFamily="18" charset="0"/>
            </a:endParaRPr>
          </a:p>
        </p:txBody>
      </p:sp>
      <p:cxnSp>
        <p:nvCxnSpPr>
          <p:cNvPr id="58" name="直線單箭頭接點 57">
            <a:extLst>
              <a:ext uri="{FF2B5EF4-FFF2-40B4-BE49-F238E27FC236}">
                <a16:creationId xmlns:a16="http://schemas.microsoft.com/office/drawing/2014/main" id="{375C7430-0270-4875-8C9B-5BE494AF75E6}"/>
              </a:ext>
            </a:extLst>
          </p:cNvPr>
          <p:cNvCxnSpPr>
            <a:cxnSpLocks/>
            <a:stCxn id="54" idx="1"/>
          </p:cNvCxnSpPr>
          <p:nvPr/>
        </p:nvCxnSpPr>
        <p:spPr>
          <a:xfrm flipH="1" flipV="1">
            <a:off x="3210906" y="5087415"/>
            <a:ext cx="1765270" cy="56024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pic>
        <p:nvPicPr>
          <p:cNvPr id="2" name="圖片 1">
            <a:extLst>
              <a:ext uri="{FF2B5EF4-FFF2-40B4-BE49-F238E27FC236}">
                <a16:creationId xmlns:a16="http://schemas.microsoft.com/office/drawing/2014/main" id="{E184D136-32A0-40D7-9DBA-DCE7660890FE}"/>
              </a:ext>
            </a:extLst>
          </p:cNvPr>
          <p:cNvPicPr>
            <a:picLocks noChangeAspect="1"/>
          </p:cNvPicPr>
          <p:nvPr/>
        </p:nvPicPr>
        <p:blipFill rotWithShape="1">
          <a:blip r:embed="rId7"/>
          <a:srcRect l="3577" t="6833" r="2656" b="33999"/>
          <a:stretch/>
        </p:blipFill>
        <p:spPr>
          <a:xfrm>
            <a:off x="1265273" y="1581458"/>
            <a:ext cx="6570921" cy="3079905"/>
          </a:xfrm>
          <a:prstGeom prst="rect">
            <a:avLst/>
          </a:prstGeom>
        </p:spPr>
      </p:pic>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A653F126-E00B-4FA0-8777-9F12D95E4A77}"/>
                  </a:ext>
                </a:extLst>
              </p:cNvPr>
              <p:cNvSpPr/>
              <p:nvPr/>
            </p:nvSpPr>
            <p:spPr>
              <a:xfrm>
                <a:off x="5435396" y="226124"/>
                <a:ext cx="255243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mtClean="0">
                          <a:solidFill>
                            <a:schemeClr val="accent2">
                              <a:lumMod val="75000"/>
                            </a:schemeClr>
                          </a:solidFill>
                          <a:latin typeface="Cambria Math" panose="02040503050406030204" pitchFamily="18" charset="0"/>
                        </a:rPr>
                        <m:t>𝑐</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𝑎</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𝑏</m:t>
                      </m:r>
                      <m:r>
                        <a:rPr lang="en-US" altLang="zh-TW" sz="2800" b="0" i="1" smtClean="0">
                          <a:solidFill>
                            <a:schemeClr val="accent2">
                              <a:lumMod val="75000"/>
                            </a:schemeClr>
                          </a:solidFill>
                          <a:latin typeface="Cambria Math" panose="02040503050406030204" pitchFamily="18" charset="0"/>
                        </a:rPr>
                        <m:t> </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m:t>
                      </m:r>
                    </m:oMath>
                  </m:oMathPara>
                </a14:m>
                <a:endParaRPr lang="zh-TW" altLang="en-US" sz="2800" dirty="0"/>
              </a:p>
            </p:txBody>
          </p:sp>
        </mc:Choice>
        <mc:Fallback xmlns="">
          <p:sp>
            <p:nvSpPr>
              <p:cNvPr id="28" name="矩形 27">
                <a:extLst>
                  <a:ext uri="{FF2B5EF4-FFF2-40B4-BE49-F238E27FC236}">
                    <a16:creationId xmlns:a16="http://schemas.microsoft.com/office/drawing/2014/main" id="{A653F126-E00B-4FA0-8777-9F12D95E4A77}"/>
                  </a:ext>
                </a:extLst>
              </p:cNvPr>
              <p:cNvSpPr>
                <a:spLocks noRot="1" noChangeAspect="1" noMove="1" noResize="1" noEditPoints="1" noAdjustHandles="1" noChangeArrowheads="1" noChangeShapeType="1" noTextEdit="1"/>
              </p:cNvSpPr>
              <p:nvPr/>
            </p:nvSpPr>
            <p:spPr>
              <a:xfrm>
                <a:off x="5435396" y="226124"/>
                <a:ext cx="2552430" cy="523220"/>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F1C98DFA-740F-41FF-ACD1-84337F885535}"/>
                  </a:ext>
                </a:extLst>
              </p:cNvPr>
              <p:cNvSpPr/>
              <p:nvPr/>
            </p:nvSpPr>
            <p:spPr>
              <a:xfrm>
                <a:off x="5435396" y="657393"/>
                <a:ext cx="257256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𝑇</m:t>
                      </m:r>
                      <m:r>
                        <a:rPr lang="en-US" altLang="zh-TW" sz="2800" i="1">
                          <a:latin typeface="Cambria Math" panose="02040503050406030204" pitchFamily="18" charset="0"/>
                        </a:rPr>
                        <m:t>=</m:t>
                      </m:r>
                      <m:r>
                        <a:rPr lang="en-US" altLang="zh-TW" sz="2800" i="1" smtClean="0">
                          <a:solidFill>
                            <a:schemeClr val="accent2">
                              <a:lumMod val="75000"/>
                            </a:schemeClr>
                          </a:solidFill>
                          <a:latin typeface="Cambria Math" panose="02040503050406030204" pitchFamily="18" charset="0"/>
                        </a:rPr>
                        <m:t>𝑐</m:t>
                      </m:r>
                      <m:r>
                        <a:rPr lang="en-US" altLang="zh-TW" sz="2800" i="1" smtClean="0">
                          <a:solidFill>
                            <a:schemeClr val="accent2">
                              <a:lumMod val="75000"/>
                            </a:schemeClr>
                          </a:solidFill>
                          <a:latin typeface="Cambria Math" panose="02040503050406030204" pitchFamily="18" charset="0"/>
                        </a:rPr>
                        <m:t> </m:t>
                      </m:r>
                      <m:r>
                        <a:rPr lang="en-US" altLang="zh-TW" sz="2800" i="1" smtClean="0">
                          <a:solidFill>
                            <a:schemeClr val="accent2">
                              <a:lumMod val="75000"/>
                            </a:schemeClr>
                          </a:solidFill>
                          <a:latin typeface="Cambria Math" panose="02040503050406030204" pitchFamily="18" charset="0"/>
                        </a:rPr>
                        <m:t>𝑎</m:t>
                      </m:r>
                      <m:r>
                        <a:rPr lang="en-US" altLang="zh-TW" sz="2800" i="1" smtClean="0">
                          <a:solidFill>
                            <a:schemeClr val="accent2">
                              <a:lumMod val="75000"/>
                            </a:schemeClr>
                          </a:solidFill>
                          <a:latin typeface="Cambria Math" panose="02040503050406030204" pitchFamily="18" charset="0"/>
                        </a:rPr>
                        <m:t> </m:t>
                      </m:r>
                      <m:r>
                        <a:rPr lang="en-US" altLang="zh-TW" sz="2800" i="1" smtClean="0">
                          <a:solidFill>
                            <a:schemeClr val="accent2">
                              <a:lumMod val="75000"/>
                            </a:schemeClr>
                          </a:solidFill>
                          <a:latin typeface="Cambria Math" panose="02040503050406030204" pitchFamily="18" charset="0"/>
                        </a:rPr>
                        <m:t>𝑏</m:t>
                      </m:r>
                      <m:r>
                        <a:rPr lang="en-US" altLang="zh-TW" sz="2800" i="1" smtClean="0">
                          <a:solidFill>
                            <a:schemeClr val="accent2">
                              <a:lumMod val="75000"/>
                            </a:schemeClr>
                          </a:solidFill>
                          <a:latin typeface="Cambria Math" panose="02040503050406030204" pitchFamily="18" charset="0"/>
                        </a:rPr>
                        <m:t> </m:t>
                      </m:r>
                      <m:r>
                        <a:rPr lang="en-US" altLang="zh-TW" sz="2800" i="1">
                          <a:latin typeface="Cambria Math" panose="02040503050406030204" pitchFamily="18" charset="0"/>
                        </a:rPr>
                        <m:t>𝑎</m:t>
                      </m:r>
                      <m:r>
                        <a:rPr lang="en-US" altLang="zh-TW" sz="2800" i="1">
                          <a:latin typeface="Cambria Math" panose="02040503050406030204" pitchFamily="18" charset="0"/>
                        </a:rPr>
                        <m:t> </m:t>
                      </m:r>
                      <m:r>
                        <a:rPr lang="en-US" altLang="zh-TW" sz="2800" i="1">
                          <a:latin typeface="Cambria Math" panose="02040503050406030204" pitchFamily="18" charset="0"/>
                        </a:rPr>
                        <m:t>𝑐</m:t>
                      </m:r>
                      <m:r>
                        <a:rPr lang="en-US" altLang="zh-TW" sz="2800" i="1">
                          <a:latin typeface="Cambria Math" panose="02040503050406030204" pitchFamily="18" charset="0"/>
                        </a:rPr>
                        <m:t> </m:t>
                      </m:r>
                      <m:r>
                        <a:rPr lang="en-US" altLang="zh-TW" sz="2800" i="1">
                          <a:latin typeface="Cambria Math" panose="02040503050406030204" pitchFamily="18" charset="0"/>
                        </a:rPr>
                        <m:t>𝑐</m:t>
                      </m:r>
                    </m:oMath>
                  </m:oMathPara>
                </a14:m>
                <a:endParaRPr lang="zh-TW" altLang="en-US" sz="2800" i="1" dirty="0">
                  <a:latin typeface="Cambria Math" panose="02040503050406030204" pitchFamily="18" charset="0"/>
                </a:endParaRPr>
              </a:p>
            </p:txBody>
          </p:sp>
        </mc:Choice>
        <mc:Fallback xmlns="">
          <p:sp>
            <p:nvSpPr>
              <p:cNvPr id="29" name="矩形 28">
                <a:extLst>
                  <a:ext uri="{FF2B5EF4-FFF2-40B4-BE49-F238E27FC236}">
                    <a16:creationId xmlns:a16="http://schemas.microsoft.com/office/drawing/2014/main" id="{F1C98DFA-740F-41FF-ACD1-84337F885535}"/>
                  </a:ext>
                </a:extLst>
              </p:cNvPr>
              <p:cNvSpPr>
                <a:spLocks noRot="1" noChangeAspect="1" noMove="1" noResize="1" noEditPoints="1" noAdjustHandles="1" noChangeArrowheads="1" noChangeShapeType="1" noTextEdit="1"/>
              </p:cNvSpPr>
              <p:nvPr/>
            </p:nvSpPr>
            <p:spPr>
              <a:xfrm>
                <a:off x="5435396" y="657393"/>
                <a:ext cx="2572563" cy="523220"/>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8C0D49FA-4441-4E1A-ABEC-7E2AB7C8D5FC}"/>
                  </a:ext>
                </a:extLst>
              </p:cNvPr>
              <p:cNvSpPr/>
              <p:nvPr/>
            </p:nvSpPr>
            <p:spPr>
              <a:xfrm>
                <a:off x="4276451" y="5987019"/>
                <a:ext cx="1511952"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partition: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𝑎𝑎𝑏</m:t>
                    </m:r>
                    <m:r>
                      <a:rPr lang="en-US" altLang="zh-TW" i="1" dirty="0" smtClean="0">
                        <a:latin typeface="Cambria Math" panose="02040503050406030204" pitchFamily="18" charset="0"/>
                        <a:cs typeface="Times New Roman" panose="02020603050405020304" pitchFamily="18" charset="0"/>
                      </a:rPr>
                      <m:t> </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32" name="矩形 31">
                <a:extLst>
                  <a:ext uri="{FF2B5EF4-FFF2-40B4-BE49-F238E27FC236}">
                    <a16:creationId xmlns:a16="http://schemas.microsoft.com/office/drawing/2014/main" id="{8C0D49FA-4441-4E1A-ABEC-7E2AB7C8D5FC}"/>
                  </a:ext>
                </a:extLst>
              </p:cNvPr>
              <p:cNvSpPr>
                <a:spLocks noRot="1" noChangeAspect="1" noMove="1" noResize="1" noEditPoints="1" noAdjustHandles="1" noChangeArrowheads="1" noChangeShapeType="1" noTextEdit="1"/>
              </p:cNvSpPr>
              <p:nvPr/>
            </p:nvSpPr>
            <p:spPr>
              <a:xfrm>
                <a:off x="4276451" y="5987019"/>
                <a:ext cx="1511952" cy="369332"/>
              </a:xfrm>
              <a:prstGeom prst="rect">
                <a:avLst/>
              </a:prstGeom>
              <a:blipFill>
                <a:blip r:embed="rId10"/>
                <a:stretch>
                  <a:fillRect l="-3629" t="-8197" b="-24590"/>
                </a:stretch>
              </a:blipFill>
            </p:spPr>
            <p:txBody>
              <a:bodyPr/>
              <a:lstStyle/>
              <a:p>
                <a:r>
                  <a:rPr lang="zh-TW" altLang="en-US">
                    <a:noFill/>
                  </a:rPr>
                  <a:t> </a:t>
                </a:r>
              </a:p>
            </p:txBody>
          </p:sp>
        </mc:Fallback>
      </mc:AlternateContent>
      <p:cxnSp>
        <p:nvCxnSpPr>
          <p:cNvPr id="33" name="直線接點 32">
            <a:extLst>
              <a:ext uri="{FF2B5EF4-FFF2-40B4-BE49-F238E27FC236}">
                <a16:creationId xmlns:a16="http://schemas.microsoft.com/office/drawing/2014/main" id="{A74B78B3-C499-44FD-9B98-1540AAF9E980}"/>
              </a:ext>
            </a:extLst>
          </p:cNvPr>
          <p:cNvCxnSpPr>
            <a:cxnSpLocks/>
          </p:cNvCxnSpPr>
          <p:nvPr/>
        </p:nvCxnSpPr>
        <p:spPr>
          <a:xfrm>
            <a:off x="2403413" y="4157929"/>
            <a:ext cx="294081" cy="4743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線接點 33">
            <a:extLst>
              <a:ext uri="{FF2B5EF4-FFF2-40B4-BE49-F238E27FC236}">
                <a16:creationId xmlns:a16="http://schemas.microsoft.com/office/drawing/2014/main" id="{7251A7B6-054D-401C-8692-410F99A27B56}"/>
              </a:ext>
            </a:extLst>
          </p:cNvPr>
          <p:cNvCxnSpPr>
            <a:cxnSpLocks/>
          </p:cNvCxnSpPr>
          <p:nvPr/>
        </p:nvCxnSpPr>
        <p:spPr>
          <a:xfrm>
            <a:off x="1873370" y="4190164"/>
            <a:ext cx="274096" cy="44211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直線接點 37">
            <a:extLst>
              <a:ext uri="{FF2B5EF4-FFF2-40B4-BE49-F238E27FC236}">
                <a16:creationId xmlns:a16="http://schemas.microsoft.com/office/drawing/2014/main" id="{05E6BB32-C044-4F5D-8C6F-4E6D91DF5EE1}"/>
              </a:ext>
            </a:extLst>
          </p:cNvPr>
          <p:cNvCxnSpPr>
            <a:cxnSpLocks/>
          </p:cNvCxnSpPr>
          <p:nvPr/>
        </p:nvCxnSpPr>
        <p:spPr>
          <a:xfrm>
            <a:off x="7322870" y="3202480"/>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線接點 38">
            <a:extLst>
              <a:ext uri="{FF2B5EF4-FFF2-40B4-BE49-F238E27FC236}">
                <a16:creationId xmlns:a16="http://schemas.microsoft.com/office/drawing/2014/main" id="{5FA52777-BB74-484F-9910-038BAB5B2A23}"/>
              </a:ext>
            </a:extLst>
          </p:cNvPr>
          <p:cNvCxnSpPr>
            <a:cxnSpLocks/>
          </p:cNvCxnSpPr>
          <p:nvPr/>
        </p:nvCxnSpPr>
        <p:spPr>
          <a:xfrm>
            <a:off x="5647969" y="4130146"/>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id="{93303489-CCDD-4B84-8C83-6AE8DB29DFA6}"/>
              </a:ext>
            </a:extLst>
          </p:cNvPr>
          <p:cNvCxnSpPr>
            <a:cxnSpLocks/>
          </p:cNvCxnSpPr>
          <p:nvPr/>
        </p:nvCxnSpPr>
        <p:spPr>
          <a:xfrm>
            <a:off x="6317516" y="2466560"/>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2F05A243-B250-4997-BC80-375232079527}"/>
              </a:ext>
            </a:extLst>
          </p:cNvPr>
          <p:cNvCxnSpPr>
            <a:cxnSpLocks/>
          </p:cNvCxnSpPr>
          <p:nvPr/>
        </p:nvCxnSpPr>
        <p:spPr>
          <a:xfrm>
            <a:off x="4835742" y="3548563"/>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905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par>
                                <p:cTn id="8" presetID="10" presetClass="entr" presetSubtype="0" fill="hold"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17</a:t>
            </a:fld>
            <a:endParaRPr lang="zh-TW" altLang="en-US" dirty="0"/>
          </a:p>
        </p:txBody>
      </p:sp>
      <p:sp>
        <p:nvSpPr>
          <p:cNvPr id="144" name="標題 1">
            <a:extLst>
              <a:ext uri="{FF2B5EF4-FFF2-40B4-BE49-F238E27FC236}">
                <a16:creationId xmlns:a16="http://schemas.microsoft.com/office/drawing/2014/main" id="{BEB4C4FE-92DC-49E9-BA31-B5B03EB1851E}"/>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Second Round(After)</a:t>
            </a:r>
            <a:endParaRPr lang="zh-TW" altLang="en-US" sz="3200" dirty="0">
              <a:latin typeface="Times New Roman" panose="02020603050405020304" pitchFamily="18" charset="0"/>
              <a:cs typeface="Times New Roman" panose="02020603050405020304" pitchFamily="18" charset="0"/>
            </a:endParaRPr>
          </a:p>
        </p:txBody>
      </p:sp>
      <p:sp>
        <p:nvSpPr>
          <p:cNvPr id="15" name="內容版面配置區 6">
            <a:extLst>
              <a:ext uri="{FF2B5EF4-FFF2-40B4-BE49-F238E27FC236}">
                <a16:creationId xmlns:a16="http://schemas.microsoft.com/office/drawing/2014/main" id="{45387554-66BD-46A2-9CE4-80CF9ABB89B8}"/>
              </a:ext>
            </a:extLst>
          </p:cNvPr>
          <p:cNvSpPr txBox="1">
            <a:spLocks/>
          </p:cNvSpPr>
          <p:nvPr/>
        </p:nvSpPr>
        <p:spPr>
          <a:xfrm>
            <a:off x="471956" y="998092"/>
            <a:ext cx="8327572" cy="5553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TW" sz="2400" dirty="0">
                <a:latin typeface="Times New Roman" panose="02020603050405020304" pitchFamily="18" charset="0"/>
                <a:cs typeface="Times New Roman" panose="02020603050405020304" pitchFamily="18" charset="0"/>
              </a:rPr>
              <a:t>The Longest Prefix Bucket Array</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9" name="表格 8">
            <a:extLst>
              <a:ext uri="{FF2B5EF4-FFF2-40B4-BE49-F238E27FC236}">
                <a16:creationId xmlns:a16="http://schemas.microsoft.com/office/drawing/2014/main" id="{CED2CC08-5B0E-4719-A11B-2F1D84641CDB}"/>
              </a:ext>
            </a:extLst>
          </p:cNvPr>
          <p:cNvGraphicFramePr>
            <a:graphicFrameLocks noGrp="1"/>
          </p:cNvGraphicFramePr>
          <p:nvPr/>
        </p:nvGraphicFramePr>
        <p:xfrm>
          <a:off x="1367307" y="4823250"/>
          <a:ext cx="6095997" cy="37084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val="184306604"/>
                    </a:ext>
                  </a:extLst>
                </a:gridCol>
                <a:gridCol w="677333">
                  <a:extLst>
                    <a:ext uri="{9D8B030D-6E8A-4147-A177-3AD203B41FA5}">
                      <a16:colId xmlns:a16="http://schemas.microsoft.com/office/drawing/2014/main" val="1731048100"/>
                    </a:ext>
                  </a:extLst>
                </a:gridCol>
                <a:gridCol w="677333">
                  <a:extLst>
                    <a:ext uri="{9D8B030D-6E8A-4147-A177-3AD203B41FA5}">
                      <a16:colId xmlns:a16="http://schemas.microsoft.com/office/drawing/2014/main" val="1688476900"/>
                    </a:ext>
                  </a:extLst>
                </a:gridCol>
                <a:gridCol w="677333">
                  <a:extLst>
                    <a:ext uri="{9D8B030D-6E8A-4147-A177-3AD203B41FA5}">
                      <a16:colId xmlns:a16="http://schemas.microsoft.com/office/drawing/2014/main" val="1704851491"/>
                    </a:ext>
                  </a:extLst>
                </a:gridCol>
                <a:gridCol w="677333">
                  <a:extLst>
                    <a:ext uri="{9D8B030D-6E8A-4147-A177-3AD203B41FA5}">
                      <a16:colId xmlns:a16="http://schemas.microsoft.com/office/drawing/2014/main" val="1998974524"/>
                    </a:ext>
                  </a:extLst>
                </a:gridCol>
                <a:gridCol w="677333">
                  <a:extLst>
                    <a:ext uri="{9D8B030D-6E8A-4147-A177-3AD203B41FA5}">
                      <a16:colId xmlns:a16="http://schemas.microsoft.com/office/drawing/2014/main" val="3853749183"/>
                    </a:ext>
                  </a:extLst>
                </a:gridCol>
                <a:gridCol w="677333">
                  <a:extLst>
                    <a:ext uri="{9D8B030D-6E8A-4147-A177-3AD203B41FA5}">
                      <a16:colId xmlns:a16="http://schemas.microsoft.com/office/drawing/2014/main" val="391626377"/>
                    </a:ext>
                  </a:extLst>
                </a:gridCol>
                <a:gridCol w="677333">
                  <a:extLst>
                    <a:ext uri="{9D8B030D-6E8A-4147-A177-3AD203B41FA5}">
                      <a16:colId xmlns:a16="http://schemas.microsoft.com/office/drawing/2014/main" val="2559129209"/>
                    </a:ext>
                  </a:extLst>
                </a:gridCol>
                <a:gridCol w="677333">
                  <a:extLst>
                    <a:ext uri="{9D8B030D-6E8A-4147-A177-3AD203B41FA5}">
                      <a16:colId xmlns:a16="http://schemas.microsoft.com/office/drawing/2014/main" val="2227559916"/>
                    </a:ext>
                  </a:extLst>
                </a:gridCol>
              </a:tblGrid>
              <a:tr h="370840">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r>
                        <a:rPr lang="en-US" altLang="zh-TW" dirty="0"/>
                        <a:t>7</a:t>
                      </a:r>
                      <a:endParaRPr lang="zh-TW" altLang="en-US" dirty="0"/>
                    </a:p>
                  </a:txBody>
                  <a:tcPr anchor="ctr"/>
                </a:tc>
                <a:tc>
                  <a:txBody>
                    <a:bodyPr/>
                    <a:lstStyle/>
                    <a:p>
                      <a:pPr algn="ctr"/>
                      <a:r>
                        <a:rPr lang="en-US" altLang="zh-TW" dirty="0"/>
                        <a:t>8</a:t>
                      </a:r>
                      <a:endParaRPr lang="zh-TW" altLang="en-US" dirty="0"/>
                    </a:p>
                  </a:txBody>
                  <a:tcPr anchor="ctr"/>
                </a:tc>
                <a:tc>
                  <a:txBody>
                    <a:bodyPr/>
                    <a:lstStyle/>
                    <a:p>
                      <a:pPr algn="ctr"/>
                      <a:r>
                        <a:rPr lang="en-US" altLang="zh-TW" dirty="0"/>
                        <a:t>9</a:t>
                      </a:r>
                      <a:endParaRPr lang="zh-TW" altLang="en-US" dirty="0"/>
                    </a:p>
                  </a:txBody>
                  <a:tcPr anchor="ctr"/>
                </a:tc>
                <a:extLst>
                  <a:ext uri="{0D108BD9-81ED-4DB2-BD59-A6C34878D82A}">
                    <a16:rowId xmlns:a16="http://schemas.microsoft.com/office/drawing/2014/main" val="2394764283"/>
                  </a:ext>
                </a:extLst>
              </a:tr>
            </a:tbl>
          </a:graphicData>
        </a:graphic>
      </p:graphicFrame>
      <p:cxnSp>
        <p:nvCxnSpPr>
          <p:cNvPr id="17" name="直線單箭頭接點 16">
            <a:extLst>
              <a:ext uri="{FF2B5EF4-FFF2-40B4-BE49-F238E27FC236}">
                <a16:creationId xmlns:a16="http://schemas.microsoft.com/office/drawing/2014/main" id="{F49A02D6-DBBA-4FD9-8857-8DD266D83D5F}"/>
              </a:ext>
            </a:extLst>
          </p:cNvPr>
          <p:cNvCxnSpPr>
            <a:cxnSpLocks/>
          </p:cNvCxnSpPr>
          <p:nvPr/>
        </p:nvCxnSpPr>
        <p:spPr>
          <a:xfrm>
            <a:off x="1711842"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52948B29-4E80-40E8-AE4D-3B8F1E85EC7C}"/>
                  </a:ext>
                </a:extLst>
              </p:cNvPr>
              <p:cNvSpPr/>
              <p:nvPr/>
            </p:nvSpPr>
            <p:spPr>
              <a:xfrm>
                <a:off x="1476906" y="5355976"/>
                <a:ext cx="46987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1</m:t>
                          </m:r>
                        </m:sub>
                      </m:sSub>
                    </m:oMath>
                  </m:oMathPara>
                </a14:m>
                <a:endParaRPr lang="zh-TW" altLang="en-US" i="1" dirty="0">
                  <a:solidFill>
                    <a:srgbClr val="FF0000"/>
                  </a:solidFill>
                  <a:latin typeface="Cambria Math" panose="02040503050406030204" pitchFamily="18" charset="0"/>
                </a:endParaRPr>
              </a:p>
            </p:txBody>
          </p:sp>
        </mc:Choice>
        <mc:Fallback xmlns="">
          <p:sp>
            <p:nvSpPr>
              <p:cNvPr id="27" name="矩形 26">
                <a:extLst>
                  <a:ext uri="{FF2B5EF4-FFF2-40B4-BE49-F238E27FC236}">
                    <a16:creationId xmlns:a16="http://schemas.microsoft.com/office/drawing/2014/main" id="{52948B29-4E80-40E8-AE4D-3B8F1E85EC7C}"/>
                  </a:ext>
                </a:extLst>
              </p:cNvPr>
              <p:cNvSpPr>
                <a:spLocks noRot="1" noChangeAspect="1" noMove="1" noResize="1" noEditPoints="1" noAdjustHandles="1" noChangeArrowheads="1" noChangeShapeType="1" noTextEdit="1"/>
              </p:cNvSpPr>
              <p:nvPr/>
            </p:nvSpPr>
            <p:spPr>
              <a:xfrm>
                <a:off x="1476906" y="5355976"/>
                <a:ext cx="469872" cy="369332"/>
              </a:xfrm>
              <a:prstGeom prst="rect">
                <a:avLst/>
              </a:prstGeom>
              <a:blipFill>
                <a:blip r:embed="rId3"/>
                <a:stretch>
                  <a:fillRect b="-1667"/>
                </a:stretch>
              </a:blipFill>
            </p:spPr>
            <p:txBody>
              <a:bodyPr/>
              <a:lstStyle/>
              <a:p>
                <a:r>
                  <a:rPr lang="zh-TW" altLang="en-US">
                    <a:noFill/>
                  </a:rPr>
                  <a:t> </a:t>
                </a:r>
              </a:p>
            </p:txBody>
          </p:sp>
        </mc:Fallback>
      </mc:AlternateContent>
      <p:grpSp>
        <p:nvGrpSpPr>
          <p:cNvPr id="20" name="群組 19">
            <a:extLst>
              <a:ext uri="{FF2B5EF4-FFF2-40B4-BE49-F238E27FC236}">
                <a16:creationId xmlns:a16="http://schemas.microsoft.com/office/drawing/2014/main" id="{AC07034D-5FBB-4C1A-9F30-1627D60023CE}"/>
              </a:ext>
            </a:extLst>
          </p:cNvPr>
          <p:cNvGrpSpPr/>
          <p:nvPr/>
        </p:nvGrpSpPr>
        <p:grpSpPr>
          <a:xfrm>
            <a:off x="2142041" y="5194090"/>
            <a:ext cx="475195" cy="531218"/>
            <a:chOff x="2142041" y="5194090"/>
            <a:chExt cx="475195" cy="531218"/>
          </a:xfrm>
        </p:grpSpPr>
        <p:cxnSp>
          <p:nvCxnSpPr>
            <p:cNvPr id="30" name="直線單箭頭接點 29">
              <a:extLst>
                <a:ext uri="{FF2B5EF4-FFF2-40B4-BE49-F238E27FC236}">
                  <a16:creationId xmlns:a16="http://schemas.microsoft.com/office/drawing/2014/main" id="{0095A320-6347-4D2C-865A-333D9C149A16}"/>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AE26580E-D880-4367-A6CA-146D492FBCB2}"/>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2</m:t>
                            </m:r>
                          </m:sub>
                        </m:sSub>
                      </m:oMath>
                    </m:oMathPara>
                  </a14:m>
                  <a:endParaRPr lang="zh-TW" altLang="en-US" i="1" dirty="0">
                    <a:solidFill>
                      <a:srgbClr val="FF0000"/>
                    </a:solidFill>
                    <a:latin typeface="Cambria Math" panose="02040503050406030204" pitchFamily="18" charset="0"/>
                  </a:endParaRPr>
                </a:p>
              </p:txBody>
            </p:sp>
          </mc:Choice>
          <mc:Fallback xmlns="">
            <p:sp>
              <p:nvSpPr>
                <p:cNvPr id="31" name="矩形 30">
                  <a:extLst>
                    <a:ext uri="{FF2B5EF4-FFF2-40B4-BE49-F238E27FC236}">
                      <a16:creationId xmlns:a16="http://schemas.microsoft.com/office/drawing/2014/main" id="{AE26580E-D880-4367-A6CA-146D492FBCB2}"/>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4"/>
                  <a:stretch>
                    <a:fillRect b="-1667"/>
                  </a:stretch>
                </a:blipFill>
              </p:spPr>
              <p:txBody>
                <a:bodyPr/>
                <a:lstStyle/>
                <a:p>
                  <a:r>
                    <a:rPr lang="zh-TW" altLang="en-US">
                      <a:noFill/>
                    </a:rPr>
                    <a:t> </a:t>
                  </a:r>
                </a:p>
              </p:txBody>
            </p:sp>
          </mc:Fallback>
        </mc:AlternateContent>
      </p:grpSp>
      <p:grpSp>
        <p:nvGrpSpPr>
          <p:cNvPr id="41" name="群組 40">
            <a:extLst>
              <a:ext uri="{FF2B5EF4-FFF2-40B4-BE49-F238E27FC236}">
                <a16:creationId xmlns:a16="http://schemas.microsoft.com/office/drawing/2014/main" id="{93275F92-A4E8-460F-ACC9-50615CD3D895}"/>
              </a:ext>
            </a:extLst>
          </p:cNvPr>
          <p:cNvGrpSpPr/>
          <p:nvPr/>
        </p:nvGrpSpPr>
        <p:grpSpPr>
          <a:xfrm>
            <a:off x="2142041" y="5725308"/>
            <a:ext cx="475195" cy="531218"/>
            <a:chOff x="2142041" y="5194090"/>
            <a:chExt cx="475195" cy="531218"/>
          </a:xfrm>
        </p:grpSpPr>
        <p:cxnSp>
          <p:nvCxnSpPr>
            <p:cNvPr id="42" name="直線單箭頭接點 41">
              <a:extLst>
                <a:ext uri="{FF2B5EF4-FFF2-40B4-BE49-F238E27FC236}">
                  <a16:creationId xmlns:a16="http://schemas.microsoft.com/office/drawing/2014/main" id="{07A5211C-6FA0-42A7-9A25-C0FADCAC0D5E}"/>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E21F4AA1-7069-4511-B895-7302B6AD7BD3}"/>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3</m:t>
                            </m:r>
                          </m:sub>
                        </m:sSub>
                      </m:oMath>
                    </m:oMathPara>
                  </a14:m>
                  <a:endParaRPr lang="zh-TW" altLang="en-US" i="1" dirty="0">
                    <a:solidFill>
                      <a:srgbClr val="FF0000"/>
                    </a:solidFill>
                    <a:latin typeface="Cambria Math" panose="02040503050406030204" pitchFamily="18" charset="0"/>
                  </a:endParaRPr>
                </a:p>
              </p:txBody>
            </p:sp>
          </mc:Choice>
          <mc:Fallback xmlns="">
            <p:sp>
              <p:nvSpPr>
                <p:cNvPr id="43" name="矩形 42">
                  <a:extLst>
                    <a:ext uri="{FF2B5EF4-FFF2-40B4-BE49-F238E27FC236}">
                      <a16:creationId xmlns:a16="http://schemas.microsoft.com/office/drawing/2014/main" id="{E21F4AA1-7069-4511-B895-7302B6AD7BD3}"/>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5"/>
                  <a:stretch>
                    <a:fillRect b="-1667"/>
                  </a:stretch>
                </a:blipFill>
              </p:spPr>
              <p:txBody>
                <a:bodyPr/>
                <a:lstStyle/>
                <a:p>
                  <a:r>
                    <a:rPr lang="zh-TW" altLang="en-US">
                      <a:noFill/>
                    </a:rPr>
                    <a:t> </a:t>
                  </a:r>
                </a:p>
              </p:txBody>
            </p:sp>
          </mc:Fallback>
        </mc:AlternateContent>
      </p:grpSp>
      <p:grpSp>
        <p:nvGrpSpPr>
          <p:cNvPr id="47" name="群組 46">
            <a:extLst>
              <a:ext uri="{FF2B5EF4-FFF2-40B4-BE49-F238E27FC236}">
                <a16:creationId xmlns:a16="http://schemas.microsoft.com/office/drawing/2014/main" id="{B2ECAEA9-B93C-48C5-84FD-C047B18B816E}"/>
              </a:ext>
            </a:extLst>
          </p:cNvPr>
          <p:cNvGrpSpPr/>
          <p:nvPr/>
        </p:nvGrpSpPr>
        <p:grpSpPr>
          <a:xfrm>
            <a:off x="2823569" y="5725308"/>
            <a:ext cx="475195" cy="531218"/>
            <a:chOff x="2142041" y="5194090"/>
            <a:chExt cx="475195" cy="531218"/>
          </a:xfrm>
        </p:grpSpPr>
        <p:cxnSp>
          <p:nvCxnSpPr>
            <p:cNvPr id="48" name="直線單箭頭接點 47">
              <a:extLst>
                <a:ext uri="{FF2B5EF4-FFF2-40B4-BE49-F238E27FC236}">
                  <a16:creationId xmlns:a16="http://schemas.microsoft.com/office/drawing/2014/main" id="{265CA813-48E7-4530-BE85-4DA212019DC3}"/>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矩形 48">
                  <a:extLst>
                    <a:ext uri="{FF2B5EF4-FFF2-40B4-BE49-F238E27FC236}">
                      <a16:creationId xmlns:a16="http://schemas.microsoft.com/office/drawing/2014/main" id="{7B4CF5AA-D264-4261-9013-2C33A67C7755}"/>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5</m:t>
                            </m:r>
                          </m:sub>
                        </m:sSub>
                      </m:oMath>
                    </m:oMathPara>
                  </a14:m>
                  <a:endParaRPr lang="zh-TW" altLang="en-US" i="1" dirty="0">
                    <a:solidFill>
                      <a:srgbClr val="FF0000"/>
                    </a:solidFill>
                    <a:latin typeface="Cambria Math" panose="02040503050406030204" pitchFamily="18" charset="0"/>
                  </a:endParaRPr>
                </a:p>
              </p:txBody>
            </p:sp>
          </mc:Choice>
          <mc:Fallback xmlns="">
            <p:sp>
              <p:nvSpPr>
                <p:cNvPr id="49" name="矩形 48">
                  <a:extLst>
                    <a:ext uri="{FF2B5EF4-FFF2-40B4-BE49-F238E27FC236}">
                      <a16:creationId xmlns:a16="http://schemas.microsoft.com/office/drawing/2014/main" id="{7B4CF5AA-D264-4261-9013-2C33A67C7755}"/>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6"/>
                  <a:stretch>
                    <a:fillRect b="-1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52" name="矩形 51">
                <a:extLst>
                  <a:ext uri="{FF2B5EF4-FFF2-40B4-BE49-F238E27FC236}">
                    <a16:creationId xmlns:a16="http://schemas.microsoft.com/office/drawing/2014/main" id="{78B473AD-2ADF-473D-98A3-E474E9B379AA}"/>
                  </a:ext>
                </a:extLst>
              </p:cNvPr>
              <p:cNvSpPr/>
              <p:nvPr/>
            </p:nvSpPr>
            <p:spPr>
              <a:xfrm>
                <a:off x="5435396" y="226124"/>
                <a:ext cx="255243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trike="sngStrike" smtClean="0">
                          <a:solidFill>
                            <a:schemeClr val="accent2">
                              <a:lumMod val="75000"/>
                            </a:schemeClr>
                          </a:solidFill>
                          <a:latin typeface="Cambria Math" panose="02040503050406030204" pitchFamily="18" charset="0"/>
                        </a:rPr>
                        <m:t>𝑐</m:t>
                      </m:r>
                      <m:r>
                        <a:rPr lang="en-US" altLang="zh-TW" sz="2800" b="0" i="1" strike="sngStrike" smtClean="0">
                          <a:solidFill>
                            <a:schemeClr val="accent2">
                              <a:lumMod val="75000"/>
                            </a:schemeClr>
                          </a:solidFill>
                          <a:latin typeface="Cambria Math" panose="02040503050406030204" pitchFamily="18" charset="0"/>
                        </a:rPr>
                        <m:t> </m:t>
                      </m:r>
                      <m:r>
                        <a:rPr lang="en-US" altLang="zh-TW" sz="2800" b="0" i="1" strike="sngStrike" smtClean="0">
                          <a:solidFill>
                            <a:schemeClr val="accent2">
                              <a:lumMod val="75000"/>
                            </a:schemeClr>
                          </a:solidFill>
                          <a:latin typeface="Cambria Math" panose="02040503050406030204" pitchFamily="18" charset="0"/>
                        </a:rPr>
                        <m:t>𝑎</m:t>
                      </m:r>
                      <m:r>
                        <a:rPr lang="en-US" altLang="zh-TW" sz="2800" b="0" i="1" strike="sngStrike" smtClean="0">
                          <a:solidFill>
                            <a:schemeClr val="accent2">
                              <a:lumMod val="75000"/>
                            </a:schemeClr>
                          </a:solidFill>
                          <a:latin typeface="Cambria Math" panose="02040503050406030204" pitchFamily="18" charset="0"/>
                        </a:rPr>
                        <m:t> </m:t>
                      </m:r>
                      <m:r>
                        <a:rPr lang="en-US" altLang="zh-TW" sz="2800" b="0" i="1" strike="sngStrike" smtClean="0">
                          <a:solidFill>
                            <a:schemeClr val="accent2">
                              <a:lumMod val="75000"/>
                            </a:schemeClr>
                          </a:solidFill>
                          <a:latin typeface="Cambria Math" panose="02040503050406030204" pitchFamily="18" charset="0"/>
                        </a:rPr>
                        <m:t>𝑏</m:t>
                      </m:r>
                      <m:r>
                        <a:rPr lang="en-US" altLang="zh-TW" sz="2800" b="0" i="1" smtClean="0">
                          <a:solidFill>
                            <a:schemeClr val="accent2">
                              <a:lumMod val="75000"/>
                            </a:schemeClr>
                          </a:solidFill>
                          <a:latin typeface="Cambria Math" panose="02040503050406030204" pitchFamily="18" charset="0"/>
                        </a:rPr>
                        <m:t> </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 </m:t>
                      </m:r>
                      <m:r>
                        <a:rPr lang="en-US" altLang="zh-TW" sz="2800" b="0" i="1" smtClean="0">
                          <a:latin typeface="Cambria Math" panose="02040503050406030204" pitchFamily="18" charset="0"/>
                        </a:rPr>
                        <m:t>𝑐</m:t>
                      </m:r>
                    </m:oMath>
                  </m:oMathPara>
                </a14:m>
                <a:endParaRPr lang="zh-TW" altLang="en-US" sz="2800" dirty="0"/>
              </a:p>
            </p:txBody>
          </p:sp>
        </mc:Choice>
        <mc:Fallback xmlns="">
          <p:sp>
            <p:nvSpPr>
              <p:cNvPr id="52" name="矩形 51">
                <a:extLst>
                  <a:ext uri="{FF2B5EF4-FFF2-40B4-BE49-F238E27FC236}">
                    <a16:creationId xmlns:a16="http://schemas.microsoft.com/office/drawing/2014/main" id="{78B473AD-2ADF-473D-98A3-E474E9B379AA}"/>
                  </a:ext>
                </a:extLst>
              </p:cNvPr>
              <p:cNvSpPr>
                <a:spLocks noRot="1" noChangeAspect="1" noMove="1" noResize="1" noEditPoints="1" noAdjustHandles="1" noChangeArrowheads="1" noChangeShapeType="1" noTextEdit="1"/>
              </p:cNvSpPr>
              <p:nvPr/>
            </p:nvSpPr>
            <p:spPr>
              <a:xfrm>
                <a:off x="5435396" y="226124"/>
                <a:ext cx="2552430" cy="523220"/>
              </a:xfrm>
              <a:prstGeom prst="rect">
                <a:avLst/>
              </a:prstGeom>
              <a:blipFill>
                <a:blip r:embed="rId7"/>
                <a:stretch>
                  <a:fillRect/>
                </a:stretch>
              </a:blipFill>
            </p:spPr>
            <p:txBody>
              <a:bodyPr/>
              <a:lstStyle/>
              <a:p>
                <a:r>
                  <a:rPr lang="zh-TW" altLang="en-US">
                    <a:noFill/>
                  </a:rPr>
                  <a:t> </a:t>
                </a:r>
              </a:p>
            </p:txBody>
          </p:sp>
        </mc:Fallback>
      </mc:AlternateContent>
      <p:sp>
        <p:nvSpPr>
          <p:cNvPr id="54" name="標題 1">
            <a:extLst>
              <a:ext uri="{FF2B5EF4-FFF2-40B4-BE49-F238E27FC236}">
                <a16:creationId xmlns:a16="http://schemas.microsoft.com/office/drawing/2014/main" id="{720553EE-86C9-44EA-999B-DD03298955BF}"/>
              </a:ext>
            </a:extLst>
          </p:cNvPr>
          <p:cNvSpPr txBox="1">
            <a:spLocks/>
          </p:cNvSpPr>
          <p:nvPr/>
        </p:nvSpPr>
        <p:spPr>
          <a:xfrm>
            <a:off x="4976176" y="5355976"/>
            <a:ext cx="1100153" cy="58336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002060"/>
                </a:solidFill>
                <a:latin typeface="Gill Sans MT" panose="020B0502020104020203" pitchFamily="34" charset="0"/>
                <a:cs typeface="Times New Roman" panose="02020603050405020304" pitchFamily="18" charset="0"/>
              </a:rPr>
              <a:t>Maximal Pointer</a:t>
            </a:r>
            <a:endParaRPr lang="zh-TW" altLang="en-US" sz="2000" b="1" dirty="0">
              <a:solidFill>
                <a:srgbClr val="002060"/>
              </a:solidFill>
              <a:latin typeface="Gill Sans MT" panose="020B0502020104020203" pitchFamily="34" charset="0"/>
              <a:cs typeface="Times New Roman" panose="02020603050405020304" pitchFamily="18" charset="0"/>
            </a:endParaRPr>
          </a:p>
        </p:txBody>
      </p:sp>
      <p:cxnSp>
        <p:nvCxnSpPr>
          <p:cNvPr id="58" name="直線單箭頭接點 57">
            <a:extLst>
              <a:ext uri="{FF2B5EF4-FFF2-40B4-BE49-F238E27FC236}">
                <a16:creationId xmlns:a16="http://schemas.microsoft.com/office/drawing/2014/main" id="{375C7430-0270-4875-8C9B-5BE494AF75E6}"/>
              </a:ext>
            </a:extLst>
          </p:cNvPr>
          <p:cNvCxnSpPr>
            <a:cxnSpLocks/>
            <a:stCxn id="54" idx="1"/>
          </p:cNvCxnSpPr>
          <p:nvPr/>
        </p:nvCxnSpPr>
        <p:spPr>
          <a:xfrm flipH="1" flipV="1">
            <a:off x="3210906" y="5087415"/>
            <a:ext cx="1765270" cy="56024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pic>
        <p:nvPicPr>
          <p:cNvPr id="3" name="圖片 2">
            <a:extLst>
              <a:ext uri="{FF2B5EF4-FFF2-40B4-BE49-F238E27FC236}">
                <a16:creationId xmlns:a16="http://schemas.microsoft.com/office/drawing/2014/main" id="{7E436642-6F4C-4918-8CA1-55AF8971D089}"/>
              </a:ext>
            </a:extLst>
          </p:cNvPr>
          <p:cNvPicPr>
            <a:picLocks noChangeAspect="1"/>
          </p:cNvPicPr>
          <p:nvPr/>
        </p:nvPicPr>
        <p:blipFill rotWithShape="1">
          <a:blip r:embed="rId8"/>
          <a:srcRect l="4151" b="5193"/>
          <a:stretch/>
        </p:blipFill>
        <p:spPr>
          <a:xfrm>
            <a:off x="1578481" y="1581459"/>
            <a:ext cx="6367651" cy="3087237"/>
          </a:xfrm>
          <a:prstGeom prst="rect">
            <a:avLst/>
          </a:prstGeom>
        </p:spPr>
      </p:pic>
      <p:sp>
        <p:nvSpPr>
          <p:cNvPr id="34" name="橢圓 33">
            <a:extLst>
              <a:ext uri="{FF2B5EF4-FFF2-40B4-BE49-F238E27FC236}">
                <a16:creationId xmlns:a16="http://schemas.microsoft.com/office/drawing/2014/main" id="{C9EA3B92-FA3C-464E-8B72-7F2C4D994884}"/>
              </a:ext>
            </a:extLst>
          </p:cNvPr>
          <p:cNvSpPr/>
          <p:nvPr/>
        </p:nvSpPr>
        <p:spPr>
          <a:xfrm>
            <a:off x="2815092" y="5859907"/>
            <a:ext cx="502524" cy="48051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B1BA1269-B2CC-4337-9C7C-07234349B4F0}"/>
                  </a:ext>
                </a:extLst>
              </p:cNvPr>
              <p:cNvSpPr/>
              <p:nvPr/>
            </p:nvSpPr>
            <p:spPr>
              <a:xfrm>
                <a:off x="4276451" y="5987019"/>
                <a:ext cx="1977336"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partition: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𝑎𝑎𝑏</m:t>
                    </m:r>
                    <m:r>
                      <a:rPr lang="en-US" altLang="zh-TW" b="0" i="1" dirty="0" smtClean="0">
                        <a:latin typeface="Cambria Math" panose="02040503050406030204" pitchFamily="18" charset="0"/>
                        <a:cs typeface="Times New Roman" panose="02020603050405020304" pitchFamily="18" charset="0"/>
                      </a:rPr>
                      <m:t>, </m:t>
                    </m:r>
                    <m:r>
                      <a:rPr lang="en-US" altLang="zh-TW" b="0" i="1" dirty="0" smtClean="0">
                        <a:latin typeface="Cambria Math" panose="02040503050406030204" pitchFamily="18" charset="0"/>
                        <a:cs typeface="Times New Roman" panose="02020603050405020304" pitchFamily="18" charset="0"/>
                      </a:rPr>
                      <m:t>𝑐𝑎𝑏</m:t>
                    </m:r>
                    <m:r>
                      <a:rPr lang="en-US" altLang="zh-TW" i="1" dirty="0" smtClean="0">
                        <a:latin typeface="Cambria Math" panose="02040503050406030204" pitchFamily="18" charset="0"/>
                        <a:cs typeface="Times New Roman" panose="02020603050405020304" pitchFamily="18" charset="0"/>
                      </a:rPr>
                      <m:t> </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38" name="矩形 37">
                <a:extLst>
                  <a:ext uri="{FF2B5EF4-FFF2-40B4-BE49-F238E27FC236}">
                    <a16:creationId xmlns:a16="http://schemas.microsoft.com/office/drawing/2014/main" id="{B1BA1269-B2CC-4337-9C7C-07234349B4F0}"/>
                  </a:ext>
                </a:extLst>
              </p:cNvPr>
              <p:cNvSpPr>
                <a:spLocks noRot="1" noChangeAspect="1" noMove="1" noResize="1" noEditPoints="1" noAdjustHandles="1" noChangeArrowheads="1" noChangeShapeType="1" noTextEdit="1"/>
              </p:cNvSpPr>
              <p:nvPr/>
            </p:nvSpPr>
            <p:spPr>
              <a:xfrm>
                <a:off x="4276451" y="5987019"/>
                <a:ext cx="1977336" cy="369332"/>
              </a:xfrm>
              <a:prstGeom prst="rect">
                <a:avLst/>
              </a:prstGeom>
              <a:blipFill>
                <a:blip r:embed="rId9"/>
                <a:stretch>
                  <a:fillRect l="-2778"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1FB5D7EC-2E94-46D3-9122-5565005313B0}"/>
                  </a:ext>
                </a:extLst>
              </p:cNvPr>
              <p:cNvSpPr/>
              <p:nvPr/>
            </p:nvSpPr>
            <p:spPr>
              <a:xfrm>
                <a:off x="5435396" y="657393"/>
                <a:ext cx="257256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𝑇</m:t>
                      </m:r>
                      <m:r>
                        <a:rPr lang="en-US" altLang="zh-TW" sz="2800" i="1">
                          <a:latin typeface="Cambria Math" panose="02040503050406030204" pitchFamily="18" charset="0"/>
                        </a:rPr>
                        <m:t>=</m:t>
                      </m:r>
                      <m:r>
                        <a:rPr lang="en-US" altLang="zh-TW" sz="2800" i="1" strike="sngStrike" smtClean="0">
                          <a:solidFill>
                            <a:schemeClr val="accent2">
                              <a:lumMod val="75000"/>
                            </a:schemeClr>
                          </a:solidFill>
                          <a:latin typeface="Cambria Math" panose="02040503050406030204" pitchFamily="18" charset="0"/>
                        </a:rPr>
                        <m:t>𝑐</m:t>
                      </m:r>
                      <m:r>
                        <a:rPr lang="en-US" altLang="zh-TW" sz="2800" i="1" strike="sngStrike" smtClean="0">
                          <a:solidFill>
                            <a:schemeClr val="accent2">
                              <a:lumMod val="75000"/>
                            </a:schemeClr>
                          </a:solidFill>
                          <a:latin typeface="Cambria Math" panose="02040503050406030204" pitchFamily="18" charset="0"/>
                        </a:rPr>
                        <m:t> </m:t>
                      </m:r>
                      <m:r>
                        <a:rPr lang="en-US" altLang="zh-TW" sz="2800" i="1" strike="sngStrike" smtClean="0">
                          <a:solidFill>
                            <a:schemeClr val="accent2">
                              <a:lumMod val="75000"/>
                            </a:schemeClr>
                          </a:solidFill>
                          <a:latin typeface="Cambria Math" panose="02040503050406030204" pitchFamily="18" charset="0"/>
                        </a:rPr>
                        <m:t>𝑎</m:t>
                      </m:r>
                      <m:r>
                        <a:rPr lang="en-US" altLang="zh-TW" sz="2800" i="1" strike="sngStrike" smtClean="0">
                          <a:solidFill>
                            <a:schemeClr val="accent2">
                              <a:lumMod val="75000"/>
                            </a:schemeClr>
                          </a:solidFill>
                          <a:latin typeface="Cambria Math" panose="02040503050406030204" pitchFamily="18" charset="0"/>
                        </a:rPr>
                        <m:t> </m:t>
                      </m:r>
                      <m:r>
                        <a:rPr lang="en-US" altLang="zh-TW" sz="2800" i="1" strike="sngStrike" smtClean="0">
                          <a:solidFill>
                            <a:schemeClr val="accent2">
                              <a:lumMod val="75000"/>
                            </a:schemeClr>
                          </a:solidFill>
                          <a:latin typeface="Cambria Math" panose="02040503050406030204" pitchFamily="18" charset="0"/>
                        </a:rPr>
                        <m:t>𝑏</m:t>
                      </m:r>
                      <m:r>
                        <a:rPr lang="en-US" altLang="zh-TW" sz="2800" i="1" smtClean="0">
                          <a:solidFill>
                            <a:schemeClr val="accent2">
                              <a:lumMod val="75000"/>
                            </a:schemeClr>
                          </a:solidFill>
                          <a:latin typeface="Cambria Math" panose="02040503050406030204" pitchFamily="18" charset="0"/>
                        </a:rPr>
                        <m:t> </m:t>
                      </m:r>
                      <m:r>
                        <a:rPr lang="en-US" altLang="zh-TW" sz="2800" i="1">
                          <a:latin typeface="Cambria Math" panose="02040503050406030204" pitchFamily="18" charset="0"/>
                        </a:rPr>
                        <m:t>𝑎</m:t>
                      </m:r>
                      <m:r>
                        <a:rPr lang="en-US" altLang="zh-TW" sz="2800" i="1">
                          <a:latin typeface="Cambria Math" panose="02040503050406030204" pitchFamily="18" charset="0"/>
                        </a:rPr>
                        <m:t> </m:t>
                      </m:r>
                      <m:r>
                        <a:rPr lang="en-US" altLang="zh-TW" sz="2800" i="1">
                          <a:latin typeface="Cambria Math" panose="02040503050406030204" pitchFamily="18" charset="0"/>
                        </a:rPr>
                        <m:t>𝑐</m:t>
                      </m:r>
                      <m:r>
                        <a:rPr lang="en-US" altLang="zh-TW" sz="2800" i="1">
                          <a:latin typeface="Cambria Math" panose="02040503050406030204" pitchFamily="18" charset="0"/>
                        </a:rPr>
                        <m:t> </m:t>
                      </m:r>
                      <m:r>
                        <a:rPr lang="en-US" altLang="zh-TW" sz="2800" i="1">
                          <a:latin typeface="Cambria Math" panose="02040503050406030204" pitchFamily="18" charset="0"/>
                        </a:rPr>
                        <m:t>𝑐</m:t>
                      </m:r>
                    </m:oMath>
                  </m:oMathPara>
                </a14:m>
                <a:endParaRPr lang="zh-TW" altLang="en-US" sz="2800" i="1" dirty="0">
                  <a:latin typeface="Cambria Math" panose="02040503050406030204" pitchFamily="18" charset="0"/>
                </a:endParaRPr>
              </a:p>
            </p:txBody>
          </p:sp>
        </mc:Choice>
        <mc:Fallback xmlns="">
          <p:sp>
            <p:nvSpPr>
              <p:cNvPr id="39" name="矩形 38">
                <a:extLst>
                  <a:ext uri="{FF2B5EF4-FFF2-40B4-BE49-F238E27FC236}">
                    <a16:creationId xmlns:a16="http://schemas.microsoft.com/office/drawing/2014/main" id="{1FB5D7EC-2E94-46D3-9122-5565005313B0}"/>
                  </a:ext>
                </a:extLst>
              </p:cNvPr>
              <p:cNvSpPr>
                <a:spLocks noRot="1" noChangeAspect="1" noMove="1" noResize="1" noEditPoints="1" noAdjustHandles="1" noChangeArrowheads="1" noChangeShapeType="1" noTextEdit="1"/>
              </p:cNvSpPr>
              <p:nvPr/>
            </p:nvSpPr>
            <p:spPr>
              <a:xfrm>
                <a:off x="5435396" y="657393"/>
                <a:ext cx="2572563" cy="523220"/>
              </a:xfrm>
              <a:prstGeom prst="rect">
                <a:avLst/>
              </a:prstGeom>
              <a:blipFill>
                <a:blip r:embed="rId10"/>
                <a:stretch>
                  <a:fillRect/>
                </a:stretch>
              </a:blipFill>
            </p:spPr>
            <p:txBody>
              <a:bodyPr/>
              <a:lstStyle/>
              <a:p>
                <a:r>
                  <a:rPr lang="zh-TW" altLang="en-US">
                    <a:noFill/>
                  </a:rPr>
                  <a:t> </a:t>
                </a:r>
              </a:p>
            </p:txBody>
          </p:sp>
        </mc:Fallback>
      </mc:AlternateContent>
      <p:grpSp>
        <p:nvGrpSpPr>
          <p:cNvPr id="50" name="群組 49">
            <a:extLst>
              <a:ext uri="{FF2B5EF4-FFF2-40B4-BE49-F238E27FC236}">
                <a16:creationId xmlns:a16="http://schemas.microsoft.com/office/drawing/2014/main" id="{8D9877F4-E2BA-4C96-AA7B-E26D5362D7AC}"/>
              </a:ext>
            </a:extLst>
          </p:cNvPr>
          <p:cNvGrpSpPr/>
          <p:nvPr/>
        </p:nvGrpSpPr>
        <p:grpSpPr>
          <a:xfrm>
            <a:off x="1578480" y="1593821"/>
            <a:ext cx="6367651" cy="3087237"/>
            <a:chOff x="1578481" y="1581459"/>
            <a:chExt cx="6367651" cy="3087237"/>
          </a:xfrm>
        </p:grpSpPr>
        <p:pic>
          <p:nvPicPr>
            <p:cNvPr id="51" name="圖片 50">
              <a:extLst>
                <a:ext uri="{FF2B5EF4-FFF2-40B4-BE49-F238E27FC236}">
                  <a16:creationId xmlns:a16="http://schemas.microsoft.com/office/drawing/2014/main" id="{D691627D-0F9E-4B4D-958B-E877FA3F246E}"/>
                </a:ext>
              </a:extLst>
            </p:cNvPr>
            <p:cNvPicPr>
              <a:picLocks noChangeAspect="1"/>
            </p:cNvPicPr>
            <p:nvPr/>
          </p:nvPicPr>
          <p:blipFill rotWithShape="1">
            <a:blip r:embed="rId8"/>
            <a:srcRect l="4151" b="5193"/>
            <a:stretch/>
          </p:blipFill>
          <p:spPr>
            <a:xfrm>
              <a:off x="1578481" y="1581459"/>
              <a:ext cx="6367651" cy="3087237"/>
            </a:xfrm>
            <a:prstGeom prst="rect">
              <a:avLst/>
            </a:prstGeom>
          </p:spPr>
        </p:pic>
        <p:sp>
          <p:nvSpPr>
            <p:cNvPr id="55" name="矩形 54">
              <a:extLst>
                <a:ext uri="{FF2B5EF4-FFF2-40B4-BE49-F238E27FC236}">
                  <a16:creationId xmlns:a16="http://schemas.microsoft.com/office/drawing/2014/main" id="{0534100F-6704-4C76-A7BB-4D1BADF30FAC}"/>
                </a:ext>
              </a:extLst>
            </p:cNvPr>
            <p:cNvSpPr/>
            <p:nvPr/>
          </p:nvSpPr>
          <p:spPr>
            <a:xfrm>
              <a:off x="1871330" y="3110676"/>
              <a:ext cx="1463467" cy="1325563"/>
            </a:xfrm>
            <a:prstGeom prst="rect">
              <a:avLst/>
            </a:prstGeom>
            <a:solidFill>
              <a:schemeClr val="bg1"/>
            </a:solidFill>
            <a:ln>
              <a:noFill/>
            </a:ln>
          </p:spPr>
          <p:txBody>
            <a:bodyPr wrap="square">
              <a:spAutoFit/>
            </a:bodyPr>
            <a:lstStyle/>
            <a:p>
              <a:endParaRPr lang="zh-TW" altLang="en-US" sz="2400" i="1" dirty="0">
                <a:latin typeface="Cambria Math" panose="02040503050406030204" pitchFamily="18" charset="0"/>
              </a:endParaRPr>
            </a:p>
          </p:txBody>
        </p:sp>
        <p:sp>
          <p:nvSpPr>
            <p:cNvPr id="56" name="橢圓 55">
              <a:extLst>
                <a:ext uri="{FF2B5EF4-FFF2-40B4-BE49-F238E27FC236}">
                  <a16:creationId xmlns:a16="http://schemas.microsoft.com/office/drawing/2014/main" id="{76133783-037D-4566-9658-DFB0F2F0B671}"/>
                </a:ext>
              </a:extLst>
            </p:cNvPr>
            <p:cNvSpPr/>
            <p:nvPr/>
          </p:nvSpPr>
          <p:spPr>
            <a:xfrm>
              <a:off x="2026993" y="2939690"/>
              <a:ext cx="361205" cy="361205"/>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57" name="直線接點 56">
            <a:extLst>
              <a:ext uri="{FF2B5EF4-FFF2-40B4-BE49-F238E27FC236}">
                <a16:creationId xmlns:a16="http://schemas.microsoft.com/office/drawing/2014/main" id="{C0BA2B47-DB96-4811-9227-13EB1FE5B94D}"/>
              </a:ext>
            </a:extLst>
          </p:cNvPr>
          <p:cNvCxnSpPr>
            <a:cxnSpLocks/>
          </p:cNvCxnSpPr>
          <p:nvPr/>
        </p:nvCxnSpPr>
        <p:spPr>
          <a:xfrm>
            <a:off x="7322870" y="3202480"/>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id="{66848D66-2C85-45E1-B4F8-F637F0E7763A}"/>
              </a:ext>
            </a:extLst>
          </p:cNvPr>
          <p:cNvCxnSpPr>
            <a:cxnSpLocks/>
          </p:cNvCxnSpPr>
          <p:nvPr/>
        </p:nvCxnSpPr>
        <p:spPr>
          <a:xfrm>
            <a:off x="5647969" y="4130146"/>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直線接點 59">
            <a:extLst>
              <a:ext uri="{FF2B5EF4-FFF2-40B4-BE49-F238E27FC236}">
                <a16:creationId xmlns:a16="http://schemas.microsoft.com/office/drawing/2014/main" id="{824536D9-F8FE-4D66-B1FD-867563DED913}"/>
              </a:ext>
            </a:extLst>
          </p:cNvPr>
          <p:cNvCxnSpPr>
            <a:cxnSpLocks/>
          </p:cNvCxnSpPr>
          <p:nvPr/>
        </p:nvCxnSpPr>
        <p:spPr>
          <a:xfrm>
            <a:off x="6317516" y="2466560"/>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直線接點 60">
            <a:extLst>
              <a:ext uri="{FF2B5EF4-FFF2-40B4-BE49-F238E27FC236}">
                <a16:creationId xmlns:a16="http://schemas.microsoft.com/office/drawing/2014/main" id="{A4985847-9CC3-4DD5-9763-7D2456F12289}"/>
              </a:ext>
            </a:extLst>
          </p:cNvPr>
          <p:cNvCxnSpPr>
            <a:cxnSpLocks/>
          </p:cNvCxnSpPr>
          <p:nvPr/>
        </p:nvCxnSpPr>
        <p:spPr>
          <a:xfrm>
            <a:off x="4835742" y="3548563"/>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2" name="直線接點 61">
            <a:extLst>
              <a:ext uri="{FF2B5EF4-FFF2-40B4-BE49-F238E27FC236}">
                <a16:creationId xmlns:a16="http://schemas.microsoft.com/office/drawing/2014/main" id="{B0634383-43C4-4E11-8AC2-3A799CB5D69B}"/>
              </a:ext>
            </a:extLst>
          </p:cNvPr>
          <p:cNvCxnSpPr>
            <a:cxnSpLocks/>
          </p:cNvCxnSpPr>
          <p:nvPr/>
        </p:nvCxnSpPr>
        <p:spPr>
          <a:xfrm>
            <a:off x="6036647" y="2466560"/>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3" name="直線接點 62">
            <a:extLst>
              <a:ext uri="{FF2B5EF4-FFF2-40B4-BE49-F238E27FC236}">
                <a16:creationId xmlns:a16="http://schemas.microsoft.com/office/drawing/2014/main" id="{4998C5B3-460A-46A3-B5DE-DB000FA3C2CB}"/>
              </a:ext>
            </a:extLst>
          </p:cNvPr>
          <p:cNvCxnSpPr>
            <a:cxnSpLocks/>
          </p:cNvCxnSpPr>
          <p:nvPr/>
        </p:nvCxnSpPr>
        <p:spPr>
          <a:xfrm>
            <a:off x="4495308" y="3539963"/>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5" name="直線接點 64">
            <a:extLst>
              <a:ext uri="{FF2B5EF4-FFF2-40B4-BE49-F238E27FC236}">
                <a16:creationId xmlns:a16="http://schemas.microsoft.com/office/drawing/2014/main" id="{5B7911C4-B74C-4FC9-A4F1-6B9AC551034A}"/>
              </a:ext>
            </a:extLst>
          </p:cNvPr>
          <p:cNvCxnSpPr>
            <a:cxnSpLocks/>
          </p:cNvCxnSpPr>
          <p:nvPr/>
        </p:nvCxnSpPr>
        <p:spPr>
          <a:xfrm>
            <a:off x="5331072" y="4174486"/>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6" name="直線接點 65">
            <a:extLst>
              <a:ext uri="{FF2B5EF4-FFF2-40B4-BE49-F238E27FC236}">
                <a16:creationId xmlns:a16="http://schemas.microsoft.com/office/drawing/2014/main" id="{13CC8896-9F98-4B59-ACE2-E36BBCDC841D}"/>
              </a:ext>
            </a:extLst>
          </p:cNvPr>
          <p:cNvCxnSpPr>
            <a:cxnSpLocks/>
          </p:cNvCxnSpPr>
          <p:nvPr/>
        </p:nvCxnSpPr>
        <p:spPr>
          <a:xfrm>
            <a:off x="6945901" y="3238745"/>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矩形 66">
                <a:extLst>
                  <a:ext uri="{FF2B5EF4-FFF2-40B4-BE49-F238E27FC236}">
                    <a16:creationId xmlns:a16="http://schemas.microsoft.com/office/drawing/2014/main" id="{8728B83C-677D-48F3-9CD8-624C846AA50A}"/>
                  </a:ext>
                </a:extLst>
              </p:cNvPr>
              <p:cNvSpPr/>
              <p:nvPr/>
            </p:nvSpPr>
            <p:spPr>
              <a:xfrm>
                <a:off x="3058505" y="2236132"/>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6</m:t>
                          </m:r>
                        </m:sub>
                      </m:sSub>
                    </m:oMath>
                  </m:oMathPara>
                </a14:m>
                <a:endParaRPr lang="zh-TW" altLang="en-US" i="1" dirty="0">
                  <a:solidFill>
                    <a:srgbClr val="FF0000"/>
                  </a:solidFill>
                  <a:latin typeface="Cambria Math" panose="02040503050406030204" pitchFamily="18" charset="0"/>
                </a:endParaRPr>
              </a:p>
            </p:txBody>
          </p:sp>
        </mc:Choice>
        <mc:Fallback xmlns="">
          <p:sp>
            <p:nvSpPr>
              <p:cNvPr id="67" name="矩形 66">
                <a:extLst>
                  <a:ext uri="{FF2B5EF4-FFF2-40B4-BE49-F238E27FC236}">
                    <a16:creationId xmlns:a16="http://schemas.microsoft.com/office/drawing/2014/main" id="{8728B83C-677D-48F3-9CD8-624C846AA50A}"/>
                  </a:ext>
                </a:extLst>
              </p:cNvPr>
              <p:cNvSpPr>
                <a:spLocks noRot="1" noChangeAspect="1" noMove="1" noResize="1" noEditPoints="1" noAdjustHandles="1" noChangeArrowheads="1" noChangeShapeType="1" noTextEdit="1"/>
              </p:cNvSpPr>
              <p:nvPr/>
            </p:nvSpPr>
            <p:spPr>
              <a:xfrm>
                <a:off x="3058505" y="2236132"/>
                <a:ext cx="475195" cy="369332"/>
              </a:xfrm>
              <a:prstGeom prst="rect">
                <a:avLst/>
              </a:prstGeom>
              <a:blipFill>
                <a:blip r:embed="rId11"/>
                <a:stretch>
                  <a:fillRect b="-1667"/>
                </a:stretch>
              </a:blipFill>
            </p:spPr>
            <p:txBody>
              <a:bodyPr/>
              <a:lstStyle/>
              <a:p>
                <a:r>
                  <a:rPr lang="zh-TW" altLang="en-US">
                    <a:noFill/>
                  </a:rPr>
                  <a:t> </a:t>
                </a:r>
              </a:p>
            </p:txBody>
          </p:sp>
        </mc:Fallback>
      </mc:AlternateContent>
      <p:sp>
        <p:nvSpPr>
          <p:cNvPr id="68" name="橢圓 67">
            <a:extLst>
              <a:ext uri="{FF2B5EF4-FFF2-40B4-BE49-F238E27FC236}">
                <a16:creationId xmlns:a16="http://schemas.microsoft.com/office/drawing/2014/main" id="{0C264AFE-4960-4DE6-8536-12B5079854C7}"/>
              </a:ext>
            </a:extLst>
          </p:cNvPr>
          <p:cNvSpPr/>
          <p:nvPr/>
        </p:nvSpPr>
        <p:spPr>
          <a:xfrm>
            <a:off x="2700670" y="2261190"/>
            <a:ext cx="365684" cy="33755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69" name="群組 68">
            <a:extLst>
              <a:ext uri="{FF2B5EF4-FFF2-40B4-BE49-F238E27FC236}">
                <a16:creationId xmlns:a16="http://schemas.microsoft.com/office/drawing/2014/main" id="{50774619-ACA8-4457-8151-8FEE367B01C6}"/>
              </a:ext>
            </a:extLst>
          </p:cNvPr>
          <p:cNvGrpSpPr/>
          <p:nvPr/>
        </p:nvGrpSpPr>
        <p:grpSpPr>
          <a:xfrm>
            <a:off x="1471583" y="5725308"/>
            <a:ext cx="475195" cy="531218"/>
            <a:chOff x="2142041" y="5194090"/>
            <a:chExt cx="475195" cy="531218"/>
          </a:xfrm>
        </p:grpSpPr>
        <p:cxnSp>
          <p:nvCxnSpPr>
            <p:cNvPr id="70" name="直線單箭頭接點 69">
              <a:extLst>
                <a:ext uri="{FF2B5EF4-FFF2-40B4-BE49-F238E27FC236}">
                  <a16:creationId xmlns:a16="http://schemas.microsoft.com/office/drawing/2014/main" id="{B2864975-B429-428F-8297-D94BBBABD2A7}"/>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矩形 70">
                  <a:extLst>
                    <a:ext uri="{FF2B5EF4-FFF2-40B4-BE49-F238E27FC236}">
                      <a16:creationId xmlns:a16="http://schemas.microsoft.com/office/drawing/2014/main" id="{6CE62EA4-EF9B-4BF2-B683-C5B9E6F53CB3}"/>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6</m:t>
                            </m:r>
                          </m:sub>
                        </m:sSub>
                      </m:oMath>
                    </m:oMathPara>
                  </a14:m>
                  <a:endParaRPr lang="zh-TW" altLang="en-US" i="1" dirty="0">
                    <a:solidFill>
                      <a:srgbClr val="FF0000"/>
                    </a:solidFill>
                    <a:latin typeface="Cambria Math" panose="02040503050406030204" pitchFamily="18" charset="0"/>
                  </a:endParaRPr>
                </a:p>
              </p:txBody>
            </p:sp>
          </mc:Choice>
          <mc:Fallback xmlns="">
            <p:sp>
              <p:nvSpPr>
                <p:cNvPr id="71" name="矩形 70">
                  <a:extLst>
                    <a:ext uri="{FF2B5EF4-FFF2-40B4-BE49-F238E27FC236}">
                      <a16:creationId xmlns:a16="http://schemas.microsoft.com/office/drawing/2014/main" id="{6CE62EA4-EF9B-4BF2-B683-C5B9E6F53CB3}"/>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12"/>
                  <a:stretch>
                    <a:fillRect b="-1667"/>
                  </a:stretch>
                </a:blipFill>
              </p:spPr>
              <p:txBody>
                <a:bodyPr/>
                <a:lstStyle/>
                <a:p>
                  <a:r>
                    <a:rPr lang="zh-TW" altLang="en-US">
                      <a:noFill/>
                    </a:rPr>
                    <a:t> </a:t>
                  </a:r>
                </a:p>
              </p:txBody>
            </p:sp>
          </mc:Fallback>
        </mc:AlternateContent>
      </p:grpSp>
      <p:cxnSp>
        <p:nvCxnSpPr>
          <p:cNvPr id="72" name="直線接點 71">
            <a:extLst>
              <a:ext uri="{FF2B5EF4-FFF2-40B4-BE49-F238E27FC236}">
                <a16:creationId xmlns:a16="http://schemas.microsoft.com/office/drawing/2014/main" id="{C20E3A4B-A919-45A1-A4CA-FB6CFBF3ED01}"/>
              </a:ext>
            </a:extLst>
          </p:cNvPr>
          <p:cNvCxnSpPr>
            <a:cxnSpLocks/>
          </p:cNvCxnSpPr>
          <p:nvPr/>
        </p:nvCxnSpPr>
        <p:spPr>
          <a:xfrm>
            <a:off x="1574996" y="5282222"/>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3" name="直線接點 72">
            <a:extLst>
              <a:ext uri="{FF2B5EF4-FFF2-40B4-BE49-F238E27FC236}">
                <a16:creationId xmlns:a16="http://schemas.microsoft.com/office/drawing/2014/main" id="{65211C4C-ED81-489A-9027-3FE0BCB3E32A}"/>
              </a:ext>
            </a:extLst>
          </p:cNvPr>
          <p:cNvCxnSpPr>
            <a:cxnSpLocks/>
          </p:cNvCxnSpPr>
          <p:nvPr/>
        </p:nvCxnSpPr>
        <p:spPr>
          <a:xfrm>
            <a:off x="2244458" y="5840239"/>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0070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fade">
                                      <p:cBhvr>
                                        <p:cTn id="12" dur="500"/>
                                        <p:tgtEl>
                                          <p:spTgt spid="63"/>
                                        </p:tgtEl>
                                      </p:cBhvr>
                                    </p:animEffect>
                                  </p:childTnLst>
                                </p:cTn>
                              </p:par>
                              <p:par>
                                <p:cTn id="13" presetID="10" presetClass="entr" presetSubtype="0" fill="hold" nodeType="withEffect">
                                  <p:stCondLst>
                                    <p:cond delay="0"/>
                                  </p:stCondLst>
                                  <p:childTnLst>
                                    <p:set>
                                      <p:cBhvr>
                                        <p:cTn id="14" dur="1" fill="hold">
                                          <p:stCondLst>
                                            <p:cond delay="0"/>
                                          </p:stCondLst>
                                        </p:cTn>
                                        <p:tgtEl>
                                          <p:spTgt spid="62"/>
                                        </p:tgtEl>
                                        <p:attrNameLst>
                                          <p:attrName>style.visibility</p:attrName>
                                        </p:attrNameLst>
                                      </p:cBhvr>
                                      <p:to>
                                        <p:strVal val="visible"/>
                                      </p:to>
                                    </p:set>
                                    <p:animEffect transition="in" filter="fade">
                                      <p:cBhvr>
                                        <p:cTn id="15" dur="500"/>
                                        <p:tgtEl>
                                          <p:spTgt spid="62"/>
                                        </p:tgtEl>
                                      </p:cBhvr>
                                    </p:animEffect>
                                  </p:childTnLst>
                                </p:cTn>
                              </p:par>
                              <p:par>
                                <p:cTn id="16" presetID="10" presetClass="entr" presetSubtype="0" fill="hold" nodeType="withEffect">
                                  <p:stCondLst>
                                    <p:cond delay="0"/>
                                  </p:stCondLst>
                                  <p:childTnLst>
                                    <p:set>
                                      <p:cBhvr>
                                        <p:cTn id="17" dur="1" fill="hold">
                                          <p:stCondLst>
                                            <p:cond delay="0"/>
                                          </p:stCondLst>
                                        </p:cTn>
                                        <p:tgtEl>
                                          <p:spTgt spid="66"/>
                                        </p:tgtEl>
                                        <p:attrNameLst>
                                          <p:attrName>style.visibility</p:attrName>
                                        </p:attrNameLst>
                                      </p:cBhvr>
                                      <p:to>
                                        <p:strVal val="visible"/>
                                      </p:to>
                                    </p:set>
                                    <p:animEffect transition="in" filter="fade">
                                      <p:cBhvr>
                                        <p:cTn id="18" dur="500"/>
                                        <p:tgtEl>
                                          <p:spTgt spid="66"/>
                                        </p:tgtEl>
                                      </p:cBhvr>
                                    </p:animEffect>
                                  </p:childTnLst>
                                </p:cTn>
                              </p:par>
                              <p:par>
                                <p:cTn id="19" presetID="10" presetClass="entr" presetSubtype="0" fill="hold" nodeType="withEffect">
                                  <p:stCondLst>
                                    <p:cond delay="0"/>
                                  </p:stCondLst>
                                  <p:childTnLst>
                                    <p:set>
                                      <p:cBhvr>
                                        <p:cTn id="20" dur="1" fill="hold">
                                          <p:stCondLst>
                                            <p:cond delay="0"/>
                                          </p:stCondLst>
                                        </p:cTn>
                                        <p:tgtEl>
                                          <p:spTgt spid="65"/>
                                        </p:tgtEl>
                                        <p:attrNameLst>
                                          <p:attrName>style.visibility</p:attrName>
                                        </p:attrNameLst>
                                      </p:cBhvr>
                                      <p:to>
                                        <p:strVal val="visible"/>
                                      </p:to>
                                    </p:set>
                                    <p:animEffect transition="in" filter="fade">
                                      <p:cBhvr>
                                        <p:cTn id="21" dur="500"/>
                                        <p:tgtEl>
                                          <p:spTgt spid="6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72"/>
                                        </p:tgtEl>
                                        <p:attrNameLst>
                                          <p:attrName>style.visibility</p:attrName>
                                        </p:attrNameLst>
                                      </p:cBhvr>
                                      <p:to>
                                        <p:strVal val="visible"/>
                                      </p:to>
                                    </p:set>
                                    <p:animEffect transition="in" filter="fade">
                                      <p:cBhvr>
                                        <p:cTn id="26" dur="500"/>
                                        <p:tgtEl>
                                          <p:spTgt spid="72"/>
                                        </p:tgtEl>
                                      </p:cBhvr>
                                    </p:animEffect>
                                  </p:childTnLst>
                                </p:cTn>
                              </p:par>
                              <p:par>
                                <p:cTn id="27" presetID="10" presetClass="entr" presetSubtype="0" fill="hold" nodeType="withEffect">
                                  <p:stCondLst>
                                    <p:cond delay="0"/>
                                  </p:stCondLst>
                                  <p:childTnLst>
                                    <p:set>
                                      <p:cBhvr>
                                        <p:cTn id="28" dur="1" fill="hold">
                                          <p:stCondLst>
                                            <p:cond delay="0"/>
                                          </p:stCondLst>
                                        </p:cTn>
                                        <p:tgtEl>
                                          <p:spTgt spid="73"/>
                                        </p:tgtEl>
                                        <p:attrNameLst>
                                          <p:attrName>style.visibility</p:attrName>
                                        </p:attrNameLst>
                                      </p:cBhvr>
                                      <p:to>
                                        <p:strVal val="visible"/>
                                      </p:to>
                                    </p:set>
                                    <p:animEffect transition="in" filter="fade">
                                      <p:cBhvr>
                                        <p:cTn id="29" dur="500"/>
                                        <p:tgtEl>
                                          <p:spTgt spid="7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68"/>
                                        </p:tgtEl>
                                        <p:attrNameLst>
                                          <p:attrName>style.visibility</p:attrName>
                                        </p:attrNameLst>
                                      </p:cBhvr>
                                      <p:to>
                                        <p:strVal val="visible"/>
                                      </p:to>
                                    </p:set>
                                    <p:animEffect transition="in" filter="fade">
                                      <p:cBhvr>
                                        <p:cTn id="34" dur="500"/>
                                        <p:tgtEl>
                                          <p:spTgt spid="6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67"/>
                                        </p:tgtEl>
                                        <p:attrNameLst>
                                          <p:attrName>style.visibility</p:attrName>
                                        </p:attrNameLst>
                                      </p:cBhvr>
                                      <p:to>
                                        <p:strVal val="visible"/>
                                      </p:to>
                                    </p:set>
                                    <p:animEffect transition="in" filter="fade">
                                      <p:cBhvr>
                                        <p:cTn id="37" dur="500"/>
                                        <p:tgtEl>
                                          <p:spTgt spid="67"/>
                                        </p:tgtEl>
                                      </p:cBhvr>
                                    </p:animEffect>
                                  </p:childTnLst>
                                </p:cTn>
                              </p:par>
                            </p:childTnLst>
                          </p:cTn>
                        </p:par>
                        <p:par>
                          <p:cTn id="38" fill="hold">
                            <p:stCondLst>
                              <p:cond delay="500"/>
                            </p:stCondLst>
                            <p:childTnLst>
                              <p:par>
                                <p:cTn id="39" presetID="10" presetClass="entr" presetSubtype="0" fill="hold" nodeType="afterEffect">
                                  <p:stCondLst>
                                    <p:cond delay="0"/>
                                  </p:stCondLst>
                                  <p:childTnLst>
                                    <p:set>
                                      <p:cBhvr>
                                        <p:cTn id="40" dur="1" fill="hold">
                                          <p:stCondLst>
                                            <p:cond delay="0"/>
                                          </p:stCondLst>
                                        </p:cTn>
                                        <p:tgtEl>
                                          <p:spTgt spid="69"/>
                                        </p:tgtEl>
                                        <p:attrNameLst>
                                          <p:attrName>style.visibility</p:attrName>
                                        </p:attrNameLst>
                                      </p:cBhvr>
                                      <p:to>
                                        <p:strVal val="visible"/>
                                      </p:to>
                                    </p:set>
                                    <p:animEffect transition="in" filter="fade">
                                      <p:cBhvr>
                                        <p:cTn id="41"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18</a:t>
            </a:fld>
            <a:endParaRPr lang="zh-TW" altLang="en-US" dirty="0"/>
          </a:p>
        </p:txBody>
      </p:sp>
      <p:sp>
        <p:nvSpPr>
          <p:cNvPr id="144" name="標題 1">
            <a:extLst>
              <a:ext uri="{FF2B5EF4-FFF2-40B4-BE49-F238E27FC236}">
                <a16:creationId xmlns:a16="http://schemas.microsoft.com/office/drawing/2014/main" id="{BEB4C4FE-92DC-49E9-BA31-B5B03EB1851E}"/>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Third Round(Before)</a:t>
            </a:r>
            <a:endParaRPr lang="zh-TW" altLang="en-US" sz="3200" dirty="0">
              <a:latin typeface="Times New Roman" panose="02020603050405020304" pitchFamily="18" charset="0"/>
              <a:cs typeface="Times New Roman" panose="02020603050405020304" pitchFamily="18" charset="0"/>
            </a:endParaRPr>
          </a:p>
        </p:txBody>
      </p:sp>
      <p:sp>
        <p:nvSpPr>
          <p:cNvPr id="15" name="內容版面配置區 6">
            <a:extLst>
              <a:ext uri="{FF2B5EF4-FFF2-40B4-BE49-F238E27FC236}">
                <a16:creationId xmlns:a16="http://schemas.microsoft.com/office/drawing/2014/main" id="{45387554-66BD-46A2-9CE4-80CF9ABB89B8}"/>
              </a:ext>
            </a:extLst>
          </p:cNvPr>
          <p:cNvSpPr txBox="1">
            <a:spLocks/>
          </p:cNvSpPr>
          <p:nvPr/>
        </p:nvSpPr>
        <p:spPr>
          <a:xfrm>
            <a:off x="471956" y="998092"/>
            <a:ext cx="8327572" cy="5553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TW" sz="2400" dirty="0">
                <a:latin typeface="Times New Roman" panose="02020603050405020304" pitchFamily="18" charset="0"/>
                <a:cs typeface="Times New Roman" panose="02020603050405020304" pitchFamily="18" charset="0"/>
              </a:rPr>
              <a:t>The Longest Prefix Bucket Array</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9" name="表格 8">
            <a:extLst>
              <a:ext uri="{FF2B5EF4-FFF2-40B4-BE49-F238E27FC236}">
                <a16:creationId xmlns:a16="http://schemas.microsoft.com/office/drawing/2014/main" id="{CED2CC08-5B0E-4719-A11B-2F1D84641CDB}"/>
              </a:ext>
            </a:extLst>
          </p:cNvPr>
          <p:cNvGraphicFramePr>
            <a:graphicFrameLocks noGrp="1"/>
          </p:cNvGraphicFramePr>
          <p:nvPr/>
        </p:nvGraphicFramePr>
        <p:xfrm>
          <a:off x="1367307" y="4823250"/>
          <a:ext cx="6095997" cy="37084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val="184306604"/>
                    </a:ext>
                  </a:extLst>
                </a:gridCol>
                <a:gridCol w="677333">
                  <a:extLst>
                    <a:ext uri="{9D8B030D-6E8A-4147-A177-3AD203B41FA5}">
                      <a16:colId xmlns:a16="http://schemas.microsoft.com/office/drawing/2014/main" val="1731048100"/>
                    </a:ext>
                  </a:extLst>
                </a:gridCol>
                <a:gridCol w="677333">
                  <a:extLst>
                    <a:ext uri="{9D8B030D-6E8A-4147-A177-3AD203B41FA5}">
                      <a16:colId xmlns:a16="http://schemas.microsoft.com/office/drawing/2014/main" val="1688476900"/>
                    </a:ext>
                  </a:extLst>
                </a:gridCol>
                <a:gridCol w="677333">
                  <a:extLst>
                    <a:ext uri="{9D8B030D-6E8A-4147-A177-3AD203B41FA5}">
                      <a16:colId xmlns:a16="http://schemas.microsoft.com/office/drawing/2014/main" val="1704851491"/>
                    </a:ext>
                  </a:extLst>
                </a:gridCol>
                <a:gridCol w="677333">
                  <a:extLst>
                    <a:ext uri="{9D8B030D-6E8A-4147-A177-3AD203B41FA5}">
                      <a16:colId xmlns:a16="http://schemas.microsoft.com/office/drawing/2014/main" val="1998974524"/>
                    </a:ext>
                  </a:extLst>
                </a:gridCol>
                <a:gridCol w="677333">
                  <a:extLst>
                    <a:ext uri="{9D8B030D-6E8A-4147-A177-3AD203B41FA5}">
                      <a16:colId xmlns:a16="http://schemas.microsoft.com/office/drawing/2014/main" val="3853749183"/>
                    </a:ext>
                  </a:extLst>
                </a:gridCol>
                <a:gridCol w="677333">
                  <a:extLst>
                    <a:ext uri="{9D8B030D-6E8A-4147-A177-3AD203B41FA5}">
                      <a16:colId xmlns:a16="http://schemas.microsoft.com/office/drawing/2014/main" val="391626377"/>
                    </a:ext>
                  </a:extLst>
                </a:gridCol>
                <a:gridCol w="677333">
                  <a:extLst>
                    <a:ext uri="{9D8B030D-6E8A-4147-A177-3AD203B41FA5}">
                      <a16:colId xmlns:a16="http://schemas.microsoft.com/office/drawing/2014/main" val="2559129209"/>
                    </a:ext>
                  </a:extLst>
                </a:gridCol>
                <a:gridCol w="677333">
                  <a:extLst>
                    <a:ext uri="{9D8B030D-6E8A-4147-A177-3AD203B41FA5}">
                      <a16:colId xmlns:a16="http://schemas.microsoft.com/office/drawing/2014/main" val="2227559916"/>
                    </a:ext>
                  </a:extLst>
                </a:gridCol>
              </a:tblGrid>
              <a:tr h="370840">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r>
                        <a:rPr lang="en-US" altLang="zh-TW" dirty="0"/>
                        <a:t>7</a:t>
                      </a:r>
                      <a:endParaRPr lang="zh-TW" altLang="en-US" dirty="0"/>
                    </a:p>
                  </a:txBody>
                  <a:tcPr anchor="ctr"/>
                </a:tc>
                <a:tc>
                  <a:txBody>
                    <a:bodyPr/>
                    <a:lstStyle/>
                    <a:p>
                      <a:pPr algn="ctr"/>
                      <a:r>
                        <a:rPr lang="en-US" altLang="zh-TW" dirty="0"/>
                        <a:t>8</a:t>
                      </a:r>
                      <a:endParaRPr lang="zh-TW" altLang="en-US" dirty="0"/>
                    </a:p>
                  </a:txBody>
                  <a:tcPr anchor="ctr"/>
                </a:tc>
                <a:tc>
                  <a:txBody>
                    <a:bodyPr/>
                    <a:lstStyle/>
                    <a:p>
                      <a:pPr algn="ctr"/>
                      <a:r>
                        <a:rPr lang="en-US" altLang="zh-TW" dirty="0"/>
                        <a:t>9</a:t>
                      </a:r>
                      <a:endParaRPr lang="zh-TW" altLang="en-US" dirty="0"/>
                    </a:p>
                  </a:txBody>
                  <a:tcPr anchor="ctr"/>
                </a:tc>
                <a:extLst>
                  <a:ext uri="{0D108BD9-81ED-4DB2-BD59-A6C34878D82A}">
                    <a16:rowId xmlns:a16="http://schemas.microsoft.com/office/drawing/2014/main" val="2394764283"/>
                  </a:ext>
                </a:extLst>
              </a:tr>
            </a:tbl>
          </a:graphicData>
        </a:graphic>
      </p:graphicFrame>
      <p:cxnSp>
        <p:nvCxnSpPr>
          <p:cNvPr id="17" name="直線單箭頭接點 16">
            <a:extLst>
              <a:ext uri="{FF2B5EF4-FFF2-40B4-BE49-F238E27FC236}">
                <a16:creationId xmlns:a16="http://schemas.microsoft.com/office/drawing/2014/main" id="{F49A02D6-DBBA-4FD9-8857-8DD266D83D5F}"/>
              </a:ext>
            </a:extLst>
          </p:cNvPr>
          <p:cNvCxnSpPr>
            <a:cxnSpLocks/>
          </p:cNvCxnSpPr>
          <p:nvPr/>
        </p:nvCxnSpPr>
        <p:spPr>
          <a:xfrm>
            <a:off x="1711842"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52948B29-4E80-40E8-AE4D-3B8F1E85EC7C}"/>
                  </a:ext>
                </a:extLst>
              </p:cNvPr>
              <p:cNvSpPr/>
              <p:nvPr/>
            </p:nvSpPr>
            <p:spPr>
              <a:xfrm>
                <a:off x="1476906"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6</m:t>
                          </m:r>
                        </m:sub>
                      </m:sSub>
                    </m:oMath>
                  </m:oMathPara>
                </a14:m>
                <a:endParaRPr lang="zh-TW" altLang="en-US" i="1" dirty="0">
                  <a:solidFill>
                    <a:srgbClr val="FF0000"/>
                  </a:solidFill>
                  <a:latin typeface="Cambria Math" panose="02040503050406030204" pitchFamily="18" charset="0"/>
                </a:endParaRPr>
              </a:p>
            </p:txBody>
          </p:sp>
        </mc:Choice>
        <mc:Fallback xmlns="">
          <p:sp>
            <p:nvSpPr>
              <p:cNvPr id="27" name="矩形 26">
                <a:extLst>
                  <a:ext uri="{FF2B5EF4-FFF2-40B4-BE49-F238E27FC236}">
                    <a16:creationId xmlns:a16="http://schemas.microsoft.com/office/drawing/2014/main" id="{52948B29-4E80-40E8-AE4D-3B8F1E85EC7C}"/>
                  </a:ext>
                </a:extLst>
              </p:cNvPr>
              <p:cNvSpPr>
                <a:spLocks noRot="1" noChangeAspect="1" noMove="1" noResize="1" noEditPoints="1" noAdjustHandles="1" noChangeArrowheads="1" noChangeShapeType="1" noTextEdit="1"/>
              </p:cNvSpPr>
              <p:nvPr/>
            </p:nvSpPr>
            <p:spPr>
              <a:xfrm>
                <a:off x="1476906" y="5355976"/>
                <a:ext cx="475195" cy="369332"/>
              </a:xfrm>
              <a:prstGeom prst="rect">
                <a:avLst/>
              </a:prstGeom>
              <a:blipFill>
                <a:blip r:embed="rId3"/>
                <a:stretch>
                  <a:fillRect b="-1667"/>
                </a:stretch>
              </a:blipFill>
            </p:spPr>
            <p:txBody>
              <a:bodyPr/>
              <a:lstStyle/>
              <a:p>
                <a:r>
                  <a:rPr lang="zh-TW" altLang="en-US">
                    <a:noFill/>
                  </a:rPr>
                  <a:t> </a:t>
                </a:r>
              </a:p>
            </p:txBody>
          </p:sp>
        </mc:Fallback>
      </mc:AlternateContent>
      <p:grpSp>
        <p:nvGrpSpPr>
          <p:cNvPr id="20" name="群組 19">
            <a:extLst>
              <a:ext uri="{FF2B5EF4-FFF2-40B4-BE49-F238E27FC236}">
                <a16:creationId xmlns:a16="http://schemas.microsoft.com/office/drawing/2014/main" id="{AC07034D-5FBB-4C1A-9F30-1627D60023CE}"/>
              </a:ext>
            </a:extLst>
          </p:cNvPr>
          <p:cNvGrpSpPr/>
          <p:nvPr/>
        </p:nvGrpSpPr>
        <p:grpSpPr>
          <a:xfrm>
            <a:off x="2142041" y="5194090"/>
            <a:ext cx="475195" cy="531218"/>
            <a:chOff x="2142041" y="5194090"/>
            <a:chExt cx="475195" cy="531218"/>
          </a:xfrm>
        </p:grpSpPr>
        <p:cxnSp>
          <p:nvCxnSpPr>
            <p:cNvPr id="30" name="直線單箭頭接點 29">
              <a:extLst>
                <a:ext uri="{FF2B5EF4-FFF2-40B4-BE49-F238E27FC236}">
                  <a16:creationId xmlns:a16="http://schemas.microsoft.com/office/drawing/2014/main" id="{0095A320-6347-4D2C-865A-333D9C149A16}"/>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AE26580E-D880-4367-A6CA-146D492FBCB2}"/>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2</m:t>
                            </m:r>
                          </m:sub>
                        </m:sSub>
                      </m:oMath>
                    </m:oMathPara>
                  </a14:m>
                  <a:endParaRPr lang="zh-TW" altLang="en-US" i="1" dirty="0">
                    <a:solidFill>
                      <a:srgbClr val="FF0000"/>
                    </a:solidFill>
                    <a:latin typeface="Cambria Math" panose="02040503050406030204" pitchFamily="18" charset="0"/>
                  </a:endParaRPr>
                </a:p>
              </p:txBody>
            </p:sp>
          </mc:Choice>
          <mc:Fallback xmlns="">
            <p:sp>
              <p:nvSpPr>
                <p:cNvPr id="31" name="矩形 30">
                  <a:extLst>
                    <a:ext uri="{FF2B5EF4-FFF2-40B4-BE49-F238E27FC236}">
                      <a16:creationId xmlns:a16="http://schemas.microsoft.com/office/drawing/2014/main" id="{AE26580E-D880-4367-A6CA-146D492FBCB2}"/>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4"/>
                  <a:stretch>
                    <a:fillRect b="-1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52" name="矩形 51">
                <a:extLst>
                  <a:ext uri="{FF2B5EF4-FFF2-40B4-BE49-F238E27FC236}">
                    <a16:creationId xmlns:a16="http://schemas.microsoft.com/office/drawing/2014/main" id="{78B473AD-2ADF-473D-98A3-E474E9B379AA}"/>
                  </a:ext>
                </a:extLst>
              </p:cNvPr>
              <p:cNvSpPr/>
              <p:nvPr/>
            </p:nvSpPr>
            <p:spPr>
              <a:xfrm>
                <a:off x="5435396" y="226124"/>
                <a:ext cx="165070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𝑎</m:t>
                      </m:r>
                      <m:r>
                        <a:rPr lang="en-US" altLang="zh-TW" sz="2800" b="0" i="1" smtClean="0">
                          <a:solidFill>
                            <a:schemeClr val="accent2">
                              <a:lumMod val="75000"/>
                            </a:schemeClr>
                          </a:solidFill>
                          <a:latin typeface="Cambria Math" panose="02040503050406030204" pitchFamily="18" charset="0"/>
                        </a:rPr>
                        <m:t> </m:t>
                      </m:r>
                      <m:r>
                        <a:rPr lang="en-US" altLang="zh-TW" sz="2800" b="0" i="1" smtClean="0">
                          <a:solidFill>
                            <a:schemeClr val="accent2">
                              <a:lumMod val="75000"/>
                            </a:schemeClr>
                          </a:solidFill>
                          <a:latin typeface="Cambria Math" panose="02040503050406030204" pitchFamily="18" charset="0"/>
                        </a:rPr>
                        <m:t>𝑐</m:t>
                      </m:r>
                    </m:oMath>
                  </m:oMathPara>
                </a14:m>
                <a:endParaRPr lang="zh-TW" altLang="en-US" sz="2800" dirty="0"/>
              </a:p>
            </p:txBody>
          </p:sp>
        </mc:Choice>
        <mc:Fallback xmlns="">
          <p:sp>
            <p:nvSpPr>
              <p:cNvPr id="52" name="矩形 51">
                <a:extLst>
                  <a:ext uri="{FF2B5EF4-FFF2-40B4-BE49-F238E27FC236}">
                    <a16:creationId xmlns:a16="http://schemas.microsoft.com/office/drawing/2014/main" id="{78B473AD-2ADF-473D-98A3-E474E9B379AA}"/>
                  </a:ext>
                </a:extLst>
              </p:cNvPr>
              <p:cNvSpPr>
                <a:spLocks noRot="1" noChangeAspect="1" noMove="1" noResize="1" noEditPoints="1" noAdjustHandles="1" noChangeArrowheads="1" noChangeShapeType="1" noTextEdit="1"/>
              </p:cNvSpPr>
              <p:nvPr/>
            </p:nvSpPr>
            <p:spPr>
              <a:xfrm>
                <a:off x="5435396" y="226124"/>
                <a:ext cx="1650708" cy="523220"/>
              </a:xfrm>
              <a:prstGeom prst="rect">
                <a:avLst/>
              </a:prstGeom>
              <a:blipFill>
                <a:blip r:embed="rId5"/>
                <a:stretch>
                  <a:fillRect/>
                </a:stretch>
              </a:blipFill>
            </p:spPr>
            <p:txBody>
              <a:bodyPr/>
              <a:lstStyle/>
              <a:p>
                <a:r>
                  <a:rPr lang="zh-TW" altLang="en-US">
                    <a:noFill/>
                  </a:rPr>
                  <a:t> </a:t>
                </a:r>
              </a:p>
            </p:txBody>
          </p:sp>
        </mc:Fallback>
      </mc:AlternateContent>
      <p:sp>
        <p:nvSpPr>
          <p:cNvPr id="54" name="標題 1">
            <a:extLst>
              <a:ext uri="{FF2B5EF4-FFF2-40B4-BE49-F238E27FC236}">
                <a16:creationId xmlns:a16="http://schemas.microsoft.com/office/drawing/2014/main" id="{720553EE-86C9-44EA-999B-DD03298955BF}"/>
              </a:ext>
            </a:extLst>
          </p:cNvPr>
          <p:cNvSpPr txBox="1">
            <a:spLocks/>
          </p:cNvSpPr>
          <p:nvPr/>
        </p:nvSpPr>
        <p:spPr>
          <a:xfrm>
            <a:off x="4976176" y="5355976"/>
            <a:ext cx="1100153" cy="58336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002060"/>
                </a:solidFill>
                <a:latin typeface="Gill Sans MT" panose="020B0502020104020203" pitchFamily="34" charset="0"/>
                <a:cs typeface="Times New Roman" panose="02020603050405020304" pitchFamily="18" charset="0"/>
              </a:rPr>
              <a:t>Maximal Pointer</a:t>
            </a:r>
            <a:endParaRPr lang="zh-TW" altLang="en-US" sz="2000" b="1" dirty="0">
              <a:solidFill>
                <a:srgbClr val="002060"/>
              </a:solidFill>
              <a:latin typeface="Gill Sans MT" panose="020B0502020104020203" pitchFamily="34" charset="0"/>
              <a:cs typeface="Times New Roman" panose="02020603050405020304" pitchFamily="18" charset="0"/>
            </a:endParaRPr>
          </a:p>
        </p:txBody>
      </p:sp>
      <p:cxnSp>
        <p:nvCxnSpPr>
          <p:cNvPr id="58" name="直線單箭頭接點 57">
            <a:extLst>
              <a:ext uri="{FF2B5EF4-FFF2-40B4-BE49-F238E27FC236}">
                <a16:creationId xmlns:a16="http://schemas.microsoft.com/office/drawing/2014/main" id="{375C7430-0270-4875-8C9B-5BE494AF75E6}"/>
              </a:ext>
            </a:extLst>
          </p:cNvPr>
          <p:cNvCxnSpPr>
            <a:cxnSpLocks/>
            <a:stCxn id="54" idx="1"/>
          </p:cNvCxnSpPr>
          <p:nvPr/>
        </p:nvCxnSpPr>
        <p:spPr>
          <a:xfrm flipH="1" flipV="1">
            <a:off x="2498651" y="5103628"/>
            <a:ext cx="2477525" cy="544032"/>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pic>
        <p:nvPicPr>
          <p:cNvPr id="3" name="圖片 2">
            <a:extLst>
              <a:ext uri="{FF2B5EF4-FFF2-40B4-BE49-F238E27FC236}">
                <a16:creationId xmlns:a16="http://schemas.microsoft.com/office/drawing/2014/main" id="{7E436642-6F4C-4918-8CA1-55AF8971D089}"/>
              </a:ext>
            </a:extLst>
          </p:cNvPr>
          <p:cNvPicPr>
            <a:picLocks noChangeAspect="1"/>
          </p:cNvPicPr>
          <p:nvPr/>
        </p:nvPicPr>
        <p:blipFill rotWithShape="1">
          <a:blip r:embed="rId6"/>
          <a:srcRect l="4151" b="5193"/>
          <a:stretch/>
        </p:blipFill>
        <p:spPr>
          <a:xfrm>
            <a:off x="1578481" y="1581459"/>
            <a:ext cx="6367651" cy="3087237"/>
          </a:xfrm>
          <a:prstGeom prst="rect">
            <a:avLst/>
          </a:prstGeom>
        </p:spPr>
      </p:pic>
      <p:sp>
        <p:nvSpPr>
          <p:cNvPr id="34" name="橢圓 33">
            <a:extLst>
              <a:ext uri="{FF2B5EF4-FFF2-40B4-BE49-F238E27FC236}">
                <a16:creationId xmlns:a16="http://schemas.microsoft.com/office/drawing/2014/main" id="{C9EA3B92-FA3C-464E-8B72-7F2C4D994884}"/>
              </a:ext>
            </a:extLst>
          </p:cNvPr>
          <p:cNvSpPr/>
          <p:nvPr/>
        </p:nvSpPr>
        <p:spPr>
          <a:xfrm>
            <a:off x="2100538" y="5339155"/>
            <a:ext cx="502524" cy="48051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B1BA1269-B2CC-4337-9C7C-07234349B4F0}"/>
                  </a:ext>
                </a:extLst>
              </p:cNvPr>
              <p:cNvSpPr/>
              <p:nvPr/>
            </p:nvSpPr>
            <p:spPr>
              <a:xfrm>
                <a:off x="4276451" y="5987019"/>
                <a:ext cx="1977336"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partition: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𝑎𝑎𝑏</m:t>
                    </m:r>
                    <m:r>
                      <a:rPr lang="en-US" altLang="zh-TW" b="0" i="1" dirty="0" smtClean="0">
                        <a:latin typeface="Cambria Math" panose="02040503050406030204" pitchFamily="18" charset="0"/>
                        <a:cs typeface="Times New Roman" panose="02020603050405020304" pitchFamily="18" charset="0"/>
                      </a:rPr>
                      <m:t>, </m:t>
                    </m:r>
                    <m:r>
                      <a:rPr lang="en-US" altLang="zh-TW" b="0" i="1" dirty="0" smtClean="0">
                        <a:latin typeface="Cambria Math" panose="02040503050406030204" pitchFamily="18" charset="0"/>
                        <a:cs typeface="Times New Roman" panose="02020603050405020304" pitchFamily="18" charset="0"/>
                      </a:rPr>
                      <m:t>𝑐𝑎𝑏</m:t>
                    </m:r>
                    <m:r>
                      <a:rPr lang="en-US" altLang="zh-TW" i="1" dirty="0" smtClean="0">
                        <a:latin typeface="Cambria Math" panose="02040503050406030204" pitchFamily="18" charset="0"/>
                        <a:cs typeface="Times New Roman" panose="02020603050405020304" pitchFamily="18" charset="0"/>
                      </a:rPr>
                      <m:t> </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38" name="矩形 37">
                <a:extLst>
                  <a:ext uri="{FF2B5EF4-FFF2-40B4-BE49-F238E27FC236}">
                    <a16:creationId xmlns:a16="http://schemas.microsoft.com/office/drawing/2014/main" id="{B1BA1269-B2CC-4337-9C7C-07234349B4F0}"/>
                  </a:ext>
                </a:extLst>
              </p:cNvPr>
              <p:cNvSpPr>
                <a:spLocks noRot="1" noChangeAspect="1" noMove="1" noResize="1" noEditPoints="1" noAdjustHandles="1" noChangeArrowheads="1" noChangeShapeType="1" noTextEdit="1"/>
              </p:cNvSpPr>
              <p:nvPr/>
            </p:nvSpPr>
            <p:spPr>
              <a:xfrm>
                <a:off x="4276451" y="5987019"/>
                <a:ext cx="1977336" cy="369332"/>
              </a:xfrm>
              <a:prstGeom prst="rect">
                <a:avLst/>
              </a:prstGeom>
              <a:blipFill>
                <a:blip r:embed="rId7"/>
                <a:stretch>
                  <a:fillRect l="-2778"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1FB5D7EC-2E94-46D3-9122-5565005313B0}"/>
                  </a:ext>
                </a:extLst>
              </p:cNvPr>
              <p:cNvSpPr/>
              <p:nvPr/>
            </p:nvSpPr>
            <p:spPr>
              <a:xfrm>
                <a:off x="5435396" y="657393"/>
                <a:ext cx="167084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𝑇</m:t>
                      </m:r>
                      <m:r>
                        <a:rPr lang="en-US" altLang="zh-TW" sz="2800" i="1">
                          <a:latin typeface="Cambria Math" panose="02040503050406030204" pitchFamily="18" charset="0"/>
                        </a:rPr>
                        <m:t>=</m:t>
                      </m:r>
                      <m:r>
                        <a:rPr lang="en-US" altLang="zh-TW" sz="2800" i="1" smtClean="0">
                          <a:solidFill>
                            <a:schemeClr val="accent2">
                              <a:lumMod val="75000"/>
                            </a:schemeClr>
                          </a:solidFill>
                          <a:latin typeface="Cambria Math" panose="02040503050406030204" pitchFamily="18" charset="0"/>
                        </a:rPr>
                        <m:t>𝑎</m:t>
                      </m:r>
                      <m:r>
                        <a:rPr lang="en-US" altLang="zh-TW" sz="2800" i="1" smtClean="0">
                          <a:solidFill>
                            <a:schemeClr val="accent2">
                              <a:lumMod val="75000"/>
                            </a:schemeClr>
                          </a:solidFill>
                          <a:latin typeface="Cambria Math" panose="02040503050406030204" pitchFamily="18" charset="0"/>
                        </a:rPr>
                        <m:t> </m:t>
                      </m:r>
                      <m:r>
                        <a:rPr lang="en-US" altLang="zh-TW" sz="2800" i="1" smtClean="0">
                          <a:solidFill>
                            <a:schemeClr val="accent2">
                              <a:lumMod val="75000"/>
                            </a:schemeClr>
                          </a:solidFill>
                          <a:latin typeface="Cambria Math" panose="02040503050406030204" pitchFamily="18" charset="0"/>
                        </a:rPr>
                        <m:t>𝑐</m:t>
                      </m:r>
                      <m:r>
                        <a:rPr lang="en-US" altLang="zh-TW" sz="2800" i="1" smtClean="0">
                          <a:solidFill>
                            <a:schemeClr val="accent2">
                              <a:lumMod val="75000"/>
                            </a:schemeClr>
                          </a:solidFill>
                          <a:latin typeface="Cambria Math" panose="02040503050406030204" pitchFamily="18" charset="0"/>
                        </a:rPr>
                        <m:t> </m:t>
                      </m:r>
                      <m:r>
                        <a:rPr lang="en-US" altLang="zh-TW" sz="2800" i="1">
                          <a:latin typeface="Cambria Math" panose="02040503050406030204" pitchFamily="18" charset="0"/>
                        </a:rPr>
                        <m:t>𝑐</m:t>
                      </m:r>
                    </m:oMath>
                  </m:oMathPara>
                </a14:m>
                <a:endParaRPr lang="zh-TW" altLang="en-US" sz="2800" i="1" dirty="0">
                  <a:latin typeface="Cambria Math" panose="02040503050406030204" pitchFamily="18" charset="0"/>
                </a:endParaRPr>
              </a:p>
            </p:txBody>
          </p:sp>
        </mc:Choice>
        <mc:Fallback xmlns="">
          <p:sp>
            <p:nvSpPr>
              <p:cNvPr id="39" name="矩形 38">
                <a:extLst>
                  <a:ext uri="{FF2B5EF4-FFF2-40B4-BE49-F238E27FC236}">
                    <a16:creationId xmlns:a16="http://schemas.microsoft.com/office/drawing/2014/main" id="{1FB5D7EC-2E94-46D3-9122-5565005313B0}"/>
                  </a:ext>
                </a:extLst>
              </p:cNvPr>
              <p:cNvSpPr>
                <a:spLocks noRot="1" noChangeAspect="1" noMove="1" noResize="1" noEditPoints="1" noAdjustHandles="1" noChangeArrowheads="1" noChangeShapeType="1" noTextEdit="1"/>
              </p:cNvSpPr>
              <p:nvPr/>
            </p:nvSpPr>
            <p:spPr>
              <a:xfrm>
                <a:off x="5435396" y="657393"/>
                <a:ext cx="1670842" cy="523220"/>
              </a:xfrm>
              <a:prstGeom prst="rect">
                <a:avLst/>
              </a:prstGeom>
              <a:blipFill>
                <a:blip r:embed="rId8"/>
                <a:stretch>
                  <a:fillRect/>
                </a:stretch>
              </a:blipFill>
            </p:spPr>
            <p:txBody>
              <a:bodyPr/>
              <a:lstStyle/>
              <a:p>
                <a:r>
                  <a:rPr lang="zh-TW" altLang="en-US">
                    <a:noFill/>
                  </a:rPr>
                  <a:t> </a:t>
                </a:r>
              </a:p>
            </p:txBody>
          </p:sp>
        </mc:Fallback>
      </mc:AlternateContent>
      <p:grpSp>
        <p:nvGrpSpPr>
          <p:cNvPr id="50" name="群組 49">
            <a:extLst>
              <a:ext uri="{FF2B5EF4-FFF2-40B4-BE49-F238E27FC236}">
                <a16:creationId xmlns:a16="http://schemas.microsoft.com/office/drawing/2014/main" id="{8D9877F4-E2BA-4C96-AA7B-E26D5362D7AC}"/>
              </a:ext>
            </a:extLst>
          </p:cNvPr>
          <p:cNvGrpSpPr/>
          <p:nvPr/>
        </p:nvGrpSpPr>
        <p:grpSpPr>
          <a:xfrm>
            <a:off x="1578480" y="1593821"/>
            <a:ext cx="6367651" cy="3087237"/>
            <a:chOff x="1578481" y="1581459"/>
            <a:chExt cx="6367651" cy="3087237"/>
          </a:xfrm>
        </p:grpSpPr>
        <p:pic>
          <p:nvPicPr>
            <p:cNvPr id="51" name="圖片 50">
              <a:extLst>
                <a:ext uri="{FF2B5EF4-FFF2-40B4-BE49-F238E27FC236}">
                  <a16:creationId xmlns:a16="http://schemas.microsoft.com/office/drawing/2014/main" id="{D691627D-0F9E-4B4D-958B-E877FA3F246E}"/>
                </a:ext>
              </a:extLst>
            </p:cNvPr>
            <p:cNvPicPr>
              <a:picLocks noChangeAspect="1"/>
            </p:cNvPicPr>
            <p:nvPr/>
          </p:nvPicPr>
          <p:blipFill rotWithShape="1">
            <a:blip r:embed="rId6"/>
            <a:srcRect l="4151" b="5193"/>
            <a:stretch/>
          </p:blipFill>
          <p:spPr>
            <a:xfrm>
              <a:off x="1578481" y="1581459"/>
              <a:ext cx="6367651" cy="3087237"/>
            </a:xfrm>
            <a:prstGeom prst="rect">
              <a:avLst/>
            </a:prstGeom>
          </p:spPr>
        </p:pic>
        <p:sp>
          <p:nvSpPr>
            <p:cNvPr id="55" name="矩形 54">
              <a:extLst>
                <a:ext uri="{FF2B5EF4-FFF2-40B4-BE49-F238E27FC236}">
                  <a16:creationId xmlns:a16="http://schemas.microsoft.com/office/drawing/2014/main" id="{0534100F-6704-4C76-A7BB-4D1BADF30FAC}"/>
                </a:ext>
              </a:extLst>
            </p:cNvPr>
            <p:cNvSpPr/>
            <p:nvPr/>
          </p:nvSpPr>
          <p:spPr>
            <a:xfrm>
              <a:off x="1871330" y="3110676"/>
              <a:ext cx="1463467" cy="1325563"/>
            </a:xfrm>
            <a:prstGeom prst="rect">
              <a:avLst/>
            </a:prstGeom>
            <a:solidFill>
              <a:schemeClr val="bg1"/>
            </a:solidFill>
            <a:ln>
              <a:noFill/>
            </a:ln>
          </p:spPr>
          <p:txBody>
            <a:bodyPr wrap="square">
              <a:spAutoFit/>
            </a:bodyPr>
            <a:lstStyle/>
            <a:p>
              <a:endParaRPr lang="zh-TW" altLang="en-US" sz="2400" i="1" dirty="0">
                <a:latin typeface="Cambria Math" panose="02040503050406030204" pitchFamily="18" charset="0"/>
              </a:endParaRPr>
            </a:p>
          </p:txBody>
        </p:sp>
        <p:sp>
          <p:nvSpPr>
            <p:cNvPr id="56" name="橢圓 55">
              <a:extLst>
                <a:ext uri="{FF2B5EF4-FFF2-40B4-BE49-F238E27FC236}">
                  <a16:creationId xmlns:a16="http://schemas.microsoft.com/office/drawing/2014/main" id="{76133783-037D-4566-9658-DFB0F2F0B671}"/>
                </a:ext>
              </a:extLst>
            </p:cNvPr>
            <p:cNvSpPr/>
            <p:nvPr/>
          </p:nvSpPr>
          <p:spPr>
            <a:xfrm>
              <a:off x="2026993" y="2939690"/>
              <a:ext cx="361205" cy="361205"/>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cxnSp>
        <p:nvCxnSpPr>
          <p:cNvPr id="32" name="直線接點 31">
            <a:extLst>
              <a:ext uri="{FF2B5EF4-FFF2-40B4-BE49-F238E27FC236}">
                <a16:creationId xmlns:a16="http://schemas.microsoft.com/office/drawing/2014/main" id="{D1C7F555-716D-47DF-A86C-93771D0CE566}"/>
              </a:ext>
            </a:extLst>
          </p:cNvPr>
          <p:cNvCxnSpPr>
            <a:cxnSpLocks/>
          </p:cNvCxnSpPr>
          <p:nvPr/>
        </p:nvCxnSpPr>
        <p:spPr>
          <a:xfrm>
            <a:off x="4020639" y="3628754"/>
            <a:ext cx="294081" cy="47435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直線接點 32">
            <a:extLst>
              <a:ext uri="{FF2B5EF4-FFF2-40B4-BE49-F238E27FC236}">
                <a16:creationId xmlns:a16="http://schemas.microsoft.com/office/drawing/2014/main" id="{B8332264-F2C4-4CEA-A2AB-9B6D02A9846E}"/>
              </a:ext>
            </a:extLst>
          </p:cNvPr>
          <p:cNvCxnSpPr>
            <a:cxnSpLocks/>
          </p:cNvCxnSpPr>
          <p:nvPr/>
        </p:nvCxnSpPr>
        <p:spPr>
          <a:xfrm>
            <a:off x="3490596" y="3660989"/>
            <a:ext cx="274096" cy="44211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直線接點 39">
            <a:extLst>
              <a:ext uri="{FF2B5EF4-FFF2-40B4-BE49-F238E27FC236}">
                <a16:creationId xmlns:a16="http://schemas.microsoft.com/office/drawing/2014/main" id="{1372A735-B182-4DDD-9839-00E86C1E9D0D}"/>
              </a:ext>
            </a:extLst>
          </p:cNvPr>
          <p:cNvCxnSpPr>
            <a:cxnSpLocks/>
          </p:cNvCxnSpPr>
          <p:nvPr/>
        </p:nvCxnSpPr>
        <p:spPr>
          <a:xfrm>
            <a:off x="7322870" y="3202480"/>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201962F8-BC1F-42B1-A925-BA3F85C16CEE}"/>
              </a:ext>
            </a:extLst>
          </p:cNvPr>
          <p:cNvCxnSpPr>
            <a:cxnSpLocks/>
          </p:cNvCxnSpPr>
          <p:nvPr/>
        </p:nvCxnSpPr>
        <p:spPr>
          <a:xfrm>
            <a:off x="5647969" y="4130146"/>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F398F6F3-30CF-4147-A947-C59619AF4245}"/>
              </a:ext>
            </a:extLst>
          </p:cNvPr>
          <p:cNvCxnSpPr>
            <a:cxnSpLocks/>
          </p:cNvCxnSpPr>
          <p:nvPr/>
        </p:nvCxnSpPr>
        <p:spPr>
          <a:xfrm>
            <a:off x="6317516" y="2466560"/>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直線接點 45">
            <a:extLst>
              <a:ext uri="{FF2B5EF4-FFF2-40B4-BE49-F238E27FC236}">
                <a16:creationId xmlns:a16="http://schemas.microsoft.com/office/drawing/2014/main" id="{702B0767-CD41-487F-9072-D651BC6C79E6}"/>
              </a:ext>
            </a:extLst>
          </p:cNvPr>
          <p:cNvCxnSpPr>
            <a:cxnSpLocks/>
          </p:cNvCxnSpPr>
          <p:nvPr/>
        </p:nvCxnSpPr>
        <p:spPr>
          <a:xfrm>
            <a:off x="4835742" y="3548563"/>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直線接點 52">
            <a:extLst>
              <a:ext uri="{FF2B5EF4-FFF2-40B4-BE49-F238E27FC236}">
                <a16:creationId xmlns:a16="http://schemas.microsoft.com/office/drawing/2014/main" id="{0C3C5782-F35E-4A66-BB9B-9EA10FB5DB0A}"/>
              </a:ext>
            </a:extLst>
          </p:cNvPr>
          <p:cNvCxnSpPr>
            <a:cxnSpLocks/>
          </p:cNvCxnSpPr>
          <p:nvPr/>
        </p:nvCxnSpPr>
        <p:spPr>
          <a:xfrm>
            <a:off x="6036647" y="2466560"/>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直線接點 56">
            <a:extLst>
              <a:ext uri="{FF2B5EF4-FFF2-40B4-BE49-F238E27FC236}">
                <a16:creationId xmlns:a16="http://schemas.microsoft.com/office/drawing/2014/main" id="{F2F51D95-3A4F-4980-818E-288EEA0EE004}"/>
              </a:ext>
            </a:extLst>
          </p:cNvPr>
          <p:cNvCxnSpPr>
            <a:cxnSpLocks/>
          </p:cNvCxnSpPr>
          <p:nvPr/>
        </p:nvCxnSpPr>
        <p:spPr>
          <a:xfrm>
            <a:off x="4495308" y="3539963"/>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直線接點 58">
            <a:extLst>
              <a:ext uri="{FF2B5EF4-FFF2-40B4-BE49-F238E27FC236}">
                <a16:creationId xmlns:a16="http://schemas.microsoft.com/office/drawing/2014/main" id="{8418670D-87EA-4CEF-BFFD-F2F0642C612D}"/>
              </a:ext>
            </a:extLst>
          </p:cNvPr>
          <p:cNvCxnSpPr>
            <a:cxnSpLocks/>
          </p:cNvCxnSpPr>
          <p:nvPr/>
        </p:nvCxnSpPr>
        <p:spPr>
          <a:xfrm>
            <a:off x="5331072" y="4174486"/>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直線接點 59">
            <a:extLst>
              <a:ext uri="{FF2B5EF4-FFF2-40B4-BE49-F238E27FC236}">
                <a16:creationId xmlns:a16="http://schemas.microsoft.com/office/drawing/2014/main" id="{15F2A3AC-9196-4B56-82FC-924D8C936986}"/>
              </a:ext>
            </a:extLst>
          </p:cNvPr>
          <p:cNvCxnSpPr>
            <a:cxnSpLocks/>
          </p:cNvCxnSpPr>
          <p:nvPr/>
        </p:nvCxnSpPr>
        <p:spPr>
          <a:xfrm>
            <a:off x="6945901" y="3238745"/>
            <a:ext cx="280868" cy="4530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1" name="矩形 60">
                <a:extLst>
                  <a:ext uri="{FF2B5EF4-FFF2-40B4-BE49-F238E27FC236}">
                    <a16:creationId xmlns:a16="http://schemas.microsoft.com/office/drawing/2014/main" id="{4EEF0363-A6DF-4E74-9D3D-391807D6AF21}"/>
                  </a:ext>
                </a:extLst>
              </p:cNvPr>
              <p:cNvSpPr/>
              <p:nvPr/>
            </p:nvSpPr>
            <p:spPr>
              <a:xfrm>
                <a:off x="2973308" y="2173764"/>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6</m:t>
                          </m:r>
                        </m:sub>
                      </m:sSub>
                    </m:oMath>
                  </m:oMathPara>
                </a14:m>
                <a:endParaRPr lang="zh-TW" altLang="en-US" i="1" dirty="0">
                  <a:solidFill>
                    <a:srgbClr val="FF0000"/>
                  </a:solidFill>
                  <a:latin typeface="Cambria Math" panose="02040503050406030204" pitchFamily="18" charset="0"/>
                </a:endParaRPr>
              </a:p>
            </p:txBody>
          </p:sp>
        </mc:Choice>
        <mc:Fallback xmlns="">
          <p:sp>
            <p:nvSpPr>
              <p:cNvPr id="61" name="矩形 60">
                <a:extLst>
                  <a:ext uri="{FF2B5EF4-FFF2-40B4-BE49-F238E27FC236}">
                    <a16:creationId xmlns:a16="http://schemas.microsoft.com/office/drawing/2014/main" id="{4EEF0363-A6DF-4E74-9D3D-391807D6AF21}"/>
                  </a:ext>
                </a:extLst>
              </p:cNvPr>
              <p:cNvSpPr>
                <a:spLocks noRot="1" noChangeAspect="1" noMove="1" noResize="1" noEditPoints="1" noAdjustHandles="1" noChangeArrowheads="1" noChangeShapeType="1" noTextEdit="1"/>
              </p:cNvSpPr>
              <p:nvPr/>
            </p:nvSpPr>
            <p:spPr>
              <a:xfrm>
                <a:off x="2973308" y="2173764"/>
                <a:ext cx="475195" cy="369332"/>
              </a:xfrm>
              <a:prstGeom prst="rect">
                <a:avLst/>
              </a:prstGeom>
              <a:blipFill>
                <a:blip r:embed="rId9"/>
                <a:stretch>
                  <a:fillRect b="-166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14436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1"/>
                                        </p:tgtEl>
                                        <p:attrNameLst>
                                          <p:attrName>style.visibility</p:attrName>
                                        </p:attrNameLst>
                                      </p:cBhvr>
                                      <p:to>
                                        <p:strVal val="visible"/>
                                      </p:to>
                                    </p:set>
                                    <p:animEffect transition="in" filter="fade">
                                      <p:cBhvr>
                                        <p:cTn id="13"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19</a:t>
            </a:fld>
            <a:endParaRPr lang="zh-TW" altLang="en-US" dirty="0"/>
          </a:p>
        </p:txBody>
      </p:sp>
      <p:sp>
        <p:nvSpPr>
          <p:cNvPr id="144" name="標題 1">
            <a:extLst>
              <a:ext uri="{FF2B5EF4-FFF2-40B4-BE49-F238E27FC236}">
                <a16:creationId xmlns:a16="http://schemas.microsoft.com/office/drawing/2014/main" id="{BEB4C4FE-92DC-49E9-BA31-B5B03EB1851E}"/>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Third Round(After)</a:t>
            </a:r>
            <a:endParaRPr lang="zh-TW" altLang="en-US" sz="3200" dirty="0">
              <a:latin typeface="Times New Roman" panose="02020603050405020304" pitchFamily="18" charset="0"/>
              <a:cs typeface="Times New Roman" panose="02020603050405020304" pitchFamily="18" charset="0"/>
            </a:endParaRPr>
          </a:p>
        </p:txBody>
      </p:sp>
      <p:sp>
        <p:nvSpPr>
          <p:cNvPr id="15" name="內容版面配置區 6">
            <a:extLst>
              <a:ext uri="{FF2B5EF4-FFF2-40B4-BE49-F238E27FC236}">
                <a16:creationId xmlns:a16="http://schemas.microsoft.com/office/drawing/2014/main" id="{45387554-66BD-46A2-9CE4-80CF9ABB89B8}"/>
              </a:ext>
            </a:extLst>
          </p:cNvPr>
          <p:cNvSpPr txBox="1">
            <a:spLocks/>
          </p:cNvSpPr>
          <p:nvPr/>
        </p:nvSpPr>
        <p:spPr>
          <a:xfrm>
            <a:off x="471956" y="998092"/>
            <a:ext cx="8327572" cy="5553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TW" sz="2400" dirty="0">
                <a:latin typeface="Times New Roman" panose="02020603050405020304" pitchFamily="18" charset="0"/>
                <a:cs typeface="Times New Roman" panose="02020603050405020304" pitchFamily="18" charset="0"/>
              </a:rPr>
              <a:t>The Longest Prefix Bucket Array</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9" name="表格 8">
            <a:extLst>
              <a:ext uri="{FF2B5EF4-FFF2-40B4-BE49-F238E27FC236}">
                <a16:creationId xmlns:a16="http://schemas.microsoft.com/office/drawing/2014/main" id="{CED2CC08-5B0E-4719-A11B-2F1D84641CDB}"/>
              </a:ext>
            </a:extLst>
          </p:cNvPr>
          <p:cNvGraphicFramePr>
            <a:graphicFrameLocks noGrp="1"/>
          </p:cNvGraphicFramePr>
          <p:nvPr/>
        </p:nvGraphicFramePr>
        <p:xfrm>
          <a:off x="1367307" y="4823250"/>
          <a:ext cx="6095997" cy="37084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val="184306604"/>
                    </a:ext>
                  </a:extLst>
                </a:gridCol>
                <a:gridCol w="677333">
                  <a:extLst>
                    <a:ext uri="{9D8B030D-6E8A-4147-A177-3AD203B41FA5}">
                      <a16:colId xmlns:a16="http://schemas.microsoft.com/office/drawing/2014/main" val="1731048100"/>
                    </a:ext>
                  </a:extLst>
                </a:gridCol>
                <a:gridCol w="677333">
                  <a:extLst>
                    <a:ext uri="{9D8B030D-6E8A-4147-A177-3AD203B41FA5}">
                      <a16:colId xmlns:a16="http://schemas.microsoft.com/office/drawing/2014/main" val="1688476900"/>
                    </a:ext>
                  </a:extLst>
                </a:gridCol>
                <a:gridCol w="677333">
                  <a:extLst>
                    <a:ext uri="{9D8B030D-6E8A-4147-A177-3AD203B41FA5}">
                      <a16:colId xmlns:a16="http://schemas.microsoft.com/office/drawing/2014/main" val="1704851491"/>
                    </a:ext>
                  </a:extLst>
                </a:gridCol>
                <a:gridCol w="677333">
                  <a:extLst>
                    <a:ext uri="{9D8B030D-6E8A-4147-A177-3AD203B41FA5}">
                      <a16:colId xmlns:a16="http://schemas.microsoft.com/office/drawing/2014/main" val="1998974524"/>
                    </a:ext>
                  </a:extLst>
                </a:gridCol>
                <a:gridCol w="677333">
                  <a:extLst>
                    <a:ext uri="{9D8B030D-6E8A-4147-A177-3AD203B41FA5}">
                      <a16:colId xmlns:a16="http://schemas.microsoft.com/office/drawing/2014/main" val="3853749183"/>
                    </a:ext>
                  </a:extLst>
                </a:gridCol>
                <a:gridCol w="677333">
                  <a:extLst>
                    <a:ext uri="{9D8B030D-6E8A-4147-A177-3AD203B41FA5}">
                      <a16:colId xmlns:a16="http://schemas.microsoft.com/office/drawing/2014/main" val="391626377"/>
                    </a:ext>
                  </a:extLst>
                </a:gridCol>
                <a:gridCol w="677333">
                  <a:extLst>
                    <a:ext uri="{9D8B030D-6E8A-4147-A177-3AD203B41FA5}">
                      <a16:colId xmlns:a16="http://schemas.microsoft.com/office/drawing/2014/main" val="2559129209"/>
                    </a:ext>
                  </a:extLst>
                </a:gridCol>
                <a:gridCol w="677333">
                  <a:extLst>
                    <a:ext uri="{9D8B030D-6E8A-4147-A177-3AD203B41FA5}">
                      <a16:colId xmlns:a16="http://schemas.microsoft.com/office/drawing/2014/main" val="2227559916"/>
                    </a:ext>
                  </a:extLst>
                </a:gridCol>
              </a:tblGrid>
              <a:tr h="370840">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r>
                        <a:rPr lang="en-US" altLang="zh-TW" dirty="0"/>
                        <a:t>7</a:t>
                      </a:r>
                      <a:endParaRPr lang="zh-TW" altLang="en-US" dirty="0"/>
                    </a:p>
                  </a:txBody>
                  <a:tcPr anchor="ctr"/>
                </a:tc>
                <a:tc>
                  <a:txBody>
                    <a:bodyPr/>
                    <a:lstStyle/>
                    <a:p>
                      <a:pPr algn="ctr"/>
                      <a:r>
                        <a:rPr lang="en-US" altLang="zh-TW" dirty="0"/>
                        <a:t>8</a:t>
                      </a:r>
                      <a:endParaRPr lang="zh-TW" altLang="en-US" dirty="0"/>
                    </a:p>
                  </a:txBody>
                  <a:tcPr anchor="ctr"/>
                </a:tc>
                <a:tc>
                  <a:txBody>
                    <a:bodyPr/>
                    <a:lstStyle/>
                    <a:p>
                      <a:pPr algn="ctr"/>
                      <a:r>
                        <a:rPr lang="en-US" altLang="zh-TW" dirty="0"/>
                        <a:t>9</a:t>
                      </a:r>
                      <a:endParaRPr lang="zh-TW" altLang="en-US" dirty="0"/>
                    </a:p>
                  </a:txBody>
                  <a:tcPr anchor="ctr"/>
                </a:tc>
                <a:extLst>
                  <a:ext uri="{0D108BD9-81ED-4DB2-BD59-A6C34878D82A}">
                    <a16:rowId xmlns:a16="http://schemas.microsoft.com/office/drawing/2014/main" val="2394764283"/>
                  </a:ext>
                </a:extLst>
              </a:tr>
            </a:tbl>
          </a:graphicData>
        </a:graphic>
      </p:graphicFrame>
      <p:cxnSp>
        <p:nvCxnSpPr>
          <p:cNvPr id="17" name="直線單箭頭接點 16">
            <a:extLst>
              <a:ext uri="{FF2B5EF4-FFF2-40B4-BE49-F238E27FC236}">
                <a16:creationId xmlns:a16="http://schemas.microsoft.com/office/drawing/2014/main" id="{F49A02D6-DBBA-4FD9-8857-8DD266D83D5F}"/>
              </a:ext>
            </a:extLst>
          </p:cNvPr>
          <p:cNvCxnSpPr>
            <a:cxnSpLocks/>
          </p:cNvCxnSpPr>
          <p:nvPr/>
        </p:nvCxnSpPr>
        <p:spPr>
          <a:xfrm>
            <a:off x="1711842"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52948B29-4E80-40E8-AE4D-3B8F1E85EC7C}"/>
                  </a:ext>
                </a:extLst>
              </p:cNvPr>
              <p:cNvSpPr/>
              <p:nvPr/>
            </p:nvSpPr>
            <p:spPr>
              <a:xfrm>
                <a:off x="1476906"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6</m:t>
                          </m:r>
                        </m:sub>
                      </m:sSub>
                    </m:oMath>
                  </m:oMathPara>
                </a14:m>
                <a:endParaRPr lang="zh-TW" altLang="en-US" i="1" dirty="0">
                  <a:solidFill>
                    <a:srgbClr val="FF0000"/>
                  </a:solidFill>
                  <a:latin typeface="Cambria Math" panose="02040503050406030204" pitchFamily="18" charset="0"/>
                </a:endParaRPr>
              </a:p>
            </p:txBody>
          </p:sp>
        </mc:Choice>
        <mc:Fallback xmlns="">
          <p:sp>
            <p:nvSpPr>
              <p:cNvPr id="27" name="矩形 26">
                <a:extLst>
                  <a:ext uri="{FF2B5EF4-FFF2-40B4-BE49-F238E27FC236}">
                    <a16:creationId xmlns:a16="http://schemas.microsoft.com/office/drawing/2014/main" id="{52948B29-4E80-40E8-AE4D-3B8F1E85EC7C}"/>
                  </a:ext>
                </a:extLst>
              </p:cNvPr>
              <p:cNvSpPr>
                <a:spLocks noRot="1" noChangeAspect="1" noMove="1" noResize="1" noEditPoints="1" noAdjustHandles="1" noChangeArrowheads="1" noChangeShapeType="1" noTextEdit="1"/>
              </p:cNvSpPr>
              <p:nvPr/>
            </p:nvSpPr>
            <p:spPr>
              <a:xfrm>
                <a:off x="1476906" y="5355976"/>
                <a:ext cx="475195" cy="369332"/>
              </a:xfrm>
              <a:prstGeom prst="rect">
                <a:avLst/>
              </a:prstGeom>
              <a:blipFill>
                <a:blip r:embed="rId3"/>
                <a:stretch>
                  <a:fillRect b="-1667"/>
                </a:stretch>
              </a:blipFill>
            </p:spPr>
            <p:txBody>
              <a:bodyPr/>
              <a:lstStyle/>
              <a:p>
                <a:r>
                  <a:rPr lang="zh-TW" altLang="en-US">
                    <a:noFill/>
                  </a:rPr>
                  <a:t> </a:t>
                </a:r>
              </a:p>
            </p:txBody>
          </p:sp>
        </mc:Fallback>
      </mc:AlternateContent>
      <p:grpSp>
        <p:nvGrpSpPr>
          <p:cNvPr id="20" name="群組 19">
            <a:extLst>
              <a:ext uri="{FF2B5EF4-FFF2-40B4-BE49-F238E27FC236}">
                <a16:creationId xmlns:a16="http://schemas.microsoft.com/office/drawing/2014/main" id="{AC07034D-5FBB-4C1A-9F30-1627D60023CE}"/>
              </a:ext>
            </a:extLst>
          </p:cNvPr>
          <p:cNvGrpSpPr/>
          <p:nvPr/>
        </p:nvGrpSpPr>
        <p:grpSpPr>
          <a:xfrm>
            <a:off x="2142041" y="5194090"/>
            <a:ext cx="475195" cy="531218"/>
            <a:chOff x="2142041" y="5194090"/>
            <a:chExt cx="475195" cy="531218"/>
          </a:xfrm>
        </p:grpSpPr>
        <p:cxnSp>
          <p:nvCxnSpPr>
            <p:cNvPr id="30" name="直線單箭頭接點 29">
              <a:extLst>
                <a:ext uri="{FF2B5EF4-FFF2-40B4-BE49-F238E27FC236}">
                  <a16:creationId xmlns:a16="http://schemas.microsoft.com/office/drawing/2014/main" id="{0095A320-6347-4D2C-865A-333D9C149A16}"/>
                </a:ext>
              </a:extLst>
            </p:cNvPr>
            <p:cNvCxnSpPr>
              <a:cxnSpLocks/>
            </p:cNvCxnSpPr>
            <p:nvPr/>
          </p:nvCxnSpPr>
          <p:spPr>
            <a:xfrm>
              <a:off x="2376977"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AE26580E-D880-4367-A6CA-146D492FBCB2}"/>
                    </a:ext>
                  </a:extLst>
                </p:cNvPr>
                <p:cNvSpPr/>
                <p:nvPr/>
              </p:nvSpPr>
              <p:spPr>
                <a:xfrm>
                  <a:off x="2142041"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2</m:t>
                            </m:r>
                          </m:sub>
                        </m:sSub>
                      </m:oMath>
                    </m:oMathPara>
                  </a14:m>
                  <a:endParaRPr lang="zh-TW" altLang="en-US" i="1" dirty="0">
                    <a:solidFill>
                      <a:srgbClr val="FF0000"/>
                    </a:solidFill>
                    <a:latin typeface="Cambria Math" panose="02040503050406030204" pitchFamily="18" charset="0"/>
                  </a:endParaRPr>
                </a:p>
              </p:txBody>
            </p:sp>
          </mc:Choice>
          <mc:Fallback xmlns="">
            <p:sp>
              <p:nvSpPr>
                <p:cNvPr id="31" name="矩形 30">
                  <a:extLst>
                    <a:ext uri="{FF2B5EF4-FFF2-40B4-BE49-F238E27FC236}">
                      <a16:creationId xmlns:a16="http://schemas.microsoft.com/office/drawing/2014/main" id="{AE26580E-D880-4367-A6CA-146D492FBCB2}"/>
                    </a:ext>
                  </a:extLst>
                </p:cNvPr>
                <p:cNvSpPr>
                  <a:spLocks noRot="1" noChangeAspect="1" noMove="1" noResize="1" noEditPoints="1" noAdjustHandles="1" noChangeArrowheads="1" noChangeShapeType="1" noTextEdit="1"/>
                </p:cNvSpPr>
                <p:nvPr/>
              </p:nvSpPr>
              <p:spPr>
                <a:xfrm>
                  <a:off x="2142041" y="5355976"/>
                  <a:ext cx="475195" cy="369332"/>
                </a:xfrm>
                <a:prstGeom prst="rect">
                  <a:avLst/>
                </a:prstGeom>
                <a:blipFill>
                  <a:blip r:embed="rId4"/>
                  <a:stretch>
                    <a:fillRect b="-1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52" name="矩形 51">
                <a:extLst>
                  <a:ext uri="{FF2B5EF4-FFF2-40B4-BE49-F238E27FC236}">
                    <a16:creationId xmlns:a16="http://schemas.microsoft.com/office/drawing/2014/main" id="{78B473AD-2ADF-473D-98A3-E474E9B379AA}"/>
                  </a:ext>
                </a:extLst>
              </p:cNvPr>
              <p:cNvSpPr/>
              <p:nvPr/>
            </p:nvSpPr>
            <p:spPr>
              <a:xfrm>
                <a:off x="5435396" y="226124"/>
                <a:ext cx="165070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𝑐</m:t>
                      </m:r>
                      <m:r>
                        <a:rPr lang="en-US" altLang="zh-TW" sz="2800" b="0" i="1" smtClean="0">
                          <a:latin typeface="Cambria Math" panose="02040503050406030204" pitchFamily="18" charset="0"/>
                        </a:rPr>
                        <m:t> </m:t>
                      </m:r>
                      <m:r>
                        <a:rPr lang="en-US" altLang="zh-TW" sz="2800" b="0" i="1" strike="sngStrike" smtClean="0">
                          <a:solidFill>
                            <a:schemeClr val="accent2">
                              <a:lumMod val="75000"/>
                            </a:schemeClr>
                          </a:solidFill>
                          <a:latin typeface="Cambria Math" panose="02040503050406030204" pitchFamily="18" charset="0"/>
                        </a:rPr>
                        <m:t>𝑎</m:t>
                      </m:r>
                      <m:r>
                        <a:rPr lang="en-US" altLang="zh-TW" sz="2800" b="0" i="1" strike="sngStrike" smtClean="0">
                          <a:solidFill>
                            <a:schemeClr val="accent2">
                              <a:lumMod val="75000"/>
                            </a:schemeClr>
                          </a:solidFill>
                          <a:latin typeface="Cambria Math" panose="02040503050406030204" pitchFamily="18" charset="0"/>
                        </a:rPr>
                        <m:t> </m:t>
                      </m:r>
                      <m:r>
                        <a:rPr lang="en-US" altLang="zh-TW" sz="2800" b="0" i="1" strike="sngStrike" smtClean="0">
                          <a:solidFill>
                            <a:schemeClr val="accent2">
                              <a:lumMod val="75000"/>
                            </a:schemeClr>
                          </a:solidFill>
                          <a:latin typeface="Cambria Math" panose="02040503050406030204" pitchFamily="18" charset="0"/>
                        </a:rPr>
                        <m:t>𝑐</m:t>
                      </m:r>
                    </m:oMath>
                  </m:oMathPara>
                </a14:m>
                <a:endParaRPr lang="zh-TW" altLang="en-US" sz="2800" strike="sngStrike" dirty="0"/>
              </a:p>
            </p:txBody>
          </p:sp>
        </mc:Choice>
        <mc:Fallback xmlns="">
          <p:sp>
            <p:nvSpPr>
              <p:cNvPr id="52" name="矩形 51">
                <a:extLst>
                  <a:ext uri="{FF2B5EF4-FFF2-40B4-BE49-F238E27FC236}">
                    <a16:creationId xmlns:a16="http://schemas.microsoft.com/office/drawing/2014/main" id="{78B473AD-2ADF-473D-98A3-E474E9B379AA}"/>
                  </a:ext>
                </a:extLst>
              </p:cNvPr>
              <p:cNvSpPr>
                <a:spLocks noRot="1" noChangeAspect="1" noMove="1" noResize="1" noEditPoints="1" noAdjustHandles="1" noChangeArrowheads="1" noChangeShapeType="1" noTextEdit="1"/>
              </p:cNvSpPr>
              <p:nvPr/>
            </p:nvSpPr>
            <p:spPr>
              <a:xfrm>
                <a:off x="5435396" y="226124"/>
                <a:ext cx="1650708" cy="523220"/>
              </a:xfrm>
              <a:prstGeom prst="rect">
                <a:avLst/>
              </a:prstGeom>
              <a:blipFill>
                <a:blip r:embed="rId5"/>
                <a:stretch>
                  <a:fillRect/>
                </a:stretch>
              </a:blipFill>
            </p:spPr>
            <p:txBody>
              <a:bodyPr/>
              <a:lstStyle/>
              <a:p>
                <a:r>
                  <a:rPr lang="zh-TW" altLang="en-US">
                    <a:noFill/>
                  </a:rPr>
                  <a:t> </a:t>
                </a:r>
              </a:p>
            </p:txBody>
          </p:sp>
        </mc:Fallback>
      </mc:AlternateContent>
      <p:sp>
        <p:nvSpPr>
          <p:cNvPr id="54" name="標題 1">
            <a:extLst>
              <a:ext uri="{FF2B5EF4-FFF2-40B4-BE49-F238E27FC236}">
                <a16:creationId xmlns:a16="http://schemas.microsoft.com/office/drawing/2014/main" id="{720553EE-86C9-44EA-999B-DD03298955BF}"/>
              </a:ext>
            </a:extLst>
          </p:cNvPr>
          <p:cNvSpPr txBox="1">
            <a:spLocks/>
          </p:cNvSpPr>
          <p:nvPr/>
        </p:nvSpPr>
        <p:spPr>
          <a:xfrm>
            <a:off x="4976176" y="5355976"/>
            <a:ext cx="1100153" cy="58336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002060"/>
                </a:solidFill>
                <a:latin typeface="Gill Sans MT" panose="020B0502020104020203" pitchFamily="34" charset="0"/>
                <a:cs typeface="Times New Roman" panose="02020603050405020304" pitchFamily="18" charset="0"/>
              </a:rPr>
              <a:t>Maximal Pointer</a:t>
            </a:r>
            <a:endParaRPr lang="zh-TW" altLang="en-US" sz="2000" b="1" dirty="0">
              <a:solidFill>
                <a:srgbClr val="002060"/>
              </a:solidFill>
              <a:latin typeface="Gill Sans MT" panose="020B0502020104020203" pitchFamily="34" charset="0"/>
              <a:cs typeface="Times New Roman" panose="02020603050405020304" pitchFamily="18" charset="0"/>
            </a:endParaRPr>
          </a:p>
        </p:txBody>
      </p:sp>
      <p:sp>
        <p:nvSpPr>
          <p:cNvPr id="34" name="橢圓 33">
            <a:extLst>
              <a:ext uri="{FF2B5EF4-FFF2-40B4-BE49-F238E27FC236}">
                <a16:creationId xmlns:a16="http://schemas.microsoft.com/office/drawing/2014/main" id="{C9EA3B92-FA3C-464E-8B72-7F2C4D994884}"/>
              </a:ext>
            </a:extLst>
          </p:cNvPr>
          <p:cNvSpPr/>
          <p:nvPr/>
        </p:nvSpPr>
        <p:spPr>
          <a:xfrm>
            <a:off x="2100538" y="5339155"/>
            <a:ext cx="502524" cy="48051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B1BA1269-B2CC-4337-9C7C-07234349B4F0}"/>
                  </a:ext>
                </a:extLst>
              </p:cNvPr>
              <p:cNvSpPr/>
              <p:nvPr/>
            </p:nvSpPr>
            <p:spPr>
              <a:xfrm>
                <a:off x="4276451" y="5987019"/>
                <a:ext cx="2305246"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partition: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𝑎𝑎𝑏</m:t>
                    </m:r>
                    <m:r>
                      <a:rPr lang="en-US" altLang="zh-TW" b="0" i="1" dirty="0" smtClean="0">
                        <a:latin typeface="Cambria Math" panose="02040503050406030204" pitchFamily="18" charset="0"/>
                        <a:cs typeface="Times New Roman" panose="02020603050405020304" pitchFamily="18" charset="0"/>
                      </a:rPr>
                      <m:t>, </m:t>
                    </m:r>
                    <m:r>
                      <a:rPr lang="en-US" altLang="zh-TW" b="0" i="1" dirty="0" smtClean="0">
                        <a:latin typeface="Cambria Math" panose="02040503050406030204" pitchFamily="18" charset="0"/>
                        <a:cs typeface="Times New Roman" panose="02020603050405020304" pitchFamily="18" charset="0"/>
                      </a:rPr>
                      <m:t>𝑐𝑎𝑏</m:t>
                    </m:r>
                    <m:r>
                      <a:rPr lang="en-US" altLang="zh-TW" b="0" i="1" dirty="0" smtClean="0">
                        <a:latin typeface="Cambria Math" panose="02040503050406030204" pitchFamily="18" charset="0"/>
                        <a:cs typeface="Times New Roman" panose="02020603050405020304" pitchFamily="18" charset="0"/>
                      </a:rPr>
                      <m:t>, </m:t>
                    </m:r>
                    <m:r>
                      <a:rPr lang="en-US" altLang="zh-TW" b="0" i="1" dirty="0" smtClean="0">
                        <a:latin typeface="Cambria Math" panose="02040503050406030204" pitchFamily="18" charset="0"/>
                        <a:cs typeface="Times New Roman" panose="02020603050405020304" pitchFamily="18" charset="0"/>
                      </a:rPr>
                      <m:t>𝑎𝑐</m:t>
                    </m:r>
                    <m:r>
                      <a:rPr lang="en-US" altLang="zh-TW" i="1" dirty="0" smtClean="0">
                        <a:latin typeface="Cambria Math" panose="02040503050406030204" pitchFamily="18" charset="0"/>
                        <a:cs typeface="Times New Roman" panose="02020603050405020304" pitchFamily="18" charset="0"/>
                      </a:rPr>
                      <m:t> </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38" name="矩形 37">
                <a:extLst>
                  <a:ext uri="{FF2B5EF4-FFF2-40B4-BE49-F238E27FC236}">
                    <a16:creationId xmlns:a16="http://schemas.microsoft.com/office/drawing/2014/main" id="{B1BA1269-B2CC-4337-9C7C-07234349B4F0}"/>
                  </a:ext>
                </a:extLst>
              </p:cNvPr>
              <p:cNvSpPr>
                <a:spLocks noRot="1" noChangeAspect="1" noMove="1" noResize="1" noEditPoints="1" noAdjustHandles="1" noChangeArrowheads="1" noChangeShapeType="1" noTextEdit="1"/>
              </p:cNvSpPr>
              <p:nvPr/>
            </p:nvSpPr>
            <p:spPr>
              <a:xfrm>
                <a:off x="4276451" y="5987019"/>
                <a:ext cx="2305246" cy="369332"/>
              </a:xfrm>
              <a:prstGeom prst="rect">
                <a:avLst/>
              </a:prstGeom>
              <a:blipFill>
                <a:blip r:embed="rId6"/>
                <a:stretch>
                  <a:fillRect l="-2381"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1FB5D7EC-2E94-46D3-9122-5565005313B0}"/>
                  </a:ext>
                </a:extLst>
              </p:cNvPr>
              <p:cNvSpPr/>
              <p:nvPr/>
            </p:nvSpPr>
            <p:spPr>
              <a:xfrm>
                <a:off x="5435396" y="657393"/>
                <a:ext cx="167084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𝑇</m:t>
                      </m:r>
                      <m:r>
                        <a:rPr lang="en-US" altLang="zh-TW" sz="2800" i="1">
                          <a:latin typeface="Cambria Math" panose="02040503050406030204" pitchFamily="18" charset="0"/>
                        </a:rPr>
                        <m:t>=</m:t>
                      </m:r>
                      <m:r>
                        <a:rPr lang="en-US" altLang="zh-TW" sz="2800" i="1" strike="sngStrike" smtClean="0">
                          <a:solidFill>
                            <a:schemeClr val="accent2">
                              <a:lumMod val="75000"/>
                            </a:schemeClr>
                          </a:solidFill>
                          <a:latin typeface="Cambria Math" panose="02040503050406030204" pitchFamily="18" charset="0"/>
                        </a:rPr>
                        <m:t>𝑎</m:t>
                      </m:r>
                      <m:r>
                        <a:rPr lang="en-US" altLang="zh-TW" sz="2800" i="1" strike="sngStrike" smtClean="0">
                          <a:solidFill>
                            <a:schemeClr val="accent2">
                              <a:lumMod val="75000"/>
                            </a:schemeClr>
                          </a:solidFill>
                          <a:latin typeface="Cambria Math" panose="02040503050406030204" pitchFamily="18" charset="0"/>
                        </a:rPr>
                        <m:t> </m:t>
                      </m:r>
                      <m:r>
                        <a:rPr lang="en-US" altLang="zh-TW" sz="2800" i="1" strike="sngStrike" smtClean="0">
                          <a:solidFill>
                            <a:schemeClr val="accent2">
                              <a:lumMod val="75000"/>
                            </a:schemeClr>
                          </a:solidFill>
                          <a:latin typeface="Cambria Math" panose="02040503050406030204" pitchFamily="18" charset="0"/>
                        </a:rPr>
                        <m:t>𝑐</m:t>
                      </m:r>
                      <m:r>
                        <a:rPr lang="en-US" altLang="zh-TW" sz="2800" i="1" smtClean="0">
                          <a:solidFill>
                            <a:schemeClr val="accent2">
                              <a:lumMod val="75000"/>
                            </a:schemeClr>
                          </a:solidFill>
                          <a:latin typeface="Cambria Math" panose="02040503050406030204" pitchFamily="18" charset="0"/>
                        </a:rPr>
                        <m:t> </m:t>
                      </m:r>
                      <m:r>
                        <a:rPr lang="en-US" altLang="zh-TW" sz="2800" i="1">
                          <a:latin typeface="Cambria Math" panose="02040503050406030204" pitchFamily="18" charset="0"/>
                        </a:rPr>
                        <m:t>𝑐</m:t>
                      </m:r>
                    </m:oMath>
                  </m:oMathPara>
                </a14:m>
                <a:endParaRPr lang="zh-TW" altLang="en-US" sz="2800" i="1" dirty="0">
                  <a:latin typeface="Cambria Math" panose="02040503050406030204" pitchFamily="18" charset="0"/>
                </a:endParaRPr>
              </a:p>
            </p:txBody>
          </p:sp>
        </mc:Choice>
        <mc:Fallback xmlns="">
          <p:sp>
            <p:nvSpPr>
              <p:cNvPr id="39" name="矩形 38">
                <a:extLst>
                  <a:ext uri="{FF2B5EF4-FFF2-40B4-BE49-F238E27FC236}">
                    <a16:creationId xmlns:a16="http://schemas.microsoft.com/office/drawing/2014/main" id="{1FB5D7EC-2E94-46D3-9122-5565005313B0}"/>
                  </a:ext>
                </a:extLst>
              </p:cNvPr>
              <p:cNvSpPr>
                <a:spLocks noRot="1" noChangeAspect="1" noMove="1" noResize="1" noEditPoints="1" noAdjustHandles="1" noChangeArrowheads="1" noChangeShapeType="1" noTextEdit="1"/>
              </p:cNvSpPr>
              <p:nvPr/>
            </p:nvSpPr>
            <p:spPr>
              <a:xfrm>
                <a:off x="5435396" y="657393"/>
                <a:ext cx="1670842" cy="523220"/>
              </a:xfrm>
              <a:prstGeom prst="rect">
                <a:avLst/>
              </a:prstGeom>
              <a:blipFill>
                <a:blip r:embed="rId7"/>
                <a:stretch>
                  <a:fillRect/>
                </a:stretch>
              </a:blipFill>
            </p:spPr>
            <p:txBody>
              <a:bodyPr/>
              <a:lstStyle/>
              <a:p>
                <a:r>
                  <a:rPr lang="zh-TW" altLang="en-US">
                    <a:noFill/>
                  </a:rPr>
                  <a:t> </a:t>
                </a:r>
              </a:p>
            </p:txBody>
          </p:sp>
        </mc:Fallback>
      </mc:AlternateContent>
      <p:pic>
        <p:nvPicPr>
          <p:cNvPr id="2" name="圖片 1">
            <a:extLst>
              <a:ext uri="{FF2B5EF4-FFF2-40B4-BE49-F238E27FC236}">
                <a16:creationId xmlns:a16="http://schemas.microsoft.com/office/drawing/2014/main" id="{5403193E-10A7-4A90-BEF3-645A1D69690C}"/>
              </a:ext>
            </a:extLst>
          </p:cNvPr>
          <p:cNvPicPr>
            <a:picLocks noChangeAspect="1"/>
          </p:cNvPicPr>
          <p:nvPr/>
        </p:nvPicPr>
        <p:blipFill>
          <a:blip r:embed="rId8"/>
          <a:stretch>
            <a:fillRect/>
          </a:stretch>
        </p:blipFill>
        <p:spPr>
          <a:xfrm>
            <a:off x="2399628" y="1782287"/>
            <a:ext cx="4344744" cy="2716995"/>
          </a:xfrm>
          <a:prstGeom prst="rect">
            <a:avLst/>
          </a:prstGeom>
        </p:spPr>
      </p:pic>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1EB1EDC6-94C9-41E6-B7B0-D1CF2B5EE824}"/>
                  </a:ext>
                </a:extLst>
              </p:cNvPr>
              <p:cNvSpPr/>
              <p:nvPr/>
            </p:nvSpPr>
            <p:spPr>
              <a:xfrm>
                <a:off x="4355612" y="2870431"/>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6</m:t>
                          </m:r>
                        </m:sub>
                      </m:sSub>
                    </m:oMath>
                  </m:oMathPara>
                </a14:m>
                <a:endParaRPr lang="zh-TW" altLang="en-US" i="1" dirty="0">
                  <a:solidFill>
                    <a:srgbClr val="FF0000"/>
                  </a:solidFill>
                  <a:latin typeface="Cambria Math" panose="02040503050406030204" pitchFamily="18" charset="0"/>
                </a:endParaRPr>
              </a:p>
            </p:txBody>
          </p:sp>
        </mc:Choice>
        <mc:Fallback xmlns="">
          <p:sp>
            <p:nvSpPr>
              <p:cNvPr id="41" name="矩形 40">
                <a:extLst>
                  <a:ext uri="{FF2B5EF4-FFF2-40B4-BE49-F238E27FC236}">
                    <a16:creationId xmlns:a16="http://schemas.microsoft.com/office/drawing/2014/main" id="{1EB1EDC6-94C9-41E6-B7B0-D1CF2B5EE824}"/>
                  </a:ext>
                </a:extLst>
              </p:cNvPr>
              <p:cNvSpPr>
                <a:spLocks noRot="1" noChangeAspect="1" noMove="1" noResize="1" noEditPoints="1" noAdjustHandles="1" noChangeArrowheads="1" noChangeShapeType="1" noTextEdit="1"/>
              </p:cNvSpPr>
              <p:nvPr/>
            </p:nvSpPr>
            <p:spPr>
              <a:xfrm>
                <a:off x="4355612" y="2870431"/>
                <a:ext cx="475195" cy="369332"/>
              </a:xfrm>
              <a:prstGeom prst="rect">
                <a:avLst/>
              </a:prstGeom>
              <a:blipFill>
                <a:blip r:embed="rId9"/>
                <a:stretch>
                  <a:fillRect b="-1667"/>
                </a:stretch>
              </a:blipFill>
            </p:spPr>
            <p:txBody>
              <a:bodyPr/>
              <a:lstStyle/>
              <a:p>
                <a:r>
                  <a:rPr lang="zh-TW" altLang="en-US">
                    <a:noFill/>
                  </a:rPr>
                  <a:t> </a:t>
                </a:r>
              </a:p>
            </p:txBody>
          </p:sp>
        </mc:Fallback>
      </mc:AlternateContent>
      <p:cxnSp>
        <p:nvCxnSpPr>
          <p:cNvPr id="43" name="直線單箭頭接點 42">
            <a:extLst>
              <a:ext uri="{FF2B5EF4-FFF2-40B4-BE49-F238E27FC236}">
                <a16:creationId xmlns:a16="http://schemas.microsoft.com/office/drawing/2014/main" id="{CD2385A2-0144-49BA-8B80-9FBE10C075E3}"/>
              </a:ext>
            </a:extLst>
          </p:cNvPr>
          <p:cNvCxnSpPr>
            <a:cxnSpLocks/>
          </p:cNvCxnSpPr>
          <p:nvPr/>
        </p:nvCxnSpPr>
        <p:spPr>
          <a:xfrm flipH="1" flipV="1">
            <a:off x="2498651" y="5103628"/>
            <a:ext cx="2477525" cy="544032"/>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5118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20</a:t>
            </a:fld>
            <a:endParaRPr lang="zh-TW" altLang="en-US" dirty="0"/>
          </a:p>
        </p:txBody>
      </p:sp>
      <p:sp>
        <p:nvSpPr>
          <p:cNvPr id="144" name="標題 1">
            <a:extLst>
              <a:ext uri="{FF2B5EF4-FFF2-40B4-BE49-F238E27FC236}">
                <a16:creationId xmlns:a16="http://schemas.microsoft.com/office/drawing/2014/main" id="{BEB4C4FE-92DC-49E9-BA31-B5B03EB1851E}"/>
              </a:ext>
            </a:extLst>
          </p:cNvPr>
          <p:cNvSpPr>
            <a:spLocks noGrp="1"/>
          </p:cNvSpPr>
          <p:nvPr>
            <p:ph type="title"/>
          </p:nvPr>
        </p:nvSpPr>
        <p:spPr>
          <a:xfrm>
            <a:off x="471956" y="414725"/>
            <a:ext cx="7886700" cy="583367"/>
          </a:xfrm>
        </p:spPr>
        <p:txBody>
          <a:bodyPr>
            <a:normAutofit/>
          </a:bodyPr>
          <a:lstStyle/>
          <a:p>
            <a:r>
              <a:rPr lang="en-US" altLang="zh-TW" sz="3200" dirty="0">
                <a:latin typeface="Times New Roman" panose="02020603050405020304" pitchFamily="18" charset="0"/>
                <a:cs typeface="Times New Roman" panose="02020603050405020304" pitchFamily="18" charset="0"/>
              </a:rPr>
              <a:t>Forth Round</a:t>
            </a:r>
            <a:endParaRPr lang="zh-TW" altLang="en-US" sz="3200" dirty="0">
              <a:latin typeface="Times New Roman" panose="02020603050405020304" pitchFamily="18" charset="0"/>
              <a:cs typeface="Times New Roman" panose="02020603050405020304" pitchFamily="18" charset="0"/>
            </a:endParaRPr>
          </a:p>
        </p:txBody>
      </p:sp>
      <p:sp>
        <p:nvSpPr>
          <p:cNvPr id="15" name="內容版面配置區 6">
            <a:extLst>
              <a:ext uri="{FF2B5EF4-FFF2-40B4-BE49-F238E27FC236}">
                <a16:creationId xmlns:a16="http://schemas.microsoft.com/office/drawing/2014/main" id="{45387554-66BD-46A2-9CE4-80CF9ABB89B8}"/>
              </a:ext>
            </a:extLst>
          </p:cNvPr>
          <p:cNvSpPr txBox="1">
            <a:spLocks/>
          </p:cNvSpPr>
          <p:nvPr/>
        </p:nvSpPr>
        <p:spPr>
          <a:xfrm>
            <a:off x="471956" y="998092"/>
            <a:ext cx="8327572" cy="5553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TW" sz="2400" dirty="0">
                <a:latin typeface="Times New Roman" panose="02020603050405020304" pitchFamily="18" charset="0"/>
                <a:cs typeface="Times New Roman" panose="02020603050405020304" pitchFamily="18" charset="0"/>
              </a:rPr>
              <a:t>The Longest Prefix Bucket Array</a:t>
            </a:r>
            <a:endParaRPr lang="zh-TW" altLang="en-US" sz="2400" dirty="0">
              <a:latin typeface="Times New Roman" panose="02020603050405020304" pitchFamily="18" charset="0"/>
              <a:cs typeface="Times New Roman" panose="02020603050405020304" pitchFamily="18" charset="0"/>
            </a:endParaRPr>
          </a:p>
        </p:txBody>
      </p:sp>
      <p:graphicFrame>
        <p:nvGraphicFramePr>
          <p:cNvPr id="9" name="表格 8">
            <a:extLst>
              <a:ext uri="{FF2B5EF4-FFF2-40B4-BE49-F238E27FC236}">
                <a16:creationId xmlns:a16="http://schemas.microsoft.com/office/drawing/2014/main" id="{CED2CC08-5B0E-4719-A11B-2F1D84641CDB}"/>
              </a:ext>
            </a:extLst>
          </p:cNvPr>
          <p:cNvGraphicFramePr>
            <a:graphicFrameLocks noGrp="1"/>
          </p:cNvGraphicFramePr>
          <p:nvPr>
            <p:extLst>
              <p:ext uri="{D42A27DB-BD31-4B8C-83A1-F6EECF244321}">
                <p14:modId xmlns:p14="http://schemas.microsoft.com/office/powerpoint/2010/main" val="2798539192"/>
              </p:ext>
            </p:extLst>
          </p:nvPr>
        </p:nvGraphicFramePr>
        <p:xfrm>
          <a:off x="1367307" y="4823250"/>
          <a:ext cx="5860807" cy="370840"/>
        </p:xfrm>
        <a:graphic>
          <a:graphicData uri="http://schemas.openxmlformats.org/drawingml/2006/table">
            <a:tbl>
              <a:tblPr firstRow="1" bandRow="1">
                <a:tableStyleId>{5940675A-B579-460E-94D1-54222C63F5DA}</a:tableStyleId>
              </a:tblPr>
              <a:tblGrid>
                <a:gridCol w="677333">
                  <a:extLst>
                    <a:ext uri="{9D8B030D-6E8A-4147-A177-3AD203B41FA5}">
                      <a16:colId xmlns:a16="http://schemas.microsoft.com/office/drawing/2014/main" val="184306604"/>
                    </a:ext>
                  </a:extLst>
                </a:gridCol>
                <a:gridCol w="677333">
                  <a:extLst>
                    <a:ext uri="{9D8B030D-6E8A-4147-A177-3AD203B41FA5}">
                      <a16:colId xmlns:a16="http://schemas.microsoft.com/office/drawing/2014/main" val="1731048100"/>
                    </a:ext>
                  </a:extLst>
                </a:gridCol>
                <a:gridCol w="677333">
                  <a:extLst>
                    <a:ext uri="{9D8B030D-6E8A-4147-A177-3AD203B41FA5}">
                      <a16:colId xmlns:a16="http://schemas.microsoft.com/office/drawing/2014/main" val="1688476900"/>
                    </a:ext>
                  </a:extLst>
                </a:gridCol>
                <a:gridCol w="677333">
                  <a:extLst>
                    <a:ext uri="{9D8B030D-6E8A-4147-A177-3AD203B41FA5}">
                      <a16:colId xmlns:a16="http://schemas.microsoft.com/office/drawing/2014/main" val="1704851491"/>
                    </a:ext>
                  </a:extLst>
                </a:gridCol>
                <a:gridCol w="677333">
                  <a:extLst>
                    <a:ext uri="{9D8B030D-6E8A-4147-A177-3AD203B41FA5}">
                      <a16:colId xmlns:a16="http://schemas.microsoft.com/office/drawing/2014/main" val="1998974524"/>
                    </a:ext>
                  </a:extLst>
                </a:gridCol>
                <a:gridCol w="677333">
                  <a:extLst>
                    <a:ext uri="{9D8B030D-6E8A-4147-A177-3AD203B41FA5}">
                      <a16:colId xmlns:a16="http://schemas.microsoft.com/office/drawing/2014/main" val="3853749183"/>
                    </a:ext>
                  </a:extLst>
                </a:gridCol>
                <a:gridCol w="677333">
                  <a:extLst>
                    <a:ext uri="{9D8B030D-6E8A-4147-A177-3AD203B41FA5}">
                      <a16:colId xmlns:a16="http://schemas.microsoft.com/office/drawing/2014/main" val="391626377"/>
                    </a:ext>
                  </a:extLst>
                </a:gridCol>
                <a:gridCol w="677333">
                  <a:extLst>
                    <a:ext uri="{9D8B030D-6E8A-4147-A177-3AD203B41FA5}">
                      <a16:colId xmlns:a16="http://schemas.microsoft.com/office/drawing/2014/main" val="2559129209"/>
                    </a:ext>
                  </a:extLst>
                </a:gridCol>
                <a:gridCol w="442143">
                  <a:extLst>
                    <a:ext uri="{9D8B030D-6E8A-4147-A177-3AD203B41FA5}">
                      <a16:colId xmlns:a16="http://schemas.microsoft.com/office/drawing/2014/main" val="2227559916"/>
                    </a:ext>
                  </a:extLst>
                </a:gridCol>
              </a:tblGrid>
              <a:tr h="370840">
                <a:tc>
                  <a:txBody>
                    <a:bodyPr/>
                    <a:lstStyle/>
                    <a:p>
                      <a:pPr algn="ctr"/>
                      <a:r>
                        <a:rPr lang="en-US" altLang="zh-TW" dirty="0"/>
                        <a:t>1</a:t>
                      </a:r>
                      <a:endParaRPr lang="zh-TW" altLang="en-US" dirty="0"/>
                    </a:p>
                  </a:txBody>
                  <a:tcPr anchor="ctr"/>
                </a:tc>
                <a:tc>
                  <a:txBody>
                    <a:bodyPr/>
                    <a:lstStyle/>
                    <a:p>
                      <a:pPr algn="ctr"/>
                      <a:r>
                        <a:rPr lang="en-US" altLang="zh-TW" dirty="0"/>
                        <a:t>2</a:t>
                      </a:r>
                      <a:endParaRPr lang="zh-TW" altLang="en-US" dirty="0"/>
                    </a:p>
                  </a:txBody>
                  <a:tcPr anchor="ctr"/>
                </a:tc>
                <a:tc>
                  <a:txBody>
                    <a:bodyPr/>
                    <a:lstStyle/>
                    <a:p>
                      <a:pPr algn="ctr"/>
                      <a:r>
                        <a:rPr lang="en-US" altLang="zh-TW" dirty="0"/>
                        <a:t>3</a:t>
                      </a:r>
                      <a:endParaRPr lang="zh-TW" altLang="en-US" dirty="0"/>
                    </a:p>
                  </a:txBody>
                  <a:tcPr anchor="ctr"/>
                </a:tc>
                <a:tc>
                  <a:txBody>
                    <a:bodyPr/>
                    <a:lstStyle/>
                    <a:p>
                      <a:pPr algn="ctr"/>
                      <a:r>
                        <a:rPr lang="en-US" altLang="zh-TW" dirty="0"/>
                        <a:t>4</a:t>
                      </a:r>
                      <a:endParaRPr lang="zh-TW" altLang="en-US" dirty="0"/>
                    </a:p>
                  </a:txBody>
                  <a:tcPr anchor="ctr"/>
                </a:tc>
                <a:tc>
                  <a:txBody>
                    <a:bodyPr/>
                    <a:lstStyle/>
                    <a:p>
                      <a:pPr algn="ctr"/>
                      <a:r>
                        <a:rPr lang="en-US" altLang="zh-TW" dirty="0"/>
                        <a:t>5</a:t>
                      </a:r>
                      <a:endParaRPr lang="zh-TW" altLang="en-US" dirty="0"/>
                    </a:p>
                  </a:txBody>
                  <a:tcPr anchor="ctr"/>
                </a:tc>
                <a:tc>
                  <a:txBody>
                    <a:bodyPr/>
                    <a:lstStyle/>
                    <a:p>
                      <a:pPr algn="ctr"/>
                      <a:r>
                        <a:rPr lang="en-US" altLang="zh-TW" dirty="0"/>
                        <a:t>6</a:t>
                      </a:r>
                      <a:endParaRPr lang="zh-TW" altLang="en-US" dirty="0"/>
                    </a:p>
                  </a:txBody>
                  <a:tcPr anchor="ctr"/>
                </a:tc>
                <a:tc>
                  <a:txBody>
                    <a:bodyPr/>
                    <a:lstStyle/>
                    <a:p>
                      <a:pPr algn="ctr"/>
                      <a:r>
                        <a:rPr lang="en-US" altLang="zh-TW" dirty="0"/>
                        <a:t>7</a:t>
                      </a:r>
                      <a:endParaRPr lang="zh-TW" altLang="en-US" dirty="0"/>
                    </a:p>
                  </a:txBody>
                  <a:tcPr anchor="ctr"/>
                </a:tc>
                <a:tc>
                  <a:txBody>
                    <a:bodyPr/>
                    <a:lstStyle/>
                    <a:p>
                      <a:pPr algn="ctr"/>
                      <a:r>
                        <a:rPr lang="en-US" altLang="zh-TW" dirty="0"/>
                        <a:t>8</a:t>
                      </a:r>
                      <a:endParaRPr lang="zh-TW" altLang="en-US" dirty="0"/>
                    </a:p>
                  </a:txBody>
                  <a:tcPr anchor="ctr"/>
                </a:tc>
                <a:tc>
                  <a:txBody>
                    <a:bodyPr/>
                    <a:lstStyle/>
                    <a:p>
                      <a:pPr algn="ctr"/>
                      <a:r>
                        <a:rPr lang="en-US" altLang="zh-TW" dirty="0"/>
                        <a:t>9</a:t>
                      </a:r>
                      <a:endParaRPr lang="zh-TW" altLang="en-US" dirty="0"/>
                    </a:p>
                  </a:txBody>
                  <a:tcPr anchor="ctr"/>
                </a:tc>
                <a:extLst>
                  <a:ext uri="{0D108BD9-81ED-4DB2-BD59-A6C34878D82A}">
                    <a16:rowId xmlns:a16="http://schemas.microsoft.com/office/drawing/2014/main" val="2394764283"/>
                  </a:ext>
                </a:extLst>
              </a:tr>
            </a:tbl>
          </a:graphicData>
        </a:graphic>
      </p:graphicFrame>
      <p:cxnSp>
        <p:nvCxnSpPr>
          <p:cNvPr id="17" name="直線單箭頭接點 16">
            <a:extLst>
              <a:ext uri="{FF2B5EF4-FFF2-40B4-BE49-F238E27FC236}">
                <a16:creationId xmlns:a16="http://schemas.microsoft.com/office/drawing/2014/main" id="{F49A02D6-DBBA-4FD9-8857-8DD266D83D5F}"/>
              </a:ext>
            </a:extLst>
          </p:cNvPr>
          <p:cNvCxnSpPr>
            <a:cxnSpLocks/>
          </p:cNvCxnSpPr>
          <p:nvPr/>
        </p:nvCxnSpPr>
        <p:spPr>
          <a:xfrm>
            <a:off x="1711842" y="5194090"/>
            <a:ext cx="0" cy="207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52948B29-4E80-40E8-AE4D-3B8F1E85EC7C}"/>
                  </a:ext>
                </a:extLst>
              </p:cNvPr>
              <p:cNvSpPr/>
              <p:nvPr/>
            </p:nvSpPr>
            <p:spPr>
              <a:xfrm>
                <a:off x="1476906" y="5355976"/>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6</m:t>
                          </m:r>
                        </m:sub>
                      </m:sSub>
                    </m:oMath>
                  </m:oMathPara>
                </a14:m>
                <a:endParaRPr lang="zh-TW" altLang="en-US" i="1" dirty="0">
                  <a:solidFill>
                    <a:srgbClr val="FF0000"/>
                  </a:solidFill>
                  <a:latin typeface="Cambria Math" panose="02040503050406030204" pitchFamily="18" charset="0"/>
                </a:endParaRPr>
              </a:p>
            </p:txBody>
          </p:sp>
        </mc:Choice>
        <mc:Fallback xmlns="">
          <p:sp>
            <p:nvSpPr>
              <p:cNvPr id="27" name="矩形 26">
                <a:extLst>
                  <a:ext uri="{FF2B5EF4-FFF2-40B4-BE49-F238E27FC236}">
                    <a16:creationId xmlns:a16="http://schemas.microsoft.com/office/drawing/2014/main" id="{52948B29-4E80-40E8-AE4D-3B8F1E85EC7C}"/>
                  </a:ext>
                </a:extLst>
              </p:cNvPr>
              <p:cNvSpPr>
                <a:spLocks noRot="1" noChangeAspect="1" noMove="1" noResize="1" noEditPoints="1" noAdjustHandles="1" noChangeArrowheads="1" noChangeShapeType="1" noTextEdit="1"/>
              </p:cNvSpPr>
              <p:nvPr/>
            </p:nvSpPr>
            <p:spPr>
              <a:xfrm>
                <a:off x="1476906" y="5355976"/>
                <a:ext cx="475195" cy="369332"/>
              </a:xfrm>
              <a:prstGeom prst="rect">
                <a:avLst/>
              </a:prstGeom>
              <a:blipFill>
                <a:blip r:embed="rId3"/>
                <a:stretch>
                  <a:fillRect b="-1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矩形 51">
                <a:extLst>
                  <a:ext uri="{FF2B5EF4-FFF2-40B4-BE49-F238E27FC236}">
                    <a16:creationId xmlns:a16="http://schemas.microsoft.com/office/drawing/2014/main" id="{78B473AD-2ADF-473D-98A3-E474E9B379AA}"/>
                  </a:ext>
                </a:extLst>
              </p:cNvPr>
              <p:cNvSpPr/>
              <p:nvPr/>
            </p:nvSpPr>
            <p:spPr>
              <a:xfrm>
                <a:off x="5435396" y="226124"/>
                <a:ext cx="110793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𝑆</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𝑐</m:t>
                      </m:r>
                    </m:oMath>
                  </m:oMathPara>
                </a14:m>
                <a:endParaRPr lang="zh-TW" altLang="en-US" sz="2800" strike="sngStrike" dirty="0"/>
              </a:p>
            </p:txBody>
          </p:sp>
        </mc:Choice>
        <mc:Fallback xmlns="">
          <p:sp>
            <p:nvSpPr>
              <p:cNvPr id="52" name="矩形 51">
                <a:extLst>
                  <a:ext uri="{FF2B5EF4-FFF2-40B4-BE49-F238E27FC236}">
                    <a16:creationId xmlns:a16="http://schemas.microsoft.com/office/drawing/2014/main" id="{78B473AD-2ADF-473D-98A3-E474E9B379AA}"/>
                  </a:ext>
                </a:extLst>
              </p:cNvPr>
              <p:cNvSpPr>
                <a:spLocks noRot="1" noChangeAspect="1" noMove="1" noResize="1" noEditPoints="1" noAdjustHandles="1" noChangeArrowheads="1" noChangeShapeType="1" noTextEdit="1"/>
              </p:cNvSpPr>
              <p:nvPr/>
            </p:nvSpPr>
            <p:spPr>
              <a:xfrm>
                <a:off x="5435396" y="226124"/>
                <a:ext cx="1107932" cy="523220"/>
              </a:xfrm>
              <a:prstGeom prst="rect">
                <a:avLst/>
              </a:prstGeom>
              <a:blipFill>
                <a:blip r:embed="rId4"/>
                <a:stretch>
                  <a:fillRect/>
                </a:stretch>
              </a:blipFill>
            </p:spPr>
            <p:txBody>
              <a:bodyPr/>
              <a:lstStyle/>
              <a:p>
                <a:r>
                  <a:rPr lang="zh-TW" altLang="en-US">
                    <a:noFill/>
                  </a:rPr>
                  <a:t> </a:t>
                </a:r>
              </a:p>
            </p:txBody>
          </p:sp>
        </mc:Fallback>
      </mc:AlternateContent>
      <p:sp>
        <p:nvSpPr>
          <p:cNvPr id="54" name="標題 1">
            <a:extLst>
              <a:ext uri="{FF2B5EF4-FFF2-40B4-BE49-F238E27FC236}">
                <a16:creationId xmlns:a16="http://schemas.microsoft.com/office/drawing/2014/main" id="{720553EE-86C9-44EA-999B-DD03298955BF}"/>
              </a:ext>
            </a:extLst>
          </p:cNvPr>
          <p:cNvSpPr txBox="1">
            <a:spLocks/>
          </p:cNvSpPr>
          <p:nvPr/>
        </p:nvSpPr>
        <p:spPr>
          <a:xfrm>
            <a:off x="4976176" y="5355976"/>
            <a:ext cx="1100153" cy="583367"/>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TW" sz="2000" b="1" dirty="0">
                <a:solidFill>
                  <a:srgbClr val="002060"/>
                </a:solidFill>
                <a:latin typeface="Gill Sans MT" panose="020B0502020104020203" pitchFamily="34" charset="0"/>
                <a:cs typeface="Times New Roman" panose="02020603050405020304" pitchFamily="18" charset="0"/>
              </a:rPr>
              <a:t>Maximal Pointer</a:t>
            </a:r>
            <a:endParaRPr lang="zh-TW" altLang="en-US" sz="2000" b="1" dirty="0">
              <a:solidFill>
                <a:srgbClr val="002060"/>
              </a:solidFill>
              <a:latin typeface="Gill Sans MT" panose="020B0502020104020203" pitchFamily="34" charset="0"/>
              <a:cs typeface="Times New Roman" panose="02020603050405020304" pitchFamily="18" charset="0"/>
            </a:endParaRPr>
          </a:p>
        </p:txBody>
      </p:sp>
      <p:sp>
        <p:nvSpPr>
          <p:cNvPr id="34" name="橢圓 33">
            <a:extLst>
              <a:ext uri="{FF2B5EF4-FFF2-40B4-BE49-F238E27FC236}">
                <a16:creationId xmlns:a16="http://schemas.microsoft.com/office/drawing/2014/main" id="{C9EA3B92-FA3C-464E-8B72-7F2C4D994884}"/>
              </a:ext>
            </a:extLst>
          </p:cNvPr>
          <p:cNvSpPr/>
          <p:nvPr/>
        </p:nvSpPr>
        <p:spPr>
          <a:xfrm>
            <a:off x="1444188" y="5367217"/>
            <a:ext cx="502524" cy="480513"/>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B1BA1269-B2CC-4337-9C7C-07234349B4F0}"/>
                  </a:ext>
                </a:extLst>
              </p:cNvPr>
              <p:cNvSpPr/>
              <p:nvPr/>
            </p:nvSpPr>
            <p:spPr>
              <a:xfrm>
                <a:off x="4276451" y="5987019"/>
                <a:ext cx="2504916" cy="369332"/>
              </a:xfrm>
              <a:prstGeom prst="rect">
                <a:avLst/>
              </a:prstGeom>
            </p:spPr>
            <p:txBody>
              <a:bodyPr wrap="none">
                <a:spAutoFit/>
              </a:bodyPr>
              <a:lstStyle/>
              <a:p>
                <a:r>
                  <a:rPr lang="en-US" altLang="zh-TW" dirty="0">
                    <a:latin typeface="Times New Roman" panose="02020603050405020304" pitchFamily="18" charset="0"/>
                    <a:cs typeface="Times New Roman" panose="02020603050405020304" pitchFamily="18" charset="0"/>
                  </a:rPr>
                  <a:t>partition: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𝑎𝑎𝑏</m:t>
                    </m:r>
                    <m:r>
                      <a:rPr lang="en-US" altLang="zh-TW" b="0" i="1" dirty="0" smtClean="0">
                        <a:latin typeface="Cambria Math" panose="02040503050406030204" pitchFamily="18" charset="0"/>
                        <a:cs typeface="Times New Roman" panose="02020603050405020304" pitchFamily="18" charset="0"/>
                      </a:rPr>
                      <m:t>, </m:t>
                    </m:r>
                    <m:r>
                      <a:rPr lang="en-US" altLang="zh-TW" b="0" i="1" dirty="0" smtClean="0">
                        <a:latin typeface="Cambria Math" panose="02040503050406030204" pitchFamily="18" charset="0"/>
                        <a:cs typeface="Times New Roman" panose="02020603050405020304" pitchFamily="18" charset="0"/>
                      </a:rPr>
                      <m:t>𝑐𝑎𝑏</m:t>
                    </m:r>
                    <m:r>
                      <a:rPr lang="en-US" altLang="zh-TW" b="0" i="1" dirty="0" smtClean="0">
                        <a:latin typeface="Cambria Math" panose="02040503050406030204" pitchFamily="18" charset="0"/>
                        <a:cs typeface="Times New Roman" panose="02020603050405020304" pitchFamily="18" charset="0"/>
                      </a:rPr>
                      <m:t>, </m:t>
                    </m:r>
                    <m:r>
                      <a:rPr lang="en-US" altLang="zh-TW" b="0" i="1" dirty="0" smtClean="0">
                        <a:latin typeface="Cambria Math" panose="02040503050406030204" pitchFamily="18" charset="0"/>
                        <a:cs typeface="Times New Roman" panose="02020603050405020304" pitchFamily="18" charset="0"/>
                      </a:rPr>
                      <m:t>𝑎𝑐</m:t>
                    </m:r>
                    <m:r>
                      <a:rPr lang="en-US" altLang="zh-TW" b="0" i="1" dirty="0" smtClean="0">
                        <a:latin typeface="Cambria Math" panose="02040503050406030204" pitchFamily="18" charset="0"/>
                        <a:cs typeface="Times New Roman" panose="02020603050405020304" pitchFamily="18" charset="0"/>
                      </a:rPr>
                      <m:t>, </m:t>
                    </m:r>
                    <m:r>
                      <a:rPr lang="en-US" altLang="zh-TW" b="0" i="1" dirty="0" smtClean="0">
                        <a:latin typeface="Cambria Math" panose="02040503050406030204" pitchFamily="18" charset="0"/>
                        <a:cs typeface="Times New Roman" panose="02020603050405020304" pitchFamily="18" charset="0"/>
                      </a:rPr>
                      <m:t>𝑐</m:t>
                    </m:r>
                    <m:r>
                      <a:rPr lang="en-US" altLang="zh-TW" i="1" dirty="0" smtClean="0">
                        <a:latin typeface="Cambria Math" panose="02040503050406030204" pitchFamily="18" charset="0"/>
                        <a:cs typeface="Times New Roman" panose="02020603050405020304" pitchFamily="18" charset="0"/>
                      </a:rPr>
                      <m:t> </m:t>
                    </m:r>
                  </m:oMath>
                </a14:m>
                <a:endParaRPr lang="zh-TW" altLang="en-US" dirty="0">
                  <a:latin typeface="Times New Roman" panose="02020603050405020304" pitchFamily="18" charset="0"/>
                  <a:cs typeface="Times New Roman" panose="02020603050405020304" pitchFamily="18" charset="0"/>
                </a:endParaRPr>
              </a:p>
            </p:txBody>
          </p:sp>
        </mc:Choice>
        <mc:Fallback xmlns="">
          <p:sp>
            <p:nvSpPr>
              <p:cNvPr id="38" name="矩形 37">
                <a:extLst>
                  <a:ext uri="{FF2B5EF4-FFF2-40B4-BE49-F238E27FC236}">
                    <a16:creationId xmlns:a16="http://schemas.microsoft.com/office/drawing/2014/main" id="{B1BA1269-B2CC-4337-9C7C-07234349B4F0}"/>
                  </a:ext>
                </a:extLst>
              </p:cNvPr>
              <p:cNvSpPr>
                <a:spLocks noRot="1" noChangeAspect="1" noMove="1" noResize="1" noEditPoints="1" noAdjustHandles="1" noChangeArrowheads="1" noChangeShapeType="1" noTextEdit="1"/>
              </p:cNvSpPr>
              <p:nvPr/>
            </p:nvSpPr>
            <p:spPr>
              <a:xfrm>
                <a:off x="4276451" y="5987019"/>
                <a:ext cx="2504916" cy="369332"/>
              </a:xfrm>
              <a:prstGeom prst="rect">
                <a:avLst/>
              </a:prstGeom>
              <a:blipFill>
                <a:blip r:embed="rId5"/>
                <a:stretch>
                  <a:fillRect l="-2195" t="-819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1FB5D7EC-2E94-46D3-9122-5565005313B0}"/>
                  </a:ext>
                </a:extLst>
              </p:cNvPr>
              <p:cNvSpPr/>
              <p:nvPr/>
            </p:nvSpPr>
            <p:spPr>
              <a:xfrm>
                <a:off x="5435396" y="657393"/>
                <a:ext cx="112806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𝑇</m:t>
                      </m:r>
                      <m:r>
                        <a:rPr lang="en-US" altLang="zh-TW" sz="2800" i="1">
                          <a:latin typeface="Cambria Math" panose="02040503050406030204" pitchFamily="18" charset="0"/>
                        </a:rPr>
                        <m:t>=</m:t>
                      </m:r>
                      <m:r>
                        <a:rPr lang="en-US" altLang="zh-TW" sz="2800" i="1">
                          <a:latin typeface="Cambria Math" panose="02040503050406030204" pitchFamily="18" charset="0"/>
                        </a:rPr>
                        <m:t>𝑐</m:t>
                      </m:r>
                    </m:oMath>
                  </m:oMathPara>
                </a14:m>
                <a:endParaRPr lang="zh-TW" altLang="en-US" sz="2800" i="1" dirty="0">
                  <a:latin typeface="Cambria Math" panose="02040503050406030204" pitchFamily="18" charset="0"/>
                </a:endParaRPr>
              </a:p>
            </p:txBody>
          </p:sp>
        </mc:Choice>
        <mc:Fallback xmlns="">
          <p:sp>
            <p:nvSpPr>
              <p:cNvPr id="39" name="矩形 38">
                <a:extLst>
                  <a:ext uri="{FF2B5EF4-FFF2-40B4-BE49-F238E27FC236}">
                    <a16:creationId xmlns:a16="http://schemas.microsoft.com/office/drawing/2014/main" id="{1FB5D7EC-2E94-46D3-9122-5565005313B0}"/>
                  </a:ext>
                </a:extLst>
              </p:cNvPr>
              <p:cNvSpPr>
                <a:spLocks noRot="1" noChangeAspect="1" noMove="1" noResize="1" noEditPoints="1" noAdjustHandles="1" noChangeArrowheads="1" noChangeShapeType="1" noTextEdit="1"/>
              </p:cNvSpPr>
              <p:nvPr/>
            </p:nvSpPr>
            <p:spPr>
              <a:xfrm>
                <a:off x="5435396" y="657393"/>
                <a:ext cx="1128066" cy="523220"/>
              </a:xfrm>
              <a:prstGeom prst="rect">
                <a:avLst/>
              </a:prstGeom>
              <a:blipFill>
                <a:blip r:embed="rId6"/>
                <a:stretch>
                  <a:fillRect/>
                </a:stretch>
              </a:blipFill>
            </p:spPr>
            <p:txBody>
              <a:bodyPr/>
              <a:lstStyle/>
              <a:p>
                <a:r>
                  <a:rPr lang="zh-TW" altLang="en-US">
                    <a:noFill/>
                  </a:rPr>
                  <a:t> </a:t>
                </a:r>
              </a:p>
            </p:txBody>
          </p:sp>
        </mc:Fallback>
      </mc:AlternateContent>
      <p:pic>
        <p:nvPicPr>
          <p:cNvPr id="2" name="圖片 1">
            <a:extLst>
              <a:ext uri="{FF2B5EF4-FFF2-40B4-BE49-F238E27FC236}">
                <a16:creationId xmlns:a16="http://schemas.microsoft.com/office/drawing/2014/main" id="{5403193E-10A7-4A90-BEF3-645A1D69690C}"/>
              </a:ext>
            </a:extLst>
          </p:cNvPr>
          <p:cNvPicPr>
            <a:picLocks noChangeAspect="1"/>
          </p:cNvPicPr>
          <p:nvPr/>
        </p:nvPicPr>
        <p:blipFill>
          <a:blip r:embed="rId7"/>
          <a:stretch>
            <a:fillRect/>
          </a:stretch>
        </p:blipFill>
        <p:spPr>
          <a:xfrm>
            <a:off x="2399628" y="1782287"/>
            <a:ext cx="4344744" cy="2716995"/>
          </a:xfrm>
          <a:prstGeom prst="rect">
            <a:avLst/>
          </a:prstGeom>
        </p:spPr>
      </p:pic>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1EB1EDC6-94C9-41E6-B7B0-D1CF2B5EE824}"/>
                  </a:ext>
                </a:extLst>
              </p:cNvPr>
              <p:cNvSpPr/>
              <p:nvPr/>
            </p:nvSpPr>
            <p:spPr>
              <a:xfrm>
                <a:off x="4355612" y="2870431"/>
                <a:ext cx="47519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solidFill>
                                <a:srgbClr val="FF0000"/>
                              </a:solidFill>
                              <a:latin typeface="Cambria Math" panose="02040503050406030204" pitchFamily="18" charset="0"/>
                            </a:rPr>
                          </m:ctrlPr>
                        </m:sSubPr>
                        <m:e>
                          <m:r>
                            <a:rPr lang="en-US" altLang="zh-TW" b="0" i="1" smtClean="0">
                              <a:solidFill>
                                <a:srgbClr val="FF0000"/>
                              </a:solidFill>
                              <a:latin typeface="Cambria Math" panose="02040503050406030204" pitchFamily="18" charset="0"/>
                            </a:rPr>
                            <m:t>𝐸</m:t>
                          </m:r>
                        </m:e>
                        <m:sub>
                          <m:r>
                            <a:rPr lang="en-US" altLang="zh-TW" b="0" i="1" smtClean="0">
                              <a:solidFill>
                                <a:srgbClr val="FF0000"/>
                              </a:solidFill>
                              <a:latin typeface="Cambria Math" panose="02040503050406030204" pitchFamily="18" charset="0"/>
                            </a:rPr>
                            <m:t>6</m:t>
                          </m:r>
                        </m:sub>
                      </m:sSub>
                    </m:oMath>
                  </m:oMathPara>
                </a14:m>
                <a:endParaRPr lang="zh-TW" altLang="en-US" i="1" dirty="0">
                  <a:solidFill>
                    <a:srgbClr val="FF0000"/>
                  </a:solidFill>
                  <a:latin typeface="Cambria Math" panose="02040503050406030204" pitchFamily="18" charset="0"/>
                </a:endParaRPr>
              </a:p>
            </p:txBody>
          </p:sp>
        </mc:Choice>
        <mc:Fallback xmlns="">
          <p:sp>
            <p:nvSpPr>
              <p:cNvPr id="41" name="矩形 40">
                <a:extLst>
                  <a:ext uri="{FF2B5EF4-FFF2-40B4-BE49-F238E27FC236}">
                    <a16:creationId xmlns:a16="http://schemas.microsoft.com/office/drawing/2014/main" id="{1EB1EDC6-94C9-41E6-B7B0-D1CF2B5EE824}"/>
                  </a:ext>
                </a:extLst>
              </p:cNvPr>
              <p:cNvSpPr>
                <a:spLocks noRot="1" noChangeAspect="1" noMove="1" noResize="1" noEditPoints="1" noAdjustHandles="1" noChangeArrowheads="1" noChangeShapeType="1" noTextEdit="1"/>
              </p:cNvSpPr>
              <p:nvPr/>
            </p:nvSpPr>
            <p:spPr>
              <a:xfrm>
                <a:off x="4355612" y="2870431"/>
                <a:ext cx="475195" cy="369332"/>
              </a:xfrm>
              <a:prstGeom prst="rect">
                <a:avLst/>
              </a:prstGeom>
              <a:blipFill>
                <a:blip r:embed="rId8"/>
                <a:stretch>
                  <a:fillRect b="-1667"/>
                </a:stretch>
              </a:blipFill>
            </p:spPr>
            <p:txBody>
              <a:bodyPr/>
              <a:lstStyle/>
              <a:p>
                <a:r>
                  <a:rPr lang="zh-TW" altLang="en-US">
                    <a:noFill/>
                  </a:rPr>
                  <a:t> </a:t>
                </a:r>
              </a:p>
            </p:txBody>
          </p:sp>
        </mc:Fallback>
      </mc:AlternateContent>
      <p:cxnSp>
        <p:nvCxnSpPr>
          <p:cNvPr id="25" name="直線單箭頭接點 24">
            <a:extLst>
              <a:ext uri="{FF2B5EF4-FFF2-40B4-BE49-F238E27FC236}">
                <a16:creationId xmlns:a16="http://schemas.microsoft.com/office/drawing/2014/main" id="{A03B2474-24B5-4747-891F-4079C2E08BC5}"/>
              </a:ext>
            </a:extLst>
          </p:cNvPr>
          <p:cNvCxnSpPr>
            <a:cxnSpLocks/>
          </p:cNvCxnSpPr>
          <p:nvPr/>
        </p:nvCxnSpPr>
        <p:spPr>
          <a:xfrm flipH="1" flipV="1">
            <a:off x="1796902" y="5092995"/>
            <a:ext cx="3179275" cy="554665"/>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33753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3EE8C0-F1AE-4521-8C69-6C1D4FD87C93}"/>
              </a:ext>
            </a:extLst>
          </p:cNvPr>
          <p:cNvSpPr>
            <a:spLocks noGrp="1"/>
          </p:cNvSpPr>
          <p:nvPr>
            <p:ph type="title"/>
          </p:nvPr>
        </p:nvSpPr>
        <p:spPr/>
        <p:txBody>
          <a:bodyPr/>
          <a:lstStyle/>
          <a:p>
            <a:endParaRPr lang="zh-TW" altLang="en-US"/>
          </a:p>
        </p:txBody>
      </p:sp>
      <p:sp>
        <p:nvSpPr>
          <p:cNvPr id="4" name="投影片編號版面配置區 3">
            <a:extLst>
              <a:ext uri="{FF2B5EF4-FFF2-40B4-BE49-F238E27FC236}">
                <a16:creationId xmlns:a16="http://schemas.microsoft.com/office/drawing/2014/main" id="{3BA3CD5A-EFA3-450C-A428-2742F9A93D76}"/>
              </a:ext>
            </a:extLst>
          </p:cNvPr>
          <p:cNvSpPr>
            <a:spLocks noGrp="1"/>
          </p:cNvSpPr>
          <p:nvPr>
            <p:ph type="sldNum" sz="quarter" idx="12"/>
          </p:nvPr>
        </p:nvSpPr>
        <p:spPr/>
        <p:txBody>
          <a:bodyPr/>
          <a:lstStyle/>
          <a:p>
            <a:fld id="{872633CA-77E0-4863-94F8-E28139DFB2B4}" type="slidenum">
              <a:rPr lang="zh-TW" altLang="en-US" smtClean="0"/>
              <a:t>21</a:t>
            </a:fld>
            <a:endParaRPr lang="zh-TW" altLang="en-US"/>
          </a:p>
        </p:txBody>
      </p:sp>
      <p:grpSp>
        <p:nvGrpSpPr>
          <p:cNvPr id="11" name="群組 10">
            <a:extLst>
              <a:ext uri="{FF2B5EF4-FFF2-40B4-BE49-F238E27FC236}">
                <a16:creationId xmlns:a16="http://schemas.microsoft.com/office/drawing/2014/main" id="{587BA0D4-3CAB-4E6E-A4B7-45E10690670A}"/>
              </a:ext>
            </a:extLst>
          </p:cNvPr>
          <p:cNvGrpSpPr/>
          <p:nvPr/>
        </p:nvGrpSpPr>
        <p:grpSpPr>
          <a:xfrm>
            <a:off x="747071" y="2784926"/>
            <a:ext cx="5840832" cy="2862948"/>
            <a:chOff x="1651584" y="2795783"/>
            <a:chExt cx="5840832" cy="2862948"/>
          </a:xfrm>
        </p:grpSpPr>
        <p:pic>
          <p:nvPicPr>
            <p:cNvPr id="8" name="圖片 7">
              <a:extLst>
                <a:ext uri="{FF2B5EF4-FFF2-40B4-BE49-F238E27FC236}">
                  <a16:creationId xmlns:a16="http://schemas.microsoft.com/office/drawing/2014/main" id="{E70395D9-5090-4BA3-894F-CB49EF69C1CE}"/>
                </a:ext>
              </a:extLst>
            </p:cNvPr>
            <p:cNvPicPr>
              <a:picLocks noChangeAspect="1"/>
            </p:cNvPicPr>
            <p:nvPr/>
          </p:nvPicPr>
          <p:blipFill>
            <a:blip r:embed="rId3"/>
            <a:stretch>
              <a:fillRect/>
            </a:stretch>
          </p:blipFill>
          <p:spPr>
            <a:xfrm>
              <a:off x="1651584" y="2795783"/>
              <a:ext cx="5840832" cy="2862948"/>
            </a:xfrm>
            <a:prstGeom prst="rect">
              <a:avLst/>
            </a:prstGeom>
          </p:spPr>
        </p:pic>
        <p:sp>
          <p:nvSpPr>
            <p:cNvPr id="10" name="矩形 9">
              <a:extLst>
                <a:ext uri="{FF2B5EF4-FFF2-40B4-BE49-F238E27FC236}">
                  <a16:creationId xmlns:a16="http://schemas.microsoft.com/office/drawing/2014/main" id="{15261476-6E05-47CF-BF2A-754C4E61602E}"/>
                </a:ext>
              </a:extLst>
            </p:cNvPr>
            <p:cNvSpPr/>
            <p:nvPr/>
          </p:nvSpPr>
          <p:spPr>
            <a:xfrm>
              <a:off x="2094615" y="4146698"/>
              <a:ext cx="1307804" cy="1222744"/>
            </a:xfrm>
            <a:prstGeom prst="rect">
              <a:avLst/>
            </a:prstGeom>
            <a:solidFill>
              <a:schemeClr val="bg1"/>
            </a:solidFill>
            <a:ln>
              <a:noFill/>
            </a:ln>
          </p:spPr>
          <p:txBody>
            <a:bodyPr wrap="square">
              <a:spAutoFit/>
            </a:bodyPr>
            <a:lstStyle/>
            <a:p>
              <a:endParaRPr lang="zh-TW" altLang="en-US" sz="2400" i="1" dirty="0">
                <a:latin typeface="Cambria Math" panose="02040503050406030204" pitchFamily="18" charset="0"/>
              </a:endParaRPr>
            </a:p>
          </p:txBody>
        </p:sp>
        <p:sp>
          <p:nvSpPr>
            <p:cNvPr id="9" name="橢圓 8">
              <a:extLst>
                <a:ext uri="{FF2B5EF4-FFF2-40B4-BE49-F238E27FC236}">
                  <a16:creationId xmlns:a16="http://schemas.microsoft.com/office/drawing/2014/main" id="{E0B1A7AC-CD99-47DE-A3D1-1EF5BC856519}"/>
                </a:ext>
              </a:extLst>
            </p:cNvPr>
            <p:cNvSpPr/>
            <p:nvPr/>
          </p:nvSpPr>
          <p:spPr>
            <a:xfrm>
              <a:off x="2249843" y="3966095"/>
              <a:ext cx="361205" cy="361205"/>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15" name="群組 14">
            <a:extLst>
              <a:ext uri="{FF2B5EF4-FFF2-40B4-BE49-F238E27FC236}">
                <a16:creationId xmlns:a16="http://schemas.microsoft.com/office/drawing/2014/main" id="{20A58325-6F2E-4E9F-A25E-88559B95A5F4}"/>
              </a:ext>
            </a:extLst>
          </p:cNvPr>
          <p:cNvGrpSpPr/>
          <p:nvPr/>
        </p:nvGrpSpPr>
        <p:grpSpPr>
          <a:xfrm>
            <a:off x="1578481" y="1581459"/>
            <a:ext cx="6367651" cy="3087237"/>
            <a:chOff x="1578481" y="1581459"/>
            <a:chExt cx="6367651" cy="3087237"/>
          </a:xfrm>
        </p:grpSpPr>
        <p:pic>
          <p:nvPicPr>
            <p:cNvPr id="12" name="圖片 11">
              <a:extLst>
                <a:ext uri="{FF2B5EF4-FFF2-40B4-BE49-F238E27FC236}">
                  <a16:creationId xmlns:a16="http://schemas.microsoft.com/office/drawing/2014/main" id="{E252E9B1-56E0-47C0-9CF5-94041CE8BAE6}"/>
                </a:ext>
              </a:extLst>
            </p:cNvPr>
            <p:cNvPicPr>
              <a:picLocks noChangeAspect="1"/>
            </p:cNvPicPr>
            <p:nvPr/>
          </p:nvPicPr>
          <p:blipFill rotWithShape="1">
            <a:blip r:embed="rId3"/>
            <a:srcRect l="4151" b="5193"/>
            <a:stretch/>
          </p:blipFill>
          <p:spPr>
            <a:xfrm>
              <a:off x="1578481" y="1581459"/>
              <a:ext cx="6367651" cy="3087237"/>
            </a:xfrm>
            <a:prstGeom prst="rect">
              <a:avLst/>
            </a:prstGeom>
          </p:spPr>
        </p:pic>
        <p:sp>
          <p:nvSpPr>
            <p:cNvPr id="13" name="矩形 12">
              <a:extLst>
                <a:ext uri="{FF2B5EF4-FFF2-40B4-BE49-F238E27FC236}">
                  <a16:creationId xmlns:a16="http://schemas.microsoft.com/office/drawing/2014/main" id="{C78627A0-6648-4A06-8095-EFEE234EE483}"/>
                </a:ext>
              </a:extLst>
            </p:cNvPr>
            <p:cNvSpPr/>
            <p:nvPr/>
          </p:nvSpPr>
          <p:spPr>
            <a:xfrm>
              <a:off x="1871330" y="3110676"/>
              <a:ext cx="1463467" cy="1325563"/>
            </a:xfrm>
            <a:prstGeom prst="rect">
              <a:avLst/>
            </a:prstGeom>
            <a:solidFill>
              <a:schemeClr val="bg1"/>
            </a:solidFill>
            <a:ln>
              <a:noFill/>
            </a:ln>
          </p:spPr>
          <p:txBody>
            <a:bodyPr wrap="square">
              <a:spAutoFit/>
            </a:bodyPr>
            <a:lstStyle/>
            <a:p>
              <a:endParaRPr lang="zh-TW" altLang="en-US" sz="2400" i="1" dirty="0">
                <a:latin typeface="Cambria Math" panose="02040503050406030204" pitchFamily="18" charset="0"/>
              </a:endParaRPr>
            </a:p>
          </p:txBody>
        </p:sp>
        <p:sp>
          <p:nvSpPr>
            <p:cNvPr id="14" name="橢圓 13">
              <a:extLst>
                <a:ext uri="{FF2B5EF4-FFF2-40B4-BE49-F238E27FC236}">
                  <a16:creationId xmlns:a16="http://schemas.microsoft.com/office/drawing/2014/main" id="{514225EC-E5E9-4A80-BA67-55EF56C65E60}"/>
                </a:ext>
              </a:extLst>
            </p:cNvPr>
            <p:cNvSpPr/>
            <p:nvPr/>
          </p:nvSpPr>
          <p:spPr>
            <a:xfrm>
              <a:off x="2026993" y="2939690"/>
              <a:ext cx="361205" cy="361205"/>
            </a:xfrm>
            <a:prstGeom prst="ellipse">
              <a:avLst/>
            </a:prstGeom>
            <a:solidFill>
              <a:srgbClr val="00B05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32093178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Time Complexity</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fontScale="92500" lnSpcReduction="20000"/>
          </a:bodyPr>
          <a:lstStyle/>
          <a:p>
            <a:r>
              <a:rPr lang="en-US" altLang="zh-TW" dirty="0">
                <a:latin typeface="Times New Roman" panose="02020603050405020304" pitchFamily="18" charset="0"/>
                <a:cs typeface="Times New Roman" panose="02020603050405020304" pitchFamily="18" charset="0"/>
              </a:rPr>
              <a:t>Build suffix tree: O(n)</a:t>
            </a:r>
          </a:p>
          <a:p>
            <a:r>
              <a:rPr lang="en-US" altLang="zh-TW" dirty="0">
                <a:latin typeface="Times New Roman" panose="02020603050405020304" pitchFamily="18" charset="0"/>
                <a:cs typeface="Times New Roman" panose="02020603050405020304" pitchFamily="18" charset="0"/>
              </a:rPr>
              <a:t>Deletion: O(n)</a:t>
            </a:r>
          </a:p>
          <a:p>
            <a:r>
              <a:rPr lang="en-US" altLang="zh-TW" dirty="0">
                <a:latin typeface="Times New Roman" panose="02020603050405020304" pitchFamily="18" charset="0"/>
                <a:cs typeface="Times New Roman" panose="02020603050405020304" pitchFamily="18" charset="0"/>
              </a:rPr>
              <a:t>Total complexity: O(n)</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At first glance, it seems as if this process can be quite expensive, </a:t>
            </a:r>
            <a:r>
              <a:rPr lang="en-US" altLang="zh-TW" dirty="0">
                <a:highlight>
                  <a:srgbClr val="FFFF00"/>
                </a:highlight>
                <a:latin typeface="Times New Roman" panose="02020603050405020304" pitchFamily="18" charset="0"/>
                <a:cs typeface="Times New Roman" panose="02020603050405020304" pitchFamily="18" charset="0"/>
              </a:rPr>
              <a:t>but we should observe that each parent compression involves a node deletion. </a:t>
            </a:r>
            <a:r>
              <a:rPr lang="en-US" altLang="zh-TW" dirty="0">
                <a:latin typeface="Times New Roman" panose="02020603050405020304" pitchFamily="18" charset="0"/>
                <a:cs typeface="Times New Roman" panose="02020603050405020304" pitchFamily="18" charset="0"/>
              </a:rPr>
              <a:t>Therefore, as a consequence of the fact that there are no more than O(n) nodes in our suffix skeleton tree and we do not add more than O(n) nodes during the shortening process in all rounds together, we deduce that the cost of all the deletions during the whole algorithm is no more than O(n).</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p:cNvSpPr>
            <a:spLocks noGrp="1"/>
          </p:cNvSpPr>
          <p:nvPr>
            <p:ph type="sldNum" sz="quarter" idx="12"/>
          </p:nvPr>
        </p:nvSpPr>
        <p:spPr/>
        <p:txBody>
          <a:bodyPr/>
          <a:lstStyle/>
          <a:p>
            <a:fld id="{872633CA-77E0-4863-94F8-E28139DFB2B4}" type="slidenum">
              <a:rPr lang="zh-TW" altLang="en-US" smtClean="0"/>
              <a:t>22</a:t>
            </a:fld>
            <a:endParaRPr lang="zh-TW" altLang="en-US"/>
          </a:p>
        </p:txBody>
      </p:sp>
    </p:spTree>
    <p:extLst>
      <p:ext uri="{BB962C8B-B14F-4D97-AF65-F5344CB8AC3E}">
        <p14:creationId xmlns:p14="http://schemas.microsoft.com/office/powerpoint/2010/main" val="4013494582"/>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40286</TotalTime>
  <Words>1292</Words>
  <Application>Microsoft Office PowerPoint</Application>
  <PresentationFormat>如螢幕大小 (4:3)</PresentationFormat>
  <Paragraphs>331</Paragraphs>
  <Slides>22</Slides>
  <Notes>20</Notes>
  <HiddenSlides>1</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22</vt:i4>
      </vt:variant>
    </vt:vector>
  </HeadingPairs>
  <TitlesOfParts>
    <vt:vector size="31" baseType="lpstr">
      <vt:lpstr>FELOO K+ Gulliver</vt:lpstr>
      <vt:lpstr>標楷體</vt:lpstr>
      <vt:lpstr>Arial</vt:lpstr>
      <vt:lpstr>Calibri</vt:lpstr>
      <vt:lpstr>Calibri Light</vt:lpstr>
      <vt:lpstr>Cambria Math</vt:lpstr>
      <vt:lpstr>Gill Sans MT</vt:lpstr>
      <vt:lpstr>Times New Roman</vt:lpstr>
      <vt:lpstr>Office 佈景主題</vt:lpstr>
      <vt:lpstr> Quick greedy computation for minimum common string partition</vt:lpstr>
      <vt:lpstr>Abstract (1/2)</vt:lpstr>
      <vt:lpstr>Abstract (2/2)</vt:lpstr>
      <vt:lpstr>MCSP problem</vt:lpstr>
      <vt:lpstr>PowerPoint 簡報</vt:lpstr>
      <vt:lpstr>The GREEDY algorithm</vt:lpstr>
      <vt:lpstr>Suffix tree of S$T#</vt:lpstr>
      <vt:lpstr>Suffix tree of S$T#</vt:lpstr>
      <vt:lpstr>Suffix tree of S$T#</vt:lpstr>
      <vt:lpstr>Suffix Skeleton Tree</vt:lpstr>
      <vt:lpstr>Suffix Skeleton Tree</vt:lpstr>
      <vt:lpstr>LPB Array</vt:lpstr>
      <vt:lpstr>PowerPoint 簡報</vt:lpstr>
      <vt:lpstr>First Round(Before)</vt:lpstr>
      <vt:lpstr>First Round(After)</vt:lpstr>
      <vt:lpstr>Second Round(Before)</vt:lpstr>
      <vt:lpstr>Second Round(After)</vt:lpstr>
      <vt:lpstr>Third Round(Before)</vt:lpstr>
      <vt:lpstr>Third Round(After)</vt:lpstr>
      <vt:lpstr>Forth Round</vt:lpstr>
      <vt:lpstr>PowerPoint 簡報</vt:lpstr>
      <vt:lpstr>Time Complexity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GaryC</dc:creator>
  <cp:lastModifiedBy>之承 沈</cp:lastModifiedBy>
  <cp:revision>393</cp:revision>
  <dcterms:created xsi:type="dcterms:W3CDTF">2017-09-25T08:45:50Z</dcterms:created>
  <dcterms:modified xsi:type="dcterms:W3CDTF">2024-01-15T08:29:27Z</dcterms:modified>
</cp:coreProperties>
</file>