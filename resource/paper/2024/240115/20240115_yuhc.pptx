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11"/>
  </p:notesMasterIdLst>
  <p:sldIdLst>
    <p:sldId id="256" r:id="rId2"/>
    <p:sldId id="257" r:id="rId3"/>
    <p:sldId id="280" r:id="rId4"/>
    <p:sldId id="262" r:id="rId5"/>
    <p:sldId id="258" r:id="rId6"/>
    <p:sldId id="306" r:id="rId7"/>
    <p:sldId id="305" r:id="rId8"/>
    <p:sldId id="307" r:id="rId9"/>
    <p:sldId id="295" r:id="rId1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562" y="8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9" name="Google Shape;5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55011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A09C56D6-F1B9-4AA0-89DF-21CBCA19D011}"/>
              </a:ext>
            </a:extLst>
          </p:cNvPr>
          <p:cNvSpPr>
            <a:spLocks noGrp="1" noChangeArrowheads="1"/>
          </p:cNvSpPr>
          <p:nvPr>
            <p:ph type="sldNum" sz="quarter" idx="5"/>
          </p:nvPr>
        </p:nvSpPr>
        <p:spPr>
          <a:noFill/>
        </p:spPr>
        <p:txBody>
          <a:bodyPr/>
          <a:lstStyle>
            <a:lvl1pPr eaLnBrk="0" hangingPunct="0">
              <a:spcBef>
                <a:spcPct val="30000"/>
              </a:spcBef>
              <a:defRPr kumimoji="1" sz="1200">
                <a:solidFill>
                  <a:schemeClr val="tx1"/>
                </a:solidFill>
                <a:latin typeface="Times New Roman" panose="02020603050405020304" pitchFamily="18" charset="0"/>
                <a:ea typeface="新細明體" panose="02020500000000000000" pitchFamily="18" charset="-120"/>
              </a:defRPr>
            </a:lvl1pPr>
            <a:lvl2pPr marL="742950" indent="-285750" eaLnBrk="0" hangingPunct="0">
              <a:spcBef>
                <a:spcPct val="30000"/>
              </a:spcBef>
              <a:defRPr kumimoji="1" sz="1200">
                <a:solidFill>
                  <a:schemeClr val="tx1"/>
                </a:solidFill>
                <a:latin typeface="Times New Roman" panose="02020603050405020304" pitchFamily="18" charset="0"/>
                <a:ea typeface="新細明體" panose="02020500000000000000" pitchFamily="18" charset="-120"/>
              </a:defRPr>
            </a:lvl2pPr>
            <a:lvl3pPr marL="1143000" indent="-228600" eaLnBrk="0" hangingPunct="0">
              <a:spcBef>
                <a:spcPct val="30000"/>
              </a:spcBef>
              <a:defRPr kumimoji="1" sz="1200">
                <a:solidFill>
                  <a:schemeClr val="tx1"/>
                </a:solidFill>
                <a:latin typeface="Times New Roman" panose="02020603050405020304" pitchFamily="18" charset="0"/>
                <a:ea typeface="新細明體" panose="02020500000000000000" pitchFamily="18" charset="-120"/>
              </a:defRPr>
            </a:lvl3pPr>
            <a:lvl4pPr marL="1600200" indent="-228600" eaLnBrk="0" hangingPunct="0">
              <a:spcBef>
                <a:spcPct val="30000"/>
              </a:spcBef>
              <a:defRPr kumimoji="1" sz="1200">
                <a:solidFill>
                  <a:schemeClr val="tx1"/>
                </a:solidFill>
                <a:latin typeface="Times New Roman" panose="02020603050405020304" pitchFamily="18" charset="0"/>
                <a:ea typeface="新細明體" panose="02020500000000000000" pitchFamily="18" charset="-120"/>
              </a:defRPr>
            </a:lvl4pPr>
            <a:lvl5pPr marL="2057400" indent="-228600" eaLnBrk="0" hangingPunct="0">
              <a:spcBef>
                <a:spcPct val="30000"/>
              </a:spcBef>
              <a:defRPr kumimoji="1" sz="12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新細明體" panose="02020500000000000000" pitchFamily="18" charset="-120"/>
              </a:defRPr>
            </a:lvl9pPr>
          </a:lstStyle>
          <a:p>
            <a:pPr eaLnBrk="1" hangingPunct="1">
              <a:spcBef>
                <a:spcPct val="0"/>
              </a:spcBef>
            </a:pPr>
            <a:fld id="{CEFF32CA-3F52-4109-9BA2-02E64CD906FF}" type="slidenum">
              <a:rPr lang="zh-TW" altLang="en-US">
                <a:latin typeface="Tahoma" panose="020B0604030504040204" pitchFamily="34" charset="0"/>
              </a:rPr>
              <a:pPr eaLnBrk="1" hangingPunct="1">
                <a:spcBef>
                  <a:spcPct val="0"/>
                </a:spcBef>
              </a:pPr>
              <a:t>4</a:t>
            </a:fld>
            <a:endParaRPr lang="zh-TW" altLang="en-US">
              <a:latin typeface="Tahoma" panose="020B0604030504040204" pitchFamily="34" charset="0"/>
            </a:endParaRPr>
          </a:p>
        </p:txBody>
      </p:sp>
      <p:sp>
        <p:nvSpPr>
          <p:cNvPr id="52227" name="Rectangle 2">
            <a:extLst>
              <a:ext uri="{FF2B5EF4-FFF2-40B4-BE49-F238E27FC236}">
                <a16:creationId xmlns:a16="http://schemas.microsoft.com/office/drawing/2014/main" id="{8C3C56A0-906B-4B04-A9AA-29656E782149}"/>
              </a:ext>
            </a:extLst>
          </p:cNvPr>
          <p:cNvSpPr>
            <a:spLocks noGrp="1" noRot="1" noChangeAspect="1" noChangeArrowheads="1" noTextEdit="1"/>
          </p:cNvSpPr>
          <p:nvPr>
            <p:ph type="sldImg"/>
          </p:nvPr>
        </p:nvSpPr>
        <p:spPr>
          <a:xfrm>
            <a:off x="381000" y="685800"/>
            <a:ext cx="6096000" cy="3429000"/>
          </a:xfrm>
          <a:ln/>
        </p:spPr>
      </p:sp>
      <p:sp>
        <p:nvSpPr>
          <p:cNvPr id="52228" name="Rectangle 3">
            <a:extLst>
              <a:ext uri="{FF2B5EF4-FFF2-40B4-BE49-F238E27FC236}">
                <a16:creationId xmlns:a16="http://schemas.microsoft.com/office/drawing/2014/main" id="{2926B6DD-9EDB-4281-B6E6-EECACF837C50}"/>
              </a:ext>
            </a:extLst>
          </p:cNvPr>
          <p:cNvSpPr>
            <a:spLocks noGrp="1" noChangeArrowheads="1"/>
          </p:cNvSpPr>
          <p:nvPr>
            <p:ph type="body" idx="1"/>
          </p:nvPr>
        </p:nvSpPr>
        <p:spPr>
          <a:noFill/>
        </p:spPr>
        <p:txBody>
          <a:bodyPr/>
          <a:lstStyle/>
          <a:p>
            <a:pPr eaLnBrk="1" hangingPunct="1"/>
            <a:endParaRPr lang="zh-TW"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464691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485214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428100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1e56bd8716d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 name="Google Shape;107;g1e56bd8716d_0_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zh-TW"/>
              <a:t>Given a string S of length n, an integer p ∈ [1..n] is a period of S if S[i] = S[i + p] for all i ∈ [1..n − p].</a:t>
            </a:r>
            <a:endParaRPr/>
          </a:p>
          <a:p>
            <a:pPr marL="0" lvl="0" indent="0" algn="l" rtl="0">
              <a:lnSpc>
                <a:spcPct val="100000"/>
              </a:lnSpc>
              <a:spcBef>
                <a:spcPts val="0"/>
              </a:spcBef>
              <a:spcAft>
                <a:spcPts val="0"/>
              </a:spcAft>
              <a:buSzPts val="1100"/>
              <a:buNone/>
            </a:pPr>
            <a:r>
              <a:rPr lang="zh-TW"/>
              <a:t>S[|S| − p + 1] = c</a:t>
            </a:r>
            <a:endParaRPr/>
          </a:p>
        </p:txBody>
      </p:sp>
    </p:spTree>
    <p:extLst>
      <p:ext uri="{BB962C8B-B14F-4D97-AF65-F5344CB8AC3E}">
        <p14:creationId xmlns:p14="http://schemas.microsoft.com/office/powerpoint/2010/main" val="1518939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Rectangle 11">
            <a:extLst>
              <a:ext uri="{FF2B5EF4-FFF2-40B4-BE49-F238E27FC236}">
                <a16:creationId xmlns:a16="http://schemas.microsoft.com/office/drawing/2014/main" id="{B811878D-6168-4E36-8DC9-6E8C5BCC2D3D}"/>
              </a:ext>
            </a:extLst>
          </p:cNvPr>
          <p:cNvSpPr>
            <a:spLocks noGrp="1" noChangeArrowheads="1"/>
          </p:cNvSpPr>
          <p:nvPr>
            <p:ph type="dt" sz="half" idx="10"/>
          </p:nvPr>
        </p:nvSpPr>
        <p:spPr>
          <a:ln/>
        </p:spPr>
        <p:txBody>
          <a:bodyPr/>
          <a:lstStyle>
            <a:lvl1pPr>
              <a:defRPr/>
            </a:lvl1pPr>
          </a:lstStyle>
          <a:p>
            <a:pPr>
              <a:defRPr/>
            </a:pPr>
            <a:fld id="{0A9CA919-990A-42C3-BBA9-10C62479EA6A}" type="datetime1">
              <a:rPr lang="zh-TW" altLang="en-US"/>
              <a:pPr>
                <a:defRPr/>
              </a:pPr>
              <a:t>2024/1/14</a:t>
            </a:fld>
            <a:endParaRPr lang="zh-TW" altLang="en-US"/>
          </a:p>
        </p:txBody>
      </p:sp>
      <p:sp>
        <p:nvSpPr>
          <p:cNvPr id="5" name="Rectangle 12">
            <a:extLst>
              <a:ext uri="{FF2B5EF4-FFF2-40B4-BE49-F238E27FC236}">
                <a16:creationId xmlns:a16="http://schemas.microsoft.com/office/drawing/2014/main" id="{F51EFE85-FD2C-4D4E-974F-72C6F5D92562}"/>
              </a:ext>
            </a:extLst>
          </p:cNvPr>
          <p:cNvSpPr>
            <a:spLocks noGrp="1" noChangeArrowheads="1"/>
          </p:cNvSpPr>
          <p:nvPr>
            <p:ph type="ftr" sz="quarter" idx="11"/>
          </p:nvPr>
        </p:nvSpPr>
        <p:spPr>
          <a:ln/>
        </p:spPr>
        <p:txBody>
          <a:bodyPr/>
          <a:lstStyle>
            <a:lvl1pPr>
              <a:defRPr/>
            </a:lvl1pPr>
          </a:lstStyle>
          <a:p>
            <a:pPr>
              <a:defRPr/>
            </a:pPr>
            <a:endParaRPr lang="zh-TW" altLang="en-US"/>
          </a:p>
        </p:txBody>
      </p:sp>
      <p:sp>
        <p:nvSpPr>
          <p:cNvPr id="6" name="Rectangle 13">
            <a:extLst>
              <a:ext uri="{FF2B5EF4-FFF2-40B4-BE49-F238E27FC236}">
                <a16:creationId xmlns:a16="http://schemas.microsoft.com/office/drawing/2014/main" id="{3AEAD604-1690-4CD4-B2E1-5E501EB72430}"/>
              </a:ext>
            </a:extLst>
          </p:cNvPr>
          <p:cNvSpPr>
            <a:spLocks noGrp="1" noChangeArrowheads="1"/>
          </p:cNvSpPr>
          <p:nvPr>
            <p:ph type="sldNum" sz="quarter" idx="12"/>
          </p:nvPr>
        </p:nvSpPr>
        <p:spPr>
          <a:ln/>
        </p:spPr>
        <p:txBody>
          <a:bodyPr/>
          <a:lstStyle>
            <a:lvl1pPr>
              <a:defRPr/>
            </a:lvl1pPr>
          </a:lstStyle>
          <a:p>
            <a:r>
              <a:rPr lang="zh-TW" altLang="en-US"/>
              <a:t>3 -</a:t>
            </a:r>
            <a:fld id="{0F3B4DC0-09F8-4A08-A434-0D82DE300228}" type="slidenum">
              <a:rPr lang="zh-TW" altLang="en-US"/>
              <a:pPr/>
              <a:t>‹#›</a:t>
            </a:fld>
            <a:endParaRPr lang="zh-TW" altLang="en-US"/>
          </a:p>
        </p:txBody>
      </p:sp>
    </p:spTree>
    <p:extLst>
      <p:ext uri="{BB962C8B-B14F-4D97-AF65-F5344CB8AC3E}">
        <p14:creationId xmlns:p14="http://schemas.microsoft.com/office/powerpoint/2010/main" val="3808008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TW"/>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56" r:id="rId8"/>
    <p:sldLayoutId id="2147483657" r:id="rId9"/>
    <p:sldLayoutId id="2147483658" r:id="rId10"/>
    <p:sldLayoutId id="2147483660"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 Type="http://schemas.openxmlformats.org/officeDocument/2006/relationships/notesSlide" Target="../notesSlides/notesSlide6.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5778"/>
              <a:buNone/>
            </a:pPr>
            <a:r>
              <a:rPr lang="en-US" altLang="zh-TW" sz="4800" dirty="0">
                <a:latin typeface="Times New Roman"/>
                <a:ea typeface="Times New Roman"/>
                <a:cs typeface="Times New Roman"/>
                <a:sym typeface="Times New Roman"/>
              </a:rPr>
              <a:t>A New Algorithmic Approach to Finding Minimum Spanning Tree</a:t>
            </a:r>
            <a:endParaRPr lang="en-US" sz="4800" dirty="0">
              <a:latin typeface="Times New Roman"/>
              <a:ea typeface="Times New Roman"/>
              <a:cs typeface="Times New Roman"/>
              <a:sym typeface="Times New Roman"/>
            </a:endParaRPr>
          </a:p>
        </p:txBody>
      </p:sp>
      <p:sp>
        <p:nvSpPr>
          <p:cNvPr id="55" name="Google Shape;55;p13"/>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1100"/>
              <a:buNone/>
            </a:pPr>
            <a:r>
              <a:rPr lang="pl-PL" altLang="zh-TW" sz="1800" dirty="0">
                <a:solidFill>
                  <a:schemeClr val="dk1"/>
                </a:solidFill>
                <a:latin typeface="Times New Roman"/>
                <a:ea typeface="Times New Roman"/>
                <a:cs typeface="Times New Roman"/>
                <a:sym typeface="Times New Roman"/>
              </a:rPr>
              <a:t>Afsana Khan</a:t>
            </a:r>
            <a:r>
              <a:rPr lang="en-US" altLang="zh-TW" sz="1800" dirty="0">
                <a:solidFill>
                  <a:schemeClr val="dk1"/>
                </a:solidFill>
                <a:latin typeface="Times New Roman"/>
                <a:ea typeface="Times New Roman"/>
                <a:cs typeface="Times New Roman"/>
                <a:sym typeface="Times New Roman"/>
              </a:rPr>
              <a:t>,</a:t>
            </a:r>
            <a:r>
              <a:rPr lang="pl-PL" altLang="zh-TW" sz="1800" dirty="0">
                <a:solidFill>
                  <a:schemeClr val="dk1"/>
                </a:solidFill>
                <a:latin typeface="Times New Roman"/>
                <a:ea typeface="Times New Roman"/>
                <a:cs typeface="Times New Roman"/>
                <a:sym typeface="Times New Roman"/>
              </a:rPr>
              <a:t> Afrida Anzum Aesha</a:t>
            </a:r>
            <a:r>
              <a:rPr lang="en-US" altLang="zh-TW" sz="1800" dirty="0">
                <a:solidFill>
                  <a:schemeClr val="dk1"/>
                </a:solidFill>
                <a:latin typeface="Times New Roman"/>
                <a:ea typeface="Times New Roman"/>
                <a:cs typeface="Times New Roman"/>
                <a:sym typeface="Times New Roman"/>
              </a:rPr>
              <a:t>,</a:t>
            </a:r>
            <a:r>
              <a:rPr lang="pl-PL" altLang="zh-TW" sz="1800" dirty="0">
                <a:solidFill>
                  <a:schemeClr val="dk1"/>
                </a:solidFill>
                <a:latin typeface="Times New Roman"/>
                <a:ea typeface="Times New Roman"/>
                <a:cs typeface="Times New Roman"/>
                <a:sym typeface="Times New Roman"/>
              </a:rPr>
              <a:t> Juthi Sarker</a:t>
            </a:r>
            <a:r>
              <a:rPr lang="en-US" altLang="zh-TW" sz="1800" dirty="0">
                <a:solidFill>
                  <a:schemeClr val="dk1"/>
                </a:solidFill>
                <a:latin typeface="Times New Roman"/>
                <a:ea typeface="Times New Roman"/>
                <a:cs typeface="Times New Roman"/>
                <a:sym typeface="Times New Roman"/>
              </a:rPr>
              <a:t> </a:t>
            </a:r>
          </a:p>
          <a:p>
            <a:pPr marL="0" lvl="0" indent="0" algn="ctr" rtl="0">
              <a:lnSpc>
                <a:spcPct val="100000"/>
              </a:lnSpc>
              <a:spcBef>
                <a:spcPts val="0"/>
              </a:spcBef>
              <a:spcAft>
                <a:spcPts val="0"/>
              </a:spcAft>
              <a:buSzPts val="1100"/>
              <a:buNone/>
            </a:pPr>
            <a:r>
              <a:rPr lang="en-US" altLang="zh-TW" sz="1800" dirty="0">
                <a:solidFill>
                  <a:schemeClr val="dk1"/>
                </a:solidFill>
                <a:latin typeface="Times New Roman"/>
                <a:ea typeface="Times New Roman"/>
                <a:cs typeface="Times New Roman"/>
                <a:sym typeface="Times New Roman"/>
              </a:rPr>
              <a:t>2018 4th International Conference on Electrical Engineering and Information &amp; Communication Technology (</a:t>
            </a:r>
            <a:r>
              <a:rPr lang="en-US" altLang="zh-TW" sz="1800" dirty="0" err="1">
                <a:solidFill>
                  <a:schemeClr val="dk1"/>
                </a:solidFill>
                <a:latin typeface="Times New Roman"/>
                <a:ea typeface="Times New Roman"/>
                <a:cs typeface="Times New Roman"/>
                <a:sym typeface="Times New Roman"/>
              </a:rPr>
              <a:t>iCEEiCT</a:t>
            </a:r>
            <a:r>
              <a:rPr lang="en-US" altLang="zh-TW" sz="1800" dirty="0">
                <a:solidFill>
                  <a:schemeClr val="dk1"/>
                </a:solidFill>
                <a:latin typeface="Times New Roman"/>
                <a:ea typeface="Times New Roman"/>
                <a:cs typeface="Times New Roman"/>
                <a:sym typeface="Times New Roman"/>
              </a:rPr>
              <a:t>), Dhaka, Bangladesh, 13-15 Sept. 2018</a:t>
            </a:r>
            <a:endParaRPr lang="pl-PL" sz="1800" dirty="0">
              <a:solidFill>
                <a:schemeClr val="dk1"/>
              </a:solidFill>
              <a:latin typeface="Times New Roman"/>
              <a:ea typeface="Times New Roman"/>
              <a:cs typeface="Times New Roman"/>
              <a:sym typeface="Times New Roman"/>
            </a:endParaRPr>
          </a:p>
        </p:txBody>
      </p:sp>
      <p:sp>
        <p:nvSpPr>
          <p:cNvPr id="56" name="Google Shape;56;p13"/>
          <p:cNvSpPr txBox="1"/>
          <p:nvPr/>
        </p:nvSpPr>
        <p:spPr>
          <a:xfrm>
            <a:off x="4914600" y="4220100"/>
            <a:ext cx="4229400" cy="9234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Clr>
                <a:srgbClr val="000000"/>
              </a:buClr>
              <a:buSzPts val="2400"/>
              <a:buFont typeface="Arial"/>
              <a:buNone/>
            </a:pPr>
            <a:r>
              <a:rPr lang="zh-TW" sz="2400" b="0" i="0" u="none" strike="noStrike" cap="none" dirty="0">
                <a:solidFill>
                  <a:srgbClr val="000000"/>
                </a:solidFill>
                <a:latin typeface="Times New Roman"/>
                <a:ea typeface="Times New Roman"/>
                <a:cs typeface="Times New Roman"/>
                <a:sym typeface="Times New Roman"/>
              </a:rPr>
              <a:t>Presenter: </a:t>
            </a:r>
            <a:r>
              <a:rPr lang="zh-TW" sz="2400" dirty="0">
                <a:latin typeface="Times New Roman"/>
                <a:ea typeface="Times New Roman"/>
                <a:cs typeface="Times New Roman"/>
                <a:sym typeface="Times New Roman"/>
              </a:rPr>
              <a:t>Hsin-Chang Yu</a:t>
            </a:r>
            <a:endParaRPr sz="2400" b="0" i="0" u="none" strike="noStrike" cap="none" dirty="0">
              <a:solidFill>
                <a:srgbClr val="000000"/>
              </a:solidFill>
              <a:latin typeface="Times New Roman"/>
              <a:ea typeface="Times New Roman"/>
              <a:cs typeface="Times New Roman"/>
              <a:sym typeface="Times New Roman"/>
            </a:endParaRPr>
          </a:p>
          <a:p>
            <a:pPr marL="0" marR="0" lvl="0" indent="0" algn="r" rtl="0">
              <a:lnSpc>
                <a:spcPct val="100000"/>
              </a:lnSpc>
              <a:spcBef>
                <a:spcPts val="0"/>
              </a:spcBef>
              <a:spcAft>
                <a:spcPts val="0"/>
              </a:spcAft>
              <a:buClr>
                <a:srgbClr val="000000"/>
              </a:buClr>
              <a:buSzPts val="2400"/>
              <a:buFont typeface="Arial"/>
              <a:buNone/>
            </a:pPr>
            <a:r>
              <a:rPr lang="zh-TW" sz="2400" b="0" i="0" u="none" strike="noStrike" cap="none" dirty="0">
                <a:solidFill>
                  <a:srgbClr val="000000"/>
                </a:solidFill>
                <a:latin typeface="Times New Roman"/>
                <a:ea typeface="Times New Roman"/>
                <a:cs typeface="Times New Roman"/>
                <a:sym typeface="Times New Roman"/>
              </a:rPr>
              <a:t>Date: </a:t>
            </a:r>
            <a:r>
              <a:rPr lang="en-US" altLang="zh-TW" sz="2400" dirty="0">
                <a:latin typeface="Times New Roman"/>
                <a:ea typeface="Times New Roman"/>
                <a:cs typeface="Times New Roman"/>
                <a:sym typeface="Times New Roman"/>
              </a:rPr>
              <a:t>Jan</a:t>
            </a:r>
            <a:r>
              <a:rPr lang="zh-TW" sz="2400" b="0" i="0" u="none" strike="noStrike" cap="none" dirty="0">
                <a:solidFill>
                  <a:srgbClr val="000000"/>
                </a:solidFill>
                <a:latin typeface="Times New Roman"/>
                <a:ea typeface="Times New Roman"/>
                <a:cs typeface="Times New Roman"/>
                <a:sym typeface="Times New Roman"/>
              </a:rPr>
              <a:t>. </a:t>
            </a:r>
            <a:r>
              <a:rPr lang="en-US" altLang="zh-TW" sz="2400" b="0" i="0" u="none" strike="noStrike" cap="none" dirty="0">
                <a:solidFill>
                  <a:srgbClr val="000000"/>
                </a:solidFill>
                <a:latin typeface="Times New Roman"/>
                <a:ea typeface="Times New Roman"/>
                <a:cs typeface="Times New Roman"/>
                <a:sym typeface="Times New Roman"/>
              </a:rPr>
              <a:t>15</a:t>
            </a:r>
            <a:r>
              <a:rPr lang="zh-TW" sz="2400" b="0" i="0" u="none" strike="noStrike" cap="none" dirty="0">
                <a:solidFill>
                  <a:srgbClr val="000000"/>
                </a:solidFill>
                <a:latin typeface="Times New Roman"/>
                <a:ea typeface="Times New Roman"/>
                <a:cs typeface="Times New Roman"/>
                <a:sym typeface="Times New Roman"/>
              </a:rPr>
              <a:t>, 202</a:t>
            </a:r>
            <a:r>
              <a:rPr lang="en-US" altLang="zh-TW" sz="2400" b="0" i="0" u="none" strike="noStrike" cap="none" dirty="0">
                <a:solidFill>
                  <a:srgbClr val="000000"/>
                </a:solidFill>
                <a:latin typeface="Times New Roman"/>
                <a:ea typeface="Times New Roman"/>
                <a:cs typeface="Times New Roman"/>
                <a:sym typeface="Times New Roman"/>
              </a:rPr>
              <a:t>4</a:t>
            </a:r>
            <a:endParaRPr sz="240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zh-TW">
                <a:latin typeface="Times New Roman"/>
                <a:ea typeface="Times New Roman"/>
                <a:cs typeface="Times New Roman"/>
                <a:sym typeface="Times New Roman"/>
              </a:rPr>
              <a:t>Abstract</a:t>
            </a:r>
            <a:endParaRPr>
              <a:latin typeface="Times New Roman"/>
              <a:ea typeface="Times New Roman"/>
              <a:cs typeface="Times New Roman"/>
              <a:sym typeface="Times New Roman"/>
            </a:endParaRPr>
          </a:p>
        </p:txBody>
      </p:sp>
      <p:sp>
        <p:nvSpPr>
          <p:cNvPr id="62" name="Google Shape;62;p14"/>
          <p:cNvSpPr txBox="1">
            <a:spLocks noGrp="1"/>
          </p:cNvSpPr>
          <p:nvPr>
            <p:ph type="body" idx="1"/>
          </p:nvPr>
        </p:nvSpPr>
        <p:spPr>
          <a:xfrm>
            <a:off x="311700" y="1152475"/>
            <a:ext cx="84234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1100"/>
              <a:buNone/>
            </a:pPr>
            <a:r>
              <a:rPr lang="en-US" altLang="zh-TW" sz="2400" dirty="0">
                <a:solidFill>
                  <a:schemeClr val="dk1"/>
                </a:solidFill>
                <a:latin typeface="Times New Roman"/>
                <a:ea typeface="Times New Roman"/>
                <a:cs typeface="Times New Roman"/>
                <a:sym typeface="Times New Roman"/>
              </a:rPr>
              <a:t>Spanning tree of a graph is formed when each and every vertex of a graph are connected having no cycles in them and therefore minimum spanning tree as its name refers, is the tree with the smallest possible length among all spanning trees. Calculating minimum spanning tree of a graph has always been a common problem throughout ages. A number of efficient algorithms has been already developed for this problem.</a:t>
            </a:r>
            <a:endParaRPr lang="en-US" sz="2400" dirty="0">
              <a:solidFill>
                <a:schemeClr val="dk1"/>
              </a:solidFill>
              <a:latin typeface="Times New Roman"/>
              <a:ea typeface="Times New Roman"/>
              <a:cs typeface="Times New Roman"/>
              <a:sym typeface="Times New Roman"/>
            </a:endParaRPr>
          </a:p>
        </p:txBody>
      </p:sp>
      <p:sp>
        <p:nvSpPr>
          <p:cNvPr id="63" name="Google Shape;63;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zh-TW" dirty="0">
                <a:latin typeface="Times New Roman"/>
                <a:ea typeface="Times New Roman"/>
                <a:cs typeface="Times New Roman"/>
                <a:sym typeface="Times New Roman"/>
              </a:rPr>
              <a:t>Abstract</a:t>
            </a:r>
            <a:endParaRPr dirty="0">
              <a:latin typeface="Times New Roman"/>
              <a:ea typeface="Times New Roman"/>
              <a:cs typeface="Times New Roman"/>
              <a:sym typeface="Times New Roman"/>
            </a:endParaRPr>
          </a:p>
        </p:txBody>
      </p:sp>
      <p:sp>
        <p:nvSpPr>
          <p:cNvPr id="62" name="Google Shape;62;p14"/>
          <p:cNvSpPr txBox="1">
            <a:spLocks noGrp="1"/>
          </p:cNvSpPr>
          <p:nvPr>
            <p:ph type="body" idx="1"/>
          </p:nvPr>
        </p:nvSpPr>
        <p:spPr>
          <a:xfrm>
            <a:off x="311700" y="1152475"/>
            <a:ext cx="7689300"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1100"/>
              <a:buNone/>
            </a:pPr>
            <a:r>
              <a:rPr lang="en-US" altLang="zh-TW" sz="2400" dirty="0">
                <a:solidFill>
                  <a:schemeClr val="dk1"/>
                </a:solidFill>
                <a:latin typeface="Times New Roman"/>
                <a:ea typeface="Times New Roman"/>
                <a:cs typeface="Times New Roman"/>
                <a:sym typeface="Times New Roman"/>
              </a:rPr>
              <a:t>In this paper a different approach has been</a:t>
            </a:r>
            <a:r>
              <a:rPr lang="zh-TW" altLang="en-US" sz="2400" dirty="0">
                <a:solidFill>
                  <a:schemeClr val="dk1"/>
                </a:solidFill>
                <a:latin typeface="Times New Roman"/>
                <a:ea typeface="Times New Roman"/>
                <a:cs typeface="Times New Roman"/>
                <a:sym typeface="Times New Roman"/>
              </a:rPr>
              <a:t> </a:t>
            </a:r>
            <a:r>
              <a:rPr lang="en-US" altLang="zh-TW" sz="2400" dirty="0">
                <a:solidFill>
                  <a:schemeClr val="dk1"/>
                </a:solidFill>
                <a:latin typeface="Times New Roman"/>
                <a:ea typeface="Times New Roman"/>
                <a:cs typeface="Times New Roman"/>
                <a:sym typeface="Times New Roman"/>
              </a:rPr>
              <a:t>proposed where we profusely used sets and disjoint sets</a:t>
            </a:r>
            <a:r>
              <a:rPr lang="zh-TW" altLang="en-US" sz="2400" dirty="0">
                <a:solidFill>
                  <a:schemeClr val="dk1"/>
                </a:solidFill>
                <a:latin typeface="Times New Roman"/>
                <a:ea typeface="Times New Roman"/>
                <a:cs typeface="Times New Roman"/>
                <a:sym typeface="Times New Roman"/>
              </a:rPr>
              <a:t> </a:t>
            </a:r>
            <a:r>
              <a:rPr lang="en-US" altLang="zh-TW" sz="2400" dirty="0">
                <a:solidFill>
                  <a:schemeClr val="dk1"/>
                </a:solidFill>
                <a:latin typeface="Times New Roman"/>
                <a:ea typeface="Times New Roman"/>
                <a:cs typeface="Times New Roman"/>
                <a:sym typeface="Times New Roman"/>
              </a:rPr>
              <a:t>union data structure for reducing the number of edges under</a:t>
            </a:r>
            <a:r>
              <a:rPr lang="zh-TW" altLang="en-US" sz="2400" dirty="0">
                <a:solidFill>
                  <a:schemeClr val="dk1"/>
                </a:solidFill>
                <a:latin typeface="Times New Roman"/>
                <a:ea typeface="Times New Roman"/>
                <a:cs typeface="Times New Roman"/>
                <a:sym typeface="Times New Roman"/>
              </a:rPr>
              <a:t> </a:t>
            </a:r>
            <a:r>
              <a:rPr lang="en-US" altLang="zh-TW" sz="2400" dirty="0">
                <a:solidFill>
                  <a:schemeClr val="dk1"/>
                </a:solidFill>
                <a:latin typeface="Times New Roman"/>
                <a:ea typeface="Times New Roman"/>
                <a:cs typeface="Times New Roman"/>
                <a:sym typeface="Times New Roman"/>
              </a:rPr>
              <a:t>consideration while determining minimum spanning tree of a</a:t>
            </a:r>
            <a:r>
              <a:rPr lang="zh-TW" altLang="en-US" sz="2400" dirty="0">
                <a:solidFill>
                  <a:schemeClr val="dk1"/>
                </a:solidFill>
                <a:latin typeface="Times New Roman"/>
                <a:ea typeface="Times New Roman"/>
                <a:cs typeface="Times New Roman"/>
                <a:sym typeface="Times New Roman"/>
              </a:rPr>
              <a:t> </a:t>
            </a:r>
            <a:r>
              <a:rPr lang="en-US" altLang="zh-TW" sz="2400" dirty="0">
                <a:solidFill>
                  <a:schemeClr val="dk1"/>
                </a:solidFill>
                <a:latin typeface="Times New Roman"/>
                <a:ea typeface="Times New Roman"/>
                <a:cs typeface="Times New Roman"/>
                <a:sym typeface="Times New Roman"/>
              </a:rPr>
              <a:t>graph.</a:t>
            </a:r>
          </a:p>
        </p:txBody>
      </p:sp>
      <p:sp>
        <p:nvSpPr>
          <p:cNvPr id="63" name="Google Shape;63;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3</a:t>
            </a:fld>
            <a:endParaRPr/>
          </a:p>
        </p:txBody>
      </p:sp>
    </p:spTree>
    <p:extLst>
      <p:ext uri="{BB962C8B-B14F-4D97-AF65-F5344CB8AC3E}">
        <p14:creationId xmlns:p14="http://schemas.microsoft.com/office/powerpoint/2010/main" val="823480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投影片編號版面配置區 5">
            <a:extLst>
              <a:ext uri="{FF2B5EF4-FFF2-40B4-BE49-F238E27FC236}">
                <a16:creationId xmlns:a16="http://schemas.microsoft.com/office/drawing/2014/main" id="{359729FB-94B7-4BAB-8AC2-693D3CE80D5F}"/>
              </a:ext>
            </a:extLst>
          </p:cNvPr>
          <p:cNvSpPr>
            <a:spLocks noGrp="1"/>
          </p:cNvSpPr>
          <p:nvPr>
            <p:ph type="sldNum" sz="quarter" idx="12"/>
          </p:nvPr>
        </p:nvSpPr>
        <p:spPr>
          <a:noFill/>
        </p:spPr>
        <p:txBody>
          <a:bodyPr/>
          <a:lstStyle>
            <a:lvl1pPr eaLnBrk="0" hangingPunct="0">
              <a:spcBef>
                <a:spcPct val="20000"/>
              </a:spcBef>
              <a:buClr>
                <a:schemeClr val="folHlink"/>
              </a:buClr>
              <a:buSzPct val="60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1pPr>
            <a:lvl2pPr marL="557213" indent="-214313" eaLnBrk="0" hangingPunct="0">
              <a:spcBef>
                <a:spcPct val="20000"/>
              </a:spcBef>
              <a:buClr>
                <a:schemeClr val="hlink"/>
              </a:buClr>
              <a:buSzPct val="55000"/>
              <a:buFont typeface="Wingdings" panose="05000000000000000000" pitchFamily="2" charset="2"/>
              <a:buChar char="n"/>
              <a:defRPr kumimoji="1" sz="2100">
                <a:solidFill>
                  <a:schemeClr val="tx1"/>
                </a:solidFill>
                <a:latin typeface="Tahoma" panose="020B0604030504040204" pitchFamily="34" charset="0"/>
                <a:ea typeface="新細明體" panose="02020500000000000000" pitchFamily="18" charset="-120"/>
              </a:defRPr>
            </a:lvl2pPr>
            <a:lvl3pPr marL="857250" indent="-171450" eaLnBrk="0" hangingPunct="0">
              <a:spcBef>
                <a:spcPct val="20000"/>
              </a:spcBef>
              <a:buClr>
                <a:schemeClr val="folHlink"/>
              </a:buClr>
              <a:buSzPct val="50000"/>
              <a:buFont typeface="Wingdings" panose="05000000000000000000" pitchFamily="2" charset="2"/>
              <a:buChar char="n"/>
              <a:defRPr kumimoji="1" sz="1800">
                <a:solidFill>
                  <a:schemeClr val="tx1"/>
                </a:solidFill>
                <a:latin typeface="Tahoma" panose="020B0604030504040204" pitchFamily="34" charset="0"/>
                <a:ea typeface="新細明體" panose="02020500000000000000" pitchFamily="18" charset="-120"/>
              </a:defRPr>
            </a:lvl3pPr>
            <a:lvl4pPr marL="1200150" indent="-171450" eaLnBrk="0" hangingPunct="0">
              <a:spcBef>
                <a:spcPct val="20000"/>
              </a:spcBef>
              <a:buClr>
                <a:schemeClr val="accent2"/>
              </a:buClr>
              <a:buSzPct val="55000"/>
              <a:buFont typeface="Wingdings" panose="05000000000000000000" pitchFamily="2" charset="2"/>
              <a:buChar char="n"/>
              <a:defRPr kumimoji="1" sz="1500">
                <a:solidFill>
                  <a:schemeClr val="tx1"/>
                </a:solidFill>
                <a:latin typeface="Tahoma" panose="020B0604030504040204" pitchFamily="34" charset="0"/>
                <a:ea typeface="新細明體" panose="02020500000000000000" pitchFamily="18" charset="-120"/>
              </a:defRPr>
            </a:lvl4pPr>
            <a:lvl5pPr marL="1543050" indent="-171450" eaLnBrk="0" hangingPunct="0">
              <a:spcBef>
                <a:spcPct val="20000"/>
              </a:spcBef>
              <a:buClr>
                <a:schemeClr val="accent1"/>
              </a:buClr>
              <a:buSzPct val="50000"/>
              <a:buFont typeface="Wingdings" panose="05000000000000000000" pitchFamily="2" charset="2"/>
              <a:buChar char="n"/>
              <a:defRPr kumimoji="1" sz="1500">
                <a:solidFill>
                  <a:schemeClr val="tx1"/>
                </a:solidFill>
                <a:latin typeface="Tahoma" panose="020B0604030504040204" pitchFamily="34" charset="0"/>
                <a:ea typeface="新細明體" panose="02020500000000000000" pitchFamily="18" charset="-120"/>
              </a:defRPr>
            </a:lvl5pPr>
            <a:lvl6pPr marL="1885950" indent="-171450" eaLnBrk="0" fontAlgn="base" hangingPunct="0">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Tahoma" panose="020B0604030504040204" pitchFamily="34" charset="0"/>
                <a:ea typeface="新細明體" panose="02020500000000000000" pitchFamily="18" charset="-120"/>
              </a:defRPr>
            </a:lvl6pPr>
            <a:lvl7pPr marL="2228850" indent="-171450" eaLnBrk="0" fontAlgn="base" hangingPunct="0">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Tahoma" panose="020B0604030504040204" pitchFamily="34" charset="0"/>
                <a:ea typeface="新細明體" panose="02020500000000000000" pitchFamily="18" charset="-120"/>
              </a:defRPr>
            </a:lvl7pPr>
            <a:lvl8pPr marL="2571750" indent="-171450" eaLnBrk="0" fontAlgn="base" hangingPunct="0">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Tahoma" panose="020B0604030504040204" pitchFamily="34" charset="0"/>
                <a:ea typeface="新細明體" panose="02020500000000000000" pitchFamily="18" charset="-120"/>
              </a:defRPr>
            </a:lvl8pPr>
            <a:lvl9pPr marL="2914650" indent="-171450" eaLnBrk="0" fontAlgn="base" hangingPunct="0">
              <a:spcBef>
                <a:spcPct val="20000"/>
              </a:spcBef>
              <a:spcAft>
                <a:spcPct val="0"/>
              </a:spcAft>
              <a:buClr>
                <a:schemeClr val="accent1"/>
              </a:buClr>
              <a:buSzPct val="50000"/>
              <a:buFont typeface="Wingdings" panose="05000000000000000000" pitchFamily="2" charset="2"/>
              <a:buChar char="n"/>
              <a:defRPr kumimoji="1" sz="1500">
                <a:solidFill>
                  <a:schemeClr val="tx1"/>
                </a:solidFill>
                <a:latin typeface="Tahoma" panose="020B0604030504040204" pitchFamily="34" charset="0"/>
                <a:ea typeface="新細明體" panose="02020500000000000000" pitchFamily="18" charset="-120"/>
              </a:defRPr>
            </a:lvl9pPr>
          </a:lstStyle>
          <a:p>
            <a:pPr eaLnBrk="1" hangingPunct="1">
              <a:spcBef>
                <a:spcPct val="0"/>
              </a:spcBef>
              <a:buClrTx/>
              <a:buSzTx/>
              <a:buFontTx/>
              <a:buNone/>
            </a:pPr>
            <a:r>
              <a:rPr kumimoji="0" lang="zh-TW" altLang="en-US" sz="1050">
                <a:solidFill>
                  <a:schemeClr val="accent1"/>
                </a:solidFill>
              </a:rPr>
              <a:t>3 -</a:t>
            </a:r>
            <a:fld id="{31279AAE-92F6-4B22-A08B-47D410C42B4D}" type="slidenum">
              <a:rPr kumimoji="0" lang="zh-TW" altLang="en-US" sz="1050">
                <a:solidFill>
                  <a:schemeClr val="accent1"/>
                </a:solidFill>
              </a:rPr>
              <a:pPr eaLnBrk="1" hangingPunct="1">
                <a:spcBef>
                  <a:spcPct val="0"/>
                </a:spcBef>
                <a:buClrTx/>
                <a:buSzTx/>
                <a:buFontTx/>
                <a:buNone/>
              </a:pPr>
              <a:t>4</a:t>
            </a:fld>
            <a:endParaRPr kumimoji="0" lang="zh-TW" altLang="en-US" sz="1050">
              <a:solidFill>
                <a:schemeClr val="accent1"/>
              </a:solidFill>
            </a:endParaRPr>
          </a:p>
        </p:txBody>
      </p:sp>
      <p:sp>
        <p:nvSpPr>
          <p:cNvPr id="10243" name="Rectangle 2">
            <a:extLst>
              <a:ext uri="{FF2B5EF4-FFF2-40B4-BE49-F238E27FC236}">
                <a16:creationId xmlns:a16="http://schemas.microsoft.com/office/drawing/2014/main" id="{1691D00C-A821-4F1F-86EA-975DF1104D9F}"/>
              </a:ext>
            </a:extLst>
          </p:cNvPr>
          <p:cNvSpPr>
            <a:spLocks noGrp="1" noChangeArrowheads="1"/>
          </p:cNvSpPr>
          <p:nvPr>
            <p:ph type="title"/>
          </p:nvPr>
        </p:nvSpPr>
        <p:spPr/>
        <p:txBody>
          <a:bodyPr>
            <a:normAutofit fontScale="90000"/>
          </a:bodyPr>
          <a:lstStyle/>
          <a:p>
            <a:pPr eaLnBrk="1" hangingPunct="1"/>
            <a:r>
              <a:rPr lang="en-US" altLang="zh-TW" sz="2800" dirty="0">
                <a:latin typeface="Times New Roman" panose="02020603050405020304" pitchFamily="18" charset="0"/>
                <a:ea typeface="Times New Roman"/>
                <a:cs typeface="Times New Roman" panose="02020603050405020304" pitchFamily="18" charset="0"/>
                <a:sym typeface="Times New Roman"/>
              </a:rPr>
              <a:t>Minimum Spanning Tree (</a:t>
            </a:r>
            <a:r>
              <a:rPr lang="en-US" altLang="zh-TW" dirty="0">
                <a:latin typeface="Times New Roman" panose="02020603050405020304" pitchFamily="18" charset="0"/>
                <a:cs typeface="Times New Roman" panose="02020603050405020304" pitchFamily="18" charset="0"/>
              </a:rPr>
              <a:t>MST)</a:t>
            </a:r>
            <a:endParaRPr lang="zh-TW" altLang="en-US" dirty="0">
              <a:latin typeface="Times New Roman" panose="02020603050405020304" pitchFamily="18" charset="0"/>
              <a:cs typeface="Times New Roman" panose="02020603050405020304" pitchFamily="18" charset="0"/>
            </a:endParaRPr>
          </a:p>
        </p:txBody>
      </p:sp>
      <p:sp>
        <p:nvSpPr>
          <p:cNvPr id="10245" name="Rectangle 5">
            <a:extLst>
              <a:ext uri="{FF2B5EF4-FFF2-40B4-BE49-F238E27FC236}">
                <a16:creationId xmlns:a16="http://schemas.microsoft.com/office/drawing/2014/main" id="{A33F8FE8-B7B8-4202-968B-CCC7CC3D2A84}"/>
              </a:ext>
            </a:extLst>
          </p:cNvPr>
          <p:cNvSpPr>
            <a:spLocks noChangeArrowheads="1"/>
          </p:cNvSpPr>
          <p:nvPr/>
        </p:nvSpPr>
        <p:spPr bwMode="auto">
          <a:xfrm>
            <a:off x="2596754" y="1939529"/>
            <a:ext cx="6858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anose="05000000000000000000" pitchFamily="2" charset="2"/>
              <a:buChar char="n"/>
              <a:defRPr kumimoji="1" sz="3200">
                <a:solidFill>
                  <a:schemeClr val="tx1"/>
                </a:solidFill>
                <a:latin typeface="Tahoma" panose="020B0604030504040204" pitchFamily="34" charset="0"/>
                <a:ea typeface="新細明體" panose="02020500000000000000" pitchFamily="18" charset="-120"/>
              </a:defRPr>
            </a:lvl1pPr>
            <a:lvl2pPr marL="742950" indent="-285750" eaLnBrk="0" hangingPunct="0">
              <a:spcBef>
                <a:spcPct val="20000"/>
              </a:spcBef>
              <a:buClr>
                <a:schemeClr val="hlink"/>
              </a:buClr>
              <a:buSzPct val="55000"/>
              <a:buFont typeface="Wingdings" panose="05000000000000000000" pitchFamily="2" charset="2"/>
              <a:buChar char="n"/>
              <a:defRPr kumimoji="1" sz="2800">
                <a:solidFill>
                  <a:schemeClr val="tx1"/>
                </a:solidFill>
                <a:latin typeface="Tahoma" panose="020B0604030504040204" pitchFamily="34" charset="0"/>
                <a:ea typeface="新細明體" panose="02020500000000000000" pitchFamily="18" charset="-120"/>
              </a:defRPr>
            </a:lvl2pPr>
            <a:lvl3pPr marL="1143000" indent="-228600" eaLnBrk="0" hangingPunct="0">
              <a:spcBef>
                <a:spcPct val="20000"/>
              </a:spcBef>
              <a:buClr>
                <a:schemeClr val="folHlink"/>
              </a:buClr>
              <a:buSzPct val="50000"/>
              <a:buFont typeface="Wingdings" panose="05000000000000000000" pitchFamily="2" charset="2"/>
              <a:buChar char="n"/>
              <a:defRPr kumimoji="1" sz="2400">
                <a:solidFill>
                  <a:schemeClr val="tx1"/>
                </a:solidFill>
                <a:latin typeface="Tahoma" panose="020B0604030504040204" pitchFamily="34" charset="0"/>
                <a:ea typeface="新細明體" panose="02020500000000000000" pitchFamily="18" charset="-120"/>
              </a:defRPr>
            </a:lvl3pPr>
            <a:lvl4pPr marL="1600200" indent="-228600" eaLnBrk="0" hangingPunct="0">
              <a:spcBef>
                <a:spcPct val="20000"/>
              </a:spcBef>
              <a:buClr>
                <a:schemeClr val="accent2"/>
              </a:buClr>
              <a:buSzPct val="55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4pPr>
            <a:lvl5pPr marL="2057400" indent="-228600" eaLnBrk="0" hangingPunct="0">
              <a:spcBef>
                <a:spcPct val="20000"/>
              </a:spcBef>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Tahoma" panose="020B0604030504040204" pitchFamily="34" charset="0"/>
                <a:ea typeface="新細明體" panose="02020500000000000000" pitchFamily="18" charset="-120"/>
              </a:defRPr>
            </a:lvl9pPr>
          </a:lstStyle>
          <a:p>
            <a:pPr eaLnBrk="1" hangingPunct="1">
              <a:spcBef>
                <a:spcPct val="0"/>
              </a:spcBef>
              <a:buClrTx/>
              <a:buSzTx/>
              <a:buFontTx/>
              <a:buNone/>
            </a:pPr>
            <a:endParaRPr lang="zh-TW" altLang="en-US" sz="1800"/>
          </a:p>
        </p:txBody>
      </p:sp>
      <p:pic>
        <p:nvPicPr>
          <p:cNvPr id="10246" name="Picture 6">
            <a:extLst>
              <a:ext uri="{FF2B5EF4-FFF2-40B4-BE49-F238E27FC236}">
                <a16:creationId xmlns:a16="http://schemas.microsoft.com/office/drawing/2014/main" id="{456E86F2-6E37-43E9-81B4-D2FBD4D125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9148" y="1516556"/>
            <a:ext cx="3375211" cy="2636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7" name="Picture 7" descr="未命名">
            <a:extLst>
              <a:ext uri="{FF2B5EF4-FFF2-40B4-BE49-F238E27FC236}">
                <a16:creationId xmlns:a16="http://schemas.microsoft.com/office/drawing/2014/main" id="{72263744-2AE3-4714-B668-91181C4371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5523" y="1828801"/>
            <a:ext cx="3272200" cy="1778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9" name="Google Shape;69;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zh-TW" sz="2400" dirty="0">
                <a:solidFill>
                  <a:schemeClr val="dk1"/>
                </a:solidFill>
                <a:latin typeface="Times New Roman"/>
                <a:ea typeface="Times New Roman"/>
                <a:cs typeface="Times New Roman"/>
                <a:sym typeface="Times New Roman"/>
              </a:rPr>
              <a:t> </a:t>
            </a:r>
            <a:endParaRPr sz="2400" dirty="0">
              <a:solidFill>
                <a:schemeClr val="dk1"/>
              </a:solidFill>
              <a:latin typeface="Times New Roman"/>
              <a:ea typeface="Times New Roman"/>
              <a:cs typeface="Times New Roman"/>
              <a:sym typeface="Times New Roman"/>
            </a:endParaRPr>
          </a:p>
        </p:txBody>
      </p:sp>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5</a:t>
            </a:fld>
            <a:endParaRPr/>
          </a:p>
        </p:txBody>
      </p:sp>
      <p:sp>
        <p:nvSpPr>
          <p:cNvPr id="4" name="標題 3">
            <a:extLst>
              <a:ext uri="{FF2B5EF4-FFF2-40B4-BE49-F238E27FC236}">
                <a16:creationId xmlns:a16="http://schemas.microsoft.com/office/drawing/2014/main" id="{8B7A08BC-4A25-4F2D-AC36-04B115B297EF}"/>
              </a:ext>
            </a:extLst>
          </p:cNvPr>
          <p:cNvSpPr>
            <a:spLocks noGrp="1"/>
          </p:cNvSpPr>
          <p:nvPr>
            <p:ph type="title"/>
          </p:nvPr>
        </p:nvSpPr>
        <p:spPr/>
        <p:txBody>
          <a:bodyPr>
            <a:normAutofit fontScale="90000"/>
          </a:bodyPr>
          <a:lstStyle/>
          <a:p>
            <a:endParaRPr lang="zh-TW" altLang="en-US"/>
          </a:p>
        </p:txBody>
      </p:sp>
      <p:pic>
        <p:nvPicPr>
          <p:cNvPr id="8" name="圖片 7">
            <a:extLst>
              <a:ext uri="{FF2B5EF4-FFF2-40B4-BE49-F238E27FC236}">
                <a16:creationId xmlns:a16="http://schemas.microsoft.com/office/drawing/2014/main" id="{D269BE2D-2603-4F0B-9232-25151B7297C0}"/>
              </a:ext>
            </a:extLst>
          </p:cNvPr>
          <p:cNvPicPr>
            <a:picLocks noChangeAspect="1"/>
          </p:cNvPicPr>
          <p:nvPr/>
        </p:nvPicPr>
        <p:blipFill>
          <a:blip r:embed="rId3"/>
          <a:stretch>
            <a:fillRect/>
          </a:stretch>
        </p:blipFill>
        <p:spPr>
          <a:xfrm>
            <a:off x="3643893" y="0"/>
            <a:ext cx="4243742" cy="5143500"/>
          </a:xfrm>
          <a:prstGeom prst="rect">
            <a:avLst/>
          </a:prstGeom>
        </p:spPr>
      </p:pic>
      <p:pic>
        <p:nvPicPr>
          <p:cNvPr id="10" name="圖片 9">
            <a:extLst>
              <a:ext uri="{FF2B5EF4-FFF2-40B4-BE49-F238E27FC236}">
                <a16:creationId xmlns:a16="http://schemas.microsoft.com/office/drawing/2014/main" id="{16421524-1ECB-40A6-B6DD-DDEDA060DA03}"/>
              </a:ext>
            </a:extLst>
          </p:cNvPr>
          <p:cNvPicPr>
            <a:picLocks noChangeAspect="1"/>
          </p:cNvPicPr>
          <p:nvPr/>
        </p:nvPicPr>
        <p:blipFill>
          <a:blip r:embed="rId4"/>
          <a:stretch>
            <a:fillRect/>
          </a:stretch>
        </p:blipFill>
        <p:spPr>
          <a:xfrm>
            <a:off x="565037" y="0"/>
            <a:ext cx="3078856"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53" name="圖片 52">
            <a:extLst>
              <a:ext uri="{FF2B5EF4-FFF2-40B4-BE49-F238E27FC236}">
                <a16:creationId xmlns:a16="http://schemas.microsoft.com/office/drawing/2014/main" id="{ABCBE038-0149-43A5-A409-B71C026877E9}"/>
              </a:ext>
            </a:extLst>
          </p:cNvPr>
          <p:cNvPicPr>
            <a:picLocks noChangeAspect="1"/>
          </p:cNvPicPr>
          <p:nvPr/>
        </p:nvPicPr>
        <p:blipFill>
          <a:blip r:embed="rId3"/>
          <a:stretch>
            <a:fillRect/>
          </a:stretch>
        </p:blipFill>
        <p:spPr>
          <a:xfrm>
            <a:off x="1798079" y="738981"/>
            <a:ext cx="5547841" cy="3665538"/>
          </a:xfrm>
          <a:prstGeom prst="rect">
            <a:avLst/>
          </a:prstGeom>
        </p:spPr>
      </p:pic>
      <p:pic>
        <p:nvPicPr>
          <p:cNvPr id="51" name="圖片 50">
            <a:extLst>
              <a:ext uri="{FF2B5EF4-FFF2-40B4-BE49-F238E27FC236}">
                <a16:creationId xmlns:a16="http://schemas.microsoft.com/office/drawing/2014/main" id="{83094044-9C6A-4069-BED7-4EA94332D923}"/>
              </a:ext>
            </a:extLst>
          </p:cNvPr>
          <p:cNvPicPr>
            <a:picLocks noChangeAspect="1"/>
          </p:cNvPicPr>
          <p:nvPr/>
        </p:nvPicPr>
        <p:blipFill>
          <a:blip r:embed="rId4"/>
          <a:stretch>
            <a:fillRect/>
          </a:stretch>
        </p:blipFill>
        <p:spPr>
          <a:xfrm>
            <a:off x="1561839" y="685636"/>
            <a:ext cx="6020322" cy="3772227"/>
          </a:xfrm>
          <a:prstGeom prst="rect">
            <a:avLst/>
          </a:prstGeom>
        </p:spPr>
      </p:pic>
      <p:pic>
        <p:nvPicPr>
          <p:cNvPr id="49" name="圖片 48">
            <a:extLst>
              <a:ext uri="{FF2B5EF4-FFF2-40B4-BE49-F238E27FC236}">
                <a16:creationId xmlns:a16="http://schemas.microsoft.com/office/drawing/2014/main" id="{F8D998C1-F143-43AB-8132-53381AE1F879}"/>
              </a:ext>
            </a:extLst>
          </p:cNvPr>
          <p:cNvPicPr>
            <a:picLocks noChangeAspect="1"/>
          </p:cNvPicPr>
          <p:nvPr/>
        </p:nvPicPr>
        <p:blipFill>
          <a:blip r:embed="rId5"/>
          <a:stretch>
            <a:fillRect/>
          </a:stretch>
        </p:blipFill>
        <p:spPr>
          <a:xfrm>
            <a:off x="1493253" y="738981"/>
            <a:ext cx="6157494" cy="3665538"/>
          </a:xfrm>
          <a:prstGeom prst="rect">
            <a:avLst/>
          </a:prstGeom>
        </p:spPr>
      </p:pic>
      <p:pic>
        <p:nvPicPr>
          <p:cNvPr id="47" name="圖片 46">
            <a:extLst>
              <a:ext uri="{FF2B5EF4-FFF2-40B4-BE49-F238E27FC236}">
                <a16:creationId xmlns:a16="http://schemas.microsoft.com/office/drawing/2014/main" id="{56B4A525-F5B2-4E02-A118-391A1BB99A63}"/>
              </a:ext>
            </a:extLst>
          </p:cNvPr>
          <p:cNvPicPr>
            <a:picLocks noChangeAspect="1"/>
          </p:cNvPicPr>
          <p:nvPr/>
        </p:nvPicPr>
        <p:blipFill>
          <a:blip r:embed="rId6"/>
          <a:stretch>
            <a:fillRect/>
          </a:stretch>
        </p:blipFill>
        <p:spPr>
          <a:xfrm>
            <a:off x="1455150" y="689447"/>
            <a:ext cx="6233700" cy="3764606"/>
          </a:xfrm>
          <a:prstGeom prst="rect">
            <a:avLst/>
          </a:prstGeom>
        </p:spPr>
      </p:pic>
      <p:pic>
        <p:nvPicPr>
          <p:cNvPr id="45" name="圖片 44">
            <a:extLst>
              <a:ext uri="{FF2B5EF4-FFF2-40B4-BE49-F238E27FC236}">
                <a16:creationId xmlns:a16="http://schemas.microsoft.com/office/drawing/2014/main" id="{283FB564-D33A-4524-80CC-E2DF05F63DAF}"/>
              </a:ext>
            </a:extLst>
          </p:cNvPr>
          <p:cNvPicPr>
            <a:picLocks noChangeAspect="1"/>
          </p:cNvPicPr>
          <p:nvPr/>
        </p:nvPicPr>
        <p:blipFill>
          <a:blip r:embed="rId7"/>
          <a:stretch>
            <a:fillRect/>
          </a:stretch>
        </p:blipFill>
        <p:spPr>
          <a:xfrm>
            <a:off x="1508494" y="670395"/>
            <a:ext cx="6127011" cy="3802710"/>
          </a:xfrm>
          <a:prstGeom prst="rect">
            <a:avLst/>
          </a:prstGeom>
        </p:spPr>
      </p:pic>
      <p:pic>
        <p:nvPicPr>
          <p:cNvPr id="43" name="圖片 42">
            <a:extLst>
              <a:ext uri="{FF2B5EF4-FFF2-40B4-BE49-F238E27FC236}">
                <a16:creationId xmlns:a16="http://schemas.microsoft.com/office/drawing/2014/main" id="{125FB926-4FFB-4DFE-B500-BC31901D3705}"/>
              </a:ext>
            </a:extLst>
          </p:cNvPr>
          <p:cNvPicPr>
            <a:picLocks noChangeAspect="1"/>
          </p:cNvPicPr>
          <p:nvPr/>
        </p:nvPicPr>
        <p:blipFill>
          <a:blip r:embed="rId8"/>
          <a:stretch>
            <a:fillRect/>
          </a:stretch>
        </p:blipFill>
        <p:spPr>
          <a:xfrm>
            <a:off x="1420857" y="697067"/>
            <a:ext cx="6302286" cy="3749365"/>
          </a:xfrm>
          <a:prstGeom prst="rect">
            <a:avLst/>
          </a:prstGeom>
        </p:spPr>
      </p:pic>
      <p:pic>
        <p:nvPicPr>
          <p:cNvPr id="41" name="圖片 40">
            <a:extLst>
              <a:ext uri="{FF2B5EF4-FFF2-40B4-BE49-F238E27FC236}">
                <a16:creationId xmlns:a16="http://schemas.microsoft.com/office/drawing/2014/main" id="{033611FD-91A3-43DE-988E-54C35FD1B5D1}"/>
              </a:ext>
            </a:extLst>
          </p:cNvPr>
          <p:cNvPicPr>
            <a:picLocks noChangeAspect="1"/>
          </p:cNvPicPr>
          <p:nvPr/>
        </p:nvPicPr>
        <p:blipFill>
          <a:blip r:embed="rId9"/>
          <a:stretch>
            <a:fillRect/>
          </a:stretch>
        </p:blipFill>
        <p:spPr>
          <a:xfrm>
            <a:off x="1291305" y="693257"/>
            <a:ext cx="6561389" cy="3756986"/>
          </a:xfrm>
          <a:prstGeom prst="rect">
            <a:avLst/>
          </a:prstGeom>
        </p:spPr>
      </p:pic>
      <p:pic>
        <p:nvPicPr>
          <p:cNvPr id="39" name="圖片 38">
            <a:extLst>
              <a:ext uri="{FF2B5EF4-FFF2-40B4-BE49-F238E27FC236}">
                <a16:creationId xmlns:a16="http://schemas.microsoft.com/office/drawing/2014/main" id="{290FFCD4-6D74-44C4-BCC0-B53B7FAE7CF3}"/>
              </a:ext>
            </a:extLst>
          </p:cNvPr>
          <p:cNvPicPr>
            <a:picLocks noChangeAspect="1"/>
          </p:cNvPicPr>
          <p:nvPr/>
        </p:nvPicPr>
        <p:blipFill>
          <a:blip r:embed="rId10"/>
          <a:stretch>
            <a:fillRect/>
          </a:stretch>
        </p:blipFill>
        <p:spPr>
          <a:xfrm>
            <a:off x="1413236" y="719929"/>
            <a:ext cx="6317527" cy="3703641"/>
          </a:xfrm>
          <a:prstGeom prst="rect">
            <a:avLst/>
          </a:prstGeom>
        </p:spPr>
      </p:pic>
      <p:pic>
        <p:nvPicPr>
          <p:cNvPr id="37" name="圖片 36">
            <a:extLst>
              <a:ext uri="{FF2B5EF4-FFF2-40B4-BE49-F238E27FC236}">
                <a16:creationId xmlns:a16="http://schemas.microsoft.com/office/drawing/2014/main" id="{501F49FC-494A-4371-95CD-3338AB2800DA}"/>
              </a:ext>
            </a:extLst>
          </p:cNvPr>
          <p:cNvPicPr>
            <a:picLocks noChangeAspect="1"/>
          </p:cNvPicPr>
          <p:nvPr/>
        </p:nvPicPr>
        <p:blipFill>
          <a:blip r:embed="rId11"/>
          <a:stretch>
            <a:fillRect/>
          </a:stretch>
        </p:blipFill>
        <p:spPr>
          <a:xfrm>
            <a:off x="1458960" y="678016"/>
            <a:ext cx="6226080" cy="3787468"/>
          </a:xfrm>
          <a:prstGeom prst="rect">
            <a:avLst/>
          </a:prstGeom>
        </p:spPr>
      </p:pic>
      <p:pic>
        <p:nvPicPr>
          <p:cNvPr id="33" name="圖片 32">
            <a:extLst>
              <a:ext uri="{FF2B5EF4-FFF2-40B4-BE49-F238E27FC236}">
                <a16:creationId xmlns:a16="http://schemas.microsoft.com/office/drawing/2014/main" id="{7A1976D3-7849-4E31-857E-36168FE2C586}"/>
              </a:ext>
            </a:extLst>
          </p:cNvPr>
          <p:cNvPicPr>
            <a:picLocks noChangeAspect="1"/>
          </p:cNvPicPr>
          <p:nvPr/>
        </p:nvPicPr>
        <p:blipFill>
          <a:blip r:embed="rId12"/>
          <a:stretch>
            <a:fillRect/>
          </a:stretch>
        </p:blipFill>
        <p:spPr>
          <a:xfrm>
            <a:off x="1401805" y="643723"/>
            <a:ext cx="6340389" cy="3856054"/>
          </a:xfrm>
          <a:prstGeom prst="rect">
            <a:avLst/>
          </a:prstGeom>
        </p:spPr>
      </p:pic>
      <p:pic>
        <p:nvPicPr>
          <p:cNvPr id="31" name="圖片 30">
            <a:extLst>
              <a:ext uri="{FF2B5EF4-FFF2-40B4-BE49-F238E27FC236}">
                <a16:creationId xmlns:a16="http://schemas.microsoft.com/office/drawing/2014/main" id="{10EC3D11-1FE5-4BB0-89C4-69D122175BEB}"/>
              </a:ext>
            </a:extLst>
          </p:cNvPr>
          <p:cNvPicPr>
            <a:picLocks noChangeAspect="1"/>
          </p:cNvPicPr>
          <p:nvPr/>
        </p:nvPicPr>
        <p:blipFill>
          <a:blip r:embed="rId13"/>
          <a:stretch>
            <a:fillRect/>
          </a:stretch>
        </p:blipFill>
        <p:spPr>
          <a:xfrm>
            <a:off x="1409426" y="666585"/>
            <a:ext cx="6325148" cy="3810330"/>
          </a:xfrm>
          <a:prstGeom prst="rect">
            <a:avLst/>
          </a:prstGeom>
        </p:spPr>
      </p:pic>
      <p:pic>
        <p:nvPicPr>
          <p:cNvPr id="29" name="圖片 28">
            <a:extLst>
              <a:ext uri="{FF2B5EF4-FFF2-40B4-BE49-F238E27FC236}">
                <a16:creationId xmlns:a16="http://schemas.microsoft.com/office/drawing/2014/main" id="{FFAF02BC-CE7E-43F4-BD5D-329B0EEE5C62}"/>
              </a:ext>
            </a:extLst>
          </p:cNvPr>
          <p:cNvPicPr>
            <a:picLocks noChangeAspect="1"/>
          </p:cNvPicPr>
          <p:nvPr/>
        </p:nvPicPr>
        <p:blipFill>
          <a:blip r:embed="rId14"/>
          <a:stretch>
            <a:fillRect/>
          </a:stretch>
        </p:blipFill>
        <p:spPr>
          <a:xfrm>
            <a:off x="1447529" y="666585"/>
            <a:ext cx="6248942" cy="3810330"/>
          </a:xfrm>
          <a:prstGeom prst="rect">
            <a:avLst/>
          </a:prstGeom>
        </p:spPr>
      </p:pic>
      <p:pic>
        <p:nvPicPr>
          <p:cNvPr id="27" name="圖片 26">
            <a:extLst>
              <a:ext uri="{FF2B5EF4-FFF2-40B4-BE49-F238E27FC236}">
                <a16:creationId xmlns:a16="http://schemas.microsoft.com/office/drawing/2014/main" id="{2C61C2C8-3DD2-4B71-AEF5-07C61F68EC87}"/>
              </a:ext>
            </a:extLst>
          </p:cNvPr>
          <p:cNvPicPr>
            <a:picLocks noChangeAspect="1"/>
          </p:cNvPicPr>
          <p:nvPr/>
        </p:nvPicPr>
        <p:blipFill>
          <a:blip r:embed="rId15"/>
          <a:stretch>
            <a:fillRect/>
          </a:stretch>
        </p:blipFill>
        <p:spPr>
          <a:xfrm>
            <a:off x="1432288" y="666585"/>
            <a:ext cx="6279424" cy="3810330"/>
          </a:xfrm>
          <a:prstGeom prst="rect">
            <a:avLst/>
          </a:prstGeom>
        </p:spPr>
      </p:pic>
      <p:pic>
        <p:nvPicPr>
          <p:cNvPr id="25" name="圖片 24">
            <a:extLst>
              <a:ext uri="{FF2B5EF4-FFF2-40B4-BE49-F238E27FC236}">
                <a16:creationId xmlns:a16="http://schemas.microsoft.com/office/drawing/2014/main" id="{8130FB11-75B9-43D7-B79B-1A725024D98E}"/>
              </a:ext>
            </a:extLst>
          </p:cNvPr>
          <p:cNvPicPr>
            <a:picLocks noChangeAspect="1"/>
          </p:cNvPicPr>
          <p:nvPr/>
        </p:nvPicPr>
        <p:blipFill>
          <a:blip r:embed="rId16"/>
          <a:stretch>
            <a:fillRect/>
          </a:stretch>
        </p:blipFill>
        <p:spPr>
          <a:xfrm>
            <a:off x="1409426" y="658964"/>
            <a:ext cx="6325148" cy="3825572"/>
          </a:xfrm>
          <a:prstGeom prst="rect">
            <a:avLst/>
          </a:prstGeom>
        </p:spPr>
      </p:pic>
      <p:pic>
        <p:nvPicPr>
          <p:cNvPr id="21" name="圖片 20">
            <a:extLst>
              <a:ext uri="{FF2B5EF4-FFF2-40B4-BE49-F238E27FC236}">
                <a16:creationId xmlns:a16="http://schemas.microsoft.com/office/drawing/2014/main" id="{C146D662-1234-4A86-B475-8285FB5B9052}"/>
              </a:ext>
            </a:extLst>
          </p:cNvPr>
          <p:cNvPicPr>
            <a:picLocks noChangeAspect="1"/>
          </p:cNvPicPr>
          <p:nvPr/>
        </p:nvPicPr>
        <p:blipFill>
          <a:blip r:embed="rId17"/>
          <a:stretch>
            <a:fillRect/>
          </a:stretch>
        </p:blipFill>
        <p:spPr>
          <a:xfrm>
            <a:off x="1420857" y="697067"/>
            <a:ext cx="6302286" cy="3749365"/>
          </a:xfrm>
          <a:prstGeom prst="rect">
            <a:avLst/>
          </a:prstGeom>
        </p:spPr>
      </p:pic>
      <p:pic>
        <p:nvPicPr>
          <p:cNvPr id="19" name="圖片 18">
            <a:extLst>
              <a:ext uri="{FF2B5EF4-FFF2-40B4-BE49-F238E27FC236}">
                <a16:creationId xmlns:a16="http://schemas.microsoft.com/office/drawing/2014/main" id="{B386947E-5094-473B-A252-BF07C18D4BA3}"/>
              </a:ext>
            </a:extLst>
          </p:cNvPr>
          <p:cNvPicPr>
            <a:picLocks noChangeAspect="1"/>
          </p:cNvPicPr>
          <p:nvPr/>
        </p:nvPicPr>
        <p:blipFill>
          <a:blip r:embed="rId18"/>
          <a:stretch>
            <a:fillRect/>
          </a:stretch>
        </p:blipFill>
        <p:spPr>
          <a:xfrm>
            <a:off x="1428477" y="666585"/>
            <a:ext cx="6287045" cy="3810330"/>
          </a:xfrm>
          <a:prstGeom prst="rect">
            <a:avLst/>
          </a:prstGeom>
        </p:spPr>
      </p:pic>
      <p:pic>
        <p:nvPicPr>
          <p:cNvPr id="17" name="圖片 16">
            <a:extLst>
              <a:ext uri="{FF2B5EF4-FFF2-40B4-BE49-F238E27FC236}">
                <a16:creationId xmlns:a16="http://schemas.microsoft.com/office/drawing/2014/main" id="{492BD65D-6F57-4567-8B33-F2D721094152}"/>
              </a:ext>
            </a:extLst>
          </p:cNvPr>
          <p:cNvPicPr>
            <a:picLocks noChangeAspect="1"/>
          </p:cNvPicPr>
          <p:nvPr/>
        </p:nvPicPr>
        <p:blipFill>
          <a:blip r:embed="rId19"/>
          <a:stretch>
            <a:fillRect/>
          </a:stretch>
        </p:blipFill>
        <p:spPr>
          <a:xfrm>
            <a:off x="1439908" y="658964"/>
            <a:ext cx="6264183" cy="3825572"/>
          </a:xfrm>
          <a:prstGeom prst="rect">
            <a:avLst/>
          </a:prstGeom>
        </p:spPr>
      </p:pic>
      <p:pic>
        <p:nvPicPr>
          <p:cNvPr id="15" name="圖片 14">
            <a:extLst>
              <a:ext uri="{FF2B5EF4-FFF2-40B4-BE49-F238E27FC236}">
                <a16:creationId xmlns:a16="http://schemas.microsoft.com/office/drawing/2014/main" id="{116D2EFB-D7C2-4358-A2C7-45CD68018AB1}"/>
              </a:ext>
            </a:extLst>
          </p:cNvPr>
          <p:cNvPicPr>
            <a:picLocks noChangeAspect="1"/>
          </p:cNvPicPr>
          <p:nvPr/>
        </p:nvPicPr>
        <p:blipFill>
          <a:blip r:embed="rId20"/>
          <a:stretch>
            <a:fillRect/>
          </a:stretch>
        </p:blipFill>
        <p:spPr>
          <a:xfrm>
            <a:off x="1405615" y="708498"/>
            <a:ext cx="6332769" cy="3726503"/>
          </a:xfrm>
          <a:prstGeom prst="rect">
            <a:avLst/>
          </a:prstGeom>
        </p:spPr>
      </p:pic>
      <p:pic>
        <p:nvPicPr>
          <p:cNvPr id="13" name="圖片 12">
            <a:extLst>
              <a:ext uri="{FF2B5EF4-FFF2-40B4-BE49-F238E27FC236}">
                <a16:creationId xmlns:a16="http://schemas.microsoft.com/office/drawing/2014/main" id="{519C7A07-0585-4896-8021-9C4CD45C2D94}"/>
              </a:ext>
            </a:extLst>
          </p:cNvPr>
          <p:cNvPicPr>
            <a:picLocks noChangeAspect="1"/>
          </p:cNvPicPr>
          <p:nvPr/>
        </p:nvPicPr>
        <p:blipFill>
          <a:blip r:embed="rId21"/>
          <a:stretch>
            <a:fillRect/>
          </a:stretch>
        </p:blipFill>
        <p:spPr>
          <a:xfrm>
            <a:off x="1436098" y="670395"/>
            <a:ext cx="6271803" cy="3802710"/>
          </a:xfrm>
          <a:prstGeom prst="rect">
            <a:avLst/>
          </a:prstGeom>
        </p:spPr>
      </p:pic>
      <p:pic>
        <p:nvPicPr>
          <p:cNvPr id="11" name="圖片 10">
            <a:extLst>
              <a:ext uri="{FF2B5EF4-FFF2-40B4-BE49-F238E27FC236}">
                <a16:creationId xmlns:a16="http://schemas.microsoft.com/office/drawing/2014/main" id="{77EFD37F-2D4D-4029-BC2B-F9AB9538F755}"/>
              </a:ext>
            </a:extLst>
          </p:cNvPr>
          <p:cNvPicPr>
            <a:picLocks noChangeAspect="1"/>
          </p:cNvPicPr>
          <p:nvPr/>
        </p:nvPicPr>
        <p:blipFill>
          <a:blip r:embed="rId22"/>
          <a:stretch>
            <a:fillRect/>
          </a:stretch>
        </p:blipFill>
        <p:spPr>
          <a:xfrm>
            <a:off x="1439908" y="651343"/>
            <a:ext cx="6264183" cy="3840813"/>
          </a:xfrm>
          <a:prstGeom prst="rect">
            <a:avLst/>
          </a:prstGeom>
        </p:spPr>
      </p:pic>
      <p:sp>
        <p:nvSpPr>
          <p:cNvPr id="69" name="Google Shape;69;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SzPts val="1800"/>
              <a:buNone/>
            </a:pPr>
            <a:r>
              <a:rPr lang="zh-TW" sz="2400" dirty="0">
                <a:solidFill>
                  <a:schemeClr val="dk1"/>
                </a:solidFill>
                <a:latin typeface="Times New Roman"/>
                <a:ea typeface="Times New Roman"/>
                <a:cs typeface="Times New Roman"/>
                <a:sym typeface="Times New Roman"/>
              </a:rPr>
              <a:t> </a:t>
            </a:r>
            <a:endParaRPr sz="2400" dirty="0">
              <a:solidFill>
                <a:schemeClr val="dk1"/>
              </a:solidFill>
              <a:latin typeface="Times New Roman"/>
              <a:ea typeface="Times New Roman"/>
              <a:cs typeface="Times New Roman"/>
              <a:sym typeface="Times New Roman"/>
            </a:endParaRPr>
          </a:p>
        </p:txBody>
      </p:sp>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6</a:t>
            </a:fld>
            <a:endParaRPr/>
          </a:p>
        </p:txBody>
      </p:sp>
      <p:sp>
        <p:nvSpPr>
          <p:cNvPr id="4" name="標題 3">
            <a:extLst>
              <a:ext uri="{FF2B5EF4-FFF2-40B4-BE49-F238E27FC236}">
                <a16:creationId xmlns:a16="http://schemas.microsoft.com/office/drawing/2014/main" id="{8B7A08BC-4A25-4F2D-AC36-04B115B297EF}"/>
              </a:ext>
            </a:extLst>
          </p:cNvPr>
          <p:cNvSpPr>
            <a:spLocks noGrp="1"/>
          </p:cNvSpPr>
          <p:nvPr>
            <p:ph type="title"/>
          </p:nvPr>
        </p:nvSpPr>
        <p:spPr/>
        <p:txBody>
          <a:bodyPr>
            <a:normAutofit fontScale="90000"/>
          </a:bodyPr>
          <a:lstStyle/>
          <a:p>
            <a:endParaRPr lang="zh-TW" altLang="en-US"/>
          </a:p>
        </p:txBody>
      </p:sp>
      <p:pic>
        <p:nvPicPr>
          <p:cNvPr id="3" name="圖片 2">
            <a:extLst>
              <a:ext uri="{FF2B5EF4-FFF2-40B4-BE49-F238E27FC236}">
                <a16:creationId xmlns:a16="http://schemas.microsoft.com/office/drawing/2014/main" id="{64098DF0-C071-4787-995A-91F10C1A9A32}"/>
              </a:ext>
            </a:extLst>
          </p:cNvPr>
          <p:cNvPicPr>
            <a:picLocks noChangeAspect="1"/>
          </p:cNvPicPr>
          <p:nvPr/>
        </p:nvPicPr>
        <p:blipFill>
          <a:blip r:embed="rId23"/>
          <a:stretch>
            <a:fillRect/>
          </a:stretch>
        </p:blipFill>
        <p:spPr>
          <a:xfrm>
            <a:off x="1466581" y="636102"/>
            <a:ext cx="6210838" cy="3871295"/>
          </a:xfrm>
          <a:prstGeom prst="rect">
            <a:avLst/>
          </a:prstGeom>
        </p:spPr>
      </p:pic>
    </p:spTree>
    <p:extLst>
      <p:ext uri="{BB962C8B-B14F-4D97-AF65-F5344CB8AC3E}">
        <p14:creationId xmlns:p14="http://schemas.microsoft.com/office/powerpoint/2010/main" val="4008125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1"/>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3"/>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5"/>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1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1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21"/>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25"/>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27"/>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29"/>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nodeType="clickEffect">
                                  <p:stCondLst>
                                    <p:cond delay="0"/>
                                  </p:stCondLst>
                                  <p:childTnLst>
                                    <p:set>
                                      <p:cBhvr>
                                        <p:cTn id="46" dur="1" fill="hold">
                                          <p:stCondLst>
                                            <p:cond delay="0"/>
                                          </p:stCondLst>
                                        </p:cTn>
                                        <p:tgtEl>
                                          <p:spTgt spid="31"/>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nodeType="clickEffect">
                                  <p:stCondLst>
                                    <p:cond delay="0"/>
                                  </p:stCondLst>
                                  <p:childTnLst>
                                    <p:set>
                                      <p:cBhvr>
                                        <p:cTn id="50" dur="1" fill="hold">
                                          <p:stCondLst>
                                            <p:cond delay="0"/>
                                          </p:stCondLst>
                                        </p:cTn>
                                        <p:tgtEl>
                                          <p:spTgt spid="33"/>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nodeType="clickEffect">
                                  <p:stCondLst>
                                    <p:cond delay="0"/>
                                  </p:stCondLst>
                                  <p:childTnLst>
                                    <p:set>
                                      <p:cBhvr>
                                        <p:cTn id="54" dur="1" fill="hold">
                                          <p:stCondLst>
                                            <p:cond delay="0"/>
                                          </p:stCondLst>
                                        </p:cTn>
                                        <p:tgtEl>
                                          <p:spTgt spid="37"/>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nodeType="clickEffect">
                                  <p:stCondLst>
                                    <p:cond delay="0"/>
                                  </p:stCondLst>
                                  <p:childTnLst>
                                    <p:set>
                                      <p:cBhvr>
                                        <p:cTn id="58" dur="1" fill="hold">
                                          <p:stCondLst>
                                            <p:cond delay="0"/>
                                          </p:stCondLst>
                                        </p:cTn>
                                        <p:tgtEl>
                                          <p:spTgt spid="39"/>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nodeType="clickEffect">
                                  <p:stCondLst>
                                    <p:cond delay="0"/>
                                  </p:stCondLst>
                                  <p:childTnLst>
                                    <p:set>
                                      <p:cBhvr>
                                        <p:cTn id="62" dur="1" fill="hold">
                                          <p:stCondLst>
                                            <p:cond delay="0"/>
                                          </p:stCondLst>
                                        </p:cTn>
                                        <p:tgtEl>
                                          <p:spTgt spid="41"/>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nodeType="clickEffect">
                                  <p:stCondLst>
                                    <p:cond delay="0"/>
                                  </p:stCondLst>
                                  <p:childTnLst>
                                    <p:set>
                                      <p:cBhvr>
                                        <p:cTn id="66" dur="1" fill="hold">
                                          <p:stCondLst>
                                            <p:cond delay="0"/>
                                          </p:stCondLst>
                                        </p:cTn>
                                        <p:tgtEl>
                                          <p:spTgt spid="43"/>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nodeType="clickEffect">
                                  <p:stCondLst>
                                    <p:cond delay="0"/>
                                  </p:stCondLst>
                                  <p:childTnLst>
                                    <p:set>
                                      <p:cBhvr>
                                        <p:cTn id="70" dur="1" fill="hold">
                                          <p:stCondLst>
                                            <p:cond delay="0"/>
                                          </p:stCondLst>
                                        </p:cTn>
                                        <p:tgtEl>
                                          <p:spTgt spid="45"/>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xit" presetSubtype="0" fill="hold" nodeType="clickEffect">
                                  <p:stCondLst>
                                    <p:cond delay="0"/>
                                  </p:stCondLst>
                                  <p:childTnLst>
                                    <p:set>
                                      <p:cBhvr>
                                        <p:cTn id="74" dur="1" fill="hold">
                                          <p:stCondLst>
                                            <p:cond delay="0"/>
                                          </p:stCondLst>
                                        </p:cTn>
                                        <p:tgtEl>
                                          <p:spTgt spid="47"/>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nodeType="clickEffect">
                                  <p:stCondLst>
                                    <p:cond delay="0"/>
                                  </p:stCondLst>
                                  <p:childTnLst>
                                    <p:set>
                                      <p:cBhvr>
                                        <p:cTn id="78" dur="1" fill="hold">
                                          <p:stCondLst>
                                            <p:cond delay="0"/>
                                          </p:stCondLst>
                                        </p:cTn>
                                        <p:tgtEl>
                                          <p:spTgt spid="49"/>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1" presetClass="exit" presetSubtype="0" fill="hold" nodeType="clickEffect">
                                  <p:stCondLst>
                                    <p:cond delay="0"/>
                                  </p:stCondLst>
                                  <p:childTnLst>
                                    <p:set>
                                      <p:cBhvr>
                                        <p:cTn id="82" dur="1" fill="hold">
                                          <p:stCondLst>
                                            <p:cond delay="0"/>
                                          </p:stCondLst>
                                        </p:cTn>
                                        <p:tgtEl>
                                          <p:spTgt spid="5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US" altLang="zh-TW" dirty="0">
                <a:latin typeface="Times New Roman"/>
                <a:ea typeface="Times New Roman"/>
                <a:cs typeface="Times New Roman"/>
                <a:sym typeface="Times New Roman"/>
              </a:rPr>
              <a:t>Time Complexity</a:t>
            </a:r>
            <a:endParaRPr lang="en-US" dirty="0">
              <a:latin typeface="Times New Roman"/>
              <a:ea typeface="Times New Roman"/>
              <a:cs typeface="Times New Roman"/>
              <a:sym typeface="Times New Roman"/>
            </a:endParaRPr>
          </a:p>
        </p:txBody>
      </p:sp>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7</a:t>
            </a:fld>
            <a:endParaRPr/>
          </a:p>
        </p:txBody>
      </p:sp>
      <p:sp>
        <p:nvSpPr>
          <p:cNvPr id="4" name="Google Shape;62;p14">
            <a:extLst>
              <a:ext uri="{FF2B5EF4-FFF2-40B4-BE49-F238E27FC236}">
                <a16:creationId xmlns:a16="http://schemas.microsoft.com/office/drawing/2014/main" id="{EE2395B2-7711-457E-ABAA-4CC68E3F71F2}"/>
              </a:ext>
            </a:extLst>
          </p:cNvPr>
          <p:cNvSpPr txBox="1">
            <a:spLocks noGrp="1"/>
          </p:cNvSpPr>
          <p:nvPr>
            <p:ph type="body" idx="1"/>
          </p:nvPr>
        </p:nvSpPr>
        <p:spPr>
          <a:xfrm>
            <a:off x="311700" y="1152475"/>
            <a:ext cx="6579918"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1100"/>
              <a:buNone/>
            </a:pPr>
            <a:r>
              <a:rPr lang="en-US" altLang="zh-TW" sz="2400" dirty="0">
                <a:solidFill>
                  <a:schemeClr val="dk1"/>
                </a:solidFill>
                <a:latin typeface="Times New Roman"/>
                <a:ea typeface="Times New Roman"/>
                <a:cs typeface="Times New Roman"/>
                <a:sym typeface="Times New Roman"/>
              </a:rPr>
              <a:t>O(|</a:t>
            </a:r>
            <a:r>
              <a:rPr lang="en-US" altLang="zh-TW" sz="2400" i="1" dirty="0">
                <a:solidFill>
                  <a:schemeClr val="dk1"/>
                </a:solidFill>
                <a:latin typeface="Times New Roman"/>
                <a:ea typeface="Times New Roman"/>
                <a:cs typeface="Times New Roman"/>
                <a:sym typeface="Times New Roman"/>
              </a:rPr>
              <a:t>V</a:t>
            </a:r>
            <a:r>
              <a:rPr lang="en-US" altLang="zh-TW" sz="2400" dirty="0">
                <a:solidFill>
                  <a:schemeClr val="dk1"/>
                </a:solidFill>
                <a:latin typeface="Times New Roman"/>
                <a:ea typeface="Times New Roman"/>
                <a:cs typeface="Times New Roman"/>
                <a:sym typeface="Times New Roman"/>
              </a:rPr>
              <a:t>|) + O(|</a:t>
            </a:r>
            <a:r>
              <a:rPr lang="en-US" altLang="zh-TW" sz="2400" i="1" dirty="0">
                <a:solidFill>
                  <a:schemeClr val="dk1"/>
                </a:solidFill>
                <a:latin typeface="Times New Roman"/>
                <a:ea typeface="Times New Roman"/>
                <a:cs typeface="Times New Roman"/>
                <a:sym typeface="Times New Roman"/>
              </a:rPr>
              <a:t>E</a:t>
            </a:r>
            <a:r>
              <a:rPr lang="en-US" altLang="zh-TW" sz="2400" dirty="0">
                <a:solidFill>
                  <a:schemeClr val="dk1"/>
                </a:solidFill>
                <a:latin typeface="Times New Roman"/>
                <a:ea typeface="Times New Roman"/>
                <a:cs typeface="Times New Roman"/>
                <a:sym typeface="Times New Roman"/>
              </a:rPr>
              <a:t>|) + O(|</a:t>
            </a:r>
            <a:r>
              <a:rPr lang="en-US" altLang="zh-TW" sz="2400" i="1" dirty="0" err="1">
                <a:solidFill>
                  <a:schemeClr val="dk1"/>
                </a:solidFill>
                <a:latin typeface="Times New Roman"/>
                <a:ea typeface="Times New Roman"/>
                <a:cs typeface="Times New Roman"/>
                <a:sym typeface="Times New Roman"/>
              </a:rPr>
              <a:t>E′</a:t>
            </a:r>
            <a:r>
              <a:rPr lang="en-US" altLang="zh-TW" sz="2400" dirty="0" err="1">
                <a:solidFill>
                  <a:schemeClr val="dk1"/>
                </a:solidFill>
                <a:latin typeface="Times New Roman"/>
                <a:ea typeface="Times New Roman"/>
                <a:cs typeface="Times New Roman"/>
                <a:sym typeface="Times New Roman"/>
              </a:rPr>
              <a:t>|log</a:t>
            </a:r>
            <a:r>
              <a:rPr lang="en-US" altLang="zh-TW" sz="2400" dirty="0">
                <a:solidFill>
                  <a:schemeClr val="dk1"/>
                </a:solidFill>
                <a:latin typeface="Times New Roman"/>
                <a:ea typeface="Times New Roman"/>
                <a:cs typeface="Times New Roman"/>
                <a:sym typeface="Times New Roman"/>
              </a:rPr>
              <a:t> |</a:t>
            </a:r>
            <a:r>
              <a:rPr lang="en-US" altLang="zh-TW" sz="2400" i="1" dirty="0">
                <a:solidFill>
                  <a:schemeClr val="dk1"/>
                </a:solidFill>
                <a:latin typeface="Times New Roman"/>
                <a:ea typeface="Times New Roman"/>
                <a:cs typeface="Times New Roman"/>
                <a:sym typeface="Times New Roman"/>
              </a:rPr>
              <a:t>E′</a:t>
            </a:r>
            <a:r>
              <a:rPr lang="en-US" altLang="zh-TW" sz="2400" dirty="0">
                <a:solidFill>
                  <a:schemeClr val="dk1"/>
                </a:solidFill>
                <a:latin typeface="Times New Roman"/>
                <a:ea typeface="Times New Roman"/>
                <a:cs typeface="Times New Roman"/>
                <a:sym typeface="Times New Roman"/>
              </a:rPr>
              <a:t>|)</a:t>
            </a:r>
          </a:p>
          <a:p>
            <a:pPr marL="0" lvl="0" indent="0" algn="l" rtl="0">
              <a:lnSpc>
                <a:spcPct val="115000"/>
              </a:lnSpc>
              <a:spcBef>
                <a:spcPts val="0"/>
              </a:spcBef>
              <a:spcAft>
                <a:spcPts val="1200"/>
              </a:spcAft>
              <a:buSzPts val="1100"/>
              <a:buNone/>
            </a:pPr>
            <a:r>
              <a:rPr lang="en-US" altLang="zh-TW" sz="2400" dirty="0">
                <a:solidFill>
                  <a:schemeClr val="dk1"/>
                </a:solidFill>
                <a:latin typeface="Times New Roman"/>
                <a:ea typeface="Times New Roman"/>
                <a:cs typeface="Times New Roman"/>
                <a:sym typeface="Times New Roman"/>
              </a:rPr>
              <a:t> ≈ O(|</a:t>
            </a:r>
            <a:r>
              <a:rPr lang="en-US" altLang="zh-TW" sz="2400" i="1" dirty="0" err="1">
                <a:solidFill>
                  <a:schemeClr val="dk1"/>
                </a:solidFill>
                <a:latin typeface="Times New Roman"/>
                <a:ea typeface="Times New Roman"/>
                <a:cs typeface="Times New Roman"/>
                <a:sym typeface="Times New Roman"/>
              </a:rPr>
              <a:t>E</a:t>
            </a:r>
            <a:r>
              <a:rPr lang="en-US" altLang="zh-TW" sz="2400" dirty="0" err="1">
                <a:solidFill>
                  <a:schemeClr val="dk1"/>
                </a:solidFill>
                <a:latin typeface="Times New Roman"/>
                <a:ea typeface="Times New Roman"/>
                <a:cs typeface="Times New Roman"/>
                <a:sym typeface="Times New Roman"/>
              </a:rPr>
              <a:t>|log|</a:t>
            </a:r>
            <a:r>
              <a:rPr lang="en-US" altLang="zh-TW" sz="2400" i="1" dirty="0" err="1">
                <a:solidFill>
                  <a:schemeClr val="dk1"/>
                </a:solidFill>
                <a:latin typeface="Times New Roman"/>
                <a:ea typeface="Times New Roman"/>
                <a:cs typeface="Times New Roman"/>
                <a:sym typeface="Times New Roman"/>
              </a:rPr>
              <a:t>E</a:t>
            </a:r>
            <a:r>
              <a:rPr lang="en-US" altLang="zh-TW" sz="2400" dirty="0">
                <a:solidFill>
                  <a:schemeClr val="dk1"/>
                </a:solidFill>
                <a:latin typeface="Times New Roman"/>
                <a:ea typeface="Times New Roman"/>
                <a:cs typeface="Times New Roman"/>
                <a:sym typeface="Times New Roman"/>
              </a:rPr>
              <a:t>|) </a:t>
            </a:r>
          </a:p>
        </p:txBody>
      </p:sp>
      <p:pic>
        <p:nvPicPr>
          <p:cNvPr id="5" name="圖片 4">
            <a:extLst>
              <a:ext uri="{FF2B5EF4-FFF2-40B4-BE49-F238E27FC236}">
                <a16:creationId xmlns:a16="http://schemas.microsoft.com/office/drawing/2014/main" id="{87531A2E-5A60-4A67-9B6E-8BC664AC62B9}"/>
              </a:ext>
            </a:extLst>
          </p:cNvPr>
          <p:cNvPicPr>
            <a:picLocks noChangeAspect="1"/>
          </p:cNvPicPr>
          <p:nvPr/>
        </p:nvPicPr>
        <p:blipFill>
          <a:blip r:embed="rId3"/>
          <a:stretch>
            <a:fillRect/>
          </a:stretch>
        </p:blipFill>
        <p:spPr>
          <a:xfrm>
            <a:off x="4758960" y="0"/>
            <a:ext cx="3078856" cy="5143500"/>
          </a:xfrm>
          <a:prstGeom prst="rect">
            <a:avLst/>
          </a:prstGeom>
        </p:spPr>
      </p:pic>
    </p:spTree>
    <p:extLst>
      <p:ext uri="{BB962C8B-B14F-4D97-AF65-F5344CB8AC3E}">
        <p14:creationId xmlns:p14="http://schemas.microsoft.com/office/powerpoint/2010/main" val="26545330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9" name="Google Shape;62;p14">
            <a:extLst>
              <a:ext uri="{FF2B5EF4-FFF2-40B4-BE49-F238E27FC236}">
                <a16:creationId xmlns:a16="http://schemas.microsoft.com/office/drawing/2014/main" id="{1A798E75-0755-4237-87C5-134E68013078}"/>
              </a:ext>
            </a:extLst>
          </p:cNvPr>
          <p:cNvSpPr txBox="1">
            <a:spLocks/>
          </p:cNvSpPr>
          <p:nvPr/>
        </p:nvSpPr>
        <p:spPr>
          <a:xfrm>
            <a:off x="311700" y="1152952"/>
            <a:ext cx="7870834" cy="3416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spcAft>
                <a:spcPts val="1200"/>
              </a:spcAft>
              <a:buSzPts val="1100"/>
              <a:buFont typeface="Arial"/>
              <a:buNone/>
            </a:pPr>
            <a:r>
              <a:rPr lang="en-US" altLang="zh-TW" sz="2400" dirty="0">
                <a:solidFill>
                  <a:schemeClr val="dk1"/>
                </a:solidFill>
                <a:latin typeface="Times New Roman"/>
                <a:ea typeface="Times New Roman"/>
                <a:cs typeface="Times New Roman"/>
                <a:sym typeface="Times New Roman"/>
              </a:rPr>
              <a:t>Can be improved?</a:t>
            </a:r>
          </a:p>
        </p:txBody>
      </p:sp>
      <p:sp>
        <p:nvSpPr>
          <p:cNvPr id="68" name="Google Shape;68;p1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US" altLang="zh-TW" dirty="0">
                <a:latin typeface="Times New Roman"/>
                <a:ea typeface="Times New Roman"/>
                <a:cs typeface="Times New Roman"/>
                <a:sym typeface="Times New Roman"/>
              </a:rPr>
              <a:t>Time Complexity</a:t>
            </a:r>
            <a:endParaRPr lang="en-US" dirty="0">
              <a:latin typeface="Times New Roman"/>
              <a:ea typeface="Times New Roman"/>
              <a:cs typeface="Times New Roman"/>
              <a:sym typeface="Times New Roman"/>
            </a:endParaRPr>
          </a:p>
        </p:txBody>
      </p:sp>
      <p:sp>
        <p:nvSpPr>
          <p:cNvPr id="70" name="Google Shape;7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8</a:t>
            </a:fld>
            <a:endParaRPr/>
          </a:p>
        </p:txBody>
      </p:sp>
      <p:sp>
        <p:nvSpPr>
          <p:cNvPr id="4" name="Google Shape;62;p14">
            <a:extLst>
              <a:ext uri="{FF2B5EF4-FFF2-40B4-BE49-F238E27FC236}">
                <a16:creationId xmlns:a16="http://schemas.microsoft.com/office/drawing/2014/main" id="{EE2395B2-7711-457E-ABAA-4CC68E3F71F2}"/>
              </a:ext>
            </a:extLst>
          </p:cNvPr>
          <p:cNvSpPr txBox="1">
            <a:spLocks noGrp="1"/>
          </p:cNvSpPr>
          <p:nvPr>
            <p:ph type="body" idx="1"/>
          </p:nvPr>
        </p:nvSpPr>
        <p:spPr>
          <a:xfrm>
            <a:off x="311700" y="1152475"/>
            <a:ext cx="7870833" cy="3416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200"/>
              </a:spcAft>
              <a:buSzPts val="1100"/>
              <a:buNone/>
            </a:pPr>
            <a:endParaRPr lang="en-US" altLang="zh-TW" sz="2400"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1200"/>
              </a:spcAft>
              <a:buSzPts val="1100"/>
              <a:buNone/>
            </a:pPr>
            <a:endParaRPr lang="en-US" altLang="zh-TW" sz="2400" dirty="0">
              <a:solidFill>
                <a:schemeClr val="dk1"/>
              </a:solidFill>
              <a:latin typeface="Times New Roman"/>
              <a:ea typeface="Times New Roman"/>
              <a:cs typeface="Times New Roman"/>
              <a:sym typeface="Times New Roman"/>
            </a:endParaRPr>
          </a:p>
          <a:p>
            <a:pPr marL="0" lvl="0" indent="0" algn="l" rtl="0">
              <a:lnSpc>
                <a:spcPct val="115000"/>
              </a:lnSpc>
              <a:spcBef>
                <a:spcPts val="0"/>
              </a:spcBef>
              <a:spcAft>
                <a:spcPts val="1200"/>
              </a:spcAft>
              <a:buSzPts val="1100"/>
              <a:buNone/>
            </a:pPr>
            <a:r>
              <a:rPr lang="en-US" altLang="zh-TW" sz="2400" dirty="0">
                <a:solidFill>
                  <a:schemeClr val="dk1"/>
                </a:solidFill>
                <a:latin typeface="Times New Roman"/>
                <a:ea typeface="Times New Roman"/>
                <a:cs typeface="Times New Roman"/>
                <a:sym typeface="Times New Roman"/>
              </a:rPr>
              <a:t>Traversing each node, we select the nearest vertex from it using its node weight. We obtained subsets of the graph where each node is connected to its nearest vertex i.e. connected to other node with the minimum edge weight (Line 14 – 16).</a:t>
            </a:r>
          </a:p>
        </p:txBody>
      </p:sp>
      <p:pic>
        <p:nvPicPr>
          <p:cNvPr id="7" name="圖片 6">
            <a:extLst>
              <a:ext uri="{FF2B5EF4-FFF2-40B4-BE49-F238E27FC236}">
                <a16:creationId xmlns:a16="http://schemas.microsoft.com/office/drawing/2014/main" id="{D6F9E86F-E972-48CD-BE86-72553C6264D2}"/>
              </a:ext>
            </a:extLst>
          </p:cNvPr>
          <p:cNvPicPr>
            <a:picLocks noChangeAspect="1"/>
          </p:cNvPicPr>
          <p:nvPr/>
        </p:nvPicPr>
        <p:blipFill>
          <a:blip r:embed="rId3"/>
          <a:stretch>
            <a:fillRect/>
          </a:stretch>
        </p:blipFill>
        <p:spPr>
          <a:xfrm>
            <a:off x="3225819" y="1151998"/>
            <a:ext cx="5606480" cy="1027082"/>
          </a:xfrm>
          <a:prstGeom prst="rect">
            <a:avLst/>
          </a:prstGeom>
        </p:spPr>
      </p:pic>
    </p:spTree>
    <p:extLst>
      <p:ext uri="{BB962C8B-B14F-4D97-AF65-F5344CB8AC3E}">
        <p14:creationId xmlns:p14="http://schemas.microsoft.com/office/powerpoint/2010/main" val="1819759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0"/>
          <p:cNvSpPr txBox="1">
            <a:spLocks noGrp="1"/>
          </p:cNvSpPr>
          <p:nvPr>
            <p:ph type="title"/>
          </p:nvPr>
        </p:nvSpPr>
        <p:spPr>
          <a:xfrm>
            <a:off x="0" y="1754841"/>
            <a:ext cx="9144000" cy="1902759"/>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ct val="111111"/>
              <a:buNone/>
            </a:pPr>
            <a:r>
              <a:rPr lang="en-US" sz="4800" dirty="0">
                <a:latin typeface="Times New Roman"/>
                <a:ea typeface="Times New Roman"/>
                <a:cs typeface="Times New Roman"/>
                <a:sym typeface="Times New Roman"/>
              </a:rPr>
              <a:t>Thanks</a:t>
            </a:r>
            <a:endParaRPr dirty="0">
              <a:latin typeface="Times New Roman"/>
              <a:ea typeface="Times New Roman"/>
              <a:cs typeface="Times New Roman"/>
              <a:sym typeface="Times New Roman"/>
            </a:endParaRPr>
          </a:p>
        </p:txBody>
      </p:sp>
      <p:sp>
        <p:nvSpPr>
          <p:cNvPr id="111" name="Google Shape;111;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ltLang="zh-TW"/>
              <a:t>9</a:t>
            </a:fld>
            <a:endParaRPr/>
          </a:p>
        </p:txBody>
      </p:sp>
    </p:spTree>
    <p:extLst>
      <p:ext uri="{BB962C8B-B14F-4D97-AF65-F5344CB8AC3E}">
        <p14:creationId xmlns:p14="http://schemas.microsoft.com/office/powerpoint/2010/main" val="2146282154"/>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1587</TotalTime>
  <Words>331</Words>
  <Application>Microsoft Office PowerPoint</Application>
  <PresentationFormat>如螢幕大小 (16:9)</PresentationFormat>
  <Paragraphs>32</Paragraphs>
  <Slides>9</Slides>
  <Notes>9</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9</vt:i4>
      </vt:variant>
    </vt:vector>
  </HeadingPairs>
  <TitlesOfParts>
    <vt:vector size="13" baseType="lpstr">
      <vt:lpstr>Arial</vt:lpstr>
      <vt:lpstr>Tahoma</vt:lpstr>
      <vt:lpstr>Times New Roman</vt:lpstr>
      <vt:lpstr>Simple Light</vt:lpstr>
      <vt:lpstr>A New Algorithmic Approach to Finding Minimum Spanning Tree</vt:lpstr>
      <vt:lpstr>Abstract</vt:lpstr>
      <vt:lpstr>Abstract</vt:lpstr>
      <vt:lpstr>Minimum Spanning Tree (MST)</vt:lpstr>
      <vt:lpstr>PowerPoint 簡報</vt:lpstr>
      <vt:lpstr>PowerPoint 簡報</vt:lpstr>
      <vt:lpstr>Time Complexity</vt:lpstr>
      <vt:lpstr>Time Complexity</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Order-preserving pattern matching with k mismatches</dc:title>
  <cp:lastModifiedBy>鑫昌 俞</cp:lastModifiedBy>
  <cp:revision>70</cp:revision>
  <dcterms:modified xsi:type="dcterms:W3CDTF">2024-01-14T14:34:14Z</dcterms:modified>
</cp:coreProperties>
</file>