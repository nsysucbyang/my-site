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8"/>
  </p:notesMasterIdLst>
  <p:sldIdLst>
    <p:sldId id="256" r:id="rId2"/>
    <p:sldId id="265" r:id="rId3"/>
    <p:sldId id="283" r:id="rId4"/>
    <p:sldId id="332" r:id="rId5"/>
    <p:sldId id="321" r:id="rId6"/>
    <p:sldId id="322" r:id="rId7"/>
    <p:sldId id="323" r:id="rId8"/>
    <p:sldId id="324" r:id="rId9"/>
    <p:sldId id="325" r:id="rId10"/>
    <p:sldId id="326" r:id="rId11"/>
    <p:sldId id="330" r:id="rId12"/>
    <p:sldId id="331" r:id="rId13"/>
    <p:sldId id="333" r:id="rId14"/>
    <p:sldId id="334" r:id="rId15"/>
    <p:sldId id="335" r:id="rId16"/>
    <p:sldId id="286"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78" autoAdjust="0"/>
    <p:restoredTop sz="95728"/>
  </p:normalViewPr>
  <p:slideViewPr>
    <p:cSldViewPr snapToGrid="0" snapToObjects="1">
      <p:cViewPr varScale="1">
        <p:scale>
          <a:sx n="61" d="100"/>
          <a:sy n="61" d="100"/>
        </p:scale>
        <p:origin x="98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2024/1/30</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克羅埃西亞</a:t>
            </a:r>
            <a:r>
              <a:rPr lang="en-US" altLang="zh-TW" dirty="0"/>
              <a:t>,</a:t>
            </a:r>
            <a:r>
              <a:rPr lang="zh-TW" altLang="en-US" b="0" i="0" dirty="0">
                <a:solidFill>
                  <a:srgbClr val="BDC1C6"/>
                </a:solidFill>
                <a:effectLst/>
                <a:latin typeface="arial" panose="020B0604020202020204" pitchFamily="34" charset="0"/>
              </a:rPr>
              <a:t>波爾</a:t>
            </a:r>
            <a:r>
              <a:rPr lang="en-US" altLang="zh-TW" b="0" i="0" dirty="0">
                <a:solidFill>
                  <a:srgbClr val="BDC1C6"/>
                </a:solidFill>
                <a:effectLst/>
                <a:latin typeface="arial" panose="020B0604020202020204" pitchFamily="34" charset="0"/>
              </a:rPr>
              <a:t>,</a:t>
            </a:r>
            <a:r>
              <a:rPr lang="zh-TW" altLang="en-US" b="0" i="0" dirty="0">
                <a:solidFill>
                  <a:srgbClr val="E8EAED"/>
                </a:solidFill>
                <a:effectLst/>
                <a:latin typeface="Google Sans"/>
              </a:rPr>
              <a:t>斯普利特</a:t>
            </a:r>
            <a:endParaRPr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a:t>
            </a:fld>
            <a:endParaRPr kumimoji="1" lang="zh-TW" altLang="en-US"/>
          </a:p>
        </p:txBody>
      </p:sp>
    </p:spTree>
    <p:extLst>
      <p:ext uri="{BB962C8B-B14F-4D97-AF65-F5344CB8AC3E}">
        <p14:creationId xmlns:p14="http://schemas.microsoft.com/office/powerpoint/2010/main" val="3334588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3</a:t>
            </a:fld>
            <a:endParaRPr kumimoji="1" lang="zh-TW" altLang="en-US"/>
          </a:p>
        </p:txBody>
      </p:sp>
    </p:spTree>
    <p:extLst>
      <p:ext uri="{BB962C8B-B14F-4D97-AF65-F5344CB8AC3E}">
        <p14:creationId xmlns:p14="http://schemas.microsoft.com/office/powerpoint/2010/main" val="2582932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4</a:t>
            </a:fld>
            <a:endParaRPr kumimoji="1" lang="zh-TW" altLang="en-US"/>
          </a:p>
        </p:txBody>
      </p:sp>
    </p:spTree>
    <p:extLst>
      <p:ext uri="{BB962C8B-B14F-4D97-AF65-F5344CB8AC3E}">
        <p14:creationId xmlns:p14="http://schemas.microsoft.com/office/powerpoint/2010/main" val="3202843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5</a:t>
            </a:fld>
            <a:endParaRPr kumimoji="1" lang="zh-TW" altLang="en-US"/>
          </a:p>
        </p:txBody>
      </p:sp>
    </p:spTree>
    <p:extLst>
      <p:ext uri="{BB962C8B-B14F-4D97-AF65-F5344CB8AC3E}">
        <p14:creationId xmlns:p14="http://schemas.microsoft.com/office/powerpoint/2010/main" val="1471456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6</a:t>
            </a:fld>
            <a:endParaRPr kumimoji="1" lang="zh-TW" altLang="en-US"/>
          </a:p>
        </p:txBody>
      </p:sp>
    </p:spTree>
    <p:extLst>
      <p:ext uri="{BB962C8B-B14F-4D97-AF65-F5344CB8AC3E}">
        <p14:creationId xmlns:p14="http://schemas.microsoft.com/office/powerpoint/2010/main" val="546996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7</a:t>
            </a:fld>
            <a:endParaRPr kumimoji="1" lang="zh-TW" altLang="en-US"/>
          </a:p>
        </p:txBody>
      </p:sp>
    </p:spTree>
    <p:extLst>
      <p:ext uri="{BB962C8B-B14F-4D97-AF65-F5344CB8AC3E}">
        <p14:creationId xmlns:p14="http://schemas.microsoft.com/office/powerpoint/2010/main" val="2147418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8</a:t>
            </a:fld>
            <a:endParaRPr kumimoji="1" lang="zh-TW" altLang="en-US"/>
          </a:p>
        </p:txBody>
      </p:sp>
    </p:spTree>
    <p:extLst>
      <p:ext uri="{BB962C8B-B14F-4D97-AF65-F5344CB8AC3E}">
        <p14:creationId xmlns:p14="http://schemas.microsoft.com/office/powerpoint/2010/main" val="2444202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9</a:t>
            </a:fld>
            <a:endParaRPr kumimoji="1" lang="zh-TW" altLang="en-US"/>
          </a:p>
        </p:txBody>
      </p:sp>
    </p:spTree>
    <p:extLst>
      <p:ext uri="{BB962C8B-B14F-4D97-AF65-F5344CB8AC3E}">
        <p14:creationId xmlns:p14="http://schemas.microsoft.com/office/powerpoint/2010/main" val="1823762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10</a:t>
            </a:fld>
            <a:endParaRPr kumimoji="1" lang="zh-TW" altLang="en-US"/>
          </a:p>
        </p:txBody>
      </p:sp>
    </p:spTree>
    <p:extLst>
      <p:ext uri="{BB962C8B-B14F-4D97-AF65-F5344CB8AC3E}">
        <p14:creationId xmlns:p14="http://schemas.microsoft.com/office/powerpoint/2010/main" val="649140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11</a:t>
            </a:fld>
            <a:endParaRPr kumimoji="1" lang="zh-TW" altLang="en-US"/>
          </a:p>
        </p:txBody>
      </p:sp>
    </p:spTree>
    <p:extLst>
      <p:ext uri="{BB962C8B-B14F-4D97-AF65-F5344CB8AC3E}">
        <p14:creationId xmlns:p14="http://schemas.microsoft.com/office/powerpoint/2010/main" val="987095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12</a:t>
            </a:fld>
            <a:endParaRPr kumimoji="1" lang="zh-TW" altLang="en-US"/>
          </a:p>
        </p:txBody>
      </p:sp>
    </p:spTree>
    <p:extLst>
      <p:ext uri="{BB962C8B-B14F-4D97-AF65-F5344CB8AC3E}">
        <p14:creationId xmlns:p14="http://schemas.microsoft.com/office/powerpoint/2010/main" val="1864826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13</a:t>
            </a:fld>
            <a:endParaRPr kumimoji="1" lang="zh-TW" altLang="en-US"/>
          </a:p>
        </p:txBody>
      </p:sp>
    </p:spTree>
    <p:extLst>
      <p:ext uri="{BB962C8B-B14F-4D97-AF65-F5344CB8AC3E}">
        <p14:creationId xmlns:p14="http://schemas.microsoft.com/office/powerpoint/2010/main" val="306583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14</a:t>
            </a:fld>
            <a:endParaRPr kumimoji="1" lang="zh-TW" altLang="en-US"/>
          </a:p>
        </p:txBody>
      </p:sp>
    </p:spTree>
    <p:extLst>
      <p:ext uri="{BB962C8B-B14F-4D97-AF65-F5344CB8AC3E}">
        <p14:creationId xmlns:p14="http://schemas.microsoft.com/office/powerpoint/2010/main" val="19670604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15</a:t>
            </a:fld>
            <a:endParaRPr kumimoji="1" lang="zh-TW" altLang="en-US"/>
          </a:p>
        </p:txBody>
      </p:sp>
    </p:spTree>
    <p:extLst>
      <p:ext uri="{BB962C8B-B14F-4D97-AF65-F5344CB8AC3E}">
        <p14:creationId xmlns:p14="http://schemas.microsoft.com/office/powerpoint/2010/main" val="2600254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16</a:t>
            </a:fld>
            <a:endParaRPr kumimoji="1" lang="zh-TW" altLang="en-US"/>
          </a:p>
        </p:txBody>
      </p:sp>
    </p:spTree>
    <p:extLst>
      <p:ext uri="{BB962C8B-B14F-4D97-AF65-F5344CB8AC3E}">
        <p14:creationId xmlns:p14="http://schemas.microsoft.com/office/powerpoint/2010/main" val="3684017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2024/1/30</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2024/1/30</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2024/1/30</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2024/1/30</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2024/1/30</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2024/1/30</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2024/1/30</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2024/1/30</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2024/1/30</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2024/1/30</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2024/1/30</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2024/1/30</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p:txBody>
          <a:bodyPr anchor="ctr">
            <a:normAutofit/>
          </a:bodyPr>
          <a:lstStyle/>
          <a:p>
            <a:r>
              <a:rPr kumimoji="1" lang="en-US" altLang="zh-TW" sz="4800" dirty="0">
                <a:latin typeface="Times New Roman" panose="02020603050405020304" pitchFamily="18" charset="0"/>
                <a:cs typeface="Times New Roman" panose="02020603050405020304" pitchFamily="18" charset="0"/>
              </a:rPr>
              <a:t>String pattern searching algorithm based on characters indices</a:t>
            </a:r>
            <a:endParaRPr kumimoji="1" lang="zh-TW" altLang="en-US" sz="48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p:txBody>
          <a:bodyPr>
            <a:noAutofit/>
          </a:bodyPr>
          <a:lstStyle/>
          <a:p>
            <a:pPr>
              <a:lnSpc>
                <a:spcPct val="100000"/>
              </a:lnSpc>
            </a:pPr>
            <a:r>
              <a:rPr lang="en-US" altLang="zh-TW" dirty="0">
                <a:latin typeface="Times New Roman" panose="02020603050405020304" pitchFamily="18" charset="0"/>
                <a:cs typeface="Times New Roman" panose="02020603050405020304" pitchFamily="18" charset="0"/>
              </a:rPr>
              <a:t>Ivan </a:t>
            </a:r>
            <a:r>
              <a:rPr lang="en-US" altLang="zh-TW" dirty="0" err="1">
                <a:latin typeface="Times New Roman" panose="02020603050405020304" pitchFamily="18" charset="0"/>
                <a:cs typeface="Times New Roman" panose="02020603050405020304" pitchFamily="18" charset="0"/>
              </a:rPr>
              <a:t>Markić</a:t>
            </a:r>
            <a:r>
              <a:rPr lang="en-US" altLang="zh-TW" dirty="0">
                <a:latin typeface="Times New Roman" panose="02020603050405020304" pitchFamily="18" charset="0"/>
                <a:cs typeface="Times New Roman" panose="02020603050405020304" pitchFamily="18" charset="0"/>
              </a:rPr>
              <a:t>, Maja </a:t>
            </a:r>
            <a:r>
              <a:rPr lang="en-US" altLang="zh-TW" dirty="0" err="1">
                <a:latin typeface="Times New Roman" panose="02020603050405020304" pitchFamily="18" charset="0"/>
                <a:cs typeface="Times New Roman" panose="02020603050405020304" pitchFamily="18" charset="0"/>
              </a:rPr>
              <a:t>Stula</a:t>
            </a:r>
            <a:r>
              <a:rPr lang="en-US" altLang="zh-TW" dirty="0">
                <a:latin typeface="Times New Roman" panose="02020603050405020304" pitchFamily="18" charset="0"/>
                <a:cs typeface="Times New Roman" panose="02020603050405020304" pitchFamily="18" charset="0"/>
              </a:rPr>
              <a:t> and </a:t>
            </a:r>
            <a:r>
              <a:rPr lang="en-US" altLang="zh-TW" dirty="0" err="1">
                <a:latin typeface="Times New Roman" panose="02020603050405020304" pitchFamily="18" charset="0"/>
                <a:cs typeface="Times New Roman" panose="02020603050405020304" pitchFamily="18" charset="0"/>
              </a:rPr>
              <a:t>Marija</a:t>
            </a:r>
            <a:r>
              <a:rPr lang="en-US" altLang="zh-TW" dirty="0">
                <a:latin typeface="Times New Roman" panose="02020603050405020304" pitchFamily="18" charset="0"/>
                <a:cs typeface="Times New Roman" panose="02020603050405020304" pitchFamily="18" charset="0"/>
              </a:rPr>
              <a:t> Zorić</a:t>
            </a:r>
          </a:p>
          <a:p>
            <a:pPr>
              <a:lnSpc>
                <a:spcPct val="100000"/>
              </a:lnSpc>
            </a:pPr>
            <a:r>
              <a:rPr lang="en-US" altLang="zh-TW" dirty="0">
                <a:latin typeface="Times New Roman" panose="02020603050405020304" pitchFamily="18" charset="0"/>
                <a:cs typeface="Times New Roman" panose="02020603050405020304" pitchFamily="18" charset="0"/>
              </a:rPr>
              <a:t>2019 4th International Conference on Smart and Sustainable Technologies (</a:t>
            </a:r>
            <a:r>
              <a:rPr lang="en-US" altLang="zh-TW" dirty="0" err="1">
                <a:latin typeface="Times New Roman" panose="02020603050405020304" pitchFamily="18" charset="0"/>
                <a:cs typeface="Times New Roman" panose="02020603050405020304" pitchFamily="18" charset="0"/>
              </a:rPr>
              <a:t>SpliTech</a:t>
            </a:r>
            <a:r>
              <a:rPr lang="en-US" altLang="zh-TW" dirty="0">
                <a:latin typeface="Times New Roman" panose="02020603050405020304" pitchFamily="18" charset="0"/>
                <a:cs typeface="Times New Roman" panose="02020603050405020304" pitchFamily="18" charset="0"/>
              </a:rPr>
              <a:t>), Bol/Split, Croatia, June 18-21, 2019</a:t>
            </a: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573012" cy="646331"/>
          </a:xfrm>
          <a:prstGeom prst="rect">
            <a:avLst/>
          </a:prstGeom>
          <a:noFill/>
        </p:spPr>
        <p:txBody>
          <a:bodyPr wrap="none" rtlCol="0">
            <a:spAutoFit/>
          </a:bodyPr>
          <a:lstStyle/>
          <a:p>
            <a:r>
              <a:rPr kumimoji="1" lang="en-US" altLang="zh-TW" dirty="0">
                <a:latin typeface="Times" pitchFamily="2" charset="0"/>
              </a:rPr>
              <a:t>Presenter: Wen-Yu Chang</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Jan.</a:t>
            </a:r>
            <a:r>
              <a:rPr kumimoji="1" lang="zh-TW" altLang="en-US" dirty="0">
                <a:latin typeface="Times" pitchFamily="2" charset="0"/>
              </a:rPr>
              <a:t> </a:t>
            </a:r>
            <a:r>
              <a:rPr kumimoji="1" lang="en-US" altLang="zh-TW" dirty="0">
                <a:latin typeface="Times" pitchFamily="2" charset="0"/>
              </a:rPr>
              <a:t>30,</a:t>
            </a:r>
            <a:r>
              <a:rPr kumimoji="1" lang="zh-TW" altLang="en-US" dirty="0">
                <a:latin typeface="Times" pitchFamily="2" charset="0"/>
              </a:rPr>
              <a:t> </a:t>
            </a:r>
            <a:r>
              <a:rPr kumimoji="1" lang="en-US" altLang="zh-TW" dirty="0">
                <a:latin typeface="Times" pitchFamily="2" charset="0"/>
              </a:rPr>
              <a:t>2024</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690688"/>
            <a:ext cx="10515600" cy="4351338"/>
          </a:xfrm>
        </p:spPr>
        <p:txBody>
          <a:bodyPr>
            <a:noAutofit/>
          </a:bodyPr>
          <a:lstStyle/>
          <a:p>
            <a:pPr marL="0" indent="0" algn="just">
              <a:lnSpc>
                <a:spcPts val="3500"/>
              </a:lnSpc>
              <a:buNone/>
            </a:pPr>
            <a:r>
              <a:rPr lang="en-US" altLang="zh-TW" sz="2400" dirty="0">
                <a:latin typeface="Times" pitchFamily="2" charset="0"/>
              </a:rPr>
              <a:t>In this article we shortly present new string pattern matching algorithm. The algorithm uses novel technique for skipping unnecessary comparisons in pattern searching phase. The pattern searching is applied in almost all branches of science such as bioinformatics, information security, text mining, etc. In the context of continuous increase of data, efficient algorithms are necessary to ensure that one can find a pattern in a sequence in a fast and accurate manner. Pattern searching solves the problem of finding a pattern exhibiting certain properties within a given sequence of symbols. Concept of the new algorithm presented in this article is based on a character index in a pattern, aiming at, but not limited to patterns in DNA sequences.</a:t>
            </a:r>
            <a:endParaRPr lang="en" altLang="zh-TW" sz="2400" dirty="0">
              <a:latin typeface="Times" pitchFamily="2" charset="0"/>
            </a:endParaRP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Algorithm Based on Characters Indices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3670D7EF-220E-4141-907E-4326F7D19DF2}"/>
                  </a:ext>
                </a:extLst>
              </p:cNvPr>
              <p:cNvSpPr txBox="1"/>
              <p:nvPr/>
            </p:nvSpPr>
            <p:spPr>
              <a:xfrm>
                <a:off x="838199" y="1672662"/>
                <a:ext cx="10515601" cy="334995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Using even and odd positions in combination with information gathered from its preprocessing.</a:t>
                </a:r>
              </a:p>
              <a:p>
                <a:pPr marL="342900" indent="-342900">
                  <a:lnSpc>
                    <a:spcPct val="150000"/>
                  </a:lnSpc>
                  <a:buFont typeface="Arial" panose="020B0604020202020204" pitchFamily="34" charset="0"/>
                  <a:buChar char="•"/>
                </a:pPr>
                <a:endParaRPr lang="en-US" altLang="zh-TW" sz="2400" dirty="0">
                  <a:latin typeface="Times" panose="02020603050405020304" pitchFamily="18" charset="0"/>
                  <a:cs typeface="Times" panose="02020603050405020304" pitchFamily="18" charset="0"/>
                </a:endParaRPr>
              </a:p>
              <a:p>
                <a:pPr marL="342900" indent="-342900">
                  <a:lnSpc>
                    <a:spcPct val="150000"/>
                  </a:lnSpc>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T = GCATCGCAGAGAGTATACAGTACG</a:t>
                </a:r>
              </a:p>
              <a:p>
                <a:pPr marL="342900" indent="-342900">
                  <a:lnSpc>
                    <a:spcPct val="150000"/>
                  </a:lnSpc>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P = GCAGAGAG</a:t>
                </a:r>
              </a:p>
              <a:p>
                <a:pPr marL="342900" indent="-342900">
                  <a:lnSpc>
                    <a:spcPct val="150000"/>
                  </a:lnSpc>
                  <a:buFont typeface="Arial" panose="020B0604020202020204" pitchFamily="34" charset="0"/>
                  <a:buChar char="•"/>
                </a:pPr>
                <a14:m>
                  <m:oMath xmlns:m="http://schemas.openxmlformats.org/officeDocument/2006/math">
                    <m:r>
                      <a:rPr lang="el-GR" altLang="zh-TW" sz="2400" i="1">
                        <a:latin typeface="Cambria Math" panose="02040503050406030204" pitchFamily="18" charset="0"/>
                        <a:cs typeface="Times" panose="02020603050405020304" pitchFamily="18" charset="0"/>
                      </a:rPr>
                      <m:t>𝜎</m:t>
                    </m:r>
                    <m:r>
                      <a:rPr lang="el-GR" altLang="zh-TW" sz="2400" i="1">
                        <a:latin typeface="Cambria Math" panose="02040503050406030204" pitchFamily="18" charset="0"/>
                        <a:cs typeface="Times" panose="02020603050405020304" pitchFamily="18" charset="0"/>
                      </a:rPr>
                      <m:t>=4</m:t>
                    </m:r>
                  </m:oMath>
                </a14:m>
                <a:endParaRPr lang="en-US" altLang="zh-TW" sz="2400" dirty="0">
                  <a:latin typeface="Times" panose="02020603050405020304" pitchFamily="18" charset="0"/>
                  <a:cs typeface="Times" panose="02020603050405020304" pitchFamily="18" charset="0"/>
                </a:endParaRPr>
              </a:p>
            </p:txBody>
          </p:sp>
        </mc:Choice>
        <mc:Fallback xmlns="">
          <p:sp>
            <p:nvSpPr>
              <p:cNvPr id="6" name="文字方塊 5">
                <a:extLst>
                  <a:ext uri="{FF2B5EF4-FFF2-40B4-BE49-F238E27FC236}">
                    <a16:creationId xmlns:a16="http://schemas.microsoft.com/office/drawing/2014/main" id="{3670D7EF-220E-4141-907E-4326F7D19DF2}"/>
                  </a:ext>
                </a:extLst>
              </p:cNvPr>
              <p:cNvSpPr txBox="1">
                <a:spLocks noRot="1" noChangeAspect="1" noMove="1" noResize="1" noEditPoints="1" noAdjustHandles="1" noChangeArrowheads="1" noChangeShapeType="1" noTextEdit="1"/>
              </p:cNvSpPr>
              <p:nvPr/>
            </p:nvSpPr>
            <p:spPr>
              <a:xfrm>
                <a:off x="838199" y="1672662"/>
                <a:ext cx="10515601" cy="3349956"/>
              </a:xfrm>
              <a:prstGeom prst="rect">
                <a:avLst/>
              </a:prstGeom>
              <a:blipFill>
                <a:blip r:embed="rId3"/>
                <a:stretch>
                  <a:fillRect l="-753" b="-272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33717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The Pseudocode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dirty="0"/>
          </a:p>
        </p:txBody>
      </p:sp>
      <p:pic>
        <p:nvPicPr>
          <p:cNvPr id="1026" name="Picture 2">
            <a:extLst>
              <a:ext uri="{FF2B5EF4-FFF2-40B4-BE49-F238E27FC236}">
                <a16:creationId xmlns:a16="http://schemas.microsoft.com/office/drawing/2014/main" id="{610E7AEC-E1F9-4052-B9A6-B217828D83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1704" y="182562"/>
            <a:ext cx="4624670" cy="649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95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dirty="0"/>
          </a:p>
        </p:txBody>
      </p:sp>
      <p:pic>
        <p:nvPicPr>
          <p:cNvPr id="31" name="圖片 30">
            <a:extLst>
              <a:ext uri="{FF2B5EF4-FFF2-40B4-BE49-F238E27FC236}">
                <a16:creationId xmlns:a16="http://schemas.microsoft.com/office/drawing/2014/main" id="{E8C0AF1D-6248-4667-9669-66D0CD345EFA}"/>
              </a:ext>
            </a:extLst>
          </p:cNvPr>
          <p:cNvPicPr>
            <a:picLocks noChangeAspect="1"/>
          </p:cNvPicPr>
          <p:nvPr/>
        </p:nvPicPr>
        <p:blipFill rotWithShape="1">
          <a:blip r:embed="rId3"/>
          <a:srcRect r="61925"/>
          <a:stretch/>
        </p:blipFill>
        <p:spPr>
          <a:xfrm>
            <a:off x="138345" y="87321"/>
            <a:ext cx="3443056" cy="3029106"/>
          </a:xfrm>
          <a:prstGeom prst="rect">
            <a:avLst/>
          </a:prstGeom>
        </p:spPr>
      </p:pic>
      <p:graphicFrame>
        <p:nvGraphicFramePr>
          <p:cNvPr id="13" name="表格 13">
            <a:extLst>
              <a:ext uri="{FF2B5EF4-FFF2-40B4-BE49-F238E27FC236}">
                <a16:creationId xmlns:a16="http://schemas.microsoft.com/office/drawing/2014/main" id="{0782E2FE-77D6-4166-8B73-49FD510005E1}"/>
              </a:ext>
            </a:extLst>
          </p:cNvPr>
          <p:cNvGraphicFramePr>
            <a:graphicFrameLocks noGrp="1"/>
          </p:cNvGraphicFramePr>
          <p:nvPr>
            <p:extLst>
              <p:ext uri="{D42A27DB-BD31-4B8C-83A1-F6EECF244321}">
                <p14:modId xmlns:p14="http://schemas.microsoft.com/office/powerpoint/2010/main" val="1714239191"/>
              </p:ext>
            </p:extLst>
          </p:nvPr>
        </p:nvGraphicFramePr>
        <p:xfrm>
          <a:off x="811924" y="3741574"/>
          <a:ext cx="103632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8" name="表格 13">
            <a:extLst>
              <a:ext uri="{FF2B5EF4-FFF2-40B4-BE49-F238E27FC236}">
                <a16:creationId xmlns:a16="http://schemas.microsoft.com/office/drawing/2014/main" id="{618968C8-8906-4BEF-A353-77FC1A4816C8}"/>
              </a:ext>
            </a:extLst>
          </p:cNvPr>
          <p:cNvGraphicFramePr>
            <a:graphicFrameLocks noGrp="1"/>
          </p:cNvGraphicFramePr>
          <p:nvPr>
            <p:extLst>
              <p:ext uri="{D42A27DB-BD31-4B8C-83A1-F6EECF244321}">
                <p14:modId xmlns:p14="http://schemas.microsoft.com/office/powerpoint/2010/main" val="1855116417"/>
              </p:ext>
            </p:extLst>
          </p:nvPr>
        </p:nvGraphicFramePr>
        <p:xfrm>
          <a:off x="811924" y="4444401"/>
          <a:ext cx="34544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sp>
        <p:nvSpPr>
          <p:cNvPr id="30" name="文字方塊 29">
            <a:extLst>
              <a:ext uri="{FF2B5EF4-FFF2-40B4-BE49-F238E27FC236}">
                <a16:creationId xmlns:a16="http://schemas.microsoft.com/office/drawing/2014/main" id="{9B9306C0-0577-40B5-8BAF-4E367A3A22BD}"/>
              </a:ext>
            </a:extLst>
          </p:cNvPr>
          <p:cNvSpPr txBox="1"/>
          <p:nvPr/>
        </p:nvSpPr>
        <p:spPr>
          <a:xfrm>
            <a:off x="4061309" y="-21772"/>
            <a:ext cx="2471058" cy="579967"/>
          </a:xfrm>
          <a:prstGeom prst="rect">
            <a:avLst/>
          </a:prstGeom>
          <a:noFill/>
        </p:spPr>
        <p:txBody>
          <a:bodyPr wrap="square" rtlCol="0">
            <a:spAutoFit/>
          </a:bodyPr>
          <a:lstStyle/>
          <a:p>
            <a:pPr>
              <a:lnSpc>
                <a:spcPct val="150000"/>
              </a:lnSpc>
            </a:pPr>
            <a:r>
              <a:rPr lang="en-US" altLang="zh-TW" sz="2400" dirty="0">
                <a:latin typeface="Times" panose="02020603050405020304" pitchFamily="18" charset="0"/>
                <a:cs typeface="Times" panose="02020603050405020304" pitchFamily="18" charset="0"/>
              </a:rPr>
              <a:t>Last current index:</a:t>
            </a:r>
          </a:p>
        </p:txBody>
      </p:sp>
      <p:graphicFrame>
        <p:nvGraphicFramePr>
          <p:cNvPr id="32" name="表格 13">
            <a:extLst>
              <a:ext uri="{FF2B5EF4-FFF2-40B4-BE49-F238E27FC236}">
                <a16:creationId xmlns:a16="http://schemas.microsoft.com/office/drawing/2014/main" id="{AA285422-DE09-44AB-9F9D-09CD283F24FD}"/>
              </a:ext>
            </a:extLst>
          </p:cNvPr>
          <p:cNvGraphicFramePr>
            <a:graphicFrameLocks noGrp="1"/>
          </p:cNvGraphicFramePr>
          <p:nvPr>
            <p:extLst>
              <p:ext uri="{D42A27DB-BD31-4B8C-83A1-F6EECF244321}">
                <p14:modId xmlns:p14="http://schemas.microsoft.com/office/powerpoint/2010/main" val="3883687614"/>
              </p:ext>
            </p:extLst>
          </p:nvPr>
        </p:nvGraphicFramePr>
        <p:xfrm>
          <a:off x="4528425" y="1051165"/>
          <a:ext cx="479908" cy="1828800"/>
        </p:xfrm>
        <a:graphic>
          <a:graphicData uri="http://schemas.openxmlformats.org/drawingml/2006/table">
            <a:tbl>
              <a:tblPr firstRow="1" bandRow="1">
                <a:tableStyleId>{5C22544A-7EE6-4342-B048-85BDC9FD1C3A}</a:tableStyleId>
              </a:tblPr>
              <a:tblGrid>
                <a:gridCol w="479908">
                  <a:extLst>
                    <a:ext uri="{9D8B030D-6E8A-4147-A177-3AD203B41FA5}">
                      <a16:colId xmlns:a16="http://schemas.microsoft.com/office/drawing/2014/main" val="1732263812"/>
                    </a:ext>
                  </a:extLst>
                </a:gridCol>
              </a:tblGrid>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537889"/>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8573940"/>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329684"/>
                  </a:ext>
                </a:extLst>
              </a:tr>
            </a:tbl>
          </a:graphicData>
        </a:graphic>
      </p:graphicFrame>
      <p:sp>
        <p:nvSpPr>
          <p:cNvPr id="33" name="文字方塊 32">
            <a:extLst>
              <a:ext uri="{FF2B5EF4-FFF2-40B4-BE49-F238E27FC236}">
                <a16:creationId xmlns:a16="http://schemas.microsoft.com/office/drawing/2014/main" id="{A99DA6A9-30C5-407E-B84A-501EC9545458}"/>
              </a:ext>
            </a:extLst>
          </p:cNvPr>
          <p:cNvSpPr txBox="1"/>
          <p:nvPr/>
        </p:nvSpPr>
        <p:spPr>
          <a:xfrm>
            <a:off x="4053491" y="1015395"/>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A</a:t>
            </a:r>
          </a:p>
        </p:txBody>
      </p:sp>
      <p:sp>
        <p:nvSpPr>
          <p:cNvPr id="34" name="文字方塊 33">
            <a:extLst>
              <a:ext uri="{FF2B5EF4-FFF2-40B4-BE49-F238E27FC236}">
                <a16:creationId xmlns:a16="http://schemas.microsoft.com/office/drawing/2014/main" id="{07827EA3-9766-479D-B155-1055CF07BCBE}"/>
              </a:ext>
            </a:extLst>
          </p:cNvPr>
          <p:cNvSpPr txBox="1"/>
          <p:nvPr/>
        </p:nvSpPr>
        <p:spPr>
          <a:xfrm>
            <a:off x="4058465" y="1507056"/>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C</a:t>
            </a:r>
          </a:p>
        </p:txBody>
      </p:sp>
      <p:sp>
        <p:nvSpPr>
          <p:cNvPr id="35" name="文字方塊 34">
            <a:extLst>
              <a:ext uri="{FF2B5EF4-FFF2-40B4-BE49-F238E27FC236}">
                <a16:creationId xmlns:a16="http://schemas.microsoft.com/office/drawing/2014/main" id="{CFC4A75D-7BDA-496D-9B33-91F8FE5C3E79}"/>
              </a:ext>
            </a:extLst>
          </p:cNvPr>
          <p:cNvSpPr txBox="1"/>
          <p:nvPr/>
        </p:nvSpPr>
        <p:spPr>
          <a:xfrm>
            <a:off x="4058465" y="2400388"/>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T</a:t>
            </a:r>
          </a:p>
        </p:txBody>
      </p:sp>
      <p:sp>
        <p:nvSpPr>
          <p:cNvPr id="36" name="文字方塊 35">
            <a:extLst>
              <a:ext uri="{FF2B5EF4-FFF2-40B4-BE49-F238E27FC236}">
                <a16:creationId xmlns:a16="http://schemas.microsoft.com/office/drawing/2014/main" id="{D9EF80AF-205F-4CFA-A469-6F3F822A29DA}"/>
              </a:ext>
            </a:extLst>
          </p:cNvPr>
          <p:cNvSpPr txBox="1"/>
          <p:nvPr/>
        </p:nvSpPr>
        <p:spPr>
          <a:xfrm>
            <a:off x="4058465" y="1938544"/>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G</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DEE28A27-ABFC-4EB8-ABE4-5F2CB652801F}"/>
                  </a:ext>
                </a:extLst>
              </p:cNvPr>
              <p:cNvSpPr txBox="1"/>
              <p:nvPr/>
            </p:nvSpPr>
            <p:spPr>
              <a:xfrm>
                <a:off x="380999" y="3785508"/>
                <a:ext cx="2584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DEE28A27-ABFC-4EB8-ABE4-5F2CB652801F}"/>
                  </a:ext>
                </a:extLst>
              </p:cNvPr>
              <p:cNvSpPr txBox="1">
                <a:spLocks noRot="1" noChangeAspect="1" noMove="1" noResize="1" noEditPoints="1" noAdjustHandles="1" noChangeArrowheads="1" noChangeShapeType="1" noTextEdit="1"/>
              </p:cNvSpPr>
              <p:nvPr/>
            </p:nvSpPr>
            <p:spPr>
              <a:xfrm>
                <a:off x="380999" y="3785508"/>
                <a:ext cx="258404" cy="369332"/>
              </a:xfrm>
              <a:prstGeom prst="rect">
                <a:avLst/>
              </a:prstGeom>
              <a:blipFill>
                <a:blip r:embed="rId4"/>
                <a:stretch>
                  <a:fillRect l="-25581" r="-25581" b="-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C8FC60BD-8E5C-48CA-8E03-693DDEC6E806}"/>
                  </a:ext>
                </a:extLst>
              </p:cNvPr>
              <p:cNvSpPr txBox="1"/>
              <p:nvPr/>
            </p:nvSpPr>
            <p:spPr>
              <a:xfrm>
                <a:off x="388373" y="4488335"/>
                <a:ext cx="2436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oMath>
                  </m:oMathPara>
                </a14:m>
                <a:endParaRPr lang="zh-TW" altLang="en-US" sz="2400" dirty="0"/>
              </a:p>
            </p:txBody>
          </p:sp>
        </mc:Choice>
        <mc:Fallback xmlns="">
          <p:sp>
            <p:nvSpPr>
              <p:cNvPr id="37" name="文字方塊 36">
                <a:extLst>
                  <a:ext uri="{FF2B5EF4-FFF2-40B4-BE49-F238E27FC236}">
                    <a16:creationId xmlns:a16="http://schemas.microsoft.com/office/drawing/2014/main" id="{C8FC60BD-8E5C-48CA-8E03-693DDEC6E806}"/>
                  </a:ext>
                </a:extLst>
              </p:cNvPr>
              <p:cNvSpPr txBox="1">
                <a:spLocks noRot="1" noChangeAspect="1" noMove="1" noResize="1" noEditPoints="1" noAdjustHandles="1" noChangeArrowheads="1" noChangeShapeType="1" noTextEdit="1"/>
              </p:cNvSpPr>
              <p:nvPr/>
            </p:nvSpPr>
            <p:spPr>
              <a:xfrm>
                <a:off x="388373" y="4488335"/>
                <a:ext cx="243656" cy="369332"/>
              </a:xfrm>
              <a:prstGeom prst="rect">
                <a:avLst/>
              </a:prstGeom>
              <a:blipFill>
                <a:blip r:embed="rId5"/>
                <a:stretch>
                  <a:fillRect l="-30000" r="-27500" b="-6557"/>
                </a:stretch>
              </a:blipFill>
            </p:spPr>
            <p:txBody>
              <a:bodyPr/>
              <a:lstStyle/>
              <a:p>
                <a:r>
                  <a:rPr lang="zh-TW" altLang="en-US">
                    <a:noFill/>
                  </a:rPr>
                  <a:t> </a:t>
                </a:r>
              </a:p>
            </p:txBody>
          </p:sp>
        </mc:Fallback>
      </mc:AlternateContent>
      <p:graphicFrame>
        <p:nvGraphicFramePr>
          <p:cNvPr id="39" name="表格 13">
            <a:extLst>
              <a:ext uri="{FF2B5EF4-FFF2-40B4-BE49-F238E27FC236}">
                <a16:creationId xmlns:a16="http://schemas.microsoft.com/office/drawing/2014/main" id="{8B233121-839F-41E8-87B1-C44015515587}"/>
              </a:ext>
            </a:extLst>
          </p:cNvPr>
          <p:cNvGraphicFramePr>
            <a:graphicFrameLocks noGrp="1"/>
          </p:cNvGraphicFramePr>
          <p:nvPr>
            <p:extLst>
              <p:ext uri="{D42A27DB-BD31-4B8C-83A1-F6EECF244321}">
                <p14:modId xmlns:p14="http://schemas.microsoft.com/office/powerpoint/2010/main" val="249999665"/>
              </p:ext>
            </p:extLst>
          </p:nvPr>
        </p:nvGraphicFramePr>
        <p:xfrm>
          <a:off x="811920" y="3245467"/>
          <a:ext cx="103632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40" name="表格 13">
            <a:extLst>
              <a:ext uri="{FF2B5EF4-FFF2-40B4-BE49-F238E27FC236}">
                <a16:creationId xmlns:a16="http://schemas.microsoft.com/office/drawing/2014/main" id="{9BD0DC6C-D84C-4DB0-B089-9BB3DB6D28E8}"/>
              </a:ext>
            </a:extLst>
          </p:cNvPr>
          <p:cNvGraphicFramePr>
            <a:graphicFrameLocks noGrp="1"/>
          </p:cNvGraphicFramePr>
          <p:nvPr>
            <p:extLst>
              <p:ext uri="{D42A27DB-BD31-4B8C-83A1-F6EECF244321}">
                <p14:modId xmlns:p14="http://schemas.microsoft.com/office/powerpoint/2010/main" val="2414726059"/>
              </p:ext>
            </p:extLst>
          </p:nvPr>
        </p:nvGraphicFramePr>
        <p:xfrm>
          <a:off x="811920" y="4949038"/>
          <a:ext cx="34544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spTree>
    <p:extLst>
      <p:ext uri="{BB962C8B-B14F-4D97-AF65-F5344CB8AC3E}">
        <p14:creationId xmlns:p14="http://schemas.microsoft.com/office/powerpoint/2010/main" val="2165856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dirty="0"/>
          </a:p>
        </p:txBody>
      </p:sp>
      <p:pic>
        <p:nvPicPr>
          <p:cNvPr id="31" name="圖片 30">
            <a:extLst>
              <a:ext uri="{FF2B5EF4-FFF2-40B4-BE49-F238E27FC236}">
                <a16:creationId xmlns:a16="http://schemas.microsoft.com/office/drawing/2014/main" id="{E8C0AF1D-6248-4667-9669-66D0CD345EFA}"/>
              </a:ext>
            </a:extLst>
          </p:cNvPr>
          <p:cNvPicPr>
            <a:picLocks noChangeAspect="1"/>
          </p:cNvPicPr>
          <p:nvPr/>
        </p:nvPicPr>
        <p:blipFill rotWithShape="1">
          <a:blip r:embed="rId3"/>
          <a:srcRect r="61925"/>
          <a:stretch/>
        </p:blipFill>
        <p:spPr>
          <a:xfrm>
            <a:off x="138345" y="87321"/>
            <a:ext cx="3443056" cy="3029106"/>
          </a:xfrm>
          <a:prstGeom prst="rect">
            <a:avLst/>
          </a:prstGeom>
        </p:spPr>
      </p:pic>
      <p:graphicFrame>
        <p:nvGraphicFramePr>
          <p:cNvPr id="13" name="表格 13">
            <a:extLst>
              <a:ext uri="{FF2B5EF4-FFF2-40B4-BE49-F238E27FC236}">
                <a16:creationId xmlns:a16="http://schemas.microsoft.com/office/drawing/2014/main" id="{0782E2FE-77D6-4166-8B73-49FD510005E1}"/>
              </a:ext>
            </a:extLst>
          </p:cNvPr>
          <p:cNvGraphicFramePr>
            <a:graphicFrameLocks noGrp="1"/>
          </p:cNvGraphicFramePr>
          <p:nvPr/>
        </p:nvGraphicFramePr>
        <p:xfrm>
          <a:off x="811924" y="3741574"/>
          <a:ext cx="103632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rgbClr val="FF0000"/>
                          </a:solidFill>
                          <a:latin typeface="Times" panose="02020603050405020304" pitchFamily="18" charset="0"/>
                          <a:cs typeface="Times" panose="02020603050405020304" pitchFamily="18" charset="0"/>
                        </a:rPr>
                        <a:t>T</a:t>
                      </a:r>
                      <a:endParaRPr lang="zh-TW" altLang="en-US" sz="2400" b="0" dirty="0">
                        <a:solidFill>
                          <a:srgbClr val="FF0000"/>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8" name="表格 13">
            <a:extLst>
              <a:ext uri="{FF2B5EF4-FFF2-40B4-BE49-F238E27FC236}">
                <a16:creationId xmlns:a16="http://schemas.microsoft.com/office/drawing/2014/main" id="{618968C8-8906-4BEF-A353-77FC1A4816C8}"/>
              </a:ext>
            </a:extLst>
          </p:cNvPr>
          <p:cNvGraphicFramePr>
            <a:graphicFrameLocks noGrp="1"/>
          </p:cNvGraphicFramePr>
          <p:nvPr/>
        </p:nvGraphicFramePr>
        <p:xfrm>
          <a:off x="811924" y="4444401"/>
          <a:ext cx="34544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rgbClr val="FF0000"/>
                          </a:solidFill>
                          <a:latin typeface="Times" panose="02020603050405020304" pitchFamily="18" charset="0"/>
                          <a:cs typeface="Times" panose="02020603050405020304" pitchFamily="18" charset="0"/>
                        </a:rPr>
                        <a:t>G</a:t>
                      </a:r>
                      <a:endParaRPr lang="zh-TW" altLang="en-US" sz="2400" b="0" dirty="0">
                        <a:solidFill>
                          <a:srgbClr val="FF0000"/>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sp>
        <p:nvSpPr>
          <p:cNvPr id="30" name="文字方塊 29">
            <a:extLst>
              <a:ext uri="{FF2B5EF4-FFF2-40B4-BE49-F238E27FC236}">
                <a16:creationId xmlns:a16="http://schemas.microsoft.com/office/drawing/2014/main" id="{9B9306C0-0577-40B5-8BAF-4E367A3A22BD}"/>
              </a:ext>
            </a:extLst>
          </p:cNvPr>
          <p:cNvSpPr txBox="1"/>
          <p:nvPr/>
        </p:nvSpPr>
        <p:spPr>
          <a:xfrm>
            <a:off x="4061309" y="-21772"/>
            <a:ext cx="2471058" cy="579967"/>
          </a:xfrm>
          <a:prstGeom prst="rect">
            <a:avLst/>
          </a:prstGeom>
          <a:noFill/>
        </p:spPr>
        <p:txBody>
          <a:bodyPr wrap="square" rtlCol="0">
            <a:spAutoFit/>
          </a:bodyPr>
          <a:lstStyle/>
          <a:p>
            <a:pPr>
              <a:lnSpc>
                <a:spcPct val="150000"/>
              </a:lnSpc>
            </a:pPr>
            <a:r>
              <a:rPr lang="en-US" altLang="zh-TW" sz="2400" dirty="0">
                <a:latin typeface="Times" panose="02020603050405020304" pitchFamily="18" charset="0"/>
                <a:cs typeface="Times" panose="02020603050405020304" pitchFamily="18" charset="0"/>
              </a:rPr>
              <a:t>Last current index:</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B0220D5D-63DE-426C-B8C6-755C400415AD}"/>
                  </a:ext>
                </a:extLst>
              </p:cNvPr>
              <p:cNvSpPr txBox="1"/>
              <p:nvPr/>
            </p:nvSpPr>
            <p:spPr>
              <a:xfrm>
                <a:off x="380999" y="3785508"/>
                <a:ext cx="2584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B0220D5D-63DE-426C-B8C6-755C400415AD}"/>
                  </a:ext>
                </a:extLst>
              </p:cNvPr>
              <p:cNvSpPr txBox="1">
                <a:spLocks noRot="1" noChangeAspect="1" noMove="1" noResize="1" noEditPoints="1" noAdjustHandles="1" noChangeArrowheads="1" noChangeShapeType="1" noTextEdit="1"/>
              </p:cNvSpPr>
              <p:nvPr/>
            </p:nvSpPr>
            <p:spPr>
              <a:xfrm>
                <a:off x="380999" y="3785508"/>
                <a:ext cx="258404" cy="369332"/>
              </a:xfrm>
              <a:prstGeom prst="rect">
                <a:avLst/>
              </a:prstGeom>
              <a:blipFill>
                <a:blip r:embed="rId4"/>
                <a:stretch>
                  <a:fillRect l="-25581" r="-25581" b="-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4A279-C91B-45FE-9C97-11267B89476A}"/>
                  </a:ext>
                </a:extLst>
              </p:cNvPr>
              <p:cNvSpPr txBox="1"/>
              <p:nvPr/>
            </p:nvSpPr>
            <p:spPr>
              <a:xfrm>
                <a:off x="388373" y="4488335"/>
                <a:ext cx="2436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oMath>
                  </m:oMathPara>
                </a14:m>
                <a:endParaRPr lang="zh-TW" altLang="en-US" sz="2400" dirty="0"/>
              </a:p>
            </p:txBody>
          </p:sp>
        </mc:Choice>
        <mc:Fallback xmlns="">
          <p:sp>
            <p:nvSpPr>
              <p:cNvPr id="15" name="文字方塊 14">
                <a:extLst>
                  <a:ext uri="{FF2B5EF4-FFF2-40B4-BE49-F238E27FC236}">
                    <a16:creationId xmlns:a16="http://schemas.microsoft.com/office/drawing/2014/main" id="{4884A279-C91B-45FE-9C97-11267B89476A}"/>
                  </a:ext>
                </a:extLst>
              </p:cNvPr>
              <p:cNvSpPr txBox="1">
                <a:spLocks noRot="1" noChangeAspect="1" noMove="1" noResize="1" noEditPoints="1" noAdjustHandles="1" noChangeArrowheads="1" noChangeShapeType="1" noTextEdit="1"/>
              </p:cNvSpPr>
              <p:nvPr/>
            </p:nvSpPr>
            <p:spPr>
              <a:xfrm>
                <a:off x="388373" y="4488335"/>
                <a:ext cx="243656" cy="369332"/>
              </a:xfrm>
              <a:prstGeom prst="rect">
                <a:avLst/>
              </a:prstGeom>
              <a:blipFill>
                <a:blip r:embed="rId5"/>
                <a:stretch>
                  <a:fillRect l="-30000" r="-27500" b="-6557"/>
                </a:stretch>
              </a:blipFill>
            </p:spPr>
            <p:txBody>
              <a:bodyPr/>
              <a:lstStyle/>
              <a:p>
                <a:r>
                  <a:rPr lang="zh-TW" altLang="en-US">
                    <a:noFill/>
                  </a:rPr>
                  <a:t> </a:t>
                </a:r>
              </a:p>
            </p:txBody>
          </p:sp>
        </mc:Fallback>
      </mc:AlternateContent>
      <p:graphicFrame>
        <p:nvGraphicFramePr>
          <p:cNvPr id="16" name="表格 13">
            <a:extLst>
              <a:ext uri="{FF2B5EF4-FFF2-40B4-BE49-F238E27FC236}">
                <a16:creationId xmlns:a16="http://schemas.microsoft.com/office/drawing/2014/main" id="{3270866A-4956-4BEA-9043-04FBA8A3E775}"/>
              </a:ext>
            </a:extLst>
          </p:cNvPr>
          <p:cNvGraphicFramePr>
            <a:graphicFrameLocks noGrp="1"/>
          </p:cNvGraphicFramePr>
          <p:nvPr>
            <p:extLst>
              <p:ext uri="{D42A27DB-BD31-4B8C-83A1-F6EECF244321}">
                <p14:modId xmlns:p14="http://schemas.microsoft.com/office/powerpoint/2010/main" val="3244275994"/>
              </p:ext>
            </p:extLst>
          </p:nvPr>
        </p:nvGraphicFramePr>
        <p:xfrm>
          <a:off x="811920" y="3245467"/>
          <a:ext cx="103632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17" name="表格 13">
            <a:extLst>
              <a:ext uri="{FF2B5EF4-FFF2-40B4-BE49-F238E27FC236}">
                <a16:creationId xmlns:a16="http://schemas.microsoft.com/office/drawing/2014/main" id="{77ED9CED-346D-480F-A994-D578DCBA6DCC}"/>
              </a:ext>
            </a:extLst>
          </p:cNvPr>
          <p:cNvGraphicFramePr>
            <a:graphicFrameLocks noGrp="1"/>
          </p:cNvGraphicFramePr>
          <p:nvPr>
            <p:extLst>
              <p:ext uri="{D42A27DB-BD31-4B8C-83A1-F6EECF244321}">
                <p14:modId xmlns:p14="http://schemas.microsoft.com/office/powerpoint/2010/main" val="3620788473"/>
              </p:ext>
            </p:extLst>
          </p:nvPr>
        </p:nvGraphicFramePr>
        <p:xfrm>
          <a:off x="811920" y="4949038"/>
          <a:ext cx="34544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4" name="表格 13">
            <a:extLst>
              <a:ext uri="{FF2B5EF4-FFF2-40B4-BE49-F238E27FC236}">
                <a16:creationId xmlns:a16="http://schemas.microsoft.com/office/drawing/2014/main" id="{7B192F01-CA2C-4AE8-A9F1-0CA601005F01}"/>
              </a:ext>
            </a:extLst>
          </p:cNvPr>
          <p:cNvGraphicFramePr>
            <a:graphicFrameLocks noGrp="1"/>
          </p:cNvGraphicFramePr>
          <p:nvPr>
            <p:extLst>
              <p:ext uri="{D42A27DB-BD31-4B8C-83A1-F6EECF244321}">
                <p14:modId xmlns:p14="http://schemas.microsoft.com/office/powerpoint/2010/main" val="1652379465"/>
              </p:ext>
            </p:extLst>
          </p:nvPr>
        </p:nvGraphicFramePr>
        <p:xfrm>
          <a:off x="4528425" y="1051165"/>
          <a:ext cx="479908" cy="1828800"/>
        </p:xfrm>
        <a:graphic>
          <a:graphicData uri="http://schemas.openxmlformats.org/drawingml/2006/table">
            <a:tbl>
              <a:tblPr firstRow="1" bandRow="1">
                <a:tableStyleId>{5C22544A-7EE6-4342-B048-85BDC9FD1C3A}</a:tableStyleId>
              </a:tblPr>
              <a:tblGrid>
                <a:gridCol w="479908">
                  <a:extLst>
                    <a:ext uri="{9D8B030D-6E8A-4147-A177-3AD203B41FA5}">
                      <a16:colId xmlns:a16="http://schemas.microsoft.com/office/drawing/2014/main" val="1732263812"/>
                    </a:ext>
                  </a:extLst>
                </a:gridCol>
              </a:tblGrid>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537889"/>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8573940"/>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329684"/>
                  </a:ext>
                </a:extLst>
              </a:tr>
            </a:tbl>
          </a:graphicData>
        </a:graphic>
      </p:graphicFrame>
      <p:sp>
        <p:nvSpPr>
          <p:cNvPr id="25" name="文字方塊 24">
            <a:extLst>
              <a:ext uri="{FF2B5EF4-FFF2-40B4-BE49-F238E27FC236}">
                <a16:creationId xmlns:a16="http://schemas.microsoft.com/office/drawing/2014/main" id="{5C1AE63B-B06C-4586-B67F-BF7E33B739C4}"/>
              </a:ext>
            </a:extLst>
          </p:cNvPr>
          <p:cNvSpPr txBox="1"/>
          <p:nvPr/>
        </p:nvSpPr>
        <p:spPr>
          <a:xfrm>
            <a:off x="4053491" y="1015395"/>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A</a:t>
            </a:r>
          </a:p>
        </p:txBody>
      </p:sp>
      <p:sp>
        <p:nvSpPr>
          <p:cNvPr id="26" name="文字方塊 25">
            <a:extLst>
              <a:ext uri="{FF2B5EF4-FFF2-40B4-BE49-F238E27FC236}">
                <a16:creationId xmlns:a16="http://schemas.microsoft.com/office/drawing/2014/main" id="{CCE24C88-1C0C-4EF1-896C-38C214432775}"/>
              </a:ext>
            </a:extLst>
          </p:cNvPr>
          <p:cNvSpPr txBox="1"/>
          <p:nvPr/>
        </p:nvSpPr>
        <p:spPr>
          <a:xfrm>
            <a:off x="4058465" y="1507056"/>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C</a:t>
            </a:r>
          </a:p>
        </p:txBody>
      </p:sp>
      <p:sp>
        <p:nvSpPr>
          <p:cNvPr id="27" name="文字方塊 26">
            <a:extLst>
              <a:ext uri="{FF2B5EF4-FFF2-40B4-BE49-F238E27FC236}">
                <a16:creationId xmlns:a16="http://schemas.microsoft.com/office/drawing/2014/main" id="{CEEC81EF-387A-46DA-9C84-D697A777C124}"/>
              </a:ext>
            </a:extLst>
          </p:cNvPr>
          <p:cNvSpPr txBox="1"/>
          <p:nvPr/>
        </p:nvSpPr>
        <p:spPr>
          <a:xfrm>
            <a:off x="4058465" y="2400388"/>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T</a:t>
            </a:r>
          </a:p>
        </p:txBody>
      </p:sp>
      <p:sp>
        <p:nvSpPr>
          <p:cNvPr id="37" name="文字方塊 36">
            <a:extLst>
              <a:ext uri="{FF2B5EF4-FFF2-40B4-BE49-F238E27FC236}">
                <a16:creationId xmlns:a16="http://schemas.microsoft.com/office/drawing/2014/main" id="{B6F1F0A9-500A-419D-9385-AF16B6E5C515}"/>
              </a:ext>
            </a:extLst>
          </p:cNvPr>
          <p:cNvSpPr txBox="1"/>
          <p:nvPr/>
        </p:nvSpPr>
        <p:spPr>
          <a:xfrm>
            <a:off x="4058465" y="1938544"/>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G</a:t>
            </a:r>
          </a:p>
        </p:txBody>
      </p:sp>
      <p:sp>
        <p:nvSpPr>
          <p:cNvPr id="2" name="矩形 1">
            <a:extLst>
              <a:ext uri="{FF2B5EF4-FFF2-40B4-BE49-F238E27FC236}">
                <a16:creationId xmlns:a16="http://schemas.microsoft.com/office/drawing/2014/main" id="{9141F4B4-0947-4CB0-A363-B2D51E0703B6}"/>
              </a:ext>
            </a:extLst>
          </p:cNvPr>
          <p:cNvSpPr/>
          <p:nvPr/>
        </p:nvSpPr>
        <p:spPr>
          <a:xfrm>
            <a:off x="1992086" y="2492973"/>
            <a:ext cx="881743" cy="3869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94318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dirty="0"/>
          </a:p>
        </p:txBody>
      </p:sp>
      <p:pic>
        <p:nvPicPr>
          <p:cNvPr id="31" name="圖片 30">
            <a:extLst>
              <a:ext uri="{FF2B5EF4-FFF2-40B4-BE49-F238E27FC236}">
                <a16:creationId xmlns:a16="http://schemas.microsoft.com/office/drawing/2014/main" id="{E8C0AF1D-6248-4667-9669-66D0CD345EFA}"/>
              </a:ext>
            </a:extLst>
          </p:cNvPr>
          <p:cNvPicPr>
            <a:picLocks noChangeAspect="1"/>
          </p:cNvPicPr>
          <p:nvPr/>
        </p:nvPicPr>
        <p:blipFill rotWithShape="1">
          <a:blip r:embed="rId3"/>
          <a:srcRect r="61925"/>
          <a:stretch/>
        </p:blipFill>
        <p:spPr>
          <a:xfrm>
            <a:off x="138345" y="87321"/>
            <a:ext cx="3443056" cy="3029106"/>
          </a:xfrm>
          <a:prstGeom prst="rect">
            <a:avLst/>
          </a:prstGeom>
        </p:spPr>
      </p:pic>
      <p:graphicFrame>
        <p:nvGraphicFramePr>
          <p:cNvPr id="13" name="表格 13">
            <a:extLst>
              <a:ext uri="{FF2B5EF4-FFF2-40B4-BE49-F238E27FC236}">
                <a16:creationId xmlns:a16="http://schemas.microsoft.com/office/drawing/2014/main" id="{0782E2FE-77D6-4166-8B73-49FD510005E1}"/>
              </a:ext>
            </a:extLst>
          </p:cNvPr>
          <p:cNvGraphicFramePr>
            <a:graphicFrameLocks noGrp="1"/>
          </p:cNvGraphicFramePr>
          <p:nvPr>
            <p:extLst>
              <p:ext uri="{D42A27DB-BD31-4B8C-83A1-F6EECF244321}">
                <p14:modId xmlns:p14="http://schemas.microsoft.com/office/powerpoint/2010/main" val="2108407887"/>
              </p:ext>
            </p:extLst>
          </p:nvPr>
        </p:nvGraphicFramePr>
        <p:xfrm>
          <a:off x="811924" y="3741574"/>
          <a:ext cx="103632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G</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8" name="表格 13">
            <a:extLst>
              <a:ext uri="{FF2B5EF4-FFF2-40B4-BE49-F238E27FC236}">
                <a16:creationId xmlns:a16="http://schemas.microsoft.com/office/drawing/2014/main" id="{618968C8-8906-4BEF-A353-77FC1A4816C8}"/>
              </a:ext>
            </a:extLst>
          </p:cNvPr>
          <p:cNvGraphicFramePr>
            <a:graphicFrameLocks noGrp="1"/>
          </p:cNvGraphicFramePr>
          <p:nvPr>
            <p:extLst>
              <p:ext uri="{D42A27DB-BD31-4B8C-83A1-F6EECF244321}">
                <p14:modId xmlns:p14="http://schemas.microsoft.com/office/powerpoint/2010/main" val="507238007"/>
              </p:ext>
            </p:extLst>
          </p:nvPr>
        </p:nvGraphicFramePr>
        <p:xfrm>
          <a:off x="2539120" y="4444401"/>
          <a:ext cx="34544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C</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sp>
        <p:nvSpPr>
          <p:cNvPr id="30" name="文字方塊 29">
            <a:extLst>
              <a:ext uri="{FF2B5EF4-FFF2-40B4-BE49-F238E27FC236}">
                <a16:creationId xmlns:a16="http://schemas.microsoft.com/office/drawing/2014/main" id="{9B9306C0-0577-40B5-8BAF-4E367A3A22BD}"/>
              </a:ext>
            </a:extLst>
          </p:cNvPr>
          <p:cNvSpPr txBox="1"/>
          <p:nvPr/>
        </p:nvSpPr>
        <p:spPr>
          <a:xfrm>
            <a:off x="4061309" y="-21772"/>
            <a:ext cx="2471058" cy="579967"/>
          </a:xfrm>
          <a:prstGeom prst="rect">
            <a:avLst/>
          </a:prstGeom>
          <a:noFill/>
        </p:spPr>
        <p:txBody>
          <a:bodyPr wrap="square" rtlCol="0">
            <a:spAutoFit/>
          </a:bodyPr>
          <a:lstStyle/>
          <a:p>
            <a:pPr>
              <a:lnSpc>
                <a:spcPct val="150000"/>
              </a:lnSpc>
            </a:pPr>
            <a:r>
              <a:rPr lang="en-US" altLang="zh-TW" sz="2400" dirty="0">
                <a:latin typeface="Times" panose="02020603050405020304" pitchFamily="18" charset="0"/>
                <a:cs typeface="Times" panose="02020603050405020304" pitchFamily="18" charset="0"/>
              </a:rPr>
              <a:t>Last current index:</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B0220D5D-63DE-426C-B8C6-755C400415AD}"/>
                  </a:ext>
                </a:extLst>
              </p:cNvPr>
              <p:cNvSpPr txBox="1"/>
              <p:nvPr/>
            </p:nvSpPr>
            <p:spPr>
              <a:xfrm>
                <a:off x="380999" y="3785508"/>
                <a:ext cx="2584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B0220D5D-63DE-426C-B8C6-755C400415AD}"/>
                  </a:ext>
                </a:extLst>
              </p:cNvPr>
              <p:cNvSpPr txBox="1">
                <a:spLocks noRot="1" noChangeAspect="1" noMove="1" noResize="1" noEditPoints="1" noAdjustHandles="1" noChangeArrowheads="1" noChangeShapeType="1" noTextEdit="1"/>
              </p:cNvSpPr>
              <p:nvPr/>
            </p:nvSpPr>
            <p:spPr>
              <a:xfrm>
                <a:off x="380999" y="3785508"/>
                <a:ext cx="258404" cy="369332"/>
              </a:xfrm>
              <a:prstGeom prst="rect">
                <a:avLst/>
              </a:prstGeom>
              <a:blipFill>
                <a:blip r:embed="rId4"/>
                <a:stretch>
                  <a:fillRect l="-25581" r="-25581" b="-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4A279-C91B-45FE-9C97-11267B89476A}"/>
                  </a:ext>
                </a:extLst>
              </p:cNvPr>
              <p:cNvSpPr txBox="1"/>
              <p:nvPr/>
            </p:nvSpPr>
            <p:spPr>
              <a:xfrm>
                <a:off x="388373" y="4488335"/>
                <a:ext cx="2436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oMath>
                  </m:oMathPara>
                </a14:m>
                <a:endParaRPr lang="zh-TW" altLang="en-US" sz="2400" dirty="0"/>
              </a:p>
            </p:txBody>
          </p:sp>
        </mc:Choice>
        <mc:Fallback xmlns="">
          <p:sp>
            <p:nvSpPr>
              <p:cNvPr id="15" name="文字方塊 14">
                <a:extLst>
                  <a:ext uri="{FF2B5EF4-FFF2-40B4-BE49-F238E27FC236}">
                    <a16:creationId xmlns:a16="http://schemas.microsoft.com/office/drawing/2014/main" id="{4884A279-C91B-45FE-9C97-11267B89476A}"/>
                  </a:ext>
                </a:extLst>
              </p:cNvPr>
              <p:cNvSpPr txBox="1">
                <a:spLocks noRot="1" noChangeAspect="1" noMove="1" noResize="1" noEditPoints="1" noAdjustHandles="1" noChangeArrowheads="1" noChangeShapeType="1" noTextEdit="1"/>
              </p:cNvSpPr>
              <p:nvPr/>
            </p:nvSpPr>
            <p:spPr>
              <a:xfrm>
                <a:off x="388373" y="4488335"/>
                <a:ext cx="243656" cy="369332"/>
              </a:xfrm>
              <a:prstGeom prst="rect">
                <a:avLst/>
              </a:prstGeom>
              <a:blipFill>
                <a:blip r:embed="rId5"/>
                <a:stretch>
                  <a:fillRect l="-30000" r="-27500" b="-6557"/>
                </a:stretch>
              </a:blipFill>
            </p:spPr>
            <p:txBody>
              <a:bodyPr/>
              <a:lstStyle/>
              <a:p>
                <a:r>
                  <a:rPr lang="zh-TW" altLang="en-US">
                    <a:noFill/>
                  </a:rPr>
                  <a:t> </a:t>
                </a:r>
              </a:p>
            </p:txBody>
          </p:sp>
        </mc:Fallback>
      </mc:AlternateContent>
      <p:graphicFrame>
        <p:nvGraphicFramePr>
          <p:cNvPr id="16" name="表格 13">
            <a:extLst>
              <a:ext uri="{FF2B5EF4-FFF2-40B4-BE49-F238E27FC236}">
                <a16:creationId xmlns:a16="http://schemas.microsoft.com/office/drawing/2014/main" id="{3270866A-4956-4BEA-9043-04FBA8A3E775}"/>
              </a:ext>
            </a:extLst>
          </p:cNvPr>
          <p:cNvGraphicFramePr>
            <a:graphicFrameLocks noGrp="1"/>
          </p:cNvGraphicFramePr>
          <p:nvPr>
            <p:extLst>
              <p:ext uri="{D42A27DB-BD31-4B8C-83A1-F6EECF244321}">
                <p14:modId xmlns:p14="http://schemas.microsoft.com/office/powerpoint/2010/main" val="1511393414"/>
              </p:ext>
            </p:extLst>
          </p:nvPr>
        </p:nvGraphicFramePr>
        <p:xfrm>
          <a:off x="811920" y="3245467"/>
          <a:ext cx="103632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17" name="表格 13">
            <a:extLst>
              <a:ext uri="{FF2B5EF4-FFF2-40B4-BE49-F238E27FC236}">
                <a16:creationId xmlns:a16="http://schemas.microsoft.com/office/drawing/2014/main" id="{3ADE4CE4-6F23-45E8-A482-93440BCDFCB3}"/>
              </a:ext>
            </a:extLst>
          </p:cNvPr>
          <p:cNvGraphicFramePr>
            <a:graphicFrameLocks noGrp="1"/>
          </p:cNvGraphicFramePr>
          <p:nvPr>
            <p:extLst>
              <p:ext uri="{D42A27DB-BD31-4B8C-83A1-F6EECF244321}">
                <p14:modId xmlns:p14="http://schemas.microsoft.com/office/powerpoint/2010/main" val="2307756650"/>
              </p:ext>
            </p:extLst>
          </p:nvPr>
        </p:nvGraphicFramePr>
        <p:xfrm>
          <a:off x="2539120" y="4949038"/>
          <a:ext cx="34544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3" name="表格 13">
            <a:extLst>
              <a:ext uri="{FF2B5EF4-FFF2-40B4-BE49-F238E27FC236}">
                <a16:creationId xmlns:a16="http://schemas.microsoft.com/office/drawing/2014/main" id="{A986530A-51B5-4B25-9884-0BF016356E96}"/>
              </a:ext>
            </a:extLst>
          </p:cNvPr>
          <p:cNvGraphicFramePr>
            <a:graphicFrameLocks noGrp="1"/>
          </p:cNvGraphicFramePr>
          <p:nvPr>
            <p:extLst>
              <p:ext uri="{D42A27DB-BD31-4B8C-83A1-F6EECF244321}">
                <p14:modId xmlns:p14="http://schemas.microsoft.com/office/powerpoint/2010/main" val="124805668"/>
              </p:ext>
            </p:extLst>
          </p:nvPr>
        </p:nvGraphicFramePr>
        <p:xfrm>
          <a:off x="4528425" y="1051165"/>
          <a:ext cx="479908" cy="1828800"/>
        </p:xfrm>
        <a:graphic>
          <a:graphicData uri="http://schemas.openxmlformats.org/drawingml/2006/table">
            <a:tbl>
              <a:tblPr firstRow="1" bandRow="1">
                <a:tableStyleId>{5C22544A-7EE6-4342-B048-85BDC9FD1C3A}</a:tableStyleId>
              </a:tblPr>
              <a:tblGrid>
                <a:gridCol w="479908">
                  <a:extLst>
                    <a:ext uri="{9D8B030D-6E8A-4147-A177-3AD203B41FA5}">
                      <a16:colId xmlns:a16="http://schemas.microsoft.com/office/drawing/2014/main" val="1732263812"/>
                    </a:ext>
                  </a:extLst>
                </a:gridCol>
              </a:tblGrid>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537889"/>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8573940"/>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329684"/>
                  </a:ext>
                </a:extLst>
              </a:tr>
            </a:tbl>
          </a:graphicData>
        </a:graphic>
      </p:graphicFrame>
      <p:sp>
        <p:nvSpPr>
          <p:cNvPr id="24" name="文字方塊 23">
            <a:extLst>
              <a:ext uri="{FF2B5EF4-FFF2-40B4-BE49-F238E27FC236}">
                <a16:creationId xmlns:a16="http://schemas.microsoft.com/office/drawing/2014/main" id="{C7633FBC-BBF6-4971-8286-030CF96AC88A}"/>
              </a:ext>
            </a:extLst>
          </p:cNvPr>
          <p:cNvSpPr txBox="1"/>
          <p:nvPr/>
        </p:nvSpPr>
        <p:spPr>
          <a:xfrm>
            <a:off x="4053491" y="1015395"/>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A</a:t>
            </a:r>
          </a:p>
        </p:txBody>
      </p:sp>
      <p:sp>
        <p:nvSpPr>
          <p:cNvPr id="25" name="文字方塊 24">
            <a:extLst>
              <a:ext uri="{FF2B5EF4-FFF2-40B4-BE49-F238E27FC236}">
                <a16:creationId xmlns:a16="http://schemas.microsoft.com/office/drawing/2014/main" id="{C0327981-72DA-4FD0-AE82-927426B152E5}"/>
              </a:ext>
            </a:extLst>
          </p:cNvPr>
          <p:cNvSpPr txBox="1"/>
          <p:nvPr/>
        </p:nvSpPr>
        <p:spPr>
          <a:xfrm>
            <a:off x="4058465" y="1507056"/>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C</a:t>
            </a:r>
          </a:p>
        </p:txBody>
      </p:sp>
      <p:sp>
        <p:nvSpPr>
          <p:cNvPr id="26" name="文字方塊 25">
            <a:extLst>
              <a:ext uri="{FF2B5EF4-FFF2-40B4-BE49-F238E27FC236}">
                <a16:creationId xmlns:a16="http://schemas.microsoft.com/office/drawing/2014/main" id="{9AD039C2-ED38-4F66-870C-8EAA32765135}"/>
              </a:ext>
            </a:extLst>
          </p:cNvPr>
          <p:cNvSpPr txBox="1"/>
          <p:nvPr/>
        </p:nvSpPr>
        <p:spPr>
          <a:xfrm>
            <a:off x="4058465" y="2400388"/>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T</a:t>
            </a:r>
          </a:p>
        </p:txBody>
      </p:sp>
      <p:sp>
        <p:nvSpPr>
          <p:cNvPr id="27" name="文字方塊 26">
            <a:extLst>
              <a:ext uri="{FF2B5EF4-FFF2-40B4-BE49-F238E27FC236}">
                <a16:creationId xmlns:a16="http://schemas.microsoft.com/office/drawing/2014/main" id="{FDBFE0B7-C1ED-4F9B-BE68-4E3C602BAB6D}"/>
              </a:ext>
            </a:extLst>
          </p:cNvPr>
          <p:cNvSpPr txBox="1"/>
          <p:nvPr/>
        </p:nvSpPr>
        <p:spPr>
          <a:xfrm>
            <a:off x="4058465" y="1938544"/>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G</a:t>
            </a:r>
          </a:p>
        </p:txBody>
      </p:sp>
      <p:sp>
        <p:nvSpPr>
          <p:cNvPr id="37" name="矩形 36">
            <a:extLst>
              <a:ext uri="{FF2B5EF4-FFF2-40B4-BE49-F238E27FC236}">
                <a16:creationId xmlns:a16="http://schemas.microsoft.com/office/drawing/2014/main" id="{62170DD8-A86C-494C-82FD-92F2DF1BCF02}"/>
              </a:ext>
            </a:extLst>
          </p:cNvPr>
          <p:cNvSpPr/>
          <p:nvPr/>
        </p:nvSpPr>
        <p:spPr>
          <a:xfrm>
            <a:off x="1992086" y="2081690"/>
            <a:ext cx="881743" cy="3869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77316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dirty="0"/>
          </a:p>
        </p:txBody>
      </p:sp>
      <p:pic>
        <p:nvPicPr>
          <p:cNvPr id="31" name="圖片 30">
            <a:extLst>
              <a:ext uri="{FF2B5EF4-FFF2-40B4-BE49-F238E27FC236}">
                <a16:creationId xmlns:a16="http://schemas.microsoft.com/office/drawing/2014/main" id="{E8C0AF1D-6248-4667-9669-66D0CD345EFA}"/>
              </a:ext>
            </a:extLst>
          </p:cNvPr>
          <p:cNvPicPr>
            <a:picLocks noChangeAspect="1"/>
          </p:cNvPicPr>
          <p:nvPr/>
        </p:nvPicPr>
        <p:blipFill rotWithShape="1">
          <a:blip r:embed="rId3"/>
          <a:srcRect r="61925"/>
          <a:stretch/>
        </p:blipFill>
        <p:spPr>
          <a:xfrm>
            <a:off x="138345" y="87321"/>
            <a:ext cx="3443056" cy="3029106"/>
          </a:xfrm>
          <a:prstGeom prst="rect">
            <a:avLst/>
          </a:prstGeom>
        </p:spPr>
      </p:pic>
      <p:graphicFrame>
        <p:nvGraphicFramePr>
          <p:cNvPr id="13" name="表格 13">
            <a:extLst>
              <a:ext uri="{FF2B5EF4-FFF2-40B4-BE49-F238E27FC236}">
                <a16:creationId xmlns:a16="http://schemas.microsoft.com/office/drawing/2014/main" id="{0782E2FE-77D6-4166-8B73-49FD510005E1}"/>
              </a:ext>
            </a:extLst>
          </p:cNvPr>
          <p:cNvGraphicFramePr>
            <a:graphicFrameLocks noGrp="1"/>
          </p:cNvGraphicFramePr>
          <p:nvPr>
            <p:extLst>
              <p:ext uri="{D42A27DB-BD31-4B8C-83A1-F6EECF244321}">
                <p14:modId xmlns:p14="http://schemas.microsoft.com/office/powerpoint/2010/main" val="1022762141"/>
              </p:ext>
            </p:extLst>
          </p:nvPr>
        </p:nvGraphicFramePr>
        <p:xfrm>
          <a:off x="811924" y="3741574"/>
          <a:ext cx="103632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8" name="表格 13">
            <a:extLst>
              <a:ext uri="{FF2B5EF4-FFF2-40B4-BE49-F238E27FC236}">
                <a16:creationId xmlns:a16="http://schemas.microsoft.com/office/drawing/2014/main" id="{618968C8-8906-4BEF-A353-77FC1A4816C8}"/>
              </a:ext>
            </a:extLst>
          </p:cNvPr>
          <p:cNvGraphicFramePr>
            <a:graphicFrameLocks noGrp="1"/>
          </p:cNvGraphicFramePr>
          <p:nvPr>
            <p:extLst>
              <p:ext uri="{D42A27DB-BD31-4B8C-83A1-F6EECF244321}">
                <p14:modId xmlns:p14="http://schemas.microsoft.com/office/powerpoint/2010/main" val="244886214"/>
              </p:ext>
            </p:extLst>
          </p:nvPr>
        </p:nvGraphicFramePr>
        <p:xfrm>
          <a:off x="2974548" y="4444401"/>
          <a:ext cx="34544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C</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59908335"/>
                  </a:ext>
                </a:extLst>
              </a:tr>
            </a:tbl>
          </a:graphicData>
        </a:graphic>
      </p:graphicFrame>
      <p:sp>
        <p:nvSpPr>
          <p:cNvPr id="30" name="文字方塊 29">
            <a:extLst>
              <a:ext uri="{FF2B5EF4-FFF2-40B4-BE49-F238E27FC236}">
                <a16:creationId xmlns:a16="http://schemas.microsoft.com/office/drawing/2014/main" id="{9B9306C0-0577-40B5-8BAF-4E367A3A22BD}"/>
              </a:ext>
            </a:extLst>
          </p:cNvPr>
          <p:cNvSpPr txBox="1"/>
          <p:nvPr/>
        </p:nvSpPr>
        <p:spPr>
          <a:xfrm>
            <a:off x="4061309" y="-21772"/>
            <a:ext cx="2471058" cy="579967"/>
          </a:xfrm>
          <a:prstGeom prst="rect">
            <a:avLst/>
          </a:prstGeom>
          <a:noFill/>
        </p:spPr>
        <p:txBody>
          <a:bodyPr wrap="square" rtlCol="0">
            <a:spAutoFit/>
          </a:bodyPr>
          <a:lstStyle/>
          <a:p>
            <a:pPr>
              <a:lnSpc>
                <a:spcPct val="150000"/>
              </a:lnSpc>
            </a:pPr>
            <a:r>
              <a:rPr lang="en-US" altLang="zh-TW" sz="2400" dirty="0">
                <a:latin typeface="Times" panose="02020603050405020304" pitchFamily="18" charset="0"/>
                <a:cs typeface="Times" panose="02020603050405020304" pitchFamily="18" charset="0"/>
              </a:rPr>
              <a:t>Last current index:</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B0220D5D-63DE-426C-B8C6-755C400415AD}"/>
                  </a:ext>
                </a:extLst>
              </p:cNvPr>
              <p:cNvSpPr txBox="1"/>
              <p:nvPr/>
            </p:nvSpPr>
            <p:spPr>
              <a:xfrm>
                <a:off x="380999" y="3785508"/>
                <a:ext cx="2584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B0220D5D-63DE-426C-B8C6-755C400415AD}"/>
                  </a:ext>
                </a:extLst>
              </p:cNvPr>
              <p:cNvSpPr txBox="1">
                <a:spLocks noRot="1" noChangeAspect="1" noMove="1" noResize="1" noEditPoints="1" noAdjustHandles="1" noChangeArrowheads="1" noChangeShapeType="1" noTextEdit="1"/>
              </p:cNvSpPr>
              <p:nvPr/>
            </p:nvSpPr>
            <p:spPr>
              <a:xfrm>
                <a:off x="380999" y="3785508"/>
                <a:ext cx="258404" cy="369332"/>
              </a:xfrm>
              <a:prstGeom prst="rect">
                <a:avLst/>
              </a:prstGeom>
              <a:blipFill>
                <a:blip r:embed="rId4"/>
                <a:stretch>
                  <a:fillRect l="-25581" r="-25581" b="-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4A279-C91B-45FE-9C97-11267B89476A}"/>
                  </a:ext>
                </a:extLst>
              </p:cNvPr>
              <p:cNvSpPr txBox="1"/>
              <p:nvPr/>
            </p:nvSpPr>
            <p:spPr>
              <a:xfrm>
                <a:off x="388373" y="4488335"/>
                <a:ext cx="2436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oMath>
                  </m:oMathPara>
                </a14:m>
                <a:endParaRPr lang="zh-TW" altLang="en-US" sz="2400" dirty="0"/>
              </a:p>
            </p:txBody>
          </p:sp>
        </mc:Choice>
        <mc:Fallback xmlns="">
          <p:sp>
            <p:nvSpPr>
              <p:cNvPr id="15" name="文字方塊 14">
                <a:extLst>
                  <a:ext uri="{FF2B5EF4-FFF2-40B4-BE49-F238E27FC236}">
                    <a16:creationId xmlns:a16="http://schemas.microsoft.com/office/drawing/2014/main" id="{4884A279-C91B-45FE-9C97-11267B89476A}"/>
                  </a:ext>
                </a:extLst>
              </p:cNvPr>
              <p:cNvSpPr txBox="1">
                <a:spLocks noRot="1" noChangeAspect="1" noMove="1" noResize="1" noEditPoints="1" noAdjustHandles="1" noChangeArrowheads="1" noChangeShapeType="1" noTextEdit="1"/>
              </p:cNvSpPr>
              <p:nvPr/>
            </p:nvSpPr>
            <p:spPr>
              <a:xfrm>
                <a:off x="388373" y="4488335"/>
                <a:ext cx="243656" cy="369332"/>
              </a:xfrm>
              <a:prstGeom prst="rect">
                <a:avLst/>
              </a:prstGeom>
              <a:blipFill>
                <a:blip r:embed="rId5"/>
                <a:stretch>
                  <a:fillRect l="-30000" r="-27500" b="-6557"/>
                </a:stretch>
              </a:blipFill>
            </p:spPr>
            <p:txBody>
              <a:bodyPr/>
              <a:lstStyle/>
              <a:p>
                <a:r>
                  <a:rPr lang="zh-TW" altLang="en-US">
                    <a:noFill/>
                  </a:rPr>
                  <a:t> </a:t>
                </a:r>
              </a:p>
            </p:txBody>
          </p:sp>
        </mc:Fallback>
      </mc:AlternateContent>
      <p:graphicFrame>
        <p:nvGraphicFramePr>
          <p:cNvPr id="16" name="表格 13">
            <a:extLst>
              <a:ext uri="{FF2B5EF4-FFF2-40B4-BE49-F238E27FC236}">
                <a16:creationId xmlns:a16="http://schemas.microsoft.com/office/drawing/2014/main" id="{3270866A-4956-4BEA-9043-04FBA8A3E775}"/>
              </a:ext>
            </a:extLst>
          </p:cNvPr>
          <p:cNvGraphicFramePr>
            <a:graphicFrameLocks noGrp="1"/>
          </p:cNvGraphicFramePr>
          <p:nvPr>
            <p:extLst>
              <p:ext uri="{D42A27DB-BD31-4B8C-83A1-F6EECF244321}">
                <p14:modId xmlns:p14="http://schemas.microsoft.com/office/powerpoint/2010/main" val="2449086162"/>
              </p:ext>
            </p:extLst>
          </p:nvPr>
        </p:nvGraphicFramePr>
        <p:xfrm>
          <a:off x="811920" y="3245467"/>
          <a:ext cx="103632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17" name="表格 13">
            <a:extLst>
              <a:ext uri="{FF2B5EF4-FFF2-40B4-BE49-F238E27FC236}">
                <a16:creationId xmlns:a16="http://schemas.microsoft.com/office/drawing/2014/main" id="{3ADE4CE4-6F23-45E8-A482-93440BCDFCB3}"/>
              </a:ext>
            </a:extLst>
          </p:cNvPr>
          <p:cNvGraphicFramePr>
            <a:graphicFrameLocks noGrp="1"/>
          </p:cNvGraphicFramePr>
          <p:nvPr>
            <p:extLst>
              <p:ext uri="{D42A27DB-BD31-4B8C-83A1-F6EECF244321}">
                <p14:modId xmlns:p14="http://schemas.microsoft.com/office/powerpoint/2010/main" val="529235098"/>
              </p:ext>
            </p:extLst>
          </p:nvPr>
        </p:nvGraphicFramePr>
        <p:xfrm>
          <a:off x="2974548" y="4949038"/>
          <a:ext cx="34544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3" name="表格 13">
            <a:extLst>
              <a:ext uri="{FF2B5EF4-FFF2-40B4-BE49-F238E27FC236}">
                <a16:creationId xmlns:a16="http://schemas.microsoft.com/office/drawing/2014/main" id="{A986530A-51B5-4B25-9884-0BF016356E96}"/>
              </a:ext>
            </a:extLst>
          </p:cNvPr>
          <p:cNvGraphicFramePr>
            <a:graphicFrameLocks noGrp="1"/>
          </p:cNvGraphicFramePr>
          <p:nvPr>
            <p:extLst>
              <p:ext uri="{D42A27DB-BD31-4B8C-83A1-F6EECF244321}">
                <p14:modId xmlns:p14="http://schemas.microsoft.com/office/powerpoint/2010/main" val="1068249205"/>
              </p:ext>
            </p:extLst>
          </p:nvPr>
        </p:nvGraphicFramePr>
        <p:xfrm>
          <a:off x="4528425" y="1051165"/>
          <a:ext cx="957975" cy="1828800"/>
        </p:xfrm>
        <a:graphic>
          <a:graphicData uri="http://schemas.openxmlformats.org/drawingml/2006/table">
            <a:tbl>
              <a:tblPr firstRow="1" bandRow="1">
                <a:tableStyleId>{5C22544A-7EE6-4342-B048-85BDC9FD1C3A}</a:tableStyleId>
              </a:tblPr>
              <a:tblGrid>
                <a:gridCol w="957975">
                  <a:extLst>
                    <a:ext uri="{9D8B030D-6E8A-4147-A177-3AD203B41FA5}">
                      <a16:colId xmlns:a16="http://schemas.microsoft.com/office/drawing/2014/main" val="1732263812"/>
                    </a:ext>
                  </a:extLst>
                </a:gridCol>
              </a:tblGrid>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6, 4, 2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537889"/>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3, 5, 7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8573940"/>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329684"/>
                  </a:ext>
                </a:extLst>
              </a:tr>
            </a:tbl>
          </a:graphicData>
        </a:graphic>
      </p:graphicFrame>
      <p:sp>
        <p:nvSpPr>
          <p:cNvPr id="24" name="文字方塊 23">
            <a:extLst>
              <a:ext uri="{FF2B5EF4-FFF2-40B4-BE49-F238E27FC236}">
                <a16:creationId xmlns:a16="http://schemas.microsoft.com/office/drawing/2014/main" id="{C7633FBC-BBF6-4971-8286-030CF96AC88A}"/>
              </a:ext>
            </a:extLst>
          </p:cNvPr>
          <p:cNvSpPr txBox="1"/>
          <p:nvPr/>
        </p:nvSpPr>
        <p:spPr>
          <a:xfrm>
            <a:off x="4053491" y="1015395"/>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A</a:t>
            </a:r>
          </a:p>
        </p:txBody>
      </p:sp>
      <p:sp>
        <p:nvSpPr>
          <p:cNvPr id="25" name="文字方塊 24">
            <a:extLst>
              <a:ext uri="{FF2B5EF4-FFF2-40B4-BE49-F238E27FC236}">
                <a16:creationId xmlns:a16="http://schemas.microsoft.com/office/drawing/2014/main" id="{C0327981-72DA-4FD0-AE82-927426B152E5}"/>
              </a:ext>
            </a:extLst>
          </p:cNvPr>
          <p:cNvSpPr txBox="1"/>
          <p:nvPr/>
        </p:nvSpPr>
        <p:spPr>
          <a:xfrm>
            <a:off x="4058465" y="1507056"/>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C</a:t>
            </a:r>
          </a:p>
        </p:txBody>
      </p:sp>
      <p:sp>
        <p:nvSpPr>
          <p:cNvPr id="26" name="文字方塊 25">
            <a:extLst>
              <a:ext uri="{FF2B5EF4-FFF2-40B4-BE49-F238E27FC236}">
                <a16:creationId xmlns:a16="http://schemas.microsoft.com/office/drawing/2014/main" id="{9AD039C2-ED38-4F66-870C-8EAA32765135}"/>
              </a:ext>
            </a:extLst>
          </p:cNvPr>
          <p:cNvSpPr txBox="1"/>
          <p:nvPr/>
        </p:nvSpPr>
        <p:spPr>
          <a:xfrm>
            <a:off x="4058465" y="2400388"/>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T</a:t>
            </a:r>
          </a:p>
        </p:txBody>
      </p:sp>
      <p:sp>
        <p:nvSpPr>
          <p:cNvPr id="27" name="文字方塊 26">
            <a:extLst>
              <a:ext uri="{FF2B5EF4-FFF2-40B4-BE49-F238E27FC236}">
                <a16:creationId xmlns:a16="http://schemas.microsoft.com/office/drawing/2014/main" id="{FDBFE0B7-C1ED-4F9B-BE68-4E3C602BAB6D}"/>
              </a:ext>
            </a:extLst>
          </p:cNvPr>
          <p:cNvSpPr txBox="1"/>
          <p:nvPr/>
        </p:nvSpPr>
        <p:spPr>
          <a:xfrm>
            <a:off x="4058465" y="1938544"/>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G</a:t>
            </a:r>
          </a:p>
        </p:txBody>
      </p:sp>
      <p:sp>
        <p:nvSpPr>
          <p:cNvPr id="18" name="矩形 17">
            <a:extLst>
              <a:ext uri="{FF2B5EF4-FFF2-40B4-BE49-F238E27FC236}">
                <a16:creationId xmlns:a16="http://schemas.microsoft.com/office/drawing/2014/main" id="{7459C6D6-5A3F-48AC-ACDD-369637A493E4}"/>
              </a:ext>
            </a:extLst>
          </p:cNvPr>
          <p:cNvSpPr/>
          <p:nvPr/>
        </p:nvSpPr>
        <p:spPr>
          <a:xfrm>
            <a:off x="2417379" y="2483571"/>
            <a:ext cx="456450" cy="3963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72080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dirty="0"/>
          </a:p>
        </p:txBody>
      </p:sp>
      <p:pic>
        <p:nvPicPr>
          <p:cNvPr id="31" name="圖片 30">
            <a:extLst>
              <a:ext uri="{FF2B5EF4-FFF2-40B4-BE49-F238E27FC236}">
                <a16:creationId xmlns:a16="http://schemas.microsoft.com/office/drawing/2014/main" id="{E8C0AF1D-6248-4667-9669-66D0CD345EFA}"/>
              </a:ext>
            </a:extLst>
          </p:cNvPr>
          <p:cNvPicPr>
            <a:picLocks noChangeAspect="1"/>
          </p:cNvPicPr>
          <p:nvPr/>
        </p:nvPicPr>
        <p:blipFill rotWithShape="1">
          <a:blip r:embed="rId3"/>
          <a:srcRect r="61925"/>
          <a:stretch/>
        </p:blipFill>
        <p:spPr>
          <a:xfrm>
            <a:off x="138345" y="87321"/>
            <a:ext cx="3443056" cy="3029106"/>
          </a:xfrm>
          <a:prstGeom prst="rect">
            <a:avLst/>
          </a:prstGeom>
        </p:spPr>
      </p:pic>
      <p:graphicFrame>
        <p:nvGraphicFramePr>
          <p:cNvPr id="13" name="表格 13">
            <a:extLst>
              <a:ext uri="{FF2B5EF4-FFF2-40B4-BE49-F238E27FC236}">
                <a16:creationId xmlns:a16="http://schemas.microsoft.com/office/drawing/2014/main" id="{0782E2FE-77D6-4166-8B73-49FD510005E1}"/>
              </a:ext>
            </a:extLst>
          </p:cNvPr>
          <p:cNvGraphicFramePr>
            <a:graphicFrameLocks noGrp="1"/>
          </p:cNvGraphicFramePr>
          <p:nvPr>
            <p:extLst>
              <p:ext uri="{D42A27DB-BD31-4B8C-83A1-F6EECF244321}">
                <p14:modId xmlns:p14="http://schemas.microsoft.com/office/powerpoint/2010/main" val="129401681"/>
              </p:ext>
            </p:extLst>
          </p:nvPr>
        </p:nvGraphicFramePr>
        <p:xfrm>
          <a:off x="811924" y="3741574"/>
          <a:ext cx="103632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rgbClr val="FF0000"/>
                          </a:solidFill>
                          <a:latin typeface="Times" panose="02020603050405020304" pitchFamily="18" charset="0"/>
                          <a:cs typeface="Times" panose="02020603050405020304" pitchFamily="18" charset="0"/>
                        </a:rPr>
                        <a:t>T</a:t>
                      </a:r>
                      <a:endParaRPr lang="zh-TW" altLang="en-US" sz="2400" b="0" dirty="0">
                        <a:solidFill>
                          <a:srgbClr val="FF0000"/>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8" name="表格 13">
            <a:extLst>
              <a:ext uri="{FF2B5EF4-FFF2-40B4-BE49-F238E27FC236}">
                <a16:creationId xmlns:a16="http://schemas.microsoft.com/office/drawing/2014/main" id="{618968C8-8906-4BEF-A353-77FC1A4816C8}"/>
              </a:ext>
            </a:extLst>
          </p:cNvPr>
          <p:cNvGraphicFramePr>
            <a:graphicFrameLocks noGrp="1"/>
          </p:cNvGraphicFramePr>
          <p:nvPr>
            <p:extLst>
              <p:ext uri="{D42A27DB-BD31-4B8C-83A1-F6EECF244321}">
                <p14:modId xmlns:p14="http://schemas.microsoft.com/office/powerpoint/2010/main" val="2630982876"/>
              </p:ext>
            </p:extLst>
          </p:nvPr>
        </p:nvGraphicFramePr>
        <p:xfrm>
          <a:off x="6860749" y="4444401"/>
          <a:ext cx="34544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C</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sp>
        <p:nvSpPr>
          <p:cNvPr id="30" name="文字方塊 29">
            <a:extLst>
              <a:ext uri="{FF2B5EF4-FFF2-40B4-BE49-F238E27FC236}">
                <a16:creationId xmlns:a16="http://schemas.microsoft.com/office/drawing/2014/main" id="{9B9306C0-0577-40B5-8BAF-4E367A3A22BD}"/>
              </a:ext>
            </a:extLst>
          </p:cNvPr>
          <p:cNvSpPr txBox="1"/>
          <p:nvPr/>
        </p:nvSpPr>
        <p:spPr>
          <a:xfrm>
            <a:off x="4061309" y="-21772"/>
            <a:ext cx="2471058" cy="579967"/>
          </a:xfrm>
          <a:prstGeom prst="rect">
            <a:avLst/>
          </a:prstGeom>
          <a:noFill/>
        </p:spPr>
        <p:txBody>
          <a:bodyPr wrap="square" rtlCol="0">
            <a:spAutoFit/>
          </a:bodyPr>
          <a:lstStyle/>
          <a:p>
            <a:pPr>
              <a:lnSpc>
                <a:spcPct val="150000"/>
              </a:lnSpc>
            </a:pPr>
            <a:r>
              <a:rPr lang="en-US" altLang="zh-TW" sz="2400" dirty="0">
                <a:latin typeface="Times" panose="02020603050405020304" pitchFamily="18" charset="0"/>
                <a:cs typeface="Times" panose="02020603050405020304" pitchFamily="18" charset="0"/>
              </a:rPr>
              <a:t>Last current index:</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B0220D5D-63DE-426C-B8C6-755C400415AD}"/>
                  </a:ext>
                </a:extLst>
              </p:cNvPr>
              <p:cNvSpPr txBox="1"/>
              <p:nvPr/>
            </p:nvSpPr>
            <p:spPr>
              <a:xfrm>
                <a:off x="380999" y="3785508"/>
                <a:ext cx="2584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B0220D5D-63DE-426C-B8C6-755C400415AD}"/>
                  </a:ext>
                </a:extLst>
              </p:cNvPr>
              <p:cNvSpPr txBox="1">
                <a:spLocks noRot="1" noChangeAspect="1" noMove="1" noResize="1" noEditPoints="1" noAdjustHandles="1" noChangeArrowheads="1" noChangeShapeType="1" noTextEdit="1"/>
              </p:cNvSpPr>
              <p:nvPr/>
            </p:nvSpPr>
            <p:spPr>
              <a:xfrm>
                <a:off x="380999" y="3785508"/>
                <a:ext cx="258404" cy="369332"/>
              </a:xfrm>
              <a:prstGeom prst="rect">
                <a:avLst/>
              </a:prstGeom>
              <a:blipFill>
                <a:blip r:embed="rId4"/>
                <a:stretch>
                  <a:fillRect l="-25581" r="-25581" b="-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4A279-C91B-45FE-9C97-11267B89476A}"/>
                  </a:ext>
                </a:extLst>
              </p:cNvPr>
              <p:cNvSpPr txBox="1"/>
              <p:nvPr/>
            </p:nvSpPr>
            <p:spPr>
              <a:xfrm>
                <a:off x="388373" y="4488335"/>
                <a:ext cx="2436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oMath>
                  </m:oMathPara>
                </a14:m>
                <a:endParaRPr lang="zh-TW" altLang="en-US" sz="2400" dirty="0"/>
              </a:p>
            </p:txBody>
          </p:sp>
        </mc:Choice>
        <mc:Fallback xmlns="">
          <p:sp>
            <p:nvSpPr>
              <p:cNvPr id="15" name="文字方塊 14">
                <a:extLst>
                  <a:ext uri="{FF2B5EF4-FFF2-40B4-BE49-F238E27FC236}">
                    <a16:creationId xmlns:a16="http://schemas.microsoft.com/office/drawing/2014/main" id="{4884A279-C91B-45FE-9C97-11267B89476A}"/>
                  </a:ext>
                </a:extLst>
              </p:cNvPr>
              <p:cNvSpPr txBox="1">
                <a:spLocks noRot="1" noChangeAspect="1" noMove="1" noResize="1" noEditPoints="1" noAdjustHandles="1" noChangeArrowheads="1" noChangeShapeType="1" noTextEdit="1"/>
              </p:cNvSpPr>
              <p:nvPr/>
            </p:nvSpPr>
            <p:spPr>
              <a:xfrm>
                <a:off x="388373" y="4488335"/>
                <a:ext cx="243656" cy="369332"/>
              </a:xfrm>
              <a:prstGeom prst="rect">
                <a:avLst/>
              </a:prstGeom>
              <a:blipFill>
                <a:blip r:embed="rId5"/>
                <a:stretch>
                  <a:fillRect l="-30000" r="-27500" b="-6557"/>
                </a:stretch>
              </a:blipFill>
            </p:spPr>
            <p:txBody>
              <a:bodyPr/>
              <a:lstStyle/>
              <a:p>
                <a:r>
                  <a:rPr lang="zh-TW" altLang="en-US">
                    <a:noFill/>
                  </a:rPr>
                  <a:t> </a:t>
                </a:r>
              </a:p>
            </p:txBody>
          </p:sp>
        </mc:Fallback>
      </mc:AlternateContent>
      <p:graphicFrame>
        <p:nvGraphicFramePr>
          <p:cNvPr id="16" name="表格 13">
            <a:extLst>
              <a:ext uri="{FF2B5EF4-FFF2-40B4-BE49-F238E27FC236}">
                <a16:creationId xmlns:a16="http://schemas.microsoft.com/office/drawing/2014/main" id="{3270866A-4956-4BEA-9043-04FBA8A3E775}"/>
              </a:ext>
            </a:extLst>
          </p:cNvPr>
          <p:cNvGraphicFramePr>
            <a:graphicFrameLocks noGrp="1"/>
          </p:cNvGraphicFramePr>
          <p:nvPr>
            <p:extLst>
              <p:ext uri="{D42A27DB-BD31-4B8C-83A1-F6EECF244321}">
                <p14:modId xmlns:p14="http://schemas.microsoft.com/office/powerpoint/2010/main" val="1936482782"/>
              </p:ext>
            </p:extLst>
          </p:nvPr>
        </p:nvGraphicFramePr>
        <p:xfrm>
          <a:off x="811920" y="3245467"/>
          <a:ext cx="103632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17" name="表格 13">
            <a:extLst>
              <a:ext uri="{FF2B5EF4-FFF2-40B4-BE49-F238E27FC236}">
                <a16:creationId xmlns:a16="http://schemas.microsoft.com/office/drawing/2014/main" id="{3ADE4CE4-6F23-45E8-A482-93440BCDFCB3}"/>
              </a:ext>
            </a:extLst>
          </p:cNvPr>
          <p:cNvGraphicFramePr>
            <a:graphicFrameLocks noGrp="1"/>
          </p:cNvGraphicFramePr>
          <p:nvPr>
            <p:extLst>
              <p:ext uri="{D42A27DB-BD31-4B8C-83A1-F6EECF244321}">
                <p14:modId xmlns:p14="http://schemas.microsoft.com/office/powerpoint/2010/main" val="1934915398"/>
              </p:ext>
            </p:extLst>
          </p:nvPr>
        </p:nvGraphicFramePr>
        <p:xfrm>
          <a:off x="6860749" y="4949038"/>
          <a:ext cx="34544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3" name="表格 13">
            <a:extLst>
              <a:ext uri="{FF2B5EF4-FFF2-40B4-BE49-F238E27FC236}">
                <a16:creationId xmlns:a16="http://schemas.microsoft.com/office/drawing/2014/main" id="{A986530A-51B5-4B25-9884-0BF016356E96}"/>
              </a:ext>
            </a:extLst>
          </p:cNvPr>
          <p:cNvGraphicFramePr>
            <a:graphicFrameLocks noGrp="1"/>
          </p:cNvGraphicFramePr>
          <p:nvPr>
            <p:extLst>
              <p:ext uri="{D42A27DB-BD31-4B8C-83A1-F6EECF244321}">
                <p14:modId xmlns:p14="http://schemas.microsoft.com/office/powerpoint/2010/main" val="747468084"/>
              </p:ext>
            </p:extLst>
          </p:nvPr>
        </p:nvGraphicFramePr>
        <p:xfrm>
          <a:off x="4528425" y="1051165"/>
          <a:ext cx="479908" cy="1828800"/>
        </p:xfrm>
        <a:graphic>
          <a:graphicData uri="http://schemas.openxmlformats.org/drawingml/2006/table">
            <a:tbl>
              <a:tblPr firstRow="1" bandRow="1">
                <a:tableStyleId>{5C22544A-7EE6-4342-B048-85BDC9FD1C3A}</a:tableStyleId>
              </a:tblPr>
              <a:tblGrid>
                <a:gridCol w="479908">
                  <a:extLst>
                    <a:ext uri="{9D8B030D-6E8A-4147-A177-3AD203B41FA5}">
                      <a16:colId xmlns:a16="http://schemas.microsoft.com/office/drawing/2014/main" val="1732263812"/>
                    </a:ext>
                  </a:extLst>
                </a:gridCol>
              </a:tblGrid>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537889"/>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8573940"/>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329684"/>
                  </a:ext>
                </a:extLst>
              </a:tr>
            </a:tbl>
          </a:graphicData>
        </a:graphic>
      </p:graphicFrame>
      <p:sp>
        <p:nvSpPr>
          <p:cNvPr id="24" name="文字方塊 23">
            <a:extLst>
              <a:ext uri="{FF2B5EF4-FFF2-40B4-BE49-F238E27FC236}">
                <a16:creationId xmlns:a16="http://schemas.microsoft.com/office/drawing/2014/main" id="{C7633FBC-BBF6-4971-8286-030CF96AC88A}"/>
              </a:ext>
            </a:extLst>
          </p:cNvPr>
          <p:cNvSpPr txBox="1"/>
          <p:nvPr/>
        </p:nvSpPr>
        <p:spPr>
          <a:xfrm>
            <a:off x="4053491" y="1015395"/>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A</a:t>
            </a:r>
          </a:p>
        </p:txBody>
      </p:sp>
      <p:sp>
        <p:nvSpPr>
          <p:cNvPr id="25" name="文字方塊 24">
            <a:extLst>
              <a:ext uri="{FF2B5EF4-FFF2-40B4-BE49-F238E27FC236}">
                <a16:creationId xmlns:a16="http://schemas.microsoft.com/office/drawing/2014/main" id="{C0327981-72DA-4FD0-AE82-927426B152E5}"/>
              </a:ext>
            </a:extLst>
          </p:cNvPr>
          <p:cNvSpPr txBox="1"/>
          <p:nvPr/>
        </p:nvSpPr>
        <p:spPr>
          <a:xfrm>
            <a:off x="4058465" y="1507056"/>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C</a:t>
            </a:r>
          </a:p>
        </p:txBody>
      </p:sp>
      <p:sp>
        <p:nvSpPr>
          <p:cNvPr id="26" name="文字方塊 25">
            <a:extLst>
              <a:ext uri="{FF2B5EF4-FFF2-40B4-BE49-F238E27FC236}">
                <a16:creationId xmlns:a16="http://schemas.microsoft.com/office/drawing/2014/main" id="{9AD039C2-ED38-4F66-870C-8EAA32765135}"/>
              </a:ext>
            </a:extLst>
          </p:cNvPr>
          <p:cNvSpPr txBox="1"/>
          <p:nvPr/>
        </p:nvSpPr>
        <p:spPr>
          <a:xfrm>
            <a:off x="4058465" y="2400388"/>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T</a:t>
            </a:r>
          </a:p>
        </p:txBody>
      </p:sp>
      <p:sp>
        <p:nvSpPr>
          <p:cNvPr id="27" name="文字方塊 26">
            <a:extLst>
              <a:ext uri="{FF2B5EF4-FFF2-40B4-BE49-F238E27FC236}">
                <a16:creationId xmlns:a16="http://schemas.microsoft.com/office/drawing/2014/main" id="{FDBFE0B7-C1ED-4F9B-BE68-4E3C602BAB6D}"/>
              </a:ext>
            </a:extLst>
          </p:cNvPr>
          <p:cNvSpPr txBox="1"/>
          <p:nvPr/>
        </p:nvSpPr>
        <p:spPr>
          <a:xfrm>
            <a:off x="4058465" y="1938544"/>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G</a:t>
            </a:r>
          </a:p>
        </p:txBody>
      </p:sp>
      <p:sp>
        <p:nvSpPr>
          <p:cNvPr id="37" name="矩形 36">
            <a:extLst>
              <a:ext uri="{FF2B5EF4-FFF2-40B4-BE49-F238E27FC236}">
                <a16:creationId xmlns:a16="http://schemas.microsoft.com/office/drawing/2014/main" id="{62170DD8-A86C-494C-82FD-92F2DF1BCF02}"/>
              </a:ext>
            </a:extLst>
          </p:cNvPr>
          <p:cNvSpPr/>
          <p:nvPr/>
        </p:nvSpPr>
        <p:spPr>
          <a:xfrm>
            <a:off x="1992086" y="2483572"/>
            <a:ext cx="881743" cy="3869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963152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dirty="0"/>
          </a:p>
        </p:txBody>
      </p:sp>
      <p:pic>
        <p:nvPicPr>
          <p:cNvPr id="31" name="圖片 30">
            <a:extLst>
              <a:ext uri="{FF2B5EF4-FFF2-40B4-BE49-F238E27FC236}">
                <a16:creationId xmlns:a16="http://schemas.microsoft.com/office/drawing/2014/main" id="{E8C0AF1D-6248-4667-9669-66D0CD345EFA}"/>
              </a:ext>
            </a:extLst>
          </p:cNvPr>
          <p:cNvPicPr>
            <a:picLocks noChangeAspect="1"/>
          </p:cNvPicPr>
          <p:nvPr/>
        </p:nvPicPr>
        <p:blipFill rotWithShape="1">
          <a:blip r:embed="rId3"/>
          <a:srcRect r="61925"/>
          <a:stretch/>
        </p:blipFill>
        <p:spPr>
          <a:xfrm>
            <a:off x="138345" y="87321"/>
            <a:ext cx="3443056" cy="3029106"/>
          </a:xfrm>
          <a:prstGeom prst="rect">
            <a:avLst/>
          </a:prstGeom>
        </p:spPr>
      </p:pic>
      <p:graphicFrame>
        <p:nvGraphicFramePr>
          <p:cNvPr id="13" name="表格 13">
            <a:extLst>
              <a:ext uri="{FF2B5EF4-FFF2-40B4-BE49-F238E27FC236}">
                <a16:creationId xmlns:a16="http://schemas.microsoft.com/office/drawing/2014/main" id="{0782E2FE-77D6-4166-8B73-49FD510005E1}"/>
              </a:ext>
            </a:extLst>
          </p:cNvPr>
          <p:cNvGraphicFramePr>
            <a:graphicFrameLocks noGrp="1"/>
          </p:cNvGraphicFramePr>
          <p:nvPr>
            <p:extLst>
              <p:ext uri="{D42A27DB-BD31-4B8C-83A1-F6EECF244321}">
                <p14:modId xmlns:p14="http://schemas.microsoft.com/office/powerpoint/2010/main" val="956718105"/>
              </p:ext>
            </p:extLst>
          </p:nvPr>
        </p:nvGraphicFramePr>
        <p:xfrm>
          <a:off x="811924" y="3741574"/>
          <a:ext cx="103632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rgbClr val="FF0000"/>
                          </a:solidFill>
                          <a:latin typeface="Times" panose="02020603050405020304" pitchFamily="18" charset="0"/>
                          <a:cs typeface="Times" panose="02020603050405020304" pitchFamily="18" charset="0"/>
                        </a:rPr>
                        <a:t>A</a:t>
                      </a:r>
                      <a:endParaRPr lang="zh-TW" altLang="en-US" sz="2400" b="0" dirty="0">
                        <a:solidFill>
                          <a:srgbClr val="FF0000"/>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8" name="表格 13">
            <a:extLst>
              <a:ext uri="{FF2B5EF4-FFF2-40B4-BE49-F238E27FC236}">
                <a16:creationId xmlns:a16="http://schemas.microsoft.com/office/drawing/2014/main" id="{618968C8-8906-4BEF-A353-77FC1A4816C8}"/>
              </a:ext>
            </a:extLst>
          </p:cNvPr>
          <p:cNvGraphicFramePr>
            <a:graphicFrameLocks noGrp="1"/>
          </p:cNvGraphicFramePr>
          <p:nvPr>
            <p:extLst>
              <p:ext uri="{D42A27DB-BD31-4B8C-83A1-F6EECF244321}">
                <p14:modId xmlns:p14="http://schemas.microsoft.com/office/powerpoint/2010/main" val="1869741621"/>
              </p:ext>
            </p:extLst>
          </p:nvPr>
        </p:nvGraphicFramePr>
        <p:xfrm>
          <a:off x="7731609" y="4444401"/>
          <a:ext cx="34544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C</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G</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sp>
        <p:nvSpPr>
          <p:cNvPr id="30" name="文字方塊 29">
            <a:extLst>
              <a:ext uri="{FF2B5EF4-FFF2-40B4-BE49-F238E27FC236}">
                <a16:creationId xmlns:a16="http://schemas.microsoft.com/office/drawing/2014/main" id="{9B9306C0-0577-40B5-8BAF-4E367A3A22BD}"/>
              </a:ext>
            </a:extLst>
          </p:cNvPr>
          <p:cNvSpPr txBox="1"/>
          <p:nvPr/>
        </p:nvSpPr>
        <p:spPr>
          <a:xfrm>
            <a:off x="4061309" y="-21772"/>
            <a:ext cx="2471058" cy="579967"/>
          </a:xfrm>
          <a:prstGeom prst="rect">
            <a:avLst/>
          </a:prstGeom>
          <a:noFill/>
        </p:spPr>
        <p:txBody>
          <a:bodyPr wrap="square" rtlCol="0">
            <a:spAutoFit/>
          </a:bodyPr>
          <a:lstStyle/>
          <a:p>
            <a:pPr>
              <a:lnSpc>
                <a:spcPct val="150000"/>
              </a:lnSpc>
            </a:pPr>
            <a:r>
              <a:rPr lang="en-US" altLang="zh-TW" sz="2400" dirty="0">
                <a:latin typeface="Times" panose="02020603050405020304" pitchFamily="18" charset="0"/>
                <a:cs typeface="Times" panose="02020603050405020304" pitchFamily="18" charset="0"/>
              </a:rPr>
              <a:t>Last current index:</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B0220D5D-63DE-426C-B8C6-755C400415AD}"/>
                  </a:ext>
                </a:extLst>
              </p:cNvPr>
              <p:cNvSpPr txBox="1"/>
              <p:nvPr/>
            </p:nvSpPr>
            <p:spPr>
              <a:xfrm>
                <a:off x="380999" y="3785508"/>
                <a:ext cx="2584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B0220D5D-63DE-426C-B8C6-755C400415AD}"/>
                  </a:ext>
                </a:extLst>
              </p:cNvPr>
              <p:cNvSpPr txBox="1">
                <a:spLocks noRot="1" noChangeAspect="1" noMove="1" noResize="1" noEditPoints="1" noAdjustHandles="1" noChangeArrowheads="1" noChangeShapeType="1" noTextEdit="1"/>
              </p:cNvSpPr>
              <p:nvPr/>
            </p:nvSpPr>
            <p:spPr>
              <a:xfrm>
                <a:off x="380999" y="3785508"/>
                <a:ext cx="258404" cy="369332"/>
              </a:xfrm>
              <a:prstGeom prst="rect">
                <a:avLst/>
              </a:prstGeom>
              <a:blipFill>
                <a:blip r:embed="rId4"/>
                <a:stretch>
                  <a:fillRect l="-25581" r="-25581" b="-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4A279-C91B-45FE-9C97-11267B89476A}"/>
                  </a:ext>
                </a:extLst>
              </p:cNvPr>
              <p:cNvSpPr txBox="1"/>
              <p:nvPr/>
            </p:nvSpPr>
            <p:spPr>
              <a:xfrm>
                <a:off x="388373" y="4488335"/>
                <a:ext cx="2436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oMath>
                  </m:oMathPara>
                </a14:m>
                <a:endParaRPr lang="zh-TW" altLang="en-US" sz="2400" dirty="0"/>
              </a:p>
            </p:txBody>
          </p:sp>
        </mc:Choice>
        <mc:Fallback xmlns="">
          <p:sp>
            <p:nvSpPr>
              <p:cNvPr id="15" name="文字方塊 14">
                <a:extLst>
                  <a:ext uri="{FF2B5EF4-FFF2-40B4-BE49-F238E27FC236}">
                    <a16:creationId xmlns:a16="http://schemas.microsoft.com/office/drawing/2014/main" id="{4884A279-C91B-45FE-9C97-11267B89476A}"/>
                  </a:ext>
                </a:extLst>
              </p:cNvPr>
              <p:cNvSpPr txBox="1">
                <a:spLocks noRot="1" noChangeAspect="1" noMove="1" noResize="1" noEditPoints="1" noAdjustHandles="1" noChangeArrowheads="1" noChangeShapeType="1" noTextEdit="1"/>
              </p:cNvSpPr>
              <p:nvPr/>
            </p:nvSpPr>
            <p:spPr>
              <a:xfrm>
                <a:off x="388373" y="4488335"/>
                <a:ext cx="243656" cy="369332"/>
              </a:xfrm>
              <a:prstGeom prst="rect">
                <a:avLst/>
              </a:prstGeom>
              <a:blipFill>
                <a:blip r:embed="rId5"/>
                <a:stretch>
                  <a:fillRect l="-30000" r="-27500" b="-6557"/>
                </a:stretch>
              </a:blipFill>
            </p:spPr>
            <p:txBody>
              <a:bodyPr/>
              <a:lstStyle/>
              <a:p>
                <a:r>
                  <a:rPr lang="zh-TW" altLang="en-US">
                    <a:noFill/>
                  </a:rPr>
                  <a:t> </a:t>
                </a:r>
              </a:p>
            </p:txBody>
          </p:sp>
        </mc:Fallback>
      </mc:AlternateContent>
      <p:graphicFrame>
        <p:nvGraphicFramePr>
          <p:cNvPr id="16" name="表格 13">
            <a:extLst>
              <a:ext uri="{FF2B5EF4-FFF2-40B4-BE49-F238E27FC236}">
                <a16:creationId xmlns:a16="http://schemas.microsoft.com/office/drawing/2014/main" id="{3270866A-4956-4BEA-9043-04FBA8A3E775}"/>
              </a:ext>
            </a:extLst>
          </p:cNvPr>
          <p:cNvGraphicFramePr>
            <a:graphicFrameLocks noGrp="1"/>
          </p:cNvGraphicFramePr>
          <p:nvPr>
            <p:extLst>
              <p:ext uri="{D42A27DB-BD31-4B8C-83A1-F6EECF244321}">
                <p14:modId xmlns:p14="http://schemas.microsoft.com/office/powerpoint/2010/main" val="3806511720"/>
              </p:ext>
            </p:extLst>
          </p:nvPr>
        </p:nvGraphicFramePr>
        <p:xfrm>
          <a:off x="811920" y="3245467"/>
          <a:ext cx="103632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17" name="表格 13">
            <a:extLst>
              <a:ext uri="{FF2B5EF4-FFF2-40B4-BE49-F238E27FC236}">
                <a16:creationId xmlns:a16="http://schemas.microsoft.com/office/drawing/2014/main" id="{3ADE4CE4-6F23-45E8-A482-93440BCDFCB3}"/>
              </a:ext>
            </a:extLst>
          </p:cNvPr>
          <p:cNvGraphicFramePr>
            <a:graphicFrameLocks noGrp="1"/>
          </p:cNvGraphicFramePr>
          <p:nvPr>
            <p:extLst>
              <p:ext uri="{D42A27DB-BD31-4B8C-83A1-F6EECF244321}">
                <p14:modId xmlns:p14="http://schemas.microsoft.com/office/powerpoint/2010/main" val="2121905573"/>
              </p:ext>
            </p:extLst>
          </p:nvPr>
        </p:nvGraphicFramePr>
        <p:xfrm>
          <a:off x="7731609" y="4949038"/>
          <a:ext cx="34544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3" name="表格 13">
            <a:extLst>
              <a:ext uri="{FF2B5EF4-FFF2-40B4-BE49-F238E27FC236}">
                <a16:creationId xmlns:a16="http://schemas.microsoft.com/office/drawing/2014/main" id="{A986530A-51B5-4B25-9884-0BF016356E96}"/>
              </a:ext>
            </a:extLst>
          </p:cNvPr>
          <p:cNvGraphicFramePr>
            <a:graphicFrameLocks noGrp="1"/>
          </p:cNvGraphicFramePr>
          <p:nvPr>
            <p:extLst>
              <p:ext uri="{D42A27DB-BD31-4B8C-83A1-F6EECF244321}">
                <p14:modId xmlns:p14="http://schemas.microsoft.com/office/powerpoint/2010/main" val="2136026432"/>
              </p:ext>
            </p:extLst>
          </p:nvPr>
        </p:nvGraphicFramePr>
        <p:xfrm>
          <a:off x="4528425" y="1051165"/>
          <a:ext cx="479908" cy="1828800"/>
        </p:xfrm>
        <a:graphic>
          <a:graphicData uri="http://schemas.openxmlformats.org/drawingml/2006/table">
            <a:tbl>
              <a:tblPr firstRow="1" bandRow="1">
                <a:tableStyleId>{5C22544A-7EE6-4342-B048-85BDC9FD1C3A}</a:tableStyleId>
              </a:tblPr>
              <a:tblGrid>
                <a:gridCol w="479908">
                  <a:extLst>
                    <a:ext uri="{9D8B030D-6E8A-4147-A177-3AD203B41FA5}">
                      <a16:colId xmlns:a16="http://schemas.microsoft.com/office/drawing/2014/main" val="1732263812"/>
                    </a:ext>
                  </a:extLst>
                </a:gridCol>
              </a:tblGrid>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537889"/>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8573940"/>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329684"/>
                  </a:ext>
                </a:extLst>
              </a:tr>
            </a:tbl>
          </a:graphicData>
        </a:graphic>
      </p:graphicFrame>
      <p:sp>
        <p:nvSpPr>
          <p:cNvPr id="24" name="文字方塊 23">
            <a:extLst>
              <a:ext uri="{FF2B5EF4-FFF2-40B4-BE49-F238E27FC236}">
                <a16:creationId xmlns:a16="http://schemas.microsoft.com/office/drawing/2014/main" id="{C7633FBC-BBF6-4971-8286-030CF96AC88A}"/>
              </a:ext>
            </a:extLst>
          </p:cNvPr>
          <p:cNvSpPr txBox="1"/>
          <p:nvPr/>
        </p:nvSpPr>
        <p:spPr>
          <a:xfrm>
            <a:off x="4053491" y="1015395"/>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A</a:t>
            </a:r>
          </a:p>
        </p:txBody>
      </p:sp>
      <p:sp>
        <p:nvSpPr>
          <p:cNvPr id="25" name="文字方塊 24">
            <a:extLst>
              <a:ext uri="{FF2B5EF4-FFF2-40B4-BE49-F238E27FC236}">
                <a16:creationId xmlns:a16="http://schemas.microsoft.com/office/drawing/2014/main" id="{C0327981-72DA-4FD0-AE82-927426B152E5}"/>
              </a:ext>
            </a:extLst>
          </p:cNvPr>
          <p:cNvSpPr txBox="1"/>
          <p:nvPr/>
        </p:nvSpPr>
        <p:spPr>
          <a:xfrm>
            <a:off x="4058465" y="1507056"/>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C</a:t>
            </a:r>
          </a:p>
        </p:txBody>
      </p:sp>
      <p:sp>
        <p:nvSpPr>
          <p:cNvPr id="26" name="文字方塊 25">
            <a:extLst>
              <a:ext uri="{FF2B5EF4-FFF2-40B4-BE49-F238E27FC236}">
                <a16:creationId xmlns:a16="http://schemas.microsoft.com/office/drawing/2014/main" id="{9AD039C2-ED38-4F66-870C-8EAA32765135}"/>
              </a:ext>
            </a:extLst>
          </p:cNvPr>
          <p:cNvSpPr txBox="1"/>
          <p:nvPr/>
        </p:nvSpPr>
        <p:spPr>
          <a:xfrm>
            <a:off x="4058465" y="2400388"/>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T</a:t>
            </a:r>
          </a:p>
        </p:txBody>
      </p:sp>
      <p:sp>
        <p:nvSpPr>
          <p:cNvPr id="27" name="文字方塊 26">
            <a:extLst>
              <a:ext uri="{FF2B5EF4-FFF2-40B4-BE49-F238E27FC236}">
                <a16:creationId xmlns:a16="http://schemas.microsoft.com/office/drawing/2014/main" id="{FDBFE0B7-C1ED-4F9B-BE68-4E3C602BAB6D}"/>
              </a:ext>
            </a:extLst>
          </p:cNvPr>
          <p:cNvSpPr txBox="1"/>
          <p:nvPr/>
        </p:nvSpPr>
        <p:spPr>
          <a:xfrm>
            <a:off x="4058465" y="1938544"/>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G</a:t>
            </a:r>
          </a:p>
        </p:txBody>
      </p:sp>
      <p:sp>
        <p:nvSpPr>
          <p:cNvPr id="37" name="矩形 36">
            <a:extLst>
              <a:ext uri="{FF2B5EF4-FFF2-40B4-BE49-F238E27FC236}">
                <a16:creationId xmlns:a16="http://schemas.microsoft.com/office/drawing/2014/main" id="{62170DD8-A86C-494C-82FD-92F2DF1BCF02}"/>
              </a:ext>
            </a:extLst>
          </p:cNvPr>
          <p:cNvSpPr/>
          <p:nvPr/>
        </p:nvSpPr>
        <p:spPr>
          <a:xfrm>
            <a:off x="1992086" y="1313560"/>
            <a:ext cx="881743" cy="3869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276524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dirty="0"/>
          </a:p>
        </p:txBody>
      </p:sp>
      <p:pic>
        <p:nvPicPr>
          <p:cNvPr id="31" name="圖片 30">
            <a:extLst>
              <a:ext uri="{FF2B5EF4-FFF2-40B4-BE49-F238E27FC236}">
                <a16:creationId xmlns:a16="http://schemas.microsoft.com/office/drawing/2014/main" id="{E8C0AF1D-6248-4667-9669-66D0CD345EFA}"/>
              </a:ext>
            </a:extLst>
          </p:cNvPr>
          <p:cNvPicPr>
            <a:picLocks noChangeAspect="1"/>
          </p:cNvPicPr>
          <p:nvPr/>
        </p:nvPicPr>
        <p:blipFill rotWithShape="1">
          <a:blip r:embed="rId3"/>
          <a:srcRect r="61925"/>
          <a:stretch/>
        </p:blipFill>
        <p:spPr>
          <a:xfrm>
            <a:off x="138345" y="87321"/>
            <a:ext cx="3443056" cy="3029106"/>
          </a:xfrm>
          <a:prstGeom prst="rect">
            <a:avLst/>
          </a:prstGeom>
        </p:spPr>
      </p:pic>
      <p:graphicFrame>
        <p:nvGraphicFramePr>
          <p:cNvPr id="13" name="表格 13">
            <a:extLst>
              <a:ext uri="{FF2B5EF4-FFF2-40B4-BE49-F238E27FC236}">
                <a16:creationId xmlns:a16="http://schemas.microsoft.com/office/drawing/2014/main" id="{0782E2FE-77D6-4166-8B73-49FD510005E1}"/>
              </a:ext>
            </a:extLst>
          </p:cNvPr>
          <p:cNvGraphicFramePr>
            <a:graphicFrameLocks noGrp="1"/>
          </p:cNvGraphicFramePr>
          <p:nvPr>
            <p:extLst>
              <p:ext uri="{D42A27DB-BD31-4B8C-83A1-F6EECF244321}">
                <p14:modId xmlns:p14="http://schemas.microsoft.com/office/powerpoint/2010/main" val="2897476455"/>
              </p:ext>
            </p:extLst>
          </p:nvPr>
        </p:nvGraphicFramePr>
        <p:xfrm>
          <a:off x="811924" y="3741574"/>
          <a:ext cx="103632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C</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8" name="表格 13">
            <a:extLst>
              <a:ext uri="{FF2B5EF4-FFF2-40B4-BE49-F238E27FC236}">
                <a16:creationId xmlns:a16="http://schemas.microsoft.com/office/drawing/2014/main" id="{618968C8-8906-4BEF-A353-77FC1A4816C8}"/>
              </a:ext>
            </a:extLst>
          </p:cNvPr>
          <p:cNvGraphicFramePr>
            <a:graphicFrameLocks noGrp="1"/>
          </p:cNvGraphicFramePr>
          <p:nvPr/>
        </p:nvGraphicFramePr>
        <p:xfrm>
          <a:off x="2974548" y="4444401"/>
          <a:ext cx="34544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C</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59908335"/>
                  </a:ext>
                </a:extLst>
              </a:tr>
            </a:tbl>
          </a:graphicData>
        </a:graphic>
      </p:graphicFrame>
      <p:sp>
        <p:nvSpPr>
          <p:cNvPr id="30" name="文字方塊 29">
            <a:extLst>
              <a:ext uri="{FF2B5EF4-FFF2-40B4-BE49-F238E27FC236}">
                <a16:creationId xmlns:a16="http://schemas.microsoft.com/office/drawing/2014/main" id="{9B9306C0-0577-40B5-8BAF-4E367A3A22BD}"/>
              </a:ext>
            </a:extLst>
          </p:cNvPr>
          <p:cNvSpPr txBox="1"/>
          <p:nvPr/>
        </p:nvSpPr>
        <p:spPr>
          <a:xfrm>
            <a:off x="4061309" y="-21772"/>
            <a:ext cx="2471058" cy="579967"/>
          </a:xfrm>
          <a:prstGeom prst="rect">
            <a:avLst/>
          </a:prstGeom>
          <a:noFill/>
        </p:spPr>
        <p:txBody>
          <a:bodyPr wrap="square" rtlCol="0">
            <a:spAutoFit/>
          </a:bodyPr>
          <a:lstStyle/>
          <a:p>
            <a:pPr>
              <a:lnSpc>
                <a:spcPct val="150000"/>
              </a:lnSpc>
            </a:pPr>
            <a:r>
              <a:rPr lang="en-US" altLang="zh-TW" sz="2400" dirty="0">
                <a:latin typeface="Times" panose="02020603050405020304" pitchFamily="18" charset="0"/>
                <a:cs typeface="Times" panose="02020603050405020304" pitchFamily="18" charset="0"/>
              </a:rPr>
              <a:t>Last current index:</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B0220D5D-63DE-426C-B8C6-755C400415AD}"/>
                  </a:ext>
                </a:extLst>
              </p:cNvPr>
              <p:cNvSpPr txBox="1"/>
              <p:nvPr/>
            </p:nvSpPr>
            <p:spPr>
              <a:xfrm>
                <a:off x="380999" y="3785508"/>
                <a:ext cx="2584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B0220D5D-63DE-426C-B8C6-755C400415AD}"/>
                  </a:ext>
                </a:extLst>
              </p:cNvPr>
              <p:cNvSpPr txBox="1">
                <a:spLocks noRot="1" noChangeAspect="1" noMove="1" noResize="1" noEditPoints="1" noAdjustHandles="1" noChangeArrowheads="1" noChangeShapeType="1" noTextEdit="1"/>
              </p:cNvSpPr>
              <p:nvPr/>
            </p:nvSpPr>
            <p:spPr>
              <a:xfrm>
                <a:off x="380999" y="3785508"/>
                <a:ext cx="258404" cy="369332"/>
              </a:xfrm>
              <a:prstGeom prst="rect">
                <a:avLst/>
              </a:prstGeom>
              <a:blipFill>
                <a:blip r:embed="rId4"/>
                <a:stretch>
                  <a:fillRect l="-25581" r="-25581" b="-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4A279-C91B-45FE-9C97-11267B89476A}"/>
                  </a:ext>
                </a:extLst>
              </p:cNvPr>
              <p:cNvSpPr txBox="1"/>
              <p:nvPr/>
            </p:nvSpPr>
            <p:spPr>
              <a:xfrm>
                <a:off x="388373" y="4488335"/>
                <a:ext cx="2436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oMath>
                  </m:oMathPara>
                </a14:m>
                <a:endParaRPr lang="zh-TW" altLang="en-US" sz="2400" dirty="0"/>
              </a:p>
            </p:txBody>
          </p:sp>
        </mc:Choice>
        <mc:Fallback xmlns="">
          <p:sp>
            <p:nvSpPr>
              <p:cNvPr id="15" name="文字方塊 14">
                <a:extLst>
                  <a:ext uri="{FF2B5EF4-FFF2-40B4-BE49-F238E27FC236}">
                    <a16:creationId xmlns:a16="http://schemas.microsoft.com/office/drawing/2014/main" id="{4884A279-C91B-45FE-9C97-11267B89476A}"/>
                  </a:ext>
                </a:extLst>
              </p:cNvPr>
              <p:cNvSpPr txBox="1">
                <a:spLocks noRot="1" noChangeAspect="1" noMove="1" noResize="1" noEditPoints="1" noAdjustHandles="1" noChangeArrowheads="1" noChangeShapeType="1" noTextEdit="1"/>
              </p:cNvSpPr>
              <p:nvPr/>
            </p:nvSpPr>
            <p:spPr>
              <a:xfrm>
                <a:off x="388373" y="4488335"/>
                <a:ext cx="243656" cy="369332"/>
              </a:xfrm>
              <a:prstGeom prst="rect">
                <a:avLst/>
              </a:prstGeom>
              <a:blipFill>
                <a:blip r:embed="rId5"/>
                <a:stretch>
                  <a:fillRect l="-30000" r="-27500" b="-6557"/>
                </a:stretch>
              </a:blipFill>
            </p:spPr>
            <p:txBody>
              <a:bodyPr/>
              <a:lstStyle/>
              <a:p>
                <a:r>
                  <a:rPr lang="zh-TW" altLang="en-US">
                    <a:noFill/>
                  </a:rPr>
                  <a:t> </a:t>
                </a:r>
              </a:p>
            </p:txBody>
          </p:sp>
        </mc:Fallback>
      </mc:AlternateContent>
      <p:graphicFrame>
        <p:nvGraphicFramePr>
          <p:cNvPr id="16" name="表格 13">
            <a:extLst>
              <a:ext uri="{FF2B5EF4-FFF2-40B4-BE49-F238E27FC236}">
                <a16:creationId xmlns:a16="http://schemas.microsoft.com/office/drawing/2014/main" id="{3270866A-4956-4BEA-9043-04FBA8A3E775}"/>
              </a:ext>
            </a:extLst>
          </p:cNvPr>
          <p:cNvGraphicFramePr>
            <a:graphicFrameLocks noGrp="1"/>
          </p:cNvGraphicFramePr>
          <p:nvPr>
            <p:extLst>
              <p:ext uri="{D42A27DB-BD31-4B8C-83A1-F6EECF244321}">
                <p14:modId xmlns:p14="http://schemas.microsoft.com/office/powerpoint/2010/main" val="1744967938"/>
              </p:ext>
            </p:extLst>
          </p:nvPr>
        </p:nvGraphicFramePr>
        <p:xfrm>
          <a:off x="811920" y="3245467"/>
          <a:ext cx="103632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17" name="表格 13">
            <a:extLst>
              <a:ext uri="{FF2B5EF4-FFF2-40B4-BE49-F238E27FC236}">
                <a16:creationId xmlns:a16="http://schemas.microsoft.com/office/drawing/2014/main" id="{3ADE4CE4-6F23-45E8-A482-93440BCDFCB3}"/>
              </a:ext>
            </a:extLst>
          </p:cNvPr>
          <p:cNvGraphicFramePr>
            <a:graphicFrameLocks noGrp="1"/>
          </p:cNvGraphicFramePr>
          <p:nvPr/>
        </p:nvGraphicFramePr>
        <p:xfrm>
          <a:off x="2974548" y="4949038"/>
          <a:ext cx="34544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3" name="表格 13">
            <a:extLst>
              <a:ext uri="{FF2B5EF4-FFF2-40B4-BE49-F238E27FC236}">
                <a16:creationId xmlns:a16="http://schemas.microsoft.com/office/drawing/2014/main" id="{A986530A-51B5-4B25-9884-0BF016356E96}"/>
              </a:ext>
            </a:extLst>
          </p:cNvPr>
          <p:cNvGraphicFramePr>
            <a:graphicFrameLocks noGrp="1"/>
          </p:cNvGraphicFramePr>
          <p:nvPr/>
        </p:nvGraphicFramePr>
        <p:xfrm>
          <a:off x="4528425" y="1051165"/>
          <a:ext cx="957975" cy="1828800"/>
        </p:xfrm>
        <a:graphic>
          <a:graphicData uri="http://schemas.openxmlformats.org/drawingml/2006/table">
            <a:tbl>
              <a:tblPr firstRow="1" bandRow="1">
                <a:tableStyleId>{5C22544A-7EE6-4342-B048-85BDC9FD1C3A}</a:tableStyleId>
              </a:tblPr>
              <a:tblGrid>
                <a:gridCol w="957975">
                  <a:extLst>
                    <a:ext uri="{9D8B030D-6E8A-4147-A177-3AD203B41FA5}">
                      <a16:colId xmlns:a16="http://schemas.microsoft.com/office/drawing/2014/main" val="1732263812"/>
                    </a:ext>
                  </a:extLst>
                </a:gridCol>
              </a:tblGrid>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6, 4, 2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537889"/>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3, 5, 7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8573940"/>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329684"/>
                  </a:ext>
                </a:extLst>
              </a:tr>
            </a:tbl>
          </a:graphicData>
        </a:graphic>
      </p:graphicFrame>
      <p:sp>
        <p:nvSpPr>
          <p:cNvPr id="24" name="文字方塊 23">
            <a:extLst>
              <a:ext uri="{FF2B5EF4-FFF2-40B4-BE49-F238E27FC236}">
                <a16:creationId xmlns:a16="http://schemas.microsoft.com/office/drawing/2014/main" id="{C7633FBC-BBF6-4971-8286-030CF96AC88A}"/>
              </a:ext>
            </a:extLst>
          </p:cNvPr>
          <p:cNvSpPr txBox="1"/>
          <p:nvPr/>
        </p:nvSpPr>
        <p:spPr>
          <a:xfrm>
            <a:off x="4053491" y="1015395"/>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A</a:t>
            </a:r>
          </a:p>
        </p:txBody>
      </p:sp>
      <p:sp>
        <p:nvSpPr>
          <p:cNvPr id="25" name="文字方塊 24">
            <a:extLst>
              <a:ext uri="{FF2B5EF4-FFF2-40B4-BE49-F238E27FC236}">
                <a16:creationId xmlns:a16="http://schemas.microsoft.com/office/drawing/2014/main" id="{C0327981-72DA-4FD0-AE82-927426B152E5}"/>
              </a:ext>
            </a:extLst>
          </p:cNvPr>
          <p:cNvSpPr txBox="1"/>
          <p:nvPr/>
        </p:nvSpPr>
        <p:spPr>
          <a:xfrm>
            <a:off x="4058465" y="1507056"/>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C</a:t>
            </a:r>
          </a:p>
        </p:txBody>
      </p:sp>
      <p:sp>
        <p:nvSpPr>
          <p:cNvPr id="26" name="文字方塊 25">
            <a:extLst>
              <a:ext uri="{FF2B5EF4-FFF2-40B4-BE49-F238E27FC236}">
                <a16:creationId xmlns:a16="http://schemas.microsoft.com/office/drawing/2014/main" id="{9AD039C2-ED38-4F66-870C-8EAA32765135}"/>
              </a:ext>
            </a:extLst>
          </p:cNvPr>
          <p:cNvSpPr txBox="1"/>
          <p:nvPr/>
        </p:nvSpPr>
        <p:spPr>
          <a:xfrm>
            <a:off x="4058465" y="2400388"/>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T</a:t>
            </a:r>
          </a:p>
        </p:txBody>
      </p:sp>
      <p:sp>
        <p:nvSpPr>
          <p:cNvPr id="27" name="文字方塊 26">
            <a:extLst>
              <a:ext uri="{FF2B5EF4-FFF2-40B4-BE49-F238E27FC236}">
                <a16:creationId xmlns:a16="http://schemas.microsoft.com/office/drawing/2014/main" id="{FDBFE0B7-C1ED-4F9B-BE68-4E3C602BAB6D}"/>
              </a:ext>
            </a:extLst>
          </p:cNvPr>
          <p:cNvSpPr txBox="1"/>
          <p:nvPr/>
        </p:nvSpPr>
        <p:spPr>
          <a:xfrm>
            <a:off x="4058465" y="1938544"/>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G</a:t>
            </a:r>
          </a:p>
        </p:txBody>
      </p:sp>
      <p:sp>
        <p:nvSpPr>
          <p:cNvPr id="18" name="矩形 17">
            <a:extLst>
              <a:ext uri="{FF2B5EF4-FFF2-40B4-BE49-F238E27FC236}">
                <a16:creationId xmlns:a16="http://schemas.microsoft.com/office/drawing/2014/main" id="{04A4B764-7008-45F8-8645-2B94FC1D9150}"/>
              </a:ext>
            </a:extLst>
          </p:cNvPr>
          <p:cNvSpPr/>
          <p:nvPr/>
        </p:nvSpPr>
        <p:spPr>
          <a:xfrm>
            <a:off x="2448910" y="1313560"/>
            <a:ext cx="424919" cy="3869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47771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dirty="0"/>
          </a:p>
        </p:txBody>
      </p:sp>
      <p:pic>
        <p:nvPicPr>
          <p:cNvPr id="31" name="圖片 30">
            <a:extLst>
              <a:ext uri="{FF2B5EF4-FFF2-40B4-BE49-F238E27FC236}">
                <a16:creationId xmlns:a16="http://schemas.microsoft.com/office/drawing/2014/main" id="{E8C0AF1D-6248-4667-9669-66D0CD345EFA}"/>
              </a:ext>
            </a:extLst>
          </p:cNvPr>
          <p:cNvPicPr>
            <a:picLocks noChangeAspect="1"/>
          </p:cNvPicPr>
          <p:nvPr/>
        </p:nvPicPr>
        <p:blipFill rotWithShape="1">
          <a:blip r:embed="rId3"/>
          <a:srcRect r="61925"/>
          <a:stretch/>
        </p:blipFill>
        <p:spPr>
          <a:xfrm>
            <a:off x="138345" y="87321"/>
            <a:ext cx="3443056" cy="3029106"/>
          </a:xfrm>
          <a:prstGeom prst="rect">
            <a:avLst/>
          </a:prstGeom>
        </p:spPr>
      </p:pic>
      <p:graphicFrame>
        <p:nvGraphicFramePr>
          <p:cNvPr id="13" name="表格 13">
            <a:extLst>
              <a:ext uri="{FF2B5EF4-FFF2-40B4-BE49-F238E27FC236}">
                <a16:creationId xmlns:a16="http://schemas.microsoft.com/office/drawing/2014/main" id="{0782E2FE-77D6-4166-8B73-49FD510005E1}"/>
              </a:ext>
            </a:extLst>
          </p:cNvPr>
          <p:cNvGraphicFramePr>
            <a:graphicFrameLocks noGrp="1"/>
          </p:cNvGraphicFramePr>
          <p:nvPr>
            <p:extLst>
              <p:ext uri="{D42A27DB-BD31-4B8C-83A1-F6EECF244321}">
                <p14:modId xmlns:p14="http://schemas.microsoft.com/office/powerpoint/2010/main" val="2561326924"/>
              </p:ext>
            </p:extLst>
          </p:nvPr>
        </p:nvGraphicFramePr>
        <p:xfrm>
          <a:off x="811924" y="3741574"/>
          <a:ext cx="103632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rgbClr val="FF0000"/>
                          </a:solidFill>
                          <a:latin typeface="Times" panose="02020603050405020304" pitchFamily="18" charset="0"/>
                          <a:cs typeface="Times" panose="02020603050405020304" pitchFamily="18" charset="0"/>
                        </a:rPr>
                        <a:t>G</a:t>
                      </a:r>
                      <a:endParaRPr lang="zh-TW" altLang="en-US" sz="2400" b="0" dirty="0">
                        <a:solidFill>
                          <a:srgbClr val="FF0000"/>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C</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8" name="表格 13">
            <a:extLst>
              <a:ext uri="{FF2B5EF4-FFF2-40B4-BE49-F238E27FC236}">
                <a16:creationId xmlns:a16="http://schemas.microsoft.com/office/drawing/2014/main" id="{618968C8-8906-4BEF-A353-77FC1A4816C8}"/>
              </a:ext>
            </a:extLst>
          </p:cNvPr>
          <p:cNvGraphicFramePr>
            <a:graphicFrameLocks noGrp="1"/>
          </p:cNvGraphicFramePr>
          <p:nvPr>
            <p:extLst>
              <p:ext uri="{D42A27DB-BD31-4B8C-83A1-F6EECF244321}">
                <p14:modId xmlns:p14="http://schemas.microsoft.com/office/powerpoint/2010/main" val="1440621420"/>
              </p:ext>
            </p:extLst>
          </p:nvPr>
        </p:nvGraphicFramePr>
        <p:xfrm>
          <a:off x="4708745" y="4444401"/>
          <a:ext cx="3454400" cy="457200"/>
        </p:xfrm>
        <a:graphic>
          <a:graphicData uri="http://schemas.openxmlformats.org/drawingml/2006/table">
            <a:tbl>
              <a:tblPr firstRow="1" bandRow="1">
                <a:tableStyleId>{5C22544A-7EE6-4342-B048-85BDC9FD1C3A}</a:tableStyleId>
              </a:tblPr>
              <a:tblGrid>
                <a:gridCol w="420302">
                  <a:extLst>
                    <a:ext uri="{9D8B030D-6E8A-4147-A177-3AD203B41FA5}">
                      <a16:colId xmlns:a16="http://schemas.microsoft.com/office/drawing/2014/main" val="1732263812"/>
                    </a:ext>
                  </a:extLst>
                </a:gridCol>
                <a:gridCol w="443298">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C</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sp>
        <p:nvSpPr>
          <p:cNvPr id="30" name="文字方塊 29">
            <a:extLst>
              <a:ext uri="{FF2B5EF4-FFF2-40B4-BE49-F238E27FC236}">
                <a16:creationId xmlns:a16="http://schemas.microsoft.com/office/drawing/2014/main" id="{9B9306C0-0577-40B5-8BAF-4E367A3A22BD}"/>
              </a:ext>
            </a:extLst>
          </p:cNvPr>
          <p:cNvSpPr txBox="1"/>
          <p:nvPr/>
        </p:nvSpPr>
        <p:spPr>
          <a:xfrm>
            <a:off x="4061309" y="-21772"/>
            <a:ext cx="2471058" cy="579967"/>
          </a:xfrm>
          <a:prstGeom prst="rect">
            <a:avLst/>
          </a:prstGeom>
          <a:noFill/>
        </p:spPr>
        <p:txBody>
          <a:bodyPr wrap="square" rtlCol="0">
            <a:spAutoFit/>
          </a:bodyPr>
          <a:lstStyle/>
          <a:p>
            <a:pPr>
              <a:lnSpc>
                <a:spcPct val="150000"/>
              </a:lnSpc>
            </a:pPr>
            <a:r>
              <a:rPr lang="en-US" altLang="zh-TW" sz="2400" dirty="0">
                <a:latin typeface="Times" panose="02020603050405020304" pitchFamily="18" charset="0"/>
                <a:cs typeface="Times" panose="02020603050405020304" pitchFamily="18" charset="0"/>
              </a:rPr>
              <a:t>Last current index:</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B0220D5D-63DE-426C-B8C6-755C400415AD}"/>
                  </a:ext>
                </a:extLst>
              </p:cNvPr>
              <p:cNvSpPr txBox="1"/>
              <p:nvPr/>
            </p:nvSpPr>
            <p:spPr>
              <a:xfrm>
                <a:off x="380999" y="3785508"/>
                <a:ext cx="2584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B0220D5D-63DE-426C-B8C6-755C400415AD}"/>
                  </a:ext>
                </a:extLst>
              </p:cNvPr>
              <p:cNvSpPr txBox="1">
                <a:spLocks noRot="1" noChangeAspect="1" noMove="1" noResize="1" noEditPoints="1" noAdjustHandles="1" noChangeArrowheads="1" noChangeShapeType="1" noTextEdit="1"/>
              </p:cNvSpPr>
              <p:nvPr/>
            </p:nvSpPr>
            <p:spPr>
              <a:xfrm>
                <a:off x="380999" y="3785508"/>
                <a:ext cx="258404" cy="369332"/>
              </a:xfrm>
              <a:prstGeom prst="rect">
                <a:avLst/>
              </a:prstGeom>
              <a:blipFill>
                <a:blip r:embed="rId4"/>
                <a:stretch>
                  <a:fillRect l="-25581" r="-25581" b="-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4A279-C91B-45FE-9C97-11267B89476A}"/>
                  </a:ext>
                </a:extLst>
              </p:cNvPr>
              <p:cNvSpPr txBox="1"/>
              <p:nvPr/>
            </p:nvSpPr>
            <p:spPr>
              <a:xfrm>
                <a:off x="388373" y="4488335"/>
                <a:ext cx="2436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oMath>
                  </m:oMathPara>
                </a14:m>
                <a:endParaRPr lang="zh-TW" altLang="en-US" sz="2400" dirty="0"/>
              </a:p>
            </p:txBody>
          </p:sp>
        </mc:Choice>
        <mc:Fallback xmlns="">
          <p:sp>
            <p:nvSpPr>
              <p:cNvPr id="15" name="文字方塊 14">
                <a:extLst>
                  <a:ext uri="{FF2B5EF4-FFF2-40B4-BE49-F238E27FC236}">
                    <a16:creationId xmlns:a16="http://schemas.microsoft.com/office/drawing/2014/main" id="{4884A279-C91B-45FE-9C97-11267B89476A}"/>
                  </a:ext>
                </a:extLst>
              </p:cNvPr>
              <p:cNvSpPr txBox="1">
                <a:spLocks noRot="1" noChangeAspect="1" noMove="1" noResize="1" noEditPoints="1" noAdjustHandles="1" noChangeArrowheads="1" noChangeShapeType="1" noTextEdit="1"/>
              </p:cNvSpPr>
              <p:nvPr/>
            </p:nvSpPr>
            <p:spPr>
              <a:xfrm>
                <a:off x="388373" y="4488335"/>
                <a:ext cx="243656" cy="369332"/>
              </a:xfrm>
              <a:prstGeom prst="rect">
                <a:avLst/>
              </a:prstGeom>
              <a:blipFill>
                <a:blip r:embed="rId5"/>
                <a:stretch>
                  <a:fillRect l="-30000" r="-27500" b="-6557"/>
                </a:stretch>
              </a:blipFill>
            </p:spPr>
            <p:txBody>
              <a:bodyPr/>
              <a:lstStyle/>
              <a:p>
                <a:r>
                  <a:rPr lang="zh-TW" altLang="en-US">
                    <a:noFill/>
                  </a:rPr>
                  <a:t> </a:t>
                </a:r>
              </a:p>
            </p:txBody>
          </p:sp>
        </mc:Fallback>
      </mc:AlternateContent>
      <p:graphicFrame>
        <p:nvGraphicFramePr>
          <p:cNvPr id="16" name="表格 13">
            <a:extLst>
              <a:ext uri="{FF2B5EF4-FFF2-40B4-BE49-F238E27FC236}">
                <a16:creationId xmlns:a16="http://schemas.microsoft.com/office/drawing/2014/main" id="{3270866A-4956-4BEA-9043-04FBA8A3E775}"/>
              </a:ext>
            </a:extLst>
          </p:cNvPr>
          <p:cNvGraphicFramePr>
            <a:graphicFrameLocks noGrp="1"/>
          </p:cNvGraphicFramePr>
          <p:nvPr>
            <p:extLst>
              <p:ext uri="{D42A27DB-BD31-4B8C-83A1-F6EECF244321}">
                <p14:modId xmlns:p14="http://schemas.microsoft.com/office/powerpoint/2010/main" val="1335940360"/>
              </p:ext>
            </p:extLst>
          </p:nvPr>
        </p:nvGraphicFramePr>
        <p:xfrm>
          <a:off x="811920" y="3245467"/>
          <a:ext cx="103632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17" name="表格 13">
            <a:extLst>
              <a:ext uri="{FF2B5EF4-FFF2-40B4-BE49-F238E27FC236}">
                <a16:creationId xmlns:a16="http://schemas.microsoft.com/office/drawing/2014/main" id="{3ADE4CE4-6F23-45E8-A482-93440BCDFCB3}"/>
              </a:ext>
            </a:extLst>
          </p:cNvPr>
          <p:cNvGraphicFramePr>
            <a:graphicFrameLocks noGrp="1"/>
          </p:cNvGraphicFramePr>
          <p:nvPr>
            <p:extLst>
              <p:ext uri="{D42A27DB-BD31-4B8C-83A1-F6EECF244321}">
                <p14:modId xmlns:p14="http://schemas.microsoft.com/office/powerpoint/2010/main" val="801081743"/>
              </p:ext>
            </p:extLst>
          </p:nvPr>
        </p:nvGraphicFramePr>
        <p:xfrm>
          <a:off x="4708745" y="4949038"/>
          <a:ext cx="34544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3" name="表格 13">
            <a:extLst>
              <a:ext uri="{FF2B5EF4-FFF2-40B4-BE49-F238E27FC236}">
                <a16:creationId xmlns:a16="http://schemas.microsoft.com/office/drawing/2014/main" id="{A986530A-51B5-4B25-9884-0BF016356E96}"/>
              </a:ext>
            </a:extLst>
          </p:cNvPr>
          <p:cNvGraphicFramePr>
            <a:graphicFrameLocks noGrp="1"/>
          </p:cNvGraphicFramePr>
          <p:nvPr>
            <p:extLst>
              <p:ext uri="{D42A27DB-BD31-4B8C-83A1-F6EECF244321}">
                <p14:modId xmlns:p14="http://schemas.microsoft.com/office/powerpoint/2010/main" val="3040048317"/>
              </p:ext>
            </p:extLst>
          </p:nvPr>
        </p:nvGraphicFramePr>
        <p:xfrm>
          <a:off x="4528426" y="1051165"/>
          <a:ext cx="477064" cy="1828800"/>
        </p:xfrm>
        <a:graphic>
          <a:graphicData uri="http://schemas.openxmlformats.org/drawingml/2006/table">
            <a:tbl>
              <a:tblPr firstRow="1" bandRow="1">
                <a:tableStyleId>{5C22544A-7EE6-4342-B048-85BDC9FD1C3A}</a:tableStyleId>
              </a:tblPr>
              <a:tblGrid>
                <a:gridCol w="477064">
                  <a:extLst>
                    <a:ext uri="{9D8B030D-6E8A-4147-A177-3AD203B41FA5}">
                      <a16:colId xmlns:a16="http://schemas.microsoft.com/office/drawing/2014/main" val="1732263812"/>
                    </a:ext>
                  </a:extLst>
                </a:gridCol>
              </a:tblGrid>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537889"/>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8573940"/>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329684"/>
                  </a:ext>
                </a:extLst>
              </a:tr>
            </a:tbl>
          </a:graphicData>
        </a:graphic>
      </p:graphicFrame>
      <p:sp>
        <p:nvSpPr>
          <p:cNvPr id="24" name="文字方塊 23">
            <a:extLst>
              <a:ext uri="{FF2B5EF4-FFF2-40B4-BE49-F238E27FC236}">
                <a16:creationId xmlns:a16="http://schemas.microsoft.com/office/drawing/2014/main" id="{C7633FBC-BBF6-4971-8286-030CF96AC88A}"/>
              </a:ext>
            </a:extLst>
          </p:cNvPr>
          <p:cNvSpPr txBox="1"/>
          <p:nvPr/>
        </p:nvSpPr>
        <p:spPr>
          <a:xfrm>
            <a:off x="4053491" y="1015395"/>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A</a:t>
            </a:r>
          </a:p>
        </p:txBody>
      </p:sp>
      <p:sp>
        <p:nvSpPr>
          <p:cNvPr id="25" name="文字方塊 24">
            <a:extLst>
              <a:ext uri="{FF2B5EF4-FFF2-40B4-BE49-F238E27FC236}">
                <a16:creationId xmlns:a16="http://schemas.microsoft.com/office/drawing/2014/main" id="{C0327981-72DA-4FD0-AE82-927426B152E5}"/>
              </a:ext>
            </a:extLst>
          </p:cNvPr>
          <p:cNvSpPr txBox="1"/>
          <p:nvPr/>
        </p:nvSpPr>
        <p:spPr>
          <a:xfrm>
            <a:off x="4058465" y="1507056"/>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C</a:t>
            </a:r>
          </a:p>
        </p:txBody>
      </p:sp>
      <p:sp>
        <p:nvSpPr>
          <p:cNvPr id="26" name="文字方塊 25">
            <a:extLst>
              <a:ext uri="{FF2B5EF4-FFF2-40B4-BE49-F238E27FC236}">
                <a16:creationId xmlns:a16="http://schemas.microsoft.com/office/drawing/2014/main" id="{9AD039C2-ED38-4F66-870C-8EAA32765135}"/>
              </a:ext>
            </a:extLst>
          </p:cNvPr>
          <p:cNvSpPr txBox="1"/>
          <p:nvPr/>
        </p:nvSpPr>
        <p:spPr>
          <a:xfrm>
            <a:off x="4058465" y="2400388"/>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T</a:t>
            </a:r>
          </a:p>
        </p:txBody>
      </p:sp>
      <p:sp>
        <p:nvSpPr>
          <p:cNvPr id="27" name="文字方塊 26">
            <a:extLst>
              <a:ext uri="{FF2B5EF4-FFF2-40B4-BE49-F238E27FC236}">
                <a16:creationId xmlns:a16="http://schemas.microsoft.com/office/drawing/2014/main" id="{FDBFE0B7-C1ED-4F9B-BE68-4E3C602BAB6D}"/>
              </a:ext>
            </a:extLst>
          </p:cNvPr>
          <p:cNvSpPr txBox="1"/>
          <p:nvPr/>
        </p:nvSpPr>
        <p:spPr>
          <a:xfrm>
            <a:off x="4058465" y="1938544"/>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G</a:t>
            </a:r>
          </a:p>
        </p:txBody>
      </p:sp>
      <p:sp>
        <p:nvSpPr>
          <p:cNvPr id="18" name="矩形 17">
            <a:extLst>
              <a:ext uri="{FF2B5EF4-FFF2-40B4-BE49-F238E27FC236}">
                <a16:creationId xmlns:a16="http://schemas.microsoft.com/office/drawing/2014/main" id="{04A4B764-7008-45F8-8645-2B94FC1D9150}"/>
              </a:ext>
            </a:extLst>
          </p:cNvPr>
          <p:cNvSpPr/>
          <p:nvPr/>
        </p:nvSpPr>
        <p:spPr>
          <a:xfrm>
            <a:off x="1992086" y="2095577"/>
            <a:ext cx="881743" cy="3869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695017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13</a:t>
            </a:fld>
            <a:endParaRPr kumimoji="1" lang="zh-TW" altLang="en-US" dirty="0"/>
          </a:p>
        </p:txBody>
      </p:sp>
      <p:pic>
        <p:nvPicPr>
          <p:cNvPr id="31" name="圖片 30">
            <a:extLst>
              <a:ext uri="{FF2B5EF4-FFF2-40B4-BE49-F238E27FC236}">
                <a16:creationId xmlns:a16="http://schemas.microsoft.com/office/drawing/2014/main" id="{E8C0AF1D-6248-4667-9669-66D0CD345EFA}"/>
              </a:ext>
            </a:extLst>
          </p:cNvPr>
          <p:cNvPicPr>
            <a:picLocks noChangeAspect="1"/>
          </p:cNvPicPr>
          <p:nvPr/>
        </p:nvPicPr>
        <p:blipFill rotWithShape="1">
          <a:blip r:embed="rId3"/>
          <a:srcRect r="61925"/>
          <a:stretch/>
        </p:blipFill>
        <p:spPr>
          <a:xfrm>
            <a:off x="138345" y="87321"/>
            <a:ext cx="3443056" cy="3029106"/>
          </a:xfrm>
          <a:prstGeom prst="rect">
            <a:avLst/>
          </a:prstGeom>
        </p:spPr>
      </p:pic>
      <p:graphicFrame>
        <p:nvGraphicFramePr>
          <p:cNvPr id="13" name="表格 13">
            <a:extLst>
              <a:ext uri="{FF2B5EF4-FFF2-40B4-BE49-F238E27FC236}">
                <a16:creationId xmlns:a16="http://schemas.microsoft.com/office/drawing/2014/main" id="{0782E2FE-77D6-4166-8B73-49FD510005E1}"/>
              </a:ext>
            </a:extLst>
          </p:cNvPr>
          <p:cNvGraphicFramePr>
            <a:graphicFrameLocks noGrp="1"/>
          </p:cNvGraphicFramePr>
          <p:nvPr>
            <p:extLst>
              <p:ext uri="{D42A27DB-BD31-4B8C-83A1-F6EECF244321}">
                <p14:modId xmlns:p14="http://schemas.microsoft.com/office/powerpoint/2010/main" val="3369667477"/>
              </p:ext>
            </p:extLst>
          </p:nvPr>
        </p:nvGraphicFramePr>
        <p:xfrm>
          <a:off x="811924" y="3741574"/>
          <a:ext cx="103632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rgbClr val="FF0000"/>
                          </a:solidFill>
                          <a:latin typeface="Times" panose="02020603050405020304" pitchFamily="18" charset="0"/>
                          <a:cs typeface="Times" panose="02020603050405020304" pitchFamily="18" charset="0"/>
                        </a:rPr>
                        <a:t>A</a:t>
                      </a:r>
                      <a:endParaRPr lang="zh-TW" altLang="en-US" sz="2400" b="0" dirty="0">
                        <a:solidFill>
                          <a:srgbClr val="FF0000"/>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C</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8" name="表格 13">
            <a:extLst>
              <a:ext uri="{FF2B5EF4-FFF2-40B4-BE49-F238E27FC236}">
                <a16:creationId xmlns:a16="http://schemas.microsoft.com/office/drawing/2014/main" id="{618968C8-8906-4BEF-A353-77FC1A4816C8}"/>
              </a:ext>
            </a:extLst>
          </p:cNvPr>
          <p:cNvGraphicFramePr>
            <a:graphicFrameLocks noGrp="1"/>
          </p:cNvGraphicFramePr>
          <p:nvPr>
            <p:extLst>
              <p:ext uri="{D42A27DB-BD31-4B8C-83A1-F6EECF244321}">
                <p14:modId xmlns:p14="http://schemas.microsoft.com/office/powerpoint/2010/main" val="2909409165"/>
              </p:ext>
            </p:extLst>
          </p:nvPr>
        </p:nvGraphicFramePr>
        <p:xfrm>
          <a:off x="5150180" y="4444401"/>
          <a:ext cx="3454400" cy="457200"/>
        </p:xfrm>
        <a:graphic>
          <a:graphicData uri="http://schemas.openxmlformats.org/drawingml/2006/table">
            <a:tbl>
              <a:tblPr firstRow="1" bandRow="1">
                <a:tableStyleId>{5C22544A-7EE6-4342-B048-85BDC9FD1C3A}</a:tableStyleId>
              </a:tblPr>
              <a:tblGrid>
                <a:gridCol w="420302">
                  <a:extLst>
                    <a:ext uri="{9D8B030D-6E8A-4147-A177-3AD203B41FA5}">
                      <a16:colId xmlns:a16="http://schemas.microsoft.com/office/drawing/2014/main" val="1732263812"/>
                    </a:ext>
                  </a:extLst>
                </a:gridCol>
                <a:gridCol w="443298">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C</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sp>
        <p:nvSpPr>
          <p:cNvPr id="30" name="文字方塊 29">
            <a:extLst>
              <a:ext uri="{FF2B5EF4-FFF2-40B4-BE49-F238E27FC236}">
                <a16:creationId xmlns:a16="http://schemas.microsoft.com/office/drawing/2014/main" id="{9B9306C0-0577-40B5-8BAF-4E367A3A22BD}"/>
              </a:ext>
            </a:extLst>
          </p:cNvPr>
          <p:cNvSpPr txBox="1"/>
          <p:nvPr/>
        </p:nvSpPr>
        <p:spPr>
          <a:xfrm>
            <a:off x="4061309" y="-21772"/>
            <a:ext cx="2471058" cy="579967"/>
          </a:xfrm>
          <a:prstGeom prst="rect">
            <a:avLst/>
          </a:prstGeom>
          <a:noFill/>
        </p:spPr>
        <p:txBody>
          <a:bodyPr wrap="square" rtlCol="0">
            <a:spAutoFit/>
          </a:bodyPr>
          <a:lstStyle/>
          <a:p>
            <a:pPr>
              <a:lnSpc>
                <a:spcPct val="150000"/>
              </a:lnSpc>
            </a:pPr>
            <a:r>
              <a:rPr lang="en-US" altLang="zh-TW" sz="2400" dirty="0">
                <a:latin typeface="Times" panose="02020603050405020304" pitchFamily="18" charset="0"/>
                <a:cs typeface="Times" panose="02020603050405020304" pitchFamily="18" charset="0"/>
              </a:rPr>
              <a:t>Last current index:</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B0220D5D-63DE-426C-B8C6-755C400415AD}"/>
                  </a:ext>
                </a:extLst>
              </p:cNvPr>
              <p:cNvSpPr txBox="1"/>
              <p:nvPr/>
            </p:nvSpPr>
            <p:spPr>
              <a:xfrm>
                <a:off x="380999" y="3785508"/>
                <a:ext cx="2584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B0220D5D-63DE-426C-B8C6-755C400415AD}"/>
                  </a:ext>
                </a:extLst>
              </p:cNvPr>
              <p:cNvSpPr txBox="1">
                <a:spLocks noRot="1" noChangeAspect="1" noMove="1" noResize="1" noEditPoints="1" noAdjustHandles="1" noChangeArrowheads="1" noChangeShapeType="1" noTextEdit="1"/>
              </p:cNvSpPr>
              <p:nvPr/>
            </p:nvSpPr>
            <p:spPr>
              <a:xfrm>
                <a:off x="380999" y="3785508"/>
                <a:ext cx="258404" cy="369332"/>
              </a:xfrm>
              <a:prstGeom prst="rect">
                <a:avLst/>
              </a:prstGeom>
              <a:blipFill>
                <a:blip r:embed="rId4"/>
                <a:stretch>
                  <a:fillRect l="-25581" r="-25581" b="-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4A279-C91B-45FE-9C97-11267B89476A}"/>
                  </a:ext>
                </a:extLst>
              </p:cNvPr>
              <p:cNvSpPr txBox="1"/>
              <p:nvPr/>
            </p:nvSpPr>
            <p:spPr>
              <a:xfrm>
                <a:off x="388373" y="4488335"/>
                <a:ext cx="2436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oMath>
                  </m:oMathPara>
                </a14:m>
                <a:endParaRPr lang="zh-TW" altLang="en-US" sz="2400" dirty="0"/>
              </a:p>
            </p:txBody>
          </p:sp>
        </mc:Choice>
        <mc:Fallback xmlns="">
          <p:sp>
            <p:nvSpPr>
              <p:cNvPr id="15" name="文字方塊 14">
                <a:extLst>
                  <a:ext uri="{FF2B5EF4-FFF2-40B4-BE49-F238E27FC236}">
                    <a16:creationId xmlns:a16="http://schemas.microsoft.com/office/drawing/2014/main" id="{4884A279-C91B-45FE-9C97-11267B89476A}"/>
                  </a:ext>
                </a:extLst>
              </p:cNvPr>
              <p:cNvSpPr txBox="1">
                <a:spLocks noRot="1" noChangeAspect="1" noMove="1" noResize="1" noEditPoints="1" noAdjustHandles="1" noChangeArrowheads="1" noChangeShapeType="1" noTextEdit="1"/>
              </p:cNvSpPr>
              <p:nvPr/>
            </p:nvSpPr>
            <p:spPr>
              <a:xfrm>
                <a:off x="388373" y="4488335"/>
                <a:ext cx="243656" cy="369332"/>
              </a:xfrm>
              <a:prstGeom prst="rect">
                <a:avLst/>
              </a:prstGeom>
              <a:blipFill>
                <a:blip r:embed="rId5"/>
                <a:stretch>
                  <a:fillRect l="-30000" r="-27500" b="-6557"/>
                </a:stretch>
              </a:blipFill>
            </p:spPr>
            <p:txBody>
              <a:bodyPr/>
              <a:lstStyle/>
              <a:p>
                <a:r>
                  <a:rPr lang="zh-TW" altLang="en-US">
                    <a:noFill/>
                  </a:rPr>
                  <a:t> </a:t>
                </a:r>
              </a:p>
            </p:txBody>
          </p:sp>
        </mc:Fallback>
      </mc:AlternateContent>
      <p:graphicFrame>
        <p:nvGraphicFramePr>
          <p:cNvPr id="16" name="表格 13">
            <a:extLst>
              <a:ext uri="{FF2B5EF4-FFF2-40B4-BE49-F238E27FC236}">
                <a16:creationId xmlns:a16="http://schemas.microsoft.com/office/drawing/2014/main" id="{3270866A-4956-4BEA-9043-04FBA8A3E775}"/>
              </a:ext>
            </a:extLst>
          </p:cNvPr>
          <p:cNvGraphicFramePr>
            <a:graphicFrameLocks noGrp="1"/>
          </p:cNvGraphicFramePr>
          <p:nvPr/>
        </p:nvGraphicFramePr>
        <p:xfrm>
          <a:off x="811920" y="3245467"/>
          <a:ext cx="103632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17" name="表格 13">
            <a:extLst>
              <a:ext uri="{FF2B5EF4-FFF2-40B4-BE49-F238E27FC236}">
                <a16:creationId xmlns:a16="http://schemas.microsoft.com/office/drawing/2014/main" id="{3ADE4CE4-6F23-45E8-A482-93440BCDFCB3}"/>
              </a:ext>
            </a:extLst>
          </p:cNvPr>
          <p:cNvGraphicFramePr>
            <a:graphicFrameLocks noGrp="1"/>
          </p:cNvGraphicFramePr>
          <p:nvPr>
            <p:extLst>
              <p:ext uri="{D42A27DB-BD31-4B8C-83A1-F6EECF244321}">
                <p14:modId xmlns:p14="http://schemas.microsoft.com/office/powerpoint/2010/main" val="1412424403"/>
              </p:ext>
            </p:extLst>
          </p:nvPr>
        </p:nvGraphicFramePr>
        <p:xfrm>
          <a:off x="5150180" y="4949038"/>
          <a:ext cx="34544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3" name="表格 13">
            <a:extLst>
              <a:ext uri="{FF2B5EF4-FFF2-40B4-BE49-F238E27FC236}">
                <a16:creationId xmlns:a16="http://schemas.microsoft.com/office/drawing/2014/main" id="{A986530A-51B5-4B25-9884-0BF016356E96}"/>
              </a:ext>
            </a:extLst>
          </p:cNvPr>
          <p:cNvGraphicFramePr>
            <a:graphicFrameLocks noGrp="1"/>
          </p:cNvGraphicFramePr>
          <p:nvPr>
            <p:extLst>
              <p:ext uri="{D42A27DB-BD31-4B8C-83A1-F6EECF244321}">
                <p14:modId xmlns:p14="http://schemas.microsoft.com/office/powerpoint/2010/main" val="734545966"/>
              </p:ext>
            </p:extLst>
          </p:nvPr>
        </p:nvGraphicFramePr>
        <p:xfrm>
          <a:off x="4528426" y="1051165"/>
          <a:ext cx="477064" cy="1828800"/>
        </p:xfrm>
        <a:graphic>
          <a:graphicData uri="http://schemas.openxmlformats.org/drawingml/2006/table">
            <a:tbl>
              <a:tblPr firstRow="1" bandRow="1">
                <a:tableStyleId>{5C22544A-7EE6-4342-B048-85BDC9FD1C3A}</a:tableStyleId>
              </a:tblPr>
              <a:tblGrid>
                <a:gridCol w="477064">
                  <a:extLst>
                    <a:ext uri="{9D8B030D-6E8A-4147-A177-3AD203B41FA5}">
                      <a16:colId xmlns:a16="http://schemas.microsoft.com/office/drawing/2014/main" val="1732263812"/>
                    </a:ext>
                  </a:extLst>
                </a:gridCol>
              </a:tblGrid>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537889"/>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8573940"/>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329684"/>
                  </a:ext>
                </a:extLst>
              </a:tr>
            </a:tbl>
          </a:graphicData>
        </a:graphic>
      </p:graphicFrame>
      <p:sp>
        <p:nvSpPr>
          <p:cNvPr id="24" name="文字方塊 23">
            <a:extLst>
              <a:ext uri="{FF2B5EF4-FFF2-40B4-BE49-F238E27FC236}">
                <a16:creationId xmlns:a16="http://schemas.microsoft.com/office/drawing/2014/main" id="{C7633FBC-BBF6-4971-8286-030CF96AC88A}"/>
              </a:ext>
            </a:extLst>
          </p:cNvPr>
          <p:cNvSpPr txBox="1"/>
          <p:nvPr/>
        </p:nvSpPr>
        <p:spPr>
          <a:xfrm>
            <a:off x="4053491" y="1015395"/>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A</a:t>
            </a:r>
          </a:p>
        </p:txBody>
      </p:sp>
      <p:sp>
        <p:nvSpPr>
          <p:cNvPr id="25" name="文字方塊 24">
            <a:extLst>
              <a:ext uri="{FF2B5EF4-FFF2-40B4-BE49-F238E27FC236}">
                <a16:creationId xmlns:a16="http://schemas.microsoft.com/office/drawing/2014/main" id="{C0327981-72DA-4FD0-AE82-927426B152E5}"/>
              </a:ext>
            </a:extLst>
          </p:cNvPr>
          <p:cNvSpPr txBox="1"/>
          <p:nvPr/>
        </p:nvSpPr>
        <p:spPr>
          <a:xfrm>
            <a:off x="4058465" y="1507056"/>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C</a:t>
            </a:r>
          </a:p>
        </p:txBody>
      </p:sp>
      <p:sp>
        <p:nvSpPr>
          <p:cNvPr id="26" name="文字方塊 25">
            <a:extLst>
              <a:ext uri="{FF2B5EF4-FFF2-40B4-BE49-F238E27FC236}">
                <a16:creationId xmlns:a16="http://schemas.microsoft.com/office/drawing/2014/main" id="{9AD039C2-ED38-4F66-870C-8EAA32765135}"/>
              </a:ext>
            </a:extLst>
          </p:cNvPr>
          <p:cNvSpPr txBox="1"/>
          <p:nvPr/>
        </p:nvSpPr>
        <p:spPr>
          <a:xfrm>
            <a:off x="4058465" y="2400388"/>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T</a:t>
            </a:r>
          </a:p>
        </p:txBody>
      </p:sp>
      <p:sp>
        <p:nvSpPr>
          <p:cNvPr id="27" name="文字方塊 26">
            <a:extLst>
              <a:ext uri="{FF2B5EF4-FFF2-40B4-BE49-F238E27FC236}">
                <a16:creationId xmlns:a16="http://schemas.microsoft.com/office/drawing/2014/main" id="{FDBFE0B7-C1ED-4F9B-BE68-4E3C602BAB6D}"/>
              </a:ext>
            </a:extLst>
          </p:cNvPr>
          <p:cNvSpPr txBox="1"/>
          <p:nvPr/>
        </p:nvSpPr>
        <p:spPr>
          <a:xfrm>
            <a:off x="4058465" y="1938544"/>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G</a:t>
            </a:r>
          </a:p>
        </p:txBody>
      </p:sp>
      <p:sp>
        <p:nvSpPr>
          <p:cNvPr id="18" name="矩形 17">
            <a:extLst>
              <a:ext uri="{FF2B5EF4-FFF2-40B4-BE49-F238E27FC236}">
                <a16:creationId xmlns:a16="http://schemas.microsoft.com/office/drawing/2014/main" id="{04A4B764-7008-45F8-8645-2B94FC1D9150}"/>
              </a:ext>
            </a:extLst>
          </p:cNvPr>
          <p:cNvSpPr/>
          <p:nvPr/>
        </p:nvSpPr>
        <p:spPr>
          <a:xfrm>
            <a:off x="1992086" y="1304341"/>
            <a:ext cx="881743" cy="3869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79745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14</a:t>
            </a:fld>
            <a:endParaRPr kumimoji="1" lang="zh-TW" altLang="en-US" dirty="0"/>
          </a:p>
        </p:txBody>
      </p:sp>
      <p:pic>
        <p:nvPicPr>
          <p:cNvPr id="31" name="圖片 30">
            <a:extLst>
              <a:ext uri="{FF2B5EF4-FFF2-40B4-BE49-F238E27FC236}">
                <a16:creationId xmlns:a16="http://schemas.microsoft.com/office/drawing/2014/main" id="{E8C0AF1D-6248-4667-9669-66D0CD345EFA}"/>
              </a:ext>
            </a:extLst>
          </p:cNvPr>
          <p:cNvPicPr>
            <a:picLocks noChangeAspect="1"/>
          </p:cNvPicPr>
          <p:nvPr/>
        </p:nvPicPr>
        <p:blipFill rotWithShape="1">
          <a:blip r:embed="rId3"/>
          <a:srcRect r="61925"/>
          <a:stretch/>
        </p:blipFill>
        <p:spPr>
          <a:xfrm>
            <a:off x="138345" y="87321"/>
            <a:ext cx="3443056" cy="3029106"/>
          </a:xfrm>
          <a:prstGeom prst="rect">
            <a:avLst/>
          </a:prstGeom>
        </p:spPr>
      </p:pic>
      <p:graphicFrame>
        <p:nvGraphicFramePr>
          <p:cNvPr id="13" name="表格 13">
            <a:extLst>
              <a:ext uri="{FF2B5EF4-FFF2-40B4-BE49-F238E27FC236}">
                <a16:creationId xmlns:a16="http://schemas.microsoft.com/office/drawing/2014/main" id="{0782E2FE-77D6-4166-8B73-49FD510005E1}"/>
              </a:ext>
            </a:extLst>
          </p:cNvPr>
          <p:cNvGraphicFramePr>
            <a:graphicFrameLocks noGrp="1"/>
          </p:cNvGraphicFramePr>
          <p:nvPr>
            <p:extLst>
              <p:ext uri="{D42A27DB-BD31-4B8C-83A1-F6EECF244321}">
                <p14:modId xmlns:p14="http://schemas.microsoft.com/office/powerpoint/2010/main" val="3877620727"/>
              </p:ext>
            </p:extLst>
          </p:nvPr>
        </p:nvGraphicFramePr>
        <p:xfrm>
          <a:off x="811924" y="3741574"/>
          <a:ext cx="103632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rgbClr val="FF0000"/>
                          </a:solidFill>
                          <a:latin typeface="Times" panose="02020603050405020304" pitchFamily="18" charset="0"/>
                          <a:cs typeface="Times" panose="02020603050405020304" pitchFamily="18" charset="0"/>
                        </a:rPr>
                        <a:t>A</a:t>
                      </a:r>
                      <a:endParaRPr lang="zh-TW" altLang="en-US" sz="2400" b="0" dirty="0">
                        <a:solidFill>
                          <a:srgbClr val="FF0000"/>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C</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8" name="表格 13">
            <a:extLst>
              <a:ext uri="{FF2B5EF4-FFF2-40B4-BE49-F238E27FC236}">
                <a16:creationId xmlns:a16="http://schemas.microsoft.com/office/drawing/2014/main" id="{618968C8-8906-4BEF-A353-77FC1A4816C8}"/>
              </a:ext>
            </a:extLst>
          </p:cNvPr>
          <p:cNvGraphicFramePr>
            <a:graphicFrameLocks noGrp="1"/>
          </p:cNvGraphicFramePr>
          <p:nvPr>
            <p:extLst>
              <p:ext uri="{D42A27DB-BD31-4B8C-83A1-F6EECF244321}">
                <p14:modId xmlns:p14="http://schemas.microsoft.com/office/powerpoint/2010/main" val="2911393827"/>
              </p:ext>
            </p:extLst>
          </p:nvPr>
        </p:nvGraphicFramePr>
        <p:xfrm>
          <a:off x="6001515" y="4444401"/>
          <a:ext cx="3454400" cy="457200"/>
        </p:xfrm>
        <a:graphic>
          <a:graphicData uri="http://schemas.openxmlformats.org/drawingml/2006/table">
            <a:tbl>
              <a:tblPr firstRow="1" bandRow="1">
                <a:tableStyleId>{5C22544A-7EE6-4342-B048-85BDC9FD1C3A}</a:tableStyleId>
              </a:tblPr>
              <a:tblGrid>
                <a:gridCol w="420302">
                  <a:extLst>
                    <a:ext uri="{9D8B030D-6E8A-4147-A177-3AD203B41FA5}">
                      <a16:colId xmlns:a16="http://schemas.microsoft.com/office/drawing/2014/main" val="1732263812"/>
                    </a:ext>
                  </a:extLst>
                </a:gridCol>
                <a:gridCol w="443298">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C</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sp>
        <p:nvSpPr>
          <p:cNvPr id="30" name="文字方塊 29">
            <a:extLst>
              <a:ext uri="{FF2B5EF4-FFF2-40B4-BE49-F238E27FC236}">
                <a16:creationId xmlns:a16="http://schemas.microsoft.com/office/drawing/2014/main" id="{9B9306C0-0577-40B5-8BAF-4E367A3A22BD}"/>
              </a:ext>
            </a:extLst>
          </p:cNvPr>
          <p:cNvSpPr txBox="1"/>
          <p:nvPr/>
        </p:nvSpPr>
        <p:spPr>
          <a:xfrm>
            <a:off x="4061309" y="-21772"/>
            <a:ext cx="2471058" cy="579967"/>
          </a:xfrm>
          <a:prstGeom prst="rect">
            <a:avLst/>
          </a:prstGeom>
          <a:noFill/>
        </p:spPr>
        <p:txBody>
          <a:bodyPr wrap="square" rtlCol="0">
            <a:spAutoFit/>
          </a:bodyPr>
          <a:lstStyle/>
          <a:p>
            <a:pPr>
              <a:lnSpc>
                <a:spcPct val="150000"/>
              </a:lnSpc>
            </a:pPr>
            <a:r>
              <a:rPr lang="en-US" altLang="zh-TW" sz="2400" dirty="0">
                <a:latin typeface="Times" panose="02020603050405020304" pitchFamily="18" charset="0"/>
                <a:cs typeface="Times" panose="02020603050405020304" pitchFamily="18" charset="0"/>
              </a:rPr>
              <a:t>Last current index:</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B0220D5D-63DE-426C-B8C6-755C400415AD}"/>
                  </a:ext>
                </a:extLst>
              </p:cNvPr>
              <p:cNvSpPr txBox="1"/>
              <p:nvPr/>
            </p:nvSpPr>
            <p:spPr>
              <a:xfrm>
                <a:off x="380999" y="3785508"/>
                <a:ext cx="2584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B0220D5D-63DE-426C-B8C6-755C400415AD}"/>
                  </a:ext>
                </a:extLst>
              </p:cNvPr>
              <p:cNvSpPr txBox="1">
                <a:spLocks noRot="1" noChangeAspect="1" noMove="1" noResize="1" noEditPoints="1" noAdjustHandles="1" noChangeArrowheads="1" noChangeShapeType="1" noTextEdit="1"/>
              </p:cNvSpPr>
              <p:nvPr/>
            </p:nvSpPr>
            <p:spPr>
              <a:xfrm>
                <a:off x="380999" y="3785508"/>
                <a:ext cx="258404" cy="369332"/>
              </a:xfrm>
              <a:prstGeom prst="rect">
                <a:avLst/>
              </a:prstGeom>
              <a:blipFill>
                <a:blip r:embed="rId4"/>
                <a:stretch>
                  <a:fillRect l="-25581" r="-25581" b="-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4A279-C91B-45FE-9C97-11267B89476A}"/>
                  </a:ext>
                </a:extLst>
              </p:cNvPr>
              <p:cNvSpPr txBox="1"/>
              <p:nvPr/>
            </p:nvSpPr>
            <p:spPr>
              <a:xfrm>
                <a:off x="388373" y="4488335"/>
                <a:ext cx="2436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oMath>
                  </m:oMathPara>
                </a14:m>
                <a:endParaRPr lang="zh-TW" altLang="en-US" sz="2400" dirty="0"/>
              </a:p>
            </p:txBody>
          </p:sp>
        </mc:Choice>
        <mc:Fallback xmlns="">
          <p:sp>
            <p:nvSpPr>
              <p:cNvPr id="15" name="文字方塊 14">
                <a:extLst>
                  <a:ext uri="{FF2B5EF4-FFF2-40B4-BE49-F238E27FC236}">
                    <a16:creationId xmlns:a16="http://schemas.microsoft.com/office/drawing/2014/main" id="{4884A279-C91B-45FE-9C97-11267B89476A}"/>
                  </a:ext>
                </a:extLst>
              </p:cNvPr>
              <p:cNvSpPr txBox="1">
                <a:spLocks noRot="1" noChangeAspect="1" noMove="1" noResize="1" noEditPoints="1" noAdjustHandles="1" noChangeArrowheads="1" noChangeShapeType="1" noTextEdit="1"/>
              </p:cNvSpPr>
              <p:nvPr/>
            </p:nvSpPr>
            <p:spPr>
              <a:xfrm>
                <a:off x="388373" y="4488335"/>
                <a:ext cx="243656" cy="369332"/>
              </a:xfrm>
              <a:prstGeom prst="rect">
                <a:avLst/>
              </a:prstGeom>
              <a:blipFill>
                <a:blip r:embed="rId5"/>
                <a:stretch>
                  <a:fillRect l="-30000" r="-27500" b="-6557"/>
                </a:stretch>
              </a:blipFill>
            </p:spPr>
            <p:txBody>
              <a:bodyPr/>
              <a:lstStyle/>
              <a:p>
                <a:r>
                  <a:rPr lang="zh-TW" altLang="en-US">
                    <a:noFill/>
                  </a:rPr>
                  <a:t> </a:t>
                </a:r>
              </a:p>
            </p:txBody>
          </p:sp>
        </mc:Fallback>
      </mc:AlternateContent>
      <p:graphicFrame>
        <p:nvGraphicFramePr>
          <p:cNvPr id="16" name="表格 13">
            <a:extLst>
              <a:ext uri="{FF2B5EF4-FFF2-40B4-BE49-F238E27FC236}">
                <a16:creationId xmlns:a16="http://schemas.microsoft.com/office/drawing/2014/main" id="{3270866A-4956-4BEA-9043-04FBA8A3E775}"/>
              </a:ext>
            </a:extLst>
          </p:cNvPr>
          <p:cNvGraphicFramePr>
            <a:graphicFrameLocks noGrp="1"/>
          </p:cNvGraphicFramePr>
          <p:nvPr/>
        </p:nvGraphicFramePr>
        <p:xfrm>
          <a:off x="811920" y="3245467"/>
          <a:ext cx="103632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17" name="表格 13">
            <a:extLst>
              <a:ext uri="{FF2B5EF4-FFF2-40B4-BE49-F238E27FC236}">
                <a16:creationId xmlns:a16="http://schemas.microsoft.com/office/drawing/2014/main" id="{3ADE4CE4-6F23-45E8-A482-93440BCDFCB3}"/>
              </a:ext>
            </a:extLst>
          </p:cNvPr>
          <p:cNvGraphicFramePr>
            <a:graphicFrameLocks noGrp="1"/>
          </p:cNvGraphicFramePr>
          <p:nvPr>
            <p:extLst>
              <p:ext uri="{D42A27DB-BD31-4B8C-83A1-F6EECF244321}">
                <p14:modId xmlns:p14="http://schemas.microsoft.com/office/powerpoint/2010/main" val="2059033709"/>
              </p:ext>
            </p:extLst>
          </p:nvPr>
        </p:nvGraphicFramePr>
        <p:xfrm>
          <a:off x="6001515" y="4949038"/>
          <a:ext cx="34544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3" name="表格 13">
            <a:extLst>
              <a:ext uri="{FF2B5EF4-FFF2-40B4-BE49-F238E27FC236}">
                <a16:creationId xmlns:a16="http://schemas.microsoft.com/office/drawing/2014/main" id="{A986530A-51B5-4B25-9884-0BF016356E96}"/>
              </a:ext>
            </a:extLst>
          </p:cNvPr>
          <p:cNvGraphicFramePr>
            <a:graphicFrameLocks noGrp="1"/>
          </p:cNvGraphicFramePr>
          <p:nvPr/>
        </p:nvGraphicFramePr>
        <p:xfrm>
          <a:off x="4528426" y="1051165"/>
          <a:ext cx="477064" cy="1828800"/>
        </p:xfrm>
        <a:graphic>
          <a:graphicData uri="http://schemas.openxmlformats.org/drawingml/2006/table">
            <a:tbl>
              <a:tblPr firstRow="1" bandRow="1">
                <a:tableStyleId>{5C22544A-7EE6-4342-B048-85BDC9FD1C3A}</a:tableStyleId>
              </a:tblPr>
              <a:tblGrid>
                <a:gridCol w="477064">
                  <a:extLst>
                    <a:ext uri="{9D8B030D-6E8A-4147-A177-3AD203B41FA5}">
                      <a16:colId xmlns:a16="http://schemas.microsoft.com/office/drawing/2014/main" val="1732263812"/>
                    </a:ext>
                  </a:extLst>
                </a:gridCol>
              </a:tblGrid>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537889"/>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8573940"/>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329684"/>
                  </a:ext>
                </a:extLst>
              </a:tr>
            </a:tbl>
          </a:graphicData>
        </a:graphic>
      </p:graphicFrame>
      <p:sp>
        <p:nvSpPr>
          <p:cNvPr id="24" name="文字方塊 23">
            <a:extLst>
              <a:ext uri="{FF2B5EF4-FFF2-40B4-BE49-F238E27FC236}">
                <a16:creationId xmlns:a16="http://schemas.microsoft.com/office/drawing/2014/main" id="{C7633FBC-BBF6-4971-8286-030CF96AC88A}"/>
              </a:ext>
            </a:extLst>
          </p:cNvPr>
          <p:cNvSpPr txBox="1"/>
          <p:nvPr/>
        </p:nvSpPr>
        <p:spPr>
          <a:xfrm>
            <a:off x="4053491" y="1015395"/>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A</a:t>
            </a:r>
          </a:p>
        </p:txBody>
      </p:sp>
      <p:sp>
        <p:nvSpPr>
          <p:cNvPr id="25" name="文字方塊 24">
            <a:extLst>
              <a:ext uri="{FF2B5EF4-FFF2-40B4-BE49-F238E27FC236}">
                <a16:creationId xmlns:a16="http://schemas.microsoft.com/office/drawing/2014/main" id="{C0327981-72DA-4FD0-AE82-927426B152E5}"/>
              </a:ext>
            </a:extLst>
          </p:cNvPr>
          <p:cNvSpPr txBox="1"/>
          <p:nvPr/>
        </p:nvSpPr>
        <p:spPr>
          <a:xfrm>
            <a:off x="4058465" y="1507056"/>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C</a:t>
            </a:r>
          </a:p>
        </p:txBody>
      </p:sp>
      <p:sp>
        <p:nvSpPr>
          <p:cNvPr id="26" name="文字方塊 25">
            <a:extLst>
              <a:ext uri="{FF2B5EF4-FFF2-40B4-BE49-F238E27FC236}">
                <a16:creationId xmlns:a16="http://schemas.microsoft.com/office/drawing/2014/main" id="{9AD039C2-ED38-4F66-870C-8EAA32765135}"/>
              </a:ext>
            </a:extLst>
          </p:cNvPr>
          <p:cNvSpPr txBox="1"/>
          <p:nvPr/>
        </p:nvSpPr>
        <p:spPr>
          <a:xfrm>
            <a:off x="4058465" y="2400388"/>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T</a:t>
            </a:r>
          </a:p>
        </p:txBody>
      </p:sp>
      <p:sp>
        <p:nvSpPr>
          <p:cNvPr id="27" name="文字方塊 26">
            <a:extLst>
              <a:ext uri="{FF2B5EF4-FFF2-40B4-BE49-F238E27FC236}">
                <a16:creationId xmlns:a16="http://schemas.microsoft.com/office/drawing/2014/main" id="{FDBFE0B7-C1ED-4F9B-BE68-4E3C602BAB6D}"/>
              </a:ext>
            </a:extLst>
          </p:cNvPr>
          <p:cNvSpPr txBox="1"/>
          <p:nvPr/>
        </p:nvSpPr>
        <p:spPr>
          <a:xfrm>
            <a:off x="4058465" y="1938544"/>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G</a:t>
            </a:r>
          </a:p>
        </p:txBody>
      </p:sp>
      <p:sp>
        <p:nvSpPr>
          <p:cNvPr id="18" name="矩形 17">
            <a:extLst>
              <a:ext uri="{FF2B5EF4-FFF2-40B4-BE49-F238E27FC236}">
                <a16:creationId xmlns:a16="http://schemas.microsoft.com/office/drawing/2014/main" id="{04A4B764-7008-45F8-8645-2B94FC1D9150}"/>
              </a:ext>
            </a:extLst>
          </p:cNvPr>
          <p:cNvSpPr/>
          <p:nvPr/>
        </p:nvSpPr>
        <p:spPr>
          <a:xfrm>
            <a:off x="1992086" y="1304341"/>
            <a:ext cx="881743" cy="3869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10003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15</a:t>
            </a:fld>
            <a:endParaRPr kumimoji="1" lang="zh-TW" altLang="en-US" dirty="0"/>
          </a:p>
        </p:txBody>
      </p:sp>
      <p:pic>
        <p:nvPicPr>
          <p:cNvPr id="31" name="圖片 30">
            <a:extLst>
              <a:ext uri="{FF2B5EF4-FFF2-40B4-BE49-F238E27FC236}">
                <a16:creationId xmlns:a16="http://schemas.microsoft.com/office/drawing/2014/main" id="{E8C0AF1D-6248-4667-9669-66D0CD345EFA}"/>
              </a:ext>
            </a:extLst>
          </p:cNvPr>
          <p:cNvPicPr>
            <a:picLocks noChangeAspect="1"/>
          </p:cNvPicPr>
          <p:nvPr/>
        </p:nvPicPr>
        <p:blipFill rotWithShape="1">
          <a:blip r:embed="rId3"/>
          <a:srcRect r="61925"/>
          <a:stretch/>
        </p:blipFill>
        <p:spPr>
          <a:xfrm>
            <a:off x="138345" y="87321"/>
            <a:ext cx="3443056" cy="3029106"/>
          </a:xfrm>
          <a:prstGeom prst="rect">
            <a:avLst/>
          </a:prstGeom>
        </p:spPr>
      </p:pic>
      <p:graphicFrame>
        <p:nvGraphicFramePr>
          <p:cNvPr id="13" name="表格 13">
            <a:extLst>
              <a:ext uri="{FF2B5EF4-FFF2-40B4-BE49-F238E27FC236}">
                <a16:creationId xmlns:a16="http://schemas.microsoft.com/office/drawing/2014/main" id="{0782E2FE-77D6-4166-8B73-49FD510005E1}"/>
              </a:ext>
            </a:extLst>
          </p:cNvPr>
          <p:cNvGraphicFramePr>
            <a:graphicFrameLocks noGrp="1"/>
          </p:cNvGraphicFramePr>
          <p:nvPr>
            <p:extLst>
              <p:ext uri="{D42A27DB-BD31-4B8C-83A1-F6EECF244321}">
                <p14:modId xmlns:p14="http://schemas.microsoft.com/office/powerpoint/2010/main" val="121501850"/>
              </p:ext>
            </p:extLst>
          </p:nvPr>
        </p:nvGraphicFramePr>
        <p:xfrm>
          <a:off x="811924" y="3741574"/>
          <a:ext cx="10363200" cy="45720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C</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8" name="表格 13">
            <a:extLst>
              <a:ext uri="{FF2B5EF4-FFF2-40B4-BE49-F238E27FC236}">
                <a16:creationId xmlns:a16="http://schemas.microsoft.com/office/drawing/2014/main" id="{618968C8-8906-4BEF-A353-77FC1A4816C8}"/>
              </a:ext>
            </a:extLst>
          </p:cNvPr>
          <p:cNvGraphicFramePr>
            <a:graphicFrameLocks noGrp="1"/>
          </p:cNvGraphicFramePr>
          <p:nvPr>
            <p:extLst>
              <p:ext uri="{D42A27DB-BD31-4B8C-83A1-F6EECF244321}">
                <p14:modId xmlns:p14="http://schemas.microsoft.com/office/powerpoint/2010/main" val="1202648314"/>
              </p:ext>
            </p:extLst>
          </p:nvPr>
        </p:nvGraphicFramePr>
        <p:xfrm>
          <a:off x="6863362" y="4444401"/>
          <a:ext cx="3454400" cy="457200"/>
        </p:xfrm>
        <a:graphic>
          <a:graphicData uri="http://schemas.openxmlformats.org/drawingml/2006/table">
            <a:tbl>
              <a:tblPr firstRow="1" bandRow="1">
                <a:tableStyleId>{5C22544A-7EE6-4342-B048-85BDC9FD1C3A}</a:tableStyleId>
              </a:tblPr>
              <a:tblGrid>
                <a:gridCol w="420302">
                  <a:extLst>
                    <a:ext uri="{9D8B030D-6E8A-4147-A177-3AD203B41FA5}">
                      <a16:colId xmlns:a16="http://schemas.microsoft.com/office/drawing/2014/main" val="1732263812"/>
                    </a:ext>
                  </a:extLst>
                </a:gridCol>
                <a:gridCol w="443298">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C</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en-US" altLang="zh-TW" sz="2400" b="0" kern="1200" dirty="0">
                          <a:solidFill>
                            <a:schemeClr val="tx1"/>
                          </a:solidFill>
                          <a:latin typeface="Times" panose="02020603050405020304" pitchFamily="18" charset="0"/>
                          <a:ea typeface="+mn-ea"/>
                          <a:cs typeface="Times" panose="02020603050405020304" pitchFamily="18" charset="0"/>
                        </a:rPr>
                        <a:t>G</a:t>
                      </a:r>
                      <a:endParaRPr lang="zh-TW" altLang="en-US" sz="2400" b="0" kern="1200" dirty="0">
                        <a:solidFill>
                          <a:schemeClr val="tx1"/>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59908335"/>
                  </a:ext>
                </a:extLst>
              </a:tr>
            </a:tbl>
          </a:graphicData>
        </a:graphic>
      </p:graphicFrame>
      <p:sp>
        <p:nvSpPr>
          <p:cNvPr id="30" name="文字方塊 29">
            <a:extLst>
              <a:ext uri="{FF2B5EF4-FFF2-40B4-BE49-F238E27FC236}">
                <a16:creationId xmlns:a16="http://schemas.microsoft.com/office/drawing/2014/main" id="{9B9306C0-0577-40B5-8BAF-4E367A3A22BD}"/>
              </a:ext>
            </a:extLst>
          </p:cNvPr>
          <p:cNvSpPr txBox="1"/>
          <p:nvPr/>
        </p:nvSpPr>
        <p:spPr>
          <a:xfrm>
            <a:off x="4061309" y="-21772"/>
            <a:ext cx="2471058" cy="579967"/>
          </a:xfrm>
          <a:prstGeom prst="rect">
            <a:avLst/>
          </a:prstGeom>
          <a:noFill/>
        </p:spPr>
        <p:txBody>
          <a:bodyPr wrap="square" rtlCol="0">
            <a:spAutoFit/>
          </a:bodyPr>
          <a:lstStyle/>
          <a:p>
            <a:pPr>
              <a:lnSpc>
                <a:spcPct val="150000"/>
              </a:lnSpc>
            </a:pPr>
            <a:r>
              <a:rPr lang="en-US" altLang="zh-TW" sz="2400" dirty="0">
                <a:latin typeface="Times" panose="02020603050405020304" pitchFamily="18" charset="0"/>
                <a:cs typeface="Times" panose="02020603050405020304" pitchFamily="18" charset="0"/>
              </a:rPr>
              <a:t>Last current index:</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B0220D5D-63DE-426C-B8C6-755C400415AD}"/>
                  </a:ext>
                </a:extLst>
              </p:cNvPr>
              <p:cNvSpPr txBox="1"/>
              <p:nvPr/>
            </p:nvSpPr>
            <p:spPr>
              <a:xfrm>
                <a:off x="380999" y="3785508"/>
                <a:ext cx="2584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B0220D5D-63DE-426C-B8C6-755C400415AD}"/>
                  </a:ext>
                </a:extLst>
              </p:cNvPr>
              <p:cNvSpPr txBox="1">
                <a:spLocks noRot="1" noChangeAspect="1" noMove="1" noResize="1" noEditPoints="1" noAdjustHandles="1" noChangeArrowheads="1" noChangeShapeType="1" noTextEdit="1"/>
              </p:cNvSpPr>
              <p:nvPr/>
            </p:nvSpPr>
            <p:spPr>
              <a:xfrm>
                <a:off x="380999" y="3785508"/>
                <a:ext cx="258404" cy="369332"/>
              </a:xfrm>
              <a:prstGeom prst="rect">
                <a:avLst/>
              </a:prstGeom>
              <a:blipFill>
                <a:blip r:embed="rId4"/>
                <a:stretch>
                  <a:fillRect l="-25581" r="-25581" b="-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4A279-C91B-45FE-9C97-11267B89476A}"/>
                  </a:ext>
                </a:extLst>
              </p:cNvPr>
              <p:cNvSpPr txBox="1"/>
              <p:nvPr/>
            </p:nvSpPr>
            <p:spPr>
              <a:xfrm>
                <a:off x="388373" y="4488335"/>
                <a:ext cx="2436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oMath>
                  </m:oMathPara>
                </a14:m>
                <a:endParaRPr lang="zh-TW" altLang="en-US" sz="2400" dirty="0"/>
              </a:p>
            </p:txBody>
          </p:sp>
        </mc:Choice>
        <mc:Fallback xmlns="">
          <p:sp>
            <p:nvSpPr>
              <p:cNvPr id="15" name="文字方塊 14">
                <a:extLst>
                  <a:ext uri="{FF2B5EF4-FFF2-40B4-BE49-F238E27FC236}">
                    <a16:creationId xmlns:a16="http://schemas.microsoft.com/office/drawing/2014/main" id="{4884A279-C91B-45FE-9C97-11267B89476A}"/>
                  </a:ext>
                </a:extLst>
              </p:cNvPr>
              <p:cNvSpPr txBox="1">
                <a:spLocks noRot="1" noChangeAspect="1" noMove="1" noResize="1" noEditPoints="1" noAdjustHandles="1" noChangeArrowheads="1" noChangeShapeType="1" noTextEdit="1"/>
              </p:cNvSpPr>
              <p:nvPr/>
            </p:nvSpPr>
            <p:spPr>
              <a:xfrm>
                <a:off x="388373" y="4488335"/>
                <a:ext cx="243656" cy="369332"/>
              </a:xfrm>
              <a:prstGeom prst="rect">
                <a:avLst/>
              </a:prstGeom>
              <a:blipFill>
                <a:blip r:embed="rId5"/>
                <a:stretch>
                  <a:fillRect l="-30000" r="-27500" b="-6557"/>
                </a:stretch>
              </a:blipFill>
            </p:spPr>
            <p:txBody>
              <a:bodyPr/>
              <a:lstStyle/>
              <a:p>
                <a:r>
                  <a:rPr lang="zh-TW" altLang="en-US">
                    <a:noFill/>
                  </a:rPr>
                  <a:t> </a:t>
                </a:r>
              </a:p>
            </p:txBody>
          </p:sp>
        </mc:Fallback>
      </mc:AlternateContent>
      <p:graphicFrame>
        <p:nvGraphicFramePr>
          <p:cNvPr id="16" name="表格 13">
            <a:extLst>
              <a:ext uri="{FF2B5EF4-FFF2-40B4-BE49-F238E27FC236}">
                <a16:creationId xmlns:a16="http://schemas.microsoft.com/office/drawing/2014/main" id="{3270866A-4956-4BEA-9043-04FBA8A3E775}"/>
              </a:ext>
            </a:extLst>
          </p:cNvPr>
          <p:cNvGraphicFramePr>
            <a:graphicFrameLocks noGrp="1"/>
          </p:cNvGraphicFramePr>
          <p:nvPr/>
        </p:nvGraphicFramePr>
        <p:xfrm>
          <a:off x="811920" y="3245467"/>
          <a:ext cx="103632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gridCol w="431800">
                  <a:extLst>
                    <a:ext uri="{9D8B030D-6E8A-4147-A177-3AD203B41FA5}">
                      <a16:colId xmlns:a16="http://schemas.microsoft.com/office/drawing/2014/main" val="2333241898"/>
                    </a:ext>
                  </a:extLst>
                </a:gridCol>
                <a:gridCol w="431800">
                  <a:extLst>
                    <a:ext uri="{9D8B030D-6E8A-4147-A177-3AD203B41FA5}">
                      <a16:colId xmlns:a16="http://schemas.microsoft.com/office/drawing/2014/main" val="2708923969"/>
                    </a:ext>
                  </a:extLst>
                </a:gridCol>
                <a:gridCol w="431800">
                  <a:extLst>
                    <a:ext uri="{9D8B030D-6E8A-4147-A177-3AD203B41FA5}">
                      <a16:colId xmlns:a16="http://schemas.microsoft.com/office/drawing/2014/main" val="2880484713"/>
                    </a:ext>
                  </a:extLst>
                </a:gridCol>
                <a:gridCol w="431800">
                  <a:extLst>
                    <a:ext uri="{9D8B030D-6E8A-4147-A177-3AD203B41FA5}">
                      <a16:colId xmlns:a16="http://schemas.microsoft.com/office/drawing/2014/main" val="1298188246"/>
                    </a:ext>
                  </a:extLst>
                </a:gridCol>
                <a:gridCol w="431800">
                  <a:extLst>
                    <a:ext uri="{9D8B030D-6E8A-4147-A177-3AD203B41FA5}">
                      <a16:colId xmlns:a16="http://schemas.microsoft.com/office/drawing/2014/main" val="4109480197"/>
                    </a:ext>
                  </a:extLst>
                </a:gridCol>
                <a:gridCol w="431800">
                  <a:extLst>
                    <a:ext uri="{9D8B030D-6E8A-4147-A177-3AD203B41FA5}">
                      <a16:colId xmlns:a16="http://schemas.microsoft.com/office/drawing/2014/main" val="3764512566"/>
                    </a:ext>
                  </a:extLst>
                </a:gridCol>
                <a:gridCol w="431800">
                  <a:extLst>
                    <a:ext uri="{9D8B030D-6E8A-4147-A177-3AD203B41FA5}">
                      <a16:colId xmlns:a16="http://schemas.microsoft.com/office/drawing/2014/main" val="2788425520"/>
                    </a:ext>
                  </a:extLst>
                </a:gridCol>
                <a:gridCol w="431800">
                  <a:extLst>
                    <a:ext uri="{9D8B030D-6E8A-4147-A177-3AD203B41FA5}">
                      <a16:colId xmlns:a16="http://schemas.microsoft.com/office/drawing/2014/main" val="395327254"/>
                    </a:ext>
                  </a:extLst>
                </a:gridCol>
                <a:gridCol w="431800">
                  <a:extLst>
                    <a:ext uri="{9D8B030D-6E8A-4147-A177-3AD203B41FA5}">
                      <a16:colId xmlns:a16="http://schemas.microsoft.com/office/drawing/2014/main" val="1769902180"/>
                    </a:ext>
                  </a:extLst>
                </a:gridCol>
                <a:gridCol w="431800">
                  <a:extLst>
                    <a:ext uri="{9D8B030D-6E8A-4147-A177-3AD203B41FA5}">
                      <a16:colId xmlns:a16="http://schemas.microsoft.com/office/drawing/2014/main" val="4224141253"/>
                    </a:ext>
                  </a:extLst>
                </a:gridCol>
                <a:gridCol w="431800">
                  <a:extLst>
                    <a:ext uri="{9D8B030D-6E8A-4147-A177-3AD203B41FA5}">
                      <a16:colId xmlns:a16="http://schemas.microsoft.com/office/drawing/2014/main" val="1763891402"/>
                    </a:ext>
                  </a:extLst>
                </a:gridCol>
                <a:gridCol w="431800">
                  <a:extLst>
                    <a:ext uri="{9D8B030D-6E8A-4147-A177-3AD203B41FA5}">
                      <a16:colId xmlns:a16="http://schemas.microsoft.com/office/drawing/2014/main" val="1184671918"/>
                    </a:ext>
                  </a:extLst>
                </a:gridCol>
                <a:gridCol w="431800">
                  <a:extLst>
                    <a:ext uri="{9D8B030D-6E8A-4147-A177-3AD203B41FA5}">
                      <a16:colId xmlns:a16="http://schemas.microsoft.com/office/drawing/2014/main" val="293694050"/>
                    </a:ext>
                  </a:extLst>
                </a:gridCol>
                <a:gridCol w="431800">
                  <a:extLst>
                    <a:ext uri="{9D8B030D-6E8A-4147-A177-3AD203B41FA5}">
                      <a16:colId xmlns:a16="http://schemas.microsoft.com/office/drawing/2014/main" val="4209724552"/>
                    </a:ext>
                  </a:extLst>
                </a:gridCol>
                <a:gridCol w="431800">
                  <a:extLst>
                    <a:ext uri="{9D8B030D-6E8A-4147-A177-3AD203B41FA5}">
                      <a16:colId xmlns:a16="http://schemas.microsoft.com/office/drawing/2014/main" val="2347774611"/>
                    </a:ext>
                  </a:extLst>
                </a:gridCol>
                <a:gridCol w="431800">
                  <a:extLst>
                    <a:ext uri="{9D8B030D-6E8A-4147-A177-3AD203B41FA5}">
                      <a16:colId xmlns:a16="http://schemas.microsoft.com/office/drawing/2014/main" val="2660377332"/>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18</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19</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17" name="表格 13">
            <a:extLst>
              <a:ext uri="{FF2B5EF4-FFF2-40B4-BE49-F238E27FC236}">
                <a16:creationId xmlns:a16="http://schemas.microsoft.com/office/drawing/2014/main" id="{3ADE4CE4-6F23-45E8-A482-93440BCDFCB3}"/>
              </a:ext>
            </a:extLst>
          </p:cNvPr>
          <p:cNvGraphicFramePr>
            <a:graphicFrameLocks noGrp="1"/>
          </p:cNvGraphicFramePr>
          <p:nvPr>
            <p:extLst>
              <p:ext uri="{D42A27DB-BD31-4B8C-83A1-F6EECF244321}">
                <p14:modId xmlns:p14="http://schemas.microsoft.com/office/powerpoint/2010/main" val="3767220585"/>
              </p:ext>
            </p:extLst>
          </p:nvPr>
        </p:nvGraphicFramePr>
        <p:xfrm>
          <a:off x="6863362" y="4949038"/>
          <a:ext cx="3454400" cy="446440"/>
        </p:xfrm>
        <a:graphic>
          <a:graphicData uri="http://schemas.openxmlformats.org/drawingml/2006/table">
            <a:tbl>
              <a:tblPr firstRow="1" bandRow="1">
                <a:tableStyleId>{5C22544A-7EE6-4342-B048-85BDC9FD1C3A}</a:tableStyleId>
              </a:tblPr>
              <a:tblGrid>
                <a:gridCol w="431800">
                  <a:extLst>
                    <a:ext uri="{9D8B030D-6E8A-4147-A177-3AD203B41FA5}">
                      <a16:colId xmlns:a16="http://schemas.microsoft.com/office/drawing/2014/main" val="1732263812"/>
                    </a:ext>
                  </a:extLst>
                </a:gridCol>
                <a:gridCol w="431800">
                  <a:extLst>
                    <a:ext uri="{9D8B030D-6E8A-4147-A177-3AD203B41FA5}">
                      <a16:colId xmlns:a16="http://schemas.microsoft.com/office/drawing/2014/main" val="1324845410"/>
                    </a:ext>
                  </a:extLst>
                </a:gridCol>
                <a:gridCol w="431800">
                  <a:extLst>
                    <a:ext uri="{9D8B030D-6E8A-4147-A177-3AD203B41FA5}">
                      <a16:colId xmlns:a16="http://schemas.microsoft.com/office/drawing/2014/main" val="1888554789"/>
                    </a:ext>
                  </a:extLst>
                </a:gridCol>
                <a:gridCol w="431800">
                  <a:extLst>
                    <a:ext uri="{9D8B030D-6E8A-4147-A177-3AD203B41FA5}">
                      <a16:colId xmlns:a16="http://schemas.microsoft.com/office/drawing/2014/main" val="3901973042"/>
                    </a:ext>
                  </a:extLst>
                </a:gridCol>
                <a:gridCol w="431800">
                  <a:extLst>
                    <a:ext uri="{9D8B030D-6E8A-4147-A177-3AD203B41FA5}">
                      <a16:colId xmlns:a16="http://schemas.microsoft.com/office/drawing/2014/main" val="339237796"/>
                    </a:ext>
                  </a:extLst>
                </a:gridCol>
                <a:gridCol w="431800">
                  <a:extLst>
                    <a:ext uri="{9D8B030D-6E8A-4147-A177-3AD203B41FA5}">
                      <a16:colId xmlns:a16="http://schemas.microsoft.com/office/drawing/2014/main" val="4182856543"/>
                    </a:ext>
                  </a:extLst>
                </a:gridCol>
                <a:gridCol w="431800">
                  <a:extLst>
                    <a:ext uri="{9D8B030D-6E8A-4147-A177-3AD203B41FA5}">
                      <a16:colId xmlns:a16="http://schemas.microsoft.com/office/drawing/2014/main" val="127255366"/>
                    </a:ext>
                  </a:extLst>
                </a:gridCol>
                <a:gridCol w="431800">
                  <a:extLst>
                    <a:ext uri="{9D8B030D-6E8A-4147-A177-3AD203B41FA5}">
                      <a16:colId xmlns:a16="http://schemas.microsoft.com/office/drawing/2014/main" val="528127731"/>
                    </a:ext>
                  </a:extLst>
                </a:gridCol>
              </a:tblGrid>
              <a:tr h="446440">
                <a:tc>
                  <a:txBody>
                    <a:bodyPr/>
                    <a:lstStyle/>
                    <a:p>
                      <a:pPr algn="ctr"/>
                      <a:r>
                        <a:rPr lang="en-US" altLang="zh-TW" sz="1800" b="0" dirty="0">
                          <a:solidFill>
                            <a:schemeClr val="tx1"/>
                          </a:solidFill>
                          <a:latin typeface="Times" panose="02020603050405020304" pitchFamily="18" charset="0"/>
                          <a:cs typeface="Times" panose="02020603050405020304" pitchFamily="18" charset="0"/>
                        </a:rPr>
                        <a:t>0</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1</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2</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3</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4</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5</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6</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altLang="zh-TW" sz="1800" b="0" dirty="0">
                          <a:solidFill>
                            <a:schemeClr val="tx1"/>
                          </a:solidFill>
                          <a:latin typeface="Times" panose="02020603050405020304" pitchFamily="18" charset="0"/>
                          <a:cs typeface="Times" panose="02020603050405020304" pitchFamily="18" charset="0"/>
                        </a:rPr>
                        <a:t>7</a:t>
                      </a:r>
                      <a:endParaRPr lang="zh-TW" altLang="en-US" sz="18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bl>
          </a:graphicData>
        </a:graphic>
      </p:graphicFrame>
      <p:graphicFrame>
        <p:nvGraphicFramePr>
          <p:cNvPr id="23" name="表格 13">
            <a:extLst>
              <a:ext uri="{FF2B5EF4-FFF2-40B4-BE49-F238E27FC236}">
                <a16:creationId xmlns:a16="http://schemas.microsoft.com/office/drawing/2014/main" id="{A986530A-51B5-4B25-9884-0BF016356E96}"/>
              </a:ext>
            </a:extLst>
          </p:cNvPr>
          <p:cNvGraphicFramePr>
            <a:graphicFrameLocks noGrp="1"/>
          </p:cNvGraphicFramePr>
          <p:nvPr>
            <p:extLst>
              <p:ext uri="{D42A27DB-BD31-4B8C-83A1-F6EECF244321}">
                <p14:modId xmlns:p14="http://schemas.microsoft.com/office/powerpoint/2010/main" val="1554159917"/>
              </p:ext>
            </p:extLst>
          </p:nvPr>
        </p:nvGraphicFramePr>
        <p:xfrm>
          <a:off x="4528426" y="1051165"/>
          <a:ext cx="1472981" cy="1828800"/>
        </p:xfrm>
        <a:graphic>
          <a:graphicData uri="http://schemas.openxmlformats.org/drawingml/2006/table">
            <a:tbl>
              <a:tblPr firstRow="1" bandRow="1">
                <a:tableStyleId>{5C22544A-7EE6-4342-B048-85BDC9FD1C3A}</a:tableStyleId>
              </a:tblPr>
              <a:tblGrid>
                <a:gridCol w="1472981">
                  <a:extLst>
                    <a:ext uri="{9D8B030D-6E8A-4147-A177-3AD203B41FA5}">
                      <a16:colId xmlns:a16="http://schemas.microsoft.com/office/drawing/2014/main" val="1732263812"/>
                    </a:ext>
                  </a:extLst>
                </a:gridCol>
              </a:tblGrid>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6, 4, 2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908335"/>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537889"/>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3, 5, 7, 0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8573940"/>
                  </a:ext>
                </a:extLst>
              </a:tr>
              <a:tr h="314173">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329684"/>
                  </a:ext>
                </a:extLst>
              </a:tr>
            </a:tbl>
          </a:graphicData>
        </a:graphic>
      </p:graphicFrame>
      <p:sp>
        <p:nvSpPr>
          <p:cNvPr id="24" name="文字方塊 23">
            <a:extLst>
              <a:ext uri="{FF2B5EF4-FFF2-40B4-BE49-F238E27FC236}">
                <a16:creationId xmlns:a16="http://schemas.microsoft.com/office/drawing/2014/main" id="{C7633FBC-BBF6-4971-8286-030CF96AC88A}"/>
              </a:ext>
            </a:extLst>
          </p:cNvPr>
          <p:cNvSpPr txBox="1"/>
          <p:nvPr/>
        </p:nvSpPr>
        <p:spPr>
          <a:xfrm>
            <a:off x="4053491" y="1015395"/>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A</a:t>
            </a:r>
          </a:p>
        </p:txBody>
      </p:sp>
      <p:sp>
        <p:nvSpPr>
          <p:cNvPr id="25" name="文字方塊 24">
            <a:extLst>
              <a:ext uri="{FF2B5EF4-FFF2-40B4-BE49-F238E27FC236}">
                <a16:creationId xmlns:a16="http://schemas.microsoft.com/office/drawing/2014/main" id="{C0327981-72DA-4FD0-AE82-927426B152E5}"/>
              </a:ext>
            </a:extLst>
          </p:cNvPr>
          <p:cNvSpPr txBox="1"/>
          <p:nvPr/>
        </p:nvSpPr>
        <p:spPr>
          <a:xfrm>
            <a:off x="4058465" y="1507056"/>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C</a:t>
            </a:r>
          </a:p>
        </p:txBody>
      </p:sp>
      <p:sp>
        <p:nvSpPr>
          <p:cNvPr id="26" name="文字方塊 25">
            <a:extLst>
              <a:ext uri="{FF2B5EF4-FFF2-40B4-BE49-F238E27FC236}">
                <a16:creationId xmlns:a16="http://schemas.microsoft.com/office/drawing/2014/main" id="{9AD039C2-ED38-4F66-870C-8EAA32765135}"/>
              </a:ext>
            </a:extLst>
          </p:cNvPr>
          <p:cNvSpPr txBox="1"/>
          <p:nvPr/>
        </p:nvSpPr>
        <p:spPr>
          <a:xfrm>
            <a:off x="4058465" y="2400388"/>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T</a:t>
            </a:r>
          </a:p>
        </p:txBody>
      </p:sp>
      <p:sp>
        <p:nvSpPr>
          <p:cNvPr id="27" name="文字方塊 26">
            <a:extLst>
              <a:ext uri="{FF2B5EF4-FFF2-40B4-BE49-F238E27FC236}">
                <a16:creationId xmlns:a16="http://schemas.microsoft.com/office/drawing/2014/main" id="{FDBFE0B7-C1ED-4F9B-BE68-4E3C602BAB6D}"/>
              </a:ext>
            </a:extLst>
          </p:cNvPr>
          <p:cNvSpPr txBox="1"/>
          <p:nvPr/>
        </p:nvSpPr>
        <p:spPr>
          <a:xfrm>
            <a:off x="4058465" y="1938544"/>
            <a:ext cx="479908" cy="461665"/>
          </a:xfrm>
          <a:prstGeom prst="rect">
            <a:avLst/>
          </a:prstGeom>
          <a:noFill/>
        </p:spPr>
        <p:txBody>
          <a:bodyPr wrap="square" rtlCol="0">
            <a:spAutoFit/>
          </a:bodyPr>
          <a:lstStyle/>
          <a:p>
            <a:pPr algn="ctr"/>
            <a:r>
              <a:rPr lang="en-US" altLang="zh-TW" sz="2400" dirty="0">
                <a:latin typeface="Times" panose="02020603050405020304" pitchFamily="18" charset="0"/>
                <a:cs typeface="Times" panose="02020603050405020304" pitchFamily="18" charset="0"/>
              </a:rPr>
              <a:t>G</a:t>
            </a:r>
          </a:p>
        </p:txBody>
      </p:sp>
    </p:spTree>
    <p:extLst>
      <p:ext uri="{BB962C8B-B14F-4D97-AF65-F5344CB8AC3E}">
        <p14:creationId xmlns:p14="http://schemas.microsoft.com/office/powerpoint/2010/main" val="2907812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Time Complexity</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16</a:t>
            </a:fld>
            <a:endParaRPr kumimoji="1" lang="zh-TW" altLang="en-US" dirty="0"/>
          </a:p>
        </p:txBody>
      </p:sp>
      <mc:AlternateContent xmlns:mc="http://schemas.openxmlformats.org/markup-compatibility/2006">
        <mc:Choice xmlns:a14="http://schemas.microsoft.com/office/drawing/2010/main" Requires="a14">
          <p:sp>
            <p:nvSpPr>
              <p:cNvPr id="3" name="文字方塊 2">
                <a:extLst>
                  <a:ext uri="{FF2B5EF4-FFF2-40B4-BE49-F238E27FC236}">
                    <a16:creationId xmlns:a16="http://schemas.microsoft.com/office/drawing/2014/main" id="{BB4EB748-0678-4520-8639-6E11DCF986D9}"/>
                  </a:ext>
                </a:extLst>
              </p:cNvPr>
              <p:cNvSpPr txBox="1"/>
              <p:nvPr/>
            </p:nvSpPr>
            <p:spPr>
              <a:xfrm>
                <a:off x="838199" y="1691866"/>
                <a:ext cx="10515601" cy="11334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TW" sz="2400" dirty="0">
                    <a:solidFill>
                      <a:schemeClr val="tx1"/>
                    </a:solidFill>
                    <a:latin typeface="Times" panose="02020603050405020304" pitchFamily="18" charset="0"/>
                    <a:cs typeface="Times" panose="02020603050405020304" pitchFamily="18" charset="0"/>
                  </a:rPr>
                  <a:t>Preprocessing: O</a:t>
                </a:r>
                <a14:m>
                  <m:oMath xmlns:m="http://schemas.openxmlformats.org/officeDocument/2006/math">
                    <m:r>
                      <a:rPr lang="en-US" altLang="zh-TW" sz="2400" i="1" dirty="0" smtClean="0">
                        <a:solidFill>
                          <a:schemeClr val="tx1"/>
                        </a:solidFill>
                        <a:latin typeface="Cambria Math" panose="02040503050406030204" pitchFamily="18" charset="0"/>
                        <a:cs typeface="Times" panose="02020603050405020304" pitchFamily="18" charset="0"/>
                      </a:rPr>
                      <m:t>(</m:t>
                    </m:r>
                    <m:r>
                      <a:rPr lang="en-US" altLang="zh-TW" sz="2400" b="0" i="1" dirty="0" smtClean="0">
                        <a:solidFill>
                          <a:schemeClr val="tx1"/>
                        </a:solidFill>
                        <a:latin typeface="Cambria Math" panose="02040503050406030204" pitchFamily="18" charset="0"/>
                        <a:cs typeface="Times" panose="02020603050405020304" pitchFamily="18" charset="0"/>
                      </a:rPr>
                      <m:t>𝑚</m:t>
                    </m:r>
                    <m:r>
                      <a:rPr lang="en-US" altLang="zh-TW" sz="2400" i="1" dirty="0" smtClean="0">
                        <a:solidFill>
                          <a:schemeClr val="tx1"/>
                        </a:solidFill>
                        <a:latin typeface="Cambria Math" panose="02040503050406030204" pitchFamily="18" charset="0"/>
                        <a:cs typeface="Times" panose="02020603050405020304" pitchFamily="18" charset="0"/>
                      </a:rPr>
                      <m:t>)</m:t>
                    </m:r>
                  </m:oMath>
                </a14:m>
                <a:endParaRPr lang="en-US" altLang="zh-TW" sz="2400" dirty="0">
                  <a:solidFill>
                    <a:schemeClr val="tx1"/>
                  </a:solidFill>
                  <a:latin typeface="Times" panose="02020603050405020304" pitchFamily="18" charset="0"/>
                  <a:cs typeface="Times" panose="02020603050405020304" pitchFamily="18" charset="0"/>
                </a:endParaRPr>
              </a:p>
              <a:p>
                <a:pPr marL="342900" indent="-342900">
                  <a:lnSpc>
                    <a:spcPct val="150000"/>
                  </a:lnSpc>
                  <a:buFont typeface="Arial" panose="020B0604020202020204" pitchFamily="34" charset="0"/>
                  <a:buChar char="•"/>
                </a:pPr>
                <a:r>
                  <a:rPr lang="en-US" altLang="zh-TW" sz="2400" dirty="0">
                    <a:solidFill>
                      <a:schemeClr val="tx1"/>
                    </a:solidFill>
                    <a:latin typeface="Times" panose="02020603050405020304" pitchFamily="18" charset="0"/>
                    <a:cs typeface="Times" panose="02020603050405020304" pitchFamily="18" charset="0"/>
                  </a:rPr>
                  <a:t>Searching: O</a:t>
                </a:r>
                <a14:m>
                  <m:oMath xmlns:m="http://schemas.openxmlformats.org/officeDocument/2006/math">
                    <m:r>
                      <a:rPr lang="en-US" altLang="zh-TW" sz="2400" i="1" dirty="0" smtClean="0">
                        <a:solidFill>
                          <a:schemeClr val="tx1"/>
                        </a:solidFill>
                        <a:latin typeface="Cambria Math" panose="02040503050406030204" pitchFamily="18" charset="0"/>
                        <a:cs typeface="Times" panose="02020603050405020304" pitchFamily="18" charset="0"/>
                      </a:rPr>
                      <m:t>(</m:t>
                    </m:r>
                    <m:sSup>
                      <m:sSupPr>
                        <m:ctrlPr>
                          <a:rPr lang="en-US" altLang="zh-TW" sz="2400" b="0" i="1" dirty="0" smtClean="0">
                            <a:solidFill>
                              <a:schemeClr val="tx1"/>
                            </a:solidFill>
                            <a:latin typeface="Cambria Math" panose="02040503050406030204" pitchFamily="18" charset="0"/>
                            <a:cs typeface="Times" panose="02020603050405020304" pitchFamily="18" charset="0"/>
                          </a:rPr>
                        </m:ctrlPr>
                      </m:sSupPr>
                      <m:e>
                        <m:r>
                          <a:rPr lang="en-US" altLang="zh-TW" sz="2400" b="0" i="1" dirty="0" smtClean="0">
                            <a:solidFill>
                              <a:schemeClr val="tx1"/>
                            </a:solidFill>
                            <a:latin typeface="Cambria Math" panose="02040503050406030204" pitchFamily="18" charset="0"/>
                            <a:cs typeface="Times" panose="02020603050405020304" pitchFamily="18" charset="0"/>
                          </a:rPr>
                          <m:t>𝑚</m:t>
                        </m:r>
                      </m:e>
                      <m:sup>
                        <m:r>
                          <a:rPr lang="en-US" altLang="zh-TW" sz="2400" b="0" i="1" dirty="0" smtClean="0">
                            <a:solidFill>
                              <a:schemeClr val="tx1"/>
                            </a:solidFill>
                            <a:latin typeface="Cambria Math" panose="02040503050406030204" pitchFamily="18" charset="0"/>
                            <a:cs typeface="Times" panose="02020603050405020304" pitchFamily="18" charset="0"/>
                          </a:rPr>
                          <m:t>2</m:t>
                        </m:r>
                      </m:sup>
                    </m:sSup>
                    <m:r>
                      <a:rPr lang="en-US" altLang="zh-TW" sz="2400" i="1" dirty="0" smtClean="0">
                        <a:solidFill>
                          <a:schemeClr val="tx1"/>
                        </a:solidFill>
                        <a:latin typeface="Cambria Math" panose="02040503050406030204" pitchFamily="18" charset="0"/>
                        <a:cs typeface="Times" panose="02020603050405020304" pitchFamily="18" charset="0"/>
                      </a:rPr>
                      <m:t>)</m:t>
                    </m:r>
                  </m:oMath>
                </a14:m>
                <a:endParaRPr lang="en-US" altLang="zh-TW" sz="2400" dirty="0">
                  <a:solidFill>
                    <a:schemeClr val="tx1"/>
                  </a:solidFill>
                  <a:latin typeface="Times" panose="02020603050405020304" pitchFamily="18" charset="0"/>
                  <a:cs typeface="Times" panose="02020603050405020304" pitchFamily="18" charset="0"/>
                </a:endParaRPr>
              </a:p>
            </p:txBody>
          </p:sp>
        </mc:Choice>
        <mc:Fallback>
          <p:sp>
            <p:nvSpPr>
              <p:cNvPr id="3" name="文字方塊 2">
                <a:extLst>
                  <a:ext uri="{FF2B5EF4-FFF2-40B4-BE49-F238E27FC236}">
                    <a16:creationId xmlns:a16="http://schemas.microsoft.com/office/drawing/2014/main" id="{BB4EB748-0678-4520-8639-6E11DCF986D9}"/>
                  </a:ext>
                </a:extLst>
              </p:cNvPr>
              <p:cNvSpPr txBox="1">
                <a:spLocks noRot="1" noChangeAspect="1" noMove="1" noResize="1" noEditPoints="1" noAdjustHandles="1" noChangeArrowheads="1" noChangeShapeType="1" noTextEdit="1"/>
              </p:cNvSpPr>
              <p:nvPr/>
            </p:nvSpPr>
            <p:spPr>
              <a:xfrm>
                <a:off x="838199" y="1691866"/>
                <a:ext cx="10515601" cy="1133452"/>
              </a:xfrm>
              <a:prstGeom prst="rect">
                <a:avLst/>
              </a:prstGeom>
              <a:blipFill>
                <a:blip r:embed="rId3"/>
                <a:stretch>
                  <a:fillRect l="-753" b="-1243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5304169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_chenya" id="{B41F7EED-78E0-1445-87EF-5AF1DA6E0F58}" vid="{D32384A1-BBDA-0D4F-B76D-4F110ED0331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7583</TotalTime>
  <Words>1172</Words>
  <Application>Microsoft Office PowerPoint</Application>
  <PresentationFormat>寬螢幕</PresentationFormat>
  <Paragraphs>873</Paragraphs>
  <Slides>16</Slides>
  <Notes>15</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16</vt:i4>
      </vt:variant>
    </vt:vector>
  </HeadingPairs>
  <TitlesOfParts>
    <vt:vector size="25" baseType="lpstr">
      <vt:lpstr>Google Sans</vt:lpstr>
      <vt:lpstr>Arial</vt:lpstr>
      <vt:lpstr>Arial</vt:lpstr>
      <vt:lpstr>Calibri</vt:lpstr>
      <vt:lpstr>Calibri Light</vt:lpstr>
      <vt:lpstr>Cambria Math</vt:lpstr>
      <vt:lpstr>Times</vt:lpstr>
      <vt:lpstr>Times New Roman</vt:lpstr>
      <vt:lpstr>Office 佈景主題</vt:lpstr>
      <vt:lpstr>String pattern searching algorithm based on characters indices</vt:lpstr>
      <vt:lpstr>Abstract</vt:lpstr>
      <vt:lpstr>Algorithm Based on Characters Indices</vt:lpstr>
      <vt:lpstr>The Pseudocode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Time Complexity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M113040012</dc:creator>
  <cp:lastModifiedBy>張紋瑜</cp:lastModifiedBy>
  <cp:revision>231</cp:revision>
  <dcterms:created xsi:type="dcterms:W3CDTF">2023-07-01T04:19:29Z</dcterms:created>
  <dcterms:modified xsi:type="dcterms:W3CDTF">2024-01-30T06:20:45Z</dcterms:modified>
</cp:coreProperties>
</file>