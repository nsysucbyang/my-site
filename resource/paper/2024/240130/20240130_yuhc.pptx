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9"/>
  </p:notesMasterIdLst>
  <p:sldIdLst>
    <p:sldId id="256" r:id="rId2"/>
    <p:sldId id="257" r:id="rId3"/>
    <p:sldId id="280" r:id="rId4"/>
    <p:sldId id="308" r:id="rId5"/>
    <p:sldId id="258" r:id="rId6"/>
    <p:sldId id="324" r:id="rId7"/>
    <p:sldId id="311" r:id="rId8"/>
    <p:sldId id="312" r:id="rId9"/>
    <p:sldId id="313" r:id="rId10"/>
    <p:sldId id="314" r:id="rId11"/>
    <p:sldId id="320" r:id="rId12"/>
    <p:sldId id="321" r:id="rId13"/>
    <p:sldId id="322" r:id="rId14"/>
    <p:sldId id="323" r:id="rId15"/>
    <p:sldId id="318" r:id="rId16"/>
    <p:sldId id="319" r:id="rId17"/>
    <p:sldId id="295"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5011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6604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28551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10174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87160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36649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7855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8071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5429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13412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66636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27579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69936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e56bd8716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1e56bd8716d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TW"/>
              <a:t>Given a string S of length n, an integer p ∈ [1..n] is a period of S if S[i] = S[i + p] for all i ∈ [1..n − p].</a:t>
            </a:r>
            <a:endParaRPr/>
          </a:p>
          <a:p>
            <a:pPr marL="0" lvl="0" indent="0" algn="l" rtl="0">
              <a:lnSpc>
                <a:spcPct val="100000"/>
              </a:lnSpc>
              <a:spcBef>
                <a:spcPts val="0"/>
              </a:spcBef>
              <a:spcAft>
                <a:spcPts val="0"/>
              </a:spcAft>
              <a:buSzPts val="1100"/>
              <a:buNone/>
            </a:pPr>
            <a:r>
              <a:rPr lang="zh-TW"/>
              <a:t>S[|S| − p + 1] = c</a:t>
            </a:r>
            <a:endParaRPr/>
          </a:p>
        </p:txBody>
      </p:sp>
    </p:spTree>
    <p:extLst>
      <p:ext uri="{BB962C8B-B14F-4D97-AF65-F5344CB8AC3E}">
        <p14:creationId xmlns:p14="http://schemas.microsoft.com/office/powerpoint/2010/main" val="1518939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ts val="5778"/>
              <a:buNone/>
            </a:pPr>
            <a:r>
              <a:rPr lang="en-US" altLang="zh-TW" sz="4800" dirty="0">
                <a:latin typeface="Times New Roman"/>
                <a:ea typeface="Times New Roman"/>
                <a:cs typeface="Times New Roman"/>
                <a:sym typeface="Times New Roman"/>
              </a:rPr>
              <a:t>Fusion of weighted Voronoi diagram and A* algorithm for mobile robot</a:t>
            </a:r>
            <a:r>
              <a:rPr lang="zh-TW" altLang="en-US" sz="4800" dirty="0">
                <a:latin typeface="Times New Roman"/>
                <a:ea typeface="Times New Roman"/>
                <a:cs typeface="Times New Roman"/>
                <a:sym typeface="Times New Roman"/>
              </a:rPr>
              <a:t> </a:t>
            </a:r>
            <a:r>
              <a:rPr lang="en-US" altLang="zh-TW" sz="4800" dirty="0">
                <a:latin typeface="Times New Roman"/>
                <a:ea typeface="Times New Roman"/>
                <a:cs typeface="Times New Roman"/>
                <a:sym typeface="Times New Roman"/>
              </a:rPr>
              <a:t>path planning</a:t>
            </a:r>
            <a:endParaRPr lang="en-US" sz="4800" dirty="0">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100"/>
              <a:buNone/>
            </a:pPr>
            <a:r>
              <a:rPr lang="pl-PL" altLang="zh-TW" sz="1800" dirty="0">
                <a:solidFill>
                  <a:schemeClr val="dk1"/>
                </a:solidFill>
                <a:latin typeface="Times New Roman"/>
                <a:ea typeface="Times New Roman"/>
                <a:cs typeface="Times New Roman"/>
                <a:sym typeface="Times New Roman"/>
              </a:rPr>
              <a:t>Zhihai Liu</a:t>
            </a:r>
            <a:r>
              <a:rPr lang="en-US" altLang="zh-TW" sz="1800" dirty="0">
                <a:solidFill>
                  <a:schemeClr val="dk1"/>
                </a:solidFill>
                <a:latin typeface="Times New Roman"/>
                <a:ea typeface="Times New Roman"/>
                <a:cs typeface="Times New Roman"/>
                <a:sym typeface="Times New Roman"/>
              </a:rPr>
              <a:t>,</a:t>
            </a:r>
            <a:r>
              <a:rPr lang="pl-PL" altLang="zh-TW" sz="1800" dirty="0">
                <a:solidFill>
                  <a:schemeClr val="dk1"/>
                </a:solidFill>
                <a:latin typeface="Times New Roman"/>
                <a:ea typeface="Times New Roman"/>
                <a:cs typeface="Times New Roman"/>
                <a:sym typeface="Times New Roman"/>
              </a:rPr>
              <a:t> Long Gao</a:t>
            </a:r>
            <a:r>
              <a:rPr lang="en-US" altLang="zh-TW" sz="1800" dirty="0">
                <a:solidFill>
                  <a:schemeClr val="dk1"/>
                </a:solidFill>
                <a:latin typeface="Times New Roman"/>
                <a:ea typeface="Times New Roman"/>
                <a:cs typeface="Times New Roman"/>
                <a:sym typeface="Times New Roman"/>
              </a:rPr>
              <a:t>,</a:t>
            </a:r>
            <a:r>
              <a:rPr lang="pl-PL" altLang="zh-TW" sz="1800" dirty="0">
                <a:solidFill>
                  <a:schemeClr val="dk1"/>
                </a:solidFill>
                <a:latin typeface="Times New Roman"/>
                <a:ea typeface="Times New Roman"/>
                <a:cs typeface="Times New Roman"/>
                <a:sym typeface="Times New Roman"/>
              </a:rPr>
              <a:t> Feiyi Liu</a:t>
            </a:r>
            <a:r>
              <a:rPr lang="en-US" altLang="zh-TW" sz="1800" dirty="0">
                <a:solidFill>
                  <a:schemeClr val="dk1"/>
                </a:solidFill>
                <a:latin typeface="Times New Roman"/>
                <a:ea typeface="Times New Roman"/>
                <a:cs typeface="Times New Roman"/>
                <a:sym typeface="Times New Roman"/>
              </a:rPr>
              <a:t>,</a:t>
            </a:r>
            <a:r>
              <a:rPr lang="pl-PL" altLang="zh-TW" sz="1800" dirty="0">
                <a:solidFill>
                  <a:schemeClr val="dk1"/>
                </a:solidFill>
                <a:latin typeface="Times New Roman"/>
                <a:ea typeface="Times New Roman"/>
                <a:cs typeface="Times New Roman"/>
                <a:sym typeface="Times New Roman"/>
              </a:rPr>
              <a:t> Dongyang Liu</a:t>
            </a:r>
            <a:r>
              <a:rPr lang="en-US" altLang="zh-TW" sz="1800" dirty="0">
                <a:solidFill>
                  <a:schemeClr val="dk1"/>
                </a:solidFill>
                <a:latin typeface="Times New Roman"/>
                <a:ea typeface="Times New Roman"/>
                <a:cs typeface="Times New Roman"/>
                <a:sym typeface="Times New Roman"/>
              </a:rPr>
              <a:t>,</a:t>
            </a:r>
            <a:r>
              <a:rPr lang="pl-PL" altLang="zh-TW" sz="1800" dirty="0">
                <a:solidFill>
                  <a:schemeClr val="dk1"/>
                </a:solidFill>
                <a:latin typeface="Times New Roman"/>
                <a:ea typeface="Times New Roman"/>
                <a:cs typeface="Times New Roman"/>
                <a:sym typeface="Times New Roman"/>
              </a:rPr>
              <a:t> Wenyu Han</a:t>
            </a:r>
            <a:endParaRPr lang="en-US" altLang="zh-TW" sz="1800" dirty="0">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1100"/>
              <a:buNone/>
            </a:pPr>
            <a:r>
              <a:rPr lang="en-US" altLang="zh-TW" sz="1800" dirty="0">
                <a:solidFill>
                  <a:schemeClr val="dk1"/>
                </a:solidFill>
                <a:latin typeface="Times New Roman"/>
                <a:ea typeface="Times New Roman"/>
                <a:cs typeface="Times New Roman"/>
                <a:sym typeface="Times New Roman"/>
              </a:rPr>
              <a:t>2022 2nd International Conference on Electrical Engineering and Mechatronics Technology (ICEEMT), Hangzhou, China, 01-03 July 2022</a:t>
            </a:r>
            <a:endParaRPr lang="pl-PL" sz="1800" dirty="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Presenter: </a:t>
            </a:r>
            <a:r>
              <a:rPr lang="zh-TW" sz="2400" dirty="0">
                <a:latin typeface="Times New Roman"/>
                <a:ea typeface="Times New Roman"/>
                <a:cs typeface="Times New Roman"/>
                <a:sym typeface="Times New Roman"/>
              </a:rPr>
              <a:t>Hsin-Chang Yu</a:t>
            </a:r>
            <a:endParaRPr sz="2400" b="0" i="0" u="none" strike="noStrike" cap="none" dirty="0">
              <a:solidFill>
                <a:srgbClr val="000000"/>
              </a:solidFill>
              <a:latin typeface="Times New Roman"/>
              <a:ea typeface="Times New Roman"/>
              <a:cs typeface="Times New Roman"/>
              <a:sym typeface="Times New Roman"/>
            </a:endParaRPr>
          </a:p>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Date: </a:t>
            </a:r>
            <a:r>
              <a:rPr lang="en-US" altLang="zh-TW" sz="2400" dirty="0">
                <a:latin typeface="Times New Roman"/>
                <a:ea typeface="Times New Roman"/>
                <a:cs typeface="Times New Roman"/>
                <a:sym typeface="Times New Roman"/>
              </a:rPr>
              <a:t>Jan</a:t>
            </a:r>
            <a:r>
              <a:rPr lang="zh-TW" sz="2400" b="0" i="0" u="none" strike="noStrike" cap="none" dirty="0">
                <a:solidFill>
                  <a:srgbClr val="000000"/>
                </a:solidFill>
                <a:latin typeface="Times New Roman"/>
                <a:ea typeface="Times New Roman"/>
                <a:cs typeface="Times New Roman"/>
                <a:sym typeface="Times New Roman"/>
              </a:rPr>
              <a:t>. </a:t>
            </a:r>
            <a:r>
              <a:rPr lang="en-US" altLang="zh-TW" sz="2400" dirty="0">
                <a:latin typeface="Times New Roman"/>
                <a:ea typeface="Times New Roman"/>
                <a:cs typeface="Times New Roman"/>
                <a:sym typeface="Times New Roman"/>
              </a:rPr>
              <a:t>30</a:t>
            </a:r>
            <a:r>
              <a:rPr lang="zh-TW" sz="2400" b="0" i="0" u="none" strike="noStrike" cap="none" dirty="0">
                <a:solidFill>
                  <a:srgbClr val="000000"/>
                </a:solidFill>
                <a:latin typeface="Times New Roman"/>
                <a:ea typeface="Times New Roman"/>
                <a:cs typeface="Times New Roman"/>
                <a:sym typeface="Times New Roman"/>
              </a:rPr>
              <a:t>, 202</a:t>
            </a:r>
            <a:r>
              <a:rPr lang="en-US" altLang="zh-TW" sz="2400" b="0" i="0" u="none" strike="noStrike" cap="none" dirty="0">
                <a:solidFill>
                  <a:srgbClr val="000000"/>
                </a:solidFill>
                <a:latin typeface="Times New Roman"/>
                <a:ea typeface="Times New Roman"/>
                <a:cs typeface="Times New Roman"/>
                <a:sym typeface="Times New Roman"/>
              </a:rPr>
              <a:t>4</a:t>
            </a:r>
            <a:endParaRPr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a:latin typeface="Times New Roman"/>
                <a:ea typeface="Times New Roman"/>
                <a:cs typeface="Times New Roman"/>
                <a:sym typeface="Times New Roman"/>
              </a:rPr>
              <a:t>Abstract</a:t>
            </a:r>
            <a:endParaRPr>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4234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A* algorithm is one of the most common algorithms in path planning for mobile robots, which can complete global search and seek the lowest cost path. A* algorithm has more search ability compared with other algorithms, but its algorithm has long computation time, more search nodes and other drawbacks have always existed.</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699" y="1152475"/>
            <a:ext cx="8520599"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To address these problems, this paper proposes a way to plan paths by fusing weighted Voronoi map and improved A* algorithm, which will adopt the concept of A* algorithm and combine with the idea of map construction, taking the lead to take the weighted Voronoi point as the priority expansion node, and if there is no directly searchable generation value minimum weighted Voronoi node, the weighted Voronoi edge will be the priority path, and so on.</a:t>
            </a: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3</a:t>
            </a:fld>
            <a:endParaRPr/>
          </a:p>
        </p:txBody>
      </p:sp>
    </p:spTree>
    <p:extLst>
      <p:ext uri="{BB962C8B-B14F-4D97-AF65-F5344CB8AC3E}">
        <p14:creationId xmlns:p14="http://schemas.microsoft.com/office/powerpoint/2010/main" val="823480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368376"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Simulation experimental results show that the algorithm can search for shorter paths in complex environments with relatively faster speed, which not only improves the search efficiency, but also improves the safety and accuracy of the paths.</a:t>
            </a: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4</a:t>
            </a:fld>
            <a:endParaRPr/>
          </a:p>
        </p:txBody>
      </p:sp>
    </p:spTree>
    <p:extLst>
      <p:ext uri="{BB962C8B-B14F-4D97-AF65-F5344CB8AC3E}">
        <p14:creationId xmlns:p14="http://schemas.microsoft.com/office/powerpoint/2010/main" val="1340298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5</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sz="2800" dirty="0">
                <a:latin typeface="Times New Roman"/>
                <a:ea typeface="Times New Roman"/>
                <a:cs typeface="Times New Roman"/>
                <a:sym typeface="Times New Roman"/>
              </a:rPr>
              <a:t>A* Algorithm</a:t>
            </a:r>
            <a:endParaRPr lang="zh-TW" altLang="en-US" dirty="0"/>
          </a:p>
        </p:txBody>
      </p:sp>
      <p:pic>
        <p:nvPicPr>
          <p:cNvPr id="17" name="圖片 16">
            <a:extLst>
              <a:ext uri="{FF2B5EF4-FFF2-40B4-BE49-F238E27FC236}">
                <a16:creationId xmlns:a16="http://schemas.microsoft.com/office/drawing/2014/main" id="{51A6EAA3-74AA-4EE6-A32E-85AF234B91CB}"/>
              </a:ext>
            </a:extLst>
          </p:cNvPr>
          <p:cNvPicPr>
            <a:picLocks noChangeAspect="1"/>
          </p:cNvPicPr>
          <p:nvPr/>
        </p:nvPicPr>
        <p:blipFill>
          <a:blip r:embed="rId3"/>
          <a:stretch>
            <a:fillRect/>
          </a:stretch>
        </p:blipFill>
        <p:spPr>
          <a:xfrm>
            <a:off x="4196403" y="1535357"/>
            <a:ext cx="4276055" cy="3025309"/>
          </a:xfrm>
          <a:prstGeom prst="rect">
            <a:avLst/>
          </a:prstGeom>
        </p:spPr>
      </p:pic>
      <p:pic>
        <p:nvPicPr>
          <p:cNvPr id="18" name="圖片 17">
            <a:extLst>
              <a:ext uri="{FF2B5EF4-FFF2-40B4-BE49-F238E27FC236}">
                <a16:creationId xmlns:a16="http://schemas.microsoft.com/office/drawing/2014/main" id="{DB007A5E-AEB9-4336-9364-7ACB92B16926}"/>
              </a:ext>
            </a:extLst>
          </p:cNvPr>
          <p:cNvPicPr>
            <a:picLocks noChangeAspect="1"/>
          </p:cNvPicPr>
          <p:nvPr/>
        </p:nvPicPr>
        <p:blipFill>
          <a:blip r:embed="rId4"/>
          <a:stretch>
            <a:fillRect/>
          </a:stretch>
        </p:blipFill>
        <p:spPr>
          <a:xfrm>
            <a:off x="311700" y="1361826"/>
            <a:ext cx="2581275" cy="533400"/>
          </a:xfrm>
          <a:prstGeom prst="rect">
            <a:avLst/>
          </a:prstGeom>
        </p:spPr>
      </p:pic>
      <p:pic>
        <p:nvPicPr>
          <p:cNvPr id="19" name="圖片 18">
            <a:extLst>
              <a:ext uri="{FF2B5EF4-FFF2-40B4-BE49-F238E27FC236}">
                <a16:creationId xmlns:a16="http://schemas.microsoft.com/office/drawing/2014/main" id="{81C1CCA0-5CE3-484A-8DDE-5F952C8BF249}"/>
              </a:ext>
            </a:extLst>
          </p:cNvPr>
          <p:cNvPicPr>
            <a:picLocks noChangeAspect="1"/>
          </p:cNvPicPr>
          <p:nvPr/>
        </p:nvPicPr>
        <p:blipFill>
          <a:blip r:embed="rId5"/>
          <a:stretch>
            <a:fillRect/>
          </a:stretch>
        </p:blipFill>
        <p:spPr>
          <a:xfrm>
            <a:off x="311700" y="1895226"/>
            <a:ext cx="3733800" cy="11906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6</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sz="2800" dirty="0">
                <a:latin typeface="Times New Roman"/>
                <a:ea typeface="Times New Roman"/>
                <a:cs typeface="Times New Roman"/>
                <a:sym typeface="Times New Roman"/>
              </a:rPr>
              <a:t>A* Algorithm</a:t>
            </a:r>
            <a:endParaRPr lang="zh-TW" altLang="en-US" dirty="0"/>
          </a:p>
        </p:txBody>
      </p:sp>
      <p:pic>
        <p:nvPicPr>
          <p:cNvPr id="18" name="圖片 17">
            <a:extLst>
              <a:ext uri="{FF2B5EF4-FFF2-40B4-BE49-F238E27FC236}">
                <a16:creationId xmlns:a16="http://schemas.microsoft.com/office/drawing/2014/main" id="{DB007A5E-AEB9-4336-9364-7ACB92B16926}"/>
              </a:ext>
            </a:extLst>
          </p:cNvPr>
          <p:cNvPicPr>
            <a:picLocks noChangeAspect="1"/>
          </p:cNvPicPr>
          <p:nvPr/>
        </p:nvPicPr>
        <p:blipFill>
          <a:blip r:embed="rId3"/>
          <a:stretch>
            <a:fillRect/>
          </a:stretch>
        </p:blipFill>
        <p:spPr>
          <a:xfrm>
            <a:off x="311700" y="1361826"/>
            <a:ext cx="2581275" cy="533400"/>
          </a:xfrm>
          <a:prstGeom prst="rect">
            <a:avLst/>
          </a:prstGeom>
        </p:spPr>
      </p:pic>
      <p:pic>
        <p:nvPicPr>
          <p:cNvPr id="19" name="圖片 18">
            <a:extLst>
              <a:ext uri="{FF2B5EF4-FFF2-40B4-BE49-F238E27FC236}">
                <a16:creationId xmlns:a16="http://schemas.microsoft.com/office/drawing/2014/main" id="{81C1CCA0-5CE3-484A-8DDE-5F952C8BF249}"/>
              </a:ext>
            </a:extLst>
          </p:cNvPr>
          <p:cNvPicPr>
            <a:picLocks noChangeAspect="1"/>
          </p:cNvPicPr>
          <p:nvPr/>
        </p:nvPicPr>
        <p:blipFill>
          <a:blip r:embed="rId4"/>
          <a:stretch>
            <a:fillRect/>
          </a:stretch>
        </p:blipFill>
        <p:spPr>
          <a:xfrm>
            <a:off x="311700" y="1895226"/>
            <a:ext cx="3733800" cy="1190625"/>
          </a:xfrm>
          <a:prstGeom prst="rect">
            <a:avLst/>
          </a:prstGeom>
        </p:spPr>
      </p:pic>
      <p:pic>
        <p:nvPicPr>
          <p:cNvPr id="1026" name="Picture 2" descr="undefined">
            <a:extLst>
              <a:ext uri="{FF2B5EF4-FFF2-40B4-BE49-F238E27FC236}">
                <a16:creationId xmlns:a16="http://schemas.microsoft.com/office/drawing/2014/main" id="{F49E6027-C2D8-4D81-A78C-DC1D444B9C53}"/>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072394" y="1084235"/>
            <a:ext cx="3578982" cy="3578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789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7</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sz="2800" dirty="0">
                <a:latin typeface="Times New Roman"/>
                <a:ea typeface="Times New Roman"/>
                <a:cs typeface="Times New Roman"/>
                <a:sym typeface="Times New Roman"/>
              </a:rPr>
              <a:t>Voronoi Diagram</a:t>
            </a:r>
            <a:endParaRPr lang="zh-TW" altLang="en-US" dirty="0"/>
          </a:p>
        </p:txBody>
      </p:sp>
      <p:pic>
        <p:nvPicPr>
          <p:cNvPr id="7" name="Picture 2" descr="undefined">
            <a:extLst>
              <a:ext uri="{FF2B5EF4-FFF2-40B4-BE49-F238E27FC236}">
                <a16:creationId xmlns:a16="http://schemas.microsoft.com/office/drawing/2014/main" id="{0907D64E-7103-47A5-A6A5-5330ACD35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0117" y="312644"/>
            <a:ext cx="4612341" cy="4612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392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8</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sz="2800" dirty="0">
                <a:latin typeface="Times New Roman"/>
                <a:ea typeface="Times New Roman"/>
                <a:cs typeface="Times New Roman"/>
                <a:sym typeface="Times New Roman"/>
              </a:rPr>
              <a:t>Weighted Voronoi Diagram</a:t>
            </a:r>
            <a:endParaRPr lang="zh-TW" altLang="en-US" dirty="0"/>
          </a:p>
        </p:txBody>
      </p:sp>
      <p:pic>
        <p:nvPicPr>
          <p:cNvPr id="3" name="圖片 2">
            <a:extLst>
              <a:ext uri="{FF2B5EF4-FFF2-40B4-BE49-F238E27FC236}">
                <a16:creationId xmlns:a16="http://schemas.microsoft.com/office/drawing/2014/main" id="{2F95847F-87CC-42B9-B46C-9709B91A7811}"/>
              </a:ext>
            </a:extLst>
          </p:cNvPr>
          <p:cNvPicPr>
            <a:picLocks noChangeAspect="1"/>
          </p:cNvPicPr>
          <p:nvPr/>
        </p:nvPicPr>
        <p:blipFill>
          <a:blip r:embed="rId3"/>
          <a:stretch>
            <a:fillRect/>
          </a:stretch>
        </p:blipFill>
        <p:spPr>
          <a:xfrm>
            <a:off x="4929158" y="1376362"/>
            <a:ext cx="3543300" cy="2390775"/>
          </a:xfrm>
          <a:prstGeom prst="rect">
            <a:avLst/>
          </a:prstGeom>
        </p:spPr>
      </p:pic>
      <p:pic>
        <p:nvPicPr>
          <p:cNvPr id="6" name="圖片 5">
            <a:extLst>
              <a:ext uri="{FF2B5EF4-FFF2-40B4-BE49-F238E27FC236}">
                <a16:creationId xmlns:a16="http://schemas.microsoft.com/office/drawing/2014/main" id="{36DAA95B-A55E-4166-A3E7-61ECB998D49B}"/>
              </a:ext>
            </a:extLst>
          </p:cNvPr>
          <p:cNvPicPr>
            <a:picLocks noChangeAspect="1"/>
          </p:cNvPicPr>
          <p:nvPr/>
        </p:nvPicPr>
        <p:blipFill>
          <a:blip r:embed="rId4"/>
          <a:stretch>
            <a:fillRect/>
          </a:stretch>
        </p:blipFill>
        <p:spPr>
          <a:xfrm>
            <a:off x="311700" y="1147550"/>
            <a:ext cx="4876800" cy="1162050"/>
          </a:xfrm>
          <a:prstGeom prst="rect">
            <a:avLst/>
          </a:prstGeom>
        </p:spPr>
      </p:pic>
    </p:spTree>
    <p:extLst>
      <p:ext uri="{BB962C8B-B14F-4D97-AF65-F5344CB8AC3E}">
        <p14:creationId xmlns:p14="http://schemas.microsoft.com/office/powerpoint/2010/main" val="396263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9</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R</a:t>
            </a:r>
            <a:r>
              <a:rPr lang="en-US" altLang="zh-TW" sz="2800" dirty="0">
                <a:latin typeface="Times New Roman"/>
                <a:ea typeface="Times New Roman"/>
                <a:cs typeface="Times New Roman"/>
                <a:sym typeface="Times New Roman"/>
              </a:rPr>
              <a:t>aster </a:t>
            </a:r>
            <a:r>
              <a:rPr lang="en-US" altLang="zh-TW" dirty="0">
                <a:latin typeface="Times New Roman"/>
                <a:ea typeface="Times New Roman"/>
                <a:cs typeface="Times New Roman"/>
                <a:sym typeface="Times New Roman"/>
              </a:rPr>
              <a:t>M</a:t>
            </a:r>
            <a:r>
              <a:rPr lang="en-US" altLang="zh-TW" sz="2800" dirty="0">
                <a:latin typeface="Times New Roman"/>
                <a:ea typeface="Times New Roman"/>
                <a:cs typeface="Times New Roman"/>
                <a:sym typeface="Times New Roman"/>
              </a:rPr>
              <a:t>ap</a:t>
            </a:r>
            <a:endParaRPr lang="zh-TW" altLang="en-US" dirty="0"/>
          </a:p>
        </p:txBody>
      </p:sp>
      <p:pic>
        <p:nvPicPr>
          <p:cNvPr id="2050" name="Picture 2">
            <a:extLst>
              <a:ext uri="{FF2B5EF4-FFF2-40B4-BE49-F238E27FC236}">
                <a16:creationId xmlns:a16="http://schemas.microsoft.com/office/drawing/2014/main" id="{24153AFF-6AA3-4B20-94CF-168DE9EC26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232" y="1152475"/>
            <a:ext cx="8339697" cy="3389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6533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10</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Step 1</a:t>
            </a:r>
            <a:endParaRPr lang="zh-TW" altLang="en-US" dirty="0"/>
          </a:p>
        </p:txBody>
      </p:sp>
      <p:pic>
        <p:nvPicPr>
          <p:cNvPr id="3" name="圖片 2">
            <a:extLst>
              <a:ext uri="{FF2B5EF4-FFF2-40B4-BE49-F238E27FC236}">
                <a16:creationId xmlns:a16="http://schemas.microsoft.com/office/drawing/2014/main" id="{957C9D55-E2AA-4019-899A-81CE4A38C623}"/>
              </a:ext>
            </a:extLst>
          </p:cNvPr>
          <p:cNvPicPr>
            <a:picLocks noChangeAspect="1"/>
          </p:cNvPicPr>
          <p:nvPr/>
        </p:nvPicPr>
        <p:blipFill>
          <a:blip r:embed="rId3"/>
          <a:stretch>
            <a:fillRect/>
          </a:stretch>
        </p:blipFill>
        <p:spPr>
          <a:xfrm>
            <a:off x="1911900" y="1000916"/>
            <a:ext cx="6761453" cy="3321415"/>
          </a:xfrm>
          <a:prstGeom prst="rect">
            <a:avLst/>
          </a:prstGeom>
        </p:spPr>
      </p:pic>
      <p:pic>
        <p:nvPicPr>
          <p:cNvPr id="6" name="圖片 5">
            <a:extLst>
              <a:ext uri="{FF2B5EF4-FFF2-40B4-BE49-F238E27FC236}">
                <a16:creationId xmlns:a16="http://schemas.microsoft.com/office/drawing/2014/main" id="{F2B0B16B-4394-47EF-9005-FDDAF01EF891}"/>
              </a:ext>
            </a:extLst>
          </p:cNvPr>
          <p:cNvPicPr>
            <a:picLocks noChangeAspect="1"/>
          </p:cNvPicPr>
          <p:nvPr/>
        </p:nvPicPr>
        <p:blipFill rotWithShape="1">
          <a:blip r:embed="rId4"/>
          <a:srcRect t="-6334" b="6334"/>
          <a:stretch/>
        </p:blipFill>
        <p:spPr>
          <a:xfrm>
            <a:off x="311700" y="2468992"/>
            <a:ext cx="1989182" cy="408306"/>
          </a:xfrm>
          <a:prstGeom prst="rect">
            <a:avLst/>
          </a:prstGeom>
        </p:spPr>
      </p:pic>
      <p:pic>
        <p:nvPicPr>
          <p:cNvPr id="8" name="圖片 7">
            <a:extLst>
              <a:ext uri="{FF2B5EF4-FFF2-40B4-BE49-F238E27FC236}">
                <a16:creationId xmlns:a16="http://schemas.microsoft.com/office/drawing/2014/main" id="{43670660-5B33-48B8-AFF3-24AE1316B7E7}"/>
              </a:ext>
            </a:extLst>
          </p:cNvPr>
          <p:cNvPicPr>
            <a:picLocks noChangeAspect="1"/>
          </p:cNvPicPr>
          <p:nvPr/>
        </p:nvPicPr>
        <p:blipFill rotWithShape="1">
          <a:blip r:embed="rId5"/>
          <a:srcRect t="14909"/>
          <a:stretch/>
        </p:blipFill>
        <p:spPr>
          <a:xfrm>
            <a:off x="412709" y="3012047"/>
            <a:ext cx="1888173" cy="300037"/>
          </a:xfrm>
          <a:prstGeom prst="rect">
            <a:avLst/>
          </a:prstGeom>
        </p:spPr>
      </p:pic>
    </p:spTree>
    <p:extLst>
      <p:ext uri="{BB962C8B-B14F-4D97-AF65-F5344CB8AC3E}">
        <p14:creationId xmlns:p14="http://schemas.microsoft.com/office/powerpoint/2010/main" val="147715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11</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Step 2</a:t>
            </a:r>
            <a:endParaRPr lang="zh-TW" altLang="en-US" dirty="0"/>
          </a:p>
        </p:txBody>
      </p:sp>
      <p:pic>
        <p:nvPicPr>
          <p:cNvPr id="3" name="圖片 2">
            <a:extLst>
              <a:ext uri="{FF2B5EF4-FFF2-40B4-BE49-F238E27FC236}">
                <a16:creationId xmlns:a16="http://schemas.microsoft.com/office/drawing/2014/main" id="{957C9D55-E2AA-4019-899A-81CE4A38C623}"/>
              </a:ext>
            </a:extLst>
          </p:cNvPr>
          <p:cNvPicPr>
            <a:picLocks noChangeAspect="1"/>
          </p:cNvPicPr>
          <p:nvPr/>
        </p:nvPicPr>
        <p:blipFill>
          <a:blip r:embed="rId3"/>
          <a:stretch>
            <a:fillRect/>
          </a:stretch>
        </p:blipFill>
        <p:spPr>
          <a:xfrm>
            <a:off x="1659146" y="1836724"/>
            <a:ext cx="5825708" cy="2861751"/>
          </a:xfrm>
          <a:prstGeom prst="rect">
            <a:avLst/>
          </a:prstGeom>
        </p:spPr>
      </p:pic>
      <p:sp>
        <p:nvSpPr>
          <p:cNvPr id="6" name="標題 3">
            <a:extLst>
              <a:ext uri="{FF2B5EF4-FFF2-40B4-BE49-F238E27FC236}">
                <a16:creationId xmlns:a16="http://schemas.microsoft.com/office/drawing/2014/main" id="{E90D3BB2-B98B-42AA-9283-C187E7946F24}"/>
              </a:ext>
            </a:extLst>
          </p:cNvPr>
          <p:cNvSpPr txBox="1">
            <a:spLocks/>
          </p:cNvSpPr>
          <p:nvPr/>
        </p:nvSpPr>
        <p:spPr>
          <a:xfrm>
            <a:off x="311700" y="1017725"/>
            <a:ext cx="5825708" cy="1214487"/>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342900" indent="-342900">
              <a:buFont typeface="Arial" panose="020B0604020202020204" pitchFamily="34" charset="0"/>
              <a:buChar char="•"/>
            </a:pPr>
            <a:r>
              <a:rPr lang="en-US" altLang="zh-TW" sz="2000" dirty="0">
                <a:latin typeface="Times New Roman"/>
                <a:ea typeface="Times New Roman"/>
                <a:cs typeface="Times New Roman"/>
                <a:sym typeface="Times New Roman"/>
              </a:rPr>
              <a:t>If node can be reached</a:t>
            </a:r>
            <a:r>
              <a:rPr lang="zh-TW" altLang="en-US" sz="2000" dirty="0">
                <a:latin typeface="Times New Roman"/>
                <a:ea typeface="Times New Roman"/>
                <a:cs typeface="Times New Roman"/>
                <a:sym typeface="Times New Roman"/>
              </a:rPr>
              <a:t> → </a:t>
            </a:r>
            <a:r>
              <a:rPr lang="en-US" altLang="zh-TW" sz="2000" dirty="0">
                <a:latin typeface="Times New Roman"/>
                <a:ea typeface="Times New Roman"/>
                <a:cs typeface="Times New Roman"/>
                <a:sym typeface="Times New Roman"/>
              </a:rPr>
              <a:t>Step3</a:t>
            </a:r>
          </a:p>
          <a:p>
            <a:pPr marL="342900" indent="-342900">
              <a:buFont typeface="Arial" panose="020B0604020202020204" pitchFamily="34" charset="0"/>
              <a:buChar char="•"/>
            </a:pPr>
            <a:r>
              <a:rPr lang="en-US" altLang="zh-TW" sz="2000" dirty="0">
                <a:latin typeface="Times New Roman"/>
                <a:cs typeface="Times New Roman"/>
                <a:sym typeface="Times New Roman"/>
              </a:rPr>
              <a:t>If not</a:t>
            </a:r>
            <a:r>
              <a:rPr lang="zh-TW" altLang="en-US" sz="2000" dirty="0">
                <a:latin typeface="Times New Roman"/>
                <a:ea typeface="Times New Roman"/>
                <a:cs typeface="Times New Roman"/>
                <a:sym typeface="Times New Roman"/>
              </a:rPr>
              <a:t> → </a:t>
            </a:r>
            <a:r>
              <a:rPr lang="en-US" altLang="zh-TW" sz="2000" dirty="0">
                <a:latin typeface="Times New Roman"/>
                <a:ea typeface="Times New Roman"/>
                <a:cs typeface="Times New Roman"/>
                <a:sym typeface="Times New Roman"/>
              </a:rPr>
              <a:t>traditional A* algorithm</a:t>
            </a:r>
            <a:endParaRPr lang="zh-TW" altLang="en-US" sz="2000" dirty="0"/>
          </a:p>
          <a:p>
            <a:pPr marL="342900" indent="-342900">
              <a:buFont typeface="Arial" panose="020B0604020202020204" pitchFamily="34" charset="0"/>
              <a:buChar char="•"/>
            </a:pPr>
            <a:endParaRPr lang="en-US" altLang="zh-TW"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960650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12</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Step 3</a:t>
            </a:r>
            <a:endParaRPr lang="zh-TW" altLang="en-US" dirty="0"/>
          </a:p>
        </p:txBody>
      </p:sp>
      <p:pic>
        <p:nvPicPr>
          <p:cNvPr id="3" name="圖片 2">
            <a:extLst>
              <a:ext uri="{FF2B5EF4-FFF2-40B4-BE49-F238E27FC236}">
                <a16:creationId xmlns:a16="http://schemas.microsoft.com/office/drawing/2014/main" id="{957C9D55-E2AA-4019-899A-81CE4A38C623}"/>
              </a:ext>
            </a:extLst>
          </p:cNvPr>
          <p:cNvPicPr>
            <a:picLocks noChangeAspect="1"/>
          </p:cNvPicPr>
          <p:nvPr/>
        </p:nvPicPr>
        <p:blipFill>
          <a:blip r:embed="rId3"/>
          <a:stretch>
            <a:fillRect/>
          </a:stretch>
        </p:blipFill>
        <p:spPr>
          <a:xfrm>
            <a:off x="2582424" y="1498761"/>
            <a:ext cx="6249876" cy="3070114"/>
          </a:xfrm>
          <a:prstGeom prst="rect">
            <a:avLst/>
          </a:prstGeom>
        </p:spPr>
      </p:pic>
      <p:sp>
        <p:nvSpPr>
          <p:cNvPr id="10" name="標題 3">
            <a:extLst>
              <a:ext uri="{FF2B5EF4-FFF2-40B4-BE49-F238E27FC236}">
                <a16:creationId xmlns:a16="http://schemas.microsoft.com/office/drawing/2014/main" id="{EADD15F9-F3D3-4A86-94D9-26344D353FD8}"/>
              </a:ext>
            </a:extLst>
          </p:cNvPr>
          <p:cNvSpPr txBox="1">
            <a:spLocks/>
          </p:cNvSpPr>
          <p:nvPr/>
        </p:nvSpPr>
        <p:spPr>
          <a:xfrm>
            <a:off x="311700" y="1017725"/>
            <a:ext cx="2485288" cy="1819604"/>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sz="2000" dirty="0">
                <a:latin typeface="Times New Roman"/>
                <a:ea typeface="Times New Roman"/>
                <a:cs typeface="Times New Roman"/>
                <a:sym typeface="Times New Roman"/>
              </a:rPr>
              <a:t>Obstacle boundary set</a:t>
            </a:r>
          </a:p>
          <a:p>
            <a:r>
              <a:rPr lang="en-US" altLang="zh-TW" sz="2000" dirty="0" err="1">
                <a:latin typeface="Times New Roman"/>
                <a:ea typeface="Times New Roman"/>
                <a:cs typeface="Times New Roman"/>
                <a:sym typeface="Times New Roman"/>
              </a:rPr>
              <a:t>CloseList</a:t>
            </a:r>
            <a:endParaRPr lang="en-US" altLang="zh-TW"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836395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13</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Step 4</a:t>
            </a:r>
            <a:endParaRPr lang="zh-TW" altLang="en-US" dirty="0"/>
          </a:p>
        </p:txBody>
      </p:sp>
      <p:pic>
        <p:nvPicPr>
          <p:cNvPr id="3" name="圖片 2">
            <a:extLst>
              <a:ext uri="{FF2B5EF4-FFF2-40B4-BE49-F238E27FC236}">
                <a16:creationId xmlns:a16="http://schemas.microsoft.com/office/drawing/2014/main" id="{957C9D55-E2AA-4019-899A-81CE4A38C623}"/>
              </a:ext>
            </a:extLst>
          </p:cNvPr>
          <p:cNvPicPr>
            <a:picLocks noChangeAspect="1"/>
          </p:cNvPicPr>
          <p:nvPr/>
        </p:nvPicPr>
        <p:blipFill>
          <a:blip r:embed="rId3"/>
          <a:stretch>
            <a:fillRect/>
          </a:stretch>
        </p:blipFill>
        <p:spPr>
          <a:xfrm>
            <a:off x="2797578" y="2276830"/>
            <a:ext cx="5579940" cy="2741023"/>
          </a:xfrm>
          <a:prstGeom prst="rect">
            <a:avLst/>
          </a:prstGeom>
        </p:spPr>
      </p:pic>
      <p:sp>
        <p:nvSpPr>
          <p:cNvPr id="10" name="標題 3">
            <a:extLst>
              <a:ext uri="{FF2B5EF4-FFF2-40B4-BE49-F238E27FC236}">
                <a16:creationId xmlns:a16="http://schemas.microsoft.com/office/drawing/2014/main" id="{EADD15F9-F3D3-4A86-94D9-26344D353FD8}"/>
              </a:ext>
            </a:extLst>
          </p:cNvPr>
          <p:cNvSpPr txBox="1">
            <a:spLocks/>
          </p:cNvSpPr>
          <p:nvPr/>
        </p:nvSpPr>
        <p:spPr>
          <a:xfrm>
            <a:off x="311700" y="1017725"/>
            <a:ext cx="5241936" cy="1819604"/>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marL="342900" indent="-342900">
              <a:buFont typeface="Arial" panose="020B0604020202020204" pitchFamily="34" charset="0"/>
              <a:buChar char="•"/>
            </a:pPr>
            <a:r>
              <a:rPr lang="en-US" altLang="zh-TW" sz="2000" dirty="0">
                <a:latin typeface="Times New Roman"/>
                <a:ea typeface="Times New Roman"/>
                <a:cs typeface="Times New Roman"/>
                <a:sym typeface="Times New Roman"/>
              </a:rPr>
              <a:t>Intersect </a:t>
            </a:r>
            <a:r>
              <a:rPr lang="zh-TW" altLang="en-US"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Step two</a:t>
            </a:r>
            <a:r>
              <a:rPr lang="zh-TW" altLang="en-US" sz="2000" dirty="0">
                <a:latin typeface="Times New Roman"/>
                <a:ea typeface="Times New Roman"/>
                <a:cs typeface="Times New Roman"/>
                <a:sym typeface="Times New Roman"/>
              </a:rPr>
              <a:t> </a:t>
            </a:r>
            <a:endParaRPr lang="en-US" altLang="zh-TW" sz="2000" dirty="0">
              <a:latin typeface="Times New Roman"/>
              <a:ea typeface="Times New Roman"/>
              <a:cs typeface="Times New Roman"/>
              <a:sym typeface="Times New Roman"/>
            </a:endParaRPr>
          </a:p>
          <a:p>
            <a:pPr marL="342900" indent="-342900">
              <a:buFont typeface="Arial" panose="020B0604020202020204" pitchFamily="34" charset="0"/>
              <a:buChar char="•"/>
            </a:pPr>
            <a:r>
              <a:rPr lang="en-US" altLang="zh-TW" sz="2000" dirty="0">
                <a:latin typeface="Times New Roman"/>
                <a:ea typeface="Times New Roman"/>
                <a:cs typeface="Times New Roman"/>
                <a:sym typeface="Times New Roman"/>
              </a:rPr>
              <a:t>Not</a:t>
            </a:r>
            <a:r>
              <a:rPr lang="zh-TW" altLang="en-US"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Intersect</a:t>
            </a:r>
            <a:r>
              <a:rPr lang="zh-TW" altLang="en-US" sz="2000" dirty="0">
                <a:latin typeface="Times New Roman"/>
                <a:ea typeface="Times New Roman"/>
                <a:cs typeface="Times New Roman"/>
                <a:sym typeface="Times New Roman"/>
              </a:rPr>
              <a:t> → </a:t>
            </a:r>
            <a:r>
              <a:rPr lang="en-US" altLang="zh-TW" sz="2000" dirty="0">
                <a:latin typeface="Times New Roman"/>
                <a:ea typeface="Times New Roman"/>
                <a:cs typeface="Times New Roman"/>
                <a:sym typeface="Times New Roman"/>
              </a:rPr>
              <a:t>update the </a:t>
            </a:r>
            <a:r>
              <a:rPr lang="en-US" altLang="zh-TW" sz="2000" dirty="0" err="1">
                <a:latin typeface="Times New Roman"/>
                <a:ea typeface="Times New Roman"/>
                <a:cs typeface="Times New Roman"/>
                <a:sym typeface="Times New Roman"/>
              </a:rPr>
              <a:t>CloseList</a:t>
            </a:r>
            <a:r>
              <a:rPr lang="en-US" altLang="zh-TW" sz="2000" dirty="0">
                <a:latin typeface="Times New Roman"/>
                <a:ea typeface="Times New Roman"/>
                <a:cs typeface="Times New Roman"/>
                <a:sym typeface="Times New Roman"/>
              </a:rPr>
              <a:t>, delete redundant nodes, repeat the operation.</a:t>
            </a:r>
          </a:p>
        </p:txBody>
      </p:sp>
    </p:spTree>
    <p:extLst>
      <p:ext uri="{BB962C8B-B14F-4D97-AF65-F5344CB8AC3E}">
        <p14:creationId xmlns:p14="http://schemas.microsoft.com/office/powerpoint/2010/main" val="2512876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14</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Step 5</a:t>
            </a:r>
            <a:endParaRPr lang="zh-TW" altLang="en-US" dirty="0"/>
          </a:p>
        </p:txBody>
      </p:sp>
      <p:sp>
        <p:nvSpPr>
          <p:cNvPr id="10" name="標題 3">
            <a:extLst>
              <a:ext uri="{FF2B5EF4-FFF2-40B4-BE49-F238E27FC236}">
                <a16:creationId xmlns:a16="http://schemas.microsoft.com/office/drawing/2014/main" id="{EADD15F9-F3D3-4A86-94D9-26344D353FD8}"/>
              </a:ext>
            </a:extLst>
          </p:cNvPr>
          <p:cNvSpPr txBox="1">
            <a:spLocks/>
          </p:cNvSpPr>
          <p:nvPr/>
        </p:nvSpPr>
        <p:spPr>
          <a:xfrm>
            <a:off x="311700" y="1017725"/>
            <a:ext cx="2485288" cy="1819604"/>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ltLang="zh-TW" sz="2000" dirty="0">
                <a:latin typeface="Times New Roman"/>
                <a:ea typeface="Times New Roman"/>
                <a:cs typeface="Times New Roman"/>
                <a:sym typeface="Times New Roman"/>
              </a:rPr>
              <a:t>Path Smoothing</a:t>
            </a:r>
          </a:p>
          <a:p>
            <a:r>
              <a:rPr lang="en-US" altLang="zh-TW" sz="2000" dirty="0" err="1">
                <a:latin typeface="Times New Roman"/>
                <a:ea typeface="Times New Roman"/>
                <a:cs typeface="Times New Roman"/>
                <a:sym typeface="Times New Roman"/>
              </a:rPr>
              <a:t>Bézier</a:t>
            </a:r>
            <a:r>
              <a:rPr lang="en-US" altLang="zh-TW" sz="2000" dirty="0">
                <a:latin typeface="Times New Roman"/>
                <a:ea typeface="Times New Roman"/>
                <a:cs typeface="Times New Roman"/>
                <a:sym typeface="Times New Roman"/>
              </a:rPr>
              <a:t> curve</a:t>
            </a:r>
          </a:p>
        </p:txBody>
      </p:sp>
      <p:pic>
        <p:nvPicPr>
          <p:cNvPr id="6146" name="Picture 2">
            <a:extLst>
              <a:ext uri="{FF2B5EF4-FFF2-40B4-BE49-F238E27FC236}">
                <a16:creationId xmlns:a16="http://schemas.microsoft.com/office/drawing/2014/main" id="{71E78538-B29C-4D01-BA7D-134E87A0E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4380" y="731375"/>
            <a:ext cx="4974843" cy="3733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740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15</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Result</a:t>
            </a:r>
            <a:endParaRPr lang="zh-TW" altLang="en-US" dirty="0"/>
          </a:p>
        </p:txBody>
      </p:sp>
      <p:pic>
        <p:nvPicPr>
          <p:cNvPr id="6" name="圖片 5">
            <a:extLst>
              <a:ext uri="{FF2B5EF4-FFF2-40B4-BE49-F238E27FC236}">
                <a16:creationId xmlns:a16="http://schemas.microsoft.com/office/drawing/2014/main" id="{14C11982-372A-442A-91E0-462315D797C3}"/>
              </a:ext>
            </a:extLst>
          </p:cNvPr>
          <p:cNvPicPr>
            <a:picLocks noChangeAspect="1"/>
          </p:cNvPicPr>
          <p:nvPr/>
        </p:nvPicPr>
        <p:blipFill>
          <a:blip r:embed="rId3"/>
          <a:stretch>
            <a:fillRect/>
          </a:stretch>
        </p:blipFill>
        <p:spPr>
          <a:xfrm>
            <a:off x="311700" y="1095935"/>
            <a:ext cx="4260300" cy="2387415"/>
          </a:xfrm>
          <a:prstGeom prst="rect">
            <a:avLst/>
          </a:prstGeom>
        </p:spPr>
      </p:pic>
      <p:pic>
        <p:nvPicPr>
          <p:cNvPr id="8" name="圖片 7">
            <a:extLst>
              <a:ext uri="{FF2B5EF4-FFF2-40B4-BE49-F238E27FC236}">
                <a16:creationId xmlns:a16="http://schemas.microsoft.com/office/drawing/2014/main" id="{EC4CBFC1-116E-4E19-BCCC-5EDE8CEBEBC2}"/>
              </a:ext>
            </a:extLst>
          </p:cNvPr>
          <p:cNvPicPr>
            <a:picLocks noChangeAspect="1"/>
          </p:cNvPicPr>
          <p:nvPr/>
        </p:nvPicPr>
        <p:blipFill>
          <a:blip r:embed="rId4"/>
          <a:stretch>
            <a:fillRect/>
          </a:stretch>
        </p:blipFill>
        <p:spPr>
          <a:xfrm>
            <a:off x="4572000" y="1095935"/>
            <a:ext cx="4324539" cy="2501449"/>
          </a:xfrm>
          <a:prstGeom prst="rect">
            <a:avLst/>
          </a:prstGeom>
        </p:spPr>
      </p:pic>
    </p:spTree>
    <p:extLst>
      <p:ext uri="{BB962C8B-B14F-4D97-AF65-F5344CB8AC3E}">
        <p14:creationId xmlns:p14="http://schemas.microsoft.com/office/powerpoint/2010/main" val="805151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16</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r>
              <a:rPr lang="en-US" altLang="zh-TW" dirty="0">
                <a:latin typeface="Times New Roman"/>
                <a:ea typeface="Times New Roman"/>
                <a:cs typeface="Times New Roman"/>
                <a:sym typeface="Times New Roman"/>
              </a:rPr>
              <a:t>Result</a:t>
            </a:r>
            <a:endParaRPr lang="zh-TW" altLang="en-US" dirty="0"/>
          </a:p>
        </p:txBody>
      </p:sp>
      <p:pic>
        <p:nvPicPr>
          <p:cNvPr id="3" name="圖片 2">
            <a:extLst>
              <a:ext uri="{FF2B5EF4-FFF2-40B4-BE49-F238E27FC236}">
                <a16:creationId xmlns:a16="http://schemas.microsoft.com/office/drawing/2014/main" id="{31D03052-1A05-49F1-9597-E469B4523816}"/>
              </a:ext>
            </a:extLst>
          </p:cNvPr>
          <p:cNvPicPr>
            <a:picLocks noChangeAspect="1"/>
          </p:cNvPicPr>
          <p:nvPr/>
        </p:nvPicPr>
        <p:blipFill>
          <a:blip r:embed="rId3"/>
          <a:stretch>
            <a:fillRect/>
          </a:stretch>
        </p:blipFill>
        <p:spPr>
          <a:xfrm>
            <a:off x="806263" y="1152475"/>
            <a:ext cx="6496050" cy="2085975"/>
          </a:xfrm>
          <a:prstGeom prst="rect">
            <a:avLst/>
          </a:prstGeom>
        </p:spPr>
      </p:pic>
    </p:spTree>
    <p:extLst>
      <p:ext uri="{BB962C8B-B14F-4D97-AF65-F5344CB8AC3E}">
        <p14:creationId xmlns:p14="http://schemas.microsoft.com/office/powerpoint/2010/main" val="3926580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0" y="1754841"/>
            <a:ext cx="9144000" cy="190275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ct val="111111"/>
              <a:buNone/>
            </a:pPr>
            <a:r>
              <a:rPr lang="en-US" sz="4800" dirty="0">
                <a:latin typeface="Times New Roman"/>
                <a:ea typeface="Times New Roman"/>
                <a:cs typeface="Times New Roman"/>
                <a:sym typeface="Times New Roman"/>
              </a:rPr>
              <a:t>Thanks</a:t>
            </a:r>
            <a:endParaRPr dirty="0">
              <a:latin typeface="Times New Roman"/>
              <a:ea typeface="Times New Roman"/>
              <a:cs typeface="Times New Roman"/>
              <a:sym typeface="Times New Roman"/>
            </a:endParaRPr>
          </a:p>
        </p:txBody>
      </p:sp>
      <p:sp>
        <p:nvSpPr>
          <p:cNvPr id="111" name="Google Shape;111;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17</a:t>
            </a:fld>
            <a:endParaRPr/>
          </a:p>
        </p:txBody>
      </p:sp>
    </p:spTree>
    <p:extLst>
      <p:ext uri="{BB962C8B-B14F-4D97-AF65-F5344CB8AC3E}">
        <p14:creationId xmlns:p14="http://schemas.microsoft.com/office/powerpoint/2010/main" val="214628215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1972</TotalTime>
  <Words>396</Words>
  <Application>Microsoft Office PowerPoint</Application>
  <PresentationFormat>如螢幕大小 (16:9)</PresentationFormat>
  <Paragraphs>58</Paragraphs>
  <Slides>17</Slides>
  <Notes>17</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17</vt:i4>
      </vt:variant>
    </vt:vector>
  </HeadingPairs>
  <TitlesOfParts>
    <vt:vector size="20" baseType="lpstr">
      <vt:lpstr>Arial</vt:lpstr>
      <vt:lpstr>Times New Roman</vt:lpstr>
      <vt:lpstr>Simple Light</vt:lpstr>
      <vt:lpstr>Fusion of weighted Voronoi diagram and A* algorithm for mobile robot path planning</vt:lpstr>
      <vt:lpstr>Abstract</vt:lpstr>
      <vt:lpstr>Abstract</vt:lpstr>
      <vt:lpstr>Abstract</vt:lpstr>
      <vt:lpstr>A* Algorithm</vt:lpstr>
      <vt:lpstr>A* Algorithm</vt:lpstr>
      <vt:lpstr>Voronoi Diagram</vt:lpstr>
      <vt:lpstr>Weighted Voronoi Diagram</vt:lpstr>
      <vt:lpstr>Raster Map</vt:lpstr>
      <vt:lpstr>Step 1</vt:lpstr>
      <vt:lpstr>Step 2</vt:lpstr>
      <vt:lpstr>Step 3</vt:lpstr>
      <vt:lpstr>Step 4</vt:lpstr>
      <vt:lpstr>Step 5</vt:lpstr>
      <vt:lpstr>Result</vt:lpstr>
      <vt:lpstr>Result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Order-preserving pattern matching with k mismatches</dc:title>
  <cp:lastModifiedBy>鑫昌 俞</cp:lastModifiedBy>
  <cp:revision>88</cp:revision>
  <dcterms:modified xsi:type="dcterms:W3CDTF">2024-01-30T06:22:56Z</dcterms:modified>
</cp:coreProperties>
</file>