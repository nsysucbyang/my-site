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7" r:id="rId2"/>
    <p:sldId id="258" r:id="rId3"/>
    <p:sldId id="278" r:id="rId4"/>
    <p:sldId id="322" r:id="rId5"/>
    <p:sldId id="319" r:id="rId6"/>
    <p:sldId id="321" r:id="rId7"/>
    <p:sldId id="318" r:id="rId8"/>
    <p:sldId id="323" r:id="rId9"/>
    <p:sldId id="324" r:id="rId10"/>
    <p:sldId id="325" r:id="rId11"/>
    <p:sldId id="326" r:id="rId12"/>
    <p:sldId id="327" r:id="rId13"/>
    <p:sldId id="328" r:id="rId14"/>
    <p:sldId id="329" r:id="rId15"/>
    <p:sldId id="330" r:id="rId16"/>
    <p:sldId id="331" r:id="rId17"/>
    <p:sldId id="332" r:id="rId18"/>
    <p:sldId id="333" r:id="rId19"/>
    <p:sldId id="294" r:id="rId2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3693" autoAdjust="0"/>
  </p:normalViewPr>
  <p:slideViewPr>
    <p:cSldViewPr snapToGrid="0">
      <p:cViewPr varScale="1">
        <p:scale>
          <a:sx n="54" d="100"/>
          <a:sy n="54" d="100"/>
        </p:scale>
        <p:origin x="114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F667DF-ECF2-46EC-8446-7B955A747664}" type="datetimeFigureOut">
              <a:rPr lang="zh-TW" altLang="en-US" smtClean="0"/>
              <a:t>2024/1/30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6562F9-E128-4B6E-872C-5F1FFAE335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9557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E8EAED"/>
                </a:solidFill>
                <a:effectLst/>
                <a:latin typeface="Google Sans"/>
              </a:rPr>
              <a:t>特拉維夫市</a:t>
            </a:r>
            <a:r>
              <a:rPr lang="zh-TW" altLang="en-US" b="0" i="0" dirty="0">
                <a:solidFill>
                  <a:srgbClr val="BDC1C6"/>
                </a:solidFill>
                <a:effectLst/>
                <a:latin typeface="arial" panose="020B0604020202020204" pitchFamily="34" charset="0"/>
              </a:rPr>
              <a:t>以色列</a:t>
            </a:r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B0929B-4ACD-4AAE-9309-95C05ACE2D43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39331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28013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21736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43702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72616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67829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11200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21734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42264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34579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66140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b="0" i="0" dirty="0">
                <a:effectLst/>
                <a:latin typeface="-apple-system"/>
              </a:rPr>
              <a:t>TMAS</a:t>
            </a:r>
            <a:r>
              <a:rPr lang="zh-TW" altLang="en-US" b="0" i="0" dirty="0">
                <a:effectLst/>
                <a:latin typeface="-apple-system"/>
              </a:rPr>
              <a:t>算法根據先前窗口的掃描結果來調整掃描順序和位移長度表，以最大化位移長度，從而提高字串匹配的效率。通過利用先前窗口的信息，</a:t>
            </a:r>
            <a:r>
              <a:rPr lang="en-US" altLang="zh-TW" b="0" i="0" dirty="0">
                <a:effectLst/>
                <a:latin typeface="-apple-system"/>
              </a:rPr>
              <a:t>TMAS</a:t>
            </a:r>
            <a:r>
              <a:rPr lang="zh-TW" altLang="en-US" b="0" i="0" dirty="0">
                <a:effectLst/>
                <a:latin typeface="-apple-system"/>
              </a:rPr>
              <a:t>算法能夠更好地適應不同的文本分佈和模式結構，從而提高了字串匹配的性能。 總的來說，</a:t>
            </a:r>
            <a:r>
              <a:rPr lang="en-US" altLang="zh-TW" b="0" i="0" dirty="0">
                <a:effectLst/>
                <a:latin typeface="-apple-system"/>
              </a:rPr>
              <a:t>TMAS</a:t>
            </a:r>
            <a:r>
              <a:rPr lang="zh-TW" altLang="en-US" b="0" i="0" dirty="0">
                <a:effectLst/>
                <a:latin typeface="-apple-system"/>
              </a:rPr>
              <a:t>算法通過利用先前窗口的掃描結果來調整掃描順序和位移長度表，從而實現更有效的字串匹配。這種方法可以提高字串匹配的效率，特別是在處理不規則文本分佈和模式結構時。</a:t>
            </a:r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70114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04612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123412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73801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7536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43412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22592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18045-16E7-451C-65FC-B158983ECC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AF068A-58AE-8713-2F67-C52F90F862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BA286-7DBB-ABAF-AE2A-AD9DDE775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DD569-BD2D-4D1C-B67A-2A5601E6B3E3}" type="datetime1">
              <a:rPr lang="zh-TW" altLang="en-US" smtClean="0"/>
              <a:t>2024/1/30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A0D4C-517F-3A75-2138-B35995E6D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1CC6E-1A90-9EBF-3395-DCC19E86B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3099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5D236-5FFE-A036-B937-040C5034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EEFD4-29DF-59B4-50ED-3F42FB6C5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25951-765D-8F13-9483-0B7BC8346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F9AF4-0F76-4C66-B441-D1B2D7ED3BEC}" type="datetime1">
              <a:rPr lang="zh-TW" altLang="en-US" smtClean="0"/>
              <a:t>2024/1/30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3DCF9E-E6A3-995C-A1B7-97A453CBD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85ECA-E5DF-198A-D862-E85E01727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6363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64931-3342-74A5-5F4A-1ACADB362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4ABAD9-77A7-31C2-CE3B-83AB0265A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5B3F41-FADE-64E8-94E5-51E3BAD87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A6C79-1DF6-49C7-8CD7-FD6F5B614111}" type="datetime1">
              <a:rPr lang="zh-TW" altLang="en-US" smtClean="0"/>
              <a:t>2024/1/30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F82AA-63C8-C306-BDDF-A523D9F84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83CF1-15A7-D9A0-AB7D-63A9F3204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9627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A4541-876E-1323-86BB-134B34EBF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F7A99-40BB-A978-A62D-456D85CB31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6C4AB-2328-C15C-EDBA-A6D9849715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785A17-9FA9-28E5-585D-C1967447E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813F3-84C2-4D70-A0DE-40780363C9EE}" type="datetime1">
              <a:rPr lang="zh-TW" altLang="en-US" smtClean="0"/>
              <a:t>2024/1/30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8A8324-6BD6-434F-B46A-42E288600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7986F1-3A6D-B41E-CFB4-7417B1F77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5118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3C63D-C7AF-2A59-F8AD-A038C042A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7C0EB9-FD48-3B5F-2543-5658F7F50A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5B3736-516F-9579-FACA-DCB21A18E9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B03EA5-7849-E5F4-BF87-F3FC863686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31D914-6ED8-D257-6CC2-104C6745C0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9A8773-F0F7-3DBC-9C59-CA8EF9CF9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FA993-B73B-4E0A-AC46-BDD6B2FA04A9}" type="datetime1">
              <a:rPr lang="zh-TW" altLang="en-US" smtClean="0"/>
              <a:t>2024/1/30</a:t>
            </a:fld>
            <a:endParaRPr lang="zh-TW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D508DB-1C1C-AFC2-2C1A-1DDBC10F8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C9407E-CED6-F5A6-39DB-82B07C84A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5342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28DAB-3374-67D6-5EB1-2C3253F55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0D7194-F69E-4DA8-89C4-AE8729BF6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6ADAD-A8C5-4E4F-97C2-B2F188A7EEC4}" type="datetime1">
              <a:rPr lang="zh-TW" altLang="en-US" smtClean="0"/>
              <a:t>2024/1/30</a:t>
            </a:fld>
            <a:endParaRPr lang="zh-TW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8D0780-D9CB-B34D-A2E0-1D14B42F5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A4697E-BF8C-08DA-29D6-3B9ACC5CE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0603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7CFF4D-DBD6-E4FB-30B0-3844F2359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5DE65-CDBA-47B3-8C63-EAD937C328D1}" type="datetime1">
              <a:rPr lang="zh-TW" altLang="en-US" smtClean="0"/>
              <a:t>2024/1/30</a:t>
            </a:fld>
            <a:endParaRPr lang="zh-TW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53340C-74EA-761B-F592-FD6C44690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816107-4110-8028-60EF-14E5F2D11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8812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D5481-AD55-0A04-6A16-2FE5FE1FE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FA7E5-F55B-C36B-5945-661CDB1ED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045507-E0DA-CCE2-C66E-2F29EA6A9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D0A186-4631-35C9-68C0-298149FFE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9CB4A-921C-4216-9056-986295B6B351}" type="datetime1">
              <a:rPr lang="zh-TW" altLang="en-US" smtClean="0"/>
              <a:t>2024/1/30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6AC9F0-1D2E-CD0B-A6B8-A8337FE53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C73D3E-1C05-2CFF-6405-4771E57F8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5450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29362-71C4-6CF9-38E0-C4F81738C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30231A-174C-8A04-7F37-326E7B3D7B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03C50E-C2ED-00AE-E101-79CFAFB17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E4BE7B-D25D-CFE2-B089-BAA86DCFC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2F44B-5705-4772-8785-D8AAB7BCD3BF}" type="datetime1">
              <a:rPr lang="zh-TW" altLang="en-US" smtClean="0"/>
              <a:t>2024/1/30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D0EA70-9CF5-E2A3-4310-0B5FAE7B7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134B4A-B942-A3BD-6BA9-01E17E554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8095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8A6AD-5403-1ACC-D4D1-96B39DD84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E60034-6B39-C082-088F-72D19BFE13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803D3-C2D4-4034-17A0-8D2928B12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00920-BF4E-4A34-B8B5-5D2BB9836F35}" type="datetime1">
              <a:rPr lang="zh-TW" altLang="en-US" smtClean="0"/>
              <a:t>2024/1/30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95024-0915-E154-0CBE-65A94D230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7C4D6-1F53-D5A1-0F98-4AF14C84F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8947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C8714A-61BB-5406-A5DA-BC8910B5CD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4B0A4F-7A22-6245-0B0A-635765A854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23698-D80C-5B02-26C3-B7E0D0209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923D5-CB9E-42C4-A443-74EE43A78F1A}" type="datetime1">
              <a:rPr lang="zh-TW" altLang="en-US" smtClean="0"/>
              <a:t>2024/1/30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961CDA-4309-2D61-CD40-8DE7FA2E1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DEE89-0D64-3A74-3CEA-425D035B8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8924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9CB272-2800-21BB-F226-6BCB7515B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EA0C83-E1FB-8AAC-CDEA-98C2D15B7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0E59ED-035C-8CC1-CFE9-73EA26D0C3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9CDBA5-E58B-4CB2-961D-91717090BBCB}" type="datetime1">
              <a:rPr lang="zh-TW" altLang="en-US" smtClean="0"/>
              <a:t>2024/1/30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ED3AA-0139-02CF-DF2C-5E6C9CB6C2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1D16DD-A0C6-441C-56CA-8F27599A8E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3377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901A9-EC42-0349-C42C-1EF1F72BF0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3224" y="1122363"/>
            <a:ext cx="10285551" cy="2387600"/>
          </a:xfrm>
        </p:spPr>
        <p:txBody>
          <a:bodyPr>
            <a:noAutofit/>
          </a:bodyPr>
          <a:lstStyle/>
          <a:p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string matching for DNA sequences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DBE6CB-9CF8-48E7-B831-C6B10B6C08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050" y="3928587"/>
            <a:ext cx="11149897" cy="1655762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Cheol Ryu, Thierry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Lecroq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Kunsoo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Park 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Theoretical Computer Science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812 (2020), pp.137-148</a:t>
            </a:r>
          </a:p>
        </p:txBody>
      </p:sp>
      <p:sp>
        <p:nvSpPr>
          <p:cNvPr id="4" name="副標題 2">
            <a:extLst>
              <a:ext uri="{FF2B5EF4-FFF2-40B4-BE49-F238E27FC236}">
                <a16:creationId xmlns:a16="http://schemas.microsoft.com/office/drawing/2014/main" id="{272805CA-C188-EA0E-0232-5E39FC11B582}"/>
              </a:ext>
            </a:extLst>
          </p:cNvPr>
          <p:cNvSpPr txBox="1">
            <a:spLocks/>
          </p:cNvSpPr>
          <p:nvPr/>
        </p:nvSpPr>
        <p:spPr>
          <a:xfrm>
            <a:off x="8322197" y="6002973"/>
            <a:ext cx="3584053" cy="66071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Wen-Wen Liao</a:t>
            </a:r>
          </a:p>
          <a:p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Jan.</a:t>
            </a:r>
            <a:r>
              <a:rPr kumimoji="1" lang="en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 30, </a:t>
            </a:r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AAB76B-0FAF-9711-6F27-1F8F6638E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pPr/>
              <a:t>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67857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A3735-885C-D762-2A7C-7760F6C51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6866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0A558-83F5-DC4B-E8C9-3EB0801F3E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2298"/>
            <a:ext cx="10797330" cy="4697834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paper we propose the Maximal Average Shift (MAS) algorithm that finds a pattern scan order that maximizes the average shift length. We also present two extensions of MAS: one improves the scan speed of MAS by using the scan result of the previous window, and the other improves the running time of MAS by using q-grams. These algorithms show better average performances in scan speed than previous string matching algorithms for DNA sequences.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55E3F4-879A-1E75-AEA8-8BFC5FE9B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71907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Preliminaries</a:t>
            </a:r>
            <a:endParaRPr kumimoji="1" lang="zh-TW" altLang="en-US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3</a:t>
            </a:fld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D5780754-891B-DA25-D843-19C125C710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651004"/>
                <a:ext cx="10796451" cy="44430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fr-FR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kumimoji="1"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b>
                    </m:sSub>
                    <m:r>
                      <a:rPr kumimoji="1"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kumimoji="1"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kumimoji="1"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kumimoji="1" lang="fr-FR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</a:t>
                </a:r>
                <a:r>
                  <a:rPr kumimoji="1"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 ∈ </a:t>
                </a:r>
                <a:r>
                  <a:rPr kumimoji="1" lang="el-GR" altLang="zh-TW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Σ</a:t>
                </a:r>
                <a:r>
                  <a:rPr kumimoji="1"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 the probability that a text character in T is x.</a:t>
                </a:r>
                <a:endParaRPr kumimoji="1" lang="fr-FR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kumimoji="1" lang="fr-FR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pattern scan </a:t>
                </a:r>
                <a:r>
                  <a:rPr kumimoji="1" lang="fr-FR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order</a:t>
                </a:r>
                <a:r>
                  <a:rPr kumimoji="1" lang="fr-FR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kumimoji="1"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(scan[1], scan[2],..., scan[m]) is a permutation of (1, 2,...,m).</a:t>
                </a:r>
              </a:p>
            </p:txBody>
          </p:sp>
        </mc:Choice>
        <mc:Fallback xmlns="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D5780754-891B-DA25-D843-19C125C710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51004"/>
                <a:ext cx="10796451" cy="4443091"/>
              </a:xfrm>
              <a:prstGeom prst="rect">
                <a:avLst/>
              </a:prstGeom>
              <a:blipFill>
                <a:blip r:embed="rId3"/>
                <a:stretch>
                  <a:fillRect l="-791" t="-20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4057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Maximal average shift algorithm</a:t>
            </a:r>
            <a:endParaRPr kumimoji="1" lang="zh-TW" altLang="en-US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4</a:t>
            </a:fld>
            <a:endParaRPr lang="zh-TW" alt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651004"/>
            <a:ext cx="10796451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AD978C-F771-395E-E8DA-71AA08D203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731058"/>
            <a:ext cx="4815537" cy="26252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53042DA-84AC-2747-5E07-A8CDFDDDD0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0143" y="3902249"/>
            <a:ext cx="5980914" cy="228291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4952976-AB94-E9BE-B154-D700FF744C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1604805"/>
            <a:ext cx="8878539" cy="57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196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endParaRPr kumimoji="1" lang="zh-TW" altLang="en-US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5</a:t>
            </a:fld>
            <a:endParaRPr lang="zh-TW" alt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651004"/>
            <a:ext cx="10796451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143BA7-8290-129E-687A-79E58D126D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7332" y="2477100"/>
            <a:ext cx="4374240" cy="270087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18EE25D-87A4-C0C3-8182-C5F3C7D1C6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651004"/>
            <a:ext cx="6596133" cy="89065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B704915-ADC4-F277-487B-AAB7864264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4333" y="1651004"/>
            <a:ext cx="4423804" cy="433634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A8E7FE3-FAEB-0B5B-B322-B314142539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5590661"/>
            <a:ext cx="6075348" cy="503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447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endParaRPr kumimoji="1" lang="zh-TW" altLang="en-US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6</a:t>
            </a:fld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D5780754-891B-DA25-D843-19C125C710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651004"/>
                <a:ext cx="10796451" cy="44430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1"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complexity: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kumimoji="1"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p>
                        <m:r>
                          <a:rPr kumimoji="1"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kumimoji="1" lang="el-GR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Σ</m:t>
                    </m:r>
                    <m:r>
                      <a:rPr kumimoji="1"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</m:oMath>
                </a14:m>
                <a:r>
                  <a:rPr kumimoji="1"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D5780754-891B-DA25-D843-19C125C710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51004"/>
                <a:ext cx="10796451" cy="4443091"/>
              </a:xfrm>
              <a:prstGeom prst="rect">
                <a:avLst/>
              </a:prstGeom>
              <a:blipFill>
                <a:blip r:embed="rId3"/>
                <a:stretch>
                  <a:fillRect l="-791" t="-192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FA9DB027-9F0C-F77B-0AB9-B7293FD51D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795" y="2286043"/>
            <a:ext cx="10338410" cy="4206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365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Maximal average shift algorithm</a:t>
            </a:r>
            <a:endParaRPr kumimoji="1" lang="zh-TW" altLang="en-US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7</a:t>
            </a:fld>
            <a:endParaRPr lang="zh-TW" alt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651004"/>
            <a:ext cx="10796451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32CBE6D-60EB-C83D-F6DC-A878EFECA7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4232" y="1876208"/>
            <a:ext cx="6163535" cy="310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684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Maximal average shift algorithm</a:t>
            </a:r>
            <a:endParaRPr kumimoji="1" lang="zh-TW" altLang="en-US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8</a:t>
            </a:fld>
            <a:endParaRPr lang="zh-TW" alt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651004"/>
            <a:ext cx="10796451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C4618F-FFDB-E468-410B-B7CB471B34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1152" y="2228682"/>
            <a:ext cx="7849695" cy="240063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4D17348-4315-B897-0A83-2F0FDAC3D7C0}"/>
              </a:ext>
            </a:extLst>
          </p:cNvPr>
          <p:cNvSpPr/>
          <p:nvPr/>
        </p:nvSpPr>
        <p:spPr>
          <a:xfrm>
            <a:off x="6905002" y="3990886"/>
            <a:ext cx="470019" cy="3247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682F47-DEF0-7D83-9EAB-236BA9CC0E3C}"/>
              </a:ext>
            </a:extLst>
          </p:cNvPr>
          <p:cNvSpPr/>
          <p:nvPr/>
        </p:nvSpPr>
        <p:spPr>
          <a:xfrm>
            <a:off x="8151714" y="4254819"/>
            <a:ext cx="470019" cy="3247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E7AF49-B7EE-DD51-5DFB-0983F3965FE1}"/>
              </a:ext>
            </a:extLst>
          </p:cNvPr>
          <p:cNvSpPr txBox="1"/>
          <p:nvPr/>
        </p:nvSpPr>
        <p:spPr>
          <a:xfrm>
            <a:off x="7375021" y="3754360"/>
            <a:ext cx="2064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first scan position=4</a:t>
            </a:r>
            <a:endParaRPr lang="zh-TW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641BA6-0B25-E17F-0004-9E741CC8840E}"/>
              </a:ext>
            </a:extLst>
          </p:cNvPr>
          <p:cNvSpPr txBox="1"/>
          <p:nvPr/>
        </p:nvSpPr>
        <p:spPr>
          <a:xfrm>
            <a:off x="8308706" y="4526021"/>
            <a:ext cx="2064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first scan position=6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34310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 of MAS</a:t>
            </a:r>
            <a:endParaRPr kumimoji="1" lang="zh-TW" altLang="en-US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9</a:t>
            </a:fld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D5780754-891B-DA25-D843-19C125C710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651004"/>
                <a:ext cx="10796451" cy="44430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(A) = 0.293,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(C) = 0.207,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(G) = 0.207,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(T) = 0.293</a:t>
                </a:r>
              </a:p>
              <a:p>
                <a:endParaRPr kumimoji="1"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Scan speed: the ratio of the text length to the number of text scanned by an algorithm, averaged over 100 patterns.</a:t>
                </a:r>
              </a:p>
              <a:p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Running time: the running time of an algorithm / text length × 1,000,000 (i.e., running time per 1,000,000 text characters), averaged over 100 patterns.</a:t>
                </a:r>
              </a:p>
            </p:txBody>
          </p:sp>
        </mc:Choice>
        <mc:Fallback xmlns="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D5780754-891B-DA25-D843-19C125C710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51004"/>
                <a:ext cx="10796451" cy="4443091"/>
              </a:xfrm>
              <a:prstGeom prst="rect">
                <a:avLst/>
              </a:prstGeom>
              <a:blipFill>
                <a:blip r:embed="rId3"/>
                <a:stretch>
                  <a:fillRect l="-508" t="-15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7152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 of MAS</a:t>
            </a:r>
            <a:endParaRPr kumimoji="1" lang="zh-TW" altLang="en-US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10</a:t>
            </a:fld>
            <a:endParaRPr lang="zh-TW" alt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651004"/>
            <a:ext cx="10796451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C36E03-4B80-6604-8AC2-2E70947D9E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678" y="1414756"/>
            <a:ext cx="7830643" cy="491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556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 of MAS</a:t>
            </a:r>
            <a:endParaRPr kumimoji="1" lang="zh-TW" altLang="en-US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11</a:t>
            </a:fld>
            <a:endParaRPr lang="zh-TW" alt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651004"/>
            <a:ext cx="10796451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317426-209E-366D-3438-AFF5B6AD33D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4317"/>
          <a:stretch/>
        </p:blipFill>
        <p:spPr>
          <a:xfrm>
            <a:off x="3265259" y="2215027"/>
            <a:ext cx="5661482" cy="271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480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Extending the MAS algorithm</a:t>
            </a:r>
            <a:endParaRPr kumimoji="1" lang="zh-TW" altLang="en-US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12</a:t>
            </a:fld>
            <a:endParaRPr lang="zh-TW" alt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651004"/>
            <a:ext cx="10796451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extension</a:t>
            </a:r>
          </a:p>
          <a:p>
            <a:pPr lvl="1"/>
            <a:r>
              <a:rPr kumimoji="1"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the scan speed of MAS by using the scan result of the previous window.</a:t>
            </a:r>
          </a:p>
          <a:p>
            <a:pPr lvl="1"/>
            <a:r>
              <a:rPr kumimoji="1"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the running time of MAS by using q-grams.</a:t>
            </a:r>
          </a:p>
        </p:txBody>
      </p:sp>
    </p:spTree>
    <p:extLst>
      <p:ext uri="{BB962C8B-B14F-4D97-AF65-F5344CB8AC3E}">
        <p14:creationId xmlns:p14="http://schemas.microsoft.com/office/powerpoint/2010/main" val="3720855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Tuned MAS algorithm</a:t>
            </a:r>
            <a:endParaRPr kumimoji="1" lang="zh-TW" altLang="en-US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13</a:t>
            </a:fld>
            <a:endParaRPr lang="zh-TW" alt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651004"/>
            <a:ext cx="10796451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07B0B4-C2E9-8077-20BC-0AAC739F26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5261" y="2904648"/>
            <a:ext cx="4669390" cy="25081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3D8EE83-36C6-98F7-124D-00521ECB22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790758"/>
            <a:ext cx="6306430" cy="4477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626F478-3971-87EC-13D7-1DE97872BC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103" y="2054827"/>
            <a:ext cx="7992590" cy="457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066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Tuned MAS algorithm</a:t>
            </a:r>
            <a:endParaRPr kumimoji="1" lang="zh-TW" altLang="en-US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14</a:t>
            </a:fld>
            <a:endParaRPr lang="zh-TW" alt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651004"/>
            <a:ext cx="10796451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4AF535-1A3F-3A30-7993-5476FCB4A78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4953"/>
          <a:stretch/>
        </p:blipFill>
        <p:spPr>
          <a:xfrm>
            <a:off x="6108730" y="2317717"/>
            <a:ext cx="5410955" cy="31096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33FF58A-FBE3-4DD8-E484-6A51A662DE5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6702"/>
          <a:stretch/>
        </p:blipFill>
        <p:spPr>
          <a:xfrm>
            <a:off x="672315" y="2669428"/>
            <a:ext cx="5410955" cy="2445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970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q-gram MAS algorithm</a:t>
            </a:r>
            <a:endParaRPr kumimoji="1" lang="zh-TW" altLang="en-US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15</a:t>
            </a:fld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D5780754-891B-DA25-D843-19C125C710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651004"/>
                <a:ext cx="10796451" cy="44430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1"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q-gram</a:t>
                </a:r>
                <a:r>
                  <a:rPr kumimoji="1" lang="zh-TW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：</a:t>
                </a:r>
                <a:r>
                  <a:rPr kumimoji="1"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Q-MAS</a:t>
                </a:r>
                <a:r>
                  <a:rPr kumimoji="1" lang="zh-TW" altLang="en-US" sz="2400" dirty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算法將</a:t>
                </a:r>
                <a:r>
                  <a:rPr kumimoji="1" lang="en-US" altLang="zh-TW" sz="2400" dirty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pattern</a:t>
                </a:r>
                <a:r>
                  <a:rPr kumimoji="1" lang="zh-TW" altLang="en-US" sz="2400" dirty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和</a:t>
                </a:r>
                <a:r>
                  <a:rPr kumimoji="1" lang="en-US" altLang="zh-TW" sz="2400" dirty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text</a:t>
                </a:r>
                <a:r>
                  <a:rPr kumimoji="1" lang="zh-TW" altLang="en-US" sz="2400" dirty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分割成固定長度的</a:t>
                </a:r>
                <a:r>
                  <a:rPr kumimoji="1"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q-gram</a:t>
                </a:r>
                <a:r>
                  <a:rPr kumimoji="1" lang="zh-TW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:r>
                  <a:rPr kumimoji="1" lang="zh-TW" altLang="en-US" sz="2400" dirty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這樣可以更有效地處理大型文本和模式。通過利用</a:t>
                </a:r>
                <a:r>
                  <a:rPr kumimoji="1"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q-gram</a:t>
                </a:r>
                <a:r>
                  <a:rPr kumimoji="1" lang="zh-TW" altLang="en-US" sz="2400" dirty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，算法能夠減少比較的次數，從而提高字串匹配的效率。</a:t>
                </a:r>
                <a:endParaRPr kumimoji="1" lang="en-US" altLang="zh-TW" sz="2400" dirty="0">
                  <a:latin typeface="標楷體" panose="03000509000000000000" pitchFamily="65" charset="-12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r>
                  <a:rPr kumimoji="1"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q-gram: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24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kumimoji="1" lang="en-US" altLang="zh-TW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en-US" altLang="zh-TW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kumimoji="1" lang="en-US" altLang="zh-TW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en-US" altLang="zh-TW" sz="2400" dirty="0">
                    <a:cs typeface="Times New Roman" panose="02020603050405020304" pitchFamily="18" charset="0"/>
                  </a:rPr>
                  <a:t> 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kumimoji="1" lang="en-US" altLang="zh-TW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  <m:r>
                          <a:rPr kumimoji="1" lang="en-US" altLang="zh-TW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</m:oMath>
                </a14:m>
                <a:endParaRPr kumimoji="1" lang="en-US" altLang="zh-TW" sz="2400" dirty="0">
                  <a:cs typeface="Times New Roman" panose="02020603050405020304" pitchFamily="18" charset="0"/>
                </a:endParaRPr>
              </a:p>
              <a:p>
                <a:r>
                  <a:rPr kumimoji="1"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fingerprint: </a:t>
                </a:r>
              </a:p>
            </p:txBody>
          </p:sp>
        </mc:Choice>
        <mc:Fallback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D5780754-891B-DA25-D843-19C125C710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51004"/>
                <a:ext cx="10796451" cy="4443091"/>
              </a:xfrm>
              <a:prstGeom prst="rect">
                <a:avLst/>
              </a:prstGeom>
              <a:blipFill>
                <a:blip r:embed="rId3"/>
                <a:stretch>
                  <a:fillRect l="-791" t="-1920" r="-2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36AFF2C5-5779-14F3-43BD-BE4ADC2581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2750" y="3626763"/>
            <a:ext cx="3315163" cy="9812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5734570-44A1-A134-7307-53C250EF9E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428985"/>
            <a:ext cx="5249008" cy="1991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003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q-gram MAS algorithm</a:t>
            </a:r>
            <a:endParaRPr kumimoji="1" lang="zh-TW" altLang="en-US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16</a:t>
            </a:fld>
            <a:endParaRPr lang="zh-TW" alt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651004"/>
            <a:ext cx="10796451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5351BD9-B622-F401-609B-08C7464A7E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528402"/>
            <a:ext cx="10926700" cy="99073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CAB0093-C63D-0C0B-0686-C67573FBD9A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9966"/>
          <a:stretch/>
        </p:blipFill>
        <p:spPr>
          <a:xfrm>
            <a:off x="987806" y="2519139"/>
            <a:ext cx="8341985" cy="6988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E731EB-7CC2-A338-1515-84F96919BC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2852" y="2969873"/>
            <a:ext cx="3418433" cy="337234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EC54231-942D-6C19-E166-210B98E570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4112420"/>
            <a:ext cx="4858190" cy="452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968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</a:t>
            </a:r>
            <a:endParaRPr kumimoji="1" lang="zh-TW" altLang="en-US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17</a:t>
            </a:fld>
            <a:endParaRPr lang="zh-TW" alt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651004"/>
            <a:ext cx="10796451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650897-CD5C-1091-B70C-24E97FD948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774" y="1512040"/>
            <a:ext cx="11033381" cy="4220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506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</a:t>
            </a:r>
            <a:endParaRPr kumimoji="1" lang="zh-TW" altLang="en-US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18</a:t>
            </a:fld>
            <a:endParaRPr lang="zh-TW" alt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651004"/>
            <a:ext cx="10796451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194291-FEF4-4149-549A-6E41F500E6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787" y="2128656"/>
            <a:ext cx="3048425" cy="260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775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kumimoji="1"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19</a:t>
            </a:fld>
            <a:endParaRPr lang="zh-TW" alt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796451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 outperforms other BM family algorithms in both scan speed and running time</a:t>
            </a:r>
          </a:p>
          <a:p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extensions</a:t>
            </a:r>
          </a:p>
          <a:p>
            <a:pPr lvl="1"/>
            <a:r>
              <a:rPr kumimoji="1"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the scan speed of MAS by using the scan result of the</a:t>
            </a:r>
            <a:r>
              <a:rPr kumimoji="1"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 window</a:t>
            </a:r>
          </a:p>
          <a:p>
            <a:pPr lvl="1"/>
            <a:r>
              <a:rPr kumimoji="1"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the running time of MAS by using q-grams</a:t>
            </a:r>
          </a:p>
        </p:txBody>
      </p:sp>
    </p:spTree>
    <p:extLst>
      <p:ext uri="{BB962C8B-B14F-4D97-AF65-F5344CB8AC3E}">
        <p14:creationId xmlns:p14="http://schemas.microsoft.com/office/powerpoint/2010/main" val="223910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34705</TotalTime>
  <Words>684</Words>
  <Application>Microsoft Office PowerPoint</Application>
  <PresentationFormat>Widescreen</PresentationFormat>
  <Paragraphs>82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-apple-system</vt:lpstr>
      <vt:lpstr>Google Sans</vt:lpstr>
      <vt:lpstr>標楷體</vt:lpstr>
      <vt:lpstr>Arial</vt:lpstr>
      <vt:lpstr>Arial</vt:lpstr>
      <vt:lpstr>Calibri</vt:lpstr>
      <vt:lpstr>Calibri Light</vt:lpstr>
      <vt:lpstr>Cambria Math</vt:lpstr>
      <vt:lpstr>Times New Roman</vt:lpstr>
      <vt:lpstr>Office Theme</vt:lpstr>
      <vt:lpstr>Fast string matching for DNA sequences</vt:lpstr>
      <vt:lpstr>Abstract </vt:lpstr>
      <vt:lpstr>Preliminaries</vt:lpstr>
      <vt:lpstr>Maximal average shift algorithm</vt:lpstr>
      <vt:lpstr>Preprocessing</vt:lpstr>
      <vt:lpstr>Preprocessing</vt:lpstr>
      <vt:lpstr>Maximal average shift algorithm</vt:lpstr>
      <vt:lpstr>Maximal average shift algorithm</vt:lpstr>
      <vt:lpstr>Experimental results of MAS</vt:lpstr>
      <vt:lpstr>Experimental results of MAS</vt:lpstr>
      <vt:lpstr>Experimental results of MAS</vt:lpstr>
      <vt:lpstr>Extending the MAS algorithm</vt:lpstr>
      <vt:lpstr>Tuned MAS algorithm</vt:lpstr>
      <vt:lpstr>Tuned MAS algorithm</vt:lpstr>
      <vt:lpstr>q-gram MAS algorithm</vt:lpstr>
      <vt:lpstr>q-gram MAS algorithm</vt:lpstr>
      <vt:lpstr>Experimental results</vt:lpstr>
      <vt:lpstr>Experimental results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Substring Inclusion Constraint Longest Common Subsequence Problem Can Be Solved in Quadratic Time</dc:title>
  <dc:creator>Wen Wen Liao</dc:creator>
  <cp:lastModifiedBy>Wen Wen Liao</cp:lastModifiedBy>
  <cp:revision>281</cp:revision>
  <dcterms:created xsi:type="dcterms:W3CDTF">2022-10-11T15:33:00Z</dcterms:created>
  <dcterms:modified xsi:type="dcterms:W3CDTF">2024-01-30T08:20:04Z</dcterms:modified>
</cp:coreProperties>
</file>