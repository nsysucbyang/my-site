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2"/>
  </p:notesMasterIdLst>
  <p:sldIdLst>
    <p:sldId id="256" r:id="rId2"/>
    <p:sldId id="257" r:id="rId3"/>
    <p:sldId id="335" r:id="rId4"/>
    <p:sldId id="363" r:id="rId5"/>
    <p:sldId id="364" r:id="rId6"/>
    <p:sldId id="258" r:id="rId7"/>
    <p:sldId id="369" r:id="rId8"/>
    <p:sldId id="370" r:id="rId9"/>
    <p:sldId id="371" r:id="rId10"/>
    <p:sldId id="372" r:id="rId11"/>
    <p:sldId id="347" r:id="rId12"/>
    <p:sldId id="374" r:id="rId13"/>
    <p:sldId id="373" r:id="rId14"/>
    <p:sldId id="378" r:id="rId15"/>
    <p:sldId id="377" r:id="rId16"/>
    <p:sldId id="375" r:id="rId17"/>
    <p:sldId id="379" r:id="rId18"/>
    <p:sldId id="380" r:id="rId19"/>
    <p:sldId id="381" r:id="rId20"/>
    <p:sldId id="295"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00FF00"/>
    <a:srgbClr val="F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226" y="-11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69537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73051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67178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82173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99461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22062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863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66420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55344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8143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0881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80687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94127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38054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935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31229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e56bd8716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1e56bd8716d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TW"/>
              <a:t>Given a string S of length n, an integer p ∈ [1..n] is a period of S if S[i] = S[i + p] for all i ∈ [1..n − p].</a:t>
            </a:r>
            <a:endParaRPr/>
          </a:p>
          <a:p>
            <a:pPr marL="0" lvl="0" indent="0" algn="l" rtl="0">
              <a:lnSpc>
                <a:spcPct val="100000"/>
              </a:lnSpc>
              <a:spcBef>
                <a:spcPts val="0"/>
              </a:spcBef>
              <a:spcAft>
                <a:spcPts val="0"/>
              </a:spcAft>
              <a:buSzPts val="1100"/>
              <a:buNone/>
            </a:pPr>
            <a:r>
              <a:rPr lang="zh-TW"/>
              <a:t>S[|S| − p + 1] = c</a:t>
            </a:r>
            <a:endParaRPr/>
          </a:p>
        </p:txBody>
      </p:sp>
    </p:spTree>
    <p:extLst>
      <p:ext uri="{BB962C8B-B14F-4D97-AF65-F5344CB8AC3E}">
        <p14:creationId xmlns:p14="http://schemas.microsoft.com/office/powerpoint/2010/main" val="1518939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778"/>
              <a:buNone/>
            </a:pPr>
            <a:r>
              <a:rPr lang="en-US" altLang="zh-TW" sz="4000" dirty="0">
                <a:latin typeface="Times New Roman"/>
                <a:ea typeface="Times New Roman"/>
                <a:cs typeface="Times New Roman"/>
                <a:sym typeface="Times New Roman"/>
              </a:rPr>
              <a:t>Fiboquadratic numbers and</a:t>
            </a:r>
            <a:r>
              <a:rPr lang="zh-TW" altLang="en-US" sz="4000" dirty="0">
                <a:latin typeface="Times New Roman"/>
                <a:ea typeface="Times New Roman"/>
                <a:cs typeface="Times New Roman"/>
                <a:sym typeface="Times New Roman"/>
              </a:rPr>
              <a:t> </a:t>
            </a:r>
            <a:r>
              <a:rPr lang="en-US" altLang="zh-TW" sz="4000" dirty="0" err="1">
                <a:latin typeface="Times New Roman"/>
                <a:ea typeface="Times New Roman"/>
                <a:cs typeface="Times New Roman"/>
                <a:sym typeface="Times New Roman"/>
              </a:rPr>
              <a:t>Rithmomachia</a:t>
            </a:r>
            <a:endParaRPr lang="en-US" sz="4000" dirty="0">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100"/>
              <a:buNone/>
            </a:pPr>
            <a:r>
              <a:rPr lang="de-DE" altLang="zh-TW" sz="1800" dirty="0">
                <a:solidFill>
                  <a:schemeClr val="dk1"/>
                </a:solidFill>
                <a:latin typeface="Times New Roman"/>
                <a:ea typeface="Times New Roman"/>
                <a:cs typeface="Times New Roman"/>
                <a:sym typeface="Times New Roman"/>
              </a:rPr>
              <a:t>Tomás Guardia, Douglas Jiménez</a:t>
            </a:r>
            <a:r>
              <a:rPr lang="en-US" altLang="zh-TW" sz="1800" dirty="0">
                <a:solidFill>
                  <a:schemeClr val="dk1"/>
                </a:solidFill>
                <a:latin typeface="Times New Roman"/>
                <a:ea typeface="Times New Roman"/>
                <a:cs typeface="Times New Roman"/>
                <a:sym typeface="Times New Roman"/>
              </a:rPr>
              <a:t>,</a:t>
            </a:r>
            <a:r>
              <a:rPr lang="de-DE" altLang="zh-TW" sz="1800" dirty="0">
                <a:solidFill>
                  <a:schemeClr val="dk1"/>
                </a:solidFill>
                <a:latin typeface="Times New Roman"/>
                <a:ea typeface="Times New Roman"/>
                <a:cs typeface="Times New Roman"/>
                <a:sym typeface="Times New Roman"/>
              </a:rPr>
              <a:t> Alexander McCurdy </a:t>
            </a:r>
          </a:p>
          <a:p>
            <a:pPr marL="0" lvl="0" indent="0" algn="ctr" rtl="0">
              <a:lnSpc>
                <a:spcPct val="100000"/>
              </a:lnSpc>
              <a:spcBef>
                <a:spcPts val="0"/>
              </a:spcBef>
              <a:spcAft>
                <a:spcPts val="0"/>
              </a:spcAft>
              <a:buSzPts val="1100"/>
              <a:buNone/>
            </a:pPr>
            <a:r>
              <a:rPr lang="en-US" altLang="zh-TW" sz="1800" dirty="0">
                <a:solidFill>
                  <a:schemeClr val="dk1"/>
                </a:solidFill>
                <a:latin typeface="Times New Roman"/>
                <a:ea typeface="Times New Roman"/>
                <a:cs typeface="Times New Roman"/>
                <a:sym typeface="Times New Roman"/>
              </a:rPr>
              <a:t>Recreational Mathematics Magazine, (2024), 11(18), 51-64.</a:t>
            </a:r>
            <a:endParaRPr lang="pl-PL" sz="1800" dirty="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Presenter: </a:t>
            </a:r>
            <a:r>
              <a:rPr lang="zh-TW" sz="2400" dirty="0">
                <a:latin typeface="Times New Roman"/>
                <a:ea typeface="Times New Roman"/>
                <a:cs typeface="Times New Roman"/>
                <a:sym typeface="Times New Roman"/>
              </a:rPr>
              <a:t>Hsin-Chang Yu</a:t>
            </a:r>
            <a:endParaRPr sz="2400" b="0" i="0" u="none" strike="noStrike" cap="none" dirty="0">
              <a:solidFill>
                <a:srgbClr val="000000"/>
              </a:solidFill>
              <a:latin typeface="Times New Roman"/>
              <a:ea typeface="Times New Roman"/>
              <a:cs typeface="Times New Roman"/>
              <a:sym typeface="Times New Roman"/>
            </a:endParaRPr>
          </a:p>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Date: </a:t>
            </a:r>
            <a:r>
              <a:rPr lang="en-US" altLang="zh-TW" sz="2400" b="0" i="0" u="none" strike="noStrike" cap="none" dirty="0">
                <a:solidFill>
                  <a:srgbClr val="000000"/>
                </a:solidFill>
                <a:latin typeface="Times New Roman"/>
                <a:ea typeface="Times New Roman"/>
                <a:cs typeface="Times New Roman"/>
                <a:sym typeface="Times New Roman"/>
              </a:rPr>
              <a:t>May</a:t>
            </a:r>
            <a:r>
              <a:rPr lang="zh-TW" sz="2400" b="0" i="0" u="none" strike="noStrike" cap="none" dirty="0">
                <a:solidFill>
                  <a:srgbClr val="000000"/>
                </a:solidFill>
                <a:latin typeface="Times New Roman"/>
                <a:ea typeface="Times New Roman"/>
                <a:cs typeface="Times New Roman"/>
                <a:sym typeface="Times New Roman"/>
              </a:rPr>
              <a:t> </a:t>
            </a:r>
            <a:r>
              <a:rPr lang="en-US" altLang="zh-TW" sz="2400" dirty="0">
                <a:latin typeface="Times New Roman"/>
                <a:ea typeface="Times New Roman"/>
                <a:cs typeface="Times New Roman"/>
                <a:sym typeface="Times New Roman"/>
              </a:rPr>
              <a:t>2</a:t>
            </a:r>
            <a:r>
              <a:rPr lang="en-US" altLang="zh-TW" sz="2400" b="0" i="0" u="none" strike="noStrike" cap="none" dirty="0">
                <a:solidFill>
                  <a:srgbClr val="000000"/>
                </a:solidFill>
                <a:latin typeface="Times New Roman"/>
                <a:ea typeface="Times New Roman"/>
                <a:cs typeface="Times New Roman"/>
                <a:sym typeface="Times New Roman"/>
              </a:rPr>
              <a:t>0</a:t>
            </a:r>
            <a:r>
              <a:rPr lang="zh-TW" sz="2400" b="0" i="0" u="none" strike="noStrike" cap="none" dirty="0">
                <a:solidFill>
                  <a:srgbClr val="000000"/>
                </a:solidFill>
                <a:latin typeface="Times New Roman"/>
                <a:ea typeface="Times New Roman"/>
                <a:cs typeface="Times New Roman"/>
                <a:sym typeface="Times New Roman"/>
              </a:rPr>
              <a:t>, 202</a:t>
            </a:r>
            <a:r>
              <a:rPr lang="en-US" altLang="zh-TW" sz="2400" b="0" i="0" u="none" strike="noStrike" cap="none" dirty="0">
                <a:solidFill>
                  <a:srgbClr val="000000"/>
                </a:solidFill>
                <a:latin typeface="Times New Roman"/>
                <a:ea typeface="Times New Roman"/>
                <a:cs typeface="Times New Roman"/>
                <a:sym typeface="Times New Roman"/>
              </a:rPr>
              <a:t>4</a:t>
            </a:r>
            <a:endParaRPr sz="2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This paper shows our discovery of the fiboquadratic numbers, quadratic Fibonacci numbers in </a:t>
            </a:r>
            <a:r>
              <a:rPr lang="en-US" altLang="zh-TW" sz="2400" dirty="0" err="1">
                <a:solidFill>
                  <a:schemeClr val="dk1"/>
                </a:solidFill>
                <a:latin typeface="Times New Roman"/>
                <a:ea typeface="Times New Roman"/>
                <a:cs typeface="Times New Roman"/>
                <a:sym typeface="Times New Roman"/>
              </a:rPr>
              <a:t>rithmomachia</a:t>
            </a:r>
            <a:r>
              <a:rPr lang="en-US" altLang="zh-TW" sz="2400" dirty="0">
                <a:solidFill>
                  <a:schemeClr val="dk1"/>
                </a:solidFill>
                <a:latin typeface="Times New Roman"/>
                <a:ea typeface="Times New Roman"/>
                <a:cs typeface="Times New Roman"/>
                <a:sym typeface="Times New Roman"/>
              </a:rPr>
              <a:t>. This board game consists in performing mathematical operations to attack an opponent through geometric numbered pieces.</a:t>
            </a:r>
            <a:r>
              <a:rPr lang="zh-TW" altLang="en-US" sz="2400" dirty="0">
                <a:solidFill>
                  <a:schemeClr val="dk1"/>
                </a:solidFill>
                <a:latin typeface="Times New Roman"/>
                <a:ea typeface="Times New Roman"/>
                <a:cs typeface="Times New Roman"/>
                <a:sym typeface="Times New Roman"/>
              </a:rPr>
              <a:t> </a:t>
            </a:r>
            <a:r>
              <a:rPr lang="en-US" altLang="zh-TW" sz="2400" dirty="0">
                <a:solidFill>
                  <a:schemeClr val="dk1"/>
                </a:solidFill>
                <a:latin typeface="Times New Roman"/>
                <a:ea typeface="Times New Roman"/>
                <a:cs typeface="Times New Roman"/>
                <a:sym typeface="Times New Roman"/>
              </a:rPr>
              <a:t>We will show that the numbers on the board pieces are the first terms of six sequences that we will define through a recursive pattern of </a:t>
            </a:r>
            <a:r>
              <a:rPr lang="en-US" altLang="zh-TW" sz="2400" dirty="0" err="1">
                <a:solidFill>
                  <a:schemeClr val="dk1"/>
                </a:solidFill>
                <a:latin typeface="Times New Roman"/>
                <a:ea typeface="Times New Roman"/>
                <a:cs typeface="Times New Roman"/>
                <a:sym typeface="Times New Roman"/>
              </a:rPr>
              <a:t>superpartients</a:t>
            </a:r>
            <a:r>
              <a:rPr lang="en-US" altLang="zh-TW" sz="2400" dirty="0">
                <a:solidFill>
                  <a:schemeClr val="dk1"/>
                </a:solidFill>
                <a:latin typeface="Times New Roman"/>
                <a:ea typeface="Times New Roman"/>
                <a:cs typeface="Times New Roman"/>
                <a:sym typeface="Times New Roman"/>
              </a:rPr>
              <a:t>.</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699" y="1152475"/>
            <a:ext cx="8590253"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We then prove that this extension is the solution of a recurrence relation with initial conditions, and therefore, is unique. The fiboquadratic numbers we introduce in this work are not limited to the context of this board. In general, we can generate any fiboquadratic sequence with arbitrary initial conditions.</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3</a:t>
            </a:fld>
            <a:endParaRPr/>
          </a:p>
        </p:txBody>
      </p:sp>
    </p:spTree>
    <p:extLst>
      <p:ext uri="{BB962C8B-B14F-4D97-AF65-F5344CB8AC3E}">
        <p14:creationId xmlns:p14="http://schemas.microsoft.com/office/powerpoint/2010/main" val="1285262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err="1">
                <a:latin typeface="Times New Roman"/>
                <a:cs typeface="Times New Roman"/>
                <a:sym typeface="Times New Roman"/>
              </a:rPr>
              <a:t>Rithmomachia</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indent="0">
              <a:spcAft>
                <a:spcPts val="1200"/>
              </a:spcAft>
              <a:buSzPts val="1100"/>
              <a:buNone/>
            </a:pPr>
            <a:r>
              <a:rPr lang="en-US" altLang="zh-TW" sz="2400" b="0" i="0" dirty="0">
                <a:solidFill>
                  <a:srgbClr val="202122"/>
                </a:solidFill>
                <a:effectLst/>
                <a:latin typeface="Times New Roman" panose="02020603050405020304" pitchFamily="18" charset="0"/>
                <a:cs typeface="Times New Roman" panose="02020603050405020304" pitchFamily="18" charset="0"/>
              </a:rPr>
              <a:t>  It was</a:t>
            </a:r>
            <a:r>
              <a:rPr lang="zh-TW" altLang="en-US" sz="2400" b="0" i="0" dirty="0">
                <a:solidFill>
                  <a:srgbClr val="202122"/>
                </a:solidFill>
                <a:effectLst/>
                <a:latin typeface="Times New Roman" panose="02020603050405020304" pitchFamily="18" charset="0"/>
                <a:cs typeface="Times New Roman" panose="02020603050405020304" pitchFamily="18" charset="0"/>
              </a:rPr>
              <a:t> </a:t>
            </a:r>
            <a:r>
              <a:rPr lang="en-US" altLang="zh-TW" sz="2400" b="0" i="0" dirty="0">
                <a:solidFill>
                  <a:srgbClr val="202122"/>
                </a:solidFill>
                <a:effectLst/>
                <a:latin typeface="Times New Roman" panose="02020603050405020304" pitchFamily="18" charset="0"/>
                <a:cs typeface="Times New Roman" panose="02020603050405020304" pitchFamily="18" charset="0"/>
              </a:rPr>
              <a:t>created in the late 10th or early 11th century.</a:t>
            </a:r>
            <a:endPar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4</a:t>
            </a:fld>
            <a:endParaRPr/>
          </a:p>
        </p:txBody>
      </p:sp>
      <p:pic>
        <p:nvPicPr>
          <p:cNvPr id="1032" name="Picture 8" descr="starting position">
            <a:extLst>
              <a:ext uri="{FF2B5EF4-FFF2-40B4-BE49-F238E27FC236}">
                <a16:creationId xmlns:a16="http://schemas.microsoft.com/office/drawing/2014/main" id="{F32FA963-252B-407D-8419-076DF669D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206" y="1786323"/>
            <a:ext cx="5589494" cy="3060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0063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cs typeface="Times New Roman"/>
                <a:sym typeface="Times New Roman"/>
              </a:rPr>
              <a:t>Movement</a:t>
            </a:r>
            <a:endParaRPr lang="en-US"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indent="0">
              <a:spcAft>
                <a:spcPts val="1200"/>
              </a:spcAft>
              <a:buSzPts val="1100"/>
              <a:buNone/>
            </a:pP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5</a:t>
            </a:fld>
            <a:endParaRPr/>
          </a:p>
        </p:txBody>
      </p:sp>
      <p:pic>
        <p:nvPicPr>
          <p:cNvPr id="1026" name="Picture 2" descr="round movemen">
            <a:extLst>
              <a:ext uri="{FF2B5EF4-FFF2-40B4-BE49-F238E27FC236}">
                <a16:creationId xmlns:a16="http://schemas.microsoft.com/office/drawing/2014/main" id="{6D1C2BE0-6AE1-4B9E-AA96-7721DEBD1E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00" y="2245379"/>
            <a:ext cx="1819275" cy="18764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riangle movement">
            <a:extLst>
              <a:ext uri="{FF2B5EF4-FFF2-40B4-BE49-F238E27FC236}">
                <a16:creationId xmlns:a16="http://schemas.microsoft.com/office/drawing/2014/main" id="{4D915C11-90CE-4487-AB68-8244C209C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4259" y="1407179"/>
            <a:ext cx="2638425" cy="27146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quare movement">
            <a:extLst>
              <a:ext uri="{FF2B5EF4-FFF2-40B4-BE49-F238E27FC236}">
                <a16:creationId xmlns:a16="http://schemas.microsoft.com/office/drawing/2014/main" id="{554118CF-8027-4B43-A5D1-D6159317B5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90604" y="578504"/>
            <a:ext cx="3533775"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311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6</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Movement</a:t>
            </a:r>
            <a:endParaRPr lang="zh-TW" altLang="en-US" dirty="0"/>
          </a:p>
        </p:txBody>
      </p:sp>
      <p:pic>
        <p:nvPicPr>
          <p:cNvPr id="2050" name="Picture 2" descr="pyramid movement">
            <a:extLst>
              <a:ext uri="{FF2B5EF4-FFF2-40B4-BE49-F238E27FC236}">
                <a16:creationId xmlns:a16="http://schemas.microsoft.com/office/drawing/2014/main" id="{D74C2CB4-753F-4FAF-917B-332441FA86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69309"/>
            <a:ext cx="3505200" cy="3352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cs typeface="Times New Roman"/>
                <a:sym typeface="Times New Roman"/>
              </a:rPr>
              <a:t>Capturing</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342900">
              <a:spcAft>
                <a:spcPts val="1200"/>
              </a:spcAft>
              <a:buSzPts val="1100"/>
            </a:pPr>
            <a:r>
              <a:rPr lang="en-US" sz="2400" dirty="0">
                <a:solidFill>
                  <a:schemeClr val="dk1"/>
                </a:solidFill>
                <a:latin typeface="Times New Roman"/>
                <a:ea typeface="Times New Roman"/>
                <a:cs typeface="Times New Roman"/>
                <a:sym typeface="Times New Roman"/>
              </a:rPr>
              <a:t>Capture by Siege</a:t>
            </a:r>
          </a:p>
          <a:p>
            <a:pPr marL="342900">
              <a:spcAft>
                <a:spcPts val="1200"/>
              </a:spcAft>
              <a:buSzPts val="1100"/>
            </a:pPr>
            <a:endParaRPr lang="en-US" sz="2400" dirty="0">
              <a:solidFill>
                <a:schemeClr val="dk1"/>
              </a:solidFill>
              <a:latin typeface="Times New Roman"/>
              <a:ea typeface="Times New Roman"/>
              <a:cs typeface="Times New Roman"/>
              <a:sym typeface="Times New Roman"/>
            </a:endParaRPr>
          </a:p>
          <a:p>
            <a:pPr marL="342900">
              <a:spcAft>
                <a:spcPts val="1200"/>
              </a:spcAft>
              <a:buSzPts val="1100"/>
            </a:pPr>
            <a:endParaRPr lang="en-US" sz="2400" dirty="0">
              <a:solidFill>
                <a:schemeClr val="dk1"/>
              </a:solidFill>
              <a:latin typeface="Times New Roman"/>
              <a:ea typeface="Times New Roman"/>
              <a:cs typeface="Times New Roman"/>
              <a:sym typeface="Times New Roman"/>
            </a:endParaRPr>
          </a:p>
          <a:p>
            <a:pPr marL="342900">
              <a:spcAft>
                <a:spcPts val="1200"/>
              </a:spcAft>
              <a:buSzPts val="1100"/>
            </a:pPr>
            <a:r>
              <a:rPr lang="en-US" sz="2400" dirty="0">
                <a:solidFill>
                  <a:schemeClr val="dk1"/>
                </a:solidFill>
                <a:latin typeface="Times New Roman"/>
                <a:ea typeface="Times New Roman"/>
                <a:cs typeface="Times New Roman"/>
                <a:sym typeface="Times New Roman"/>
              </a:rPr>
              <a:t>Capture by Equality</a:t>
            </a:r>
          </a:p>
          <a:p>
            <a:pPr marL="342900">
              <a:spcAft>
                <a:spcPts val="1200"/>
              </a:spcAft>
              <a:buSzPts val="1100"/>
            </a:pP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7</a:t>
            </a:fld>
            <a:endParaRPr/>
          </a:p>
        </p:txBody>
      </p:sp>
      <p:pic>
        <p:nvPicPr>
          <p:cNvPr id="5" name="Picture 2" descr="capture by siege">
            <a:extLst>
              <a:ext uri="{FF2B5EF4-FFF2-40B4-BE49-F238E27FC236}">
                <a16:creationId xmlns:a16="http://schemas.microsoft.com/office/drawing/2014/main" id="{CC97BF05-BAE8-446F-9815-7D58AEE9E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1956" y="731375"/>
            <a:ext cx="139065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apture by siege">
            <a:extLst>
              <a:ext uri="{FF2B5EF4-FFF2-40B4-BE49-F238E27FC236}">
                <a16:creationId xmlns:a16="http://schemas.microsoft.com/office/drawing/2014/main" id="{B46CC63B-7C72-4964-9676-BCD41F893D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0289" y="821862"/>
            <a:ext cx="1524000" cy="122872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capture by&#10;equality">
            <a:extLst>
              <a:ext uri="{FF2B5EF4-FFF2-40B4-BE49-F238E27FC236}">
                <a16:creationId xmlns:a16="http://schemas.microsoft.com/office/drawing/2014/main" id="{B5359DF5-A5FD-4D6A-9886-C8D4DD1543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0289" y="2687234"/>
            <a:ext cx="1466850" cy="14001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apure by&#10;equality">
            <a:extLst>
              <a:ext uri="{FF2B5EF4-FFF2-40B4-BE49-F238E27FC236}">
                <a16:creationId xmlns:a16="http://schemas.microsoft.com/office/drawing/2014/main" id="{109A5BD1-029E-4F92-8FA1-073AD9BCDE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4343" y="2687234"/>
            <a:ext cx="1285875" cy="128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240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cs typeface="Times New Roman"/>
                <a:sym typeface="Times New Roman"/>
              </a:rPr>
              <a:t>Capturing</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342900">
              <a:spcAft>
                <a:spcPts val="1200"/>
              </a:spcAft>
              <a:buSzPts val="1100"/>
            </a:pPr>
            <a:r>
              <a:rPr lang="en-US" sz="2400" dirty="0">
                <a:solidFill>
                  <a:schemeClr val="dk1"/>
                </a:solidFill>
                <a:latin typeface="Times New Roman"/>
                <a:ea typeface="Times New Roman"/>
                <a:cs typeface="Times New Roman"/>
                <a:sym typeface="Times New Roman"/>
              </a:rPr>
              <a:t>Capture by Eruption</a:t>
            </a:r>
          </a:p>
          <a:p>
            <a:pPr marL="342900">
              <a:spcAft>
                <a:spcPts val="1200"/>
              </a:spcAft>
              <a:buSzPts val="1100"/>
            </a:pPr>
            <a:endParaRPr lang="en-US" sz="2400" dirty="0">
              <a:solidFill>
                <a:schemeClr val="dk1"/>
              </a:solidFill>
              <a:latin typeface="Times New Roman"/>
              <a:ea typeface="Times New Roman"/>
              <a:cs typeface="Times New Roman"/>
              <a:sym typeface="Times New Roman"/>
            </a:endParaRPr>
          </a:p>
          <a:p>
            <a:pPr marL="342900">
              <a:spcAft>
                <a:spcPts val="1200"/>
              </a:spcAft>
              <a:buSzPts val="1100"/>
            </a:pPr>
            <a:endParaRPr lang="en-US" sz="2400" dirty="0">
              <a:solidFill>
                <a:schemeClr val="dk1"/>
              </a:solidFill>
              <a:latin typeface="Times New Roman"/>
              <a:ea typeface="Times New Roman"/>
              <a:cs typeface="Times New Roman"/>
              <a:sym typeface="Times New Roman"/>
            </a:endParaRPr>
          </a:p>
          <a:p>
            <a:pPr marL="342900">
              <a:spcAft>
                <a:spcPts val="1200"/>
              </a:spcAft>
              <a:buSzPts val="1100"/>
            </a:pPr>
            <a:r>
              <a:rPr lang="en-US" sz="2400" dirty="0">
                <a:solidFill>
                  <a:schemeClr val="dk1"/>
                </a:solidFill>
                <a:latin typeface="Times New Roman"/>
                <a:ea typeface="Times New Roman"/>
                <a:cs typeface="Times New Roman"/>
                <a:sym typeface="Times New Roman"/>
              </a:rPr>
              <a:t>Capture by Ambush</a:t>
            </a:r>
          </a:p>
          <a:p>
            <a:pPr marL="342900">
              <a:spcAft>
                <a:spcPts val="1200"/>
              </a:spcAft>
              <a:buSzPts val="1100"/>
            </a:pP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8</a:t>
            </a:fld>
            <a:endParaRPr/>
          </a:p>
        </p:txBody>
      </p:sp>
      <p:pic>
        <p:nvPicPr>
          <p:cNvPr id="7170" name="Picture 2" descr="capture by&#10;eruption">
            <a:extLst>
              <a:ext uri="{FF2B5EF4-FFF2-40B4-BE49-F238E27FC236}">
                <a16:creationId xmlns:a16="http://schemas.microsoft.com/office/drawing/2014/main" id="{695F04C6-204A-4E0C-8A72-4368E96814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7741" y="445025"/>
            <a:ext cx="1209675" cy="80962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apture by&#10;eruptin">
            <a:extLst>
              <a:ext uri="{FF2B5EF4-FFF2-40B4-BE49-F238E27FC236}">
                <a16:creationId xmlns:a16="http://schemas.microsoft.com/office/drawing/2014/main" id="{E82081B4-4408-424C-BF5C-ED427E3656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6846" y="1373350"/>
            <a:ext cx="4486275" cy="9525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capture ambush">
            <a:extLst>
              <a:ext uri="{FF2B5EF4-FFF2-40B4-BE49-F238E27FC236}">
                <a16:creationId xmlns:a16="http://schemas.microsoft.com/office/drawing/2014/main" id="{29A0F8F6-A3E9-4EFF-BF6D-D4B8D778DB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6846" y="2817651"/>
            <a:ext cx="2105025" cy="1171575"/>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capture ambush">
            <a:extLst>
              <a:ext uri="{FF2B5EF4-FFF2-40B4-BE49-F238E27FC236}">
                <a16:creationId xmlns:a16="http://schemas.microsoft.com/office/drawing/2014/main" id="{87174507-522E-48FE-A440-04FBF3FFD6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6730" y="2598575"/>
            <a:ext cx="1428750"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5251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cs typeface="Times New Roman"/>
                <a:sym typeface="Times New Roman"/>
              </a:rPr>
              <a:t>Glorious victories</a:t>
            </a:r>
            <a:endParaRPr lang="en-US"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algn="l">
              <a:buFont typeface="Arial" panose="020B0604020202020204" pitchFamily="34" charset="0"/>
              <a:buChar char="•"/>
            </a:pPr>
            <a:r>
              <a:rPr lang="en-US" altLang="zh-TW" b="0" i="0" dirty="0">
                <a:solidFill>
                  <a:srgbClr val="000000"/>
                </a:solidFill>
                <a:effectLst/>
                <a:latin typeface="Times New Roman" panose="02020603050405020304" pitchFamily="18" charset="0"/>
              </a:rPr>
              <a:t>all three pieces (A,B,C) are on the opponent's side of the board</a:t>
            </a:r>
          </a:p>
          <a:p>
            <a:pPr algn="l">
              <a:buFont typeface="Arial" panose="020B0604020202020204" pitchFamily="34" charset="0"/>
              <a:buChar char="•"/>
            </a:pPr>
            <a:r>
              <a:rPr lang="en-US" altLang="zh-TW" b="0" i="0" dirty="0">
                <a:solidFill>
                  <a:srgbClr val="000000"/>
                </a:solidFill>
                <a:effectLst/>
                <a:latin typeface="Times New Roman" panose="02020603050405020304" pitchFamily="18" charset="0"/>
              </a:rPr>
              <a:t>they form an unobstructed evenly spaced horizontal or vertical line or a triangle.</a:t>
            </a:r>
          </a:p>
          <a:p>
            <a:pPr algn="l">
              <a:buFont typeface="Arial" panose="020B0604020202020204" pitchFamily="34" charset="0"/>
              <a:buChar char="•"/>
            </a:pPr>
            <a:r>
              <a:rPr lang="en-US" altLang="zh-TW" b="0" i="0" dirty="0">
                <a:solidFill>
                  <a:srgbClr val="000000"/>
                </a:solidFill>
                <a:effectLst/>
                <a:latin typeface="Times New Roman" panose="02020603050405020304" pitchFamily="18" charset="0"/>
              </a:rPr>
              <a:t>the values of the pieces form an arithmetic, geometric, or harmonic progression</a:t>
            </a:r>
          </a:p>
          <a:p>
            <a:pPr marL="742950" lvl="1" indent="-285750" algn="l">
              <a:buFont typeface="Arial" panose="020B0604020202020204" pitchFamily="34" charset="0"/>
              <a:buChar char="•"/>
            </a:pPr>
            <a:r>
              <a:rPr lang="en-US" altLang="zh-TW" b="0" i="0" dirty="0">
                <a:solidFill>
                  <a:srgbClr val="000000"/>
                </a:solidFill>
                <a:effectLst/>
                <a:latin typeface="Times New Roman" panose="02020603050405020304" pitchFamily="18" charset="0"/>
              </a:rPr>
              <a:t>arithmetic progression, (B-A) = (C-B)   examples:  2,4,6     9,81,153</a:t>
            </a:r>
          </a:p>
          <a:p>
            <a:pPr marL="742950" lvl="1" indent="-285750" algn="l">
              <a:buFont typeface="Arial" panose="020B0604020202020204" pitchFamily="34" charset="0"/>
              <a:buChar char="•"/>
            </a:pPr>
            <a:r>
              <a:rPr lang="en-US" altLang="zh-TW" b="0" i="0" dirty="0">
                <a:solidFill>
                  <a:srgbClr val="000000"/>
                </a:solidFill>
                <a:effectLst/>
                <a:latin typeface="Times New Roman" panose="02020603050405020304" pitchFamily="18" charset="0"/>
              </a:rPr>
              <a:t>geometric progression, (A*C) = (B*B)  examples:  2,4,8    20,30,45</a:t>
            </a:r>
          </a:p>
          <a:p>
            <a:pPr marL="742950" lvl="1" indent="-285750" algn="l">
              <a:buFont typeface="Arial" panose="020B0604020202020204" pitchFamily="34" charset="0"/>
              <a:buChar char="•"/>
            </a:pPr>
            <a:r>
              <a:rPr lang="en-US" altLang="zh-TW" b="0" i="0" dirty="0">
                <a:solidFill>
                  <a:srgbClr val="000000"/>
                </a:solidFill>
                <a:effectLst/>
                <a:latin typeface="Times New Roman" panose="02020603050405020304" pitchFamily="18" charset="0"/>
              </a:rPr>
              <a:t>harmonic progression, ((A+C)*B) = (A*C*2)   examples: 2,3,6   30,45,90</a:t>
            </a: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9</a:t>
            </a:fld>
            <a:endParaRPr/>
          </a:p>
        </p:txBody>
      </p:sp>
      <p:pic>
        <p:nvPicPr>
          <p:cNvPr id="11266" name="Picture 2" descr="win by arithmetic&#10;progression">
            <a:extLst>
              <a:ext uri="{FF2B5EF4-FFF2-40B4-BE49-F238E27FC236}">
                <a16:creationId xmlns:a16="http://schemas.microsoft.com/office/drawing/2014/main" id="{FE85720A-E3D6-41C7-B5B9-1E46BD044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69" y="2983592"/>
            <a:ext cx="3495675" cy="1876425"/>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win by geometric&#10;progression">
            <a:extLst>
              <a:ext uri="{FF2B5EF4-FFF2-40B4-BE49-F238E27FC236}">
                <a16:creationId xmlns:a16="http://schemas.microsoft.com/office/drawing/2014/main" id="{BFB35226-DFC7-4651-A8BB-05E33FB4DB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9583" y="3026454"/>
            <a:ext cx="3952875"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3362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cs typeface="Times New Roman"/>
                <a:sym typeface="Times New Roman"/>
              </a:rPr>
              <a:t>Glorious victories</a:t>
            </a:r>
            <a:endParaRPr lang="en-US"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742950" lvl="1" indent="-285750" algn="l">
              <a:buFont typeface="Arial" panose="020B0604020202020204" pitchFamily="34" charset="0"/>
              <a:buChar char="•"/>
            </a:pPr>
            <a:r>
              <a:rPr lang="en-US" altLang="zh-TW" b="0" i="0" dirty="0">
                <a:solidFill>
                  <a:srgbClr val="000000"/>
                </a:solidFill>
                <a:effectLst/>
                <a:latin typeface="Times New Roman" panose="02020603050405020304" pitchFamily="18" charset="0"/>
              </a:rPr>
              <a:t>arithmetic progression, (B-A) = (C-B)   examples:  2,4,6     9,81,153</a:t>
            </a:r>
          </a:p>
          <a:p>
            <a:pPr marL="742950" lvl="1" indent="-285750" algn="l">
              <a:buFont typeface="Arial" panose="020B0604020202020204" pitchFamily="34" charset="0"/>
              <a:buChar char="•"/>
            </a:pPr>
            <a:r>
              <a:rPr lang="en-US" altLang="zh-TW" b="0" i="0" dirty="0">
                <a:solidFill>
                  <a:srgbClr val="000000"/>
                </a:solidFill>
                <a:effectLst/>
                <a:latin typeface="Times New Roman" panose="02020603050405020304" pitchFamily="18" charset="0"/>
              </a:rPr>
              <a:t>geometric progression, (A*C) = (B*B)  examples:  2,4,8    20,30,45</a:t>
            </a:r>
          </a:p>
          <a:p>
            <a:pPr marL="742950" lvl="1" indent="-285750" algn="l">
              <a:buFont typeface="Arial" panose="020B0604020202020204" pitchFamily="34" charset="0"/>
              <a:buChar char="•"/>
            </a:pPr>
            <a:r>
              <a:rPr lang="en-US" altLang="zh-TW" b="0" i="0" dirty="0">
                <a:solidFill>
                  <a:srgbClr val="000000"/>
                </a:solidFill>
                <a:effectLst/>
                <a:latin typeface="Times New Roman" panose="02020603050405020304" pitchFamily="18" charset="0"/>
              </a:rPr>
              <a:t>harmonic progression, ((A+C)*B) = (A*C*2)   examples: 2,3,6   30,45,90</a:t>
            </a: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10</a:t>
            </a:fld>
            <a:endParaRPr/>
          </a:p>
        </p:txBody>
      </p:sp>
      <p:pic>
        <p:nvPicPr>
          <p:cNvPr id="10244" name="Picture 4" descr="win by harmonic&#10;progression">
            <a:extLst>
              <a:ext uri="{FF2B5EF4-FFF2-40B4-BE49-F238E27FC236}">
                <a16:creationId xmlns:a16="http://schemas.microsoft.com/office/drawing/2014/main" id="{D39B2783-07BC-42B2-8983-1F239DAAF9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3110" y="2045915"/>
            <a:ext cx="3648075" cy="286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035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11</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Greek number theory</a:t>
            </a:r>
            <a:endParaRPr lang="zh-TW" altLang="en-US" dirty="0"/>
          </a:p>
        </p:txBody>
      </p:sp>
      <p:pic>
        <p:nvPicPr>
          <p:cNvPr id="5" name="圖片 4">
            <a:extLst>
              <a:ext uri="{FF2B5EF4-FFF2-40B4-BE49-F238E27FC236}">
                <a16:creationId xmlns:a16="http://schemas.microsoft.com/office/drawing/2014/main" id="{9A099F74-146F-4CB7-B32D-1F2BE785FD20}"/>
              </a:ext>
            </a:extLst>
          </p:cNvPr>
          <p:cNvPicPr>
            <a:picLocks noChangeAspect="1"/>
          </p:cNvPicPr>
          <p:nvPr/>
        </p:nvPicPr>
        <p:blipFill rotWithShape="1">
          <a:blip r:embed="rId3"/>
          <a:srcRect b="80263"/>
          <a:stretch/>
        </p:blipFill>
        <p:spPr>
          <a:xfrm>
            <a:off x="0" y="1191361"/>
            <a:ext cx="9144000" cy="462627"/>
          </a:xfrm>
          <a:prstGeom prst="rect">
            <a:avLst/>
          </a:prstGeom>
        </p:spPr>
      </p:pic>
      <p:pic>
        <p:nvPicPr>
          <p:cNvPr id="10" name="圖片 9">
            <a:extLst>
              <a:ext uri="{FF2B5EF4-FFF2-40B4-BE49-F238E27FC236}">
                <a16:creationId xmlns:a16="http://schemas.microsoft.com/office/drawing/2014/main" id="{0B014435-30C3-4928-B8A4-E85298194501}"/>
              </a:ext>
            </a:extLst>
          </p:cNvPr>
          <p:cNvPicPr>
            <a:picLocks noChangeAspect="1"/>
          </p:cNvPicPr>
          <p:nvPr/>
        </p:nvPicPr>
        <p:blipFill rotWithShape="1">
          <a:blip r:embed="rId3"/>
          <a:srcRect t="36861"/>
          <a:stretch/>
        </p:blipFill>
        <p:spPr>
          <a:xfrm>
            <a:off x="0" y="1782368"/>
            <a:ext cx="9144000" cy="1479942"/>
          </a:xfrm>
          <a:prstGeom prst="rect">
            <a:avLst/>
          </a:prstGeom>
        </p:spPr>
      </p:pic>
    </p:spTree>
    <p:extLst>
      <p:ext uri="{BB962C8B-B14F-4D97-AF65-F5344CB8AC3E}">
        <p14:creationId xmlns:p14="http://schemas.microsoft.com/office/powerpoint/2010/main" val="135576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12</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Greek number theory</a:t>
            </a:r>
            <a:endParaRPr lang="zh-TW" altLang="en-US" dirty="0"/>
          </a:p>
        </p:txBody>
      </p:sp>
      <p:pic>
        <p:nvPicPr>
          <p:cNvPr id="7" name="圖片 6">
            <a:extLst>
              <a:ext uri="{FF2B5EF4-FFF2-40B4-BE49-F238E27FC236}">
                <a16:creationId xmlns:a16="http://schemas.microsoft.com/office/drawing/2014/main" id="{2DAE9019-6946-4EE6-AE07-5E6DC6C80B19}"/>
              </a:ext>
            </a:extLst>
          </p:cNvPr>
          <p:cNvPicPr>
            <a:picLocks noChangeAspect="1"/>
          </p:cNvPicPr>
          <p:nvPr/>
        </p:nvPicPr>
        <p:blipFill>
          <a:blip r:embed="rId3"/>
          <a:stretch>
            <a:fillRect/>
          </a:stretch>
        </p:blipFill>
        <p:spPr>
          <a:xfrm>
            <a:off x="3119997" y="1017725"/>
            <a:ext cx="5095875" cy="3800475"/>
          </a:xfrm>
          <a:prstGeom prst="rect">
            <a:avLst/>
          </a:prstGeom>
        </p:spPr>
      </p:pic>
    </p:spTree>
    <p:extLst>
      <p:ext uri="{BB962C8B-B14F-4D97-AF65-F5344CB8AC3E}">
        <p14:creationId xmlns:p14="http://schemas.microsoft.com/office/powerpoint/2010/main" val="1354103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13</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Greek number theory</a:t>
            </a:r>
            <a:endParaRPr lang="zh-TW" altLang="en-US" dirty="0"/>
          </a:p>
        </p:txBody>
      </p:sp>
      <p:pic>
        <p:nvPicPr>
          <p:cNvPr id="3" name="圖片 2">
            <a:extLst>
              <a:ext uri="{FF2B5EF4-FFF2-40B4-BE49-F238E27FC236}">
                <a16:creationId xmlns:a16="http://schemas.microsoft.com/office/drawing/2014/main" id="{A8FF91A5-05AC-4437-BBB0-E2F3CAFC947C}"/>
              </a:ext>
            </a:extLst>
          </p:cNvPr>
          <p:cNvPicPr>
            <a:picLocks noChangeAspect="1"/>
          </p:cNvPicPr>
          <p:nvPr/>
        </p:nvPicPr>
        <p:blipFill>
          <a:blip r:embed="rId3"/>
          <a:stretch>
            <a:fillRect/>
          </a:stretch>
        </p:blipFill>
        <p:spPr>
          <a:xfrm>
            <a:off x="3245647" y="232761"/>
            <a:ext cx="5775511" cy="2912804"/>
          </a:xfrm>
          <a:prstGeom prst="rect">
            <a:avLst/>
          </a:prstGeom>
        </p:spPr>
      </p:pic>
      <p:pic>
        <p:nvPicPr>
          <p:cNvPr id="12" name="圖片 11">
            <a:extLst>
              <a:ext uri="{FF2B5EF4-FFF2-40B4-BE49-F238E27FC236}">
                <a16:creationId xmlns:a16="http://schemas.microsoft.com/office/drawing/2014/main" id="{A02A6F10-CA2B-46D7-B0FF-01D55C924909}"/>
              </a:ext>
            </a:extLst>
          </p:cNvPr>
          <p:cNvPicPr>
            <a:picLocks noChangeAspect="1"/>
          </p:cNvPicPr>
          <p:nvPr/>
        </p:nvPicPr>
        <p:blipFill>
          <a:blip r:embed="rId4"/>
          <a:stretch>
            <a:fillRect/>
          </a:stretch>
        </p:blipFill>
        <p:spPr>
          <a:xfrm>
            <a:off x="647980" y="3145565"/>
            <a:ext cx="7030291" cy="1627173"/>
          </a:xfrm>
          <a:prstGeom prst="rect">
            <a:avLst/>
          </a:prstGeom>
        </p:spPr>
      </p:pic>
    </p:spTree>
    <p:extLst>
      <p:ext uri="{BB962C8B-B14F-4D97-AF65-F5344CB8AC3E}">
        <p14:creationId xmlns:p14="http://schemas.microsoft.com/office/powerpoint/2010/main" val="3787864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14</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Greek number theory</a:t>
            </a:r>
            <a:endParaRPr lang="zh-TW" altLang="en-US" dirty="0"/>
          </a:p>
        </p:txBody>
      </p:sp>
      <p:pic>
        <p:nvPicPr>
          <p:cNvPr id="3" name="圖片 2">
            <a:extLst>
              <a:ext uri="{FF2B5EF4-FFF2-40B4-BE49-F238E27FC236}">
                <a16:creationId xmlns:a16="http://schemas.microsoft.com/office/drawing/2014/main" id="{A8FF91A5-05AC-4437-BBB0-E2F3CAFC947C}"/>
              </a:ext>
            </a:extLst>
          </p:cNvPr>
          <p:cNvPicPr>
            <a:picLocks noChangeAspect="1"/>
          </p:cNvPicPr>
          <p:nvPr/>
        </p:nvPicPr>
        <p:blipFill>
          <a:blip r:embed="rId3"/>
          <a:stretch>
            <a:fillRect/>
          </a:stretch>
        </p:blipFill>
        <p:spPr>
          <a:xfrm>
            <a:off x="0" y="1792619"/>
            <a:ext cx="4257806" cy="2147369"/>
          </a:xfrm>
          <a:prstGeom prst="rect">
            <a:avLst/>
          </a:prstGeom>
        </p:spPr>
      </p:pic>
      <p:pic>
        <p:nvPicPr>
          <p:cNvPr id="7" name="圖片 6">
            <a:extLst>
              <a:ext uri="{FF2B5EF4-FFF2-40B4-BE49-F238E27FC236}">
                <a16:creationId xmlns:a16="http://schemas.microsoft.com/office/drawing/2014/main" id="{879F91A3-5C5A-424E-8EE5-F3E54DDE3B7A}"/>
              </a:ext>
            </a:extLst>
          </p:cNvPr>
          <p:cNvPicPr>
            <a:picLocks noChangeAspect="1"/>
          </p:cNvPicPr>
          <p:nvPr/>
        </p:nvPicPr>
        <p:blipFill>
          <a:blip r:embed="rId4"/>
          <a:stretch>
            <a:fillRect/>
          </a:stretch>
        </p:blipFill>
        <p:spPr>
          <a:xfrm>
            <a:off x="4198049" y="1628915"/>
            <a:ext cx="4823109" cy="2311073"/>
          </a:xfrm>
          <a:prstGeom prst="rect">
            <a:avLst/>
          </a:prstGeom>
        </p:spPr>
      </p:pic>
    </p:spTree>
    <p:extLst>
      <p:ext uri="{BB962C8B-B14F-4D97-AF65-F5344CB8AC3E}">
        <p14:creationId xmlns:p14="http://schemas.microsoft.com/office/powerpoint/2010/main" val="1341929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15</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Fibonacci</a:t>
            </a:r>
            <a:endParaRPr lang="zh-TW" altLang="en-US" dirty="0"/>
          </a:p>
        </p:txBody>
      </p:sp>
      <p:pic>
        <p:nvPicPr>
          <p:cNvPr id="5" name="圖片 4">
            <a:extLst>
              <a:ext uri="{FF2B5EF4-FFF2-40B4-BE49-F238E27FC236}">
                <a16:creationId xmlns:a16="http://schemas.microsoft.com/office/drawing/2014/main" id="{8B40C85F-06A3-4BFC-8CF2-D2957BB7C695}"/>
              </a:ext>
            </a:extLst>
          </p:cNvPr>
          <p:cNvPicPr>
            <a:picLocks noChangeAspect="1"/>
          </p:cNvPicPr>
          <p:nvPr/>
        </p:nvPicPr>
        <p:blipFill>
          <a:blip r:embed="rId3"/>
          <a:stretch>
            <a:fillRect/>
          </a:stretch>
        </p:blipFill>
        <p:spPr>
          <a:xfrm>
            <a:off x="5407575" y="1378858"/>
            <a:ext cx="2571750" cy="2705100"/>
          </a:xfrm>
          <a:prstGeom prst="rect">
            <a:avLst/>
          </a:prstGeom>
        </p:spPr>
      </p:pic>
      <p:pic>
        <p:nvPicPr>
          <p:cNvPr id="8" name="圖片 7">
            <a:extLst>
              <a:ext uri="{FF2B5EF4-FFF2-40B4-BE49-F238E27FC236}">
                <a16:creationId xmlns:a16="http://schemas.microsoft.com/office/drawing/2014/main" id="{EB57AD09-C4B1-4257-AC4B-674E0A0200E7}"/>
              </a:ext>
            </a:extLst>
          </p:cNvPr>
          <p:cNvPicPr>
            <a:picLocks noChangeAspect="1"/>
          </p:cNvPicPr>
          <p:nvPr/>
        </p:nvPicPr>
        <p:blipFill>
          <a:blip r:embed="rId4"/>
          <a:stretch>
            <a:fillRect/>
          </a:stretch>
        </p:blipFill>
        <p:spPr>
          <a:xfrm>
            <a:off x="311700" y="1059542"/>
            <a:ext cx="5095875" cy="3800475"/>
          </a:xfrm>
          <a:prstGeom prst="rect">
            <a:avLst/>
          </a:prstGeom>
        </p:spPr>
      </p:pic>
    </p:spTree>
    <p:extLst>
      <p:ext uri="{BB962C8B-B14F-4D97-AF65-F5344CB8AC3E}">
        <p14:creationId xmlns:p14="http://schemas.microsoft.com/office/powerpoint/2010/main" val="2940091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16</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Fiboquadratic</a:t>
            </a:r>
            <a:br>
              <a:rPr lang="en-US" altLang="zh-TW" dirty="0">
                <a:latin typeface="Times New Roman"/>
                <a:cs typeface="Times New Roman"/>
                <a:sym typeface="Times New Roman"/>
              </a:rPr>
            </a:br>
            <a:r>
              <a:rPr lang="en-US" altLang="zh-TW" dirty="0">
                <a:latin typeface="Times New Roman"/>
                <a:cs typeface="Times New Roman"/>
                <a:sym typeface="Times New Roman"/>
              </a:rPr>
              <a:t>sequences</a:t>
            </a:r>
            <a:endParaRPr lang="zh-TW" altLang="en-US" dirty="0"/>
          </a:p>
        </p:txBody>
      </p:sp>
      <p:pic>
        <p:nvPicPr>
          <p:cNvPr id="5" name="圖片 4">
            <a:extLst>
              <a:ext uri="{FF2B5EF4-FFF2-40B4-BE49-F238E27FC236}">
                <a16:creationId xmlns:a16="http://schemas.microsoft.com/office/drawing/2014/main" id="{14141ABD-7C1F-4CA6-9884-0D75149BD871}"/>
              </a:ext>
            </a:extLst>
          </p:cNvPr>
          <p:cNvPicPr>
            <a:picLocks noChangeAspect="1"/>
          </p:cNvPicPr>
          <p:nvPr/>
        </p:nvPicPr>
        <p:blipFill>
          <a:blip r:embed="rId3"/>
          <a:stretch>
            <a:fillRect/>
          </a:stretch>
        </p:blipFill>
        <p:spPr>
          <a:xfrm>
            <a:off x="2198593" y="445025"/>
            <a:ext cx="6371297" cy="4301041"/>
          </a:xfrm>
          <a:prstGeom prst="rect">
            <a:avLst/>
          </a:prstGeom>
        </p:spPr>
      </p:pic>
    </p:spTree>
    <p:extLst>
      <p:ext uri="{BB962C8B-B14F-4D97-AF65-F5344CB8AC3E}">
        <p14:creationId xmlns:p14="http://schemas.microsoft.com/office/powerpoint/2010/main" val="960107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17</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Fiboquadratic</a:t>
            </a:r>
            <a:r>
              <a:rPr lang="zh-TW" altLang="en-US" dirty="0">
                <a:latin typeface="Times New Roman"/>
                <a:cs typeface="Times New Roman"/>
                <a:sym typeface="Times New Roman"/>
              </a:rPr>
              <a:t> </a:t>
            </a:r>
            <a:r>
              <a:rPr lang="en-US" altLang="zh-TW" dirty="0">
                <a:latin typeface="Times New Roman"/>
                <a:cs typeface="Times New Roman"/>
                <a:sym typeface="Times New Roman"/>
              </a:rPr>
              <a:t>sequences</a:t>
            </a:r>
            <a:endParaRPr lang="zh-TW" altLang="en-US" dirty="0"/>
          </a:p>
        </p:txBody>
      </p:sp>
      <p:pic>
        <p:nvPicPr>
          <p:cNvPr id="3" name="圖片 2">
            <a:extLst>
              <a:ext uri="{FF2B5EF4-FFF2-40B4-BE49-F238E27FC236}">
                <a16:creationId xmlns:a16="http://schemas.microsoft.com/office/drawing/2014/main" id="{63C9F2C6-ABCA-4958-9FA7-C1B5B05125E0}"/>
              </a:ext>
            </a:extLst>
          </p:cNvPr>
          <p:cNvPicPr>
            <a:picLocks noChangeAspect="1"/>
          </p:cNvPicPr>
          <p:nvPr/>
        </p:nvPicPr>
        <p:blipFill>
          <a:blip r:embed="rId3"/>
          <a:stretch>
            <a:fillRect/>
          </a:stretch>
        </p:blipFill>
        <p:spPr>
          <a:xfrm>
            <a:off x="0" y="1208973"/>
            <a:ext cx="9144000" cy="1448083"/>
          </a:xfrm>
          <a:prstGeom prst="rect">
            <a:avLst/>
          </a:prstGeom>
        </p:spPr>
      </p:pic>
    </p:spTree>
    <p:extLst>
      <p:ext uri="{BB962C8B-B14F-4D97-AF65-F5344CB8AC3E}">
        <p14:creationId xmlns:p14="http://schemas.microsoft.com/office/powerpoint/2010/main" val="688628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18</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Fiboquadratic</a:t>
            </a:r>
            <a:r>
              <a:rPr lang="zh-TW" altLang="en-US" dirty="0">
                <a:latin typeface="Times New Roman"/>
                <a:cs typeface="Times New Roman"/>
                <a:sym typeface="Times New Roman"/>
              </a:rPr>
              <a:t> </a:t>
            </a:r>
            <a:r>
              <a:rPr lang="en-US" altLang="zh-TW" dirty="0">
                <a:latin typeface="Times New Roman"/>
                <a:cs typeface="Times New Roman"/>
                <a:sym typeface="Times New Roman"/>
              </a:rPr>
              <a:t>sequences</a:t>
            </a:r>
            <a:endParaRPr lang="zh-TW" altLang="en-US" dirty="0"/>
          </a:p>
        </p:txBody>
      </p:sp>
      <p:pic>
        <p:nvPicPr>
          <p:cNvPr id="5" name="圖片 4">
            <a:extLst>
              <a:ext uri="{FF2B5EF4-FFF2-40B4-BE49-F238E27FC236}">
                <a16:creationId xmlns:a16="http://schemas.microsoft.com/office/drawing/2014/main" id="{C4C67A96-4C59-46F5-A604-BF4B7C035DA6}"/>
              </a:ext>
            </a:extLst>
          </p:cNvPr>
          <p:cNvPicPr>
            <a:picLocks noChangeAspect="1"/>
          </p:cNvPicPr>
          <p:nvPr/>
        </p:nvPicPr>
        <p:blipFill>
          <a:blip r:embed="rId3"/>
          <a:stretch>
            <a:fillRect/>
          </a:stretch>
        </p:blipFill>
        <p:spPr>
          <a:xfrm>
            <a:off x="2102784" y="1097396"/>
            <a:ext cx="4629150" cy="1162050"/>
          </a:xfrm>
          <a:prstGeom prst="rect">
            <a:avLst/>
          </a:prstGeom>
        </p:spPr>
      </p:pic>
      <p:pic>
        <p:nvPicPr>
          <p:cNvPr id="7" name="圖片 6">
            <a:extLst>
              <a:ext uri="{FF2B5EF4-FFF2-40B4-BE49-F238E27FC236}">
                <a16:creationId xmlns:a16="http://schemas.microsoft.com/office/drawing/2014/main" id="{A8B287BF-8FFA-40F1-B6DE-0E93DE7B7648}"/>
              </a:ext>
            </a:extLst>
          </p:cNvPr>
          <p:cNvPicPr>
            <a:picLocks noChangeAspect="1"/>
          </p:cNvPicPr>
          <p:nvPr/>
        </p:nvPicPr>
        <p:blipFill>
          <a:blip r:embed="rId4"/>
          <a:stretch>
            <a:fillRect/>
          </a:stretch>
        </p:blipFill>
        <p:spPr>
          <a:xfrm>
            <a:off x="0" y="2494377"/>
            <a:ext cx="9144000" cy="779356"/>
          </a:xfrm>
          <a:prstGeom prst="rect">
            <a:avLst/>
          </a:prstGeom>
        </p:spPr>
      </p:pic>
    </p:spTree>
    <p:extLst>
      <p:ext uri="{BB962C8B-B14F-4D97-AF65-F5344CB8AC3E}">
        <p14:creationId xmlns:p14="http://schemas.microsoft.com/office/powerpoint/2010/main" val="428957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19</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cs typeface="Times New Roman"/>
                <a:sym typeface="Times New Roman"/>
              </a:rPr>
              <a:t>Fiboquadratic</a:t>
            </a:r>
            <a:r>
              <a:rPr lang="zh-TW" altLang="en-US" dirty="0">
                <a:latin typeface="Times New Roman"/>
                <a:cs typeface="Times New Roman"/>
                <a:sym typeface="Times New Roman"/>
              </a:rPr>
              <a:t> </a:t>
            </a:r>
            <a:r>
              <a:rPr lang="en-US" altLang="zh-TW" dirty="0">
                <a:latin typeface="Times New Roman"/>
                <a:cs typeface="Times New Roman"/>
                <a:sym typeface="Times New Roman"/>
              </a:rPr>
              <a:t>sequences</a:t>
            </a:r>
            <a:endParaRPr lang="zh-TW" altLang="en-US" dirty="0"/>
          </a:p>
        </p:txBody>
      </p:sp>
      <p:pic>
        <p:nvPicPr>
          <p:cNvPr id="3" name="圖片 2">
            <a:extLst>
              <a:ext uri="{FF2B5EF4-FFF2-40B4-BE49-F238E27FC236}">
                <a16:creationId xmlns:a16="http://schemas.microsoft.com/office/drawing/2014/main" id="{CA53EE97-2FF1-4DBA-A211-7AB87EE18A5D}"/>
              </a:ext>
            </a:extLst>
          </p:cNvPr>
          <p:cNvPicPr>
            <a:picLocks noChangeAspect="1"/>
          </p:cNvPicPr>
          <p:nvPr/>
        </p:nvPicPr>
        <p:blipFill>
          <a:blip r:embed="rId3"/>
          <a:stretch>
            <a:fillRect/>
          </a:stretch>
        </p:blipFill>
        <p:spPr>
          <a:xfrm>
            <a:off x="0" y="1156584"/>
            <a:ext cx="9144000" cy="1754568"/>
          </a:xfrm>
          <a:prstGeom prst="rect">
            <a:avLst/>
          </a:prstGeom>
        </p:spPr>
      </p:pic>
      <p:pic>
        <p:nvPicPr>
          <p:cNvPr id="8" name="圖片 7">
            <a:extLst>
              <a:ext uri="{FF2B5EF4-FFF2-40B4-BE49-F238E27FC236}">
                <a16:creationId xmlns:a16="http://schemas.microsoft.com/office/drawing/2014/main" id="{50C5AEFC-75B6-43F0-9B22-3C29B85EB1D7}"/>
              </a:ext>
            </a:extLst>
          </p:cNvPr>
          <p:cNvPicPr>
            <a:picLocks noChangeAspect="1"/>
          </p:cNvPicPr>
          <p:nvPr/>
        </p:nvPicPr>
        <p:blipFill>
          <a:blip r:embed="rId4"/>
          <a:stretch>
            <a:fillRect/>
          </a:stretch>
        </p:blipFill>
        <p:spPr>
          <a:xfrm>
            <a:off x="0" y="2854424"/>
            <a:ext cx="9144000" cy="1653417"/>
          </a:xfrm>
          <a:prstGeom prst="rect">
            <a:avLst/>
          </a:prstGeom>
        </p:spPr>
      </p:pic>
    </p:spTree>
    <p:extLst>
      <p:ext uri="{BB962C8B-B14F-4D97-AF65-F5344CB8AC3E}">
        <p14:creationId xmlns:p14="http://schemas.microsoft.com/office/powerpoint/2010/main" val="4118332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0" y="1754841"/>
            <a:ext cx="9144000" cy="1902759"/>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ct val="111111"/>
              <a:buNone/>
            </a:pPr>
            <a:r>
              <a:rPr lang="en-US" sz="4800" dirty="0">
                <a:latin typeface="Times New Roman"/>
                <a:ea typeface="Times New Roman"/>
                <a:cs typeface="Times New Roman"/>
                <a:sym typeface="Times New Roman"/>
              </a:rPr>
              <a:t>Thanks</a:t>
            </a:r>
            <a:endParaRPr dirty="0">
              <a:latin typeface="Times New Roman"/>
              <a:ea typeface="Times New Roman"/>
              <a:cs typeface="Times New Roman"/>
              <a:sym typeface="Times New Roman"/>
            </a:endParaRPr>
          </a:p>
        </p:txBody>
      </p:sp>
      <p:sp>
        <p:nvSpPr>
          <p:cNvPr id="111" name="Google Shape;111;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20</a:t>
            </a:fld>
            <a:endParaRPr/>
          </a:p>
        </p:txBody>
      </p:sp>
    </p:spTree>
    <p:extLst>
      <p:ext uri="{BB962C8B-B14F-4D97-AF65-F5344CB8AC3E}">
        <p14:creationId xmlns:p14="http://schemas.microsoft.com/office/powerpoint/2010/main" val="214628215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2534</TotalTime>
  <Words>442</Words>
  <Application>Microsoft Office PowerPoint</Application>
  <PresentationFormat>如螢幕大小 (16:9)</PresentationFormat>
  <Paragraphs>65</Paragraphs>
  <Slides>20</Slides>
  <Notes>20</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20</vt:i4>
      </vt:variant>
    </vt:vector>
  </HeadingPairs>
  <TitlesOfParts>
    <vt:vector size="23" baseType="lpstr">
      <vt:lpstr>Arial</vt:lpstr>
      <vt:lpstr>Times New Roman</vt:lpstr>
      <vt:lpstr>Simple Light</vt:lpstr>
      <vt:lpstr>Fiboquadratic numbers and Rithmomachia</vt:lpstr>
      <vt:lpstr>Abstract</vt:lpstr>
      <vt:lpstr>Abstract</vt:lpstr>
      <vt:lpstr>Rithmomachia</vt:lpstr>
      <vt:lpstr>Movement</vt:lpstr>
      <vt:lpstr>Movement</vt:lpstr>
      <vt:lpstr>Capturing</vt:lpstr>
      <vt:lpstr>Capturing</vt:lpstr>
      <vt:lpstr>Glorious victories</vt:lpstr>
      <vt:lpstr>Glorious victories</vt:lpstr>
      <vt:lpstr>Greek number theory</vt:lpstr>
      <vt:lpstr>Greek number theory</vt:lpstr>
      <vt:lpstr>Greek number theory</vt:lpstr>
      <vt:lpstr>Greek number theory</vt:lpstr>
      <vt:lpstr>Fibonacci</vt:lpstr>
      <vt:lpstr>Fiboquadratic sequences</vt:lpstr>
      <vt:lpstr>Fiboquadratic sequences</vt:lpstr>
      <vt:lpstr>Fiboquadratic sequences</vt:lpstr>
      <vt:lpstr>Fiboquadratic sequences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Order-preserving pattern matching with k mismatches</dc:title>
  <cp:lastModifiedBy>鑫昌 俞</cp:lastModifiedBy>
  <cp:revision>141</cp:revision>
  <dcterms:modified xsi:type="dcterms:W3CDTF">2024-05-20T06:37:14Z</dcterms:modified>
</cp:coreProperties>
</file>