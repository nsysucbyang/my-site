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323" r:id="rId4"/>
    <p:sldId id="333" r:id="rId5"/>
    <p:sldId id="329" r:id="rId6"/>
    <p:sldId id="331" r:id="rId7"/>
    <p:sldId id="325" r:id="rId8"/>
    <p:sldId id="328" r:id="rId9"/>
    <p:sldId id="326" r:id="rId10"/>
    <p:sldId id="327" r:id="rId11"/>
    <p:sldId id="332" r:id="rId12"/>
    <p:sldId id="330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F8F"/>
    <a:srgbClr val="79FF8C"/>
    <a:srgbClr val="57F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89286" autoAdjust="0"/>
  </p:normalViewPr>
  <p:slideViewPr>
    <p:cSldViewPr snapToGrid="0" snapToObjects="1">
      <p:cViewPr varScale="1">
        <p:scale>
          <a:sx n="58" d="100"/>
          <a:sy n="58" d="100"/>
        </p:scale>
        <p:origin x="9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19T15:08:58.15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1,'0'1,"1"0,-1 0,1 0,-1 1,1-1,0 0,-1 0,1 0,0 0,0 0,0 0,0-1,0 1,0 0,0 0,0-1,0 1,0 0,0-1,0 1,0-1,0 0,1 1,-1-1,0 0,2 1,8 2,-5 0,17 9,1-1,0-2,1 0,0-2,0-1,32 5,230-9,-143-4,67 2,-183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19T15:09:10.89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0,'985'0,"-961"0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171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847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3184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 symbols from Array 2 are randomly selected to create the population.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84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 symbols from Array 2 are randomly selected to create the population.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4745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 position </a:t>
            </a:r>
            <a:r>
              <a:rPr lang="en-US" altLang="zh-TW" b="0" i="0" u="none" strike="noStrike" dirty="0" err="1">
                <a:effectLst/>
                <a:latin typeface="MathJax_Math-italic"/>
              </a:rPr>
              <a:t>i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in solution </a:t>
            </a:r>
            <a:r>
              <a:rPr lang="en-US" altLang="zh-TW" b="0" i="0" u="none" strike="noStrike" dirty="0">
                <a:effectLst/>
                <a:latin typeface="MathJax_Math-italic"/>
              </a:rPr>
              <a:t>m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will be chosen and a small value is added or subtracted from the value</a:t>
            </a:r>
          </a:p>
          <a:p>
            <a:r>
              <a:rPr lang="en-US" altLang="zh-TW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A small value will be chosen randomly.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0119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8906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967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9808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346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353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2024/5/20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686" y="1083583"/>
            <a:ext cx="11488627" cy="2387600"/>
          </a:xfrm>
        </p:spPr>
        <p:txBody>
          <a:bodyPr anchor="ctr">
            <a:norm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shortest common </a:t>
            </a:r>
            <a:r>
              <a:rPr kumimoji="1" lang="en-US" altLang="zh-TW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using chemical reaction optimization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5" y="3565526"/>
            <a:ext cx="1129665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sv-S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C.M. Khaled Saifullah and Md. Rafiqul Islam</a:t>
            </a: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5th International Conference on Informatics, Electronics and Vision (ICIEV), Dhaka, Bangladesh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57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Wen-Yu Chang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>
                <a:latin typeface="Times" pitchFamily="2" charset="0"/>
              </a:rPr>
              <a:t>May</a:t>
            </a:r>
            <a:r>
              <a:rPr kumimoji="1" lang="zh-TW" altLang="en-US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2024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The Shortest Common 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Supersequence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 problem is an NP-hard optimization problem that has a vast use in real world problems. It is used in data compression and different bio-informatics analysis. Different types of approaches were used to solve this problem. Exact algorithms failed to compute for large instances whereas approximation algorithms lack optimality. In this paper, we propose a meta-heuristic approach named as Chemical Reaction Optimization Algorithm (CRO-SCS) to solve the Shortest Common 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Supersequence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 (SCS) Problem. The experimental results demonstrate that our proposed method takes less time to find SCS than dynamic programming and have better performance than other well-known approximation algorithms.</a:t>
            </a:r>
            <a:endParaRPr lang="en" altLang="zh-TW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Shortest Common </a:t>
            </a:r>
            <a:r>
              <a:rPr kumimoji="1" lang="en-US" altLang="zh-TW" dirty="0" err="1">
                <a:latin typeface="Times" pitchFamily="2" charset="0"/>
              </a:rPr>
              <a:t>Supersequence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EFA30E9-49A3-43D7-BC27-D8C3712F1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14" y="2000278"/>
            <a:ext cx="11429772" cy="285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8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Dynamic Programming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E4D0B5C4-EDB9-4FDA-89AA-A0A6289BA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09199"/>
              </p:ext>
            </p:extLst>
          </p:nvPr>
        </p:nvGraphicFramePr>
        <p:xfrm>
          <a:off x="3344232" y="1930498"/>
          <a:ext cx="5503533" cy="390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219">
                  <a:extLst>
                    <a:ext uri="{9D8B030D-6E8A-4147-A177-3AD203B41FA5}">
                      <a16:colId xmlns:a16="http://schemas.microsoft.com/office/drawing/2014/main" val="4120153113"/>
                    </a:ext>
                  </a:extLst>
                </a:gridCol>
                <a:gridCol w="786219">
                  <a:extLst>
                    <a:ext uri="{9D8B030D-6E8A-4147-A177-3AD203B41FA5}">
                      <a16:colId xmlns:a16="http://schemas.microsoft.com/office/drawing/2014/main" val="3137055222"/>
                    </a:ext>
                  </a:extLst>
                </a:gridCol>
                <a:gridCol w="786219">
                  <a:extLst>
                    <a:ext uri="{9D8B030D-6E8A-4147-A177-3AD203B41FA5}">
                      <a16:colId xmlns:a16="http://schemas.microsoft.com/office/drawing/2014/main" val="2174227982"/>
                    </a:ext>
                  </a:extLst>
                </a:gridCol>
                <a:gridCol w="786219">
                  <a:extLst>
                    <a:ext uri="{9D8B030D-6E8A-4147-A177-3AD203B41FA5}">
                      <a16:colId xmlns:a16="http://schemas.microsoft.com/office/drawing/2014/main" val="567179189"/>
                    </a:ext>
                  </a:extLst>
                </a:gridCol>
                <a:gridCol w="786219">
                  <a:extLst>
                    <a:ext uri="{9D8B030D-6E8A-4147-A177-3AD203B41FA5}">
                      <a16:colId xmlns:a16="http://schemas.microsoft.com/office/drawing/2014/main" val="1922600661"/>
                    </a:ext>
                  </a:extLst>
                </a:gridCol>
                <a:gridCol w="786219">
                  <a:extLst>
                    <a:ext uri="{9D8B030D-6E8A-4147-A177-3AD203B41FA5}">
                      <a16:colId xmlns:a16="http://schemas.microsoft.com/office/drawing/2014/main" val="3165939515"/>
                    </a:ext>
                  </a:extLst>
                </a:gridCol>
                <a:gridCol w="786219">
                  <a:extLst>
                    <a:ext uri="{9D8B030D-6E8A-4147-A177-3AD203B41FA5}">
                      <a16:colId xmlns:a16="http://schemas.microsoft.com/office/drawing/2014/main" val="2522936136"/>
                    </a:ext>
                  </a:extLst>
                </a:gridCol>
              </a:tblGrid>
              <a:tr h="557764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15340"/>
                  </a:ext>
                </a:extLst>
              </a:tr>
              <a:tr h="557764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809332"/>
                  </a:ext>
                </a:extLst>
              </a:tr>
              <a:tr h="557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686303"/>
                  </a:ext>
                </a:extLst>
              </a:tr>
              <a:tr h="557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231219"/>
                  </a:ext>
                </a:extLst>
              </a:tr>
              <a:tr h="557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905837"/>
                  </a:ext>
                </a:extLst>
              </a:tr>
              <a:tr h="557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692380"/>
                  </a:ext>
                </a:extLst>
              </a:tr>
              <a:tr h="5577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0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633738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47349BDF-1BAD-41E5-94BC-C8960FB588E6}"/>
              </a:ext>
            </a:extLst>
          </p:cNvPr>
          <p:cNvSpPr/>
          <p:nvPr/>
        </p:nvSpPr>
        <p:spPr>
          <a:xfrm>
            <a:off x="8229600" y="5350104"/>
            <a:ext cx="440674" cy="4406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C0A9DE0A-8428-46C0-93AF-4B1CBEDEBC5B}"/>
              </a:ext>
            </a:extLst>
          </p:cNvPr>
          <p:cNvSpPr/>
          <p:nvPr/>
        </p:nvSpPr>
        <p:spPr>
          <a:xfrm>
            <a:off x="8225010" y="4785719"/>
            <a:ext cx="440674" cy="4406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EB73A60-4A3E-4EAE-BF8C-BA82137C2E6C}"/>
              </a:ext>
            </a:extLst>
          </p:cNvPr>
          <p:cNvSpPr/>
          <p:nvPr/>
        </p:nvSpPr>
        <p:spPr>
          <a:xfrm>
            <a:off x="7445566" y="4230782"/>
            <a:ext cx="440674" cy="4406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D070498-5779-4611-8FCA-0EB31E44B951}"/>
              </a:ext>
            </a:extLst>
          </p:cNvPr>
          <p:cNvSpPr/>
          <p:nvPr/>
        </p:nvSpPr>
        <p:spPr>
          <a:xfrm>
            <a:off x="6661532" y="4230782"/>
            <a:ext cx="440674" cy="4406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2FD1E81-6FD3-4A68-A5FD-4E9F3C5F4CEE}"/>
              </a:ext>
            </a:extLst>
          </p:cNvPr>
          <p:cNvSpPr/>
          <p:nvPr/>
        </p:nvSpPr>
        <p:spPr>
          <a:xfrm>
            <a:off x="5877498" y="4237705"/>
            <a:ext cx="440674" cy="4406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50E74D0-B7DB-442C-98EC-7A565B23A108}"/>
              </a:ext>
            </a:extLst>
          </p:cNvPr>
          <p:cNvSpPr/>
          <p:nvPr/>
        </p:nvSpPr>
        <p:spPr>
          <a:xfrm>
            <a:off x="5086120" y="3662335"/>
            <a:ext cx="440674" cy="4406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A7B88EB2-5031-4C90-A0E8-D4138BFB13EC}"/>
              </a:ext>
            </a:extLst>
          </p:cNvPr>
          <p:cNvSpPr/>
          <p:nvPr/>
        </p:nvSpPr>
        <p:spPr>
          <a:xfrm>
            <a:off x="4292906" y="3107398"/>
            <a:ext cx="440674" cy="44067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308632E-6D01-4437-AC08-68091FA786D2}"/>
              </a:ext>
            </a:extLst>
          </p:cNvPr>
          <p:cNvCxnSpPr>
            <a:cxnSpLocks/>
          </p:cNvCxnSpPr>
          <p:nvPr/>
        </p:nvCxnSpPr>
        <p:spPr>
          <a:xfrm flipH="1" flipV="1">
            <a:off x="8445347" y="5144878"/>
            <a:ext cx="4590" cy="2382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2F901FC-5A32-44F9-A091-005B19F2F5AF}"/>
              </a:ext>
            </a:extLst>
          </p:cNvPr>
          <p:cNvCxnSpPr>
            <a:cxnSpLocks/>
          </p:cNvCxnSpPr>
          <p:nvPr/>
        </p:nvCxnSpPr>
        <p:spPr>
          <a:xfrm flipH="1" flipV="1">
            <a:off x="7827182" y="4549966"/>
            <a:ext cx="438681" cy="3613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8B57266-6205-44A2-A390-0BF0C3443854}"/>
              </a:ext>
            </a:extLst>
          </p:cNvPr>
          <p:cNvCxnSpPr>
            <a:cxnSpLocks/>
          </p:cNvCxnSpPr>
          <p:nvPr/>
        </p:nvCxnSpPr>
        <p:spPr>
          <a:xfrm flipH="1">
            <a:off x="7025940" y="4424419"/>
            <a:ext cx="47409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8568A12B-95F5-4E2C-9C83-57E845FDC446}"/>
              </a:ext>
            </a:extLst>
          </p:cNvPr>
          <p:cNvCxnSpPr>
            <a:cxnSpLocks/>
          </p:cNvCxnSpPr>
          <p:nvPr/>
        </p:nvCxnSpPr>
        <p:spPr>
          <a:xfrm flipH="1">
            <a:off x="6231506" y="4436008"/>
            <a:ext cx="47409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752F4715-D275-4114-9785-BDE0FA8AAE1D}"/>
              </a:ext>
            </a:extLst>
          </p:cNvPr>
          <p:cNvCxnSpPr>
            <a:cxnSpLocks/>
          </p:cNvCxnSpPr>
          <p:nvPr/>
        </p:nvCxnSpPr>
        <p:spPr>
          <a:xfrm flipH="1" flipV="1">
            <a:off x="5486478" y="4011260"/>
            <a:ext cx="438681" cy="3613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74D564AB-304A-4DF7-9606-737DF6FD44F5}"/>
              </a:ext>
            </a:extLst>
          </p:cNvPr>
          <p:cNvCxnSpPr>
            <a:cxnSpLocks/>
          </p:cNvCxnSpPr>
          <p:nvPr/>
        </p:nvCxnSpPr>
        <p:spPr>
          <a:xfrm flipH="1" flipV="1">
            <a:off x="4713422" y="3422525"/>
            <a:ext cx="438681" cy="3613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6FF2A1C-2CB3-47AF-8909-953AC49B8135}"/>
              </a:ext>
            </a:extLst>
          </p:cNvPr>
          <p:cNvSpPr txBox="1"/>
          <p:nvPr/>
        </p:nvSpPr>
        <p:spPr>
          <a:xfrm>
            <a:off x="3083795" y="5995597"/>
            <a:ext cx="6024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The shortest common 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supersequence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 is 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ctatcgc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95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Population Generation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3C4CAA-FF1F-4E0F-A6BA-9F027774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822575"/>
            <a:ext cx="7810500" cy="3533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7788"/>
                <a:ext cx="105156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𝐿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i="0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acctg</m:t>
                        </m:r>
                        <m:r>
                          <a:rPr lang="en-US" altLang="zh-TW" sz="2400" i="0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TW" sz="2400" i="0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cttcg</m:t>
                        </m:r>
                        <m:r>
                          <a:rPr lang="en-US" altLang="zh-TW" sz="2400" i="0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TW" sz="2400" i="0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acact</m:t>
                        </m:r>
                        <m:r>
                          <a:rPr lang="en-US" altLang="zh-TW" sz="2400" i="0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TW" sz="2400" i="0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gtgca</m:t>
                        </m:r>
                      </m:e>
                    </m:d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∑=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a</m:t>
                        </m:r>
                        <m:r>
                          <a:rPr lang="en-US" altLang="zh-TW" sz="2400" i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c</m:t>
                        </m:r>
                        <m:r>
                          <a:rPr lang="en-US" altLang="zh-TW" sz="2400" i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g</m:t>
                        </m:r>
                        <m:r>
                          <a:rPr lang="en-US" altLang="zh-TW" sz="2400" i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TW" sz="2400" i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t</m:t>
                        </m:r>
                      </m:e>
                    </m:d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={0, 1, 2, 3}</m:t>
                    </m:r>
                  </m:oMath>
                </a14:m>
                <a:endParaRPr lang="en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7788"/>
                <a:ext cx="10515600" cy="4351338"/>
              </a:xfrm>
              <a:blipFill>
                <a:blip r:embed="rId4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37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Population Generation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3C4CAA-FF1F-4E0F-A6BA-9F02777407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906"/>
          <a:stretch/>
        </p:blipFill>
        <p:spPr>
          <a:xfrm>
            <a:off x="1509626" y="3429000"/>
            <a:ext cx="9172748" cy="2535466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D51205D-1186-48E7-809E-781A18D07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78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The symbols from Array 2 are randomly selected to create the population.</a:t>
            </a:r>
          </a:p>
          <a:p>
            <a:pPr algn="just">
              <a:lnSpc>
                <a:spcPct val="150000"/>
              </a:lnSpc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Frequency of the symbols will be considered.</a:t>
            </a:r>
          </a:p>
          <a:p>
            <a:pPr algn="just">
              <a:lnSpc>
                <a:spcPct val="150000"/>
              </a:lnSpc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Pop= {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acctacgatacg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catctgacgtag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,…..}</a:t>
            </a:r>
          </a:p>
          <a:p>
            <a:pPr algn="just">
              <a:lnSpc>
                <a:spcPct val="150000"/>
              </a:lnSpc>
            </a:pPr>
            <a:endParaRPr lang="en" altLang="zh-TW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375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Reaction Operators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D51205D-1186-48E7-809E-781A18D07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882"/>
            <a:ext cx="10515600" cy="4351338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On-Wall Ineffective Collision</a:t>
            </a:r>
          </a:p>
          <a:p>
            <a:pPr lvl="1" algn="just">
              <a:lnSpc>
                <a:spcPct val="150000"/>
              </a:lnSpc>
            </a:pPr>
            <a:r>
              <a:rPr lang="en-US" altLang="zh-TW" dirty="0">
                <a:latin typeface="Times" panose="02020603050405020304" pitchFamily="18" charset="0"/>
                <a:cs typeface="Times" panose="02020603050405020304" pitchFamily="18" charset="0"/>
              </a:rPr>
              <a:t>Using evolutionary algorithm mutation operator</a:t>
            </a:r>
            <a:endParaRPr lang="en" altLang="zh-TW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B79BF1E-AF81-4A02-BB34-236EEC883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3261585"/>
            <a:ext cx="7810500" cy="1714500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493BCC1-89EE-4F42-837E-B0B503E07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877" y="282641"/>
            <a:ext cx="2725698" cy="188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56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Reaction Operators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D51205D-1186-48E7-809E-781A18D07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882"/>
            <a:ext cx="10515600" cy="4351338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Decomposition</a:t>
            </a:r>
          </a:p>
          <a:p>
            <a:pPr lvl="1" algn="just">
              <a:lnSpc>
                <a:spcPct val="150000"/>
              </a:lnSpc>
            </a:pPr>
            <a:r>
              <a:rPr lang="en" altLang="zh-TW" dirty="0">
                <a:latin typeface="Times" panose="02020603050405020304" pitchFamily="18" charset="0"/>
                <a:cs typeface="Times" panose="02020603050405020304" pitchFamily="18" charset="0"/>
              </a:rPr>
              <a:t>Dividing a solution </a:t>
            </a:r>
            <a:r>
              <a:rPr lang="en" altLang="zh-TW" i="1" dirty="0">
                <a:latin typeface="Times" panose="02020603050405020304" pitchFamily="18" charset="0"/>
                <a:cs typeface="Times" panose="02020603050405020304" pitchFamily="18" charset="0"/>
              </a:rPr>
              <a:t>m</a:t>
            </a:r>
            <a:r>
              <a:rPr lang="en" altLang="zh-TW" dirty="0">
                <a:latin typeface="Times" panose="02020603050405020304" pitchFamily="18" charset="0"/>
                <a:cs typeface="Times" panose="02020603050405020304" pitchFamily="18" charset="0"/>
              </a:rPr>
              <a:t> into two solutions</a:t>
            </a:r>
          </a:p>
          <a:p>
            <a:pPr lvl="1" algn="just">
              <a:lnSpc>
                <a:spcPct val="150000"/>
              </a:lnSpc>
            </a:pPr>
            <a:endParaRPr lang="en" altLang="zh-TW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C2903B-E62E-44B8-AB5E-86B705EE6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154" y="3326635"/>
            <a:ext cx="78105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6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Reaction Operators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Inter-Molecular Ineffective Collision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altLang="zh-TW" dirty="0">
                    <a:latin typeface="Times" panose="02020603050405020304" pitchFamily="18" charset="0"/>
                    <a:cs typeface="Times" panose="02020603050405020304" pitchFamily="18" charset="0"/>
                  </a:rPr>
                  <a:t>Taking two 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" panose="02020603050405020304" pitchFamily="18" charset="0"/>
                    <a:cs typeface="Times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" panose="02020603050405020304" pitchFamily="18" charset="0"/>
                    <a:cs typeface="Times" panose="02020603050405020304" pitchFamily="18" charset="0"/>
                  </a:rPr>
                  <a:t> randomly from the pop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altLang="zh-TW" dirty="0">
                    <a:latin typeface="Times" panose="02020603050405020304" pitchFamily="18" charset="0"/>
                    <a:cs typeface="Times" panose="02020603050405020304" pitchFamily="18" charset="0"/>
                  </a:rPr>
                  <a:t>Using two point crossover operators commonly used in the genetic algorithm</a:t>
                </a:r>
                <a:endParaRPr lang="en" altLang="zh-TW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EB0CE791-1F2D-4C27-920C-4E6DA2B81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635" y="3592527"/>
            <a:ext cx="7048729" cy="3128948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ADEDA030-BA23-4668-92F6-DE181A1F4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961" y="232873"/>
            <a:ext cx="2787715" cy="180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120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Reaction Operators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Synthesis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altLang="zh-TW" dirty="0">
                    <a:latin typeface="Times" panose="02020603050405020304" pitchFamily="18" charset="0"/>
                    <a:cs typeface="Times" panose="02020603050405020304" pitchFamily="18" charset="0"/>
                  </a:rPr>
                  <a:t>Combining two molecules into one solution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altLang="zh-TW" dirty="0">
                    <a:latin typeface="Times" panose="02020603050405020304" pitchFamily="18" charset="0"/>
                    <a:cs typeface="Times" panose="02020603050405020304" pitchFamily="18" charset="0"/>
                  </a:rPr>
                  <a:t>Taking one random variable from 0 to 1 to decide to choose the symbol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" panose="02020603050405020304" pitchFamily="18" charset="0"/>
                    <a:cs typeface="Times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" altLang="zh-TW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9D51205D-1186-48E7-809E-781A18D0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4882"/>
                <a:ext cx="10515600" cy="4351338"/>
              </a:xfrm>
              <a:blipFill>
                <a:blip r:embed="rId3"/>
                <a:stretch>
                  <a:fillRect l="-812" r="-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8DF5CB4B-AFAC-4842-A88C-CF2D70C8A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171" y="4131297"/>
            <a:ext cx="7093657" cy="25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05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CRO for SCS Problem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D51205D-1186-48E7-809E-781A18D07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882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Reform Function:</a:t>
            </a:r>
            <a:r>
              <a:rPr lang="zh-TW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the newly formed solution is checked with every string in the set of strings.</a:t>
            </a:r>
          </a:p>
          <a:p>
            <a:pPr algn="just">
              <a:lnSpc>
                <a:spcPct val="150000"/>
              </a:lnSpc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Termination Condition: after a particular computation time, the algorithm will be terminated.</a:t>
            </a:r>
          </a:p>
          <a:p>
            <a:pPr algn="just">
              <a:lnSpc>
                <a:spcPct val="150000"/>
              </a:lnSpc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Parameter Settings</a:t>
            </a:r>
            <a:endParaRPr lang="en" altLang="zh-TW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01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Experimental Result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12</a:t>
            </a:fld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DAB2AB5-87D4-49AC-A196-995669D7F6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895"/>
          <a:stretch/>
        </p:blipFill>
        <p:spPr>
          <a:xfrm>
            <a:off x="1037061" y="1690687"/>
            <a:ext cx="4860078" cy="431310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BB733A3-5FE4-423F-A6F1-3991453EFE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131"/>
          <a:stretch/>
        </p:blipFill>
        <p:spPr>
          <a:xfrm>
            <a:off x="6096000" y="1404512"/>
            <a:ext cx="4711547" cy="4885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B03111F5-DFA3-478B-B951-8AF61F4471DC}"/>
                  </a:ext>
                </a:extLst>
              </p14:cNvPr>
              <p14:cNvContentPartPr/>
              <p14:nvPr/>
            </p14:nvContentPartPr>
            <p14:xfrm>
              <a:off x="10168569" y="5133804"/>
              <a:ext cx="329760" cy="3420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B03111F5-DFA3-478B-B951-8AF61F4471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32569" y="5062164"/>
                <a:ext cx="4014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69883CF8-BE6D-43A1-9CF5-EBCDE65F86CE}"/>
                  </a:ext>
                </a:extLst>
              </p14:cNvPr>
              <p14:cNvContentPartPr/>
              <p14:nvPr/>
            </p14:nvContentPartPr>
            <p14:xfrm>
              <a:off x="10201689" y="6158364"/>
              <a:ext cx="3636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69883CF8-BE6D-43A1-9CF5-EBCDE65F8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65689" y="6086364"/>
                <a:ext cx="43524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914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8072</TotalTime>
  <Words>454</Words>
  <Application>Microsoft Office PowerPoint</Application>
  <PresentationFormat>寬螢幕</PresentationFormat>
  <Paragraphs>108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MathJax_Math-italic</vt:lpstr>
      <vt:lpstr>Arial</vt:lpstr>
      <vt:lpstr>Calibri</vt:lpstr>
      <vt:lpstr>Calibri Light</vt:lpstr>
      <vt:lpstr>Cambria Math</vt:lpstr>
      <vt:lpstr>Georgia</vt:lpstr>
      <vt:lpstr>Times</vt:lpstr>
      <vt:lpstr>Times New Roman</vt:lpstr>
      <vt:lpstr>Office 佈景主題</vt:lpstr>
      <vt:lpstr>Solving shortest common supersequence problem using chemical reaction optimization</vt:lpstr>
      <vt:lpstr>Abstract</vt:lpstr>
      <vt:lpstr>Shortest Common Supersequence</vt:lpstr>
      <vt:lpstr>Dynamic Programming</vt:lpstr>
      <vt:lpstr>Population Generation</vt:lpstr>
      <vt:lpstr>Population Generation</vt:lpstr>
      <vt:lpstr>Reaction Operators</vt:lpstr>
      <vt:lpstr>Reaction Operators</vt:lpstr>
      <vt:lpstr>Reaction Operators</vt:lpstr>
      <vt:lpstr>Reaction Operators</vt:lpstr>
      <vt:lpstr>CRO for SCS Problem</vt:lpstr>
      <vt:lpstr>Experimental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張紋瑜</cp:lastModifiedBy>
  <cp:revision>270</cp:revision>
  <dcterms:created xsi:type="dcterms:W3CDTF">2023-07-01T04:19:29Z</dcterms:created>
  <dcterms:modified xsi:type="dcterms:W3CDTF">2024-05-20T07:38:38Z</dcterms:modified>
</cp:coreProperties>
</file>