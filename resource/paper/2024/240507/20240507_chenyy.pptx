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9" r:id="rId3"/>
    <p:sldId id="260" r:id="rId4"/>
    <p:sldId id="263" r:id="rId5"/>
    <p:sldId id="264" r:id="rId6"/>
    <p:sldId id="261" r:id="rId7"/>
    <p:sldId id="275" r:id="rId8"/>
    <p:sldId id="279" r:id="rId9"/>
    <p:sldId id="276" r:id="rId10"/>
    <p:sldId id="278" r:id="rId11"/>
    <p:sldId id="280" r:id="rId12"/>
    <p:sldId id="268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81" r:id="rId23"/>
    <p:sldId id="282" r:id="rId24"/>
    <p:sldId id="286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88" autoAdjust="0"/>
  </p:normalViewPr>
  <p:slideViewPr>
    <p:cSldViewPr snapToGrid="0">
      <p:cViewPr varScale="1">
        <p:scale>
          <a:sx n="55" d="100"/>
          <a:sy n="55" d="100"/>
        </p:scale>
        <p:origin x="13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FD21D-BF96-479C-982E-44D0F1FCD264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800E6-BF8B-4688-BB24-9F5263D571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773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0863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重點是</a:t>
            </a:r>
            <a:r>
              <a:rPr kumimoji="1" lang="en-US" altLang="zh-TW" dirty="0"/>
              <a:t>right partition</a:t>
            </a:r>
            <a:r>
              <a:rPr kumimoji="1" lang="zh-TW" altLang="en-US" dirty="0"/>
              <a:t>結束後要剛好有一個 </a:t>
            </a:r>
            <a:r>
              <a:rPr kumimoji="1" lang="en-US" altLang="zh-TW" dirty="0"/>
              <a:t>p2 </a:t>
            </a:r>
            <a:r>
              <a:rPr kumimoji="1" lang="zh-TW" altLang="en-US" dirty="0"/>
              <a:t>在左邊的最右邊 這樣就不用額外的空間以及判斷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3516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同顏色交換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5732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35800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1660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5369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6648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9890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每一次 </a:t>
            </a:r>
            <a:r>
              <a:rPr kumimoji="1" lang="en-US" altLang="zh-TW" dirty="0"/>
              <a:t>recursion(sequence) </a:t>
            </a:r>
            <a:r>
              <a:rPr kumimoji="1" lang="zh-TW" altLang="en-US" dirty="0"/>
              <a:t>都可以處理</a:t>
            </a:r>
            <a:r>
              <a:rPr kumimoji="1" lang="en-US" altLang="zh-TW" dirty="0"/>
              <a:t> 1 </a:t>
            </a:r>
            <a:r>
              <a:rPr kumimoji="1" lang="zh-TW" altLang="en-US" dirty="0"/>
              <a:t>個數字，一層會有超過一個 </a:t>
            </a:r>
            <a:r>
              <a:rPr kumimoji="1" lang="en-US" altLang="zh-TW" dirty="0"/>
              <a:t>sequence </a:t>
            </a:r>
            <a:r>
              <a:rPr kumimoji="1" lang="zh-TW" altLang="en-US" dirty="0"/>
              <a:t>被處理，除非每次 </a:t>
            </a:r>
            <a:r>
              <a:rPr kumimoji="1" lang="en-US" altLang="zh-TW" dirty="0"/>
              <a:t>partition </a:t>
            </a:r>
            <a:r>
              <a:rPr kumimoji="1" lang="zh-TW" altLang="en-US" dirty="0"/>
              <a:t>都是 </a:t>
            </a:r>
            <a:r>
              <a:rPr kumimoji="1" lang="en-US" altLang="zh-TW" dirty="0"/>
              <a:t>bad partition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3993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4426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論文證明 </a:t>
            </a:r>
            <a:r>
              <a:rPr kumimoji="1" lang="en-US" altLang="zh-TW" dirty="0"/>
              <a:t>factor </a:t>
            </a:r>
            <a:r>
              <a:rPr kumimoji="1" lang="zh-TW" altLang="en-US" dirty="0"/>
              <a:t>在 </a:t>
            </a:r>
            <a:r>
              <a:rPr kumimoji="1" lang="en-US" altLang="zh-TW" dirty="0"/>
              <a:t>n </a:t>
            </a:r>
            <a:r>
              <a:rPr kumimoji="1" lang="zh-TW" altLang="en-US" dirty="0"/>
              <a:t>很大時 會接近 </a:t>
            </a:r>
            <a:r>
              <a:rPr kumimoji="1" lang="en-US" altLang="zh-TW" dirty="0"/>
              <a:t>H(p)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</a:t>
            </a:r>
            <a:r>
              <a:rPr kumimoji="1" lang="zh-TW" altLang="en-US" dirty="0"/>
              <a:t>是香濃商，以此畫出圖表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0641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 = 0.125 </a:t>
            </a:r>
            <a:r>
              <a:rPr kumimoji="1" lang="zh-TW" altLang="en-US" dirty="0"/>
              <a:t>時會大約比 </a:t>
            </a:r>
            <a:r>
              <a:rPr kumimoji="1" lang="en-US" altLang="zh-TW" dirty="0"/>
              <a:t>optimal case </a:t>
            </a:r>
            <a:r>
              <a:rPr kumimoji="1" lang="zh-TW" altLang="en-US" dirty="0"/>
              <a:t>慢兩倍，所以論文將 </a:t>
            </a:r>
            <a:r>
              <a:rPr kumimoji="1" lang="en-US" altLang="zh-TW" dirty="0" err="1"/>
              <a:t>devide</a:t>
            </a:r>
            <a:r>
              <a:rPr kumimoji="1" lang="en-US" altLang="zh-TW" dirty="0"/>
              <a:t> </a:t>
            </a:r>
            <a:r>
              <a:rPr kumimoji="1" lang="zh-TW" altLang="en-US" dirty="0"/>
              <a:t>比例超過 </a:t>
            </a:r>
            <a:r>
              <a:rPr kumimoji="1" lang="en-US" altLang="zh-TW" dirty="0"/>
              <a:t>0.125:0.875</a:t>
            </a:r>
            <a:r>
              <a:rPr kumimoji="1" lang="zh-TW" altLang="en-US" dirty="0"/>
              <a:t> 的例子視為 </a:t>
            </a:r>
            <a:r>
              <a:rPr kumimoji="1" lang="en-US" altLang="zh-TW" dirty="0"/>
              <a:t>bad partition</a:t>
            </a:r>
          </a:p>
          <a:p>
            <a:r>
              <a:rPr kumimoji="1" lang="en-US" altLang="zh-TW" dirty="0"/>
              <a:t>(</a:t>
            </a:r>
            <a:r>
              <a:rPr kumimoji="1" lang="zh-TW" altLang="en-US" dirty="0"/>
              <a:t>論文選擇會慢兩倍以上的</a:t>
            </a:r>
            <a:r>
              <a:rPr kumimoji="1" lang="en-US" altLang="zh-TW" dirty="0"/>
              <a:t>p</a:t>
            </a:r>
            <a:r>
              <a:rPr kumimoji="1" lang="zh-TW" altLang="en-US" dirty="0"/>
              <a:t>作為閥值是為了與後面的談到的</a:t>
            </a:r>
            <a:r>
              <a:rPr kumimoji="1" lang="en-US" altLang="zh-TW" dirty="0"/>
              <a:t>heapsort</a:t>
            </a:r>
            <a:r>
              <a:rPr kumimoji="1" lang="zh-TW" altLang="en-US" dirty="0"/>
              <a:t>並用，並不是亂選的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5655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因為論文選擇</a:t>
            </a:r>
            <a:r>
              <a:rPr kumimoji="1" lang="en-US" altLang="zh-TW" dirty="0"/>
              <a:t>p=0.125</a:t>
            </a:r>
            <a:r>
              <a:rPr kumimoji="1" lang="zh-TW" altLang="en-US" dirty="0"/>
              <a:t>，</a:t>
            </a:r>
            <a:r>
              <a:rPr kumimoji="1" lang="en-US" altLang="zh-TW" dirty="0"/>
              <a:t>bad partition </a:t>
            </a:r>
            <a:r>
              <a:rPr kumimoji="1" lang="zh-TW" altLang="en-US" dirty="0"/>
              <a:t>會比 </a:t>
            </a:r>
            <a:r>
              <a:rPr kumimoji="1" lang="en-US" altLang="zh-TW" dirty="0"/>
              <a:t>optimal case </a:t>
            </a:r>
            <a:r>
              <a:rPr kumimoji="1" lang="zh-TW" altLang="en-US" dirty="0"/>
              <a:t>慢</a:t>
            </a:r>
            <a:r>
              <a:rPr kumimoji="1" lang="en-US" altLang="zh-TW" dirty="0"/>
              <a:t>2</a:t>
            </a:r>
            <a:r>
              <a:rPr kumimoji="1" lang="zh-TW" altLang="en-US" dirty="0"/>
              <a:t>倍以上</a:t>
            </a:r>
            <a:endParaRPr kumimoji="1" lang="en-US" altLang="zh-TW" dirty="0"/>
          </a:p>
          <a:p>
            <a:r>
              <a:rPr kumimoji="1" lang="zh-TW" altLang="en-US" dirty="0"/>
              <a:t>而</a:t>
            </a:r>
            <a:r>
              <a:rPr kumimoji="1" lang="en-US" altLang="zh-TW" dirty="0" err="1"/>
              <a:t>headsort</a:t>
            </a:r>
            <a:r>
              <a:rPr kumimoji="1" lang="zh-TW" altLang="en-US" dirty="0"/>
              <a:t>會是</a:t>
            </a:r>
            <a:r>
              <a:rPr kumimoji="1" lang="en-US" altLang="zh-TW" dirty="0"/>
              <a:t>quicksort</a:t>
            </a:r>
            <a:r>
              <a:rPr kumimoji="1" lang="zh-TW" altLang="en-US" dirty="0"/>
              <a:t>的兩倍，所以此時用</a:t>
            </a:r>
            <a:r>
              <a:rPr kumimoji="1" lang="en-US" altLang="zh-TW" dirty="0"/>
              <a:t>heapsort </a:t>
            </a:r>
            <a:r>
              <a:rPr kumimoji="1" lang="zh-TW" altLang="en-US" dirty="0"/>
              <a:t>不會更差，這也是為何</a:t>
            </a:r>
            <a:r>
              <a:rPr kumimoji="1" lang="en-US" altLang="zh-TW" dirty="0"/>
              <a:t>p</a:t>
            </a:r>
            <a:r>
              <a:rPr kumimoji="1" lang="zh-TW" altLang="en-US" dirty="0"/>
              <a:t>要是</a:t>
            </a:r>
            <a:r>
              <a:rPr kumimoji="1" lang="en-US" altLang="zh-TW" dirty="0"/>
              <a:t>0.125</a:t>
            </a:r>
          </a:p>
          <a:p>
            <a:r>
              <a:rPr kumimoji="1" lang="en-US" altLang="zh-TW" dirty="0"/>
              <a:t>Counter </a:t>
            </a:r>
            <a:r>
              <a:rPr kumimoji="1" lang="zh-TW" altLang="en-US" dirty="0"/>
              <a:t>是一個閥值，之所以選擇 </a:t>
            </a:r>
            <a:r>
              <a:rPr kumimoji="1" lang="en-US" altLang="zh-TW" dirty="0"/>
              <a:t>log n </a:t>
            </a:r>
            <a:r>
              <a:rPr kumimoji="1" lang="zh-TW" altLang="en-US" dirty="0"/>
              <a:t>是為了之後提及的時間複雜度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5092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論文證明</a:t>
            </a:r>
            <a:r>
              <a:rPr kumimoji="1" lang="en-US" altLang="zh-TW" dirty="0"/>
              <a:t>counter</a:t>
            </a:r>
            <a:r>
              <a:rPr kumimoji="1" lang="zh-TW" altLang="en-US" dirty="0"/>
              <a:t>是</a:t>
            </a:r>
            <a:r>
              <a:rPr kumimoji="1" lang="en-US" altLang="zh-TW" dirty="0"/>
              <a:t>log n</a:t>
            </a:r>
            <a:r>
              <a:rPr kumimoji="1" lang="zh-TW" altLang="en-US" dirty="0"/>
              <a:t>時</a:t>
            </a:r>
            <a:endParaRPr kumimoji="1" lang="en-US" altLang="zh-TW" dirty="0"/>
          </a:p>
          <a:p>
            <a:r>
              <a:rPr kumimoji="1" lang="zh-TW" altLang="en-US" dirty="0"/>
              <a:t>時間複雜度為 </a:t>
            </a:r>
            <a:r>
              <a:rPr kumimoji="1" lang="en-US" altLang="zh-TW" dirty="0"/>
              <a:t>O(n </a:t>
            </a:r>
            <a:r>
              <a:rPr kumimoji="1" lang="en-US" altLang="zh-TW" dirty="0" err="1"/>
              <a:t>logn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7348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不用選最好</a:t>
            </a:r>
            <a:r>
              <a:rPr kumimoji="1" lang="en-US" altLang="zh-TW" dirty="0"/>
              <a:t>(</a:t>
            </a:r>
            <a:r>
              <a:rPr kumimoji="1" lang="zh-TW" altLang="en-US" dirty="0"/>
              <a:t>花時間</a:t>
            </a:r>
            <a:r>
              <a:rPr kumimoji="1" lang="en-US" altLang="zh-TW" dirty="0"/>
              <a:t>)</a:t>
            </a:r>
            <a:r>
              <a:rPr kumimoji="1" lang="zh-TW" altLang="en-US" dirty="0"/>
              <a:t>的</a:t>
            </a:r>
            <a:r>
              <a:rPr kumimoji="1" lang="en-US" altLang="zh-TW" dirty="0"/>
              <a:t>pivot</a:t>
            </a:r>
            <a:r>
              <a:rPr kumimoji="1" lang="zh-TW" altLang="en-US" dirty="0"/>
              <a:t>但是要選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mediocre(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平庸的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TW" dirty="0"/>
              <a:t>Bad partition </a:t>
            </a:r>
            <a:r>
              <a:rPr kumimoji="1" lang="zh-TW" altLang="en-US" dirty="0"/>
              <a:t>時 使用新的</a:t>
            </a:r>
            <a:r>
              <a:rPr kumimoji="1" lang="en-US" altLang="zh-TW" dirty="0"/>
              <a:t> candidate </a:t>
            </a:r>
            <a:r>
              <a:rPr kumimoji="1" lang="zh-TW" altLang="en-US" dirty="0"/>
              <a:t>做 </a:t>
            </a:r>
            <a:r>
              <a:rPr kumimoji="1" lang="en-US" altLang="zh-TW" dirty="0"/>
              <a:t>med3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184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不需要邊界檢查是因為左邊的</a:t>
            </a:r>
            <a:r>
              <a:rPr kumimoji="1" lang="en-US" altLang="zh-TW" dirty="0"/>
              <a:t>partition</a:t>
            </a:r>
            <a:r>
              <a:rPr kumimoji="1" lang="zh-TW" altLang="en-US" dirty="0"/>
              <a:t>一定比較小會自動跳出，就不用每次都判斷</a:t>
            </a:r>
            <a:endParaRPr kumimoji="1" lang="en-US" altLang="zh-TW" dirty="0"/>
          </a:p>
          <a:p>
            <a:r>
              <a:rPr kumimoji="1" lang="en-US" altLang="zh-TW" dirty="0"/>
              <a:t>Move </a:t>
            </a:r>
            <a:r>
              <a:rPr kumimoji="1" lang="zh-TW" altLang="en-US" dirty="0"/>
              <a:t>取代 </a:t>
            </a:r>
            <a:r>
              <a:rPr kumimoji="1" lang="en-US" altLang="zh-TW" dirty="0"/>
              <a:t>swap </a:t>
            </a:r>
            <a:r>
              <a:rPr kumimoji="1" lang="zh-TW" altLang="en-US" dirty="0"/>
              <a:t>可能需要配合特殊結構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3369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這個方法就算把 </a:t>
            </a:r>
            <a:r>
              <a:rPr kumimoji="1" lang="en-US" altLang="zh-TW" dirty="0"/>
              <a:t>bad case </a:t>
            </a:r>
            <a:r>
              <a:rPr kumimoji="1" lang="zh-TW" altLang="en-US" dirty="0"/>
              <a:t>拿來做也只會多一倍的時間尚可接受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1497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9621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8586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402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6B02-21CC-44D0-9CD5-BFC85383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36A82-1489-4022-A7E2-28C4C908A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D812-B600-45AC-9A66-D776F674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7E7D-6CC2-4166-AA9D-1F6A563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8B100-1295-438B-90D3-487EE1A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9F37-B6F9-41C9-B3DA-D0FFAE97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4E87-5769-48EE-B953-AE7D733B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74CBB-FFEB-482E-81EC-E1239B89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C919CD-6B68-420C-8E81-A414F69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93167-BE22-4D5C-8B4E-88E4486A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58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01AF9-91BA-4AE1-8483-4DDA45A0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8BA73-6937-488E-ADE9-BC757675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EF2E-E145-4BB6-A827-F4EA10CD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15F903-5930-4990-9E5F-CF36D0EB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A4792-8DE6-4917-B57D-045E436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3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C3C8-75F2-4962-85C0-B1EB75C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EA971-6E29-421C-89E5-9BCE2280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DFC00-F58B-4359-ABA3-D7400072F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55FEE0-F523-44EC-BEA1-49DA9FC7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E93FE8-CCFA-4879-9D19-A18AD34B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D1AF11-CF6B-4B1F-95CC-1BAB850E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4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8B1E0-51A1-4E7A-A18E-76B2330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A0E0C-76B6-4EFE-9CD6-54CA82A4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60BE0-1A3A-4595-91F3-448F5678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CA7E51-0072-46AE-AF25-D9B0B6E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B12FEC-3918-4AB1-B8D5-8F579A5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5CF0E-FAC2-4640-AF9E-30CC1DE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84CF1-438F-4047-AD85-E271F3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2773BD-943B-4F37-B8B1-04B9805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3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93D89-BBAD-4D92-99E2-E835483F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8F47C-1F0E-4762-9A43-B1AE4451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1D9460-7D1D-401A-8CAB-64C0E3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D827AB-51F4-4247-B2B6-C73CFBAF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A9DFDE-82DF-4628-8AF2-11874100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F0B9EE-F903-4FD0-B4A5-40900DD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E498E-E1BB-4E27-943A-10A5F3E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CF183-1FDA-46BD-B3C8-197DEF01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0C092-CADF-4E59-A374-8A10B8C2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4E7EA7-402C-4638-A70D-A67C9647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061BF-06BE-46A9-87FF-8CB6611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8F5F-B12E-4BF9-823E-AA7A5E59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8B9242-6404-43E8-B8A2-8F4CC8B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D502F-79C1-41DE-A505-BF47D93B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6EAB69-801D-4484-9CDB-8743A8A4D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357D14-9D30-4004-A23F-9C0F5AD15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85B0A-17F1-4A9C-AFEA-6507B1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A6154-8029-4D45-9C23-B8E70062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BC0EC0-9CE0-47BF-9656-AFA4D54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0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80441-3DEC-46CB-A62D-1D832F4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3BA409-9C19-42C1-AEC3-F861A6F0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F9005-5C9B-4DEA-9D54-9D0E0A73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CD77-868E-4E36-96C9-516379E7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635AC-BF23-4F3C-94F0-350145B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0E3CFB-D284-4B79-97E2-FF5ECD6A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EEBBB6-FCB7-4849-9F97-0998277E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1855F-7F47-43A5-A2B7-DED70814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5656E3-AA5E-425A-B2DE-FEF93B8A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00F4D-DD71-4158-947D-29B4D1E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56A63A-A313-4520-A4B9-F6025A7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247C57-EF40-4985-81B2-6C865164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AB606F-6505-43A3-A009-C4A37431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C79B-B8D8-4CA3-9AD2-35393C1E256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D252F0-8A97-4E76-B50A-2AA65C900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266F1-357C-4F6A-A4D5-BFCF118C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Pattern-defeating Quicksort</a:t>
            </a:r>
            <a:endParaRPr kumimoji="1" lang="en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Orson R. L. Peters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(2021). </a:t>
            </a:r>
          </a:p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Pattern-defeating quicksort.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arXiv:2106.05123.</a:t>
            </a:r>
            <a:endParaRPr lang="en-US" altLang="zh-TW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new solution for the Dutch national flag problem is proposed, requiring no three-way comparisons, which gives quicksort a proper worst-case runtime of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𝑛𝑘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inputs with k distinct elements. This is used together with other known and novel techniques to construct a hybrid sort that is never significantly slower than regular quicksort while speeding up drastically for many input distributions.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Quicksort Worst Case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naive quicksort implementation might trigger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d>
                      <m:dPr>
                        <m:ctrlPr>
                          <a:rPr kumimoji="1" lang="en-US" altLang="zh-TW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TW" b="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 case on the all-equal input distribution by placing equal comparing elements in the same partition. 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7576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right</a:t>
            </a:r>
          </a:p>
          <a:p>
            <a:pPr marL="0" indent="0" algn="just">
              <a:lnSpc>
                <a:spcPct val="120000"/>
              </a:lnSpc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left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B4B750-BECB-3F2D-9ED5-B3F8236EC724}"/>
              </a:ext>
            </a:extLst>
          </p:cNvPr>
          <p:cNvSpPr/>
          <p:nvPr/>
        </p:nvSpPr>
        <p:spPr>
          <a:xfrm>
            <a:off x="1282535" y="2541319"/>
            <a:ext cx="10071265" cy="7600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A1D227-6AED-1D2E-D852-F2DB43F2B6C0}"/>
              </a:ext>
            </a:extLst>
          </p:cNvPr>
          <p:cNvSpPr/>
          <p:nvPr/>
        </p:nvSpPr>
        <p:spPr>
          <a:xfrm>
            <a:off x="1282535" y="4732641"/>
            <a:ext cx="10071265" cy="7600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C0B400E-CF1E-D858-F90B-DFF7692EDA60}"/>
              </a:ext>
            </a:extLst>
          </p:cNvPr>
          <p:cNvCxnSpPr/>
          <p:nvPr/>
        </p:nvCxnSpPr>
        <p:spPr>
          <a:xfrm>
            <a:off x="3906982" y="2541319"/>
            <a:ext cx="0" cy="7600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DC174BE-6837-60C8-C7C6-01092CD05E52}"/>
              </a:ext>
            </a:extLst>
          </p:cNvPr>
          <p:cNvCxnSpPr/>
          <p:nvPr/>
        </p:nvCxnSpPr>
        <p:spPr>
          <a:xfrm>
            <a:off x="4807527" y="2541319"/>
            <a:ext cx="0" cy="7600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58196F-BB32-88E2-75F9-4410ACE42BB3}"/>
              </a:ext>
            </a:extLst>
          </p:cNvPr>
          <p:cNvSpPr txBox="1"/>
          <p:nvPr/>
        </p:nvSpPr>
        <p:spPr>
          <a:xfrm>
            <a:off x="4143895" y="2541319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21C8949-AFEA-56FA-25D4-6A6A25D50A52}"/>
              </a:ext>
            </a:extLst>
          </p:cNvPr>
          <p:cNvCxnSpPr/>
          <p:nvPr/>
        </p:nvCxnSpPr>
        <p:spPr>
          <a:xfrm>
            <a:off x="7710055" y="4732641"/>
            <a:ext cx="0" cy="7600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394FAE9-49B7-5F2E-63E5-E7CC03CC8D01}"/>
              </a:ext>
            </a:extLst>
          </p:cNvPr>
          <p:cNvCxnSpPr/>
          <p:nvPr/>
        </p:nvCxnSpPr>
        <p:spPr>
          <a:xfrm>
            <a:off x="8610600" y="4732641"/>
            <a:ext cx="0" cy="7600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826CFC-DD2D-AA72-80B6-4343BE327542}"/>
              </a:ext>
            </a:extLst>
          </p:cNvPr>
          <p:cNvSpPr txBox="1"/>
          <p:nvPr/>
        </p:nvSpPr>
        <p:spPr>
          <a:xfrm>
            <a:off x="7946968" y="4732641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91109FF-E9E1-030A-FCE1-E211AB528938}"/>
                  </a:ext>
                </a:extLst>
              </p:cNvPr>
              <p:cNvSpPr txBox="1"/>
              <p:nvPr/>
            </p:nvSpPr>
            <p:spPr>
              <a:xfrm>
                <a:off x="2245319" y="2598163"/>
                <a:ext cx="10382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91109FF-E9E1-030A-FCE1-E211AB52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19" y="2598163"/>
                <a:ext cx="103829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DF9127C-0057-3496-6141-D0CAD4E0EA8D}"/>
                  </a:ext>
                </a:extLst>
              </p:cNvPr>
              <p:cNvSpPr txBox="1"/>
              <p:nvPr/>
            </p:nvSpPr>
            <p:spPr>
              <a:xfrm>
                <a:off x="9760024" y="4789485"/>
                <a:ext cx="10382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DF9127C-0057-3496-6141-D0CAD4E0E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024" y="4789485"/>
                <a:ext cx="103829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484CCDE-859B-F39D-9277-CD205E35499E}"/>
                  </a:ext>
                </a:extLst>
              </p:cNvPr>
              <p:cNvSpPr txBox="1"/>
              <p:nvPr/>
            </p:nvSpPr>
            <p:spPr>
              <a:xfrm>
                <a:off x="7715976" y="2598163"/>
                <a:ext cx="10382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484CCDE-859B-F39D-9277-CD205E354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76" y="2598163"/>
                <a:ext cx="103829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C26C48F-4D26-7A86-EB81-7998ED02B0DC}"/>
                  </a:ext>
                </a:extLst>
              </p:cNvPr>
              <p:cNvSpPr txBox="1"/>
              <p:nvPr/>
            </p:nvSpPr>
            <p:spPr>
              <a:xfrm>
                <a:off x="4143895" y="4789484"/>
                <a:ext cx="10382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3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C26C48F-4D26-7A86-EB81-7998ED02B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895" y="4789484"/>
                <a:ext cx="103829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833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Tripartite Partitioning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right</a:t>
            </a:r>
          </a:p>
          <a:p>
            <a:pPr marL="0" indent="0" algn="just">
              <a:lnSpc>
                <a:spcPct val="120000"/>
              </a:lnSpc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left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F8DA3AB6-B0A8-6630-8A97-08AE70CBA8D7}"/>
              </a:ext>
            </a:extLst>
          </p:cNvPr>
          <p:cNvGrpSpPr/>
          <p:nvPr/>
        </p:nvGrpSpPr>
        <p:grpSpPr>
          <a:xfrm>
            <a:off x="1282535" y="2540561"/>
            <a:ext cx="10071265" cy="761537"/>
            <a:chOff x="1282535" y="2540561"/>
            <a:chExt cx="10071265" cy="7615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2B4B750-BECB-3F2D-9ED5-B3F8236EC724}"/>
                </a:ext>
              </a:extLst>
            </p:cNvPr>
            <p:cNvSpPr/>
            <p:nvPr/>
          </p:nvSpPr>
          <p:spPr>
            <a:xfrm>
              <a:off x="1282535" y="2541319"/>
              <a:ext cx="10071265" cy="76002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9C0B400E-CF1E-D858-F90B-DFF7692EDA60}"/>
                </a:ext>
              </a:extLst>
            </p:cNvPr>
            <p:cNvCxnSpPr/>
            <p:nvPr/>
          </p:nvCxnSpPr>
          <p:spPr>
            <a:xfrm>
              <a:off x="3906982" y="2541319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DC174BE-6837-60C8-C7C6-01092CD05E52}"/>
                </a:ext>
              </a:extLst>
            </p:cNvPr>
            <p:cNvCxnSpPr/>
            <p:nvPr/>
          </p:nvCxnSpPr>
          <p:spPr>
            <a:xfrm>
              <a:off x="4807527" y="2541319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E91109FF-E9E1-030A-FCE1-E211AB528938}"/>
                    </a:ext>
                  </a:extLst>
                </p:cNvPr>
                <p:cNvSpPr txBox="1"/>
                <p:nvPr/>
              </p:nvSpPr>
              <p:spPr>
                <a:xfrm>
                  <a:off x="2245319" y="2598163"/>
                  <a:ext cx="12220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E91109FF-E9E1-030A-FCE1-E211AB528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319" y="2598163"/>
                  <a:ext cx="1222001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484CCDE-859B-F39D-9277-CD205E35499E}"/>
                    </a:ext>
                  </a:extLst>
                </p:cNvPr>
                <p:cNvSpPr txBox="1"/>
                <p:nvPr/>
              </p:nvSpPr>
              <p:spPr>
                <a:xfrm>
                  <a:off x="7715976" y="2598163"/>
                  <a:ext cx="12220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484CCDE-859B-F39D-9277-CD205E354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976" y="2598163"/>
                  <a:ext cx="1222001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3E2993F-8E54-4815-06C8-C11952CDB4F7}"/>
                </a:ext>
              </a:extLst>
            </p:cNvPr>
            <p:cNvCxnSpPr/>
            <p:nvPr/>
          </p:nvCxnSpPr>
          <p:spPr>
            <a:xfrm>
              <a:off x="5692346" y="2542077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352A9BE9-F2CB-F7A1-5756-5A34A97AF25D}"/>
                    </a:ext>
                  </a:extLst>
                </p:cNvPr>
                <p:cNvSpPr txBox="1"/>
                <p:nvPr/>
              </p:nvSpPr>
              <p:spPr>
                <a:xfrm>
                  <a:off x="4075015" y="2540561"/>
                  <a:ext cx="74751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352A9BE9-F2CB-F7A1-5756-5A34A97AF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5015" y="2540561"/>
                  <a:ext cx="747512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289EB43-8C68-4585-AF0D-3D0BB75870C3}"/>
                    </a:ext>
                  </a:extLst>
                </p:cNvPr>
                <p:cNvSpPr txBox="1"/>
                <p:nvPr/>
              </p:nvSpPr>
              <p:spPr>
                <a:xfrm>
                  <a:off x="4893106" y="2564523"/>
                  <a:ext cx="75822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289EB43-8C68-4585-AF0D-3D0BB7587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3106" y="2564523"/>
                  <a:ext cx="758220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61F5E263-94F8-142D-5E7E-F3631E2EDF7C}"/>
              </a:ext>
            </a:extLst>
          </p:cNvPr>
          <p:cNvGrpSpPr/>
          <p:nvPr/>
        </p:nvGrpSpPr>
        <p:grpSpPr>
          <a:xfrm>
            <a:off x="1282535" y="4465793"/>
            <a:ext cx="10071265" cy="760779"/>
            <a:chOff x="1282535" y="4465793"/>
            <a:chExt cx="10071265" cy="76077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651EE90-553F-DF55-DD76-D719E118F738}"/>
                </a:ext>
              </a:extLst>
            </p:cNvPr>
            <p:cNvSpPr/>
            <p:nvPr/>
          </p:nvSpPr>
          <p:spPr>
            <a:xfrm>
              <a:off x="1282535" y="4466551"/>
              <a:ext cx="10071265" cy="76002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89DE63E9-9206-CD78-5021-A7213A364A77}"/>
                </a:ext>
              </a:extLst>
            </p:cNvPr>
            <p:cNvCxnSpPr/>
            <p:nvPr/>
          </p:nvCxnSpPr>
          <p:spPr>
            <a:xfrm>
              <a:off x="3906982" y="44665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9E125273-AD31-906C-ACBE-196B5B909A58}"/>
                </a:ext>
              </a:extLst>
            </p:cNvPr>
            <p:cNvCxnSpPr/>
            <p:nvPr/>
          </p:nvCxnSpPr>
          <p:spPr>
            <a:xfrm>
              <a:off x="4807527" y="44665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983A3F92-4411-A80E-2E73-64030C2BD708}"/>
                    </a:ext>
                  </a:extLst>
                </p:cNvPr>
                <p:cNvSpPr txBox="1"/>
                <p:nvPr/>
              </p:nvSpPr>
              <p:spPr>
                <a:xfrm>
                  <a:off x="2245319" y="4523395"/>
                  <a:ext cx="12220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983A3F92-4411-A80E-2E73-64030C2BD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319" y="4523395"/>
                  <a:ext cx="1222001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F0178A06-C33F-EFF8-89B5-8245B25D8E04}"/>
                    </a:ext>
                  </a:extLst>
                </p:cNvPr>
                <p:cNvSpPr txBox="1"/>
                <p:nvPr/>
              </p:nvSpPr>
              <p:spPr>
                <a:xfrm>
                  <a:off x="9982200" y="4466551"/>
                  <a:ext cx="12327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F0178A06-C33F-EFF8-89B5-8245B25D8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2200" y="4466551"/>
                  <a:ext cx="1232709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2FBD5289-B1DB-CEE4-418B-87FC3D827A9C}"/>
                </a:ext>
              </a:extLst>
            </p:cNvPr>
            <p:cNvCxnSpPr/>
            <p:nvPr/>
          </p:nvCxnSpPr>
          <p:spPr>
            <a:xfrm>
              <a:off x="7875076" y="44657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1510B5A1-31CD-7FDA-F00F-E24ACFDA17F8}"/>
                </a:ext>
              </a:extLst>
            </p:cNvPr>
            <p:cNvCxnSpPr/>
            <p:nvPr/>
          </p:nvCxnSpPr>
          <p:spPr>
            <a:xfrm>
              <a:off x="8775621" y="44657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7785F8F7-27EA-46A5-3EF7-419A349A2F50}"/>
                    </a:ext>
                  </a:extLst>
                </p:cNvPr>
                <p:cNvSpPr txBox="1"/>
                <p:nvPr/>
              </p:nvSpPr>
              <p:spPr>
                <a:xfrm>
                  <a:off x="5995001" y="4522637"/>
                  <a:ext cx="12327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7785F8F7-27EA-46A5-3EF7-419A349A2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5001" y="4522637"/>
                  <a:ext cx="1232709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A9BB5AF-F2CB-97FB-BC10-86262C9E7F32}"/>
                    </a:ext>
                  </a:extLst>
                </p:cNvPr>
                <p:cNvSpPr txBox="1"/>
                <p:nvPr/>
              </p:nvSpPr>
              <p:spPr>
                <a:xfrm>
                  <a:off x="7956032" y="4500113"/>
                  <a:ext cx="75822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A9BB5AF-F2CB-97FB-BC10-86262C9E7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6032" y="4500113"/>
                  <a:ext cx="758220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5865F972-BD4A-E7C2-225A-77EB7ED4610C}"/>
                    </a:ext>
                  </a:extLst>
                </p:cNvPr>
                <p:cNvSpPr txBox="1"/>
                <p:nvPr/>
              </p:nvSpPr>
              <p:spPr>
                <a:xfrm>
                  <a:off x="3979060" y="4477121"/>
                  <a:ext cx="74751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5865F972-BD4A-E7C2-225A-77EB7ED46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060" y="4477121"/>
                  <a:ext cx="747512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843A70B3-6714-3D25-DE3D-4E8AFCE36FD5}"/>
              </a:ext>
            </a:extLst>
          </p:cNvPr>
          <p:cNvGrpSpPr/>
          <p:nvPr/>
        </p:nvGrpSpPr>
        <p:grpSpPr>
          <a:xfrm>
            <a:off x="1282535" y="5376592"/>
            <a:ext cx="10071265" cy="760780"/>
            <a:chOff x="1282535" y="5376592"/>
            <a:chExt cx="10071265" cy="76078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FFB3AF1-F48A-70E5-A5F3-99F009AA9A1F}"/>
                </a:ext>
              </a:extLst>
            </p:cNvPr>
            <p:cNvSpPr/>
            <p:nvPr/>
          </p:nvSpPr>
          <p:spPr>
            <a:xfrm>
              <a:off x="1282535" y="5377351"/>
              <a:ext cx="10071265" cy="76002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468BDFC1-E824-588C-44C3-F2CFA3D8CE5F}"/>
                </a:ext>
              </a:extLst>
            </p:cNvPr>
            <p:cNvCxnSpPr/>
            <p:nvPr/>
          </p:nvCxnSpPr>
          <p:spPr>
            <a:xfrm>
              <a:off x="3906982" y="53773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7CA00956-A7A3-8B3A-A51B-3D0FE121CBA1}"/>
                </a:ext>
              </a:extLst>
            </p:cNvPr>
            <p:cNvCxnSpPr/>
            <p:nvPr/>
          </p:nvCxnSpPr>
          <p:spPr>
            <a:xfrm>
              <a:off x="4807527" y="53773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3B8D7D-0701-6CC6-B1F5-053DFE65B217}"/>
                    </a:ext>
                  </a:extLst>
                </p:cNvPr>
                <p:cNvSpPr txBox="1"/>
                <p:nvPr/>
              </p:nvSpPr>
              <p:spPr>
                <a:xfrm>
                  <a:off x="2245319" y="5434195"/>
                  <a:ext cx="12220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3B8D7D-0701-6CC6-B1F5-053DFE65B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319" y="5434195"/>
                  <a:ext cx="1222001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ABCDBA7-BAA7-7933-0DB9-CE9DED38567D}"/>
                    </a:ext>
                  </a:extLst>
                </p:cNvPr>
                <p:cNvSpPr txBox="1"/>
                <p:nvPr/>
              </p:nvSpPr>
              <p:spPr>
                <a:xfrm>
                  <a:off x="9982200" y="5377351"/>
                  <a:ext cx="12327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ABCDBA7-BAA7-7933-0DB9-CE9DED385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2200" y="5377351"/>
                  <a:ext cx="1232709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8E6B751A-E54C-F872-0FE3-04E6AB036F6C}"/>
                </a:ext>
              </a:extLst>
            </p:cNvPr>
            <p:cNvCxnSpPr/>
            <p:nvPr/>
          </p:nvCxnSpPr>
          <p:spPr>
            <a:xfrm>
              <a:off x="7875076" y="53765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2C8EA3A8-E64F-BE95-F2DB-0E8B82267CB5}"/>
                </a:ext>
              </a:extLst>
            </p:cNvPr>
            <p:cNvCxnSpPr/>
            <p:nvPr/>
          </p:nvCxnSpPr>
          <p:spPr>
            <a:xfrm>
              <a:off x="8775621" y="53765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F1A0A933-E427-5EEE-5A90-3D50686391D2}"/>
                    </a:ext>
                  </a:extLst>
                </p:cNvPr>
                <p:cNvSpPr txBox="1"/>
                <p:nvPr/>
              </p:nvSpPr>
              <p:spPr>
                <a:xfrm>
                  <a:off x="5995001" y="5433437"/>
                  <a:ext cx="10366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F1A0A933-E427-5EEE-5A90-3D5068639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5001" y="5433437"/>
                  <a:ext cx="1036694" cy="6463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FBFB2C6-E8E4-3225-E43F-A10FEA249ADE}"/>
                    </a:ext>
                  </a:extLst>
                </p:cNvPr>
                <p:cNvSpPr txBox="1"/>
                <p:nvPr/>
              </p:nvSpPr>
              <p:spPr>
                <a:xfrm>
                  <a:off x="4002852" y="5376592"/>
                  <a:ext cx="74751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FBFB2C6-E8E4-3225-E43F-A10FEA249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852" y="5376592"/>
                  <a:ext cx="747512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77FF8CCF-472D-F195-2AB7-2DEA6E0E91C7}"/>
                    </a:ext>
                  </a:extLst>
                </p:cNvPr>
                <p:cNvSpPr txBox="1"/>
                <p:nvPr/>
              </p:nvSpPr>
              <p:spPr>
                <a:xfrm>
                  <a:off x="7932239" y="5376592"/>
                  <a:ext cx="75822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77FF8CCF-472D-F195-2AB7-2DEA6E0E9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239" y="5376592"/>
                  <a:ext cx="758220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8047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sp>
        <p:nvSpPr>
          <p:cNvPr id="11" name="流程圖: 決策 10">
            <a:extLst>
              <a:ext uri="{FF2B5EF4-FFF2-40B4-BE49-F238E27FC236}">
                <a16:creationId xmlns:a16="http://schemas.microsoft.com/office/drawing/2014/main" id="{1E28D801-F37E-DB29-48C4-86DACBF40F88}"/>
              </a:ext>
            </a:extLst>
          </p:cNvPr>
          <p:cNvSpPr/>
          <p:nvPr/>
        </p:nvSpPr>
        <p:spPr>
          <a:xfrm>
            <a:off x="6424551" y="2149794"/>
            <a:ext cx="2208809" cy="1059870"/>
          </a:xfrm>
          <a:prstGeom prst="flowChartDecisi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p==q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72E449C-B49C-CCA7-4A7B-36A7EA16EF1A}"/>
              </a:ext>
            </a:extLst>
          </p:cNvPr>
          <p:cNvGrpSpPr/>
          <p:nvPr/>
        </p:nvGrpSpPr>
        <p:grpSpPr>
          <a:xfrm>
            <a:off x="8633360" y="2156508"/>
            <a:ext cx="760021" cy="1422488"/>
            <a:chOff x="7140878" y="1963176"/>
            <a:chExt cx="760021" cy="1422488"/>
          </a:xfrm>
        </p:grpSpPr>
        <p:cxnSp>
          <p:nvCxnSpPr>
            <p:cNvPr id="13" name="接點: 肘形 12">
              <a:extLst>
                <a:ext uri="{FF2B5EF4-FFF2-40B4-BE49-F238E27FC236}">
                  <a16:creationId xmlns:a16="http://schemas.microsoft.com/office/drawing/2014/main" id="{8BD0BA2C-A7BF-387A-A152-CFB2E1B3C0E8}"/>
                </a:ext>
              </a:extLst>
            </p:cNvPr>
            <p:cNvCxnSpPr>
              <a:cxnSpLocks/>
              <a:stCxn id="11" idx="3"/>
              <a:endCxn id="23" idx="0"/>
            </p:cNvCxnSpPr>
            <p:nvPr/>
          </p:nvCxnSpPr>
          <p:spPr>
            <a:xfrm>
              <a:off x="7140878" y="2486397"/>
              <a:ext cx="760021" cy="89926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7BC80B7-EB5C-6B58-7D62-3B220E8697B6}"/>
                </a:ext>
              </a:extLst>
            </p:cNvPr>
            <p:cNvSpPr txBox="1"/>
            <p:nvPr/>
          </p:nvSpPr>
          <p:spPr>
            <a:xfrm>
              <a:off x="7140878" y="1963176"/>
              <a:ext cx="6612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F66F3804-F13F-F464-527B-A74A81240CF6}"/>
              </a:ext>
            </a:extLst>
          </p:cNvPr>
          <p:cNvGrpSpPr/>
          <p:nvPr/>
        </p:nvGrpSpPr>
        <p:grpSpPr>
          <a:xfrm>
            <a:off x="5065293" y="2208288"/>
            <a:ext cx="1359258" cy="1360735"/>
            <a:chOff x="3474001" y="2014956"/>
            <a:chExt cx="1359258" cy="1360735"/>
          </a:xfrm>
        </p:grpSpPr>
        <p:cxnSp>
          <p:nvCxnSpPr>
            <p:cNvPr id="16" name="接點: 肘形 15">
              <a:extLst>
                <a:ext uri="{FF2B5EF4-FFF2-40B4-BE49-F238E27FC236}">
                  <a16:creationId xmlns:a16="http://schemas.microsoft.com/office/drawing/2014/main" id="{4856BB97-7741-175A-2ED3-261A45F4CC7B}"/>
                </a:ext>
              </a:extLst>
            </p:cNvPr>
            <p:cNvCxnSpPr>
              <a:cxnSpLocks/>
              <a:stCxn id="11" idx="1"/>
              <a:endCxn id="22" idx="0"/>
            </p:cNvCxnSpPr>
            <p:nvPr/>
          </p:nvCxnSpPr>
          <p:spPr>
            <a:xfrm rot="10800000" flipV="1">
              <a:off x="3474001" y="2486397"/>
              <a:ext cx="1359258" cy="88929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B6C88A1D-A59B-A982-C4CC-8175503826A6}"/>
                </a:ext>
              </a:extLst>
            </p:cNvPr>
            <p:cNvSpPr txBox="1"/>
            <p:nvPr/>
          </p:nvSpPr>
          <p:spPr>
            <a:xfrm>
              <a:off x="4171762" y="2014956"/>
              <a:ext cx="56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5F8B21A-C89B-DCC1-D5BB-19A6438C1E62}"/>
              </a:ext>
            </a:extLst>
          </p:cNvPr>
          <p:cNvSpPr/>
          <p:nvPr/>
        </p:nvSpPr>
        <p:spPr>
          <a:xfrm>
            <a:off x="3960888" y="3569023"/>
            <a:ext cx="2208809" cy="10598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right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FFE145-EFA8-DBFC-355E-2DDE6E32CBC5}"/>
              </a:ext>
            </a:extLst>
          </p:cNvPr>
          <p:cNvSpPr/>
          <p:nvPr/>
        </p:nvSpPr>
        <p:spPr>
          <a:xfrm>
            <a:off x="8288976" y="3578996"/>
            <a:ext cx="2208809" cy="10598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left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4B9618AD-A4CC-194C-4296-EB01B70F5CE7}"/>
              </a:ext>
            </a:extLst>
          </p:cNvPr>
          <p:cNvCxnSpPr>
            <a:cxnSpLocks/>
            <a:stCxn id="22" idx="1"/>
            <a:endCxn id="11" idx="0"/>
          </p:cNvCxnSpPr>
          <p:nvPr/>
        </p:nvCxnSpPr>
        <p:spPr>
          <a:xfrm rot="10800000" flipH="1">
            <a:off x="3960888" y="2149794"/>
            <a:ext cx="3568068" cy="1949164"/>
          </a:xfrm>
          <a:prstGeom prst="bentConnector4">
            <a:avLst>
              <a:gd name="adj1" fmla="val -46013"/>
              <a:gd name="adj2" fmla="val 11172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C89739-E87B-3BBF-C325-46A4EF6E7B77}"/>
              </a:ext>
            </a:extLst>
          </p:cNvPr>
          <p:cNvSpPr txBox="1"/>
          <p:nvPr/>
        </p:nvSpPr>
        <p:spPr>
          <a:xfrm>
            <a:off x="2869686" y="3565764"/>
            <a:ext cx="66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A0DDCF99-20BC-8CDF-8BEB-C0BB5A85FDB2}"/>
              </a:ext>
            </a:extLst>
          </p:cNvPr>
          <p:cNvCxnSpPr>
            <a:cxnSpLocks/>
            <a:stCxn id="22" idx="3"/>
          </p:cNvCxnSpPr>
          <p:nvPr/>
        </p:nvCxnSpPr>
        <p:spPr>
          <a:xfrm flipH="1">
            <a:off x="2082142" y="4098958"/>
            <a:ext cx="4087555" cy="1272016"/>
          </a:xfrm>
          <a:prstGeom prst="bentConnector3">
            <a:avLst>
              <a:gd name="adj1" fmla="val -2912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B5A2D45F-06E0-5265-6761-910643AFB7B2}"/>
              </a:ext>
            </a:extLst>
          </p:cNvPr>
          <p:cNvCxnSpPr>
            <a:endCxn id="11" idx="0"/>
          </p:cNvCxnSpPr>
          <p:nvPr/>
        </p:nvCxnSpPr>
        <p:spPr>
          <a:xfrm flipV="1">
            <a:off x="2193303" y="2149794"/>
            <a:ext cx="5335653" cy="3221180"/>
          </a:xfrm>
          <a:prstGeom prst="bentConnector4">
            <a:avLst>
              <a:gd name="adj1" fmla="val -5307"/>
              <a:gd name="adj2" fmla="val 11705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0C0F4AF-5C96-94E8-2D14-C367ADC48F39}"/>
              </a:ext>
            </a:extLst>
          </p:cNvPr>
          <p:cNvSpPr txBox="1"/>
          <p:nvPr/>
        </p:nvSpPr>
        <p:spPr>
          <a:xfrm>
            <a:off x="6370297" y="3575737"/>
            <a:ext cx="862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3F6EAD99-DF2E-5ACB-4D9E-299B5EB0DB2F}"/>
              </a:ext>
            </a:extLst>
          </p:cNvPr>
          <p:cNvCxnSpPr>
            <a:cxnSpLocks/>
            <a:stCxn id="23" idx="2"/>
            <a:endCxn id="69" idx="0"/>
          </p:cNvCxnSpPr>
          <p:nvPr/>
        </p:nvCxnSpPr>
        <p:spPr>
          <a:xfrm flipH="1">
            <a:off x="9393380" y="4638866"/>
            <a:ext cx="1" cy="6247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36E1CD3B-52F9-93F7-E721-DFDF13908F3B}"/>
              </a:ext>
            </a:extLst>
          </p:cNvPr>
          <p:cNvSpPr/>
          <p:nvPr/>
        </p:nvSpPr>
        <p:spPr>
          <a:xfrm>
            <a:off x="8676902" y="5263598"/>
            <a:ext cx="1432956" cy="585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C1F8ABD8-D700-0FBD-2B98-3B4677CE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44657"/>
              </p:ext>
            </p:extLst>
          </p:nvPr>
        </p:nvGraphicFramePr>
        <p:xfrm>
          <a:off x="8963963" y="1009391"/>
          <a:ext cx="28329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585">
                  <a:extLst>
                    <a:ext uri="{9D8B030D-6E8A-4147-A177-3AD203B41FA5}">
                      <a16:colId xmlns:a16="http://schemas.microsoft.com/office/drawing/2014/main" val="2817604836"/>
                    </a:ext>
                  </a:extLst>
                </a:gridCol>
                <a:gridCol w="566585">
                  <a:extLst>
                    <a:ext uri="{9D8B030D-6E8A-4147-A177-3AD203B41FA5}">
                      <a16:colId xmlns:a16="http://schemas.microsoft.com/office/drawing/2014/main" val="1402407492"/>
                    </a:ext>
                  </a:extLst>
                </a:gridCol>
                <a:gridCol w="566585">
                  <a:extLst>
                    <a:ext uri="{9D8B030D-6E8A-4147-A177-3AD203B41FA5}">
                      <a16:colId xmlns:a16="http://schemas.microsoft.com/office/drawing/2014/main" val="222489340"/>
                    </a:ext>
                  </a:extLst>
                </a:gridCol>
                <a:gridCol w="566585">
                  <a:extLst>
                    <a:ext uri="{9D8B030D-6E8A-4147-A177-3AD203B41FA5}">
                      <a16:colId xmlns:a16="http://schemas.microsoft.com/office/drawing/2014/main" val="4024707337"/>
                    </a:ext>
                  </a:extLst>
                </a:gridCol>
                <a:gridCol w="566585">
                  <a:extLst>
                    <a:ext uri="{9D8B030D-6E8A-4147-A177-3AD203B41FA5}">
                      <a16:colId xmlns:a16="http://schemas.microsoft.com/office/drawing/2014/main" val="2775822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838901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99ED0534-2985-899D-3F70-1E573694D151}"/>
              </a:ext>
            </a:extLst>
          </p:cNvPr>
          <p:cNvSpPr txBox="1"/>
          <p:nvPr/>
        </p:nvSpPr>
        <p:spPr>
          <a:xfrm>
            <a:off x="8472871" y="237269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predecessor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7473E0B3-F17A-559A-D128-29A2E46FF0D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291365" y="698934"/>
            <a:ext cx="0" cy="282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545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Example(1/5)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48433602-0F0C-F86E-51E0-7D69B97DF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673379"/>
              </p:ext>
            </p:extLst>
          </p:nvPr>
        </p:nvGraphicFramePr>
        <p:xfrm>
          <a:off x="838204" y="2787311"/>
          <a:ext cx="105155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sp>
        <p:nvSpPr>
          <p:cNvPr id="7" name="左中括弧 6">
            <a:extLst>
              <a:ext uri="{FF2B5EF4-FFF2-40B4-BE49-F238E27FC236}">
                <a16:creationId xmlns:a16="http://schemas.microsoft.com/office/drawing/2014/main" id="{24C2D6D4-18FE-DBA4-9258-FD310747452A}"/>
              </a:ext>
            </a:extLst>
          </p:cNvPr>
          <p:cNvSpPr/>
          <p:nvPr/>
        </p:nvSpPr>
        <p:spPr>
          <a:xfrm rot="5400000">
            <a:off x="5378033" y="-2177140"/>
            <a:ext cx="694705" cy="8856033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中括弧 8">
            <a:extLst>
              <a:ext uri="{FF2B5EF4-FFF2-40B4-BE49-F238E27FC236}">
                <a16:creationId xmlns:a16="http://schemas.microsoft.com/office/drawing/2014/main" id="{0CDC6260-0020-11AE-CCF3-D3280FCE83F9}"/>
              </a:ext>
            </a:extLst>
          </p:cNvPr>
          <p:cNvSpPr/>
          <p:nvPr/>
        </p:nvSpPr>
        <p:spPr>
          <a:xfrm rot="5400000">
            <a:off x="5434688" y="-577681"/>
            <a:ext cx="591298" cy="5760523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中括弧 9">
            <a:extLst>
              <a:ext uri="{FF2B5EF4-FFF2-40B4-BE49-F238E27FC236}">
                <a16:creationId xmlns:a16="http://schemas.microsoft.com/office/drawing/2014/main" id="{8ACAB79E-70C4-E18B-DF49-74A7A3F45F9C}"/>
              </a:ext>
            </a:extLst>
          </p:cNvPr>
          <p:cNvSpPr/>
          <p:nvPr/>
        </p:nvSpPr>
        <p:spPr>
          <a:xfrm rot="5400000">
            <a:off x="5407972" y="299117"/>
            <a:ext cx="472543" cy="4125683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2A421DB0-ED7B-5681-DE56-F72B161FA832}"/>
              </a:ext>
            </a:extLst>
          </p:cNvPr>
          <p:cNvSpPr/>
          <p:nvPr/>
        </p:nvSpPr>
        <p:spPr>
          <a:xfrm rot="5400000">
            <a:off x="5070896" y="1577850"/>
            <a:ext cx="370841" cy="1679365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內容版面配置區 5">
            <a:extLst>
              <a:ext uri="{FF2B5EF4-FFF2-40B4-BE49-F238E27FC236}">
                <a16:creationId xmlns:a16="http://schemas.microsoft.com/office/drawing/2014/main" id="{17C8E4B0-0822-BC5A-9258-2663F1DE21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948306"/>
              </p:ext>
            </p:extLst>
          </p:nvPr>
        </p:nvGraphicFramePr>
        <p:xfrm>
          <a:off x="838200" y="4104205"/>
          <a:ext cx="105155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sp>
        <p:nvSpPr>
          <p:cNvPr id="13" name="左中括弧 12">
            <a:extLst>
              <a:ext uri="{FF2B5EF4-FFF2-40B4-BE49-F238E27FC236}">
                <a16:creationId xmlns:a16="http://schemas.microsoft.com/office/drawing/2014/main" id="{425B61A0-DE76-751A-D8A0-9542336AEFA5}"/>
              </a:ext>
            </a:extLst>
          </p:cNvPr>
          <p:cNvSpPr/>
          <p:nvPr/>
        </p:nvSpPr>
        <p:spPr>
          <a:xfrm rot="16200000">
            <a:off x="8338971" y="2368174"/>
            <a:ext cx="365126" cy="4851070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內容版面配置區 5">
            <a:extLst>
              <a:ext uri="{FF2B5EF4-FFF2-40B4-BE49-F238E27FC236}">
                <a16:creationId xmlns:a16="http://schemas.microsoft.com/office/drawing/2014/main" id="{7C21710E-C8E8-46F7-2A19-FB197C532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006595"/>
              </p:ext>
            </p:extLst>
          </p:nvPr>
        </p:nvGraphicFramePr>
        <p:xfrm>
          <a:off x="838200" y="5514231"/>
          <a:ext cx="105155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822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Example(2/5)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p:graphicFrame>
        <p:nvGraphicFramePr>
          <p:cNvPr id="16" name="內容版面配置區 5">
            <a:extLst>
              <a:ext uri="{FF2B5EF4-FFF2-40B4-BE49-F238E27FC236}">
                <a16:creationId xmlns:a16="http://schemas.microsoft.com/office/drawing/2014/main" id="{7C21710E-C8E8-46F7-2A19-FB197C5324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4" y="2142814"/>
          <a:ext cx="105155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17" name="內容版面配置區 5">
            <a:extLst>
              <a:ext uri="{FF2B5EF4-FFF2-40B4-BE49-F238E27FC236}">
                <a16:creationId xmlns:a16="http://schemas.microsoft.com/office/drawing/2014/main" id="{61AC0C7E-DF04-11BF-E535-C3A61B9D40CA}"/>
              </a:ext>
            </a:extLst>
          </p:cNvPr>
          <p:cNvGraphicFramePr>
            <a:graphicFrameLocks/>
          </p:cNvGraphicFramePr>
          <p:nvPr/>
        </p:nvGraphicFramePr>
        <p:xfrm>
          <a:off x="291941" y="2885346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F4A5B4A-D633-4E8B-031B-A1D7BD708BC8}"/>
              </a:ext>
            </a:extLst>
          </p:cNvPr>
          <p:cNvCxnSpPr/>
          <p:nvPr/>
        </p:nvCxnSpPr>
        <p:spPr>
          <a:xfrm>
            <a:off x="2470068" y="3429000"/>
            <a:ext cx="0" cy="596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>
            <a:extLst>
              <a:ext uri="{FF2B5EF4-FFF2-40B4-BE49-F238E27FC236}">
                <a16:creationId xmlns:a16="http://schemas.microsoft.com/office/drawing/2014/main" id="{AE81B2E3-8746-65C6-50DD-8BA953CF37FB}"/>
              </a:ext>
            </a:extLst>
          </p:cNvPr>
          <p:cNvSpPr/>
          <p:nvPr/>
        </p:nvSpPr>
        <p:spPr>
          <a:xfrm>
            <a:off x="1270660" y="4147193"/>
            <a:ext cx="2398816" cy="99752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endParaRPr lang="zh-TW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CE667D2F-BCAB-11B0-FE36-FB5A8B3C316D}"/>
              </a:ext>
            </a:extLst>
          </p:cNvPr>
          <p:cNvCxnSpPr/>
          <p:nvPr/>
        </p:nvCxnSpPr>
        <p:spPr>
          <a:xfrm>
            <a:off x="2470068" y="5267696"/>
            <a:ext cx="0" cy="596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內容版面配置區 5">
            <a:extLst>
              <a:ext uri="{FF2B5EF4-FFF2-40B4-BE49-F238E27FC236}">
                <a16:creationId xmlns:a16="http://schemas.microsoft.com/office/drawing/2014/main" id="{F657F720-AAAF-FBC0-78BE-EE438384BD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0881735"/>
              </p:ext>
            </p:extLst>
          </p:nvPr>
        </p:nvGraphicFramePr>
        <p:xfrm>
          <a:off x="291941" y="6035727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5532620-412F-3ACC-3877-566BE8A7F801}"/>
              </a:ext>
            </a:extLst>
          </p:cNvPr>
          <p:cNvCxnSpPr>
            <a:cxnSpLocks/>
          </p:cNvCxnSpPr>
          <p:nvPr/>
        </p:nvCxnSpPr>
        <p:spPr>
          <a:xfrm flipH="1">
            <a:off x="2470068" y="2569820"/>
            <a:ext cx="403761" cy="2788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006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Example(3/5)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sp>
        <p:nvSpPr>
          <p:cNvPr id="13" name="左中括弧 12">
            <a:extLst>
              <a:ext uri="{FF2B5EF4-FFF2-40B4-BE49-F238E27FC236}">
                <a16:creationId xmlns:a16="http://schemas.microsoft.com/office/drawing/2014/main" id="{425B61A0-DE76-751A-D8A0-9542336AEFA5}"/>
              </a:ext>
            </a:extLst>
          </p:cNvPr>
          <p:cNvSpPr/>
          <p:nvPr/>
        </p:nvSpPr>
        <p:spPr>
          <a:xfrm rot="5400000">
            <a:off x="8892659" y="3161398"/>
            <a:ext cx="365126" cy="1562593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內容版面配置區 5">
            <a:extLst>
              <a:ext uri="{FF2B5EF4-FFF2-40B4-BE49-F238E27FC236}">
                <a16:creationId xmlns:a16="http://schemas.microsoft.com/office/drawing/2014/main" id="{7C21710E-C8E8-46F7-2A19-FB197C5324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48940"/>
              </p:ext>
            </p:extLst>
          </p:nvPr>
        </p:nvGraphicFramePr>
        <p:xfrm>
          <a:off x="5691556" y="2141840"/>
          <a:ext cx="56622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19" name="內容版面配置區 5">
            <a:extLst>
              <a:ext uri="{FF2B5EF4-FFF2-40B4-BE49-F238E27FC236}">
                <a16:creationId xmlns:a16="http://schemas.microsoft.com/office/drawing/2014/main" id="{515B9A9D-D24D-4988-A3E3-1E0BC0F2FB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335230"/>
              </p:ext>
            </p:extLst>
          </p:nvPr>
        </p:nvGraphicFramePr>
        <p:xfrm>
          <a:off x="7022962" y="2882193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FAEA37E-1D28-16D8-AEF3-59DAB19A0D52}"/>
                  </a:ext>
                </a:extLst>
              </p:cNvPr>
              <p:cNvSpPr txBox="1"/>
              <p:nvPr/>
            </p:nvSpPr>
            <p:spPr>
              <a:xfrm>
                <a:off x="6464990" y="2746255"/>
                <a:ext cx="59343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FAEA37E-1D28-16D8-AEF3-59DAB19A0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90" y="2746255"/>
                <a:ext cx="59343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內容版面配置區 5">
            <a:extLst>
              <a:ext uri="{FF2B5EF4-FFF2-40B4-BE49-F238E27FC236}">
                <a16:creationId xmlns:a16="http://schemas.microsoft.com/office/drawing/2014/main" id="{6DAA2BE5-352D-3C27-0CBC-F929EB41ED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451472"/>
              </p:ext>
            </p:extLst>
          </p:nvPr>
        </p:nvGraphicFramePr>
        <p:xfrm>
          <a:off x="7022962" y="4241059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22" name="內容版面配置區 5">
            <a:extLst>
              <a:ext uri="{FF2B5EF4-FFF2-40B4-BE49-F238E27FC236}">
                <a16:creationId xmlns:a16="http://schemas.microsoft.com/office/drawing/2014/main" id="{E0A90A14-9916-0F6D-1948-0711BD57AE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6772941"/>
              </p:ext>
            </p:extLst>
          </p:nvPr>
        </p:nvGraphicFramePr>
        <p:xfrm>
          <a:off x="7022962" y="5064926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sp>
        <p:nvSpPr>
          <p:cNvPr id="23" name="左中括弧 22">
            <a:extLst>
              <a:ext uri="{FF2B5EF4-FFF2-40B4-BE49-F238E27FC236}">
                <a16:creationId xmlns:a16="http://schemas.microsoft.com/office/drawing/2014/main" id="{C277B739-2141-A13B-6294-113D991D51B4}"/>
              </a:ext>
            </a:extLst>
          </p:cNvPr>
          <p:cNvSpPr/>
          <p:nvPr/>
        </p:nvSpPr>
        <p:spPr>
          <a:xfrm rot="16200000">
            <a:off x="8111362" y="4923194"/>
            <a:ext cx="365126" cy="1562593"/>
          </a:xfrm>
          <a:prstGeom prst="leftBracket">
            <a:avLst>
              <a:gd name="adj" fmla="val 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4" name="內容版面配置區 5">
            <a:extLst>
              <a:ext uri="{FF2B5EF4-FFF2-40B4-BE49-F238E27FC236}">
                <a16:creationId xmlns:a16="http://schemas.microsoft.com/office/drawing/2014/main" id="{19B8CE18-AD13-D3F4-EECF-A29190B76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6595832"/>
              </p:ext>
            </p:extLst>
          </p:nvPr>
        </p:nvGraphicFramePr>
        <p:xfrm>
          <a:off x="7058422" y="6122035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E2CCAE69-85CE-A9FF-5A06-DF39B2BEAA3D}"/>
              </a:ext>
            </a:extLst>
          </p:cNvPr>
          <p:cNvCxnSpPr>
            <a:cxnSpLocks/>
          </p:cNvCxnSpPr>
          <p:nvPr/>
        </p:nvCxnSpPr>
        <p:spPr>
          <a:xfrm>
            <a:off x="8781880" y="2582225"/>
            <a:ext cx="397746" cy="2457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內容版面配置區 5">
            <a:extLst>
              <a:ext uri="{FF2B5EF4-FFF2-40B4-BE49-F238E27FC236}">
                <a16:creationId xmlns:a16="http://schemas.microsoft.com/office/drawing/2014/main" id="{BB668BF4-0BE5-CD13-EB80-A22A793A61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6073309"/>
              </p:ext>
            </p:extLst>
          </p:nvPr>
        </p:nvGraphicFramePr>
        <p:xfrm>
          <a:off x="291941" y="2141840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CFD0B388-02A3-A6FF-B738-FB2BCF19C3A7}"/>
              </a:ext>
            </a:extLst>
          </p:cNvPr>
          <p:cNvCxnSpPr>
            <a:cxnSpLocks/>
            <a:endCxn id="20" idx="1"/>
          </p:cNvCxnSpPr>
          <p:nvPr/>
        </p:nvCxnSpPr>
        <p:spPr>
          <a:xfrm rot="16200000" flipH="1">
            <a:off x="6059340" y="2632993"/>
            <a:ext cx="446266" cy="365034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620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內容版面配置區 5">
            <a:extLst>
              <a:ext uri="{FF2B5EF4-FFF2-40B4-BE49-F238E27FC236}">
                <a16:creationId xmlns:a16="http://schemas.microsoft.com/office/drawing/2014/main" id="{F7ED4DA6-CE06-0AE4-7577-D74D7B0A30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014888"/>
              </p:ext>
            </p:extLst>
          </p:nvPr>
        </p:nvGraphicFramePr>
        <p:xfrm>
          <a:off x="7022962" y="1825291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Example(4/5)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p:graphicFrame>
        <p:nvGraphicFramePr>
          <p:cNvPr id="36" name="內容版面配置區 5">
            <a:extLst>
              <a:ext uri="{FF2B5EF4-FFF2-40B4-BE49-F238E27FC236}">
                <a16:creationId xmlns:a16="http://schemas.microsoft.com/office/drawing/2014/main" id="{75C6FE9B-2A98-4F80-DEFC-64FF83038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5013935"/>
              </p:ext>
            </p:extLst>
          </p:nvPr>
        </p:nvGraphicFramePr>
        <p:xfrm>
          <a:off x="291941" y="1828444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37" name="內容版面配置區 5">
            <a:extLst>
              <a:ext uri="{FF2B5EF4-FFF2-40B4-BE49-F238E27FC236}">
                <a16:creationId xmlns:a16="http://schemas.microsoft.com/office/drawing/2014/main" id="{02D159E4-4482-0A7B-2A3F-32AB403BA1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114509"/>
              </p:ext>
            </p:extLst>
          </p:nvPr>
        </p:nvGraphicFramePr>
        <p:xfrm>
          <a:off x="5691558" y="1828444"/>
          <a:ext cx="80889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3" name="內容版面配置區 5">
            <a:extLst>
              <a:ext uri="{FF2B5EF4-FFF2-40B4-BE49-F238E27FC236}">
                <a16:creationId xmlns:a16="http://schemas.microsoft.com/office/drawing/2014/main" id="{8502829A-B850-6B25-A679-A655FE5B6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615639"/>
              </p:ext>
            </p:extLst>
          </p:nvPr>
        </p:nvGraphicFramePr>
        <p:xfrm>
          <a:off x="6880458" y="2547407"/>
          <a:ext cx="161778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55AB11-19A4-DF27-8FB8-68C4584C0175}"/>
                  </a:ext>
                </a:extLst>
              </p:cNvPr>
              <p:cNvSpPr txBox="1"/>
              <p:nvPr/>
            </p:nvSpPr>
            <p:spPr>
              <a:xfrm>
                <a:off x="6393738" y="2405323"/>
                <a:ext cx="59343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55AB11-19A4-DF27-8FB8-68C4584C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738" y="2405323"/>
                <a:ext cx="59343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內容版面配置區 5">
            <a:extLst>
              <a:ext uri="{FF2B5EF4-FFF2-40B4-BE49-F238E27FC236}">
                <a16:creationId xmlns:a16="http://schemas.microsoft.com/office/drawing/2014/main" id="{326CFA6E-AFD7-7D76-82FE-B5DC34F71C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944061"/>
              </p:ext>
            </p:extLst>
          </p:nvPr>
        </p:nvGraphicFramePr>
        <p:xfrm>
          <a:off x="6880458" y="3399957"/>
          <a:ext cx="161778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8811184-CCAB-39FF-815B-0795032CD59A}"/>
              </a:ext>
            </a:extLst>
          </p:cNvPr>
          <p:cNvCxnSpPr>
            <a:cxnSpLocks/>
          </p:cNvCxnSpPr>
          <p:nvPr/>
        </p:nvCxnSpPr>
        <p:spPr>
          <a:xfrm>
            <a:off x="5965371" y="2271612"/>
            <a:ext cx="0" cy="211038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4240467-597E-AF75-5C8F-CFA2D9D00DC7}"/>
              </a:ext>
            </a:extLst>
          </p:cNvPr>
          <p:cNvCxnSpPr>
            <a:cxnSpLocks/>
          </p:cNvCxnSpPr>
          <p:nvPr/>
        </p:nvCxnSpPr>
        <p:spPr>
          <a:xfrm>
            <a:off x="8100951" y="3855017"/>
            <a:ext cx="0" cy="526978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7E37E66-76FA-39F4-035C-68D372ED357E}"/>
              </a:ext>
            </a:extLst>
          </p:cNvPr>
          <p:cNvGrpSpPr/>
          <p:nvPr/>
        </p:nvGrpSpPr>
        <p:grpSpPr>
          <a:xfrm>
            <a:off x="291941" y="4497818"/>
            <a:ext cx="11584374" cy="760780"/>
            <a:chOff x="-1490842" y="5376592"/>
            <a:chExt cx="11584374" cy="76078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EE57A96-F95A-4ECE-548E-68F074FECD0B}"/>
                </a:ext>
              </a:extLst>
            </p:cNvPr>
            <p:cNvSpPr/>
            <p:nvPr/>
          </p:nvSpPr>
          <p:spPr>
            <a:xfrm>
              <a:off x="-1490842" y="5377351"/>
              <a:ext cx="11584374" cy="76002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85DAA32A-4DEB-EB2A-917C-AE3568A3A0A4}"/>
                </a:ext>
              </a:extLst>
            </p:cNvPr>
            <p:cNvCxnSpPr/>
            <p:nvPr/>
          </p:nvCxnSpPr>
          <p:spPr>
            <a:xfrm>
              <a:off x="3906982" y="53773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7973AE27-B45A-F7E7-A791-405767B56B4C}"/>
                </a:ext>
              </a:extLst>
            </p:cNvPr>
            <p:cNvCxnSpPr/>
            <p:nvPr/>
          </p:nvCxnSpPr>
          <p:spPr>
            <a:xfrm>
              <a:off x="4807527" y="5377351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5A23008-7279-217B-B498-99E833815BAB}"/>
                    </a:ext>
                  </a:extLst>
                </p:cNvPr>
                <p:cNvSpPr txBox="1"/>
                <p:nvPr/>
              </p:nvSpPr>
              <p:spPr>
                <a:xfrm>
                  <a:off x="452146" y="5434195"/>
                  <a:ext cx="12220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5A23008-7279-217B-B498-99E833815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146" y="5434195"/>
                  <a:ext cx="1222001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9F71ED0-FD73-7C01-23D6-24E46F7DB7CF}"/>
                    </a:ext>
                  </a:extLst>
                </p:cNvPr>
                <p:cNvSpPr txBox="1"/>
                <p:nvPr/>
              </p:nvSpPr>
              <p:spPr>
                <a:xfrm>
                  <a:off x="7559637" y="5377351"/>
                  <a:ext cx="12327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9F71ED0-FD73-7C01-23D6-24E46F7DB7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637" y="5377351"/>
                  <a:ext cx="1232709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110A8A86-3157-8D0C-F0BC-D2BB0E42AD38}"/>
                </a:ext>
              </a:extLst>
            </p:cNvPr>
            <p:cNvCxnSpPr/>
            <p:nvPr/>
          </p:nvCxnSpPr>
          <p:spPr>
            <a:xfrm>
              <a:off x="5891894" y="53765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203AA36D-05A1-D652-CC16-13C703C502FA}"/>
                </a:ext>
              </a:extLst>
            </p:cNvPr>
            <p:cNvCxnSpPr/>
            <p:nvPr/>
          </p:nvCxnSpPr>
          <p:spPr>
            <a:xfrm>
              <a:off x="6792439" y="5376593"/>
              <a:ext cx="0" cy="7600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0FF6634-CDF7-4480-2799-FA340CAA6BC5}"/>
                    </a:ext>
                  </a:extLst>
                </p:cNvPr>
                <p:cNvSpPr txBox="1"/>
                <p:nvPr/>
              </p:nvSpPr>
              <p:spPr>
                <a:xfrm>
                  <a:off x="4803036" y="5449202"/>
                  <a:ext cx="10366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0FF6634-CDF7-4480-2799-FA340CAA6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3036" y="5449202"/>
                  <a:ext cx="1036694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FB11A815-CD89-D3B3-4E18-E18E0428878B}"/>
                    </a:ext>
                  </a:extLst>
                </p:cNvPr>
                <p:cNvSpPr txBox="1"/>
                <p:nvPr/>
              </p:nvSpPr>
              <p:spPr>
                <a:xfrm>
                  <a:off x="4002852" y="5376592"/>
                  <a:ext cx="74751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FB11A815-CD89-D3B3-4E18-E18E04288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852" y="5376592"/>
                  <a:ext cx="747512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BB87A78F-62F7-9F56-1823-37D888C68116}"/>
                    </a:ext>
                  </a:extLst>
                </p:cNvPr>
                <p:cNvSpPr txBox="1"/>
                <p:nvPr/>
              </p:nvSpPr>
              <p:spPr>
                <a:xfrm>
                  <a:off x="5949057" y="5376592"/>
                  <a:ext cx="75822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3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BB87A78F-62F7-9F56-1823-37D888C68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057" y="5376592"/>
                  <a:ext cx="75822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D5B0A2E-F604-F913-0A33-1E9DDF896C88}"/>
              </a:ext>
            </a:extLst>
          </p:cNvPr>
          <p:cNvCxnSpPr>
            <a:cxnSpLocks/>
          </p:cNvCxnSpPr>
          <p:nvPr/>
        </p:nvCxnSpPr>
        <p:spPr>
          <a:xfrm flipH="1">
            <a:off x="7540825" y="2232584"/>
            <a:ext cx="403761" cy="2788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3A682FE5-A6EF-7C9F-D8EC-417F59ABE50F}"/>
              </a:ext>
            </a:extLst>
          </p:cNvPr>
          <p:cNvCxnSpPr>
            <a:endCxn id="9" idx="1"/>
          </p:cNvCxnSpPr>
          <p:nvPr/>
        </p:nvCxnSpPr>
        <p:spPr>
          <a:xfrm rot="16200000" flipH="1">
            <a:off x="6012306" y="2316278"/>
            <a:ext cx="465127" cy="297738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027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Example(5/5)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p:graphicFrame>
        <p:nvGraphicFramePr>
          <p:cNvPr id="3" name="內容版面配置區 5">
            <a:extLst>
              <a:ext uri="{FF2B5EF4-FFF2-40B4-BE49-F238E27FC236}">
                <a16:creationId xmlns:a16="http://schemas.microsoft.com/office/drawing/2014/main" id="{8502829A-B850-6B25-A679-A655FE5B6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7739335"/>
              </p:ext>
            </p:extLst>
          </p:nvPr>
        </p:nvGraphicFramePr>
        <p:xfrm>
          <a:off x="6880458" y="2131773"/>
          <a:ext cx="161778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14085145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63736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5">
            <a:extLst>
              <a:ext uri="{FF2B5EF4-FFF2-40B4-BE49-F238E27FC236}">
                <a16:creationId xmlns:a16="http://schemas.microsoft.com/office/drawing/2014/main" id="{80527B65-4905-3E46-6164-4BC63DFD2C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514820"/>
              </p:ext>
            </p:extLst>
          </p:nvPr>
        </p:nvGraphicFramePr>
        <p:xfrm>
          <a:off x="8640746" y="2131773"/>
          <a:ext cx="80889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1365061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3C43F355-6D85-6097-3A26-8F2564237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8942442"/>
              </p:ext>
            </p:extLst>
          </p:nvPr>
        </p:nvGraphicFramePr>
        <p:xfrm>
          <a:off x="9592142" y="2131773"/>
          <a:ext cx="242667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5">
            <a:extLst>
              <a:ext uri="{FF2B5EF4-FFF2-40B4-BE49-F238E27FC236}">
                <a16:creationId xmlns:a16="http://schemas.microsoft.com/office/drawing/2014/main" id="{177DB4BC-6F4C-6D8C-42A6-2AB180361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7749390"/>
              </p:ext>
            </p:extLst>
          </p:nvPr>
        </p:nvGraphicFramePr>
        <p:xfrm>
          <a:off x="291941" y="2131773"/>
          <a:ext cx="485335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0218439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219090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023566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557556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23975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6347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5">
            <a:extLst>
              <a:ext uri="{FF2B5EF4-FFF2-40B4-BE49-F238E27FC236}">
                <a16:creationId xmlns:a16="http://schemas.microsoft.com/office/drawing/2014/main" id="{2ED09548-56A0-CDF4-A102-B1A866AF39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04837"/>
              </p:ext>
            </p:extLst>
          </p:nvPr>
        </p:nvGraphicFramePr>
        <p:xfrm>
          <a:off x="5691558" y="2131773"/>
          <a:ext cx="80889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710256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A1A1BA7-4365-CF19-4EF5-197F91EAAA01}"/>
              </a:ext>
            </a:extLst>
          </p:cNvPr>
          <p:cNvCxnSpPr>
            <a:cxnSpLocks/>
          </p:cNvCxnSpPr>
          <p:nvPr/>
        </p:nvCxnSpPr>
        <p:spPr>
          <a:xfrm>
            <a:off x="10649046" y="2538238"/>
            <a:ext cx="110909" cy="3253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E678DB2-3D45-99CF-FB8B-2E8D32E4B400}"/>
              </a:ext>
            </a:extLst>
          </p:cNvPr>
          <p:cNvCxnSpPr/>
          <p:nvPr/>
        </p:nvCxnSpPr>
        <p:spPr>
          <a:xfrm>
            <a:off x="10649046" y="3364070"/>
            <a:ext cx="0" cy="596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7E384FD1-7808-0080-932A-D28C0FD8C8D4}"/>
              </a:ext>
            </a:extLst>
          </p:cNvPr>
          <p:cNvSpPr/>
          <p:nvPr/>
        </p:nvSpPr>
        <p:spPr>
          <a:xfrm>
            <a:off x="9449638" y="4082263"/>
            <a:ext cx="2398816" cy="99752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endParaRPr lang="zh-TW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C7A168A-0E86-3EFA-3D20-35AAE25EE3C4}"/>
              </a:ext>
            </a:extLst>
          </p:cNvPr>
          <p:cNvCxnSpPr/>
          <p:nvPr/>
        </p:nvCxnSpPr>
        <p:spPr>
          <a:xfrm>
            <a:off x="10649046" y="5202766"/>
            <a:ext cx="0" cy="596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內容版面配置區 5">
            <a:extLst>
              <a:ext uri="{FF2B5EF4-FFF2-40B4-BE49-F238E27FC236}">
                <a16:creationId xmlns:a16="http://schemas.microsoft.com/office/drawing/2014/main" id="{7B3B8EE6-ABF4-77F2-3AEC-BDF1EA1005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855068"/>
              </p:ext>
            </p:extLst>
          </p:nvPr>
        </p:nvGraphicFramePr>
        <p:xfrm>
          <a:off x="9714702" y="2890345"/>
          <a:ext cx="242667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  <p:graphicFrame>
        <p:nvGraphicFramePr>
          <p:cNvPr id="29" name="內容版面配置區 5">
            <a:extLst>
              <a:ext uri="{FF2B5EF4-FFF2-40B4-BE49-F238E27FC236}">
                <a16:creationId xmlns:a16="http://schemas.microsoft.com/office/drawing/2014/main" id="{0D8894B1-CC8E-6B37-84A7-197A22ED12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9742285"/>
              </p:ext>
            </p:extLst>
          </p:nvPr>
        </p:nvGraphicFramePr>
        <p:xfrm>
          <a:off x="9714702" y="5893119"/>
          <a:ext cx="242667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5565724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283109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5846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987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650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pdqsort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complexity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𝑛𝑘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input distribution has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distinct values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423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B4C3FE5-9629-F44B-A553-021C82D57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Percentile of the pivot </a:t>
                </a:r>
                <a14:m>
                  <m:oMath xmlns:m="http://schemas.openxmlformats.org/officeDocument/2006/math">
                    <m:r>
                      <a:rPr kumimoji="1"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endParaRPr kumimoji="1" lang="zh-TW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B4C3FE5-9629-F44B-A553-021C82D57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of the pivot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0 to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perfect partition, sequence is divided into two subsequences of equal length.</a:t>
                </a: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is, the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deeper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quicksort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4"/>
                <a:stretch>
                  <a:fillRect l="-1010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8678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B4C3FE5-9629-F44B-A553-021C82D57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Compared to The Optimal Case of </a:t>
                </a:r>
                <a14:m>
                  <m:oMath xmlns:m="http://schemas.openxmlformats.org/officeDocument/2006/math">
                    <m:r>
                      <a:rPr kumimoji="1"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r>
                      <a:rPr kumimoji="1"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kumimoji="1" lang="zh-TW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B4C3FE5-9629-F44B-A553-021C82D57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factor</m:t>
                    </m:r>
                    <m:r>
                      <a:rPr kumimoji="1"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kumimoji="1" lang="pt-BR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kumimoji="1" lang="pt-BR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4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E324F819-17EB-5B6E-574B-837098B2A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868" y="2740989"/>
            <a:ext cx="7412264" cy="37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43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Partition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 will be almost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twice as slow 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optimal case when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=0.125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5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4F1ED5-B2AA-753B-9B95-3438304D660B}"/>
              </a:ext>
            </a:extLst>
          </p:cNvPr>
          <p:cNvGrpSpPr/>
          <p:nvPr/>
        </p:nvGrpSpPr>
        <p:grpSpPr>
          <a:xfrm>
            <a:off x="2389868" y="2604464"/>
            <a:ext cx="7412264" cy="3751886"/>
            <a:chOff x="2389868" y="2740989"/>
            <a:chExt cx="7412264" cy="3751886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E324F819-17EB-5B6E-574B-837098B2A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9868" y="2740989"/>
              <a:ext cx="7412264" cy="3751886"/>
            </a:xfrm>
            <a:prstGeom prst="rect">
              <a:avLst/>
            </a:prstGeom>
          </p:spPr>
        </p:pic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C9FB78C8-2816-FBFA-85A9-26AF936E45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1335" y="5100493"/>
              <a:ext cx="163879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6BBE042E-8274-0145-780B-B962252B2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129" y="5100493"/>
              <a:ext cx="0" cy="78966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8778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Sort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benchmarks we’ve found that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heapsort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roughly about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twice as slow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quicksort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sorting randomly shuffled data.</a:t>
                </a: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the number of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bad partitions 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exceeds counter(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kumimoji="1"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kumimoji="1"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use heapsort directly.</a:t>
                </a:r>
              </a:p>
            </p:txBody>
          </p:sp>
        </mc:Choice>
        <mc:Fallback xmlns="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D1469436-33A1-3A56-A92D-03DBE7C5B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623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kumimoji="1"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Heapsort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most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is spent in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pdqsort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bad partitions.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5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1646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pivot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Select the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mediocre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pivot</a:t>
                </a:r>
              </a:p>
              <a:p>
                <a:pPr lvl="1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difference between a good and mediocre pivot is small.</a:t>
                </a:r>
              </a:p>
              <a:p>
                <a:pPr lvl="1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difference between a mediocre and bad pivot is massive.</a:t>
                </a: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pivot candidate</a:t>
                </a:r>
              </a:p>
              <a:p>
                <a:pPr lvl="1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medium-of-3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𝑠𝑒𝑞𝑢𝑒𝑛𝑐𝑒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):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𝑚𝑒𝑑𝑖𝑢𝑚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𝑓𝑖𝑟𝑠𝑡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𝑚𝑖𝑑𝑑𝑙𝑒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𝑙𝑎𝑠𝑡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𝑛𝑖𝑛𝑡h𝑒𝑟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𝑚𝑒𝑑𝑖𝑢𝑚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1~</m:t>
                        </m:r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3(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redo medium-of-3 on bad partition with new candidate</a:t>
                </a:r>
              </a:p>
              <a:p>
                <a:pPr lvl="1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kumimoji="1" lang="en-US" altLang="zh-TW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𝑚𝑒𝑑𝑖𝑢𝑚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(25%,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3(), 75%)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1531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Essentially all optimized quicksort implementations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different algorithm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recursing on a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(≤ 16–32 elements)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most often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 series of moves instead of swaps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a lot of unnecessary shuffling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Eliminating bounds checking on subsequence that is not leftmost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19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361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A6179AC-497F-432F-BA6A-4F789FE0E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441" y="1109916"/>
            <a:ext cx="3890563" cy="551607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Optimistic insertion sorting on a </a:t>
            </a:r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swapless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6973241" cy="291609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if it is sorted on a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swapless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done with a single comparison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a partial insertion sort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Aborts it has to do more than a tiny number of corrections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20</a:t>
            </a:fld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47CE70-9B1B-3D65-2821-1D12DA7EBDE3}"/>
              </a:ext>
            </a:extLst>
          </p:cNvPr>
          <p:cNvSpPr/>
          <p:nvPr/>
        </p:nvSpPr>
        <p:spPr>
          <a:xfrm>
            <a:off x="8193974" y="3954483"/>
            <a:ext cx="3265714" cy="3325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F7AE109-751A-D467-B1DE-51C8C613B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63966"/>
              </p:ext>
            </p:extLst>
          </p:nvPr>
        </p:nvGraphicFramePr>
        <p:xfrm>
          <a:off x="1306166" y="5443858"/>
          <a:ext cx="478983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262">
                  <a:extLst>
                    <a:ext uri="{9D8B030D-6E8A-4147-A177-3AD203B41FA5}">
                      <a16:colId xmlns:a16="http://schemas.microsoft.com/office/drawing/2014/main" val="297434880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548087464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2285375038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3924180800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493957276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813517312"/>
                    </a:ext>
                  </a:extLst>
                </a:gridCol>
                <a:gridCol w="684262">
                  <a:extLst>
                    <a:ext uri="{9D8B030D-6E8A-4147-A177-3AD203B41FA5}">
                      <a16:colId xmlns:a16="http://schemas.microsoft.com/office/drawing/2014/main" val="843101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14392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E8054D3-5DD7-B91F-FB8A-7E2F93B39F4C}"/>
              </a:ext>
            </a:extLst>
          </p:cNvPr>
          <p:cNvSpPr txBox="1"/>
          <p:nvPr/>
        </p:nvSpPr>
        <p:spPr>
          <a:xfrm>
            <a:off x="1700375" y="5814698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swapless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D848533-E963-BDA5-F48D-7615DD34D071}"/>
              </a:ext>
            </a:extLst>
          </p:cNvPr>
          <p:cNvSpPr txBox="1"/>
          <p:nvPr/>
        </p:nvSpPr>
        <p:spPr>
          <a:xfrm>
            <a:off x="3531806" y="49097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3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Branchless Compare sort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Replacing branches with data-dependent moves followed by unconditional swaps.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21</a:t>
            </a:fld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D98D09-D5D1-DC36-6772-F292443AE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828" y="3429000"/>
            <a:ext cx="3781953" cy="20291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5BBE90-00AB-1CAF-0D52-C939775FC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221" y="3699288"/>
            <a:ext cx="3867690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02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a performance evaluation of pattern-defeating quicksort with 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bpdq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without (pdq) block partitioning,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introsort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libstdc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++’s implementation of std::sort (std), Timothy van Slyke’s C++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Timsort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BlockQuicksort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sequential version of In-Place Super Scalar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Samplesort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(is4o).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657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Pattern-defeating quicksort have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little overhead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effectively handle various input patterns.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Pattern-defeating quicksort is often the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choice of algorithm overall for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to medium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data type sizes.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Pattern-defeating quicksort and other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quicksort variants suffer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too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fit in cache.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0808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EA5FE4-9A86-26CD-4F5A-C09E21ED6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45F3C361-C1A8-A4F6-CA8D-F4F983C13C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35219" y="2505075"/>
            <a:ext cx="3766925" cy="3684588"/>
          </a:xfrm>
        </p:spPr>
      </p:pic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6E1E23-F62C-D07D-6426-339BC5CC0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SORT50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DCF19AEE-4192-C4AA-CC57-DB284EF212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42887" y="2505075"/>
            <a:ext cx="3841814" cy="3684588"/>
          </a:xfr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196C05DD-28CF-C585-CDC9-752A1A23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Benchmark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8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4643</TotalTime>
  <Words>1191</Words>
  <Application>Microsoft Office PowerPoint</Application>
  <PresentationFormat>寬螢幕</PresentationFormat>
  <Paragraphs>317</Paragraphs>
  <Slides>24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Pattern-defeating Quicksort</vt:lpstr>
      <vt:lpstr>Abstract</vt:lpstr>
      <vt:lpstr>Quicksort Worst Case</vt:lpstr>
      <vt:lpstr>Partition</vt:lpstr>
      <vt:lpstr>Tripartite Partitioning </vt:lpstr>
      <vt:lpstr>Algorithm</vt:lpstr>
      <vt:lpstr>Example(1/5)</vt:lpstr>
      <vt:lpstr>Example(2/5)</vt:lpstr>
      <vt:lpstr>Example(3/5)</vt:lpstr>
      <vt:lpstr>Example(4/5)</vt:lpstr>
      <vt:lpstr>Example(5/5)</vt:lpstr>
      <vt:lpstr>Time Complexity</vt:lpstr>
      <vt:lpstr>Percentile of the pivot p</vt:lpstr>
      <vt:lpstr>Compared to The Optimal Case of p=1/2</vt:lpstr>
      <vt:lpstr>Bad Partition</vt:lpstr>
      <vt:lpstr>Heap Sort</vt:lpstr>
      <vt:lpstr>Time Complexity with Heapsort</vt:lpstr>
      <vt:lpstr>Select pivot</vt:lpstr>
      <vt:lpstr>Insertion Sort</vt:lpstr>
      <vt:lpstr>Optimistic insertion sorting on a swapless partition</vt:lpstr>
      <vt:lpstr>Branchless Compare sort</vt:lpstr>
      <vt:lpstr>Experimental</vt:lpstr>
      <vt:lpstr>Conclusion</vt:lpstr>
      <vt:lpstr>INT Benchmark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陳彥宇</dc:creator>
  <cp:lastModifiedBy>pplab</cp:lastModifiedBy>
  <cp:revision>550</cp:revision>
  <dcterms:created xsi:type="dcterms:W3CDTF">2023-09-07T12:25:39Z</dcterms:created>
  <dcterms:modified xsi:type="dcterms:W3CDTF">2024-05-07T11:46:04Z</dcterms:modified>
</cp:coreProperties>
</file>