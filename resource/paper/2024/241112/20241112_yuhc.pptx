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394" r:id="rId4"/>
    <p:sldId id="363" r:id="rId5"/>
    <p:sldId id="382" r:id="rId6"/>
    <p:sldId id="395" r:id="rId7"/>
    <p:sldId id="383" r:id="rId8"/>
    <p:sldId id="384" r:id="rId9"/>
    <p:sldId id="398" r:id="rId10"/>
    <p:sldId id="385" r:id="rId11"/>
    <p:sldId id="397" r:id="rId12"/>
    <p:sldId id="396" r:id="rId13"/>
    <p:sldId id="388" r:id="rId14"/>
    <p:sldId id="399" r:id="rId15"/>
    <p:sldId id="400" r:id="rId16"/>
    <p:sldId id="401" r:id="rId17"/>
    <p:sldId id="402" r:id="rId18"/>
    <p:sldId id="295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FF00"/>
    <a:srgbClr val="F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534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3051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3404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996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7761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631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810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974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804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854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4753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9962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454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40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2136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56bd8716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e56bd8716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Given a string S of length n, an integer p ∈ [1..n] is a period of S if S[i] = S[i + p] for all i ∈ [1..n − p].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S[|S| − p + 1] =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893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  <a:t>Domino </a:t>
            </a:r>
            <a:r>
              <a:rPr lang="en-US" altLang="zh-TW" sz="4000" dirty="0" err="1">
                <a:latin typeface="Times New Roman"/>
                <a:ea typeface="Times New Roman"/>
                <a:cs typeface="Times New Roman"/>
                <a:sym typeface="Times New Roman"/>
              </a:rPr>
              <a:t>Antimagic</a:t>
            </a:r>
            <a: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  <a:t> Squares and Rectangles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i-FI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Alison M. Marr, Christina Napier, Lauren M. Nelsen, Luke L. Nelsen and Violeta</a:t>
            </a:r>
            <a:r>
              <a:rPr lang="zh-TW" alt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i-FI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Vasilevska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i-FI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Recreational Mathematics Magazine(2024), 11(19), 27-40.</a:t>
            </a:r>
            <a:endParaRPr lang="pl-PL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lang="zh-TW" sz="2400" dirty="0">
                <a:latin typeface="Times New Roman"/>
                <a:ea typeface="Times New Roman"/>
                <a:cs typeface="Times New Roman"/>
                <a:sym typeface="Times New Roman"/>
              </a:rPr>
              <a:t>Hsin-Chang Yu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altLang="zh-TW" sz="2400" dirty="0"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domino </a:t>
            </a:r>
            <a:r>
              <a:rPr lang="en-US" altLang="zh-TW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antimagic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square of order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</a:t>
            </a:r>
            <a:r>
              <a:rPr lang="en-US" altLang="zh-TW" sz="2400" i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altLang="zh-TW" sz="2400" i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array formed from a subset of the standard set of 28 dominoes such that the sums of the rows, columns, and two main diagonals form a set of 2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 distinct, consecutive integers while an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domino </a:t>
            </a:r>
            <a:r>
              <a:rPr lang="en-US" altLang="zh-TW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antimagic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rectangle is an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rectangular array formed from a subset of the standard set of 28 dominoes such that the sums of the rows and columns form a set of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distinct, consecutive integers.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paper outlines what the possible dimensions are for </a:t>
            </a:r>
            <a:r>
              <a:rPr lang="en-US" altLang="zh-TW" sz="2400" i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altLang="zh-TW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altLang="zh-TW" sz="2400" i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domino </a:t>
            </a:r>
            <a:r>
              <a:rPr lang="en-US" altLang="zh-TW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antimagic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rectangles and provides many examples of both domino </a:t>
            </a:r>
            <a:r>
              <a:rPr lang="en-US" altLang="zh-TW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antimagic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rectangles and squares. Many open questions are given at the end of the paper for future exploration.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369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Magic Square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  <p:pic>
        <p:nvPicPr>
          <p:cNvPr id="2" name="Picture 2" descr="undefined">
            <a:extLst>
              <a:ext uri="{FF2B5EF4-FFF2-40B4-BE49-F238E27FC236}">
                <a16:creationId xmlns:a16="http://schemas.microsoft.com/office/drawing/2014/main" id="{1AFA3DFC-25C3-460D-B1D0-302A91622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569" y="1017725"/>
            <a:ext cx="3842292" cy="384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7BD025F-BA4B-4EAC-A7EB-B14540E39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510704"/>
              </p:ext>
            </p:extLst>
          </p:nvPr>
        </p:nvGraphicFramePr>
        <p:xfrm>
          <a:off x="5647763" y="1549773"/>
          <a:ext cx="2373408" cy="204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136">
                  <a:extLst>
                    <a:ext uri="{9D8B030D-6E8A-4147-A177-3AD203B41FA5}">
                      <a16:colId xmlns:a16="http://schemas.microsoft.com/office/drawing/2014/main" val="1275796776"/>
                    </a:ext>
                  </a:extLst>
                </a:gridCol>
                <a:gridCol w="791136">
                  <a:extLst>
                    <a:ext uri="{9D8B030D-6E8A-4147-A177-3AD203B41FA5}">
                      <a16:colId xmlns:a16="http://schemas.microsoft.com/office/drawing/2014/main" val="1915891493"/>
                    </a:ext>
                  </a:extLst>
                </a:gridCol>
                <a:gridCol w="791136">
                  <a:extLst>
                    <a:ext uri="{9D8B030D-6E8A-4147-A177-3AD203B41FA5}">
                      <a16:colId xmlns:a16="http://schemas.microsoft.com/office/drawing/2014/main" val="4214685404"/>
                    </a:ext>
                  </a:extLst>
                </a:gridCol>
              </a:tblGrid>
              <a:tr h="681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766955"/>
                  </a:ext>
                </a:extLst>
              </a:tr>
              <a:tr h="681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500948"/>
                  </a:ext>
                </a:extLst>
              </a:tr>
              <a:tr h="681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172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06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Domino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  <p:pic>
        <p:nvPicPr>
          <p:cNvPr id="2052" name="Picture 4" descr="Introduction to Domino Games | Game Rules and Strategies">
            <a:extLst>
              <a:ext uri="{FF2B5EF4-FFF2-40B4-BE49-F238E27FC236}">
                <a16:creationId xmlns:a16="http://schemas.microsoft.com/office/drawing/2014/main" id="{297E4331-9947-4365-81AA-8531C2CDD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6317"/>
            <a:ext cx="74295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1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Domino</a:t>
            </a:r>
            <a:r>
              <a:rPr lang="zh-TW" alt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Magic Square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A482221-135F-4E83-89BA-3B40CE306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69" y="1058133"/>
            <a:ext cx="3501672" cy="339252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7E31F1F-0671-48CA-B85A-9BAA44229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779" y="1152475"/>
            <a:ext cx="3193955" cy="329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09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2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Antimagic</a:t>
            </a: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Squares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spcAft>
                <a:spcPts val="1200"/>
              </a:spcAft>
              <a:buSzPts val="1100"/>
            </a:pPr>
            <a:r>
              <a:rPr lang="en-US" altLang="zh-TW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numbers 1 to n</a:t>
            </a:r>
            <a:r>
              <a:rPr lang="en-US" altLang="zh-TW" sz="2400" b="0" baseline="30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342900">
              <a:spcAft>
                <a:spcPts val="1200"/>
              </a:spcAft>
              <a:buSzPts val="1100"/>
            </a:pPr>
            <a:r>
              <a:rPr lang="en-US" altLang="zh-TW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the same sum</a:t>
            </a:r>
          </a:p>
          <a:p>
            <a:pPr marL="342900">
              <a:spcAft>
                <a:spcPts val="1200"/>
              </a:spcAft>
              <a:buSzPts val="1100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sums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set of</a:t>
            </a:r>
          </a:p>
          <a:p>
            <a:pPr marL="0" indent="0">
              <a:spcAft>
                <a:spcPts val="1200"/>
              </a:spcAft>
              <a:buSzPts val="1100"/>
              <a:buNone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consecutive integers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B56B5D6-085F-4A81-A8EB-740D7A83C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832" y="1255712"/>
            <a:ext cx="352425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1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Domino </a:t>
            </a:r>
            <a:r>
              <a:rPr lang="en-US" altLang="zh-TW" sz="2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Antimagic</a:t>
            </a: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Squares/Rectangles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081218-2CCC-4106-A308-3E6616A89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04" y="1327150"/>
            <a:ext cx="3219450" cy="30670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CBEAB56-E65D-4A79-BCE8-4B773CBF5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726" y="1538455"/>
            <a:ext cx="3219450" cy="245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18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Derivation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F9C4F29-38B4-466D-8D18-9AC3F7F4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2475"/>
            <a:ext cx="9144000" cy="161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64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Derivation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869003-564F-4B50-BCFC-20915888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54" y="1152475"/>
            <a:ext cx="2800350" cy="5429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E7331DC-7539-4402-BD5F-29A694C80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30150"/>
            <a:ext cx="9144000" cy="289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70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Google Shape;62;p1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41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spcAft>
                    <a:spcPts val="1200"/>
                  </a:spcAft>
                  <a:buSzPts val="1100"/>
                  <a:buNone/>
                </a:pPr>
                <a:r>
                  <a:rPr lang="en-US" altLang="zh-TW" sz="2400" i="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m</a:t>
                </a:r>
                <a:r>
                  <a:rPr lang="en-US" altLang="zh-TW" sz="24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 + </a:t>
                </a:r>
                <a:r>
                  <a:rPr lang="en-US" altLang="zh-TW" sz="2400" i="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n</a:t>
                </a:r>
                <a:r>
                  <a:rPr lang="en-US" altLang="zh-TW" sz="24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Times New Roman"/>
                      </a:rPr>
                      <m:t>≡</m:t>
                    </m:r>
                    <m:r>
                      <a:rPr lang="zh-TW" altLang="en-US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Times New Roman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2 mod 4 is impossible</a:t>
                </a:r>
              </a:p>
              <a:p>
                <a:pPr marL="0" indent="0">
                  <a:spcAft>
                    <a:spcPts val="1200"/>
                  </a:spcAft>
                  <a:buSzPts val="1100"/>
                  <a:buNone/>
                </a:pPr>
                <a:r>
                  <a:rPr lang="en-US" altLang="zh-TW" sz="2400" i="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k</a:t>
                </a:r>
                <a:r>
                  <a:rPr lang="en-US" altLang="zh-TW" sz="24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 panose="02020603050405020304" pitchFamily="18" charset="0"/>
                            <a:sym typeface="Times New Roman"/>
                          </a:rPr>
                        </m:ctrlPr>
                      </m:fPr>
                      <m:num>
                        <m:r>
                          <a:rPr lang="en-US" altLang="zh-TW" sz="24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 panose="02020603050405020304" pitchFamily="18" charset="0"/>
                            <a:sym typeface="Times New Roman"/>
                          </a:rPr>
                          <m:t>𝑚</m:t>
                        </m:r>
                        <m:r>
                          <a:rPr lang="en-US" altLang="zh-TW" sz="24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 panose="02020603050405020304" pitchFamily="18" charset="0"/>
                            <a:sym typeface="Times New Roman"/>
                          </a:rPr>
                          <m:t>+</m:t>
                        </m:r>
                        <m:r>
                          <a:rPr lang="en-US" altLang="zh-TW" sz="24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 panose="02020603050405020304" pitchFamily="18" charset="0"/>
                            <a:sym typeface="Times New Roman"/>
                          </a:rPr>
                          <m:t>𝑛</m:t>
                        </m:r>
                        <m:r>
                          <a:rPr lang="en-US" altLang="zh-TW" sz="2400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 panose="02020603050405020304" pitchFamily="18" charset="0"/>
                            <a:sym typeface="Times New Roman"/>
                          </a:rPr>
                          <m:t>−</m:t>
                        </m:r>
                        <m:r>
                          <a:rPr lang="en-US" altLang="zh-TW" sz="24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 panose="02020603050405020304" pitchFamily="18" charset="0"/>
                            <a:sym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 panose="02020603050405020304" pitchFamily="18" charset="0"/>
                            <a:sym typeface="Times New Roman"/>
                          </a:rPr>
                          <m:t>2</m:t>
                        </m:r>
                      </m:den>
                    </m:f>
                    <m:r>
                      <a:rPr lang="en-US" altLang="zh-TW" sz="24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must have the same parity</a:t>
                </a:r>
              </a:p>
            </p:txBody>
          </p:sp>
        </mc:Choice>
        <mc:Fallback>
          <p:sp>
            <p:nvSpPr>
              <p:cNvPr id="62" name="Google Shape;62;p1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416400"/>
              </a:xfrm>
              <a:prstGeom prst="rect">
                <a:avLst/>
              </a:prstGeom>
              <a:blipFill>
                <a:blip r:embed="rId3"/>
                <a:stretch>
                  <a:fillRect l="-10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E7331DC-7539-4402-BD5F-29A694C807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088" t="39894"/>
          <a:stretch/>
        </p:blipFill>
        <p:spPr>
          <a:xfrm>
            <a:off x="311700" y="2829334"/>
            <a:ext cx="7490012" cy="173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05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Derivation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2E26111-2D01-41B3-B281-B79F121B9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85100"/>
            <a:ext cx="3850062" cy="93992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47E972A-8905-4AE0-96E8-4EBAFFB92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025021"/>
            <a:ext cx="5108201" cy="94662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FE53215-AEF5-4363-B860-1A5763706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27753"/>
            <a:ext cx="9144000" cy="112552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C5BD433-405F-4760-B15C-62EC0A010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043573"/>
            <a:ext cx="7947212" cy="88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25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CD57706-C289-401F-9BEB-EB9686EEF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23" y="955675"/>
            <a:ext cx="7058544" cy="390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2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FEC1EA4-C977-4ABE-A4B3-E8DA737C3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08" y="1152475"/>
            <a:ext cx="7340163" cy="182214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4583465-5DAC-4AE1-B8A6-B9F6772EA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68965"/>
            <a:ext cx="9144000" cy="94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2B414A7-FE39-4AE2-B713-D42F4ACF8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88" y="108493"/>
            <a:ext cx="5883088" cy="496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57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A4D2027-ED87-4EC8-AEFF-9079FD2A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3679"/>
            <a:ext cx="9144000" cy="405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31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3AACBDE-0B6C-47B0-ACA7-B76B8697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0759"/>
            <a:ext cx="9144000" cy="12374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378C4AF-049D-485F-B6B3-F18EF1599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1231634"/>
            <a:ext cx="90678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71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0" y="1754841"/>
            <a:ext cx="9144000" cy="1902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4800" dirty="0">
                <a:latin typeface="Times New Roman"/>
                <a:ea typeface="Times New Roman"/>
                <a:cs typeface="Times New Roman"/>
                <a:sym typeface="Times New Roman"/>
              </a:rPr>
              <a:t>Thanks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2821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2806</TotalTime>
  <Words>331</Words>
  <Application>Microsoft Office PowerPoint</Application>
  <PresentationFormat>如螢幕大小 (16:9)</PresentationFormat>
  <Paragraphs>58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Arial</vt:lpstr>
      <vt:lpstr>Cambria Math</vt:lpstr>
      <vt:lpstr>Times New Roman</vt:lpstr>
      <vt:lpstr>Simple Light</vt:lpstr>
      <vt:lpstr>Domino Antimagic Squares and Rectangles</vt:lpstr>
      <vt:lpstr>Abstract</vt:lpstr>
      <vt:lpstr>Abstract</vt:lpstr>
      <vt:lpstr>Magic Square</vt:lpstr>
      <vt:lpstr>Domino</vt:lpstr>
      <vt:lpstr>Domino Magic Square</vt:lpstr>
      <vt:lpstr> Antimagic Squares</vt:lpstr>
      <vt:lpstr> Domino Antimagic Squares/Rectangles</vt:lpstr>
      <vt:lpstr>Derivation</vt:lpstr>
      <vt:lpstr>Derivation</vt:lpstr>
      <vt:lpstr>Derivation</vt:lpstr>
      <vt:lpstr>Derivation</vt:lpstr>
      <vt:lpstr>Result</vt:lpstr>
      <vt:lpstr>Result</vt:lpstr>
      <vt:lpstr>Result</vt:lpstr>
      <vt:lpstr>Result</vt:lpstr>
      <vt:lpstr>Result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Order-preserving pattern matching with k mismatches</dc:title>
  <cp:lastModifiedBy>鑫昌 俞</cp:lastModifiedBy>
  <cp:revision>199</cp:revision>
  <dcterms:modified xsi:type="dcterms:W3CDTF">2024-11-12T03:48:57Z</dcterms:modified>
</cp:coreProperties>
</file>