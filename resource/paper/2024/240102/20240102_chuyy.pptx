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
  </p:notesMasterIdLst>
  <p:sldIdLst>
    <p:sldId id="256" r:id="rId2"/>
    <p:sldId id="257" r:id="rId3"/>
    <p:sldId id="288" r:id="rId4"/>
    <p:sldId id="289" r:id="rId5"/>
    <p:sldId id="290" r:id="rId6"/>
    <p:sldId id="291" r:id="rId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854"/>
    <p:restoredTop sz="95788"/>
  </p:normalViewPr>
  <p:slideViewPr>
    <p:cSldViewPr snapToGrid="0" snapToObjects="1">
      <p:cViewPr varScale="1">
        <p:scale>
          <a:sx n="129" d="100"/>
          <a:sy n="129" d="100"/>
        </p:scale>
        <p:origin x="49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685761-BC47-1640-B177-90544C5C7DE3}" type="datetimeFigureOut">
              <a:rPr kumimoji="1" lang="zh-TW" altLang="en-US" smtClean="0"/>
              <a:t>2024/1/2</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DF88BA-E6E4-4543-BA48-BA0FF57EDFDD}" type="slidenum">
              <a:rPr kumimoji="1" lang="zh-TW" altLang="en-US" smtClean="0"/>
              <a:t>‹#›</a:t>
            </a:fld>
            <a:endParaRPr kumimoji="1" lang="zh-TW" altLang="en-US"/>
          </a:p>
        </p:txBody>
      </p:sp>
    </p:spTree>
    <p:extLst>
      <p:ext uri="{BB962C8B-B14F-4D97-AF65-F5344CB8AC3E}">
        <p14:creationId xmlns:p14="http://schemas.microsoft.com/office/powerpoint/2010/main" val="129180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8AFC48-3333-9D44-9A46-EBD28493A784}"/>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2FDEA52E-50C8-2B46-853E-68D8E0AC5B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按一下以編輯母片副標題樣式</a:t>
            </a:r>
          </a:p>
        </p:txBody>
      </p:sp>
      <p:sp>
        <p:nvSpPr>
          <p:cNvPr id="4" name="日期版面配置區 3">
            <a:extLst>
              <a:ext uri="{FF2B5EF4-FFF2-40B4-BE49-F238E27FC236}">
                <a16:creationId xmlns:a16="http://schemas.microsoft.com/office/drawing/2014/main" id="{99949C8A-F130-D646-AB33-6ACF0EC20126}"/>
              </a:ext>
            </a:extLst>
          </p:cNvPr>
          <p:cNvSpPr>
            <a:spLocks noGrp="1"/>
          </p:cNvSpPr>
          <p:nvPr>
            <p:ph type="dt" sz="half" idx="10"/>
          </p:nvPr>
        </p:nvSpPr>
        <p:spPr/>
        <p:txBody>
          <a:bodyPr/>
          <a:lstStyle/>
          <a:p>
            <a:fld id="{1D559227-5104-0D4E-AE2B-CFC6EF24DF26}" type="datetime1">
              <a:rPr kumimoji="1" lang="zh-TW" altLang="en-US" smtClean="0"/>
              <a:t>2024/1/2</a:t>
            </a:fld>
            <a:endParaRPr kumimoji="1" lang="zh-TW" altLang="en-US"/>
          </a:p>
        </p:txBody>
      </p:sp>
      <p:sp>
        <p:nvSpPr>
          <p:cNvPr id="5" name="頁尾版面配置區 4">
            <a:extLst>
              <a:ext uri="{FF2B5EF4-FFF2-40B4-BE49-F238E27FC236}">
                <a16:creationId xmlns:a16="http://schemas.microsoft.com/office/drawing/2014/main" id="{E450D42D-775A-2146-B8BB-C9CE9A382E72}"/>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61E502A-64F7-7C4E-B509-954BE6D3A0A2}"/>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4125589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580369-97FF-B548-BB55-CB8DCE6B8628}"/>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573028B2-5CCA-8C4B-A152-A6977DB014FE}"/>
              </a:ext>
            </a:extLst>
          </p:cNvPr>
          <p:cNvSpPr>
            <a:spLocks noGrp="1"/>
          </p:cNvSpPr>
          <p:nvPr>
            <p:ph idx="1"/>
          </p:nvPr>
        </p:nvSpPr>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32B847DA-2EF1-9E49-8F1B-E3D7D56E3B97}"/>
              </a:ext>
            </a:extLst>
          </p:cNvPr>
          <p:cNvSpPr>
            <a:spLocks noGrp="1"/>
          </p:cNvSpPr>
          <p:nvPr>
            <p:ph type="dt" sz="half" idx="10"/>
          </p:nvPr>
        </p:nvSpPr>
        <p:spPr/>
        <p:txBody>
          <a:bodyPr/>
          <a:lstStyle/>
          <a:p>
            <a:fld id="{6B7B55EC-044C-AD45-985E-A0F6561D9028}" type="datetime1">
              <a:rPr kumimoji="1" lang="zh-TW" altLang="en-US" smtClean="0"/>
              <a:t>2024/1/2</a:t>
            </a:fld>
            <a:endParaRPr kumimoji="1" lang="zh-TW" altLang="en-US"/>
          </a:p>
        </p:txBody>
      </p:sp>
      <p:sp>
        <p:nvSpPr>
          <p:cNvPr id="5" name="頁尾版面配置區 4">
            <a:extLst>
              <a:ext uri="{FF2B5EF4-FFF2-40B4-BE49-F238E27FC236}">
                <a16:creationId xmlns:a16="http://schemas.microsoft.com/office/drawing/2014/main" id="{6F09B162-6F92-BD4C-A01A-413E3321E0F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C6743639-9C98-CC43-9A7E-7827356595CB}"/>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9964066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807A748-F79F-F346-8961-AA8DB18739C9}"/>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3E6C14E7-8AB9-AE4F-8AB3-D0046CEF4C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編輯母片文字樣式</a:t>
            </a:r>
          </a:p>
        </p:txBody>
      </p:sp>
      <p:sp>
        <p:nvSpPr>
          <p:cNvPr id="4" name="日期版面配置區 3">
            <a:extLst>
              <a:ext uri="{FF2B5EF4-FFF2-40B4-BE49-F238E27FC236}">
                <a16:creationId xmlns:a16="http://schemas.microsoft.com/office/drawing/2014/main" id="{17A4DA8E-2AC4-874C-948B-4FEBEEDEF653}"/>
              </a:ext>
            </a:extLst>
          </p:cNvPr>
          <p:cNvSpPr>
            <a:spLocks noGrp="1"/>
          </p:cNvSpPr>
          <p:nvPr>
            <p:ph type="dt" sz="half" idx="10"/>
          </p:nvPr>
        </p:nvSpPr>
        <p:spPr/>
        <p:txBody>
          <a:bodyPr/>
          <a:lstStyle/>
          <a:p>
            <a:fld id="{1BE45051-DBAB-7C4D-ADA4-56271E2E2BD3}" type="datetime1">
              <a:rPr kumimoji="1" lang="zh-TW" altLang="en-US" smtClean="0"/>
              <a:t>2024/1/2</a:t>
            </a:fld>
            <a:endParaRPr kumimoji="1" lang="zh-TW" altLang="en-US"/>
          </a:p>
        </p:txBody>
      </p:sp>
      <p:sp>
        <p:nvSpPr>
          <p:cNvPr id="5" name="頁尾版面配置區 4">
            <a:extLst>
              <a:ext uri="{FF2B5EF4-FFF2-40B4-BE49-F238E27FC236}">
                <a16:creationId xmlns:a16="http://schemas.microsoft.com/office/drawing/2014/main" id="{98E82387-02E0-C34C-8788-958DE14FAFBC}"/>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904864AD-726D-904D-9686-9656A2465A6A}"/>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507744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51106A-DE42-B644-B664-A92563662205}"/>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E99A4BD2-86D7-EF4D-8B1D-D7A873433A35}"/>
              </a:ext>
            </a:extLst>
          </p:cNvPr>
          <p:cNvSpPr>
            <a:spLocks noGrp="1"/>
          </p:cNvSpPr>
          <p:nvPr>
            <p:ph sz="half" idx="1"/>
          </p:nvPr>
        </p:nvSpPr>
        <p:spPr>
          <a:xfrm>
            <a:off x="838200" y="1825625"/>
            <a:ext cx="5181600" cy="435133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697BFE0C-75E1-374C-A1BE-B0F7AB5B1191}"/>
              </a:ext>
            </a:extLst>
          </p:cNvPr>
          <p:cNvSpPr>
            <a:spLocks noGrp="1"/>
          </p:cNvSpPr>
          <p:nvPr>
            <p:ph sz="half" idx="2"/>
          </p:nvPr>
        </p:nvSpPr>
        <p:spPr>
          <a:xfrm>
            <a:off x="6172200" y="1825625"/>
            <a:ext cx="5181600" cy="435133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8A42632B-169D-B247-A46A-487B2CEEEE45}"/>
              </a:ext>
            </a:extLst>
          </p:cNvPr>
          <p:cNvSpPr>
            <a:spLocks noGrp="1"/>
          </p:cNvSpPr>
          <p:nvPr>
            <p:ph type="dt" sz="half" idx="10"/>
          </p:nvPr>
        </p:nvSpPr>
        <p:spPr/>
        <p:txBody>
          <a:bodyPr/>
          <a:lstStyle/>
          <a:p>
            <a:fld id="{C1EF0564-7FFB-CA45-9BCE-B6282CFC5BC4}" type="datetime1">
              <a:rPr kumimoji="1" lang="zh-TW" altLang="en-US" smtClean="0"/>
              <a:t>2024/1/2</a:t>
            </a:fld>
            <a:endParaRPr kumimoji="1" lang="zh-TW" altLang="en-US"/>
          </a:p>
        </p:txBody>
      </p:sp>
      <p:sp>
        <p:nvSpPr>
          <p:cNvPr id="6" name="頁尾版面配置區 5">
            <a:extLst>
              <a:ext uri="{FF2B5EF4-FFF2-40B4-BE49-F238E27FC236}">
                <a16:creationId xmlns:a16="http://schemas.microsoft.com/office/drawing/2014/main" id="{E5B42995-7EC8-AD4B-B91A-DB5FDC9376BF}"/>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35303DE2-E496-1F41-A7FE-CF2E2D9DD903}"/>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2400202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983B446-AFD9-BC43-8D50-6C488C6FF28E}"/>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572EBCA2-C8A4-8C43-8427-BBA9B59598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編輯母片文字樣式</a:t>
            </a:r>
          </a:p>
        </p:txBody>
      </p:sp>
      <p:sp>
        <p:nvSpPr>
          <p:cNvPr id="4" name="內容版面配置區 3">
            <a:extLst>
              <a:ext uri="{FF2B5EF4-FFF2-40B4-BE49-F238E27FC236}">
                <a16:creationId xmlns:a16="http://schemas.microsoft.com/office/drawing/2014/main" id="{AA4AB07E-104F-1546-A76D-27C9172D2012}"/>
              </a:ext>
            </a:extLst>
          </p:cNvPr>
          <p:cNvSpPr>
            <a:spLocks noGrp="1"/>
          </p:cNvSpPr>
          <p:nvPr>
            <p:ph sz="half" idx="2"/>
          </p:nvPr>
        </p:nvSpPr>
        <p:spPr>
          <a:xfrm>
            <a:off x="839788" y="2505075"/>
            <a:ext cx="5157787" cy="368458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4EDA1436-7B7F-424E-BDF6-9B2679D978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編輯母片文字樣式</a:t>
            </a:r>
          </a:p>
        </p:txBody>
      </p:sp>
      <p:sp>
        <p:nvSpPr>
          <p:cNvPr id="6" name="內容版面配置區 5">
            <a:extLst>
              <a:ext uri="{FF2B5EF4-FFF2-40B4-BE49-F238E27FC236}">
                <a16:creationId xmlns:a16="http://schemas.microsoft.com/office/drawing/2014/main" id="{5EE7DA3D-69F7-CE40-B4D5-8558AC0D6BA6}"/>
              </a:ext>
            </a:extLst>
          </p:cNvPr>
          <p:cNvSpPr>
            <a:spLocks noGrp="1"/>
          </p:cNvSpPr>
          <p:nvPr>
            <p:ph sz="quarter" idx="4"/>
          </p:nvPr>
        </p:nvSpPr>
        <p:spPr>
          <a:xfrm>
            <a:off x="6172200" y="2505075"/>
            <a:ext cx="5183188" cy="368458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F204E6A0-241E-D240-ACC4-4197BB01AB8C}"/>
              </a:ext>
            </a:extLst>
          </p:cNvPr>
          <p:cNvSpPr>
            <a:spLocks noGrp="1"/>
          </p:cNvSpPr>
          <p:nvPr>
            <p:ph type="dt" sz="half" idx="10"/>
          </p:nvPr>
        </p:nvSpPr>
        <p:spPr/>
        <p:txBody>
          <a:bodyPr/>
          <a:lstStyle/>
          <a:p>
            <a:fld id="{F8B6BB58-657F-9B42-8F63-CE29A2D5959E}" type="datetime1">
              <a:rPr kumimoji="1" lang="zh-TW" altLang="en-US" smtClean="0"/>
              <a:t>2024/1/2</a:t>
            </a:fld>
            <a:endParaRPr kumimoji="1" lang="zh-TW" altLang="en-US"/>
          </a:p>
        </p:txBody>
      </p:sp>
      <p:sp>
        <p:nvSpPr>
          <p:cNvPr id="8" name="頁尾版面配置區 7">
            <a:extLst>
              <a:ext uri="{FF2B5EF4-FFF2-40B4-BE49-F238E27FC236}">
                <a16:creationId xmlns:a16="http://schemas.microsoft.com/office/drawing/2014/main" id="{D3B801A1-AF0A-B84E-96F6-29CFB5435F43}"/>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9600253E-5D94-6E45-8290-370C15F59897}"/>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487426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57E884-9D25-2945-A655-164A32436AEF}"/>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06A303C2-B14E-C04F-B1CE-D8018834AF75}"/>
              </a:ext>
            </a:extLst>
          </p:cNvPr>
          <p:cNvSpPr>
            <a:spLocks noGrp="1"/>
          </p:cNvSpPr>
          <p:nvPr>
            <p:ph type="dt" sz="half" idx="10"/>
          </p:nvPr>
        </p:nvSpPr>
        <p:spPr/>
        <p:txBody>
          <a:bodyPr/>
          <a:lstStyle/>
          <a:p>
            <a:fld id="{CDFA12DD-F92E-F841-AEA2-DD2F0B8AC128}" type="datetime1">
              <a:rPr kumimoji="1" lang="zh-TW" altLang="en-US" smtClean="0"/>
              <a:t>2024/1/2</a:t>
            </a:fld>
            <a:endParaRPr kumimoji="1" lang="zh-TW" altLang="en-US"/>
          </a:p>
        </p:txBody>
      </p:sp>
      <p:sp>
        <p:nvSpPr>
          <p:cNvPr id="4" name="頁尾版面配置區 3">
            <a:extLst>
              <a:ext uri="{FF2B5EF4-FFF2-40B4-BE49-F238E27FC236}">
                <a16:creationId xmlns:a16="http://schemas.microsoft.com/office/drawing/2014/main" id="{251ACB14-3C83-BF40-A08D-8B6551FEB45D}"/>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A5C06E59-8A0C-3B42-90EE-5E614E092B18}"/>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2477431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CB7FD22-44BD-D04C-B395-F3F22D97C84F}"/>
              </a:ext>
            </a:extLst>
          </p:cNvPr>
          <p:cNvSpPr>
            <a:spLocks noGrp="1"/>
          </p:cNvSpPr>
          <p:nvPr>
            <p:ph type="dt" sz="half" idx="10"/>
          </p:nvPr>
        </p:nvSpPr>
        <p:spPr/>
        <p:txBody>
          <a:bodyPr/>
          <a:lstStyle/>
          <a:p>
            <a:fld id="{1E4BAC9C-27AF-0445-AD50-816FC8B10FDD}" type="datetime1">
              <a:rPr kumimoji="1" lang="zh-TW" altLang="en-US" smtClean="0"/>
              <a:t>2024/1/2</a:t>
            </a:fld>
            <a:endParaRPr kumimoji="1" lang="zh-TW" altLang="en-US"/>
          </a:p>
        </p:txBody>
      </p:sp>
      <p:sp>
        <p:nvSpPr>
          <p:cNvPr id="3" name="頁尾版面配置區 2">
            <a:extLst>
              <a:ext uri="{FF2B5EF4-FFF2-40B4-BE49-F238E27FC236}">
                <a16:creationId xmlns:a16="http://schemas.microsoft.com/office/drawing/2014/main" id="{C444FE38-2187-8248-97D1-6F5606FAB126}"/>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65EF3BE3-3845-844D-A07F-F27C144C5EF4}"/>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514009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B493A6-EA88-8A46-9A8B-F872E6DC3C28}"/>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0704C30A-146C-C947-844C-AAE8B3BE79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36B48693-0DB2-B84A-9B17-AABB613BF7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編輯母片文字樣式</a:t>
            </a:r>
          </a:p>
        </p:txBody>
      </p:sp>
      <p:sp>
        <p:nvSpPr>
          <p:cNvPr id="5" name="日期版面配置區 4">
            <a:extLst>
              <a:ext uri="{FF2B5EF4-FFF2-40B4-BE49-F238E27FC236}">
                <a16:creationId xmlns:a16="http://schemas.microsoft.com/office/drawing/2014/main" id="{CB4F527B-2D7C-E546-8E6E-59F97AC0B7A5}"/>
              </a:ext>
            </a:extLst>
          </p:cNvPr>
          <p:cNvSpPr>
            <a:spLocks noGrp="1"/>
          </p:cNvSpPr>
          <p:nvPr>
            <p:ph type="dt" sz="half" idx="10"/>
          </p:nvPr>
        </p:nvSpPr>
        <p:spPr/>
        <p:txBody>
          <a:bodyPr/>
          <a:lstStyle/>
          <a:p>
            <a:fld id="{37BB5826-6582-C149-8E57-B0E656F33930}" type="datetime1">
              <a:rPr kumimoji="1" lang="zh-TW" altLang="en-US" smtClean="0"/>
              <a:t>2024/1/2</a:t>
            </a:fld>
            <a:endParaRPr kumimoji="1" lang="zh-TW" altLang="en-US"/>
          </a:p>
        </p:txBody>
      </p:sp>
      <p:sp>
        <p:nvSpPr>
          <p:cNvPr id="6" name="頁尾版面配置區 5">
            <a:extLst>
              <a:ext uri="{FF2B5EF4-FFF2-40B4-BE49-F238E27FC236}">
                <a16:creationId xmlns:a16="http://schemas.microsoft.com/office/drawing/2014/main" id="{FBCBFEFC-0A9F-9B4C-A6C0-4A2E0277AC1B}"/>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9794B559-2406-764E-A4B9-D824C5231CC6}"/>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1499344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E627F2-C5A6-0D4A-B798-19DCE18B44BA}"/>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080398C8-8B1E-B547-A326-BD1E129C8D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C07516E8-147F-294D-8085-25893538C3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編輯母片文字樣式</a:t>
            </a:r>
          </a:p>
        </p:txBody>
      </p:sp>
      <p:sp>
        <p:nvSpPr>
          <p:cNvPr id="5" name="日期版面配置區 4">
            <a:extLst>
              <a:ext uri="{FF2B5EF4-FFF2-40B4-BE49-F238E27FC236}">
                <a16:creationId xmlns:a16="http://schemas.microsoft.com/office/drawing/2014/main" id="{DD3358FF-DC99-1441-8DAF-FDDE3326FAD0}"/>
              </a:ext>
            </a:extLst>
          </p:cNvPr>
          <p:cNvSpPr>
            <a:spLocks noGrp="1"/>
          </p:cNvSpPr>
          <p:nvPr>
            <p:ph type="dt" sz="half" idx="10"/>
          </p:nvPr>
        </p:nvSpPr>
        <p:spPr/>
        <p:txBody>
          <a:bodyPr/>
          <a:lstStyle/>
          <a:p>
            <a:fld id="{CE3E1583-6ED2-5448-8362-DC2E2DF96F6E}" type="datetime1">
              <a:rPr kumimoji="1" lang="zh-TW" altLang="en-US" smtClean="0"/>
              <a:t>2024/1/2</a:t>
            </a:fld>
            <a:endParaRPr kumimoji="1" lang="zh-TW" altLang="en-US"/>
          </a:p>
        </p:txBody>
      </p:sp>
      <p:sp>
        <p:nvSpPr>
          <p:cNvPr id="6" name="頁尾版面配置區 5">
            <a:extLst>
              <a:ext uri="{FF2B5EF4-FFF2-40B4-BE49-F238E27FC236}">
                <a16:creationId xmlns:a16="http://schemas.microsoft.com/office/drawing/2014/main" id="{CCCD27CE-99AA-6E4E-9DBE-E31E2907AD9D}"/>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455623A4-40DB-5648-A636-5C55E052F991}"/>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4129642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4E152E-7F75-8942-9848-51F47CBDB059}"/>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93B8AA00-30B6-A94A-B2F0-94FCA9255E94}"/>
              </a:ext>
            </a:extLst>
          </p:cNvPr>
          <p:cNvSpPr>
            <a:spLocks noGrp="1"/>
          </p:cNvSpPr>
          <p:nvPr>
            <p:ph type="body" orient="vert" idx="1"/>
          </p:nvPr>
        </p:nvSpPr>
        <p:spPr/>
        <p:txBody>
          <a:bodyPr vert="eaVert"/>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E95A9F1C-7E4C-884D-9A90-EDF2A6DBD779}"/>
              </a:ext>
            </a:extLst>
          </p:cNvPr>
          <p:cNvSpPr>
            <a:spLocks noGrp="1"/>
          </p:cNvSpPr>
          <p:nvPr>
            <p:ph type="dt" sz="half" idx="10"/>
          </p:nvPr>
        </p:nvSpPr>
        <p:spPr/>
        <p:txBody>
          <a:bodyPr/>
          <a:lstStyle/>
          <a:p>
            <a:fld id="{3CB91D62-DF39-2B4A-9C96-DAA8DA866A30}" type="datetime1">
              <a:rPr kumimoji="1" lang="zh-TW" altLang="en-US" smtClean="0"/>
              <a:t>2024/1/2</a:t>
            </a:fld>
            <a:endParaRPr kumimoji="1" lang="zh-TW" altLang="en-US"/>
          </a:p>
        </p:txBody>
      </p:sp>
      <p:sp>
        <p:nvSpPr>
          <p:cNvPr id="5" name="頁尾版面配置區 4">
            <a:extLst>
              <a:ext uri="{FF2B5EF4-FFF2-40B4-BE49-F238E27FC236}">
                <a16:creationId xmlns:a16="http://schemas.microsoft.com/office/drawing/2014/main" id="{EF12E854-2582-9F4E-8CFD-4D7ED3138D63}"/>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FE4CB08D-2F0B-CA45-8F57-E6B71AE4662A}"/>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725235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垂直標題 1">
            <a:extLst>
              <a:ext uri="{FF2B5EF4-FFF2-40B4-BE49-F238E27FC236}">
                <a16:creationId xmlns:a16="http://schemas.microsoft.com/office/drawing/2014/main" id="{9E14D04E-8318-224B-9272-AC5E0B731C3B}"/>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97D28947-C772-8143-9FC4-F0D4A51E2484}"/>
              </a:ext>
            </a:extLst>
          </p:cNvPr>
          <p:cNvSpPr>
            <a:spLocks noGrp="1"/>
          </p:cNvSpPr>
          <p:nvPr>
            <p:ph type="body" orient="vert" idx="1"/>
          </p:nvPr>
        </p:nvSpPr>
        <p:spPr>
          <a:xfrm>
            <a:off x="838200" y="365125"/>
            <a:ext cx="7734300" cy="5811838"/>
          </a:xfrm>
        </p:spPr>
        <p:txBody>
          <a:bodyPr vert="eaVert"/>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86C72D5E-B0ED-5047-A7FA-B2E657286FB5}"/>
              </a:ext>
            </a:extLst>
          </p:cNvPr>
          <p:cNvSpPr>
            <a:spLocks noGrp="1"/>
          </p:cNvSpPr>
          <p:nvPr>
            <p:ph type="dt" sz="half" idx="10"/>
          </p:nvPr>
        </p:nvSpPr>
        <p:spPr/>
        <p:txBody>
          <a:bodyPr/>
          <a:lstStyle/>
          <a:p>
            <a:fld id="{1C3AF8DB-CCF4-7A48-8850-2685985A08ED}" type="datetime1">
              <a:rPr kumimoji="1" lang="zh-TW" altLang="en-US" smtClean="0"/>
              <a:t>2024/1/2</a:t>
            </a:fld>
            <a:endParaRPr kumimoji="1" lang="zh-TW" altLang="en-US"/>
          </a:p>
        </p:txBody>
      </p:sp>
      <p:sp>
        <p:nvSpPr>
          <p:cNvPr id="5" name="頁尾版面配置區 4">
            <a:extLst>
              <a:ext uri="{FF2B5EF4-FFF2-40B4-BE49-F238E27FC236}">
                <a16:creationId xmlns:a16="http://schemas.microsoft.com/office/drawing/2014/main" id="{A4FA687B-D6E8-124C-B1FC-998BBF54F0A7}"/>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2D20F1B-4E62-4C4C-82A7-85B5304901D7}"/>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9616860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D05A8D0E-8330-F341-A098-517F99E9BF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7E117BF3-AF8D-E34D-9885-6A7A5C8DB2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4A2835D4-A14D-3A48-918A-80F589AD20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06BF9D-945A-9644-8C98-6072299715AD}" type="datetime1">
              <a:rPr kumimoji="1" lang="zh-TW" altLang="en-US" smtClean="0"/>
              <a:t>2024/1/2</a:t>
            </a:fld>
            <a:endParaRPr kumimoji="1" lang="zh-TW" altLang="en-US"/>
          </a:p>
        </p:txBody>
      </p:sp>
      <p:sp>
        <p:nvSpPr>
          <p:cNvPr id="5" name="頁尾版面配置區 4">
            <a:extLst>
              <a:ext uri="{FF2B5EF4-FFF2-40B4-BE49-F238E27FC236}">
                <a16:creationId xmlns:a16="http://schemas.microsoft.com/office/drawing/2014/main" id="{C74DF0F1-03B3-874C-95C1-565A03256B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31932831-0323-6F4F-B891-00A63D5522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2999265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5F607E-C288-1D47-8A1C-E7C69ED95BEB}"/>
              </a:ext>
            </a:extLst>
          </p:cNvPr>
          <p:cNvSpPr>
            <a:spLocks noGrp="1"/>
          </p:cNvSpPr>
          <p:nvPr>
            <p:ph type="ctrTitle"/>
          </p:nvPr>
        </p:nvSpPr>
        <p:spPr>
          <a:xfrm>
            <a:off x="1524000" y="1122363"/>
            <a:ext cx="9144000" cy="2387600"/>
          </a:xfrm>
        </p:spPr>
        <p:txBody>
          <a:bodyPr>
            <a:noAutofit/>
          </a:bodyPr>
          <a:lstStyle/>
          <a:p>
            <a:r>
              <a:rPr kumimoji="1" lang="en-US" altLang="zh-TW" sz="4800" dirty="0">
                <a:latin typeface="Times New Roman" panose="02020603050405020304" pitchFamily="18" charset="0"/>
                <a:cs typeface="Times New Roman" panose="02020603050405020304" pitchFamily="18" charset="0"/>
              </a:rPr>
              <a:t>Finding a maximum independent set in time O(2</a:t>
            </a:r>
            <a:r>
              <a:rPr kumimoji="1" lang="en-US" altLang="zh-TW" sz="4800" baseline="30000" dirty="0">
                <a:latin typeface="Times New Roman" panose="02020603050405020304" pitchFamily="18" charset="0"/>
                <a:cs typeface="Times New Roman" panose="02020603050405020304" pitchFamily="18" charset="0"/>
              </a:rPr>
              <a:t>n/4</a:t>
            </a:r>
            <a:r>
              <a:rPr kumimoji="1" lang="en-US" altLang="zh-TW" sz="4800" dirty="0">
                <a:latin typeface="Times New Roman" panose="02020603050405020304" pitchFamily="18" charset="0"/>
                <a:cs typeface="Times New Roman" panose="02020603050405020304" pitchFamily="18" charset="0"/>
              </a:rPr>
              <a:t>)</a:t>
            </a:r>
            <a:br>
              <a:rPr kumimoji="1" lang="en-US" altLang="zh-TW" sz="4800" dirty="0">
                <a:latin typeface="Times New Roman" panose="02020603050405020304" pitchFamily="18" charset="0"/>
                <a:cs typeface="Times New Roman" panose="02020603050405020304" pitchFamily="18" charset="0"/>
              </a:rPr>
            </a:br>
            <a:endParaRPr kumimoji="1" lang="zh-TW" altLang="en-US" sz="48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8435B96C-9974-DE4C-8462-F823C1E2256B}"/>
              </a:ext>
            </a:extLst>
          </p:cNvPr>
          <p:cNvSpPr>
            <a:spLocks noGrp="1"/>
          </p:cNvSpPr>
          <p:nvPr>
            <p:ph type="subTitle" idx="1"/>
          </p:nvPr>
        </p:nvSpPr>
        <p:spPr>
          <a:xfrm>
            <a:off x="1524000" y="3602038"/>
            <a:ext cx="9144000" cy="1961024"/>
          </a:xfrm>
        </p:spPr>
        <p:txBody>
          <a:bodyPr/>
          <a:lstStyle/>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J. M. Robson</a:t>
            </a:r>
          </a:p>
          <a:p>
            <a:r>
              <a:rPr kumimoji="1" lang="en-US" altLang="zh-TW" dirty="0">
                <a:latin typeface="Times New Roman" panose="02020603050405020304" pitchFamily="18" charset="0"/>
                <a:cs typeface="Times New Roman" panose="02020603050405020304" pitchFamily="18" charset="0"/>
              </a:rPr>
              <a:t>January 2001</a:t>
            </a:r>
            <a:endParaRPr kumimoji="1" lang="zh-TW" alt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22A5DE4-40CC-5144-89F0-861870F17BD1}"/>
              </a:ext>
            </a:extLst>
          </p:cNvPr>
          <p:cNvSpPr txBox="1"/>
          <p:nvPr/>
        </p:nvSpPr>
        <p:spPr>
          <a:xfrm>
            <a:off x="9043219" y="5563062"/>
            <a:ext cx="2352375" cy="646331"/>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Presenter: Yu-Yen Chu</a:t>
            </a:r>
          </a:p>
          <a:p>
            <a:r>
              <a:rPr lang="en-US" dirty="0">
                <a:latin typeface="Times New Roman" panose="02020603050405020304" pitchFamily="18" charset="0"/>
                <a:cs typeface="Times New Roman" panose="02020603050405020304" pitchFamily="18" charset="0"/>
              </a:rPr>
              <a:t>Date: Jan. 2, 2024</a:t>
            </a:r>
          </a:p>
        </p:txBody>
      </p:sp>
    </p:spTree>
    <p:extLst>
      <p:ext uri="{BB962C8B-B14F-4D97-AF65-F5344CB8AC3E}">
        <p14:creationId xmlns:p14="http://schemas.microsoft.com/office/powerpoint/2010/main" val="694280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Abstract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8200" y="1825624"/>
            <a:ext cx="10515600" cy="4803775"/>
          </a:xfrm>
        </p:spPr>
        <p:txBody>
          <a:bodyPr>
            <a:normAutofit/>
          </a:bodyPr>
          <a:lstStyle/>
          <a:p>
            <a:pPr marL="0" indent="0">
              <a:buNone/>
            </a:pPr>
            <a:r>
              <a:rPr kumimoji="1" lang="en-US" altLang="zh-TW" dirty="0">
                <a:latin typeface="Times New Roman" panose="02020603050405020304" pitchFamily="18" charset="0"/>
                <a:cs typeface="Times New Roman" panose="02020603050405020304" pitchFamily="18" charset="0"/>
              </a:rPr>
              <a:t>We improve previous algorithms for finding the size of the largest independent set of a graph in three ways: firstly a more detailed analysis of the possible local structures around a vertex where the algorithm will branch recursively, much of the most detailed analysis being done by computer, secondly more use of auxiliary functions which consider independent sets subject to certain extra conditions and thirdly a better analysis of the improvements achieved by a dynamic programming variant. These improvements reduce the constant c in the O(2</a:t>
            </a:r>
            <a:r>
              <a:rPr kumimoji="1" lang="en-US" altLang="zh-TW" baseline="30000" dirty="0">
                <a:latin typeface="Times New Roman" panose="02020603050405020304" pitchFamily="18" charset="0"/>
                <a:cs typeface="Times New Roman" panose="02020603050405020304" pitchFamily="18" charset="0"/>
              </a:rPr>
              <a:t>cn</a:t>
            </a:r>
            <a:r>
              <a:rPr kumimoji="1" lang="en-US" altLang="zh-TW" dirty="0">
                <a:latin typeface="Times New Roman" panose="02020603050405020304" pitchFamily="18" charset="0"/>
                <a:cs typeface="Times New Roman" panose="02020603050405020304" pitchFamily="18" charset="0"/>
              </a:rPr>
              <a:t>) time bound to less than 0.25.</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2</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111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Problem Setup</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8199" y="1825624"/>
            <a:ext cx="11058940" cy="5032376"/>
          </a:xfrm>
        </p:spPr>
        <p:txBody>
          <a:bodyPr>
            <a:normAutofit/>
          </a:bodyPr>
          <a:lstStyle/>
          <a:p>
            <a:r>
              <a:rPr kumimoji="1" lang="en-US" altLang="zh-TW" dirty="0">
                <a:latin typeface="Times New Roman" panose="02020603050405020304" pitchFamily="18" charset="0"/>
                <a:cs typeface="Times New Roman" panose="02020603050405020304" pitchFamily="18" charset="0"/>
              </a:rPr>
              <a:t>Notations</a:t>
            </a:r>
          </a:p>
          <a:p>
            <a:pPr lvl="1"/>
            <a:r>
              <a:rPr kumimoji="1" lang="en-US" altLang="zh-TW" dirty="0">
                <a:latin typeface="Times New Roman" panose="02020603050405020304" pitchFamily="18" charset="0"/>
                <a:cs typeface="Times New Roman" panose="02020603050405020304" pitchFamily="18" charset="0"/>
              </a:rPr>
              <a:t>N(v): the set of neighbors of vertex v.</a:t>
            </a:r>
          </a:p>
          <a:p>
            <a:pPr lvl="1"/>
            <a:r>
              <a:rPr kumimoji="1" lang="en-US" altLang="zh-TW" dirty="0">
                <a:latin typeface="Times New Roman" panose="02020603050405020304" pitchFamily="18" charset="0"/>
                <a:cs typeface="Times New Roman" panose="02020603050405020304" pitchFamily="18" charset="0"/>
              </a:rPr>
              <a:t>[N](v): N(v) + v.</a:t>
            </a:r>
          </a:p>
          <a:p>
            <a:pPr lvl="1"/>
            <a:r>
              <a:rPr kumimoji="1" lang="en-US" altLang="zh-TW" dirty="0">
                <a:latin typeface="Times New Roman" panose="02020603050405020304" pitchFamily="18" charset="0"/>
                <a:cs typeface="Times New Roman" panose="02020603050405020304" pitchFamily="18" charset="0"/>
              </a:rPr>
              <a:t>N</a:t>
            </a:r>
            <a:r>
              <a:rPr kumimoji="1" lang="en-US" altLang="zh-TW" baseline="30000" dirty="0">
                <a:latin typeface="Times New Roman" panose="02020603050405020304" pitchFamily="18" charset="0"/>
                <a:cs typeface="Times New Roman" panose="02020603050405020304" pitchFamily="18" charset="0"/>
              </a:rPr>
              <a:t>2</a:t>
            </a:r>
            <a:r>
              <a:rPr kumimoji="1" lang="en-US" altLang="zh-TW" dirty="0">
                <a:latin typeface="Times New Roman" panose="02020603050405020304" pitchFamily="18" charset="0"/>
                <a:cs typeface="Times New Roman" panose="02020603050405020304" pitchFamily="18" charset="0"/>
              </a:rPr>
              <a:t>(v): N(N(v)) – [N](v).</a:t>
            </a:r>
          </a:p>
          <a:p>
            <a:pPr lvl="1"/>
            <a:r>
              <a:rPr kumimoji="1" lang="en-US" altLang="zh-TW" dirty="0">
                <a:latin typeface="Times New Roman" panose="02020603050405020304" pitchFamily="18" charset="0"/>
                <a:cs typeface="Times New Roman" panose="02020603050405020304" pitchFamily="18" charset="0"/>
              </a:rPr>
              <a:t>[N]</a:t>
            </a:r>
            <a:r>
              <a:rPr kumimoji="1" lang="en-US" altLang="zh-TW" baseline="30000" dirty="0">
                <a:latin typeface="Times New Roman" panose="02020603050405020304" pitchFamily="18" charset="0"/>
                <a:cs typeface="Times New Roman" panose="02020603050405020304" pitchFamily="18" charset="0"/>
              </a:rPr>
              <a:t>2</a:t>
            </a:r>
            <a:r>
              <a:rPr kumimoji="1" lang="en-US" altLang="zh-TW" dirty="0">
                <a:latin typeface="Times New Roman" panose="02020603050405020304" pitchFamily="18" charset="0"/>
                <a:cs typeface="Times New Roman" panose="02020603050405020304" pitchFamily="18" charset="0"/>
              </a:rPr>
              <a:t>(v): [N]([N](v)).</a:t>
            </a:r>
          </a:p>
          <a:p>
            <a:pPr lvl="1"/>
            <a:r>
              <a:rPr kumimoji="1" lang="en-US" altLang="zh-TW" dirty="0">
                <a:latin typeface="Times New Roman" panose="02020603050405020304" pitchFamily="18" charset="0"/>
                <a:cs typeface="Times New Roman" panose="02020603050405020304" pitchFamily="18" charset="0"/>
              </a:rPr>
              <a:t>d(v): the degree of vertex v.</a:t>
            </a:r>
          </a:p>
          <a:p>
            <a:r>
              <a:rPr kumimoji="1" lang="en-US" altLang="zh-TW" dirty="0">
                <a:latin typeface="Times New Roman" panose="02020603050405020304" pitchFamily="18" charset="0"/>
                <a:cs typeface="Times New Roman" panose="02020603050405020304" pitchFamily="18" charset="0"/>
              </a:rPr>
              <a:t>Functions</a:t>
            </a:r>
          </a:p>
          <a:p>
            <a:pPr lvl="1"/>
            <a:r>
              <a:rPr kumimoji="1" lang="en-US" altLang="zh-TW" dirty="0">
                <a:latin typeface="Times New Roman" panose="02020603050405020304" pitchFamily="18" charset="0"/>
                <a:cs typeface="Times New Roman" panose="02020603050405020304" pitchFamily="18" charset="0"/>
              </a:rPr>
              <a:t>stab(G): returns the number of vertices of </a:t>
            </a:r>
            <a:r>
              <a:rPr kumimoji="1" lang="en-US" altLang="zh-TW" dirty="0" err="1">
                <a:latin typeface="Times New Roman" panose="02020603050405020304" pitchFamily="18" charset="0"/>
                <a:cs typeface="Times New Roman" panose="02020603050405020304" pitchFamily="18" charset="0"/>
              </a:rPr>
              <a:t>m.i.s</a:t>
            </a:r>
            <a:r>
              <a:rPr kumimoji="1" lang="en-US" altLang="zh-TW" dirty="0">
                <a:latin typeface="Times New Roman" panose="02020603050405020304" pitchFamily="18" charset="0"/>
                <a:cs typeface="Times New Roman" panose="02020603050405020304" pitchFamily="18" charset="0"/>
              </a:rPr>
              <a:t>. of G (run time is k2</a:t>
            </a:r>
            <a:r>
              <a:rPr kumimoji="1" lang="en-US" altLang="zh-TW" baseline="30000" dirty="0">
                <a:latin typeface="Times New Roman" panose="02020603050405020304" pitchFamily="18" charset="0"/>
                <a:cs typeface="Times New Roman" panose="02020603050405020304" pitchFamily="18" charset="0"/>
              </a:rPr>
              <a:t>cn</a:t>
            </a:r>
            <a:r>
              <a:rPr kumimoji="1" lang="en-US" altLang="zh-TW" dirty="0">
                <a:latin typeface="Times New Roman" panose="02020603050405020304" pitchFamily="18" charset="0"/>
                <a:cs typeface="Times New Roman" panose="02020603050405020304" pitchFamily="18" charset="0"/>
              </a:rPr>
              <a:t>, with |G| = n).</a:t>
            </a:r>
          </a:p>
          <a:p>
            <a:pPr lvl="1"/>
            <a:r>
              <a:rPr kumimoji="1" lang="en-US" altLang="zh-TW" dirty="0">
                <a:latin typeface="Times New Roman" panose="02020603050405020304" pitchFamily="18" charset="0"/>
                <a:cs typeface="Times New Roman" panose="02020603050405020304" pitchFamily="18" charset="0"/>
              </a:rPr>
              <a:t>stab’(G, (S</a:t>
            </a:r>
            <a:r>
              <a:rPr kumimoji="1" lang="en-US" altLang="zh-TW" baseline="-25000" dirty="0">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a:t>
            </a:r>
            <a:r>
              <a:rPr kumimoji="1" lang="en-US" altLang="zh-TW" dirty="0" err="1">
                <a:latin typeface="Times New Roman" panose="02020603050405020304" pitchFamily="18" charset="0"/>
                <a:cs typeface="Times New Roman" panose="02020603050405020304" pitchFamily="18" charset="0"/>
              </a:rPr>
              <a:t>n</a:t>
            </a:r>
            <a:r>
              <a:rPr kumimoji="1" lang="en-US" altLang="zh-TW" baseline="-25000"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returns the number of vertices of </a:t>
            </a:r>
            <a:r>
              <a:rPr kumimoji="1" lang="en-US" altLang="zh-TW" dirty="0" err="1">
                <a:latin typeface="Times New Roman" panose="02020603050405020304" pitchFamily="18" charset="0"/>
                <a:cs typeface="Times New Roman" panose="02020603050405020304" pitchFamily="18" charset="0"/>
              </a:rPr>
              <a:t>m.i.s</a:t>
            </a:r>
            <a:r>
              <a:rPr kumimoji="1" lang="en-US" altLang="zh-TW" dirty="0">
                <a:latin typeface="Times New Roman" panose="02020603050405020304" pitchFamily="18" charset="0"/>
                <a:cs typeface="Times New Roman" panose="02020603050405020304" pitchFamily="18" charset="0"/>
              </a:rPr>
              <a:t>. of G, where S</a:t>
            </a:r>
            <a:r>
              <a:rPr kumimoji="1" lang="en-US" altLang="zh-TW" baseline="-25000" dirty="0">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is a subset of G and </a:t>
            </a:r>
            <a:r>
              <a:rPr kumimoji="1" lang="en-US" altLang="zh-TW" dirty="0" err="1">
                <a:latin typeface="Times New Roman" panose="02020603050405020304" pitchFamily="18" charset="0"/>
                <a:cs typeface="Times New Roman" panose="02020603050405020304" pitchFamily="18" charset="0"/>
              </a:rPr>
              <a:t>n</a:t>
            </a:r>
            <a:r>
              <a:rPr kumimoji="1" lang="en-US" altLang="zh-TW" baseline="-25000"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is the minimum number of vertices of S</a:t>
            </a:r>
            <a:r>
              <a:rPr kumimoji="1" lang="en-US" altLang="zh-TW" baseline="-25000" dirty="0">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that </a:t>
            </a:r>
            <a:r>
              <a:rPr kumimoji="1" lang="en-US" altLang="zh-TW" dirty="0" err="1">
                <a:latin typeface="Times New Roman" panose="02020603050405020304" pitchFamily="18" charset="0"/>
                <a:cs typeface="Times New Roman" panose="02020603050405020304" pitchFamily="18" charset="0"/>
              </a:rPr>
              <a:t>m.i.s</a:t>
            </a:r>
            <a:r>
              <a:rPr kumimoji="1" lang="en-US" altLang="zh-TW" dirty="0">
                <a:latin typeface="Times New Roman" panose="02020603050405020304" pitchFamily="18" charset="0"/>
                <a:cs typeface="Times New Roman" panose="02020603050405020304" pitchFamily="18" charset="0"/>
              </a:rPr>
              <a:t>. contains.</a:t>
            </a:r>
          </a:p>
          <a:p>
            <a:pPr lvl="1"/>
            <a:r>
              <a:rPr kumimoji="1" lang="en-US" altLang="zh-TW" dirty="0">
                <a:latin typeface="Times New Roman" panose="02020603050405020304" pitchFamily="18" charset="0"/>
                <a:cs typeface="Times New Roman" panose="02020603050405020304" pitchFamily="18" charset="0"/>
              </a:rPr>
              <a:t>stab’’(G, x, y): returns the number of vertices of </a:t>
            </a:r>
            <a:r>
              <a:rPr kumimoji="1" lang="en-US" altLang="zh-TW" dirty="0" err="1">
                <a:latin typeface="Times New Roman" panose="02020603050405020304" pitchFamily="18" charset="0"/>
                <a:cs typeface="Times New Roman" panose="02020603050405020304" pitchFamily="18" charset="0"/>
              </a:rPr>
              <a:t>m.i.s</a:t>
            </a:r>
            <a:r>
              <a:rPr kumimoji="1" lang="en-US" altLang="zh-TW" dirty="0">
                <a:latin typeface="Times New Roman" panose="02020603050405020304" pitchFamily="18" charset="0"/>
                <a:cs typeface="Times New Roman" panose="02020603050405020304" pitchFamily="18" charset="0"/>
              </a:rPr>
              <a:t>. of G, where x and y are vertices of G and they are not connected by an edge.</a:t>
            </a: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3</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1998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Problem Setup</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8199" y="1736172"/>
            <a:ext cx="10820401" cy="5241099"/>
          </a:xfrm>
        </p:spPr>
        <p:txBody>
          <a:bodyPr>
            <a:normAutofit/>
          </a:bodyPr>
          <a:lstStyle/>
          <a:p>
            <a:r>
              <a:rPr kumimoji="1" lang="en-US" altLang="zh-TW" dirty="0">
                <a:latin typeface="Times New Roman" panose="02020603050405020304" pitchFamily="18" charset="0"/>
                <a:cs typeface="Times New Roman" panose="02020603050405020304" pitchFamily="18" charset="0"/>
              </a:rPr>
              <a:t>For a graph G=(V, E) with |V| = n(or |G| = n), the upper bound of the time complexity of finding a maximum independent set(</a:t>
            </a:r>
            <a:r>
              <a:rPr kumimoji="1" lang="en-US" altLang="zh-TW" dirty="0" err="1">
                <a:latin typeface="Times New Roman" panose="02020603050405020304" pitchFamily="18" charset="0"/>
                <a:cs typeface="Times New Roman" panose="02020603050405020304" pitchFamily="18" charset="0"/>
              </a:rPr>
              <a:t>m.i.s</a:t>
            </a:r>
            <a:r>
              <a:rPr kumimoji="1" lang="en-US" altLang="zh-TW" dirty="0">
                <a:latin typeface="Times New Roman" panose="02020603050405020304" pitchFamily="18" charset="0"/>
                <a:cs typeface="Times New Roman" panose="02020603050405020304" pitchFamily="18" charset="0"/>
              </a:rPr>
              <a:t>.) is O(2</a:t>
            </a:r>
            <a:r>
              <a:rPr kumimoji="1" lang="en-US" altLang="zh-TW" baseline="30000" dirty="0">
                <a:latin typeface="Times New Roman" panose="02020603050405020304" pitchFamily="18" charset="0"/>
                <a:cs typeface="Times New Roman" panose="02020603050405020304" pitchFamily="18" charset="0"/>
              </a:rPr>
              <a:t>cn</a:t>
            </a:r>
            <a:r>
              <a:rPr kumimoji="1" lang="en-US" altLang="zh-TW" dirty="0">
                <a:latin typeface="Times New Roman" panose="02020603050405020304" pitchFamily="18" charset="0"/>
                <a:cs typeface="Times New Roman" panose="02020603050405020304" pitchFamily="18" charset="0"/>
              </a:rPr>
              <a:t>) with c &lt;= 1 (or O(a</a:t>
            </a:r>
            <a:r>
              <a:rPr kumimoji="1" lang="en-US" altLang="zh-TW" baseline="30000" dirty="0">
                <a:latin typeface="Times New Roman" panose="02020603050405020304" pitchFamily="18" charset="0"/>
                <a:cs typeface="Times New Roman" panose="02020603050405020304" pitchFamily="18" charset="0"/>
              </a:rPr>
              <a:t>n</a:t>
            </a:r>
            <a:r>
              <a:rPr kumimoji="1" lang="en-US" altLang="zh-TW" dirty="0">
                <a:latin typeface="Times New Roman" panose="02020603050405020304" pitchFamily="18" charset="0"/>
                <a:cs typeface="Times New Roman" panose="02020603050405020304" pitchFamily="18" charset="0"/>
              </a:rPr>
              <a:t>) with a &lt;= 2).</a:t>
            </a:r>
          </a:p>
          <a:p>
            <a:r>
              <a:rPr kumimoji="1" lang="en-US" altLang="zh-TW" dirty="0">
                <a:latin typeface="Times New Roman" panose="02020603050405020304" pitchFamily="18" charset="0"/>
                <a:cs typeface="Times New Roman" panose="02020603050405020304" pitchFamily="18" charset="0"/>
              </a:rPr>
              <a:t>With the induction of n, find k and c such that the time complexity of finding a </a:t>
            </a:r>
            <a:r>
              <a:rPr kumimoji="1" lang="en-US" altLang="zh-TW" dirty="0" err="1">
                <a:latin typeface="Times New Roman" panose="02020603050405020304" pitchFamily="18" charset="0"/>
                <a:cs typeface="Times New Roman" panose="02020603050405020304" pitchFamily="18" charset="0"/>
              </a:rPr>
              <a:t>m.i.s</a:t>
            </a:r>
            <a:r>
              <a:rPr kumimoji="1" lang="en-US" altLang="zh-TW" dirty="0">
                <a:latin typeface="Times New Roman" panose="02020603050405020304" pitchFamily="18" charset="0"/>
                <a:cs typeface="Times New Roman" panose="02020603050405020304" pitchFamily="18" charset="0"/>
              </a:rPr>
              <a:t>. is less than k2</a:t>
            </a:r>
            <a:r>
              <a:rPr kumimoji="1" lang="en-US" altLang="zh-TW" baseline="30000" dirty="0">
                <a:latin typeface="Times New Roman" panose="02020603050405020304" pitchFamily="18" charset="0"/>
                <a:cs typeface="Times New Roman" panose="02020603050405020304" pitchFamily="18" charset="0"/>
              </a:rPr>
              <a:t>cn</a:t>
            </a:r>
            <a:r>
              <a:rPr kumimoji="1" lang="en-US" altLang="zh-TW" dirty="0">
                <a:latin typeface="Times New Roman" panose="02020603050405020304" pitchFamily="18" charset="0"/>
                <a:cs typeface="Times New Roman" panose="02020603050405020304" pitchFamily="18" charset="0"/>
              </a:rPr>
              <a:t>, k = polynomial(n).</a:t>
            </a:r>
          </a:p>
          <a:p>
            <a:r>
              <a:rPr kumimoji="1" lang="en-US" altLang="zh-TW" dirty="0">
                <a:latin typeface="Times New Roman" panose="02020603050405020304" pitchFamily="18" charset="0"/>
                <a:cs typeface="Times New Roman" panose="02020603050405020304" pitchFamily="18" charset="0"/>
              </a:rPr>
              <a:t>Recursive call</a:t>
            </a:r>
          </a:p>
          <a:p>
            <a:pPr lvl="1"/>
            <a:r>
              <a:rPr kumimoji="1" lang="en-US" altLang="zh-TW" dirty="0">
                <a:latin typeface="Times New Roman" panose="02020603050405020304" pitchFamily="18" charset="0"/>
                <a:cs typeface="Times New Roman" panose="02020603050405020304" pitchFamily="18" charset="0"/>
              </a:rPr>
              <a:t>Assume A is a vertex of G and d(A)=2.</a:t>
            </a:r>
          </a:p>
          <a:p>
            <a:pPr lvl="1"/>
            <a:r>
              <a:rPr kumimoji="1" lang="en-US" altLang="zh-TW" dirty="0">
                <a:latin typeface="Times New Roman" panose="02020603050405020304" pitchFamily="18" charset="0"/>
                <a:cs typeface="Times New Roman" panose="02020603050405020304" pitchFamily="18" charset="0"/>
              </a:rPr>
              <a:t>|</a:t>
            </a:r>
            <a:r>
              <a:rPr kumimoji="1" lang="en-US" altLang="zh-TW" dirty="0" err="1">
                <a:latin typeface="Times New Roman" panose="02020603050405020304" pitchFamily="18" charset="0"/>
                <a:cs typeface="Times New Roman" panose="02020603050405020304" pitchFamily="18" charset="0"/>
              </a:rPr>
              <a:t>m.i.s</a:t>
            </a:r>
            <a:r>
              <a:rPr kumimoji="1" lang="en-US" altLang="zh-TW" dirty="0">
                <a:latin typeface="Times New Roman" panose="02020603050405020304" pitchFamily="18" charset="0"/>
                <a:cs typeface="Times New Roman" panose="02020603050405020304" pitchFamily="18" charset="0"/>
              </a:rPr>
              <a:t>. of G| = max( stab(G-[N](A)), stab(G-A) ), </a:t>
            </a:r>
          </a:p>
          <a:p>
            <a:pPr marL="457200" lvl="1" indent="0">
              <a:buNone/>
            </a:pPr>
            <a:r>
              <a:rPr kumimoji="1" lang="en-US" altLang="zh-TW" dirty="0">
                <a:latin typeface="Times New Roman" panose="02020603050405020304" pitchFamily="18" charset="0"/>
                <a:cs typeface="Times New Roman" panose="02020603050405020304" pitchFamily="18" charset="0"/>
              </a:rPr>
              <a:t>   run time &lt;= k2</a:t>
            </a:r>
            <a:r>
              <a:rPr kumimoji="1" lang="en-US" altLang="zh-TW" baseline="30000" dirty="0">
                <a:latin typeface="Times New Roman" panose="02020603050405020304" pitchFamily="18" charset="0"/>
                <a:cs typeface="Times New Roman" panose="02020603050405020304" pitchFamily="18" charset="0"/>
              </a:rPr>
              <a:t>c(n-|[N](A)|)</a:t>
            </a:r>
            <a:r>
              <a:rPr kumimoji="1" lang="en-US" altLang="zh-TW" dirty="0">
                <a:latin typeface="Times New Roman" panose="02020603050405020304" pitchFamily="18" charset="0"/>
                <a:cs typeface="Times New Roman" panose="02020603050405020304" pitchFamily="18" charset="0"/>
              </a:rPr>
              <a:t> + k2</a:t>
            </a:r>
            <a:r>
              <a:rPr kumimoji="1" lang="en-US" altLang="zh-TW" baseline="30000" dirty="0">
                <a:latin typeface="Times New Roman" panose="02020603050405020304" pitchFamily="18" charset="0"/>
                <a:cs typeface="Times New Roman" panose="02020603050405020304" pitchFamily="18" charset="0"/>
              </a:rPr>
              <a:t>c(n-|A|)</a:t>
            </a:r>
            <a:r>
              <a:rPr kumimoji="1" lang="en-US" altLang="zh-TW" dirty="0">
                <a:latin typeface="Times New Roman" panose="02020603050405020304" pitchFamily="18" charset="0"/>
                <a:cs typeface="Times New Roman" panose="02020603050405020304" pitchFamily="18" charset="0"/>
              </a:rPr>
              <a:t> = x * k2</a:t>
            </a:r>
            <a:r>
              <a:rPr kumimoji="1" lang="en-US" altLang="zh-TW" baseline="30000" dirty="0">
                <a:latin typeface="Times New Roman" panose="02020603050405020304" pitchFamily="18" charset="0"/>
                <a:cs typeface="Times New Roman" panose="02020603050405020304" pitchFamily="18" charset="0"/>
              </a:rPr>
              <a:t>cn</a:t>
            </a:r>
          </a:p>
          <a:p>
            <a:pPr marL="457200" lvl="1" indent="0">
              <a:buNone/>
            </a:pPr>
            <a:r>
              <a:rPr kumimoji="1" lang="en-US" altLang="zh-TW" dirty="0">
                <a:latin typeface="Times New Roman" panose="02020603050405020304" pitchFamily="18" charset="0"/>
                <a:cs typeface="Times New Roman" panose="02020603050405020304" pitchFamily="18" charset="0"/>
              </a:rPr>
              <a:t>   k2</a:t>
            </a:r>
            <a:r>
              <a:rPr kumimoji="1" lang="en-US" altLang="zh-TW" baseline="30000" dirty="0">
                <a:latin typeface="Times New Roman" panose="02020603050405020304" pitchFamily="18" charset="0"/>
                <a:cs typeface="Times New Roman" panose="02020603050405020304" pitchFamily="18" charset="0"/>
              </a:rPr>
              <a:t>c(n-3)</a:t>
            </a:r>
            <a:r>
              <a:rPr kumimoji="1" lang="en-US" altLang="zh-TW" dirty="0">
                <a:latin typeface="Times New Roman" panose="02020603050405020304" pitchFamily="18" charset="0"/>
                <a:cs typeface="Times New Roman" panose="02020603050405020304" pitchFamily="18" charset="0"/>
              </a:rPr>
              <a:t> + k2</a:t>
            </a:r>
            <a:r>
              <a:rPr kumimoji="1" lang="en-US" altLang="zh-TW" baseline="30000" dirty="0">
                <a:latin typeface="Times New Roman" panose="02020603050405020304" pitchFamily="18" charset="0"/>
                <a:cs typeface="Times New Roman" panose="02020603050405020304" pitchFamily="18" charset="0"/>
              </a:rPr>
              <a:t>c(n-1)</a:t>
            </a:r>
            <a:r>
              <a:rPr kumimoji="1" lang="en-US" altLang="zh-TW" dirty="0">
                <a:latin typeface="Times New Roman" panose="02020603050405020304" pitchFamily="18" charset="0"/>
                <a:cs typeface="Times New Roman" panose="02020603050405020304" pitchFamily="18" charset="0"/>
              </a:rPr>
              <a:t> = x * k2</a:t>
            </a:r>
            <a:r>
              <a:rPr kumimoji="1" lang="en-US" altLang="zh-TW" baseline="30000" dirty="0">
                <a:latin typeface="Times New Roman" panose="02020603050405020304" pitchFamily="18" charset="0"/>
                <a:cs typeface="Times New Roman" panose="02020603050405020304" pitchFamily="18" charset="0"/>
              </a:rPr>
              <a:t>cn</a:t>
            </a:r>
            <a:endParaRPr kumimoji="1" lang="en-US" altLang="zh-TW" dirty="0">
              <a:latin typeface="Times New Roman" panose="02020603050405020304" pitchFamily="18" charset="0"/>
              <a:cs typeface="Times New Roman" panose="02020603050405020304" pitchFamily="18" charset="0"/>
            </a:endParaRPr>
          </a:p>
          <a:p>
            <a:pPr marL="457200" lvl="1" indent="0">
              <a:buNone/>
            </a:pPr>
            <a:r>
              <a:rPr kumimoji="1" lang="en-US" altLang="zh-TW" dirty="0">
                <a:latin typeface="Times New Roman" panose="02020603050405020304" pitchFamily="18" charset="0"/>
                <a:cs typeface="Times New Roman" panose="02020603050405020304" pitchFamily="18" charset="0"/>
              </a:rPr>
              <a:t>   2</a:t>
            </a:r>
            <a:r>
              <a:rPr kumimoji="1" lang="en-US" altLang="zh-TW" baseline="30000" dirty="0">
                <a:latin typeface="Times New Roman" panose="02020603050405020304" pitchFamily="18" charset="0"/>
                <a:cs typeface="Times New Roman" panose="02020603050405020304" pitchFamily="18" charset="0"/>
              </a:rPr>
              <a:t>-3c</a:t>
            </a:r>
            <a:r>
              <a:rPr kumimoji="1" lang="en-US" altLang="zh-TW" dirty="0">
                <a:latin typeface="Times New Roman" panose="02020603050405020304" pitchFamily="18" charset="0"/>
                <a:cs typeface="Times New Roman" panose="02020603050405020304" pitchFamily="18" charset="0"/>
              </a:rPr>
              <a:t> + 2</a:t>
            </a:r>
            <a:r>
              <a:rPr kumimoji="1" lang="en-US" altLang="zh-TW" baseline="30000" dirty="0">
                <a:latin typeface="Times New Roman" panose="02020603050405020304" pitchFamily="18" charset="0"/>
                <a:cs typeface="Times New Roman" panose="02020603050405020304" pitchFamily="18" charset="0"/>
              </a:rPr>
              <a:t>-c</a:t>
            </a:r>
            <a:r>
              <a:rPr kumimoji="1" lang="en-US" altLang="zh-TW" dirty="0">
                <a:latin typeface="Times New Roman" panose="02020603050405020304" pitchFamily="18" charset="0"/>
                <a:cs typeface="Times New Roman" panose="02020603050405020304" pitchFamily="18" charset="0"/>
              </a:rPr>
              <a:t> = x</a:t>
            </a:r>
          </a:p>
          <a:p>
            <a:pPr marL="457200" lvl="1" indent="0">
              <a:buNone/>
            </a:pPr>
            <a:r>
              <a:rPr kumimoji="1" lang="en-US" altLang="zh-TW" dirty="0">
                <a:latin typeface="Times New Roman" panose="02020603050405020304" pitchFamily="18" charset="0"/>
                <a:cs typeface="Times New Roman" panose="02020603050405020304" pitchFamily="18" charset="0"/>
              </a:rPr>
              <a:t>   a</a:t>
            </a:r>
            <a:r>
              <a:rPr kumimoji="1" lang="en-US" altLang="zh-TW" baseline="30000" dirty="0">
                <a:latin typeface="Times New Roman" panose="02020603050405020304" pitchFamily="18" charset="0"/>
                <a:cs typeface="Times New Roman" panose="02020603050405020304" pitchFamily="18" charset="0"/>
              </a:rPr>
              <a:t>-3</a:t>
            </a:r>
            <a:r>
              <a:rPr kumimoji="1" lang="en-US" altLang="zh-TW" dirty="0">
                <a:latin typeface="Times New Roman" panose="02020603050405020304" pitchFamily="18" charset="0"/>
                <a:cs typeface="Times New Roman" panose="02020603050405020304" pitchFamily="18" charset="0"/>
              </a:rPr>
              <a:t> + a</a:t>
            </a:r>
            <a:r>
              <a:rPr kumimoji="1" lang="en-US" altLang="zh-TW" baseline="30000" dirty="0">
                <a:latin typeface="Times New Roman" panose="02020603050405020304" pitchFamily="18" charset="0"/>
                <a:cs typeface="Times New Roman" panose="02020603050405020304" pitchFamily="18" charset="0"/>
              </a:rPr>
              <a:t>-1</a:t>
            </a:r>
            <a:r>
              <a:rPr kumimoji="1" lang="en-US" altLang="zh-TW" dirty="0">
                <a:latin typeface="Times New Roman" panose="02020603050405020304" pitchFamily="18" charset="0"/>
                <a:cs typeface="Times New Roman" panose="02020603050405020304" pitchFamily="18" charset="0"/>
              </a:rPr>
              <a:t> = x (x means the relationship between k2</a:t>
            </a:r>
            <a:r>
              <a:rPr kumimoji="1" lang="en-US" altLang="zh-TW" baseline="30000" dirty="0">
                <a:latin typeface="Times New Roman" panose="02020603050405020304" pitchFamily="18" charset="0"/>
                <a:cs typeface="Times New Roman" panose="02020603050405020304" pitchFamily="18" charset="0"/>
              </a:rPr>
              <a:t>c(n-|[N](A)|)</a:t>
            </a:r>
            <a:r>
              <a:rPr kumimoji="1" lang="en-US" altLang="zh-TW" dirty="0">
                <a:latin typeface="Times New Roman" panose="02020603050405020304" pitchFamily="18" charset="0"/>
                <a:cs typeface="Times New Roman" panose="02020603050405020304" pitchFamily="18" charset="0"/>
              </a:rPr>
              <a:t> + k2</a:t>
            </a:r>
            <a:r>
              <a:rPr kumimoji="1" lang="en-US" altLang="zh-TW" baseline="30000" dirty="0">
                <a:latin typeface="Times New Roman" panose="02020603050405020304" pitchFamily="18" charset="0"/>
                <a:cs typeface="Times New Roman" panose="02020603050405020304" pitchFamily="18" charset="0"/>
              </a:rPr>
              <a:t>c(n-|A|)</a:t>
            </a:r>
            <a:r>
              <a:rPr kumimoji="1" lang="en-US" altLang="zh-TW" dirty="0">
                <a:latin typeface="Times New Roman" panose="02020603050405020304" pitchFamily="18" charset="0"/>
                <a:cs typeface="Times New Roman" panose="02020603050405020304" pitchFamily="18" charset="0"/>
              </a:rPr>
              <a:t> and k2</a:t>
            </a:r>
            <a:r>
              <a:rPr kumimoji="1" lang="en-US" altLang="zh-TW" baseline="30000" dirty="0">
                <a:latin typeface="Times New Roman" panose="02020603050405020304" pitchFamily="18" charset="0"/>
                <a:cs typeface="Times New Roman" panose="02020603050405020304" pitchFamily="18" charset="0"/>
              </a:rPr>
              <a:t>cn</a:t>
            </a:r>
            <a:r>
              <a:rPr kumimoji="1" lang="en-US" altLang="zh-TW" dirty="0">
                <a:latin typeface="Times New Roman" panose="02020603050405020304" pitchFamily="18" charset="0"/>
                <a:cs typeface="Times New Roman" panose="02020603050405020304" pitchFamily="18" charset="0"/>
              </a:rPr>
              <a:t>)</a:t>
            </a:r>
          </a:p>
          <a:p>
            <a:endParaRPr kumimoji="1" lang="en-US" altLang="zh-TW" baseline="300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4</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49290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109330" y="2043568"/>
            <a:ext cx="12354339" cy="4803775"/>
          </a:xfrm>
        </p:spPr>
        <p:txBody>
          <a:bodyPr>
            <a:normAutofit fontScale="92500" lnSpcReduction="10000"/>
          </a:bodyPr>
          <a:lstStyle/>
          <a:p>
            <a:r>
              <a:rPr kumimoji="1" lang="en-US" altLang="zh-TW" dirty="0">
                <a:latin typeface="Times New Roman" panose="02020603050405020304" pitchFamily="18" charset="0"/>
                <a:cs typeface="Times New Roman" panose="02020603050405020304" pitchFamily="18" charset="0"/>
              </a:rPr>
              <a:t>Assume vertex has d(A) = 2, and its neighbors are B and C.</a:t>
            </a:r>
          </a:p>
          <a:p>
            <a:pPr lvl="1"/>
            <a:r>
              <a:rPr kumimoji="1" lang="en-US" altLang="zh-TW" dirty="0">
                <a:latin typeface="Times New Roman" panose="02020603050405020304" pitchFamily="18" charset="0"/>
                <a:cs typeface="Times New Roman" panose="02020603050405020304" pitchFamily="18" charset="0"/>
              </a:rPr>
              <a:t>B and B’ are connected: stab(G – [N](A)), run time &lt;= k2</a:t>
            </a:r>
            <a:r>
              <a:rPr kumimoji="1" lang="en-US" altLang="zh-TW" baseline="30000" dirty="0">
                <a:latin typeface="Times New Roman" panose="02020603050405020304" pitchFamily="18" charset="0"/>
                <a:cs typeface="Times New Roman" panose="02020603050405020304" pitchFamily="18" charset="0"/>
              </a:rPr>
              <a:t>c(n-3)</a:t>
            </a:r>
            <a:r>
              <a:rPr kumimoji="1" lang="en-US" altLang="zh-TW" dirty="0">
                <a:latin typeface="Times New Roman" panose="02020603050405020304" pitchFamily="18" charset="0"/>
                <a:cs typeface="Times New Roman" panose="02020603050405020304" pitchFamily="18" charset="0"/>
              </a:rPr>
              <a:t> = x * k2</a:t>
            </a:r>
            <a:r>
              <a:rPr kumimoji="1" lang="en-US" altLang="zh-TW" baseline="30000" dirty="0">
                <a:latin typeface="Times New Roman" panose="02020603050405020304" pitchFamily="18" charset="0"/>
                <a:cs typeface="Times New Roman" panose="02020603050405020304" pitchFamily="18" charset="0"/>
              </a:rPr>
              <a:t>cn</a:t>
            </a:r>
            <a:r>
              <a:rPr kumimoji="1" lang="en-US" altLang="zh-TW" dirty="0">
                <a:latin typeface="Times New Roman" panose="02020603050405020304" pitchFamily="18" charset="0"/>
                <a:cs typeface="Times New Roman" panose="02020603050405020304" pitchFamily="18" charset="0"/>
              </a:rPr>
              <a:t>, x = 2</a:t>
            </a:r>
            <a:r>
              <a:rPr kumimoji="1" lang="en-US" altLang="zh-TW" baseline="30000" dirty="0">
                <a:latin typeface="Times New Roman" panose="02020603050405020304" pitchFamily="18" charset="0"/>
                <a:cs typeface="Times New Roman" panose="02020603050405020304" pitchFamily="18" charset="0"/>
              </a:rPr>
              <a:t>-3c</a:t>
            </a:r>
            <a:r>
              <a:rPr kumimoji="1" lang="en-US" altLang="zh-TW" dirty="0">
                <a:latin typeface="Times New Roman" panose="02020603050405020304" pitchFamily="18" charset="0"/>
                <a:cs typeface="Times New Roman" panose="02020603050405020304" pitchFamily="18" charset="0"/>
              </a:rPr>
              <a:t> = a</a:t>
            </a:r>
            <a:r>
              <a:rPr kumimoji="1" lang="en-US" altLang="zh-TW" baseline="30000" dirty="0">
                <a:latin typeface="Times New Roman" panose="02020603050405020304" pitchFamily="18" charset="0"/>
                <a:cs typeface="Times New Roman" panose="02020603050405020304" pitchFamily="18" charset="0"/>
              </a:rPr>
              <a:t>-3</a:t>
            </a:r>
            <a:r>
              <a:rPr kumimoji="1" lang="en-US" altLang="zh-TW" dirty="0">
                <a:latin typeface="Times New Roman" panose="02020603050405020304" pitchFamily="18" charset="0"/>
                <a:cs typeface="Times New Roman" panose="02020603050405020304" pitchFamily="18" charset="0"/>
              </a:rPr>
              <a:t>.</a:t>
            </a:r>
          </a:p>
          <a:p>
            <a:pPr lvl="1"/>
            <a:r>
              <a:rPr kumimoji="1" lang="en-US" altLang="zh-TW" dirty="0">
                <a:latin typeface="Times New Roman" panose="02020603050405020304" pitchFamily="18" charset="0"/>
                <a:cs typeface="Times New Roman" panose="02020603050405020304" pitchFamily="18" charset="0"/>
              </a:rPr>
              <a:t>Otherwise: max( 1 + stab’(G – [N](A), ([N]</a:t>
            </a:r>
            <a:r>
              <a:rPr kumimoji="1" lang="en-US" altLang="zh-TW" baseline="30000" dirty="0">
                <a:latin typeface="Times New Roman" panose="02020603050405020304" pitchFamily="18" charset="0"/>
                <a:cs typeface="Times New Roman" panose="02020603050405020304" pitchFamily="18" charset="0"/>
              </a:rPr>
              <a:t>2</a:t>
            </a:r>
            <a:r>
              <a:rPr kumimoji="1" lang="en-US" altLang="zh-TW" dirty="0">
                <a:latin typeface="Times New Roman" panose="02020603050405020304" pitchFamily="18" charset="0"/>
                <a:cs typeface="Times New Roman" panose="02020603050405020304" pitchFamily="18" charset="0"/>
              </a:rPr>
              <a:t>(A) – [N](A), 2)), 2 + stab(G – [N]</a:t>
            </a:r>
            <a:r>
              <a:rPr kumimoji="1" lang="en-US" altLang="zh-TW" baseline="30000" dirty="0">
                <a:latin typeface="Times New Roman" panose="02020603050405020304" pitchFamily="18" charset="0"/>
                <a:cs typeface="Times New Roman" panose="02020603050405020304" pitchFamily="18" charset="0"/>
              </a:rPr>
              <a:t>2</a:t>
            </a:r>
            <a:r>
              <a:rPr kumimoji="1" lang="en-US" altLang="zh-TW" dirty="0">
                <a:latin typeface="Times New Roman" panose="02020603050405020304" pitchFamily="18" charset="0"/>
                <a:cs typeface="Times New Roman" panose="02020603050405020304" pitchFamily="18" charset="0"/>
              </a:rPr>
              <a:t>(A)) )</a:t>
            </a:r>
          </a:p>
          <a:p>
            <a:pPr lvl="2"/>
            <a:r>
              <a:rPr kumimoji="1" lang="en-US" altLang="zh-TW" dirty="0">
                <a:latin typeface="Times New Roman" panose="02020603050405020304" pitchFamily="18" charset="0"/>
                <a:cs typeface="Times New Roman" panose="02020603050405020304" pitchFamily="18" charset="0"/>
              </a:rPr>
              <a:t>Let y = | [N]</a:t>
            </a:r>
            <a:r>
              <a:rPr kumimoji="1" lang="en-US" altLang="zh-TW" baseline="30000" dirty="0">
                <a:latin typeface="Times New Roman" panose="02020603050405020304" pitchFamily="18" charset="0"/>
                <a:cs typeface="Times New Roman" panose="02020603050405020304" pitchFamily="18" charset="0"/>
              </a:rPr>
              <a:t>2</a:t>
            </a:r>
            <a:r>
              <a:rPr kumimoji="1" lang="en-US" altLang="zh-TW" dirty="0">
                <a:latin typeface="Times New Roman" panose="02020603050405020304" pitchFamily="18" charset="0"/>
                <a:cs typeface="Times New Roman" panose="02020603050405020304" pitchFamily="18" charset="0"/>
              </a:rPr>
              <a:t>(A) – [N](A) |.</a:t>
            </a:r>
          </a:p>
          <a:p>
            <a:pPr lvl="2"/>
            <a:r>
              <a:rPr kumimoji="1" lang="en-US" altLang="zh-TW" dirty="0">
                <a:latin typeface="Times New Roman" panose="02020603050405020304" pitchFamily="18" charset="0"/>
                <a:cs typeface="Times New Roman" panose="02020603050405020304" pitchFamily="18" charset="0"/>
              </a:rPr>
              <a:t>y &lt;= 1: stab’() doesn’t need to calculate, and the run time of stab(G – [N]</a:t>
            </a:r>
            <a:r>
              <a:rPr kumimoji="1" lang="en-US" altLang="zh-TW" baseline="30000" dirty="0">
                <a:latin typeface="Times New Roman" panose="02020603050405020304" pitchFamily="18" charset="0"/>
                <a:cs typeface="Times New Roman" panose="02020603050405020304" pitchFamily="18" charset="0"/>
              </a:rPr>
              <a:t>2</a:t>
            </a:r>
            <a:r>
              <a:rPr kumimoji="1" lang="en-US" altLang="zh-TW" dirty="0">
                <a:latin typeface="Times New Roman" panose="02020603050405020304" pitchFamily="18" charset="0"/>
                <a:cs typeface="Times New Roman" panose="02020603050405020304" pitchFamily="18" charset="0"/>
              </a:rPr>
              <a:t>(A)) &lt;= k2</a:t>
            </a:r>
            <a:r>
              <a:rPr kumimoji="1" lang="en-US" altLang="zh-TW" baseline="30000" dirty="0">
                <a:latin typeface="Times New Roman" panose="02020603050405020304" pitchFamily="18" charset="0"/>
                <a:cs typeface="Times New Roman" panose="02020603050405020304" pitchFamily="18" charset="0"/>
              </a:rPr>
              <a:t>c(n-3)</a:t>
            </a:r>
            <a:r>
              <a:rPr kumimoji="1" lang="en-US" altLang="zh-TW" dirty="0">
                <a:latin typeface="Times New Roman" panose="02020603050405020304" pitchFamily="18" charset="0"/>
                <a:cs typeface="Times New Roman" panose="02020603050405020304" pitchFamily="18" charset="0"/>
              </a:rPr>
              <a:t>, x = a</a:t>
            </a:r>
            <a:r>
              <a:rPr kumimoji="1" lang="en-US" altLang="zh-TW" baseline="30000" dirty="0">
                <a:latin typeface="Times New Roman" panose="02020603050405020304" pitchFamily="18" charset="0"/>
                <a:cs typeface="Times New Roman" panose="02020603050405020304" pitchFamily="18" charset="0"/>
              </a:rPr>
              <a:t>-3</a:t>
            </a:r>
            <a:r>
              <a:rPr kumimoji="1" lang="en-US" altLang="zh-TW" dirty="0">
                <a:latin typeface="Times New Roman" panose="02020603050405020304" pitchFamily="18" charset="0"/>
                <a:cs typeface="Times New Roman" panose="02020603050405020304" pitchFamily="18" charset="0"/>
              </a:rPr>
              <a:t>.</a:t>
            </a:r>
          </a:p>
          <a:p>
            <a:pPr lvl="2"/>
            <a:r>
              <a:rPr kumimoji="1" lang="en-US" altLang="zh-TW" dirty="0">
                <a:latin typeface="Times New Roman" panose="02020603050405020304" pitchFamily="18" charset="0"/>
                <a:cs typeface="Times New Roman" panose="02020603050405020304" pitchFamily="18" charset="0"/>
              </a:rPr>
              <a:t>y = 2: stab’() can be replaced by 2 + stab(G – [N]</a:t>
            </a:r>
            <a:r>
              <a:rPr kumimoji="1" lang="en-US" altLang="zh-TW" baseline="30000" dirty="0">
                <a:latin typeface="Times New Roman" panose="02020603050405020304" pitchFamily="18" charset="0"/>
                <a:cs typeface="Times New Roman" panose="02020603050405020304" pitchFamily="18" charset="0"/>
              </a:rPr>
              <a:t>3</a:t>
            </a:r>
            <a:r>
              <a:rPr kumimoji="1" lang="en-US" altLang="zh-TW" dirty="0">
                <a:latin typeface="Times New Roman" panose="02020603050405020304" pitchFamily="18" charset="0"/>
                <a:cs typeface="Times New Roman" panose="02020603050405020304" pitchFamily="18" charset="0"/>
              </a:rPr>
              <a:t>(A)). </a:t>
            </a:r>
          </a:p>
          <a:p>
            <a:pPr marL="914400" lvl="2" indent="0">
              <a:buNone/>
            </a:pPr>
            <a:r>
              <a:rPr kumimoji="1" lang="en-US" altLang="zh-TW" dirty="0">
                <a:latin typeface="Times New Roman" panose="02020603050405020304" pitchFamily="18" charset="0"/>
                <a:cs typeface="Times New Roman" panose="02020603050405020304" pitchFamily="18" charset="0"/>
              </a:rPr>
              <a:t>	If | [N]</a:t>
            </a:r>
            <a:r>
              <a:rPr kumimoji="1" lang="en-US" altLang="zh-TW" baseline="30000" dirty="0">
                <a:latin typeface="Times New Roman" panose="02020603050405020304" pitchFamily="18" charset="0"/>
                <a:cs typeface="Times New Roman" panose="02020603050405020304" pitchFamily="18" charset="0"/>
              </a:rPr>
              <a:t>3</a:t>
            </a:r>
            <a:r>
              <a:rPr kumimoji="1" lang="en-US" altLang="zh-TW" dirty="0">
                <a:latin typeface="Times New Roman" panose="02020603050405020304" pitchFamily="18" charset="0"/>
                <a:cs typeface="Times New Roman" panose="02020603050405020304" pitchFamily="18" charset="0"/>
              </a:rPr>
              <a:t>(A) – [N]</a:t>
            </a:r>
            <a:r>
              <a:rPr kumimoji="1" lang="en-US" altLang="zh-TW" baseline="30000" dirty="0">
                <a:latin typeface="Times New Roman" panose="02020603050405020304" pitchFamily="18" charset="0"/>
                <a:cs typeface="Times New Roman" panose="02020603050405020304" pitchFamily="18" charset="0"/>
              </a:rPr>
              <a:t>2</a:t>
            </a:r>
            <a:r>
              <a:rPr kumimoji="1" lang="en-US" altLang="zh-TW" dirty="0">
                <a:latin typeface="Times New Roman" panose="02020603050405020304" pitchFamily="18" charset="0"/>
                <a:cs typeface="Times New Roman" panose="02020603050405020304" pitchFamily="18" charset="0"/>
              </a:rPr>
              <a:t>(A) | = 1, x = a</a:t>
            </a:r>
            <a:r>
              <a:rPr kumimoji="1" lang="en-US" altLang="zh-TW" baseline="30000" dirty="0">
                <a:latin typeface="Times New Roman" panose="02020603050405020304" pitchFamily="18" charset="0"/>
                <a:cs typeface="Times New Roman" panose="02020603050405020304" pitchFamily="18" charset="0"/>
              </a:rPr>
              <a:t>-6</a:t>
            </a:r>
            <a:r>
              <a:rPr kumimoji="1" lang="en-US" altLang="zh-TW" dirty="0">
                <a:latin typeface="Times New Roman" panose="02020603050405020304" pitchFamily="18" charset="0"/>
                <a:cs typeface="Times New Roman" panose="02020603050405020304" pitchFamily="18" charset="0"/>
              </a:rPr>
              <a:t>. Otherwise, x = a</a:t>
            </a:r>
            <a:r>
              <a:rPr kumimoji="1" lang="en-US" altLang="zh-TW" baseline="30000" dirty="0">
                <a:latin typeface="Times New Roman" panose="02020603050405020304" pitchFamily="18" charset="0"/>
                <a:cs typeface="Times New Roman" panose="02020603050405020304" pitchFamily="18" charset="0"/>
              </a:rPr>
              <a:t>-7</a:t>
            </a:r>
            <a:r>
              <a:rPr kumimoji="1" lang="en-US" altLang="zh-TW" dirty="0">
                <a:latin typeface="Times New Roman" panose="02020603050405020304" pitchFamily="18" charset="0"/>
                <a:cs typeface="Times New Roman" panose="02020603050405020304" pitchFamily="18" charset="0"/>
              </a:rPr>
              <a:t> + a</a:t>
            </a:r>
            <a:r>
              <a:rPr kumimoji="1" lang="en-US" altLang="zh-TW" baseline="30000" dirty="0">
                <a:latin typeface="Times New Roman" panose="02020603050405020304" pitchFamily="18" charset="0"/>
                <a:cs typeface="Times New Roman" panose="02020603050405020304" pitchFamily="18" charset="0"/>
              </a:rPr>
              <a:t>-5</a:t>
            </a:r>
            <a:r>
              <a:rPr kumimoji="1" lang="en-US" altLang="zh-TW" dirty="0">
                <a:latin typeface="Times New Roman" panose="02020603050405020304" pitchFamily="18" charset="0"/>
                <a:cs typeface="Times New Roman" panose="02020603050405020304" pitchFamily="18" charset="0"/>
              </a:rPr>
              <a:t>.</a:t>
            </a:r>
          </a:p>
          <a:p>
            <a:pPr marL="914400" lvl="2" indent="0">
              <a:buNone/>
            </a:pPr>
            <a:r>
              <a:rPr kumimoji="1" lang="en-US" altLang="zh-TW" dirty="0">
                <a:latin typeface="Times New Roman" panose="02020603050405020304" pitchFamily="18" charset="0"/>
                <a:cs typeface="Times New Roman" panose="02020603050405020304" pitchFamily="18" charset="0"/>
              </a:rPr>
              <a:t>	Therefore, x = max(a</a:t>
            </a:r>
            <a:r>
              <a:rPr kumimoji="1" lang="en-US" altLang="zh-TW" baseline="30000" dirty="0">
                <a:latin typeface="Times New Roman" panose="02020603050405020304" pitchFamily="18" charset="0"/>
                <a:cs typeface="Times New Roman" panose="02020603050405020304" pitchFamily="18" charset="0"/>
              </a:rPr>
              <a:t>-6</a:t>
            </a:r>
            <a:r>
              <a:rPr kumimoji="1" lang="en-US" altLang="zh-TW" dirty="0">
                <a:latin typeface="Times New Roman" panose="02020603050405020304" pitchFamily="18" charset="0"/>
                <a:cs typeface="Times New Roman" panose="02020603050405020304" pitchFamily="18" charset="0"/>
              </a:rPr>
              <a:t>, a</a:t>
            </a:r>
            <a:r>
              <a:rPr kumimoji="1" lang="en-US" altLang="zh-TW" baseline="30000" dirty="0">
                <a:latin typeface="Times New Roman" panose="02020603050405020304" pitchFamily="18" charset="0"/>
                <a:cs typeface="Times New Roman" panose="02020603050405020304" pitchFamily="18" charset="0"/>
              </a:rPr>
              <a:t>-7</a:t>
            </a:r>
            <a:r>
              <a:rPr kumimoji="1" lang="en-US" altLang="zh-TW" dirty="0">
                <a:latin typeface="Times New Roman" panose="02020603050405020304" pitchFamily="18" charset="0"/>
                <a:cs typeface="Times New Roman" panose="02020603050405020304" pitchFamily="18" charset="0"/>
              </a:rPr>
              <a:t> + a</a:t>
            </a:r>
            <a:r>
              <a:rPr kumimoji="1" lang="en-US" altLang="zh-TW" baseline="30000" dirty="0">
                <a:latin typeface="Times New Roman" panose="02020603050405020304" pitchFamily="18" charset="0"/>
                <a:cs typeface="Times New Roman" panose="02020603050405020304" pitchFamily="18" charset="0"/>
              </a:rPr>
              <a:t>-5</a:t>
            </a:r>
            <a:r>
              <a:rPr kumimoji="1" lang="en-US" altLang="zh-TW" dirty="0">
                <a:latin typeface="Times New Roman" panose="02020603050405020304" pitchFamily="18" charset="0"/>
                <a:cs typeface="Times New Roman" panose="02020603050405020304" pitchFamily="18" charset="0"/>
              </a:rPr>
              <a:t>) = a</a:t>
            </a:r>
            <a:r>
              <a:rPr kumimoji="1" lang="en-US" altLang="zh-TW" baseline="30000" dirty="0">
                <a:latin typeface="Times New Roman" panose="02020603050405020304" pitchFamily="18" charset="0"/>
                <a:cs typeface="Times New Roman" panose="02020603050405020304" pitchFamily="18" charset="0"/>
              </a:rPr>
              <a:t>-7</a:t>
            </a:r>
            <a:r>
              <a:rPr kumimoji="1" lang="en-US" altLang="zh-TW" dirty="0">
                <a:latin typeface="Times New Roman" panose="02020603050405020304" pitchFamily="18" charset="0"/>
                <a:cs typeface="Times New Roman" panose="02020603050405020304" pitchFamily="18" charset="0"/>
              </a:rPr>
              <a:t> + a</a:t>
            </a:r>
            <a:r>
              <a:rPr kumimoji="1" lang="en-US" altLang="zh-TW" baseline="30000" dirty="0">
                <a:latin typeface="Times New Roman" panose="02020603050405020304" pitchFamily="18" charset="0"/>
                <a:cs typeface="Times New Roman" panose="02020603050405020304" pitchFamily="18" charset="0"/>
              </a:rPr>
              <a:t>-5</a:t>
            </a:r>
            <a:r>
              <a:rPr kumimoji="1" lang="en-US" altLang="zh-TW" dirty="0">
                <a:latin typeface="Times New Roman" panose="02020603050405020304" pitchFamily="18" charset="0"/>
                <a:cs typeface="Times New Roman" panose="02020603050405020304" pitchFamily="18" charset="0"/>
              </a:rPr>
              <a:t>.</a:t>
            </a:r>
          </a:p>
          <a:p>
            <a:pPr lvl="2"/>
            <a:r>
              <a:rPr kumimoji="1" lang="en-US" altLang="zh-TW" dirty="0">
                <a:latin typeface="Times New Roman" panose="02020603050405020304" pitchFamily="18" charset="0"/>
                <a:cs typeface="Times New Roman" panose="02020603050405020304" pitchFamily="18" charset="0"/>
              </a:rPr>
              <a:t>y = 3: x = a3 * a</a:t>
            </a:r>
            <a:r>
              <a:rPr kumimoji="1" lang="en-US" altLang="zh-TW" baseline="30000" dirty="0">
                <a:latin typeface="Times New Roman" panose="02020603050405020304" pitchFamily="18" charset="0"/>
                <a:cs typeface="Times New Roman" panose="02020603050405020304" pitchFamily="18" charset="0"/>
              </a:rPr>
              <a:t>-3</a:t>
            </a:r>
            <a:r>
              <a:rPr kumimoji="1" lang="en-US" altLang="zh-TW" dirty="0">
                <a:latin typeface="Times New Roman" panose="02020603050405020304" pitchFamily="18" charset="0"/>
                <a:cs typeface="Times New Roman" panose="02020603050405020304" pitchFamily="18" charset="0"/>
              </a:rPr>
              <a:t> + a</a:t>
            </a:r>
            <a:r>
              <a:rPr kumimoji="1" lang="en-US" altLang="zh-TW" baseline="30000" dirty="0">
                <a:latin typeface="Times New Roman" panose="02020603050405020304" pitchFamily="18" charset="0"/>
                <a:cs typeface="Times New Roman" panose="02020603050405020304" pitchFamily="18" charset="0"/>
              </a:rPr>
              <a:t>-6</a:t>
            </a:r>
            <a:r>
              <a:rPr kumimoji="1" lang="en-US" altLang="zh-TW" dirty="0">
                <a:latin typeface="Times New Roman" panose="02020603050405020304" pitchFamily="18" charset="0"/>
                <a:cs typeface="Times New Roman" panose="02020603050405020304" pitchFamily="18" charset="0"/>
              </a:rPr>
              <a:t>. (a3 is the value of the situation that there are 3 vertices with some constraints.)</a:t>
            </a:r>
          </a:p>
          <a:p>
            <a:pPr lvl="2"/>
            <a:r>
              <a:rPr kumimoji="1" lang="en-US" altLang="zh-TW" dirty="0">
                <a:latin typeface="Times New Roman" panose="02020603050405020304" pitchFamily="18" charset="0"/>
                <a:cs typeface="Times New Roman" panose="02020603050405020304" pitchFamily="18" charset="0"/>
              </a:rPr>
              <a:t>y = 4: x = a4 * a</a:t>
            </a:r>
            <a:r>
              <a:rPr kumimoji="1" lang="en-US" altLang="zh-TW" baseline="30000" dirty="0">
                <a:latin typeface="Times New Roman" panose="02020603050405020304" pitchFamily="18" charset="0"/>
                <a:cs typeface="Times New Roman" panose="02020603050405020304" pitchFamily="18" charset="0"/>
              </a:rPr>
              <a:t>-3</a:t>
            </a:r>
            <a:r>
              <a:rPr kumimoji="1" lang="en-US" altLang="zh-TW" dirty="0">
                <a:latin typeface="Times New Roman" panose="02020603050405020304" pitchFamily="18" charset="0"/>
                <a:cs typeface="Times New Roman" panose="02020603050405020304" pitchFamily="18" charset="0"/>
              </a:rPr>
              <a:t> + a</a:t>
            </a:r>
            <a:r>
              <a:rPr kumimoji="1" lang="en-US" altLang="zh-TW" baseline="30000" dirty="0">
                <a:latin typeface="Times New Roman" panose="02020603050405020304" pitchFamily="18" charset="0"/>
                <a:cs typeface="Times New Roman" panose="02020603050405020304" pitchFamily="18" charset="0"/>
              </a:rPr>
              <a:t>-7</a:t>
            </a:r>
            <a:r>
              <a:rPr kumimoji="1" lang="en-US" altLang="zh-TW" dirty="0">
                <a:latin typeface="Times New Roman" panose="02020603050405020304" pitchFamily="18" charset="0"/>
                <a:cs typeface="Times New Roman" panose="02020603050405020304" pitchFamily="18" charset="0"/>
              </a:rPr>
              <a:t>.</a:t>
            </a:r>
          </a:p>
          <a:p>
            <a:pPr lvl="2"/>
            <a:r>
              <a:rPr kumimoji="1" lang="en-US" altLang="zh-TW" dirty="0">
                <a:latin typeface="Times New Roman" panose="02020603050405020304" pitchFamily="18" charset="0"/>
                <a:cs typeface="Times New Roman" panose="02020603050405020304" pitchFamily="18" charset="0"/>
              </a:rPr>
              <a:t>y = 5: x = a5 * a</a:t>
            </a:r>
            <a:r>
              <a:rPr kumimoji="1" lang="en-US" altLang="zh-TW" baseline="30000" dirty="0">
                <a:latin typeface="Times New Roman" panose="02020603050405020304" pitchFamily="18" charset="0"/>
                <a:cs typeface="Times New Roman" panose="02020603050405020304" pitchFamily="18" charset="0"/>
              </a:rPr>
              <a:t>-3</a:t>
            </a:r>
            <a:r>
              <a:rPr kumimoji="1" lang="en-US" altLang="zh-TW" dirty="0">
                <a:latin typeface="Times New Roman" panose="02020603050405020304" pitchFamily="18" charset="0"/>
                <a:cs typeface="Times New Roman" panose="02020603050405020304" pitchFamily="18" charset="0"/>
              </a:rPr>
              <a:t> + a</a:t>
            </a:r>
            <a:r>
              <a:rPr kumimoji="1" lang="en-US" altLang="zh-TW" baseline="30000" dirty="0">
                <a:latin typeface="Times New Roman" panose="02020603050405020304" pitchFamily="18" charset="0"/>
                <a:cs typeface="Times New Roman" panose="02020603050405020304" pitchFamily="18" charset="0"/>
              </a:rPr>
              <a:t>-8</a:t>
            </a:r>
            <a:r>
              <a:rPr kumimoji="1" lang="en-US" altLang="zh-TW" dirty="0">
                <a:latin typeface="Times New Roman" panose="02020603050405020304" pitchFamily="18" charset="0"/>
                <a:cs typeface="Times New Roman" panose="02020603050405020304" pitchFamily="18" charset="0"/>
              </a:rPr>
              <a:t>.</a:t>
            </a:r>
          </a:p>
          <a:p>
            <a:pPr lvl="2"/>
            <a:r>
              <a:rPr kumimoji="1" lang="en-US" altLang="zh-TW" dirty="0">
                <a:latin typeface="Times New Roman" panose="02020603050405020304" pitchFamily="18" charset="0"/>
                <a:cs typeface="Times New Roman" panose="02020603050405020304" pitchFamily="18" charset="0"/>
              </a:rPr>
              <a:t>y = 6: x = a</a:t>
            </a:r>
            <a:r>
              <a:rPr kumimoji="1" lang="en-US" altLang="zh-TW" baseline="30000" dirty="0">
                <a:latin typeface="Times New Roman" panose="02020603050405020304" pitchFamily="18" charset="0"/>
                <a:cs typeface="Times New Roman" panose="02020603050405020304" pitchFamily="18" charset="0"/>
              </a:rPr>
              <a:t>-3</a:t>
            </a:r>
            <a:r>
              <a:rPr kumimoji="1" lang="en-US" altLang="zh-TW" dirty="0">
                <a:latin typeface="Times New Roman" panose="02020603050405020304" pitchFamily="18" charset="0"/>
                <a:cs typeface="Times New Roman" panose="02020603050405020304" pitchFamily="18" charset="0"/>
              </a:rPr>
              <a:t> + a</a:t>
            </a:r>
            <a:r>
              <a:rPr kumimoji="1" lang="en-US" altLang="zh-TW" baseline="30000" dirty="0">
                <a:latin typeface="Times New Roman" panose="02020603050405020304" pitchFamily="18" charset="0"/>
                <a:cs typeface="Times New Roman" panose="02020603050405020304" pitchFamily="18" charset="0"/>
              </a:rPr>
              <a:t>-9</a:t>
            </a:r>
            <a:r>
              <a:rPr kumimoji="1" lang="en-US" altLang="zh-TW" dirty="0">
                <a:latin typeface="Times New Roman" panose="02020603050405020304" pitchFamily="18" charset="0"/>
                <a:cs typeface="Times New Roman" panose="02020603050405020304" pitchFamily="18" charset="0"/>
              </a:rPr>
              <a:t>.</a:t>
            </a:r>
          </a:p>
          <a:p>
            <a:pPr lvl="2"/>
            <a:r>
              <a:rPr kumimoji="1" lang="en-US" altLang="zh-TW" dirty="0">
                <a:latin typeface="Times New Roman" panose="02020603050405020304" pitchFamily="18" charset="0"/>
                <a:cs typeface="Times New Roman" panose="02020603050405020304" pitchFamily="18" charset="0"/>
              </a:rPr>
              <a:t>y &gt; 6: x = a</a:t>
            </a:r>
            <a:r>
              <a:rPr kumimoji="1" lang="en-US" altLang="zh-TW" baseline="30000" dirty="0">
                <a:latin typeface="Times New Roman" panose="02020603050405020304" pitchFamily="18" charset="0"/>
                <a:cs typeface="Times New Roman" panose="02020603050405020304" pitchFamily="18" charset="0"/>
              </a:rPr>
              <a:t>-3</a:t>
            </a:r>
            <a:r>
              <a:rPr kumimoji="1" lang="en-US" altLang="zh-TW" dirty="0">
                <a:latin typeface="Times New Roman" panose="02020603050405020304" pitchFamily="18" charset="0"/>
                <a:cs typeface="Times New Roman" panose="02020603050405020304" pitchFamily="18" charset="0"/>
              </a:rPr>
              <a:t> + a</a:t>
            </a:r>
            <a:r>
              <a:rPr kumimoji="1" lang="en-US" altLang="zh-TW" baseline="30000" dirty="0">
                <a:latin typeface="Times New Roman" panose="02020603050405020304" pitchFamily="18" charset="0"/>
                <a:cs typeface="Times New Roman" panose="02020603050405020304" pitchFamily="18" charset="0"/>
              </a:rPr>
              <a:t>-10</a:t>
            </a:r>
            <a:r>
              <a:rPr kumimoji="1" lang="en-US" altLang="zh-TW" dirty="0">
                <a:latin typeface="Times New Roman" panose="02020603050405020304" pitchFamily="18" charset="0"/>
                <a:cs typeface="Times New Roman" panose="02020603050405020304" pitchFamily="18" charset="0"/>
              </a:rPr>
              <a:t>.</a:t>
            </a:r>
          </a:p>
          <a:p>
            <a:pPr lvl="1"/>
            <a:r>
              <a:rPr kumimoji="1" lang="en-US" altLang="zh-TW" dirty="0">
                <a:latin typeface="Times New Roman" panose="02020603050405020304" pitchFamily="18" charset="0"/>
                <a:cs typeface="Times New Roman" panose="02020603050405020304" pitchFamily="18" charset="0"/>
              </a:rPr>
              <a:t>Therefore, x = max(a</a:t>
            </a:r>
            <a:r>
              <a:rPr kumimoji="1" lang="en-US" altLang="zh-TW" baseline="30000" dirty="0">
                <a:latin typeface="Times New Roman" panose="02020603050405020304" pitchFamily="18" charset="0"/>
                <a:cs typeface="Times New Roman" panose="02020603050405020304" pitchFamily="18" charset="0"/>
              </a:rPr>
              <a:t>-3</a:t>
            </a:r>
            <a:r>
              <a:rPr kumimoji="1" lang="en-US" altLang="zh-TW" dirty="0">
                <a:latin typeface="Times New Roman" panose="02020603050405020304" pitchFamily="18" charset="0"/>
                <a:cs typeface="Times New Roman" panose="02020603050405020304" pitchFamily="18" charset="0"/>
              </a:rPr>
              <a:t>, a</a:t>
            </a:r>
            <a:r>
              <a:rPr kumimoji="1" lang="en-US" altLang="zh-TW" baseline="30000" dirty="0">
                <a:latin typeface="Times New Roman" panose="02020603050405020304" pitchFamily="18" charset="0"/>
                <a:cs typeface="Times New Roman" panose="02020603050405020304" pitchFamily="18" charset="0"/>
              </a:rPr>
              <a:t>-7</a:t>
            </a:r>
            <a:r>
              <a:rPr kumimoji="1" lang="en-US" altLang="zh-TW" dirty="0">
                <a:latin typeface="Times New Roman" panose="02020603050405020304" pitchFamily="18" charset="0"/>
                <a:cs typeface="Times New Roman" panose="02020603050405020304" pitchFamily="18" charset="0"/>
              </a:rPr>
              <a:t> + a</a:t>
            </a:r>
            <a:r>
              <a:rPr kumimoji="1" lang="en-US" altLang="zh-TW" baseline="30000" dirty="0">
                <a:latin typeface="Times New Roman" panose="02020603050405020304" pitchFamily="18" charset="0"/>
                <a:cs typeface="Times New Roman" panose="02020603050405020304" pitchFamily="18" charset="0"/>
              </a:rPr>
              <a:t>-5</a:t>
            </a:r>
            <a:r>
              <a:rPr kumimoji="1" lang="en-US" altLang="zh-TW" dirty="0">
                <a:latin typeface="Times New Roman" panose="02020603050405020304" pitchFamily="18" charset="0"/>
                <a:cs typeface="Times New Roman" panose="02020603050405020304" pitchFamily="18" charset="0"/>
              </a:rPr>
              <a:t>, a3 * a</a:t>
            </a:r>
            <a:r>
              <a:rPr kumimoji="1" lang="en-US" altLang="zh-TW" baseline="30000" dirty="0">
                <a:latin typeface="Times New Roman" panose="02020603050405020304" pitchFamily="18" charset="0"/>
                <a:cs typeface="Times New Roman" panose="02020603050405020304" pitchFamily="18" charset="0"/>
              </a:rPr>
              <a:t>-3</a:t>
            </a:r>
            <a:r>
              <a:rPr kumimoji="1" lang="en-US" altLang="zh-TW" dirty="0">
                <a:latin typeface="Times New Roman" panose="02020603050405020304" pitchFamily="18" charset="0"/>
                <a:cs typeface="Times New Roman" panose="02020603050405020304" pitchFamily="18" charset="0"/>
              </a:rPr>
              <a:t> + a</a:t>
            </a:r>
            <a:r>
              <a:rPr kumimoji="1" lang="en-US" altLang="zh-TW" baseline="30000" dirty="0">
                <a:latin typeface="Times New Roman" panose="02020603050405020304" pitchFamily="18" charset="0"/>
                <a:cs typeface="Times New Roman" panose="02020603050405020304" pitchFamily="18" charset="0"/>
              </a:rPr>
              <a:t>-6</a:t>
            </a:r>
            <a:r>
              <a:rPr kumimoji="1" lang="en-US" altLang="zh-TW" dirty="0">
                <a:latin typeface="Times New Roman" panose="02020603050405020304" pitchFamily="18" charset="0"/>
                <a:cs typeface="Times New Roman" panose="02020603050405020304" pitchFamily="18" charset="0"/>
              </a:rPr>
              <a:t>, a4 * a</a:t>
            </a:r>
            <a:r>
              <a:rPr kumimoji="1" lang="en-US" altLang="zh-TW" baseline="30000" dirty="0">
                <a:latin typeface="Times New Roman" panose="02020603050405020304" pitchFamily="18" charset="0"/>
                <a:cs typeface="Times New Roman" panose="02020603050405020304" pitchFamily="18" charset="0"/>
              </a:rPr>
              <a:t>-3</a:t>
            </a:r>
            <a:r>
              <a:rPr kumimoji="1" lang="en-US" altLang="zh-TW" dirty="0">
                <a:latin typeface="Times New Roman" panose="02020603050405020304" pitchFamily="18" charset="0"/>
                <a:cs typeface="Times New Roman" panose="02020603050405020304" pitchFamily="18" charset="0"/>
              </a:rPr>
              <a:t> + a</a:t>
            </a:r>
            <a:r>
              <a:rPr kumimoji="1" lang="en-US" altLang="zh-TW" baseline="30000" dirty="0">
                <a:latin typeface="Times New Roman" panose="02020603050405020304" pitchFamily="18" charset="0"/>
                <a:cs typeface="Times New Roman" panose="02020603050405020304" pitchFamily="18" charset="0"/>
              </a:rPr>
              <a:t>-7</a:t>
            </a:r>
            <a:r>
              <a:rPr kumimoji="1" lang="en-US" altLang="zh-TW" dirty="0">
                <a:latin typeface="Times New Roman" panose="02020603050405020304" pitchFamily="18" charset="0"/>
                <a:cs typeface="Times New Roman" panose="02020603050405020304" pitchFamily="18" charset="0"/>
              </a:rPr>
              <a:t>, a5 * a</a:t>
            </a:r>
            <a:r>
              <a:rPr kumimoji="1" lang="en-US" altLang="zh-TW" baseline="30000" dirty="0">
                <a:latin typeface="Times New Roman" panose="02020603050405020304" pitchFamily="18" charset="0"/>
                <a:cs typeface="Times New Roman" panose="02020603050405020304" pitchFamily="18" charset="0"/>
              </a:rPr>
              <a:t>-3</a:t>
            </a:r>
            <a:r>
              <a:rPr kumimoji="1" lang="en-US" altLang="zh-TW" dirty="0">
                <a:latin typeface="Times New Roman" panose="02020603050405020304" pitchFamily="18" charset="0"/>
                <a:cs typeface="Times New Roman" panose="02020603050405020304" pitchFamily="18" charset="0"/>
              </a:rPr>
              <a:t> + a</a:t>
            </a:r>
            <a:r>
              <a:rPr kumimoji="1" lang="en-US" altLang="zh-TW" baseline="30000" dirty="0">
                <a:latin typeface="Times New Roman" panose="02020603050405020304" pitchFamily="18" charset="0"/>
                <a:cs typeface="Times New Roman" panose="02020603050405020304" pitchFamily="18" charset="0"/>
              </a:rPr>
              <a:t>-8</a:t>
            </a:r>
            <a:r>
              <a:rPr kumimoji="1" lang="en-US" altLang="zh-TW" dirty="0">
                <a:latin typeface="Times New Roman" panose="02020603050405020304" pitchFamily="18" charset="0"/>
                <a:cs typeface="Times New Roman" panose="02020603050405020304" pitchFamily="18" charset="0"/>
              </a:rPr>
              <a:t>, a</a:t>
            </a:r>
            <a:r>
              <a:rPr kumimoji="1" lang="en-US" altLang="zh-TW" baseline="30000" dirty="0">
                <a:latin typeface="Times New Roman" panose="02020603050405020304" pitchFamily="18" charset="0"/>
                <a:cs typeface="Times New Roman" panose="02020603050405020304" pitchFamily="18" charset="0"/>
              </a:rPr>
              <a:t>-3</a:t>
            </a:r>
            <a:r>
              <a:rPr kumimoji="1" lang="en-US" altLang="zh-TW" dirty="0">
                <a:latin typeface="Times New Roman" panose="02020603050405020304" pitchFamily="18" charset="0"/>
                <a:cs typeface="Times New Roman" panose="02020603050405020304" pitchFamily="18" charset="0"/>
              </a:rPr>
              <a:t> + a</a:t>
            </a:r>
            <a:r>
              <a:rPr kumimoji="1" lang="en-US" altLang="zh-TW" baseline="30000" dirty="0">
                <a:latin typeface="Times New Roman" panose="02020603050405020304" pitchFamily="18" charset="0"/>
                <a:cs typeface="Times New Roman" panose="02020603050405020304" pitchFamily="18" charset="0"/>
              </a:rPr>
              <a:t>-9</a:t>
            </a:r>
            <a:r>
              <a:rPr kumimoji="1" lang="en-US" altLang="zh-TW" dirty="0">
                <a:latin typeface="Times New Roman" panose="02020603050405020304" pitchFamily="18" charset="0"/>
                <a:cs typeface="Times New Roman" panose="02020603050405020304" pitchFamily="18" charset="0"/>
              </a:rPr>
              <a:t>, a</a:t>
            </a:r>
            <a:r>
              <a:rPr kumimoji="1" lang="en-US" altLang="zh-TW" baseline="30000" dirty="0">
                <a:latin typeface="Times New Roman" panose="02020603050405020304" pitchFamily="18" charset="0"/>
                <a:cs typeface="Times New Roman" panose="02020603050405020304" pitchFamily="18" charset="0"/>
              </a:rPr>
              <a:t>-3</a:t>
            </a:r>
            <a:r>
              <a:rPr kumimoji="1" lang="en-US" altLang="zh-TW" dirty="0">
                <a:latin typeface="Times New Roman" panose="02020603050405020304" pitchFamily="18" charset="0"/>
                <a:cs typeface="Times New Roman" panose="02020603050405020304" pitchFamily="18" charset="0"/>
              </a:rPr>
              <a:t> + a</a:t>
            </a:r>
            <a:r>
              <a:rPr kumimoji="1" lang="en-US" altLang="zh-TW" baseline="30000" dirty="0">
                <a:latin typeface="Times New Roman" panose="02020603050405020304" pitchFamily="18" charset="0"/>
                <a:cs typeface="Times New Roman" panose="02020603050405020304" pitchFamily="18" charset="0"/>
              </a:rPr>
              <a:t>-10</a:t>
            </a:r>
            <a:r>
              <a:rPr kumimoji="1" lang="en-US" altLang="zh-TW" dirty="0">
                <a:latin typeface="Times New Roman" panose="02020603050405020304" pitchFamily="18" charset="0"/>
                <a:cs typeface="Times New Roman" panose="02020603050405020304" pitchFamily="18" charset="0"/>
              </a:rPr>
              <a:t>) = a</a:t>
            </a:r>
            <a:r>
              <a:rPr kumimoji="1" lang="en-US" altLang="zh-TW" baseline="30000" dirty="0">
                <a:latin typeface="Times New Roman" panose="02020603050405020304" pitchFamily="18" charset="0"/>
                <a:cs typeface="Times New Roman" panose="02020603050405020304" pitchFamily="18" charset="0"/>
              </a:rPr>
              <a:t>-3</a:t>
            </a:r>
            <a:r>
              <a:rPr kumimoji="1" lang="en-US" altLang="zh-TW" dirty="0">
                <a:latin typeface="Times New Roman" panose="02020603050405020304" pitchFamily="18" charset="0"/>
                <a:cs typeface="Times New Roman" panose="02020603050405020304" pitchFamily="18" charset="0"/>
              </a:rPr>
              <a:t> + a</a:t>
            </a:r>
            <a:r>
              <a:rPr kumimoji="1" lang="en-US" altLang="zh-TW" baseline="30000" dirty="0">
                <a:latin typeface="Times New Roman" panose="02020603050405020304" pitchFamily="18" charset="0"/>
                <a:cs typeface="Times New Roman" panose="02020603050405020304" pitchFamily="18" charset="0"/>
              </a:rPr>
              <a:t>-9</a:t>
            </a:r>
            <a:r>
              <a:rPr kumimoji="1" lang="en-US" altLang="zh-TW" dirty="0">
                <a:latin typeface="Times New Roman" panose="02020603050405020304" pitchFamily="18" charset="0"/>
                <a:cs typeface="Times New Roman" panose="02020603050405020304" pitchFamily="18" charset="0"/>
              </a:rPr>
              <a:t>.</a:t>
            </a:r>
          </a:p>
          <a:p>
            <a:r>
              <a:rPr kumimoji="1" lang="en-US" altLang="zh-TW" dirty="0">
                <a:latin typeface="Times New Roman" panose="02020603050405020304" pitchFamily="18" charset="0"/>
                <a:cs typeface="Times New Roman" panose="02020603050405020304" pitchFamily="18" charset="0"/>
              </a:rPr>
              <a:t>a = 1.202431 (or c = 0.265955) is found for the algorithm.</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5</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id="{B9F16954-F92F-6847-95F0-FBC6C9CCF679}"/>
              </a:ext>
            </a:extLst>
          </p:cNvPr>
          <p:cNvSpPr txBox="1"/>
          <p:nvPr/>
        </p:nvSpPr>
        <p:spPr>
          <a:xfrm>
            <a:off x="0" y="12243"/>
            <a:ext cx="7345017" cy="2031325"/>
          </a:xfrm>
          <a:prstGeom prst="rect">
            <a:avLst/>
          </a:prstGeom>
          <a:noFill/>
          <a:ln w="19050">
            <a:solidFill>
              <a:schemeClr val="tx1"/>
            </a:solidFill>
          </a:ln>
        </p:spPr>
        <p:txBody>
          <a:bodyPr wrap="square" rtlCol="0" anchor="ctr">
            <a:spAutoFit/>
          </a:bodyPr>
          <a:lstStyle/>
          <a:p>
            <a:r>
              <a:rPr kumimoji="1" lang="en-US" altLang="zh-TW" dirty="0">
                <a:latin typeface="Times New Roman" panose="02020603050405020304" pitchFamily="18" charset="0"/>
                <a:cs typeface="Times New Roman" panose="02020603050405020304" pitchFamily="18" charset="0"/>
              </a:rPr>
              <a:t>N(v): the set of neighbors of vertex v.</a:t>
            </a:r>
          </a:p>
          <a:p>
            <a:r>
              <a:rPr kumimoji="1" lang="en-US" altLang="zh-TW" dirty="0">
                <a:latin typeface="Times New Roman" panose="02020603050405020304" pitchFamily="18" charset="0"/>
                <a:cs typeface="Times New Roman" panose="02020603050405020304" pitchFamily="18" charset="0"/>
              </a:rPr>
              <a:t>[N](v): N(v) + v.</a:t>
            </a:r>
          </a:p>
          <a:p>
            <a:r>
              <a:rPr kumimoji="1" lang="en-US" altLang="zh-TW" dirty="0">
                <a:latin typeface="Times New Roman" panose="02020603050405020304" pitchFamily="18" charset="0"/>
                <a:cs typeface="Times New Roman" panose="02020603050405020304" pitchFamily="18" charset="0"/>
              </a:rPr>
              <a:t>N</a:t>
            </a:r>
            <a:r>
              <a:rPr kumimoji="1" lang="en-US" altLang="zh-TW" baseline="30000" dirty="0">
                <a:latin typeface="Times New Roman" panose="02020603050405020304" pitchFamily="18" charset="0"/>
                <a:cs typeface="Times New Roman" panose="02020603050405020304" pitchFamily="18" charset="0"/>
              </a:rPr>
              <a:t>2</a:t>
            </a:r>
            <a:r>
              <a:rPr kumimoji="1" lang="en-US" altLang="zh-TW" dirty="0">
                <a:latin typeface="Times New Roman" panose="02020603050405020304" pitchFamily="18" charset="0"/>
                <a:cs typeface="Times New Roman" panose="02020603050405020304" pitchFamily="18" charset="0"/>
              </a:rPr>
              <a:t>(v): N(N(v)) – [N](v).</a:t>
            </a:r>
          </a:p>
          <a:p>
            <a:r>
              <a:rPr kumimoji="1" lang="en-US" altLang="zh-TW" dirty="0">
                <a:latin typeface="Times New Roman" panose="02020603050405020304" pitchFamily="18" charset="0"/>
                <a:cs typeface="Times New Roman" panose="02020603050405020304" pitchFamily="18" charset="0"/>
              </a:rPr>
              <a:t>[N]</a:t>
            </a:r>
            <a:r>
              <a:rPr kumimoji="1" lang="en-US" altLang="zh-TW" baseline="30000" dirty="0">
                <a:latin typeface="Times New Roman" panose="02020603050405020304" pitchFamily="18" charset="0"/>
                <a:cs typeface="Times New Roman" panose="02020603050405020304" pitchFamily="18" charset="0"/>
              </a:rPr>
              <a:t>2</a:t>
            </a:r>
            <a:r>
              <a:rPr kumimoji="1" lang="en-US" altLang="zh-TW" dirty="0">
                <a:latin typeface="Times New Roman" panose="02020603050405020304" pitchFamily="18" charset="0"/>
                <a:cs typeface="Times New Roman" panose="02020603050405020304" pitchFamily="18" charset="0"/>
              </a:rPr>
              <a:t>(v): [N]([N](v)).</a:t>
            </a:r>
          </a:p>
          <a:p>
            <a:r>
              <a:rPr kumimoji="1" lang="en-US" altLang="zh-TW" dirty="0">
                <a:latin typeface="Times New Roman" panose="02020603050405020304" pitchFamily="18" charset="0"/>
                <a:cs typeface="Times New Roman" panose="02020603050405020304" pitchFamily="18" charset="0"/>
              </a:rPr>
              <a:t>stab(G): returns the number of vertices of </a:t>
            </a:r>
            <a:r>
              <a:rPr kumimoji="1" lang="en-US" altLang="zh-TW" dirty="0" err="1">
                <a:latin typeface="Times New Roman" panose="02020603050405020304" pitchFamily="18" charset="0"/>
                <a:cs typeface="Times New Roman" panose="02020603050405020304" pitchFamily="18" charset="0"/>
              </a:rPr>
              <a:t>m.i.s</a:t>
            </a:r>
            <a:r>
              <a:rPr kumimoji="1" lang="en-US" altLang="zh-TW" dirty="0">
                <a:latin typeface="Times New Roman" panose="02020603050405020304" pitchFamily="18" charset="0"/>
                <a:cs typeface="Times New Roman" panose="02020603050405020304" pitchFamily="18" charset="0"/>
              </a:rPr>
              <a:t>. of G.</a:t>
            </a:r>
          </a:p>
          <a:p>
            <a:r>
              <a:rPr kumimoji="1" lang="en-US" altLang="zh-TW" dirty="0">
                <a:latin typeface="Times New Roman" panose="02020603050405020304" pitchFamily="18" charset="0"/>
                <a:cs typeface="Times New Roman" panose="02020603050405020304" pitchFamily="18" charset="0"/>
              </a:rPr>
              <a:t>stab’(G, (S</a:t>
            </a:r>
            <a:r>
              <a:rPr kumimoji="1" lang="en-US" altLang="zh-TW" baseline="-25000" dirty="0">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a:t>
            </a:r>
            <a:r>
              <a:rPr kumimoji="1" lang="en-US" altLang="zh-TW" dirty="0" err="1">
                <a:latin typeface="Times New Roman" panose="02020603050405020304" pitchFamily="18" charset="0"/>
                <a:cs typeface="Times New Roman" panose="02020603050405020304" pitchFamily="18" charset="0"/>
              </a:rPr>
              <a:t>n</a:t>
            </a:r>
            <a:r>
              <a:rPr kumimoji="1" lang="en-US" altLang="zh-TW" baseline="-25000"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returns the number of vertices of </a:t>
            </a:r>
            <a:r>
              <a:rPr kumimoji="1" lang="en-US" altLang="zh-TW" dirty="0" err="1">
                <a:latin typeface="Times New Roman" panose="02020603050405020304" pitchFamily="18" charset="0"/>
                <a:cs typeface="Times New Roman" panose="02020603050405020304" pitchFamily="18" charset="0"/>
              </a:rPr>
              <a:t>m.i.s</a:t>
            </a:r>
            <a:r>
              <a:rPr kumimoji="1" lang="en-US" altLang="zh-TW" dirty="0">
                <a:latin typeface="Times New Roman" panose="02020603050405020304" pitchFamily="18" charset="0"/>
                <a:cs typeface="Times New Roman" panose="02020603050405020304" pitchFamily="18" charset="0"/>
              </a:rPr>
              <a:t>. of G, where S</a:t>
            </a:r>
            <a:r>
              <a:rPr kumimoji="1" lang="en-US" altLang="zh-TW" baseline="-25000" dirty="0">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is a subset of G and </a:t>
            </a:r>
            <a:r>
              <a:rPr kumimoji="1" lang="en-US" altLang="zh-TW" dirty="0" err="1">
                <a:latin typeface="Times New Roman" panose="02020603050405020304" pitchFamily="18" charset="0"/>
                <a:cs typeface="Times New Roman" panose="02020603050405020304" pitchFamily="18" charset="0"/>
              </a:rPr>
              <a:t>n</a:t>
            </a:r>
            <a:r>
              <a:rPr kumimoji="1" lang="en-US" altLang="zh-TW" baseline="-25000"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is the minimum number of vertices of S</a:t>
            </a:r>
            <a:r>
              <a:rPr kumimoji="1" lang="en-US" altLang="zh-TW" baseline="-25000" dirty="0">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that </a:t>
            </a:r>
            <a:r>
              <a:rPr kumimoji="1" lang="en-US" altLang="zh-TW" dirty="0" err="1">
                <a:latin typeface="Times New Roman" panose="02020603050405020304" pitchFamily="18" charset="0"/>
                <a:cs typeface="Times New Roman" panose="02020603050405020304" pitchFamily="18" charset="0"/>
              </a:rPr>
              <a:t>m.i.s</a:t>
            </a:r>
            <a:r>
              <a:rPr kumimoji="1" lang="en-US" altLang="zh-TW" dirty="0">
                <a:latin typeface="Times New Roman" panose="02020603050405020304" pitchFamily="18" charset="0"/>
                <a:cs typeface="Times New Roman" panose="02020603050405020304" pitchFamily="18" charset="0"/>
              </a:rPr>
              <a:t>. contains.</a:t>
            </a:r>
          </a:p>
        </p:txBody>
      </p:sp>
      <p:sp>
        <p:nvSpPr>
          <p:cNvPr id="6" name="橢圓 5">
            <a:extLst>
              <a:ext uri="{FF2B5EF4-FFF2-40B4-BE49-F238E27FC236}">
                <a16:creationId xmlns:a16="http://schemas.microsoft.com/office/drawing/2014/main" id="{258C594F-50D5-EA4D-916A-A386D3F46478}"/>
              </a:ext>
            </a:extLst>
          </p:cNvPr>
          <p:cNvSpPr/>
          <p:nvPr/>
        </p:nvSpPr>
        <p:spPr>
          <a:xfrm>
            <a:off x="7863506" y="907122"/>
            <a:ext cx="357809" cy="357808"/>
          </a:xfrm>
          <a:prstGeom prst="ellipse">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TW" dirty="0">
                <a:latin typeface="Times New Roman" panose="02020603050405020304" pitchFamily="18" charset="0"/>
                <a:cs typeface="Times New Roman" panose="02020603050405020304" pitchFamily="18" charset="0"/>
              </a:rPr>
              <a:t>A</a:t>
            </a:r>
            <a:endParaRPr kumimoji="1" lang="zh-TW" altLang="en-US" dirty="0">
              <a:latin typeface="Times New Roman" panose="02020603050405020304" pitchFamily="18" charset="0"/>
              <a:cs typeface="Times New Roman" panose="02020603050405020304" pitchFamily="18" charset="0"/>
            </a:endParaRPr>
          </a:p>
        </p:txBody>
      </p:sp>
      <p:sp>
        <p:nvSpPr>
          <p:cNvPr id="7" name="橢圓 6">
            <a:extLst>
              <a:ext uri="{FF2B5EF4-FFF2-40B4-BE49-F238E27FC236}">
                <a16:creationId xmlns:a16="http://schemas.microsoft.com/office/drawing/2014/main" id="{69F0FA6F-AC07-794F-B399-EA9C5F113E90}"/>
              </a:ext>
            </a:extLst>
          </p:cNvPr>
          <p:cNvSpPr/>
          <p:nvPr/>
        </p:nvSpPr>
        <p:spPr>
          <a:xfrm>
            <a:off x="8620538" y="311428"/>
            <a:ext cx="357809" cy="357808"/>
          </a:xfrm>
          <a:prstGeom prst="ellipse">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TW" dirty="0">
                <a:latin typeface="Times New Roman" panose="02020603050405020304" pitchFamily="18" charset="0"/>
                <a:cs typeface="Times New Roman" panose="02020603050405020304" pitchFamily="18" charset="0"/>
              </a:rPr>
              <a:t>B</a:t>
            </a:r>
            <a:endParaRPr kumimoji="1" lang="zh-TW" altLang="en-US" dirty="0">
              <a:latin typeface="Times New Roman" panose="02020603050405020304" pitchFamily="18" charset="0"/>
              <a:cs typeface="Times New Roman" panose="02020603050405020304" pitchFamily="18" charset="0"/>
            </a:endParaRPr>
          </a:p>
        </p:txBody>
      </p:sp>
      <p:sp>
        <p:nvSpPr>
          <p:cNvPr id="8" name="橢圓 7">
            <a:extLst>
              <a:ext uri="{FF2B5EF4-FFF2-40B4-BE49-F238E27FC236}">
                <a16:creationId xmlns:a16="http://schemas.microsoft.com/office/drawing/2014/main" id="{74E35B15-B1F2-5F42-AFE5-35DFB2E8B248}"/>
              </a:ext>
            </a:extLst>
          </p:cNvPr>
          <p:cNvSpPr/>
          <p:nvPr/>
        </p:nvSpPr>
        <p:spPr>
          <a:xfrm>
            <a:off x="9667459" y="311428"/>
            <a:ext cx="357809" cy="357808"/>
          </a:xfrm>
          <a:prstGeom prst="ellipse">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TW" altLang="en-US"/>
          </a:p>
        </p:txBody>
      </p:sp>
      <p:sp>
        <p:nvSpPr>
          <p:cNvPr id="9" name="橢圓 8">
            <a:extLst>
              <a:ext uri="{FF2B5EF4-FFF2-40B4-BE49-F238E27FC236}">
                <a16:creationId xmlns:a16="http://schemas.microsoft.com/office/drawing/2014/main" id="{F1F6AB9C-7280-8845-B4A2-B2EC45889988}"/>
              </a:ext>
            </a:extLst>
          </p:cNvPr>
          <p:cNvSpPr/>
          <p:nvPr/>
        </p:nvSpPr>
        <p:spPr>
          <a:xfrm>
            <a:off x="8620537" y="1553490"/>
            <a:ext cx="357809" cy="357808"/>
          </a:xfrm>
          <a:prstGeom prst="ellipse">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TW" dirty="0">
                <a:latin typeface="Times New Roman" panose="02020603050405020304" pitchFamily="18" charset="0"/>
                <a:cs typeface="Times New Roman" panose="02020603050405020304" pitchFamily="18" charset="0"/>
              </a:rPr>
              <a:t>C</a:t>
            </a:r>
            <a:endParaRPr kumimoji="1" lang="zh-TW" altLang="en-US" dirty="0">
              <a:latin typeface="Times New Roman" panose="02020603050405020304" pitchFamily="18" charset="0"/>
              <a:cs typeface="Times New Roman" panose="02020603050405020304" pitchFamily="18" charset="0"/>
            </a:endParaRPr>
          </a:p>
        </p:txBody>
      </p:sp>
      <p:sp>
        <p:nvSpPr>
          <p:cNvPr id="10" name="橢圓 9">
            <a:extLst>
              <a:ext uri="{FF2B5EF4-FFF2-40B4-BE49-F238E27FC236}">
                <a16:creationId xmlns:a16="http://schemas.microsoft.com/office/drawing/2014/main" id="{311A2FA0-0387-1A4D-9CCA-A8F8EBF6EB41}"/>
              </a:ext>
            </a:extLst>
          </p:cNvPr>
          <p:cNvSpPr/>
          <p:nvPr/>
        </p:nvSpPr>
        <p:spPr>
          <a:xfrm>
            <a:off x="9667459" y="1553490"/>
            <a:ext cx="357809" cy="357808"/>
          </a:xfrm>
          <a:prstGeom prst="ellipse">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TW" altLang="en-US"/>
          </a:p>
        </p:txBody>
      </p:sp>
      <p:sp>
        <p:nvSpPr>
          <p:cNvPr id="11" name="橢圓 10">
            <a:extLst>
              <a:ext uri="{FF2B5EF4-FFF2-40B4-BE49-F238E27FC236}">
                <a16:creationId xmlns:a16="http://schemas.microsoft.com/office/drawing/2014/main" id="{3C889FA3-0B7D-EC46-BB04-851A80980CB5}"/>
              </a:ext>
            </a:extLst>
          </p:cNvPr>
          <p:cNvSpPr/>
          <p:nvPr/>
        </p:nvSpPr>
        <p:spPr>
          <a:xfrm>
            <a:off x="10714380" y="301365"/>
            <a:ext cx="357809" cy="357808"/>
          </a:xfrm>
          <a:prstGeom prst="ellipse">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TW" altLang="en-US"/>
          </a:p>
        </p:txBody>
      </p:sp>
      <p:sp>
        <p:nvSpPr>
          <p:cNvPr id="12" name="橢圓 11">
            <a:extLst>
              <a:ext uri="{FF2B5EF4-FFF2-40B4-BE49-F238E27FC236}">
                <a16:creationId xmlns:a16="http://schemas.microsoft.com/office/drawing/2014/main" id="{65593ACF-BC66-4C4E-9F69-87A0B513660C}"/>
              </a:ext>
            </a:extLst>
          </p:cNvPr>
          <p:cNvSpPr/>
          <p:nvPr/>
        </p:nvSpPr>
        <p:spPr>
          <a:xfrm>
            <a:off x="10714380" y="1539863"/>
            <a:ext cx="357809" cy="357808"/>
          </a:xfrm>
          <a:prstGeom prst="ellipse">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TW" altLang="en-US"/>
          </a:p>
        </p:txBody>
      </p:sp>
      <p:cxnSp>
        <p:nvCxnSpPr>
          <p:cNvPr id="14" name="直線接點 13">
            <a:extLst>
              <a:ext uri="{FF2B5EF4-FFF2-40B4-BE49-F238E27FC236}">
                <a16:creationId xmlns:a16="http://schemas.microsoft.com/office/drawing/2014/main" id="{54298CE8-5363-B347-BBEF-C0CFD612AD64}"/>
              </a:ext>
            </a:extLst>
          </p:cNvPr>
          <p:cNvCxnSpPr>
            <a:stCxn id="6" idx="7"/>
            <a:endCxn id="7" idx="3"/>
          </p:cNvCxnSpPr>
          <p:nvPr/>
        </p:nvCxnSpPr>
        <p:spPr>
          <a:xfrm flipV="1">
            <a:off x="8168915" y="616836"/>
            <a:ext cx="504023" cy="3426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線接點 14">
            <a:extLst>
              <a:ext uri="{FF2B5EF4-FFF2-40B4-BE49-F238E27FC236}">
                <a16:creationId xmlns:a16="http://schemas.microsoft.com/office/drawing/2014/main" id="{16F1397D-1360-7341-A4C1-BAB4EF401C11}"/>
              </a:ext>
            </a:extLst>
          </p:cNvPr>
          <p:cNvCxnSpPr>
            <a:cxnSpLocks/>
            <a:stCxn id="6" idx="5"/>
            <a:endCxn id="9" idx="1"/>
          </p:cNvCxnSpPr>
          <p:nvPr/>
        </p:nvCxnSpPr>
        <p:spPr>
          <a:xfrm>
            <a:off x="8168915" y="1212530"/>
            <a:ext cx="504022" cy="3933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線接點 17">
            <a:extLst>
              <a:ext uri="{FF2B5EF4-FFF2-40B4-BE49-F238E27FC236}">
                <a16:creationId xmlns:a16="http://schemas.microsoft.com/office/drawing/2014/main" id="{2B1CA8F2-5EF0-4941-9DD6-459A38591D6B}"/>
              </a:ext>
            </a:extLst>
          </p:cNvPr>
          <p:cNvCxnSpPr>
            <a:cxnSpLocks/>
            <a:stCxn id="9" idx="6"/>
            <a:endCxn id="10" idx="2"/>
          </p:cNvCxnSpPr>
          <p:nvPr/>
        </p:nvCxnSpPr>
        <p:spPr>
          <a:xfrm>
            <a:off x="8978346" y="1732394"/>
            <a:ext cx="68911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接點 20">
            <a:extLst>
              <a:ext uri="{FF2B5EF4-FFF2-40B4-BE49-F238E27FC236}">
                <a16:creationId xmlns:a16="http://schemas.microsoft.com/office/drawing/2014/main" id="{ECEF05DE-5516-8B44-A289-EA2C2B2F1B6F}"/>
              </a:ext>
            </a:extLst>
          </p:cNvPr>
          <p:cNvCxnSpPr>
            <a:cxnSpLocks/>
            <a:stCxn id="7" idx="6"/>
            <a:endCxn id="8" idx="2"/>
          </p:cNvCxnSpPr>
          <p:nvPr/>
        </p:nvCxnSpPr>
        <p:spPr>
          <a:xfrm>
            <a:off x="8978347" y="490332"/>
            <a:ext cx="68911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2C5307DB-65E0-B945-A38D-A400A4B0FC5F}"/>
              </a:ext>
            </a:extLst>
          </p:cNvPr>
          <p:cNvCxnSpPr>
            <a:cxnSpLocks/>
            <a:stCxn id="10" idx="6"/>
            <a:endCxn id="12" idx="2"/>
          </p:cNvCxnSpPr>
          <p:nvPr/>
        </p:nvCxnSpPr>
        <p:spPr>
          <a:xfrm flipV="1">
            <a:off x="10025268" y="1718767"/>
            <a:ext cx="689112" cy="136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F26E119E-E988-614D-AD50-47AB3B713DD7}"/>
              </a:ext>
            </a:extLst>
          </p:cNvPr>
          <p:cNvCxnSpPr>
            <a:cxnSpLocks/>
            <a:stCxn id="8" idx="6"/>
            <a:endCxn id="11" idx="2"/>
          </p:cNvCxnSpPr>
          <p:nvPr/>
        </p:nvCxnSpPr>
        <p:spPr>
          <a:xfrm flipV="1">
            <a:off x="10025268" y="480269"/>
            <a:ext cx="689112" cy="100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63623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Memorization</a:t>
            </a:r>
            <a:endParaRPr kumimoji="1"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8200" y="1560443"/>
                <a:ext cx="11068878" cy="5297557"/>
              </a:xfrm>
            </p:spPr>
            <p:txBody>
              <a:bodyPr>
                <a:normAutofit/>
              </a:bodyPr>
              <a:lstStyle/>
              <a:p>
                <a:r>
                  <a:rPr kumimoji="1" lang="en-US" altLang="zh-TW" dirty="0">
                    <a:latin typeface="Times New Roman" panose="02020603050405020304" pitchFamily="18" charset="0"/>
                    <a:cs typeface="Times New Roman" panose="02020603050405020304" pitchFamily="18" charset="0"/>
                  </a:rPr>
                  <a:t>Store the result found from connected induced subgraphs.</a:t>
                </a:r>
              </a:p>
              <a:p>
                <a:r>
                  <a:rPr kumimoji="1" lang="en-US" altLang="zh-TW" dirty="0">
                    <a:latin typeface="Times New Roman" panose="02020603050405020304" pitchFamily="18" charset="0"/>
                    <a:cs typeface="Times New Roman" panose="02020603050405020304" pitchFamily="18" charset="0"/>
                  </a:rPr>
                  <a:t>For the 8-ary tree, give the weight of each node as 2</a:t>
                </a:r>
                <a:r>
                  <a:rPr kumimoji="1" lang="en-US" altLang="zh-TW" baseline="30000" dirty="0">
                    <a:latin typeface="Times New Roman" panose="02020603050405020304" pitchFamily="18" charset="0"/>
                    <a:cs typeface="Times New Roman" panose="02020603050405020304" pitchFamily="18" charset="0"/>
                  </a:rPr>
                  <a:t>-l</a:t>
                </a:r>
                <a:r>
                  <a:rPr kumimoji="1" lang="en-US" altLang="zh-TW" dirty="0">
                    <a:latin typeface="Times New Roman" panose="02020603050405020304" pitchFamily="18" charset="0"/>
                    <a:cs typeface="Times New Roman" panose="02020603050405020304" pitchFamily="18" charset="0"/>
                  </a:rPr>
                  <a:t>, l is the number of leaves.</a:t>
                </a:r>
              </a:p>
              <a:p>
                <a:r>
                  <a:rPr kumimoji="1" lang="en-US" altLang="zh-TW" dirty="0">
                    <a:latin typeface="Times New Roman" panose="02020603050405020304" pitchFamily="18" charset="0"/>
                    <a:cs typeface="Times New Roman" panose="02020603050405020304" pitchFamily="18" charset="0"/>
                  </a:rPr>
                  <a:t>With m</a:t>
                </a:r>
                <a:r>
                  <a:rPr kumimoji="1" lang="en-US" altLang="zh-TW" baseline="-25000" dirty="0">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nodes of out degree xi(0 &lt;= </a:t>
                </a:r>
                <a:r>
                  <a:rPr kumimoji="1" lang="en-US" altLang="zh-TW"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&lt;= 8), the sum of weights of 8-ary trees is 2</a:t>
                </a:r>
                <a:r>
                  <a:rPr kumimoji="1" lang="en-US" altLang="zh-TW" baseline="30000" dirty="0">
                    <a:latin typeface="Times New Roman" panose="02020603050405020304" pitchFamily="18" charset="0"/>
                    <a:cs typeface="Times New Roman" panose="02020603050405020304" pitchFamily="18" charset="0"/>
                  </a:rPr>
                  <a:t>-x0</a:t>
                </a:r>
                <a:r>
                  <a:rPr kumimoji="1" lang="en-US" altLang="zh-TW" dirty="0">
                    <a:latin typeface="Times New Roman" panose="02020603050405020304" pitchFamily="18" charset="0"/>
                    <a:cs typeface="Times New Roman" panose="02020603050405020304" pitchFamily="18" charset="0"/>
                  </a:rPr>
                  <a:t> * </a:t>
                </a:r>
                <a14:m>
                  <m:oMath xmlns:m="http://schemas.openxmlformats.org/officeDocument/2006/math">
                    <m:nary>
                      <m:naryPr>
                        <m:chr m:val="∏"/>
                        <m:ctrlPr>
                          <a:rPr kumimoji="1" lang="en-US" altLang="zh-TW" i="1" smtClean="0">
                            <a:latin typeface="Cambria Math" panose="02040503050406030204" pitchFamily="18" charset="0"/>
                            <a:cs typeface="Times New Roman" panose="02020603050405020304" pitchFamily="18" charset="0"/>
                          </a:rPr>
                        </m:ctrlPr>
                      </m:naryPr>
                      <m:sub>
                        <m:r>
                          <m:rPr>
                            <m:brk m:alnAt="23"/>
                          </m:rPr>
                          <a:rPr kumimoji="1" lang="en-US" altLang="zh-TW" b="0" i="1" smtClean="0">
                            <a:latin typeface="Cambria Math" panose="02040503050406030204" pitchFamily="18" charset="0"/>
                            <a:cs typeface="Times New Roman" panose="02020603050405020304" pitchFamily="18" charset="0"/>
                          </a:rPr>
                          <m:t>𝑖</m:t>
                        </m:r>
                        <m:r>
                          <a:rPr kumimoji="1" lang="en-US" altLang="zh-TW" b="0" i="1" smtClean="0">
                            <a:latin typeface="Cambria Math" panose="02040503050406030204" pitchFamily="18" charset="0"/>
                            <a:cs typeface="Times New Roman" panose="02020603050405020304" pitchFamily="18" charset="0"/>
                          </a:rPr>
                          <m:t>=0</m:t>
                        </m:r>
                      </m:sub>
                      <m:sup>
                        <m:r>
                          <a:rPr kumimoji="1" lang="en-US" altLang="zh-TW" b="0" i="1" smtClean="0">
                            <a:latin typeface="Cambria Math" panose="02040503050406030204" pitchFamily="18" charset="0"/>
                            <a:cs typeface="Times New Roman" panose="02020603050405020304" pitchFamily="18" charset="0"/>
                          </a:rPr>
                          <m:t>8</m:t>
                        </m:r>
                      </m:sup>
                      <m:e>
                        <m:d>
                          <m:dPr>
                            <m:ctrlPr>
                              <a:rPr kumimoji="1" lang="en-US" altLang="zh-TW" b="0" i="1" smtClean="0">
                                <a:latin typeface="Cambria Math" panose="02040503050406030204" pitchFamily="18" charset="0"/>
                                <a:cs typeface="Times New Roman" panose="02020603050405020304" pitchFamily="18" charset="0"/>
                              </a:rPr>
                            </m:ctrlPr>
                          </m:dPr>
                          <m:e>
                            <m:d>
                              <m:dPr>
                                <m:ctrlPr>
                                  <a:rPr kumimoji="1" lang="en-US" altLang="zh-TW" b="0" i="1" smtClean="0">
                                    <a:latin typeface="Cambria Math" panose="02040503050406030204" pitchFamily="18" charset="0"/>
                                    <a:cs typeface="Times New Roman" panose="02020603050405020304" pitchFamily="18" charset="0"/>
                                  </a:rPr>
                                </m:ctrlPr>
                              </m:dPr>
                              <m:e>
                                <m:f>
                                  <m:fPr>
                                    <m:ctrlPr>
                                      <a:rPr kumimoji="1" lang="en-US" altLang="zh-TW" b="0" i="1" smtClean="0">
                                        <a:latin typeface="Cambria Math" panose="02040503050406030204" pitchFamily="18" charset="0"/>
                                        <a:cs typeface="Times New Roman" panose="02020603050405020304" pitchFamily="18" charset="0"/>
                                      </a:rPr>
                                    </m:ctrlPr>
                                  </m:fPr>
                                  <m:num>
                                    <m:r>
                                      <a:rPr kumimoji="1" lang="en-US" altLang="zh-TW" b="0" i="1" smtClean="0">
                                        <a:latin typeface="Cambria Math" panose="02040503050406030204" pitchFamily="18" charset="0"/>
                                        <a:cs typeface="Times New Roman" panose="02020603050405020304" pitchFamily="18" charset="0"/>
                                      </a:rPr>
                                      <m:t>8</m:t>
                                    </m:r>
                                    <m:r>
                                      <a:rPr kumimoji="1" lang="en-US" altLang="zh-TW" b="0" i="1" baseline="30000" smtClean="0">
                                        <a:latin typeface="Cambria Math" panose="02040503050406030204" pitchFamily="18" charset="0"/>
                                        <a:cs typeface="Times New Roman" panose="02020603050405020304" pitchFamily="18" charset="0"/>
                                      </a:rPr>
                                      <m:t>𝑖</m:t>
                                    </m:r>
                                  </m:num>
                                  <m:den>
                                    <m:r>
                                      <a:rPr kumimoji="1" lang="en-US" altLang="zh-TW" b="0" i="1" smtClean="0">
                                        <a:latin typeface="Cambria Math" panose="02040503050406030204" pitchFamily="18" charset="0"/>
                                        <a:cs typeface="Times New Roman" panose="02020603050405020304" pitchFamily="18" charset="0"/>
                                      </a:rPr>
                                      <m:t>𝑥𝑖</m:t>
                                    </m:r>
                                  </m:den>
                                </m:f>
                              </m:e>
                            </m:d>
                            <m:r>
                              <a:rPr kumimoji="1" lang="en-US" altLang="zh-TW" b="0" i="1" baseline="30000" smtClean="0">
                                <a:latin typeface="Cambria Math" panose="02040503050406030204" pitchFamily="18" charset="0"/>
                                <a:cs typeface="Times New Roman" panose="02020603050405020304" pitchFamily="18" charset="0"/>
                              </a:rPr>
                              <m:t>𝑥𝑖</m:t>
                            </m:r>
                          </m:e>
                        </m:d>
                        <m:r>
                          <a:rPr kumimoji="1" lang="en-US" altLang="zh-TW" b="0" i="1" baseline="30000" smtClean="0">
                            <a:latin typeface="Cambria Math" panose="02040503050406030204" pitchFamily="18" charset="0"/>
                            <a:cs typeface="Times New Roman" panose="02020603050405020304" pitchFamily="18" charset="0"/>
                          </a:rPr>
                          <m:t>𝑚</m:t>
                        </m:r>
                      </m:e>
                    </m:nary>
                  </m:oMath>
                </a14:m>
                <a:r>
                  <a:rPr kumimoji="1" lang="en-US" altLang="zh-TW" dirty="0">
                    <a:latin typeface="Times New Roman" panose="02020603050405020304" pitchFamily="18" charset="0"/>
                    <a:cs typeface="Times New Roman" panose="02020603050405020304" pitchFamily="18" charset="0"/>
                  </a:rPr>
                  <a:t>, with the constraints </a:t>
                </a:r>
                <a14:m>
                  <m:oMath xmlns:m="http://schemas.openxmlformats.org/officeDocument/2006/math">
                    <m:nary>
                      <m:naryPr>
                        <m:chr m:val="∑"/>
                        <m:limLoc m:val="subSup"/>
                        <m:ctrlPr>
                          <a:rPr kumimoji="1" lang="en-US" altLang="zh-TW" i="1" smtClean="0">
                            <a:latin typeface="Cambria Math" panose="02040503050406030204" pitchFamily="18" charset="0"/>
                            <a:cs typeface="Times New Roman" panose="02020603050405020304" pitchFamily="18" charset="0"/>
                          </a:rPr>
                        </m:ctrlPr>
                      </m:naryPr>
                      <m:sub>
                        <m:r>
                          <m:rPr>
                            <m:brk m:alnAt="25"/>
                          </m:rPr>
                          <a:rPr kumimoji="1" lang="en-US" altLang="zh-TW" b="0" i="1" smtClean="0">
                            <a:latin typeface="Cambria Math" panose="02040503050406030204" pitchFamily="18" charset="0"/>
                            <a:cs typeface="Times New Roman" panose="02020603050405020304" pitchFamily="18" charset="0"/>
                          </a:rPr>
                          <m:t>𝑖</m:t>
                        </m:r>
                        <m:r>
                          <a:rPr kumimoji="1" lang="en-US" altLang="zh-TW" b="0" i="1" smtClean="0">
                            <a:latin typeface="Cambria Math" panose="02040503050406030204" pitchFamily="18" charset="0"/>
                            <a:cs typeface="Times New Roman" panose="02020603050405020304" pitchFamily="18" charset="0"/>
                          </a:rPr>
                          <m:t>=0</m:t>
                        </m:r>
                      </m:sub>
                      <m:sup>
                        <m:r>
                          <a:rPr kumimoji="1" lang="en-US" altLang="zh-TW" b="0" i="1" smtClean="0">
                            <a:latin typeface="Cambria Math" panose="02040503050406030204" pitchFamily="18" charset="0"/>
                            <a:cs typeface="Times New Roman" panose="02020603050405020304" pitchFamily="18" charset="0"/>
                          </a:rPr>
                          <m:t>8</m:t>
                        </m:r>
                      </m:sup>
                      <m:e>
                        <m:r>
                          <a:rPr kumimoji="1" lang="en-US" altLang="zh-TW" b="0" i="1" smtClean="0">
                            <a:latin typeface="Cambria Math" panose="02040503050406030204" pitchFamily="18" charset="0"/>
                            <a:cs typeface="Times New Roman" panose="02020603050405020304" pitchFamily="18" charset="0"/>
                          </a:rPr>
                          <m:t>𝑥𝑖</m:t>
                        </m:r>
                      </m:e>
                    </m:nary>
                    <m:r>
                      <a:rPr kumimoji="1" lang="en-US" altLang="zh-TW" b="0" i="0" smtClean="0">
                        <a:latin typeface="Cambria Math" panose="02040503050406030204" pitchFamily="18" charset="0"/>
                        <a:cs typeface="Times New Roman" panose="02020603050405020304" pitchFamily="18" charset="0"/>
                      </a:rPr>
                      <m:t>=1</m:t>
                    </m:r>
                  </m:oMath>
                </a14:m>
                <a:r>
                  <a:rPr kumimoji="1" lang="en-US" altLang="zh-TW" dirty="0">
                    <a:latin typeface="Times New Roman" panose="02020603050405020304" pitchFamily="18" charset="0"/>
                    <a:cs typeface="Times New Roman" panose="02020603050405020304" pitchFamily="18" charset="0"/>
                  </a:rPr>
                  <a:t> and </a:t>
                </a:r>
                <a14:m>
                  <m:oMath xmlns:m="http://schemas.openxmlformats.org/officeDocument/2006/math">
                    <m:nary>
                      <m:naryPr>
                        <m:chr m:val="∑"/>
                        <m:limLoc m:val="subSup"/>
                        <m:ctrlPr>
                          <a:rPr kumimoji="1" lang="en-US" altLang="zh-TW" i="1">
                            <a:latin typeface="Cambria Math" panose="02040503050406030204" pitchFamily="18" charset="0"/>
                            <a:cs typeface="Times New Roman" panose="02020603050405020304" pitchFamily="18" charset="0"/>
                          </a:rPr>
                        </m:ctrlPr>
                      </m:naryPr>
                      <m:sub>
                        <m:r>
                          <m:rPr>
                            <m:brk m:alnAt="25"/>
                          </m:rPr>
                          <a:rPr kumimoji="1" lang="en-US" altLang="zh-TW" i="1">
                            <a:latin typeface="Cambria Math" panose="02040503050406030204" pitchFamily="18" charset="0"/>
                            <a:cs typeface="Times New Roman" panose="02020603050405020304" pitchFamily="18" charset="0"/>
                          </a:rPr>
                          <m:t>𝑖</m:t>
                        </m:r>
                        <m:r>
                          <a:rPr kumimoji="1" lang="en-US" altLang="zh-TW" i="1">
                            <a:latin typeface="Cambria Math" panose="02040503050406030204" pitchFamily="18" charset="0"/>
                            <a:cs typeface="Times New Roman" panose="02020603050405020304" pitchFamily="18" charset="0"/>
                          </a:rPr>
                          <m:t>=0</m:t>
                        </m:r>
                      </m:sub>
                      <m:sup>
                        <m:r>
                          <a:rPr kumimoji="1" lang="en-US" altLang="zh-TW" i="1">
                            <a:latin typeface="Cambria Math" panose="02040503050406030204" pitchFamily="18" charset="0"/>
                            <a:cs typeface="Times New Roman" panose="02020603050405020304" pitchFamily="18" charset="0"/>
                          </a:rPr>
                          <m:t>8</m:t>
                        </m:r>
                      </m:sup>
                      <m:e>
                        <m:r>
                          <a:rPr kumimoji="1" lang="en-US" altLang="zh-TW" b="0" i="1" smtClean="0">
                            <a:latin typeface="Cambria Math" panose="02040503050406030204" pitchFamily="18" charset="0"/>
                            <a:cs typeface="Times New Roman" panose="02020603050405020304" pitchFamily="18" charset="0"/>
                          </a:rPr>
                          <m:t>𝑖</m:t>
                        </m:r>
                        <m:r>
                          <a:rPr kumimoji="1" lang="en-US" altLang="zh-TW" b="0" i="1" smtClean="0">
                            <a:latin typeface="Cambria Math" panose="02040503050406030204" pitchFamily="18" charset="0"/>
                            <a:cs typeface="Times New Roman" panose="02020603050405020304" pitchFamily="18" charset="0"/>
                          </a:rPr>
                          <m:t>∗</m:t>
                        </m:r>
                        <m:r>
                          <a:rPr kumimoji="1" lang="en-US" altLang="zh-TW" i="1">
                            <a:latin typeface="Cambria Math" panose="02040503050406030204" pitchFamily="18" charset="0"/>
                            <a:cs typeface="Times New Roman" panose="02020603050405020304" pitchFamily="18" charset="0"/>
                          </a:rPr>
                          <m:t>𝑥𝑖</m:t>
                        </m:r>
                      </m:e>
                    </m:nary>
                    <m:r>
                      <a:rPr kumimoji="1" lang="en-US" altLang="zh-TW">
                        <a:latin typeface="Cambria Math" panose="02040503050406030204" pitchFamily="18" charset="0"/>
                        <a:cs typeface="Times New Roman" panose="02020603050405020304" pitchFamily="18" charset="0"/>
                      </a:rPr>
                      <m:t>=1</m:t>
                    </m:r>
                  </m:oMath>
                </a14:m>
                <a:r>
                  <a:rPr kumimoji="1" lang="en-US" altLang="zh-TW" dirty="0">
                    <a:latin typeface="Times New Roman" panose="02020603050405020304" pitchFamily="18" charset="0"/>
                    <a:cs typeface="Times New Roman" panose="02020603050405020304" pitchFamily="18" charset="0"/>
                  </a:rPr>
                  <a:t>.</a:t>
                </a:r>
              </a:p>
              <a:p>
                <a:r>
                  <a:rPr kumimoji="1" lang="en-US" altLang="zh-TW" dirty="0">
                    <a:latin typeface="Times New Roman" panose="02020603050405020304" pitchFamily="18" charset="0"/>
                    <a:cs typeface="Times New Roman" panose="02020603050405020304" pitchFamily="18" charset="0"/>
                  </a:rPr>
                  <a:t>A set of xi lets the sum of weights be 16.403</a:t>
                </a:r>
                <a:r>
                  <a:rPr kumimoji="1" lang="en-US" altLang="zh-TW" baseline="30000" dirty="0">
                    <a:latin typeface="Times New Roman" panose="02020603050405020304" pitchFamily="18" charset="0"/>
                    <a:cs typeface="Times New Roman" panose="02020603050405020304" pitchFamily="18" charset="0"/>
                  </a:rPr>
                  <a:t>m</a:t>
                </a:r>
                <a:r>
                  <a:rPr kumimoji="1" lang="en-US" altLang="zh-TW" dirty="0">
                    <a:latin typeface="Times New Roman" panose="02020603050405020304" pitchFamily="18" charset="0"/>
                    <a:cs typeface="Times New Roman" panose="02020603050405020304" pitchFamily="18" charset="0"/>
                  </a:rPr>
                  <a:t>, which is the maximum.</a:t>
                </a:r>
              </a:p>
              <a:p>
                <a:r>
                  <a:rPr kumimoji="1" lang="en-US" altLang="zh-TW" dirty="0">
                    <a:latin typeface="Times New Roman" panose="02020603050405020304" pitchFamily="18" charset="0"/>
                    <a:cs typeface="Times New Roman" panose="02020603050405020304" pitchFamily="18" charset="0"/>
                  </a:rPr>
                  <a:t>This raises the level at which the </a:t>
                </a:r>
                <a:r>
                  <a:rPr kumimoji="1" lang="en-US" altLang="zh-TW" dirty="0" err="1">
                    <a:latin typeface="Times New Roman" panose="02020603050405020304" pitchFamily="18" charset="0"/>
                    <a:cs typeface="Times New Roman" panose="02020603050405020304" pitchFamily="18" charset="0"/>
                  </a:rPr>
                  <a:t>memorisation</a:t>
                </a:r>
                <a:r>
                  <a:rPr kumimoji="1" lang="en-US" altLang="zh-TW" dirty="0">
                    <a:latin typeface="Times New Roman" panose="02020603050405020304" pitchFamily="18" charset="0"/>
                    <a:cs typeface="Times New Roman" panose="02020603050405020304" pitchFamily="18" charset="0"/>
                  </a:rPr>
                  <a:t> becomes effective (number of subgraphs possible is less than the number of recursive calls generated) to about 0.0618n thereby reducing the constant c to just under 0.25. </a:t>
                </a:r>
              </a:p>
              <a:p>
                <a:r>
                  <a:rPr kumimoji="1" lang="en-US" altLang="zh-TW" dirty="0">
                    <a:latin typeface="Times New Roman" panose="02020603050405020304" pitchFamily="18" charset="0"/>
                    <a:cs typeface="Times New Roman" panose="02020603050405020304" pitchFamily="18" charset="0"/>
                  </a:rPr>
                  <a:t>Let k2c(n – 0.0618n) and k(8</a:t>
                </a:r>
                <a:r>
                  <a:rPr kumimoji="1" lang="en-US" altLang="zh-TW" baseline="30000" dirty="0">
                    <a:latin typeface="Times New Roman" panose="02020603050405020304" pitchFamily="18" charset="0"/>
                    <a:cs typeface="Times New Roman" panose="02020603050405020304" pitchFamily="18" charset="0"/>
                  </a:rPr>
                  <a:t>8</a:t>
                </a:r>
                <a:r>
                  <a:rPr kumimoji="1" lang="en-US" altLang="zh-TW" dirty="0">
                    <a:latin typeface="Times New Roman" panose="02020603050405020304" pitchFamily="18" charset="0"/>
                    <a:cs typeface="Times New Roman" panose="02020603050405020304" pitchFamily="18" charset="0"/>
                  </a:rPr>
                  <a:t>7</a:t>
                </a:r>
                <a:r>
                  <a:rPr kumimoji="1" lang="en-US" altLang="zh-TW" baseline="30000" dirty="0">
                    <a:latin typeface="Times New Roman" panose="02020603050405020304" pitchFamily="18" charset="0"/>
                    <a:cs typeface="Times New Roman" panose="02020603050405020304" pitchFamily="18" charset="0"/>
                  </a:rPr>
                  <a:t>-7</a:t>
                </a:r>
                <a:r>
                  <a:rPr kumimoji="1" lang="en-US" altLang="zh-TW" dirty="0">
                    <a:latin typeface="Times New Roman" panose="02020603050405020304" pitchFamily="18" charset="0"/>
                    <a:cs typeface="Times New Roman" panose="02020603050405020304" pitchFamily="18" charset="0"/>
                  </a:rPr>
                  <a:t>)</a:t>
                </a:r>
                <a:r>
                  <a:rPr kumimoji="1" lang="en-US" altLang="zh-TW" baseline="30000" dirty="0">
                    <a:latin typeface="Times New Roman" panose="02020603050405020304" pitchFamily="18" charset="0"/>
                    <a:cs typeface="Times New Roman" panose="02020603050405020304" pitchFamily="18" charset="0"/>
                  </a:rPr>
                  <a:t>0.0618n</a:t>
                </a:r>
                <a:r>
                  <a:rPr kumimoji="1" lang="en-US" altLang="zh-TW" dirty="0">
                    <a:latin typeface="Times New Roman" panose="02020603050405020304" pitchFamily="18" charset="0"/>
                    <a:cs typeface="Times New Roman" panose="02020603050405020304" pitchFamily="18" charset="0"/>
                  </a:rPr>
                  <a:t> be balanced.</a:t>
                </a:r>
                <a:endParaRPr kumimoji="1" lang="zh-TW" altLang="en-US" dirty="0">
                  <a:latin typeface="Times New Roman" panose="02020603050405020304" pitchFamily="18" charset="0"/>
                  <a:cs typeface="Times New Roman" panose="02020603050405020304" pitchFamily="18" charset="0"/>
                </a:endParaRPr>
              </a:p>
            </p:txBody>
          </p:sp>
        </mc:Choice>
        <mc:Fallback>
          <p:sp>
            <p:nvSpPr>
              <p:cNvPr id="3" name="內容版面配置區 2">
                <a:extLst>
                  <a:ext uri="{FF2B5EF4-FFF2-40B4-BE49-F238E27FC236}">
                    <a16:creationId xmlns:a16="http://schemas.microsoft.com/office/drawing/2014/main" id="{FDBA7692-A0C6-5C4A-A230-F72A3B531FB3}"/>
                  </a:ext>
                </a:extLst>
              </p:cNvPr>
              <p:cNvSpPr>
                <a:spLocks noGrp="1" noRot="1" noChangeAspect="1" noMove="1" noResize="1" noEditPoints="1" noAdjustHandles="1" noChangeArrowheads="1" noChangeShapeType="1" noTextEdit="1"/>
              </p:cNvSpPr>
              <p:nvPr>
                <p:ph idx="1"/>
              </p:nvPr>
            </p:nvSpPr>
            <p:spPr>
              <a:xfrm>
                <a:off x="838200" y="1560443"/>
                <a:ext cx="11068878" cy="5297557"/>
              </a:xfrm>
              <a:blipFill>
                <a:blip r:embed="rId2"/>
                <a:stretch>
                  <a:fillRect l="-2864" t="-1914" r="-1718" b="-2632"/>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6</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0221076"/>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1781</TotalTime>
  <Words>1161</Words>
  <Application>Microsoft Macintosh PowerPoint</Application>
  <PresentationFormat>寬螢幕</PresentationFormat>
  <Paragraphs>65</Paragraphs>
  <Slides>6</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6</vt:i4>
      </vt:variant>
    </vt:vector>
  </HeadingPairs>
  <TitlesOfParts>
    <vt:vector size="13" baseType="lpstr">
      <vt:lpstr>新細明體</vt:lpstr>
      <vt:lpstr>Arial</vt:lpstr>
      <vt:lpstr>Calibri</vt:lpstr>
      <vt:lpstr>Calibri Light</vt:lpstr>
      <vt:lpstr>Cambria Math</vt:lpstr>
      <vt:lpstr>Times New Roman</vt:lpstr>
      <vt:lpstr>Office 佈景主題</vt:lpstr>
      <vt:lpstr>Finding a maximum independent set in time O(2n/4) </vt:lpstr>
      <vt:lpstr>Abstract</vt:lpstr>
      <vt:lpstr>Problem Setup</vt:lpstr>
      <vt:lpstr>Problem Setup</vt:lpstr>
      <vt:lpstr>PowerPoint 簡報</vt:lpstr>
      <vt:lpstr>Memorization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Microsoft Office 使用者</dc:creator>
  <cp:lastModifiedBy>Microsoft Office 使用者</cp:lastModifiedBy>
  <cp:revision>152</cp:revision>
  <dcterms:created xsi:type="dcterms:W3CDTF">2023-01-02T07:42:35Z</dcterms:created>
  <dcterms:modified xsi:type="dcterms:W3CDTF">2024-01-02T07:57:21Z</dcterms:modified>
</cp:coreProperties>
</file>