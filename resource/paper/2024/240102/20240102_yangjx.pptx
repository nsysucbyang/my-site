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99" r:id="rId4"/>
    <p:sldId id="302" r:id="rId5"/>
    <p:sldId id="303" r:id="rId6"/>
    <p:sldId id="265" r:id="rId7"/>
    <p:sldId id="282" r:id="rId8"/>
    <p:sldId id="304" r:id="rId9"/>
    <p:sldId id="305" r:id="rId10"/>
    <p:sldId id="306" r:id="rId11"/>
    <p:sldId id="307" r:id="rId12"/>
    <p:sldId id="280" r:id="rId13"/>
    <p:sldId id="309" r:id="rId14"/>
    <p:sldId id="308" r:id="rId15"/>
    <p:sldId id="287" r:id="rId16"/>
    <p:sldId id="283" r:id="rId17"/>
    <p:sldId id="310" r:id="rId18"/>
    <p:sldId id="311" r:id="rId19"/>
    <p:sldId id="312" r:id="rId20"/>
    <p:sldId id="313" r:id="rId21"/>
    <p:sldId id="314" r:id="rId22"/>
    <p:sldId id="269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83104" autoAdjust="0"/>
  </p:normalViewPr>
  <p:slideViewPr>
    <p:cSldViewPr snapToGrid="0">
      <p:cViewPr varScale="1">
        <p:scale>
          <a:sx n="71" d="100"/>
          <a:sy n="71" d="100"/>
        </p:scale>
        <p:origin x="13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BF28-E50E-4388-A3E5-4D39E480B765}" type="datetimeFigureOut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711A4-5F0E-4DF4-937D-81F030A1E9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4259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一個圖有</a:t>
            </a:r>
            <a:r>
              <a:rPr lang="en-US" altLang="zh-TW" dirty="0"/>
              <a:t>n</a:t>
            </a:r>
            <a:r>
              <a:rPr lang="zh-TW" altLang="en-US" dirty="0"/>
              <a:t>個點，則會有</a:t>
            </a:r>
            <a:r>
              <a:rPr lang="en-US" altLang="zh-TW" dirty="0"/>
              <a:t>2^n</a:t>
            </a:r>
            <a:r>
              <a:rPr lang="zh-TW" altLang="en-US" dirty="0"/>
              <a:t>個子圖，因此要記憶的話，空間會是指數成長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711A4-5F0E-4DF4-937D-81F030A1E9A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067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一個圖有</a:t>
            </a:r>
            <a:r>
              <a:rPr lang="en-US" altLang="zh-TW" dirty="0"/>
              <a:t>n</a:t>
            </a:r>
            <a:r>
              <a:rPr lang="zh-TW" altLang="en-US" dirty="0"/>
              <a:t>個點，則會有</a:t>
            </a:r>
            <a:r>
              <a:rPr lang="en-US" altLang="zh-TW" dirty="0"/>
              <a:t>2^n</a:t>
            </a:r>
            <a:r>
              <a:rPr lang="zh-TW" altLang="en-US" dirty="0"/>
              <a:t>個子圖，因此要記憶的話，空間會是指數成長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711A4-5F0E-4DF4-937D-81F030A1E9A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10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一個圖有</a:t>
            </a:r>
            <a:r>
              <a:rPr lang="en-US" altLang="zh-TW" dirty="0"/>
              <a:t>n</a:t>
            </a:r>
            <a:r>
              <a:rPr lang="zh-TW" altLang="en-US" dirty="0"/>
              <a:t>個點，則會有</a:t>
            </a:r>
            <a:r>
              <a:rPr lang="en-US" altLang="zh-TW" dirty="0"/>
              <a:t>2^n</a:t>
            </a:r>
            <a:r>
              <a:rPr lang="zh-TW" altLang="en-US" dirty="0"/>
              <a:t>個子圖，因此要記憶的話，空間會是指數成長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711A4-5F0E-4DF4-937D-81F030A1E9A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930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0C6C96-9558-5AB5-D1F9-BCC335655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FA7C56-9105-1E14-A17F-8A26FE9B3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C84251-D4BA-53DC-3BEF-977567CB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AC1E3-A6AB-47A3-8E64-C9F1D5D81A55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D25A00-DB5F-6575-598E-1BDA96E3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1AD27D-3D20-5E6D-7527-6A46BDF3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33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BFF06-C706-AE49-8BDC-162AE3DC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BB920A-B9BC-CE2C-E727-40FC0B9B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AEF194-C880-0ED0-C3B1-F5AA4AC79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E8941-C9FC-4970-9D6F-BA72DC037752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AB75C9-C024-B558-D45F-78577087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F45A64-F99E-C099-B11A-50A95E09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6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37508B-BEB1-C8F9-B516-0922DF72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03A960-423A-63C2-DE35-5ECFB4DE1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9DDC9D-F9A5-2607-75C3-0D12FFEC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AE5F-5202-44CB-B5B5-2322DF70600B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737579-99A5-787F-A156-A914AC26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F7EE7-94C2-1869-DD60-727D9699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9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93191-4D6D-0ABD-4FD0-D3DAEBA57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1ED2BA-D421-7A64-DC46-93172086D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07B58A-5369-F605-DA10-8BA9C02942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69A846-5B55-BD04-2DAB-0D2726E9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542C7-36FE-4BA7-9A3F-4A6D1DADBE08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02D24C-E889-D7B0-44D9-CE81B159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6439EF-16EE-FA12-79F3-B87E3982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8087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6F3233-C6E5-0B44-D100-310DB38E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D436CD-1CD4-D11C-BEAA-C41711900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A8C39C-C632-D3AD-5AEA-87AD3CE7E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A78D980-ADEE-0381-3898-A79271B830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4163D17-2951-4369-D786-C80C0E0AC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1A71428-24ED-C03C-2120-A1D148D1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B4E3-C1A0-407D-A8C4-223029942A11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1BEDD-6B2B-9839-FD27-D8A7C04D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D55D63F-D8D7-440D-968C-FBBBB351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10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01DAD-B1A7-6913-F8C4-3128A369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EEE96D-DCE2-0290-7CB8-E2A347F5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27EF-4BCA-4B2D-96BC-800DE09072A1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DFB4F6-EB62-78FE-A3B6-22330318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C0C14C-28CD-EC7E-4309-732F432A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94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58279C0-CD55-F003-AC5E-18605269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79947-85DC-4C95-80F0-0C9A313E1A00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6E7F1EF-FFA4-134D-A4B0-3774C78A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FB60E8-5211-F688-2F76-36E54987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58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1827A-CB14-C4D4-25E3-41710BF6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3446C2-058B-FE7C-C4EA-39142F7D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B9FA26-62A1-F41D-42AE-4B9FA400E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01A1DA-69F3-C87D-CD25-E5F434BE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4CBE8-F2E5-4D8C-86BB-4F11DA33B21D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E909FB9-26BE-EFF1-A2A0-2EDEAD11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0F42F7-4924-ACAA-4B7E-81847CCA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708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3A632-06E7-2518-793D-34E8E6D7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59DF59-8B59-165B-FC2D-788F2972E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1BBEC0-7FEE-EE4F-6278-6FC2F230D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0A4099-AD40-6407-4A6E-440F0C9E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B16DB-9686-447D-9D68-9652B275986F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65FF51-855C-82B4-240E-D1AF0254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2CF40C-AF6C-C9FF-89A1-58A1B03B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678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39347-557F-B5D8-678D-276F907F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8EED0EF-2EFC-0A2C-A1A1-566E81CD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42852E-12ED-C0F2-A102-7A6CE771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E588-B95B-4AB0-81F5-2FBB811781EB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930DA9-725C-5B7A-5BFB-0B94FF48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B92A56-D44A-B10D-C20D-AC8706D7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00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36CFAD-7B1A-4F41-7AA1-3F5865D13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A3AE268-50FA-2DB3-85DF-75AC97871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69F98A-EAB9-3D3B-7A32-3741EF28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11F3-4FA6-41B2-81A4-6CC88E543A04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6F795B-0E4E-9263-5414-6CF7A287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952AC5-C821-BDC5-2B56-1AC08DD0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92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A69BABF-6143-6E99-0B49-97D885BD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1DF635-42A0-B056-4EB4-97F7B309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B49324-9375-D069-B743-3683D6438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CC5AE-261C-4E50-A59B-D2A2B1270A69}" type="datetime1">
              <a:rPr lang="zh-TW" altLang="en-US" smtClean="0"/>
              <a:t>2024/1/1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584CA7-762E-3A5A-304E-1EAAB6D1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5B41FD-5E7A-AF87-9639-CB9054602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EC03B-316C-4507-8207-D997BB28EB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76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D6ECA-8C9F-6ADC-F8D7-2A8257205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162" y="98491"/>
            <a:ext cx="10829676" cy="2387600"/>
          </a:xfrm>
        </p:spPr>
        <p:txBody>
          <a:bodyPr>
            <a:no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Maximum independent Sets 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739F88-A29A-4C56-52FA-D407B3273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6148"/>
            <a:ext cx="9144000" cy="1655762"/>
          </a:xfrm>
        </p:spPr>
        <p:txBody>
          <a:bodyPr/>
          <a:lstStyle/>
          <a:p>
            <a:r>
              <a:rPr lang="en-US" altLang="zh-TW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ROBSON, John Michael. Algorithms for maximum independent sets. </a:t>
            </a:r>
            <a:r>
              <a:rPr lang="en-US" altLang="zh-TW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Journal of Algorithms</a:t>
            </a:r>
            <a:r>
              <a:rPr lang="en-US" altLang="zh-TW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1986, 7.3: 425-440.</a:t>
            </a:r>
            <a:endParaRPr lang="zh-TW" altLang="en-US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6BC2F8A-F57D-93E1-25E0-DACED7728107}"/>
              </a:ext>
            </a:extLst>
          </p:cNvPr>
          <p:cNvSpPr txBox="1"/>
          <p:nvPr/>
        </p:nvSpPr>
        <p:spPr>
          <a:xfrm>
            <a:off x="8410112" y="5913844"/>
            <a:ext cx="3657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Jing-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Xiang.Yang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</a:t>
            </a:r>
            <a:r>
              <a:rPr lang="en-US" altLang="zh-TW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Jan. </a:t>
            </a:r>
            <a:r>
              <a:rPr lang="en-US" altLang="zh-TW" sz="240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b="0" i="0" dirty="0">
                <a:solidFill>
                  <a:srgbClr val="2021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E74A8C-340A-9F93-5512-3E18A247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461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84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An algorithm is presented which finds (the size of) a maximum independent set of an n vertex graph in time O(2</a:t>
            </a:r>
            <a:r>
              <a:rPr lang="en-US" altLang="zh-TW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0.276n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TW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lmproving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 previous bound of O(2</a:t>
            </a:r>
            <a:r>
              <a:rPr lang="en-US" altLang="zh-TW" sz="3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n/3</a:t>
            </a:r>
            <a:r>
              <a:rPr lang="en-US" altLang="zh-TW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 improvement comes principally from three sources: first, a modified recursive algorithm based on a more detailed study of the possible subgraphs around a chosen vertex; second, an improvement, not in the algorithm but in the time bound proved, by an argument about connected regular graphs; third, a time-space trade-off which can speed up recursive algorithms from a fairly wide class.</a:t>
            </a:r>
            <a:endParaRPr lang="zh-TW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1EABE3-FE2B-DB6E-974D-8180EF68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36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Set 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Set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040C28"/>
                </a:solidFill>
                <a:latin typeface="Google Sans"/>
              </a:rPr>
              <a:t>(A subset of vertices in </a:t>
            </a:r>
            <a:r>
              <a:rPr lang="en-US" altLang="zh-TW" dirty="0" err="1">
                <a:solidFill>
                  <a:srgbClr val="040C28"/>
                </a:solidFill>
                <a:latin typeface="Google Sans"/>
              </a:rPr>
              <a:t>whch</a:t>
            </a:r>
            <a:r>
              <a:rPr lang="en-US" altLang="zh-TW" dirty="0">
                <a:solidFill>
                  <a:srgbClr val="040C28"/>
                </a:solidFill>
                <a:latin typeface="Google Sans"/>
              </a:rPr>
              <a:t> no two vertices are adjacent)</a:t>
            </a:r>
            <a:r>
              <a:rPr lang="en-US" altLang="zh-TW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</a:p>
          <a:p>
            <a:pPr marL="0" indent="0">
              <a:buNone/>
            </a:pPr>
            <a:endParaRPr lang="en-US" altLang="zh-TW" dirty="0">
              <a:solidFill>
                <a:srgbClr val="4D5156"/>
              </a:solidFill>
              <a:latin typeface="Google Sans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83179E-22C4-4236-E2D4-6F81ADB2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083C53-2F63-BA37-79B3-1B8287412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766" y="3195243"/>
            <a:ext cx="4465214" cy="329763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FD384BC-A836-3926-2805-A73494E39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55" y="3195243"/>
            <a:ext cx="4465214" cy="334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0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altLang="zh-TW" sz="2000" dirty="0"/>
              <a:t> 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Set 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5A16068-63D3-92CF-01ED-28F0DDEFE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614" y="1949094"/>
            <a:ext cx="5410771" cy="398292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83179E-22C4-4236-E2D4-6F81ADB2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72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Set &amp; Clique 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5A16068-63D3-92CF-01ED-28F0DDEFE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219" y="2006392"/>
            <a:ext cx="5410771" cy="398292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83179E-22C4-4236-E2D4-6F81ADB2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A4B4192-91A8-476A-984A-CB598A7FF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12" y="2006391"/>
            <a:ext cx="5412210" cy="398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1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4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sz="48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95AD0F-78B0-3EC9-0878-946F93F05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693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d(v) : degree of v in 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N(v) : the set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 in G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 : the set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 of vertices in N(v) excluding v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N(v) : v + N(v)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DAB15E-35F6-8043-BBD4-4D8A08F7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6FF0FD0-5AD3-713A-5FAF-86BCDD5D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94" y="3217362"/>
            <a:ext cx="4701185" cy="3393461"/>
          </a:xfrm>
          <a:prstGeom prst="rect">
            <a:avLst/>
          </a:prstGeom>
        </p:spPr>
      </p:pic>
      <p:sp>
        <p:nvSpPr>
          <p:cNvPr id="7" name="橢圓 6">
            <a:extLst>
              <a:ext uri="{FF2B5EF4-FFF2-40B4-BE49-F238E27FC236}">
                <a16:creationId xmlns:a16="http://schemas.microsoft.com/office/drawing/2014/main" id="{96ADF37D-9E08-4729-2595-6A3C354A265F}"/>
              </a:ext>
            </a:extLst>
          </p:cNvPr>
          <p:cNvSpPr/>
          <p:nvPr/>
        </p:nvSpPr>
        <p:spPr>
          <a:xfrm>
            <a:off x="3579223" y="3801291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66B6A8-094D-81ED-B105-797268096DBC}"/>
              </a:ext>
            </a:extLst>
          </p:cNvPr>
          <p:cNvSpPr/>
          <p:nvPr/>
        </p:nvSpPr>
        <p:spPr>
          <a:xfrm>
            <a:off x="1815737" y="3801291"/>
            <a:ext cx="705394" cy="770709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CF3028-CF81-B473-D79D-1EC452125EE5}"/>
              </a:ext>
            </a:extLst>
          </p:cNvPr>
          <p:cNvSpPr/>
          <p:nvPr/>
        </p:nvSpPr>
        <p:spPr>
          <a:xfrm>
            <a:off x="4179380" y="4672148"/>
            <a:ext cx="705394" cy="770709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32B82EC-2FD8-54D3-75D4-36F8FF059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324" y="3217362"/>
            <a:ext cx="4701185" cy="339346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892DA9B-B811-C1BA-4CA9-6F39377F600A}"/>
              </a:ext>
            </a:extLst>
          </p:cNvPr>
          <p:cNvSpPr/>
          <p:nvPr/>
        </p:nvSpPr>
        <p:spPr>
          <a:xfrm>
            <a:off x="9505406" y="4617425"/>
            <a:ext cx="705394" cy="770709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737369-79F0-611B-A8C7-30F2A7F9AAD3}"/>
              </a:ext>
            </a:extLst>
          </p:cNvPr>
          <p:cNvSpPr/>
          <p:nvPr/>
        </p:nvSpPr>
        <p:spPr>
          <a:xfrm>
            <a:off x="7097486" y="3838008"/>
            <a:ext cx="705394" cy="770709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9E5C5FBF-72AF-CB90-B132-9356F07E3EF2}"/>
              </a:ext>
            </a:extLst>
          </p:cNvPr>
          <p:cNvSpPr/>
          <p:nvPr/>
        </p:nvSpPr>
        <p:spPr>
          <a:xfrm>
            <a:off x="6431820" y="4572000"/>
            <a:ext cx="853440" cy="770709"/>
          </a:xfrm>
          <a:prstGeom prst="triangl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6F10EAAD-94B9-7E48-BE40-EABD6333ED57}"/>
              </a:ext>
            </a:extLst>
          </p:cNvPr>
          <p:cNvSpPr/>
          <p:nvPr/>
        </p:nvSpPr>
        <p:spPr>
          <a:xfrm>
            <a:off x="8533764" y="5057502"/>
            <a:ext cx="853440" cy="770709"/>
          </a:xfrm>
          <a:prstGeom prst="triangl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18108A88-3AAC-DA9F-CDBF-02239545A592}"/>
              </a:ext>
            </a:extLst>
          </p:cNvPr>
          <p:cNvSpPr/>
          <p:nvPr/>
        </p:nvSpPr>
        <p:spPr>
          <a:xfrm>
            <a:off x="9387204" y="5691686"/>
            <a:ext cx="853440" cy="770709"/>
          </a:xfrm>
          <a:prstGeom prst="triangl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B38A6597-92AC-B904-9927-B593D1A8849B}"/>
              </a:ext>
            </a:extLst>
          </p:cNvPr>
          <p:cNvSpPr/>
          <p:nvPr/>
        </p:nvSpPr>
        <p:spPr>
          <a:xfrm>
            <a:off x="9982200" y="3632925"/>
            <a:ext cx="853440" cy="770709"/>
          </a:xfrm>
          <a:prstGeom prst="triangl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4E7BE1C6-C876-0A40-3385-5FFC795DB0DF}"/>
              </a:ext>
            </a:extLst>
          </p:cNvPr>
          <p:cNvSpPr/>
          <p:nvPr/>
        </p:nvSpPr>
        <p:spPr>
          <a:xfrm>
            <a:off x="8843738" y="3705583"/>
            <a:ext cx="853440" cy="770709"/>
          </a:xfrm>
          <a:prstGeom prst="triangl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784500E-12A0-784D-9EE4-4069C6DE6254}"/>
              </a:ext>
            </a:extLst>
          </p:cNvPr>
          <p:cNvCxnSpPr>
            <a:cxnSpLocks/>
          </p:cNvCxnSpPr>
          <p:nvPr/>
        </p:nvCxnSpPr>
        <p:spPr>
          <a:xfrm flipH="1">
            <a:off x="8775697" y="3588045"/>
            <a:ext cx="1101634" cy="108410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35F0B12F-5327-56AB-D837-C4F5E65863B4}"/>
              </a:ext>
            </a:extLst>
          </p:cNvPr>
          <p:cNvCxnSpPr>
            <a:cxnSpLocks/>
          </p:cNvCxnSpPr>
          <p:nvPr/>
        </p:nvCxnSpPr>
        <p:spPr>
          <a:xfrm flipH="1" flipV="1">
            <a:off x="8843738" y="3644626"/>
            <a:ext cx="863240" cy="100796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671E63AE-E68B-17D1-A183-A228FCC612E1}"/>
              </a:ext>
            </a:extLst>
          </p:cNvPr>
          <p:cNvCxnSpPr/>
          <p:nvPr/>
        </p:nvCxnSpPr>
        <p:spPr>
          <a:xfrm>
            <a:off x="1175657" y="2601753"/>
            <a:ext cx="20682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02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Recursive Structure</a:t>
            </a:r>
            <a:endParaRPr lang="zh-TW" altLang="en-US" sz="48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1B5102-CACD-3DEE-577C-C29FA51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D667E229-C39E-6F8F-FD77-FB235B8E50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606" y="2736880"/>
            <a:ext cx="9092787" cy="831267"/>
          </a:xfrm>
        </p:spPr>
      </p:pic>
    </p:spTree>
    <p:extLst>
      <p:ext uri="{BB962C8B-B14F-4D97-AF65-F5344CB8AC3E}">
        <p14:creationId xmlns:p14="http://schemas.microsoft.com/office/powerpoint/2010/main" val="347204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Containing B</a:t>
            </a:r>
            <a:endParaRPr lang="zh-TW" altLang="en-US" sz="48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1B5102-CACD-3DEE-577C-C29FA51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E435AD-4197-A51C-2378-AC00A88B0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35" y="1551217"/>
            <a:ext cx="3315163" cy="685896"/>
          </a:xfrm>
          <a:prstGeom prst="rect">
            <a:avLst/>
          </a:prstGeo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F237F67-E9D1-FB44-44D7-56AAC6300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1401" y="2348268"/>
            <a:ext cx="5552660" cy="4008082"/>
          </a:xfrm>
          <a:prstGeom prst="rect">
            <a:avLst/>
          </a:prstGeom>
        </p:spPr>
      </p:pic>
      <p:sp>
        <p:nvSpPr>
          <p:cNvPr id="10" name="橢圓 9">
            <a:extLst>
              <a:ext uri="{FF2B5EF4-FFF2-40B4-BE49-F238E27FC236}">
                <a16:creationId xmlns:a16="http://schemas.microsoft.com/office/drawing/2014/main" id="{63FC4386-351F-E05A-93A8-C5739E7DCC6F}"/>
              </a:ext>
            </a:extLst>
          </p:cNvPr>
          <p:cNvSpPr/>
          <p:nvPr/>
        </p:nvSpPr>
        <p:spPr>
          <a:xfrm>
            <a:off x="5946251" y="5585641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乘號 10">
            <a:extLst>
              <a:ext uri="{FF2B5EF4-FFF2-40B4-BE49-F238E27FC236}">
                <a16:creationId xmlns:a16="http://schemas.microsoft.com/office/drawing/2014/main" id="{A3BBE03B-6FF3-72F0-BD29-1A175151F8F8}"/>
              </a:ext>
            </a:extLst>
          </p:cNvPr>
          <p:cNvSpPr/>
          <p:nvPr/>
        </p:nvSpPr>
        <p:spPr>
          <a:xfrm>
            <a:off x="4465298" y="3003999"/>
            <a:ext cx="1218065" cy="10261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乘號 12">
            <a:extLst>
              <a:ext uri="{FF2B5EF4-FFF2-40B4-BE49-F238E27FC236}">
                <a16:creationId xmlns:a16="http://schemas.microsoft.com/office/drawing/2014/main" id="{BF3871B4-B856-409F-CD5D-18655A77DCC0}"/>
              </a:ext>
            </a:extLst>
          </p:cNvPr>
          <p:cNvSpPr/>
          <p:nvPr/>
        </p:nvSpPr>
        <p:spPr>
          <a:xfrm>
            <a:off x="7283101" y="4028859"/>
            <a:ext cx="1057051" cy="89180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1219177A-DC52-9C6A-ED40-79D4F3EE9B43}"/>
              </a:ext>
            </a:extLst>
          </p:cNvPr>
          <p:cNvSpPr/>
          <p:nvPr/>
        </p:nvSpPr>
        <p:spPr>
          <a:xfrm>
            <a:off x="6769211" y="3157529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1A1C4A2-D1D2-4EEB-EEF2-0038FB19B67B}"/>
              </a:ext>
            </a:extLst>
          </p:cNvPr>
          <p:cNvSpPr/>
          <p:nvPr/>
        </p:nvSpPr>
        <p:spPr>
          <a:xfrm>
            <a:off x="3765974" y="4149959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5553FEB1-4633-792E-4C02-CDD956107AD3}"/>
              </a:ext>
            </a:extLst>
          </p:cNvPr>
          <p:cNvSpPr/>
          <p:nvPr/>
        </p:nvSpPr>
        <p:spPr>
          <a:xfrm>
            <a:off x="8092019" y="3131707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乘號 17">
            <a:extLst>
              <a:ext uri="{FF2B5EF4-FFF2-40B4-BE49-F238E27FC236}">
                <a16:creationId xmlns:a16="http://schemas.microsoft.com/office/drawing/2014/main" id="{876B2C85-5137-AAC3-F7F4-F19FED52AED9}"/>
              </a:ext>
            </a:extLst>
          </p:cNvPr>
          <p:cNvSpPr/>
          <p:nvPr/>
        </p:nvSpPr>
        <p:spPr>
          <a:xfrm>
            <a:off x="4422109" y="5382188"/>
            <a:ext cx="1218065" cy="10261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乘號 18">
            <a:extLst>
              <a:ext uri="{FF2B5EF4-FFF2-40B4-BE49-F238E27FC236}">
                <a16:creationId xmlns:a16="http://schemas.microsoft.com/office/drawing/2014/main" id="{6E5C2F6E-2877-EA75-826C-E79606AFBB4D}"/>
              </a:ext>
            </a:extLst>
          </p:cNvPr>
          <p:cNvSpPr/>
          <p:nvPr/>
        </p:nvSpPr>
        <p:spPr>
          <a:xfrm>
            <a:off x="6169052" y="4629231"/>
            <a:ext cx="1218065" cy="10261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乘號 19">
            <a:extLst>
              <a:ext uri="{FF2B5EF4-FFF2-40B4-BE49-F238E27FC236}">
                <a16:creationId xmlns:a16="http://schemas.microsoft.com/office/drawing/2014/main" id="{FA323534-14AE-F0C2-4993-009F05778929}"/>
              </a:ext>
            </a:extLst>
          </p:cNvPr>
          <p:cNvSpPr/>
          <p:nvPr/>
        </p:nvSpPr>
        <p:spPr>
          <a:xfrm>
            <a:off x="7220292" y="5393446"/>
            <a:ext cx="1218065" cy="10261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14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Containing B</a:t>
            </a:r>
            <a:endParaRPr lang="zh-TW" altLang="en-US" sz="48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1B5102-CACD-3DEE-577C-C29FA51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50F8477-64CF-ED93-2D66-CAC9AD2D6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69" y="1476476"/>
            <a:ext cx="2538902" cy="87179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F37D68F-5454-2F44-A0C9-B47FBEB3D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961" y="2313898"/>
            <a:ext cx="6146077" cy="4436429"/>
          </a:xfrm>
          <a:prstGeom prst="rect">
            <a:avLst/>
          </a:prstGeom>
        </p:spPr>
      </p:pic>
      <p:sp>
        <p:nvSpPr>
          <p:cNvPr id="9" name="乘號 8">
            <a:extLst>
              <a:ext uri="{FF2B5EF4-FFF2-40B4-BE49-F238E27FC236}">
                <a16:creationId xmlns:a16="http://schemas.microsoft.com/office/drawing/2014/main" id="{835E32B4-69AD-E083-6216-61DDB13F8B77}"/>
              </a:ext>
            </a:extLst>
          </p:cNvPr>
          <p:cNvSpPr/>
          <p:nvPr/>
        </p:nvSpPr>
        <p:spPr>
          <a:xfrm>
            <a:off x="6376297" y="3118866"/>
            <a:ext cx="1218065" cy="10261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55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Function ms</a:t>
            </a:r>
            <a:r>
              <a:rPr lang="en-US" altLang="zh-TW" sz="4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1B5102-CACD-3DEE-577C-C29FA51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10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AD541F-8743-09A0-D5B5-D6544E13E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60" y="2370137"/>
            <a:ext cx="10180479" cy="891097"/>
          </a:xfrm>
          <a:prstGeom prst="rect">
            <a:avLst/>
          </a:prstGeom>
        </p:spPr>
      </p:pic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FD87D4D-44F9-D751-EFFB-CC17FBF9D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12761"/>
            <a:ext cx="10515600" cy="4351338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760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Function ms</a:t>
            </a:r>
            <a:r>
              <a:rPr lang="en-US" altLang="zh-TW" sz="4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1B5102-CACD-3DEE-577C-C29FA51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9FD87D4D-44F9-D751-EFFB-CC17FBF9D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(G,S) : maximum size of an independent set of G containing at least two elements of S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d(A) is small, then ms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 - A, N(A)) may be much faster to compute than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 - A).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02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FAE96B-7813-5C85-FDE2-C79DF102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01B8859-DC20-B2EB-1B2C-CF1A85606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535" y="1655115"/>
            <a:ext cx="6512929" cy="470123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6693EC-90B9-2337-96DF-5AC8D9956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29" y="657907"/>
            <a:ext cx="3667637" cy="819264"/>
          </a:xfrm>
          <a:prstGeom prst="rect">
            <a:avLst/>
          </a:prstGeom>
        </p:spPr>
      </p:pic>
      <p:sp>
        <p:nvSpPr>
          <p:cNvPr id="8" name="乘號 7">
            <a:extLst>
              <a:ext uri="{FF2B5EF4-FFF2-40B4-BE49-F238E27FC236}">
                <a16:creationId xmlns:a16="http://schemas.microsoft.com/office/drawing/2014/main" id="{C0BA34D4-8000-E5B8-C9BF-DDC3404036EB}"/>
              </a:ext>
            </a:extLst>
          </p:cNvPr>
          <p:cNvSpPr/>
          <p:nvPr/>
        </p:nvSpPr>
        <p:spPr>
          <a:xfrm>
            <a:off x="3947075" y="2449482"/>
            <a:ext cx="1218065" cy="102612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22C9B1-AA82-2943-850E-D833994ECC6F}"/>
              </a:ext>
            </a:extLst>
          </p:cNvPr>
          <p:cNvSpPr/>
          <p:nvPr/>
        </p:nvSpPr>
        <p:spPr>
          <a:xfrm>
            <a:off x="3191806" y="3884620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0F73578-33A0-0372-DCE1-A8B4A9077230}"/>
              </a:ext>
            </a:extLst>
          </p:cNvPr>
          <p:cNvSpPr/>
          <p:nvPr/>
        </p:nvSpPr>
        <p:spPr>
          <a:xfrm>
            <a:off x="6615382" y="2577190"/>
            <a:ext cx="822960" cy="770709"/>
          </a:xfrm>
          <a:prstGeom prst="ellipse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2919AF81-02F2-8E91-1041-A30E89E42942}"/>
              </a:ext>
            </a:extLst>
          </p:cNvPr>
          <p:cNvSpPr/>
          <p:nvPr/>
        </p:nvSpPr>
        <p:spPr>
          <a:xfrm>
            <a:off x="7413671" y="5485582"/>
            <a:ext cx="822960" cy="770709"/>
          </a:xfrm>
          <a:prstGeom prst="ellipse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075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Approach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C33375-88C4-6215-2E31-90872F654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 2 Adjacent vertices A, B  -&gt;  d(A) is small, d(B) is larger 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d(A) is small enough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735BAB-9159-4E09-1A47-AFF230FB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984" y="3403832"/>
            <a:ext cx="9611933" cy="841332"/>
          </a:xfrm>
          <a:prstGeom prst="rect">
            <a:avLst/>
          </a:prstGeom>
        </p:spPr>
      </p:pic>
      <p:pic>
        <p:nvPicPr>
          <p:cNvPr id="7" name="內容版面配置區 8">
            <a:extLst>
              <a:ext uri="{FF2B5EF4-FFF2-40B4-BE49-F238E27FC236}">
                <a16:creationId xmlns:a16="http://schemas.microsoft.com/office/drawing/2014/main" id="{BB59DAAB-D10C-BB9B-44EF-DBC92F060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984" y="4842204"/>
            <a:ext cx="8235894" cy="75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87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zh-TW" altLang="en-US" sz="48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076A472-7584-DAE0-3878-D6D88A5C6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806" y="186030"/>
            <a:ext cx="7664388" cy="6535445"/>
          </a:xfrm>
        </p:spPr>
      </p:pic>
    </p:spTree>
    <p:extLst>
      <p:ext uri="{BB962C8B-B14F-4D97-AF65-F5344CB8AC3E}">
        <p14:creationId xmlns:p14="http://schemas.microsoft.com/office/powerpoint/2010/main" val="1726069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zh-TW" altLang="en-US" sz="48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DD48FF04-CF72-6406-B0D6-036449314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26" y="365125"/>
            <a:ext cx="8550574" cy="1699410"/>
          </a:xfr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051CAB1C-979F-4A99-F051-A47F7A80F517}"/>
              </a:ext>
            </a:extLst>
          </p:cNvPr>
          <p:cNvSpPr/>
          <p:nvPr/>
        </p:nvSpPr>
        <p:spPr>
          <a:xfrm>
            <a:off x="4480468" y="2981655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BB4BCCC-A6AB-33D2-4E6D-5AD6CA84B6B2}"/>
              </a:ext>
            </a:extLst>
          </p:cNvPr>
          <p:cNvSpPr/>
          <p:nvPr/>
        </p:nvSpPr>
        <p:spPr>
          <a:xfrm>
            <a:off x="3752500" y="4681252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B5E0F97-71BA-F3E5-129C-5B05A8C74BD6}"/>
              </a:ext>
            </a:extLst>
          </p:cNvPr>
          <p:cNvSpPr/>
          <p:nvPr/>
        </p:nvSpPr>
        <p:spPr>
          <a:xfrm>
            <a:off x="5164048" y="4083253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1C47968-6FD7-A5E0-DAF2-A34132CCCEE4}"/>
              </a:ext>
            </a:extLst>
          </p:cNvPr>
          <p:cNvSpPr/>
          <p:nvPr/>
        </p:nvSpPr>
        <p:spPr>
          <a:xfrm>
            <a:off x="7406936" y="2849732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5EE7D9A-01D3-DC25-C5B8-0D46549D90F0}"/>
              </a:ext>
            </a:extLst>
          </p:cNvPr>
          <p:cNvSpPr/>
          <p:nvPr/>
        </p:nvSpPr>
        <p:spPr>
          <a:xfrm>
            <a:off x="8220520" y="3855335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3047F10-EBC0-614A-AD93-3928A1C0CD32}"/>
              </a:ext>
            </a:extLst>
          </p:cNvPr>
          <p:cNvSpPr/>
          <p:nvPr/>
        </p:nvSpPr>
        <p:spPr>
          <a:xfrm>
            <a:off x="6350494" y="3668412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F39AA37-BD1B-7773-6752-3178FBA9814E}"/>
              </a:ext>
            </a:extLst>
          </p:cNvPr>
          <p:cNvSpPr/>
          <p:nvPr/>
        </p:nvSpPr>
        <p:spPr>
          <a:xfrm>
            <a:off x="7165758" y="4965576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E1236B15-04F6-AB90-C193-9ECA9ADCB578}"/>
              </a:ext>
            </a:extLst>
          </p:cNvPr>
          <p:cNvCxnSpPr>
            <a:cxnSpLocks/>
          </p:cNvCxnSpPr>
          <p:nvPr/>
        </p:nvCxnSpPr>
        <p:spPr>
          <a:xfrm flipH="1">
            <a:off x="4297179" y="3745902"/>
            <a:ext cx="320001" cy="9171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17CA151-196F-58BD-1722-B17DCE0127F7}"/>
              </a:ext>
            </a:extLst>
          </p:cNvPr>
          <p:cNvCxnSpPr>
            <a:cxnSpLocks/>
          </p:cNvCxnSpPr>
          <p:nvPr/>
        </p:nvCxnSpPr>
        <p:spPr>
          <a:xfrm flipH="1">
            <a:off x="4449579" y="4565548"/>
            <a:ext cx="670467" cy="24987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4E39D7D6-481B-7FBC-CF9D-EA363C761C91}"/>
              </a:ext>
            </a:extLst>
          </p:cNvPr>
          <p:cNvCxnSpPr>
            <a:cxnSpLocks/>
          </p:cNvCxnSpPr>
          <p:nvPr/>
        </p:nvCxnSpPr>
        <p:spPr>
          <a:xfrm>
            <a:off x="5045573" y="3694473"/>
            <a:ext cx="329659" cy="38878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A3D66173-9740-B228-F87C-7A3C59441692}"/>
              </a:ext>
            </a:extLst>
          </p:cNvPr>
          <p:cNvCxnSpPr>
            <a:cxnSpLocks/>
          </p:cNvCxnSpPr>
          <p:nvPr/>
        </p:nvCxnSpPr>
        <p:spPr>
          <a:xfrm flipH="1">
            <a:off x="7536940" y="3648428"/>
            <a:ext cx="160000" cy="12520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BE09DCA5-A577-74AB-7839-50BB8EEBE37A}"/>
              </a:ext>
            </a:extLst>
          </p:cNvPr>
          <p:cNvCxnSpPr>
            <a:cxnSpLocks/>
          </p:cNvCxnSpPr>
          <p:nvPr/>
        </p:nvCxnSpPr>
        <p:spPr>
          <a:xfrm flipH="1">
            <a:off x="7879672" y="4524296"/>
            <a:ext cx="421688" cy="4585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DCADFEC8-0993-101C-C39D-35B1CFD68DEE}"/>
              </a:ext>
            </a:extLst>
          </p:cNvPr>
          <p:cNvCxnSpPr>
            <a:cxnSpLocks/>
          </p:cNvCxnSpPr>
          <p:nvPr/>
        </p:nvCxnSpPr>
        <p:spPr>
          <a:xfrm>
            <a:off x="6926978" y="4414566"/>
            <a:ext cx="289956" cy="4969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485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89BDEF67-0424-09E8-AB91-4082D78B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B8B15B73-9AE6-3D82-F338-1D01C5D86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035" y="285225"/>
            <a:ext cx="10051348" cy="2200523"/>
          </a:xfrm>
        </p:spPr>
      </p:pic>
      <p:sp>
        <p:nvSpPr>
          <p:cNvPr id="17" name="標題 16">
            <a:extLst>
              <a:ext uri="{FF2B5EF4-FFF2-40B4-BE49-F238E27FC236}">
                <a16:creationId xmlns:a16="http://schemas.microsoft.com/office/drawing/2014/main" id="{863C9AFB-11CB-1D96-4B7F-8B96CDAC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4C37D370-22B0-2A36-BCE2-81025899343B}"/>
              </a:ext>
            </a:extLst>
          </p:cNvPr>
          <p:cNvCxnSpPr/>
          <p:nvPr/>
        </p:nvCxnSpPr>
        <p:spPr>
          <a:xfrm>
            <a:off x="470517" y="2485748"/>
            <a:ext cx="562548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>
            <a:extLst>
              <a:ext uri="{FF2B5EF4-FFF2-40B4-BE49-F238E27FC236}">
                <a16:creationId xmlns:a16="http://schemas.microsoft.com/office/drawing/2014/main" id="{8276A7CE-F9E5-A806-B842-1683AC60AF33}"/>
              </a:ext>
            </a:extLst>
          </p:cNvPr>
          <p:cNvSpPr/>
          <p:nvPr/>
        </p:nvSpPr>
        <p:spPr>
          <a:xfrm>
            <a:off x="5119661" y="4331164"/>
            <a:ext cx="683580" cy="7102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CE66C99-3B57-58D3-1281-E8AE7A12DD14}"/>
              </a:ext>
            </a:extLst>
          </p:cNvPr>
          <p:cNvSpPr/>
          <p:nvPr/>
        </p:nvSpPr>
        <p:spPr>
          <a:xfrm>
            <a:off x="4206741" y="5782662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61898F4-C66F-2113-031C-BAE3BD52CC4F}"/>
              </a:ext>
            </a:extLst>
          </p:cNvPr>
          <p:cNvSpPr/>
          <p:nvPr/>
        </p:nvSpPr>
        <p:spPr>
          <a:xfrm>
            <a:off x="4110770" y="3152194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6F4F0EA-8584-8973-D8C4-1AE733319AC3}"/>
              </a:ext>
            </a:extLst>
          </p:cNvPr>
          <p:cNvSpPr/>
          <p:nvPr/>
        </p:nvSpPr>
        <p:spPr>
          <a:xfrm>
            <a:off x="6695447" y="4344480"/>
            <a:ext cx="683580" cy="7102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DEFA2A8-4C41-BE48-F97B-9729746360B0}"/>
              </a:ext>
            </a:extLst>
          </p:cNvPr>
          <p:cNvCxnSpPr>
            <a:cxnSpLocks/>
          </p:cNvCxnSpPr>
          <p:nvPr/>
        </p:nvCxnSpPr>
        <p:spPr>
          <a:xfrm>
            <a:off x="4684429" y="3799677"/>
            <a:ext cx="435232" cy="58526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4839918-3CD2-AE44-E8E9-CEECAFBBAC4D}"/>
              </a:ext>
            </a:extLst>
          </p:cNvPr>
          <p:cNvCxnSpPr>
            <a:cxnSpLocks/>
          </p:cNvCxnSpPr>
          <p:nvPr/>
        </p:nvCxnSpPr>
        <p:spPr>
          <a:xfrm flipH="1">
            <a:off x="4847283" y="5041377"/>
            <a:ext cx="410258" cy="7950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EBDDCD3-F7A2-1891-E2AC-9C27B88A70AD}"/>
              </a:ext>
            </a:extLst>
          </p:cNvPr>
          <p:cNvCxnSpPr>
            <a:cxnSpLocks/>
          </p:cNvCxnSpPr>
          <p:nvPr/>
        </p:nvCxnSpPr>
        <p:spPr>
          <a:xfrm flipH="1" flipV="1">
            <a:off x="5935869" y="4656488"/>
            <a:ext cx="585520" cy="65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A7297DE-E6ED-C029-3CF5-420984C7869C}"/>
              </a:ext>
            </a:extLst>
          </p:cNvPr>
          <p:cNvSpPr txBox="1"/>
          <p:nvPr/>
        </p:nvSpPr>
        <p:spPr>
          <a:xfrm>
            <a:off x="6824172" y="4380501"/>
            <a:ext cx="681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8BB9B30-747D-4873-96E4-C557AD6E853E}"/>
              </a:ext>
            </a:extLst>
          </p:cNvPr>
          <p:cNvSpPr txBox="1"/>
          <p:nvPr/>
        </p:nvSpPr>
        <p:spPr>
          <a:xfrm>
            <a:off x="5250197" y="4401412"/>
            <a:ext cx="681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1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89BDEF67-0424-09E8-AB91-4082D78B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7" name="標題 16">
            <a:extLst>
              <a:ext uri="{FF2B5EF4-FFF2-40B4-BE49-F238E27FC236}">
                <a16:creationId xmlns:a16="http://schemas.microsoft.com/office/drawing/2014/main" id="{863C9AFB-11CB-1D96-4B7F-8B96CDAC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276A7CE-F9E5-A806-B842-1683AC60AF33}"/>
              </a:ext>
            </a:extLst>
          </p:cNvPr>
          <p:cNvSpPr/>
          <p:nvPr/>
        </p:nvSpPr>
        <p:spPr>
          <a:xfrm>
            <a:off x="2686754" y="5570272"/>
            <a:ext cx="683580" cy="7102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CE66C99-3B57-58D3-1281-E8AE7A12DD14}"/>
              </a:ext>
            </a:extLst>
          </p:cNvPr>
          <p:cNvSpPr/>
          <p:nvPr/>
        </p:nvSpPr>
        <p:spPr>
          <a:xfrm>
            <a:off x="1645413" y="4350661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61898F4-C66F-2113-031C-BAE3BD52CC4F}"/>
              </a:ext>
            </a:extLst>
          </p:cNvPr>
          <p:cNvSpPr/>
          <p:nvPr/>
        </p:nvSpPr>
        <p:spPr>
          <a:xfrm>
            <a:off x="3652198" y="4277694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DEFA2A8-4C41-BE48-F97B-9729746360B0}"/>
              </a:ext>
            </a:extLst>
          </p:cNvPr>
          <p:cNvCxnSpPr>
            <a:cxnSpLocks/>
          </p:cNvCxnSpPr>
          <p:nvPr/>
        </p:nvCxnSpPr>
        <p:spPr>
          <a:xfrm>
            <a:off x="2234383" y="5060874"/>
            <a:ext cx="435232" cy="58526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4839918-3CD2-AE44-E8E9-CEECAFBBAC4D}"/>
              </a:ext>
            </a:extLst>
          </p:cNvPr>
          <p:cNvCxnSpPr>
            <a:cxnSpLocks/>
          </p:cNvCxnSpPr>
          <p:nvPr/>
        </p:nvCxnSpPr>
        <p:spPr>
          <a:xfrm flipH="1">
            <a:off x="3433357" y="5035880"/>
            <a:ext cx="331021" cy="67879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EBDDCD3-F7A2-1891-E2AC-9C27B88A70AD}"/>
              </a:ext>
            </a:extLst>
          </p:cNvPr>
          <p:cNvCxnSpPr>
            <a:cxnSpLocks/>
          </p:cNvCxnSpPr>
          <p:nvPr/>
        </p:nvCxnSpPr>
        <p:spPr>
          <a:xfrm flipH="1">
            <a:off x="4210612" y="3515536"/>
            <a:ext cx="408052" cy="74347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A7297DE-E6ED-C029-3CF5-420984C7869C}"/>
              </a:ext>
            </a:extLst>
          </p:cNvPr>
          <p:cNvSpPr txBox="1"/>
          <p:nvPr/>
        </p:nvSpPr>
        <p:spPr>
          <a:xfrm>
            <a:off x="2798715" y="5587995"/>
            <a:ext cx="681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84A0256-E0FD-EA1D-2DD3-F224F337C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9" y="238866"/>
            <a:ext cx="10361325" cy="2238633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40119824-3D48-8B2C-FC03-8CD99EC42B9F}"/>
              </a:ext>
            </a:extLst>
          </p:cNvPr>
          <p:cNvSpPr/>
          <p:nvPr/>
        </p:nvSpPr>
        <p:spPr>
          <a:xfrm>
            <a:off x="502710" y="2946064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169CEE7D-A650-7094-82EF-46A539010C73}"/>
              </a:ext>
            </a:extLst>
          </p:cNvPr>
          <p:cNvSpPr/>
          <p:nvPr/>
        </p:nvSpPr>
        <p:spPr>
          <a:xfrm>
            <a:off x="4456488" y="2770807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71CBC5F-A75E-4498-164C-EE6E9ABACEC7}"/>
              </a:ext>
            </a:extLst>
          </p:cNvPr>
          <p:cNvCxnSpPr>
            <a:cxnSpLocks/>
          </p:cNvCxnSpPr>
          <p:nvPr/>
        </p:nvCxnSpPr>
        <p:spPr>
          <a:xfrm flipH="1">
            <a:off x="2483749" y="4722897"/>
            <a:ext cx="10895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136D3A5-E83D-755E-BA95-7008692B53A6}"/>
              </a:ext>
            </a:extLst>
          </p:cNvPr>
          <p:cNvCxnSpPr>
            <a:cxnSpLocks/>
          </p:cNvCxnSpPr>
          <p:nvPr/>
        </p:nvCxnSpPr>
        <p:spPr>
          <a:xfrm flipH="1" flipV="1">
            <a:off x="1133573" y="3680264"/>
            <a:ext cx="585520" cy="68650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C62D69F-5216-4EC1-1A97-4882BB48345C}"/>
              </a:ext>
            </a:extLst>
          </p:cNvPr>
          <p:cNvSpPr/>
          <p:nvPr/>
        </p:nvSpPr>
        <p:spPr>
          <a:xfrm>
            <a:off x="1024509" y="4140924"/>
            <a:ext cx="3952129" cy="2351951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F5D93102-2FB0-DDAB-09A6-D43DA171D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20541"/>
            <a:ext cx="5153490" cy="375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75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89BDEF67-0424-09E8-AB91-4082D78B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17" name="標題 16">
            <a:extLst>
              <a:ext uri="{FF2B5EF4-FFF2-40B4-BE49-F238E27FC236}">
                <a16:creationId xmlns:a16="http://schemas.microsoft.com/office/drawing/2014/main" id="{863C9AFB-11CB-1D96-4B7F-8B96CDAC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8276A7CE-F9E5-A806-B842-1683AC60AF33}"/>
              </a:ext>
            </a:extLst>
          </p:cNvPr>
          <p:cNvSpPr/>
          <p:nvPr/>
        </p:nvSpPr>
        <p:spPr>
          <a:xfrm>
            <a:off x="5119661" y="4331164"/>
            <a:ext cx="683580" cy="71021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ECE66C99-3B57-58D3-1281-E8AE7A12DD14}"/>
              </a:ext>
            </a:extLst>
          </p:cNvPr>
          <p:cNvSpPr/>
          <p:nvPr/>
        </p:nvSpPr>
        <p:spPr>
          <a:xfrm>
            <a:off x="4206741" y="5782662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61898F4-C66F-2113-031C-BAE3BD52CC4F}"/>
              </a:ext>
            </a:extLst>
          </p:cNvPr>
          <p:cNvSpPr/>
          <p:nvPr/>
        </p:nvSpPr>
        <p:spPr>
          <a:xfrm>
            <a:off x="4110770" y="3152194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6F4F0EA-8584-8973-D8C4-1AE733319AC3}"/>
              </a:ext>
            </a:extLst>
          </p:cNvPr>
          <p:cNvSpPr/>
          <p:nvPr/>
        </p:nvSpPr>
        <p:spPr>
          <a:xfrm>
            <a:off x="6677691" y="4338902"/>
            <a:ext cx="683580" cy="710213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DEFA2A8-4C41-BE48-F97B-9729746360B0}"/>
              </a:ext>
            </a:extLst>
          </p:cNvPr>
          <p:cNvCxnSpPr>
            <a:cxnSpLocks/>
          </p:cNvCxnSpPr>
          <p:nvPr/>
        </p:nvCxnSpPr>
        <p:spPr>
          <a:xfrm>
            <a:off x="4709362" y="3799677"/>
            <a:ext cx="435232" cy="58526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B4839918-3CD2-AE44-E8E9-CEECAFBBAC4D}"/>
              </a:ext>
            </a:extLst>
          </p:cNvPr>
          <p:cNvCxnSpPr>
            <a:cxnSpLocks/>
          </p:cNvCxnSpPr>
          <p:nvPr/>
        </p:nvCxnSpPr>
        <p:spPr>
          <a:xfrm flipH="1">
            <a:off x="4847283" y="5041377"/>
            <a:ext cx="410258" cy="7950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EBDDCD3-F7A2-1891-E2AC-9C27B88A70AD}"/>
              </a:ext>
            </a:extLst>
          </p:cNvPr>
          <p:cNvCxnSpPr>
            <a:cxnSpLocks/>
          </p:cNvCxnSpPr>
          <p:nvPr/>
        </p:nvCxnSpPr>
        <p:spPr>
          <a:xfrm flipH="1" flipV="1">
            <a:off x="5935869" y="4656488"/>
            <a:ext cx="585520" cy="65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A7297DE-E6ED-C029-3CF5-420984C7869C}"/>
              </a:ext>
            </a:extLst>
          </p:cNvPr>
          <p:cNvSpPr txBox="1"/>
          <p:nvPr/>
        </p:nvSpPr>
        <p:spPr>
          <a:xfrm>
            <a:off x="5252289" y="4383800"/>
            <a:ext cx="681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487F979-6F69-B065-3CA9-D4A32D7CC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49" y="274065"/>
            <a:ext cx="9257468" cy="1494995"/>
          </a:xfr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B2AF68C-F1D5-E5C1-6DB8-C11C4FD71FC1}"/>
              </a:ext>
            </a:extLst>
          </p:cNvPr>
          <p:cNvCxnSpPr>
            <a:cxnSpLocks/>
          </p:cNvCxnSpPr>
          <p:nvPr/>
        </p:nvCxnSpPr>
        <p:spPr>
          <a:xfrm flipV="1">
            <a:off x="3512950" y="3862407"/>
            <a:ext cx="639299" cy="93153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321E78B-ADF8-1991-164E-DDAE1D05AD68}"/>
              </a:ext>
            </a:extLst>
          </p:cNvPr>
          <p:cNvCxnSpPr>
            <a:cxnSpLocks/>
          </p:cNvCxnSpPr>
          <p:nvPr/>
        </p:nvCxnSpPr>
        <p:spPr>
          <a:xfrm>
            <a:off x="7525063" y="4645410"/>
            <a:ext cx="94147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58557EA-C488-F0F0-12C7-FB43F563D820}"/>
              </a:ext>
            </a:extLst>
          </p:cNvPr>
          <p:cNvCxnSpPr>
            <a:cxnSpLocks/>
          </p:cNvCxnSpPr>
          <p:nvPr/>
        </p:nvCxnSpPr>
        <p:spPr>
          <a:xfrm>
            <a:off x="3717017" y="5330875"/>
            <a:ext cx="435232" cy="58526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橢圓 13">
            <a:extLst>
              <a:ext uri="{FF2B5EF4-FFF2-40B4-BE49-F238E27FC236}">
                <a16:creationId xmlns:a16="http://schemas.microsoft.com/office/drawing/2014/main" id="{33BCABB3-7EAD-AF9B-E6AC-F6D62B36F6E6}"/>
              </a:ext>
            </a:extLst>
          </p:cNvPr>
          <p:cNvSpPr/>
          <p:nvPr/>
        </p:nvSpPr>
        <p:spPr>
          <a:xfrm>
            <a:off x="2977710" y="4813632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EC1A9389-EA8C-6AEA-856D-FB6F218A19F9}"/>
              </a:ext>
            </a:extLst>
          </p:cNvPr>
          <p:cNvSpPr/>
          <p:nvPr/>
        </p:nvSpPr>
        <p:spPr>
          <a:xfrm>
            <a:off x="8610600" y="4290303"/>
            <a:ext cx="683580" cy="7102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AE65D9C-3C2D-6765-2BFE-C33CFA326C65}"/>
              </a:ext>
            </a:extLst>
          </p:cNvPr>
          <p:cNvSpPr/>
          <p:nvPr/>
        </p:nvSpPr>
        <p:spPr>
          <a:xfrm>
            <a:off x="3934633" y="2958716"/>
            <a:ext cx="3952129" cy="3670451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7817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Improvement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C33375-88C4-6215-2E31-90872F654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1/3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0.296  (Polynomial space 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0.276  (Exponential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3153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Improvement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C33375-88C4-6215-2E31-90872F654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1/3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0.296  (Polynomial space 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0.276  (Exponential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8293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6FCF2-9C67-4E71-A2AE-11F3068C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Improvement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31A1BD-28A5-79E4-2399-958B7462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C33375-88C4-6215-2E31-90872F654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0"/>
            <a:ext cx="10515600" cy="4351338"/>
          </a:xfrm>
        </p:spPr>
        <p:txBody>
          <a:bodyPr/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Memorization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O(2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 &lt; 0.276  (Exponential</a:t>
            </a:r>
            <a:r>
              <a:rPr lang="en-US" altLang="zh-TW" dirty="0"/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26DC149-EE2C-DF21-9CC7-D0BE0286D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626" y="2968101"/>
            <a:ext cx="5029902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2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94B9074-FFE2-64E5-A801-528B60039244}"/>
              </a:ext>
            </a:extLst>
          </p:cNvPr>
          <p:cNvSpPr txBox="1"/>
          <p:nvPr/>
        </p:nvSpPr>
        <p:spPr>
          <a:xfrm>
            <a:off x="4500980" y="2228671"/>
            <a:ext cx="84160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Thanks</a:t>
            </a:r>
            <a:endParaRPr lang="zh-TW" altLang="en-US" sz="72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088EC-5D8D-9A95-DC6D-2DD90021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EC03B-316C-4507-8207-D997BB28EB64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90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3089</TotalTime>
  <Words>522</Words>
  <Application>Microsoft Office PowerPoint</Application>
  <PresentationFormat>寬螢幕</PresentationFormat>
  <Paragraphs>81</Paragraphs>
  <Slides>22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Google Sans</vt:lpstr>
      <vt:lpstr>Arial</vt:lpstr>
      <vt:lpstr>Calibri</vt:lpstr>
      <vt:lpstr>Calibri Light</vt:lpstr>
      <vt:lpstr>Times New Roman</vt:lpstr>
      <vt:lpstr>Office 佈景主題</vt:lpstr>
      <vt:lpstr>Algorithms for Maximum independent Sets </vt:lpstr>
      <vt:lpstr>ABSTRACT</vt:lpstr>
      <vt:lpstr>Independent Set </vt:lpstr>
      <vt:lpstr>Maximum Independent Set </vt:lpstr>
      <vt:lpstr>Independent Set &amp; Clique </vt:lpstr>
      <vt:lpstr>Notation</vt:lpstr>
      <vt:lpstr>Basic Recursive Structure</vt:lpstr>
      <vt:lpstr>Containing B</vt:lpstr>
      <vt:lpstr>Not Containing B</vt:lpstr>
      <vt:lpstr>Auxiliary Function ms2 </vt:lpstr>
      <vt:lpstr>Auxiliary Function ms2 </vt:lpstr>
      <vt:lpstr>PowerPoint 簡報</vt:lpstr>
      <vt:lpstr>Overall Approach</vt:lpstr>
      <vt:lpstr>PowerPoint 簡報</vt:lpstr>
      <vt:lpstr>PowerPoint 簡報</vt:lpstr>
      <vt:lpstr>PowerPoint 簡報</vt:lpstr>
      <vt:lpstr>PowerPoint 簡報</vt:lpstr>
      <vt:lpstr>PowerPoint 簡報</vt:lpstr>
      <vt:lpstr>Time Complexity Improvement</vt:lpstr>
      <vt:lpstr>Time Complexity Improvement</vt:lpstr>
      <vt:lpstr>Time Complexity Improvement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Prediction Based on Genetic Algorithm Feature Selection and Long Short-Term Memory Neural Network </dc:title>
  <dc:creator>楊景翔</dc:creator>
  <cp:lastModifiedBy>楊景翔</cp:lastModifiedBy>
  <cp:revision>20</cp:revision>
  <dcterms:created xsi:type="dcterms:W3CDTF">2023-09-05T08:57:34Z</dcterms:created>
  <dcterms:modified xsi:type="dcterms:W3CDTF">2024-01-01T16:11:27Z</dcterms:modified>
</cp:coreProperties>
</file>