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86" r:id="rId4"/>
    <p:sldId id="260" r:id="rId5"/>
    <p:sldId id="287" r:id="rId6"/>
    <p:sldId id="264" r:id="rId7"/>
    <p:sldId id="265" r:id="rId8"/>
    <p:sldId id="263" r:id="rId9"/>
    <p:sldId id="262" r:id="rId10"/>
    <p:sldId id="266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854"/>
    <p:restoredTop sz="95788"/>
  </p:normalViewPr>
  <p:slideViewPr>
    <p:cSldViewPr snapToGrid="0" snapToObjects="1">
      <p:cViewPr varScale="1">
        <p:scale>
          <a:sx n="129" d="100"/>
          <a:sy n="129" d="100"/>
        </p:scale>
        <p:origin x="4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685761-BC47-1640-B177-90544C5C7DE3}" type="datetimeFigureOut">
              <a:rPr kumimoji="1" lang="zh-TW" altLang="en-US" smtClean="0"/>
              <a:t>2024/3/5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DF88BA-E6E4-4543-BA48-BA0FF57EDFD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9180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8AFC48-3333-9D44-9A46-EBD28493A7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2FDEA52E-50C8-2B46-853E-68D8E0AC5B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按一下以編輯母片副標題樣式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9949C8A-F130-D646-AB33-6ACF0EC20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59227-5104-0D4E-AE2B-CFC6EF24DF26}" type="datetime1">
              <a:rPr kumimoji="1" lang="zh-TW" altLang="en-US" smtClean="0"/>
              <a:t>2024/3/5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450D42D-775A-2146-B8BB-C9CE9A382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61E502A-64F7-7C4E-B509-954BE6D3A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38DB-761D-074D-B0E1-4712B823367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25589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580369-97FF-B548-BB55-CB8DCE6B8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73028B2-5CCA-8C4B-A152-A6977DB014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2B847DA-2EF1-9E49-8F1B-E3D7D56E3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7B55EC-044C-AD45-985E-A0F6561D9028}" type="datetime1">
              <a:rPr kumimoji="1" lang="zh-TW" altLang="en-US" smtClean="0"/>
              <a:t>2024/3/5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F09B162-6F92-BD4C-A01A-413E3321E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6743639-9C98-CC43-9A7E-782735659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38DB-761D-074D-B0E1-4712B823367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96406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07A748-F79F-F346-8961-AA8DB1873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E6C14E7-8AB9-AE4F-8AB3-D0046CEF4C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7A4DA8E-2AC4-874C-948B-4FEBEEDEF6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E45051-DBAB-7C4D-ADA4-56271E2E2BD3}" type="datetime1">
              <a:rPr kumimoji="1" lang="zh-TW" altLang="en-US" smtClean="0"/>
              <a:t>2024/3/5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E82387-02E0-C34C-8788-958DE14FAF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04864AD-726D-904D-9686-9656A2465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38DB-761D-074D-B0E1-4712B823367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07744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51106A-DE42-B644-B664-A92563662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99A4BD2-86D7-EF4D-8B1D-D7A873433A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697BFE0C-75E1-374C-A1BE-B0F7AB5B11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A42632B-169D-B247-A46A-487B2CEEE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EF0564-7FFB-CA45-9BCE-B6282CFC5BC4}" type="datetime1">
              <a:rPr kumimoji="1" lang="zh-TW" altLang="en-US" smtClean="0"/>
              <a:t>2024/3/5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5B42995-7EC8-AD4B-B91A-DB5FDC937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5303DE2-E496-1F41-A7FE-CF2E2D9DD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38DB-761D-074D-B0E1-4712B823367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00202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83B446-AFD9-BC43-8D50-6C488C6FF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72EBCA2-C8A4-8C43-8427-BBA9B5959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A4AB07E-104F-1546-A76D-27C9172D20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EDA1436-7B7F-424E-BDF6-9B2679D978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EE7DA3D-69F7-CE40-B4D5-8558AC0D6B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204E6A0-241E-D240-ACC4-4197BB01A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6BB58-657F-9B42-8F63-CE29A2D5959E}" type="datetime1">
              <a:rPr kumimoji="1" lang="zh-TW" altLang="en-US" smtClean="0"/>
              <a:t>2024/3/5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3B801A1-AF0A-B84E-96F6-29CFB5435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600253E-5D94-6E45-8290-370C15F59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38DB-761D-074D-B0E1-4712B823367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87426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57E884-9D25-2945-A655-164A32436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6A303C2-B14E-C04F-B1CE-D8018834AF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FA12DD-F92E-F841-AEA2-DD2F0B8AC128}" type="datetime1">
              <a:rPr kumimoji="1" lang="zh-TW" altLang="en-US" smtClean="0"/>
              <a:t>2024/3/5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51ACB14-3C83-BF40-A08D-8B6551FEB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5C06E59-8A0C-3B42-90EE-5E614E092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38DB-761D-074D-B0E1-4712B823367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77431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DCB7FD22-44BD-D04C-B395-F3F22D97C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BAC9C-27AF-0445-AD50-816FC8B10FDD}" type="datetime1">
              <a:rPr kumimoji="1" lang="zh-TW" altLang="en-US" smtClean="0"/>
              <a:t>2024/3/5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444FE38-2187-8248-97D1-6F5606FAB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5EF3BE3-3845-844D-A07F-F27C144C5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38DB-761D-074D-B0E1-4712B823367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140094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B493A6-EA88-8A46-9A8B-F872E6DC3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704C30A-146C-C947-844C-AAE8B3BE79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6B48693-0DB2-B84A-9B17-AABB613BF7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B4F527B-2D7C-E546-8E6E-59F97AC0B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B5826-6582-C149-8E57-B0E656F33930}" type="datetime1">
              <a:rPr kumimoji="1" lang="zh-TW" altLang="en-US" smtClean="0"/>
              <a:t>2024/3/5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BCBFEFC-0A9F-9B4C-A6C0-4A2E0277A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794B559-2406-764E-A4B9-D824C5231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38DB-761D-074D-B0E1-4712B823367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99344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FE627F2-C5A6-0D4A-B798-19DCE18B4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80398C8-8B1E-B547-A326-BD1E129C8D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07516E8-147F-294D-8085-25893538C3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D3358FF-DC99-1441-8DAF-FDDE3326F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E1583-6ED2-5448-8362-DC2E2DF96F6E}" type="datetime1">
              <a:rPr kumimoji="1" lang="zh-TW" altLang="en-US" smtClean="0"/>
              <a:t>2024/3/5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CCD27CE-99AA-6E4E-9DBE-E31E2907AD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55623A4-40DB-5648-A636-5C55E052F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38DB-761D-074D-B0E1-4712B823367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29642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94E152E-7F75-8942-9848-51F47CBDB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3B8AA00-30B6-A94A-B2F0-94FCA9255E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95A9F1C-7E4C-884D-9A90-EDF2A6DBD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B91D62-DF39-2B4A-9C96-DAA8DA866A30}" type="datetime1">
              <a:rPr kumimoji="1" lang="zh-TW" altLang="en-US" smtClean="0"/>
              <a:t>2024/3/5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F12E854-2582-9F4E-8CFD-4D7ED3138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E4CB08D-2F0B-CA45-8F57-E6B71AE46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38DB-761D-074D-B0E1-4712B823367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25235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標題 1">
            <a:extLst>
              <a:ext uri="{FF2B5EF4-FFF2-40B4-BE49-F238E27FC236}">
                <a16:creationId xmlns:a16="http://schemas.microsoft.com/office/drawing/2014/main" id="{9E14D04E-8318-224B-9272-AC5E0B731C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7D28947-C772-8143-9FC4-F0D4A51E24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6C72D5E-B0ED-5047-A7FA-B2E657286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AF8DB-CCF4-7A48-8850-2685985A08ED}" type="datetime1">
              <a:rPr kumimoji="1" lang="zh-TW" altLang="en-US" smtClean="0"/>
              <a:t>2024/3/5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4FA687B-D6E8-124C-B1FC-998BBF54F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2D20F1B-4E62-4C4C-82A7-85B530490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3438DB-761D-074D-B0E1-4712B823367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61686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D05A8D0E-8330-F341-A098-517F99E9B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E117BF3-AF8D-E34D-9885-6A7A5C8DB2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A2835D4-A14D-3A48-918A-80F589AD20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06BF9D-945A-9644-8C98-6072299715AD}" type="datetime1">
              <a:rPr kumimoji="1" lang="zh-TW" altLang="en-US" smtClean="0"/>
              <a:t>2024/3/5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74DF0F1-03B3-874C-95C1-565A03256B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1932831-0323-6F4F-B891-00A63D5522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3438DB-761D-074D-B0E1-4712B8233672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99926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5F607E-C288-1D47-8A1C-E7C69ED95B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Expertise Increases Planning Depth in Human Gameplay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435B96C-9974-DE4C-8462-F823C1E225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961024"/>
          </a:xfrm>
        </p:spPr>
        <p:txBody>
          <a:bodyPr/>
          <a:lstStyle/>
          <a:p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 van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Opheusden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Ionatan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Kuperwajs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Gianni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Galbiati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Zahy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Bnaya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Yunqi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Li, and Wei Ji Ma,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Nature, 2023.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2A5DE4-40CC-5144-89F0-861870F17BD1}"/>
              </a:ext>
            </a:extLst>
          </p:cNvPr>
          <p:cNvSpPr txBox="1"/>
          <p:nvPr/>
        </p:nvSpPr>
        <p:spPr>
          <a:xfrm>
            <a:off x="9043219" y="5563062"/>
            <a:ext cx="23523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Yu-Yen Chu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Mar. 5, 2024</a:t>
            </a:r>
          </a:p>
        </p:txBody>
      </p:sp>
    </p:spTree>
    <p:extLst>
      <p:ext uri="{BB962C8B-B14F-4D97-AF65-F5344CB8AC3E}">
        <p14:creationId xmlns:p14="http://schemas.microsoft.com/office/powerpoint/2010/main" val="694280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4FA511-33BF-D547-842C-C50092A62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DBA7692-A0C6-5C4A-A230-F72A3B531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hallmark of human intelligence is the ability to plan multiple steps into the future. Despite decades of research, it is still debated whether skilled decision-makers plan more steps ahead than novices. Traditionally, the study of expertise in planning has used board games such as chess, but the complexity of these games poses a barrier to quantitative estimates of planning depth. Conversely, common planning tasks in cognitive science often have a lower complexity and impose a ceiling for the depth to which any player can plan. Here we investigate expertise in a complex board game that offers ample opportunity for skilled players to plan deeply.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45F7FAE-828A-9645-AE74-3EB42F8A9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5454" y="6176963"/>
            <a:ext cx="2743200" cy="365125"/>
          </a:xfrm>
        </p:spPr>
        <p:txBody>
          <a:bodyPr/>
          <a:lstStyle/>
          <a:p>
            <a:fld id="{4D3438DB-761D-074D-B0E1-4712B8233672}" type="slidenum">
              <a:rPr kumimoji="1" lang="zh-TW" altLang="en-US" sz="2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kumimoji="1" lang="zh-TW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111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4FA511-33BF-D547-842C-C50092A62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(Cont.)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DBA7692-A0C6-5C4A-A230-F72A3B531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432774" cy="4351338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 model fitting methods to show that human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captured using a computational cognitive model based on heuristic search. To validate this model, we predict human choices, response times and eye movements. We also perform a Turing test and a reconstruction experiment. Using the model, we find robust evidence for increased planning depth with expertise in both laboratory and large-scale mobile data. Experts memorize and reconstruct board features more accurately. Using complex tasks combined with precise </a:t>
            </a:r>
            <a:r>
              <a:rPr kumimoji="1" lang="en-US" altLang="zh-TW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behavioural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modelling might expand our understanding of human planning and help to bridge the gap with progress in artificial intelligence.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45F7FAE-828A-9645-AE74-3EB42F8A9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5454" y="6176963"/>
            <a:ext cx="2743200" cy="365125"/>
          </a:xfrm>
        </p:spPr>
        <p:txBody>
          <a:bodyPr/>
          <a:lstStyle/>
          <a:p>
            <a:fld id="{4D3438DB-761D-074D-B0E1-4712B8233672}" type="slidenum">
              <a:rPr kumimoji="1" lang="zh-TW" altLang="en-US" sz="2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kumimoji="1" lang="zh-TW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02008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8861ECAB-0359-024B-9B5A-E8E5E7FB8E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085" y="3376442"/>
            <a:ext cx="7391402" cy="3481558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9C4FA511-33BF-D547-842C-C50092A62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Four-in-a-row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DBA7692-A0C6-5C4A-A230-F72A3B531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11353801" cy="4351338"/>
          </a:xfrm>
        </p:spPr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Goal: get 4 pieces with same color horizontally, vertically, or diagonally.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x 9 board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 and white place pieces alternatively on the board, one piece at once.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pPr lvl="1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 two-in-a-row</a:t>
            </a:r>
          </a:p>
          <a:p>
            <a:pPr lvl="1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Unconnected two-in-a-row</a:t>
            </a:r>
          </a:p>
          <a:p>
            <a:pPr lvl="1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Three-in-a-row</a:t>
            </a:r>
          </a:p>
          <a:p>
            <a:pPr lvl="1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Four-in-a-row</a:t>
            </a:r>
          </a:p>
          <a:p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45F7FAE-828A-9645-AE74-3EB42F8A9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5454" y="6176963"/>
            <a:ext cx="2743200" cy="365125"/>
          </a:xfrm>
        </p:spPr>
        <p:txBody>
          <a:bodyPr/>
          <a:lstStyle/>
          <a:p>
            <a:fld id="{4D3438DB-761D-074D-B0E1-4712B8233672}" type="slidenum">
              <a:rPr kumimoji="1" lang="zh-TW" altLang="en-US" sz="2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kumimoji="1" lang="zh-TW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7489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4FA511-33BF-D547-842C-C50092A62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Model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DBA7692-A0C6-5C4A-A230-F72A3B531FB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8114" y="1620078"/>
                <a:ext cx="11883888" cy="5237920"/>
              </a:xfrm>
            </p:spPr>
            <p:txBody>
              <a:bodyPr>
                <a:normAutofit fontScale="92500"/>
              </a:bodyPr>
              <a:lstStyle/>
              <a:p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Explore a decision tree with Best First Search. (Minimax rule)</a:t>
                </a:r>
              </a:p>
              <a:p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Heuristic function: maps a board state to a value estimation, which uses weighted linear combinations of board features.</a:t>
                </a:r>
              </a:p>
              <a:p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Value function: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𝑉</m:t>
                        </m:r>
                      </m:e>
                      <m:sub>
                        <m:r>
                          <a:rPr kumimoji="1"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sub>
                    </m:sSub>
                    <m:d>
                      <m:dPr>
                        <m:ctrlPr>
                          <a:rPr kumimoji="1"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kumimoji="1"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</m:d>
                    <m:r>
                      <a:rPr kumimoji="1"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kumimoji="1"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𝑏𝑙𝑎𝑐𝑘</m:t>
                        </m:r>
                      </m:sub>
                    </m:sSub>
                    <m:r>
                      <a:rPr kumimoji="1"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∗</m:t>
                    </m:r>
                    <m:nary>
                      <m:naryPr>
                        <m:chr m:val="∑"/>
                        <m:limLoc m:val="subSup"/>
                        <m:ctrlPr>
                          <a:rPr kumimoji="1"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kumimoji="1"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kumimoji="1"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d>
                          <m:dPr>
                            <m:begChr m:val="|"/>
                            <m:endChr m:val="|"/>
                            <m:ctrlPr>
                              <a:rPr kumimoji="1"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</m:d>
                      </m:sup>
                      <m:e>
                        <m:sSub>
                          <m:sSubPr>
                            <m:ctrlPr>
                              <a:rPr kumimoji="1"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1"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kumimoji="1"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kumimoji="1"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  <m:r>
                              <a:rPr kumimoji="1"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 </m:t>
                            </m:r>
                            <m:r>
                              <a:rPr kumimoji="1"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𝑏𝑙𝑎𝑐𝑘</m:t>
                            </m:r>
                          </m:e>
                        </m:d>
                      </m:e>
                    </m:nary>
                    <m:r>
                      <a:rPr kumimoji="1"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kumimoji="1"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kumimoji="1"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𝑤h𝑖𝑡𝑒</m:t>
                        </m:r>
                      </m:sub>
                    </m:sSub>
                    <m:r>
                      <a:rPr kumimoji="1"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∗</m:t>
                    </m:r>
                    <m:nary>
                      <m:naryPr>
                        <m:chr m:val="∑"/>
                        <m:limLoc m:val="subSup"/>
                        <m:ctrlPr>
                          <a:rPr kumimoji="1"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kumimoji="1"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kumimoji="1"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=1</m:t>
                        </m:r>
                      </m:sub>
                      <m:sup>
                        <m:d>
                          <m:dPr>
                            <m:begChr m:val="|"/>
                            <m:endChr m:val="|"/>
                            <m:ctrlPr>
                              <a:rPr kumimoji="1"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</m:d>
                      </m:sup>
                      <m:e>
                        <m:sSub>
                          <m:sSubPr>
                            <m:ctrlPr>
                              <a:rPr kumimoji="1"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1"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kumimoji="1"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</m:sub>
                        </m:sSub>
                        <m:d>
                          <m:dPr>
                            <m:ctrlPr>
                              <a:rPr kumimoji="1"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  <m:r>
                              <a:rPr kumimoji="1"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 </m:t>
                            </m:r>
                            <m:r>
                              <a:rPr kumimoji="1" lang="en-US" altLang="zh-TW" sz="24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𝑤h𝑖𝑡𝑒</m:t>
                            </m:r>
                          </m:e>
                        </m:d>
                      </m:e>
                    </m:nary>
                  </m:oMath>
                </a14:m>
                <a:endParaRPr kumimoji="1" lang="en-US" altLang="zh-TW" sz="2400" i="1" dirty="0">
                  <a:latin typeface="Cambria Math" panose="020405030504060302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TW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 </m:t>
                      </m:r>
                      <m:sSub>
                        <m:sSubPr>
                          <m:ctrlPr>
                            <a:rPr kumimoji="1"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kumimoji="1"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𝑐𝑒𝑛𝑡𝑟𝑒</m:t>
                          </m:r>
                        </m:sub>
                      </m:sSub>
                      <m:r>
                        <a:rPr kumimoji="1" lang="en-US" altLang="zh-TW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∗</m:t>
                      </m:r>
                      <m:sSub>
                        <m:sSubPr>
                          <m:ctrlPr>
                            <a:rPr kumimoji="1"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𝑉</m:t>
                          </m:r>
                        </m:e>
                        <m:sub>
                          <m:r>
                            <a:rPr kumimoji="1"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𝑐𝑒𝑛𝑡𝑟𝑒</m:t>
                          </m:r>
                        </m:sub>
                      </m:sSub>
                      <m:d>
                        <m:dPr>
                          <m:ctrlPr>
                            <a:rPr kumimoji="1"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kumimoji="1" lang="en-US" altLang="zh-TW" sz="24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e>
                      </m:d>
                      <m:r>
                        <a:rPr kumimoji="1" lang="en-US" altLang="zh-TW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kumimoji="1" lang="en-US" altLang="zh-TW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𝑁</m:t>
                      </m:r>
                      <m:r>
                        <a:rPr kumimoji="1" lang="en-US" altLang="zh-TW" sz="2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(0,1)</m:t>
                      </m:r>
                    </m:oMath>
                  </m:oMathPara>
                </a14:m>
                <a:endParaRPr kumimoji="1"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kumimoji="1"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the set of all features </a:t>
                </a:r>
                <a:r>
                  <a:rPr kumimoji="1"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kumimoji="1" lang="en-US" altLang="zh-TW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1"/>
                <a:r>
                  <a:rPr kumimoji="1"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kumimoji="1" lang="en-US" altLang="zh-TW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feature </a:t>
                </a:r>
                <a:r>
                  <a:rPr kumimoji="1"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 binary function, returns 1 if corresponding feature exists, 0 otherwise.</a:t>
                </a:r>
              </a:p>
              <a:p>
                <a:pPr lvl="1"/>
                <a:r>
                  <a:rPr kumimoji="1"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kumimoji="1" lang="en-US" altLang="zh-TW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weight </a:t>
                </a:r>
                <a:r>
                  <a:rPr kumimoji="1"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associates to </a:t>
                </a:r>
                <a:r>
                  <a:rPr kumimoji="1"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kumimoji="1" lang="en-US" altLang="zh-TW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endParaRPr kumimoji="1"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kumimoji="1"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kumimoji="1" lang="en-US" altLang="zh-TW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black</a:t>
                </a:r>
                <a:r>
                  <a:rPr kumimoji="1" lang="en-US" altLang="zh-TW" i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/white</a:t>
                </a: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:r>
                  <a:rPr kumimoji="1"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kumimoji="1" lang="en-US" altLang="zh-TW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black</a:t>
                </a:r>
                <a:r>
                  <a:rPr kumimoji="1"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C</a:t>
                </a: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:r>
                  <a:rPr kumimoji="1"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kumimoji="1" lang="en-US" altLang="zh-TW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white</a:t>
                </a: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 when black’s turn; </a:t>
                </a:r>
                <a:r>
                  <a:rPr kumimoji="1"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kumimoji="1" lang="en-US" altLang="zh-TW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black</a:t>
                </a:r>
                <a:r>
                  <a:rPr kumimoji="1"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 and </a:t>
                </a:r>
                <a:r>
                  <a:rPr kumimoji="1"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kumimoji="1" lang="en-US" altLang="zh-TW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white</a:t>
                </a: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kumimoji="1"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when white’s turn.</a:t>
                </a:r>
              </a:p>
              <a:p>
                <a:pPr lvl="1"/>
                <a:r>
                  <a:rPr kumimoji="1"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kumimoji="1" lang="en-US" altLang="zh-TW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centre</a:t>
                </a: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</a:t>
                </a:r>
                <a:r>
                  <a:rPr kumimoji="1"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 value function of </a:t>
                </a:r>
                <a:r>
                  <a:rPr kumimoji="1"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centre</a:t>
                </a: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kumimoji="1"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kumimoji="1"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kumimoji="1"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kumimoji="1"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∈</m:t>
                        </m:r>
                        <m:r>
                          <a:rPr kumimoji="1"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𝑃𝑖𝑒𝑐𝑒𝑠</m:t>
                        </m:r>
                        <m:r>
                          <a:rPr kumimoji="1"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kumimoji="1"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kumimoji="1"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kumimoji="1"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𝑏𝑙𝑎𝑐𝑘</m:t>
                        </m:r>
                        <m:r>
                          <a:rPr kumimoji="1"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sub>
                      <m:sup/>
                      <m:e>
                        <m:f>
                          <m:fPr>
                            <m:ctrlPr>
                              <a:rPr kumimoji="1"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|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kumimoji="1"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kumimoji="1"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1" lang="en-US" altLang="zh-TW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TW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zh-TW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𝑐𝑒𝑛𝑡𝑟𝑒</m:t>
                                    </m:r>
                                  </m:sub>
                                </m:sSub>
                              </m:e>
                            </m:d>
                            <m:r>
                              <a:rPr kumimoji="1"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|</m:t>
                            </m:r>
                          </m:den>
                        </m:f>
                      </m:e>
                    </m:nary>
                    <m:r>
                      <a:rPr kumimoji="1" lang="en-US" altLang="zh-TW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kumimoji="1"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kumimoji="1" lang="en-US" altLang="zh-TW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kumimoji="1"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∈</m:t>
                        </m:r>
                        <m:r>
                          <a:rPr kumimoji="1"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𝑃𝑖𝑒𝑐𝑒𝑠</m:t>
                        </m:r>
                        <m:r>
                          <a:rPr kumimoji="1"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kumimoji="1"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  <m:r>
                          <a:rPr kumimoji="1"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kumimoji="1"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𝑤h𝑖𝑡𝑒</m:t>
                        </m:r>
                        <m:r>
                          <a:rPr kumimoji="1"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</m:sub>
                      <m:sup/>
                      <m:e>
                        <m:f>
                          <m:fPr>
                            <m:ctrlPr>
                              <a:rPr kumimoji="1"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kumimoji="1"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|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kumimoji="1"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kumimoji="1" lang="en-US" altLang="zh-TW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kumimoji="1" lang="en-US" altLang="zh-TW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zh-TW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zh-TW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𝑐𝑒𝑛𝑡𝑟𝑒</m:t>
                                    </m:r>
                                  </m:sub>
                                </m:sSub>
                              </m:e>
                            </m:d>
                            <m:r>
                              <a:rPr kumimoji="1" lang="en-US" altLang="zh-TW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|</m:t>
                            </m:r>
                          </m:den>
                        </m:f>
                      </m:e>
                    </m:nary>
                  </m:oMath>
                </a14:m>
                <a:endParaRPr kumimoji="1"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lvl="1" indent="0">
                  <a:buNone/>
                </a:pP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Pieces(</a:t>
                </a:r>
                <a:r>
                  <a:rPr kumimoji="1"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kumimoji="1"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kumimoji="1"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black</a:t>
                </a: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): denotes all locations of black pieces at state s;    </a:t>
                </a:r>
                <a:r>
                  <a:rPr kumimoji="1"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kumimoji="1" lang="en-US" altLang="zh-TW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centre</a:t>
                </a: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coordinate of </a:t>
                </a:r>
                <a:r>
                  <a:rPr kumimoji="1"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centre</a:t>
                </a: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1"/>
                <a:r>
                  <a:rPr kumimoji="1" lang="en-US" altLang="zh-TW" i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kumimoji="1" lang="en-US" altLang="zh-TW" i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centre</a:t>
                </a: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weight of </a:t>
                </a:r>
                <a:r>
                  <a:rPr kumimoji="1"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centre</a:t>
                </a: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1"/>
                <a:r>
                  <a:rPr kumimoji="1" lang="en-US" altLang="zh-TW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</a:t>
                </a: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(0,1): </a:t>
                </a:r>
                <a:r>
                  <a:rPr kumimoji="1" lang="en-US" altLang="zh-TW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Gaussion</a:t>
                </a:r>
                <a:r>
                  <a:rPr kumimoji="1"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noise.</a:t>
                </a: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FDBA7692-A0C6-5C4A-A230-F72A3B531FB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8114" y="1620078"/>
                <a:ext cx="11883888" cy="5237920"/>
              </a:xfrm>
              <a:blipFill>
                <a:blip r:embed="rId2"/>
                <a:stretch>
                  <a:fillRect l="-855" t="-1695" b="-9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45F7FAE-828A-9645-AE74-3EB42F8A9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5454" y="6176963"/>
            <a:ext cx="2743200" cy="365125"/>
          </a:xfrm>
        </p:spPr>
        <p:txBody>
          <a:bodyPr/>
          <a:lstStyle/>
          <a:p>
            <a:fld id="{4D3438DB-761D-074D-B0E1-4712B8233672}" type="slidenum">
              <a:rPr kumimoji="1" lang="zh-TW" altLang="en-US" sz="2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kumimoji="1" lang="zh-TW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092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4FA511-33BF-D547-842C-C50092A62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 Model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DBA7692-A0C6-5C4A-A230-F72A3B531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Parameters</a:t>
            </a:r>
          </a:p>
          <a:p>
            <a:pPr lvl="1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Takes a random move with probability 𝜆.</a:t>
            </a:r>
          </a:p>
          <a:p>
            <a:pPr lvl="1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Drops each feature independently with probability 𝛿.</a:t>
            </a:r>
          </a:p>
          <a:p>
            <a:pPr lvl="1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 expanding a node with probability 𝛾.</a:t>
            </a:r>
          </a:p>
          <a:p>
            <a:pPr lvl="1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 expanding a new node if the difference of value between best candidate node and new node exceeds a threshold 𝜃.</a:t>
            </a:r>
          </a:p>
          <a:p>
            <a:pPr lvl="1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Constant </a:t>
            </a:r>
            <a:r>
              <a:rPr kumimoji="1" lang="en-US" altLang="zh-TW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1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Weight parameters.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fitting</a:t>
            </a:r>
          </a:p>
          <a:p>
            <a:pPr lvl="1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Data: 40 participants played against other human players with unlimited time.</a:t>
            </a:r>
          </a:p>
          <a:p>
            <a:pPr lvl="1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Log-likelihood with inverse binomial sampling.</a:t>
            </a:r>
          </a:p>
          <a:p>
            <a:pPr lvl="1"/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5-fold cross validation to reduce overfitting.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45F7FAE-828A-9645-AE74-3EB42F8A9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5454" y="6176963"/>
            <a:ext cx="2743200" cy="365125"/>
          </a:xfrm>
        </p:spPr>
        <p:txBody>
          <a:bodyPr/>
          <a:lstStyle/>
          <a:p>
            <a:fld id="{4D3438DB-761D-074D-B0E1-4712B8233672}" type="slidenum">
              <a:rPr kumimoji="1" lang="zh-TW" altLang="en-US" sz="2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kumimoji="1" lang="zh-TW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1303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4FA511-33BF-D547-842C-C50092A62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09" y="392077"/>
            <a:ext cx="3090886" cy="1325563"/>
          </a:xfrm>
        </p:spPr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Validation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45F7FAE-828A-9645-AE74-3EB42F8A9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5454" y="6176963"/>
            <a:ext cx="2743200" cy="365125"/>
          </a:xfrm>
        </p:spPr>
        <p:txBody>
          <a:bodyPr/>
          <a:lstStyle/>
          <a:p>
            <a:fld id="{4D3438DB-761D-074D-B0E1-4712B8233672}" type="slidenum">
              <a:rPr kumimoji="1" lang="zh-TW" altLang="en-US" sz="2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kumimoji="1" lang="zh-TW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6787B287-6FB9-474E-B8FA-7CD0D0992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4760842"/>
            <a:ext cx="6072809" cy="20971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Probability distribution predicts a human’s next move.</a:t>
            </a:r>
          </a:p>
          <a:p>
            <a:pPr marL="0" indent="0">
              <a:buNone/>
            </a:pP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Accuracy of predicting a human’s next move.</a:t>
            </a:r>
          </a:p>
          <a:p>
            <a:pPr marL="0" indent="0">
              <a:buNone/>
            </a:pP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Accuracy of predicting a human’s choice of 2AFC decisions.</a:t>
            </a:r>
          </a:p>
          <a:p>
            <a:pPr marL="0" indent="0">
              <a:buNone/>
            </a:pP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Correlation of predicted/observed human’s choice of 2AFC decisions.</a:t>
            </a:r>
          </a:p>
          <a:p>
            <a:pPr marL="0" indent="0">
              <a:buNone/>
            </a:pP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Predicted/Observed human’s respond time.</a:t>
            </a:r>
          </a:p>
          <a:p>
            <a:pPr marL="0" indent="0">
              <a:buNone/>
            </a:pP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f. Correlation of predicted/observed human’s respond time.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C9CEF0B5-FE5E-5640-ABF1-F9635385B1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0886" y="0"/>
            <a:ext cx="9101114" cy="4760842"/>
          </a:xfrm>
          <a:prstGeom prst="rect">
            <a:avLst/>
          </a:prstGeom>
        </p:spPr>
      </p:pic>
      <p:sp>
        <p:nvSpPr>
          <p:cNvPr id="11" name="內容版面配置區 7">
            <a:extLst>
              <a:ext uri="{FF2B5EF4-FFF2-40B4-BE49-F238E27FC236}">
                <a16:creationId xmlns:a16="http://schemas.microsoft.com/office/drawing/2014/main" id="{CE9A1C2A-791D-244F-B1D7-B64BF93DA853}"/>
              </a:ext>
            </a:extLst>
          </p:cNvPr>
          <p:cNvSpPr txBox="1">
            <a:spLocks/>
          </p:cNvSpPr>
          <p:nvPr/>
        </p:nvSpPr>
        <p:spPr>
          <a:xfrm>
            <a:off x="7197771" y="4760841"/>
            <a:ext cx="4994229" cy="1063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 Trajectory of eye movement.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h. Estimated distribution convolves trajectory with a filter.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Squares visited by search algorithm.</a:t>
            </a:r>
          </a:p>
        </p:txBody>
      </p:sp>
    </p:spTree>
    <p:extLst>
      <p:ext uri="{BB962C8B-B14F-4D97-AF65-F5344CB8AC3E}">
        <p14:creationId xmlns:p14="http://schemas.microsoft.com/office/powerpoint/2010/main" val="34179571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EC0310C1-0082-1541-AD59-4C6D99447ED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992"/>
          <a:stretch/>
        </p:blipFill>
        <p:spPr>
          <a:xfrm>
            <a:off x="894521" y="4001294"/>
            <a:ext cx="5448299" cy="2734171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9C4FA511-33BF-D547-842C-C50092A62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Turing Test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DBA7692-A0C6-5C4A-A230-F72A3B531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09243" cy="4351338"/>
          </a:xfrm>
        </p:spPr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human judge a series of move is played by 2 humans or 2 computers.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90 human-versus-human games and 90 computer-versus-computer games.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of moves(video length): 9.38.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Discrimination accuracy: 55.4%.</a:t>
            </a:r>
          </a:p>
          <a:p>
            <a:endParaRPr kumimoji="1"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45F7FAE-828A-9645-AE74-3EB42F8A9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5454" y="6176963"/>
            <a:ext cx="2743200" cy="365125"/>
          </a:xfrm>
        </p:spPr>
        <p:txBody>
          <a:bodyPr/>
          <a:lstStyle/>
          <a:p>
            <a:fld id="{4D3438DB-761D-074D-B0E1-4712B8233672}" type="slidenum">
              <a:rPr kumimoji="1" lang="zh-TW" altLang="en-US" sz="2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kumimoji="1" lang="zh-TW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14007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4FA511-33BF-D547-842C-C50092A62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 of Expertise on Planning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DBA7692-A0C6-5C4A-A230-F72A3B531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 participants played against computer for 5 sessions.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the performance of participants with 4 parameters.</a:t>
            </a:r>
          </a:p>
          <a:p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45F7FAE-828A-9645-AE74-3EB42F8A9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5454" y="6176963"/>
            <a:ext cx="2743200" cy="365125"/>
          </a:xfrm>
        </p:spPr>
        <p:txBody>
          <a:bodyPr/>
          <a:lstStyle/>
          <a:p>
            <a:fld id="{4D3438DB-761D-074D-B0E1-4712B8233672}" type="slidenum">
              <a:rPr kumimoji="1" lang="zh-TW" altLang="en-US" sz="2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kumimoji="1" lang="zh-TW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78EE48D-3F6E-8E4A-87B3-B4A5CC0354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6419" y="2882349"/>
            <a:ext cx="8325581" cy="3975652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CB0C58DB-A693-3845-A9EE-353365B4ABD0}"/>
              </a:ext>
            </a:extLst>
          </p:cNvPr>
          <p:cNvSpPr txBox="1"/>
          <p:nvPr/>
        </p:nvSpPr>
        <p:spPr>
          <a:xfrm>
            <a:off x="0" y="2943206"/>
            <a:ext cx="400546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Elo rating: a rating to measure relative skills in two-player games.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depth: the length of principal variation in the tree.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drop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Heuristic quality: correlation between heuristic and objective values.</a:t>
            </a:r>
          </a:p>
        </p:txBody>
      </p:sp>
    </p:spTree>
    <p:extLst>
      <p:ext uri="{BB962C8B-B14F-4D97-AF65-F5344CB8AC3E}">
        <p14:creationId xmlns:p14="http://schemas.microsoft.com/office/powerpoint/2010/main" val="30774418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4FA511-33BF-D547-842C-C50092A62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Effect of Expertise on Planning</a:t>
            </a:r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DBA7692-A0C6-5C4A-A230-F72A3B531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10454" cy="4351338"/>
          </a:xfrm>
        </p:spPr>
        <p:txBody>
          <a:bodyPr/>
          <a:lstStyle/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scale dataset from mobile app.</a:t>
            </a:r>
          </a:p>
          <a:p>
            <a:r>
              <a:rPr kumimoji="1"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1000 users who played at least 100 games are selected randomly.</a:t>
            </a:r>
          </a:p>
          <a:p>
            <a:endParaRPr kumimoji="1"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45F7FAE-828A-9645-AE74-3EB42F8A9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05454" y="6176963"/>
            <a:ext cx="2743200" cy="365125"/>
          </a:xfrm>
        </p:spPr>
        <p:txBody>
          <a:bodyPr/>
          <a:lstStyle/>
          <a:p>
            <a:fld id="{4D3438DB-761D-074D-B0E1-4712B8233672}" type="slidenum">
              <a:rPr kumimoji="1" lang="zh-TW" altLang="en-US" sz="2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kumimoji="1" lang="zh-TW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03E72B7-FF25-9447-832A-31484D61DC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5535" y="3092951"/>
            <a:ext cx="9100930" cy="2372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737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1320</TotalTime>
  <Words>791</Words>
  <Application>Microsoft Macintosh PowerPoint</Application>
  <PresentationFormat>寬螢幕</PresentationFormat>
  <Paragraphs>78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7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Expertise Increases Planning Depth in Human Gameplay</vt:lpstr>
      <vt:lpstr>Abstract</vt:lpstr>
      <vt:lpstr>Abstract (Cont.)</vt:lpstr>
      <vt:lpstr>Four-in-a-row</vt:lpstr>
      <vt:lpstr>Computational Model</vt:lpstr>
      <vt:lpstr>Computational Model</vt:lpstr>
      <vt:lpstr>Model Validation</vt:lpstr>
      <vt:lpstr>Turing Test</vt:lpstr>
      <vt:lpstr>Effect of Expertise on Planning</vt:lpstr>
      <vt:lpstr>Effect of Expertise on Planning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Microsoft Office 使用者</dc:creator>
  <cp:lastModifiedBy>Microsoft Office 使用者</cp:lastModifiedBy>
  <cp:revision>94</cp:revision>
  <dcterms:created xsi:type="dcterms:W3CDTF">2023-01-02T07:42:35Z</dcterms:created>
  <dcterms:modified xsi:type="dcterms:W3CDTF">2024-03-05T10:30:05Z</dcterms:modified>
</cp:coreProperties>
</file>