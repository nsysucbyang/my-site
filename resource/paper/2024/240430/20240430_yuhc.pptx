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335" r:id="rId4"/>
    <p:sldId id="336" r:id="rId5"/>
    <p:sldId id="258" r:id="rId6"/>
    <p:sldId id="346" r:id="rId7"/>
    <p:sldId id="345" r:id="rId8"/>
    <p:sldId id="344" r:id="rId9"/>
    <p:sldId id="349" r:id="rId10"/>
    <p:sldId id="347" r:id="rId11"/>
    <p:sldId id="351" r:id="rId12"/>
    <p:sldId id="348" r:id="rId13"/>
    <p:sldId id="352" r:id="rId14"/>
    <p:sldId id="353" r:id="rId15"/>
    <p:sldId id="350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295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FF00"/>
    <a:srgbClr val="F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3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53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920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34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379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55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85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420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208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00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676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70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974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518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783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46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04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023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6903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476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444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5916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6bd8716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e56bd8716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Given a string S of length n, an integer p ∈ [1..n] is a period of S if S[i] = S[i + p] for all i ∈ [1..n − p].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S[|S| − p + 1] =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893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Not Playing With a Full Deck?</a:t>
            </a:r>
            <a:endParaRPr lang="en-US"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-DE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M. Anderson, T. P. Schulze, and B. N. Wahl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Recreational Mathematics Magazine,(2024) 11(18), 51-64.</a:t>
            </a:r>
            <a:endParaRPr lang="pl-PL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standard deck of 52 playing cards has 4 suits: clubs (♣), spades (♠), hearts (♥) and diamonds (♦). Each suit has 13 denominations, or ranks, 2, 3, 4, 5, 6, 7, 8, 9, 10, J (Jack), Q (Queen), K (King) and A (Ace). But sometimes, a card goes missing – lost between the couch cushions, clothes-pinned in the bike spokes, filched by the cat, eaten by the dog (see Figure 1), or maybe misplaced in a matching deck. You may find yourself not playing with a full deck. Building a house of cards? No problem. Playing poker? Problem. Or is it? Ask yourself the following question: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9025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probability of being dealt a Two-Pair hand of five cards from a well-shuffled deck when the Ace of Spades is missing from the deck? Specifically, how does it compare to the probability of being dealt a Two-Pair hand from a standard 52-card deck?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262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your ‘probability intuition’ tell you? On the one hand, with a missing Ace of Spades there are fewer Two-Pair hands. On the other hand, there are also fewer total five-card hands. The ratio of these two numbers defines the probability; which way it goes seems unclear. Let’s do the calculation – first for the standard 52-card deck and then for the 51-card deck missing the Ace of Spades.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942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The Missing Card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5058F90-E773-44D8-BC80-6B1A24940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664" y="0"/>
            <a:ext cx="425126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Two-Pair Hands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2FC8EA-8812-457E-8145-7DAEF274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21" y="1083328"/>
            <a:ext cx="3086100" cy="7715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59130C-B4C2-4C17-AC75-0CEB3799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854853"/>
            <a:ext cx="4133850" cy="9525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11B6968-666C-4648-80F5-0326FD7B3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68" y="2807353"/>
            <a:ext cx="5172075" cy="933450"/>
          </a:xfrm>
          <a:prstGeom prst="rect">
            <a:avLst/>
          </a:prstGeom>
        </p:spPr>
      </p:pic>
      <p:pic>
        <p:nvPicPr>
          <p:cNvPr id="1026" name="Picture 2" descr="Two Pair: Poker Hand Ranking">
            <a:extLst>
              <a:ext uri="{FF2B5EF4-FFF2-40B4-BE49-F238E27FC236}">
                <a16:creationId xmlns:a16="http://schemas.microsoft.com/office/drawing/2014/main" id="{90C51CD9-B991-4790-A034-CE59DC05A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21" y="241657"/>
            <a:ext cx="4867275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38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Two-Pair Hands</a:t>
            </a:r>
            <a:endParaRPr lang="zh-TW" altLang="en-US" dirty="0"/>
          </a:p>
        </p:txBody>
      </p:sp>
      <p:pic>
        <p:nvPicPr>
          <p:cNvPr id="1026" name="Picture 2" descr="Two Pair: Poker Hand Ranking">
            <a:extLst>
              <a:ext uri="{FF2B5EF4-FFF2-40B4-BE49-F238E27FC236}">
                <a16:creationId xmlns:a16="http://schemas.microsoft.com/office/drawing/2014/main" id="{90C51CD9-B991-4790-A034-CE59DC05A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21" y="241657"/>
            <a:ext cx="4867275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8F16EDE-22E2-43D4-B7D8-4E9872050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13" y="1677661"/>
            <a:ext cx="6838950" cy="80962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48219F6-350F-465A-B263-8229C50248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551"/>
          <a:stretch/>
        </p:blipFill>
        <p:spPr>
          <a:xfrm>
            <a:off x="168826" y="2487286"/>
            <a:ext cx="7689299" cy="116169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C60A0AF-A699-4D93-A0B5-758C73A02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20" y="2891919"/>
            <a:ext cx="1285875" cy="35242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42844B0-1C2D-4042-82F8-EBCEDFE349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19" y="3816338"/>
            <a:ext cx="1762125" cy="55245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580DA46-3033-4B0F-A4B3-CD94C09F45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2130" y="3689741"/>
            <a:ext cx="39624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24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E100FB-080E-4BC9-97CB-9689A8FE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19997"/>
            <a:ext cx="9083488" cy="407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A3811C-6314-4475-A441-34097891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2" y="261665"/>
            <a:ext cx="8457696" cy="44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34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Magic Set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7F9B31-7F9F-4F44-9CA9-1A8A959C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5" y="1221441"/>
            <a:ext cx="7600950" cy="18669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3552F2D-80AA-4F77-A7FF-061269D62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95" y="3322313"/>
            <a:ext cx="1952625" cy="3333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071CE5A-A2AA-4509-92D2-2B74A3B5F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361" y="3327075"/>
            <a:ext cx="18097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6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Magic Set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EE127BA-C369-43A4-8D9A-B5928509D3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24" b="-1"/>
          <a:stretch/>
        </p:blipFill>
        <p:spPr>
          <a:xfrm>
            <a:off x="311700" y="2138082"/>
            <a:ext cx="4200525" cy="3283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0881902-4A24-4899-B042-5468A85DA0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54" r="1299" b="-4457"/>
          <a:stretch/>
        </p:blipFill>
        <p:spPr>
          <a:xfrm>
            <a:off x="311700" y="3199749"/>
            <a:ext cx="5706596" cy="31684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8A36F41-53C6-4386-A775-7A39702EE8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89" r="845" b="-10882"/>
          <a:stretch/>
        </p:blipFill>
        <p:spPr>
          <a:xfrm>
            <a:off x="311700" y="3516595"/>
            <a:ext cx="4200525" cy="31684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55FFA59-3402-42E0-B954-64F9F747E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00" y="2497485"/>
            <a:ext cx="2781300" cy="3048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07283DB-3CDC-498F-830B-612802D32F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000" y="2469776"/>
            <a:ext cx="2286000" cy="3238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CAB2E93-9FDF-48A8-9383-EEF3B8900C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2350" y="972290"/>
            <a:ext cx="41529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03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How The Magic Works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63C5AA2-8AAB-4865-A531-78AC6FB1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520689"/>
            <a:ext cx="1143000" cy="762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3735BB6-8D52-4B54-ABFE-4C2CAEE22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412" y="1474224"/>
            <a:ext cx="3876675" cy="8477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40D9B0F-F3DE-455C-BDA3-5B625F7FC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35" y="2421361"/>
            <a:ext cx="1352550" cy="5524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C301785-866B-482F-A785-9BAB5F28C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8" y="1065430"/>
            <a:ext cx="981075" cy="3333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1356557-569D-4BB5-9B1C-3A1631536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1420" y="2397549"/>
            <a:ext cx="1990725" cy="6000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F568D52-379F-40A4-B36D-5AFB6B72A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5662" y="3136296"/>
            <a:ext cx="2352675" cy="61912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A5FCF85-91EE-42CA-9BF2-8D20195D7B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8361" y="3883968"/>
            <a:ext cx="4867275" cy="6858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A75B2FAB-1A8F-43C4-B08A-9993094F54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0349" y="1099288"/>
            <a:ext cx="1190625" cy="29527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6CA9B57-C06C-458B-A611-79C937DFDF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9611" y="469788"/>
            <a:ext cx="4303899" cy="446853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D8D58B0-2885-459F-820E-CE1FFF31CC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200" y="1177248"/>
            <a:ext cx="114300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09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How The Magic Works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A6CA9B57-C06C-458B-A611-79C937DFD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61" y="3000967"/>
            <a:ext cx="8750143" cy="90848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717FF74-A488-4DBD-9EF2-D7931027F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83" y="1234048"/>
            <a:ext cx="1704975" cy="5238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A5E5ECE-D572-44B7-A074-17EDF3E57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33" y="1809750"/>
            <a:ext cx="3600450" cy="762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EADE59B-A11F-4A08-ACF3-1EA67BF3F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078" y="1995487"/>
            <a:ext cx="1457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56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Other Games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200"/>
              </a:spcAft>
              <a:buSzPts val="11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Texas-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Hold'em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>
              <a:spcAft>
                <a:spcPts val="1200"/>
              </a:spcAft>
              <a:buSzPts val="11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Heartless Poker</a:t>
            </a:r>
          </a:p>
          <a:p>
            <a:pPr marL="342900">
              <a:spcAft>
                <a:spcPts val="1200"/>
              </a:spcAft>
              <a:buSzPts val="11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 Pack</a:t>
            </a:r>
          </a:p>
          <a:p>
            <a:pPr marL="342900">
              <a:spcAft>
                <a:spcPts val="1200"/>
              </a:spcAft>
              <a:buSzPts val="11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Double-Deck</a:t>
            </a:r>
          </a:p>
          <a:p>
            <a:pPr marL="342900">
              <a:spcAft>
                <a:spcPts val="1200"/>
              </a:spcAft>
              <a:buSzPts val="1100"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Pinochle Deck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758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cs typeface="Times New Roman"/>
                <a:sym typeface="Times New Roman"/>
              </a:rPr>
              <a:t>Wild Cards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08F070-9E44-48AB-9C6B-8F5E84FD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0857"/>
            <a:ext cx="6781800" cy="9715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FBFFF7E-2062-426E-BA85-49D00B49D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54941"/>
            <a:ext cx="60960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4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Some remarks on the Game of Cycles</a:t>
            </a:r>
            <a:endParaRPr lang="en-US"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Robbert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Fokkink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Jonathan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Zandee</a:t>
            </a:r>
            <a:r>
              <a:rPr lang="de-DE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Recreational Mathematics Magazine,(2024) 11(18), 111 - 118.</a:t>
            </a:r>
            <a:endParaRPr lang="pl-PL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4319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000" dirty="0">
                <a:latin typeface="Times New Roman"/>
                <a:ea typeface="Times New Roman"/>
                <a:cs typeface="Times New Roman"/>
                <a:sym typeface="Times New Roman"/>
              </a:rPr>
              <a:t>The Game of Cycles</a:t>
            </a:r>
            <a:endParaRPr lang="en-US"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Ryan Alvarado, Maia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Averett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Benjamin Gaines, Christopher Jackson, Mary Leah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Karker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Malgorzata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Aneta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Marciniak, Francis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Shanise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Walker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Robbert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Fokkink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Jonathan </a:t>
            </a:r>
            <a:r>
              <a:rPr lang="en-US" altLang="zh-TW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Zandee</a:t>
            </a:r>
            <a:r>
              <a:rPr lang="de-DE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American Mathematical Monthly, (2021)128(10), 868-887.</a:t>
            </a:r>
            <a:endParaRPr lang="de-DE" altLang="zh-TW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5737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of Cycles, introduced by </a:t>
            </a: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2020, is played on a simple connected planar graph together with its bounded cells, and players take turns marking edges with arrows according to a sink-source rule that gives the game a topological flavor. The object of the game is to produce a cycle cell—a cell surrounded by arrows all cycling in one direction—or to make the last possible move.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8251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analyze the two-player game for various classes of graphs and determine who has a winning strategy. We also establish a topological property of the game: that a board with every edge marked must have a cycle cell.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767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Definitions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011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planar graph G, we defined the following on G: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planar graph of vertices and edges divides the plane into regions, which we call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cells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graph together with its bounded cells is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board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cell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enclosed area of a graph with nothing inside of it such that every edge enclosing the area is directed the same direction (either clockwise or counterclockwise).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vertex whose edges all point away from 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vertex whose edges all point towards it.</a:t>
            </a: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902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BB0D6A3-2BEB-4BA7-BFEC-015A1BE2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406"/>
            <a:ext cx="9144000" cy="2182183"/>
          </a:xfrm>
          <a:prstGeom prst="rect">
            <a:avLst/>
          </a:prstGeom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Definitions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011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cell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enclosed area of a graph with nothing inside of it such that every edge enclosing the area is directed the same direction (either clockwise or counterclockwise).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vertex whose edges all point away from 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vertex whose edges all point towards it.</a:t>
            </a: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1889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011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Two players take turns marking one unmarked edge with an arrow pointing in one direction or the other.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Arrows must obey the sink-source rule: players are </a:t>
            </a:r>
            <a:r>
              <a:rPr lang="en-US" altLang="zh-TW" sz="1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allowed 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a </a:t>
            </a:r>
            <a:r>
              <a:rPr lang="en-US" altLang="zh-TW" sz="16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Each edge can only admit one arrow. Arrows serve the same function in the game no matter who marks them.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 must make a move if they have a move available to them.</a:t>
            </a: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109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0114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C11CB1-5248-4EEA-B543-F111FF45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128587"/>
            <a:ext cx="53911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82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1947E3C-5FE1-4D38-AED2-14181E3EF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97" y="1"/>
            <a:ext cx="7202432" cy="513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9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0" y="1754841"/>
            <a:ext cx="9144000" cy="1902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800" dirty="0"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282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</TotalTime>
  <Words>912</Words>
  <Application>Microsoft Office PowerPoint</Application>
  <PresentationFormat>如螢幕大小 (16:9)</PresentationFormat>
  <Paragraphs>82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Simple Light</vt:lpstr>
      <vt:lpstr>Not Playing With a Full Deck?</vt:lpstr>
      <vt:lpstr>Abstract</vt:lpstr>
      <vt:lpstr>Abstract</vt:lpstr>
      <vt:lpstr>Abstract</vt:lpstr>
      <vt:lpstr>The Missing Card</vt:lpstr>
      <vt:lpstr>Two-Pair Hands</vt:lpstr>
      <vt:lpstr>Two-Pair Hands</vt:lpstr>
      <vt:lpstr>PowerPoint 簡報</vt:lpstr>
      <vt:lpstr>PowerPoint 簡報</vt:lpstr>
      <vt:lpstr>Magic Set</vt:lpstr>
      <vt:lpstr>Magic Set</vt:lpstr>
      <vt:lpstr>How The Magic Works</vt:lpstr>
      <vt:lpstr>How The Magic Works</vt:lpstr>
      <vt:lpstr>Other Games</vt:lpstr>
      <vt:lpstr>Wild Cards</vt:lpstr>
      <vt:lpstr>Some remarks on the Game of Cycles</vt:lpstr>
      <vt:lpstr>The Game of Cycles</vt:lpstr>
      <vt:lpstr>Abstract</vt:lpstr>
      <vt:lpstr>Abstract</vt:lpstr>
      <vt:lpstr>Definitions</vt:lpstr>
      <vt:lpstr>Definitions</vt:lpstr>
      <vt:lpstr>Rules</vt:lpstr>
      <vt:lpstr>Example</vt:lpstr>
      <vt:lpstr>PowerPoint 簡報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Order-preserving pattern matching with k mismatches</dc:title>
  <cp:lastModifiedBy>pplab</cp:lastModifiedBy>
  <cp:revision>131</cp:revision>
  <dcterms:modified xsi:type="dcterms:W3CDTF">2024-04-30T11:59:49Z</dcterms:modified>
</cp:coreProperties>
</file>